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3"/>
    <p:sldMasterId id="2147483661" r:id="rId4"/>
    <p:sldMasterId id="2147483667" r:id="rId5"/>
  </p:sldMasterIdLst>
  <p:notesMasterIdLst>
    <p:notesMasterId r:id="rId7"/>
  </p:notesMasterIdLst>
  <p:handoutMasterIdLst>
    <p:handoutMasterId r:id="rId107"/>
  </p:handoutMasterIdLst>
  <p:sldIdLst>
    <p:sldId id="257"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32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30" r:id="rId57"/>
    <p:sldId id="334" r:id="rId58"/>
    <p:sldId id="357" r:id="rId59"/>
    <p:sldId id="341" r:id="rId60"/>
    <p:sldId id="335" r:id="rId61"/>
    <p:sldId id="336" r:id="rId62"/>
    <p:sldId id="337" r:id="rId63"/>
    <p:sldId id="338" r:id="rId64"/>
    <p:sldId id="339" r:id="rId65"/>
    <p:sldId id="340" r:id="rId66"/>
    <p:sldId id="358" r:id="rId67"/>
    <p:sldId id="359" r:id="rId68"/>
    <p:sldId id="360" r:id="rId69"/>
    <p:sldId id="361" r:id="rId70"/>
    <p:sldId id="362" r:id="rId71"/>
    <p:sldId id="363" r:id="rId72"/>
    <p:sldId id="307" r:id="rId73"/>
    <p:sldId id="308" r:id="rId74"/>
    <p:sldId id="309" r:id="rId75"/>
    <p:sldId id="310" r:id="rId76"/>
    <p:sldId id="311" r:id="rId77"/>
    <p:sldId id="312" r:id="rId78"/>
    <p:sldId id="313" r:id="rId79"/>
    <p:sldId id="314" r:id="rId80"/>
    <p:sldId id="315" r:id="rId81"/>
    <p:sldId id="316" r:id="rId82"/>
    <p:sldId id="317" r:id="rId83"/>
    <p:sldId id="318" r:id="rId84"/>
    <p:sldId id="319" r:id="rId85"/>
    <p:sldId id="320" r:id="rId86"/>
    <p:sldId id="321" r:id="rId87"/>
    <p:sldId id="322" r:id="rId88"/>
    <p:sldId id="323" r:id="rId89"/>
    <p:sldId id="324" r:id="rId90"/>
    <p:sldId id="325" r:id="rId91"/>
    <p:sldId id="342" r:id="rId92"/>
    <p:sldId id="356" r:id="rId93"/>
    <p:sldId id="343" r:id="rId94"/>
    <p:sldId id="344" r:id="rId95"/>
    <p:sldId id="345" r:id="rId96"/>
    <p:sldId id="346" r:id="rId97"/>
    <p:sldId id="347" r:id="rId98"/>
    <p:sldId id="364" r:id="rId99"/>
    <p:sldId id="354" r:id="rId100"/>
    <p:sldId id="353" r:id="rId101"/>
    <p:sldId id="355" r:id="rId102"/>
    <p:sldId id="326" r:id="rId103"/>
    <p:sldId id="365" r:id="rId104"/>
    <p:sldId id="327" r:id="rId105"/>
    <p:sldId id="328" r:id="rId106"/>
  </p:sldIdLst>
  <p:sldSz cx="12192000" cy="6858000"/>
  <p:notesSz cx="7010400" cy="9296400"/>
  <p:custDataLst>
    <p:tags r:id="rId1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32" userDrawn="1">
          <p15:clr>
            <a:srgbClr val="A4A3A4"/>
          </p15:clr>
        </p15:guide>
        <p15:guide id="4" orient="horz" pos="6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31" clrIdx="0"/>
  <p:cmAuthor id="2" name="hejunjianzjhw" initials="h" lastIdx="1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000B"/>
    <a:srgbClr val="81C15F"/>
    <a:srgbClr val="30B5C5"/>
    <a:srgbClr val="1163AB"/>
    <a:srgbClr val="56C4D2"/>
    <a:srgbClr val="ECF9FA"/>
    <a:srgbClr val="FDD351"/>
    <a:srgbClr val="FFF8E5"/>
    <a:srgbClr val="F5FCFD"/>
    <a:srgbClr val="94DA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72833802-FEF1-4C79-8D5D-14CF1EAF98D9}"/>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60" autoAdjust="0"/>
    <p:restoredTop sz="80969" autoAdjust="0"/>
  </p:normalViewPr>
  <p:slideViewPr>
    <p:cSldViewPr snapToGrid="0" snapToObjects="1" showGuides="1">
      <p:cViewPr varScale="1">
        <p:scale>
          <a:sx n="82" d="100"/>
          <a:sy n="82" d="100"/>
        </p:scale>
        <p:origin x="40" y="124"/>
      </p:cViewPr>
      <p:guideLst>
        <p:guide pos="3832"/>
        <p:guide orient="horz" pos="6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snapToGrid="0" snapToObjects="1">
      <p:cViewPr>
        <p:scale>
          <a:sx n="125" d="100"/>
          <a:sy n="125" d="100"/>
        </p:scale>
        <p:origin x="2868" y="-2334"/>
      </p:cViewPr>
      <p:guideLst>
        <p:guide orient="horz"/>
        <p:guide pos="2204"/>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 Target="slides/slide93.xml"/><Relationship Id="rId98" Type="http://schemas.openxmlformats.org/officeDocument/2006/relationships/slide" Target="slides/slide92.xml"/><Relationship Id="rId97" Type="http://schemas.openxmlformats.org/officeDocument/2006/relationships/slide" Target="slides/slide91.xml"/><Relationship Id="rId96" Type="http://schemas.openxmlformats.org/officeDocument/2006/relationships/slide" Target="slides/slide90.xml"/><Relationship Id="rId95" Type="http://schemas.openxmlformats.org/officeDocument/2006/relationships/slide" Target="slides/slide89.xml"/><Relationship Id="rId94" Type="http://schemas.openxmlformats.org/officeDocument/2006/relationships/slide" Target="slides/slide88.xml"/><Relationship Id="rId93" Type="http://schemas.openxmlformats.org/officeDocument/2006/relationships/slide" Target="slides/slide87.xml"/><Relationship Id="rId92" Type="http://schemas.openxmlformats.org/officeDocument/2006/relationships/slide" Target="slides/slide86.xml"/><Relationship Id="rId91" Type="http://schemas.openxmlformats.org/officeDocument/2006/relationships/slide" Target="slides/slide85.xml"/><Relationship Id="rId90" Type="http://schemas.openxmlformats.org/officeDocument/2006/relationships/slide" Target="slides/slide84.xml"/><Relationship Id="rId9" Type="http://schemas.openxmlformats.org/officeDocument/2006/relationships/slide" Target="slides/slide3.xml"/><Relationship Id="rId89" Type="http://schemas.openxmlformats.org/officeDocument/2006/relationships/slide" Target="slides/slide83.xml"/><Relationship Id="rId88" Type="http://schemas.openxmlformats.org/officeDocument/2006/relationships/slide" Target="slides/slide82.xml"/><Relationship Id="rId87" Type="http://schemas.openxmlformats.org/officeDocument/2006/relationships/slide" Target="slides/slide81.xml"/><Relationship Id="rId86" Type="http://schemas.openxmlformats.org/officeDocument/2006/relationships/slide" Target="slides/slide80.xml"/><Relationship Id="rId85" Type="http://schemas.openxmlformats.org/officeDocument/2006/relationships/slide" Target="slides/slide79.xml"/><Relationship Id="rId84" Type="http://schemas.openxmlformats.org/officeDocument/2006/relationships/slide" Target="slides/slide78.xml"/><Relationship Id="rId83" Type="http://schemas.openxmlformats.org/officeDocument/2006/relationships/slide" Target="slides/slide77.xml"/><Relationship Id="rId82" Type="http://schemas.openxmlformats.org/officeDocument/2006/relationships/slide" Target="slides/slide76.xml"/><Relationship Id="rId81" Type="http://schemas.openxmlformats.org/officeDocument/2006/relationships/slide" Target="slides/slide75.xml"/><Relationship Id="rId80" Type="http://schemas.openxmlformats.org/officeDocument/2006/relationships/slide" Target="slides/slide74.xml"/><Relationship Id="rId8" Type="http://schemas.openxmlformats.org/officeDocument/2006/relationships/slide" Target="slides/slide2.xml"/><Relationship Id="rId79" Type="http://schemas.openxmlformats.org/officeDocument/2006/relationships/slide" Target="slides/slide73.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notesMaster" Target="notesMasters/notesMaster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 Target="slides/slide1.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5" Type="http://schemas.openxmlformats.org/officeDocument/2006/relationships/tags" Target="tags/tag4.xml"/><Relationship Id="rId114" Type="http://schemas.openxmlformats.org/officeDocument/2006/relationships/customXml" Target="../customXml/item3.xml"/><Relationship Id="rId113" Type="http://schemas.openxmlformats.org/officeDocument/2006/relationships/customXml" Target="../customXml/item2.xml"/><Relationship Id="rId112" Type="http://schemas.openxmlformats.org/officeDocument/2006/relationships/customXml" Target="../customXml/item1.xml"/><Relationship Id="rId111" Type="http://schemas.openxmlformats.org/officeDocument/2006/relationships/commentAuthors" Target="commentAuthors.xml"/><Relationship Id="rId110" Type="http://schemas.openxmlformats.org/officeDocument/2006/relationships/tableStyles" Target="tableStyles.xml"/><Relationship Id="rId11" Type="http://schemas.openxmlformats.org/officeDocument/2006/relationships/slide" Target="slides/slide5.xml"/><Relationship Id="rId109" Type="http://schemas.openxmlformats.org/officeDocument/2006/relationships/viewProps" Target="viewProps.xml"/><Relationship Id="rId108" Type="http://schemas.openxmlformats.org/officeDocument/2006/relationships/presProps" Target="presProps.xml"/><Relationship Id="rId107" Type="http://schemas.openxmlformats.org/officeDocument/2006/relationships/handoutMaster" Target="handoutMasters/handoutMaster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fld>
            <a:endParaRPr lang="en-US" dirty="0">
              <a:latin typeface="Huawei Sans" panose="020C0503030203020204" pitchFamily="34" charset="0"/>
            </a:endParaRPr>
          </a:p>
        </p:txBody>
      </p:sp>
      <p:sp>
        <p:nvSpPr>
          <p:cNvPr id="4" name="Footer Placeholder 3"/>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fld>
            <a:endParaRPr lang="en-US" dirty="0">
              <a:latin typeface="Huawei Sans" panose="020C0503030203020204"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 bg1="lt1" tx1="dk1" bg2="lt2" tx2="dk2" accent1="accent1" accent2="accent2" accent3="accent3" accent4="accent4" accent5="accent5" accent6="accent6" hlink="hlink" folHlink="folHlink"/>
  <p:notesStyle>
    <a:lvl1pPr marL="179705" indent="-179705" algn="l" defTabSz="1219200"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39750" indent="-179705" algn="l" defTabSz="1219200"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899795" indent="-179705" algn="l" defTabSz="1219200" rtl="0" eaLnBrk="1" fontAlgn="ctr" latinLnBrk="0" hangingPunct="1">
      <a:lnSpc>
        <a:spcPct val="125000"/>
      </a:lnSpc>
      <a:spcAft>
        <a:spcPts val="600"/>
      </a:spcAft>
      <a:buFont typeface="微软雅黑" panose="020B050302020402020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59840"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19885" indent="-179705" algn="l" defTabSz="1219200"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835" algn="l" defTabSz="1219200" rtl="0" eaLnBrk="1" latinLnBrk="0" hangingPunct="1">
      <a:defRPr sz="1600" kern="1200">
        <a:solidFill>
          <a:schemeClr val="tx1"/>
        </a:solidFill>
        <a:latin typeface="+mn-lt"/>
        <a:ea typeface="+mn-ea"/>
        <a:cs typeface="+mn-cs"/>
      </a:defRPr>
    </a:lvl8pPr>
    <a:lvl9pPr marL="4877435"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注意：在华为设备上，</a:t>
            </a:r>
            <a:r>
              <a:rPr lang="en-US" altLang="zh-CN"/>
              <a:t>OSPF</a:t>
            </a:r>
            <a:r>
              <a:rPr lang="zh-CN" altLang="en-US"/>
              <a:t>的</a:t>
            </a:r>
            <a:r>
              <a:rPr lang="en-US" altLang="zh-CN"/>
              <a:t>PRC</a:t>
            </a:r>
            <a:r>
              <a:rPr lang="zh-CN" altLang="en-US"/>
              <a:t>功能默认开启。</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如果触发路由计算的时间间隔较长，同样会影响网络的收敛速度。</a:t>
            </a:r>
            <a:endParaRPr lang="zh-CN" altLang="en-US" dirty="0"/>
          </a:p>
          <a:p>
            <a:pPr lvl="0"/>
            <a:r>
              <a:rPr lang="zh-CN" altLang="en-US" dirty="0"/>
              <a:t>智能定时器首次超时时间是一个固定的时间。如果在定时器超时前，又有触发定时器的事件发生，则该定时器下一次的超时时间会增加。</a:t>
            </a:r>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命令：</a:t>
            </a:r>
            <a:r>
              <a:rPr lang="en-US" altLang="zh-CN" dirty="0"/>
              <a:t>[Huawei-</a:t>
            </a:r>
            <a:r>
              <a:rPr lang="en-US" altLang="zh-CN" dirty="0" err="1"/>
              <a:t>ospf</a:t>
            </a:r>
            <a:r>
              <a:rPr lang="en-US" altLang="zh-CN" dirty="0"/>
              <a:t>] </a:t>
            </a:r>
            <a:r>
              <a:rPr lang="en-US" altLang="zh-CN" b="1" dirty="0" err="1"/>
              <a:t>lsa</a:t>
            </a:r>
            <a:r>
              <a:rPr lang="en-US" altLang="zh-CN" b="1" dirty="0"/>
              <a:t>-originate-interval</a:t>
            </a:r>
            <a:r>
              <a:rPr lang="en-US" altLang="zh-CN" dirty="0"/>
              <a:t> {</a:t>
            </a:r>
            <a:r>
              <a:rPr lang="en-US" altLang="zh-CN" b="1" dirty="0"/>
              <a:t> 0</a:t>
            </a:r>
            <a:r>
              <a:rPr lang="en-US" altLang="zh-CN" dirty="0"/>
              <a:t> | {</a:t>
            </a:r>
            <a:r>
              <a:rPr lang="en-US" altLang="zh-CN" b="1" dirty="0"/>
              <a:t> intelligent-timer</a:t>
            </a:r>
            <a:r>
              <a:rPr lang="en-US" altLang="zh-CN" dirty="0"/>
              <a:t> </a:t>
            </a:r>
            <a:r>
              <a:rPr lang="en-US" altLang="zh-CN" i="1" dirty="0"/>
              <a:t>max-interval start-interval hold-interval</a:t>
            </a:r>
            <a:r>
              <a:rPr lang="en-US" altLang="zh-CN" dirty="0"/>
              <a:t> | </a:t>
            </a:r>
            <a:r>
              <a:rPr lang="en-US" altLang="zh-CN" b="1" dirty="0"/>
              <a:t>other-type</a:t>
            </a:r>
            <a:r>
              <a:rPr lang="en-US" altLang="zh-CN" dirty="0"/>
              <a:t> </a:t>
            </a:r>
            <a:r>
              <a:rPr lang="en-US" altLang="zh-CN" i="1" dirty="0"/>
              <a:t>interval</a:t>
            </a:r>
            <a:r>
              <a:rPr lang="en-US" altLang="zh-CN" dirty="0"/>
              <a:t> } }</a:t>
            </a:r>
            <a:endParaRPr lang="en-US" altLang="zh-CN" dirty="0"/>
          </a:p>
          <a:p>
            <a:pPr lvl="1"/>
            <a:r>
              <a:rPr lang="en-US" altLang="zh-CN" b="1" dirty="0"/>
              <a:t>0</a:t>
            </a:r>
            <a:r>
              <a:rPr lang="zh-CN" altLang="en-US" b="1" dirty="0"/>
              <a:t>：</a:t>
            </a:r>
            <a:r>
              <a:rPr lang="zh-CN" altLang="en-US" dirty="0"/>
              <a:t>指定</a:t>
            </a:r>
            <a:r>
              <a:rPr lang="en-US" altLang="zh-CN" dirty="0"/>
              <a:t>LSA</a:t>
            </a:r>
            <a:r>
              <a:rPr lang="zh-CN" altLang="en-US" dirty="0"/>
              <a:t>更新的时间间隔为</a:t>
            </a:r>
            <a:r>
              <a:rPr lang="en-US" altLang="zh-CN" dirty="0"/>
              <a:t>0</a:t>
            </a:r>
            <a:r>
              <a:rPr lang="zh-CN" altLang="en-US" dirty="0"/>
              <a:t>，即取消</a:t>
            </a:r>
            <a:r>
              <a:rPr lang="en-US" altLang="zh-CN" dirty="0"/>
              <a:t>LSA</a:t>
            </a:r>
            <a:r>
              <a:rPr lang="zh-CN" altLang="en-US" dirty="0"/>
              <a:t>的</a:t>
            </a:r>
            <a:r>
              <a:rPr lang="en-US" altLang="zh-CN" dirty="0"/>
              <a:t>5</a:t>
            </a:r>
            <a:r>
              <a:rPr lang="zh-CN" altLang="en-US" dirty="0"/>
              <a:t>秒的更新时间间隔。</a:t>
            </a:r>
            <a:endParaRPr lang="zh-CN" altLang="en-US" dirty="0"/>
          </a:p>
          <a:p>
            <a:pPr lvl="1"/>
            <a:r>
              <a:rPr lang="en-US" altLang="zh-CN" b="1" dirty="0"/>
              <a:t>intelligent-timer</a:t>
            </a:r>
            <a:r>
              <a:rPr lang="zh-CN" altLang="en-US" b="1" dirty="0"/>
              <a:t>：</a:t>
            </a:r>
            <a:r>
              <a:rPr lang="zh-CN" altLang="en-US" dirty="0"/>
              <a:t>指定通过智能定时器设置</a:t>
            </a:r>
            <a:r>
              <a:rPr lang="en-US" altLang="zh-CN" dirty="0"/>
              <a:t>OSPF Router LSA</a:t>
            </a:r>
            <a:r>
              <a:rPr lang="zh-CN" altLang="en-US" dirty="0"/>
              <a:t>和</a:t>
            </a:r>
            <a:r>
              <a:rPr lang="en-US" altLang="zh-CN" dirty="0"/>
              <a:t>Network LSA</a:t>
            </a:r>
            <a:r>
              <a:rPr lang="zh-CN" altLang="en-US" dirty="0"/>
              <a:t>的更新间隔时间。</a:t>
            </a:r>
            <a:endParaRPr lang="zh-CN" altLang="en-US" dirty="0"/>
          </a:p>
          <a:p>
            <a:pPr lvl="1"/>
            <a:r>
              <a:rPr lang="en-US" altLang="zh-CN" i="1" dirty="0"/>
              <a:t>max-interval</a:t>
            </a:r>
            <a:r>
              <a:rPr lang="zh-CN" altLang="en-US" i="1" dirty="0"/>
              <a:t>：</a:t>
            </a:r>
            <a:r>
              <a:rPr lang="zh-CN" altLang="en-US" dirty="0"/>
              <a:t>指定更新</a:t>
            </a:r>
            <a:r>
              <a:rPr lang="en-US" altLang="zh-CN" dirty="0"/>
              <a:t>OSPF LSA</a:t>
            </a:r>
            <a:r>
              <a:rPr lang="zh-CN" altLang="en-US" dirty="0"/>
              <a:t>的最长间隔时间。整数形式，取值范围是</a:t>
            </a:r>
            <a:r>
              <a:rPr lang="en-US" altLang="zh-CN" dirty="0"/>
              <a:t>1</a:t>
            </a:r>
            <a:r>
              <a:rPr lang="zh-CN" altLang="en-US" dirty="0"/>
              <a:t>～</a:t>
            </a:r>
            <a:r>
              <a:rPr lang="en-US" altLang="zh-CN" dirty="0"/>
              <a:t>120000</a:t>
            </a:r>
            <a:r>
              <a:rPr lang="zh-CN" altLang="en-US" dirty="0"/>
              <a:t>，单位是毫秒。缺省值是</a:t>
            </a:r>
            <a:r>
              <a:rPr lang="en-US" altLang="zh-CN" dirty="0"/>
              <a:t>5000</a:t>
            </a:r>
            <a:r>
              <a:rPr lang="zh-CN" altLang="en-US" dirty="0"/>
              <a:t>。</a:t>
            </a:r>
            <a:endParaRPr lang="zh-CN" altLang="en-US" dirty="0"/>
          </a:p>
          <a:p>
            <a:pPr lvl="1"/>
            <a:r>
              <a:rPr lang="en-US" altLang="zh-CN" i="1" dirty="0"/>
              <a:t>start-interval</a:t>
            </a:r>
            <a:r>
              <a:rPr lang="zh-CN" altLang="en-US" i="1" dirty="0"/>
              <a:t>：</a:t>
            </a:r>
            <a:r>
              <a:rPr lang="zh-CN" altLang="en-US" dirty="0"/>
              <a:t>指定更新</a:t>
            </a:r>
            <a:r>
              <a:rPr lang="en-US" altLang="zh-CN" dirty="0"/>
              <a:t>OSPF LSA</a:t>
            </a:r>
            <a:r>
              <a:rPr lang="zh-CN" altLang="en-US" dirty="0"/>
              <a:t>的初始间隔时间。整数形式，取值范围是</a:t>
            </a:r>
            <a:r>
              <a:rPr lang="en-US" altLang="zh-CN" dirty="0"/>
              <a:t>0</a:t>
            </a:r>
            <a:r>
              <a:rPr lang="zh-CN" altLang="en-US" dirty="0"/>
              <a:t>～</a:t>
            </a:r>
            <a:r>
              <a:rPr lang="en-US" altLang="zh-CN" dirty="0"/>
              <a:t>60000</a:t>
            </a:r>
            <a:r>
              <a:rPr lang="zh-CN" altLang="en-US" dirty="0"/>
              <a:t>，单位是毫秒。缺省值是</a:t>
            </a:r>
            <a:r>
              <a:rPr lang="en-US" altLang="zh-CN" dirty="0"/>
              <a:t>500</a:t>
            </a:r>
            <a:r>
              <a:rPr lang="zh-CN" altLang="en-US" dirty="0"/>
              <a:t>。</a:t>
            </a:r>
            <a:endParaRPr lang="zh-CN" altLang="en-US" dirty="0"/>
          </a:p>
          <a:p>
            <a:pPr lvl="1"/>
            <a:r>
              <a:rPr lang="en-US" altLang="zh-CN" i="1" dirty="0"/>
              <a:t>hold-interval</a:t>
            </a:r>
            <a:r>
              <a:rPr lang="zh-CN" altLang="en-US" i="1" dirty="0"/>
              <a:t>：</a:t>
            </a:r>
            <a:r>
              <a:rPr lang="zh-CN" altLang="en-US" dirty="0"/>
              <a:t>指定更新</a:t>
            </a:r>
            <a:r>
              <a:rPr lang="en-US" altLang="zh-CN" dirty="0"/>
              <a:t>OSPF LSA</a:t>
            </a:r>
            <a:r>
              <a:rPr lang="zh-CN" altLang="en-US" dirty="0"/>
              <a:t>的基数间隔时间。整数形式，取值范围是</a:t>
            </a:r>
            <a:r>
              <a:rPr lang="en-US" altLang="zh-CN" dirty="0"/>
              <a:t>1</a:t>
            </a:r>
            <a:r>
              <a:rPr lang="zh-CN" altLang="en-US" dirty="0"/>
              <a:t>～</a:t>
            </a:r>
            <a:r>
              <a:rPr lang="en-US" altLang="zh-CN" dirty="0"/>
              <a:t>60000</a:t>
            </a:r>
            <a:r>
              <a:rPr lang="zh-CN" altLang="en-US" dirty="0"/>
              <a:t>，单位是毫秒。缺省值是</a:t>
            </a:r>
            <a:r>
              <a:rPr lang="en-US" altLang="zh-CN" dirty="0"/>
              <a:t>1000</a:t>
            </a:r>
            <a:r>
              <a:rPr lang="zh-CN" altLang="en-US" dirty="0"/>
              <a:t>。</a:t>
            </a:r>
            <a:endParaRPr lang="zh-CN" altLang="en-US" dirty="0"/>
          </a:p>
          <a:p>
            <a:pPr lvl="1"/>
            <a:r>
              <a:rPr lang="en-US" altLang="zh-CN" b="1" dirty="0"/>
              <a:t>other-type</a:t>
            </a:r>
            <a:r>
              <a:rPr lang="zh-CN" altLang="en-US" b="1" dirty="0"/>
              <a:t>：</a:t>
            </a:r>
            <a:r>
              <a:rPr lang="zh-CN" altLang="en-US" dirty="0"/>
              <a:t>指定设置除</a:t>
            </a:r>
            <a:r>
              <a:rPr lang="en-US" altLang="zh-CN" dirty="0"/>
              <a:t>OSPF Router LSA</a:t>
            </a:r>
            <a:r>
              <a:rPr lang="zh-CN" altLang="en-US" dirty="0"/>
              <a:t>和</a:t>
            </a:r>
            <a:r>
              <a:rPr lang="en-US" altLang="zh-CN" dirty="0"/>
              <a:t>Network LSA</a:t>
            </a:r>
            <a:r>
              <a:rPr lang="zh-CN" altLang="en-US" dirty="0"/>
              <a:t>外</a:t>
            </a:r>
            <a:r>
              <a:rPr lang="en-US" altLang="zh-CN" dirty="0"/>
              <a:t>LSA</a:t>
            </a:r>
            <a:r>
              <a:rPr lang="zh-CN" altLang="en-US" dirty="0"/>
              <a:t>的更新间隔时间。</a:t>
            </a:r>
            <a:endParaRPr lang="zh-CN" altLang="en-US" dirty="0"/>
          </a:p>
          <a:p>
            <a:pPr lvl="1"/>
            <a:r>
              <a:rPr lang="en-US" altLang="zh-CN" i="1" dirty="0"/>
              <a:t>interval</a:t>
            </a:r>
            <a:r>
              <a:rPr lang="zh-CN" altLang="en-US" i="1" dirty="0"/>
              <a:t>：</a:t>
            </a:r>
            <a:r>
              <a:rPr lang="zh-CN" altLang="en-US" dirty="0"/>
              <a:t>指定</a:t>
            </a:r>
            <a:r>
              <a:rPr lang="en-US" altLang="zh-CN" dirty="0"/>
              <a:t>LSA</a:t>
            </a:r>
            <a:r>
              <a:rPr lang="zh-CN" altLang="en-US" dirty="0"/>
              <a:t>更新的时间间隔。整数形式，取值范围是</a:t>
            </a:r>
            <a:r>
              <a:rPr lang="en-US" altLang="zh-CN" dirty="0"/>
              <a:t>0</a:t>
            </a:r>
            <a:r>
              <a:rPr lang="zh-CN" altLang="en-US" dirty="0"/>
              <a:t>～</a:t>
            </a:r>
            <a:r>
              <a:rPr lang="en-US" altLang="zh-CN" dirty="0"/>
              <a:t>10</a:t>
            </a:r>
            <a:r>
              <a:rPr lang="zh-CN" altLang="en-US" dirty="0"/>
              <a:t>，单位是秒。缺省值是</a:t>
            </a:r>
            <a:r>
              <a:rPr lang="en-US" altLang="zh-CN" dirty="0"/>
              <a:t>5</a:t>
            </a:r>
            <a:r>
              <a:rPr lang="zh-CN" altLang="en-US" dirty="0"/>
              <a:t>。</a:t>
            </a:r>
            <a:endParaRPr lang="zh-CN" altLang="en-US" dirty="0"/>
          </a:p>
        </p:txBody>
      </p:sp>
      <p:sp>
        <p:nvSpPr>
          <p:cNvPr id="8" name="幻灯片图像占位符 7"/>
          <p:cNvSpPr>
            <a:spLocks noGrp="1" noRot="1" noChangeAspect="1"/>
          </p:cNvSpPr>
          <p:nvPr>
            <p:ph type="sldImg"/>
          </p:nvPr>
        </p:nvSpPr>
        <p:spPr>
          <a:xfrm>
            <a:off x="742950" y="717550"/>
            <a:ext cx="5557838" cy="3125788"/>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[Huawei-ospf-1] </a:t>
            </a:r>
            <a:r>
              <a:rPr lang="en-US" altLang="zh-CN" b="1" dirty="0" err="1"/>
              <a:t>lsa</a:t>
            </a:r>
            <a:r>
              <a:rPr lang="en-US" altLang="zh-CN" b="1" dirty="0"/>
              <a:t>-arrival-interval</a:t>
            </a:r>
            <a:r>
              <a:rPr lang="en-US" altLang="zh-CN" dirty="0"/>
              <a:t> { </a:t>
            </a:r>
            <a:r>
              <a:rPr lang="en-US" altLang="zh-CN" i="1" dirty="0"/>
              <a:t>interval</a:t>
            </a:r>
            <a:r>
              <a:rPr lang="en-US" altLang="zh-CN" dirty="0"/>
              <a:t> | </a:t>
            </a:r>
            <a:r>
              <a:rPr lang="en-US" altLang="zh-CN" b="1" dirty="0"/>
              <a:t>intelligent-timer</a:t>
            </a:r>
            <a:r>
              <a:rPr lang="en-US" altLang="zh-CN" dirty="0"/>
              <a:t> </a:t>
            </a:r>
            <a:r>
              <a:rPr lang="en-US" altLang="zh-CN" i="1" dirty="0"/>
              <a:t>max-interval start-interval hold-interval </a:t>
            </a:r>
            <a:r>
              <a:rPr lang="en-US" altLang="zh-CN" dirty="0"/>
              <a:t>}</a:t>
            </a:r>
            <a:endParaRPr lang="zh-CN" altLang="en-US" dirty="0"/>
          </a:p>
          <a:p>
            <a:pPr lvl="1"/>
            <a:r>
              <a:rPr lang="en-US" altLang="zh-CN" i="1" dirty="0"/>
              <a:t>interval</a:t>
            </a:r>
            <a:r>
              <a:rPr lang="zh-CN" altLang="en-US" i="1" dirty="0"/>
              <a:t>：</a:t>
            </a:r>
            <a:r>
              <a:rPr lang="zh-CN" altLang="en-US" dirty="0"/>
              <a:t>指定</a:t>
            </a:r>
            <a:r>
              <a:rPr lang="en-US" altLang="zh-CN" dirty="0"/>
              <a:t>LSA</a:t>
            </a:r>
            <a:r>
              <a:rPr lang="zh-CN" altLang="en-US" dirty="0"/>
              <a:t>接收的时间间隔。整数形式，取值范围是</a:t>
            </a:r>
            <a:r>
              <a:rPr lang="en-US" altLang="zh-CN" dirty="0"/>
              <a:t>0</a:t>
            </a:r>
            <a:r>
              <a:rPr lang="zh-CN" altLang="en-US" dirty="0"/>
              <a:t>～</a:t>
            </a:r>
            <a:r>
              <a:rPr lang="en-US" altLang="zh-CN" dirty="0"/>
              <a:t>10000</a:t>
            </a:r>
            <a:r>
              <a:rPr lang="zh-CN" altLang="en-US" dirty="0"/>
              <a:t>，单位是毫秒。</a:t>
            </a:r>
            <a:endParaRPr lang="zh-CN" altLang="en-US" dirty="0"/>
          </a:p>
          <a:p>
            <a:pPr lvl="1"/>
            <a:r>
              <a:rPr lang="en-US" altLang="zh-CN" b="1" dirty="0"/>
              <a:t>intelligent-timer</a:t>
            </a:r>
            <a:r>
              <a:rPr lang="zh-CN" altLang="en-US" b="1" dirty="0"/>
              <a:t>：</a:t>
            </a:r>
            <a:r>
              <a:rPr lang="zh-CN" altLang="en-US" dirty="0"/>
              <a:t>指定通过智能定时器设置</a:t>
            </a:r>
            <a:r>
              <a:rPr lang="en-US" altLang="zh-CN" dirty="0"/>
              <a:t>LSA</a:t>
            </a:r>
            <a:r>
              <a:rPr lang="zh-CN" altLang="en-US" dirty="0"/>
              <a:t>接收的间隔时间。</a:t>
            </a:r>
            <a:endParaRPr lang="en-US" altLang="zh-CN" dirty="0"/>
          </a:p>
          <a:p>
            <a:pPr lvl="1"/>
            <a:r>
              <a:rPr lang="en-US" altLang="zh-CN" i="1" dirty="0"/>
              <a:t>max-interval</a:t>
            </a:r>
            <a:r>
              <a:rPr lang="zh-CN" altLang="en-US" i="1" dirty="0"/>
              <a:t>：</a:t>
            </a:r>
            <a:r>
              <a:rPr lang="zh-CN" altLang="en-US" dirty="0"/>
              <a:t>指定接收</a:t>
            </a:r>
            <a:r>
              <a:rPr lang="en-US" altLang="zh-CN" dirty="0"/>
              <a:t>OSPF LSA</a:t>
            </a:r>
            <a:r>
              <a:rPr lang="zh-CN" altLang="en-US" dirty="0"/>
              <a:t>的最长间隔时间。整数形式，取值范围是</a:t>
            </a:r>
            <a:r>
              <a:rPr lang="en-US" altLang="zh-CN" dirty="0"/>
              <a:t>1</a:t>
            </a:r>
            <a:r>
              <a:rPr lang="zh-CN" altLang="en-US" dirty="0"/>
              <a:t>～</a:t>
            </a:r>
            <a:r>
              <a:rPr lang="en-US" altLang="zh-CN" dirty="0"/>
              <a:t>120000</a:t>
            </a:r>
            <a:r>
              <a:rPr lang="zh-CN" altLang="en-US" dirty="0"/>
              <a:t>，单位是毫秒。缺省值是</a:t>
            </a:r>
            <a:r>
              <a:rPr lang="en-US" altLang="zh-CN" dirty="0"/>
              <a:t>1000</a:t>
            </a:r>
            <a:r>
              <a:rPr lang="zh-CN" altLang="en-US" dirty="0"/>
              <a:t>。</a:t>
            </a:r>
            <a:endParaRPr lang="zh-CN" altLang="en-US" dirty="0"/>
          </a:p>
          <a:p>
            <a:pPr lvl="1"/>
            <a:r>
              <a:rPr lang="en-US" altLang="zh-CN" i="1" dirty="0"/>
              <a:t>start-interval</a:t>
            </a:r>
            <a:r>
              <a:rPr lang="zh-CN" altLang="en-US" i="1" dirty="0"/>
              <a:t>：</a:t>
            </a:r>
            <a:r>
              <a:rPr lang="zh-CN" altLang="en-US" dirty="0"/>
              <a:t>指定接收</a:t>
            </a:r>
            <a:r>
              <a:rPr lang="en-US" altLang="zh-CN" dirty="0"/>
              <a:t>OSPF LSA</a:t>
            </a:r>
            <a:r>
              <a:rPr lang="zh-CN" altLang="en-US" dirty="0"/>
              <a:t>的初始间隔时间。整数形式，取值范围是</a:t>
            </a:r>
            <a:r>
              <a:rPr lang="en-US" altLang="zh-CN" dirty="0"/>
              <a:t>0</a:t>
            </a:r>
            <a:r>
              <a:rPr lang="zh-CN" altLang="en-US" dirty="0"/>
              <a:t>～</a:t>
            </a:r>
            <a:r>
              <a:rPr lang="en-US" altLang="zh-CN" dirty="0"/>
              <a:t>60000</a:t>
            </a:r>
            <a:r>
              <a:rPr lang="zh-CN" altLang="en-US" dirty="0"/>
              <a:t>，单位是毫秒。缺省值是</a:t>
            </a:r>
            <a:r>
              <a:rPr lang="en-US" altLang="zh-CN" dirty="0"/>
              <a:t>500</a:t>
            </a:r>
            <a:r>
              <a:rPr lang="zh-CN" altLang="en-US" dirty="0"/>
              <a:t>。</a:t>
            </a:r>
            <a:endParaRPr lang="zh-CN" altLang="en-US" dirty="0"/>
          </a:p>
          <a:p>
            <a:pPr lvl="1"/>
            <a:r>
              <a:rPr lang="en-US" altLang="zh-CN" i="1" dirty="0"/>
              <a:t>hold-interval</a:t>
            </a:r>
            <a:r>
              <a:rPr lang="zh-CN" altLang="en-US" i="1" dirty="0"/>
              <a:t>：</a:t>
            </a:r>
            <a:r>
              <a:rPr lang="zh-CN" altLang="en-US" dirty="0"/>
              <a:t>指定接收</a:t>
            </a:r>
            <a:r>
              <a:rPr lang="en-US" altLang="zh-CN" dirty="0"/>
              <a:t>OSPF LSA</a:t>
            </a:r>
            <a:r>
              <a:rPr lang="zh-CN" altLang="en-US" dirty="0"/>
              <a:t>的基数间隔时间。整数形式，取值范围是</a:t>
            </a:r>
            <a:r>
              <a:rPr lang="en-US" altLang="zh-CN" dirty="0"/>
              <a:t>1</a:t>
            </a:r>
            <a:r>
              <a:rPr lang="zh-CN" altLang="en-US" dirty="0"/>
              <a:t>～</a:t>
            </a:r>
            <a:r>
              <a:rPr lang="en-US" altLang="zh-CN" dirty="0"/>
              <a:t>60000</a:t>
            </a:r>
            <a:r>
              <a:rPr lang="zh-CN" altLang="en-US" dirty="0"/>
              <a:t>，单位是毫秒。缺省值是</a:t>
            </a:r>
            <a:r>
              <a:rPr lang="en-US" altLang="zh-CN" dirty="0"/>
              <a:t>500</a:t>
            </a:r>
            <a:r>
              <a:rPr lang="zh-CN" altLang="en-US" dirty="0"/>
              <a:t>。</a:t>
            </a:r>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[Huawei-ospf-1] </a:t>
            </a:r>
            <a:r>
              <a:rPr lang="en-US" altLang="zh-CN" b="1" dirty="0" err="1"/>
              <a:t>spf</a:t>
            </a:r>
            <a:r>
              <a:rPr lang="en-US" altLang="zh-CN" b="1" dirty="0"/>
              <a:t>-schedule-interval</a:t>
            </a:r>
            <a:r>
              <a:rPr lang="en-US" altLang="zh-CN" dirty="0"/>
              <a:t> { </a:t>
            </a:r>
            <a:r>
              <a:rPr lang="en-US" altLang="zh-CN" i="1" dirty="0"/>
              <a:t>interval1</a:t>
            </a:r>
            <a:r>
              <a:rPr lang="en-US" altLang="zh-CN" dirty="0"/>
              <a:t> | </a:t>
            </a:r>
            <a:r>
              <a:rPr lang="en-US" altLang="zh-CN" b="1" dirty="0"/>
              <a:t>intelligent-timer</a:t>
            </a:r>
            <a:r>
              <a:rPr lang="en-US" altLang="zh-CN" dirty="0"/>
              <a:t> </a:t>
            </a:r>
            <a:r>
              <a:rPr lang="en-US" altLang="zh-CN" i="1" dirty="0"/>
              <a:t>max-interval start-interval hold-interval</a:t>
            </a:r>
            <a:r>
              <a:rPr lang="en-US" altLang="zh-CN" dirty="0"/>
              <a:t> | </a:t>
            </a:r>
            <a:r>
              <a:rPr lang="en-US" altLang="zh-CN" b="1" dirty="0"/>
              <a:t>millisecond</a:t>
            </a:r>
            <a:r>
              <a:rPr lang="en-US" altLang="zh-CN" dirty="0"/>
              <a:t> </a:t>
            </a:r>
            <a:r>
              <a:rPr lang="en-US" altLang="zh-CN" i="1" dirty="0"/>
              <a:t>interval2 </a:t>
            </a:r>
            <a:r>
              <a:rPr lang="en-US" altLang="zh-CN" dirty="0"/>
              <a:t>}</a:t>
            </a:r>
            <a:endParaRPr lang="zh-CN" altLang="en-US" dirty="0"/>
          </a:p>
          <a:p>
            <a:pPr lvl="1"/>
            <a:r>
              <a:rPr lang="en-US" altLang="zh-CN" i="1" dirty="0"/>
              <a:t>interval1</a:t>
            </a:r>
            <a:r>
              <a:rPr lang="zh-CN" altLang="en-US" i="1" dirty="0"/>
              <a:t>：</a:t>
            </a:r>
            <a:r>
              <a:rPr lang="zh-CN" altLang="en-US" dirty="0"/>
              <a:t>指定</a:t>
            </a:r>
            <a:r>
              <a:rPr lang="en-US" altLang="zh-CN" dirty="0"/>
              <a:t>OSPF SPF</a:t>
            </a:r>
            <a:r>
              <a:rPr lang="zh-CN" altLang="en-US" dirty="0"/>
              <a:t>计算间隔时间。整数形式，取值范围是</a:t>
            </a:r>
            <a:r>
              <a:rPr lang="en-US" altLang="zh-CN" dirty="0"/>
              <a:t>1</a:t>
            </a:r>
            <a:r>
              <a:rPr lang="zh-CN" altLang="en-US" dirty="0"/>
              <a:t>～</a:t>
            </a:r>
            <a:r>
              <a:rPr lang="en-US" altLang="zh-CN" dirty="0"/>
              <a:t>10</a:t>
            </a:r>
            <a:r>
              <a:rPr lang="zh-CN" altLang="en-US" dirty="0"/>
              <a:t>，单位是秒。</a:t>
            </a:r>
            <a:endParaRPr lang="zh-CN" altLang="en-US" dirty="0"/>
          </a:p>
          <a:p>
            <a:pPr lvl="1"/>
            <a:r>
              <a:rPr lang="en-US" altLang="zh-CN" b="1" dirty="0"/>
              <a:t>intelligent-timer</a:t>
            </a:r>
            <a:r>
              <a:rPr lang="zh-CN" altLang="en-US" b="1" dirty="0"/>
              <a:t>：</a:t>
            </a:r>
            <a:r>
              <a:rPr lang="zh-CN" altLang="en-US" dirty="0"/>
              <a:t>指定通过智能定时器设置</a:t>
            </a:r>
            <a:r>
              <a:rPr lang="en-US" altLang="zh-CN" dirty="0"/>
              <a:t>OSPF SPF</a:t>
            </a:r>
            <a:r>
              <a:rPr lang="zh-CN" altLang="en-US" dirty="0"/>
              <a:t>计算的间隔时间。</a:t>
            </a:r>
            <a:endParaRPr lang="en-US" altLang="zh-CN" dirty="0"/>
          </a:p>
          <a:p>
            <a:pPr lvl="1"/>
            <a:r>
              <a:rPr lang="en-US" altLang="zh-CN" i="1" dirty="0"/>
              <a:t>max-interval</a:t>
            </a:r>
            <a:r>
              <a:rPr lang="zh-CN" altLang="en-US" i="1" dirty="0"/>
              <a:t>：</a:t>
            </a:r>
            <a:r>
              <a:rPr lang="zh-CN" altLang="en-US" dirty="0"/>
              <a:t>指定</a:t>
            </a:r>
            <a:r>
              <a:rPr lang="en-US" altLang="zh-CN" dirty="0"/>
              <a:t>OSPF SPF</a:t>
            </a:r>
            <a:r>
              <a:rPr lang="zh-CN" altLang="en-US" dirty="0"/>
              <a:t>计算的最长间隔时间。整数形式，取值范围是</a:t>
            </a:r>
            <a:r>
              <a:rPr lang="en-US" altLang="zh-CN" dirty="0"/>
              <a:t>1</a:t>
            </a:r>
            <a:r>
              <a:rPr lang="zh-CN" altLang="en-US" dirty="0"/>
              <a:t>～</a:t>
            </a:r>
            <a:r>
              <a:rPr lang="en-US" altLang="zh-CN" dirty="0"/>
              <a:t>120000</a:t>
            </a:r>
            <a:r>
              <a:rPr lang="zh-CN" altLang="en-US" dirty="0"/>
              <a:t>，单位是毫秒。缺省值是</a:t>
            </a:r>
            <a:r>
              <a:rPr lang="en-US" altLang="zh-CN" dirty="0"/>
              <a:t>10000</a:t>
            </a:r>
            <a:r>
              <a:rPr lang="zh-CN" altLang="en-US" dirty="0"/>
              <a:t>。</a:t>
            </a:r>
            <a:endParaRPr lang="zh-CN" altLang="en-US" dirty="0"/>
          </a:p>
          <a:p>
            <a:pPr lvl="1"/>
            <a:r>
              <a:rPr lang="en-US" altLang="zh-CN" i="1" dirty="0"/>
              <a:t>start-interval</a:t>
            </a:r>
            <a:r>
              <a:rPr lang="zh-CN" altLang="en-US" i="1" dirty="0"/>
              <a:t>：</a:t>
            </a:r>
            <a:r>
              <a:rPr lang="zh-CN" altLang="en-US" dirty="0"/>
              <a:t>指定</a:t>
            </a:r>
            <a:r>
              <a:rPr lang="en-US" altLang="zh-CN" dirty="0"/>
              <a:t>OSPF SPF</a:t>
            </a:r>
            <a:r>
              <a:rPr lang="zh-CN" altLang="en-US" dirty="0"/>
              <a:t>计算的初始间隔时间。整数形式，取值范围是</a:t>
            </a:r>
            <a:r>
              <a:rPr lang="en-US" altLang="zh-CN" dirty="0"/>
              <a:t>1</a:t>
            </a:r>
            <a:r>
              <a:rPr lang="zh-CN" altLang="en-US" dirty="0"/>
              <a:t>～</a:t>
            </a:r>
            <a:r>
              <a:rPr lang="en-US" altLang="zh-CN" dirty="0"/>
              <a:t>60000</a:t>
            </a:r>
            <a:r>
              <a:rPr lang="zh-CN" altLang="en-US" dirty="0"/>
              <a:t>，单位是毫秒。缺省值是</a:t>
            </a:r>
            <a:r>
              <a:rPr lang="en-US" altLang="zh-CN" dirty="0"/>
              <a:t>500</a:t>
            </a:r>
            <a:r>
              <a:rPr lang="zh-CN" altLang="en-US" dirty="0"/>
              <a:t>。</a:t>
            </a:r>
            <a:endParaRPr lang="zh-CN" altLang="en-US" dirty="0"/>
          </a:p>
          <a:p>
            <a:pPr lvl="1"/>
            <a:r>
              <a:rPr lang="en-US" altLang="zh-CN" i="1" dirty="0"/>
              <a:t>hold-interval</a:t>
            </a:r>
            <a:r>
              <a:rPr lang="zh-CN" altLang="en-US" i="1" dirty="0"/>
              <a:t>：</a:t>
            </a:r>
            <a:r>
              <a:rPr lang="zh-CN" altLang="en-US" dirty="0"/>
              <a:t>指定</a:t>
            </a:r>
            <a:r>
              <a:rPr lang="en-US" altLang="zh-CN" dirty="0"/>
              <a:t>OSPF SPF</a:t>
            </a:r>
            <a:r>
              <a:rPr lang="zh-CN" altLang="en-US" dirty="0"/>
              <a:t>计算的基数间隔时间。整数形式，取值范围是</a:t>
            </a:r>
            <a:r>
              <a:rPr lang="en-US" altLang="zh-CN" dirty="0"/>
              <a:t>1</a:t>
            </a:r>
            <a:r>
              <a:rPr lang="zh-CN" altLang="en-US" dirty="0"/>
              <a:t>～</a:t>
            </a:r>
            <a:r>
              <a:rPr lang="en-US" altLang="zh-CN" dirty="0"/>
              <a:t>60000</a:t>
            </a:r>
            <a:r>
              <a:rPr lang="zh-CN" altLang="en-US" dirty="0"/>
              <a:t>，单位是毫秒。缺省值是</a:t>
            </a:r>
            <a:r>
              <a:rPr lang="en-US" altLang="zh-CN" dirty="0"/>
              <a:t>1000</a:t>
            </a:r>
            <a:r>
              <a:rPr lang="zh-CN" altLang="en-US" dirty="0"/>
              <a:t>。</a:t>
            </a:r>
            <a:endParaRPr lang="zh-CN" altLang="en-US" dirty="0"/>
          </a:p>
          <a:p>
            <a:pPr lvl="1"/>
            <a:r>
              <a:rPr lang="en-US" altLang="zh-CN" b="1" dirty="0"/>
              <a:t>millisecond </a:t>
            </a:r>
            <a:r>
              <a:rPr lang="en-US" altLang="zh-CN" i="1" dirty="0"/>
              <a:t>interval2</a:t>
            </a:r>
            <a:r>
              <a:rPr lang="zh-CN" altLang="en-US" i="1" dirty="0"/>
              <a:t>：</a:t>
            </a:r>
            <a:r>
              <a:rPr lang="zh-CN" altLang="en-US" dirty="0"/>
              <a:t>指定</a:t>
            </a:r>
            <a:r>
              <a:rPr lang="en-US" altLang="zh-CN" dirty="0"/>
              <a:t>OSPF SPF</a:t>
            </a:r>
            <a:r>
              <a:rPr lang="zh-CN" altLang="en-US" dirty="0"/>
              <a:t>计算间隔时间。整数形式，取值范围是</a:t>
            </a:r>
            <a:r>
              <a:rPr lang="en-US" altLang="zh-CN" dirty="0"/>
              <a:t>1</a:t>
            </a:r>
            <a:r>
              <a:rPr lang="zh-CN" altLang="en-US" dirty="0"/>
              <a:t>～</a:t>
            </a:r>
            <a:r>
              <a:rPr lang="en-US" altLang="zh-CN" dirty="0"/>
              <a:t>10000</a:t>
            </a:r>
            <a:r>
              <a:rPr lang="zh-CN" altLang="en-US" dirty="0"/>
              <a:t>，单位是毫秒。</a:t>
            </a:r>
            <a:endParaRPr lang="zh-CN" altLang="en-US" dirty="0"/>
          </a:p>
          <a:p>
            <a:pPr lvl="1"/>
            <a:endParaRPr lang="en-US" altLang="zh-CN" dirty="0"/>
          </a:p>
        </p:txBody>
      </p:sp>
      <p:sp>
        <p:nvSpPr>
          <p:cNvPr id="4" name="幻灯片图像占位符 3"/>
          <p:cNvSpPr>
            <a:spLocks noGrp="1" noRot="1" noChangeAspect="1"/>
          </p:cNvSpPr>
          <p:nvPr>
            <p:ph type="sldImg"/>
          </p:nvPr>
        </p:nvSpPr>
        <p:spPr>
          <a:xfrm>
            <a:off x="742950" y="717550"/>
            <a:ext cx="5557838" cy="3125788"/>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节点链路双保护：</a:t>
            </a:r>
            <a:endParaRPr lang="en-US" altLang="zh-CN"/>
          </a:p>
          <a:p>
            <a:pPr lvl="1"/>
            <a:r>
              <a:rPr lang="zh-CN" altLang="en-US"/>
              <a:t>如正文右图：流量从设备</a:t>
            </a:r>
            <a:r>
              <a:rPr lang="en-US" altLang="zh-CN"/>
              <a:t>S</a:t>
            </a:r>
            <a:r>
              <a:rPr lang="zh-CN" altLang="en-US"/>
              <a:t>到</a:t>
            </a:r>
            <a:r>
              <a:rPr lang="en-US" altLang="zh-CN"/>
              <a:t>D</a:t>
            </a:r>
            <a:r>
              <a:rPr lang="zh-CN" altLang="en-US"/>
              <a:t>进行转发，网络开销值满足节点链路保护公式，可保证当主链路故障后，设备</a:t>
            </a:r>
            <a:r>
              <a:rPr lang="en-US" altLang="zh-CN"/>
              <a:t>S</a:t>
            </a:r>
            <a:r>
              <a:rPr lang="zh-CN" altLang="en-US"/>
              <a:t>将流量切换到备份链路</a:t>
            </a:r>
            <a:r>
              <a:rPr lang="en-US" altLang="zh-CN"/>
              <a:t>S</a:t>
            </a:r>
            <a:r>
              <a:rPr lang="zh-CN" altLang="en-US"/>
              <a:t>到</a:t>
            </a:r>
            <a:r>
              <a:rPr lang="en-US" altLang="zh-CN"/>
              <a:t>N</a:t>
            </a:r>
            <a:r>
              <a:rPr lang="zh-CN" altLang="en-US"/>
              <a:t>后可以继续向下游转发，确保流量中断小于</a:t>
            </a:r>
            <a:r>
              <a:rPr lang="en-US" altLang="zh-CN"/>
              <a:t>50 ms</a:t>
            </a:r>
            <a:r>
              <a:rPr lang="zh-CN" altLang="en-US"/>
              <a:t>。</a:t>
            </a:r>
            <a:endParaRPr lang="en-US" altLang="zh-CN"/>
          </a:p>
          <a:p>
            <a:r>
              <a:rPr lang="en-US" altLang="zh-CN"/>
              <a:t>OSPF IP FRR</a:t>
            </a:r>
            <a:r>
              <a:rPr lang="zh-CN" altLang="en-US"/>
              <a:t>的流量保护分为链路保护和节点链路双保护。</a:t>
            </a:r>
            <a:endParaRPr lang="zh-CN" altLang="en-US"/>
          </a:p>
          <a:p>
            <a:pPr lvl="1"/>
            <a:r>
              <a:rPr lang="zh-CN" altLang="en-US"/>
              <a:t>当需要保护的对象是经过特定链路的流量时，流量保护类型为链路保护。</a:t>
            </a:r>
            <a:endParaRPr lang="zh-CN" altLang="en-US"/>
          </a:p>
          <a:p>
            <a:pPr lvl="1"/>
            <a:r>
              <a:rPr lang="zh-CN" altLang="en-US"/>
              <a:t>当需要保护的对象是经过特定设备的流量时，流量保护类型为节点链路双保护。节点保护优先级高于链路保护。</a:t>
            </a:r>
            <a:endParaRPr lang="zh-CN" altLang="en-US"/>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OSPF</a:t>
            </a:r>
            <a:r>
              <a:rPr lang="zh-CN" altLang="en-US" dirty="0"/>
              <a:t>通过周期性的向邻居发送</a:t>
            </a:r>
            <a:r>
              <a:rPr lang="en-US" altLang="zh-CN" dirty="0"/>
              <a:t>Hello</a:t>
            </a:r>
            <a:r>
              <a:rPr lang="zh-CN" altLang="en-US" dirty="0"/>
              <a:t>报文来实现邻居检测，检测到故障所需时间比较长，超过</a:t>
            </a:r>
            <a:r>
              <a:rPr lang="en-US" altLang="zh-CN" dirty="0"/>
              <a:t>1</a:t>
            </a:r>
            <a:r>
              <a:rPr lang="zh-CN" altLang="en-US" dirty="0"/>
              <a:t>秒钟（默认通过</a:t>
            </a:r>
            <a:r>
              <a:rPr lang="en-US" altLang="zh-CN" dirty="0"/>
              <a:t>OSPF Dead Timer</a:t>
            </a:r>
            <a:r>
              <a:rPr lang="zh-CN" altLang="en-US" dirty="0"/>
              <a:t>超时判断邻居失效，缺省为</a:t>
            </a:r>
            <a:r>
              <a:rPr lang="en-US" altLang="zh-CN" dirty="0"/>
              <a:t>40</a:t>
            </a:r>
            <a:r>
              <a:rPr lang="zh-CN" altLang="en-US" dirty="0"/>
              <a:t>秒）。随着科技的发展，语音、视频及其它点播业务应用广泛，而这些业务对于丢包和延时非常敏感，当数据达到吉比特速率级时，较长的检测时间会导致大量数据丢失，无法满足电信级网络高可靠性的需求。</a:t>
            </a:r>
            <a:endParaRPr lang="zh-CN" altLang="en-US" dirty="0"/>
          </a:p>
          <a:p>
            <a:r>
              <a:rPr lang="zh-CN" altLang="en-US" dirty="0"/>
              <a:t>为了解决上述问题，配置指定进程或指定接口的</a:t>
            </a:r>
            <a:r>
              <a:rPr lang="en-US" altLang="zh-CN" dirty="0"/>
              <a:t>OSPF</a:t>
            </a:r>
            <a:r>
              <a:rPr lang="zh-CN" altLang="en-US" dirty="0"/>
              <a:t>与</a:t>
            </a:r>
            <a:r>
              <a:rPr lang="en-US" altLang="zh-CN" dirty="0"/>
              <a:t>BFD</a:t>
            </a:r>
            <a:r>
              <a:rPr lang="zh-CN" altLang="en-US" dirty="0"/>
              <a:t>联动功能，可以快速检测链路的状态，故障检测时间可以达到毫秒级，提高链路状态变化时</a:t>
            </a:r>
            <a:r>
              <a:rPr lang="en-US" altLang="zh-CN" dirty="0"/>
              <a:t>OSPF</a:t>
            </a:r>
            <a:r>
              <a:rPr lang="zh-CN" altLang="en-US" dirty="0"/>
              <a:t>的收敛速度。</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4310764"/>
            <a:ext cx="5580062" cy="5099936"/>
          </a:xfrm>
        </p:spPr>
        <p:txBody>
          <a:bodyPr/>
          <a:lstStyle/>
          <a:p>
            <a:pPr lvl="0">
              <a:lnSpc>
                <a:spcPct val="100000"/>
              </a:lnSpc>
            </a:pPr>
            <a:r>
              <a:rPr lang="zh-CN" altLang="en-US" dirty="0"/>
              <a:t>配置前提：</a:t>
            </a:r>
            <a:endParaRPr lang="en-US" altLang="zh-CN" dirty="0"/>
          </a:p>
          <a:p>
            <a:pPr lvl="1">
              <a:lnSpc>
                <a:spcPct val="100000"/>
              </a:lnSpc>
            </a:pPr>
            <a:r>
              <a:rPr lang="zh-CN" altLang="en-US" dirty="0"/>
              <a:t>如果需要使用</a:t>
            </a:r>
            <a:r>
              <a:rPr lang="en-US" altLang="zh-CN" dirty="0"/>
              <a:t>BFD</a:t>
            </a:r>
            <a:r>
              <a:rPr lang="zh-CN" altLang="en-US" dirty="0"/>
              <a:t>功能快速检测链路故障，则必须在系统视图下执行</a:t>
            </a:r>
            <a:r>
              <a:rPr lang="en-US" altLang="zh-CN" b="1" dirty="0" err="1"/>
              <a:t>bfd</a:t>
            </a:r>
            <a:r>
              <a:rPr lang="zh-CN" altLang="en-US" dirty="0"/>
              <a:t>命令，使能全局</a:t>
            </a:r>
            <a:r>
              <a:rPr lang="en-US" altLang="zh-CN" dirty="0"/>
              <a:t>BFD</a:t>
            </a:r>
            <a:r>
              <a:rPr lang="zh-CN" altLang="en-US" dirty="0"/>
              <a:t>功能。</a:t>
            </a:r>
            <a:endParaRPr lang="en-US" altLang="zh-CN" dirty="0"/>
          </a:p>
          <a:p>
            <a:pPr lvl="0">
              <a:lnSpc>
                <a:spcPct val="100000"/>
              </a:lnSpc>
            </a:pPr>
            <a:r>
              <a:rPr lang="zh-CN" altLang="en-US" dirty="0"/>
              <a:t>接口配置的</a:t>
            </a:r>
            <a:r>
              <a:rPr lang="en-US" altLang="zh-CN" dirty="0"/>
              <a:t>BFD</a:t>
            </a:r>
            <a:r>
              <a:rPr lang="zh-CN" altLang="en-US" dirty="0"/>
              <a:t>特性优先级高于进程配置的</a:t>
            </a:r>
            <a:r>
              <a:rPr lang="en-US" altLang="zh-CN" dirty="0"/>
              <a:t>BFD</a:t>
            </a:r>
            <a:r>
              <a:rPr lang="zh-CN" altLang="en-US" dirty="0"/>
              <a:t>特性优先级。如果打开了接口的</a:t>
            </a:r>
            <a:r>
              <a:rPr lang="en-US" altLang="zh-CN" dirty="0"/>
              <a:t>BFD</a:t>
            </a:r>
            <a:r>
              <a:rPr lang="zh-CN" altLang="en-US" dirty="0"/>
              <a:t>开关，则按照接口上</a:t>
            </a:r>
            <a:r>
              <a:rPr lang="en-US" altLang="zh-CN" dirty="0"/>
              <a:t>BFD</a:t>
            </a:r>
            <a:r>
              <a:rPr lang="zh-CN" altLang="en-US" dirty="0"/>
              <a:t>参数建立</a:t>
            </a:r>
            <a:r>
              <a:rPr lang="en-US" altLang="zh-CN" dirty="0"/>
              <a:t>BFD</a:t>
            </a:r>
            <a:r>
              <a:rPr lang="zh-CN" altLang="en-US" dirty="0"/>
              <a:t>会话。</a:t>
            </a:r>
            <a:endParaRPr lang="en-US" altLang="zh-CN" dirty="0"/>
          </a:p>
          <a:p>
            <a:pPr lvl="0">
              <a:lnSpc>
                <a:spcPct val="100000"/>
              </a:lnSpc>
            </a:pPr>
            <a:r>
              <a:rPr lang="zh-CN" altLang="en-US" dirty="0"/>
              <a:t>可以配置</a:t>
            </a:r>
            <a:r>
              <a:rPr lang="en-US" altLang="zh-CN" dirty="0"/>
              <a:t>OSPF IP FRR</a:t>
            </a:r>
            <a:r>
              <a:rPr lang="zh-CN" altLang="en-US" dirty="0"/>
              <a:t>与</a:t>
            </a:r>
            <a:r>
              <a:rPr lang="en-US" altLang="zh-CN" dirty="0"/>
              <a:t>BFD</a:t>
            </a:r>
            <a:r>
              <a:rPr lang="zh-CN" altLang="en-US" dirty="0"/>
              <a:t>联动：</a:t>
            </a:r>
            <a:endParaRPr lang="zh-CN" altLang="en-US" dirty="0"/>
          </a:p>
          <a:p>
            <a:pPr lvl="1">
              <a:lnSpc>
                <a:spcPct val="100000"/>
              </a:lnSpc>
            </a:pPr>
            <a:r>
              <a:rPr lang="zh-CN" altLang="en-US" dirty="0"/>
              <a:t>配置</a:t>
            </a:r>
            <a:r>
              <a:rPr lang="en-US" altLang="zh-CN" dirty="0"/>
              <a:t>OSPF IP FRR</a:t>
            </a:r>
            <a:r>
              <a:rPr lang="zh-CN" altLang="en-US" dirty="0"/>
              <a:t>特性时，需要底层能够快速响应链路变化，以便迅速将流量切换到备份链路。</a:t>
            </a:r>
            <a:endParaRPr lang="en-US" altLang="zh-CN" dirty="0"/>
          </a:p>
          <a:p>
            <a:pPr lvl="1">
              <a:lnSpc>
                <a:spcPct val="100000"/>
              </a:lnSpc>
            </a:pPr>
            <a:r>
              <a:rPr lang="zh-CN" altLang="en-US" dirty="0"/>
              <a:t>将</a:t>
            </a:r>
            <a:r>
              <a:rPr lang="en-US" altLang="zh-CN" dirty="0"/>
              <a:t>OSPF IP FRR</a:t>
            </a:r>
            <a:r>
              <a:rPr lang="zh-CN" altLang="en-US" dirty="0"/>
              <a:t>与</a:t>
            </a:r>
            <a:r>
              <a:rPr lang="en-US" altLang="zh-CN" dirty="0"/>
              <a:t>BFD</a:t>
            </a:r>
            <a:r>
              <a:rPr lang="zh-CN" altLang="en-US" dirty="0"/>
              <a:t>会话绑定可以达到快速感知故障的目的，确保故障后流量切换的及时性。</a:t>
            </a:r>
            <a:endParaRPr lang="zh-CN" altLang="en-US" dirty="0"/>
          </a:p>
          <a:p>
            <a:pPr lvl="0">
              <a:lnSpc>
                <a:spcPct val="100000"/>
              </a:lnSpc>
            </a:pPr>
            <a:r>
              <a:rPr lang="zh-CN" altLang="en-US" dirty="0"/>
              <a:t>命令：</a:t>
            </a:r>
            <a:r>
              <a:rPr lang="en-US" altLang="zh-CN" dirty="0"/>
              <a:t>[Huawei-ospf-1] </a:t>
            </a:r>
            <a:r>
              <a:rPr lang="en-US" altLang="zh-CN" b="1" dirty="0" err="1"/>
              <a:t>bfd</a:t>
            </a:r>
            <a:r>
              <a:rPr lang="en-US" altLang="zh-CN" b="1" dirty="0"/>
              <a:t> all-interfaces</a:t>
            </a:r>
            <a:r>
              <a:rPr lang="en-US" altLang="zh-CN" dirty="0"/>
              <a:t> { </a:t>
            </a:r>
            <a:r>
              <a:rPr lang="en-US" altLang="zh-CN" b="1" dirty="0"/>
              <a:t>min-</a:t>
            </a:r>
            <a:r>
              <a:rPr lang="en-US" altLang="zh-CN" b="1" dirty="0" err="1"/>
              <a:t>rx</a:t>
            </a:r>
            <a:r>
              <a:rPr lang="en-US" altLang="zh-CN" b="1" dirty="0"/>
              <a:t>-interval</a:t>
            </a:r>
            <a:r>
              <a:rPr lang="en-US" altLang="zh-CN" dirty="0"/>
              <a:t> </a:t>
            </a:r>
            <a:r>
              <a:rPr lang="en-US" altLang="zh-CN" i="1" dirty="0"/>
              <a:t>receive-interval</a:t>
            </a:r>
            <a:r>
              <a:rPr lang="en-US" altLang="zh-CN" dirty="0"/>
              <a:t> | </a:t>
            </a:r>
            <a:r>
              <a:rPr lang="en-US" altLang="zh-CN" b="1" dirty="0"/>
              <a:t>min-</a:t>
            </a:r>
            <a:r>
              <a:rPr lang="en-US" altLang="zh-CN" b="1" dirty="0" err="1"/>
              <a:t>tx</a:t>
            </a:r>
            <a:r>
              <a:rPr lang="en-US" altLang="zh-CN" b="1" dirty="0"/>
              <a:t>-interval</a:t>
            </a:r>
            <a:r>
              <a:rPr lang="en-US" altLang="zh-CN" dirty="0"/>
              <a:t> </a:t>
            </a:r>
            <a:r>
              <a:rPr lang="en-US" altLang="zh-CN" i="1" dirty="0"/>
              <a:t>transmit-interval</a:t>
            </a:r>
            <a:r>
              <a:rPr lang="en-US" altLang="zh-CN" dirty="0"/>
              <a:t> | </a:t>
            </a:r>
            <a:r>
              <a:rPr lang="en-US" altLang="zh-CN" b="1" dirty="0"/>
              <a:t>detect-multiplier</a:t>
            </a:r>
            <a:r>
              <a:rPr lang="en-US" altLang="zh-CN" dirty="0"/>
              <a:t> </a:t>
            </a:r>
            <a:r>
              <a:rPr lang="en-US" altLang="zh-CN" i="1" dirty="0"/>
              <a:t>multiplier-value</a:t>
            </a:r>
            <a:r>
              <a:rPr lang="en-US" altLang="zh-CN" dirty="0"/>
              <a:t> | </a:t>
            </a:r>
            <a:r>
              <a:rPr lang="en-US" altLang="zh-CN" b="1" dirty="0" err="1"/>
              <a:t>frr</a:t>
            </a:r>
            <a:r>
              <a:rPr lang="en-US" altLang="zh-CN" b="1" dirty="0"/>
              <a:t>-binding</a:t>
            </a:r>
            <a:r>
              <a:rPr lang="en-US" altLang="zh-CN" dirty="0"/>
              <a:t> } </a:t>
            </a:r>
            <a:endParaRPr lang="zh-CN" altLang="en-US" dirty="0"/>
          </a:p>
          <a:p>
            <a:pPr lvl="1">
              <a:lnSpc>
                <a:spcPct val="100000"/>
              </a:lnSpc>
            </a:pPr>
            <a:r>
              <a:rPr lang="en-US" altLang="zh-CN" b="1" dirty="0"/>
              <a:t>min-</a:t>
            </a:r>
            <a:r>
              <a:rPr lang="en-US" altLang="zh-CN" b="1" dirty="0" err="1"/>
              <a:t>rx</a:t>
            </a:r>
            <a:r>
              <a:rPr lang="en-US" altLang="zh-CN" b="1" dirty="0"/>
              <a:t>-interval</a:t>
            </a:r>
            <a:r>
              <a:rPr lang="en-US" altLang="zh-CN" dirty="0"/>
              <a:t> </a:t>
            </a:r>
            <a:r>
              <a:rPr lang="en-US" altLang="zh-CN" i="1" dirty="0"/>
              <a:t>receive-interval</a:t>
            </a:r>
            <a:r>
              <a:rPr lang="zh-CN" altLang="en-US" i="1" dirty="0"/>
              <a:t>：</a:t>
            </a:r>
            <a:r>
              <a:rPr lang="zh-CN" altLang="en-US" dirty="0"/>
              <a:t>指定期望从对端接收</a:t>
            </a:r>
            <a:r>
              <a:rPr lang="en-US" altLang="zh-CN" dirty="0"/>
              <a:t>BFD</a:t>
            </a:r>
            <a:r>
              <a:rPr lang="zh-CN" altLang="en-US" dirty="0"/>
              <a:t>报文的最小接收间隔。整数形式，取值范围是</a:t>
            </a:r>
            <a:r>
              <a:rPr lang="en-US" altLang="zh-CN" dirty="0"/>
              <a:t>10</a:t>
            </a:r>
            <a:r>
              <a:rPr lang="zh-CN" altLang="en-US" dirty="0"/>
              <a:t>～</a:t>
            </a:r>
            <a:r>
              <a:rPr lang="en-US" altLang="zh-CN" dirty="0"/>
              <a:t>2000</a:t>
            </a:r>
            <a:r>
              <a:rPr lang="zh-CN" altLang="en-US" dirty="0"/>
              <a:t>，单位是毫秒。缺省值是</a:t>
            </a:r>
            <a:r>
              <a:rPr lang="en-US" altLang="zh-CN" dirty="0"/>
              <a:t>1000</a:t>
            </a:r>
            <a:r>
              <a:rPr lang="zh-CN" altLang="en-US" dirty="0"/>
              <a:t>毫秒。</a:t>
            </a:r>
            <a:endParaRPr lang="zh-CN" altLang="en-US" dirty="0"/>
          </a:p>
          <a:p>
            <a:pPr lvl="1">
              <a:lnSpc>
                <a:spcPct val="100000"/>
              </a:lnSpc>
            </a:pPr>
            <a:r>
              <a:rPr lang="en-US" altLang="zh-CN" b="1" dirty="0"/>
              <a:t>min-</a:t>
            </a:r>
            <a:r>
              <a:rPr lang="en-US" altLang="zh-CN" b="1" dirty="0" err="1"/>
              <a:t>tx</a:t>
            </a:r>
            <a:r>
              <a:rPr lang="en-US" altLang="zh-CN" b="1" dirty="0"/>
              <a:t>-interval</a:t>
            </a:r>
            <a:r>
              <a:rPr lang="en-US" altLang="zh-CN" dirty="0"/>
              <a:t> </a:t>
            </a:r>
            <a:r>
              <a:rPr lang="en-US" altLang="zh-CN" i="1" dirty="0"/>
              <a:t>transmit-interval</a:t>
            </a:r>
            <a:r>
              <a:rPr lang="zh-CN" altLang="en-US" i="1" dirty="0"/>
              <a:t>：</a:t>
            </a:r>
            <a:r>
              <a:rPr lang="zh-CN" altLang="en-US" dirty="0"/>
              <a:t>指定向对端发送</a:t>
            </a:r>
            <a:r>
              <a:rPr lang="en-US" altLang="zh-CN" dirty="0"/>
              <a:t>BFD</a:t>
            </a:r>
            <a:r>
              <a:rPr lang="zh-CN" altLang="en-US" dirty="0"/>
              <a:t>报文的最小发送间隔。整数形式，取值范围是</a:t>
            </a:r>
            <a:r>
              <a:rPr lang="en-US" altLang="zh-CN" dirty="0"/>
              <a:t>10</a:t>
            </a:r>
            <a:r>
              <a:rPr lang="zh-CN" altLang="en-US" dirty="0"/>
              <a:t>～</a:t>
            </a:r>
            <a:r>
              <a:rPr lang="en-US" altLang="zh-CN" dirty="0"/>
              <a:t>2000</a:t>
            </a:r>
            <a:r>
              <a:rPr lang="zh-CN" altLang="en-US" dirty="0"/>
              <a:t>，单位是毫秒。缺省值是</a:t>
            </a:r>
            <a:r>
              <a:rPr lang="en-US" altLang="zh-CN" dirty="0"/>
              <a:t>1000</a:t>
            </a:r>
            <a:r>
              <a:rPr lang="zh-CN" altLang="en-US" dirty="0"/>
              <a:t>毫秒。</a:t>
            </a:r>
            <a:endParaRPr lang="zh-CN" altLang="en-US" dirty="0"/>
          </a:p>
          <a:p>
            <a:pPr lvl="1">
              <a:lnSpc>
                <a:spcPct val="100000"/>
              </a:lnSpc>
            </a:pPr>
            <a:r>
              <a:rPr lang="en-US" altLang="zh-CN" b="1" dirty="0"/>
              <a:t>detect-multiplier</a:t>
            </a:r>
            <a:r>
              <a:rPr lang="en-US" altLang="zh-CN" dirty="0"/>
              <a:t> </a:t>
            </a:r>
            <a:r>
              <a:rPr lang="en-US" altLang="zh-CN" i="1" dirty="0"/>
              <a:t>multiplier-value</a:t>
            </a:r>
            <a:r>
              <a:rPr lang="zh-CN" altLang="en-US" i="1" dirty="0"/>
              <a:t>：</a:t>
            </a:r>
            <a:r>
              <a:rPr lang="zh-CN" altLang="en-US" dirty="0"/>
              <a:t>指定本地检测倍数。整数形式，取值范围是</a:t>
            </a:r>
            <a:r>
              <a:rPr lang="en-US" altLang="zh-CN" dirty="0"/>
              <a:t>3</a:t>
            </a:r>
            <a:r>
              <a:rPr lang="zh-CN" altLang="en-US" dirty="0"/>
              <a:t>～</a:t>
            </a:r>
            <a:r>
              <a:rPr lang="en-US" altLang="zh-CN" dirty="0"/>
              <a:t>50</a:t>
            </a:r>
            <a:r>
              <a:rPr lang="zh-CN" altLang="en-US" dirty="0"/>
              <a:t>，缺省值是</a:t>
            </a:r>
            <a:r>
              <a:rPr lang="en-US" altLang="zh-CN" dirty="0"/>
              <a:t>3</a:t>
            </a:r>
            <a:r>
              <a:rPr lang="zh-CN" altLang="en-US" dirty="0"/>
              <a:t>。</a:t>
            </a:r>
            <a:endParaRPr lang="zh-CN" altLang="en-US" dirty="0"/>
          </a:p>
          <a:p>
            <a:pPr lvl="1">
              <a:lnSpc>
                <a:spcPct val="100000"/>
              </a:lnSpc>
            </a:pPr>
            <a:r>
              <a:rPr lang="en-US" altLang="zh-CN" b="1" dirty="0" err="1"/>
              <a:t>frr</a:t>
            </a:r>
            <a:r>
              <a:rPr lang="en-US" altLang="zh-CN" b="1" dirty="0"/>
              <a:t>-binding</a:t>
            </a:r>
            <a:r>
              <a:rPr lang="zh-CN" altLang="en-US" b="1" dirty="0"/>
              <a:t>：</a:t>
            </a:r>
            <a:r>
              <a:rPr lang="zh-CN" altLang="en-US" dirty="0"/>
              <a:t>将</a:t>
            </a:r>
            <a:r>
              <a:rPr lang="en-US" altLang="zh-CN" dirty="0"/>
              <a:t>BFD</a:t>
            </a:r>
            <a:r>
              <a:rPr lang="zh-CN" altLang="en-US" dirty="0"/>
              <a:t>会话状态与接口的链路状态进行绑定。当</a:t>
            </a:r>
            <a:r>
              <a:rPr lang="en-US" altLang="zh-CN" dirty="0"/>
              <a:t>BFD</a:t>
            </a:r>
            <a:r>
              <a:rPr lang="zh-CN" altLang="en-US" dirty="0"/>
              <a:t>会话状态变为</a:t>
            </a:r>
            <a:r>
              <a:rPr lang="en-US" altLang="zh-CN" dirty="0"/>
              <a:t>Down</a:t>
            </a:r>
            <a:r>
              <a:rPr lang="zh-CN" altLang="en-US" dirty="0"/>
              <a:t>时，接口的物理层链路状态也会变为</a:t>
            </a:r>
            <a:r>
              <a:rPr lang="en-US" altLang="zh-CN" dirty="0"/>
              <a:t>Down</a:t>
            </a:r>
            <a:r>
              <a:rPr lang="zh-CN" altLang="en-US" dirty="0"/>
              <a:t>，从而触发流量切换到备份路径。</a:t>
            </a:r>
            <a:endParaRPr lang="en-US" altLang="zh-CN" dirty="0"/>
          </a:p>
          <a:p>
            <a:pPr lvl="0">
              <a:lnSpc>
                <a:spcPct val="100000"/>
              </a:lnSpc>
            </a:pPr>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a:t>本课程只介绍等价路由、缺省路由、对</a:t>
            </a:r>
            <a:r>
              <a:rPr lang="en-US" altLang="zh-CN"/>
              <a:t>LSA</a:t>
            </a:r>
            <a:r>
              <a:rPr lang="zh-CN" altLang="en-US"/>
              <a:t>的过滤，其他内容请参考</a:t>
            </a:r>
            <a:r>
              <a:rPr lang="en-US" altLang="zh-CN"/>
              <a:t>《HCIP-Datacom-Core Technology》</a:t>
            </a:r>
            <a:r>
              <a:rPr lang="zh-CN" altLang="en-US"/>
              <a:t>课程。</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[Huawei-ospf-1] </a:t>
            </a:r>
            <a:r>
              <a:rPr lang="en-US" altLang="zh-CN" b="1" dirty="0"/>
              <a:t>maximum load-balancing</a:t>
            </a:r>
            <a:r>
              <a:rPr lang="en-US" altLang="zh-CN" dirty="0"/>
              <a:t> </a:t>
            </a:r>
            <a:r>
              <a:rPr lang="en-US" altLang="zh-CN" i="1" dirty="0"/>
              <a:t>number</a:t>
            </a:r>
            <a:endParaRPr lang="zh-CN" altLang="en-US" i="1" dirty="0"/>
          </a:p>
          <a:p>
            <a:pPr lvl="1"/>
            <a:r>
              <a:rPr lang="en-US" altLang="zh-CN" i="1" dirty="0"/>
              <a:t>number</a:t>
            </a:r>
            <a:r>
              <a:rPr lang="zh-CN" altLang="en-US" i="1" dirty="0"/>
              <a:t>：</a:t>
            </a:r>
            <a:r>
              <a:rPr lang="zh-CN" altLang="en-US" dirty="0"/>
              <a:t>等价路由的最大数量。设备型号不同，取值范围不同，具体请参考相应设备的产品文档。</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14000"/>
              </a:lnSpc>
            </a:pPr>
            <a:r>
              <a:rPr lang="zh-CN" altLang="en-US" dirty="0"/>
              <a:t>缺省路由是指目的地址和掩码都是</a:t>
            </a:r>
            <a:r>
              <a:rPr lang="en-US" altLang="zh-CN" dirty="0"/>
              <a:t>0</a:t>
            </a:r>
            <a:r>
              <a:rPr lang="zh-CN" altLang="en-US" dirty="0"/>
              <a:t>的路由。当设备无精确匹配的路由时，就可以通过缺省路由进行报文转发。由于</a:t>
            </a:r>
            <a:r>
              <a:rPr lang="en-US" altLang="zh-CN" dirty="0"/>
              <a:t>OSPF</a:t>
            </a:r>
            <a:r>
              <a:rPr lang="zh-CN" altLang="en-US" dirty="0"/>
              <a:t>路由的分级管理，</a:t>
            </a:r>
            <a:r>
              <a:rPr lang="en-US" altLang="zh-CN" dirty="0"/>
              <a:t>Type3</a:t>
            </a:r>
            <a:r>
              <a:rPr lang="zh-CN" altLang="en-US" dirty="0"/>
              <a:t>缺省路由的优先级高于</a:t>
            </a:r>
            <a:r>
              <a:rPr lang="en-US" altLang="zh-CN" dirty="0"/>
              <a:t>Type5</a:t>
            </a:r>
            <a:r>
              <a:rPr lang="zh-CN" altLang="en-US" dirty="0"/>
              <a:t>或</a:t>
            </a:r>
            <a:r>
              <a:rPr lang="en-US" altLang="zh-CN" dirty="0"/>
              <a:t>Type7</a:t>
            </a:r>
            <a:r>
              <a:rPr lang="zh-CN" altLang="en-US" dirty="0"/>
              <a:t>路由。</a:t>
            </a:r>
            <a:endParaRPr lang="en-US" altLang="zh-CN" dirty="0"/>
          </a:p>
          <a:p>
            <a:pPr>
              <a:lnSpc>
                <a:spcPct val="114000"/>
              </a:lnSpc>
            </a:pPr>
            <a:r>
              <a:rPr lang="zh-CN" altLang="en-US" dirty="0"/>
              <a:t>普通区域：</a:t>
            </a:r>
            <a:endParaRPr lang="en-US" altLang="zh-CN" dirty="0"/>
          </a:p>
          <a:p>
            <a:pPr lvl="1">
              <a:lnSpc>
                <a:spcPct val="114000"/>
              </a:lnSpc>
            </a:pPr>
            <a:r>
              <a:rPr lang="zh-CN" altLang="en-US" dirty="0"/>
              <a:t>缺省情况下，普通</a:t>
            </a:r>
            <a:r>
              <a:rPr lang="en-US" altLang="zh-CN" dirty="0"/>
              <a:t>OSPF</a:t>
            </a:r>
            <a:r>
              <a:rPr lang="zh-CN" altLang="en-US" dirty="0"/>
              <a:t>区域内的</a:t>
            </a:r>
            <a:r>
              <a:rPr lang="en-US" altLang="zh-CN" dirty="0"/>
              <a:t>OSPF</a:t>
            </a:r>
            <a:r>
              <a:rPr lang="zh-CN" altLang="en-US" dirty="0"/>
              <a:t>路由器是不会产生缺省路由的，即使它有缺省路由。当该路由器需要向</a:t>
            </a:r>
            <a:r>
              <a:rPr lang="en-US" altLang="zh-CN" dirty="0"/>
              <a:t>OSPF</a:t>
            </a:r>
            <a:r>
              <a:rPr lang="zh-CN" altLang="en-US" dirty="0"/>
              <a:t>发布缺省路由时，必须手工执行</a:t>
            </a:r>
            <a:r>
              <a:rPr lang="en-US" altLang="zh-CN" b="1" dirty="0"/>
              <a:t>default-route-advertise</a:t>
            </a:r>
            <a:r>
              <a:rPr lang="zh-CN" altLang="en-US" dirty="0"/>
              <a:t>命令，配置完成后，路由器会产生一个缺省</a:t>
            </a:r>
            <a:r>
              <a:rPr lang="en-US" altLang="zh-CN" dirty="0"/>
              <a:t>ASE LSA</a:t>
            </a:r>
            <a:r>
              <a:rPr lang="zh-CN" altLang="en-US" dirty="0"/>
              <a:t>（</a:t>
            </a:r>
            <a:r>
              <a:rPr lang="en-US" altLang="zh-CN" dirty="0"/>
              <a:t>Type5 LSA</a:t>
            </a:r>
            <a:r>
              <a:rPr lang="zh-CN" altLang="en-US" dirty="0"/>
              <a:t>），并且通告到整个</a:t>
            </a:r>
            <a:r>
              <a:rPr lang="en-US" altLang="zh-CN" dirty="0"/>
              <a:t>OSPF</a:t>
            </a:r>
            <a:r>
              <a:rPr lang="zh-CN" altLang="en-US" dirty="0"/>
              <a:t>自治系统中。</a:t>
            </a:r>
            <a:endParaRPr lang="zh-CN" altLang="en-US" dirty="0"/>
          </a:p>
          <a:p>
            <a:pPr>
              <a:lnSpc>
                <a:spcPct val="114000"/>
              </a:lnSpc>
            </a:pPr>
            <a:r>
              <a:rPr lang="en-US" altLang="zh-CN" dirty="0"/>
              <a:t>Stub</a:t>
            </a:r>
            <a:r>
              <a:rPr lang="zh-CN" altLang="en-US" dirty="0"/>
              <a:t>区域：</a:t>
            </a:r>
            <a:endParaRPr lang="en-US" altLang="zh-CN" dirty="0"/>
          </a:p>
          <a:p>
            <a:pPr lvl="1">
              <a:lnSpc>
                <a:spcPct val="114000"/>
              </a:lnSpc>
            </a:pPr>
            <a:r>
              <a:rPr lang="en-US" altLang="zh-CN" dirty="0"/>
              <a:t>Stub</a:t>
            </a:r>
            <a:r>
              <a:rPr lang="zh-CN" altLang="en-US" dirty="0"/>
              <a:t>区域不允许自治系统外部的路由（</a:t>
            </a:r>
            <a:r>
              <a:rPr lang="en-US" altLang="zh-CN" dirty="0"/>
              <a:t>Type5 LSA</a:t>
            </a:r>
            <a:r>
              <a:rPr lang="zh-CN" altLang="en-US" dirty="0"/>
              <a:t>）在区域内传播。区域内的路由器必须通过</a:t>
            </a:r>
            <a:r>
              <a:rPr lang="en-US" altLang="zh-CN" dirty="0"/>
              <a:t>ABR</a:t>
            </a:r>
            <a:r>
              <a:rPr lang="zh-CN" altLang="en-US" dirty="0"/>
              <a:t>学到自治系统外部的路由。</a:t>
            </a:r>
            <a:endParaRPr lang="en-US" altLang="zh-CN" dirty="0"/>
          </a:p>
          <a:p>
            <a:pPr lvl="1">
              <a:lnSpc>
                <a:spcPct val="114000"/>
              </a:lnSpc>
            </a:pPr>
            <a:r>
              <a:rPr lang="en-US" altLang="zh-CN" dirty="0"/>
              <a:t>Stub</a:t>
            </a:r>
            <a:r>
              <a:rPr lang="zh-CN" altLang="en-US" dirty="0"/>
              <a:t>区域的</a:t>
            </a:r>
            <a:r>
              <a:rPr lang="en-US" altLang="zh-CN" dirty="0"/>
              <a:t>ABR</a:t>
            </a:r>
            <a:r>
              <a:rPr lang="zh-CN" altLang="en-US" dirty="0"/>
              <a:t>会自动产生一条缺省的</a:t>
            </a:r>
            <a:r>
              <a:rPr lang="en-US" altLang="zh-CN" dirty="0"/>
              <a:t>Type3 LSA</a:t>
            </a:r>
            <a:r>
              <a:rPr lang="zh-CN" altLang="en-US" dirty="0"/>
              <a:t>通告到整个</a:t>
            </a:r>
            <a:r>
              <a:rPr lang="en-US" altLang="zh-CN" dirty="0"/>
              <a:t>Stub</a:t>
            </a:r>
            <a:r>
              <a:rPr lang="zh-CN" altLang="en-US" dirty="0"/>
              <a:t>区域。</a:t>
            </a:r>
            <a:r>
              <a:rPr lang="en-US" altLang="zh-CN" dirty="0"/>
              <a:t>ABR</a:t>
            </a:r>
            <a:r>
              <a:rPr lang="zh-CN" altLang="en-US" dirty="0"/>
              <a:t>通过该缺省路由，将到达</a:t>
            </a:r>
            <a:r>
              <a:rPr lang="en-US" altLang="zh-CN" dirty="0"/>
              <a:t>AS</a:t>
            </a:r>
            <a:r>
              <a:rPr lang="zh-CN" altLang="en-US" dirty="0"/>
              <a:t>外部的流量吸引到自己这里，然后通过</a:t>
            </a:r>
            <a:r>
              <a:rPr lang="en-US" altLang="zh-CN" dirty="0"/>
              <a:t>ABR</a:t>
            </a:r>
            <a:r>
              <a:rPr lang="zh-CN" altLang="en-US" dirty="0"/>
              <a:t>转发出去。</a:t>
            </a:r>
            <a:endParaRPr lang="en-US" altLang="zh-CN" dirty="0"/>
          </a:p>
          <a:p>
            <a:pPr>
              <a:lnSpc>
                <a:spcPct val="114000"/>
              </a:lnSpc>
            </a:pPr>
            <a:r>
              <a:rPr lang="en-US" altLang="zh-CN" dirty="0"/>
              <a:t>Totally Stub</a:t>
            </a:r>
            <a:r>
              <a:rPr lang="zh-CN" altLang="en-US" dirty="0"/>
              <a:t>区域：</a:t>
            </a:r>
            <a:endParaRPr lang="en-US" altLang="zh-CN" dirty="0"/>
          </a:p>
          <a:p>
            <a:pPr lvl="1">
              <a:lnSpc>
                <a:spcPct val="114000"/>
              </a:lnSpc>
            </a:pPr>
            <a:r>
              <a:rPr lang="en-US" altLang="zh-CN" dirty="0"/>
              <a:t>Totally Stub</a:t>
            </a:r>
            <a:r>
              <a:rPr lang="zh-CN" altLang="en-US" dirty="0"/>
              <a:t>区域既不允许自治系统外部的路由（</a:t>
            </a:r>
            <a:r>
              <a:rPr lang="en-US" altLang="zh-CN" dirty="0"/>
              <a:t>Type5 LSA</a:t>
            </a:r>
            <a:r>
              <a:rPr lang="zh-CN" altLang="en-US" dirty="0"/>
              <a:t>）在区域内传播，也不允许区域间路由（</a:t>
            </a:r>
            <a:r>
              <a:rPr lang="en-US" altLang="zh-CN" dirty="0"/>
              <a:t>Type3 LSA</a:t>
            </a:r>
            <a:r>
              <a:rPr lang="zh-CN" altLang="en-US" dirty="0"/>
              <a:t>）在区域内传播。区域内的路由器必须通过</a:t>
            </a:r>
            <a:r>
              <a:rPr lang="en-US" altLang="zh-CN" dirty="0"/>
              <a:t>ABR</a:t>
            </a:r>
            <a:r>
              <a:rPr lang="zh-CN" altLang="en-US" dirty="0"/>
              <a:t>学到自治系统外部和其他区域的路由。</a:t>
            </a:r>
            <a:endParaRPr lang="en-US" altLang="zh-CN" dirty="0"/>
          </a:p>
          <a:p>
            <a:pPr lvl="1">
              <a:lnSpc>
                <a:spcPct val="114000"/>
              </a:lnSpc>
            </a:pPr>
            <a:r>
              <a:rPr lang="en-US" altLang="zh-CN" dirty="0"/>
              <a:t>Totally Stub</a:t>
            </a:r>
            <a:r>
              <a:rPr lang="zh-CN" altLang="en-US" dirty="0"/>
              <a:t>区域的</a:t>
            </a:r>
            <a:r>
              <a:rPr lang="en-US" altLang="zh-CN" dirty="0"/>
              <a:t>ABR</a:t>
            </a:r>
            <a:r>
              <a:rPr lang="zh-CN" altLang="en-US" dirty="0"/>
              <a:t>会自动产生一条缺省的</a:t>
            </a:r>
            <a:r>
              <a:rPr lang="en-US" altLang="zh-CN" dirty="0"/>
              <a:t>Type3 LSA</a:t>
            </a:r>
            <a:r>
              <a:rPr lang="zh-CN" altLang="en-US" dirty="0"/>
              <a:t>通告到整个</a:t>
            </a:r>
            <a:r>
              <a:rPr lang="en-US" altLang="zh-CN" dirty="0"/>
              <a:t>Stub</a:t>
            </a:r>
            <a:r>
              <a:rPr lang="zh-CN" altLang="en-US" dirty="0"/>
              <a:t>区域。</a:t>
            </a:r>
            <a:r>
              <a:rPr lang="en-US" altLang="zh-CN" dirty="0"/>
              <a:t>ABR</a:t>
            </a:r>
            <a:r>
              <a:rPr lang="zh-CN" altLang="en-US" dirty="0"/>
              <a:t>通过该缺省路由，将到达</a:t>
            </a:r>
            <a:r>
              <a:rPr lang="en-US" altLang="zh-CN" dirty="0"/>
              <a:t>AS</a:t>
            </a:r>
            <a:r>
              <a:rPr lang="zh-CN" altLang="en-US" dirty="0"/>
              <a:t>外部和其它区域的流量吸引到自己这里，然后通过</a:t>
            </a:r>
            <a:r>
              <a:rPr lang="en-US" altLang="zh-CN" dirty="0"/>
              <a:t>ABR</a:t>
            </a:r>
            <a:r>
              <a:rPr lang="zh-CN" altLang="en-US" dirty="0"/>
              <a:t>转发出去。</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r>
              <a:rPr lang="en-US" altLang="zh-CN" dirty="0"/>
              <a:t>NSSA</a:t>
            </a:r>
            <a:r>
              <a:rPr lang="zh-CN" altLang="en-US" dirty="0"/>
              <a:t>区域：</a:t>
            </a:r>
            <a:endParaRPr lang="zh-CN" altLang="en-US" dirty="0"/>
          </a:p>
          <a:p>
            <a:pPr lvl="1"/>
            <a:r>
              <a:rPr lang="zh-CN" altLang="en-US" dirty="0"/>
              <a:t>如果希望到达自治系统外部的路由通过本区域（</a:t>
            </a:r>
            <a:r>
              <a:rPr lang="en-US" altLang="zh-CN" dirty="0"/>
              <a:t>NSSA</a:t>
            </a:r>
            <a:r>
              <a:rPr lang="zh-CN" altLang="en-US" dirty="0"/>
              <a:t>区域）的</a:t>
            </a:r>
            <a:r>
              <a:rPr lang="en-US" altLang="zh-CN" dirty="0"/>
              <a:t>ASBR</a:t>
            </a:r>
            <a:r>
              <a:rPr lang="zh-CN" altLang="en-US" dirty="0"/>
              <a:t>到达，而其它外部路由通过其它区域出去。此时，</a:t>
            </a:r>
            <a:r>
              <a:rPr lang="en-US" altLang="zh-CN" dirty="0"/>
              <a:t>ABR</a:t>
            </a:r>
            <a:r>
              <a:rPr lang="zh-CN" altLang="en-US" dirty="0"/>
              <a:t>会产生一条</a:t>
            </a:r>
            <a:r>
              <a:rPr lang="en-US" altLang="zh-CN" dirty="0"/>
              <a:t>Type7 LSA</a:t>
            </a:r>
            <a:r>
              <a:rPr lang="zh-CN" altLang="en-US" dirty="0"/>
              <a:t>的缺省路由，通告到整个</a:t>
            </a:r>
            <a:r>
              <a:rPr lang="en-US" altLang="zh-CN" dirty="0"/>
              <a:t>NSSA</a:t>
            </a:r>
            <a:r>
              <a:rPr lang="zh-CN" altLang="en-US" dirty="0"/>
              <a:t>区域内。这样，除了某少部分路由通过</a:t>
            </a:r>
            <a:r>
              <a:rPr lang="en-US" altLang="zh-CN" dirty="0"/>
              <a:t>NSSA</a:t>
            </a:r>
            <a:r>
              <a:rPr lang="zh-CN" altLang="en-US" dirty="0"/>
              <a:t>的</a:t>
            </a:r>
            <a:r>
              <a:rPr lang="en-US" altLang="zh-CN" dirty="0"/>
              <a:t>ASBR</a:t>
            </a:r>
            <a:r>
              <a:rPr lang="zh-CN" altLang="en-US" dirty="0"/>
              <a:t>到达，其它路由都可以通过</a:t>
            </a:r>
            <a:r>
              <a:rPr lang="en-US" altLang="zh-CN" dirty="0"/>
              <a:t>NSSA</a:t>
            </a:r>
            <a:r>
              <a:rPr lang="zh-CN" altLang="en-US" dirty="0"/>
              <a:t>的</a:t>
            </a:r>
            <a:r>
              <a:rPr lang="en-US" altLang="zh-CN" dirty="0"/>
              <a:t>ABR</a:t>
            </a:r>
            <a:r>
              <a:rPr lang="zh-CN" altLang="en-US" dirty="0"/>
              <a:t>到达其它区域的</a:t>
            </a:r>
            <a:r>
              <a:rPr lang="en-US" altLang="zh-CN" dirty="0"/>
              <a:t>ASBR</a:t>
            </a:r>
            <a:r>
              <a:rPr lang="zh-CN" altLang="en-US" dirty="0"/>
              <a:t>出去。这种情况下，在</a:t>
            </a:r>
            <a:r>
              <a:rPr lang="en-US" altLang="zh-CN" dirty="0"/>
              <a:t>ABR</a:t>
            </a:r>
            <a:r>
              <a:rPr lang="zh-CN" altLang="en-US" dirty="0"/>
              <a:t>上无论路由表中是否存在缺省路由</a:t>
            </a:r>
            <a:r>
              <a:rPr lang="en-US" altLang="zh-CN" dirty="0"/>
              <a:t>0.0.0.0</a:t>
            </a:r>
            <a:r>
              <a:rPr lang="zh-CN" altLang="en-US" dirty="0"/>
              <a:t>，都会产生</a:t>
            </a:r>
            <a:r>
              <a:rPr lang="en-US" altLang="zh-CN" dirty="0"/>
              <a:t>Type7 LSA</a:t>
            </a:r>
            <a:r>
              <a:rPr lang="zh-CN" altLang="en-US" dirty="0"/>
              <a:t>的缺省路由。</a:t>
            </a:r>
            <a:endParaRPr lang="en-US" altLang="zh-CN" dirty="0"/>
          </a:p>
          <a:p>
            <a:pPr lvl="1"/>
            <a:r>
              <a:rPr lang="zh-CN" altLang="en-US" dirty="0"/>
              <a:t>如果希望所有的外部路由只通过本区域（</a:t>
            </a:r>
            <a:r>
              <a:rPr lang="en-US" altLang="zh-CN" dirty="0"/>
              <a:t>NSSA</a:t>
            </a:r>
            <a:r>
              <a:rPr lang="zh-CN" altLang="en-US" dirty="0"/>
              <a:t>区域）的</a:t>
            </a:r>
            <a:r>
              <a:rPr lang="en-US" altLang="zh-CN" dirty="0"/>
              <a:t>ASBR</a:t>
            </a:r>
            <a:r>
              <a:rPr lang="zh-CN" altLang="en-US" dirty="0"/>
              <a:t>到达，则必须在</a:t>
            </a:r>
            <a:r>
              <a:rPr lang="en-US" altLang="zh-CN" dirty="0"/>
              <a:t>ASBR</a:t>
            </a:r>
            <a:r>
              <a:rPr lang="zh-CN" altLang="en-US" dirty="0"/>
              <a:t>上手动执行</a:t>
            </a:r>
            <a:r>
              <a:rPr lang="en-US" altLang="zh-CN" b="1" dirty="0" err="1"/>
              <a:t>nssa</a:t>
            </a:r>
            <a:r>
              <a:rPr lang="en-US" altLang="zh-CN" b="1" dirty="0"/>
              <a:t> [default-route-advertise]</a:t>
            </a:r>
            <a:r>
              <a:rPr lang="zh-CN" altLang="en-US" dirty="0"/>
              <a:t>命令进行配置，使</a:t>
            </a:r>
            <a:r>
              <a:rPr lang="en-US" altLang="zh-CN" dirty="0"/>
              <a:t>ASBR</a:t>
            </a:r>
            <a:r>
              <a:rPr lang="zh-CN" altLang="en-US" dirty="0"/>
              <a:t>产生一条缺省的</a:t>
            </a:r>
            <a:r>
              <a:rPr lang="en-US" altLang="zh-CN" dirty="0"/>
              <a:t>NSSA LSA</a:t>
            </a:r>
            <a:r>
              <a:rPr lang="zh-CN" altLang="en-US" dirty="0"/>
              <a:t>（</a:t>
            </a:r>
            <a:r>
              <a:rPr lang="en-US" altLang="zh-CN" dirty="0"/>
              <a:t>Type7 LSA</a:t>
            </a:r>
            <a:r>
              <a:rPr lang="zh-CN" altLang="en-US" dirty="0"/>
              <a:t>），通告到整个</a:t>
            </a:r>
            <a:r>
              <a:rPr lang="en-US" altLang="zh-CN" dirty="0"/>
              <a:t>NSSA</a:t>
            </a:r>
            <a:r>
              <a:rPr lang="zh-CN" altLang="en-US" dirty="0"/>
              <a:t>区域内。这样，所有的外部路由就只能通过本区域</a:t>
            </a:r>
            <a:r>
              <a:rPr lang="en-US" altLang="zh-CN" dirty="0"/>
              <a:t>NSSA</a:t>
            </a:r>
            <a:r>
              <a:rPr lang="zh-CN" altLang="en-US" dirty="0"/>
              <a:t>的</a:t>
            </a:r>
            <a:r>
              <a:rPr lang="en-US" altLang="zh-CN" dirty="0"/>
              <a:t>ASBR</a:t>
            </a:r>
            <a:r>
              <a:rPr lang="zh-CN" altLang="en-US" dirty="0"/>
              <a:t>到达。这种情况下，在</a:t>
            </a:r>
            <a:r>
              <a:rPr lang="en-US" altLang="zh-CN" dirty="0"/>
              <a:t>ASBR</a:t>
            </a:r>
            <a:r>
              <a:rPr lang="zh-CN" altLang="en-US" dirty="0"/>
              <a:t>上只有当路由表中存在缺省路由</a:t>
            </a:r>
            <a:r>
              <a:rPr lang="en-US" altLang="zh-CN" dirty="0"/>
              <a:t>0.0.0.0</a:t>
            </a:r>
            <a:r>
              <a:rPr lang="zh-CN" altLang="en-US" dirty="0"/>
              <a:t>时，才会产生</a:t>
            </a:r>
            <a:r>
              <a:rPr lang="en-US" altLang="zh-CN" dirty="0"/>
              <a:t>Type7 LSA</a:t>
            </a:r>
            <a:r>
              <a:rPr lang="zh-CN" altLang="en-US" dirty="0"/>
              <a:t>的缺省路由。</a:t>
            </a:r>
            <a:endParaRPr lang="en-US" altLang="zh-CN" dirty="0"/>
          </a:p>
          <a:p>
            <a:pPr lvl="1"/>
            <a:r>
              <a:rPr lang="zh-CN" altLang="en-US" dirty="0"/>
              <a:t>注意：因为缺省路由只是在本</a:t>
            </a:r>
            <a:r>
              <a:rPr lang="en-US" altLang="zh-CN" dirty="0"/>
              <a:t>NSSA</a:t>
            </a:r>
            <a:r>
              <a:rPr lang="zh-CN" altLang="en-US" dirty="0"/>
              <a:t>区域内泛洪，并没有泛洪到整个</a:t>
            </a:r>
            <a:r>
              <a:rPr lang="en-US" altLang="zh-CN" dirty="0"/>
              <a:t>OSPF</a:t>
            </a:r>
            <a:r>
              <a:rPr lang="zh-CN" altLang="en-US" dirty="0"/>
              <a:t>域中，所以本</a:t>
            </a:r>
            <a:r>
              <a:rPr lang="en-US" altLang="zh-CN" dirty="0"/>
              <a:t>NSSA</a:t>
            </a:r>
            <a:r>
              <a:rPr lang="zh-CN" altLang="en-US" dirty="0"/>
              <a:t>区域内的路由器在找不到路由之后可以从该</a:t>
            </a:r>
            <a:r>
              <a:rPr lang="en-US" altLang="zh-CN" dirty="0"/>
              <a:t>NSSA</a:t>
            </a:r>
            <a:r>
              <a:rPr lang="zh-CN" altLang="en-US" dirty="0"/>
              <a:t>的</a:t>
            </a:r>
            <a:r>
              <a:rPr lang="en-US" altLang="zh-CN" dirty="0"/>
              <a:t>ASBR</a:t>
            </a:r>
            <a:r>
              <a:rPr lang="zh-CN" altLang="en-US" dirty="0"/>
              <a:t>出去，但不能实现其他</a:t>
            </a:r>
            <a:r>
              <a:rPr lang="en-US" altLang="zh-CN" dirty="0"/>
              <a:t>OSPF</a:t>
            </a:r>
            <a:r>
              <a:rPr lang="zh-CN" altLang="en-US" dirty="0"/>
              <a:t>域的路由从这个出口出去。</a:t>
            </a:r>
            <a:r>
              <a:rPr lang="en-US" altLang="zh-CN" dirty="0"/>
              <a:t>Type7 LSA</a:t>
            </a:r>
            <a:r>
              <a:rPr lang="zh-CN" altLang="en-US" dirty="0"/>
              <a:t>缺省路由不会在</a:t>
            </a:r>
            <a:r>
              <a:rPr lang="en-US" altLang="zh-CN" dirty="0"/>
              <a:t>ABR</a:t>
            </a:r>
            <a:r>
              <a:rPr lang="zh-CN" altLang="en-US" dirty="0"/>
              <a:t>上转换成</a:t>
            </a:r>
            <a:r>
              <a:rPr lang="en-US" altLang="zh-CN" dirty="0"/>
              <a:t>Type5 LSA</a:t>
            </a:r>
            <a:r>
              <a:rPr lang="zh-CN" altLang="en-US" dirty="0"/>
              <a:t>缺省路由泛洪到整个</a:t>
            </a:r>
            <a:r>
              <a:rPr lang="en-US" altLang="zh-CN" dirty="0"/>
              <a:t>OSPF</a:t>
            </a:r>
            <a:r>
              <a:rPr lang="zh-CN" altLang="en-US" dirty="0"/>
              <a:t>域。</a:t>
            </a:r>
            <a:endParaRPr lang="zh-CN" altLang="en-US" dirty="0"/>
          </a:p>
          <a:p>
            <a:r>
              <a:rPr lang="en-US" altLang="zh-CN" dirty="0"/>
              <a:t>Totally NSSA</a:t>
            </a:r>
            <a:r>
              <a:rPr lang="zh-CN" altLang="en-US" dirty="0"/>
              <a:t>区域：</a:t>
            </a:r>
            <a:endParaRPr lang="zh-CN" altLang="en-US" dirty="0"/>
          </a:p>
          <a:p>
            <a:pPr lvl="1"/>
            <a:r>
              <a:rPr lang="en-US" altLang="zh-CN" dirty="0"/>
              <a:t>Totally NSSA</a:t>
            </a:r>
            <a:r>
              <a:rPr lang="zh-CN" altLang="en-US" dirty="0"/>
              <a:t>的</a:t>
            </a:r>
            <a:r>
              <a:rPr lang="en-US" altLang="zh-CN" dirty="0"/>
              <a:t>ABR</a:t>
            </a:r>
            <a:r>
              <a:rPr lang="zh-CN" altLang="en-US" dirty="0"/>
              <a:t>会自动向该区域下发使用</a:t>
            </a:r>
            <a:r>
              <a:rPr lang="en-US" altLang="zh-CN" dirty="0"/>
              <a:t>Type3 LSA</a:t>
            </a:r>
            <a:r>
              <a:rPr lang="zh-CN" altLang="en-US" dirty="0"/>
              <a:t>描述的缺省路由，而</a:t>
            </a:r>
            <a:r>
              <a:rPr lang="en-US" altLang="zh-CN" dirty="0"/>
              <a:t>Totally NSSA</a:t>
            </a:r>
            <a:r>
              <a:rPr lang="zh-CN" altLang="en-US" dirty="0"/>
              <a:t>的</a:t>
            </a:r>
            <a:r>
              <a:rPr lang="en-US" altLang="zh-CN" dirty="0"/>
              <a:t>ASBR</a:t>
            </a:r>
            <a:r>
              <a:rPr lang="zh-CN" altLang="en-US" dirty="0"/>
              <a:t>则不会自动下发缺省路由。因此，在该场景下，对于区域内的路由器而言，可以通过</a:t>
            </a:r>
            <a:r>
              <a:rPr lang="en-US" altLang="zh-CN" dirty="0"/>
              <a:t>ASBR</a:t>
            </a:r>
            <a:r>
              <a:rPr lang="zh-CN" altLang="en-US" dirty="0"/>
              <a:t>引入的外部路由到达相应的外部网段、通过</a:t>
            </a:r>
            <a:r>
              <a:rPr lang="en-US" altLang="zh-CN" dirty="0"/>
              <a:t>ABR</a:t>
            </a:r>
            <a:r>
              <a:rPr lang="zh-CN" altLang="en-US" dirty="0"/>
              <a:t>下发的缺省路由到达其他网段。</a:t>
            </a:r>
            <a:endParaRPr lang="zh-CN" altLang="en-US" dirty="0"/>
          </a:p>
          <a:p>
            <a:pPr lvl="1"/>
            <a:r>
              <a:rPr lang="zh-CN" altLang="en-US" dirty="0"/>
              <a:t>如果希望</a:t>
            </a:r>
            <a:r>
              <a:rPr lang="en-US" altLang="zh-CN" dirty="0"/>
              <a:t>Totally NSSA</a:t>
            </a:r>
            <a:r>
              <a:rPr lang="zh-CN" altLang="en-US" dirty="0"/>
              <a:t>内的路由器选择</a:t>
            </a:r>
            <a:r>
              <a:rPr lang="en-US" altLang="zh-CN" dirty="0"/>
              <a:t>ASBR</a:t>
            </a:r>
            <a:r>
              <a:rPr lang="zh-CN" altLang="en-US" dirty="0"/>
              <a:t>作为默认出口，而不是</a:t>
            </a:r>
            <a:r>
              <a:rPr lang="en-US" altLang="zh-CN" dirty="0"/>
              <a:t>ABR</a:t>
            </a:r>
            <a:r>
              <a:rPr lang="zh-CN" altLang="en-US" dirty="0"/>
              <a:t>，那么需要让</a:t>
            </a:r>
            <a:r>
              <a:rPr lang="en-US" altLang="zh-CN" dirty="0"/>
              <a:t>ASBR</a:t>
            </a:r>
            <a:r>
              <a:rPr lang="zh-CN" altLang="en-US" dirty="0"/>
              <a:t>也下发缺省路由，此时必须在</a:t>
            </a:r>
            <a:r>
              <a:rPr lang="en-US" altLang="zh-CN" dirty="0"/>
              <a:t>ASBR</a:t>
            </a:r>
            <a:r>
              <a:rPr lang="zh-CN" altLang="en-US" dirty="0"/>
              <a:t>上手工执行配置。</a:t>
            </a:r>
            <a:endParaRPr lang="zh-CN" altLang="en-US" dirty="0"/>
          </a:p>
          <a:p>
            <a:endParaRPr lang="zh-CN" altLang="en-US" dirty="0"/>
          </a:p>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fontAlgn="auto">
              <a:defRPr/>
            </a:pPr>
            <a:r>
              <a:rPr lang="zh-CN" altLang="en-US" dirty="0"/>
              <a:t>命令：</a:t>
            </a:r>
            <a:r>
              <a:rPr lang="en-US" altLang="zh-CN" dirty="0">
                <a:cs typeface="Courier New" panose="02070309020205020404" pitchFamily="49" charset="0"/>
              </a:rPr>
              <a:t>[Huawei-ospf-1] </a:t>
            </a:r>
            <a:r>
              <a:rPr lang="en-US" altLang="zh-CN" b="1" dirty="0"/>
              <a:t>default-route-advertise</a:t>
            </a:r>
            <a:r>
              <a:rPr lang="en-US" altLang="zh-CN" dirty="0"/>
              <a:t> [ [ </a:t>
            </a:r>
            <a:r>
              <a:rPr lang="en-US" altLang="zh-CN" b="1" dirty="0"/>
              <a:t>always</a:t>
            </a:r>
            <a:r>
              <a:rPr lang="en-US" altLang="zh-CN" dirty="0"/>
              <a:t> | </a:t>
            </a:r>
            <a:r>
              <a:rPr lang="en-US" altLang="zh-CN" b="1" dirty="0"/>
              <a:t>permit-calculate-other</a:t>
            </a:r>
            <a:r>
              <a:rPr lang="en-US" altLang="zh-CN" dirty="0"/>
              <a:t> ] | </a:t>
            </a:r>
            <a:r>
              <a:rPr lang="en-US" altLang="zh-CN" b="1" dirty="0"/>
              <a:t>cost</a:t>
            </a:r>
            <a:r>
              <a:rPr lang="en-US" altLang="zh-CN" dirty="0"/>
              <a:t> </a:t>
            </a:r>
            <a:r>
              <a:rPr lang="en-US" altLang="zh-CN" i="1" dirty="0" err="1"/>
              <a:t>cost</a:t>
            </a:r>
            <a:r>
              <a:rPr lang="en-US" altLang="zh-CN" dirty="0"/>
              <a:t> | </a:t>
            </a:r>
            <a:r>
              <a:rPr lang="en-US" altLang="zh-CN" b="1" dirty="0"/>
              <a:t>type</a:t>
            </a:r>
            <a:r>
              <a:rPr lang="en-US" altLang="zh-CN" dirty="0"/>
              <a:t> </a:t>
            </a:r>
            <a:r>
              <a:rPr lang="en-US" altLang="zh-CN" i="1" dirty="0" err="1"/>
              <a:t>type</a:t>
            </a:r>
            <a:r>
              <a:rPr lang="en-US" altLang="zh-CN" dirty="0"/>
              <a:t> | </a:t>
            </a:r>
            <a:r>
              <a:rPr lang="en-US" altLang="zh-CN" b="1" dirty="0"/>
              <a:t>route-policy</a:t>
            </a:r>
            <a:r>
              <a:rPr lang="en-US" altLang="zh-CN" dirty="0"/>
              <a:t> </a:t>
            </a:r>
            <a:r>
              <a:rPr lang="en-US" altLang="zh-CN" i="1" dirty="0"/>
              <a:t>route-policy-name</a:t>
            </a:r>
            <a:r>
              <a:rPr lang="en-US" altLang="zh-CN" dirty="0"/>
              <a:t> [ </a:t>
            </a:r>
            <a:r>
              <a:rPr lang="en-US" altLang="zh-CN" b="1" dirty="0"/>
              <a:t>match-any</a:t>
            </a:r>
            <a:r>
              <a:rPr lang="en-US" altLang="zh-CN" dirty="0"/>
              <a:t> ] ]</a:t>
            </a:r>
            <a:endParaRPr lang="en-US" altLang="zh-CN" dirty="0">
              <a:cs typeface="Courier New" panose="02070309020205020404" pitchFamily="49" charset="0"/>
            </a:endParaRPr>
          </a:p>
          <a:p>
            <a:pPr lvl="1"/>
            <a:r>
              <a:rPr lang="en-US" altLang="zh-CN" b="1" dirty="0"/>
              <a:t>always</a:t>
            </a:r>
            <a:r>
              <a:rPr lang="zh-CN" altLang="en-US" dirty="0"/>
              <a:t>：无论本机是否存在激活的非本</a:t>
            </a:r>
            <a:r>
              <a:rPr lang="en-US" altLang="zh-CN" dirty="0"/>
              <a:t>OSPF</a:t>
            </a:r>
            <a:r>
              <a:rPr lang="zh-CN" altLang="en-US" dirty="0"/>
              <a:t>缺省路由，都会产生并发布一个描述缺省路由的</a:t>
            </a:r>
            <a:r>
              <a:rPr lang="en-US" altLang="zh-CN" dirty="0"/>
              <a:t>LSA</a:t>
            </a:r>
            <a:r>
              <a:rPr lang="zh-CN" altLang="en-US" dirty="0"/>
              <a:t>。</a:t>
            </a:r>
            <a:endParaRPr lang="zh-CN" altLang="en-US" dirty="0"/>
          </a:p>
          <a:p>
            <a:pPr lvl="2"/>
            <a:r>
              <a:rPr lang="zh-CN" altLang="en-US" dirty="0"/>
              <a:t>如果配置了</a:t>
            </a:r>
            <a:r>
              <a:rPr lang="en-US" altLang="zh-CN" b="1" dirty="0"/>
              <a:t>always</a:t>
            </a:r>
            <a:r>
              <a:rPr lang="zh-CN" altLang="en-US" dirty="0"/>
              <a:t>参数，设备不再计算来自其他设备的缺省路由。</a:t>
            </a:r>
            <a:endParaRPr lang="zh-CN" altLang="en-US" dirty="0"/>
          </a:p>
          <a:p>
            <a:pPr lvl="2"/>
            <a:r>
              <a:rPr lang="zh-CN" altLang="en-US" dirty="0"/>
              <a:t>如果没有配置</a:t>
            </a:r>
            <a:r>
              <a:rPr lang="en-US" altLang="zh-CN" b="1" dirty="0"/>
              <a:t>always</a:t>
            </a:r>
            <a:r>
              <a:rPr lang="zh-CN" altLang="en-US" dirty="0"/>
              <a:t>参数，本机路由表中必须有激活的非本</a:t>
            </a:r>
            <a:r>
              <a:rPr lang="en-US" altLang="zh-CN" dirty="0"/>
              <a:t>OSPF</a:t>
            </a:r>
            <a:r>
              <a:rPr lang="zh-CN" altLang="en-US" dirty="0"/>
              <a:t>缺省路由时才生成缺省路由的</a:t>
            </a:r>
            <a:r>
              <a:rPr lang="en-US" altLang="zh-CN" dirty="0"/>
              <a:t>LSA</a:t>
            </a:r>
            <a:r>
              <a:rPr lang="zh-CN" altLang="en-US" dirty="0"/>
              <a:t>。</a:t>
            </a:r>
            <a:endParaRPr lang="en-US" altLang="zh-CN" dirty="0"/>
          </a:p>
          <a:p>
            <a:pPr lvl="1"/>
            <a:r>
              <a:rPr lang="en-US" altLang="zh-CN" b="1" dirty="0"/>
              <a:t>permit-calculate-other</a:t>
            </a:r>
            <a:r>
              <a:rPr lang="zh-CN" altLang="en-US" dirty="0"/>
              <a:t>：本机必须存在激活的非本</a:t>
            </a:r>
            <a:r>
              <a:rPr lang="en-US" altLang="zh-CN" dirty="0"/>
              <a:t>OSPF</a:t>
            </a:r>
            <a:r>
              <a:rPr lang="zh-CN" altLang="en-US" dirty="0"/>
              <a:t>缺省路由时才会产生并发布一个缺省路由的</a:t>
            </a:r>
            <a:r>
              <a:rPr lang="en-US" altLang="zh-CN" dirty="0"/>
              <a:t>LSA</a:t>
            </a:r>
            <a:r>
              <a:rPr lang="zh-CN" altLang="en-US" dirty="0"/>
              <a:t>，且设备仍然计算来自于其他设备的缺省路由。</a:t>
            </a:r>
            <a:endParaRPr lang="zh-CN" altLang="en-US" dirty="0"/>
          </a:p>
          <a:p>
            <a:pPr lvl="1"/>
            <a:r>
              <a:rPr lang="en-US" altLang="zh-CN" b="1" dirty="0"/>
              <a:t>type</a:t>
            </a:r>
            <a:r>
              <a:rPr lang="en-US" altLang="zh-CN" dirty="0"/>
              <a:t> </a:t>
            </a:r>
            <a:r>
              <a:rPr lang="en-US" altLang="zh-CN" i="1" dirty="0" err="1"/>
              <a:t>type</a:t>
            </a:r>
            <a:r>
              <a:rPr lang="zh-CN" altLang="en-US" dirty="0"/>
              <a:t>：指定外部路由的类型。整数形式，取值为</a:t>
            </a:r>
            <a:r>
              <a:rPr lang="en-US" altLang="zh-CN" dirty="0"/>
              <a:t>1</a:t>
            </a:r>
            <a:r>
              <a:rPr lang="zh-CN" altLang="en-US" dirty="0"/>
              <a:t>或</a:t>
            </a:r>
            <a:r>
              <a:rPr lang="en-US" altLang="zh-CN" dirty="0"/>
              <a:t>2</a:t>
            </a:r>
            <a:r>
              <a:rPr lang="zh-CN" altLang="en-US" dirty="0"/>
              <a:t>，缺省值是</a:t>
            </a:r>
            <a:r>
              <a:rPr lang="en-US" altLang="zh-CN" dirty="0"/>
              <a:t>2</a:t>
            </a:r>
            <a:r>
              <a:rPr lang="zh-CN" altLang="en-US" dirty="0"/>
              <a:t>。</a:t>
            </a:r>
            <a:endParaRPr lang="zh-CN" altLang="en-US" dirty="0"/>
          </a:p>
          <a:p>
            <a:pPr lvl="2"/>
            <a:r>
              <a:rPr lang="zh-CN" altLang="en-US" dirty="0"/>
              <a:t>值为</a:t>
            </a:r>
            <a:r>
              <a:rPr lang="en-US" altLang="zh-CN" dirty="0"/>
              <a:t>1</a:t>
            </a:r>
            <a:r>
              <a:rPr lang="zh-CN" altLang="en-US" dirty="0"/>
              <a:t>：第一类外部路由</a:t>
            </a:r>
            <a:endParaRPr lang="zh-CN" altLang="en-US" dirty="0"/>
          </a:p>
          <a:p>
            <a:pPr lvl="2"/>
            <a:r>
              <a:rPr lang="zh-CN" altLang="en-US" dirty="0"/>
              <a:t>值为</a:t>
            </a:r>
            <a:r>
              <a:rPr lang="en-US" altLang="zh-CN" dirty="0"/>
              <a:t>2</a:t>
            </a:r>
            <a:r>
              <a:rPr lang="zh-CN" altLang="en-US" dirty="0"/>
              <a:t>：第二类外部路由</a:t>
            </a:r>
            <a:endParaRPr lang="zh-CN" altLang="en-US" dirty="0"/>
          </a:p>
          <a:p>
            <a:pPr lvl="1"/>
            <a:r>
              <a:rPr lang="en-US" altLang="zh-CN" b="1" dirty="0"/>
              <a:t>route-policy</a:t>
            </a:r>
            <a:r>
              <a:rPr lang="en-US" altLang="zh-CN" dirty="0"/>
              <a:t> </a:t>
            </a:r>
            <a:r>
              <a:rPr lang="en-US" altLang="zh-CN" i="1" dirty="0"/>
              <a:t>route-policy-name</a:t>
            </a:r>
            <a:r>
              <a:rPr lang="zh-CN" altLang="en-US" dirty="0"/>
              <a:t>：通过路由策略，实现在路由表中有匹配的非</a:t>
            </a:r>
            <a:r>
              <a:rPr lang="en-US" altLang="zh-CN" dirty="0"/>
              <a:t>OSPF</a:t>
            </a:r>
            <a:r>
              <a:rPr lang="zh-CN" altLang="en-US" dirty="0"/>
              <a:t>产生的缺省路由表项时，按路由策略所配置的参数发布缺省路由。字符串形式，区分大小写，不支持空格，长度范围是</a:t>
            </a:r>
            <a:r>
              <a:rPr lang="en-US" altLang="zh-CN" dirty="0"/>
              <a:t>1</a:t>
            </a:r>
            <a:r>
              <a:rPr lang="zh-CN" altLang="en-US" dirty="0"/>
              <a:t>～</a:t>
            </a:r>
            <a:r>
              <a:rPr lang="en-US" altLang="zh-CN" dirty="0"/>
              <a:t>40</a:t>
            </a:r>
            <a:r>
              <a:rPr lang="zh-CN" altLang="en-US" dirty="0"/>
              <a:t>。当输入的字符串两端使用双引号时，可在字符串中输入空格。</a:t>
            </a:r>
            <a:endParaRPr lang="zh-CN" altLang="en-US" dirty="0"/>
          </a:p>
          <a:p>
            <a:pPr lvl="1"/>
            <a:r>
              <a:rPr lang="en-US" altLang="zh-CN" b="1" dirty="0"/>
              <a:t>match-any</a:t>
            </a:r>
            <a:r>
              <a:rPr lang="zh-CN" altLang="en-US" dirty="0"/>
              <a:t>：通过路由策略，实现在路由表中有匹配的路由表项时，按路由策略所配置的参数发布缺省路由。</a:t>
            </a:r>
            <a:endParaRPr lang="zh-CN" altLang="en-US" dirty="0"/>
          </a:p>
        </p:txBody>
      </p:sp>
      <p:sp>
        <p:nvSpPr>
          <p:cNvPr id="6" name="幻灯片图像占位符 5"/>
          <p:cNvSpPr>
            <a:spLocks noGrp="1" noRot="1" noChangeAspect="1"/>
          </p:cNvSpPr>
          <p:nvPr>
            <p:ph type="sldImg"/>
          </p:nvPr>
        </p:nvSpPr>
        <p:spPr>
          <a:xfrm>
            <a:off x="742950" y="717550"/>
            <a:ext cx="5557838" cy="3125788"/>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a:defRPr/>
            </a:pPr>
            <a:r>
              <a:rPr lang="zh-CN" altLang="en-US" dirty="0"/>
              <a:t>命令：</a:t>
            </a:r>
            <a:r>
              <a:rPr lang="en-US" altLang="zh-CN" dirty="0">
                <a:cs typeface="Courier New" panose="02070309020205020404" pitchFamily="49" charset="0"/>
              </a:rPr>
              <a:t>[Huawei-ospf-1] </a:t>
            </a:r>
            <a:r>
              <a:rPr lang="en-US" altLang="zh-CN" b="1" dirty="0"/>
              <a:t>default-route-advertise</a:t>
            </a:r>
            <a:r>
              <a:rPr lang="en-US" altLang="zh-CN" dirty="0"/>
              <a:t> </a:t>
            </a:r>
            <a:r>
              <a:rPr lang="en-US" altLang="zh-CN" b="1" dirty="0"/>
              <a:t>summary</a:t>
            </a:r>
            <a:r>
              <a:rPr lang="en-US" altLang="zh-CN" dirty="0"/>
              <a:t> </a:t>
            </a:r>
            <a:r>
              <a:rPr lang="en-US" altLang="zh-CN" b="1" dirty="0"/>
              <a:t>cost</a:t>
            </a:r>
            <a:r>
              <a:rPr lang="en-US" altLang="zh-CN" dirty="0"/>
              <a:t> </a:t>
            </a:r>
            <a:r>
              <a:rPr lang="en-US" altLang="zh-CN" i="1" dirty="0" err="1"/>
              <a:t>cost</a:t>
            </a:r>
            <a:endParaRPr lang="en-US" altLang="zh-CN" dirty="0">
              <a:cs typeface="Courier New" panose="02070309020205020404" pitchFamily="49" charset="0"/>
            </a:endParaRPr>
          </a:p>
          <a:p>
            <a:pPr lvl="1"/>
            <a:r>
              <a:rPr lang="en-US" altLang="zh-CN" b="1" dirty="0"/>
              <a:t>summary</a:t>
            </a:r>
            <a:r>
              <a:rPr lang="zh-CN" altLang="en-US" dirty="0"/>
              <a:t>：发布指定缺省路由的</a:t>
            </a:r>
            <a:r>
              <a:rPr lang="en-US" altLang="zh-CN" dirty="0"/>
              <a:t>Type3 LSA</a:t>
            </a:r>
            <a:r>
              <a:rPr lang="zh-CN" altLang="en-US" dirty="0"/>
              <a:t>。在选用该参数时，必须首先使能</a:t>
            </a:r>
            <a:r>
              <a:rPr lang="en-US" altLang="zh-CN" dirty="0"/>
              <a:t>VPN</a:t>
            </a:r>
            <a:r>
              <a:rPr lang="zh-CN" altLang="en-US" dirty="0"/>
              <a:t>，否则路由不能发布。</a:t>
            </a:r>
            <a:endParaRPr lang="zh-CN" altLang="en-US" dirty="0"/>
          </a:p>
          <a:p>
            <a:pPr lvl="1"/>
            <a:r>
              <a:rPr lang="en-US" altLang="zh-CN" b="1" dirty="0"/>
              <a:t>cost </a:t>
            </a:r>
            <a:r>
              <a:rPr lang="en-US" altLang="zh-CN" i="1" dirty="0" err="1"/>
              <a:t>cost</a:t>
            </a:r>
            <a:r>
              <a:rPr lang="zh-CN" altLang="en-US" dirty="0"/>
              <a:t>：指定该</a:t>
            </a:r>
            <a:r>
              <a:rPr lang="en-US" altLang="zh-CN" dirty="0"/>
              <a:t>LSA</a:t>
            </a:r>
            <a:r>
              <a:rPr lang="zh-CN" altLang="en-US" dirty="0"/>
              <a:t>的开销值。整数形式，取值范围是</a:t>
            </a:r>
            <a:r>
              <a:rPr lang="en-US" altLang="zh-CN" dirty="0"/>
              <a:t>0</a:t>
            </a:r>
            <a:r>
              <a:rPr lang="zh-CN" altLang="en-US" dirty="0"/>
              <a:t>～</a:t>
            </a:r>
            <a:r>
              <a:rPr lang="en-US" altLang="zh-CN" dirty="0"/>
              <a:t>16777214</a:t>
            </a:r>
            <a:r>
              <a:rPr lang="zh-CN" altLang="en-US" dirty="0"/>
              <a:t>。缺省值是</a:t>
            </a:r>
            <a:r>
              <a:rPr lang="en-US" altLang="zh-CN" dirty="0"/>
              <a:t>1</a:t>
            </a:r>
            <a:r>
              <a:rPr lang="zh-CN" altLang="en-US" dirty="0"/>
              <a:t>。</a:t>
            </a:r>
            <a:endParaRPr lang="zh-CN" altLang="en-US" dirty="0"/>
          </a:p>
          <a:p>
            <a:r>
              <a:rPr lang="zh-CN" altLang="en-US" dirty="0"/>
              <a:t>其他说明：</a:t>
            </a:r>
            <a:endParaRPr lang="en-US" altLang="zh-CN" dirty="0"/>
          </a:p>
          <a:p>
            <a:pPr lvl="1"/>
            <a:r>
              <a:rPr lang="en-US" altLang="zh-CN" b="1" dirty="0"/>
              <a:t>always</a:t>
            </a:r>
            <a:r>
              <a:rPr lang="zh-CN" altLang="en-US" dirty="0"/>
              <a:t>参数：</a:t>
            </a:r>
            <a:endParaRPr lang="zh-CN" altLang="en-US" dirty="0"/>
          </a:p>
          <a:p>
            <a:pPr lvl="2"/>
            <a:r>
              <a:rPr lang="en-US" altLang="zh-CN" dirty="0"/>
              <a:t>ASBR</a:t>
            </a:r>
            <a:r>
              <a:rPr lang="zh-CN" altLang="en-US" dirty="0"/>
              <a:t>已经有缺省路由，执行</a:t>
            </a:r>
            <a:r>
              <a:rPr lang="en-US" altLang="zh-CN" b="1" dirty="0"/>
              <a:t>default-route-advertise</a:t>
            </a:r>
            <a:r>
              <a:rPr lang="zh-CN" altLang="en-US" dirty="0"/>
              <a:t>命令，将在整个</a:t>
            </a:r>
            <a:r>
              <a:rPr lang="en-US" altLang="zh-CN" dirty="0"/>
              <a:t>OSPF</a:t>
            </a:r>
            <a:r>
              <a:rPr lang="zh-CN" altLang="en-US" dirty="0"/>
              <a:t>区域中通告缺省路由</a:t>
            </a:r>
            <a:r>
              <a:rPr lang="en-US" altLang="zh-CN" dirty="0"/>
              <a:t>0.0.0.0</a:t>
            </a:r>
            <a:r>
              <a:rPr lang="zh-CN" altLang="en-US" dirty="0"/>
              <a:t>。</a:t>
            </a:r>
            <a:endParaRPr lang="zh-CN" altLang="en-US" dirty="0"/>
          </a:p>
          <a:p>
            <a:pPr lvl="2"/>
            <a:r>
              <a:rPr lang="en-US" altLang="zh-CN" dirty="0"/>
              <a:t>ASBR</a:t>
            </a:r>
            <a:r>
              <a:rPr lang="zh-CN" altLang="en-US" dirty="0"/>
              <a:t>没有缺省路由，执行</a:t>
            </a:r>
            <a:r>
              <a:rPr lang="en-US" altLang="zh-CN" b="1" dirty="0"/>
              <a:t>default-route-advertise</a:t>
            </a:r>
            <a:r>
              <a:rPr lang="zh-CN" altLang="en-US" dirty="0"/>
              <a:t>命令时按照以下需求选择是否配置</a:t>
            </a:r>
            <a:r>
              <a:rPr lang="en-US" altLang="zh-CN" b="1" dirty="0"/>
              <a:t>always</a:t>
            </a:r>
            <a:r>
              <a:rPr lang="zh-CN" altLang="en-US" dirty="0"/>
              <a:t>参数。</a:t>
            </a:r>
            <a:endParaRPr lang="zh-CN" altLang="en-US" dirty="0"/>
          </a:p>
          <a:p>
            <a:pPr lvl="3"/>
            <a:r>
              <a:rPr lang="zh-CN" altLang="en-US" dirty="0"/>
              <a:t>如果配置</a:t>
            </a:r>
            <a:r>
              <a:rPr lang="en-US" altLang="zh-CN" b="1" dirty="0"/>
              <a:t>always</a:t>
            </a:r>
            <a:r>
              <a:rPr lang="zh-CN" altLang="en-US" dirty="0"/>
              <a:t>参数，无论</a:t>
            </a:r>
            <a:r>
              <a:rPr lang="en-US" altLang="zh-CN" dirty="0"/>
              <a:t>ASBR</a:t>
            </a:r>
            <a:r>
              <a:rPr lang="zh-CN" altLang="en-US" dirty="0"/>
              <a:t>是否有缺省路由都将在整个</a:t>
            </a:r>
            <a:r>
              <a:rPr lang="en-US" altLang="zh-CN" dirty="0"/>
              <a:t>OSPF</a:t>
            </a:r>
            <a:r>
              <a:rPr lang="zh-CN" altLang="en-US" dirty="0"/>
              <a:t>区域中通告缺省路由</a:t>
            </a:r>
            <a:r>
              <a:rPr lang="en-US" altLang="zh-CN" dirty="0"/>
              <a:t>0.0.0.0</a:t>
            </a:r>
            <a:r>
              <a:rPr lang="zh-CN" altLang="en-US" dirty="0"/>
              <a:t>，并且不再计算来自其他设备的缺省路由。</a:t>
            </a:r>
            <a:endParaRPr lang="zh-CN" altLang="en-US" dirty="0"/>
          </a:p>
          <a:p>
            <a:pPr lvl="3"/>
            <a:r>
              <a:rPr lang="zh-CN" altLang="en-US" dirty="0"/>
              <a:t>如果没有配置</a:t>
            </a:r>
            <a:r>
              <a:rPr lang="en-US" altLang="zh-CN" b="1" dirty="0"/>
              <a:t>always</a:t>
            </a:r>
            <a:r>
              <a:rPr lang="zh-CN" altLang="en-US" dirty="0"/>
              <a:t>参数，</a:t>
            </a:r>
            <a:r>
              <a:rPr lang="en-US" altLang="zh-CN" dirty="0"/>
              <a:t>ASBR</a:t>
            </a:r>
            <a:r>
              <a:rPr lang="zh-CN" altLang="en-US" dirty="0"/>
              <a:t>的路由表中必须有激活的非</a:t>
            </a:r>
            <a:r>
              <a:rPr lang="en-US" altLang="zh-CN" dirty="0"/>
              <a:t>OSPF</a:t>
            </a:r>
            <a:r>
              <a:rPr lang="zh-CN" altLang="en-US" dirty="0"/>
              <a:t>（</a:t>
            </a:r>
            <a:r>
              <a:rPr lang="en-US" altLang="zh-CN" dirty="0"/>
              <a:t>BGP</a:t>
            </a:r>
            <a:r>
              <a:rPr lang="zh-CN" altLang="en-US" dirty="0"/>
              <a:t>除外）缺省路由时才生成缺省路由的</a:t>
            </a:r>
            <a:r>
              <a:rPr lang="en-US" altLang="zh-CN" dirty="0"/>
              <a:t>LSA</a:t>
            </a:r>
            <a:r>
              <a:rPr lang="zh-CN" altLang="en-US" dirty="0"/>
              <a:t>。</a:t>
            </a:r>
            <a:endParaRPr lang="en-US" altLang="zh-CN" dirty="0"/>
          </a:p>
          <a:p>
            <a:pPr lvl="1"/>
            <a:r>
              <a:rPr lang="en-US" altLang="zh-CN" b="1" dirty="0"/>
              <a:t>match-any</a:t>
            </a:r>
            <a:r>
              <a:rPr lang="zh-CN" altLang="en-US" dirty="0"/>
              <a:t>参数：</a:t>
            </a:r>
            <a:endParaRPr lang="zh-CN" altLang="en-US" dirty="0"/>
          </a:p>
          <a:p>
            <a:pPr lvl="2"/>
            <a:r>
              <a:rPr lang="zh-CN" altLang="en-US" dirty="0"/>
              <a:t>使用带</a:t>
            </a:r>
            <a:r>
              <a:rPr lang="en-US" altLang="zh-CN" b="1" dirty="0"/>
              <a:t>match-any</a:t>
            </a:r>
            <a:r>
              <a:rPr lang="zh-CN" altLang="en-US" dirty="0"/>
              <a:t>参数的路由策略时，如果有多条路由通过策略，选取最优者来生成缺省</a:t>
            </a:r>
            <a:r>
              <a:rPr lang="en-US" altLang="zh-CN" dirty="0"/>
              <a:t>LSA</a:t>
            </a:r>
            <a:r>
              <a:rPr lang="zh-CN" altLang="en-US" dirty="0"/>
              <a:t>。路由通过策略时，选取最优者的原则按照优先级从高到低的顺序如下：</a:t>
            </a:r>
            <a:endParaRPr lang="zh-CN" altLang="en-US" dirty="0"/>
          </a:p>
          <a:p>
            <a:pPr lvl="3"/>
            <a:r>
              <a:rPr lang="zh-CN" altLang="en-US" dirty="0"/>
              <a:t>路由设置了</a:t>
            </a:r>
            <a:r>
              <a:rPr lang="en-US" altLang="zh-CN" b="1" dirty="0"/>
              <a:t>type</a:t>
            </a:r>
            <a:r>
              <a:rPr lang="zh-CN" altLang="en-US" dirty="0"/>
              <a:t>的优先于未设置的，如果都设置了</a:t>
            </a:r>
            <a:r>
              <a:rPr lang="en-US" altLang="zh-CN" b="1" dirty="0"/>
              <a:t>type</a:t>
            </a:r>
            <a:r>
              <a:rPr lang="zh-CN" altLang="en-US" dirty="0"/>
              <a:t>，值越小越优先。</a:t>
            </a:r>
            <a:endParaRPr lang="zh-CN" altLang="en-US" dirty="0"/>
          </a:p>
          <a:p>
            <a:pPr lvl="3"/>
            <a:r>
              <a:rPr lang="zh-CN" altLang="en-US" dirty="0"/>
              <a:t>路由设置了</a:t>
            </a:r>
            <a:r>
              <a:rPr lang="en-US" altLang="zh-CN" b="1" dirty="0"/>
              <a:t>cost</a:t>
            </a:r>
            <a:r>
              <a:rPr lang="zh-CN" altLang="en-US" dirty="0"/>
              <a:t>的优先于未设置的，如果都设置了</a:t>
            </a:r>
            <a:r>
              <a:rPr lang="en-US" altLang="zh-CN" b="1" dirty="0"/>
              <a:t>cost</a:t>
            </a:r>
            <a:r>
              <a:rPr lang="zh-CN" altLang="en-US" dirty="0"/>
              <a:t>，值越小越优先。</a:t>
            </a:r>
            <a:endParaRPr lang="zh-CN" altLang="en-US" dirty="0"/>
          </a:p>
          <a:p>
            <a:pPr lvl="3"/>
            <a:r>
              <a:rPr lang="zh-CN" altLang="en-US" dirty="0"/>
              <a:t>路由设置了</a:t>
            </a:r>
            <a:r>
              <a:rPr lang="en-US" altLang="zh-CN" b="1" dirty="0"/>
              <a:t>tag</a:t>
            </a:r>
            <a:r>
              <a:rPr lang="zh-CN" altLang="en-US" dirty="0"/>
              <a:t>的优先于未设置的， 如果都设置了</a:t>
            </a:r>
            <a:r>
              <a:rPr lang="en-US" altLang="zh-CN" b="1" dirty="0"/>
              <a:t>tag</a:t>
            </a:r>
            <a:r>
              <a:rPr lang="zh-CN" altLang="en-US" dirty="0"/>
              <a:t>，值越小越优先。</a:t>
            </a:r>
            <a:endParaRPr lang="zh-CN" altLang="en-US" dirty="0"/>
          </a:p>
          <a:p>
            <a:pPr lvl="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[Huawei-GigabitEthernet0/0/1] </a:t>
            </a:r>
            <a:r>
              <a:rPr lang="en-US" altLang="zh-CN" b="1" dirty="0" err="1"/>
              <a:t>ospf</a:t>
            </a:r>
            <a:r>
              <a:rPr lang="en-US" altLang="zh-CN" b="1" dirty="0"/>
              <a:t> filter-</a:t>
            </a:r>
            <a:r>
              <a:rPr lang="en-US" altLang="zh-CN" b="1" dirty="0" err="1"/>
              <a:t>lsa</a:t>
            </a:r>
            <a:r>
              <a:rPr lang="en-US" altLang="zh-CN" b="1" dirty="0"/>
              <a:t>-out</a:t>
            </a:r>
            <a:r>
              <a:rPr lang="en-US" altLang="zh-CN" dirty="0"/>
              <a:t> { </a:t>
            </a:r>
            <a:r>
              <a:rPr lang="en-US" altLang="zh-CN" b="1" dirty="0"/>
              <a:t>all</a:t>
            </a:r>
            <a:r>
              <a:rPr lang="en-US" altLang="zh-CN" dirty="0"/>
              <a:t> | { </a:t>
            </a:r>
            <a:r>
              <a:rPr lang="en-US" altLang="zh-CN" b="1" dirty="0"/>
              <a:t>summary </a:t>
            </a:r>
            <a:r>
              <a:rPr lang="en-US" altLang="zh-CN" dirty="0"/>
              <a:t>[ </a:t>
            </a:r>
            <a:r>
              <a:rPr lang="en-US" altLang="zh-CN" b="1" dirty="0" err="1"/>
              <a:t>acl</a:t>
            </a:r>
            <a:r>
              <a:rPr lang="en-US" altLang="zh-CN" dirty="0"/>
              <a:t> { </a:t>
            </a:r>
            <a:r>
              <a:rPr lang="en-US" altLang="zh-CN" i="1" dirty="0" err="1"/>
              <a:t>acl</a:t>
            </a:r>
            <a:r>
              <a:rPr lang="en-US" altLang="zh-CN" i="1" dirty="0"/>
              <a:t>-number</a:t>
            </a:r>
            <a:r>
              <a:rPr lang="en-US" altLang="zh-CN" dirty="0"/>
              <a:t> | </a:t>
            </a:r>
            <a:r>
              <a:rPr lang="en-US" altLang="zh-CN" i="1" dirty="0" err="1"/>
              <a:t>acl</a:t>
            </a:r>
            <a:r>
              <a:rPr lang="en-US" altLang="zh-CN" i="1" dirty="0"/>
              <a:t>-name </a:t>
            </a:r>
            <a:r>
              <a:rPr lang="en-US" altLang="zh-CN" dirty="0"/>
              <a:t>} ] | </a:t>
            </a:r>
            <a:r>
              <a:rPr lang="en-US" altLang="zh-CN" b="1" dirty="0" err="1"/>
              <a:t>ase</a:t>
            </a:r>
            <a:r>
              <a:rPr lang="en-US" altLang="zh-CN" dirty="0"/>
              <a:t> [ </a:t>
            </a:r>
            <a:r>
              <a:rPr lang="en-US" altLang="zh-CN" b="1" dirty="0" err="1"/>
              <a:t>acl</a:t>
            </a:r>
            <a:r>
              <a:rPr lang="en-US" altLang="zh-CN" dirty="0"/>
              <a:t> { </a:t>
            </a:r>
            <a:r>
              <a:rPr lang="en-US" altLang="zh-CN" i="1" dirty="0" err="1"/>
              <a:t>acl</a:t>
            </a:r>
            <a:r>
              <a:rPr lang="en-US" altLang="zh-CN" i="1" dirty="0"/>
              <a:t>-number</a:t>
            </a:r>
            <a:r>
              <a:rPr lang="en-US" altLang="zh-CN" dirty="0"/>
              <a:t> | </a:t>
            </a:r>
            <a:r>
              <a:rPr lang="en-US" altLang="zh-CN" i="1" dirty="0" err="1"/>
              <a:t>acl</a:t>
            </a:r>
            <a:r>
              <a:rPr lang="en-US" altLang="zh-CN" i="1" dirty="0"/>
              <a:t>-name </a:t>
            </a:r>
            <a:r>
              <a:rPr lang="en-US" altLang="zh-CN" dirty="0"/>
              <a:t>} ] | </a:t>
            </a:r>
            <a:r>
              <a:rPr lang="en-US" altLang="zh-CN" b="1" dirty="0" err="1"/>
              <a:t>nssa</a:t>
            </a:r>
            <a:r>
              <a:rPr lang="en-US" altLang="zh-CN" b="1" dirty="0"/>
              <a:t> </a:t>
            </a:r>
            <a:r>
              <a:rPr lang="en-US" altLang="zh-CN" dirty="0"/>
              <a:t>[</a:t>
            </a:r>
            <a:r>
              <a:rPr lang="en-US" altLang="zh-CN" b="1" dirty="0"/>
              <a:t> </a:t>
            </a:r>
            <a:r>
              <a:rPr lang="en-US" altLang="zh-CN" b="1" dirty="0" err="1"/>
              <a:t>acl</a:t>
            </a:r>
            <a:r>
              <a:rPr lang="en-US" altLang="zh-CN" b="1" dirty="0"/>
              <a:t> </a:t>
            </a:r>
            <a:r>
              <a:rPr lang="en-US" altLang="zh-CN" dirty="0"/>
              <a:t>{ </a:t>
            </a:r>
            <a:r>
              <a:rPr lang="en-US" altLang="zh-CN" i="1" dirty="0" err="1"/>
              <a:t>acl</a:t>
            </a:r>
            <a:r>
              <a:rPr lang="en-US" altLang="zh-CN" i="1" dirty="0"/>
              <a:t>-number</a:t>
            </a:r>
            <a:r>
              <a:rPr lang="en-US" altLang="zh-CN" dirty="0"/>
              <a:t> | </a:t>
            </a:r>
            <a:r>
              <a:rPr lang="en-US" altLang="zh-CN" i="1" dirty="0" err="1"/>
              <a:t>acl</a:t>
            </a:r>
            <a:r>
              <a:rPr lang="en-US" altLang="zh-CN" i="1" dirty="0"/>
              <a:t>-name</a:t>
            </a:r>
            <a:r>
              <a:rPr lang="en-US" altLang="zh-CN" dirty="0"/>
              <a:t> } ] } }</a:t>
            </a:r>
            <a:endParaRPr lang="zh-CN" altLang="en-US" dirty="0"/>
          </a:p>
          <a:p>
            <a:pPr lvl="1"/>
            <a:r>
              <a:rPr lang="en-US" altLang="zh-CN" b="1" dirty="0"/>
              <a:t>all</a:t>
            </a:r>
            <a:r>
              <a:rPr lang="zh-CN" altLang="en-US" b="1" dirty="0"/>
              <a:t>：</a:t>
            </a:r>
            <a:r>
              <a:rPr lang="zh-CN" altLang="en-US" dirty="0"/>
              <a:t>对除</a:t>
            </a:r>
            <a:r>
              <a:rPr lang="en-US" altLang="zh-CN" dirty="0"/>
              <a:t>Grace LSA</a:t>
            </a:r>
            <a:r>
              <a:rPr lang="zh-CN" altLang="en-US" dirty="0"/>
              <a:t>外的所有</a:t>
            </a:r>
            <a:r>
              <a:rPr lang="en-US" altLang="zh-CN" dirty="0"/>
              <a:t>LSA</a:t>
            </a:r>
            <a:r>
              <a:rPr lang="zh-CN" altLang="en-US" dirty="0"/>
              <a:t>进行过滤。</a:t>
            </a:r>
            <a:endParaRPr lang="en-US" altLang="zh-CN" dirty="0"/>
          </a:p>
          <a:p>
            <a:pPr lvl="1"/>
            <a:r>
              <a:rPr lang="en-US" altLang="zh-CN" b="1" dirty="0"/>
              <a:t>summary</a:t>
            </a:r>
            <a:r>
              <a:rPr lang="zh-CN" altLang="en-US" b="1" dirty="0"/>
              <a:t>：</a:t>
            </a:r>
            <a:r>
              <a:rPr lang="zh-CN" altLang="en-US" dirty="0"/>
              <a:t>对</a:t>
            </a:r>
            <a:r>
              <a:rPr lang="en-US" altLang="zh-CN" dirty="0"/>
              <a:t>Network Summary LSA</a:t>
            </a:r>
            <a:r>
              <a:rPr lang="zh-CN" altLang="en-US" dirty="0"/>
              <a:t>（</a:t>
            </a:r>
            <a:r>
              <a:rPr lang="en-US" altLang="zh-CN" dirty="0"/>
              <a:t>Type3 LSA</a:t>
            </a:r>
            <a:r>
              <a:rPr lang="zh-CN" altLang="en-US" dirty="0"/>
              <a:t>）进行过滤。</a:t>
            </a:r>
            <a:endParaRPr lang="en-US" altLang="zh-CN" dirty="0"/>
          </a:p>
          <a:p>
            <a:pPr lvl="1"/>
            <a:r>
              <a:rPr lang="en-US" altLang="zh-CN" b="1" dirty="0" err="1"/>
              <a:t>ase</a:t>
            </a:r>
            <a:r>
              <a:rPr lang="zh-CN" altLang="en-US" b="1" dirty="0"/>
              <a:t>：</a:t>
            </a:r>
            <a:r>
              <a:rPr lang="zh-CN" altLang="en-US" dirty="0"/>
              <a:t>对</a:t>
            </a:r>
            <a:r>
              <a:rPr lang="en-US" altLang="zh-CN" dirty="0"/>
              <a:t>AS External LSA</a:t>
            </a:r>
            <a:r>
              <a:rPr lang="zh-CN" altLang="en-US" dirty="0"/>
              <a:t>（</a:t>
            </a:r>
            <a:r>
              <a:rPr lang="en-US" altLang="zh-CN" dirty="0"/>
              <a:t>Type5 LSA</a:t>
            </a:r>
            <a:r>
              <a:rPr lang="zh-CN" altLang="en-US" dirty="0"/>
              <a:t>）进行过滤。</a:t>
            </a:r>
            <a:endParaRPr lang="en-US" altLang="zh-CN" dirty="0"/>
          </a:p>
          <a:p>
            <a:pPr lvl="1"/>
            <a:r>
              <a:rPr lang="en-US" altLang="zh-CN" b="1" dirty="0" err="1"/>
              <a:t>nssa</a:t>
            </a:r>
            <a:r>
              <a:rPr lang="zh-CN" altLang="en-US" b="1" dirty="0"/>
              <a:t>：</a:t>
            </a:r>
            <a:r>
              <a:rPr lang="zh-CN" altLang="en-US" dirty="0"/>
              <a:t>对</a:t>
            </a:r>
            <a:r>
              <a:rPr lang="en-US" altLang="zh-CN" dirty="0"/>
              <a:t>NSSA LSA</a:t>
            </a:r>
            <a:r>
              <a:rPr lang="zh-CN" altLang="en-US" dirty="0"/>
              <a:t>（</a:t>
            </a:r>
            <a:r>
              <a:rPr lang="en-US" altLang="zh-CN" dirty="0"/>
              <a:t>Type7 LSA</a:t>
            </a:r>
            <a:r>
              <a:rPr lang="zh-CN" altLang="en-US" dirty="0"/>
              <a:t>）进行过滤。</a:t>
            </a:r>
            <a:endParaRPr lang="en-US" altLang="zh-CN" dirty="0"/>
          </a:p>
          <a:p>
            <a:pPr lvl="1"/>
            <a:r>
              <a:rPr lang="en-US" altLang="zh-CN" b="1" dirty="0" err="1"/>
              <a:t>acl</a:t>
            </a:r>
            <a:r>
              <a:rPr lang="en-US" altLang="zh-CN" dirty="0"/>
              <a:t> </a:t>
            </a:r>
            <a:r>
              <a:rPr lang="en-US" altLang="zh-CN" i="1" dirty="0" err="1"/>
              <a:t>acl</a:t>
            </a:r>
            <a:r>
              <a:rPr lang="en-US" altLang="zh-CN" i="1" dirty="0"/>
              <a:t>-number</a:t>
            </a:r>
            <a:r>
              <a:rPr lang="zh-CN" altLang="en-US" i="1" dirty="0"/>
              <a:t>：</a:t>
            </a:r>
            <a:r>
              <a:rPr lang="zh-CN" altLang="en-US" dirty="0"/>
              <a:t>指定基本访问控制列表编号。整数形式，取值范围是</a:t>
            </a:r>
            <a:r>
              <a:rPr lang="en-US" altLang="zh-CN" dirty="0"/>
              <a:t>2000</a:t>
            </a:r>
            <a:r>
              <a:rPr lang="zh-CN" altLang="en-US" dirty="0"/>
              <a:t>～</a:t>
            </a:r>
            <a:r>
              <a:rPr lang="en-US" altLang="zh-CN" dirty="0"/>
              <a:t>2999</a:t>
            </a:r>
            <a:r>
              <a:rPr lang="zh-CN" altLang="en-US" dirty="0"/>
              <a:t>。</a:t>
            </a:r>
            <a:endParaRPr lang="zh-CN" altLang="en-US" dirty="0"/>
          </a:p>
          <a:p>
            <a:pPr lvl="1"/>
            <a:r>
              <a:rPr lang="en-US" altLang="zh-CN" b="1" dirty="0" err="1"/>
              <a:t>acl</a:t>
            </a:r>
            <a:r>
              <a:rPr lang="en-US" altLang="zh-CN" b="1" dirty="0"/>
              <a:t> </a:t>
            </a:r>
            <a:r>
              <a:rPr lang="en-US" altLang="zh-CN" i="1" dirty="0" err="1"/>
              <a:t>acl</a:t>
            </a:r>
            <a:r>
              <a:rPr lang="en-US" altLang="zh-CN" i="1" dirty="0"/>
              <a:t>-name</a:t>
            </a:r>
            <a:r>
              <a:rPr lang="zh-CN" altLang="en-US" i="1" dirty="0"/>
              <a:t>：</a:t>
            </a:r>
            <a:r>
              <a:rPr lang="zh-CN" altLang="en-US" dirty="0"/>
              <a:t>指定访问控制列表名称。字符串形式，不支持空格，区分大小写，长度范围是</a:t>
            </a:r>
            <a:r>
              <a:rPr lang="en-US" altLang="zh-CN" dirty="0"/>
              <a:t>1</a:t>
            </a:r>
            <a:r>
              <a:rPr lang="zh-CN" altLang="en-US" dirty="0"/>
              <a:t>～</a:t>
            </a:r>
            <a:r>
              <a:rPr lang="en-US" altLang="zh-CN" dirty="0"/>
              <a:t>32</a:t>
            </a:r>
            <a:r>
              <a:rPr lang="zh-CN" altLang="en-US" dirty="0"/>
              <a:t>，以英文字母</a:t>
            </a:r>
            <a:r>
              <a:rPr lang="en-US" altLang="zh-CN" dirty="0"/>
              <a:t>a</a:t>
            </a:r>
            <a:r>
              <a:rPr lang="zh-CN" altLang="en-US" dirty="0"/>
              <a:t>～</a:t>
            </a:r>
            <a:r>
              <a:rPr lang="en-US" altLang="zh-CN" dirty="0"/>
              <a:t>z</a:t>
            </a:r>
            <a:r>
              <a:rPr lang="zh-CN" altLang="en-US" dirty="0"/>
              <a:t>或</a:t>
            </a:r>
            <a:r>
              <a:rPr lang="en-US" altLang="zh-CN" dirty="0"/>
              <a:t>A</a:t>
            </a:r>
            <a:r>
              <a:rPr lang="zh-CN" altLang="en-US" dirty="0"/>
              <a:t>～</a:t>
            </a:r>
            <a:r>
              <a:rPr lang="en-US" altLang="zh-CN" dirty="0"/>
              <a:t>Z</a:t>
            </a:r>
            <a:r>
              <a:rPr lang="zh-CN" altLang="en-US" dirty="0"/>
              <a:t>开始。</a:t>
            </a:r>
            <a:endParaRPr lang="en-US" altLang="zh-CN" dirty="0"/>
          </a:p>
          <a:p>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[Huawei-ospf-1-area-0.0.0.1] </a:t>
            </a:r>
            <a:r>
              <a:rPr lang="en-US" altLang="zh-CN" b="1" dirty="0"/>
              <a:t>filter </a:t>
            </a:r>
            <a:r>
              <a:rPr lang="en-US" altLang="zh-CN" dirty="0"/>
              <a:t>{ </a:t>
            </a:r>
            <a:r>
              <a:rPr lang="en-US" altLang="zh-CN" i="1" dirty="0" err="1"/>
              <a:t>acl</a:t>
            </a:r>
            <a:r>
              <a:rPr lang="en-US" altLang="zh-CN" i="1" dirty="0"/>
              <a:t>-number</a:t>
            </a:r>
            <a:r>
              <a:rPr lang="en-US" altLang="zh-CN" dirty="0"/>
              <a:t> | </a:t>
            </a:r>
            <a:r>
              <a:rPr lang="en-US" altLang="zh-CN" b="1" dirty="0" err="1"/>
              <a:t>acl</a:t>
            </a:r>
            <a:r>
              <a:rPr lang="en-US" altLang="zh-CN" b="1" dirty="0"/>
              <a:t>-name</a:t>
            </a:r>
            <a:r>
              <a:rPr lang="en-US" altLang="zh-CN" dirty="0"/>
              <a:t> </a:t>
            </a:r>
            <a:r>
              <a:rPr lang="en-US" altLang="zh-CN" i="1" dirty="0" err="1"/>
              <a:t>acl</a:t>
            </a:r>
            <a:r>
              <a:rPr lang="en-US" altLang="zh-CN" i="1" dirty="0"/>
              <a:t>-name</a:t>
            </a:r>
            <a:r>
              <a:rPr lang="en-US" altLang="zh-CN" dirty="0"/>
              <a:t> | </a:t>
            </a:r>
            <a:r>
              <a:rPr lang="en-US" altLang="zh-CN" b="1" dirty="0" err="1"/>
              <a:t>ip</a:t>
            </a:r>
            <a:r>
              <a:rPr lang="en-US" altLang="zh-CN" b="1" dirty="0"/>
              <a:t>-prefix</a:t>
            </a:r>
            <a:r>
              <a:rPr lang="en-US" altLang="zh-CN" dirty="0"/>
              <a:t> </a:t>
            </a:r>
            <a:r>
              <a:rPr lang="en-US" altLang="zh-CN" i="1" dirty="0" err="1"/>
              <a:t>ip</a:t>
            </a:r>
            <a:r>
              <a:rPr lang="en-US" altLang="zh-CN" i="1" dirty="0"/>
              <a:t>-prefix-name</a:t>
            </a:r>
            <a:r>
              <a:rPr lang="en-US" altLang="zh-CN" dirty="0"/>
              <a:t> | </a:t>
            </a:r>
            <a:r>
              <a:rPr lang="en-US" altLang="zh-CN" b="1" dirty="0"/>
              <a:t>route-policy</a:t>
            </a:r>
            <a:r>
              <a:rPr lang="en-US" altLang="zh-CN" dirty="0"/>
              <a:t> </a:t>
            </a:r>
            <a:r>
              <a:rPr lang="en-US" altLang="zh-CN" i="1" dirty="0"/>
              <a:t>route-policy-name</a:t>
            </a:r>
            <a:r>
              <a:rPr lang="en-US" altLang="zh-CN" dirty="0"/>
              <a:t> } </a:t>
            </a:r>
            <a:r>
              <a:rPr lang="en-US" altLang="zh-CN" b="1" dirty="0"/>
              <a:t>export</a:t>
            </a:r>
            <a:endParaRPr lang="zh-CN" altLang="en-US" b="1" dirty="0"/>
          </a:p>
          <a:p>
            <a:pPr lvl="1"/>
            <a:r>
              <a:rPr lang="en-US" altLang="zh-CN" i="1" dirty="0" err="1"/>
              <a:t>acl</a:t>
            </a:r>
            <a:r>
              <a:rPr lang="en-US" altLang="zh-CN" i="1" dirty="0"/>
              <a:t>-number</a:t>
            </a:r>
            <a:r>
              <a:rPr lang="zh-CN" altLang="en-US" i="1" dirty="0"/>
              <a:t>：</a:t>
            </a:r>
            <a:r>
              <a:rPr lang="zh-CN" altLang="en-US" dirty="0"/>
              <a:t>指定基本访问控制列表号。整数形式，取值范围是</a:t>
            </a:r>
            <a:r>
              <a:rPr lang="en-US" altLang="zh-CN" dirty="0"/>
              <a:t>2000</a:t>
            </a:r>
            <a:r>
              <a:rPr lang="zh-CN" altLang="en-US" dirty="0"/>
              <a:t>～</a:t>
            </a:r>
            <a:r>
              <a:rPr lang="en-US" altLang="zh-CN" dirty="0"/>
              <a:t>2999</a:t>
            </a:r>
            <a:r>
              <a:rPr lang="zh-CN" altLang="en-US" dirty="0"/>
              <a:t>。</a:t>
            </a:r>
            <a:endParaRPr lang="en-US" altLang="zh-CN" dirty="0"/>
          </a:p>
          <a:p>
            <a:pPr lvl="1"/>
            <a:endParaRPr lang="en-US" altLang="zh-CN"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当</a:t>
            </a:r>
            <a:r>
              <a:rPr lang="en-US" altLang="zh-CN" dirty="0"/>
              <a:t>OSPF</a:t>
            </a:r>
            <a:r>
              <a:rPr lang="zh-CN" altLang="en-US" dirty="0"/>
              <a:t>引入的外部路由（</a:t>
            </a:r>
            <a:r>
              <a:rPr lang="en-US" altLang="zh-CN" dirty="0"/>
              <a:t>Type5 LSA</a:t>
            </a:r>
            <a:r>
              <a:rPr lang="zh-CN" altLang="en-US" dirty="0"/>
              <a:t>和</a:t>
            </a:r>
            <a:r>
              <a:rPr lang="en-US" altLang="zh-CN" dirty="0"/>
              <a:t>Type7 LSA</a:t>
            </a:r>
            <a:r>
              <a:rPr lang="zh-CN" altLang="en-US" dirty="0"/>
              <a:t>）数量超过允许的范围，会导致超出的外部路由无法得到正常处理，丢失引入的路由。为了解决上述问题，通过配置</a:t>
            </a:r>
            <a:r>
              <a:rPr lang="en-US" altLang="zh-CN" dirty="0"/>
              <a:t>OSPF</a:t>
            </a:r>
            <a:r>
              <a:rPr lang="zh-CN" altLang="en-US" dirty="0"/>
              <a:t>的</a:t>
            </a:r>
            <a:r>
              <a:rPr lang="en-US" altLang="zh-CN" dirty="0"/>
              <a:t>LSDB</a:t>
            </a:r>
            <a:r>
              <a:rPr lang="zh-CN" altLang="en-US" dirty="0"/>
              <a:t>中</a:t>
            </a:r>
            <a:r>
              <a:rPr lang="en-US" altLang="zh-CN" dirty="0"/>
              <a:t>External LSA</a:t>
            </a:r>
            <a:r>
              <a:rPr lang="zh-CN" altLang="en-US" dirty="0"/>
              <a:t>的最大条目数，保证引入的外部路由在一个合理的范围内，调整和优化</a:t>
            </a:r>
            <a:r>
              <a:rPr lang="en-US" altLang="zh-CN" dirty="0"/>
              <a:t>OSPF</a:t>
            </a:r>
            <a:r>
              <a:rPr lang="zh-CN" altLang="en-US" dirty="0"/>
              <a:t>网络。</a:t>
            </a:r>
            <a:endParaRPr lang="en-US" altLang="zh-CN" dirty="0"/>
          </a:p>
          <a:p>
            <a:pPr lvl="0"/>
            <a:r>
              <a:rPr lang="zh-CN" altLang="en-US" dirty="0"/>
              <a:t>命令：</a:t>
            </a:r>
            <a:r>
              <a:rPr lang="en-US" altLang="zh-CN" dirty="0"/>
              <a:t>[Huawei-ospf-1] </a:t>
            </a:r>
            <a:r>
              <a:rPr lang="en-US" altLang="zh-CN" b="1" dirty="0" err="1"/>
              <a:t>lsdb</a:t>
            </a:r>
            <a:r>
              <a:rPr lang="en-US" altLang="zh-CN" b="1" dirty="0"/>
              <a:t>-overflow-limit</a:t>
            </a:r>
            <a:r>
              <a:rPr lang="en-US" altLang="zh-CN" i="1" dirty="0"/>
              <a:t> number</a:t>
            </a:r>
            <a:endParaRPr lang="zh-CN" altLang="en-US" i="1" dirty="0"/>
          </a:p>
          <a:p>
            <a:pPr lvl="1"/>
            <a:r>
              <a:rPr lang="en-US" altLang="zh-CN" i="1" dirty="0"/>
              <a:t>number</a:t>
            </a:r>
            <a:r>
              <a:rPr lang="zh-CN" altLang="en-US" i="1" dirty="0"/>
              <a:t>：</a:t>
            </a:r>
            <a:r>
              <a:rPr lang="zh-CN" altLang="en-US" dirty="0"/>
              <a:t>指定</a:t>
            </a:r>
            <a:r>
              <a:rPr lang="en-US" altLang="zh-CN" dirty="0"/>
              <a:t>LSDB</a:t>
            </a:r>
            <a:r>
              <a:rPr lang="zh-CN" altLang="en-US" dirty="0"/>
              <a:t>中</a:t>
            </a:r>
            <a:r>
              <a:rPr lang="en-US" altLang="zh-CN" dirty="0"/>
              <a:t>External LSA</a:t>
            </a:r>
            <a:r>
              <a:rPr lang="zh-CN" altLang="en-US" dirty="0"/>
              <a:t>的最大条目数。整数形式，取值范围是</a:t>
            </a:r>
            <a:r>
              <a:rPr lang="en-US" altLang="zh-CN" dirty="0"/>
              <a:t>1</a:t>
            </a:r>
            <a:r>
              <a:rPr lang="zh-CN" altLang="en-US" dirty="0"/>
              <a:t>～</a:t>
            </a:r>
            <a:r>
              <a:rPr lang="en-US" altLang="zh-CN" dirty="0"/>
              <a:t>1000000</a:t>
            </a:r>
            <a:r>
              <a:rPr lang="zh-CN" altLang="en-US" dirty="0"/>
              <a:t>。</a:t>
            </a:r>
            <a:endParaRPr lang="en-US" altLang="zh-CN" dirty="0"/>
          </a:p>
          <a:p>
            <a:endParaRPr lang="zh-CN" altLang="en-US"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市场部数据转发需求：</a:t>
            </a:r>
            <a:endParaRPr lang="en-US" altLang="zh-CN"/>
          </a:p>
          <a:p>
            <a:pPr lvl="1"/>
            <a:r>
              <a:rPr lang="zh-CN" altLang="en-US"/>
              <a:t>只要边界</a:t>
            </a:r>
            <a:r>
              <a:rPr lang="en-US" altLang="zh-CN"/>
              <a:t>-2</a:t>
            </a:r>
            <a:r>
              <a:rPr lang="zh-CN" altLang="en-US"/>
              <a:t>路由器及其上联链路正常运行，市场部数据流就只会通过边界</a:t>
            </a:r>
            <a:r>
              <a:rPr lang="en-US" altLang="zh-CN"/>
              <a:t>-2</a:t>
            </a:r>
            <a:r>
              <a:rPr lang="zh-CN" altLang="en-US"/>
              <a:t>路由器进行数据转发。</a:t>
            </a:r>
            <a:endParaRPr lang="zh-CN" altLang="en-US"/>
          </a:p>
          <a:p>
            <a:pPr lvl="1"/>
            <a:r>
              <a:rPr lang="zh-CN" altLang="en-US"/>
              <a:t>只要核心</a:t>
            </a:r>
            <a:r>
              <a:rPr lang="en-US" altLang="zh-CN"/>
              <a:t>-2</a:t>
            </a:r>
            <a:r>
              <a:rPr lang="zh-CN" altLang="en-US"/>
              <a:t>路由器及其上联链路正常运行，市场部数据流就只会通过核心</a:t>
            </a:r>
            <a:r>
              <a:rPr lang="en-US" altLang="zh-CN"/>
              <a:t>-2</a:t>
            </a:r>
            <a:r>
              <a:rPr lang="zh-CN" altLang="en-US"/>
              <a:t>路由器进行数据转发。</a:t>
            </a:r>
            <a:endParaRPr lang="zh-CN" altLang="en-US"/>
          </a:p>
          <a:p>
            <a:r>
              <a:rPr lang="zh-CN" altLang="en-US"/>
              <a:t>本案例以分析财务部数据转发路径为例，市场部相关内容不再赘述。</a:t>
            </a:r>
            <a:endParaRPr lang="en-US" altLang="zh-CN"/>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第二类外部路由（</a:t>
            </a:r>
            <a:r>
              <a:rPr lang="en-US" altLang="zh-CN"/>
              <a:t>Type2 External</a:t>
            </a:r>
            <a:r>
              <a:rPr lang="zh-CN" altLang="en-US"/>
              <a:t>）：</a:t>
            </a:r>
            <a:endParaRPr lang="en-US" altLang="zh-CN"/>
          </a:p>
          <a:p>
            <a:pPr lvl="1"/>
            <a:r>
              <a:rPr lang="zh-CN" altLang="en-US"/>
              <a:t>这类路由的可信度比较低，所以</a:t>
            </a:r>
            <a:r>
              <a:rPr lang="en-US" altLang="zh-CN"/>
              <a:t>OSPF</a:t>
            </a:r>
            <a:r>
              <a:rPr lang="zh-CN" altLang="en-US"/>
              <a:t>认为从</a:t>
            </a:r>
            <a:r>
              <a:rPr lang="en-US" altLang="zh-CN"/>
              <a:t>ASBR</a:t>
            </a:r>
            <a:r>
              <a:rPr lang="zh-CN" altLang="en-US"/>
              <a:t>到自治系统之外的开销远远大于在自治系统之内到达</a:t>
            </a:r>
            <a:r>
              <a:rPr lang="en-US" altLang="zh-CN"/>
              <a:t>ASBR</a:t>
            </a:r>
            <a:r>
              <a:rPr lang="zh-CN" altLang="en-US"/>
              <a:t>的开销。</a:t>
            </a:r>
            <a:endParaRPr lang="zh-CN" altLang="en-US"/>
          </a:p>
          <a:p>
            <a:pPr lvl="1"/>
            <a:r>
              <a:rPr lang="en-US" altLang="zh-CN"/>
              <a:t>OSPF</a:t>
            </a:r>
            <a:r>
              <a:rPr lang="zh-CN" altLang="en-US"/>
              <a:t>计算路由开销时只考虑</a:t>
            </a:r>
            <a:r>
              <a:rPr lang="en-US" altLang="zh-CN"/>
              <a:t>ASBR</a:t>
            </a:r>
            <a:r>
              <a:rPr lang="zh-CN" altLang="en-US"/>
              <a:t>到自治系统之外的开销，即到第二类外部路由的开销</a:t>
            </a:r>
            <a:r>
              <a:rPr lang="en-US" altLang="zh-CN"/>
              <a:t>=ASBR</a:t>
            </a:r>
            <a:r>
              <a:rPr lang="zh-CN" altLang="en-US"/>
              <a:t>到该路由目的地址的开销。</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控制流量出口时，不考虑到达各</a:t>
            </a:r>
            <a:r>
              <a:rPr lang="en-US" altLang="zh-CN"/>
              <a:t>ASBR</a:t>
            </a:r>
            <a:r>
              <a:rPr lang="zh-CN" altLang="en-US"/>
              <a:t>的内部路径开销。</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VPN</a:t>
            </a:r>
            <a:r>
              <a:rPr lang="zh-CN" altLang="en-US" dirty="0"/>
              <a:t>：</a:t>
            </a:r>
            <a:r>
              <a:rPr lang="en-US" altLang="zh-CN" dirty="0"/>
              <a:t>Virtual Private Network</a:t>
            </a:r>
            <a:r>
              <a:rPr lang="zh-CN" altLang="en-US" dirty="0"/>
              <a:t>，虚拟专用网络</a:t>
            </a:r>
            <a:endParaRPr lang="en-US" altLang="zh-CN" dirty="0"/>
          </a:p>
          <a:p>
            <a:r>
              <a:rPr lang="zh-CN" altLang="en-US" dirty="0"/>
              <a:t>创建</a:t>
            </a:r>
            <a:r>
              <a:rPr lang="en-US" altLang="zh-CN" dirty="0"/>
              <a:t>OSPF</a:t>
            </a:r>
            <a:r>
              <a:rPr lang="zh-CN" altLang="en-US" dirty="0"/>
              <a:t>进程时，如果指定了</a:t>
            </a:r>
            <a:r>
              <a:rPr lang="en-US" altLang="zh-CN" dirty="0"/>
              <a:t>VPN</a:t>
            </a:r>
            <a:r>
              <a:rPr lang="zh-CN" altLang="en-US" dirty="0"/>
              <a:t>实例，那么</a:t>
            </a:r>
            <a:r>
              <a:rPr lang="en-US" altLang="zh-CN" dirty="0"/>
              <a:t>OSPF</a:t>
            </a:r>
            <a:r>
              <a:rPr lang="zh-CN" altLang="en-US" dirty="0"/>
              <a:t>进程属于此实例，否则属于全局实例。</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[Huawei-ospf-1] </a:t>
            </a:r>
            <a:r>
              <a:rPr lang="en-US" altLang="zh-CN" b="1" dirty="0"/>
              <a:t>stub-router</a:t>
            </a:r>
            <a:r>
              <a:rPr lang="en-US" altLang="zh-CN" dirty="0"/>
              <a:t> [ </a:t>
            </a:r>
            <a:r>
              <a:rPr lang="en-US" altLang="zh-CN" b="1" dirty="0"/>
              <a:t>on-startup</a:t>
            </a:r>
            <a:r>
              <a:rPr lang="en-US" altLang="zh-CN" dirty="0"/>
              <a:t> [ </a:t>
            </a:r>
            <a:r>
              <a:rPr lang="en-US" altLang="zh-CN" i="1" dirty="0"/>
              <a:t>interval</a:t>
            </a:r>
            <a:r>
              <a:rPr lang="en-US" altLang="zh-CN" dirty="0"/>
              <a:t> ] ]</a:t>
            </a:r>
            <a:endParaRPr lang="zh-CN" altLang="en-US" dirty="0"/>
          </a:p>
          <a:p>
            <a:pPr lvl="1"/>
            <a:r>
              <a:rPr lang="en-US" altLang="zh-CN" b="1" dirty="0"/>
              <a:t>on-startup</a:t>
            </a:r>
            <a:r>
              <a:rPr lang="en-US" altLang="zh-CN" dirty="0"/>
              <a:t> [ </a:t>
            </a:r>
            <a:r>
              <a:rPr lang="en-US" altLang="zh-CN" i="1" dirty="0"/>
              <a:t>interval </a:t>
            </a:r>
            <a:r>
              <a:rPr lang="en-US" altLang="zh-CN" dirty="0"/>
              <a:t>]</a:t>
            </a:r>
            <a:r>
              <a:rPr lang="zh-CN" altLang="en-US" dirty="0"/>
              <a:t>：设备在发生重启或故障时保持为</a:t>
            </a:r>
            <a:r>
              <a:rPr lang="en-US" altLang="zh-CN" dirty="0"/>
              <a:t>Stub</a:t>
            </a:r>
            <a:r>
              <a:rPr lang="zh-CN" altLang="en-US" dirty="0"/>
              <a:t>路由器的时间间隔。整数形式，取值范围是</a:t>
            </a:r>
            <a:r>
              <a:rPr lang="en-US" altLang="zh-CN" dirty="0"/>
              <a:t>5</a:t>
            </a:r>
            <a:r>
              <a:rPr lang="zh-CN" altLang="en-US" dirty="0"/>
              <a:t>～</a:t>
            </a:r>
            <a:r>
              <a:rPr lang="en-US" altLang="zh-CN" dirty="0"/>
              <a:t>65535</a:t>
            </a:r>
            <a:r>
              <a:rPr lang="zh-CN" altLang="en-US" dirty="0"/>
              <a:t>，单位是秒，缺省值是</a:t>
            </a:r>
            <a:r>
              <a:rPr lang="en-US" altLang="zh-CN" dirty="0"/>
              <a:t>500</a:t>
            </a:r>
            <a:r>
              <a:rPr lang="zh-CN" altLang="en-US" dirty="0"/>
              <a:t>秒。</a:t>
            </a:r>
            <a:endParaRPr lang="zh-CN" altLang="en-US" dirty="0"/>
          </a:p>
          <a:p>
            <a:pPr lvl="2"/>
            <a:r>
              <a:rPr lang="zh-CN" altLang="en-US" dirty="0"/>
              <a:t>如果未配置</a:t>
            </a:r>
            <a:r>
              <a:rPr lang="en-US" altLang="zh-CN" b="1" dirty="0"/>
              <a:t>on-startup</a:t>
            </a:r>
            <a:r>
              <a:rPr lang="zh-CN" altLang="en-US" dirty="0"/>
              <a:t>参数，则表示该设备始终保持为</a:t>
            </a:r>
            <a:r>
              <a:rPr lang="en-US" altLang="zh-CN" dirty="0"/>
              <a:t>Stub</a:t>
            </a:r>
            <a:r>
              <a:rPr lang="zh-CN" altLang="en-US" dirty="0"/>
              <a:t>路由器，即所有来自这个设备的路由条目</a:t>
            </a:r>
            <a:r>
              <a:rPr lang="en-US" altLang="zh-CN" dirty="0"/>
              <a:t>Cost</a:t>
            </a:r>
            <a:r>
              <a:rPr lang="zh-CN" altLang="en-US" dirty="0"/>
              <a:t>值均设为</a:t>
            </a:r>
            <a:r>
              <a:rPr lang="en-US" altLang="zh-CN" dirty="0"/>
              <a:t>65535</a:t>
            </a:r>
            <a:r>
              <a:rPr lang="zh-CN" altLang="en-US" dirty="0"/>
              <a:t>。</a:t>
            </a:r>
            <a:endParaRPr lang="zh-CN" altLang="en-US" dirty="0"/>
          </a:p>
          <a:p>
            <a:pPr lvl="2"/>
            <a:r>
              <a:rPr lang="zh-CN" altLang="en-US" dirty="0"/>
              <a:t>如果配置了</a:t>
            </a:r>
            <a:r>
              <a:rPr lang="en-US" altLang="zh-CN" b="1" dirty="0"/>
              <a:t>on-startup</a:t>
            </a:r>
            <a:r>
              <a:rPr lang="zh-CN" altLang="en-US" dirty="0"/>
              <a:t>参数，则表示该设备仅在重启或者故障时保持为</a:t>
            </a:r>
            <a:r>
              <a:rPr lang="en-US" altLang="zh-CN" dirty="0"/>
              <a:t>Stub</a:t>
            </a:r>
            <a:r>
              <a:rPr lang="zh-CN" altLang="en-US" dirty="0"/>
              <a:t>路由器，保持时间由</a:t>
            </a:r>
            <a:r>
              <a:rPr lang="en-US" altLang="zh-CN" i="1" dirty="0"/>
              <a:t>interval</a:t>
            </a:r>
            <a:r>
              <a:rPr lang="zh-CN" altLang="en-US" dirty="0"/>
              <a:t>参数决定。此时若未配置</a:t>
            </a:r>
            <a:r>
              <a:rPr lang="en-US" altLang="zh-CN" i="1" dirty="0"/>
              <a:t>interval</a:t>
            </a:r>
            <a:r>
              <a:rPr lang="zh-CN" altLang="en-US" dirty="0"/>
              <a:t>参数，则使用</a:t>
            </a:r>
            <a:r>
              <a:rPr lang="en-US" altLang="zh-CN" i="1" dirty="0"/>
              <a:t>interval</a:t>
            </a:r>
            <a:r>
              <a:rPr lang="zh-CN" altLang="en-US" dirty="0"/>
              <a:t>的缺省值</a:t>
            </a:r>
            <a:r>
              <a:rPr lang="en-US" altLang="zh-CN" dirty="0"/>
              <a:t>500</a:t>
            </a:r>
            <a:r>
              <a:rPr lang="zh-CN" altLang="en-US" dirty="0"/>
              <a:t>秒。</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NSSA</a:t>
            </a:r>
            <a:r>
              <a:rPr lang="zh-CN" altLang="en-US" dirty="0"/>
              <a:t>区域</a:t>
            </a:r>
            <a:r>
              <a:rPr lang="en-US" altLang="zh-CN" dirty="0"/>
              <a:t>Type7 LSA</a:t>
            </a:r>
            <a:r>
              <a:rPr lang="zh-CN" altLang="en-US" dirty="0"/>
              <a:t>转化为</a:t>
            </a:r>
            <a:r>
              <a:rPr lang="en-US" altLang="zh-CN" dirty="0"/>
              <a:t>Type5 LSA</a:t>
            </a:r>
            <a:r>
              <a:rPr lang="zh-CN" altLang="en-US" dirty="0"/>
              <a:t>：</a:t>
            </a:r>
            <a:endParaRPr lang="en-US" altLang="zh-CN" dirty="0"/>
          </a:p>
          <a:p>
            <a:pPr lvl="1"/>
            <a:r>
              <a:rPr lang="zh-CN" altLang="en-US" dirty="0"/>
              <a:t>为了将</a:t>
            </a:r>
            <a:r>
              <a:rPr lang="en-US" altLang="zh-CN" dirty="0"/>
              <a:t>NSSA</a:t>
            </a:r>
            <a:r>
              <a:rPr lang="zh-CN" altLang="en-US" dirty="0"/>
              <a:t>区域引入的外部路由发布到其它区域，需要把</a:t>
            </a:r>
            <a:r>
              <a:rPr lang="en-US" altLang="zh-CN" dirty="0"/>
              <a:t>Type7 LSA</a:t>
            </a:r>
            <a:r>
              <a:rPr lang="zh-CN" altLang="en-US" dirty="0"/>
              <a:t>转化为</a:t>
            </a:r>
            <a:r>
              <a:rPr lang="en-US" altLang="zh-CN" dirty="0"/>
              <a:t>Type5 LSA</a:t>
            </a:r>
            <a:r>
              <a:rPr lang="zh-CN" altLang="en-US" dirty="0"/>
              <a:t>以便在整个</a:t>
            </a:r>
            <a:r>
              <a:rPr lang="en-US" altLang="zh-CN" dirty="0"/>
              <a:t>OSPF</a:t>
            </a:r>
            <a:r>
              <a:rPr lang="zh-CN" altLang="en-US" dirty="0"/>
              <a:t>网络中通告。缺省情况下，转换路由器是</a:t>
            </a:r>
            <a:r>
              <a:rPr lang="en-US" altLang="zh-CN" dirty="0"/>
              <a:t>NSSA</a:t>
            </a:r>
            <a:r>
              <a:rPr lang="zh-CN" altLang="en-US" dirty="0"/>
              <a:t>区域中</a:t>
            </a:r>
            <a:r>
              <a:rPr lang="en-US" altLang="zh-CN" dirty="0"/>
              <a:t>Router ID</a:t>
            </a:r>
            <a:r>
              <a:rPr lang="zh-CN" altLang="en-US" dirty="0"/>
              <a:t>最大的区域边界路由器（</a:t>
            </a:r>
            <a:r>
              <a:rPr lang="en-US" altLang="zh-CN" dirty="0"/>
              <a:t>ABR</a:t>
            </a:r>
            <a:r>
              <a:rPr lang="zh-CN" altLang="en-US" dirty="0"/>
              <a:t>）。</a:t>
            </a:r>
            <a:endParaRPr lang="zh-CN" altLang="en-US" dirty="0"/>
          </a:p>
          <a:p>
            <a:pPr lvl="1"/>
            <a:r>
              <a:rPr lang="en-US" altLang="zh-CN" dirty="0"/>
              <a:t>LSA</a:t>
            </a:r>
            <a:r>
              <a:rPr lang="zh-CN" altLang="en-US" dirty="0"/>
              <a:t>头部</a:t>
            </a:r>
            <a:r>
              <a:rPr lang="en-US" altLang="zh-CN" dirty="0"/>
              <a:t>Options</a:t>
            </a:r>
            <a:r>
              <a:rPr lang="zh-CN" altLang="en-US" dirty="0"/>
              <a:t>字段中的</a:t>
            </a:r>
            <a:r>
              <a:rPr lang="en-US" altLang="zh-CN" dirty="0"/>
              <a:t>P-bit</a:t>
            </a:r>
            <a:r>
              <a:rPr lang="zh-CN" altLang="en-US" dirty="0"/>
              <a:t>（</a:t>
            </a:r>
            <a:r>
              <a:rPr lang="en-US" altLang="zh-CN" dirty="0"/>
              <a:t>Propagate bit</a:t>
            </a:r>
            <a:r>
              <a:rPr lang="zh-CN" altLang="en-US" dirty="0"/>
              <a:t>）用于告知转化路由器该条</a:t>
            </a:r>
            <a:r>
              <a:rPr lang="en-US" altLang="zh-CN" dirty="0"/>
              <a:t>Type7 LSA</a:t>
            </a:r>
            <a:r>
              <a:rPr lang="zh-CN" altLang="en-US" dirty="0"/>
              <a:t>是否需要转化为</a:t>
            </a:r>
            <a:r>
              <a:rPr lang="en-US" altLang="zh-CN" dirty="0"/>
              <a:t>Type5 LSA</a:t>
            </a:r>
            <a:r>
              <a:rPr lang="zh-CN" altLang="en-US" dirty="0"/>
              <a:t>。只有</a:t>
            </a:r>
            <a:r>
              <a:rPr lang="en-US" altLang="zh-CN" dirty="0"/>
              <a:t>P-bit</a:t>
            </a:r>
            <a:r>
              <a:rPr lang="zh-CN" altLang="en-US" dirty="0"/>
              <a:t>置位并且</a:t>
            </a:r>
            <a:r>
              <a:rPr lang="en-US" altLang="zh-CN" dirty="0"/>
              <a:t>FA</a:t>
            </a:r>
            <a:r>
              <a:rPr lang="zh-CN" altLang="en-US" dirty="0"/>
              <a:t>不为</a:t>
            </a:r>
            <a:r>
              <a:rPr lang="en-US" altLang="zh-CN" dirty="0"/>
              <a:t>0</a:t>
            </a:r>
            <a:r>
              <a:rPr lang="zh-CN" altLang="en-US" dirty="0"/>
              <a:t>的</a:t>
            </a:r>
            <a:r>
              <a:rPr lang="en-US" altLang="zh-CN" dirty="0"/>
              <a:t>Type7 LSA</a:t>
            </a:r>
            <a:r>
              <a:rPr lang="zh-CN" altLang="en-US" dirty="0"/>
              <a:t>才能转化为</a:t>
            </a:r>
            <a:r>
              <a:rPr lang="en-US" altLang="zh-CN" dirty="0"/>
              <a:t>Type5 LSA</a:t>
            </a:r>
            <a:r>
              <a:rPr lang="zh-CN" altLang="en-US" dirty="0"/>
              <a:t>。</a:t>
            </a:r>
            <a:endParaRPr lang="zh-CN" altLang="en-US" dirty="0"/>
          </a:p>
          <a:p>
            <a:pPr lvl="1"/>
            <a:r>
              <a:rPr lang="zh-CN" altLang="en-US" dirty="0"/>
              <a:t>区域边界路由器产生的</a:t>
            </a:r>
            <a:r>
              <a:rPr lang="en-US" altLang="zh-CN" dirty="0"/>
              <a:t>Type7 LSA</a:t>
            </a:r>
            <a:r>
              <a:rPr lang="zh-CN" altLang="en-US" dirty="0"/>
              <a:t>缺省路由不会置位</a:t>
            </a:r>
            <a:r>
              <a:rPr lang="en-US" altLang="zh-CN" dirty="0"/>
              <a:t>P-bit</a:t>
            </a:r>
            <a:r>
              <a:rPr lang="zh-CN" altLang="en-US" dirty="0"/>
              <a:t>。</a:t>
            </a:r>
            <a:endParaRPr lang="zh-CN" altLang="en-US" dirty="0"/>
          </a:p>
          <a:p>
            <a:pPr lvl="0"/>
            <a:r>
              <a:rPr lang="zh-CN" altLang="en-US" dirty="0"/>
              <a:t>注意：所有的</a:t>
            </a:r>
            <a:r>
              <a:rPr lang="en-US" altLang="zh-CN" dirty="0"/>
              <a:t>OSPF LSA</a:t>
            </a:r>
            <a:r>
              <a:rPr lang="zh-CN" altLang="en-US" dirty="0"/>
              <a:t>有相同的</a:t>
            </a:r>
            <a:r>
              <a:rPr lang="en-US" altLang="zh-CN" dirty="0"/>
              <a:t>LSA</a:t>
            </a:r>
            <a:r>
              <a:rPr lang="zh-CN" altLang="en-US" dirty="0"/>
              <a:t>头部，</a:t>
            </a:r>
            <a:r>
              <a:rPr lang="en-US" altLang="zh-CN" dirty="0"/>
              <a:t>P-bit</a:t>
            </a:r>
            <a:r>
              <a:rPr lang="zh-CN" altLang="en-US" dirty="0"/>
              <a:t>在</a:t>
            </a:r>
            <a:r>
              <a:rPr lang="en-US" altLang="zh-CN" dirty="0"/>
              <a:t>LSA</a:t>
            </a:r>
            <a:r>
              <a:rPr lang="zh-CN" altLang="en-US" dirty="0"/>
              <a:t>头部中的</a:t>
            </a:r>
            <a:r>
              <a:rPr lang="en-US" altLang="zh-CN" dirty="0"/>
              <a:t>Options</a:t>
            </a:r>
            <a:r>
              <a:rPr lang="zh-CN" altLang="en-US" dirty="0"/>
              <a:t>字段。</a:t>
            </a:r>
            <a:endParaRPr lang="zh-CN" altLang="en-US" dirty="0"/>
          </a:p>
          <a:p>
            <a:pPr lvl="0"/>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如图所示：</a:t>
            </a:r>
            <a:endParaRPr lang="en-US" altLang="zh-CN" dirty="0"/>
          </a:p>
          <a:p>
            <a:pPr lvl="1"/>
            <a:r>
              <a:rPr lang="en-US" altLang="zh-CN" dirty="0"/>
              <a:t>R5</a:t>
            </a:r>
            <a:r>
              <a:rPr lang="zh-CN" altLang="en-US" dirty="0"/>
              <a:t>引入直连外部路由，且将</a:t>
            </a:r>
            <a:r>
              <a:rPr lang="en-US" altLang="zh-CN" dirty="0"/>
              <a:t>FA</a:t>
            </a:r>
            <a:r>
              <a:rPr lang="zh-CN" altLang="en-US" dirty="0"/>
              <a:t>设为自己访问目的网段</a:t>
            </a:r>
            <a:r>
              <a:rPr lang="en-US" altLang="zh-CN" dirty="0"/>
              <a:t>10.1.5.0/24</a:t>
            </a:r>
            <a:r>
              <a:rPr lang="zh-CN" altLang="en-US" dirty="0"/>
              <a:t>的地址：</a:t>
            </a:r>
            <a:r>
              <a:rPr lang="en-US" altLang="zh-CN" dirty="0"/>
              <a:t>10.1.45.5</a:t>
            </a:r>
            <a:r>
              <a:rPr lang="zh-CN" altLang="en-US" dirty="0"/>
              <a:t>。</a:t>
            </a:r>
            <a:endParaRPr lang="en-US" altLang="zh-CN" dirty="0"/>
          </a:p>
          <a:p>
            <a:pPr lvl="1"/>
            <a:r>
              <a:rPr lang="en-US" altLang="zh-CN" dirty="0"/>
              <a:t>R3</a:t>
            </a:r>
            <a:r>
              <a:rPr lang="zh-CN" altLang="en-US" dirty="0"/>
              <a:t>执行</a:t>
            </a:r>
            <a:r>
              <a:rPr lang="en-US" altLang="zh-CN" dirty="0"/>
              <a:t>Type7 LSA</a:t>
            </a:r>
            <a:r>
              <a:rPr lang="zh-CN" altLang="en-US" dirty="0"/>
              <a:t>转换</a:t>
            </a:r>
            <a:r>
              <a:rPr lang="en-US" altLang="zh-CN" dirty="0"/>
              <a:t>Type5 LSA</a:t>
            </a:r>
            <a:r>
              <a:rPr lang="zh-CN" altLang="en-US" dirty="0"/>
              <a:t>动作，继续携带</a:t>
            </a:r>
            <a:r>
              <a:rPr lang="en-US" altLang="zh-CN" dirty="0"/>
              <a:t>FA</a:t>
            </a:r>
            <a:r>
              <a:rPr lang="zh-CN" altLang="en-US" dirty="0"/>
              <a:t>：</a:t>
            </a:r>
            <a:r>
              <a:rPr lang="en-US" altLang="zh-CN" dirty="0"/>
              <a:t>10.1.45.5</a:t>
            </a:r>
            <a:r>
              <a:rPr lang="zh-CN" altLang="en-US" dirty="0"/>
              <a:t>。</a:t>
            </a:r>
            <a:endParaRPr lang="en-US" altLang="zh-CN" dirty="0"/>
          </a:p>
          <a:p>
            <a:pPr lvl="1"/>
            <a:r>
              <a:rPr lang="en-US" altLang="zh-CN" dirty="0"/>
              <a:t>R1</a:t>
            </a:r>
            <a:r>
              <a:rPr lang="zh-CN" altLang="en-US" dirty="0"/>
              <a:t>收到后，会在自己的</a:t>
            </a:r>
            <a:r>
              <a:rPr lang="en-US" altLang="zh-CN" dirty="0"/>
              <a:t>OSPF</a:t>
            </a:r>
            <a:r>
              <a:rPr lang="zh-CN" altLang="en-US" dirty="0"/>
              <a:t>路由表中查询到达这个</a:t>
            </a:r>
            <a:r>
              <a:rPr lang="en-US" altLang="zh-CN" dirty="0"/>
              <a:t>FA</a:t>
            </a:r>
            <a:r>
              <a:rPr lang="zh-CN" altLang="en-US" dirty="0"/>
              <a:t>的路由，发现在</a:t>
            </a:r>
            <a:r>
              <a:rPr lang="en-US" altLang="zh-CN" dirty="0"/>
              <a:t>OSPF</a:t>
            </a:r>
            <a:r>
              <a:rPr lang="zh-CN" altLang="en-US" dirty="0"/>
              <a:t>路由表中能够找到匹配这个</a:t>
            </a:r>
            <a:r>
              <a:rPr lang="en-US" altLang="zh-CN" dirty="0"/>
              <a:t>FA</a:t>
            </a:r>
            <a:r>
              <a:rPr lang="zh-CN" altLang="en-US" dirty="0"/>
              <a:t>的路由，就使用到达这个</a:t>
            </a:r>
            <a:r>
              <a:rPr lang="en-US" altLang="zh-CN" dirty="0"/>
              <a:t>FA</a:t>
            </a:r>
            <a:r>
              <a:rPr lang="zh-CN" altLang="en-US" dirty="0"/>
              <a:t>的下一跳地址作为这条外部路由的下一跳地址。</a:t>
            </a:r>
            <a:endParaRPr lang="en-US" altLang="zh-CN" dirty="0"/>
          </a:p>
          <a:p>
            <a:pPr lvl="1"/>
            <a:r>
              <a:rPr lang="zh-CN" altLang="en-US" dirty="0"/>
              <a:t>因此，</a:t>
            </a:r>
            <a:r>
              <a:rPr lang="en-US" altLang="zh-CN" dirty="0"/>
              <a:t>R1</a:t>
            </a:r>
            <a:r>
              <a:rPr lang="zh-CN" altLang="en-US" dirty="0"/>
              <a:t>最终会通过</a:t>
            </a:r>
            <a:r>
              <a:rPr lang="en-US" altLang="zh-CN" dirty="0"/>
              <a:t>R1-R2-R4-R5</a:t>
            </a:r>
            <a:r>
              <a:rPr lang="zh-CN" altLang="en-US" dirty="0"/>
              <a:t>路径，访问目的网段</a:t>
            </a:r>
            <a:r>
              <a:rPr lang="en-US" altLang="zh-CN" dirty="0"/>
              <a:t>10.1.5.0/24</a:t>
            </a:r>
            <a:r>
              <a:rPr lang="zh-CN" altLang="en-US" dirty="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GR</a:t>
            </a:r>
            <a:r>
              <a:rPr lang="zh-CN" altLang="en-US" dirty="0"/>
              <a:t>是一种冗余容错技术，目前已经被广泛地使用在主备切换和系统升级方面，以保证关键业务的不间断转发。</a:t>
            </a:r>
            <a:endParaRPr lang="en-US" altLang="zh-CN" dirty="0"/>
          </a:p>
          <a:p>
            <a:r>
              <a:rPr lang="en-US" altLang="zh-CN" dirty="0"/>
              <a:t>GR</a:t>
            </a:r>
            <a:r>
              <a:rPr lang="zh-CN" altLang="en-US" dirty="0"/>
              <a:t>的原因：</a:t>
            </a:r>
            <a:endParaRPr lang="en-US" altLang="zh-CN" dirty="0"/>
          </a:p>
          <a:p>
            <a:pPr lvl="1"/>
            <a:r>
              <a:rPr lang="en-US" altLang="zh-CN" dirty="0"/>
              <a:t>Unknown</a:t>
            </a:r>
            <a:r>
              <a:rPr lang="zh-CN" altLang="en-US" dirty="0"/>
              <a:t>：未知原因导致的</a:t>
            </a:r>
            <a:r>
              <a:rPr lang="en-US" altLang="zh-CN" dirty="0"/>
              <a:t>GR</a:t>
            </a:r>
            <a:r>
              <a:rPr lang="zh-CN" altLang="en-US" dirty="0"/>
              <a:t>操作。</a:t>
            </a:r>
            <a:endParaRPr lang="zh-CN" altLang="en-US" dirty="0"/>
          </a:p>
          <a:p>
            <a:pPr lvl="1"/>
            <a:r>
              <a:rPr lang="en-US" altLang="zh-CN" dirty="0"/>
              <a:t>Software restart</a:t>
            </a:r>
            <a:r>
              <a:rPr lang="zh-CN" altLang="en-US" dirty="0"/>
              <a:t>：通过命令行主动触发的</a:t>
            </a:r>
            <a:r>
              <a:rPr lang="en-US" altLang="zh-CN" dirty="0"/>
              <a:t>GR</a:t>
            </a:r>
            <a:r>
              <a:rPr lang="zh-CN" altLang="en-US" dirty="0"/>
              <a:t>操作。</a:t>
            </a:r>
            <a:endParaRPr lang="zh-CN" altLang="en-US" dirty="0"/>
          </a:p>
          <a:p>
            <a:pPr lvl="1"/>
            <a:r>
              <a:rPr lang="en-US" altLang="zh-CN" dirty="0"/>
              <a:t>Software reload/upgrade</a:t>
            </a:r>
            <a:r>
              <a:rPr lang="zh-CN" altLang="en-US" dirty="0"/>
              <a:t>：软件加载或升级导致的</a:t>
            </a:r>
            <a:r>
              <a:rPr lang="en-US" altLang="zh-CN" dirty="0"/>
              <a:t>GR</a:t>
            </a:r>
            <a:r>
              <a:rPr lang="zh-CN" altLang="en-US" dirty="0"/>
              <a:t>操作。</a:t>
            </a:r>
            <a:endParaRPr lang="zh-CN" altLang="en-US" dirty="0"/>
          </a:p>
          <a:p>
            <a:pPr lvl="1"/>
            <a:r>
              <a:rPr lang="en-US" altLang="zh-CN" dirty="0"/>
              <a:t>Switch to redundant control processor</a:t>
            </a:r>
            <a:r>
              <a:rPr lang="zh-CN" altLang="en-US" dirty="0"/>
              <a:t>：异常主备倒换导致的</a:t>
            </a:r>
            <a:r>
              <a:rPr lang="en-US" altLang="zh-CN" dirty="0"/>
              <a:t>GR</a:t>
            </a:r>
            <a:r>
              <a:rPr lang="zh-CN" altLang="en-US" dirty="0"/>
              <a:t>操作。</a:t>
            </a:r>
            <a:endParaRPr lang="zh-CN" altLang="en-US" dirty="0"/>
          </a:p>
          <a:p>
            <a:r>
              <a:rPr lang="en-US" altLang="zh-CN" dirty="0"/>
              <a:t>GR</a:t>
            </a:r>
            <a:r>
              <a:rPr lang="zh-CN" altLang="en-US" dirty="0"/>
              <a:t>的分类：</a:t>
            </a:r>
            <a:endParaRPr lang="en-US" altLang="zh-CN" dirty="0"/>
          </a:p>
          <a:p>
            <a:pPr lvl="1"/>
            <a:r>
              <a:rPr lang="zh-CN" altLang="en-US" dirty="0"/>
              <a:t>完全</a:t>
            </a:r>
            <a:r>
              <a:rPr lang="en-US" altLang="zh-CN" dirty="0"/>
              <a:t>GR</a:t>
            </a:r>
            <a:r>
              <a:rPr lang="zh-CN" altLang="en-US" dirty="0"/>
              <a:t>（</a:t>
            </a:r>
            <a:r>
              <a:rPr lang="en-US" altLang="zh-CN" dirty="0"/>
              <a:t>Totally GR</a:t>
            </a:r>
            <a:r>
              <a:rPr lang="zh-CN" altLang="en-US" dirty="0"/>
              <a:t>）：指当有一个邻居不支持</a:t>
            </a:r>
            <a:r>
              <a:rPr lang="en-US" altLang="zh-CN" dirty="0"/>
              <a:t>GR</a:t>
            </a:r>
            <a:r>
              <a:rPr lang="zh-CN" altLang="en-US" dirty="0"/>
              <a:t>功能时，整个路由器退出</a:t>
            </a:r>
            <a:r>
              <a:rPr lang="en-US" altLang="zh-CN" dirty="0"/>
              <a:t>GR</a:t>
            </a:r>
            <a:r>
              <a:rPr lang="zh-CN" altLang="en-US" dirty="0"/>
              <a:t>状态。</a:t>
            </a:r>
            <a:endParaRPr lang="zh-CN" altLang="en-US" dirty="0"/>
          </a:p>
          <a:p>
            <a:pPr lvl="1"/>
            <a:r>
              <a:rPr lang="zh-CN" altLang="en-US" dirty="0"/>
              <a:t>部分</a:t>
            </a:r>
            <a:r>
              <a:rPr lang="en-US" altLang="zh-CN" dirty="0"/>
              <a:t>GR</a:t>
            </a:r>
            <a:r>
              <a:rPr lang="zh-CN" altLang="en-US" dirty="0"/>
              <a:t>（</a:t>
            </a:r>
            <a:r>
              <a:rPr lang="en-US" altLang="zh-CN" dirty="0"/>
              <a:t>Partial GR</a:t>
            </a:r>
            <a:r>
              <a:rPr lang="zh-CN" altLang="en-US" dirty="0"/>
              <a:t>）：指当有一个邻居不支持</a:t>
            </a:r>
            <a:r>
              <a:rPr lang="en-US" altLang="zh-CN" dirty="0"/>
              <a:t>GR</a:t>
            </a:r>
            <a:r>
              <a:rPr lang="zh-CN" altLang="en-US" dirty="0"/>
              <a:t>时，仅该邻居所关联的接口退出</a:t>
            </a:r>
            <a:r>
              <a:rPr lang="en-US" altLang="zh-CN" dirty="0"/>
              <a:t>GR</a:t>
            </a:r>
            <a:r>
              <a:rPr lang="zh-CN" altLang="en-US" dirty="0"/>
              <a:t>，其它接口正常进行</a:t>
            </a:r>
            <a:r>
              <a:rPr lang="en-US" altLang="zh-CN" dirty="0"/>
              <a:t>GR</a:t>
            </a:r>
            <a:r>
              <a:rPr lang="zh-CN" altLang="en-US" dirty="0"/>
              <a:t>过程。</a:t>
            </a:r>
            <a:endParaRPr lang="zh-CN" altLang="en-US" dirty="0"/>
          </a:p>
          <a:p>
            <a:pPr lvl="1"/>
            <a:r>
              <a:rPr lang="zh-CN" altLang="en-US" dirty="0"/>
              <a:t>有计划</a:t>
            </a:r>
            <a:r>
              <a:rPr lang="en-US" altLang="zh-CN" dirty="0"/>
              <a:t>GR</a:t>
            </a:r>
            <a:r>
              <a:rPr lang="zh-CN" altLang="en-US" dirty="0"/>
              <a:t>（</a:t>
            </a:r>
            <a:r>
              <a:rPr lang="en-US" altLang="zh-CN" dirty="0"/>
              <a:t>Planned GR</a:t>
            </a:r>
            <a:r>
              <a:rPr lang="zh-CN" altLang="en-US" dirty="0"/>
              <a:t>）：指手动通过命令使路由器执行重启或主备倒换。在进行重启或主备倒换前</a:t>
            </a:r>
            <a:r>
              <a:rPr lang="en-US" altLang="zh-CN" dirty="0"/>
              <a:t>Restarter</a:t>
            </a:r>
            <a:r>
              <a:rPr lang="zh-CN" altLang="en-US" dirty="0"/>
              <a:t>会先发送</a:t>
            </a:r>
            <a:r>
              <a:rPr lang="en-US" altLang="zh-CN" dirty="0"/>
              <a:t>Grace-LSA</a:t>
            </a:r>
            <a:r>
              <a:rPr lang="zh-CN" altLang="en-US" dirty="0"/>
              <a:t>。</a:t>
            </a:r>
            <a:endParaRPr lang="zh-CN" altLang="en-US" dirty="0"/>
          </a:p>
          <a:p>
            <a:pPr lvl="1"/>
            <a:r>
              <a:rPr lang="zh-CN" altLang="en-US" dirty="0"/>
              <a:t>非计划</a:t>
            </a:r>
            <a:r>
              <a:rPr lang="en-US" altLang="zh-CN" dirty="0"/>
              <a:t>GR</a:t>
            </a:r>
            <a:r>
              <a:rPr lang="zh-CN" altLang="en-US" dirty="0"/>
              <a:t>（</a:t>
            </a:r>
            <a:r>
              <a:rPr lang="en-US" altLang="zh-CN" dirty="0" err="1"/>
              <a:t>UnPlanned</a:t>
            </a:r>
            <a:r>
              <a:rPr lang="en-US" altLang="zh-CN" dirty="0"/>
              <a:t> GR</a:t>
            </a:r>
            <a:r>
              <a:rPr lang="zh-CN" altLang="en-US" dirty="0"/>
              <a:t>）：与</a:t>
            </a:r>
            <a:r>
              <a:rPr lang="en-US" altLang="zh-CN" dirty="0"/>
              <a:t>Planned GR</a:t>
            </a:r>
            <a:r>
              <a:rPr lang="zh-CN" altLang="en-US" dirty="0"/>
              <a:t>的区别在于，路由器是由于故障等原因进行重启或主备倒换，并且在重启或主备倒换前不会事先发送</a:t>
            </a:r>
            <a:r>
              <a:rPr lang="en-US" altLang="zh-CN" dirty="0"/>
              <a:t>Grace-LSA</a:t>
            </a:r>
            <a:r>
              <a:rPr lang="zh-CN" altLang="en-US" dirty="0"/>
              <a:t>，而是直接开始主备倒换，在备板正常</a:t>
            </a:r>
            <a:r>
              <a:rPr lang="en-US" altLang="zh-CN" dirty="0"/>
              <a:t>Up</a:t>
            </a:r>
            <a:r>
              <a:rPr lang="zh-CN" altLang="en-US" dirty="0"/>
              <a:t>后才进入</a:t>
            </a:r>
            <a:r>
              <a:rPr lang="en-US" altLang="zh-CN" dirty="0"/>
              <a:t>GR</a:t>
            </a:r>
            <a:r>
              <a:rPr lang="zh-CN" altLang="en-US" dirty="0"/>
              <a:t>过程。之后的步骤同</a:t>
            </a:r>
            <a:r>
              <a:rPr lang="en-US" altLang="zh-CN" dirty="0"/>
              <a:t>Planned GR</a:t>
            </a:r>
            <a:r>
              <a:rPr lang="zh-CN" altLang="en-US" dirty="0"/>
              <a:t>。</a:t>
            </a:r>
            <a:endParaRPr lang="zh-CN" altLang="en-US" dirty="0"/>
          </a:p>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Restarter</a:t>
            </a:r>
            <a:r>
              <a:rPr lang="zh-CN" altLang="en-US" dirty="0"/>
              <a:t>端：</a:t>
            </a:r>
            <a:endParaRPr lang="zh-CN" altLang="en-US" dirty="0"/>
          </a:p>
          <a:p>
            <a:pPr lvl="1"/>
            <a:r>
              <a:rPr lang="zh-CN" altLang="en-US" dirty="0"/>
              <a:t>对于</a:t>
            </a:r>
            <a:r>
              <a:rPr lang="en-US" altLang="zh-CN" dirty="0"/>
              <a:t>Planned GR</a:t>
            </a:r>
            <a:r>
              <a:rPr lang="zh-CN" altLang="en-US" dirty="0"/>
              <a:t>，当</a:t>
            </a:r>
            <a:r>
              <a:rPr lang="en-US" altLang="zh-CN" dirty="0"/>
              <a:t>Restarter</a:t>
            </a:r>
            <a:r>
              <a:rPr lang="zh-CN" altLang="en-US" dirty="0"/>
              <a:t>通过命令行执行主备倒换后，</a:t>
            </a:r>
            <a:r>
              <a:rPr lang="en-US" altLang="zh-CN" dirty="0"/>
              <a:t>Restarter</a:t>
            </a:r>
            <a:r>
              <a:rPr lang="zh-CN" altLang="en-US" dirty="0"/>
              <a:t>会首先向每个邻居发送一个</a:t>
            </a:r>
            <a:r>
              <a:rPr lang="en-US" altLang="zh-CN" dirty="0"/>
              <a:t>Grace-LSA</a:t>
            </a:r>
            <a:r>
              <a:rPr lang="zh-CN" altLang="en-US" dirty="0"/>
              <a:t>通知邻居</a:t>
            </a:r>
            <a:r>
              <a:rPr lang="en-US" altLang="zh-CN" dirty="0"/>
              <a:t>GR</a:t>
            </a:r>
            <a:r>
              <a:rPr lang="zh-CN" altLang="en-US" dirty="0"/>
              <a:t>的周期、原因等，然后进行主备倒换。这样避免了因备板</a:t>
            </a:r>
            <a:r>
              <a:rPr lang="en-US" altLang="zh-CN" dirty="0"/>
              <a:t>Up</a:t>
            </a:r>
            <a:r>
              <a:rPr lang="zh-CN" altLang="en-US" dirty="0"/>
              <a:t>时间过长导致的邻居关系中断从而</a:t>
            </a:r>
            <a:r>
              <a:rPr lang="en-US" altLang="zh-CN" dirty="0"/>
              <a:t>GR</a:t>
            </a:r>
            <a:r>
              <a:rPr lang="zh-CN" altLang="en-US" dirty="0"/>
              <a:t>失败的情况。</a:t>
            </a:r>
            <a:endParaRPr lang="zh-CN" altLang="en-US" dirty="0"/>
          </a:p>
          <a:p>
            <a:pPr lvl="1"/>
            <a:r>
              <a:rPr lang="zh-CN" altLang="en-US" dirty="0"/>
              <a:t>当备板正常</a:t>
            </a:r>
            <a:r>
              <a:rPr lang="en-US" altLang="zh-CN" dirty="0"/>
              <a:t>Up</a:t>
            </a:r>
            <a:r>
              <a:rPr lang="zh-CN" altLang="en-US" dirty="0"/>
              <a:t>后，</a:t>
            </a:r>
            <a:r>
              <a:rPr lang="zh-CN" altLang="en-US" b="0" dirty="0"/>
              <a:t>路由器会通知路由管理模块（</a:t>
            </a:r>
            <a:r>
              <a:rPr lang="en-US" altLang="zh-CN" b="0" dirty="0"/>
              <a:t>Routing Management Module</a:t>
            </a:r>
            <a:r>
              <a:rPr lang="zh-CN" altLang="en-US" b="0" dirty="0"/>
              <a:t>，</a:t>
            </a:r>
            <a:r>
              <a:rPr lang="en-US" altLang="zh-CN" b="0" dirty="0"/>
              <a:t>RM</a:t>
            </a:r>
            <a:r>
              <a:rPr lang="zh-CN" altLang="en-US" b="0" dirty="0"/>
              <a:t>）进入</a:t>
            </a:r>
            <a:r>
              <a:rPr lang="en-US" altLang="zh-CN" b="0" dirty="0"/>
              <a:t>GR</a:t>
            </a:r>
            <a:r>
              <a:rPr lang="zh-CN" altLang="en-US" b="0" dirty="0"/>
              <a:t>过程。</a:t>
            </a:r>
            <a:r>
              <a:rPr lang="zh-CN" altLang="en-US" dirty="0"/>
              <a:t>当备板恢复之前使能</a:t>
            </a:r>
            <a:r>
              <a:rPr lang="en-US" altLang="zh-CN" dirty="0"/>
              <a:t>OSPF</a:t>
            </a:r>
            <a:r>
              <a:rPr lang="zh-CN" altLang="en-US" dirty="0"/>
              <a:t>的接口后，马上发送一个</a:t>
            </a:r>
            <a:r>
              <a:rPr lang="en-US" altLang="zh-CN" dirty="0"/>
              <a:t>Grace-LSA</a:t>
            </a:r>
            <a:r>
              <a:rPr lang="zh-CN" altLang="en-US" dirty="0"/>
              <a:t>，通知邻居自己进入</a:t>
            </a:r>
            <a:r>
              <a:rPr lang="en-US" altLang="zh-CN" dirty="0"/>
              <a:t>GR</a:t>
            </a:r>
            <a:r>
              <a:rPr lang="zh-CN" altLang="en-US" dirty="0"/>
              <a:t>，然后会再向每个邻居连续发送</a:t>
            </a:r>
            <a:r>
              <a:rPr lang="en-US" altLang="zh-CN" dirty="0"/>
              <a:t>5</a:t>
            </a:r>
            <a:r>
              <a:rPr lang="zh-CN" altLang="en-US" dirty="0"/>
              <a:t>个</a:t>
            </a:r>
            <a:r>
              <a:rPr lang="en-US" altLang="zh-CN" dirty="0"/>
              <a:t>Grace-LSA</a:t>
            </a:r>
            <a:r>
              <a:rPr lang="zh-CN" altLang="en-US" dirty="0"/>
              <a:t>。（连续发送</a:t>
            </a:r>
            <a:r>
              <a:rPr lang="en-US" altLang="zh-CN" dirty="0"/>
              <a:t>5</a:t>
            </a:r>
            <a:r>
              <a:rPr lang="zh-CN" altLang="en-US" dirty="0"/>
              <a:t>个是为了确保邻居收到该</a:t>
            </a:r>
            <a:r>
              <a:rPr lang="en-US" altLang="zh-CN" dirty="0"/>
              <a:t>Grace-LSA</a:t>
            </a:r>
            <a:r>
              <a:rPr lang="zh-CN" altLang="en-US" dirty="0"/>
              <a:t>。此为各厂商实现方案，非协议规定。）路由器并不老化</a:t>
            </a:r>
            <a:r>
              <a:rPr lang="en-US" altLang="zh-CN" dirty="0"/>
              <a:t>FIB</a:t>
            </a:r>
            <a:r>
              <a:rPr lang="zh-CN" altLang="en-US" dirty="0"/>
              <a:t>表项，所以此时可以正常通信。如果不支持</a:t>
            </a:r>
            <a:r>
              <a:rPr lang="en-US" altLang="zh-CN" dirty="0"/>
              <a:t>GR</a:t>
            </a:r>
            <a:r>
              <a:rPr lang="zh-CN" altLang="en-US" dirty="0"/>
              <a:t>，路由器会直接老化</a:t>
            </a:r>
            <a:r>
              <a:rPr lang="en-US" altLang="zh-CN" dirty="0"/>
              <a:t>FIB</a:t>
            </a:r>
            <a:r>
              <a:rPr lang="zh-CN" altLang="en-US" dirty="0"/>
              <a:t>表项，造成路由中断，路由器会进行</a:t>
            </a:r>
            <a:r>
              <a:rPr lang="zh-CN" altLang="en-US" b="0" dirty="0"/>
              <a:t>正常重启（非</a:t>
            </a:r>
            <a:r>
              <a:rPr lang="en-US" altLang="zh-CN" b="0" dirty="0"/>
              <a:t>GR</a:t>
            </a:r>
            <a:r>
              <a:rPr lang="zh-CN" altLang="en-US" b="0" dirty="0"/>
              <a:t>过程）</a:t>
            </a:r>
            <a:r>
              <a:rPr lang="zh-CN" altLang="en-US" dirty="0"/>
              <a:t>。此时发送的</a:t>
            </a:r>
            <a:r>
              <a:rPr lang="en-US" altLang="zh-CN" dirty="0"/>
              <a:t>Grace-LSA</a:t>
            </a:r>
            <a:r>
              <a:rPr lang="zh-CN" altLang="en-US" dirty="0"/>
              <a:t>是为了告知邻居自己进入</a:t>
            </a:r>
            <a:r>
              <a:rPr lang="en-US" altLang="zh-CN" dirty="0"/>
              <a:t>GR</a:t>
            </a:r>
            <a:r>
              <a:rPr lang="zh-CN" altLang="en-US" dirty="0"/>
              <a:t>状态，邻居会在</a:t>
            </a:r>
            <a:r>
              <a:rPr lang="en-US" altLang="zh-CN" dirty="0"/>
              <a:t>GR</a:t>
            </a:r>
            <a:r>
              <a:rPr lang="zh-CN" altLang="en-US" dirty="0"/>
              <a:t>期间保持与</a:t>
            </a:r>
            <a:r>
              <a:rPr lang="en-US" altLang="zh-CN" dirty="0"/>
              <a:t>Restarter</a:t>
            </a:r>
            <a:r>
              <a:rPr lang="zh-CN" altLang="en-US" dirty="0"/>
              <a:t>的邻居关系，让其它路由器感知不到</a:t>
            </a:r>
            <a:r>
              <a:rPr lang="en-US" altLang="zh-CN" dirty="0"/>
              <a:t>Restarter</a:t>
            </a:r>
            <a:r>
              <a:rPr lang="zh-CN" altLang="en-US" dirty="0"/>
              <a:t>的倒换。</a:t>
            </a:r>
            <a:endParaRPr lang="zh-CN" altLang="en-US" dirty="0"/>
          </a:p>
          <a:p>
            <a:pPr lvl="1"/>
            <a:r>
              <a:rPr lang="en-US" altLang="zh-CN" dirty="0"/>
              <a:t>Restarter</a:t>
            </a:r>
            <a:r>
              <a:rPr lang="zh-CN" altLang="en-US" dirty="0"/>
              <a:t>与邻居协商进入标准的邻接关系建立过程。邻居状态机变化过程为：</a:t>
            </a:r>
            <a:r>
              <a:rPr lang="en-US" altLang="zh-CN" dirty="0" err="1"/>
              <a:t>Down→Init→Exstart</a:t>
            </a:r>
            <a:r>
              <a:rPr lang="zh-CN" altLang="en-US" dirty="0"/>
              <a:t>，然后进行</a:t>
            </a:r>
            <a:r>
              <a:rPr lang="en-US" altLang="zh-CN" dirty="0"/>
              <a:t>DD</a:t>
            </a:r>
            <a:r>
              <a:rPr lang="zh-CN" altLang="en-US" dirty="0"/>
              <a:t>报文的交换，完成数据库的同步。在进行</a:t>
            </a:r>
            <a:r>
              <a:rPr lang="en-US" altLang="zh-CN" dirty="0"/>
              <a:t>LSAs</a:t>
            </a:r>
            <a:r>
              <a:rPr lang="zh-CN" altLang="en-US" dirty="0"/>
              <a:t>的更新时，如果发现</a:t>
            </a:r>
            <a:r>
              <a:rPr lang="en-US" altLang="zh-CN" dirty="0"/>
              <a:t>Helper</a:t>
            </a:r>
            <a:r>
              <a:rPr lang="zh-CN" altLang="en-US" dirty="0"/>
              <a:t>发来的</a:t>
            </a:r>
            <a:r>
              <a:rPr lang="en-US" altLang="zh-CN" dirty="0"/>
              <a:t>LSAs</a:t>
            </a:r>
            <a:r>
              <a:rPr lang="zh-CN" altLang="en-US" dirty="0"/>
              <a:t>（</a:t>
            </a:r>
            <a:r>
              <a:rPr lang="en-US" altLang="zh-CN" dirty="0"/>
              <a:t>Type1 LSA</a:t>
            </a:r>
            <a:r>
              <a:rPr lang="zh-CN" altLang="en-US" dirty="0"/>
              <a:t>和</a:t>
            </a:r>
            <a:r>
              <a:rPr lang="en-US" altLang="zh-CN" dirty="0"/>
              <a:t>Type2 LSA</a:t>
            </a:r>
            <a:r>
              <a:rPr lang="zh-CN" altLang="en-US" dirty="0"/>
              <a:t>）中没有包含指向自己的链路，说明网络拓扑变化或邻居不支持</a:t>
            </a:r>
            <a:r>
              <a:rPr lang="en-US" altLang="zh-CN" dirty="0"/>
              <a:t>Helper</a:t>
            </a:r>
            <a:r>
              <a:rPr lang="zh-CN" altLang="en-US" dirty="0"/>
              <a:t>模式，则</a:t>
            </a:r>
            <a:r>
              <a:rPr lang="en-US" altLang="zh-CN" dirty="0"/>
              <a:t>GR</a:t>
            </a:r>
            <a:r>
              <a:rPr lang="zh-CN" altLang="en-US" dirty="0"/>
              <a:t>失败，退出</a:t>
            </a:r>
            <a:r>
              <a:rPr lang="en-US" altLang="zh-CN" dirty="0"/>
              <a:t>GR</a:t>
            </a:r>
            <a:r>
              <a:rPr lang="zh-CN" altLang="en-US" dirty="0"/>
              <a:t>，进行正常重启。</a:t>
            </a:r>
            <a:endParaRPr lang="en-US"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zh-CN" altLang="en-US" dirty="0"/>
              <a:t>每当与一个邻居达到</a:t>
            </a:r>
            <a:r>
              <a:rPr lang="en-US" altLang="zh-CN" dirty="0"/>
              <a:t>Full</a:t>
            </a:r>
            <a:r>
              <a:rPr lang="zh-CN" altLang="en-US" dirty="0"/>
              <a:t>状态后就进行路由计算，更新路由器的路由表，但并不马上更新</a:t>
            </a:r>
            <a:r>
              <a:rPr lang="en-US" altLang="zh-CN" dirty="0"/>
              <a:t>FIB</a:t>
            </a:r>
            <a:r>
              <a:rPr lang="zh-CN" altLang="en-US" dirty="0"/>
              <a:t>表项。</a:t>
            </a:r>
            <a:endParaRPr lang="zh-CN" altLang="en-US" dirty="0"/>
          </a:p>
          <a:p>
            <a:pPr lvl="1"/>
            <a:r>
              <a:rPr lang="zh-CN" altLang="en-US" dirty="0"/>
              <a:t>如果</a:t>
            </a:r>
            <a:r>
              <a:rPr lang="en-US" altLang="zh-CN" dirty="0"/>
              <a:t>GR</a:t>
            </a:r>
            <a:r>
              <a:rPr lang="zh-CN" altLang="en-US" dirty="0"/>
              <a:t>定时器超时，则</a:t>
            </a:r>
            <a:r>
              <a:rPr lang="en-US" altLang="zh-CN" dirty="0"/>
              <a:t>GR</a:t>
            </a:r>
            <a:r>
              <a:rPr lang="zh-CN" altLang="en-US" dirty="0"/>
              <a:t>失败，退出</a:t>
            </a:r>
            <a:r>
              <a:rPr lang="en-US" altLang="zh-CN" dirty="0"/>
              <a:t>GR</a:t>
            </a:r>
            <a:r>
              <a:rPr lang="zh-CN" altLang="en-US" dirty="0"/>
              <a:t>，进行正常重启。</a:t>
            </a:r>
            <a:endParaRPr lang="zh-CN" altLang="en-US" dirty="0"/>
          </a:p>
          <a:p>
            <a:pPr lvl="1"/>
            <a:r>
              <a:rPr lang="zh-CN" altLang="en-US" dirty="0"/>
              <a:t>检查是否和所有邻居都达到</a:t>
            </a:r>
            <a:r>
              <a:rPr lang="en-US" altLang="zh-CN" dirty="0"/>
              <a:t>Full</a:t>
            </a:r>
            <a:r>
              <a:rPr lang="zh-CN" altLang="en-US" dirty="0"/>
              <a:t>状态，如果满足，泛洪（即发送</a:t>
            </a:r>
            <a:r>
              <a:rPr lang="en-US" altLang="zh-CN" dirty="0"/>
              <a:t>LSA age</a:t>
            </a:r>
            <a:r>
              <a:rPr lang="zh-CN" altLang="en-US" dirty="0"/>
              <a:t>为</a:t>
            </a:r>
            <a:r>
              <a:rPr lang="en-US" altLang="zh-CN" dirty="0"/>
              <a:t>3600</a:t>
            </a:r>
            <a:r>
              <a:rPr lang="zh-CN" altLang="en-US" dirty="0"/>
              <a:t>秒）所有的</a:t>
            </a:r>
            <a:r>
              <a:rPr lang="en-US" altLang="zh-CN" dirty="0"/>
              <a:t>Grace-LSAs</a:t>
            </a:r>
            <a:r>
              <a:rPr lang="zh-CN" altLang="en-US" dirty="0"/>
              <a:t>。</a:t>
            </a:r>
            <a:endParaRPr lang="zh-CN" altLang="en-US" dirty="0"/>
          </a:p>
          <a:p>
            <a:pPr lvl="1"/>
            <a:r>
              <a:rPr lang="zh-CN" altLang="en-US" dirty="0"/>
              <a:t>正常退出</a:t>
            </a:r>
            <a:r>
              <a:rPr lang="en-US" altLang="zh-CN" dirty="0"/>
              <a:t>GR</a:t>
            </a:r>
            <a:r>
              <a:rPr lang="zh-CN" altLang="en-US" dirty="0"/>
              <a:t>。重新向所在的所有区域产生</a:t>
            </a:r>
            <a:r>
              <a:rPr lang="en-US" altLang="zh-CN" dirty="0"/>
              <a:t>Router-LSA</a:t>
            </a:r>
            <a:r>
              <a:rPr lang="zh-CN" altLang="en-US" dirty="0"/>
              <a:t>；如果某些接口是</a:t>
            </a:r>
            <a:r>
              <a:rPr lang="en-US" altLang="zh-CN" dirty="0"/>
              <a:t>DR</a:t>
            </a:r>
            <a:r>
              <a:rPr lang="zh-CN" altLang="en-US" dirty="0"/>
              <a:t>，则在这些网段重新产生</a:t>
            </a:r>
            <a:r>
              <a:rPr lang="en-US" altLang="zh-CN" dirty="0"/>
              <a:t>Network-LSA</a:t>
            </a:r>
            <a:r>
              <a:rPr lang="zh-CN" altLang="en-US" dirty="0"/>
              <a:t>；重新计算路由，将计算结果下发到路由表中。路由器更新</a:t>
            </a:r>
            <a:r>
              <a:rPr lang="en-US" altLang="zh-CN" dirty="0"/>
              <a:t>FIB</a:t>
            </a:r>
            <a:r>
              <a:rPr lang="zh-CN" altLang="en-US" dirty="0"/>
              <a:t>表并删除失效的路由表项。</a:t>
            </a:r>
            <a:endParaRPr lang="zh-CN" altLang="en-US" dirty="0"/>
          </a:p>
          <a:p>
            <a:r>
              <a:rPr lang="en-US" altLang="zh-CN" dirty="0"/>
              <a:t>Helper</a:t>
            </a:r>
            <a:r>
              <a:rPr lang="zh-CN" altLang="en-US" dirty="0"/>
              <a:t>端：</a:t>
            </a:r>
            <a:endParaRPr lang="en-US" altLang="zh-CN" dirty="0"/>
          </a:p>
          <a:p>
            <a:pPr lvl="1"/>
            <a:r>
              <a:rPr lang="zh-CN" altLang="en-US" b="0" dirty="0"/>
              <a:t>收到</a:t>
            </a:r>
            <a:r>
              <a:rPr lang="en-US" altLang="zh-CN" b="0" dirty="0" err="1"/>
              <a:t>Restarter</a:t>
            </a:r>
            <a:r>
              <a:rPr lang="zh-CN" altLang="en-US" b="0" dirty="0"/>
              <a:t>发送的</a:t>
            </a:r>
            <a:r>
              <a:rPr lang="en-US" altLang="zh-CN" b="0" dirty="0"/>
              <a:t>Grace-LSA</a:t>
            </a:r>
            <a:r>
              <a:rPr lang="zh-CN" altLang="en-US" b="0" dirty="0"/>
              <a:t>后，如果与</a:t>
            </a:r>
            <a:r>
              <a:rPr lang="en-US" altLang="zh-CN" b="0" dirty="0" err="1"/>
              <a:t>Restarter</a:t>
            </a:r>
            <a:r>
              <a:rPr lang="zh-CN" altLang="en-US" b="0" dirty="0"/>
              <a:t>交互的</a:t>
            </a:r>
            <a:r>
              <a:rPr lang="en-US" altLang="zh-CN" b="0" dirty="0"/>
              <a:t>LSA</a:t>
            </a:r>
            <a:r>
              <a:rPr lang="zh-CN" altLang="en-US" b="0" dirty="0"/>
              <a:t>没有变化并且通过过滤策略，</a:t>
            </a:r>
            <a:r>
              <a:rPr lang="zh-CN" altLang="en-US" dirty="0"/>
              <a:t>则进入</a:t>
            </a:r>
            <a:r>
              <a:rPr lang="en-US" altLang="zh-CN" dirty="0"/>
              <a:t>Helper</a:t>
            </a:r>
            <a:r>
              <a:rPr lang="zh-CN" altLang="en-US" dirty="0"/>
              <a:t>模式。如果网络拓扑改变、收到的</a:t>
            </a:r>
            <a:r>
              <a:rPr lang="en-US" altLang="zh-CN" dirty="0"/>
              <a:t>Grace-LSA</a:t>
            </a:r>
            <a:r>
              <a:rPr lang="zh-CN" altLang="en-US" dirty="0"/>
              <a:t>已老化或者本身处于</a:t>
            </a:r>
            <a:r>
              <a:rPr lang="en-US" altLang="zh-CN" dirty="0"/>
              <a:t>Restarter</a:t>
            </a:r>
            <a:r>
              <a:rPr lang="zh-CN" altLang="en-US" dirty="0"/>
              <a:t>状态，均不能进入</a:t>
            </a:r>
            <a:r>
              <a:rPr lang="en-US" altLang="zh-CN" dirty="0"/>
              <a:t>Helper</a:t>
            </a:r>
            <a:r>
              <a:rPr lang="zh-CN" altLang="en-US" dirty="0"/>
              <a:t>模式。</a:t>
            </a:r>
            <a:endParaRPr lang="zh-CN" altLang="en-US" dirty="0"/>
          </a:p>
          <a:p>
            <a:pPr lvl="1"/>
            <a:r>
              <a:rPr lang="en-US" altLang="zh-CN" dirty="0"/>
              <a:t>Helper</a:t>
            </a:r>
            <a:r>
              <a:rPr lang="zh-CN" altLang="en-US" dirty="0"/>
              <a:t>向</a:t>
            </a:r>
            <a:r>
              <a:rPr lang="en-US" altLang="zh-CN" dirty="0"/>
              <a:t>Restarter</a:t>
            </a:r>
            <a:r>
              <a:rPr lang="zh-CN" altLang="en-US" dirty="0"/>
              <a:t>继续发送</a:t>
            </a:r>
            <a:r>
              <a:rPr lang="en-US" altLang="zh-CN" dirty="0"/>
              <a:t>Hello</a:t>
            </a:r>
            <a:r>
              <a:rPr lang="zh-CN" altLang="en-US" dirty="0"/>
              <a:t>报文，即保持自己与邻居邻接状态不变。此时</a:t>
            </a:r>
            <a:r>
              <a:rPr lang="en-US" altLang="zh-CN" dirty="0"/>
              <a:t>Restarter</a:t>
            </a:r>
            <a:r>
              <a:rPr lang="zh-CN" altLang="en-US" dirty="0"/>
              <a:t>邻居状态机达到</a:t>
            </a:r>
            <a:r>
              <a:rPr lang="en-US" altLang="zh-CN" dirty="0" err="1"/>
              <a:t>Exstart</a:t>
            </a:r>
            <a:r>
              <a:rPr lang="zh-CN" altLang="en-US" dirty="0"/>
              <a:t>状态，所以会和</a:t>
            </a:r>
            <a:r>
              <a:rPr lang="en-US" altLang="zh-CN" dirty="0"/>
              <a:t>Helper</a:t>
            </a:r>
            <a:r>
              <a:rPr lang="zh-CN" altLang="en-US" dirty="0"/>
              <a:t>同步</a:t>
            </a:r>
            <a:r>
              <a:rPr lang="en-US" altLang="zh-CN" dirty="0"/>
              <a:t>LSDB</a:t>
            </a:r>
            <a:r>
              <a:rPr lang="zh-CN" altLang="en-US" dirty="0"/>
              <a:t>。在交换</a:t>
            </a:r>
            <a:r>
              <a:rPr lang="en-US" altLang="zh-CN" dirty="0"/>
              <a:t>DD</a:t>
            </a:r>
            <a:r>
              <a:rPr lang="zh-CN" altLang="en-US" dirty="0"/>
              <a:t>报文时，</a:t>
            </a:r>
            <a:r>
              <a:rPr lang="en-US" altLang="zh-CN" dirty="0"/>
              <a:t>Helper</a:t>
            </a:r>
            <a:r>
              <a:rPr lang="zh-CN" altLang="en-US" dirty="0"/>
              <a:t>收到</a:t>
            </a:r>
            <a:r>
              <a:rPr lang="en-US" altLang="zh-CN" dirty="0"/>
              <a:t>Restarter</a:t>
            </a:r>
            <a:r>
              <a:rPr lang="zh-CN" altLang="en-US" dirty="0"/>
              <a:t>发来的</a:t>
            </a:r>
            <a:r>
              <a:rPr lang="en-US" altLang="zh-CN" dirty="0"/>
              <a:t>DD</a:t>
            </a:r>
            <a:r>
              <a:rPr lang="zh-CN" altLang="en-US" dirty="0"/>
              <a:t>报文会产生</a:t>
            </a:r>
            <a:r>
              <a:rPr lang="en-US" altLang="zh-CN" dirty="0" err="1"/>
              <a:t>SeqMismatch</a:t>
            </a:r>
            <a:r>
              <a:rPr lang="zh-CN" altLang="en-US" dirty="0"/>
              <a:t>事件，因为正常</a:t>
            </a:r>
            <a:r>
              <a:rPr lang="en-US" altLang="zh-CN" dirty="0"/>
              <a:t>Full</a:t>
            </a:r>
            <a:r>
              <a:rPr lang="zh-CN" altLang="en-US" dirty="0"/>
              <a:t>状态时是不会收到</a:t>
            </a:r>
            <a:r>
              <a:rPr lang="en-US" altLang="zh-CN" dirty="0"/>
              <a:t>DD</a:t>
            </a:r>
            <a:r>
              <a:rPr lang="zh-CN" altLang="en-US" dirty="0"/>
              <a:t>报文的。</a:t>
            </a:r>
            <a:r>
              <a:rPr lang="en-US" altLang="zh-CN" dirty="0"/>
              <a:t>Helper</a:t>
            </a:r>
            <a:r>
              <a:rPr lang="zh-CN" altLang="en-US" dirty="0"/>
              <a:t>的邻居状态机由</a:t>
            </a:r>
            <a:r>
              <a:rPr lang="en-US" altLang="zh-CN" dirty="0"/>
              <a:t>Full</a:t>
            </a:r>
            <a:r>
              <a:rPr lang="zh-CN" altLang="en-US" dirty="0"/>
              <a:t>降为</a:t>
            </a:r>
            <a:r>
              <a:rPr lang="en-US" altLang="zh-CN" dirty="0" err="1"/>
              <a:t>Exstart</a:t>
            </a:r>
            <a:r>
              <a:rPr lang="zh-CN" altLang="en-US" dirty="0"/>
              <a:t>状态，开始交换</a:t>
            </a:r>
            <a:r>
              <a:rPr lang="en-US" altLang="zh-CN" dirty="0"/>
              <a:t>DD</a:t>
            </a:r>
            <a:r>
              <a:rPr lang="zh-CN" altLang="en-US" dirty="0"/>
              <a:t>报文并同步</a:t>
            </a:r>
            <a:r>
              <a:rPr lang="en-US" altLang="zh-CN" dirty="0"/>
              <a:t>LSDB</a:t>
            </a:r>
            <a:r>
              <a:rPr lang="zh-CN" altLang="en-US" dirty="0"/>
              <a:t>。因为</a:t>
            </a:r>
            <a:r>
              <a:rPr lang="en-US" altLang="zh-CN" dirty="0" err="1"/>
              <a:t>Restarter</a:t>
            </a:r>
            <a:r>
              <a:rPr lang="zh-CN" altLang="en-US" dirty="0"/>
              <a:t>的</a:t>
            </a:r>
            <a:r>
              <a:rPr lang="en-US" altLang="zh-CN" dirty="0"/>
              <a:t>DD</a:t>
            </a:r>
            <a:r>
              <a:rPr lang="zh-CN" altLang="en-US" dirty="0"/>
              <a:t>报文没有</a:t>
            </a:r>
            <a:r>
              <a:rPr lang="zh-CN" altLang="en-US" b="0" dirty="0"/>
              <a:t>完整的</a:t>
            </a:r>
            <a:r>
              <a:rPr lang="en-US" altLang="zh-CN" b="0" dirty="0"/>
              <a:t>LSA</a:t>
            </a:r>
            <a:r>
              <a:rPr lang="zh-CN" altLang="en-US" dirty="0"/>
              <a:t>而</a:t>
            </a:r>
            <a:r>
              <a:rPr lang="en-US" altLang="zh-CN" dirty="0"/>
              <a:t>Helper</a:t>
            </a:r>
            <a:r>
              <a:rPr lang="zh-CN" altLang="en-US" dirty="0"/>
              <a:t>具有完整的</a:t>
            </a:r>
            <a:r>
              <a:rPr lang="en-US" altLang="zh-CN" dirty="0"/>
              <a:t>LSAs</a:t>
            </a:r>
            <a:r>
              <a:rPr lang="zh-CN" altLang="en-US" dirty="0"/>
              <a:t>，所以</a:t>
            </a:r>
            <a:r>
              <a:rPr lang="en-US" altLang="zh-CN" dirty="0"/>
              <a:t>Helper</a:t>
            </a:r>
            <a:r>
              <a:rPr lang="zh-CN" altLang="en-US" dirty="0"/>
              <a:t>的邻居状态机很快经历了下面的状态变化：</a:t>
            </a:r>
            <a:r>
              <a:rPr lang="en-US" altLang="zh-CN" dirty="0" err="1"/>
              <a:t>Exstart→Exchange→Full</a:t>
            </a:r>
            <a:r>
              <a:rPr lang="zh-CN" altLang="en-US" dirty="0"/>
              <a:t>。</a:t>
            </a:r>
            <a:r>
              <a:rPr lang="en-US" altLang="zh-CN" dirty="0"/>
              <a:t>Helper</a:t>
            </a:r>
            <a:r>
              <a:rPr lang="zh-CN" altLang="en-US" dirty="0"/>
              <a:t>发送自己的</a:t>
            </a:r>
            <a:r>
              <a:rPr lang="en-US" altLang="zh-CN" dirty="0"/>
              <a:t>LSAs</a:t>
            </a:r>
            <a:r>
              <a:rPr lang="zh-CN" altLang="en-US" dirty="0"/>
              <a:t>同步给</a:t>
            </a:r>
            <a:r>
              <a:rPr lang="en-US" altLang="zh-CN" dirty="0" err="1"/>
              <a:t>Restarter</a:t>
            </a:r>
            <a:r>
              <a:rPr lang="zh-CN" altLang="en-US" dirty="0"/>
              <a:t>，如果继续收到包含不同</a:t>
            </a:r>
            <a:r>
              <a:rPr lang="en-US" altLang="zh-CN" dirty="0"/>
              <a:t>GR</a:t>
            </a:r>
            <a:r>
              <a:rPr lang="zh-CN" altLang="en-US" dirty="0"/>
              <a:t>周期的</a:t>
            </a:r>
            <a:r>
              <a:rPr lang="en-US" altLang="zh-CN" dirty="0"/>
              <a:t>Grace-LSA</a:t>
            </a:r>
            <a:r>
              <a:rPr lang="zh-CN" altLang="en-US" dirty="0"/>
              <a:t>，路由器仅更新平滑重启的周期。</a:t>
            </a:r>
            <a:endParaRPr lang="zh-CN" altLang="en-US" dirty="0"/>
          </a:p>
          <a:p>
            <a:pPr lvl="1"/>
            <a:r>
              <a:rPr lang="zh-CN" altLang="en-US" dirty="0"/>
              <a:t>如果</a:t>
            </a:r>
            <a:r>
              <a:rPr lang="en-US" altLang="zh-CN" dirty="0"/>
              <a:t>GR</a:t>
            </a:r>
            <a:r>
              <a:rPr lang="zh-CN" altLang="en-US" dirty="0"/>
              <a:t>定时器超时，那么退出</a:t>
            </a:r>
            <a:r>
              <a:rPr lang="en-US" altLang="zh-CN" dirty="0"/>
              <a:t>Helper</a:t>
            </a:r>
            <a:r>
              <a:rPr lang="zh-CN" altLang="en-US" dirty="0"/>
              <a:t>模式。</a:t>
            </a:r>
            <a:endParaRPr lang="zh-CN" altLang="en-US" dirty="0"/>
          </a:p>
          <a:p>
            <a:pPr lvl="1"/>
            <a:r>
              <a:rPr lang="zh-CN" altLang="en-US" dirty="0"/>
              <a:t>当</a:t>
            </a:r>
            <a:r>
              <a:rPr lang="en-US" altLang="zh-CN" dirty="0"/>
              <a:t>Helper</a:t>
            </a:r>
            <a:r>
              <a:rPr lang="zh-CN" altLang="en-US" dirty="0"/>
              <a:t>端最后收到泛洪的</a:t>
            </a:r>
            <a:r>
              <a:rPr lang="en-US" altLang="zh-CN" dirty="0"/>
              <a:t>Grace-LSAs</a:t>
            </a:r>
            <a:r>
              <a:rPr lang="zh-CN" altLang="en-US" dirty="0"/>
              <a:t>后表明</a:t>
            </a:r>
            <a:r>
              <a:rPr lang="en-US" altLang="zh-CN" dirty="0"/>
              <a:t>GR</a:t>
            </a:r>
            <a:r>
              <a:rPr lang="zh-CN" altLang="en-US" dirty="0"/>
              <a:t>完成，正常退出</a:t>
            </a:r>
            <a:r>
              <a:rPr lang="en-US" altLang="zh-CN" dirty="0"/>
              <a:t>Helper</a:t>
            </a:r>
            <a:r>
              <a:rPr lang="zh-CN" altLang="en-US" dirty="0"/>
              <a:t>。</a:t>
            </a:r>
            <a:endParaRPr lang="zh-CN" altLang="en-US" dirty="0"/>
          </a:p>
          <a:p>
            <a:pPr lvl="1"/>
            <a:r>
              <a:rPr lang="en-US" altLang="zh-CN" dirty="0"/>
              <a:t>Helper</a:t>
            </a:r>
            <a:r>
              <a:rPr lang="zh-CN" altLang="en-US" dirty="0"/>
              <a:t>在与</a:t>
            </a:r>
            <a:r>
              <a:rPr lang="en-US" altLang="zh-CN" dirty="0"/>
              <a:t>Restarter</a:t>
            </a:r>
            <a:r>
              <a:rPr lang="zh-CN" altLang="en-US" dirty="0"/>
              <a:t>连接的网段上重新产生</a:t>
            </a:r>
            <a:r>
              <a:rPr lang="en-US" altLang="zh-CN" dirty="0"/>
              <a:t>Router-LSA</a:t>
            </a:r>
            <a:r>
              <a:rPr lang="zh-CN" altLang="en-US" dirty="0"/>
              <a:t>；如果</a:t>
            </a:r>
            <a:r>
              <a:rPr lang="en-US" altLang="zh-CN" dirty="0"/>
              <a:t>Helper</a:t>
            </a:r>
            <a:r>
              <a:rPr lang="zh-CN" altLang="en-US" dirty="0"/>
              <a:t>本身是</a:t>
            </a:r>
            <a:r>
              <a:rPr lang="en-US" altLang="zh-CN" dirty="0"/>
              <a:t>DR</a:t>
            </a:r>
            <a:r>
              <a:rPr lang="zh-CN" altLang="en-US" dirty="0"/>
              <a:t>，产生</a:t>
            </a:r>
            <a:r>
              <a:rPr lang="en-US" altLang="zh-CN" dirty="0"/>
              <a:t>Network-LSA</a:t>
            </a:r>
            <a:r>
              <a:rPr lang="zh-CN" altLang="en-US" dirty="0"/>
              <a:t>。</a:t>
            </a:r>
            <a:endParaRPr lang="zh-CN" altLang="en-US" dirty="0"/>
          </a:p>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在配置</a:t>
            </a:r>
            <a:r>
              <a:rPr lang="en-US" altLang="zh-CN" dirty="0"/>
              <a:t>OSPF GR</a:t>
            </a:r>
            <a:r>
              <a:rPr lang="zh-CN" altLang="en-US" dirty="0"/>
              <a:t>特性之前，需完成以下任务：</a:t>
            </a:r>
            <a:endParaRPr lang="zh-CN" altLang="en-US" dirty="0"/>
          </a:p>
          <a:p>
            <a:pPr lvl="1"/>
            <a:r>
              <a:rPr lang="zh-CN" altLang="en-US" dirty="0"/>
              <a:t>配置接口的网络层地址，使相邻节点之间网络层可达。</a:t>
            </a:r>
            <a:endParaRPr lang="zh-CN" altLang="en-US" dirty="0"/>
          </a:p>
          <a:p>
            <a:pPr lvl="1"/>
            <a:r>
              <a:rPr lang="zh-CN" altLang="en-US" dirty="0"/>
              <a:t>配置</a:t>
            </a:r>
            <a:r>
              <a:rPr lang="en-US" altLang="zh-CN" dirty="0"/>
              <a:t>OSPF</a:t>
            </a:r>
            <a:r>
              <a:rPr lang="zh-CN" altLang="en-US" dirty="0"/>
              <a:t>的基本功能。</a:t>
            </a:r>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en-US" altLang="zh-CN" dirty="0"/>
              <a:t>NSR</a:t>
            </a:r>
            <a:r>
              <a:rPr lang="zh-CN" altLang="en-US" dirty="0"/>
              <a:t>与</a:t>
            </a:r>
            <a:r>
              <a:rPr lang="en-US" altLang="zh-CN" dirty="0"/>
              <a:t>GR</a:t>
            </a:r>
            <a:r>
              <a:rPr lang="zh-CN" altLang="en-US" dirty="0"/>
              <a:t>：</a:t>
            </a:r>
            <a:endParaRPr lang="en-US" altLang="zh-CN" dirty="0"/>
          </a:p>
          <a:p>
            <a:pPr lvl="1"/>
            <a:r>
              <a:rPr lang="zh-CN" altLang="en-US" dirty="0"/>
              <a:t>在主备倒换端，系统支持</a:t>
            </a:r>
            <a:r>
              <a:rPr lang="en-US" altLang="zh-CN" dirty="0"/>
              <a:t>NSR</a:t>
            </a:r>
            <a:r>
              <a:rPr lang="zh-CN" altLang="en-US" dirty="0"/>
              <a:t>和</a:t>
            </a:r>
            <a:r>
              <a:rPr lang="en-US" altLang="zh-CN" dirty="0"/>
              <a:t>GR</a:t>
            </a:r>
            <a:r>
              <a:rPr lang="zh-CN" altLang="en-US" dirty="0"/>
              <a:t>两种不同的高可靠性保护。</a:t>
            </a:r>
            <a:endParaRPr lang="en-US" altLang="zh-CN" dirty="0"/>
          </a:p>
          <a:p>
            <a:pPr lvl="1"/>
            <a:r>
              <a:rPr lang="zh-CN" altLang="en-US" dirty="0"/>
              <a:t>但</a:t>
            </a:r>
            <a:r>
              <a:rPr lang="en-US" altLang="zh-CN" dirty="0"/>
              <a:t>NSR</a:t>
            </a:r>
            <a:r>
              <a:rPr lang="zh-CN" altLang="en-US" dirty="0"/>
              <a:t>和</a:t>
            </a:r>
            <a:r>
              <a:rPr lang="en-US" altLang="zh-CN" dirty="0"/>
              <a:t>GR</a:t>
            </a:r>
            <a:r>
              <a:rPr lang="zh-CN" altLang="en-US" dirty="0"/>
              <a:t>是互斥的，即：对于一个特定协议，系统倒换后，只能采用</a:t>
            </a:r>
            <a:r>
              <a:rPr lang="en-US" altLang="zh-CN" dirty="0"/>
              <a:t>NSR</a:t>
            </a:r>
            <a:r>
              <a:rPr lang="zh-CN" altLang="en-US" dirty="0"/>
              <a:t>或</a:t>
            </a:r>
            <a:r>
              <a:rPr lang="en-US" altLang="zh-CN" dirty="0"/>
              <a:t>GR</a:t>
            </a:r>
            <a:r>
              <a:rPr lang="zh-CN" altLang="en-US" dirty="0"/>
              <a:t>两种处理方式的一种。</a:t>
            </a:r>
            <a:endParaRPr lang="en-US" altLang="zh-CN" dirty="0"/>
          </a:p>
          <a:p>
            <a:pPr lvl="1"/>
            <a:r>
              <a:rPr lang="zh-CN" altLang="en-US" dirty="0"/>
              <a:t>设备在部署</a:t>
            </a:r>
            <a:r>
              <a:rPr lang="en-US" altLang="zh-CN" dirty="0"/>
              <a:t>NSR</a:t>
            </a:r>
            <a:r>
              <a:rPr lang="zh-CN" altLang="en-US" dirty="0"/>
              <a:t>时，仍然可以支持</a:t>
            </a:r>
            <a:r>
              <a:rPr lang="en-US" altLang="zh-CN" dirty="0"/>
              <a:t>GR Helper</a:t>
            </a:r>
            <a:r>
              <a:rPr lang="zh-CN" altLang="en-US" dirty="0"/>
              <a:t>的功能，以支持自己的邻居</a:t>
            </a:r>
            <a:r>
              <a:rPr lang="en-US" altLang="zh-CN" dirty="0"/>
              <a:t>GR</a:t>
            </a:r>
            <a:r>
              <a:rPr lang="zh-CN" altLang="en-US" dirty="0"/>
              <a:t>过程，最大可能的保证用户全网网络节点业务的高可靠性。</a:t>
            </a:r>
            <a:endParaRPr lang="zh-CN" altLang="en-US" dirty="0"/>
          </a:p>
          <a:p>
            <a:r>
              <a:rPr lang="zh-CN" altLang="en-US" dirty="0"/>
              <a:t>应用场景：</a:t>
            </a:r>
            <a:endParaRPr lang="en-US" altLang="zh-CN" dirty="0"/>
          </a:p>
          <a:p>
            <a:pPr lvl="1"/>
            <a:r>
              <a:rPr lang="zh-CN" altLang="en-US" dirty="0"/>
              <a:t>当网络对丢包的要求、对路由收敛的速度的要求都比较低时，可以使用</a:t>
            </a:r>
            <a:r>
              <a:rPr lang="en-US" altLang="zh-CN" dirty="0"/>
              <a:t>NSF</a:t>
            </a:r>
            <a:r>
              <a:rPr lang="zh-CN" altLang="en-US" dirty="0"/>
              <a:t>功能。</a:t>
            </a:r>
            <a:endParaRPr lang="zh-CN" altLang="en-US" dirty="0"/>
          </a:p>
          <a:p>
            <a:pPr lvl="1"/>
            <a:r>
              <a:rPr lang="zh-CN" altLang="en-US" dirty="0"/>
              <a:t>当网络对丢包的要求、对路由收敛的速度的要求都比较高时，可以使用</a:t>
            </a:r>
            <a:r>
              <a:rPr lang="en-US" altLang="zh-CN" dirty="0"/>
              <a:t>NSR</a:t>
            </a:r>
            <a:r>
              <a:rPr lang="zh-CN" altLang="en-US" dirty="0"/>
              <a:t>功能。</a:t>
            </a:r>
            <a:endParaRPr lang="en-US" altLang="zh-CN" dirty="0"/>
          </a:p>
          <a:p>
            <a:pPr lvl="0"/>
            <a:r>
              <a:rPr lang="zh-CN" altLang="en-US" dirty="0"/>
              <a:t>系统级</a:t>
            </a:r>
            <a:r>
              <a:rPr lang="en-US" altLang="zh-CN" dirty="0"/>
              <a:t>NSR</a:t>
            </a:r>
            <a:r>
              <a:rPr lang="zh-CN" altLang="en-US" dirty="0"/>
              <a:t>功能触发情况：</a:t>
            </a:r>
            <a:endParaRPr lang="en-US" altLang="zh-CN" dirty="0"/>
          </a:p>
          <a:p>
            <a:pPr lvl="1"/>
            <a:r>
              <a:rPr lang="zh-CN" altLang="en-US" dirty="0"/>
              <a:t>系统故障触发主备倒换。</a:t>
            </a:r>
            <a:endParaRPr lang="zh-CN" altLang="en-US" dirty="0"/>
          </a:p>
          <a:p>
            <a:pPr lvl="1"/>
            <a:r>
              <a:rPr lang="zh-CN" altLang="en-US" dirty="0"/>
              <a:t>软件升级或系统维护时网络管理员手动触发主备倒换。</a:t>
            </a:r>
            <a:endParaRPr lang="en-US" altLang="zh-CN" dirty="0"/>
          </a:p>
          <a:p>
            <a:r>
              <a:rPr lang="zh-CN" altLang="en-US" dirty="0"/>
              <a:t>说明：</a:t>
            </a:r>
            <a:r>
              <a:rPr lang="en-US" altLang="zh-CN" dirty="0"/>
              <a:t>NSR</a:t>
            </a:r>
            <a:r>
              <a:rPr lang="zh-CN" altLang="en-US" dirty="0"/>
              <a:t>对</a:t>
            </a:r>
            <a:r>
              <a:rPr lang="en-US" altLang="zh-CN" dirty="0"/>
              <a:t>OSPF</a:t>
            </a:r>
            <a:r>
              <a:rPr lang="zh-CN" altLang="en-US" dirty="0"/>
              <a:t>、</a:t>
            </a:r>
            <a:r>
              <a:rPr lang="en-US" altLang="zh-CN" dirty="0"/>
              <a:t>IS-IS</a:t>
            </a:r>
            <a:r>
              <a:rPr lang="zh-CN" altLang="en-US" dirty="0"/>
              <a:t>、</a:t>
            </a:r>
            <a:r>
              <a:rPr lang="en-US" altLang="zh-CN" dirty="0"/>
              <a:t>BGP</a:t>
            </a:r>
            <a:r>
              <a:rPr lang="zh-CN" altLang="en-US" dirty="0"/>
              <a:t>等协议的实现原理相同，本课程以</a:t>
            </a:r>
            <a:r>
              <a:rPr lang="en-US" altLang="zh-CN" dirty="0"/>
              <a:t>OSPF</a:t>
            </a:r>
            <a:r>
              <a:rPr lang="zh-CN" altLang="en-US" dirty="0"/>
              <a:t>协议为例。</a:t>
            </a:r>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lvl="0"/>
            <a:r>
              <a:rPr lang="en-US" altLang="zh-CN" dirty="0"/>
              <a:t>HA</a:t>
            </a:r>
            <a:r>
              <a:rPr lang="zh-CN" altLang="en-US" dirty="0"/>
              <a:t>（</a:t>
            </a:r>
            <a:r>
              <a:rPr lang="en-US" altLang="zh-CN" dirty="0"/>
              <a:t>High Availability</a:t>
            </a:r>
            <a:r>
              <a:rPr lang="zh-CN" altLang="en-US" dirty="0"/>
              <a:t>）：高可靠性</a:t>
            </a:r>
            <a:r>
              <a:rPr lang="en-US" altLang="zh-CN" dirty="0"/>
              <a:t>/</a:t>
            </a:r>
            <a:r>
              <a:rPr lang="zh-CN" altLang="en-US" dirty="0"/>
              <a:t>高实用性的简称，这里指主备板间的备份通道。</a:t>
            </a:r>
            <a:endParaRPr lang="zh-CN" altLang="en-US" dirty="0"/>
          </a:p>
          <a:p>
            <a:pPr lvl="0"/>
            <a:r>
              <a:rPr lang="en-US" altLang="zh-CN" dirty="0"/>
              <a:t>AMB</a:t>
            </a:r>
            <a:r>
              <a:rPr lang="zh-CN" altLang="en-US" dirty="0"/>
              <a:t>（</a:t>
            </a:r>
            <a:r>
              <a:rPr lang="en-US" altLang="zh-CN" dirty="0"/>
              <a:t>Active Main Board</a:t>
            </a:r>
            <a:r>
              <a:rPr lang="zh-CN" altLang="en-US" dirty="0"/>
              <a:t>）和</a:t>
            </a:r>
            <a:r>
              <a:rPr lang="en-US" altLang="zh-CN" dirty="0"/>
              <a:t>SMB</a:t>
            </a:r>
            <a:r>
              <a:rPr lang="zh-CN" altLang="en-US" dirty="0"/>
              <a:t>（</a:t>
            </a:r>
            <a:r>
              <a:rPr lang="en-US" altLang="zh-CN"/>
              <a:t>Standby Main Board </a:t>
            </a:r>
            <a:r>
              <a:rPr lang="zh-CN" altLang="en-US"/>
              <a:t>）</a:t>
            </a:r>
            <a:r>
              <a:rPr lang="zh-CN" altLang="en-US" dirty="0"/>
              <a:t>：主用主控板和备用主控板，单板上承载控制平面进程。</a:t>
            </a:r>
            <a:endParaRPr lang="zh-CN" altLang="en-US" dirty="0"/>
          </a:p>
          <a:p>
            <a:pPr lvl="0"/>
            <a:r>
              <a:rPr lang="en-US" altLang="zh-CN" dirty="0"/>
              <a:t>LPU</a:t>
            </a:r>
            <a:r>
              <a:rPr lang="zh-CN" altLang="en-US" dirty="0"/>
              <a:t>（</a:t>
            </a:r>
            <a:r>
              <a:rPr lang="en-US" altLang="zh-CN" dirty="0"/>
              <a:t>Line Interface Process Unit</a:t>
            </a:r>
            <a:r>
              <a:rPr lang="zh-CN" altLang="en-US" dirty="0"/>
              <a:t>）：接口板，单板上承载转发平面进程。</a:t>
            </a:r>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lvl="0"/>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lvl="0"/>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pPr lvl="0"/>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IS-IS</a:t>
            </a:r>
            <a:r>
              <a:rPr lang="zh-CN" altLang="en-US"/>
              <a:t>的</a:t>
            </a:r>
            <a:r>
              <a:rPr lang="en-US" altLang="zh-CN"/>
              <a:t>PRC</a:t>
            </a:r>
            <a:r>
              <a:rPr lang="zh-CN" altLang="en-US"/>
              <a:t>、智能定时器、</a:t>
            </a:r>
            <a:r>
              <a:rPr lang="en-US" altLang="zh-CN"/>
              <a:t>FRR</a:t>
            </a:r>
            <a:r>
              <a:rPr lang="zh-CN" altLang="en-US"/>
              <a:t>等功能与</a:t>
            </a:r>
            <a:r>
              <a:rPr lang="en-US" altLang="zh-CN"/>
              <a:t>OSPF</a:t>
            </a:r>
            <a:r>
              <a:rPr lang="zh-CN" altLang="en-US"/>
              <a:t>类似，不再赘述。</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使用</a:t>
            </a:r>
            <a:r>
              <a:rPr lang="en-US" altLang="zh-CN" dirty="0"/>
              <a:t>SPF</a:t>
            </a:r>
            <a:r>
              <a:rPr lang="zh-CN" altLang="en-US" dirty="0"/>
              <a:t>算法进行路由计算：当网络拓扑中有一个节点发生变化时，</a:t>
            </a:r>
            <a:r>
              <a:rPr lang="en-US" altLang="zh-CN" dirty="0"/>
              <a:t>SPF</a:t>
            </a:r>
            <a:r>
              <a:rPr lang="zh-CN" altLang="en-US" dirty="0"/>
              <a:t>算法需要重新计算网络中的所有节点，计算时间长，占用过多的</a:t>
            </a:r>
            <a:r>
              <a:rPr lang="en-US" altLang="zh-CN" dirty="0"/>
              <a:t>CPU</a:t>
            </a:r>
            <a:r>
              <a:rPr lang="zh-CN" altLang="en-US" dirty="0"/>
              <a:t>资源，影响整个网络的收敛速度。</a:t>
            </a:r>
            <a:endParaRPr lang="zh-CN" altLang="en-US" dirty="0"/>
          </a:p>
          <a:p>
            <a:pPr lvl="0"/>
            <a:r>
              <a:rPr lang="en-US" altLang="zh-CN" dirty="0"/>
              <a:t>I-SPF</a:t>
            </a:r>
            <a:r>
              <a:rPr lang="zh-CN" altLang="en-US" dirty="0"/>
              <a:t>改进了</a:t>
            </a:r>
            <a:r>
              <a:rPr lang="en-US" altLang="zh-CN" dirty="0"/>
              <a:t>SPF</a:t>
            </a:r>
            <a:r>
              <a:rPr lang="zh-CN" altLang="en-US" dirty="0"/>
              <a:t>算法，除了第一次</a:t>
            </a:r>
            <a:r>
              <a:rPr lang="en-US" altLang="zh-CN" dirty="0"/>
              <a:t>SPF</a:t>
            </a:r>
            <a:r>
              <a:rPr lang="zh-CN" altLang="en-US" dirty="0"/>
              <a:t>计算时需要计算全部节点外，之后每次都通过</a:t>
            </a:r>
            <a:r>
              <a:rPr lang="en-US" altLang="zh-CN" dirty="0"/>
              <a:t>I-SPF</a:t>
            </a:r>
            <a:r>
              <a:rPr lang="zh-CN" altLang="en-US" dirty="0"/>
              <a:t>计算受到影响的节点，而最后生成的最短路径树与原来的算法所计算的结果相同，大大降低了</a:t>
            </a:r>
            <a:r>
              <a:rPr lang="en-US" altLang="zh-CN" dirty="0"/>
              <a:t>CPU</a:t>
            </a:r>
            <a:r>
              <a:rPr lang="zh-CN" altLang="en-US" dirty="0"/>
              <a:t>的占用率，提高了网络收敛速度。</a:t>
            </a:r>
            <a:endParaRPr lang="en-US" altLang="zh-CN" dirty="0"/>
          </a:p>
          <a:p>
            <a:pPr lvl="0"/>
            <a:r>
              <a:rPr lang="zh-CN" altLang="en-US" dirty="0"/>
              <a:t>在</a:t>
            </a:r>
            <a:r>
              <a:rPr lang="en-US" altLang="zh-CN" dirty="0"/>
              <a:t>IS-IS</a:t>
            </a:r>
            <a:r>
              <a:rPr lang="zh-CN" altLang="en-US" dirty="0"/>
              <a:t>网络中，</a:t>
            </a:r>
            <a:r>
              <a:rPr lang="en-US" altLang="zh-CN" dirty="0"/>
              <a:t>I-SPF</a:t>
            </a:r>
            <a:r>
              <a:rPr lang="zh-CN" altLang="en-US" dirty="0"/>
              <a:t>和</a:t>
            </a:r>
            <a:r>
              <a:rPr lang="en-US" altLang="zh-CN" dirty="0"/>
              <a:t>PRC</a:t>
            </a:r>
            <a:r>
              <a:rPr lang="zh-CN" altLang="en-US" dirty="0"/>
              <a:t>结合使用。</a:t>
            </a:r>
            <a:endParaRPr lang="en-US" altLang="zh-CN" dirty="0"/>
          </a:p>
          <a:p>
            <a:pPr lvl="1"/>
            <a:r>
              <a:rPr lang="zh-CN" altLang="en-US" dirty="0"/>
              <a:t>如果</a:t>
            </a:r>
            <a:r>
              <a:rPr lang="en-US" altLang="zh-CN" dirty="0"/>
              <a:t>I-SPF</a:t>
            </a:r>
            <a:r>
              <a:rPr lang="zh-CN" altLang="en-US" dirty="0"/>
              <a:t>计算后的最短路径树改变，</a:t>
            </a:r>
            <a:r>
              <a:rPr lang="en-US" altLang="zh-CN" dirty="0"/>
              <a:t>PRC</a:t>
            </a:r>
            <a:r>
              <a:rPr lang="zh-CN" altLang="en-US" dirty="0"/>
              <a:t>会只处理那个变化的节点上的所有叶子（路由）。</a:t>
            </a:r>
            <a:endParaRPr lang="en-US" altLang="zh-CN" dirty="0"/>
          </a:p>
          <a:p>
            <a:pPr lvl="1"/>
            <a:r>
              <a:rPr lang="zh-CN" altLang="en-US" dirty="0"/>
              <a:t>如果经过</a:t>
            </a:r>
            <a:r>
              <a:rPr lang="en-US" altLang="zh-CN" dirty="0"/>
              <a:t>I-SPF</a:t>
            </a:r>
            <a:r>
              <a:rPr lang="zh-CN" altLang="en-US" dirty="0"/>
              <a:t>计算后的最短路径树并没有变化，则</a:t>
            </a:r>
            <a:r>
              <a:rPr lang="en-US" altLang="zh-CN" dirty="0"/>
              <a:t>PRC</a:t>
            </a:r>
            <a:r>
              <a:rPr lang="zh-CN" altLang="en-US" dirty="0"/>
              <a:t>只处理变化的叶子信息。比如一个节点使能一个</a:t>
            </a:r>
            <a:r>
              <a:rPr lang="en-US" altLang="zh-CN" dirty="0"/>
              <a:t>IS-IS</a:t>
            </a:r>
            <a:r>
              <a:rPr lang="zh-CN" altLang="en-US" dirty="0"/>
              <a:t>接口，则整个网络拓扑的最短路径树是不变的，这时</a:t>
            </a:r>
            <a:r>
              <a:rPr lang="en-US" altLang="zh-CN" dirty="0"/>
              <a:t>PRC</a:t>
            </a:r>
            <a:r>
              <a:rPr lang="zh-CN" altLang="en-US" dirty="0"/>
              <a:t>只更新这个节点的接口路由，从而节省</a:t>
            </a:r>
            <a:r>
              <a:rPr lang="en-US" altLang="zh-CN" dirty="0"/>
              <a:t>CPU</a:t>
            </a:r>
            <a:r>
              <a:rPr lang="zh-CN" altLang="en-US" dirty="0"/>
              <a:t>占用率。</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[Huawei-isis-1</a:t>
            </a:r>
            <a:r>
              <a:rPr lang="en-US" altLang="zh-CN" b="1" dirty="0"/>
              <a:t>] flash-flood</a:t>
            </a:r>
            <a:r>
              <a:rPr lang="en-US" altLang="zh-CN" dirty="0"/>
              <a:t> [</a:t>
            </a:r>
            <a:r>
              <a:rPr lang="en-US" altLang="zh-CN" i="1" dirty="0"/>
              <a:t> </a:t>
            </a:r>
            <a:r>
              <a:rPr lang="en-US" altLang="zh-CN" i="1" dirty="0" err="1"/>
              <a:t>lsp</a:t>
            </a:r>
            <a:r>
              <a:rPr lang="en-US" altLang="zh-CN" i="1" dirty="0"/>
              <a:t>-count</a:t>
            </a:r>
            <a:r>
              <a:rPr lang="en-US" altLang="zh-CN" dirty="0"/>
              <a:t> | </a:t>
            </a:r>
            <a:r>
              <a:rPr lang="en-US" altLang="zh-CN" b="1" dirty="0"/>
              <a:t>max-timer-interval</a:t>
            </a:r>
            <a:r>
              <a:rPr lang="en-US" altLang="zh-CN" dirty="0"/>
              <a:t> </a:t>
            </a:r>
            <a:r>
              <a:rPr lang="en-US" altLang="zh-CN" i="1" dirty="0"/>
              <a:t>interval</a:t>
            </a:r>
            <a:r>
              <a:rPr lang="en-US" altLang="zh-CN" dirty="0"/>
              <a:t> | [ </a:t>
            </a:r>
            <a:r>
              <a:rPr lang="en-US" altLang="zh-CN" b="1" dirty="0"/>
              <a:t>level-1</a:t>
            </a:r>
            <a:r>
              <a:rPr lang="en-US" altLang="zh-CN" dirty="0"/>
              <a:t> | </a:t>
            </a:r>
            <a:r>
              <a:rPr lang="en-US" altLang="zh-CN" b="1" dirty="0"/>
              <a:t>level-2</a:t>
            </a:r>
            <a:r>
              <a:rPr lang="en-US" altLang="zh-CN" dirty="0"/>
              <a:t> ] ]</a:t>
            </a:r>
            <a:endParaRPr lang="zh-CN" altLang="en-US" dirty="0"/>
          </a:p>
          <a:p>
            <a:pPr lvl="1"/>
            <a:r>
              <a:rPr lang="en-US" altLang="zh-CN" i="1" dirty="0" err="1"/>
              <a:t>lsp</a:t>
            </a:r>
            <a:r>
              <a:rPr lang="en-US" altLang="zh-CN" i="1" dirty="0"/>
              <a:t>-count</a:t>
            </a:r>
            <a:r>
              <a:rPr lang="zh-CN" altLang="en-US" i="1" dirty="0"/>
              <a:t>：</a:t>
            </a:r>
            <a:r>
              <a:rPr lang="zh-CN" altLang="en-US" dirty="0"/>
              <a:t>指定每个接口一次扩散</a:t>
            </a:r>
            <a:r>
              <a:rPr lang="en-US" altLang="zh-CN" dirty="0"/>
              <a:t>LSP</a:t>
            </a:r>
            <a:r>
              <a:rPr lang="zh-CN" altLang="en-US" dirty="0"/>
              <a:t>的最大数量。整数形式，取值范围是</a:t>
            </a:r>
            <a:r>
              <a:rPr lang="en-US" altLang="zh-CN" dirty="0"/>
              <a:t>1</a:t>
            </a:r>
            <a:r>
              <a:rPr lang="zh-CN" altLang="en-US" dirty="0"/>
              <a:t>～</a:t>
            </a:r>
            <a:r>
              <a:rPr lang="en-US" altLang="zh-CN" dirty="0"/>
              <a:t>15</a:t>
            </a:r>
            <a:r>
              <a:rPr lang="zh-CN" altLang="en-US" dirty="0"/>
              <a:t>。缺省值是</a:t>
            </a:r>
            <a:r>
              <a:rPr lang="en-US" altLang="zh-CN" dirty="0"/>
              <a:t>5</a:t>
            </a:r>
            <a:r>
              <a:rPr lang="zh-CN" altLang="en-US" dirty="0"/>
              <a:t>。</a:t>
            </a:r>
            <a:endParaRPr lang="zh-CN" altLang="en-US" dirty="0"/>
          </a:p>
          <a:p>
            <a:pPr lvl="1"/>
            <a:r>
              <a:rPr lang="en-US" altLang="zh-CN" b="1" dirty="0"/>
              <a:t>max-timer-interval</a:t>
            </a:r>
            <a:r>
              <a:rPr lang="en-US" altLang="zh-CN" dirty="0"/>
              <a:t> </a:t>
            </a:r>
            <a:r>
              <a:rPr lang="en-US" altLang="zh-CN" i="1" dirty="0"/>
              <a:t>interval</a:t>
            </a:r>
            <a:r>
              <a:rPr lang="zh-CN" altLang="en-US" i="1" dirty="0"/>
              <a:t>：</a:t>
            </a:r>
            <a:r>
              <a:rPr lang="zh-CN" altLang="en-US" dirty="0"/>
              <a:t>指定</a:t>
            </a:r>
            <a:r>
              <a:rPr lang="en-US" altLang="zh-CN" dirty="0"/>
              <a:t>LSP</a:t>
            </a:r>
            <a:r>
              <a:rPr lang="zh-CN" altLang="en-US" dirty="0"/>
              <a:t>扩散的最大间隔时间。整数形式，取值范围是</a:t>
            </a:r>
            <a:r>
              <a:rPr lang="en-US" altLang="zh-CN" dirty="0"/>
              <a:t>10</a:t>
            </a:r>
            <a:r>
              <a:rPr lang="zh-CN" altLang="en-US" dirty="0"/>
              <a:t>～</a:t>
            </a:r>
            <a:r>
              <a:rPr lang="en-US" altLang="zh-CN" dirty="0"/>
              <a:t>50000</a:t>
            </a:r>
            <a:r>
              <a:rPr lang="zh-CN" altLang="en-US" dirty="0"/>
              <a:t>，单位是毫秒。缺省值是</a:t>
            </a:r>
            <a:r>
              <a:rPr lang="en-US" altLang="zh-CN" dirty="0"/>
              <a:t>10</a:t>
            </a:r>
            <a:r>
              <a:rPr lang="zh-CN" altLang="en-US" dirty="0"/>
              <a:t>毫秒。</a:t>
            </a:r>
            <a:endParaRPr lang="zh-CN" altLang="en-US" dirty="0"/>
          </a:p>
          <a:p>
            <a:pPr lvl="1"/>
            <a:r>
              <a:rPr lang="en-US" altLang="zh-CN" b="1" dirty="0"/>
              <a:t>level-1</a:t>
            </a:r>
            <a:r>
              <a:rPr lang="zh-CN" altLang="en-US" b="1" dirty="0"/>
              <a:t>：</a:t>
            </a:r>
            <a:r>
              <a:rPr lang="zh-CN" altLang="en-US" dirty="0"/>
              <a:t>表示在</a:t>
            </a:r>
            <a:r>
              <a:rPr lang="en-US" altLang="zh-CN" dirty="0"/>
              <a:t>Level-1</a:t>
            </a:r>
            <a:r>
              <a:rPr lang="zh-CN" altLang="en-US" dirty="0"/>
              <a:t>中使能此特性。如果命令中没有指定级别，则缺省同时在</a:t>
            </a:r>
            <a:r>
              <a:rPr lang="en-US" altLang="zh-CN" dirty="0"/>
              <a:t>Level-1</a:t>
            </a:r>
            <a:r>
              <a:rPr lang="zh-CN" altLang="en-US" dirty="0"/>
              <a:t>和</a:t>
            </a:r>
            <a:r>
              <a:rPr lang="en-US" altLang="zh-CN" dirty="0"/>
              <a:t>Level-2</a:t>
            </a:r>
            <a:r>
              <a:rPr lang="zh-CN" altLang="en-US" dirty="0"/>
              <a:t>中使能此功能。</a:t>
            </a:r>
            <a:endParaRPr lang="en-US" altLang="zh-CN" dirty="0"/>
          </a:p>
          <a:p>
            <a:pPr lvl="1"/>
            <a:r>
              <a:rPr lang="en-US" altLang="zh-CN" b="1" dirty="0"/>
              <a:t>level-2</a:t>
            </a:r>
            <a:r>
              <a:rPr lang="zh-CN" altLang="en-US" b="1" dirty="0"/>
              <a:t>：</a:t>
            </a:r>
            <a:r>
              <a:rPr lang="zh-CN" altLang="en-US" dirty="0"/>
              <a:t>表示在</a:t>
            </a:r>
            <a:r>
              <a:rPr lang="en-US" altLang="zh-CN" dirty="0"/>
              <a:t>Level-2</a:t>
            </a:r>
            <a:r>
              <a:rPr lang="zh-CN" altLang="en-US" dirty="0"/>
              <a:t>中使能此特性。如果命令中没有指定级别，则缺省同时在</a:t>
            </a:r>
            <a:r>
              <a:rPr lang="en-US" altLang="zh-CN" dirty="0"/>
              <a:t>Level-1</a:t>
            </a:r>
            <a:r>
              <a:rPr lang="zh-CN" altLang="en-US" dirty="0"/>
              <a:t>和</a:t>
            </a:r>
            <a:r>
              <a:rPr lang="en-US" altLang="zh-CN" dirty="0"/>
              <a:t>Level-2</a:t>
            </a:r>
            <a:r>
              <a:rPr lang="zh-CN" altLang="en-US" dirty="0"/>
              <a:t>中使能此功能。</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本课程只介绍等价路由和缺省路由，其他内容请参考</a:t>
            </a:r>
            <a:r>
              <a:rPr lang="en-US" altLang="zh-CN"/>
              <a:t>《HCIP-Datacom-Core Technology》</a:t>
            </a:r>
            <a:r>
              <a:rPr lang="zh-CN" altLang="en-US"/>
              <a:t>课程。</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[Huawei-isis-1] </a:t>
            </a:r>
            <a:r>
              <a:rPr lang="en-US" altLang="zh-CN" b="1" dirty="0"/>
              <a:t>maximum load-balancing</a:t>
            </a:r>
            <a:r>
              <a:rPr lang="en-US" altLang="zh-CN" i="1" dirty="0"/>
              <a:t> number</a:t>
            </a:r>
            <a:endParaRPr lang="zh-CN" altLang="en-US" i="1" dirty="0"/>
          </a:p>
          <a:p>
            <a:pPr lvl="1"/>
            <a:r>
              <a:rPr lang="en-US" altLang="zh-CN" i="1" dirty="0"/>
              <a:t>number</a:t>
            </a:r>
            <a:r>
              <a:rPr lang="zh-CN" altLang="en-US" i="1" dirty="0"/>
              <a:t>：</a:t>
            </a:r>
            <a:r>
              <a:rPr lang="zh-CN" altLang="en-US" dirty="0"/>
              <a:t>指定在负载分担方式下等价路由的最大数量。不同设备型号取值不同。</a:t>
            </a:r>
            <a:endParaRPr lang="en-US" altLang="zh-CN" dirty="0"/>
          </a:p>
          <a:p>
            <a:pPr lvl="0"/>
            <a:r>
              <a:rPr lang="zh-CN" altLang="en-US" dirty="0"/>
              <a:t>命令：</a:t>
            </a:r>
            <a:r>
              <a:rPr lang="en-US" altLang="zh-CN" dirty="0"/>
              <a:t>[Huawei-isis-1] </a:t>
            </a:r>
            <a:r>
              <a:rPr lang="en-US" altLang="zh-CN" b="1" dirty="0" err="1"/>
              <a:t>nexthop</a:t>
            </a:r>
            <a:r>
              <a:rPr lang="en-US" altLang="zh-CN" dirty="0"/>
              <a:t> </a:t>
            </a:r>
            <a:r>
              <a:rPr lang="en-US" altLang="zh-CN" i="1" dirty="0" err="1"/>
              <a:t>ip</a:t>
            </a:r>
            <a:r>
              <a:rPr lang="en-US" altLang="zh-CN" i="1" dirty="0"/>
              <a:t>-address</a:t>
            </a:r>
            <a:r>
              <a:rPr lang="en-US" altLang="zh-CN" dirty="0"/>
              <a:t> </a:t>
            </a:r>
            <a:r>
              <a:rPr lang="en-US" altLang="zh-CN" b="1" dirty="0"/>
              <a:t>weight</a:t>
            </a:r>
            <a:r>
              <a:rPr lang="en-US" altLang="zh-CN" dirty="0"/>
              <a:t> </a:t>
            </a:r>
            <a:r>
              <a:rPr lang="en-US" altLang="zh-CN" i="1" dirty="0"/>
              <a:t>value</a:t>
            </a:r>
            <a:endParaRPr lang="zh-CN" altLang="en-US" i="1" dirty="0"/>
          </a:p>
          <a:p>
            <a:pPr lvl="1"/>
            <a:r>
              <a:rPr lang="en-US" altLang="zh-CN" i="1" dirty="0" err="1"/>
              <a:t>ip</a:t>
            </a:r>
            <a:r>
              <a:rPr lang="en-US" altLang="zh-CN" i="1" dirty="0"/>
              <a:t>-address</a:t>
            </a:r>
            <a:r>
              <a:rPr lang="zh-CN" altLang="en-US" i="1" dirty="0"/>
              <a:t>：</a:t>
            </a:r>
            <a:r>
              <a:rPr lang="zh-CN" altLang="en-US" dirty="0"/>
              <a:t>指定下一跳的</a:t>
            </a:r>
            <a:r>
              <a:rPr lang="en-US" altLang="zh-CN" dirty="0"/>
              <a:t>IP</a:t>
            </a:r>
            <a:r>
              <a:rPr lang="zh-CN" altLang="en-US" dirty="0"/>
              <a:t>地址。点分十进制格式。</a:t>
            </a:r>
            <a:endParaRPr lang="zh-CN" altLang="en-US" dirty="0"/>
          </a:p>
          <a:p>
            <a:pPr lvl="1"/>
            <a:r>
              <a:rPr lang="en-US" altLang="zh-CN" b="1" dirty="0"/>
              <a:t>weight </a:t>
            </a:r>
            <a:r>
              <a:rPr lang="en-US" altLang="zh-CN" i="1" dirty="0"/>
              <a:t>value</a:t>
            </a:r>
            <a:r>
              <a:rPr lang="zh-CN" altLang="en-US" i="1" dirty="0"/>
              <a:t>：</a:t>
            </a:r>
            <a:r>
              <a:rPr lang="zh-CN" altLang="en-US" dirty="0"/>
              <a:t>指定下一跳权重。</a:t>
            </a:r>
            <a:r>
              <a:rPr lang="en-US" altLang="zh-CN" i="1" dirty="0"/>
              <a:t>value</a:t>
            </a:r>
            <a:r>
              <a:rPr lang="zh-CN" altLang="en-US" dirty="0"/>
              <a:t>越小则优先级越高。</a:t>
            </a:r>
            <a:r>
              <a:rPr lang="en-US" altLang="zh-CN" i="1" dirty="0"/>
              <a:t>value</a:t>
            </a:r>
            <a:r>
              <a:rPr lang="zh-CN" altLang="en-US" dirty="0"/>
              <a:t>是整数形式，取值范围是</a:t>
            </a:r>
            <a:r>
              <a:rPr lang="en-US" altLang="zh-CN" dirty="0"/>
              <a:t>1</a:t>
            </a:r>
            <a:r>
              <a:rPr lang="zh-CN" altLang="en-US" dirty="0"/>
              <a:t>～</a:t>
            </a:r>
            <a:r>
              <a:rPr lang="en-US" altLang="zh-CN" dirty="0"/>
              <a:t>254</a:t>
            </a:r>
            <a:r>
              <a:rPr lang="zh-CN" altLang="en-US" dirty="0"/>
              <a:t>。</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[Huawei-isis-1] </a:t>
            </a:r>
            <a:r>
              <a:rPr lang="en-US" altLang="zh-CN" b="1" dirty="0"/>
              <a:t>attached-bit advertise</a:t>
            </a:r>
            <a:r>
              <a:rPr lang="en-US" altLang="zh-CN" dirty="0"/>
              <a:t> { </a:t>
            </a:r>
            <a:r>
              <a:rPr lang="en-US" altLang="zh-CN" b="1" dirty="0"/>
              <a:t>always | never</a:t>
            </a:r>
            <a:r>
              <a:rPr lang="en-US" altLang="zh-CN" dirty="0"/>
              <a:t> }</a:t>
            </a:r>
            <a:endParaRPr lang="zh-CN" altLang="en-US" dirty="0"/>
          </a:p>
          <a:p>
            <a:pPr lvl="1"/>
            <a:r>
              <a:rPr lang="en-US" altLang="zh-CN" b="1" dirty="0"/>
              <a:t>always</a:t>
            </a:r>
            <a:r>
              <a:rPr lang="zh-CN" altLang="en-US" b="1" dirty="0"/>
              <a:t>：</a:t>
            </a:r>
            <a:r>
              <a:rPr lang="zh-CN" altLang="en-US" dirty="0"/>
              <a:t>指定</a:t>
            </a:r>
            <a:r>
              <a:rPr lang="en-US" altLang="zh-CN" dirty="0"/>
              <a:t>ATT</a:t>
            </a:r>
            <a:r>
              <a:rPr lang="zh-CN" altLang="en-US" dirty="0"/>
              <a:t>位永远置位，收到该</a:t>
            </a:r>
            <a:r>
              <a:rPr lang="en-US" altLang="zh-CN" dirty="0"/>
              <a:t>LSP</a:t>
            </a:r>
            <a:r>
              <a:rPr lang="zh-CN" altLang="en-US" dirty="0"/>
              <a:t>的</a:t>
            </a:r>
            <a:r>
              <a:rPr lang="en-US" altLang="zh-CN" dirty="0"/>
              <a:t>Level-1</a:t>
            </a:r>
            <a:r>
              <a:rPr lang="zh-CN" altLang="en-US" dirty="0"/>
              <a:t>设备会生成缺省路由。</a:t>
            </a:r>
            <a:endParaRPr lang="en-US" altLang="zh-CN" dirty="0"/>
          </a:p>
          <a:p>
            <a:pPr lvl="1"/>
            <a:r>
              <a:rPr lang="en-US" altLang="zh-CN" b="1" dirty="0"/>
              <a:t>never</a:t>
            </a:r>
            <a:r>
              <a:rPr lang="zh-CN" altLang="en-US" b="1" dirty="0"/>
              <a:t>：</a:t>
            </a:r>
            <a:r>
              <a:rPr lang="zh-CN" altLang="en-US" dirty="0"/>
              <a:t>指定</a:t>
            </a:r>
            <a:r>
              <a:rPr lang="en-US" altLang="zh-CN" dirty="0"/>
              <a:t>ATT</a:t>
            </a:r>
            <a:r>
              <a:rPr lang="zh-CN" altLang="en-US" dirty="0"/>
              <a:t>位永不置位，可以避免</a:t>
            </a:r>
            <a:r>
              <a:rPr lang="en-US" altLang="zh-CN" dirty="0"/>
              <a:t>Level-1</a:t>
            </a:r>
            <a:r>
              <a:rPr lang="zh-CN" altLang="en-US" dirty="0"/>
              <a:t>设备生成缺省路由，减小路由表的规模。</a:t>
            </a:r>
            <a:endParaRPr lang="en-US" altLang="zh-CN" dirty="0"/>
          </a:p>
          <a:p>
            <a:pPr lvl="1"/>
            <a:r>
              <a:rPr lang="zh-CN" altLang="en-US" dirty="0"/>
              <a:t>虽然</a:t>
            </a:r>
            <a:r>
              <a:rPr lang="en-US" altLang="zh-CN" dirty="0"/>
              <a:t>ATT</a:t>
            </a:r>
            <a:r>
              <a:rPr lang="zh-CN" altLang="en-US" dirty="0"/>
              <a:t>位同时在</a:t>
            </a:r>
            <a:r>
              <a:rPr lang="en-US" altLang="zh-CN" dirty="0"/>
              <a:t>Level-1 LSP</a:t>
            </a:r>
            <a:r>
              <a:rPr lang="zh-CN" altLang="en-US" dirty="0"/>
              <a:t>和</a:t>
            </a:r>
            <a:r>
              <a:rPr lang="en-US" altLang="zh-CN" dirty="0"/>
              <a:t>Level-2 LSP</a:t>
            </a:r>
            <a:r>
              <a:rPr lang="zh-CN" altLang="en-US" dirty="0"/>
              <a:t>中进行了定义，但是它只会在</a:t>
            </a:r>
            <a:r>
              <a:rPr lang="en-US" altLang="zh-CN" dirty="0"/>
              <a:t>Level-1 LSP</a:t>
            </a:r>
            <a:r>
              <a:rPr lang="zh-CN" altLang="en-US" dirty="0"/>
              <a:t>中被置位，并且只有</a:t>
            </a:r>
            <a:r>
              <a:rPr lang="en-US" altLang="zh-CN" dirty="0"/>
              <a:t>Level-1-2</a:t>
            </a:r>
            <a:r>
              <a:rPr lang="zh-CN" altLang="en-US" dirty="0"/>
              <a:t>设备会设置这个字段，因此，该命令仅对</a:t>
            </a:r>
            <a:r>
              <a:rPr lang="en-US" altLang="zh-CN" dirty="0"/>
              <a:t>Level-1-2</a:t>
            </a:r>
            <a:r>
              <a:rPr lang="zh-CN" altLang="en-US" dirty="0"/>
              <a:t>设备生效。</a:t>
            </a:r>
            <a:endParaRPr lang="en-US" altLang="zh-CN" dirty="0"/>
          </a:p>
          <a:p>
            <a:pPr lvl="0"/>
            <a:r>
              <a:rPr lang="zh-CN" altLang="en-US" dirty="0"/>
              <a:t>配置</a:t>
            </a:r>
            <a:r>
              <a:rPr lang="en-US" altLang="zh-CN" dirty="0"/>
              <a:t>Level-1</a:t>
            </a:r>
            <a:r>
              <a:rPr lang="zh-CN" altLang="en-US" dirty="0"/>
              <a:t>设备不将缺省路由下发到路由表，有以下两种方式可以实现：</a:t>
            </a:r>
            <a:endParaRPr lang="zh-CN" altLang="en-US" dirty="0"/>
          </a:p>
          <a:p>
            <a:pPr lvl="1"/>
            <a:r>
              <a:rPr lang="zh-CN" altLang="en-US" dirty="0"/>
              <a:t>在</a:t>
            </a:r>
            <a:r>
              <a:rPr lang="en-US" altLang="zh-CN" dirty="0"/>
              <a:t>Level-1-2</a:t>
            </a:r>
            <a:r>
              <a:rPr lang="zh-CN" altLang="en-US" dirty="0"/>
              <a:t>设备上配置</a:t>
            </a:r>
            <a:r>
              <a:rPr lang="en-US" altLang="zh-CN" b="1" dirty="0"/>
              <a:t>attached-bit advertise never</a:t>
            </a:r>
            <a:r>
              <a:rPr lang="zh-CN" altLang="en-US" dirty="0"/>
              <a:t>命令，使得其不会发布</a:t>
            </a:r>
            <a:r>
              <a:rPr lang="en-US" altLang="zh-CN" dirty="0"/>
              <a:t>ATT</a:t>
            </a:r>
            <a:r>
              <a:rPr lang="zh-CN" altLang="en-US" dirty="0"/>
              <a:t>位置位的</a:t>
            </a:r>
            <a:r>
              <a:rPr lang="en-US" altLang="zh-CN" dirty="0"/>
              <a:t>LSP</a:t>
            </a:r>
            <a:r>
              <a:rPr lang="zh-CN" altLang="en-US" dirty="0"/>
              <a:t>。</a:t>
            </a:r>
            <a:endParaRPr lang="zh-CN" altLang="en-US" dirty="0"/>
          </a:p>
          <a:p>
            <a:pPr lvl="1"/>
            <a:r>
              <a:rPr lang="zh-CN" altLang="en-US" dirty="0"/>
              <a:t>在与</a:t>
            </a:r>
            <a:r>
              <a:rPr lang="en-US" altLang="zh-CN" dirty="0"/>
              <a:t>Level-1-2</a:t>
            </a:r>
            <a:r>
              <a:rPr lang="zh-CN" altLang="en-US" dirty="0"/>
              <a:t>设备相连的</a:t>
            </a:r>
            <a:r>
              <a:rPr lang="en-US" altLang="zh-CN" dirty="0"/>
              <a:t>Level-1</a:t>
            </a:r>
            <a:r>
              <a:rPr lang="zh-CN" altLang="en-US" dirty="0"/>
              <a:t>设备上配置</a:t>
            </a:r>
            <a:r>
              <a:rPr lang="en-US" altLang="zh-CN" b="1" dirty="0"/>
              <a:t>attached-bit avoid-learning</a:t>
            </a:r>
            <a:r>
              <a:rPr lang="zh-CN" altLang="en-US" dirty="0"/>
              <a:t>命令。</a:t>
            </a:r>
            <a:endParaRPr lang="zh-CN" altLang="en-US" dirty="0"/>
          </a:p>
          <a:p>
            <a:pPr lvl="1"/>
            <a:r>
              <a:rPr lang="zh-CN" altLang="en-US" dirty="0"/>
              <a:t>其中，</a:t>
            </a:r>
            <a:r>
              <a:rPr lang="en-US" altLang="zh-CN" b="1" dirty="0"/>
              <a:t>attached-bit avoid-learning</a:t>
            </a:r>
            <a:r>
              <a:rPr lang="zh-CN" altLang="en-US" dirty="0"/>
              <a:t>命令适用于需要针对指定设备配置的情况。</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命令：</a:t>
            </a:r>
            <a:r>
              <a:rPr lang="en-US" altLang="zh-CN" dirty="0"/>
              <a:t>[Huawei-isis-1] </a:t>
            </a:r>
            <a:r>
              <a:rPr lang="en-US" altLang="zh-CN" b="1" dirty="0"/>
              <a:t>default-route-advertise</a:t>
            </a:r>
            <a:r>
              <a:rPr lang="en-US" altLang="zh-CN" dirty="0"/>
              <a:t> [ </a:t>
            </a:r>
            <a:r>
              <a:rPr lang="en-US" altLang="zh-CN" b="1" dirty="0"/>
              <a:t>always | match default</a:t>
            </a:r>
            <a:r>
              <a:rPr lang="en-US" altLang="zh-CN" dirty="0"/>
              <a:t> | </a:t>
            </a:r>
            <a:r>
              <a:rPr lang="en-US" altLang="zh-CN" b="1" dirty="0"/>
              <a:t>route-policy</a:t>
            </a:r>
            <a:r>
              <a:rPr lang="en-US" altLang="zh-CN" dirty="0"/>
              <a:t> </a:t>
            </a:r>
            <a:r>
              <a:rPr lang="en-US" altLang="zh-CN" i="1" dirty="0"/>
              <a:t>route-policy-name </a:t>
            </a:r>
            <a:r>
              <a:rPr lang="en-US" altLang="zh-CN" dirty="0"/>
              <a:t>] [ </a:t>
            </a:r>
            <a:r>
              <a:rPr lang="en-US" altLang="zh-CN" b="1" dirty="0"/>
              <a:t>cost</a:t>
            </a:r>
            <a:r>
              <a:rPr lang="en-US" altLang="zh-CN" i="1" dirty="0"/>
              <a:t> </a:t>
            </a:r>
            <a:r>
              <a:rPr lang="en-US" altLang="zh-CN" i="1" dirty="0" err="1"/>
              <a:t>cost</a:t>
            </a:r>
            <a:r>
              <a:rPr lang="en-US" altLang="zh-CN" dirty="0"/>
              <a:t> | </a:t>
            </a:r>
            <a:r>
              <a:rPr lang="en-US" altLang="zh-CN" b="1" dirty="0"/>
              <a:t>tag</a:t>
            </a:r>
            <a:r>
              <a:rPr lang="en-US" altLang="zh-CN" dirty="0"/>
              <a:t> </a:t>
            </a:r>
            <a:r>
              <a:rPr lang="en-US" altLang="zh-CN" i="1" dirty="0" err="1"/>
              <a:t>tag</a:t>
            </a:r>
            <a:r>
              <a:rPr lang="en-US" altLang="zh-CN" dirty="0"/>
              <a:t> | [ </a:t>
            </a:r>
            <a:r>
              <a:rPr lang="en-US" altLang="zh-CN" b="1" dirty="0"/>
              <a:t>level-1 | level-1-2 | level-2 </a:t>
            </a:r>
            <a:r>
              <a:rPr lang="en-US" altLang="zh-CN" dirty="0"/>
              <a:t>] ] [ </a:t>
            </a:r>
            <a:r>
              <a:rPr lang="en-US" altLang="zh-CN" b="1" dirty="0"/>
              <a:t>avoid-learning</a:t>
            </a:r>
            <a:r>
              <a:rPr lang="en-US" altLang="zh-CN" dirty="0"/>
              <a:t> ]</a:t>
            </a:r>
            <a:endParaRPr lang="zh-CN" altLang="en-US" dirty="0"/>
          </a:p>
          <a:p>
            <a:pPr lvl="1"/>
            <a:r>
              <a:rPr lang="en-US" altLang="zh-CN" b="1" dirty="0"/>
              <a:t>always</a:t>
            </a:r>
            <a:r>
              <a:rPr lang="zh-CN" altLang="en-US" b="1" dirty="0"/>
              <a:t>：</a:t>
            </a:r>
            <a:r>
              <a:rPr lang="zh-CN" altLang="en-US" dirty="0"/>
              <a:t>指定设备无条件的发布缺省路由，且发布的缺省路由中将自己作为下一跳。</a:t>
            </a:r>
            <a:endParaRPr lang="en-US" altLang="zh-CN" dirty="0"/>
          </a:p>
          <a:p>
            <a:pPr lvl="1"/>
            <a:r>
              <a:rPr lang="en-US" altLang="zh-CN" b="1" dirty="0"/>
              <a:t>match default</a:t>
            </a:r>
            <a:r>
              <a:rPr lang="zh-CN" altLang="en-US" b="1" dirty="0"/>
              <a:t>：</a:t>
            </a:r>
            <a:r>
              <a:rPr lang="zh-CN" altLang="en-US" dirty="0"/>
              <a:t>如果在路由表中存在其他路由协议或其它</a:t>
            </a:r>
            <a:r>
              <a:rPr lang="en-US" altLang="zh-CN" dirty="0"/>
              <a:t>IS-IS</a:t>
            </a:r>
            <a:r>
              <a:rPr lang="zh-CN" altLang="en-US" dirty="0"/>
              <a:t>进程生成的缺省路由，则在</a:t>
            </a:r>
            <a:r>
              <a:rPr lang="en-US" altLang="zh-CN" dirty="0"/>
              <a:t>LSP</a:t>
            </a:r>
            <a:r>
              <a:rPr lang="zh-CN" altLang="en-US" dirty="0"/>
              <a:t>中发布该缺省路由。</a:t>
            </a:r>
            <a:endParaRPr lang="en-US" altLang="zh-CN" dirty="0"/>
          </a:p>
          <a:p>
            <a:pPr lvl="1"/>
            <a:r>
              <a:rPr lang="en-US" altLang="zh-CN" b="1" dirty="0"/>
              <a:t>route-policy</a:t>
            </a:r>
            <a:r>
              <a:rPr lang="en-US" altLang="zh-CN" dirty="0"/>
              <a:t> </a:t>
            </a:r>
            <a:r>
              <a:rPr lang="en-US" altLang="zh-CN" i="1" dirty="0"/>
              <a:t>route-policy-name</a:t>
            </a:r>
            <a:r>
              <a:rPr lang="zh-CN" altLang="en-US" i="1" dirty="0"/>
              <a:t>：</a:t>
            </a:r>
            <a:r>
              <a:rPr lang="zh-CN" altLang="en-US" dirty="0"/>
              <a:t>指定路由策略名称。当该边界设备的路由表中存在满足路由策略的外部路由时，才向</a:t>
            </a:r>
            <a:r>
              <a:rPr lang="en-US" altLang="zh-CN" dirty="0"/>
              <a:t>IS-IS</a:t>
            </a:r>
            <a:r>
              <a:rPr lang="zh-CN" altLang="en-US" dirty="0"/>
              <a:t>域发布缺省路由，避免由于链路故障等原因造成该设备已经不存在某些重要的外部路由时，仍然发布缺省路由从而造成路由黑洞。此处的路由策略不影响</a:t>
            </a:r>
            <a:r>
              <a:rPr lang="en-US" altLang="zh-CN" dirty="0"/>
              <a:t>IS-IS</a:t>
            </a:r>
            <a:r>
              <a:rPr lang="zh-CN" altLang="en-US" dirty="0"/>
              <a:t>引入外部路由。字符串形式，区分大小写，不支持空格，长度范围是</a:t>
            </a:r>
            <a:r>
              <a:rPr lang="en-US" altLang="zh-CN" dirty="0"/>
              <a:t>1</a:t>
            </a:r>
            <a:r>
              <a:rPr lang="zh-CN" altLang="en-US" dirty="0"/>
              <a:t>～</a:t>
            </a:r>
            <a:r>
              <a:rPr lang="en-US" altLang="zh-CN" dirty="0"/>
              <a:t>40</a:t>
            </a:r>
            <a:r>
              <a:rPr lang="zh-CN" altLang="en-US" dirty="0"/>
              <a:t>。当输入的字符串两端使用双引号时，可在字符串中输入空格。</a:t>
            </a:r>
            <a:endParaRPr lang="en-US" altLang="zh-CN" dirty="0"/>
          </a:p>
          <a:p>
            <a:pPr lvl="1"/>
            <a:r>
              <a:rPr lang="en-US" altLang="zh-CN" b="1" dirty="0"/>
              <a:t>cost</a:t>
            </a:r>
            <a:r>
              <a:rPr lang="en-US" altLang="zh-CN" dirty="0"/>
              <a:t> </a:t>
            </a:r>
            <a:r>
              <a:rPr lang="en-US" altLang="zh-CN" i="1" dirty="0" err="1"/>
              <a:t>cost</a:t>
            </a:r>
            <a:r>
              <a:rPr lang="zh-CN" altLang="en-US" i="1" dirty="0"/>
              <a:t>：</a:t>
            </a:r>
            <a:r>
              <a:rPr lang="zh-CN" altLang="en-US" dirty="0"/>
              <a:t>指定缺省路由的开销值。整数形式。取值范围根据</a:t>
            </a:r>
            <a:r>
              <a:rPr lang="en-US" altLang="zh-CN" dirty="0"/>
              <a:t>cost-style</a:t>
            </a:r>
            <a:r>
              <a:rPr lang="zh-CN" altLang="en-US" dirty="0"/>
              <a:t>而定：当</a:t>
            </a:r>
            <a:r>
              <a:rPr lang="en-US" altLang="zh-CN" dirty="0"/>
              <a:t>cost-style</a:t>
            </a:r>
            <a:r>
              <a:rPr lang="zh-CN" altLang="en-US" dirty="0"/>
              <a:t>为</a:t>
            </a:r>
            <a:r>
              <a:rPr lang="en-US" altLang="zh-CN" dirty="0"/>
              <a:t>narrow</a:t>
            </a:r>
            <a:r>
              <a:rPr lang="zh-CN" altLang="en-US" dirty="0"/>
              <a:t>、</a:t>
            </a:r>
            <a:r>
              <a:rPr lang="en-US" altLang="zh-CN" dirty="0"/>
              <a:t>narrow-compatible</a:t>
            </a:r>
            <a:r>
              <a:rPr lang="zh-CN" altLang="en-US" dirty="0"/>
              <a:t>或</a:t>
            </a:r>
            <a:r>
              <a:rPr lang="en-US" altLang="zh-CN" dirty="0"/>
              <a:t>compatible</a:t>
            </a:r>
            <a:r>
              <a:rPr lang="zh-CN" altLang="en-US" dirty="0"/>
              <a:t>时，取值范围是</a:t>
            </a:r>
            <a:r>
              <a:rPr lang="en-US" altLang="zh-CN" dirty="0"/>
              <a:t>0</a:t>
            </a:r>
            <a:r>
              <a:rPr lang="zh-CN" altLang="en-US" dirty="0"/>
              <a:t>～</a:t>
            </a:r>
            <a:r>
              <a:rPr lang="en-US" altLang="zh-CN" dirty="0"/>
              <a:t>63</a:t>
            </a:r>
            <a:r>
              <a:rPr lang="zh-CN" altLang="en-US" dirty="0"/>
              <a:t>；当</a:t>
            </a:r>
            <a:r>
              <a:rPr lang="en-US" altLang="zh-CN" dirty="0"/>
              <a:t>cost-style</a:t>
            </a:r>
            <a:r>
              <a:rPr lang="zh-CN" altLang="en-US" dirty="0"/>
              <a:t>为</a:t>
            </a:r>
            <a:r>
              <a:rPr lang="en-US" altLang="zh-CN" dirty="0"/>
              <a:t>wide</a:t>
            </a:r>
            <a:r>
              <a:rPr lang="zh-CN" altLang="en-US" dirty="0"/>
              <a:t>或</a:t>
            </a:r>
            <a:r>
              <a:rPr lang="en-US" altLang="zh-CN" dirty="0"/>
              <a:t>wide-compatible</a:t>
            </a:r>
            <a:r>
              <a:rPr lang="zh-CN" altLang="en-US" dirty="0"/>
              <a:t>时，取值范围是</a:t>
            </a:r>
            <a:r>
              <a:rPr lang="en-US" altLang="zh-CN" dirty="0"/>
              <a:t>0</a:t>
            </a:r>
            <a:r>
              <a:rPr lang="zh-CN" altLang="en-US" dirty="0"/>
              <a:t>～</a:t>
            </a:r>
            <a:r>
              <a:rPr lang="en-US" altLang="zh-CN" dirty="0"/>
              <a:t>4261412864</a:t>
            </a:r>
            <a:r>
              <a:rPr lang="zh-CN" altLang="en-US" dirty="0"/>
              <a:t>。</a:t>
            </a:r>
            <a:endParaRPr lang="zh-CN" altLang="en-US" dirty="0"/>
          </a:p>
          <a:p>
            <a:pPr lvl="1"/>
            <a:r>
              <a:rPr lang="en-US" altLang="zh-CN" b="1" dirty="0"/>
              <a:t>tag </a:t>
            </a:r>
            <a:r>
              <a:rPr lang="en-US" altLang="zh-CN" i="1" dirty="0" err="1"/>
              <a:t>tag</a:t>
            </a:r>
            <a:r>
              <a:rPr lang="zh-CN" altLang="en-US" i="1" dirty="0"/>
              <a:t>：</a:t>
            </a:r>
            <a:r>
              <a:rPr lang="zh-CN" altLang="en-US" dirty="0"/>
              <a:t>指定发布的缺省路由的标记值。只有当</a:t>
            </a:r>
            <a:r>
              <a:rPr lang="en-US" altLang="zh-CN" dirty="0"/>
              <a:t>IS-IS</a:t>
            </a:r>
            <a:r>
              <a:rPr lang="zh-CN" altLang="en-US" dirty="0"/>
              <a:t>的开销类型为</a:t>
            </a:r>
            <a:r>
              <a:rPr lang="en-US" altLang="zh-CN" dirty="0"/>
              <a:t>wide</a:t>
            </a:r>
            <a:r>
              <a:rPr lang="zh-CN" altLang="en-US" dirty="0"/>
              <a:t>、</a:t>
            </a:r>
            <a:r>
              <a:rPr lang="en-US" altLang="zh-CN" dirty="0"/>
              <a:t>wide-compatible</a:t>
            </a:r>
            <a:r>
              <a:rPr lang="zh-CN" altLang="en-US" dirty="0"/>
              <a:t>或</a:t>
            </a:r>
            <a:r>
              <a:rPr lang="en-US" altLang="zh-CN" dirty="0"/>
              <a:t>compatible</a:t>
            </a:r>
            <a:r>
              <a:rPr lang="zh-CN" altLang="en-US" dirty="0"/>
              <a:t>时，发布的</a:t>
            </a:r>
            <a:r>
              <a:rPr lang="en-US" altLang="zh-CN" dirty="0"/>
              <a:t>LSP</a:t>
            </a:r>
            <a:r>
              <a:rPr lang="zh-CN" altLang="en-US" dirty="0"/>
              <a:t>中才会携带</a:t>
            </a:r>
            <a:r>
              <a:rPr lang="en-US" altLang="zh-CN" dirty="0"/>
              <a:t>tag</a:t>
            </a:r>
            <a:r>
              <a:rPr lang="zh-CN" altLang="en-US" dirty="0"/>
              <a:t>值。整数形式，取值范围为</a:t>
            </a:r>
            <a:r>
              <a:rPr lang="en-US" altLang="zh-CN" dirty="0"/>
              <a:t>1</a:t>
            </a:r>
            <a:r>
              <a:rPr lang="zh-CN" altLang="en-US" dirty="0"/>
              <a:t>～</a:t>
            </a:r>
            <a:r>
              <a:rPr lang="en-US" altLang="zh-CN" dirty="0"/>
              <a:t>4294967295</a:t>
            </a:r>
            <a:r>
              <a:rPr lang="zh-CN" altLang="en-US" dirty="0"/>
              <a:t>。</a:t>
            </a:r>
            <a:endParaRPr lang="zh-CN" altLang="en-US" dirty="0"/>
          </a:p>
          <a:p>
            <a:pPr lvl="0"/>
            <a:endParaRPr lang="zh-CN" altLang="en-US"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en-US" altLang="zh-CN" b="1" dirty="0"/>
              <a:t>level-1</a:t>
            </a:r>
            <a:r>
              <a:rPr lang="zh-CN" altLang="en-US" b="1" dirty="0"/>
              <a:t>：</a:t>
            </a:r>
            <a:r>
              <a:rPr lang="zh-CN" altLang="en-US" dirty="0"/>
              <a:t>指定发布的缺省路由级别为</a:t>
            </a:r>
            <a:r>
              <a:rPr lang="en-US" altLang="zh-CN" dirty="0"/>
              <a:t>Level-1</a:t>
            </a:r>
            <a:r>
              <a:rPr lang="zh-CN" altLang="en-US" dirty="0"/>
              <a:t>。如果不指定级别，则默认为生成</a:t>
            </a:r>
            <a:r>
              <a:rPr lang="en-US" altLang="zh-CN" dirty="0"/>
              <a:t>Level-2</a:t>
            </a:r>
            <a:r>
              <a:rPr lang="zh-CN" altLang="en-US" dirty="0"/>
              <a:t>级别的缺省路由。</a:t>
            </a:r>
            <a:endParaRPr lang="en-US" altLang="zh-CN" dirty="0"/>
          </a:p>
          <a:p>
            <a:pPr lvl="1"/>
            <a:r>
              <a:rPr lang="en-US" altLang="zh-CN" b="1" dirty="0"/>
              <a:t>level-2</a:t>
            </a:r>
            <a:r>
              <a:rPr lang="zh-CN" altLang="en-US" b="1" dirty="0"/>
              <a:t>：</a:t>
            </a:r>
            <a:r>
              <a:rPr lang="zh-CN" altLang="en-US" dirty="0"/>
              <a:t>指定发布的缺省路由级别为</a:t>
            </a:r>
            <a:r>
              <a:rPr lang="en-US" altLang="zh-CN" dirty="0"/>
              <a:t>Level-2</a:t>
            </a:r>
            <a:r>
              <a:rPr lang="zh-CN" altLang="en-US" dirty="0"/>
              <a:t>。如果不指定级别，则默认为生成</a:t>
            </a:r>
            <a:r>
              <a:rPr lang="en-US" altLang="zh-CN" dirty="0"/>
              <a:t>Level-2</a:t>
            </a:r>
            <a:r>
              <a:rPr lang="zh-CN" altLang="en-US" dirty="0"/>
              <a:t>级别的缺省路由。</a:t>
            </a:r>
            <a:endParaRPr lang="en-US" altLang="zh-CN" dirty="0"/>
          </a:p>
          <a:p>
            <a:pPr lvl="1"/>
            <a:r>
              <a:rPr lang="en-US" altLang="zh-CN" b="1" dirty="0"/>
              <a:t>level-1-2</a:t>
            </a:r>
            <a:r>
              <a:rPr lang="zh-CN" altLang="en-US" b="1" dirty="0"/>
              <a:t>：</a:t>
            </a:r>
            <a:r>
              <a:rPr lang="zh-CN" altLang="en-US" dirty="0"/>
              <a:t>指定发布的缺省路由级别为</a:t>
            </a:r>
            <a:r>
              <a:rPr lang="en-US" altLang="zh-CN" dirty="0"/>
              <a:t>Level-1-2</a:t>
            </a:r>
            <a:r>
              <a:rPr lang="zh-CN" altLang="en-US" dirty="0"/>
              <a:t>。如果不指定级别，则默认为生成</a:t>
            </a:r>
            <a:r>
              <a:rPr lang="en-US" altLang="zh-CN" dirty="0"/>
              <a:t>Level-2</a:t>
            </a:r>
            <a:r>
              <a:rPr lang="zh-CN" altLang="en-US" dirty="0"/>
              <a:t>级别的缺省路由。</a:t>
            </a:r>
            <a:endParaRPr lang="en-US" altLang="zh-CN" dirty="0"/>
          </a:p>
          <a:p>
            <a:pPr lvl="1"/>
            <a:r>
              <a:rPr lang="en-US" altLang="zh-CN" b="1" dirty="0"/>
              <a:t>avoid-learning</a:t>
            </a:r>
            <a:r>
              <a:rPr lang="zh-CN" altLang="en-US" b="1" dirty="0"/>
              <a:t>：</a:t>
            </a:r>
            <a:r>
              <a:rPr lang="zh-CN" altLang="en-US" dirty="0"/>
              <a:t>避免</a:t>
            </a:r>
            <a:r>
              <a:rPr lang="en-US" altLang="zh-CN" dirty="0"/>
              <a:t>IS-IS</a:t>
            </a:r>
            <a:r>
              <a:rPr lang="zh-CN" altLang="en-US" dirty="0"/>
              <a:t>进程学到其他路由协议或其它</a:t>
            </a:r>
            <a:r>
              <a:rPr lang="en-US" altLang="zh-CN" dirty="0"/>
              <a:t>IS-IS</a:t>
            </a:r>
            <a:r>
              <a:rPr lang="zh-CN" altLang="en-US" dirty="0"/>
              <a:t>进程生成的缺省路由并添加到路由表。如果路由表中已存在学到的缺省路由为活跃状态，则将此路由置为不活跃状态。</a:t>
            </a:r>
            <a:endParaRPr lang="en-US" altLang="zh-CN" dirty="0"/>
          </a:p>
          <a:p>
            <a:pPr lvl="0"/>
            <a:r>
              <a:rPr lang="zh-CN" altLang="en-US" dirty="0"/>
              <a:t>配置该命令后，</a:t>
            </a:r>
            <a:r>
              <a:rPr lang="en-US" altLang="zh-CN" dirty="0"/>
              <a:t>IS-IS</a:t>
            </a:r>
            <a:r>
              <a:rPr lang="zh-CN" altLang="en-US" dirty="0"/>
              <a:t>域内所有去往外部的流量将首先会被转发到该设备来进行数据转发。相比于在每台设备上配置静态缺省路由，使用该命令可以简化操作，即只需在边界设备配置即可。此外，该命令是动态发布缺省路由，使用更加灵活，有多种发布缺省路由的方式可供选择。</a:t>
            </a:r>
            <a:endParaRPr lang="zh-CN" altLang="en-US" dirty="0"/>
          </a:p>
          <a:p>
            <a:pPr lvl="0"/>
            <a:r>
              <a:rPr lang="zh-CN" altLang="en-US" dirty="0"/>
              <a:t>如果在</a:t>
            </a:r>
            <a:r>
              <a:rPr lang="en-US" altLang="zh-CN" dirty="0"/>
              <a:t>Level-1</a:t>
            </a:r>
            <a:r>
              <a:rPr lang="zh-CN" altLang="en-US" dirty="0"/>
              <a:t>设备上配置了该命令，那么该设备只会向</a:t>
            </a:r>
            <a:r>
              <a:rPr lang="en-US" altLang="zh-CN" dirty="0"/>
              <a:t>Level-1</a:t>
            </a:r>
            <a:r>
              <a:rPr lang="zh-CN" altLang="en-US" dirty="0"/>
              <a:t>区域发布缺省路由，不会将缺省路由发布到</a:t>
            </a:r>
            <a:r>
              <a:rPr lang="en-US" altLang="zh-CN" dirty="0"/>
              <a:t>Level-2</a:t>
            </a:r>
            <a:r>
              <a:rPr lang="zh-CN" altLang="en-US" dirty="0"/>
              <a:t>区域。</a:t>
            </a:r>
            <a:endParaRPr lang="zh-CN" altLang="en-US" dirty="0"/>
          </a:p>
          <a:p>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a:t>IS-IS</a:t>
            </a:r>
            <a:r>
              <a:rPr lang="zh-CN" altLang="en-US" dirty="0"/>
              <a:t>多实例和多进程的特点如下：</a:t>
            </a:r>
            <a:endParaRPr lang="zh-CN" altLang="en-US" dirty="0"/>
          </a:p>
          <a:p>
            <a:pPr lvl="1"/>
            <a:r>
              <a:rPr lang="en-US" altLang="zh-CN" dirty="0"/>
              <a:t>IS-IS</a:t>
            </a:r>
            <a:r>
              <a:rPr lang="zh-CN" altLang="en-US" dirty="0"/>
              <a:t>多进程共用同一个全局路由表。而</a:t>
            </a:r>
            <a:r>
              <a:rPr lang="en-US" altLang="zh-CN" dirty="0"/>
              <a:t>IS-IS</a:t>
            </a:r>
            <a:r>
              <a:rPr lang="zh-CN" altLang="en-US" dirty="0"/>
              <a:t>多实例使用</a:t>
            </a:r>
            <a:r>
              <a:rPr lang="en-US" altLang="zh-CN" dirty="0"/>
              <a:t>VPN</a:t>
            </a:r>
            <a:r>
              <a:rPr lang="zh-CN" altLang="en-US" dirty="0"/>
              <a:t>中的路由表，并且每个</a:t>
            </a:r>
            <a:r>
              <a:rPr lang="en-US" altLang="zh-CN" dirty="0"/>
              <a:t>VPN</a:t>
            </a:r>
            <a:r>
              <a:rPr lang="zh-CN" altLang="en-US" dirty="0"/>
              <a:t>都有自己单独的路由表。</a:t>
            </a:r>
            <a:endParaRPr lang="zh-CN" altLang="en-US" dirty="0"/>
          </a:p>
          <a:p>
            <a:pPr lvl="1"/>
            <a:r>
              <a:rPr lang="en-US" altLang="zh-CN" dirty="0"/>
              <a:t>IS-IS</a:t>
            </a:r>
            <a:r>
              <a:rPr lang="zh-CN" altLang="en-US" dirty="0"/>
              <a:t>多进程允许为一个指定的</a:t>
            </a:r>
            <a:r>
              <a:rPr lang="en-US" altLang="zh-CN" dirty="0"/>
              <a:t>IS-IS</a:t>
            </a:r>
            <a:r>
              <a:rPr lang="zh-CN" altLang="en-US" dirty="0"/>
              <a:t>进程关联一组接口，从而保证该进程进行的所有协议操作都仅限于这一组接口。这样，就可以实现一台路由器有多个</a:t>
            </a:r>
            <a:r>
              <a:rPr lang="en-US" altLang="zh-CN" dirty="0"/>
              <a:t>IS-IS</a:t>
            </a:r>
            <a:r>
              <a:rPr lang="zh-CN" altLang="en-US" dirty="0"/>
              <a:t>协议进程，每个进程负责唯一的一组接口。</a:t>
            </a:r>
            <a:endParaRPr lang="zh-CN" altLang="en-US" dirty="0"/>
          </a:p>
          <a:p>
            <a:pPr lvl="1"/>
            <a:r>
              <a:rPr lang="en-US" altLang="zh-CN" dirty="0"/>
              <a:t>IS-IS</a:t>
            </a:r>
            <a:r>
              <a:rPr lang="zh-CN" altLang="en-US" dirty="0"/>
              <a:t>进程在创建时可以选择绑定一个</a:t>
            </a:r>
            <a:r>
              <a:rPr lang="en-US" altLang="zh-CN" dirty="0"/>
              <a:t>VPN</a:t>
            </a:r>
            <a:r>
              <a:rPr lang="zh-CN" altLang="en-US" dirty="0"/>
              <a:t>实例，于是这个</a:t>
            </a:r>
            <a:r>
              <a:rPr lang="en-US" altLang="zh-CN" dirty="0"/>
              <a:t>IS-IS</a:t>
            </a:r>
            <a:r>
              <a:rPr lang="zh-CN" altLang="en-US" dirty="0"/>
              <a:t>进程就与此</a:t>
            </a:r>
            <a:r>
              <a:rPr lang="en-US" altLang="zh-CN" dirty="0"/>
              <a:t>VPN</a:t>
            </a:r>
            <a:r>
              <a:rPr lang="zh-CN" altLang="en-US" dirty="0"/>
              <a:t>实例相关联，并且只接收和处理此</a:t>
            </a:r>
            <a:r>
              <a:rPr lang="en-US" altLang="zh-CN" dirty="0"/>
              <a:t>VPN</a:t>
            </a:r>
            <a:r>
              <a:rPr lang="zh-CN" altLang="en-US" dirty="0"/>
              <a:t>实例内的事件。当</a:t>
            </a:r>
            <a:r>
              <a:rPr lang="en-US" altLang="zh-CN" dirty="0"/>
              <a:t>VPN</a:t>
            </a:r>
            <a:r>
              <a:rPr lang="zh-CN" altLang="en-US" dirty="0"/>
              <a:t>实例删除时，</a:t>
            </a:r>
            <a:r>
              <a:rPr lang="en-US" altLang="zh-CN" dirty="0"/>
              <a:t>IS-IS</a:t>
            </a:r>
            <a:r>
              <a:rPr lang="zh-CN" altLang="en-US" dirty="0"/>
              <a:t>进程也会跟着被删除。</a:t>
            </a:r>
            <a:endParaRPr lang="zh-CN" altLang="en-US" dirty="0"/>
          </a:p>
          <a:p>
            <a:pPr lvl="0"/>
            <a:r>
              <a:rPr lang="zh-CN" altLang="en-US" dirty="0"/>
              <a:t>命令：</a:t>
            </a:r>
            <a:r>
              <a:rPr lang="en-US" altLang="zh-CN" dirty="0"/>
              <a:t>[Huawei] </a:t>
            </a:r>
            <a:r>
              <a:rPr lang="en-US" altLang="zh-CN" b="1" dirty="0" err="1"/>
              <a:t>isis</a:t>
            </a:r>
            <a:r>
              <a:rPr lang="en-US" altLang="zh-CN" dirty="0"/>
              <a:t> [ </a:t>
            </a:r>
            <a:r>
              <a:rPr lang="en-US" altLang="zh-CN" i="1" dirty="0"/>
              <a:t>process-id</a:t>
            </a:r>
            <a:r>
              <a:rPr lang="en-US" altLang="zh-CN" dirty="0"/>
              <a:t> ] [ </a:t>
            </a:r>
            <a:r>
              <a:rPr lang="en-US" altLang="zh-CN" b="1" dirty="0" err="1"/>
              <a:t>vpn</a:t>
            </a:r>
            <a:r>
              <a:rPr lang="en-US" altLang="zh-CN" b="1" dirty="0"/>
              <a:t>-instance</a:t>
            </a:r>
            <a:r>
              <a:rPr lang="en-US" altLang="zh-CN" dirty="0"/>
              <a:t> </a:t>
            </a:r>
            <a:r>
              <a:rPr lang="en-US" altLang="zh-CN" i="1" dirty="0" err="1"/>
              <a:t>vpn</a:t>
            </a:r>
            <a:r>
              <a:rPr lang="en-US" altLang="zh-CN" i="1" dirty="0"/>
              <a:t>-instance-name</a:t>
            </a:r>
            <a:r>
              <a:rPr lang="en-US" altLang="zh-CN" dirty="0"/>
              <a:t> ]</a:t>
            </a:r>
            <a:endParaRPr lang="en-US" altLang="zh-CN" dirty="0"/>
          </a:p>
          <a:p>
            <a:pPr lvl="1"/>
            <a:r>
              <a:rPr lang="en-US" altLang="zh-CN" i="1" dirty="0"/>
              <a:t>process-id</a:t>
            </a:r>
            <a:r>
              <a:rPr lang="zh-CN" altLang="en-US" i="1" dirty="0"/>
              <a:t>：</a:t>
            </a:r>
            <a:r>
              <a:rPr lang="zh-CN" altLang="en-US" dirty="0"/>
              <a:t>指定</a:t>
            </a:r>
            <a:r>
              <a:rPr lang="en-US" altLang="zh-CN" dirty="0"/>
              <a:t>IS-IS</a:t>
            </a:r>
            <a:r>
              <a:rPr lang="zh-CN" altLang="en-US" dirty="0"/>
              <a:t>进程号。如果不指定进程，则启动进程号为</a:t>
            </a:r>
            <a:r>
              <a:rPr lang="en-US" altLang="zh-CN" dirty="0"/>
              <a:t>1</a:t>
            </a:r>
            <a:r>
              <a:rPr lang="zh-CN" altLang="en-US" dirty="0"/>
              <a:t>的</a:t>
            </a:r>
            <a:r>
              <a:rPr lang="en-US" altLang="zh-CN" dirty="0"/>
              <a:t>IS-IS</a:t>
            </a:r>
            <a:r>
              <a:rPr lang="zh-CN" altLang="en-US" dirty="0"/>
              <a:t>进程。整数形式，取值范围是</a:t>
            </a:r>
            <a:r>
              <a:rPr lang="en-US" altLang="zh-CN" dirty="0"/>
              <a:t>1</a:t>
            </a:r>
            <a:r>
              <a:rPr lang="zh-CN" altLang="en-US" dirty="0"/>
              <a:t>～</a:t>
            </a:r>
            <a:r>
              <a:rPr lang="en-US" altLang="zh-CN" dirty="0"/>
              <a:t>65535</a:t>
            </a:r>
            <a:r>
              <a:rPr lang="zh-CN" altLang="en-US" dirty="0"/>
              <a:t>。缺省值是</a:t>
            </a:r>
            <a:r>
              <a:rPr lang="en-US" altLang="zh-CN" dirty="0"/>
              <a:t>1</a:t>
            </a:r>
            <a:r>
              <a:rPr lang="zh-CN" altLang="en-US" dirty="0"/>
              <a:t>。</a:t>
            </a:r>
            <a:endParaRPr lang="zh-CN" altLang="en-US" dirty="0"/>
          </a:p>
          <a:p>
            <a:pPr lvl="1"/>
            <a:r>
              <a:rPr lang="en-US" altLang="zh-CN" b="1" dirty="0" err="1"/>
              <a:t>vpn</a:t>
            </a:r>
            <a:r>
              <a:rPr lang="en-US" altLang="zh-CN" b="1" dirty="0"/>
              <a:t>-instance</a:t>
            </a:r>
            <a:r>
              <a:rPr lang="en-US" altLang="zh-CN" dirty="0"/>
              <a:t> </a:t>
            </a:r>
            <a:r>
              <a:rPr lang="en-US" altLang="zh-CN" i="1" dirty="0" err="1"/>
              <a:t>vpn</a:t>
            </a:r>
            <a:r>
              <a:rPr lang="en-US" altLang="zh-CN" i="1" dirty="0"/>
              <a:t>-instance-name</a:t>
            </a:r>
            <a:r>
              <a:rPr lang="zh-CN" altLang="en-US" i="1" dirty="0"/>
              <a:t>：</a:t>
            </a:r>
            <a:r>
              <a:rPr lang="zh-CN" altLang="en-US" dirty="0"/>
              <a:t>指定</a:t>
            </a:r>
            <a:r>
              <a:rPr lang="en-US" altLang="zh-CN" dirty="0"/>
              <a:t>VPN</a:t>
            </a:r>
            <a:r>
              <a:rPr lang="zh-CN" altLang="en-US" dirty="0"/>
              <a:t>实例名。如果不指定此参数，则就不会配置</a:t>
            </a:r>
            <a:r>
              <a:rPr lang="en-US" altLang="zh-CN" dirty="0"/>
              <a:t>VPN</a:t>
            </a:r>
            <a:r>
              <a:rPr lang="zh-CN" altLang="en-US" dirty="0"/>
              <a:t>实例与相应的</a:t>
            </a:r>
            <a:r>
              <a:rPr lang="en-US" altLang="zh-CN" dirty="0"/>
              <a:t>IS-IS</a:t>
            </a:r>
            <a:r>
              <a:rPr lang="zh-CN" altLang="en-US" dirty="0"/>
              <a:t>进程相关联。字符串形式，区分大小写，不支持空格，长度范围是</a:t>
            </a:r>
            <a:r>
              <a:rPr lang="en-US" altLang="zh-CN" dirty="0"/>
              <a:t>1</a:t>
            </a:r>
            <a:r>
              <a:rPr lang="zh-CN" altLang="en-US" dirty="0"/>
              <a:t>～</a:t>
            </a:r>
            <a:r>
              <a:rPr lang="en-US" altLang="zh-CN" dirty="0"/>
              <a:t>31</a:t>
            </a:r>
            <a:r>
              <a:rPr lang="zh-CN" altLang="en-US" dirty="0"/>
              <a:t>。当输入的字符串两端使用双引号时，可在字符串中输入空格。</a:t>
            </a:r>
            <a:endParaRPr lang="zh-CN" altLang="en-US" dirty="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附加系统</a:t>
            </a:r>
            <a:r>
              <a:rPr lang="en-US" altLang="zh-CN" dirty="0"/>
              <a:t>ID</a:t>
            </a:r>
            <a:r>
              <a:rPr lang="zh-CN" altLang="en-US" dirty="0"/>
              <a:t>和系统</a:t>
            </a:r>
            <a:r>
              <a:rPr lang="en-US" altLang="zh-CN" dirty="0"/>
              <a:t>ID</a:t>
            </a:r>
            <a:r>
              <a:rPr lang="zh-CN" altLang="en-US" dirty="0"/>
              <a:t>都必须在整个路由域中唯一。</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14000"/>
              </a:lnSpc>
            </a:pPr>
            <a:r>
              <a:rPr lang="en-US" altLang="zh-CN"/>
              <a:t>Mode-1</a:t>
            </a:r>
            <a:r>
              <a:rPr lang="zh-CN" altLang="en-US"/>
              <a:t>工作原理：</a:t>
            </a:r>
            <a:endParaRPr lang="en-US" altLang="zh-CN"/>
          </a:p>
          <a:p>
            <a:pPr lvl="1">
              <a:lnSpc>
                <a:spcPct val="114000"/>
              </a:lnSpc>
            </a:pPr>
            <a:r>
              <a:rPr lang="zh-CN" altLang="en-US"/>
              <a:t>虚拟系统参与路由</a:t>
            </a:r>
            <a:r>
              <a:rPr lang="en-US" altLang="zh-CN"/>
              <a:t>SPF</a:t>
            </a:r>
            <a:r>
              <a:rPr lang="zh-CN" altLang="en-US"/>
              <a:t>计算，初始系统发布的</a:t>
            </a:r>
            <a:r>
              <a:rPr lang="en-US" altLang="zh-CN"/>
              <a:t>LSP</a:t>
            </a:r>
            <a:r>
              <a:rPr lang="zh-CN" altLang="en-US"/>
              <a:t>中携带了到每个虚拟系统的链路信息。类似地，虚拟系统发布的</a:t>
            </a:r>
            <a:r>
              <a:rPr lang="en-US" altLang="zh-CN"/>
              <a:t>LSP</a:t>
            </a:r>
            <a:r>
              <a:rPr lang="zh-CN" altLang="en-US"/>
              <a:t>也包含到初始系统的链路信息。这样，在网络中虚拟系统看起来与初始系统相连的真实路由器是一样的。</a:t>
            </a:r>
            <a:endParaRPr lang="zh-CN" altLang="en-US"/>
          </a:p>
          <a:p>
            <a:pPr lvl="1">
              <a:lnSpc>
                <a:spcPct val="114000"/>
              </a:lnSpc>
            </a:pPr>
            <a:r>
              <a:rPr lang="zh-CN" altLang="en-US"/>
              <a:t>这种方式是为了兼容不支持分片扩展的老版本所做的一个过渡模式。在老版本中，</a:t>
            </a:r>
            <a:r>
              <a:rPr lang="en-US" altLang="zh-CN"/>
              <a:t>IS-IS</a:t>
            </a:r>
            <a:r>
              <a:rPr lang="zh-CN" altLang="en-US"/>
              <a:t>无法识别</a:t>
            </a:r>
            <a:r>
              <a:rPr lang="en-US" altLang="zh-CN"/>
              <a:t>24</a:t>
            </a:r>
            <a:r>
              <a:rPr lang="zh-CN" altLang="en-US"/>
              <a:t>号</a:t>
            </a:r>
            <a:r>
              <a:rPr lang="en-US" altLang="zh-CN"/>
              <a:t>TLV</a:t>
            </a:r>
            <a:r>
              <a:rPr lang="zh-CN" altLang="en-US"/>
              <a:t>，所以虚拟系统的</a:t>
            </a:r>
            <a:r>
              <a:rPr lang="en-US" altLang="zh-CN"/>
              <a:t>LSP</a:t>
            </a:r>
            <a:r>
              <a:rPr lang="zh-CN" altLang="en-US"/>
              <a:t>必须表现的像一个普通</a:t>
            </a:r>
            <a:r>
              <a:rPr lang="en-US" altLang="zh-CN"/>
              <a:t>IS-IS</a:t>
            </a:r>
            <a:r>
              <a:rPr lang="zh-CN" altLang="en-US"/>
              <a:t>发出的报文。</a:t>
            </a:r>
            <a:endParaRPr lang="en-US" altLang="zh-CN"/>
          </a:p>
          <a:p>
            <a:pPr lvl="1">
              <a:lnSpc>
                <a:spcPct val="114000"/>
              </a:lnSpc>
            </a:pPr>
            <a:r>
              <a:rPr lang="zh-CN" altLang="en-US"/>
              <a:t>注意事项：</a:t>
            </a:r>
            <a:endParaRPr lang="en-US" altLang="zh-CN"/>
          </a:p>
          <a:p>
            <a:pPr lvl="2">
              <a:lnSpc>
                <a:spcPct val="114000"/>
              </a:lnSpc>
            </a:pPr>
            <a:r>
              <a:rPr lang="zh-CN" altLang="en-US"/>
              <a:t>虚拟系统的</a:t>
            </a:r>
            <a:r>
              <a:rPr lang="en-US" altLang="zh-CN"/>
              <a:t>LSP</a:t>
            </a:r>
            <a:r>
              <a:rPr lang="zh-CN" altLang="en-US"/>
              <a:t>中包含和原</a:t>
            </a:r>
            <a:r>
              <a:rPr lang="en-US" altLang="zh-CN"/>
              <a:t>LSP</a:t>
            </a:r>
            <a:r>
              <a:rPr lang="zh-CN" altLang="en-US"/>
              <a:t>中相同的区域地址和过载标志位。如果还有其它特性的</a:t>
            </a:r>
            <a:r>
              <a:rPr lang="en-US" altLang="zh-CN"/>
              <a:t>TLV</a:t>
            </a:r>
            <a:r>
              <a:rPr lang="zh-CN" altLang="en-US"/>
              <a:t>，也必须保持一致。</a:t>
            </a:r>
            <a:endParaRPr lang="zh-CN" altLang="en-US"/>
          </a:p>
          <a:p>
            <a:pPr lvl="2">
              <a:lnSpc>
                <a:spcPct val="114000"/>
              </a:lnSpc>
            </a:pPr>
            <a:r>
              <a:rPr lang="zh-CN" altLang="en-US"/>
              <a:t>虚拟系统的邻居信息指向初始系统，</a:t>
            </a:r>
            <a:r>
              <a:rPr lang="en-US" altLang="zh-CN"/>
              <a:t>metric</a:t>
            </a:r>
            <a:r>
              <a:rPr lang="zh-CN" altLang="en-US"/>
              <a:t>为最大值减</a:t>
            </a:r>
            <a:r>
              <a:rPr lang="en-US" altLang="zh-CN"/>
              <a:t>1</a:t>
            </a:r>
            <a:r>
              <a:rPr lang="zh-CN" altLang="en-US"/>
              <a:t>；初始系统的邻居信息指向虚拟系统，</a:t>
            </a:r>
            <a:r>
              <a:rPr lang="en-US" altLang="zh-CN"/>
              <a:t>metric</a:t>
            </a:r>
            <a:r>
              <a:rPr lang="zh-CN" altLang="en-US"/>
              <a:t>必须为</a:t>
            </a:r>
            <a:r>
              <a:rPr lang="en-US" altLang="zh-CN"/>
              <a:t>0</a:t>
            </a:r>
            <a:r>
              <a:rPr lang="zh-CN" altLang="en-US"/>
              <a:t>。这样就保证了其它路由器在进行路由计算的时候，虚拟系统一定会成为初始系统的下游节点。</a:t>
            </a:r>
            <a:endParaRPr lang="en-US" altLang="zh-CN"/>
          </a:p>
          <a:p>
            <a:pPr>
              <a:lnSpc>
                <a:spcPct val="114000"/>
              </a:lnSpc>
            </a:pPr>
            <a:r>
              <a:rPr lang="en-US" altLang="zh-CN"/>
              <a:t>Mode-2</a:t>
            </a:r>
            <a:r>
              <a:rPr lang="zh-CN" altLang="en-US"/>
              <a:t>工作原理：</a:t>
            </a:r>
            <a:endParaRPr lang="en-US" altLang="zh-CN"/>
          </a:p>
          <a:p>
            <a:pPr lvl="1">
              <a:lnSpc>
                <a:spcPct val="114000"/>
              </a:lnSpc>
            </a:pPr>
            <a:r>
              <a:rPr lang="zh-CN" altLang="en-US"/>
              <a:t>虚拟系统不参与路由</a:t>
            </a:r>
            <a:r>
              <a:rPr lang="en-US" altLang="zh-CN"/>
              <a:t>SPF</a:t>
            </a:r>
            <a:r>
              <a:rPr lang="zh-CN" altLang="en-US"/>
              <a:t>计算，网络中所有路由器都知道虚拟系统生成的</a:t>
            </a:r>
            <a:r>
              <a:rPr lang="en-US" altLang="zh-CN"/>
              <a:t>LSP</a:t>
            </a:r>
            <a:r>
              <a:rPr lang="zh-CN" altLang="en-US"/>
              <a:t>实际属于初始系统。</a:t>
            </a:r>
            <a:endParaRPr lang="zh-CN" altLang="en-US"/>
          </a:p>
          <a:p>
            <a:pPr lvl="1">
              <a:lnSpc>
                <a:spcPct val="114000"/>
              </a:lnSpc>
            </a:pPr>
            <a:r>
              <a:rPr lang="zh-CN" altLang="en-US"/>
              <a:t>在该模式下工作的</a:t>
            </a:r>
            <a:r>
              <a:rPr lang="en-US" altLang="zh-CN"/>
              <a:t>IS-IS</a:t>
            </a:r>
            <a:r>
              <a:rPr lang="zh-CN" altLang="en-US"/>
              <a:t>，可以识别</a:t>
            </a:r>
            <a:r>
              <a:rPr lang="en-US" altLang="zh-CN"/>
              <a:t>24</a:t>
            </a:r>
            <a:r>
              <a:rPr lang="zh-CN" altLang="en-US"/>
              <a:t>号</a:t>
            </a:r>
            <a:r>
              <a:rPr lang="en-US" altLang="zh-CN"/>
              <a:t>TLV</a:t>
            </a:r>
            <a:r>
              <a:rPr lang="zh-CN" altLang="en-US"/>
              <a:t>的内容，并作为计算树和路由的依据。</a:t>
            </a:r>
            <a:endParaRPr lang="en-US" altLang="zh-CN"/>
          </a:p>
          <a:p>
            <a:pPr lvl="0">
              <a:lnSpc>
                <a:spcPct val="114000"/>
              </a:lnSpc>
            </a:pPr>
            <a:r>
              <a:rPr lang="zh-CN" altLang="en-US"/>
              <a:t>注意：无论在哪种方式下，初始系统和虚拟系统的</a:t>
            </a:r>
            <a:r>
              <a:rPr lang="en-US" altLang="zh-CN"/>
              <a:t>LSP</a:t>
            </a:r>
            <a:r>
              <a:rPr lang="zh-CN" altLang="en-US"/>
              <a:t>零分片中，都必须包含</a:t>
            </a:r>
            <a:r>
              <a:rPr lang="en-US" altLang="zh-CN"/>
              <a:t>IS Alias ID TLV</a:t>
            </a:r>
            <a:r>
              <a:rPr lang="zh-CN" altLang="en-US"/>
              <a:t>（</a:t>
            </a:r>
            <a:r>
              <a:rPr lang="en-US" altLang="zh-CN"/>
              <a:t>24</a:t>
            </a:r>
            <a:r>
              <a:rPr lang="zh-CN" altLang="en-US"/>
              <a:t>号</a:t>
            </a:r>
            <a:r>
              <a:rPr lang="en-US" altLang="zh-CN"/>
              <a:t>TLV</a:t>
            </a:r>
            <a:r>
              <a:rPr lang="zh-CN" altLang="en-US"/>
              <a:t>）来表示初始系统是谁。</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dirty="0"/>
              <a:t>[Huawei-isis-1] </a:t>
            </a:r>
            <a:r>
              <a:rPr lang="en-US" altLang="zh-CN" b="1" dirty="0" err="1"/>
              <a:t>lsp</a:t>
            </a:r>
            <a:r>
              <a:rPr lang="en-US" altLang="zh-CN" b="1" dirty="0"/>
              <a:t>-fragments-extend</a:t>
            </a:r>
            <a:r>
              <a:rPr lang="en-US" altLang="zh-CN" dirty="0"/>
              <a:t> [ [ </a:t>
            </a:r>
            <a:r>
              <a:rPr lang="en-US" altLang="zh-CN" b="1" dirty="0"/>
              <a:t>level-1 | level-2 | level-1-2 </a:t>
            </a:r>
            <a:r>
              <a:rPr lang="en-US" altLang="zh-CN" dirty="0"/>
              <a:t>] | [ </a:t>
            </a:r>
            <a:r>
              <a:rPr lang="en-US" altLang="zh-CN" b="1" dirty="0"/>
              <a:t>mode-1 | mode-2 </a:t>
            </a:r>
            <a:r>
              <a:rPr lang="en-US" altLang="zh-CN" dirty="0"/>
              <a:t>] ] </a:t>
            </a:r>
            <a:endParaRPr lang="zh-CN" altLang="en-US" dirty="0"/>
          </a:p>
          <a:p>
            <a:pPr lvl="1"/>
            <a:r>
              <a:rPr lang="en-US" altLang="zh-CN" b="1" dirty="0"/>
              <a:t>level-1</a:t>
            </a:r>
            <a:r>
              <a:rPr lang="zh-CN" altLang="en-US" b="1" dirty="0"/>
              <a:t>：</a:t>
            </a:r>
            <a:r>
              <a:rPr lang="zh-CN" altLang="en-US" dirty="0"/>
              <a:t>指定在</a:t>
            </a:r>
            <a:r>
              <a:rPr lang="en-US" altLang="zh-CN" dirty="0"/>
              <a:t>Level-1</a:t>
            </a:r>
            <a:r>
              <a:rPr lang="zh-CN" altLang="en-US" dirty="0"/>
              <a:t>级别使能分片扩展。</a:t>
            </a:r>
            <a:endParaRPr lang="en-US" altLang="zh-CN" dirty="0"/>
          </a:p>
          <a:p>
            <a:pPr lvl="1"/>
            <a:r>
              <a:rPr lang="en-US" altLang="zh-CN" b="1" dirty="0"/>
              <a:t>level-2</a:t>
            </a:r>
            <a:r>
              <a:rPr lang="zh-CN" altLang="en-US" b="1" dirty="0"/>
              <a:t>：</a:t>
            </a:r>
            <a:r>
              <a:rPr lang="zh-CN" altLang="en-US" dirty="0"/>
              <a:t>指定在</a:t>
            </a:r>
            <a:r>
              <a:rPr lang="en-US" altLang="zh-CN" dirty="0"/>
              <a:t>Level-2</a:t>
            </a:r>
            <a:r>
              <a:rPr lang="zh-CN" altLang="en-US" dirty="0"/>
              <a:t>级别使能分片扩展。</a:t>
            </a:r>
            <a:endParaRPr lang="en-US" altLang="zh-CN" dirty="0"/>
          </a:p>
          <a:p>
            <a:pPr lvl="1"/>
            <a:r>
              <a:rPr lang="en-US" altLang="zh-CN" b="1" dirty="0"/>
              <a:t>level-1-2</a:t>
            </a:r>
            <a:r>
              <a:rPr lang="zh-CN" altLang="en-US" b="1" dirty="0"/>
              <a:t>：</a:t>
            </a:r>
            <a:r>
              <a:rPr lang="zh-CN" altLang="en-US" dirty="0"/>
              <a:t>指定在</a:t>
            </a:r>
            <a:r>
              <a:rPr lang="en-US" altLang="zh-CN" dirty="0"/>
              <a:t>Level-1-2</a:t>
            </a:r>
            <a:r>
              <a:rPr lang="zh-CN" altLang="en-US" dirty="0"/>
              <a:t>级别使能分片扩展。</a:t>
            </a:r>
            <a:endParaRPr lang="en-US" altLang="zh-CN" dirty="0"/>
          </a:p>
          <a:p>
            <a:pPr lvl="1"/>
            <a:r>
              <a:rPr lang="en-US" altLang="zh-CN" b="1" dirty="0"/>
              <a:t>mode-1</a:t>
            </a:r>
            <a:r>
              <a:rPr lang="zh-CN" altLang="en-US" b="1" dirty="0"/>
              <a:t>：</a:t>
            </a:r>
            <a:r>
              <a:rPr lang="zh-CN" altLang="en-US" dirty="0"/>
              <a:t>该模式可以兼容以前老版本不支持</a:t>
            </a:r>
            <a:r>
              <a:rPr lang="en-US" altLang="zh-CN" dirty="0"/>
              <a:t>LSP</a:t>
            </a:r>
            <a:r>
              <a:rPr lang="zh-CN" altLang="en-US" dirty="0"/>
              <a:t>分片扩展特性的情况。</a:t>
            </a:r>
            <a:endParaRPr lang="en-US" altLang="zh-CN" dirty="0"/>
          </a:p>
          <a:p>
            <a:pPr lvl="1"/>
            <a:r>
              <a:rPr lang="en-US" altLang="zh-CN" b="1" dirty="0"/>
              <a:t>mode-2</a:t>
            </a:r>
            <a:r>
              <a:rPr lang="zh-CN" altLang="en-US" b="1" dirty="0"/>
              <a:t>：</a:t>
            </a:r>
            <a:r>
              <a:rPr lang="zh-CN" altLang="en-US" dirty="0"/>
              <a:t>该模式要求所有路由器都支持</a:t>
            </a:r>
            <a:r>
              <a:rPr lang="en-US" altLang="zh-CN" dirty="0"/>
              <a:t>LSP</a:t>
            </a:r>
            <a:r>
              <a:rPr lang="zh-CN" altLang="en-US" dirty="0"/>
              <a:t>分片扩展特性。</a:t>
            </a:r>
            <a:endParaRPr lang="en-US" altLang="zh-CN" dirty="0"/>
          </a:p>
          <a:p>
            <a:pPr lvl="0"/>
            <a:r>
              <a:rPr lang="zh-CN" altLang="en-US" dirty="0"/>
              <a:t>命令：</a:t>
            </a:r>
            <a:r>
              <a:rPr lang="en-US" altLang="zh-CN" dirty="0"/>
              <a:t>[Huawei-isis-1] </a:t>
            </a:r>
            <a:r>
              <a:rPr lang="en-US" altLang="zh-CN" b="1" dirty="0"/>
              <a:t>virtual-system</a:t>
            </a:r>
            <a:r>
              <a:rPr lang="en-US" altLang="zh-CN" dirty="0"/>
              <a:t> </a:t>
            </a:r>
            <a:r>
              <a:rPr lang="en-US" altLang="zh-CN" i="1" dirty="0"/>
              <a:t>virtual-system-id</a:t>
            </a:r>
            <a:r>
              <a:rPr lang="en-US" altLang="zh-CN" dirty="0"/>
              <a:t> </a:t>
            </a:r>
            <a:endParaRPr lang="zh-CN" altLang="en-US" dirty="0"/>
          </a:p>
          <a:p>
            <a:pPr lvl="1"/>
            <a:r>
              <a:rPr lang="en-US" altLang="zh-CN" i="1" dirty="0"/>
              <a:t>virtual-system-id</a:t>
            </a:r>
            <a:r>
              <a:rPr lang="zh-CN" altLang="en-US" i="1" dirty="0"/>
              <a:t>：</a:t>
            </a:r>
            <a:r>
              <a:rPr lang="zh-CN" altLang="en-US" dirty="0"/>
              <a:t>指定</a:t>
            </a:r>
            <a:r>
              <a:rPr lang="en-US" altLang="zh-CN" dirty="0"/>
              <a:t>IS-IS</a:t>
            </a:r>
            <a:r>
              <a:rPr lang="zh-CN" altLang="en-US" dirty="0"/>
              <a:t>进程的虚拟系统</a:t>
            </a:r>
            <a:r>
              <a:rPr lang="en-US" altLang="zh-CN" dirty="0"/>
              <a:t>ID</a:t>
            </a:r>
            <a:r>
              <a:rPr lang="zh-CN" altLang="en-US" dirty="0"/>
              <a:t>。长度是</a:t>
            </a:r>
            <a:r>
              <a:rPr lang="en-US" altLang="zh-CN" dirty="0"/>
              <a:t>6</a:t>
            </a:r>
            <a:r>
              <a:rPr lang="zh-CN" altLang="en-US" dirty="0"/>
              <a:t>字节（</a:t>
            </a:r>
            <a:r>
              <a:rPr lang="en-US" altLang="zh-CN" dirty="0"/>
              <a:t>48</a:t>
            </a:r>
            <a:r>
              <a:rPr lang="zh-CN" altLang="en-US" dirty="0"/>
              <a:t>比特），格式是</a:t>
            </a:r>
            <a:r>
              <a:rPr lang="en-US" altLang="zh-CN" dirty="0"/>
              <a:t>XXXX.XXXX.XXXX</a:t>
            </a:r>
            <a:r>
              <a:rPr lang="zh-CN" altLang="en-US" dirty="0"/>
              <a:t>。</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背景介绍：</a:t>
            </a:r>
            <a:endParaRPr lang="en-US" altLang="zh-CN" dirty="0"/>
          </a:p>
          <a:p>
            <a:pPr lvl="1"/>
            <a:r>
              <a:rPr lang="zh-CN" altLang="en-US" dirty="0"/>
              <a:t>设备发生主备倒换后，由于没有保存任何重启前的邻居信息，因此一开始发送的</a:t>
            </a:r>
            <a:r>
              <a:rPr lang="en-US" altLang="zh-CN" dirty="0"/>
              <a:t>Hello</a:t>
            </a:r>
            <a:r>
              <a:rPr lang="zh-CN" altLang="en-US" dirty="0"/>
              <a:t>报文中不包含邻居列表。此时邻居（</a:t>
            </a:r>
            <a:r>
              <a:rPr lang="en-US" altLang="zh-CN" dirty="0"/>
              <a:t>Helper</a:t>
            </a:r>
            <a:r>
              <a:rPr lang="zh-CN" altLang="en-US" dirty="0"/>
              <a:t>）设备收到后，执行两次握手机制进行邻居关系检查，发现在重启（</a:t>
            </a:r>
            <a:r>
              <a:rPr lang="en-US" altLang="zh-CN" dirty="0" err="1"/>
              <a:t>Restarter</a:t>
            </a:r>
            <a:r>
              <a:rPr lang="zh-CN" altLang="en-US" dirty="0"/>
              <a:t>）设备的</a:t>
            </a:r>
            <a:r>
              <a:rPr lang="en-US" altLang="zh-CN" dirty="0"/>
              <a:t>Hello</a:t>
            </a:r>
            <a:r>
              <a:rPr lang="zh-CN" altLang="en-US" dirty="0"/>
              <a:t>报文的邻居列表中没有自己，这样邻居关系将会断掉。同时，邻居设备通过生成新的</a:t>
            </a:r>
            <a:r>
              <a:rPr lang="en-US" altLang="zh-CN" dirty="0"/>
              <a:t>LSP</a:t>
            </a:r>
            <a:r>
              <a:rPr lang="zh-CN" altLang="en-US" dirty="0"/>
              <a:t>报文，将拓扑变化的信息泛洪给区域内的其它设备，区域内的其他设备会基于新的链路状态数据库进行路由计算，从而造成路由中断或者路由环路。</a:t>
            </a:r>
            <a:endParaRPr lang="zh-CN" altLang="en-US" dirty="0"/>
          </a:p>
          <a:p>
            <a:pPr lvl="1"/>
            <a:r>
              <a:rPr lang="en-US" altLang="zh-CN" dirty="0"/>
              <a:t>IETF</a:t>
            </a:r>
            <a:r>
              <a:rPr lang="zh-CN" altLang="en-US" dirty="0"/>
              <a:t>针对这种情况为</a:t>
            </a:r>
            <a:r>
              <a:rPr lang="en-US" altLang="zh-CN" dirty="0"/>
              <a:t>IS-IS</a:t>
            </a:r>
            <a:r>
              <a:rPr lang="zh-CN" altLang="en-US" dirty="0"/>
              <a:t>制定了</a:t>
            </a:r>
            <a:r>
              <a:rPr lang="en-US" altLang="zh-CN" dirty="0"/>
              <a:t>GR</a:t>
            </a:r>
            <a:r>
              <a:rPr lang="zh-CN" altLang="en-US" dirty="0"/>
              <a:t>规范（</a:t>
            </a:r>
            <a:r>
              <a:rPr lang="en-US" altLang="zh-CN" dirty="0"/>
              <a:t>RFC3847</a:t>
            </a:r>
            <a:r>
              <a:rPr lang="zh-CN" altLang="en-US" dirty="0"/>
              <a:t>），对保留</a:t>
            </a:r>
            <a:r>
              <a:rPr lang="en-US" altLang="zh-CN" dirty="0"/>
              <a:t>FIB</a:t>
            </a:r>
            <a:r>
              <a:rPr lang="zh-CN" altLang="en-US" dirty="0"/>
              <a:t>表和不保留</a:t>
            </a:r>
            <a:r>
              <a:rPr lang="en-US" altLang="zh-CN" dirty="0"/>
              <a:t>FIB</a:t>
            </a:r>
            <a:r>
              <a:rPr lang="zh-CN" altLang="en-US" dirty="0"/>
              <a:t>表的协议重启都进行了处理，避免协议重启带来的路由震荡和流量转发中断的现象。</a:t>
            </a:r>
            <a:endParaRPr lang="zh-CN" altLang="en-US" dirty="0"/>
          </a:p>
          <a:p>
            <a:r>
              <a:rPr lang="en-US" altLang="zh-CN" dirty="0"/>
              <a:t>211</a:t>
            </a:r>
            <a:r>
              <a:rPr lang="zh-CN" altLang="en-US" dirty="0"/>
              <a:t>号</a:t>
            </a:r>
            <a:r>
              <a:rPr lang="en-US" altLang="zh-CN" dirty="0"/>
              <a:t>TLV</a:t>
            </a:r>
            <a:r>
              <a:rPr lang="zh-CN" altLang="en-US" dirty="0"/>
              <a:t>：</a:t>
            </a:r>
            <a:endParaRPr lang="en-US" altLang="zh-CN" dirty="0"/>
          </a:p>
          <a:p>
            <a:pPr lvl="1"/>
            <a:r>
              <a:rPr lang="en-US" altLang="zh-CN" dirty="0"/>
              <a:t>Type</a:t>
            </a:r>
            <a:r>
              <a:rPr lang="zh-CN" altLang="en-US" dirty="0"/>
              <a:t>：</a:t>
            </a:r>
            <a:r>
              <a:rPr lang="en-US" altLang="zh-CN" dirty="0"/>
              <a:t>1 Byte</a:t>
            </a:r>
            <a:r>
              <a:rPr lang="zh-CN" altLang="en-US" dirty="0"/>
              <a:t>，</a:t>
            </a:r>
            <a:r>
              <a:rPr lang="en-US" altLang="zh-CN" dirty="0"/>
              <a:t>TLV</a:t>
            </a:r>
            <a:r>
              <a:rPr lang="zh-CN" altLang="en-US" dirty="0"/>
              <a:t>的类型。值为</a:t>
            </a:r>
            <a:r>
              <a:rPr lang="en-US" altLang="zh-CN" dirty="0"/>
              <a:t>211</a:t>
            </a:r>
            <a:r>
              <a:rPr lang="zh-CN" altLang="en-US" dirty="0"/>
              <a:t>表示是</a:t>
            </a:r>
            <a:r>
              <a:rPr lang="en-US" altLang="zh-CN" dirty="0"/>
              <a:t>Restart TLV</a:t>
            </a:r>
            <a:r>
              <a:rPr lang="zh-CN" altLang="en-US" dirty="0"/>
              <a:t>。</a:t>
            </a:r>
            <a:endParaRPr lang="en-US" altLang="zh-CN" dirty="0"/>
          </a:p>
          <a:p>
            <a:pPr lvl="1"/>
            <a:r>
              <a:rPr lang="en-US" altLang="zh-CN" dirty="0"/>
              <a:t>Length</a:t>
            </a:r>
            <a:r>
              <a:rPr lang="zh-CN" altLang="en-US" dirty="0"/>
              <a:t>：</a:t>
            </a:r>
            <a:r>
              <a:rPr lang="en-US" altLang="zh-CN" dirty="0"/>
              <a:t>1 Byte</a:t>
            </a:r>
            <a:r>
              <a:rPr lang="zh-CN" altLang="en-US" dirty="0"/>
              <a:t>，</a:t>
            </a:r>
            <a:r>
              <a:rPr lang="en-US" altLang="zh-CN" dirty="0"/>
              <a:t>TLV</a:t>
            </a:r>
            <a:r>
              <a:rPr lang="zh-CN" altLang="en-US" dirty="0"/>
              <a:t>值的长度。</a:t>
            </a:r>
            <a:endParaRPr lang="en-US" altLang="zh-CN" dirty="0"/>
          </a:p>
          <a:p>
            <a:pPr lvl="1"/>
            <a:r>
              <a:rPr lang="en-US" altLang="zh-CN" dirty="0"/>
              <a:t>SA</a:t>
            </a:r>
            <a:r>
              <a:rPr lang="zh-CN" altLang="en-US" dirty="0"/>
              <a:t>：</a:t>
            </a:r>
            <a:r>
              <a:rPr lang="en-US" altLang="zh-CN" dirty="0"/>
              <a:t>1 bit</a:t>
            </a:r>
            <a:r>
              <a:rPr lang="zh-CN" altLang="en-US" dirty="0"/>
              <a:t>，抑制发布邻接关系位。用于发生</a:t>
            </a:r>
            <a:r>
              <a:rPr lang="en-US" altLang="zh-CN" dirty="0"/>
              <a:t>Starting</a:t>
            </a:r>
            <a:r>
              <a:rPr lang="zh-CN" altLang="en-US" dirty="0"/>
              <a:t>的设备请求邻居抑制与自己相关的邻居关系的广播，以避免路由黑洞。</a:t>
            </a:r>
            <a:endParaRPr lang="en-US" altLang="zh-CN" dirty="0"/>
          </a:p>
          <a:p>
            <a:pPr lvl="1"/>
            <a:r>
              <a:rPr lang="en-US" altLang="zh-CN" dirty="0"/>
              <a:t>RA</a:t>
            </a:r>
            <a:r>
              <a:rPr lang="zh-CN" altLang="en-US" dirty="0"/>
              <a:t>：</a:t>
            </a:r>
            <a:r>
              <a:rPr lang="en-US" altLang="zh-CN" dirty="0"/>
              <a:t>1 bit</a:t>
            </a:r>
            <a:r>
              <a:rPr lang="zh-CN" altLang="en-US" dirty="0"/>
              <a:t>，重启应答位。设备发送的</a:t>
            </a:r>
            <a:r>
              <a:rPr lang="en-US" altLang="zh-CN" dirty="0"/>
              <a:t>RA</a:t>
            </a:r>
            <a:r>
              <a:rPr lang="zh-CN" altLang="en-US" dirty="0"/>
              <a:t>置位的</a:t>
            </a:r>
            <a:r>
              <a:rPr lang="en-US" altLang="zh-CN" dirty="0"/>
              <a:t>Hello</a:t>
            </a:r>
            <a:r>
              <a:rPr lang="zh-CN" altLang="en-US" dirty="0"/>
              <a:t>报文用于通告邻居确认收到了</a:t>
            </a:r>
            <a:r>
              <a:rPr lang="en-US" altLang="zh-CN" dirty="0"/>
              <a:t>RR</a:t>
            </a:r>
            <a:r>
              <a:rPr lang="zh-CN" altLang="en-US" dirty="0"/>
              <a:t>置位的报文。</a:t>
            </a:r>
            <a:endParaRPr lang="en-US" altLang="zh-CN" dirty="0"/>
          </a:p>
        </p:txBody>
      </p:sp>
      <p:sp>
        <p:nvSpPr>
          <p:cNvPr id="9" name="幻灯片图像占位符 8"/>
          <p:cNvSpPr>
            <a:spLocks noGrp="1" noRot="1" noChangeAspect="1"/>
          </p:cNvSpPr>
          <p:nvPr>
            <p:ph type="sldImg"/>
          </p:nvPr>
        </p:nvSpPr>
        <p:spPr>
          <a:xfrm>
            <a:off x="742950" y="717550"/>
            <a:ext cx="5557838" cy="3125788"/>
          </a:xfr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31838" y="728663"/>
            <a:ext cx="5580062" cy="8366172"/>
          </a:xfrm>
        </p:spPr>
        <p:txBody>
          <a:bodyPr/>
          <a:lstStyle/>
          <a:p>
            <a:pPr lvl="1"/>
            <a:r>
              <a:rPr lang="en-US" altLang="zh-CN" dirty="0"/>
              <a:t>RR</a:t>
            </a:r>
            <a:r>
              <a:rPr lang="zh-CN" altLang="en-US" dirty="0"/>
              <a:t>：</a:t>
            </a:r>
            <a:r>
              <a:rPr lang="en-US" altLang="zh-CN" dirty="0"/>
              <a:t>1 bit</a:t>
            </a:r>
            <a:r>
              <a:rPr lang="zh-CN" altLang="en-US" dirty="0"/>
              <a:t>，重启请求位。设备发送的</a:t>
            </a:r>
            <a:r>
              <a:rPr lang="en-US" altLang="zh-CN" dirty="0"/>
              <a:t>RR</a:t>
            </a:r>
            <a:r>
              <a:rPr lang="zh-CN" altLang="en-US" dirty="0"/>
              <a:t>置位的</a:t>
            </a:r>
            <a:r>
              <a:rPr lang="en-US" altLang="zh-CN" dirty="0"/>
              <a:t>Hello</a:t>
            </a:r>
            <a:r>
              <a:rPr lang="zh-CN" altLang="en-US" dirty="0"/>
              <a:t>报文用于通告邻居自己发生</a:t>
            </a:r>
            <a:r>
              <a:rPr lang="en-US" altLang="zh-CN" dirty="0"/>
              <a:t>Restarting/Starting</a:t>
            </a:r>
            <a:r>
              <a:rPr lang="zh-CN" altLang="en-US" dirty="0"/>
              <a:t>，请求邻居保留当前的</a:t>
            </a:r>
            <a:r>
              <a:rPr lang="en-US" altLang="zh-CN" dirty="0"/>
              <a:t>IS-IS</a:t>
            </a:r>
            <a:r>
              <a:rPr lang="zh-CN" altLang="en-US" dirty="0"/>
              <a:t>邻接关系并返回</a:t>
            </a:r>
            <a:r>
              <a:rPr lang="en-US" altLang="zh-CN" dirty="0"/>
              <a:t>CSNP</a:t>
            </a:r>
            <a:r>
              <a:rPr lang="zh-CN" altLang="en-US" dirty="0"/>
              <a:t>报文。</a:t>
            </a:r>
            <a:endParaRPr lang="en-US" altLang="zh-CN" dirty="0"/>
          </a:p>
          <a:p>
            <a:pPr lvl="1"/>
            <a:r>
              <a:rPr lang="en-US" altLang="zh-CN" dirty="0"/>
              <a:t>Remaining Time</a:t>
            </a:r>
            <a:r>
              <a:rPr lang="zh-CN" altLang="en-US" dirty="0"/>
              <a:t>：</a:t>
            </a:r>
            <a:r>
              <a:rPr lang="en-US" altLang="zh-CN" dirty="0"/>
              <a:t>2 Byte</a:t>
            </a:r>
            <a:r>
              <a:rPr lang="zh-CN" altLang="en-US" dirty="0"/>
              <a:t>，邻居保持邻接关系不重置的时间，单位是秒。当</a:t>
            </a:r>
            <a:r>
              <a:rPr lang="en-US" altLang="zh-CN" dirty="0"/>
              <a:t>RA</a:t>
            </a:r>
            <a:r>
              <a:rPr lang="zh-CN" altLang="en-US" dirty="0"/>
              <a:t>置位时，这个值是必需的。</a:t>
            </a:r>
            <a:endParaRPr lang="en-US" altLang="zh-CN" dirty="0"/>
          </a:p>
          <a:p>
            <a:pPr lvl="0"/>
            <a:r>
              <a:rPr lang="zh-CN" altLang="en-US" dirty="0"/>
              <a:t>定时器补充说明：</a:t>
            </a:r>
            <a:endParaRPr lang="en-US" altLang="zh-CN" dirty="0"/>
          </a:p>
          <a:p>
            <a:pPr lvl="1"/>
            <a:r>
              <a:rPr lang="en-US" altLang="zh-CN" dirty="0"/>
              <a:t>T1</a:t>
            </a:r>
            <a:r>
              <a:rPr lang="zh-CN" altLang="en-US" dirty="0"/>
              <a:t>定时器：使能了</a:t>
            </a:r>
            <a:r>
              <a:rPr lang="en-US" altLang="zh-CN" dirty="0"/>
              <a:t>IS-IS GR</a:t>
            </a:r>
            <a:r>
              <a:rPr lang="zh-CN" altLang="en-US" dirty="0"/>
              <a:t>特性的进程，在每个接口都会维护一个</a:t>
            </a:r>
            <a:r>
              <a:rPr lang="en-US" altLang="zh-CN" dirty="0"/>
              <a:t>T1</a:t>
            </a:r>
            <a:r>
              <a:rPr lang="zh-CN" altLang="en-US" dirty="0"/>
              <a:t>定时器。在</a:t>
            </a:r>
            <a:r>
              <a:rPr lang="en-US" altLang="zh-CN" dirty="0"/>
              <a:t>Level-1-2</a:t>
            </a:r>
            <a:r>
              <a:rPr lang="zh-CN" altLang="en-US" dirty="0"/>
              <a:t>路由器上，广播网接口为每个</a:t>
            </a:r>
            <a:r>
              <a:rPr lang="en-US" altLang="zh-CN" dirty="0"/>
              <a:t>Level</a:t>
            </a:r>
            <a:r>
              <a:rPr lang="zh-CN" altLang="en-US" dirty="0"/>
              <a:t>维护一个</a:t>
            </a:r>
            <a:r>
              <a:rPr lang="en-US" altLang="zh-CN" dirty="0"/>
              <a:t>T1</a:t>
            </a:r>
            <a:r>
              <a:rPr lang="zh-CN" altLang="en-US" dirty="0"/>
              <a:t>定时器。</a:t>
            </a:r>
            <a:endParaRPr lang="en-US" altLang="zh-CN" dirty="0"/>
          </a:p>
          <a:p>
            <a:pPr lvl="1"/>
            <a:r>
              <a:rPr lang="en-US" altLang="zh-CN" dirty="0"/>
              <a:t>T2</a:t>
            </a:r>
            <a:r>
              <a:rPr lang="zh-CN" altLang="en-US" dirty="0"/>
              <a:t>定时器：</a:t>
            </a:r>
            <a:r>
              <a:rPr lang="en-US" altLang="zh-CN" dirty="0"/>
              <a:t>Level-1</a:t>
            </a:r>
            <a:r>
              <a:rPr lang="zh-CN" altLang="en-US" dirty="0"/>
              <a:t>和</a:t>
            </a:r>
            <a:r>
              <a:rPr lang="en-US" altLang="zh-CN" dirty="0"/>
              <a:t>Level-2</a:t>
            </a:r>
            <a:r>
              <a:rPr lang="zh-CN" altLang="en-US" dirty="0"/>
              <a:t>的</a:t>
            </a:r>
            <a:r>
              <a:rPr lang="en-US" altLang="zh-CN" dirty="0"/>
              <a:t>LSDB</a:t>
            </a:r>
            <a:r>
              <a:rPr lang="zh-CN" altLang="en-US" dirty="0"/>
              <a:t>各维护一个</a:t>
            </a:r>
            <a:r>
              <a:rPr lang="en-US" altLang="zh-CN" dirty="0"/>
              <a:t>T2</a:t>
            </a:r>
            <a:r>
              <a:rPr lang="zh-CN" altLang="en-US" dirty="0"/>
              <a:t>定时器。</a:t>
            </a:r>
            <a:endParaRPr lang="en-US" altLang="zh-CN" dirty="0"/>
          </a:p>
          <a:p>
            <a:pPr lvl="1"/>
            <a:r>
              <a:rPr lang="en-US" altLang="zh-CN" dirty="0"/>
              <a:t>T3</a:t>
            </a:r>
            <a:r>
              <a:rPr lang="zh-CN" altLang="en-US" dirty="0"/>
              <a:t>定时器：</a:t>
            </a:r>
            <a:r>
              <a:rPr lang="en-US" altLang="zh-CN" dirty="0"/>
              <a:t>T3</a:t>
            </a:r>
            <a:r>
              <a:rPr lang="zh-CN" altLang="en-US" dirty="0"/>
              <a:t>定时器的初始值为</a:t>
            </a:r>
            <a:r>
              <a:rPr lang="en-US" altLang="zh-CN" dirty="0"/>
              <a:t>65535</a:t>
            </a:r>
            <a:r>
              <a:rPr lang="zh-CN" altLang="en-US" dirty="0"/>
              <a:t>秒，但在收到邻居回应的</a:t>
            </a:r>
            <a:r>
              <a:rPr lang="en-US" altLang="zh-CN" dirty="0"/>
              <a:t>RA</a:t>
            </a:r>
            <a:r>
              <a:rPr lang="zh-CN" altLang="en-US" dirty="0"/>
              <a:t>置位的</a:t>
            </a:r>
            <a:r>
              <a:rPr lang="en-US" altLang="zh-CN" dirty="0"/>
              <a:t>IIH</a:t>
            </a:r>
            <a:r>
              <a:rPr lang="zh-CN" altLang="en-US" dirty="0"/>
              <a:t>报文后，取值会变为各个</a:t>
            </a:r>
            <a:r>
              <a:rPr lang="en-US" altLang="zh-CN" dirty="0"/>
              <a:t>IIH</a:t>
            </a:r>
            <a:r>
              <a:rPr lang="zh-CN" altLang="en-US" dirty="0"/>
              <a:t>报文的</a:t>
            </a:r>
            <a:r>
              <a:rPr lang="en-US" altLang="zh-CN" dirty="0"/>
              <a:t>Remaining time</a:t>
            </a:r>
            <a:r>
              <a:rPr lang="zh-CN" altLang="en-US" dirty="0"/>
              <a:t>字段值中的最小者。整个系统维护一个</a:t>
            </a:r>
            <a:r>
              <a:rPr lang="en-US" altLang="zh-CN" dirty="0"/>
              <a:t>T3</a:t>
            </a:r>
            <a:r>
              <a:rPr lang="zh-CN" altLang="en-US" dirty="0"/>
              <a:t>定时器。</a:t>
            </a:r>
            <a:endParaRPr lang="zh-CN" altLang="en-US" dirty="0"/>
          </a:p>
          <a:p>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注意：</a:t>
            </a:r>
            <a:endParaRPr lang="en-US" altLang="zh-CN" dirty="0"/>
          </a:p>
          <a:p>
            <a:pPr lvl="1"/>
            <a:r>
              <a:rPr lang="zh-CN" altLang="en-US" dirty="0"/>
              <a:t>在步骤</a:t>
            </a:r>
            <a:r>
              <a:rPr lang="en-US" altLang="zh-CN" dirty="0"/>
              <a:t>2</a:t>
            </a:r>
            <a:r>
              <a:rPr lang="zh-CN" altLang="en-US" dirty="0"/>
              <a:t>时，如果邻居设备不具备</a:t>
            </a:r>
            <a:r>
              <a:rPr lang="en-US" altLang="zh-CN" dirty="0"/>
              <a:t>GR Helper</a:t>
            </a:r>
            <a:r>
              <a:rPr lang="zh-CN" altLang="en-US" dirty="0"/>
              <a:t>能力，就忽略</a:t>
            </a:r>
            <a:r>
              <a:rPr lang="en-US" altLang="zh-CN" dirty="0"/>
              <a:t>Restart TLV</a:t>
            </a:r>
            <a:r>
              <a:rPr lang="zh-CN" altLang="en-US" dirty="0"/>
              <a:t>，按正常的</a:t>
            </a:r>
            <a:r>
              <a:rPr lang="en-US" altLang="zh-CN" dirty="0"/>
              <a:t>IS-IS</a:t>
            </a:r>
            <a:r>
              <a:rPr lang="zh-CN" altLang="en-US" dirty="0"/>
              <a:t>过程处理，重置和</a:t>
            </a:r>
            <a:r>
              <a:rPr lang="en-US" altLang="zh-CN" dirty="0"/>
              <a:t>GR </a:t>
            </a:r>
            <a:r>
              <a:rPr lang="en-US" altLang="zh-CN" dirty="0" err="1"/>
              <a:t>Restarter</a:t>
            </a:r>
            <a:r>
              <a:rPr lang="zh-CN" altLang="en-US" dirty="0"/>
              <a:t>的邻接关系。</a:t>
            </a:r>
            <a:endParaRPr lang="en-US" altLang="zh-CN" dirty="0"/>
          </a:p>
          <a:p>
            <a:pPr lvl="1"/>
            <a:r>
              <a:rPr lang="zh-CN" altLang="en-US" dirty="0"/>
              <a:t>在步骤</a:t>
            </a:r>
            <a:r>
              <a:rPr lang="en-US" altLang="zh-CN" dirty="0"/>
              <a:t>3</a:t>
            </a:r>
            <a:r>
              <a:rPr lang="zh-CN" altLang="en-US" dirty="0"/>
              <a:t>时，即在</a:t>
            </a:r>
            <a:r>
              <a:rPr lang="en-US" altLang="zh-CN" dirty="0"/>
              <a:t>GR</a:t>
            </a:r>
            <a:r>
              <a:rPr lang="zh-CN" altLang="en-US" dirty="0"/>
              <a:t>期间，</a:t>
            </a:r>
            <a:r>
              <a:rPr lang="en-US" altLang="zh-CN" dirty="0" err="1"/>
              <a:t>Restarter</a:t>
            </a:r>
            <a:r>
              <a:rPr lang="zh-CN" altLang="en-US" dirty="0"/>
              <a:t>设备会将</a:t>
            </a:r>
            <a:r>
              <a:rPr lang="en-US" altLang="zh-CN" dirty="0"/>
              <a:t>T3</a:t>
            </a:r>
            <a:r>
              <a:rPr lang="zh-CN" altLang="en-US" dirty="0"/>
              <a:t>定时器的时间设置为邻居保持时间，避免</a:t>
            </a:r>
            <a:r>
              <a:rPr lang="en-US" altLang="zh-CN" dirty="0"/>
              <a:t>GR</a:t>
            </a:r>
            <a:r>
              <a:rPr lang="zh-CN" altLang="en-US" dirty="0"/>
              <a:t>期间邻居断连造成整个网络路由的重新计算。</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在</a:t>
            </a:r>
            <a:r>
              <a:rPr lang="en-US" altLang="zh-CN" dirty="0"/>
              <a:t>Restarting</a:t>
            </a:r>
            <a:r>
              <a:rPr lang="zh-CN" altLang="en-US" dirty="0"/>
              <a:t>过程中，</a:t>
            </a:r>
            <a:r>
              <a:rPr lang="en-US" altLang="zh-CN" dirty="0"/>
              <a:t>Restarter</a:t>
            </a:r>
            <a:r>
              <a:rPr lang="zh-CN" altLang="en-US" dirty="0"/>
              <a:t>设备进行协议重启后会同时启动</a:t>
            </a:r>
            <a:r>
              <a:rPr lang="en-US" altLang="zh-CN" dirty="0"/>
              <a:t>T1</a:t>
            </a:r>
            <a:r>
              <a:rPr lang="zh-CN" altLang="en-US" dirty="0"/>
              <a:t>、</a:t>
            </a:r>
            <a:r>
              <a:rPr lang="en-US" altLang="zh-CN" dirty="0"/>
              <a:t>T2</a:t>
            </a:r>
            <a:r>
              <a:rPr lang="zh-CN" altLang="en-US" dirty="0"/>
              <a:t>和</a:t>
            </a:r>
            <a:r>
              <a:rPr lang="en-US" altLang="zh-CN" dirty="0"/>
              <a:t>T3</a:t>
            </a:r>
            <a:r>
              <a:rPr lang="zh-CN" altLang="en-US" dirty="0"/>
              <a:t>定时器。</a:t>
            </a:r>
            <a:r>
              <a:rPr lang="en-US" altLang="zh-CN" dirty="0"/>
              <a:t>T1</a:t>
            </a:r>
            <a:r>
              <a:rPr lang="zh-CN" altLang="en-US" dirty="0"/>
              <a:t>定时器用来控制</a:t>
            </a:r>
            <a:r>
              <a:rPr lang="en-US" altLang="zh-CN" dirty="0"/>
              <a:t>Restarter</a:t>
            </a:r>
            <a:r>
              <a:rPr lang="zh-CN" altLang="en-US" dirty="0"/>
              <a:t>设备收到</a:t>
            </a:r>
            <a:r>
              <a:rPr lang="en-US" altLang="zh-CN" dirty="0"/>
              <a:t>Helper</a:t>
            </a:r>
            <a:r>
              <a:rPr lang="zh-CN" altLang="en-US" dirty="0"/>
              <a:t>设备发送的确认</a:t>
            </a:r>
            <a:r>
              <a:rPr lang="en-US" altLang="zh-CN" b="0" dirty="0"/>
              <a:t>GR</a:t>
            </a:r>
            <a:r>
              <a:rPr lang="zh-CN" altLang="en-US" b="0" dirty="0"/>
              <a:t>的</a:t>
            </a:r>
            <a:r>
              <a:rPr lang="en-US" altLang="zh-CN" b="0" dirty="0"/>
              <a:t>IIH</a:t>
            </a:r>
            <a:r>
              <a:rPr lang="zh-CN" altLang="en-US" b="0" dirty="0"/>
              <a:t>报文</a:t>
            </a:r>
            <a:r>
              <a:rPr lang="zh-CN" altLang="en-US" dirty="0"/>
              <a:t>的时间，</a:t>
            </a:r>
            <a:r>
              <a:rPr lang="en-US" altLang="zh-CN" dirty="0"/>
              <a:t>T2</a:t>
            </a:r>
            <a:r>
              <a:rPr lang="zh-CN" altLang="en-US" dirty="0"/>
              <a:t>定时器是系统等待</a:t>
            </a:r>
            <a:r>
              <a:rPr lang="en-US" altLang="zh-CN" dirty="0"/>
              <a:t>LSDB</a:t>
            </a:r>
            <a:r>
              <a:rPr lang="zh-CN" altLang="en-US" dirty="0"/>
              <a:t>同步的最长时间，</a:t>
            </a:r>
            <a:r>
              <a:rPr lang="en-US" altLang="zh-CN" dirty="0"/>
              <a:t>T3</a:t>
            </a:r>
            <a:r>
              <a:rPr lang="zh-CN" altLang="en-US" dirty="0"/>
              <a:t>定时器控制</a:t>
            </a:r>
            <a:r>
              <a:rPr lang="en-US" altLang="zh-CN" dirty="0"/>
              <a:t>GR</a:t>
            </a:r>
            <a:r>
              <a:rPr lang="zh-CN" altLang="en-US" dirty="0"/>
              <a:t>完成的时间。正常的</a:t>
            </a:r>
            <a:r>
              <a:rPr lang="en-US" altLang="zh-CN" dirty="0"/>
              <a:t>GR</a:t>
            </a:r>
            <a:r>
              <a:rPr lang="zh-CN" altLang="en-US" dirty="0"/>
              <a:t>过程中，当</a:t>
            </a:r>
            <a:r>
              <a:rPr lang="en-US" altLang="zh-CN" dirty="0"/>
              <a:t>Level-1</a:t>
            </a:r>
            <a:r>
              <a:rPr lang="zh-CN" altLang="en-US" dirty="0"/>
              <a:t>和</a:t>
            </a:r>
            <a:r>
              <a:rPr lang="en-US" altLang="zh-CN" dirty="0"/>
              <a:t>Level-2</a:t>
            </a:r>
            <a:r>
              <a:rPr lang="zh-CN" altLang="en-US" dirty="0"/>
              <a:t>都完成了</a:t>
            </a:r>
            <a:r>
              <a:rPr lang="en-US" altLang="zh-CN" dirty="0"/>
              <a:t>LSDB</a:t>
            </a:r>
            <a:r>
              <a:rPr lang="zh-CN" altLang="en-US" dirty="0"/>
              <a:t>同步后，取消</a:t>
            </a:r>
            <a:r>
              <a:rPr lang="en-US" altLang="zh-CN" dirty="0"/>
              <a:t>T3</a:t>
            </a:r>
            <a:r>
              <a:rPr lang="zh-CN" altLang="en-US" dirty="0"/>
              <a:t>定时器。如果</a:t>
            </a:r>
            <a:r>
              <a:rPr lang="en-US" altLang="zh-CN" dirty="0"/>
              <a:t>T3</a:t>
            </a:r>
            <a:r>
              <a:rPr lang="zh-CN" altLang="en-US" dirty="0"/>
              <a:t>定时器超时仍未完成</a:t>
            </a:r>
            <a:r>
              <a:rPr lang="en-US" altLang="zh-CN" dirty="0"/>
              <a:t>LSDB</a:t>
            </a:r>
            <a:r>
              <a:rPr lang="zh-CN" altLang="en-US" dirty="0"/>
              <a:t>同步，则</a:t>
            </a:r>
            <a:r>
              <a:rPr lang="en-US" altLang="zh-CN" dirty="0"/>
              <a:t>GR</a:t>
            </a:r>
            <a:r>
              <a:rPr lang="zh-CN" altLang="en-US" dirty="0"/>
              <a:t>失败。</a:t>
            </a:r>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r>
              <a:rPr lang="zh-CN" altLang="en-US" dirty="0"/>
              <a:t>步骤</a:t>
            </a:r>
            <a:r>
              <a:rPr lang="en-US" altLang="zh-CN" dirty="0"/>
              <a:t>1</a:t>
            </a:r>
            <a:r>
              <a:rPr lang="zh-CN" altLang="en-US" dirty="0"/>
              <a:t>补充说明：</a:t>
            </a:r>
            <a:endParaRPr lang="en-US" altLang="zh-CN" dirty="0"/>
          </a:p>
          <a:p>
            <a:pPr lvl="1"/>
            <a:r>
              <a:rPr lang="en-US" altLang="zh-CN" dirty="0"/>
              <a:t>RR</a:t>
            </a:r>
            <a:r>
              <a:rPr lang="zh-CN" altLang="en-US" dirty="0"/>
              <a:t>位清除表示</a:t>
            </a:r>
            <a:r>
              <a:rPr lang="en-US" altLang="zh-CN" dirty="0"/>
              <a:t>Starting</a:t>
            </a:r>
            <a:r>
              <a:rPr lang="zh-CN" altLang="en-US" dirty="0"/>
              <a:t>完成。</a:t>
            </a:r>
            <a:endParaRPr lang="en-US" altLang="zh-CN" dirty="0"/>
          </a:p>
          <a:p>
            <a:pPr lvl="1"/>
            <a:r>
              <a:rPr lang="en-US" altLang="zh-CN" dirty="0"/>
              <a:t>SA</a:t>
            </a:r>
            <a:r>
              <a:rPr lang="zh-CN" altLang="en-US" dirty="0"/>
              <a:t>位置位则表示希望邻居在收到</a:t>
            </a:r>
            <a:r>
              <a:rPr lang="en-US" altLang="zh-CN" dirty="0"/>
              <a:t>SA</a:t>
            </a:r>
            <a:r>
              <a:rPr lang="zh-CN" altLang="en-US" dirty="0"/>
              <a:t>位清除的</a:t>
            </a:r>
            <a:r>
              <a:rPr lang="en-US" altLang="zh-CN" dirty="0"/>
              <a:t>IIH</a:t>
            </a:r>
            <a:r>
              <a:rPr lang="zh-CN" altLang="en-US" dirty="0"/>
              <a:t>报文之前，一直抑制和自己的邻接关系的发布。</a:t>
            </a:r>
            <a:endParaRPr lang="en-US" altLang="zh-CN" dirty="0"/>
          </a:p>
          <a:p>
            <a:pPr lvl="0"/>
            <a:r>
              <a:rPr lang="zh-CN" altLang="en-US" dirty="0"/>
              <a:t>步骤</a:t>
            </a:r>
            <a:r>
              <a:rPr lang="en-US" altLang="zh-CN" dirty="0"/>
              <a:t>2</a:t>
            </a:r>
            <a:r>
              <a:rPr lang="zh-CN" altLang="en-US" dirty="0"/>
              <a:t>补充说明：</a:t>
            </a:r>
            <a:endParaRPr lang="en-US" altLang="zh-CN" dirty="0"/>
          </a:p>
          <a:p>
            <a:pPr lvl="1"/>
            <a:r>
              <a:rPr lang="zh-CN" altLang="en-US" dirty="0"/>
              <a:t>支持</a:t>
            </a:r>
            <a:r>
              <a:rPr lang="en-US" altLang="zh-CN" dirty="0"/>
              <a:t>GR</a:t>
            </a:r>
            <a:r>
              <a:rPr lang="zh-CN" altLang="en-US" dirty="0"/>
              <a:t>：重新初始化邻接关系。在发送的</a:t>
            </a:r>
            <a:r>
              <a:rPr lang="en-US" altLang="zh-CN" dirty="0"/>
              <a:t>LSP</a:t>
            </a:r>
            <a:r>
              <a:rPr lang="zh-CN" altLang="en-US" dirty="0"/>
              <a:t>中取消和</a:t>
            </a:r>
            <a:r>
              <a:rPr lang="en-US" altLang="zh-CN" dirty="0"/>
              <a:t>GR Restarter</a:t>
            </a:r>
            <a:r>
              <a:rPr lang="zh-CN" altLang="en-US" dirty="0"/>
              <a:t>邻接关系的描述，进行</a:t>
            </a:r>
            <a:r>
              <a:rPr lang="en-US" altLang="zh-CN" dirty="0"/>
              <a:t>SPF</a:t>
            </a:r>
            <a:r>
              <a:rPr lang="zh-CN" altLang="en-US" dirty="0"/>
              <a:t>计算时也不考虑和</a:t>
            </a:r>
            <a:r>
              <a:rPr lang="en-US" altLang="zh-CN" dirty="0"/>
              <a:t>GR Restarter</a:t>
            </a:r>
            <a:r>
              <a:rPr lang="zh-CN" altLang="en-US" dirty="0"/>
              <a:t>相连的链路，直到收到</a:t>
            </a:r>
            <a:r>
              <a:rPr lang="en-US" altLang="zh-CN" dirty="0"/>
              <a:t>SA</a:t>
            </a:r>
            <a:r>
              <a:rPr lang="zh-CN" altLang="en-US" dirty="0"/>
              <a:t>位清除的</a:t>
            </a:r>
            <a:r>
              <a:rPr lang="en-US" altLang="zh-CN" dirty="0"/>
              <a:t>IIH</a:t>
            </a:r>
            <a:r>
              <a:rPr lang="zh-CN" altLang="en-US" dirty="0"/>
              <a:t>为止。</a:t>
            </a:r>
            <a:endParaRPr lang="zh-CN" altLang="en-US" dirty="0"/>
          </a:p>
          <a:p>
            <a:pPr lvl="1"/>
            <a:r>
              <a:rPr lang="zh-CN" altLang="en-US" dirty="0"/>
              <a:t>不支持</a:t>
            </a:r>
            <a:r>
              <a:rPr lang="en-US" altLang="zh-CN" dirty="0"/>
              <a:t>GR</a:t>
            </a:r>
            <a:r>
              <a:rPr lang="zh-CN" altLang="en-US" dirty="0"/>
              <a:t>：邻居忽略</a:t>
            </a:r>
            <a:r>
              <a:rPr lang="en-US" altLang="zh-CN" dirty="0"/>
              <a:t>Restart TLV</a:t>
            </a:r>
            <a:r>
              <a:rPr lang="zh-CN" altLang="en-US" dirty="0"/>
              <a:t>，重置和</a:t>
            </a:r>
            <a:r>
              <a:rPr lang="en-US" altLang="zh-CN" dirty="0"/>
              <a:t>GR Restarter</a:t>
            </a:r>
            <a:r>
              <a:rPr lang="zh-CN" altLang="en-US" dirty="0"/>
              <a:t>之间的邻接关系。回应一个不含</a:t>
            </a:r>
            <a:r>
              <a:rPr lang="en-US" altLang="zh-CN" dirty="0"/>
              <a:t>Restart TLV</a:t>
            </a:r>
            <a:r>
              <a:rPr lang="zh-CN" altLang="en-US" dirty="0"/>
              <a:t>的</a:t>
            </a:r>
            <a:r>
              <a:rPr lang="en-US" altLang="zh-CN" dirty="0"/>
              <a:t>IIH</a:t>
            </a:r>
            <a:r>
              <a:rPr lang="zh-CN" altLang="en-US" dirty="0"/>
              <a:t>报文，转入正常的</a:t>
            </a:r>
            <a:r>
              <a:rPr lang="en-US" altLang="zh-CN" dirty="0"/>
              <a:t>IS-IS</a:t>
            </a:r>
            <a:r>
              <a:rPr lang="zh-CN" altLang="en-US" dirty="0"/>
              <a:t>处理流程。这时不会抑制和</a:t>
            </a:r>
            <a:r>
              <a:rPr lang="en-US" altLang="zh-CN" dirty="0"/>
              <a:t>GR Restarter</a:t>
            </a:r>
            <a:r>
              <a:rPr lang="zh-CN" altLang="en-US" dirty="0"/>
              <a:t>的邻接关系的发布。在点到点链路上，还会发送一个</a:t>
            </a:r>
            <a:r>
              <a:rPr lang="en-US" altLang="zh-CN" dirty="0"/>
              <a:t>CSNP</a:t>
            </a:r>
            <a:r>
              <a:rPr lang="zh-CN" altLang="en-US" dirty="0"/>
              <a:t>报文。</a:t>
            </a:r>
            <a:endParaRPr lang="zh-CN" altLang="en-US" dirty="0"/>
          </a:p>
          <a:p>
            <a:pPr lvl="1"/>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b="1" dirty="0"/>
              <a:t>graceful-restart no-impact-</a:t>
            </a:r>
            <a:r>
              <a:rPr lang="en-US" altLang="zh-CN" b="1" dirty="0" err="1"/>
              <a:t>holdtime</a:t>
            </a:r>
            <a:r>
              <a:rPr lang="zh-CN" altLang="en-US" dirty="0"/>
              <a:t>应用场景：</a:t>
            </a:r>
            <a:endParaRPr lang="en-US" altLang="zh-CN" dirty="0"/>
          </a:p>
          <a:p>
            <a:pPr lvl="1"/>
            <a:r>
              <a:rPr lang="zh-CN" altLang="en-US" dirty="0"/>
              <a:t>在</a:t>
            </a:r>
            <a:r>
              <a:rPr lang="en-US" altLang="zh-CN" dirty="0"/>
              <a:t>IS-IS</a:t>
            </a:r>
            <a:r>
              <a:rPr lang="zh-CN" altLang="en-US" dirty="0"/>
              <a:t>网络中，如果一端配置了</a:t>
            </a:r>
            <a:r>
              <a:rPr lang="en-US" altLang="zh-CN" dirty="0"/>
              <a:t>GR</a:t>
            </a:r>
            <a:r>
              <a:rPr lang="zh-CN" altLang="en-US" dirty="0"/>
              <a:t>，</a:t>
            </a:r>
            <a:r>
              <a:rPr lang="zh-CN" altLang="en-US" b="0" dirty="0"/>
              <a:t>则邻居会自动刷新邻居</a:t>
            </a:r>
            <a:r>
              <a:rPr lang="zh-CN" altLang="en-US" dirty="0"/>
              <a:t>保持时间</a:t>
            </a:r>
            <a:r>
              <a:rPr lang="en-US" altLang="zh-CN" dirty="0" err="1"/>
              <a:t>Holdtime</a:t>
            </a:r>
            <a:r>
              <a:rPr lang="zh-CN" altLang="en-US" dirty="0"/>
              <a:t>，如果原</a:t>
            </a:r>
            <a:r>
              <a:rPr lang="en-US" altLang="zh-CN" dirty="0" err="1"/>
              <a:t>Holdtime</a:t>
            </a:r>
            <a:r>
              <a:rPr lang="zh-CN" altLang="en-US" dirty="0"/>
              <a:t>值小于</a:t>
            </a:r>
            <a:r>
              <a:rPr lang="en-US" altLang="zh-CN" dirty="0"/>
              <a:t>60</a:t>
            </a:r>
            <a:r>
              <a:rPr lang="zh-CN" altLang="en-US" dirty="0"/>
              <a:t>秒则刷新为</a:t>
            </a:r>
            <a:r>
              <a:rPr lang="en-US" altLang="zh-CN" dirty="0"/>
              <a:t>60</a:t>
            </a:r>
            <a:r>
              <a:rPr lang="zh-CN" altLang="en-US" dirty="0"/>
              <a:t>秒，否则保留原</a:t>
            </a:r>
            <a:r>
              <a:rPr lang="en-US" altLang="zh-CN" dirty="0" err="1"/>
              <a:t>Holdtime</a:t>
            </a:r>
            <a:r>
              <a:rPr lang="zh-CN" altLang="en-US" dirty="0"/>
              <a:t>值，即刷新后邻居的</a:t>
            </a:r>
            <a:r>
              <a:rPr lang="en-US" altLang="zh-CN" dirty="0" err="1"/>
              <a:t>Holdtime</a:t>
            </a:r>
            <a:r>
              <a:rPr lang="zh-CN" altLang="en-US" dirty="0"/>
              <a:t>值最小为</a:t>
            </a:r>
            <a:r>
              <a:rPr lang="en-US" altLang="zh-CN" dirty="0"/>
              <a:t>60</a:t>
            </a:r>
            <a:r>
              <a:rPr lang="zh-CN" altLang="en-US" dirty="0"/>
              <a:t>秒。因此，在非</a:t>
            </a:r>
            <a:r>
              <a:rPr lang="en-US" altLang="zh-CN" dirty="0"/>
              <a:t>GR</a:t>
            </a:r>
            <a:r>
              <a:rPr lang="zh-CN" altLang="en-US" dirty="0"/>
              <a:t>期间，链路一端发生了故障，则另一端至少需要</a:t>
            </a:r>
            <a:r>
              <a:rPr lang="en-US" altLang="zh-CN" dirty="0"/>
              <a:t>60</a:t>
            </a:r>
            <a:r>
              <a:rPr lang="zh-CN" altLang="en-US" dirty="0"/>
              <a:t>秒才能感知故障，在此期间可能会造成大量的丢包，降低了网络的安全性和可靠性。</a:t>
            </a:r>
            <a:endParaRPr lang="zh-CN" altLang="en-US" dirty="0"/>
          </a:p>
          <a:p>
            <a:pPr lvl="1"/>
            <a:r>
              <a:rPr lang="zh-CN" altLang="en-US" dirty="0"/>
              <a:t>基于上述情况，可以通过配置</a:t>
            </a:r>
            <a:r>
              <a:rPr lang="en-US" altLang="zh-CN" b="1" dirty="0"/>
              <a:t>graceful-restart no-impact-</a:t>
            </a:r>
            <a:r>
              <a:rPr lang="en-US" altLang="zh-CN" b="1" dirty="0" err="1"/>
              <a:t>holdtime</a:t>
            </a:r>
            <a:r>
              <a:rPr lang="zh-CN" altLang="en-US" dirty="0"/>
              <a:t>命令解决该问题，在配置</a:t>
            </a:r>
            <a:r>
              <a:rPr lang="en-US" altLang="zh-CN" dirty="0"/>
              <a:t>IS-IS GR</a:t>
            </a:r>
            <a:r>
              <a:rPr lang="zh-CN" altLang="en-US" dirty="0"/>
              <a:t>后，仍然可以快速检测邻居状态，实现网络快速收敛。</a:t>
            </a:r>
            <a:endParaRPr lang="en-US" altLang="zh-CN" dirty="0"/>
          </a:p>
          <a:p>
            <a:pPr lvl="0"/>
            <a:r>
              <a:rPr lang="zh-CN" altLang="en-US" dirty="0"/>
              <a:t>命令</a:t>
            </a:r>
            <a:r>
              <a:rPr lang="en-US" altLang="zh-CN" b="1" dirty="0"/>
              <a:t>graceful-restart interval</a:t>
            </a:r>
            <a:r>
              <a:rPr lang="en-US" altLang="zh-CN" dirty="0"/>
              <a:t> </a:t>
            </a:r>
            <a:r>
              <a:rPr lang="en-US" altLang="zh-CN" i="1" dirty="0"/>
              <a:t>interval-value</a:t>
            </a:r>
            <a:r>
              <a:rPr lang="zh-CN" altLang="en-US" dirty="0"/>
              <a:t>和命令</a:t>
            </a:r>
            <a:r>
              <a:rPr lang="en-US" altLang="zh-CN" b="1" dirty="0"/>
              <a:t>graceful-restart t2-interval</a:t>
            </a:r>
            <a:r>
              <a:rPr lang="en-US" altLang="zh-CN" dirty="0"/>
              <a:t> </a:t>
            </a:r>
            <a:r>
              <a:rPr lang="en-US" altLang="zh-CN" i="1" dirty="0"/>
              <a:t>interval-value</a:t>
            </a:r>
            <a:r>
              <a:rPr lang="zh-CN" altLang="en-US" dirty="0"/>
              <a:t>：</a:t>
            </a:r>
            <a:endParaRPr lang="en-US" altLang="zh-CN" dirty="0"/>
          </a:p>
          <a:p>
            <a:pPr lvl="1"/>
            <a:r>
              <a:rPr lang="en-US" altLang="zh-CN" b="1" dirty="0"/>
              <a:t>interval</a:t>
            </a:r>
            <a:r>
              <a:rPr lang="en-US" altLang="zh-CN" dirty="0"/>
              <a:t> </a:t>
            </a:r>
            <a:r>
              <a:rPr lang="en-US" altLang="zh-CN" i="1" dirty="0"/>
              <a:t>interval-value</a:t>
            </a:r>
            <a:r>
              <a:rPr lang="zh-CN" altLang="en-US" i="1" dirty="0"/>
              <a:t>：</a:t>
            </a:r>
            <a:r>
              <a:rPr lang="zh-CN" altLang="en-US" dirty="0"/>
              <a:t>指定</a:t>
            </a:r>
            <a:r>
              <a:rPr lang="en-US" altLang="zh-CN" dirty="0"/>
              <a:t>GR</a:t>
            </a:r>
            <a:r>
              <a:rPr lang="zh-CN" altLang="en-US" dirty="0"/>
              <a:t>过程中</a:t>
            </a:r>
            <a:r>
              <a:rPr lang="en-US" altLang="zh-CN" dirty="0"/>
              <a:t>T3</a:t>
            </a:r>
            <a:r>
              <a:rPr lang="zh-CN" altLang="en-US" dirty="0"/>
              <a:t>或</a:t>
            </a:r>
            <a:r>
              <a:rPr lang="en-US" altLang="zh-CN" dirty="0"/>
              <a:t>T2</a:t>
            </a:r>
            <a:r>
              <a:rPr lang="zh-CN" altLang="en-US" dirty="0"/>
              <a:t>定时器的时间。整数形式，取值范围是</a:t>
            </a:r>
            <a:r>
              <a:rPr lang="en-US" altLang="zh-CN" dirty="0"/>
              <a:t>30</a:t>
            </a:r>
            <a:r>
              <a:rPr lang="zh-CN" altLang="en-US" dirty="0"/>
              <a:t>～</a:t>
            </a:r>
            <a:r>
              <a:rPr lang="en-US" altLang="zh-CN" dirty="0"/>
              <a:t>1800</a:t>
            </a:r>
            <a:r>
              <a:rPr lang="zh-CN" altLang="en-US" dirty="0"/>
              <a:t>，单位是秒。</a:t>
            </a:r>
            <a:endParaRPr lang="en-US" altLang="zh-CN" dirty="0"/>
          </a:p>
          <a:p>
            <a:pPr lvl="1"/>
            <a:r>
              <a:rPr lang="zh-CN" altLang="en-US" dirty="0"/>
              <a:t>建议配置</a:t>
            </a:r>
            <a:r>
              <a:rPr lang="en-US" altLang="zh-CN" dirty="0"/>
              <a:t>T3</a:t>
            </a:r>
            <a:r>
              <a:rPr lang="zh-CN" altLang="en-US" dirty="0"/>
              <a:t>定时器的时间大于</a:t>
            </a:r>
            <a:r>
              <a:rPr lang="en-US" altLang="zh-CN" dirty="0"/>
              <a:t>T2</a:t>
            </a:r>
            <a:r>
              <a:rPr lang="zh-CN" altLang="en-US" dirty="0"/>
              <a:t>定时器的时间，否则可能会导致</a:t>
            </a:r>
            <a:r>
              <a:rPr lang="en-US" altLang="zh-CN" dirty="0"/>
              <a:t>GR</a:t>
            </a:r>
            <a:r>
              <a:rPr lang="zh-CN" altLang="en-US" dirty="0"/>
              <a:t>失败。</a:t>
            </a:r>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命令</a:t>
            </a:r>
            <a:r>
              <a:rPr lang="en-US" altLang="zh-CN" b="1" dirty="0"/>
              <a:t>graceful-restart suppress-</a:t>
            </a:r>
            <a:r>
              <a:rPr lang="en-US" altLang="zh-CN" b="1" dirty="0" err="1"/>
              <a:t>sa</a:t>
            </a:r>
            <a:r>
              <a:rPr lang="zh-CN" altLang="en-US" dirty="0"/>
              <a:t>应用场景：</a:t>
            </a:r>
            <a:endParaRPr lang="en-US" altLang="zh-CN" dirty="0"/>
          </a:p>
          <a:p>
            <a:pPr lvl="1"/>
            <a:r>
              <a:rPr lang="zh-CN" altLang="en-US" dirty="0"/>
              <a:t>第一次启动（不包括</a:t>
            </a:r>
            <a:r>
              <a:rPr lang="en-US" altLang="zh-CN" dirty="0"/>
              <a:t>GR</a:t>
            </a:r>
            <a:r>
              <a:rPr lang="zh-CN" altLang="en-US" dirty="0"/>
              <a:t>后）的路由器不会对转发状态进行维护。如果该路由器不是第一次启动，则它前一次运行时生成的</a:t>
            </a:r>
            <a:r>
              <a:rPr lang="en-US" altLang="zh-CN" dirty="0"/>
              <a:t>LSP</a:t>
            </a:r>
            <a:r>
              <a:rPr lang="zh-CN" altLang="en-US" dirty="0"/>
              <a:t>可能还存在于网络中其它路由器的</a:t>
            </a:r>
            <a:r>
              <a:rPr lang="en-US" altLang="zh-CN" dirty="0"/>
              <a:t>LSP</a:t>
            </a:r>
            <a:r>
              <a:rPr lang="zh-CN" altLang="en-US" dirty="0"/>
              <a:t>数据库中。</a:t>
            </a:r>
            <a:endParaRPr lang="zh-CN" altLang="en-US" dirty="0"/>
          </a:p>
          <a:p>
            <a:pPr lvl="1"/>
            <a:r>
              <a:rPr lang="zh-CN" altLang="en-US" dirty="0"/>
              <a:t>由于路由器启动时</a:t>
            </a:r>
            <a:r>
              <a:rPr lang="en-US" altLang="zh-CN" dirty="0"/>
              <a:t>LSP</a:t>
            </a:r>
            <a:r>
              <a:rPr lang="zh-CN" altLang="en-US" dirty="0"/>
              <a:t>分片的序列号也被重新初始化，网络中其它路由器保存的</a:t>
            </a:r>
            <a:r>
              <a:rPr lang="en-US" altLang="zh-CN" dirty="0"/>
              <a:t>LSP</a:t>
            </a:r>
            <a:r>
              <a:rPr lang="zh-CN" altLang="en-US" dirty="0"/>
              <a:t>拷贝可能会比该路由器启动后新产生的</a:t>
            </a:r>
            <a:r>
              <a:rPr lang="en-US" altLang="zh-CN" dirty="0"/>
              <a:t>LSP</a:t>
            </a:r>
            <a:r>
              <a:rPr lang="zh-CN" altLang="en-US" dirty="0"/>
              <a:t>看上去更“新”。这将导致网络中出现暂时的“黑洞” ，并一直持续到该路由器重新生成自己的</a:t>
            </a:r>
            <a:r>
              <a:rPr lang="en-US" altLang="zh-CN" dirty="0"/>
              <a:t>LSP</a:t>
            </a:r>
            <a:r>
              <a:rPr lang="zh-CN" altLang="en-US" dirty="0"/>
              <a:t>且以最高序列号将它们发布出去。</a:t>
            </a:r>
            <a:endParaRPr lang="zh-CN" altLang="en-US" dirty="0"/>
          </a:p>
          <a:p>
            <a:pPr lvl="1"/>
            <a:r>
              <a:rPr lang="zh-CN" altLang="en-US" b="0" dirty="0"/>
              <a:t>如果该路由器的邻居在路由器启动过程中抑制发布邻接关系到此路由器，</a:t>
            </a:r>
            <a:r>
              <a:rPr lang="zh-CN" altLang="en-US" dirty="0"/>
              <a:t>直到该路由器将更新的</a:t>
            </a:r>
            <a:r>
              <a:rPr lang="en-US" altLang="zh-CN" dirty="0"/>
              <a:t>LSP</a:t>
            </a:r>
            <a:r>
              <a:rPr lang="zh-CN" altLang="en-US" dirty="0"/>
              <a:t>发布出去，上述情况也可以避免。因此可以通过</a:t>
            </a:r>
            <a:r>
              <a:rPr lang="en-US" altLang="zh-CN" b="1" dirty="0"/>
              <a:t>graceful-restart suppress-</a:t>
            </a:r>
            <a:r>
              <a:rPr lang="en-US" altLang="zh-CN" b="1" dirty="0" err="1"/>
              <a:t>sa</a:t>
            </a:r>
            <a:r>
              <a:rPr lang="zh-CN" altLang="en-US" dirty="0"/>
              <a:t>命令抑制重启</a:t>
            </a:r>
            <a:r>
              <a:rPr lang="en-US" altLang="zh-CN" dirty="0"/>
              <a:t>TLV</a:t>
            </a:r>
            <a:r>
              <a:rPr lang="zh-CN" altLang="en-US" dirty="0"/>
              <a:t>的</a:t>
            </a:r>
            <a:r>
              <a:rPr lang="en-US" altLang="zh-CN" dirty="0"/>
              <a:t>SA</a:t>
            </a:r>
            <a:r>
              <a:rPr lang="zh-CN" altLang="en-US" dirty="0"/>
              <a:t>位。</a:t>
            </a:r>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a:t>ACD</a:t>
            </a:r>
            <a:endParaRPr lang="en-US" altLang="zh-CN" dirty="0"/>
          </a:p>
          <a:p>
            <a:pPr marL="228600" lvl="0" indent="-228600">
              <a:buFont typeface="+mj-lt"/>
              <a:buAutoNum type="arabicPeriod"/>
            </a:pPr>
            <a:r>
              <a:rPr lang="en-US" altLang="zh-CN" dirty="0"/>
              <a:t>B</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startAt="3"/>
            </a:pPr>
            <a:r>
              <a:rPr lang="en-US" altLang="zh-CN" dirty="0"/>
              <a:t>A</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3765">
              <a:lnSpc>
                <a:spcPts val="3440"/>
              </a:lnSpc>
            </a:pPr>
            <a:r>
              <a:rPr lang="zh-CN" altLang="en-US" dirty="0"/>
              <a:t>单击此处添加标题</a:t>
            </a:r>
            <a:endParaRPr lang="en-US" dirty="0"/>
          </a:p>
        </p:txBody>
      </p:sp>
      <p:sp>
        <p:nvSpPr>
          <p:cNvPr id="10" name="Text Placeholder 5"/>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gridCol w="1967450"/>
                <a:gridCol w="3023155"/>
                <a:gridCol w="2084624"/>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gridCol w="1967450"/>
                <a:gridCol w="3023155"/>
                <a:gridCol w="2067692"/>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anose="05000000000000000000" pitchFamily="2" charset="2"/>
                        <a:buNone/>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endParaRPr lang="zh-CN" altLang="en-US" dirty="0"/>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endParaRPr lang="zh-CN" altLang="en-US" dirty="0"/>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endParaRPr lang="zh-CN" altLang="en-US" dirty="0"/>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ln>
        </p:spPr>
        <p:txBody>
          <a:bodyPr lIns="78227" tIns="39112" rIns="78227" bIns="39112" anchor="ctr"/>
          <a:lstStyle/>
          <a:p>
            <a:pPr algn="l" defTabSz="1001395" rtl="0" eaLnBrk="0" fontAlgn="ctr" hangingPunct="0">
              <a:spcBef>
                <a:spcPct val="0"/>
              </a:spcBef>
              <a:spcAft>
                <a:spcPct val="0"/>
              </a:spcAft>
            </a:pPr>
            <a:r>
              <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endParaRPr lang="zh-CN" altLang="en-US" sz="3500"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ln>
        </p:spPr>
        <p:txBody>
          <a:bodyPr wrap="square">
            <a:spAutoFit/>
          </a:bodyPr>
          <a:lstStyle/>
          <a:p>
            <a:pPr fontAlgn="ctr">
              <a:spcBef>
                <a:spcPct val="50000"/>
              </a:spcBef>
            </a:pPr>
            <a:r>
              <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endParaRPr lang="zh-CN" altLang="en-US" sz="4000"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60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endParaRPr lang="zh-CN" altLang="en-US" dirty="0"/>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600"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fontAlgn="auto">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765" indent="-201295"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17614"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前言</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auto">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60" indent="-302260" algn="just" eaLnBrk="1" fontAlgn="auto"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auto">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auto">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auto">
              <a:defRPr baseline="0">
                <a:latin typeface="Huawei Sans" panose="020C0503030203020204" pitchFamily="34" charset="0"/>
                <a:ea typeface="方正兰亭黑简体" panose="02000000000000000000" pitchFamily="2" charset="-122"/>
              </a:defRPr>
            </a:lvl4pPr>
            <a:lvl5pPr marL="1802765" indent="-201295" fontAlgn="auto">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1120820"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auto">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200" marR="0" indent="-457200" algn="just" defTabSz="801370" rtl="0" eaLnBrk="1" fontAlgn="auto" latinLnBrk="0" hangingPunct="1">
              <a:lnSpc>
                <a:spcPct val="140000"/>
              </a:lnSpc>
              <a:spcBef>
                <a:spcPct val="30000"/>
              </a:spcBef>
              <a:spcAft>
                <a:spcPct val="0"/>
              </a:spcAft>
              <a:buClrTx/>
              <a:buSzPct val="100000"/>
              <a:buFont typeface="+mj-lt"/>
              <a:buAutoNum type="arabicPeriod"/>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auto">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4050" lvl="1" indent="-457200">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p:cNvSpPr txBox="1"/>
          <p:nvPr userDrawn="1"/>
        </p:nvSpPr>
        <p:spPr>
          <a:xfrm>
            <a:off x="918916" y="630373"/>
            <a:ext cx="1147485" cy="653509"/>
          </a:xfrm>
          <a:prstGeom prst="rect">
            <a:avLst/>
          </a:prstGeom>
          <a:noFill/>
        </p:spPr>
        <p:txBody>
          <a:bodyPr wrap="none" rtlCol="0">
            <a:spAutoFit/>
          </a:bodyPr>
          <a:lstStyle>
            <a:defPPr>
              <a:defRPr lang="en-US"/>
            </a:defPPr>
            <a:lvl1pPr defTabSz="1001395"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60" indent="-302260"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35" indent="-201295"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765" indent="-201295"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a:p>
            <a:pPr eaLnBrk="1" hangingPunct="1"/>
            <a:endParaRPr lang="en-US" altLang="zh-CN" dirty="0"/>
          </a:p>
        </p:txBody>
      </p:sp>
      <p:cxnSp>
        <p:nvCxnSpPr>
          <p:cNvPr id="14" name="直线连接符 14"/>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p:cNvSpPr txBox="1"/>
          <p:nvPr userDrawn="1"/>
        </p:nvSpPr>
        <p:spPr>
          <a:xfrm>
            <a:off x="918916" y="630373"/>
            <a:ext cx="4397358" cy="652486"/>
          </a:xfrm>
          <a:prstGeom prst="rect">
            <a:avLst/>
          </a:prstGeom>
          <a:noFill/>
        </p:spPr>
        <p:txBody>
          <a:bodyPr wrap="none" rtlCol="0">
            <a:spAutoFit/>
          </a:bodyPr>
          <a:lstStyle/>
          <a:p>
            <a:pPr defTabSz="1001395"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2005" rtl="0" eaLnBrk="1" fontAlgn="auto" latinLnBrk="0" hangingPunct="1">
              <a:lnSpc>
                <a:spcPct val="140000"/>
              </a:lnSpc>
              <a:spcBef>
                <a:spcPct val="30000"/>
              </a:spcBef>
              <a:spcAft>
                <a:spcPct val="0"/>
              </a:spcAft>
              <a:buClr>
                <a:schemeClr val="tx1"/>
              </a:buClr>
              <a:buSzPct val="100000"/>
              <a:buFont typeface="+mj-lt"/>
              <a:buAutoNum type="arabicPeriod"/>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220"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此版式用于思考题具体格式</a:t>
            </a:r>
            <a:endParaRPr lang="en-US" altLang="zh-CN" dirty="0"/>
          </a:p>
        </p:txBody>
      </p:sp>
      <p:cxnSp>
        <p:nvCxnSpPr>
          <p:cNvPr id="24" name="直线连接符 14"/>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p:cNvSpPr txBox="1"/>
          <p:nvPr userDrawn="1"/>
        </p:nvSpPr>
        <p:spPr>
          <a:xfrm>
            <a:off x="918916" y="630373"/>
            <a:ext cx="1584088"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思考题</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11"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本节小结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cxnSp>
        <p:nvCxnSpPr>
          <p:cNvPr id="9"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本章总结</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endParaRPr lang="zh-CN" altLang="en-US" dirty="0"/>
          </a:p>
        </p:txBody>
      </p:sp>
      <p:cxnSp>
        <p:nvCxnSpPr>
          <p:cNvPr id="12"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更多信息</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p:cNvSpPr txBox="1"/>
          <p:nvPr userDrawn="1"/>
        </p:nvSpPr>
        <p:spPr>
          <a:xfrm>
            <a:off x="918916" y="630373"/>
            <a:ext cx="2050561" cy="651845"/>
          </a:xfrm>
          <a:prstGeom prst="rect">
            <a:avLst/>
          </a:prstGeom>
          <a:noFill/>
        </p:spPr>
        <p:txBody>
          <a:bodyPr wrap="none" rtlCol="0">
            <a:spAutoFit/>
          </a:bodyPr>
          <a:lstStyle/>
          <a:p>
            <a:r>
              <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rPr>
              <a:t>学习推荐</a:t>
            </a:r>
            <a:endParaRPr kumimoji="1" lang="zh-CN" altLang="en-US" sz="3635" baseline="0" dirty="0">
              <a:solidFill>
                <a:schemeClr val="tx1"/>
              </a:solidFill>
              <a:latin typeface="Huawei Sans" panose="020C0503030203020204" pitchFamily="34" charset="0"/>
              <a:ea typeface="方正兰亭黑简体" panose="02000000000000000000" pitchFamily="2"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auto">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p:bgPr>
        <a:solidFill>
          <a:srgbClr val="FFFFFF"/>
        </a:solidFill>
        <a:effectLst/>
      </p:bgPr>
    </p:bg>
    <p:spTree>
      <p:nvGrpSpPr>
        <p:cNvPr id="1" name=""/>
        <p:cNvGrpSpPr/>
        <p:nvPr/>
      </p:nvGrpSpPr>
      <p:grpSpPr>
        <a:xfrm>
          <a:off x="0" y="0"/>
          <a:ext cx="0" cy="0"/>
          <a:chOff x="0" y="0"/>
          <a:chExt cx="0" cy="0"/>
        </a:xfrm>
      </p:grpSpPr>
      <p:sp>
        <p:nvSpPr>
          <p:cNvPr id="3" name="TextBox 3"/>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endParaRPr lang="en-US" sz="4940" dirty="0">
              <a:solidFill>
                <a:schemeClr val="tx1"/>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slideLayout" Target="../slideLayouts/slideLayout9.xml"/><Relationship Id="rId7" Type="http://schemas.openxmlformats.org/officeDocument/2006/relationships/slideLayout" Target="../slideLayouts/slideLayout8.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2" Type="http://schemas.openxmlformats.org/officeDocument/2006/relationships/theme" Target="../theme/theme2.xml"/><Relationship Id="rId11" Type="http://schemas.openxmlformats.org/officeDocument/2006/relationships/image" Target="../media/image3.png"/><Relationship Id="rId10" Type="http://schemas.openxmlformats.org/officeDocument/2006/relationships/slideLayout" Target="../slideLayouts/slideLayout11.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7" Type="http://schemas.openxmlformats.org/officeDocument/2006/relationships/theme" Target="../theme/theme3.xml"/><Relationship Id="rId6" Type="http://schemas.openxmlformats.org/officeDocument/2006/relationships/image" Target="../media/image3.png"/><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image" Target="../media/image2.png"/><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p:cNvGrpSpPr>
            <a:grpSpLocks noChangeAspect="1"/>
          </p:cNvGrpSpPr>
          <p:nvPr userDrawn="1"/>
        </p:nvGrpSpPr>
        <p:grpSpPr>
          <a:xfrm>
            <a:off x="12290471" y="2625389"/>
            <a:ext cx="1963323" cy="4233515"/>
            <a:chOff x="5343885" y="-48857"/>
            <a:chExt cx="3263586" cy="7037279"/>
          </a:xfrm>
        </p:grpSpPr>
        <p:sp>
          <p:nvSpPr>
            <p:cNvPr id="31"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3"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7"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8"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40"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5"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6"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7"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8"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9"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0"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1"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52"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3"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4"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5"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6"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7"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8"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59"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0"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1"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2"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3"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4"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EBEBEB"/>
        </a:solidFill>
        <a:effectLst/>
      </p:bgPr>
    </p:bg>
    <p:spTree>
      <p:nvGrpSpPr>
        <p:cNvPr id="1" name=""/>
        <p:cNvGrpSpPr/>
        <p:nvPr/>
      </p:nvGrpSpPr>
      <p:grpSpPr>
        <a:xfrm>
          <a:off x="0" y="0"/>
          <a:ext cx="0" cy="0"/>
          <a:chOff x="0" y="0"/>
          <a:chExt cx="0" cy="0"/>
        </a:xfrm>
      </p:grpSpPr>
      <p:sp>
        <p:nvSpPr>
          <p:cNvPr id="23" name="TextBox 2"/>
          <p:cNvSpPr txBox="1"/>
          <p:nvPr userDrawn="1"/>
        </p:nvSpPr>
        <p:spPr>
          <a:xfrm>
            <a:off x="1095467" y="6356939"/>
            <a:ext cx="1463467" cy="242864"/>
          </a:xfrm>
          <a:prstGeom prst="rect">
            <a:avLst/>
          </a:prstGeom>
          <a:noFill/>
        </p:spPr>
        <p:txBody>
          <a:bodyPr wrap="square" rtlCol="0">
            <a:spAutoFit/>
          </a:bodyPr>
          <a:lstStyle/>
          <a:p>
            <a:r>
              <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p:cNvGrpSpPr>
            <a:grpSpLocks noChangeAspect="1"/>
          </p:cNvGrpSpPr>
          <p:nvPr userDrawn="1"/>
        </p:nvGrpSpPr>
        <p:grpSpPr>
          <a:xfrm>
            <a:off x="12290471" y="2625389"/>
            <a:ext cx="1963323" cy="4233515"/>
            <a:chOff x="5343885" y="-48857"/>
            <a:chExt cx="3263586" cy="7037279"/>
          </a:xfrm>
        </p:grpSpPr>
        <p:sp>
          <p:nvSpPr>
            <p:cNvPr id="28"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29"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0"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2"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7"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9"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69"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1"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7"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9"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Lst>
  <p:txStyles>
    <p:titleStyle>
      <a:lvl1pPr algn="l" defTabSz="913765"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ctr" latinLnBrk="0" hangingPunct="1">
        <a:lnSpc>
          <a:spcPct val="140000"/>
        </a:lnSpc>
        <a:spcBef>
          <a:spcPts val="790"/>
        </a:spcBef>
        <a:buSzPct val="50000"/>
        <a:buFont typeface="Wingdings" panose="05000000000000000000" pitchFamily="2" charset="2"/>
        <a:buChar char="l"/>
        <a:defRPr sz="2200" kern="120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8085">
              <a:lnSpc>
                <a:spcPts val="3430"/>
              </a:lnSpc>
              <a:spcBef>
                <a:spcPts val="0"/>
              </a:spcBef>
              <a:buFont typeface="Arial" panose="020B0604020202020204" pitchFamily="34" charset="0"/>
            </a:pPr>
            <a:r>
              <a:rPr lang="zh-CN" altLang="en-US" dirty="0"/>
              <a:t>单击此处编辑母版标题样式</a:t>
            </a:r>
            <a:endParaRPr lang="zh-CN" altLang="en-US" dirty="0"/>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ln>
        </p:spPr>
        <p:txBody>
          <a:bodyPr vert="horz" wrap="square" lIns="80141" tIns="40071" rIns="80141" bIns="40071"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3" name="TextBox 2"/>
          <p:cNvSpPr txBox="1"/>
          <p:nvPr userDrawn="1"/>
        </p:nvSpPr>
        <p:spPr>
          <a:xfrm>
            <a:off x="1095467" y="6356939"/>
            <a:ext cx="1463467" cy="242864"/>
          </a:xfrm>
          <a:prstGeom prst="rect">
            <a:avLst/>
          </a:prstGeom>
          <a:noFill/>
        </p:spPr>
        <p:txBody>
          <a:bodyPr wrap="square" rtlCol="0">
            <a:spAutoFit/>
          </a:bodyPr>
          <a:lstStyle/>
          <a:p>
            <a:r>
              <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endParaRPr lang="en-US" sz="975"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3"/>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905" rtl="0" eaLnBrk="1" fontAlgn="auto" latinLnBrk="0" hangingPunct="1">
              <a:lnSpc>
                <a:spcPct val="100000"/>
              </a:lnSpc>
              <a:spcBef>
                <a:spcPts val="0"/>
              </a:spcBef>
              <a:spcAft>
                <a:spcPts val="0"/>
              </a:spcAft>
              <a:buClrTx/>
              <a:buSzTx/>
              <a:buFontTx/>
              <a:buNone/>
              <a:defRPr/>
            </a:pPr>
            <a:fld id="{C3837181-38C6-AD4F-B8BA-B444770388BB}" type="slidenum">
              <a:rPr lang="en-US" sz="975"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fld>
            <a:endParaRPr lang="en-US" sz="975"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196/0/84</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203/55/120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237/109/0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153/54/54</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98/178/48</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242/137/68</a:t>
              </a:r>
              <a:endParaRPr kumimoji="1" lang="en-US" altLang="zh-CN" sz="500" b="1" dirty="0">
                <a:solidFill>
                  <a:srgbClr val="FFFFFF"/>
                </a:solidFill>
                <a:latin typeface="Huawei Sans" panose="020C0503030203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185C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spcBef>
                  <a:spcPts val="0"/>
                </a:spcBef>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199/0/11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endParaRPr kumimoji="1" lang="zh-CN" altLang="en-US" sz="800" b="0" i="0" dirty="0">
                <a:solidFill>
                  <a:schemeClr val="tx1"/>
                </a:solidFill>
                <a:latin typeface="方正兰亭黑简体" panose="02000000000000000000" pitchFamily="2" charset="-122"/>
                <a:ea typeface="方正兰亭黑简体" panose="02000000000000000000" pitchFamily="2"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PANTONE 186C</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rPr>
                <a:t>200/16/46  </a:t>
              </a:r>
              <a:endParaRPr kumimoji="1" lang="en-US" altLang="zh-CN" sz="500" b="1" dirty="0">
                <a:solidFill>
                  <a:schemeClr val="tx2"/>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127/0/1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52/200/0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48/181/197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129/193/95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253/211/81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86/196/210</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211/57/65</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211/56/89</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221/128/170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6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191/128/130</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246/183/140</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176/216/156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253/227/181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148/218/226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226/129/137</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226/129/152</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235/179/204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216/179/179</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7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250/211/187</a:t>
              </a:r>
              <a:endParaRPr kumimoji="1" lang="en-US" altLang="zh-CN" sz="500" b="1" dirty="0">
                <a:solidFill>
                  <a:srgbClr val="595757"/>
                </a:solidFill>
                <a:latin typeface="Huawei Sans" panose="020C0503030203020204" pitchFamily="34" charset="0"/>
                <a:ea typeface="Arial" panose="020B0604020202020204" pitchFamily="34" charset="0"/>
                <a:cs typeface="Arial" panose="020B0604020202020204" pitchFamily="34" charset="0"/>
              </a:endParaRPr>
            </a:p>
          </p:txBody>
        </p:sp>
        <p:sp>
          <p:nvSpPr>
            <p:cNvPr id="7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208/232/196</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254/238/193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190/23/238</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239/178/184</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238/179/193</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35/24/21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 </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89/87/87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137</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rPr>
                <a:t>181</a:t>
              </a:r>
              <a:endParaRPr kumimoji="1" lang="en-US" altLang="zh-CN" sz="500" b="1" dirty="0">
                <a:solidFill>
                  <a:srgbClr val="FFFFFF"/>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221</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sp>
          <p:nvSpPr>
            <p:cNvPr id="8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RGB</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a:p>
              <a:pPr algn="ctr">
                <a:lnSpc>
                  <a:spcPts val="620"/>
                </a:lnSpc>
              </a:pP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rPr>
                <a:t>255</a:t>
              </a:r>
              <a:endParaRPr kumimoji="1" lang="en-US" altLang="zh-CN" sz="500" b="1" dirty="0">
                <a:solidFill>
                  <a:srgbClr val="595757"/>
                </a:solidFill>
                <a:latin typeface="Huawei Sans" panose="020C0503030203020204" pitchFamily="34" charset="0"/>
                <a:ea typeface="Arial" panose="020B0604020202020204" pitchFamily="34" charset="0"/>
                <a:cs typeface="Huawei Sans" panose="020C0503030203020204" pitchFamily="34" charset="0"/>
              </a:endParaRPr>
            </a:p>
          </p:txBody>
        </p:sp>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defTabSz="913765"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60" indent="-302260" algn="l" defTabSz="913765" rtl="0" eaLnBrk="1" fontAlgn="auto" latinLnBrk="0" hangingPunct="1">
        <a:lnSpc>
          <a:spcPct val="140000"/>
        </a:lnSpc>
        <a:spcBef>
          <a:spcPts val="790"/>
        </a:spcBef>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mn-cs"/>
        </a:defRPr>
      </a:lvl1pPr>
      <a:lvl2pPr marL="654685" indent="-252095" algn="l" defTabSz="913765" rtl="0" eaLnBrk="1" fontAlgn="auto"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auto"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auto"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auto"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p:cNvGrpSpPr>
            <a:grpSpLocks noChangeAspect="1"/>
          </p:cNvGrpSpPr>
          <p:nvPr userDrawn="1"/>
        </p:nvGrpSpPr>
        <p:grpSpPr>
          <a:xfrm>
            <a:off x="12290471" y="2625389"/>
            <a:ext cx="1963323" cy="4233515"/>
            <a:chOff x="5343885" y="-48857"/>
            <a:chExt cx="3263586" cy="7037279"/>
          </a:xfrm>
        </p:grpSpPr>
        <p:sp>
          <p:nvSpPr>
            <p:cNvPr id="30" name="矩形 13"/>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196/0/84</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1" name="文本框 15"/>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charset="-122"/>
                  <a:ea typeface="微软雅黑" panose="020B0503020204020204" charset="-122"/>
                </a:rPr>
                <a:t>公司辅助色</a:t>
              </a:r>
              <a:endParaRPr kumimoji="1" lang="zh-CN" altLang="en-US" sz="800" b="0" i="0" dirty="0">
                <a:solidFill>
                  <a:schemeClr val="tx1"/>
                </a:solidFill>
                <a:latin typeface="微软雅黑" panose="020B0503020204020204" charset="-122"/>
                <a:ea typeface="微软雅黑" panose="020B0503020204020204" charset="-122"/>
              </a:endParaRPr>
            </a:p>
          </p:txBody>
        </p:sp>
        <p:sp>
          <p:nvSpPr>
            <p:cNvPr id="32" name="矩形 13"/>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203/55/120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3" name="矩形 13"/>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237/109/0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4" name="矩形 13"/>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153/54/54</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5" name="矩形 13"/>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98/178/48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6" name="矩形 13"/>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242/137/68</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37" name="矩形 13"/>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185C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spcBef>
                  <a:spcPts val="0"/>
                </a:spcBef>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199/0/11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38" name="文本框 15"/>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微软雅黑" panose="020B0503020204020204" charset="-122"/>
                  <a:ea typeface="微软雅黑" panose="020B0503020204020204" charset="-122"/>
                </a:rPr>
                <a:t>公司色</a:t>
              </a:r>
              <a:endParaRPr kumimoji="1" lang="zh-CN" altLang="en-US" sz="800" b="0" i="0" dirty="0">
                <a:solidFill>
                  <a:schemeClr val="tx1"/>
                </a:solidFill>
                <a:latin typeface="微软雅黑" panose="020B0503020204020204" charset="-122"/>
                <a:ea typeface="微软雅黑" panose="020B0503020204020204" charset="-122"/>
              </a:endParaRPr>
            </a:p>
          </p:txBody>
        </p:sp>
        <p:sp>
          <p:nvSpPr>
            <p:cNvPr id="39" name="矩形 13"/>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PANTONE 186C</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rPr>
                <a:t>200/16/46  </a:t>
              </a:r>
              <a:endParaRPr kumimoji="1" lang="en-US" altLang="zh-CN" sz="500" b="1" dirty="0">
                <a:solidFill>
                  <a:schemeClr val="tx2"/>
                </a:solidFill>
                <a:latin typeface="Arial" panose="020B0604020202020204" pitchFamily="34" charset="0"/>
                <a:ea typeface="Arial" panose="020B0604020202020204" pitchFamily="34" charset="0"/>
                <a:cs typeface="Arial" panose="020B0604020202020204" pitchFamily="34" charset="0"/>
              </a:endParaRPr>
            </a:p>
          </p:txBody>
        </p:sp>
        <p:sp>
          <p:nvSpPr>
            <p:cNvPr id="40" name="矩形 13"/>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127/0/1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1" name="矩形 13"/>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52/200/0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2" name="矩形 13"/>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48/181/197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3" name="矩形 13"/>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129/193/95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4" name="矩形 13"/>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253/211/81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5" name="矩形 13"/>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86/196/210</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6"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211/57/65</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7"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211/56/89</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48"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221/128/170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49"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191/128/130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0"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246/183/140</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1"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176/216/156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2"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253/227/181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3"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148/218/226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4"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226/129/137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5"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226/129/152</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6" name="矩形 13"/>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235/179/204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7"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ts val="620"/>
                </a:lnSpc>
                <a:spcBef>
                  <a:spcPts val="0"/>
                </a:spcBef>
                <a:spcAft>
                  <a:spcPts val="0"/>
                </a:spcAft>
                <a:buClrTx/>
                <a:buSzTx/>
                <a:buFontTx/>
                <a:buNone/>
                <a:defRPr/>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216/179/179</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8"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250/211/187</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59"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208/232/196</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0"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254/238/193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1"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190/23/238</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2"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239/178/184</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3"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238/179/193</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4" name="矩形 13"/>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35/24/21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5" name="矩形 13"/>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 </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89/87/87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6" name="矩形 13"/>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137/137/</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137</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7" name="矩形 13"/>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181/181/</a:t>
              </a:r>
              <a:b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rPr>
                <a:t>181</a:t>
              </a:r>
              <a:endParaRPr kumimoji="1" lang="en-US" altLang="zh-CN" sz="500" b="1" dirty="0">
                <a:solidFill>
                  <a:srgbClr val="FFFFFF"/>
                </a:solidFill>
                <a:latin typeface="Arial" panose="020B0604020202020204" pitchFamily="34" charset="0"/>
                <a:ea typeface="Arial" panose="020B0604020202020204" pitchFamily="34" charset="0"/>
                <a:cs typeface="Arial" panose="020B0604020202020204" pitchFamily="34" charset="0"/>
              </a:endParaRPr>
            </a:p>
          </p:txBody>
        </p:sp>
        <p:sp>
          <p:nvSpPr>
            <p:cNvPr id="68" name="矩形 13"/>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 221/221/</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221</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sp>
          <p:nvSpPr>
            <p:cNvPr id="69" name="矩形 13"/>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RGB</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a:p>
              <a:pPr algn="ctr">
                <a:lnSpc>
                  <a:spcPts val="620"/>
                </a:lnSpc>
              </a:pP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255/255/</a:t>
              </a:r>
              <a:b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br>
              <a:r>
                <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rPr>
                <a:t>255</a:t>
              </a:r>
              <a:endParaRPr kumimoji="1" lang="en-US" altLang="zh-CN" sz="500" b="1" dirty="0">
                <a:solidFill>
                  <a:srgbClr val="595757"/>
                </a:solidFill>
                <a:latin typeface="Arial" panose="020B0604020202020204" pitchFamily="34" charset="0"/>
                <a:ea typeface="Arial" panose="020B0604020202020204" pitchFamily="34" charset="0"/>
                <a:cs typeface="Arial" panose="020B0604020202020204" pitchFamily="34" charset="0"/>
              </a:endParaRPr>
            </a:p>
          </p:txBody>
        </p:sp>
      </p:grpSp>
      <p:sp>
        <p:nvSpPr>
          <p:cNvPr id="70" name="Title Placeholder 1"/>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endParaRPr lang="en-US" dirty="0"/>
          </a:p>
        </p:txBody>
      </p:sp>
      <p:sp>
        <p:nvSpPr>
          <p:cNvPr id="71" name="Text Placeholder 1"/>
          <p:cNvSpPr txBox="1"/>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80" dirty="0">
                <a:solidFill>
                  <a:srgbClr val="1D1D1B"/>
                </a:solidFill>
                <a:latin typeface="+mn-lt"/>
              </a:rPr>
            </a:br>
            <a:br>
              <a:rPr kumimoji="1" lang="en-US" altLang="zh-CN" sz="780"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endParaRPr kumimoji="1" lang="en-US" altLang="zh-CN" sz="850" baseline="0" dirty="0">
              <a:solidFill>
                <a:srgbClr val="1D1D1B"/>
              </a:solidFill>
              <a:latin typeface="+mn-lt"/>
              <a:cs typeface="Arial" panose="020B0604020202020204" pitchFamily="34" charset="0"/>
            </a:endParaRPr>
          </a:p>
          <a:p>
            <a:pPr>
              <a:lnSpc>
                <a:spcPts val="1065"/>
              </a:lnSpc>
            </a:pPr>
            <a:endParaRPr kumimoji="1" lang="zh-CN" altLang="en-US" sz="780" dirty="0">
              <a:solidFill>
                <a:srgbClr val="1D1D1B"/>
              </a:solidFill>
              <a:latin typeface="+mn-lt"/>
            </a:endParaRPr>
          </a:p>
        </p:txBody>
      </p:sp>
      <p:sp>
        <p:nvSpPr>
          <p:cNvPr id="72" name="Subtitle 6"/>
          <p:cNvSpPr txBox="1"/>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微软雅黑" panose="020B0503020204020204" charset="-122"/>
                <a:ea typeface="微软雅黑" panose="020B050302020402020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0"/>
              </a:lnSpc>
              <a:spcBef>
                <a:spcPts val="0"/>
              </a:spcBef>
            </a:pPr>
            <a:r>
              <a:rPr kumimoji="1" lang="zh-CN" altLang="en-US" sz="1300" dirty="0">
                <a:solidFill>
                  <a:srgbClr val="1D1D1B"/>
                </a:solidFill>
                <a:latin typeface="微软雅黑" panose="020B0503020204020204" charset="-122"/>
                <a:ea typeface="微软雅黑" panose="020B0503020204020204" charset="-122"/>
                <a:cs typeface="微软雅黑" panose="020B0503020204020204" charset="-122"/>
              </a:rPr>
              <a:t>把数字世界带入每个人、每个家庭、</a:t>
            </a:r>
            <a:br>
              <a:rPr kumimoji="1" lang="en-US" altLang="zh-CN" sz="1300" dirty="0">
                <a:solidFill>
                  <a:srgbClr val="1D1D1B"/>
                </a:solidFill>
                <a:latin typeface="微软雅黑" panose="020B0503020204020204" charset="-122"/>
                <a:ea typeface="微软雅黑" panose="020B0503020204020204" charset="-122"/>
                <a:cs typeface="微软雅黑" panose="020B0503020204020204" charset="-122"/>
              </a:rPr>
            </a:br>
            <a:r>
              <a:rPr kumimoji="1" lang="zh-CN" altLang="en-US" sz="1300" dirty="0">
                <a:solidFill>
                  <a:srgbClr val="1D1D1B"/>
                </a:solidFill>
                <a:latin typeface="微软雅黑" panose="020B0503020204020204" charset="-122"/>
                <a:ea typeface="微软雅黑" panose="020B0503020204020204" charset="-122"/>
                <a:cs typeface="微软雅黑" panose="020B0503020204020204" charset="-122"/>
              </a:rPr>
              <a:t>每个组织，构建万物互联的智能世界。</a:t>
            </a:r>
            <a:endParaRPr kumimoji="1" lang="zh-CN" altLang="en-US" sz="1300" dirty="0">
              <a:solidFill>
                <a:srgbClr val="1D1D1B"/>
              </a:solidFill>
              <a:latin typeface="微软雅黑" panose="020B0503020204020204" charset="-122"/>
              <a:ea typeface="微软雅黑" panose="020B0503020204020204" charset="-122"/>
              <a:cs typeface="微软雅黑" panose="020B0503020204020204" charset="-122"/>
            </a:endParaRPr>
          </a:p>
        </p:txBody>
      </p:sp>
      <p:sp>
        <p:nvSpPr>
          <p:cNvPr id="73" name="Subtitle 6"/>
          <p:cNvSpPr txBox="1"/>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微软雅黑" panose="020B0503020204020204" charset="-122"/>
                <a:ea typeface="微软雅黑" panose="020B050302020402020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5"/>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微软雅黑" panose="020B0503020204020204" charset="-122"/>
              <a:cs typeface="微软雅黑" panose="020B0503020204020204" charset="-122"/>
            </a:endParaRPr>
          </a:p>
        </p:txBody>
      </p:sp>
      <p:pic>
        <p:nvPicPr>
          <p:cNvPr id="74" name="图片 7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cSld>
  <p:clrMap bg1="lt1" tx1="dk1" bg2="lt2" tx2="dk2" accent1="accent1" accent2="accent2" accent3="accent3" accent4="accent4" accent5="accent5" accent6="accent6" hlink="hlink" folHlink="folHlink"/>
  <p:sldLayoutIdLst>
    <p:sldLayoutId id="2147483668" r:id="rId1"/>
  </p:sldLayoutIdLst>
  <p:hf hdr="0" ftr="0" dt="0"/>
  <p:txStyles>
    <p:titleStyle>
      <a:lvl1pPr algn="l" defTabSz="1187450" rtl="0" eaLnBrk="1" latinLnBrk="0" hangingPunct="1">
        <a:lnSpc>
          <a:spcPct val="90000"/>
        </a:lnSpc>
        <a:spcBef>
          <a:spcPct val="0"/>
        </a:spcBef>
        <a:buNone/>
        <a:defRPr sz="5000"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450" rtl="0" eaLnBrk="1" latinLnBrk="0" hangingPunct="1">
        <a:lnSpc>
          <a:spcPct val="90000"/>
        </a:lnSpc>
        <a:spcBef>
          <a:spcPts val="1300"/>
        </a:spcBef>
        <a:buFont typeface="Arial" panose="020B0604020202020204" pitchFamily="34" charset="0"/>
        <a:buNone/>
        <a:defRPr sz="1820" kern="1200">
          <a:solidFill>
            <a:srgbClr val="FFFFFF"/>
          </a:solidFill>
          <a:latin typeface="微软雅黑" panose="020B0503020204020204" charset="-122"/>
          <a:ea typeface="微软雅黑" panose="020B0503020204020204" charset="-122"/>
          <a:cs typeface="+mn-cs"/>
        </a:defRPr>
      </a:lvl1pPr>
      <a:lvl2pPr marL="593725" indent="0" algn="l" defTabSz="1187450" rtl="0" eaLnBrk="1" latinLnBrk="0" hangingPunct="1">
        <a:lnSpc>
          <a:spcPct val="90000"/>
        </a:lnSpc>
        <a:spcBef>
          <a:spcPts val="650"/>
        </a:spcBef>
        <a:buFont typeface="Arial" panose="020B0604020202020204" pitchFamily="34" charset="0"/>
        <a:buNone/>
        <a:defRPr sz="3115" kern="1200">
          <a:solidFill>
            <a:schemeClr val="tx1"/>
          </a:solidFill>
          <a:latin typeface="+mn-lt"/>
          <a:ea typeface="+mn-ea"/>
          <a:cs typeface="+mn-cs"/>
        </a:defRPr>
      </a:lvl2pPr>
      <a:lvl3pPr marL="1187450" indent="0" algn="l" defTabSz="1187450" rtl="0" eaLnBrk="1" latinLnBrk="0" hangingPunct="1">
        <a:lnSpc>
          <a:spcPct val="90000"/>
        </a:lnSpc>
        <a:spcBef>
          <a:spcPts val="650"/>
        </a:spcBef>
        <a:buFont typeface="Arial" panose="020B0604020202020204" pitchFamily="34" charset="0"/>
        <a:buNone/>
        <a:defRPr sz="2595" kern="1200">
          <a:solidFill>
            <a:schemeClr val="tx1"/>
          </a:solidFill>
          <a:latin typeface="+mn-lt"/>
          <a:ea typeface="+mn-ea"/>
          <a:cs typeface="+mn-cs"/>
        </a:defRPr>
      </a:lvl3pPr>
      <a:lvl4pPr marL="1781175"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4pPr>
      <a:lvl5pPr marL="2374900" indent="0" algn="l" defTabSz="1187450" rtl="0" eaLnBrk="1" latinLnBrk="0" hangingPunct="1">
        <a:lnSpc>
          <a:spcPct val="90000"/>
        </a:lnSpc>
        <a:spcBef>
          <a:spcPts val="650"/>
        </a:spcBef>
        <a:buFont typeface="Arial" panose="020B0604020202020204" pitchFamily="34" charset="0"/>
        <a:buNone/>
        <a:defRPr sz="2335" kern="1200">
          <a:solidFill>
            <a:schemeClr val="tx1"/>
          </a:solidFill>
          <a:latin typeface="+mn-lt"/>
          <a:ea typeface="+mn-ea"/>
          <a:cs typeface="+mn-cs"/>
        </a:defRPr>
      </a:lvl5pPr>
      <a:lvl6pPr marL="326517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6pPr>
      <a:lvl7pPr marL="385889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7pPr>
      <a:lvl8pPr marL="4452620"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8pPr>
      <a:lvl9pPr marL="5046345" indent="-296545" algn="l" defTabSz="1187450" rtl="0" eaLnBrk="1" latinLnBrk="0" hangingPunct="1">
        <a:lnSpc>
          <a:spcPct val="90000"/>
        </a:lnSpc>
        <a:spcBef>
          <a:spcPts val="650"/>
        </a:spcBef>
        <a:buFont typeface="Arial" panose="020B0604020202020204" pitchFamily="34" charset="0"/>
        <a:buChar char="•"/>
        <a:defRPr sz="2335" kern="1200">
          <a:solidFill>
            <a:schemeClr val="tx1"/>
          </a:solidFill>
          <a:latin typeface="+mn-lt"/>
          <a:ea typeface="+mn-ea"/>
          <a:cs typeface="+mn-cs"/>
        </a:defRPr>
      </a:lvl9pPr>
    </p:bodyStyle>
    <p:otherStyle>
      <a:defPPr>
        <a:defRPr lang="en-US"/>
      </a:defPPr>
      <a:lvl1pPr marL="0" algn="l" defTabSz="1187450" rtl="0" eaLnBrk="1" latinLnBrk="0" hangingPunct="1">
        <a:defRPr sz="2335" kern="1200">
          <a:solidFill>
            <a:schemeClr val="tx1"/>
          </a:solidFill>
          <a:latin typeface="+mn-lt"/>
          <a:ea typeface="+mn-ea"/>
          <a:cs typeface="+mn-cs"/>
        </a:defRPr>
      </a:lvl1pPr>
      <a:lvl2pPr marL="593725" algn="l" defTabSz="1187450" rtl="0" eaLnBrk="1" latinLnBrk="0" hangingPunct="1">
        <a:defRPr sz="2335" kern="1200">
          <a:solidFill>
            <a:schemeClr val="tx1"/>
          </a:solidFill>
          <a:latin typeface="+mn-lt"/>
          <a:ea typeface="+mn-ea"/>
          <a:cs typeface="+mn-cs"/>
        </a:defRPr>
      </a:lvl2pPr>
      <a:lvl3pPr marL="1187450" algn="l" defTabSz="1187450" rtl="0" eaLnBrk="1" latinLnBrk="0" hangingPunct="1">
        <a:defRPr sz="2335" kern="1200">
          <a:solidFill>
            <a:schemeClr val="tx1"/>
          </a:solidFill>
          <a:latin typeface="+mn-lt"/>
          <a:ea typeface="+mn-ea"/>
          <a:cs typeface="+mn-cs"/>
        </a:defRPr>
      </a:lvl3pPr>
      <a:lvl4pPr marL="1781175" algn="l" defTabSz="1187450" rtl="0" eaLnBrk="1" latinLnBrk="0" hangingPunct="1">
        <a:defRPr sz="2335" kern="1200">
          <a:solidFill>
            <a:schemeClr val="tx1"/>
          </a:solidFill>
          <a:latin typeface="+mn-lt"/>
          <a:ea typeface="+mn-ea"/>
          <a:cs typeface="+mn-cs"/>
        </a:defRPr>
      </a:lvl4pPr>
      <a:lvl5pPr marL="2374900" algn="l" defTabSz="1187450" rtl="0" eaLnBrk="1" latinLnBrk="0" hangingPunct="1">
        <a:defRPr sz="2335" kern="1200">
          <a:solidFill>
            <a:schemeClr val="tx1"/>
          </a:solidFill>
          <a:latin typeface="+mn-lt"/>
          <a:ea typeface="+mn-ea"/>
          <a:cs typeface="+mn-cs"/>
        </a:defRPr>
      </a:lvl5pPr>
      <a:lvl6pPr marL="2968625" algn="l" defTabSz="1187450" rtl="0" eaLnBrk="1" latinLnBrk="0" hangingPunct="1">
        <a:defRPr sz="2335" kern="1200">
          <a:solidFill>
            <a:schemeClr val="tx1"/>
          </a:solidFill>
          <a:latin typeface="+mn-lt"/>
          <a:ea typeface="+mn-ea"/>
          <a:cs typeface="+mn-cs"/>
        </a:defRPr>
      </a:lvl6pPr>
      <a:lvl7pPr marL="3561715" algn="l" defTabSz="1187450" rtl="0" eaLnBrk="1" latinLnBrk="0" hangingPunct="1">
        <a:defRPr sz="2335" kern="1200">
          <a:solidFill>
            <a:schemeClr val="tx1"/>
          </a:solidFill>
          <a:latin typeface="+mn-lt"/>
          <a:ea typeface="+mn-ea"/>
          <a:cs typeface="+mn-cs"/>
        </a:defRPr>
      </a:lvl7pPr>
      <a:lvl8pPr marL="4155440" algn="l" defTabSz="1187450" rtl="0" eaLnBrk="1" latinLnBrk="0" hangingPunct="1">
        <a:defRPr sz="2335" kern="1200">
          <a:solidFill>
            <a:schemeClr val="tx1"/>
          </a:solidFill>
          <a:latin typeface="+mn-lt"/>
          <a:ea typeface="+mn-ea"/>
          <a:cs typeface="+mn-cs"/>
        </a:defRPr>
      </a:lvl8pPr>
      <a:lvl9pPr marL="4749165" algn="l" defTabSz="1187450" rtl="0" eaLnBrk="1" latinLnBrk="0" hangingPunct="1">
        <a:defRPr sz="233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37.xml.rels><?xml version="1.0" encoding="UTF-8" standalone="yes"?>
<Relationships xmlns="http://schemas.openxmlformats.org/package/2006/relationships"><Relationship Id="rId7" Type="http://schemas.openxmlformats.org/officeDocument/2006/relationships/notesSlide" Target="../notesSlides/notesSlide37.xml"/><Relationship Id="rId6"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38.xml"/><Relationship Id="rId6"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41.xml"/><Relationship Id="rId6"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image" Target="../media/image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3.xml"/><Relationship Id="rId2" Type="http://schemas.openxmlformats.org/officeDocument/2006/relationships/image" Target="../media/image10.png"/><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5.xml"/><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 name="文本占位符 74"/>
          <p:cNvSpPr>
            <a:spLocks noGrp="1"/>
          </p:cNvSpPr>
          <p:nvPr>
            <p:ph type="body" sz="quarter" idx="17"/>
          </p:nvPr>
        </p:nvSpPr>
        <p:spPr bwMode="gray"/>
        <p:txBody>
          <a:bodyPr/>
          <a:lstStyle/>
          <a:p>
            <a:endParaRPr lang="zh-CN" altLang="en-US"/>
          </a:p>
        </p:txBody>
      </p:sp>
      <p:sp>
        <p:nvSpPr>
          <p:cNvPr id="15" name="文本占位符 14"/>
          <p:cNvSpPr>
            <a:spLocks noGrp="1"/>
          </p:cNvSpPr>
          <p:nvPr>
            <p:ph type="body" sz="quarter" idx="18"/>
          </p:nvPr>
        </p:nvSpPr>
        <p:spPr bwMode="gray"/>
        <p:txBody>
          <a:bodyPr/>
          <a:lstStyle/>
          <a:p>
            <a:r>
              <a:rPr lang="en-US" altLang="zh-CN"/>
              <a:t>Datacom</a:t>
            </a:r>
            <a:endParaRPr lang="zh-CN" altLang="en-US" dirty="0"/>
          </a:p>
        </p:txBody>
      </p:sp>
      <p:sp>
        <p:nvSpPr>
          <p:cNvPr id="76" name="文本占位符 75"/>
          <p:cNvSpPr>
            <a:spLocks noGrp="1"/>
          </p:cNvSpPr>
          <p:nvPr>
            <p:ph type="body" sz="quarter" idx="19"/>
          </p:nvPr>
        </p:nvSpPr>
        <p:spPr bwMode="gray"/>
        <p:txBody>
          <a:bodyPr/>
          <a:lstStyle/>
          <a:p>
            <a:r>
              <a:rPr lang="zh-CN" altLang="en-US" dirty="0"/>
              <a:t>通用</a:t>
            </a:r>
            <a:endParaRPr lang="zh-CN" altLang="en-US" dirty="0"/>
          </a:p>
        </p:txBody>
      </p:sp>
      <p:sp>
        <p:nvSpPr>
          <p:cNvPr id="48" name="文本占位符 47"/>
          <p:cNvSpPr>
            <a:spLocks noGrp="1"/>
          </p:cNvSpPr>
          <p:nvPr>
            <p:ph type="body" sz="quarter" idx="20"/>
          </p:nvPr>
        </p:nvSpPr>
        <p:spPr bwMode="gray"/>
        <p:txBody>
          <a:bodyPr/>
          <a:lstStyle/>
          <a:p>
            <a:r>
              <a:rPr lang="en-US" altLang="zh-CN"/>
              <a:t>V1.0</a:t>
            </a:r>
            <a:endParaRPr lang="zh-CN" altLang="en-US" dirty="0"/>
          </a:p>
        </p:txBody>
      </p:sp>
      <p:sp>
        <p:nvSpPr>
          <p:cNvPr id="6" name="文本占位符 5"/>
          <p:cNvSpPr>
            <a:spLocks noGrp="1"/>
          </p:cNvSpPr>
          <p:nvPr>
            <p:ph type="body" sz="quarter" idx="13"/>
          </p:nvPr>
        </p:nvSpPr>
        <p:spPr bwMode="gray"/>
        <p:txBody>
          <a:bodyPr/>
          <a:lstStyle/>
          <a:p>
            <a:r>
              <a:rPr lang="zh-CN" altLang="en-US"/>
              <a:t>何军建</a:t>
            </a:r>
            <a:r>
              <a:rPr lang="en-US" altLang="zh-CN"/>
              <a:t>/WX580230</a:t>
            </a:r>
            <a:endParaRPr lang="zh-CN" altLang="en-US" dirty="0"/>
          </a:p>
        </p:txBody>
      </p:sp>
      <p:sp>
        <p:nvSpPr>
          <p:cNvPr id="9" name="文本占位符 8"/>
          <p:cNvSpPr>
            <a:spLocks noGrp="1"/>
          </p:cNvSpPr>
          <p:nvPr>
            <p:ph type="body" sz="quarter" idx="14"/>
          </p:nvPr>
        </p:nvSpPr>
        <p:spPr bwMode="gray"/>
        <p:txBody>
          <a:bodyPr/>
          <a:lstStyle/>
          <a:p>
            <a:r>
              <a:rPr lang="en-US" altLang="zh-CN" dirty="0"/>
              <a:t>2020.05.15</a:t>
            </a:r>
            <a:endParaRPr lang="zh-CN" altLang="en-US" dirty="0"/>
          </a:p>
        </p:txBody>
      </p:sp>
      <p:sp>
        <p:nvSpPr>
          <p:cNvPr id="10" name="文本占位符 9"/>
          <p:cNvSpPr>
            <a:spLocks noGrp="1"/>
          </p:cNvSpPr>
          <p:nvPr>
            <p:ph type="body" sz="quarter" idx="15"/>
          </p:nvPr>
        </p:nvSpPr>
        <p:spPr bwMode="gray"/>
        <p:txBody>
          <a:bodyPr/>
          <a:lstStyle/>
          <a:p>
            <a:r>
              <a:rPr lang="zh-CN" altLang="en-US" dirty="0"/>
              <a:t>李先之</a:t>
            </a:r>
            <a:r>
              <a:rPr lang="en-US" altLang="zh-CN" dirty="0"/>
              <a:t>/00354681</a:t>
            </a:r>
            <a:endParaRPr lang="zh-CN" altLang="en-US" dirty="0"/>
          </a:p>
        </p:txBody>
      </p:sp>
      <p:sp>
        <p:nvSpPr>
          <p:cNvPr id="13" name="文本占位符 12"/>
          <p:cNvSpPr>
            <a:spLocks noGrp="1"/>
          </p:cNvSpPr>
          <p:nvPr>
            <p:ph type="body" sz="quarter" idx="16"/>
          </p:nvPr>
        </p:nvSpPr>
        <p:spPr bwMode="gray"/>
        <p:txBody>
          <a:bodyPr/>
          <a:lstStyle/>
          <a:p>
            <a:r>
              <a:rPr lang="zh-CN" altLang="en-US"/>
              <a:t>新开发</a:t>
            </a:r>
            <a:endParaRPr lang="zh-CN" altLang="en-US" dirty="0"/>
          </a:p>
        </p:txBody>
      </p:sp>
      <p:sp>
        <p:nvSpPr>
          <p:cNvPr id="49" name="文本占位符 48"/>
          <p:cNvSpPr>
            <a:spLocks noGrp="1"/>
          </p:cNvSpPr>
          <p:nvPr>
            <p:ph type="body" sz="quarter" idx="21"/>
          </p:nvPr>
        </p:nvSpPr>
        <p:spPr bwMode="gray"/>
        <p:txBody>
          <a:bodyPr/>
          <a:lstStyle/>
          <a:p>
            <a:r>
              <a:rPr lang="zh-CN" altLang="en-US"/>
              <a:t>任杰</a:t>
            </a:r>
            <a:r>
              <a:rPr lang="en-US" altLang="zh-CN"/>
              <a:t>/WX504966</a:t>
            </a:r>
            <a:endParaRPr lang="zh-CN" altLang="en-US" dirty="0"/>
          </a:p>
        </p:txBody>
      </p:sp>
      <p:sp>
        <p:nvSpPr>
          <p:cNvPr id="50" name="文本占位符 49"/>
          <p:cNvSpPr>
            <a:spLocks noGrp="1"/>
          </p:cNvSpPr>
          <p:nvPr>
            <p:ph type="body" sz="quarter" idx="22"/>
          </p:nvPr>
        </p:nvSpPr>
        <p:spPr bwMode="gray"/>
        <p:txBody>
          <a:bodyPr/>
          <a:lstStyle/>
          <a:p>
            <a:r>
              <a:rPr lang="en-US" altLang="zh-CN" dirty="0"/>
              <a:t>2020.05.15</a:t>
            </a:r>
            <a:endParaRPr lang="zh-CN" altLang="en-US" dirty="0"/>
          </a:p>
        </p:txBody>
      </p:sp>
      <p:sp>
        <p:nvSpPr>
          <p:cNvPr id="51" name="文本占位符 50"/>
          <p:cNvSpPr>
            <a:spLocks noGrp="1"/>
          </p:cNvSpPr>
          <p:nvPr>
            <p:ph type="body" sz="quarter" idx="23"/>
          </p:nvPr>
        </p:nvSpPr>
        <p:spPr bwMode="gray"/>
        <p:txBody>
          <a:bodyPr/>
          <a:lstStyle/>
          <a:p>
            <a:r>
              <a:rPr lang="zh-CN" altLang="en-US" dirty="0"/>
              <a:t>何军建</a:t>
            </a:r>
            <a:r>
              <a:rPr lang="en-US" altLang="zh-CN" dirty="0"/>
              <a:t>/WX580230</a:t>
            </a:r>
            <a:endParaRPr lang="zh-CN" altLang="en-US" dirty="0"/>
          </a:p>
        </p:txBody>
      </p:sp>
      <p:sp>
        <p:nvSpPr>
          <p:cNvPr id="52" name="文本占位符 51"/>
          <p:cNvSpPr>
            <a:spLocks noGrp="1"/>
          </p:cNvSpPr>
          <p:nvPr>
            <p:ph type="body" sz="quarter" idx="24"/>
          </p:nvPr>
        </p:nvSpPr>
        <p:spPr bwMode="gray"/>
        <p:txBody>
          <a:bodyPr/>
          <a:lstStyle/>
          <a:p>
            <a:r>
              <a:rPr lang="zh-CN" altLang="en-US"/>
              <a:t>新开发</a:t>
            </a:r>
            <a:endParaRPr lang="zh-CN" altLang="en-US" dirty="0"/>
          </a:p>
        </p:txBody>
      </p:sp>
      <p:sp>
        <p:nvSpPr>
          <p:cNvPr id="53" name="文本占位符 52"/>
          <p:cNvSpPr>
            <a:spLocks noGrp="1"/>
          </p:cNvSpPr>
          <p:nvPr>
            <p:ph type="body" sz="quarter" idx="25"/>
          </p:nvPr>
        </p:nvSpPr>
        <p:spPr bwMode="gray"/>
        <p:txBody>
          <a:bodyPr/>
          <a:lstStyle/>
          <a:p>
            <a:r>
              <a:rPr lang="zh-CN" altLang="en-US" dirty="0"/>
              <a:t>卢玥玥</a:t>
            </a:r>
            <a:r>
              <a:rPr lang="en-US" altLang="zh-CN" dirty="0"/>
              <a:t>/WX445705</a:t>
            </a:r>
            <a:endParaRPr lang="zh-CN" altLang="en-US" dirty="0"/>
          </a:p>
        </p:txBody>
      </p:sp>
      <p:sp>
        <p:nvSpPr>
          <p:cNvPr id="54" name="文本占位符 53"/>
          <p:cNvSpPr>
            <a:spLocks noGrp="1"/>
          </p:cNvSpPr>
          <p:nvPr>
            <p:ph type="body" sz="quarter" idx="26"/>
          </p:nvPr>
        </p:nvSpPr>
        <p:spPr bwMode="gray"/>
        <p:txBody>
          <a:bodyPr/>
          <a:lstStyle/>
          <a:p>
            <a:r>
              <a:rPr lang="en-US" altLang="zh-CN" dirty="0"/>
              <a:t>2020.06.15</a:t>
            </a:r>
            <a:endParaRPr lang="zh-CN" altLang="en-US" dirty="0"/>
          </a:p>
        </p:txBody>
      </p:sp>
      <p:sp>
        <p:nvSpPr>
          <p:cNvPr id="55" name="文本占位符 54"/>
          <p:cNvSpPr>
            <a:spLocks noGrp="1"/>
          </p:cNvSpPr>
          <p:nvPr>
            <p:ph type="body" sz="quarter" idx="27"/>
          </p:nvPr>
        </p:nvSpPr>
        <p:spPr bwMode="gray"/>
        <p:txBody>
          <a:bodyPr/>
          <a:lstStyle/>
          <a:p>
            <a:r>
              <a:rPr lang="zh-CN" altLang="en-US" dirty="0"/>
              <a:t>朱仕耿</a:t>
            </a:r>
            <a:r>
              <a:rPr lang="en-US" altLang="zh-CN" dirty="0"/>
              <a:t>/00261992</a:t>
            </a:r>
            <a:endParaRPr lang="zh-CN" altLang="en-US" dirty="0"/>
          </a:p>
        </p:txBody>
      </p:sp>
      <p:sp>
        <p:nvSpPr>
          <p:cNvPr id="56" name="文本占位符 55"/>
          <p:cNvSpPr>
            <a:spLocks noGrp="1"/>
          </p:cNvSpPr>
          <p:nvPr>
            <p:ph type="body" sz="quarter" idx="28"/>
          </p:nvPr>
        </p:nvSpPr>
        <p:spPr bwMode="gray"/>
        <p:txBody>
          <a:bodyPr/>
          <a:lstStyle/>
          <a:p>
            <a:r>
              <a:rPr lang="zh-CN" altLang="en-US" dirty="0"/>
              <a:t>优化</a:t>
            </a:r>
            <a:endParaRPr lang="zh-CN" altLang="en-US" dirty="0"/>
          </a:p>
        </p:txBody>
      </p:sp>
      <p:sp>
        <p:nvSpPr>
          <p:cNvPr id="77" name="文本占位符 76"/>
          <p:cNvSpPr>
            <a:spLocks noGrp="1"/>
          </p:cNvSpPr>
          <p:nvPr>
            <p:ph type="body" sz="quarter" idx="29"/>
          </p:nvPr>
        </p:nvSpPr>
        <p:spPr bwMode="gray"/>
        <p:txBody>
          <a:bodyPr/>
          <a:lstStyle/>
          <a:p>
            <a:r>
              <a:rPr lang="zh-CN" altLang="en-US" dirty="0"/>
              <a:t>卢玥玥</a:t>
            </a:r>
            <a:r>
              <a:rPr lang="en-US" altLang="zh-CN" dirty="0"/>
              <a:t>/WX445705</a:t>
            </a:r>
            <a:endParaRPr lang="zh-CN" altLang="en-US" dirty="0"/>
          </a:p>
        </p:txBody>
      </p:sp>
      <p:sp>
        <p:nvSpPr>
          <p:cNvPr id="78" name="文本占位符 77"/>
          <p:cNvSpPr>
            <a:spLocks noGrp="1"/>
          </p:cNvSpPr>
          <p:nvPr>
            <p:ph type="body" sz="quarter" idx="30"/>
          </p:nvPr>
        </p:nvSpPr>
        <p:spPr bwMode="gray"/>
        <p:txBody>
          <a:bodyPr/>
          <a:lstStyle/>
          <a:p>
            <a:r>
              <a:rPr lang="en-US" altLang="zh-CN" dirty="0"/>
              <a:t>2021.07.15</a:t>
            </a:r>
            <a:endParaRPr lang="zh-CN" altLang="en-US" dirty="0"/>
          </a:p>
        </p:txBody>
      </p:sp>
      <p:sp>
        <p:nvSpPr>
          <p:cNvPr id="79" name="文本占位符 78"/>
          <p:cNvSpPr>
            <a:spLocks noGrp="1"/>
          </p:cNvSpPr>
          <p:nvPr>
            <p:ph type="body" sz="quarter" idx="31"/>
          </p:nvPr>
        </p:nvSpPr>
        <p:spPr bwMode="gray"/>
        <p:txBody>
          <a:bodyPr/>
          <a:lstStyle/>
          <a:p>
            <a:r>
              <a:rPr lang="zh-CN" altLang="en-US" dirty="0"/>
              <a:t>何军建</a:t>
            </a:r>
            <a:r>
              <a:rPr lang="en-US" altLang="zh-CN" dirty="0"/>
              <a:t>/WX580230</a:t>
            </a:r>
            <a:endParaRPr lang="zh-CN" altLang="en-US" dirty="0"/>
          </a:p>
        </p:txBody>
      </p:sp>
      <p:sp>
        <p:nvSpPr>
          <p:cNvPr id="80" name="文本占位符 79"/>
          <p:cNvSpPr>
            <a:spLocks noGrp="1"/>
          </p:cNvSpPr>
          <p:nvPr>
            <p:ph type="body" sz="quarter" idx="32"/>
          </p:nvPr>
        </p:nvSpPr>
        <p:spPr bwMode="gray"/>
        <p:txBody>
          <a:bodyPr/>
          <a:lstStyle/>
          <a:p>
            <a:r>
              <a:rPr lang="zh-CN" altLang="en-US" dirty="0"/>
              <a:t>优化</a:t>
            </a:r>
            <a:endParaRPr lang="zh-CN" altLang="en-US"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t>IGP</a:t>
            </a:r>
            <a:r>
              <a:rPr lang="zh-CN" altLang="en-US"/>
              <a:t>高级特性</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OSPF</a:t>
            </a:r>
            <a:r>
              <a:rPr lang="zh-CN" altLang="en-US" dirty="0"/>
              <a:t>和</a:t>
            </a:r>
            <a:r>
              <a:rPr lang="en-US" altLang="zh-CN" dirty="0"/>
              <a:t>IS-IS</a:t>
            </a:r>
            <a:r>
              <a:rPr lang="zh-CN" altLang="en-US" dirty="0"/>
              <a:t>都是基于链路状态的内部网关路由协议，运行这两种协议的路由器通过同步</a:t>
            </a:r>
            <a:r>
              <a:rPr lang="en-US" altLang="zh-CN" dirty="0"/>
              <a:t>LSDB</a:t>
            </a:r>
            <a:r>
              <a:rPr lang="zh-CN" altLang="en-US" dirty="0"/>
              <a:t>，采用</a:t>
            </a:r>
            <a:r>
              <a:rPr lang="en-US" altLang="zh-CN" dirty="0"/>
              <a:t>SPF</a:t>
            </a:r>
            <a:r>
              <a:rPr lang="zh-CN" altLang="en-US" dirty="0"/>
              <a:t>算法计算最优路由。</a:t>
            </a:r>
            <a:endParaRPr lang="en-US" altLang="zh-CN" dirty="0"/>
          </a:p>
          <a:p>
            <a:r>
              <a:rPr lang="zh-CN" altLang="en-US" dirty="0"/>
              <a:t>当网络拓扑发生变化时，</a:t>
            </a:r>
            <a:r>
              <a:rPr lang="en-US" altLang="zh-CN" dirty="0"/>
              <a:t>OSPF</a:t>
            </a:r>
            <a:r>
              <a:rPr lang="zh-CN" altLang="en-US" dirty="0"/>
              <a:t>和</a:t>
            </a:r>
            <a:r>
              <a:rPr lang="en-US" altLang="zh-CN" dirty="0"/>
              <a:t>IS-IS</a:t>
            </a:r>
            <a:r>
              <a:rPr lang="zh-CN" altLang="en-US" dirty="0"/>
              <a:t>支持多种快速收敛和保护机制，能够降低网络故障导致的流量丢失。</a:t>
            </a:r>
            <a:endParaRPr lang="zh-CN" altLang="en-US" dirty="0"/>
          </a:p>
          <a:p>
            <a:r>
              <a:rPr lang="zh-CN" altLang="en-US" dirty="0"/>
              <a:t>为了实现对路由表规模的控制，</a:t>
            </a:r>
            <a:r>
              <a:rPr lang="en-US" altLang="zh-CN" dirty="0"/>
              <a:t>OSPF</a:t>
            </a:r>
            <a:r>
              <a:rPr lang="zh-CN" altLang="en-US" dirty="0"/>
              <a:t>和</a:t>
            </a:r>
            <a:r>
              <a:rPr lang="en-US" altLang="zh-CN" dirty="0"/>
              <a:t>IS-IS</a:t>
            </a:r>
            <a:r>
              <a:rPr lang="zh-CN" altLang="en-US" dirty="0"/>
              <a:t>支持路由选路及路由信息的控制，能够减少特定路由器路由表的大小。</a:t>
            </a:r>
            <a:endParaRPr lang="zh-CN" altLang="en-US" dirty="0"/>
          </a:p>
          <a:p>
            <a:r>
              <a:rPr lang="zh-CN" altLang="en-US" dirty="0"/>
              <a:t>本节课程将介绍</a:t>
            </a:r>
            <a:r>
              <a:rPr lang="en-US" altLang="zh-CN" dirty="0"/>
              <a:t>OSPF</a:t>
            </a:r>
            <a:r>
              <a:rPr lang="zh-CN" altLang="en-US" dirty="0"/>
              <a:t>和</a:t>
            </a:r>
            <a:r>
              <a:rPr lang="en-US" altLang="zh-CN" dirty="0"/>
              <a:t>IS-IS</a:t>
            </a:r>
            <a:r>
              <a:rPr lang="zh-CN" altLang="en-US" dirty="0"/>
              <a:t>的高级特性，包括：快速收敛机制、路由控制、其他特性等。</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019174" y="1844675"/>
            <a:ext cx="10153651" cy="4356100"/>
          </a:xfrm>
        </p:spPr>
        <p:txBody>
          <a:bodyPr/>
          <a:lstStyle/>
          <a:p>
            <a:r>
              <a:rPr lang="zh-CN" altLang="en-US" dirty="0"/>
              <a:t>学完本课程后，您将能够：</a:t>
            </a:r>
            <a:endParaRPr lang="en-US" altLang="zh-CN" dirty="0"/>
          </a:p>
          <a:p>
            <a:pPr lvl="1"/>
            <a:r>
              <a:rPr lang="zh-CN" altLang="en-US" dirty="0"/>
              <a:t>描述</a:t>
            </a:r>
            <a:r>
              <a:rPr lang="en-US" altLang="zh-CN" dirty="0"/>
              <a:t>OSPF</a:t>
            </a:r>
            <a:r>
              <a:rPr lang="zh-CN" altLang="en-US" dirty="0"/>
              <a:t>和</a:t>
            </a:r>
            <a:r>
              <a:rPr lang="en-US" altLang="zh-CN" dirty="0"/>
              <a:t>IS-IS</a:t>
            </a:r>
            <a:r>
              <a:rPr lang="zh-CN" altLang="en-US" dirty="0"/>
              <a:t>的各种快速收敛的技术</a:t>
            </a:r>
            <a:endParaRPr lang="zh-CN" altLang="en-US" dirty="0"/>
          </a:p>
          <a:p>
            <a:pPr lvl="1"/>
            <a:r>
              <a:rPr lang="zh-CN" altLang="en-US" dirty="0"/>
              <a:t>实现</a:t>
            </a:r>
            <a:r>
              <a:rPr lang="en-US" altLang="zh-CN" dirty="0"/>
              <a:t>OSPF</a:t>
            </a:r>
            <a:r>
              <a:rPr lang="zh-CN" altLang="en-US" dirty="0"/>
              <a:t>和</a:t>
            </a:r>
            <a:r>
              <a:rPr lang="en-US" altLang="zh-CN" dirty="0"/>
              <a:t>IS-IS</a:t>
            </a:r>
            <a:r>
              <a:rPr lang="zh-CN" altLang="en-US" dirty="0"/>
              <a:t>等价路由的配置</a:t>
            </a:r>
            <a:endParaRPr lang="en-US" altLang="zh-CN" dirty="0"/>
          </a:p>
          <a:p>
            <a:pPr lvl="1"/>
            <a:r>
              <a:rPr lang="zh-CN" altLang="en-US" dirty="0"/>
              <a:t>实现</a:t>
            </a:r>
            <a:r>
              <a:rPr lang="en-US" altLang="zh-CN" dirty="0"/>
              <a:t>OSPF</a:t>
            </a:r>
            <a:r>
              <a:rPr lang="zh-CN" altLang="en-US" dirty="0"/>
              <a:t>和</a:t>
            </a:r>
            <a:r>
              <a:rPr lang="en-US" altLang="zh-CN" dirty="0"/>
              <a:t>IS-IS</a:t>
            </a:r>
            <a:r>
              <a:rPr lang="zh-CN" altLang="en-US" dirty="0"/>
              <a:t>发布缺省路由</a:t>
            </a:r>
            <a:endParaRPr lang="en-US" altLang="zh-CN" dirty="0"/>
          </a:p>
          <a:p>
            <a:pPr lvl="1"/>
            <a:r>
              <a:rPr lang="zh-CN" altLang="en-US" dirty="0"/>
              <a:t>描述</a:t>
            </a:r>
            <a:r>
              <a:rPr lang="en-US" altLang="zh-CN" dirty="0"/>
              <a:t>OSPF</a:t>
            </a:r>
            <a:r>
              <a:rPr lang="zh-CN" altLang="en-US" dirty="0"/>
              <a:t>和</a:t>
            </a:r>
            <a:r>
              <a:rPr lang="en-US" altLang="zh-CN" dirty="0"/>
              <a:t>IS-IS</a:t>
            </a:r>
            <a:r>
              <a:rPr lang="zh-CN" altLang="en-US" dirty="0"/>
              <a:t>多进程使用场景</a:t>
            </a:r>
            <a:endParaRPr lang="en-US" altLang="zh-CN" dirty="0"/>
          </a:p>
          <a:p>
            <a:pPr lvl="1"/>
            <a:r>
              <a:rPr lang="zh-CN" altLang="en-US" dirty="0"/>
              <a:t>描述</a:t>
            </a:r>
            <a:r>
              <a:rPr lang="en-US" altLang="zh-CN" dirty="0"/>
              <a:t>OSPF</a:t>
            </a:r>
            <a:r>
              <a:rPr lang="zh-CN" altLang="en-US" dirty="0"/>
              <a:t>和</a:t>
            </a:r>
            <a:r>
              <a:rPr lang="en-US" altLang="zh-CN" dirty="0"/>
              <a:t>IS-IS</a:t>
            </a:r>
            <a:r>
              <a:rPr lang="zh-CN" altLang="en-US" dirty="0"/>
              <a:t>的</a:t>
            </a:r>
            <a:r>
              <a:rPr lang="en-US" altLang="zh-CN" dirty="0"/>
              <a:t>GR</a:t>
            </a:r>
            <a:r>
              <a:rPr lang="zh-CN" altLang="en-US" dirty="0"/>
              <a:t>和</a:t>
            </a:r>
            <a:r>
              <a:rPr lang="en-US" altLang="zh-CN" dirty="0"/>
              <a:t>NSR</a:t>
            </a:r>
            <a:r>
              <a:rPr lang="zh-CN" altLang="en-US" dirty="0"/>
              <a:t>原理</a:t>
            </a:r>
            <a:endParaRPr lang="en-US" altLang="zh-CN" dirty="0"/>
          </a:p>
          <a:p>
            <a:pPr lvl="1"/>
            <a:r>
              <a:rPr lang="zh-CN" altLang="en-US" dirty="0"/>
              <a:t>描述</a:t>
            </a:r>
            <a:r>
              <a:rPr lang="en-US" altLang="zh-CN" dirty="0"/>
              <a:t>OSPF</a:t>
            </a:r>
            <a:r>
              <a:rPr lang="zh-CN" altLang="en-US" dirty="0"/>
              <a:t>转发地址的使用场景</a:t>
            </a:r>
            <a:endParaRPr lang="en-US" altLang="zh-CN" dirty="0"/>
          </a:p>
          <a:p>
            <a:pPr lvl="1"/>
            <a:r>
              <a:rPr lang="zh-CN" altLang="en-US" dirty="0"/>
              <a:t>描述</a:t>
            </a:r>
            <a:r>
              <a:rPr lang="en-US" altLang="zh-CN" dirty="0"/>
              <a:t>IS-IS</a:t>
            </a:r>
            <a:r>
              <a:rPr lang="zh-CN" altLang="en-US" dirty="0"/>
              <a:t>的</a:t>
            </a:r>
            <a:r>
              <a:rPr lang="en-US" altLang="zh-CN" dirty="0"/>
              <a:t>LSP</a:t>
            </a:r>
            <a:r>
              <a:rPr lang="zh-CN" altLang="en-US" dirty="0"/>
              <a:t>分片扩展的工作原理</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b="1" dirty="0"/>
              <a:t>OSPF</a:t>
            </a:r>
            <a:r>
              <a:rPr lang="zh-CN" altLang="en-US" b="1" dirty="0"/>
              <a:t>快速收敛</a:t>
            </a:r>
            <a:endParaRPr lang="en-US" altLang="zh-CN" b="1" dirty="0"/>
          </a:p>
          <a:p>
            <a:r>
              <a:rPr lang="en-US" altLang="zh-CN" dirty="0">
                <a:solidFill>
                  <a:schemeClr val="bg1">
                    <a:lumMod val="50000"/>
                  </a:schemeClr>
                </a:solidFill>
              </a:rPr>
              <a:t>OSPF</a:t>
            </a:r>
            <a:r>
              <a:rPr lang="zh-CN" altLang="en-US" dirty="0">
                <a:solidFill>
                  <a:schemeClr val="bg1">
                    <a:lumMod val="50000"/>
                  </a:schemeClr>
                </a:solidFill>
              </a:rPr>
              <a:t>路由控制</a:t>
            </a:r>
            <a:endParaRPr lang="en-US" altLang="zh-CN" dirty="0">
              <a:solidFill>
                <a:schemeClr val="bg1">
                  <a:lumMod val="50000"/>
                </a:schemeClr>
              </a:solidFill>
            </a:endParaRPr>
          </a:p>
          <a:p>
            <a:r>
              <a:rPr lang="en-US" altLang="zh-CN" dirty="0">
                <a:solidFill>
                  <a:schemeClr val="bg1">
                    <a:lumMod val="50000"/>
                  </a:schemeClr>
                </a:solidFill>
              </a:rPr>
              <a:t>OSPF</a:t>
            </a:r>
            <a:r>
              <a:rPr lang="zh-CN" altLang="en-US" dirty="0">
                <a:solidFill>
                  <a:schemeClr val="bg1">
                    <a:lumMod val="50000"/>
                  </a:schemeClr>
                </a:solidFill>
              </a:rPr>
              <a:t>其他特性</a:t>
            </a:r>
            <a:endParaRPr lang="en-US" altLang="zh-CN" dirty="0">
              <a:solidFill>
                <a:schemeClr val="bg1">
                  <a:lumMod val="50000"/>
                </a:schemeClr>
              </a:solidFill>
            </a:endParaRPr>
          </a:p>
          <a:p>
            <a:r>
              <a:rPr lang="en-US" altLang="zh-CN" dirty="0">
                <a:solidFill>
                  <a:schemeClr val="bg1">
                    <a:lumMod val="50000"/>
                  </a:schemeClr>
                </a:solidFill>
              </a:rPr>
              <a:t>IS-IS</a:t>
            </a:r>
            <a:r>
              <a:rPr lang="zh-CN" altLang="en-US" dirty="0">
                <a:solidFill>
                  <a:schemeClr val="bg1">
                    <a:lumMod val="50000"/>
                  </a:schemeClr>
                </a:solidFill>
              </a:rPr>
              <a:t>高级特性</a:t>
            </a:r>
            <a:endParaRPr lang="zh-CN" altLang="en-US" dirty="0">
              <a:solidFill>
                <a:schemeClr val="bg1">
                  <a:lumMod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OSPF</a:t>
            </a:r>
            <a:r>
              <a:rPr lang="zh-CN" altLang="en-US"/>
              <a:t>快速收敛概述</a:t>
            </a:r>
            <a:endParaRPr lang="zh-CN" altLang="en-US" dirty="0"/>
          </a:p>
        </p:txBody>
      </p:sp>
      <p:sp>
        <p:nvSpPr>
          <p:cNvPr id="4" name="文本占位符 3"/>
          <p:cNvSpPr>
            <a:spLocks noGrp="1"/>
          </p:cNvSpPr>
          <p:nvPr>
            <p:ph type="body" sz="quarter" idx="10"/>
          </p:nvPr>
        </p:nvSpPr>
        <p:spPr/>
        <p:txBody>
          <a:bodyPr/>
          <a:lstStyle/>
          <a:p>
            <a:r>
              <a:rPr lang="en-US" altLang="zh-CN" sz="2000" dirty="0"/>
              <a:t>OSPF</a:t>
            </a:r>
            <a:r>
              <a:rPr lang="zh-CN" altLang="en-US" sz="2000" dirty="0"/>
              <a:t>快速收敛是为了提高路由的收敛速度而做的扩展特性，包括：</a:t>
            </a:r>
            <a:r>
              <a:rPr lang="en-US" altLang="zh-CN" sz="2000" dirty="0"/>
              <a:t>PRC</a:t>
            </a:r>
            <a:r>
              <a:rPr lang="zh-CN" altLang="en-US" sz="2000" dirty="0"/>
              <a:t>（</a:t>
            </a:r>
            <a:r>
              <a:rPr lang="en-US" altLang="zh-CN" sz="2000" dirty="0"/>
              <a:t>Partial Route Calculation</a:t>
            </a:r>
            <a:r>
              <a:rPr lang="zh-CN" altLang="en-US" sz="2000" dirty="0"/>
              <a:t>，</a:t>
            </a:r>
            <a:r>
              <a:rPr lang="zh-CN" altLang="en-US" sz="2000" dirty="0">
                <a:highlight>
                  <a:srgbClr val="FFFF00"/>
                </a:highlight>
              </a:rPr>
              <a:t>部分路由计算</a:t>
            </a:r>
            <a:r>
              <a:rPr lang="zh-CN" altLang="en-US" sz="2000" dirty="0"/>
              <a:t>）和</a:t>
            </a:r>
            <a:r>
              <a:rPr lang="zh-CN" altLang="en-US" sz="2000" dirty="0">
                <a:highlight>
                  <a:srgbClr val="FFFF00"/>
                </a:highlight>
              </a:rPr>
              <a:t>智能定时器</a:t>
            </a:r>
            <a:r>
              <a:rPr lang="zh-CN" altLang="en-US" sz="2000" dirty="0"/>
              <a:t>。</a:t>
            </a:r>
            <a:endParaRPr lang="en-US" altLang="zh-CN" sz="2000" dirty="0"/>
          </a:p>
          <a:p>
            <a:r>
              <a:rPr lang="zh-CN" altLang="en-US" sz="2000" dirty="0"/>
              <a:t>同时，</a:t>
            </a:r>
            <a:r>
              <a:rPr lang="en-US" altLang="zh-CN" sz="2000" dirty="0"/>
              <a:t>OSPF</a:t>
            </a:r>
            <a:r>
              <a:rPr lang="zh-CN" altLang="en-US" sz="2000" dirty="0"/>
              <a:t>支持</a:t>
            </a:r>
            <a:r>
              <a:rPr lang="zh-CN" altLang="en-US" sz="2000" dirty="0">
                <a:highlight>
                  <a:srgbClr val="FFFF00"/>
                </a:highlight>
              </a:rPr>
              <a:t>故障恢复快速收敛</a:t>
            </a:r>
            <a:r>
              <a:rPr lang="zh-CN" altLang="en-US" sz="2000" dirty="0"/>
              <a:t>，例如通过</a:t>
            </a:r>
            <a:r>
              <a:rPr lang="en-US" altLang="zh-CN" sz="2000" dirty="0"/>
              <a:t>OSPF IP FRR</a:t>
            </a:r>
            <a:r>
              <a:rPr lang="zh-CN" altLang="en-US" sz="2000" dirty="0"/>
              <a:t>（</a:t>
            </a:r>
            <a:r>
              <a:rPr lang="en-US" altLang="zh-CN" sz="2000" dirty="0"/>
              <a:t>Fast </a:t>
            </a:r>
            <a:r>
              <a:rPr lang="en-US" altLang="zh-CN" sz="2000" dirty="0" err="1"/>
              <a:t>ReRoute</a:t>
            </a:r>
            <a:r>
              <a:rPr lang="zh-CN" altLang="en-US" sz="2000" dirty="0"/>
              <a:t>，快速重路由）实现备份链路的快速切换，也可以与</a:t>
            </a:r>
            <a:r>
              <a:rPr lang="en-US" altLang="zh-CN" sz="2000" dirty="0"/>
              <a:t>BFD</a:t>
            </a:r>
            <a:r>
              <a:rPr lang="zh-CN" altLang="en-US" sz="2000" dirty="0"/>
              <a:t>联动实现对故障的快速感知。</a:t>
            </a:r>
            <a:endParaRPr lang="zh-CN" altLang="en-US" sz="2000" dirty="0"/>
          </a:p>
        </p:txBody>
      </p:sp>
      <p:sp>
        <p:nvSpPr>
          <p:cNvPr id="9" name="文本占位符 3"/>
          <p:cNvSpPr txBox="1"/>
          <p:nvPr/>
        </p:nvSpPr>
        <p:spPr bwMode="auto">
          <a:xfrm>
            <a:off x="6594410" y="3990689"/>
            <a:ext cx="5826465" cy="2623930"/>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endParaRPr lang="zh-CN" altLang="en-US" sz="1800" dirty="0"/>
          </a:p>
        </p:txBody>
      </p:sp>
      <p:sp>
        <p:nvSpPr>
          <p:cNvPr id="34" name="五边形 33"/>
          <p:cNvSpPr/>
          <p:nvPr/>
        </p:nvSpPr>
        <p:spPr bwMode="auto">
          <a:xfrm>
            <a:off x="7948868" y="98112"/>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PRC</a:t>
            </a:r>
            <a:endParaRPr lang="zh-CN" altLang="en-US" dirty="0"/>
          </a:p>
        </p:txBody>
      </p:sp>
      <p:sp>
        <p:nvSpPr>
          <p:cNvPr id="4" name="文本占位符 3"/>
          <p:cNvSpPr>
            <a:spLocks noGrp="1"/>
          </p:cNvSpPr>
          <p:nvPr>
            <p:ph type="body" sz="quarter" idx="10"/>
          </p:nvPr>
        </p:nvSpPr>
        <p:spPr>
          <a:xfrm>
            <a:off x="455612" y="1047750"/>
            <a:ext cx="11293475" cy="1122815"/>
          </a:xfrm>
        </p:spPr>
        <p:txBody>
          <a:bodyPr/>
          <a:lstStyle/>
          <a:p>
            <a:r>
              <a:rPr lang="en-US" altLang="zh-CN" sz="2000"/>
              <a:t>PRC</a:t>
            </a:r>
            <a:r>
              <a:rPr lang="zh-CN" altLang="en-US" sz="2000"/>
              <a:t>的工作原理：</a:t>
            </a:r>
            <a:r>
              <a:rPr lang="zh-CN" altLang="en-US" sz="2000">
                <a:highlight>
                  <a:srgbClr val="FFFF00"/>
                </a:highlight>
              </a:rPr>
              <a:t>当网络上路由发生变化的时候，只对发生变化的路由进行重新计算</a:t>
            </a:r>
            <a:r>
              <a:rPr lang="zh-CN" altLang="en-US" sz="2000"/>
              <a:t>。</a:t>
            </a:r>
            <a:endParaRPr lang="en-US" altLang="zh-CN" sz="2000"/>
          </a:p>
          <a:p>
            <a:r>
              <a:rPr lang="en-US" altLang="zh-CN" sz="2000"/>
              <a:t>PRC</a:t>
            </a:r>
            <a:r>
              <a:rPr lang="zh-CN" altLang="en-US" sz="2000"/>
              <a:t>不计算节点路径，而是根据</a:t>
            </a:r>
            <a:r>
              <a:rPr lang="en-US" altLang="zh-CN" sz="2000"/>
              <a:t>SPF</a:t>
            </a:r>
            <a:r>
              <a:rPr lang="zh-CN" altLang="en-US" sz="2000"/>
              <a:t>算法算出来的最短路径树来更新路由。</a:t>
            </a:r>
            <a:endParaRPr lang="zh-CN" altLang="en-US" sz="2000" dirty="0"/>
          </a:p>
        </p:txBody>
      </p:sp>
      <p:sp>
        <p:nvSpPr>
          <p:cNvPr id="9" name="文本占位符 3"/>
          <p:cNvSpPr txBox="1"/>
          <p:nvPr/>
        </p:nvSpPr>
        <p:spPr bwMode="auto">
          <a:xfrm>
            <a:off x="979370" y="5286902"/>
            <a:ext cx="3248113" cy="811718"/>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400" dirty="0"/>
              <a:t>在路由计算中，节点代表路由器，叶子代表路由，</a:t>
            </a:r>
            <a:r>
              <a:rPr lang="en-US" altLang="zh-CN" sz="1400" dirty="0">
                <a:highlight>
                  <a:srgbClr val="FFFF00"/>
                </a:highlight>
              </a:rPr>
              <a:t>PRC</a:t>
            </a:r>
            <a:r>
              <a:rPr lang="zh-CN" altLang="en-US" sz="1400" dirty="0">
                <a:highlight>
                  <a:srgbClr val="FFFF00"/>
                </a:highlight>
              </a:rPr>
              <a:t>只处理变化的叶子信息</a:t>
            </a:r>
            <a:r>
              <a:rPr lang="zh-CN" altLang="en-US" sz="1400" dirty="0"/>
              <a:t>。</a:t>
            </a:r>
            <a:endParaRPr lang="zh-CN" altLang="en-US" sz="1400" dirty="0"/>
          </a:p>
        </p:txBody>
      </p:sp>
      <p:pic>
        <p:nvPicPr>
          <p:cNvPr id="26" name="图片 25"/>
          <p:cNvPicPr/>
          <p:nvPr/>
        </p:nvPicPr>
        <p:blipFill>
          <a:blip r:embed="rId1" cstate="print">
            <a:extLst>
              <a:ext uri="{28A0092B-C50C-407E-A947-70E740481C1C}">
                <a14:useLocalDpi xmlns:a14="http://schemas.microsoft.com/office/drawing/2010/main" val="0"/>
              </a:ext>
            </a:extLst>
          </a:blip>
          <a:stretch>
            <a:fillRect/>
          </a:stretch>
        </p:blipFill>
        <p:spPr bwMode="gray">
          <a:xfrm>
            <a:off x="1222847" y="3588668"/>
            <a:ext cx="540000" cy="442800"/>
          </a:xfrm>
          <a:prstGeom prst="rect">
            <a:avLst/>
          </a:prstGeom>
        </p:spPr>
      </p:pic>
      <p:cxnSp>
        <p:nvCxnSpPr>
          <p:cNvPr id="27" name="直接连接符 26"/>
          <p:cNvCxnSpPr>
            <a:endCxn id="26" idx="0"/>
          </p:cNvCxnSpPr>
          <p:nvPr/>
        </p:nvCxnSpPr>
        <p:spPr bwMode="gray">
          <a:xfrm flipH="1">
            <a:off x="1492847" y="2987899"/>
            <a:ext cx="570822" cy="6007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45" idx="0"/>
          </p:cNvCxnSpPr>
          <p:nvPr/>
        </p:nvCxnSpPr>
        <p:spPr bwMode="gray">
          <a:xfrm>
            <a:off x="2032671" y="2987899"/>
            <a:ext cx="602265" cy="6007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bwMode="gray">
          <a:xfrm>
            <a:off x="1534122" y="2528838"/>
            <a:ext cx="1136850" cy="307777"/>
          </a:xfrm>
          <a:prstGeom prst="rect">
            <a:avLst/>
          </a:prstGeom>
          <a:noFill/>
        </p:spPr>
        <p:txBody>
          <a:bodyPr wrap="none" rtlCol="0">
            <a:spAutoFit/>
          </a:bodyPr>
          <a:lstStyle/>
          <a:p>
            <a:pPr algn="ctr"/>
            <a:r>
              <a:rPr lang="en-US" altLang="zh-CN" sz="1400" dirty="0"/>
              <a:t>R1</a:t>
            </a:r>
            <a:r>
              <a:rPr lang="zh-CN" altLang="en-US" sz="1400" dirty="0"/>
              <a:t>（</a:t>
            </a:r>
            <a:r>
              <a:rPr lang="en-US" altLang="zh-CN" sz="1400" dirty="0"/>
              <a:t>Root</a:t>
            </a:r>
            <a:r>
              <a:rPr lang="zh-CN" altLang="en-US" sz="1400" dirty="0"/>
              <a:t>）</a:t>
            </a:r>
            <a:endParaRPr lang="zh-CN" altLang="en-US" sz="1400" dirty="0"/>
          </a:p>
        </p:txBody>
      </p:sp>
      <p:sp>
        <p:nvSpPr>
          <p:cNvPr id="36" name="文本框 35"/>
          <p:cNvSpPr txBox="1"/>
          <p:nvPr/>
        </p:nvSpPr>
        <p:spPr bwMode="gray">
          <a:xfrm>
            <a:off x="1192598" y="3317953"/>
            <a:ext cx="39466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37" name="文本框 36"/>
          <p:cNvSpPr txBox="1"/>
          <p:nvPr/>
        </p:nvSpPr>
        <p:spPr bwMode="gray">
          <a:xfrm>
            <a:off x="2745373" y="3323607"/>
            <a:ext cx="394660" cy="307777"/>
          </a:xfrm>
          <a:prstGeom prst="rect">
            <a:avLst/>
          </a:prstGeom>
          <a:noFill/>
        </p:spPr>
        <p:txBody>
          <a:bodyPr wrap="none" rtlCol="0">
            <a:spAutoFit/>
          </a:bodyPr>
          <a:lstStyle/>
          <a:p>
            <a:pPr algn="ctr"/>
            <a:r>
              <a:rPr lang="en-US" altLang="zh-CN" sz="1400" dirty="0"/>
              <a:t>R3</a:t>
            </a:r>
            <a:endParaRPr lang="zh-CN" altLang="en-US" sz="1400" dirty="0"/>
          </a:p>
        </p:txBody>
      </p:sp>
      <p:sp>
        <p:nvSpPr>
          <p:cNvPr id="38" name="文本框 37"/>
          <p:cNvSpPr txBox="1"/>
          <p:nvPr/>
        </p:nvSpPr>
        <p:spPr bwMode="gray">
          <a:xfrm>
            <a:off x="1759211" y="4130240"/>
            <a:ext cx="455574" cy="307777"/>
          </a:xfrm>
          <a:prstGeom prst="rect">
            <a:avLst/>
          </a:prstGeom>
          <a:noFill/>
        </p:spPr>
        <p:txBody>
          <a:bodyPr wrap="square" rtlCol="0">
            <a:spAutoFit/>
          </a:bodyPr>
          <a:lstStyle/>
          <a:p>
            <a:pPr algn="ctr"/>
            <a:r>
              <a:rPr lang="en-US" altLang="zh-CN" sz="1400" dirty="0"/>
              <a:t>R4</a:t>
            </a:r>
            <a:endParaRPr lang="zh-CN" altLang="en-US" sz="1400" dirty="0"/>
          </a:p>
        </p:txBody>
      </p:sp>
      <p:sp>
        <p:nvSpPr>
          <p:cNvPr id="39" name="文本框 38"/>
          <p:cNvSpPr txBox="1"/>
          <p:nvPr/>
        </p:nvSpPr>
        <p:spPr bwMode="gray">
          <a:xfrm>
            <a:off x="3253353" y="4130239"/>
            <a:ext cx="394660" cy="307777"/>
          </a:xfrm>
          <a:prstGeom prst="rect">
            <a:avLst/>
          </a:prstGeom>
          <a:noFill/>
        </p:spPr>
        <p:txBody>
          <a:bodyPr wrap="none" rtlCol="0">
            <a:spAutoFit/>
          </a:bodyPr>
          <a:lstStyle/>
          <a:p>
            <a:pPr algn="ctr"/>
            <a:r>
              <a:rPr lang="en-US" altLang="zh-CN" sz="1400" dirty="0"/>
              <a:t>R5</a:t>
            </a:r>
            <a:endParaRPr lang="zh-CN" altLang="en-US" sz="1400" dirty="0"/>
          </a:p>
        </p:txBody>
      </p:sp>
      <p:pic>
        <p:nvPicPr>
          <p:cNvPr id="40" name="图片 39"/>
          <p:cNvPicPr/>
          <p:nvPr/>
        </p:nvPicPr>
        <p:blipFill>
          <a:blip r:embed="rId1" cstate="print">
            <a:extLst>
              <a:ext uri="{28A0092B-C50C-407E-A947-70E740481C1C}">
                <a14:useLocalDpi xmlns:a14="http://schemas.microsoft.com/office/drawing/2010/main" val="0"/>
              </a:ext>
            </a:extLst>
          </a:blip>
          <a:stretch>
            <a:fillRect/>
          </a:stretch>
        </p:blipFill>
        <p:spPr bwMode="gray">
          <a:xfrm>
            <a:off x="1793892" y="2779892"/>
            <a:ext cx="540000" cy="442800"/>
          </a:xfrm>
          <a:prstGeom prst="rect">
            <a:avLst/>
          </a:prstGeom>
        </p:spPr>
      </p:pic>
      <p:pic>
        <p:nvPicPr>
          <p:cNvPr id="41" name="图片 40"/>
          <p:cNvPicPr/>
          <p:nvPr/>
        </p:nvPicPr>
        <p:blipFill>
          <a:blip r:embed="rId1" cstate="print">
            <a:extLst>
              <a:ext uri="{28A0092B-C50C-407E-A947-70E740481C1C}">
                <a14:useLocalDpi xmlns:a14="http://schemas.microsoft.com/office/drawing/2010/main" val="0"/>
              </a:ext>
            </a:extLst>
          </a:blip>
          <a:stretch>
            <a:fillRect/>
          </a:stretch>
        </p:blipFill>
        <p:spPr bwMode="gray">
          <a:xfrm>
            <a:off x="1793669" y="4385894"/>
            <a:ext cx="540000" cy="442800"/>
          </a:xfrm>
          <a:prstGeom prst="rect">
            <a:avLst/>
          </a:prstGeom>
        </p:spPr>
      </p:pic>
      <p:cxnSp>
        <p:nvCxnSpPr>
          <p:cNvPr id="43" name="直接连接符 42"/>
          <p:cNvCxnSpPr>
            <a:endCxn id="41" idx="0"/>
          </p:cNvCxnSpPr>
          <p:nvPr/>
        </p:nvCxnSpPr>
        <p:spPr bwMode="gray">
          <a:xfrm flipH="1">
            <a:off x="2063669" y="3812146"/>
            <a:ext cx="607303" cy="573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endCxn id="42" idx="0"/>
          </p:cNvCxnSpPr>
          <p:nvPr/>
        </p:nvCxnSpPr>
        <p:spPr bwMode="gray">
          <a:xfrm>
            <a:off x="2634936" y="3812146"/>
            <a:ext cx="570822" cy="573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5" name="图片 44"/>
          <p:cNvPicPr/>
          <p:nvPr/>
        </p:nvPicPr>
        <p:blipFill>
          <a:blip r:embed="rId1" cstate="print">
            <a:extLst>
              <a:ext uri="{28A0092B-C50C-407E-A947-70E740481C1C}">
                <a14:useLocalDpi xmlns:a14="http://schemas.microsoft.com/office/drawing/2010/main" val="0"/>
              </a:ext>
            </a:extLst>
          </a:blip>
          <a:stretch>
            <a:fillRect/>
          </a:stretch>
        </p:blipFill>
        <p:spPr bwMode="gray">
          <a:xfrm>
            <a:off x="2364936" y="3588668"/>
            <a:ext cx="540000" cy="442800"/>
          </a:xfrm>
          <a:prstGeom prst="rect">
            <a:avLst/>
          </a:prstGeom>
        </p:spPr>
      </p:pic>
      <p:sp>
        <p:nvSpPr>
          <p:cNvPr id="46" name="文本占位符 3"/>
          <p:cNvSpPr txBox="1"/>
          <p:nvPr/>
        </p:nvSpPr>
        <p:spPr bwMode="auto">
          <a:xfrm>
            <a:off x="4623954" y="2043178"/>
            <a:ext cx="7120545" cy="4174123"/>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1600" dirty="0"/>
              <a:t>场景介绍：</a:t>
            </a:r>
            <a:endParaRPr lang="en-US" altLang="zh-CN" sz="1600" dirty="0"/>
          </a:p>
          <a:p>
            <a:pPr lvl="1">
              <a:lnSpc>
                <a:spcPct val="125000"/>
              </a:lnSpc>
            </a:pPr>
            <a:r>
              <a:rPr lang="zh-CN" altLang="en-US" sz="1400" dirty="0"/>
              <a:t>某网络运行</a:t>
            </a:r>
            <a:r>
              <a:rPr lang="en-US" altLang="zh-CN" sz="1400" dirty="0"/>
              <a:t>OSPF</a:t>
            </a:r>
            <a:r>
              <a:rPr lang="zh-CN" altLang="en-US" sz="1400" dirty="0"/>
              <a:t>，网络收敛后，左图是以</a:t>
            </a:r>
            <a:r>
              <a:rPr lang="en-US" altLang="zh-CN" sz="1400" dirty="0"/>
              <a:t>R1</a:t>
            </a:r>
            <a:r>
              <a:rPr lang="zh-CN" altLang="en-US" sz="1400" dirty="0"/>
              <a:t>为根的最短路径树。此时</a:t>
            </a:r>
            <a:r>
              <a:rPr lang="en-US" altLang="zh-CN" sz="1400" dirty="0"/>
              <a:t>R1</a:t>
            </a:r>
            <a:r>
              <a:rPr lang="zh-CN" altLang="en-US" sz="1400" dirty="0"/>
              <a:t>访问节点</a:t>
            </a:r>
            <a:r>
              <a:rPr lang="en-US" altLang="zh-CN" sz="1400" dirty="0"/>
              <a:t>R5</a:t>
            </a:r>
            <a:r>
              <a:rPr lang="zh-CN" altLang="en-US" sz="1400" dirty="0"/>
              <a:t>时，通过</a:t>
            </a:r>
            <a:r>
              <a:rPr lang="en-US" altLang="zh-CN" sz="1400" dirty="0">
                <a:solidFill>
                  <a:srgbClr val="C7000B"/>
                </a:solidFill>
              </a:rPr>
              <a:t>[R1</a:t>
            </a:r>
            <a:r>
              <a:rPr lang="zh-CN" altLang="en-US" sz="1400" dirty="0">
                <a:solidFill>
                  <a:srgbClr val="C7000B"/>
                </a:solidFill>
              </a:rPr>
              <a:t>下行链路的出接口，</a:t>
            </a:r>
            <a:r>
              <a:rPr lang="en-US" altLang="zh-CN" sz="1400" dirty="0">
                <a:solidFill>
                  <a:srgbClr val="C7000B"/>
                </a:solidFill>
              </a:rPr>
              <a:t>R3</a:t>
            </a:r>
            <a:r>
              <a:rPr lang="zh-CN" altLang="en-US" sz="1400" dirty="0">
                <a:solidFill>
                  <a:srgbClr val="C7000B"/>
                </a:solidFill>
              </a:rPr>
              <a:t>上行链路接口的</a:t>
            </a:r>
            <a:r>
              <a:rPr lang="en-US" altLang="zh-CN" sz="1400" dirty="0">
                <a:solidFill>
                  <a:srgbClr val="C7000B"/>
                </a:solidFill>
              </a:rPr>
              <a:t>IP</a:t>
            </a:r>
            <a:r>
              <a:rPr lang="zh-CN" altLang="en-US" sz="1400" dirty="0">
                <a:solidFill>
                  <a:srgbClr val="C7000B"/>
                </a:solidFill>
              </a:rPr>
              <a:t>地址</a:t>
            </a:r>
            <a:r>
              <a:rPr lang="en-US" altLang="zh-CN" sz="1400" dirty="0">
                <a:solidFill>
                  <a:srgbClr val="C7000B"/>
                </a:solidFill>
              </a:rPr>
              <a:t>]</a:t>
            </a:r>
            <a:r>
              <a:rPr lang="zh-CN" altLang="en-US" sz="1400" dirty="0"/>
              <a:t>到达该目的地。</a:t>
            </a:r>
            <a:endParaRPr lang="en-US" altLang="zh-CN" sz="1400" dirty="0"/>
          </a:p>
          <a:p>
            <a:pPr lvl="1">
              <a:lnSpc>
                <a:spcPct val="125000"/>
              </a:lnSpc>
            </a:pPr>
            <a:r>
              <a:rPr lang="en-US" altLang="zh-CN" sz="1400" dirty="0"/>
              <a:t>R5</a:t>
            </a:r>
            <a:r>
              <a:rPr lang="zh-CN" altLang="en-US" sz="1400" dirty="0"/>
              <a:t>将环回口</a:t>
            </a:r>
            <a:r>
              <a:rPr lang="en-US" altLang="zh-CN" sz="1400" dirty="0"/>
              <a:t>Loopback0</a:t>
            </a:r>
            <a:r>
              <a:rPr lang="zh-CN" altLang="en-US" sz="1400" dirty="0"/>
              <a:t>开启</a:t>
            </a:r>
            <a:r>
              <a:rPr lang="en-US" altLang="zh-CN" sz="1400" dirty="0"/>
              <a:t>OSPF</a:t>
            </a:r>
            <a:r>
              <a:rPr lang="zh-CN" altLang="en-US" sz="1400" dirty="0"/>
              <a:t>，即</a:t>
            </a:r>
            <a:r>
              <a:rPr lang="en-US" altLang="zh-CN" sz="1400" dirty="0"/>
              <a:t>OSPF</a:t>
            </a:r>
            <a:r>
              <a:rPr lang="zh-CN" altLang="en-US" sz="1400" dirty="0"/>
              <a:t>网络内有新增网段。</a:t>
            </a:r>
            <a:endParaRPr lang="en-US" altLang="zh-CN" sz="1400" dirty="0"/>
          </a:p>
          <a:p>
            <a:pPr>
              <a:lnSpc>
                <a:spcPct val="125000"/>
              </a:lnSpc>
            </a:pPr>
            <a:r>
              <a:rPr lang="en-US" altLang="zh-CN" sz="1600" dirty="0"/>
              <a:t>PRC</a:t>
            </a:r>
            <a:r>
              <a:rPr lang="zh-CN" altLang="en-US" sz="1600" dirty="0"/>
              <a:t>计算：</a:t>
            </a:r>
            <a:endParaRPr lang="en-US" altLang="zh-CN" sz="1600" dirty="0"/>
          </a:p>
          <a:p>
            <a:pPr lvl="1">
              <a:lnSpc>
                <a:spcPct val="125000"/>
              </a:lnSpc>
            </a:pPr>
            <a:r>
              <a:rPr lang="en-US" altLang="zh-CN" sz="1400" dirty="0"/>
              <a:t>R5</a:t>
            </a:r>
            <a:r>
              <a:rPr lang="zh-CN" altLang="en-US" sz="1400" dirty="0"/>
              <a:t>全网泛洪新增</a:t>
            </a:r>
            <a:r>
              <a:rPr lang="en-US" altLang="zh-CN" sz="1400" dirty="0"/>
              <a:t>LSA</a:t>
            </a:r>
            <a:r>
              <a:rPr lang="zh-CN" altLang="en-US" sz="1400" dirty="0"/>
              <a:t>。</a:t>
            </a:r>
            <a:endParaRPr lang="en-US" altLang="zh-CN" sz="1400" dirty="0"/>
          </a:p>
          <a:p>
            <a:pPr lvl="1">
              <a:lnSpc>
                <a:spcPct val="125000"/>
              </a:lnSpc>
            </a:pPr>
            <a:r>
              <a:rPr lang="en-US" altLang="zh-CN" sz="1400" dirty="0"/>
              <a:t>R1</a:t>
            </a:r>
            <a:r>
              <a:rPr lang="zh-CN" altLang="en-US" sz="1400" dirty="0"/>
              <a:t>收到该</a:t>
            </a:r>
            <a:r>
              <a:rPr lang="en-US" altLang="zh-CN" sz="1400" dirty="0"/>
              <a:t>LSA</a:t>
            </a:r>
            <a:r>
              <a:rPr lang="zh-CN" altLang="en-US" sz="1400" dirty="0"/>
              <a:t>后会创建新的路由，继承原有访问节点</a:t>
            </a:r>
            <a:r>
              <a:rPr lang="en-US" altLang="zh-CN" sz="1400" dirty="0"/>
              <a:t>R5</a:t>
            </a:r>
            <a:r>
              <a:rPr lang="zh-CN" altLang="en-US" sz="1400" dirty="0"/>
              <a:t>的路径及下一跳，即最短路径树不变，只在节点</a:t>
            </a:r>
            <a:r>
              <a:rPr lang="en-US" altLang="zh-CN" sz="1400" dirty="0"/>
              <a:t>R5</a:t>
            </a:r>
            <a:r>
              <a:rPr lang="zh-CN" altLang="en-US" sz="1400" dirty="0"/>
              <a:t>上新增叶子。</a:t>
            </a:r>
            <a:endParaRPr lang="en-US" altLang="zh-CN" sz="1400" dirty="0"/>
          </a:p>
          <a:p>
            <a:pPr lvl="1">
              <a:lnSpc>
                <a:spcPct val="125000"/>
              </a:lnSpc>
            </a:pPr>
            <a:r>
              <a:rPr lang="zh-CN" altLang="en-US" sz="1400" dirty="0"/>
              <a:t>因此</a:t>
            </a:r>
            <a:r>
              <a:rPr lang="en-US" altLang="zh-CN" sz="1400" dirty="0"/>
              <a:t>R1</a:t>
            </a:r>
            <a:r>
              <a:rPr lang="zh-CN" altLang="en-US" sz="1400" dirty="0"/>
              <a:t>访问</a:t>
            </a:r>
            <a:r>
              <a:rPr lang="en-US" altLang="zh-CN" sz="1400" dirty="0"/>
              <a:t>R5</a:t>
            </a:r>
            <a:r>
              <a:rPr lang="zh-CN" altLang="en-US" sz="1400" dirty="0"/>
              <a:t>的</a:t>
            </a:r>
            <a:r>
              <a:rPr lang="en-US" altLang="zh-CN" sz="1400" dirty="0"/>
              <a:t>Loopback0</a:t>
            </a:r>
            <a:r>
              <a:rPr lang="zh-CN" altLang="en-US" sz="1400" dirty="0"/>
              <a:t>时，通过</a:t>
            </a:r>
            <a:r>
              <a:rPr lang="en-US" altLang="zh-CN" sz="1400" dirty="0">
                <a:solidFill>
                  <a:srgbClr val="C7000B"/>
                </a:solidFill>
              </a:rPr>
              <a:t>[R1</a:t>
            </a:r>
            <a:r>
              <a:rPr lang="zh-CN" altLang="en-US" sz="1400" dirty="0">
                <a:solidFill>
                  <a:srgbClr val="C7000B"/>
                </a:solidFill>
              </a:rPr>
              <a:t>下行链路的出接口，</a:t>
            </a:r>
            <a:r>
              <a:rPr lang="en-US" altLang="zh-CN" sz="1400" dirty="0">
                <a:solidFill>
                  <a:srgbClr val="C7000B"/>
                </a:solidFill>
              </a:rPr>
              <a:t>R3</a:t>
            </a:r>
            <a:r>
              <a:rPr lang="zh-CN" altLang="en-US" sz="1400" dirty="0">
                <a:solidFill>
                  <a:srgbClr val="C7000B"/>
                </a:solidFill>
              </a:rPr>
              <a:t>上行链路接口的</a:t>
            </a:r>
            <a:r>
              <a:rPr lang="en-US" altLang="zh-CN" sz="1400" dirty="0">
                <a:solidFill>
                  <a:srgbClr val="C7000B"/>
                </a:solidFill>
              </a:rPr>
              <a:t>IP</a:t>
            </a:r>
            <a:r>
              <a:rPr lang="zh-CN" altLang="en-US" sz="1400" dirty="0">
                <a:solidFill>
                  <a:srgbClr val="C7000B"/>
                </a:solidFill>
              </a:rPr>
              <a:t>地址</a:t>
            </a:r>
            <a:r>
              <a:rPr lang="en-US" altLang="zh-CN" sz="1400" dirty="0">
                <a:solidFill>
                  <a:srgbClr val="C7000B"/>
                </a:solidFill>
              </a:rPr>
              <a:t>]</a:t>
            </a:r>
            <a:r>
              <a:rPr lang="zh-CN" altLang="en-US" sz="1400" dirty="0"/>
              <a:t>到达该目的地。</a:t>
            </a:r>
            <a:endParaRPr lang="en-US" altLang="zh-CN" sz="1400" dirty="0"/>
          </a:p>
          <a:p>
            <a:pPr>
              <a:lnSpc>
                <a:spcPct val="125000"/>
              </a:lnSpc>
            </a:pPr>
            <a:r>
              <a:rPr lang="zh-CN" altLang="en-US" sz="1600" dirty="0"/>
              <a:t>价值：</a:t>
            </a:r>
            <a:endParaRPr lang="en-US" altLang="zh-CN" sz="1600" dirty="0"/>
          </a:p>
          <a:p>
            <a:pPr lvl="1">
              <a:lnSpc>
                <a:spcPct val="125000"/>
              </a:lnSpc>
            </a:pPr>
            <a:r>
              <a:rPr lang="en-US" altLang="zh-CN" sz="1400" dirty="0"/>
              <a:t>OSPF</a:t>
            </a:r>
            <a:r>
              <a:rPr lang="zh-CN" altLang="en-US" sz="1400" dirty="0"/>
              <a:t>网络新增网段时，只关注发生变化的路由，加快了路由的计算。</a:t>
            </a:r>
            <a:endParaRPr lang="en-US" altLang="zh-CN" sz="1400" dirty="0"/>
          </a:p>
        </p:txBody>
      </p:sp>
      <p:grpSp>
        <p:nvGrpSpPr>
          <p:cNvPr id="50" name="组合 49"/>
          <p:cNvGrpSpPr/>
          <p:nvPr/>
        </p:nvGrpSpPr>
        <p:grpSpPr bwMode="gray">
          <a:xfrm>
            <a:off x="3073365" y="4777178"/>
            <a:ext cx="264786" cy="160462"/>
            <a:chOff x="3205758" y="5142192"/>
            <a:chExt cx="264786" cy="160462"/>
          </a:xfrm>
        </p:grpSpPr>
        <p:cxnSp>
          <p:nvCxnSpPr>
            <p:cNvPr id="47" name="直接连接符 46"/>
            <p:cNvCxnSpPr/>
            <p:nvPr/>
          </p:nvCxnSpPr>
          <p:spPr bwMode="gray">
            <a:xfrm>
              <a:off x="3205758" y="5302654"/>
              <a:ext cx="264786" cy="0"/>
            </a:xfrm>
            <a:prstGeom prst="line">
              <a:avLst/>
            </a:prstGeom>
            <a:ln w="38100">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bwMode="gray">
            <a:xfrm flipV="1">
              <a:off x="3338151" y="5142192"/>
              <a:ext cx="0" cy="160462"/>
            </a:xfrm>
            <a:prstGeom prst="line">
              <a:avLst/>
            </a:prstGeom>
            <a:ln w="38100">
              <a:solidFill>
                <a:srgbClr val="C7000B"/>
              </a:solidFill>
            </a:ln>
          </p:spPr>
          <p:style>
            <a:lnRef idx="1">
              <a:schemeClr val="accent1"/>
            </a:lnRef>
            <a:fillRef idx="0">
              <a:schemeClr val="accent1"/>
            </a:fillRef>
            <a:effectRef idx="0">
              <a:schemeClr val="accent1"/>
            </a:effectRef>
            <a:fontRef idx="minor">
              <a:schemeClr val="tx1"/>
            </a:fontRef>
          </p:style>
        </p:cxnSp>
      </p:grpSp>
      <p:sp>
        <p:nvSpPr>
          <p:cNvPr id="49" name="文本框 48"/>
          <p:cNvSpPr txBox="1"/>
          <p:nvPr/>
        </p:nvSpPr>
        <p:spPr bwMode="gray">
          <a:xfrm>
            <a:off x="2020178" y="4936659"/>
            <a:ext cx="2371162" cy="307777"/>
          </a:xfrm>
          <a:prstGeom prst="rect">
            <a:avLst/>
          </a:prstGeom>
          <a:noFill/>
        </p:spPr>
        <p:txBody>
          <a:bodyPr wrap="none" rtlCol="0">
            <a:spAutoFit/>
          </a:bodyPr>
          <a:lstStyle/>
          <a:p>
            <a:pPr algn="ctr"/>
            <a:r>
              <a:rPr lang="en-US" altLang="zh-CN" sz="1400" b="1" dirty="0">
                <a:solidFill>
                  <a:srgbClr val="C7000B"/>
                </a:solidFill>
              </a:rPr>
              <a:t>Loopback0</a:t>
            </a:r>
            <a:r>
              <a:rPr lang="zh-CN" altLang="en-US" sz="1400" b="1" dirty="0">
                <a:solidFill>
                  <a:srgbClr val="C7000B"/>
                </a:solidFill>
              </a:rPr>
              <a:t>：新增直连网段</a:t>
            </a:r>
            <a:endParaRPr lang="zh-CN" altLang="en-US" sz="1400" b="1" dirty="0">
              <a:solidFill>
                <a:srgbClr val="C7000B"/>
              </a:solidFill>
            </a:endParaRPr>
          </a:p>
        </p:txBody>
      </p:sp>
      <p:pic>
        <p:nvPicPr>
          <p:cNvPr id="42" name="图片 41"/>
          <p:cNvPicPr/>
          <p:nvPr/>
        </p:nvPicPr>
        <p:blipFill>
          <a:blip r:embed="rId1" cstate="print">
            <a:extLst>
              <a:ext uri="{28A0092B-C50C-407E-A947-70E740481C1C}">
                <a14:useLocalDpi xmlns:a14="http://schemas.microsoft.com/office/drawing/2010/main" val="0"/>
              </a:ext>
            </a:extLst>
          </a:blip>
          <a:stretch>
            <a:fillRect/>
          </a:stretch>
        </p:blipFill>
        <p:spPr bwMode="gray">
          <a:xfrm>
            <a:off x="2935758" y="4385894"/>
            <a:ext cx="540000" cy="442800"/>
          </a:xfrm>
          <a:prstGeom prst="rect">
            <a:avLst/>
          </a:prstGeom>
        </p:spPr>
      </p:pic>
      <p:sp>
        <p:nvSpPr>
          <p:cNvPr id="8" name="椭圆 7"/>
          <p:cNvSpPr/>
          <p:nvPr/>
        </p:nvSpPr>
        <p:spPr bwMode="ltGray">
          <a:xfrm>
            <a:off x="2143439" y="3124849"/>
            <a:ext cx="180000" cy="1800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bwMode="ltGray">
          <a:xfrm>
            <a:off x="2513427" y="3505500"/>
            <a:ext cx="180000" cy="1800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bwMode="ltGray">
          <a:xfrm>
            <a:off x="2101899" y="2855730"/>
            <a:ext cx="1207062" cy="1918551"/>
          </a:xfrm>
          <a:custGeom>
            <a:avLst/>
            <a:gdLst>
              <a:gd name="connsiteX0" fmla="*/ 0 w 1071844"/>
              <a:gd name="connsiteY0" fmla="*/ 0 h 1698171"/>
              <a:gd name="connsiteX1" fmla="*/ 570016 w 1071844"/>
              <a:gd name="connsiteY1" fmla="*/ 593766 h 1698171"/>
              <a:gd name="connsiteX2" fmla="*/ 997527 w 1071844"/>
              <a:gd name="connsiteY2" fmla="*/ 1175657 h 1698171"/>
              <a:gd name="connsiteX3" fmla="*/ 1068779 w 1071844"/>
              <a:gd name="connsiteY3" fmla="*/ 1698171 h 1698171"/>
            </a:gdLst>
            <a:ahLst/>
            <a:cxnLst>
              <a:cxn ang="0">
                <a:pos x="connsiteX0" y="connsiteY0"/>
              </a:cxn>
              <a:cxn ang="0">
                <a:pos x="connsiteX1" y="connsiteY1"/>
              </a:cxn>
              <a:cxn ang="0">
                <a:pos x="connsiteX2" y="connsiteY2"/>
              </a:cxn>
              <a:cxn ang="0">
                <a:pos x="connsiteX3" y="connsiteY3"/>
              </a:cxn>
            </a:cxnLst>
            <a:rect l="l" t="t" r="r" b="b"/>
            <a:pathLst>
              <a:path w="1071844" h="1698171">
                <a:moveTo>
                  <a:pt x="0" y="0"/>
                </a:moveTo>
                <a:cubicBezTo>
                  <a:pt x="201881" y="198911"/>
                  <a:pt x="403762" y="397823"/>
                  <a:pt x="570016" y="593766"/>
                </a:cubicBezTo>
                <a:cubicBezTo>
                  <a:pt x="736270" y="789709"/>
                  <a:pt x="914400" y="991590"/>
                  <a:pt x="997527" y="1175657"/>
                </a:cubicBezTo>
                <a:cubicBezTo>
                  <a:pt x="1080654" y="1359725"/>
                  <a:pt x="1074716" y="1528948"/>
                  <a:pt x="1068779" y="1698171"/>
                </a:cubicBezTo>
              </a:path>
            </a:pathLst>
          </a:custGeom>
          <a:noFill/>
          <a:ln w="38100">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边形 32"/>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燕尾形 33"/>
          <p:cNvSpPr/>
          <p:nvPr/>
        </p:nvSpPr>
        <p:spPr bwMode="auto">
          <a:xfrm>
            <a:off x="8583923" y="98112"/>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燕尾形 56"/>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燕尾形 57"/>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智能定时器</a:t>
            </a:r>
            <a:endParaRPr lang="zh-CN" altLang="en-US" dirty="0"/>
          </a:p>
        </p:txBody>
      </p:sp>
      <p:sp>
        <p:nvSpPr>
          <p:cNvPr id="13" name="文本占位符 12"/>
          <p:cNvSpPr>
            <a:spLocks noGrp="1"/>
          </p:cNvSpPr>
          <p:nvPr>
            <p:ph type="body" sz="quarter" idx="10"/>
          </p:nvPr>
        </p:nvSpPr>
        <p:spPr bwMode="gray">
          <a:xfrm>
            <a:off x="455612" y="1047751"/>
            <a:ext cx="11293475" cy="992806"/>
          </a:xfrm>
        </p:spPr>
        <p:txBody>
          <a:bodyPr/>
          <a:lstStyle/>
          <a:p>
            <a:r>
              <a:rPr lang="zh-CN" altLang="en-US" sz="2000" dirty="0"/>
              <a:t>智能定时器是在</a:t>
            </a:r>
            <a:r>
              <a:rPr lang="zh-CN" altLang="en-US" sz="2000" dirty="0">
                <a:highlight>
                  <a:srgbClr val="FFFF00"/>
                </a:highlight>
              </a:rPr>
              <a:t>进行</a:t>
            </a:r>
            <a:r>
              <a:rPr lang="en-US" altLang="zh-CN" sz="2000" dirty="0">
                <a:highlight>
                  <a:srgbClr val="FFFF00"/>
                </a:highlight>
              </a:rPr>
              <a:t>SPF</a:t>
            </a:r>
            <a:r>
              <a:rPr lang="zh-CN" altLang="en-US" sz="2000" dirty="0">
                <a:highlight>
                  <a:srgbClr val="FFFF00"/>
                </a:highlight>
              </a:rPr>
              <a:t>计算</a:t>
            </a:r>
            <a:r>
              <a:rPr lang="zh-CN" altLang="en-US" sz="2000" dirty="0"/>
              <a:t>和</a:t>
            </a:r>
            <a:r>
              <a:rPr lang="zh-CN" altLang="en-US" sz="2000" dirty="0">
                <a:highlight>
                  <a:srgbClr val="FFFF00"/>
                </a:highlight>
              </a:rPr>
              <a:t>产生</a:t>
            </a:r>
            <a:r>
              <a:rPr lang="en-US" altLang="zh-CN" sz="2000" dirty="0">
                <a:highlight>
                  <a:srgbClr val="FFFF00"/>
                </a:highlight>
              </a:rPr>
              <a:t>LSA</a:t>
            </a:r>
            <a:r>
              <a:rPr lang="zh-CN" altLang="en-US" sz="2000" dirty="0"/>
              <a:t>的时候用到的一种定时器。</a:t>
            </a:r>
            <a:endParaRPr lang="en-US" altLang="zh-CN" sz="2000" dirty="0"/>
          </a:p>
          <a:p>
            <a:r>
              <a:rPr lang="zh-CN" altLang="en-US" sz="2000" dirty="0"/>
              <a:t>智能定时器既可以</a:t>
            </a:r>
            <a:r>
              <a:rPr lang="zh-CN" altLang="en-US" sz="2000" dirty="0">
                <a:highlight>
                  <a:srgbClr val="FFFF00"/>
                </a:highlight>
              </a:rPr>
              <a:t>对少量的外界突发事件进行快速响应</a:t>
            </a:r>
            <a:r>
              <a:rPr lang="zh-CN" altLang="en-US" sz="2000" dirty="0"/>
              <a:t>，又可以</a:t>
            </a:r>
            <a:r>
              <a:rPr lang="zh-CN" altLang="en-US" sz="2000" dirty="0">
                <a:highlight>
                  <a:srgbClr val="FFFF00"/>
                </a:highlight>
              </a:rPr>
              <a:t>避免过度地占用</a:t>
            </a:r>
            <a:r>
              <a:rPr lang="en-US" altLang="zh-CN" sz="2000" dirty="0">
                <a:highlight>
                  <a:srgbClr val="FFFF00"/>
                </a:highlight>
              </a:rPr>
              <a:t>CPU</a:t>
            </a:r>
            <a:r>
              <a:rPr lang="zh-CN" altLang="en-US" sz="2000" dirty="0"/>
              <a:t>。</a:t>
            </a:r>
            <a:endParaRPr lang="zh-CN" altLang="en-US" sz="2000" dirty="0"/>
          </a:p>
        </p:txBody>
      </p:sp>
      <p:sp>
        <p:nvSpPr>
          <p:cNvPr id="4" name="圆角矩形 75"/>
          <p:cNvSpPr/>
          <p:nvPr/>
        </p:nvSpPr>
        <p:spPr bwMode="gray">
          <a:xfrm>
            <a:off x="848568" y="2097496"/>
            <a:ext cx="513763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a:t>
            </a:r>
            <a:r>
              <a:rPr lang="en-US" altLang="zh-CN"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的生成与接收</a:t>
            </a:r>
            <a:endPar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848568" y="2529000"/>
            <a:ext cx="5137633" cy="367177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通过如下两个规定来避免网络连接或者路由频繁动荡引起的过多占用设备资源的情况。</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467995" indent="-179705" algn="just" fontAlgn="auto">
              <a:lnSpc>
                <a:spcPts val="2600"/>
              </a:lnSpc>
              <a:spcBef>
                <a:spcPts val="0"/>
              </a:spcBef>
              <a:spcAft>
                <a:spcPts val="600"/>
              </a:spcAft>
              <a:buFont typeface="Huawei Sans" panose="020C0503030203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同一条</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秒内不能再次生成，即</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的更新时间间隔</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467995" indent="-179705" algn="just" fontAlgn="auto">
              <a:lnSpc>
                <a:spcPts val="2600"/>
              </a:lnSpc>
              <a:spcBef>
                <a:spcPts val="0"/>
              </a:spcBef>
              <a:spcAft>
                <a:spcPts val="600"/>
              </a:spcAft>
              <a:buFont typeface="Huawei Sans" panose="020C0503030203020204" pitchFamily="34" charset="0"/>
              <a:buChar char="▫"/>
            </a:pP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被接收的时间间隔为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a:lnSpc>
                <a:spcPts val="2600"/>
              </a:lnSpc>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在网络相对稳定、对路由收敛时间要求较高的组网环境中，可以通过智能定时器指定</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的更新时间间隔为</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来取消</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的更新时间间隔，使得拓扑或者路由的变化可以立即通过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发布到网络中，或者立即被感知到，从而加快网络中路由的收敛速度。</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6405010" y="2097496"/>
            <a:ext cx="5137633"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控制路由计算</a:t>
            </a:r>
            <a:endPar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6405010" y="2529000"/>
            <a:ext cx="5137633" cy="367177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当网络发生变化时，</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会发生改变，需要重新计算最短路径。如果网络频繁变化，由于不断地计算最短路径，会占用大量系统资源，影响设备的效率。</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通过配置智能定时器，设置合理的</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SPF</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计算的间隔时间，可以避免占用过多的路由器内存和带宽资源。</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五边形 18"/>
          <p:cNvSpPr/>
          <p:nvPr/>
        </p:nvSpPr>
        <p:spPr bwMode="gray">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gray">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gray">
          <a:xfrm>
            <a:off x="9218978" y="98112"/>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gray">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gray">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智能定时器的基础配置命令 </a:t>
            </a:r>
            <a:r>
              <a:rPr lang="en-US" altLang="zh-CN"/>
              <a:t>(1)</a:t>
            </a:r>
            <a:endParaRPr lang="zh-CN" altLang="en-US" dirty="0"/>
          </a:p>
        </p:txBody>
      </p:sp>
      <p:sp>
        <p:nvSpPr>
          <p:cNvPr id="3" name="文本占位符 2"/>
          <p:cNvSpPr>
            <a:spLocks noGrp="1"/>
          </p:cNvSpPr>
          <p:nvPr>
            <p:ph type="body" sz="quarter" idx="4294967295"/>
          </p:nvPr>
        </p:nvSpPr>
        <p:spPr>
          <a:xfrm>
            <a:off x="442913" y="3716338"/>
            <a:ext cx="11276012" cy="2197100"/>
          </a:xfrm>
        </p:spPr>
        <p:txBody>
          <a:bodyPr/>
          <a:lstStyle/>
          <a:p>
            <a:pPr marL="0" indent="0">
              <a:buNone/>
            </a:pPr>
            <a:r>
              <a:rPr lang="en-US" altLang="zh-CN" sz="1800" dirty="0"/>
              <a:t>   </a:t>
            </a:r>
            <a:r>
              <a:rPr lang="zh-CN" altLang="en-US" sz="1800" dirty="0"/>
              <a:t>使用智能定时器后：</a:t>
            </a:r>
            <a:endParaRPr lang="en-US" altLang="zh-CN" sz="1800" dirty="0"/>
          </a:p>
          <a:p>
            <a:pPr marL="746125" lvl="1" indent="-342900">
              <a:buSzPct val="100000"/>
              <a:buFont typeface="+mj-lt"/>
              <a:buAutoNum type="arabicPeriod"/>
            </a:pPr>
            <a:r>
              <a:rPr lang="zh-CN" altLang="en-US" sz="1600" dirty="0">
                <a:highlight>
                  <a:srgbClr val="FFFF00"/>
                </a:highlight>
              </a:rPr>
              <a:t>初次更新</a:t>
            </a:r>
            <a:r>
              <a:rPr lang="en-US" altLang="zh-CN" sz="1600" dirty="0">
                <a:highlight>
                  <a:srgbClr val="FFFF00"/>
                </a:highlight>
              </a:rPr>
              <a:t>LSA</a:t>
            </a:r>
            <a:r>
              <a:rPr lang="zh-CN" altLang="en-US" sz="1600" dirty="0">
                <a:highlight>
                  <a:srgbClr val="FFFF00"/>
                </a:highlight>
              </a:rPr>
              <a:t>的间隔</a:t>
            </a:r>
            <a:r>
              <a:rPr lang="zh-CN" altLang="en-US" sz="1600" dirty="0"/>
              <a:t>时间由</a:t>
            </a:r>
            <a:r>
              <a:rPr lang="en-US" altLang="zh-CN" sz="1600" i="1" dirty="0"/>
              <a:t>start-interval</a:t>
            </a:r>
            <a:r>
              <a:rPr lang="zh-CN" altLang="en-US" sz="1600" dirty="0"/>
              <a:t>参数指定。</a:t>
            </a:r>
            <a:endParaRPr lang="zh-CN" altLang="en-US" sz="1600" dirty="0"/>
          </a:p>
          <a:p>
            <a:pPr marL="746125" lvl="1" indent="-342900">
              <a:buSzPct val="100000"/>
              <a:buFont typeface="+mj-lt"/>
              <a:buAutoNum type="arabicPeriod"/>
            </a:pPr>
            <a:r>
              <a:rPr lang="zh-CN" altLang="en-US" sz="1600" dirty="0"/>
              <a:t>第</a:t>
            </a:r>
            <a:r>
              <a:rPr lang="en-US" altLang="zh-CN" sz="1600" dirty="0"/>
              <a:t>n</a:t>
            </a:r>
            <a:r>
              <a:rPr lang="zh-CN" altLang="en-US" sz="1600" dirty="0"/>
              <a:t>（</a:t>
            </a:r>
            <a:r>
              <a:rPr lang="en-US" altLang="zh-CN" sz="1600" dirty="0"/>
              <a:t>n≥2</a:t>
            </a:r>
            <a:r>
              <a:rPr lang="zh-CN" altLang="en-US" sz="1600" dirty="0"/>
              <a:t>）次更新</a:t>
            </a:r>
            <a:r>
              <a:rPr lang="en-US" altLang="zh-CN" sz="1600" dirty="0"/>
              <a:t>LSA</a:t>
            </a:r>
            <a:r>
              <a:rPr lang="zh-CN" altLang="en-US" sz="1600" dirty="0"/>
              <a:t>的间隔时间为</a:t>
            </a:r>
            <a:r>
              <a:rPr lang="en-US" altLang="zh-CN" sz="1600" i="1" dirty="0">
                <a:highlight>
                  <a:srgbClr val="FFFF00"/>
                </a:highlight>
              </a:rPr>
              <a:t>hold-interval</a:t>
            </a:r>
            <a:r>
              <a:rPr lang="en-US" altLang="zh-CN" sz="1600" dirty="0">
                <a:highlight>
                  <a:srgbClr val="FFFF00"/>
                </a:highlight>
              </a:rPr>
              <a:t>×2</a:t>
            </a:r>
            <a:r>
              <a:rPr lang="en-US" altLang="zh-CN" sz="1600" baseline="30000" dirty="0">
                <a:highlight>
                  <a:srgbClr val="FFFF00"/>
                </a:highlight>
              </a:rPr>
              <a:t>(n-2)</a:t>
            </a:r>
            <a:r>
              <a:rPr lang="zh-CN" altLang="en-US" sz="1600" dirty="0"/>
              <a:t>。</a:t>
            </a:r>
            <a:endParaRPr lang="zh-CN" altLang="en-US" sz="1600" dirty="0"/>
          </a:p>
          <a:p>
            <a:pPr marL="746125" lvl="1" indent="-342900">
              <a:buSzPct val="100000"/>
              <a:buFont typeface="+mj-lt"/>
              <a:buAutoNum type="arabicPeriod"/>
            </a:pPr>
            <a:r>
              <a:rPr lang="zh-CN" altLang="en-US" sz="1600" dirty="0"/>
              <a:t>当</a:t>
            </a:r>
            <a:r>
              <a:rPr lang="en-US" altLang="zh-CN" sz="1600" i="1" dirty="0"/>
              <a:t>hold-interval</a:t>
            </a:r>
            <a:r>
              <a:rPr lang="en-US" altLang="zh-CN" sz="1600" dirty="0"/>
              <a:t>×2</a:t>
            </a:r>
            <a:r>
              <a:rPr lang="en-US" altLang="zh-CN" sz="1600" baseline="30000" dirty="0"/>
              <a:t>(n-2)</a:t>
            </a:r>
            <a:r>
              <a:rPr lang="zh-CN" altLang="en-US" sz="1600" dirty="0">
                <a:highlight>
                  <a:srgbClr val="FFFF00"/>
                </a:highlight>
              </a:rPr>
              <a:t>达到指定的最长间隔时间</a:t>
            </a:r>
            <a:r>
              <a:rPr lang="en-US" altLang="zh-CN" sz="1600" i="1" dirty="0">
                <a:highlight>
                  <a:srgbClr val="FFFF00"/>
                </a:highlight>
              </a:rPr>
              <a:t>max-interval</a:t>
            </a:r>
            <a:r>
              <a:rPr lang="zh-CN" altLang="en-US" sz="1600" dirty="0">
                <a:highlight>
                  <a:srgbClr val="FFFF00"/>
                </a:highlight>
              </a:rPr>
              <a:t>时</a:t>
            </a:r>
            <a:r>
              <a:rPr lang="zh-CN" altLang="en-US" sz="1600" dirty="0"/>
              <a:t>，</a:t>
            </a:r>
            <a:r>
              <a:rPr lang="en-US" altLang="zh-CN" sz="1600" dirty="0"/>
              <a:t>OSPF</a:t>
            </a:r>
            <a:r>
              <a:rPr lang="zh-CN" altLang="en-US" sz="1600" dirty="0">
                <a:highlight>
                  <a:srgbClr val="FFFF00"/>
                </a:highlight>
              </a:rPr>
              <a:t>连续三次</a:t>
            </a:r>
            <a:r>
              <a:rPr lang="zh-CN" altLang="en-US" sz="1600" dirty="0"/>
              <a:t>更新</a:t>
            </a:r>
            <a:r>
              <a:rPr lang="en-US" altLang="zh-CN" sz="1600" dirty="0"/>
              <a:t>LSA</a:t>
            </a:r>
            <a:r>
              <a:rPr lang="zh-CN" altLang="en-US" sz="1600" dirty="0"/>
              <a:t>的时间间隔都是最长间隔时间，</a:t>
            </a:r>
            <a:r>
              <a:rPr lang="zh-CN" altLang="en-US" sz="1600" dirty="0">
                <a:highlight>
                  <a:srgbClr val="FFFF00"/>
                </a:highlight>
              </a:rPr>
              <a:t>之后，再次返回步骤</a:t>
            </a:r>
            <a:r>
              <a:rPr lang="en-US" altLang="zh-CN" sz="1600" dirty="0">
                <a:highlight>
                  <a:srgbClr val="FFFF00"/>
                </a:highlight>
              </a:rPr>
              <a:t>1</a:t>
            </a:r>
            <a:r>
              <a:rPr lang="zh-CN" altLang="en-US" sz="1600" dirty="0"/>
              <a:t>，按照初始间隔时间</a:t>
            </a:r>
            <a:r>
              <a:rPr lang="en-US" altLang="zh-CN" sz="1600" i="1" dirty="0"/>
              <a:t>start-interval</a:t>
            </a:r>
            <a:r>
              <a:rPr lang="zh-CN" altLang="en-US" sz="1600" dirty="0"/>
              <a:t>更新</a:t>
            </a:r>
            <a:r>
              <a:rPr lang="en-US" altLang="zh-CN" sz="1600" dirty="0"/>
              <a:t>LSA</a:t>
            </a:r>
            <a:r>
              <a:rPr lang="zh-CN" altLang="en-US" sz="1600" dirty="0"/>
              <a:t>。</a:t>
            </a:r>
            <a:endParaRPr lang="zh-CN" altLang="en-US" sz="1600" dirty="0"/>
          </a:p>
        </p:txBody>
      </p:sp>
      <p:sp>
        <p:nvSpPr>
          <p:cNvPr id="4" name="矩形 3"/>
          <p:cNvSpPr/>
          <p:nvPr/>
        </p:nvSpPr>
        <p:spPr>
          <a:xfrm>
            <a:off x="1031917" y="1676643"/>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lsa</a:t>
            </a:r>
            <a:r>
              <a:rPr lang="en-US" altLang="zh-CN" sz="1600" b="1" dirty="0"/>
              <a:t>-originate-interval</a:t>
            </a:r>
            <a:r>
              <a:rPr lang="en-US" altLang="zh-CN" sz="1600" dirty="0"/>
              <a:t> { </a:t>
            </a:r>
            <a:r>
              <a:rPr lang="en-US" altLang="zh-CN" sz="1600" b="1" dirty="0"/>
              <a:t>0</a:t>
            </a:r>
            <a:r>
              <a:rPr lang="en-US" altLang="zh-CN" sz="1600" dirty="0"/>
              <a:t> | { </a:t>
            </a:r>
            <a:r>
              <a:rPr lang="en-US" altLang="zh-CN" sz="1600" b="1" dirty="0"/>
              <a:t>intelligent-timer</a:t>
            </a:r>
            <a:r>
              <a:rPr lang="en-US" altLang="zh-CN" sz="1600" dirty="0"/>
              <a:t> </a:t>
            </a:r>
            <a:r>
              <a:rPr lang="en-US" altLang="zh-CN" sz="1600" i="1" dirty="0"/>
              <a:t>max-interval</a:t>
            </a:r>
            <a:r>
              <a:rPr lang="en-US" altLang="zh-CN" sz="1600" dirty="0"/>
              <a:t> </a:t>
            </a:r>
            <a:r>
              <a:rPr lang="en-US" altLang="zh-CN" sz="1600" i="1" dirty="0"/>
              <a:t>start-interval</a:t>
            </a:r>
            <a:r>
              <a:rPr lang="en-US" altLang="zh-CN" sz="1600" dirty="0"/>
              <a:t> </a:t>
            </a:r>
            <a:r>
              <a:rPr lang="en-US" altLang="zh-CN" sz="1600" i="1" dirty="0"/>
              <a:t>hold-interval</a:t>
            </a:r>
            <a:r>
              <a:rPr lang="en-US" altLang="zh-CN" sz="1600" dirty="0"/>
              <a:t> | </a:t>
            </a:r>
            <a:r>
              <a:rPr lang="en-US" altLang="zh-CN" sz="1600" b="1" dirty="0"/>
              <a:t>other-type</a:t>
            </a:r>
            <a:r>
              <a:rPr lang="en-US" altLang="zh-CN" sz="1600" dirty="0"/>
              <a:t> </a:t>
            </a:r>
            <a:r>
              <a:rPr lang="en-US" altLang="zh-CN" sz="1600" i="1" dirty="0"/>
              <a:t>interval</a:t>
            </a:r>
            <a:r>
              <a:rPr lang="en-US" altLang="zh-CN" sz="1600" dirty="0"/>
              <a:t> } }</a:t>
            </a:r>
            <a:endParaRPr lang="zh-CN" altLang="en-US" sz="1600" dirty="0">
              <a:cs typeface="Courier New" panose="02070309020205020404" pitchFamily="49" charset="0"/>
            </a:endParaRPr>
          </a:p>
        </p:txBody>
      </p:sp>
      <p:sp>
        <p:nvSpPr>
          <p:cNvPr id="5" name="矩形 4"/>
          <p:cNvSpPr/>
          <p:nvPr/>
        </p:nvSpPr>
        <p:spPr>
          <a:xfrm>
            <a:off x="551384" y="1244496"/>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设置</a:t>
            </a:r>
            <a:r>
              <a:rPr lang="en-US" altLang="zh-CN" sz="1600" dirty="0">
                <a:cs typeface="Courier New" panose="02070309020205020404" pitchFamily="49" charset="0"/>
              </a:rPr>
              <a:t>OSPF LSA</a:t>
            </a:r>
            <a:r>
              <a:rPr lang="zh-CN" altLang="en-US" sz="1600" dirty="0">
                <a:highlight>
                  <a:srgbClr val="FFFF00"/>
                </a:highlight>
                <a:cs typeface="Courier New" panose="02070309020205020404" pitchFamily="49" charset="0"/>
              </a:rPr>
              <a:t>更新</a:t>
            </a:r>
            <a:r>
              <a:rPr lang="zh-CN" altLang="en-US" sz="1600" dirty="0">
                <a:cs typeface="Courier New" panose="02070309020205020404" pitchFamily="49" charset="0"/>
              </a:rPr>
              <a:t>的时间间隔。</a:t>
            </a:r>
            <a:endParaRPr lang="zh-CN" altLang="en-US" sz="1600" dirty="0">
              <a:cs typeface="Courier New" panose="02070309020205020404" pitchFamily="49" charset="0"/>
            </a:endParaRPr>
          </a:p>
        </p:txBody>
      </p:sp>
      <p:sp>
        <p:nvSpPr>
          <p:cNvPr id="11" name="矩形 10"/>
          <p:cNvSpPr/>
          <p:nvPr/>
        </p:nvSpPr>
        <p:spPr>
          <a:xfrm>
            <a:off x="1031917" y="2281642"/>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缺省情况下，使能智能定时器</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intelligent-timer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highlight>
                  <a:srgbClr val="FFFF00"/>
                </a:highlight>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更新</a:t>
            </a:r>
            <a:r>
              <a:rPr lang="en-US" altLang="zh-CN" sz="1600" dirty="0">
                <a:highlight>
                  <a:srgbClr val="FFFF00"/>
                </a:highlight>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LSA</a:t>
            </a:r>
            <a:r>
              <a:rPr lang="zh-CN" altLang="en-US" sz="1600" dirty="0">
                <a:highlight>
                  <a:srgbClr val="FFFF00"/>
                </a:highlight>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的最长间隔时间</a:t>
            </a:r>
            <a:r>
              <a:rPr lang="en-US" altLang="zh-CN" sz="1600" i="1" dirty="0">
                <a:highlight>
                  <a:srgbClr val="FFFF00"/>
                </a:highlight>
              </a:rPr>
              <a:t>max-interval</a:t>
            </a:r>
            <a:r>
              <a:rPr lang="zh-CN" altLang="en-US" sz="1600" dirty="0">
                <a:highlight>
                  <a:srgbClr val="FFFF00"/>
                </a:highlight>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highlight>
                  <a:srgbClr val="FFFF00"/>
                </a:highlight>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5000</a:t>
            </a:r>
            <a:r>
              <a:rPr lang="zh-CN" altLang="en-US" sz="1600" dirty="0">
                <a:highlight>
                  <a:srgbClr val="FFFF00"/>
                </a:highlight>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、初始间隔时间</a:t>
            </a:r>
            <a:r>
              <a:rPr lang="en-US" altLang="zh-CN" sz="1600" i="1" dirty="0"/>
              <a:t>start-interval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毫秒、基数间隔时间</a:t>
            </a:r>
            <a:r>
              <a:rPr lang="en-US" altLang="zh-CN" sz="1600" i="1" dirty="0"/>
              <a:t>hold-interval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毫秒。（以毫秒为单位的时间间隔）</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五边形 12"/>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9218978" y="98112"/>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智能定时器的基础配置命令 </a:t>
            </a:r>
            <a:r>
              <a:rPr lang="en-US" altLang="zh-CN"/>
              <a:t>(2)</a:t>
            </a:r>
            <a:endParaRPr lang="zh-CN" altLang="en-US" dirty="0"/>
          </a:p>
        </p:txBody>
      </p:sp>
      <p:sp>
        <p:nvSpPr>
          <p:cNvPr id="3" name="文本占位符 2"/>
          <p:cNvSpPr>
            <a:spLocks noGrp="1"/>
          </p:cNvSpPr>
          <p:nvPr>
            <p:ph type="body" sz="quarter" idx="4294967295"/>
          </p:nvPr>
        </p:nvSpPr>
        <p:spPr>
          <a:xfrm>
            <a:off x="442913" y="3716338"/>
            <a:ext cx="11276012" cy="2197100"/>
          </a:xfrm>
        </p:spPr>
        <p:txBody>
          <a:bodyPr/>
          <a:lstStyle/>
          <a:p>
            <a:pPr marL="0" indent="0">
              <a:buNone/>
            </a:pPr>
            <a:r>
              <a:rPr lang="en-US" altLang="zh-CN" sz="1800" dirty="0"/>
              <a:t>   </a:t>
            </a:r>
            <a:r>
              <a:rPr lang="zh-CN" altLang="en-US" sz="1800" dirty="0"/>
              <a:t>使用智能定时器后：</a:t>
            </a:r>
            <a:endParaRPr lang="en-US" altLang="zh-CN" sz="1800" dirty="0"/>
          </a:p>
          <a:p>
            <a:pPr marL="746125" lvl="1" indent="-342900">
              <a:buSzPct val="100000"/>
              <a:buFont typeface="+mj-lt"/>
              <a:buAutoNum type="arabicPeriod"/>
            </a:pPr>
            <a:r>
              <a:rPr lang="zh-CN" altLang="en-US" sz="1600" dirty="0"/>
              <a:t>初次接收</a:t>
            </a:r>
            <a:r>
              <a:rPr lang="en-US" altLang="zh-CN" sz="1600" dirty="0"/>
              <a:t>LSA</a:t>
            </a:r>
            <a:r>
              <a:rPr lang="zh-CN" altLang="en-US" sz="1600" dirty="0"/>
              <a:t>的间隔时间由</a:t>
            </a:r>
            <a:r>
              <a:rPr lang="en-US" altLang="zh-CN" sz="1600" i="1" dirty="0"/>
              <a:t>start-interval</a:t>
            </a:r>
            <a:r>
              <a:rPr lang="zh-CN" altLang="en-US" sz="1600" dirty="0"/>
              <a:t>参数指定。</a:t>
            </a:r>
            <a:endParaRPr lang="zh-CN" altLang="en-US" sz="1600" dirty="0"/>
          </a:p>
          <a:p>
            <a:pPr marL="746125" lvl="1" indent="-342900">
              <a:buSzPct val="100000"/>
              <a:buFont typeface="+mj-lt"/>
              <a:buAutoNum type="arabicPeriod"/>
            </a:pPr>
            <a:r>
              <a:rPr lang="zh-CN" altLang="en-US" sz="1600" dirty="0"/>
              <a:t>第</a:t>
            </a:r>
            <a:r>
              <a:rPr lang="en-US" altLang="zh-CN" sz="1600" dirty="0"/>
              <a:t>n</a:t>
            </a:r>
            <a:r>
              <a:rPr lang="zh-CN" altLang="en-US" sz="1600" dirty="0"/>
              <a:t>（</a:t>
            </a:r>
            <a:r>
              <a:rPr lang="en-US" altLang="zh-CN" sz="1600" dirty="0"/>
              <a:t>n≥2</a:t>
            </a:r>
            <a:r>
              <a:rPr lang="zh-CN" altLang="en-US" sz="1600" dirty="0"/>
              <a:t>）次接收</a:t>
            </a:r>
            <a:r>
              <a:rPr lang="en-US" altLang="zh-CN" sz="1600" dirty="0"/>
              <a:t>LSA</a:t>
            </a:r>
            <a:r>
              <a:rPr lang="zh-CN" altLang="en-US" sz="1600" dirty="0"/>
              <a:t>的间隔时间为</a:t>
            </a:r>
            <a:r>
              <a:rPr lang="en-US" altLang="zh-CN" sz="1600" i="1" dirty="0"/>
              <a:t>hold-interval</a:t>
            </a:r>
            <a:r>
              <a:rPr lang="en-US" altLang="zh-CN" sz="1600" dirty="0"/>
              <a:t>×2</a:t>
            </a:r>
            <a:r>
              <a:rPr lang="en-US" altLang="zh-CN" sz="1600" baseline="30000" dirty="0"/>
              <a:t>(n-2)</a:t>
            </a:r>
            <a:r>
              <a:rPr lang="zh-CN" altLang="en-US" sz="1600" dirty="0"/>
              <a:t>。</a:t>
            </a:r>
            <a:endParaRPr lang="zh-CN" altLang="en-US" sz="1600" dirty="0"/>
          </a:p>
          <a:p>
            <a:pPr marL="746125" lvl="1" indent="-342900">
              <a:buSzPct val="100000"/>
              <a:buFont typeface="+mj-lt"/>
              <a:buAutoNum type="arabicPeriod"/>
            </a:pPr>
            <a:r>
              <a:rPr lang="zh-CN" altLang="en-US" sz="1600" dirty="0"/>
              <a:t>当</a:t>
            </a:r>
            <a:r>
              <a:rPr lang="en-US" altLang="zh-CN" sz="1600" i="1" dirty="0"/>
              <a:t>hold-interval</a:t>
            </a:r>
            <a:r>
              <a:rPr lang="en-US" altLang="zh-CN" sz="1600" dirty="0"/>
              <a:t>×2</a:t>
            </a:r>
            <a:r>
              <a:rPr lang="en-US" altLang="zh-CN" sz="1600" baseline="30000" dirty="0"/>
              <a:t>(n-2)</a:t>
            </a:r>
            <a:r>
              <a:rPr lang="zh-CN" altLang="en-US" sz="1600" dirty="0"/>
              <a:t>达到指定的最长间隔时间</a:t>
            </a:r>
            <a:r>
              <a:rPr lang="en-US" altLang="zh-CN" sz="1600" i="1" dirty="0"/>
              <a:t>max-interval</a:t>
            </a:r>
            <a:r>
              <a:rPr lang="zh-CN" altLang="en-US" sz="1600" dirty="0"/>
              <a:t>时，</a:t>
            </a:r>
            <a:r>
              <a:rPr lang="en-US" altLang="zh-CN" sz="1600" dirty="0"/>
              <a:t>OSPF</a:t>
            </a:r>
            <a:r>
              <a:rPr lang="zh-CN" altLang="en-US" sz="1600" dirty="0"/>
              <a:t>连续三次接收</a:t>
            </a:r>
            <a:r>
              <a:rPr lang="en-US" altLang="zh-CN" sz="1600" dirty="0"/>
              <a:t>LSA</a:t>
            </a:r>
            <a:r>
              <a:rPr lang="zh-CN" altLang="en-US" sz="1600" dirty="0"/>
              <a:t>的时间间隔都是最长间隔时间，之后，再次返回步骤</a:t>
            </a:r>
            <a:r>
              <a:rPr lang="en-US" altLang="zh-CN" sz="1600" dirty="0"/>
              <a:t>1</a:t>
            </a:r>
            <a:r>
              <a:rPr lang="zh-CN" altLang="en-US" sz="1600" dirty="0"/>
              <a:t>，按照初始间隔时间</a:t>
            </a:r>
            <a:r>
              <a:rPr lang="en-US" altLang="zh-CN" sz="1600" i="1" dirty="0"/>
              <a:t>start-interval</a:t>
            </a:r>
            <a:r>
              <a:rPr lang="zh-CN" altLang="en-US" sz="1600" dirty="0"/>
              <a:t>接收</a:t>
            </a:r>
            <a:r>
              <a:rPr lang="en-US" altLang="zh-CN" sz="1600" dirty="0"/>
              <a:t>LSA</a:t>
            </a:r>
            <a:r>
              <a:rPr lang="zh-CN" altLang="en-US" sz="1600" dirty="0"/>
              <a:t>。</a:t>
            </a:r>
            <a:endParaRPr lang="zh-CN" altLang="en-US" sz="1600" dirty="0"/>
          </a:p>
        </p:txBody>
      </p:sp>
      <p:sp>
        <p:nvSpPr>
          <p:cNvPr id="4" name="矩形 3"/>
          <p:cNvSpPr/>
          <p:nvPr/>
        </p:nvSpPr>
        <p:spPr>
          <a:xfrm>
            <a:off x="1031917" y="1672332"/>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lsa</a:t>
            </a:r>
            <a:r>
              <a:rPr lang="en-US" altLang="zh-CN" sz="1600" b="1" dirty="0"/>
              <a:t>-arrival-interval</a:t>
            </a:r>
            <a:r>
              <a:rPr lang="en-US" altLang="zh-CN" sz="1600" dirty="0"/>
              <a:t> { </a:t>
            </a:r>
            <a:r>
              <a:rPr lang="en-US" altLang="zh-CN" sz="1600" i="1" dirty="0"/>
              <a:t>interval</a:t>
            </a:r>
            <a:r>
              <a:rPr lang="en-US" altLang="zh-CN" sz="1600" dirty="0"/>
              <a:t> | </a:t>
            </a:r>
            <a:r>
              <a:rPr lang="en-US" altLang="zh-CN" sz="1600" b="1" dirty="0"/>
              <a:t>intelligent-timer</a:t>
            </a:r>
            <a:r>
              <a:rPr lang="en-US" altLang="zh-CN" sz="1600" dirty="0"/>
              <a:t> </a:t>
            </a:r>
            <a:r>
              <a:rPr lang="en-US" altLang="zh-CN" sz="1600" i="1" dirty="0"/>
              <a:t>max-interval</a:t>
            </a:r>
            <a:r>
              <a:rPr lang="en-US" altLang="zh-CN" sz="1600" dirty="0"/>
              <a:t> </a:t>
            </a:r>
            <a:r>
              <a:rPr lang="en-US" altLang="zh-CN" sz="1600" i="1" dirty="0"/>
              <a:t>start-interval</a:t>
            </a:r>
            <a:r>
              <a:rPr lang="en-US" altLang="zh-CN" sz="1600" dirty="0"/>
              <a:t> </a:t>
            </a:r>
            <a:r>
              <a:rPr lang="en-US" altLang="zh-CN" sz="1600" i="1" dirty="0"/>
              <a:t>hold-interval</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24018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设置</a:t>
            </a:r>
            <a:r>
              <a:rPr lang="en-US" altLang="zh-CN" sz="1600" dirty="0">
                <a:cs typeface="Courier New" panose="02070309020205020404" pitchFamily="49" charset="0"/>
              </a:rPr>
              <a:t>OSPF LSA</a:t>
            </a:r>
            <a:r>
              <a:rPr lang="zh-CN" altLang="en-US" sz="1600" dirty="0">
                <a:highlight>
                  <a:srgbClr val="FFFF00"/>
                </a:highlight>
                <a:cs typeface="Courier New" panose="02070309020205020404" pitchFamily="49" charset="0"/>
              </a:rPr>
              <a:t>接收</a:t>
            </a:r>
            <a:r>
              <a:rPr lang="zh-CN" altLang="en-US" sz="1600" dirty="0">
                <a:cs typeface="Courier New" panose="02070309020205020404" pitchFamily="49" charset="0"/>
              </a:rPr>
              <a:t>的时间间隔。</a:t>
            </a:r>
            <a:endParaRPr lang="zh-CN" altLang="en-US" sz="1600" dirty="0">
              <a:cs typeface="Courier New" panose="02070309020205020404" pitchFamily="49" charset="0"/>
            </a:endParaRPr>
          </a:p>
        </p:txBody>
      </p:sp>
      <p:sp>
        <p:nvSpPr>
          <p:cNvPr id="11" name="矩形 10"/>
          <p:cNvSpPr/>
          <p:nvPr/>
        </p:nvSpPr>
        <p:spPr>
          <a:xfrm>
            <a:off x="1031917" y="2025543"/>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缺省情况下，使能智能定时器</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intelligent-timer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，接收</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的最长间隔时间</a:t>
            </a:r>
            <a:r>
              <a:rPr lang="en-US" altLang="zh-CN" sz="1600" i="1" dirty="0"/>
              <a:t>max-interval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毫秒、初始间隔时间</a:t>
            </a:r>
            <a:r>
              <a:rPr lang="en-US" altLang="zh-CN" sz="1600" i="1" dirty="0"/>
              <a:t>start-interval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毫秒、基数间隔时间</a:t>
            </a:r>
            <a:r>
              <a:rPr lang="en-US" altLang="zh-CN" sz="1600" i="1" dirty="0"/>
              <a:t>hold-interval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毫秒。（以毫秒为单位的时间间隔）</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五边形 12"/>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9218978" y="98112"/>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智能定时器的基础配置命令 </a:t>
            </a:r>
            <a:r>
              <a:rPr lang="en-US" altLang="zh-CN"/>
              <a:t>(3)</a:t>
            </a:r>
            <a:endParaRPr lang="zh-CN" altLang="en-US" dirty="0"/>
          </a:p>
        </p:txBody>
      </p:sp>
      <p:sp>
        <p:nvSpPr>
          <p:cNvPr id="3" name="文本占位符 2"/>
          <p:cNvSpPr>
            <a:spLocks noGrp="1"/>
          </p:cNvSpPr>
          <p:nvPr>
            <p:ph type="body" sz="quarter" idx="4294967295"/>
          </p:nvPr>
        </p:nvSpPr>
        <p:spPr>
          <a:xfrm>
            <a:off x="442913" y="3716338"/>
            <a:ext cx="11276012" cy="2197100"/>
          </a:xfrm>
        </p:spPr>
        <p:txBody>
          <a:bodyPr/>
          <a:lstStyle/>
          <a:p>
            <a:pPr marL="0" indent="0">
              <a:buNone/>
            </a:pPr>
            <a:r>
              <a:rPr lang="en-US" altLang="zh-CN" sz="1800" dirty="0"/>
              <a:t>   </a:t>
            </a:r>
            <a:r>
              <a:rPr lang="zh-CN" altLang="en-US" sz="1800" dirty="0"/>
              <a:t>使用智能定时器后，</a:t>
            </a:r>
            <a:r>
              <a:rPr lang="en-US" altLang="zh-CN" sz="1800" dirty="0"/>
              <a:t>SPF</a:t>
            </a:r>
            <a:r>
              <a:rPr lang="zh-CN" altLang="en-US" sz="1800" dirty="0"/>
              <a:t>计算的时间间隔如下：</a:t>
            </a:r>
            <a:endParaRPr lang="en-US" altLang="zh-CN" sz="1800" dirty="0"/>
          </a:p>
          <a:p>
            <a:pPr marL="746125" lvl="1" indent="-342900">
              <a:buSzPct val="100000"/>
              <a:buFont typeface="+mj-lt"/>
              <a:buAutoNum type="arabicPeriod"/>
            </a:pPr>
            <a:r>
              <a:rPr lang="zh-CN" altLang="en-US" sz="1600" dirty="0"/>
              <a:t>初次计算</a:t>
            </a:r>
            <a:r>
              <a:rPr lang="en-US" altLang="zh-CN" sz="1600" dirty="0"/>
              <a:t>SPF</a:t>
            </a:r>
            <a:r>
              <a:rPr lang="zh-CN" altLang="en-US" sz="1600" dirty="0"/>
              <a:t>的间隔时间由</a:t>
            </a:r>
            <a:r>
              <a:rPr lang="en-US" altLang="zh-CN" sz="1600" i="1" dirty="0"/>
              <a:t>start-interval</a:t>
            </a:r>
            <a:r>
              <a:rPr lang="zh-CN" altLang="en-US" sz="1600" dirty="0"/>
              <a:t>参数指定。</a:t>
            </a:r>
            <a:endParaRPr lang="zh-CN" altLang="en-US" sz="1600" dirty="0"/>
          </a:p>
          <a:p>
            <a:pPr marL="746125" lvl="1" indent="-342900">
              <a:buSzPct val="100000"/>
              <a:buFont typeface="+mj-lt"/>
              <a:buAutoNum type="arabicPeriod"/>
            </a:pPr>
            <a:r>
              <a:rPr lang="zh-CN" altLang="en-US" sz="1600" dirty="0"/>
              <a:t>第</a:t>
            </a:r>
            <a:r>
              <a:rPr lang="en-US" altLang="zh-CN" sz="1600" dirty="0"/>
              <a:t>n</a:t>
            </a:r>
            <a:r>
              <a:rPr lang="zh-CN" altLang="en-US" sz="1600" dirty="0"/>
              <a:t>（</a:t>
            </a:r>
            <a:r>
              <a:rPr lang="en-US" altLang="zh-CN" sz="1600" dirty="0"/>
              <a:t>n≥2</a:t>
            </a:r>
            <a:r>
              <a:rPr lang="zh-CN" altLang="en-US" sz="1600" dirty="0"/>
              <a:t>）次计算</a:t>
            </a:r>
            <a:r>
              <a:rPr lang="en-US" altLang="zh-CN" sz="1600" dirty="0"/>
              <a:t>SPF</a:t>
            </a:r>
            <a:r>
              <a:rPr lang="zh-CN" altLang="en-US" sz="1600" dirty="0"/>
              <a:t>的间隔时间为</a:t>
            </a:r>
            <a:r>
              <a:rPr lang="en-US" altLang="zh-CN" sz="1600" i="1" dirty="0"/>
              <a:t>hold-interval</a:t>
            </a:r>
            <a:r>
              <a:rPr lang="en-US" altLang="zh-CN" sz="1600" dirty="0"/>
              <a:t>×2</a:t>
            </a:r>
            <a:r>
              <a:rPr lang="en-US" altLang="zh-CN" sz="1600" baseline="30000" dirty="0"/>
              <a:t>(n-2)</a:t>
            </a:r>
            <a:r>
              <a:rPr lang="zh-CN" altLang="en-US" sz="1600" dirty="0"/>
              <a:t>。</a:t>
            </a:r>
            <a:endParaRPr lang="zh-CN" altLang="en-US" sz="1600" dirty="0"/>
          </a:p>
          <a:p>
            <a:pPr marL="746125" lvl="1" indent="-342900">
              <a:buSzPct val="100000"/>
              <a:buFont typeface="+mj-lt"/>
              <a:buAutoNum type="arabicPeriod"/>
            </a:pPr>
            <a:r>
              <a:rPr lang="zh-CN" altLang="en-US" sz="1600" dirty="0"/>
              <a:t>当</a:t>
            </a:r>
            <a:r>
              <a:rPr lang="en-US" altLang="zh-CN" sz="1600" i="1" dirty="0"/>
              <a:t>hold-interval</a:t>
            </a:r>
            <a:r>
              <a:rPr lang="en-US" altLang="zh-CN" sz="1600" dirty="0"/>
              <a:t>×2</a:t>
            </a:r>
            <a:r>
              <a:rPr lang="en-US" altLang="zh-CN" sz="1600" baseline="30000" dirty="0"/>
              <a:t>(n-2)</a:t>
            </a:r>
            <a:r>
              <a:rPr lang="zh-CN" altLang="en-US" sz="1600" dirty="0"/>
              <a:t>达到指定的最长间隔时间</a:t>
            </a:r>
            <a:r>
              <a:rPr lang="en-US" altLang="zh-CN" sz="1600" i="1" dirty="0"/>
              <a:t>max-interval</a:t>
            </a:r>
            <a:r>
              <a:rPr lang="zh-CN" altLang="en-US" sz="1600" dirty="0"/>
              <a:t>时，</a:t>
            </a:r>
            <a:r>
              <a:rPr lang="en-US" altLang="zh-CN" sz="1600" dirty="0"/>
              <a:t>OSPF</a:t>
            </a:r>
            <a:r>
              <a:rPr lang="zh-CN" altLang="en-US" sz="1600" dirty="0"/>
              <a:t>连续三次计算</a:t>
            </a:r>
            <a:r>
              <a:rPr lang="en-US" altLang="zh-CN" sz="1600" dirty="0"/>
              <a:t>SPF</a:t>
            </a:r>
            <a:r>
              <a:rPr lang="zh-CN" altLang="en-US" sz="1600" dirty="0"/>
              <a:t>的时间间隔都是最长间隔时间，之后，再次返回步骤</a:t>
            </a:r>
            <a:r>
              <a:rPr lang="en-US" altLang="zh-CN" sz="1600" dirty="0"/>
              <a:t>1</a:t>
            </a:r>
            <a:r>
              <a:rPr lang="zh-CN" altLang="en-US" sz="1600" dirty="0"/>
              <a:t>，按照初始间隔时间</a:t>
            </a:r>
            <a:r>
              <a:rPr lang="en-US" altLang="zh-CN" sz="1600" i="1" dirty="0"/>
              <a:t>start-interval</a:t>
            </a:r>
            <a:r>
              <a:rPr lang="zh-CN" altLang="en-US" sz="1600" dirty="0"/>
              <a:t>计算</a:t>
            </a:r>
            <a:r>
              <a:rPr lang="en-US" altLang="zh-CN" sz="1600" dirty="0"/>
              <a:t>SPF</a:t>
            </a:r>
            <a:r>
              <a:rPr lang="zh-CN" altLang="en-US" sz="1600" dirty="0"/>
              <a:t>。</a:t>
            </a:r>
            <a:endParaRPr lang="zh-CN" altLang="en-US" sz="1600" dirty="0"/>
          </a:p>
        </p:txBody>
      </p:sp>
      <p:sp>
        <p:nvSpPr>
          <p:cNvPr id="4" name="矩形 3"/>
          <p:cNvSpPr/>
          <p:nvPr/>
        </p:nvSpPr>
        <p:spPr>
          <a:xfrm>
            <a:off x="1031917" y="1672330"/>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spf</a:t>
            </a:r>
            <a:r>
              <a:rPr lang="en-US" altLang="zh-CN" sz="1600" b="1" dirty="0"/>
              <a:t>-schedule-interval</a:t>
            </a:r>
            <a:r>
              <a:rPr lang="en-US" altLang="zh-CN" sz="1600" dirty="0"/>
              <a:t> { </a:t>
            </a:r>
            <a:r>
              <a:rPr lang="en-US" altLang="zh-CN" sz="1600" i="1" dirty="0"/>
              <a:t>interval1</a:t>
            </a:r>
            <a:r>
              <a:rPr lang="en-US" altLang="zh-CN" sz="1600" dirty="0"/>
              <a:t> | </a:t>
            </a:r>
            <a:r>
              <a:rPr lang="en-US" altLang="zh-CN" sz="1600" b="1" dirty="0"/>
              <a:t>intelligent-timer</a:t>
            </a:r>
            <a:r>
              <a:rPr lang="en-US" altLang="zh-CN" sz="1600" dirty="0"/>
              <a:t> </a:t>
            </a:r>
            <a:r>
              <a:rPr lang="en-US" altLang="zh-CN" sz="1600" i="1" dirty="0"/>
              <a:t>max-interval</a:t>
            </a:r>
            <a:r>
              <a:rPr lang="en-US" altLang="zh-CN" sz="1600" dirty="0"/>
              <a:t> </a:t>
            </a:r>
            <a:r>
              <a:rPr lang="en-US" altLang="zh-CN" sz="1600" i="1" dirty="0"/>
              <a:t>start-interval</a:t>
            </a:r>
            <a:r>
              <a:rPr lang="en-US" altLang="zh-CN" sz="1600" dirty="0"/>
              <a:t> </a:t>
            </a:r>
            <a:r>
              <a:rPr lang="en-US" altLang="zh-CN" sz="1600" i="1" dirty="0"/>
              <a:t>hold-interval</a:t>
            </a:r>
            <a:r>
              <a:rPr lang="en-US" altLang="zh-CN" sz="1600" dirty="0"/>
              <a:t> | </a:t>
            </a:r>
            <a:r>
              <a:rPr lang="en-US" altLang="zh-CN" sz="1600" b="1" dirty="0"/>
              <a:t>millisecond</a:t>
            </a:r>
            <a:r>
              <a:rPr lang="en-US" altLang="zh-CN" sz="1600" dirty="0"/>
              <a:t> </a:t>
            </a:r>
            <a:r>
              <a:rPr lang="en-US" altLang="zh-CN" sz="1600" i="1" dirty="0"/>
              <a:t>interval2</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240183"/>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cs typeface="Courier New" panose="02070309020205020404" pitchFamily="49" charset="0"/>
              </a:rPr>
              <a:t>设置</a:t>
            </a:r>
            <a:r>
              <a:rPr lang="en-US" altLang="zh-CN" sz="1600" dirty="0">
                <a:cs typeface="Courier New" panose="02070309020205020404" pitchFamily="49" charset="0"/>
              </a:rPr>
              <a:t>OSPF</a:t>
            </a:r>
            <a:r>
              <a:rPr lang="zh-CN" altLang="en-US" sz="1600" dirty="0">
                <a:highlight>
                  <a:srgbClr val="FFFF00"/>
                </a:highlight>
                <a:cs typeface="Courier New" panose="02070309020205020404" pitchFamily="49" charset="0"/>
              </a:rPr>
              <a:t>路由计算</a:t>
            </a:r>
            <a:r>
              <a:rPr lang="zh-CN" altLang="en-US" sz="1600" dirty="0">
                <a:cs typeface="Courier New" panose="02070309020205020404" pitchFamily="49" charset="0"/>
              </a:rPr>
              <a:t>时间间隔。</a:t>
            </a:r>
            <a:endParaRPr lang="zh-CN" altLang="en-US" sz="1600" dirty="0">
              <a:cs typeface="Courier New" panose="02070309020205020404" pitchFamily="49" charset="0"/>
            </a:endParaRPr>
          </a:p>
        </p:txBody>
      </p:sp>
      <p:sp>
        <p:nvSpPr>
          <p:cNvPr id="11" name="矩形 10"/>
          <p:cNvSpPr/>
          <p:nvPr/>
        </p:nvSpPr>
        <p:spPr>
          <a:xfrm>
            <a:off x="1031917" y="2274928"/>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缺省情况下，使能智能定时器</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intelligent-timer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计算的最长间隔时间</a:t>
            </a:r>
            <a:r>
              <a:rPr lang="en-US" altLang="zh-CN" sz="1600" i="1" dirty="0"/>
              <a:t>max-interval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毫秒、初始间隔时间</a:t>
            </a:r>
            <a:r>
              <a:rPr lang="en-US" altLang="zh-CN" sz="1600" i="1" dirty="0"/>
              <a:t>start-interval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毫秒、基数间隔时间</a:t>
            </a:r>
            <a:r>
              <a:rPr lang="en-US" altLang="zh-CN" sz="1600" i="1" dirty="0"/>
              <a:t>hold-interval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毫秒。（以毫秒为单位的时间间隔）。</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五边形 17"/>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9218978" y="98112"/>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 IP FRR</a:t>
            </a:r>
            <a:endParaRPr lang="zh-CN" altLang="en-US" dirty="0"/>
          </a:p>
        </p:txBody>
      </p:sp>
      <p:sp>
        <p:nvSpPr>
          <p:cNvPr id="3" name="文本占位符 2"/>
          <p:cNvSpPr>
            <a:spLocks noGrp="1"/>
          </p:cNvSpPr>
          <p:nvPr>
            <p:ph type="body" sz="quarter" idx="10"/>
          </p:nvPr>
        </p:nvSpPr>
        <p:spPr/>
        <p:txBody>
          <a:bodyPr/>
          <a:lstStyle/>
          <a:p>
            <a:r>
              <a:rPr lang="en-US" altLang="zh-CN" sz="2000" dirty="0"/>
              <a:t>OSPF IP FRR</a:t>
            </a:r>
            <a:r>
              <a:rPr lang="zh-CN" altLang="en-US" sz="2000" dirty="0"/>
              <a:t>是动态</a:t>
            </a:r>
            <a:r>
              <a:rPr lang="en-US" altLang="zh-CN" sz="2000" dirty="0"/>
              <a:t>IP FRR</a:t>
            </a:r>
            <a:r>
              <a:rPr lang="zh-CN" altLang="en-US" sz="2000" dirty="0"/>
              <a:t>，利用</a:t>
            </a:r>
            <a:r>
              <a:rPr lang="en-US" altLang="zh-CN" sz="2000" dirty="0"/>
              <a:t>LFA</a:t>
            </a:r>
            <a:r>
              <a:rPr lang="zh-CN" altLang="en-US" sz="2000" dirty="0"/>
              <a:t>（</a:t>
            </a:r>
            <a:r>
              <a:rPr lang="en-US" altLang="zh-CN" sz="2000" dirty="0"/>
              <a:t>Loop-Free Alternates</a:t>
            </a:r>
            <a:r>
              <a:rPr lang="zh-CN" altLang="en-US" sz="2000" dirty="0"/>
              <a:t>）算法预先计算出备份路径，保存在转发表中，以备在故障时将流量快速切换到备份链路上，保证流量不中断，从而达到流量保护的目的，该功能可</a:t>
            </a:r>
            <a:r>
              <a:rPr lang="zh-CN" altLang="en-US" sz="2000" dirty="0">
                <a:highlight>
                  <a:srgbClr val="FFFF00"/>
                </a:highlight>
              </a:rPr>
              <a:t>将故障恢复时间降低到</a:t>
            </a:r>
            <a:r>
              <a:rPr lang="en-US" altLang="zh-CN" sz="2000" dirty="0">
                <a:highlight>
                  <a:srgbClr val="FFFF00"/>
                </a:highlight>
              </a:rPr>
              <a:t>50 </a:t>
            </a:r>
            <a:r>
              <a:rPr lang="en-US" altLang="zh-CN" sz="2000" dirty="0" err="1">
                <a:highlight>
                  <a:srgbClr val="FFFF00"/>
                </a:highlight>
              </a:rPr>
              <a:t>ms</a:t>
            </a:r>
            <a:r>
              <a:rPr lang="zh-CN" altLang="en-US" sz="2000" dirty="0">
                <a:highlight>
                  <a:srgbClr val="FFFF00"/>
                </a:highlight>
              </a:rPr>
              <a:t>以内</a:t>
            </a:r>
            <a:r>
              <a:rPr lang="zh-CN" altLang="en-US" sz="2000" dirty="0"/>
              <a:t>。</a:t>
            </a:r>
            <a:endParaRPr lang="en-US" altLang="zh-CN" sz="2000" dirty="0"/>
          </a:p>
          <a:p>
            <a:r>
              <a:rPr lang="en-US" altLang="zh-CN" sz="2000" dirty="0"/>
              <a:t>LFA</a:t>
            </a:r>
            <a:r>
              <a:rPr lang="zh-CN" altLang="en-US" sz="2000" dirty="0"/>
              <a:t>计算备份链路的基本思路是：</a:t>
            </a:r>
            <a:endParaRPr lang="en-US" altLang="zh-CN" sz="2000" dirty="0"/>
          </a:p>
          <a:p>
            <a:pPr lvl="1"/>
            <a:r>
              <a:rPr lang="zh-CN" altLang="en-US" sz="1800" dirty="0"/>
              <a:t>以可提供备份链路的邻居为根节点，利用</a:t>
            </a:r>
            <a:r>
              <a:rPr lang="en-US" altLang="zh-CN" sz="1800" dirty="0"/>
              <a:t>SPF</a:t>
            </a:r>
            <a:r>
              <a:rPr lang="zh-CN" altLang="en-US" sz="1800" dirty="0"/>
              <a:t>算法计算出到目的节点的最短距离。然后，按照不等式计算出开销最小且无环的备份链路。</a:t>
            </a:r>
            <a:endParaRPr lang="en-US" altLang="zh-CN" sz="1800" dirty="0"/>
          </a:p>
          <a:p>
            <a:endParaRPr lang="zh-CN" altLang="en-US" sz="2000" dirty="0"/>
          </a:p>
        </p:txBody>
      </p:sp>
      <p:sp>
        <p:nvSpPr>
          <p:cNvPr id="10" name="五边形 9"/>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10214033" y="98112"/>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OSPF IP FRR</a:t>
            </a:r>
            <a:r>
              <a:rPr lang="zh-CN" altLang="en-US"/>
              <a:t>组网应用</a:t>
            </a:r>
            <a:endParaRPr lang="zh-CN" altLang="en-US" dirty="0"/>
          </a:p>
        </p:txBody>
      </p:sp>
      <p:sp>
        <p:nvSpPr>
          <p:cNvPr id="3" name="文本占位符 2"/>
          <p:cNvSpPr>
            <a:spLocks noGrp="1"/>
          </p:cNvSpPr>
          <p:nvPr>
            <p:ph type="body" sz="quarter" idx="10"/>
          </p:nvPr>
        </p:nvSpPr>
        <p:spPr bwMode="gray">
          <a:xfrm>
            <a:off x="455612" y="1047751"/>
            <a:ext cx="11293475" cy="442844"/>
          </a:xfrm>
        </p:spPr>
        <p:txBody>
          <a:bodyPr/>
          <a:lstStyle/>
          <a:p>
            <a:r>
              <a:rPr lang="en-US" altLang="zh-CN" sz="2000" dirty="0"/>
              <a:t>OSPF IP FRR</a:t>
            </a:r>
            <a:r>
              <a:rPr lang="zh-CN" altLang="en-US" sz="2000" dirty="0"/>
              <a:t>的流量保护分为链路保护和节点链路双保护。</a:t>
            </a:r>
            <a:endParaRPr lang="zh-CN" altLang="en-US" sz="2000" dirty="0"/>
          </a:p>
        </p:txBody>
      </p:sp>
      <p:sp>
        <p:nvSpPr>
          <p:cNvPr id="4" name="圆角矩形 75"/>
          <p:cNvSpPr/>
          <p:nvPr/>
        </p:nvSpPr>
        <p:spPr bwMode="gray">
          <a:xfrm>
            <a:off x="702336" y="1657197"/>
            <a:ext cx="5364479"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链路保护</a:t>
            </a:r>
            <a:endPar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702336" y="2088702"/>
            <a:ext cx="5364479" cy="405340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fontAlgn="auto">
              <a:lnSpc>
                <a:spcPct val="1250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链路保护公式：</a:t>
            </a:r>
            <a:endPar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5000"/>
              </a:lnSpc>
              <a:spcBef>
                <a:spcPts val="0"/>
              </a:spcBef>
              <a:spcAft>
                <a:spcPts val="600"/>
              </a:spcAft>
            </a:pPr>
            <a:r>
              <a:rPr lang="en-US" altLang="zh-CN" sz="1400" b="1" dirty="0">
                <a:solidFill>
                  <a:srgbClr val="EC706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(N,D)&lt;</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(N,S)+</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(S,D)</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5000"/>
              </a:lnSpc>
              <a:spcBef>
                <a:spcPts val="0"/>
              </a:spcBef>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保证从节点</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N-&gt;D</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的流量不会再经过节点</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，即保证没有环路。</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6" name="组合 35"/>
          <p:cNvGrpSpPr/>
          <p:nvPr/>
        </p:nvGrpSpPr>
        <p:grpSpPr bwMode="gray">
          <a:xfrm>
            <a:off x="751840" y="3714750"/>
            <a:ext cx="3477260" cy="1488895"/>
            <a:chOff x="1110986" y="3794419"/>
            <a:chExt cx="4680214" cy="2126435"/>
          </a:xfrm>
        </p:grpSpPr>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1110986" y="4034684"/>
              <a:ext cx="540000" cy="442800"/>
            </a:xfrm>
            <a:prstGeom prst="rect">
              <a:avLst/>
            </a:prstGeom>
          </p:spPr>
        </p:pic>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2934762" y="4034684"/>
              <a:ext cx="540000" cy="442800"/>
            </a:xfrm>
            <a:prstGeom prst="rect">
              <a:avLst/>
            </a:prstGeom>
          </p:spPr>
        </p:pic>
        <p:pic>
          <p:nvPicPr>
            <p:cNvPr id="8" name="图片 7"/>
            <p:cNvPicPr/>
            <p:nvPr/>
          </p:nvPicPr>
          <p:blipFill>
            <a:blip r:embed="rId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022874" y="5073775"/>
              <a:ext cx="540000" cy="442800"/>
            </a:xfrm>
            <a:prstGeom prst="rect">
              <a:avLst/>
            </a:prstGeom>
          </p:spPr>
        </p:pic>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4758538" y="4034684"/>
              <a:ext cx="540000" cy="442800"/>
            </a:xfrm>
            <a:prstGeom prst="rect">
              <a:avLst/>
            </a:prstGeom>
          </p:spPr>
        </p:pic>
        <p:cxnSp>
          <p:nvCxnSpPr>
            <p:cNvPr id="11" name="直接连接符 10"/>
            <p:cNvCxnSpPr>
              <a:stCxn id="6" idx="3"/>
              <a:endCxn id="7" idx="1"/>
            </p:cNvCxnSpPr>
            <p:nvPr/>
          </p:nvCxnSpPr>
          <p:spPr bwMode="gray">
            <a:xfrm>
              <a:off x="1650986" y="4256084"/>
              <a:ext cx="12837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7" idx="3"/>
              <a:endCxn id="9" idx="1"/>
            </p:cNvCxnSpPr>
            <p:nvPr/>
          </p:nvCxnSpPr>
          <p:spPr bwMode="gray">
            <a:xfrm>
              <a:off x="3474762" y="4256084"/>
              <a:ext cx="12837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2"/>
              <a:endCxn id="8" idx="1"/>
            </p:cNvCxnSpPr>
            <p:nvPr/>
          </p:nvCxnSpPr>
          <p:spPr bwMode="gray">
            <a:xfrm>
              <a:off x="1380986" y="4477484"/>
              <a:ext cx="641888"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8" idx="3"/>
              <a:endCxn id="7" idx="2"/>
            </p:cNvCxnSpPr>
            <p:nvPr/>
          </p:nvCxnSpPr>
          <p:spPr bwMode="gray">
            <a:xfrm flipV="1">
              <a:off x="2562874" y="4477484"/>
              <a:ext cx="641888"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矩形 21"/>
            <p:cNvSpPr/>
            <p:nvPr/>
          </p:nvSpPr>
          <p:spPr bwMode="gray">
            <a:xfrm>
              <a:off x="1135124" y="3794419"/>
              <a:ext cx="491724" cy="438035"/>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矩形 22"/>
            <p:cNvSpPr/>
            <p:nvPr/>
          </p:nvSpPr>
          <p:spPr bwMode="gray">
            <a:xfrm>
              <a:off x="1848999" y="3962607"/>
              <a:ext cx="887750" cy="745476"/>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4" name="矩形 23"/>
            <p:cNvSpPr/>
            <p:nvPr/>
          </p:nvSpPr>
          <p:spPr bwMode="gray">
            <a:xfrm>
              <a:off x="3726637" y="3962607"/>
              <a:ext cx="887750" cy="745476"/>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矩形 24"/>
            <p:cNvSpPr/>
            <p:nvPr/>
          </p:nvSpPr>
          <p:spPr bwMode="gray">
            <a:xfrm rot="3232528">
              <a:off x="1111325" y="4743225"/>
              <a:ext cx="887750" cy="702545"/>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矩形 25"/>
            <p:cNvSpPr/>
            <p:nvPr/>
          </p:nvSpPr>
          <p:spPr bwMode="gray">
            <a:xfrm rot="18509869">
              <a:off x="2620288" y="4744290"/>
              <a:ext cx="887750" cy="702545"/>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7" name="矩形 26"/>
            <p:cNvSpPr/>
            <p:nvPr/>
          </p:nvSpPr>
          <p:spPr bwMode="gray">
            <a:xfrm>
              <a:off x="2047012" y="5482819"/>
              <a:ext cx="491724" cy="438035"/>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8" name="矩形 27"/>
            <p:cNvSpPr/>
            <p:nvPr/>
          </p:nvSpPr>
          <p:spPr bwMode="gray">
            <a:xfrm>
              <a:off x="2959804" y="3794419"/>
              <a:ext cx="491724" cy="745476"/>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9" name="矩形 28"/>
            <p:cNvSpPr/>
            <p:nvPr/>
          </p:nvSpPr>
          <p:spPr bwMode="gray">
            <a:xfrm>
              <a:off x="4784484" y="3794419"/>
              <a:ext cx="491724" cy="438035"/>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30" name="直接连接符 29"/>
            <p:cNvCxnSpPr>
              <a:stCxn id="9" idx="3"/>
            </p:cNvCxnSpPr>
            <p:nvPr/>
          </p:nvCxnSpPr>
          <p:spPr bwMode="gray">
            <a:xfrm>
              <a:off x="5298538" y="4256084"/>
              <a:ext cx="492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 name="组合 34"/>
            <p:cNvGrpSpPr/>
            <p:nvPr/>
          </p:nvGrpSpPr>
          <p:grpSpPr bwMode="gray">
            <a:xfrm>
              <a:off x="2187546" y="4210852"/>
              <a:ext cx="144000" cy="143999"/>
              <a:chOff x="6985472" y="2964732"/>
              <a:chExt cx="144000" cy="143999"/>
            </a:xfrm>
          </p:grpSpPr>
          <p:cxnSp>
            <p:nvCxnSpPr>
              <p:cNvPr id="33" name="直接连接符 32"/>
              <p:cNvCxnSpPr/>
              <p:nvPr/>
            </p:nvCxnSpPr>
            <p:spPr bwMode="gray">
              <a:xfrm flipV="1">
                <a:off x="6985472" y="2964732"/>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34" name="直接连接符 33"/>
              <p:cNvCxnSpPr/>
              <p:nvPr/>
            </p:nvCxnSpPr>
            <p:spPr bwMode="gray">
              <a:xfrm>
                <a:off x="6985472" y="2964732"/>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grpSp>
      <p:sp>
        <p:nvSpPr>
          <p:cNvPr id="37" name="圆角矩形 75"/>
          <p:cNvSpPr/>
          <p:nvPr/>
        </p:nvSpPr>
        <p:spPr bwMode="gray">
          <a:xfrm>
            <a:off x="6210966" y="1657197"/>
            <a:ext cx="5483531" cy="3940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节点链路双保护</a:t>
            </a:r>
            <a:endParaRPr lang="zh-CN" altLang="en-US"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圆角矩形 75"/>
          <p:cNvSpPr/>
          <p:nvPr/>
        </p:nvSpPr>
        <p:spPr bwMode="gray">
          <a:xfrm>
            <a:off x="6210966" y="2088702"/>
            <a:ext cx="5483531" cy="405340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fontAlgn="auto">
              <a:lnSpc>
                <a:spcPct val="1250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链路保护公式：</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5000"/>
              </a:lnSpc>
              <a:spcBef>
                <a:spcPts val="0"/>
              </a:spcBef>
              <a:spcAft>
                <a:spcPts val="600"/>
              </a:spcAft>
            </a:pPr>
            <a:r>
              <a:rPr lang="en-US" altLang="zh-CN" sz="16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(N,D)&lt;</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(N,S)+</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(S,D)</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5000"/>
              </a:lnSpc>
              <a:spcBef>
                <a:spcPts val="0"/>
              </a:spcBef>
              <a:spcAft>
                <a:spcPts val="60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节点保护公式：</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5000"/>
              </a:lnSpc>
              <a:spcBef>
                <a:spcPts val="0"/>
              </a:spcBef>
              <a:spcAft>
                <a:spcPts val="600"/>
              </a:spcAft>
            </a:pPr>
            <a:r>
              <a:rPr lang="en-US" altLang="zh-CN" sz="16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(N,D)&lt;</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(N,E)+</a:t>
            </a:r>
            <a:r>
              <a:rPr lang="en-US" altLang="zh-CN" sz="1400" b="1"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Distance_opt</a:t>
            </a: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(E,D)</a:t>
            </a:r>
            <a:endPar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ct val="125000"/>
              </a:lnSpc>
              <a:spcBef>
                <a:spcPts val="0"/>
              </a:spcBef>
              <a:spcAft>
                <a:spcPts val="600"/>
              </a:spcAft>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保证从节点</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N-&gt;D</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的流量不会经过节点</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，即保证没有环路。</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1" name="组合 60"/>
          <p:cNvGrpSpPr/>
          <p:nvPr/>
        </p:nvGrpSpPr>
        <p:grpSpPr bwMode="gray">
          <a:xfrm>
            <a:off x="6398895" y="4467225"/>
            <a:ext cx="3213735" cy="1304505"/>
            <a:chOff x="6718132" y="4385573"/>
            <a:chExt cx="4680214" cy="2185316"/>
          </a:xfrm>
        </p:grpSpPr>
        <p:pic>
          <p:nvPicPr>
            <p:cNvPr id="40" name="图片 39"/>
            <p:cNvPicPr/>
            <p:nvPr/>
          </p:nvPicPr>
          <p:blipFill>
            <a:blip r:embed="rId1" cstate="print">
              <a:extLst>
                <a:ext uri="{28A0092B-C50C-407E-A947-70E740481C1C}">
                  <a14:useLocalDpi xmlns:a14="http://schemas.microsoft.com/office/drawing/2010/main" val="0"/>
                </a:ext>
              </a:extLst>
            </a:blip>
            <a:stretch>
              <a:fillRect/>
            </a:stretch>
          </p:blipFill>
          <p:spPr bwMode="gray">
            <a:xfrm>
              <a:off x="6718132" y="4625838"/>
              <a:ext cx="540000" cy="442800"/>
            </a:xfrm>
            <a:prstGeom prst="rect">
              <a:avLst/>
            </a:prstGeom>
          </p:spPr>
        </p:pic>
        <p:pic>
          <p:nvPicPr>
            <p:cNvPr id="41" name="图片 40"/>
            <p:cNvPicPr/>
            <p:nvPr/>
          </p:nvPicPr>
          <p:blipFill>
            <a:blip r:embed="rId1" cstate="print">
              <a:extLst>
                <a:ext uri="{28A0092B-C50C-407E-A947-70E740481C1C}">
                  <a14:useLocalDpi xmlns:a14="http://schemas.microsoft.com/office/drawing/2010/main" val="0"/>
                </a:ext>
              </a:extLst>
            </a:blip>
            <a:stretch>
              <a:fillRect/>
            </a:stretch>
          </p:blipFill>
          <p:spPr bwMode="gray">
            <a:xfrm>
              <a:off x="8536239" y="4625838"/>
              <a:ext cx="540000" cy="442800"/>
            </a:xfrm>
            <a:prstGeom prst="rect">
              <a:avLst/>
            </a:prstGeom>
          </p:spPr>
        </p:pic>
        <p:pic>
          <p:nvPicPr>
            <p:cNvPr id="42" name="图片 41"/>
            <p:cNvPicPr/>
            <p:nvPr/>
          </p:nvPicPr>
          <p:blipFill>
            <a:blip r:embed="rId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8536239" y="5664929"/>
              <a:ext cx="540000" cy="442800"/>
            </a:xfrm>
            <a:prstGeom prst="rect">
              <a:avLst/>
            </a:prstGeom>
          </p:spPr>
        </p:pic>
        <p:pic>
          <p:nvPicPr>
            <p:cNvPr id="43" name="图片 42"/>
            <p:cNvPicPr/>
            <p:nvPr/>
          </p:nvPicPr>
          <p:blipFill>
            <a:blip r:embed="rId1" cstate="print">
              <a:extLst>
                <a:ext uri="{28A0092B-C50C-407E-A947-70E740481C1C}">
                  <a14:useLocalDpi xmlns:a14="http://schemas.microsoft.com/office/drawing/2010/main" val="0"/>
                </a:ext>
              </a:extLst>
            </a:blip>
            <a:stretch>
              <a:fillRect/>
            </a:stretch>
          </p:blipFill>
          <p:spPr bwMode="gray">
            <a:xfrm>
              <a:off x="10365684" y="4625838"/>
              <a:ext cx="540000" cy="442800"/>
            </a:xfrm>
            <a:prstGeom prst="rect">
              <a:avLst/>
            </a:prstGeom>
          </p:spPr>
        </p:pic>
        <p:cxnSp>
          <p:nvCxnSpPr>
            <p:cNvPr id="44" name="直接连接符 43"/>
            <p:cNvCxnSpPr>
              <a:stCxn id="40" idx="3"/>
              <a:endCxn id="41" idx="1"/>
            </p:cNvCxnSpPr>
            <p:nvPr/>
          </p:nvCxnSpPr>
          <p:spPr bwMode="gray">
            <a:xfrm>
              <a:off x="7258132" y="4847238"/>
              <a:ext cx="127810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stCxn id="41" idx="3"/>
              <a:endCxn id="43" idx="1"/>
            </p:cNvCxnSpPr>
            <p:nvPr/>
          </p:nvCxnSpPr>
          <p:spPr bwMode="gray">
            <a:xfrm>
              <a:off x="9076239" y="4847238"/>
              <a:ext cx="128944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40" idx="2"/>
              <a:endCxn id="42" idx="1"/>
            </p:cNvCxnSpPr>
            <p:nvPr/>
          </p:nvCxnSpPr>
          <p:spPr bwMode="gray">
            <a:xfrm>
              <a:off x="6988132" y="5068638"/>
              <a:ext cx="1548107"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42" idx="3"/>
              <a:endCxn id="43" idx="2"/>
            </p:cNvCxnSpPr>
            <p:nvPr/>
          </p:nvCxnSpPr>
          <p:spPr bwMode="gray">
            <a:xfrm flipV="1">
              <a:off x="9076239" y="5068638"/>
              <a:ext cx="1559445"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bwMode="gray">
            <a:xfrm>
              <a:off x="6742270" y="4385573"/>
              <a:ext cx="491724" cy="513794"/>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9" name="矩形 48"/>
            <p:cNvSpPr/>
            <p:nvPr/>
          </p:nvSpPr>
          <p:spPr bwMode="gray">
            <a:xfrm>
              <a:off x="7456145" y="4573217"/>
              <a:ext cx="887750" cy="874408"/>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0" name="矩形 49"/>
            <p:cNvSpPr/>
            <p:nvPr/>
          </p:nvSpPr>
          <p:spPr bwMode="gray">
            <a:xfrm>
              <a:off x="9333783" y="4573217"/>
              <a:ext cx="887750" cy="874408"/>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1" name="矩形 50"/>
            <p:cNvSpPr/>
            <p:nvPr/>
          </p:nvSpPr>
          <p:spPr bwMode="gray">
            <a:xfrm rot="1633914">
              <a:off x="7242061" y="5429981"/>
              <a:ext cx="887750" cy="874408"/>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2" name="矩形 51"/>
            <p:cNvSpPr/>
            <p:nvPr/>
          </p:nvSpPr>
          <p:spPr bwMode="gray">
            <a:xfrm rot="20012721">
              <a:off x="9442279" y="5462118"/>
              <a:ext cx="887750" cy="874408"/>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3" name="矩形 52"/>
            <p:cNvSpPr/>
            <p:nvPr/>
          </p:nvSpPr>
          <p:spPr bwMode="gray">
            <a:xfrm>
              <a:off x="8560377" y="6057095"/>
              <a:ext cx="491724" cy="513794"/>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4" name="矩形 53"/>
            <p:cNvSpPr/>
            <p:nvPr/>
          </p:nvSpPr>
          <p:spPr bwMode="gray">
            <a:xfrm>
              <a:off x="8560377" y="4385573"/>
              <a:ext cx="491724" cy="513794"/>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5" name="矩形 54"/>
            <p:cNvSpPr/>
            <p:nvPr/>
          </p:nvSpPr>
          <p:spPr bwMode="gray">
            <a:xfrm>
              <a:off x="10391630" y="4385573"/>
              <a:ext cx="491724" cy="513794"/>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56" name="直接连接符 55"/>
            <p:cNvCxnSpPr>
              <a:stCxn id="43" idx="3"/>
            </p:cNvCxnSpPr>
            <p:nvPr/>
          </p:nvCxnSpPr>
          <p:spPr bwMode="gray">
            <a:xfrm>
              <a:off x="10905684" y="4847238"/>
              <a:ext cx="492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7" name="组合 56"/>
            <p:cNvGrpSpPr/>
            <p:nvPr/>
          </p:nvGrpSpPr>
          <p:grpSpPr bwMode="gray">
            <a:xfrm>
              <a:off x="8734239" y="4789279"/>
              <a:ext cx="144000" cy="143999"/>
              <a:chOff x="6985472" y="2964732"/>
              <a:chExt cx="144000" cy="143999"/>
            </a:xfrm>
          </p:grpSpPr>
          <p:cxnSp>
            <p:nvCxnSpPr>
              <p:cNvPr id="58" name="直接连接符 57"/>
              <p:cNvCxnSpPr/>
              <p:nvPr/>
            </p:nvCxnSpPr>
            <p:spPr bwMode="gray">
              <a:xfrm flipV="1">
                <a:off x="6985472" y="2964732"/>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59" name="直接连接符 58"/>
              <p:cNvCxnSpPr/>
              <p:nvPr/>
            </p:nvCxnSpPr>
            <p:spPr bwMode="gray">
              <a:xfrm>
                <a:off x="6985472" y="2964732"/>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grpSp>
      <p:sp>
        <p:nvSpPr>
          <p:cNvPr id="62" name="圆角矩形 75"/>
          <p:cNvSpPr/>
          <p:nvPr/>
        </p:nvSpPr>
        <p:spPr bwMode="gray">
          <a:xfrm>
            <a:off x="4246134" y="4144616"/>
            <a:ext cx="1832873" cy="754507"/>
          </a:xfrm>
          <a:prstGeom prst="roundRect">
            <a:avLst>
              <a:gd name="adj" fmla="val 874"/>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：流量转发的源节点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：流量转发的目的节点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：备份链路的节点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9160026" y="1087576"/>
            <a:ext cx="2420276" cy="526039"/>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bwMode="gray">
          <a:xfrm>
            <a:off x="9005375" y="1079256"/>
            <a:ext cx="2729579" cy="523220"/>
          </a:xfrm>
          <a:prstGeom prst="rect">
            <a:avLst/>
          </a:prstGeom>
        </p:spPr>
        <p:txBody>
          <a:bodyPr wrap="square">
            <a:spAutoFit/>
          </a:bodyPr>
          <a:lstStyle/>
          <a:p>
            <a:pPr algn="ctr" fontAlgn="auto"/>
            <a:r>
              <a:rPr lang="en-US" altLang="zh-CN" sz="14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Distance_opt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(X, Y)</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是指节点</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X</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到</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Y</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之间的最短路径</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3" name="圆角矩形 75"/>
          <p:cNvSpPr/>
          <p:nvPr/>
        </p:nvSpPr>
        <p:spPr bwMode="gray">
          <a:xfrm>
            <a:off x="9963531" y="4821944"/>
            <a:ext cx="1808542" cy="990591"/>
          </a:xfrm>
          <a:prstGeom prst="roundRect">
            <a:avLst>
              <a:gd name="adj" fmla="val 874"/>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：流量转发的源节点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：流量转发的目的节点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：备份链路的节点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fontAlgn="auto">
              <a:spcBef>
                <a:spcPts val="0"/>
              </a:spcBef>
              <a:spcAft>
                <a:spcPts val="600"/>
              </a:spcAft>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E</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：发生故障的节点</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圆角矩形 75"/>
          <p:cNvSpPr/>
          <p:nvPr/>
        </p:nvSpPr>
        <p:spPr bwMode="gray">
          <a:xfrm>
            <a:off x="719568" y="5165371"/>
            <a:ext cx="5364479" cy="1003032"/>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250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流量从设备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D</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进行转发，网络开销值</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满足链路保护公式</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，可保证当主链路故障后，设备</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将流量切换到备份链路</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后可以继续向下游转发，确保流量中断小于</a:t>
            </a:r>
            <a:r>
              <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50 </a:t>
            </a:r>
            <a:r>
              <a:rPr lang="en-US" altLang="zh-CN" sz="1600" dirty="0" err="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ms</a:t>
            </a: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5"/>
          <p:cNvSpPr/>
          <p:nvPr/>
        </p:nvSpPr>
        <p:spPr bwMode="gray">
          <a:xfrm>
            <a:off x="6227715" y="5750535"/>
            <a:ext cx="5487601" cy="409858"/>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ct val="125000"/>
              </a:lnSpc>
              <a:spcBef>
                <a:spcPts val="0"/>
              </a:spcBef>
              <a:spcAft>
                <a:spcPts val="600"/>
              </a:spcAft>
            </a:pPr>
            <a:r>
              <a:rPr lang="zh-CN" altLang="en-US"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节点链路双保护必须同时满足以上两个公式。</a:t>
            </a: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五边形 63"/>
          <p:cNvSpPr/>
          <p:nvPr/>
        </p:nvSpPr>
        <p:spPr bwMode="gray">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64"/>
          <p:cNvSpPr/>
          <p:nvPr/>
        </p:nvSpPr>
        <p:spPr bwMode="gray">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gray">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gray">
          <a:xfrm>
            <a:off x="10214033" y="98112"/>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gray">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 IP FRR</a:t>
            </a:r>
            <a:r>
              <a:rPr lang="zh-CN" altLang="en-US"/>
              <a:t>的基础配置命令</a:t>
            </a:r>
            <a:endParaRPr lang="zh-CN" altLang="en-US" dirty="0"/>
          </a:p>
        </p:txBody>
      </p:sp>
      <p:sp>
        <p:nvSpPr>
          <p:cNvPr id="4" name="矩形 3"/>
          <p:cNvSpPr/>
          <p:nvPr/>
        </p:nvSpPr>
        <p:spPr>
          <a:xfrm>
            <a:off x="1031917" y="1676157"/>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frr</a:t>
            </a:r>
            <a:endParaRPr lang="en-US" altLang="zh-CN" sz="1600" b="1" dirty="0"/>
          </a:p>
          <a:p>
            <a:pPr fontAlgn="base"/>
            <a:r>
              <a:rPr lang="en-US" altLang="zh-CN" sz="1600" dirty="0">
                <a:cs typeface="Courier New" panose="02070309020205020404" pitchFamily="49" charset="0"/>
              </a:rPr>
              <a:t>[Huawei-ospf-1-frr]</a:t>
            </a:r>
            <a:endParaRPr lang="zh-CN" altLang="en-US" sz="1600" dirty="0">
              <a:cs typeface="Courier New" panose="02070309020205020404" pitchFamily="49" charset="0"/>
            </a:endParaRPr>
          </a:p>
        </p:txBody>
      </p:sp>
      <p:sp>
        <p:nvSpPr>
          <p:cNvPr id="5" name="矩形 4"/>
          <p:cNvSpPr/>
          <p:nvPr/>
        </p:nvSpPr>
        <p:spPr>
          <a:xfrm>
            <a:off x="551384" y="1244010"/>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使能</a:t>
            </a:r>
            <a:r>
              <a:rPr lang="en-US" altLang="zh-CN" sz="1600" dirty="0">
                <a:cs typeface="Courier New" panose="02070309020205020404" pitchFamily="49" charset="0"/>
              </a:rPr>
              <a:t>OSPF IP FRR</a:t>
            </a:r>
            <a:r>
              <a:rPr lang="zh-CN" altLang="en-US" sz="1600" dirty="0">
                <a:cs typeface="Courier New" panose="02070309020205020404" pitchFamily="49" charset="0"/>
              </a:rPr>
              <a:t>。</a:t>
            </a:r>
            <a:endParaRPr lang="zh-CN" altLang="en-US" sz="1600" dirty="0">
              <a:cs typeface="Courier New" panose="02070309020205020404" pitchFamily="49" charset="0"/>
            </a:endParaRPr>
          </a:p>
        </p:txBody>
      </p:sp>
      <p:sp>
        <p:nvSpPr>
          <p:cNvPr id="30" name="矩形 29"/>
          <p:cNvSpPr/>
          <p:nvPr/>
        </p:nvSpPr>
        <p:spPr>
          <a:xfrm>
            <a:off x="1031917" y="227875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创建并进入</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FRR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矩形 30"/>
          <p:cNvSpPr/>
          <p:nvPr/>
        </p:nvSpPr>
        <p:spPr>
          <a:xfrm>
            <a:off x="1031917" y="279238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[Huawei-ospf-1-frr] </a:t>
            </a:r>
            <a:r>
              <a:rPr lang="en-US" altLang="zh-CN" sz="1600" b="1" dirty="0"/>
              <a:t>loop-free-alternate</a:t>
            </a:r>
            <a:endParaRPr lang="zh-CN" altLang="en-US" sz="1600" dirty="0">
              <a:cs typeface="Courier New" panose="02070309020205020404" pitchFamily="49" charset="0"/>
            </a:endParaRPr>
          </a:p>
        </p:txBody>
      </p:sp>
      <p:sp>
        <p:nvSpPr>
          <p:cNvPr id="32" name="矩形 31"/>
          <p:cNvSpPr/>
          <p:nvPr/>
        </p:nvSpPr>
        <p:spPr>
          <a:xfrm>
            <a:off x="1031917" y="314559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IP FRR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功能，利用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LFA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算法计算备份下一跳和备份出接口。</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5" name="矩形 34"/>
          <p:cNvSpPr/>
          <p:nvPr/>
        </p:nvSpPr>
        <p:spPr>
          <a:xfrm>
            <a:off x="1031917" y="4599466"/>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[Huawei-GigabitEthernet0/0/1] </a:t>
            </a:r>
            <a:r>
              <a:rPr lang="en-US" altLang="zh-CN" sz="1600" b="1" dirty="0" err="1"/>
              <a:t>ospf</a:t>
            </a:r>
            <a:r>
              <a:rPr lang="en-US" altLang="zh-CN" sz="1600" b="1" dirty="0"/>
              <a:t> </a:t>
            </a:r>
            <a:r>
              <a:rPr lang="en-US" altLang="zh-CN" sz="1600" b="1" dirty="0" err="1"/>
              <a:t>frr</a:t>
            </a:r>
            <a:r>
              <a:rPr lang="en-US" altLang="zh-CN" sz="1600" b="1" dirty="0"/>
              <a:t> block</a:t>
            </a:r>
            <a:endParaRPr lang="zh-CN" altLang="en-US" sz="1600" dirty="0">
              <a:cs typeface="Courier New" panose="02070309020205020404" pitchFamily="49" charset="0"/>
            </a:endParaRPr>
          </a:p>
        </p:txBody>
      </p:sp>
      <p:sp>
        <p:nvSpPr>
          <p:cNvPr id="43" name="矩形 42"/>
          <p:cNvSpPr/>
          <p:nvPr/>
        </p:nvSpPr>
        <p:spPr>
          <a:xfrm>
            <a:off x="551384" y="4167319"/>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（可选）阻止</a:t>
            </a:r>
            <a:r>
              <a:rPr lang="en-US" altLang="zh-CN" sz="1600" dirty="0">
                <a:cs typeface="Courier New" panose="02070309020205020404" pitchFamily="49" charset="0"/>
              </a:rPr>
              <a:t>OSPF</a:t>
            </a:r>
            <a:r>
              <a:rPr lang="zh-CN" altLang="en-US" sz="1600" dirty="0">
                <a:cs typeface="Courier New" panose="02070309020205020404" pitchFamily="49" charset="0"/>
              </a:rPr>
              <a:t>接口的</a:t>
            </a:r>
            <a:r>
              <a:rPr lang="en-US" altLang="zh-CN" sz="1600" dirty="0">
                <a:cs typeface="Courier New" panose="02070309020205020404" pitchFamily="49" charset="0"/>
              </a:rPr>
              <a:t>FRR</a:t>
            </a:r>
            <a:r>
              <a:rPr lang="zh-CN" altLang="en-US" sz="1600" dirty="0">
                <a:cs typeface="Courier New" panose="02070309020205020404" pitchFamily="49" charset="0"/>
              </a:rPr>
              <a:t>能力。</a:t>
            </a:r>
            <a:endParaRPr lang="zh-CN" altLang="en-US" sz="1600" dirty="0">
              <a:cs typeface="Courier New" panose="02070309020205020404" pitchFamily="49" charset="0"/>
            </a:endParaRPr>
          </a:p>
        </p:txBody>
      </p:sp>
      <p:sp>
        <p:nvSpPr>
          <p:cNvPr id="47" name="矩形 46"/>
          <p:cNvSpPr/>
          <p:nvPr/>
        </p:nvSpPr>
        <p:spPr>
          <a:xfrm>
            <a:off x="1031917" y="4952677"/>
            <a:ext cx="10608699" cy="685509"/>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对于承载重要业务的节点设备，通过该命令在指定接口上禁止</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IP FRR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功能，从而使此接口相连的对端设备不成为备份链路上的节点设备，避免使能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IP FRR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功能后对节点设备上运行的重要业务造成影响。</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五边形 20"/>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10214033" y="98112"/>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bwMode="gray">
          <a:xfrm>
            <a:off x="674469" y="1098673"/>
            <a:ext cx="4630396" cy="2141251"/>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bwMode="gray">
          <a:xfrm>
            <a:off x="584475" y="2712740"/>
            <a:ext cx="910150" cy="523220"/>
          </a:xfrm>
          <a:prstGeom prst="rect">
            <a:avLst/>
          </a:prstGeom>
        </p:spPr>
        <p:txBody>
          <a:bodyPr wrap="square">
            <a:spAutoFit/>
          </a:bodyPr>
          <a:lstStyle/>
          <a:p>
            <a:pPr algn="ctr" fontAlgn="auto"/>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 name="标题 1"/>
          <p:cNvSpPr>
            <a:spLocks noGrp="1"/>
          </p:cNvSpPr>
          <p:nvPr>
            <p:ph type="title"/>
          </p:nvPr>
        </p:nvSpPr>
        <p:spPr/>
        <p:txBody>
          <a:bodyPr/>
          <a:lstStyle/>
          <a:p>
            <a:r>
              <a:rPr lang="en-US" altLang="zh-CN"/>
              <a:t>OSPF IP FRR</a:t>
            </a:r>
            <a:r>
              <a:rPr lang="zh-CN" altLang="en-US"/>
              <a:t>配置举例</a:t>
            </a:r>
            <a:endParaRPr lang="zh-CN" altLang="en-US" dirty="0"/>
          </a:p>
        </p:txBody>
      </p:sp>
      <p:pic>
        <p:nvPicPr>
          <p:cNvPr id="4" name="图片 3"/>
          <p:cNvPicPr/>
          <p:nvPr/>
        </p:nvPicPr>
        <p:blipFill>
          <a:blip r:embed="rId1" cstate="print">
            <a:extLst>
              <a:ext uri="{28A0092B-C50C-407E-A947-70E740481C1C}">
                <a14:useLocalDpi xmlns:a14="http://schemas.microsoft.com/office/drawing/2010/main" val="0"/>
              </a:ext>
            </a:extLst>
          </a:blip>
          <a:stretch>
            <a:fillRect/>
          </a:stretch>
        </p:blipFill>
        <p:spPr bwMode="gray">
          <a:xfrm>
            <a:off x="954625" y="1524651"/>
            <a:ext cx="540000" cy="442800"/>
          </a:xfrm>
          <a:prstGeom prst="rect">
            <a:avLst/>
          </a:prstGeom>
        </p:spPr>
      </p:pic>
      <p:pic>
        <p:nvPicPr>
          <p:cNvPr id="5" name="图片 4"/>
          <p:cNvPicPr/>
          <p:nvPr/>
        </p:nvPicPr>
        <p:blipFill>
          <a:blip r:embed="rId1" cstate="print">
            <a:extLst>
              <a:ext uri="{28A0092B-C50C-407E-A947-70E740481C1C}">
                <a14:useLocalDpi xmlns:a14="http://schemas.microsoft.com/office/drawing/2010/main" val="0"/>
              </a:ext>
            </a:extLst>
          </a:blip>
          <a:stretch>
            <a:fillRect/>
          </a:stretch>
        </p:blipFill>
        <p:spPr bwMode="gray">
          <a:xfrm>
            <a:off x="2778401" y="1524651"/>
            <a:ext cx="540000" cy="442800"/>
          </a:xfrm>
          <a:prstGeom prst="rect">
            <a:avLst/>
          </a:prstGeom>
        </p:spPr>
      </p:pic>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1866513" y="2563742"/>
            <a:ext cx="540000" cy="442800"/>
          </a:xfrm>
          <a:prstGeom prst="rect">
            <a:avLst/>
          </a:prstGeom>
        </p:spPr>
      </p:pic>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4602177" y="1524651"/>
            <a:ext cx="540000" cy="442800"/>
          </a:xfrm>
          <a:prstGeom prst="rect">
            <a:avLst/>
          </a:prstGeom>
        </p:spPr>
      </p:pic>
      <p:cxnSp>
        <p:nvCxnSpPr>
          <p:cNvPr id="8" name="直接连接符 7"/>
          <p:cNvCxnSpPr>
            <a:stCxn id="4" idx="3"/>
            <a:endCxn id="5" idx="1"/>
          </p:cNvCxnSpPr>
          <p:nvPr/>
        </p:nvCxnSpPr>
        <p:spPr bwMode="gray">
          <a:xfrm>
            <a:off x="1494625" y="1746051"/>
            <a:ext cx="12837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5" idx="3"/>
            <a:endCxn id="7" idx="1"/>
          </p:cNvCxnSpPr>
          <p:nvPr/>
        </p:nvCxnSpPr>
        <p:spPr bwMode="gray">
          <a:xfrm>
            <a:off x="3318401" y="1746051"/>
            <a:ext cx="12837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4" idx="2"/>
            <a:endCxn id="6" idx="1"/>
          </p:cNvCxnSpPr>
          <p:nvPr/>
        </p:nvCxnSpPr>
        <p:spPr bwMode="gray">
          <a:xfrm>
            <a:off x="1224625" y="1967451"/>
            <a:ext cx="641888"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3"/>
            <a:endCxn id="5" idx="2"/>
          </p:cNvCxnSpPr>
          <p:nvPr/>
        </p:nvCxnSpPr>
        <p:spPr bwMode="gray">
          <a:xfrm flipV="1">
            <a:off x="2406513" y="1967451"/>
            <a:ext cx="641888"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矩形 11"/>
          <p:cNvSpPr/>
          <p:nvPr/>
        </p:nvSpPr>
        <p:spPr bwMode="gray">
          <a:xfrm>
            <a:off x="978763" y="12843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1692638" y="1472030"/>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3514630" y="1472030"/>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rot="3232528">
            <a:off x="1010966" y="2264141"/>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rot="18509869">
            <a:off x="2414857" y="2276931"/>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1890651" y="29727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803443" y="12843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p:cNvSpPr/>
          <p:nvPr/>
        </p:nvSpPr>
        <p:spPr bwMode="gray">
          <a:xfrm>
            <a:off x="4628123" y="12843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R4</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矩形 24"/>
          <p:cNvSpPr/>
          <p:nvPr/>
        </p:nvSpPr>
        <p:spPr bwMode="gray">
          <a:xfrm rot="3094825">
            <a:off x="1191333" y="2154994"/>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6" name="矩形 25"/>
          <p:cNvSpPr/>
          <p:nvPr/>
        </p:nvSpPr>
        <p:spPr bwMode="gray">
          <a:xfrm rot="18657368">
            <a:off x="2190124" y="2153048"/>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7" name="矩形 26"/>
          <p:cNvSpPr/>
          <p:nvPr/>
        </p:nvSpPr>
        <p:spPr bwMode="gray">
          <a:xfrm>
            <a:off x="3516414" y="176623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0" name="文本占位符 2"/>
          <p:cNvSpPr txBox="1"/>
          <p:nvPr/>
        </p:nvSpPr>
        <p:spPr bwMode="auto">
          <a:xfrm>
            <a:off x="6052689" y="1095049"/>
            <a:ext cx="5693223" cy="1483273"/>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当</a:t>
            </a:r>
            <a:r>
              <a:rPr lang="en-US" altLang="zh-CN" sz="1600" dirty="0"/>
              <a:t>R1</a:t>
            </a:r>
            <a:r>
              <a:rPr lang="zh-CN" altLang="en-US" sz="1600" dirty="0"/>
              <a:t>与</a:t>
            </a:r>
            <a:r>
              <a:rPr lang="en-US" altLang="zh-CN" sz="1600" dirty="0"/>
              <a:t>R3</a:t>
            </a:r>
            <a:r>
              <a:rPr lang="zh-CN" altLang="en-US" sz="1600" dirty="0"/>
              <a:t>之间的链路出现故障时，</a:t>
            </a:r>
            <a:r>
              <a:rPr lang="en-US" altLang="zh-CN" sz="1600" dirty="0"/>
              <a:t>R1</a:t>
            </a:r>
            <a:r>
              <a:rPr lang="zh-CN" altLang="en-US" sz="1600" dirty="0"/>
              <a:t>转发的流量能够快速切换到备份链路，通过</a:t>
            </a:r>
            <a:r>
              <a:rPr lang="en-US" altLang="zh-CN" sz="1600" dirty="0"/>
              <a:t>R2</a:t>
            </a:r>
            <a:r>
              <a:rPr lang="zh-CN" altLang="en-US" sz="1600" dirty="0"/>
              <a:t>进行流量转发。</a:t>
            </a:r>
            <a:endParaRPr lang="zh-CN" altLang="en-US" sz="1800" dirty="0"/>
          </a:p>
        </p:txBody>
      </p:sp>
      <p:graphicFrame>
        <p:nvGraphicFramePr>
          <p:cNvPr id="31" name="表格 30"/>
          <p:cNvGraphicFramePr>
            <a:graphicFrameLocks noGrp="1"/>
          </p:cNvGraphicFramePr>
          <p:nvPr/>
        </p:nvGraphicFramePr>
        <p:xfrm>
          <a:off x="674469" y="3356410"/>
          <a:ext cx="4630397" cy="2743200"/>
        </p:xfrm>
        <a:graphic>
          <a:graphicData uri="http://schemas.openxmlformats.org/drawingml/2006/table">
            <a:tbl>
              <a:tblPr firstRow="1" bandRow="1"/>
              <a:tblGrid>
                <a:gridCol w="683987"/>
                <a:gridCol w="1315470"/>
                <a:gridCol w="1315470"/>
                <a:gridCol w="1315470"/>
              </a:tblGrid>
              <a:tr h="283456">
                <a:tc>
                  <a:txBody>
                    <a:bodyPr/>
                    <a:lstStyle/>
                    <a:p>
                      <a:pPr algn="ctr"/>
                      <a:r>
                        <a:rPr lang="zh-CN" altLang="en-US" sz="1400" b="1" dirty="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Router ID</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IP</a:t>
                      </a:r>
                      <a:r>
                        <a:rPr lang="zh-CN" altLang="en-US" sz="1400" b="1" dirty="0"/>
                        <a:t>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rowSpan="2">
                  <a:txBody>
                    <a:bodyPr/>
                    <a:lstStyle/>
                    <a:p>
                      <a:pPr algn="ctr"/>
                      <a:r>
                        <a:rPr lang="en-US" altLang="zh-CN" sz="1400" dirty="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rowSpan="2">
                  <a:txBody>
                    <a:bodyPr/>
                    <a:lstStyle/>
                    <a:p>
                      <a:pPr algn="ctr"/>
                      <a:r>
                        <a:rPr lang="en-US" altLang="zh-CN" sz="1400" dirty="0"/>
                        <a:t>10.1.1.1</a:t>
                      </a:r>
                      <a:endParaRPr lang="en-US" altLang="zh-CN" sz="1400" dirty="0">
                        <a:solidFill>
                          <a:schemeClr val="tx1"/>
                        </a:solidFill>
                      </a:endParaRPr>
                    </a:p>
                  </a:txBody>
                  <a:tcPr anchor="ctr"/>
                </a:tc>
                <a:tc>
                  <a:txBody>
                    <a:bodyPr/>
                    <a:lstStyle/>
                    <a:p>
                      <a:pPr algn="ctr"/>
                      <a:r>
                        <a:rPr lang="en-US" altLang="zh-CN" sz="1400" dirty="0"/>
                        <a:t>GE0/0/0</a:t>
                      </a:r>
                      <a:endParaRPr lang="en-US" altLang="zh-CN" sz="1400" dirty="0">
                        <a:solidFill>
                          <a:schemeClr val="tx1"/>
                        </a:solidFill>
                      </a:endParaRPr>
                    </a:p>
                  </a:txBody>
                  <a:tcPr anchor="ctr"/>
                </a:tc>
                <a:tc>
                  <a:txBody>
                    <a:bodyPr/>
                    <a:lstStyle/>
                    <a:p>
                      <a:pPr algn="l"/>
                      <a:r>
                        <a:rPr lang="en-US" altLang="zh-CN" sz="1400" dirty="0"/>
                        <a:t>10.1.13.1/24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2">
                  <a:txBody>
                    <a:bodyPr/>
                    <a:lstStyle/>
                    <a:p>
                      <a:pPr algn="ctr"/>
                      <a:r>
                        <a:rPr lang="en-US" altLang="zh-CN" sz="1400" dirty="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rowSpan="2">
                  <a:txBody>
                    <a:bodyPr/>
                    <a:lstStyle/>
                    <a:p>
                      <a:pPr algn="ctr"/>
                      <a:r>
                        <a:rPr lang="en-US" altLang="zh-CN" sz="1400" dirty="0"/>
                        <a:t>10.1.2.2</a:t>
                      </a:r>
                      <a:endParaRPr lang="zh-CN" altLang="en-US" sz="1400" dirty="0">
                        <a:solidFill>
                          <a:schemeClr val="tx1"/>
                        </a:solidFill>
                      </a:endParaRPr>
                    </a:p>
                  </a:txBody>
                  <a:tcPr anchor="ct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3">
                  <a:txBody>
                    <a:bodyPr/>
                    <a:lstStyle/>
                    <a:p>
                      <a:pPr algn="ctr"/>
                      <a:r>
                        <a:rPr lang="en-US" altLang="zh-CN" sz="1400" dirty="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rowSpan="3">
                  <a:txBody>
                    <a:bodyPr/>
                    <a:lstStyle/>
                    <a:p>
                      <a:pPr algn="ctr"/>
                      <a:r>
                        <a:rPr lang="en-US" altLang="zh-CN" sz="1400" dirty="0"/>
                        <a:t>10.1.3.3</a:t>
                      </a:r>
                      <a:endParaRPr lang="zh-CN" altLang="en-US" sz="1400" dirty="0">
                        <a:solidFill>
                          <a:schemeClr val="tx1"/>
                        </a:solidFill>
                      </a:endParaRPr>
                    </a:p>
                  </a:txBody>
                  <a:tcPr anchor="ctr"/>
                </a:tc>
                <a:tc>
                  <a:txBody>
                    <a:bodyPr/>
                    <a:lstStyle/>
                    <a:p>
                      <a:pPr algn="ctr"/>
                      <a:r>
                        <a:rPr lang="en-US" altLang="zh-CN" sz="1400" dirty="0"/>
                        <a:t>GE0/0/0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tc>
                <a:tc vMerge="1">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10.1.34.3/24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a:t>R4</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a:t>10.1.4.4</a:t>
                      </a:r>
                      <a:endParaRPr lang="zh-CN" altLang="en-US"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10.1.34.4/24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32" name="文本框 31"/>
          <p:cNvSpPr txBox="1"/>
          <p:nvPr/>
        </p:nvSpPr>
        <p:spPr>
          <a:xfrm>
            <a:off x="6103147" y="1869509"/>
            <a:ext cx="4285147"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OSPF</a:t>
            </a:r>
            <a:r>
              <a:rPr lang="zh-CN" altLang="en-US" sz="1600" dirty="0">
                <a:solidFill>
                  <a:prstClr val="black"/>
                </a:solidFill>
              </a:rPr>
              <a:t>。（略）</a:t>
            </a:r>
            <a:endParaRPr lang="zh-CN" altLang="en-US" sz="1600" dirty="0">
              <a:solidFill>
                <a:prstClr val="black"/>
              </a:solidFill>
            </a:endParaRPr>
          </a:p>
        </p:txBody>
      </p:sp>
      <p:sp>
        <p:nvSpPr>
          <p:cNvPr id="33" name="文本框 32"/>
          <p:cNvSpPr txBox="1"/>
          <p:nvPr/>
        </p:nvSpPr>
        <p:spPr>
          <a:xfrm>
            <a:off x="6446338" y="2652900"/>
            <a:ext cx="4642749" cy="1384995"/>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[R1] interface </a:t>
            </a:r>
            <a:r>
              <a:rPr lang="en-US" altLang="zh-CN" sz="1400" dirty="0" err="1">
                <a:solidFill>
                  <a:prstClr val="black"/>
                </a:solidFill>
                <a:cs typeface="Courier New" panose="02070309020205020404" pitchFamily="49" charset="0"/>
              </a:rPr>
              <a:t>GigabitEthernet</a:t>
            </a:r>
            <a:r>
              <a:rPr lang="en-US" altLang="zh-CN" sz="1400" dirty="0">
                <a:solidFill>
                  <a:prstClr val="black"/>
                </a:solidFill>
                <a:cs typeface="Courier New" panose="02070309020205020404" pitchFamily="49" charset="0"/>
              </a:rPr>
              <a:t> 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[R1-GigabitEthernet 0/0/0] </a:t>
            </a:r>
            <a:r>
              <a:rPr lang="en-US" altLang="zh-CN" sz="1400" dirty="0" err="1">
                <a:solidFill>
                  <a:prstClr val="black"/>
                </a:solidFill>
                <a:cs typeface="Courier New" panose="02070309020205020404" pitchFamily="49" charset="0"/>
              </a:rPr>
              <a:t>ospf</a:t>
            </a:r>
            <a:r>
              <a:rPr lang="en-US" altLang="zh-CN" sz="1400" dirty="0">
                <a:solidFill>
                  <a:prstClr val="black"/>
                </a:solidFill>
                <a:cs typeface="Courier New" panose="02070309020205020404" pitchFamily="49" charset="0"/>
              </a:rPr>
              <a:t> cost 10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[R1-GigabitEthernet 0/0/0] quit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 interface </a:t>
            </a:r>
            <a:r>
              <a:rPr lang="en-US" altLang="zh-CN" sz="1400" dirty="0" err="1">
                <a:solidFill>
                  <a:prstClr val="black"/>
                </a:solidFill>
                <a:cs typeface="Courier New" panose="02070309020205020404" pitchFamily="49" charset="0"/>
              </a:rPr>
              <a:t>GigabitEthernet</a:t>
            </a:r>
            <a:r>
              <a:rPr lang="en-US" altLang="zh-CN" sz="1400" dirty="0">
                <a:solidFill>
                  <a:prstClr val="black"/>
                </a:solidFill>
                <a:cs typeface="Courier New" panose="02070309020205020404" pitchFamily="49" charset="0"/>
              </a:rPr>
              <a:t> 0/0/1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[R1-GigabitEthernet 0/0/1] </a:t>
            </a:r>
            <a:r>
              <a:rPr lang="en-US" altLang="zh-CN" sz="1400" dirty="0" err="1">
                <a:solidFill>
                  <a:prstClr val="black"/>
                </a:solidFill>
                <a:cs typeface="Courier New" panose="02070309020205020404" pitchFamily="49" charset="0"/>
              </a:rPr>
              <a:t>ospf</a:t>
            </a:r>
            <a:r>
              <a:rPr lang="en-US" altLang="zh-CN" sz="1400" dirty="0">
                <a:solidFill>
                  <a:prstClr val="black"/>
                </a:solidFill>
                <a:cs typeface="Courier New" panose="02070309020205020404" pitchFamily="49" charset="0"/>
              </a:rPr>
              <a:t> cost 10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[R1-GigabitEthernet 0/0/1] quit</a:t>
            </a:r>
            <a:endParaRPr lang="en-US" altLang="zh-CN" sz="1400" dirty="0">
              <a:solidFill>
                <a:prstClr val="black"/>
              </a:solidFill>
              <a:cs typeface="Courier New" panose="02070309020205020404" pitchFamily="49" charset="0"/>
            </a:endParaRPr>
          </a:p>
        </p:txBody>
      </p:sp>
      <p:sp>
        <p:nvSpPr>
          <p:cNvPr id="34" name="文本框 33"/>
          <p:cNvSpPr txBox="1"/>
          <p:nvPr/>
        </p:nvSpPr>
        <p:spPr>
          <a:xfrm>
            <a:off x="6103147" y="2289711"/>
            <a:ext cx="5642766" cy="338554"/>
          </a:xfrm>
          <a:prstGeom prst="rect">
            <a:avLst/>
          </a:prstGeom>
          <a:noFill/>
        </p:spPr>
        <p:txBody>
          <a:bodyPr wrap="square" rtlCol="0">
            <a:spAutoFit/>
          </a:body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、配置各设备</a:t>
            </a:r>
            <a:r>
              <a:rPr lang="en-US" altLang="zh-CN" sz="1600" dirty="0">
                <a:solidFill>
                  <a:prstClr val="black"/>
                </a:solidFill>
              </a:rPr>
              <a:t>OSPF</a:t>
            </a:r>
            <a:r>
              <a:rPr lang="zh-CN" altLang="en-US" sz="1600" dirty="0">
                <a:solidFill>
                  <a:prstClr val="black"/>
                </a:solidFill>
              </a:rPr>
              <a:t>开销值。</a:t>
            </a:r>
            <a:endParaRPr lang="zh-CN" altLang="en-US" sz="1600" dirty="0">
              <a:solidFill>
                <a:prstClr val="black"/>
              </a:solidFill>
            </a:endParaRPr>
          </a:p>
        </p:txBody>
      </p:sp>
      <p:sp>
        <p:nvSpPr>
          <p:cNvPr id="35" name="文本框 34"/>
          <p:cNvSpPr txBox="1"/>
          <p:nvPr/>
        </p:nvSpPr>
        <p:spPr>
          <a:xfrm>
            <a:off x="7980218" y="5831973"/>
            <a:ext cx="3768440" cy="307777"/>
          </a:xfrm>
          <a:prstGeom prst="rect">
            <a:avLst/>
          </a:prstGeom>
          <a:noFill/>
        </p:spPr>
        <p:txBody>
          <a:bodyPr wrap="square" rtlCol="0">
            <a:spAutoFit/>
          </a:bodyPr>
          <a:lstStyle/>
          <a:p>
            <a:pPr fontAlgn="auto">
              <a:spcBef>
                <a:spcPts val="0"/>
              </a:spcBef>
              <a:spcAft>
                <a:spcPts val="0"/>
              </a:spcAft>
            </a:pPr>
            <a:r>
              <a:rPr lang="en-US" altLang="zh-CN" sz="1400" dirty="0">
                <a:solidFill>
                  <a:prstClr val="black"/>
                </a:solidFill>
              </a:rPr>
              <a:t>R2</a:t>
            </a:r>
            <a:r>
              <a:rPr lang="zh-CN" altLang="en-US" sz="1400" dirty="0">
                <a:solidFill>
                  <a:prstClr val="black"/>
                </a:solidFill>
              </a:rPr>
              <a:t>、</a:t>
            </a:r>
            <a:r>
              <a:rPr lang="en-US" altLang="zh-CN" sz="1400" dirty="0">
                <a:solidFill>
                  <a:prstClr val="black"/>
                </a:solidFill>
              </a:rPr>
              <a:t>R3</a:t>
            </a:r>
            <a:r>
              <a:rPr lang="zh-CN" altLang="en-US" sz="1400" dirty="0">
                <a:solidFill>
                  <a:prstClr val="black"/>
                </a:solidFill>
              </a:rPr>
              <a:t>、</a:t>
            </a:r>
            <a:r>
              <a:rPr lang="en-US" altLang="zh-CN" sz="1400" dirty="0">
                <a:solidFill>
                  <a:prstClr val="black"/>
                </a:solidFill>
              </a:rPr>
              <a:t>R4</a:t>
            </a:r>
            <a:r>
              <a:rPr lang="zh-CN" altLang="en-US" sz="1400" dirty="0">
                <a:solidFill>
                  <a:prstClr val="black"/>
                </a:solidFill>
              </a:rPr>
              <a:t>的开销配置与</a:t>
            </a:r>
            <a:r>
              <a:rPr lang="en-US" altLang="zh-CN" sz="1400" dirty="0">
                <a:solidFill>
                  <a:prstClr val="black"/>
                </a:solidFill>
              </a:rPr>
              <a:t>R1</a:t>
            </a:r>
            <a:r>
              <a:rPr lang="zh-CN" altLang="en-US" sz="1400" dirty="0">
                <a:solidFill>
                  <a:prstClr val="black"/>
                </a:solidFill>
              </a:rPr>
              <a:t>类似，不再赘述。</a:t>
            </a:r>
            <a:endParaRPr lang="zh-CN" altLang="en-US" sz="1400" dirty="0">
              <a:solidFill>
                <a:prstClr val="black"/>
              </a:solidFill>
            </a:endParaRPr>
          </a:p>
        </p:txBody>
      </p:sp>
      <p:sp>
        <p:nvSpPr>
          <p:cNvPr id="41" name="矩形 40"/>
          <p:cNvSpPr/>
          <p:nvPr/>
        </p:nvSpPr>
        <p:spPr bwMode="gray">
          <a:xfrm>
            <a:off x="1693303" y="170527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6" name="文本框 35"/>
          <p:cNvSpPr txBox="1"/>
          <p:nvPr/>
        </p:nvSpPr>
        <p:spPr>
          <a:xfrm>
            <a:off x="6103147" y="4183231"/>
            <a:ext cx="2930610" cy="338554"/>
          </a:xfrm>
          <a:prstGeom prst="rect">
            <a:avLst/>
          </a:prstGeom>
          <a:noFill/>
        </p:spPr>
        <p:txBody>
          <a:bodyPr wrap="none" rtlCol="0">
            <a:spAutoFit/>
          </a:body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、在</a:t>
            </a:r>
            <a:r>
              <a:rPr lang="en-US" altLang="zh-CN" sz="1600" dirty="0">
                <a:solidFill>
                  <a:prstClr val="black"/>
                </a:solidFill>
              </a:rPr>
              <a:t>R1</a:t>
            </a:r>
            <a:r>
              <a:rPr lang="zh-CN" altLang="en-US" sz="1600" dirty="0">
                <a:solidFill>
                  <a:prstClr val="black"/>
                </a:solidFill>
              </a:rPr>
              <a:t>上使能</a:t>
            </a:r>
            <a:r>
              <a:rPr lang="en-US" altLang="zh-CN" sz="1600" dirty="0">
                <a:solidFill>
                  <a:prstClr val="black"/>
                </a:solidFill>
              </a:rPr>
              <a:t>OSPF IP FRR</a:t>
            </a:r>
            <a:r>
              <a:rPr lang="zh-CN" altLang="en-US" sz="1600" dirty="0">
                <a:solidFill>
                  <a:prstClr val="black"/>
                </a:solidFill>
              </a:rPr>
              <a:t>。</a:t>
            </a:r>
            <a:endParaRPr lang="zh-CN" altLang="en-US" sz="1600" dirty="0">
              <a:solidFill>
                <a:prstClr val="black"/>
              </a:solidFill>
            </a:endParaRPr>
          </a:p>
        </p:txBody>
      </p:sp>
      <p:sp>
        <p:nvSpPr>
          <p:cNvPr id="37" name="文本框 36"/>
          <p:cNvSpPr txBox="1"/>
          <p:nvPr/>
        </p:nvSpPr>
        <p:spPr>
          <a:xfrm>
            <a:off x="6446338" y="4545766"/>
            <a:ext cx="4642749" cy="1169551"/>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 </a:t>
            </a:r>
            <a:r>
              <a:rPr lang="en-US" altLang="zh-CN" sz="1400" b="1" dirty="0" err="1">
                <a:cs typeface="Courier New" panose="02070309020205020404" pitchFamily="49" charset="0"/>
              </a:rPr>
              <a:t>frr</a:t>
            </a:r>
            <a:endParaRPr lang="en-US" altLang="zh-CN" sz="1400" b="1" dirty="0">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[R1-ospf-1-frr] </a:t>
            </a:r>
            <a:r>
              <a:rPr lang="en-US" altLang="zh-CN" sz="1400" b="1" dirty="0">
                <a:cs typeface="Courier New" panose="02070309020205020404" pitchFamily="49" charset="0"/>
              </a:rPr>
              <a:t>loop-free-alternate</a:t>
            </a:r>
            <a:endParaRPr lang="en-US" altLang="zh-CN" sz="1400" b="1" dirty="0">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[R1-ospf-1-frr] quit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 quit</a:t>
            </a:r>
            <a:endParaRPr lang="en-US" altLang="zh-CN" sz="1400" dirty="0">
              <a:solidFill>
                <a:prstClr val="black"/>
              </a:solidFill>
              <a:cs typeface="Courier New" panose="02070309020205020404" pitchFamily="49" charset="0"/>
            </a:endParaRPr>
          </a:p>
        </p:txBody>
      </p:sp>
      <p:sp>
        <p:nvSpPr>
          <p:cNvPr id="39" name="五边形 38"/>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10214033" y="98112"/>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auto">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a:t>查看</a:t>
            </a:r>
            <a:r>
              <a:rPr lang="en-US" altLang="zh-CN"/>
              <a:t>OSPF IP FRR</a:t>
            </a:r>
            <a:r>
              <a:rPr lang="zh-CN" altLang="en-US"/>
              <a:t>配置结果</a:t>
            </a:r>
            <a:endParaRPr lang="zh-CN" altLang="en-US" dirty="0"/>
          </a:p>
        </p:txBody>
      </p:sp>
      <p:sp>
        <p:nvSpPr>
          <p:cNvPr id="32" name="文本框 31"/>
          <p:cNvSpPr txBox="1"/>
          <p:nvPr/>
        </p:nvSpPr>
        <p:spPr bwMode="gray">
          <a:xfrm>
            <a:off x="5497928" y="2365818"/>
            <a:ext cx="4299575" cy="338554"/>
          </a:xfrm>
          <a:prstGeom prst="rect">
            <a:avLst/>
          </a:prstGeom>
          <a:noFill/>
        </p:spPr>
        <p:txBody>
          <a:bodyPr wrap="none" rtlCol="0">
            <a:spAutoFit/>
          </a:bodyPr>
          <a:lstStyle/>
          <a:p>
            <a:pPr fontAlgn="auto">
              <a:spcBef>
                <a:spcPts val="0"/>
              </a:spcBef>
              <a:spcAft>
                <a:spcPts val="0"/>
              </a:spcAft>
            </a:pPr>
            <a:r>
              <a:rPr lang="zh-CN" altLang="en-US" sz="1600" dirty="0">
                <a:solidFill>
                  <a:prstClr val="black"/>
                </a:solidFill>
              </a:rPr>
              <a:t>查看</a:t>
            </a:r>
            <a:r>
              <a:rPr lang="en-US" altLang="zh-CN" sz="1600" dirty="0">
                <a:solidFill>
                  <a:prstClr val="black"/>
                </a:solidFill>
              </a:rPr>
              <a:t>R1</a:t>
            </a:r>
            <a:r>
              <a:rPr lang="zh-CN" altLang="en-US" sz="1600" dirty="0">
                <a:solidFill>
                  <a:prstClr val="black"/>
                </a:solidFill>
              </a:rPr>
              <a:t>到</a:t>
            </a:r>
            <a:r>
              <a:rPr lang="en-US" altLang="zh-CN" sz="1600" dirty="0">
                <a:solidFill>
                  <a:prstClr val="black"/>
                </a:solidFill>
              </a:rPr>
              <a:t>R4</a:t>
            </a:r>
            <a:r>
              <a:rPr lang="zh-CN" altLang="en-US" sz="1600" dirty="0">
                <a:solidFill>
                  <a:prstClr val="black"/>
                </a:solidFill>
              </a:rPr>
              <a:t>的</a:t>
            </a:r>
            <a:r>
              <a:rPr lang="en-US" altLang="zh-CN" sz="1600" dirty="0">
                <a:solidFill>
                  <a:prstClr val="black"/>
                </a:solidFill>
              </a:rPr>
              <a:t>GE0/0/1</a:t>
            </a:r>
            <a:r>
              <a:rPr lang="zh-CN" altLang="en-US" sz="1600" dirty="0">
                <a:solidFill>
                  <a:prstClr val="black"/>
                </a:solidFill>
              </a:rPr>
              <a:t>接口地址的路由信息。</a:t>
            </a:r>
            <a:endParaRPr lang="en-US" altLang="zh-CN" sz="1600" dirty="0">
              <a:solidFill>
                <a:prstClr val="black"/>
              </a:solidFill>
            </a:endParaRPr>
          </a:p>
        </p:txBody>
      </p:sp>
      <p:sp>
        <p:nvSpPr>
          <p:cNvPr id="33" name="文本框 32"/>
          <p:cNvSpPr txBox="1"/>
          <p:nvPr/>
        </p:nvSpPr>
        <p:spPr bwMode="gray">
          <a:xfrm>
            <a:off x="5543233" y="2691082"/>
            <a:ext cx="6202680" cy="2031325"/>
          </a:xfrm>
          <a:prstGeom prst="rect">
            <a:avLst/>
          </a:prstGeom>
          <a:solidFill>
            <a:schemeClr val="bg1">
              <a:lumMod val="85000"/>
            </a:schemeClr>
          </a:solidFill>
          <a:ln>
            <a:noFill/>
          </a:ln>
        </p:spPr>
        <p:txBody>
          <a:bodyPr wrap="square" rtlCol="0">
            <a:spAutoFit/>
          </a:bodyPr>
          <a:lstStyle/>
          <a:p>
            <a:pPr fontAlgn="auto">
              <a:spcBef>
                <a:spcPts val="0"/>
              </a:spcBef>
              <a:spcAft>
                <a:spcPts val="0"/>
              </a:spcAft>
            </a:pPr>
            <a:r>
              <a:rPr lang="en-US" altLang="zh-CN" sz="1400" dirty="0">
                <a:solidFill>
                  <a:prstClr val="black"/>
                </a:solidFill>
                <a:cs typeface="Courier New" panose="02070309020205020404" pitchFamily="49" charset="0"/>
              </a:rPr>
              <a:t>[R1]display </a:t>
            </a:r>
            <a:r>
              <a:rPr lang="en-US" altLang="zh-CN" sz="1400" dirty="0" err="1">
                <a:solidFill>
                  <a:prstClr val="black"/>
                </a:solidFill>
                <a:cs typeface="Courier New" panose="02070309020205020404" pitchFamily="49" charset="0"/>
              </a:rPr>
              <a:t>ospf</a:t>
            </a:r>
            <a:r>
              <a:rPr lang="en-US" altLang="zh-CN" sz="1400" dirty="0">
                <a:solidFill>
                  <a:prstClr val="black"/>
                </a:solidFill>
                <a:cs typeface="Courier New" panose="02070309020205020404" pitchFamily="49" charset="0"/>
              </a:rPr>
              <a:t> routing 10.1.34.4</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OSPF Process 1 with Router ID 10.1.1.1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Destination :	10.1.34.0/24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AdverRouter</a:t>
            </a:r>
            <a:r>
              <a:rPr lang="en-US" altLang="zh-CN" sz="1400" dirty="0">
                <a:solidFill>
                  <a:prstClr val="black"/>
                </a:solidFill>
                <a:cs typeface="Courier New" panose="02070309020205020404" pitchFamily="49" charset="0"/>
              </a:rPr>
              <a:t> :	10.1.4.4	Area :	0.0.0.0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Cost :		15	Type :	Transit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		10.1.13.3	Interface :	GigabitEthernet0/0/0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Priority :		Low 	Age :	00h01m59s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a:t>
            </a:r>
            <a:r>
              <a:rPr lang="en-US" altLang="zh-CN" sz="1400" dirty="0">
                <a:solidFill>
                  <a:srgbClr val="C7000B"/>
                </a:solidFill>
                <a:cs typeface="Courier New" panose="02070309020205020404" pitchFamily="49" charset="0"/>
              </a:rPr>
              <a:t>Backup </a:t>
            </a:r>
            <a:r>
              <a:rPr lang="en-US" altLang="zh-CN" sz="1400" dirty="0" err="1">
                <a:solidFill>
                  <a:srgbClr val="C7000B"/>
                </a:solidFill>
                <a:cs typeface="Courier New" panose="02070309020205020404" pitchFamily="49" charset="0"/>
              </a:rPr>
              <a:t>Nexthop</a:t>
            </a:r>
            <a:r>
              <a:rPr lang="en-US" altLang="zh-CN" sz="1400" dirty="0">
                <a:solidFill>
                  <a:srgbClr val="C7000B"/>
                </a:solidFill>
                <a:cs typeface="Courier New" panose="02070309020205020404" pitchFamily="49" charset="0"/>
              </a:rPr>
              <a:t> :	10.1.12.2	Backup Interface:GigabitEthernet0/0/1</a:t>
            </a:r>
            <a:endParaRPr lang="en-US" altLang="zh-CN" sz="1400" dirty="0">
              <a:solidFill>
                <a:srgbClr val="C7000B"/>
              </a:solidFill>
              <a:cs typeface="Courier New" panose="02070309020205020404" pitchFamily="49" charset="0"/>
            </a:endParaRPr>
          </a:p>
          <a:p>
            <a:pPr fontAlgn="auto">
              <a:spcBef>
                <a:spcPts val="0"/>
              </a:spcBef>
              <a:spcAft>
                <a:spcPts val="0"/>
              </a:spcAft>
            </a:pPr>
            <a:r>
              <a:rPr lang="en-US" altLang="zh-CN" sz="1400" dirty="0">
                <a:solidFill>
                  <a:srgbClr val="C7000B"/>
                </a:solidFill>
                <a:cs typeface="Courier New" panose="02070309020205020404" pitchFamily="49" charset="0"/>
              </a:rPr>
              <a:t> Backup Type :	LFA LINK  </a:t>
            </a:r>
            <a:endParaRPr lang="en-US" altLang="zh-CN" sz="1400" dirty="0">
              <a:solidFill>
                <a:srgbClr val="C7000B"/>
              </a:solidFill>
              <a:cs typeface="Courier New" panose="02070309020205020404" pitchFamily="49" charset="0"/>
            </a:endParaRPr>
          </a:p>
        </p:txBody>
      </p:sp>
      <p:sp>
        <p:nvSpPr>
          <p:cNvPr id="34" name="矩形 33"/>
          <p:cNvSpPr/>
          <p:nvPr/>
        </p:nvSpPr>
        <p:spPr bwMode="gray">
          <a:xfrm>
            <a:off x="8686800" y="4952515"/>
            <a:ext cx="3059112" cy="720438"/>
          </a:xfrm>
          <a:prstGeom prst="rect">
            <a:avLst/>
          </a:prstGeom>
          <a:solidFill>
            <a:srgbClr val="FFF8E5"/>
          </a:solidFill>
          <a:ln w="12700">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5000"/>
              </a:lnSpc>
            </a:pPr>
            <a:r>
              <a:rPr lang="zh-CN" altLang="en-US" sz="1600" dirty="0">
                <a:solidFill>
                  <a:schemeClr val="tx1"/>
                </a:solidFill>
                <a:latin typeface="Huawei Sans" panose="020C0503030203020204" pitchFamily="34" charset="0"/>
                <a:ea typeface="方正兰亭黑简体" panose="02000000000000000000" pitchFamily="2" charset="-122"/>
              </a:rPr>
              <a:t>由于</a:t>
            </a:r>
            <a:r>
              <a:rPr lang="en-US" altLang="zh-CN" sz="1600" dirty="0">
                <a:solidFill>
                  <a:schemeClr val="tx1"/>
                </a:solidFill>
                <a:latin typeface="Huawei Sans" panose="020C0503030203020204" pitchFamily="34" charset="0"/>
                <a:ea typeface="方正兰亭黑简体" panose="02000000000000000000" pitchFamily="2" charset="-122"/>
              </a:rPr>
              <a:t>R1</a:t>
            </a:r>
            <a:r>
              <a:rPr lang="zh-CN" altLang="en-US" sz="1600" dirty="0">
                <a:solidFill>
                  <a:schemeClr val="tx1"/>
                </a:solidFill>
                <a:latin typeface="Huawei Sans" panose="020C0503030203020204" pitchFamily="34" charset="0"/>
                <a:ea typeface="方正兰亭黑简体" panose="02000000000000000000" pitchFamily="2" charset="-122"/>
              </a:rPr>
              <a:t>使能了</a:t>
            </a:r>
            <a:r>
              <a:rPr lang="en-US" altLang="zh-CN" sz="1600" dirty="0">
                <a:solidFill>
                  <a:schemeClr val="tx1"/>
                </a:solidFill>
                <a:latin typeface="Huawei Sans" panose="020C0503030203020204" pitchFamily="34" charset="0"/>
                <a:ea typeface="方正兰亭黑简体" panose="02000000000000000000" pitchFamily="2" charset="-122"/>
              </a:rPr>
              <a:t>OSPF IP FRR</a:t>
            </a:r>
            <a:r>
              <a:rPr lang="zh-CN" altLang="en-US" sz="1600" dirty="0">
                <a:solidFill>
                  <a:schemeClr val="tx1"/>
                </a:solidFill>
                <a:latin typeface="Huawei Sans" panose="020C0503030203020204" pitchFamily="34" charset="0"/>
                <a:ea typeface="方正兰亭黑简体" panose="02000000000000000000" pitchFamily="2" charset="-122"/>
              </a:rPr>
              <a:t>功能，</a:t>
            </a:r>
            <a:r>
              <a:rPr lang="en-US" altLang="zh-CN" sz="1600" dirty="0">
                <a:solidFill>
                  <a:schemeClr val="tx1"/>
                </a:solidFill>
                <a:latin typeface="Huawei Sans" panose="020C0503030203020204" pitchFamily="34" charset="0"/>
                <a:ea typeface="方正兰亭黑简体" panose="02000000000000000000" pitchFamily="2" charset="-122"/>
              </a:rPr>
              <a:t>OSPF</a:t>
            </a:r>
            <a:r>
              <a:rPr lang="zh-CN" altLang="en-US" sz="1600" dirty="0">
                <a:solidFill>
                  <a:schemeClr val="tx1"/>
                </a:solidFill>
                <a:latin typeface="Huawei Sans" panose="020C0503030203020204" pitchFamily="34" charset="0"/>
                <a:ea typeface="方正兰亭黑简体" panose="02000000000000000000" pitchFamily="2" charset="-122"/>
              </a:rPr>
              <a:t>生成了一条备份链路。</a:t>
            </a:r>
            <a:endParaRPr lang="zh-CN" altLang="en-US" sz="1600" dirty="0">
              <a:solidFill>
                <a:schemeClr val="tx1"/>
              </a:solidFill>
              <a:latin typeface="Huawei Sans" panose="020C0503030203020204" pitchFamily="34" charset="0"/>
              <a:ea typeface="方正兰亭黑简体" panose="02000000000000000000" pitchFamily="2" charset="-122"/>
            </a:endParaRPr>
          </a:p>
        </p:txBody>
      </p:sp>
      <p:cxnSp>
        <p:nvCxnSpPr>
          <p:cNvPr id="35" name="直接箭头连接符 34"/>
          <p:cNvCxnSpPr>
            <a:stCxn id="34" idx="1"/>
          </p:cNvCxnSpPr>
          <p:nvPr/>
        </p:nvCxnSpPr>
        <p:spPr bwMode="gray">
          <a:xfrm flipH="1" flipV="1">
            <a:off x="8010154" y="4722407"/>
            <a:ext cx="676646" cy="590327"/>
          </a:xfrm>
          <a:prstGeom prst="straightConnector1">
            <a:avLst/>
          </a:prstGeom>
          <a:ln w="19050">
            <a:solidFill>
              <a:srgbClr val="FDD351"/>
            </a:solidFill>
            <a:tailEnd type="triangle"/>
          </a:ln>
        </p:spPr>
        <p:style>
          <a:lnRef idx="1">
            <a:schemeClr val="accent1"/>
          </a:lnRef>
          <a:fillRef idx="0">
            <a:schemeClr val="accent1"/>
          </a:fillRef>
          <a:effectRef idx="0">
            <a:schemeClr val="accent1"/>
          </a:effectRef>
          <a:fontRef idx="minor">
            <a:schemeClr val="tx1"/>
          </a:fontRef>
        </p:style>
      </p:cxnSp>
      <p:sp>
        <p:nvSpPr>
          <p:cNvPr id="37" name="五边形 36"/>
          <p:cNvSpPr/>
          <p:nvPr/>
        </p:nvSpPr>
        <p:spPr bwMode="gray">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gray">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gray">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gray">
          <a:xfrm>
            <a:off x="10214033" y="98112"/>
            <a:ext cx="72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gray">
          <a:xfrm>
            <a:off x="10849088" y="98112"/>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spcBef>
                <a:spcPts val="0"/>
              </a:spcBef>
              <a:defRPr/>
            </a:pP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674469" y="1098673"/>
            <a:ext cx="4630396" cy="2141251"/>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bwMode="gray">
          <a:xfrm>
            <a:off x="584475" y="2712740"/>
            <a:ext cx="910150" cy="523220"/>
          </a:xfrm>
          <a:prstGeom prst="rect">
            <a:avLst/>
          </a:prstGeom>
        </p:spPr>
        <p:txBody>
          <a:bodyPr wrap="square">
            <a:spAutoFit/>
          </a:bodyPr>
          <a:lstStyle/>
          <a:p>
            <a:pPr algn="ctr" fontAlgn="auto"/>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49" name="图片 48"/>
          <p:cNvPicPr/>
          <p:nvPr/>
        </p:nvPicPr>
        <p:blipFill>
          <a:blip r:embed="rId1" cstate="print">
            <a:extLst>
              <a:ext uri="{28A0092B-C50C-407E-A947-70E740481C1C}">
                <a14:useLocalDpi xmlns:a14="http://schemas.microsoft.com/office/drawing/2010/main" val="0"/>
              </a:ext>
            </a:extLst>
          </a:blip>
          <a:stretch>
            <a:fillRect/>
          </a:stretch>
        </p:blipFill>
        <p:spPr bwMode="gray">
          <a:xfrm>
            <a:off x="954625" y="1524651"/>
            <a:ext cx="540000" cy="442800"/>
          </a:xfrm>
          <a:prstGeom prst="rect">
            <a:avLst/>
          </a:prstGeom>
        </p:spPr>
      </p:pic>
      <p:pic>
        <p:nvPicPr>
          <p:cNvPr id="50" name="图片 49"/>
          <p:cNvPicPr/>
          <p:nvPr/>
        </p:nvPicPr>
        <p:blipFill>
          <a:blip r:embed="rId1" cstate="print">
            <a:extLst>
              <a:ext uri="{28A0092B-C50C-407E-A947-70E740481C1C}">
                <a14:useLocalDpi xmlns:a14="http://schemas.microsoft.com/office/drawing/2010/main" val="0"/>
              </a:ext>
            </a:extLst>
          </a:blip>
          <a:stretch>
            <a:fillRect/>
          </a:stretch>
        </p:blipFill>
        <p:spPr bwMode="gray">
          <a:xfrm>
            <a:off x="2778401" y="1524651"/>
            <a:ext cx="540000" cy="442800"/>
          </a:xfrm>
          <a:prstGeom prst="rect">
            <a:avLst/>
          </a:prstGeom>
        </p:spPr>
      </p:pic>
      <p:pic>
        <p:nvPicPr>
          <p:cNvPr id="51" name="图片 50"/>
          <p:cNvPicPr/>
          <p:nvPr/>
        </p:nvPicPr>
        <p:blipFill>
          <a:blip r:embed="rId1" cstate="print">
            <a:extLst>
              <a:ext uri="{28A0092B-C50C-407E-A947-70E740481C1C}">
                <a14:useLocalDpi xmlns:a14="http://schemas.microsoft.com/office/drawing/2010/main" val="0"/>
              </a:ext>
            </a:extLst>
          </a:blip>
          <a:stretch>
            <a:fillRect/>
          </a:stretch>
        </p:blipFill>
        <p:spPr bwMode="gray">
          <a:xfrm>
            <a:off x="1866513" y="2563742"/>
            <a:ext cx="540000" cy="442800"/>
          </a:xfrm>
          <a:prstGeom prst="rect">
            <a:avLst/>
          </a:prstGeom>
        </p:spPr>
      </p:pic>
      <p:pic>
        <p:nvPicPr>
          <p:cNvPr id="52" name="图片 51"/>
          <p:cNvPicPr/>
          <p:nvPr/>
        </p:nvPicPr>
        <p:blipFill>
          <a:blip r:embed="rId1" cstate="print">
            <a:extLst>
              <a:ext uri="{28A0092B-C50C-407E-A947-70E740481C1C}">
                <a14:useLocalDpi xmlns:a14="http://schemas.microsoft.com/office/drawing/2010/main" val="0"/>
              </a:ext>
            </a:extLst>
          </a:blip>
          <a:stretch>
            <a:fillRect/>
          </a:stretch>
        </p:blipFill>
        <p:spPr bwMode="gray">
          <a:xfrm>
            <a:off x="4602177" y="1524651"/>
            <a:ext cx="540000" cy="442800"/>
          </a:xfrm>
          <a:prstGeom prst="rect">
            <a:avLst/>
          </a:prstGeom>
        </p:spPr>
      </p:pic>
      <p:cxnSp>
        <p:nvCxnSpPr>
          <p:cNvPr id="53" name="直接连接符 52"/>
          <p:cNvCxnSpPr>
            <a:stCxn id="49" idx="3"/>
            <a:endCxn id="50" idx="1"/>
          </p:cNvCxnSpPr>
          <p:nvPr/>
        </p:nvCxnSpPr>
        <p:spPr bwMode="gray">
          <a:xfrm>
            <a:off x="1494625" y="1746051"/>
            <a:ext cx="12837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50" idx="3"/>
            <a:endCxn id="52" idx="1"/>
          </p:cNvCxnSpPr>
          <p:nvPr/>
        </p:nvCxnSpPr>
        <p:spPr bwMode="gray">
          <a:xfrm>
            <a:off x="3318401" y="1746051"/>
            <a:ext cx="12837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stCxn id="49" idx="2"/>
            <a:endCxn id="51" idx="1"/>
          </p:cNvCxnSpPr>
          <p:nvPr/>
        </p:nvCxnSpPr>
        <p:spPr bwMode="gray">
          <a:xfrm>
            <a:off x="1224625" y="1967451"/>
            <a:ext cx="641888"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a:stCxn id="51" idx="3"/>
            <a:endCxn id="50" idx="2"/>
          </p:cNvCxnSpPr>
          <p:nvPr/>
        </p:nvCxnSpPr>
        <p:spPr bwMode="gray">
          <a:xfrm flipV="1">
            <a:off x="2406513" y="1967451"/>
            <a:ext cx="641888"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矩形 56"/>
          <p:cNvSpPr/>
          <p:nvPr/>
        </p:nvSpPr>
        <p:spPr bwMode="gray">
          <a:xfrm>
            <a:off x="978763" y="12843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8" name="矩形 57"/>
          <p:cNvSpPr/>
          <p:nvPr/>
        </p:nvSpPr>
        <p:spPr bwMode="gray">
          <a:xfrm>
            <a:off x="1692638" y="1472030"/>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9" name="矩形 58"/>
          <p:cNvSpPr/>
          <p:nvPr/>
        </p:nvSpPr>
        <p:spPr bwMode="gray">
          <a:xfrm>
            <a:off x="3514630" y="1472030"/>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0" name="矩形 59"/>
          <p:cNvSpPr/>
          <p:nvPr/>
        </p:nvSpPr>
        <p:spPr bwMode="gray">
          <a:xfrm rot="3232528">
            <a:off x="1010966" y="2264141"/>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1" name="矩形 60"/>
          <p:cNvSpPr/>
          <p:nvPr/>
        </p:nvSpPr>
        <p:spPr bwMode="gray">
          <a:xfrm rot="18509869">
            <a:off x="2414857" y="2276931"/>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2" name="矩形 61"/>
          <p:cNvSpPr/>
          <p:nvPr/>
        </p:nvSpPr>
        <p:spPr bwMode="gray">
          <a:xfrm>
            <a:off x="1890651" y="29727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3" name="矩形 62"/>
          <p:cNvSpPr/>
          <p:nvPr/>
        </p:nvSpPr>
        <p:spPr bwMode="gray">
          <a:xfrm>
            <a:off x="2803443" y="12843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4" name="矩形 63"/>
          <p:cNvSpPr/>
          <p:nvPr/>
        </p:nvSpPr>
        <p:spPr bwMode="gray">
          <a:xfrm>
            <a:off x="4628123" y="128438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R4</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5" name="矩形 64"/>
          <p:cNvSpPr/>
          <p:nvPr/>
        </p:nvSpPr>
        <p:spPr bwMode="gray">
          <a:xfrm rot="3094825">
            <a:off x="1191333" y="2154994"/>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6" name="矩形 65"/>
          <p:cNvSpPr/>
          <p:nvPr/>
        </p:nvSpPr>
        <p:spPr bwMode="gray">
          <a:xfrm rot="18657368">
            <a:off x="2190124" y="2153048"/>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7" name="矩形 66"/>
          <p:cNvSpPr/>
          <p:nvPr/>
        </p:nvSpPr>
        <p:spPr bwMode="gray">
          <a:xfrm>
            <a:off x="3516414" y="176623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aphicFrame>
        <p:nvGraphicFramePr>
          <p:cNvPr id="68" name="表格 67"/>
          <p:cNvGraphicFramePr>
            <a:graphicFrameLocks noGrp="1"/>
          </p:cNvGraphicFramePr>
          <p:nvPr/>
        </p:nvGraphicFramePr>
        <p:xfrm>
          <a:off x="674469" y="3356410"/>
          <a:ext cx="4630397" cy="2743200"/>
        </p:xfrm>
        <a:graphic>
          <a:graphicData uri="http://schemas.openxmlformats.org/drawingml/2006/table">
            <a:tbl>
              <a:tblPr firstRow="1" bandRow="1"/>
              <a:tblGrid>
                <a:gridCol w="683987"/>
                <a:gridCol w="1315470"/>
                <a:gridCol w="1315470"/>
                <a:gridCol w="1315470"/>
              </a:tblGrid>
              <a:tr h="283456">
                <a:tc>
                  <a:txBody>
                    <a:bodyPr/>
                    <a:lstStyle/>
                    <a:p>
                      <a:pPr algn="ctr"/>
                      <a:r>
                        <a:rPr lang="zh-CN" altLang="en-US" sz="1400" b="1" dirty="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Router ID</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IP</a:t>
                      </a:r>
                      <a:r>
                        <a:rPr lang="zh-CN" altLang="en-US" sz="1400" b="1" dirty="0"/>
                        <a:t>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rowSpan="2">
                  <a:txBody>
                    <a:bodyPr/>
                    <a:lstStyle/>
                    <a:p>
                      <a:pPr algn="ctr"/>
                      <a:r>
                        <a:rPr lang="en-US" altLang="zh-CN" sz="1400" dirty="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rowSpan="2">
                  <a:txBody>
                    <a:bodyPr/>
                    <a:lstStyle/>
                    <a:p>
                      <a:pPr algn="ctr"/>
                      <a:r>
                        <a:rPr lang="en-US" altLang="zh-CN" sz="1400" dirty="0"/>
                        <a:t>10.1.1.1</a:t>
                      </a:r>
                      <a:endParaRPr lang="en-US" altLang="zh-CN" sz="1400" dirty="0">
                        <a:solidFill>
                          <a:schemeClr val="tx1"/>
                        </a:solidFill>
                      </a:endParaRPr>
                    </a:p>
                  </a:txBody>
                  <a:tcPr anchor="ctr"/>
                </a:tc>
                <a:tc>
                  <a:txBody>
                    <a:bodyPr/>
                    <a:lstStyle/>
                    <a:p>
                      <a:pPr algn="ctr"/>
                      <a:r>
                        <a:rPr lang="en-US" altLang="zh-CN" sz="1400" dirty="0"/>
                        <a:t>GE0/0/0</a:t>
                      </a:r>
                      <a:endParaRPr lang="en-US" altLang="zh-CN" sz="1400" dirty="0">
                        <a:solidFill>
                          <a:schemeClr val="tx1"/>
                        </a:solidFill>
                      </a:endParaRPr>
                    </a:p>
                  </a:txBody>
                  <a:tcPr anchor="ctr"/>
                </a:tc>
                <a:tc>
                  <a:txBody>
                    <a:bodyPr/>
                    <a:lstStyle/>
                    <a:p>
                      <a:pPr algn="l"/>
                      <a:r>
                        <a:rPr lang="en-US" altLang="zh-CN" sz="1400" dirty="0"/>
                        <a:t>10.1.13.1/24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2">
                  <a:txBody>
                    <a:bodyPr/>
                    <a:lstStyle/>
                    <a:p>
                      <a:pPr algn="ctr"/>
                      <a:r>
                        <a:rPr lang="en-US" altLang="zh-CN" sz="1400" dirty="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rowSpan="2">
                  <a:txBody>
                    <a:bodyPr/>
                    <a:lstStyle/>
                    <a:p>
                      <a:pPr algn="ctr"/>
                      <a:r>
                        <a:rPr lang="en-US" altLang="zh-CN" sz="1400" dirty="0"/>
                        <a:t>10.1.2.2</a:t>
                      </a:r>
                      <a:endParaRPr lang="zh-CN" altLang="en-US" sz="1400" dirty="0">
                        <a:solidFill>
                          <a:schemeClr val="tx1"/>
                        </a:solidFill>
                      </a:endParaRPr>
                    </a:p>
                  </a:txBody>
                  <a:tcPr anchor="ct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3">
                  <a:txBody>
                    <a:bodyPr/>
                    <a:lstStyle/>
                    <a:p>
                      <a:pPr algn="ctr"/>
                      <a:r>
                        <a:rPr lang="en-US" altLang="zh-CN" sz="1400" dirty="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rowSpan="3">
                  <a:txBody>
                    <a:bodyPr/>
                    <a:lstStyle/>
                    <a:p>
                      <a:pPr algn="ctr"/>
                      <a:r>
                        <a:rPr lang="en-US" altLang="zh-CN" sz="1400" dirty="0"/>
                        <a:t>10.1.3.3</a:t>
                      </a:r>
                      <a:endParaRPr lang="zh-CN" altLang="en-US" sz="1400" dirty="0">
                        <a:solidFill>
                          <a:schemeClr val="tx1"/>
                        </a:solidFill>
                      </a:endParaRPr>
                    </a:p>
                  </a:txBody>
                  <a:tcPr anchor="ctr"/>
                </a:tc>
                <a:tc>
                  <a:txBody>
                    <a:bodyPr/>
                    <a:lstStyle/>
                    <a:p>
                      <a:pPr algn="ctr"/>
                      <a:r>
                        <a:rPr lang="en-US" altLang="zh-CN" sz="1400" dirty="0"/>
                        <a:t>GE0/0/0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tc>
                <a:tc vMerge="1">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10.1.34.3/24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a:txBody>
                    <a:bodyPr/>
                    <a:lstStyle/>
                    <a:p>
                      <a:pPr algn="ctr"/>
                      <a:r>
                        <a:rPr lang="en-US" altLang="zh-CN" sz="1400" dirty="0"/>
                        <a:t>R4</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a:t>10.1.4.4</a:t>
                      </a:r>
                      <a:endParaRPr lang="zh-CN" altLang="en-US"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10.1.34.4/24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69" name="矩形 68"/>
          <p:cNvSpPr/>
          <p:nvPr/>
        </p:nvSpPr>
        <p:spPr bwMode="gray">
          <a:xfrm>
            <a:off x="1693303" y="170527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a:t>
            </a:r>
            <a:r>
              <a:rPr lang="zh-CN" altLang="en-US"/>
              <a:t>与</a:t>
            </a:r>
            <a:r>
              <a:rPr lang="en-US" altLang="zh-CN"/>
              <a:t>BFD</a:t>
            </a:r>
            <a:r>
              <a:rPr lang="zh-CN" altLang="en-US"/>
              <a:t>联动</a:t>
            </a:r>
            <a:endParaRPr lang="zh-CN" altLang="en-US" dirty="0"/>
          </a:p>
        </p:txBody>
      </p:sp>
      <p:sp>
        <p:nvSpPr>
          <p:cNvPr id="3" name="文本占位符 2"/>
          <p:cNvSpPr>
            <a:spLocks noGrp="1"/>
          </p:cNvSpPr>
          <p:nvPr>
            <p:ph type="body" sz="quarter" idx="10"/>
          </p:nvPr>
        </p:nvSpPr>
        <p:spPr>
          <a:xfrm>
            <a:off x="455612" y="1047750"/>
            <a:ext cx="11293475" cy="2036411"/>
          </a:xfrm>
        </p:spPr>
        <p:txBody>
          <a:bodyPr/>
          <a:lstStyle/>
          <a:p>
            <a:r>
              <a:rPr lang="zh-CN" altLang="en-US" sz="2000" dirty="0"/>
              <a:t>网络上的链路故障或拓扑变化都会导致设备重新进行路由计算，所以缩短路由协议的收敛时间对于提高网络的性能是非常重要的。</a:t>
            </a:r>
            <a:endParaRPr lang="zh-CN" altLang="en-US" sz="2000" dirty="0"/>
          </a:p>
          <a:p>
            <a:r>
              <a:rPr lang="en-US" altLang="zh-CN" sz="2000" dirty="0"/>
              <a:t>OSPF</a:t>
            </a:r>
            <a:r>
              <a:rPr lang="zh-CN" altLang="en-US" sz="2000" dirty="0"/>
              <a:t>与</a:t>
            </a:r>
            <a:r>
              <a:rPr lang="en-US" altLang="zh-CN" sz="2000" dirty="0"/>
              <a:t>BFD</a:t>
            </a:r>
            <a:r>
              <a:rPr lang="zh-CN" altLang="en-US" sz="2000" dirty="0"/>
              <a:t>联动就是将</a:t>
            </a:r>
            <a:r>
              <a:rPr lang="en-US" altLang="zh-CN" sz="2000" dirty="0"/>
              <a:t>BFD</a:t>
            </a:r>
            <a:r>
              <a:rPr lang="zh-CN" altLang="en-US" sz="2000" dirty="0"/>
              <a:t>和</a:t>
            </a:r>
            <a:r>
              <a:rPr lang="en-US" altLang="zh-CN" sz="2000" dirty="0"/>
              <a:t>OSPF</a:t>
            </a:r>
            <a:r>
              <a:rPr lang="zh-CN" altLang="en-US" sz="2000" dirty="0"/>
              <a:t>关联起来，一旦与邻居之间的链路出现故障，</a:t>
            </a:r>
            <a:r>
              <a:rPr lang="en-US" altLang="zh-CN" sz="2000" dirty="0"/>
              <a:t>BFD</a:t>
            </a:r>
            <a:r>
              <a:rPr lang="zh-CN" altLang="en-US" sz="2000" dirty="0"/>
              <a:t>对链路故障的快速感应能够加快</a:t>
            </a:r>
            <a:r>
              <a:rPr lang="en-US" altLang="zh-CN" sz="2000" dirty="0"/>
              <a:t>OSPF</a:t>
            </a:r>
            <a:r>
              <a:rPr lang="zh-CN" altLang="en-US" sz="2000" dirty="0"/>
              <a:t>对于网络拓扑变化的响应。</a:t>
            </a:r>
            <a:endParaRPr lang="en-US" altLang="zh-CN" sz="2000" dirty="0"/>
          </a:p>
        </p:txBody>
      </p:sp>
      <p:sp>
        <p:nvSpPr>
          <p:cNvPr id="4" name="矩形 3"/>
          <p:cNvSpPr/>
          <p:nvPr/>
        </p:nvSpPr>
        <p:spPr bwMode="gray">
          <a:xfrm>
            <a:off x="805229" y="3149820"/>
            <a:ext cx="4630396" cy="2656499"/>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882294" y="5357170"/>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2297048" y="3197702"/>
            <a:ext cx="1190308" cy="338554"/>
          </a:xfrm>
          <a:prstGeom prst="rect">
            <a:avLst/>
          </a:prstGeom>
        </p:spPr>
        <p:txBody>
          <a:bodyPr wrap="square">
            <a:spAutoFit/>
          </a:bodyPr>
          <a:lstStyle/>
          <a:p>
            <a:pPr algn="ctr" fontAlgn="auto"/>
            <a:r>
              <a:rPr lang="en-US" altLang="zh-CN" sz="1600" b="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BFD</a:t>
            </a:r>
            <a:endParaRPr lang="en-US" altLang="zh-CN" sz="1600" b="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文本占位符 2"/>
          <p:cNvSpPr txBox="1"/>
          <p:nvPr/>
        </p:nvSpPr>
        <p:spPr bwMode="auto">
          <a:xfrm>
            <a:off x="5603198" y="3149820"/>
            <a:ext cx="6141302" cy="2086975"/>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ctr">
              <a:buSzPct val="50000"/>
              <a:buFont typeface="Wingdings" panose="05000000000000000000" pitchFamily="2" charset="2"/>
              <a:buChar char="l"/>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OSPF</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BFD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联动工作原理：</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400" dirty="0"/>
              <a:t>三台设备（</a:t>
            </a:r>
            <a:r>
              <a:rPr lang="en-US" altLang="zh-CN" sz="1400" dirty="0"/>
              <a:t>R1</a:t>
            </a:r>
            <a:r>
              <a:rPr lang="zh-CN" altLang="en-US" sz="1400" dirty="0"/>
              <a:t>、</a:t>
            </a:r>
            <a:r>
              <a:rPr lang="en-US" altLang="zh-CN" sz="1400" dirty="0"/>
              <a:t>R2</a:t>
            </a:r>
            <a:r>
              <a:rPr lang="zh-CN" altLang="en-US" sz="1400" dirty="0"/>
              <a:t>、</a:t>
            </a:r>
            <a:r>
              <a:rPr lang="en-US" altLang="zh-CN" sz="1400" dirty="0"/>
              <a:t>R3</a:t>
            </a:r>
            <a:r>
              <a:rPr lang="zh-CN" altLang="en-US" sz="1400" dirty="0"/>
              <a:t>）间建立</a:t>
            </a:r>
            <a:r>
              <a:rPr lang="en-US" altLang="zh-CN" sz="1400" dirty="0"/>
              <a:t>OSPF</a:t>
            </a:r>
            <a:r>
              <a:rPr lang="zh-CN" altLang="en-US" sz="1400" dirty="0"/>
              <a:t>邻居关系。邻居状态到达</a:t>
            </a:r>
            <a:r>
              <a:rPr lang="en-US" altLang="zh-CN" sz="1400" dirty="0"/>
              <a:t>Full</a:t>
            </a:r>
            <a:r>
              <a:rPr lang="zh-CN" altLang="en-US" sz="1400" dirty="0"/>
              <a:t>时通知</a:t>
            </a:r>
            <a:r>
              <a:rPr lang="en-US" altLang="zh-CN" sz="1400" dirty="0"/>
              <a:t>BFD</a:t>
            </a:r>
            <a:r>
              <a:rPr lang="zh-CN" altLang="en-US" sz="1400" dirty="0"/>
              <a:t>建立</a:t>
            </a:r>
            <a:r>
              <a:rPr lang="en-US" altLang="zh-CN" sz="1400" dirty="0"/>
              <a:t>BFD</a:t>
            </a:r>
            <a:r>
              <a:rPr lang="zh-CN" altLang="en-US" sz="1400" dirty="0"/>
              <a:t>会话。</a:t>
            </a:r>
            <a:endParaRPr lang="zh-CN" altLang="en-US" sz="1400" dirty="0"/>
          </a:p>
          <a:p>
            <a:pPr lvl="1"/>
            <a:r>
              <a:rPr lang="en-US" altLang="zh-CN" sz="1400" dirty="0"/>
              <a:t>R1</a:t>
            </a:r>
            <a:r>
              <a:rPr lang="zh-CN" altLang="en-US" sz="1400" dirty="0"/>
              <a:t>到</a:t>
            </a:r>
            <a:r>
              <a:rPr lang="en-US" altLang="zh-CN" sz="1400" dirty="0"/>
              <a:t>R2</a:t>
            </a:r>
            <a:r>
              <a:rPr lang="zh-CN" altLang="en-US" sz="1400" dirty="0"/>
              <a:t>间的链路出现故障后，</a:t>
            </a:r>
            <a:r>
              <a:rPr lang="en-US" altLang="zh-CN" sz="1400" dirty="0"/>
              <a:t>BFD</a:t>
            </a:r>
            <a:r>
              <a:rPr lang="zh-CN" altLang="en-US" sz="1400" dirty="0"/>
              <a:t>首先感知到并通知</a:t>
            </a:r>
            <a:r>
              <a:rPr lang="en-US" altLang="zh-CN" sz="1400" dirty="0"/>
              <a:t>R1</a:t>
            </a:r>
            <a:r>
              <a:rPr lang="zh-CN" altLang="en-US" sz="1400" dirty="0"/>
              <a:t>。</a:t>
            </a:r>
            <a:r>
              <a:rPr lang="en-US" altLang="zh-CN" sz="1400" dirty="0"/>
              <a:t>R1</a:t>
            </a:r>
            <a:r>
              <a:rPr lang="zh-CN" altLang="en-US" sz="1400" dirty="0"/>
              <a:t>处理</a:t>
            </a:r>
            <a:r>
              <a:rPr lang="en-US" altLang="zh-CN" sz="1400" dirty="0"/>
              <a:t>BFD</a:t>
            </a:r>
            <a:r>
              <a:rPr lang="zh-CN" altLang="en-US" sz="1400" dirty="0"/>
              <a:t>会话</a:t>
            </a:r>
            <a:r>
              <a:rPr lang="en-US" altLang="zh-CN" sz="1400" dirty="0"/>
              <a:t>Down</a:t>
            </a:r>
            <a:r>
              <a:rPr lang="zh-CN" altLang="en-US" sz="1400" dirty="0"/>
              <a:t>事件，重新进行路由计算，新的路径为：</a:t>
            </a:r>
            <a:r>
              <a:rPr lang="en-US" altLang="zh-CN" sz="1400" dirty="0"/>
              <a:t>R1-R3-R2</a:t>
            </a:r>
            <a:r>
              <a:rPr lang="zh-CN" altLang="en-US" sz="1400" dirty="0"/>
              <a:t>。</a:t>
            </a:r>
            <a:endParaRPr lang="en-US" altLang="zh-CN" sz="1400" dirty="0"/>
          </a:p>
        </p:txBody>
      </p:sp>
      <p:pic>
        <p:nvPicPr>
          <p:cNvPr id="37" name="图片 36"/>
          <p:cNvPicPr/>
          <p:nvPr/>
        </p:nvPicPr>
        <p:blipFill>
          <a:blip r:embed="rId1" cstate="print">
            <a:extLst>
              <a:ext uri="{28A0092B-C50C-407E-A947-70E740481C1C}">
                <a14:useLocalDpi xmlns:a14="http://schemas.microsoft.com/office/drawing/2010/main" val="0"/>
              </a:ext>
            </a:extLst>
          </a:blip>
          <a:stretch>
            <a:fillRect/>
          </a:stretch>
        </p:blipFill>
        <p:spPr bwMode="gray">
          <a:xfrm>
            <a:off x="1011920" y="3805538"/>
            <a:ext cx="540000" cy="442800"/>
          </a:xfrm>
          <a:prstGeom prst="rect">
            <a:avLst/>
          </a:prstGeom>
        </p:spPr>
      </p:pic>
      <p:pic>
        <p:nvPicPr>
          <p:cNvPr id="39" name="图片 38"/>
          <p:cNvPicPr/>
          <p:nvPr/>
        </p:nvPicPr>
        <p:blipFill>
          <a:blip r:embed="rId1" cstate="print">
            <a:extLst>
              <a:ext uri="{28A0092B-C50C-407E-A947-70E740481C1C}">
                <a14:useLocalDpi xmlns:a14="http://schemas.microsoft.com/office/drawing/2010/main" val="0"/>
              </a:ext>
            </a:extLst>
          </a:blip>
          <a:stretch>
            <a:fillRect/>
          </a:stretch>
        </p:blipFill>
        <p:spPr bwMode="gray">
          <a:xfrm>
            <a:off x="2622202" y="4844629"/>
            <a:ext cx="540000" cy="442800"/>
          </a:xfrm>
          <a:prstGeom prst="rect">
            <a:avLst/>
          </a:prstGeom>
        </p:spPr>
      </p:pic>
      <p:pic>
        <p:nvPicPr>
          <p:cNvPr id="40" name="图片 39"/>
          <p:cNvPicPr/>
          <p:nvPr/>
        </p:nvPicPr>
        <p:blipFill>
          <a:blip r:embed="rId1" cstate="print">
            <a:extLst>
              <a:ext uri="{28A0092B-C50C-407E-A947-70E740481C1C}">
                <a14:useLocalDpi xmlns:a14="http://schemas.microsoft.com/office/drawing/2010/main" val="0"/>
              </a:ext>
            </a:extLst>
          </a:blip>
          <a:stretch>
            <a:fillRect/>
          </a:stretch>
        </p:blipFill>
        <p:spPr bwMode="gray">
          <a:xfrm>
            <a:off x="4243822" y="3805538"/>
            <a:ext cx="540000" cy="442800"/>
          </a:xfrm>
          <a:prstGeom prst="rect">
            <a:avLst/>
          </a:prstGeom>
        </p:spPr>
      </p:pic>
      <p:cxnSp>
        <p:nvCxnSpPr>
          <p:cNvPr id="41" name="直接连接符 40"/>
          <p:cNvCxnSpPr>
            <a:stCxn id="37" idx="3"/>
            <a:endCxn id="57" idx="1"/>
          </p:cNvCxnSpPr>
          <p:nvPr/>
        </p:nvCxnSpPr>
        <p:spPr bwMode="gray">
          <a:xfrm>
            <a:off x="1551920" y="4026938"/>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57" idx="3"/>
            <a:endCxn id="40" idx="1"/>
          </p:cNvCxnSpPr>
          <p:nvPr/>
        </p:nvCxnSpPr>
        <p:spPr bwMode="gray">
          <a:xfrm>
            <a:off x="3154446" y="4026938"/>
            <a:ext cx="108937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a:stCxn id="37" idx="2"/>
            <a:endCxn id="39" idx="1"/>
          </p:cNvCxnSpPr>
          <p:nvPr/>
        </p:nvCxnSpPr>
        <p:spPr bwMode="gray">
          <a:xfrm>
            <a:off x="1281920" y="4248338"/>
            <a:ext cx="1340282"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39" idx="3"/>
            <a:endCxn id="40" idx="2"/>
          </p:cNvCxnSpPr>
          <p:nvPr/>
        </p:nvCxnSpPr>
        <p:spPr bwMode="gray">
          <a:xfrm flipV="1">
            <a:off x="3162202" y="4248338"/>
            <a:ext cx="1351620"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gray">
          <a:xfrm>
            <a:off x="1036058" y="3565273"/>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0" name="矩形 49"/>
          <p:cNvSpPr/>
          <p:nvPr/>
        </p:nvSpPr>
        <p:spPr bwMode="gray">
          <a:xfrm>
            <a:off x="2646340" y="5236795"/>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1" name="矩形 50"/>
          <p:cNvSpPr/>
          <p:nvPr/>
        </p:nvSpPr>
        <p:spPr bwMode="gray">
          <a:xfrm>
            <a:off x="2646340" y="3565273"/>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2" name="矩形 51"/>
          <p:cNvSpPr/>
          <p:nvPr/>
        </p:nvSpPr>
        <p:spPr bwMode="gray">
          <a:xfrm>
            <a:off x="4269768" y="3565273"/>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53" name="直接连接符 52"/>
          <p:cNvCxnSpPr>
            <a:stCxn id="40" idx="3"/>
          </p:cNvCxnSpPr>
          <p:nvPr/>
        </p:nvCxnSpPr>
        <p:spPr bwMode="gray">
          <a:xfrm>
            <a:off x="4783822" y="4026938"/>
            <a:ext cx="49266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2614446" y="3805538"/>
            <a:ext cx="540000" cy="442800"/>
          </a:xfrm>
          <a:prstGeom prst="rect">
            <a:avLst/>
          </a:prstGeom>
        </p:spPr>
      </p:pic>
      <p:sp>
        <p:nvSpPr>
          <p:cNvPr id="60" name="任意多边形 59"/>
          <p:cNvSpPr/>
          <p:nvPr/>
        </p:nvSpPr>
        <p:spPr bwMode="gray">
          <a:xfrm>
            <a:off x="1551709" y="3492567"/>
            <a:ext cx="2632364" cy="291213"/>
          </a:xfrm>
          <a:custGeom>
            <a:avLst/>
            <a:gdLst>
              <a:gd name="connsiteX0" fmla="*/ 0 w 2632364"/>
              <a:gd name="connsiteY0" fmla="*/ 249650 h 291213"/>
              <a:gd name="connsiteX1" fmla="*/ 1330036 w 2632364"/>
              <a:gd name="connsiteY1" fmla="*/ 268 h 291213"/>
              <a:gd name="connsiteX2" fmla="*/ 2632364 w 2632364"/>
              <a:gd name="connsiteY2" fmla="*/ 291213 h 291213"/>
            </a:gdLst>
            <a:ahLst/>
            <a:cxnLst>
              <a:cxn ang="0">
                <a:pos x="connsiteX0" y="connsiteY0"/>
              </a:cxn>
              <a:cxn ang="0">
                <a:pos x="connsiteX1" y="connsiteY1"/>
              </a:cxn>
              <a:cxn ang="0">
                <a:pos x="connsiteX2" y="connsiteY2"/>
              </a:cxn>
            </a:cxnLst>
            <a:rect l="l" t="t" r="r" b="b"/>
            <a:pathLst>
              <a:path w="2632364" h="291213">
                <a:moveTo>
                  <a:pt x="0" y="249650"/>
                </a:moveTo>
                <a:cubicBezTo>
                  <a:pt x="445654" y="121495"/>
                  <a:pt x="891309" y="-6659"/>
                  <a:pt x="1330036" y="268"/>
                </a:cubicBezTo>
                <a:cubicBezTo>
                  <a:pt x="1768763" y="7195"/>
                  <a:pt x="2632364" y="291213"/>
                  <a:pt x="2632364" y="291213"/>
                </a:cubicBezTo>
              </a:path>
            </a:pathLst>
          </a:custGeom>
          <a:noFill/>
          <a:ln w="28575">
            <a:solidFill>
              <a:srgbClr val="C7000B"/>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五边形 31"/>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燕尾形 32"/>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10849088" y="98112"/>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a:t>
            </a:r>
            <a:r>
              <a:rPr lang="zh-CN" altLang="en-US"/>
              <a:t>与</a:t>
            </a:r>
            <a:r>
              <a:rPr lang="en-US" altLang="zh-CN"/>
              <a:t>BFD</a:t>
            </a:r>
            <a:r>
              <a:rPr lang="zh-CN" altLang="en-US"/>
              <a:t>联动的基础配置命令</a:t>
            </a:r>
            <a:endParaRPr lang="zh-CN" altLang="en-US" dirty="0"/>
          </a:p>
        </p:txBody>
      </p:sp>
      <p:sp>
        <p:nvSpPr>
          <p:cNvPr id="4" name="矩形 3"/>
          <p:cNvSpPr/>
          <p:nvPr/>
        </p:nvSpPr>
        <p:spPr>
          <a:xfrm>
            <a:off x="1031917" y="153228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bfd</a:t>
            </a:r>
            <a:r>
              <a:rPr lang="en-US" altLang="zh-CN" sz="1600" b="1" dirty="0"/>
              <a:t> all-interfaces</a:t>
            </a:r>
            <a:r>
              <a:rPr lang="en-US" altLang="zh-CN" sz="1600" dirty="0"/>
              <a:t> </a:t>
            </a:r>
            <a:r>
              <a:rPr lang="en-US" altLang="zh-CN" sz="1600" b="1" dirty="0"/>
              <a:t>enable</a:t>
            </a:r>
            <a:endParaRPr lang="zh-CN" altLang="en-US" sz="1600" dirty="0">
              <a:cs typeface="Courier New" panose="02070309020205020404" pitchFamily="49" charset="0"/>
            </a:endParaRPr>
          </a:p>
        </p:txBody>
      </p:sp>
      <p:sp>
        <p:nvSpPr>
          <p:cNvPr id="5" name="矩形 4"/>
          <p:cNvSpPr/>
          <p:nvPr/>
        </p:nvSpPr>
        <p:spPr>
          <a:xfrm>
            <a:off x="551384" y="1100136"/>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配置</a:t>
            </a:r>
            <a:r>
              <a:rPr lang="en-US" altLang="zh-CN" sz="1600" dirty="0">
                <a:cs typeface="Courier New" panose="02070309020205020404" pitchFamily="49" charset="0"/>
              </a:rPr>
              <a:t>OSPF</a:t>
            </a:r>
            <a:r>
              <a:rPr lang="zh-CN" altLang="en-US" sz="1600" dirty="0">
                <a:cs typeface="Courier New" panose="02070309020205020404" pitchFamily="49" charset="0"/>
              </a:rPr>
              <a:t>的</a:t>
            </a:r>
            <a:r>
              <a:rPr lang="en-US" altLang="zh-CN" sz="1600" dirty="0">
                <a:cs typeface="Courier New" panose="02070309020205020404" pitchFamily="49" charset="0"/>
              </a:rPr>
              <a:t>BFD</a:t>
            </a:r>
            <a:r>
              <a:rPr lang="zh-CN" altLang="en-US" sz="1600" dirty="0">
                <a:cs typeface="Courier New" panose="02070309020205020404" pitchFamily="49" charset="0"/>
              </a:rPr>
              <a:t>特性。</a:t>
            </a:r>
            <a:endParaRPr lang="zh-CN" altLang="en-US" sz="1600" dirty="0">
              <a:cs typeface="Courier New" panose="02070309020205020404" pitchFamily="49" charset="0"/>
            </a:endParaRPr>
          </a:p>
        </p:txBody>
      </p:sp>
      <p:sp>
        <p:nvSpPr>
          <p:cNvPr id="30" name="矩形 29"/>
          <p:cNvSpPr/>
          <p:nvPr/>
        </p:nvSpPr>
        <p:spPr>
          <a:xfrm>
            <a:off x="1031917" y="188549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进程下使能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BFD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特性。</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矩形 30"/>
          <p:cNvSpPr/>
          <p:nvPr/>
        </p:nvSpPr>
        <p:spPr>
          <a:xfrm>
            <a:off x="1031917" y="2371417"/>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bfd</a:t>
            </a:r>
            <a:r>
              <a:rPr lang="en-US" altLang="zh-CN" sz="1600" b="1" dirty="0"/>
              <a:t> all-interfaces</a:t>
            </a:r>
            <a:r>
              <a:rPr lang="en-US" altLang="zh-CN" sz="1600" dirty="0"/>
              <a:t> { </a:t>
            </a:r>
            <a:r>
              <a:rPr lang="en-US" altLang="zh-CN" sz="1600" b="1" dirty="0"/>
              <a:t>min-</a:t>
            </a:r>
            <a:r>
              <a:rPr lang="en-US" altLang="zh-CN" sz="1600" b="1" dirty="0" err="1"/>
              <a:t>rx</a:t>
            </a:r>
            <a:r>
              <a:rPr lang="en-US" altLang="zh-CN" sz="1600" b="1" dirty="0"/>
              <a:t>-interval</a:t>
            </a:r>
            <a:r>
              <a:rPr lang="en-US" altLang="zh-CN" sz="1600" dirty="0"/>
              <a:t> </a:t>
            </a:r>
            <a:r>
              <a:rPr lang="en-US" altLang="zh-CN" sz="1600" i="1" dirty="0"/>
              <a:t>receive-interval</a:t>
            </a:r>
            <a:r>
              <a:rPr lang="en-US" altLang="zh-CN" sz="1600" dirty="0"/>
              <a:t> | </a:t>
            </a:r>
            <a:r>
              <a:rPr lang="en-US" altLang="zh-CN" sz="1600" b="1" dirty="0"/>
              <a:t>min-</a:t>
            </a:r>
            <a:r>
              <a:rPr lang="en-US" altLang="zh-CN" sz="1600" b="1" dirty="0" err="1"/>
              <a:t>tx</a:t>
            </a:r>
            <a:r>
              <a:rPr lang="en-US" altLang="zh-CN" sz="1600" b="1" dirty="0"/>
              <a:t>-interval</a:t>
            </a:r>
            <a:r>
              <a:rPr lang="en-US" altLang="zh-CN" sz="1600" dirty="0"/>
              <a:t> </a:t>
            </a:r>
            <a:r>
              <a:rPr lang="en-US" altLang="zh-CN" sz="1600" i="1" dirty="0"/>
              <a:t>transmit-interval</a:t>
            </a:r>
            <a:r>
              <a:rPr lang="en-US" altLang="zh-CN" sz="1600" dirty="0"/>
              <a:t> | </a:t>
            </a:r>
            <a:r>
              <a:rPr lang="en-US" altLang="zh-CN" sz="1600" b="1" dirty="0"/>
              <a:t>detect-multiplier</a:t>
            </a:r>
            <a:r>
              <a:rPr lang="en-US" altLang="zh-CN" sz="1600" dirty="0"/>
              <a:t> </a:t>
            </a:r>
            <a:r>
              <a:rPr lang="en-US" altLang="zh-CN" sz="1600" i="1" dirty="0"/>
              <a:t>multiplier-value</a:t>
            </a:r>
            <a:r>
              <a:rPr lang="en-US" altLang="zh-CN" sz="1600" dirty="0"/>
              <a:t> | </a:t>
            </a:r>
            <a:r>
              <a:rPr lang="en-US" altLang="zh-CN" sz="1600" b="1" dirty="0" err="1"/>
              <a:t>frr</a:t>
            </a:r>
            <a:r>
              <a:rPr lang="en-US" altLang="zh-CN" sz="1600" b="1" dirty="0"/>
              <a:t>-binding</a:t>
            </a:r>
            <a:r>
              <a:rPr lang="en-US" altLang="zh-CN" sz="1600" dirty="0"/>
              <a:t> } </a:t>
            </a:r>
            <a:endParaRPr lang="zh-CN" altLang="en-US" sz="1600" dirty="0">
              <a:cs typeface="Courier New" panose="02070309020205020404" pitchFamily="49" charset="0"/>
            </a:endParaRPr>
          </a:p>
        </p:txBody>
      </p:sp>
      <p:sp>
        <p:nvSpPr>
          <p:cNvPr id="32" name="矩形 31"/>
          <p:cNvSpPr/>
          <p:nvPr/>
        </p:nvSpPr>
        <p:spPr>
          <a:xfrm>
            <a:off x="1031917" y="297401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BFD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会话的参数值。</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5" name="矩形 34"/>
          <p:cNvSpPr/>
          <p:nvPr/>
        </p:nvSpPr>
        <p:spPr>
          <a:xfrm>
            <a:off x="1031917" y="4261622"/>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[Huawei-GigabitEthernet0/0/1] </a:t>
            </a:r>
            <a:r>
              <a:rPr lang="en-US" altLang="zh-CN" sz="1600" b="1" dirty="0" err="1"/>
              <a:t>ospf</a:t>
            </a:r>
            <a:r>
              <a:rPr lang="en-US" altLang="zh-CN" sz="1600" b="1" dirty="0"/>
              <a:t> </a:t>
            </a:r>
            <a:r>
              <a:rPr lang="en-US" altLang="zh-CN" sz="1600" b="1" dirty="0" err="1"/>
              <a:t>bfd</a:t>
            </a:r>
            <a:r>
              <a:rPr lang="en-US" altLang="zh-CN" sz="1600" dirty="0"/>
              <a:t> </a:t>
            </a:r>
            <a:r>
              <a:rPr lang="en-US" altLang="zh-CN" sz="1600" b="1" dirty="0"/>
              <a:t>enable</a:t>
            </a:r>
            <a:endParaRPr lang="zh-CN" altLang="en-US" sz="1600" dirty="0">
              <a:cs typeface="Courier New" panose="02070309020205020404" pitchFamily="49" charset="0"/>
            </a:endParaRPr>
          </a:p>
        </p:txBody>
      </p:sp>
      <p:sp>
        <p:nvSpPr>
          <p:cNvPr id="43" name="矩形 42"/>
          <p:cNvSpPr/>
          <p:nvPr/>
        </p:nvSpPr>
        <p:spPr>
          <a:xfrm>
            <a:off x="551384" y="382947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配置指定接口的</a:t>
            </a:r>
            <a:r>
              <a:rPr lang="en-US" altLang="zh-CN" sz="1600" dirty="0">
                <a:cs typeface="Courier New" panose="02070309020205020404" pitchFamily="49" charset="0"/>
              </a:rPr>
              <a:t>BFD</a:t>
            </a:r>
            <a:r>
              <a:rPr lang="zh-CN" altLang="en-US" sz="1600" dirty="0">
                <a:cs typeface="Courier New" panose="02070309020205020404" pitchFamily="49" charset="0"/>
              </a:rPr>
              <a:t>特性。</a:t>
            </a:r>
            <a:endParaRPr lang="zh-CN" altLang="en-US" sz="1600" dirty="0">
              <a:cs typeface="Courier New" panose="02070309020205020404" pitchFamily="49" charset="0"/>
            </a:endParaRPr>
          </a:p>
        </p:txBody>
      </p:sp>
      <p:sp>
        <p:nvSpPr>
          <p:cNvPr id="47" name="矩形 46"/>
          <p:cNvSpPr/>
          <p:nvPr/>
        </p:nvSpPr>
        <p:spPr>
          <a:xfrm>
            <a:off x="1031917" y="4614832"/>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的特定接口下使能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BFD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特性。</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a:xfrm>
            <a:off x="1031917" y="5123504"/>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[Huawei-GigabitEthernet0/0/1] </a:t>
            </a:r>
            <a:r>
              <a:rPr lang="en-US" altLang="zh-CN" sz="1600" b="1" dirty="0" err="1"/>
              <a:t>ospf</a:t>
            </a:r>
            <a:r>
              <a:rPr lang="en-US" altLang="zh-CN" sz="1600" b="1" dirty="0"/>
              <a:t> </a:t>
            </a:r>
            <a:r>
              <a:rPr lang="en-US" altLang="zh-CN" sz="1600" b="1" dirty="0" err="1"/>
              <a:t>bfd</a:t>
            </a:r>
            <a:r>
              <a:rPr lang="en-US" altLang="zh-CN" sz="1600" dirty="0"/>
              <a:t> { </a:t>
            </a:r>
            <a:r>
              <a:rPr lang="en-US" altLang="zh-CN" sz="1600" b="1" dirty="0"/>
              <a:t>min-</a:t>
            </a:r>
            <a:r>
              <a:rPr lang="en-US" altLang="zh-CN" sz="1600" b="1" dirty="0" err="1"/>
              <a:t>rx</a:t>
            </a:r>
            <a:r>
              <a:rPr lang="en-US" altLang="zh-CN" sz="1600" b="1" dirty="0"/>
              <a:t>-interval</a:t>
            </a:r>
            <a:r>
              <a:rPr lang="en-US" altLang="zh-CN" sz="1600" dirty="0"/>
              <a:t> </a:t>
            </a:r>
            <a:r>
              <a:rPr lang="en-US" altLang="zh-CN" sz="1600" i="1" dirty="0"/>
              <a:t>receive-interval</a:t>
            </a:r>
            <a:r>
              <a:rPr lang="en-US" altLang="zh-CN" sz="1600" dirty="0"/>
              <a:t> | </a:t>
            </a:r>
            <a:r>
              <a:rPr lang="en-US" altLang="zh-CN" sz="1600" b="1" dirty="0"/>
              <a:t>min-</a:t>
            </a:r>
            <a:r>
              <a:rPr lang="en-US" altLang="zh-CN" sz="1600" b="1" dirty="0" err="1"/>
              <a:t>tx</a:t>
            </a:r>
            <a:r>
              <a:rPr lang="en-US" altLang="zh-CN" sz="1600" b="1" dirty="0"/>
              <a:t>-interval</a:t>
            </a:r>
            <a:r>
              <a:rPr lang="en-US" altLang="zh-CN" sz="1600" dirty="0"/>
              <a:t> </a:t>
            </a:r>
            <a:r>
              <a:rPr lang="en-US" altLang="zh-CN" sz="1600" i="1" dirty="0"/>
              <a:t>transmit-interval</a:t>
            </a:r>
            <a:r>
              <a:rPr lang="en-US" altLang="zh-CN" sz="1600" dirty="0"/>
              <a:t> | </a:t>
            </a:r>
            <a:r>
              <a:rPr lang="en-US" altLang="zh-CN" sz="1600" b="1" dirty="0"/>
              <a:t>detect-multiplier</a:t>
            </a:r>
            <a:r>
              <a:rPr lang="en-US" altLang="zh-CN" sz="1600" dirty="0"/>
              <a:t> </a:t>
            </a:r>
            <a:r>
              <a:rPr lang="en-US" altLang="zh-CN" sz="1600" i="1" dirty="0"/>
              <a:t>multiplier-value</a:t>
            </a:r>
            <a:r>
              <a:rPr lang="en-US" altLang="zh-CN" sz="1600" dirty="0"/>
              <a:t> | </a:t>
            </a:r>
            <a:r>
              <a:rPr lang="en-US" altLang="zh-CN" sz="1600" b="1" dirty="0" err="1"/>
              <a:t>frr</a:t>
            </a:r>
            <a:r>
              <a:rPr lang="en-US" altLang="zh-CN" sz="1600" b="1" dirty="0"/>
              <a:t>-binding</a:t>
            </a:r>
            <a:r>
              <a:rPr lang="en-US" altLang="zh-CN" sz="1600" dirty="0"/>
              <a:t> }</a:t>
            </a:r>
            <a:endParaRPr lang="zh-CN" altLang="en-US" sz="1600" dirty="0">
              <a:cs typeface="Courier New" panose="02070309020205020404" pitchFamily="49" charset="0"/>
            </a:endParaRPr>
          </a:p>
        </p:txBody>
      </p:sp>
      <p:sp>
        <p:nvSpPr>
          <p:cNvPr id="12" name="矩形 11"/>
          <p:cNvSpPr/>
          <p:nvPr/>
        </p:nvSpPr>
        <p:spPr>
          <a:xfrm>
            <a:off x="1031917" y="5726100"/>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的特定接口下配置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BFD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会话的参数值。</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五边形 22"/>
          <p:cNvSpPr/>
          <p:nvPr/>
        </p:nvSpPr>
        <p:spPr bwMode="auto">
          <a:xfrm>
            <a:off x="7948868" y="98112"/>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858392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PRC</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9218978" y="98112"/>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智能定时器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10214033" y="98112"/>
            <a:ext cx="72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FRR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10849088" y="98112"/>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BFD</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OSPF</a:t>
            </a:r>
            <a:r>
              <a:rPr lang="zh-CN" altLang="en-US" dirty="0">
                <a:solidFill>
                  <a:schemeClr val="bg1">
                    <a:lumMod val="50000"/>
                  </a:schemeClr>
                </a:solidFill>
              </a:rPr>
              <a:t>快速收敛</a:t>
            </a:r>
            <a:endParaRPr lang="en-US" altLang="zh-CN" dirty="0">
              <a:solidFill>
                <a:schemeClr val="bg1">
                  <a:lumMod val="50000"/>
                </a:schemeClr>
              </a:solidFill>
            </a:endParaRPr>
          </a:p>
          <a:p>
            <a:r>
              <a:rPr lang="en-US" altLang="zh-CN" b="1" dirty="0"/>
              <a:t>OSPF</a:t>
            </a:r>
            <a:r>
              <a:rPr lang="zh-CN" altLang="en-US" b="1" dirty="0"/>
              <a:t>路由控制</a:t>
            </a:r>
            <a:endParaRPr lang="en-US" altLang="zh-CN" b="1" dirty="0"/>
          </a:p>
          <a:p>
            <a:r>
              <a:rPr lang="en-US" altLang="zh-CN" dirty="0">
                <a:solidFill>
                  <a:schemeClr val="bg1">
                    <a:lumMod val="50000"/>
                  </a:schemeClr>
                </a:solidFill>
              </a:rPr>
              <a:t>OSPF</a:t>
            </a:r>
            <a:r>
              <a:rPr lang="zh-CN" altLang="en-US" dirty="0">
                <a:solidFill>
                  <a:schemeClr val="bg1">
                    <a:lumMod val="50000"/>
                  </a:schemeClr>
                </a:solidFill>
              </a:rPr>
              <a:t>其他特性</a:t>
            </a:r>
            <a:endParaRPr lang="en-US" altLang="zh-CN" dirty="0">
              <a:solidFill>
                <a:schemeClr val="bg1">
                  <a:lumMod val="50000"/>
                </a:schemeClr>
              </a:solidFill>
            </a:endParaRPr>
          </a:p>
          <a:p>
            <a:r>
              <a:rPr lang="en-US" altLang="zh-CN" dirty="0">
                <a:solidFill>
                  <a:schemeClr val="bg1">
                    <a:lumMod val="50000"/>
                  </a:schemeClr>
                </a:solidFill>
              </a:rPr>
              <a:t>IS-IS</a:t>
            </a:r>
            <a:r>
              <a:rPr lang="zh-CN" altLang="en-US" dirty="0">
                <a:solidFill>
                  <a:schemeClr val="bg1">
                    <a:lumMod val="50000"/>
                  </a:schemeClr>
                </a:solidFill>
              </a:rPr>
              <a:t>高级特性</a:t>
            </a:r>
            <a:endParaRPr lang="zh-CN" altLang="en-US" dirty="0">
              <a:solidFill>
                <a:schemeClr val="bg1">
                  <a:lumMod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OSPF</a:t>
            </a:r>
            <a:r>
              <a:rPr lang="zh-CN" altLang="en-US"/>
              <a:t>路由控制概述</a:t>
            </a:r>
            <a:endParaRPr lang="zh-CN" altLang="en-US" dirty="0"/>
          </a:p>
        </p:txBody>
      </p:sp>
      <p:sp>
        <p:nvSpPr>
          <p:cNvPr id="4" name="文本占位符 3"/>
          <p:cNvSpPr>
            <a:spLocks noGrp="1"/>
          </p:cNvSpPr>
          <p:nvPr>
            <p:ph type="body" sz="quarter" idx="10"/>
          </p:nvPr>
        </p:nvSpPr>
        <p:spPr/>
        <p:txBody>
          <a:bodyPr/>
          <a:lstStyle/>
          <a:p>
            <a:r>
              <a:rPr lang="en-US" altLang="zh-CN" sz="2000" dirty="0"/>
              <a:t>OSPF</a:t>
            </a:r>
            <a:r>
              <a:rPr lang="zh-CN" altLang="en-US" sz="2000" dirty="0"/>
              <a:t>的路由控制包括：</a:t>
            </a:r>
            <a:endParaRPr lang="en-US" altLang="zh-CN" sz="2000" dirty="0"/>
          </a:p>
          <a:p>
            <a:pPr lvl="1"/>
            <a:r>
              <a:rPr lang="zh-CN" altLang="en-US" sz="1800" dirty="0"/>
              <a:t>调整</a:t>
            </a:r>
            <a:r>
              <a:rPr lang="en-US" altLang="zh-CN" sz="1800" dirty="0"/>
              <a:t>OSPF</a:t>
            </a:r>
            <a:r>
              <a:rPr lang="zh-CN" altLang="en-US" sz="1800" dirty="0"/>
              <a:t>的接口开销</a:t>
            </a:r>
            <a:endParaRPr lang="en-US" altLang="zh-CN" sz="1800" dirty="0"/>
          </a:p>
          <a:p>
            <a:pPr lvl="1"/>
            <a:r>
              <a:rPr lang="zh-CN" altLang="en-US" sz="1800" dirty="0"/>
              <a:t>设置等价路由</a:t>
            </a:r>
            <a:endParaRPr lang="en-US" altLang="zh-CN" sz="1800" dirty="0"/>
          </a:p>
          <a:p>
            <a:pPr lvl="1"/>
            <a:r>
              <a:rPr lang="zh-CN" altLang="en-US" sz="1800" dirty="0"/>
              <a:t>引入外部路由</a:t>
            </a:r>
            <a:endParaRPr lang="en-US" altLang="zh-CN" sz="1800" dirty="0"/>
          </a:p>
          <a:p>
            <a:pPr lvl="1"/>
            <a:r>
              <a:rPr lang="zh-CN" altLang="en-US" sz="1800" dirty="0"/>
              <a:t>路由聚合</a:t>
            </a:r>
            <a:endParaRPr lang="en-US" altLang="zh-CN" sz="1800" dirty="0"/>
          </a:p>
          <a:p>
            <a:pPr lvl="1"/>
            <a:r>
              <a:rPr lang="zh-CN" altLang="en-US" sz="1800" dirty="0"/>
              <a:t>缺省路由通告</a:t>
            </a:r>
            <a:endParaRPr lang="en-US" altLang="zh-CN" sz="1800" dirty="0"/>
          </a:p>
          <a:p>
            <a:pPr lvl="1"/>
            <a:r>
              <a:rPr lang="en-US" altLang="zh-CN" sz="1800" dirty="0"/>
              <a:t>Filter-Policy</a:t>
            </a:r>
            <a:endParaRPr lang="en-US" altLang="zh-CN" sz="1800" dirty="0"/>
          </a:p>
          <a:p>
            <a:pPr lvl="1"/>
            <a:r>
              <a:rPr lang="zh-CN" altLang="en-US" sz="1800" dirty="0"/>
              <a:t>对发送的</a:t>
            </a:r>
            <a:r>
              <a:rPr lang="en-US" altLang="zh-CN" sz="1800" dirty="0"/>
              <a:t>LSA</a:t>
            </a:r>
            <a:r>
              <a:rPr lang="zh-CN" altLang="en-US" sz="1800" dirty="0"/>
              <a:t>进行过滤</a:t>
            </a:r>
            <a:endParaRPr lang="en-US" altLang="zh-CN" sz="1800" dirty="0"/>
          </a:p>
          <a:p>
            <a:pPr lvl="1"/>
            <a:r>
              <a:rPr lang="zh-CN" altLang="en-US" sz="1800" dirty="0"/>
              <a:t>对</a:t>
            </a:r>
            <a:r>
              <a:rPr lang="en-US" altLang="zh-CN" sz="1800" dirty="0"/>
              <a:t>ABR</a:t>
            </a:r>
            <a:r>
              <a:rPr lang="zh-CN" altLang="en-US" sz="1800" dirty="0"/>
              <a:t> </a:t>
            </a:r>
            <a:r>
              <a:rPr lang="en-US" altLang="zh-CN" sz="1800" dirty="0"/>
              <a:t>Type3 LSA</a:t>
            </a:r>
            <a:r>
              <a:rPr lang="zh-CN" altLang="en-US" sz="1800" dirty="0"/>
              <a:t>进行过滤</a:t>
            </a:r>
            <a:endParaRPr lang="en-US" altLang="zh-CN" sz="1800" dirty="0"/>
          </a:p>
          <a:p>
            <a:pPr lvl="1"/>
            <a:r>
              <a:rPr lang="zh-CN" altLang="en-US" sz="1800" dirty="0"/>
              <a:t>设置</a:t>
            </a:r>
            <a:r>
              <a:rPr lang="en-US" altLang="zh-CN" sz="1800" dirty="0"/>
              <a:t>LSDB</a:t>
            </a:r>
            <a:r>
              <a:rPr lang="zh-CN" altLang="en-US" sz="1800" dirty="0"/>
              <a:t>中</a:t>
            </a:r>
            <a:r>
              <a:rPr lang="en-US" altLang="zh-CN" sz="1800" dirty="0"/>
              <a:t>External LSA</a:t>
            </a:r>
            <a:r>
              <a:rPr lang="zh-CN" altLang="en-US" sz="1800" dirty="0"/>
              <a:t>的最大数量</a:t>
            </a:r>
            <a:endParaRPr lang="zh-CN" altLang="en-US" sz="1800" dirty="0"/>
          </a:p>
        </p:txBody>
      </p:sp>
      <p:sp>
        <p:nvSpPr>
          <p:cNvPr id="5" name="五边形 4"/>
          <p:cNvSpPr/>
          <p:nvPr/>
        </p:nvSpPr>
        <p:spPr bwMode="auto">
          <a:xfrm>
            <a:off x="7781441" y="99511"/>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6"/>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auto">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等价路由</a:t>
            </a:r>
            <a:endParaRPr lang="zh-CN" altLang="en-US" dirty="0"/>
          </a:p>
        </p:txBody>
      </p:sp>
      <p:sp>
        <p:nvSpPr>
          <p:cNvPr id="3" name="文本占位符 2"/>
          <p:cNvSpPr>
            <a:spLocks noGrp="1"/>
          </p:cNvSpPr>
          <p:nvPr>
            <p:ph type="body" sz="quarter" idx="10"/>
          </p:nvPr>
        </p:nvSpPr>
        <p:spPr>
          <a:xfrm>
            <a:off x="455612" y="1047751"/>
            <a:ext cx="11293475" cy="1994904"/>
          </a:xfrm>
        </p:spPr>
        <p:txBody>
          <a:bodyPr/>
          <a:lstStyle/>
          <a:p>
            <a:r>
              <a:rPr lang="zh-CN" altLang="en-US" sz="2000" dirty="0"/>
              <a:t>当路由表中存在到达同一目的地址，且同一路由协议发现的多条路由时，若这几条路由的开销值也相同，那么这些路由就是等价路由，可以实现负载分担。</a:t>
            </a:r>
            <a:endParaRPr lang="en-US" altLang="zh-CN" sz="2000" dirty="0"/>
          </a:p>
          <a:p>
            <a:r>
              <a:rPr lang="zh-CN" altLang="en-US" sz="2000" dirty="0"/>
              <a:t>设备将按照负载分担的方式从多条等价路由发送报文到同一目的地址。</a:t>
            </a:r>
            <a:endParaRPr lang="en-US" altLang="zh-CN" sz="2000" dirty="0"/>
          </a:p>
          <a:p>
            <a:pPr marL="0" indent="0">
              <a:buNone/>
            </a:pPr>
            <a:r>
              <a:rPr lang="zh-CN" altLang="en-US" sz="1600" dirty="0"/>
              <a:t>     设置进行负载分担的等价路由的最大数量：</a:t>
            </a:r>
            <a:endParaRPr lang="en-US" altLang="zh-CN" sz="1600" dirty="0"/>
          </a:p>
        </p:txBody>
      </p:sp>
      <p:sp>
        <p:nvSpPr>
          <p:cNvPr id="4" name="矩形 3"/>
          <p:cNvSpPr/>
          <p:nvPr/>
        </p:nvSpPr>
        <p:spPr>
          <a:xfrm>
            <a:off x="868659" y="30426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maximum load-balancing</a:t>
            </a:r>
            <a:r>
              <a:rPr lang="en-US" altLang="zh-CN" sz="1600" dirty="0"/>
              <a:t> </a:t>
            </a:r>
            <a:r>
              <a:rPr lang="en-US" altLang="zh-CN" sz="1600" i="1" dirty="0"/>
              <a:t>number</a:t>
            </a:r>
            <a:endParaRPr lang="zh-CN" altLang="en-US" sz="1600" dirty="0">
              <a:cs typeface="Courier New" panose="02070309020205020404" pitchFamily="49" charset="0"/>
            </a:endParaRPr>
          </a:p>
        </p:txBody>
      </p:sp>
      <p:sp>
        <p:nvSpPr>
          <p:cNvPr id="11" name="五边形 10"/>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8413353"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等价路由配置举例</a:t>
            </a:r>
            <a:endParaRPr lang="zh-CN" altLang="en-US" dirty="0"/>
          </a:p>
        </p:txBody>
      </p:sp>
      <p:sp>
        <p:nvSpPr>
          <p:cNvPr id="3" name="文本占位符 2"/>
          <p:cNvSpPr>
            <a:spLocks noGrp="1"/>
          </p:cNvSpPr>
          <p:nvPr>
            <p:ph type="body" sz="quarter" idx="4294967295"/>
          </p:nvPr>
        </p:nvSpPr>
        <p:spPr>
          <a:xfrm>
            <a:off x="5103297" y="1097867"/>
            <a:ext cx="5964952" cy="787400"/>
          </a:xfrm>
        </p:spPr>
        <p:txBody>
          <a:bodyPr/>
          <a:lstStyle/>
          <a:p>
            <a:pPr marL="0" indent="0">
              <a:buNone/>
            </a:pPr>
            <a:r>
              <a:rPr lang="zh-CN" altLang="en-US" sz="1600" dirty="0"/>
              <a:t>通过配置，要求</a:t>
            </a:r>
            <a:r>
              <a:rPr lang="en-US" altLang="zh-CN" sz="1600" dirty="0"/>
              <a:t>R1</a:t>
            </a:r>
            <a:r>
              <a:rPr lang="zh-CN" altLang="en-US" sz="1600" dirty="0"/>
              <a:t>可以通过</a:t>
            </a:r>
            <a:r>
              <a:rPr lang="en-US" altLang="zh-CN" sz="1600" dirty="0"/>
              <a:t>R1-R3</a:t>
            </a:r>
            <a:r>
              <a:rPr lang="zh-CN" altLang="en-US" sz="1600" dirty="0"/>
              <a:t>路径访问</a:t>
            </a:r>
            <a:r>
              <a:rPr lang="en-US" altLang="zh-CN" sz="1600" dirty="0"/>
              <a:t>R3</a:t>
            </a:r>
            <a:r>
              <a:rPr lang="zh-CN" altLang="en-US" sz="1600" dirty="0"/>
              <a:t>的环回口地址，也可以通过</a:t>
            </a:r>
            <a:r>
              <a:rPr lang="en-US" altLang="zh-CN" sz="1600" dirty="0"/>
              <a:t>R1-R2-R3</a:t>
            </a:r>
            <a:r>
              <a:rPr lang="zh-CN" altLang="en-US" sz="1600" dirty="0"/>
              <a:t>路径访问</a:t>
            </a:r>
            <a:r>
              <a:rPr lang="en-US" altLang="zh-CN" sz="1600" dirty="0"/>
              <a:t>R3</a:t>
            </a:r>
            <a:r>
              <a:rPr lang="zh-CN" altLang="en-US" sz="1600" dirty="0"/>
              <a:t>的环回口地址。</a:t>
            </a:r>
            <a:endParaRPr lang="zh-CN" altLang="en-US" sz="1600" dirty="0"/>
          </a:p>
        </p:txBody>
      </p:sp>
      <p:sp>
        <p:nvSpPr>
          <p:cNvPr id="4" name="矩形 3"/>
          <p:cNvSpPr/>
          <p:nvPr/>
        </p:nvSpPr>
        <p:spPr bwMode="gray">
          <a:xfrm>
            <a:off x="892807" y="1255381"/>
            <a:ext cx="3843503" cy="2027547"/>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911498" y="2723769"/>
            <a:ext cx="910150" cy="523220"/>
          </a:xfrm>
          <a:prstGeom prst="rect">
            <a:avLst/>
          </a:prstGeom>
        </p:spPr>
        <p:txBody>
          <a:bodyPr wrap="square">
            <a:spAutoFit/>
          </a:bodyPr>
          <a:lstStyle/>
          <a:p>
            <a:pPr algn="ctr" fontAlgn="auto"/>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nvGrpSpPr>
          <p:cNvPr id="6" name="组合 5"/>
          <p:cNvGrpSpPr/>
          <p:nvPr/>
        </p:nvGrpSpPr>
        <p:grpSpPr bwMode="gray">
          <a:xfrm>
            <a:off x="1108641" y="1255381"/>
            <a:ext cx="3402865" cy="1984387"/>
            <a:chOff x="1407560" y="3964964"/>
            <a:chExt cx="3402865" cy="1984387"/>
          </a:xfrm>
        </p:grpSpPr>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407560" y="4205229"/>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270425" y="4205229"/>
              <a:ext cx="540000" cy="442800"/>
            </a:xfrm>
            <a:prstGeom prst="rect">
              <a:avLst/>
            </a:prstGeom>
          </p:spPr>
        </p:pic>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2838993" y="5244320"/>
              <a:ext cx="540000" cy="442800"/>
            </a:xfrm>
            <a:prstGeom prst="rect">
              <a:avLst/>
            </a:prstGeom>
          </p:spPr>
        </p:pic>
        <p:cxnSp>
          <p:nvCxnSpPr>
            <p:cNvPr id="10" name="直接连接符 9"/>
            <p:cNvCxnSpPr>
              <a:stCxn id="7" idx="3"/>
              <a:endCxn id="8" idx="1"/>
            </p:cNvCxnSpPr>
            <p:nvPr/>
          </p:nvCxnSpPr>
          <p:spPr bwMode="gray">
            <a:xfrm>
              <a:off x="1947560" y="4426629"/>
              <a:ext cx="2322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2"/>
              <a:endCxn id="9" idx="1"/>
            </p:cNvCxnSpPr>
            <p:nvPr/>
          </p:nvCxnSpPr>
          <p:spPr bwMode="gray">
            <a:xfrm>
              <a:off x="1677560" y="4648029"/>
              <a:ext cx="1161433"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9" idx="3"/>
              <a:endCxn id="8" idx="2"/>
            </p:cNvCxnSpPr>
            <p:nvPr/>
          </p:nvCxnSpPr>
          <p:spPr bwMode="gray">
            <a:xfrm flipV="1">
              <a:off x="3378993" y="4648029"/>
              <a:ext cx="1161432"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431698" y="396496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589010" y="41526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rot="2181066">
              <a:off x="1717839" y="49575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rot="19527687">
              <a:off x="3529820" y="50441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295467" y="396496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589675" y="4385854"/>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p:cNvSpPr/>
            <p:nvPr/>
          </p:nvSpPr>
          <p:spPr bwMode="gray">
            <a:xfrm rot="2148243">
              <a:off x="1876705" y="4815303"/>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bwMode="gray">
            <a:xfrm rot="19479832">
              <a:off x="3404773" y="4869478"/>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2863130" y="564157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graphicFrame>
        <p:nvGraphicFramePr>
          <p:cNvPr id="23" name="表格 22"/>
          <p:cNvGraphicFramePr>
            <a:graphicFrameLocks noGrp="1"/>
          </p:cNvGraphicFramePr>
          <p:nvPr/>
        </p:nvGraphicFramePr>
        <p:xfrm>
          <a:off x="926579" y="3512170"/>
          <a:ext cx="3809731" cy="2438400"/>
        </p:xfrm>
        <a:graphic>
          <a:graphicData uri="http://schemas.openxmlformats.org/drawingml/2006/table">
            <a:tbl>
              <a:tblPr firstRow="1" bandRow="1"/>
              <a:tblGrid>
                <a:gridCol w="786083"/>
                <a:gridCol w="1511824"/>
                <a:gridCol w="1511824"/>
              </a:tblGrid>
              <a:tr h="283456">
                <a:tc>
                  <a:txBody>
                    <a:bodyPr/>
                    <a:lstStyle/>
                    <a:p>
                      <a:pPr algn="ctr"/>
                      <a:r>
                        <a:rPr lang="zh-CN" altLang="en-US" sz="1400" b="1" dirty="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IP</a:t>
                      </a:r>
                      <a:r>
                        <a:rPr lang="zh-CN" altLang="en-US" sz="1400" b="1" dirty="0"/>
                        <a:t>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rowSpan="2">
                  <a:txBody>
                    <a:bodyPr/>
                    <a:lstStyle/>
                    <a:p>
                      <a:pPr algn="ctr"/>
                      <a:r>
                        <a:rPr lang="en-US" altLang="zh-CN" sz="1400" dirty="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a:t>GE0/0/0</a:t>
                      </a:r>
                      <a:endParaRPr lang="en-US" altLang="zh-CN" sz="1400" dirty="0">
                        <a:solidFill>
                          <a:schemeClr val="tx1"/>
                        </a:solidFill>
                      </a:endParaRPr>
                    </a:p>
                  </a:txBody>
                  <a:tcPr anchor="ctr"/>
                </a:tc>
                <a:tc>
                  <a:txBody>
                    <a:bodyPr/>
                    <a:lstStyle/>
                    <a:p>
                      <a:pPr algn="l"/>
                      <a:r>
                        <a:rPr lang="en-US" altLang="zh-CN" sz="1400" dirty="0"/>
                        <a:t>10.1.13.1/24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2">
                  <a:txBody>
                    <a:bodyPr/>
                    <a:lstStyle/>
                    <a:p>
                      <a:pPr algn="ctr"/>
                      <a:r>
                        <a:rPr lang="en-US" altLang="zh-CN" sz="1400" dirty="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3">
                  <a:txBody>
                    <a:bodyPr/>
                    <a:lstStyle/>
                    <a:p>
                      <a:pPr algn="ctr"/>
                      <a:r>
                        <a:rPr lang="en-US" altLang="zh-CN" sz="1400" dirty="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a:t>Loopback0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10.1.3.3/32</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26" name="文本框 31"/>
          <p:cNvSpPr txBox="1"/>
          <p:nvPr/>
        </p:nvSpPr>
        <p:spPr>
          <a:xfrm>
            <a:off x="5131477" y="2039820"/>
            <a:ext cx="4285147"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OSPF</a:t>
            </a:r>
            <a:r>
              <a:rPr lang="zh-CN" altLang="en-US" sz="1600" dirty="0">
                <a:solidFill>
                  <a:prstClr val="black"/>
                </a:solidFill>
              </a:rPr>
              <a:t>。（略）</a:t>
            </a:r>
            <a:endParaRPr lang="zh-CN" altLang="en-US" sz="1600" dirty="0">
              <a:solidFill>
                <a:prstClr val="black"/>
              </a:solidFill>
            </a:endParaRPr>
          </a:p>
        </p:txBody>
      </p:sp>
      <p:sp>
        <p:nvSpPr>
          <p:cNvPr id="27" name="文本框 32"/>
          <p:cNvSpPr txBox="1"/>
          <p:nvPr/>
        </p:nvSpPr>
        <p:spPr>
          <a:xfrm>
            <a:off x="5138102" y="2934051"/>
            <a:ext cx="6610985"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 </a:t>
            </a:r>
            <a:r>
              <a:rPr lang="en-US" altLang="zh-CN" sz="1400" b="1" dirty="0">
                <a:solidFill>
                  <a:prstClr val="black"/>
                </a:solidFill>
                <a:cs typeface="Courier New" panose="02070309020205020404" pitchFamily="49" charset="0"/>
              </a:rPr>
              <a:t>maximum load-balancing </a:t>
            </a:r>
            <a:r>
              <a:rPr lang="en-US" altLang="zh-CN" sz="1400" dirty="0">
                <a:solidFill>
                  <a:prstClr val="black"/>
                </a:solidFill>
                <a:cs typeface="Courier New" panose="02070309020205020404" pitchFamily="49" charset="0"/>
              </a:rPr>
              <a:t>2	</a:t>
            </a:r>
            <a:endParaRPr lang="en-US" altLang="zh-CN" sz="1400" dirty="0">
              <a:solidFill>
                <a:prstClr val="black"/>
              </a:solidFill>
              <a:cs typeface="Courier New" panose="02070309020205020404" pitchFamily="49" charset="0"/>
            </a:endParaRPr>
          </a:p>
        </p:txBody>
      </p:sp>
      <p:sp>
        <p:nvSpPr>
          <p:cNvPr id="28" name="文本框 33"/>
          <p:cNvSpPr txBox="1"/>
          <p:nvPr/>
        </p:nvSpPr>
        <p:spPr>
          <a:xfrm>
            <a:off x="5131477" y="2570862"/>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a:t>
            </a:r>
            <a:r>
              <a:rPr lang="en-US" altLang="zh-CN" sz="1600" dirty="0">
                <a:solidFill>
                  <a:prstClr val="black"/>
                </a:solidFill>
              </a:rPr>
              <a:t>R1</a:t>
            </a:r>
            <a:r>
              <a:rPr lang="zh-CN" altLang="en-US" sz="1600" dirty="0">
                <a:solidFill>
                  <a:prstClr val="black"/>
                </a:solidFill>
              </a:rPr>
              <a:t>配置路由负载分担。</a:t>
            </a:r>
            <a:endParaRPr lang="zh-CN" altLang="en-US" sz="1600" dirty="0">
              <a:solidFill>
                <a:prstClr val="black"/>
              </a:solidFill>
            </a:endParaRPr>
          </a:p>
        </p:txBody>
      </p:sp>
      <p:sp>
        <p:nvSpPr>
          <p:cNvPr id="29" name="文本框 32"/>
          <p:cNvSpPr txBox="1"/>
          <p:nvPr/>
        </p:nvSpPr>
        <p:spPr>
          <a:xfrm>
            <a:off x="5138102" y="4081393"/>
            <a:ext cx="6610986" cy="1600438"/>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[R1]display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 routing-table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Route Flags: R - relay, D - download to fib</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endParaRPr lang="en-US" altLang="zh-CN" sz="1400" dirty="0">
              <a:solidFill>
                <a:prstClr val="black"/>
              </a:solidFill>
              <a:cs typeface="Courier New" panose="02070309020205020404" pitchFamily="49" charset="0"/>
            </a:endParaRP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Destination/Mask 	Proto   Pre  Cost   Flags </a:t>
            </a:r>
            <a:r>
              <a:rPr lang="en-US" altLang="zh-CN" sz="1400"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Interface</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10.1.3.3/32		OSPF   10   10         D   10.1.13.3   GigabitEthernet0/0/0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OSPF   10   10         D   </a:t>
            </a:r>
            <a:r>
              <a:rPr lang="en-US" altLang="zh-CN" sz="1400">
                <a:solidFill>
                  <a:prstClr val="black"/>
                </a:solidFill>
                <a:cs typeface="Courier New" panose="02070309020205020404" pitchFamily="49" charset="0"/>
              </a:rPr>
              <a:t>10.1.12.2   GigabitEthernet0/0/1</a:t>
            </a:r>
            <a:endParaRPr lang="en-US" altLang="zh-CN" sz="1400" dirty="0">
              <a:solidFill>
                <a:prstClr val="black"/>
              </a:solidFill>
              <a:cs typeface="Courier New" panose="02070309020205020404" pitchFamily="49" charset="0"/>
            </a:endParaRPr>
          </a:p>
        </p:txBody>
      </p:sp>
      <p:sp>
        <p:nvSpPr>
          <p:cNvPr id="30" name="文本框 33"/>
          <p:cNvSpPr txBox="1"/>
          <p:nvPr/>
        </p:nvSpPr>
        <p:spPr>
          <a:xfrm>
            <a:off x="5131477" y="3742839"/>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、结果验证。</a:t>
            </a:r>
            <a:endParaRPr lang="zh-CN" altLang="en-US" sz="1600" dirty="0">
              <a:solidFill>
                <a:prstClr val="black"/>
              </a:solidFill>
            </a:endParaRPr>
          </a:p>
        </p:txBody>
      </p:sp>
      <p:sp>
        <p:nvSpPr>
          <p:cNvPr id="36" name="五边形 35"/>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8413353"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燕尾形 39"/>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缺省路由</a:t>
            </a:r>
            <a:endParaRPr lang="zh-CN" altLang="en-US" dirty="0"/>
          </a:p>
        </p:txBody>
      </p:sp>
      <p:sp>
        <p:nvSpPr>
          <p:cNvPr id="5" name="文本占位符 4"/>
          <p:cNvSpPr>
            <a:spLocks noGrp="1"/>
          </p:cNvSpPr>
          <p:nvPr>
            <p:ph type="body" sz="quarter" idx="10"/>
          </p:nvPr>
        </p:nvSpPr>
        <p:spPr>
          <a:xfrm>
            <a:off x="455612" y="1047751"/>
            <a:ext cx="11293475" cy="2821606"/>
          </a:xfrm>
        </p:spPr>
        <p:txBody>
          <a:bodyPr/>
          <a:lstStyle/>
          <a:p>
            <a:r>
              <a:rPr lang="en-US" altLang="zh-CN" sz="2000" dirty="0"/>
              <a:t>OSPF</a:t>
            </a:r>
            <a:r>
              <a:rPr lang="zh-CN" altLang="en-US" sz="2000" dirty="0"/>
              <a:t>实际组网应用中，区域边界和自治系统边界通常都是由多个路由器组成的多出口冗余备份或者负载分担。此时，为了减少路由表的容量，可以配置缺省路由，保证网络的高可用性。</a:t>
            </a:r>
            <a:endParaRPr lang="en-US" altLang="zh-CN" sz="2000" dirty="0"/>
          </a:p>
          <a:p>
            <a:r>
              <a:rPr lang="en-US" altLang="zh-CN" sz="2000" dirty="0"/>
              <a:t>OSPF</a:t>
            </a:r>
            <a:r>
              <a:rPr lang="zh-CN" altLang="en-US" sz="2000" dirty="0"/>
              <a:t>缺省路由通常应用于下面两种情况：</a:t>
            </a:r>
            <a:endParaRPr lang="zh-CN" altLang="en-US" sz="2000" dirty="0"/>
          </a:p>
          <a:p>
            <a:pPr lvl="1"/>
            <a:r>
              <a:rPr lang="zh-CN" altLang="en-US" sz="1800" dirty="0"/>
              <a:t>由区域边界路由器（</a:t>
            </a:r>
            <a:r>
              <a:rPr lang="en-US" altLang="zh-CN" sz="1800" dirty="0"/>
              <a:t>ABR</a:t>
            </a:r>
            <a:r>
              <a:rPr lang="zh-CN" altLang="en-US" sz="1800" dirty="0"/>
              <a:t>）发布</a:t>
            </a:r>
            <a:r>
              <a:rPr lang="en-US" altLang="zh-CN" sz="1800" dirty="0"/>
              <a:t>Type3 LSA</a:t>
            </a:r>
            <a:r>
              <a:rPr lang="zh-CN" altLang="en-US" sz="1800" dirty="0"/>
              <a:t>，用来指导区域内路由器进行区域之间报文的转发。</a:t>
            </a:r>
            <a:endParaRPr lang="zh-CN" altLang="en-US" sz="1800" dirty="0"/>
          </a:p>
          <a:p>
            <a:pPr lvl="1"/>
            <a:r>
              <a:rPr lang="zh-CN" altLang="en-US" sz="1800" dirty="0"/>
              <a:t>由自治系统边界路由器（</a:t>
            </a:r>
            <a:r>
              <a:rPr lang="en-US" altLang="zh-CN" sz="1800" dirty="0"/>
              <a:t>ASBR</a:t>
            </a:r>
            <a:r>
              <a:rPr lang="zh-CN" altLang="en-US" sz="1800" dirty="0"/>
              <a:t>）发布</a:t>
            </a:r>
            <a:r>
              <a:rPr lang="en-US" altLang="zh-CN" sz="1800" dirty="0"/>
              <a:t>Type5 LSA</a:t>
            </a:r>
            <a:r>
              <a:rPr lang="zh-CN" altLang="en-US" sz="1800" dirty="0"/>
              <a:t>或</a:t>
            </a:r>
            <a:r>
              <a:rPr lang="en-US" altLang="zh-CN" sz="1800" dirty="0"/>
              <a:t>Type7 LSA</a:t>
            </a:r>
            <a:r>
              <a:rPr lang="zh-CN" altLang="en-US" sz="1800" dirty="0"/>
              <a:t>，用来指导</a:t>
            </a:r>
            <a:r>
              <a:rPr lang="en-US" altLang="zh-CN" sz="1800" dirty="0"/>
              <a:t>OSPF</a:t>
            </a:r>
            <a:r>
              <a:rPr lang="zh-CN" altLang="en-US" sz="1800" dirty="0"/>
              <a:t>路由域内路由器进行域外报文的转发。</a:t>
            </a:r>
            <a:endParaRPr lang="en-US" altLang="zh-CN" sz="1800" dirty="0"/>
          </a:p>
        </p:txBody>
      </p:sp>
      <p:graphicFrame>
        <p:nvGraphicFramePr>
          <p:cNvPr id="6" name="表格 5"/>
          <p:cNvGraphicFramePr>
            <a:graphicFrameLocks noGrp="1"/>
          </p:cNvGraphicFramePr>
          <p:nvPr/>
        </p:nvGraphicFramePr>
        <p:xfrm>
          <a:off x="1304830" y="3983658"/>
          <a:ext cx="9582339" cy="2001520"/>
        </p:xfrm>
        <a:graphic>
          <a:graphicData uri="http://schemas.openxmlformats.org/drawingml/2006/table">
            <a:tbl>
              <a:tblPr firstRow="1" bandRow="1"/>
              <a:tblGrid>
                <a:gridCol w="1734339"/>
                <a:gridCol w="3960000"/>
                <a:gridCol w="1224000"/>
                <a:gridCol w="1440000"/>
                <a:gridCol w="1224000"/>
              </a:tblGrid>
              <a:tr h="370840">
                <a:tc>
                  <a:txBody>
                    <a:bodyPr/>
                    <a:lstStyle/>
                    <a:p>
                      <a:pPr algn="ctr"/>
                      <a:r>
                        <a:rPr lang="zh-CN" altLang="en-US" sz="1600" b="1" dirty="0"/>
                        <a:t>区域类型</a:t>
                      </a:r>
                      <a:endParaRPr lang="zh-CN" altLang="en-US" sz="16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a:t>产生条件</a:t>
                      </a:r>
                      <a:endParaRPr lang="zh-CN" altLang="en-US" sz="16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a:t>发布方式</a:t>
                      </a:r>
                      <a:endParaRPr lang="zh-CN" altLang="en-US" sz="16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a:t>产生</a:t>
                      </a:r>
                      <a:r>
                        <a:rPr lang="en-US" altLang="zh-CN" sz="1600" b="1" dirty="0"/>
                        <a:t>LSA</a:t>
                      </a:r>
                      <a:r>
                        <a:rPr lang="zh-CN" altLang="en-US" sz="1600" b="1" dirty="0"/>
                        <a:t>类型</a:t>
                      </a:r>
                      <a:endParaRPr lang="zh-CN" altLang="en-US" sz="16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600" b="1" dirty="0"/>
                        <a:t>泛洪范围</a:t>
                      </a:r>
                      <a:endParaRPr lang="zh-CN" altLang="en-US" sz="16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370840">
                <a:tc>
                  <a:txBody>
                    <a:bodyPr/>
                    <a:lstStyle/>
                    <a:p>
                      <a:pPr algn="ctr"/>
                      <a:r>
                        <a:rPr lang="zh-CN" altLang="en-US" sz="1400" dirty="0"/>
                        <a:t>普通区域</a:t>
                      </a:r>
                      <a:endParaRPr lang="zh-CN" altLang="en-US" sz="1400" dirty="0"/>
                    </a:p>
                  </a:txBody>
                  <a:tcPr anchor="ctr">
                    <a:lnL w="28575" cap="flat" cmpd="sng" algn="ctr">
                      <a:solidFill>
                        <a:schemeClr val="tx1"/>
                      </a:solidFill>
                      <a:prstDash val="solid"/>
                      <a:round/>
                      <a:headEnd type="none" w="med" len="med"/>
                      <a:tailEnd type="none" w="med" len="med"/>
                    </a:lnL>
                  </a:tcPr>
                </a:tc>
                <a:tc>
                  <a:txBody>
                    <a:bodyPr/>
                    <a:lstStyle/>
                    <a:p>
                      <a:r>
                        <a:rPr lang="zh-CN" altLang="en-US" sz="1400" dirty="0"/>
                        <a:t>通过</a:t>
                      </a:r>
                      <a:r>
                        <a:rPr lang="en-US" altLang="zh-CN" sz="1400" b="1" dirty="0"/>
                        <a:t>default-route-advertise</a:t>
                      </a:r>
                      <a:r>
                        <a:rPr lang="zh-CN" altLang="en-US" sz="1400" dirty="0"/>
                        <a:t>命令配置</a:t>
                      </a:r>
                      <a:endParaRPr lang="zh-CN" altLang="en-US" sz="1400" dirty="0"/>
                    </a:p>
                  </a:txBody>
                  <a:tcPr anchor="ctr"/>
                </a:tc>
                <a:tc>
                  <a:txBody>
                    <a:bodyPr/>
                    <a:lstStyle/>
                    <a:p>
                      <a:pPr algn="ctr"/>
                      <a:r>
                        <a:rPr lang="en-US" altLang="zh-CN" sz="1400" dirty="0"/>
                        <a:t>ASBR</a:t>
                      </a:r>
                      <a:r>
                        <a:rPr lang="zh-CN" altLang="en-US" sz="1400" dirty="0"/>
                        <a:t>发布</a:t>
                      </a:r>
                      <a:endParaRPr lang="zh-CN" altLang="en-US" sz="1400" dirty="0"/>
                    </a:p>
                  </a:txBody>
                  <a:tcPr anchor="ctr"/>
                </a:tc>
                <a:tc>
                  <a:txBody>
                    <a:bodyPr/>
                    <a:lstStyle/>
                    <a:p>
                      <a:pPr algn="ctr"/>
                      <a:r>
                        <a:rPr lang="en-US" altLang="zh-CN" sz="1400" dirty="0"/>
                        <a:t>Type5 LSA</a:t>
                      </a:r>
                      <a:endParaRPr lang="zh-CN" altLang="en-US" sz="1400" dirty="0"/>
                    </a:p>
                  </a:txBody>
                  <a:tcPr anchor="ctr"/>
                </a:tc>
                <a:tc>
                  <a:txBody>
                    <a:bodyPr/>
                    <a:lstStyle/>
                    <a:p>
                      <a:pPr algn="ctr"/>
                      <a:r>
                        <a:rPr lang="zh-CN" altLang="en-US" sz="1400" dirty="0"/>
                        <a:t>普通区域</a:t>
                      </a:r>
                      <a:endParaRPr lang="zh-CN" altLang="en-US" sz="1400" dirty="0"/>
                    </a:p>
                  </a:txBody>
                  <a:tcPr anchor="ctr">
                    <a:lnR w="28575" cap="flat" cmpd="sng" algn="ctr">
                      <a:solidFill>
                        <a:schemeClr val="tx1"/>
                      </a:solidFill>
                      <a:prstDash val="solid"/>
                      <a:round/>
                      <a:headEnd type="none" w="med" len="med"/>
                      <a:tailEnd type="none" w="med" len="med"/>
                    </a:lnR>
                  </a:tcPr>
                </a:tc>
              </a:tr>
              <a:tr h="370840">
                <a:tc>
                  <a:txBody>
                    <a:bodyPr/>
                    <a:lstStyle/>
                    <a:p>
                      <a:pPr algn="ctr"/>
                      <a:r>
                        <a:rPr lang="en-US" altLang="zh-CN" sz="1400" dirty="0"/>
                        <a:t>Stub</a:t>
                      </a:r>
                      <a:r>
                        <a:rPr lang="zh-CN" altLang="en-US" sz="1400" dirty="0"/>
                        <a:t>区域和</a:t>
                      </a:r>
                      <a:r>
                        <a:rPr lang="en-US" altLang="zh-CN" sz="1400" dirty="0"/>
                        <a:t>Totally Stub</a:t>
                      </a:r>
                      <a:r>
                        <a:rPr lang="zh-CN" altLang="en-US" sz="1400" dirty="0"/>
                        <a:t>区域</a:t>
                      </a:r>
                      <a:endParaRPr lang="zh-CN" altLang="en-US" sz="1400" dirty="0"/>
                    </a:p>
                  </a:txBody>
                  <a:tcPr anchor="ctr">
                    <a:lnL w="28575" cap="flat" cmpd="sng" algn="ctr">
                      <a:solidFill>
                        <a:schemeClr val="tx1"/>
                      </a:solidFill>
                      <a:prstDash val="solid"/>
                      <a:round/>
                      <a:headEnd type="none" w="med" len="med"/>
                      <a:tailEnd type="none" w="med" len="med"/>
                    </a:lnL>
                  </a:tcPr>
                </a:tc>
                <a:tc>
                  <a:txBody>
                    <a:bodyPr/>
                    <a:lstStyle/>
                    <a:p>
                      <a:r>
                        <a:rPr lang="zh-CN" altLang="en-US" sz="1400" dirty="0"/>
                        <a:t>自动产生</a:t>
                      </a:r>
                      <a:endParaRPr lang="zh-CN" altLang="en-US" sz="1400" dirty="0"/>
                    </a:p>
                  </a:txBody>
                  <a:tcPr anchor="ctr"/>
                </a:tc>
                <a:tc>
                  <a:txBody>
                    <a:bodyPr/>
                    <a:lstStyle/>
                    <a:p>
                      <a:pPr algn="ctr"/>
                      <a:r>
                        <a:rPr lang="en-US" altLang="zh-CN" sz="1400" dirty="0"/>
                        <a:t>ABR</a:t>
                      </a:r>
                      <a:r>
                        <a:rPr lang="zh-CN" altLang="en-US" sz="1400" dirty="0"/>
                        <a:t>发布</a:t>
                      </a:r>
                      <a:endParaRPr lang="zh-CN" altLang="en-US" sz="1400" dirty="0"/>
                    </a:p>
                  </a:txBody>
                  <a:tcPr anchor="ctr"/>
                </a:tc>
                <a:tc>
                  <a:txBody>
                    <a:bodyPr/>
                    <a:lstStyle/>
                    <a:p>
                      <a:pPr algn="ctr"/>
                      <a:r>
                        <a:rPr lang="en-US" altLang="zh-CN" sz="1400" dirty="0"/>
                        <a:t>Type3 LSA</a:t>
                      </a:r>
                      <a:endParaRPr lang="zh-CN" altLang="en-US" sz="1400" dirty="0"/>
                    </a:p>
                  </a:txBody>
                  <a:tcPr anchor="ctr"/>
                </a:tc>
                <a:tc>
                  <a:txBody>
                    <a:bodyPr/>
                    <a:lstStyle/>
                    <a:p>
                      <a:pPr algn="ctr"/>
                      <a:r>
                        <a:rPr lang="en-US" altLang="zh-CN" sz="1400" dirty="0"/>
                        <a:t>Stub</a:t>
                      </a:r>
                      <a:r>
                        <a:rPr lang="zh-CN" altLang="en-US" sz="1400" dirty="0"/>
                        <a:t>区域</a:t>
                      </a:r>
                      <a:endParaRPr lang="zh-CN" altLang="en-US" sz="1400" dirty="0"/>
                    </a:p>
                  </a:txBody>
                  <a:tcPr anchor="ctr">
                    <a:lnR w="28575" cap="flat" cmpd="sng" algn="ctr">
                      <a:solidFill>
                        <a:schemeClr val="tx1"/>
                      </a:solidFill>
                      <a:prstDash val="solid"/>
                      <a:round/>
                      <a:headEnd type="none" w="med" len="med"/>
                      <a:tailEnd type="none" w="med" len="med"/>
                    </a:lnR>
                  </a:tcPr>
                </a:tc>
              </a:tr>
              <a:tr h="370840">
                <a:tc>
                  <a:txBody>
                    <a:bodyPr/>
                    <a:lstStyle/>
                    <a:p>
                      <a:pPr algn="ctr"/>
                      <a:r>
                        <a:rPr lang="en-US" altLang="zh-CN" sz="1400" dirty="0"/>
                        <a:t>NSSA</a:t>
                      </a:r>
                      <a:r>
                        <a:rPr lang="zh-CN" altLang="en-US" sz="1400" dirty="0"/>
                        <a:t>区域</a:t>
                      </a:r>
                      <a:endParaRPr lang="zh-CN" altLang="en-US" sz="1400" dirty="0"/>
                    </a:p>
                  </a:txBody>
                  <a:tcPr anchor="ctr">
                    <a:lnL w="28575" cap="flat" cmpd="sng" algn="ctr">
                      <a:solidFill>
                        <a:schemeClr val="tx1"/>
                      </a:solidFill>
                      <a:prstDash val="solid"/>
                      <a:round/>
                      <a:headEnd type="none" w="med" len="med"/>
                      <a:tailEnd type="none" w="med" len="med"/>
                    </a:lnL>
                  </a:tcPr>
                </a:tc>
                <a:tc>
                  <a:txBody>
                    <a:bodyPr/>
                    <a:lstStyle/>
                    <a:p>
                      <a:r>
                        <a:rPr lang="zh-CN" altLang="en-US" sz="1400" dirty="0"/>
                        <a:t>通过</a:t>
                      </a:r>
                      <a:r>
                        <a:rPr lang="en-US" altLang="zh-CN" sz="1400" b="1" dirty="0"/>
                        <a:t>nssa [default-route-advertise]</a:t>
                      </a:r>
                      <a:r>
                        <a:rPr lang="zh-CN" altLang="en-US" sz="1400" b="0" dirty="0"/>
                        <a:t>命令配置</a:t>
                      </a:r>
                      <a:endParaRPr lang="zh-CN" altLang="en-US" sz="1400" b="0" dirty="0"/>
                    </a:p>
                  </a:txBody>
                  <a:tcPr anchor="ctr"/>
                </a:tc>
                <a:tc>
                  <a:txBody>
                    <a:bodyPr/>
                    <a:lstStyle/>
                    <a:p>
                      <a:pPr algn="ctr"/>
                      <a:r>
                        <a:rPr lang="en-US" altLang="zh-CN" sz="1400" dirty="0"/>
                        <a:t>ASBR</a:t>
                      </a:r>
                      <a:r>
                        <a:rPr lang="zh-CN" altLang="en-US" sz="1400" dirty="0"/>
                        <a:t>发布</a:t>
                      </a:r>
                      <a:endParaRPr lang="zh-CN" altLang="en-US" sz="1400" dirty="0"/>
                    </a:p>
                  </a:txBody>
                  <a:tcPr anchor="ctr"/>
                </a:tc>
                <a:tc>
                  <a:txBody>
                    <a:bodyPr/>
                    <a:lstStyle/>
                    <a:p>
                      <a:pPr algn="ctr"/>
                      <a:r>
                        <a:rPr lang="en-US" altLang="zh-CN" sz="1400" dirty="0"/>
                        <a:t>Type7 LSA</a:t>
                      </a:r>
                      <a:endParaRPr lang="zh-CN" altLang="en-US" sz="1400" dirty="0"/>
                    </a:p>
                  </a:txBody>
                  <a:tcPr anchor="ctr"/>
                </a:tc>
                <a:tc>
                  <a:txBody>
                    <a:bodyPr/>
                    <a:lstStyle/>
                    <a:p>
                      <a:pPr algn="ctr"/>
                      <a:r>
                        <a:rPr lang="en-US" altLang="zh-CN" sz="1400" dirty="0"/>
                        <a:t>NSSA</a:t>
                      </a:r>
                      <a:r>
                        <a:rPr lang="zh-CN" altLang="en-US" sz="1400" dirty="0"/>
                        <a:t>区域</a:t>
                      </a:r>
                      <a:endParaRPr lang="zh-CN" altLang="en-US" sz="1400" dirty="0"/>
                    </a:p>
                  </a:txBody>
                  <a:tcPr anchor="ctr">
                    <a:lnR w="28575" cap="flat" cmpd="sng" algn="ctr">
                      <a:solidFill>
                        <a:schemeClr val="tx1"/>
                      </a:solidFill>
                      <a:prstDash val="solid"/>
                      <a:round/>
                      <a:headEnd type="none" w="med" len="med"/>
                      <a:tailEnd type="none" w="med" len="med"/>
                    </a:lnR>
                  </a:tcPr>
                </a:tc>
              </a:tr>
              <a:tr h="370840">
                <a:tc>
                  <a:txBody>
                    <a:bodyPr/>
                    <a:lstStyle/>
                    <a:p>
                      <a:pPr algn="ctr"/>
                      <a:r>
                        <a:rPr lang="en-US" altLang="zh-CN" sz="1400" dirty="0"/>
                        <a:t>Totally NSSA</a:t>
                      </a:r>
                      <a:r>
                        <a:rPr lang="zh-CN" altLang="en-US" sz="1400" dirty="0"/>
                        <a:t>区域</a:t>
                      </a:r>
                      <a:endParaRPr lang="zh-CN" altLang="en-US" sz="1400" dirty="0"/>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r>
                        <a:rPr lang="zh-CN" altLang="en-US" sz="1400" dirty="0"/>
                        <a:t>自动产生</a:t>
                      </a:r>
                      <a:endParaRPr lang="zh-CN" altLang="en-US" sz="1400" dirty="0"/>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t>ABR</a:t>
                      </a:r>
                      <a:r>
                        <a:rPr lang="zh-CN" altLang="en-US" sz="1400" dirty="0"/>
                        <a:t>发布</a:t>
                      </a:r>
                      <a:endParaRPr lang="zh-CN" altLang="en-US" sz="1400" dirty="0"/>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t>Type3 LSA</a:t>
                      </a:r>
                      <a:endParaRPr lang="zh-CN" altLang="en-US" sz="1400" dirty="0"/>
                    </a:p>
                  </a:txBody>
                  <a:tcPr anchor="ctr">
                    <a:lnB w="28575" cap="flat" cmpd="sng" algn="ctr">
                      <a:solidFill>
                        <a:schemeClr val="tx1"/>
                      </a:solidFill>
                      <a:prstDash val="solid"/>
                      <a:round/>
                      <a:headEnd type="none" w="med" len="med"/>
                      <a:tailEnd type="none" w="med" len="med"/>
                    </a:lnB>
                  </a:tcPr>
                </a:tc>
                <a:tc>
                  <a:txBody>
                    <a:bodyPr/>
                    <a:lstStyle/>
                    <a:p>
                      <a:pPr algn="ctr"/>
                      <a:r>
                        <a:rPr lang="en-US" altLang="zh-CN" sz="1400" dirty="0"/>
                        <a:t>NSSA</a:t>
                      </a:r>
                      <a:r>
                        <a:rPr lang="zh-CN" altLang="en-US" sz="1400" dirty="0"/>
                        <a:t>区域</a:t>
                      </a:r>
                      <a:endParaRPr lang="zh-CN" altLang="en-US" sz="1400" dirty="0"/>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2" name="五边形 11"/>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9225265"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将缺省路由通告到</a:t>
            </a:r>
            <a:r>
              <a:rPr lang="en-US" altLang="zh-CN"/>
              <a:t>OSPF</a:t>
            </a:r>
            <a:r>
              <a:rPr lang="zh-CN" altLang="en-US"/>
              <a:t>路由区域</a:t>
            </a:r>
            <a:endParaRPr lang="zh-CN" altLang="en-US" dirty="0"/>
          </a:p>
        </p:txBody>
      </p:sp>
      <p:sp>
        <p:nvSpPr>
          <p:cNvPr id="3" name="文本占位符 2"/>
          <p:cNvSpPr>
            <a:spLocks noGrp="1"/>
          </p:cNvSpPr>
          <p:nvPr>
            <p:ph type="body" sz="quarter" idx="10"/>
          </p:nvPr>
        </p:nvSpPr>
        <p:spPr>
          <a:xfrm>
            <a:off x="455612" y="3716338"/>
            <a:ext cx="11293475" cy="2484437"/>
          </a:xfrm>
        </p:spPr>
        <p:txBody>
          <a:bodyPr/>
          <a:lstStyle/>
          <a:p>
            <a:r>
              <a:rPr lang="zh-CN" altLang="en-US" sz="1800" dirty="0"/>
              <a:t>注意：</a:t>
            </a:r>
            <a:endParaRPr lang="en-US" altLang="zh-CN" sz="1800" dirty="0"/>
          </a:p>
          <a:p>
            <a:pPr lvl="1"/>
            <a:r>
              <a:rPr lang="en-US" altLang="zh-CN" sz="1600" b="1" dirty="0"/>
              <a:t>import-route </a:t>
            </a:r>
            <a:r>
              <a:rPr lang="en-US" altLang="zh-CN" sz="1600" dirty="0"/>
              <a:t>(OSPF)</a:t>
            </a:r>
            <a:r>
              <a:rPr lang="zh-CN" altLang="en-US" sz="1600" dirty="0"/>
              <a:t>命令不能引入外部路由的缺省路由。当需要引入其他协议产生的缺省路由时，必须在</a:t>
            </a:r>
            <a:r>
              <a:rPr lang="en-US" altLang="zh-CN" sz="1600" dirty="0"/>
              <a:t>ASBR</a:t>
            </a:r>
            <a:r>
              <a:rPr lang="zh-CN" altLang="en-US" sz="1600" dirty="0"/>
              <a:t>上配置</a:t>
            </a:r>
            <a:r>
              <a:rPr lang="en-US" altLang="zh-CN" sz="1600" b="1" dirty="0"/>
              <a:t>default-route-advertise</a:t>
            </a:r>
            <a:r>
              <a:rPr lang="zh-CN" altLang="en-US" sz="1600" dirty="0"/>
              <a:t>命令，发布缺省路由到整个普通</a:t>
            </a:r>
            <a:r>
              <a:rPr lang="en-US" altLang="zh-CN" sz="1600" dirty="0"/>
              <a:t>OSPF</a:t>
            </a:r>
            <a:r>
              <a:rPr lang="zh-CN" altLang="en-US" sz="1600" dirty="0"/>
              <a:t>区域。</a:t>
            </a:r>
            <a:endParaRPr lang="en-US" altLang="zh-CN" sz="1600" dirty="0"/>
          </a:p>
          <a:p>
            <a:pPr lvl="1"/>
            <a:r>
              <a:rPr lang="en-US" altLang="zh-CN" sz="1600" dirty="0"/>
              <a:t>OSPF</a:t>
            </a:r>
            <a:r>
              <a:rPr lang="zh-CN" altLang="en-US" sz="1600" dirty="0"/>
              <a:t>路由域中在通告缺省路由前，会比较缺省路由的优先级。如果在某</a:t>
            </a:r>
            <a:r>
              <a:rPr lang="en-US" altLang="zh-CN" sz="1600" dirty="0"/>
              <a:t>OSPF</a:t>
            </a:r>
            <a:r>
              <a:rPr lang="zh-CN" altLang="en-US" sz="1600" dirty="0"/>
              <a:t>设备上同时配置了静态缺省路由，要使</a:t>
            </a:r>
            <a:r>
              <a:rPr lang="en-US" altLang="zh-CN" sz="1600" dirty="0"/>
              <a:t>OSPF</a:t>
            </a:r>
            <a:r>
              <a:rPr lang="zh-CN" altLang="en-US" sz="1600" dirty="0"/>
              <a:t>通告的缺省路由加入到当前的路由表中，则必须保证所配置的静态缺省路由的优先级比</a:t>
            </a:r>
            <a:r>
              <a:rPr lang="en-US" altLang="zh-CN" sz="1600" dirty="0"/>
              <a:t>OSPF</a:t>
            </a:r>
            <a:r>
              <a:rPr lang="zh-CN" altLang="en-US" sz="1600" dirty="0"/>
              <a:t>通告的缺省路由的优先级低。</a:t>
            </a:r>
            <a:endParaRPr lang="en-US" altLang="zh-CN" sz="1600" dirty="0"/>
          </a:p>
        </p:txBody>
      </p:sp>
      <p:sp>
        <p:nvSpPr>
          <p:cNvPr id="7" name="矩形 6"/>
          <p:cNvSpPr/>
          <p:nvPr/>
        </p:nvSpPr>
        <p:spPr>
          <a:xfrm>
            <a:off x="1031917" y="1466526"/>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default-route-advertise</a:t>
            </a:r>
            <a:r>
              <a:rPr lang="en-US" altLang="zh-CN" sz="1600" dirty="0"/>
              <a:t> [ [ </a:t>
            </a:r>
            <a:r>
              <a:rPr lang="en-US" altLang="zh-CN" sz="1600" b="1" dirty="0"/>
              <a:t>always</a:t>
            </a:r>
            <a:r>
              <a:rPr lang="en-US" altLang="zh-CN" sz="1600" dirty="0"/>
              <a:t> | </a:t>
            </a:r>
            <a:r>
              <a:rPr lang="en-US" altLang="zh-CN" sz="1600" b="1" dirty="0"/>
              <a:t>permit-calculate-other</a:t>
            </a:r>
            <a:r>
              <a:rPr lang="en-US" altLang="zh-CN" sz="1600" dirty="0"/>
              <a:t> ] | </a:t>
            </a:r>
            <a:r>
              <a:rPr lang="en-US" altLang="zh-CN" sz="1600" b="1" dirty="0"/>
              <a:t>cost</a:t>
            </a:r>
            <a:r>
              <a:rPr lang="en-US" altLang="zh-CN" sz="1600" dirty="0"/>
              <a:t> </a:t>
            </a:r>
            <a:r>
              <a:rPr lang="en-US" altLang="zh-CN" sz="1600" i="1" dirty="0" err="1"/>
              <a:t>cost</a:t>
            </a:r>
            <a:r>
              <a:rPr lang="en-US" altLang="zh-CN" sz="1600" dirty="0"/>
              <a:t> | </a:t>
            </a:r>
            <a:r>
              <a:rPr lang="en-US" altLang="zh-CN" sz="1600" b="1" dirty="0"/>
              <a:t>type</a:t>
            </a:r>
            <a:r>
              <a:rPr lang="en-US" altLang="zh-CN" sz="1600" dirty="0"/>
              <a:t> </a:t>
            </a:r>
            <a:r>
              <a:rPr lang="en-US" altLang="zh-CN" sz="1600" i="1" dirty="0" err="1"/>
              <a:t>type</a:t>
            </a:r>
            <a:r>
              <a:rPr lang="en-US" altLang="zh-CN" sz="1600" dirty="0"/>
              <a:t> | </a:t>
            </a:r>
            <a:r>
              <a:rPr lang="en-US" altLang="zh-CN" sz="1600" b="1" dirty="0"/>
              <a:t>route-policy</a:t>
            </a:r>
            <a:r>
              <a:rPr lang="en-US" altLang="zh-CN" sz="1600" dirty="0"/>
              <a:t> </a:t>
            </a:r>
            <a:r>
              <a:rPr lang="en-US" altLang="zh-CN" sz="1600" i="1" dirty="0"/>
              <a:t>route-policy-name</a:t>
            </a:r>
            <a:r>
              <a:rPr lang="en-US" altLang="zh-CN" sz="1600" dirty="0"/>
              <a:t> [ </a:t>
            </a:r>
            <a:r>
              <a:rPr lang="en-US" altLang="zh-CN" sz="1600" b="1" dirty="0"/>
              <a:t>match-any</a:t>
            </a:r>
            <a:r>
              <a:rPr lang="en-US" altLang="zh-CN" sz="1600" dirty="0"/>
              <a:t> ] ]</a:t>
            </a:r>
            <a:endParaRPr lang="zh-CN" altLang="en-US" sz="1600" dirty="0">
              <a:cs typeface="Courier New" panose="02070309020205020404" pitchFamily="49" charset="0"/>
            </a:endParaRPr>
          </a:p>
        </p:txBody>
      </p:sp>
      <p:sp>
        <p:nvSpPr>
          <p:cNvPr id="8" name="矩形 7"/>
          <p:cNvSpPr/>
          <p:nvPr/>
        </p:nvSpPr>
        <p:spPr>
          <a:xfrm>
            <a:off x="551384" y="1095342"/>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将缺省路由通告到普通</a:t>
            </a:r>
            <a:r>
              <a:rPr lang="en-US" altLang="zh-CN" sz="1600" dirty="0">
                <a:cs typeface="Courier New" panose="02070309020205020404" pitchFamily="49" charset="0"/>
              </a:rPr>
              <a:t>OSPF</a:t>
            </a:r>
            <a:r>
              <a:rPr lang="zh-CN" altLang="en-US" sz="1600" dirty="0">
                <a:cs typeface="Courier New" panose="02070309020205020404" pitchFamily="49" charset="0"/>
              </a:rPr>
              <a:t>区域。</a:t>
            </a:r>
            <a:endParaRPr lang="zh-CN" altLang="en-US" sz="1600" dirty="0">
              <a:cs typeface="Courier New" panose="02070309020205020404" pitchFamily="49" charset="0"/>
            </a:endParaRPr>
          </a:p>
        </p:txBody>
      </p:sp>
      <p:sp>
        <p:nvSpPr>
          <p:cNvPr id="9" name="矩形 8"/>
          <p:cNvSpPr/>
          <p:nvPr/>
        </p:nvSpPr>
        <p:spPr>
          <a:xfrm>
            <a:off x="1031917" y="2054110"/>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缺省情况下，在普通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区域内的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设备不产生缺省路由。</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a:xfrm>
            <a:off x="1031917" y="3149868"/>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default-route-advertise</a:t>
            </a:r>
            <a:r>
              <a:rPr lang="en-US" altLang="zh-CN" sz="1600" dirty="0"/>
              <a:t> </a:t>
            </a:r>
            <a:r>
              <a:rPr lang="en-US" altLang="zh-CN" sz="1600" b="1" dirty="0"/>
              <a:t>summary</a:t>
            </a:r>
            <a:r>
              <a:rPr lang="en-US" altLang="zh-CN" sz="1600" dirty="0"/>
              <a:t> </a:t>
            </a:r>
            <a:r>
              <a:rPr lang="en-US" altLang="zh-CN" sz="1600" b="1" dirty="0"/>
              <a:t>cost</a:t>
            </a:r>
            <a:r>
              <a:rPr lang="en-US" altLang="zh-CN" sz="1600" dirty="0"/>
              <a:t> </a:t>
            </a:r>
            <a:r>
              <a:rPr lang="en-US" altLang="zh-CN" sz="1600" i="1" dirty="0" err="1"/>
              <a:t>cost</a:t>
            </a:r>
            <a:endParaRPr lang="zh-CN" altLang="en-US" sz="1600" dirty="0">
              <a:cs typeface="Courier New" panose="02070309020205020404" pitchFamily="49" charset="0"/>
            </a:endParaRPr>
          </a:p>
        </p:txBody>
      </p:sp>
      <p:sp>
        <p:nvSpPr>
          <p:cNvPr id="13" name="矩形 12"/>
          <p:cNvSpPr/>
          <p:nvPr/>
        </p:nvSpPr>
        <p:spPr>
          <a:xfrm>
            <a:off x="551384" y="2778684"/>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指定</a:t>
            </a:r>
            <a:r>
              <a:rPr lang="en-US" altLang="zh-CN" sz="1600" dirty="0">
                <a:cs typeface="Courier New" panose="02070309020205020404" pitchFamily="49" charset="0"/>
              </a:rPr>
              <a:t>Type3 Summary-LSA</a:t>
            </a:r>
            <a:r>
              <a:rPr lang="zh-CN" altLang="en-US" sz="1600" dirty="0">
                <a:cs typeface="Courier New" panose="02070309020205020404" pitchFamily="49" charset="0"/>
              </a:rPr>
              <a:t>的缺省开销值。</a:t>
            </a:r>
            <a:endParaRPr lang="zh-CN" altLang="en-US" sz="1600" dirty="0">
              <a:cs typeface="Courier New" panose="02070309020205020404" pitchFamily="49" charset="0"/>
            </a:endParaRPr>
          </a:p>
        </p:txBody>
      </p:sp>
      <p:sp>
        <p:nvSpPr>
          <p:cNvPr id="17" name="五边形 16"/>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9225265"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对发送的</a:t>
            </a:r>
            <a:r>
              <a:rPr lang="en-US" altLang="zh-CN"/>
              <a:t>LSA</a:t>
            </a:r>
            <a:r>
              <a:rPr lang="zh-CN" altLang="en-US"/>
              <a:t>进行过滤</a:t>
            </a:r>
            <a:endParaRPr lang="zh-CN" altLang="en-US" dirty="0"/>
          </a:p>
        </p:txBody>
      </p:sp>
      <p:sp>
        <p:nvSpPr>
          <p:cNvPr id="3" name="文本占位符 2"/>
          <p:cNvSpPr>
            <a:spLocks noGrp="1"/>
          </p:cNvSpPr>
          <p:nvPr>
            <p:ph type="body" sz="quarter" idx="10"/>
          </p:nvPr>
        </p:nvSpPr>
        <p:spPr>
          <a:xfrm>
            <a:off x="455612" y="1047750"/>
            <a:ext cx="11293475" cy="2329193"/>
          </a:xfrm>
        </p:spPr>
        <p:txBody>
          <a:bodyPr/>
          <a:lstStyle/>
          <a:p>
            <a:r>
              <a:rPr lang="zh-CN" altLang="en-US" sz="2000" dirty="0"/>
              <a:t>当两台路由器之间存在多条链路时，可以在某些链路上通过对发送的</a:t>
            </a:r>
            <a:r>
              <a:rPr lang="en-US" altLang="zh-CN" sz="2000" dirty="0"/>
              <a:t>LSA</a:t>
            </a:r>
            <a:r>
              <a:rPr lang="zh-CN" altLang="en-US" sz="2000" dirty="0"/>
              <a:t>进行过滤，减少不必要的重传，节省带宽资源。</a:t>
            </a:r>
            <a:endParaRPr lang="en-US" altLang="zh-CN" sz="2000" dirty="0"/>
          </a:p>
          <a:p>
            <a:r>
              <a:rPr lang="zh-CN" altLang="en-US" sz="2000" dirty="0"/>
              <a:t>通过对</a:t>
            </a:r>
            <a:r>
              <a:rPr lang="en-US" altLang="zh-CN" sz="2000" dirty="0"/>
              <a:t>OSPF</a:t>
            </a:r>
            <a:r>
              <a:rPr lang="zh-CN" altLang="en-US" sz="2000" dirty="0"/>
              <a:t>接口出方向的</a:t>
            </a:r>
            <a:r>
              <a:rPr lang="en-US" altLang="zh-CN" sz="2000" dirty="0"/>
              <a:t>LSA</a:t>
            </a:r>
            <a:r>
              <a:rPr lang="zh-CN" altLang="en-US" sz="2000" dirty="0"/>
              <a:t>进行过滤可以不向邻居发送无用的</a:t>
            </a:r>
            <a:r>
              <a:rPr lang="en-US" altLang="zh-CN" sz="2000" dirty="0"/>
              <a:t>LSA</a:t>
            </a:r>
            <a:r>
              <a:rPr lang="zh-CN" altLang="en-US" sz="2000" dirty="0"/>
              <a:t>，从而减少邻居</a:t>
            </a:r>
            <a:r>
              <a:rPr lang="en-US" altLang="zh-CN" sz="2000" dirty="0"/>
              <a:t>LSDB</a:t>
            </a:r>
            <a:r>
              <a:rPr lang="zh-CN" altLang="en-US" sz="2000" dirty="0"/>
              <a:t>的大小，提高网络收敛速度。</a:t>
            </a:r>
            <a:endParaRPr lang="en-US" altLang="zh-CN" sz="2000" dirty="0"/>
          </a:p>
          <a:p>
            <a:pPr marL="0" indent="0">
              <a:buNone/>
            </a:pPr>
            <a:r>
              <a:rPr lang="zh-CN" altLang="en-US" sz="1600" dirty="0"/>
              <a:t>     配置对</a:t>
            </a:r>
            <a:r>
              <a:rPr lang="en-US" altLang="zh-CN" sz="1600" dirty="0"/>
              <a:t>OSPF</a:t>
            </a:r>
            <a:r>
              <a:rPr lang="zh-CN" altLang="en-US" sz="1600" dirty="0"/>
              <a:t>接口出方向的</a:t>
            </a:r>
            <a:r>
              <a:rPr lang="en-US" altLang="zh-CN" sz="1600" dirty="0"/>
              <a:t>LSA</a:t>
            </a:r>
            <a:r>
              <a:rPr lang="zh-CN" altLang="en-US" sz="1600" dirty="0"/>
              <a:t>进行过滤：</a:t>
            </a:r>
            <a:endParaRPr lang="zh-CN" altLang="en-US" sz="1600" dirty="0"/>
          </a:p>
        </p:txBody>
      </p:sp>
      <p:sp>
        <p:nvSpPr>
          <p:cNvPr id="7" name="矩形 6"/>
          <p:cNvSpPr/>
          <p:nvPr/>
        </p:nvSpPr>
        <p:spPr>
          <a:xfrm>
            <a:off x="868659" y="3451440"/>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[Huawei-GigabitEthernet0/0/1] </a:t>
            </a:r>
            <a:r>
              <a:rPr lang="en-US" altLang="zh-CN" sz="1600" b="1" dirty="0" err="1"/>
              <a:t>ospf</a:t>
            </a:r>
            <a:r>
              <a:rPr lang="en-US" altLang="zh-CN" sz="1600" b="1" dirty="0"/>
              <a:t> filter-</a:t>
            </a:r>
            <a:r>
              <a:rPr lang="en-US" altLang="zh-CN" sz="1600" b="1" dirty="0" err="1"/>
              <a:t>lsa</a:t>
            </a:r>
            <a:r>
              <a:rPr lang="en-US" altLang="zh-CN" sz="1600" b="1" dirty="0"/>
              <a:t>-out</a:t>
            </a:r>
            <a:r>
              <a:rPr lang="en-US" altLang="zh-CN" sz="1600" dirty="0"/>
              <a:t> { </a:t>
            </a:r>
            <a:r>
              <a:rPr lang="en-US" altLang="zh-CN" sz="1600" b="1" dirty="0"/>
              <a:t>all</a:t>
            </a:r>
            <a:r>
              <a:rPr lang="en-US" altLang="zh-CN" sz="1600" dirty="0"/>
              <a:t> | { </a:t>
            </a:r>
            <a:r>
              <a:rPr lang="en-US" altLang="zh-CN" sz="1600" b="1" dirty="0"/>
              <a:t>summary</a:t>
            </a:r>
            <a:r>
              <a:rPr lang="en-US" altLang="zh-CN" sz="1600" dirty="0"/>
              <a:t> [ </a:t>
            </a:r>
            <a:r>
              <a:rPr lang="en-US" altLang="zh-CN" sz="1600" b="1" dirty="0" err="1"/>
              <a:t>acl</a:t>
            </a:r>
            <a:r>
              <a:rPr lang="en-US" altLang="zh-CN" sz="1600" dirty="0"/>
              <a:t> { </a:t>
            </a:r>
            <a:r>
              <a:rPr lang="en-US" altLang="zh-CN" sz="1600" i="1" dirty="0" err="1"/>
              <a:t>acl</a:t>
            </a:r>
            <a:r>
              <a:rPr lang="en-US" altLang="zh-CN" sz="1600" i="1" dirty="0"/>
              <a:t>-number</a:t>
            </a:r>
            <a:r>
              <a:rPr lang="en-US" altLang="zh-CN" sz="1600" dirty="0"/>
              <a:t> | </a:t>
            </a:r>
            <a:r>
              <a:rPr lang="en-US" altLang="zh-CN" sz="1600" i="1" dirty="0" err="1"/>
              <a:t>acl</a:t>
            </a:r>
            <a:r>
              <a:rPr lang="en-US" altLang="zh-CN" sz="1600" i="1" dirty="0"/>
              <a:t>-name</a:t>
            </a:r>
            <a:r>
              <a:rPr lang="en-US" altLang="zh-CN" sz="1600" dirty="0"/>
              <a:t> } ] | </a:t>
            </a:r>
            <a:r>
              <a:rPr lang="en-US" altLang="zh-CN" sz="1600" b="1" dirty="0" err="1"/>
              <a:t>ase</a:t>
            </a:r>
            <a:r>
              <a:rPr lang="en-US" altLang="zh-CN" sz="1600" dirty="0"/>
              <a:t> [ </a:t>
            </a:r>
            <a:r>
              <a:rPr lang="en-US" altLang="zh-CN" sz="1600" b="1" dirty="0" err="1"/>
              <a:t>acl</a:t>
            </a:r>
            <a:r>
              <a:rPr lang="en-US" altLang="zh-CN" sz="1600" dirty="0"/>
              <a:t> { </a:t>
            </a:r>
            <a:r>
              <a:rPr lang="en-US" altLang="zh-CN" sz="1600" i="1" dirty="0" err="1"/>
              <a:t>acl</a:t>
            </a:r>
            <a:r>
              <a:rPr lang="en-US" altLang="zh-CN" sz="1600" i="1" dirty="0"/>
              <a:t>-number</a:t>
            </a:r>
            <a:r>
              <a:rPr lang="en-US" altLang="zh-CN" sz="1600" dirty="0"/>
              <a:t> | </a:t>
            </a:r>
            <a:r>
              <a:rPr lang="en-US" altLang="zh-CN" sz="1600" i="1" dirty="0" err="1"/>
              <a:t>acl</a:t>
            </a:r>
            <a:r>
              <a:rPr lang="en-US" altLang="zh-CN" sz="1600" i="1" dirty="0"/>
              <a:t>-name</a:t>
            </a:r>
            <a:r>
              <a:rPr lang="en-US" altLang="zh-CN" sz="1600" dirty="0"/>
              <a:t> } ] | </a:t>
            </a:r>
            <a:r>
              <a:rPr lang="en-US" altLang="zh-CN" sz="1600" b="1" dirty="0"/>
              <a:t>nssa</a:t>
            </a:r>
            <a:r>
              <a:rPr lang="en-US" altLang="zh-CN" sz="1600" dirty="0"/>
              <a:t> [ </a:t>
            </a:r>
            <a:r>
              <a:rPr lang="en-US" altLang="zh-CN" sz="1600" b="1" dirty="0" err="1"/>
              <a:t>acl</a:t>
            </a:r>
            <a:r>
              <a:rPr lang="en-US" altLang="zh-CN" sz="1600" dirty="0"/>
              <a:t> { </a:t>
            </a:r>
            <a:r>
              <a:rPr lang="en-US" altLang="zh-CN" sz="1600" i="1" dirty="0" err="1"/>
              <a:t>acl</a:t>
            </a:r>
            <a:r>
              <a:rPr lang="en-US" altLang="zh-CN" sz="1600" i="1" dirty="0"/>
              <a:t>-number</a:t>
            </a:r>
            <a:r>
              <a:rPr lang="en-US" altLang="zh-CN" sz="1600" dirty="0"/>
              <a:t> | </a:t>
            </a:r>
            <a:r>
              <a:rPr lang="en-US" altLang="zh-CN" sz="1600" i="1" dirty="0" err="1"/>
              <a:t>acl</a:t>
            </a:r>
            <a:r>
              <a:rPr lang="en-US" altLang="zh-CN" sz="1600" i="1" dirty="0"/>
              <a:t>-name</a:t>
            </a:r>
            <a:r>
              <a:rPr lang="en-US" altLang="zh-CN" sz="1600" dirty="0"/>
              <a:t> } ] } }</a:t>
            </a:r>
            <a:endParaRPr lang="zh-CN" altLang="en-US" sz="1600" dirty="0">
              <a:cs typeface="Courier New" panose="02070309020205020404" pitchFamily="49" charset="0"/>
            </a:endParaRPr>
          </a:p>
        </p:txBody>
      </p:sp>
      <p:sp>
        <p:nvSpPr>
          <p:cNvPr id="8" name="矩形 7"/>
          <p:cNvSpPr/>
          <p:nvPr/>
        </p:nvSpPr>
        <p:spPr>
          <a:xfrm>
            <a:off x="791650" y="403621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对于已经发送的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，要到</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3600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秒才能达到老化时间。</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五边形 12"/>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037177"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对</a:t>
            </a:r>
            <a:r>
              <a:rPr lang="en-US" altLang="zh-CN"/>
              <a:t>ABR</a:t>
            </a:r>
            <a:r>
              <a:rPr lang="zh-CN" altLang="en-US"/>
              <a:t> </a:t>
            </a:r>
            <a:r>
              <a:rPr lang="en-US" altLang="zh-CN"/>
              <a:t>Type3 LSA</a:t>
            </a:r>
            <a:r>
              <a:rPr lang="zh-CN" altLang="en-US"/>
              <a:t>进行过滤</a:t>
            </a:r>
            <a:endParaRPr lang="zh-CN" altLang="en-US" dirty="0"/>
          </a:p>
        </p:txBody>
      </p:sp>
      <p:sp>
        <p:nvSpPr>
          <p:cNvPr id="3" name="文本占位符 2"/>
          <p:cNvSpPr>
            <a:spLocks noGrp="1"/>
          </p:cNvSpPr>
          <p:nvPr>
            <p:ph type="body" sz="quarter" idx="10"/>
          </p:nvPr>
        </p:nvSpPr>
        <p:spPr>
          <a:xfrm>
            <a:off x="455612" y="1047751"/>
            <a:ext cx="11293475" cy="3669918"/>
          </a:xfrm>
        </p:spPr>
        <p:txBody>
          <a:bodyPr/>
          <a:lstStyle/>
          <a:p>
            <a:r>
              <a:rPr lang="zh-CN" altLang="en-US" sz="2000" dirty="0"/>
              <a:t>对区域内出、入方向</a:t>
            </a:r>
            <a:r>
              <a:rPr lang="en-US" altLang="zh-CN" sz="2000" dirty="0"/>
              <a:t>ABR Type3 LSA</a:t>
            </a:r>
            <a:r>
              <a:rPr lang="zh-CN" altLang="en-US" sz="2000" dirty="0"/>
              <a:t>（</a:t>
            </a:r>
            <a:r>
              <a:rPr lang="en-US" altLang="zh-CN" sz="2000" dirty="0"/>
              <a:t>Summary LSA</a:t>
            </a:r>
            <a:r>
              <a:rPr lang="zh-CN" altLang="en-US" sz="2000" dirty="0"/>
              <a:t>）设置过滤条件，只有通过过滤的</a:t>
            </a:r>
            <a:r>
              <a:rPr lang="en-US" altLang="zh-CN" sz="2000" dirty="0"/>
              <a:t>LSA</a:t>
            </a:r>
            <a:r>
              <a:rPr lang="zh-CN" altLang="en-US" sz="2000" dirty="0"/>
              <a:t>才能被发布和接收。</a:t>
            </a:r>
            <a:endParaRPr lang="zh-CN" altLang="en-US" sz="2000" dirty="0"/>
          </a:p>
          <a:p>
            <a:r>
              <a:rPr lang="zh-CN" altLang="en-US" sz="2000" dirty="0"/>
              <a:t>通过对区域内的</a:t>
            </a:r>
            <a:r>
              <a:rPr lang="en-US" altLang="zh-CN" sz="2000" dirty="0"/>
              <a:t>LSA</a:t>
            </a:r>
            <a:r>
              <a:rPr lang="zh-CN" altLang="en-US" sz="2000" dirty="0"/>
              <a:t>进行过滤可以不向邻居发送无用的</a:t>
            </a:r>
            <a:r>
              <a:rPr lang="en-US" altLang="zh-CN" sz="2000" dirty="0"/>
              <a:t>LSA</a:t>
            </a:r>
            <a:r>
              <a:rPr lang="zh-CN" altLang="en-US" sz="2000" dirty="0"/>
              <a:t>，从而减少</a:t>
            </a:r>
            <a:r>
              <a:rPr lang="en-US" altLang="zh-CN" sz="2000" dirty="0"/>
              <a:t>LSDB</a:t>
            </a:r>
            <a:r>
              <a:rPr lang="zh-CN" altLang="en-US" sz="2000" dirty="0"/>
              <a:t>的大小，提高网络收敛速度。</a:t>
            </a:r>
            <a:endParaRPr lang="zh-CN" altLang="en-US" sz="2000" dirty="0"/>
          </a:p>
          <a:p>
            <a:pPr marL="0" indent="0">
              <a:buNone/>
            </a:pPr>
            <a:r>
              <a:rPr lang="zh-CN" altLang="en-US" sz="1600" dirty="0"/>
              <a:t>     配置对区域内出方向的</a:t>
            </a:r>
            <a:r>
              <a:rPr lang="en-US" altLang="zh-CN" sz="1600" dirty="0"/>
              <a:t>Type3 LSA</a:t>
            </a:r>
            <a:r>
              <a:rPr lang="zh-CN" altLang="en-US" sz="1600" dirty="0"/>
              <a:t>进行过滤：</a:t>
            </a:r>
            <a:endParaRPr lang="en-US" altLang="zh-CN" sz="1600" dirty="0"/>
          </a:p>
          <a:p>
            <a:endParaRPr lang="en-US" altLang="zh-CN" sz="1600" dirty="0"/>
          </a:p>
          <a:p>
            <a:endParaRPr lang="en-US" altLang="zh-CN" sz="1600" dirty="0"/>
          </a:p>
          <a:p>
            <a:pPr marL="0" indent="0">
              <a:buNone/>
            </a:pPr>
            <a:r>
              <a:rPr lang="zh-CN" altLang="en-US" sz="1600" dirty="0"/>
              <a:t>     配置对区域内入方向的</a:t>
            </a:r>
            <a:r>
              <a:rPr lang="en-US" altLang="zh-CN" sz="1600" dirty="0"/>
              <a:t>Type3 LSA</a:t>
            </a:r>
            <a:r>
              <a:rPr lang="zh-CN" altLang="en-US" sz="1600" dirty="0"/>
              <a:t>进行过滤：</a:t>
            </a:r>
            <a:endParaRPr lang="zh-CN" altLang="en-US" sz="1600" dirty="0"/>
          </a:p>
          <a:p>
            <a:endParaRPr lang="zh-CN" altLang="en-US" sz="2000" dirty="0"/>
          </a:p>
          <a:p>
            <a:endParaRPr lang="en-US" altLang="zh-CN" sz="2000" dirty="0"/>
          </a:p>
          <a:p>
            <a:pPr lvl="1"/>
            <a:endParaRPr lang="en-US" altLang="zh-CN" sz="1800" dirty="0"/>
          </a:p>
        </p:txBody>
      </p:sp>
      <p:sp>
        <p:nvSpPr>
          <p:cNvPr id="7" name="矩形 6"/>
          <p:cNvSpPr/>
          <p:nvPr/>
        </p:nvSpPr>
        <p:spPr>
          <a:xfrm>
            <a:off x="868658" y="3423950"/>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[Huawei-ospf-1-area-0.0.0.1] </a:t>
            </a:r>
            <a:r>
              <a:rPr lang="en-US" altLang="zh-CN" sz="1600" b="1" dirty="0"/>
              <a:t>filter</a:t>
            </a:r>
            <a:r>
              <a:rPr lang="en-US" altLang="zh-CN" sz="1600" dirty="0"/>
              <a:t> { </a:t>
            </a:r>
            <a:r>
              <a:rPr lang="en-US" altLang="zh-CN" sz="1600" i="1" dirty="0" err="1"/>
              <a:t>acl</a:t>
            </a:r>
            <a:r>
              <a:rPr lang="en-US" altLang="zh-CN" sz="1600" i="1" dirty="0"/>
              <a:t>-number</a:t>
            </a:r>
            <a:r>
              <a:rPr lang="en-US" altLang="zh-CN" sz="1600" dirty="0"/>
              <a:t> | </a:t>
            </a:r>
            <a:r>
              <a:rPr lang="en-US" altLang="zh-CN" sz="1600" b="1" dirty="0" err="1"/>
              <a:t>acl</a:t>
            </a:r>
            <a:r>
              <a:rPr lang="en-US" altLang="zh-CN" sz="1600" b="1" dirty="0"/>
              <a:t>-name</a:t>
            </a:r>
            <a:r>
              <a:rPr lang="en-US" altLang="zh-CN" sz="1600" dirty="0"/>
              <a:t> </a:t>
            </a:r>
            <a:r>
              <a:rPr lang="en-US" altLang="zh-CN" sz="1600" i="1" dirty="0" err="1"/>
              <a:t>acl</a:t>
            </a:r>
            <a:r>
              <a:rPr lang="en-US" altLang="zh-CN" sz="1600" i="1" dirty="0"/>
              <a:t>-name</a:t>
            </a:r>
            <a:r>
              <a:rPr lang="en-US" altLang="zh-CN" sz="1600" dirty="0"/>
              <a:t> | </a:t>
            </a:r>
            <a:r>
              <a:rPr lang="en-US" altLang="zh-CN" sz="1600" b="1" dirty="0" err="1"/>
              <a:t>ip</a:t>
            </a:r>
            <a:r>
              <a:rPr lang="en-US" altLang="zh-CN" sz="1600" b="1" dirty="0"/>
              <a:t>-prefix</a:t>
            </a:r>
            <a:r>
              <a:rPr lang="en-US" altLang="zh-CN" sz="1600" dirty="0"/>
              <a:t> </a:t>
            </a:r>
            <a:r>
              <a:rPr lang="en-US" altLang="zh-CN" sz="1600" i="1" dirty="0" err="1"/>
              <a:t>ip</a:t>
            </a:r>
            <a:r>
              <a:rPr lang="en-US" altLang="zh-CN" sz="1600" i="1" dirty="0"/>
              <a:t>-prefix-name</a:t>
            </a:r>
            <a:r>
              <a:rPr lang="en-US" altLang="zh-CN" sz="1600" dirty="0"/>
              <a:t> | </a:t>
            </a:r>
            <a:r>
              <a:rPr lang="en-US" altLang="zh-CN" sz="1600" b="1" dirty="0"/>
              <a:t>route-policy</a:t>
            </a:r>
            <a:r>
              <a:rPr lang="en-US" altLang="zh-CN" sz="1600" dirty="0"/>
              <a:t> </a:t>
            </a:r>
            <a:r>
              <a:rPr lang="en-US" altLang="zh-CN" sz="1600" i="1" dirty="0"/>
              <a:t>route-policy-name</a:t>
            </a:r>
            <a:r>
              <a:rPr lang="en-US" altLang="zh-CN" sz="1600" dirty="0"/>
              <a:t> } </a:t>
            </a:r>
            <a:r>
              <a:rPr lang="en-US" altLang="zh-CN" sz="1600" b="1" dirty="0"/>
              <a:t>export</a:t>
            </a:r>
            <a:endParaRPr lang="zh-CN" altLang="en-US" sz="1600" dirty="0">
              <a:cs typeface="Courier New" panose="02070309020205020404" pitchFamily="49" charset="0"/>
            </a:endParaRPr>
          </a:p>
        </p:txBody>
      </p:sp>
      <p:sp>
        <p:nvSpPr>
          <p:cNvPr id="6" name="矩形 5"/>
          <p:cNvSpPr/>
          <p:nvPr/>
        </p:nvSpPr>
        <p:spPr>
          <a:xfrm>
            <a:off x="868657" y="4717668"/>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[Huawei-ospf-1-area-0.0.0.1] </a:t>
            </a:r>
            <a:r>
              <a:rPr lang="en-US" altLang="zh-CN" sz="1600" b="1" dirty="0"/>
              <a:t>filter</a:t>
            </a:r>
            <a:r>
              <a:rPr lang="en-US" altLang="zh-CN" sz="1600" dirty="0"/>
              <a:t> { </a:t>
            </a:r>
            <a:r>
              <a:rPr lang="en-US" altLang="zh-CN" sz="1600" i="1" dirty="0" err="1"/>
              <a:t>acl</a:t>
            </a:r>
            <a:r>
              <a:rPr lang="en-US" altLang="zh-CN" sz="1600" i="1" dirty="0"/>
              <a:t>-number</a:t>
            </a:r>
            <a:r>
              <a:rPr lang="en-US" altLang="zh-CN" sz="1600" dirty="0"/>
              <a:t> | </a:t>
            </a:r>
            <a:r>
              <a:rPr lang="en-US" altLang="zh-CN" sz="1600" b="1" dirty="0" err="1"/>
              <a:t>acl</a:t>
            </a:r>
            <a:r>
              <a:rPr lang="en-US" altLang="zh-CN" sz="1600" b="1" dirty="0"/>
              <a:t>-name</a:t>
            </a:r>
            <a:r>
              <a:rPr lang="en-US" altLang="zh-CN" sz="1600" dirty="0"/>
              <a:t> </a:t>
            </a:r>
            <a:r>
              <a:rPr lang="en-US" altLang="zh-CN" sz="1600" i="1" dirty="0" err="1"/>
              <a:t>acl</a:t>
            </a:r>
            <a:r>
              <a:rPr lang="en-US" altLang="zh-CN" sz="1600" i="1" dirty="0"/>
              <a:t>-name</a:t>
            </a:r>
            <a:r>
              <a:rPr lang="en-US" altLang="zh-CN" sz="1600" dirty="0"/>
              <a:t> | </a:t>
            </a:r>
            <a:r>
              <a:rPr lang="en-US" altLang="zh-CN" sz="1600" b="1" dirty="0" err="1"/>
              <a:t>ip</a:t>
            </a:r>
            <a:r>
              <a:rPr lang="en-US" altLang="zh-CN" sz="1600" b="1" dirty="0"/>
              <a:t>-prefix</a:t>
            </a:r>
            <a:r>
              <a:rPr lang="en-US" altLang="zh-CN" sz="1600" dirty="0"/>
              <a:t> </a:t>
            </a:r>
            <a:r>
              <a:rPr lang="en-US" altLang="zh-CN" sz="1600" i="1" dirty="0" err="1"/>
              <a:t>ip</a:t>
            </a:r>
            <a:r>
              <a:rPr lang="en-US" altLang="zh-CN" sz="1600" i="1" dirty="0"/>
              <a:t>-prefix-name</a:t>
            </a:r>
            <a:r>
              <a:rPr lang="en-US" altLang="zh-CN" sz="1600" dirty="0"/>
              <a:t> | </a:t>
            </a:r>
            <a:r>
              <a:rPr lang="en-US" altLang="zh-CN" sz="1600" b="1" dirty="0"/>
              <a:t>route-policy</a:t>
            </a:r>
            <a:r>
              <a:rPr lang="en-US" altLang="zh-CN" sz="1600" dirty="0"/>
              <a:t> </a:t>
            </a:r>
            <a:r>
              <a:rPr lang="en-US" altLang="zh-CN" sz="1600" i="1" dirty="0"/>
              <a:t>route-policy-name</a:t>
            </a:r>
            <a:r>
              <a:rPr lang="en-US" altLang="zh-CN" sz="1600" dirty="0"/>
              <a:t> } </a:t>
            </a:r>
            <a:r>
              <a:rPr lang="en-US" altLang="zh-CN" sz="1600" b="1" dirty="0"/>
              <a:t>import</a:t>
            </a:r>
            <a:endParaRPr lang="zh-CN" altLang="en-US" sz="1600" dirty="0">
              <a:cs typeface="Courier New" panose="02070309020205020404" pitchFamily="49" charset="0"/>
            </a:endParaRPr>
          </a:p>
        </p:txBody>
      </p:sp>
      <p:sp>
        <p:nvSpPr>
          <p:cNvPr id="13" name="五边形 12"/>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037177"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 Database Overflow</a:t>
            </a:r>
            <a:r>
              <a:rPr lang="zh-CN" altLang="en-US"/>
              <a:t>概述</a:t>
            </a:r>
            <a:endParaRPr lang="zh-CN" altLang="en-US" dirty="0"/>
          </a:p>
        </p:txBody>
      </p:sp>
      <p:sp>
        <p:nvSpPr>
          <p:cNvPr id="3" name="文本占位符 2"/>
          <p:cNvSpPr>
            <a:spLocks noGrp="1"/>
          </p:cNvSpPr>
          <p:nvPr>
            <p:ph type="body" sz="quarter" idx="10"/>
          </p:nvPr>
        </p:nvSpPr>
        <p:spPr>
          <a:xfrm>
            <a:off x="455612" y="1047751"/>
            <a:ext cx="11293475" cy="3278590"/>
          </a:xfrm>
        </p:spPr>
        <p:txBody>
          <a:bodyPr/>
          <a:lstStyle/>
          <a:p>
            <a:r>
              <a:rPr lang="en-US" altLang="zh-CN" sz="2000" dirty="0"/>
              <a:t>OSPF</a:t>
            </a:r>
            <a:r>
              <a:rPr lang="zh-CN" altLang="en-US" sz="2000" dirty="0"/>
              <a:t>要求同一个区域中的路由器保存相同的</a:t>
            </a:r>
            <a:r>
              <a:rPr lang="en-US" altLang="zh-CN" sz="2000" dirty="0"/>
              <a:t>LSDB</a:t>
            </a:r>
            <a:r>
              <a:rPr lang="zh-CN" altLang="en-US" sz="2000" dirty="0"/>
              <a:t>。随着网络上路由数量不断增加，一些路由器由于系统资源有限，不能再承载如此多的路由信息，这种状态就被称为数据库超限（</a:t>
            </a:r>
            <a:r>
              <a:rPr lang="en-US" altLang="zh-CN" sz="2000" dirty="0"/>
              <a:t>OSPF Database Overflow</a:t>
            </a:r>
            <a:r>
              <a:rPr lang="zh-CN" altLang="en-US" sz="2000" dirty="0"/>
              <a:t>）。</a:t>
            </a:r>
            <a:endParaRPr lang="en-US" altLang="zh-CN" sz="2000" dirty="0"/>
          </a:p>
          <a:p>
            <a:r>
              <a:rPr lang="zh-CN" altLang="en-US" sz="2000" dirty="0"/>
              <a:t>对于路由信息不断增加导致路由器系统资源耗尽而失效的问题，可以通过配置</a:t>
            </a:r>
            <a:r>
              <a:rPr lang="en-US" altLang="zh-CN" sz="2000" dirty="0"/>
              <a:t>Stub</a:t>
            </a:r>
            <a:r>
              <a:rPr lang="zh-CN" altLang="en-US" sz="2000" dirty="0"/>
              <a:t>或</a:t>
            </a:r>
            <a:r>
              <a:rPr lang="en-US" altLang="zh-CN" sz="2000" dirty="0"/>
              <a:t>NSSA</a:t>
            </a:r>
            <a:r>
              <a:rPr lang="zh-CN" altLang="en-US" sz="2000" dirty="0"/>
              <a:t>区域来解决，但</a:t>
            </a:r>
            <a:r>
              <a:rPr lang="en-US" altLang="zh-CN" sz="2000" dirty="0"/>
              <a:t>Stub</a:t>
            </a:r>
            <a:r>
              <a:rPr lang="zh-CN" altLang="en-US" sz="2000" dirty="0"/>
              <a:t>或</a:t>
            </a:r>
            <a:r>
              <a:rPr lang="en-US" altLang="zh-CN" sz="2000" dirty="0"/>
              <a:t>NSSA</a:t>
            </a:r>
            <a:r>
              <a:rPr lang="zh-CN" altLang="en-US" sz="2000" dirty="0"/>
              <a:t>区域的方案不能解决动态路由增长导致的数据库超限问题。为了解决数据库超限引发的问题，通过设置</a:t>
            </a:r>
            <a:r>
              <a:rPr lang="en-US" altLang="zh-CN" sz="2000" dirty="0"/>
              <a:t>LSDB</a:t>
            </a:r>
            <a:r>
              <a:rPr lang="zh-CN" altLang="en-US" sz="2000" dirty="0"/>
              <a:t>中</a:t>
            </a:r>
            <a:r>
              <a:rPr lang="en-US" altLang="zh-CN" sz="2000" dirty="0"/>
              <a:t>External LSA</a:t>
            </a:r>
            <a:r>
              <a:rPr lang="zh-CN" altLang="en-US" sz="2000" dirty="0"/>
              <a:t>的最大条目数，可以动态限制数据库的规模。</a:t>
            </a:r>
            <a:endParaRPr lang="en-US" altLang="zh-CN" sz="2000" dirty="0"/>
          </a:p>
          <a:p>
            <a:pPr marL="0" indent="0">
              <a:buNone/>
            </a:pPr>
            <a:r>
              <a:rPr lang="zh-CN" altLang="en-US" sz="2000" dirty="0"/>
              <a:t>   </a:t>
            </a:r>
            <a:r>
              <a:rPr lang="en-US" altLang="zh-CN" sz="2000" dirty="0"/>
              <a:t> </a:t>
            </a:r>
            <a:r>
              <a:rPr lang="zh-CN" altLang="en-US" sz="1600" dirty="0"/>
              <a:t>设置</a:t>
            </a:r>
            <a:r>
              <a:rPr lang="en-US" altLang="zh-CN" sz="1600" dirty="0"/>
              <a:t>OSPF</a:t>
            </a:r>
            <a:r>
              <a:rPr lang="zh-CN" altLang="en-US" sz="1600" dirty="0"/>
              <a:t>的</a:t>
            </a:r>
            <a:r>
              <a:rPr lang="en-US" altLang="zh-CN" sz="1600" dirty="0"/>
              <a:t>LSDB</a:t>
            </a:r>
            <a:r>
              <a:rPr lang="zh-CN" altLang="en-US" sz="1600" dirty="0"/>
              <a:t>中</a:t>
            </a:r>
            <a:r>
              <a:rPr lang="en-US" altLang="zh-CN" sz="1600" dirty="0"/>
              <a:t>External LSA</a:t>
            </a:r>
            <a:r>
              <a:rPr lang="zh-CN" altLang="en-US" sz="1600" dirty="0"/>
              <a:t>的最大条目数：</a:t>
            </a:r>
            <a:endParaRPr lang="zh-CN" altLang="en-US" sz="1600" dirty="0"/>
          </a:p>
        </p:txBody>
      </p:sp>
      <p:sp>
        <p:nvSpPr>
          <p:cNvPr id="5" name="矩形 4"/>
          <p:cNvSpPr/>
          <p:nvPr/>
        </p:nvSpPr>
        <p:spPr>
          <a:xfrm>
            <a:off x="868659" y="4326340"/>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err="1"/>
              <a:t>lsdb</a:t>
            </a:r>
            <a:r>
              <a:rPr lang="en-US" altLang="zh-CN" sz="1600" b="1" dirty="0"/>
              <a:t>-overflow-limit</a:t>
            </a:r>
            <a:r>
              <a:rPr lang="en-US" altLang="zh-CN" sz="1600" dirty="0"/>
              <a:t> </a:t>
            </a:r>
            <a:r>
              <a:rPr lang="en-US" altLang="zh-CN" sz="1600" i="1" dirty="0"/>
              <a:t>number</a:t>
            </a:r>
            <a:endParaRPr lang="zh-CN" altLang="en-US" sz="1600" dirty="0">
              <a:cs typeface="Courier New" panose="02070309020205020404" pitchFamily="49" charset="0"/>
            </a:endParaRPr>
          </a:p>
        </p:txBody>
      </p:sp>
      <p:sp>
        <p:nvSpPr>
          <p:cNvPr id="11" name="五边形 10"/>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10037177"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避免</a:t>
            </a:r>
            <a:r>
              <a:rPr lang="en-US" altLang="zh-CN"/>
              <a:t>OSPF Database Overflow</a:t>
            </a:r>
            <a:r>
              <a:rPr lang="zh-CN" altLang="en-US"/>
              <a:t>工作原理</a:t>
            </a:r>
            <a:endParaRPr lang="zh-CN" altLang="en-US" dirty="0"/>
          </a:p>
        </p:txBody>
      </p:sp>
      <p:sp>
        <p:nvSpPr>
          <p:cNvPr id="3" name="文本占位符 2"/>
          <p:cNvSpPr>
            <a:spLocks noGrp="1"/>
          </p:cNvSpPr>
          <p:nvPr>
            <p:ph type="body" sz="quarter" idx="10"/>
          </p:nvPr>
        </p:nvSpPr>
        <p:spPr>
          <a:xfrm>
            <a:off x="455612" y="1047751"/>
            <a:ext cx="11293475" cy="2008952"/>
          </a:xfrm>
        </p:spPr>
        <p:txBody>
          <a:bodyPr/>
          <a:lstStyle/>
          <a:p>
            <a:r>
              <a:rPr lang="zh-CN" altLang="en-US" sz="2000"/>
              <a:t>为了避免数据库超限，可以设置路由器上非缺省外部路由数量的上限。</a:t>
            </a:r>
            <a:endParaRPr lang="zh-CN" altLang="en-US" sz="2000"/>
          </a:p>
          <a:p>
            <a:r>
              <a:rPr lang="en-US" altLang="zh-CN" sz="2000"/>
              <a:t>OSPF</a:t>
            </a:r>
            <a:r>
              <a:rPr lang="zh-CN" altLang="en-US" sz="2000"/>
              <a:t>网络中所有路由器都配置相同的上限值，只要路由器上外部路由的数量达到该上限，路由器就进入</a:t>
            </a:r>
            <a:r>
              <a:rPr lang="en-US" altLang="zh-CN" sz="2000"/>
              <a:t>Overflow</a:t>
            </a:r>
            <a:r>
              <a:rPr lang="zh-CN" altLang="en-US" sz="2000"/>
              <a:t>状态，并同时启动</a:t>
            </a:r>
            <a:r>
              <a:rPr lang="en-US" altLang="zh-CN" sz="2000"/>
              <a:t>Overflow</a:t>
            </a:r>
            <a:r>
              <a:rPr lang="zh-CN" altLang="en-US" sz="2000"/>
              <a:t>状态定时器（默认超时时间为</a:t>
            </a:r>
            <a:r>
              <a:rPr lang="en-US" altLang="zh-CN" sz="2000"/>
              <a:t>5</a:t>
            </a:r>
            <a:r>
              <a:rPr lang="zh-CN" altLang="en-US" sz="2000"/>
              <a:t>秒），路由器在定时器超过</a:t>
            </a:r>
            <a:r>
              <a:rPr lang="en-US" altLang="zh-CN" sz="2000"/>
              <a:t>5</a:t>
            </a:r>
            <a:r>
              <a:rPr lang="zh-CN" altLang="en-US" sz="2000"/>
              <a:t>秒后自动退出</a:t>
            </a:r>
            <a:r>
              <a:rPr lang="en-US" altLang="zh-CN" sz="2000"/>
              <a:t>Overflow</a:t>
            </a:r>
            <a:r>
              <a:rPr lang="zh-CN" altLang="en-US" sz="2000"/>
              <a:t>状态。</a:t>
            </a:r>
            <a:endParaRPr lang="zh-CN" altLang="en-US" sz="2000" dirty="0"/>
          </a:p>
        </p:txBody>
      </p:sp>
      <p:sp>
        <p:nvSpPr>
          <p:cNvPr id="5" name="圆角矩形 4"/>
          <p:cNvSpPr/>
          <p:nvPr/>
        </p:nvSpPr>
        <p:spPr bwMode="gray">
          <a:xfrm>
            <a:off x="844092" y="3324524"/>
            <a:ext cx="2153548" cy="432000"/>
          </a:xfrm>
          <a:prstGeom prst="roundRect">
            <a:avLst>
              <a:gd name="adj" fmla="val 15000"/>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进入</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Overflow</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5"/>
          <p:cNvSpPr/>
          <p:nvPr/>
        </p:nvSpPr>
        <p:spPr bwMode="gray">
          <a:xfrm>
            <a:off x="844092" y="4206622"/>
            <a:ext cx="2153548" cy="432000"/>
          </a:xfrm>
          <a:prstGeom prst="roundRect">
            <a:avLst>
              <a:gd name="adj" fmla="val 15000"/>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处于</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Overflow</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6"/>
          <p:cNvSpPr/>
          <p:nvPr/>
        </p:nvSpPr>
        <p:spPr bwMode="gray">
          <a:xfrm>
            <a:off x="844092" y="5088720"/>
            <a:ext cx="2153548" cy="432000"/>
          </a:xfrm>
          <a:prstGeom prst="roundRect">
            <a:avLst>
              <a:gd name="adj" fmla="val 15000"/>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退出</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Overflow</a:t>
            </a: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 name="直接箭头连接符 7"/>
          <p:cNvCxnSpPr>
            <a:stCxn id="5" idx="2"/>
            <a:endCxn id="6" idx="0"/>
          </p:cNvCxnSpPr>
          <p:nvPr/>
        </p:nvCxnSpPr>
        <p:spPr bwMode="gray">
          <a:xfrm>
            <a:off x="1920866" y="3756524"/>
            <a:ext cx="0" cy="450098"/>
          </a:xfrm>
          <a:prstGeom prst="straightConnector1">
            <a:avLst/>
          </a:prstGeom>
          <a:noFill/>
          <a:ln w="19050" cap="flat" cmpd="sng" algn="ctr">
            <a:solidFill>
              <a:schemeClr val="tx1"/>
            </a:solidFill>
            <a:prstDash val="solid"/>
            <a:round/>
            <a:headEnd type="none" w="med" len="med"/>
            <a:tailEnd type="triangle"/>
          </a:ln>
          <a:effectLst/>
        </p:spPr>
      </p:cxnSp>
      <p:cxnSp>
        <p:nvCxnSpPr>
          <p:cNvPr id="9" name="直接箭头连接符 8"/>
          <p:cNvCxnSpPr>
            <a:stCxn id="6" idx="2"/>
            <a:endCxn id="7" idx="0"/>
          </p:cNvCxnSpPr>
          <p:nvPr/>
        </p:nvCxnSpPr>
        <p:spPr bwMode="gray">
          <a:xfrm>
            <a:off x="1920866" y="4638622"/>
            <a:ext cx="0" cy="450098"/>
          </a:xfrm>
          <a:prstGeom prst="straightConnector1">
            <a:avLst/>
          </a:prstGeom>
          <a:noFill/>
          <a:ln w="19050" cap="flat" cmpd="sng" algn="ctr">
            <a:solidFill>
              <a:schemeClr val="tx1"/>
            </a:solidFill>
            <a:prstDash val="solid"/>
            <a:round/>
            <a:headEnd type="none" w="med" len="med"/>
            <a:tailEnd type="triangle"/>
          </a:ln>
          <a:effectLst/>
        </p:spPr>
      </p:cxnSp>
      <p:sp>
        <p:nvSpPr>
          <p:cNvPr id="10" name="任意多边形 9"/>
          <p:cNvSpPr/>
          <p:nvPr/>
        </p:nvSpPr>
        <p:spPr bwMode="gray">
          <a:xfrm>
            <a:off x="3015152" y="3620206"/>
            <a:ext cx="653067" cy="825764"/>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任意多边形 10"/>
          <p:cNvSpPr/>
          <p:nvPr/>
        </p:nvSpPr>
        <p:spPr bwMode="gray">
          <a:xfrm>
            <a:off x="3011914" y="3455448"/>
            <a:ext cx="834570" cy="1866900"/>
          </a:xfrm>
          <a:custGeom>
            <a:avLst/>
            <a:gdLst>
              <a:gd name="connsiteX0" fmla="*/ 0 w 471054"/>
              <a:gd name="connsiteY0" fmla="*/ 748145 h 748145"/>
              <a:gd name="connsiteX1" fmla="*/ 471054 w 471054"/>
              <a:gd name="connsiteY1" fmla="*/ 748145 h 748145"/>
              <a:gd name="connsiteX2" fmla="*/ 471054 w 471054"/>
              <a:gd name="connsiteY2" fmla="*/ 0 h 748145"/>
              <a:gd name="connsiteX3" fmla="*/ 18472 w 471054"/>
              <a:gd name="connsiteY3" fmla="*/ 0 h 748145"/>
            </a:gdLst>
            <a:ahLst/>
            <a:cxnLst>
              <a:cxn ang="0">
                <a:pos x="connsiteX0" y="connsiteY0"/>
              </a:cxn>
              <a:cxn ang="0">
                <a:pos x="connsiteX1" y="connsiteY1"/>
              </a:cxn>
              <a:cxn ang="0">
                <a:pos x="connsiteX2" y="connsiteY2"/>
              </a:cxn>
              <a:cxn ang="0">
                <a:pos x="connsiteX3" y="connsiteY3"/>
              </a:cxn>
            </a:cxnLst>
            <a:rect l="l" t="t" r="r" b="b"/>
            <a:pathLst>
              <a:path w="471054" h="748145">
                <a:moveTo>
                  <a:pt x="0" y="748145"/>
                </a:moveTo>
                <a:lnTo>
                  <a:pt x="471054" y="748145"/>
                </a:lnTo>
                <a:lnTo>
                  <a:pt x="471054" y="0"/>
                </a:lnTo>
                <a:lnTo>
                  <a:pt x="18472" y="0"/>
                </a:lnTo>
              </a:path>
            </a:pathLst>
          </a:custGeom>
          <a:noFill/>
          <a:ln w="19050" cap="flat" cmpd="sng" algn="ctr">
            <a:solidFill>
              <a:schemeClr val="tx1"/>
            </a:solidFill>
            <a:prstDash val="solid"/>
            <a:round/>
            <a:headEnd type="none" w="med" len="med"/>
            <a:tailEnd type="triangle"/>
          </a:ln>
          <a:effectLst/>
        </p:spPr>
        <p:txBody>
          <a:bodyPr vert="horz" wrap="square" lIns="91440" tIns="45720" rIns="91440" bIns="45720" numCol="1" rtlCol="0" anchor="t" anchorCtr="0" compatLnSpc="1"/>
          <a:lstStyle/>
          <a:p>
            <a:pPr marL="0" marR="0" indent="0" algn="l" defTabSz="914400" rtl="0" eaLnBrk="1" fontAlgn="t" latinLnBrk="0" hangingPunct="1">
              <a:lnSpc>
                <a:spcPct val="100000"/>
              </a:lnSpc>
              <a:spcBef>
                <a:spcPct val="0"/>
              </a:spcBef>
              <a:spcAft>
                <a:spcPct val="0"/>
              </a:spcAft>
              <a:buClrTx/>
              <a:buSzTx/>
              <a:buFontTx/>
              <a:buNone/>
            </a:pPr>
            <a:endParaRPr kumimoji="0" lang="zh-CN" altLang="en-US" sz="10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7" name="表格 16"/>
          <p:cNvGraphicFramePr>
            <a:graphicFrameLocks noGrp="1"/>
          </p:cNvGraphicFramePr>
          <p:nvPr/>
        </p:nvGraphicFramePr>
        <p:xfrm>
          <a:off x="4937001" y="2919296"/>
          <a:ext cx="6695422" cy="3205480"/>
        </p:xfrm>
        <a:graphic>
          <a:graphicData uri="http://schemas.openxmlformats.org/drawingml/2006/table">
            <a:tbl>
              <a:tblPr firstRow="1" bandRow="1"/>
              <a:tblGrid>
                <a:gridCol w="2120348"/>
                <a:gridCol w="4575074"/>
              </a:tblGrid>
              <a:tr h="370840">
                <a:tc>
                  <a:txBody>
                    <a:bodyPr/>
                    <a:lstStyle/>
                    <a:p>
                      <a:pPr algn="ctr"/>
                      <a:r>
                        <a:rPr lang="en-US" altLang="zh-CN" sz="1600" b="1" i="0" dirty="0"/>
                        <a:t>Overflow</a:t>
                      </a:r>
                      <a:r>
                        <a:rPr lang="zh-CN" altLang="en-US" sz="1600" b="1" i="0" dirty="0"/>
                        <a:t>状态阶段</a:t>
                      </a:r>
                      <a:endParaRPr lang="zh-CN" altLang="en-US" sz="1600" b="1" i="0"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600" b="1" i="0" dirty="0"/>
                        <a:t>OSPF</a:t>
                      </a:r>
                      <a:r>
                        <a:rPr lang="zh-CN" altLang="en-US" sz="1600" b="1" i="0" dirty="0"/>
                        <a:t>处理流程</a:t>
                      </a:r>
                      <a:endParaRPr lang="zh-CN" altLang="en-US" sz="1600" b="1" i="0"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370840">
                <a:tc>
                  <a:txBody>
                    <a:bodyPr/>
                    <a:lstStyle/>
                    <a:p>
                      <a:pPr algn="ctr"/>
                      <a:r>
                        <a:rPr lang="zh-CN" altLang="en-US" sz="1400" dirty="0"/>
                        <a:t>进入</a:t>
                      </a:r>
                      <a:r>
                        <a:rPr lang="en-US" altLang="zh-CN" sz="1400" dirty="0"/>
                        <a:t>Overflow</a:t>
                      </a:r>
                      <a:r>
                        <a:rPr lang="zh-CN" altLang="en-US" sz="1400" dirty="0"/>
                        <a:t>状态时</a:t>
                      </a:r>
                      <a:endParaRPr lang="zh-CN" altLang="en-US" sz="1400" dirty="0"/>
                    </a:p>
                  </a:txBody>
                  <a:tcPr anchor="ctr">
                    <a:lnL w="28575" cap="flat" cmpd="sng" algn="ctr">
                      <a:solidFill>
                        <a:schemeClr val="tx1"/>
                      </a:solidFill>
                      <a:prstDash val="solid"/>
                      <a:round/>
                      <a:headEnd type="none" w="med" len="med"/>
                      <a:tailEnd type="none" w="med" len="med"/>
                    </a:lnL>
                  </a:tcPr>
                </a:tc>
                <a:tc>
                  <a:txBody>
                    <a:bodyPr/>
                    <a:lstStyle/>
                    <a:p>
                      <a:pPr marL="179705" indent="-179705" algn="l">
                        <a:buFont typeface="Arial" panose="020B0604020202020204" pitchFamily="34" charset="0"/>
                        <a:buChar char="•"/>
                      </a:pPr>
                      <a:r>
                        <a:rPr lang="zh-CN" altLang="en-US" sz="1400" dirty="0"/>
                        <a:t>路由器删除所有自己产生的非缺省外部路由；</a:t>
                      </a:r>
                      <a:endParaRPr lang="en-US" altLang="zh-CN" sz="1400" dirty="0"/>
                    </a:p>
                    <a:p>
                      <a:pPr marL="179705" indent="-179705" algn="l">
                        <a:buFont typeface="Arial" panose="020B0604020202020204" pitchFamily="34" charset="0"/>
                        <a:buChar char="•"/>
                      </a:pPr>
                      <a:r>
                        <a:rPr lang="zh-CN" altLang="en-US" sz="1400" dirty="0"/>
                        <a:t>启动</a:t>
                      </a:r>
                      <a:r>
                        <a:rPr lang="en-US" altLang="zh-CN" sz="1400" dirty="0"/>
                        <a:t>Overflow</a:t>
                      </a:r>
                      <a:r>
                        <a:rPr lang="zh-CN" altLang="en-US" sz="1400" dirty="0"/>
                        <a:t>状态定时器。</a:t>
                      </a:r>
                      <a:endParaRPr lang="zh-CN" altLang="en-US" sz="1400" dirty="0"/>
                    </a:p>
                  </a:txBody>
                  <a:tcPr anchor="ctr">
                    <a:lnR w="28575" cap="flat" cmpd="sng" algn="ctr">
                      <a:solidFill>
                        <a:schemeClr val="tx1"/>
                      </a:solidFill>
                      <a:prstDash val="solid"/>
                      <a:round/>
                      <a:headEnd type="none" w="med" len="med"/>
                      <a:tailEnd type="none" w="med" len="med"/>
                    </a:lnR>
                  </a:tcPr>
                </a:tc>
              </a:tr>
              <a:tr h="370840">
                <a:tc>
                  <a:txBody>
                    <a:bodyPr/>
                    <a:lstStyle/>
                    <a:p>
                      <a:pPr algn="ctr"/>
                      <a:r>
                        <a:rPr lang="zh-CN" altLang="en-US" sz="1400" dirty="0"/>
                        <a:t>处于</a:t>
                      </a:r>
                      <a:r>
                        <a:rPr lang="en-US" altLang="zh-CN" sz="1400" dirty="0"/>
                        <a:t>Overflow</a:t>
                      </a:r>
                      <a:r>
                        <a:rPr lang="zh-CN" altLang="en-US" sz="1400" dirty="0"/>
                        <a:t>状态中</a:t>
                      </a:r>
                      <a:endParaRPr lang="zh-CN" altLang="en-US" sz="1400" dirty="0"/>
                    </a:p>
                  </a:txBody>
                  <a:tcPr anchor="ctr">
                    <a:lnL w="28575" cap="flat" cmpd="sng" algn="ctr">
                      <a:solidFill>
                        <a:schemeClr val="tx1"/>
                      </a:solidFill>
                      <a:prstDash val="solid"/>
                      <a:round/>
                      <a:headEnd type="none" w="med" len="med"/>
                      <a:tailEnd type="none" w="med" len="med"/>
                    </a:lnL>
                  </a:tcPr>
                </a:tc>
                <a:tc>
                  <a:txBody>
                    <a:bodyPr/>
                    <a:lstStyle/>
                    <a:p>
                      <a:pPr marL="179705" indent="-179705" algn="l" defTabSz="913765" rtl="0" eaLnBrk="1" latinLnBrk="0" hangingPunct="1">
                        <a:buFont typeface="Arial" panose="020B0604020202020204" pitchFamily="34" charset="0"/>
                        <a:buChar char="•"/>
                      </a:pPr>
                      <a:r>
                        <a:rPr lang="zh-CN" altLang="en-US" sz="1400" kern="1200" dirty="0"/>
                        <a:t>不产生非缺省外部路由；</a:t>
                      </a:r>
                      <a:endParaRPr lang="en-US" altLang="zh-CN" sz="1400" kern="1200" dirty="0"/>
                    </a:p>
                    <a:p>
                      <a:pPr marL="179705" indent="-179705" algn="l" defTabSz="913765" rtl="0" eaLnBrk="1" latinLnBrk="0" hangingPunct="1">
                        <a:buFont typeface="Arial" panose="020B0604020202020204" pitchFamily="34" charset="0"/>
                        <a:buChar char="•"/>
                      </a:pPr>
                      <a:r>
                        <a:rPr lang="zh-CN" altLang="en-US" sz="1400" kern="1200" dirty="0"/>
                        <a:t>丢弃新收到的非缺省外部路由，不回复确认报文；</a:t>
                      </a:r>
                      <a:endParaRPr lang="en-US" altLang="zh-CN" sz="1400" kern="1200" dirty="0"/>
                    </a:p>
                    <a:p>
                      <a:pPr marL="179705" indent="-179705" algn="l" defTabSz="913765" rtl="0" eaLnBrk="1" latinLnBrk="0" hangingPunct="1">
                        <a:buFont typeface="Arial" panose="020B0604020202020204" pitchFamily="34" charset="0"/>
                        <a:buChar char="•"/>
                      </a:pPr>
                      <a:r>
                        <a:rPr lang="zh-CN" altLang="en-US" sz="1400" kern="1200" dirty="0"/>
                        <a:t>当</a:t>
                      </a:r>
                      <a:r>
                        <a:rPr lang="en-US" altLang="zh-CN" sz="1400" kern="1200" dirty="0"/>
                        <a:t>Overflow</a:t>
                      </a:r>
                      <a:r>
                        <a:rPr lang="zh-CN" altLang="en-US" sz="1400" kern="1200" dirty="0"/>
                        <a:t>状态定时器超时，检查外部路由数量是否仍然超过上限：</a:t>
                      </a:r>
                      <a:endParaRPr lang="en-US" altLang="zh-CN" sz="1400" kern="1200" dirty="0"/>
                    </a:p>
                    <a:p>
                      <a:pPr marL="360045" indent="-179705" algn="l">
                        <a:buFont typeface="微软雅黑" panose="020B0503020204020204" charset="-122"/>
                        <a:buChar char="▪"/>
                      </a:pPr>
                      <a:r>
                        <a:rPr lang="en-US" altLang="zh-CN" sz="1400" dirty="0"/>
                        <a:t>N</a:t>
                      </a:r>
                      <a:r>
                        <a:rPr lang="zh-CN" altLang="en-US" sz="1400" dirty="0"/>
                        <a:t>：退出</a:t>
                      </a:r>
                      <a:r>
                        <a:rPr lang="en-US" altLang="zh-CN" sz="1400" dirty="0"/>
                        <a:t>Overflow</a:t>
                      </a:r>
                      <a:r>
                        <a:rPr lang="zh-CN" altLang="en-US" sz="1400" dirty="0"/>
                        <a:t>状态；</a:t>
                      </a:r>
                      <a:endParaRPr lang="zh-CN" altLang="en-US" sz="1400" dirty="0"/>
                    </a:p>
                    <a:p>
                      <a:pPr marL="360045" indent="-179705" algn="l">
                        <a:buFont typeface="微软雅黑" panose="020B0503020204020204" charset="-122"/>
                        <a:buChar char="▪"/>
                      </a:pPr>
                      <a:r>
                        <a:rPr lang="en-US" altLang="zh-CN" sz="1400" dirty="0"/>
                        <a:t>Y</a:t>
                      </a:r>
                      <a:r>
                        <a:rPr lang="zh-CN" altLang="en-US" sz="1400" dirty="0"/>
                        <a:t>：重启</a:t>
                      </a:r>
                      <a:r>
                        <a:rPr lang="en-US" altLang="zh-CN" sz="1400" dirty="0"/>
                        <a:t>Overflow</a:t>
                      </a:r>
                      <a:r>
                        <a:rPr lang="zh-CN" altLang="en-US" sz="1400" dirty="0"/>
                        <a:t>定时器。</a:t>
                      </a:r>
                      <a:endParaRPr lang="zh-CN" altLang="en-US" sz="1400" dirty="0"/>
                    </a:p>
                  </a:txBody>
                  <a:tcPr anchor="ctr">
                    <a:lnR w="28575" cap="flat" cmpd="sng" algn="ctr">
                      <a:solidFill>
                        <a:schemeClr val="tx1"/>
                      </a:solidFill>
                      <a:prstDash val="solid"/>
                      <a:round/>
                      <a:headEnd type="none" w="med" len="med"/>
                      <a:tailEnd type="none" w="med" len="med"/>
                    </a:lnR>
                  </a:tcPr>
                </a:tc>
              </a:tr>
              <a:tr h="370840">
                <a:tc>
                  <a:txBody>
                    <a:bodyPr/>
                    <a:lstStyle/>
                    <a:p>
                      <a:pPr algn="ctr"/>
                      <a:r>
                        <a:rPr lang="zh-CN" altLang="en-US" sz="1400" dirty="0"/>
                        <a:t>退出</a:t>
                      </a:r>
                      <a:r>
                        <a:rPr lang="en-US" altLang="zh-CN" sz="1400" dirty="0"/>
                        <a:t>Overflow</a:t>
                      </a:r>
                      <a:r>
                        <a:rPr lang="zh-CN" altLang="en-US" sz="1400" dirty="0"/>
                        <a:t>状态时</a:t>
                      </a:r>
                      <a:endParaRPr lang="zh-CN" altLang="en-US" sz="1400" dirty="0"/>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179705" indent="-179705" algn="l" defTabSz="913765" rtl="0" eaLnBrk="1" latinLnBrk="0" hangingPunct="1">
                        <a:buFont typeface="Arial" panose="020B0604020202020204" pitchFamily="34" charset="0"/>
                        <a:buChar char="•"/>
                      </a:pPr>
                      <a:r>
                        <a:rPr lang="zh-CN" altLang="en-US" sz="1400" kern="1200" dirty="0"/>
                        <a:t>删除</a:t>
                      </a:r>
                      <a:r>
                        <a:rPr lang="en-US" altLang="zh-CN" sz="1400" kern="1200" dirty="0"/>
                        <a:t>Overflow</a:t>
                      </a:r>
                      <a:r>
                        <a:rPr lang="zh-CN" altLang="en-US" sz="1400" kern="1200" dirty="0"/>
                        <a:t>状态定时器；</a:t>
                      </a:r>
                      <a:endParaRPr lang="zh-CN" altLang="en-US" sz="1400" kern="1200" dirty="0"/>
                    </a:p>
                    <a:p>
                      <a:pPr marL="179705" indent="-179705" algn="l" defTabSz="913765" rtl="0" eaLnBrk="1" latinLnBrk="0" hangingPunct="1">
                        <a:buFont typeface="Arial" panose="020B0604020202020204" pitchFamily="34" charset="0"/>
                        <a:buChar char="•"/>
                      </a:pPr>
                      <a:r>
                        <a:rPr lang="zh-CN" altLang="en-US" sz="1400" kern="1200" dirty="0"/>
                        <a:t>产生非缺省外部路由；</a:t>
                      </a:r>
                      <a:endParaRPr lang="zh-CN" altLang="en-US" sz="1400" kern="1200" dirty="0"/>
                    </a:p>
                    <a:p>
                      <a:pPr marL="179705" indent="-179705" algn="l" defTabSz="913765" rtl="0" eaLnBrk="1" latinLnBrk="0" hangingPunct="1">
                        <a:buFont typeface="Arial" panose="020B0604020202020204" pitchFamily="34" charset="0"/>
                        <a:buChar char="•"/>
                      </a:pPr>
                      <a:r>
                        <a:rPr lang="zh-CN" altLang="en-US" sz="1400" kern="1200" dirty="0"/>
                        <a:t>接收新收到的非缺省外部路由，回复确认报文；</a:t>
                      </a:r>
                      <a:endParaRPr lang="zh-CN" altLang="en-US" sz="1400" kern="1200" dirty="0"/>
                    </a:p>
                    <a:p>
                      <a:pPr marL="179705" indent="-179705" algn="l" defTabSz="913765" rtl="0" eaLnBrk="1" latinLnBrk="0" hangingPunct="1">
                        <a:buFont typeface="Arial" panose="020B0604020202020204" pitchFamily="34" charset="0"/>
                        <a:buChar char="•"/>
                      </a:pPr>
                      <a:r>
                        <a:rPr lang="zh-CN" altLang="en-US" sz="1400" kern="1200" dirty="0"/>
                        <a:t>准备下一次进入</a:t>
                      </a:r>
                      <a:r>
                        <a:rPr lang="en-US" altLang="zh-CN" sz="1400" kern="1200" dirty="0"/>
                        <a:t>Overflow</a:t>
                      </a:r>
                      <a:r>
                        <a:rPr lang="zh-CN" altLang="en-US" sz="1400" kern="1200" dirty="0"/>
                        <a:t>状态。</a:t>
                      </a:r>
                      <a:endParaRPr lang="zh-CN" altLang="en-US" sz="1400" kern="1200" dirty="0">
                        <a:solidFill>
                          <a:schemeClr val="tx1"/>
                        </a:solidFill>
                        <a:latin typeface="+mn-lt"/>
                        <a:ea typeface="+mn-ea"/>
                        <a:cs typeface="+mn-cs"/>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19" name="矩形 18"/>
          <p:cNvSpPr/>
          <p:nvPr/>
        </p:nvSpPr>
        <p:spPr bwMode="gray">
          <a:xfrm>
            <a:off x="2689521" y="3807300"/>
            <a:ext cx="1099817"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重启定时器</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矩形 19"/>
          <p:cNvSpPr/>
          <p:nvPr/>
        </p:nvSpPr>
        <p:spPr bwMode="gray">
          <a:xfrm>
            <a:off x="3828660" y="3807300"/>
            <a:ext cx="1235673" cy="43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进入新一轮</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Overflow</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状态</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五边形 21"/>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燕尾形 22"/>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10037177"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燕尾形 25"/>
          <p:cNvSpPr/>
          <p:nvPr/>
        </p:nvSpPr>
        <p:spPr bwMode="auto">
          <a:xfrm>
            <a:off x="10849088"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gray">
          <a:xfrm>
            <a:off x="930356" y="1602085"/>
            <a:ext cx="4630396" cy="1439159"/>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bwMode="gray">
          <a:xfrm>
            <a:off x="1526866" y="1846529"/>
            <a:ext cx="1626101" cy="827361"/>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bwMode="gray">
          <a:xfrm>
            <a:off x="3199102" y="1846529"/>
            <a:ext cx="1626101" cy="827361"/>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bwMode="gray"/>
        <p:txBody>
          <a:bodyPr/>
          <a:lstStyle/>
          <a:p>
            <a:r>
              <a:rPr lang="en-US" altLang="zh-CN"/>
              <a:t>OSPF</a:t>
            </a:r>
            <a:r>
              <a:rPr lang="zh-CN" altLang="en-US"/>
              <a:t>路由控制配置举例 </a:t>
            </a:r>
            <a:r>
              <a:rPr lang="en-US" altLang="zh-CN"/>
              <a:t>(1)</a:t>
            </a:r>
            <a:endParaRPr lang="zh-CN" altLang="en-US" dirty="0"/>
          </a:p>
        </p:txBody>
      </p:sp>
      <p:sp>
        <p:nvSpPr>
          <p:cNvPr id="3" name="文本占位符 2"/>
          <p:cNvSpPr>
            <a:spLocks noGrp="1"/>
          </p:cNvSpPr>
          <p:nvPr>
            <p:ph type="body" sz="quarter" idx="10"/>
          </p:nvPr>
        </p:nvSpPr>
        <p:spPr bwMode="gray">
          <a:xfrm>
            <a:off x="455613" y="3709879"/>
            <a:ext cx="5640388" cy="2217676"/>
          </a:xfrm>
        </p:spPr>
        <p:txBody>
          <a:bodyPr/>
          <a:lstStyle/>
          <a:p>
            <a:r>
              <a:rPr lang="zh-CN" altLang="en-US" sz="1800" dirty="0"/>
              <a:t>如图所示，为减少</a:t>
            </a:r>
            <a:r>
              <a:rPr lang="en-US" altLang="zh-CN" sz="1800" dirty="0"/>
              <a:t>R3</a:t>
            </a:r>
            <a:r>
              <a:rPr lang="zh-CN" altLang="en-US" sz="1800" dirty="0"/>
              <a:t>的</a:t>
            </a:r>
            <a:r>
              <a:rPr lang="en-US" altLang="zh-CN" sz="1800" dirty="0"/>
              <a:t>LSA</a:t>
            </a:r>
            <a:r>
              <a:rPr lang="zh-CN" altLang="en-US" sz="1800" dirty="0"/>
              <a:t>数量，同时确保</a:t>
            </a:r>
            <a:r>
              <a:rPr lang="en-US" altLang="zh-CN" sz="1800" dirty="0"/>
              <a:t>R3</a:t>
            </a:r>
            <a:r>
              <a:rPr lang="zh-CN" altLang="en-US" sz="1800" dirty="0"/>
              <a:t>可以和其它区域内的路由器正常通行，要求：</a:t>
            </a:r>
            <a:endParaRPr lang="zh-CN" altLang="en-US" sz="1800" dirty="0"/>
          </a:p>
          <a:p>
            <a:pPr lvl="1"/>
            <a:r>
              <a:rPr lang="en-US" altLang="zh-CN" sz="1600" dirty="0"/>
              <a:t>R2</a:t>
            </a:r>
            <a:r>
              <a:rPr lang="zh-CN" altLang="en-US" sz="1600" dirty="0"/>
              <a:t>不向</a:t>
            </a:r>
            <a:r>
              <a:rPr lang="en-US" altLang="zh-CN" sz="1600" dirty="0"/>
              <a:t>Area1</a:t>
            </a:r>
            <a:r>
              <a:rPr lang="zh-CN" altLang="en-US" sz="1600" dirty="0"/>
              <a:t>中注入</a:t>
            </a:r>
            <a:r>
              <a:rPr lang="en-US" altLang="zh-CN" sz="1600" dirty="0"/>
              <a:t>Type3 LSA</a:t>
            </a:r>
            <a:r>
              <a:rPr lang="zh-CN" altLang="en-US" sz="1600" dirty="0"/>
              <a:t>。</a:t>
            </a:r>
            <a:endParaRPr lang="en-US" altLang="zh-CN" sz="1600" dirty="0"/>
          </a:p>
          <a:p>
            <a:pPr lvl="1"/>
            <a:r>
              <a:rPr lang="en-US" altLang="zh-CN" sz="1600" dirty="0"/>
              <a:t>R2</a:t>
            </a:r>
            <a:r>
              <a:rPr lang="zh-CN" altLang="en-US" sz="1600" dirty="0"/>
              <a:t>发布缺省路由。</a:t>
            </a:r>
            <a:endParaRPr lang="zh-CN" altLang="en-US" sz="1800" dirty="0"/>
          </a:p>
        </p:txBody>
      </p:sp>
      <p:sp>
        <p:nvSpPr>
          <p:cNvPr id="5" name="矩形 4"/>
          <p:cNvSpPr/>
          <p:nvPr/>
        </p:nvSpPr>
        <p:spPr bwMode="gray">
          <a:xfrm>
            <a:off x="823268" y="2673712"/>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1316366" y="2043331"/>
            <a:ext cx="540000" cy="442800"/>
          </a:xfrm>
          <a:prstGeom prst="rect">
            <a:avLst/>
          </a:prstGeom>
        </p:spPr>
      </p:pic>
      <p:cxnSp>
        <p:nvCxnSpPr>
          <p:cNvPr id="7" name="直接连接符 6"/>
          <p:cNvCxnSpPr>
            <a:stCxn id="6" idx="3"/>
            <a:endCxn id="9" idx="1"/>
          </p:cNvCxnSpPr>
          <p:nvPr/>
        </p:nvCxnSpPr>
        <p:spPr bwMode="gray">
          <a:xfrm>
            <a:off x="1856366" y="2264731"/>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bwMode="gray">
          <a:xfrm>
            <a:off x="1340504" y="1803066"/>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2918892" y="2043331"/>
            <a:ext cx="540000" cy="442800"/>
          </a:xfrm>
          <a:prstGeom prst="rect">
            <a:avLst/>
          </a:prstGeom>
        </p:spPr>
      </p:pic>
      <p:sp>
        <p:nvSpPr>
          <p:cNvPr id="10" name="矩形 9"/>
          <p:cNvSpPr/>
          <p:nvPr/>
        </p:nvSpPr>
        <p:spPr bwMode="gray">
          <a:xfrm>
            <a:off x="2943030" y="1803066"/>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11" name="直接连接符 10"/>
          <p:cNvCxnSpPr>
            <a:stCxn id="9" idx="3"/>
            <a:endCxn id="12" idx="1"/>
          </p:cNvCxnSpPr>
          <p:nvPr/>
        </p:nvCxnSpPr>
        <p:spPr bwMode="gray">
          <a:xfrm>
            <a:off x="3458892" y="2264731"/>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片 11"/>
          <p:cNvPicPr/>
          <p:nvPr/>
        </p:nvPicPr>
        <p:blipFill>
          <a:blip r:embed="rId1" cstate="print">
            <a:extLst>
              <a:ext uri="{28A0092B-C50C-407E-A947-70E740481C1C}">
                <a14:useLocalDpi xmlns:a14="http://schemas.microsoft.com/office/drawing/2010/main" val="0"/>
              </a:ext>
            </a:extLst>
          </a:blip>
          <a:stretch>
            <a:fillRect/>
          </a:stretch>
        </p:blipFill>
        <p:spPr bwMode="gray">
          <a:xfrm>
            <a:off x="4521418" y="2043331"/>
            <a:ext cx="540000" cy="442800"/>
          </a:xfrm>
          <a:prstGeom prst="rect">
            <a:avLst/>
          </a:prstGeom>
        </p:spPr>
      </p:pic>
      <p:sp>
        <p:nvSpPr>
          <p:cNvPr id="13" name="矩形 12"/>
          <p:cNvSpPr/>
          <p:nvPr/>
        </p:nvSpPr>
        <p:spPr bwMode="gray">
          <a:xfrm>
            <a:off x="4545556" y="1803066"/>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bwMode="gray">
          <a:xfrm>
            <a:off x="1881991" y="1846529"/>
            <a:ext cx="910150" cy="367473"/>
          </a:xfrm>
          <a:prstGeom prst="rect">
            <a:avLst/>
          </a:prstGeom>
        </p:spPr>
        <p:txBody>
          <a:bodyPr wrap="square">
            <a:spAutoFit/>
          </a:bodyPr>
          <a:lstStyle/>
          <a:p>
            <a:pPr algn="ctr" fontAlgn="auto">
              <a:lnSpc>
                <a:spcPts val="2400"/>
              </a:lnSpc>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3535080" y="1846529"/>
            <a:ext cx="910150" cy="367473"/>
          </a:xfrm>
          <a:prstGeom prst="rect">
            <a:avLst/>
          </a:prstGeom>
        </p:spPr>
        <p:txBody>
          <a:bodyPr wrap="square">
            <a:spAutoFit/>
          </a:bodyPr>
          <a:lstStyle/>
          <a:p>
            <a:pPr algn="ctr" fontAlgn="auto">
              <a:lnSpc>
                <a:spcPts val="2400"/>
              </a:lnSpc>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23" name="直接箭头连接符 22"/>
          <p:cNvCxnSpPr/>
          <p:nvPr/>
        </p:nvCxnSpPr>
        <p:spPr bwMode="gray">
          <a:xfrm>
            <a:off x="3674758" y="2377834"/>
            <a:ext cx="720000" cy="0"/>
          </a:xfrm>
          <a:prstGeom prst="straightConnector1">
            <a:avLst/>
          </a:prstGeom>
          <a:ln w="28575">
            <a:solidFill>
              <a:srgbClr val="C7000B"/>
            </a:solidFill>
            <a:tailEnd type="triangle"/>
          </a:ln>
        </p:spPr>
        <p:style>
          <a:lnRef idx="1">
            <a:schemeClr val="accent1"/>
          </a:lnRef>
          <a:fillRef idx="0">
            <a:schemeClr val="accent1"/>
          </a:fillRef>
          <a:effectRef idx="0">
            <a:schemeClr val="accent1"/>
          </a:effectRef>
          <a:fontRef idx="minor">
            <a:schemeClr val="tx1"/>
          </a:fontRef>
        </p:style>
      </p:cxnSp>
      <p:grpSp>
        <p:nvGrpSpPr>
          <p:cNvPr id="27" name="组合 26"/>
          <p:cNvGrpSpPr/>
          <p:nvPr/>
        </p:nvGrpSpPr>
        <p:grpSpPr bwMode="gray">
          <a:xfrm>
            <a:off x="3918155" y="2303432"/>
            <a:ext cx="144000" cy="143999"/>
            <a:chOff x="6024000" y="3357001"/>
            <a:chExt cx="144000" cy="143999"/>
          </a:xfrm>
        </p:grpSpPr>
        <p:cxnSp>
          <p:nvCxnSpPr>
            <p:cNvPr id="25" name="直接连接符 24"/>
            <p:cNvCxnSpPr/>
            <p:nvPr/>
          </p:nvCxnSpPr>
          <p:spPr bwMode="gray">
            <a:xfrm flipV="1">
              <a:off x="6024000" y="3357001"/>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26" name="直接连接符 25"/>
            <p:cNvCxnSpPr/>
            <p:nvPr/>
          </p:nvCxnSpPr>
          <p:spPr bwMode="gray">
            <a:xfrm>
              <a:off x="6024000" y="3357001"/>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cxnSp>
        <p:nvCxnSpPr>
          <p:cNvPr id="28" name="直接箭头连接符 27"/>
          <p:cNvCxnSpPr/>
          <p:nvPr/>
        </p:nvCxnSpPr>
        <p:spPr bwMode="gray">
          <a:xfrm>
            <a:off x="4341418" y="3345182"/>
            <a:ext cx="360000" cy="0"/>
          </a:xfrm>
          <a:prstGeom prst="straightConnector1">
            <a:avLst/>
          </a:prstGeom>
          <a:ln w="28575">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p:cNvSpPr/>
          <p:nvPr/>
        </p:nvSpPr>
        <p:spPr bwMode="gray">
          <a:xfrm>
            <a:off x="4569694" y="3114335"/>
            <a:ext cx="1163551" cy="400110"/>
          </a:xfrm>
          <a:prstGeom prst="rect">
            <a:avLst/>
          </a:prstGeom>
        </p:spPr>
        <p:txBody>
          <a:bodyPr wrap="square">
            <a:spAutoFit/>
          </a:bodyPr>
          <a:lstStyle/>
          <a:p>
            <a:pPr algn="ctr" fontAlgn="auto">
              <a:lnSpc>
                <a:spcPts val="2400"/>
              </a:lnSpc>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Type3 LSA</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0" name="文本框 31"/>
          <p:cNvSpPr txBox="1"/>
          <p:nvPr/>
        </p:nvSpPr>
        <p:spPr bwMode="gray">
          <a:xfrm>
            <a:off x="6082309" y="1251540"/>
            <a:ext cx="4285147"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OSPF</a:t>
            </a:r>
            <a:r>
              <a:rPr lang="zh-CN" altLang="en-US" sz="1600" dirty="0">
                <a:solidFill>
                  <a:prstClr val="black"/>
                </a:solidFill>
              </a:rPr>
              <a:t>。（略）</a:t>
            </a:r>
            <a:endParaRPr lang="zh-CN" altLang="en-US" sz="1600" dirty="0">
              <a:solidFill>
                <a:prstClr val="black"/>
              </a:solidFill>
            </a:endParaRPr>
          </a:p>
        </p:txBody>
      </p:sp>
      <p:sp>
        <p:nvSpPr>
          <p:cNvPr id="31" name="文本框 32"/>
          <p:cNvSpPr txBox="1"/>
          <p:nvPr/>
        </p:nvSpPr>
        <p:spPr bwMode="gray">
          <a:xfrm>
            <a:off x="6425500" y="2145771"/>
            <a:ext cx="4642749" cy="1384995"/>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acl</a:t>
            </a:r>
            <a:r>
              <a:rPr lang="en-US" altLang="zh-CN" sz="1400" dirty="0">
                <a:solidFill>
                  <a:prstClr val="black"/>
                </a:solidFill>
                <a:cs typeface="Courier New" panose="02070309020205020404" pitchFamily="49" charset="0"/>
              </a:rPr>
              <a:t> 2000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[R2-acl-basic-2000] rule deny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[R2-acl-basic-2000] quit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 area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[R2-ospf-1-area-0.0.0.1] </a:t>
            </a:r>
            <a:r>
              <a:rPr lang="en-US" altLang="zh-CN" sz="1400" b="1" dirty="0">
                <a:solidFill>
                  <a:prstClr val="black"/>
                </a:solidFill>
                <a:cs typeface="Courier New" panose="02070309020205020404" pitchFamily="49" charset="0"/>
              </a:rPr>
              <a:t>filter 2000 import</a:t>
            </a:r>
            <a:endParaRPr lang="en-US" altLang="zh-CN" sz="1400" b="1" dirty="0">
              <a:solidFill>
                <a:prstClr val="black"/>
              </a:solidFill>
              <a:cs typeface="Courier New" panose="02070309020205020404" pitchFamily="49" charset="0"/>
            </a:endParaRPr>
          </a:p>
        </p:txBody>
      </p:sp>
      <p:sp>
        <p:nvSpPr>
          <p:cNvPr id="32" name="文本框 33"/>
          <p:cNvSpPr txBox="1"/>
          <p:nvPr/>
        </p:nvSpPr>
        <p:spPr bwMode="gray">
          <a:xfrm>
            <a:off x="6082309" y="1782582"/>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、配置</a:t>
            </a:r>
            <a:r>
              <a:rPr lang="en-US" altLang="zh-CN" sz="1600" dirty="0">
                <a:solidFill>
                  <a:prstClr val="black"/>
                </a:solidFill>
              </a:rPr>
              <a:t>R2</a:t>
            </a:r>
            <a:r>
              <a:rPr lang="zh-CN" altLang="en-US" sz="1600" dirty="0">
                <a:solidFill>
                  <a:prstClr val="black"/>
                </a:solidFill>
              </a:rPr>
              <a:t>过滤</a:t>
            </a:r>
            <a:r>
              <a:rPr lang="en-US" altLang="zh-CN" sz="1600" dirty="0">
                <a:solidFill>
                  <a:prstClr val="black"/>
                </a:solidFill>
              </a:rPr>
              <a:t>Type3 LSA</a:t>
            </a:r>
            <a:r>
              <a:rPr lang="zh-CN" altLang="en-US" sz="1600" dirty="0">
                <a:solidFill>
                  <a:prstClr val="black"/>
                </a:solidFill>
              </a:rPr>
              <a:t>。</a:t>
            </a:r>
            <a:endParaRPr lang="zh-CN" altLang="en-US" sz="1600" dirty="0">
              <a:solidFill>
                <a:prstClr val="black"/>
              </a:solidFill>
            </a:endParaRPr>
          </a:p>
        </p:txBody>
      </p:sp>
      <p:sp>
        <p:nvSpPr>
          <p:cNvPr id="33" name="文本框 32"/>
          <p:cNvSpPr txBox="1"/>
          <p:nvPr/>
        </p:nvSpPr>
        <p:spPr bwMode="gray">
          <a:xfrm>
            <a:off x="6425500" y="4180324"/>
            <a:ext cx="4642749"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 </a:t>
            </a:r>
            <a:r>
              <a:rPr lang="en-US" altLang="zh-CN" sz="1400" b="1" dirty="0">
                <a:solidFill>
                  <a:prstClr val="black"/>
                </a:solidFill>
                <a:cs typeface="Courier New" panose="02070309020205020404" pitchFamily="49" charset="0"/>
              </a:rPr>
              <a:t>default-route-advertise always</a:t>
            </a:r>
            <a:endParaRPr lang="en-US" altLang="zh-CN" sz="1400" dirty="0">
              <a:solidFill>
                <a:prstClr val="black"/>
              </a:solidFill>
              <a:cs typeface="Courier New" panose="02070309020205020404" pitchFamily="49" charset="0"/>
            </a:endParaRPr>
          </a:p>
        </p:txBody>
      </p:sp>
      <p:sp>
        <p:nvSpPr>
          <p:cNvPr id="34" name="文本框 33"/>
          <p:cNvSpPr txBox="1"/>
          <p:nvPr/>
        </p:nvSpPr>
        <p:spPr bwMode="gray">
          <a:xfrm>
            <a:off x="6082309" y="3817135"/>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、配置</a:t>
            </a:r>
            <a:r>
              <a:rPr lang="en-US" altLang="zh-CN" sz="1600" dirty="0">
                <a:solidFill>
                  <a:prstClr val="black"/>
                </a:solidFill>
              </a:rPr>
              <a:t>R2</a:t>
            </a:r>
            <a:r>
              <a:rPr lang="zh-CN" altLang="en-US" sz="1600" dirty="0">
                <a:solidFill>
                  <a:prstClr val="black"/>
                </a:solidFill>
              </a:rPr>
              <a:t>发布缺省路由。</a:t>
            </a:r>
            <a:endParaRPr lang="zh-CN" altLang="en-US" sz="1600" dirty="0">
              <a:solidFill>
                <a:prstClr val="black"/>
              </a:solidFill>
            </a:endParaRPr>
          </a:p>
        </p:txBody>
      </p:sp>
      <p:sp>
        <p:nvSpPr>
          <p:cNvPr id="40" name="五边形 39"/>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a:t>
            </a:r>
            <a:r>
              <a:rPr lang="zh-CN" altLang="en-US"/>
              <a:t>路由控制配置举例 </a:t>
            </a:r>
            <a:r>
              <a:rPr lang="en-US" altLang="zh-CN"/>
              <a:t>(2)</a:t>
            </a:r>
            <a:endParaRPr lang="zh-CN" altLang="en-US" dirty="0"/>
          </a:p>
        </p:txBody>
      </p:sp>
      <p:sp>
        <p:nvSpPr>
          <p:cNvPr id="30" name="文本框 31"/>
          <p:cNvSpPr txBox="1"/>
          <p:nvPr/>
        </p:nvSpPr>
        <p:spPr>
          <a:xfrm>
            <a:off x="6082309" y="1251541"/>
            <a:ext cx="2052165"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、查看</a:t>
            </a:r>
            <a:r>
              <a:rPr lang="en-US" altLang="zh-CN" sz="1600" dirty="0">
                <a:solidFill>
                  <a:prstClr val="black"/>
                </a:solidFill>
              </a:rPr>
              <a:t>R3</a:t>
            </a:r>
            <a:r>
              <a:rPr lang="zh-CN" altLang="en-US" sz="1600" dirty="0">
                <a:solidFill>
                  <a:prstClr val="black"/>
                </a:solidFill>
              </a:rPr>
              <a:t>的</a:t>
            </a:r>
            <a:r>
              <a:rPr lang="en-US" altLang="zh-CN" sz="1600" dirty="0">
                <a:solidFill>
                  <a:prstClr val="black"/>
                </a:solidFill>
              </a:rPr>
              <a:t>LSDB</a:t>
            </a:r>
            <a:r>
              <a:rPr lang="zh-CN" altLang="en-US" sz="1600" dirty="0">
                <a:solidFill>
                  <a:prstClr val="black"/>
                </a:solidFill>
              </a:rPr>
              <a:t>。</a:t>
            </a:r>
            <a:endParaRPr lang="zh-CN" altLang="en-US" sz="1600" dirty="0">
              <a:solidFill>
                <a:prstClr val="black"/>
              </a:solidFill>
            </a:endParaRPr>
          </a:p>
        </p:txBody>
      </p:sp>
      <p:sp>
        <p:nvSpPr>
          <p:cNvPr id="31" name="文本框 32"/>
          <p:cNvSpPr txBox="1"/>
          <p:nvPr/>
        </p:nvSpPr>
        <p:spPr>
          <a:xfrm>
            <a:off x="6096000" y="1587634"/>
            <a:ext cx="5649913" cy="230832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200" dirty="0">
                <a:solidFill>
                  <a:prstClr val="black"/>
                </a:solidFill>
                <a:cs typeface="Courier New" panose="02070309020205020404" pitchFamily="49" charset="0"/>
              </a:rPr>
              <a:t>[R3]display </a:t>
            </a:r>
            <a:r>
              <a:rPr lang="en-US" altLang="zh-CN" sz="1200" dirty="0" err="1">
                <a:solidFill>
                  <a:prstClr val="black"/>
                </a:solidFill>
                <a:cs typeface="Courier New" panose="02070309020205020404" pitchFamily="49" charset="0"/>
              </a:rPr>
              <a:t>ospf</a:t>
            </a:r>
            <a:r>
              <a:rPr lang="en-US" altLang="zh-CN" sz="1200" dirty="0">
                <a:solidFill>
                  <a:prstClr val="black"/>
                </a:solidFill>
                <a:cs typeface="Courier New" panose="02070309020205020404" pitchFamily="49" charset="0"/>
              </a:rPr>
              <a:t> </a:t>
            </a:r>
            <a:r>
              <a:rPr lang="en-US" altLang="zh-CN" sz="1200" dirty="0" err="1">
                <a:solidFill>
                  <a:prstClr val="black"/>
                </a:solidFill>
                <a:cs typeface="Courier New" panose="02070309020205020404" pitchFamily="49" charset="0"/>
              </a:rPr>
              <a:t>lsdb</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OSPF Process 1 with Router ID 10.1.23.3</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Link State Database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Area: 0.0.0.1</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Type	</a:t>
            </a:r>
            <a:r>
              <a:rPr lang="en-US" altLang="zh-CN" sz="1200" dirty="0" err="1">
                <a:solidFill>
                  <a:prstClr val="black"/>
                </a:solidFill>
                <a:cs typeface="Courier New" panose="02070309020205020404" pitchFamily="49" charset="0"/>
              </a:rPr>
              <a:t>LinkState</a:t>
            </a:r>
            <a:r>
              <a:rPr lang="en-US" altLang="zh-CN" sz="1200" dirty="0">
                <a:solidFill>
                  <a:prstClr val="black"/>
                </a:solidFill>
                <a:cs typeface="Courier New" panose="02070309020205020404" pitchFamily="49" charset="0"/>
              </a:rPr>
              <a:t> ID	 </a:t>
            </a:r>
            <a:r>
              <a:rPr lang="en-US" altLang="zh-CN" sz="1200" dirty="0" err="1">
                <a:solidFill>
                  <a:prstClr val="black"/>
                </a:solidFill>
                <a:cs typeface="Courier New" panose="02070309020205020404" pitchFamily="49" charset="0"/>
              </a:rPr>
              <a:t>AdvRouter</a:t>
            </a:r>
            <a:r>
              <a:rPr lang="en-US" altLang="zh-CN" sz="1200" dirty="0">
                <a:solidFill>
                  <a:prstClr val="black"/>
                </a:solidFill>
                <a:cs typeface="Courier New" panose="02070309020205020404" pitchFamily="49" charset="0"/>
              </a:rPr>
              <a:t>	Age  Len  Sequence   Metric</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Router	10.1.23.3       10.1.23.3 	731  48    80000004       1</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Router    	10.1.12.2       10.1.12.2	406  36    80000008       1</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Network   	10.1.23.2       10.1.12.2	730  32    80000002       0</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AS External Database</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Type      	</a:t>
            </a:r>
            <a:r>
              <a:rPr lang="en-US" altLang="zh-CN" sz="1200" dirty="0" err="1">
                <a:solidFill>
                  <a:prstClr val="black"/>
                </a:solidFill>
                <a:cs typeface="Courier New" panose="02070309020205020404" pitchFamily="49" charset="0"/>
              </a:rPr>
              <a:t>LinkState</a:t>
            </a:r>
            <a:r>
              <a:rPr lang="en-US" altLang="zh-CN" sz="1200" dirty="0">
                <a:solidFill>
                  <a:prstClr val="black"/>
                </a:solidFill>
                <a:cs typeface="Courier New" panose="02070309020205020404" pitchFamily="49" charset="0"/>
              </a:rPr>
              <a:t> ID	 </a:t>
            </a:r>
            <a:r>
              <a:rPr lang="en-US" altLang="zh-CN" sz="1200" dirty="0" err="1">
                <a:solidFill>
                  <a:prstClr val="black"/>
                </a:solidFill>
                <a:cs typeface="Courier New" panose="02070309020205020404" pitchFamily="49" charset="0"/>
              </a:rPr>
              <a:t>AdvRouter</a:t>
            </a:r>
            <a:r>
              <a:rPr lang="en-US" altLang="zh-CN" sz="1200" dirty="0">
                <a:solidFill>
                  <a:prstClr val="black"/>
                </a:solidFill>
                <a:cs typeface="Courier New" panose="02070309020205020404" pitchFamily="49" charset="0"/>
              </a:rPr>
              <a:t>	Age  Len  Sequence   Metric</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a:t>
            </a:r>
            <a:r>
              <a:rPr lang="en-US" altLang="zh-CN" sz="1200" dirty="0">
                <a:solidFill>
                  <a:srgbClr val="C7000B"/>
                </a:solidFill>
                <a:cs typeface="Courier New" panose="02070309020205020404" pitchFamily="49" charset="0"/>
              </a:rPr>
              <a:t>External  	0.0.0.0	 10.1.12.2	406  36    80000001       1</a:t>
            </a:r>
            <a:endParaRPr lang="en-US" altLang="zh-CN" sz="1200" dirty="0">
              <a:solidFill>
                <a:srgbClr val="C7000B"/>
              </a:solidFill>
              <a:cs typeface="Courier New" panose="02070309020205020404" pitchFamily="49" charset="0"/>
            </a:endParaRPr>
          </a:p>
        </p:txBody>
      </p:sp>
      <p:sp>
        <p:nvSpPr>
          <p:cNvPr id="35" name="文本框 31"/>
          <p:cNvSpPr txBox="1"/>
          <p:nvPr/>
        </p:nvSpPr>
        <p:spPr>
          <a:xfrm>
            <a:off x="6082309" y="4109145"/>
            <a:ext cx="2182008"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、查看</a:t>
            </a:r>
            <a:r>
              <a:rPr lang="en-US" altLang="zh-CN" sz="1600" dirty="0">
                <a:solidFill>
                  <a:prstClr val="black"/>
                </a:solidFill>
              </a:rPr>
              <a:t>R3</a:t>
            </a:r>
            <a:r>
              <a:rPr lang="zh-CN" altLang="en-US" sz="1600" dirty="0">
                <a:solidFill>
                  <a:prstClr val="black"/>
                </a:solidFill>
              </a:rPr>
              <a:t>的路由表。</a:t>
            </a:r>
            <a:endParaRPr lang="zh-CN" altLang="en-US" sz="1600" dirty="0">
              <a:solidFill>
                <a:srgbClr val="FF0000"/>
              </a:solidFill>
            </a:endParaRPr>
          </a:p>
        </p:txBody>
      </p:sp>
      <p:sp>
        <p:nvSpPr>
          <p:cNvPr id="36" name="文本框 32"/>
          <p:cNvSpPr txBox="1"/>
          <p:nvPr/>
        </p:nvSpPr>
        <p:spPr>
          <a:xfrm>
            <a:off x="6096000" y="4445238"/>
            <a:ext cx="5649913" cy="156966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200" dirty="0">
                <a:solidFill>
                  <a:prstClr val="black"/>
                </a:solidFill>
                <a:cs typeface="Courier New" panose="02070309020205020404" pitchFamily="49" charset="0"/>
              </a:rPr>
              <a:t>[R3]dis </a:t>
            </a:r>
            <a:r>
              <a:rPr lang="en-US" altLang="zh-CN" sz="1200" dirty="0" err="1">
                <a:solidFill>
                  <a:prstClr val="black"/>
                </a:solidFill>
                <a:cs typeface="Courier New" panose="02070309020205020404" pitchFamily="49" charset="0"/>
              </a:rPr>
              <a:t>ip</a:t>
            </a:r>
            <a:r>
              <a:rPr lang="en-US" altLang="zh-CN" sz="1200" dirty="0">
                <a:solidFill>
                  <a:prstClr val="black"/>
                </a:solidFill>
                <a:cs typeface="Courier New" panose="02070309020205020404" pitchFamily="49" charset="0"/>
              </a:rPr>
              <a:t> routing-table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Route Flags: R - relay, D - download to fib</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Routing Tables: Public</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Destinations : 9        Routes : 9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Destination/Mask    Proto    Pre  Cost	Flags </a:t>
            </a:r>
            <a:r>
              <a:rPr lang="en-US" altLang="zh-CN" sz="1200" dirty="0" err="1">
                <a:solidFill>
                  <a:prstClr val="black"/>
                </a:solidFill>
                <a:cs typeface="Courier New" panose="02070309020205020404" pitchFamily="49" charset="0"/>
              </a:rPr>
              <a:t>NextHop</a:t>
            </a:r>
            <a:r>
              <a:rPr lang="en-US" altLang="zh-CN" sz="1200" dirty="0">
                <a:solidFill>
                  <a:prstClr val="black"/>
                </a:solidFill>
                <a:cs typeface="Courier New" panose="02070309020205020404" pitchFamily="49" charset="0"/>
              </a:rPr>
              <a:t>   Interface</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srgbClr val="C7000B"/>
                </a:solidFill>
                <a:cs typeface="Courier New" panose="02070309020205020404" pitchFamily="49" charset="0"/>
              </a:rPr>
              <a:t>0.0.0.0/0   	          O_ASE   150  1	D      10.1.23.2   GigabitEthernet0/0/1</a:t>
            </a:r>
            <a:endParaRPr lang="en-US" altLang="zh-CN" sz="1200" dirty="0">
              <a:solidFill>
                <a:srgbClr val="C7000B"/>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a:t>
            </a:r>
            <a:endParaRPr lang="en-US" altLang="zh-CN" sz="1200" dirty="0">
              <a:solidFill>
                <a:prstClr val="black"/>
              </a:solidFill>
              <a:cs typeface="Courier New" panose="02070309020205020404" pitchFamily="49" charset="0"/>
            </a:endParaRPr>
          </a:p>
        </p:txBody>
      </p:sp>
      <p:sp>
        <p:nvSpPr>
          <p:cNvPr id="37" name="矩形 36"/>
          <p:cNvSpPr/>
          <p:nvPr/>
        </p:nvSpPr>
        <p:spPr bwMode="gray">
          <a:xfrm>
            <a:off x="1427163" y="3811153"/>
            <a:ext cx="4063458" cy="1097280"/>
          </a:xfrm>
          <a:prstGeom prst="rect">
            <a:avLst/>
          </a:prstGeom>
          <a:solidFill>
            <a:srgbClr val="FFF8E5"/>
          </a:solidFill>
          <a:ln w="12700">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285750" indent="-285750">
              <a:lnSpc>
                <a:spcPct val="125000"/>
              </a:lnSpc>
              <a:buFont typeface="Arial" panose="020B0604020202020204" pitchFamily="34" charset="0"/>
              <a:buChar char="•"/>
            </a:pPr>
            <a:r>
              <a:rPr lang="zh-CN" altLang="en-US" sz="1600" dirty="0">
                <a:solidFill>
                  <a:schemeClr val="tx1"/>
                </a:solidFill>
                <a:latin typeface="Huawei Sans" panose="020C0503030203020204" pitchFamily="34" charset="0"/>
                <a:ea typeface="方正兰亭黑简体" panose="02000000000000000000" pitchFamily="2" charset="-122"/>
              </a:rPr>
              <a:t>可以看到</a:t>
            </a:r>
            <a:r>
              <a:rPr lang="en-US" altLang="zh-CN" sz="1600" dirty="0">
                <a:solidFill>
                  <a:schemeClr val="tx1"/>
                </a:solidFill>
                <a:latin typeface="Huawei Sans" panose="020C0503030203020204" pitchFamily="34" charset="0"/>
                <a:ea typeface="方正兰亭黑简体" panose="02000000000000000000" pitchFamily="2" charset="-122"/>
              </a:rPr>
              <a:t>Area1</a:t>
            </a:r>
            <a:r>
              <a:rPr lang="zh-CN" altLang="en-US" sz="1600" dirty="0">
                <a:solidFill>
                  <a:schemeClr val="tx1"/>
                </a:solidFill>
                <a:latin typeface="Huawei Sans" panose="020C0503030203020204" pitchFamily="34" charset="0"/>
                <a:ea typeface="方正兰亭黑简体" panose="02000000000000000000" pitchFamily="2" charset="-122"/>
              </a:rPr>
              <a:t>内设备</a:t>
            </a:r>
            <a:r>
              <a:rPr lang="en-US" altLang="zh-CN" sz="1600" dirty="0">
                <a:solidFill>
                  <a:schemeClr val="tx1"/>
                </a:solidFill>
                <a:latin typeface="Huawei Sans" panose="020C0503030203020204" pitchFamily="34" charset="0"/>
                <a:ea typeface="方正兰亭黑简体" panose="02000000000000000000" pitchFamily="2" charset="-122"/>
              </a:rPr>
              <a:t>R3</a:t>
            </a:r>
            <a:r>
              <a:rPr lang="zh-CN" altLang="en-US" sz="1600" dirty="0">
                <a:solidFill>
                  <a:schemeClr val="tx1"/>
                </a:solidFill>
                <a:latin typeface="Huawei Sans" panose="020C0503030203020204" pitchFamily="34" charset="0"/>
                <a:ea typeface="方正兰亭黑简体" panose="02000000000000000000" pitchFamily="2" charset="-122"/>
              </a:rPr>
              <a:t>的</a:t>
            </a:r>
            <a:r>
              <a:rPr lang="en-US" altLang="zh-CN" sz="1600" dirty="0">
                <a:solidFill>
                  <a:schemeClr val="tx1"/>
                </a:solidFill>
                <a:latin typeface="Huawei Sans" panose="020C0503030203020204" pitchFamily="34" charset="0"/>
                <a:ea typeface="方正兰亭黑简体" panose="02000000000000000000" pitchFamily="2" charset="-122"/>
              </a:rPr>
              <a:t>LSDB</a:t>
            </a:r>
            <a:r>
              <a:rPr lang="zh-CN" altLang="en-US" sz="1600" dirty="0">
                <a:solidFill>
                  <a:schemeClr val="tx1"/>
                </a:solidFill>
                <a:latin typeface="Huawei Sans" panose="020C0503030203020204" pitchFamily="34" charset="0"/>
                <a:ea typeface="方正兰亭黑简体" panose="02000000000000000000" pitchFamily="2" charset="-122"/>
              </a:rPr>
              <a:t>中没有</a:t>
            </a:r>
            <a:r>
              <a:rPr lang="en-US" altLang="zh-CN" sz="1600" dirty="0">
                <a:solidFill>
                  <a:schemeClr val="tx1"/>
                </a:solidFill>
                <a:latin typeface="Huawei Sans" panose="020C0503030203020204" pitchFamily="34" charset="0"/>
                <a:ea typeface="方正兰亭黑简体" panose="02000000000000000000" pitchFamily="2" charset="-122"/>
              </a:rPr>
              <a:t>Type3 LSA</a:t>
            </a:r>
            <a:r>
              <a:rPr lang="zh-CN" altLang="en-US" sz="1600" dirty="0">
                <a:solidFill>
                  <a:schemeClr val="tx1"/>
                </a:solidFill>
                <a:latin typeface="Huawei Sans" panose="020C0503030203020204" pitchFamily="34" charset="0"/>
                <a:ea typeface="方正兰亭黑简体" panose="02000000000000000000" pitchFamily="2" charset="-122"/>
              </a:rPr>
              <a:t>，但是有</a:t>
            </a:r>
            <a:r>
              <a:rPr lang="en-US" altLang="zh-CN" sz="1600" dirty="0">
                <a:solidFill>
                  <a:schemeClr val="tx1"/>
                </a:solidFill>
                <a:latin typeface="Huawei Sans" panose="020C0503030203020204" pitchFamily="34" charset="0"/>
                <a:ea typeface="方正兰亭黑简体" panose="02000000000000000000" pitchFamily="2" charset="-122"/>
              </a:rPr>
              <a:t>Type5</a:t>
            </a:r>
            <a:r>
              <a:rPr lang="zh-CN" altLang="en-US" sz="1600" dirty="0">
                <a:solidFill>
                  <a:schemeClr val="tx1"/>
                </a:solidFill>
                <a:latin typeface="Huawei Sans" panose="020C0503030203020204" pitchFamily="34" charset="0"/>
                <a:ea typeface="方正兰亭黑简体" panose="02000000000000000000" pitchFamily="2" charset="-122"/>
              </a:rPr>
              <a:t>缺省</a:t>
            </a:r>
            <a:r>
              <a:rPr lang="en-US" altLang="zh-CN" sz="1600" dirty="0">
                <a:solidFill>
                  <a:schemeClr val="tx1"/>
                </a:solidFill>
                <a:latin typeface="Huawei Sans" panose="020C0503030203020204" pitchFamily="34" charset="0"/>
                <a:ea typeface="方正兰亭黑简体" panose="02000000000000000000" pitchFamily="2" charset="-122"/>
              </a:rPr>
              <a:t>LSA</a:t>
            </a:r>
            <a:r>
              <a:rPr lang="zh-CN" altLang="en-US" sz="1600" dirty="0">
                <a:solidFill>
                  <a:schemeClr val="tx1"/>
                </a:solidFill>
                <a:latin typeface="Huawei Sans" panose="020C0503030203020204" pitchFamily="34" charset="0"/>
                <a:ea typeface="方正兰亭黑简体" panose="02000000000000000000" pitchFamily="2" charset="-122"/>
              </a:rPr>
              <a:t>。</a:t>
            </a:r>
            <a:endParaRPr lang="en-US" altLang="zh-CN" sz="1600" dirty="0">
              <a:solidFill>
                <a:schemeClr val="tx1"/>
              </a:solidFill>
              <a:latin typeface="Huawei Sans" panose="020C0503030203020204" pitchFamily="34" charset="0"/>
              <a:ea typeface="方正兰亭黑简体" panose="02000000000000000000" pitchFamily="2" charset="-122"/>
            </a:endParaRPr>
          </a:p>
          <a:p>
            <a:pPr marL="285750" indent="-285750">
              <a:lnSpc>
                <a:spcPct val="125000"/>
              </a:lnSpc>
              <a:buFont typeface="Arial" panose="020B0604020202020204" pitchFamily="34" charset="0"/>
              <a:buChar char="•"/>
            </a:pPr>
            <a:r>
              <a:rPr lang="en-US" altLang="zh-CN" sz="1600" dirty="0">
                <a:solidFill>
                  <a:schemeClr val="tx1"/>
                </a:solidFill>
                <a:latin typeface="Huawei Sans" panose="020C0503030203020204" pitchFamily="34" charset="0"/>
                <a:ea typeface="方正兰亭黑简体" panose="02000000000000000000" pitchFamily="2" charset="-122"/>
              </a:rPr>
              <a:t>R3</a:t>
            </a:r>
            <a:r>
              <a:rPr lang="zh-CN" altLang="en-US" sz="1600" dirty="0">
                <a:solidFill>
                  <a:schemeClr val="tx1"/>
                </a:solidFill>
                <a:latin typeface="Huawei Sans" panose="020C0503030203020204" pitchFamily="34" charset="0"/>
                <a:ea typeface="方正兰亭黑简体" panose="02000000000000000000" pitchFamily="2" charset="-122"/>
              </a:rPr>
              <a:t>可以通过缺省路由访问其他区域设备。</a:t>
            </a:r>
            <a:endParaRPr lang="zh-CN" altLang="en-US" sz="1600" dirty="0">
              <a:solidFill>
                <a:schemeClr val="tx1"/>
              </a:solidFill>
              <a:latin typeface="Huawei Sans" panose="020C0503030203020204" pitchFamily="34" charset="0"/>
              <a:ea typeface="方正兰亭黑简体" panose="02000000000000000000" pitchFamily="2" charset="-122"/>
            </a:endParaRPr>
          </a:p>
        </p:txBody>
      </p:sp>
      <p:cxnSp>
        <p:nvCxnSpPr>
          <p:cNvPr id="38" name="直接箭头连接符 37"/>
          <p:cNvCxnSpPr>
            <a:stCxn id="37" idx="3"/>
          </p:cNvCxnSpPr>
          <p:nvPr/>
        </p:nvCxnSpPr>
        <p:spPr bwMode="gray">
          <a:xfrm flipV="1">
            <a:off x="5490621" y="3895958"/>
            <a:ext cx="591688" cy="463835"/>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41" name="五边形 40"/>
          <p:cNvSpPr/>
          <p:nvPr/>
        </p:nvSpPr>
        <p:spPr bwMode="auto">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燕尾形 41"/>
          <p:cNvSpPr/>
          <p:nvPr/>
        </p:nvSpPr>
        <p:spPr bwMode="auto">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auto">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auto">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930356" y="1602085"/>
            <a:ext cx="4630396" cy="1439159"/>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bwMode="gray">
          <a:xfrm>
            <a:off x="1526866" y="1846529"/>
            <a:ext cx="1626101" cy="827361"/>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bwMode="gray">
          <a:xfrm>
            <a:off x="3199102" y="1846529"/>
            <a:ext cx="1626101" cy="827361"/>
          </a:xfrm>
          <a:prstGeom prst="ellipse">
            <a:avLst/>
          </a:prstGeom>
          <a:solidFill>
            <a:schemeClr val="bg1"/>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bwMode="gray">
          <a:xfrm>
            <a:off x="823268" y="2673712"/>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50" name="图片 49"/>
          <p:cNvPicPr/>
          <p:nvPr/>
        </p:nvPicPr>
        <p:blipFill>
          <a:blip r:embed="rId1" cstate="print">
            <a:extLst>
              <a:ext uri="{28A0092B-C50C-407E-A947-70E740481C1C}">
                <a14:useLocalDpi xmlns:a14="http://schemas.microsoft.com/office/drawing/2010/main" val="0"/>
              </a:ext>
            </a:extLst>
          </a:blip>
          <a:stretch>
            <a:fillRect/>
          </a:stretch>
        </p:blipFill>
        <p:spPr bwMode="gray">
          <a:xfrm>
            <a:off x="1316366" y="2043331"/>
            <a:ext cx="540000" cy="442800"/>
          </a:xfrm>
          <a:prstGeom prst="rect">
            <a:avLst/>
          </a:prstGeom>
        </p:spPr>
      </p:pic>
      <p:cxnSp>
        <p:nvCxnSpPr>
          <p:cNvPr id="51" name="直接连接符 50"/>
          <p:cNvCxnSpPr>
            <a:stCxn id="50" idx="3"/>
            <a:endCxn id="53" idx="1"/>
          </p:cNvCxnSpPr>
          <p:nvPr/>
        </p:nvCxnSpPr>
        <p:spPr bwMode="gray">
          <a:xfrm>
            <a:off x="1856366" y="2264731"/>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矩形 51"/>
          <p:cNvSpPr/>
          <p:nvPr/>
        </p:nvSpPr>
        <p:spPr bwMode="gray">
          <a:xfrm>
            <a:off x="1340504" y="1803066"/>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53" name="图片 52"/>
          <p:cNvPicPr/>
          <p:nvPr/>
        </p:nvPicPr>
        <p:blipFill>
          <a:blip r:embed="rId1" cstate="print">
            <a:extLst>
              <a:ext uri="{28A0092B-C50C-407E-A947-70E740481C1C}">
                <a14:useLocalDpi xmlns:a14="http://schemas.microsoft.com/office/drawing/2010/main" val="0"/>
              </a:ext>
            </a:extLst>
          </a:blip>
          <a:stretch>
            <a:fillRect/>
          </a:stretch>
        </p:blipFill>
        <p:spPr bwMode="gray">
          <a:xfrm>
            <a:off x="2918892" y="2043331"/>
            <a:ext cx="540000" cy="442800"/>
          </a:xfrm>
          <a:prstGeom prst="rect">
            <a:avLst/>
          </a:prstGeom>
        </p:spPr>
      </p:pic>
      <p:sp>
        <p:nvSpPr>
          <p:cNvPr id="54" name="矩形 53"/>
          <p:cNvSpPr/>
          <p:nvPr/>
        </p:nvSpPr>
        <p:spPr bwMode="gray">
          <a:xfrm>
            <a:off x="2943030" y="1803066"/>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55" name="直接连接符 54"/>
          <p:cNvCxnSpPr>
            <a:stCxn id="53" idx="3"/>
            <a:endCxn id="56" idx="1"/>
          </p:cNvCxnSpPr>
          <p:nvPr/>
        </p:nvCxnSpPr>
        <p:spPr bwMode="gray">
          <a:xfrm>
            <a:off x="3458892" y="2264731"/>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4521418" y="2043331"/>
            <a:ext cx="540000" cy="442800"/>
          </a:xfrm>
          <a:prstGeom prst="rect">
            <a:avLst/>
          </a:prstGeom>
        </p:spPr>
      </p:pic>
      <p:sp>
        <p:nvSpPr>
          <p:cNvPr id="57" name="矩形 56"/>
          <p:cNvSpPr/>
          <p:nvPr/>
        </p:nvSpPr>
        <p:spPr bwMode="gray">
          <a:xfrm>
            <a:off x="4545556" y="1803066"/>
            <a:ext cx="491724"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8" name="矩形 57"/>
          <p:cNvSpPr/>
          <p:nvPr/>
        </p:nvSpPr>
        <p:spPr bwMode="gray">
          <a:xfrm>
            <a:off x="1881991" y="1846529"/>
            <a:ext cx="910150" cy="367473"/>
          </a:xfrm>
          <a:prstGeom prst="rect">
            <a:avLst/>
          </a:prstGeom>
        </p:spPr>
        <p:txBody>
          <a:bodyPr wrap="square">
            <a:spAutoFit/>
          </a:bodyPr>
          <a:lstStyle/>
          <a:p>
            <a:pPr algn="ctr" fontAlgn="auto">
              <a:lnSpc>
                <a:spcPts val="2400"/>
              </a:lnSpc>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9" name="矩形 58"/>
          <p:cNvSpPr/>
          <p:nvPr/>
        </p:nvSpPr>
        <p:spPr bwMode="gray">
          <a:xfrm>
            <a:off x="3535080" y="1846529"/>
            <a:ext cx="910150" cy="367473"/>
          </a:xfrm>
          <a:prstGeom prst="rect">
            <a:avLst/>
          </a:prstGeom>
        </p:spPr>
        <p:txBody>
          <a:bodyPr wrap="square">
            <a:spAutoFit/>
          </a:bodyPr>
          <a:lstStyle/>
          <a:p>
            <a:pPr algn="ctr" fontAlgn="auto">
              <a:lnSpc>
                <a:spcPts val="2400"/>
              </a:lnSpc>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60" name="直接箭头连接符 59"/>
          <p:cNvCxnSpPr/>
          <p:nvPr/>
        </p:nvCxnSpPr>
        <p:spPr bwMode="gray">
          <a:xfrm>
            <a:off x="3674758" y="2377834"/>
            <a:ext cx="720000" cy="0"/>
          </a:xfrm>
          <a:prstGeom prst="straightConnector1">
            <a:avLst/>
          </a:prstGeom>
          <a:ln w="28575">
            <a:solidFill>
              <a:srgbClr val="C7000B"/>
            </a:solidFill>
            <a:tailEnd type="triangle"/>
          </a:ln>
        </p:spPr>
        <p:style>
          <a:lnRef idx="1">
            <a:schemeClr val="accent1"/>
          </a:lnRef>
          <a:fillRef idx="0">
            <a:schemeClr val="accent1"/>
          </a:fillRef>
          <a:effectRef idx="0">
            <a:schemeClr val="accent1"/>
          </a:effectRef>
          <a:fontRef idx="minor">
            <a:schemeClr val="tx1"/>
          </a:fontRef>
        </p:style>
      </p:cxnSp>
      <p:grpSp>
        <p:nvGrpSpPr>
          <p:cNvPr id="61" name="组合 60"/>
          <p:cNvGrpSpPr/>
          <p:nvPr/>
        </p:nvGrpSpPr>
        <p:grpSpPr bwMode="gray">
          <a:xfrm>
            <a:off x="3918155" y="2303432"/>
            <a:ext cx="144000" cy="143999"/>
            <a:chOff x="6024000" y="3357001"/>
            <a:chExt cx="144000" cy="143999"/>
          </a:xfrm>
        </p:grpSpPr>
        <p:cxnSp>
          <p:nvCxnSpPr>
            <p:cNvPr id="62" name="直接连接符 61"/>
            <p:cNvCxnSpPr/>
            <p:nvPr/>
          </p:nvCxnSpPr>
          <p:spPr bwMode="gray">
            <a:xfrm flipV="1">
              <a:off x="6024000" y="3357001"/>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63" name="直接连接符 62"/>
            <p:cNvCxnSpPr/>
            <p:nvPr/>
          </p:nvCxnSpPr>
          <p:spPr bwMode="gray">
            <a:xfrm>
              <a:off x="6024000" y="3357001"/>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cxnSp>
        <p:nvCxnSpPr>
          <p:cNvPr id="64" name="直接箭头连接符 63"/>
          <p:cNvCxnSpPr/>
          <p:nvPr/>
        </p:nvCxnSpPr>
        <p:spPr bwMode="gray">
          <a:xfrm>
            <a:off x="4341418" y="3345182"/>
            <a:ext cx="360000" cy="0"/>
          </a:xfrm>
          <a:prstGeom prst="straightConnector1">
            <a:avLst/>
          </a:prstGeom>
          <a:ln w="28575">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bwMode="gray">
          <a:xfrm>
            <a:off x="4569694" y="3114335"/>
            <a:ext cx="1163551" cy="400110"/>
          </a:xfrm>
          <a:prstGeom prst="rect">
            <a:avLst/>
          </a:prstGeom>
        </p:spPr>
        <p:txBody>
          <a:bodyPr wrap="square">
            <a:spAutoFit/>
          </a:bodyPr>
          <a:lstStyle/>
          <a:p>
            <a:pPr algn="ctr" fontAlgn="auto">
              <a:lnSpc>
                <a:spcPts val="2400"/>
              </a:lnSpc>
            </a:pP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Type3 LSA</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任意多边形 64"/>
          <p:cNvSpPr/>
          <p:nvPr/>
        </p:nvSpPr>
        <p:spPr bwMode="gray">
          <a:xfrm>
            <a:off x="1546538" y="1440088"/>
            <a:ext cx="2931080" cy="84407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任意多边形 156"/>
          <p:cNvSpPr/>
          <p:nvPr/>
        </p:nvSpPr>
        <p:spPr bwMode="gray">
          <a:xfrm>
            <a:off x="1235289" y="4512724"/>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任意多边形 157"/>
          <p:cNvSpPr/>
          <p:nvPr/>
        </p:nvSpPr>
        <p:spPr bwMode="gray">
          <a:xfrm>
            <a:off x="3024997" y="4512724"/>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bwMode="gray">
          <a:xfrm>
            <a:off x="1381717" y="2339397"/>
            <a:ext cx="3275578" cy="207250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bwMode="gray"/>
        <p:txBody>
          <a:bodyPr/>
          <a:lstStyle/>
          <a:p>
            <a:r>
              <a:rPr lang="en-US" altLang="zh-CN"/>
              <a:t>OSPF</a:t>
            </a:r>
            <a:r>
              <a:rPr lang="zh-CN" altLang="en-US"/>
              <a:t>路由控制案例分析</a:t>
            </a:r>
            <a:endParaRPr lang="zh-CN" altLang="en-US" dirty="0"/>
          </a:p>
        </p:txBody>
      </p:sp>
      <p:sp>
        <p:nvSpPr>
          <p:cNvPr id="40" name="文本占位符 39"/>
          <p:cNvSpPr>
            <a:spLocks noGrp="1"/>
          </p:cNvSpPr>
          <p:nvPr>
            <p:ph type="body" sz="quarter" idx="10"/>
          </p:nvPr>
        </p:nvSpPr>
        <p:spPr bwMode="gray">
          <a:xfrm>
            <a:off x="6096000" y="944564"/>
            <a:ext cx="5653087" cy="5256212"/>
          </a:xfrm>
        </p:spPr>
        <p:txBody>
          <a:bodyPr/>
          <a:lstStyle/>
          <a:p>
            <a:r>
              <a:rPr lang="zh-CN" altLang="en-US" sz="1800" dirty="0"/>
              <a:t>网络部署：</a:t>
            </a:r>
            <a:endParaRPr lang="en-US" altLang="zh-CN" sz="1800" dirty="0"/>
          </a:p>
          <a:p>
            <a:pPr lvl="1"/>
            <a:r>
              <a:rPr lang="zh-CN" altLang="en-US" sz="1600" dirty="0"/>
              <a:t>某企业网络内有财务部和市场部两张网络。</a:t>
            </a:r>
            <a:endParaRPr lang="zh-CN" altLang="en-US" sz="1600" dirty="0"/>
          </a:p>
          <a:p>
            <a:pPr lvl="1"/>
            <a:r>
              <a:rPr lang="zh-CN" altLang="en-US" sz="1600" dirty="0"/>
              <a:t>该企业网络通过</a:t>
            </a:r>
            <a:r>
              <a:rPr lang="en-US" altLang="zh-CN" sz="1600" dirty="0"/>
              <a:t>OSPF</a:t>
            </a:r>
            <a:r>
              <a:rPr lang="zh-CN" altLang="en-US" sz="1600" dirty="0"/>
              <a:t>实现内部网络的互联互通，其中骨干网络部署在</a:t>
            </a:r>
            <a:r>
              <a:rPr lang="en-US" altLang="zh-CN" sz="1600" dirty="0"/>
              <a:t>Area0</a:t>
            </a:r>
            <a:r>
              <a:rPr lang="zh-CN" altLang="en-US" sz="1600" dirty="0"/>
              <a:t>，财务部网络客户端部署在</a:t>
            </a:r>
            <a:r>
              <a:rPr lang="en-US" altLang="zh-CN" sz="1600" dirty="0"/>
              <a:t>Area1</a:t>
            </a:r>
            <a:r>
              <a:rPr lang="zh-CN" altLang="en-US" sz="1600" dirty="0"/>
              <a:t>，市场部网络客户端部署在</a:t>
            </a:r>
            <a:r>
              <a:rPr lang="en-US" altLang="zh-CN" sz="1600" dirty="0"/>
              <a:t>Area2</a:t>
            </a:r>
            <a:r>
              <a:rPr lang="zh-CN" altLang="en-US" sz="1600" dirty="0"/>
              <a:t>。</a:t>
            </a:r>
            <a:endParaRPr lang="en-US" altLang="zh-CN" sz="1600" dirty="0"/>
          </a:p>
          <a:p>
            <a:pPr lvl="1"/>
            <a:r>
              <a:rPr lang="zh-CN" altLang="en-US" sz="1600" dirty="0"/>
              <a:t>边界设备通过静态路由访问各部门服务器，并在</a:t>
            </a:r>
            <a:r>
              <a:rPr lang="en-US" altLang="zh-CN" sz="1600" dirty="0"/>
              <a:t>OSPF</a:t>
            </a:r>
            <a:r>
              <a:rPr lang="zh-CN" altLang="en-US" sz="1600" dirty="0"/>
              <a:t>进程内引入该静态路由。</a:t>
            </a:r>
            <a:endParaRPr lang="en-US" altLang="zh-CN" sz="1600" dirty="0"/>
          </a:p>
          <a:p>
            <a:r>
              <a:rPr lang="zh-CN" altLang="en-US" sz="1800" dirty="0"/>
              <a:t>需求：</a:t>
            </a:r>
            <a:endParaRPr lang="en-US" altLang="zh-CN" sz="1800" dirty="0"/>
          </a:p>
          <a:p>
            <a:pPr lvl="1"/>
            <a:r>
              <a:rPr lang="zh-CN" altLang="en-US" sz="1600" dirty="0"/>
              <a:t>只要边界</a:t>
            </a:r>
            <a:r>
              <a:rPr lang="en-US" altLang="zh-CN" sz="1600" dirty="0"/>
              <a:t>-1</a:t>
            </a:r>
            <a:r>
              <a:rPr lang="zh-CN" altLang="en-US" sz="1600" dirty="0"/>
              <a:t>路由器及其上联链路正常运行，财务部数据流就只会通过边界</a:t>
            </a:r>
            <a:r>
              <a:rPr lang="en-US" altLang="zh-CN" sz="1600" dirty="0"/>
              <a:t>-1</a:t>
            </a:r>
            <a:r>
              <a:rPr lang="zh-CN" altLang="en-US" sz="1600" dirty="0"/>
              <a:t>路由器进行数据转发。</a:t>
            </a:r>
            <a:endParaRPr lang="en-US" altLang="zh-CN" sz="1600" dirty="0"/>
          </a:p>
          <a:p>
            <a:pPr lvl="1"/>
            <a:r>
              <a:rPr lang="zh-CN" altLang="en-US" sz="1600" dirty="0"/>
              <a:t>只要核心</a:t>
            </a:r>
            <a:r>
              <a:rPr lang="en-US" altLang="zh-CN" sz="1600" dirty="0"/>
              <a:t>-1</a:t>
            </a:r>
            <a:r>
              <a:rPr lang="zh-CN" altLang="en-US" sz="1600" dirty="0"/>
              <a:t>路由器及其上联链路正常运行，财务部数据流就只会通过核心</a:t>
            </a:r>
            <a:r>
              <a:rPr lang="en-US" altLang="zh-CN" sz="1600" dirty="0"/>
              <a:t>-1</a:t>
            </a:r>
            <a:r>
              <a:rPr lang="zh-CN" altLang="en-US" sz="1600" dirty="0"/>
              <a:t>路由器进行数据转发。</a:t>
            </a:r>
            <a:endParaRPr lang="en-US" altLang="zh-CN" sz="1600" dirty="0"/>
          </a:p>
          <a:p>
            <a:pPr lvl="1"/>
            <a:r>
              <a:rPr lang="zh-CN" altLang="en-US" sz="1600" dirty="0"/>
              <a:t>市场部数据转发需求详见备注。</a:t>
            </a:r>
            <a:endParaRPr lang="en-US" altLang="zh-CN" sz="1600" dirty="0"/>
          </a:p>
        </p:txBody>
      </p:sp>
      <p:grpSp>
        <p:nvGrpSpPr>
          <p:cNvPr id="37" name="组合 36"/>
          <p:cNvGrpSpPr/>
          <p:nvPr/>
        </p:nvGrpSpPr>
        <p:grpSpPr bwMode="gray">
          <a:xfrm>
            <a:off x="1278675" y="1021795"/>
            <a:ext cx="3378620" cy="5146690"/>
            <a:chOff x="1278675" y="1285464"/>
            <a:chExt cx="3378620" cy="5146690"/>
          </a:xfrm>
        </p:grpSpPr>
        <p:cxnSp>
          <p:nvCxnSpPr>
            <p:cNvPr id="4" name="直接连接符 3"/>
            <p:cNvCxnSpPr>
              <a:endCxn id="57" idx="2"/>
            </p:cNvCxnSpPr>
            <p:nvPr/>
          </p:nvCxnSpPr>
          <p:spPr bwMode="gray">
            <a:xfrm flipV="1">
              <a:off x="2177479" y="4885523"/>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885523"/>
              <a:ext cx="0" cy="3530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675111"/>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646333"/>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683093"/>
              <a:ext cx="1543432" cy="9810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679825"/>
              <a:ext cx="1564021" cy="10032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679927"/>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453711"/>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442723"/>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453711"/>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442723"/>
              <a:ext cx="540000" cy="442800"/>
            </a:xfrm>
            <a:prstGeom prst="rect">
              <a:avLst/>
            </a:prstGeom>
          </p:spPr>
        </p:pic>
        <p:cxnSp>
          <p:nvCxnSpPr>
            <p:cNvPr id="97" name="直接连接符 96"/>
            <p:cNvCxnSpPr>
              <a:stCxn id="81" idx="1"/>
              <a:endCxn id="57" idx="3"/>
            </p:cNvCxnSpPr>
            <p:nvPr/>
          </p:nvCxnSpPr>
          <p:spPr bwMode="gray">
            <a:xfrm flipH="1">
              <a:off x="2468067" y="4664123"/>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481556"/>
              <a:ext cx="715260" cy="307777"/>
            </a:xfrm>
            <a:prstGeom prst="rect">
              <a:avLst/>
            </a:prstGeom>
            <a:noFill/>
          </p:spPr>
          <p:txBody>
            <a:bodyPr wrap="none" rtlCol="0">
              <a:spAutoFit/>
            </a:bodyPr>
            <a:lstStyle/>
            <a:p>
              <a:pPr algn="ctr"/>
              <a:r>
                <a:rPr lang="zh-CN" altLang="en-US" sz="1400" dirty="0"/>
                <a:t>汇聚</a:t>
              </a:r>
              <a:r>
                <a:rPr lang="en-US" altLang="zh-CN" sz="1400" dirty="0"/>
                <a:t>-1</a:t>
              </a:r>
              <a:endParaRPr lang="zh-CN" altLang="en-US" sz="1400" b="1" dirty="0"/>
            </a:p>
          </p:txBody>
        </p:sp>
        <p:sp>
          <p:nvSpPr>
            <p:cNvPr id="104" name="Freeform 159"/>
            <p:cNvSpPr/>
            <p:nvPr/>
          </p:nvSpPr>
          <p:spPr bwMode="gray">
            <a:xfrm flipH="1">
              <a:off x="1594177"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2048127"/>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2049228"/>
              <a:ext cx="1140811" cy="620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extLst>
                <a:ext uri="{28A0092B-C50C-407E-A947-70E740481C1C}">
                  <a14:useLocalDpi xmlns:a14="http://schemas.microsoft.com/office/drawing/2010/main" val="0"/>
                </a:ext>
              </a:extLst>
            </a:blip>
            <a:stretch>
              <a:fillRect/>
            </a:stretch>
          </p:blipFill>
          <p:spPr bwMode="gray">
            <a:xfrm>
              <a:off x="1928067" y="2464699"/>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464699"/>
              <a:ext cx="540000" cy="442800"/>
            </a:xfrm>
            <a:prstGeom prst="rect">
              <a:avLst/>
            </a:prstGeom>
          </p:spPr>
        </p:pic>
        <p:sp>
          <p:nvSpPr>
            <p:cNvPr id="120" name="Freeform 159"/>
            <p:cNvSpPr/>
            <p:nvPr/>
          </p:nvSpPr>
          <p:spPr bwMode="gray">
            <a:xfrm flipH="1">
              <a:off x="1594177"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285464"/>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466341"/>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5210334"/>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466341"/>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5210334"/>
              <a:ext cx="539063" cy="414000"/>
            </a:xfrm>
            <a:prstGeom prst="rect">
              <a:avLst/>
            </a:prstGeom>
          </p:spPr>
        </p:pic>
        <p:sp>
          <p:nvSpPr>
            <p:cNvPr id="137" name="文本框 136"/>
            <p:cNvSpPr txBox="1"/>
            <p:nvPr/>
          </p:nvSpPr>
          <p:spPr bwMode="gray">
            <a:xfrm>
              <a:off x="1636305" y="5908934"/>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908934"/>
              <a:ext cx="1082348" cy="523220"/>
            </a:xfrm>
            <a:prstGeom prst="rect">
              <a:avLst/>
            </a:prstGeom>
            <a:noFill/>
          </p:spPr>
          <p:txBody>
            <a:bodyPr wrap="none" rtlCol="0">
              <a:spAutoFit/>
            </a:bodyPr>
            <a:lstStyle/>
            <a:p>
              <a:pPr algn="ctr"/>
              <a:r>
                <a:rPr lang="zh-CN" altLang="en-US" sz="1400" dirty="0"/>
                <a:t>市场部网络</a:t>
              </a:r>
              <a:endParaRPr lang="en-US" altLang="zh-CN" sz="1400" dirty="0"/>
            </a:p>
            <a:p>
              <a:pPr algn="ctr"/>
              <a:r>
                <a:rPr lang="zh-CN" altLang="en-US" sz="1400" dirty="0"/>
                <a:t>客户端</a:t>
              </a:r>
              <a:endParaRPr lang="zh-CN" altLang="en-US" sz="1400" dirty="0"/>
            </a:p>
          </p:txBody>
        </p:sp>
        <p:sp>
          <p:nvSpPr>
            <p:cNvPr id="140" name="文本框 139"/>
            <p:cNvSpPr txBox="1"/>
            <p:nvPr/>
          </p:nvSpPr>
          <p:spPr bwMode="gray">
            <a:xfrm>
              <a:off x="1546538" y="1725143"/>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extLst>
                <a:ext uri="{28A0092B-C50C-407E-A947-70E740481C1C}">
                  <a14:useLocalDpi xmlns:a14="http://schemas.microsoft.com/office/drawing/2010/main" val="0"/>
                </a:ext>
              </a:extLst>
            </a:blip>
            <a:stretch>
              <a:fillRect/>
            </a:stretch>
          </p:blipFill>
          <p:spPr bwMode="gray">
            <a:xfrm>
              <a:off x="3456286" y="1285464"/>
              <a:ext cx="540000" cy="442800"/>
            </a:xfrm>
            <a:prstGeom prst="rect">
              <a:avLst/>
            </a:prstGeom>
          </p:spPr>
        </p:pic>
        <p:sp>
          <p:nvSpPr>
            <p:cNvPr id="146" name="文本框 145"/>
            <p:cNvSpPr txBox="1"/>
            <p:nvPr/>
          </p:nvSpPr>
          <p:spPr bwMode="gray">
            <a:xfrm>
              <a:off x="3095345" y="1725143"/>
              <a:ext cx="1261884" cy="307777"/>
            </a:xfrm>
            <a:prstGeom prst="rect">
              <a:avLst/>
            </a:prstGeom>
            <a:noFill/>
          </p:spPr>
          <p:txBody>
            <a:bodyPr wrap="none" rtlCol="0">
              <a:spAutoFit/>
            </a:bodyPr>
            <a:lstStyle/>
            <a:p>
              <a:pPr algn="ctr"/>
              <a:r>
                <a:rPr lang="zh-CN" altLang="en-US" sz="1400" dirty="0"/>
                <a:t>市场部服务器</a:t>
              </a:r>
              <a:endParaRPr lang="en-US" altLang="zh-CN" sz="1400" dirty="0"/>
            </a:p>
          </p:txBody>
        </p:sp>
        <p:sp>
          <p:nvSpPr>
            <p:cNvPr id="151" name="文本框 150"/>
            <p:cNvSpPr txBox="1"/>
            <p:nvPr/>
          </p:nvSpPr>
          <p:spPr bwMode="gray">
            <a:xfrm>
              <a:off x="1278676" y="3521222"/>
              <a:ext cx="715260" cy="307777"/>
            </a:xfrm>
            <a:prstGeom prst="rect">
              <a:avLst/>
            </a:prstGeom>
            <a:noFill/>
          </p:spPr>
          <p:txBody>
            <a:bodyPr wrap="none" rtlCol="0">
              <a:spAutoFit/>
            </a:bodyPr>
            <a:lstStyle/>
            <a:p>
              <a:pPr algn="ctr"/>
              <a:r>
                <a:rPr lang="zh-CN" altLang="en-US" sz="1400" dirty="0"/>
                <a:t>核心</a:t>
              </a:r>
              <a:r>
                <a:rPr lang="en-US" altLang="zh-CN" sz="1400" dirty="0"/>
                <a:t>-1</a:t>
              </a:r>
              <a:endParaRPr lang="zh-CN" altLang="en-US" sz="1400" b="1" dirty="0"/>
            </a:p>
          </p:txBody>
        </p:sp>
        <p:sp>
          <p:nvSpPr>
            <p:cNvPr id="153" name="文本框 152"/>
            <p:cNvSpPr txBox="1"/>
            <p:nvPr/>
          </p:nvSpPr>
          <p:spPr bwMode="gray">
            <a:xfrm>
              <a:off x="1278676" y="2532210"/>
              <a:ext cx="715260" cy="307777"/>
            </a:xfrm>
            <a:prstGeom prst="rect">
              <a:avLst/>
            </a:prstGeom>
            <a:noFill/>
          </p:spPr>
          <p:txBody>
            <a:bodyPr wrap="none" rtlCol="0">
              <a:spAutoFit/>
            </a:bodyPr>
            <a:lstStyle/>
            <a:p>
              <a:pPr algn="ctr"/>
              <a:r>
                <a:rPr lang="zh-CN" altLang="en-US" sz="1400" dirty="0"/>
                <a:t>边界</a:t>
              </a:r>
              <a:r>
                <a:rPr lang="en-US" altLang="zh-CN" sz="1400" dirty="0"/>
                <a:t>-1</a:t>
              </a:r>
              <a:endParaRPr lang="zh-CN" altLang="en-US" sz="1400" dirty="0"/>
            </a:p>
          </p:txBody>
        </p:sp>
        <p:sp>
          <p:nvSpPr>
            <p:cNvPr id="154" name="文本框 153"/>
            <p:cNvSpPr txBox="1"/>
            <p:nvPr/>
          </p:nvSpPr>
          <p:spPr bwMode="gray">
            <a:xfrm>
              <a:off x="3942035" y="4481556"/>
              <a:ext cx="715260" cy="307777"/>
            </a:xfrm>
            <a:prstGeom prst="rect">
              <a:avLst/>
            </a:prstGeom>
            <a:noFill/>
          </p:spPr>
          <p:txBody>
            <a:bodyPr wrap="none" rtlCol="0">
              <a:spAutoFit/>
            </a:bodyPr>
            <a:lstStyle/>
            <a:p>
              <a:pPr algn="ctr"/>
              <a:r>
                <a:rPr lang="zh-CN" altLang="en-US" sz="1400" dirty="0"/>
                <a:t>汇聚</a:t>
              </a:r>
              <a:r>
                <a:rPr lang="en-US" altLang="zh-CN" sz="1400" dirty="0"/>
                <a:t>-2</a:t>
              </a:r>
              <a:endParaRPr lang="zh-CN" altLang="en-US" sz="1400" b="1" dirty="0"/>
            </a:p>
          </p:txBody>
        </p:sp>
        <p:sp>
          <p:nvSpPr>
            <p:cNvPr id="155" name="文本框 154"/>
            <p:cNvSpPr txBox="1"/>
            <p:nvPr/>
          </p:nvSpPr>
          <p:spPr bwMode="gray">
            <a:xfrm>
              <a:off x="3942035" y="3521222"/>
              <a:ext cx="715260" cy="307777"/>
            </a:xfrm>
            <a:prstGeom prst="rect">
              <a:avLst/>
            </a:prstGeom>
            <a:noFill/>
          </p:spPr>
          <p:txBody>
            <a:bodyPr wrap="none" rtlCol="0">
              <a:spAutoFit/>
            </a:bodyPr>
            <a:lstStyle/>
            <a:p>
              <a:pPr algn="ctr"/>
              <a:r>
                <a:rPr lang="zh-CN" altLang="en-US" sz="1400" dirty="0"/>
                <a:t>核心</a:t>
              </a:r>
              <a:r>
                <a:rPr lang="en-US" altLang="zh-CN" sz="1400" dirty="0"/>
                <a:t>-2</a:t>
              </a:r>
              <a:endParaRPr lang="zh-CN" altLang="en-US" sz="1400" b="1" dirty="0"/>
            </a:p>
          </p:txBody>
        </p:sp>
        <p:sp>
          <p:nvSpPr>
            <p:cNvPr id="156" name="文本框 155"/>
            <p:cNvSpPr txBox="1"/>
            <p:nvPr/>
          </p:nvSpPr>
          <p:spPr bwMode="gray">
            <a:xfrm>
              <a:off x="3942035" y="2532210"/>
              <a:ext cx="715260" cy="307777"/>
            </a:xfrm>
            <a:prstGeom prst="rect">
              <a:avLst/>
            </a:prstGeom>
            <a:noFill/>
          </p:spPr>
          <p:txBody>
            <a:bodyPr wrap="none" rtlCol="0">
              <a:spAutoFit/>
            </a:bodyPr>
            <a:lstStyle/>
            <a:p>
              <a:pPr algn="ctr"/>
              <a:r>
                <a:rPr lang="zh-CN" altLang="en-US" sz="1400" dirty="0"/>
                <a:t>边界</a:t>
              </a:r>
              <a:r>
                <a:rPr lang="en-US" altLang="zh-CN" sz="1400" dirty="0"/>
                <a:t>-2</a:t>
              </a:r>
              <a:endParaRPr lang="zh-CN" altLang="en-US" sz="1400" b="1" dirty="0"/>
            </a:p>
          </p:txBody>
        </p:sp>
      </p:grpSp>
      <p:sp>
        <p:nvSpPr>
          <p:cNvPr id="8" name="任意多边形 7"/>
          <p:cNvSpPr/>
          <p:nvPr/>
        </p:nvSpPr>
        <p:spPr bwMode="gray">
          <a:xfrm>
            <a:off x="1840428" y="2002454"/>
            <a:ext cx="237584" cy="2851654"/>
          </a:xfrm>
          <a:custGeom>
            <a:avLst/>
            <a:gdLst>
              <a:gd name="connsiteX0" fmla="*/ 0 w 315472"/>
              <a:gd name="connsiteY0" fmla="*/ 3021495 h 3021495"/>
              <a:gd name="connsiteX1" fmla="*/ 278295 w 315472"/>
              <a:gd name="connsiteY1" fmla="*/ 2464904 h 3021495"/>
              <a:gd name="connsiteX2" fmla="*/ 304800 w 315472"/>
              <a:gd name="connsiteY2" fmla="*/ 0 h 3021495"/>
            </a:gdLst>
            <a:ahLst/>
            <a:cxnLst>
              <a:cxn ang="0">
                <a:pos x="connsiteX0" y="connsiteY0"/>
              </a:cxn>
              <a:cxn ang="0">
                <a:pos x="connsiteX1" y="connsiteY1"/>
              </a:cxn>
              <a:cxn ang="0">
                <a:pos x="connsiteX2" y="connsiteY2"/>
              </a:cxn>
            </a:cxnLst>
            <a:rect l="l" t="t" r="r" b="b"/>
            <a:pathLst>
              <a:path w="315472" h="3021495">
                <a:moveTo>
                  <a:pt x="0" y="3021495"/>
                </a:moveTo>
                <a:cubicBezTo>
                  <a:pt x="113747" y="2994990"/>
                  <a:pt x="227495" y="2968486"/>
                  <a:pt x="278295" y="2464904"/>
                </a:cubicBezTo>
                <a:cubicBezTo>
                  <a:pt x="329095" y="1961321"/>
                  <a:pt x="316947" y="980660"/>
                  <a:pt x="304800" y="0"/>
                </a:cubicBezTo>
              </a:path>
            </a:pathLst>
          </a:cu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bwMode="gray">
          <a:xfrm>
            <a:off x="2304682" y="2040739"/>
            <a:ext cx="1541140" cy="2850687"/>
          </a:xfrm>
          <a:custGeom>
            <a:avLst/>
            <a:gdLst>
              <a:gd name="connsiteX0" fmla="*/ 360417 w 1858053"/>
              <a:gd name="connsiteY0" fmla="*/ 3379304 h 3379304"/>
              <a:gd name="connsiteX1" fmla="*/ 360417 w 1858053"/>
              <a:gd name="connsiteY1" fmla="*/ 2743200 h 3379304"/>
              <a:gd name="connsiteX2" fmla="*/ 1857913 w 1858053"/>
              <a:gd name="connsiteY2" fmla="*/ 1616765 h 3379304"/>
              <a:gd name="connsiteX3" fmla="*/ 267652 w 1858053"/>
              <a:gd name="connsiteY3" fmla="*/ 702365 h 3379304"/>
              <a:gd name="connsiteX4" fmla="*/ 15861 w 1858053"/>
              <a:gd name="connsiteY4" fmla="*/ 0 h 3379304"/>
              <a:gd name="connsiteX0-1" fmla="*/ 347673 w 1845324"/>
              <a:gd name="connsiteY0-2" fmla="*/ 3379304 h 3379304"/>
              <a:gd name="connsiteX1-3" fmla="*/ 347673 w 1845324"/>
              <a:gd name="connsiteY1-4" fmla="*/ 2743200 h 3379304"/>
              <a:gd name="connsiteX2-5" fmla="*/ 1845169 w 1845324"/>
              <a:gd name="connsiteY2-6" fmla="*/ 1616765 h 3379304"/>
              <a:gd name="connsiteX3-7" fmla="*/ 439174 w 1845324"/>
              <a:gd name="connsiteY3-8" fmla="*/ 593911 h 3379304"/>
              <a:gd name="connsiteX4-9" fmla="*/ 3117 w 1845324"/>
              <a:gd name="connsiteY4-10" fmla="*/ 0 h 3379304"/>
              <a:gd name="connsiteX0-11" fmla="*/ 359313 w 1856997"/>
              <a:gd name="connsiteY0-12" fmla="*/ 3379304 h 3379304"/>
              <a:gd name="connsiteX1-13" fmla="*/ 359313 w 1856997"/>
              <a:gd name="connsiteY1-14" fmla="*/ 2743200 h 3379304"/>
              <a:gd name="connsiteX2-15" fmla="*/ 1856809 w 1856997"/>
              <a:gd name="connsiteY2-16" fmla="*/ 1616765 h 3379304"/>
              <a:gd name="connsiteX3-17" fmla="*/ 450814 w 1856997"/>
              <a:gd name="connsiteY3-18" fmla="*/ 593911 h 3379304"/>
              <a:gd name="connsiteX4-19" fmla="*/ 14757 w 1856997"/>
              <a:gd name="connsiteY4-20" fmla="*/ 0 h 3379304"/>
              <a:gd name="connsiteX0-21" fmla="*/ 347520 w 1783757"/>
              <a:gd name="connsiteY0-22" fmla="*/ 3379304 h 3379304"/>
              <a:gd name="connsiteX1-23" fmla="*/ 347520 w 1783757"/>
              <a:gd name="connsiteY1-24" fmla="*/ 2743200 h 3379304"/>
              <a:gd name="connsiteX2-25" fmla="*/ 1783595 w 1783757"/>
              <a:gd name="connsiteY2-26" fmla="*/ 1415350 h 3379304"/>
              <a:gd name="connsiteX3-27" fmla="*/ 439021 w 1783757"/>
              <a:gd name="connsiteY3-28" fmla="*/ 593911 h 3379304"/>
              <a:gd name="connsiteX4-29" fmla="*/ 2964 w 1783757"/>
              <a:gd name="connsiteY4-30" fmla="*/ 0 h 3379304"/>
              <a:gd name="connsiteX0-31" fmla="*/ 346580 w 1783351"/>
              <a:gd name="connsiteY0-32" fmla="*/ 3379304 h 3379304"/>
              <a:gd name="connsiteX1-33" fmla="*/ 346580 w 1783351"/>
              <a:gd name="connsiteY1-34" fmla="*/ 2743200 h 3379304"/>
              <a:gd name="connsiteX2-35" fmla="*/ 1782655 w 1783351"/>
              <a:gd name="connsiteY2-36" fmla="*/ 1415350 h 3379304"/>
              <a:gd name="connsiteX3-37" fmla="*/ 530215 w 1783351"/>
              <a:gd name="connsiteY3-38" fmla="*/ 578417 h 3379304"/>
              <a:gd name="connsiteX4-39" fmla="*/ 2024 w 1783351"/>
              <a:gd name="connsiteY4-40" fmla="*/ 0 h 3379304"/>
              <a:gd name="connsiteX0-41" fmla="*/ 346580 w 1785312"/>
              <a:gd name="connsiteY0-42" fmla="*/ 3379304 h 3379304"/>
              <a:gd name="connsiteX1-43" fmla="*/ 162313 w 1785312"/>
              <a:gd name="connsiteY1-44" fmla="*/ 2572771 h 3379304"/>
              <a:gd name="connsiteX2-45" fmla="*/ 1782655 w 1785312"/>
              <a:gd name="connsiteY2-46" fmla="*/ 1415350 h 3379304"/>
              <a:gd name="connsiteX3-47" fmla="*/ 530215 w 1785312"/>
              <a:gd name="connsiteY3-48" fmla="*/ 578417 h 3379304"/>
              <a:gd name="connsiteX4-49" fmla="*/ 2024 w 1785312"/>
              <a:gd name="connsiteY4-50" fmla="*/ 0 h 3379304"/>
              <a:gd name="connsiteX0-51" fmla="*/ 346580 w 1785749"/>
              <a:gd name="connsiteY0-52" fmla="*/ 3379304 h 3379304"/>
              <a:gd name="connsiteX1-53" fmla="*/ 131602 w 1785749"/>
              <a:gd name="connsiteY1-54" fmla="*/ 2510797 h 3379304"/>
              <a:gd name="connsiteX2-55" fmla="*/ 1782655 w 1785749"/>
              <a:gd name="connsiteY2-56" fmla="*/ 1415350 h 3379304"/>
              <a:gd name="connsiteX3-57" fmla="*/ 530215 w 1785749"/>
              <a:gd name="connsiteY3-58" fmla="*/ 578417 h 3379304"/>
              <a:gd name="connsiteX4-59" fmla="*/ 2024 w 1785749"/>
              <a:gd name="connsiteY4-60" fmla="*/ 0 h 3379304"/>
              <a:gd name="connsiteX0-61" fmla="*/ 163660 w 1802451"/>
              <a:gd name="connsiteY0-62" fmla="*/ 3332824 h 3332824"/>
              <a:gd name="connsiteX1-63" fmla="*/ 148304 w 1802451"/>
              <a:gd name="connsiteY1-64" fmla="*/ 2510797 h 3332824"/>
              <a:gd name="connsiteX2-65" fmla="*/ 1799357 w 1802451"/>
              <a:gd name="connsiteY2-66" fmla="*/ 1415350 h 3332824"/>
              <a:gd name="connsiteX3-67" fmla="*/ 546917 w 1802451"/>
              <a:gd name="connsiteY3-68" fmla="*/ 578417 h 3332824"/>
              <a:gd name="connsiteX4-69" fmla="*/ 18726 w 1802451"/>
              <a:gd name="connsiteY4-70" fmla="*/ 0 h 3332824"/>
              <a:gd name="connsiteX0-71" fmla="*/ 146958 w 1785749"/>
              <a:gd name="connsiteY0-72" fmla="*/ 3332824 h 3332824"/>
              <a:gd name="connsiteX1-73" fmla="*/ 131602 w 1785749"/>
              <a:gd name="connsiteY1-74" fmla="*/ 2510797 h 3332824"/>
              <a:gd name="connsiteX2-75" fmla="*/ 1782655 w 1785749"/>
              <a:gd name="connsiteY2-76" fmla="*/ 1415350 h 3332824"/>
              <a:gd name="connsiteX3-77" fmla="*/ 530215 w 1785749"/>
              <a:gd name="connsiteY3-78" fmla="*/ 578417 h 3332824"/>
              <a:gd name="connsiteX4-79" fmla="*/ 2024 w 1785749"/>
              <a:gd name="connsiteY4-80" fmla="*/ 0 h 3332824"/>
              <a:gd name="connsiteX0-81" fmla="*/ 146958 w 1785749"/>
              <a:gd name="connsiteY0-82" fmla="*/ 3332824 h 3332824"/>
              <a:gd name="connsiteX1-83" fmla="*/ 131602 w 1785749"/>
              <a:gd name="connsiteY1-84" fmla="*/ 2510797 h 3332824"/>
              <a:gd name="connsiteX2-85" fmla="*/ 1782655 w 1785749"/>
              <a:gd name="connsiteY2-86" fmla="*/ 1415350 h 3332824"/>
              <a:gd name="connsiteX3-87" fmla="*/ 530215 w 1785749"/>
              <a:gd name="connsiteY3-88" fmla="*/ 578417 h 3332824"/>
              <a:gd name="connsiteX4-89" fmla="*/ 2024 w 1785749"/>
              <a:gd name="connsiteY4-90" fmla="*/ 0 h 33328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85749" h="3332824">
                <a:moveTo>
                  <a:pt x="146958" y="3332824"/>
                </a:moveTo>
                <a:cubicBezTo>
                  <a:pt x="191077" y="3130663"/>
                  <a:pt x="-33525" y="2861363"/>
                  <a:pt x="131602" y="2510797"/>
                </a:cubicBezTo>
                <a:cubicBezTo>
                  <a:pt x="296729" y="2160231"/>
                  <a:pt x="1716220" y="1737413"/>
                  <a:pt x="1782655" y="1415350"/>
                </a:cubicBezTo>
                <a:cubicBezTo>
                  <a:pt x="1849090" y="1093287"/>
                  <a:pt x="826987" y="814309"/>
                  <a:pt x="530215" y="578417"/>
                </a:cubicBezTo>
                <a:cubicBezTo>
                  <a:pt x="233443" y="342525"/>
                  <a:pt x="-25585" y="216452"/>
                  <a:pt x="2024" y="0"/>
                </a:cubicBezTo>
              </a:path>
            </a:pathLst>
          </a:cu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bwMode="gray">
          <a:xfrm>
            <a:off x="5030045" y="5741079"/>
            <a:ext cx="1065955" cy="0"/>
          </a:xfrm>
          <a:prstGeom prst="straightConnector1">
            <a:avLst/>
          </a:pr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3" name="文本框 62"/>
          <p:cNvSpPr txBox="1"/>
          <p:nvPr/>
        </p:nvSpPr>
        <p:spPr bwMode="gray">
          <a:xfrm>
            <a:off x="4905052" y="5810964"/>
            <a:ext cx="1261884" cy="307777"/>
          </a:xfrm>
          <a:prstGeom prst="rect">
            <a:avLst/>
          </a:prstGeom>
          <a:noFill/>
        </p:spPr>
        <p:txBody>
          <a:bodyPr wrap="none" rtlCol="0">
            <a:spAutoFit/>
          </a:bodyPr>
          <a:lstStyle/>
          <a:p>
            <a:pPr algn="ctr"/>
            <a:r>
              <a:rPr lang="zh-CN" altLang="en-US" sz="1400" dirty="0"/>
              <a:t>财务部数据流</a:t>
            </a:r>
            <a:endParaRPr lang="zh-CN" altLang="en-US" sz="1400" dirty="0"/>
          </a:p>
        </p:txBody>
      </p:sp>
      <p:sp>
        <p:nvSpPr>
          <p:cNvPr id="68" name="任意多边形 67"/>
          <p:cNvSpPr/>
          <p:nvPr/>
        </p:nvSpPr>
        <p:spPr bwMode="gray">
          <a:xfrm>
            <a:off x="2168341" y="2015705"/>
            <a:ext cx="1450389" cy="2915478"/>
          </a:xfrm>
          <a:custGeom>
            <a:avLst/>
            <a:gdLst>
              <a:gd name="connsiteX0" fmla="*/ 127617 w 1519149"/>
              <a:gd name="connsiteY0" fmla="*/ 2915478 h 2915478"/>
              <a:gd name="connsiteX1" fmla="*/ 154121 w 1519149"/>
              <a:gd name="connsiteY1" fmla="*/ 1325217 h 2915478"/>
              <a:gd name="connsiteX2" fmla="*/ 1519095 w 1519149"/>
              <a:gd name="connsiteY2" fmla="*/ 1152939 h 2915478"/>
              <a:gd name="connsiteX3" fmla="*/ 207130 w 1519149"/>
              <a:gd name="connsiteY3" fmla="*/ 424069 h 2915478"/>
              <a:gd name="connsiteX4" fmla="*/ 21600 w 1519149"/>
              <a:gd name="connsiteY4" fmla="*/ 0 h 2915478"/>
              <a:gd name="connsiteX0-1" fmla="*/ 113800 w 1506123"/>
              <a:gd name="connsiteY0-2" fmla="*/ 2915478 h 2915478"/>
              <a:gd name="connsiteX1-3" fmla="*/ 140304 w 1506123"/>
              <a:gd name="connsiteY1-4" fmla="*/ 1325217 h 2915478"/>
              <a:gd name="connsiteX2-5" fmla="*/ 1505278 w 1506123"/>
              <a:gd name="connsiteY2-6" fmla="*/ 1152939 h 2915478"/>
              <a:gd name="connsiteX3-7" fmla="*/ 339087 w 1506123"/>
              <a:gd name="connsiteY3-8" fmla="*/ 503582 h 2915478"/>
              <a:gd name="connsiteX4-9" fmla="*/ 7783 w 1506123"/>
              <a:gd name="connsiteY4-10" fmla="*/ 0 h 2915478"/>
              <a:gd name="connsiteX0-11" fmla="*/ 111034 w 1450389"/>
              <a:gd name="connsiteY0-12" fmla="*/ 2915478 h 2915478"/>
              <a:gd name="connsiteX1-13" fmla="*/ 137538 w 1450389"/>
              <a:gd name="connsiteY1-14" fmla="*/ 1325217 h 2915478"/>
              <a:gd name="connsiteX2-15" fmla="*/ 1449503 w 1450389"/>
              <a:gd name="connsiteY2-16" fmla="*/ 1205947 h 2915478"/>
              <a:gd name="connsiteX3-17" fmla="*/ 336321 w 1450389"/>
              <a:gd name="connsiteY3-18" fmla="*/ 503582 h 2915478"/>
              <a:gd name="connsiteX4-19" fmla="*/ 5017 w 1450389"/>
              <a:gd name="connsiteY4-20" fmla="*/ 0 h 2915478"/>
              <a:gd name="connsiteX0-21" fmla="*/ 115616 w 1454971"/>
              <a:gd name="connsiteY0-22" fmla="*/ 2915478 h 2915478"/>
              <a:gd name="connsiteX1-23" fmla="*/ 142120 w 1454971"/>
              <a:gd name="connsiteY1-24" fmla="*/ 1325217 h 2915478"/>
              <a:gd name="connsiteX2-25" fmla="*/ 1454085 w 1454971"/>
              <a:gd name="connsiteY2-26" fmla="*/ 1205947 h 2915478"/>
              <a:gd name="connsiteX3-27" fmla="*/ 340903 w 1454971"/>
              <a:gd name="connsiteY3-28" fmla="*/ 503582 h 2915478"/>
              <a:gd name="connsiteX4-29" fmla="*/ 9599 w 1454971"/>
              <a:gd name="connsiteY4-30" fmla="*/ 0 h 2915478"/>
              <a:gd name="connsiteX0-31" fmla="*/ 111034 w 1450389"/>
              <a:gd name="connsiteY0-32" fmla="*/ 2915478 h 2915478"/>
              <a:gd name="connsiteX1-33" fmla="*/ 137538 w 1450389"/>
              <a:gd name="connsiteY1-34" fmla="*/ 1325217 h 2915478"/>
              <a:gd name="connsiteX2-35" fmla="*/ 1449503 w 1450389"/>
              <a:gd name="connsiteY2-36" fmla="*/ 1245703 h 2915478"/>
              <a:gd name="connsiteX3-37" fmla="*/ 336321 w 1450389"/>
              <a:gd name="connsiteY3-38" fmla="*/ 503582 h 2915478"/>
              <a:gd name="connsiteX4-39" fmla="*/ 5017 w 1450389"/>
              <a:gd name="connsiteY4-40" fmla="*/ 0 h 2915478"/>
              <a:gd name="connsiteX0-41" fmla="*/ 111034 w 1450389"/>
              <a:gd name="connsiteY0-42" fmla="*/ 2915478 h 2915478"/>
              <a:gd name="connsiteX1-43" fmla="*/ 137538 w 1450389"/>
              <a:gd name="connsiteY1-44" fmla="*/ 1325217 h 2915478"/>
              <a:gd name="connsiteX2-45" fmla="*/ 1449503 w 1450389"/>
              <a:gd name="connsiteY2-46" fmla="*/ 1245703 h 2915478"/>
              <a:gd name="connsiteX3-47" fmla="*/ 336321 w 1450389"/>
              <a:gd name="connsiteY3-48" fmla="*/ 503582 h 2915478"/>
              <a:gd name="connsiteX4-49" fmla="*/ 5017 w 1450389"/>
              <a:gd name="connsiteY4-50" fmla="*/ 0 h 29154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0389" h="2915478">
                <a:moveTo>
                  <a:pt x="111034" y="2915478"/>
                </a:moveTo>
                <a:cubicBezTo>
                  <a:pt x="8329" y="2267225"/>
                  <a:pt x="-45784" y="1457739"/>
                  <a:pt x="137538" y="1325217"/>
                </a:cubicBezTo>
                <a:cubicBezTo>
                  <a:pt x="320860" y="1192695"/>
                  <a:pt x="1416373" y="1382642"/>
                  <a:pt x="1449503" y="1245703"/>
                </a:cubicBezTo>
                <a:cubicBezTo>
                  <a:pt x="1482634" y="1108764"/>
                  <a:pt x="577069" y="711199"/>
                  <a:pt x="336321" y="503582"/>
                </a:cubicBezTo>
                <a:cubicBezTo>
                  <a:pt x="95573" y="295965"/>
                  <a:pt x="-27009" y="115956"/>
                  <a:pt x="5017" y="0"/>
                </a:cubicBezTo>
              </a:path>
            </a:pathLst>
          </a:cu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五边形 74"/>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77"/>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81"/>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2657725" y="2954399"/>
            <a:ext cx="617477" cy="461665"/>
          </a:xfrm>
          <a:prstGeom prst="rect">
            <a:avLst/>
          </a:prstGeom>
          <a:noFill/>
        </p:spPr>
        <p:txBody>
          <a:bodyPr wrap="none" rtlCol="0">
            <a:spAutoFit/>
          </a:bodyPr>
          <a:lstStyle/>
          <a:p>
            <a:pPr algn="ctr"/>
            <a:r>
              <a:rPr lang="en-US" altLang="zh-CN" sz="1200" b="1" dirty="0">
                <a:solidFill>
                  <a:srgbClr val="C7000B"/>
                </a:solidFill>
              </a:rPr>
              <a:t>OSPF</a:t>
            </a:r>
            <a:endParaRPr lang="en-US" altLang="zh-CN" sz="1200" b="1" dirty="0">
              <a:solidFill>
                <a:srgbClr val="C7000B"/>
              </a:solidFill>
            </a:endParaRPr>
          </a:p>
          <a:p>
            <a:pPr algn="ctr"/>
            <a:r>
              <a:rPr lang="en-US" altLang="zh-CN" sz="1200" b="1" dirty="0">
                <a:solidFill>
                  <a:srgbClr val="C7000B"/>
                </a:solidFill>
              </a:rPr>
              <a:t>Area0</a:t>
            </a:r>
            <a:endParaRPr lang="en-US" altLang="zh-CN" sz="1200" b="1" dirty="0">
              <a:solidFill>
                <a:srgbClr val="C7000B"/>
              </a:solidFill>
            </a:endParaRPr>
          </a:p>
        </p:txBody>
      </p:sp>
      <p:sp>
        <p:nvSpPr>
          <p:cNvPr id="87" name="文本框 86"/>
          <p:cNvSpPr txBox="1"/>
          <p:nvPr/>
        </p:nvSpPr>
        <p:spPr bwMode="gray">
          <a:xfrm>
            <a:off x="1313554" y="4525664"/>
            <a:ext cx="617477" cy="461665"/>
          </a:xfrm>
          <a:prstGeom prst="rect">
            <a:avLst/>
          </a:prstGeom>
          <a:noFill/>
        </p:spPr>
        <p:txBody>
          <a:bodyPr wrap="none" rtlCol="0">
            <a:spAutoFit/>
          </a:bodyPr>
          <a:lstStyle/>
          <a:p>
            <a:pPr algn="ctr"/>
            <a:r>
              <a:rPr lang="en-US" altLang="zh-CN" sz="1200" b="1" dirty="0">
                <a:solidFill>
                  <a:srgbClr val="C7000B"/>
                </a:solidFill>
              </a:rPr>
              <a:t>OSPF</a:t>
            </a:r>
            <a:endParaRPr lang="en-US" altLang="zh-CN" sz="1200" b="1" dirty="0">
              <a:solidFill>
                <a:srgbClr val="C7000B"/>
              </a:solidFill>
            </a:endParaRPr>
          </a:p>
          <a:p>
            <a:pPr algn="ctr"/>
            <a:r>
              <a:rPr lang="en-US" altLang="zh-CN" sz="1200" b="1" dirty="0">
                <a:solidFill>
                  <a:srgbClr val="C7000B"/>
                </a:solidFill>
              </a:rPr>
              <a:t>Area1</a:t>
            </a:r>
            <a:endParaRPr lang="en-US" altLang="zh-CN" sz="1200" b="1" dirty="0">
              <a:solidFill>
                <a:srgbClr val="C7000B"/>
              </a:solidFill>
            </a:endParaRPr>
          </a:p>
        </p:txBody>
      </p:sp>
      <p:sp>
        <p:nvSpPr>
          <p:cNvPr id="88" name="文本框 87"/>
          <p:cNvSpPr txBox="1"/>
          <p:nvPr/>
        </p:nvSpPr>
        <p:spPr bwMode="gray">
          <a:xfrm>
            <a:off x="3936814" y="4482753"/>
            <a:ext cx="617477" cy="461665"/>
          </a:xfrm>
          <a:prstGeom prst="rect">
            <a:avLst/>
          </a:prstGeom>
          <a:noFill/>
        </p:spPr>
        <p:txBody>
          <a:bodyPr wrap="none" rtlCol="0">
            <a:spAutoFit/>
          </a:bodyPr>
          <a:lstStyle/>
          <a:p>
            <a:pPr algn="ctr"/>
            <a:r>
              <a:rPr lang="en-US" altLang="zh-CN" sz="1200" b="1" dirty="0">
                <a:solidFill>
                  <a:srgbClr val="C7000B"/>
                </a:solidFill>
              </a:rPr>
              <a:t>OSPF</a:t>
            </a:r>
            <a:endParaRPr lang="en-US" altLang="zh-CN" sz="1200" b="1" dirty="0">
              <a:solidFill>
                <a:srgbClr val="C7000B"/>
              </a:solidFill>
            </a:endParaRPr>
          </a:p>
          <a:p>
            <a:pPr algn="ctr"/>
            <a:r>
              <a:rPr lang="en-US" altLang="zh-CN" sz="1200" b="1" dirty="0">
                <a:solidFill>
                  <a:srgbClr val="C7000B"/>
                </a:solidFill>
              </a:rPr>
              <a:t>Area2</a:t>
            </a:r>
            <a:endParaRPr lang="en-US" altLang="zh-CN" sz="1200" b="1" dirty="0">
              <a:solidFill>
                <a:srgbClr val="C7000B"/>
              </a:solidFill>
            </a:endParaRPr>
          </a:p>
        </p:txBody>
      </p:sp>
      <p:sp>
        <p:nvSpPr>
          <p:cNvPr id="90" name="文本框 89"/>
          <p:cNvSpPr txBox="1"/>
          <p:nvPr/>
        </p:nvSpPr>
        <p:spPr bwMode="gray">
          <a:xfrm>
            <a:off x="2561344" y="2063807"/>
            <a:ext cx="800219" cy="276999"/>
          </a:xfrm>
          <a:prstGeom prst="rect">
            <a:avLst/>
          </a:prstGeom>
          <a:noFill/>
        </p:spPr>
        <p:txBody>
          <a:bodyPr wrap="none" rtlCol="0">
            <a:spAutoFit/>
          </a:bodyPr>
          <a:lstStyle/>
          <a:p>
            <a:pPr algn="ctr"/>
            <a:r>
              <a:rPr lang="zh-CN" altLang="en-US" sz="1200" b="1" dirty="0">
                <a:solidFill>
                  <a:srgbClr val="C7000B"/>
                </a:solidFill>
              </a:rPr>
              <a:t>静态路由</a:t>
            </a:r>
            <a:endParaRPr lang="en-US" altLang="zh-CN" sz="1200" b="1" dirty="0">
              <a:solidFill>
                <a:srgbClr val="C7000B"/>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xEl>
                                              <p:pRg st="6" end="6"/>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0">
                                            <p:txEl>
                                              <p:pRg st="7" end="7"/>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57" grpId="0" animBg="1"/>
      <p:bldP spid="158" grpId="0" animBg="1"/>
      <p:bldP spid="39" grpId="0" animBg="1"/>
      <p:bldP spid="8" grpId="0" animBg="1"/>
      <p:bldP spid="10" grpId="0" animBg="1"/>
      <p:bldP spid="63" grpId="0"/>
      <p:bldP spid="68" grpId="0" animBg="1"/>
      <p:bldP spid="74" grpId="0"/>
      <p:bldP spid="87" grpId="0"/>
      <p:bldP spid="88" grpId="0"/>
      <p:bldP spid="9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需求分析</a:t>
            </a:r>
            <a:endParaRPr lang="zh-CN" altLang="en-US" dirty="0"/>
          </a:p>
        </p:txBody>
      </p:sp>
      <p:sp>
        <p:nvSpPr>
          <p:cNvPr id="40" name="文本占位符 39"/>
          <p:cNvSpPr>
            <a:spLocks noGrp="1"/>
          </p:cNvSpPr>
          <p:nvPr>
            <p:ph type="body" sz="quarter" idx="4294967295"/>
          </p:nvPr>
        </p:nvSpPr>
        <p:spPr bwMode="gray">
          <a:xfrm>
            <a:off x="6096002" y="1247775"/>
            <a:ext cx="5653086" cy="1463675"/>
          </a:xfrm>
        </p:spPr>
        <p:txBody>
          <a:bodyPr/>
          <a:lstStyle/>
          <a:p>
            <a:pPr marL="342900" indent="-342900">
              <a:buSzPct val="100000"/>
              <a:buFont typeface="+mj-lt"/>
              <a:buAutoNum type="arabicPeriod"/>
            </a:pPr>
            <a:r>
              <a:rPr lang="zh-CN" altLang="en-US" sz="1800" dirty="0"/>
              <a:t>控制数据转发的网络出口：</a:t>
            </a:r>
            <a:endParaRPr lang="en-US" altLang="zh-CN" sz="1800" dirty="0"/>
          </a:p>
          <a:p>
            <a:pPr lvl="1"/>
            <a:r>
              <a:rPr lang="zh-CN" altLang="en-US" sz="1600" dirty="0"/>
              <a:t>财务部数据始终向边界</a:t>
            </a:r>
            <a:r>
              <a:rPr lang="en-US" altLang="zh-CN" sz="1600" dirty="0"/>
              <a:t>-1</a:t>
            </a:r>
            <a:r>
              <a:rPr lang="zh-CN" altLang="en-US" sz="1600" dirty="0"/>
              <a:t>的方向进行转发；</a:t>
            </a:r>
            <a:endParaRPr lang="en-US" altLang="zh-CN" sz="1600" dirty="0"/>
          </a:p>
          <a:p>
            <a:pPr lvl="1"/>
            <a:r>
              <a:rPr lang="zh-CN" altLang="en-US" sz="1600" dirty="0"/>
              <a:t>市场部数据始终向边界</a:t>
            </a:r>
            <a:r>
              <a:rPr lang="en-US" altLang="zh-CN" sz="1600" dirty="0"/>
              <a:t>-2</a:t>
            </a:r>
            <a:r>
              <a:rPr lang="zh-CN" altLang="en-US" sz="1600" dirty="0"/>
              <a:t>的方向进行转发。</a:t>
            </a:r>
            <a:endParaRPr lang="en-US" altLang="zh-CN" sz="1600" dirty="0"/>
          </a:p>
        </p:txBody>
      </p:sp>
      <p:grpSp>
        <p:nvGrpSpPr>
          <p:cNvPr id="37" name="组合 36"/>
          <p:cNvGrpSpPr/>
          <p:nvPr/>
        </p:nvGrpSpPr>
        <p:grpSpPr bwMode="gray">
          <a:xfrm>
            <a:off x="1278675" y="1020288"/>
            <a:ext cx="3378620" cy="5146690"/>
            <a:chOff x="1278675" y="1285464"/>
            <a:chExt cx="3378620" cy="5146690"/>
          </a:xfrm>
        </p:grpSpPr>
        <p:cxnSp>
          <p:nvCxnSpPr>
            <p:cNvPr id="4" name="直接连接符 3"/>
            <p:cNvCxnSpPr>
              <a:endCxn id="57" idx="2"/>
            </p:cNvCxnSpPr>
            <p:nvPr/>
          </p:nvCxnSpPr>
          <p:spPr bwMode="gray">
            <a:xfrm flipV="1">
              <a:off x="2177479" y="4885523"/>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885523"/>
              <a:ext cx="0" cy="3530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675111"/>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646333"/>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683093"/>
              <a:ext cx="1543432" cy="9810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679825"/>
              <a:ext cx="1564021" cy="10032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679927"/>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453711"/>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442723"/>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453711"/>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442723"/>
              <a:ext cx="540000" cy="442800"/>
            </a:xfrm>
            <a:prstGeom prst="rect">
              <a:avLst/>
            </a:prstGeom>
          </p:spPr>
        </p:pic>
        <p:cxnSp>
          <p:nvCxnSpPr>
            <p:cNvPr id="97" name="直接连接符 96"/>
            <p:cNvCxnSpPr>
              <a:stCxn id="81" idx="1"/>
              <a:endCxn id="57" idx="3"/>
            </p:cNvCxnSpPr>
            <p:nvPr/>
          </p:nvCxnSpPr>
          <p:spPr bwMode="gray">
            <a:xfrm flipH="1">
              <a:off x="2468067" y="4664123"/>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481556"/>
              <a:ext cx="715260" cy="307777"/>
            </a:xfrm>
            <a:prstGeom prst="rect">
              <a:avLst/>
            </a:prstGeom>
            <a:noFill/>
          </p:spPr>
          <p:txBody>
            <a:bodyPr wrap="none" rtlCol="0">
              <a:spAutoFit/>
            </a:bodyPr>
            <a:lstStyle/>
            <a:p>
              <a:pPr algn="ctr"/>
              <a:r>
                <a:rPr lang="zh-CN" altLang="en-US" sz="1400" dirty="0"/>
                <a:t>汇聚</a:t>
              </a:r>
              <a:r>
                <a:rPr lang="en-US" altLang="zh-CN" sz="1400" dirty="0"/>
                <a:t>-1</a:t>
              </a:r>
              <a:endParaRPr lang="zh-CN" altLang="en-US" sz="1400" b="1" dirty="0"/>
            </a:p>
          </p:txBody>
        </p:sp>
        <p:sp>
          <p:nvSpPr>
            <p:cNvPr id="104" name="Freeform 159"/>
            <p:cNvSpPr/>
            <p:nvPr/>
          </p:nvSpPr>
          <p:spPr bwMode="gray">
            <a:xfrm flipH="1">
              <a:off x="1594177"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2048127"/>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2049228"/>
              <a:ext cx="1140811" cy="620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928067" y="2464699"/>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464699"/>
              <a:ext cx="540000" cy="442800"/>
            </a:xfrm>
            <a:prstGeom prst="rect">
              <a:avLst/>
            </a:prstGeom>
          </p:spPr>
        </p:pic>
        <p:sp>
          <p:nvSpPr>
            <p:cNvPr id="120" name="Freeform 159"/>
            <p:cNvSpPr/>
            <p:nvPr/>
          </p:nvSpPr>
          <p:spPr bwMode="gray">
            <a:xfrm flipH="1">
              <a:off x="1594177"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285464"/>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466341"/>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5210334"/>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466341"/>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5210334"/>
              <a:ext cx="539063" cy="414000"/>
            </a:xfrm>
            <a:prstGeom prst="rect">
              <a:avLst/>
            </a:prstGeom>
          </p:spPr>
        </p:pic>
        <p:sp>
          <p:nvSpPr>
            <p:cNvPr id="137" name="文本框 136"/>
            <p:cNvSpPr txBox="1"/>
            <p:nvPr/>
          </p:nvSpPr>
          <p:spPr bwMode="gray">
            <a:xfrm>
              <a:off x="1636305" y="5908934"/>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908934"/>
              <a:ext cx="1082348" cy="523220"/>
            </a:xfrm>
            <a:prstGeom prst="rect">
              <a:avLst/>
            </a:prstGeom>
            <a:noFill/>
          </p:spPr>
          <p:txBody>
            <a:bodyPr wrap="none" rtlCol="0">
              <a:spAutoFit/>
            </a:bodyPr>
            <a:lstStyle/>
            <a:p>
              <a:pPr algn="ctr"/>
              <a:r>
                <a:rPr lang="zh-CN" altLang="en-US" sz="1400" dirty="0"/>
                <a:t>市场部网络</a:t>
              </a:r>
              <a:endParaRPr lang="en-US" altLang="zh-CN" sz="1400" dirty="0"/>
            </a:p>
            <a:p>
              <a:pPr algn="ctr"/>
              <a:r>
                <a:rPr lang="zh-CN" altLang="en-US" sz="1400" dirty="0"/>
                <a:t>客户端</a:t>
              </a:r>
              <a:endParaRPr lang="zh-CN" altLang="en-US" sz="1400" dirty="0"/>
            </a:p>
          </p:txBody>
        </p:sp>
        <p:sp>
          <p:nvSpPr>
            <p:cNvPr id="140" name="文本框 139"/>
            <p:cNvSpPr txBox="1"/>
            <p:nvPr/>
          </p:nvSpPr>
          <p:spPr bwMode="gray">
            <a:xfrm>
              <a:off x="1546538" y="1725143"/>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extLst>
                <a:ext uri="{28A0092B-C50C-407E-A947-70E740481C1C}">
                  <a14:useLocalDpi xmlns:a14="http://schemas.microsoft.com/office/drawing/2010/main" val="0"/>
                </a:ext>
              </a:extLst>
            </a:blip>
            <a:stretch>
              <a:fillRect/>
            </a:stretch>
          </p:blipFill>
          <p:spPr bwMode="gray">
            <a:xfrm>
              <a:off x="3456286" y="1285464"/>
              <a:ext cx="540000" cy="442800"/>
            </a:xfrm>
            <a:prstGeom prst="rect">
              <a:avLst/>
            </a:prstGeom>
          </p:spPr>
        </p:pic>
        <p:sp>
          <p:nvSpPr>
            <p:cNvPr id="146" name="文本框 145"/>
            <p:cNvSpPr txBox="1"/>
            <p:nvPr/>
          </p:nvSpPr>
          <p:spPr bwMode="gray">
            <a:xfrm>
              <a:off x="3095345" y="1725143"/>
              <a:ext cx="1261884" cy="307777"/>
            </a:xfrm>
            <a:prstGeom prst="rect">
              <a:avLst/>
            </a:prstGeom>
            <a:noFill/>
          </p:spPr>
          <p:txBody>
            <a:bodyPr wrap="none" rtlCol="0">
              <a:spAutoFit/>
            </a:bodyPr>
            <a:lstStyle/>
            <a:p>
              <a:pPr algn="ctr"/>
              <a:r>
                <a:rPr lang="zh-CN" altLang="en-US" sz="1400" dirty="0"/>
                <a:t>市场部服务器</a:t>
              </a:r>
              <a:endParaRPr lang="en-US" altLang="zh-CN" sz="1400" dirty="0"/>
            </a:p>
          </p:txBody>
        </p:sp>
        <p:sp>
          <p:nvSpPr>
            <p:cNvPr id="151" name="文本框 150"/>
            <p:cNvSpPr txBox="1"/>
            <p:nvPr/>
          </p:nvSpPr>
          <p:spPr bwMode="gray">
            <a:xfrm>
              <a:off x="1278676" y="3521222"/>
              <a:ext cx="715260" cy="307777"/>
            </a:xfrm>
            <a:prstGeom prst="rect">
              <a:avLst/>
            </a:prstGeom>
            <a:noFill/>
          </p:spPr>
          <p:txBody>
            <a:bodyPr wrap="none" rtlCol="0">
              <a:spAutoFit/>
            </a:bodyPr>
            <a:lstStyle/>
            <a:p>
              <a:pPr algn="ctr"/>
              <a:r>
                <a:rPr lang="zh-CN" altLang="en-US" sz="1400" dirty="0"/>
                <a:t>核心</a:t>
              </a:r>
              <a:r>
                <a:rPr lang="en-US" altLang="zh-CN" sz="1400" dirty="0"/>
                <a:t>-1</a:t>
              </a:r>
              <a:endParaRPr lang="zh-CN" altLang="en-US" sz="1400" b="1" dirty="0"/>
            </a:p>
          </p:txBody>
        </p:sp>
        <p:sp>
          <p:nvSpPr>
            <p:cNvPr id="153" name="文本框 152"/>
            <p:cNvSpPr txBox="1"/>
            <p:nvPr/>
          </p:nvSpPr>
          <p:spPr bwMode="gray">
            <a:xfrm>
              <a:off x="1278676" y="2532210"/>
              <a:ext cx="715260" cy="307777"/>
            </a:xfrm>
            <a:prstGeom prst="rect">
              <a:avLst/>
            </a:prstGeom>
            <a:noFill/>
          </p:spPr>
          <p:txBody>
            <a:bodyPr wrap="none" rtlCol="0">
              <a:spAutoFit/>
            </a:bodyPr>
            <a:lstStyle/>
            <a:p>
              <a:pPr algn="ctr"/>
              <a:r>
                <a:rPr lang="zh-CN" altLang="en-US" sz="1400" b="1" dirty="0">
                  <a:solidFill>
                    <a:srgbClr val="C7000B"/>
                  </a:solidFill>
                </a:rPr>
                <a:t>边界</a:t>
              </a:r>
              <a:r>
                <a:rPr lang="en-US" altLang="zh-CN" sz="1400" b="1" dirty="0">
                  <a:solidFill>
                    <a:srgbClr val="C7000B"/>
                  </a:solidFill>
                </a:rPr>
                <a:t>-1</a:t>
              </a:r>
              <a:endParaRPr lang="zh-CN" altLang="en-US" sz="1400" b="1" dirty="0">
                <a:solidFill>
                  <a:srgbClr val="C7000B"/>
                </a:solidFill>
              </a:endParaRPr>
            </a:p>
          </p:txBody>
        </p:sp>
        <p:sp>
          <p:nvSpPr>
            <p:cNvPr id="154" name="文本框 153"/>
            <p:cNvSpPr txBox="1"/>
            <p:nvPr/>
          </p:nvSpPr>
          <p:spPr bwMode="gray">
            <a:xfrm>
              <a:off x="3942035" y="4481556"/>
              <a:ext cx="715260" cy="307777"/>
            </a:xfrm>
            <a:prstGeom prst="rect">
              <a:avLst/>
            </a:prstGeom>
            <a:noFill/>
          </p:spPr>
          <p:txBody>
            <a:bodyPr wrap="none" rtlCol="0">
              <a:spAutoFit/>
            </a:bodyPr>
            <a:lstStyle/>
            <a:p>
              <a:pPr algn="ctr"/>
              <a:r>
                <a:rPr lang="zh-CN" altLang="en-US" sz="1400" dirty="0"/>
                <a:t>汇聚</a:t>
              </a:r>
              <a:r>
                <a:rPr lang="en-US" altLang="zh-CN" sz="1400" dirty="0"/>
                <a:t>-2</a:t>
              </a:r>
              <a:endParaRPr lang="zh-CN" altLang="en-US" sz="1400" b="1" dirty="0"/>
            </a:p>
          </p:txBody>
        </p:sp>
        <p:sp>
          <p:nvSpPr>
            <p:cNvPr id="155" name="文本框 154"/>
            <p:cNvSpPr txBox="1"/>
            <p:nvPr/>
          </p:nvSpPr>
          <p:spPr bwMode="gray">
            <a:xfrm>
              <a:off x="3942035" y="3521222"/>
              <a:ext cx="715260" cy="307777"/>
            </a:xfrm>
            <a:prstGeom prst="rect">
              <a:avLst/>
            </a:prstGeom>
            <a:noFill/>
          </p:spPr>
          <p:txBody>
            <a:bodyPr wrap="none" rtlCol="0">
              <a:spAutoFit/>
            </a:bodyPr>
            <a:lstStyle/>
            <a:p>
              <a:pPr algn="ctr"/>
              <a:r>
                <a:rPr lang="zh-CN" altLang="en-US" sz="1400" dirty="0"/>
                <a:t>核心</a:t>
              </a:r>
              <a:r>
                <a:rPr lang="en-US" altLang="zh-CN" sz="1400" dirty="0"/>
                <a:t>-2</a:t>
              </a:r>
              <a:endParaRPr lang="zh-CN" altLang="en-US" sz="1400" b="1" dirty="0"/>
            </a:p>
          </p:txBody>
        </p:sp>
        <p:sp>
          <p:nvSpPr>
            <p:cNvPr id="156" name="文本框 155"/>
            <p:cNvSpPr txBox="1"/>
            <p:nvPr/>
          </p:nvSpPr>
          <p:spPr bwMode="gray">
            <a:xfrm>
              <a:off x="3942035" y="2532210"/>
              <a:ext cx="715260" cy="307777"/>
            </a:xfrm>
            <a:prstGeom prst="rect">
              <a:avLst/>
            </a:prstGeom>
            <a:noFill/>
          </p:spPr>
          <p:txBody>
            <a:bodyPr wrap="none" rtlCol="0">
              <a:spAutoFit/>
            </a:bodyPr>
            <a:lstStyle/>
            <a:p>
              <a:pPr algn="ctr"/>
              <a:r>
                <a:rPr lang="zh-CN" altLang="en-US" sz="1400" dirty="0"/>
                <a:t>边界</a:t>
              </a:r>
              <a:r>
                <a:rPr lang="en-US" altLang="zh-CN" sz="1400" dirty="0"/>
                <a:t>-2</a:t>
              </a:r>
              <a:endParaRPr lang="zh-CN" altLang="en-US" sz="1400" b="1" dirty="0"/>
            </a:p>
          </p:txBody>
        </p:sp>
      </p:grpSp>
      <p:sp>
        <p:nvSpPr>
          <p:cNvPr id="8" name="任意多边形 7"/>
          <p:cNvSpPr/>
          <p:nvPr/>
        </p:nvSpPr>
        <p:spPr bwMode="gray">
          <a:xfrm>
            <a:off x="1840428" y="2000947"/>
            <a:ext cx="237584" cy="2851654"/>
          </a:xfrm>
          <a:custGeom>
            <a:avLst/>
            <a:gdLst>
              <a:gd name="connsiteX0" fmla="*/ 0 w 315472"/>
              <a:gd name="connsiteY0" fmla="*/ 3021495 h 3021495"/>
              <a:gd name="connsiteX1" fmla="*/ 278295 w 315472"/>
              <a:gd name="connsiteY1" fmla="*/ 2464904 h 3021495"/>
              <a:gd name="connsiteX2" fmla="*/ 304800 w 315472"/>
              <a:gd name="connsiteY2" fmla="*/ 0 h 3021495"/>
            </a:gdLst>
            <a:ahLst/>
            <a:cxnLst>
              <a:cxn ang="0">
                <a:pos x="connsiteX0" y="connsiteY0"/>
              </a:cxn>
              <a:cxn ang="0">
                <a:pos x="connsiteX1" y="connsiteY1"/>
              </a:cxn>
              <a:cxn ang="0">
                <a:pos x="connsiteX2" y="connsiteY2"/>
              </a:cxn>
            </a:cxnLst>
            <a:rect l="l" t="t" r="r" b="b"/>
            <a:pathLst>
              <a:path w="315472" h="3021495">
                <a:moveTo>
                  <a:pt x="0" y="3021495"/>
                </a:moveTo>
                <a:cubicBezTo>
                  <a:pt x="113747" y="2994990"/>
                  <a:pt x="227495" y="2968486"/>
                  <a:pt x="278295" y="2464904"/>
                </a:cubicBezTo>
                <a:cubicBezTo>
                  <a:pt x="329095" y="1961321"/>
                  <a:pt x="316947" y="980660"/>
                  <a:pt x="304800" y="0"/>
                </a:cubicBezTo>
              </a:path>
            </a:pathLst>
          </a:cu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9"/>
          <p:cNvSpPr/>
          <p:nvPr/>
        </p:nvSpPr>
        <p:spPr bwMode="gray">
          <a:xfrm>
            <a:off x="2304682" y="2039232"/>
            <a:ext cx="1541140" cy="2850687"/>
          </a:xfrm>
          <a:custGeom>
            <a:avLst/>
            <a:gdLst>
              <a:gd name="connsiteX0" fmla="*/ 360417 w 1858053"/>
              <a:gd name="connsiteY0" fmla="*/ 3379304 h 3379304"/>
              <a:gd name="connsiteX1" fmla="*/ 360417 w 1858053"/>
              <a:gd name="connsiteY1" fmla="*/ 2743200 h 3379304"/>
              <a:gd name="connsiteX2" fmla="*/ 1857913 w 1858053"/>
              <a:gd name="connsiteY2" fmla="*/ 1616765 h 3379304"/>
              <a:gd name="connsiteX3" fmla="*/ 267652 w 1858053"/>
              <a:gd name="connsiteY3" fmla="*/ 702365 h 3379304"/>
              <a:gd name="connsiteX4" fmla="*/ 15861 w 1858053"/>
              <a:gd name="connsiteY4" fmla="*/ 0 h 3379304"/>
              <a:gd name="connsiteX0-1" fmla="*/ 347673 w 1845324"/>
              <a:gd name="connsiteY0-2" fmla="*/ 3379304 h 3379304"/>
              <a:gd name="connsiteX1-3" fmla="*/ 347673 w 1845324"/>
              <a:gd name="connsiteY1-4" fmla="*/ 2743200 h 3379304"/>
              <a:gd name="connsiteX2-5" fmla="*/ 1845169 w 1845324"/>
              <a:gd name="connsiteY2-6" fmla="*/ 1616765 h 3379304"/>
              <a:gd name="connsiteX3-7" fmla="*/ 439174 w 1845324"/>
              <a:gd name="connsiteY3-8" fmla="*/ 593911 h 3379304"/>
              <a:gd name="connsiteX4-9" fmla="*/ 3117 w 1845324"/>
              <a:gd name="connsiteY4-10" fmla="*/ 0 h 3379304"/>
              <a:gd name="connsiteX0-11" fmla="*/ 359313 w 1856997"/>
              <a:gd name="connsiteY0-12" fmla="*/ 3379304 h 3379304"/>
              <a:gd name="connsiteX1-13" fmla="*/ 359313 w 1856997"/>
              <a:gd name="connsiteY1-14" fmla="*/ 2743200 h 3379304"/>
              <a:gd name="connsiteX2-15" fmla="*/ 1856809 w 1856997"/>
              <a:gd name="connsiteY2-16" fmla="*/ 1616765 h 3379304"/>
              <a:gd name="connsiteX3-17" fmla="*/ 450814 w 1856997"/>
              <a:gd name="connsiteY3-18" fmla="*/ 593911 h 3379304"/>
              <a:gd name="connsiteX4-19" fmla="*/ 14757 w 1856997"/>
              <a:gd name="connsiteY4-20" fmla="*/ 0 h 3379304"/>
              <a:gd name="connsiteX0-21" fmla="*/ 347520 w 1783757"/>
              <a:gd name="connsiteY0-22" fmla="*/ 3379304 h 3379304"/>
              <a:gd name="connsiteX1-23" fmla="*/ 347520 w 1783757"/>
              <a:gd name="connsiteY1-24" fmla="*/ 2743200 h 3379304"/>
              <a:gd name="connsiteX2-25" fmla="*/ 1783595 w 1783757"/>
              <a:gd name="connsiteY2-26" fmla="*/ 1415350 h 3379304"/>
              <a:gd name="connsiteX3-27" fmla="*/ 439021 w 1783757"/>
              <a:gd name="connsiteY3-28" fmla="*/ 593911 h 3379304"/>
              <a:gd name="connsiteX4-29" fmla="*/ 2964 w 1783757"/>
              <a:gd name="connsiteY4-30" fmla="*/ 0 h 3379304"/>
              <a:gd name="connsiteX0-31" fmla="*/ 346580 w 1783351"/>
              <a:gd name="connsiteY0-32" fmla="*/ 3379304 h 3379304"/>
              <a:gd name="connsiteX1-33" fmla="*/ 346580 w 1783351"/>
              <a:gd name="connsiteY1-34" fmla="*/ 2743200 h 3379304"/>
              <a:gd name="connsiteX2-35" fmla="*/ 1782655 w 1783351"/>
              <a:gd name="connsiteY2-36" fmla="*/ 1415350 h 3379304"/>
              <a:gd name="connsiteX3-37" fmla="*/ 530215 w 1783351"/>
              <a:gd name="connsiteY3-38" fmla="*/ 578417 h 3379304"/>
              <a:gd name="connsiteX4-39" fmla="*/ 2024 w 1783351"/>
              <a:gd name="connsiteY4-40" fmla="*/ 0 h 3379304"/>
              <a:gd name="connsiteX0-41" fmla="*/ 346580 w 1785312"/>
              <a:gd name="connsiteY0-42" fmla="*/ 3379304 h 3379304"/>
              <a:gd name="connsiteX1-43" fmla="*/ 162313 w 1785312"/>
              <a:gd name="connsiteY1-44" fmla="*/ 2572771 h 3379304"/>
              <a:gd name="connsiteX2-45" fmla="*/ 1782655 w 1785312"/>
              <a:gd name="connsiteY2-46" fmla="*/ 1415350 h 3379304"/>
              <a:gd name="connsiteX3-47" fmla="*/ 530215 w 1785312"/>
              <a:gd name="connsiteY3-48" fmla="*/ 578417 h 3379304"/>
              <a:gd name="connsiteX4-49" fmla="*/ 2024 w 1785312"/>
              <a:gd name="connsiteY4-50" fmla="*/ 0 h 3379304"/>
              <a:gd name="connsiteX0-51" fmla="*/ 346580 w 1785749"/>
              <a:gd name="connsiteY0-52" fmla="*/ 3379304 h 3379304"/>
              <a:gd name="connsiteX1-53" fmla="*/ 131602 w 1785749"/>
              <a:gd name="connsiteY1-54" fmla="*/ 2510797 h 3379304"/>
              <a:gd name="connsiteX2-55" fmla="*/ 1782655 w 1785749"/>
              <a:gd name="connsiteY2-56" fmla="*/ 1415350 h 3379304"/>
              <a:gd name="connsiteX3-57" fmla="*/ 530215 w 1785749"/>
              <a:gd name="connsiteY3-58" fmla="*/ 578417 h 3379304"/>
              <a:gd name="connsiteX4-59" fmla="*/ 2024 w 1785749"/>
              <a:gd name="connsiteY4-60" fmla="*/ 0 h 3379304"/>
              <a:gd name="connsiteX0-61" fmla="*/ 163660 w 1802451"/>
              <a:gd name="connsiteY0-62" fmla="*/ 3332824 h 3332824"/>
              <a:gd name="connsiteX1-63" fmla="*/ 148304 w 1802451"/>
              <a:gd name="connsiteY1-64" fmla="*/ 2510797 h 3332824"/>
              <a:gd name="connsiteX2-65" fmla="*/ 1799357 w 1802451"/>
              <a:gd name="connsiteY2-66" fmla="*/ 1415350 h 3332824"/>
              <a:gd name="connsiteX3-67" fmla="*/ 546917 w 1802451"/>
              <a:gd name="connsiteY3-68" fmla="*/ 578417 h 3332824"/>
              <a:gd name="connsiteX4-69" fmla="*/ 18726 w 1802451"/>
              <a:gd name="connsiteY4-70" fmla="*/ 0 h 3332824"/>
              <a:gd name="connsiteX0-71" fmla="*/ 146958 w 1785749"/>
              <a:gd name="connsiteY0-72" fmla="*/ 3332824 h 3332824"/>
              <a:gd name="connsiteX1-73" fmla="*/ 131602 w 1785749"/>
              <a:gd name="connsiteY1-74" fmla="*/ 2510797 h 3332824"/>
              <a:gd name="connsiteX2-75" fmla="*/ 1782655 w 1785749"/>
              <a:gd name="connsiteY2-76" fmla="*/ 1415350 h 3332824"/>
              <a:gd name="connsiteX3-77" fmla="*/ 530215 w 1785749"/>
              <a:gd name="connsiteY3-78" fmla="*/ 578417 h 3332824"/>
              <a:gd name="connsiteX4-79" fmla="*/ 2024 w 1785749"/>
              <a:gd name="connsiteY4-80" fmla="*/ 0 h 3332824"/>
              <a:gd name="connsiteX0-81" fmla="*/ 146958 w 1785749"/>
              <a:gd name="connsiteY0-82" fmla="*/ 3332824 h 3332824"/>
              <a:gd name="connsiteX1-83" fmla="*/ 131602 w 1785749"/>
              <a:gd name="connsiteY1-84" fmla="*/ 2510797 h 3332824"/>
              <a:gd name="connsiteX2-85" fmla="*/ 1782655 w 1785749"/>
              <a:gd name="connsiteY2-86" fmla="*/ 1415350 h 3332824"/>
              <a:gd name="connsiteX3-87" fmla="*/ 530215 w 1785749"/>
              <a:gd name="connsiteY3-88" fmla="*/ 578417 h 3332824"/>
              <a:gd name="connsiteX4-89" fmla="*/ 2024 w 1785749"/>
              <a:gd name="connsiteY4-90" fmla="*/ 0 h 33328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85749" h="3332824">
                <a:moveTo>
                  <a:pt x="146958" y="3332824"/>
                </a:moveTo>
                <a:cubicBezTo>
                  <a:pt x="191077" y="3130663"/>
                  <a:pt x="-33525" y="2861363"/>
                  <a:pt x="131602" y="2510797"/>
                </a:cubicBezTo>
                <a:cubicBezTo>
                  <a:pt x="296729" y="2160231"/>
                  <a:pt x="1716220" y="1737413"/>
                  <a:pt x="1782655" y="1415350"/>
                </a:cubicBezTo>
                <a:cubicBezTo>
                  <a:pt x="1849090" y="1093287"/>
                  <a:pt x="826987" y="814309"/>
                  <a:pt x="530215" y="578417"/>
                </a:cubicBezTo>
                <a:cubicBezTo>
                  <a:pt x="233443" y="342525"/>
                  <a:pt x="-25585" y="216452"/>
                  <a:pt x="2024" y="0"/>
                </a:cubicBezTo>
              </a:path>
            </a:pathLst>
          </a:cu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箭头连接符 11"/>
          <p:cNvCxnSpPr/>
          <p:nvPr/>
        </p:nvCxnSpPr>
        <p:spPr bwMode="gray">
          <a:xfrm>
            <a:off x="5030045" y="5739572"/>
            <a:ext cx="1065955" cy="0"/>
          </a:xfrm>
          <a:prstGeom prst="straightConnector1">
            <a:avLst/>
          </a:pr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3" name="文本框 62"/>
          <p:cNvSpPr txBox="1"/>
          <p:nvPr/>
        </p:nvSpPr>
        <p:spPr bwMode="gray">
          <a:xfrm>
            <a:off x="4905052" y="5809457"/>
            <a:ext cx="1261884" cy="307777"/>
          </a:xfrm>
          <a:prstGeom prst="rect">
            <a:avLst/>
          </a:prstGeom>
          <a:noFill/>
        </p:spPr>
        <p:txBody>
          <a:bodyPr wrap="none" rtlCol="0">
            <a:spAutoFit/>
          </a:bodyPr>
          <a:lstStyle/>
          <a:p>
            <a:pPr algn="ctr"/>
            <a:r>
              <a:rPr lang="zh-CN" altLang="en-US" sz="1400" dirty="0"/>
              <a:t>财务部数据流</a:t>
            </a:r>
            <a:endParaRPr lang="zh-CN" altLang="en-US" sz="1400" dirty="0"/>
          </a:p>
        </p:txBody>
      </p:sp>
      <p:sp>
        <p:nvSpPr>
          <p:cNvPr id="60" name="文本占位符 39"/>
          <p:cNvSpPr txBox="1"/>
          <p:nvPr/>
        </p:nvSpPr>
        <p:spPr bwMode="gray">
          <a:xfrm>
            <a:off x="6096001" y="4087171"/>
            <a:ext cx="5658678" cy="1050838"/>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startAt="2"/>
            </a:pPr>
            <a:r>
              <a:rPr lang="zh-CN" altLang="en-US" sz="1800" dirty="0"/>
              <a:t>控制数据流在内部的精确路径：</a:t>
            </a:r>
            <a:endParaRPr lang="en-US" altLang="zh-CN" sz="1800" dirty="0"/>
          </a:p>
          <a:p>
            <a:pPr lvl="1"/>
            <a:r>
              <a:rPr lang="zh-CN" altLang="en-US" sz="1600" dirty="0"/>
              <a:t>不出现负载分担路径。</a:t>
            </a:r>
            <a:endParaRPr lang="en-US" altLang="zh-CN" sz="1600" dirty="0"/>
          </a:p>
        </p:txBody>
      </p:sp>
      <p:sp>
        <p:nvSpPr>
          <p:cNvPr id="61" name="矩形 60"/>
          <p:cNvSpPr/>
          <p:nvPr/>
        </p:nvSpPr>
        <p:spPr bwMode="gray">
          <a:xfrm>
            <a:off x="6574982" y="2724076"/>
            <a:ext cx="4979830" cy="1084634"/>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chemeClr val="tx1"/>
                </a:solidFill>
              </a:rPr>
              <a:t>要保证网络会选择固定的</a:t>
            </a:r>
            <a:r>
              <a:rPr lang="en-US" altLang="zh-CN" sz="1600" dirty="0">
                <a:solidFill>
                  <a:schemeClr val="tx1"/>
                </a:solidFill>
              </a:rPr>
              <a:t>ASBR</a:t>
            </a:r>
            <a:r>
              <a:rPr lang="zh-CN" altLang="en-US" sz="1600" dirty="0">
                <a:solidFill>
                  <a:schemeClr val="tx1"/>
                </a:solidFill>
              </a:rPr>
              <a:t>执行数据转发，要求忽略内部网络变化，即不计算内部路由开销。</a:t>
            </a:r>
            <a:endParaRPr lang="en-US" altLang="zh-CN" sz="1600" dirty="0">
              <a:solidFill>
                <a:schemeClr val="tx1"/>
              </a:solidFill>
            </a:endParaRPr>
          </a:p>
          <a:p>
            <a:pPr>
              <a:lnSpc>
                <a:spcPct val="150000"/>
              </a:lnSpc>
            </a:pPr>
            <a:r>
              <a:rPr lang="en-US" altLang="zh-CN" sz="1600" b="1" dirty="0">
                <a:solidFill>
                  <a:schemeClr val="tx1"/>
                </a:solidFill>
              </a:rPr>
              <a:t>		——</a:t>
            </a:r>
            <a:r>
              <a:rPr lang="zh-CN" altLang="en-US" sz="1600" b="1" dirty="0">
                <a:solidFill>
                  <a:schemeClr val="tx1"/>
                </a:solidFill>
              </a:rPr>
              <a:t>使用</a:t>
            </a:r>
            <a:r>
              <a:rPr lang="en-US" altLang="zh-CN" sz="1600" b="1" dirty="0">
                <a:solidFill>
                  <a:schemeClr val="tx1"/>
                </a:solidFill>
              </a:rPr>
              <a:t>OSPF</a:t>
            </a:r>
            <a:r>
              <a:rPr lang="zh-CN" altLang="en-US" sz="1600" b="1" dirty="0">
                <a:solidFill>
                  <a:schemeClr val="tx1"/>
                </a:solidFill>
              </a:rPr>
              <a:t>的</a:t>
            </a:r>
            <a:r>
              <a:rPr lang="en-US" altLang="zh-CN" sz="1600" b="1" dirty="0">
                <a:solidFill>
                  <a:schemeClr val="tx1"/>
                </a:solidFill>
              </a:rPr>
              <a:t>Type2</a:t>
            </a:r>
            <a:r>
              <a:rPr lang="zh-CN" altLang="en-US" sz="1600" b="1" dirty="0">
                <a:solidFill>
                  <a:schemeClr val="tx1"/>
                </a:solidFill>
              </a:rPr>
              <a:t>外部路由</a:t>
            </a:r>
            <a:endParaRPr lang="zh-CN" altLang="en-US" sz="1600" b="1" dirty="0">
              <a:solidFill>
                <a:schemeClr val="tx1"/>
              </a:solidFill>
            </a:endParaRPr>
          </a:p>
        </p:txBody>
      </p:sp>
      <p:sp>
        <p:nvSpPr>
          <p:cNvPr id="62" name="矩形 61"/>
          <p:cNvSpPr/>
          <p:nvPr/>
        </p:nvSpPr>
        <p:spPr bwMode="gray">
          <a:xfrm>
            <a:off x="6574982" y="5002234"/>
            <a:ext cx="4979830" cy="765752"/>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chemeClr val="tx1"/>
                </a:solidFill>
              </a:rPr>
              <a:t>要在网络内部按照规划路径将数据发往特定的</a:t>
            </a:r>
            <a:r>
              <a:rPr lang="en-US" altLang="zh-CN" sz="1600" dirty="0">
                <a:solidFill>
                  <a:schemeClr val="tx1"/>
                </a:solidFill>
              </a:rPr>
              <a:t>ASBR</a:t>
            </a:r>
            <a:r>
              <a:rPr lang="zh-CN" altLang="en-US" sz="1600" dirty="0">
                <a:solidFill>
                  <a:schemeClr val="tx1"/>
                </a:solidFill>
              </a:rPr>
              <a:t>。</a:t>
            </a:r>
            <a:endParaRPr lang="en-US" altLang="zh-CN" sz="1600" dirty="0">
              <a:solidFill>
                <a:schemeClr val="tx1"/>
              </a:solidFill>
            </a:endParaRPr>
          </a:p>
          <a:p>
            <a:pPr>
              <a:lnSpc>
                <a:spcPct val="150000"/>
              </a:lnSpc>
            </a:pPr>
            <a:r>
              <a:rPr lang="en-US" altLang="zh-CN" sz="1600" b="1" dirty="0">
                <a:solidFill>
                  <a:schemeClr val="tx1"/>
                </a:solidFill>
              </a:rPr>
              <a:t>		——</a:t>
            </a:r>
            <a:r>
              <a:rPr lang="zh-CN" altLang="en-US" sz="1600" b="1" dirty="0">
                <a:solidFill>
                  <a:schemeClr val="tx1"/>
                </a:solidFill>
              </a:rPr>
              <a:t>调整内部路径开销</a:t>
            </a:r>
            <a:endParaRPr lang="en-US" altLang="zh-CN" sz="1600" b="1" dirty="0">
              <a:solidFill>
                <a:schemeClr val="tx1"/>
              </a:solidFill>
            </a:endParaRPr>
          </a:p>
        </p:txBody>
      </p:sp>
      <p:sp>
        <p:nvSpPr>
          <p:cNvPr id="64" name="任意多边形 63"/>
          <p:cNvSpPr/>
          <p:nvPr/>
        </p:nvSpPr>
        <p:spPr bwMode="gray">
          <a:xfrm>
            <a:off x="2168341" y="2014198"/>
            <a:ext cx="1450389" cy="2915478"/>
          </a:xfrm>
          <a:custGeom>
            <a:avLst/>
            <a:gdLst>
              <a:gd name="connsiteX0" fmla="*/ 127617 w 1519149"/>
              <a:gd name="connsiteY0" fmla="*/ 2915478 h 2915478"/>
              <a:gd name="connsiteX1" fmla="*/ 154121 w 1519149"/>
              <a:gd name="connsiteY1" fmla="*/ 1325217 h 2915478"/>
              <a:gd name="connsiteX2" fmla="*/ 1519095 w 1519149"/>
              <a:gd name="connsiteY2" fmla="*/ 1152939 h 2915478"/>
              <a:gd name="connsiteX3" fmla="*/ 207130 w 1519149"/>
              <a:gd name="connsiteY3" fmla="*/ 424069 h 2915478"/>
              <a:gd name="connsiteX4" fmla="*/ 21600 w 1519149"/>
              <a:gd name="connsiteY4" fmla="*/ 0 h 2915478"/>
              <a:gd name="connsiteX0-1" fmla="*/ 113800 w 1506123"/>
              <a:gd name="connsiteY0-2" fmla="*/ 2915478 h 2915478"/>
              <a:gd name="connsiteX1-3" fmla="*/ 140304 w 1506123"/>
              <a:gd name="connsiteY1-4" fmla="*/ 1325217 h 2915478"/>
              <a:gd name="connsiteX2-5" fmla="*/ 1505278 w 1506123"/>
              <a:gd name="connsiteY2-6" fmla="*/ 1152939 h 2915478"/>
              <a:gd name="connsiteX3-7" fmla="*/ 339087 w 1506123"/>
              <a:gd name="connsiteY3-8" fmla="*/ 503582 h 2915478"/>
              <a:gd name="connsiteX4-9" fmla="*/ 7783 w 1506123"/>
              <a:gd name="connsiteY4-10" fmla="*/ 0 h 2915478"/>
              <a:gd name="connsiteX0-11" fmla="*/ 111034 w 1450389"/>
              <a:gd name="connsiteY0-12" fmla="*/ 2915478 h 2915478"/>
              <a:gd name="connsiteX1-13" fmla="*/ 137538 w 1450389"/>
              <a:gd name="connsiteY1-14" fmla="*/ 1325217 h 2915478"/>
              <a:gd name="connsiteX2-15" fmla="*/ 1449503 w 1450389"/>
              <a:gd name="connsiteY2-16" fmla="*/ 1205947 h 2915478"/>
              <a:gd name="connsiteX3-17" fmla="*/ 336321 w 1450389"/>
              <a:gd name="connsiteY3-18" fmla="*/ 503582 h 2915478"/>
              <a:gd name="connsiteX4-19" fmla="*/ 5017 w 1450389"/>
              <a:gd name="connsiteY4-20" fmla="*/ 0 h 2915478"/>
              <a:gd name="connsiteX0-21" fmla="*/ 115616 w 1454971"/>
              <a:gd name="connsiteY0-22" fmla="*/ 2915478 h 2915478"/>
              <a:gd name="connsiteX1-23" fmla="*/ 142120 w 1454971"/>
              <a:gd name="connsiteY1-24" fmla="*/ 1325217 h 2915478"/>
              <a:gd name="connsiteX2-25" fmla="*/ 1454085 w 1454971"/>
              <a:gd name="connsiteY2-26" fmla="*/ 1205947 h 2915478"/>
              <a:gd name="connsiteX3-27" fmla="*/ 340903 w 1454971"/>
              <a:gd name="connsiteY3-28" fmla="*/ 503582 h 2915478"/>
              <a:gd name="connsiteX4-29" fmla="*/ 9599 w 1454971"/>
              <a:gd name="connsiteY4-30" fmla="*/ 0 h 2915478"/>
              <a:gd name="connsiteX0-31" fmla="*/ 111034 w 1450389"/>
              <a:gd name="connsiteY0-32" fmla="*/ 2915478 h 2915478"/>
              <a:gd name="connsiteX1-33" fmla="*/ 137538 w 1450389"/>
              <a:gd name="connsiteY1-34" fmla="*/ 1325217 h 2915478"/>
              <a:gd name="connsiteX2-35" fmla="*/ 1449503 w 1450389"/>
              <a:gd name="connsiteY2-36" fmla="*/ 1245703 h 2915478"/>
              <a:gd name="connsiteX3-37" fmla="*/ 336321 w 1450389"/>
              <a:gd name="connsiteY3-38" fmla="*/ 503582 h 2915478"/>
              <a:gd name="connsiteX4-39" fmla="*/ 5017 w 1450389"/>
              <a:gd name="connsiteY4-40" fmla="*/ 0 h 2915478"/>
              <a:gd name="connsiteX0-41" fmla="*/ 111034 w 1450389"/>
              <a:gd name="connsiteY0-42" fmla="*/ 2915478 h 2915478"/>
              <a:gd name="connsiteX1-43" fmla="*/ 137538 w 1450389"/>
              <a:gd name="connsiteY1-44" fmla="*/ 1325217 h 2915478"/>
              <a:gd name="connsiteX2-45" fmla="*/ 1449503 w 1450389"/>
              <a:gd name="connsiteY2-46" fmla="*/ 1245703 h 2915478"/>
              <a:gd name="connsiteX3-47" fmla="*/ 336321 w 1450389"/>
              <a:gd name="connsiteY3-48" fmla="*/ 503582 h 2915478"/>
              <a:gd name="connsiteX4-49" fmla="*/ 5017 w 1450389"/>
              <a:gd name="connsiteY4-50" fmla="*/ 0 h 29154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0389" h="2915478">
                <a:moveTo>
                  <a:pt x="111034" y="2915478"/>
                </a:moveTo>
                <a:cubicBezTo>
                  <a:pt x="8329" y="2267225"/>
                  <a:pt x="-45784" y="1457739"/>
                  <a:pt x="137538" y="1325217"/>
                </a:cubicBezTo>
                <a:cubicBezTo>
                  <a:pt x="320860" y="1192695"/>
                  <a:pt x="1416373" y="1382642"/>
                  <a:pt x="1449503" y="1245703"/>
                </a:cubicBezTo>
                <a:cubicBezTo>
                  <a:pt x="1482634" y="1108764"/>
                  <a:pt x="577069" y="711199"/>
                  <a:pt x="336321" y="503582"/>
                </a:cubicBezTo>
                <a:cubicBezTo>
                  <a:pt x="95573" y="295965"/>
                  <a:pt x="-27009" y="115956"/>
                  <a:pt x="5017" y="0"/>
                </a:cubicBezTo>
              </a:path>
            </a:pathLst>
          </a:cu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五边形 64"/>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74"/>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animBg="1"/>
      <p:bldP spid="6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控制流量出口</a:t>
            </a:r>
            <a:endParaRPr lang="zh-CN" altLang="en-US" dirty="0"/>
          </a:p>
        </p:txBody>
      </p:sp>
      <p:sp>
        <p:nvSpPr>
          <p:cNvPr id="40" name="文本占位符 39"/>
          <p:cNvSpPr>
            <a:spLocks noGrp="1"/>
          </p:cNvSpPr>
          <p:nvPr>
            <p:ph type="body" sz="quarter" idx="10"/>
          </p:nvPr>
        </p:nvSpPr>
        <p:spPr bwMode="gray">
          <a:xfrm>
            <a:off x="6096000" y="1047750"/>
            <a:ext cx="5653087" cy="4879805"/>
          </a:xfrm>
        </p:spPr>
        <p:txBody>
          <a:bodyPr/>
          <a:lstStyle/>
          <a:p>
            <a:r>
              <a:rPr lang="zh-CN" altLang="en-US" sz="1800" dirty="0"/>
              <a:t>实现方式：</a:t>
            </a:r>
            <a:endParaRPr lang="en-US" altLang="zh-CN" sz="1800" dirty="0"/>
          </a:p>
          <a:p>
            <a:pPr lvl="1"/>
            <a:r>
              <a:rPr lang="zh-CN" altLang="en-US" sz="1600" dirty="0"/>
              <a:t>在</a:t>
            </a:r>
            <a:r>
              <a:rPr lang="en-US" altLang="zh-CN" sz="1600" dirty="0"/>
              <a:t>R1</a:t>
            </a:r>
            <a:r>
              <a:rPr lang="zh-CN" altLang="en-US" sz="1600" dirty="0"/>
              <a:t>（边界</a:t>
            </a:r>
            <a:r>
              <a:rPr lang="en-US" altLang="zh-CN" sz="1600" dirty="0"/>
              <a:t>-1</a:t>
            </a:r>
            <a:r>
              <a:rPr lang="zh-CN" altLang="en-US" sz="1600" dirty="0"/>
              <a:t>）和</a:t>
            </a:r>
            <a:r>
              <a:rPr lang="en-US" altLang="zh-CN" sz="1600" dirty="0"/>
              <a:t>R2</a:t>
            </a:r>
            <a:r>
              <a:rPr lang="zh-CN" altLang="en-US" sz="1600" dirty="0"/>
              <a:t>（边界</a:t>
            </a:r>
            <a:r>
              <a:rPr lang="en-US" altLang="zh-CN" sz="1600" dirty="0"/>
              <a:t>-2</a:t>
            </a:r>
            <a:r>
              <a:rPr lang="zh-CN" altLang="en-US" sz="1600" dirty="0"/>
              <a:t>）的</a:t>
            </a:r>
            <a:r>
              <a:rPr lang="en-US" altLang="zh-CN" sz="1600" dirty="0"/>
              <a:t>OSPF</a:t>
            </a:r>
            <a:r>
              <a:rPr lang="zh-CN" altLang="en-US" sz="1600" dirty="0"/>
              <a:t>进程内引入去往财务部服务器的静态路由，实现出口备份（可以通过路由策略实现）；</a:t>
            </a:r>
            <a:endParaRPr lang="en-US" altLang="zh-CN" sz="1600" dirty="0"/>
          </a:p>
          <a:p>
            <a:pPr lvl="1"/>
            <a:r>
              <a:rPr lang="zh-CN" altLang="en-US" sz="1600" dirty="0"/>
              <a:t>设置引入外部路由类型为</a:t>
            </a:r>
            <a:r>
              <a:rPr lang="en-US" altLang="zh-CN" sz="1600" dirty="0"/>
              <a:t>Type2</a:t>
            </a:r>
            <a:r>
              <a:rPr lang="zh-CN" altLang="en-US" sz="1600" dirty="0"/>
              <a:t>；</a:t>
            </a:r>
            <a:endParaRPr lang="en-US" altLang="zh-CN" sz="1600" dirty="0"/>
          </a:p>
          <a:p>
            <a:pPr lvl="1"/>
            <a:r>
              <a:rPr lang="zh-CN" altLang="en-US" sz="1600" dirty="0"/>
              <a:t>在</a:t>
            </a:r>
            <a:r>
              <a:rPr lang="en-US" altLang="zh-CN" sz="1600" dirty="0"/>
              <a:t>R1</a:t>
            </a:r>
            <a:r>
              <a:rPr lang="zh-CN" altLang="en-US" sz="1600" dirty="0"/>
              <a:t>上设置外部路由开销为</a:t>
            </a:r>
            <a:r>
              <a:rPr lang="en-US" altLang="zh-CN" sz="1600" dirty="0"/>
              <a:t>100</a:t>
            </a:r>
            <a:r>
              <a:rPr lang="zh-CN" altLang="en-US" sz="1600" dirty="0"/>
              <a:t>，在</a:t>
            </a:r>
            <a:r>
              <a:rPr lang="en-US" altLang="zh-CN" sz="1600" dirty="0"/>
              <a:t>R2</a:t>
            </a:r>
            <a:r>
              <a:rPr lang="zh-CN" altLang="en-US" sz="1600" dirty="0"/>
              <a:t>上设置外部路由开销为</a:t>
            </a:r>
            <a:r>
              <a:rPr lang="en-US" altLang="zh-CN" sz="1600" dirty="0"/>
              <a:t>200</a:t>
            </a:r>
            <a:r>
              <a:rPr lang="zh-CN" altLang="en-US" sz="1600" dirty="0"/>
              <a:t>。</a:t>
            </a:r>
            <a:endParaRPr lang="en-US" altLang="zh-CN" sz="1600" dirty="0"/>
          </a:p>
          <a:p>
            <a:r>
              <a:rPr lang="zh-CN" altLang="en-US" sz="1800" dirty="0"/>
              <a:t>配置结果：</a:t>
            </a:r>
            <a:endParaRPr lang="en-US" altLang="zh-CN" sz="1800" dirty="0"/>
          </a:p>
          <a:p>
            <a:pPr lvl="1"/>
            <a:r>
              <a:rPr lang="zh-CN" altLang="en-US" sz="1600" dirty="0"/>
              <a:t>网络中存在</a:t>
            </a:r>
            <a:r>
              <a:rPr lang="en-US" altLang="zh-CN" sz="1600" dirty="0"/>
              <a:t>2</a:t>
            </a:r>
            <a:r>
              <a:rPr lang="zh-CN" altLang="en-US" sz="1600" dirty="0"/>
              <a:t>条同一网段不同开销的</a:t>
            </a:r>
            <a:r>
              <a:rPr lang="en-US" altLang="zh-CN" sz="1600" dirty="0"/>
              <a:t>Type2</a:t>
            </a:r>
            <a:r>
              <a:rPr lang="zh-CN" altLang="en-US" sz="1600" dirty="0"/>
              <a:t>外部路由时，网络设备会优选开销较小的路由。此时，网络中各设备会优选</a:t>
            </a:r>
            <a:r>
              <a:rPr lang="en-US" altLang="zh-CN" sz="1600" dirty="0"/>
              <a:t>R1</a:t>
            </a:r>
            <a:r>
              <a:rPr lang="zh-CN" altLang="en-US" sz="1600" dirty="0"/>
              <a:t>作为出口。</a:t>
            </a:r>
            <a:endParaRPr lang="zh-CN" altLang="en-US" sz="1600" dirty="0"/>
          </a:p>
        </p:txBody>
      </p:sp>
      <p:cxnSp>
        <p:nvCxnSpPr>
          <p:cNvPr id="4" name="直接连接符 3"/>
          <p:cNvCxnSpPr>
            <a:endCxn id="57" idx="2"/>
          </p:cNvCxnSpPr>
          <p:nvPr/>
        </p:nvCxnSpPr>
        <p:spPr bwMode="gray">
          <a:xfrm flipV="1">
            <a:off x="2177479" y="4620347"/>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631335"/>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642323"/>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620347"/>
            <a:ext cx="0" cy="3530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631335"/>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642323"/>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409935"/>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381157"/>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417917"/>
            <a:ext cx="1543432" cy="9810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414649"/>
            <a:ext cx="1564021" cy="100326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414751"/>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188535"/>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177547"/>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188535"/>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177547"/>
            <a:ext cx="540000" cy="442800"/>
          </a:xfrm>
          <a:prstGeom prst="rect">
            <a:avLst/>
          </a:prstGeom>
        </p:spPr>
      </p:pic>
      <p:cxnSp>
        <p:nvCxnSpPr>
          <p:cNvPr id="97" name="直接连接符 96"/>
          <p:cNvCxnSpPr>
            <a:stCxn id="81" idx="1"/>
            <a:endCxn id="57" idx="3"/>
          </p:cNvCxnSpPr>
          <p:nvPr/>
        </p:nvCxnSpPr>
        <p:spPr bwMode="gray">
          <a:xfrm flipH="1">
            <a:off x="2468067" y="4398947"/>
            <a:ext cx="100343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216380"/>
            <a:ext cx="715260" cy="307777"/>
          </a:xfrm>
          <a:prstGeom prst="rect">
            <a:avLst/>
          </a:prstGeom>
          <a:noFill/>
        </p:spPr>
        <p:txBody>
          <a:bodyPr wrap="none" rtlCol="0">
            <a:spAutoFit/>
          </a:bodyPr>
          <a:lstStyle/>
          <a:p>
            <a:pPr algn="ctr"/>
            <a:r>
              <a:rPr lang="zh-CN" altLang="en-US" sz="1400" dirty="0"/>
              <a:t>汇聚</a:t>
            </a:r>
            <a:r>
              <a:rPr lang="en-US" altLang="zh-CN" sz="1400" dirty="0"/>
              <a:t>-1</a:t>
            </a:r>
            <a:endParaRPr lang="zh-CN" altLang="en-US" sz="1400" b="1" dirty="0"/>
          </a:p>
        </p:txBody>
      </p:sp>
      <p:sp>
        <p:nvSpPr>
          <p:cNvPr id="104" name="Freeform 159"/>
          <p:cNvSpPr/>
          <p:nvPr/>
        </p:nvSpPr>
        <p:spPr bwMode="gray">
          <a:xfrm flipH="1">
            <a:off x="1594177" y="1111547"/>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111547"/>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1784052"/>
            <a:ext cx="0" cy="415471"/>
          </a:xfrm>
          <a:prstGeom prst="line">
            <a:avLst/>
          </a:prstGeom>
          <a:ln w="28575">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1784052"/>
            <a:ext cx="0" cy="41547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1782951"/>
            <a:ext cx="1152801" cy="631698"/>
          </a:xfrm>
          <a:prstGeom prst="line">
            <a:avLst/>
          </a:prstGeom>
          <a:ln w="28575">
            <a:solidFill>
              <a:srgbClr val="C7000B"/>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1784052"/>
            <a:ext cx="1140811" cy="62046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928067" y="2199523"/>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199523"/>
            <a:ext cx="540000" cy="442800"/>
          </a:xfrm>
          <a:prstGeom prst="rect">
            <a:avLst/>
          </a:prstGeom>
        </p:spPr>
      </p:pic>
      <p:sp>
        <p:nvSpPr>
          <p:cNvPr id="120" name="Freeform 159"/>
          <p:cNvSpPr/>
          <p:nvPr/>
        </p:nvSpPr>
        <p:spPr bwMode="gray">
          <a:xfrm flipH="1">
            <a:off x="1594177" y="4830305"/>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4830305"/>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020288"/>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201165"/>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4945158"/>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201165"/>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4945158"/>
            <a:ext cx="539063" cy="414000"/>
          </a:xfrm>
          <a:prstGeom prst="rect">
            <a:avLst/>
          </a:prstGeom>
        </p:spPr>
      </p:pic>
      <p:sp>
        <p:nvSpPr>
          <p:cNvPr id="137" name="文本框 136"/>
          <p:cNvSpPr txBox="1"/>
          <p:nvPr/>
        </p:nvSpPr>
        <p:spPr bwMode="gray">
          <a:xfrm>
            <a:off x="1636305" y="5643758"/>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643758"/>
            <a:ext cx="1082348" cy="523220"/>
          </a:xfrm>
          <a:prstGeom prst="rect">
            <a:avLst/>
          </a:prstGeom>
          <a:noFill/>
        </p:spPr>
        <p:txBody>
          <a:bodyPr wrap="none" rtlCol="0">
            <a:spAutoFit/>
          </a:bodyPr>
          <a:lstStyle/>
          <a:p>
            <a:pPr algn="ctr"/>
            <a:r>
              <a:rPr lang="zh-CN" altLang="en-US" sz="1400" dirty="0">
                <a:solidFill>
                  <a:schemeClr val="bg1">
                    <a:lumMod val="50000"/>
                  </a:schemeClr>
                </a:solidFill>
              </a:rPr>
              <a:t>市场部网络</a:t>
            </a:r>
            <a:endParaRPr lang="en-US" altLang="zh-CN" sz="1400" dirty="0">
              <a:solidFill>
                <a:schemeClr val="bg1">
                  <a:lumMod val="50000"/>
                </a:schemeClr>
              </a:solidFill>
            </a:endParaRPr>
          </a:p>
          <a:p>
            <a:pPr algn="ctr"/>
            <a:r>
              <a:rPr lang="zh-CN" altLang="en-US" sz="1400" dirty="0">
                <a:solidFill>
                  <a:schemeClr val="bg1">
                    <a:lumMod val="50000"/>
                  </a:schemeClr>
                </a:solidFill>
              </a:rPr>
              <a:t>客户端</a:t>
            </a:r>
            <a:endParaRPr lang="zh-CN" altLang="en-US" sz="1400" dirty="0">
              <a:solidFill>
                <a:schemeClr val="bg1">
                  <a:lumMod val="50000"/>
                </a:schemeClr>
              </a:solidFill>
            </a:endParaRPr>
          </a:p>
        </p:txBody>
      </p:sp>
      <p:sp>
        <p:nvSpPr>
          <p:cNvPr id="140" name="文本框 139"/>
          <p:cNvSpPr txBox="1"/>
          <p:nvPr/>
        </p:nvSpPr>
        <p:spPr bwMode="gray">
          <a:xfrm>
            <a:off x="1546538" y="1459967"/>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56286" y="1020288"/>
            <a:ext cx="540000" cy="442800"/>
          </a:xfrm>
          <a:prstGeom prst="rect">
            <a:avLst/>
          </a:prstGeom>
        </p:spPr>
      </p:pic>
      <p:sp>
        <p:nvSpPr>
          <p:cNvPr id="146" name="文本框 145"/>
          <p:cNvSpPr txBox="1"/>
          <p:nvPr/>
        </p:nvSpPr>
        <p:spPr bwMode="gray">
          <a:xfrm>
            <a:off x="3095345" y="1459967"/>
            <a:ext cx="1261884" cy="307777"/>
          </a:xfrm>
          <a:prstGeom prst="rect">
            <a:avLst/>
          </a:prstGeom>
          <a:noFill/>
        </p:spPr>
        <p:txBody>
          <a:bodyPr wrap="none" rtlCol="0">
            <a:spAutoFit/>
          </a:bodyPr>
          <a:lstStyle/>
          <a:p>
            <a:pPr algn="ctr"/>
            <a:r>
              <a:rPr lang="zh-CN" altLang="en-US" sz="1400" dirty="0">
                <a:solidFill>
                  <a:schemeClr val="bg1">
                    <a:lumMod val="50000"/>
                  </a:schemeClr>
                </a:solidFill>
              </a:rPr>
              <a:t>市场部服务器</a:t>
            </a:r>
            <a:endParaRPr lang="en-US" altLang="zh-CN" sz="1400" dirty="0">
              <a:solidFill>
                <a:schemeClr val="bg1">
                  <a:lumMod val="50000"/>
                </a:schemeClr>
              </a:solidFill>
            </a:endParaRPr>
          </a:p>
        </p:txBody>
      </p:sp>
      <p:sp>
        <p:nvSpPr>
          <p:cNvPr id="151" name="文本框 150"/>
          <p:cNvSpPr txBox="1"/>
          <p:nvPr/>
        </p:nvSpPr>
        <p:spPr bwMode="gray">
          <a:xfrm>
            <a:off x="1278676" y="3256046"/>
            <a:ext cx="715260" cy="307777"/>
          </a:xfrm>
          <a:prstGeom prst="rect">
            <a:avLst/>
          </a:prstGeom>
          <a:noFill/>
        </p:spPr>
        <p:txBody>
          <a:bodyPr wrap="none" rtlCol="0">
            <a:spAutoFit/>
          </a:bodyPr>
          <a:lstStyle/>
          <a:p>
            <a:pPr algn="ctr"/>
            <a:r>
              <a:rPr lang="zh-CN" altLang="en-US" sz="1400" dirty="0"/>
              <a:t>核心</a:t>
            </a:r>
            <a:r>
              <a:rPr lang="en-US" altLang="zh-CN" sz="1400" dirty="0"/>
              <a:t>-1</a:t>
            </a:r>
            <a:endParaRPr lang="zh-CN" altLang="en-US" sz="1400" b="1" dirty="0"/>
          </a:p>
        </p:txBody>
      </p:sp>
      <p:sp>
        <p:nvSpPr>
          <p:cNvPr id="153" name="文本框 152"/>
          <p:cNvSpPr txBox="1"/>
          <p:nvPr/>
        </p:nvSpPr>
        <p:spPr bwMode="gray">
          <a:xfrm>
            <a:off x="1278676" y="2267034"/>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54" name="文本框 153"/>
          <p:cNvSpPr txBox="1"/>
          <p:nvPr/>
        </p:nvSpPr>
        <p:spPr bwMode="gray">
          <a:xfrm>
            <a:off x="3942035" y="4216380"/>
            <a:ext cx="715260" cy="307777"/>
          </a:xfrm>
          <a:prstGeom prst="rect">
            <a:avLst/>
          </a:prstGeom>
          <a:noFill/>
        </p:spPr>
        <p:txBody>
          <a:bodyPr wrap="none" rtlCol="0">
            <a:spAutoFit/>
          </a:bodyPr>
          <a:lstStyle/>
          <a:p>
            <a:pPr algn="ctr"/>
            <a:r>
              <a:rPr lang="zh-CN" altLang="en-US" sz="1400" dirty="0">
                <a:solidFill>
                  <a:schemeClr val="bg1">
                    <a:lumMod val="50000"/>
                  </a:schemeClr>
                </a:solidFill>
              </a:rPr>
              <a:t>汇聚</a:t>
            </a:r>
            <a:r>
              <a:rPr lang="en-US" altLang="zh-CN" sz="1400" dirty="0">
                <a:solidFill>
                  <a:schemeClr val="bg1">
                    <a:lumMod val="50000"/>
                  </a:schemeClr>
                </a:solidFill>
              </a:rPr>
              <a:t>-2</a:t>
            </a:r>
            <a:endParaRPr lang="zh-CN" altLang="en-US" sz="1400" b="1" dirty="0">
              <a:solidFill>
                <a:schemeClr val="bg1">
                  <a:lumMod val="50000"/>
                </a:schemeClr>
              </a:solidFill>
            </a:endParaRPr>
          </a:p>
        </p:txBody>
      </p:sp>
      <p:sp>
        <p:nvSpPr>
          <p:cNvPr id="155" name="文本框 154"/>
          <p:cNvSpPr txBox="1"/>
          <p:nvPr/>
        </p:nvSpPr>
        <p:spPr bwMode="gray">
          <a:xfrm>
            <a:off x="3942035" y="3256046"/>
            <a:ext cx="715260" cy="307777"/>
          </a:xfrm>
          <a:prstGeom prst="rect">
            <a:avLst/>
          </a:prstGeom>
          <a:noFill/>
        </p:spPr>
        <p:txBody>
          <a:bodyPr wrap="none" rtlCol="0">
            <a:spAutoFit/>
          </a:bodyPr>
          <a:lstStyle/>
          <a:p>
            <a:pPr algn="ctr"/>
            <a:r>
              <a:rPr lang="zh-CN" altLang="en-US" sz="1400" dirty="0">
                <a:solidFill>
                  <a:schemeClr val="bg1">
                    <a:lumMod val="50000"/>
                  </a:schemeClr>
                </a:solidFill>
              </a:rPr>
              <a:t>核心</a:t>
            </a:r>
            <a:r>
              <a:rPr lang="en-US" altLang="zh-CN" sz="1400" dirty="0">
                <a:solidFill>
                  <a:schemeClr val="bg1">
                    <a:lumMod val="50000"/>
                  </a:schemeClr>
                </a:solidFill>
              </a:rPr>
              <a:t>-2</a:t>
            </a:r>
            <a:endParaRPr lang="zh-CN" altLang="en-US" sz="1400" b="1" dirty="0">
              <a:solidFill>
                <a:schemeClr val="bg1">
                  <a:lumMod val="50000"/>
                </a:schemeClr>
              </a:solidFill>
            </a:endParaRPr>
          </a:p>
        </p:txBody>
      </p:sp>
      <p:sp>
        <p:nvSpPr>
          <p:cNvPr id="156" name="文本框 155"/>
          <p:cNvSpPr txBox="1"/>
          <p:nvPr/>
        </p:nvSpPr>
        <p:spPr bwMode="gray">
          <a:xfrm>
            <a:off x="3942035" y="2267034"/>
            <a:ext cx="715260" cy="523220"/>
          </a:xfrm>
          <a:prstGeom prst="rect">
            <a:avLst/>
          </a:prstGeom>
          <a:noFill/>
        </p:spPr>
        <p:txBody>
          <a:bodyPr wrap="none" rtlCol="0">
            <a:spAutoFit/>
          </a:bodyPr>
          <a:lstStyle/>
          <a:p>
            <a:pPr algn="ctr"/>
            <a:r>
              <a:rPr lang="zh-CN" altLang="en-US" sz="1400" dirty="0">
                <a:solidFill>
                  <a:schemeClr val="bg1">
                    <a:lumMod val="50000"/>
                  </a:schemeClr>
                </a:solidFill>
              </a:rPr>
              <a:t>边界</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b="1" dirty="0">
                <a:solidFill>
                  <a:schemeClr val="bg1">
                    <a:lumMod val="50000"/>
                  </a:schemeClr>
                </a:solidFill>
              </a:rPr>
              <a:t>R2</a:t>
            </a:r>
            <a:endParaRPr lang="zh-CN" altLang="en-US" sz="1400" b="1" dirty="0">
              <a:solidFill>
                <a:schemeClr val="bg1">
                  <a:lumMod val="50000"/>
                </a:schemeClr>
              </a:solidFill>
            </a:endParaRPr>
          </a:p>
        </p:txBody>
      </p:sp>
      <p:sp>
        <p:nvSpPr>
          <p:cNvPr id="62" name="Freeform 3"/>
          <p:cNvSpPr/>
          <p:nvPr/>
        </p:nvSpPr>
        <p:spPr bwMode="gray">
          <a:xfrm rot="691934">
            <a:off x="1805529" y="1974425"/>
            <a:ext cx="411937" cy="3869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C7000B"/>
          </a:solidFill>
          <a:ln w="19050">
            <a:no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3"/>
          <p:cNvSpPr/>
          <p:nvPr/>
        </p:nvSpPr>
        <p:spPr bwMode="gray">
          <a:xfrm rot="20908066" flipH="1">
            <a:off x="3730870" y="1990409"/>
            <a:ext cx="411937" cy="3869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C7000B"/>
          </a:solidFill>
          <a:ln w="19050">
            <a:no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矩形 1"/>
          <p:cNvSpPr/>
          <p:nvPr/>
        </p:nvSpPr>
        <p:spPr bwMode="gray">
          <a:xfrm>
            <a:off x="630822" y="1729330"/>
            <a:ext cx="1108757" cy="560457"/>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rPr>
              <a:t>引入财务路由</a:t>
            </a:r>
            <a:endParaRPr lang="en-US" altLang="zh-CN" sz="1200" dirty="0">
              <a:solidFill>
                <a:schemeClr val="tx1"/>
              </a:solidFill>
            </a:endParaRPr>
          </a:p>
          <a:p>
            <a:r>
              <a:rPr lang="zh-CN" altLang="en-US" sz="1200" dirty="0">
                <a:solidFill>
                  <a:schemeClr val="tx1"/>
                </a:solidFill>
              </a:rPr>
              <a:t>类型：</a:t>
            </a:r>
            <a:r>
              <a:rPr lang="en-US" altLang="zh-CN" sz="1200" dirty="0">
                <a:solidFill>
                  <a:schemeClr val="tx1"/>
                </a:solidFill>
              </a:rPr>
              <a:t>Type2</a:t>
            </a:r>
            <a:endParaRPr lang="en-US" altLang="zh-CN" sz="1200" dirty="0">
              <a:solidFill>
                <a:schemeClr val="tx1"/>
              </a:solidFill>
            </a:endParaRPr>
          </a:p>
          <a:p>
            <a:r>
              <a:rPr lang="en-US" altLang="zh-CN" sz="1200" dirty="0">
                <a:solidFill>
                  <a:schemeClr val="tx1"/>
                </a:solidFill>
              </a:rPr>
              <a:t>Cost</a:t>
            </a:r>
            <a:r>
              <a:rPr lang="zh-CN" altLang="en-US" sz="1200" dirty="0">
                <a:solidFill>
                  <a:schemeClr val="tx1"/>
                </a:solidFill>
              </a:rPr>
              <a:t>：</a:t>
            </a:r>
            <a:r>
              <a:rPr lang="en-US" altLang="zh-CN" sz="1200" dirty="0">
                <a:solidFill>
                  <a:schemeClr val="tx1"/>
                </a:solidFill>
              </a:rPr>
              <a:t>100</a:t>
            </a:r>
            <a:endParaRPr lang="zh-CN" altLang="en-US" sz="1200" dirty="0">
              <a:solidFill>
                <a:schemeClr val="tx1"/>
              </a:solidFill>
            </a:endParaRPr>
          </a:p>
        </p:txBody>
      </p:sp>
      <p:sp>
        <p:nvSpPr>
          <p:cNvPr id="70" name="矩形 69"/>
          <p:cNvSpPr/>
          <p:nvPr/>
        </p:nvSpPr>
        <p:spPr bwMode="gray">
          <a:xfrm>
            <a:off x="4187255" y="1729330"/>
            <a:ext cx="1108757" cy="560457"/>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rPr>
              <a:t>引入财务路由</a:t>
            </a:r>
            <a:endParaRPr lang="en-US" altLang="zh-CN" sz="1200" dirty="0">
              <a:solidFill>
                <a:schemeClr val="tx1"/>
              </a:solidFill>
            </a:endParaRPr>
          </a:p>
          <a:p>
            <a:r>
              <a:rPr lang="zh-CN" altLang="en-US" sz="1200" dirty="0">
                <a:solidFill>
                  <a:schemeClr val="tx1"/>
                </a:solidFill>
              </a:rPr>
              <a:t>类型：</a:t>
            </a:r>
            <a:r>
              <a:rPr lang="en-US" altLang="zh-CN" sz="1200" dirty="0">
                <a:solidFill>
                  <a:schemeClr val="tx1"/>
                </a:solidFill>
              </a:rPr>
              <a:t>Type2</a:t>
            </a:r>
            <a:endParaRPr lang="en-US" altLang="zh-CN" sz="1200" dirty="0">
              <a:solidFill>
                <a:schemeClr val="tx1"/>
              </a:solidFill>
            </a:endParaRPr>
          </a:p>
          <a:p>
            <a:r>
              <a:rPr lang="en-US" altLang="zh-CN" sz="1200" dirty="0">
                <a:solidFill>
                  <a:schemeClr val="tx1"/>
                </a:solidFill>
              </a:rPr>
              <a:t>Cost</a:t>
            </a:r>
            <a:r>
              <a:rPr lang="zh-CN" altLang="en-US" sz="1200" dirty="0">
                <a:solidFill>
                  <a:schemeClr val="tx1"/>
                </a:solidFill>
              </a:rPr>
              <a:t>：</a:t>
            </a:r>
            <a:r>
              <a:rPr lang="en-US" altLang="zh-CN" sz="1200" dirty="0">
                <a:solidFill>
                  <a:schemeClr val="tx1"/>
                </a:solidFill>
              </a:rPr>
              <a:t>200</a:t>
            </a:r>
            <a:endParaRPr lang="zh-CN" altLang="en-US" sz="1200" dirty="0">
              <a:solidFill>
                <a:schemeClr val="tx1"/>
              </a:solidFill>
            </a:endParaRPr>
          </a:p>
        </p:txBody>
      </p:sp>
      <p:sp>
        <p:nvSpPr>
          <p:cNvPr id="58" name="五边形 57"/>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燕尾形 58"/>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燕尾形 59"/>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燕尾形 60"/>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控制内部路径</a:t>
            </a:r>
            <a:endParaRPr lang="zh-CN" altLang="en-US" dirty="0"/>
          </a:p>
        </p:txBody>
      </p:sp>
      <p:sp>
        <p:nvSpPr>
          <p:cNvPr id="40" name="文本占位符 39"/>
          <p:cNvSpPr>
            <a:spLocks noGrp="1"/>
          </p:cNvSpPr>
          <p:nvPr>
            <p:ph type="body" sz="quarter" idx="10"/>
          </p:nvPr>
        </p:nvSpPr>
        <p:spPr bwMode="gray">
          <a:xfrm>
            <a:off x="6096000" y="1047750"/>
            <a:ext cx="5653087" cy="4879805"/>
          </a:xfrm>
        </p:spPr>
        <p:txBody>
          <a:bodyPr/>
          <a:lstStyle/>
          <a:p>
            <a:r>
              <a:rPr lang="zh-CN" altLang="en-US" sz="1800" dirty="0"/>
              <a:t>网络需求分析：</a:t>
            </a:r>
            <a:endParaRPr lang="en-US" altLang="zh-CN" sz="1800" dirty="0"/>
          </a:p>
          <a:p>
            <a:pPr lvl="1"/>
            <a:r>
              <a:rPr lang="zh-CN" altLang="en-US" sz="1600" dirty="0"/>
              <a:t>若网络正常运行，则</a:t>
            </a:r>
            <a:r>
              <a:rPr lang="en-US" altLang="zh-CN" sz="1600" dirty="0"/>
              <a:t>S3</a:t>
            </a:r>
            <a:r>
              <a:rPr lang="zh-CN" altLang="en-US" sz="1600" dirty="0"/>
              <a:t>（汇聚</a:t>
            </a:r>
            <a:r>
              <a:rPr lang="en-US" altLang="zh-CN" sz="1600" dirty="0"/>
              <a:t>-1</a:t>
            </a:r>
            <a:r>
              <a:rPr lang="zh-CN" altLang="en-US" sz="1600" dirty="0"/>
              <a:t>）会选择路径</a:t>
            </a:r>
            <a:r>
              <a:rPr lang="en-US" altLang="zh-CN" sz="1600" dirty="0"/>
              <a:t>1</a:t>
            </a:r>
            <a:r>
              <a:rPr lang="zh-CN" altLang="en-US" sz="1600" dirty="0"/>
              <a:t>。</a:t>
            </a:r>
            <a:endParaRPr lang="en-US" altLang="zh-CN" sz="1600" dirty="0"/>
          </a:p>
          <a:p>
            <a:pPr lvl="1"/>
            <a:r>
              <a:rPr lang="zh-CN" altLang="en-US" sz="1600" dirty="0"/>
              <a:t>若</a:t>
            </a:r>
            <a:r>
              <a:rPr lang="en-US" altLang="zh-CN" sz="1600" dirty="0"/>
              <a:t>S1</a:t>
            </a:r>
            <a:r>
              <a:rPr lang="zh-CN" altLang="en-US" sz="1600" dirty="0"/>
              <a:t>（核心</a:t>
            </a:r>
            <a:r>
              <a:rPr lang="en-US" altLang="zh-CN" sz="1600" dirty="0"/>
              <a:t>-1</a:t>
            </a:r>
            <a:r>
              <a:rPr lang="zh-CN" altLang="en-US" sz="1600" dirty="0"/>
              <a:t>）与</a:t>
            </a:r>
            <a:r>
              <a:rPr lang="en-US" altLang="zh-CN" sz="1600" dirty="0"/>
              <a:t>R1</a:t>
            </a:r>
            <a:r>
              <a:rPr lang="zh-CN" altLang="en-US" sz="1600" dirty="0"/>
              <a:t>间链路故障，则</a:t>
            </a:r>
            <a:r>
              <a:rPr lang="en-US" altLang="zh-CN" sz="1600" dirty="0"/>
              <a:t>S3</a:t>
            </a:r>
            <a:r>
              <a:rPr lang="zh-CN" altLang="en-US" sz="1600" dirty="0"/>
              <a:t>会选择路径</a:t>
            </a:r>
            <a:r>
              <a:rPr lang="en-US" altLang="zh-CN" sz="1600" dirty="0"/>
              <a:t>2</a:t>
            </a:r>
            <a:r>
              <a:rPr lang="zh-CN" altLang="en-US" sz="1600" dirty="0"/>
              <a:t>。</a:t>
            </a:r>
            <a:endParaRPr lang="en-US" altLang="zh-CN" sz="1600" dirty="0"/>
          </a:p>
          <a:p>
            <a:pPr lvl="1"/>
            <a:r>
              <a:rPr lang="zh-CN" altLang="en-US" sz="1600" dirty="0"/>
              <a:t>若</a:t>
            </a:r>
            <a:r>
              <a:rPr lang="en-US" altLang="zh-CN" sz="1600" dirty="0"/>
              <a:t>S1</a:t>
            </a:r>
            <a:r>
              <a:rPr lang="zh-CN" altLang="en-US" sz="1600" dirty="0"/>
              <a:t>设备故障，则</a:t>
            </a:r>
            <a:r>
              <a:rPr lang="en-US" altLang="zh-CN" sz="1600" dirty="0"/>
              <a:t>S3</a:t>
            </a:r>
            <a:r>
              <a:rPr lang="zh-CN" altLang="en-US" sz="1600" dirty="0"/>
              <a:t>会选择路径</a:t>
            </a:r>
            <a:r>
              <a:rPr lang="en-US" altLang="zh-CN" sz="1600" dirty="0"/>
              <a:t>3</a:t>
            </a:r>
            <a:r>
              <a:rPr lang="zh-CN" altLang="en-US" sz="1600" dirty="0"/>
              <a:t>。</a:t>
            </a:r>
            <a:endParaRPr lang="en-US" altLang="zh-CN" sz="1800" dirty="0"/>
          </a:p>
          <a:p>
            <a:r>
              <a:rPr lang="zh-CN" altLang="en-US" sz="1800" dirty="0"/>
              <a:t>实现方式：</a:t>
            </a:r>
            <a:endParaRPr lang="en-US" altLang="zh-CN" sz="1800" dirty="0"/>
          </a:p>
          <a:p>
            <a:pPr lvl="1"/>
            <a:r>
              <a:rPr lang="zh-CN" altLang="en-US" sz="1600" dirty="0"/>
              <a:t>路径</a:t>
            </a:r>
            <a:r>
              <a:rPr lang="en-US" altLang="zh-CN" sz="1600" dirty="0"/>
              <a:t>1-Cost &lt; </a:t>
            </a:r>
            <a:r>
              <a:rPr lang="zh-CN" altLang="en-US" sz="1600" dirty="0"/>
              <a:t>路径</a:t>
            </a:r>
            <a:r>
              <a:rPr lang="en-US" altLang="zh-CN" sz="1600" dirty="0"/>
              <a:t>2-Cost &lt; </a:t>
            </a:r>
            <a:r>
              <a:rPr lang="zh-CN" altLang="en-US" sz="1600" dirty="0"/>
              <a:t>路径</a:t>
            </a:r>
            <a:r>
              <a:rPr lang="en-US" altLang="zh-CN" sz="1600" dirty="0"/>
              <a:t>3-Cost</a:t>
            </a:r>
            <a:r>
              <a:rPr lang="zh-CN" altLang="en-US" sz="1600" dirty="0"/>
              <a:t>。</a:t>
            </a:r>
            <a:endParaRPr lang="zh-CN" altLang="en-US" sz="1600" dirty="0"/>
          </a:p>
        </p:txBody>
      </p:sp>
      <p:cxnSp>
        <p:nvCxnSpPr>
          <p:cNvPr id="4" name="直接连接符 3"/>
          <p:cNvCxnSpPr>
            <a:endCxn id="57" idx="2"/>
          </p:cNvCxnSpPr>
          <p:nvPr/>
        </p:nvCxnSpPr>
        <p:spPr bwMode="gray">
          <a:xfrm flipV="1">
            <a:off x="2177479" y="4621573"/>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63256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64354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621573"/>
            <a:ext cx="0" cy="3530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632561"/>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643549"/>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411161"/>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382383"/>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419143"/>
            <a:ext cx="1543432" cy="9810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415875"/>
            <a:ext cx="1564021" cy="100326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415977"/>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189761"/>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178773"/>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189761"/>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178773"/>
            <a:ext cx="540000" cy="442800"/>
          </a:xfrm>
          <a:prstGeom prst="rect">
            <a:avLst/>
          </a:prstGeom>
        </p:spPr>
      </p:pic>
      <p:cxnSp>
        <p:nvCxnSpPr>
          <p:cNvPr id="97" name="直接连接符 96"/>
          <p:cNvCxnSpPr>
            <a:stCxn id="81" idx="1"/>
            <a:endCxn id="57" idx="3"/>
          </p:cNvCxnSpPr>
          <p:nvPr/>
        </p:nvCxnSpPr>
        <p:spPr bwMode="gray">
          <a:xfrm flipH="1">
            <a:off x="2468067" y="4400173"/>
            <a:ext cx="100343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217606"/>
            <a:ext cx="715260" cy="523220"/>
          </a:xfrm>
          <a:prstGeom prst="rect">
            <a:avLst/>
          </a:prstGeom>
          <a:noFill/>
        </p:spPr>
        <p:txBody>
          <a:bodyPr wrap="none" rtlCol="0">
            <a:spAutoFit/>
          </a:bodyPr>
          <a:lstStyle/>
          <a:p>
            <a:pPr algn="ctr"/>
            <a:r>
              <a:rPr lang="zh-CN" altLang="en-US" sz="1400" dirty="0"/>
              <a:t>汇聚</a:t>
            </a:r>
            <a:r>
              <a:rPr lang="en-US" altLang="zh-CN" sz="1400" dirty="0"/>
              <a:t>-1</a:t>
            </a:r>
            <a:endParaRPr lang="en-US" altLang="zh-CN" sz="1400" dirty="0"/>
          </a:p>
          <a:p>
            <a:pPr algn="ctr"/>
            <a:r>
              <a:rPr lang="en-US" altLang="zh-CN" sz="1400" dirty="0"/>
              <a:t>S3</a:t>
            </a:r>
            <a:endParaRPr lang="zh-CN" altLang="en-US" sz="1400" dirty="0"/>
          </a:p>
        </p:txBody>
      </p:sp>
      <p:sp>
        <p:nvSpPr>
          <p:cNvPr id="104" name="Freeform 159"/>
          <p:cNvSpPr/>
          <p:nvPr/>
        </p:nvSpPr>
        <p:spPr bwMode="gray">
          <a:xfrm flipH="1">
            <a:off x="1594177" y="111277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11277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178527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1785278"/>
            <a:ext cx="0" cy="41547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1784177"/>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1785278"/>
            <a:ext cx="1140811" cy="62046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928067" y="2200749"/>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200749"/>
            <a:ext cx="540000" cy="442800"/>
          </a:xfrm>
          <a:prstGeom prst="rect">
            <a:avLst/>
          </a:prstGeom>
        </p:spPr>
      </p:pic>
      <p:sp>
        <p:nvSpPr>
          <p:cNvPr id="120" name="Freeform 159"/>
          <p:cNvSpPr/>
          <p:nvPr/>
        </p:nvSpPr>
        <p:spPr bwMode="gray">
          <a:xfrm flipH="1">
            <a:off x="1594177" y="483153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483153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021514"/>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202391"/>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4946384"/>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202391"/>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4946384"/>
            <a:ext cx="539063" cy="414000"/>
          </a:xfrm>
          <a:prstGeom prst="rect">
            <a:avLst/>
          </a:prstGeom>
        </p:spPr>
      </p:pic>
      <p:sp>
        <p:nvSpPr>
          <p:cNvPr id="137" name="文本框 136"/>
          <p:cNvSpPr txBox="1"/>
          <p:nvPr/>
        </p:nvSpPr>
        <p:spPr bwMode="gray">
          <a:xfrm>
            <a:off x="1636305" y="5644984"/>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644984"/>
            <a:ext cx="1082348" cy="523220"/>
          </a:xfrm>
          <a:prstGeom prst="rect">
            <a:avLst/>
          </a:prstGeom>
          <a:noFill/>
        </p:spPr>
        <p:txBody>
          <a:bodyPr wrap="none" rtlCol="0">
            <a:spAutoFit/>
          </a:bodyPr>
          <a:lstStyle/>
          <a:p>
            <a:pPr algn="ctr"/>
            <a:r>
              <a:rPr lang="zh-CN" altLang="en-US" sz="1400" dirty="0">
                <a:solidFill>
                  <a:schemeClr val="bg1">
                    <a:lumMod val="50000"/>
                  </a:schemeClr>
                </a:solidFill>
              </a:rPr>
              <a:t>市场部网络</a:t>
            </a:r>
            <a:endParaRPr lang="en-US" altLang="zh-CN" sz="1400" dirty="0">
              <a:solidFill>
                <a:schemeClr val="bg1">
                  <a:lumMod val="50000"/>
                </a:schemeClr>
              </a:solidFill>
            </a:endParaRPr>
          </a:p>
          <a:p>
            <a:pPr algn="ctr"/>
            <a:r>
              <a:rPr lang="zh-CN" altLang="en-US" sz="1400" dirty="0">
                <a:solidFill>
                  <a:schemeClr val="bg1">
                    <a:lumMod val="50000"/>
                  </a:schemeClr>
                </a:solidFill>
              </a:rPr>
              <a:t>客户端</a:t>
            </a:r>
            <a:endParaRPr lang="zh-CN" altLang="en-US" sz="1400" dirty="0">
              <a:solidFill>
                <a:schemeClr val="bg1">
                  <a:lumMod val="50000"/>
                </a:schemeClr>
              </a:solidFill>
            </a:endParaRPr>
          </a:p>
        </p:txBody>
      </p:sp>
      <p:sp>
        <p:nvSpPr>
          <p:cNvPr id="140" name="文本框 139"/>
          <p:cNvSpPr txBox="1"/>
          <p:nvPr/>
        </p:nvSpPr>
        <p:spPr bwMode="gray">
          <a:xfrm>
            <a:off x="1546538" y="1461193"/>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56286" y="1021514"/>
            <a:ext cx="540000" cy="442800"/>
          </a:xfrm>
          <a:prstGeom prst="rect">
            <a:avLst/>
          </a:prstGeom>
        </p:spPr>
      </p:pic>
      <p:sp>
        <p:nvSpPr>
          <p:cNvPr id="146" name="文本框 145"/>
          <p:cNvSpPr txBox="1"/>
          <p:nvPr/>
        </p:nvSpPr>
        <p:spPr bwMode="gray">
          <a:xfrm>
            <a:off x="3095345" y="1461193"/>
            <a:ext cx="1261884" cy="307777"/>
          </a:xfrm>
          <a:prstGeom prst="rect">
            <a:avLst/>
          </a:prstGeom>
          <a:noFill/>
        </p:spPr>
        <p:txBody>
          <a:bodyPr wrap="none" rtlCol="0">
            <a:spAutoFit/>
          </a:bodyPr>
          <a:lstStyle/>
          <a:p>
            <a:pPr algn="ctr"/>
            <a:r>
              <a:rPr lang="zh-CN" altLang="en-US" sz="1400" dirty="0">
                <a:solidFill>
                  <a:schemeClr val="bg1">
                    <a:lumMod val="50000"/>
                  </a:schemeClr>
                </a:solidFill>
              </a:rPr>
              <a:t>市场部服务器</a:t>
            </a:r>
            <a:endParaRPr lang="en-US" altLang="zh-CN" sz="1400" dirty="0">
              <a:solidFill>
                <a:schemeClr val="bg1">
                  <a:lumMod val="50000"/>
                </a:schemeClr>
              </a:solidFill>
            </a:endParaRPr>
          </a:p>
        </p:txBody>
      </p:sp>
      <p:sp>
        <p:nvSpPr>
          <p:cNvPr id="151" name="文本框 150"/>
          <p:cNvSpPr txBox="1"/>
          <p:nvPr/>
        </p:nvSpPr>
        <p:spPr bwMode="gray">
          <a:xfrm>
            <a:off x="1278676" y="3257272"/>
            <a:ext cx="715260" cy="523220"/>
          </a:xfrm>
          <a:prstGeom prst="rect">
            <a:avLst/>
          </a:prstGeom>
          <a:noFill/>
        </p:spPr>
        <p:txBody>
          <a:bodyPr wrap="none" rtlCol="0">
            <a:spAutoFit/>
          </a:bodyPr>
          <a:lstStyle/>
          <a:p>
            <a:pPr algn="ctr"/>
            <a:r>
              <a:rPr lang="zh-CN" altLang="en-US" sz="1400" dirty="0"/>
              <a:t>核心</a:t>
            </a:r>
            <a:r>
              <a:rPr lang="en-US" altLang="zh-CN" sz="1400" dirty="0"/>
              <a:t>-1</a:t>
            </a:r>
            <a:endParaRPr lang="en-US" altLang="zh-CN" sz="1400" dirty="0"/>
          </a:p>
          <a:p>
            <a:pPr algn="ctr"/>
            <a:r>
              <a:rPr lang="en-US" altLang="zh-CN" sz="1400" dirty="0"/>
              <a:t>S1</a:t>
            </a:r>
            <a:endParaRPr lang="zh-CN" altLang="en-US" sz="1400" dirty="0"/>
          </a:p>
        </p:txBody>
      </p:sp>
      <p:sp>
        <p:nvSpPr>
          <p:cNvPr id="153" name="文本框 152"/>
          <p:cNvSpPr txBox="1"/>
          <p:nvPr/>
        </p:nvSpPr>
        <p:spPr bwMode="gray">
          <a:xfrm>
            <a:off x="1278676" y="2268260"/>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54" name="文本框 153"/>
          <p:cNvSpPr txBox="1"/>
          <p:nvPr/>
        </p:nvSpPr>
        <p:spPr bwMode="gray">
          <a:xfrm>
            <a:off x="3942035" y="4217606"/>
            <a:ext cx="715260" cy="523220"/>
          </a:xfrm>
          <a:prstGeom prst="rect">
            <a:avLst/>
          </a:prstGeom>
          <a:noFill/>
        </p:spPr>
        <p:txBody>
          <a:bodyPr wrap="none" rtlCol="0">
            <a:spAutoFit/>
          </a:bodyPr>
          <a:lstStyle/>
          <a:p>
            <a:pPr algn="ctr"/>
            <a:r>
              <a:rPr lang="zh-CN" altLang="en-US" sz="1400" dirty="0">
                <a:solidFill>
                  <a:schemeClr val="bg1">
                    <a:lumMod val="50000"/>
                  </a:schemeClr>
                </a:solidFill>
              </a:rPr>
              <a:t>汇聚</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dirty="0">
                <a:solidFill>
                  <a:schemeClr val="bg1">
                    <a:lumMod val="50000"/>
                  </a:schemeClr>
                </a:solidFill>
              </a:rPr>
              <a:t>S4</a:t>
            </a:r>
            <a:endParaRPr lang="zh-CN" altLang="en-US" sz="1400" dirty="0">
              <a:solidFill>
                <a:schemeClr val="bg1">
                  <a:lumMod val="50000"/>
                </a:schemeClr>
              </a:solidFill>
            </a:endParaRPr>
          </a:p>
        </p:txBody>
      </p:sp>
      <p:sp>
        <p:nvSpPr>
          <p:cNvPr id="155" name="文本框 154"/>
          <p:cNvSpPr txBox="1"/>
          <p:nvPr/>
        </p:nvSpPr>
        <p:spPr bwMode="gray">
          <a:xfrm>
            <a:off x="3942035" y="3257272"/>
            <a:ext cx="715260" cy="523220"/>
          </a:xfrm>
          <a:prstGeom prst="rect">
            <a:avLst/>
          </a:prstGeom>
          <a:noFill/>
        </p:spPr>
        <p:txBody>
          <a:bodyPr wrap="none" rtlCol="0">
            <a:spAutoFit/>
          </a:bodyPr>
          <a:lstStyle/>
          <a:p>
            <a:pPr algn="ctr"/>
            <a:r>
              <a:rPr lang="zh-CN" altLang="en-US" sz="1400" dirty="0">
                <a:solidFill>
                  <a:schemeClr val="bg1">
                    <a:lumMod val="50000"/>
                  </a:schemeClr>
                </a:solidFill>
              </a:rPr>
              <a:t>核心</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dirty="0">
                <a:solidFill>
                  <a:schemeClr val="bg1">
                    <a:lumMod val="50000"/>
                  </a:schemeClr>
                </a:solidFill>
              </a:rPr>
              <a:t>S2</a:t>
            </a:r>
            <a:endParaRPr lang="zh-CN" altLang="en-US" sz="1400" dirty="0">
              <a:solidFill>
                <a:schemeClr val="bg1">
                  <a:lumMod val="50000"/>
                </a:schemeClr>
              </a:solidFill>
            </a:endParaRPr>
          </a:p>
        </p:txBody>
      </p:sp>
      <p:sp>
        <p:nvSpPr>
          <p:cNvPr id="156" name="文本框 155"/>
          <p:cNvSpPr txBox="1"/>
          <p:nvPr/>
        </p:nvSpPr>
        <p:spPr bwMode="gray">
          <a:xfrm>
            <a:off x="3942035" y="2268260"/>
            <a:ext cx="715260" cy="523220"/>
          </a:xfrm>
          <a:prstGeom prst="rect">
            <a:avLst/>
          </a:prstGeom>
          <a:noFill/>
        </p:spPr>
        <p:txBody>
          <a:bodyPr wrap="none" rtlCol="0">
            <a:spAutoFit/>
          </a:bodyPr>
          <a:lstStyle/>
          <a:p>
            <a:pPr algn="ctr"/>
            <a:r>
              <a:rPr lang="zh-CN" altLang="en-US" sz="1400" dirty="0">
                <a:solidFill>
                  <a:schemeClr val="bg1">
                    <a:lumMod val="50000"/>
                  </a:schemeClr>
                </a:solidFill>
              </a:rPr>
              <a:t>边界</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b="1" dirty="0">
                <a:solidFill>
                  <a:schemeClr val="bg1">
                    <a:lumMod val="50000"/>
                  </a:schemeClr>
                </a:solidFill>
              </a:rPr>
              <a:t>R2</a:t>
            </a:r>
            <a:endParaRPr lang="zh-CN" altLang="en-US" sz="1400" b="1" dirty="0">
              <a:solidFill>
                <a:schemeClr val="bg1">
                  <a:lumMod val="50000"/>
                </a:schemeClr>
              </a:solidFill>
            </a:endParaRPr>
          </a:p>
        </p:txBody>
      </p:sp>
      <p:sp>
        <p:nvSpPr>
          <p:cNvPr id="60" name="任意多边形 59"/>
          <p:cNvSpPr/>
          <p:nvPr/>
        </p:nvSpPr>
        <p:spPr bwMode="ltGray">
          <a:xfrm>
            <a:off x="1840428" y="2002173"/>
            <a:ext cx="237584" cy="2851654"/>
          </a:xfrm>
          <a:custGeom>
            <a:avLst/>
            <a:gdLst>
              <a:gd name="connsiteX0" fmla="*/ 0 w 315472"/>
              <a:gd name="connsiteY0" fmla="*/ 3021495 h 3021495"/>
              <a:gd name="connsiteX1" fmla="*/ 278295 w 315472"/>
              <a:gd name="connsiteY1" fmla="*/ 2464904 h 3021495"/>
              <a:gd name="connsiteX2" fmla="*/ 304800 w 315472"/>
              <a:gd name="connsiteY2" fmla="*/ 0 h 3021495"/>
            </a:gdLst>
            <a:ahLst/>
            <a:cxnLst>
              <a:cxn ang="0">
                <a:pos x="connsiteX0" y="connsiteY0"/>
              </a:cxn>
              <a:cxn ang="0">
                <a:pos x="connsiteX1" y="connsiteY1"/>
              </a:cxn>
              <a:cxn ang="0">
                <a:pos x="connsiteX2" y="connsiteY2"/>
              </a:cxn>
            </a:cxnLst>
            <a:rect l="l" t="t" r="r" b="b"/>
            <a:pathLst>
              <a:path w="315472" h="3021495">
                <a:moveTo>
                  <a:pt x="0" y="3021495"/>
                </a:moveTo>
                <a:cubicBezTo>
                  <a:pt x="113747" y="2994990"/>
                  <a:pt x="227495" y="2968486"/>
                  <a:pt x="278295" y="2464904"/>
                </a:cubicBezTo>
                <a:cubicBezTo>
                  <a:pt x="329095" y="1961321"/>
                  <a:pt x="316947" y="980660"/>
                  <a:pt x="304800" y="0"/>
                </a:cubicBezTo>
              </a:path>
            </a:pathLst>
          </a:custGeom>
          <a:noFill/>
          <a:ln w="38100">
            <a:solidFill>
              <a:srgbClr val="30B5C5"/>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60"/>
          <p:cNvSpPr/>
          <p:nvPr/>
        </p:nvSpPr>
        <p:spPr bwMode="gray">
          <a:xfrm>
            <a:off x="2227853" y="2015424"/>
            <a:ext cx="1390877" cy="2915478"/>
          </a:xfrm>
          <a:custGeom>
            <a:avLst/>
            <a:gdLst>
              <a:gd name="connsiteX0" fmla="*/ 127617 w 1519149"/>
              <a:gd name="connsiteY0" fmla="*/ 2915478 h 2915478"/>
              <a:gd name="connsiteX1" fmla="*/ 154121 w 1519149"/>
              <a:gd name="connsiteY1" fmla="*/ 1325217 h 2915478"/>
              <a:gd name="connsiteX2" fmla="*/ 1519095 w 1519149"/>
              <a:gd name="connsiteY2" fmla="*/ 1152939 h 2915478"/>
              <a:gd name="connsiteX3" fmla="*/ 207130 w 1519149"/>
              <a:gd name="connsiteY3" fmla="*/ 424069 h 2915478"/>
              <a:gd name="connsiteX4" fmla="*/ 21600 w 1519149"/>
              <a:gd name="connsiteY4" fmla="*/ 0 h 2915478"/>
              <a:gd name="connsiteX0-1" fmla="*/ 113800 w 1506123"/>
              <a:gd name="connsiteY0-2" fmla="*/ 2915478 h 2915478"/>
              <a:gd name="connsiteX1-3" fmla="*/ 140304 w 1506123"/>
              <a:gd name="connsiteY1-4" fmla="*/ 1325217 h 2915478"/>
              <a:gd name="connsiteX2-5" fmla="*/ 1505278 w 1506123"/>
              <a:gd name="connsiteY2-6" fmla="*/ 1152939 h 2915478"/>
              <a:gd name="connsiteX3-7" fmla="*/ 339087 w 1506123"/>
              <a:gd name="connsiteY3-8" fmla="*/ 503582 h 2915478"/>
              <a:gd name="connsiteX4-9" fmla="*/ 7783 w 1506123"/>
              <a:gd name="connsiteY4-10" fmla="*/ 0 h 2915478"/>
              <a:gd name="connsiteX0-11" fmla="*/ 111034 w 1450389"/>
              <a:gd name="connsiteY0-12" fmla="*/ 2915478 h 2915478"/>
              <a:gd name="connsiteX1-13" fmla="*/ 137538 w 1450389"/>
              <a:gd name="connsiteY1-14" fmla="*/ 1325217 h 2915478"/>
              <a:gd name="connsiteX2-15" fmla="*/ 1449503 w 1450389"/>
              <a:gd name="connsiteY2-16" fmla="*/ 1205947 h 2915478"/>
              <a:gd name="connsiteX3-17" fmla="*/ 336321 w 1450389"/>
              <a:gd name="connsiteY3-18" fmla="*/ 503582 h 2915478"/>
              <a:gd name="connsiteX4-19" fmla="*/ 5017 w 1450389"/>
              <a:gd name="connsiteY4-20" fmla="*/ 0 h 2915478"/>
              <a:gd name="connsiteX0-21" fmla="*/ 115616 w 1454971"/>
              <a:gd name="connsiteY0-22" fmla="*/ 2915478 h 2915478"/>
              <a:gd name="connsiteX1-23" fmla="*/ 142120 w 1454971"/>
              <a:gd name="connsiteY1-24" fmla="*/ 1325217 h 2915478"/>
              <a:gd name="connsiteX2-25" fmla="*/ 1454085 w 1454971"/>
              <a:gd name="connsiteY2-26" fmla="*/ 1205947 h 2915478"/>
              <a:gd name="connsiteX3-27" fmla="*/ 340903 w 1454971"/>
              <a:gd name="connsiteY3-28" fmla="*/ 503582 h 2915478"/>
              <a:gd name="connsiteX4-29" fmla="*/ 9599 w 1454971"/>
              <a:gd name="connsiteY4-30" fmla="*/ 0 h 2915478"/>
              <a:gd name="connsiteX0-31" fmla="*/ 111034 w 1450389"/>
              <a:gd name="connsiteY0-32" fmla="*/ 2915478 h 2915478"/>
              <a:gd name="connsiteX1-33" fmla="*/ 137538 w 1450389"/>
              <a:gd name="connsiteY1-34" fmla="*/ 1325217 h 2915478"/>
              <a:gd name="connsiteX2-35" fmla="*/ 1449503 w 1450389"/>
              <a:gd name="connsiteY2-36" fmla="*/ 1245703 h 2915478"/>
              <a:gd name="connsiteX3-37" fmla="*/ 336321 w 1450389"/>
              <a:gd name="connsiteY3-38" fmla="*/ 503582 h 2915478"/>
              <a:gd name="connsiteX4-39" fmla="*/ 5017 w 1450389"/>
              <a:gd name="connsiteY4-40" fmla="*/ 0 h 2915478"/>
              <a:gd name="connsiteX0-41" fmla="*/ 111034 w 1450389"/>
              <a:gd name="connsiteY0-42" fmla="*/ 2915478 h 2915478"/>
              <a:gd name="connsiteX1-43" fmla="*/ 137538 w 1450389"/>
              <a:gd name="connsiteY1-44" fmla="*/ 1325217 h 2915478"/>
              <a:gd name="connsiteX2-45" fmla="*/ 1449503 w 1450389"/>
              <a:gd name="connsiteY2-46" fmla="*/ 1245703 h 2915478"/>
              <a:gd name="connsiteX3-47" fmla="*/ 336321 w 1450389"/>
              <a:gd name="connsiteY3-48" fmla="*/ 503582 h 2915478"/>
              <a:gd name="connsiteX4-49" fmla="*/ 5017 w 1450389"/>
              <a:gd name="connsiteY4-50" fmla="*/ 0 h 29154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0389" h="2915478">
                <a:moveTo>
                  <a:pt x="111034" y="2915478"/>
                </a:moveTo>
                <a:cubicBezTo>
                  <a:pt x="8329" y="2267225"/>
                  <a:pt x="-45784" y="1457739"/>
                  <a:pt x="137538" y="1325217"/>
                </a:cubicBezTo>
                <a:cubicBezTo>
                  <a:pt x="320860" y="1192695"/>
                  <a:pt x="1416373" y="1382642"/>
                  <a:pt x="1449503" y="1245703"/>
                </a:cubicBezTo>
                <a:cubicBezTo>
                  <a:pt x="1482634" y="1108764"/>
                  <a:pt x="577069" y="711199"/>
                  <a:pt x="336321" y="503582"/>
                </a:cubicBezTo>
                <a:cubicBezTo>
                  <a:pt x="95573" y="295965"/>
                  <a:pt x="-27009" y="115956"/>
                  <a:pt x="5017" y="0"/>
                </a:cubicBezTo>
              </a:path>
            </a:pathLst>
          </a:custGeom>
          <a:noFill/>
          <a:ln w="38100">
            <a:solidFill>
              <a:srgbClr val="C7000B"/>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任意多边形 62"/>
          <p:cNvSpPr/>
          <p:nvPr/>
        </p:nvSpPr>
        <p:spPr bwMode="invGray">
          <a:xfrm>
            <a:off x="2304682" y="2040458"/>
            <a:ext cx="1541140" cy="2850687"/>
          </a:xfrm>
          <a:custGeom>
            <a:avLst/>
            <a:gdLst>
              <a:gd name="connsiteX0" fmla="*/ 360417 w 1858053"/>
              <a:gd name="connsiteY0" fmla="*/ 3379304 h 3379304"/>
              <a:gd name="connsiteX1" fmla="*/ 360417 w 1858053"/>
              <a:gd name="connsiteY1" fmla="*/ 2743200 h 3379304"/>
              <a:gd name="connsiteX2" fmla="*/ 1857913 w 1858053"/>
              <a:gd name="connsiteY2" fmla="*/ 1616765 h 3379304"/>
              <a:gd name="connsiteX3" fmla="*/ 267652 w 1858053"/>
              <a:gd name="connsiteY3" fmla="*/ 702365 h 3379304"/>
              <a:gd name="connsiteX4" fmla="*/ 15861 w 1858053"/>
              <a:gd name="connsiteY4" fmla="*/ 0 h 3379304"/>
              <a:gd name="connsiteX0-1" fmla="*/ 347673 w 1845324"/>
              <a:gd name="connsiteY0-2" fmla="*/ 3379304 h 3379304"/>
              <a:gd name="connsiteX1-3" fmla="*/ 347673 w 1845324"/>
              <a:gd name="connsiteY1-4" fmla="*/ 2743200 h 3379304"/>
              <a:gd name="connsiteX2-5" fmla="*/ 1845169 w 1845324"/>
              <a:gd name="connsiteY2-6" fmla="*/ 1616765 h 3379304"/>
              <a:gd name="connsiteX3-7" fmla="*/ 439174 w 1845324"/>
              <a:gd name="connsiteY3-8" fmla="*/ 593911 h 3379304"/>
              <a:gd name="connsiteX4-9" fmla="*/ 3117 w 1845324"/>
              <a:gd name="connsiteY4-10" fmla="*/ 0 h 3379304"/>
              <a:gd name="connsiteX0-11" fmla="*/ 359313 w 1856997"/>
              <a:gd name="connsiteY0-12" fmla="*/ 3379304 h 3379304"/>
              <a:gd name="connsiteX1-13" fmla="*/ 359313 w 1856997"/>
              <a:gd name="connsiteY1-14" fmla="*/ 2743200 h 3379304"/>
              <a:gd name="connsiteX2-15" fmla="*/ 1856809 w 1856997"/>
              <a:gd name="connsiteY2-16" fmla="*/ 1616765 h 3379304"/>
              <a:gd name="connsiteX3-17" fmla="*/ 450814 w 1856997"/>
              <a:gd name="connsiteY3-18" fmla="*/ 593911 h 3379304"/>
              <a:gd name="connsiteX4-19" fmla="*/ 14757 w 1856997"/>
              <a:gd name="connsiteY4-20" fmla="*/ 0 h 3379304"/>
              <a:gd name="connsiteX0-21" fmla="*/ 347520 w 1783757"/>
              <a:gd name="connsiteY0-22" fmla="*/ 3379304 h 3379304"/>
              <a:gd name="connsiteX1-23" fmla="*/ 347520 w 1783757"/>
              <a:gd name="connsiteY1-24" fmla="*/ 2743200 h 3379304"/>
              <a:gd name="connsiteX2-25" fmla="*/ 1783595 w 1783757"/>
              <a:gd name="connsiteY2-26" fmla="*/ 1415350 h 3379304"/>
              <a:gd name="connsiteX3-27" fmla="*/ 439021 w 1783757"/>
              <a:gd name="connsiteY3-28" fmla="*/ 593911 h 3379304"/>
              <a:gd name="connsiteX4-29" fmla="*/ 2964 w 1783757"/>
              <a:gd name="connsiteY4-30" fmla="*/ 0 h 3379304"/>
              <a:gd name="connsiteX0-31" fmla="*/ 346580 w 1783351"/>
              <a:gd name="connsiteY0-32" fmla="*/ 3379304 h 3379304"/>
              <a:gd name="connsiteX1-33" fmla="*/ 346580 w 1783351"/>
              <a:gd name="connsiteY1-34" fmla="*/ 2743200 h 3379304"/>
              <a:gd name="connsiteX2-35" fmla="*/ 1782655 w 1783351"/>
              <a:gd name="connsiteY2-36" fmla="*/ 1415350 h 3379304"/>
              <a:gd name="connsiteX3-37" fmla="*/ 530215 w 1783351"/>
              <a:gd name="connsiteY3-38" fmla="*/ 578417 h 3379304"/>
              <a:gd name="connsiteX4-39" fmla="*/ 2024 w 1783351"/>
              <a:gd name="connsiteY4-40" fmla="*/ 0 h 3379304"/>
              <a:gd name="connsiteX0-41" fmla="*/ 346580 w 1785312"/>
              <a:gd name="connsiteY0-42" fmla="*/ 3379304 h 3379304"/>
              <a:gd name="connsiteX1-43" fmla="*/ 162313 w 1785312"/>
              <a:gd name="connsiteY1-44" fmla="*/ 2572771 h 3379304"/>
              <a:gd name="connsiteX2-45" fmla="*/ 1782655 w 1785312"/>
              <a:gd name="connsiteY2-46" fmla="*/ 1415350 h 3379304"/>
              <a:gd name="connsiteX3-47" fmla="*/ 530215 w 1785312"/>
              <a:gd name="connsiteY3-48" fmla="*/ 578417 h 3379304"/>
              <a:gd name="connsiteX4-49" fmla="*/ 2024 w 1785312"/>
              <a:gd name="connsiteY4-50" fmla="*/ 0 h 3379304"/>
              <a:gd name="connsiteX0-51" fmla="*/ 346580 w 1785749"/>
              <a:gd name="connsiteY0-52" fmla="*/ 3379304 h 3379304"/>
              <a:gd name="connsiteX1-53" fmla="*/ 131602 w 1785749"/>
              <a:gd name="connsiteY1-54" fmla="*/ 2510797 h 3379304"/>
              <a:gd name="connsiteX2-55" fmla="*/ 1782655 w 1785749"/>
              <a:gd name="connsiteY2-56" fmla="*/ 1415350 h 3379304"/>
              <a:gd name="connsiteX3-57" fmla="*/ 530215 w 1785749"/>
              <a:gd name="connsiteY3-58" fmla="*/ 578417 h 3379304"/>
              <a:gd name="connsiteX4-59" fmla="*/ 2024 w 1785749"/>
              <a:gd name="connsiteY4-60" fmla="*/ 0 h 3379304"/>
              <a:gd name="connsiteX0-61" fmla="*/ 163660 w 1802451"/>
              <a:gd name="connsiteY0-62" fmla="*/ 3332824 h 3332824"/>
              <a:gd name="connsiteX1-63" fmla="*/ 148304 w 1802451"/>
              <a:gd name="connsiteY1-64" fmla="*/ 2510797 h 3332824"/>
              <a:gd name="connsiteX2-65" fmla="*/ 1799357 w 1802451"/>
              <a:gd name="connsiteY2-66" fmla="*/ 1415350 h 3332824"/>
              <a:gd name="connsiteX3-67" fmla="*/ 546917 w 1802451"/>
              <a:gd name="connsiteY3-68" fmla="*/ 578417 h 3332824"/>
              <a:gd name="connsiteX4-69" fmla="*/ 18726 w 1802451"/>
              <a:gd name="connsiteY4-70" fmla="*/ 0 h 3332824"/>
              <a:gd name="connsiteX0-71" fmla="*/ 146958 w 1785749"/>
              <a:gd name="connsiteY0-72" fmla="*/ 3332824 h 3332824"/>
              <a:gd name="connsiteX1-73" fmla="*/ 131602 w 1785749"/>
              <a:gd name="connsiteY1-74" fmla="*/ 2510797 h 3332824"/>
              <a:gd name="connsiteX2-75" fmla="*/ 1782655 w 1785749"/>
              <a:gd name="connsiteY2-76" fmla="*/ 1415350 h 3332824"/>
              <a:gd name="connsiteX3-77" fmla="*/ 530215 w 1785749"/>
              <a:gd name="connsiteY3-78" fmla="*/ 578417 h 3332824"/>
              <a:gd name="connsiteX4-79" fmla="*/ 2024 w 1785749"/>
              <a:gd name="connsiteY4-80" fmla="*/ 0 h 3332824"/>
              <a:gd name="connsiteX0-81" fmla="*/ 146958 w 1785749"/>
              <a:gd name="connsiteY0-82" fmla="*/ 3332824 h 3332824"/>
              <a:gd name="connsiteX1-83" fmla="*/ 131602 w 1785749"/>
              <a:gd name="connsiteY1-84" fmla="*/ 2510797 h 3332824"/>
              <a:gd name="connsiteX2-85" fmla="*/ 1782655 w 1785749"/>
              <a:gd name="connsiteY2-86" fmla="*/ 1415350 h 3332824"/>
              <a:gd name="connsiteX3-87" fmla="*/ 530215 w 1785749"/>
              <a:gd name="connsiteY3-88" fmla="*/ 578417 h 3332824"/>
              <a:gd name="connsiteX4-89" fmla="*/ 2024 w 1785749"/>
              <a:gd name="connsiteY4-90" fmla="*/ 0 h 33328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85749" h="3332824">
                <a:moveTo>
                  <a:pt x="146958" y="3332824"/>
                </a:moveTo>
                <a:cubicBezTo>
                  <a:pt x="191077" y="3130663"/>
                  <a:pt x="-33525" y="2861363"/>
                  <a:pt x="131602" y="2510797"/>
                </a:cubicBezTo>
                <a:cubicBezTo>
                  <a:pt x="296729" y="2160231"/>
                  <a:pt x="1716220" y="1737413"/>
                  <a:pt x="1782655" y="1415350"/>
                </a:cubicBezTo>
                <a:cubicBezTo>
                  <a:pt x="1849090" y="1093287"/>
                  <a:pt x="826987" y="814309"/>
                  <a:pt x="530215" y="578417"/>
                </a:cubicBezTo>
                <a:cubicBezTo>
                  <a:pt x="233443" y="342525"/>
                  <a:pt x="-25585" y="216452"/>
                  <a:pt x="2024" y="0"/>
                </a:cubicBezTo>
              </a:path>
            </a:pathLst>
          </a:custGeom>
          <a:noFill/>
          <a:ln w="38100">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Oval 4"/>
          <p:cNvSpPr>
            <a:spLocks noChangeAspect="1"/>
          </p:cNvSpPr>
          <p:nvPr/>
        </p:nvSpPr>
        <p:spPr bwMode="ltGray">
          <a:xfrm>
            <a:off x="1959004" y="3736649"/>
            <a:ext cx="180000" cy="180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Oval 4"/>
          <p:cNvSpPr>
            <a:spLocks noChangeAspect="1"/>
          </p:cNvSpPr>
          <p:nvPr/>
        </p:nvSpPr>
        <p:spPr bwMode="gray">
          <a:xfrm>
            <a:off x="2174225" y="3736649"/>
            <a:ext cx="180000" cy="180000"/>
          </a:xfrm>
          <a:prstGeom prst="ellipse">
            <a:avLst/>
          </a:prstGeom>
          <a:solidFill>
            <a:srgbClr val="C7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Oval 4"/>
          <p:cNvSpPr>
            <a:spLocks noChangeAspect="1"/>
          </p:cNvSpPr>
          <p:nvPr/>
        </p:nvSpPr>
        <p:spPr bwMode="invGray">
          <a:xfrm>
            <a:off x="2896477" y="3736649"/>
            <a:ext cx="180000" cy="180000"/>
          </a:xfrm>
          <a:prstGeom prst="ellipse">
            <a:avLst/>
          </a:prstGeom>
          <a:solidFill>
            <a:srgbClr val="62B23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2" name="直接箭头连接符 71"/>
          <p:cNvCxnSpPr/>
          <p:nvPr/>
        </p:nvCxnSpPr>
        <p:spPr bwMode="gray">
          <a:xfrm>
            <a:off x="5030045" y="5740798"/>
            <a:ext cx="1065955" cy="0"/>
          </a:xfrm>
          <a:prstGeom prst="straightConnector1">
            <a:avLst/>
          </a:pr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76" name="文本框 75"/>
          <p:cNvSpPr txBox="1"/>
          <p:nvPr/>
        </p:nvSpPr>
        <p:spPr bwMode="gray">
          <a:xfrm>
            <a:off x="4905052" y="5810683"/>
            <a:ext cx="1261884" cy="307777"/>
          </a:xfrm>
          <a:prstGeom prst="rect">
            <a:avLst/>
          </a:prstGeom>
          <a:noFill/>
        </p:spPr>
        <p:txBody>
          <a:bodyPr wrap="none" rtlCol="0">
            <a:spAutoFit/>
          </a:bodyPr>
          <a:lstStyle/>
          <a:p>
            <a:pPr algn="ctr"/>
            <a:r>
              <a:rPr lang="zh-CN" altLang="en-US" sz="1400" dirty="0"/>
              <a:t>财务部数据流</a:t>
            </a:r>
            <a:endParaRPr lang="zh-CN" altLang="en-US" sz="1400" dirty="0"/>
          </a:p>
        </p:txBody>
      </p:sp>
      <p:sp>
        <p:nvSpPr>
          <p:cNvPr id="62" name="五边形 61"/>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燕尾形 63"/>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燕尾形 69"/>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燕尾形 70"/>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1" grpId="0" animBg="1"/>
      <p:bldP spid="63" grpId="0" animBg="1"/>
      <p:bldP spid="65" grpId="0" animBg="1"/>
      <p:bldP spid="66" grpId="0" animBg="1"/>
      <p:bldP spid="68"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控制内部路径：调整汇聚到核心开销</a:t>
            </a:r>
            <a:endParaRPr lang="zh-CN" altLang="en-US" dirty="0"/>
          </a:p>
        </p:txBody>
      </p:sp>
      <p:sp>
        <p:nvSpPr>
          <p:cNvPr id="40" name="文本占位符 39"/>
          <p:cNvSpPr>
            <a:spLocks noGrp="1"/>
          </p:cNvSpPr>
          <p:nvPr>
            <p:ph type="body" sz="quarter" idx="10"/>
          </p:nvPr>
        </p:nvSpPr>
        <p:spPr bwMode="gray">
          <a:xfrm>
            <a:off x="5207602" y="1047750"/>
            <a:ext cx="6541485" cy="2688897"/>
          </a:xfrm>
        </p:spPr>
        <p:txBody>
          <a:bodyPr/>
          <a:lstStyle/>
          <a:p>
            <a:r>
              <a:rPr lang="zh-CN" altLang="en-US" sz="1800" dirty="0"/>
              <a:t>若</a:t>
            </a:r>
            <a:r>
              <a:rPr lang="en-US" altLang="zh-CN" sz="1800" dirty="0"/>
              <a:t>S1</a:t>
            </a:r>
            <a:r>
              <a:rPr lang="zh-CN" altLang="en-US" sz="1800" dirty="0"/>
              <a:t>与</a:t>
            </a:r>
            <a:r>
              <a:rPr lang="en-US" altLang="zh-CN" sz="1800" dirty="0"/>
              <a:t>R1</a:t>
            </a:r>
            <a:r>
              <a:rPr lang="zh-CN" altLang="en-US" sz="1800" dirty="0"/>
              <a:t>间链路故障，由于</a:t>
            </a:r>
            <a:r>
              <a:rPr lang="en-US" altLang="zh-CN" sz="1800" dirty="0"/>
              <a:t>S1</a:t>
            </a:r>
            <a:r>
              <a:rPr lang="zh-CN" altLang="en-US" sz="1800" dirty="0"/>
              <a:t>运行正常，则要求</a:t>
            </a:r>
            <a:r>
              <a:rPr lang="en-US" altLang="zh-CN" sz="1800" dirty="0"/>
              <a:t>S3</a:t>
            </a:r>
            <a:r>
              <a:rPr lang="zh-CN" altLang="en-US" sz="1800" dirty="0"/>
              <a:t>优选路径</a:t>
            </a:r>
            <a:r>
              <a:rPr lang="en-US" altLang="zh-CN" sz="1800" dirty="0"/>
              <a:t>1</a:t>
            </a:r>
            <a:r>
              <a:rPr lang="zh-CN" altLang="en-US" sz="1800" dirty="0"/>
              <a:t>，次选路径</a:t>
            </a:r>
            <a:r>
              <a:rPr lang="en-US" altLang="zh-CN" sz="1800" dirty="0"/>
              <a:t>2</a:t>
            </a:r>
            <a:r>
              <a:rPr lang="zh-CN" altLang="en-US" sz="1800" dirty="0"/>
              <a:t>。</a:t>
            </a:r>
            <a:endParaRPr lang="en-US" altLang="zh-CN" sz="1800" dirty="0"/>
          </a:p>
          <a:p>
            <a:r>
              <a:rPr lang="zh-CN" altLang="en-US" sz="1800" dirty="0"/>
              <a:t>实现方式：</a:t>
            </a:r>
            <a:endParaRPr lang="en-US" altLang="zh-CN" sz="1800" dirty="0"/>
          </a:p>
          <a:p>
            <a:pPr lvl="1"/>
            <a:r>
              <a:rPr lang="zh-CN" altLang="en-US" sz="1600" dirty="0"/>
              <a:t>路径</a:t>
            </a:r>
            <a:r>
              <a:rPr lang="en-US" altLang="zh-CN" sz="1600" dirty="0"/>
              <a:t>1-Cost &lt; </a:t>
            </a:r>
            <a:r>
              <a:rPr lang="zh-CN" altLang="en-US" sz="1600" dirty="0"/>
              <a:t>路径</a:t>
            </a:r>
            <a:r>
              <a:rPr lang="en-US" altLang="zh-CN" sz="1600" dirty="0"/>
              <a:t>2-Cost</a:t>
            </a:r>
            <a:r>
              <a:rPr lang="zh-CN" altLang="en-US" sz="1600" dirty="0"/>
              <a:t>，即：</a:t>
            </a:r>
            <a:endParaRPr lang="en-US" altLang="zh-CN" sz="1600" dirty="0"/>
          </a:p>
          <a:p>
            <a:pPr lvl="1"/>
            <a:endParaRPr lang="en-US" altLang="zh-CN" sz="1600" dirty="0"/>
          </a:p>
          <a:p>
            <a:pPr lvl="1"/>
            <a:r>
              <a:rPr lang="zh-CN" altLang="en-US" sz="1600" dirty="0"/>
              <a:t>通过调整汇聚到核心设备间的路径开销可以实现路径</a:t>
            </a:r>
            <a:r>
              <a:rPr lang="en-US" altLang="zh-CN" sz="1600" dirty="0"/>
              <a:t>1</a:t>
            </a:r>
            <a:r>
              <a:rPr lang="zh-CN" altLang="en-US" sz="1600" dirty="0"/>
              <a:t>。</a:t>
            </a:r>
            <a:endParaRPr lang="zh-CN" altLang="en-US" sz="1600" dirty="0"/>
          </a:p>
        </p:txBody>
      </p:sp>
      <p:cxnSp>
        <p:nvCxnSpPr>
          <p:cNvPr id="4" name="直接连接符 3"/>
          <p:cNvCxnSpPr>
            <a:endCxn id="57" idx="2"/>
          </p:cNvCxnSpPr>
          <p:nvPr/>
        </p:nvCxnSpPr>
        <p:spPr bwMode="gray">
          <a:xfrm flipV="1">
            <a:off x="2177479" y="4621571"/>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63255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643547"/>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621571"/>
            <a:ext cx="0" cy="3530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632559"/>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643547"/>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411159"/>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382381"/>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419141"/>
            <a:ext cx="1543432" cy="9810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415873"/>
            <a:ext cx="1564021" cy="100326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415975"/>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189759"/>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178771"/>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189759"/>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178771"/>
            <a:ext cx="540000" cy="442800"/>
          </a:xfrm>
          <a:prstGeom prst="rect">
            <a:avLst/>
          </a:prstGeom>
        </p:spPr>
      </p:pic>
      <p:cxnSp>
        <p:nvCxnSpPr>
          <p:cNvPr id="97" name="直接连接符 96"/>
          <p:cNvCxnSpPr>
            <a:stCxn id="81" idx="1"/>
            <a:endCxn id="57" idx="3"/>
          </p:cNvCxnSpPr>
          <p:nvPr/>
        </p:nvCxnSpPr>
        <p:spPr bwMode="gray">
          <a:xfrm flipH="1">
            <a:off x="2468067" y="4400171"/>
            <a:ext cx="100343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217604"/>
            <a:ext cx="715260" cy="523220"/>
          </a:xfrm>
          <a:prstGeom prst="rect">
            <a:avLst/>
          </a:prstGeom>
          <a:noFill/>
        </p:spPr>
        <p:txBody>
          <a:bodyPr wrap="none" rtlCol="0">
            <a:spAutoFit/>
          </a:bodyPr>
          <a:lstStyle/>
          <a:p>
            <a:pPr algn="ctr"/>
            <a:r>
              <a:rPr lang="zh-CN" altLang="en-US" sz="1400" dirty="0"/>
              <a:t>汇聚</a:t>
            </a:r>
            <a:r>
              <a:rPr lang="en-US" altLang="zh-CN" sz="1400" dirty="0"/>
              <a:t>-1</a:t>
            </a:r>
            <a:endParaRPr lang="en-US" altLang="zh-CN" sz="1400" dirty="0"/>
          </a:p>
          <a:p>
            <a:pPr algn="ctr"/>
            <a:r>
              <a:rPr lang="en-US" altLang="zh-CN" sz="1400" dirty="0"/>
              <a:t>S3</a:t>
            </a:r>
            <a:endParaRPr lang="zh-CN" altLang="en-US" sz="1400" dirty="0"/>
          </a:p>
        </p:txBody>
      </p:sp>
      <p:sp>
        <p:nvSpPr>
          <p:cNvPr id="104" name="Freeform 159"/>
          <p:cNvSpPr/>
          <p:nvPr/>
        </p:nvSpPr>
        <p:spPr bwMode="gray">
          <a:xfrm flipH="1">
            <a:off x="1594177" y="111277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11277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1785276"/>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1785276"/>
            <a:ext cx="0" cy="41547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1784175"/>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1785276"/>
            <a:ext cx="1140811" cy="62046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928067" y="2200747"/>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200747"/>
            <a:ext cx="540000" cy="442800"/>
          </a:xfrm>
          <a:prstGeom prst="rect">
            <a:avLst/>
          </a:prstGeom>
        </p:spPr>
      </p:pic>
      <p:sp>
        <p:nvSpPr>
          <p:cNvPr id="120" name="Freeform 159"/>
          <p:cNvSpPr/>
          <p:nvPr/>
        </p:nvSpPr>
        <p:spPr bwMode="gray">
          <a:xfrm flipH="1">
            <a:off x="1594177" y="4831529"/>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4831529"/>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021512"/>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202389"/>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4946382"/>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202389"/>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4946382"/>
            <a:ext cx="539063" cy="414000"/>
          </a:xfrm>
          <a:prstGeom prst="rect">
            <a:avLst/>
          </a:prstGeom>
        </p:spPr>
      </p:pic>
      <p:sp>
        <p:nvSpPr>
          <p:cNvPr id="137" name="文本框 136"/>
          <p:cNvSpPr txBox="1"/>
          <p:nvPr/>
        </p:nvSpPr>
        <p:spPr bwMode="gray">
          <a:xfrm>
            <a:off x="1636305" y="5644982"/>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644982"/>
            <a:ext cx="1082348" cy="523220"/>
          </a:xfrm>
          <a:prstGeom prst="rect">
            <a:avLst/>
          </a:prstGeom>
          <a:noFill/>
        </p:spPr>
        <p:txBody>
          <a:bodyPr wrap="none" rtlCol="0">
            <a:spAutoFit/>
          </a:bodyPr>
          <a:lstStyle/>
          <a:p>
            <a:pPr algn="ctr"/>
            <a:r>
              <a:rPr lang="zh-CN" altLang="en-US" sz="1400" dirty="0">
                <a:solidFill>
                  <a:schemeClr val="bg1">
                    <a:lumMod val="50000"/>
                  </a:schemeClr>
                </a:solidFill>
              </a:rPr>
              <a:t>市场部网络</a:t>
            </a:r>
            <a:endParaRPr lang="en-US" altLang="zh-CN" sz="1400" dirty="0">
              <a:solidFill>
                <a:schemeClr val="bg1">
                  <a:lumMod val="50000"/>
                </a:schemeClr>
              </a:solidFill>
            </a:endParaRPr>
          </a:p>
          <a:p>
            <a:pPr algn="ctr"/>
            <a:r>
              <a:rPr lang="zh-CN" altLang="en-US" sz="1400" dirty="0">
                <a:solidFill>
                  <a:schemeClr val="bg1">
                    <a:lumMod val="50000"/>
                  </a:schemeClr>
                </a:solidFill>
              </a:rPr>
              <a:t>客户端</a:t>
            </a:r>
            <a:endParaRPr lang="zh-CN" altLang="en-US" sz="1400" dirty="0">
              <a:solidFill>
                <a:schemeClr val="bg1">
                  <a:lumMod val="50000"/>
                </a:schemeClr>
              </a:solidFill>
            </a:endParaRPr>
          </a:p>
        </p:txBody>
      </p:sp>
      <p:sp>
        <p:nvSpPr>
          <p:cNvPr id="140" name="文本框 139"/>
          <p:cNvSpPr txBox="1"/>
          <p:nvPr/>
        </p:nvSpPr>
        <p:spPr bwMode="gray">
          <a:xfrm>
            <a:off x="1546538" y="1461191"/>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56286" y="1021512"/>
            <a:ext cx="540000" cy="442800"/>
          </a:xfrm>
          <a:prstGeom prst="rect">
            <a:avLst/>
          </a:prstGeom>
        </p:spPr>
      </p:pic>
      <p:sp>
        <p:nvSpPr>
          <p:cNvPr id="146" name="文本框 145"/>
          <p:cNvSpPr txBox="1"/>
          <p:nvPr/>
        </p:nvSpPr>
        <p:spPr bwMode="gray">
          <a:xfrm>
            <a:off x="3095345" y="1461191"/>
            <a:ext cx="1261884" cy="307777"/>
          </a:xfrm>
          <a:prstGeom prst="rect">
            <a:avLst/>
          </a:prstGeom>
          <a:noFill/>
        </p:spPr>
        <p:txBody>
          <a:bodyPr wrap="none" rtlCol="0">
            <a:spAutoFit/>
          </a:bodyPr>
          <a:lstStyle/>
          <a:p>
            <a:pPr algn="ctr"/>
            <a:r>
              <a:rPr lang="zh-CN" altLang="en-US" sz="1400" dirty="0">
                <a:solidFill>
                  <a:schemeClr val="bg1">
                    <a:lumMod val="50000"/>
                  </a:schemeClr>
                </a:solidFill>
              </a:rPr>
              <a:t>市场部服务器</a:t>
            </a:r>
            <a:endParaRPr lang="en-US" altLang="zh-CN" sz="1400" dirty="0">
              <a:solidFill>
                <a:schemeClr val="bg1">
                  <a:lumMod val="50000"/>
                </a:schemeClr>
              </a:solidFill>
            </a:endParaRPr>
          </a:p>
        </p:txBody>
      </p:sp>
      <p:sp>
        <p:nvSpPr>
          <p:cNvPr id="151" name="文本框 150"/>
          <p:cNvSpPr txBox="1"/>
          <p:nvPr/>
        </p:nvSpPr>
        <p:spPr bwMode="gray">
          <a:xfrm>
            <a:off x="1278676" y="3257270"/>
            <a:ext cx="715260" cy="523220"/>
          </a:xfrm>
          <a:prstGeom prst="rect">
            <a:avLst/>
          </a:prstGeom>
          <a:noFill/>
        </p:spPr>
        <p:txBody>
          <a:bodyPr wrap="none" rtlCol="0">
            <a:spAutoFit/>
          </a:bodyPr>
          <a:lstStyle/>
          <a:p>
            <a:pPr algn="ctr"/>
            <a:r>
              <a:rPr lang="zh-CN" altLang="en-US" sz="1400" dirty="0"/>
              <a:t>核心</a:t>
            </a:r>
            <a:r>
              <a:rPr lang="en-US" altLang="zh-CN" sz="1400" dirty="0"/>
              <a:t>-1</a:t>
            </a:r>
            <a:endParaRPr lang="en-US" altLang="zh-CN" sz="1400" dirty="0"/>
          </a:p>
          <a:p>
            <a:pPr algn="ctr"/>
            <a:r>
              <a:rPr lang="en-US" altLang="zh-CN" sz="1400" dirty="0"/>
              <a:t>S1</a:t>
            </a:r>
            <a:endParaRPr lang="zh-CN" altLang="en-US" sz="1400" dirty="0"/>
          </a:p>
        </p:txBody>
      </p:sp>
      <p:sp>
        <p:nvSpPr>
          <p:cNvPr id="153" name="文本框 152"/>
          <p:cNvSpPr txBox="1"/>
          <p:nvPr/>
        </p:nvSpPr>
        <p:spPr bwMode="gray">
          <a:xfrm>
            <a:off x="1278676" y="2268258"/>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54" name="文本框 153"/>
          <p:cNvSpPr txBox="1"/>
          <p:nvPr/>
        </p:nvSpPr>
        <p:spPr bwMode="gray">
          <a:xfrm>
            <a:off x="3942035" y="4217604"/>
            <a:ext cx="715260" cy="523220"/>
          </a:xfrm>
          <a:prstGeom prst="rect">
            <a:avLst/>
          </a:prstGeom>
          <a:noFill/>
        </p:spPr>
        <p:txBody>
          <a:bodyPr wrap="none" rtlCol="0">
            <a:spAutoFit/>
          </a:bodyPr>
          <a:lstStyle/>
          <a:p>
            <a:pPr algn="ctr"/>
            <a:r>
              <a:rPr lang="zh-CN" altLang="en-US" sz="1400" dirty="0">
                <a:solidFill>
                  <a:schemeClr val="bg1">
                    <a:lumMod val="50000"/>
                  </a:schemeClr>
                </a:solidFill>
              </a:rPr>
              <a:t>汇聚</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dirty="0">
                <a:solidFill>
                  <a:schemeClr val="bg1">
                    <a:lumMod val="50000"/>
                  </a:schemeClr>
                </a:solidFill>
              </a:rPr>
              <a:t>S4</a:t>
            </a:r>
            <a:endParaRPr lang="zh-CN" altLang="en-US" sz="1400" dirty="0">
              <a:solidFill>
                <a:schemeClr val="bg1">
                  <a:lumMod val="50000"/>
                </a:schemeClr>
              </a:solidFill>
            </a:endParaRPr>
          </a:p>
        </p:txBody>
      </p:sp>
      <p:sp>
        <p:nvSpPr>
          <p:cNvPr id="155" name="文本框 154"/>
          <p:cNvSpPr txBox="1"/>
          <p:nvPr/>
        </p:nvSpPr>
        <p:spPr bwMode="gray">
          <a:xfrm>
            <a:off x="3942035" y="3257270"/>
            <a:ext cx="715260" cy="523220"/>
          </a:xfrm>
          <a:prstGeom prst="rect">
            <a:avLst/>
          </a:prstGeom>
          <a:noFill/>
        </p:spPr>
        <p:txBody>
          <a:bodyPr wrap="none" rtlCol="0">
            <a:spAutoFit/>
          </a:bodyPr>
          <a:lstStyle/>
          <a:p>
            <a:pPr algn="ctr"/>
            <a:r>
              <a:rPr lang="zh-CN" altLang="en-US" sz="1400" dirty="0">
                <a:solidFill>
                  <a:schemeClr val="bg1">
                    <a:lumMod val="50000"/>
                  </a:schemeClr>
                </a:solidFill>
              </a:rPr>
              <a:t>核心</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dirty="0">
                <a:solidFill>
                  <a:schemeClr val="bg1">
                    <a:lumMod val="50000"/>
                  </a:schemeClr>
                </a:solidFill>
              </a:rPr>
              <a:t>S2</a:t>
            </a:r>
            <a:endParaRPr lang="zh-CN" altLang="en-US" sz="1400" dirty="0">
              <a:solidFill>
                <a:schemeClr val="bg1">
                  <a:lumMod val="50000"/>
                </a:schemeClr>
              </a:solidFill>
            </a:endParaRPr>
          </a:p>
        </p:txBody>
      </p:sp>
      <p:sp>
        <p:nvSpPr>
          <p:cNvPr id="156" name="文本框 155"/>
          <p:cNvSpPr txBox="1"/>
          <p:nvPr/>
        </p:nvSpPr>
        <p:spPr bwMode="gray">
          <a:xfrm>
            <a:off x="3942035" y="2268258"/>
            <a:ext cx="715260" cy="523220"/>
          </a:xfrm>
          <a:prstGeom prst="rect">
            <a:avLst/>
          </a:prstGeom>
          <a:noFill/>
        </p:spPr>
        <p:txBody>
          <a:bodyPr wrap="none" rtlCol="0">
            <a:spAutoFit/>
          </a:bodyPr>
          <a:lstStyle/>
          <a:p>
            <a:pPr algn="ctr"/>
            <a:r>
              <a:rPr lang="zh-CN" altLang="en-US" sz="1400" dirty="0">
                <a:solidFill>
                  <a:schemeClr val="bg1">
                    <a:lumMod val="50000"/>
                  </a:schemeClr>
                </a:solidFill>
              </a:rPr>
              <a:t>边界</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b="1" dirty="0">
                <a:solidFill>
                  <a:schemeClr val="bg1">
                    <a:lumMod val="50000"/>
                  </a:schemeClr>
                </a:solidFill>
              </a:rPr>
              <a:t>R2</a:t>
            </a:r>
            <a:endParaRPr lang="zh-CN" altLang="en-US" sz="1400" b="1" dirty="0">
              <a:solidFill>
                <a:schemeClr val="bg1">
                  <a:lumMod val="50000"/>
                </a:schemeClr>
              </a:solidFill>
            </a:endParaRPr>
          </a:p>
        </p:txBody>
      </p:sp>
      <p:sp>
        <p:nvSpPr>
          <p:cNvPr id="54" name="任意多边形 53"/>
          <p:cNvSpPr/>
          <p:nvPr/>
        </p:nvSpPr>
        <p:spPr bwMode="gray">
          <a:xfrm>
            <a:off x="2168341" y="2015422"/>
            <a:ext cx="1450389" cy="2915478"/>
          </a:xfrm>
          <a:custGeom>
            <a:avLst/>
            <a:gdLst>
              <a:gd name="connsiteX0" fmla="*/ 127617 w 1519149"/>
              <a:gd name="connsiteY0" fmla="*/ 2915478 h 2915478"/>
              <a:gd name="connsiteX1" fmla="*/ 154121 w 1519149"/>
              <a:gd name="connsiteY1" fmla="*/ 1325217 h 2915478"/>
              <a:gd name="connsiteX2" fmla="*/ 1519095 w 1519149"/>
              <a:gd name="connsiteY2" fmla="*/ 1152939 h 2915478"/>
              <a:gd name="connsiteX3" fmla="*/ 207130 w 1519149"/>
              <a:gd name="connsiteY3" fmla="*/ 424069 h 2915478"/>
              <a:gd name="connsiteX4" fmla="*/ 21600 w 1519149"/>
              <a:gd name="connsiteY4" fmla="*/ 0 h 2915478"/>
              <a:gd name="connsiteX0-1" fmla="*/ 113800 w 1506123"/>
              <a:gd name="connsiteY0-2" fmla="*/ 2915478 h 2915478"/>
              <a:gd name="connsiteX1-3" fmla="*/ 140304 w 1506123"/>
              <a:gd name="connsiteY1-4" fmla="*/ 1325217 h 2915478"/>
              <a:gd name="connsiteX2-5" fmla="*/ 1505278 w 1506123"/>
              <a:gd name="connsiteY2-6" fmla="*/ 1152939 h 2915478"/>
              <a:gd name="connsiteX3-7" fmla="*/ 339087 w 1506123"/>
              <a:gd name="connsiteY3-8" fmla="*/ 503582 h 2915478"/>
              <a:gd name="connsiteX4-9" fmla="*/ 7783 w 1506123"/>
              <a:gd name="connsiteY4-10" fmla="*/ 0 h 2915478"/>
              <a:gd name="connsiteX0-11" fmla="*/ 111034 w 1450389"/>
              <a:gd name="connsiteY0-12" fmla="*/ 2915478 h 2915478"/>
              <a:gd name="connsiteX1-13" fmla="*/ 137538 w 1450389"/>
              <a:gd name="connsiteY1-14" fmla="*/ 1325217 h 2915478"/>
              <a:gd name="connsiteX2-15" fmla="*/ 1449503 w 1450389"/>
              <a:gd name="connsiteY2-16" fmla="*/ 1205947 h 2915478"/>
              <a:gd name="connsiteX3-17" fmla="*/ 336321 w 1450389"/>
              <a:gd name="connsiteY3-18" fmla="*/ 503582 h 2915478"/>
              <a:gd name="connsiteX4-19" fmla="*/ 5017 w 1450389"/>
              <a:gd name="connsiteY4-20" fmla="*/ 0 h 2915478"/>
              <a:gd name="connsiteX0-21" fmla="*/ 115616 w 1454971"/>
              <a:gd name="connsiteY0-22" fmla="*/ 2915478 h 2915478"/>
              <a:gd name="connsiteX1-23" fmla="*/ 142120 w 1454971"/>
              <a:gd name="connsiteY1-24" fmla="*/ 1325217 h 2915478"/>
              <a:gd name="connsiteX2-25" fmla="*/ 1454085 w 1454971"/>
              <a:gd name="connsiteY2-26" fmla="*/ 1205947 h 2915478"/>
              <a:gd name="connsiteX3-27" fmla="*/ 340903 w 1454971"/>
              <a:gd name="connsiteY3-28" fmla="*/ 503582 h 2915478"/>
              <a:gd name="connsiteX4-29" fmla="*/ 9599 w 1454971"/>
              <a:gd name="connsiteY4-30" fmla="*/ 0 h 2915478"/>
              <a:gd name="connsiteX0-31" fmla="*/ 111034 w 1450389"/>
              <a:gd name="connsiteY0-32" fmla="*/ 2915478 h 2915478"/>
              <a:gd name="connsiteX1-33" fmla="*/ 137538 w 1450389"/>
              <a:gd name="connsiteY1-34" fmla="*/ 1325217 h 2915478"/>
              <a:gd name="connsiteX2-35" fmla="*/ 1449503 w 1450389"/>
              <a:gd name="connsiteY2-36" fmla="*/ 1245703 h 2915478"/>
              <a:gd name="connsiteX3-37" fmla="*/ 336321 w 1450389"/>
              <a:gd name="connsiteY3-38" fmla="*/ 503582 h 2915478"/>
              <a:gd name="connsiteX4-39" fmla="*/ 5017 w 1450389"/>
              <a:gd name="connsiteY4-40" fmla="*/ 0 h 2915478"/>
              <a:gd name="connsiteX0-41" fmla="*/ 111034 w 1450389"/>
              <a:gd name="connsiteY0-42" fmla="*/ 2915478 h 2915478"/>
              <a:gd name="connsiteX1-43" fmla="*/ 137538 w 1450389"/>
              <a:gd name="connsiteY1-44" fmla="*/ 1325217 h 2915478"/>
              <a:gd name="connsiteX2-45" fmla="*/ 1449503 w 1450389"/>
              <a:gd name="connsiteY2-46" fmla="*/ 1245703 h 2915478"/>
              <a:gd name="connsiteX3-47" fmla="*/ 336321 w 1450389"/>
              <a:gd name="connsiteY3-48" fmla="*/ 503582 h 2915478"/>
              <a:gd name="connsiteX4-49" fmla="*/ 5017 w 1450389"/>
              <a:gd name="connsiteY4-50" fmla="*/ 0 h 291547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0389" h="2915478">
                <a:moveTo>
                  <a:pt x="111034" y="2915478"/>
                </a:moveTo>
                <a:cubicBezTo>
                  <a:pt x="8329" y="2267225"/>
                  <a:pt x="-45784" y="1457739"/>
                  <a:pt x="137538" y="1325217"/>
                </a:cubicBezTo>
                <a:cubicBezTo>
                  <a:pt x="320860" y="1192695"/>
                  <a:pt x="1416373" y="1382642"/>
                  <a:pt x="1449503" y="1245703"/>
                </a:cubicBezTo>
                <a:cubicBezTo>
                  <a:pt x="1482634" y="1108764"/>
                  <a:pt x="577069" y="711199"/>
                  <a:pt x="336321" y="503582"/>
                </a:cubicBezTo>
                <a:cubicBezTo>
                  <a:pt x="95573" y="295965"/>
                  <a:pt x="-27009" y="115956"/>
                  <a:pt x="5017" y="0"/>
                </a:cubicBezTo>
              </a:path>
            </a:pathLst>
          </a:custGeom>
          <a:noFill/>
          <a:ln w="38100">
            <a:solidFill>
              <a:srgbClr val="C7000B"/>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任意多边形 57"/>
          <p:cNvSpPr/>
          <p:nvPr/>
        </p:nvSpPr>
        <p:spPr bwMode="gray">
          <a:xfrm>
            <a:off x="2304682" y="2040456"/>
            <a:ext cx="1541140" cy="2850687"/>
          </a:xfrm>
          <a:custGeom>
            <a:avLst/>
            <a:gdLst>
              <a:gd name="connsiteX0" fmla="*/ 360417 w 1858053"/>
              <a:gd name="connsiteY0" fmla="*/ 3379304 h 3379304"/>
              <a:gd name="connsiteX1" fmla="*/ 360417 w 1858053"/>
              <a:gd name="connsiteY1" fmla="*/ 2743200 h 3379304"/>
              <a:gd name="connsiteX2" fmla="*/ 1857913 w 1858053"/>
              <a:gd name="connsiteY2" fmla="*/ 1616765 h 3379304"/>
              <a:gd name="connsiteX3" fmla="*/ 267652 w 1858053"/>
              <a:gd name="connsiteY3" fmla="*/ 702365 h 3379304"/>
              <a:gd name="connsiteX4" fmla="*/ 15861 w 1858053"/>
              <a:gd name="connsiteY4" fmla="*/ 0 h 3379304"/>
              <a:gd name="connsiteX0-1" fmla="*/ 347673 w 1845324"/>
              <a:gd name="connsiteY0-2" fmla="*/ 3379304 h 3379304"/>
              <a:gd name="connsiteX1-3" fmla="*/ 347673 w 1845324"/>
              <a:gd name="connsiteY1-4" fmla="*/ 2743200 h 3379304"/>
              <a:gd name="connsiteX2-5" fmla="*/ 1845169 w 1845324"/>
              <a:gd name="connsiteY2-6" fmla="*/ 1616765 h 3379304"/>
              <a:gd name="connsiteX3-7" fmla="*/ 439174 w 1845324"/>
              <a:gd name="connsiteY3-8" fmla="*/ 593911 h 3379304"/>
              <a:gd name="connsiteX4-9" fmla="*/ 3117 w 1845324"/>
              <a:gd name="connsiteY4-10" fmla="*/ 0 h 3379304"/>
              <a:gd name="connsiteX0-11" fmla="*/ 359313 w 1856997"/>
              <a:gd name="connsiteY0-12" fmla="*/ 3379304 h 3379304"/>
              <a:gd name="connsiteX1-13" fmla="*/ 359313 w 1856997"/>
              <a:gd name="connsiteY1-14" fmla="*/ 2743200 h 3379304"/>
              <a:gd name="connsiteX2-15" fmla="*/ 1856809 w 1856997"/>
              <a:gd name="connsiteY2-16" fmla="*/ 1616765 h 3379304"/>
              <a:gd name="connsiteX3-17" fmla="*/ 450814 w 1856997"/>
              <a:gd name="connsiteY3-18" fmla="*/ 593911 h 3379304"/>
              <a:gd name="connsiteX4-19" fmla="*/ 14757 w 1856997"/>
              <a:gd name="connsiteY4-20" fmla="*/ 0 h 3379304"/>
              <a:gd name="connsiteX0-21" fmla="*/ 347520 w 1783757"/>
              <a:gd name="connsiteY0-22" fmla="*/ 3379304 h 3379304"/>
              <a:gd name="connsiteX1-23" fmla="*/ 347520 w 1783757"/>
              <a:gd name="connsiteY1-24" fmla="*/ 2743200 h 3379304"/>
              <a:gd name="connsiteX2-25" fmla="*/ 1783595 w 1783757"/>
              <a:gd name="connsiteY2-26" fmla="*/ 1415350 h 3379304"/>
              <a:gd name="connsiteX3-27" fmla="*/ 439021 w 1783757"/>
              <a:gd name="connsiteY3-28" fmla="*/ 593911 h 3379304"/>
              <a:gd name="connsiteX4-29" fmla="*/ 2964 w 1783757"/>
              <a:gd name="connsiteY4-30" fmla="*/ 0 h 3379304"/>
              <a:gd name="connsiteX0-31" fmla="*/ 346580 w 1783351"/>
              <a:gd name="connsiteY0-32" fmla="*/ 3379304 h 3379304"/>
              <a:gd name="connsiteX1-33" fmla="*/ 346580 w 1783351"/>
              <a:gd name="connsiteY1-34" fmla="*/ 2743200 h 3379304"/>
              <a:gd name="connsiteX2-35" fmla="*/ 1782655 w 1783351"/>
              <a:gd name="connsiteY2-36" fmla="*/ 1415350 h 3379304"/>
              <a:gd name="connsiteX3-37" fmla="*/ 530215 w 1783351"/>
              <a:gd name="connsiteY3-38" fmla="*/ 578417 h 3379304"/>
              <a:gd name="connsiteX4-39" fmla="*/ 2024 w 1783351"/>
              <a:gd name="connsiteY4-40" fmla="*/ 0 h 3379304"/>
              <a:gd name="connsiteX0-41" fmla="*/ 346580 w 1785312"/>
              <a:gd name="connsiteY0-42" fmla="*/ 3379304 h 3379304"/>
              <a:gd name="connsiteX1-43" fmla="*/ 162313 w 1785312"/>
              <a:gd name="connsiteY1-44" fmla="*/ 2572771 h 3379304"/>
              <a:gd name="connsiteX2-45" fmla="*/ 1782655 w 1785312"/>
              <a:gd name="connsiteY2-46" fmla="*/ 1415350 h 3379304"/>
              <a:gd name="connsiteX3-47" fmla="*/ 530215 w 1785312"/>
              <a:gd name="connsiteY3-48" fmla="*/ 578417 h 3379304"/>
              <a:gd name="connsiteX4-49" fmla="*/ 2024 w 1785312"/>
              <a:gd name="connsiteY4-50" fmla="*/ 0 h 3379304"/>
              <a:gd name="connsiteX0-51" fmla="*/ 346580 w 1785749"/>
              <a:gd name="connsiteY0-52" fmla="*/ 3379304 h 3379304"/>
              <a:gd name="connsiteX1-53" fmla="*/ 131602 w 1785749"/>
              <a:gd name="connsiteY1-54" fmla="*/ 2510797 h 3379304"/>
              <a:gd name="connsiteX2-55" fmla="*/ 1782655 w 1785749"/>
              <a:gd name="connsiteY2-56" fmla="*/ 1415350 h 3379304"/>
              <a:gd name="connsiteX3-57" fmla="*/ 530215 w 1785749"/>
              <a:gd name="connsiteY3-58" fmla="*/ 578417 h 3379304"/>
              <a:gd name="connsiteX4-59" fmla="*/ 2024 w 1785749"/>
              <a:gd name="connsiteY4-60" fmla="*/ 0 h 3379304"/>
              <a:gd name="connsiteX0-61" fmla="*/ 163660 w 1802451"/>
              <a:gd name="connsiteY0-62" fmla="*/ 3332824 h 3332824"/>
              <a:gd name="connsiteX1-63" fmla="*/ 148304 w 1802451"/>
              <a:gd name="connsiteY1-64" fmla="*/ 2510797 h 3332824"/>
              <a:gd name="connsiteX2-65" fmla="*/ 1799357 w 1802451"/>
              <a:gd name="connsiteY2-66" fmla="*/ 1415350 h 3332824"/>
              <a:gd name="connsiteX3-67" fmla="*/ 546917 w 1802451"/>
              <a:gd name="connsiteY3-68" fmla="*/ 578417 h 3332824"/>
              <a:gd name="connsiteX4-69" fmla="*/ 18726 w 1802451"/>
              <a:gd name="connsiteY4-70" fmla="*/ 0 h 3332824"/>
              <a:gd name="connsiteX0-71" fmla="*/ 146958 w 1785749"/>
              <a:gd name="connsiteY0-72" fmla="*/ 3332824 h 3332824"/>
              <a:gd name="connsiteX1-73" fmla="*/ 131602 w 1785749"/>
              <a:gd name="connsiteY1-74" fmla="*/ 2510797 h 3332824"/>
              <a:gd name="connsiteX2-75" fmla="*/ 1782655 w 1785749"/>
              <a:gd name="connsiteY2-76" fmla="*/ 1415350 h 3332824"/>
              <a:gd name="connsiteX3-77" fmla="*/ 530215 w 1785749"/>
              <a:gd name="connsiteY3-78" fmla="*/ 578417 h 3332824"/>
              <a:gd name="connsiteX4-79" fmla="*/ 2024 w 1785749"/>
              <a:gd name="connsiteY4-80" fmla="*/ 0 h 3332824"/>
              <a:gd name="connsiteX0-81" fmla="*/ 146958 w 1785749"/>
              <a:gd name="connsiteY0-82" fmla="*/ 3332824 h 3332824"/>
              <a:gd name="connsiteX1-83" fmla="*/ 131602 w 1785749"/>
              <a:gd name="connsiteY1-84" fmla="*/ 2510797 h 3332824"/>
              <a:gd name="connsiteX2-85" fmla="*/ 1782655 w 1785749"/>
              <a:gd name="connsiteY2-86" fmla="*/ 1415350 h 3332824"/>
              <a:gd name="connsiteX3-87" fmla="*/ 530215 w 1785749"/>
              <a:gd name="connsiteY3-88" fmla="*/ 578417 h 3332824"/>
              <a:gd name="connsiteX4-89" fmla="*/ 2024 w 1785749"/>
              <a:gd name="connsiteY4-90" fmla="*/ 0 h 33328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85749" h="3332824">
                <a:moveTo>
                  <a:pt x="146958" y="3332824"/>
                </a:moveTo>
                <a:cubicBezTo>
                  <a:pt x="191077" y="3130663"/>
                  <a:pt x="-33525" y="2861363"/>
                  <a:pt x="131602" y="2510797"/>
                </a:cubicBezTo>
                <a:cubicBezTo>
                  <a:pt x="296729" y="2160231"/>
                  <a:pt x="1716220" y="1737413"/>
                  <a:pt x="1782655" y="1415350"/>
                </a:cubicBezTo>
                <a:cubicBezTo>
                  <a:pt x="1849090" y="1093287"/>
                  <a:pt x="826987" y="814309"/>
                  <a:pt x="530215" y="578417"/>
                </a:cubicBezTo>
                <a:cubicBezTo>
                  <a:pt x="233443" y="342525"/>
                  <a:pt x="-25585" y="216452"/>
                  <a:pt x="2024" y="0"/>
                </a:cubicBezTo>
              </a:path>
            </a:pathLst>
          </a:custGeom>
          <a:noFill/>
          <a:ln w="38100">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Oval 4"/>
          <p:cNvSpPr>
            <a:spLocks noChangeAspect="1"/>
          </p:cNvSpPr>
          <p:nvPr/>
        </p:nvSpPr>
        <p:spPr bwMode="gray">
          <a:xfrm>
            <a:off x="2116734" y="3736647"/>
            <a:ext cx="180000" cy="180000"/>
          </a:xfrm>
          <a:prstGeom prst="ellipse">
            <a:avLst/>
          </a:prstGeom>
          <a:solidFill>
            <a:srgbClr val="C7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Oval 4"/>
          <p:cNvSpPr>
            <a:spLocks noChangeAspect="1"/>
          </p:cNvSpPr>
          <p:nvPr/>
        </p:nvSpPr>
        <p:spPr bwMode="gray">
          <a:xfrm>
            <a:off x="2885780" y="3736647"/>
            <a:ext cx="180000" cy="180000"/>
          </a:xfrm>
          <a:prstGeom prst="ellipse">
            <a:avLst/>
          </a:prstGeom>
          <a:solidFill>
            <a:srgbClr val="62B23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矩形 63"/>
          <p:cNvSpPr/>
          <p:nvPr/>
        </p:nvSpPr>
        <p:spPr bwMode="gray">
          <a:xfrm>
            <a:off x="5563181" y="2815780"/>
            <a:ext cx="6173553" cy="442800"/>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1400" dirty="0">
                <a:solidFill>
                  <a:schemeClr val="tx1"/>
                </a:solidFill>
              </a:rPr>
              <a:t>[</a:t>
            </a:r>
            <a:r>
              <a:rPr lang="en-US" altLang="zh-CN" sz="1400" dirty="0">
                <a:solidFill>
                  <a:srgbClr val="C7000B"/>
                </a:solidFill>
              </a:rPr>
              <a:t>Cost(S3-S1) + Cost(S1-S2) </a:t>
            </a:r>
            <a:r>
              <a:rPr lang="en-US" altLang="zh-CN" sz="1400" dirty="0">
                <a:solidFill>
                  <a:schemeClr val="tx1"/>
                </a:solidFill>
              </a:rPr>
              <a:t>+ Cost(S2-R1)] &lt; [</a:t>
            </a:r>
            <a:r>
              <a:rPr lang="en-US" altLang="zh-CN" sz="1400" dirty="0">
                <a:solidFill>
                  <a:srgbClr val="C7000B"/>
                </a:solidFill>
              </a:rPr>
              <a:t>Cost(S3-S2)</a:t>
            </a:r>
            <a:r>
              <a:rPr lang="en-US" altLang="zh-CN" sz="1400" dirty="0">
                <a:solidFill>
                  <a:schemeClr val="tx1"/>
                </a:solidFill>
              </a:rPr>
              <a:t> + Cost(S2-R1)]</a:t>
            </a:r>
            <a:endParaRPr lang="zh-CN" altLang="en-US" sz="1400" dirty="0">
              <a:solidFill>
                <a:schemeClr val="tx1"/>
              </a:solidFill>
            </a:endParaRPr>
          </a:p>
        </p:txBody>
      </p:sp>
      <p:cxnSp>
        <p:nvCxnSpPr>
          <p:cNvPr id="65" name="直接箭头连接符 64"/>
          <p:cNvCxnSpPr/>
          <p:nvPr/>
        </p:nvCxnSpPr>
        <p:spPr bwMode="gray">
          <a:xfrm>
            <a:off x="5030045" y="5740796"/>
            <a:ext cx="1065955" cy="0"/>
          </a:xfrm>
          <a:prstGeom prst="straightConnector1">
            <a:avLst/>
          </a:pr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6" name="文本框 65"/>
          <p:cNvSpPr txBox="1"/>
          <p:nvPr/>
        </p:nvSpPr>
        <p:spPr bwMode="gray">
          <a:xfrm>
            <a:off x="4905052" y="5810681"/>
            <a:ext cx="1261884" cy="307777"/>
          </a:xfrm>
          <a:prstGeom prst="rect">
            <a:avLst/>
          </a:prstGeom>
          <a:noFill/>
        </p:spPr>
        <p:txBody>
          <a:bodyPr wrap="none" rtlCol="0">
            <a:spAutoFit/>
          </a:bodyPr>
          <a:lstStyle/>
          <a:p>
            <a:pPr algn="ctr"/>
            <a:r>
              <a:rPr lang="zh-CN" altLang="en-US" sz="1400" dirty="0"/>
              <a:t>财务部数据流</a:t>
            </a:r>
            <a:endParaRPr lang="zh-CN" altLang="en-US" sz="1400" dirty="0"/>
          </a:p>
        </p:txBody>
      </p:sp>
      <p:sp>
        <p:nvSpPr>
          <p:cNvPr id="70" name="文本框 69"/>
          <p:cNvSpPr txBox="1"/>
          <p:nvPr/>
        </p:nvSpPr>
        <p:spPr bwMode="gray">
          <a:xfrm>
            <a:off x="2621157" y="3378905"/>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71" name="文本框 70"/>
          <p:cNvSpPr txBox="1"/>
          <p:nvPr/>
        </p:nvSpPr>
        <p:spPr bwMode="gray">
          <a:xfrm>
            <a:off x="1471156" y="3792674"/>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73" name="文本框 72"/>
          <p:cNvSpPr txBox="1"/>
          <p:nvPr/>
        </p:nvSpPr>
        <p:spPr bwMode="gray">
          <a:xfrm rot="19753892">
            <a:off x="2707208" y="3855394"/>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74" name="文本框 73"/>
          <p:cNvSpPr txBox="1"/>
          <p:nvPr/>
        </p:nvSpPr>
        <p:spPr bwMode="gray">
          <a:xfrm rot="2007044">
            <a:off x="2551822" y="2824403"/>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75" name="文本框 74"/>
          <p:cNvSpPr txBox="1"/>
          <p:nvPr/>
        </p:nvSpPr>
        <p:spPr bwMode="gray">
          <a:xfrm>
            <a:off x="1471156" y="2906668"/>
            <a:ext cx="750526" cy="276999"/>
          </a:xfrm>
          <a:prstGeom prst="rect">
            <a:avLst/>
          </a:prstGeom>
          <a:noFill/>
        </p:spPr>
        <p:txBody>
          <a:bodyPr wrap="none" rtlCol="0">
            <a:spAutoFit/>
          </a:bodyPr>
          <a:lstStyle/>
          <a:p>
            <a:pPr algn="ctr"/>
            <a:r>
              <a:rPr lang="en-US" altLang="zh-CN" sz="1200" dirty="0"/>
              <a:t>Cost=10</a:t>
            </a:r>
            <a:endParaRPr lang="zh-CN" altLang="en-US" sz="1200" dirty="0"/>
          </a:p>
        </p:txBody>
      </p:sp>
      <p:grpSp>
        <p:nvGrpSpPr>
          <p:cNvPr id="49" name="组合 48"/>
          <p:cNvGrpSpPr/>
          <p:nvPr/>
        </p:nvGrpSpPr>
        <p:grpSpPr bwMode="gray">
          <a:xfrm>
            <a:off x="2044251" y="2703210"/>
            <a:ext cx="288000" cy="288000"/>
            <a:chOff x="856677" y="2615810"/>
            <a:chExt cx="288000" cy="288000"/>
          </a:xfrm>
        </p:grpSpPr>
        <p:sp>
          <p:nvSpPr>
            <p:cNvPr id="50" name="椭圆 49"/>
            <p:cNvSpPr/>
            <p:nvPr/>
          </p:nvSpPr>
          <p:spPr bwMode="gray">
            <a:xfrm>
              <a:off x="856677" y="2615810"/>
              <a:ext cx="288000" cy="288000"/>
            </a:xfrm>
            <a:prstGeom prst="ellipse">
              <a:avLst/>
            </a:prstGeom>
            <a:solidFill>
              <a:srgbClr val="C700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1" name="组合 50"/>
            <p:cNvGrpSpPr/>
            <p:nvPr/>
          </p:nvGrpSpPr>
          <p:grpSpPr bwMode="gray">
            <a:xfrm>
              <a:off x="923444" y="2692169"/>
              <a:ext cx="144001" cy="144002"/>
              <a:chOff x="898853" y="2657982"/>
              <a:chExt cx="203649" cy="203652"/>
            </a:xfrm>
          </p:grpSpPr>
          <p:cxnSp>
            <p:nvCxnSpPr>
              <p:cNvPr id="52" name="直接连接符 51"/>
              <p:cNvCxnSpPr>
                <a:stCxn id="50" idx="3"/>
                <a:endCxn id="50" idx="7"/>
              </p:cNvCxnSpPr>
              <p:nvPr/>
            </p:nvCxnSpPr>
            <p:spPr bwMode="gray">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53" name="直接连接符 52"/>
              <p:cNvCxnSpPr>
                <a:stCxn id="50" idx="1"/>
                <a:endCxn id="50" idx="5"/>
              </p:cNvCxnSpPr>
              <p:nvPr/>
            </p:nvCxnSpPr>
            <p:spPr bwMode="gray">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76" name="文本框 75"/>
          <p:cNvSpPr txBox="1"/>
          <p:nvPr/>
        </p:nvSpPr>
        <p:spPr bwMode="gray">
          <a:xfrm>
            <a:off x="2621157" y="4395946"/>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72" name="五边形 71"/>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燕尾形 89"/>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燕尾形 93"/>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5" name="燕尾形 94"/>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a:t>控制内部路径：调整核心到边界开销</a:t>
            </a:r>
            <a:endParaRPr lang="zh-CN" altLang="en-US" dirty="0"/>
          </a:p>
        </p:txBody>
      </p:sp>
      <p:sp>
        <p:nvSpPr>
          <p:cNvPr id="40" name="文本占位符 39"/>
          <p:cNvSpPr>
            <a:spLocks noGrp="1"/>
          </p:cNvSpPr>
          <p:nvPr>
            <p:ph type="body" sz="quarter" idx="10"/>
          </p:nvPr>
        </p:nvSpPr>
        <p:spPr bwMode="gray">
          <a:xfrm>
            <a:off x="5207602" y="1047751"/>
            <a:ext cx="6541485" cy="2668588"/>
          </a:xfrm>
        </p:spPr>
        <p:txBody>
          <a:bodyPr/>
          <a:lstStyle/>
          <a:p>
            <a:r>
              <a:rPr lang="zh-CN" altLang="en-US" sz="1800" dirty="0"/>
              <a:t>若</a:t>
            </a:r>
            <a:r>
              <a:rPr lang="en-US" altLang="zh-CN" sz="1800" dirty="0"/>
              <a:t>S3</a:t>
            </a:r>
            <a:r>
              <a:rPr lang="zh-CN" altLang="en-US" sz="1800" dirty="0"/>
              <a:t>与</a:t>
            </a:r>
            <a:r>
              <a:rPr lang="en-US" altLang="zh-CN" sz="1800" dirty="0"/>
              <a:t>S1</a:t>
            </a:r>
            <a:r>
              <a:rPr lang="zh-CN" altLang="en-US" sz="1800" dirty="0"/>
              <a:t>间链路故障，由于</a:t>
            </a:r>
            <a:r>
              <a:rPr lang="en-US" altLang="zh-CN" sz="1800" dirty="0"/>
              <a:t>S1</a:t>
            </a:r>
            <a:r>
              <a:rPr lang="zh-CN" altLang="en-US" sz="1800" dirty="0"/>
              <a:t>运行正常，则要求</a:t>
            </a:r>
            <a:r>
              <a:rPr lang="en-US" altLang="zh-CN" sz="1800" dirty="0"/>
              <a:t>S3</a:t>
            </a:r>
            <a:r>
              <a:rPr lang="zh-CN" altLang="en-US" sz="1800" dirty="0"/>
              <a:t>优选路径</a:t>
            </a:r>
            <a:r>
              <a:rPr lang="en-US" altLang="zh-CN" sz="1800" dirty="0"/>
              <a:t>1</a:t>
            </a:r>
            <a:r>
              <a:rPr lang="zh-CN" altLang="en-US" sz="1800" dirty="0"/>
              <a:t>，次选路径</a:t>
            </a:r>
            <a:r>
              <a:rPr lang="en-US" altLang="zh-CN" sz="1800" dirty="0"/>
              <a:t>2</a:t>
            </a:r>
            <a:r>
              <a:rPr lang="zh-CN" altLang="en-US" sz="1800" dirty="0"/>
              <a:t>。</a:t>
            </a:r>
            <a:endParaRPr lang="en-US" altLang="zh-CN" sz="1800" dirty="0"/>
          </a:p>
          <a:p>
            <a:r>
              <a:rPr lang="zh-CN" altLang="en-US" sz="1800" dirty="0"/>
              <a:t>实现方式：</a:t>
            </a:r>
            <a:endParaRPr lang="en-US" altLang="zh-CN" sz="1800" dirty="0"/>
          </a:p>
          <a:p>
            <a:pPr lvl="1"/>
            <a:r>
              <a:rPr lang="zh-CN" altLang="en-US" sz="1600" dirty="0"/>
              <a:t>路径</a:t>
            </a:r>
            <a:r>
              <a:rPr lang="en-US" altLang="zh-CN" sz="1600" dirty="0"/>
              <a:t>1-Cost &lt; </a:t>
            </a:r>
            <a:r>
              <a:rPr lang="zh-CN" altLang="en-US" sz="1600" dirty="0"/>
              <a:t>路径</a:t>
            </a:r>
            <a:r>
              <a:rPr lang="en-US" altLang="zh-CN" sz="1600" dirty="0"/>
              <a:t>2-Cost</a:t>
            </a:r>
            <a:r>
              <a:rPr lang="zh-CN" altLang="en-US" sz="1600" dirty="0"/>
              <a:t>，即：</a:t>
            </a:r>
            <a:endParaRPr lang="en-US" altLang="zh-CN" sz="1600" dirty="0"/>
          </a:p>
          <a:p>
            <a:pPr lvl="1"/>
            <a:endParaRPr lang="en-US" altLang="zh-CN" sz="1600" dirty="0"/>
          </a:p>
          <a:p>
            <a:pPr lvl="1"/>
            <a:r>
              <a:rPr lang="zh-CN" altLang="en-US" sz="1600" dirty="0"/>
              <a:t>通过调整核心到边界设备间的路径开销可以实现优选路径</a:t>
            </a:r>
            <a:r>
              <a:rPr lang="en-US" altLang="zh-CN" sz="1600" dirty="0"/>
              <a:t>1</a:t>
            </a:r>
            <a:r>
              <a:rPr lang="zh-CN" altLang="en-US" sz="1600" dirty="0"/>
              <a:t>。</a:t>
            </a:r>
            <a:endParaRPr lang="zh-CN" altLang="en-US" sz="1600" dirty="0"/>
          </a:p>
        </p:txBody>
      </p:sp>
      <p:cxnSp>
        <p:nvCxnSpPr>
          <p:cNvPr id="4" name="直接连接符 3"/>
          <p:cNvCxnSpPr>
            <a:endCxn id="57" idx="2"/>
          </p:cNvCxnSpPr>
          <p:nvPr/>
        </p:nvCxnSpPr>
        <p:spPr bwMode="gray">
          <a:xfrm flipV="1">
            <a:off x="2177479" y="4621572"/>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632560"/>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643548"/>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621572"/>
            <a:ext cx="0" cy="35302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632560"/>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643548"/>
            <a:ext cx="0" cy="546212"/>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411160"/>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382382"/>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419142"/>
            <a:ext cx="1543432" cy="9810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415874"/>
            <a:ext cx="1564021" cy="1003267"/>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415976"/>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189760"/>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178772"/>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189760"/>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178772"/>
            <a:ext cx="540000" cy="442800"/>
          </a:xfrm>
          <a:prstGeom prst="rect">
            <a:avLst/>
          </a:prstGeom>
        </p:spPr>
      </p:pic>
      <p:cxnSp>
        <p:nvCxnSpPr>
          <p:cNvPr id="97" name="直接连接符 96"/>
          <p:cNvCxnSpPr>
            <a:stCxn id="81" idx="1"/>
            <a:endCxn id="57" idx="3"/>
          </p:cNvCxnSpPr>
          <p:nvPr/>
        </p:nvCxnSpPr>
        <p:spPr bwMode="gray">
          <a:xfrm flipH="1">
            <a:off x="2468067" y="4400172"/>
            <a:ext cx="1003433"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217605"/>
            <a:ext cx="715260" cy="523220"/>
          </a:xfrm>
          <a:prstGeom prst="rect">
            <a:avLst/>
          </a:prstGeom>
          <a:noFill/>
        </p:spPr>
        <p:txBody>
          <a:bodyPr wrap="none" rtlCol="0">
            <a:spAutoFit/>
          </a:bodyPr>
          <a:lstStyle/>
          <a:p>
            <a:pPr algn="ctr"/>
            <a:r>
              <a:rPr lang="zh-CN" altLang="en-US" sz="1400" dirty="0"/>
              <a:t>汇聚</a:t>
            </a:r>
            <a:r>
              <a:rPr lang="en-US" altLang="zh-CN" sz="1400" dirty="0"/>
              <a:t>-1</a:t>
            </a:r>
            <a:endParaRPr lang="en-US" altLang="zh-CN" sz="1400" dirty="0"/>
          </a:p>
          <a:p>
            <a:pPr algn="ctr"/>
            <a:r>
              <a:rPr lang="en-US" altLang="zh-CN" sz="1400" dirty="0"/>
              <a:t>S3</a:t>
            </a:r>
            <a:endParaRPr lang="zh-CN" altLang="en-US" sz="1400" dirty="0"/>
          </a:p>
        </p:txBody>
      </p:sp>
      <p:sp>
        <p:nvSpPr>
          <p:cNvPr id="104" name="Freeform 159"/>
          <p:cNvSpPr/>
          <p:nvPr/>
        </p:nvSpPr>
        <p:spPr bwMode="gray">
          <a:xfrm flipH="1">
            <a:off x="1594177" y="1112772"/>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112772"/>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1785277"/>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1785277"/>
            <a:ext cx="0" cy="41547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1784176"/>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1785277"/>
            <a:ext cx="1140811" cy="620468"/>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928067" y="2200748"/>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200748"/>
            <a:ext cx="540000" cy="442800"/>
          </a:xfrm>
          <a:prstGeom prst="rect">
            <a:avLst/>
          </a:prstGeom>
        </p:spPr>
      </p:pic>
      <p:sp>
        <p:nvSpPr>
          <p:cNvPr id="120" name="Freeform 159"/>
          <p:cNvSpPr/>
          <p:nvPr/>
        </p:nvSpPr>
        <p:spPr bwMode="gray">
          <a:xfrm flipH="1">
            <a:off x="1594177" y="4831530"/>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4831530"/>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021513"/>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202390"/>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4946383"/>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202390"/>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4946383"/>
            <a:ext cx="539063" cy="414000"/>
          </a:xfrm>
          <a:prstGeom prst="rect">
            <a:avLst/>
          </a:prstGeom>
        </p:spPr>
      </p:pic>
      <p:sp>
        <p:nvSpPr>
          <p:cNvPr id="137" name="文本框 136"/>
          <p:cNvSpPr txBox="1"/>
          <p:nvPr/>
        </p:nvSpPr>
        <p:spPr bwMode="gray">
          <a:xfrm>
            <a:off x="1636305" y="5644983"/>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644983"/>
            <a:ext cx="1082348" cy="523220"/>
          </a:xfrm>
          <a:prstGeom prst="rect">
            <a:avLst/>
          </a:prstGeom>
          <a:noFill/>
        </p:spPr>
        <p:txBody>
          <a:bodyPr wrap="none" rtlCol="0">
            <a:spAutoFit/>
          </a:bodyPr>
          <a:lstStyle/>
          <a:p>
            <a:pPr algn="ctr"/>
            <a:r>
              <a:rPr lang="zh-CN" altLang="en-US" sz="1400" dirty="0">
                <a:solidFill>
                  <a:schemeClr val="bg1">
                    <a:lumMod val="50000"/>
                  </a:schemeClr>
                </a:solidFill>
              </a:rPr>
              <a:t>市场部网络</a:t>
            </a:r>
            <a:endParaRPr lang="en-US" altLang="zh-CN" sz="1400" dirty="0">
              <a:solidFill>
                <a:schemeClr val="bg1">
                  <a:lumMod val="50000"/>
                </a:schemeClr>
              </a:solidFill>
            </a:endParaRPr>
          </a:p>
          <a:p>
            <a:pPr algn="ctr"/>
            <a:r>
              <a:rPr lang="zh-CN" altLang="en-US" sz="1400" dirty="0">
                <a:solidFill>
                  <a:schemeClr val="bg1">
                    <a:lumMod val="50000"/>
                  </a:schemeClr>
                </a:solidFill>
              </a:rPr>
              <a:t>客户端</a:t>
            </a:r>
            <a:endParaRPr lang="zh-CN" altLang="en-US" sz="1400" dirty="0">
              <a:solidFill>
                <a:schemeClr val="bg1">
                  <a:lumMod val="50000"/>
                </a:schemeClr>
              </a:solidFill>
            </a:endParaRPr>
          </a:p>
        </p:txBody>
      </p:sp>
      <p:sp>
        <p:nvSpPr>
          <p:cNvPr id="140" name="文本框 139"/>
          <p:cNvSpPr txBox="1"/>
          <p:nvPr/>
        </p:nvSpPr>
        <p:spPr bwMode="gray">
          <a:xfrm>
            <a:off x="1546538" y="1461192"/>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3456286" y="1021513"/>
            <a:ext cx="540000" cy="442800"/>
          </a:xfrm>
          <a:prstGeom prst="rect">
            <a:avLst/>
          </a:prstGeom>
        </p:spPr>
      </p:pic>
      <p:sp>
        <p:nvSpPr>
          <p:cNvPr id="146" name="文本框 145"/>
          <p:cNvSpPr txBox="1"/>
          <p:nvPr/>
        </p:nvSpPr>
        <p:spPr bwMode="gray">
          <a:xfrm>
            <a:off x="3095345" y="1461192"/>
            <a:ext cx="1261884" cy="307777"/>
          </a:xfrm>
          <a:prstGeom prst="rect">
            <a:avLst/>
          </a:prstGeom>
          <a:noFill/>
        </p:spPr>
        <p:txBody>
          <a:bodyPr wrap="none" rtlCol="0">
            <a:spAutoFit/>
          </a:bodyPr>
          <a:lstStyle/>
          <a:p>
            <a:pPr algn="ctr"/>
            <a:r>
              <a:rPr lang="zh-CN" altLang="en-US" sz="1400" dirty="0">
                <a:solidFill>
                  <a:schemeClr val="bg1">
                    <a:lumMod val="50000"/>
                  </a:schemeClr>
                </a:solidFill>
              </a:rPr>
              <a:t>市场部服务器</a:t>
            </a:r>
            <a:endParaRPr lang="en-US" altLang="zh-CN" sz="1400" dirty="0">
              <a:solidFill>
                <a:schemeClr val="bg1">
                  <a:lumMod val="50000"/>
                </a:schemeClr>
              </a:solidFill>
            </a:endParaRPr>
          </a:p>
        </p:txBody>
      </p:sp>
      <p:sp>
        <p:nvSpPr>
          <p:cNvPr id="151" name="文本框 150"/>
          <p:cNvSpPr txBox="1"/>
          <p:nvPr/>
        </p:nvSpPr>
        <p:spPr bwMode="gray">
          <a:xfrm>
            <a:off x="1278676" y="3257271"/>
            <a:ext cx="715260" cy="523220"/>
          </a:xfrm>
          <a:prstGeom prst="rect">
            <a:avLst/>
          </a:prstGeom>
          <a:noFill/>
        </p:spPr>
        <p:txBody>
          <a:bodyPr wrap="none" rtlCol="0">
            <a:spAutoFit/>
          </a:bodyPr>
          <a:lstStyle/>
          <a:p>
            <a:pPr algn="ctr"/>
            <a:r>
              <a:rPr lang="zh-CN" altLang="en-US" sz="1400" dirty="0"/>
              <a:t>核心</a:t>
            </a:r>
            <a:r>
              <a:rPr lang="en-US" altLang="zh-CN" sz="1400" dirty="0"/>
              <a:t>-1</a:t>
            </a:r>
            <a:endParaRPr lang="en-US" altLang="zh-CN" sz="1400" dirty="0"/>
          </a:p>
          <a:p>
            <a:pPr algn="ctr"/>
            <a:r>
              <a:rPr lang="en-US" altLang="zh-CN" sz="1400" dirty="0"/>
              <a:t>S1</a:t>
            </a:r>
            <a:endParaRPr lang="zh-CN" altLang="en-US" sz="1400" dirty="0"/>
          </a:p>
        </p:txBody>
      </p:sp>
      <p:sp>
        <p:nvSpPr>
          <p:cNvPr id="153" name="文本框 152"/>
          <p:cNvSpPr txBox="1"/>
          <p:nvPr/>
        </p:nvSpPr>
        <p:spPr bwMode="gray">
          <a:xfrm>
            <a:off x="1278676" y="2268259"/>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54" name="文本框 153"/>
          <p:cNvSpPr txBox="1"/>
          <p:nvPr/>
        </p:nvSpPr>
        <p:spPr bwMode="gray">
          <a:xfrm>
            <a:off x="3942035" y="4217605"/>
            <a:ext cx="715260" cy="523220"/>
          </a:xfrm>
          <a:prstGeom prst="rect">
            <a:avLst/>
          </a:prstGeom>
          <a:noFill/>
        </p:spPr>
        <p:txBody>
          <a:bodyPr wrap="none" rtlCol="0">
            <a:spAutoFit/>
          </a:bodyPr>
          <a:lstStyle/>
          <a:p>
            <a:pPr algn="ctr"/>
            <a:r>
              <a:rPr lang="zh-CN" altLang="en-US" sz="1400" dirty="0">
                <a:solidFill>
                  <a:schemeClr val="bg1">
                    <a:lumMod val="50000"/>
                  </a:schemeClr>
                </a:solidFill>
              </a:rPr>
              <a:t>汇聚</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dirty="0">
                <a:solidFill>
                  <a:schemeClr val="bg1">
                    <a:lumMod val="50000"/>
                  </a:schemeClr>
                </a:solidFill>
              </a:rPr>
              <a:t>S4</a:t>
            </a:r>
            <a:endParaRPr lang="zh-CN" altLang="en-US" sz="1400" dirty="0">
              <a:solidFill>
                <a:schemeClr val="bg1">
                  <a:lumMod val="50000"/>
                </a:schemeClr>
              </a:solidFill>
            </a:endParaRPr>
          </a:p>
        </p:txBody>
      </p:sp>
      <p:sp>
        <p:nvSpPr>
          <p:cNvPr id="155" name="文本框 154"/>
          <p:cNvSpPr txBox="1"/>
          <p:nvPr/>
        </p:nvSpPr>
        <p:spPr bwMode="gray">
          <a:xfrm>
            <a:off x="3942035" y="3257271"/>
            <a:ext cx="715260" cy="523220"/>
          </a:xfrm>
          <a:prstGeom prst="rect">
            <a:avLst/>
          </a:prstGeom>
          <a:noFill/>
        </p:spPr>
        <p:txBody>
          <a:bodyPr wrap="none" rtlCol="0">
            <a:spAutoFit/>
          </a:bodyPr>
          <a:lstStyle/>
          <a:p>
            <a:pPr algn="ctr"/>
            <a:r>
              <a:rPr lang="zh-CN" altLang="en-US" sz="1400" dirty="0">
                <a:solidFill>
                  <a:schemeClr val="bg1">
                    <a:lumMod val="50000"/>
                  </a:schemeClr>
                </a:solidFill>
              </a:rPr>
              <a:t>核心</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dirty="0">
                <a:solidFill>
                  <a:schemeClr val="bg1">
                    <a:lumMod val="50000"/>
                  </a:schemeClr>
                </a:solidFill>
              </a:rPr>
              <a:t>S2</a:t>
            </a:r>
            <a:endParaRPr lang="zh-CN" altLang="en-US" sz="1400" dirty="0">
              <a:solidFill>
                <a:schemeClr val="bg1">
                  <a:lumMod val="50000"/>
                </a:schemeClr>
              </a:solidFill>
            </a:endParaRPr>
          </a:p>
        </p:txBody>
      </p:sp>
      <p:sp>
        <p:nvSpPr>
          <p:cNvPr id="156" name="文本框 155"/>
          <p:cNvSpPr txBox="1"/>
          <p:nvPr/>
        </p:nvSpPr>
        <p:spPr bwMode="gray">
          <a:xfrm>
            <a:off x="3942035" y="2268259"/>
            <a:ext cx="715260" cy="523220"/>
          </a:xfrm>
          <a:prstGeom prst="rect">
            <a:avLst/>
          </a:prstGeom>
          <a:noFill/>
        </p:spPr>
        <p:txBody>
          <a:bodyPr wrap="none" rtlCol="0">
            <a:spAutoFit/>
          </a:bodyPr>
          <a:lstStyle/>
          <a:p>
            <a:pPr algn="ctr"/>
            <a:r>
              <a:rPr lang="zh-CN" altLang="en-US" sz="1400" dirty="0">
                <a:solidFill>
                  <a:schemeClr val="bg1">
                    <a:lumMod val="50000"/>
                  </a:schemeClr>
                </a:solidFill>
              </a:rPr>
              <a:t>边界</a:t>
            </a:r>
            <a:r>
              <a:rPr lang="en-US" altLang="zh-CN" sz="1400" dirty="0">
                <a:solidFill>
                  <a:schemeClr val="bg1">
                    <a:lumMod val="50000"/>
                  </a:schemeClr>
                </a:solidFill>
              </a:rPr>
              <a:t>-2</a:t>
            </a:r>
            <a:endParaRPr lang="en-US" altLang="zh-CN" sz="1400" dirty="0">
              <a:solidFill>
                <a:schemeClr val="bg1">
                  <a:lumMod val="50000"/>
                </a:schemeClr>
              </a:solidFill>
            </a:endParaRPr>
          </a:p>
          <a:p>
            <a:pPr algn="ctr"/>
            <a:r>
              <a:rPr lang="en-US" altLang="zh-CN" sz="1400" b="1" dirty="0">
                <a:solidFill>
                  <a:schemeClr val="bg1">
                    <a:lumMod val="50000"/>
                  </a:schemeClr>
                </a:solidFill>
              </a:rPr>
              <a:t>R2</a:t>
            </a:r>
            <a:endParaRPr lang="zh-CN" altLang="en-US" sz="1400" b="1" dirty="0">
              <a:solidFill>
                <a:schemeClr val="bg1">
                  <a:lumMod val="50000"/>
                </a:schemeClr>
              </a:solidFill>
            </a:endParaRPr>
          </a:p>
        </p:txBody>
      </p:sp>
      <p:sp>
        <p:nvSpPr>
          <p:cNvPr id="58" name="任意多边形 57"/>
          <p:cNvSpPr/>
          <p:nvPr/>
        </p:nvSpPr>
        <p:spPr bwMode="gray">
          <a:xfrm>
            <a:off x="2304682" y="2040457"/>
            <a:ext cx="1541140" cy="2850687"/>
          </a:xfrm>
          <a:custGeom>
            <a:avLst/>
            <a:gdLst>
              <a:gd name="connsiteX0" fmla="*/ 360417 w 1858053"/>
              <a:gd name="connsiteY0" fmla="*/ 3379304 h 3379304"/>
              <a:gd name="connsiteX1" fmla="*/ 360417 w 1858053"/>
              <a:gd name="connsiteY1" fmla="*/ 2743200 h 3379304"/>
              <a:gd name="connsiteX2" fmla="*/ 1857913 w 1858053"/>
              <a:gd name="connsiteY2" fmla="*/ 1616765 h 3379304"/>
              <a:gd name="connsiteX3" fmla="*/ 267652 w 1858053"/>
              <a:gd name="connsiteY3" fmla="*/ 702365 h 3379304"/>
              <a:gd name="connsiteX4" fmla="*/ 15861 w 1858053"/>
              <a:gd name="connsiteY4" fmla="*/ 0 h 3379304"/>
              <a:gd name="connsiteX0-1" fmla="*/ 347673 w 1845324"/>
              <a:gd name="connsiteY0-2" fmla="*/ 3379304 h 3379304"/>
              <a:gd name="connsiteX1-3" fmla="*/ 347673 w 1845324"/>
              <a:gd name="connsiteY1-4" fmla="*/ 2743200 h 3379304"/>
              <a:gd name="connsiteX2-5" fmla="*/ 1845169 w 1845324"/>
              <a:gd name="connsiteY2-6" fmla="*/ 1616765 h 3379304"/>
              <a:gd name="connsiteX3-7" fmla="*/ 439174 w 1845324"/>
              <a:gd name="connsiteY3-8" fmla="*/ 593911 h 3379304"/>
              <a:gd name="connsiteX4-9" fmla="*/ 3117 w 1845324"/>
              <a:gd name="connsiteY4-10" fmla="*/ 0 h 3379304"/>
              <a:gd name="connsiteX0-11" fmla="*/ 359313 w 1856997"/>
              <a:gd name="connsiteY0-12" fmla="*/ 3379304 h 3379304"/>
              <a:gd name="connsiteX1-13" fmla="*/ 359313 w 1856997"/>
              <a:gd name="connsiteY1-14" fmla="*/ 2743200 h 3379304"/>
              <a:gd name="connsiteX2-15" fmla="*/ 1856809 w 1856997"/>
              <a:gd name="connsiteY2-16" fmla="*/ 1616765 h 3379304"/>
              <a:gd name="connsiteX3-17" fmla="*/ 450814 w 1856997"/>
              <a:gd name="connsiteY3-18" fmla="*/ 593911 h 3379304"/>
              <a:gd name="connsiteX4-19" fmla="*/ 14757 w 1856997"/>
              <a:gd name="connsiteY4-20" fmla="*/ 0 h 3379304"/>
              <a:gd name="connsiteX0-21" fmla="*/ 347520 w 1783757"/>
              <a:gd name="connsiteY0-22" fmla="*/ 3379304 h 3379304"/>
              <a:gd name="connsiteX1-23" fmla="*/ 347520 w 1783757"/>
              <a:gd name="connsiteY1-24" fmla="*/ 2743200 h 3379304"/>
              <a:gd name="connsiteX2-25" fmla="*/ 1783595 w 1783757"/>
              <a:gd name="connsiteY2-26" fmla="*/ 1415350 h 3379304"/>
              <a:gd name="connsiteX3-27" fmla="*/ 439021 w 1783757"/>
              <a:gd name="connsiteY3-28" fmla="*/ 593911 h 3379304"/>
              <a:gd name="connsiteX4-29" fmla="*/ 2964 w 1783757"/>
              <a:gd name="connsiteY4-30" fmla="*/ 0 h 3379304"/>
              <a:gd name="connsiteX0-31" fmla="*/ 346580 w 1783351"/>
              <a:gd name="connsiteY0-32" fmla="*/ 3379304 h 3379304"/>
              <a:gd name="connsiteX1-33" fmla="*/ 346580 w 1783351"/>
              <a:gd name="connsiteY1-34" fmla="*/ 2743200 h 3379304"/>
              <a:gd name="connsiteX2-35" fmla="*/ 1782655 w 1783351"/>
              <a:gd name="connsiteY2-36" fmla="*/ 1415350 h 3379304"/>
              <a:gd name="connsiteX3-37" fmla="*/ 530215 w 1783351"/>
              <a:gd name="connsiteY3-38" fmla="*/ 578417 h 3379304"/>
              <a:gd name="connsiteX4-39" fmla="*/ 2024 w 1783351"/>
              <a:gd name="connsiteY4-40" fmla="*/ 0 h 3379304"/>
              <a:gd name="connsiteX0-41" fmla="*/ 346580 w 1785312"/>
              <a:gd name="connsiteY0-42" fmla="*/ 3379304 h 3379304"/>
              <a:gd name="connsiteX1-43" fmla="*/ 162313 w 1785312"/>
              <a:gd name="connsiteY1-44" fmla="*/ 2572771 h 3379304"/>
              <a:gd name="connsiteX2-45" fmla="*/ 1782655 w 1785312"/>
              <a:gd name="connsiteY2-46" fmla="*/ 1415350 h 3379304"/>
              <a:gd name="connsiteX3-47" fmla="*/ 530215 w 1785312"/>
              <a:gd name="connsiteY3-48" fmla="*/ 578417 h 3379304"/>
              <a:gd name="connsiteX4-49" fmla="*/ 2024 w 1785312"/>
              <a:gd name="connsiteY4-50" fmla="*/ 0 h 3379304"/>
              <a:gd name="connsiteX0-51" fmla="*/ 346580 w 1785749"/>
              <a:gd name="connsiteY0-52" fmla="*/ 3379304 h 3379304"/>
              <a:gd name="connsiteX1-53" fmla="*/ 131602 w 1785749"/>
              <a:gd name="connsiteY1-54" fmla="*/ 2510797 h 3379304"/>
              <a:gd name="connsiteX2-55" fmla="*/ 1782655 w 1785749"/>
              <a:gd name="connsiteY2-56" fmla="*/ 1415350 h 3379304"/>
              <a:gd name="connsiteX3-57" fmla="*/ 530215 w 1785749"/>
              <a:gd name="connsiteY3-58" fmla="*/ 578417 h 3379304"/>
              <a:gd name="connsiteX4-59" fmla="*/ 2024 w 1785749"/>
              <a:gd name="connsiteY4-60" fmla="*/ 0 h 3379304"/>
              <a:gd name="connsiteX0-61" fmla="*/ 163660 w 1802451"/>
              <a:gd name="connsiteY0-62" fmla="*/ 3332824 h 3332824"/>
              <a:gd name="connsiteX1-63" fmla="*/ 148304 w 1802451"/>
              <a:gd name="connsiteY1-64" fmla="*/ 2510797 h 3332824"/>
              <a:gd name="connsiteX2-65" fmla="*/ 1799357 w 1802451"/>
              <a:gd name="connsiteY2-66" fmla="*/ 1415350 h 3332824"/>
              <a:gd name="connsiteX3-67" fmla="*/ 546917 w 1802451"/>
              <a:gd name="connsiteY3-68" fmla="*/ 578417 h 3332824"/>
              <a:gd name="connsiteX4-69" fmla="*/ 18726 w 1802451"/>
              <a:gd name="connsiteY4-70" fmla="*/ 0 h 3332824"/>
              <a:gd name="connsiteX0-71" fmla="*/ 146958 w 1785749"/>
              <a:gd name="connsiteY0-72" fmla="*/ 3332824 h 3332824"/>
              <a:gd name="connsiteX1-73" fmla="*/ 131602 w 1785749"/>
              <a:gd name="connsiteY1-74" fmla="*/ 2510797 h 3332824"/>
              <a:gd name="connsiteX2-75" fmla="*/ 1782655 w 1785749"/>
              <a:gd name="connsiteY2-76" fmla="*/ 1415350 h 3332824"/>
              <a:gd name="connsiteX3-77" fmla="*/ 530215 w 1785749"/>
              <a:gd name="connsiteY3-78" fmla="*/ 578417 h 3332824"/>
              <a:gd name="connsiteX4-79" fmla="*/ 2024 w 1785749"/>
              <a:gd name="connsiteY4-80" fmla="*/ 0 h 3332824"/>
              <a:gd name="connsiteX0-81" fmla="*/ 146958 w 1785749"/>
              <a:gd name="connsiteY0-82" fmla="*/ 3332824 h 3332824"/>
              <a:gd name="connsiteX1-83" fmla="*/ 131602 w 1785749"/>
              <a:gd name="connsiteY1-84" fmla="*/ 2510797 h 3332824"/>
              <a:gd name="connsiteX2-85" fmla="*/ 1782655 w 1785749"/>
              <a:gd name="connsiteY2-86" fmla="*/ 1415350 h 3332824"/>
              <a:gd name="connsiteX3-87" fmla="*/ 530215 w 1785749"/>
              <a:gd name="connsiteY3-88" fmla="*/ 578417 h 3332824"/>
              <a:gd name="connsiteX4-89" fmla="*/ 2024 w 1785749"/>
              <a:gd name="connsiteY4-90" fmla="*/ 0 h 333282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785749" h="3332824">
                <a:moveTo>
                  <a:pt x="146958" y="3332824"/>
                </a:moveTo>
                <a:cubicBezTo>
                  <a:pt x="191077" y="3130663"/>
                  <a:pt x="-33525" y="2861363"/>
                  <a:pt x="131602" y="2510797"/>
                </a:cubicBezTo>
                <a:cubicBezTo>
                  <a:pt x="296729" y="2160231"/>
                  <a:pt x="1716220" y="1737413"/>
                  <a:pt x="1782655" y="1415350"/>
                </a:cubicBezTo>
                <a:cubicBezTo>
                  <a:pt x="1849090" y="1093287"/>
                  <a:pt x="826987" y="814309"/>
                  <a:pt x="530215" y="578417"/>
                </a:cubicBezTo>
                <a:cubicBezTo>
                  <a:pt x="233443" y="342525"/>
                  <a:pt x="-25585" y="216452"/>
                  <a:pt x="2024" y="0"/>
                </a:cubicBezTo>
              </a:path>
            </a:pathLst>
          </a:custGeom>
          <a:noFill/>
          <a:ln w="38100">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1"/>
          <p:cNvSpPr/>
          <p:nvPr/>
        </p:nvSpPr>
        <p:spPr bwMode="gray">
          <a:xfrm>
            <a:off x="2079951" y="2041926"/>
            <a:ext cx="1458393" cy="2822713"/>
          </a:xfrm>
          <a:custGeom>
            <a:avLst/>
            <a:gdLst>
              <a:gd name="connsiteX0" fmla="*/ 140270 w 1598673"/>
              <a:gd name="connsiteY0" fmla="*/ 2756452 h 2756452"/>
              <a:gd name="connsiteX1" fmla="*/ 140270 w 1598673"/>
              <a:gd name="connsiteY1" fmla="*/ 2080591 h 2756452"/>
              <a:gd name="connsiteX2" fmla="*/ 1598009 w 1598673"/>
              <a:gd name="connsiteY2" fmla="*/ 1232452 h 2756452"/>
              <a:gd name="connsiteX3" fmla="*/ 325800 w 1598673"/>
              <a:gd name="connsiteY3" fmla="*/ 1113183 h 2756452"/>
              <a:gd name="connsiteX4" fmla="*/ 127017 w 1598673"/>
              <a:gd name="connsiteY4" fmla="*/ 0 h 2756452"/>
              <a:gd name="connsiteX0-1" fmla="*/ 140270 w 1598673"/>
              <a:gd name="connsiteY0-2" fmla="*/ 2822713 h 2822713"/>
              <a:gd name="connsiteX1-3" fmla="*/ 140270 w 1598673"/>
              <a:gd name="connsiteY1-4" fmla="*/ 2146852 h 2822713"/>
              <a:gd name="connsiteX2-5" fmla="*/ 1598009 w 1598673"/>
              <a:gd name="connsiteY2-6" fmla="*/ 1298713 h 2822713"/>
              <a:gd name="connsiteX3-7" fmla="*/ 325800 w 1598673"/>
              <a:gd name="connsiteY3-8" fmla="*/ 1179444 h 2822713"/>
              <a:gd name="connsiteX4-9" fmla="*/ 127017 w 1598673"/>
              <a:gd name="connsiteY4-10" fmla="*/ 0 h 2822713"/>
              <a:gd name="connsiteX0-11" fmla="*/ 140270 w 1598021"/>
              <a:gd name="connsiteY0-12" fmla="*/ 2822713 h 2822713"/>
              <a:gd name="connsiteX1-13" fmla="*/ 140270 w 1598021"/>
              <a:gd name="connsiteY1-14" fmla="*/ 2146852 h 2822713"/>
              <a:gd name="connsiteX2-15" fmla="*/ 1598009 w 1598021"/>
              <a:gd name="connsiteY2-16" fmla="*/ 1298713 h 2822713"/>
              <a:gd name="connsiteX3-17" fmla="*/ 166774 w 1598021"/>
              <a:gd name="connsiteY3-18" fmla="*/ 1245705 h 2822713"/>
              <a:gd name="connsiteX4-19" fmla="*/ 127017 w 1598021"/>
              <a:gd name="connsiteY4-20" fmla="*/ 0 h 2822713"/>
              <a:gd name="connsiteX0-21" fmla="*/ 140270 w 1598019"/>
              <a:gd name="connsiteY0-22" fmla="*/ 2822713 h 2822713"/>
              <a:gd name="connsiteX1-23" fmla="*/ 140270 w 1598019"/>
              <a:gd name="connsiteY1-24" fmla="*/ 2146852 h 2822713"/>
              <a:gd name="connsiteX2-25" fmla="*/ 1598009 w 1598019"/>
              <a:gd name="connsiteY2-26" fmla="*/ 1298713 h 2822713"/>
              <a:gd name="connsiteX3-27" fmla="*/ 166774 w 1598019"/>
              <a:gd name="connsiteY3-28" fmla="*/ 1245705 h 2822713"/>
              <a:gd name="connsiteX4-29" fmla="*/ 127017 w 1598019"/>
              <a:gd name="connsiteY4-30" fmla="*/ 0 h 2822713"/>
              <a:gd name="connsiteX0-31" fmla="*/ 133759 w 1498745"/>
              <a:gd name="connsiteY0-32" fmla="*/ 2822713 h 2822713"/>
              <a:gd name="connsiteX1-33" fmla="*/ 133759 w 1498745"/>
              <a:gd name="connsiteY1-34" fmla="*/ 2146852 h 2822713"/>
              <a:gd name="connsiteX2-35" fmla="*/ 1498732 w 1498745"/>
              <a:gd name="connsiteY2-36" fmla="*/ 1351722 h 2822713"/>
              <a:gd name="connsiteX3-37" fmla="*/ 160263 w 1498745"/>
              <a:gd name="connsiteY3-38" fmla="*/ 1245705 h 2822713"/>
              <a:gd name="connsiteX4-39" fmla="*/ 120506 w 1498745"/>
              <a:gd name="connsiteY4-40" fmla="*/ 0 h 2822713"/>
              <a:gd name="connsiteX0-41" fmla="*/ 111864 w 1476850"/>
              <a:gd name="connsiteY0-42" fmla="*/ 2822713 h 2822713"/>
              <a:gd name="connsiteX1-43" fmla="*/ 111864 w 1476850"/>
              <a:gd name="connsiteY1-44" fmla="*/ 2146852 h 2822713"/>
              <a:gd name="connsiteX2-45" fmla="*/ 1476837 w 1476850"/>
              <a:gd name="connsiteY2-46" fmla="*/ 1351722 h 2822713"/>
              <a:gd name="connsiteX3-47" fmla="*/ 138368 w 1476850"/>
              <a:gd name="connsiteY3-48" fmla="*/ 1245705 h 2822713"/>
              <a:gd name="connsiteX4-49" fmla="*/ 98611 w 1476850"/>
              <a:gd name="connsiteY4-50" fmla="*/ 0 h 2822713"/>
              <a:gd name="connsiteX0-51" fmla="*/ 93407 w 1458393"/>
              <a:gd name="connsiteY0-52" fmla="*/ 2822713 h 2822713"/>
              <a:gd name="connsiteX1-53" fmla="*/ 93407 w 1458393"/>
              <a:gd name="connsiteY1-54" fmla="*/ 2146852 h 2822713"/>
              <a:gd name="connsiteX2-55" fmla="*/ 1458380 w 1458393"/>
              <a:gd name="connsiteY2-56" fmla="*/ 1351722 h 2822713"/>
              <a:gd name="connsiteX3-57" fmla="*/ 119911 w 1458393"/>
              <a:gd name="connsiteY3-58" fmla="*/ 1245705 h 2822713"/>
              <a:gd name="connsiteX4-59" fmla="*/ 80154 w 1458393"/>
              <a:gd name="connsiteY4-60" fmla="*/ 0 h 2822713"/>
              <a:gd name="connsiteX0-61" fmla="*/ 93407 w 1458393"/>
              <a:gd name="connsiteY0-62" fmla="*/ 2822713 h 2822713"/>
              <a:gd name="connsiteX1-63" fmla="*/ 93407 w 1458393"/>
              <a:gd name="connsiteY1-64" fmla="*/ 2146852 h 2822713"/>
              <a:gd name="connsiteX2-65" fmla="*/ 1458380 w 1458393"/>
              <a:gd name="connsiteY2-66" fmla="*/ 1351722 h 2822713"/>
              <a:gd name="connsiteX3-67" fmla="*/ 119911 w 1458393"/>
              <a:gd name="connsiteY3-68" fmla="*/ 1245705 h 2822713"/>
              <a:gd name="connsiteX4-69" fmla="*/ 80154 w 1458393"/>
              <a:gd name="connsiteY4-70" fmla="*/ 0 h 282271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58393" h="2822713">
                <a:moveTo>
                  <a:pt x="93407" y="2822713"/>
                </a:moveTo>
                <a:cubicBezTo>
                  <a:pt x="77947" y="2611782"/>
                  <a:pt x="51442" y="2458278"/>
                  <a:pt x="93407" y="2146852"/>
                </a:cubicBezTo>
                <a:cubicBezTo>
                  <a:pt x="135372" y="1835426"/>
                  <a:pt x="1453963" y="1501913"/>
                  <a:pt x="1458380" y="1351722"/>
                </a:cubicBezTo>
                <a:cubicBezTo>
                  <a:pt x="1462797" y="1201531"/>
                  <a:pt x="349615" y="1470992"/>
                  <a:pt x="119911" y="1245705"/>
                </a:cubicBezTo>
                <a:cubicBezTo>
                  <a:pt x="-109793" y="1020418"/>
                  <a:pt x="56963" y="453887"/>
                  <a:pt x="80154" y="0"/>
                </a:cubicBezTo>
              </a:path>
            </a:pathLst>
          </a:custGeom>
          <a:noFill/>
          <a:ln w="38100">
            <a:solidFill>
              <a:srgbClr val="C7000B"/>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Oval 4"/>
          <p:cNvSpPr>
            <a:spLocks noChangeAspect="1"/>
          </p:cNvSpPr>
          <p:nvPr/>
        </p:nvSpPr>
        <p:spPr bwMode="gray">
          <a:xfrm>
            <a:off x="2735705" y="3272387"/>
            <a:ext cx="180000" cy="180000"/>
          </a:xfrm>
          <a:prstGeom prst="ellipse">
            <a:avLst/>
          </a:prstGeom>
          <a:solidFill>
            <a:srgbClr val="C7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4"/>
          <p:cNvSpPr>
            <a:spLocks noChangeAspect="1"/>
          </p:cNvSpPr>
          <p:nvPr/>
        </p:nvSpPr>
        <p:spPr bwMode="gray">
          <a:xfrm>
            <a:off x="3573867" y="2929532"/>
            <a:ext cx="180000" cy="180000"/>
          </a:xfrm>
          <a:prstGeom prst="ellipse">
            <a:avLst/>
          </a:prstGeom>
          <a:solidFill>
            <a:srgbClr val="62B23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gray">
          <a:xfrm>
            <a:off x="5563181" y="2810733"/>
            <a:ext cx="6173553" cy="442800"/>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1400" dirty="0">
                <a:solidFill>
                  <a:schemeClr val="tx1"/>
                </a:solidFill>
              </a:rPr>
              <a:t>[Cost(S3-S2) + </a:t>
            </a:r>
            <a:r>
              <a:rPr lang="en-US" altLang="zh-CN" sz="1400" dirty="0">
                <a:solidFill>
                  <a:srgbClr val="C7000B"/>
                </a:solidFill>
              </a:rPr>
              <a:t>Cost(S2-S1) + Cost(S1-R1)</a:t>
            </a:r>
            <a:r>
              <a:rPr lang="en-US" altLang="zh-CN" sz="1400" dirty="0">
                <a:solidFill>
                  <a:schemeClr val="tx1"/>
                </a:solidFill>
              </a:rPr>
              <a:t>] &lt; [Cost(S3-S2) + </a:t>
            </a:r>
            <a:r>
              <a:rPr lang="en-US" altLang="zh-CN" sz="1400" dirty="0">
                <a:solidFill>
                  <a:srgbClr val="C7000B"/>
                </a:solidFill>
              </a:rPr>
              <a:t>Cost(S2-R1)</a:t>
            </a:r>
            <a:r>
              <a:rPr lang="en-US" altLang="zh-CN" sz="1400" dirty="0">
                <a:solidFill>
                  <a:schemeClr val="tx1"/>
                </a:solidFill>
              </a:rPr>
              <a:t>]</a:t>
            </a:r>
            <a:endParaRPr lang="en-US" altLang="zh-CN" sz="1400" dirty="0">
              <a:solidFill>
                <a:schemeClr val="tx1"/>
              </a:solidFill>
            </a:endParaRPr>
          </a:p>
        </p:txBody>
      </p:sp>
      <p:cxnSp>
        <p:nvCxnSpPr>
          <p:cNvPr id="61" name="直接箭头连接符 60"/>
          <p:cNvCxnSpPr/>
          <p:nvPr/>
        </p:nvCxnSpPr>
        <p:spPr bwMode="gray">
          <a:xfrm>
            <a:off x="5030045" y="5740797"/>
            <a:ext cx="1065955" cy="0"/>
          </a:xfrm>
          <a:prstGeom prst="straightConnector1">
            <a:avLst/>
          </a:prstGeom>
          <a:noFill/>
          <a:ln w="38100">
            <a:solidFill>
              <a:srgbClr val="FFD17D"/>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62" name="文本框 61"/>
          <p:cNvSpPr txBox="1"/>
          <p:nvPr/>
        </p:nvSpPr>
        <p:spPr bwMode="gray">
          <a:xfrm>
            <a:off x="4905052" y="5810682"/>
            <a:ext cx="1261884" cy="307777"/>
          </a:xfrm>
          <a:prstGeom prst="rect">
            <a:avLst/>
          </a:prstGeom>
          <a:noFill/>
        </p:spPr>
        <p:txBody>
          <a:bodyPr wrap="none" rtlCol="0">
            <a:spAutoFit/>
          </a:bodyPr>
          <a:lstStyle/>
          <a:p>
            <a:pPr algn="ctr"/>
            <a:r>
              <a:rPr lang="zh-CN" altLang="en-US" sz="1400" dirty="0"/>
              <a:t>财务部数据流</a:t>
            </a:r>
            <a:endParaRPr lang="zh-CN" altLang="en-US" sz="1400" dirty="0"/>
          </a:p>
        </p:txBody>
      </p:sp>
      <p:sp>
        <p:nvSpPr>
          <p:cNvPr id="63" name="文本框 62"/>
          <p:cNvSpPr txBox="1"/>
          <p:nvPr/>
        </p:nvSpPr>
        <p:spPr bwMode="gray">
          <a:xfrm>
            <a:off x="2621157" y="3378906"/>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64" name="文本框 63"/>
          <p:cNvSpPr txBox="1"/>
          <p:nvPr/>
        </p:nvSpPr>
        <p:spPr bwMode="gray">
          <a:xfrm>
            <a:off x="1471156" y="3872472"/>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65" name="文本框 64"/>
          <p:cNvSpPr txBox="1"/>
          <p:nvPr/>
        </p:nvSpPr>
        <p:spPr bwMode="gray">
          <a:xfrm rot="19753892">
            <a:off x="2707208" y="3855395"/>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66" name="文本框 65"/>
          <p:cNvSpPr txBox="1"/>
          <p:nvPr/>
        </p:nvSpPr>
        <p:spPr bwMode="gray">
          <a:xfrm>
            <a:off x="1377063" y="2762019"/>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68" name="文本框 67"/>
          <p:cNvSpPr txBox="1"/>
          <p:nvPr/>
        </p:nvSpPr>
        <p:spPr bwMode="gray">
          <a:xfrm rot="2007044">
            <a:off x="2551822" y="2824404"/>
            <a:ext cx="750526" cy="276999"/>
          </a:xfrm>
          <a:prstGeom prst="rect">
            <a:avLst/>
          </a:prstGeom>
          <a:noFill/>
        </p:spPr>
        <p:txBody>
          <a:bodyPr wrap="none" rtlCol="0">
            <a:spAutoFit/>
          </a:bodyPr>
          <a:lstStyle/>
          <a:p>
            <a:pPr algn="ctr"/>
            <a:r>
              <a:rPr lang="en-US" altLang="zh-CN" sz="1200" dirty="0"/>
              <a:t>Cost=50</a:t>
            </a:r>
            <a:endParaRPr lang="zh-CN" altLang="en-US" sz="1200" dirty="0"/>
          </a:p>
        </p:txBody>
      </p:sp>
      <p:grpSp>
        <p:nvGrpSpPr>
          <p:cNvPr id="49" name="组合 48"/>
          <p:cNvGrpSpPr/>
          <p:nvPr/>
        </p:nvGrpSpPr>
        <p:grpSpPr bwMode="gray">
          <a:xfrm>
            <a:off x="2043773" y="3684683"/>
            <a:ext cx="288000" cy="288000"/>
            <a:chOff x="856677" y="2615810"/>
            <a:chExt cx="288000" cy="288000"/>
          </a:xfrm>
          <a:solidFill>
            <a:srgbClr val="C7000B"/>
          </a:solidFill>
        </p:grpSpPr>
        <p:sp>
          <p:nvSpPr>
            <p:cNvPr id="50" name="椭圆 49"/>
            <p:cNvSpPr/>
            <p:nvPr/>
          </p:nvSpPr>
          <p:spPr bwMode="gray">
            <a:xfrm>
              <a:off x="856677" y="2615810"/>
              <a:ext cx="288000" cy="2880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1" name="组合 50"/>
            <p:cNvGrpSpPr/>
            <p:nvPr/>
          </p:nvGrpSpPr>
          <p:grpSpPr bwMode="gray">
            <a:xfrm>
              <a:off x="923444" y="2692169"/>
              <a:ext cx="144001" cy="144002"/>
              <a:chOff x="898853" y="2657982"/>
              <a:chExt cx="203649" cy="203652"/>
            </a:xfrm>
            <a:grpFill/>
          </p:grpSpPr>
          <p:cxnSp>
            <p:nvCxnSpPr>
              <p:cNvPr id="52" name="直接连接符 51"/>
              <p:cNvCxnSpPr>
                <a:stCxn id="50" idx="3"/>
                <a:endCxn id="50" idx="7"/>
              </p:cNvCxnSpPr>
              <p:nvPr/>
            </p:nvCxnSpPr>
            <p:spPr bwMode="gray">
              <a:xfrm flipV="1">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53" name="直接连接符 52"/>
              <p:cNvCxnSpPr>
                <a:stCxn id="50" idx="1"/>
                <a:endCxn id="50" idx="5"/>
              </p:cNvCxnSpPr>
              <p:nvPr/>
            </p:nvCxnSpPr>
            <p:spPr bwMode="gray">
              <a:xfrm>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
        <p:nvSpPr>
          <p:cNvPr id="70" name="文本框 69"/>
          <p:cNvSpPr txBox="1"/>
          <p:nvPr/>
        </p:nvSpPr>
        <p:spPr bwMode="gray">
          <a:xfrm>
            <a:off x="2621157" y="4395947"/>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76" name="五边形 75"/>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77"/>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81"/>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燕尾形 86"/>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任意多边形 64"/>
          <p:cNvSpPr/>
          <p:nvPr/>
        </p:nvSpPr>
        <p:spPr bwMode="gray">
          <a:xfrm>
            <a:off x="1546538" y="1439803"/>
            <a:ext cx="2931080" cy="84407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任意多边形 156"/>
          <p:cNvSpPr/>
          <p:nvPr/>
        </p:nvSpPr>
        <p:spPr bwMode="gray">
          <a:xfrm>
            <a:off x="1235289" y="4512439"/>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任意多边形 157"/>
          <p:cNvSpPr/>
          <p:nvPr/>
        </p:nvSpPr>
        <p:spPr bwMode="gray">
          <a:xfrm>
            <a:off x="3024997" y="4512439"/>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bwMode="gray">
          <a:xfrm>
            <a:off x="1381717" y="2339112"/>
            <a:ext cx="3275578" cy="207250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bwMode="gray"/>
        <p:txBody>
          <a:bodyPr/>
          <a:lstStyle/>
          <a:p>
            <a:r>
              <a:rPr lang="en-US" altLang="zh-CN"/>
              <a:t>OSPF</a:t>
            </a:r>
            <a:r>
              <a:rPr lang="zh-CN" altLang="en-US"/>
              <a:t>路由控制案例主要配置 </a:t>
            </a:r>
            <a:r>
              <a:rPr lang="en-US" altLang="zh-CN"/>
              <a:t>(1)</a:t>
            </a:r>
            <a:endParaRPr lang="zh-CN" altLang="en-US" dirty="0"/>
          </a:p>
        </p:txBody>
      </p:sp>
      <p:sp>
        <p:nvSpPr>
          <p:cNvPr id="40" name="文本占位符 39"/>
          <p:cNvSpPr>
            <a:spLocks noGrp="1"/>
          </p:cNvSpPr>
          <p:nvPr>
            <p:ph type="body" sz="quarter" idx="4294967295"/>
          </p:nvPr>
        </p:nvSpPr>
        <p:spPr bwMode="gray">
          <a:xfrm>
            <a:off x="6076950" y="1233488"/>
            <a:ext cx="5672137" cy="477837"/>
          </a:xfrm>
        </p:spPr>
        <p:txBody>
          <a:bodyPr/>
          <a:lstStyle/>
          <a:p>
            <a:pPr marL="0" indent="0">
              <a:buNone/>
            </a:pPr>
            <a:r>
              <a:rPr lang="en-US" altLang="zh-CN" sz="1600" dirty="0"/>
              <a:t>R1</a:t>
            </a:r>
            <a:r>
              <a:rPr lang="zh-CN" altLang="en-US" sz="1600" dirty="0"/>
              <a:t>部署路由策略应用开销值</a:t>
            </a:r>
            <a:r>
              <a:rPr lang="en-US" altLang="zh-CN" sz="1600" dirty="0"/>
              <a:t>100</a:t>
            </a:r>
            <a:r>
              <a:rPr lang="zh-CN" altLang="en-US" sz="1600" dirty="0"/>
              <a:t>：</a:t>
            </a:r>
            <a:endParaRPr lang="en-US" altLang="zh-CN" sz="1600" dirty="0"/>
          </a:p>
        </p:txBody>
      </p:sp>
      <p:grpSp>
        <p:nvGrpSpPr>
          <p:cNvPr id="37" name="组合 36"/>
          <p:cNvGrpSpPr/>
          <p:nvPr/>
        </p:nvGrpSpPr>
        <p:grpSpPr bwMode="gray">
          <a:xfrm>
            <a:off x="421436" y="1021510"/>
            <a:ext cx="5043160" cy="5146690"/>
            <a:chOff x="421436" y="1285464"/>
            <a:chExt cx="5043160" cy="5146690"/>
          </a:xfrm>
        </p:grpSpPr>
        <p:cxnSp>
          <p:nvCxnSpPr>
            <p:cNvPr id="4" name="直接连接符 3"/>
            <p:cNvCxnSpPr>
              <a:endCxn id="57" idx="2"/>
            </p:cNvCxnSpPr>
            <p:nvPr/>
          </p:nvCxnSpPr>
          <p:spPr bwMode="gray">
            <a:xfrm flipV="1">
              <a:off x="2177479" y="4885523"/>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885523"/>
              <a:ext cx="0" cy="3530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675111"/>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646333"/>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683093"/>
              <a:ext cx="1543432" cy="9810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679825"/>
              <a:ext cx="1564021" cy="10032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679927"/>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453711"/>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442723"/>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453711"/>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442723"/>
              <a:ext cx="540000" cy="442800"/>
            </a:xfrm>
            <a:prstGeom prst="rect">
              <a:avLst/>
            </a:prstGeom>
          </p:spPr>
        </p:pic>
        <p:cxnSp>
          <p:nvCxnSpPr>
            <p:cNvPr id="97" name="直接连接符 96"/>
            <p:cNvCxnSpPr>
              <a:stCxn id="81" idx="1"/>
              <a:endCxn id="57" idx="3"/>
            </p:cNvCxnSpPr>
            <p:nvPr/>
          </p:nvCxnSpPr>
          <p:spPr bwMode="gray">
            <a:xfrm flipH="1">
              <a:off x="2468067" y="4664123"/>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481556"/>
              <a:ext cx="715260" cy="523220"/>
            </a:xfrm>
            <a:prstGeom prst="rect">
              <a:avLst/>
            </a:prstGeom>
            <a:noFill/>
          </p:spPr>
          <p:txBody>
            <a:bodyPr wrap="none" rtlCol="0">
              <a:spAutoFit/>
            </a:bodyPr>
            <a:lstStyle/>
            <a:p>
              <a:pPr algn="ctr"/>
              <a:r>
                <a:rPr lang="zh-CN" altLang="en-US" sz="1400" dirty="0"/>
                <a:t>汇聚</a:t>
              </a:r>
              <a:r>
                <a:rPr lang="en-US" altLang="zh-CN" sz="1400" dirty="0"/>
                <a:t>-1</a:t>
              </a:r>
              <a:endParaRPr lang="en-US" altLang="zh-CN" sz="1400" dirty="0"/>
            </a:p>
            <a:p>
              <a:pPr algn="ctr"/>
              <a:r>
                <a:rPr lang="en-US" altLang="zh-CN" sz="1400" dirty="0"/>
                <a:t>S3</a:t>
              </a:r>
              <a:endParaRPr lang="zh-CN" altLang="en-US" sz="1400" dirty="0"/>
            </a:p>
          </p:txBody>
        </p:sp>
        <p:sp>
          <p:nvSpPr>
            <p:cNvPr id="104" name="Freeform 159"/>
            <p:cNvSpPr/>
            <p:nvPr/>
          </p:nvSpPr>
          <p:spPr bwMode="gray">
            <a:xfrm flipH="1">
              <a:off x="1594177"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2048127"/>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2049228"/>
              <a:ext cx="1140811" cy="620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extLst>
                <a:ext uri="{28A0092B-C50C-407E-A947-70E740481C1C}">
                  <a14:useLocalDpi xmlns:a14="http://schemas.microsoft.com/office/drawing/2010/main" val="0"/>
                </a:ext>
              </a:extLst>
            </a:blip>
            <a:stretch>
              <a:fillRect/>
            </a:stretch>
          </p:blipFill>
          <p:spPr bwMode="gray">
            <a:xfrm>
              <a:off x="1928067" y="2464699"/>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464699"/>
              <a:ext cx="540000" cy="442800"/>
            </a:xfrm>
            <a:prstGeom prst="rect">
              <a:avLst/>
            </a:prstGeom>
          </p:spPr>
        </p:pic>
        <p:sp>
          <p:nvSpPr>
            <p:cNvPr id="120" name="Freeform 159"/>
            <p:cNvSpPr/>
            <p:nvPr/>
          </p:nvSpPr>
          <p:spPr bwMode="gray">
            <a:xfrm flipH="1">
              <a:off x="1594177"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285464"/>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466341"/>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5210334"/>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466341"/>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5210334"/>
              <a:ext cx="539063" cy="414000"/>
            </a:xfrm>
            <a:prstGeom prst="rect">
              <a:avLst/>
            </a:prstGeom>
          </p:spPr>
        </p:pic>
        <p:sp>
          <p:nvSpPr>
            <p:cNvPr id="137" name="文本框 136"/>
            <p:cNvSpPr txBox="1"/>
            <p:nvPr/>
          </p:nvSpPr>
          <p:spPr bwMode="gray">
            <a:xfrm>
              <a:off x="1636305" y="5908934"/>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908934"/>
              <a:ext cx="1082348" cy="523220"/>
            </a:xfrm>
            <a:prstGeom prst="rect">
              <a:avLst/>
            </a:prstGeom>
            <a:noFill/>
          </p:spPr>
          <p:txBody>
            <a:bodyPr wrap="none" rtlCol="0">
              <a:spAutoFit/>
            </a:bodyPr>
            <a:lstStyle/>
            <a:p>
              <a:pPr algn="ctr"/>
              <a:r>
                <a:rPr lang="zh-CN" altLang="en-US" sz="1400" dirty="0"/>
                <a:t>市场部网络</a:t>
              </a:r>
              <a:endParaRPr lang="en-US" altLang="zh-CN" sz="1400" dirty="0"/>
            </a:p>
            <a:p>
              <a:pPr algn="ctr"/>
              <a:r>
                <a:rPr lang="zh-CN" altLang="en-US" sz="1400" dirty="0"/>
                <a:t>客户端</a:t>
              </a:r>
              <a:endParaRPr lang="zh-CN" altLang="en-US" sz="1400" dirty="0"/>
            </a:p>
          </p:txBody>
        </p:sp>
        <p:sp>
          <p:nvSpPr>
            <p:cNvPr id="140" name="文本框 139"/>
            <p:cNvSpPr txBox="1"/>
            <p:nvPr/>
          </p:nvSpPr>
          <p:spPr bwMode="gray">
            <a:xfrm>
              <a:off x="1546538" y="1725143"/>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extLst>
                <a:ext uri="{28A0092B-C50C-407E-A947-70E740481C1C}">
                  <a14:useLocalDpi xmlns:a14="http://schemas.microsoft.com/office/drawing/2010/main" val="0"/>
                </a:ext>
              </a:extLst>
            </a:blip>
            <a:stretch>
              <a:fillRect/>
            </a:stretch>
          </p:blipFill>
          <p:spPr bwMode="gray">
            <a:xfrm>
              <a:off x="3456286" y="1285464"/>
              <a:ext cx="540000" cy="442800"/>
            </a:xfrm>
            <a:prstGeom prst="rect">
              <a:avLst/>
            </a:prstGeom>
          </p:spPr>
        </p:pic>
        <p:sp>
          <p:nvSpPr>
            <p:cNvPr id="146" name="文本框 145"/>
            <p:cNvSpPr txBox="1"/>
            <p:nvPr/>
          </p:nvSpPr>
          <p:spPr bwMode="gray">
            <a:xfrm>
              <a:off x="3095345" y="1725143"/>
              <a:ext cx="1261884" cy="307777"/>
            </a:xfrm>
            <a:prstGeom prst="rect">
              <a:avLst/>
            </a:prstGeom>
            <a:noFill/>
          </p:spPr>
          <p:txBody>
            <a:bodyPr wrap="none" rtlCol="0">
              <a:spAutoFit/>
            </a:bodyPr>
            <a:lstStyle/>
            <a:p>
              <a:pPr algn="ctr"/>
              <a:r>
                <a:rPr lang="zh-CN" altLang="en-US" sz="1400" dirty="0"/>
                <a:t>市场部服务器</a:t>
              </a:r>
              <a:endParaRPr lang="en-US" altLang="zh-CN" sz="1400" dirty="0"/>
            </a:p>
          </p:txBody>
        </p:sp>
        <p:sp>
          <p:nvSpPr>
            <p:cNvPr id="151" name="文本框 150"/>
            <p:cNvSpPr txBox="1"/>
            <p:nvPr/>
          </p:nvSpPr>
          <p:spPr bwMode="gray">
            <a:xfrm>
              <a:off x="1278676" y="3521222"/>
              <a:ext cx="715260" cy="523220"/>
            </a:xfrm>
            <a:prstGeom prst="rect">
              <a:avLst/>
            </a:prstGeom>
            <a:noFill/>
          </p:spPr>
          <p:txBody>
            <a:bodyPr wrap="none" rtlCol="0">
              <a:spAutoFit/>
            </a:bodyPr>
            <a:lstStyle/>
            <a:p>
              <a:pPr algn="ctr"/>
              <a:r>
                <a:rPr lang="zh-CN" altLang="en-US" sz="1400" dirty="0"/>
                <a:t>核心</a:t>
              </a:r>
              <a:r>
                <a:rPr lang="en-US" altLang="zh-CN" sz="1400" dirty="0"/>
                <a:t>-1</a:t>
              </a:r>
              <a:endParaRPr lang="en-US" altLang="zh-CN" sz="1400" dirty="0"/>
            </a:p>
            <a:p>
              <a:pPr algn="ctr"/>
              <a:r>
                <a:rPr lang="en-US" altLang="zh-CN" sz="1400" dirty="0"/>
                <a:t>S1</a:t>
              </a:r>
              <a:endParaRPr lang="zh-CN" altLang="en-US" sz="1400" dirty="0"/>
            </a:p>
          </p:txBody>
        </p:sp>
        <p:sp>
          <p:nvSpPr>
            <p:cNvPr id="153" name="文本框 152"/>
            <p:cNvSpPr txBox="1"/>
            <p:nvPr/>
          </p:nvSpPr>
          <p:spPr bwMode="gray">
            <a:xfrm>
              <a:off x="1278676" y="2532210"/>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54" name="文本框 153"/>
            <p:cNvSpPr txBox="1"/>
            <p:nvPr/>
          </p:nvSpPr>
          <p:spPr bwMode="gray">
            <a:xfrm>
              <a:off x="3942035" y="4481556"/>
              <a:ext cx="715260" cy="523220"/>
            </a:xfrm>
            <a:prstGeom prst="rect">
              <a:avLst/>
            </a:prstGeom>
            <a:noFill/>
          </p:spPr>
          <p:txBody>
            <a:bodyPr wrap="none" rtlCol="0">
              <a:spAutoFit/>
            </a:bodyPr>
            <a:lstStyle/>
            <a:p>
              <a:pPr algn="ctr"/>
              <a:r>
                <a:rPr lang="zh-CN" altLang="en-US" sz="1400" dirty="0"/>
                <a:t>汇聚</a:t>
              </a:r>
              <a:r>
                <a:rPr lang="en-US" altLang="zh-CN" sz="1400" dirty="0"/>
                <a:t>-2</a:t>
              </a:r>
              <a:endParaRPr lang="en-US" altLang="zh-CN" sz="1400" dirty="0"/>
            </a:p>
            <a:p>
              <a:pPr algn="ctr"/>
              <a:r>
                <a:rPr lang="en-US" altLang="zh-CN" sz="1400" dirty="0"/>
                <a:t>S4</a:t>
              </a:r>
              <a:endParaRPr lang="zh-CN" altLang="en-US" sz="1400" dirty="0"/>
            </a:p>
          </p:txBody>
        </p:sp>
        <p:sp>
          <p:nvSpPr>
            <p:cNvPr id="155" name="文本框 154"/>
            <p:cNvSpPr txBox="1"/>
            <p:nvPr/>
          </p:nvSpPr>
          <p:spPr bwMode="gray">
            <a:xfrm>
              <a:off x="3942035" y="3521222"/>
              <a:ext cx="715260" cy="523220"/>
            </a:xfrm>
            <a:prstGeom prst="rect">
              <a:avLst/>
            </a:prstGeom>
            <a:noFill/>
          </p:spPr>
          <p:txBody>
            <a:bodyPr wrap="none" rtlCol="0">
              <a:spAutoFit/>
            </a:bodyPr>
            <a:lstStyle/>
            <a:p>
              <a:pPr algn="ctr"/>
              <a:r>
                <a:rPr lang="zh-CN" altLang="en-US" sz="1400" dirty="0"/>
                <a:t>核心</a:t>
              </a:r>
              <a:r>
                <a:rPr lang="en-US" altLang="zh-CN" sz="1400" dirty="0"/>
                <a:t>-2</a:t>
              </a:r>
              <a:endParaRPr lang="en-US" altLang="zh-CN" sz="1400" dirty="0"/>
            </a:p>
            <a:p>
              <a:pPr algn="ctr"/>
              <a:r>
                <a:rPr lang="en-US" altLang="zh-CN" sz="1400" dirty="0"/>
                <a:t>S2</a:t>
              </a:r>
              <a:endParaRPr lang="zh-CN" altLang="en-US" sz="1400" dirty="0"/>
            </a:p>
          </p:txBody>
        </p:sp>
        <p:sp>
          <p:nvSpPr>
            <p:cNvPr id="156" name="文本框 155"/>
            <p:cNvSpPr txBox="1"/>
            <p:nvPr/>
          </p:nvSpPr>
          <p:spPr bwMode="gray">
            <a:xfrm>
              <a:off x="3942035" y="2532210"/>
              <a:ext cx="715260" cy="523220"/>
            </a:xfrm>
            <a:prstGeom prst="rect">
              <a:avLst/>
            </a:prstGeom>
            <a:noFill/>
          </p:spPr>
          <p:txBody>
            <a:bodyPr wrap="none" rtlCol="0">
              <a:spAutoFit/>
            </a:bodyPr>
            <a:lstStyle/>
            <a:p>
              <a:pPr algn="ctr"/>
              <a:r>
                <a:rPr lang="zh-CN" altLang="en-US" sz="1400" dirty="0"/>
                <a:t>边界</a:t>
              </a:r>
              <a:r>
                <a:rPr lang="en-US" altLang="zh-CN" sz="1400" dirty="0"/>
                <a:t>-2</a:t>
              </a:r>
              <a:endParaRPr lang="en-US" altLang="zh-CN" sz="1400" dirty="0"/>
            </a:p>
            <a:p>
              <a:pPr algn="ctr"/>
              <a:r>
                <a:rPr lang="en-US" altLang="zh-CN" sz="1400" dirty="0"/>
                <a:t>R2</a:t>
              </a:r>
              <a:endParaRPr lang="zh-CN" altLang="en-US" sz="1400" dirty="0"/>
            </a:p>
          </p:txBody>
        </p:sp>
        <p:sp>
          <p:nvSpPr>
            <p:cNvPr id="60" name="文本框 59"/>
            <p:cNvSpPr txBox="1"/>
            <p:nvPr/>
          </p:nvSpPr>
          <p:spPr bwMode="gray">
            <a:xfrm>
              <a:off x="421436" y="1403069"/>
              <a:ext cx="1545616" cy="307777"/>
            </a:xfrm>
            <a:prstGeom prst="rect">
              <a:avLst/>
            </a:prstGeom>
            <a:noFill/>
          </p:spPr>
          <p:txBody>
            <a:bodyPr wrap="none" rtlCol="0">
              <a:spAutoFit/>
            </a:bodyPr>
            <a:lstStyle/>
            <a:p>
              <a:pPr algn="ctr"/>
              <a:r>
                <a:rPr lang="en-US" altLang="zh-CN" sz="1400" b="1" dirty="0"/>
                <a:t>192.168.10.0/24</a:t>
              </a:r>
              <a:endParaRPr lang="en-US" altLang="zh-CN" sz="1400" b="1" dirty="0"/>
            </a:p>
          </p:txBody>
        </p:sp>
        <p:sp>
          <p:nvSpPr>
            <p:cNvPr id="61" name="文本框 60"/>
            <p:cNvSpPr txBox="1"/>
            <p:nvPr/>
          </p:nvSpPr>
          <p:spPr bwMode="gray">
            <a:xfrm>
              <a:off x="3918980" y="1403069"/>
              <a:ext cx="1545616" cy="307777"/>
            </a:xfrm>
            <a:prstGeom prst="rect">
              <a:avLst/>
            </a:prstGeom>
            <a:noFill/>
          </p:spPr>
          <p:txBody>
            <a:bodyPr wrap="none" rtlCol="0">
              <a:spAutoFit/>
            </a:bodyPr>
            <a:lstStyle/>
            <a:p>
              <a:pPr algn="ctr"/>
              <a:r>
                <a:rPr lang="en-US" altLang="zh-CN" sz="1400" b="1" dirty="0"/>
                <a:t>192.168.20.0/24</a:t>
              </a:r>
              <a:endParaRPr lang="en-US" altLang="zh-CN" sz="1400" b="1" dirty="0"/>
            </a:p>
          </p:txBody>
        </p:sp>
      </p:grpSp>
      <p:sp>
        <p:nvSpPr>
          <p:cNvPr id="62" name="文本框 32"/>
          <p:cNvSpPr txBox="1"/>
          <p:nvPr/>
        </p:nvSpPr>
        <p:spPr bwMode="gray">
          <a:xfrm>
            <a:off x="6104766" y="1699171"/>
            <a:ext cx="5649913" cy="2246769"/>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acl</a:t>
            </a:r>
            <a:r>
              <a:rPr lang="en-US" altLang="zh-CN" sz="1400" dirty="0">
                <a:solidFill>
                  <a:prstClr val="black"/>
                </a:solidFill>
                <a:cs typeface="Courier New" panose="02070309020205020404" pitchFamily="49" charset="0"/>
              </a:rPr>
              <a:t> 2000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[R1-acl-basic-2000] rule permit source 192.168.10.0 0.0.0.255</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[R1-acl-basic-2000] quit</a:t>
            </a:r>
            <a:endParaRPr lang="en-US" altLang="zh-CN" sz="1400" dirty="0">
              <a:solidFill>
                <a:prstClr val="black"/>
              </a:solidFill>
              <a:cs typeface="Courier New" panose="02070309020205020404" pitchFamily="49" charset="0"/>
            </a:endParaRP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 route-policy static2ospf permit node 10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[R1-route-policy] if-match </a:t>
            </a:r>
            <a:r>
              <a:rPr lang="en-US" altLang="zh-CN" sz="1400" dirty="0" err="1">
                <a:solidFill>
                  <a:prstClr val="black"/>
                </a:solidFill>
                <a:cs typeface="Courier New" panose="02070309020205020404" pitchFamily="49" charset="0"/>
              </a:rPr>
              <a:t>acl</a:t>
            </a:r>
            <a:r>
              <a:rPr lang="en-US" altLang="zh-CN" sz="1400" dirty="0">
                <a:solidFill>
                  <a:prstClr val="black"/>
                </a:solidFill>
                <a:cs typeface="Courier New" panose="02070309020205020404" pitchFamily="49" charset="0"/>
              </a:rPr>
              <a:t> 2000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[R1-route-policy] </a:t>
            </a:r>
            <a:r>
              <a:rPr lang="en-US" altLang="zh-CN" sz="1400" dirty="0">
                <a:solidFill>
                  <a:srgbClr val="C7000B"/>
                </a:solidFill>
                <a:cs typeface="Courier New" panose="02070309020205020404" pitchFamily="49" charset="0"/>
              </a:rPr>
              <a:t>apply cost 100</a:t>
            </a:r>
            <a:endParaRPr lang="en-US" altLang="zh-CN" sz="1400" dirty="0">
              <a:solidFill>
                <a:srgbClr val="C7000B"/>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[R1-route-policy] quit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 route-policy static2ospf permit node 20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[R1-route-policy] quit</a:t>
            </a:r>
            <a:endParaRPr lang="en-US" altLang="zh-CN" sz="1400" dirty="0">
              <a:solidFill>
                <a:prstClr val="black"/>
              </a:solidFill>
              <a:cs typeface="Courier New" panose="02070309020205020404" pitchFamily="49" charset="0"/>
            </a:endParaRPr>
          </a:p>
        </p:txBody>
      </p:sp>
      <p:sp>
        <p:nvSpPr>
          <p:cNvPr id="64" name="文本框 32"/>
          <p:cNvSpPr txBox="1"/>
          <p:nvPr/>
        </p:nvSpPr>
        <p:spPr bwMode="gray">
          <a:xfrm>
            <a:off x="6104766" y="4398710"/>
            <a:ext cx="5649913"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 import-route static route-policy static2ospf type 2</a:t>
            </a:r>
            <a:endParaRPr lang="en-US" altLang="zh-CN" sz="1400" dirty="0">
              <a:solidFill>
                <a:prstClr val="black"/>
              </a:solidFill>
              <a:cs typeface="Courier New" panose="02070309020205020404" pitchFamily="49" charset="0"/>
            </a:endParaRPr>
          </a:p>
        </p:txBody>
      </p:sp>
      <p:sp>
        <p:nvSpPr>
          <p:cNvPr id="70" name="文本占位符 39"/>
          <p:cNvSpPr txBox="1"/>
          <p:nvPr/>
        </p:nvSpPr>
        <p:spPr bwMode="gray">
          <a:xfrm>
            <a:off x="6076950" y="4004852"/>
            <a:ext cx="5670913" cy="477358"/>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R1</a:t>
            </a:r>
            <a:r>
              <a:rPr lang="zh-CN" altLang="en-US" sz="1600" dirty="0"/>
              <a:t>在</a:t>
            </a:r>
            <a:r>
              <a:rPr lang="en-US" altLang="zh-CN" sz="1600" dirty="0"/>
              <a:t>OSPF</a:t>
            </a:r>
            <a:r>
              <a:rPr lang="zh-CN" altLang="en-US" sz="1600" dirty="0"/>
              <a:t>进程中引入静态路由：</a:t>
            </a:r>
            <a:endParaRPr lang="en-US" altLang="zh-CN" sz="1600" dirty="0"/>
          </a:p>
        </p:txBody>
      </p:sp>
      <p:sp>
        <p:nvSpPr>
          <p:cNvPr id="75" name="五边形 74"/>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燕尾形 77"/>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燕尾形 81"/>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Freeform 3"/>
          <p:cNvSpPr/>
          <p:nvPr/>
        </p:nvSpPr>
        <p:spPr bwMode="gray">
          <a:xfrm rot="691934">
            <a:off x="1805529" y="1974425"/>
            <a:ext cx="411937" cy="3869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C7000B"/>
          </a:solidFill>
          <a:ln w="19050">
            <a:no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Freeform 3"/>
          <p:cNvSpPr/>
          <p:nvPr/>
        </p:nvSpPr>
        <p:spPr bwMode="gray">
          <a:xfrm rot="20908066" flipH="1">
            <a:off x="3730870" y="1990409"/>
            <a:ext cx="411937" cy="3869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C7000B"/>
          </a:solidFill>
          <a:ln w="19050">
            <a:no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bwMode="gray">
          <a:xfrm>
            <a:off x="630822" y="1729330"/>
            <a:ext cx="1108757" cy="560457"/>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rPr>
              <a:t>引入财务路由</a:t>
            </a:r>
            <a:endParaRPr lang="en-US" altLang="zh-CN" sz="1200" dirty="0">
              <a:solidFill>
                <a:schemeClr val="tx1"/>
              </a:solidFill>
            </a:endParaRPr>
          </a:p>
          <a:p>
            <a:r>
              <a:rPr lang="zh-CN" altLang="en-US" sz="1200" dirty="0">
                <a:solidFill>
                  <a:schemeClr val="tx1"/>
                </a:solidFill>
              </a:rPr>
              <a:t>类型：</a:t>
            </a:r>
            <a:r>
              <a:rPr lang="en-US" altLang="zh-CN" sz="1200" dirty="0">
                <a:solidFill>
                  <a:schemeClr val="tx1"/>
                </a:solidFill>
              </a:rPr>
              <a:t>Type2</a:t>
            </a:r>
            <a:endParaRPr lang="en-US" altLang="zh-CN" sz="1200" dirty="0">
              <a:solidFill>
                <a:schemeClr val="tx1"/>
              </a:solidFill>
            </a:endParaRPr>
          </a:p>
          <a:p>
            <a:r>
              <a:rPr lang="en-US" altLang="zh-CN" sz="1200" dirty="0">
                <a:solidFill>
                  <a:schemeClr val="tx1"/>
                </a:solidFill>
              </a:rPr>
              <a:t>Cost</a:t>
            </a:r>
            <a:r>
              <a:rPr lang="zh-CN" altLang="en-US" sz="1200" dirty="0">
                <a:solidFill>
                  <a:schemeClr val="tx1"/>
                </a:solidFill>
              </a:rPr>
              <a:t>：</a:t>
            </a:r>
            <a:r>
              <a:rPr lang="en-US" altLang="zh-CN" sz="1200" dirty="0">
                <a:solidFill>
                  <a:schemeClr val="tx1"/>
                </a:solidFill>
              </a:rPr>
              <a:t>100</a:t>
            </a:r>
            <a:endParaRPr lang="zh-CN" altLang="en-US" sz="1200" dirty="0">
              <a:solidFill>
                <a:schemeClr val="tx1"/>
              </a:solidFill>
            </a:endParaRPr>
          </a:p>
        </p:txBody>
      </p:sp>
      <p:sp>
        <p:nvSpPr>
          <p:cNvPr id="101" name="矩形 100"/>
          <p:cNvSpPr/>
          <p:nvPr/>
        </p:nvSpPr>
        <p:spPr bwMode="gray">
          <a:xfrm>
            <a:off x="4187255" y="1729330"/>
            <a:ext cx="1108757" cy="560457"/>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rPr>
              <a:t>引入财务路由</a:t>
            </a:r>
            <a:endParaRPr lang="en-US" altLang="zh-CN" sz="1200" dirty="0">
              <a:solidFill>
                <a:schemeClr val="tx1"/>
              </a:solidFill>
            </a:endParaRPr>
          </a:p>
          <a:p>
            <a:r>
              <a:rPr lang="zh-CN" altLang="en-US" sz="1200" dirty="0">
                <a:solidFill>
                  <a:schemeClr val="tx1"/>
                </a:solidFill>
              </a:rPr>
              <a:t>类型：</a:t>
            </a:r>
            <a:r>
              <a:rPr lang="en-US" altLang="zh-CN" sz="1200" dirty="0">
                <a:solidFill>
                  <a:schemeClr val="tx1"/>
                </a:solidFill>
              </a:rPr>
              <a:t>Type2</a:t>
            </a:r>
            <a:endParaRPr lang="en-US" altLang="zh-CN" sz="1200" dirty="0">
              <a:solidFill>
                <a:schemeClr val="tx1"/>
              </a:solidFill>
            </a:endParaRPr>
          </a:p>
          <a:p>
            <a:r>
              <a:rPr lang="en-US" altLang="zh-CN" sz="1200" dirty="0">
                <a:solidFill>
                  <a:schemeClr val="tx1"/>
                </a:solidFill>
              </a:rPr>
              <a:t>Cost</a:t>
            </a:r>
            <a:r>
              <a:rPr lang="zh-CN" altLang="en-US" sz="1200" dirty="0">
                <a:solidFill>
                  <a:schemeClr val="tx1"/>
                </a:solidFill>
              </a:rPr>
              <a:t>：</a:t>
            </a:r>
            <a:r>
              <a:rPr lang="en-US" altLang="zh-CN" sz="1200" dirty="0">
                <a:solidFill>
                  <a:schemeClr val="tx1"/>
                </a:solidFill>
              </a:rPr>
              <a:t>200</a:t>
            </a:r>
            <a:endParaRPr lang="zh-CN" altLang="en-US" sz="1200" dirty="0">
              <a:solidFill>
                <a:schemeClr val="tx1"/>
              </a:solidFill>
            </a:endParaRPr>
          </a:p>
        </p:txBody>
      </p:sp>
      <p:sp>
        <p:nvSpPr>
          <p:cNvPr id="102" name="文本框 101"/>
          <p:cNvSpPr txBox="1"/>
          <p:nvPr/>
        </p:nvSpPr>
        <p:spPr bwMode="gray">
          <a:xfrm>
            <a:off x="2620856" y="2954399"/>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Area0</a:t>
            </a:r>
            <a:endParaRPr lang="en-US" altLang="zh-CN" sz="1400" b="1" dirty="0">
              <a:solidFill>
                <a:srgbClr val="C7000B"/>
              </a:solidFill>
            </a:endParaRPr>
          </a:p>
        </p:txBody>
      </p:sp>
      <p:sp>
        <p:nvSpPr>
          <p:cNvPr id="107" name="文本框 106"/>
          <p:cNvSpPr txBox="1"/>
          <p:nvPr/>
        </p:nvSpPr>
        <p:spPr bwMode="gray">
          <a:xfrm>
            <a:off x="1414595" y="4631820"/>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Area1</a:t>
            </a:r>
            <a:endParaRPr lang="en-US" altLang="zh-CN" sz="1400" b="1" dirty="0">
              <a:solidFill>
                <a:srgbClr val="C7000B"/>
              </a:solidFill>
            </a:endParaRPr>
          </a:p>
        </p:txBody>
      </p:sp>
      <p:sp>
        <p:nvSpPr>
          <p:cNvPr id="108" name="文本框 107"/>
          <p:cNvSpPr txBox="1"/>
          <p:nvPr/>
        </p:nvSpPr>
        <p:spPr bwMode="gray">
          <a:xfrm>
            <a:off x="3088389" y="4631820"/>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Area2</a:t>
            </a:r>
            <a:endParaRPr lang="en-US" altLang="zh-CN" sz="1400" b="1" dirty="0">
              <a:solidFill>
                <a:srgbClr val="C7000B"/>
              </a:solidFill>
            </a:endParaRPr>
          </a:p>
        </p:txBody>
      </p:sp>
      <p:sp>
        <p:nvSpPr>
          <p:cNvPr id="111" name="文本框 110"/>
          <p:cNvSpPr txBox="1"/>
          <p:nvPr/>
        </p:nvSpPr>
        <p:spPr bwMode="gray">
          <a:xfrm>
            <a:off x="2510048" y="2063807"/>
            <a:ext cx="902811" cy="307777"/>
          </a:xfrm>
          <a:prstGeom prst="rect">
            <a:avLst/>
          </a:prstGeom>
          <a:noFill/>
        </p:spPr>
        <p:txBody>
          <a:bodyPr wrap="none" rtlCol="0">
            <a:spAutoFit/>
          </a:bodyPr>
          <a:lstStyle/>
          <a:p>
            <a:pPr algn="ctr"/>
            <a:r>
              <a:rPr lang="zh-CN" altLang="en-US" sz="1400" b="1" dirty="0">
                <a:solidFill>
                  <a:srgbClr val="C7000B"/>
                </a:solidFill>
              </a:rPr>
              <a:t>静态路由</a:t>
            </a:r>
            <a:endParaRPr lang="en-US" altLang="zh-CN" sz="1400" b="1" dirty="0">
              <a:solidFill>
                <a:srgbClr val="C7000B"/>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a:t>OSPF</a:t>
            </a:r>
            <a:r>
              <a:rPr lang="zh-CN" altLang="en-US"/>
              <a:t>路由控制案例主要配置 </a:t>
            </a:r>
            <a:r>
              <a:rPr lang="en-US" altLang="zh-CN"/>
              <a:t>(2)</a:t>
            </a:r>
            <a:endParaRPr lang="zh-CN" altLang="en-US" dirty="0"/>
          </a:p>
        </p:txBody>
      </p:sp>
      <p:sp>
        <p:nvSpPr>
          <p:cNvPr id="40" name="文本占位符 39"/>
          <p:cNvSpPr>
            <a:spLocks noGrp="1"/>
          </p:cNvSpPr>
          <p:nvPr>
            <p:ph type="body" sz="quarter" idx="4294967295"/>
          </p:nvPr>
        </p:nvSpPr>
        <p:spPr bwMode="gray">
          <a:xfrm>
            <a:off x="6074419" y="1233488"/>
            <a:ext cx="5672137" cy="477837"/>
          </a:xfrm>
        </p:spPr>
        <p:txBody>
          <a:bodyPr/>
          <a:lstStyle/>
          <a:p>
            <a:pPr marL="0" indent="0">
              <a:buNone/>
            </a:pPr>
            <a:r>
              <a:rPr lang="en-US" altLang="zh-CN" sz="1600" dirty="0"/>
              <a:t>R2</a:t>
            </a:r>
            <a:r>
              <a:rPr lang="zh-CN" altLang="en-US" sz="1600" dirty="0"/>
              <a:t>部署路由策略应用开销值</a:t>
            </a:r>
            <a:r>
              <a:rPr lang="en-US" altLang="zh-CN" sz="1600" dirty="0"/>
              <a:t>200</a:t>
            </a:r>
            <a:r>
              <a:rPr lang="zh-CN" altLang="en-US" sz="1600" dirty="0"/>
              <a:t>：</a:t>
            </a:r>
            <a:endParaRPr lang="en-US" altLang="zh-CN" sz="1600" dirty="0"/>
          </a:p>
        </p:txBody>
      </p:sp>
      <p:sp>
        <p:nvSpPr>
          <p:cNvPr id="62" name="文本框 32"/>
          <p:cNvSpPr txBox="1"/>
          <p:nvPr/>
        </p:nvSpPr>
        <p:spPr bwMode="gray">
          <a:xfrm>
            <a:off x="6104766" y="1699171"/>
            <a:ext cx="5649913" cy="2246769"/>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acl</a:t>
            </a:r>
            <a:r>
              <a:rPr lang="en-US" altLang="zh-CN" sz="1400" dirty="0">
                <a:solidFill>
                  <a:prstClr val="black"/>
                </a:solidFill>
                <a:cs typeface="Courier New" panose="02070309020205020404" pitchFamily="49" charset="0"/>
              </a:rPr>
              <a:t> 2000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[R2-acl-basic-2000] rule permit source 192.168.10.0 0.0.0.255</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[R2-acl-basic-2000] quit</a:t>
            </a:r>
            <a:endParaRPr lang="en-US" altLang="zh-CN" sz="1400" dirty="0">
              <a:solidFill>
                <a:prstClr val="black"/>
              </a:solidFill>
              <a:cs typeface="Courier New" panose="02070309020205020404" pitchFamily="49" charset="0"/>
            </a:endParaRP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 route-policy static2ospf permit node 10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[R2-route-policy] if-match </a:t>
            </a:r>
            <a:r>
              <a:rPr lang="en-US" altLang="zh-CN" sz="1400" dirty="0" err="1">
                <a:solidFill>
                  <a:prstClr val="black"/>
                </a:solidFill>
                <a:cs typeface="Courier New" panose="02070309020205020404" pitchFamily="49" charset="0"/>
              </a:rPr>
              <a:t>acl</a:t>
            </a:r>
            <a:r>
              <a:rPr lang="en-US" altLang="zh-CN" sz="1400" dirty="0">
                <a:solidFill>
                  <a:prstClr val="black"/>
                </a:solidFill>
                <a:cs typeface="Courier New" panose="02070309020205020404" pitchFamily="49" charset="0"/>
              </a:rPr>
              <a:t> 2000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[R2-route-policy] </a:t>
            </a:r>
            <a:r>
              <a:rPr lang="en-US" altLang="zh-CN" sz="1400" dirty="0">
                <a:solidFill>
                  <a:srgbClr val="C7000B"/>
                </a:solidFill>
                <a:cs typeface="Courier New" panose="02070309020205020404" pitchFamily="49" charset="0"/>
              </a:rPr>
              <a:t>apply cost 200</a:t>
            </a:r>
            <a:endParaRPr lang="en-US" altLang="zh-CN" sz="1400" dirty="0">
              <a:solidFill>
                <a:srgbClr val="C7000B"/>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[R2-route-policy] quit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 route-policy static2ospf permit node 20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[R2-route-policy] quit</a:t>
            </a:r>
            <a:endParaRPr lang="en-US" altLang="zh-CN" sz="1400" dirty="0">
              <a:solidFill>
                <a:prstClr val="black"/>
              </a:solidFill>
              <a:cs typeface="Courier New" panose="02070309020205020404" pitchFamily="49" charset="0"/>
            </a:endParaRPr>
          </a:p>
        </p:txBody>
      </p:sp>
      <p:sp>
        <p:nvSpPr>
          <p:cNvPr id="64" name="文本框 32"/>
          <p:cNvSpPr txBox="1"/>
          <p:nvPr/>
        </p:nvSpPr>
        <p:spPr bwMode="gray">
          <a:xfrm>
            <a:off x="6104766" y="4398710"/>
            <a:ext cx="5649913"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 import-route static route-policy static2ospf type 2</a:t>
            </a:r>
            <a:endParaRPr lang="en-US" altLang="zh-CN" sz="1400" dirty="0">
              <a:solidFill>
                <a:prstClr val="black"/>
              </a:solidFill>
              <a:cs typeface="Courier New" panose="02070309020205020404" pitchFamily="49" charset="0"/>
            </a:endParaRPr>
          </a:p>
        </p:txBody>
      </p:sp>
      <p:sp>
        <p:nvSpPr>
          <p:cNvPr id="70" name="文本占位符 39"/>
          <p:cNvSpPr txBox="1"/>
          <p:nvPr/>
        </p:nvSpPr>
        <p:spPr bwMode="gray">
          <a:xfrm>
            <a:off x="6074419" y="4004852"/>
            <a:ext cx="5670913" cy="477358"/>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R2</a:t>
            </a:r>
            <a:r>
              <a:rPr lang="zh-CN" altLang="en-US" sz="1600" dirty="0"/>
              <a:t>在</a:t>
            </a:r>
            <a:r>
              <a:rPr lang="en-US" altLang="zh-CN" sz="1600" dirty="0"/>
              <a:t>OSPF</a:t>
            </a:r>
            <a:r>
              <a:rPr lang="zh-CN" altLang="en-US" sz="1600" dirty="0"/>
              <a:t>进程中引入静态路由：</a:t>
            </a:r>
            <a:endParaRPr lang="en-US" altLang="zh-CN" sz="1600" dirty="0"/>
          </a:p>
        </p:txBody>
      </p:sp>
      <p:sp>
        <p:nvSpPr>
          <p:cNvPr id="82" name="五边形 81"/>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燕尾形 86"/>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燕尾形 87"/>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燕尾形 89"/>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1" name="燕尾形 90"/>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4" name="任意多边形 93"/>
          <p:cNvSpPr/>
          <p:nvPr/>
        </p:nvSpPr>
        <p:spPr bwMode="gray">
          <a:xfrm>
            <a:off x="1546538" y="1439803"/>
            <a:ext cx="2931080" cy="84407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任意多边形 94"/>
          <p:cNvSpPr/>
          <p:nvPr/>
        </p:nvSpPr>
        <p:spPr bwMode="gray">
          <a:xfrm>
            <a:off x="1235289" y="4512439"/>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任意多边形 97"/>
          <p:cNvSpPr/>
          <p:nvPr/>
        </p:nvSpPr>
        <p:spPr bwMode="gray">
          <a:xfrm>
            <a:off x="3024997" y="4512439"/>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任意多边形 98"/>
          <p:cNvSpPr/>
          <p:nvPr/>
        </p:nvSpPr>
        <p:spPr bwMode="gray">
          <a:xfrm>
            <a:off x="1381717" y="2339112"/>
            <a:ext cx="3275578" cy="207250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5FCFD"/>
          </a:solidFill>
          <a:ln w="12700">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1" name="组合 100"/>
          <p:cNvGrpSpPr/>
          <p:nvPr/>
        </p:nvGrpSpPr>
        <p:grpSpPr bwMode="gray">
          <a:xfrm>
            <a:off x="421436" y="1021510"/>
            <a:ext cx="5043160" cy="5146690"/>
            <a:chOff x="421436" y="1285464"/>
            <a:chExt cx="5043160" cy="5146690"/>
          </a:xfrm>
        </p:grpSpPr>
        <p:cxnSp>
          <p:nvCxnSpPr>
            <p:cNvPr id="102" name="直接连接符 101"/>
            <p:cNvCxnSpPr>
              <a:endCxn id="123" idx="2"/>
            </p:cNvCxnSpPr>
            <p:nvPr/>
          </p:nvCxnSpPr>
          <p:spPr bwMode="gray">
            <a:xfrm flipV="1">
              <a:off x="2177479" y="4885523"/>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a:stCxn id="123" idx="0"/>
              <a:endCxn id="121" idx="2"/>
            </p:cNvCxnSpPr>
            <p:nvPr/>
          </p:nvCxnSpPr>
          <p:spPr bwMode="gray">
            <a:xfrm flipV="1">
              <a:off x="2198067"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a:stCxn id="121" idx="0"/>
              <a:endCxn id="141" idx="2"/>
            </p:cNvCxnSpPr>
            <p:nvPr/>
          </p:nvCxnSpPr>
          <p:spPr bwMode="gray">
            <a:xfrm flipV="1">
              <a:off x="2198067"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a:endCxn id="125" idx="2"/>
            </p:cNvCxnSpPr>
            <p:nvPr/>
          </p:nvCxnSpPr>
          <p:spPr bwMode="gray">
            <a:xfrm flipV="1">
              <a:off x="3741500" y="4885523"/>
              <a:ext cx="0" cy="3530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a:stCxn id="125" idx="0"/>
              <a:endCxn id="124" idx="2"/>
            </p:cNvCxnSpPr>
            <p:nvPr/>
          </p:nvCxnSpPr>
          <p:spPr bwMode="gray">
            <a:xfrm flipV="1">
              <a:off x="3741500"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a:stCxn id="124" idx="0"/>
              <a:endCxn id="143" idx="2"/>
            </p:cNvCxnSpPr>
            <p:nvPr/>
          </p:nvCxnSpPr>
          <p:spPr bwMode="gray">
            <a:xfrm flipV="1">
              <a:off x="3741500"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a:stCxn id="124" idx="1"/>
              <a:endCxn id="121" idx="3"/>
            </p:cNvCxnSpPr>
            <p:nvPr/>
          </p:nvCxnSpPr>
          <p:spPr bwMode="gray">
            <a:xfrm flipH="1">
              <a:off x="2468067" y="3675111"/>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bwMode="gray">
            <a:xfrm flipH="1" flipV="1">
              <a:off x="2198067" y="2646333"/>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bwMode="gray">
            <a:xfrm flipH="1" flipV="1">
              <a:off x="2198067" y="3683093"/>
              <a:ext cx="1543432" cy="9810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bwMode="gray">
            <a:xfrm flipH="1">
              <a:off x="2177480" y="2679825"/>
              <a:ext cx="1564021" cy="10032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bwMode="gray">
            <a:xfrm flipH="1">
              <a:off x="2177479" y="3679927"/>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21" name="图片 120"/>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453711"/>
              <a:ext cx="540000" cy="442800"/>
            </a:xfrm>
            <a:prstGeom prst="rect">
              <a:avLst/>
            </a:prstGeom>
          </p:spPr>
        </p:pic>
        <p:pic>
          <p:nvPicPr>
            <p:cNvPr id="123" name="图片 122"/>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442723"/>
              <a:ext cx="540000" cy="442800"/>
            </a:xfrm>
            <a:prstGeom prst="rect">
              <a:avLst/>
            </a:prstGeom>
          </p:spPr>
        </p:pic>
        <p:pic>
          <p:nvPicPr>
            <p:cNvPr id="124" name="图片 123"/>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453711"/>
              <a:ext cx="540000" cy="442800"/>
            </a:xfrm>
            <a:prstGeom prst="rect">
              <a:avLst/>
            </a:prstGeom>
          </p:spPr>
        </p:pic>
        <p:pic>
          <p:nvPicPr>
            <p:cNvPr id="125" name="图片 124"/>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442723"/>
              <a:ext cx="540000" cy="442800"/>
            </a:xfrm>
            <a:prstGeom prst="rect">
              <a:avLst/>
            </a:prstGeom>
          </p:spPr>
        </p:pic>
        <p:cxnSp>
          <p:nvCxnSpPr>
            <p:cNvPr id="126" name="直接连接符 125"/>
            <p:cNvCxnSpPr>
              <a:stCxn id="125" idx="1"/>
              <a:endCxn id="123" idx="3"/>
            </p:cNvCxnSpPr>
            <p:nvPr/>
          </p:nvCxnSpPr>
          <p:spPr bwMode="gray">
            <a:xfrm flipH="1">
              <a:off x="2468067" y="4664123"/>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7" name="文本框 126"/>
            <p:cNvSpPr txBox="1"/>
            <p:nvPr/>
          </p:nvSpPr>
          <p:spPr bwMode="gray">
            <a:xfrm>
              <a:off x="1278675" y="4481556"/>
              <a:ext cx="715260" cy="523220"/>
            </a:xfrm>
            <a:prstGeom prst="rect">
              <a:avLst/>
            </a:prstGeom>
            <a:noFill/>
          </p:spPr>
          <p:txBody>
            <a:bodyPr wrap="none" rtlCol="0">
              <a:spAutoFit/>
            </a:bodyPr>
            <a:lstStyle/>
            <a:p>
              <a:pPr algn="ctr"/>
              <a:r>
                <a:rPr lang="zh-CN" altLang="en-US" sz="1400" dirty="0"/>
                <a:t>汇聚</a:t>
              </a:r>
              <a:r>
                <a:rPr lang="en-US" altLang="zh-CN" sz="1400" dirty="0"/>
                <a:t>-1</a:t>
              </a:r>
              <a:endParaRPr lang="en-US" altLang="zh-CN" sz="1400" dirty="0"/>
            </a:p>
            <a:p>
              <a:pPr algn="ctr"/>
              <a:r>
                <a:rPr lang="en-US" altLang="zh-CN" sz="1400" dirty="0"/>
                <a:t>S3</a:t>
              </a:r>
              <a:endParaRPr lang="zh-CN" altLang="en-US" sz="1400" dirty="0"/>
            </a:p>
          </p:txBody>
        </p:sp>
        <p:sp>
          <p:nvSpPr>
            <p:cNvPr id="128" name="Freeform 159"/>
            <p:cNvSpPr/>
            <p:nvPr/>
          </p:nvSpPr>
          <p:spPr bwMode="gray">
            <a:xfrm flipH="1">
              <a:off x="1594177"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Freeform 159"/>
            <p:cNvSpPr/>
            <p:nvPr/>
          </p:nvSpPr>
          <p:spPr bwMode="gray">
            <a:xfrm flipH="1">
              <a:off x="3158196"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2" name="直接连接符 131"/>
            <p:cNvCxnSpPr>
              <a:stCxn id="141" idx="0"/>
            </p:cNvCxnSpPr>
            <p:nvPr/>
          </p:nvCxnSpPr>
          <p:spPr bwMode="gray">
            <a:xfrm flipV="1">
              <a:off x="2198067"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bwMode="gray">
            <a:xfrm flipV="1">
              <a:off x="3741499"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a:endCxn id="128" idx="9"/>
            </p:cNvCxnSpPr>
            <p:nvPr/>
          </p:nvCxnSpPr>
          <p:spPr bwMode="gray">
            <a:xfrm flipH="1" flipV="1">
              <a:off x="2588701" y="2048127"/>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p:cNvCxnSpPr>
              <a:stCxn id="131" idx="15"/>
            </p:cNvCxnSpPr>
            <p:nvPr/>
          </p:nvCxnSpPr>
          <p:spPr bwMode="gray">
            <a:xfrm flipH="1">
              <a:off x="2198068" y="2049228"/>
              <a:ext cx="1140811" cy="620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41" name="图片 140"/>
            <p:cNvPicPr/>
            <p:nvPr/>
          </p:nvPicPr>
          <p:blipFill>
            <a:blip r:embed="rId3" cstate="print">
              <a:extLst>
                <a:ext uri="{28A0092B-C50C-407E-A947-70E740481C1C}">
                  <a14:useLocalDpi xmlns:a14="http://schemas.microsoft.com/office/drawing/2010/main" val="0"/>
                </a:ext>
              </a:extLst>
            </a:blip>
            <a:stretch>
              <a:fillRect/>
            </a:stretch>
          </p:blipFill>
          <p:spPr bwMode="gray">
            <a:xfrm>
              <a:off x="1928067" y="2464699"/>
              <a:ext cx="540000" cy="442800"/>
            </a:xfrm>
            <a:prstGeom prst="rect">
              <a:avLst/>
            </a:prstGeom>
          </p:spPr>
        </p:pic>
        <p:pic>
          <p:nvPicPr>
            <p:cNvPr id="143" name="图片 142"/>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464699"/>
              <a:ext cx="540000" cy="442800"/>
            </a:xfrm>
            <a:prstGeom prst="rect">
              <a:avLst/>
            </a:prstGeom>
          </p:spPr>
        </p:pic>
        <p:sp>
          <p:nvSpPr>
            <p:cNvPr id="144" name="Freeform 159"/>
            <p:cNvSpPr/>
            <p:nvPr/>
          </p:nvSpPr>
          <p:spPr bwMode="gray">
            <a:xfrm flipH="1">
              <a:off x="1594177"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159"/>
            <p:cNvSpPr/>
            <p:nvPr/>
          </p:nvSpPr>
          <p:spPr bwMode="gray">
            <a:xfrm flipH="1">
              <a:off x="3158196"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47" name="图片 146"/>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285464"/>
              <a:ext cx="540000" cy="442800"/>
            </a:xfrm>
            <a:prstGeom prst="rect">
              <a:avLst/>
            </a:prstGeom>
          </p:spPr>
        </p:pic>
        <p:pic>
          <p:nvPicPr>
            <p:cNvPr id="148" name="图片 147" descr="PC.png"/>
            <p:cNvPicPr>
              <a:picLocks noChangeAspect="1"/>
            </p:cNvPicPr>
            <p:nvPr/>
          </p:nvPicPr>
          <p:blipFill>
            <a:blip r:embed="rId5" cstate="print"/>
            <a:stretch>
              <a:fillRect/>
            </a:stretch>
          </p:blipFill>
          <p:spPr bwMode="gray">
            <a:xfrm>
              <a:off x="1507811" y="5466341"/>
              <a:ext cx="539063" cy="414000"/>
            </a:xfrm>
            <a:prstGeom prst="rect">
              <a:avLst/>
            </a:prstGeom>
          </p:spPr>
        </p:pic>
        <p:pic>
          <p:nvPicPr>
            <p:cNvPr id="149" name="图片 148" descr="PC.png"/>
            <p:cNvPicPr>
              <a:picLocks noChangeAspect="1"/>
            </p:cNvPicPr>
            <p:nvPr/>
          </p:nvPicPr>
          <p:blipFill>
            <a:blip r:embed="rId5" cstate="print"/>
            <a:stretch>
              <a:fillRect/>
            </a:stretch>
          </p:blipFill>
          <p:spPr bwMode="gray">
            <a:xfrm>
              <a:off x="2256630" y="5210334"/>
              <a:ext cx="539063" cy="414000"/>
            </a:xfrm>
            <a:prstGeom prst="rect">
              <a:avLst/>
            </a:prstGeom>
          </p:spPr>
        </p:pic>
        <p:pic>
          <p:nvPicPr>
            <p:cNvPr id="150" name="图片 149" descr="PC.png"/>
            <p:cNvPicPr>
              <a:picLocks noChangeAspect="1"/>
            </p:cNvPicPr>
            <p:nvPr/>
          </p:nvPicPr>
          <p:blipFill>
            <a:blip r:embed="rId5" cstate="print"/>
            <a:stretch>
              <a:fillRect/>
            </a:stretch>
          </p:blipFill>
          <p:spPr bwMode="gray">
            <a:xfrm>
              <a:off x="3069347" y="5466341"/>
              <a:ext cx="539063" cy="414000"/>
            </a:xfrm>
            <a:prstGeom prst="rect">
              <a:avLst/>
            </a:prstGeom>
          </p:spPr>
        </p:pic>
        <p:pic>
          <p:nvPicPr>
            <p:cNvPr id="152" name="图片 151" descr="PC.png"/>
            <p:cNvPicPr>
              <a:picLocks noChangeAspect="1"/>
            </p:cNvPicPr>
            <p:nvPr/>
          </p:nvPicPr>
          <p:blipFill>
            <a:blip r:embed="rId5" cstate="print"/>
            <a:stretch>
              <a:fillRect/>
            </a:stretch>
          </p:blipFill>
          <p:spPr bwMode="gray">
            <a:xfrm>
              <a:off x="3818166" y="5210334"/>
              <a:ext cx="539063" cy="414000"/>
            </a:xfrm>
            <a:prstGeom prst="rect">
              <a:avLst/>
            </a:prstGeom>
          </p:spPr>
        </p:pic>
        <p:sp>
          <p:nvSpPr>
            <p:cNvPr id="159" name="文本框 158"/>
            <p:cNvSpPr txBox="1"/>
            <p:nvPr/>
          </p:nvSpPr>
          <p:spPr bwMode="gray">
            <a:xfrm>
              <a:off x="1636305" y="5908934"/>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60" name="文本框 159"/>
            <p:cNvSpPr txBox="1"/>
            <p:nvPr/>
          </p:nvSpPr>
          <p:spPr bwMode="gray">
            <a:xfrm>
              <a:off x="3200325" y="5908934"/>
              <a:ext cx="1082348" cy="523220"/>
            </a:xfrm>
            <a:prstGeom prst="rect">
              <a:avLst/>
            </a:prstGeom>
            <a:noFill/>
          </p:spPr>
          <p:txBody>
            <a:bodyPr wrap="none" rtlCol="0">
              <a:spAutoFit/>
            </a:bodyPr>
            <a:lstStyle/>
            <a:p>
              <a:pPr algn="ctr"/>
              <a:r>
                <a:rPr lang="zh-CN" altLang="en-US" sz="1400" dirty="0"/>
                <a:t>市场部网络</a:t>
              </a:r>
              <a:endParaRPr lang="en-US" altLang="zh-CN" sz="1400" dirty="0"/>
            </a:p>
            <a:p>
              <a:pPr algn="ctr"/>
              <a:r>
                <a:rPr lang="zh-CN" altLang="en-US" sz="1400" dirty="0"/>
                <a:t>客户端</a:t>
              </a:r>
              <a:endParaRPr lang="zh-CN" altLang="en-US" sz="1400" dirty="0"/>
            </a:p>
          </p:txBody>
        </p:sp>
        <p:sp>
          <p:nvSpPr>
            <p:cNvPr id="161" name="文本框 160"/>
            <p:cNvSpPr txBox="1"/>
            <p:nvPr/>
          </p:nvSpPr>
          <p:spPr bwMode="gray">
            <a:xfrm>
              <a:off x="1546538" y="1725143"/>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62" name="图片 161"/>
            <p:cNvPicPr/>
            <p:nvPr/>
          </p:nvPicPr>
          <p:blipFill>
            <a:blip r:embed="rId4" cstate="print">
              <a:extLst>
                <a:ext uri="{28A0092B-C50C-407E-A947-70E740481C1C}">
                  <a14:useLocalDpi xmlns:a14="http://schemas.microsoft.com/office/drawing/2010/main" val="0"/>
                </a:ext>
              </a:extLst>
            </a:blip>
            <a:stretch>
              <a:fillRect/>
            </a:stretch>
          </p:blipFill>
          <p:spPr bwMode="gray">
            <a:xfrm>
              <a:off x="3456286" y="1285464"/>
              <a:ext cx="540000" cy="442800"/>
            </a:xfrm>
            <a:prstGeom prst="rect">
              <a:avLst/>
            </a:prstGeom>
          </p:spPr>
        </p:pic>
        <p:sp>
          <p:nvSpPr>
            <p:cNvPr id="163" name="文本框 162"/>
            <p:cNvSpPr txBox="1"/>
            <p:nvPr/>
          </p:nvSpPr>
          <p:spPr bwMode="gray">
            <a:xfrm>
              <a:off x="3095345" y="1725143"/>
              <a:ext cx="1261884" cy="307777"/>
            </a:xfrm>
            <a:prstGeom prst="rect">
              <a:avLst/>
            </a:prstGeom>
            <a:noFill/>
          </p:spPr>
          <p:txBody>
            <a:bodyPr wrap="none" rtlCol="0">
              <a:spAutoFit/>
            </a:bodyPr>
            <a:lstStyle/>
            <a:p>
              <a:pPr algn="ctr"/>
              <a:r>
                <a:rPr lang="zh-CN" altLang="en-US" sz="1400" dirty="0"/>
                <a:t>市场部服务器</a:t>
              </a:r>
              <a:endParaRPr lang="en-US" altLang="zh-CN" sz="1400" dirty="0"/>
            </a:p>
          </p:txBody>
        </p:sp>
        <p:sp>
          <p:nvSpPr>
            <p:cNvPr id="164" name="文本框 163"/>
            <p:cNvSpPr txBox="1"/>
            <p:nvPr/>
          </p:nvSpPr>
          <p:spPr bwMode="gray">
            <a:xfrm>
              <a:off x="1278676" y="3521222"/>
              <a:ext cx="715260" cy="523220"/>
            </a:xfrm>
            <a:prstGeom prst="rect">
              <a:avLst/>
            </a:prstGeom>
            <a:noFill/>
          </p:spPr>
          <p:txBody>
            <a:bodyPr wrap="none" rtlCol="0">
              <a:spAutoFit/>
            </a:bodyPr>
            <a:lstStyle/>
            <a:p>
              <a:pPr algn="ctr"/>
              <a:r>
                <a:rPr lang="zh-CN" altLang="en-US" sz="1400" dirty="0"/>
                <a:t>核心</a:t>
              </a:r>
              <a:r>
                <a:rPr lang="en-US" altLang="zh-CN" sz="1400" dirty="0"/>
                <a:t>-1</a:t>
              </a:r>
              <a:endParaRPr lang="en-US" altLang="zh-CN" sz="1400" dirty="0"/>
            </a:p>
            <a:p>
              <a:pPr algn="ctr"/>
              <a:r>
                <a:rPr lang="en-US" altLang="zh-CN" sz="1400" dirty="0"/>
                <a:t>S1</a:t>
              </a:r>
              <a:endParaRPr lang="zh-CN" altLang="en-US" sz="1400" dirty="0"/>
            </a:p>
          </p:txBody>
        </p:sp>
        <p:sp>
          <p:nvSpPr>
            <p:cNvPr id="167" name="文本框 166"/>
            <p:cNvSpPr txBox="1"/>
            <p:nvPr/>
          </p:nvSpPr>
          <p:spPr bwMode="gray">
            <a:xfrm>
              <a:off x="1278676" y="2532210"/>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68" name="文本框 167"/>
            <p:cNvSpPr txBox="1"/>
            <p:nvPr/>
          </p:nvSpPr>
          <p:spPr bwMode="gray">
            <a:xfrm>
              <a:off x="3942035" y="4481556"/>
              <a:ext cx="715260" cy="523220"/>
            </a:xfrm>
            <a:prstGeom prst="rect">
              <a:avLst/>
            </a:prstGeom>
            <a:noFill/>
          </p:spPr>
          <p:txBody>
            <a:bodyPr wrap="none" rtlCol="0">
              <a:spAutoFit/>
            </a:bodyPr>
            <a:lstStyle/>
            <a:p>
              <a:pPr algn="ctr"/>
              <a:r>
                <a:rPr lang="zh-CN" altLang="en-US" sz="1400" dirty="0"/>
                <a:t>汇聚</a:t>
              </a:r>
              <a:r>
                <a:rPr lang="en-US" altLang="zh-CN" sz="1400" dirty="0"/>
                <a:t>-2</a:t>
              </a:r>
              <a:endParaRPr lang="en-US" altLang="zh-CN" sz="1400" dirty="0"/>
            </a:p>
            <a:p>
              <a:pPr algn="ctr"/>
              <a:r>
                <a:rPr lang="en-US" altLang="zh-CN" sz="1400" dirty="0"/>
                <a:t>S4</a:t>
              </a:r>
              <a:endParaRPr lang="zh-CN" altLang="en-US" sz="1400" dirty="0"/>
            </a:p>
          </p:txBody>
        </p:sp>
        <p:sp>
          <p:nvSpPr>
            <p:cNvPr id="170" name="文本框 169"/>
            <p:cNvSpPr txBox="1"/>
            <p:nvPr/>
          </p:nvSpPr>
          <p:spPr bwMode="gray">
            <a:xfrm>
              <a:off x="3942035" y="3521222"/>
              <a:ext cx="715260" cy="523220"/>
            </a:xfrm>
            <a:prstGeom prst="rect">
              <a:avLst/>
            </a:prstGeom>
            <a:noFill/>
          </p:spPr>
          <p:txBody>
            <a:bodyPr wrap="none" rtlCol="0">
              <a:spAutoFit/>
            </a:bodyPr>
            <a:lstStyle/>
            <a:p>
              <a:pPr algn="ctr"/>
              <a:r>
                <a:rPr lang="zh-CN" altLang="en-US" sz="1400" dirty="0"/>
                <a:t>核心</a:t>
              </a:r>
              <a:r>
                <a:rPr lang="en-US" altLang="zh-CN" sz="1400" dirty="0"/>
                <a:t>-2</a:t>
              </a:r>
              <a:endParaRPr lang="en-US" altLang="zh-CN" sz="1400" dirty="0"/>
            </a:p>
            <a:p>
              <a:pPr algn="ctr"/>
              <a:r>
                <a:rPr lang="en-US" altLang="zh-CN" sz="1400" dirty="0"/>
                <a:t>S2</a:t>
              </a:r>
              <a:endParaRPr lang="zh-CN" altLang="en-US" sz="1400" dirty="0"/>
            </a:p>
          </p:txBody>
        </p:sp>
        <p:sp>
          <p:nvSpPr>
            <p:cNvPr id="171" name="文本框 170"/>
            <p:cNvSpPr txBox="1"/>
            <p:nvPr/>
          </p:nvSpPr>
          <p:spPr bwMode="gray">
            <a:xfrm>
              <a:off x="3942035" y="2532210"/>
              <a:ext cx="715260" cy="523220"/>
            </a:xfrm>
            <a:prstGeom prst="rect">
              <a:avLst/>
            </a:prstGeom>
            <a:noFill/>
          </p:spPr>
          <p:txBody>
            <a:bodyPr wrap="none" rtlCol="0">
              <a:spAutoFit/>
            </a:bodyPr>
            <a:lstStyle/>
            <a:p>
              <a:pPr algn="ctr"/>
              <a:r>
                <a:rPr lang="zh-CN" altLang="en-US" sz="1400" dirty="0"/>
                <a:t>边界</a:t>
              </a:r>
              <a:r>
                <a:rPr lang="en-US" altLang="zh-CN" sz="1400" dirty="0"/>
                <a:t>-2</a:t>
              </a:r>
              <a:endParaRPr lang="en-US" altLang="zh-CN" sz="1400" dirty="0"/>
            </a:p>
            <a:p>
              <a:pPr algn="ctr"/>
              <a:r>
                <a:rPr lang="en-US" altLang="zh-CN" sz="1400" dirty="0"/>
                <a:t>R2</a:t>
              </a:r>
              <a:endParaRPr lang="zh-CN" altLang="en-US" sz="1400" dirty="0"/>
            </a:p>
          </p:txBody>
        </p:sp>
        <p:sp>
          <p:nvSpPr>
            <p:cNvPr id="172" name="文本框 171"/>
            <p:cNvSpPr txBox="1"/>
            <p:nvPr/>
          </p:nvSpPr>
          <p:spPr bwMode="gray">
            <a:xfrm>
              <a:off x="421436" y="1403069"/>
              <a:ext cx="1545616" cy="307777"/>
            </a:xfrm>
            <a:prstGeom prst="rect">
              <a:avLst/>
            </a:prstGeom>
            <a:noFill/>
          </p:spPr>
          <p:txBody>
            <a:bodyPr wrap="none" rtlCol="0">
              <a:spAutoFit/>
            </a:bodyPr>
            <a:lstStyle/>
            <a:p>
              <a:pPr algn="ctr"/>
              <a:r>
                <a:rPr lang="en-US" altLang="zh-CN" sz="1400" b="1" dirty="0"/>
                <a:t>192.168.10.0/24</a:t>
              </a:r>
              <a:endParaRPr lang="en-US" altLang="zh-CN" sz="1400" b="1" dirty="0"/>
            </a:p>
          </p:txBody>
        </p:sp>
        <p:sp>
          <p:nvSpPr>
            <p:cNvPr id="173" name="文本框 172"/>
            <p:cNvSpPr txBox="1"/>
            <p:nvPr/>
          </p:nvSpPr>
          <p:spPr bwMode="gray">
            <a:xfrm>
              <a:off x="3918980" y="1403069"/>
              <a:ext cx="1545616" cy="307777"/>
            </a:xfrm>
            <a:prstGeom prst="rect">
              <a:avLst/>
            </a:prstGeom>
            <a:noFill/>
          </p:spPr>
          <p:txBody>
            <a:bodyPr wrap="none" rtlCol="0">
              <a:spAutoFit/>
            </a:bodyPr>
            <a:lstStyle/>
            <a:p>
              <a:pPr algn="ctr"/>
              <a:r>
                <a:rPr lang="en-US" altLang="zh-CN" sz="1400" b="1" dirty="0"/>
                <a:t>192.168.20.0/24</a:t>
              </a:r>
              <a:endParaRPr lang="en-US" altLang="zh-CN" sz="1400" b="1" dirty="0"/>
            </a:p>
          </p:txBody>
        </p:sp>
      </p:grpSp>
      <p:sp>
        <p:nvSpPr>
          <p:cNvPr id="178" name="Freeform 3"/>
          <p:cNvSpPr/>
          <p:nvPr/>
        </p:nvSpPr>
        <p:spPr bwMode="gray">
          <a:xfrm rot="691934">
            <a:off x="1805529" y="1974425"/>
            <a:ext cx="411937" cy="3869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C7000B"/>
          </a:solidFill>
          <a:ln w="19050">
            <a:no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Freeform 3"/>
          <p:cNvSpPr/>
          <p:nvPr/>
        </p:nvSpPr>
        <p:spPr bwMode="gray">
          <a:xfrm rot="20908066" flipH="1">
            <a:off x="3730870" y="1990409"/>
            <a:ext cx="411937" cy="386968"/>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solidFill>
            <a:srgbClr val="C7000B"/>
          </a:solidFill>
          <a:ln w="19050">
            <a:no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矩形 179"/>
          <p:cNvSpPr/>
          <p:nvPr/>
        </p:nvSpPr>
        <p:spPr bwMode="gray">
          <a:xfrm>
            <a:off x="630822" y="1729330"/>
            <a:ext cx="1108757" cy="560457"/>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rPr>
              <a:t>引入财务路由</a:t>
            </a:r>
            <a:endParaRPr lang="en-US" altLang="zh-CN" sz="1200" dirty="0">
              <a:solidFill>
                <a:schemeClr val="tx1"/>
              </a:solidFill>
            </a:endParaRPr>
          </a:p>
          <a:p>
            <a:r>
              <a:rPr lang="zh-CN" altLang="en-US" sz="1200" dirty="0">
                <a:solidFill>
                  <a:schemeClr val="tx1"/>
                </a:solidFill>
              </a:rPr>
              <a:t>类型：</a:t>
            </a:r>
            <a:r>
              <a:rPr lang="en-US" altLang="zh-CN" sz="1200" dirty="0">
                <a:solidFill>
                  <a:schemeClr val="tx1"/>
                </a:solidFill>
              </a:rPr>
              <a:t>Type2</a:t>
            </a:r>
            <a:endParaRPr lang="en-US" altLang="zh-CN" sz="1200" dirty="0">
              <a:solidFill>
                <a:schemeClr val="tx1"/>
              </a:solidFill>
            </a:endParaRPr>
          </a:p>
          <a:p>
            <a:r>
              <a:rPr lang="en-US" altLang="zh-CN" sz="1200" dirty="0">
                <a:solidFill>
                  <a:schemeClr val="tx1"/>
                </a:solidFill>
              </a:rPr>
              <a:t>Cost</a:t>
            </a:r>
            <a:r>
              <a:rPr lang="zh-CN" altLang="en-US" sz="1200" dirty="0">
                <a:solidFill>
                  <a:schemeClr val="tx1"/>
                </a:solidFill>
              </a:rPr>
              <a:t>：</a:t>
            </a:r>
            <a:r>
              <a:rPr lang="en-US" altLang="zh-CN" sz="1200" dirty="0">
                <a:solidFill>
                  <a:schemeClr val="tx1"/>
                </a:solidFill>
              </a:rPr>
              <a:t>100</a:t>
            </a:r>
            <a:endParaRPr lang="zh-CN" altLang="en-US" sz="1200" dirty="0">
              <a:solidFill>
                <a:schemeClr val="tx1"/>
              </a:solidFill>
            </a:endParaRPr>
          </a:p>
        </p:txBody>
      </p:sp>
      <p:sp>
        <p:nvSpPr>
          <p:cNvPr id="181" name="矩形 180"/>
          <p:cNvSpPr/>
          <p:nvPr/>
        </p:nvSpPr>
        <p:spPr bwMode="gray">
          <a:xfrm>
            <a:off x="4187255" y="1729330"/>
            <a:ext cx="1108757" cy="560457"/>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rPr>
              <a:t>引入财务路由</a:t>
            </a:r>
            <a:endParaRPr lang="en-US" altLang="zh-CN" sz="1200" dirty="0">
              <a:solidFill>
                <a:schemeClr val="tx1"/>
              </a:solidFill>
            </a:endParaRPr>
          </a:p>
          <a:p>
            <a:r>
              <a:rPr lang="zh-CN" altLang="en-US" sz="1200" dirty="0">
                <a:solidFill>
                  <a:schemeClr val="tx1"/>
                </a:solidFill>
              </a:rPr>
              <a:t>类型：</a:t>
            </a:r>
            <a:r>
              <a:rPr lang="en-US" altLang="zh-CN" sz="1200" dirty="0">
                <a:solidFill>
                  <a:schemeClr val="tx1"/>
                </a:solidFill>
              </a:rPr>
              <a:t>Type2</a:t>
            </a:r>
            <a:endParaRPr lang="en-US" altLang="zh-CN" sz="1200" dirty="0">
              <a:solidFill>
                <a:schemeClr val="tx1"/>
              </a:solidFill>
            </a:endParaRPr>
          </a:p>
          <a:p>
            <a:r>
              <a:rPr lang="en-US" altLang="zh-CN" sz="1200" dirty="0">
                <a:solidFill>
                  <a:schemeClr val="tx1"/>
                </a:solidFill>
              </a:rPr>
              <a:t>Cost</a:t>
            </a:r>
            <a:r>
              <a:rPr lang="zh-CN" altLang="en-US" sz="1200" dirty="0">
                <a:solidFill>
                  <a:schemeClr val="tx1"/>
                </a:solidFill>
              </a:rPr>
              <a:t>：</a:t>
            </a:r>
            <a:r>
              <a:rPr lang="en-US" altLang="zh-CN" sz="1200" dirty="0">
                <a:solidFill>
                  <a:schemeClr val="tx1"/>
                </a:solidFill>
              </a:rPr>
              <a:t>200</a:t>
            </a:r>
            <a:endParaRPr lang="zh-CN" altLang="en-US" sz="1200" dirty="0">
              <a:solidFill>
                <a:schemeClr val="tx1"/>
              </a:solidFill>
            </a:endParaRPr>
          </a:p>
        </p:txBody>
      </p:sp>
      <p:sp>
        <p:nvSpPr>
          <p:cNvPr id="186" name="文本框 185"/>
          <p:cNvSpPr txBox="1"/>
          <p:nvPr/>
        </p:nvSpPr>
        <p:spPr bwMode="gray">
          <a:xfrm>
            <a:off x="2620856" y="2954399"/>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Area0</a:t>
            </a:r>
            <a:endParaRPr lang="en-US" altLang="zh-CN" sz="1400" b="1" dirty="0">
              <a:solidFill>
                <a:srgbClr val="C7000B"/>
              </a:solidFill>
            </a:endParaRPr>
          </a:p>
        </p:txBody>
      </p:sp>
      <p:sp>
        <p:nvSpPr>
          <p:cNvPr id="187" name="文本框 186"/>
          <p:cNvSpPr txBox="1"/>
          <p:nvPr/>
        </p:nvSpPr>
        <p:spPr bwMode="gray">
          <a:xfrm>
            <a:off x="1414595" y="4631820"/>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Area1</a:t>
            </a:r>
            <a:endParaRPr lang="en-US" altLang="zh-CN" sz="1400" b="1" dirty="0">
              <a:solidFill>
                <a:srgbClr val="C7000B"/>
              </a:solidFill>
            </a:endParaRPr>
          </a:p>
        </p:txBody>
      </p:sp>
      <p:sp>
        <p:nvSpPr>
          <p:cNvPr id="188" name="文本框 187"/>
          <p:cNvSpPr txBox="1"/>
          <p:nvPr/>
        </p:nvSpPr>
        <p:spPr bwMode="gray">
          <a:xfrm>
            <a:off x="3088389" y="4631820"/>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Area2</a:t>
            </a:r>
            <a:endParaRPr lang="en-US" altLang="zh-CN" sz="1400" b="1" dirty="0">
              <a:solidFill>
                <a:srgbClr val="C7000B"/>
              </a:solidFill>
            </a:endParaRPr>
          </a:p>
        </p:txBody>
      </p:sp>
      <p:sp>
        <p:nvSpPr>
          <p:cNvPr id="189" name="文本框 188"/>
          <p:cNvSpPr txBox="1"/>
          <p:nvPr/>
        </p:nvSpPr>
        <p:spPr bwMode="gray">
          <a:xfrm>
            <a:off x="2510048" y="2063807"/>
            <a:ext cx="902811" cy="307777"/>
          </a:xfrm>
          <a:prstGeom prst="rect">
            <a:avLst/>
          </a:prstGeom>
          <a:noFill/>
        </p:spPr>
        <p:txBody>
          <a:bodyPr wrap="none" rtlCol="0">
            <a:spAutoFit/>
          </a:bodyPr>
          <a:lstStyle/>
          <a:p>
            <a:pPr algn="ctr"/>
            <a:r>
              <a:rPr lang="zh-CN" altLang="en-US" sz="1400" b="1" dirty="0">
                <a:solidFill>
                  <a:srgbClr val="C7000B"/>
                </a:solidFill>
              </a:rPr>
              <a:t>静态路由</a:t>
            </a:r>
            <a:endParaRPr lang="en-US" altLang="zh-CN" sz="1400" b="1" dirty="0">
              <a:solidFill>
                <a:srgbClr val="C7000B"/>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任意多边形 64"/>
          <p:cNvSpPr/>
          <p:nvPr/>
        </p:nvSpPr>
        <p:spPr bwMode="gray">
          <a:xfrm>
            <a:off x="1546538" y="1439807"/>
            <a:ext cx="2931080" cy="84407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chemeClr val="bg1">
              <a:lumMod val="95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任意多边形 156"/>
          <p:cNvSpPr/>
          <p:nvPr/>
        </p:nvSpPr>
        <p:spPr bwMode="gray">
          <a:xfrm>
            <a:off x="1235289" y="4512443"/>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任意多边形 157"/>
          <p:cNvSpPr/>
          <p:nvPr/>
        </p:nvSpPr>
        <p:spPr bwMode="gray">
          <a:xfrm>
            <a:off x="3024997" y="4512443"/>
            <a:ext cx="1695037" cy="1605357"/>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任意多边形 38"/>
          <p:cNvSpPr/>
          <p:nvPr/>
        </p:nvSpPr>
        <p:spPr bwMode="gray">
          <a:xfrm>
            <a:off x="1381717" y="2339116"/>
            <a:ext cx="3275578" cy="2072500"/>
          </a:xfrm>
          <a:custGeom>
            <a:avLst/>
            <a:gdLst>
              <a:gd name="connsiteX0" fmla="*/ 542205 w 3497435"/>
              <a:gd name="connsiteY0" fmla="*/ 225383 h 2254153"/>
              <a:gd name="connsiteX1" fmla="*/ 3079343 w 3497435"/>
              <a:gd name="connsiteY1" fmla="*/ 225383 h 2254153"/>
              <a:gd name="connsiteX2" fmla="*/ 3208132 w 3497435"/>
              <a:gd name="connsiteY2" fmla="*/ 2015547 h 2254153"/>
              <a:gd name="connsiteX3" fmla="*/ 220233 w 3497435"/>
              <a:gd name="connsiteY3" fmla="*/ 2041304 h 2254153"/>
              <a:gd name="connsiteX4" fmla="*/ 542205 w 3497435"/>
              <a:gd name="connsiteY4" fmla="*/ 225383 h 2254153"/>
              <a:gd name="connsiteX0-1" fmla="*/ 372838 w 3649885"/>
              <a:gd name="connsiteY0-2" fmla="*/ 225383 h 2254153"/>
              <a:gd name="connsiteX1-3" fmla="*/ 3215617 w 3649885"/>
              <a:gd name="connsiteY1-4" fmla="*/ 225383 h 2254153"/>
              <a:gd name="connsiteX2-5" fmla="*/ 3344406 w 3649885"/>
              <a:gd name="connsiteY2-6" fmla="*/ 2015547 h 2254153"/>
              <a:gd name="connsiteX3-7" fmla="*/ 356507 w 3649885"/>
              <a:gd name="connsiteY3-8" fmla="*/ 2041304 h 2254153"/>
              <a:gd name="connsiteX4-9" fmla="*/ 372838 w 3649885"/>
              <a:gd name="connsiteY4-10" fmla="*/ 225383 h 2254153"/>
              <a:gd name="connsiteX0-11" fmla="*/ 379063 w 3701711"/>
              <a:gd name="connsiteY0-12" fmla="*/ 233122 h 2261892"/>
              <a:gd name="connsiteX1-13" fmla="*/ 3323722 w 3701711"/>
              <a:gd name="connsiteY1-14" fmla="*/ 219477 h 2261892"/>
              <a:gd name="connsiteX2-15" fmla="*/ 3350631 w 3701711"/>
              <a:gd name="connsiteY2-16" fmla="*/ 2023286 h 2261892"/>
              <a:gd name="connsiteX3-17" fmla="*/ 362732 w 3701711"/>
              <a:gd name="connsiteY3-18" fmla="*/ 2049043 h 2261892"/>
              <a:gd name="connsiteX4-19" fmla="*/ 379063 w 3701711"/>
              <a:gd name="connsiteY4-20" fmla="*/ 233122 h 226189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701711" h="2261892">
                <a:moveTo>
                  <a:pt x="379063" y="233122"/>
                </a:moveTo>
                <a:cubicBezTo>
                  <a:pt x="872561" y="-71806"/>
                  <a:pt x="2828461" y="-78884"/>
                  <a:pt x="3323722" y="219477"/>
                </a:cubicBezTo>
                <a:cubicBezTo>
                  <a:pt x="3818983" y="517838"/>
                  <a:pt x="3827149" y="1720633"/>
                  <a:pt x="3350631" y="2023286"/>
                </a:cubicBezTo>
                <a:cubicBezTo>
                  <a:pt x="2874113" y="2325939"/>
                  <a:pt x="857993" y="2347404"/>
                  <a:pt x="362732" y="2049043"/>
                </a:cubicBezTo>
                <a:cubicBezTo>
                  <a:pt x="-132529" y="1750682"/>
                  <a:pt x="-114435" y="538050"/>
                  <a:pt x="379063" y="233122"/>
                </a:cubicBezTo>
                <a:close/>
              </a:path>
            </a:pathLst>
          </a:custGeom>
          <a:solidFill>
            <a:srgbClr val="F4FBFE"/>
          </a:solidFill>
          <a:ln w="12700">
            <a:solidFill>
              <a:srgbClr val="99D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p:cNvSpPr>
            <a:spLocks noGrp="1"/>
          </p:cNvSpPr>
          <p:nvPr>
            <p:ph type="title"/>
          </p:nvPr>
        </p:nvSpPr>
        <p:spPr bwMode="gray"/>
        <p:txBody>
          <a:bodyPr/>
          <a:lstStyle/>
          <a:p>
            <a:r>
              <a:rPr lang="en-US" altLang="zh-CN"/>
              <a:t>OSPF</a:t>
            </a:r>
            <a:r>
              <a:rPr lang="zh-CN" altLang="en-US"/>
              <a:t>路由控制案例主要配置 </a:t>
            </a:r>
            <a:r>
              <a:rPr lang="en-US" altLang="zh-CN"/>
              <a:t>(3)</a:t>
            </a:r>
            <a:endParaRPr lang="zh-CN" altLang="en-US" dirty="0"/>
          </a:p>
        </p:txBody>
      </p:sp>
      <p:sp>
        <p:nvSpPr>
          <p:cNvPr id="40" name="文本占位符 39"/>
          <p:cNvSpPr>
            <a:spLocks noGrp="1"/>
          </p:cNvSpPr>
          <p:nvPr>
            <p:ph type="body" sz="quarter" idx="4294967295"/>
          </p:nvPr>
        </p:nvSpPr>
        <p:spPr bwMode="gray">
          <a:xfrm>
            <a:off x="6074419" y="1233488"/>
            <a:ext cx="5672137" cy="477837"/>
          </a:xfrm>
        </p:spPr>
        <p:txBody>
          <a:bodyPr/>
          <a:lstStyle/>
          <a:p>
            <a:pPr marL="0" indent="0">
              <a:buNone/>
            </a:pPr>
            <a:r>
              <a:rPr lang="zh-CN" altLang="en-US" sz="1600" dirty="0"/>
              <a:t>设置接口</a:t>
            </a:r>
            <a:r>
              <a:rPr lang="en-US" altLang="zh-CN" sz="1600" dirty="0"/>
              <a:t>OSPF</a:t>
            </a:r>
            <a:r>
              <a:rPr lang="zh-CN" altLang="en-US" sz="1600" dirty="0"/>
              <a:t>开销（以</a:t>
            </a:r>
            <a:r>
              <a:rPr lang="en-US" altLang="zh-CN" sz="1600" dirty="0"/>
              <a:t>R1</a:t>
            </a:r>
            <a:r>
              <a:rPr lang="zh-CN" altLang="en-US" sz="1600" dirty="0"/>
              <a:t>的</a:t>
            </a:r>
            <a:r>
              <a:rPr lang="en-US" altLang="zh-CN" sz="1600" dirty="0"/>
              <a:t>GE0/0/1</a:t>
            </a:r>
            <a:r>
              <a:rPr lang="zh-CN" altLang="en-US" sz="1600" dirty="0"/>
              <a:t>口为例）：</a:t>
            </a:r>
            <a:endParaRPr lang="en-US" altLang="zh-CN" sz="1600" dirty="0"/>
          </a:p>
        </p:txBody>
      </p:sp>
      <p:grpSp>
        <p:nvGrpSpPr>
          <p:cNvPr id="37" name="组合 36"/>
          <p:cNvGrpSpPr/>
          <p:nvPr/>
        </p:nvGrpSpPr>
        <p:grpSpPr bwMode="gray">
          <a:xfrm>
            <a:off x="421436" y="1021514"/>
            <a:ext cx="5043160" cy="5146690"/>
            <a:chOff x="421436" y="1285464"/>
            <a:chExt cx="5043160" cy="5146690"/>
          </a:xfrm>
        </p:grpSpPr>
        <p:cxnSp>
          <p:nvCxnSpPr>
            <p:cNvPr id="4" name="直接连接符 3"/>
            <p:cNvCxnSpPr>
              <a:endCxn id="57" idx="2"/>
            </p:cNvCxnSpPr>
            <p:nvPr/>
          </p:nvCxnSpPr>
          <p:spPr bwMode="gray">
            <a:xfrm flipV="1">
              <a:off x="2177479" y="4885523"/>
              <a:ext cx="0" cy="32481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57" idx="0"/>
              <a:endCxn id="56" idx="2"/>
            </p:cNvCxnSpPr>
            <p:nvPr/>
          </p:nvCxnSpPr>
          <p:spPr bwMode="gray">
            <a:xfrm flipV="1">
              <a:off x="2198067"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a:stCxn id="56" idx="0"/>
              <a:endCxn id="55" idx="2"/>
            </p:cNvCxnSpPr>
            <p:nvPr/>
          </p:nvCxnSpPr>
          <p:spPr bwMode="gray">
            <a:xfrm flipV="1">
              <a:off x="2198067"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a:endCxn id="81" idx="2"/>
            </p:cNvCxnSpPr>
            <p:nvPr/>
          </p:nvCxnSpPr>
          <p:spPr bwMode="gray">
            <a:xfrm flipV="1">
              <a:off x="3741500" y="4885523"/>
              <a:ext cx="0" cy="35302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a:stCxn id="81" idx="0"/>
              <a:endCxn id="80" idx="2"/>
            </p:cNvCxnSpPr>
            <p:nvPr/>
          </p:nvCxnSpPr>
          <p:spPr bwMode="gray">
            <a:xfrm flipV="1">
              <a:off x="3741500" y="3896511"/>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a:stCxn id="80" idx="0"/>
              <a:endCxn id="79" idx="2"/>
            </p:cNvCxnSpPr>
            <p:nvPr/>
          </p:nvCxnSpPr>
          <p:spPr bwMode="gray">
            <a:xfrm flipV="1">
              <a:off x="3741500" y="2907499"/>
              <a:ext cx="0" cy="5462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a:stCxn id="80" idx="1"/>
              <a:endCxn id="56" idx="3"/>
            </p:cNvCxnSpPr>
            <p:nvPr/>
          </p:nvCxnSpPr>
          <p:spPr bwMode="gray">
            <a:xfrm flipH="1">
              <a:off x="2468067" y="3675111"/>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bwMode="gray">
            <a:xfrm flipH="1" flipV="1">
              <a:off x="2198067" y="2646333"/>
              <a:ext cx="1543435" cy="9987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bwMode="gray">
            <a:xfrm flipH="1" flipV="1">
              <a:off x="2198067" y="3683093"/>
              <a:ext cx="1543432" cy="9810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bwMode="gray">
            <a:xfrm flipH="1">
              <a:off x="2177480" y="2679825"/>
              <a:ext cx="1564021" cy="10032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bwMode="gray">
            <a:xfrm flipH="1">
              <a:off x="2177479" y="3679927"/>
              <a:ext cx="1564022" cy="95551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6" name="图片 55"/>
            <p:cNvPicPr/>
            <p:nvPr/>
          </p:nvPicPr>
          <p:blipFill>
            <a:blip r:embed="rId1" cstate="print">
              <a:extLst>
                <a:ext uri="{28A0092B-C50C-407E-A947-70E740481C1C}">
                  <a14:useLocalDpi xmlns:a14="http://schemas.microsoft.com/office/drawing/2010/main" val="0"/>
                </a:ext>
              </a:extLst>
            </a:blip>
            <a:stretch>
              <a:fillRect/>
            </a:stretch>
          </p:blipFill>
          <p:spPr bwMode="gray">
            <a:xfrm>
              <a:off x="1928067" y="3453711"/>
              <a:ext cx="540000" cy="442800"/>
            </a:xfrm>
            <a:prstGeom prst="rect">
              <a:avLst/>
            </a:prstGeom>
          </p:spPr>
        </p:pic>
        <p:pic>
          <p:nvPicPr>
            <p:cNvPr id="57" name="图片 56"/>
            <p:cNvPicPr/>
            <p:nvPr/>
          </p:nvPicPr>
          <p:blipFill>
            <a:blip r:embed="rId2" cstate="print">
              <a:extLst>
                <a:ext uri="{28A0092B-C50C-407E-A947-70E740481C1C}">
                  <a14:useLocalDpi xmlns:a14="http://schemas.microsoft.com/office/drawing/2010/main" val="0"/>
                </a:ext>
              </a:extLst>
            </a:blip>
            <a:stretch>
              <a:fillRect/>
            </a:stretch>
          </p:blipFill>
          <p:spPr bwMode="gray">
            <a:xfrm>
              <a:off x="1928067" y="4442723"/>
              <a:ext cx="540000" cy="442800"/>
            </a:xfrm>
            <a:prstGeom prst="rect">
              <a:avLst/>
            </a:prstGeom>
          </p:spPr>
        </p:pic>
        <p:pic>
          <p:nvPicPr>
            <p:cNvPr id="80" name="图片 79"/>
            <p:cNvPicPr/>
            <p:nvPr/>
          </p:nvPicPr>
          <p:blipFill>
            <a:blip r:embed="rId1" cstate="print">
              <a:extLst>
                <a:ext uri="{28A0092B-C50C-407E-A947-70E740481C1C}">
                  <a14:useLocalDpi xmlns:a14="http://schemas.microsoft.com/office/drawing/2010/main" val="0"/>
                </a:ext>
              </a:extLst>
            </a:blip>
            <a:stretch>
              <a:fillRect/>
            </a:stretch>
          </p:blipFill>
          <p:spPr bwMode="gray">
            <a:xfrm>
              <a:off x="3471500" y="3453711"/>
              <a:ext cx="540000" cy="442800"/>
            </a:xfrm>
            <a:prstGeom prst="rect">
              <a:avLst/>
            </a:prstGeom>
          </p:spPr>
        </p:pic>
        <p:pic>
          <p:nvPicPr>
            <p:cNvPr id="81" name="图片 80"/>
            <p:cNvPicPr/>
            <p:nvPr/>
          </p:nvPicPr>
          <p:blipFill>
            <a:blip r:embed="rId2" cstate="print">
              <a:extLst>
                <a:ext uri="{28A0092B-C50C-407E-A947-70E740481C1C}">
                  <a14:useLocalDpi xmlns:a14="http://schemas.microsoft.com/office/drawing/2010/main" val="0"/>
                </a:ext>
              </a:extLst>
            </a:blip>
            <a:stretch>
              <a:fillRect/>
            </a:stretch>
          </p:blipFill>
          <p:spPr bwMode="gray">
            <a:xfrm>
              <a:off x="3471500" y="4442723"/>
              <a:ext cx="540000" cy="442800"/>
            </a:xfrm>
            <a:prstGeom prst="rect">
              <a:avLst/>
            </a:prstGeom>
          </p:spPr>
        </p:pic>
        <p:cxnSp>
          <p:nvCxnSpPr>
            <p:cNvPr id="97" name="直接连接符 96"/>
            <p:cNvCxnSpPr>
              <a:stCxn id="81" idx="1"/>
              <a:endCxn id="57" idx="3"/>
            </p:cNvCxnSpPr>
            <p:nvPr/>
          </p:nvCxnSpPr>
          <p:spPr bwMode="gray">
            <a:xfrm flipH="1">
              <a:off x="2468067" y="4664123"/>
              <a:ext cx="100343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文本框 99"/>
            <p:cNvSpPr txBox="1"/>
            <p:nvPr/>
          </p:nvSpPr>
          <p:spPr bwMode="gray">
            <a:xfrm>
              <a:off x="1278675" y="4481556"/>
              <a:ext cx="715260" cy="523220"/>
            </a:xfrm>
            <a:prstGeom prst="rect">
              <a:avLst/>
            </a:prstGeom>
            <a:noFill/>
          </p:spPr>
          <p:txBody>
            <a:bodyPr wrap="none" rtlCol="0">
              <a:spAutoFit/>
            </a:bodyPr>
            <a:lstStyle/>
            <a:p>
              <a:pPr algn="ctr"/>
              <a:r>
                <a:rPr lang="zh-CN" altLang="en-US" sz="1400" dirty="0"/>
                <a:t>汇聚</a:t>
              </a:r>
              <a:r>
                <a:rPr lang="en-US" altLang="zh-CN" sz="1400" dirty="0"/>
                <a:t>-1</a:t>
              </a:r>
              <a:endParaRPr lang="en-US" altLang="zh-CN" sz="1400" dirty="0"/>
            </a:p>
            <a:p>
              <a:pPr algn="ctr"/>
              <a:r>
                <a:rPr lang="en-US" altLang="zh-CN" sz="1400" dirty="0"/>
                <a:t>S3</a:t>
              </a:r>
              <a:endParaRPr lang="zh-CN" altLang="en-US" sz="1400" dirty="0"/>
            </a:p>
          </p:txBody>
        </p:sp>
        <p:sp>
          <p:nvSpPr>
            <p:cNvPr id="104" name="Freeform 159"/>
            <p:cNvSpPr/>
            <p:nvPr/>
          </p:nvSpPr>
          <p:spPr bwMode="gray">
            <a:xfrm flipH="1">
              <a:off x="1594177"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5" name="Freeform 159"/>
            <p:cNvSpPr/>
            <p:nvPr/>
          </p:nvSpPr>
          <p:spPr bwMode="gray">
            <a:xfrm flipH="1">
              <a:off x="3158196" y="1376723"/>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06" name="直接连接符 105"/>
            <p:cNvCxnSpPr>
              <a:stCxn id="55" idx="0"/>
            </p:cNvCxnSpPr>
            <p:nvPr/>
          </p:nvCxnSpPr>
          <p:spPr bwMode="gray">
            <a:xfrm flipV="1">
              <a:off x="2198067"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gray">
            <a:xfrm flipV="1">
              <a:off x="3741499" y="2049228"/>
              <a:ext cx="0" cy="4154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a:endCxn id="104" idx="9"/>
            </p:cNvCxnSpPr>
            <p:nvPr/>
          </p:nvCxnSpPr>
          <p:spPr bwMode="gray">
            <a:xfrm flipH="1" flipV="1">
              <a:off x="2588701" y="2048127"/>
              <a:ext cx="1152801" cy="6316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a:stCxn id="105" idx="15"/>
            </p:cNvCxnSpPr>
            <p:nvPr/>
          </p:nvCxnSpPr>
          <p:spPr bwMode="gray">
            <a:xfrm flipH="1">
              <a:off x="2198068" y="2049228"/>
              <a:ext cx="1140811" cy="6204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5" name="图片 54"/>
            <p:cNvPicPr/>
            <p:nvPr/>
          </p:nvPicPr>
          <p:blipFill>
            <a:blip r:embed="rId3" cstate="print">
              <a:extLst>
                <a:ext uri="{28A0092B-C50C-407E-A947-70E740481C1C}">
                  <a14:useLocalDpi xmlns:a14="http://schemas.microsoft.com/office/drawing/2010/main" val="0"/>
                </a:ext>
              </a:extLst>
            </a:blip>
            <a:stretch>
              <a:fillRect/>
            </a:stretch>
          </p:blipFill>
          <p:spPr bwMode="gray">
            <a:xfrm>
              <a:off x="1928067" y="2464699"/>
              <a:ext cx="540000" cy="442800"/>
            </a:xfrm>
            <a:prstGeom prst="rect">
              <a:avLst/>
            </a:prstGeom>
          </p:spPr>
        </p:pic>
        <p:pic>
          <p:nvPicPr>
            <p:cNvPr id="79" name="图片 78"/>
            <p:cNvPicPr/>
            <p:nvPr/>
          </p:nvPicPr>
          <p:blipFill>
            <a:blip r:embed="rId3" cstate="print">
              <a:extLst>
                <a:ext uri="{28A0092B-C50C-407E-A947-70E740481C1C}">
                  <a14:useLocalDpi xmlns:a14="http://schemas.microsoft.com/office/drawing/2010/main" val="0"/>
                </a:ext>
              </a:extLst>
            </a:blip>
            <a:stretch>
              <a:fillRect/>
            </a:stretch>
          </p:blipFill>
          <p:spPr bwMode="gray">
            <a:xfrm>
              <a:off x="3471500" y="2464699"/>
              <a:ext cx="540000" cy="442800"/>
            </a:xfrm>
            <a:prstGeom prst="rect">
              <a:avLst/>
            </a:prstGeom>
          </p:spPr>
        </p:pic>
        <p:sp>
          <p:nvSpPr>
            <p:cNvPr id="120" name="Freeform 159"/>
            <p:cNvSpPr/>
            <p:nvPr/>
          </p:nvSpPr>
          <p:spPr bwMode="gray">
            <a:xfrm flipH="1">
              <a:off x="1594177"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Freeform 159"/>
            <p:cNvSpPr/>
            <p:nvPr/>
          </p:nvSpPr>
          <p:spPr bwMode="gray">
            <a:xfrm flipH="1">
              <a:off x="3158196" y="5095481"/>
              <a:ext cx="1166607" cy="67250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3" name="图片 102"/>
            <p:cNvPicPr/>
            <p:nvPr/>
          </p:nvPicPr>
          <p:blipFill>
            <a:blip r:embed="rId4" cstate="print">
              <a:extLst>
                <a:ext uri="{28A0092B-C50C-407E-A947-70E740481C1C}">
                  <a14:useLocalDpi xmlns:a14="http://schemas.microsoft.com/office/drawing/2010/main" val="0"/>
                </a:ext>
              </a:extLst>
            </a:blip>
            <a:stretch>
              <a:fillRect/>
            </a:stretch>
          </p:blipFill>
          <p:spPr bwMode="gray">
            <a:xfrm>
              <a:off x="1907479" y="1285464"/>
              <a:ext cx="540000" cy="442800"/>
            </a:xfrm>
            <a:prstGeom prst="rect">
              <a:avLst/>
            </a:prstGeom>
          </p:spPr>
        </p:pic>
        <p:pic>
          <p:nvPicPr>
            <p:cNvPr id="129" name="图片 128" descr="PC.png"/>
            <p:cNvPicPr>
              <a:picLocks noChangeAspect="1"/>
            </p:cNvPicPr>
            <p:nvPr/>
          </p:nvPicPr>
          <p:blipFill>
            <a:blip r:embed="rId5" cstate="print"/>
            <a:stretch>
              <a:fillRect/>
            </a:stretch>
          </p:blipFill>
          <p:spPr bwMode="gray">
            <a:xfrm>
              <a:off x="1507811" y="5466341"/>
              <a:ext cx="539063" cy="414000"/>
            </a:xfrm>
            <a:prstGeom prst="rect">
              <a:avLst/>
            </a:prstGeom>
          </p:spPr>
        </p:pic>
        <p:pic>
          <p:nvPicPr>
            <p:cNvPr id="130" name="图片 129" descr="PC.png"/>
            <p:cNvPicPr>
              <a:picLocks noChangeAspect="1"/>
            </p:cNvPicPr>
            <p:nvPr/>
          </p:nvPicPr>
          <p:blipFill>
            <a:blip r:embed="rId5" cstate="print"/>
            <a:stretch>
              <a:fillRect/>
            </a:stretch>
          </p:blipFill>
          <p:spPr bwMode="gray">
            <a:xfrm>
              <a:off x="2256630" y="5210334"/>
              <a:ext cx="539063" cy="414000"/>
            </a:xfrm>
            <a:prstGeom prst="rect">
              <a:avLst/>
            </a:prstGeom>
          </p:spPr>
        </p:pic>
        <p:pic>
          <p:nvPicPr>
            <p:cNvPr id="134" name="图片 133" descr="PC.png"/>
            <p:cNvPicPr>
              <a:picLocks noChangeAspect="1"/>
            </p:cNvPicPr>
            <p:nvPr/>
          </p:nvPicPr>
          <p:blipFill>
            <a:blip r:embed="rId5" cstate="print"/>
            <a:stretch>
              <a:fillRect/>
            </a:stretch>
          </p:blipFill>
          <p:spPr bwMode="gray">
            <a:xfrm>
              <a:off x="3069347" y="5466341"/>
              <a:ext cx="539063" cy="414000"/>
            </a:xfrm>
            <a:prstGeom prst="rect">
              <a:avLst/>
            </a:prstGeom>
          </p:spPr>
        </p:pic>
        <p:pic>
          <p:nvPicPr>
            <p:cNvPr id="136" name="图片 135" descr="PC.png"/>
            <p:cNvPicPr>
              <a:picLocks noChangeAspect="1"/>
            </p:cNvPicPr>
            <p:nvPr/>
          </p:nvPicPr>
          <p:blipFill>
            <a:blip r:embed="rId5" cstate="print"/>
            <a:stretch>
              <a:fillRect/>
            </a:stretch>
          </p:blipFill>
          <p:spPr bwMode="gray">
            <a:xfrm>
              <a:off x="3818166" y="5210334"/>
              <a:ext cx="539063" cy="414000"/>
            </a:xfrm>
            <a:prstGeom prst="rect">
              <a:avLst/>
            </a:prstGeom>
          </p:spPr>
        </p:pic>
        <p:sp>
          <p:nvSpPr>
            <p:cNvPr id="137" name="文本框 136"/>
            <p:cNvSpPr txBox="1"/>
            <p:nvPr/>
          </p:nvSpPr>
          <p:spPr bwMode="gray">
            <a:xfrm>
              <a:off x="1636305" y="5908934"/>
              <a:ext cx="1082348" cy="523220"/>
            </a:xfrm>
            <a:prstGeom prst="rect">
              <a:avLst/>
            </a:prstGeom>
            <a:noFill/>
          </p:spPr>
          <p:txBody>
            <a:bodyPr wrap="none" rtlCol="0">
              <a:spAutoFit/>
            </a:bodyPr>
            <a:lstStyle/>
            <a:p>
              <a:pPr algn="ctr"/>
              <a:r>
                <a:rPr lang="zh-CN" altLang="en-US" sz="1400" dirty="0"/>
                <a:t>财务部网络</a:t>
              </a:r>
              <a:endParaRPr lang="en-US" altLang="zh-CN" sz="1400" dirty="0"/>
            </a:p>
            <a:p>
              <a:pPr algn="ctr"/>
              <a:r>
                <a:rPr lang="zh-CN" altLang="en-US" sz="1400" dirty="0"/>
                <a:t>客户端</a:t>
              </a:r>
              <a:endParaRPr lang="zh-CN" altLang="en-US" sz="1400" dirty="0"/>
            </a:p>
          </p:txBody>
        </p:sp>
        <p:sp>
          <p:nvSpPr>
            <p:cNvPr id="139" name="文本框 138"/>
            <p:cNvSpPr txBox="1"/>
            <p:nvPr/>
          </p:nvSpPr>
          <p:spPr bwMode="gray">
            <a:xfrm>
              <a:off x="3200325" y="5908934"/>
              <a:ext cx="1082348" cy="523220"/>
            </a:xfrm>
            <a:prstGeom prst="rect">
              <a:avLst/>
            </a:prstGeom>
            <a:noFill/>
          </p:spPr>
          <p:txBody>
            <a:bodyPr wrap="none" rtlCol="0">
              <a:spAutoFit/>
            </a:bodyPr>
            <a:lstStyle/>
            <a:p>
              <a:pPr algn="ctr"/>
              <a:r>
                <a:rPr lang="zh-CN" altLang="en-US" sz="1400" dirty="0"/>
                <a:t>市场部网络</a:t>
              </a:r>
              <a:endParaRPr lang="en-US" altLang="zh-CN" sz="1400" dirty="0"/>
            </a:p>
            <a:p>
              <a:pPr algn="ctr"/>
              <a:r>
                <a:rPr lang="zh-CN" altLang="en-US" sz="1400" dirty="0"/>
                <a:t>客户端</a:t>
              </a:r>
              <a:endParaRPr lang="zh-CN" altLang="en-US" sz="1400" dirty="0"/>
            </a:p>
          </p:txBody>
        </p:sp>
        <p:sp>
          <p:nvSpPr>
            <p:cNvPr id="140" name="文本框 139"/>
            <p:cNvSpPr txBox="1"/>
            <p:nvPr/>
          </p:nvSpPr>
          <p:spPr bwMode="gray">
            <a:xfrm>
              <a:off x="1546538" y="1725143"/>
              <a:ext cx="1261884" cy="307777"/>
            </a:xfrm>
            <a:prstGeom prst="rect">
              <a:avLst/>
            </a:prstGeom>
            <a:noFill/>
          </p:spPr>
          <p:txBody>
            <a:bodyPr wrap="none" rtlCol="0">
              <a:spAutoFit/>
            </a:bodyPr>
            <a:lstStyle/>
            <a:p>
              <a:pPr algn="ctr"/>
              <a:r>
                <a:rPr lang="zh-CN" altLang="en-US" sz="1400" dirty="0"/>
                <a:t>财务部服务器</a:t>
              </a:r>
              <a:endParaRPr lang="en-US" altLang="zh-CN" sz="1400" dirty="0"/>
            </a:p>
          </p:txBody>
        </p:sp>
        <p:pic>
          <p:nvPicPr>
            <p:cNvPr id="142" name="图片 141"/>
            <p:cNvPicPr/>
            <p:nvPr/>
          </p:nvPicPr>
          <p:blipFill>
            <a:blip r:embed="rId4" cstate="print">
              <a:extLst>
                <a:ext uri="{28A0092B-C50C-407E-A947-70E740481C1C}">
                  <a14:useLocalDpi xmlns:a14="http://schemas.microsoft.com/office/drawing/2010/main" val="0"/>
                </a:ext>
              </a:extLst>
            </a:blip>
            <a:stretch>
              <a:fillRect/>
            </a:stretch>
          </p:blipFill>
          <p:spPr bwMode="gray">
            <a:xfrm>
              <a:off x="3456286" y="1285464"/>
              <a:ext cx="540000" cy="442800"/>
            </a:xfrm>
            <a:prstGeom prst="rect">
              <a:avLst/>
            </a:prstGeom>
          </p:spPr>
        </p:pic>
        <p:sp>
          <p:nvSpPr>
            <p:cNvPr id="146" name="文本框 145"/>
            <p:cNvSpPr txBox="1"/>
            <p:nvPr/>
          </p:nvSpPr>
          <p:spPr bwMode="gray">
            <a:xfrm>
              <a:off x="3095345" y="1725143"/>
              <a:ext cx="1261884" cy="307777"/>
            </a:xfrm>
            <a:prstGeom prst="rect">
              <a:avLst/>
            </a:prstGeom>
            <a:noFill/>
          </p:spPr>
          <p:txBody>
            <a:bodyPr wrap="none" rtlCol="0">
              <a:spAutoFit/>
            </a:bodyPr>
            <a:lstStyle/>
            <a:p>
              <a:pPr algn="ctr"/>
              <a:r>
                <a:rPr lang="zh-CN" altLang="en-US" sz="1400" dirty="0"/>
                <a:t>市场部服务器</a:t>
              </a:r>
              <a:endParaRPr lang="en-US" altLang="zh-CN" sz="1400" dirty="0"/>
            </a:p>
          </p:txBody>
        </p:sp>
        <p:sp>
          <p:nvSpPr>
            <p:cNvPr id="151" name="文本框 150"/>
            <p:cNvSpPr txBox="1"/>
            <p:nvPr/>
          </p:nvSpPr>
          <p:spPr bwMode="gray">
            <a:xfrm>
              <a:off x="1278676" y="3521222"/>
              <a:ext cx="715260" cy="523220"/>
            </a:xfrm>
            <a:prstGeom prst="rect">
              <a:avLst/>
            </a:prstGeom>
            <a:noFill/>
          </p:spPr>
          <p:txBody>
            <a:bodyPr wrap="none" rtlCol="0">
              <a:spAutoFit/>
            </a:bodyPr>
            <a:lstStyle/>
            <a:p>
              <a:pPr algn="ctr"/>
              <a:r>
                <a:rPr lang="zh-CN" altLang="en-US" sz="1400" dirty="0"/>
                <a:t>核心</a:t>
              </a:r>
              <a:r>
                <a:rPr lang="en-US" altLang="zh-CN" sz="1400" dirty="0"/>
                <a:t>-1</a:t>
              </a:r>
              <a:endParaRPr lang="en-US" altLang="zh-CN" sz="1400" dirty="0"/>
            </a:p>
            <a:p>
              <a:pPr algn="ctr"/>
              <a:r>
                <a:rPr lang="en-US" altLang="zh-CN" sz="1400" dirty="0"/>
                <a:t>S1</a:t>
              </a:r>
              <a:endParaRPr lang="zh-CN" altLang="en-US" sz="1400" dirty="0"/>
            </a:p>
          </p:txBody>
        </p:sp>
        <p:sp>
          <p:nvSpPr>
            <p:cNvPr id="153" name="文本框 152"/>
            <p:cNvSpPr txBox="1"/>
            <p:nvPr/>
          </p:nvSpPr>
          <p:spPr bwMode="gray">
            <a:xfrm>
              <a:off x="1278676" y="2532210"/>
              <a:ext cx="715260" cy="523220"/>
            </a:xfrm>
            <a:prstGeom prst="rect">
              <a:avLst/>
            </a:prstGeom>
            <a:noFill/>
          </p:spPr>
          <p:txBody>
            <a:bodyPr wrap="none" rtlCol="0">
              <a:spAutoFit/>
            </a:bodyPr>
            <a:lstStyle/>
            <a:p>
              <a:pPr algn="ctr"/>
              <a:r>
                <a:rPr lang="zh-CN" altLang="en-US" sz="1400" dirty="0"/>
                <a:t>边界</a:t>
              </a:r>
              <a:r>
                <a:rPr lang="en-US" altLang="zh-CN" sz="1400" dirty="0"/>
                <a:t>-1</a:t>
              </a:r>
              <a:endParaRPr lang="en-US" altLang="zh-CN" sz="1400" dirty="0"/>
            </a:p>
            <a:p>
              <a:pPr algn="ctr"/>
              <a:r>
                <a:rPr lang="en-US" altLang="zh-CN" sz="1400" dirty="0"/>
                <a:t>R1</a:t>
              </a:r>
              <a:endParaRPr lang="zh-CN" altLang="en-US" sz="1400" dirty="0"/>
            </a:p>
          </p:txBody>
        </p:sp>
        <p:sp>
          <p:nvSpPr>
            <p:cNvPr id="154" name="文本框 153"/>
            <p:cNvSpPr txBox="1"/>
            <p:nvPr/>
          </p:nvSpPr>
          <p:spPr bwMode="gray">
            <a:xfrm>
              <a:off x="3942035" y="4481556"/>
              <a:ext cx="715260" cy="523220"/>
            </a:xfrm>
            <a:prstGeom prst="rect">
              <a:avLst/>
            </a:prstGeom>
            <a:noFill/>
          </p:spPr>
          <p:txBody>
            <a:bodyPr wrap="none" rtlCol="0">
              <a:spAutoFit/>
            </a:bodyPr>
            <a:lstStyle/>
            <a:p>
              <a:pPr algn="ctr"/>
              <a:r>
                <a:rPr lang="zh-CN" altLang="en-US" sz="1400" dirty="0"/>
                <a:t>汇聚</a:t>
              </a:r>
              <a:r>
                <a:rPr lang="en-US" altLang="zh-CN" sz="1400" dirty="0"/>
                <a:t>-2</a:t>
              </a:r>
              <a:endParaRPr lang="en-US" altLang="zh-CN" sz="1400" dirty="0"/>
            </a:p>
            <a:p>
              <a:pPr algn="ctr"/>
              <a:r>
                <a:rPr lang="en-US" altLang="zh-CN" sz="1400" dirty="0"/>
                <a:t>S4</a:t>
              </a:r>
              <a:endParaRPr lang="zh-CN" altLang="en-US" sz="1400" dirty="0"/>
            </a:p>
          </p:txBody>
        </p:sp>
        <p:sp>
          <p:nvSpPr>
            <p:cNvPr id="155" name="文本框 154"/>
            <p:cNvSpPr txBox="1"/>
            <p:nvPr/>
          </p:nvSpPr>
          <p:spPr bwMode="gray">
            <a:xfrm>
              <a:off x="3942035" y="3521222"/>
              <a:ext cx="715260" cy="523220"/>
            </a:xfrm>
            <a:prstGeom prst="rect">
              <a:avLst/>
            </a:prstGeom>
            <a:noFill/>
          </p:spPr>
          <p:txBody>
            <a:bodyPr wrap="none" rtlCol="0">
              <a:spAutoFit/>
            </a:bodyPr>
            <a:lstStyle/>
            <a:p>
              <a:pPr algn="ctr"/>
              <a:r>
                <a:rPr lang="zh-CN" altLang="en-US" sz="1400" dirty="0"/>
                <a:t>核心</a:t>
              </a:r>
              <a:r>
                <a:rPr lang="en-US" altLang="zh-CN" sz="1400" dirty="0"/>
                <a:t>-2</a:t>
              </a:r>
              <a:endParaRPr lang="en-US" altLang="zh-CN" sz="1400" dirty="0"/>
            </a:p>
            <a:p>
              <a:pPr algn="ctr"/>
              <a:r>
                <a:rPr lang="en-US" altLang="zh-CN" sz="1400" dirty="0"/>
                <a:t>S2</a:t>
              </a:r>
              <a:endParaRPr lang="zh-CN" altLang="en-US" sz="1400" dirty="0"/>
            </a:p>
          </p:txBody>
        </p:sp>
        <p:sp>
          <p:nvSpPr>
            <p:cNvPr id="156" name="文本框 155"/>
            <p:cNvSpPr txBox="1"/>
            <p:nvPr/>
          </p:nvSpPr>
          <p:spPr bwMode="gray">
            <a:xfrm>
              <a:off x="3942035" y="2532210"/>
              <a:ext cx="715260" cy="523220"/>
            </a:xfrm>
            <a:prstGeom prst="rect">
              <a:avLst/>
            </a:prstGeom>
            <a:noFill/>
          </p:spPr>
          <p:txBody>
            <a:bodyPr wrap="none" rtlCol="0">
              <a:spAutoFit/>
            </a:bodyPr>
            <a:lstStyle/>
            <a:p>
              <a:pPr algn="ctr"/>
              <a:r>
                <a:rPr lang="zh-CN" altLang="en-US" sz="1400" dirty="0"/>
                <a:t>边界</a:t>
              </a:r>
              <a:r>
                <a:rPr lang="en-US" altLang="zh-CN" sz="1400" dirty="0"/>
                <a:t>-2</a:t>
              </a:r>
              <a:endParaRPr lang="en-US" altLang="zh-CN" sz="1400" dirty="0"/>
            </a:p>
            <a:p>
              <a:pPr algn="ctr"/>
              <a:r>
                <a:rPr lang="en-US" altLang="zh-CN" sz="1400" dirty="0"/>
                <a:t>R2</a:t>
              </a:r>
              <a:endParaRPr lang="zh-CN" altLang="en-US" sz="1400" dirty="0"/>
            </a:p>
          </p:txBody>
        </p:sp>
        <p:sp>
          <p:nvSpPr>
            <p:cNvPr id="60" name="文本框 59"/>
            <p:cNvSpPr txBox="1"/>
            <p:nvPr/>
          </p:nvSpPr>
          <p:spPr bwMode="gray">
            <a:xfrm>
              <a:off x="421436" y="1403069"/>
              <a:ext cx="1545616" cy="307777"/>
            </a:xfrm>
            <a:prstGeom prst="rect">
              <a:avLst/>
            </a:prstGeom>
            <a:noFill/>
          </p:spPr>
          <p:txBody>
            <a:bodyPr wrap="none" rtlCol="0">
              <a:spAutoFit/>
            </a:bodyPr>
            <a:lstStyle/>
            <a:p>
              <a:pPr algn="ctr"/>
              <a:r>
                <a:rPr lang="en-US" altLang="zh-CN" sz="1400" b="1" dirty="0"/>
                <a:t>192.168.10.0/24</a:t>
              </a:r>
              <a:endParaRPr lang="en-US" altLang="zh-CN" sz="1400" b="1" dirty="0"/>
            </a:p>
          </p:txBody>
        </p:sp>
        <p:sp>
          <p:nvSpPr>
            <p:cNvPr id="61" name="文本框 60"/>
            <p:cNvSpPr txBox="1"/>
            <p:nvPr/>
          </p:nvSpPr>
          <p:spPr bwMode="gray">
            <a:xfrm>
              <a:off x="3918980" y="1403069"/>
              <a:ext cx="1545616" cy="307777"/>
            </a:xfrm>
            <a:prstGeom prst="rect">
              <a:avLst/>
            </a:prstGeom>
            <a:noFill/>
          </p:spPr>
          <p:txBody>
            <a:bodyPr wrap="none" rtlCol="0">
              <a:spAutoFit/>
            </a:bodyPr>
            <a:lstStyle/>
            <a:p>
              <a:pPr algn="ctr"/>
              <a:r>
                <a:rPr lang="en-US" altLang="zh-CN" sz="1400" b="1" dirty="0"/>
                <a:t>192.168.20.0/24</a:t>
              </a:r>
              <a:endParaRPr lang="en-US" altLang="zh-CN" sz="1400" b="1" dirty="0"/>
            </a:p>
          </p:txBody>
        </p:sp>
      </p:grpSp>
      <p:sp>
        <p:nvSpPr>
          <p:cNvPr id="62" name="文本框 32"/>
          <p:cNvSpPr txBox="1"/>
          <p:nvPr/>
        </p:nvSpPr>
        <p:spPr bwMode="gray">
          <a:xfrm>
            <a:off x="6104766" y="1699171"/>
            <a:ext cx="5649913"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interface </a:t>
            </a:r>
            <a:r>
              <a:rPr lang="en-US" altLang="zh-CN" sz="1400" dirty="0" err="1">
                <a:solidFill>
                  <a:prstClr val="black"/>
                </a:solidFill>
                <a:cs typeface="Courier New" panose="02070309020205020404" pitchFamily="49" charset="0"/>
              </a:rPr>
              <a:t>GigabitEthernet</a:t>
            </a:r>
            <a:r>
              <a:rPr lang="en-US" altLang="zh-CN" sz="1400" dirty="0">
                <a:solidFill>
                  <a:prstClr val="black"/>
                </a:solidFill>
                <a:cs typeface="Courier New" panose="02070309020205020404" pitchFamily="49" charset="0"/>
              </a:rPr>
              <a:t> 0/0/1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[R1-GigabitEthernet0/0/1] </a:t>
            </a:r>
            <a:r>
              <a:rPr lang="en-US" altLang="zh-CN" sz="1400" dirty="0" err="1">
                <a:solidFill>
                  <a:srgbClr val="C7000B"/>
                </a:solidFill>
                <a:cs typeface="Courier New" panose="02070309020205020404" pitchFamily="49" charset="0"/>
              </a:rPr>
              <a:t>ospf</a:t>
            </a:r>
            <a:r>
              <a:rPr lang="en-US" altLang="zh-CN" sz="1400" dirty="0">
                <a:solidFill>
                  <a:srgbClr val="C7000B"/>
                </a:solidFill>
                <a:cs typeface="Courier New" panose="02070309020205020404" pitchFamily="49" charset="0"/>
              </a:rPr>
              <a:t> cost 50</a:t>
            </a:r>
            <a:endParaRPr lang="en-US" altLang="zh-CN" sz="1400" dirty="0">
              <a:solidFill>
                <a:srgbClr val="C7000B"/>
              </a:solidFill>
              <a:cs typeface="Courier New" panose="02070309020205020404" pitchFamily="49" charset="0"/>
            </a:endParaRPr>
          </a:p>
        </p:txBody>
      </p:sp>
      <p:sp>
        <p:nvSpPr>
          <p:cNvPr id="68" name="文本框 67"/>
          <p:cNvSpPr txBox="1"/>
          <p:nvPr/>
        </p:nvSpPr>
        <p:spPr bwMode="gray">
          <a:xfrm>
            <a:off x="2621157" y="3378907"/>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75" name="文本框 74"/>
          <p:cNvSpPr txBox="1"/>
          <p:nvPr/>
        </p:nvSpPr>
        <p:spPr bwMode="gray">
          <a:xfrm>
            <a:off x="1471156" y="3844192"/>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76" name="文本框 75"/>
          <p:cNvSpPr txBox="1"/>
          <p:nvPr/>
        </p:nvSpPr>
        <p:spPr bwMode="gray">
          <a:xfrm rot="19753892">
            <a:off x="2707208" y="3855396"/>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77" name="文本框 76"/>
          <p:cNvSpPr txBox="1"/>
          <p:nvPr/>
        </p:nvSpPr>
        <p:spPr bwMode="gray">
          <a:xfrm>
            <a:off x="1471156" y="2774928"/>
            <a:ext cx="750526" cy="276999"/>
          </a:xfrm>
          <a:prstGeom prst="rect">
            <a:avLst/>
          </a:prstGeom>
          <a:noFill/>
        </p:spPr>
        <p:txBody>
          <a:bodyPr wrap="none" rtlCol="0">
            <a:spAutoFit/>
          </a:bodyPr>
          <a:lstStyle/>
          <a:p>
            <a:pPr algn="ctr"/>
            <a:r>
              <a:rPr lang="en-US" altLang="zh-CN" sz="1200" dirty="0"/>
              <a:t>Cost=10</a:t>
            </a:r>
            <a:endParaRPr lang="zh-CN" altLang="en-US" sz="1200" dirty="0"/>
          </a:p>
        </p:txBody>
      </p:sp>
      <p:sp>
        <p:nvSpPr>
          <p:cNvPr id="78" name="文本框 77"/>
          <p:cNvSpPr txBox="1"/>
          <p:nvPr/>
        </p:nvSpPr>
        <p:spPr bwMode="gray">
          <a:xfrm rot="2007044">
            <a:off x="2975640" y="2890377"/>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82" name="文本框 81"/>
          <p:cNvSpPr txBox="1"/>
          <p:nvPr/>
        </p:nvSpPr>
        <p:spPr bwMode="gray">
          <a:xfrm>
            <a:off x="2621157" y="4395948"/>
            <a:ext cx="750526" cy="276999"/>
          </a:xfrm>
          <a:prstGeom prst="rect">
            <a:avLst/>
          </a:prstGeom>
          <a:noFill/>
        </p:spPr>
        <p:txBody>
          <a:bodyPr wrap="none" rtlCol="0">
            <a:spAutoFit/>
          </a:bodyPr>
          <a:lstStyle/>
          <a:p>
            <a:pPr algn="ctr"/>
            <a:r>
              <a:rPr lang="en-US" altLang="zh-CN" sz="1200" dirty="0"/>
              <a:t>Cost=50</a:t>
            </a:r>
            <a:endParaRPr lang="zh-CN" altLang="en-US" sz="1200" dirty="0"/>
          </a:p>
        </p:txBody>
      </p:sp>
      <p:sp>
        <p:nvSpPr>
          <p:cNvPr id="87" name="文本框 86"/>
          <p:cNvSpPr txBox="1"/>
          <p:nvPr/>
        </p:nvSpPr>
        <p:spPr bwMode="gray">
          <a:xfrm rot="2007044">
            <a:off x="2380823" y="2476887"/>
            <a:ext cx="756938" cy="276999"/>
          </a:xfrm>
          <a:prstGeom prst="rect">
            <a:avLst/>
          </a:prstGeom>
          <a:noFill/>
        </p:spPr>
        <p:txBody>
          <a:bodyPr wrap="none" rtlCol="0">
            <a:spAutoFit/>
          </a:bodyPr>
          <a:lstStyle/>
          <a:p>
            <a:pPr algn="ctr"/>
            <a:r>
              <a:rPr lang="en-US" altLang="zh-CN" sz="1200" dirty="0"/>
              <a:t>GE0/0/1</a:t>
            </a:r>
            <a:endParaRPr lang="zh-CN" altLang="en-US" sz="1200" dirty="0"/>
          </a:p>
        </p:txBody>
      </p:sp>
      <p:sp>
        <p:nvSpPr>
          <p:cNvPr id="2" name="椭圆 1"/>
          <p:cNvSpPr/>
          <p:nvPr/>
        </p:nvSpPr>
        <p:spPr bwMode="gray">
          <a:xfrm>
            <a:off x="2370282" y="2486029"/>
            <a:ext cx="180000" cy="180000"/>
          </a:xfrm>
          <a:prstGeom prst="ellipse">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五边形 71"/>
          <p:cNvSpPr/>
          <p:nvPr/>
        </p:nvSpPr>
        <p:spPr bwMode="gray">
          <a:xfrm>
            <a:off x="7781441" y="9951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8413353"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等价路由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9225265"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缺省路由</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燕尾形 97"/>
          <p:cNvSpPr/>
          <p:nvPr/>
        </p:nvSpPr>
        <p:spPr bwMode="gray">
          <a:xfrm>
            <a:off x="10037177" y="9951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过滤</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燕尾形 98"/>
          <p:cNvSpPr/>
          <p:nvPr/>
        </p:nvSpPr>
        <p:spPr bwMode="gray">
          <a:xfrm>
            <a:off x="10849088" y="9951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配置案例</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5" name="文本框 164"/>
          <p:cNvSpPr txBox="1"/>
          <p:nvPr/>
        </p:nvSpPr>
        <p:spPr bwMode="gray">
          <a:xfrm>
            <a:off x="2620856" y="2954399"/>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Area0</a:t>
            </a:r>
            <a:endParaRPr lang="en-US" altLang="zh-CN" sz="1400" b="1" dirty="0">
              <a:solidFill>
                <a:srgbClr val="C7000B"/>
              </a:solidFill>
            </a:endParaRPr>
          </a:p>
        </p:txBody>
      </p:sp>
      <p:sp>
        <p:nvSpPr>
          <p:cNvPr id="166" name="文本框 165"/>
          <p:cNvSpPr txBox="1"/>
          <p:nvPr/>
        </p:nvSpPr>
        <p:spPr bwMode="gray">
          <a:xfrm>
            <a:off x="1414595" y="4631820"/>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Area1</a:t>
            </a:r>
            <a:endParaRPr lang="en-US" altLang="zh-CN" sz="1400" b="1" dirty="0">
              <a:solidFill>
                <a:srgbClr val="C7000B"/>
              </a:solidFill>
            </a:endParaRPr>
          </a:p>
        </p:txBody>
      </p:sp>
      <p:sp>
        <p:nvSpPr>
          <p:cNvPr id="169" name="文本框 168"/>
          <p:cNvSpPr txBox="1"/>
          <p:nvPr/>
        </p:nvSpPr>
        <p:spPr bwMode="gray">
          <a:xfrm>
            <a:off x="3088389" y="4631820"/>
            <a:ext cx="691215" cy="523220"/>
          </a:xfrm>
          <a:prstGeom prst="rect">
            <a:avLst/>
          </a:prstGeom>
          <a:noFill/>
        </p:spPr>
        <p:txBody>
          <a:bodyPr wrap="none" rtlCol="0">
            <a:spAutoFit/>
          </a:bodyPr>
          <a:lstStyle/>
          <a:p>
            <a:pPr algn="ctr"/>
            <a:r>
              <a:rPr lang="en-US" altLang="zh-CN" sz="1400" b="1" dirty="0">
                <a:solidFill>
                  <a:srgbClr val="C7000B"/>
                </a:solidFill>
              </a:rPr>
              <a:t>OSPF</a:t>
            </a:r>
            <a:endParaRPr lang="en-US" altLang="zh-CN" sz="1400" b="1" dirty="0">
              <a:solidFill>
                <a:srgbClr val="C7000B"/>
              </a:solidFill>
            </a:endParaRPr>
          </a:p>
          <a:p>
            <a:pPr algn="ctr"/>
            <a:r>
              <a:rPr lang="en-US" altLang="zh-CN" sz="1400" b="1" dirty="0">
                <a:solidFill>
                  <a:srgbClr val="C7000B"/>
                </a:solidFill>
              </a:rPr>
              <a:t>Area2</a:t>
            </a:r>
            <a:endParaRPr lang="en-US" altLang="zh-CN" sz="1400" b="1" dirty="0">
              <a:solidFill>
                <a:srgbClr val="C7000B"/>
              </a:solidFill>
            </a:endParaRPr>
          </a:p>
        </p:txBody>
      </p:sp>
      <p:sp>
        <p:nvSpPr>
          <p:cNvPr id="66" name="文本框 65"/>
          <p:cNvSpPr txBox="1"/>
          <p:nvPr/>
        </p:nvSpPr>
        <p:spPr bwMode="gray">
          <a:xfrm>
            <a:off x="2510048" y="2063807"/>
            <a:ext cx="902811" cy="307777"/>
          </a:xfrm>
          <a:prstGeom prst="rect">
            <a:avLst/>
          </a:prstGeom>
          <a:noFill/>
        </p:spPr>
        <p:txBody>
          <a:bodyPr wrap="none" rtlCol="0">
            <a:spAutoFit/>
          </a:bodyPr>
          <a:lstStyle/>
          <a:p>
            <a:pPr algn="ctr"/>
            <a:r>
              <a:rPr lang="zh-CN" altLang="en-US" sz="1400" b="1" dirty="0">
                <a:solidFill>
                  <a:srgbClr val="C7000B"/>
                </a:solidFill>
              </a:rPr>
              <a:t>静态路由</a:t>
            </a:r>
            <a:endParaRPr lang="en-US" altLang="zh-CN" sz="1400" b="1" dirty="0">
              <a:solidFill>
                <a:srgbClr val="C7000B"/>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OSPF</a:t>
            </a:r>
            <a:r>
              <a:rPr lang="zh-CN" altLang="en-US" dirty="0">
                <a:solidFill>
                  <a:schemeClr val="bg1">
                    <a:lumMod val="50000"/>
                  </a:schemeClr>
                </a:solidFill>
              </a:rPr>
              <a:t>快速收敛</a:t>
            </a:r>
            <a:endParaRPr lang="en-US" altLang="zh-CN" dirty="0">
              <a:solidFill>
                <a:schemeClr val="bg1">
                  <a:lumMod val="50000"/>
                </a:schemeClr>
              </a:solidFill>
            </a:endParaRPr>
          </a:p>
          <a:p>
            <a:r>
              <a:rPr lang="en-US" altLang="zh-CN" dirty="0">
                <a:solidFill>
                  <a:schemeClr val="bg1">
                    <a:lumMod val="50000"/>
                  </a:schemeClr>
                </a:solidFill>
              </a:rPr>
              <a:t>OSPF</a:t>
            </a:r>
            <a:r>
              <a:rPr lang="zh-CN" altLang="en-US" dirty="0">
                <a:solidFill>
                  <a:schemeClr val="bg1">
                    <a:lumMod val="50000"/>
                  </a:schemeClr>
                </a:solidFill>
              </a:rPr>
              <a:t>路由控制</a:t>
            </a:r>
            <a:endParaRPr lang="en-US" altLang="zh-CN" dirty="0">
              <a:solidFill>
                <a:schemeClr val="bg1">
                  <a:lumMod val="50000"/>
                </a:schemeClr>
              </a:solidFill>
            </a:endParaRPr>
          </a:p>
          <a:p>
            <a:r>
              <a:rPr lang="en-US" altLang="zh-CN" b="1" dirty="0"/>
              <a:t>OSPF</a:t>
            </a:r>
            <a:r>
              <a:rPr lang="zh-CN" altLang="en-US" b="1" dirty="0"/>
              <a:t>其他特性</a:t>
            </a:r>
            <a:endParaRPr lang="en-US" altLang="zh-CN" b="1" dirty="0"/>
          </a:p>
          <a:p>
            <a:r>
              <a:rPr lang="en-US" altLang="zh-CN" dirty="0">
                <a:solidFill>
                  <a:schemeClr val="bg1">
                    <a:lumMod val="50000"/>
                  </a:schemeClr>
                </a:solidFill>
              </a:rPr>
              <a:t>IS-IS</a:t>
            </a:r>
            <a:r>
              <a:rPr lang="zh-CN" altLang="en-US" dirty="0">
                <a:solidFill>
                  <a:schemeClr val="bg1">
                    <a:lumMod val="50000"/>
                  </a:schemeClr>
                </a:solidFill>
              </a:rPr>
              <a:t>高级特性</a:t>
            </a:r>
            <a:endParaRPr lang="zh-CN" altLang="en-US" dirty="0">
              <a:solidFill>
                <a:schemeClr val="bg1">
                  <a:lumMod val="50000"/>
                </a:schemeClr>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OSPF</a:t>
            </a:r>
            <a:r>
              <a:rPr lang="zh-CN" altLang="en-US"/>
              <a:t>多进程</a:t>
            </a:r>
            <a:endParaRPr lang="zh-CN" altLang="en-US" dirty="0"/>
          </a:p>
        </p:txBody>
      </p:sp>
      <p:sp>
        <p:nvSpPr>
          <p:cNvPr id="4" name="文本占位符 3"/>
          <p:cNvSpPr>
            <a:spLocks noGrp="1"/>
          </p:cNvSpPr>
          <p:nvPr>
            <p:ph type="body" sz="quarter" idx="10"/>
          </p:nvPr>
        </p:nvSpPr>
        <p:spPr>
          <a:xfrm>
            <a:off x="455612" y="1047750"/>
            <a:ext cx="11293475" cy="1586145"/>
          </a:xfrm>
        </p:spPr>
        <p:txBody>
          <a:bodyPr/>
          <a:lstStyle/>
          <a:p>
            <a:r>
              <a:rPr lang="en-US" altLang="zh-CN" sz="2000"/>
              <a:t>OSPF</a:t>
            </a:r>
            <a:r>
              <a:rPr lang="zh-CN" altLang="en-US" sz="2000"/>
              <a:t>支持多进程，在同一台路由器上可以运行多个不同的</a:t>
            </a:r>
            <a:r>
              <a:rPr lang="en-US" altLang="zh-CN" sz="2000"/>
              <a:t>OSPF</a:t>
            </a:r>
            <a:r>
              <a:rPr lang="zh-CN" altLang="en-US" sz="2000"/>
              <a:t>进程，它们之间互不影响，彼此独立。不同</a:t>
            </a:r>
            <a:r>
              <a:rPr lang="en-US" altLang="zh-CN" sz="2000"/>
              <a:t>OSPF</a:t>
            </a:r>
            <a:r>
              <a:rPr lang="zh-CN" altLang="en-US" sz="2000"/>
              <a:t>进程之间的路由交互相当于不同路由协议之间的路由交互。</a:t>
            </a:r>
            <a:endParaRPr lang="en-US" altLang="zh-CN" sz="2000"/>
          </a:p>
          <a:p>
            <a:r>
              <a:rPr lang="zh-CN" altLang="en-US" sz="2000"/>
              <a:t>路由器的一个接口只能属于某一个</a:t>
            </a:r>
            <a:r>
              <a:rPr lang="en-US" altLang="zh-CN" sz="2000"/>
              <a:t>OSPF</a:t>
            </a:r>
            <a:r>
              <a:rPr lang="zh-CN" altLang="en-US" sz="2000"/>
              <a:t>进程。</a:t>
            </a:r>
            <a:endParaRPr lang="zh-CN" altLang="en-US" sz="2000" dirty="0"/>
          </a:p>
        </p:txBody>
      </p:sp>
      <p:grpSp>
        <p:nvGrpSpPr>
          <p:cNvPr id="25" name="组合 24"/>
          <p:cNvGrpSpPr/>
          <p:nvPr/>
        </p:nvGrpSpPr>
        <p:grpSpPr bwMode="gray">
          <a:xfrm>
            <a:off x="6216180" y="3341770"/>
            <a:ext cx="3285826" cy="2085326"/>
            <a:chOff x="2794714" y="3838562"/>
            <a:chExt cx="3285826" cy="2085326"/>
          </a:xfrm>
        </p:grpSpPr>
        <p:sp>
          <p:nvSpPr>
            <p:cNvPr id="16" name="椭圆 15"/>
            <p:cNvSpPr/>
            <p:nvPr/>
          </p:nvSpPr>
          <p:spPr bwMode="gray">
            <a:xfrm rot="1524204">
              <a:off x="3906532" y="4093208"/>
              <a:ext cx="1332193" cy="827361"/>
            </a:xfrm>
            <a:prstGeom prst="ellipse">
              <a:avLst/>
            </a:prstGeom>
            <a:solidFill>
              <a:srgbClr val="F5FCFD"/>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bwMode="gray">
            <a:xfrm rot="20075796" flipV="1">
              <a:off x="3906531" y="5096527"/>
              <a:ext cx="1332193" cy="827361"/>
            </a:xfrm>
            <a:prstGeom prst="ellipse">
              <a:avLst/>
            </a:prstGeom>
            <a:solidFill>
              <a:srgbClr val="F5FCFD"/>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59"/>
            <p:cNvSpPr/>
            <p:nvPr/>
          </p:nvSpPr>
          <p:spPr bwMode="gray">
            <a:xfrm flipH="1">
              <a:off x="2794714" y="3951603"/>
              <a:ext cx="1187838" cy="63996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3712553" y="4092515"/>
              <a:ext cx="540000" cy="442800"/>
            </a:xfrm>
            <a:prstGeom prst="rect">
              <a:avLst/>
            </a:prstGeom>
          </p:spPr>
        </p:pic>
        <p:cxnSp>
          <p:nvCxnSpPr>
            <p:cNvPr id="7" name="直接连接符 6"/>
            <p:cNvCxnSpPr>
              <a:stCxn id="6" idx="3"/>
              <a:endCxn id="14" idx="0"/>
            </p:cNvCxnSpPr>
            <p:nvPr/>
          </p:nvCxnSpPr>
          <p:spPr bwMode="gray">
            <a:xfrm>
              <a:off x="4252553" y="4313915"/>
              <a:ext cx="917837" cy="4354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bwMode="gray">
            <a:xfrm>
              <a:off x="2933558" y="4052305"/>
              <a:ext cx="910150" cy="523220"/>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Site1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p:cNvSpPr/>
            <p:nvPr/>
          </p:nvSpPr>
          <p:spPr bwMode="gray">
            <a:xfrm>
              <a:off x="3527477" y="3838562"/>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Freeform 159"/>
            <p:cNvSpPr/>
            <p:nvPr/>
          </p:nvSpPr>
          <p:spPr bwMode="gray">
            <a:xfrm flipH="1">
              <a:off x="2794714" y="5248370"/>
              <a:ext cx="1187838" cy="6408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 name="图片 10"/>
            <p:cNvPicPr/>
            <p:nvPr/>
          </p:nvPicPr>
          <p:blipFill>
            <a:blip r:embed="rId1" cstate="print">
              <a:extLst>
                <a:ext uri="{28A0092B-C50C-407E-A947-70E740481C1C}">
                  <a14:useLocalDpi xmlns:a14="http://schemas.microsoft.com/office/drawing/2010/main" val="0"/>
                </a:ext>
              </a:extLst>
            </a:blip>
            <a:stretch>
              <a:fillRect/>
            </a:stretch>
          </p:blipFill>
          <p:spPr bwMode="gray">
            <a:xfrm>
              <a:off x="3712553" y="5406160"/>
              <a:ext cx="540000" cy="442800"/>
            </a:xfrm>
            <a:prstGeom prst="rect">
              <a:avLst/>
            </a:prstGeom>
          </p:spPr>
        </p:pic>
        <p:sp>
          <p:nvSpPr>
            <p:cNvPr id="12" name="矩形 11"/>
            <p:cNvSpPr/>
            <p:nvPr/>
          </p:nvSpPr>
          <p:spPr bwMode="gray">
            <a:xfrm>
              <a:off x="2933558" y="5365950"/>
              <a:ext cx="910150" cy="523220"/>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Site2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3527477" y="5152207"/>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4900390" y="4749338"/>
              <a:ext cx="540000" cy="442800"/>
            </a:xfrm>
            <a:prstGeom prst="rect">
              <a:avLst/>
            </a:prstGeom>
          </p:spPr>
        </p:pic>
        <p:sp>
          <p:nvSpPr>
            <p:cNvPr id="15" name="矩形 14"/>
            <p:cNvSpPr/>
            <p:nvPr/>
          </p:nvSpPr>
          <p:spPr bwMode="gray">
            <a:xfrm>
              <a:off x="5170390" y="4816849"/>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20" name="直接连接符 19"/>
            <p:cNvCxnSpPr>
              <a:stCxn id="11" idx="3"/>
              <a:endCxn id="14" idx="2"/>
            </p:cNvCxnSpPr>
            <p:nvPr/>
          </p:nvCxnSpPr>
          <p:spPr bwMode="gray">
            <a:xfrm flipV="1">
              <a:off x="4252553" y="5192138"/>
              <a:ext cx="917837" cy="4354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矩形 22"/>
            <p:cNvSpPr/>
            <p:nvPr/>
          </p:nvSpPr>
          <p:spPr bwMode="gray">
            <a:xfrm rot="1666040">
              <a:off x="3943196" y="4295143"/>
              <a:ext cx="1562747" cy="461665"/>
            </a:xfrm>
            <a:prstGeom prst="rect">
              <a:avLst/>
            </a:prstGeom>
          </p:spPr>
          <p:txBody>
            <a:bodyPr wrap="square">
              <a:spAutoFit/>
            </a:bodyPr>
            <a:lstStyle/>
            <a:p>
              <a:pPr algn="ctr" fontAlgn="auto"/>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t>
              </a:r>
              <a:r>
                <a:rPr lang="en-US" altLang="zh-CN" sz="1200" b="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a:t>
              </a:r>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VPN1</a:t>
              </a:r>
              <a:endPar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4" name="矩形 23"/>
            <p:cNvSpPr/>
            <p:nvPr/>
          </p:nvSpPr>
          <p:spPr bwMode="gray">
            <a:xfrm rot="20073624">
              <a:off x="3948004" y="5188206"/>
              <a:ext cx="1562747" cy="461665"/>
            </a:xfrm>
            <a:prstGeom prst="rect">
              <a:avLst/>
            </a:prstGeom>
          </p:spPr>
          <p:txBody>
            <a:bodyPr wrap="square">
              <a:spAutoFit/>
            </a:bodyPr>
            <a:lstStyle/>
            <a:p>
              <a:pPr algn="ctr" fontAlgn="auto"/>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Area0</a:t>
              </a:r>
              <a:endPar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t>
              </a:r>
              <a:r>
                <a:rPr lang="en-US" altLang="zh-CN" sz="1200" b="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200</a:t>
              </a:r>
              <a:r>
                <a:rPr lang="en-US" altLang="zh-CN" sz="1200" b="1"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VPN2</a:t>
              </a:r>
              <a:endParaRPr lang="zh-CN" altLang="en-US"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sp>
        <p:nvSpPr>
          <p:cNvPr id="26" name="文本占位符 3"/>
          <p:cNvSpPr txBox="1"/>
          <p:nvPr/>
        </p:nvSpPr>
        <p:spPr bwMode="auto">
          <a:xfrm>
            <a:off x="468317" y="3376973"/>
            <a:ext cx="5627683" cy="2427760"/>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应用场景：</a:t>
            </a:r>
            <a:endParaRPr lang="en-US" altLang="zh-CN" sz="1800" dirty="0"/>
          </a:p>
          <a:p>
            <a:pPr lvl="1"/>
            <a:r>
              <a:rPr lang="en-US" altLang="zh-CN" sz="1600" dirty="0"/>
              <a:t>OSPF</a:t>
            </a:r>
            <a:r>
              <a:rPr lang="zh-CN" altLang="en-US" sz="1600" dirty="0"/>
              <a:t>多进程的一个典型应用就是在</a:t>
            </a:r>
            <a:r>
              <a:rPr lang="en-US" altLang="zh-CN" sz="1600" dirty="0"/>
              <a:t>VPN</a:t>
            </a:r>
            <a:r>
              <a:rPr lang="zh-CN" altLang="en-US" sz="1600" dirty="0"/>
              <a:t>场景。</a:t>
            </a:r>
            <a:endParaRPr lang="en-US" altLang="zh-CN" sz="1600" dirty="0"/>
          </a:p>
          <a:p>
            <a:pPr lvl="1"/>
            <a:r>
              <a:rPr lang="zh-CN" altLang="en-US" sz="1600" dirty="0"/>
              <a:t>如图，同一台</a:t>
            </a:r>
            <a:r>
              <a:rPr lang="en-US" altLang="zh-CN" sz="1600" dirty="0"/>
              <a:t>PE</a:t>
            </a:r>
            <a:r>
              <a:rPr lang="zh-CN" altLang="en-US" sz="1600" dirty="0"/>
              <a:t>设备连接了两个不同的</a:t>
            </a:r>
            <a:r>
              <a:rPr lang="en-US" altLang="zh-CN" sz="1600" dirty="0"/>
              <a:t>VPN</a:t>
            </a:r>
            <a:r>
              <a:rPr lang="zh-CN" altLang="en-US" sz="1600" dirty="0"/>
              <a:t>客户，并且</a:t>
            </a:r>
            <a:r>
              <a:rPr lang="en-US" altLang="zh-CN" sz="1600" dirty="0"/>
              <a:t>PE</a:t>
            </a:r>
            <a:r>
              <a:rPr lang="zh-CN" altLang="en-US" sz="1600" dirty="0"/>
              <a:t>和</a:t>
            </a:r>
            <a:r>
              <a:rPr lang="en-US" altLang="zh-CN" sz="1600" dirty="0"/>
              <a:t>CE</a:t>
            </a:r>
            <a:r>
              <a:rPr lang="zh-CN" altLang="en-US" sz="1600" dirty="0"/>
              <a:t>之间均部署</a:t>
            </a:r>
            <a:r>
              <a:rPr lang="en-US" altLang="zh-CN" sz="1600" dirty="0"/>
              <a:t>OSPF</a:t>
            </a:r>
            <a:r>
              <a:rPr lang="zh-CN" altLang="en-US" sz="1600" dirty="0"/>
              <a:t>，因此可以通过在</a:t>
            </a:r>
            <a:r>
              <a:rPr lang="en-US" altLang="zh-CN" sz="1600" dirty="0"/>
              <a:t>PE</a:t>
            </a:r>
            <a:r>
              <a:rPr lang="zh-CN" altLang="en-US" sz="1600" dirty="0"/>
              <a:t>设备上部署多进程实现</a:t>
            </a:r>
            <a:r>
              <a:rPr lang="en-US" altLang="zh-CN" sz="1600" dirty="0"/>
              <a:t>VPN</a:t>
            </a:r>
            <a:r>
              <a:rPr lang="zh-CN" altLang="en-US" sz="1600" dirty="0"/>
              <a:t>客户之间的隔离。</a:t>
            </a:r>
            <a:endParaRPr lang="en-US" altLang="zh-CN" sz="1600" dirty="0"/>
          </a:p>
        </p:txBody>
      </p:sp>
      <p:sp>
        <p:nvSpPr>
          <p:cNvPr id="28" name="圆角矩形标注 27"/>
          <p:cNvSpPr/>
          <p:nvPr/>
        </p:nvSpPr>
        <p:spPr bwMode="gray">
          <a:xfrm>
            <a:off x="8591855" y="2729952"/>
            <a:ext cx="3154057" cy="1177362"/>
          </a:xfrm>
          <a:prstGeom prst="wedgeRoundRectCallout">
            <a:avLst>
              <a:gd name="adj1" fmla="val -41270"/>
              <a:gd name="adj2" fmla="val 76720"/>
              <a:gd name="adj3" fmla="val 16667"/>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en-US" altLang="zh-CN" sz="1400" dirty="0">
                <a:solidFill>
                  <a:schemeClr val="tx1"/>
                </a:solidFill>
              </a:rPr>
              <a:t>[PE] </a:t>
            </a:r>
            <a:r>
              <a:rPr lang="en-US" altLang="zh-CN" sz="1400" b="1" dirty="0" err="1">
                <a:solidFill>
                  <a:schemeClr val="tx1"/>
                </a:solidFill>
              </a:rPr>
              <a:t>ospf</a:t>
            </a:r>
            <a:r>
              <a:rPr lang="en-US" altLang="zh-CN" sz="1400" b="1" dirty="0">
                <a:solidFill>
                  <a:schemeClr val="tx1"/>
                </a:solidFill>
              </a:rPr>
              <a:t> </a:t>
            </a:r>
            <a:r>
              <a:rPr lang="en-US" altLang="zh-CN" sz="1400" dirty="0">
                <a:solidFill>
                  <a:schemeClr val="tx1"/>
                </a:solidFill>
              </a:rPr>
              <a:t>100 </a:t>
            </a:r>
            <a:r>
              <a:rPr lang="en-US" altLang="zh-CN" sz="1400" b="1" dirty="0" err="1">
                <a:solidFill>
                  <a:schemeClr val="tx1"/>
                </a:solidFill>
              </a:rPr>
              <a:t>vpn</a:t>
            </a:r>
            <a:r>
              <a:rPr lang="en-US" altLang="zh-CN" sz="1400" b="1" dirty="0">
                <a:solidFill>
                  <a:schemeClr val="tx1"/>
                </a:solidFill>
              </a:rPr>
              <a:t>-instance</a:t>
            </a:r>
            <a:r>
              <a:rPr lang="en-US" altLang="zh-CN" sz="1400" dirty="0">
                <a:solidFill>
                  <a:schemeClr val="tx1"/>
                </a:solidFill>
              </a:rPr>
              <a:t> VPN1</a:t>
            </a:r>
            <a:endParaRPr lang="en-US" altLang="zh-CN" sz="1400" dirty="0">
              <a:solidFill>
                <a:schemeClr val="tx1"/>
              </a:solidFill>
            </a:endParaRPr>
          </a:p>
          <a:p>
            <a:pPr>
              <a:lnSpc>
                <a:spcPct val="125000"/>
              </a:lnSpc>
            </a:pPr>
            <a:r>
              <a:rPr lang="en-US" altLang="zh-CN" sz="1400" dirty="0">
                <a:solidFill>
                  <a:schemeClr val="tx1"/>
                </a:solidFill>
              </a:rPr>
              <a:t>[PE-ospf-100] quit</a:t>
            </a:r>
            <a:endParaRPr lang="en-US" altLang="zh-CN" sz="1400" dirty="0">
              <a:solidFill>
                <a:schemeClr val="tx1"/>
              </a:solidFill>
            </a:endParaRPr>
          </a:p>
          <a:p>
            <a:pPr>
              <a:lnSpc>
                <a:spcPct val="125000"/>
              </a:lnSpc>
            </a:pPr>
            <a:r>
              <a:rPr lang="en-US" altLang="zh-CN" sz="1400" dirty="0">
                <a:solidFill>
                  <a:schemeClr val="tx1"/>
                </a:solidFill>
              </a:rPr>
              <a:t>[PE] </a:t>
            </a:r>
            <a:r>
              <a:rPr lang="en-US" altLang="zh-CN" sz="1400" b="1" dirty="0" err="1">
                <a:solidFill>
                  <a:schemeClr val="tx1"/>
                </a:solidFill>
              </a:rPr>
              <a:t>ospf</a:t>
            </a:r>
            <a:r>
              <a:rPr lang="en-US" altLang="zh-CN" sz="1400" dirty="0">
                <a:solidFill>
                  <a:schemeClr val="tx1"/>
                </a:solidFill>
              </a:rPr>
              <a:t> 200 </a:t>
            </a:r>
            <a:r>
              <a:rPr lang="en-US" altLang="zh-CN" sz="1400" b="1" dirty="0" err="1">
                <a:solidFill>
                  <a:schemeClr val="tx1"/>
                </a:solidFill>
              </a:rPr>
              <a:t>vpn</a:t>
            </a:r>
            <a:r>
              <a:rPr lang="en-US" altLang="zh-CN" sz="1400" b="1" dirty="0">
                <a:solidFill>
                  <a:schemeClr val="tx1"/>
                </a:solidFill>
              </a:rPr>
              <a:t>-instance</a:t>
            </a:r>
            <a:r>
              <a:rPr lang="en-US" altLang="zh-CN" sz="1400" dirty="0">
                <a:solidFill>
                  <a:schemeClr val="tx1"/>
                </a:solidFill>
              </a:rPr>
              <a:t> VPN2</a:t>
            </a:r>
            <a:endParaRPr lang="en-US" altLang="zh-CN" sz="1400" dirty="0">
              <a:solidFill>
                <a:schemeClr val="tx1"/>
              </a:solidFill>
            </a:endParaRPr>
          </a:p>
          <a:p>
            <a:pPr>
              <a:lnSpc>
                <a:spcPct val="125000"/>
              </a:lnSpc>
            </a:pPr>
            <a:r>
              <a:rPr lang="en-US" altLang="zh-CN" sz="1400" dirty="0">
                <a:solidFill>
                  <a:schemeClr val="tx1"/>
                </a:solidFill>
              </a:rPr>
              <a:t>[PE-ospf-200] quit</a:t>
            </a:r>
            <a:endParaRPr lang="zh-CN" altLang="en-US" sz="1400" dirty="0">
              <a:solidFill>
                <a:schemeClr val="tx1"/>
              </a:solidFill>
            </a:endParaRPr>
          </a:p>
        </p:txBody>
      </p:sp>
      <p:sp>
        <p:nvSpPr>
          <p:cNvPr id="27" name="五边形 26"/>
          <p:cNvSpPr/>
          <p:nvPr/>
        </p:nvSpPr>
        <p:spPr bwMode="auto">
          <a:xfrm>
            <a:off x="8215368" y="124239"/>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燕尾形 30"/>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OSPF</a:t>
            </a:r>
            <a:r>
              <a:rPr lang="zh-CN" altLang="en-US"/>
              <a:t>与</a:t>
            </a:r>
            <a:r>
              <a:rPr lang="en-US" altLang="zh-CN"/>
              <a:t>BGP</a:t>
            </a:r>
            <a:r>
              <a:rPr lang="zh-CN" altLang="en-US"/>
              <a:t>联动 </a:t>
            </a:r>
            <a:r>
              <a:rPr lang="en-US" altLang="zh-CN"/>
              <a:t>(1)</a:t>
            </a:r>
            <a:endParaRPr lang="zh-CN" altLang="en-US" dirty="0"/>
          </a:p>
        </p:txBody>
      </p:sp>
      <p:sp>
        <p:nvSpPr>
          <p:cNvPr id="3" name="文本占位符 2"/>
          <p:cNvSpPr>
            <a:spLocks noGrp="1"/>
          </p:cNvSpPr>
          <p:nvPr>
            <p:ph type="body" sz="quarter" idx="10"/>
          </p:nvPr>
        </p:nvSpPr>
        <p:spPr bwMode="gray">
          <a:xfrm>
            <a:off x="455612" y="1047751"/>
            <a:ext cx="11293475" cy="955602"/>
          </a:xfrm>
        </p:spPr>
        <p:txBody>
          <a:bodyPr/>
          <a:lstStyle/>
          <a:p>
            <a:r>
              <a:rPr lang="zh-CN" altLang="en-US" sz="2000" dirty="0"/>
              <a:t>当有新的设备加入到网络中，或者设备重启时，可能会出现在</a:t>
            </a:r>
            <a:r>
              <a:rPr lang="en-US" altLang="zh-CN" sz="2000" dirty="0"/>
              <a:t>BGP</a:t>
            </a:r>
            <a:r>
              <a:rPr lang="zh-CN" altLang="en-US" sz="2000" dirty="0"/>
              <a:t>收敛期间内网络流量丢失的现象。这是</a:t>
            </a:r>
            <a:r>
              <a:rPr lang="en-US" altLang="zh-CN" sz="2000" dirty="0"/>
              <a:t>IGP</a:t>
            </a:r>
            <a:r>
              <a:rPr lang="zh-CN" altLang="en-US" sz="2000" dirty="0"/>
              <a:t>收敛速度比</a:t>
            </a:r>
            <a:r>
              <a:rPr lang="en-US" altLang="zh-CN" sz="2000" dirty="0"/>
              <a:t>BGP</a:t>
            </a:r>
            <a:r>
              <a:rPr lang="zh-CN" altLang="en-US" sz="2000" dirty="0"/>
              <a:t>快造成的。</a:t>
            </a:r>
            <a:endParaRPr lang="zh-CN" altLang="en-US" sz="2000" dirty="0"/>
          </a:p>
        </p:txBody>
      </p:sp>
      <p:sp>
        <p:nvSpPr>
          <p:cNvPr id="54" name="矩形 53"/>
          <p:cNvSpPr/>
          <p:nvPr/>
        </p:nvSpPr>
        <p:spPr bwMode="gray">
          <a:xfrm>
            <a:off x="4617315" y="2456877"/>
            <a:ext cx="1309221" cy="212729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31" name="矩形 30"/>
          <p:cNvSpPr/>
          <p:nvPr/>
        </p:nvSpPr>
        <p:spPr bwMode="gray">
          <a:xfrm>
            <a:off x="603161" y="2456877"/>
            <a:ext cx="3703354" cy="212729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32" name="文本框 31"/>
          <p:cNvSpPr txBox="1"/>
          <p:nvPr/>
        </p:nvSpPr>
        <p:spPr bwMode="gray">
          <a:xfrm>
            <a:off x="571333" y="2485581"/>
            <a:ext cx="776175" cy="307777"/>
          </a:xfrm>
          <a:prstGeom prst="rect">
            <a:avLst/>
          </a:prstGeom>
          <a:noFill/>
        </p:spPr>
        <p:txBody>
          <a:bodyPr wrap="none" rtlCol="0">
            <a:spAutoFit/>
          </a:bodyPr>
          <a:lstStyle/>
          <a:p>
            <a:pPr algn="ctr"/>
            <a:r>
              <a:rPr lang="en-US" altLang="zh-CN" sz="1400" b="1" dirty="0"/>
              <a:t>AS 100</a:t>
            </a:r>
            <a:endParaRPr lang="zh-CN" altLang="en-US" sz="1400" b="1" dirty="0"/>
          </a:p>
        </p:txBody>
      </p:sp>
      <p:sp>
        <p:nvSpPr>
          <p:cNvPr id="5" name="矩形 4"/>
          <p:cNvSpPr/>
          <p:nvPr/>
        </p:nvSpPr>
        <p:spPr bwMode="gray">
          <a:xfrm>
            <a:off x="603160" y="3615260"/>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2230669" y="3687616"/>
            <a:ext cx="540000" cy="442800"/>
          </a:xfrm>
          <a:prstGeom prst="rect">
            <a:avLst/>
          </a:prstGeom>
        </p:spPr>
      </p:pic>
      <p:sp>
        <p:nvSpPr>
          <p:cNvPr id="7" name="矩形 6"/>
          <p:cNvSpPr/>
          <p:nvPr/>
        </p:nvSpPr>
        <p:spPr bwMode="gray">
          <a:xfrm>
            <a:off x="2045594" y="4130416"/>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p:cNvSpPr/>
          <p:nvPr/>
        </p:nvSpPr>
        <p:spPr bwMode="gray">
          <a:xfrm>
            <a:off x="3488028" y="3615260"/>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R4</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10" name="图片 9"/>
          <p:cNvPicPr/>
          <p:nvPr/>
        </p:nvPicPr>
        <p:blipFill>
          <a:blip r:embed="rId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230669" y="2739498"/>
            <a:ext cx="540000" cy="442800"/>
          </a:xfrm>
          <a:prstGeom prst="rect">
            <a:avLst/>
          </a:prstGeom>
        </p:spPr>
      </p:pic>
      <p:sp>
        <p:nvSpPr>
          <p:cNvPr id="11" name="矩形 10"/>
          <p:cNvSpPr/>
          <p:nvPr/>
        </p:nvSpPr>
        <p:spPr bwMode="gray">
          <a:xfrm>
            <a:off x="2045594" y="2460587"/>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13" name="直接连接符 12"/>
          <p:cNvCxnSpPr>
            <a:stCxn id="4" idx="1"/>
            <a:endCxn id="6" idx="1"/>
          </p:cNvCxnSpPr>
          <p:nvPr/>
        </p:nvCxnSpPr>
        <p:spPr bwMode="gray">
          <a:xfrm>
            <a:off x="788235" y="3434957"/>
            <a:ext cx="1442434" cy="474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6" idx="3"/>
            <a:endCxn id="8" idx="3"/>
          </p:cNvCxnSpPr>
          <p:nvPr/>
        </p:nvCxnSpPr>
        <p:spPr bwMode="gray">
          <a:xfrm flipV="1">
            <a:off x="2770669" y="3432560"/>
            <a:ext cx="1442434" cy="476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4" idx="1"/>
            <a:endCxn id="10" idx="1"/>
          </p:cNvCxnSpPr>
          <p:nvPr/>
        </p:nvCxnSpPr>
        <p:spPr bwMode="gray">
          <a:xfrm flipV="1">
            <a:off x="788235" y="2960898"/>
            <a:ext cx="1442434" cy="474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10" idx="3"/>
            <a:endCxn id="8" idx="3"/>
          </p:cNvCxnSpPr>
          <p:nvPr/>
        </p:nvCxnSpPr>
        <p:spPr bwMode="gray">
          <a:xfrm>
            <a:off x="2770669" y="2960898"/>
            <a:ext cx="1442434" cy="4716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8" idx="3"/>
            <a:endCxn id="48" idx="1"/>
          </p:cNvCxnSpPr>
          <p:nvPr/>
        </p:nvCxnSpPr>
        <p:spPr bwMode="gray">
          <a:xfrm>
            <a:off x="4213103" y="3432560"/>
            <a:ext cx="846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bwMode="gray">
          <a:xfrm flipV="1">
            <a:off x="5316716" y="3086706"/>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矩形 29"/>
          <p:cNvSpPr/>
          <p:nvPr/>
        </p:nvSpPr>
        <p:spPr bwMode="gray">
          <a:xfrm>
            <a:off x="4732654" y="2843908"/>
            <a:ext cx="119388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10.1.5.5/32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34" name="直接箭头连接符 33"/>
          <p:cNvCxnSpPr/>
          <p:nvPr/>
        </p:nvCxnSpPr>
        <p:spPr bwMode="gray">
          <a:xfrm flipV="1">
            <a:off x="1328235" y="2834272"/>
            <a:ext cx="783245" cy="276696"/>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bwMode="gray">
          <a:xfrm flipH="1" flipV="1">
            <a:off x="2922964" y="2879585"/>
            <a:ext cx="774128" cy="281811"/>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bwMode="gray">
          <a:xfrm>
            <a:off x="1328235" y="3783401"/>
            <a:ext cx="783245" cy="250805"/>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bwMode="gray">
          <a:xfrm flipV="1">
            <a:off x="2832697" y="3722309"/>
            <a:ext cx="778378" cy="297407"/>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gray">
          <a:xfrm>
            <a:off x="3542860" y="4276390"/>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IBGP</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51" name="直接连接符 50"/>
          <p:cNvCxnSpPr/>
          <p:nvPr/>
        </p:nvCxnSpPr>
        <p:spPr bwMode="gray">
          <a:xfrm>
            <a:off x="5209840" y="3086706"/>
            <a:ext cx="2137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bwMode="gray">
          <a:xfrm>
            <a:off x="4244575" y="3555712"/>
            <a:ext cx="778378" cy="0"/>
          </a:xfrm>
          <a:prstGeom prst="straightConnector1">
            <a:avLst/>
          </a:prstGeom>
          <a:ln w="19050">
            <a:solidFill>
              <a:schemeClr val="tx1"/>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bwMode="gray">
          <a:xfrm>
            <a:off x="4216432" y="3541222"/>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EBGP</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7" name="文本框 56"/>
          <p:cNvSpPr txBox="1"/>
          <p:nvPr/>
        </p:nvSpPr>
        <p:spPr bwMode="gray">
          <a:xfrm>
            <a:off x="4671507" y="2485581"/>
            <a:ext cx="776175" cy="307777"/>
          </a:xfrm>
          <a:prstGeom prst="rect">
            <a:avLst/>
          </a:prstGeom>
          <a:noFill/>
        </p:spPr>
        <p:txBody>
          <a:bodyPr wrap="none" rtlCol="0">
            <a:spAutoFit/>
          </a:bodyPr>
          <a:lstStyle/>
          <a:p>
            <a:pPr algn="ctr"/>
            <a:r>
              <a:rPr lang="en-US" altLang="zh-CN" sz="1400" b="1" dirty="0"/>
              <a:t>AS 101</a:t>
            </a:r>
            <a:endParaRPr lang="zh-CN" altLang="en-US" sz="1400" b="1" dirty="0"/>
          </a:p>
        </p:txBody>
      </p:sp>
      <p:pic>
        <p:nvPicPr>
          <p:cNvPr id="48"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5059595" y="3211160"/>
            <a:ext cx="540000" cy="442800"/>
          </a:xfrm>
          <a:prstGeom prst="rect">
            <a:avLst/>
          </a:prstGeom>
        </p:spPr>
      </p:pic>
      <p:sp>
        <p:nvSpPr>
          <p:cNvPr id="59" name="文本占位符 2"/>
          <p:cNvSpPr txBox="1"/>
          <p:nvPr/>
        </p:nvSpPr>
        <p:spPr bwMode="gray">
          <a:xfrm>
            <a:off x="571332" y="4584166"/>
            <a:ext cx="5355203" cy="1472623"/>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R1</a:t>
            </a:r>
            <a:r>
              <a:rPr lang="zh-CN" altLang="en-US" sz="1600" dirty="0"/>
              <a:t>、</a:t>
            </a:r>
            <a:r>
              <a:rPr lang="en-US" altLang="zh-CN" sz="1600" dirty="0"/>
              <a:t>R2</a:t>
            </a:r>
            <a:r>
              <a:rPr lang="zh-CN" altLang="en-US" sz="1600" dirty="0"/>
              <a:t>、</a:t>
            </a:r>
            <a:r>
              <a:rPr lang="en-US" altLang="zh-CN" sz="1600" dirty="0"/>
              <a:t>R3</a:t>
            </a:r>
            <a:r>
              <a:rPr lang="zh-CN" altLang="en-US" sz="1600" dirty="0"/>
              <a:t>和</a:t>
            </a:r>
            <a:r>
              <a:rPr lang="en-US" altLang="zh-CN" sz="1600" dirty="0"/>
              <a:t>R4</a:t>
            </a:r>
            <a:r>
              <a:rPr lang="zh-CN" altLang="en-US" sz="1600" dirty="0"/>
              <a:t>运行</a:t>
            </a:r>
            <a:r>
              <a:rPr lang="en-US" altLang="zh-CN" sz="1600" dirty="0"/>
              <a:t>OSPF</a:t>
            </a:r>
            <a:r>
              <a:rPr lang="zh-CN" altLang="en-US" sz="1600" dirty="0"/>
              <a:t>，并建立</a:t>
            </a:r>
            <a:r>
              <a:rPr lang="en-US" altLang="zh-CN" sz="1600" dirty="0"/>
              <a:t>IBGP</a:t>
            </a:r>
            <a:r>
              <a:rPr lang="zh-CN" altLang="en-US" sz="1600" dirty="0"/>
              <a:t>全互联。其中</a:t>
            </a:r>
            <a:r>
              <a:rPr lang="en-US" altLang="zh-CN" sz="1600" dirty="0"/>
              <a:t>R3</a:t>
            </a:r>
            <a:r>
              <a:rPr lang="zh-CN" altLang="en-US" sz="1600" dirty="0"/>
              <a:t>是</a:t>
            </a:r>
            <a:r>
              <a:rPr lang="en-US" altLang="zh-CN" sz="1600" dirty="0"/>
              <a:t>R2</a:t>
            </a:r>
            <a:r>
              <a:rPr lang="zh-CN" altLang="en-US" sz="1600" dirty="0"/>
              <a:t>的备份设备。</a:t>
            </a:r>
            <a:endParaRPr lang="en-US" altLang="zh-CN" sz="1600" dirty="0"/>
          </a:p>
          <a:p>
            <a:pPr marL="0" indent="0">
              <a:buNone/>
            </a:pPr>
            <a:r>
              <a:rPr lang="zh-CN" altLang="en-US" sz="1600" dirty="0"/>
              <a:t>当网络环境稳定时，</a:t>
            </a:r>
            <a:r>
              <a:rPr lang="en-US" altLang="zh-CN" sz="1600" dirty="0"/>
              <a:t>R1</a:t>
            </a:r>
            <a:r>
              <a:rPr lang="zh-CN" altLang="en-US" sz="1600" dirty="0"/>
              <a:t>访问</a:t>
            </a:r>
            <a:r>
              <a:rPr lang="en-US" altLang="zh-CN" sz="1600" dirty="0"/>
              <a:t>10.1.5.5/32</a:t>
            </a:r>
            <a:r>
              <a:rPr lang="zh-CN" altLang="en-US" sz="1600" dirty="0"/>
              <a:t>的流量路径为：</a:t>
            </a:r>
            <a:r>
              <a:rPr lang="en-US" altLang="zh-CN" sz="1600" dirty="0"/>
              <a:t>R1-R2-R4-R5</a:t>
            </a:r>
            <a:r>
              <a:rPr lang="zh-CN" altLang="en-US" sz="1600" dirty="0"/>
              <a:t>。</a:t>
            </a:r>
            <a:endParaRPr lang="zh-CN" altLang="en-US" sz="1600" dirty="0"/>
          </a:p>
        </p:txBody>
      </p:sp>
      <p:pic>
        <p:nvPicPr>
          <p:cNvPr id="4" name="图片 3"/>
          <p:cNvPicPr/>
          <p:nvPr/>
        </p:nvPicPr>
        <p:blipFill>
          <a:blip r:embed="rId1" cstate="print">
            <a:extLst>
              <a:ext uri="{28A0092B-C50C-407E-A947-70E740481C1C}">
                <a14:useLocalDpi xmlns:a14="http://schemas.microsoft.com/office/drawing/2010/main" val="0"/>
              </a:ext>
            </a:extLst>
          </a:blip>
          <a:stretch>
            <a:fillRect/>
          </a:stretch>
        </p:blipFill>
        <p:spPr bwMode="gray">
          <a:xfrm>
            <a:off x="788235" y="3213557"/>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3673103" y="3211160"/>
            <a:ext cx="540000" cy="442800"/>
          </a:xfrm>
          <a:prstGeom prst="rect">
            <a:avLst/>
          </a:prstGeom>
        </p:spPr>
      </p:pic>
      <p:cxnSp>
        <p:nvCxnSpPr>
          <p:cNvPr id="52" name="直接箭头连接符 51"/>
          <p:cNvCxnSpPr/>
          <p:nvPr/>
        </p:nvCxnSpPr>
        <p:spPr bwMode="gray">
          <a:xfrm>
            <a:off x="1405285" y="3444441"/>
            <a:ext cx="2174406" cy="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bwMode="gray">
          <a:xfrm flipV="1">
            <a:off x="2500669" y="3252195"/>
            <a:ext cx="0" cy="39922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bwMode="gray">
          <a:xfrm>
            <a:off x="3232060" y="4438193"/>
            <a:ext cx="455075" cy="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矩形 61"/>
          <p:cNvSpPr/>
          <p:nvPr/>
        </p:nvSpPr>
        <p:spPr bwMode="gray">
          <a:xfrm>
            <a:off x="4868434" y="3615260"/>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R5</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3" name="文本占位符 2"/>
          <p:cNvSpPr txBox="1"/>
          <p:nvPr/>
        </p:nvSpPr>
        <p:spPr bwMode="gray">
          <a:xfrm>
            <a:off x="6090840" y="2328086"/>
            <a:ext cx="5655072" cy="2743201"/>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r>
              <a:rPr lang="zh-CN" altLang="en-US" sz="1600" dirty="0"/>
              <a:t>当</a:t>
            </a:r>
            <a:r>
              <a:rPr lang="en-US" altLang="zh-CN" sz="1600" dirty="0"/>
              <a:t>R2</a:t>
            </a:r>
            <a:r>
              <a:rPr lang="zh-CN" altLang="en-US" sz="1600" dirty="0"/>
              <a:t>故障时，流量路径切换到：</a:t>
            </a:r>
            <a:r>
              <a:rPr lang="en-US" altLang="zh-CN" sz="1600" dirty="0"/>
              <a:t>R1-R3-R4-R5</a:t>
            </a:r>
            <a:r>
              <a:rPr lang="zh-CN" altLang="en-US" sz="1600" dirty="0"/>
              <a:t>。</a:t>
            </a:r>
            <a:endParaRPr lang="en-US" altLang="zh-CN" sz="1600" dirty="0"/>
          </a:p>
          <a:p>
            <a:pPr marL="342900" indent="-342900">
              <a:buFont typeface="+mj-lt"/>
              <a:buAutoNum type="arabicPeriod"/>
            </a:pPr>
            <a:r>
              <a:rPr lang="zh-CN" altLang="en-US" sz="1600" dirty="0"/>
              <a:t>当</a:t>
            </a:r>
            <a:r>
              <a:rPr lang="en-US" altLang="zh-CN" sz="1600" dirty="0"/>
              <a:t>R2</a:t>
            </a:r>
            <a:r>
              <a:rPr lang="zh-CN" altLang="en-US" sz="1600" dirty="0"/>
              <a:t>故障恢复后，由于</a:t>
            </a:r>
            <a:r>
              <a:rPr lang="en-US" altLang="zh-CN" sz="1600" dirty="0"/>
              <a:t>IGP</a:t>
            </a:r>
            <a:r>
              <a:rPr lang="zh-CN" altLang="en-US" sz="1600" dirty="0"/>
              <a:t>收敛速度比</a:t>
            </a:r>
            <a:r>
              <a:rPr lang="en-US" altLang="zh-CN" sz="1600" dirty="0"/>
              <a:t>BGP</a:t>
            </a:r>
            <a:r>
              <a:rPr lang="zh-CN" altLang="en-US" sz="1600" dirty="0"/>
              <a:t>快，因此</a:t>
            </a:r>
            <a:r>
              <a:rPr lang="en-US" altLang="zh-CN" sz="1600" dirty="0"/>
              <a:t>OSPF</a:t>
            </a:r>
            <a:r>
              <a:rPr lang="zh-CN" altLang="en-US" sz="1600" dirty="0"/>
              <a:t>先收敛。此时</a:t>
            </a:r>
            <a:r>
              <a:rPr lang="en-US" altLang="zh-CN" sz="1600" dirty="0"/>
              <a:t>R1</a:t>
            </a:r>
            <a:r>
              <a:rPr lang="zh-CN" altLang="en-US" sz="1600" dirty="0"/>
              <a:t>若要访问</a:t>
            </a:r>
            <a:r>
              <a:rPr lang="en-US" altLang="zh-CN" sz="1600" dirty="0"/>
              <a:t>10.1.5.5/32</a:t>
            </a:r>
            <a:r>
              <a:rPr lang="zh-CN" altLang="en-US" sz="1600" dirty="0"/>
              <a:t>，先查</a:t>
            </a:r>
            <a:r>
              <a:rPr lang="en-US" altLang="zh-CN" sz="1600" dirty="0"/>
              <a:t>BGP</a:t>
            </a:r>
            <a:r>
              <a:rPr lang="zh-CN" altLang="en-US" sz="1600" dirty="0"/>
              <a:t>路由，下一跳为</a:t>
            </a:r>
            <a:r>
              <a:rPr lang="en-US" altLang="zh-CN" sz="1600" dirty="0"/>
              <a:t>R5</a:t>
            </a:r>
            <a:r>
              <a:rPr lang="zh-CN" altLang="en-US" sz="1600" dirty="0"/>
              <a:t>；再查</a:t>
            </a:r>
            <a:r>
              <a:rPr lang="en-US" altLang="zh-CN" sz="1600" dirty="0"/>
              <a:t>IGP</a:t>
            </a:r>
            <a:r>
              <a:rPr lang="zh-CN" altLang="en-US" sz="1600" dirty="0"/>
              <a:t>路由，会根据</a:t>
            </a:r>
            <a:r>
              <a:rPr lang="en-US" altLang="zh-CN" sz="1600" dirty="0"/>
              <a:t>IGP</a:t>
            </a:r>
            <a:r>
              <a:rPr lang="zh-CN" altLang="en-US" sz="1600" dirty="0"/>
              <a:t>路由传递给</a:t>
            </a:r>
            <a:r>
              <a:rPr lang="en-US" altLang="zh-CN" sz="1600" dirty="0"/>
              <a:t>R2</a:t>
            </a:r>
            <a:r>
              <a:rPr lang="zh-CN" altLang="en-US" sz="1600" dirty="0"/>
              <a:t>。</a:t>
            </a:r>
            <a:endParaRPr lang="en-US" altLang="zh-CN" sz="1600" dirty="0"/>
          </a:p>
          <a:p>
            <a:pPr marL="342900" indent="-342900">
              <a:buFont typeface="+mj-lt"/>
              <a:buAutoNum type="arabicPeriod"/>
            </a:pPr>
            <a:r>
              <a:rPr lang="en-US" altLang="zh-CN" sz="1600" dirty="0"/>
              <a:t>R2</a:t>
            </a:r>
            <a:r>
              <a:rPr lang="zh-CN" altLang="en-US" sz="1600" dirty="0"/>
              <a:t>收到该流量后，会查</a:t>
            </a:r>
            <a:r>
              <a:rPr lang="en-US" altLang="zh-CN" sz="1600" dirty="0"/>
              <a:t>BGP</a:t>
            </a:r>
            <a:r>
              <a:rPr lang="zh-CN" altLang="en-US" sz="1600" dirty="0"/>
              <a:t>路由。由于</a:t>
            </a:r>
            <a:r>
              <a:rPr lang="en-US" altLang="zh-CN" sz="1600" dirty="0"/>
              <a:t>BGP</a:t>
            </a:r>
            <a:r>
              <a:rPr lang="zh-CN" altLang="en-US" sz="1600" dirty="0"/>
              <a:t>还未完成收敛，发现没有到达</a:t>
            </a:r>
            <a:r>
              <a:rPr lang="en-US" altLang="zh-CN" sz="1600" dirty="0"/>
              <a:t>10.1.5.5/32</a:t>
            </a:r>
            <a:r>
              <a:rPr lang="zh-CN" altLang="en-US" sz="1600" dirty="0"/>
              <a:t>的路由，则不会转发数据，造成流量丢失。</a:t>
            </a:r>
            <a:endParaRPr lang="zh-CN" altLang="en-US" sz="1600" dirty="0"/>
          </a:p>
        </p:txBody>
      </p:sp>
      <p:grpSp>
        <p:nvGrpSpPr>
          <p:cNvPr id="64" name="组合 63"/>
          <p:cNvGrpSpPr/>
          <p:nvPr/>
        </p:nvGrpSpPr>
        <p:grpSpPr bwMode="gray">
          <a:xfrm>
            <a:off x="2426965" y="2860755"/>
            <a:ext cx="144000" cy="143999"/>
            <a:chOff x="6024000" y="3357001"/>
            <a:chExt cx="144000" cy="143999"/>
          </a:xfrm>
        </p:grpSpPr>
        <p:cxnSp>
          <p:nvCxnSpPr>
            <p:cNvPr id="65" name="直接连接符 64"/>
            <p:cNvCxnSpPr/>
            <p:nvPr/>
          </p:nvCxnSpPr>
          <p:spPr bwMode="gray">
            <a:xfrm flipV="1">
              <a:off x="6024000" y="3357001"/>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cxnSp>
          <p:nvCxnSpPr>
            <p:cNvPr id="66" name="直接连接符 65"/>
            <p:cNvCxnSpPr/>
            <p:nvPr/>
          </p:nvCxnSpPr>
          <p:spPr bwMode="gray">
            <a:xfrm>
              <a:off x="6024000" y="3357001"/>
              <a:ext cx="144000" cy="143999"/>
            </a:xfrm>
            <a:prstGeom prst="line">
              <a:avLst/>
            </a:prstGeom>
            <a:solidFill>
              <a:srgbClr val="EC7061"/>
            </a:solidFill>
            <a:ln w="38100" cap="rnd">
              <a:solidFill>
                <a:srgbClr val="C7000B"/>
              </a:solidFill>
              <a:round/>
            </a:ln>
            <a:effectLst/>
          </p:spPr>
          <p:style>
            <a:lnRef idx="2">
              <a:schemeClr val="accent1"/>
            </a:lnRef>
            <a:fillRef idx="0">
              <a:schemeClr val="accent1"/>
            </a:fillRef>
            <a:effectRef idx="1">
              <a:schemeClr val="accent1"/>
            </a:effectRef>
            <a:fontRef idx="minor">
              <a:schemeClr val="tx1"/>
            </a:fontRef>
          </p:style>
        </p:cxnSp>
      </p:grpSp>
      <p:sp>
        <p:nvSpPr>
          <p:cNvPr id="49" name="任意多边形 48"/>
          <p:cNvSpPr/>
          <p:nvPr/>
        </p:nvSpPr>
        <p:spPr bwMode="gray">
          <a:xfrm>
            <a:off x="1406821" y="3512944"/>
            <a:ext cx="2086378" cy="310028"/>
          </a:xfrm>
          <a:custGeom>
            <a:avLst/>
            <a:gdLst>
              <a:gd name="connsiteX0" fmla="*/ 0 w 2086378"/>
              <a:gd name="connsiteY0" fmla="*/ 0 h 310028"/>
              <a:gd name="connsiteX1" fmla="*/ 1017431 w 2086378"/>
              <a:gd name="connsiteY1" fmla="*/ 309093 h 310028"/>
              <a:gd name="connsiteX2" fmla="*/ 2086378 w 2086378"/>
              <a:gd name="connsiteY2" fmla="*/ 77273 h 310028"/>
            </a:gdLst>
            <a:ahLst/>
            <a:cxnLst>
              <a:cxn ang="0">
                <a:pos x="connsiteX0" y="connsiteY0"/>
              </a:cxn>
              <a:cxn ang="0">
                <a:pos x="connsiteX1" y="connsiteY1"/>
              </a:cxn>
              <a:cxn ang="0">
                <a:pos x="connsiteX2" y="connsiteY2"/>
              </a:cxn>
            </a:cxnLst>
            <a:rect l="l" t="t" r="r" b="b"/>
            <a:pathLst>
              <a:path w="2086378" h="310028">
                <a:moveTo>
                  <a:pt x="0" y="0"/>
                </a:moveTo>
                <a:cubicBezTo>
                  <a:pt x="334850" y="148107"/>
                  <a:pt x="669701" y="296214"/>
                  <a:pt x="1017431" y="309093"/>
                </a:cubicBezTo>
                <a:cubicBezTo>
                  <a:pt x="1365161" y="321972"/>
                  <a:pt x="1725769" y="199622"/>
                  <a:pt x="2086378" y="77273"/>
                </a:cubicBezTo>
              </a:path>
            </a:pathLst>
          </a:custGeom>
          <a:noFill/>
          <a:ln w="28575">
            <a:solidFill>
              <a:srgbClr val="62B23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Oval 4"/>
          <p:cNvSpPr>
            <a:spLocks noChangeAspect="1"/>
          </p:cNvSpPr>
          <p:nvPr/>
        </p:nvSpPr>
        <p:spPr bwMode="gray">
          <a:xfrm>
            <a:off x="1307041" y="3408679"/>
            <a:ext cx="180000" cy="180000"/>
          </a:xfrm>
          <a:prstGeom prst="ellipse">
            <a:avLst/>
          </a:prstGeom>
          <a:solidFill>
            <a:srgbClr val="62B23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49"/>
          <p:cNvSpPr/>
          <p:nvPr/>
        </p:nvSpPr>
        <p:spPr bwMode="gray">
          <a:xfrm rot="562458">
            <a:off x="1327121" y="2726932"/>
            <a:ext cx="798491" cy="386366"/>
          </a:xfrm>
          <a:custGeom>
            <a:avLst/>
            <a:gdLst>
              <a:gd name="connsiteX0" fmla="*/ 0 w 798491"/>
              <a:gd name="connsiteY0" fmla="*/ 386366 h 386366"/>
              <a:gd name="connsiteX1" fmla="*/ 321972 w 798491"/>
              <a:gd name="connsiteY1" fmla="*/ 115910 h 386366"/>
              <a:gd name="connsiteX2" fmla="*/ 798491 w 798491"/>
              <a:gd name="connsiteY2" fmla="*/ 0 h 386366"/>
            </a:gdLst>
            <a:ahLst/>
            <a:cxnLst>
              <a:cxn ang="0">
                <a:pos x="connsiteX0" y="connsiteY0"/>
              </a:cxn>
              <a:cxn ang="0">
                <a:pos x="connsiteX1" y="connsiteY1"/>
              </a:cxn>
              <a:cxn ang="0">
                <a:pos x="connsiteX2" y="connsiteY2"/>
              </a:cxn>
            </a:cxnLst>
            <a:rect l="l" t="t" r="r" b="b"/>
            <a:pathLst>
              <a:path w="798491" h="386366">
                <a:moveTo>
                  <a:pt x="0" y="386366"/>
                </a:moveTo>
                <a:cubicBezTo>
                  <a:pt x="94445" y="283335"/>
                  <a:pt x="188890" y="180304"/>
                  <a:pt x="321972" y="115910"/>
                </a:cubicBezTo>
                <a:cubicBezTo>
                  <a:pt x="455054" y="51516"/>
                  <a:pt x="626772" y="25758"/>
                  <a:pt x="798491" y="0"/>
                </a:cubicBezTo>
              </a:path>
            </a:pathLst>
          </a:custGeom>
          <a:noFill/>
          <a:ln w="28575">
            <a:solidFill>
              <a:srgbClr val="C7000B"/>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Oval 4"/>
          <p:cNvSpPr>
            <a:spLocks noChangeAspect="1"/>
          </p:cNvSpPr>
          <p:nvPr/>
        </p:nvSpPr>
        <p:spPr bwMode="gray">
          <a:xfrm>
            <a:off x="1191400" y="2970465"/>
            <a:ext cx="180000" cy="180000"/>
          </a:xfrm>
          <a:prstGeom prst="ellipse">
            <a:avLst/>
          </a:prstGeom>
          <a:solidFill>
            <a:srgbClr val="C7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Oval 4"/>
          <p:cNvSpPr>
            <a:spLocks noChangeAspect="1"/>
          </p:cNvSpPr>
          <p:nvPr/>
        </p:nvSpPr>
        <p:spPr bwMode="gray">
          <a:xfrm>
            <a:off x="2596150" y="2700080"/>
            <a:ext cx="180000" cy="180000"/>
          </a:xfrm>
          <a:prstGeom prst="ellipse">
            <a:avLst/>
          </a:prstGeom>
          <a:solidFill>
            <a:srgbClr val="C7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五边形 52"/>
          <p:cNvSpPr/>
          <p:nvPr/>
        </p:nvSpPr>
        <p:spPr bwMode="gray">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燕尾形 71"/>
          <p:cNvSpPr/>
          <p:nvPr/>
        </p:nvSpPr>
        <p:spPr bwMode="gray">
          <a:xfrm>
            <a:off x="8842066"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gray">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gray">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燕尾形 74"/>
          <p:cNvSpPr/>
          <p:nvPr/>
        </p:nvSpPr>
        <p:spPr bwMode="gray">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67" grpId="0" animBg="1"/>
      <p:bldP spid="50" grpId="0" animBg="1"/>
      <p:bldP spid="68" grpId="0" animBg="1"/>
      <p:bldP spid="6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a:t>
            </a:r>
            <a:r>
              <a:rPr lang="zh-CN" altLang="en-US"/>
              <a:t>与</a:t>
            </a:r>
            <a:r>
              <a:rPr lang="en-US" altLang="zh-CN"/>
              <a:t>BGP</a:t>
            </a:r>
            <a:r>
              <a:rPr lang="zh-CN" altLang="en-US"/>
              <a:t>联动 </a:t>
            </a:r>
            <a:r>
              <a:rPr lang="en-US" altLang="zh-CN"/>
              <a:t>(2)</a:t>
            </a:r>
            <a:endParaRPr lang="zh-CN" altLang="en-US" dirty="0"/>
          </a:p>
        </p:txBody>
      </p:sp>
      <p:sp>
        <p:nvSpPr>
          <p:cNvPr id="3" name="文本占位符 2"/>
          <p:cNvSpPr>
            <a:spLocks noGrp="1"/>
          </p:cNvSpPr>
          <p:nvPr>
            <p:ph type="body" sz="quarter" idx="10"/>
          </p:nvPr>
        </p:nvSpPr>
        <p:spPr>
          <a:xfrm>
            <a:off x="455612" y="1047750"/>
            <a:ext cx="11293475" cy="1836751"/>
          </a:xfrm>
        </p:spPr>
        <p:txBody>
          <a:bodyPr/>
          <a:lstStyle/>
          <a:p>
            <a:r>
              <a:rPr lang="zh-CN" altLang="en-US" sz="2000" dirty="0"/>
              <a:t>通过使能</a:t>
            </a:r>
            <a:r>
              <a:rPr lang="en-US" altLang="zh-CN" sz="2000" dirty="0"/>
              <a:t>OSPF</a:t>
            </a:r>
            <a:r>
              <a:rPr lang="zh-CN" altLang="en-US" sz="2000" dirty="0"/>
              <a:t>与</a:t>
            </a:r>
            <a:r>
              <a:rPr lang="en-US" altLang="zh-CN" sz="2000" dirty="0"/>
              <a:t>BGP</a:t>
            </a:r>
            <a:r>
              <a:rPr lang="zh-CN" altLang="en-US" sz="2000" dirty="0"/>
              <a:t>联动特性，可以解决流量丢失问题。</a:t>
            </a:r>
            <a:endParaRPr lang="en-US" altLang="zh-CN" sz="2000" dirty="0"/>
          </a:p>
          <a:p>
            <a:r>
              <a:rPr lang="zh-CN" altLang="en-US" sz="2000" dirty="0"/>
              <a:t>使能了</a:t>
            </a:r>
            <a:r>
              <a:rPr lang="en-US" altLang="zh-CN" sz="2000" dirty="0"/>
              <a:t>OSPF</a:t>
            </a:r>
            <a:r>
              <a:rPr lang="zh-CN" altLang="en-US" sz="2000" dirty="0"/>
              <a:t>与</a:t>
            </a:r>
            <a:r>
              <a:rPr lang="en-US" altLang="zh-CN" sz="2000" dirty="0"/>
              <a:t>BGP</a:t>
            </a:r>
            <a:r>
              <a:rPr lang="zh-CN" altLang="en-US" sz="2000" dirty="0"/>
              <a:t>联动特性的设备会在设定的联动时间内保持为</a:t>
            </a:r>
            <a:r>
              <a:rPr lang="en-US" altLang="zh-CN" sz="2000" dirty="0"/>
              <a:t>Stub</a:t>
            </a:r>
            <a:r>
              <a:rPr lang="zh-CN" altLang="en-US" sz="2000" dirty="0"/>
              <a:t>路由器，也就是说，该设备发布的</a:t>
            </a:r>
            <a:r>
              <a:rPr lang="en-US" altLang="zh-CN" sz="2000" dirty="0"/>
              <a:t>LSA</a:t>
            </a:r>
            <a:r>
              <a:rPr lang="zh-CN" altLang="en-US" sz="2000" dirty="0"/>
              <a:t>中的链路度量值为最大值（</a:t>
            </a:r>
            <a:r>
              <a:rPr lang="en-US" altLang="zh-CN" sz="2000" dirty="0"/>
              <a:t>65535</a:t>
            </a:r>
            <a:r>
              <a:rPr lang="zh-CN" altLang="en-US" sz="2000" dirty="0"/>
              <a:t>），从而告知其它</a:t>
            </a:r>
            <a:r>
              <a:rPr lang="en-US" altLang="zh-CN" sz="2000" dirty="0"/>
              <a:t>OSPF</a:t>
            </a:r>
            <a:r>
              <a:rPr lang="zh-CN" altLang="en-US" sz="2000" dirty="0"/>
              <a:t>设备不要使用这个路由器来转发数据。</a:t>
            </a:r>
            <a:endParaRPr lang="zh-CN" altLang="en-US" sz="2000" dirty="0"/>
          </a:p>
        </p:txBody>
      </p:sp>
      <p:sp>
        <p:nvSpPr>
          <p:cNvPr id="46" name="矩形 45"/>
          <p:cNvSpPr/>
          <p:nvPr/>
        </p:nvSpPr>
        <p:spPr bwMode="gray">
          <a:xfrm>
            <a:off x="4849137" y="3011950"/>
            <a:ext cx="1309221" cy="212729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47" name="矩形 46"/>
          <p:cNvSpPr/>
          <p:nvPr/>
        </p:nvSpPr>
        <p:spPr bwMode="gray">
          <a:xfrm>
            <a:off x="834983" y="3011950"/>
            <a:ext cx="3703354" cy="212729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53" name="文本框 52"/>
          <p:cNvSpPr txBox="1"/>
          <p:nvPr/>
        </p:nvSpPr>
        <p:spPr bwMode="gray">
          <a:xfrm>
            <a:off x="803155" y="3040654"/>
            <a:ext cx="776175" cy="307777"/>
          </a:xfrm>
          <a:prstGeom prst="rect">
            <a:avLst/>
          </a:prstGeom>
          <a:noFill/>
        </p:spPr>
        <p:txBody>
          <a:bodyPr wrap="none" rtlCol="0">
            <a:spAutoFit/>
          </a:bodyPr>
          <a:lstStyle/>
          <a:p>
            <a:pPr algn="ctr"/>
            <a:r>
              <a:rPr lang="en-US" altLang="zh-CN" sz="1400" b="1" dirty="0"/>
              <a:t>AS 100</a:t>
            </a:r>
            <a:endParaRPr lang="zh-CN" altLang="en-US" sz="1400" b="1" dirty="0"/>
          </a:p>
        </p:txBody>
      </p:sp>
      <p:sp>
        <p:nvSpPr>
          <p:cNvPr id="58" name="矩形 57"/>
          <p:cNvSpPr/>
          <p:nvPr/>
        </p:nvSpPr>
        <p:spPr bwMode="gray">
          <a:xfrm>
            <a:off x="834982" y="4170333"/>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0" name="图片 69"/>
          <p:cNvPicPr/>
          <p:nvPr/>
        </p:nvPicPr>
        <p:blipFill>
          <a:blip r:embed="rId1" cstate="print">
            <a:extLst>
              <a:ext uri="{28A0092B-C50C-407E-A947-70E740481C1C}">
                <a14:useLocalDpi xmlns:a14="http://schemas.microsoft.com/office/drawing/2010/main" val="0"/>
              </a:ext>
            </a:extLst>
          </a:blip>
          <a:stretch>
            <a:fillRect/>
          </a:stretch>
        </p:blipFill>
        <p:spPr bwMode="gray">
          <a:xfrm>
            <a:off x="2462491" y="4242689"/>
            <a:ext cx="540000" cy="442800"/>
          </a:xfrm>
          <a:prstGeom prst="rect">
            <a:avLst/>
          </a:prstGeom>
        </p:spPr>
      </p:pic>
      <p:sp>
        <p:nvSpPr>
          <p:cNvPr id="71" name="矩形 70"/>
          <p:cNvSpPr/>
          <p:nvPr/>
        </p:nvSpPr>
        <p:spPr bwMode="gray">
          <a:xfrm>
            <a:off x="2277416" y="4685489"/>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2" name="矩形 71"/>
          <p:cNvSpPr/>
          <p:nvPr/>
        </p:nvSpPr>
        <p:spPr bwMode="gray">
          <a:xfrm>
            <a:off x="3719850" y="4170333"/>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R4</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3" name="图片 72"/>
          <p:cNvPicPr/>
          <p:nvPr/>
        </p:nvPicPr>
        <p:blipFill>
          <a:blip r:embed="rId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462491" y="3294571"/>
            <a:ext cx="540000" cy="442800"/>
          </a:xfrm>
          <a:prstGeom prst="rect">
            <a:avLst/>
          </a:prstGeom>
        </p:spPr>
      </p:pic>
      <p:sp>
        <p:nvSpPr>
          <p:cNvPr id="74" name="矩形 73"/>
          <p:cNvSpPr/>
          <p:nvPr/>
        </p:nvSpPr>
        <p:spPr bwMode="gray">
          <a:xfrm>
            <a:off x="2277416" y="3015660"/>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75" name="直接连接符 74"/>
          <p:cNvCxnSpPr>
            <a:stCxn id="92" idx="1"/>
            <a:endCxn id="70" idx="1"/>
          </p:cNvCxnSpPr>
          <p:nvPr/>
        </p:nvCxnSpPr>
        <p:spPr bwMode="gray">
          <a:xfrm>
            <a:off x="1020057" y="3990030"/>
            <a:ext cx="1442434" cy="474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a:stCxn id="70" idx="3"/>
            <a:endCxn id="93" idx="3"/>
          </p:cNvCxnSpPr>
          <p:nvPr/>
        </p:nvCxnSpPr>
        <p:spPr bwMode="gray">
          <a:xfrm flipV="1">
            <a:off x="3002491" y="3987633"/>
            <a:ext cx="1442434" cy="476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a:stCxn id="92" idx="1"/>
            <a:endCxn id="73" idx="1"/>
          </p:cNvCxnSpPr>
          <p:nvPr/>
        </p:nvCxnSpPr>
        <p:spPr bwMode="gray">
          <a:xfrm flipV="1">
            <a:off x="1020057" y="3515971"/>
            <a:ext cx="1442434" cy="47405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a:stCxn id="73" idx="3"/>
            <a:endCxn id="93" idx="3"/>
          </p:cNvCxnSpPr>
          <p:nvPr/>
        </p:nvCxnSpPr>
        <p:spPr bwMode="gray">
          <a:xfrm>
            <a:off x="3002491" y="3515971"/>
            <a:ext cx="1442434" cy="4716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a:stCxn id="93" idx="3"/>
            <a:endCxn id="91" idx="1"/>
          </p:cNvCxnSpPr>
          <p:nvPr/>
        </p:nvCxnSpPr>
        <p:spPr bwMode="gray">
          <a:xfrm>
            <a:off x="4444925" y="3987633"/>
            <a:ext cx="84649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bwMode="gray">
          <a:xfrm flipV="1">
            <a:off x="5548538" y="3641779"/>
            <a:ext cx="0" cy="221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1" name="矩形 80"/>
          <p:cNvSpPr/>
          <p:nvPr/>
        </p:nvSpPr>
        <p:spPr bwMode="gray">
          <a:xfrm>
            <a:off x="4964476" y="3398981"/>
            <a:ext cx="119388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10.1.5.5/32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82" name="直接箭头连接符 81"/>
          <p:cNvCxnSpPr/>
          <p:nvPr/>
        </p:nvCxnSpPr>
        <p:spPr bwMode="gray">
          <a:xfrm flipV="1">
            <a:off x="1560057" y="3389345"/>
            <a:ext cx="783245" cy="276696"/>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bwMode="gray">
          <a:xfrm flipH="1" flipV="1">
            <a:off x="3154786" y="3434658"/>
            <a:ext cx="774128" cy="281811"/>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bwMode="gray">
          <a:xfrm>
            <a:off x="1560057" y="4338474"/>
            <a:ext cx="783245" cy="250805"/>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bwMode="gray">
          <a:xfrm flipV="1">
            <a:off x="3064519" y="4277382"/>
            <a:ext cx="778378" cy="297407"/>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86" name="矩形 85"/>
          <p:cNvSpPr/>
          <p:nvPr/>
        </p:nvSpPr>
        <p:spPr bwMode="gray">
          <a:xfrm>
            <a:off x="3774682" y="4831463"/>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IBGP</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87" name="直接连接符 86"/>
          <p:cNvCxnSpPr/>
          <p:nvPr/>
        </p:nvCxnSpPr>
        <p:spPr bwMode="gray">
          <a:xfrm>
            <a:off x="5441662" y="3641779"/>
            <a:ext cx="21375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bwMode="gray">
          <a:xfrm>
            <a:off x="4476397" y="4110785"/>
            <a:ext cx="778378" cy="0"/>
          </a:xfrm>
          <a:prstGeom prst="straightConnector1">
            <a:avLst/>
          </a:prstGeom>
          <a:ln w="19050">
            <a:solidFill>
              <a:schemeClr val="tx1"/>
            </a:solidFill>
            <a:prstDash val="dash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89" name="矩形 88"/>
          <p:cNvSpPr/>
          <p:nvPr/>
        </p:nvSpPr>
        <p:spPr bwMode="gray">
          <a:xfrm>
            <a:off x="4448254" y="4096295"/>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EBGP</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0" name="文本框 89"/>
          <p:cNvSpPr txBox="1"/>
          <p:nvPr/>
        </p:nvSpPr>
        <p:spPr bwMode="gray">
          <a:xfrm>
            <a:off x="4903329" y="3040654"/>
            <a:ext cx="776175" cy="307777"/>
          </a:xfrm>
          <a:prstGeom prst="rect">
            <a:avLst/>
          </a:prstGeom>
          <a:noFill/>
        </p:spPr>
        <p:txBody>
          <a:bodyPr wrap="none" rtlCol="0">
            <a:spAutoFit/>
          </a:bodyPr>
          <a:lstStyle/>
          <a:p>
            <a:pPr algn="ctr"/>
            <a:r>
              <a:rPr lang="en-US" altLang="zh-CN" sz="1400" b="1" dirty="0"/>
              <a:t>AS 101</a:t>
            </a:r>
            <a:endParaRPr lang="zh-CN" altLang="en-US" sz="1400" b="1" dirty="0"/>
          </a:p>
        </p:txBody>
      </p:sp>
      <p:pic>
        <p:nvPicPr>
          <p:cNvPr id="91" name="图片 90"/>
          <p:cNvPicPr/>
          <p:nvPr/>
        </p:nvPicPr>
        <p:blipFill>
          <a:blip r:embed="rId1" cstate="print">
            <a:extLst>
              <a:ext uri="{28A0092B-C50C-407E-A947-70E740481C1C}">
                <a14:useLocalDpi xmlns:a14="http://schemas.microsoft.com/office/drawing/2010/main" val="0"/>
              </a:ext>
            </a:extLst>
          </a:blip>
          <a:stretch>
            <a:fillRect/>
          </a:stretch>
        </p:blipFill>
        <p:spPr bwMode="gray">
          <a:xfrm>
            <a:off x="5291417" y="3766233"/>
            <a:ext cx="540000" cy="442800"/>
          </a:xfrm>
          <a:prstGeom prst="rect">
            <a:avLst/>
          </a:prstGeom>
        </p:spPr>
      </p:pic>
      <p:pic>
        <p:nvPicPr>
          <p:cNvPr id="92" name="图片 91"/>
          <p:cNvPicPr/>
          <p:nvPr/>
        </p:nvPicPr>
        <p:blipFill>
          <a:blip r:embed="rId1" cstate="print">
            <a:extLst>
              <a:ext uri="{28A0092B-C50C-407E-A947-70E740481C1C}">
                <a14:useLocalDpi xmlns:a14="http://schemas.microsoft.com/office/drawing/2010/main" val="0"/>
              </a:ext>
            </a:extLst>
          </a:blip>
          <a:stretch>
            <a:fillRect/>
          </a:stretch>
        </p:blipFill>
        <p:spPr bwMode="gray">
          <a:xfrm>
            <a:off x="1020057" y="3768630"/>
            <a:ext cx="540000" cy="442800"/>
          </a:xfrm>
          <a:prstGeom prst="rect">
            <a:avLst/>
          </a:prstGeom>
        </p:spPr>
      </p:pic>
      <p:pic>
        <p:nvPicPr>
          <p:cNvPr id="93" name="图片 92"/>
          <p:cNvPicPr/>
          <p:nvPr/>
        </p:nvPicPr>
        <p:blipFill>
          <a:blip r:embed="rId1" cstate="print">
            <a:extLst>
              <a:ext uri="{28A0092B-C50C-407E-A947-70E740481C1C}">
                <a14:useLocalDpi xmlns:a14="http://schemas.microsoft.com/office/drawing/2010/main" val="0"/>
              </a:ext>
            </a:extLst>
          </a:blip>
          <a:stretch>
            <a:fillRect/>
          </a:stretch>
        </p:blipFill>
        <p:spPr bwMode="gray">
          <a:xfrm>
            <a:off x="3904925" y="3766233"/>
            <a:ext cx="540000" cy="442800"/>
          </a:xfrm>
          <a:prstGeom prst="rect">
            <a:avLst/>
          </a:prstGeom>
        </p:spPr>
      </p:pic>
      <p:cxnSp>
        <p:nvCxnSpPr>
          <p:cNvPr id="94" name="直接箭头连接符 93"/>
          <p:cNvCxnSpPr/>
          <p:nvPr/>
        </p:nvCxnSpPr>
        <p:spPr bwMode="gray">
          <a:xfrm>
            <a:off x="1637107" y="3999514"/>
            <a:ext cx="2174406" cy="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p:cNvCxnSpPr/>
          <p:nvPr/>
        </p:nvCxnSpPr>
        <p:spPr bwMode="gray">
          <a:xfrm flipV="1">
            <a:off x="2732491" y="3807268"/>
            <a:ext cx="0" cy="39922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p:cNvCxnSpPr/>
          <p:nvPr/>
        </p:nvCxnSpPr>
        <p:spPr bwMode="gray">
          <a:xfrm>
            <a:off x="3463882" y="4993266"/>
            <a:ext cx="455075" cy="0"/>
          </a:xfrm>
          <a:prstGeom prst="straightConnector1">
            <a:avLst/>
          </a:prstGeom>
          <a:ln w="19050">
            <a:solidFill>
              <a:schemeClr val="tx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97" name="矩形 96"/>
          <p:cNvSpPr/>
          <p:nvPr/>
        </p:nvSpPr>
        <p:spPr bwMode="gray">
          <a:xfrm>
            <a:off x="5100256" y="4170333"/>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R5</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1" name="任意多边形 100"/>
          <p:cNvSpPr/>
          <p:nvPr/>
        </p:nvSpPr>
        <p:spPr bwMode="gray">
          <a:xfrm>
            <a:off x="1638643" y="4068017"/>
            <a:ext cx="2086378" cy="310028"/>
          </a:xfrm>
          <a:custGeom>
            <a:avLst/>
            <a:gdLst>
              <a:gd name="connsiteX0" fmla="*/ 0 w 2086378"/>
              <a:gd name="connsiteY0" fmla="*/ 0 h 310028"/>
              <a:gd name="connsiteX1" fmla="*/ 1017431 w 2086378"/>
              <a:gd name="connsiteY1" fmla="*/ 309093 h 310028"/>
              <a:gd name="connsiteX2" fmla="*/ 2086378 w 2086378"/>
              <a:gd name="connsiteY2" fmla="*/ 77273 h 310028"/>
            </a:gdLst>
            <a:ahLst/>
            <a:cxnLst>
              <a:cxn ang="0">
                <a:pos x="connsiteX0" y="connsiteY0"/>
              </a:cxn>
              <a:cxn ang="0">
                <a:pos x="connsiteX1" y="connsiteY1"/>
              </a:cxn>
              <a:cxn ang="0">
                <a:pos x="connsiteX2" y="connsiteY2"/>
              </a:cxn>
            </a:cxnLst>
            <a:rect l="l" t="t" r="r" b="b"/>
            <a:pathLst>
              <a:path w="2086378" h="310028">
                <a:moveTo>
                  <a:pt x="0" y="0"/>
                </a:moveTo>
                <a:cubicBezTo>
                  <a:pt x="334850" y="148107"/>
                  <a:pt x="669701" y="296214"/>
                  <a:pt x="1017431" y="309093"/>
                </a:cubicBezTo>
                <a:cubicBezTo>
                  <a:pt x="1365161" y="321972"/>
                  <a:pt x="1725769" y="199622"/>
                  <a:pt x="2086378" y="77273"/>
                </a:cubicBezTo>
              </a:path>
            </a:pathLst>
          </a:custGeom>
          <a:noFill/>
          <a:ln w="28575">
            <a:solidFill>
              <a:srgbClr val="62B23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占位符 2"/>
          <p:cNvSpPr txBox="1"/>
          <p:nvPr/>
        </p:nvSpPr>
        <p:spPr bwMode="auto">
          <a:xfrm>
            <a:off x="803154" y="5139239"/>
            <a:ext cx="5355203" cy="1138813"/>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在</a:t>
            </a:r>
            <a:r>
              <a:rPr lang="en-US" altLang="zh-CN" sz="1600" dirty="0"/>
              <a:t>R2</a:t>
            </a:r>
            <a:r>
              <a:rPr lang="zh-CN" altLang="en-US" sz="1600" dirty="0"/>
              <a:t>上使能</a:t>
            </a:r>
            <a:r>
              <a:rPr lang="en-US" altLang="zh-CN" sz="1600" dirty="0"/>
              <a:t>BGP</a:t>
            </a:r>
            <a:r>
              <a:rPr lang="zh-CN" altLang="en-US" sz="1600" dirty="0"/>
              <a:t>联动，这样，在</a:t>
            </a:r>
            <a:r>
              <a:rPr lang="en-US" altLang="zh-CN" sz="1600" dirty="0"/>
              <a:t>BGP</a:t>
            </a:r>
            <a:r>
              <a:rPr lang="zh-CN" altLang="en-US" sz="1600" dirty="0"/>
              <a:t>收敛完成前，</a:t>
            </a:r>
            <a:r>
              <a:rPr lang="en-US" altLang="zh-CN" sz="1600" dirty="0"/>
              <a:t>R1</a:t>
            </a:r>
            <a:r>
              <a:rPr lang="zh-CN" altLang="en-US" sz="1600" dirty="0"/>
              <a:t>不把流量转发到</a:t>
            </a:r>
            <a:r>
              <a:rPr lang="en-US" altLang="zh-CN" sz="1600" dirty="0"/>
              <a:t>R2</a:t>
            </a:r>
            <a:r>
              <a:rPr lang="zh-CN" altLang="en-US" sz="1600" dirty="0"/>
              <a:t>上，而是继续使用备份设备</a:t>
            </a:r>
            <a:r>
              <a:rPr lang="en-US" altLang="zh-CN" sz="1600" dirty="0"/>
              <a:t>R3</a:t>
            </a:r>
            <a:r>
              <a:rPr lang="zh-CN" altLang="en-US" sz="1600" dirty="0"/>
              <a:t>转发流量，直到</a:t>
            </a:r>
            <a:r>
              <a:rPr lang="en-US" altLang="zh-CN" sz="1600" dirty="0"/>
              <a:t>R2</a:t>
            </a:r>
            <a:r>
              <a:rPr lang="zh-CN" altLang="en-US" sz="1600" dirty="0"/>
              <a:t>上的</a:t>
            </a:r>
            <a:r>
              <a:rPr lang="en-US" altLang="zh-CN" sz="1600" dirty="0"/>
              <a:t>BGP</a:t>
            </a:r>
            <a:r>
              <a:rPr lang="zh-CN" altLang="en-US" sz="1600" dirty="0"/>
              <a:t>路由完成收敛。</a:t>
            </a:r>
            <a:endParaRPr lang="zh-CN" altLang="en-US" sz="1600" dirty="0"/>
          </a:p>
        </p:txBody>
      </p:sp>
      <p:sp>
        <p:nvSpPr>
          <p:cNvPr id="108" name="文本占位符 2"/>
          <p:cNvSpPr txBox="1"/>
          <p:nvPr/>
        </p:nvSpPr>
        <p:spPr bwMode="auto">
          <a:xfrm>
            <a:off x="6273697" y="2918084"/>
            <a:ext cx="5355203" cy="392825"/>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b="1" dirty="0"/>
              <a:t>配置</a:t>
            </a:r>
            <a:r>
              <a:rPr lang="en-US" altLang="zh-CN" sz="1600" b="1" dirty="0"/>
              <a:t>Stub</a:t>
            </a:r>
            <a:r>
              <a:rPr lang="zh-CN" altLang="en-US" sz="1600" b="1" dirty="0"/>
              <a:t>路由器：</a:t>
            </a:r>
            <a:endParaRPr lang="zh-CN" altLang="en-US" sz="1600" b="1" dirty="0"/>
          </a:p>
        </p:txBody>
      </p:sp>
      <p:sp>
        <p:nvSpPr>
          <p:cNvPr id="109" name="矩形 108"/>
          <p:cNvSpPr/>
          <p:nvPr/>
        </p:nvSpPr>
        <p:spPr>
          <a:xfrm>
            <a:off x="6373950" y="3355292"/>
            <a:ext cx="5371963"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stub-router</a:t>
            </a:r>
            <a:r>
              <a:rPr lang="en-US" altLang="zh-CN" sz="1600" dirty="0"/>
              <a:t> [ </a:t>
            </a:r>
            <a:r>
              <a:rPr lang="en-US" altLang="zh-CN" sz="1600" b="1" dirty="0"/>
              <a:t>on-startup</a:t>
            </a:r>
            <a:r>
              <a:rPr lang="en-US" altLang="zh-CN" sz="1600" dirty="0"/>
              <a:t> [ </a:t>
            </a:r>
            <a:r>
              <a:rPr lang="en-US" altLang="zh-CN" sz="1600" i="1" dirty="0"/>
              <a:t>interval</a:t>
            </a:r>
            <a:r>
              <a:rPr lang="en-US" altLang="zh-CN" sz="1600" dirty="0"/>
              <a:t> ] ]</a:t>
            </a:r>
            <a:endParaRPr lang="zh-CN" altLang="en-US" sz="1600" dirty="0">
              <a:cs typeface="Courier New" panose="02070309020205020404" pitchFamily="49" charset="0"/>
            </a:endParaRPr>
          </a:p>
        </p:txBody>
      </p:sp>
      <p:sp>
        <p:nvSpPr>
          <p:cNvPr id="110" name="圆角矩形标注 109"/>
          <p:cNvSpPr/>
          <p:nvPr/>
        </p:nvSpPr>
        <p:spPr bwMode="gray">
          <a:xfrm>
            <a:off x="2892434" y="2746583"/>
            <a:ext cx="1532041" cy="340568"/>
          </a:xfrm>
          <a:prstGeom prst="wedgeRoundRectCallout">
            <a:avLst>
              <a:gd name="adj1" fmla="val -42111"/>
              <a:gd name="adj2" fmla="val 110754"/>
              <a:gd name="adj3" fmla="val 16667"/>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5000"/>
              </a:lnSpc>
            </a:pPr>
            <a:r>
              <a:rPr lang="zh-CN" altLang="en-US" sz="1400" dirty="0">
                <a:solidFill>
                  <a:schemeClr val="tx1"/>
                </a:solidFill>
              </a:rPr>
              <a:t>设为</a:t>
            </a:r>
            <a:r>
              <a:rPr lang="en-US" altLang="zh-CN" sz="1400" dirty="0">
                <a:solidFill>
                  <a:schemeClr val="tx1"/>
                </a:solidFill>
              </a:rPr>
              <a:t>Stub</a:t>
            </a:r>
            <a:r>
              <a:rPr lang="zh-CN" altLang="en-US" sz="1400" dirty="0">
                <a:solidFill>
                  <a:schemeClr val="tx1"/>
                </a:solidFill>
              </a:rPr>
              <a:t>路由器</a:t>
            </a:r>
            <a:endParaRPr lang="zh-CN" altLang="en-US" sz="1400" dirty="0">
              <a:solidFill>
                <a:schemeClr val="tx1"/>
              </a:solidFill>
            </a:endParaRPr>
          </a:p>
        </p:txBody>
      </p:sp>
      <p:sp>
        <p:nvSpPr>
          <p:cNvPr id="111" name="文本占位符 2"/>
          <p:cNvSpPr txBox="1"/>
          <p:nvPr/>
        </p:nvSpPr>
        <p:spPr bwMode="auto">
          <a:xfrm>
            <a:off x="6373949" y="3706758"/>
            <a:ext cx="5371963" cy="1909846"/>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dirty="0"/>
              <a:t>配置</a:t>
            </a:r>
            <a:r>
              <a:rPr lang="en-US" altLang="zh-CN" sz="1600" dirty="0"/>
              <a:t>Stub</a:t>
            </a:r>
            <a:r>
              <a:rPr lang="zh-CN" altLang="en-US" sz="1600" dirty="0"/>
              <a:t>路由器是一种特殊的路由选路，配置了</a:t>
            </a:r>
            <a:r>
              <a:rPr lang="en-US" altLang="zh-CN" sz="1600" dirty="0"/>
              <a:t>Stub</a:t>
            </a:r>
            <a:r>
              <a:rPr lang="zh-CN" altLang="en-US" sz="1600" dirty="0"/>
              <a:t>路由器的路径不被优选。</a:t>
            </a:r>
            <a:endParaRPr lang="en-US" altLang="zh-CN" sz="1600" dirty="0"/>
          </a:p>
          <a:p>
            <a:r>
              <a:rPr lang="zh-CN" altLang="en-US" sz="1600" dirty="0"/>
              <a:t>实现方法是将度量值设为最大（</a:t>
            </a:r>
            <a:r>
              <a:rPr lang="en-US" altLang="zh-CN" sz="1600" dirty="0"/>
              <a:t>65535</a:t>
            </a:r>
            <a:r>
              <a:rPr lang="zh-CN" altLang="en-US" sz="1600" dirty="0"/>
              <a:t>），尽量避免数据从此路由器转发。用于保护此路由器链路，通常使用在升级等维护操作的场景。</a:t>
            </a:r>
            <a:endParaRPr lang="zh-CN" altLang="en-US" sz="1600" dirty="0"/>
          </a:p>
        </p:txBody>
      </p:sp>
      <p:sp>
        <p:nvSpPr>
          <p:cNvPr id="45" name="五边形 44"/>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8842066" y="124239"/>
            <a:ext cx="108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燕尾形 51"/>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a:t>
            </a:r>
            <a:r>
              <a:rPr lang="zh-CN" altLang="en-US"/>
              <a:t>转发地址</a:t>
            </a:r>
            <a:endParaRPr lang="zh-CN" altLang="en-US" dirty="0"/>
          </a:p>
        </p:txBody>
      </p:sp>
      <p:sp>
        <p:nvSpPr>
          <p:cNvPr id="3" name="文本占位符 2"/>
          <p:cNvSpPr>
            <a:spLocks noGrp="1"/>
          </p:cNvSpPr>
          <p:nvPr>
            <p:ph type="body" sz="quarter" idx="10"/>
          </p:nvPr>
        </p:nvSpPr>
        <p:spPr>
          <a:xfrm>
            <a:off x="455612" y="1047750"/>
            <a:ext cx="11293475" cy="1892095"/>
          </a:xfrm>
        </p:spPr>
        <p:txBody>
          <a:bodyPr/>
          <a:lstStyle/>
          <a:p>
            <a:r>
              <a:rPr lang="en-US" altLang="zh-CN" sz="2000" dirty="0"/>
              <a:t>FA</a:t>
            </a:r>
            <a:r>
              <a:rPr lang="zh-CN" altLang="en-US" sz="2000" dirty="0"/>
              <a:t>（</a:t>
            </a:r>
            <a:r>
              <a:rPr lang="en-US" altLang="zh-CN" sz="2000" dirty="0"/>
              <a:t>Forwarding Address</a:t>
            </a:r>
            <a:r>
              <a:rPr lang="zh-CN" altLang="en-US" sz="2000" dirty="0"/>
              <a:t>，转发地址）：</a:t>
            </a:r>
            <a:endParaRPr lang="en-US" altLang="zh-CN" sz="2000" dirty="0"/>
          </a:p>
          <a:p>
            <a:pPr lvl="1"/>
            <a:r>
              <a:rPr lang="zh-CN" altLang="en-US" sz="1800" dirty="0"/>
              <a:t>到达所通告的目的地的数据包应该被转发到的地址，如果转发地址为</a:t>
            </a:r>
            <a:r>
              <a:rPr lang="en-US" altLang="zh-CN" sz="1800" dirty="0"/>
              <a:t>0.0.0.0</a:t>
            </a:r>
            <a:r>
              <a:rPr lang="zh-CN" altLang="en-US" sz="1800" dirty="0"/>
              <a:t>，那么数据包将被转发到始发</a:t>
            </a:r>
            <a:r>
              <a:rPr lang="en-US" altLang="zh-CN" sz="1800" dirty="0"/>
              <a:t>ASBR</a:t>
            </a:r>
            <a:r>
              <a:rPr lang="zh-CN" altLang="en-US" sz="1800" dirty="0"/>
              <a:t>上。</a:t>
            </a:r>
            <a:endParaRPr lang="en-US" altLang="zh-CN" sz="1800" dirty="0"/>
          </a:p>
          <a:p>
            <a:pPr lvl="1"/>
            <a:r>
              <a:rPr lang="en-US" altLang="zh-CN" sz="1800" dirty="0"/>
              <a:t>Type5</a:t>
            </a:r>
            <a:r>
              <a:rPr lang="zh-CN" altLang="en-US" sz="1800" dirty="0"/>
              <a:t> </a:t>
            </a:r>
            <a:r>
              <a:rPr lang="en-US" altLang="zh-CN" sz="1800" dirty="0"/>
              <a:t>AS-External-LSA </a:t>
            </a:r>
            <a:r>
              <a:rPr lang="zh-CN" altLang="en-US" sz="1800" dirty="0"/>
              <a:t>和 </a:t>
            </a:r>
            <a:r>
              <a:rPr lang="en-US" altLang="zh-CN" sz="1800" dirty="0"/>
              <a:t>Type7 NSSA LSA</a:t>
            </a:r>
            <a:r>
              <a:rPr lang="zh-CN" altLang="en-US" sz="1800" dirty="0"/>
              <a:t>：</a:t>
            </a:r>
            <a:endParaRPr lang="zh-CN" altLang="en-US" sz="1800" dirty="0"/>
          </a:p>
          <a:p>
            <a:endParaRPr lang="zh-CN" altLang="en-US" sz="2000" dirty="0"/>
          </a:p>
        </p:txBody>
      </p:sp>
      <p:graphicFrame>
        <p:nvGraphicFramePr>
          <p:cNvPr id="4" name="表格 3"/>
          <p:cNvGraphicFramePr>
            <a:graphicFrameLocks noGrp="1"/>
          </p:cNvGraphicFramePr>
          <p:nvPr/>
        </p:nvGraphicFramePr>
        <p:xfrm>
          <a:off x="1216448" y="4515129"/>
          <a:ext cx="5040000" cy="1530000"/>
        </p:xfrm>
        <a:graphic>
          <a:graphicData uri="http://schemas.openxmlformats.org/drawingml/2006/table">
            <a:tbl>
              <a:tblPr firstRow="1" bandRow="1"/>
              <a:tblGrid>
                <a:gridCol w="315000"/>
                <a:gridCol w="945000"/>
                <a:gridCol w="3780000"/>
              </a:tblGrid>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Network Mask</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hMerge="1">
                  <a:tcPr/>
                </a:tc>
                <a:tc hMerge="1">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E</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0</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Metric</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1" i="0" u="none" strike="noStrike" kern="1200" cap="none" normalizeH="0" baseline="0" dirty="0">
                          <a:ln>
                            <a:noFill/>
                          </a:ln>
                          <a:solidFill>
                            <a:schemeClr val="tx1"/>
                          </a:solidFill>
                          <a:effectLst/>
                          <a:latin typeface="+mn-lt"/>
                          <a:ea typeface="+mn-ea"/>
                          <a:cs typeface="+mn-cs"/>
                        </a:rPr>
                        <a:t>Forwarding Address</a:t>
                      </a: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7F7F9"/>
                    </a:solidFill>
                  </a:tcPr>
                </a:tc>
                <a:tc hMerge="1">
                  <a:tcPr/>
                </a:tc>
                <a:tc hMerge="1">
                  <a:tcPr/>
                </a:tc>
              </a:tr>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External Route Tag</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hMerge="1">
                  <a:tcPr/>
                </a:tc>
              </a:tr>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hMerge="1">
                  <a:tcPr/>
                </a:tc>
              </a:tr>
            </a:tbl>
          </a:graphicData>
        </a:graphic>
      </p:graphicFrame>
      <p:graphicFrame>
        <p:nvGraphicFramePr>
          <p:cNvPr id="6" name="表格 5"/>
          <p:cNvGraphicFramePr>
            <a:graphicFrameLocks noGrp="1"/>
          </p:cNvGraphicFramePr>
          <p:nvPr/>
        </p:nvGraphicFramePr>
        <p:xfrm>
          <a:off x="1216448" y="2985129"/>
          <a:ext cx="5040000" cy="1530000"/>
        </p:xfrm>
        <a:graphic>
          <a:graphicData uri="http://schemas.openxmlformats.org/drawingml/2006/table">
            <a:tbl>
              <a:tblPr firstRow="1" bandRow="1"/>
              <a:tblGrid>
                <a:gridCol w="2520000"/>
                <a:gridCol w="1260000"/>
                <a:gridCol w="1260000"/>
              </a:tblGrid>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LS Age</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Options</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LS Type</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r>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u="none" strike="noStrike" kern="1200" cap="none" normalizeH="0" baseline="0" dirty="0">
                          <a:ln>
                            <a:noFill/>
                          </a:ln>
                          <a:solidFill>
                            <a:schemeClr val="bg1">
                              <a:lumMod val="50000"/>
                            </a:schemeClr>
                          </a:solidFill>
                          <a:effectLst/>
                          <a:latin typeface="+mn-lt"/>
                          <a:ea typeface="+mn-ea"/>
                        </a:rPr>
                        <a:t>Link State ID</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hMerge="1">
                  <a:tcPr/>
                </a:tc>
                <a:tc hMerge="1">
                  <a:tcPr/>
                </a:tc>
              </a:tr>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Advertising Router</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hMerge="1">
                  <a:tcPr/>
                </a:tc>
                <a:tc hMerge="1">
                  <a:tcPr/>
                </a:tc>
              </a:tr>
              <a:tr h="306000">
                <a:tc gridSpan="3">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u="none" strike="noStrike" kern="1200" cap="none" normalizeH="0" baseline="0" dirty="0">
                          <a:ln>
                            <a:noFill/>
                          </a:ln>
                          <a:solidFill>
                            <a:schemeClr val="bg1">
                              <a:lumMod val="50000"/>
                            </a:schemeClr>
                          </a:solidFill>
                          <a:effectLst/>
                          <a:latin typeface="+mn-lt"/>
                          <a:ea typeface="+mn-ea"/>
                        </a:rPr>
                        <a:t>LS Sequence Number</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hMerge="1">
                  <a:tcPr/>
                </a:tc>
                <a:tc hMerge="1">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u="none" strike="noStrike" kern="1200" cap="none" normalizeH="0" baseline="0" dirty="0">
                          <a:ln>
                            <a:noFill/>
                          </a:ln>
                          <a:solidFill>
                            <a:schemeClr val="bg1">
                              <a:lumMod val="50000"/>
                            </a:schemeClr>
                          </a:solidFill>
                          <a:effectLst/>
                          <a:latin typeface="+mn-lt"/>
                          <a:ea typeface="+mn-ea"/>
                        </a:rPr>
                        <a:t>LS Checksum</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gridSpan="2">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bg1">
                              <a:lumMod val="50000"/>
                            </a:schemeClr>
                          </a:solidFill>
                          <a:effectLst/>
                          <a:latin typeface="+mn-lt"/>
                          <a:ea typeface="+mn-ea"/>
                          <a:cs typeface="+mn-cs"/>
                        </a:rPr>
                        <a:t>Length</a:t>
                      </a:r>
                      <a:endParaRPr kumimoji="0" lang="zh-CN" altLang="en-US" sz="1400" b="0" i="0" u="none" strike="noStrike" kern="1200" cap="none" normalizeH="0" baseline="0" dirty="0">
                        <a:ln>
                          <a:noFill/>
                        </a:ln>
                        <a:solidFill>
                          <a:schemeClr val="bg1">
                            <a:lumMod val="50000"/>
                          </a:schemeClr>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hMerge="1">
                  <a:tcPr/>
                </a:tc>
              </a:tr>
            </a:tbl>
          </a:graphicData>
        </a:graphic>
      </p:graphicFrame>
      <p:sp>
        <p:nvSpPr>
          <p:cNvPr id="11" name="文本占位符 2"/>
          <p:cNvSpPr txBox="1"/>
          <p:nvPr/>
        </p:nvSpPr>
        <p:spPr bwMode="auto">
          <a:xfrm>
            <a:off x="6570988" y="4769913"/>
            <a:ext cx="4724924" cy="1020432"/>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600" dirty="0"/>
              <a:t>OSPF</a:t>
            </a:r>
            <a:r>
              <a:rPr lang="zh-CN" altLang="en-US" sz="1600" dirty="0"/>
              <a:t>的</a:t>
            </a:r>
            <a:r>
              <a:rPr lang="en-US" altLang="zh-CN" sz="1600" dirty="0"/>
              <a:t>Type5 LSA</a:t>
            </a:r>
            <a:r>
              <a:rPr lang="zh-CN" altLang="en-US" sz="1600" dirty="0"/>
              <a:t>和</a:t>
            </a:r>
            <a:r>
              <a:rPr lang="en-US" altLang="zh-CN" sz="1600" dirty="0"/>
              <a:t>Type7 LSA</a:t>
            </a:r>
            <a:r>
              <a:rPr lang="zh-CN" altLang="en-US" sz="1600" dirty="0"/>
              <a:t>中包含一个特别的字段</a:t>
            </a:r>
            <a:r>
              <a:rPr lang="en-US" altLang="zh-CN" sz="1600" dirty="0"/>
              <a:t>FA</a:t>
            </a:r>
            <a:r>
              <a:rPr lang="zh-CN" altLang="en-US" sz="1600" dirty="0"/>
              <a:t>，</a:t>
            </a:r>
            <a:r>
              <a:rPr lang="en-US" altLang="zh-CN" sz="1600" dirty="0"/>
              <a:t>FA</a:t>
            </a:r>
            <a:r>
              <a:rPr lang="zh-CN" altLang="en-US" sz="1600" dirty="0"/>
              <a:t>的引入使得</a:t>
            </a:r>
            <a:r>
              <a:rPr lang="en-US" altLang="zh-CN" sz="1600" dirty="0"/>
              <a:t>OSPF</a:t>
            </a:r>
            <a:r>
              <a:rPr lang="zh-CN" altLang="en-US" sz="1600" dirty="0"/>
              <a:t>在某些特殊的场景下可以避免次优路径问题。</a:t>
            </a:r>
            <a:endParaRPr lang="zh-CN" altLang="en-US" sz="1600" dirty="0"/>
          </a:p>
        </p:txBody>
      </p:sp>
      <p:sp>
        <p:nvSpPr>
          <p:cNvPr id="10" name="五边形 9"/>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9828764"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没有</a:t>
            </a:r>
            <a:r>
              <a:rPr lang="en-US" altLang="zh-CN" dirty="0"/>
              <a:t>FA</a:t>
            </a:r>
            <a:r>
              <a:rPr lang="zh-CN" altLang="en-US" dirty="0"/>
              <a:t>引发的问题</a:t>
            </a:r>
            <a:endParaRPr lang="zh-CN" altLang="en-US" dirty="0"/>
          </a:p>
        </p:txBody>
      </p:sp>
      <p:sp>
        <p:nvSpPr>
          <p:cNvPr id="17" name="文本占位符 16"/>
          <p:cNvSpPr>
            <a:spLocks noGrp="1"/>
          </p:cNvSpPr>
          <p:nvPr>
            <p:ph type="body" sz="quarter" idx="10"/>
          </p:nvPr>
        </p:nvSpPr>
        <p:spPr>
          <a:xfrm>
            <a:off x="6106708" y="1047750"/>
            <a:ext cx="5642379" cy="4879805"/>
          </a:xfrm>
        </p:spPr>
        <p:txBody>
          <a:bodyPr/>
          <a:lstStyle/>
          <a:p>
            <a:r>
              <a:rPr lang="en-US" altLang="zh-CN" sz="1800" dirty="0"/>
              <a:t>R2</a:t>
            </a:r>
            <a:r>
              <a:rPr lang="zh-CN" altLang="en-US" sz="1800" dirty="0"/>
              <a:t>、</a:t>
            </a:r>
            <a:r>
              <a:rPr lang="en-US" altLang="zh-CN" sz="1800" dirty="0"/>
              <a:t>R3</a:t>
            </a:r>
            <a:r>
              <a:rPr lang="zh-CN" altLang="en-US" sz="1800" dirty="0"/>
              <a:t>和</a:t>
            </a:r>
            <a:r>
              <a:rPr lang="en-US" altLang="zh-CN" sz="1800" dirty="0"/>
              <a:t>R4</a:t>
            </a:r>
            <a:r>
              <a:rPr lang="zh-CN" altLang="en-US" sz="1800" dirty="0"/>
              <a:t>运行</a:t>
            </a:r>
            <a:r>
              <a:rPr lang="en-US" altLang="zh-CN" sz="1800" dirty="0"/>
              <a:t>OSPF</a:t>
            </a:r>
            <a:r>
              <a:rPr lang="zh-CN" altLang="en-US" sz="1800" dirty="0"/>
              <a:t>，均部署在</a:t>
            </a:r>
            <a:r>
              <a:rPr lang="en-US" altLang="zh-CN" sz="1800" dirty="0"/>
              <a:t>Area0</a:t>
            </a:r>
            <a:r>
              <a:rPr lang="zh-CN" altLang="en-US" sz="1800" dirty="0"/>
              <a:t>中。其中</a:t>
            </a:r>
            <a:r>
              <a:rPr lang="en-US" altLang="zh-CN" sz="1800" dirty="0"/>
              <a:t>R2</a:t>
            </a:r>
            <a:r>
              <a:rPr lang="zh-CN" altLang="en-US" sz="1800" dirty="0"/>
              <a:t>和</a:t>
            </a:r>
            <a:r>
              <a:rPr lang="en-US" altLang="zh-CN" sz="1800" dirty="0"/>
              <a:t>R3</a:t>
            </a:r>
            <a:r>
              <a:rPr lang="zh-CN" altLang="en-US" sz="1800" dirty="0"/>
              <a:t>的</a:t>
            </a:r>
            <a:r>
              <a:rPr lang="en-US" altLang="zh-CN" sz="1800" dirty="0"/>
              <a:t>GE0/0/1</a:t>
            </a:r>
            <a:r>
              <a:rPr lang="zh-CN" altLang="en-US" sz="1800" dirty="0"/>
              <a:t>接口都激活</a:t>
            </a:r>
            <a:r>
              <a:rPr lang="en-US" altLang="zh-CN" sz="1800" dirty="0"/>
              <a:t>OSPF</a:t>
            </a:r>
            <a:r>
              <a:rPr lang="zh-CN" altLang="en-US" sz="1800" dirty="0"/>
              <a:t>并建立邻接关系，但是两者与外部路由器</a:t>
            </a:r>
            <a:r>
              <a:rPr lang="en-US" altLang="zh-CN" sz="1800" dirty="0"/>
              <a:t>R1</a:t>
            </a:r>
            <a:r>
              <a:rPr lang="zh-CN" altLang="en-US" sz="1800" dirty="0"/>
              <a:t>并不建立</a:t>
            </a:r>
            <a:r>
              <a:rPr lang="en-US" altLang="zh-CN" sz="1800" dirty="0"/>
              <a:t>OSPF</a:t>
            </a:r>
            <a:r>
              <a:rPr lang="zh-CN" altLang="en-US" sz="1800" dirty="0"/>
              <a:t>邻接关系。</a:t>
            </a:r>
            <a:endParaRPr lang="zh-CN" altLang="en-US" sz="1800" dirty="0"/>
          </a:p>
          <a:p>
            <a:pPr marL="746125" lvl="1" indent="-342900">
              <a:buSzPct val="100000"/>
              <a:buFont typeface="+mj-lt"/>
              <a:buAutoNum type="arabicPeriod"/>
            </a:pPr>
            <a:r>
              <a:rPr lang="en-US" altLang="zh-CN" sz="1600" dirty="0"/>
              <a:t>R2</a:t>
            </a:r>
            <a:r>
              <a:rPr lang="zh-CN" altLang="en-US" sz="1600" dirty="0"/>
              <a:t>配置到达</a:t>
            </a:r>
            <a:r>
              <a:rPr lang="en-US" altLang="zh-CN" sz="1600" dirty="0"/>
              <a:t>10.1.1.1/32</a:t>
            </a:r>
            <a:r>
              <a:rPr lang="zh-CN" altLang="en-US" sz="1600" dirty="0"/>
              <a:t>的静态路由，下一跳为</a:t>
            </a:r>
            <a:r>
              <a:rPr lang="en-US" altLang="zh-CN" sz="1600" dirty="0"/>
              <a:t>10.1.123.1</a:t>
            </a:r>
            <a:r>
              <a:rPr lang="zh-CN" altLang="en-US" sz="1600" dirty="0"/>
              <a:t>。</a:t>
            </a:r>
            <a:endParaRPr lang="en-US" altLang="zh-CN" sz="1600" dirty="0"/>
          </a:p>
          <a:p>
            <a:pPr marL="746125" lvl="1" indent="-342900">
              <a:buSzPct val="100000"/>
              <a:buFont typeface="+mj-lt"/>
              <a:buAutoNum type="arabicPeriod"/>
            </a:pPr>
            <a:r>
              <a:rPr lang="en-US" altLang="zh-CN" sz="1600" dirty="0"/>
              <a:t>R2</a:t>
            </a:r>
            <a:r>
              <a:rPr lang="zh-CN" altLang="en-US" sz="1600" dirty="0"/>
              <a:t>将静态路由引入</a:t>
            </a:r>
            <a:r>
              <a:rPr lang="en-US" altLang="zh-CN" sz="1600" dirty="0"/>
              <a:t>OSPF</a:t>
            </a:r>
            <a:r>
              <a:rPr lang="zh-CN" altLang="en-US" sz="1600" dirty="0"/>
              <a:t>，产生</a:t>
            </a:r>
            <a:r>
              <a:rPr lang="en-US" altLang="zh-CN" sz="1600" dirty="0"/>
              <a:t>Type5 LSA</a:t>
            </a:r>
            <a:r>
              <a:rPr lang="zh-CN" altLang="en-US" sz="1600" dirty="0"/>
              <a:t>在区域内泛洪。</a:t>
            </a:r>
            <a:endParaRPr lang="zh-CN" altLang="en-US" sz="1600" dirty="0"/>
          </a:p>
          <a:p>
            <a:pPr marL="746125" lvl="1" indent="-342900">
              <a:buSzPct val="100000"/>
              <a:buFont typeface="+mj-lt"/>
              <a:buAutoNum type="arabicPeriod"/>
            </a:pPr>
            <a:r>
              <a:rPr lang="en-US" altLang="zh-CN" sz="1600" dirty="0"/>
              <a:t>R3</a:t>
            </a:r>
            <a:r>
              <a:rPr lang="zh-CN" altLang="en-US" sz="1600" dirty="0"/>
              <a:t>接收到</a:t>
            </a:r>
            <a:r>
              <a:rPr lang="en-US" altLang="zh-CN" sz="1600" dirty="0"/>
              <a:t>R2</a:t>
            </a:r>
            <a:r>
              <a:rPr lang="zh-CN" altLang="en-US" sz="1600" dirty="0"/>
              <a:t>产生的</a:t>
            </a:r>
            <a:r>
              <a:rPr lang="en-US" altLang="zh-CN" sz="1600" dirty="0"/>
              <a:t>5</a:t>
            </a:r>
            <a:r>
              <a:rPr lang="zh-CN" altLang="en-US" sz="1600" dirty="0"/>
              <a:t>类</a:t>
            </a:r>
            <a:r>
              <a:rPr lang="en-US" altLang="zh-CN" sz="1600" dirty="0"/>
              <a:t>LSA</a:t>
            </a:r>
            <a:r>
              <a:rPr lang="zh-CN" altLang="en-US" sz="1600" dirty="0"/>
              <a:t>，计算出到达</a:t>
            </a:r>
            <a:r>
              <a:rPr lang="en-US" altLang="zh-CN" sz="1600" dirty="0"/>
              <a:t>10.1.1.1/32</a:t>
            </a:r>
            <a:r>
              <a:rPr lang="zh-CN" altLang="en-US" sz="1600" dirty="0"/>
              <a:t>的外部路由，并且将路由的下一跳指定为</a:t>
            </a:r>
            <a:r>
              <a:rPr lang="en-US" altLang="zh-CN" sz="1600" dirty="0"/>
              <a:t>R2</a:t>
            </a:r>
            <a:r>
              <a:rPr lang="zh-CN" altLang="en-US" sz="1600" dirty="0"/>
              <a:t>（</a:t>
            </a:r>
            <a:r>
              <a:rPr lang="en-US" altLang="zh-CN" sz="1600" dirty="0"/>
              <a:t>10.1.123.2</a:t>
            </a:r>
            <a:r>
              <a:rPr lang="zh-CN" altLang="en-US" sz="1600" dirty="0"/>
              <a:t>）。 </a:t>
            </a:r>
            <a:endParaRPr lang="zh-CN" altLang="en-US" sz="1600" dirty="0"/>
          </a:p>
          <a:p>
            <a:r>
              <a:rPr lang="en-US" altLang="zh-CN" sz="1800" dirty="0"/>
              <a:t>OSPF</a:t>
            </a:r>
            <a:r>
              <a:rPr lang="zh-CN" altLang="en-US" sz="1800" dirty="0"/>
              <a:t>域内的路由器如</a:t>
            </a:r>
            <a:r>
              <a:rPr lang="en-US" altLang="zh-CN" sz="1800" dirty="0"/>
              <a:t>R4</a:t>
            </a:r>
            <a:r>
              <a:rPr lang="zh-CN" altLang="en-US" sz="1800" dirty="0"/>
              <a:t>到达</a:t>
            </a:r>
            <a:r>
              <a:rPr lang="en-US" altLang="zh-CN" sz="1800" dirty="0"/>
              <a:t>10.1.1.1/32</a:t>
            </a:r>
            <a:r>
              <a:rPr lang="zh-CN" altLang="en-US" sz="1800" dirty="0"/>
              <a:t>的路径是：</a:t>
            </a:r>
            <a:r>
              <a:rPr lang="en-US" altLang="zh-CN" sz="1800" dirty="0"/>
              <a:t>R4-R3-R2-R1</a:t>
            </a:r>
            <a:r>
              <a:rPr lang="zh-CN" altLang="en-US" sz="1800" dirty="0"/>
              <a:t>，该路径是次优路径的。</a:t>
            </a:r>
            <a:endParaRPr lang="zh-CN" altLang="en-US" sz="1800" dirty="0"/>
          </a:p>
        </p:txBody>
      </p:sp>
      <p:sp>
        <p:nvSpPr>
          <p:cNvPr id="57" name="矩形 56"/>
          <p:cNvSpPr/>
          <p:nvPr/>
        </p:nvSpPr>
        <p:spPr bwMode="gray">
          <a:xfrm>
            <a:off x="1667847" y="3612979"/>
            <a:ext cx="4158793" cy="212729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cxnSp>
        <p:nvCxnSpPr>
          <p:cNvPr id="46" name="直接连接符 45"/>
          <p:cNvCxnSpPr>
            <a:stCxn id="39" idx="0"/>
            <a:endCxn id="32" idx="2"/>
          </p:cNvCxnSpPr>
          <p:nvPr/>
        </p:nvCxnSpPr>
        <p:spPr bwMode="gray">
          <a:xfrm flipV="1">
            <a:off x="3732966" y="2390700"/>
            <a:ext cx="0" cy="718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gray">
          <a:xfrm flipH="1">
            <a:off x="2461490" y="3366515"/>
            <a:ext cx="1290150" cy="890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gray">
          <a:xfrm>
            <a:off x="3711226" y="3366515"/>
            <a:ext cx="1208489" cy="890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gray">
          <a:xfrm rot="10800000" flipH="1">
            <a:off x="3690602" y="4439114"/>
            <a:ext cx="1229113" cy="8279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bwMode="gray">
          <a:xfrm>
            <a:off x="3181326" y="1454805"/>
            <a:ext cx="1085555" cy="307777"/>
          </a:xfrm>
          <a:prstGeom prst="rect">
            <a:avLst/>
          </a:prstGeom>
          <a:noFill/>
        </p:spPr>
        <p:txBody>
          <a:bodyPr wrap="none" rtlCol="0">
            <a:spAutoFit/>
          </a:bodyPr>
          <a:lstStyle/>
          <a:p>
            <a:pPr algn="ctr"/>
            <a:r>
              <a:rPr lang="en-US" altLang="zh-CN" sz="1400" dirty="0"/>
              <a:t>10.1.1.1/32</a:t>
            </a:r>
            <a:endParaRPr lang="zh-CN" altLang="en-US" sz="1400" dirty="0"/>
          </a:p>
        </p:txBody>
      </p:sp>
      <p:sp>
        <p:nvSpPr>
          <p:cNvPr id="53" name="文本框 52"/>
          <p:cNvSpPr txBox="1"/>
          <p:nvPr/>
        </p:nvSpPr>
        <p:spPr bwMode="gray">
          <a:xfrm>
            <a:off x="3078506" y="1978147"/>
            <a:ext cx="413896" cy="307777"/>
          </a:xfrm>
          <a:prstGeom prst="rect">
            <a:avLst/>
          </a:prstGeom>
          <a:noFill/>
        </p:spPr>
        <p:txBody>
          <a:bodyPr wrap="none" rtlCol="0">
            <a:spAutoFit/>
          </a:bodyPr>
          <a:lstStyle/>
          <a:p>
            <a:pPr algn="ctr"/>
            <a:r>
              <a:rPr lang="en-US" altLang="zh-CN" sz="1400" b="1" dirty="0"/>
              <a:t>R1</a:t>
            </a:r>
            <a:endParaRPr lang="zh-CN" altLang="en-US" sz="1400" b="1" dirty="0"/>
          </a:p>
        </p:txBody>
      </p:sp>
      <p:sp>
        <p:nvSpPr>
          <p:cNvPr id="54" name="文本框 53"/>
          <p:cNvSpPr txBox="1"/>
          <p:nvPr/>
        </p:nvSpPr>
        <p:spPr bwMode="gray">
          <a:xfrm>
            <a:off x="1785970" y="4135164"/>
            <a:ext cx="413896" cy="307777"/>
          </a:xfrm>
          <a:prstGeom prst="rect">
            <a:avLst/>
          </a:prstGeom>
          <a:noFill/>
        </p:spPr>
        <p:txBody>
          <a:bodyPr wrap="none" rtlCol="0">
            <a:spAutoFit/>
          </a:bodyPr>
          <a:lstStyle/>
          <a:p>
            <a:pPr algn="ctr"/>
            <a:r>
              <a:rPr lang="en-US" altLang="zh-CN" sz="1400" b="1"/>
              <a:t>R2</a:t>
            </a:r>
            <a:endParaRPr lang="zh-CN" altLang="en-US" sz="1400" b="1"/>
          </a:p>
        </p:txBody>
      </p:sp>
      <p:sp>
        <p:nvSpPr>
          <p:cNvPr id="55" name="文本框 54"/>
          <p:cNvSpPr txBox="1"/>
          <p:nvPr/>
        </p:nvSpPr>
        <p:spPr bwMode="gray">
          <a:xfrm>
            <a:off x="5398715" y="4135164"/>
            <a:ext cx="413896" cy="307777"/>
          </a:xfrm>
          <a:prstGeom prst="rect">
            <a:avLst/>
          </a:prstGeom>
          <a:noFill/>
        </p:spPr>
        <p:txBody>
          <a:bodyPr wrap="none" rtlCol="0">
            <a:spAutoFit/>
          </a:bodyPr>
          <a:lstStyle/>
          <a:p>
            <a:pPr algn="ctr"/>
            <a:r>
              <a:rPr lang="en-US" altLang="zh-CN" sz="1400" b="1"/>
              <a:t>R3</a:t>
            </a:r>
            <a:endParaRPr lang="zh-CN" altLang="en-US" sz="1400" b="1"/>
          </a:p>
        </p:txBody>
      </p:sp>
      <p:sp>
        <p:nvSpPr>
          <p:cNvPr id="56" name="文本框 55"/>
          <p:cNvSpPr txBox="1"/>
          <p:nvPr/>
        </p:nvSpPr>
        <p:spPr bwMode="gray">
          <a:xfrm>
            <a:off x="3544692" y="5458388"/>
            <a:ext cx="413896" cy="307777"/>
          </a:xfrm>
          <a:prstGeom prst="rect">
            <a:avLst/>
          </a:prstGeom>
          <a:noFill/>
        </p:spPr>
        <p:txBody>
          <a:bodyPr wrap="none" rtlCol="0">
            <a:spAutoFit/>
          </a:bodyPr>
          <a:lstStyle/>
          <a:p>
            <a:pPr algn="ctr"/>
            <a:r>
              <a:rPr lang="en-US" altLang="zh-CN" sz="1400" b="1" dirty="0"/>
              <a:t>R4</a:t>
            </a:r>
            <a:endParaRPr lang="zh-CN" altLang="en-US" sz="1400" b="1" dirty="0"/>
          </a:p>
        </p:txBody>
      </p:sp>
      <p:sp>
        <p:nvSpPr>
          <p:cNvPr id="59" name="文本框 58"/>
          <p:cNvSpPr txBox="1"/>
          <p:nvPr/>
        </p:nvSpPr>
        <p:spPr bwMode="gray">
          <a:xfrm>
            <a:off x="3672165" y="2371546"/>
            <a:ext cx="1016625" cy="523220"/>
          </a:xfrm>
          <a:prstGeom prst="rect">
            <a:avLst/>
          </a:prstGeom>
          <a:noFill/>
        </p:spPr>
        <p:txBody>
          <a:bodyPr wrap="none" rtlCol="0">
            <a:spAutoFit/>
          </a:bodyPr>
          <a:lstStyle/>
          <a:p>
            <a:r>
              <a:rPr lang="en-US" altLang="zh-CN" sz="1400" dirty="0"/>
              <a:t>GE0/0/1</a:t>
            </a:r>
            <a:endParaRPr lang="en-US" altLang="zh-CN" sz="1400" dirty="0"/>
          </a:p>
          <a:p>
            <a:r>
              <a:rPr lang="en-US" altLang="zh-CN" sz="1400" dirty="0"/>
              <a:t>10.1.123.1</a:t>
            </a:r>
            <a:endParaRPr lang="zh-CN" altLang="en-US" sz="1400" dirty="0"/>
          </a:p>
        </p:txBody>
      </p:sp>
      <p:sp>
        <p:nvSpPr>
          <p:cNvPr id="60" name="文本框 59"/>
          <p:cNvSpPr txBox="1"/>
          <p:nvPr/>
        </p:nvSpPr>
        <p:spPr bwMode="gray">
          <a:xfrm>
            <a:off x="1855559" y="3594292"/>
            <a:ext cx="1016625" cy="523220"/>
          </a:xfrm>
          <a:prstGeom prst="rect">
            <a:avLst/>
          </a:prstGeom>
          <a:noFill/>
        </p:spPr>
        <p:txBody>
          <a:bodyPr wrap="none" rtlCol="0">
            <a:spAutoFit/>
          </a:bodyPr>
          <a:lstStyle/>
          <a:p>
            <a:pPr algn="r"/>
            <a:r>
              <a:rPr lang="en-US" altLang="zh-CN" sz="1400" dirty="0"/>
              <a:t>10.1.123.2</a:t>
            </a:r>
            <a:endParaRPr lang="en-US" altLang="zh-CN" sz="1400" dirty="0"/>
          </a:p>
          <a:p>
            <a:pPr algn="r"/>
            <a:r>
              <a:rPr lang="en-US" altLang="zh-CN" sz="1400" dirty="0"/>
              <a:t>GE0/0/1</a:t>
            </a:r>
            <a:endParaRPr lang="en-US" altLang="zh-CN" sz="1400" dirty="0"/>
          </a:p>
        </p:txBody>
      </p:sp>
      <p:sp>
        <p:nvSpPr>
          <p:cNvPr id="61" name="文本框 60"/>
          <p:cNvSpPr txBox="1"/>
          <p:nvPr/>
        </p:nvSpPr>
        <p:spPr bwMode="gray">
          <a:xfrm>
            <a:off x="4588320" y="3594292"/>
            <a:ext cx="1016625" cy="523220"/>
          </a:xfrm>
          <a:prstGeom prst="rect">
            <a:avLst/>
          </a:prstGeom>
          <a:noFill/>
        </p:spPr>
        <p:txBody>
          <a:bodyPr wrap="none" rtlCol="0">
            <a:spAutoFit/>
          </a:bodyPr>
          <a:lstStyle/>
          <a:p>
            <a:r>
              <a:rPr lang="en-US" altLang="zh-CN" sz="1400" dirty="0"/>
              <a:t>10.1.123.3</a:t>
            </a:r>
            <a:endParaRPr lang="en-US" altLang="zh-CN" sz="1400" dirty="0"/>
          </a:p>
          <a:p>
            <a:r>
              <a:rPr lang="en-US" altLang="zh-CN" sz="1400" dirty="0"/>
              <a:t>GE0/0/1</a:t>
            </a:r>
            <a:endParaRPr lang="en-US" altLang="zh-CN" sz="1400" dirty="0"/>
          </a:p>
        </p:txBody>
      </p:sp>
      <p:sp>
        <p:nvSpPr>
          <p:cNvPr id="62" name="文本框 61"/>
          <p:cNvSpPr txBox="1"/>
          <p:nvPr/>
        </p:nvSpPr>
        <p:spPr bwMode="gray">
          <a:xfrm>
            <a:off x="736843" y="2968041"/>
            <a:ext cx="2385589" cy="523220"/>
          </a:xfrm>
          <a:prstGeom prst="rect">
            <a:avLst/>
          </a:prstGeom>
          <a:noFill/>
        </p:spPr>
        <p:txBody>
          <a:bodyPr wrap="none" rtlCol="0">
            <a:spAutoFit/>
          </a:bodyPr>
          <a:lstStyle/>
          <a:p>
            <a:pPr algn="r"/>
            <a:r>
              <a:rPr lang="zh-CN" altLang="en-US" sz="1400" b="1" dirty="0"/>
              <a:t>到达</a:t>
            </a:r>
            <a:r>
              <a:rPr lang="en-US" altLang="zh-CN" sz="1400" b="1" dirty="0"/>
              <a:t>10.1.1.1/32</a:t>
            </a:r>
            <a:r>
              <a:rPr lang="zh-CN" altLang="en-US" sz="1400" b="1" dirty="0"/>
              <a:t>的静态路由</a:t>
            </a:r>
            <a:endParaRPr lang="en-US" altLang="zh-CN" sz="1400" b="1" dirty="0"/>
          </a:p>
          <a:p>
            <a:pPr algn="r"/>
            <a:r>
              <a:rPr lang="zh-CN" altLang="en-US" sz="1400" dirty="0"/>
              <a:t>下一跳为</a:t>
            </a:r>
            <a:r>
              <a:rPr lang="en-US" altLang="zh-CN" sz="1400" dirty="0"/>
              <a:t>10.1.123.1</a:t>
            </a:r>
            <a:endParaRPr lang="zh-CN" altLang="en-US" sz="1400" dirty="0"/>
          </a:p>
        </p:txBody>
      </p:sp>
      <p:cxnSp>
        <p:nvCxnSpPr>
          <p:cNvPr id="68" name="直接箭头连接符 67"/>
          <p:cNvCxnSpPr/>
          <p:nvPr/>
        </p:nvCxnSpPr>
        <p:spPr bwMode="gray">
          <a:xfrm flipH="1">
            <a:off x="4098993" y="4612000"/>
            <a:ext cx="828690" cy="58233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bwMode="gray">
          <a:xfrm rot="19497967">
            <a:off x="4169769" y="4843177"/>
            <a:ext cx="1077539" cy="523220"/>
          </a:xfrm>
          <a:prstGeom prst="rect">
            <a:avLst/>
          </a:prstGeom>
          <a:noFill/>
        </p:spPr>
        <p:txBody>
          <a:bodyPr wrap="none" rtlCol="0">
            <a:spAutoFit/>
          </a:bodyPr>
          <a:lstStyle/>
          <a:p>
            <a:r>
              <a:rPr lang="en-US" altLang="zh-CN" sz="1400" b="1" dirty="0"/>
              <a:t>Type5 LSA</a:t>
            </a:r>
            <a:endParaRPr lang="en-US" altLang="zh-CN" sz="1400" b="1" dirty="0"/>
          </a:p>
          <a:p>
            <a:r>
              <a:rPr lang="en-US" altLang="zh-CN" sz="1400" dirty="0"/>
              <a:t>10.1.1.1/32</a:t>
            </a:r>
            <a:endParaRPr lang="zh-CN" altLang="en-US" sz="1400" dirty="0"/>
          </a:p>
        </p:txBody>
      </p:sp>
      <p:pic>
        <p:nvPicPr>
          <p:cNvPr id="32" name="图片 31"/>
          <p:cNvPicPr/>
          <p:nvPr/>
        </p:nvPicPr>
        <p:blipFill>
          <a:blip r:embed="rId1" cstate="print">
            <a:extLst>
              <a:ext uri="{28A0092B-C50C-407E-A947-70E740481C1C}">
                <a14:useLocalDpi xmlns:a14="http://schemas.microsoft.com/office/drawing/2010/main" val="0"/>
              </a:ext>
            </a:extLst>
          </a:blip>
          <a:stretch>
            <a:fillRect/>
          </a:stretch>
        </p:blipFill>
        <p:spPr bwMode="gray">
          <a:xfrm>
            <a:off x="3462966" y="1947900"/>
            <a:ext cx="540000" cy="442800"/>
          </a:xfrm>
          <a:prstGeom prst="rect">
            <a:avLst/>
          </a:prstGeom>
        </p:spPr>
      </p:pic>
      <p:pic>
        <p:nvPicPr>
          <p:cNvPr id="39" name="图片 38" descr="通用交换机.png"/>
          <p:cNvPicPr>
            <a:picLocks noChangeAspect="1"/>
          </p:cNvPicPr>
          <p:nvPr/>
        </p:nvPicPr>
        <p:blipFill>
          <a:blip r:embed="rId2" cstate="print"/>
          <a:stretch>
            <a:fillRect/>
          </a:stretch>
        </p:blipFill>
        <p:spPr bwMode="gray">
          <a:xfrm>
            <a:off x="3462966" y="3108913"/>
            <a:ext cx="540000" cy="441818"/>
          </a:xfrm>
          <a:prstGeom prst="rect">
            <a:avLst/>
          </a:prstGeom>
        </p:spPr>
      </p:pic>
      <p:pic>
        <p:nvPicPr>
          <p:cNvPr id="40" name="图片 39"/>
          <p:cNvPicPr/>
          <p:nvPr/>
        </p:nvPicPr>
        <p:blipFill>
          <a:blip r:embed="rId1" cstate="print">
            <a:extLst>
              <a:ext uri="{28A0092B-C50C-407E-A947-70E740481C1C}">
                <a14:useLocalDpi xmlns:a14="http://schemas.microsoft.com/office/drawing/2010/main" val="0"/>
              </a:ext>
            </a:extLst>
          </a:blip>
          <a:stretch>
            <a:fillRect/>
          </a:stretch>
        </p:blipFill>
        <p:spPr bwMode="gray">
          <a:xfrm>
            <a:off x="2118906" y="4073774"/>
            <a:ext cx="540000" cy="442800"/>
          </a:xfrm>
          <a:prstGeom prst="rect">
            <a:avLst/>
          </a:prstGeom>
        </p:spPr>
      </p:pic>
      <p:pic>
        <p:nvPicPr>
          <p:cNvPr id="42" name="图片 41"/>
          <p:cNvPicPr/>
          <p:nvPr/>
        </p:nvPicPr>
        <p:blipFill>
          <a:blip r:embed="rId1" cstate="print">
            <a:extLst>
              <a:ext uri="{28A0092B-C50C-407E-A947-70E740481C1C}">
                <a14:useLocalDpi xmlns:a14="http://schemas.microsoft.com/office/drawing/2010/main" val="0"/>
              </a:ext>
            </a:extLst>
          </a:blip>
          <a:stretch>
            <a:fillRect/>
          </a:stretch>
        </p:blipFill>
        <p:spPr bwMode="gray">
          <a:xfrm>
            <a:off x="4807026" y="4073774"/>
            <a:ext cx="540000" cy="442800"/>
          </a:xfrm>
          <a:prstGeom prst="rect">
            <a:avLst/>
          </a:prstGeom>
        </p:spPr>
      </p:pic>
      <p:pic>
        <p:nvPicPr>
          <p:cNvPr id="45" name="图片 44"/>
          <p:cNvPicPr/>
          <p:nvPr/>
        </p:nvPicPr>
        <p:blipFill>
          <a:blip r:embed="rId1" cstate="print">
            <a:extLst>
              <a:ext uri="{28A0092B-C50C-407E-A947-70E740481C1C}">
                <a14:useLocalDpi xmlns:a14="http://schemas.microsoft.com/office/drawing/2010/main" val="0"/>
              </a:ext>
            </a:extLst>
          </a:blip>
          <a:stretch>
            <a:fillRect/>
          </a:stretch>
        </p:blipFill>
        <p:spPr bwMode="gray">
          <a:xfrm>
            <a:off x="3462966" y="5015588"/>
            <a:ext cx="540000" cy="442800"/>
          </a:xfrm>
          <a:prstGeom prst="rect">
            <a:avLst/>
          </a:prstGeom>
        </p:spPr>
      </p:pic>
      <p:sp>
        <p:nvSpPr>
          <p:cNvPr id="29" name="文本框 28"/>
          <p:cNvSpPr txBox="1"/>
          <p:nvPr/>
        </p:nvSpPr>
        <p:spPr bwMode="gray">
          <a:xfrm>
            <a:off x="1725609" y="5369382"/>
            <a:ext cx="697627" cy="338554"/>
          </a:xfrm>
          <a:prstGeom prst="rect">
            <a:avLst/>
          </a:prstGeom>
          <a:noFill/>
        </p:spPr>
        <p:txBody>
          <a:bodyPr wrap="none" rtlCol="0">
            <a:spAutoFit/>
          </a:bodyPr>
          <a:lstStyle/>
          <a:p>
            <a:pPr algn="ctr"/>
            <a:r>
              <a:rPr lang="en-US" altLang="zh-CN" sz="1600" b="1" dirty="0"/>
              <a:t>OSPF</a:t>
            </a:r>
            <a:endParaRPr lang="zh-CN" altLang="en-US" sz="1600" b="1" dirty="0"/>
          </a:p>
        </p:txBody>
      </p:sp>
      <p:cxnSp>
        <p:nvCxnSpPr>
          <p:cNvPr id="33" name="直接连接符 32"/>
          <p:cNvCxnSpPr>
            <a:stCxn id="32" idx="0"/>
          </p:cNvCxnSpPr>
          <p:nvPr/>
        </p:nvCxnSpPr>
        <p:spPr bwMode="gray">
          <a:xfrm flipV="1">
            <a:off x="3732966" y="1737947"/>
            <a:ext cx="0" cy="209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gray">
          <a:xfrm flipH="1">
            <a:off x="3518738" y="1739379"/>
            <a:ext cx="41073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bwMode="gray">
          <a:xfrm>
            <a:off x="2582493" y="2390233"/>
            <a:ext cx="785804" cy="1159099"/>
          </a:xfrm>
          <a:custGeom>
            <a:avLst/>
            <a:gdLst>
              <a:gd name="connsiteX0" fmla="*/ 0 w 785804"/>
              <a:gd name="connsiteY0" fmla="*/ 1159099 h 1159099"/>
              <a:gd name="connsiteX1" fmla="*/ 656822 w 785804"/>
              <a:gd name="connsiteY1" fmla="*/ 888642 h 1159099"/>
              <a:gd name="connsiteX2" fmla="*/ 785611 w 785804"/>
              <a:gd name="connsiteY2" fmla="*/ 0 h 1159099"/>
            </a:gdLst>
            <a:ahLst/>
            <a:cxnLst>
              <a:cxn ang="0">
                <a:pos x="connsiteX0" y="connsiteY0"/>
              </a:cxn>
              <a:cxn ang="0">
                <a:pos x="connsiteX1" y="connsiteY1"/>
              </a:cxn>
              <a:cxn ang="0">
                <a:pos x="connsiteX2" y="connsiteY2"/>
              </a:cxn>
            </a:cxnLst>
            <a:rect l="l" t="t" r="r" b="b"/>
            <a:pathLst>
              <a:path w="785804" h="1159099">
                <a:moveTo>
                  <a:pt x="0" y="1159099"/>
                </a:moveTo>
                <a:cubicBezTo>
                  <a:pt x="262943" y="1120462"/>
                  <a:pt x="525887" y="1081825"/>
                  <a:pt x="656822" y="888642"/>
                </a:cubicBezTo>
                <a:cubicBezTo>
                  <a:pt x="787757" y="695459"/>
                  <a:pt x="786684" y="347729"/>
                  <a:pt x="785611" y="0"/>
                </a:cubicBez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Freeform 3"/>
          <p:cNvSpPr/>
          <p:nvPr/>
        </p:nvSpPr>
        <p:spPr bwMode="gray">
          <a:xfrm rot="20981214">
            <a:off x="1068193" y="3533018"/>
            <a:ext cx="631109" cy="822659"/>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gradFill>
            <a:gsLst>
              <a:gs pos="100000">
                <a:srgbClr val="F5FCFD"/>
              </a:gs>
              <a:gs pos="31000">
                <a:srgbClr val="BEE9EE"/>
              </a:gs>
            </a:gsLst>
            <a:lin ang="0" scaled="0"/>
          </a:gradFill>
          <a:ln w="19050">
            <a:gradFill>
              <a:gsLst>
                <a:gs pos="0">
                  <a:schemeClr val="bg2">
                    <a:alpha val="40000"/>
                  </a:schemeClr>
                </a:gs>
                <a:gs pos="100000">
                  <a:srgbClr val="94DAE2"/>
                </a:gs>
              </a:gsLst>
              <a:lin ang="0" scaled="0"/>
            </a:grad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75268" y="4246217"/>
            <a:ext cx="992579" cy="307777"/>
          </a:xfrm>
          <a:prstGeom prst="rect">
            <a:avLst/>
          </a:prstGeom>
          <a:noFill/>
        </p:spPr>
        <p:txBody>
          <a:bodyPr wrap="none" rtlCol="0">
            <a:spAutoFit/>
          </a:bodyPr>
          <a:lstStyle/>
          <a:p>
            <a:r>
              <a:rPr lang="zh-CN" altLang="en-US" sz="1400" dirty="0">
                <a:solidFill>
                  <a:srgbClr val="30B5C5"/>
                </a:solidFill>
              </a:rPr>
              <a:t>引入</a:t>
            </a:r>
            <a:r>
              <a:rPr lang="en-US" altLang="zh-CN" sz="1400" dirty="0">
                <a:solidFill>
                  <a:srgbClr val="30B5C5"/>
                </a:solidFill>
              </a:rPr>
              <a:t>OSPF</a:t>
            </a:r>
            <a:endParaRPr lang="zh-CN" altLang="en-US" sz="1400" dirty="0">
              <a:solidFill>
                <a:srgbClr val="30B5C5"/>
              </a:solidFill>
            </a:endParaRPr>
          </a:p>
        </p:txBody>
      </p:sp>
      <p:sp>
        <p:nvSpPr>
          <p:cNvPr id="51" name="Oval 4"/>
          <p:cNvSpPr>
            <a:spLocks noChangeAspect="1"/>
          </p:cNvSpPr>
          <p:nvPr/>
        </p:nvSpPr>
        <p:spPr bwMode="gray">
          <a:xfrm>
            <a:off x="644352" y="3018913"/>
            <a:ext cx="180000" cy="18000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4"/>
          <p:cNvSpPr>
            <a:spLocks noChangeAspect="1"/>
          </p:cNvSpPr>
          <p:nvPr/>
        </p:nvSpPr>
        <p:spPr bwMode="gray">
          <a:xfrm>
            <a:off x="566470" y="4310105"/>
            <a:ext cx="180000" cy="180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4"/>
          <p:cNvSpPr>
            <a:spLocks noChangeAspect="1"/>
          </p:cNvSpPr>
          <p:nvPr/>
        </p:nvSpPr>
        <p:spPr bwMode="gray">
          <a:xfrm>
            <a:off x="5112401" y="4548292"/>
            <a:ext cx="180000" cy="18000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直接箭头连接符 65"/>
          <p:cNvCxnSpPr/>
          <p:nvPr/>
        </p:nvCxnSpPr>
        <p:spPr bwMode="gray">
          <a:xfrm>
            <a:off x="2802908" y="4261735"/>
            <a:ext cx="1800000" cy="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bwMode="gray">
          <a:xfrm>
            <a:off x="2695370" y="4275280"/>
            <a:ext cx="1077539" cy="523220"/>
          </a:xfrm>
          <a:prstGeom prst="rect">
            <a:avLst/>
          </a:prstGeom>
          <a:noFill/>
        </p:spPr>
        <p:txBody>
          <a:bodyPr wrap="none" rtlCol="0">
            <a:spAutoFit/>
          </a:bodyPr>
          <a:lstStyle/>
          <a:p>
            <a:r>
              <a:rPr lang="en-US" altLang="zh-CN" sz="1400" b="1" dirty="0"/>
              <a:t>Type5 LSA</a:t>
            </a:r>
            <a:endParaRPr lang="en-US" altLang="zh-CN" sz="1400" b="1" dirty="0"/>
          </a:p>
          <a:p>
            <a:r>
              <a:rPr lang="en-US" altLang="zh-CN" sz="1400" dirty="0"/>
              <a:t>10.1.1.1/32</a:t>
            </a:r>
            <a:endParaRPr lang="en-US" altLang="zh-CN" sz="1400" dirty="0"/>
          </a:p>
        </p:txBody>
      </p:sp>
      <p:sp>
        <p:nvSpPr>
          <p:cNvPr id="41" name="五边形 40"/>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燕尾形 64"/>
          <p:cNvSpPr/>
          <p:nvPr/>
        </p:nvSpPr>
        <p:spPr bwMode="auto">
          <a:xfrm>
            <a:off x="9828764"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a:t>利用</a:t>
            </a:r>
            <a:r>
              <a:rPr lang="en-US" altLang="zh-CN"/>
              <a:t>FA</a:t>
            </a:r>
            <a:r>
              <a:rPr lang="zh-CN" altLang="en-US"/>
              <a:t>解决次优路径问题</a:t>
            </a:r>
            <a:endParaRPr lang="zh-CN" altLang="en-US" dirty="0"/>
          </a:p>
        </p:txBody>
      </p:sp>
      <p:sp>
        <p:nvSpPr>
          <p:cNvPr id="17" name="文本占位符 16"/>
          <p:cNvSpPr>
            <a:spLocks noGrp="1"/>
          </p:cNvSpPr>
          <p:nvPr>
            <p:ph type="body" sz="quarter" idx="10"/>
          </p:nvPr>
        </p:nvSpPr>
        <p:spPr bwMode="gray">
          <a:xfrm>
            <a:off x="6096000" y="1047750"/>
            <a:ext cx="5653087" cy="4879805"/>
          </a:xfrm>
        </p:spPr>
        <p:txBody>
          <a:bodyPr/>
          <a:lstStyle/>
          <a:p>
            <a:r>
              <a:rPr lang="en-US" altLang="zh-CN" sz="1800" dirty="0"/>
              <a:t>R2</a:t>
            </a:r>
            <a:r>
              <a:rPr lang="zh-CN" altLang="en-US" sz="1800" dirty="0"/>
              <a:t>向</a:t>
            </a:r>
            <a:r>
              <a:rPr lang="en-US" altLang="zh-CN" sz="1800" dirty="0"/>
              <a:t>OSPF</a:t>
            </a:r>
            <a:r>
              <a:rPr lang="zh-CN" altLang="en-US" sz="1800" dirty="0"/>
              <a:t>域内通告到达</a:t>
            </a:r>
            <a:r>
              <a:rPr lang="en-US" altLang="zh-CN" sz="1800" dirty="0"/>
              <a:t>10.1.1.1/32</a:t>
            </a:r>
            <a:r>
              <a:rPr lang="zh-CN" altLang="en-US" sz="1800" dirty="0"/>
              <a:t>的外部路由时，为对应的</a:t>
            </a:r>
            <a:r>
              <a:rPr lang="en-US" altLang="zh-CN" sz="1800" dirty="0"/>
              <a:t>Type5 LSA</a:t>
            </a:r>
            <a:r>
              <a:rPr lang="zh-CN" altLang="en-US" sz="1800" dirty="0"/>
              <a:t>设置</a:t>
            </a:r>
            <a:r>
              <a:rPr lang="en-US" altLang="zh-CN" sz="1800" dirty="0"/>
              <a:t>FA</a:t>
            </a:r>
            <a:r>
              <a:rPr lang="zh-CN" altLang="en-US" sz="1800" dirty="0"/>
              <a:t>，值为其自己到达该外部路由的下一跳：</a:t>
            </a:r>
            <a:r>
              <a:rPr lang="en-US" altLang="zh-CN" sz="1800" dirty="0"/>
              <a:t>10.1.123.1</a:t>
            </a:r>
            <a:r>
              <a:rPr lang="zh-CN" altLang="en-US" sz="1800" dirty="0"/>
              <a:t>。</a:t>
            </a:r>
            <a:endParaRPr lang="zh-CN" altLang="en-US" sz="1800" dirty="0"/>
          </a:p>
          <a:p>
            <a:r>
              <a:rPr lang="zh-CN" altLang="en-US" sz="1800" dirty="0"/>
              <a:t>当</a:t>
            </a:r>
            <a:r>
              <a:rPr lang="en-US" altLang="zh-CN" sz="1800" dirty="0"/>
              <a:t>R3</a:t>
            </a:r>
            <a:r>
              <a:rPr lang="zh-CN" altLang="en-US" sz="1800" dirty="0"/>
              <a:t>收到该</a:t>
            </a:r>
            <a:r>
              <a:rPr lang="en-US" altLang="zh-CN" sz="1800" dirty="0"/>
              <a:t>LSA</a:t>
            </a:r>
            <a:r>
              <a:rPr lang="zh-CN" altLang="en-US" sz="1800" dirty="0"/>
              <a:t>后，计算到达</a:t>
            </a:r>
            <a:r>
              <a:rPr lang="en-US" altLang="zh-CN" sz="1800" dirty="0"/>
              <a:t>10.1.1.1/32</a:t>
            </a:r>
            <a:r>
              <a:rPr lang="zh-CN" altLang="en-US" sz="1800" dirty="0"/>
              <a:t>的路由时，发现</a:t>
            </a:r>
            <a:r>
              <a:rPr lang="en-US" altLang="zh-CN" sz="1800" dirty="0"/>
              <a:t>FA</a:t>
            </a:r>
            <a:r>
              <a:rPr lang="zh-CN" altLang="en-US" sz="1800" dirty="0"/>
              <a:t>为非</a:t>
            </a:r>
            <a:r>
              <a:rPr lang="en-US" altLang="zh-CN" sz="1800" dirty="0"/>
              <a:t>0</a:t>
            </a:r>
            <a:r>
              <a:rPr lang="zh-CN" altLang="en-US" sz="1800" dirty="0"/>
              <a:t>，因此它认为到达目标地址</a:t>
            </a:r>
            <a:r>
              <a:rPr lang="en-US" altLang="zh-CN" sz="1800" dirty="0"/>
              <a:t>10.1.1.1/32</a:t>
            </a:r>
            <a:r>
              <a:rPr lang="zh-CN" altLang="en-US" sz="1800" dirty="0"/>
              <a:t>的下一跳为</a:t>
            </a:r>
            <a:r>
              <a:rPr lang="en-US" altLang="zh-CN" sz="1800" dirty="0"/>
              <a:t>FA</a:t>
            </a:r>
            <a:r>
              <a:rPr lang="zh-CN" altLang="en-US" sz="1800" dirty="0"/>
              <a:t>所指定的地址，即：</a:t>
            </a:r>
            <a:r>
              <a:rPr lang="en-US" altLang="zh-CN" sz="1800" dirty="0"/>
              <a:t>10.1.123.1</a:t>
            </a:r>
            <a:r>
              <a:rPr lang="zh-CN" altLang="en-US" sz="1800" dirty="0"/>
              <a:t>。</a:t>
            </a:r>
            <a:endParaRPr lang="zh-CN" altLang="en-US" sz="1800" dirty="0"/>
          </a:p>
        </p:txBody>
      </p:sp>
      <p:sp>
        <p:nvSpPr>
          <p:cNvPr id="57" name="矩形 56"/>
          <p:cNvSpPr/>
          <p:nvPr/>
        </p:nvSpPr>
        <p:spPr bwMode="gray">
          <a:xfrm>
            <a:off x="1667847" y="3612979"/>
            <a:ext cx="4158793" cy="212729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a:solidFill>
                <a:srgbClr val="1D1D1A"/>
              </a:solidFill>
              <a:latin typeface="Huawei Sans" panose="020C0503030203020204" pitchFamily="34" charset="0"/>
              <a:ea typeface="方正兰亭黑简体" panose="02000000000000000000" pitchFamily="2" charset="-122"/>
            </a:endParaRPr>
          </a:p>
        </p:txBody>
      </p:sp>
      <p:cxnSp>
        <p:nvCxnSpPr>
          <p:cNvPr id="46" name="直接连接符 45"/>
          <p:cNvCxnSpPr>
            <a:stCxn id="39" idx="0"/>
            <a:endCxn id="32" idx="2"/>
          </p:cNvCxnSpPr>
          <p:nvPr/>
        </p:nvCxnSpPr>
        <p:spPr bwMode="gray">
          <a:xfrm flipV="1">
            <a:off x="3732966" y="2390700"/>
            <a:ext cx="0" cy="71821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bwMode="gray">
          <a:xfrm flipH="1">
            <a:off x="2461490" y="3366515"/>
            <a:ext cx="1290150" cy="890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bwMode="gray">
          <a:xfrm>
            <a:off x="3711226" y="3366515"/>
            <a:ext cx="1208489" cy="890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bwMode="gray">
          <a:xfrm rot="10800000" flipH="1">
            <a:off x="3690602" y="4439114"/>
            <a:ext cx="1229113" cy="82790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bwMode="gray">
          <a:xfrm>
            <a:off x="3181329" y="1454805"/>
            <a:ext cx="1085555" cy="307777"/>
          </a:xfrm>
          <a:prstGeom prst="rect">
            <a:avLst/>
          </a:prstGeom>
          <a:noFill/>
        </p:spPr>
        <p:txBody>
          <a:bodyPr wrap="none" rtlCol="0">
            <a:spAutoFit/>
          </a:bodyPr>
          <a:lstStyle/>
          <a:p>
            <a:pPr algn="ctr"/>
            <a:r>
              <a:rPr lang="en-US" altLang="zh-CN" sz="1400" dirty="0"/>
              <a:t>10.1.1.1/32</a:t>
            </a:r>
            <a:endParaRPr lang="zh-CN" altLang="en-US" sz="1400" dirty="0"/>
          </a:p>
        </p:txBody>
      </p:sp>
      <p:sp>
        <p:nvSpPr>
          <p:cNvPr id="53" name="文本框 52"/>
          <p:cNvSpPr txBox="1"/>
          <p:nvPr/>
        </p:nvSpPr>
        <p:spPr bwMode="gray">
          <a:xfrm>
            <a:off x="3078506" y="1978147"/>
            <a:ext cx="413896" cy="307777"/>
          </a:xfrm>
          <a:prstGeom prst="rect">
            <a:avLst/>
          </a:prstGeom>
          <a:noFill/>
        </p:spPr>
        <p:txBody>
          <a:bodyPr wrap="none" rtlCol="0">
            <a:spAutoFit/>
          </a:bodyPr>
          <a:lstStyle/>
          <a:p>
            <a:pPr algn="ctr"/>
            <a:r>
              <a:rPr lang="en-US" altLang="zh-CN" sz="1400" b="1" dirty="0"/>
              <a:t>R1</a:t>
            </a:r>
            <a:endParaRPr lang="zh-CN" altLang="en-US" sz="1400" b="1" dirty="0"/>
          </a:p>
        </p:txBody>
      </p:sp>
      <p:sp>
        <p:nvSpPr>
          <p:cNvPr id="54" name="文本框 53"/>
          <p:cNvSpPr txBox="1"/>
          <p:nvPr/>
        </p:nvSpPr>
        <p:spPr bwMode="gray">
          <a:xfrm>
            <a:off x="1785970" y="4135164"/>
            <a:ext cx="413896" cy="307777"/>
          </a:xfrm>
          <a:prstGeom prst="rect">
            <a:avLst/>
          </a:prstGeom>
          <a:noFill/>
        </p:spPr>
        <p:txBody>
          <a:bodyPr wrap="none" rtlCol="0">
            <a:spAutoFit/>
          </a:bodyPr>
          <a:lstStyle/>
          <a:p>
            <a:pPr algn="ctr"/>
            <a:r>
              <a:rPr lang="en-US" altLang="zh-CN" sz="1400" b="1"/>
              <a:t>R2</a:t>
            </a:r>
            <a:endParaRPr lang="zh-CN" altLang="en-US" sz="1400" b="1"/>
          </a:p>
        </p:txBody>
      </p:sp>
      <p:sp>
        <p:nvSpPr>
          <p:cNvPr id="55" name="文本框 54"/>
          <p:cNvSpPr txBox="1"/>
          <p:nvPr/>
        </p:nvSpPr>
        <p:spPr bwMode="gray">
          <a:xfrm>
            <a:off x="5398715" y="4135164"/>
            <a:ext cx="413896" cy="307777"/>
          </a:xfrm>
          <a:prstGeom prst="rect">
            <a:avLst/>
          </a:prstGeom>
          <a:noFill/>
        </p:spPr>
        <p:txBody>
          <a:bodyPr wrap="none" rtlCol="0">
            <a:spAutoFit/>
          </a:bodyPr>
          <a:lstStyle/>
          <a:p>
            <a:pPr algn="ctr"/>
            <a:r>
              <a:rPr lang="en-US" altLang="zh-CN" sz="1400" b="1"/>
              <a:t>R3</a:t>
            </a:r>
            <a:endParaRPr lang="zh-CN" altLang="en-US" sz="1400" b="1"/>
          </a:p>
        </p:txBody>
      </p:sp>
      <p:sp>
        <p:nvSpPr>
          <p:cNvPr id="56" name="文本框 55"/>
          <p:cNvSpPr txBox="1"/>
          <p:nvPr/>
        </p:nvSpPr>
        <p:spPr bwMode="gray">
          <a:xfrm>
            <a:off x="3544692" y="5458388"/>
            <a:ext cx="413896" cy="307777"/>
          </a:xfrm>
          <a:prstGeom prst="rect">
            <a:avLst/>
          </a:prstGeom>
          <a:noFill/>
        </p:spPr>
        <p:txBody>
          <a:bodyPr wrap="none" rtlCol="0">
            <a:spAutoFit/>
          </a:bodyPr>
          <a:lstStyle/>
          <a:p>
            <a:pPr algn="ctr"/>
            <a:r>
              <a:rPr lang="en-US" altLang="zh-CN" sz="1400" b="1" dirty="0"/>
              <a:t>R4</a:t>
            </a:r>
            <a:endParaRPr lang="zh-CN" altLang="en-US" sz="1400" b="1" dirty="0"/>
          </a:p>
        </p:txBody>
      </p:sp>
      <p:sp>
        <p:nvSpPr>
          <p:cNvPr id="60" name="文本框 59"/>
          <p:cNvSpPr txBox="1"/>
          <p:nvPr/>
        </p:nvSpPr>
        <p:spPr bwMode="gray">
          <a:xfrm>
            <a:off x="1855559" y="3594292"/>
            <a:ext cx="1016625" cy="523220"/>
          </a:xfrm>
          <a:prstGeom prst="rect">
            <a:avLst/>
          </a:prstGeom>
          <a:noFill/>
        </p:spPr>
        <p:txBody>
          <a:bodyPr wrap="none" rtlCol="0">
            <a:spAutoFit/>
          </a:bodyPr>
          <a:lstStyle/>
          <a:p>
            <a:pPr algn="r"/>
            <a:r>
              <a:rPr lang="en-US" altLang="zh-CN" sz="1400" dirty="0"/>
              <a:t>10.1.123.2</a:t>
            </a:r>
            <a:endParaRPr lang="en-US" altLang="zh-CN" sz="1400" dirty="0"/>
          </a:p>
          <a:p>
            <a:pPr algn="r"/>
            <a:r>
              <a:rPr lang="en-US" altLang="zh-CN" sz="1400" dirty="0"/>
              <a:t>GE0/0/1</a:t>
            </a:r>
            <a:endParaRPr lang="en-US" altLang="zh-CN" sz="1400" dirty="0"/>
          </a:p>
        </p:txBody>
      </p:sp>
      <p:sp>
        <p:nvSpPr>
          <p:cNvPr id="61" name="文本框 60"/>
          <p:cNvSpPr txBox="1"/>
          <p:nvPr/>
        </p:nvSpPr>
        <p:spPr bwMode="gray">
          <a:xfrm>
            <a:off x="4673960" y="3594292"/>
            <a:ext cx="1016625" cy="523220"/>
          </a:xfrm>
          <a:prstGeom prst="rect">
            <a:avLst/>
          </a:prstGeom>
          <a:noFill/>
        </p:spPr>
        <p:txBody>
          <a:bodyPr wrap="none" rtlCol="0">
            <a:spAutoFit/>
          </a:bodyPr>
          <a:lstStyle/>
          <a:p>
            <a:r>
              <a:rPr lang="en-US" altLang="zh-CN" sz="1400" dirty="0"/>
              <a:t>10.1.123.3</a:t>
            </a:r>
            <a:endParaRPr lang="en-US" altLang="zh-CN" sz="1400" dirty="0"/>
          </a:p>
          <a:p>
            <a:r>
              <a:rPr lang="en-US" altLang="zh-CN" sz="1400" dirty="0"/>
              <a:t>GE0/0/1</a:t>
            </a:r>
            <a:endParaRPr lang="en-US" altLang="zh-CN" sz="1400" dirty="0"/>
          </a:p>
        </p:txBody>
      </p:sp>
      <p:sp>
        <p:nvSpPr>
          <p:cNvPr id="62" name="文本框 61"/>
          <p:cNvSpPr txBox="1"/>
          <p:nvPr/>
        </p:nvSpPr>
        <p:spPr bwMode="gray">
          <a:xfrm>
            <a:off x="736843" y="2968041"/>
            <a:ext cx="2385589" cy="523220"/>
          </a:xfrm>
          <a:prstGeom prst="rect">
            <a:avLst/>
          </a:prstGeom>
          <a:noFill/>
        </p:spPr>
        <p:txBody>
          <a:bodyPr wrap="none" rtlCol="0">
            <a:spAutoFit/>
          </a:bodyPr>
          <a:lstStyle/>
          <a:p>
            <a:pPr algn="r"/>
            <a:r>
              <a:rPr lang="zh-CN" altLang="en-US" sz="1400" b="1" dirty="0"/>
              <a:t>到达</a:t>
            </a:r>
            <a:r>
              <a:rPr lang="en-US" altLang="zh-CN" sz="1400" b="1" dirty="0"/>
              <a:t>10.1.1.1/32</a:t>
            </a:r>
            <a:r>
              <a:rPr lang="zh-CN" altLang="en-US" sz="1400" b="1" dirty="0"/>
              <a:t>的静态路由</a:t>
            </a:r>
            <a:endParaRPr lang="en-US" altLang="zh-CN" sz="1400" b="1" dirty="0"/>
          </a:p>
          <a:p>
            <a:pPr algn="r"/>
            <a:r>
              <a:rPr lang="zh-CN" altLang="en-US" sz="1400" dirty="0"/>
              <a:t>下一跳为</a:t>
            </a:r>
            <a:r>
              <a:rPr lang="en-US" altLang="zh-CN" sz="1400" dirty="0"/>
              <a:t>10.1.123.1</a:t>
            </a:r>
            <a:endParaRPr lang="zh-CN" altLang="en-US" sz="1400" dirty="0"/>
          </a:p>
        </p:txBody>
      </p:sp>
      <p:cxnSp>
        <p:nvCxnSpPr>
          <p:cNvPr id="65" name="直接箭头连接符 64"/>
          <p:cNvCxnSpPr/>
          <p:nvPr/>
        </p:nvCxnSpPr>
        <p:spPr bwMode="gray">
          <a:xfrm>
            <a:off x="2802908" y="4261735"/>
            <a:ext cx="1800000" cy="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7" name="文本框 66"/>
          <p:cNvSpPr txBox="1"/>
          <p:nvPr/>
        </p:nvSpPr>
        <p:spPr bwMode="gray">
          <a:xfrm>
            <a:off x="2695370" y="4275280"/>
            <a:ext cx="1377300" cy="738664"/>
          </a:xfrm>
          <a:prstGeom prst="rect">
            <a:avLst/>
          </a:prstGeom>
          <a:noFill/>
        </p:spPr>
        <p:txBody>
          <a:bodyPr wrap="none" rtlCol="0">
            <a:spAutoFit/>
          </a:bodyPr>
          <a:lstStyle/>
          <a:p>
            <a:r>
              <a:rPr lang="en-US" altLang="zh-CN" sz="1400" b="1" dirty="0"/>
              <a:t>Type5 LSA</a:t>
            </a:r>
            <a:endParaRPr lang="en-US" altLang="zh-CN" sz="1400" b="1" dirty="0"/>
          </a:p>
          <a:p>
            <a:r>
              <a:rPr lang="en-US" altLang="zh-CN" sz="1400" dirty="0"/>
              <a:t>10.1.1.1/32</a:t>
            </a:r>
            <a:endParaRPr lang="en-US" altLang="zh-CN" sz="1400" dirty="0"/>
          </a:p>
          <a:p>
            <a:r>
              <a:rPr lang="en-US" altLang="zh-CN" sz="1400" b="1" dirty="0">
                <a:solidFill>
                  <a:srgbClr val="C7000B"/>
                </a:solidFill>
              </a:rPr>
              <a:t>FA=10.1.123.1</a:t>
            </a:r>
            <a:endParaRPr lang="en-US" altLang="zh-CN" sz="1400" b="1" dirty="0">
              <a:solidFill>
                <a:srgbClr val="C7000B"/>
              </a:solidFill>
            </a:endParaRPr>
          </a:p>
        </p:txBody>
      </p:sp>
      <p:cxnSp>
        <p:nvCxnSpPr>
          <p:cNvPr id="68" name="直接箭头连接符 67"/>
          <p:cNvCxnSpPr/>
          <p:nvPr/>
        </p:nvCxnSpPr>
        <p:spPr bwMode="gray">
          <a:xfrm flipH="1">
            <a:off x="4098993" y="4612000"/>
            <a:ext cx="828690" cy="582335"/>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bwMode="gray">
          <a:xfrm rot="19497967">
            <a:off x="4105419" y="4777154"/>
            <a:ext cx="1377300" cy="738664"/>
          </a:xfrm>
          <a:prstGeom prst="rect">
            <a:avLst/>
          </a:prstGeom>
          <a:noFill/>
        </p:spPr>
        <p:txBody>
          <a:bodyPr wrap="none" rtlCol="0">
            <a:spAutoFit/>
          </a:bodyPr>
          <a:lstStyle/>
          <a:p>
            <a:r>
              <a:rPr lang="en-US" altLang="zh-CN" sz="1400" b="1" dirty="0"/>
              <a:t>Type5 LSA</a:t>
            </a:r>
            <a:endParaRPr lang="en-US" altLang="zh-CN" sz="1400" b="1" dirty="0"/>
          </a:p>
          <a:p>
            <a:r>
              <a:rPr lang="en-US" altLang="zh-CN" sz="1400" dirty="0"/>
              <a:t>10.1.1.1/32</a:t>
            </a:r>
            <a:endParaRPr lang="en-US" altLang="zh-CN" sz="1400" dirty="0"/>
          </a:p>
          <a:p>
            <a:r>
              <a:rPr lang="en-US" altLang="zh-CN" sz="1400" b="1" dirty="0">
                <a:solidFill>
                  <a:srgbClr val="C7000B"/>
                </a:solidFill>
              </a:rPr>
              <a:t>FA=10.1.123.1</a:t>
            </a:r>
            <a:endParaRPr lang="en-US" altLang="zh-CN" sz="1400" b="1" dirty="0">
              <a:solidFill>
                <a:srgbClr val="C7000B"/>
              </a:solidFill>
            </a:endParaRPr>
          </a:p>
        </p:txBody>
      </p:sp>
      <p:pic>
        <p:nvPicPr>
          <p:cNvPr id="32" name="图片 31"/>
          <p:cNvPicPr/>
          <p:nvPr/>
        </p:nvPicPr>
        <p:blipFill>
          <a:blip r:embed="rId1" cstate="print">
            <a:extLst>
              <a:ext uri="{28A0092B-C50C-407E-A947-70E740481C1C}">
                <a14:useLocalDpi xmlns:a14="http://schemas.microsoft.com/office/drawing/2010/main" val="0"/>
              </a:ext>
            </a:extLst>
          </a:blip>
          <a:stretch>
            <a:fillRect/>
          </a:stretch>
        </p:blipFill>
        <p:spPr bwMode="gray">
          <a:xfrm>
            <a:off x="3462966" y="1947900"/>
            <a:ext cx="540000" cy="442800"/>
          </a:xfrm>
          <a:prstGeom prst="rect">
            <a:avLst/>
          </a:prstGeom>
        </p:spPr>
      </p:pic>
      <p:pic>
        <p:nvPicPr>
          <p:cNvPr id="39" name="图片 38" descr="通用交换机.png"/>
          <p:cNvPicPr>
            <a:picLocks noChangeAspect="1"/>
          </p:cNvPicPr>
          <p:nvPr/>
        </p:nvPicPr>
        <p:blipFill>
          <a:blip r:embed="rId2" cstate="print"/>
          <a:stretch>
            <a:fillRect/>
          </a:stretch>
        </p:blipFill>
        <p:spPr bwMode="gray">
          <a:xfrm>
            <a:off x="3462966" y="3108913"/>
            <a:ext cx="540000" cy="441818"/>
          </a:xfrm>
          <a:prstGeom prst="rect">
            <a:avLst/>
          </a:prstGeom>
        </p:spPr>
      </p:pic>
      <p:pic>
        <p:nvPicPr>
          <p:cNvPr id="40" name="图片 39"/>
          <p:cNvPicPr/>
          <p:nvPr/>
        </p:nvPicPr>
        <p:blipFill>
          <a:blip r:embed="rId1" cstate="print">
            <a:extLst>
              <a:ext uri="{28A0092B-C50C-407E-A947-70E740481C1C}">
                <a14:useLocalDpi xmlns:a14="http://schemas.microsoft.com/office/drawing/2010/main" val="0"/>
              </a:ext>
            </a:extLst>
          </a:blip>
          <a:stretch>
            <a:fillRect/>
          </a:stretch>
        </p:blipFill>
        <p:spPr bwMode="gray">
          <a:xfrm>
            <a:off x="2118906" y="4073774"/>
            <a:ext cx="540000" cy="442800"/>
          </a:xfrm>
          <a:prstGeom prst="rect">
            <a:avLst/>
          </a:prstGeom>
        </p:spPr>
      </p:pic>
      <p:pic>
        <p:nvPicPr>
          <p:cNvPr id="42" name="图片 41"/>
          <p:cNvPicPr/>
          <p:nvPr/>
        </p:nvPicPr>
        <p:blipFill>
          <a:blip r:embed="rId1" cstate="print">
            <a:extLst>
              <a:ext uri="{28A0092B-C50C-407E-A947-70E740481C1C}">
                <a14:useLocalDpi xmlns:a14="http://schemas.microsoft.com/office/drawing/2010/main" val="0"/>
              </a:ext>
            </a:extLst>
          </a:blip>
          <a:stretch>
            <a:fillRect/>
          </a:stretch>
        </p:blipFill>
        <p:spPr bwMode="gray">
          <a:xfrm>
            <a:off x="4807026" y="4073774"/>
            <a:ext cx="540000" cy="442800"/>
          </a:xfrm>
          <a:prstGeom prst="rect">
            <a:avLst/>
          </a:prstGeom>
        </p:spPr>
      </p:pic>
      <p:pic>
        <p:nvPicPr>
          <p:cNvPr id="45" name="图片 44"/>
          <p:cNvPicPr/>
          <p:nvPr/>
        </p:nvPicPr>
        <p:blipFill>
          <a:blip r:embed="rId1" cstate="print">
            <a:extLst>
              <a:ext uri="{28A0092B-C50C-407E-A947-70E740481C1C}">
                <a14:useLocalDpi xmlns:a14="http://schemas.microsoft.com/office/drawing/2010/main" val="0"/>
              </a:ext>
            </a:extLst>
          </a:blip>
          <a:stretch>
            <a:fillRect/>
          </a:stretch>
        </p:blipFill>
        <p:spPr bwMode="gray">
          <a:xfrm>
            <a:off x="3462966" y="5015588"/>
            <a:ext cx="540000" cy="442800"/>
          </a:xfrm>
          <a:prstGeom prst="rect">
            <a:avLst/>
          </a:prstGeom>
        </p:spPr>
      </p:pic>
      <p:sp>
        <p:nvSpPr>
          <p:cNvPr id="29" name="文本框 28"/>
          <p:cNvSpPr txBox="1"/>
          <p:nvPr/>
        </p:nvSpPr>
        <p:spPr bwMode="gray">
          <a:xfrm>
            <a:off x="1725609" y="5369382"/>
            <a:ext cx="697627" cy="338554"/>
          </a:xfrm>
          <a:prstGeom prst="rect">
            <a:avLst/>
          </a:prstGeom>
          <a:noFill/>
        </p:spPr>
        <p:txBody>
          <a:bodyPr wrap="none" rtlCol="0">
            <a:spAutoFit/>
          </a:bodyPr>
          <a:lstStyle/>
          <a:p>
            <a:pPr algn="ctr"/>
            <a:r>
              <a:rPr lang="en-US" altLang="zh-CN" sz="1600" b="1" dirty="0"/>
              <a:t>OSPF</a:t>
            </a:r>
            <a:endParaRPr lang="zh-CN" altLang="en-US" sz="1600" b="1" dirty="0"/>
          </a:p>
        </p:txBody>
      </p:sp>
      <p:cxnSp>
        <p:nvCxnSpPr>
          <p:cNvPr id="33" name="直接连接符 32"/>
          <p:cNvCxnSpPr>
            <a:stCxn id="32" idx="0"/>
          </p:cNvCxnSpPr>
          <p:nvPr/>
        </p:nvCxnSpPr>
        <p:spPr bwMode="gray">
          <a:xfrm flipV="1">
            <a:off x="3732966" y="1737947"/>
            <a:ext cx="0" cy="2099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bwMode="gray">
          <a:xfrm flipH="1">
            <a:off x="3518738" y="1739379"/>
            <a:ext cx="410733" cy="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任意多边形 11"/>
          <p:cNvSpPr/>
          <p:nvPr/>
        </p:nvSpPr>
        <p:spPr bwMode="gray">
          <a:xfrm>
            <a:off x="2582493" y="2390233"/>
            <a:ext cx="785804" cy="1159099"/>
          </a:xfrm>
          <a:custGeom>
            <a:avLst/>
            <a:gdLst>
              <a:gd name="connsiteX0" fmla="*/ 0 w 785804"/>
              <a:gd name="connsiteY0" fmla="*/ 1159099 h 1159099"/>
              <a:gd name="connsiteX1" fmla="*/ 656822 w 785804"/>
              <a:gd name="connsiteY1" fmla="*/ 888642 h 1159099"/>
              <a:gd name="connsiteX2" fmla="*/ 785611 w 785804"/>
              <a:gd name="connsiteY2" fmla="*/ 0 h 1159099"/>
            </a:gdLst>
            <a:ahLst/>
            <a:cxnLst>
              <a:cxn ang="0">
                <a:pos x="connsiteX0" y="connsiteY0"/>
              </a:cxn>
              <a:cxn ang="0">
                <a:pos x="connsiteX1" y="connsiteY1"/>
              </a:cxn>
              <a:cxn ang="0">
                <a:pos x="connsiteX2" y="connsiteY2"/>
              </a:cxn>
            </a:cxnLst>
            <a:rect l="l" t="t" r="r" b="b"/>
            <a:pathLst>
              <a:path w="785804" h="1159099">
                <a:moveTo>
                  <a:pt x="0" y="1159099"/>
                </a:moveTo>
                <a:cubicBezTo>
                  <a:pt x="262943" y="1120462"/>
                  <a:pt x="525887" y="1081825"/>
                  <a:pt x="656822" y="888642"/>
                </a:cubicBezTo>
                <a:cubicBezTo>
                  <a:pt x="787757" y="695459"/>
                  <a:pt x="786684" y="347729"/>
                  <a:pt x="785611" y="0"/>
                </a:cubicBez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Freeform 3"/>
          <p:cNvSpPr/>
          <p:nvPr/>
        </p:nvSpPr>
        <p:spPr bwMode="gray">
          <a:xfrm rot="20981214">
            <a:off x="1068193" y="3533018"/>
            <a:ext cx="631109" cy="822659"/>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gradFill>
            <a:gsLst>
              <a:gs pos="100000">
                <a:srgbClr val="F5FCFD"/>
              </a:gs>
              <a:gs pos="31000">
                <a:srgbClr val="BEE9EE"/>
              </a:gs>
            </a:gsLst>
            <a:lin ang="0" scaled="0"/>
          </a:gradFill>
          <a:ln w="19050">
            <a:gradFill>
              <a:gsLst>
                <a:gs pos="0">
                  <a:schemeClr val="bg2">
                    <a:alpha val="40000"/>
                  </a:schemeClr>
                </a:gs>
                <a:gs pos="100000">
                  <a:srgbClr val="94DAE2"/>
                </a:gs>
              </a:gsLst>
              <a:lin ang="0" scaled="0"/>
            </a:gradFill>
          </a:ln>
        </p:spPr>
        <p:txBody>
          <a:bodyPr vert="horz" wrap="square" lIns="68580" tIns="34290" rIns="68580" bIns="34290" numCol="1" anchor="t" anchorCtr="0" compatLnSpc="1"/>
          <a:lstStyle/>
          <a:p>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675268" y="4246217"/>
            <a:ext cx="992579" cy="307777"/>
          </a:xfrm>
          <a:prstGeom prst="rect">
            <a:avLst/>
          </a:prstGeom>
          <a:noFill/>
        </p:spPr>
        <p:txBody>
          <a:bodyPr wrap="none" rtlCol="0">
            <a:spAutoFit/>
          </a:bodyPr>
          <a:lstStyle>
            <a:defPPr>
              <a:defRPr lang="en-US"/>
            </a:defPPr>
            <a:lvl1pPr>
              <a:defRPr sz="1400">
                <a:solidFill>
                  <a:srgbClr val="30B5C5"/>
                </a:solidFill>
              </a:defRPr>
            </a:lvl1pPr>
          </a:lstStyle>
          <a:p>
            <a:r>
              <a:rPr lang="zh-CN" altLang="en-US" dirty="0"/>
              <a:t>引入</a:t>
            </a:r>
            <a:r>
              <a:rPr lang="en-US" altLang="zh-CN" dirty="0"/>
              <a:t>OSPF</a:t>
            </a:r>
            <a:endParaRPr lang="zh-CN" altLang="en-US" dirty="0"/>
          </a:p>
        </p:txBody>
      </p:sp>
      <p:sp>
        <p:nvSpPr>
          <p:cNvPr id="58" name="Oval 4"/>
          <p:cNvSpPr>
            <a:spLocks noChangeAspect="1"/>
          </p:cNvSpPr>
          <p:nvPr/>
        </p:nvSpPr>
        <p:spPr bwMode="gray">
          <a:xfrm>
            <a:off x="566470" y="4310105"/>
            <a:ext cx="180000" cy="180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Oval 4"/>
          <p:cNvSpPr>
            <a:spLocks noChangeAspect="1"/>
          </p:cNvSpPr>
          <p:nvPr/>
        </p:nvSpPr>
        <p:spPr bwMode="gray">
          <a:xfrm>
            <a:off x="5112401" y="4548292"/>
            <a:ext cx="180000" cy="18000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任意多边形 1"/>
          <p:cNvSpPr/>
          <p:nvPr/>
        </p:nvSpPr>
        <p:spPr bwMode="gray">
          <a:xfrm>
            <a:off x="3810929" y="2120009"/>
            <a:ext cx="938662" cy="2858646"/>
          </a:xfrm>
          <a:custGeom>
            <a:avLst/>
            <a:gdLst>
              <a:gd name="connsiteX0" fmla="*/ 0 w 1127395"/>
              <a:gd name="connsiteY0" fmla="*/ 2493818 h 2493818"/>
              <a:gd name="connsiteX1" fmla="*/ 1122218 w 1127395"/>
              <a:gd name="connsiteY1" fmla="*/ 1801091 h 2493818"/>
              <a:gd name="connsiteX2" fmla="*/ 415636 w 1127395"/>
              <a:gd name="connsiteY2" fmla="*/ 858982 h 2493818"/>
              <a:gd name="connsiteX3" fmla="*/ 346364 w 1127395"/>
              <a:gd name="connsiteY3" fmla="*/ 0 h 2493818"/>
            </a:gdLst>
            <a:ahLst/>
            <a:cxnLst>
              <a:cxn ang="0">
                <a:pos x="connsiteX0" y="connsiteY0"/>
              </a:cxn>
              <a:cxn ang="0">
                <a:pos x="connsiteX1" y="connsiteY1"/>
              </a:cxn>
              <a:cxn ang="0">
                <a:pos x="connsiteX2" y="connsiteY2"/>
              </a:cxn>
              <a:cxn ang="0">
                <a:pos x="connsiteX3" y="connsiteY3"/>
              </a:cxn>
            </a:cxnLst>
            <a:rect l="l" t="t" r="r" b="b"/>
            <a:pathLst>
              <a:path w="1127395" h="2493818">
                <a:moveTo>
                  <a:pt x="0" y="2493818"/>
                </a:moveTo>
                <a:cubicBezTo>
                  <a:pt x="526472" y="2283691"/>
                  <a:pt x="1052945" y="2073564"/>
                  <a:pt x="1122218" y="1801091"/>
                </a:cubicBezTo>
                <a:cubicBezTo>
                  <a:pt x="1191491" y="1528618"/>
                  <a:pt x="544945" y="1159164"/>
                  <a:pt x="415636" y="858982"/>
                </a:cubicBezTo>
                <a:cubicBezTo>
                  <a:pt x="286327" y="558800"/>
                  <a:pt x="316345" y="279400"/>
                  <a:pt x="346364" y="0"/>
                </a:cubicBezTo>
              </a:path>
            </a:pathLst>
          </a:custGeom>
          <a:noFill/>
          <a:ln w="28575">
            <a:solidFill>
              <a:srgbClr val="62B23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bwMode="gray">
          <a:xfrm>
            <a:off x="4268403" y="2947840"/>
            <a:ext cx="1462927" cy="523220"/>
          </a:xfrm>
          <a:prstGeom prst="rect">
            <a:avLst/>
          </a:prstGeom>
          <a:noFill/>
        </p:spPr>
        <p:txBody>
          <a:bodyPr wrap="square" rtlCol="0">
            <a:spAutoFit/>
          </a:bodyPr>
          <a:lstStyle>
            <a:defPPr>
              <a:defRPr lang="en-US"/>
            </a:defPPr>
            <a:lvl1pPr>
              <a:defRPr sz="1400">
                <a:solidFill>
                  <a:srgbClr val="30B5C5"/>
                </a:solidFill>
              </a:defRPr>
            </a:lvl1pPr>
          </a:lstStyle>
          <a:p>
            <a:r>
              <a:rPr lang="zh-CN" altLang="en-US" dirty="0">
                <a:solidFill>
                  <a:srgbClr val="62B230"/>
                </a:solidFill>
              </a:rPr>
              <a:t>发往</a:t>
            </a:r>
            <a:r>
              <a:rPr lang="en-US" altLang="zh-CN" dirty="0">
                <a:solidFill>
                  <a:srgbClr val="62B230"/>
                </a:solidFill>
              </a:rPr>
              <a:t>10.1.1.1/32</a:t>
            </a:r>
            <a:r>
              <a:rPr lang="zh-CN" altLang="en-US" dirty="0">
                <a:solidFill>
                  <a:srgbClr val="62B230"/>
                </a:solidFill>
              </a:rPr>
              <a:t>的数据包</a:t>
            </a:r>
            <a:endParaRPr lang="zh-CN" altLang="en-US" dirty="0">
              <a:solidFill>
                <a:srgbClr val="62B230"/>
              </a:solidFill>
            </a:endParaRPr>
          </a:p>
        </p:txBody>
      </p:sp>
      <p:sp>
        <p:nvSpPr>
          <p:cNvPr id="38" name="Oval 4"/>
          <p:cNvSpPr>
            <a:spLocks noChangeAspect="1"/>
          </p:cNvSpPr>
          <p:nvPr/>
        </p:nvSpPr>
        <p:spPr bwMode="gray">
          <a:xfrm>
            <a:off x="644352" y="3018913"/>
            <a:ext cx="180000" cy="180000"/>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五边形 50"/>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燕尾形 62"/>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燕尾形 65"/>
          <p:cNvSpPr/>
          <p:nvPr/>
        </p:nvSpPr>
        <p:spPr bwMode="auto">
          <a:xfrm>
            <a:off x="9828764"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燕尾形 73"/>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3672165" y="2371546"/>
            <a:ext cx="1016625" cy="523220"/>
          </a:xfrm>
          <a:prstGeom prst="rect">
            <a:avLst/>
          </a:prstGeom>
          <a:noFill/>
        </p:spPr>
        <p:txBody>
          <a:bodyPr wrap="none" rtlCol="0">
            <a:spAutoFit/>
          </a:bodyPr>
          <a:lstStyle/>
          <a:p>
            <a:r>
              <a:rPr lang="en-US" altLang="zh-CN" sz="1400" dirty="0"/>
              <a:t>GE0/0/1</a:t>
            </a:r>
            <a:endParaRPr lang="en-US" altLang="zh-CN" sz="1400" dirty="0"/>
          </a:p>
          <a:p>
            <a:r>
              <a:rPr lang="en-US" altLang="zh-CN" sz="1400" dirty="0"/>
              <a:t>10.1.123.1</a:t>
            </a:r>
            <a:endParaRPr lang="zh-CN" alt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FA</a:t>
            </a:r>
            <a:r>
              <a:rPr lang="zh-CN" altLang="en-US"/>
              <a:t>的取值</a:t>
            </a:r>
            <a:endParaRPr lang="zh-CN" altLang="en-US" dirty="0"/>
          </a:p>
        </p:txBody>
      </p:sp>
      <p:sp>
        <p:nvSpPr>
          <p:cNvPr id="8" name="内容占位符 7"/>
          <p:cNvSpPr>
            <a:spLocks noGrp="1"/>
          </p:cNvSpPr>
          <p:nvPr>
            <p:ph type="body" sz="quarter" idx="10"/>
          </p:nvPr>
        </p:nvSpPr>
        <p:spPr/>
        <p:txBody>
          <a:bodyPr/>
          <a:lstStyle/>
          <a:p>
            <a:r>
              <a:rPr lang="zh-CN" altLang="en-US" sz="1800" dirty="0"/>
              <a:t>当</a:t>
            </a:r>
            <a:r>
              <a:rPr lang="en-US" altLang="zh-CN" sz="1800" dirty="0"/>
              <a:t>ASBR</a:t>
            </a:r>
            <a:r>
              <a:rPr lang="zh-CN" altLang="en-US" sz="1800" dirty="0"/>
              <a:t>引入外部路由时，若</a:t>
            </a:r>
            <a:r>
              <a:rPr lang="en-US" altLang="zh-CN" sz="1800" dirty="0"/>
              <a:t>Type5 LSA</a:t>
            </a:r>
            <a:r>
              <a:rPr lang="zh-CN" altLang="en-US" sz="1800" dirty="0"/>
              <a:t>中的</a:t>
            </a:r>
            <a:r>
              <a:rPr lang="en-US" altLang="zh-CN" sz="1800" dirty="0"/>
              <a:t>FA</a:t>
            </a:r>
            <a:r>
              <a:rPr lang="zh-CN" altLang="en-US" sz="1800" dirty="0"/>
              <a:t>字段为</a:t>
            </a:r>
            <a:r>
              <a:rPr lang="en-US" altLang="zh-CN" sz="1800" dirty="0"/>
              <a:t>0</a:t>
            </a:r>
            <a:r>
              <a:rPr lang="zh-CN" altLang="en-US" sz="1800" dirty="0"/>
              <a:t>，表示路由器认为到达目的网段的数据包应该发往该</a:t>
            </a:r>
            <a:r>
              <a:rPr lang="en-US" altLang="zh-CN" sz="1800" dirty="0"/>
              <a:t>ASBR</a:t>
            </a:r>
            <a:r>
              <a:rPr lang="zh-CN" altLang="en-US" sz="1800" dirty="0"/>
              <a:t>；若</a:t>
            </a:r>
            <a:r>
              <a:rPr lang="en-US" altLang="zh-CN" sz="1800" dirty="0"/>
              <a:t>Type5 LSA</a:t>
            </a:r>
            <a:r>
              <a:rPr lang="zh-CN" altLang="en-US" sz="1800" dirty="0"/>
              <a:t>中的</a:t>
            </a:r>
            <a:r>
              <a:rPr lang="en-US" altLang="zh-CN" sz="1800" dirty="0"/>
              <a:t>FA</a:t>
            </a:r>
            <a:r>
              <a:rPr lang="zh-CN" altLang="en-US" sz="1800" dirty="0"/>
              <a:t>字段不为</a:t>
            </a:r>
            <a:r>
              <a:rPr lang="en-US" altLang="zh-CN" sz="1800" dirty="0"/>
              <a:t>0</a:t>
            </a:r>
            <a:r>
              <a:rPr lang="zh-CN" altLang="en-US" sz="1800" dirty="0"/>
              <a:t>，表示路由器认为到达目的网段的数据包应该发往这个</a:t>
            </a:r>
            <a:r>
              <a:rPr lang="en-US" altLang="zh-CN" sz="1800" dirty="0"/>
              <a:t>FA</a:t>
            </a:r>
            <a:r>
              <a:rPr lang="zh-CN" altLang="en-US" sz="1800" dirty="0"/>
              <a:t>所标识的设备。</a:t>
            </a:r>
            <a:endParaRPr lang="en-US" altLang="zh-CN" sz="1800" dirty="0"/>
          </a:p>
          <a:p>
            <a:r>
              <a:rPr lang="zh-CN" altLang="en-US" sz="1800" dirty="0"/>
              <a:t>当以下条件全部满足时，</a:t>
            </a:r>
            <a:r>
              <a:rPr lang="en-US" altLang="zh-CN" sz="1800" dirty="0"/>
              <a:t>FA</a:t>
            </a:r>
            <a:r>
              <a:rPr lang="zh-CN" altLang="en-US" sz="1800" dirty="0"/>
              <a:t>字段才可以被设置为非</a:t>
            </a:r>
            <a:r>
              <a:rPr lang="en-US" altLang="zh-CN" sz="1800" dirty="0"/>
              <a:t>0</a:t>
            </a:r>
            <a:r>
              <a:rPr lang="zh-CN" altLang="en-US" sz="1800" dirty="0"/>
              <a:t>：</a:t>
            </a:r>
            <a:endParaRPr lang="en-US" altLang="zh-CN" sz="1800" dirty="0"/>
          </a:p>
          <a:p>
            <a:pPr lvl="1"/>
            <a:r>
              <a:rPr lang="en-US" altLang="zh-CN" sz="1600" dirty="0"/>
              <a:t>ASBR</a:t>
            </a:r>
            <a:r>
              <a:rPr lang="zh-CN" altLang="en-US" sz="1600" dirty="0"/>
              <a:t>在其连接外部网络的接口（外部路由的出接口）上激活了</a:t>
            </a:r>
            <a:r>
              <a:rPr lang="en-US" altLang="zh-CN" sz="1600" dirty="0"/>
              <a:t>OSPF</a:t>
            </a:r>
            <a:r>
              <a:rPr lang="zh-CN" altLang="en-US" sz="1600" dirty="0"/>
              <a:t>；</a:t>
            </a:r>
            <a:endParaRPr lang="en-US" altLang="zh-CN" sz="1600" dirty="0"/>
          </a:p>
          <a:p>
            <a:pPr lvl="1"/>
            <a:r>
              <a:rPr lang="zh-CN" altLang="en-US" sz="1600" dirty="0"/>
              <a:t>该接口没有被配置为</a:t>
            </a:r>
            <a:r>
              <a:rPr lang="en-US" altLang="zh-CN" sz="1600" dirty="0"/>
              <a:t>Silent-Interface</a:t>
            </a:r>
            <a:r>
              <a:rPr lang="zh-CN" altLang="en-US" sz="1600" dirty="0"/>
              <a:t>；</a:t>
            </a:r>
            <a:endParaRPr lang="en-US" altLang="zh-CN" sz="1600" dirty="0"/>
          </a:p>
          <a:p>
            <a:pPr lvl="1"/>
            <a:r>
              <a:rPr lang="zh-CN" altLang="en-US" sz="1600" dirty="0"/>
              <a:t>该接口的</a:t>
            </a:r>
            <a:r>
              <a:rPr lang="en-US" altLang="zh-CN" sz="1600" dirty="0"/>
              <a:t>OSPF</a:t>
            </a:r>
            <a:r>
              <a:rPr lang="zh-CN" altLang="en-US" sz="1600" dirty="0"/>
              <a:t>网络类型为</a:t>
            </a:r>
            <a:r>
              <a:rPr lang="en-US" altLang="zh-CN" sz="1600" dirty="0"/>
              <a:t>Broadcast</a:t>
            </a:r>
            <a:r>
              <a:rPr lang="zh-CN" altLang="en-US" sz="1600" dirty="0"/>
              <a:t>或</a:t>
            </a:r>
            <a:r>
              <a:rPr lang="en-US" altLang="zh-CN" sz="1600" dirty="0"/>
              <a:t>NBMA</a:t>
            </a:r>
            <a:r>
              <a:rPr lang="zh-CN" altLang="en-US" sz="1600" dirty="0"/>
              <a:t>；</a:t>
            </a:r>
            <a:endParaRPr lang="en-US" altLang="zh-CN" sz="1600" dirty="0"/>
          </a:p>
          <a:p>
            <a:pPr lvl="1"/>
            <a:r>
              <a:rPr lang="zh-CN" altLang="en-US" sz="1600" dirty="0"/>
              <a:t>该接口的</a:t>
            </a:r>
            <a:r>
              <a:rPr lang="en-US" altLang="zh-CN" sz="1600" dirty="0"/>
              <a:t>IP</a:t>
            </a:r>
            <a:r>
              <a:rPr lang="zh-CN" altLang="en-US" sz="1600" dirty="0"/>
              <a:t>地址在</a:t>
            </a:r>
            <a:r>
              <a:rPr lang="en-US" altLang="zh-CN" sz="1600" dirty="0"/>
              <a:t>OSPF</a:t>
            </a:r>
            <a:r>
              <a:rPr lang="zh-CN" altLang="en-US" sz="1600" dirty="0"/>
              <a:t>配置的</a:t>
            </a:r>
            <a:r>
              <a:rPr lang="en-US" altLang="zh-CN" sz="1600" dirty="0"/>
              <a:t>network</a:t>
            </a:r>
            <a:r>
              <a:rPr lang="zh-CN" altLang="en-US" sz="1600" dirty="0"/>
              <a:t>命令指定的网段范围内；</a:t>
            </a:r>
            <a:endParaRPr lang="en-US" altLang="zh-CN" sz="1600" dirty="0"/>
          </a:p>
          <a:p>
            <a:pPr lvl="1"/>
            <a:r>
              <a:rPr lang="zh-CN" altLang="en-US" sz="1600" dirty="0"/>
              <a:t>到达</a:t>
            </a:r>
            <a:r>
              <a:rPr lang="en-US" altLang="zh-CN" sz="1600" dirty="0"/>
              <a:t>FA</a:t>
            </a:r>
            <a:r>
              <a:rPr lang="zh-CN" altLang="en-US" sz="1600" dirty="0"/>
              <a:t>地址的路由必须是</a:t>
            </a:r>
            <a:r>
              <a:rPr lang="en-US" altLang="zh-CN" sz="1600" dirty="0"/>
              <a:t>OSPF</a:t>
            </a:r>
            <a:r>
              <a:rPr lang="zh-CN" altLang="en-US" sz="1600" dirty="0"/>
              <a:t>区域内部路由或区域间路由，这样接收到该外部</a:t>
            </a:r>
            <a:r>
              <a:rPr lang="en-US" altLang="zh-CN" sz="1600" dirty="0"/>
              <a:t>LSA</a:t>
            </a:r>
            <a:r>
              <a:rPr lang="zh-CN" altLang="en-US" sz="1600" dirty="0"/>
              <a:t>的路由器才能够加载该</a:t>
            </a:r>
            <a:r>
              <a:rPr lang="en-US" altLang="zh-CN" sz="1600" dirty="0"/>
              <a:t>LSA</a:t>
            </a:r>
            <a:r>
              <a:rPr lang="zh-CN" altLang="en-US" sz="1600" dirty="0"/>
              <a:t>进入路由表。加载的外部</a:t>
            </a:r>
            <a:r>
              <a:rPr lang="en-US" altLang="zh-CN" sz="1600" dirty="0"/>
              <a:t>LSA</a:t>
            </a:r>
            <a:r>
              <a:rPr lang="zh-CN" altLang="en-US" sz="1600" dirty="0"/>
              <a:t>生成的路由条目下一跳与到达</a:t>
            </a:r>
            <a:r>
              <a:rPr lang="en-US" altLang="zh-CN" sz="1600" dirty="0"/>
              <a:t>FA</a:t>
            </a:r>
            <a:r>
              <a:rPr lang="zh-CN" altLang="en-US" sz="1600" dirty="0"/>
              <a:t>地址的下一跳相同。</a:t>
            </a:r>
            <a:endParaRPr lang="zh-CN" altLang="en-US" sz="1600" dirty="0"/>
          </a:p>
        </p:txBody>
      </p:sp>
      <p:sp>
        <p:nvSpPr>
          <p:cNvPr id="7" name="五边形 6"/>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9828764"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案例：</a:t>
            </a:r>
            <a:r>
              <a:rPr lang="en-US" altLang="zh-CN"/>
              <a:t>NSSA</a:t>
            </a:r>
            <a:r>
              <a:rPr lang="zh-CN" altLang="en-US"/>
              <a:t>场景下</a:t>
            </a:r>
            <a:r>
              <a:rPr lang="en-US" altLang="zh-CN"/>
              <a:t>FA</a:t>
            </a:r>
            <a:r>
              <a:rPr lang="zh-CN" altLang="en-US"/>
              <a:t>的典型应用</a:t>
            </a:r>
            <a:endParaRPr lang="zh-CN" altLang="en-US" dirty="0"/>
          </a:p>
        </p:txBody>
      </p:sp>
      <p:sp>
        <p:nvSpPr>
          <p:cNvPr id="5" name="内容占位符 4"/>
          <p:cNvSpPr>
            <a:spLocks noGrp="1"/>
          </p:cNvSpPr>
          <p:nvPr>
            <p:ph type="body" sz="quarter" idx="10"/>
          </p:nvPr>
        </p:nvSpPr>
        <p:spPr>
          <a:xfrm>
            <a:off x="455612" y="1047751"/>
            <a:ext cx="11293475" cy="1771990"/>
          </a:xfrm>
        </p:spPr>
        <p:txBody>
          <a:bodyPr/>
          <a:lstStyle/>
          <a:p>
            <a:r>
              <a:rPr lang="zh-CN" altLang="en-US" sz="1800" dirty="0"/>
              <a:t>当</a:t>
            </a:r>
            <a:r>
              <a:rPr lang="en-US" altLang="zh-CN" sz="1800" dirty="0"/>
              <a:t>NSSA</a:t>
            </a:r>
            <a:r>
              <a:rPr lang="zh-CN" altLang="en-US" sz="1800" dirty="0"/>
              <a:t>区域中有多个</a:t>
            </a:r>
            <a:r>
              <a:rPr lang="en-US" altLang="zh-CN" sz="1800" dirty="0"/>
              <a:t>ABR</a:t>
            </a:r>
            <a:r>
              <a:rPr lang="zh-CN" altLang="en-US" sz="1800" dirty="0"/>
              <a:t>时，系统会根据规则自动选择一个</a:t>
            </a:r>
            <a:r>
              <a:rPr lang="en-US" altLang="zh-CN" sz="1800" dirty="0"/>
              <a:t>ABR</a:t>
            </a:r>
            <a:r>
              <a:rPr lang="zh-CN" altLang="en-US" sz="1800" dirty="0"/>
              <a:t>作为转换器，将</a:t>
            </a:r>
            <a:r>
              <a:rPr lang="en-US" altLang="zh-CN" sz="1800" dirty="0"/>
              <a:t>Type7 LSA</a:t>
            </a:r>
            <a:r>
              <a:rPr lang="zh-CN" altLang="en-US" sz="1800" dirty="0"/>
              <a:t>转换为</a:t>
            </a:r>
            <a:r>
              <a:rPr lang="en-US" altLang="zh-CN" sz="1800" dirty="0"/>
              <a:t>Type5 LSA</a:t>
            </a:r>
            <a:r>
              <a:rPr lang="zh-CN" altLang="en-US" sz="1800" dirty="0"/>
              <a:t>，其他</a:t>
            </a:r>
            <a:r>
              <a:rPr lang="en-US" altLang="zh-CN" sz="1800" dirty="0"/>
              <a:t>ABR</a:t>
            </a:r>
            <a:r>
              <a:rPr lang="zh-CN" altLang="en-US" sz="1800" dirty="0"/>
              <a:t>不做</a:t>
            </a:r>
            <a:r>
              <a:rPr lang="en-US" altLang="zh-CN" sz="1800" dirty="0"/>
              <a:t>LSA</a:t>
            </a:r>
            <a:r>
              <a:rPr lang="zh-CN" altLang="en-US" sz="1800" dirty="0"/>
              <a:t>转换。</a:t>
            </a:r>
            <a:endParaRPr lang="en-US" altLang="zh-CN" sz="1800" dirty="0"/>
          </a:p>
          <a:p>
            <a:r>
              <a:rPr lang="zh-CN" altLang="en-US" sz="1800" dirty="0"/>
              <a:t>如图所示，如果不考虑</a:t>
            </a:r>
            <a:r>
              <a:rPr lang="en-US" altLang="zh-CN" sz="1800" dirty="0"/>
              <a:t>FA</a:t>
            </a:r>
            <a:r>
              <a:rPr lang="zh-CN" altLang="en-US" sz="1800" dirty="0"/>
              <a:t>，由于</a:t>
            </a:r>
            <a:r>
              <a:rPr lang="en-US" altLang="zh-CN" sz="1800" dirty="0"/>
              <a:t>R3</a:t>
            </a:r>
            <a:r>
              <a:rPr lang="zh-CN" altLang="en-US" sz="1800" dirty="0"/>
              <a:t>的</a:t>
            </a:r>
            <a:r>
              <a:rPr lang="en-US" altLang="zh-CN" sz="1800" dirty="0"/>
              <a:t>Router ID</a:t>
            </a:r>
            <a:r>
              <a:rPr lang="zh-CN" altLang="en-US" sz="1800" dirty="0"/>
              <a:t>比</a:t>
            </a:r>
            <a:r>
              <a:rPr lang="en-US" altLang="zh-CN" sz="1800" dirty="0"/>
              <a:t>R2</a:t>
            </a:r>
            <a:r>
              <a:rPr lang="zh-CN" altLang="en-US" sz="1800" dirty="0"/>
              <a:t>大，因此它将执行</a:t>
            </a:r>
            <a:r>
              <a:rPr lang="en-US" altLang="zh-CN" sz="1800" dirty="0"/>
              <a:t>7</a:t>
            </a:r>
            <a:r>
              <a:rPr lang="zh-CN" altLang="en-US" sz="1800" dirty="0"/>
              <a:t>转</a:t>
            </a:r>
            <a:r>
              <a:rPr lang="en-US" altLang="zh-CN" sz="1800" dirty="0"/>
              <a:t>5</a:t>
            </a:r>
            <a:r>
              <a:rPr lang="zh-CN" altLang="en-US" sz="1800" dirty="0"/>
              <a:t>的动作，如此一来，</a:t>
            </a:r>
            <a:r>
              <a:rPr lang="en-US" altLang="zh-CN" sz="1800" dirty="0"/>
              <a:t>R1</a:t>
            </a:r>
            <a:r>
              <a:rPr lang="zh-CN" altLang="en-US" sz="1800" dirty="0"/>
              <a:t>将认为必须经由</a:t>
            </a:r>
            <a:r>
              <a:rPr lang="en-US" altLang="zh-CN" sz="1800" dirty="0"/>
              <a:t>ABR</a:t>
            </a:r>
            <a:r>
              <a:rPr lang="zh-CN" altLang="en-US" sz="1800" dirty="0"/>
              <a:t>（</a:t>
            </a:r>
            <a:r>
              <a:rPr lang="en-US" altLang="zh-CN" sz="1800" dirty="0"/>
              <a:t>R3</a:t>
            </a:r>
            <a:r>
              <a:rPr lang="zh-CN" altLang="en-US" sz="1800" dirty="0"/>
              <a:t>）到达目的网络。这样，流量便会被引导到低带宽链路，即</a:t>
            </a:r>
            <a:r>
              <a:rPr lang="en-US" altLang="zh-CN" sz="1800" dirty="0"/>
              <a:t>R1-R3-R4-R5</a:t>
            </a:r>
            <a:r>
              <a:rPr lang="zh-CN" altLang="en-US" sz="1800" dirty="0"/>
              <a:t>。</a:t>
            </a:r>
            <a:endParaRPr lang="en-US" altLang="zh-CN" sz="1800" dirty="0"/>
          </a:p>
        </p:txBody>
      </p:sp>
      <p:sp>
        <p:nvSpPr>
          <p:cNvPr id="26" name="矩形 25"/>
          <p:cNvSpPr/>
          <p:nvPr/>
        </p:nvSpPr>
        <p:spPr bwMode="gray">
          <a:xfrm>
            <a:off x="1997765" y="3421359"/>
            <a:ext cx="2284875" cy="211921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25" name="矩形 24"/>
          <p:cNvSpPr/>
          <p:nvPr/>
        </p:nvSpPr>
        <p:spPr bwMode="gray">
          <a:xfrm>
            <a:off x="4361185" y="3421359"/>
            <a:ext cx="3669668" cy="2119210"/>
          </a:xfrm>
          <a:prstGeom prst="rect">
            <a:avLst/>
          </a:prstGeom>
          <a:solidFill>
            <a:srgbClr val="F5FCFD"/>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noAutofit/>
          </a:bodyPr>
          <a:lstStyle/>
          <a:p>
            <a:endParaRPr lang="zh-CN" altLang="en-US" sz="1600" kern="0">
              <a:solidFill>
                <a:srgbClr val="1D1D1A"/>
              </a:solidFill>
              <a:latin typeface="Huawei Sans" panose="020C0503030203020204" pitchFamily="34" charset="0"/>
              <a:ea typeface="方正兰亭黑简体" panose="02000000000000000000" pitchFamily="2" charset="-122"/>
            </a:endParaRPr>
          </a:p>
        </p:txBody>
      </p:sp>
      <p:grpSp>
        <p:nvGrpSpPr>
          <p:cNvPr id="15" name="组合 14"/>
          <p:cNvGrpSpPr/>
          <p:nvPr/>
        </p:nvGrpSpPr>
        <p:grpSpPr bwMode="gray">
          <a:xfrm rot="5400000">
            <a:off x="4115676" y="3770753"/>
            <a:ext cx="2122476" cy="1523820"/>
            <a:chOff x="6600056" y="4353447"/>
            <a:chExt cx="1296144" cy="833967"/>
          </a:xfrm>
        </p:grpSpPr>
        <p:cxnSp>
          <p:nvCxnSpPr>
            <p:cNvPr id="16" name="直接连接符 15"/>
            <p:cNvCxnSpPr/>
            <p:nvPr/>
          </p:nvCxnSpPr>
          <p:spPr bwMode="gray">
            <a:xfrm flipH="1">
              <a:off x="6600056"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a:off x="7248128" y="4353447"/>
              <a:ext cx="648072" cy="83396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组合 11"/>
          <p:cNvGrpSpPr/>
          <p:nvPr/>
        </p:nvGrpSpPr>
        <p:grpSpPr bwMode="gray">
          <a:xfrm rot="16200000">
            <a:off x="2459492" y="3735176"/>
            <a:ext cx="2122476" cy="1523820"/>
            <a:chOff x="6600056" y="4353447"/>
            <a:chExt cx="1296144" cy="833967"/>
          </a:xfrm>
        </p:grpSpPr>
        <p:cxnSp>
          <p:nvCxnSpPr>
            <p:cNvPr id="13" name="直接连接符 12"/>
            <p:cNvCxnSpPr/>
            <p:nvPr/>
          </p:nvCxnSpPr>
          <p:spPr bwMode="gray">
            <a:xfrm flipH="1">
              <a:off x="6600056" y="4353447"/>
              <a:ext cx="648072" cy="83396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a:off x="7248128" y="4353447"/>
              <a:ext cx="648072" cy="833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bwMode="gray">
          <a:xfrm>
            <a:off x="2098028" y="4343197"/>
            <a:ext cx="413896" cy="307777"/>
          </a:xfrm>
          <a:prstGeom prst="rect">
            <a:avLst/>
          </a:prstGeom>
          <a:noFill/>
        </p:spPr>
        <p:txBody>
          <a:bodyPr wrap="none" rtlCol="0">
            <a:spAutoFit/>
          </a:bodyPr>
          <a:lstStyle/>
          <a:p>
            <a:pPr algn="ctr"/>
            <a:r>
              <a:rPr lang="en-US" altLang="zh-CN" sz="1400" b="1" dirty="0"/>
              <a:t>R1</a:t>
            </a:r>
            <a:endParaRPr lang="zh-CN" altLang="en-US" sz="1400" b="1" dirty="0"/>
          </a:p>
        </p:txBody>
      </p:sp>
      <p:cxnSp>
        <p:nvCxnSpPr>
          <p:cNvPr id="18" name="直接连接符 17"/>
          <p:cNvCxnSpPr/>
          <p:nvPr/>
        </p:nvCxnSpPr>
        <p:spPr bwMode="gray">
          <a:xfrm>
            <a:off x="6213690" y="4497086"/>
            <a:ext cx="26054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gray">
          <a:xfrm>
            <a:off x="3519782" y="2718076"/>
            <a:ext cx="1654620" cy="523220"/>
          </a:xfrm>
          <a:prstGeom prst="rect">
            <a:avLst/>
          </a:prstGeom>
          <a:noFill/>
        </p:spPr>
        <p:txBody>
          <a:bodyPr wrap="none" rtlCol="0">
            <a:spAutoFit/>
          </a:bodyPr>
          <a:lstStyle/>
          <a:p>
            <a:pPr algn="ctr"/>
            <a:r>
              <a:rPr lang="en-US" altLang="zh-CN" sz="1400" dirty="0"/>
              <a:t>Router ID 10.1.3.3</a:t>
            </a:r>
            <a:endParaRPr lang="en-US" altLang="zh-CN" sz="1400" dirty="0"/>
          </a:p>
          <a:p>
            <a:pPr algn="ctr"/>
            <a:r>
              <a:rPr lang="en-US" altLang="zh-CN" sz="1400" b="1" dirty="0"/>
              <a:t>R3</a:t>
            </a:r>
            <a:endParaRPr lang="zh-CN" altLang="en-US" sz="1400" b="1" dirty="0"/>
          </a:p>
        </p:txBody>
      </p:sp>
      <p:sp>
        <p:nvSpPr>
          <p:cNvPr id="22" name="文本框 21"/>
          <p:cNvSpPr txBox="1"/>
          <p:nvPr/>
        </p:nvSpPr>
        <p:spPr bwMode="gray">
          <a:xfrm>
            <a:off x="3491293" y="5678749"/>
            <a:ext cx="1654620" cy="523220"/>
          </a:xfrm>
          <a:prstGeom prst="rect">
            <a:avLst/>
          </a:prstGeom>
          <a:noFill/>
        </p:spPr>
        <p:txBody>
          <a:bodyPr wrap="none" rtlCol="0">
            <a:spAutoFit/>
          </a:bodyPr>
          <a:lstStyle/>
          <a:p>
            <a:pPr algn="ctr"/>
            <a:r>
              <a:rPr lang="en-US" altLang="zh-CN" sz="1400" b="1" dirty="0"/>
              <a:t>R2</a:t>
            </a:r>
            <a:endParaRPr lang="en-US" altLang="zh-CN" sz="1400" b="1" dirty="0"/>
          </a:p>
          <a:p>
            <a:pPr algn="ctr"/>
            <a:r>
              <a:rPr lang="en-US" altLang="zh-CN" sz="1400" dirty="0"/>
              <a:t>Router ID 10.1.2.2</a:t>
            </a:r>
            <a:endParaRPr lang="zh-CN" altLang="en-US" sz="1400" dirty="0"/>
          </a:p>
        </p:txBody>
      </p:sp>
      <p:sp>
        <p:nvSpPr>
          <p:cNvPr id="23" name="文本框 22"/>
          <p:cNvSpPr txBox="1"/>
          <p:nvPr/>
        </p:nvSpPr>
        <p:spPr bwMode="gray">
          <a:xfrm>
            <a:off x="5855709" y="4704356"/>
            <a:ext cx="413896" cy="307777"/>
          </a:xfrm>
          <a:prstGeom prst="rect">
            <a:avLst/>
          </a:prstGeom>
          <a:noFill/>
        </p:spPr>
        <p:txBody>
          <a:bodyPr wrap="none" rtlCol="0">
            <a:spAutoFit/>
          </a:bodyPr>
          <a:lstStyle/>
          <a:p>
            <a:pPr algn="ctr"/>
            <a:r>
              <a:rPr lang="en-US" altLang="zh-CN" sz="1400" b="1" dirty="0"/>
              <a:t>R4</a:t>
            </a:r>
            <a:endParaRPr lang="zh-CN" altLang="en-US" sz="1400" b="1" dirty="0"/>
          </a:p>
        </p:txBody>
      </p:sp>
      <p:sp>
        <p:nvSpPr>
          <p:cNvPr id="24" name="文本框 23"/>
          <p:cNvSpPr txBox="1"/>
          <p:nvPr/>
        </p:nvSpPr>
        <p:spPr bwMode="gray">
          <a:xfrm>
            <a:off x="7806942" y="4704355"/>
            <a:ext cx="413896" cy="307777"/>
          </a:xfrm>
          <a:prstGeom prst="rect">
            <a:avLst/>
          </a:prstGeom>
          <a:noFill/>
        </p:spPr>
        <p:txBody>
          <a:bodyPr wrap="none" rtlCol="0">
            <a:spAutoFit/>
          </a:bodyPr>
          <a:lstStyle/>
          <a:p>
            <a:pPr algn="ctr"/>
            <a:r>
              <a:rPr lang="en-US" altLang="zh-CN" sz="1400" b="1" dirty="0"/>
              <a:t>R5</a:t>
            </a:r>
            <a:endParaRPr lang="zh-CN" altLang="en-US" sz="1400" b="1" dirty="0"/>
          </a:p>
        </p:txBody>
      </p:sp>
      <p:sp>
        <p:nvSpPr>
          <p:cNvPr id="27" name="文本框 26"/>
          <p:cNvSpPr txBox="1"/>
          <p:nvPr/>
        </p:nvSpPr>
        <p:spPr bwMode="gray">
          <a:xfrm>
            <a:off x="6837606" y="4480964"/>
            <a:ext cx="930063" cy="307777"/>
          </a:xfrm>
          <a:prstGeom prst="rect">
            <a:avLst/>
          </a:prstGeom>
          <a:noFill/>
        </p:spPr>
        <p:txBody>
          <a:bodyPr wrap="none" rtlCol="0">
            <a:spAutoFit/>
          </a:bodyPr>
          <a:lstStyle/>
          <a:p>
            <a:pPr algn="ctr"/>
            <a:r>
              <a:rPr lang="en-US" altLang="zh-CN" sz="1400" dirty="0"/>
              <a:t>10.1.45.5</a:t>
            </a:r>
            <a:endParaRPr lang="zh-CN" altLang="en-US" sz="1400" dirty="0"/>
          </a:p>
        </p:txBody>
      </p:sp>
      <p:cxnSp>
        <p:nvCxnSpPr>
          <p:cNvPr id="32" name="直接箭头连接符 31"/>
          <p:cNvCxnSpPr/>
          <p:nvPr/>
        </p:nvCxnSpPr>
        <p:spPr bwMode="gray">
          <a:xfrm flipH="1">
            <a:off x="6524054" y="4332095"/>
            <a:ext cx="1008361" cy="0"/>
          </a:xfrm>
          <a:prstGeom prst="straightConnector1">
            <a:avLst/>
          </a:prstGeom>
          <a:ln w="28575">
            <a:solidFill>
              <a:srgbClr val="C7000B"/>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bwMode="gray">
          <a:xfrm flipH="1">
            <a:off x="3037990" y="3514076"/>
            <a:ext cx="782333" cy="555466"/>
          </a:xfrm>
          <a:prstGeom prst="straightConnector1">
            <a:avLst/>
          </a:prstGeom>
          <a:ln w="28575">
            <a:solidFill>
              <a:srgbClr val="C7000B"/>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bwMode="gray">
          <a:xfrm rot="19619735">
            <a:off x="2512031" y="3116689"/>
            <a:ext cx="1253613" cy="738664"/>
          </a:xfrm>
          <a:prstGeom prst="rect">
            <a:avLst/>
          </a:prstGeom>
          <a:noFill/>
        </p:spPr>
        <p:txBody>
          <a:bodyPr wrap="none" rtlCol="0">
            <a:spAutoFit/>
          </a:bodyPr>
          <a:lstStyle/>
          <a:p>
            <a:pPr algn="r"/>
            <a:r>
              <a:rPr lang="en-US" altLang="zh-CN" sz="1400" b="1" dirty="0"/>
              <a:t>Type5 LSA</a:t>
            </a:r>
            <a:endParaRPr lang="en-US" altLang="zh-CN" sz="1400" b="1" dirty="0"/>
          </a:p>
          <a:p>
            <a:pPr algn="r"/>
            <a:r>
              <a:rPr lang="en-US" altLang="zh-CN" sz="1400" dirty="0"/>
              <a:t>10.1.5.0/24</a:t>
            </a:r>
            <a:endParaRPr lang="en-US" altLang="zh-CN" sz="1400" dirty="0"/>
          </a:p>
          <a:p>
            <a:pPr algn="r"/>
            <a:r>
              <a:rPr lang="en-US" altLang="zh-CN" sz="1400" dirty="0">
                <a:solidFill>
                  <a:srgbClr val="C7000B"/>
                </a:solidFill>
              </a:rPr>
              <a:t>FA=10.1.45.5</a:t>
            </a:r>
            <a:endParaRPr lang="zh-CN" altLang="en-US" sz="1400" dirty="0">
              <a:solidFill>
                <a:srgbClr val="C7000B"/>
              </a:solidFill>
            </a:endParaRPr>
          </a:p>
        </p:txBody>
      </p:sp>
      <p:sp>
        <p:nvSpPr>
          <p:cNvPr id="40" name="文本框 39"/>
          <p:cNvSpPr txBox="1"/>
          <p:nvPr/>
        </p:nvSpPr>
        <p:spPr bwMode="gray">
          <a:xfrm rot="19523156">
            <a:off x="3057345" y="3964171"/>
            <a:ext cx="1082348" cy="307777"/>
          </a:xfrm>
          <a:prstGeom prst="rect">
            <a:avLst/>
          </a:prstGeom>
          <a:noFill/>
        </p:spPr>
        <p:txBody>
          <a:bodyPr wrap="none" rtlCol="0">
            <a:spAutoFit/>
          </a:bodyPr>
          <a:lstStyle/>
          <a:p>
            <a:pPr algn="ctr"/>
            <a:r>
              <a:rPr lang="zh-CN" altLang="en-US" sz="1400"/>
              <a:t>低带宽链路</a:t>
            </a:r>
            <a:endParaRPr lang="zh-CN" altLang="en-US" sz="1400"/>
          </a:p>
        </p:txBody>
      </p:sp>
      <p:sp>
        <p:nvSpPr>
          <p:cNvPr id="41" name="文本框 40"/>
          <p:cNvSpPr txBox="1"/>
          <p:nvPr/>
        </p:nvSpPr>
        <p:spPr bwMode="gray">
          <a:xfrm rot="2105217">
            <a:off x="4433374" y="3964170"/>
            <a:ext cx="1082348" cy="307777"/>
          </a:xfrm>
          <a:prstGeom prst="rect">
            <a:avLst/>
          </a:prstGeom>
          <a:noFill/>
        </p:spPr>
        <p:txBody>
          <a:bodyPr wrap="none" rtlCol="0">
            <a:spAutoFit/>
          </a:bodyPr>
          <a:lstStyle/>
          <a:p>
            <a:pPr algn="ctr"/>
            <a:r>
              <a:rPr lang="zh-CN" altLang="en-US" sz="1400"/>
              <a:t>低带宽链路</a:t>
            </a:r>
            <a:endParaRPr lang="zh-CN" altLang="en-US" sz="1400"/>
          </a:p>
        </p:txBody>
      </p:sp>
      <p:sp>
        <p:nvSpPr>
          <p:cNvPr id="42" name="文本框 41"/>
          <p:cNvSpPr txBox="1"/>
          <p:nvPr/>
        </p:nvSpPr>
        <p:spPr bwMode="gray">
          <a:xfrm rot="2080328">
            <a:off x="3101629" y="4739474"/>
            <a:ext cx="1082349" cy="307777"/>
          </a:xfrm>
          <a:prstGeom prst="rect">
            <a:avLst/>
          </a:prstGeom>
          <a:noFill/>
        </p:spPr>
        <p:txBody>
          <a:bodyPr wrap="none" rtlCol="0">
            <a:spAutoFit/>
          </a:bodyPr>
          <a:lstStyle/>
          <a:p>
            <a:pPr algn="ctr"/>
            <a:r>
              <a:rPr lang="zh-CN" altLang="en-US" sz="1400"/>
              <a:t>高带宽链路</a:t>
            </a:r>
            <a:endParaRPr lang="zh-CN" altLang="en-US" sz="1400"/>
          </a:p>
        </p:txBody>
      </p:sp>
      <p:sp>
        <p:nvSpPr>
          <p:cNvPr id="43" name="文本框 42"/>
          <p:cNvSpPr txBox="1"/>
          <p:nvPr/>
        </p:nvSpPr>
        <p:spPr bwMode="gray">
          <a:xfrm rot="19614101">
            <a:off x="4488927" y="4803215"/>
            <a:ext cx="1082349" cy="307777"/>
          </a:xfrm>
          <a:prstGeom prst="rect">
            <a:avLst/>
          </a:prstGeom>
          <a:noFill/>
        </p:spPr>
        <p:txBody>
          <a:bodyPr wrap="none" rtlCol="0">
            <a:spAutoFit/>
          </a:bodyPr>
          <a:lstStyle/>
          <a:p>
            <a:pPr algn="ctr"/>
            <a:r>
              <a:rPr lang="zh-CN" altLang="en-US" sz="1400"/>
              <a:t>高带宽链路</a:t>
            </a:r>
            <a:endParaRPr lang="zh-CN" altLang="en-US" sz="1400"/>
          </a:p>
        </p:txBody>
      </p:sp>
      <p:sp>
        <p:nvSpPr>
          <p:cNvPr id="44" name="任意多边形 43"/>
          <p:cNvSpPr/>
          <p:nvPr/>
        </p:nvSpPr>
        <p:spPr bwMode="gray">
          <a:xfrm>
            <a:off x="2810915" y="4859899"/>
            <a:ext cx="5255581" cy="792608"/>
          </a:xfrm>
          <a:custGeom>
            <a:avLst/>
            <a:gdLst>
              <a:gd name="connsiteX0" fmla="*/ 50812 w 6842230"/>
              <a:gd name="connsiteY0" fmla="*/ 24101 h 1080952"/>
              <a:gd name="connsiteX1" fmla="*/ 104078 w 6842230"/>
              <a:gd name="connsiteY1" fmla="*/ 59612 h 1080952"/>
              <a:gd name="connsiteX2" fmla="*/ 2048288 w 6842230"/>
              <a:gd name="connsiteY2" fmla="*/ 1080544 h 1080952"/>
              <a:gd name="connsiteX3" fmla="*/ 4418626 w 6842230"/>
              <a:gd name="connsiteY3" fmla="*/ 183899 h 1080952"/>
              <a:gd name="connsiteX4" fmla="*/ 6842230 w 6842230"/>
              <a:gd name="connsiteY4" fmla="*/ 210532 h 1080952"/>
              <a:gd name="connsiteX0-1" fmla="*/ 0 w 6791418"/>
              <a:gd name="connsiteY0-2" fmla="*/ 0 h 1056851"/>
              <a:gd name="connsiteX1-3" fmla="*/ 1997476 w 6791418"/>
              <a:gd name="connsiteY1-4" fmla="*/ 1056443 h 1056851"/>
              <a:gd name="connsiteX2-5" fmla="*/ 4367814 w 6791418"/>
              <a:gd name="connsiteY2-6" fmla="*/ 159798 h 1056851"/>
              <a:gd name="connsiteX3-7" fmla="*/ 6791418 w 6791418"/>
              <a:gd name="connsiteY3-8" fmla="*/ 186431 h 1056851"/>
              <a:gd name="connsiteX0-9" fmla="*/ 0 w 6489577"/>
              <a:gd name="connsiteY0-10" fmla="*/ 40443 h 954851"/>
              <a:gd name="connsiteX1-11" fmla="*/ 1695635 w 6489577"/>
              <a:gd name="connsiteY1-12" fmla="*/ 954843 h 954851"/>
              <a:gd name="connsiteX2-13" fmla="*/ 4065973 w 6489577"/>
              <a:gd name="connsiteY2-14" fmla="*/ 58198 h 954851"/>
              <a:gd name="connsiteX3-15" fmla="*/ 6489577 w 6489577"/>
              <a:gd name="connsiteY3-16" fmla="*/ 84831 h 954851"/>
              <a:gd name="connsiteX0-17" fmla="*/ 0 w 6489577"/>
              <a:gd name="connsiteY0-18" fmla="*/ 40443 h 954851"/>
              <a:gd name="connsiteX1-19" fmla="*/ 1695635 w 6489577"/>
              <a:gd name="connsiteY1-20" fmla="*/ 954843 h 954851"/>
              <a:gd name="connsiteX2-21" fmla="*/ 4065973 w 6489577"/>
              <a:gd name="connsiteY2-22" fmla="*/ 58198 h 954851"/>
              <a:gd name="connsiteX3-23" fmla="*/ 6489577 w 6489577"/>
              <a:gd name="connsiteY3-24" fmla="*/ 84831 h 954851"/>
              <a:gd name="connsiteX0-25" fmla="*/ 0 w 6454066"/>
              <a:gd name="connsiteY0-26" fmla="*/ 4932 h 954920"/>
              <a:gd name="connsiteX1-27" fmla="*/ 1660124 w 6454066"/>
              <a:gd name="connsiteY1-28" fmla="*/ 954843 h 954920"/>
              <a:gd name="connsiteX2-29" fmla="*/ 4030462 w 6454066"/>
              <a:gd name="connsiteY2-30" fmla="*/ 58198 h 954920"/>
              <a:gd name="connsiteX3-31" fmla="*/ 6454066 w 6454066"/>
              <a:gd name="connsiteY3-32" fmla="*/ 84831 h 954920"/>
              <a:gd name="connsiteX0-33" fmla="*/ 0 w 6454066"/>
              <a:gd name="connsiteY0-34" fmla="*/ 0 h 951229"/>
              <a:gd name="connsiteX1-35" fmla="*/ 1660124 w 6454066"/>
              <a:gd name="connsiteY1-36" fmla="*/ 949911 h 951229"/>
              <a:gd name="connsiteX2-37" fmla="*/ 3266982 w 6454066"/>
              <a:gd name="connsiteY2-38" fmla="*/ 204187 h 951229"/>
              <a:gd name="connsiteX3-39" fmla="*/ 6454066 w 6454066"/>
              <a:gd name="connsiteY3-40" fmla="*/ 79899 h 951229"/>
              <a:gd name="connsiteX0-41" fmla="*/ 0 w 6454066"/>
              <a:gd name="connsiteY0-42" fmla="*/ 0 h 950391"/>
              <a:gd name="connsiteX1-43" fmla="*/ 1660124 w 6454066"/>
              <a:gd name="connsiteY1-44" fmla="*/ 949911 h 950391"/>
              <a:gd name="connsiteX2-45" fmla="*/ 3266982 w 6454066"/>
              <a:gd name="connsiteY2-46" fmla="*/ 204187 h 950391"/>
              <a:gd name="connsiteX3-47" fmla="*/ 6454066 w 6454066"/>
              <a:gd name="connsiteY3-48" fmla="*/ 79899 h 950391"/>
              <a:gd name="connsiteX0-49" fmla="*/ 0 w 6454066"/>
              <a:gd name="connsiteY0-50" fmla="*/ 0 h 950391"/>
              <a:gd name="connsiteX1-51" fmla="*/ 1509203 w 6454066"/>
              <a:gd name="connsiteY1-52" fmla="*/ 949911 h 950391"/>
              <a:gd name="connsiteX2-53" fmla="*/ 3266982 w 6454066"/>
              <a:gd name="connsiteY2-54" fmla="*/ 204187 h 950391"/>
              <a:gd name="connsiteX3-55" fmla="*/ 6454066 w 6454066"/>
              <a:gd name="connsiteY3-56" fmla="*/ 79899 h 950391"/>
              <a:gd name="connsiteX0-57" fmla="*/ 0 w 6454066"/>
              <a:gd name="connsiteY0-58" fmla="*/ 0 h 914911"/>
              <a:gd name="connsiteX1-59" fmla="*/ 1597980 w 6454066"/>
              <a:gd name="connsiteY1-60" fmla="*/ 914400 h 914911"/>
              <a:gd name="connsiteX2-61" fmla="*/ 3266982 w 6454066"/>
              <a:gd name="connsiteY2-62" fmla="*/ 204187 h 914911"/>
              <a:gd name="connsiteX3-63" fmla="*/ 6454066 w 6454066"/>
              <a:gd name="connsiteY3-64" fmla="*/ 79899 h 914911"/>
              <a:gd name="connsiteX0-65" fmla="*/ 0 w 6454066"/>
              <a:gd name="connsiteY0-66" fmla="*/ 0 h 790775"/>
              <a:gd name="connsiteX1-67" fmla="*/ 1553592 w 6454066"/>
              <a:gd name="connsiteY1-68" fmla="*/ 790113 h 790775"/>
              <a:gd name="connsiteX2-69" fmla="*/ 3266982 w 6454066"/>
              <a:gd name="connsiteY2-70" fmla="*/ 204187 h 790775"/>
              <a:gd name="connsiteX3-71" fmla="*/ 6454066 w 6454066"/>
              <a:gd name="connsiteY3-72" fmla="*/ 79899 h 790775"/>
              <a:gd name="connsiteX0-73" fmla="*/ 0 w 6454066"/>
              <a:gd name="connsiteY0-74" fmla="*/ 0 h 790642"/>
              <a:gd name="connsiteX1-75" fmla="*/ 1553592 w 6454066"/>
              <a:gd name="connsiteY1-76" fmla="*/ 790113 h 790642"/>
              <a:gd name="connsiteX2-77" fmla="*/ 3266982 w 6454066"/>
              <a:gd name="connsiteY2-78" fmla="*/ 204187 h 790642"/>
              <a:gd name="connsiteX3-79" fmla="*/ 6454066 w 6454066"/>
              <a:gd name="connsiteY3-80" fmla="*/ 79899 h 790642"/>
              <a:gd name="connsiteX0-81" fmla="*/ 0 w 6454066"/>
              <a:gd name="connsiteY0-82" fmla="*/ 0 h 790116"/>
              <a:gd name="connsiteX1-83" fmla="*/ 1553592 w 6454066"/>
              <a:gd name="connsiteY1-84" fmla="*/ 790113 h 790116"/>
              <a:gd name="connsiteX2-85" fmla="*/ 3266982 w 6454066"/>
              <a:gd name="connsiteY2-86" fmla="*/ 204187 h 790116"/>
              <a:gd name="connsiteX3-87" fmla="*/ 6454066 w 6454066"/>
              <a:gd name="connsiteY3-88" fmla="*/ 79899 h 790116"/>
              <a:gd name="connsiteX0-89" fmla="*/ 0 w 6454066"/>
              <a:gd name="connsiteY0-90" fmla="*/ 0 h 791765"/>
              <a:gd name="connsiteX1-91" fmla="*/ 1553592 w 6454066"/>
              <a:gd name="connsiteY1-92" fmla="*/ 790113 h 791765"/>
              <a:gd name="connsiteX2-93" fmla="*/ 3080551 w 6454066"/>
              <a:gd name="connsiteY2-94" fmla="*/ 204187 h 791765"/>
              <a:gd name="connsiteX3-95" fmla="*/ 6454066 w 6454066"/>
              <a:gd name="connsiteY3-96" fmla="*/ 79899 h 791765"/>
              <a:gd name="connsiteX0-97" fmla="*/ 0 w 6454066"/>
              <a:gd name="connsiteY0-98" fmla="*/ 0 h 791470"/>
              <a:gd name="connsiteX1-99" fmla="*/ 1553592 w 6454066"/>
              <a:gd name="connsiteY1-100" fmla="*/ 790113 h 791470"/>
              <a:gd name="connsiteX2-101" fmla="*/ 3080551 w 6454066"/>
              <a:gd name="connsiteY2-102" fmla="*/ 204187 h 791470"/>
              <a:gd name="connsiteX3-103" fmla="*/ 6454066 w 6454066"/>
              <a:gd name="connsiteY3-104" fmla="*/ 79899 h 791470"/>
              <a:gd name="connsiteX0-105" fmla="*/ 0 w 6454066"/>
              <a:gd name="connsiteY0-106" fmla="*/ 0 h 792231"/>
              <a:gd name="connsiteX1-107" fmla="*/ 1553592 w 6454066"/>
              <a:gd name="connsiteY1-108" fmla="*/ 790113 h 792231"/>
              <a:gd name="connsiteX2-109" fmla="*/ 3204838 w 6454066"/>
              <a:gd name="connsiteY2-110" fmla="*/ 248576 h 792231"/>
              <a:gd name="connsiteX3-111" fmla="*/ 6454066 w 6454066"/>
              <a:gd name="connsiteY3-112" fmla="*/ 79899 h 792231"/>
              <a:gd name="connsiteX0-113" fmla="*/ 0 w 5228948"/>
              <a:gd name="connsiteY0-114" fmla="*/ 0 h 792601"/>
              <a:gd name="connsiteX1-115" fmla="*/ 1553592 w 5228948"/>
              <a:gd name="connsiteY1-116" fmla="*/ 790113 h 792601"/>
              <a:gd name="connsiteX2-117" fmla="*/ 3204838 w 5228948"/>
              <a:gd name="connsiteY2-118" fmla="*/ 248576 h 792601"/>
              <a:gd name="connsiteX3-119" fmla="*/ 5228948 w 5228948"/>
              <a:gd name="connsiteY3-120" fmla="*/ 221941 h 792601"/>
              <a:gd name="connsiteX0-121" fmla="*/ 0 w 5255581"/>
              <a:gd name="connsiteY0-122" fmla="*/ 0 h 792608"/>
              <a:gd name="connsiteX1-123" fmla="*/ 1553592 w 5255581"/>
              <a:gd name="connsiteY1-124" fmla="*/ 790113 h 792608"/>
              <a:gd name="connsiteX2-125" fmla="*/ 3204838 w 5255581"/>
              <a:gd name="connsiteY2-126" fmla="*/ 248576 h 792608"/>
              <a:gd name="connsiteX3-127" fmla="*/ 5255581 w 5255581"/>
              <a:gd name="connsiteY3-128" fmla="*/ 213063 h 792608"/>
            </a:gdLst>
            <a:ahLst/>
            <a:cxnLst>
              <a:cxn ang="0">
                <a:pos x="connsiteX0-1" y="connsiteY0-2"/>
              </a:cxn>
              <a:cxn ang="0">
                <a:pos x="connsiteX1-3" y="connsiteY1-4"/>
              </a:cxn>
              <a:cxn ang="0">
                <a:pos x="connsiteX2-5" y="connsiteY2-6"/>
              </a:cxn>
              <a:cxn ang="0">
                <a:pos x="connsiteX3-7" y="connsiteY3-8"/>
              </a:cxn>
            </a:cxnLst>
            <a:rect l="l" t="t" r="r" b="b"/>
            <a:pathLst>
              <a:path w="5255581" h="792608">
                <a:moveTo>
                  <a:pt x="0" y="0"/>
                </a:moveTo>
                <a:cubicBezTo>
                  <a:pt x="389508" y="299990"/>
                  <a:pt x="1019452" y="748684"/>
                  <a:pt x="1553592" y="790113"/>
                </a:cubicBezTo>
                <a:cubicBezTo>
                  <a:pt x="2087732" y="831542"/>
                  <a:pt x="2587840" y="344751"/>
                  <a:pt x="3204838" y="248576"/>
                </a:cubicBezTo>
                <a:cubicBezTo>
                  <a:pt x="3821836" y="152401"/>
                  <a:pt x="5255581" y="213063"/>
                  <a:pt x="5255581" y="213063"/>
                </a:cubicBezTo>
              </a:path>
            </a:pathLst>
          </a:custGeom>
          <a:noFill/>
          <a:ln w="28575">
            <a:solidFill>
              <a:srgbClr val="62B23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bwMode="gray">
          <a:xfrm>
            <a:off x="5849771" y="5112914"/>
            <a:ext cx="1983235" cy="307777"/>
          </a:xfrm>
          <a:prstGeom prst="rect">
            <a:avLst/>
          </a:prstGeom>
          <a:noFill/>
        </p:spPr>
        <p:txBody>
          <a:bodyPr wrap="none" rtlCol="0">
            <a:spAutoFit/>
          </a:bodyPr>
          <a:lstStyle/>
          <a:p>
            <a:pPr algn="ctr"/>
            <a:r>
              <a:rPr lang="zh-CN" altLang="en-US" sz="1400" dirty="0">
                <a:solidFill>
                  <a:srgbClr val="62B230"/>
                </a:solidFill>
              </a:rPr>
              <a:t>发往</a:t>
            </a:r>
            <a:r>
              <a:rPr lang="en-US" altLang="zh-CN" sz="1400" dirty="0">
                <a:solidFill>
                  <a:srgbClr val="62B230"/>
                </a:solidFill>
              </a:rPr>
              <a:t>10.1.5.0/24</a:t>
            </a:r>
            <a:r>
              <a:rPr lang="zh-CN" altLang="en-US" sz="1400" dirty="0">
                <a:solidFill>
                  <a:srgbClr val="62B230"/>
                </a:solidFill>
              </a:rPr>
              <a:t>的数据</a:t>
            </a:r>
            <a:endParaRPr lang="zh-CN" altLang="en-US" sz="1400" dirty="0">
              <a:solidFill>
                <a:srgbClr val="62B230"/>
              </a:solidFill>
            </a:endParaRPr>
          </a:p>
        </p:txBody>
      </p:sp>
      <p:pic>
        <p:nvPicPr>
          <p:cNvPr id="39" name="图片 38"/>
          <p:cNvPicPr/>
          <p:nvPr/>
        </p:nvPicPr>
        <p:blipFill>
          <a:blip r:embed="rId1" cstate="print">
            <a:extLst>
              <a:ext uri="{28A0092B-C50C-407E-A947-70E740481C1C}">
                <a14:useLocalDpi xmlns:a14="http://schemas.microsoft.com/office/drawing/2010/main" val="0"/>
              </a:ext>
            </a:extLst>
          </a:blip>
          <a:stretch>
            <a:fillRect/>
          </a:stretch>
        </p:blipFill>
        <p:spPr bwMode="gray">
          <a:xfrm>
            <a:off x="2439307" y="4296674"/>
            <a:ext cx="540000" cy="442800"/>
          </a:xfrm>
          <a:prstGeom prst="rect">
            <a:avLst/>
          </a:prstGeom>
        </p:spPr>
      </p:pic>
      <p:pic>
        <p:nvPicPr>
          <p:cNvPr id="47" name="图片 46"/>
          <p:cNvPicPr/>
          <p:nvPr/>
        </p:nvPicPr>
        <p:blipFill>
          <a:blip r:embed="rId1" cstate="print">
            <a:extLst>
              <a:ext uri="{28A0092B-C50C-407E-A947-70E740481C1C}">
                <a14:useLocalDpi xmlns:a14="http://schemas.microsoft.com/office/drawing/2010/main" val="0"/>
              </a:ext>
            </a:extLst>
          </a:blip>
          <a:stretch>
            <a:fillRect/>
          </a:stretch>
        </p:blipFill>
        <p:spPr bwMode="gray">
          <a:xfrm>
            <a:off x="4036870" y="5237391"/>
            <a:ext cx="540000" cy="442800"/>
          </a:xfrm>
          <a:prstGeom prst="rect">
            <a:avLst/>
          </a:prstGeom>
        </p:spPr>
      </p:pic>
      <p:pic>
        <p:nvPicPr>
          <p:cNvPr id="46" name="图片 45"/>
          <p:cNvPicPr/>
          <p:nvPr/>
        </p:nvPicPr>
        <p:blipFill>
          <a:blip r:embed="rId1" cstate="print">
            <a:extLst>
              <a:ext uri="{28A0092B-C50C-407E-A947-70E740481C1C}">
                <a14:useLocalDpi xmlns:a14="http://schemas.microsoft.com/office/drawing/2010/main" val="0"/>
              </a:ext>
            </a:extLst>
          </a:blip>
          <a:stretch>
            <a:fillRect/>
          </a:stretch>
        </p:blipFill>
        <p:spPr bwMode="gray">
          <a:xfrm>
            <a:off x="4036870" y="3207204"/>
            <a:ext cx="540000" cy="442800"/>
          </a:xfrm>
          <a:prstGeom prst="rect">
            <a:avLst/>
          </a:prstGeom>
        </p:spPr>
      </p:pic>
      <p:pic>
        <p:nvPicPr>
          <p:cNvPr id="48"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5794050" y="4296674"/>
            <a:ext cx="540000" cy="442800"/>
          </a:xfrm>
          <a:prstGeom prst="rect">
            <a:avLst/>
          </a:prstGeom>
        </p:spPr>
      </p:pic>
      <p:cxnSp>
        <p:nvCxnSpPr>
          <p:cNvPr id="35" name="直接箭头连接符 34"/>
          <p:cNvCxnSpPr/>
          <p:nvPr/>
        </p:nvCxnSpPr>
        <p:spPr bwMode="gray">
          <a:xfrm>
            <a:off x="9476318" y="5348129"/>
            <a:ext cx="794702" cy="0"/>
          </a:xfrm>
          <a:prstGeom prst="straightConnector1">
            <a:avLst/>
          </a:prstGeom>
          <a:ln w="28575">
            <a:solidFill>
              <a:srgbClr val="C7000B"/>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p:nvPr/>
        </p:nvCxnSpPr>
        <p:spPr bwMode="gray">
          <a:xfrm>
            <a:off x="9476318" y="5683234"/>
            <a:ext cx="794702" cy="0"/>
          </a:xfrm>
          <a:prstGeom prst="straightConnector1">
            <a:avLst/>
          </a:prstGeom>
          <a:noFill/>
          <a:ln w="28575">
            <a:solidFill>
              <a:srgbClr val="ED6D00"/>
            </a:solidFill>
            <a:prstDash val="dashDot"/>
            <a:tailEnd type="triangle"/>
          </a:ln>
        </p:spPr>
        <p:style>
          <a:lnRef idx="2">
            <a:schemeClr val="accent1">
              <a:shade val="50000"/>
            </a:schemeClr>
          </a:lnRef>
          <a:fillRef idx="1">
            <a:schemeClr val="accent1"/>
          </a:fillRef>
          <a:effectRef idx="0">
            <a:schemeClr val="accent1"/>
          </a:effectRef>
          <a:fontRef idx="minor">
            <a:schemeClr val="lt1"/>
          </a:fontRef>
        </p:style>
      </p:cxnSp>
      <p:sp>
        <p:nvSpPr>
          <p:cNvPr id="3" name="文本框 2"/>
          <p:cNvSpPr txBox="1"/>
          <p:nvPr/>
        </p:nvSpPr>
        <p:spPr bwMode="gray">
          <a:xfrm>
            <a:off x="10271020" y="5122951"/>
            <a:ext cx="902811" cy="415498"/>
          </a:xfrm>
          <a:prstGeom prst="rect">
            <a:avLst/>
          </a:prstGeom>
          <a:noFill/>
        </p:spPr>
        <p:txBody>
          <a:bodyPr wrap="none" rtlCol="0">
            <a:spAutoFit/>
          </a:bodyPr>
          <a:lstStyle/>
          <a:p>
            <a:pPr>
              <a:lnSpc>
                <a:spcPct val="150000"/>
              </a:lnSpc>
            </a:pPr>
            <a:r>
              <a:rPr lang="zh-CN" altLang="en-US" sz="1400" dirty="0"/>
              <a:t>路由传递</a:t>
            </a:r>
            <a:endParaRPr lang="zh-CN" altLang="en-US" sz="1400" dirty="0"/>
          </a:p>
        </p:txBody>
      </p:sp>
      <p:grpSp>
        <p:nvGrpSpPr>
          <p:cNvPr id="9" name="组合 8"/>
          <p:cNvGrpSpPr/>
          <p:nvPr/>
        </p:nvGrpSpPr>
        <p:grpSpPr bwMode="gray">
          <a:xfrm>
            <a:off x="8601522" y="4072916"/>
            <a:ext cx="1280486" cy="666558"/>
            <a:chOff x="8374893" y="4308080"/>
            <a:chExt cx="1280486" cy="666558"/>
          </a:xfrm>
        </p:grpSpPr>
        <p:sp>
          <p:nvSpPr>
            <p:cNvPr id="50" name="Freeform 159"/>
            <p:cNvSpPr/>
            <p:nvPr/>
          </p:nvSpPr>
          <p:spPr bwMode="gray">
            <a:xfrm flipH="1">
              <a:off x="8374893" y="4308080"/>
              <a:ext cx="1280486" cy="6665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8441695" y="4565612"/>
              <a:ext cx="1085555" cy="307777"/>
            </a:xfrm>
            <a:prstGeom prst="rect">
              <a:avLst/>
            </a:prstGeom>
            <a:noFill/>
          </p:spPr>
          <p:txBody>
            <a:bodyPr wrap="none" rtlCol="0">
              <a:spAutoFit/>
            </a:bodyPr>
            <a:lstStyle/>
            <a:p>
              <a:pPr algn="ctr"/>
              <a:r>
                <a:rPr lang="en-US" altLang="zh-CN" sz="1400" dirty="0"/>
                <a:t>10.1.5.0/24</a:t>
              </a:r>
              <a:endParaRPr lang="zh-CN" altLang="en-US" sz="1400" dirty="0"/>
            </a:p>
          </p:txBody>
        </p:sp>
      </p:grpSp>
      <p:pic>
        <p:nvPicPr>
          <p:cNvPr id="52" name="图片 51"/>
          <p:cNvPicPr/>
          <p:nvPr/>
        </p:nvPicPr>
        <p:blipFill>
          <a:blip r:embed="rId1" cstate="print">
            <a:extLst>
              <a:ext uri="{28A0092B-C50C-407E-A947-70E740481C1C}">
                <a14:useLocalDpi xmlns:a14="http://schemas.microsoft.com/office/drawing/2010/main" val="0"/>
              </a:ext>
            </a:extLst>
          </a:blip>
          <a:stretch>
            <a:fillRect/>
          </a:stretch>
        </p:blipFill>
        <p:spPr bwMode="gray">
          <a:xfrm>
            <a:off x="7745033" y="4296674"/>
            <a:ext cx="540000" cy="442800"/>
          </a:xfrm>
          <a:prstGeom prst="rect">
            <a:avLst/>
          </a:prstGeom>
        </p:spPr>
      </p:pic>
      <p:sp>
        <p:nvSpPr>
          <p:cNvPr id="55" name="Freeform 4"/>
          <p:cNvSpPr/>
          <p:nvPr/>
        </p:nvSpPr>
        <p:spPr bwMode="gray">
          <a:xfrm rot="18094733" flipH="1" flipV="1">
            <a:off x="4105251" y="3164990"/>
            <a:ext cx="455487" cy="584765"/>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gradFill flip="none" rotWithShape="1">
            <a:gsLst>
              <a:gs pos="0">
                <a:schemeClr val="accent1">
                  <a:lumMod val="5000"/>
                  <a:lumOff val="95000"/>
                  <a:alpha val="0"/>
                </a:schemeClr>
              </a:gs>
              <a:gs pos="25000">
                <a:srgbClr val="FFF2CC"/>
              </a:gs>
            </a:gsLst>
            <a:lin ang="7200000" scaled="0"/>
            <a:tileRect/>
          </a:gradFill>
          <a:ln w="15875">
            <a:gradFill flip="none" rotWithShape="1">
              <a:gsLst>
                <a:gs pos="100000">
                  <a:schemeClr val="accent1">
                    <a:lumMod val="0"/>
                    <a:lumOff val="100000"/>
                    <a:alpha val="0"/>
                  </a:schemeClr>
                </a:gs>
                <a:gs pos="35000">
                  <a:srgbClr val="FFD17D"/>
                </a:gs>
              </a:gsLst>
              <a:lin ang="186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文本框 55"/>
          <p:cNvSpPr txBox="1"/>
          <p:nvPr/>
        </p:nvSpPr>
        <p:spPr bwMode="gray">
          <a:xfrm>
            <a:off x="4555583" y="3037790"/>
            <a:ext cx="566181" cy="307777"/>
          </a:xfrm>
          <a:prstGeom prst="rect">
            <a:avLst/>
          </a:prstGeom>
          <a:noFill/>
        </p:spPr>
        <p:txBody>
          <a:bodyPr wrap="none" rtlCol="0">
            <a:spAutoFit/>
          </a:bodyPr>
          <a:lstStyle/>
          <a:p>
            <a:r>
              <a:rPr lang="en-US" altLang="zh-CN" sz="1400" dirty="0"/>
              <a:t>7</a:t>
            </a:r>
            <a:r>
              <a:rPr lang="zh-CN" altLang="en-US" sz="1400" dirty="0"/>
              <a:t>转</a:t>
            </a:r>
            <a:r>
              <a:rPr lang="en-US" altLang="zh-CN" sz="1400" dirty="0"/>
              <a:t>5</a:t>
            </a:r>
            <a:endParaRPr lang="zh-CN" altLang="en-US" sz="1400" dirty="0"/>
          </a:p>
        </p:txBody>
      </p:sp>
      <p:cxnSp>
        <p:nvCxnSpPr>
          <p:cNvPr id="57" name="直接箭头连接符 56"/>
          <p:cNvCxnSpPr/>
          <p:nvPr/>
        </p:nvCxnSpPr>
        <p:spPr bwMode="gray">
          <a:xfrm flipH="1" flipV="1">
            <a:off x="4914381" y="3622452"/>
            <a:ext cx="879669" cy="625200"/>
          </a:xfrm>
          <a:prstGeom prst="straightConnector1">
            <a:avLst/>
          </a:prstGeom>
          <a:ln w="28575">
            <a:solidFill>
              <a:srgbClr val="C7000B"/>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8" name="圆角矩形标注 57"/>
          <p:cNvSpPr/>
          <p:nvPr/>
        </p:nvSpPr>
        <p:spPr bwMode="gray">
          <a:xfrm>
            <a:off x="565638" y="5348686"/>
            <a:ext cx="2229905" cy="558914"/>
          </a:xfrm>
          <a:prstGeom prst="wedgeRoundRectCallout">
            <a:avLst>
              <a:gd name="adj1" fmla="val 46334"/>
              <a:gd name="adj2" fmla="val -76968"/>
              <a:gd name="adj3" fmla="val 16667"/>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400" dirty="0">
                <a:solidFill>
                  <a:schemeClr val="tx1"/>
                </a:solidFill>
              </a:rPr>
              <a:t>引入</a:t>
            </a:r>
            <a:r>
              <a:rPr lang="en-US" altLang="zh-CN" sz="1400" dirty="0">
                <a:solidFill>
                  <a:schemeClr val="tx1"/>
                </a:solidFill>
              </a:rPr>
              <a:t>FA</a:t>
            </a:r>
            <a:r>
              <a:rPr lang="zh-CN" altLang="en-US" sz="1400" dirty="0">
                <a:solidFill>
                  <a:schemeClr val="tx1"/>
                </a:solidFill>
              </a:rPr>
              <a:t>，流量会通过高带宽链路访问目的网段。</a:t>
            </a:r>
            <a:endParaRPr lang="zh-CN" altLang="en-US" sz="1400" dirty="0">
              <a:solidFill>
                <a:schemeClr val="tx1"/>
              </a:solidFill>
            </a:endParaRPr>
          </a:p>
        </p:txBody>
      </p:sp>
      <p:sp>
        <p:nvSpPr>
          <p:cNvPr id="53" name="文本框 52"/>
          <p:cNvSpPr txBox="1"/>
          <p:nvPr/>
        </p:nvSpPr>
        <p:spPr bwMode="gray">
          <a:xfrm>
            <a:off x="7299334" y="3421359"/>
            <a:ext cx="878365" cy="307777"/>
          </a:xfrm>
          <a:prstGeom prst="rect">
            <a:avLst/>
          </a:prstGeom>
          <a:noFill/>
        </p:spPr>
        <p:txBody>
          <a:bodyPr wrap="square" rtlCol="0">
            <a:spAutoFit/>
          </a:bodyPr>
          <a:lstStyle/>
          <a:p>
            <a:pPr algn="ctr"/>
            <a:r>
              <a:rPr lang="en-US" altLang="zh-CN" sz="1400" b="1" dirty="0"/>
              <a:t>NSSA</a:t>
            </a:r>
            <a:endParaRPr lang="zh-CN" altLang="en-US" sz="1400" b="1" dirty="0"/>
          </a:p>
        </p:txBody>
      </p:sp>
      <p:sp>
        <p:nvSpPr>
          <p:cNvPr id="54" name="文本框 53"/>
          <p:cNvSpPr txBox="1"/>
          <p:nvPr/>
        </p:nvSpPr>
        <p:spPr bwMode="gray">
          <a:xfrm>
            <a:off x="1918687" y="3421359"/>
            <a:ext cx="878365" cy="307777"/>
          </a:xfrm>
          <a:prstGeom prst="rect">
            <a:avLst/>
          </a:prstGeom>
          <a:noFill/>
        </p:spPr>
        <p:txBody>
          <a:bodyPr wrap="square" rtlCol="0">
            <a:spAutoFit/>
          </a:bodyPr>
          <a:lstStyle/>
          <a:p>
            <a:pPr algn="ctr"/>
            <a:r>
              <a:rPr lang="en-US" altLang="zh-CN" sz="1400" b="1" dirty="0"/>
              <a:t>Area0</a:t>
            </a:r>
            <a:endParaRPr lang="zh-CN" altLang="en-US" sz="1400" b="1" dirty="0"/>
          </a:p>
        </p:txBody>
      </p:sp>
      <p:sp>
        <p:nvSpPr>
          <p:cNvPr id="59" name="文本框 58"/>
          <p:cNvSpPr txBox="1"/>
          <p:nvPr/>
        </p:nvSpPr>
        <p:spPr bwMode="gray">
          <a:xfrm>
            <a:off x="8248582" y="3506733"/>
            <a:ext cx="982644" cy="523220"/>
          </a:xfrm>
          <a:prstGeom prst="rect">
            <a:avLst/>
          </a:prstGeom>
          <a:noFill/>
        </p:spPr>
        <p:txBody>
          <a:bodyPr wrap="square" rtlCol="0">
            <a:spAutoFit/>
          </a:bodyPr>
          <a:lstStyle/>
          <a:p>
            <a:pPr algn="ctr"/>
            <a:r>
              <a:rPr lang="zh-CN" altLang="en-US" sz="1400" dirty="0"/>
              <a:t>引入直连外部路由</a:t>
            </a:r>
            <a:endParaRPr lang="zh-CN" altLang="en-US" sz="1400" dirty="0"/>
          </a:p>
        </p:txBody>
      </p:sp>
      <p:sp>
        <p:nvSpPr>
          <p:cNvPr id="62" name="任意多边形 61"/>
          <p:cNvSpPr/>
          <p:nvPr/>
        </p:nvSpPr>
        <p:spPr bwMode="gray">
          <a:xfrm flipV="1">
            <a:off x="2810915" y="3636194"/>
            <a:ext cx="5255581" cy="965237"/>
          </a:xfrm>
          <a:custGeom>
            <a:avLst/>
            <a:gdLst>
              <a:gd name="connsiteX0" fmla="*/ 50812 w 6842230"/>
              <a:gd name="connsiteY0" fmla="*/ 24101 h 1080952"/>
              <a:gd name="connsiteX1" fmla="*/ 104078 w 6842230"/>
              <a:gd name="connsiteY1" fmla="*/ 59612 h 1080952"/>
              <a:gd name="connsiteX2" fmla="*/ 2048288 w 6842230"/>
              <a:gd name="connsiteY2" fmla="*/ 1080544 h 1080952"/>
              <a:gd name="connsiteX3" fmla="*/ 4418626 w 6842230"/>
              <a:gd name="connsiteY3" fmla="*/ 183899 h 1080952"/>
              <a:gd name="connsiteX4" fmla="*/ 6842230 w 6842230"/>
              <a:gd name="connsiteY4" fmla="*/ 210532 h 1080952"/>
              <a:gd name="connsiteX0-1" fmla="*/ 0 w 6791418"/>
              <a:gd name="connsiteY0-2" fmla="*/ 0 h 1056851"/>
              <a:gd name="connsiteX1-3" fmla="*/ 1997476 w 6791418"/>
              <a:gd name="connsiteY1-4" fmla="*/ 1056443 h 1056851"/>
              <a:gd name="connsiteX2-5" fmla="*/ 4367814 w 6791418"/>
              <a:gd name="connsiteY2-6" fmla="*/ 159798 h 1056851"/>
              <a:gd name="connsiteX3-7" fmla="*/ 6791418 w 6791418"/>
              <a:gd name="connsiteY3-8" fmla="*/ 186431 h 1056851"/>
              <a:gd name="connsiteX0-9" fmla="*/ 0 w 6489577"/>
              <a:gd name="connsiteY0-10" fmla="*/ 40443 h 954851"/>
              <a:gd name="connsiteX1-11" fmla="*/ 1695635 w 6489577"/>
              <a:gd name="connsiteY1-12" fmla="*/ 954843 h 954851"/>
              <a:gd name="connsiteX2-13" fmla="*/ 4065973 w 6489577"/>
              <a:gd name="connsiteY2-14" fmla="*/ 58198 h 954851"/>
              <a:gd name="connsiteX3-15" fmla="*/ 6489577 w 6489577"/>
              <a:gd name="connsiteY3-16" fmla="*/ 84831 h 954851"/>
              <a:gd name="connsiteX0-17" fmla="*/ 0 w 6489577"/>
              <a:gd name="connsiteY0-18" fmla="*/ 40443 h 954851"/>
              <a:gd name="connsiteX1-19" fmla="*/ 1695635 w 6489577"/>
              <a:gd name="connsiteY1-20" fmla="*/ 954843 h 954851"/>
              <a:gd name="connsiteX2-21" fmla="*/ 4065973 w 6489577"/>
              <a:gd name="connsiteY2-22" fmla="*/ 58198 h 954851"/>
              <a:gd name="connsiteX3-23" fmla="*/ 6489577 w 6489577"/>
              <a:gd name="connsiteY3-24" fmla="*/ 84831 h 954851"/>
              <a:gd name="connsiteX0-25" fmla="*/ 0 w 6454066"/>
              <a:gd name="connsiteY0-26" fmla="*/ 4932 h 954920"/>
              <a:gd name="connsiteX1-27" fmla="*/ 1660124 w 6454066"/>
              <a:gd name="connsiteY1-28" fmla="*/ 954843 h 954920"/>
              <a:gd name="connsiteX2-29" fmla="*/ 4030462 w 6454066"/>
              <a:gd name="connsiteY2-30" fmla="*/ 58198 h 954920"/>
              <a:gd name="connsiteX3-31" fmla="*/ 6454066 w 6454066"/>
              <a:gd name="connsiteY3-32" fmla="*/ 84831 h 954920"/>
              <a:gd name="connsiteX0-33" fmla="*/ 0 w 6454066"/>
              <a:gd name="connsiteY0-34" fmla="*/ 0 h 951229"/>
              <a:gd name="connsiteX1-35" fmla="*/ 1660124 w 6454066"/>
              <a:gd name="connsiteY1-36" fmla="*/ 949911 h 951229"/>
              <a:gd name="connsiteX2-37" fmla="*/ 3266982 w 6454066"/>
              <a:gd name="connsiteY2-38" fmla="*/ 204187 h 951229"/>
              <a:gd name="connsiteX3-39" fmla="*/ 6454066 w 6454066"/>
              <a:gd name="connsiteY3-40" fmla="*/ 79899 h 951229"/>
              <a:gd name="connsiteX0-41" fmla="*/ 0 w 6454066"/>
              <a:gd name="connsiteY0-42" fmla="*/ 0 h 950391"/>
              <a:gd name="connsiteX1-43" fmla="*/ 1660124 w 6454066"/>
              <a:gd name="connsiteY1-44" fmla="*/ 949911 h 950391"/>
              <a:gd name="connsiteX2-45" fmla="*/ 3266982 w 6454066"/>
              <a:gd name="connsiteY2-46" fmla="*/ 204187 h 950391"/>
              <a:gd name="connsiteX3-47" fmla="*/ 6454066 w 6454066"/>
              <a:gd name="connsiteY3-48" fmla="*/ 79899 h 950391"/>
              <a:gd name="connsiteX0-49" fmla="*/ 0 w 6454066"/>
              <a:gd name="connsiteY0-50" fmla="*/ 0 h 950391"/>
              <a:gd name="connsiteX1-51" fmla="*/ 1509203 w 6454066"/>
              <a:gd name="connsiteY1-52" fmla="*/ 949911 h 950391"/>
              <a:gd name="connsiteX2-53" fmla="*/ 3266982 w 6454066"/>
              <a:gd name="connsiteY2-54" fmla="*/ 204187 h 950391"/>
              <a:gd name="connsiteX3-55" fmla="*/ 6454066 w 6454066"/>
              <a:gd name="connsiteY3-56" fmla="*/ 79899 h 950391"/>
              <a:gd name="connsiteX0-57" fmla="*/ 0 w 6454066"/>
              <a:gd name="connsiteY0-58" fmla="*/ 0 h 914911"/>
              <a:gd name="connsiteX1-59" fmla="*/ 1597980 w 6454066"/>
              <a:gd name="connsiteY1-60" fmla="*/ 914400 h 914911"/>
              <a:gd name="connsiteX2-61" fmla="*/ 3266982 w 6454066"/>
              <a:gd name="connsiteY2-62" fmla="*/ 204187 h 914911"/>
              <a:gd name="connsiteX3-63" fmla="*/ 6454066 w 6454066"/>
              <a:gd name="connsiteY3-64" fmla="*/ 79899 h 914911"/>
              <a:gd name="connsiteX0-65" fmla="*/ 0 w 6454066"/>
              <a:gd name="connsiteY0-66" fmla="*/ 0 h 790775"/>
              <a:gd name="connsiteX1-67" fmla="*/ 1553592 w 6454066"/>
              <a:gd name="connsiteY1-68" fmla="*/ 790113 h 790775"/>
              <a:gd name="connsiteX2-69" fmla="*/ 3266982 w 6454066"/>
              <a:gd name="connsiteY2-70" fmla="*/ 204187 h 790775"/>
              <a:gd name="connsiteX3-71" fmla="*/ 6454066 w 6454066"/>
              <a:gd name="connsiteY3-72" fmla="*/ 79899 h 790775"/>
              <a:gd name="connsiteX0-73" fmla="*/ 0 w 6454066"/>
              <a:gd name="connsiteY0-74" fmla="*/ 0 h 790642"/>
              <a:gd name="connsiteX1-75" fmla="*/ 1553592 w 6454066"/>
              <a:gd name="connsiteY1-76" fmla="*/ 790113 h 790642"/>
              <a:gd name="connsiteX2-77" fmla="*/ 3266982 w 6454066"/>
              <a:gd name="connsiteY2-78" fmla="*/ 204187 h 790642"/>
              <a:gd name="connsiteX3-79" fmla="*/ 6454066 w 6454066"/>
              <a:gd name="connsiteY3-80" fmla="*/ 79899 h 790642"/>
              <a:gd name="connsiteX0-81" fmla="*/ 0 w 6454066"/>
              <a:gd name="connsiteY0-82" fmla="*/ 0 h 790116"/>
              <a:gd name="connsiteX1-83" fmla="*/ 1553592 w 6454066"/>
              <a:gd name="connsiteY1-84" fmla="*/ 790113 h 790116"/>
              <a:gd name="connsiteX2-85" fmla="*/ 3266982 w 6454066"/>
              <a:gd name="connsiteY2-86" fmla="*/ 204187 h 790116"/>
              <a:gd name="connsiteX3-87" fmla="*/ 6454066 w 6454066"/>
              <a:gd name="connsiteY3-88" fmla="*/ 79899 h 790116"/>
              <a:gd name="connsiteX0-89" fmla="*/ 0 w 6454066"/>
              <a:gd name="connsiteY0-90" fmla="*/ 0 h 791765"/>
              <a:gd name="connsiteX1-91" fmla="*/ 1553592 w 6454066"/>
              <a:gd name="connsiteY1-92" fmla="*/ 790113 h 791765"/>
              <a:gd name="connsiteX2-93" fmla="*/ 3080551 w 6454066"/>
              <a:gd name="connsiteY2-94" fmla="*/ 204187 h 791765"/>
              <a:gd name="connsiteX3-95" fmla="*/ 6454066 w 6454066"/>
              <a:gd name="connsiteY3-96" fmla="*/ 79899 h 791765"/>
              <a:gd name="connsiteX0-97" fmla="*/ 0 w 6454066"/>
              <a:gd name="connsiteY0-98" fmla="*/ 0 h 791470"/>
              <a:gd name="connsiteX1-99" fmla="*/ 1553592 w 6454066"/>
              <a:gd name="connsiteY1-100" fmla="*/ 790113 h 791470"/>
              <a:gd name="connsiteX2-101" fmla="*/ 3080551 w 6454066"/>
              <a:gd name="connsiteY2-102" fmla="*/ 204187 h 791470"/>
              <a:gd name="connsiteX3-103" fmla="*/ 6454066 w 6454066"/>
              <a:gd name="connsiteY3-104" fmla="*/ 79899 h 791470"/>
              <a:gd name="connsiteX0-105" fmla="*/ 0 w 6454066"/>
              <a:gd name="connsiteY0-106" fmla="*/ 0 h 792231"/>
              <a:gd name="connsiteX1-107" fmla="*/ 1553592 w 6454066"/>
              <a:gd name="connsiteY1-108" fmla="*/ 790113 h 792231"/>
              <a:gd name="connsiteX2-109" fmla="*/ 3204838 w 6454066"/>
              <a:gd name="connsiteY2-110" fmla="*/ 248576 h 792231"/>
              <a:gd name="connsiteX3-111" fmla="*/ 6454066 w 6454066"/>
              <a:gd name="connsiteY3-112" fmla="*/ 79899 h 792231"/>
              <a:gd name="connsiteX0-113" fmla="*/ 0 w 5228948"/>
              <a:gd name="connsiteY0-114" fmla="*/ 0 h 792601"/>
              <a:gd name="connsiteX1-115" fmla="*/ 1553592 w 5228948"/>
              <a:gd name="connsiteY1-116" fmla="*/ 790113 h 792601"/>
              <a:gd name="connsiteX2-117" fmla="*/ 3204838 w 5228948"/>
              <a:gd name="connsiteY2-118" fmla="*/ 248576 h 792601"/>
              <a:gd name="connsiteX3-119" fmla="*/ 5228948 w 5228948"/>
              <a:gd name="connsiteY3-120" fmla="*/ 221941 h 792601"/>
              <a:gd name="connsiteX0-121" fmla="*/ 0 w 5255581"/>
              <a:gd name="connsiteY0-122" fmla="*/ 0 h 792608"/>
              <a:gd name="connsiteX1-123" fmla="*/ 1553592 w 5255581"/>
              <a:gd name="connsiteY1-124" fmla="*/ 790113 h 792608"/>
              <a:gd name="connsiteX2-125" fmla="*/ 3204838 w 5255581"/>
              <a:gd name="connsiteY2-126" fmla="*/ 248576 h 792608"/>
              <a:gd name="connsiteX3-127" fmla="*/ 5255581 w 5255581"/>
              <a:gd name="connsiteY3-128" fmla="*/ 213063 h 792608"/>
              <a:gd name="connsiteX0-129" fmla="*/ 0 w 5255581"/>
              <a:gd name="connsiteY0-130" fmla="*/ 0 h 965237"/>
              <a:gd name="connsiteX1-131" fmla="*/ 1515091 w 5255581"/>
              <a:gd name="connsiteY1-132" fmla="*/ 963368 h 965237"/>
              <a:gd name="connsiteX2-133" fmla="*/ 3204838 w 5255581"/>
              <a:gd name="connsiteY2-134" fmla="*/ 248576 h 965237"/>
              <a:gd name="connsiteX3-135" fmla="*/ 5255581 w 5255581"/>
              <a:gd name="connsiteY3-136" fmla="*/ 213063 h 965237"/>
            </a:gdLst>
            <a:ahLst/>
            <a:cxnLst>
              <a:cxn ang="0">
                <a:pos x="connsiteX0-1" y="connsiteY0-2"/>
              </a:cxn>
              <a:cxn ang="0">
                <a:pos x="connsiteX1-3" y="connsiteY1-4"/>
              </a:cxn>
              <a:cxn ang="0">
                <a:pos x="connsiteX2-5" y="connsiteY2-6"/>
              </a:cxn>
              <a:cxn ang="0">
                <a:pos x="connsiteX3-7" y="connsiteY3-8"/>
              </a:cxn>
            </a:cxnLst>
            <a:rect l="l" t="t" r="r" b="b"/>
            <a:pathLst>
              <a:path w="5255581" h="965237">
                <a:moveTo>
                  <a:pt x="0" y="0"/>
                </a:moveTo>
                <a:cubicBezTo>
                  <a:pt x="389508" y="299990"/>
                  <a:pt x="980951" y="921939"/>
                  <a:pt x="1515091" y="963368"/>
                </a:cubicBezTo>
                <a:cubicBezTo>
                  <a:pt x="2049231" y="1004797"/>
                  <a:pt x="2587840" y="344751"/>
                  <a:pt x="3204838" y="248576"/>
                </a:cubicBezTo>
                <a:cubicBezTo>
                  <a:pt x="3821836" y="152401"/>
                  <a:pt x="5255581" y="213063"/>
                  <a:pt x="5255581" y="213063"/>
                </a:cubicBezTo>
              </a:path>
            </a:pathLst>
          </a:custGeom>
          <a:noFill/>
          <a:ln w="28575">
            <a:solidFill>
              <a:srgbClr val="ED6D00"/>
            </a:solidFill>
            <a:prstDash val="dash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箭头连接符 62"/>
          <p:cNvCxnSpPr/>
          <p:nvPr/>
        </p:nvCxnSpPr>
        <p:spPr bwMode="gray">
          <a:xfrm>
            <a:off x="9476318" y="6018338"/>
            <a:ext cx="794702" cy="0"/>
          </a:xfrm>
          <a:prstGeom prst="straightConnector1">
            <a:avLst/>
          </a:prstGeom>
          <a:ln w="28575">
            <a:solidFill>
              <a:srgbClr val="62B230"/>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bwMode="gray">
          <a:xfrm>
            <a:off x="10271020" y="5444758"/>
            <a:ext cx="1473480" cy="415498"/>
          </a:xfrm>
          <a:prstGeom prst="rect">
            <a:avLst/>
          </a:prstGeom>
          <a:noFill/>
        </p:spPr>
        <p:txBody>
          <a:bodyPr wrap="none" rtlCol="0">
            <a:spAutoFit/>
          </a:bodyPr>
          <a:lstStyle/>
          <a:p>
            <a:pPr>
              <a:lnSpc>
                <a:spcPct val="150000"/>
              </a:lnSpc>
            </a:pPr>
            <a:r>
              <a:rPr lang="zh-CN" altLang="en-US" sz="1400" dirty="0"/>
              <a:t>未使用</a:t>
            </a:r>
            <a:r>
              <a:rPr lang="en-US" altLang="zh-CN" sz="1400" dirty="0"/>
              <a:t>FA</a:t>
            </a:r>
            <a:r>
              <a:rPr lang="zh-CN" altLang="en-US" sz="1400" dirty="0"/>
              <a:t>的路径</a:t>
            </a:r>
            <a:endParaRPr lang="zh-CN" altLang="en-US" sz="1400" dirty="0"/>
          </a:p>
        </p:txBody>
      </p:sp>
      <p:sp>
        <p:nvSpPr>
          <p:cNvPr id="65" name="文本框 64"/>
          <p:cNvSpPr txBox="1"/>
          <p:nvPr/>
        </p:nvSpPr>
        <p:spPr bwMode="gray">
          <a:xfrm>
            <a:off x="10271020" y="5766565"/>
            <a:ext cx="1473480" cy="415498"/>
          </a:xfrm>
          <a:prstGeom prst="rect">
            <a:avLst/>
          </a:prstGeom>
          <a:noFill/>
        </p:spPr>
        <p:txBody>
          <a:bodyPr wrap="none" rtlCol="0">
            <a:spAutoFit/>
          </a:bodyPr>
          <a:lstStyle/>
          <a:p>
            <a:pPr>
              <a:lnSpc>
                <a:spcPct val="150000"/>
              </a:lnSpc>
            </a:pPr>
            <a:r>
              <a:rPr lang="zh-CN" altLang="en-US" sz="1400" dirty="0"/>
              <a:t>使用</a:t>
            </a:r>
            <a:r>
              <a:rPr lang="en-US" altLang="zh-CN" sz="1400" dirty="0"/>
              <a:t>FA</a:t>
            </a:r>
            <a:r>
              <a:rPr lang="zh-CN" altLang="en-US" sz="1400" dirty="0"/>
              <a:t>后的路径</a:t>
            </a:r>
            <a:endParaRPr lang="zh-CN" altLang="en-US" sz="1400" dirty="0"/>
          </a:p>
        </p:txBody>
      </p:sp>
      <p:sp>
        <p:nvSpPr>
          <p:cNvPr id="60" name="文本框 59"/>
          <p:cNvSpPr txBox="1"/>
          <p:nvPr/>
        </p:nvSpPr>
        <p:spPr bwMode="gray">
          <a:xfrm>
            <a:off x="6362811" y="3586794"/>
            <a:ext cx="1253613" cy="738664"/>
          </a:xfrm>
          <a:prstGeom prst="rect">
            <a:avLst/>
          </a:prstGeom>
          <a:noFill/>
        </p:spPr>
        <p:txBody>
          <a:bodyPr wrap="none" rtlCol="0">
            <a:spAutoFit/>
          </a:bodyPr>
          <a:lstStyle/>
          <a:p>
            <a:pPr algn="r"/>
            <a:r>
              <a:rPr lang="en-US" altLang="zh-CN" sz="1400" b="1" dirty="0"/>
              <a:t>Type7 LSA</a:t>
            </a:r>
            <a:endParaRPr lang="en-US" altLang="zh-CN" sz="1400" b="1" dirty="0"/>
          </a:p>
          <a:p>
            <a:pPr algn="r"/>
            <a:r>
              <a:rPr lang="en-US" altLang="zh-CN" sz="1400" dirty="0"/>
              <a:t>10.1.5.0/24</a:t>
            </a:r>
            <a:endParaRPr lang="en-US" altLang="zh-CN" sz="1400" dirty="0"/>
          </a:p>
          <a:p>
            <a:pPr algn="r"/>
            <a:r>
              <a:rPr lang="en-US" altLang="zh-CN" sz="1400" dirty="0">
                <a:solidFill>
                  <a:srgbClr val="C7000B"/>
                </a:solidFill>
              </a:rPr>
              <a:t>FA=10.1.45.5</a:t>
            </a:r>
            <a:endParaRPr lang="zh-CN" altLang="en-US" sz="1400" dirty="0">
              <a:solidFill>
                <a:srgbClr val="C7000B"/>
              </a:solidFill>
            </a:endParaRPr>
          </a:p>
        </p:txBody>
      </p:sp>
      <p:sp>
        <p:nvSpPr>
          <p:cNvPr id="61" name="Freeform 4"/>
          <p:cNvSpPr/>
          <p:nvPr/>
        </p:nvSpPr>
        <p:spPr bwMode="gray">
          <a:xfrm rot="18094733" flipH="1" flipV="1">
            <a:off x="7976922" y="3876773"/>
            <a:ext cx="582177" cy="703492"/>
          </a:xfrm>
          <a:custGeom>
            <a:avLst/>
            <a:gdLst>
              <a:gd name="T0" fmla="*/ 1219 w 1921"/>
              <a:gd name="T1" fmla="*/ 3 h 1516"/>
              <a:gd name="T2" fmla="*/ 1047 w 1921"/>
              <a:gd name="T3" fmla="*/ 20 h 1516"/>
              <a:gd name="T4" fmla="*/ 900 w 1921"/>
              <a:gd name="T5" fmla="*/ 43 h 1516"/>
              <a:gd name="T6" fmla="*/ 763 w 1921"/>
              <a:gd name="T7" fmla="*/ 76 h 1516"/>
              <a:gd name="T8" fmla="*/ 593 w 1921"/>
              <a:gd name="T9" fmla="*/ 128 h 1516"/>
              <a:gd name="T10" fmla="*/ 449 w 1921"/>
              <a:gd name="T11" fmla="*/ 187 h 1516"/>
              <a:gd name="T12" fmla="*/ 345 w 1921"/>
              <a:gd name="T13" fmla="*/ 244 h 1516"/>
              <a:gd name="T14" fmla="*/ 261 w 1921"/>
              <a:gd name="T15" fmla="*/ 301 h 1516"/>
              <a:gd name="T16" fmla="*/ 184 w 1921"/>
              <a:gd name="T17" fmla="*/ 366 h 1516"/>
              <a:gd name="T18" fmla="*/ 118 w 1921"/>
              <a:gd name="T19" fmla="*/ 431 h 1516"/>
              <a:gd name="T20" fmla="*/ 58 w 1921"/>
              <a:gd name="T21" fmla="*/ 516 h 1516"/>
              <a:gd name="T22" fmla="*/ 21 w 1921"/>
              <a:gd name="T23" fmla="*/ 594 h 1516"/>
              <a:gd name="T24" fmla="*/ 0 w 1921"/>
              <a:gd name="T25" fmla="*/ 695 h 1516"/>
              <a:gd name="T26" fmla="*/ 14 w 1921"/>
              <a:gd name="T27" fmla="*/ 785 h 1516"/>
              <a:gd name="T28" fmla="*/ 47 w 1921"/>
              <a:gd name="T29" fmla="*/ 872 h 1516"/>
              <a:gd name="T30" fmla="*/ 92 w 1921"/>
              <a:gd name="T31" fmla="*/ 946 h 1516"/>
              <a:gd name="T32" fmla="*/ 179 w 1921"/>
              <a:gd name="T33" fmla="*/ 1041 h 1516"/>
              <a:gd name="T34" fmla="*/ 271 w 1921"/>
              <a:gd name="T35" fmla="*/ 1115 h 1516"/>
              <a:gd name="T36" fmla="*/ 377 w 1921"/>
              <a:gd name="T37" fmla="*/ 1176 h 1516"/>
              <a:gd name="T38" fmla="*/ 512 w 1921"/>
              <a:gd name="T39" fmla="*/ 1244 h 1516"/>
              <a:gd name="T40" fmla="*/ 667 w 1921"/>
              <a:gd name="T41" fmla="*/ 1302 h 1516"/>
              <a:gd name="T42" fmla="*/ 978 w 1921"/>
              <a:gd name="T43" fmla="*/ 1373 h 1516"/>
              <a:gd name="T44" fmla="*/ 1248 w 1921"/>
              <a:gd name="T45" fmla="*/ 1403 h 1516"/>
              <a:gd name="T46" fmla="*/ 1403 w 1921"/>
              <a:gd name="T47" fmla="*/ 1515 h 1516"/>
              <a:gd name="T48" fmla="*/ 1397 w 1921"/>
              <a:gd name="T49" fmla="*/ 1031 h 1516"/>
              <a:gd name="T50" fmla="*/ 1243 w 1921"/>
              <a:gd name="T51" fmla="*/ 1132 h 1516"/>
              <a:gd name="T52" fmla="*/ 1007 w 1921"/>
              <a:gd name="T53" fmla="*/ 1098 h 1516"/>
              <a:gd name="T54" fmla="*/ 757 w 1921"/>
              <a:gd name="T55" fmla="*/ 1025 h 1516"/>
              <a:gd name="T56" fmla="*/ 619 w 1921"/>
              <a:gd name="T57" fmla="*/ 957 h 1516"/>
              <a:gd name="T58" fmla="*/ 506 w 1921"/>
              <a:gd name="T59" fmla="*/ 888 h 1516"/>
              <a:gd name="T60" fmla="*/ 417 w 1921"/>
              <a:gd name="T61" fmla="*/ 806 h 1516"/>
              <a:gd name="T62" fmla="*/ 348 w 1921"/>
              <a:gd name="T63" fmla="*/ 708 h 1516"/>
              <a:gd name="T64" fmla="*/ 319 w 1921"/>
              <a:gd name="T65" fmla="*/ 610 h 1516"/>
              <a:gd name="T66" fmla="*/ 321 w 1921"/>
              <a:gd name="T67" fmla="*/ 522 h 1516"/>
              <a:gd name="T68" fmla="*/ 348 w 1921"/>
              <a:gd name="T69" fmla="*/ 437 h 1516"/>
              <a:gd name="T70" fmla="*/ 401 w 1921"/>
              <a:gd name="T71" fmla="*/ 351 h 1516"/>
              <a:gd name="T72" fmla="*/ 509 w 1921"/>
              <a:gd name="T73" fmla="*/ 251 h 1516"/>
              <a:gd name="T74" fmla="*/ 643 w 1921"/>
              <a:gd name="T75" fmla="*/ 169 h 1516"/>
              <a:gd name="T76" fmla="*/ 778 w 1921"/>
              <a:gd name="T77" fmla="*/ 110 h 1516"/>
              <a:gd name="T78" fmla="*/ 913 w 1921"/>
              <a:gd name="T79" fmla="*/ 68 h 1516"/>
              <a:gd name="T80" fmla="*/ 1021 w 1921"/>
              <a:gd name="T81" fmla="*/ 42 h 1516"/>
              <a:gd name="T82" fmla="*/ 1150 w 1921"/>
              <a:gd name="T83" fmla="*/ 25 h 1516"/>
              <a:gd name="T84" fmla="*/ 1446 w 1921"/>
              <a:gd name="T85" fmla="*/ 0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921" h="1516">
                <a:moveTo>
                  <a:pt x="1446" y="0"/>
                </a:moveTo>
                <a:lnTo>
                  <a:pt x="1219" y="3"/>
                </a:lnTo>
                <a:lnTo>
                  <a:pt x="1142" y="9"/>
                </a:lnTo>
                <a:lnTo>
                  <a:pt x="1047" y="20"/>
                </a:lnTo>
                <a:lnTo>
                  <a:pt x="974" y="29"/>
                </a:lnTo>
                <a:lnTo>
                  <a:pt x="900" y="43"/>
                </a:lnTo>
                <a:lnTo>
                  <a:pt x="828" y="59"/>
                </a:lnTo>
                <a:lnTo>
                  <a:pt x="763" y="76"/>
                </a:lnTo>
                <a:lnTo>
                  <a:pt x="686" y="97"/>
                </a:lnTo>
                <a:lnTo>
                  <a:pt x="593" y="128"/>
                </a:lnTo>
                <a:lnTo>
                  <a:pt x="520" y="156"/>
                </a:lnTo>
                <a:lnTo>
                  <a:pt x="449" y="187"/>
                </a:lnTo>
                <a:lnTo>
                  <a:pt x="401" y="213"/>
                </a:lnTo>
                <a:lnTo>
                  <a:pt x="345" y="244"/>
                </a:lnTo>
                <a:lnTo>
                  <a:pt x="304" y="268"/>
                </a:lnTo>
                <a:lnTo>
                  <a:pt x="261" y="301"/>
                </a:lnTo>
                <a:lnTo>
                  <a:pt x="222" y="332"/>
                </a:lnTo>
                <a:lnTo>
                  <a:pt x="184" y="366"/>
                </a:lnTo>
                <a:lnTo>
                  <a:pt x="155" y="393"/>
                </a:lnTo>
                <a:lnTo>
                  <a:pt x="118" y="431"/>
                </a:lnTo>
                <a:lnTo>
                  <a:pt x="82" y="474"/>
                </a:lnTo>
                <a:lnTo>
                  <a:pt x="58" y="516"/>
                </a:lnTo>
                <a:lnTo>
                  <a:pt x="39" y="552"/>
                </a:lnTo>
                <a:lnTo>
                  <a:pt x="21" y="594"/>
                </a:lnTo>
                <a:lnTo>
                  <a:pt x="6" y="638"/>
                </a:lnTo>
                <a:lnTo>
                  <a:pt x="0" y="695"/>
                </a:lnTo>
                <a:lnTo>
                  <a:pt x="5" y="744"/>
                </a:lnTo>
                <a:lnTo>
                  <a:pt x="14" y="785"/>
                </a:lnTo>
                <a:lnTo>
                  <a:pt x="26" y="826"/>
                </a:lnTo>
                <a:lnTo>
                  <a:pt x="47" y="872"/>
                </a:lnTo>
                <a:lnTo>
                  <a:pt x="66" y="911"/>
                </a:lnTo>
                <a:lnTo>
                  <a:pt x="92" y="946"/>
                </a:lnTo>
                <a:lnTo>
                  <a:pt x="130" y="991"/>
                </a:lnTo>
                <a:lnTo>
                  <a:pt x="179" y="1041"/>
                </a:lnTo>
                <a:lnTo>
                  <a:pt x="229" y="1081"/>
                </a:lnTo>
                <a:lnTo>
                  <a:pt x="271" y="1115"/>
                </a:lnTo>
                <a:lnTo>
                  <a:pt x="325" y="1149"/>
                </a:lnTo>
                <a:lnTo>
                  <a:pt x="377" y="1176"/>
                </a:lnTo>
                <a:lnTo>
                  <a:pt x="437" y="1207"/>
                </a:lnTo>
                <a:lnTo>
                  <a:pt x="512" y="1244"/>
                </a:lnTo>
                <a:lnTo>
                  <a:pt x="585" y="1271"/>
                </a:lnTo>
                <a:lnTo>
                  <a:pt x="667" y="1302"/>
                </a:lnTo>
                <a:lnTo>
                  <a:pt x="836" y="1346"/>
                </a:lnTo>
                <a:lnTo>
                  <a:pt x="978" y="1373"/>
                </a:lnTo>
                <a:lnTo>
                  <a:pt x="1128" y="1393"/>
                </a:lnTo>
                <a:lnTo>
                  <a:pt x="1248" y="1403"/>
                </a:lnTo>
                <a:lnTo>
                  <a:pt x="1403" y="1410"/>
                </a:lnTo>
                <a:lnTo>
                  <a:pt x="1403" y="1515"/>
                </a:lnTo>
                <a:lnTo>
                  <a:pt x="1920" y="1275"/>
                </a:lnTo>
                <a:lnTo>
                  <a:pt x="1397" y="1031"/>
                </a:lnTo>
                <a:lnTo>
                  <a:pt x="1398" y="1139"/>
                </a:lnTo>
                <a:lnTo>
                  <a:pt x="1243" y="1132"/>
                </a:lnTo>
                <a:lnTo>
                  <a:pt x="1128" y="1119"/>
                </a:lnTo>
                <a:lnTo>
                  <a:pt x="1007" y="1098"/>
                </a:lnTo>
                <a:lnTo>
                  <a:pt x="836" y="1054"/>
                </a:lnTo>
                <a:lnTo>
                  <a:pt x="757" y="1025"/>
                </a:lnTo>
                <a:lnTo>
                  <a:pt x="681" y="993"/>
                </a:lnTo>
                <a:lnTo>
                  <a:pt x="619" y="957"/>
                </a:lnTo>
                <a:lnTo>
                  <a:pt x="556" y="922"/>
                </a:lnTo>
                <a:lnTo>
                  <a:pt x="506" y="888"/>
                </a:lnTo>
                <a:lnTo>
                  <a:pt x="464" y="850"/>
                </a:lnTo>
                <a:lnTo>
                  <a:pt x="417" y="806"/>
                </a:lnTo>
                <a:lnTo>
                  <a:pt x="377" y="755"/>
                </a:lnTo>
                <a:lnTo>
                  <a:pt x="348" y="708"/>
                </a:lnTo>
                <a:lnTo>
                  <a:pt x="333" y="664"/>
                </a:lnTo>
                <a:lnTo>
                  <a:pt x="319" y="610"/>
                </a:lnTo>
                <a:lnTo>
                  <a:pt x="317" y="558"/>
                </a:lnTo>
                <a:lnTo>
                  <a:pt x="321" y="522"/>
                </a:lnTo>
                <a:lnTo>
                  <a:pt x="329" y="483"/>
                </a:lnTo>
                <a:lnTo>
                  <a:pt x="348" y="437"/>
                </a:lnTo>
                <a:lnTo>
                  <a:pt x="372" y="393"/>
                </a:lnTo>
                <a:lnTo>
                  <a:pt x="401" y="351"/>
                </a:lnTo>
                <a:lnTo>
                  <a:pt x="440" y="310"/>
                </a:lnTo>
                <a:lnTo>
                  <a:pt x="509" y="251"/>
                </a:lnTo>
                <a:lnTo>
                  <a:pt x="567" y="211"/>
                </a:lnTo>
                <a:lnTo>
                  <a:pt x="643" y="169"/>
                </a:lnTo>
                <a:lnTo>
                  <a:pt x="720" y="133"/>
                </a:lnTo>
                <a:lnTo>
                  <a:pt x="778" y="110"/>
                </a:lnTo>
                <a:lnTo>
                  <a:pt x="847" y="86"/>
                </a:lnTo>
                <a:lnTo>
                  <a:pt x="913" y="68"/>
                </a:lnTo>
                <a:lnTo>
                  <a:pt x="966" y="54"/>
                </a:lnTo>
                <a:lnTo>
                  <a:pt x="1021" y="42"/>
                </a:lnTo>
                <a:lnTo>
                  <a:pt x="1089" y="32"/>
                </a:lnTo>
                <a:lnTo>
                  <a:pt x="1150" y="25"/>
                </a:lnTo>
                <a:lnTo>
                  <a:pt x="1234" y="15"/>
                </a:lnTo>
                <a:lnTo>
                  <a:pt x="1446" y="0"/>
                </a:lnTo>
              </a:path>
            </a:pathLst>
          </a:custGeom>
          <a:gradFill flip="none" rotWithShape="1">
            <a:gsLst>
              <a:gs pos="0">
                <a:schemeClr val="accent1">
                  <a:lumMod val="5000"/>
                  <a:lumOff val="95000"/>
                  <a:alpha val="0"/>
                </a:schemeClr>
              </a:gs>
              <a:gs pos="25000">
                <a:srgbClr val="FFF2CC"/>
              </a:gs>
            </a:gsLst>
            <a:lin ang="7200000" scaled="0"/>
            <a:tileRect/>
          </a:gradFill>
          <a:ln w="15875">
            <a:gradFill flip="none" rotWithShape="1">
              <a:gsLst>
                <a:gs pos="100000">
                  <a:schemeClr val="accent1">
                    <a:lumMod val="0"/>
                    <a:lumOff val="100000"/>
                    <a:alpha val="0"/>
                  </a:schemeClr>
                </a:gs>
                <a:gs pos="35000">
                  <a:srgbClr val="FFD17D"/>
                </a:gs>
              </a:gsLst>
              <a:lin ang="1860000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五边形 65"/>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燕尾形 66"/>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燕尾形 67"/>
          <p:cNvSpPr/>
          <p:nvPr/>
        </p:nvSpPr>
        <p:spPr bwMode="auto">
          <a:xfrm>
            <a:off x="9828764" y="124239"/>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燕尾形 71"/>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燕尾形 72"/>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rot="2047596">
            <a:off x="5013649" y="3334251"/>
            <a:ext cx="1253613" cy="738664"/>
          </a:xfrm>
          <a:prstGeom prst="rect">
            <a:avLst/>
          </a:prstGeom>
          <a:noFill/>
        </p:spPr>
        <p:txBody>
          <a:bodyPr wrap="none" rtlCol="0">
            <a:spAutoFit/>
          </a:bodyPr>
          <a:lstStyle/>
          <a:p>
            <a:pPr algn="r"/>
            <a:r>
              <a:rPr lang="en-US" altLang="zh-CN" sz="1400" b="1" dirty="0"/>
              <a:t>Type7 LSA</a:t>
            </a:r>
            <a:endParaRPr lang="en-US" altLang="zh-CN" sz="1400" b="1" dirty="0"/>
          </a:p>
          <a:p>
            <a:pPr algn="r"/>
            <a:r>
              <a:rPr lang="en-US" altLang="zh-CN" sz="1400" dirty="0"/>
              <a:t>10.1.5.0/24</a:t>
            </a:r>
            <a:endParaRPr lang="en-US" altLang="zh-CN" sz="1400" dirty="0"/>
          </a:p>
          <a:p>
            <a:pPr algn="r"/>
            <a:r>
              <a:rPr lang="en-US" altLang="zh-CN" sz="1400" dirty="0">
                <a:solidFill>
                  <a:srgbClr val="C7000B"/>
                </a:solidFill>
              </a:rPr>
              <a:t>FA=10.1.45.5</a:t>
            </a:r>
            <a:endParaRPr lang="zh-CN" altLang="en-US" sz="1400" dirty="0">
              <a:solidFill>
                <a:srgbClr val="C7000B"/>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p:bldP spid="58" grpId="0" animBg="1"/>
      <p:bldP spid="62" grpId="0" animBg="1"/>
      <p:bldP spid="62"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 GR</a:t>
            </a:r>
            <a:endParaRPr lang="zh-CN" altLang="en-US" dirty="0"/>
          </a:p>
        </p:txBody>
      </p:sp>
      <p:sp>
        <p:nvSpPr>
          <p:cNvPr id="3" name="文本占位符 2"/>
          <p:cNvSpPr>
            <a:spLocks noGrp="1"/>
          </p:cNvSpPr>
          <p:nvPr>
            <p:ph type="body" sz="quarter" idx="10"/>
          </p:nvPr>
        </p:nvSpPr>
        <p:spPr>
          <a:xfrm>
            <a:off x="455612" y="1047750"/>
            <a:ext cx="11293475" cy="1299513"/>
          </a:xfrm>
        </p:spPr>
        <p:txBody>
          <a:bodyPr/>
          <a:lstStyle/>
          <a:p>
            <a:r>
              <a:rPr lang="en-US" altLang="zh-CN" sz="1800" dirty="0"/>
              <a:t>GR</a:t>
            </a:r>
            <a:r>
              <a:rPr lang="zh-CN" altLang="en-US" sz="1800" dirty="0"/>
              <a:t>（</a:t>
            </a:r>
            <a:r>
              <a:rPr lang="en-US" altLang="zh-CN" sz="1800" dirty="0"/>
              <a:t>Graceful Restart</a:t>
            </a:r>
            <a:r>
              <a:rPr lang="zh-CN" altLang="en-US" sz="1800" dirty="0"/>
              <a:t>，平滑重启）技术保证了设备在重启过程中转发层面能够继续指导数据的转发，同时控制层面邻居关系的重建以及路由计算等动作不会影响转发层面的功能，从而避免了路由振荡引发的业务中断，保证了关键业务的数据转发，提高了整网的可靠性。</a:t>
            </a:r>
            <a:endParaRPr lang="en-US" altLang="zh-CN" sz="1800" dirty="0"/>
          </a:p>
        </p:txBody>
      </p:sp>
      <p:graphicFrame>
        <p:nvGraphicFramePr>
          <p:cNvPr id="4" name="表格 3"/>
          <p:cNvGraphicFramePr>
            <a:graphicFrameLocks noGrp="1"/>
          </p:cNvGraphicFramePr>
          <p:nvPr/>
        </p:nvGraphicFramePr>
        <p:xfrm>
          <a:off x="1030059" y="3861450"/>
          <a:ext cx="4909188" cy="2042160"/>
        </p:xfrm>
        <a:graphic>
          <a:graphicData uri="http://schemas.openxmlformats.org/drawingml/2006/table">
            <a:tbl>
              <a:tblPr firstRow="1" bandRow="1"/>
              <a:tblGrid>
                <a:gridCol w="1227297"/>
                <a:gridCol w="1227297"/>
                <a:gridCol w="1227297"/>
                <a:gridCol w="1227297"/>
              </a:tblGrid>
              <a:tr h="209934">
                <a:tc gridSpan="2">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LS Age</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Options</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1" i="0" u="none" strike="noStrike" kern="1200" cap="none" normalizeH="0" baseline="0" dirty="0">
                          <a:ln>
                            <a:noFill/>
                          </a:ln>
                          <a:solidFill>
                            <a:schemeClr val="tx1"/>
                          </a:solidFill>
                          <a:effectLst/>
                          <a:latin typeface="+mn-lt"/>
                          <a:ea typeface="+mn-ea"/>
                          <a:cs typeface="+mn-cs"/>
                        </a:rPr>
                        <a:t>LS Type=9</a:t>
                      </a: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r>
              <a:tr h="209934">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Opaque Type=3</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gridSpan="3">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0</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r>
              <a:tr h="209934">
                <a:tc gridSpan="4">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Advertising Router</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hMerge="1">
                  <a:tcPr/>
                </a:tc>
                <a:tc hMerge="1">
                  <a:tcPr/>
                </a:tc>
              </a:tr>
              <a:tr h="209934">
                <a:tc gridSpan="4">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LS Sequence Number</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hMerge="1">
                  <a:tcPr/>
                </a:tc>
                <a:tc hMerge="1">
                  <a:tcPr/>
                </a:tc>
              </a:tr>
              <a:tr h="209934">
                <a:tc gridSpan="2">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LS Checksum</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gridSpan="2">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Length</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r>
              <a:tr h="209934">
                <a:tc gridSpan="4">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1" i="0" u="none" strike="noStrike" kern="1200" cap="none" normalizeH="0" baseline="0" dirty="0">
                          <a:ln>
                            <a:noFill/>
                          </a:ln>
                          <a:solidFill>
                            <a:schemeClr val="tx1"/>
                          </a:solidFill>
                          <a:effectLst/>
                          <a:latin typeface="+mn-lt"/>
                          <a:ea typeface="+mn-ea"/>
                          <a:cs typeface="+mn-cs"/>
                        </a:rPr>
                        <a:t>TLVs</a:t>
                      </a:r>
                      <a:r>
                        <a:rPr kumimoji="0" lang="zh-CN" altLang="en-US" sz="1400" b="1" i="0" u="none" strike="noStrike" kern="1200" cap="none" normalizeH="0" baseline="0" dirty="0">
                          <a:ln>
                            <a:noFill/>
                          </a:ln>
                          <a:solidFill>
                            <a:schemeClr val="tx1"/>
                          </a:solidFill>
                          <a:effectLst/>
                          <a:latin typeface="+mn-lt"/>
                          <a:ea typeface="+mn-ea"/>
                          <a:cs typeface="+mn-cs"/>
                        </a:rPr>
                        <a:t>（</a:t>
                      </a:r>
                      <a:r>
                        <a:rPr kumimoji="0" lang="en-US" altLang="zh-CN" sz="1400" b="1" i="0" u="none" strike="noStrike" kern="1200" cap="none" normalizeH="0" baseline="0" dirty="0">
                          <a:ln>
                            <a:noFill/>
                          </a:ln>
                          <a:solidFill>
                            <a:schemeClr val="tx1"/>
                          </a:solidFill>
                          <a:effectLst/>
                          <a:latin typeface="+mn-lt"/>
                          <a:ea typeface="+mn-ea"/>
                          <a:cs typeface="+mn-cs"/>
                        </a:rPr>
                        <a:t>Type-Length-Value</a:t>
                      </a:r>
                      <a:r>
                        <a:rPr kumimoji="0" lang="zh-CN" altLang="en-US" sz="1400" b="1" i="0" u="none" strike="noStrike" kern="1200" cap="none" normalizeH="0" baseline="0" dirty="0">
                          <a:ln>
                            <a:noFill/>
                          </a:ln>
                          <a:solidFill>
                            <a:schemeClr val="tx1"/>
                          </a:solidFill>
                          <a:effectLst/>
                          <a:latin typeface="+mn-lt"/>
                          <a:ea typeface="+mn-ea"/>
                          <a:cs typeface="+mn-cs"/>
                        </a:rPr>
                        <a:t>）</a:t>
                      </a: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hMerge="1">
                  <a:tcPr/>
                </a:tc>
                <a:tc hMerge="1">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r>
            </a:tbl>
          </a:graphicData>
        </a:graphic>
      </p:graphicFrame>
      <p:sp>
        <p:nvSpPr>
          <p:cNvPr id="5" name="圆角矩形 75"/>
          <p:cNvSpPr/>
          <p:nvPr/>
        </p:nvSpPr>
        <p:spPr bwMode="gray">
          <a:xfrm>
            <a:off x="884737" y="2347263"/>
            <a:ext cx="5220788"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新增</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Type9 Opaque LSA</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Grace-LSA</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884737" y="2723567"/>
            <a:ext cx="5220788" cy="333786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897894" y="2722004"/>
            <a:ext cx="5220788" cy="1162015"/>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通过新增</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Grace-LSA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来支持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功能。</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这种</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用于在开始</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和退出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时向邻居通告</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的时间、原因以及接口地址等内容。</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75"/>
          <p:cNvSpPr/>
          <p:nvPr/>
        </p:nvSpPr>
        <p:spPr bwMode="gray">
          <a:xfrm>
            <a:off x="6325784" y="2229392"/>
            <a:ext cx="5423303" cy="3901441"/>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02260" indent="-302260" algn="just" defTabSz="913765" fontAlgn="ctr">
              <a:lnSpc>
                <a:spcPct val="120000"/>
              </a:lnSpc>
              <a:spcBef>
                <a:spcPts val="790"/>
              </a:spcBef>
              <a:buSzPct val="50000"/>
              <a:buFont typeface="Wingdings" panose="05000000000000000000" pitchFamily="2" charset="2"/>
              <a:buChar char="l"/>
            </a:pPr>
            <a:r>
              <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TLV</a:t>
            </a:r>
            <a:r>
              <a:rPr lang="zh-CN" altLang="en-US"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类型：</a:t>
            </a:r>
            <a:endParaRPr lang="en-US" altLang="zh-CN" sz="16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a:p>
            <a:pPr marL="654685" lvl="1" indent="-252095" defTabSz="913765" fontAlgn="ctr">
              <a:lnSpc>
                <a:spcPct val="120000"/>
              </a:lnSpc>
              <a:buSzPct val="50000"/>
              <a:buFont typeface="Wingdings" panose="05000000000000000000" pitchFamily="2" charset="2"/>
              <a:buChar char="p"/>
            </a:pPr>
            <a:r>
              <a:rPr lang="en-US" altLang="zh-CN"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Grace Period TLV</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Type=1</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，长度为</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字节，表示邻居设备进入</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 Helper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处理流程的最长保持时间。如果超过这段时间</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还没有完成</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处理流程，则周边邻居不再担任</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 Helper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角色。（必须携带）</a:t>
            </a:r>
            <a:endPar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654685" lvl="1" indent="-252095" defTabSz="913765" fontAlgn="ctr">
              <a:lnSpc>
                <a:spcPct val="120000"/>
              </a:lnSpc>
              <a:buSzPct val="50000"/>
              <a:buFont typeface="Wingdings" panose="05000000000000000000" pitchFamily="2" charset="2"/>
              <a:buChar char="p"/>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Graceful Restart Reason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Type=2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，长度为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字节，告知邻居设备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的重启原因。（必须携带）</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003935" lvl="2" indent="-201295" defTabSz="913765" fontAlgn="ctr">
              <a:lnSpc>
                <a:spcPct val="120000"/>
              </a:lnSpc>
              <a:spcBef>
                <a:spcPts val="650"/>
              </a:spcBef>
              <a:buSzPct val="50000"/>
              <a:buFont typeface="Wingdings" panose="05000000000000000000" pitchFamily="2" charset="2"/>
              <a:buChar char="n"/>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Value=0</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，表示原因未知；</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003935" lvl="2" indent="-201295" defTabSz="913765" fontAlgn="ctr">
              <a:lnSpc>
                <a:spcPct val="120000"/>
              </a:lnSpc>
              <a:spcBef>
                <a:spcPts val="650"/>
              </a:spcBef>
              <a:buSzPct val="50000"/>
              <a:buFont typeface="Wingdings" panose="05000000000000000000" pitchFamily="2" charset="2"/>
              <a:buChar char="n"/>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Value=1</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，表示软件重启；</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003935" lvl="2" indent="-201295" defTabSz="913765" fontAlgn="ctr">
              <a:lnSpc>
                <a:spcPct val="120000"/>
              </a:lnSpc>
              <a:spcBef>
                <a:spcPts val="650"/>
              </a:spcBef>
              <a:buSzPct val="50000"/>
              <a:buFont typeface="Wingdings" panose="05000000000000000000" pitchFamily="2" charset="2"/>
              <a:buChar char="n"/>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Value=2</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，表示软件重新加载（升级）；</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1003935" lvl="2" indent="-201295" defTabSz="913765" fontAlgn="ctr">
              <a:lnSpc>
                <a:spcPct val="120000"/>
              </a:lnSpc>
              <a:spcBef>
                <a:spcPts val="650"/>
              </a:spcBef>
              <a:buSzPct val="50000"/>
              <a:buFont typeface="Wingdings" panose="05000000000000000000" pitchFamily="2" charset="2"/>
              <a:buChar char="n"/>
            </a:pP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Value=3</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，表示</a:t>
            </a: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进行主备倒换。</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marL="654685" lvl="1" indent="-252095" defTabSz="913765" fontAlgn="ctr">
              <a:lnSpc>
                <a:spcPct val="120000"/>
              </a:lnSpc>
              <a:buSzPct val="50000"/>
              <a:buFont typeface="Wingdings" panose="05000000000000000000" pitchFamily="2" charset="2"/>
              <a:buChar char="p"/>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 Interface Address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Type=3</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，长度为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4</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字节，用来告知发送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Grace LSA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的接口的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地址，在网络上需要用该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地址来唯一标识一台重启设备。</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五边形 8"/>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OSPF GR</a:t>
            </a:r>
            <a:r>
              <a:rPr lang="zh-CN" altLang="en-US"/>
              <a:t>的过程</a:t>
            </a:r>
            <a:endParaRPr lang="zh-CN" altLang="en-US" dirty="0"/>
          </a:p>
        </p:txBody>
      </p:sp>
      <p:sp>
        <p:nvSpPr>
          <p:cNvPr id="3" name="文本占位符 2"/>
          <p:cNvSpPr>
            <a:spLocks noGrp="1"/>
          </p:cNvSpPr>
          <p:nvPr>
            <p:ph type="body" sz="quarter" idx="10"/>
          </p:nvPr>
        </p:nvSpPr>
        <p:spPr/>
        <p:txBody>
          <a:bodyPr/>
          <a:lstStyle/>
          <a:p>
            <a:r>
              <a:rPr lang="en-US" altLang="zh-CN" sz="1800" dirty="0"/>
              <a:t>GR</a:t>
            </a:r>
            <a:r>
              <a:rPr lang="zh-CN" altLang="en-US" sz="1800" dirty="0"/>
              <a:t>的过程：</a:t>
            </a:r>
            <a:endParaRPr lang="en-US" altLang="zh-CN" sz="1800" dirty="0"/>
          </a:p>
        </p:txBody>
      </p:sp>
      <p:grpSp>
        <p:nvGrpSpPr>
          <p:cNvPr id="18" name="组合 17"/>
          <p:cNvGrpSpPr/>
          <p:nvPr/>
        </p:nvGrpSpPr>
        <p:grpSpPr>
          <a:xfrm>
            <a:off x="588461" y="1484830"/>
            <a:ext cx="5507539" cy="4463015"/>
            <a:chOff x="6128270" y="1191966"/>
            <a:chExt cx="5507539" cy="4463015"/>
          </a:xfrm>
        </p:grpSpPr>
        <p:grpSp>
          <p:nvGrpSpPr>
            <p:cNvPr id="4" name="组合 3"/>
            <p:cNvGrpSpPr/>
            <p:nvPr/>
          </p:nvGrpSpPr>
          <p:grpSpPr>
            <a:xfrm>
              <a:off x="7030197" y="1191966"/>
              <a:ext cx="3631808" cy="1020127"/>
              <a:chOff x="1874790" y="1395473"/>
              <a:chExt cx="3631808" cy="1020127"/>
            </a:xfrm>
          </p:grpSpPr>
          <p:sp>
            <p:nvSpPr>
              <p:cNvPr id="5" name="文本框 4"/>
              <p:cNvSpPr txBox="1"/>
              <p:nvPr/>
            </p:nvSpPr>
            <p:spPr bwMode="gray">
              <a:xfrm>
                <a:off x="1874790" y="2107823"/>
                <a:ext cx="1285929" cy="307777"/>
              </a:xfrm>
              <a:prstGeom prst="rect">
                <a:avLst/>
              </a:prstGeom>
              <a:noFill/>
            </p:spPr>
            <p:txBody>
              <a:bodyPr wrap="none" rtlCol="0">
                <a:spAutoFit/>
              </a:bodyPr>
              <a:lstStyle/>
              <a:p>
                <a:pPr algn="ctr"/>
                <a:r>
                  <a:rPr lang="en-US" altLang="zh-CN" sz="1400" b="1" dirty="0"/>
                  <a:t>GR Restarter</a:t>
                </a:r>
                <a:endParaRPr lang="zh-CN" altLang="en-US" sz="1400" b="1" dirty="0"/>
              </a:p>
            </p:txBody>
          </p:sp>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2247754" y="1665023"/>
                <a:ext cx="540000" cy="442800"/>
              </a:xfrm>
              <a:prstGeom prst="rect">
                <a:avLst/>
              </a:prstGeom>
            </p:spPr>
          </p:pic>
          <p:cxnSp>
            <p:nvCxnSpPr>
              <p:cNvPr id="7" name="直接连接符 6"/>
              <p:cNvCxnSpPr>
                <a:stCxn id="6" idx="3"/>
                <a:endCxn id="8" idx="1"/>
              </p:cNvCxnSpPr>
              <p:nvPr/>
            </p:nvCxnSpPr>
            <p:spPr bwMode="gray">
              <a:xfrm>
                <a:off x="2787754" y="1886423"/>
                <a:ext cx="19140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701836" y="1665023"/>
                <a:ext cx="540000" cy="442800"/>
              </a:xfrm>
              <a:prstGeom prst="rect">
                <a:avLst/>
              </a:prstGeom>
            </p:spPr>
          </p:pic>
          <p:sp>
            <p:nvSpPr>
              <p:cNvPr id="9" name="文本框 8"/>
              <p:cNvSpPr txBox="1"/>
              <p:nvPr/>
            </p:nvSpPr>
            <p:spPr bwMode="gray">
              <a:xfrm>
                <a:off x="4437074" y="2107823"/>
                <a:ext cx="1069524" cy="307777"/>
              </a:xfrm>
              <a:prstGeom prst="rect">
                <a:avLst/>
              </a:prstGeom>
              <a:noFill/>
            </p:spPr>
            <p:txBody>
              <a:bodyPr wrap="none" rtlCol="0">
                <a:spAutoFit/>
              </a:bodyPr>
              <a:lstStyle/>
              <a:p>
                <a:pPr algn="ctr"/>
                <a:r>
                  <a:rPr lang="en-US" altLang="zh-CN" sz="1400" b="1" dirty="0"/>
                  <a:t>GR Helper</a:t>
                </a:r>
                <a:endParaRPr lang="zh-CN" altLang="en-US" sz="1400" b="1" dirty="0"/>
              </a:p>
            </p:txBody>
          </p:sp>
          <p:sp>
            <p:nvSpPr>
              <p:cNvPr id="11" name="文本框 10"/>
              <p:cNvSpPr txBox="1"/>
              <p:nvPr/>
            </p:nvSpPr>
            <p:spPr bwMode="gray">
              <a:xfrm>
                <a:off x="2314814" y="1395473"/>
                <a:ext cx="405880" cy="307777"/>
              </a:xfrm>
              <a:prstGeom prst="rect">
                <a:avLst/>
              </a:prstGeom>
              <a:noFill/>
            </p:spPr>
            <p:txBody>
              <a:bodyPr wrap="none" rtlCol="0">
                <a:spAutoFit/>
              </a:bodyPr>
              <a:lstStyle/>
              <a:p>
                <a:pPr algn="ctr"/>
                <a:r>
                  <a:rPr lang="en-US" altLang="zh-CN" sz="1400" dirty="0"/>
                  <a:t>R1</a:t>
                </a:r>
                <a:endParaRPr lang="zh-CN" altLang="en-US" sz="1400" dirty="0"/>
              </a:p>
            </p:txBody>
          </p:sp>
          <p:sp>
            <p:nvSpPr>
              <p:cNvPr id="12" name="文本框 11"/>
              <p:cNvSpPr txBox="1"/>
              <p:nvPr/>
            </p:nvSpPr>
            <p:spPr bwMode="gray">
              <a:xfrm>
                <a:off x="4768895" y="1395473"/>
                <a:ext cx="40588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47" name="文本框 46"/>
              <p:cNvSpPr txBox="1"/>
              <p:nvPr/>
            </p:nvSpPr>
            <p:spPr bwMode="gray">
              <a:xfrm>
                <a:off x="3184386" y="1558300"/>
                <a:ext cx="1120820" cy="307777"/>
              </a:xfrm>
              <a:prstGeom prst="rect">
                <a:avLst/>
              </a:prstGeom>
              <a:noFill/>
            </p:spPr>
            <p:txBody>
              <a:bodyPr wrap="none" rtlCol="0">
                <a:spAutoFit/>
              </a:bodyPr>
              <a:lstStyle/>
              <a:p>
                <a:pPr algn="ctr"/>
                <a:r>
                  <a:rPr lang="en-US" altLang="zh-CN" sz="1400" b="1" dirty="0"/>
                  <a:t>GR Session</a:t>
                </a:r>
                <a:endParaRPr lang="zh-CN" altLang="en-US" sz="1400" b="1" dirty="0"/>
              </a:p>
            </p:txBody>
          </p:sp>
        </p:grpSp>
        <p:cxnSp>
          <p:nvCxnSpPr>
            <p:cNvPr id="14" name="直接连接符 13"/>
            <p:cNvCxnSpPr/>
            <p:nvPr/>
          </p:nvCxnSpPr>
          <p:spPr bwMode="gray">
            <a:xfrm>
              <a:off x="7820106" y="267985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gray">
            <a:xfrm>
              <a:off x="7674558" y="2347116"/>
              <a:ext cx="0" cy="32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bwMode="gray">
            <a:xfrm>
              <a:off x="10122056" y="2347116"/>
              <a:ext cx="0" cy="32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a:off x="7820106" y="3227413"/>
              <a:ext cx="2160000" cy="1"/>
            </a:xfrm>
            <a:prstGeom prst="line">
              <a:avLst/>
            </a:prstGeom>
            <a:ln w="12700">
              <a:solidFill>
                <a:schemeClr val="bg1">
                  <a:lumMod val="50000"/>
                </a:schemeClr>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Box 120"/>
            <p:cNvSpPr txBox="1"/>
            <p:nvPr/>
          </p:nvSpPr>
          <p:spPr bwMode="gray">
            <a:xfrm>
              <a:off x="8228997" y="2402855"/>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Grace-LSA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20"/>
            <p:cNvSpPr txBox="1"/>
            <p:nvPr/>
          </p:nvSpPr>
          <p:spPr bwMode="gray">
            <a:xfrm>
              <a:off x="8181497" y="2953632"/>
              <a:ext cx="1437219" cy="276999"/>
            </a:xfrm>
            <a:prstGeom prst="rect">
              <a:avLst/>
            </a:prstGeom>
            <a:noFill/>
            <a:ln>
              <a:noFill/>
            </a:ln>
          </p:spPr>
          <p:txBody>
            <a:bodyPr wrap="square" rtlCol="0">
              <a:spAutoFit/>
            </a:bodyPr>
            <a:lstStyle/>
            <a:p>
              <a:pPr algn="ct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LSAck</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p:nvPr/>
          </p:nvCxnSpPr>
          <p:spPr bwMode="gray">
            <a:xfrm>
              <a:off x="7820106" y="377497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TextBox 120"/>
            <p:cNvSpPr txBox="1"/>
            <p:nvPr/>
          </p:nvSpPr>
          <p:spPr bwMode="gray">
            <a:xfrm>
              <a:off x="8228997" y="3506132"/>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Grace-LSA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9" name="直接连接符 28"/>
            <p:cNvCxnSpPr/>
            <p:nvPr/>
          </p:nvCxnSpPr>
          <p:spPr bwMode="gray">
            <a:xfrm>
              <a:off x="7820106" y="4870093"/>
              <a:ext cx="2160000" cy="1"/>
            </a:xfrm>
            <a:prstGeom prst="line">
              <a:avLst/>
            </a:prstGeom>
            <a:ln w="12700">
              <a:solidFill>
                <a:schemeClr val="bg1">
                  <a:lumMod val="50000"/>
                </a:schemeClr>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120"/>
            <p:cNvSpPr txBox="1"/>
            <p:nvPr/>
          </p:nvSpPr>
          <p:spPr bwMode="gray">
            <a:xfrm>
              <a:off x="7650167" y="4411909"/>
              <a:ext cx="2499877" cy="461665"/>
            </a:xfrm>
            <a:prstGeom prst="rect">
              <a:avLst/>
            </a:prstGeom>
            <a:noFill/>
            <a:ln>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Hello</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报文，进行邻居协商，交换</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DD</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LSDB</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连接符 22"/>
            <p:cNvCxnSpPr/>
            <p:nvPr/>
          </p:nvCxnSpPr>
          <p:spPr bwMode="gray">
            <a:xfrm>
              <a:off x="7820106" y="432253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TextBox 120"/>
            <p:cNvSpPr txBox="1"/>
            <p:nvPr/>
          </p:nvSpPr>
          <p:spPr bwMode="gray">
            <a:xfrm>
              <a:off x="8228997" y="4036087"/>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Grace-LSAs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5" name="直接连接符 24"/>
            <p:cNvCxnSpPr/>
            <p:nvPr/>
          </p:nvCxnSpPr>
          <p:spPr bwMode="gray">
            <a:xfrm>
              <a:off x="7820106" y="5417655"/>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120"/>
            <p:cNvSpPr txBox="1"/>
            <p:nvPr/>
          </p:nvSpPr>
          <p:spPr bwMode="gray">
            <a:xfrm>
              <a:off x="8225400" y="5140657"/>
              <a:ext cx="1425307"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Flush Grace-LSAs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p:cNvSpPr txBox="1"/>
            <p:nvPr/>
          </p:nvSpPr>
          <p:spPr bwMode="gray">
            <a:xfrm>
              <a:off x="6306354" y="2554403"/>
              <a:ext cx="1369145"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设备主备倒换前</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0"/>
            <p:cNvSpPr txBox="1"/>
            <p:nvPr/>
          </p:nvSpPr>
          <p:spPr bwMode="gray">
            <a:xfrm>
              <a:off x="10117997" y="2985926"/>
              <a:ext cx="1185662" cy="461665"/>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对收到的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回复</a:t>
              </a:r>
              <a:r>
                <a:rPr lang="en-US" altLang="zh-CN" sz="1200" dirty="0" err="1">
                  <a:latin typeface="Huawei Sans" panose="020C0503030203020204" pitchFamily="34" charset="0"/>
                  <a:ea typeface="方正兰亭黑简体" panose="02000000000000000000" pitchFamily="2" charset="-122"/>
                  <a:sym typeface="Huawei Sans" panose="020C0503030203020204" pitchFamily="34" charset="0"/>
                </a:rPr>
                <a:t>LSAck</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0"/>
            <p:cNvSpPr txBox="1"/>
            <p:nvPr/>
          </p:nvSpPr>
          <p:spPr bwMode="gray">
            <a:xfrm>
              <a:off x="6306354" y="2839466"/>
              <a:ext cx="1369145"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设备主备倒换</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20"/>
            <p:cNvSpPr txBox="1"/>
            <p:nvPr/>
          </p:nvSpPr>
          <p:spPr bwMode="gray">
            <a:xfrm>
              <a:off x="6128270" y="3160333"/>
              <a:ext cx="154722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设备主备倒换完成</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20"/>
            <p:cNvSpPr txBox="1"/>
            <p:nvPr/>
          </p:nvSpPr>
          <p:spPr bwMode="gray">
            <a:xfrm>
              <a:off x="6306354" y="3545714"/>
              <a:ext cx="1369145" cy="461665"/>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备板正常</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Enter GR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120"/>
            <p:cNvSpPr txBox="1"/>
            <p:nvPr/>
          </p:nvSpPr>
          <p:spPr bwMode="gray">
            <a:xfrm>
              <a:off x="10117997" y="3896847"/>
              <a:ext cx="1517812" cy="646331"/>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对于继续收到的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Grace LSA</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，仅更新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周期</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p:cNvSpPr txBox="1"/>
            <p:nvPr/>
          </p:nvSpPr>
          <p:spPr bwMode="gray">
            <a:xfrm>
              <a:off x="6306354" y="4732153"/>
              <a:ext cx="1369145"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邻接关系：</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Full</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p:cNvSpPr txBox="1"/>
            <p:nvPr/>
          </p:nvSpPr>
          <p:spPr bwMode="gray">
            <a:xfrm>
              <a:off x="6306354" y="5193316"/>
              <a:ext cx="1369145" cy="461665"/>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正常退出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，计算路由，生成</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p:cNvSpPr txBox="1"/>
            <p:nvPr/>
          </p:nvSpPr>
          <p:spPr bwMode="gray">
            <a:xfrm>
              <a:off x="10117997" y="5173596"/>
              <a:ext cx="1517812" cy="461665"/>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正常退出</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Helper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，生成</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Router-LSA</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p:cNvSpPr txBox="1"/>
            <p:nvPr/>
          </p:nvSpPr>
          <p:spPr bwMode="gray">
            <a:xfrm>
              <a:off x="10117997" y="2529720"/>
              <a:ext cx="1517812" cy="276999"/>
            </a:xfrm>
            <a:prstGeom prst="rect">
              <a:avLst/>
            </a:prstGeom>
            <a:noFill/>
            <a:ln>
              <a:noFill/>
            </a:ln>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Enter Helper</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p:cNvSpPr txBox="1"/>
            <p:nvPr/>
          </p:nvSpPr>
          <p:spPr bwMode="gray">
            <a:xfrm>
              <a:off x="10117997" y="4601508"/>
              <a:ext cx="1517812" cy="461665"/>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协助</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完成</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同步</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 name="圆角矩形 75"/>
          <p:cNvSpPr/>
          <p:nvPr/>
        </p:nvSpPr>
        <p:spPr bwMode="gray">
          <a:xfrm>
            <a:off x="6473904" y="1128075"/>
            <a:ext cx="5009458"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中的概念</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75"/>
          <p:cNvSpPr/>
          <p:nvPr/>
        </p:nvSpPr>
        <p:spPr bwMode="gray">
          <a:xfrm>
            <a:off x="6473904" y="1504379"/>
            <a:ext cx="5009458" cy="467897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重启路由器，指由管理员或故障触发而协议重启的设备，它需要具备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能力。可以通过配置支持完全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或者部分</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Helper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：协助重启路由器，即</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的邻居，能协助重启的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保持路由关系的稳定，它也需要具备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能力。可以通过配置支持有计划</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、非计划</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或者通过策略有选择支持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Session</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会话，是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Helper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之间的能力协商过程，包括协议重启通告，协议重启过程中的信息交互等。通过该会话，</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Helper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可以掌握彼此的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能力。</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的持续时间：</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持续时间最长不超过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1800</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成功或失败都可以提前退出，不必等到超时才退出。</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五边形 45"/>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燕尾形 47"/>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燕尾形 49"/>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燕尾形 50"/>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OSPF GR</a:t>
            </a:r>
            <a:r>
              <a:rPr lang="zh-CN" altLang="en-US" dirty="0"/>
              <a:t>的退出</a:t>
            </a:r>
            <a:endParaRPr lang="zh-CN" altLang="en-US" dirty="0"/>
          </a:p>
        </p:txBody>
      </p:sp>
      <p:sp>
        <p:nvSpPr>
          <p:cNvPr id="3" name="文本占位符 2"/>
          <p:cNvSpPr>
            <a:spLocks noGrp="1"/>
          </p:cNvSpPr>
          <p:nvPr>
            <p:ph type="body" sz="quarter" idx="10"/>
          </p:nvPr>
        </p:nvSpPr>
        <p:spPr>
          <a:xfrm>
            <a:off x="455612" y="1047751"/>
            <a:ext cx="11293475" cy="807176"/>
          </a:xfrm>
        </p:spPr>
        <p:txBody>
          <a:bodyPr/>
          <a:lstStyle/>
          <a:p>
            <a:r>
              <a:rPr lang="en-US" altLang="zh-CN" sz="1800" dirty="0"/>
              <a:t>GR</a:t>
            </a:r>
            <a:r>
              <a:rPr lang="zh-CN" altLang="en-US" sz="1800" dirty="0"/>
              <a:t>退出的原因：</a:t>
            </a:r>
            <a:endParaRPr lang="zh-CN" altLang="en-US" sz="1800" dirty="0"/>
          </a:p>
        </p:txBody>
      </p:sp>
      <p:graphicFrame>
        <p:nvGraphicFramePr>
          <p:cNvPr id="4" name="表格 3"/>
          <p:cNvGraphicFramePr>
            <a:graphicFrameLocks noGrp="1"/>
          </p:cNvGraphicFramePr>
          <p:nvPr/>
        </p:nvGraphicFramePr>
        <p:xfrm>
          <a:off x="777831" y="1955238"/>
          <a:ext cx="10621689" cy="3104146"/>
        </p:xfrm>
        <a:graphic>
          <a:graphicData uri="http://schemas.openxmlformats.org/drawingml/2006/table">
            <a:tbl>
              <a:tblPr/>
              <a:tblGrid>
                <a:gridCol w="1512523"/>
                <a:gridCol w="4554583"/>
                <a:gridCol w="4554583"/>
              </a:tblGrid>
              <a:tr h="319008">
                <a:tc>
                  <a:txBody>
                    <a:bodyPr/>
                    <a:lstStyle/>
                    <a:p>
                      <a:pPr algn="ctr"/>
                      <a:r>
                        <a:rPr lang="en-US" sz="1600" b="1" dirty="0">
                          <a:effectLst/>
                        </a:rPr>
                        <a:t>GR</a:t>
                      </a:r>
                      <a:r>
                        <a:rPr lang="zh-CN" altLang="en-US" sz="1600" b="1" dirty="0">
                          <a:effectLst/>
                        </a:rPr>
                        <a:t>执行情况</a:t>
                      </a:r>
                      <a:endParaRPr lang="zh-CN" altLang="en-US" sz="1600" b="1" dirty="0">
                        <a:effectLst/>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600" b="1" dirty="0">
                          <a:effectLst/>
                        </a:rPr>
                        <a:t>GR </a:t>
                      </a:r>
                      <a:r>
                        <a:rPr lang="en-US" sz="1600" b="1" dirty="0">
                          <a:effectLst/>
                        </a:rPr>
                        <a:t>Restarter</a:t>
                      </a:r>
                      <a:endParaRPr lang="en-US" sz="1600" b="1" dirty="0">
                        <a:effectLst/>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600" b="1" dirty="0">
                          <a:effectLst/>
                        </a:rPr>
                        <a:t>GR </a:t>
                      </a:r>
                      <a:r>
                        <a:rPr lang="en-US" sz="1600" b="1" dirty="0">
                          <a:effectLst/>
                        </a:rPr>
                        <a:t>Helper</a:t>
                      </a:r>
                      <a:endParaRPr lang="en-US" sz="1600" b="1" dirty="0">
                        <a:effectLst/>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555769">
                <a:tc>
                  <a:txBody>
                    <a:bodyPr/>
                    <a:lstStyle/>
                    <a:p>
                      <a:pPr algn="ctr"/>
                      <a:r>
                        <a:rPr lang="en-US" sz="1400" dirty="0">
                          <a:effectLst/>
                        </a:rPr>
                        <a:t>GR</a:t>
                      </a:r>
                      <a:r>
                        <a:rPr lang="zh-CN" altLang="en-US" sz="1400" dirty="0">
                          <a:effectLst/>
                        </a:rPr>
                        <a:t>成功</a:t>
                      </a:r>
                      <a:endParaRPr lang="zh-CN" altLang="en-US" sz="1400" dirty="0">
                        <a:effectLst/>
                      </a:endParaRPr>
                    </a:p>
                  </a:txBody>
                  <a:tcPr anchor="ctr">
                    <a:lnL w="28575" cap="flat" cmpd="sng" algn="ctr">
                      <a:solidFill>
                        <a:schemeClr val="tx1"/>
                      </a:solidFill>
                      <a:prstDash val="solid"/>
                      <a:round/>
                      <a:headEnd type="none" w="med" len="med"/>
                      <a:tailEnd type="none" w="med" len="med"/>
                    </a:lnL>
                  </a:tcPr>
                </a:tc>
                <a:tc>
                  <a:txBody>
                    <a:bodyPr/>
                    <a:lstStyle/>
                    <a:p>
                      <a:pPr marL="285750" indent="-285750" algn="l">
                        <a:buFont typeface="Arial" panose="020B0604020202020204" pitchFamily="34" charset="0"/>
                        <a:buChar char="•"/>
                      </a:pPr>
                      <a:r>
                        <a:rPr lang="en-US" altLang="zh-CN" sz="1400" dirty="0">
                          <a:effectLst/>
                        </a:rPr>
                        <a:t>Restarter</a:t>
                      </a:r>
                      <a:r>
                        <a:rPr lang="zh-CN" altLang="en-US" sz="1400" dirty="0">
                          <a:effectLst/>
                        </a:rPr>
                        <a:t>在</a:t>
                      </a:r>
                      <a:r>
                        <a:rPr lang="en-US" altLang="zh-CN" sz="1400" dirty="0">
                          <a:effectLst/>
                        </a:rPr>
                        <a:t>GR</a:t>
                      </a:r>
                      <a:r>
                        <a:rPr lang="zh-CN" altLang="en-US" sz="1400" dirty="0">
                          <a:effectLst/>
                        </a:rPr>
                        <a:t>超时前与主备倒换前的所有邻居都重新建立好邻居关系。</a:t>
                      </a:r>
                      <a:endParaRPr lang="zh-CN" altLang="en-US" sz="1400" dirty="0">
                        <a:effectLst/>
                      </a:endParaRPr>
                    </a:p>
                  </a:txBody>
                  <a:tcPr anchor="ctr"/>
                </a:tc>
                <a:tc>
                  <a:txBody>
                    <a:bodyPr/>
                    <a:lstStyle/>
                    <a:p>
                      <a:pPr marL="285750" indent="-285750" algn="l">
                        <a:buFont typeface="Arial" panose="020B0604020202020204" pitchFamily="34" charset="0"/>
                        <a:buChar char="•"/>
                      </a:pPr>
                      <a:r>
                        <a:rPr lang="zh-CN" altLang="en-US" sz="1400" dirty="0">
                          <a:effectLst/>
                        </a:rPr>
                        <a:t>收到</a:t>
                      </a:r>
                      <a:r>
                        <a:rPr lang="en-US" sz="1400" dirty="0">
                          <a:effectLst/>
                        </a:rPr>
                        <a:t>Restarter</a:t>
                      </a:r>
                      <a:r>
                        <a:rPr lang="zh-CN" altLang="en-US" sz="1400" dirty="0">
                          <a:effectLst/>
                        </a:rPr>
                        <a:t>发送的</a:t>
                      </a:r>
                      <a:r>
                        <a:rPr lang="en-US" sz="1400" dirty="0">
                          <a:effectLst/>
                        </a:rPr>
                        <a:t>Age</a:t>
                      </a:r>
                      <a:r>
                        <a:rPr lang="zh-CN" altLang="en-US" sz="1400" dirty="0">
                          <a:effectLst/>
                        </a:rPr>
                        <a:t>为</a:t>
                      </a:r>
                      <a:r>
                        <a:rPr lang="en-US" altLang="zh-CN" sz="1400" dirty="0">
                          <a:effectLst/>
                        </a:rPr>
                        <a:t>3600</a:t>
                      </a:r>
                      <a:r>
                        <a:rPr lang="zh-CN" altLang="en-US" sz="1400" dirty="0">
                          <a:effectLst/>
                        </a:rPr>
                        <a:t>秒的</a:t>
                      </a:r>
                      <a:r>
                        <a:rPr lang="en-US" sz="1400" dirty="0">
                          <a:effectLst/>
                        </a:rPr>
                        <a:t>Grace-LSA</a:t>
                      </a:r>
                      <a:r>
                        <a:rPr lang="zh-CN" altLang="en-US" sz="1400" dirty="0">
                          <a:effectLst/>
                        </a:rPr>
                        <a:t>时与</a:t>
                      </a:r>
                      <a:r>
                        <a:rPr lang="en-US" sz="1400" dirty="0">
                          <a:effectLst/>
                        </a:rPr>
                        <a:t>Restarter</a:t>
                      </a:r>
                      <a:r>
                        <a:rPr lang="zh-CN" altLang="en-US" sz="1400" dirty="0">
                          <a:effectLst/>
                        </a:rPr>
                        <a:t>的邻居关系为</a:t>
                      </a:r>
                      <a:r>
                        <a:rPr lang="en-US" sz="1400" dirty="0">
                          <a:effectLst/>
                        </a:rPr>
                        <a:t>Full</a:t>
                      </a:r>
                      <a:r>
                        <a:rPr lang="zh-CN" altLang="en-US" sz="1400" dirty="0">
                          <a:effectLst/>
                        </a:rPr>
                        <a:t>状态。</a:t>
                      </a:r>
                      <a:endParaRPr lang="zh-CN" altLang="en-US" sz="1400" dirty="0">
                        <a:effectLst/>
                      </a:endParaRPr>
                    </a:p>
                  </a:txBody>
                  <a:tcPr anchor="ctr">
                    <a:lnR w="28575" cap="flat" cmpd="sng" algn="ctr">
                      <a:solidFill>
                        <a:schemeClr val="tx1"/>
                      </a:solidFill>
                      <a:prstDash val="solid"/>
                      <a:round/>
                      <a:headEnd type="none" w="med" len="med"/>
                      <a:tailEnd type="none" w="med" len="med"/>
                    </a:lnR>
                  </a:tcPr>
                </a:tc>
              </a:tr>
              <a:tr h="2213097">
                <a:tc>
                  <a:txBody>
                    <a:bodyPr/>
                    <a:lstStyle/>
                    <a:p>
                      <a:pPr algn="ctr"/>
                      <a:r>
                        <a:rPr lang="en-US" sz="1400">
                          <a:effectLst/>
                        </a:rPr>
                        <a:t>GR</a:t>
                      </a:r>
                      <a:r>
                        <a:rPr lang="zh-CN" altLang="en-US" sz="1400">
                          <a:effectLst/>
                        </a:rPr>
                        <a:t>失败</a:t>
                      </a:r>
                      <a:endParaRPr lang="zh-CN" altLang="en-US" sz="1400">
                        <a:effectLst/>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en-US" sz="1400" dirty="0">
                          <a:effectLst/>
                        </a:rPr>
                        <a:t>GR</a:t>
                      </a:r>
                      <a:r>
                        <a:rPr lang="zh-CN" altLang="en-US" sz="1400" dirty="0">
                          <a:effectLst/>
                        </a:rPr>
                        <a:t>超时并且邻居关系尚未完全恢复。</a:t>
                      </a:r>
                      <a:endParaRPr lang="zh-CN" altLang="en-US" sz="1400" dirty="0">
                        <a:effectLst/>
                      </a:endParaRPr>
                    </a:p>
                    <a:p>
                      <a:pPr marL="285750" indent="-285750" algn="l">
                        <a:buFont typeface="Arial" panose="020B0604020202020204" pitchFamily="34" charset="0"/>
                        <a:buChar char="•"/>
                      </a:pPr>
                      <a:r>
                        <a:rPr lang="en-US" sz="1400" dirty="0">
                          <a:effectLst/>
                        </a:rPr>
                        <a:t>Helper</a:t>
                      </a:r>
                      <a:r>
                        <a:rPr lang="zh-CN" altLang="en-US" sz="1400" dirty="0">
                          <a:effectLst/>
                        </a:rPr>
                        <a:t>发送的</a:t>
                      </a:r>
                      <a:r>
                        <a:rPr lang="en-US" sz="1400" dirty="0">
                          <a:effectLst/>
                        </a:rPr>
                        <a:t>Router-LSA</a:t>
                      </a:r>
                      <a:r>
                        <a:rPr lang="zh-CN" altLang="en-US" sz="1400" dirty="0">
                          <a:effectLst/>
                        </a:rPr>
                        <a:t>或</a:t>
                      </a:r>
                      <a:r>
                        <a:rPr lang="en-US" sz="1400" dirty="0">
                          <a:effectLst/>
                        </a:rPr>
                        <a:t>Network-LSA</a:t>
                      </a:r>
                      <a:r>
                        <a:rPr lang="zh-CN" altLang="en-US" sz="1400" dirty="0">
                          <a:effectLst/>
                        </a:rPr>
                        <a:t>导致</a:t>
                      </a:r>
                      <a:r>
                        <a:rPr lang="en-US" sz="1400" dirty="0">
                          <a:effectLst/>
                        </a:rPr>
                        <a:t>Restarter</a:t>
                      </a:r>
                      <a:r>
                        <a:rPr lang="zh-CN" altLang="en-US" sz="1400" dirty="0">
                          <a:effectLst/>
                        </a:rPr>
                        <a:t>端</a:t>
                      </a:r>
                      <a:r>
                        <a:rPr lang="zh-CN" altLang="en-US" sz="1400" dirty="0">
                          <a:solidFill>
                            <a:schemeClr val="tx1"/>
                          </a:solidFill>
                          <a:effectLst/>
                        </a:rPr>
                        <a:t>进行双向检查时失败。</a:t>
                      </a:r>
                      <a:endParaRPr lang="zh-CN" altLang="en-US" sz="1400" dirty="0">
                        <a:solidFill>
                          <a:schemeClr val="tx1"/>
                        </a:solidFill>
                        <a:effectLst/>
                      </a:endParaRPr>
                    </a:p>
                    <a:p>
                      <a:pPr marL="285750" indent="-285750" algn="l">
                        <a:buFont typeface="Arial" panose="020B0604020202020204" pitchFamily="34" charset="0"/>
                        <a:buChar char="•"/>
                      </a:pPr>
                      <a:r>
                        <a:rPr lang="en-US" sz="1400" dirty="0">
                          <a:effectLst/>
                        </a:rPr>
                        <a:t>Restarter</a:t>
                      </a:r>
                      <a:r>
                        <a:rPr lang="zh-CN" altLang="en-US" sz="1400" dirty="0">
                          <a:effectLst/>
                        </a:rPr>
                        <a:t>接口状态变化。</a:t>
                      </a:r>
                      <a:endParaRPr lang="zh-CN" altLang="en-US" sz="1400" dirty="0">
                        <a:effectLst/>
                      </a:endParaRPr>
                    </a:p>
                    <a:p>
                      <a:pPr marL="285750" indent="-285750" algn="l">
                        <a:buFont typeface="Arial" panose="020B0604020202020204" pitchFamily="34" charset="0"/>
                        <a:buChar char="•"/>
                      </a:pPr>
                      <a:r>
                        <a:rPr lang="en-US" sz="1400" dirty="0" err="1">
                          <a:effectLst/>
                        </a:rPr>
                        <a:t>Restarter</a:t>
                      </a:r>
                      <a:r>
                        <a:rPr lang="zh-CN" altLang="en-US" sz="1400" dirty="0">
                          <a:effectLst/>
                        </a:rPr>
                        <a:t>收到同一网段上另一台路由器产生的</a:t>
                      </a:r>
                      <a:r>
                        <a:rPr lang="en-US" sz="1400" dirty="0">
                          <a:effectLst/>
                        </a:rPr>
                        <a:t>Grace-LSA。</a:t>
                      </a:r>
                      <a:r>
                        <a:rPr lang="zh-CN" altLang="en-US" sz="1400" dirty="0">
                          <a:effectLst/>
                        </a:rPr>
                        <a:t>同一网段同一时间只能有一台路由器做</a:t>
                      </a:r>
                      <a:r>
                        <a:rPr lang="en-US" sz="1400" dirty="0">
                          <a:effectLst/>
                        </a:rPr>
                        <a:t>GR。</a:t>
                      </a:r>
                      <a:endParaRPr lang="en-US" sz="1400" dirty="0">
                        <a:effectLst/>
                      </a:endParaRPr>
                    </a:p>
                    <a:p>
                      <a:pPr marL="285750" indent="-285750" algn="l">
                        <a:buFont typeface="Arial" panose="020B0604020202020204" pitchFamily="34" charset="0"/>
                        <a:buChar char="•"/>
                      </a:pPr>
                      <a:r>
                        <a:rPr lang="en-US" sz="1400" dirty="0">
                          <a:effectLst/>
                        </a:rPr>
                        <a:t>Restarter</a:t>
                      </a:r>
                      <a:r>
                        <a:rPr lang="zh-CN" altLang="en-US" sz="1400" dirty="0">
                          <a:effectLst/>
                        </a:rPr>
                        <a:t>同一个网段的邻居之间存在</a:t>
                      </a:r>
                      <a:r>
                        <a:rPr lang="en-US" sz="1400" dirty="0">
                          <a:effectLst/>
                        </a:rPr>
                        <a:t>DR/BDR</a:t>
                      </a:r>
                      <a:r>
                        <a:rPr lang="zh-CN" altLang="en-US" sz="1400" dirty="0">
                          <a:effectLst/>
                        </a:rPr>
                        <a:t>不一致的情况（即拓扑变化）。</a:t>
                      </a:r>
                      <a:endParaRPr lang="zh-CN" altLang="en-US" sz="1400" dirty="0">
                        <a:effectLst/>
                      </a:endParaRPr>
                    </a:p>
                  </a:txBody>
                  <a:tcPr anchor="ctr">
                    <a:lnB w="28575" cap="flat" cmpd="sng" algn="ctr">
                      <a:solidFill>
                        <a:schemeClr val="tx1"/>
                      </a:solidFill>
                      <a:prstDash val="solid"/>
                      <a:round/>
                      <a:headEnd type="none" w="med" len="med"/>
                      <a:tailEnd type="none" w="med" len="med"/>
                    </a:lnB>
                  </a:tcPr>
                </a:tc>
                <a:tc>
                  <a:txBody>
                    <a:bodyPr/>
                    <a:lstStyle/>
                    <a:p>
                      <a:pPr marL="285750" indent="-285750" algn="l">
                        <a:buFont typeface="Arial" panose="020B0604020202020204" pitchFamily="34" charset="0"/>
                        <a:buChar char="•"/>
                      </a:pPr>
                      <a:r>
                        <a:rPr lang="zh-CN" altLang="en-US" sz="1400" dirty="0">
                          <a:effectLst/>
                        </a:rPr>
                        <a:t>在邻居关系超时前没有收到</a:t>
                      </a:r>
                      <a:r>
                        <a:rPr lang="en-US" altLang="zh-CN" sz="1400" dirty="0">
                          <a:effectLst/>
                        </a:rPr>
                        <a:t>Restarter</a:t>
                      </a:r>
                      <a:r>
                        <a:rPr lang="zh-CN" altLang="en-US" sz="1400" dirty="0">
                          <a:effectLst/>
                        </a:rPr>
                        <a:t>发送的</a:t>
                      </a:r>
                      <a:r>
                        <a:rPr lang="en-US" altLang="zh-CN" sz="1400" dirty="0">
                          <a:effectLst/>
                        </a:rPr>
                        <a:t>Grace-LSA</a:t>
                      </a:r>
                      <a:r>
                        <a:rPr lang="zh-CN" altLang="en-US" sz="1400" dirty="0">
                          <a:effectLst/>
                        </a:rPr>
                        <a:t>。</a:t>
                      </a:r>
                      <a:endParaRPr lang="zh-CN" altLang="en-US" sz="1400" dirty="0">
                        <a:effectLst/>
                      </a:endParaRPr>
                    </a:p>
                    <a:p>
                      <a:pPr marL="285750" indent="-285750" algn="l">
                        <a:buFont typeface="Arial" panose="020B0604020202020204" pitchFamily="34" charset="0"/>
                        <a:buChar char="•"/>
                      </a:pPr>
                      <a:r>
                        <a:rPr lang="en-US" altLang="zh-CN" sz="1400" dirty="0">
                          <a:effectLst/>
                        </a:rPr>
                        <a:t>Helper</a:t>
                      </a:r>
                      <a:r>
                        <a:rPr lang="zh-CN" altLang="en-US" sz="1400" dirty="0">
                          <a:effectLst/>
                        </a:rPr>
                        <a:t>接口状态发生变化。</a:t>
                      </a:r>
                      <a:endParaRPr lang="zh-CN" altLang="en-US" sz="1400" dirty="0">
                        <a:effectLst/>
                      </a:endParaRPr>
                    </a:p>
                    <a:p>
                      <a:pPr marL="285750" indent="-285750" algn="l">
                        <a:buFont typeface="Arial" panose="020B0604020202020204" pitchFamily="34" charset="0"/>
                        <a:buChar char="•"/>
                      </a:pPr>
                      <a:r>
                        <a:rPr lang="zh-CN" altLang="en-US" sz="1400" dirty="0">
                          <a:effectLst/>
                        </a:rPr>
                        <a:t>收到其它路由器发送的与</a:t>
                      </a:r>
                      <a:r>
                        <a:rPr lang="en-US" altLang="zh-CN" sz="1400" dirty="0">
                          <a:effectLst/>
                        </a:rPr>
                        <a:t>Helper</a:t>
                      </a:r>
                      <a:r>
                        <a:rPr lang="zh-CN" altLang="en-US" sz="1400" dirty="0">
                          <a:effectLst/>
                        </a:rPr>
                        <a:t>本地数据库不一致的</a:t>
                      </a:r>
                      <a:r>
                        <a:rPr lang="en-US" altLang="zh-CN" sz="1400" dirty="0">
                          <a:effectLst/>
                        </a:rPr>
                        <a:t>LSA</a:t>
                      </a:r>
                      <a:r>
                        <a:rPr lang="zh-CN" altLang="en-US" sz="1400" dirty="0">
                          <a:effectLst/>
                        </a:rPr>
                        <a:t>。（可以通过配置不进行严格</a:t>
                      </a:r>
                      <a:r>
                        <a:rPr lang="en-US" altLang="zh-CN" sz="1400" dirty="0">
                          <a:effectLst/>
                        </a:rPr>
                        <a:t>LSA</a:t>
                      </a:r>
                      <a:r>
                        <a:rPr lang="zh-CN" altLang="en-US" sz="1400" dirty="0">
                          <a:effectLst/>
                        </a:rPr>
                        <a:t>检查排除这种情况。）</a:t>
                      </a:r>
                      <a:endParaRPr lang="zh-CN" altLang="en-US" sz="1400" dirty="0">
                        <a:effectLst/>
                      </a:endParaRPr>
                    </a:p>
                    <a:p>
                      <a:pPr marL="285750" indent="-285750" algn="l">
                        <a:buFont typeface="Arial" panose="020B0604020202020204" pitchFamily="34" charset="0"/>
                        <a:buChar char="•"/>
                      </a:pPr>
                      <a:r>
                        <a:rPr lang="zh-CN" altLang="en-US" sz="1400" dirty="0">
                          <a:effectLst/>
                        </a:rPr>
                        <a:t>同一网段上同一时间收到两台路由器发送的</a:t>
                      </a:r>
                      <a:r>
                        <a:rPr lang="en-US" altLang="zh-CN" sz="1400" dirty="0">
                          <a:effectLst/>
                        </a:rPr>
                        <a:t>Grace-LSA</a:t>
                      </a:r>
                      <a:r>
                        <a:rPr lang="zh-CN" altLang="en-US" sz="1400" dirty="0">
                          <a:effectLst/>
                        </a:rPr>
                        <a:t>。</a:t>
                      </a:r>
                      <a:endParaRPr lang="zh-CN" altLang="en-US" sz="1400" dirty="0">
                        <a:effectLst/>
                      </a:endParaRPr>
                    </a:p>
                    <a:p>
                      <a:pPr marL="285750" indent="-285750" algn="l">
                        <a:buFont typeface="Arial" panose="020B0604020202020204" pitchFamily="34" charset="0"/>
                        <a:buChar char="•"/>
                      </a:pPr>
                      <a:r>
                        <a:rPr lang="zh-CN" altLang="en-US" sz="1400" dirty="0">
                          <a:effectLst/>
                        </a:rPr>
                        <a:t>与其它路由器邻居关系变化。</a:t>
                      </a:r>
                      <a:endParaRPr lang="zh-CN" altLang="en-US" sz="1400" dirty="0">
                        <a:effectLst/>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5" name="五边形 4"/>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燕尾形 5"/>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6"/>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a:t>
            </a:r>
            <a:r>
              <a:rPr lang="en-US" altLang="zh-CN" dirty="0"/>
              <a:t>OSPF GR (1)</a:t>
            </a:r>
            <a:endParaRPr lang="zh-CN" altLang="en-US" dirty="0"/>
          </a:p>
        </p:txBody>
      </p:sp>
      <p:sp>
        <p:nvSpPr>
          <p:cNvPr id="4" name="矩形 3"/>
          <p:cNvSpPr/>
          <p:nvPr/>
        </p:nvSpPr>
        <p:spPr>
          <a:xfrm>
            <a:off x="1031917" y="16049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opaque-capability enable</a:t>
            </a:r>
            <a:endParaRPr lang="zh-CN" altLang="en-US" sz="1600" dirty="0">
              <a:cs typeface="Courier New" panose="02070309020205020404" pitchFamily="49" charset="0"/>
            </a:endParaRPr>
          </a:p>
        </p:txBody>
      </p:sp>
      <p:sp>
        <p:nvSpPr>
          <p:cNvPr id="5" name="矩形 4"/>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使能</a:t>
            </a:r>
            <a:r>
              <a:rPr lang="en-US" altLang="zh-CN" sz="1600" dirty="0">
                <a:cs typeface="Courier New" panose="02070309020205020404" pitchFamily="49" charset="0"/>
              </a:rPr>
              <a:t>opaque-LSA</a:t>
            </a:r>
            <a:r>
              <a:rPr lang="zh-CN" altLang="en-US" sz="1600" dirty="0">
                <a:cs typeface="Courier New" panose="02070309020205020404" pitchFamily="49" charset="0"/>
              </a:rPr>
              <a:t>特性。</a:t>
            </a:r>
            <a:endParaRPr lang="zh-CN" altLang="en-US" sz="1600" dirty="0">
              <a:cs typeface="Courier New" panose="02070309020205020404" pitchFamily="49" charset="0"/>
            </a:endParaRPr>
          </a:p>
        </p:txBody>
      </p:sp>
      <p:sp>
        <p:nvSpPr>
          <p:cNvPr id="6" name="矩形 5"/>
          <p:cNvSpPr/>
          <p:nvPr/>
        </p:nvSpPr>
        <p:spPr>
          <a:xfrm>
            <a:off x="1031917" y="1952918"/>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opaque-</a:t>
            </a:r>
            <a:r>
              <a:rPr lang="en-US" altLang="zh-CN" sz="1600"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能力，从而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进程可以生成</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Opaque LSA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，并能从邻居设备接收</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Opaque LSA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a:t>因为</a:t>
            </a:r>
            <a:r>
              <a:rPr lang="en-US" altLang="zh-CN" sz="1600" dirty="0"/>
              <a:t>OSPF</a:t>
            </a:r>
            <a:r>
              <a:rPr lang="zh-CN" altLang="en-US" sz="1600" dirty="0"/>
              <a:t>中通过</a:t>
            </a:r>
            <a:r>
              <a:rPr lang="en-US" altLang="zh-CN" sz="1600" dirty="0"/>
              <a:t>Type9 LSA</a:t>
            </a:r>
            <a:r>
              <a:rPr lang="zh-CN" altLang="en-US" sz="1600" dirty="0"/>
              <a:t>对</a:t>
            </a:r>
            <a:r>
              <a:rPr lang="en-US" altLang="zh-CN" sz="1600" dirty="0"/>
              <a:t>OSPF GR</a:t>
            </a:r>
            <a:r>
              <a:rPr lang="zh-CN" altLang="en-US" sz="1600" dirty="0"/>
              <a:t>支持，所以需要先使能</a:t>
            </a:r>
            <a:r>
              <a:rPr lang="en-US" altLang="zh-CN" sz="1600" dirty="0"/>
              <a:t>OSPF</a:t>
            </a:r>
            <a:r>
              <a:rPr lang="zh-CN" altLang="en-US" sz="1600" dirty="0"/>
              <a:t>的</a:t>
            </a:r>
            <a:r>
              <a:rPr lang="en-US" altLang="zh-CN" sz="1600" dirty="0" err="1"/>
              <a:t>opauqe</a:t>
            </a:r>
            <a:r>
              <a:rPr lang="en-US" altLang="zh-CN" sz="1600" dirty="0"/>
              <a:t>-LSA</a:t>
            </a:r>
            <a:r>
              <a:rPr lang="zh-CN" altLang="en-US" sz="1600" dirty="0"/>
              <a:t>特性。</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1031917" y="3304318"/>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graceful-restart</a:t>
            </a:r>
            <a:r>
              <a:rPr lang="en-US" altLang="zh-CN" sz="1600" dirty="0"/>
              <a:t> [ </a:t>
            </a:r>
            <a:r>
              <a:rPr lang="en-US" altLang="zh-CN" sz="1600" b="1" dirty="0"/>
              <a:t>period</a:t>
            </a:r>
            <a:r>
              <a:rPr lang="en-US" altLang="zh-CN" sz="1600" dirty="0"/>
              <a:t> </a:t>
            </a:r>
            <a:r>
              <a:rPr lang="en-US" altLang="zh-CN" sz="1600" i="1" dirty="0" err="1"/>
              <a:t>period</a:t>
            </a:r>
            <a:r>
              <a:rPr lang="en-US" altLang="zh-CN" sz="1600" dirty="0"/>
              <a:t> | </a:t>
            </a:r>
            <a:r>
              <a:rPr lang="en-US" altLang="zh-CN" sz="1600" b="1" dirty="0"/>
              <a:t>planned-only</a:t>
            </a:r>
            <a:r>
              <a:rPr lang="en-US" altLang="zh-CN" sz="1600" dirty="0"/>
              <a:t> | </a:t>
            </a:r>
            <a:r>
              <a:rPr lang="en-US" altLang="zh-CN" sz="1600" b="1" dirty="0"/>
              <a:t>partial</a:t>
            </a:r>
            <a:r>
              <a:rPr lang="en-US" altLang="zh-CN" sz="1600" dirty="0"/>
              <a:t> ] </a:t>
            </a:r>
            <a:endParaRPr lang="zh-CN" altLang="en-US" sz="1600" i="1" dirty="0">
              <a:cs typeface="Courier New" panose="02070309020205020404" pitchFamily="49" charset="0"/>
            </a:endParaRPr>
          </a:p>
        </p:txBody>
      </p:sp>
      <p:sp>
        <p:nvSpPr>
          <p:cNvPr id="8" name="矩形 7"/>
          <p:cNvSpPr/>
          <p:nvPr/>
        </p:nvSpPr>
        <p:spPr>
          <a:xfrm>
            <a:off x="551384" y="2872171"/>
            <a:ext cx="11089232" cy="338554"/>
          </a:xfrm>
          <a:prstGeom prst="rect">
            <a:avLst/>
          </a:prstGeom>
        </p:spPr>
        <p:txBody>
          <a:bodyPr wrap="square">
            <a:spAutoFit/>
          </a:bodyPr>
          <a:lstStyle/>
          <a:p>
            <a:pPr marL="342900" indent="-342900" fontAlgn="auto">
              <a:buFont typeface="+mj-lt"/>
              <a:buAutoNum type="arabicPeriod" startAt="2"/>
            </a:pPr>
            <a:r>
              <a:rPr lang="en-US" altLang="zh-CN" sz="1600" dirty="0"/>
              <a:t>Restarter</a:t>
            </a:r>
            <a:r>
              <a:rPr lang="zh-CN" altLang="en-US" sz="1600" dirty="0"/>
              <a:t>端</a:t>
            </a:r>
            <a:r>
              <a:rPr lang="zh-CN" altLang="en-US" sz="1600" dirty="0">
                <a:cs typeface="Courier New" panose="02070309020205020404" pitchFamily="49" charset="0"/>
              </a:rPr>
              <a:t>使能</a:t>
            </a:r>
            <a:r>
              <a:rPr lang="en-US" altLang="zh-CN" sz="1600" dirty="0">
                <a:cs typeface="Courier New" panose="02070309020205020404" pitchFamily="49" charset="0"/>
              </a:rPr>
              <a:t>OSPF GR</a:t>
            </a:r>
            <a:r>
              <a:rPr lang="zh-CN" altLang="en-US" sz="1600" dirty="0">
                <a:cs typeface="Courier New" panose="02070309020205020404" pitchFamily="49" charset="0"/>
              </a:rPr>
              <a:t>特性，并</a:t>
            </a:r>
            <a:r>
              <a:rPr lang="zh-CN" altLang="en-US" sz="1600" dirty="0"/>
              <a:t>配置</a:t>
            </a:r>
            <a:r>
              <a:rPr lang="en-US" altLang="zh-CN" sz="1600" dirty="0"/>
              <a:t>Restarter</a:t>
            </a:r>
            <a:r>
              <a:rPr lang="zh-CN" altLang="en-US" sz="1600" dirty="0"/>
              <a:t>端</a:t>
            </a:r>
            <a:r>
              <a:rPr lang="en-US" altLang="zh-CN" sz="1600" dirty="0"/>
              <a:t>GR</a:t>
            </a:r>
            <a:r>
              <a:rPr lang="zh-CN" altLang="en-US" sz="1600" dirty="0"/>
              <a:t>的会话参数</a:t>
            </a:r>
            <a:r>
              <a:rPr lang="zh-CN" altLang="en-US" sz="1600" dirty="0">
                <a:cs typeface="Courier New" panose="02070309020205020404" pitchFamily="49" charset="0"/>
              </a:rPr>
              <a:t>。</a:t>
            </a:r>
            <a:endParaRPr lang="zh-CN" altLang="en-US" sz="1600" dirty="0">
              <a:cs typeface="Courier New" panose="02070309020205020404" pitchFamily="49" charset="0"/>
            </a:endParaRPr>
          </a:p>
        </p:txBody>
      </p:sp>
      <p:sp>
        <p:nvSpPr>
          <p:cNvPr id="9" name="矩形 8"/>
          <p:cNvSpPr/>
          <p:nvPr/>
        </p:nvSpPr>
        <p:spPr>
          <a:xfrm>
            <a:off x="1031917" y="3653986"/>
            <a:ext cx="10608699" cy="1015663"/>
          </a:xfrm>
          <a:prstGeom prst="rect">
            <a:avLst/>
          </a:prstGeom>
        </p:spPr>
        <p:txBody>
          <a:bodyPr wrap="square">
            <a:spAutoFit/>
          </a:bodyPr>
          <a:lstStyle/>
          <a:p>
            <a:pPr fontAlgn="auto">
              <a:lnSpc>
                <a:spcPts val="2400"/>
              </a:lnSpc>
            </a:pPr>
            <a:r>
              <a:rPr lang="en-US" altLang="zh-CN" sz="1600" b="1" dirty="0"/>
              <a:t>period</a:t>
            </a:r>
            <a:r>
              <a:rPr lang="en-US" altLang="zh-CN" sz="1600" dirty="0"/>
              <a:t> </a:t>
            </a:r>
            <a:r>
              <a:rPr lang="en-US" altLang="zh-CN" sz="1600" i="1" dirty="0" err="1"/>
              <a:t>period</a:t>
            </a:r>
            <a:r>
              <a:rPr lang="zh-CN" altLang="en-US" sz="1600" dirty="0"/>
              <a:t>：指定平滑重启的周期。整数形式，取值范围是</a:t>
            </a:r>
            <a:r>
              <a:rPr lang="en-US" altLang="zh-CN" sz="1600" dirty="0"/>
              <a:t>1</a:t>
            </a:r>
            <a:r>
              <a:rPr lang="zh-CN" altLang="en-US" sz="1600" dirty="0"/>
              <a:t>～</a:t>
            </a:r>
            <a:r>
              <a:rPr lang="en-US" altLang="zh-CN" sz="1600" dirty="0"/>
              <a:t>1800</a:t>
            </a:r>
            <a:r>
              <a:rPr lang="zh-CN" altLang="en-US" sz="1600" dirty="0"/>
              <a:t>，单位是秒。缺省值是</a:t>
            </a:r>
            <a:r>
              <a:rPr lang="en-US" altLang="zh-CN" sz="1600" dirty="0"/>
              <a:t>120</a:t>
            </a:r>
            <a:r>
              <a:rPr lang="zh-CN" altLang="en-US" sz="1600" dirty="0"/>
              <a:t>秒。</a:t>
            </a:r>
            <a:endParaRPr lang="en-US" altLang="zh-CN" sz="1600" dirty="0"/>
          </a:p>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planned-only</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：指定路由器仅支持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Planned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。缺省情况下，路由器支持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Planned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Unplanned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partial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：指定路由器支持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Partial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。缺省情况下，路由器支持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Totally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五边形 9"/>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a:t>
            </a:r>
            <a:r>
              <a:rPr lang="en-US" altLang="zh-CN" dirty="0"/>
              <a:t>OSPF GR (2)</a:t>
            </a:r>
            <a:endParaRPr lang="zh-CN" altLang="en-US" dirty="0"/>
          </a:p>
        </p:txBody>
      </p:sp>
      <p:sp>
        <p:nvSpPr>
          <p:cNvPr id="3" name="矩形 2"/>
          <p:cNvSpPr/>
          <p:nvPr/>
        </p:nvSpPr>
        <p:spPr>
          <a:xfrm>
            <a:off x="1031917" y="1604954"/>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[Huawei-ospf-1] </a:t>
            </a:r>
            <a:r>
              <a:rPr lang="en-US" altLang="zh-CN" sz="1600" b="1" dirty="0"/>
              <a:t>graceful-restart</a:t>
            </a:r>
            <a:r>
              <a:rPr lang="en-US" altLang="zh-CN" sz="1600" dirty="0"/>
              <a:t> [ </a:t>
            </a:r>
            <a:r>
              <a:rPr lang="en-US" altLang="zh-CN" sz="1600" b="1" dirty="0"/>
              <a:t>period</a:t>
            </a:r>
            <a:r>
              <a:rPr lang="en-US" altLang="zh-CN" sz="1600" dirty="0"/>
              <a:t> </a:t>
            </a:r>
            <a:r>
              <a:rPr lang="en-US" altLang="zh-CN" sz="1600" i="1" dirty="0" err="1"/>
              <a:t>period</a:t>
            </a:r>
            <a:r>
              <a:rPr lang="en-US" altLang="zh-CN" sz="1600" dirty="0"/>
              <a:t> | </a:t>
            </a:r>
            <a:r>
              <a:rPr lang="en-US" altLang="zh-CN" sz="1600" b="1" dirty="0"/>
              <a:t>partial</a:t>
            </a:r>
            <a:r>
              <a:rPr lang="en-US" altLang="zh-CN" sz="1600" dirty="0"/>
              <a:t> | </a:t>
            </a:r>
            <a:r>
              <a:rPr lang="en-US" altLang="zh-CN" sz="1600" b="1" dirty="0"/>
              <a:t>planned-only</a:t>
            </a:r>
            <a:r>
              <a:rPr lang="en-US" altLang="zh-CN" sz="1600" dirty="0"/>
              <a:t> ] </a:t>
            </a:r>
            <a:r>
              <a:rPr lang="en-US" altLang="zh-CN" sz="1600" baseline="30000" dirty="0"/>
              <a:t>*</a:t>
            </a:r>
            <a:r>
              <a:rPr lang="en-US" altLang="zh-CN" sz="1600" dirty="0"/>
              <a:t> </a:t>
            </a:r>
            <a:r>
              <a:rPr lang="en-US" altLang="zh-CN" sz="1600" b="1" dirty="0"/>
              <a:t>helper-role</a:t>
            </a:r>
            <a:r>
              <a:rPr lang="en-US" altLang="zh-CN" sz="1600" dirty="0"/>
              <a:t> { { [ </a:t>
            </a:r>
            <a:r>
              <a:rPr lang="en-US" altLang="zh-CN" sz="1600" b="1" dirty="0" err="1"/>
              <a:t>ip</a:t>
            </a:r>
            <a:r>
              <a:rPr lang="en-US" altLang="zh-CN" sz="1600" b="1" dirty="0"/>
              <a:t>-prefix </a:t>
            </a:r>
            <a:r>
              <a:rPr lang="en-US" altLang="zh-CN" sz="1600" i="1" dirty="0" err="1"/>
              <a:t>ip</a:t>
            </a:r>
            <a:r>
              <a:rPr lang="en-US" altLang="zh-CN" sz="1600" i="1" dirty="0"/>
              <a:t>-prefix-name</a:t>
            </a:r>
            <a:r>
              <a:rPr lang="en-US" altLang="zh-CN" sz="1600" dirty="0"/>
              <a:t> | </a:t>
            </a:r>
            <a:r>
              <a:rPr lang="en-US" altLang="zh-CN" sz="1600" b="1" dirty="0" err="1"/>
              <a:t>acl</a:t>
            </a:r>
            <a:r>
              <a:rPr lang="en-US" altLang="zh-CN" sz="1600" b="1" dirty="0"/>
              <a:t>-number</a:t>
            </a:r>
            <a:r>
              <a:rPr lang="en-US" altLang="zh-CN" sz="1600" dirty="0"/>
              <a:t> </a:t>
            </a:r>
            <a:r>
              <a:rPr lang="en-US" altLang="zh-CN" sz="1600" i="1" dirty="0" err="1"/>
              <a:t>acl</a:t>
            </a:r>
            <a:r>
              <a:rPr lang="en-US" altLang="zh-CN" sz="1600" i="1" dirty="0"/>
              <a:t>-number</a:t>
            </a:r>
            <a:r>
              <a:rPr lang="en-US" altLang="zh-CN" sz="1600" dirty="0"/>
              <a:t> | </a:t>
            </a:r>
            <a:r>
              <a:rPr lang="en-US" altLang="zh-CN" sz="1600" b="1" dirty="0" err="1"/>
              <a:t>acl</a:t>
            </a:r>
            <a:r>
              <a:rPr lang="en-US" altLang="zh-CN" sz="1600" b="1" dirty="0"/>
              <a:t>-name</a:t>
            </a:r>
            <a:r>
              <a:rPr lang="en-US" altLang="zh-CN" sz="1600" dirty="0"/>
              <a:t> </a:t>
            </a:r>
            <a:r>
              <a:rPr lang="en-US" altLang="zh-CN" sz="1600" i="1" dirty="0" err="1"/>
              <a:t>acl</a:t>
            </a:r>
            <a:r>
              <a:rPr lang="en-US" altLang="zh-CN" sz="1600" i="1" dirty="0"/>
              <a:t>-name</a:t>
            </a:r>
            <a:r>
              <a:rPr lang="en-US" altLang="zh-CN" sz="1600" dirty="0"/>
              <a:t> ] | </a:t>
            </a:r>
            <a:r>
              <a:rPr lang="en-US" altLang="zh-CN" sz="1600" b="1" dirty="0"/>
              <a:t>ignore-external-</a:t>
            </a:r>
            <a:r>
              <a:rPr lang="en-US" altLang="zh-CN" sz="1600" b="1" dirty="0" err="1"/>
              <a:t>lsa</a:t>
            </a:r>
            <a:r>
              <a:rPr lang="en-US" altLang="zh-CN" sz="1600" dirty="0"/>
              <a:t> | </a:t>
            </a:r>
            <a:r>
              <a:rPr lang="en-US" altLang="zh-CN" sz="1600" b="1" dirty="0"/>
              <a:t>planned-only</a:t>
            </a:r>
            <a:r>
              <a:rPr lang="en-US" altLang="zh-CN" sz="1600" dirty="0"/>
              <a:t> } </a:t>
            </a:r>
            <a:r>
              <a:rPr lang="en-US" altLang="zh-CN" sz="1600" baseline="30000" dirty="0"/>
              <a:t>*</a:t>
            </a:r>
            <a:r>
              <a:rPr lang="en-US" altLang="zh-CN" sz="1600" dirty="0"/>
              <a:t> | </a:t>
            </a:r>
            <a:r>
              <a:rPr lang="en-US" altLang="zh-CN" sz="1600" b="1" dirty="0"/>
              <a:t>never</a:t>
            </a:r>
            <a:r>
              <a:rPr lang="en-US" altLang="zh-CN" sz="1600" dirty="0"/>
              <a:t> }</a:t>
            </a:r>
            <a:endParaRPr lang="zh-CN" altLang="en-US" sz="1600" i="1" dirty="0">
              <a:cs typeface="Courier New" panose="02070309020205020404" pitchFamily="49" charset="0"/>
            </a:endParaRPr>
          </a:p>
        </p:txBody>
      </p:sp>
      <p:sp>
        <p:nvSpPr>
          <p:cNvPr id="4" name="矩形 3"/>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cs typeface="Courier New" panose="02070309020205020404" pitchFamily="49" charset="0"/>
              </a:rPr>
              <a:t>（可选）配置设备平滑重启</a:t>
            </a:r>
            <a:r>
              <a:rPr lang="en-US" altLang="zh-CN" sz="1600" dirty="0">
                <a:cs typeface="Courier New" panose="02070309020205020404" pitchFamily="49" charset="0"/>
              </a:rPr>
              <a:t>Helper</a:t>
            </a:r>
            <a:r>
              <a:rPr lang="zh-CN" altLang="en-US" sz="1600" dirty="0">
                <a:cs typeface="Courier New" panose="02070309020205020404" pitchFamily="49" charset="0"/>
              </a:rPr>
              <a:t>模式，并配置</a:t>
            </a:r>
            <a:r>
              <a:rPr lang="en-US" altLang="zh-CN" sz="1600" dirty="0">
                <a:cs typeface="Courier New" panose="02070309020205020404" pitchFamily="49" charset="0"/>
              </a:rPr>
              <a:t>Helper</a:t>
            </a:r>
            <a:r>
              <a:rPr lang="zh-CN" altLang="en-US" sz="1600" dirty="0">
                <a:cs typeface="Courier New" panose="02070309020205020404" pitchFamily="49" charset="0"/>
              </a:rPr>
              <a:t>端</a:t>
            </a:r>
            <a:r>
              <a:rPr lang="en-US" altLang="zh-CN" sz="1600" dirty="0">
                <a:cs typeface="Courier New" panose="02070309020205020404" pitchFamily="49" charset="0"/>
              </a:rPr>
              <a:t>GR</a:t>
            </a:r>
            <a:r>
              <a:rPr lang="zh-CN" altLang="en-US" sz="1600" dirty="0">
                <a:cs typeface="Courier New" panose="02070309020205020404" pitchFamily="49" charset="0"/>
              </a:rPr>
              <a:t>的会话参数。</a:t>
            </a:r>
            <a:endParaRPr lang="zh-CN" altLang="en-US" sz="1600" dirty="0">
              <a:cs typeface="Courier New" panose="02070309020205020404" pitchFamily="49" charset="0"/>
            </a:endParaRPr>
          </a:p>
        </p:txBody>
      </p:sp>
      <p:sp>
        <p:nvSpPr>
          <p:cNvPr id="5" name="矩形 4"/>
          <p:cNvSpPr/>
          <p:nvPr/>
        </p:nvSpPr>
        <p:spPr>
          <a:xfrm>
            <a:off x="1031917" y="2189729"/>
            <a:ext cx="10608699" cy="2862322"/>
          </a:xfrm>
          <a:prstGeom prst="rect">
            <a:avLst/>
          </a:prstGeom>
        </p:spPr>
        <p:txBody>
          <a:bodyPr wrap="square">
            <a:spAutoFit/>
          </a:bodyPr>
          <a:lstStyle/>
          <a:p>
            <a:pPr>
              <a:lnSpc>
                <a:spcPts val="2400"/>
              </a:lnSpc>
            </a:pPr>
            <a:r>
              <a:rPr lang="en-US" altLang="zh-CN" sz="1600" b="1" dirty="0"/>
              <a:t>period </a:t>
            </a:r>
            <a:r>
              <a:rPr lang="en-US" altLang="zh-CN" sz="1600" i="1" dirty="0" err="1"/>
              <a:t>period</a:t>
            </a:r>
            <a:r>
              <a:rPr lang="zh-CN" altLang="en-US" sz="1600" dirty="0"/>
              <a:t>：指定</a:t>
            </a:r>
            <a:r>
              <a:rPr lang="en-US" altLang="zh-CN" sz="1600" dirty="0"/>
              <a:t>GR</a:t>
            </a:r>
            <a:r>
              <a:rPr lang="zh-CN" altLang="en-US" sz="1600" dirty="0"/>
              <a:t>的周期。整数形式，取值范围是</a:t>
            </a:r>
            <a:r>
              <a:rPr lang="en-US" altLang="zh-CN" sz="1600" dirty="0"/>
              <a:t>1</a:t>
            </a:r>
            <a:r>
              <a:rPr lang="zh-CN" altLang="en-US" sz="1600" dirty="0"/>
              <a:t>～</a:t>
            </a:r>
            <a:r>
              <a:rPr lang="en-US" altLang="zh-CN" sz="1600" dirty="0"/>
              <a:t>1800</a:t>
            </a:r>
            <a:r>
              <a:rPr lang="zh-CN" altLang="en-US" sz="1600" dirty="0"/>
              <a:t>，单位是秒。缺省值是</a:t>
            </a:r>
            <a:r>
              <a:rPr lang="en-US" altLang="zh-CN" sz="1600" dirty="0"/>
              <a:t>120</a:t>
            </a:r>
            <a:r>
              <a:rPr lang="zh-CN" altLang="en-US" sz="1600" dirty="0"/>
              <a:t>秒。</a:t>
            </a:r>
            <a:endParaRPr lang="en-US" altLang="zh-CN" sz="1600" dirty="0"/>
          </a:p>
          <a:p>
            <a:pPr>
              <a:lnSpc>
                <a:spcPts val="2400"/>
              </a:lnSpc>
            </a:pPr>
            <a:r>
              <a:rPr lang="en-US" altLang="zh-CN" sz="1600" b="1" dirty="0"/>
              <a:t>planned-only</a:t>
            </a:r>
            <a:r>
              <a:rPr lang="zh-CN" altLang="en-US" sz="1600" dirty="0"/>
              <a:t>：指定设备仅支持</a:t>
            </a:r>
            <a:r>
              <a:rPr lang="en-US" altLang="zh-CN" sz="1600" dirty="0"/>
              <a:t>Planned GR</a:t>
            </a:r>
            <a:r>
              <a:rPr lang="zh-CN" altLang="en-US" sz="1600" dirty="0"/>
              <a:t>。缺省情况下，设备支持</a:t>
            </a:r>
            <a:r>
              <a:rPr lang="en-US" altLang="zh-CN" sz="1600" dirty="0"/>
              <a:t>Planned GR</a:t>
            </a:r>
            <a:r>
              <a:rPr lang="zh-CN" altLang="en-US" sz="1600" dirty="0"/>
              <a:t>和</a:t>
            </a:r>
            <a:r>
              <a:rPr lang="en-US" altLang="zh-CN" sz="1600" dirty="0"/>
              <a:t>Unplanned GR</a:t>
            </a:r>
            <a:r>
              <a:rPr lang="zh-CN" altLang="en-US" sz="1600" dirty="0"/>
              <a:t>。</a:t>
            </a:r>
            <a:endParaRPr lang="en-US" altLang="zh-CN" sz="1600" dirty="0"/>
          </a:p>
          <a:p>
            <a:pPr>
              <a:lnSpc>
                <a:spcPts val="2400"/>
              </a:lnSpc>
            </a:pPr>
            <a:r>
              <a:rPr lang="en-US" altLang="zh-CN" sz="1600" b="1" dirty="0"/>
              <a:t>partial</a:t>
            </a:r>
            <a:r>
              <a:rPr lang="zh-CN" altLang="en-US" sz="1600" dirty="0"/>
              <a:t>：指定设备支持</a:t>
            </a:r>
            <a:r>
              <a:rPr lang="en-US" altLang="zh-CN" sz="1600" dirty="0"/>
              <a:t>Partial GR</a:t>
            </a:r>
            <a:r>
              <a:rPr lang="zh-CN" altLang="en-US" sz="1600" dirty="0"/>
              <a:t>。缺省情况下，设备支持</a:t>
            </a:r>
            <a:r>
              <a:rPr lang="en-US" altLang="zh-CN" sz="1600" dirty="0"/>
              <a:t>Totally GR</a:t>
            </a:r>
            <a:r>
              <a:rPr lang="zh-CN" altLang="en-US" sz="1600" dirty="0"/>
              <a:t>。</a:t>
            </a:r>
            <a:endParaRPr lang="en-US" altLang="zh-CN" sz="1600" dirty="0"/>
          </a:p>
          <a:p>
            <a:pPr>
              <a:lnSpc>
                <a:spcPts val="2400"/>
              </a:lnSpc>
            </a:pPr>
            <a:r>
              <a:rPr lang="en-US" altLang="zh-CN" sz="1600" b="1" dirty="0" err="1"/>
              <a:t>ip</a:t>
            </a:r>
            <a:r>
              <a:rPr lang="en-US" altLang="zh-CN" sz="1600" b="1" dirty="0"/>
              <a:t>-prefix </a:t>
            </a:r>
            <a:r>
              <a:rPr lang="en-US" altLang="zh-CN" sz="1600" i="1" dirty="0" err="1"/>
              <a:t>ip</a:t>
            </a:r>
            <a:r>
              <a:rPr lang="en-US" altLang="zh-CN" sz="1600" i="1" dirty="0"/>
              <a:t>-prefix-name</a:t>
            </a:r>
            <a:r>
              <a:rPr lang="zh-CN" altLang="en-US" sz="1600" dirty="0"/>
              <a:t>：地址前缀列表名称。</a:t>
            </a:r>
            <a:endParaRPr lang="en-US" altLang="zh-CN" sz="1600" dirty="0"/>
          </a:p>
          <a:p>
            <a:pPr>
              <a:lnSpc>
                <a:spcPts val="2400"/>
              </a:lnSpc>
            </a:pPr>
            <a:r>
              <a:rPr lang="en-US" altLang="zh-CN" sz="1600" b="1" dirty="0" err="1"/>
              <a:t>acl</a:t>
            </a:r>
            <a:r>
              <a:rPr lang="en-US" altLang="zh-CN" sz="1600" b="1" dirty="0"/>
              <a:t>-number</a:t>
            </a:r>
            <a:r>
              <a:rPr lang="en-US" altLang="zh-CN" sz="1600" dirty="0"/>
              <a:t> </a:t>
            </a:r>
            <a:r>
              <a:rPr lang="en-US" altLang="zh-CN" sz="1600" i="1" dirty="0" err="1"/>
              <a:t>acl</a:t>
            </a:r>
            <a:r>
              <a:rPr lang="en-US" altLang="zh-CN" sz="1600" i="1" dirty="0"/>
              <a:t>-number</a:t>
            </a:r>
            <a:r>
              <a:rPr lang="zh-CN" altLang="en-US" sz="1600" dirty="0"/>
              <a:t>：基本访问控制列表号。</a:t>
            </a:r>
            <a:r>
              <a:rPr lang="en-US" altLang="zh-CN" sz="1600" dirty="0"/>
              <a:t>ACL</a:t>
            </a:r>
            <a:r>
              <a:rPr lang="zh-CN" altLang="en-US" sz="1600" dirty="0"/>
              <a:t>参数用来配置过滤策略，只有通过过滤器策略后才能进入</a:t>
            </a:r>
            <a:r>
              <a:rPr lang="en-US" altLang="zh-CN" sz="1600" dirty="0"/>
              <a:t>Helper</a:t>
            </a:r>
            <a:r>
              <a:rPr lang="zh-CN" altLang="en-US" sz="1600" dirty="0"/>
              <a:t>模式。</a:t>
            </a:r>
            <a:endParaRPr lang="zh-CN" altLang="en-US" sz="1600" dirty="0"/>
          </a:p>
          <a:p>
            <a:pPr>
              <a:lnSpc>
                <a:spcPts val="2400"/>
              </a:lnSpc>
            </a:pPr>
            <a:r>
              <a:rPr lang="en-US" altLang="zh-CN" sz="1600" b="1" dirty="0" err="1"/>
              <a:t>acl</a:t>
            </a:r>
            <a:r>
              <a:rPr lang="en-US" altLang="zh-CN" sz="1600" b="1" dirty="0"/>
              <a:t>-name </a:t>
            </a:r>
            <a:r>
              <a:rPr lang="en-US" altLang="zh-CN" sz="1600" i="1" dirty="0" err="1"/>
              <a:t>acl</a:t>
            </a:r>
            <a:r>
              <a:rPr lang="en-US" altLang="zh-CN" sz="1600" i="1" dirty="0"/>
              <a:t>-name</a:t>
            </a:r>
            <a:r>
              <a:rPr lang="zh-CN" altLang="en-US" sz="1600" dirty="0"/>
              <a:t>：指定访问控制列表名称。</a:t>
            </a:r>
            <a:endParaRPr lang="en-US" altLang="zh-CN" sz="1600" dirty="0"/>
          </a:p>
          <a:p>
            <a:pPr>
              <a:lnSpc>
                <a:spcPts val="2400"/>
              </a:lnSpc>
            </a:pPr>
            <a:r>
              <a:rPr lang="en-US" altLang="zh-CN" sz="1600" b="1" dirty="0"/>
              <a:t>ignore-external-</a:t>
            </a:r>
            <a:r>
              <a:rPr lang="en-US" altLang="zh-CN" sz="1600" b="1" dirty="0" err="1"/>
              <a:t>lsa</a:t>
            </a:r>
            <a:r>
              <a:rPr lang="zh-CN" altLang="en-US" sz="1600" dirty="0"/>
              <a:t>：用来配置</a:t>
            </a:r>
            <a:r>
              <a:rPr lang="en-US" altLang="zh-CN" sz="1600" dirty="0"/>
              <a:t>Helper</a:t>
            </a:r>
            <a:r>
              <a:rPr lang="zh-CN" altLang="en-US" sz="1600" dirty="0"/>
              <a:t>不对</a:t>
            </a:r>
            <a:r>
              <a:rPr lang="en-US" altLang="zh-CN" sz="1600" dirty="0"/>
              <a:t>Type5 LSA</a:t>
            </a:r>
            <a:r>
              <a:rPr lang="zh-CN" altLang="en-US" sz="1600" dirty="0"/>
              <a:t>和</a:t>
            </a:r>
            <a:r>
              <a:rPr lang="en-US" altLang="zh-CN" sz="1600" dirty="0"/>
              <a:t>Type7 LSA</a:t>
            </a:r>
            <a:r>
              <a:rPr lang="zh-CN" altLang="en-US" sz="1600" dirty="0"/>
              <a:t>进行检查。缺省情况下，执行外部</a:t>
            </a:r>
            <a:r>
              <a:rPr lang="en-US" altLang="zh-CN" sz="1600" dirty="0"/>
              <a:t>LSA</a:t>
            </a:r>
            <a:r>
              <a:rPr lang="zh-CN" altLang="en-US" sz="1600" dirty="0"/>
              <a:t>检查。</a:t>
            </a:r>
            <a:endParaRPr lang="zh-CN" altLang="en-US" sz="1600" dirty="0"/>
          </a:p>
          <a:p>
            <a:pPr>
              <a:lnSpc>
                <a:spcPts val="2400"/>
              </a:lnSpc>
            </a:pPr>
            <a:r>
              <a:rPr lang="en-US" altLang="zh-CN" sz="1600" b="1" dirty="0"/>
              <a:t>never</a:t>
            </a:r>
            <a:r>
              <a:rPr lang="zh-CN" altLang="en-US" sz="1600" dirty="0"/>
              <a:t>：指定设备不支持</a:t>
            </a:r>
            <a:r>
              <a:rPr lang="en-US" altLang="zh-CN" sz="1600" dirty="0"/>
              <a:t>Helper</a:t>
            </a:r>
            <a:r>
              <a:rPr lang="zh-CN" altLang="en-US" sz="1600" dirty="0"/>
              <a:t>模式。</a:t>
            </a:r>
            <a:endParaRPr lang="zh-CN" altLang="en-US" sz="1600" dirty="0"/>
          </a:p>
        </p:txBody>
      </p:sp>
      <p:sp>
        <p:nvSpPr>
          <p:cNvPr id="6" name="矩形 5"/>
          <p:cNvSpPr/>
          <p:nvPr/>
        </p:nvSpPr>
        <p:spPr>
          <a:xfrm>
            <a:off x="1031917" y="5728898"/>
            <a:ext cx="10608699" cy="338554"/>
          </a:xfrm>
          <a:prstGeom prst="rect">
            <a:avLst/>
          </a:prstGeom>
          <a:solidFill>
            <a:schemeClr val="bg1">
              <a:lumMod val="85000"/>
            </a:schemeClr>
          </a:solidFill>
          <a:ln>
            <a:noFill/>
          </a:ln>
        </p:spPr>
        <p:txBody>
          <a:bodyPr wrap="square">
            <a:spAutoFit/>
          </a:bodyPr>
          <a:lstStyle/>
          <a:p>
            <a:pPr fontAlgn="base"/>
            <a:r>
              <a:rPr lang="en-US" altLang="zh-CN" sz="1600" dirty="0"/>
              <a:t>[Huawei] </a:t>
            </a:r>
            <a:r>
              <a:rPr lang="en-US" altLang="zh-CN" sz="1600" b="1" dirty="0"/>
              <a:t>display </a:t>
            </a:r>
            <a:r>
              <a:rPr lang="en-US" altLang="zh-CN" sz="1600" b="1" dirty="0" err="1"/>
              <a:t>ospf</a:t>
            </a:r>
            <a:r>
              <a:rPr lang="en-US" altLang="zh-CN" sz="1600" dirty="0"/>
              <a:t> [ </a:t>
            </a:r>
            <a:r>
              <a:rPr lang="en-US" altLang="zh-CN" sz="1600" i="1" dirty="0"/>
              <a:t>process-id</a:t>
            </a:r>
            <a:r>
              <a:rPr lang="en-US" altLang="zh-CN" sz="1600" dirty="0"/>
              <a:t> ] </a:t>
            </a:r>
            <a:r>
              <a:rPr lang="en-US" altLang="zh-CN" sz="1600" b="1" dirty="0"/>
              <a:t>graceful-restart</a:t>
            </a:r>
            <a:r>
              <a:rPr lang="en-US" altLang="zh-CN" sz="1600" dirty="0"/>
              <a:t> [ </a:t>
            </a:r>
            <a:r>
              <a:rPr lang="en-US" altLang="zh-CN" sz="1600" b="1" dirty="0"/>
              <a:t>verbose</a:t>
            </a:r>
            <a:r>
              <a:rPr lang="en-US" altLang="zh-CN" sz="1600" dirty="0"/>
              <a:t> ]</a:t>
            </a:r>
            <a:endParaRPr lang="zh-CN" altLang="en-US" sz="1600" i="1" dirty="0">
              <a:cs typeface="Courier New" panose="02070309020205020404" pitchFamily="49" charset="0"/>
            </a:endParaRPr>
          </a:p>
        </p:txBody>
      </p:sp>
      <p:sp>
        <p:nvSpPr>
          <p:cNvPr id="7" name="矩形 6"/>
          <p:cNvSpPr/>
          <p:nvPr/>
        </p:nvSpPr>
        <p:spPr>
          <a:xfrm>
            <a:off x="551384" y="5296751"/>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cs typeface="Courier New" panose="02070309020205020404" pitchFamily="49" charset="0"/>
              </a:rPr>
              <a:t>检查</a:t>
            </a:r>
            <a:r>
              <a:rPr lang="en-US" altLang="zh-CN" sz="1600" dirty="0">
                <a:cs typeface="Courier New" panose="02070309020205020404" pitchFamily="49" charset="0"/>
              </a:rPr>
              <a:t>OSPF GR</a:t>
            </a:r>
            <a:r>
              <a:rPr lang="zh-CN" altLang="en-US" sz="1600" dirty="0">
                <a:cs typeface="Courier New" panose="02070309020205020404" pitchFamily="49" charset="0"/>
              </a:rPr>
              <a:t>的配置结果，查看</a:t>
            </a:r>
            <a:r>
              <a:rPr lang="en-US" altLang="zh-CN" sz="1600" dirty="0">
                <a:cs typeface="Courier New" panose="02070309020205020404" pitchFamily="49" charset="0"/>
              </a:rPr>
              <a:t>OSPF GR</a:t>
            </a:r>
            <a:r>
              <a:rPr lang="zh-CN" altLang="en-US" sz="1600" dirty="0">
                <a:cs typeface="Courier New" panose="02070309020205020404" pitchFamily="49" charset="0"/>
              </a:rPr>
              <a:t>信息。</a:t>
            </a:r>
            <a:endParaRPr lang="zh-CN" altLang="en-US" sz="1600" dirty="0">
              <a:cs typeface="Courier New" panose="02070309020205020404" pitchFamily="49" charset="0"/>
            </a:endParaRPr>
          </a:p>
        </p:txBody>
      </p:sp>
      <p:sp>
        <p:nvSpPr>
          <p:cNvPr id="8" name="五边形 7"/>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bwMode="gray">
          <a:xfrm rot="16200000">
            <a:off x="837278" y="2099085"/>
            <a:ext cx="1447990"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OSPF GR</a:t>
            </a:r>
            <a:r>
              <a:rPr lang="zh-CN" altLang="en-US" dirty="0"/>
              <a:t>配置举例 </a:t>
            </a:r>
            <a:r>
              <a:rPr lang="en-US" altLang="zh-CN" dirty="0"/>
              <a:t>(1)</a:t>
            </a:r>
            <a:endParaRPr lang="zh-CN" altLang="en-US" dirty="0"/>
          </a:p>
        </p:txBody>
      </p:sp>
      <p:sp>
        <p:nvSpPr>
          <p:cNvPr id="44" name="文本占位符 43"/>
          <p:cNvSpPr>
            <a:spLocks noGrp="1"/>
          </p:cNvSpPr>
          <p:nvPr>
            <p:ph type="body" sz="quarter" idx="10"/>
          </p:nvPr>
        </p:nvSpPr>
        <p:spPr>
          <a:xfrm>
            <a:off x="455613" y="4132950"/>
            <a:ext cx="5640388" cy="1929521"/>
          </a:xfrm>
        </p:spPr>
        <p:txBody>
          <a:bodyPr/>
          <a:lstStyle/>
          <a:p>
            <a:r>
              <a:rPr lang="zh-CN" altLang="en-US" sz="1600" dirty="0"/>
              <a:t>路由器</a:t>
            </a:r>
            <a:r>
              <a:rPr lang="en-US" altLang="zh-CN" sz="1600" dirty="0"/>
              <a:t>R1</a:t>
            </a:r>
            <a:r>
              <a:rPr lang="zh-CN" altLang="en-US" sz="1600" dirty="0"/>
              <a:t>、</a:t>
            </a:r>
            <a:r>
              <a:rPr lang="en-US" altLang="zh-CN" sz="1600" dirty="0"/>
              <a:t>R2</a:t>
            </a:r>
            <a:r>
              <a:rPr lang="zh-CN" altLang="en-US" sz="1600" dirty="0"/>
              <a:t>和</a:t>
            </a:r>
            <a:r>
              <a:rPr lang="en-US" altLang="zh-CN" sz="1600" dirty="0"/>
              <a:t>R3</a:t>
            </a:r>
            <a:r>
              <a:rPr lang="zh-CN" altLang="en-US" sz="1600" dirty="0"/>
              <a:t>都为双主控设备，主用板和备用板间形成备份关系。路由器间通过</a:t>
            </a:r>
            <a:r>
              <a:rPr lang="en-US" altLang="zh-CN" sz="1600" dirty="0"/>
              <a:t>OSPF</a:t>
            </a:r>
            <a:r>
              <a:rPr lang="zh-CN" altLang="en-US" sz="1600" dirty="0"/>
              <a:t>协议实现网络互连，并提供</a:t>
            </a:r>
            <a:r>
              <a:rPr lang="en-US" altLang="zh-CN" sz="1600" dirty="0"/>
              <a:t>GR</a:t>
            </a:r>
            <a:r>
              <a:rPr lang="zh-CN" altLang="en-US" sz="1600" dirty="0"/>
              <a:t>机制。</a:t>
            </a:r>
            <a:endParaRPr lang="zh-CN" altLang="en-US" sz="1600" dirty="0"/>
          </a:p>
          <a:p>
            <a:r>
              <a:rPr lang="zh-CN" altLang="en-US" sz="1600" dirty="0"/>
              <a:t>要求当</a:t>
            </a:r>
            <a:r>
              <a:rPr lang="en-US" altLang="zh-CN" sz="1600" dirty="0"/>
              <a:t>R1</a:t>
            </a:r>
            <a:r>
              <a:rPr lang="zh-CN" altLang="en-US" sz="1600" dirty="0"/>
              <a:t>通过</a:t>
            </a:r>
            <a:r>
              <a:rPr lang="en-US" altLang="zh-CN" sz="1600" dirty="0"/>
              <a:t>GR</a:t>
            </a:r>
            <a:r>
              <a:rPr lang="zh-CN" altLang="en-US" sz="1600" dirty="0"/>
              <a:t>方式重启</a:t>
            </a:r>
            <a:r>
              <a:rPr lang="en-US" altLang="zh-CN" sz="1600" dirty="0"/>
              <a:t>OSPF</a:t>
            </a:r>
            <a:r>
              <a:rPr lang="zh-CN" altLang="en-US" sz="1600" dirty="0"/>
              <a:t>进程或者进行主备倒换时转发不中断。</a:t>
            </a:r>
            <a:endParaRPr lang="zh-CN" altLang="en-US" sz="1600" dirty="0"/>
          </a:p>
        </p:txBody>
      </p:sp>
      <p:sp>
        <p:nvSpPr>
          <p:cNvPr id="4" name="椭圆 3"/>
          <p:cNvSpPr/>
          <p:nvPr/>
        </p:nvSpPr>
        <p:spPr bwMode="gray">
          <a:xfrm>
            <a:off x="1807135" y="1169736"/>
            <a:ext cx="2347003"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2394344" y="1901319"/>
            <a:ext cx="1209744" cy="400110"/>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Area0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291273" y="1537321"/>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154138" y="1537321"/>
            <a:ext cx="540000" cy="442800"/>
          </a:xfrm>
          <a:prstGeom prst="rect">
            <a:avLst/>
          </a:prstGeom>
        </p:spPr>
      </p:pic>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1291273" y="3420885"/>
            <a:ext cx="540000" cy="442800"/>
          </a:xfrm>
          <a:prstGeom prst="rect">
            <a:avLst/>
          </a:prstGeom>
        </p:spPr>
      </p:pic>
      <p:cxnSp>
        <p:nvCxnSpPr>
          <p:cNvPr id="10" name="直接连接符 9"/>
          <p:cNvCxnSpPr>
            <a:stCxn id="7" idx="3"/>
            <a:endCxn id="8" idx="1"/>
          </p:cNvCxnSpPr>
          <p:nvPr/>
        </p:nvCxnSpPr>
        <p:spPr bwMode="gray">
          <a:xfrm>
            <a:off x="1831273" y="1758721"/>
            <a:ext cx="2322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2"/>
            <a:endCxn id="9" idx="0"/>
          </p:cNvCxnSpPr>
          <p:nvPr/>
        </p:nvCxnSpPr>
        <p:spPr bwMode="gray">
          <a:xfrm>
            <a:off x="1561273" y="1980121"/>
            <a:ext cx="0" cy="14407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315411" y="129705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338968" y="1484700"/>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10.1.13.0/30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179180" y="129705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536761" y="171794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1315411" y="3838550"/>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文本框 31"/>
          <p:cNvSpPr txBox="1"/>
          <p:nvPr/>
        </p:nvSpPr>
        <p:spPr>
          <a:xfrm>
            <a:off x="6096000" y="1169965"/>
            <a:ext cx="565308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OSPF</a:t>
            </a:r>
            <a:r>
              <a:rPr lang="zh-CN" altLang="en-US" sz="1600" dirty="0">
                <a:solidFill>
                  <a:prstClr val="black"/>
                </a:solidFill>
              </a:rPr>
              <a:t>。（略）</a:t>
            </a:r>
            <a:endParaRPr lang="zh-CN" altLang="en-US" sz="1600" dirty="0">
              <a:solidFill>
                <a:prstClr val="black"/>
              </a:solidFill>
            </a:endParaRPr>
          </a:p>
        </p:txBody>
      </p:sp>
      <p:sp>
        <p:nvSpPr>
          <p:cNvPr id="26" name="文本框 32"/>
          <p:cNvSpPr txBox="1"/>
          <p:nvPr/>
        </p:nvSpPr>
        <p:spPr>
          <a:xfrm>
            <a:off x="6206958" y="2277189"/>
            <a:ext cx="5542130" cy="73866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ospf</a:t>
            </a:r>
            <a:r>
              <a:rPr lang="en-US" altLang="zh-CN" sz="1400" dirty="0">
                <a:solidFill>
                  <a:prstClr val="black"/>
                </a:solidFill>
                <a:cs typeface="Courier New" panose="02070309020205020404" pitchFamily="49" charset="0"/>
              </a:rPr>
              <a:t>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 opaque-capability enable</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[R1-ospf-1] graceful-restart</a:t>
            </a:r>
            <a:endParaRPr lang="en-US" altLang="zh-CN" sz="1400" dirty="0">
              <a:solidFill>
                <a:prstClr val="black"/>
              </a:solidFill>
              <a:cs typeface="Courier New" panose="02070309020205020404" pitchFamily="49" charset="0"/>
            </a:endParaRPr>
          </a:p>
        </p:txBody>
      </p:sp>
      <p:sp>
        <p:nvSpPr>
          <p:cNvPr id="27" name="文本框 33"/>
          <p:cNvSpPr txBox="1"/>
          <p:nvPr/>
        </p:nvSpPr>
        <p:spPr>
          <a:xfrm>
            <a:off x="6096000" y="1918607"/>
            <a:ext cx="4730450"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、在</a:t>
            </a:r>
            <a:r>
              <a:rPr lang="en-US" altLang="zh-CN" sz="1600" dirty="0">
                <a:solidFill>
                  <a:prstClr val="black"/>
                </a:solidFill>
              </a:rPr>
              <a:t>R1</a:t>
            </a:r>
            <a:r>
              <a:rPr lang="zh-CN" altLang="en-US" sz="1600" dirty="0">
                <a:solidFill>
                  <a:prstClr val="black"/>
                </a:solidFill>
              </a:rPr>
              <a:t>、</a:t>
            </a:r>
            <a:r>
              <a:rPr lang="en-US" altLang="zh-CN" sz="1600" dirty="0">
                <a:solidFill>
                  <a:prstClr val="black"/>
                </a:solidFill>
              </a:rPr>
              <a:t>R2</a:t>
            </a:r>
            <a:r>
              <a:rPr lang="zh-CN" altLang="en-US" sz="1600" dirty="0">
                <a:solidFill>
                  <a:prstClr val="black"/>
                </a:solidFill>
              </a:rPr>
              <a:t>和</a:t>
            </a:r>
            <a:r>
              <a:rPr lang="en-US" altLang="zh-CN" sz="1600" dirty="0">
                <a:solidFill>
                  <a:prstClr val="black"/>
                </a:solidFill>
              </a:rPr>
              <a:t>R3</a:t>
            </a:r>
            <a:r>
              <a:rPr lang="zh-CN" altLang="en-US" sz="1600" dirty="0">
                <a:solidFill>
                  <a:prstClr val="black"/>
                </a:solidFill>
              </a:rPr>
              <a:t>上使能</a:t>
            </a:r>
            <a:r>
              <a:rPr lang="en-US" altLang="zh-CN" sz="1600" dirty="0">
                <a:solidFill>
                  <a:prstClr val="black"/>
                </a:solidFill>
              </a:rPr>
              <a:t>OSPF GR</a:t>
            </a:r>
            <a:r>
              <a:rPr lang="zh-CN" altLang="en-US" sz="1600" dirty="0">
                <a:solidFill>
                  <a:prstClr val="black"/>
                </a:solidFill>
              </a:rPr>
              <a:t>功能。</a:t>
            </a:r>
            <a:endParaRPr lang="zh-CN" altLang="en-US" sz="1600" dirty="0">
              <a:solidFill>
                <a:prstClr val="black"/>
              </a:solidFill>
            </a:endParaRPr>
          </a:p>
        </p:txBody>
      </p:sp>
      <p:sp>
        <p:nvSpPr>
          <p:cNvPr id="33" name="矩形 32"/>
          <p:cNvSpPr/>
          <p:nvPr/>
        </p:nvSpPr>
        <p:spPr bwMode="gray">
          <a:xfrm>
            <a:off x="1765124" y="1702556"/>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3842425" y="1702556"/>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8" name="矩形 37"/>
          <p:cNvSpPr/>
          <p:nvPr/>
        </p:nvSpPr>
        <p:spPr bwMode="gray">
          <a:xfrm rot="16200000">
            <a:off x="789189" y="2555588"/>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9" name="矩形 38"/>
          <p:cNvSpPr/>
          <p:nvPr/>
        </p:nvSpPr>
        <p:spPr bwMode="gray">
          <a:xfrm rot="16200000">
            <a:off x="1240331" y="2534230"/>
            <a:ext cx="887750" cy="276999"/>
          </a:xfrm>
          <a:prstGeom prst="rect">
            <a:avLst/>
          </a:prstGeom>
        </p:spPr>
        <p:txBody>
          <a:bodyPr wrap="square">
            <a:spAutoFit/>
          </a:bodyPr>
          <a:lstStyle/>
          <a:p>
            <a:pPr algn="ctr" fontAlgn="auto"/>
            <a:r>
              <a:rPr lang="en-US" altLang="zh-CN" sz="12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0" name="矩形 39"/>
          <p:cNvSpPr/>
          <p:nvPr/>
        </p:nvSpPr>
        <p:spPr bwMode="gray">
          <a:xfrm rot="16200000">
            <a:off x="1481324" y="1930089"/>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1" name="矩形 40"/>
          <p:cNvSpPr/>
          <p:nvPr/>
        </p:nvSpPr>
        <p:spPr bwMode="gray">
          <a:xfrm rot="16200000">
            <a:off x="1481324" y="3155917"/>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2" name="矩形 41"/>
          <p:cNvSpPr/>
          <p:nvPr/>
        </p:nvSpPr>
        <p:spPr bwMode="gray">
          <a:xfrm rot="16200000">
            <a:off x="1297930" y="2539028"/>
            <a:ext cx="1209744"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Area1</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6" name="文本框 32"/>
          <p:cNvSpPr txBox="1"/>
          <p:nvPr/>
        </p:nvSpPr>
        <p:spPr>
          <a:xfrm>
            <a:off x="6206958" y="3181949"/>
            <a:ext cx="5542130" cy="73866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ospf</a:t>
            </a:r>
            <a:r>
              <a:rPr lang="en-US" altLang="zh-CN" sz="1400" dirty="0">
                <a:solidFill>
                  <a:prstClr val="black"/>
                </a:solidFill>
                <a:cs typeface="Courier New" panose="02070309020205020404" pitchFamily="49" charset="0"/>
              </a:rPr>
              <a:t>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 opaque-capability enable</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 graceful-restart</a:t>
            </a:r>
            <a:endParaRPr lang="en-US" altLang="zh-CN" sz="1400" dirty="0">
              <a:solidFill>
                <a:prstClr val="black"/>
              </a:solidFill>
              <a:cs typeface="Courier New" panose="02070309020205020404" pitchFamily="49" charset="0"/>
            </a:endParaRPr>
          </a:p>
        </p:txBody>
      </p:sp>
      <p:sp>
        <p:nvSpPr>
          <p:cNvPr id="47" name="文本框 32"/>
          <p:cNvSpPr txBox="1"/>
          <p:nvPr/>
        </p:nvSpPr>
        <p:spPr>
          <a:xfrm>
            <a:off x="6206958" y="4086709"/>
            <a:ext cx="5542130" cy="73866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[R3] </a:t>
            </a:r>
            <a:r>
              <a:rPr lang="en-US" altLang="zh-CN" sz="1400" dirty="0" err="1">
                <a:solidFill>
                  <a:prstClr val="black"/>
                </a:solidFill>
                <a:cs typeface="Courier New" panose="02070309020205020404" pitchFamily="49" charset="0"/>
              </a:rPr>
              <a:t>ospf</a:t>
            </a:r>
            <a:r>
              <a:rPr lang="en-US" altLang="zh-CN" sz="1400" dirty="0">
                <a:solidFill>
                  <a:prstClr val="black"/>
                </a:solidFill>
                <a:cs typeface="Courier New" panose="02070309020205020404" pitchFamily="49" charset="0"/>
              </a:rPr>
              <a:t>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[R3-ospf-1] opaque-capability enable</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[R3-ospf-1] graceful-restart</a:t>
            </a:r>
            <a:endParaRPr lang="en-US" altLang="zh-CN" sz="1400" dirty="0">
              <a:solidFill>
                <a:prstClr val="black"/>
              </a:solidFill>
              <a:cs typeface="Courier New" panose="02070309020205020404" pitchFamily="49" charset="0"/>
            </a:endParaRPr>
          </a:p>
        </p:txBody>
      </p:sp>
      <p:sp>
        <p:nvSpPr>
          <p:cNvPr id="31" name="五边形 30"/>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bwMode="gray">
          <a:xfrm rot="16200000">
            <a:off x="837278" y="2099085"/>
            <a:ext cx="1447990"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OSPF GR</a:t>
            </a:r>
            <a:r>
              <a:rPr lang="zh-CN" altLang="en-US" dirty="0"/>
              <a:t>配置</a:t>
            </a:r>
            <a:r>
              <a:rPr lang="zh-CN" altLang="en-US"/>
              <a:t>举例 </a:t>
            </a:r>
            <a:r>
              <a:rPr lang="en-US" altLang="zh-CN"/>
              <a:t>(2)</a:t>
            </a:r>
            <a:endParaRPr lang="zh-CN" altLang="en-US" dirty="0"/>
          </a:p>
        </p:txBody>
      </p:sp>
      <p:sp>
        <p:nvSpPr>
          <p:cNvPr id="44" name="文本占位符 43"/>
          <p:cNvSpPr>
            <a:spLocks noGrp="1"/>
          </p:cNvSpPr>
          <p:nvPr>
            <p:ph type="body" sz="quarter" idx="10"/>
          </p:nvPr>
        </p:nvSpPr>
        <p:spPr>
          <a:xfrm>
            <a:off x="455613" y="4132950"/>
            <a:ext cx="5640388" cy="1929521"/>
          </a:xfrm>
        </p:spPr>
        <p:txBody>
          <a:bodyPr/>
          <a:lstStyle/>
          <a:p>
            <a:r>
              <a:rPr lang="zh-CN" altLang="en-US" sz="1600" dirty="0"/>
              <a:t>路由器</a:t>
            </a:r>
            <a:r>
              <a:rPr lang="en-US" altLang="zh-CN" sz="1600" dirty="0"/>
              <a:t>R1</a:t>
            </a:r>
            <a:r>
              <a:rPr lang="zh-CN" altLang="en-US" sz="1600" dirty="0"/>
              <a:t>、</a:t>
            </a:r>
            <a:r>
              <a:rPr lang="en-US" altLang="zh-CN" sz="1600" dirty="0"/>
              <a:t>R2</a:t>
            </a:r>
            <a:r>
              <a:rPr lang="zh-CN" altLang="en-US" sz="1600" dirty="0"/>
              <a:t>和</a:t>
            </a:r>
            <a:r>
              <a:rPr lang="en-US" altLang="zh-CN" sz="1600" dirty="0"/>
              <a:t>R3</a:t>
            </a:r>
            <a:r>
              <a:rPr lang="zh-CN" altLang="en-US" sz="1600" dirty="0"/>
              <a:t>都为双主控设备，主用板和备用板间形成备份关系。路由器间通过</a:t>
            </a:r>
            <a:r>
              <a:rPr lang="en-US" altLang="zh-CN" sz="1600" dirty="0"/>
              <a:t>OSPF</a:t>
            </a:r>
            <a:r>
              <a:rPr lang="zh-CN" altLang="en-US" sz="1600" dirty="0"/>
              <a:t>协议实现网络互连，并提供</a:t>
            </a:r>
            <a:r>
              <a:rPr lang="en-US" altLang="zh-CN" sz="1600" dirty="0"/>
              <a:t>GR</a:t>
            </a:r>
            <a:r>
              <a:rPr lang="zh-CN" altLang="en-US" sz="1600" dirty="0"/>
              <a:t>机制。</a:t>
            </a:r>
            <a:endParaRPr lang="zh-CN" altLang="en-US" sz="1600" dirty="0"/>
          </a:p>
          <a:p>
            <a:r>
              <a:rPr lang="zh-CN" altLang="en-US" sz="1600" dirty="0"/>
              <a:t>要求当</a:t>
            </a:r>
            <a:r>
              <a:rPr lang="en-US" altLang="zh-CN" sz="1600" dirty="0"/>
              <a:t>R1</a:t>
            </a:r>
            <a:r>
              <a:rPr lang="zh-CN" altLang="en-US" sz="1600" dirty="0"/>
              <a:t>通过</a:t>
            </a:r>
            <a:r>
              <a:rPr lang="en-US" altLang="zh-CN" sz="1600" dirty="0"/>
              <a:t>GR</a:t>
            </a:r>
            <a:r>
              <a:rPr lang="zh-CN" altLang="en-US" sz="1600" dirty="0"/>
              <a:t>方式重启</a:t>
            </a:r>
            <a:r>
              <a:rPr lang="en-US" altLang="zh-CN" sz="1600" dirty="0"/>
              <a:t>OSPF</a:t>
            </a:r>
            <a:r>
              <a:rPr lang="zh-CN" altLang="en-US" sz="1600" dirty="0"/>
              <a:t>进程或者进行主备倒换时转发不中断。</a:t>
            </a:r>
            <a:endParaRPr lang="zh-CN" altLang="en-US" sz="1600" dirty="0"/>
          </a:p>
        </p:txBody>
      </p:sp>
      <p:sp>
        <p:nvSpPr>
          <p:cNvPr id="4" name="椭圆 3"/>
          <p:cNvSpPr/>
          <p:nvPr/>
        </p:nvSpPr>
        <p:spPr bwMode="gray">
          <a:xfrm>
            <a:off x="1807135" y="1169736"/>
            <a:ext cx="2347003"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2394344" y="1901319"/>
            <a:ext cx="1209744" cy="400110"/>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Area0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291273" y="1537321"/>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154138" y="1537321"/>
            <a:ext cx="540000" cy="442800"/>
          </a:xfrm>
          <a:prstGeom prst="rect">
            <a:avLst/>
          </a:prstGeom>
        </p:spPr>
      </p:pic>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1291273" y="3420885"/>
            <a:ext cx="540000" cy="442800"/>
          </a:xfrm>
          <a:prstGeom prst="rect">
            <a:avLst/>
          </a:prstGeom>
        </p:spPr>
      </p:pic>
      <p:cxnSp>
        <p:nvCxnSpPr>
          <p:cNvPr id="10" name="直接连接符 9"/>
          <p:cNvCxnSpPr>
            <a:stCxn id="7" idx="3"/>
            <a:endCxn id="8" idx="1"/>
          </p:cNvCxnSpPr>
          <p:nvPr/>
        </p:nvCxnSpPr>
        <p:spPr bwMode="gray">
          <a:xfrm>
            <a:off x="1831273" y="1758721"/>
            <a:ext cx="2322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2"/>
            <a:endCxn id="9" idx="0"/>
          </p:cNvCxnSpPr>
          <p:nvPr/>
        </p:nvCxnSpPr>
        <p:spPr bwMode="gray">
          <a:xfrm>
            <a:off x="1561273" y="1980121"/>
            <a:ext cx="0" cy="14407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315411" y="129705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338968" y="1484700"/>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10.1.13.0/30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179180" y="129705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536761" y="171794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1315411" y="3838550"/>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文本框 31"/>
          <p:cNvSpPr txBox="1"/>
          <p:nvPr/>
        </p:nvSpPr>
        <p:spPr>
          <a:xfrm>
            <a:off x="6096000" y="1169736"/>
            <a:ext cx="565308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、查看路由器上</a:t>
            </a:r>
            <a:r>
              <a:rPr lang="en-US" altLang="zh-CN" sz="1600" dirty="0">
                <a:solidFill>
                  <a:prstClr val="black"/>
                </a:solidFill>
              </a:rPr>
              <a:t>OSPF GR</a:t>
            </a:r>
            <a:r>
              <a:rPr lang="zh-CN" altLang="en-US" sz="1600" dirty="0">
                <a:solidFill>
                  <a:prstClr val="black"/>
                </a:solidFill>
              </a:rPr>
              <a:t>的状态（以</a:t>
            </a:r>
            <a:r>
              <a:rPr lang="en-US" altLang="zh-CN" sz="1600" dirty="0">
                <a:solidFill>
                  <a:prstClr val="black"/>
                </a:solidFill>
              </a:rPr>
              <a:t>R1</a:t>
            </a:r>
            <a:r>
              <a:rPr lang="zh-CN" altLang="en-US" sz="1600" dirty="0">
                <a:solidFill>
                  <a:prstClr val="black"/>
                </a:solidFill>
              </a:rPr>
              <a:t>的显示为例）：</a:t>
            </a:r>
            <a:endParaRPr lang="zh-CN" altLang="en-US" sz="1600" dirty="0">
              <a:solidFill>
                <a:prstClr val="black"/>
              </a:solidFill>
            </a:endParaRPr>
          </a:p>
        </p:txBody>
      </p:sp>
      <p:sp>
        <p:nvSpPr>
          <p:cNvPr id="33" name="矩形 32"/>
          <p:cNvSpPr/>
          <p:nvPr/>
        </p:nvSpPr>
        <p:spPr bwMode="gray">
          <a:xfrm>
            <a:off x="1765124" y="1702556"/>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3842425" y="1702556"/>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8" name="矩形 37"/>
          <p:cNvSpPr/>
          <p:nvPr/>
        </p:nvSpPr>
        <p:spPr bwMode="gray">
          <a:xfrm rot="16200000">
            <a:off x="789189" y="2555588"/>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9" name="矩形 38"/>
          <p:cNvSpPr/>
          <p:nvPr/>
        </p:nvSpPr>
        <p:spPr bwMode="gray">
          <a:xfrm rot="16200000">
            <a:off x="1240331" y="2534230"/>
            <a:ext cx="887750" cy="276999"/>
          </a:xfrm>
          <a:prstGeom prst="rect">
            <a:avLst/>
          </a:prstGeom>
        </p:spPr>
        <p:txBody>
          <a:bodyPr wrap="square">
            <a:spAutoFit/>
          </a:bodyPr>
          <a:lstStyle/>
          <a:p>
            <a:pPr algn="ctr" fontAlgn="auto"/>
            <a:r>
              <a:rPr lang="en-US" altLang="zh-CN" sz="12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0" name="矩形 39"/>
          <p:cNvSpPr/>
          <p:nvPr/>
        </p:nvSpPr>
        <p:spPr bwMode="gray">
          <a:xfrm rot="16200000">
            <a:off x="1481324" y="1930089"/>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1" name="矩形 40"/>
          <p:cNvSpPr/>
          <p:nvPr/>
        </p:nvSpPr>
        <p:spPr bwMode="gray">
          <a:xfrm rot="16200000">
            <a:off x="1481324" y="3155917"/>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2" name="矩形 41"/>
          <p:cNvSpPr/>
          <p:nvPr/>
        </p:nvSpPr>
        <p:spPr bwMode="gray">
          <a:xfrm rot="16200000">
            <a:off x="1297930" y="2539028"/>
            <a:ext cx="1209744"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Area1</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文本框 32"/>
          <p:cNvSpPr txBox="1"/>
          <p:nvPr/>
        </p:nvSpPr>
        <p:spPr>
          <a:xfrm>
            <a:off x="6154916" y="1567917"/>
            <a:ext cx="5580888" cy="4401205"/>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&lt;R1&gt; display </a:t>
            </a:r>
            <a:r>
              <a:rPr lang="en-US" altLang="zh-CN" sz="1400" dirty="0" err="1"/>
              <a:t>ospf</a:t>
            </a:r>
            <a:r>
              <a:rPr lang="en-US" altLang="zh-CN" sz="1400" dirty="0"/>
              <a:t> 1 graceful-restart </a:t>
            </a:r>
            <a:endParaRPr lang="zh-CN" altLang="en-US" sz="1400" dirty="0"/>
          </a:p>
          <a:p>
            <a:endParaRPr lang="zh-CN" altLang="en-US" sz="1400" dirty="0"/>
          </a:p>
          <a:p>
            <a:r>
              <a:rPr lang="zh-CN" altLang="en-US" sz="1400" dirty="0"/>
              <a:t>	 </a:t>
            </a:r>
            <a:r>
              <a:rPr lang="en-US" altLang="zh-CN" sz="1400" dirty="0"/>
              <a:t>OSPF Process 1 with Router ID 10.1.13.1</a:t>
            </a:r>
            <a:endParaRPr lang="zh-CN" altLang="en-US" sz="1400" dirty="0"/>
          </a:p>
          <a:p>
            <a:r>
              <a:rPr lang="zh-CN" altLang="en-US" sz="1400" dirty="0"/>
              <a:t> </a:t>
            </a:r>
            <a:r>
              <a:rPr lang="en-US" altLang="zh-CN" sz="1400" dirty="0"/>
              <a:t>Graceful-restart capability     : </a:t>
            </a:r>
            <a:r>
              <a:rPr lang="en-US" altLang="zh-CN" sz="1400" b="1" dirty="0">
                <a:solidFill>
                  <a:srgbClr val="C7000B"/>
                </a:solidFill>
              </a:rPr>
              <a:t>enabled</a:t>
            </a:r>
            <a:endParaRPr lang="zh-CN" altLang="en-US" sz="1400" b="1" dirty="0">
              <a:solidFill>
                <a:srgbClr val="C7000B"/>
              </a:solidFill>
            </a:endParaRPr>
          </a:p>
          <a:p>
            <a:r>
              <a:rPr lang="zh-CN" altLang="en-US" sz="1400" dirty="0"/>
              <a:t> </a:t>
            </a:r>
            <a:r>
              <a:rPr lang="en-US" altLang="zh-CN" sz="1400" dirty="0"/>
              <a:t>Graceful-restart support        : planned and un-planned, totally</a:t>
            </a:r>
            <a:endParaRPr lang="zh-CN" altLang="en-US" sz="1400" dirty="0"/>
          </a:p>
          <a:p>
            <a:r>
              <a:rPr lang="zh-CN" altLang="en-US" sz="1400" dirty="0"/>
              <a:t> </a:t>
            </a:r>
            <a:r>
              <a:rPr lang="en-US" altLang="zh-CN" sz="1400" dirty="0"/>
              <a:t>Helper-policy support  : planned and un-planned, strict </a:t>
            </a:r>
            <a:r>
              <a:rPr lang="en-US" altLang="zh-CN" sz="1400" dirty="0" err="1"/>
              <a:t>lsa</a:t>
            </a:r>
            <a:r>
              <a:rPr lang="en-US" altLang="zh-CN" sz="1400" dirty="0"/>
              <a:t> check</a:t>
            </a:r>
            <a:endParaRPr lang="zh-CN" altLang="en-US" sz="1400" dirty="0"/>
          </a:p>
          <a:p>
            <a:r>
              <a:rPr lang="zh-CN" altLang="en-US" sz="1400" dirty="0"/>
              <a:t> </a:t>
            </a:r>
            <a:r>
              <a:rPr lang="en-US" altLang="zh-CN" sz="1400" dirty="0"/>
              <a:t>Current GR state                   : normal</a:t>
            </a:r>
            <a:endParaRPr lang="zh-CN" altLang="en-US" sz="1400" dirty="0"/>
          </a:p>
          <a:p>
            <a:r>
              <a:rPr lang="zh-CN" altLang="en-US" sz="1400" dirty="0"/>
              <a:t> </a:t>
            </a:r>
            <a:r>
              <a:rPr lang="en-US" altLang="zh-CN" sz="1400" dirty="0"/>
              <a:t>Graceful-restart period          : 120 seconds</a:t>
            </a:r>
            <a:endParaRPr lang="zh-CN" altLang="en-US" sz="1400" dirty="0"/>
          </a:p>
          <a:p>
            <a:endParaRPr lang="zh-CN" altLang="en-US" sz="1400" dirty="0"/>
          </a:p>
          <a:p>
            <a:r>
              <a:rPr lang="zh-CN" altLang="en-US" sz="1400" dirty="0"/>
              <a:t> </a:t>
            </a:r>
            <a:r>
              <a:rPr lang="en-US" altLang="zh-CN" sz="1400" dirty="0"/>
              <a:t>Number of neighbors under helper:</a:t>
            </a:r>
            <a:endParaRPr lang="zh-CN" altLang="en-US" sz="1400" dirty="0"/>
          </a:p>
          <a:p>
            <a:r>
              <a:rPr lang="zh-CN" altLang="en-US" sz="1400" dirty="0"/>
              <a:t>  </a:t>
            </a:r>
            <a:r>
              <a:rPr lang="en-US" altLang="zh-CN" sz="1400" dirty="0"/>
              <a:t>Normal neighbors     : 0</a:t>
            </a:r>
            <a:endParaRPr lang="zh-CN" altLang="en-US" sz="1400" dirty="0"/>
          </a:p>
          <a:p>
            <a:r>
              <a:rPr lang="zh-CN" altLang="en-US" sz="1400" dirty="0"/>
              <a:t>  </a:t>
            </a:r>
            <a:r>
              <a:rPr lang="en-US" altLang="zh-CN" sz="1400" dirty="0"/>
              <a:t>Virtual neighbors      : 0</a:t>
            </a:r>
            <a:endParaRPr lang="zh-CN" altLang="en-US" sz="1400" dirty="0"/>
          </a:p>
          <a:p>
            <a:r>
              <a:rPr lang="zh-CN" altLang="en-US" sz="1400" dirty="0"/>
              <a:t>  </a:t>
            </a:r>
            <a:r>
              <a:rPr lang="en-US" altLang="zh-CN" sz="1400" dirty="0"/>
              <a:t>Sham-link neighbors : 0</a:t>
            </a:r>
            <a:endParaRPr lang="zh-CN" altLang="en-US" sz="1400" dirty="0"/>
          </a:p>
          <a:p>
            <a:r>
              <a:rPr lang="zh-CN" altLang="en-US" sz="1400" dirty="0"/>
              <a:t>  </a:t>
            </a:r>
            <a:r>
              <a:rPr lang="en-US" altLang="zh-CN" sz="1400" dirty="0"/>
              <a:t>Total neighbors        : 0</a:t>
            </a:r>
            <a:endParaRPr lang="zh-CN" altLang="en-US" sz="1400" dirty="0"/>
          </a:p>
          <a:p>
            <a:endParaRPr lang="zh-CN" altLang="en-US" sz="1400" dirty="0"/>
          </a:p>
          <a:p>
            <a:r>
              <a:rPr lang="zh-CN" altLang="en-US" sz="1400" dirty="0"/>
              <a:t> </a:t>
            </a:r>
            <a:r>
              <a:rPr lang="en-US" altLang="zh-CN" sz="1400" dirty="0"/>
              <a:t>Number of restarting neighbors : 0</a:t>
            </a:r>
            <a:endParaRPr lang="zh-CN" altLang="en-US" sz="1400" dirty="0"/>
          </a:p>
          <a:p>
            <a:endParaRPr lang="zh-CN" altLang="en-US" sz="1400" dirty="0"/>
          </a:p>
          <a:p>
            <a:r>
              <a:rPr lang="zh-CN" altLang="en-US" sz="1400" dirty="0"/>
              <a:t> </a:t>
            </a:r>
            <a:r>
              <a:rPr lang="en-US" altLang="zh-CN" sz="1400" dirty="0"/>
              <a:t>Last exit reason:</a:t>
            </a:r>
            <a:endParaRPr lang="zh-CN" altLang="en-US" sz="1400" dirty="0"/>
          </a:p>
          <a:p>
            <a:r>
              <a:rPr lang="zh-CN" altLang="en-US" sz="1400" dirty="0"/>
              <a:t>  </a:t>
            </a:r>
            <a:r>
              <a:rPr lang="en-US" altLang="zh-CN" sz="1400" dirty="0"/>
              <a:t>On graceful restart : none</a:t>
            </a:r>
            <a:endParaRPr lang="zh-CN" altLang="en-US" sz="1400" dirty="0"/>
          </a:p>
          <a:p>
            <a:r>
              <a:rPr lang="zh-CN" altLang="en-US" sz="1400" dirty="0"/>
              <a:t>  </a:t>
            </a:r>
            <a:r>
              <a:rPr lang="en-US" altLang="zh-CN" sz="1400" dirty="0"/>
              <a:t>On Helper              : none</a:t>
            </a:r>
            <a:endParaRPr lang="zh-CN" altLang="en-US" sz="1400" dirty="0"/>
          </a:p>
        </p:txBody>
      </p:sp>
      <p:sp>
        <p:nvSpPr>
          <p:cNvPr id="26" name="五边形 25"/>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nvSpPr>
        <p:spPr bwMode="gray">
          <a:xfrm rot="16200000">
            <a:off x="837278" y="2099085"/>
            <a:ext cx="1447990"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altLang="zh-CN" dirty="0"/>
              <a:t>OSPF GR</a:t>
            </a:r>
            <a:r>
              <a:rPr lang="zh-CN" altLang="en-US" dirty="0"/>
              <a:t>配置</a:t>
            </a:r>
            <a:r>
              <a:rPr lang="zh-CN" altLang="en-US"/>
              <a:t>举例 </a:t>
            </a:r>
            <a:r>
              <a:rPr lang="en-US" altLang="zh-CN"/>
              <a:t>(3)</a:t>
            </a:r>
            <a:endParaRPr lang="zh-CN" altLang="en-US" dirty="0"/>
          </a:p>
        </p:txBody>
      </p:sp>
      <p:sp>
        <p:nvSpPr>
          <p:cNvPr id="44" name="文本占位符 43"/>
          <p:cNvSpPr>
            <a:spLocks noGrp="1"/>
          </p:cNvSpPr>
          <p:nvPr>
            <p:ph type="body" sz="quarter" idx="10"/>
          </p:nvPr>
        </p:nvSpPr>
        <p:spPr>
          <a:xfrm>
            <a:off x="455613" y="4132950"/>
            <a:ext cx="5640388" cy="1929521"/>
          </a:xfrm>
        </p:spPr>
        <p:txBody>
          <a:bodyPr/>
          <a:lstStyle/>
          <a:p>
            <a:r>
              <a:rPr lang="zh-CN" altLang="en-US" sz="1600" dirty="0"/>
              <a:t>路由器</a:t>
            </a:r>
            <a:r>
              <a:rPr lang="en-US" altLang="zh-CN" sz="1600" dirty="0"/>
              <a:t>R1</a:t>
            </a:r>
            <a:r>
              <a:rPr lang="zh-CN" altLang="en-US" sz="1600" dirty="0"/>
              <a:t>、</a:t>
            </a:r>
            <a:r>
              <a:rPr lang="en-US" altLang="zh-CN" sz="1600" dirty="0"/>
              <a:t>R2</a:t>
            </a:r>
            <a:r>
              <a:rPr lang="zh-CN" altLang="en-US" sz="1600" dirty="0"/>
              <a:t>和</a:t>
            </a:r>
            <a:r>
              <a:rPr lang="en-US" altLang="zh-CN" sz="1600" dirty="0"/>
              <a:t>R3</a:t>
            </a:r>
            <a:r>
              <a:rPr lang="zh-CN" altLang="en-US" sz="1600" dirty="0"/>
              <a:t>都为双主控设备，主用板和备用板间形成备份关系。路由器间通过</a:t>
            </a:r>
            <a:r>
              <a:rPr lang="en-US" altLang="zh-CN" sz="1600" dirty="0"/>
              <a:t>OSPF</a:t>
            </a:r>
            <a:r>
              <a:rPr lang="zh-CN" altLang="en-US" sz="1600" dirty="0"/>
              <a:t>协议实现网络互连，并提供</a:t>
            </a:r>
            <a:r>
              <a:rPr lang="en-US" altLang="zh-CN" sz="1600" dirty="0"/>
              <a:t>GR</a:t>
            </a:r>
            <a:r>
              <a:rPr lang="zh-CN" altLang="en-US" sz="1600" dirty="0"/>
              <a:t>机制。</a:t>
            </a:r>
            <a:endParaRPr lang="zh-CN" altLang="en-US" sz="1600" dirty="0"/>
          </a:p>
          <a:p>
            <a:r>
              <a:rPr lang="zh-CN" altLang="en-US" sz="1600" dirty="0"/>
              <a:t>要求当</a:t>
            </a:r>
            <a:r>
              <a:rPr lang="en-US" altLang="zh-CN" sz="1600" dirty="0"/>
              <a:t>R1</a:t>
            </a:r>
            <a:r>
              <a:rPr lang="zh-CN" altLang="en-US" sz="1600" dirty="0"/>
              <a:t>通过</a:t>
            </a:r>
            <a:r>
              <a:rPr lang="en-US" altLang="zh-CN" sz="1600" dirty="0"/>
              <a:t>GR</a:t>
            </a:r>
            <a:r>
              <a:rPr lang="zh-CN" altLang="en-US" sz="1600" dirty="0"/>
              <a:t>方式重启</a:t>
            </a:r>
            <a:r>
              <a:rPr lang="en-US" altLang="zh-CN" sz="1600" dirty="0"/>
              <a:t>OSPF</a:t>
            </a:r>
            <a:r>
              <a:rPr lang="zh-CN" altLang="en-US" sz="1600" dirty="0"/>
              <a:t>进程或者进行主备倒换时转发不中断。</a:t>
            </a:r>
            <a:endParaRPr lang="zh-CN" altLang="en-US" sz="1600" dirty="0"/>
          </a:p>
        </p:txBody>
      </p:sp>
      <p:sp>
        <p:nvSpPr>
          <p:cNvPr id="4" name="椭圆 3"/>
          <p:cNvSpPr/>
          <p:nvPr/>
        </p:nvSpPr>
        <p:spPr bwMode="gray">
          <a:xfrm>
            <a:off x="1807135" y="1169736"/>
            <a:ext cx="2347003"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2394344" y="1901319"/>
            <a:ext cx="1209744" cy="400110"/>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Area0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291273" y="1537321"/>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154138" y="1537321"/>
            <a:ext cx="540000" cy="442800"/>
          </a:xfrm>
          <a:prstGeom prst="rect">
            <a:avLst/>
          </a:prstGeom>
        </p:spPr>
      </p:pic>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1291273" y="3420885"/>
            <a:ext cx="540000" cy="442800"/>
          </a:xfrm>
          <a:prstGeom prst="rect">
            <a:avLst/>
          </a:prstGeom>
        </p:spPr>
      </p:pic>
      <p:cxnSp>
        <p:nvCxnSpPr>
          <p:cNvPr id="10" name="直接连接符 9"/>
          <p:cNvCxnSpPr>
            <a:stCxn id="7" idx="3"/>
            <a:endCxn id="8" idx="1"/>
          </p:cNvCxnSpPr>
          <p:nvPr/>
        </p:nvCxnSpPr>
        <p:spPr bwMode="gray">
          <a:xfrm>
            <a:off x="1831273" y="1758721"/>
            <a:ext cx="2322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2"/>
            <a:endCxn id="9" idx="0"/>
          </p:cNvCxnSpPr>
          <p:nvPr/>
        </p:nvCxnSpPr>
        <p:spPr bwMode="gray">
          <a:xfrm>
            <a:off x="1561273" y="1980121"/>
            <a:ext cx="0" cy="14407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315411" y="129705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338968" y="1484700"/>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10.1.13.0/30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179180" y="1297056"/>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536761" y="1717946"/>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1315411" y="3838550"/>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文本框 31"/>
          <p:cNvSpPr txBox="1"/>
          <p:nvPr/>
        </p:nvSpPr>
        <p:spPr>
          <a:xfrm>
            <a:off x="6096000" y="1169965"/>
            <a:ext cx="5653086"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4</a:t>
            </a:r>
            <a:r>
              <a:rPr lang="zh-CN" altLang="en-US" sz="1600" dirty="0">
                <a:solidFill>
                  <a:prstClr val="black"/>
                </a:solidFill>
              </a:rPr>
              <a:t>、在</a:t>
            </a:r>
            <a:r>
              <a:rPr lang="en-US" altLang="zh-CN" sz="1600" dirty="0">
                <a:solidFill>
                  <a:prstClr val="black"/>
                </a:solidFill>
              </a:rPr>
              <a:t>R1</a:t>
            </a:r>
            <a:r>
              <a:rPr lang="zh-CN" altLang="en-US" sz="1600" dirty="0">
                <a:solidFill>
                  <a:prstClr val="black"/>
                </a:solidFill>
              </a:rPr>
              <a:t>用户视图下执行</a:t>
            </a:r>
            <a:r>
              <a:rPr lang="en-US" altLang="zh-CN" sz="1600" b="1" dirty="0">
                <a:solidFill>
                  <a:prstClr val="black"/>
                </a:solidFill>
              </a:rPr>
              <a:t>reset </a:t>
            </a:r>
            <a:r>
              <a:rPr lang="en-US" altLang="zh-CN" sz="1600" b="1" dirty="0" err="1">
                <a:solidFill>
                  <a:prstClr val="black"/>
                </a:solidFill>
              </a:rPr>
              <a:t>ospf</a:t>
            </a:r>
            <a:r>
              <a:rPr lang="en-US" altLang="zh-CN" sz="1600" b="1" dirty="0">
                <a:solidFill>
                  <a:prstClr val="black"/>
                </a:solidFill>
              </a:rPr>
              <a:t> process graceful-restart</a:t>
            </a:r>
            <a:r>
              <a:rPr lang="zh-CN" altLang="en-US" sz="1600" dirty="0">
                <a:solidFill>
                  <a:prstClr val="black"/>
                </a:solidFill>
              </a:rPr>
              <a:t>重启</a:t>
            </a:r>
            <a:r>
              <a:rPr lang="en-US" altLang="zh-CN" sz="1600" dirty="0">
                <a:solidFill>
                  <a:prstClr val="black"/>
                </a:solidFill>
              </a:rPr>
              <a:t>OSPF</a:t>
            </a:r>
            <a:r>
              <a:rPr lang="zh-CN" altLang="en-US" sz="1600" dirty="0">
                <a:solidFill>
                  <a:prstClr val="black"/>
                </a:solidFill>
              </a:rPr>
              <a:t>进程</a:t>
            </a:r>
            <a:r>
              <a:rPr lang="en-US" altLang="zh-CN" sz="1600" dirty="0">
                <a:solidFill>
                  <a:prstClr val="black"/>
                </a:solidFill>
              </a:rPr>
              <a:t>1</a:t>
            </a:r>
            <a:r>
              <a:rPr lang="zh-CN" altLang="en-US" sz="1600" dirty="0">
                <a:solidFill>
                  <a:prstClr val="black"/>
                </a:solidFill>
              </a:rPr>
              <a:t>，同时在</a:t>
            </a:r>
            <a:r>
              <a:rPr lang="en-US" altLang="zh-CN" sz="1600" dirty="0">
                <a:solidFill>
                  <a:prstClr val="black"/>
                </a:solidFill>
              </a:rPr>
              <a:t>R2</a:t>
            </a:r>
            <a:r>
              <a:rPr lang="zh-CN" altLang="en-US" sz="1600" dirty="0">
                <a:solidFill>
                  <a:prstClr val="black"/>
                </a:solidFill>
              </a:rPr>
              <a:t>上执行</a:t>
            </a:r>
            <a:r>
              <a:rPr lang="en-US" altLang="zh-CN" sz="1600" b="1" dirty="0">
                <a:solidFill>
                  <a:prstClr val="black"/>
                </a:solidFill>
              </a:rPr>
              <a:t>display </a:t>
            </a:r>
            <a:r>
              <a:rPr lang="en-US" altLang="zh-CN" sz="1600" b="1" dirty="0" err="1">
                <a:solidFill>
                  <a:prstClr val="black"/>
                </a:solidFill>
              </a:rPr>
              <a:t>ospf</a:t>
            </a:r>
            <a:r>
              <a:rPr lang="en-US" altLang="zh-CN" sz="1600" b="1" dirty="0">
                <a:solidFill>
                  <a:prstClr val="black"/>
                </a:solidFill>
              </a:rPr>
              <a:t> peer</a:t>
            </a:r>
            <a:r>
              <a:rPr lang="zh-CN" altLang="en-US" sz="1600" dirty="0">
                <a:solidFill>
                  <a:prstClr val="black"/>
                </a:solidFill>
              </a:rPr>
              <a:t>查看与</a:t>
            </a:r>
            <a:r>
              <a:rPr lang="en-US" altLang="zh-CN" sz="1600" dirty="0">
                <a:solidFill>
                  <a:prstClr val="black"/>
                </a:solidFill>
              </a:rPr>
              <a:t>R1</a:t>
            </a:r>
            <a:r>
              <a:rPr lang="zh-CN" altLang="en-US" sz="1600" dirty="0">
                <a:solidFill>
                  <a:prstClr val="black"/>
                </a:solidFill>
              </a:rPr>
              <a:t>的</a:t>
            </a:r>
            <a:r>
              <a:rPr lang="en-US" altLang="zh-CN" sz="1600" dirty="0">
                <a:solidFill>
                  <a:prstClr val="black"/>
                </a:solidFill>
              </a:rPr>
              <a:t>OSPF</a:t>
            </a:r>
            <a:r>
              <a:rPr lang="zh-CN" altLang="en-US" sz="1600" dirty="0">
                <a:solidFill>
                  <a:prstClr val="black"/>
                </a:solidFill>
              </a:rPr>
              <a:t>邻接关系：</a:t>
            </a:r>
            <a:endParaRPr lang="zh-CN" altLang="en-US" sz="1600" dirty="0">
              <a:solidFill>
                <a:prstClr val="black"/>
              </a:solidFill>
            </a:endParaRPr>
          </a:p>
        </p:txBody>
      </p:sp>
      <p:sp>
        <p:nvSpPr>
          <p:cNvPr id="26" name="文本框 32"/>
          <p:cNvSpPr txBox="1"/>
          <p:nvPr/>
        </p:nvSpPr>
        <p:spPr>
          <a:xfrm>
            <a:off x="6164060" y="2100838"/>
            <a:ext cx="5580888" cy="307777"/>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kern="0" dirty="0">
                <a:cs typeface="Courier New" panose="02070309020205020404" pitchFamily="49" charset="0"/>
              </a:rPr>
              <a:t>&lt;R1&gt; reset </a:t>
            </a:r>
            <a:r>
              <a:rPr lang="en-US" altLang="zh-CN" sz="1400" kern="0" dirty="0" err="1">
                <a:cs typeface="Courier New" panose="02070309020205020404" pitchFamily="49" charset="0"/>
              </a:rPr>
              <a:t>ospf</a:t>
            </a:r>
            <a:r>
              <a:rPr lang="en-US" altLang="zh-CN" sz="1400" kern="0" dirty="0">
                <a:cs typeface="Courier New" panose="02070309020205020404" pitchFamily="49" charset="0"/>
              </a:rPr>
              <a:t> 1 process graceful-restart</a:t>
            </a:r>
            <a:endParaRPr lang="en-US" altLang="zh-CN" sz="1400" kern="0" dirty="0">
              <a:cs typeface="Courier New" panose="02070309020205020404" pitchFamily="49" charset="0"/>
            </a:endParaRPr>
          </a:p>
        </p:txBody>
      </p:sp>
      <p:sp>
        <p:nvSpPr>
          <p:cNvPr id="33" name="矩形 32"/>
          <p:cNvSpPr/>
          <p:nvPr/>
        </p:nvSpPr>
        <p:spPr bwMode="gray">
          <a:xfrm>
            <a:off x="1765124" y="1702556"/>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3842425" y="1702556"/>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8" name="矩形 37"/>
          <p:cNvSpPr/>
          <p:nvPr/>
        </p:nvSpPr>
        <p:spPr bwMode="gray">
          <a:xfrm rot="16200000">
            <a:off x="789189" y="2555588"/>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9" name="矩形 38"/>
          <p:cNvSpPr/>
          <p:nvPr/>
        </p:nvSpPr>
        <p:spPr bwMode="gray">
          <a:xfrm rot="16200000">
            <a:off x="1240331" y="2534230"/>
            <a:ext cx="887750" cy="276999"/>
          </a:xfrm>
          <a:prstGeom prst="rect">
            <a:avLst/>
          </a:prstGeom>
        </p:spPr>
        <p:txBody>
          <a:bodyPr wrap="square">
            <a:spAutoFit/>
          </a:bodyPr>
          <a:lstStyle/>
          <a:p>
            <a:pPr algn="ctr" fontAlgn="auto"/>
            <a:r>
              <a:rPr lang="en-US" altLang="zh-CN" sz="120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0" name="矩形 39"/>
          <p:cNvSpPr/>
          <p:nvPr/>
        </p:nvSpPr>
        <p:spPr bwMode="gray">
          <a:xfrm rot="16200000">
            <a:off x="1481324" y="1930089"/>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1" name="矩形 40"/>
          <p:cNvSpPr/>
          <p:nvPr/>
        </p:nvSpPr>
        <p:spPr bwMode="gray">
          <a:xfrm rot="16200000">
            <a:off x="1481324" y="3155917"/>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2" name="矩形 41"/>
          <p:cNvSpPr/>
          <p:nvPr/>
        </p:nvSpPr>
        <p:spPr bwMode="gray">
          <a:xfrm rot="16200000">
            <a:off x="1297930" y="2539028"/>
            <a:ext cx="1209744"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 Area1</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文本框 32"/>
          <p:cNvSpPr txBox="1"/>
          <p:nvPr/>
        </p:nvSpPr>
        <p:spPr>
          <a:xfrm>
            <a:off x="6164060" y="2560719"/>
            <a:ext cx="5580888" cy="289310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&lt;R2&gt; display </a:t>
            </a:r>
            <a:r>
              <a:rPr lang="en-US" altLang="zh-CN" sz="1400" dirty="0" err="1"/>
              <a:t>ospf</a:t>
            </a:r>
            <a:r>
              <a:rPr lang="en-US" altLang="zh-CN" sz="1400" dirty="0"/>
              <a:t> 1 peer </a:t>
            </a:r>
            <a:endParaRPr lang="zh-CN" altLang="en-US" sz="1400" dirty="0"/>
          </a:p>
          <a:p>
            <a:endParaRPr lang="zh-CN" altLang="en-US" sz="1400" dirty="0"/>
          </a:p>
          <a:p>
            <a:r>
              <a:rPr lang="zh-CN" altLang="en-US" sz="1400" dirty="0"/>
              <a:t>	 </a:t>
            </a:r>
            <a:r>
              <a:rPr lang="en-US" altLang="zh-CN" sz="1400" dirty="0"/>
              <a:t>OSPF Process 1 with Router ID 10.1.12.2</a:t>
            </a:r>
            <a:endParaRPr lang="zh-CN" altLang="en-US" sz="1400" dirty="0"/>
          </a:p>
          <a:p>
            <a:r>
              <a:rPr lang="zh-CN" altLang="en-US" sz="1400" dirty="0"/>
              <a:t>		 </a:t>
            </a:r>
            <a:r>
              <a:rPr lang="en-US" altLang="zh-CN" sz="1400" dirty="0"/>
              <a:t>Neighbors </a:t>
            </a:r>
            <a:endParaRPr lang="zh-CN" altLang="en-US" sz="1400" dirty="0"/>
          </a:p>
          <a:p>
            <a:endParaRPr lang="zh-CN" altLang="en-US" sz="1400" dirty="0"/>
          </a:p>
          <a:p>
            <a:r>
              <a:rPr lang="zh-CN" altLang="en-US" sz="1400" dirty="0"/>
              <a:t> </a:t>
            </a:r>
            <a:r>
              <a:rPr lang="en-US" altLang="zh-CN" sz="1400" dirty="0"/>
              <a:t>Area 0.0.0.1 interface 10.1.12.2(GigabitEthernet0/0/0)'s neighbors</a:t>
            </a:r>
            <a:endParaRPr lang="zh-CN" altLang="en-US" sz="1400" dirty="0"/>
          </a:p>
          <a:p>
            <a:r>
              <a:rPr lang="zh-CN" altLang="en-US" sz="1400" dirty="0"/>
              <a:t> </a:t>
            </a:r>
            <a:r>
              <a:rPr lang="en-US" altLang="zh-CN" sz="1400" dirty="0"/>
              <a:t>Router ID: 10.1.13.1    Address: 10.1.12.1       GR State: </a:t>
            </a:r>
            <a:r>
              <a:rPr lang="en-US" altLang="zh-CN" sz="1400" b="1" dirty="0">
                <a:solidFill>
                  <a:srgbClr val="C7000B"/>
                </a:solidFill>
              </a:rPr>
              <a:t>Doing GR   </a:t>
            </a:r>
            <a:endParaRPr lang="zh-CN" altLang="en-US" sz="1400" b="1" dirty="0">
              <a:solidFill>
                <a:srgbClr val="C7000B"/>
              </a:solidFill>
            </a:endParaRPr>
          </a:p>
          <a:p>
            <a:r>
              <a:rPr lang="zh-CN" altLang="en-US" sz="1400" dirty="0"/>
              <a:t>   </a:t>
            </a:r>
            <a:r>
              <a:rPr lang="en-US" altLang="zh-CN" sz="1400" dirty="0"/>
              <a:t>State: </a:t>
            </a:r>
            <a:r>
              <a:rPr lang="en-US" altLang="zh-CN" sz="1400" b="1" dirty="0">
                <a:solidFill>
                  <a:srgbClr val="C7000B"/>
                </a:solidFill>
              </a:rPr>
              <a:t>Full</a:t>
            </a:r>
            <a:r>
              <a:rPr lang="en-US" altLang="zh-CN" sz="1400" dirty="0"/>
              <a:t>                Mode: </a:t>
            </a:r>
            <a:r>
              <a:rPr lang="en-US" altLang="zh-CN" sz="1400" dirty="0" err="1"/>
              <a:t>Nbr</a:t>
            </a:r>
            <a:r>
              <a:rPr lang="en-US" altLang="zh-CN" sz="1400" dirty="0"/>
              <a:t> is  Master  Priority: 1</a:t>
            </a:r>
            <a:endParaRPr lang="zh-CN" altLang="en-US" sz="1400" dirty="0"/>
          </a:p>
          <a:p>
            <a:r>
              <a:rPr lang="zh-CN" altLang="en-US" sz="1400" dirty="0"/>
              <a:t>   </a:t>
            </a:r>
            <a:r>
              <a:rPr lang="en-US" altLang="zh-CN" sz="1400" dirty="0"/>
              <a:t>DR: 10.1.12.1            BDR: 10.1.12.2            MTU: 0    </a:t>
            </a:r>
            <a:endParaRPr lang="zh-CN" altLang="en-US" sz="1400" dirty="0"/>
          </a:p>
          <a:p>
            <a:r>
              <a:rPr lang="zh-CN" altLang="en-US" sz="1400" dirty="0"/>
              <a:t>   </a:t>
            </a:r>
            <a:r>
              <a:rPr lang="en-US" altLang="zh-CN" sz="1400" dirty="0"/>
              <a:t>Dead timer due in 32  sec </a:t>
            </a:r>
            <a:endParaRPr lang="zh-CN" altLang="en-US" sz="1400" dirty="0"/>
          </a:p>
          <a:p>
            <a:r>
              <a:rPr lang="zh-CN" altLang="en-US" sz="1400" dirty="0"/>
              <a:t>   </a:t>
            </a:r>
            <a:r>
              <a:rPr lang="en-US" altLang="zh-CN" sz="1400" dirty="0" err="1"/>
              <a:t>Retrans</a:t>
            </a:r>
            <a:r>
              <a:rPr lang="en-US" altLang="zh-CN" sz="1400" dirty="0"/>
              <a:t> timer interval: 5 </a:t>
            </a:r>
            <a:endParaRPr lang="zh-CN" altLang="en-US" sz="1400" dirty="0"/>
          </a:p>
          <a:p>
            <a:r>
              <a:rPr lang="zh-CN" altLang="en-US" sz="1400" dirty="0"/>
              <a:t>   </a:t>
            </a:r>
            <a:r>
              <a:rPr lang="en-US" altLang="zh-CN" sz="1400" dirty="0"/>
              <a:t>Neighbor is up for 00:00:13     </a:t>
            </a:r>
            <a:endParaRPr lang="zh-CN" altLang="en-US" sz="1400" dirty="0"/>
          </a:p>
          <a:p>
            <a:r>
              <a:rPr lang="zh-CN" altLang="en-US" sz="1400" dirty="0"/>
              <a:t>   </a:t>
            </a:r>
            <a:r>
              <a:rPr lang="en-US" altLang="zh-CN" sz="1400" dirty="0"/>
              <a:t>Authentication Sequence: [ 0 ] </a:t>
            </a:r>
            <a:endParaRPr lang="zh-CN" altLang="en-US" sz="1400" dirty="0"/>
          </a:p>
        </p:txBody>
      </p:sp>
      <p:sp>
        <p:nvSpPr>
          <p:cNvPr id="3" name="矩形 2"/>
          <p:cNvSpPr/>
          <p:nvPr/>
        </p:nvSpPr>
        <p:spPr bwMode="gray">
          <a:xfrm>
            <a:off x="8146122" y="5668304"/>
            <a:ext cx="3551887" cy="462803"/>
          </a:xfrm>
          <a:prstGeom prst="rect">
            <a:avLst/>
          </a:prstGeom>
          <a:solidFill>
            <a:srgbClr val="FFF8E5"/>
          </a:solidFill>
          <a:ln w="19050">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rPr>
              <a:t>R2</a:t>
            </a:r>
            <a:r>
              <a:rPr lang="zh-CN" altLang="en-US" sz="1400" dirty="0">
                <a:solidFill>
                  <a:schemeClr val="tx1"/>
                </a:solidFill>
              </a:rPr>
              <a:t>上</a:t>
            </a:r>
            <a:r>
              <a:rPr lang="en-US" altLang="zh-CN" sz="1400" dirty="0">
                <a:solidFill>
                  <a:schemeClr val="tx1"/>
                </a:solidFill>
              </a:rPr>
              <a:t>OSPF</a:t>
            </a:r>
            <a:r>
              <a:rPr lang="zh-CN" altLang="en-US" sz="1400" dirty="0">
                <a:solidFill>
                  <a:schemeClr val="tx1"/>
                </a:solidFill>
              </a:rPr>
              <a:t>邻居状态为</a:t>
            </a:r>
            <a:r>
              <a:rPr lang="en-US" altLang="zh-CN" sz="1400" dirty="0">
                <a:solidFill>
                  <a:schemeClr val="tx1"/>
                </a:solidFill>
              </a:rPr>
              <a:t>Full</a:t>
            </a:r>
            <a:r>
              <a:rPr lang="zh-CN" altLang="en-US" sz="1400" dirty="0">
                <a:solidFill>
                  <a:schemeClr val="tx1"/>
                </a:solidFill>
              </a:rPr>
              <a:t>，表示</a:t>
            </a:r>
            <a:r>
              <a:rPr lang="en-US" altLang="zh-CN" sz="1400" dirty="0">
                <a:solidFill>
                  <a:schemeClr val="tx1"/>
                </a:solidFill>
              </a:rPr>
              <a:t>R1</a:t>
            </a:r>
            <a:r>
              <a:rPr lang="zh-CN" altLang="en-US" sz="1400" dirty="0">
                <a:solidFill>
                  <a:schemeClr val="tx1"/>
                </a:solidFill>
              </a:rPr>
              <a:t>以</a:t>
            </a:r>
            <a:r>
              <a:rPr lang="en-US" altLang="zh-CN" sz="1400" dirty="0">
                <a:solidFill>
                  <a:schemeClr val="tx1"/>
                </a:solidFill>
              </a:rPr>
              <a:t>GR</a:t>
            </a:r>
            <a:r>
              <a:rPr lang="zh-CN" altLang="en-US" sz="1400" dirty="0">
                <a:solidFill>
                  <a:schemeClr val="tx1"/>
                </a:solidFill>
              </a:rPr>
              <a:t>方式重启</a:t>
            </a:r>
            <a:r>
              <a:rPr lang="en-US" altLang="zh-CN" sz="1400" dirty="0">
                <a:solidFill>
                  <a:schemeClr val="tx1"/>
                </a:solidFill>
              </a:rPr>
              <a:t>OSPF</a:t>
            </a:r>
            <a:r>
              <a:rPr lang="zh-CN" altLang="en-US" sz="1400" dirty="0">
                <a:solidFill>
                  <a:schemeClr val="tx1"/>
                </a:solidFill>
              </a:rPr>
              <a:t>进程时，</a:t>
            </a:r>
            <a:r>
              <a:rPr lang="en-US" altLang="zh-CN" sz="1400" dirty="0">
                <a:solidFill>
                  <a:schemeClr val="tx1"/>
                </a:solidFill>
              </a:rPr>
              <a:t>R2</a:t>
            </a:r>
            <a:r>
              <a:rPr lang="zh-CN" altLang="en-US" sz="1400" dirty="0">
                <a:solidFill>
                  <a:schemeClr val="tx1"/>
                </a:solidFill>
              </a:rPr>
              <a:t>上邻居关系不中断。</a:t>
            </a:r>
            <a:endParaRPr lang="zh-CN" altLang="en-US" sz="1400" dirty="0">
              <a:solidFill>
                <a:schemeClr val="tx1"/>
              </a:solidFill>
            </a:endParaRPr>
          </a:p>
        </p:txBody>
      </p:sp>
      <p:cxnSp>
        <p:nvCxnSpPr>
          <p:cNvPr id="12" name="肘形连接符 11"/>
          <p:cNvCxnSpPr>
            <a:stCxn id="3" idx="1"/>
          </p:cNvCxnSpPr>
          <p:nvPr/>
        </p:nvCxnSpPr>
        <p:spPr bwMode="gray">
          <a:xfrm rot="10800000">
            <a:off x="7783282" y="5453820"/>
            <a:ext cx="362841" cy="445886"/>
          </a:xfrm>
          <a:prstGeom prst="bentConnector2">
            <a:avLst/>
          </a:prstGeom>
          <a:solidFill>
            <a:srgbClr val="FFF8E5"/>
          </a:solidFill>
          <a:ln w="19050">
            <a:solidFill>
              <a:srgbClr val="FDD35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29" name="五边形 28"/>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OSPF GR</a:t>
            </a:r>
            <a:r>
              <a:rPr lang="zh-CN" altLang="en-US" dirty="0"/>
              <a:t>配置</a:t>
            </a:r>
            <a:r>
              <a:rPr lang="zh-CN" altLang="en-US"/>
              <a:t>举例 </a:t>
            </a:r>
            <a:r>
              <a:rPr lang="en-US" altLang="zh-CN"/>
              <a:t>(4)</a:t>
            </a:r>
            <a:endParaRPr lang="zh-CN" altLang="en-US" dirty="0"/>
          </a:p>
        </p:txBody>
      </p:sp>
      <p:sp>
        <p:nvSpPr>
          <p:cNvPr id="23" name="文本框 31"/>
          <p:cNvSpPr txBox="1"/>
          <p:nvPr/>
        </p:nvSpPr>
        <p:spPr>
          <a:xfrm>
            <a:off x="393521" y="1169965"/>
            <a:ext cx="11355565"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5</a:t>
            </a:r>
            <a:r>
              <a:rPr lang="zh-CN" altLang="en-US" sz="1600" dirty="0">
                <a:solidFill>
                  <a:prstClr val="black"/>
                </a:solidFill>
              </a:rPr>
              <a:t>、查看路由器上</a:t>
            </a:r>
            <a:r>
              <a:rPr lang="en-US" altLang="zh-CN" sz="1600" dirty="0">
                <a:solidFill>
                  <a:prstClr val="black"/>
                </a:solidFill>
              </a:rPr>
              <a:t>OSPF GR</a:t>
            </a:r>
            <a:r>
              <a:rPr lang="zh-CN" altLang="en-US" sz="1600" dirty="0">
                <a:solidFill>
                  <a:prstClr val="black"/>
                </a:solidFill>
              </a:rPr>
              <a:t>的状态：</a:t>
            </a:r>
            <a:r>
              <a:rPr lang="en-US" altLang="zh-CN" sz="1600" dirty="0">
                <a:solidFill>
                  <a:prstClr val="black"/>
                </a:solidFill>
              </a:rPr>
              <a:t>R1</a:t>
            </a:r>
            <a:r>
              <a:rPr lang="zh-CN" altLang="en-US" sz="1600" dirty="0">
                <a:solidFill>
                  <a:prstClr val="black"/>
                </a:solidFill>
              </a:rPr>
              <a:t>正常退出</a:t>
            </a:r>
            <a:r>
              <a:rPr lang="en-US" altLang="zh-CN" sz="1600" dirty="0">
                <a:solidFill>
                  <a:prstClr val="black"/>
                </a:solidFill>
              </a:rPr>
              <a:t>GR</a:t>
            </a:r>
            <a:r>
              <a:rPr lang="zh-CN" altLang="en-US" sz="1600" dirty="0">
                <a:solidFill>
                  <a:prstClr val="black"/>
                </a:solidFill>
              </a:rPr>
              <a:t>，</a:t>
            </a:r>
            <a:r>
              <a:rPr lang="en-US" altLang="zh-CN" sz="1600" dirty="0">
                <a:solidFill>
                  <a:prstClr val="black"/>
                </a:solidFill>
              </a:rPr>
              <a:t>R2</a:t>
            </a:r>
            <a:r>
              <a:rPr lang="zh-CN" altLang="en-US" sz="1600" dirty="0">
                <a:solidFill>
                  <a:prstClr val="black"/>
                </a:solidFill>
              </a:rPr>
              <a:t>正常退出</a:t>
            </a:r>
            <a:r>
              <a:rPr lang="en-US" altLang="zh-CN" sz="1600" dirty="0">
                <a:solidFill>
                  <a:prstClr val="black"/>
                </a:solidFill>
              </a:rPr>
              <a:t>Helper</a:t>
            </a:r>
            <a:r>
              <a:rPr lang="zh-CN" altLang="en-US" sz="1600" dirty="0">
                <a:solidFill>
                  <a:prstClr val="black"/>
                </a:solidFill>
              </a:rPr>
              <a:t>。</a:t>
            </a:r>
            <a:endParaRPr lang="zh-CN" altLang="en-US" sz="1600" dirty="0">
              <a:solidFill>
                <a:prstClr val="black"/>
              </a:solidFill>
            </a:endParaRPr>
          </a:p>
        </p:txBody>
      </p:sp>
      <p:sp>
        <p:nvSpPr>
          <p:cNvPr id="27" name="文本框 32"/>
          <p:cNvSpPr txBox="1"/>
          <p:nvPr/>
        </p:nvSpPr>
        <p:spPr>
          <a:xfrm>
            <a:off x="452438" y="1567917"/>
            <a:ext cx="5580888" cy="3877985"/>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dirty="0"/>
              <a:t>&lt;R1&gt; display </a:t>
            </a:r>
            <a:r>
              <a:rPr lang="en-US" altLang="zh-CN" sz="1200" dirty="0" err="1"/>
              <a:t>ospf</a:t>
            </a:r>
            <a:r>
              <a:rPr lang="en-US" altLang="zh-CN" sz="1200" dirty="0"/>
              <a:t> 1 graceful-restart</a:t>
            </a:r>
            <a:endParaRPr lang="zh-CN" altLang="en-US" sz="1200" dirty="0"/>
          </a:p>
          <a:p>
            <a:endParaRPr lang="zh-CN" altLang="en-US" sz="1200" dirty="0"/>
          </a:p>
          <a:p>
            <a:r>
              <a:rPr lang="zh-CN" altLang="en-US" sz="1200" dirty="0"/>
              <a:t>	 </a:t>
            </a:r>
            <a:r>
              <a:rPr lang="en-US" altLang="zh-CN" sz="1200" dirty="0"/>
              <a:t>OSPF Process 1 with Router ID 10.1.13.1</a:t>
            </a:r>
            <a:endParaRPr lang="zh-CN" altLang="en-US" sz="1200" dirty="0"/>
          </a:p>
          <a:p>
            <a:r>
              <a:rPr lang="zh-CN" altLang="en-US" sz="1200" dirty="0"/>
              <a:t> </a:t>
            </a:r>
            <a:r>
              <a:rPr lang="en-US" altLang="zh-CN" sz="1200" dirty="0"/>
              <a:t>Graceful-restart capability     : enabled</a:t>
            </a:r>
            <a:endParaRPr lang="zh-CN" altLang="en-US" sz="1200" dirty="0"/>
          </a:p>
          <a:p>
            <a:r>
              <a:rPr lang="zh-CN" altLang="en-US" sz="1200" dirty="0"/>
              <a:t> </a:t>
            </a:r>
            <a:r>
              <a:rPr lang="en-US" altLang="zh-CN" sz="1200" dirty="0"/>
              <a:t>Graceful-restart support        : planned and un-planned, totally</a:t>
            </a:r>
            <a:endParaRPr lang="zh-CN" altLang="en-US" sz="1200" dirty="0"/>
          </a:p>
          <a:p>
            <a:r>
              <a:rPr lang="zh-CN" altLang="en-US" sz="1200" dirty="0"/>
              <a:t> </a:t>
            </a:r>
            <a:r>
              <a:rPr lang="en-US" altLang="zh-CN" sz="1200" dirty="0"/>
              <a:t>Helper-policy support            : planned and un-planned, strict </a:t>
            </a:r>
            <a:r>
              <a:rPr lang="en-US" altLang="zh-CN" sz="1200" dirty="0" err="1"/>
              <a:t>lsa</a:t>
            </a:r>
            <a:r>
              <a:rPr lang="en-US" altLang="zh-CN" sz="1200" dirty="0"/>
              <a:t> check</a:t>
            </a:r>
            <a:endParaRPr lang="zh-CN" altLang="en-US" sz="1200" dirty="0"/>
          </a:p>
          <a:p>
            <a:r>
              <a:rPr lang="zh-CN" altLang="en-US" sz="1200" dirty="0"/>
              <a:t> </a:t>
            </a:r>
            <a:r>
              <a:rPr lang="en-US" altLang="zh-CN" sz="1200" dirty="0"/>
              <a:t>Current GR state                   : normal</a:t>
            </a:r>
            <a:endParaRPr lang="zh-CN" altLang="en-US" sz="1200" dirty="0"/>
          </a:p>
          <a:p>
            <a:r>
              <a:rPr lang="zh-CN" altLang="en-US" sz="1200" dirty="0"/>
              <a:t> </a:t>
            </a:r>
            <a:r>
              <a:rPr lang="en-US" altLang="zh-CN" sz="1200" dirty="0"/>
              <a:t>Graceful-restart period          : 120 seconds</a:t>
            </a:r>
            <a:endParaRPr lang="zh-CN" altLang="en-US" sz="1200" dirty="0"/>
          </a:p>
          <a:p>
            <a:endParaRPr lang="zh-CN" altLang="en-US" sz="1200" dirty="0"/>
          </a:p>
          <a:p>
            <a:r>
              <a:rPr lang="zh-CN" altLang="en-US" sz="1200" dirty="0"/>
              <a:t> </a:t>
            </a:r>
            <a:r>
              <a:rPr lang="en-US" altLang="zh-CN" sz="1200" dirty="0"/>
              <a:t>Number of neighbors under helper:</a:t>
            </a:r>
            <a:endParaRPr lang="zh-CN" altLang="en-US" sz="1200" dirty="0"/>
          </a:p>
          <a:p>
            <a:r>
              <a:rPr lang="zh-CN" altLang="en-US" sz="1200" dirty="0"/>
              <a:t>  </a:t>
            </a:r>
            <a:r>
              <a:rPr lang="en-US" altLang="zh-CN" sz="1200" dirty="0"/>
              <a:t>Normal neighbors     : 0</a:t>
            </a:r>
            <a:endParaRPr lang="zh-CN" altLang="en-US" sz="1200" dirty="0"/>
          </a:p>
          <a:p>
            <a:r>
              <a:rPr lang="zh-CN" altLang="en-US" sz="1200" dirty="0"/>
              <a:t>  </a:t>
            </a:r>
            <a:r>
              <a:rPr lang="en-US" altLang="zh-CN" sz="1200" dirty="0"/>
              <a:t>Virtual neighbors      : 0</a:t>
            </a:r>
            <a:endParaRPr lang="zh-CN" altLang="en-US" sz="1200" dirty="0"/>
          </a:p>
          <a:p>
            <a:r>
              <a:rPr lang="zh-CN" altLang="en-US" sz="1200" dirty="0"/>
              <a:t>  </a:t>
            </a:r>
            <a:r>
              <a:rPr lang="en-US" altLang="zh-CN" sz="1200" dirty="0"/>
              <a:t>Sham-link neighbors : 0</a:t>
            </a:r>
            <a:endParaRPr lang="zh-CN" altLang="en-US" sz="1200" dirty="0"/>
          </a:p>
          <a:p>
            <a:r>
              <a:rPr lang="zh-CN" altLang="en-US" sz="1200" dirty="0"/>
              <a:t>  </a:t>
            </a:r>
            <a:r>
              <a:rPr lang="en-US" altLang="zh-CN" sz="1200" dirty="0"/>
              <a:t>Total neighbors        : 0</a:t>
            </a:r>
            <a:endParaRPr lang="zh-CN" altLang="en-US" sz="1200" dirty="0"/>
          </a:p>
          <a:p>
            <a:endParaRPr lang="zh-CN" altLang="en-US" sz="1200" dirty="0"/>
          </a:p>
          <a:p>
            <a:r>
              <a:rPr lang="zh-CN" altLang="en-US" sz="1200" dirty="0"/>
              <a:t> </a:t>
            </a:r>
            <a:r>
              <a:rPr lang="en-US" altLang="zh-CN" sz="1200" dirty="0"/>
              <a:t>Number of restarting neighbors : 0</a:t>
            </a:r>
            <a:endParaRPr lang="zh-CN" altLang="en-US" sz="1200" dirty="0"/>
          </a:p>
          <a:p>
            <a:endParaRPr lang="zh-CN" altLang="en-US" sz="1200" dirty="0"/>
          </a:p>
          <a:p>
            <a:r>
              <a:rPr lang="zh-CN" altLang="en-US" sz="1200" dirty="0"/>
              <a:t> </a:t>
            </a:r>
            <a:r>
              <a:rPr lang="en-US" altLang="zh-CN" sz="1200" dirty="0"/>
              <a:t>Last exit reason:</a:t>
            </a:r>
            <a:endParaRPr lang="zh-CN" altLang="en-US" sz="1200" dirty="0"/>
          </a:p>
          <a:p>
            <a:r>
              <a:rPr lang="zh-CN" altLang="en-US" sz="1200" dirty="0"/>
              <a:t>  </a:t>
            </a:r>
            <a:r>
              <a:rPr lang="en-US" altLang="zh-CN" sz="1200" dirty="0"/>
              <a:t>On graceful restart : </a:t>
            </a:r>
            <a:r>
              <a:rPr lang="en-US" altLang="zh-CN" sz="1200" b="1" dirty="0">
                <a:solidFill>
                  <a:srgbClr val="C7000B"/>
                </a:solidFill>
              </a:rPr>
              <a:t>successful exit</a:t>
            </a:r>
            <a:endParaRPr lang="zh-CN" altLang="en-US" sz="1200" b="1" dirty="0">
              <a:solidFill>
                <a:srgbClr val="C7000B"/>
              </a:solidFill>
            </a:endParaRPr>
          </a:p>
          <a:p>
            <a:r>
              <a:rPr lang="zh-CN" altLang="en-US" sz="1200" dirty="0"/>
              <a:t>  </a:t>
            </a:r>
            <a:r>
              <a:rPr lang="en-US" altLang="zh-CN" sz="1200" dirty="0"/>
              <a:t>On Helper             : none</a:t>
            </a:r>
            <a:endParaRPr lang="zh-CN" altLang="en-US" sz="1200" dirty="0"/>
          </a:p>
        </p:txBody>
      </p:sp>
      <p:sp>
        <p:nvSpPr>
          <p:cNvPr id="29" name="文本框 32"/>
          <p:cNvSpPr txBox="1"/>
          <p:nvPr/>
        </p:nvSpPr>
        <p:spPr>
          <a:xfrm>
            <a:off x="6100762" y="1567917"/>
            <a:ext cx="5580888" cy="3877985"/>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200" dirty="0"/>
              <a:t>&lt;R2&gt; display </a:t>
            </a:r>
            <a:r>
              <a:rPr lang="en-US" altLang="zh-CN" sz="1200" dirty="0" err="1"/>
              <a:t>ospf</a:t>
            </a:r>
            <a:r>
              <a:rPr lang="en-US" altLang="zh-CN" sz="1200" dirty="0"/>
              <a:t> 1 graceful-restart </a:t>
            </a:r>
            <a:endParaRPr lang="zh-CN" altLang="en-US" sz="1200" dirty="0"/>
          </a:p>
          <a:p>
            <a:endParaRPr lang="zh-CN" altLang="en-US" sz="1200" dirty="0"/>
          </a:p>
          <a:p>
            <a:r>
              <a:rPr lang="zh-CN" altLang="en-US" sz="1200" dirty="0"/>
              <a:t>	 </a:t>
            </a:r>
            <a:r>
              <a:rPr lang="en-US" altLang="zh-CN" sz="1200" dirty="0"/>
              <a:t>OSPF Process 1 with Router ID 10.1.12.2</a:t>
            </a:r>
            <a:endParaRPr lang="zh-CN" altLang="en-US" sz="1200" dirty="0"/>
          </a:p>
          <a:p>
            <a:r>
              <a:rPr lang="zh-CN" altLang="en-US" sz="1200" dirty="0"/>
              <a:t> </a:t>
            </a:r>
            <a:r>
              <a:rPr lang="en-US" altLang="zh-CN" sz="1200" dirty="0"/>
              <a:t>Graceful-restart capability     : enabled</a:t>
            </a:r>
            <a:endParaRPr lang="zh-CN" altLang="en-US" sz="1200" dirty="0"/>
          </a:p>
          <a:p>
            <a:r>
              <a:rPr lang="zh-CN" altLang="en-US" sz="1200" dirty="0"/>
              <a:t> </a:t>
            </a:r>
            <a:r>
              <a:rPr lang="en-US" altLang="zh-CN" sz="1200" dirty="0"/>
              <a:t>Graceful-restart support        : planned and un-planned, totally</a:t>
            </a:r>
            <a:endParaRPr lang="zh-CN" altLang="en-US" sz="1200" dirty="0"/>
          </a:p>
          <a:p>
            <a:r>
              <a:rPr lang="zh-CN" altLang="en-US" sz="1200" dirty="0"/>
              <a:t> </a:t>
            </a:r>
            <a:r>
              <a:rPr lang="en-US" altLang="zh-CN" sz="1200" dirty="0"/>
              <a:t>Helper-policy support            : planned and un-planned, strict </a:t>
            </a:r>
            <a:r>
              <a:rPr lang="en-US" altLang="zh-CN" sz="1200" dirty="0" err="1"/>
              <a:t>lsa</a:t>
            </a:r>
            <a:r>
              <a:rPr lang="en-US" altLang="zh-CN" sz="1200" dirty="0"/>
              <a:t> check</a:t>
            </a:r>
            <a:endParaRPr lang="zh-CN" altLang="en-US" sz="1200" dirty="0"/>
          </a:p>
          <a:p>
            <a:r>
              <a:rPr lang="zh-CN" altLang="en-US" sz="1200" dirty="0"/>
              <a:t> </a:t>
            </a:r>
            <a:r>
              <a:rPr lang="en-US" altLang="zh-CN" sz="1200" dirty="0"/>
              <a:t>Current GR state                   : normal</a:t>
            </a:r>
            <a:endParaRPr lang="zh-CN" altLang="en-US" sz="1200" dirty="0"/>
          </a:p>
          <a:p>
            <a:r>
              <a:rPr lang="zh-CN" altLang="en-US" sz="1200" dirty="0"/>
              <a:t> </a:t>
            </a:r>
            <a:r>
              <a:rPr lang="en-US" altLang="zh-CN" sz="1200" dirty="0"/>
              <a:t>Graceful-restart period          : 120 seconds</a:t>
            </a:r>
            <a:endParaRPr lang="zh-CN" altLang="en-US" sz="1200" dirty="0"/>
          </a:p>
          <a:p>
            <a:endParaRPr lang="zh-CN" altLang="en-US" sz="1200" dirty="0"/>
          </a:p>
          <a:p>
            <a:r>
              <a:rPr lang="zh-CN" altLang="en-US" sz="1200" dirty="0"/>
              <a:t> </a:t>
            </a:r>
            <a:r>
              <a:rPr lang="en-US" altLang="zh-CN" sz="1200" dirty="0"/>
              <a:t>Number of neighbors under helper:</a:t>
            </a:r>
            <a:endParaRPr lang="zh-CN" altLang="en-US" sz="1200" dirty="0"/>
          </a:p>
          <a:p>
            <a:r>
              <a:rPr lang="zh-CN" altLang="en-US" sz="1200" dirty="0"/>
              <a:t>  </a:t>
            </a:r>
            <a:r>
              <a:rPr lang="en-US" altLang="zh-CN" sz="1200" dirty="0"/>
              <a:t>Normal neighbors      : 0</a:t>
            </a:r>
            <a:endParaRPr lang="zh-CN" altLang="en-US" sz="1200" dirty="0"/>
          </a:p>
          <a:p>
            <a:r>
              <a:rPr lang="zh-CN" altLang="en-US" sz="1200" dirty="0"/>
              <a:t>  </a:t>
            </a:r>
            <a:r>
              <a:rPr lang="en-US" altLang="zh-CN" sz="1200" dirty="0"/>
              <a:t>Virtual neighbors       : 0</a:t>
            </a:r>
            <a:endParaRPr lang="zh-CN" altLang="en-US" sz="1200" dirty="0"/>
          </a:p>
          <a:p>
            <a:r>
              <a:rPr lang="zh-CN" altLang="en-US" sz="1200" dirty="0"/>
              <a:t>  </a:t>
            </a:r>
            <a:r>
              <a:rPr lang="en-US" altLang="zh-CN" sz="1200" dirty="0"/>
              <a:t>Sham-link neighbors  : 0</a:t>
            </a:r>
            <a:endParaRPr lang="zh-CN" altLang="en-US" sz="1200" dirty="0"/>
          </a:p>
          <a:p>
            <a:r>
              <a:rPr lang="zh-CN" altLang="en-US" sz="1200" dirty="0"/>
              <a:t>  </a:t>
            </a:r>
            <a:r>
              <a:rPr lang="en-US" altLang="zh-CN" sz="1200" dirty="0"/>
              <a:t>Total neighbors         : 0</a:t>
            </a:r>
            <a:endParaRPr lang="zh-CN" altLang="en-US" sz="1200" dirty="0"/>
          </a:p>
          <a:p>
            <a:endParaRPr lang="zh-CN" altLang="en-US" sz="1200" dirty="0"/>
          </a:p>
          <a:p>
            <a:r>
              <a:rPr lang="zh-CN" altLang="en-US" sz="1200" dirty="0"/>
              <a:t> </a:t>
            </a:r>
            <a:r>
              <a:rPr lang="en-US" altLang="zh-CN" sz="1200" dirty="0"/>
              <a:t>Number of restarting neighbors : 0</a:t>
            </a:r>
            <a:endParaRPr lang="zh-CN" altLang="en-US" sz="1200" dirty="0"/>
          </a:p>
          <a:p>
            <a:endParaRPr lang="zh-CN" altLang="en-US" sz="1200" dirty="0"/>
          </a:p>
          <a:p>
            <a:r>
              <a:rPr lang="zh-CN" altLang="en-US" sz="1200" dirty="0"/>
              <a:t> </a:t>
            </a:r>
            <a:r>
              <a:rPr lang="en-US" altLang="zh-CN" sz="1200" dirty="0"/>
              <a:t>Last exit reason:</a:t>
            </a:r>
            <a:endParaRPr lang="zh-CN" altLang="en-US" sz="1200" dirty="0"/>
          </a:p>
          <a:p>
            <a:r>
              <a:rPr lang="zh-CN" altLang="en-US" sz="1200" dirty="0"/>
              <a:t>  </a:t>
            </a:r>
            <a:r>
              <a:rPr lang="en-US" altLang="zh-CN" sz="1200" dirty="0"/>
              <a:t>On graceful restart : none</a:t>
            </a:r>
            <a:endParaRPr lang="zh-CN" altLang="en-US" sz="1200" dirty="0"/>
          </a:p>
          <a:p>
            <a:r>
              <a:rPr lang="zh-CN" altLang="en-US" sz="1200" dirty="0"/>
              <a:t>  </a:t>
            </a:r>
            <a:r>
              <a:rPr lang="en-US" altLang="zh-CN" sz="1200" dirty="0"/>
              <a:t>On Helper              : </a:t>
            </a:r>
            <a:r>
              <a:rPr lang="en-US" altLang="zh-CN" sz="1200" b="1" dirty="0">
                <a:solidFill>
                  <a:srgbClr val="C7000B"/>
                </a:solidFill>
              </a:rPr>
              <a:t>successful exit</a:t>
            </a:r>
            <a:endParaRPr lang="zh-CN" altLang="en-US" sz="1200" b="1" dirty="0">
              <a:solidFill>
                <a:srgbClr val="C7000B"/>
              </a:solidFill>
            </a:endParaRPr>
          </a:p>
        </p:txBody>
      </p:sp>
      <p:sp>
        <p:nvSpPr>
          <p:cNvPr id="6" name="五边形 5"/>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燕尾形 6"/>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燕尾形 7"/>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燕尾形 8"/>
          <p:cNvSpPr/>
          <p:nvPr/>
        </p:nvSpPr>
        <p:spPr bwMode="auto">
          <a:xfrm>
            <a:off x="10635462" y="124239"/>
            <a:ext cx="6012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11143360" y="124239"/>
            <a:ext cx="602552"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NSR</a:t>
            </a:r>
            <a:endParaRPr lang="zh-CN" altLang="en-US" dirty="0"/>
          </a:p>
        </p:txBody>
      </p:sp>
      <p:sp>
        <p:nvSpPr>
          <p:cNvPr id="3" name="文本占位符 2"/>
          <p:cNvSpPr>
            <a:spLocks noGrp="1"/>
          </p:cNvSpPr>
          <p:nvPr>
            <p:ph type="body" sz="quarter" idx="10"/>
          </p:nvPr>
        </p:nvSpPr>
        <p:spPr>
          <a:xfrm>
            <a:off x="455612" y="1047750"/>
            <a:ext cx="11293475" cy="885553"/>
          </a:xfrm>
        </p:spPr>
        <p:txBody>
          <a:bodyPr/>
          <a:lstStyle/>
          <a:p>
            <a:r>
              <a:rPr lang="zh-CN" altLang="en-US" sz="1800" dirty="0"/>
              <a:t>高可靠性的解决方案包括不间断转发（</a:t>
            </a:r>
            <a:r>
              <a:rPr lang="en-US" altLang="zh-CN" sz="1800" dirty="0"/>
              <a:t>Non-Stopping Forwarding</a:t>
            </a:r>
            <a:r>
              <a:rPr lang="zh-CN" altLang="en-US" sz="1800" dirty="0"/>
              <a:t>，</a:t>
            </a:r>
            <a:r>
              <a:rPr lang="en-US" altLang="zh-CN" sz="1800" dirty="0"/>
              <a:t>NSF</a:t>
            </a:r>
            <a:r>
              <a:rPr lang="zh-CN" altLang="en-US" sz="1800" dirty="0"/>
              <a:t>）和不间断路由（</a:t>
            </a:r>
            <a:r>
              <a:rPr lang="en-US" altLang="zh-CN" sz="1800" dirty="0"/>
              <a:t>Non-Stopping Routing</a:t>
            </a:r>
            <a:r>
              <a:rPr lang="zh-CN" altLang="en-US" sz="1800" dirty="0"/>
              <a:t>，</a:t>
            </a:r>
            <a:r>
              <a:rPr lang="en-US" altLang="zh-CN" sz="1800" dirty="0"/>
              <a:t>NSR</a:t>
            </a:r>
            <a:r>
              <a:rPr lang="zh-CN" altLang="en-US" sz="1800" dirty="0"/>
              <a:t>）。</a:t>
            </a:r>
            <a:endParaRPr lang="en-US" altLang="zh-CN" sz="1800" dirty="0"/>
          </a:p>
        </p:txBody>
      </p:sp>
      <p:sp>
        <p:nvSpPr>
          <p:cNvPr id="5" name="圆角矩形 75"/>
          <p:cNvSpPr/>
          <p:nvPr/>
        </p:nvSpPr>
        <p:spPr bwMode="gray">
          <a:xfrm>
            <a:off x="884737" y="1933303"/>
            <a:ext cx="5063217" cy="338820"/>
          </a:xfrm>
          <a:prstGeom prst="roundRect">
            <a:avLst>
              <a:gd name="adj" fmla="val 10604"/>
            </a:avLst>
          </a:prstGeom>
          <a:gradFill>
            <a:gsLst>
              <a:gs pos="0">
                <a:schemeClr val="bg1"/>
              </a:gs>
              <a:gs pos="100000">
                <a:schemeClr val="bg1">
                  <a:lumMod val="85000"/>
                </a:schemeClr>
              </a:gs>
            </a:gsLst>
            <a:lin ang="5400000" scaled="1"/>
          </a:grad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NSF</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884737" y="2309607"/>
            <a:ext cx="5063217" cy="333786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通过协议的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机制，支持系统主备倒换时，</a:t>
            </a:r>
            <a:r>
              <a:rPr lang="zh-CN" altLang="en-US" sz="1400" u="sng"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转发业务</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不中断。</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45" indent="-176530" algn="just" fontAlgn="auto">
              <a:lnSpc>
                <a:spcPts val="2600"/>
              </a:lnSpc>
              <a:spcBef>
                <a:spcPts val="0"/>
              </a:spcBef>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当由于某种原因系统发生故障时，在系统重启过程中，转发平面（业务）不中断。</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45" indent="-176530" algn="just" fontAlgn="auto">
              <a:lnSpc>
                <a:spcPts val="2600"/>
              </a:lnSpc>
              <a:spcBef>
                <a:spcPts val="0"/>
              </a:spcBef>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系统恢复后，设备能够重新建立邻居关系，从邻居处获取路由信息并重建路由表。</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75"/>
          <p:cNvSpPr/>
          <p:nvPr/>
        </p:nvSpPr>
        <p:spPr bwMode="gray">
          <a:xfrm>
            <a:off x="6110651" y="1933303"/>
            <a:ext cx="5063217"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75"/>
          <p:cNvSpPr/>
          <p:nvPr/>
        </p:nvSpPr>
        <p:spPr bwMode="gray">
          <a:xfrm>
            <a:off x="6110651" y="2309607"/>
            <a:ext cx="5063217" cy="3337869"/>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通过协议备份机制，实现主备倒换时</a:t>
            </a:r>
            <a:r>
              <a:rPr lang="zh-CN" altLang="en-US" sz="1400" u="sng"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控制平面（路由）</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zh-CN" altLang="en-US" sz="1400" u="sng"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转发平面（业务）</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均不中断。</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在设备发生倒换的过程中，路由处理不中断，因为：</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45" indent="-176530" algn="just" fontAlgn="auto">
              <a:lnSpc>
                <a:spcPts val="2600"/>
              </a:lnSpc>
              <a:spcBef>
                <a:spcPts val="0"/>
              </a:spcBef>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邻居和拓扑信息不丢失；</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45" indent="-176530" algn="just" fontAlgn="auto">
              <a:lnSpc>
                <a:spcPts val="2600"/>
              </a:lnSpc>
              <a:spcBef>
                <a:spcPts val="0"/>
              </a:spcBef>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邻居关系不中断。</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优点：</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45" indent="-176530" algn="just" fontAlgn="auto">
              <a:lnSpc>
                <a:spcPts val="2600"/>
              </a:lnSpc>
              <a:spcBef>
                <a:spcPts val="0"/>
              </a:spcBef>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不依赖也不影响对端设备，没有互通问题；</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60045" indent="-176530" algn="just" fontAlgn="auto">
              <a:lnSpc>
                <a:spcPts val="2600"/>
              </a:lnSpc>
              <a:spcBef>
                <a:spcPts val="0"/>
              </a:spcBef>
              <a:spcAft>
                <a:spcPts val="600"/>
              </a:spcAft>
              <a:buFont typeface="Huawei Sans" panose="020C0503030203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路由的收敛速度要比</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NSF</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快。</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占位符 2"/>
          <p:cNvSpPr txBox="1"/>
          <p:nvPr/>
        </p:nvSpPr>
        <p:spPr bwMode="auto">
          <a:xfrm>
            <a:off x="455612" y="5647476"/>
            <a:ext cx="11293475" cy="553299"/>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ctr" latinLnBrk="0" hangingPunct="1">
              <a:lnSpc>
                <a:spcPct val="140000"/>
              </a:lnSpc>
              <a:spcBef>
                <a:spcPts val="790"/>
              </a:spcBef>
              <a:buClrTx/>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dirty="0"/>
              <a:t>NSR</a:t>
            </a:r>
            <a:r>
              <a:rPr lang="zh-CN" altLang="en-US" sz="1800" dirty="0"/>
              <a:t>是在有主用主控板和备用主控板的设备上，主用主控板发生故障时不影响邻居关系的一种可靠性技术。</a:t>
            </a:r>
            <a:endParaRPr lang="zh-CN" altLang="en-US" sz="1800" dirty="0"/>
          </a:p>
        </p:txBody>
      </p:sp>
      <p:sp>
        <p:nvSpPr>
          <p:cNvPr id="12" name="五边形 11"/>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1143360" y="124239"/>
            <a:ext cx="6025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NSR</a:t>
            </a:r>
            <a:r>
              <a:rPr lang="zh-CN" altLang="en-US" dirty="0"/>
              <a:t>原理</a:t>
            </a:r>
            <a:endParaRPr lang="zh-CN" altLang="en-US" dirty="0"/>
          </a:p>
        </p:txBody>
      </p:sp>
      <p:sp>
        <p:nvSpPr>
          <p:cNvPr id="3" name="文本占位符 2"/>
          <p:cNvSpPr>
            <a:spLocks noGrp="1"/>
          </p:cNvSpPr>
          <p:nvPr>
            <p:ph type="body" sz="quarter" idx="10"/>
          </p:nvPr>
        </p:nvSpPr>
        <p:spPr>
          <a:xfrm>
            <a:off x="6096000" y="1398807"/>
            <a:ext cx="5653087" cy="4528748"/>
          </a:xfrm>
        </p:spPr>
        <p:txBody>
          <a:bodyPr/>
          <a:lstStyle/>
          <a:p>
            <a:r>
              <a:rPr lang="en-US" altLang="zh-CN" sz="1600" dirty="0"/>
              <a:t>NSR</a:t>
            </a:r>
            <a:r>
              <a:rPr lang="zh-CN" altLang="en-US" sz="1600" dirty="0"/>
              <a:t>原理主要包括以下三个过程：</a:t>
            </a:r>
            <a:endParaRPr lang="zh-CN" altLang="en-US" sz="1600" dirty="0"/>
          </a:p>
          <a:p>
            <a:pPr lvl="1"/>
            <a:r>
              <a:rPr lang="zh-CN" altLang="en-US" sz="1400" dirty="0"/>
              <a:t>批量备份：</a:t>
            </a:r>
            <a:r>
              <a:rPr lang="en-US" altLang="zh-CN" sz="1400" dirty="0"/>
              <a:t>NSR</a:t>
            </a:r>
            <a:r>
              <a:rPr lang="zh-CN" altLang="en-US" sz="1400" dirty="0"/>
              <a:t>功能使能后，备板重启时，主用主控板将路由信息和转发信息批量备份到备用主控板上。批量备份过程在实时备份过程之前进行，此时</a:t>
            </a:r>
            <a:r>
              <a:rPr lang="en-US" altLang="zh-CN" sz="1400" dirty="0"/>
              <a:t>NSR</a:t>
            </a:r>
            <a:r>
              <a:rPr lang="zh-CN" altLang="en-US" sz="1400" dirty="0"/>
              <a:t>无法实施主备倒换过程。</a:t>
            </a:r>
            <a:endParaRPr lang="zh-CN" altLang="en-US" sz="1400" dirty="0"/>
          </a:p>
          <a:p>
            <a:pPr lvl="1"/>
            <a:r>
              <a:rPr lang="zh-CN" altLang="en-US" sz="1400" dirty="0"/>
              <a:t>实时备份：当批量备份过程结束后，系统进入实时备份阶段。任何在控制平面和转发平面的改变都将实时从主用主控板备份到备用主控板上。在该阶段，备用主控板能够随时代替主用主控板工作。</a:t>
            </a:r>
            <a:endParaRPr lang="zh-CN" altLang="en-US" sz="1400" dirty="0"/>
          </a:p>
          <a:p>
            <a:pPr lvl="1"/>
            <a:r>
              <a:rPr lang="zh-CN" altLang="en-US" sz="1400" dirty="0"/>
              <a:t>主备倒换：在已经完成备份的</a:t>
            </a:r>
            <a:r>
              <a:rPr lang="en-US" altLang="zh-CN" sz="1400" dirty="0"/>
              <a:t>NSR</a:t>
            </a:r>
            <a:r>
              <a:rPr lang="zh-CN" altLang="en-US" sz="1400" dirty="0"/>
              <a:t>系统主用主控板发生故障时，备用主控板会通过硬件状态感知到主用主控板故障，并成为新的主用主控板。备用主控板升主后，该单板会切换接口板的报文上送通道。由于倒换时间足够短，路由协议在主备切换的过程中不会和邻居节点断连。</a:t>
            </a:r>
            <a:endParaRPr lang="zh-CN" altLang="en-US" sz="1400" dirty="0"/>
          </a:p>
        </p:txBody>
      </p:sp>
      <p:sp>
        <p:nvSpPr>
          <p:cNvPr id="4" name="矩形 3"/>
          <p:cNvSpPr/>
          <p:nvPr/>
        </p:nvSpPr>
        <p:spPr bwMode="gray">
          <a:xfrm>
            <a:off x="771932" y="1593990"/>
            <a:ext cx="2190576" cy="1532414"/>
          </a:xfrm>
          <a:prstGeom prst="rect">
            <a:avLst/>
          </a:prstGeom>
          <a:solidFill>
            <a:srgbClr val="F5FCFD"/>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p:nvPr/>
        </p:nvPicPr>
        <p:blipFill>
          <a:blip r:embed="rId1" cstate="print">
            <a:extLst>
              <a:ext uri="{28A0092B-C50C-407E-A947-70E740481C1C}">
                <a14:useLocalDpi xmlns:a14="http://schemas.microsoft.com/office/drawing/2010/main" val="0"/>
              </a:ext>
            </a:extLst>
          </a:blip>
          <a:stretch>
            <a:fillRect/>
          </a:stretch>
        </p:blipFill>
        <p:spPr bwMode="gray">
          <a:xfrm>
            <a:off x="1057969" y="3573175"/>
            <a:ext cx="540000" cy="442800"/>
          </a:xfrm>
          <a:prstGeom prst="rect">
            <a:avLst/>
          </a:prstGeom>
        </p:spPr>
      </p:pic>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2173633" y="3573175"/>
            <a:ext cx="540000" cy="442800"/>
          </a:xfrm>
          <a:prstGeom prst="rect">
            <a:avLst/>
          </a:prstGeom>
        </p:spPr>
      </p:pic>
      <p:sp>
        <p:nvSpPr>
          <p:cNvPr id="13" name="矩形 12"/>
          <p:cNvSpPr/>
          <p:nvPr/>
        </p:nvSpPr>
        <p:spPr bwMode="gray">
          <a:xfrm>
            <a:off x="1297985" y="3996884"/>
            <a:ext cx="1166924"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邻居节点</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2" name="矩形 21"/>
          <p:cNvSpPr/>
          <p:nvPr/>
        </p:nvSpPr>
        <p:spPr>
          <a:xfrm>
            <a:off x="963626" y="1793991"/>
            <a:ext cx="634343" cy="2960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AMB</a:t>
            </a:r>
            <a:endParaRPr lang="zh-CN" altLang="en-US" sz="1400" dirty="0"/>
          </a:p>
        </p:txBody>
      </p:sp>
      <p:sp>
        <p:nvSpPr>
          <p:cNvPr id="23" name="矩形 22"/>
          <p:cNvSpPr/>
          <p:nvPr/>
        </p:nvSpPr>
        <p:spPr>
          <a:xfrm>
            <a:off x="2173633" y="1793991"/>
            <a:ext cx="634343" cy="29609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SMB</a:t>
            </a:r>
            <a:endParaRPr lang="zh-CN" altLang="en-US" sz="1400" dirty="0"/>
          </a:p>
        </p:txBody>
      </p:sp>
      <p:sp>
        <p:nvSpPr>
          <p:cNvPr id="24" name="矩形 23"/>
          <p:cNvSpPr/>
          <p:nvPr/>
        </p:nvSpPr>
        <p:spPr>
          <a:xfrm>
            <a:off x="963626" y="2663056"/>
            <a:ext cx="1844350" cy="2960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LPU</a:t>
            </a:r>
            <a:endParaRPr lang="zh-CN" altLang="en-US" sz="1400" dirty="0"/>
          </a:p>
        </p:txBody>
      </p:sp>
      <p:cxnSp>
        <p:nvCxnSpPr>
          <p:cNvPr id="26" name="直接箭头连接符 25"/>
          <p:cNvCxnSpPr>
            <a:stCxn id="22" idx="3"/>
            <a:endCxn id="23" idx="1"/>
          </p:cNvCxnSpPr>
          <p:nvPr/>
        </p:nvCxnSpPr>
        <p:spPr>
          <a:xfrm>
            <a:off x="1597969" y="1942037"/>
            <a:ext cx="575664"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a:stCxn id="22" idx="2"/>
          </p:cNvCxnSpPr>
          <p:nvPr/>
        </p:nvCxnSpPr>
        <p:spPr>
          <a:xfrm>
            <a:off x="1280798" y="2090082"/>
            <a:ext cx="0" cy="572974"/>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gray">
          <a:xfrm>
            <a:off x="1154704" y="2245254"/>
            <a:ext cx="1090634"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报文上送</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3" name="矩形 32"/>
          <p:cNvSpPr/>
          <p:nvPr/>
        </p:nvSpPr>
        <p:spPr bwMode="gray">
          <a:xfrm>
            <a:off x="3817364" y="1593990"/>
            <a:ext cx="2190576" cy="1532414"/>
          </a:xfrm>
          <a:prstGeom prst="rect">
            <a:avLst/>
          </a:prstGeom>
          <a:solidFill>
            <a:srgbClr val="F5FCFD"/>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4009058" y="1793991"/>
            <a:ext cx="634343" cy="2960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AMB</a:t>
            </a:r>
            <a:endParaRPr lang="zh-CN" altLang="en-US" sz="1400" dirty="0"/>
          </a:p>
        </p:txBody>
      </p:sp>
      <p:sp>
        <p:nvSpPr>
          <p:cNvPr id="35" name="矩形 34"/>
          <p:cNvSpPr/>
          <p:nvPr/>
        </p:nvSpPr>
        <p:spPr>
          <a:xfrm>
            <a:off x="5219065" y="1793991"/>
            <a:ext cx="634343" cy="296091"/>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SMB</a:t>
            </a:r>
            <a:endParaRPr lang="zh-CN" altLang="en-US" sz="1400" dirty="0"/>
          </a:p>
        </p:txBody>
      </p:sp>
      <p:sp>
        <p:nvSpPr>
          <p:cNvPr id="36" name="矩形 35"/>
          <p:cNvSpPr/>
          <p:nvPr/>
        </p:nvSpPr>
        <p:spPr>
          <a:xfrm>
            <a:off x="4009058" y="2663056"/>
            <a:ext cx="1844350" cy="2960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LPU</a:t>
            </a:r>
            <a:endParaRPr lang="zh-CN" altLang="en-US" sz="1400" dirty="0"/>
          </a:p>
        </p:txBody>
      </p:sp>
      <p:cxnSp>
        <p:nvCxnSpPr>
          <p:cNvPr id="37" name="直接箭头连接符 36"/>
          <p:cNvCxnSpPr>
            <a:stCxn id="34" idx="3"/>
            <a:endCxn id="35" idx="1"/>
          </p:cNvCxnSpPr>
          <p:nvPr/>
        </p:nvCxnSpPr>
        <p:spPr>
          <a:xfrm>
            <a:off x="4643401" y="1942037"/>
            <a:ext cx="575664"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5528013" y="2090082"/>
            <a:ext cx="0" cy="572974"/>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9" name="矩形 38"/>
          <p:cNvSpPr/>
          <p:nvPr/>
        </p:nvSpPr>
        <p:spPr bwMode="gray">
          <a:xfrm>
            <a:off x="4556845" y="2245254"/>
            <a:ext cx="1090634"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报文上送</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42" name="直接箭头连接符 41"/>
          <p:cNvCxnSpPr>
            <a:stCxn id="33" idx="1"/>
            <a:endCxn id="4" idx="3"/>
          </p:cNvCxnSpPr>
          <p:nvPr/>
        </p:nvCxnSpPr>
        <p:spPr>
          <a:xfrm flipH="1">
            <a:off x="2962508" y="2360197"/>
            <a:ext cx="854856"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gray">
          <a:xfrm>
            <a:off x="2843042" y="2054239"/>
            <a:ext cx="109063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NSR</a:t>
            </a:r>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倒换</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48" name="图片 47"/>
          <p:cNvPicPr/>
          <p:nvPr/>
        </p:nvPicPr>
        <p:blipFill>
          <a:blip r:embed="rId1" cstate="print">
            <a:extLst>
              <a:ext uri="{28A0092B-C50C-407E-A947-70E740481C1C}">
                <a14:useLocalDpi xmlns:a14="http://schemas.microsoft.com/office/drawing/2010/main" val="0"/>
              </a:ext>
            </a:extLst>
          </a:blip>
          <a:stretch>
            <a:fillRect/>
          </a:stretch>
        </p:blipFill>
        <p:spPr bwMode="gray">
          <a:xfrm>
            <a:off x="4103401" y="3573175"/>
            <a:ext cx="540000" cy="442800"/>
          </a:xfrm>
          <a:prstGeom prst="rect">
            <a:avLst/>
          </a:prstGeom>
        </p:spPr>
      </p:pic>
      <p:pic>
        <p:nvPicPr>
          <p:cNvPr id="49" name="图片 48"/>
          <p:cNvPicPr/>
          <p:nvPr/>
        </p:nvPicPr>
        <p:blipFill>
          <a:blip r:embed="rId1" cstate="print">
            <a:extLst>
              <a:ext uri="{28A0092B-C50C-407E-A947-70E740481C1C}">
                <a14:useLocalDpi xmlns:a14="http://schemas.microsoft.com/office/drawing/2010/main" val="0"/>
              </a:ext>
            </a:extLst>
          </a:blip>
          <a:stretch>
            <a:fillRect/>
          </a:stretch>
        </p:blipFill>
        <p:spPr bwMode="gray">
          <a:xfrm>
            <a:off x="5219065" y="3592896"/>
            <a:ext cx="540000" cy="442800"/>
          </a:xfrm>
          <a:prstGeom prst="rect">
            <a:avLst/>
          </a:prstGeom>
        </p:spPr>
      </p:pic>
      <p:cxnSp>
        <p:nvCxnSpPr>
          <p:cNvPr id="50" name="直接箭头连接符 49"/>
          <p:cNvCxnSpPr>
            <a:stCxn id="6" idx="0"/>
          </p:cNvCxnSpPr>
          <p:nvPr/>
        </p:nvCxnSpPr>
        <p:spPr>
          <a:xfrm flipV="1">
            <a:off x="1327969" y="3138148"/>
            <a:ext cx="270000" cy="435027"/>
          </a:xfrm>
          <a:prstGeom prst="straightConnector1">
            <a:avLst/>
          </a:prstGeom>
          <a:ln w="19050">
            <a:solidFill>
              <a:srgbClr val="1163AB"/>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flipV="1">
            <a:off x="4373164" y="3138148"/>
            <a:ext cx="270000" cy="435027"/>
          </a:xfrm>
          <a:prstGeom prst="straightConnector1">
            <a:avLst/>
          </a:prstGeom>
          <a:ln w="19050">
            <a:solidFill>
              <a:srgbClr val="1163AB"/>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flipH="1" flipV="1">
            <a:off x="2169962" y="3138148"/>
            <a:ext cx="270000" cy="435027"/>
          </a:xfrm>
          <a:prstGeom prst="straightConnector1">
            <a:avLst/>
          </a:prstGeom>
          <a:ln w="19050">
            <a:solidFill>
              <a:srgbClr val="1163AB"/>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flipH="1" flipV="1">
            <a:off x="5210356" y="3138148"/>
            <a:ext cx="270000" cy="435027"/>
          </a:xfrm>
          <a:prstGeom prst="straightConnector1">
            <a:avLst/>
          </a:prstGeom>
          <a:ln w="19050">
            <a:solidFill>
              <a:srgbClr val="1163AB"/>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bwMode="gray">
          <a:xfrm>
            <a:off x="4344700" y="3996884"/>
            <a:ext cx="1166924"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邻居节点</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7" name="乘号 56"/>
          <p:cNvSpPr/>
          <p:nvPr/>
        </p:nvSpPr>
        <p:spPr>
          <a:xfrm>
            <a:off x="4135954" y="1926832"/>
            <a:ext cx="364106" cy="365244"/>
          </a:xfrm>
          <a:prstGeom prst="mathMultiply">
            <a:avLst>
              <a:gd name="adj1" fmla="val 7834"/>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流程图: 联系 57"/>
          <p:cNvSpPr/>
          <p:nvPr/>
        </p:nvSpPr>
        <p:spPr>
          <a:xfrm>
            <a:off x="1776134" y="1398807"/>
            <a:ext cx="182172" cy="170316"/>
          </a:xfrm>
          <a:prstGeom prst="flowChartConnector">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sp>
        <p:nvSpPr>
          <p:cNvPr id="59" name="流程图: 联系 58"/>
          <p:cNvSpPr/>
          <p:nvPr/>
        </p:nvSpPr>
        <p:spPr>
          <a:xfrm>
            <a:off x="4837076" y="1398807"/>
            <a:ext cx="182172" cy="170316"/>
          </a:xfrm>
          <a:prstGeom prst="flowChartConnector">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sp>
        <p:nvSpPr>
          <p:cNvPr id="60" name="矩形 59"/>
          <p:cNvSpPr/>
          <p:nvPr/>
        </p:nvSpPr>
        <p:spPr bwMode="gray">
          <a:xfrm>
            <a:off x="1215642" y="4708649"/>
            <a:ext cx="3315432" cy="307777"/>
          </a:xfrm>
          <a:prstGeom prst="rect">
            <a:avLst/>
          </a:prstGeom>
        </p:spPr>
        <p:txBody>
          <a:bodyPr wrap="square">
            <a:spAutoFit/>
          </a:bodyPr>
          <a:lstStyle/>
          <a:p>
            <a:pP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控制平面路由协议实时备份路由信息。</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1" name="流程图: 联系 60"/>
          <p:cNvSpPr/>
          <p:nvPr/>
        </p:nvSpPr>
        <p:spPr>
          <a:xfrm>
            <a:off x="1033470" y="4777379"/>
            <a:ext cx="182172" cy="170316"/>
          </a:xfrm>
          <a:prstGeom prst="flowChartConnector">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sp>
        <p:nvSpPr>
          <p:cNvPr id="62" name="矩形 61"/>
          <p:cNvSpPr/>
          <p:nvPr/>
        </p:nvSpPr>
        <p:spPr bwMode="gray">
          <a:xfrm>
            <a:off x="1215642" y="5094153"/>
            <a:ext cx="4431837" cy="523220"/>
          </a:xfrm>
          <a:prstGeom prst="rect">
            <a:avLst/>
          </a:prstGeom>
        </p:spPr>
        <p:txBody>
          <a:bodyPr wrap="square">
            <a:spAutoFit/>
          </a:bodyPr>
          <a:lstStyle/>
          <a:p>
            <a:pP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硬件通道感知主用主控板异常，通知备用主控板升主，同时切换接口板上送报文通道。</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3" name="流程图: 联系 62"/>
          <p:cNvSpPr/>
          <p:nvPr/>
        </p:nvSpPr>
        <p:spPr>
          <a:xfrm>
            <a:off x="1033470" y="5162883"/>
            <a:ext cx="182172" cy="170316"/>
          </a:xfrm>
          <a:prstGeom prst="flowChartConnector">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sp>
        <p:nvSpPr>
          <p:cNvPr id="40" name="五边形 39"/>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燕尾形 40"/>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燕尾形 42"/>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燕尾形 43"/>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11143360" y="124239"/>
            <a:ext cx="6025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NSR</a:t>
            </a:r>
            <a:r>
              <a:rPr lang="zh-CN" altLang="en-US" dirty="0"/>
              <a:t>倒换流程：批量备份过程</a:t>
            </a:r>
            <a:endParaRPr lang="zh-CN" altLang="en-US" dirty="0"/>
          </a:p>
        </p:txBody>
      </p:sp>
      <p:sp>
        <p:nvSpPr>
          <p:cNvPr id="3" name="文本占位符 2"/>
          <p:cNvSpPr>
            <a:spLocks noGrp="1"/>
          </p:cNvSpPr>
          <p:nvPr>
            <p:ph type="body" sz="quarter" idx="10"/>
          </p:nvPr>
        </p:nvSpPr>
        <p:spPr>
          <a:xfrm>
            <a:off x="6096000" y="1398807"/>
            <a:ext cx="5653087" cy="4528748"/>
          </a:xfrm>
        </p:spPr>
        <p:txBody>
          <a:bodyPr/>
          <a:lstStyle/>
          <a:p>
            <a:r>
              <a:rPr lang="en-US" altLang="zh-CN" sz="1600" dirty="0"/>
              <a:t>NSR</a:t>
            </a:r>
            <a:r>
              <a:rPr lang="zh-CN" altLang="en-US" sz="1600" dirty="0"/>
              <a:t>功能使能后，备板重启时，主用主控板上的业务进程会收到备用主控板上线的消息。业务进程开始进行内部数据的批量备份。</a:t>
            </a:r>
            <a:endParaRPr lang="zh-CN" altLang="en-US" sz="1600" dirty="0"/>
          </a:p>
          <a:p>
            <a:pPr lvl="1"/>
            <a:r>
              <a:rPr lang="zh-CN" altLang="en-US" sz="1400" dirty="0"/>
              <a:t>批量数据备份完毕后，系统进入冗余保护状态。进入该状态后，如果主控板出现故障，备板升主后就可以利用之前从主板备份过来的数据进行升主，恢复业务。</a:t>
            </a:r>
            <a:endParaRPr lang="zh-CN" altLang="en-US" sz="1400" dirty="0"/>
          </a:p>
          <a:p>
            <a:pPr lvl="1"/>
            <a:r>
              <a:rPr lang="zh-CN" altLang="en-US" sz="1400" dirty="0"/>
              <a:t>如果业务批量备份尚未结束时，主控板故障，备板升主后可能会因为业务数据不全而导致无法升主，因此这个种状态下无法完成</a:t>
            </a:r>
            <a:r>
              <a:rPr lang="en-US" altLang="zh-CN" sz="1400" dirty="0"/>
              <a:t>NSR</a:t>
            </a:r>
            <a:r>
              <a:rPr lang="zh-CN" altLang="en-US" sz="1400" dirty="0"/>
              <a:t>倒换，设备会整机重启，恢复故障前状态。</a:t>
            </a:r>
            <a:endParaRPr lang="zh-CN" altLang="en-US" sz="1400" dirty="0"/>
          </a:p>
        </p:txBody>
      </p:sp>
      <p:sp>
        <p:nvSpPr>
          <p:cNvPr id="4" name="矩形 3"/>
          <p:cNvSpPr/>
          <p:nvPr/>
        </p:nvSpPr>
        <p:spPr bwMode="gray">
          <a:xfrm>
            <a:off x="1406534" y="1497739"/>
            <a:ext cx="3399475" cy="2612250"/>
          </a:xfrm>
          <a:prstGeom prst="rect">
            <a:avLst/>
          </a:prstGeom>
          <a:solidFill>
            <a:srgbClr val="F5FCFD"/>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598229" y="1697740"/>
            <a:ext cx="1080000" cy="1333012"/>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AMB</a:t>
            </a:r>
            <a:endParaRPr lang="zh-CN" altLang="en-US" sz="1400" dirty="0"/>
          </a:p>
        </p:txBody>
      </p:sp>
      <p:sp>
        <p:nvSpPr>
          <p:cNvPr id="23" name="矩形 22"/>
          <p:cNvSpPr/>
          <p:nvPr/>
        </p:nvSpPr>
        <p:spPr>
          <a:xfrm>
            <a:off x="3554769" y="1697740"/>
            <a:ext cx="1080000" cy="133301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SMB</a:t>
            </a:r>
            <a:endParaRPr lang="zh-CN" altLang="en-US" sz="1400" dirty="0"/>
          </a:p>
        </p:txBody>
      </p:sp>
      <p:sp>
        <p:nvSpPr>
          <p:cNvPr id="24" name="矩形 23"/>
          <p:cNvSpPr/>
          <p:nvPr/>
        </p:nvSpPr>
        <p:spPr>
          <a:xfrm>
            <a:off x="1598229" y="3566930"/>
            <a:ext cx="3036540" cy="2960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LPU</a:t>
            </a:r>
            <a:endParaRPr lang="zh-CN" altLang="en-US" sz="1400" dirty="0"/>
          </a:p>
        </p:txBody>
      </p:sp>
      <p:cxnSp>
        <p:nvCxnSpPr>
          <p:cNvPr id="26" name="直接箭头连接符 25"/>
          <p:cNvCxnSpPr/>
          <p:nvPr/>
        </p:nvCxnSpPr>
        <p:spPr>
          <a:xfrm>
            <a:off x="2678229" y="1838049"/>
            <a:ext cx="876540"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1915401" y="3030752"/>
            <a:ext cx="0" cy="572974"/>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gray">
          <a:xfrm>
            <a:off x="1789307" y="3185924"/>
            <a:ext cx="1090634"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报文上送</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3" name="矩形 42"/>
          <p:cNvSpPr/>
          <p:nvPr/>
        </p:nvSpPr>
        <p:spPr>
          <a:xfrm>
            <a:off x="1722345" y="1968678"/>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44" name="矩形 43"/>
          <p:cNvSpPr/>
          <p:nvPr/>
        </p:nvSpPr>
        <p:spPr>
          <a:xfrm>
            <a:off x="1866432" y="2170212"/>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sp>
        <p:nvSpPr>
          <p:cNvPr id="46" name="矩形 45"/>
          <p:cNvSpPr/>
          <p:nvPr/>
        </p:nvSpPr>
        <p:spPr>
          <a:xfrm>
            <a:off x="1722346" y="2449472"/>
            <a:ext cx="831768" cy="201600"/>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APPCFG</a:t>
            </a:r>
            <a:endParaRPr lang="zh-CN" altLang="en-US" sz="1200" dirty="0">
              <a:solidFill>
                <a:schemeClr val="tx1"/>
              </a:solidFill>
            </a:endParaRPr>
          </a:p>
        </p:txBody>
      </p:sp>
      <p:sp>
        <p:nvSpPr>
          <p:cNvPr id="47" name="矩形 46"/>
          <p:cNvSpPr/>
          <p:nvPr/>
        </p:nvSpPr>
        <p:spPr>
          <a:xfrm>
            <a:off x="1789306" y="2709564"/>
            <a:ext cx="764807" cy="201600"/>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Packet</a:t>
            </a:r>
            <a:endParaRPr lang="zh-CN" altLang="en-US" sz="1200" dirty="0">
              <a:solidFill>
                <a:schemeClr val="tx1"/>
              </a:solidFill>
            </a:endParaRPr>
          </a:p>
        </p:txBody>
      </p:sp>
      <p:sp>
        <p:nvSpPr>
          <p:cNvPr id="51" name="矩形 50"/>
          <p:cNvSpPr/>
          <p:nvPr/>
        </p:nvSpPr>
        <p:spPr>
          <a:xfrm>
            <a:off x="3673914" y="1968678"/>
            <a:ext cx="687681" cy="201534"/>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52" name="矩形 51"/>
          <p:cNvSpPr/>
          <p:nvPr/>
        </p:nvSpPr>
        <p:spPr>
          <a:xfrm>
            <a:off x="3818001" y="2170212"/>
            <a:ext cx="687681" cy="201534"/>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sp>
        <p:nvSpPr>
          <p:cNvPr id="64" name="矩形 63"/>
          <p:cNvSpPr/>
          <p:nvPr/>
        </p:nvSpPr>
        <p:spPr>
          <a:xfrm>
            <a:off x="3673915" y="2449472"/>
            <a:ext cx="831768" cy="2016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APPCFG</a:t>
            </a:r>
            <a:endParaRPr lang="zh-CN" altLang="en-US" sz="1200" dirty="0">
              <a:solidFill>
                <a:schemeClr val="tx1"/>
              </a:solidFill>
            </a:endParaRPr>
          </a:p>
        </p:txBody>
      </p:sp>
      <p:sp>
        <p:nvSpPr>
          <p:cNvPr id="65" name="矩形 64"/>
          <p:cNvSpPr/>
          <p:nvPr/>
        </p:nvSpPr>
        <p:spPr>
          <a:xfrm>
            <a:off x="3740875" y="2709564"/>
            <a:ext cx="764807" cy="2016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Packet</a:t>
            </a:r>
            <a:endParaRPr lang="zh-CN" altLang="en-US" sz="1200" dirty="0">
              <a:solidFill>
                <a:schemeClr val="tx1"/>
              </a:solidFill>
            </a:endParaRPr>
          </a:p>
        </p:txBody>
      </p:sp>
      <p:cxnSp>
        <p:nvCxnSpPr>
          <p:cNvPr id="66" name="直接箭头连接符 65"/>
          <p:cNvCxnSpPr/>
          <p:nvPr/>
        </p:nvCxnSpPr>
        <p:spPr>
          <a:xfrm>
            <a:off x="2678229" y="2406582"/>
            <a:ext cx="876540"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2678229" y="2822117"/>
            <a:ext cx="876540"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矩形 68"/>
          <p:cNvSpPr/>
          <p:nvPr/>
        </p:nvSpPr>
        <p:spPr bwMode="gray">
          <a:xfrm>
            <a:off x="2957364" y="1583240"/>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0" name="矩形 69"/>
          <p:cNvSpPr/>
          <p:nvPr/>
        </p:nvSpPr>
        <p:spPr bwMode="gray">
          <a:xfrm>
            <a:off x="2957364" y="2150534"/>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1" name="矩形 70"/>
          <p:cNvSpPr/>
          <p:nvPr/>
        </p:nvSpPr>
        <p:spPr bwMode="gray">
          <a:xfrm>
            <a:off x="2957364" y="2563939"/>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2" name="圆角矩形 75"/>
          <p:cNvSpPr/>
          <p:nvPr/>
        </p:nvSpPr>
        <p:spPr bwMode="gray">
          <a:xfrm>
            <a:off x="897894" y="4389249"/>
            <a:ext cx="4832346" cy="1442055"/>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备板启动完成。</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各业务进程通过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通道开始批量备份路由等业务数据，系统进入批量备份阶段。</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业务进程全部批量备份完成后，系统进入冗余保护状态。</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五边形 24"/>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燕尾形 26"/>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燕尾形 29"/>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11143360" y="124239"/>
            <a:ext cx="6025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NSR</a:t>
            </a:r>
            <a:r>
              <a:rPr lang="zh-CN" altLang="en-US" dirty="0"/>
              <a:t>倒换流程：实时备份过程</a:t>
            </a:r>
            <a:endParaRPr lang="zh-CN" altLang="en-US" dirty="0"/>
          </a:p>
        </p:txBody>
      </p:sp>
      <p:sp>
        <p:nvSpPr>
          <p:cNvPr id="3" name="文本占位符 2"/>
          <p:cNvSpPr>
            <a:spLocks noGrp="1"/>
          </p:cNvSpPr>
          <p:nvPr>
            <p:ph type="body" sz="quarter" idx="10"/>
          </p:nvPr>
        </p:nvSpPr>
        <p:spPr>
          <a:xfrm>
            <a:off x="6096000" y="1398807"/>
            <a:ext cx="5653087" cy="1180764"/>
          </a:xfrm>
        </p:spPr>
        <p:txBody>
          <a:bodyPr/>
          <a:lstStyle/>
          <a:p>
            <a:r>
              <a:rPr lang="zh-CN" altLang="en-US" sz="1600" dirty="0"/>
              <a:t>完成批量备份后，系统进入实时备份阶段，在该阶段当邻居状态或路由信息发生变化时，主用主控板会实时将变化信息备份到备用主控板。</a:t>
            </a:r>
            <a:endParaRPr lang="zh-CN" altLang="en-US" sz="1400" dirty="0"/>
          </a:p>
        </p:txBody>
      </p:sp>
      <p:sp>
        <p:nvSpPr>
          <p:cNvPr id="4" name="矩形 3"/>
          <p:cNvSpPr/>
          <p:nvPr/>
        </p:nvSpPr>
        <p:spPr bwMode="gray">
          <a:xfrm>
            <a:off x="1406534" y="1501613"/>
            <a:ext cx="3399475" cy="2612250"/>
          </a:xfrm>
          <a:prstGeom prst="rect">
            <a:avLst/>
          </a:prstGeom>
          <a:solidFill>
            <a:srgbClr val="F5FCFD"/>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598229" y="1701614"/>
            <a:ext cx="1080000" cy="1333012"/>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AMB</a:t>
            </a:r>
            <a:endParaRPr lang="zh-CN" altLang="en-US" sz="1400" dirty="0"/>
          </a:p>
        </p:txBody>
      </p:sp>
      <p:sp>
        <p:nvSpPr>
          <p:cNvPr id="23" name="矩形 22"/>
          <p:cNvSpPr/>
          <p:nvPr/>
        </p:nvSpPr>
        <p:spPr>
          <a:xfrm>
            <a:off x="3554769" y="1701614"/>
            <a:ext cx="1080000" cy="1333012"/>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SMB</a:t>
            </a:r>
            <a:endParaRPr lang="zh-CN" altLang="en-US" sz="1400" dirty="0"/>
          </a:p>
        </p:txBody>
      </p:sp>
      <p:sp>
        <p:nvSpPr>
          <p:cNvPr id="24" name="矩形 23"/>
          <p:cNvSpPr/>
          <p:nvPr/>
        </p:nvSpPr>
        <p:spPr>
          <a:xfrm>
            <a:off x="1598229" y="3570804"/>
            <a:ext cx="3036540" cy="29609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LPU</a:t>
            </a:r>
            <a:endParaRPr lang="zh-CN" altLang="en-US" sz="1400" dirty="0"/>
          </a:p>
        </p:txBody>
      </p:sp>
      <p:cxnSp>
        <p:nvCxnSpPr>
          <p:cNvPr id="28" name="直接箭头连接符 27"/>
          <p:cNvCxnSpPr/>
          <p:nvPr/>
        </p:nvCxnSpPr>
        <p:spPr>
          <a:xfrm>
            <a:off x="1915401" y="3034626"/>
            <a:ext cx="0" cy="572974"/>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gray">
          <a:xfrm>
            <a:off x="1789307" y="3189798"/>
            <a:ext cx="1090634"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报文上送</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3" name="矩形 42"/>
          <p:cNvSpPr/>
          <p:nvPr/>
        </p:nvSpPr>
        <p:spPr>
          <a:xfrm>
            <a:off x="1722345" y="1972552"/>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44" name="矩形 43"/>
          <p:cNvSpPr/>
          <p:nvPr/>
        </p:nvSpPr>
        <p:spPr>
          <a:xfrm>
            <a:off x="1866432" y="2174086"/>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sp>
        <p:nvSpPr>
          <p:cNvPr id="47" name="矩形 46"/>
          <p:cNvSpPr/>
          <p:nvPr/>
        </p:nvSpPr>
        <p:spPr>
          <a:xfrm>
            <a:off x="1789306" y="2713438"/>
            <a:ext cx="764807" cy="201600"/>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Packet</a:t>
            </a:r>
            <a:endParaRPr lang="zh-CN" altLang="en-US" sz="1200" dirty="0">
              <a:solidFill>
                <a:schemeClr val="tx1"/>
              </a:solidFill>
            </a:endParaRPr>
          </a:p>
        </p:txBody>
      </p:sp>
      <p:sp>
        <p:nvSpPr>
          <p:cNvPr id="51" name="矩形 50"/>
          <p:cNvSpPr/>
          <p:nvPr/>
        </p:nvSpPr>
        <p:spPr>
          <a:xfrm>
            <a:off x="3673914" y="1972552"/>
            <a:ext cx="687681" cy="201534"/>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52" name="矩形 51"/>
          <p:cNvSpPr/>
          <p:nvPr/>
        </p:nvSpPr>
        <p:spPr>
          <a:xfrm>
            <a:off x="3818001" y="2174086"/>
            <a:ext cx="687681" cy="201534"/>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sp>
        <p:nvSpPr>
          <p:cNvPr id="65" name="矩形 64"/>
          <p:cNvSpPr/>
          <p:nvPr/>
        </p:nvSpPr>
        <p:spPr>
          <a:xfrm>
            <a:off x="3740875" y="2713438"/>
            <a:ext cx="764807" cy="2016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Packet</a:t>
            </a:r>
            <a:endParaRPr lang="zh-CN" altLang="en-US" sz="1200" dirty="0">
              <a:solidFill>
                <a:schemeClr val="tx1"/>
              </a:solidFill>
            </a:endParaRPr>
          </a:p>
        </p:txBody>
      </p:sp>
      <p:cxnSp>
        <p:nvCxnSpPr>
          <p:cNvPr id="66" name="直接箭头连接符 65"/>
          <p:cNvCxnSpPr/>
          <p:nvPr/>
        </p:nvCxnSpPr>
        <p:spPr>
          <a:xfrm>
            <a:off x="2678229" y="2184813"/>
            <a:ext cx="876540"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a:off x="2678229" y="2689959"/>
            <a:ext cx="876540"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0" name="矩形 69"/>
          <p:cNvSpPr/>
          <p:nvPr/>
        </p:nvSpPr>
        <p:spPr bwMode="gray">
          <a:xfrm>
            <a:off x="2957364" y="1928765"/>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1" name="矩形 70"/>
          <p:cNvSpPr/>
          <p:nvPr/>
        </p:nvSpPr>
        <p:spPr bwMode="gray">
          <a:xfrm>
            <a:off x="2957364" y="2431781"/>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25" name="图片 24"/>
          <p:cNvPicPr/>
          <p:nvPr/>
        </p:nvPicPr>
        <p:blipFill>
          <a:blip r:embed="rId1" cstate="print">
            <a:extLst>
              <a:ext uri="{28A0092B-C50C-407E-A947-70E740481C1C}">
                <a14:useLocalDpi xmlns:a14="http://schemas.microsoft.com/office/drawing/2010/main" val="0"/>
              </a:ext>
            </a:extLst>
          </a:blip>
          <a:stretch>
            <a:fillRect/>
          </a:stretch>
        </p:blipFill>
        <p:spPr bwMode="gray">
          <a:xfrm>
            <a:off x="1940272" y="4451681"/>
            <a:ext cx="540000" cy="442800"/>
          </a:xfrm>
          <a:prstGeom prst="rect">
            <a:avLst/>
          </a:prstGeom>
        </p:spPr>
      </p:pic>
      <p:pic>
        <p:nvPicPr>
          <p:cNvPr id="27" name="图片 26"/>
          <p:cNvPicPr/>
          <p:nvPr/>
        </p:nvPicPr>
        <p:blipFill>
          <a:blip r:embed="rId1" cstate="print">
            <a:extLst>
              <a:ext uri="{28A0092B-C50C-407E-A947-70E740481C1C}">
                <a14:useLocalDpi xmlns:a14="http://schemas.microsoft.com/office/drawing/2010/main" val="0"/>
              </a:ext>
            </a:extLst>
          </a:blip>
          <a:stretch>
            <a:fillRect/>
          </a:stretch>
        </p:blipFill>
        <p:spPr bwMode="gray">
          <a:xfrm>
            <a:off x="3802157" y="4451681"/>
            <a:ext cx="540000" cy="442800"/>
          </a:xfrm>
          <a:prstGeom prst="rect">
            <a:avLst/>
          </a:prstGeom>
        </p:spPr>
      </p:pic>
      <p:cxnSp>
        <p:nvCxnSpPr>
          <p:cNvPr id="30" name="直接箭头连接符 29"/>
          <p:cNvCxnSpPr>
            <a:stCxn id="25" idx="0"/>
          </p:cNvCxnSpPr>
          <p:nvPr/>
        </p:nvCxnSpPr>
        <p:spPr>
          <a:xfrm flipV="1">
            <a:off x="2210272" y="4130224"/>
            <a:ext cx="343841" cy="321457"/>
          </a:xfrm>
          <a:prstGeom prst="straightConnector1">
            <a:avLst/>
          </a:prstGeom>
          <a:ln w="19050">
            <a:solidFill>
              <a:srgbClr val="1163AB"/>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flipH="1" flipV="1">
            <a:off x="3729667" y="4130224"/>
            <a:ext cx="343841" cy="321457"/>
          </a:xfrm>
          <a:prstGeom prst="straightConnector1">
            <a:avLst/>
          </a:prstGeom>
          <a:ln w="19050">
            <a:solidFill>
              <a:srgbClr val="1163AB"/>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矩形 33"/>
          <p:cNvSpPr/>
          <p:nvPr/>
        </p:nvSpPr>
        <p:spPr bwMode="gray">
          <a:xfrm>
            <a:off x="2452140" y="4165209"/>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5" name="矩形 34"/>
          <p:cNvSpPr/>
          <p:nvPr/>
        </p:nvSpPr>
        <p:spPr bwMode="gray">
          <a:xfrm>
            <a:off x="3520382" y="4165209"/>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6" name="圆角矩形 75"/>
          <p:cNvSpPr/>
          <p:nvPr/>
        </p:nvSpPr>
        <p:spPr bwMode="gray">
          <a:xfrm>
            <a:off x="897894" y="4899387"/>
            <a:ext cx="4832346" cy="1135654"/>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邻居状态变化或路由变化。</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主用主控板将变化信息通过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HA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通道备份到备用主控板。</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备用主控板答复主用主控板确认信息。</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五边形 28"/>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燕尾形 31"/>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燕尾形 37"/>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11143360" y="124239"/>
            <a:ext cx="6025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NSR</a:t>
            </a:r>
            <a:r>
              <a:rPr lang="zh-CN" altLang="en-US" dirty="0"/>
              <a:t>倒换流程：倒换升主过程</a:t>
            </a:r>
            <a:endParaRPr lang="zh-CN" altLang="en-US" dirty="0"/>
          </a:p>
        </p:txBody>
      </p:sp>
      <p:sp>
        <p:nvSpPr>
          <p:cNvPr id="3" name="文本占位符 2"/>
          <p:cNvSpPr>
            <a:spLocks noGrp="1"/>
          </p:cNvSpPr>
          <p:nvPr>
            <p:ph type="body" sz="quarter" idx="10"/>
          </p:nvPr>
        </p:nvSpPr>
        <p:spPr>
          <a:xfrm>
            <a:off x="6096000" y="1398807"/>
            <a:ext cx="5653087" cy="2317531"/>
          </a:xfrm>
        </p:spPr>
        <p:txBody>
          <a:bodyPr/>
          <a:lstStyle/>
          <a:p>
            <a:r>
              <a:rPr lang="zh-CN" altLang="en-US" sz="1600" dirty="0"/>
              <a:t>完成批量备份，进入冗余保护状态的系统，当主用主控板发生软件或硬件故障后，备用主控板会从底层硬件感知到主用主控板的故障，并自行升主。</a:t>
            </a:r>
            <a:endParaRPr lang="en-US" altLang="zh-CN" sz="1600" dirty="0"/>
          </a:p>
          <a:p>
            <a:r>
              <a:rPr lang="zh-CN" altLang="en-US" sz="1600" dirty="0"/>
              <a:t>升主后业务进程会使用之前从主用主控板备份来的数据进行工作。同时接口板也会向新的主控板发送平滑倒换期间变化的信息。实现真正的路由不中断，转发不中断。</a:t>
            </a:r>
            <a:endParaRPr lang="zh-CN" altLang="en-US" sz="1600" dirty="0"/>
          </a:p>
        </p:txBody>
      </p:sp>
      <p:sp>
        <p:nvSpPr>
          <p:cNvPr id="4" name="矩形 3"/>
          <p:cNvSpPr/>
          <p:nvPr/>
        </p:nvSpPr>
        <p:spPr bwMode="gray">
          <a:xfrm>
            <a:off x="1072003" y="1497739"/>
            <a:ext cx="4484127" cy="3093512"/>
          </a:xfrm>
          <a:prstGeom prst="rect">
            <a:avLst/>
          </a:prstGeom>
          <a:solidFill>
            <a:srgbClr val="F5FCFD"/>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1277602" y="1697740"/>
            <a:ext cx="1080000" cy="1488184"/>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AMB</a:t>
            </a:r>
            <a:endParaRPr lang="zh-CN" altLang="en-US" sz="1400" dirty="0"/>
          </a:p>
        </p:txBody>
      </p:sp>
      <p:sp>
        <p:nvSpPr>
          <p:cNvPr id="23" name="矩形 22"/>
          <p:cNvSpPr/>
          <p:nvPr/>
        </p:nvSpPr>
        <p:spPr>
          <a:xfrm>
            <a:off x="4281450" y="1697740"/>
            <a:ext cx="1080000" cy="1488184"/>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SMB</a:t>
            </a:r>
            <a:endParaRPr lang="zh-CN" altLang="en-US" sz="1400" dirty="0"/>
          </a:p>
        </p:txBody>
      </p:sp>
      <p:sp>
        <p:nvSpPr>
          <p:cNvPr id="24" name="矩形 23"/>
          <p:cNvSpPr/>
          <p:nvPr/>
        </p:nvSpPr>
        <p:spPr>
          <a:xfrm>
            <a:off x="1277602" y="3566930"/>
            <a:ext cx="4083848" cy="869940"/>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altLang="zh-CN" sz="1400" dirty="0"/>
              <a:t>LPU</a:t>
            </a:r>
            <a:endParaRPr lang="zh-CN" altLang="en-US" sz="1400" dirty="0"/>
          </a:p>
        </p:txBody>
      </p:sp>
      <p:cxnSp>
        <p:nvCxnSpPr>
          <p:cNvPr id="28" name="直接箭头连接符 27"/>
          <p:cNvCxnSpPr/>
          <p:nvPr/>
        </p:nvCxnSpPr>
        <p:spPr>
          <a:xfrm>
            <a:off x="3735748" y="3185924"/>
            <a:ext cx="0" cy="381006"/>
          </a:xfrm>
          <a:prstGeom prst="straightConnector1">
            <a:avLst/>
          </a:prstGeom>
          <a:ln w="19050">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矩形 30"/>
          <p:cNvSpPr/>
          <p:nvPr/>
        </p:nvSpPr>
        <p:spPr bwMode="gray">
          <a:xfrm>
            <a:off x="3726555" y="3222538"/>
            <a:ext cx="924599" cy="307777"/>
          </a:xfrm>
          <a:prstGeom prst="rect">
            <a:avLst/>
          </a:prstGeom>
        </p:spPr>
        <p:txBody>
          <a:bodyPr wrap="square">
            <a:spAutoFit/>
          </a:bodyPr>
          <a:lstStyle/>
          <a:p>
            <a:pPr algn="ctr" fontAlgn="auto"/>
            <a:r>
              <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报文上送</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3" name="矩形 42"/>
          <p:cNvSpPr/>
          <p:nvPr/>
        </p:nvSpPr>
        <p:spPr>
          <a:xfrm>
            <a:off x="1401718" y="1968678"/>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44" name="矩形 43"/>
          <p:cNvSpPr/>
          <p:nvPr/>
        </p:nvSpPr>
        <p:spPr>
          <a:xfrm>
            <a:off x="1545805" y="2170212"/>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sp>
        <p:nvSpPr>
          <p:cNvPr id="46" name="矩形 45"/>
          <p:cNvSpPr/>
          <p:nvPr/>
        </p:nvSpPr>
        <p:spPr>
          <a:xfrm>
            <a:off x="1317754" y="2449471"/>
            <a:ext cx="999693" cy="201600"/>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IFNET</a:t>
            </a:r>
            <a:endParaRPr lang="zh-CN" altLang="en-US" sz="1200" dirty="0">
              <a:solidFill>
                <a:schemeClr val="tx1"/>
              </a:solidFill>
            </a:endParaRPr>
          </a:p>
        </p:txBody>
      </p:sp>
      <p:sp>
        <p:nvSpPr>
          <p:cNvPr id="47" name="矩形 46"/>
          <p:cNvSpPr/>
          <p:nvPr/>
        </p:nvSpPr>
        <p:spPr>
          <a:xfrm>
            <a:off x="1317755" y="2709563"/>
            <a:ext cx="999693" cy="403131"/>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Forwarding Plane</a:t>
            </a:r>
            <a:endParaRPr lang="zh-CN" altLang="en-US" sz="1200" dirty="0">
              <a:solidFill>
                <a:schemeClr val="tx1"/>
              </a:solidFill>
            </a:endParaRPr>
          </a:p>
        </p:txBody>
      </p:sp>
      <p:sp>
        <p:nvSpPr>
          <p:cNvPr id="51" name="矩形 50"/>
          <p:cNvSpPr/>
          <p:nvPr/>
        </p:nvSpPr>
        <p:spPr>
          <a:xfrm>
            <a:off x="4400595" y="1968678"/>
            <a:ext cx="687681" cy="201534"/>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52" name="矩形 51"/>
          <p:cNvSpPr/>
          <p:nvPr/>
        </p:nvSpPr>
        <p:spPr>
          <a:xfrm>
            <a:off x="4544682" y="2170212"/>
            <a:ext cx="687681" cy="201534"/>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cxnSp>
        <p:nvCxnSpPr>
          <p:cNvPr id="66" name="直接箭头连接符 65"/>
          <p:cNvCxnSpPr/>
          <p:nvPr/>
        </p:nvCxnSpPr>
        <p:spPr>
          <a:xfrm>
            <a:off x="2337243" y="2069445"/>
            <a:ext cx="438270"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矩形 68"/>
          <p:cNvSpPr/>
          <p:nvPr/>
        </p:nvSpPr>
        <p:spPr bwMode="gray">
          <a:xfrm>
            <a:off x="2394421" y="1761913"/>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0" name="矩形 69"/>
          <p:cNvSpPr/>
          <p:nvPr/>
        </p:nvSpPr>
        <p:spPr bwMode="gray">
          <a:xfrm>
            <a:off x="3440268" y="3215718"/>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1" name="矩形 70"/>
          <p:cNvSpPr/>
          <p:nvPr/>
        </p:nvSpPr>
        <p:spPr bwMode="gray">
          <a:xfrm>
            <a:off x="3905262" y="2415030"/>
            <a:ext cx="338771"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矩形 24"/>
          <p:cNvSpPr/>
          <p:nvPr/>
        </p:nvSpPr>
        <p:spPr>
          <a:xfrm>
            <a:off x="2775513" y="1697740"/>
            <a:ext cx="1080000" cy="1488184"/>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1400" dirty="0"/>
              <a:t>AMB</a:t>
            </a:r>
            <a:endParaRPr lang="zh-CN" altLang="en-US" sz="1400" dirty="0"/>
          </a:p>
        </p:txBody>
      </p:sp>
      <p:sp>
        <p:nvSpPr>
          <p:cNvPr id="27" name="矩形 26"/>
          <p:cNvSpPr/>
          <p:nvPr/>
        </p:nvSpPr>
        <p:spPr>
          <a:xfrm>
            <a:off x="2899629" y="1968678"/>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OSPF</a:t>
            </a:r>
            <a:endParaRPr lang="zh-CN" altLang="en-US" sz="1200" dirty="0">
              <a:solidFill>
                <a:schemeClr val="tx1"/>
              </a:solidFill>
            </a:endParaRPr>
          </a:p>
        </p:txBody>
      </p:sp>
      <p:sp>
        <p:nvSpPr>
          <p:cNvPr id="29" name="矩形 28"/>
          <p:cNvSpPr/>
          <p:nvPr/>
        </p:nvSpPr>
        <p:spPr>
          <a:xfrm>
            <a:off x="3043716" y="2170212"/>
            <a:ext cx="687681" cy="201534"/>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BGP</a:t>
            </a:r>
            <a:endParaRPr lang="zh-CN" altLang="en-US" sz="1200" dirty="0">
              <a:solidFill>
                <a:schemeClr val="tx1"/>
              </a:solidFill>
            </a:endParaRPr>
          </a:p>
        </p:txBody>
      </p:sp>
      <p:sp>
        <p:nvSpPr>
          <p:cNvPr id="33" name="矩形 32"/>
          <p:cNvSpPr/>
          <p:nvPr/>
        </p:nvSpPr>
        <p:spPr>
          <a:xfrm>
            <a:off x="2814219" y="2709563"/>
            <a:ext cx="999693" cy="403131"/>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Forwarding Plane</a:t>
            </a:r>
            <a:endParaRPr lang="zh-CN" altLang="en-US" sz="1200" dirty="0">
              <a:solidFill>
                <a:schemeClr val="tx1"/>
              </a:solidFill>
            </a:endParaRPr>
          </a:p>
        </p:txBody>
      </p:sp>
      <p:sp>
        <p:nvSpPr>
          <p:cNvPr id="34" name="矩形 33"/>
          <p:cNvSpPr/>
          <p:nvPr/>
        </p:nvSpPr>
        <p:spPr>
          <a:xfrm>
            <a:off x="4326526" y="2709563"/>
            <a:ext cx="999693" cy="403131"/>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Forwarding Plane</a:t>
            </a:r>
            <a:endParaRPr lang="zh-CN" altLang="en-US" sz="1200" dirty="0">
              <a:solidFill>
                <a:schemeClr val="tx1"/>
              </a:solidFill>
            </a:endParaRPr>
          </a:p>
        </p:txBody>
      </p:sp>
      <p:sp>
        <p:nvSpPr>
          <p:cNvPr id="35" name="矩形 34"/>
          <p:cNvSpPr/>
          <p:nvPr/>
        </p:nvSpPr>
        <p:spPr>
          <a:xfrm>
            <a:off x="2814218" y="2449471"/>
            <a:ext cx="999693" cy="201600"/>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IFNET</a:t>
            </a:r>
            <a:endParaRPr lang="zh-CN" altLang="en-US" sz="1200" dirty="0">
              <a:solidFill>
                <a:schemeClr val="tx1"/>
              </a:solidFill>
            </a:endParaRPr>
          </a:p>
        </p:txBody>
      </p:sp>
      <p:sp>
        <p:nvSpPr>
          <p:cNvPr id="36" name="矩形 35"/>
          <p:cNvSpPr/>
          <p:nvPr/>
        </p:nvSpPr>
        <p:spPr>
          <a:xfrm>
            <a:off x="4326526" y="2449471"/>
            <a:ext cx="999693" cy="20160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IFNET</a:t>
            </a:r>
            <a:endParaRPr lang="zh-CN" altLang="en-US" sz="1200" dirty="0">
              <a:solidFill>
                <a:schemeClr val="tx1"/>
              </a:solidFill>
            </a:endParaRPr>
          </a:p>
        </p:txBody>
      </p:sp>
      <p:sp>
        <p:nvSpPr>
          <p:cNvPr id="37" name="乘号 36"/>
          <p:cNvSpPr/>
          <p:nvPr/>
        </p:nvSpPr>
        <p:spPr>
          <a:xfrm>
            <a:off x="1635547" y="1472735"/>
            <a:ext cx="364106" cy="365244"/>
          </a:xfrm>
          <a:prstGeom prst="mathMultiply">
            <a:avLst>
              <a:gd name="adj1" fmla="val 7834"/>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p:cNvCxnSpPr/>
          <p:nvPr/>
        </p:nvCxnSpPr>
        <p:spPr>
          <a:xfrm>
            <a:off x="3855513" y="2699210"/>
            <a:ext cx="438270" cy="0"/>
          </a:xfrm>
          <a:prstGeom prst="straightConnector1">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圆角矩形 75"/>
          <p:cNvSpPr/>
          <p:nvPr/>
        </p:nvSpPr>
        <p:spPr bwMode="gray">
          <a:xfrm>
            <a:off x="897894" y="4697164"/>
            <a:ext cx="4658236" cy="1384392"/>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硬件通道感知主用主控板异常，通知备用主控板升主，同时切换接口板上送报文通道。</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342900" indent="-342900" algn="just" fontAlgn="auto">
              <a:lnSpc>
                <a:spcPts val="2600"/>
              </a:lnSpc>
              <a:spcBef>
                <a:spcPts val="0"/>
              </a:spcBef>
              <a:buFont typeface="+mj-lt"/>
              <a:buAutoNum type="arabicPeriod"/>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备用主控板升主后，接口板会向新的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AMB</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发送平滑倒换期间的状态变化。</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a:xfrm>
            <a:off x="1539133" y="3651697"/>
            <a:ext cx="999693" cy="201600"/>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IFNET</a:t>
            </a:r>
            <a:endParaRPr lang="zh-CN" altLang="en-US" sz="1200" dirty="0">
              <a:solidFill>
                <a:schemeClr val="tx1"/>
              </a:solidFill>
            </a:endParaRPr>
          </a:p>
        </p:txBody>
      </p:sp>
      <p:sp>
        <p:nvSpPr>
          <p:cNvPr id="41" name="矩形 40"/>
          <p:cNvSpPr/>
          <p:nvPr/>
        </p:nvSpPr>
        <p:spPr>
          <a:xfrm>
            <a:off x="1997199" y="3922951"/>
            <a:ext cx="999693" cy="403131"/>
          </a:xfrm>
          <a:prstGeom prst="rect">
            <a:avLst/>
          </a:prstGeom>
          <a:solidFill>
            <a:schemeClr val="bg1"/>
          </a:solidFill>
          <a:ln>
            <a:solidFill>
              <a:srgbClr val="30B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Forwarding Plane</a:t>
            </a:r>
            <a:endParaRPr lang="zh-CN" altLang="en-US" sz="1200" dirty="0">
              <a:solidFill>
                <a:schemeClr val="tx1"/>
              </a:solidFill>
            </a:endParaRPr>
          </a:p>
        </p:txBody>
      </p:sp>
      <p:cxnSp>
        <p:nvCxnSpPr>
          <p:cNvPr id="26" name="直接箭头连接符 25"/>
          <p:cNvCxnSpPr>
            <a:endCxn id="40" idx="0"/>
          </p:cNvCxnSpPr>
          <p:nvPr/>
        </p:nvCxnSpPr>
        <p:spPr>
          <a:xfrm flipH="1">
            <a:off x="2038980" y="2602880"/>
            <a:ext cx="725489" cy="1048817"/>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H="1">
            <a:off x="2574046" y="3200239"/>
            <a:ext cx="456802" cy="722712"/>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圆角矩形 75"/>
          <p:cNvSpPr/>
          <p:nvPr/>
        </p:nvSpPr>
        <p:spPr bwMode="gray">
          <a:xfrm>
            <a:off x="5999283" y="4697164"/>
            <a:ext cx="4658236" cy="1384392"/>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342900" indent="-342900" algn="just" fontAlgn="auto">
              <a:lnSpc>
                <a:spcPts val="2600"/>
              </a:lnSpc>
              <a:spcBef>
                <a:spcPts val="0"/>
              </a:spcBef>
              <a:buFont typeface="+mj-lt"/>
              <a:buAutoNum type="arabicPeriod" startAt="3"/>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倒换升主完成后，新的主用主控板会向新的备用主控板进行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NSR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备份。</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41"/>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燕尾形 44"/>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燕尾形 48"/>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燕尾形 52"/>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11143360" y="124239"/>
            <a:ext cx="6025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a:t>
            </a:r>
            <a:r>
              <a:rPr lang="en-US" altLang="zh-CN" dirty="0"/>
              <a:t>NSR</a:t>
            </a:r>
            <a:endParaRPr lang="zh-CN" altLang="en-US" dirty="0"/>
          </a:p>
        </p:txBody>
      </p:sp>
      <p:sp>
        <p:nvSpPr>
          <p:cNvPr id="4" name="矩形 3"/>
          <p:cNvSpPr/>
          <p:nvPr/>
        </p:nvSpPr>
        <p:spPr>
          <a:xfrm>
            <a:off x="1031917" y="149174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a:t>switchover mode</a:t>
            </a:r>
            <a:r>
              <a:rPr lang="en-US" altLang="zh-CN" sz="1600" dirty="0"/>
              <a:t> { </a:t>
            </a:r>
            <a:r>
              <a:rPr lang="en-US" altLang="zh-CN" sz="1600" b="1" dirty="0"/>
              <a:t>nonstop-routing</a:t>
            </a:r>
            <a:r>
              <a:rPr lang="en-US" altLang="zh-CN" sz="1600" dirty="0"/>
              <a:t> | </a:t>
            </a:r>
            <a:r>
              <a:rPr lang="en-US" altLang="zh-CN" sz="1600" b="1" dirty="0"/>
              <a:t>nonstop-forwarding</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1059594"/>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使能</a:t>
            </a:r>
            <a:r>
              <a:rPr lang="en-US" altLang="zh-CN" sz="1600" dirty="0">
                <a:cs typeface="Courier New" panose="02070309020205020404" pitchFamily="49" charset="0"/>
              </a:rPr>
              <a:t>NSR</a:t>
            </a:r>
            <a:r>
              <a:rPr lang="zh-CN" altLang="en-US" sz="1600" dirty="0">
                <a:cs typeface="Courier New" panose="02070309020205020404" pitchFamily="49" charset="0"/>
              </a:rPr>
              <a:t>功能。</a:t>
            </a:r>
            <a:endParaRPr lang="zh-CN" altLang="en-US" sz="1600" dirty="0">
              <a:cs typeface="Courier New" panose="02070309020205020404" pitchFamily="49" charset="0"/>
            </a:endParaRPr>
          </a:p>
        </p:txBody>
      </p:sp>
      <p:sp>
        <p:nvSpPr>
          <p:cNvPr id="6" name="矩形 5"/>
          <p:cNvSpPr/>
          <p:nvPr/>
        </p:nvSpPr>
        <p:spPr>
          <a:xfrm>
            <a:off x="1031917" y="1839705"/>
            <a:ext cx="10608699" cy="163121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设置系统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的工作模式。缺省情况下，系统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的工作模式为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NSF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nonstop-routing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的工作模式为不间断路由</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NSR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模式。系统处于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NSR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模式时，能够实现路由处理及转发业务不中断。</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nonstop-forwarding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：指定系统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的工作模式为不间断转发</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NSF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模式。系统处于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NSF</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模式时，能够大幅减少转发业务中断时间。</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a:xfrm>
            <a:off x="1031917" y="405762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a:t>display switchover mode</a:t>
            </a:r>
            <a:endParaRPr lang="zh-CN" altLang="en-US" sz="1600" dirty="0">
              <a:cs typeface="Courier New" panose="02070309020205020404" pitchFamily="49" charset="0"/>
            </a:endParaRPr>
          </a:p>
        </p:txBody>
      </p:sp>
      <p:sp>
        <p:nvSpPr>
          <p:cNvPr id="11" name="矩形 10"/>
          <p:cNvSpPr/>
          <p:nvPr/>
        </p:nvSpPr>
        <p:spPr>
          <a:xfrm>
            <a:off x="551384" y="3625480"/>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检查配置结果。</a:t>
            </a:r>
            <a:endParaRPr lang="zh-CN" altLang="en-US" sz="1600" dirty="0">
              <a:cs typeface="Courier New" panose="02070309020205020404" pitchFamily="49" charset="0"/>
            </a:endParaRPr>
          </a:p>
        </p:txBody>
      </p:sp>
      <p:sp>
        <p:nvSpPr>
          <p:cNvPr id="12" name="矩形 11"/>
          <p:cNvSpPr/>
          <p:nvPr/>
        </p:nvSpPr>
        <p:spPr>
          <a:xfrm>
            <a:off x="1031917" y="434484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查看当前系统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HA</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的工作模式。</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a:xfrm>
            <a:off x="1031917" y="479812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a:t>display </a:t>
            </a:r>
            <a:r>
              <a:rPr lang="en-US" altLang="zh-CN" sz="1600" b="1" dirty="0" err="1"/>
              <a:t>ip</a:t>
            </a:r>
            <a:r>
              <a:rPr lang="en-US" altLang="zh-CN" sz="1600" b="1" dirty="0"/>
              <a:t> routing-table</a:t>
            </a:r>
            <a:r>
              <a:rPr lang="en-US" altLang="zh-CN" sz="1600" dirty="0"/>
              <a:t> [ </a:t>
            </a:r>
            <a:r>
              <a:rPr lang="en-US" altLang="zh-CN" sz="1600" b="1" dirty="0" err="1"/>
              <a:t>vpn</a:t>
            </a:r>
            <a:r>
              <a:rPr lang="en-US" altLang="zh-CN" sz="1600" b="1" dirty="0"/>
              <a:t>-instance</a:t>
            </a:r>
            <a:r>
              <a:rPr lang="en-US" altLang="zh-CN" sz="1600" dirty="0"/>
              <a:t> </a:t>
            </a:r>
            <a:r>
              <a:rPr lang="en-US" altLang="zh-CN" sz="1600" i="1" dirty="0" err="1"/>
              <a:t>vpn</a:t>
            </a:r>
            <a:r>
              <a:rPr lang="en-US" altLang="zh-CN" sz="1600" i="1" dirty="0"/>
              <a:t>-instance-name</a:t>
            </a:r>
            <a:r>
              <a:rPr lang="en-US" altLang="zh-CN" sz="1600" dirty="0"/>
              <a:t> ] [ </a:t>
            </a:r>
            <a:r>
              <a:rPr lang="en-US" altLang="zh-CN" sz="1600" b="1" dirty="0"/>
              <a:t>verbose</a:t>
            </a:r>
            <a:r>
              <a:rPr lang="en-US" altLang="zh-CN" sz="1600" dirty="0"/>
              <a:t> ]</a:t>
            </a:r>
            <a:endParaRPr lang="zh-CN" altLang="en-US" sz="1600" dirty="0">
              <a:cs typeface="Courier New" panose="02070309020205020404" pitchFamily="49" charset="0"/>
            </a:endParaRPr>
          </a:p>
        </p:txBody>
      </p:sp>
      <p:sp>
        <p:nvSpPr>
          <p:cNvPr id="14" name="矩形 13"/>
          <p:cNvSpPr/>
          <p:nvPr/>
        </p:nvSpPr>
        <p:spPr>
          <a:xfrm>
            <a:off x="1031917" y="508534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查看主备倒换后的路由信息。</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a:xfrm>
            <a:off x="1031917" y="553862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a:t>display fib</a:t>
            </a:r>
            <a:r>
              <a:rPr lang="en-US" altLang="zh-CN" sz="1600" dirty="0"/>
              <a:t> [ </a:t>
            </a:r>
            <a:r>
              <a:rPr lang="en-US" altLang="zh-CN" sz="1600" i="1" dirty="0"/>
              <a:t>slot-id</a:t>
            </a:r>
            <a:r>
              <a:rPr lang="en-US" altLang="zh-CN" sz="1600" dirty="0"/>
              <a:t> ] [ </a:t>
            </a:r>
            <a:r>
              <a:rPr lang="en-US" altLang="zh-CN" sz="1600" b="1" dirty="0" err="1"/>
              <a:t>vpn</a:t>
            </a:r>
            <a:r>
              <a:rPr lang="en-US" altLang="zh-CN" sz="1600" b="1" dirty="0"/>
              <a:t>-instance</a:t>
            </a:r>
            <a:r>
              <a:rPr lang="en-US" altLang="zh-CN" sz="1600" dirty="0"/>
              <a:t> </a:t>
            </a:r>
            <a:r>
              <a:rPr lang="en-US" altLang="zh-CN" sz="1600" i="1" dirty="0" err="1"/>
              <a:t>vpn</a:t>
            </a:r>
            <a:r>
              <a:rPr lang="en-US" altLang="zh-CN" sz="1600" i="1" dirty="0"/>
              <a:t>-instance-name</a:t>
            </a:r>
            <a:r>
              <a:rPr lang="en-US" altLang="zh-CN" sz="1600" dirty="0"/>
              <a:t> ] [ </a:t>
            </a:r>
            <a:r>
              <a:rPr lang="en-US" altLang="zh-CN" sz="1600" b="1" dirty="0"/>
              <a:t>verbose</a:t>
            </a:r>
            <a:r>
              <a:rPr lang="en-US" altLang="zh-CN" sz="1600" dirty="0"/>
              <a:t> ]</a:t>
            </a:r>
            <a:endParaRPr lang="zh-CN" altLang="en-US" sz="1600" dirty="0">
              <a:cs typeface="Courier New" panose="02070309020205020404" pitchFamily="49" charset="0"/>
            </a:endParaRPr>
          </a:p>
        </p:txBody>
      </p:sp>
      <p:sp>
        <p:nvSpPr>
          <p:cNvPr id="16" name="矩形 15"/>
          <p:cNvSpPr/>
          <p:nvPr/>
        </p:nvSpPr>
        <p:spPr>
          <a:xfrm>
            <a:off x="1031917" y="582584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查看主备倒换后的转发信息。</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五边形 16"/>
          <p:cNvSpPr/>
          <p:nvPr/>
        </p:nvSpPr>
        <p:spPr bwMode="auto">
          <a:xfrm>
            <a:off x="8215368" y="124239"/>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多进程</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8842066" y="124239"/>
            <a:ext cx="108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BGP</a:t>
            </a: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联动</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9828764" y="124239"/>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转发地址</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10635462" y="124239"/>
            <a:ext cx="6012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rPr>
              <a:t>GR</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1143360" y="124239"/>
            <a:ext cx="602552"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NSR</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en-US" altLang="zh-CN" dirty="0">
                <a:solidFill>
                  <a:schemeClr val="bg1">
                    <a:lumMod val="50000"/>
                  </a:schemeClr>
                </a:solidFill>
              </a:rPr>
              <a:t>OSPF</a:t>
            </a:r>
            <a:r>
              <a:rPr lang="zh-CN" altLang="en-US" dirty="0">
                <a:solidFill>
                  <a:schemeClr val="bg1">
                    <a:lumMod val="50000"/>
                  </a:schemeClr>
                </a:solidFill>
              </a:rPr>
              <a:t>快速收敛</a:t>
            </a:r>
            <a:endParaRPr lang="en-US" altLang="zh-CN" dirty="0">
              <a:solidFill>
                <a:schemeClr val="bg1">
                  <a:lumMod val="50000"/>
                </a:schemeClr>
              </a:solidFill>
            </a:endParaRPr>
          </a:p>
          <a:p>
            <a:r>
              <a:rPr lang="en-US" altLang="zh-CN" dirty="0">
                <a:solidFill>
                  <a:schemeClr val="bg1">
                    <a:lumMod val="50000"/>
                  </a:schemeClr>
                </a:solidFill>
              </a:rPr>
              <a:t>OSPF</a:t>
            </a:r>
            <a:r>
              <a:rPr lang="zh-CN" altLang="en-US" dirty="0">
                <a:solidFill>
                  <a:schemeClr val="bg1">
                    <a:lumMod val="50000"/>
                  </a:schemeClr>
                </a:solidFill>
              </a:rPr>
              <a:t>路由控制</a:t>
            </a:r>
            <a:endParaRPr lang="en-US" altLang="zh-CN" dirty="0">
              <a:solidFill>
                <a:schemeClr val="bg1">
                  <a:lumMod val="50000"/>
                </a:schemeClr>
              </a:solidFill>
            </a:endParaRPr>
          </a:p>
          <a:p>
            <a:r>
              <a:rPr lang="en-US" altLang="zh-CN" dirty="0">
                <a:solidFill>
                  <a:schemeClr val="bg1">
                    <a:lumMod val="50000"/>
                  </a:schemeClr>
                </a:solidFill>
              </a:rPr>
              <a:t>OSPF</a:t>
            </a:r>
            <a:r>
              <a:rPr lang="zh-CN" altLang="en-US" dirty="0">
                <a:solidFill>
                  <a:schemeClr val="bg1">
                    <a:lumMod val="50000"/>
                  </a:schemeClr>
                </a:solidFill>
              </a:rPr>
              <a:t>其他特性</a:t>
            </a:r>
            <a:endParaRPr lang="en-US" altLang="zh-CN" dirty="0">
              <a:solidFill>
                <a:schemeClr val="bg1">
                  <a:lumMod val="50000"/>
                </a:schemeClr>
              </a:solidFill>
            </a:endParaRPr>
          </a:p>
          <a:p>
            <a:r>
              <a:rPr lang="en-US" altLang="zh-CN" b="1" dirty="0"/>
              <a:t>IS-IS</a:t>
            </a:r>
            <a:r>
              <a:rPr lang="zh-CN" altLang="en-US" b="1" dirty="0"/>
              <a:t>高级特性</a:t>
            </a:r>
            <a:endParaRPr lang="zh-CN" altLang="en-US" b="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IS-IS</a:t>
            </a:r>
            <a:r>
              <a:rPr lang="zh-CN" altLang="en-US"/>
              <a:t>快速收敛概述</a:t>
            </a:r>
            <a:endParaRPr lang="zh-CN" altLang="en-US" dirty="0"/>
          </a:p>
        </p:txBody>
      </p:sp>
      <p:sp>
        <p:nvSpPr>
          <p:cNvPr id="4" name="文本占位符 3"/>
          <p:cNvSpPr>
            <a:spLocks noGrp="1"/>
          </p:cNvSpPr>
          <p:nvPr>
            <p:ph type="body" sz="quarter" idx="10"/>
          </p:nvPr>
        </p:nvSpPr>
        <p:spPr/>
        <p:txBody>
          <a:bodyPr/>
          <a:lstStyle/>
          <a:p>
            <a:r>
              <a:rPr lang="en-US" altLang="zh-CN" sz="2000"/>
              <a:t>IS-IS</a:t>
            </a:r>
            <a:r>
              <a:rPr lang="zh-CN" altLang="en-US" sz="2000"/>
              <a:t>快速收敛是为了提高路由的收敛速度而做的扩展特性，包括：</a:t>
            </a:r>
            <a:r>
              <a:rPr lang="en-US" altLang="zh-CN" sz="2000"/>
              <a:t>I-SPF</a:t>
            </a:r>
            <a:r>
              <a:rPr lang="zh-CN" altLang="en-US" sz="2000"/>
              <a:t>（</a:t>
            </a:r>
            <a:r>
              <a:rPr lang="en-US" altLang="zh-CN" sz="2000"/>
              <a:t>Incremental SPF</a:t>
            </a:r>
            <a:r>
              <a:rPr lang="zh-CN" altLang="en-US" sz="2000"/>
              <a:t>，增量最短路径优先算法）、</a:t>
            </a:r>
            <a:r>
              <a:rPr lang="en-US" altLang="zh-CN" sz="2000"/>
              <a:t>PRC</a:t>
            </a:r>
            <a:r>
              <a:rPr lang="zh-CN" altLang="en-US" sz="2000"/>
              <a:t>、智能定时器、</a:t>
            </a:r>
            <a:r>
              <a:rPr lang="en-US" altLang="zh-CN" sz="2000"/>
              <a:t>LSP</a:t>
            </a:r>
            <a:r>
              <a:rPr lang="zh-CN" altLang="en-US" sz="2000"/>
              <a:t>快速扩散。</a:t>
            </a:r>
            <a:endParaRPr lang="en-US" altLang="zh-CN" sz="2000"/>
          </a:p>
          <a:p>
            <a:r>
              <a:rPr lang="zh-CN" altLang="en-US" sz="2000"/>
              <a:t>同时，</a:t>
            </a:r>
            <a:r>
              <a:rPr lang="en-US" altLang="zh-CN" sz="2000"/>
              <a:t>IS-IS</a:t>
            </a:r>
            <a:r>
              <a:rPr lang="zh-CN" altLang="en-US" sz="2000"/>
              <a:t>支持故障恢复快速收敛，例如通过</a:t>
            </a:r>
            <a:r>
              <a:rPr lang="en-US" altLang="zh-CN" sz="2000"/>
              <a:t>IS-IS Auto FRR</a:t>
            </a:r>
            <a:r>
              <a:rPr lang="zh-CN" altLang="en-US" sz="2000"/>
              <a:t>实现备份链路的快速切换，也可以与</a:t>
            </a:r>
            <a:r>
              <a:rPr lang="en-US" altLang="zh-CN" sz="2000"/>
              <a:t>BFD</a:t>
            </a:r>
            <a:r>
              <a:rPr lang="zh-CN" altLang="en-US" sz="2000"/>
              <a:t>联动实现对故障的快速感知。</a:t>
            </a:r>
            <a:endParaRPr lang="en-US" altLang="zh-CN" sz="2000" dirty="0"/>
          </a:p>
        </p:txBody>
      </p:sp>
      <p:sp>
        <p:nvSpPr>
          <p:cNvPr id="10" name="五边形 9"/>
          <p:cNvSpPr/>
          <p:nvPr/>
        </p:nvSpPr>
        <p:spPr bwMode="auto">
          <a:xfrm>
            <a:off x="9398540" y="98631"/>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I-SPF</a:t>
            </a:r>
            <a:endParaRPr lang="zh-CN" altLang="en-US" dirty="0"/>
          </a:p>
        </p:txBody>
      </p:sp>
      <p:sp>
        <p:nvSpPr>
          <p:cNvPr id="4" name="文本占位符 3"/>
          <p:cNvSpPr>
            <a:spLocks noGrp="1"/>
          </p:cNvSpPr>
          <p:nvPr>
            <p:ph type="body" sz="quarter" idx="10"/>
          </p:nvPr>
        </p:nvSpPr>
        <p:spPr>
          <a:xfrm>
            <a:off x="455612" y="1047751"/>
            <a:ext cx="11293475" cy="1094124"/>
          </a:xfrm>
        </p:spPr>
        <p:txBody>
          <a:bodyPr/>
          <a:lstStyle/>
          <a:p>
            <a:r>
              <a:rPr lang="en-US" altLang="zh-CN" sz="2000" dirty="0"/>
              <a:t>I-SPF</a:t>
            </a:r>
            <a:r>
              <a:rPr lang="zh-CN" altLang="en-US" sz="2000" dirty="0"/>
              <a:t>的工作原理：当网络拓扑改变的时候，只对受影响的节点进行路由计算，而不是对全部节点重新进行路由计算，从而加快了路由的计算。</a:t>
            </a:r>
            <a:endParaRPr lang="en-US" altLang="zh-CN" sz="2000" dirty="0"/>
          </a:p>
        </p:txBody>
      </p:sp>
      <p:sp>
        <p:nvSpPr>
          <p:cNvPr id="9" name="文本占位符 3"/>
          <p:cNvSpPr txBox="1"/>
          <p:nvPr/>
        </p:nvSpPr>
        <p:spPr bwMode="auto">
          <a:xfrm>
            <a:off x="914400" y="5498934"/>
            <a:ext cx="3295840" cy="676579"/>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400" dirty="0"/>
              <a:t>在路由计算中，节点代表路由器，叶子代表路由，</a:t>
            </a:r>
            <a:r>
              <a:rPr lang="en-US" altLang="zh-CN" sz="1400" dirty="0"/>
              <a:t>I-SPF</a:t>
            </a:r>
            <a:r>
              <a:rPr lang="zh-CN" altLang="en-US" sz="1400" dirty="0"/>
              <a:t>只处理变化的节点信息。</a:t>
            </a:r>
            <a:endParaRPr lang="zh-CN" altLang="en-US" sz="1400" dirty="0"/>
          </a:p>
        </p:txBody>
      </p:sp>
      <p:pic>
        <p:nvPicPr>
          <p:cNvPr id="26" name="图片 25"/>
          <p:cNvPicPr/>
          <p:nvPr/>
        </p:nvPicPr>
        <p:blipFill>
          <a:blip r:embed="rId1" cstate="print">
            <a:extLst>
              <a:ext uri="{28A0092B-C50C-407E-A947-70E740481C1C}">
                <a14:useLocalDpi xmlns:a14="http://schemas.microsoft.com/office/drawing/2010/main" val="0"/>
              </a:ext>
            </a:extLst>
          </a:blip>
          <a:stretch>
            <a:fillRect/>
          </a:stretch>
        </p:blipFill>
        <p:spPr bwMode="gray">
          <a:xfrm>
            <a:off x="1222847" y="3357900"/>
            <a:ext cx="540000" cy="442800"/>
          </a:xfrm>
          <a:prstGeom prst="rect">
            <a:avLst/>
          </a:prstGeom>
        </p:spPr>
      </p:pic>
      <p:cxnSp>
        <p:nvCxnSpPr>
          <p:cNvPr id="27" name="直接连接符 26"/>
          <p:cNvCxnSpPr>
            <a:endCxn id="26" idx="0"/>
          </p:cNvCxnSpPr>
          <p:nvPr/>
        </p:nvCxnSpPr>
        <p:spPr bwMode="gray">
          <a:xfrm flipH="1">
            <a:off x="1492847" y="2757131"/>
            <a:ext cx="570822" cy="6007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endCxn id="45" idx="0"/>
          </p:cNvCxnSpPr>
          <p:nvPr/>
        </p:nvCxnSpPr>
        <p:spPr bwMode="gray">
          <a:xfrm>
            <a:off x="2032671" y="2757131"/>
            <a:ext cx="602265" cy="60076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bwMode="gray">
          <a:xfrm>
            <a:off x="1534122" y="2298070"/>
            <a:ext cx="1136850" cy="307777"/>
          </a:xfrm>
          <a:prstGeom prst="rect">
            <a:avLst/>
          </a:prstGeom>
          <a:noFill/>
        </p:spPr>
        <p:txBody>
          <a:bodyPr wrap="none" rtlCol="0">
            <a:spAutoFit/>
          </a:bodyPr>
          <a:lstStyle/>
          <a:p>
            <a:pPr algn="ctr"/>
            <a:r>
              <a:rPr lang="en-US" altLang="zh-CN" sz="1400" dirty="0"/>
              <a:t>R1</a:t>
            </a:r>
            <a:r>
              <a:rPr lang="zh-CN" altLang="en-US" sz="1400" dirty="0"/>
              <a:t>（</a:t>
            </a:r>
            <a:r>
              <a:rPr lang="en-US" altLang="zh-CN" sz="1400" dirty="0"/>
              <a:t>Root</a:t>
            </a:r>
            <a:r>
              <a:rPr lang="zh-CN" altLang="en-US" sz="1400" dirty="0"/>
              <a:t>）</a:t>
            </a:r>
            <a:endParaRPr lang="zh-CN" altLang="en-US" sz="1400" dirty="0"/>
          </a:p>
        </p:txBody>
      </p:sp>
      <p:sp>
        <p:nvSpPr>
          <p:cNvPr id="36" name="文本框 35"/>
          <p:cNvSpPr txBox="1"/>
          <p:nvPr/>
        </p:nvSpPr>
        <p:spPr bwMode="gray">
          <a:xfrm>
            <a:off x="1192598" y="3087185"/>
            <a:ext cx="39466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37" name="文本框 36"/>
          <p:cNvSpPr txBox="1"/>
          <p:nvPr/>
        </p:nvSpPr>
        <p:spPr bwMode="gray">
          <a:xfrm>
            <a:off x="2699816" y="3092839"/>
            <a:ext cx="394660" cy="307777"/>
          </a:xfrm>
          <a:prstGeom prst="rect">
            <a:avLst/>
          </a:prstGeom>
          <a:noFill/>
        </p:spPr>
        <p:txBody>
          <a:bodyPr wrap="none" rtlCol="0">
            <a:spAutoFit/>
          </a:bodyPr>
          <a:lstStyle/>
          <a:p>
            <a:pPr algn="ctr"/>
            <a:r>
              <a:rPr lang="en-US" altLang="zh-CN" sz="1400" dirty="0"/>
              <a:t>R3</a:t>
            </a:r>
            <a:endParaRPr lang="zh-CN" altLang="en-US" sz="1400" dirty="0"/>
          </a:p>
        </p:txBody>
      </p:sp>
      <p:sp>
        <p:nvSpPr>
          <p:cNvPr id="38" name="文本框 37"/>
          <p:cNvSpPr txBox="1"/>
          <p:nvPr/>
        </p:nvSpPr>
        <p:spPr bwMode="gray">
          <a:xfrm>
            <a:off x="1759211" y="3899472"/>
            <a:ext cx="455574" cy="307777"/>
          </a:xfrm>
          <a:prstGeom prst="rect">
            <a:avLst/>
          </a:prstGeom>
          <a:noFill/>
        </p:spPr>
        <p:txBody>
          <a:bodyPr wrap="square" rtlCol="0">
            <a:spAutoFit/>
          </a:bodyPr>
          <a:lstStyle/>
          <a:p>
            <a:pPr algn="ctr"/>
            <a:r>
              <a:rPr lang="en-US" altLang="zh-CN" sz="1400" dirty="0"/>
              <a:t>R4</a:t>
            </a:r>
            <a:endParaRPr lang="zh-CN" altLang="en-US" sz="1400" dirty="0"/>
          </a:p>
        </p:txBody>
      </p:sp>
      <p:sp>
        <p:nvSpPr>
          <p:cNvPr id="39" name="文本框 38"/>
          <p:cNvSpPr txBox="1"/>
          <p:nvPr/>
        </p:nvSpPr>
        <p:spPr bwMode="gray">
          <a:xfrm>
            <a:off x="3271002" y="3899471"/>
            <a:ext cx="394660" cy="307777"/>
          </a:xfrm>
          <a:prstGeom prst="rect">
            <a:avLst/>
          </a:prstGeom>
          <a:noFill/>
        </p:spPr>
        <p:txBody>
          <a:bodyPr wrap="none" rtlCol="0">
            <a:spAutoFit/>
          </a:bodyPr>
          <a:lstStyle/>
          <a:p>
            <a:pPr algn="ctr"/>
            <a:r>
              <a:rPr lang="en-US" altLang="zh-CN" sz="1400" dirty="0"/>
              <a:t>R5</a:t>
            </a:r>
            <a:endParaRPr lang="zh-CN" altLang="en-US" sz="1400" dirty="0"/>
          </a:p>
        </p:txBody>
      </p:sp>
      <p:pic>
        <p:nvPicPr>
          <p:cNvPr id="40" name="图片 39"/>
          <p:cNvPicPr/>
          <p:nvPr/>
        </p:nvPicPr>
        <p:blipFill>
          <a:blip r:embed="rId1" cstate="print">
            <a:extLst>
              <a:ext uri="{28A0092B-C50C-407E-A947-70E740481C1C}">
                <a14:useLocalDpi xmlns:a14="http://schemas.microsoft.com/office/drawing/2010/main" val="0"/>
              </a:ext>
            </a:extLst>
          </a:blip>
          <a:stretch>
            <a:fillRect/>
          </a:stretch>
        </p:blipFill>
        <p:spPr bwMode="gray">
          <a:xfrm>
            <a:off x="1793892" y="2549124"/>
            <a:ext cx="540000" cy="442800"/>
          </a:xfrm>
          <a:prstGeom prst="rect">
            <a:avLst/>
          </a:prstGeom>
        </p:spPr>
      </p:pic>
      <p:pic>
        <p:nvPicPr>
          <p:cNvPr id="41" name="图片 40"/>
          <p:cNvPicPr/>
          <p:nvPr/>
        </p:nvPicPr>
        <p:blipFill>
          <a:blip r:embed="rId1" cstate="print">
            <a:extLst>
              <a:ext uri="{28A0092B-C50C-407E-A947-70E740481C1C}">
                <a14:useLocalDpi xmlns:a14="http://schemas.microsoft.com/office/drawing/2010/main" val="0"/>
              </a:ext>
            </a:extLst>
          </a:blip>
          <a:stretch>
            <a:fillRect/>
          </a:stretch>
        </p:blipFill>
        <p:spPr bwMode="gray">
          <a:xfrm>
            <a:off x="1793669" y="4155126"/>
            <a:ext cx="540000" cy="442800"/>
          </a:xfrm>
          <a:prstGeom prst="rect">
            <a:avLst/>
          </a:prstGeom>
        </p:spPr>
      </p:pic>
      <p:cxnSp>
        <p:nvCxnSpPr>
          <p:cNvPr id="43" name="直接连接符 42"/>
          <p:cNvCxnSpPr>
            <a:endCxn id="41" idx="0"/>
          </p:cNvCxnSpPr>
          <p:nvPr/>
        </p:nvCxnSpPr>
        <p:spPr bwMode="gray">
          <a:xfrm flipH="1">
            <a:off x="2063669" y="3581378"/>
            <a:ext cx="607303" cy="573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endCxn id="42" idx="0"/>
          </p:cNvCxnSpPr>
          <p:nvPr/>
        </p:nvCxnSpPr>
        <p:spPr bwMode="gray">
          <a:xfrm>
            <a:off x="2634936" y="3581378"/>
            <a:ext cx="570822" cy="5737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5" name="图片 44"/>
          <p:cNvPicPr/>
          <p:nvPr/>
        </p:nvPicPr>
        <p:blipFill>
          <a:blip r:embed="rId1" cstate="print">
            <a:extLst>
              <a:ext uri="{28A0092B-C50C-407E-A947-70E740481C1C}">
                <a14:useLocalDpi xmlns:a14="http://schemas.microsoft.com/office/drawing/2010/main" val="0"/>
              </a:ext>
            </a:extLst>
          </a:blip>
          <a:stretch>
            <a:fillRect/>
          </a:stretch>
        </p:blipFill>
        <p:spPr bwMode="gray">
          <a:xfrm>
            <a:off x="2364936" y="3357900"/>
            <a:ext cx="540000" cy="442800"/>
          </a:xfrm>
          <a:prstGeom prst="rect">
            <a:avLst/>
          </a:prstGeom>
        </p:spPr>
      </p:pic>
      <p:sp>
        <p:nvSpPr>
          <p:cNvPr id="46" name="文本占位符 3"/>
          <p:cNvSpPr txBox="1"/>
          <p:nvPr/>
        </p:nvSpPr>
        <p:spPr bwMode="auto">
          <a:xfrm>
            <a:off x="4623954" y="2419659"/>
            <a:ext cx="7120545" cy="3371541"/>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pPr>
            <a:r>
              <a:rPr lang="zh-CN" altLang="en-US" sz="1600" dirty="0"/>
              <a:t>场景介绍：</a:t>
            </a:r>
            <a:endParaRPr lang="en-US" altLang="zh-CN" sz="1600" dirty="0"/>
          </a:p>
          <a:p>
            <a:pPr lvl="1">
              <a:lnSpc>
                <a:spcPct val="125000"/>
              </a:lnSpc>
            </a:pPr>
            <a:r>
              <a:rPr lang="zh-CN" altLang="en-US" sz="1400" dirty="0"/>
              <a:t>某网络运行</a:t>
            </a:r>
            <a:r>
              <a:rPr lang="en-US" altLang="zh-CN" sz="1400" dirty="0"/>
              <a:t>IS-IS</a:t>
            </a:r>
            <a:r>
              <a:rPr lang="zh-CN" altLang="en-US" sz="1400" dirty="0"/>
              <a:t>，网络收敛后，左图是以</a:t>
            </a:r>
            <a:r>
              <a:rPr lang="en-US" altLang="zh-CN" sz="1400" dirty="0"/>
              <a:t>R1</a:t>
            </a:r>
            <a:r>
              <a:rPr lang="zh-CN" altLang="en-US" sz="1400" dirty="0"/>
              <a:t>为根的最短路径树。此时</a:t>
            </a:r>
            <a:r>
              <a:rPr lang="en-US" altLang="zh-CN" sz="1400" dirty="0"/>
              <a:t>R1</a:t>
            </a:r>
            <a:r>
              <a:rPr lang="zh-CN" altLang="en-US" sz="1400" dirty="0"/>
              <a:t>访问节点</a:t>
            </a:r>
            <a:r>
              <a:rPr lang="en-US" altLang="zh-CN" sz="1400" dirty="0"/>
              <a:t>R5</a:t>
            </a:r>
            <a:r>
              <a:rPr lang="zh-CN" altLang="en-US" sz="1400" dirty="0"/>
              <a:t>时，通过</a:t>
            </a:r>
            <a:r>
              <a:rPr lang="en-US" altLang="zh-CN" sz="1400" dirty="0">
                <a:solidFill>
                  <a:srgbClr val="C7000B"/>
                </a:solidFill>
              </a:rPr>
              <a:t>[R1</a:t>
            </a:r>
            <a:r>
              <a:rPr lang="zh-CN" altLang="en-US" sz="1400" dirty="0">
                <a:solidFill>
                  <a:srgbClr val="C7000B"/>
                </a:solidFill>
              </a:rPr>
              <a:t>下行链路的出接口，</a:t>
            </a:r>
            <a:r>
              <a:rPr lang="en-US" altLang="zh-CN" sz="1400" dirty="0">
                <a:solidFill>
                  <a:srgbClr val="C7000B"/>
                </a:solidFill>
              </a:rPr>
              <a:t>R3</a:t>
            </a:r>
            <a:r>
              <a:rPr lang="zh-CN" altLang="en-US" sz="1400" dirty="0">
                <a:solidFill>
                  <a:srgbClr val="C7000B"/>
                </a:solidFill>
              </a:rPr>
              <a:t>上行链路接口的</a:t>
            </a:r>
            <a:r>
              <a:rPr lang="en-US" altLang="zh-CN" sz="1400" dirty="0">
                <a:solidFill>
                  <a:srgbClr val="C7000B"/>
                </a:solidFill>
              </a:rPr>
              <a:t>IP</a:t>
            </a:r>
            <a:r>
              <a:rPr lang="zh-CN" altLang="en-US" sz="1400" dirty="0">
                <a:solidFill>
                  <a:srgbClr val="C7000B"/>
                </a:solidFill>
              </a:rPr>
              <a:t>地址</a:t>
            </a:r>
            <a:r>
              <a:rPr lang="en-US" altLang="zh-CN" sz="1400" dirty="0">
                <a:solidFill>
                  <a:srgbClr val="C7000B"/>
                </a:solidFill>
              </a:rPr>
              <a:t>]</a:t>
            </a:r>
            <a:r>
              <a:rPr lang="zh-CN" altLang="en-US" sz="1400" dirty="0"/>
              <a:t>到达该目的地。</a:t>
            </a:r>
            <a:endParaRPr lang="en-US" altLang="zh-CN" sz="1400" dirty="0"/>
          </a:p>
          <a:p>
            <a:pPr lvl="1">
              <a:lnSpc>
                <a:spcPct val="125000"/>
              </a:lnSpc>
            </a:pPr>
            <a:r>
              <a:rPr lang="en-US" altLang="zh-CN" sz="1400" dirty="0"/>
              <a:t>R5</a:t>
            </a:r>
            <a:r>
              <a:rPr lang="zh-CN" altLang="en-US" sz="1400" dirty="0"/>
              <a:t>下游新增设备</a:t>
            </a:r>
            <a:r>
              <a:rPr lang="en-US" altLang="zh-CN" sz="1400" dirty="0"/>
              <a:t>R6</a:t>
            </a:r>
            <a:r>
              <a:rPr lang="zh-CN" altLang="en-US" sz="1400" dirty="0"/>
              <a:t>，</a:t>
            </a:r>
            <a:r>
              <a:rPr lang="en-US" altLang="zh-CN" sz="1400" dirty="0"/>
              <a:t>R6</a:t>
            </a:r>
            <a:r>
              <a:rPr lang="zh-CN" altLang="en-US" sz="1400" dirty="0"/>
              <a:t>开启</a:t>
            </a:r>
            <a:r>
              <a:rPr lang="en-US" altLang="zh-CN" sz="1400" dirty="0"/>
              <a:t>IS-IS</a:t>
            </a:r>
            <a:r>
              <a:rPr lang="zh-CN" altLang="en-US" sz="1400" dirty="0"/>
              <a:t>，即</a:t>
            </a:r>
            <a:r>
              <a:rPr lang="en-US" altLang="zh-CN" sz="1400" dirty="0"/>
              <a:t>IS-IS</a:t>
            </a:r>
            <a:r>
              <a:rPr lang="zh-CN" altLang="en-US" sz="1400" dirty="0"/>
              <a:t>网络内有新增网络节点。</a:t>
            </a:r>
            <a:endParaRPr lang="en-US" altLang="zh-CN" sz="1400" dirty="0"/>
          </a:p>
          <a:p>
            <a:pPr>
              <a:lnSpc>
                <a:spcPct val="125000"/>
              </a:lnSpc>
            </a:pPr>
            <a:r>
              <a:rPr lang="en-US" altLang="zh-CN" sz="1600" dirty="0"/>
              <a:t>I-SPF</a:t>
            </a:r>
            <a:r>
              <a:rPr lang="zh-CN" altLang="en-US" sz="1600" dirty="0"/>
              <a:t>计算：</a:t>
            </a:r>
            <a:endParaRPr lang="en-US" altLang="zh-CN" sz="1600" dirty="0"/>
          </a:p>
          <a:p>
            <a:pPr lvl="1">
              <a:lnSpc>
                <a:spcPct val="125000"/>
              </a:lnSpc>
            </a:pPr>
            <a:r>
              <a:rPr lang="en-US" altLang="zh-CN" sz="1400" dirty="0"/>
              <a:t>R5</a:t>
            </a:r>
            <a:r>
              <a:rPr lang="zh-CN" altLang="en-US" sz="1400" dirty="0"/>
              <a:t>和</a:t>
            </a:r>
            <a:r>
              <a:rPr lang="en-US" altLang="zh-CN" sz="1400" dirty="0"/>
              <a:t>R6</a:t>
            </a:r>
            <a:r>
              <a:rPr lang="zh-CN" altLang="en-US" sz="1400" dirty="0"/>
              <a:t>全网泛洪</a:t>
            </a:r>
            <a:r>
              <a:rPr lang="en-US" altLang="zh-CN" sz="1400" dirty="0"/>
              <a:t>LSP</a:t>
            </a:r>
            <a:r>
              <a:rPr lang="zh-CN" altLang="en-US" sz="1400" dirty="0"/>
              <a:t>，包含新增邻居关系。</a:t>
            </a:r>
            <a:endParaRPr lang="en-US" altLang="zh-CN" sz="1400" dirty="0"/>
          </a:p>
          <a:p>
            <a:pPr lvl="1">
              <a:lnSpc>
                <a:spcPct val="125000"/>
              </a:lnSpc>
            </a:pPr>
            <a:r>
              <a:rPr lang="en-US" altLang="zh-CN" sz="1400" dirty="0"/>
              <a:t>R1</a:t>
            </a:r>
            <a:r>
              <a:rPr lang="zh-CN" altLang="en-US" sz="1400" dirty="0"/>
              <a:t>收到该</a:t>
            </a:r>
            <a:r>
              <a:rPr lang="en-US" altLang="zh-CN" sz="1400" dirty="0"/>
              <a:t>LSP</a:t>
            </a:r>
            <a:r>
              <a:rPr lang="zh-CN" altLang="en-US" sz="1400" dirty="0"/>
              <a:t>后会对变化的节点</a:t>
            </a:r>
            <a:r>
              <a:rPr lang="en-US" altLang="zh-CN" sz="1400" dirty="0"/>
              <a:t>R5</a:t>
            </a:r>
            <a:r>
              <a:rPr lang="zh-CN" altLang="en-US" sz="1400" dirty="0"/>
              <a:t>和</a:t>
            </a:r>
            <a:r>
              <a:rPr lang="en-US" altLang="zh-CN" sz="1400" dirty="0"/>
              <a:t>R6</a:t>
            </a:r>
            <a:r>
              <a:rPr lang="zh-CN" altLang="en-US" sz="1400" dirty="0"/>
              <a:t>进行</a:t>
            </a:r>
            <a:r>
              <a:rPr lang="en-US" altLang="zh-CN" sz="1400" dirty="0"/>
              <a:t>I-SPF</a:t>
            </a:r>
            <a:r>
              <a:rPr lang="zh-CN" altLang="en-US" sz="1400" dirty="0"/>
              <a:t>计算，生成新的最短路径树节点，而其他节点不变。</a:t>
            </a:r>
            <a:endParaRPr lang="en-US" altLang="zh-CN" sz="1400" dirty="0"/>
          </a:p>
          <a:p>
            <a:pPr lvl="1">
              <a:lnSpc>
                <a:spcPct val="125000"/>
              </a:lnSpc>
            </a:pPr>
            <a:r>
              <a:rPr lang="zh-CN" altLang="en-US" sz="1400" dirty="0"/>
              <a:t>因此</a:t>
            </a:r>
            <a:r>
              <a:rPr lang="en-US" altLang="zh-CN" sz="1400" dirty="0"/>
              <a:t>R1</a:t>
            </a:r>
            <a:r>
              <a:rPr lang="zh-CN" altLang="en-US" sz="1400" dirty="0"/>
              <a:t>访问节点</a:t>
            </a:r>
            <a:r>
              <a:rPr lang="en-US" altLang="zh-CN" sz="1400" dirty="0"/>
              <a:t>R5</a:t>
            </a:r>
            <a:r>
              <a:rPr lang="zh-CN" altLang="en-US" sz="1400" dirty="0"/>
              <a:t>和</a:t>
            </a:r>
            <a:r>
              <a:rPr lang="en-US" altLang="zh-CN" sz="1400" dirty="0"/>
              <a:t>R6</a:t>
            </a:r>
            <a:r>
              <a:rPr lang="zh-CN" altLang="en-US" sz="1400" dirty="0"/>
              <a:t>时，通过</a:t>
            </a:r>
            <a:r>
              <a:rPr lang="en-US" altLang="zh-CN" sz="1400" dirty="0">
                <a:solidFill>
                  <a:srgbClr val="C7000B"/>
                </a:solidFill>
              </a:rPr>
              <a:t>[R1</a:t>
            </a:r>
            <a:r>
              <a:rPr lang="zh-CN" altLang="en-US" sz="1400" dirty="0">
                <a:solidFill>
                  <a:srgbClr val="C7000B"/>
                </a:solidFill>
              </a:rPr>
              <a:t>下行链路的出接口，</a:t>
            </a:r>
            <a:r>
              <a:rPr lang="en-US" altLang="zh-CN" sz="1400" dirty="0">
                <a:solidFill>
                  <a:srgbClr val="C7000B"/>
                </a:solidFill>
              </a:rPr>
              <a:t>R3</a:t>
            </a:r>
            <a:r>
              <a:rPr lang="zh-CN" altLang="en-US" sz="1400" dirty="0">
                <a:solidFill>
                  <a:srgbClr val="C7000B"/>
                </a:solidFill>
              </a:rPr>
              <a:t>上行链路接口的</a:t>
            </a:r>
            <a:r>
              <a:rPr lang="en-US" altLang="zh-CN" sz="1400" dirty="0">
                <a:solidFill>
                  <a:srgbClr val="C7000B"/>
                </a:solidFill>
              </a:rPr>
              <a:t>IP</a:t>
            </a:r>
            <a:r>
              <a:rPr lang="zh-CN" altLang="en-US" sz="1400" dirty="0">
                <a:solidFill>
                  <a:srgbClr val="C7000B"/>
                </a:solidFill>
              </a:rPr>
              <a:t>地址</a:t>
            </a:r>
            <a:r>
              <a:rPr lang="en-US" altLang="zh-CN" sz="1400" dirty="0">
                <a:solidFill>
                  <a:srgbClr val="C7000B"/>
                </a:solidFill>
              </a:rPr>
              <a:t>]</a:t>
            </a:r>
            <a:r>
              <a:rPr lang="zh-CN" altLang="en-US" sz="1400" dirty="0"/>
              <a:t>到达该目的地。</a:t>
            </a:r>
            <a:endParaRPr lang="en-US" altLang="zh-CN" sz="1400" dirty="0"/>
          </a:p>
        </p:txBody>
      </p:sp>
      <p:pic>
        <p:nvPicPr>
          <p:cNvPr id="42" name="图片 41"/>
          <p:cNvPicPr/>
          <p:nvPr/>
        </p:nvPicPr>
        <p:blipFill>
          <a:blip r:embed="rId1" cstate="print">
            <a:extLst>
              <a:ext uri="{28A0092B-C50C-407E-A947-70E740481C1C}">
                <a14:useLocalDpi xmlns:a14="http://schemas.microsoft.com/office/drawing/2010/main" val="0"/>
              </a:ext>
            </a:extLst>
          </a:blip>
          <a:stretch>
            <a:fillRect/>
          </a:stretch>
        </p:blipFill>
        <p:spPr bwMode="gray">
          <a:xfrm>
            <a:off x="2935758" y="4155126"/>
            <a:ext cx="540000" cy="442800"/>
          </a:xfrm>
          <a:prstGeom prst="rect">
            <a:avLst/>
          </a:prstGeom>
        </p:spPr>
      </p:pic>
      <p:pic>
        <p:nvPicPr>
          <p:cNvPr id="34" name="图片 33"/>
          <p:cNvPicPr/>
          <p:nvPr/>
        </p:nvPicPr>
        <p:blipFill>
          <a:blip r:embed="rId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2935758" y="4978815"/>
            <a:ext cx="540000" cy="442800"/>
          </a:xfrm>
          <a:prstGeom prst="rect">
            <a:avLst/>
          </a:prstGeom>
        </p:spPr>
      </p:pic>
      <p:cxnSp>
        <p:nvCxnSpPr>
          <p:cNvPr id="56" name="直接连接符 55"/>
          <p:cNvCxnSpPr>
            <a:stCxn id="42" idx="2"/>
            <a:endCxn id="34" idx="0"/>
          </p:cNvCxnSpPr>
          <p:nvPr/>
        </p:nvCxnSpPr>
        <p:spPr bwMode="gray">
          <a:xfrm>
            <a:off x="3205758" y="4597926"/>
            <a:ext cx="0" cy="380889"/>
          </a:xfrm>
          <a:prstGeom prst="line">
            <a:avLst/>
          </a:prstGeom>
          <a:ln w="28575">
            <a:solidFill>
              <a:srgbClr val="C7000B"/>
            </a:solidFill>
          </a:ln>
        </p:spPr>
        <p:style>
          <a:lnRef idx="1">
            <a:schemeClr val="accent1"/>
          </a:lnRef>
          <a:fillRef idx="0">
            <a:schemeClr val="accent1"/>
          </a:fillRef>
          <a:effectRef idx="0">
            <a:schemeClr val="accent1"/>
          </a:effectRef>
          <a:fontRef idx="minor">
            <a:schemeClr val="tx1"/>
          </a:fontRef>
        </p:style>
      </p:cxnSp>
      <p:sp>
        <p:nvSpPr>
          <p:cNvPr id="57" name="文本框 56"/>
          <p:cNvSpPr txBox="1"/>
          <p:nvPr/>
        </p:nvSpPr>
        <p:spPr bwMode="gray">
          <a:xfrm>
            <a:off x="2166888" y="4697399"/>
            <a:ext cx="1124026" cy="307777"/>
          </a:xfrm>
          <a:prstGeom prst="rect">
            <a:avLst/>
          </a:prstGeom>
          <a:noFill/>
        </p:spPr>
        <p:txBody>
          <a:bodyPr wrap="none" rtlCol="0">
            <a:spAutoFit/>
          </a:bodyPr>
          <a:lstStyle/>
          <a:p>
            <a:pPr algn="ctr"/>
            <a:r>
              <a:rPr lang="en-US" altLang="zh-CN" sz="1400" b="1" dirty="0">
                <a:solidFill>
                  <a:srgbClr val="C7000B"/>
                </a:solidFill>
              </a:rPr>
              <a:t>R6</a:t>
            </a:r>
            <a:r>
              <a:rPr lang="zh-CN" altLang="en-US" sz="1400" b="1" dirty="0">
                <a:solidFill>
                  <a:srgbClr val="C7000B"/>
                </a:solidFill>
              </a:rPr>
              <a:t>（新增）</a:t>
            </a:r>
            <a:endParaRPr lang="zh-CN" altLang="en-US" sz="1400" b="1" dirty="0">
              <a:solidFill>
                <a:srgbClr val="C7000B"/>
              </a:solidFill>
            </a:endParaRPr>
          </a:p>
        </p:txBody>
      </p:sp>
      <p:sp>
        <p:nvSpPr>
          <p:cNvPr id="58" name="椭圆 57"/>
          <p:cNvSpPr/>
          <p:nvPr/>
        </p:nvSpPr>
        <p:spPr bwMode="ltGray">
          <a:xfrm>
            <a:off x="2143439" y="2858915"/>
            <a:ext cx="180000" cy="1800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bwMode="ltGray">
          <a:xfrm>
            <a:off x="2513427" y="3239566"/>
            <a:ext cx="180000" cy="180000"/>
          </a:xfrm>
          <a:prstGeom prst="ellipse">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59"/>
          <p:cNvSpPr/>
          <p:nvPr/>
        </p:nvSpPr>
        <p:spPr bwMode="ltGray">
          <a:xfrm>
            <a:off x="2300056" y="2757131"/>
            <a:ext cx="1207062" cy="2248045"/>
          </a:xfrm>
          <a:custGeom>
            <a:avLst/>
            <a:gdLst>
              <a:gd name="connsiteX0" fmla="*/ 0 w 1071844"/>
              <a:gd name="connsiteY0" fmla="*/ 0 h 1698171"/>
              <a:gd name="connsiteX1" fmla="*/ 570016 w 1071844"/>
              <a:gd name="connsiteY1" fmla="*/ 593766 h 1698171"/>
              <a:gd name="connsiteX2" fmla="*/ 997527 w 1071844"/>
              <a:gd name="connsiteY2" fmla="*/ 1175657 h 1698171"/>
              <a:gd name="connsiteX3" fmla="*/ 1068779 w 1071844"/>
              <a:gd name="connsiteY3" fmla="*/ 1698171 h 1698171"/>
            </a:gdLst>
            <a:ahLst/>
            <a:cxnLst>
              <a:cxn ang="0">
                <a:pos x="connsiteX0" y="connsiteY0"/>
              </a:cxn>
              <a:cxn ang="0">
                <a:pos x="connsiteX1" y="connsiteY1"/>
              </a:cxn>
              <a:cxn ang="0">
                <a:pos x="connsiteX2" y="connsiteY2"/>
              </a:cxn>
              <a:cxn ang="0">
                <a:pos x="connsiteX3" y="connsiteY3"/>
              </a:cxn>
            </a:cxnLst>
            <a:rect l="l" t="t" r="r" b="b"/>
            <a:pathLst>
              <a:path w="1071844" h="1698171">
                <a:moveTo>
                  <a:pt x="0" y="0"/>
                </a:moveTo>
                <a:cubicBezTo>
                  <a:pt x="201881" y="198911"/>
                  <a:pt x="403762" y="397823"/>
                  <a:pt x="570016" y="593766"/>
                </a:cubicBezTo>
                <a:cubicBezTo>
                  <a:pt x="736270" y="789709"/>
                  <a:pt x="914400" y="991590"/>
                  <a:pt x="997527" y="1175657"/>
                </a:cubicBezTo>
                <a:cubicBezTo>
                  <a:pt x="1080654" y="1359725"/>
                  <a:pt x="1074716" y="1528948"/>
                  <a:pt x="1068779" y="1698171"/>
                </a:cubicBezTo>
              </a:path>
            </a:pathLst>
          </a:custGeom>
          <a:noFill/>
          <a:ln w="38100">
            <a:solidFill>
              <a:srgbClr val="ED6D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五边形 32"/>
          <p:cNvSpPr/>
          <p:nvPr/>
        </p:nvSpPr>
        <p:spPr bwMode="auto">
          <a:xfrm>
            <a:off x="9398540" y="98631"/>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LSP</a:t>
            </a:r>
            <a:r>
              <a:rPr lang="zh-CN" altLang="en-US"/>
              <a:t>快速扩散</a:t>
            </a:r>
            <a:endParaRPr lang="zh-CN" altLang="en-US" dirty="0"/>
          </a:p>
        </p:txBody>
      </p:sp>
      <p:sp>
        <p:nvSpPr>
          <p:cNvPr id="4" name="文本占位符 3"/>
          <p:cNvSpPr>
            <a:spLocks noGrp="1"/>
          </p:cNvSpPr>
          <p:nvPr>
            <p:ph type="body" sz="quarter" idx="10"/>
          </p:nvPr>
        </p:nvSpPr>
        <p:spPr>
          <a:xfrm>
            <a:off x="455612" y="1047750"/>
            <a:ext cx="11293475" cy="3546155"/>
          </a:xfrm>
        </p:spPr>
        <p:txBody>
          <a:bodyPr/>
          <a:lstStyle/>
          <a:p>
            <a:r>
              <a:rPr lang="en-US" altLang="zh-CN" sz="2000" dirty="0"/>
              <a:t>LSP</a:t>
            </a:r>
            <a:r>
              <a:rPr lang="zh-CN" altLang="en-US" sz="2000" dirty="0"/>
              <a:t>快速扩散：此特性可以加快</a:t>
            </a:r>
            <a:r>
              <a:rPr lang="en-US" altLang="zh-CN" sz="2000" dirty="0"/>
              <a:t>LSP</a:t>
            </a:r>
            <a:r>
              <a:rPr lang="zh-CN" altLang="en-US" sz="2000" dirty="0"/>
              <a:t>的扩散速度。</a:t>
            </a:r>
            <a:endParaRPr lang="en-US" altLang="zh-CN" sz="2000" dirty="0"/>
          </a:p>
          <a:p>
            <a:pPr lvl="1"/>
            <a:r>
              <a:rPr lang="zh-CN" altLang="en-US" sz="1800" dirty="0"/>
              <a:t>正常情况下，当</a:t>
            </a:r>
            <a:r>
              <a:rPr lang="en-US" altLang="zh-CN" sz="1800" dirty="0"/>
              <a:t>IS-IS</a:t>
            </a:r>
            <a:r>
              <a:rPr lang="zh-CN" altLang="en-US" sz="1800" dirty="0"/>
              <a:t>路由器收到其它路由器发来的</a:t>
            </a:r>
            <a:r>
              <a:rPr lang="en-US" altLang="zh-CN" sz="1800" dirty="0"/>
              <a:t>LSP</a:t>
            </a:r>
            <a:r>
              <a:rPr lang="zh-CN" altLang="en-US" sz="1800" dirty="0"/>
              <a:t>时，如果此</a:t>
            </a:r>
            <a:r>
              <a:rPr lang="en-US" altLang="zh-CN" sz="1800" dirty="0"/>
              <a:t>LSP</a:t>
            </a:r>
            <a:r>
              <a:rPr lang="zh-CN" altLang="en-US" sz="1800" dirty="0"/>
              <a:t>比本地</a:t>
            </a:r>
            <a:r>
              <a:rPr lang="en-US" altLang="zh-CN" sz="1800" dirty="0"/>
              <a:t>LSDB</a:t>
            </a:r>
            <a:r>
              <a:rPr lang="zh-CN" altLang="en-US" sz="1800" dirty="0"/>
              <a:t>中相应的</a:t>
            </a:r>
            <a:r>
              <a:rPr lang="en-US" altLang="zh-CN" sz="1800" dirty="0"/>
              <a:t>LSP</a:t>
            </a:r>
            <a:r>
              <a:rPr lang="zh-CN" altLang="en-US" sz="1800" dirty="0"/>
              <a:t>要新，则更新</a:t>
            </a:r>
            <a:r>
              <a:rPr lang="en-US" altLang="zh-CN" sz="1800" dirty="0"/>
              <a:t>LSDB</a:t>
            </a:r>
            <a:r>
              <a:rPr lang="zh-CN" altLang="en-US" sz="1800" dirty="0"/>
              <a:t>中的</a:t>
            </a:r>
            <a:r>
              <a:rPr lang="en-US" altLang="zh-CN" sz="1800" dirty="0"/>
              <a:t>LSP</a:t>
            </a:r>
            <a:r>
              <a:rPr lang="zh-CN" altLang="en-US" sz="1800" dirty="0"/>
              <a:t>，并用一个定时器定期将</a:t>
            </a:r>
            <a:r>
              <a:rPr lang="en-US" altLang="zh-CN" sz="1800" dirty="0"/>
              <a:t>LSDB</a:t>
            </a:r>
            <a:r>
              <a:rPr lang="zh-CN" altLang="en-US" sz="1800" dirty="0"/>
              <a:t>内已更新的</a:t>
            </a:r>
            <a:r>
              <a:rPr lang="en-US" altLang="zh-CN" sz="1800" dirty="0"/>
              <a:t>LSP</a:t>
            </a:r>
            <a:r>
              <a:rPr lang="zh-CN" altLang="en-US" sz="1800" dirty="0"/>
              <a:t>扩散出去。</a:t>
            </a:r>
            <a:endParaRPr lang="zh-CN" altLang="en-US" sz="1800" dirty="0"/>
          </a:p>
          <a:p>
            <a:pPr lvl="1"/>
            <a:r>
              <a:rPr lang="en-US" altLang="zh-CN" sz="1800" dirty="0"/>
              <a:t>LSP</a:t>
            </a:r>
            <a:r>
              <a:rPr lang="zh-CN" altLang="en-US" sz="1800" dirty="0"/>
              <a:t>快速扩散特性改进了这种方式，使能了此特性的设备收到一个或多个较新的</a:t>
            </a:r>
            <a:r>
              <a:rPr lang="en-US" altLang="zh-CN" sz="1800" dirty="0"/>
              <a:t>LSP</a:t>
            </a:r>
            <a:r>
              <a:rPr lang="zh-CN" altLang="en-US" sz="1800" dirty="0"/>
              <a:t>时，在路由计算之前，先将小于指定数目的</a:t>
            </a:r>
            <a:r>
              <a:rPr lang="en-US" altLang="zh-CN" sz="1800" dirty="0"/>
              <a:t>LSP</a:t>
            </a:r>
            <a:r>
              <a:rPr lang="zh-CN" altLang="en-US" sz="1800" dirty="0"/>
              <a:t>扩散出去，加快</a:t>
            </a:r>
            <a:r>
              <a:rPr lang="en-US" altLang="zh-CN" sz="1800" dirty="0"/>
              <a:t>LSDB</a:t>
            </a:r>
            <a:r>
              <a:rPr lang="zh-CN" altLang="en-US" sz="1800" dirty="0"/>
              <a:t>的同步过程。这种方式在很大程度上可以提高整个网络的收敛速度。</a:t>
            </a:r>
            <a:endParaRPr lang="en-US" altLang="zh-CN" sz="1800" dirty="0"/>
          </a:p>
          <a:p>
            <a:pPr lvl="1"/>
            <a:endParaRPr lang="en-US" altLang="zh-CN" sz="1800" dirty="0"/>
          </a:p>
          <a:p>
            <a:pPr marL="0" indent="0">
              <a:buNone/>
            </a:pPr>
            <a:r>
              <a:rPr lang="zh-CN" altLang="en-US" sz="1600" dirty="0"/>
              <a:t>     配置</a:t>
            </a:r>
            <a:r>
              <a:rPr lang="en-US" altLang="zh-CN" sz="1600" dirty="0"/>
              <a:t>LSP</a:t>
            </a:r>
            <a:r>
              <a:rPr lang="zh-CN" altLang="en-US" sz="1600" dirty="0"/>
              <a:t>快速扩散：</a:t>
            </a:r>
            <a:endParaRPr lang="zh-CN" altLang="en-US" sz="2000" dirty="0"/>
          </a:p>
        </p:txBody>
      </p:sp>
      <p:sp>
        <p:nvSpPr>
          <p:cNvPr id="5" name="矩形 4"/>
          <p:cNvSpPr/>
          <p:nvPr/>
        </p:nvSpPr>
        <p:spPr>
          <a:xfrm>
            <a:off x="866296" y="4593905"/>
            <a:ext cx="10608699" cy="338554"/>
          </a:xfrm>
          <a:prstGeom prst="rect">
            <a:avLst/>
          </a:prstGeom>
          <a:solidFill>
            <a:schemeClr val="bg1">
              <a:lumMod val="85000"/>
            </a:schemeClr>
          </a:solid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altLang="zh-CN" sz="1600" dirty="0">
                <a:cs typeface="Courier New" panose="02070309020205020404" pitchFamily="49" charset="0"/>
              </a:rPr>
              <a:t>[Huawei-isis-1] </a:t>
            </a:r>
            <a:r>
              <a:rPr lang="en-US" altLang="zh-CN" sz="1600" b="1" dirty="0"/>
              <a:t>flash-flood</a:t>
            </a:r>
            <a:r>
              <a:rPr lang="en-US" altLang="zh-CN" sz="1600" dirty="0"/>
              <a:t> [ </a:t>
            </a:r>
            <a:r>
              <a:rPr lang="en-US" altLang="zh-CN" sz="1600" i="1" dirty="0" err="1"/>
              <a:t>lsp</a:t>
            </a:r>
            <a:r>
              <a:rPr lang="en-US" altLang="zh-CN" sz="1600" i="1" dirty="0"/>
              <a:t>-count</a:t>
            </a:r>
            <a:r>
              <a:rPr lang="en-US" altLang="zh-CN" sz="1600" dirty="0"/>
              <a:t> | </a:t>
            </a:r>
            <a:r>
              <a:rPr lang="en-US" altLang="zh-CN" sz="1600" b="1" dirty="0"/>
              <a:t>max-timer-interval</a:t>
            </a:r>
            <a:r>
              <a:rPr lang="en-US" altLang="zh-CN" sz="1600" dirty="0"/>
              <a:t> </a:t>
            </a:r>
            <a:r>
              <a:rPr lang="en-US" altLang="zh-CN" sz="1600" i="1" dirty="0"/>
              <a:t>interval</a:t>
            </a:r>
            <a:r>
              <a:rPr lang="en-US" altLang="zh-CN" sz="1600" dirty="0"/>
              <a:t> | [ </a:t>
            </a:r>
            <a:r>
              <a:rPr lang="en-US" altLang="zh-CN" sz="1600" b="1" dirty="0"/>
              <a:t>level-1</a:t>
            </a:r>
            <a:r>
              <a:rPr lang="en-US" altLang="zh-CN" sz="1600" dirty="0"/>
              <a:t> | </a:t>
            </a:r>
            <a:r>
              <a:rPr lang="en-US" altLang="zh-CN" sz="1600" b="1" dirty="0"/>
              <a:t>level-2</a:t>
            </a:r>
            <a:r>
              <a:rPr lang="en-US" altLang="zh-CN" sz="1600" dirty="0"/>
              <a:t> ] ]</a:t>
            </a:r>
            <a:endParaRPr lang="zh-CN" altLang="en-US" sz="1600" dirty="0">
              <a:cs typeface="Courier New" panose="02070309020205020404" pitchFamily="49" charset="0"/>
            </a:endParaRPr>
          </a:p>
        </p:txBody>
      </p:sp>
      <p:sp>
        <p:nvSpPr>
          <p:cNvPr id="6" name="文本占位符 3"/>
          <p:cNvSpPr txBox="1"/>
          <p:nvPr/>
        </p:nvSpPr>
        <p:spPr bwMode="auto">
          <a:xfrm>
            <a:off x="791651" y="4932459"/>
            <a:ext cx="10952849" cy="1178685"/>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600" dirty="0"/>
              <a:t>注意：用户可以指定每次扩散的</a:t>
            </a:r>
            <a:r>
              <a:rPr lang="en-US" altLang="zh-CN" sz="1600" dirty="0"/>
              <a:t>LSP</a:t>
            </a:r>
            <a:r>
              <a:rPr lang="zh-CN" altLang="en-US" sz="1600" dirty="0"/>
              <a:t>数量，这个数量是针对所有</a:t>
            </a:r>
            <a:r>
              <a:rPr lang="en-US" altLang="zh-CN" sz="1600" dirty="0"/>
              <a:t>IS-IS</a:t>
            </a:r>
            <a:r>
              <a:rPr lang="zh-CN" altLang="en-US" sz="1600" dirty="0"/>
              <a:t>接口的。如果需要发送的</a:t>
            </a:r>
            <a:r>
              <a:rPr lang="en-US" altLang="zh-CN" sz="1600" dirty="0"/>
              <a:t>LSP</a:t>
            </a:r>
            <a:r>
              <a:rPr lang="zh-CN" altLang="en-US" sz="1600" dirty="0"/>
              <a:t>的数量大于这个数，则就发送</a:t>
            </a:r>
            <a:r>
              <a:rPr lang="en-US" altLang="zh-CN" sz="1600" i="1" dirty="0" err="1"/>
              <a:t>lsp</a:t>
            </a:r>
            <a:r>
              <a:rPr lang="en-US" altLang="zh-CN" sz="1600" i="1" dirty="0"/>
              <a:t>-count</a:t>
            </a:r>
            <a:r>
              <a:rPr lang="zh-CN" altLang="en-US" sz="1600" dirty="0"/>
              <a:t>个</a:t>
            </a:r>
            <a:r>
              <a:rPr lang="en-US" altLang="zh-CN" sz="1600" dirty="0"/>
              <a:t>LSP</a:t>
            </a:r>
            <a:r>
              <a:rPr lang="zh-CN" altLang="en-US" sz="1600" dirty="0"/>
              <a:t>。如果配置了定时器，在路由计算之前如果这个定时器未超时，则立即扩散；否则在该定时器超时后发送。</a:t>
            </a:r>
            <a:endParaRPr lang="zh-CN" altLang="en-US" sz="1600" dirty="0"/>
          </a:p>
        </p:txBody>
      </p:sp>
      <p:sp>
        <p:nvSpPr>
          <p:cNvPr id="12" name="五边形 11"/>
          <p:cNvSpPr/>
          <p:nvPr/>
        </p:nvSpPr>
        <p:spPr bwMode="auto">
          <a:xfrm>
            <a:off x="9398540" y="98631"/>
            <a:ext cx="720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燕尾形 13"/>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IS-IS</a:t>
            </a:r>
            <a:r>
              <a:rPr lang="zh-CN" altLang="en-US"/>
              <a:t>路由控制概述</a:t>
            </a:r>
            <a:endParaRPr lang="zh-CN" altLang="en-US" dirty="0"/>
          </a:p>
        </p:txBody>
      </p:sp>
      <p:sp>
        <p:nvSpPr>
          <p:cNvPr id="4" name="文本占位符 3"/>
          <p:cNvSpPr>
            <a:spLocks noGrp="1"/>
          </p:cNvSpPr>
          <p:nvPr>
            <p:ph type="body" sz="quarter" idx="10"/>
          </p:nvPr>
        </p:nvSpPr>
        <p:spPr>
          <a:xfrm>
            <a:off x="455612" y="1047750"/>
            <a:ext cx="11293475" cy="5153025"/>
          </a:xfrm>
        </p:spPr>
        <p:txBody>
          <a:bodyPr/>
          <a:lstStyle/>
          <a:p>
            <a:r>
              <a:rPr lang="zh-CN" altLang="en-US" sz="2000" dirty="0"/>
              <a:t>在实际应用中，</a:t>
            </a:r>
            <a:r>
              <a:rPr lang="en-US" altLang="zh-CN" sz="2000" dirty="0"/>
              <a:t>IS-IS</a:t>
            </a:r>
            <a:r>
              <a:rPr lang="zh-CN" altLang="en-US" sz="2000" dirty="0"/>
              <a:t>根据</a:t>
            </a:r>
            <a:r>
              <a:rPr lang="en-US" altLang="zh-CN" sz="2000" dirty="0"/>
              <a:t>SPF</a:t>
            </a:r>
            <a:r>
              <a:rPr lang="zh-CN" altLang="en-US" sz="2000" dirty="0"/>
              <a:t>算法计算出来的路由有时并不能满足网络所需，可能出现如下弊端：如路由表中条目过多降低路由查找的速度、网络中链路利用率不均衡等，这些都不能很好地满足网络规划和流量管理的需要。为了达到优化</a:t>
            </a:r>
            <a:r>
              <a:rPr lang="en-US" altLang="zh-CN" sz="2000" dirty="0"/>
              <a:t>IS-IS</a:t>
            </a:r>
            <a:r>
              <a:rPr lang="zh-CN" altLang="en-US" sz="2000" dirty="0"/>
              <a:t>网络和便于流量管理的目的，需要对网络中的路由进行更加精确的控制。</a:t>
            </a:r>
            <a:r>
              <a:rPr lang="en-US" altLang="zh-CN" sz="2000" dirty="0"/>
              <a:t>IS-IS</a:t>
            </a:r>
            <a:r>
              <a:rPr lang="zh-CN" altLang="en-US" sz="2000" dirty="0"/>
              <a:t>的路由控制包括：</a:t>
            </a:r>
            <a:endParaRPr lang="en-US" altLang="zh-CN" sz="2000" dirty="0"/>
          </a:p>
          <a:p>
            <a:pPr lvl="1"/>
            <a:r>
              <a:rPr lang="zh-CN" altLang="en-US" sz="1800" dirty="0"/>
              <a:t>调整</a:t>
            </a:r>
            <a:r>
              <a:rPr lang="en-US" altLang="zh-CN" sz="1800" dirty="0"/>
              <a:t>IS-IS</a:t>
            </a:r>
            <a:r>
              <a:rPr lang="zh-CN" altLang="en-US" sz="1800" dirty="0"/>
              <a:t>的优先级</a:t>
            </a:r>
            <a:endParaRPr lang="en-US" altLang="zh-CN" sz="1800" dirty="0"/>
          </a:p>
          <a:p>
            <a:pPr lvl="1"/>
            <a:r>
              <a:rPr lang="zh-CN" altLang="en-US" sz="1800" dirty="0"/>
              <a:t>调整</a:t>
            </a:r>
            <a:r>
              <a:rPr lang="en-US" altLang="zh-CN" sz="1800" dirty="0"/>
              <a:t>IS-IS</a:t>
            </a:r>
            <a:r>
              <a:rPr lang="zh-CN" altLang="en-US" sz="1800" dirty="0"/>
              <a:t>的接口开销</a:t>
            </a:r>
            <a:endParaRPr lang="en-US" altLang="zh-CN" sz="1800" dirty="0"/>
          </a:p>
          <a:p>
            <a:pPr lvl="1"/>
            <a:r>
              <a:rPr lang="zh-CN" altLang="en-US" sz="1800" dirty="0"/>
              <a:t>设置等价路由</a:t>
            </a:r>
            <a:endParaRPr lang="en-US" altLang="zh-CN" sz="1800" dirty="0"/>
          </a:p>
          <a:p>
            <a:pPr lvl="1"/>
            <a:r>
              <a:rPr lang="en-US" altLang="zh-CN" sz="1800" dirty="0"/>
              <a:t>IS-IS</a:t>
            </a:r>
            <a:r>
              <a:rPr lang="zh-CN" altLang="en-US" sz="1800" dirty="0"/>
              <a:t>路由渗透</a:t>
            </a:r>
            <a:endParaRPr lang="en-US" altLang="zh-CN" sz="1800" dirty="0"/>
          </a:p>
          <a:p>
            <a:pPr lvl="1"/>
            <a:r>
              <a:rPr lang="zh-CN" altLang="en-US" sz="1800" dirty="0"/>
              <a:t>通告缺省路由</a:t>
            </a:r>
            <a:endParaRPr lang="en-US" altLang="zh-CN" sz="1800" dirty="0"/>
          </a:p>
          <a:p>
            <a:pPr lvl="1"/>
            <a:r>
              <a:rPr lang="zh-CN" altLang="en-US" sz="1800" dirty="0"/>
              <a:t>引入外部路由</a:t>
            </a:r>
            <a:endParaRPr lang="en-US" altLang="zh-CN" sz="1800" dirty="0"/>
          </a:p>
          <a:p>
            <a:pPr lvl="1"/>
            <a:r>
              <a:rPr lang="en-US" altLang="zh-CN" sz="1800" dirty="0"/>
              <a:t>Filter-Policy</a:t>
            </a:r>
            <a:endParaRPr lang="en-US" altLang="zh-CN" sz="1800" dirty="0"/>
          </a:p>
        </p:txBody>
      </p:sp>
      <p:sp>
        <p:nvSpPr>
          <p:cNvPr id="10" name="五边形 9"/>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等价路由</a:t>
            </a:r>
            <a:endParaRPr lang="zh-CN" altLang="en-US" dirty="0"/>
          </a:p>
        </p:txBody>
      </p:sp>
      <p:sp>
        <p:nvSpPr>
          <p:cNvPr id="3" name="文本占位符 2"/>
          <p:cNvSpPr>
            <a:spLocks noGrp="1"/>
          </p:cNvSpPr>
          <p:nvPr>
            <p:ph type="body" sz="quarter" idx="10"/>
          </p:nvPr>
        </p:nvSpPr>
        <p:spPr/>
        <p:txBody>
          <a:bodyPr/>
          <a:lstStyle/>
          <a:p>
            <a:r>
              <a:rPr lang="zh-CN" altLang="en-US" sz="2000" dirty="0"/>
              <a:t>当</a:t>
            </a:r>
            <a:r>
              <a:rPr lang="en-US" altLang="zh-CN" sz="2000" dirty="0"/>
              <a:t>IS-IS</a:t>
            </a:r>
            <a:r>
              <a:rPr lang="zh-CN" altLang="en-US" sz="2000" dirty="0"/>
              <a:t>网络中有多条冗余链路时，可能会出现多条等价路由，此时可以采取两种方式：</a:t>
            </a:r>
            <a:endParaRPr lang="zh-CN" altLang="en-US" sz="2000" dirty="0"/>
          </a:p>
          <a:p>
            <a:pPr lvl="1"/>
            <a:r>
              <a:rPr lang="zh-CN" altLang="en-US" sz="1800" dirty="0"/>
              <a:t>配置负载分担。流量会被均匀的分配到每条链路上。</a:t>
            </a:r>
            <a:endParaRPr lang="zh-CN" altLang="en-US" sz="1800" dirty="0"/>
          </a:p>
          <a:p>
            <a:pPr lvl="2"/>
            <a:r>
              <a:rPr lang="zh-CN" altLang="en-US" sz="1600" dirty="0"/>
              <a:t>该方式可以提高网络中链路的利用率及减少某些链路负担过重造成阻塞发生的情况。但是由于对流量转发具有一定的随机性，因此可能不利于对业务流量的管理。</a:t>
            </a:r>
            <a:endParaRPr lang="zh-CN" altLang="en-US" sz="1600" dirty="0"/>
          </a:p>
          <a:p>
            <a:pPr lvl="1"/>
            <a:r>
              <a:rPr lang="zh-CN" altLang="en-US" sz="1800" dirty="0"/>
              <a:t>配置等价路由优先级。针对等价路由中的每一条路由，明确指定其优先级，优先级高的路由将被优选，优先级低的路由可以作为备用链路。</a:t>
            </a:r>
            <a:endParaRPr lang="zh-CN" altLang="en-US" sz="1800" dirty="0"/>
          </a:p>
          <a:p>
            <a:pPr lvl="2"/>
            <a:r>
              <a:rPr lang="zh-CN" altLang="en-US" sz="1600" dirty="0"/>
              <a:t>当</a:t>
            </a:r>
            <a:r>
              <a:rPr lang="en-US" altLang="zh-CN" sz="1600" dirty="0"/>
              <a:t>IS-IS</a:t>
            </a:r>
            <a:r>
              <a:rPr lang="zh-CN" altLang="en-US" sz="1600" dirty="0"/>
              <a:t>网络中有多条冗余链路时，可能会出现多条等价路由，即达到某一目的网段有多条等开销路径。配置等价路由优先级可以在不修改原有配置的基础上，指定某条路由被优选，便于业务的管理，同时提高网络的可靠性。</a:t>
            </a:r>
            <a:endParaRPr lang="en-US" altLang="zh-CN" sz="1600" dirty="0"/>
          </a:p>
          <a:p>
            <a:pPr lvl="2"/>
            <a:r>
              <a:rPr lang="zh-CN" altLang="en-US" sz="1600" dirty="0"/>
              <a:t>注意：配置等价路由优先级后，</a:t>
            </a:r>
            <a:r>
              <a:rPr lang="en-US" altLang="zh-CN" sz="1600" dirty="0"/>
              <a:t>IS-IS</a:t>
            </a:r>
            <a:r>
              <a:rPr lang="zh-CN" altLang="en-US" sz="1600" dirty="0"/>
              <a:t>设备在转发到达目的网段的流量时，将不采用负载分担方式，而是将流量转发到优先级最高的下一跳。</a:t>
            </a:r>
            <a:endParaRPr lang="en-US" altLang="zh-CN" sz="1600" dirty="0"/>
          </a:p>
        </p:txBody>
      </p:sp>
      <p:sp>
        <p:nvSpPr>
          <p:cNvPr id="10" name="五边形 9"/>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配置</a:t>
            </a:r>
            <a:r>
              <a:rPr lang="en-US" altLang="zh-CN"/>
              <a:t>IS-IS</a:t>
            </a:r>
            <a:r>
              <a:rPr lang="zh-CN" altLang="en-US"/>
              <a:t>对等价路由的处理方式</a:t>
            </a:r>
            <a:endParaRPr lang="zh-CN" altLang="en-US" dirty="0"/>
          </a:p>
        </p:txBody>
      </p:sp>
      <p:sp>
        <p:nvSpPr>
          <p:cNvPr id="3" name="文本占位符 2"/>
          <p:cNvSpPr>
            <a:spLocks noGrp="1"/>
          </p:cNvSpPr>
          <p:nvPr>
            <p:ph type="body" sz="quarter" idx="10"/>
          </p:nvPr>
        </p:nvSpPr>
        <p:spPr>
          <a:xfrm>
            <a:off x="455612" y="3863444"/>
            <a:ext cx="11293475" cy="2337331"/>
          </a:xfrm>
        </p:spPr>
        <p:txBody>
          <a:bodyPr/>
          <a:lstStyle/>
          <a:p>
            <a:r>
              <a:rPr lang="zh-CN" altLang="en-US" sz="1600" dirty="0"/>
              <a:t>当组网中存在的等价路由数量大于</a:t>
            </a:r>
            <a:r>
              <a:rPr lang="en-US" altLang="zh-CN" sz="1600" b="1" dirty="0"/>
              <a:t>maximum load-balancing</a:t>
            </a:r>
            <a:r>
              <a:rPr lang="zh-CN" altLang="en-US" sz="1600" dirty="0"/>
              <a:t>命令配置的等价路由数量时，按照下面原则选取有效路由进行负载分担：</a:t>
            </a:r>
            <a:endParaRPr lang="zh-CN" altLang="en-US" sz="1600" dirty="0"/>
          </a:p>
          <a:p>
            <a:pPr marL="746125" lvl="1" indent="-342900">
              <a:buSzPct val="100000"/>
              <a:buFont typeface="+mj-lt"/>
              <a:buAutoNum type="arabicPeriod"/>
            </a:pPr>
            <a:r>
              <a:rPr lang="zh-CN" altLang="en-US" sz="1400" dirty="0"/>
              <a:t>路由优先级：选取优先级小（优先级高）的路由进行负载分担。</a:t>
            </a:r>
            <a:endParaRPr lang="zh-CN" altLang="en-US" sz="1400" dirty="0"/>
          </a:p>
          <a:p>
            <a:pPr marL="746125" lvl="1" indent="-342900">
              <a:buSzPct val="100000"/>
              <a:buFont typeface="+mj-lt"/>
              <a:buAutoNum type="arabicPeriod"/>
            </a:pPr>
            <a:r>
              <a:rPr lang="zh-CN" altLang="en-US" sz="1400" dirty="0"/>
              <a:t>下一跳设备的</a:t>
            </a:r>
            <a:r>
              <a:rPr lang="en-US" altLang="zh-CN" sz="1400" dirty="0"/>
              <a:t>System ID</a:t>
            </a:r>
            <a:r>
              <a:rPr lang="zh-CN" altLang="en-US" sz="1400" dirty="0"/>
              <a:t>：如果路由的优先级相同，则比较下一跳设备的</a:t>
            </a:r>
            <a:r>
              <a:rPr lang="en-US" altLang="zh-CN" sz="1400" dirty="0"/>
              <a:t>System ID</a:t>
            </a:r>
            <a:r>
              <a:rPr lang="zh-CN" altLang="en-US" sz="1400" dirty="0"/>
              <a:t>，选取</a:t>
            </a:r>
            <a:r>
              <a:rPr lang="en-US" altLang="zh-CN" sz="1400" dirty="0"/>
              <a:t>System ID</a:t>
            </a:r>
            <a:r>
              <a:rPr lang="zh-CN" altLang="en-US" sz="1400" dirty="0"/>
              <a:t>小的路由进行负载分担。</a:t>
            </a:r>
            <a:endParaRPr lang="zh-CN" altLang="en-US" sz="1400" dirty="0"/>
          </a:p>
          <a:p>
            <a:pPr marL="746125" lvl="1" indent="-342900">
              <a:buSzPct val="100000"/>
              <a:buFont typeface="+mj-lt"/>
              <a:buAutoNum type="arabicPeriod"/>
            </a:pPr>
            <a:r>
              <a:rPr lang="zh-CN" altLang="en-US" sz="1400" dirty="0"/>
              <a:t>本地设备出接口索引：如果路由优先级和下一跳设备的</a:t>
            </a:r>
            <a:r>
              <a:rPr lang="en-US" altLang="zh-CN" sz="1400" dirty="0"/>
              <a:t>System ID</a:t>
            </a:r>
            <a:r>
              <a:rPr lang="zh-CN" altLang="en-US" sz="1400" dirty="0"/>
              <a:t>都相同，则比较出接口的接口索引，选取接口索引较小的路由进行负载分担。</a:t>
            </a:r>
            <a:endParaRPr lang="zh-CN" altLang="en-US" sz="1400" dirty="0"/>
          </a:p>
        </p:txBody>
      </p:sp>
      <p:sp>
        <p:nvSpPr>
          <p:cNvPr id="7" name="矩形 6"/>
          <p:cNvSpPr/>
          <p:nvPr/>
        </p:nvSpPr>
        <p:spPr>
          <a:xfrm>
            <a:off x="1031917" y="16049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maximum load-balancing</a:t>
            </a:r>
            <a:r>
              <a:rPr lang="en-US" altLang="zh-CN" sz="1600" dirty="0"/>
              <a:t> </a:t>
            </a:r>
            <a:r>
              <a:rPr lang="en-US" altLang="zh-CN" sz="1600" i="1" dirty="0"/>
              <a:t>number</a:t>
            </a:r>
            <a:endParaRPr lang="zh-CN" altLang="en-US" sz="1600" dirty="0">
              <a:cs typeface="Courier New" panose="02070309020205020404" pitchFamily="49" charset="0"/>
            </a:endParaRPr>
          </a:p>
        </p:txBody>
      </p:sp>
      <p:sp>
        <p:nvSpPr>
          <p:cNvPr id="8" name="矩形 7"/>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配置</a:t>
            </a:r>
            <a:r>
              <a:rPr lang="en-US" altLang="zh-CN" sz="1600" dirty="0">
                <a:cs typeface="Courier New" panose="02070309020205020404" pitchFamily="49" charset="0"/>
              </a:rPr>
              <a:t>IS-IS</a:t>
            </a:r>
            <a:r>
              <a:rPr lang="zh-CN" altLang="en-US" sz="1600" dirty="0">
                <a:cs typeface="Courier New" panose="02070309020205020404" pitchFamily="49" charset="0"/>
              </a:rPr>
              <a:t>路由负载分担。</a:t>
            </a:r>
            <a:endParaRPr lang="zh-CN" altLang="en-US" sz="1600" dirty="0">
              <a:cs typeface="Courier New" panose="02070309020205020404" pitchFamily="49" charset="0"/>
            </a:endParaRPr>
          </a:p>
        </p:txBody>
      </p:sp>
      <p:sp>
        <p:nvSpPr>
          <p:cNvPr id="9" name="矩形 8"/>
          <p:cNvSpPr/>
          <p:nvPr/>
        </p:nvSpPr>
        <p:spPr>
          <a:xfrm>
            <a:off x="1031917" y="1952918"/>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配置在负载分担方式下的等价路由的最大数量。</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a:xfrm>
            <a:off x="1031917" y="3005232"/>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err="1"/>
              <a:t>nexthop</a:t>
            </a:r>
            <a:r>
              <a:rPr lang="en-US" altLang="zh-CN" sz="1600" b="1" dirty="0"/>
              <a:t> </a:t>
            </a:r>
            <a:r>
              <a:rPr lang="en-US" altLang="zh-CN" sz="1600" i="1" dirty="0" err="1"/>
              <a:t>ip</a:t>
            </a:r>
            <a:r>
              <a:rPr lang="en-US" altLang="zh-CN" sz="1600" i="1" dirty="0"/>
              <a:t>-address</a:t>
            </a:r>
            <a:r>
              <a:rPr lang="en-US" altLang="zh-CN" sz="1600" b="1" dirty="0"/>
              <a:t> weight </a:t>
            </a:r>
            <a:r>
              <a:rPr lang="en-US" altLang="zh-CN" sz="1600" i="1" dirty="0"/>
              <a:t>value</a:t>
            </a:r>
            <a:endParaRPr lang="zh-CN" altLang="en-US" sz="1600" i="1" dirty="0">
              <a:cs typeface="Courier New" panose="02070309020205020404" pitchFamily="49" charset="0"/>
            </a:endParaRPr>
          </a:p>
        </p:txBody>
      </p:sp>
      <p:sp>
        <p:nvSpPr>
          <p:cNvPr id="13" name="矩形 12"/>
          <p:cNvSpPr/>
          <p:nvPr/>
        </p:nvSpPr>
        <p:spPr>
          <a:xfrm>
            <a:off x="551384" y="257308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配置</a:t>
            </a:r>
            <a:r>
              <a:rPr lang="en-US" altLang="zh-CN" sz="1600" dirty="0">
                <a:cs typeface="Courier New" panose="02070309020205020404" pitchFamily="49" charset="0"/>
              </a:rPr>
              <a:t>IS-IS</a:t>
            </a:r>
            <a:r>
              <a:rPr lang="zh-CN" altLang="en-US" sz="1600" dirty="0">
                <a:cs typeface="Courier New" panose="02070309020205020404" pitchFamily="49" charset="0"/>
              </a:rPr>
              <a:t>等价路由的优先级。</a:t>
            </a:r>
            <a:endParaRPr lang="zh-CN" altLang="en-US" sz="1600" dirty="0">
              <a:cs typeface="Courier New" panose="02070309020205020404" pitchFamily="49" charset="0"/>
            </a:endParaRPr>
          </a:p>
        </p:txBody>
      </p:sp>
      <p:sp>
        <p:nvSpPr>
          <p:cNvPr id="10" name="矩形 9"/>
          <p:cNvSpPr/>
          <p:nvPr/>
        </p:nvSpPr>
        <p:spPr>
          <a:xfrm>
            <a:off x="1031917" y="3365060"/>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缺省情况下，不设置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等价路由的优先级。</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value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值越小，表示优先级越高。</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五边形 15"/>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燕尾形 17"/>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等价路由配置举例 </a:t>
            </a:r>
            <a:r>
              <a:rPr lang="en-US" altLang="zh-CN"/>
              <a:t>(1)</a:t>
            </a:r>
            <a:endParaRPr lang="zh-CN" altLang="en-US" dirty="0"/>
          </a:p>
        </p:txBody>
      </p:sp>
      <p:sp>
        <p:nvSpPr>
          <p:cNvPr id="3" name="文本占位符 2"/>
          <p:cNvSpPr>
            <a:spLocks noGrp="1"/>
          </p:cNvSpPr>
          <p:nvPr>
            <p:ph type="body" sz="quarter" idx="4294967295"/>
          </p:nvPr>
        </p:nvSpPr>
        <p:spPr>
          <a:xfrm>
            <a:off x="5068983" y="1297056"/>
            <a:ext cx="6597153" cy="940974"/>
          </a:xfrm>
        </p:spPr>
        <p:txBody>
          <a:bodyPr/>
          <a:lstStyle/>
          <a:p>
            <a:pPr marL="0" indent="0">
              <a:buNone/>
            </a:pPr>
            <a:r>
              <a:rPr lang="zh-CN" altLang="en-US" sz="1600" dirty="0"/>
              <a:t>如图</a:t>
            </a:r>
            <a:r>
              <a:rPr lang="en-US" altLang="zh-CN" sz="1600" dirty="0"/>
              <a:t>R1</a:t>
            </a:r>
            <a:r>
              <a:rPr lang="zh-CN" altLang="en-US" sz="1600" dirty="0"/>
              <a:t>、</a:t>
            </a:r>
            <a:r>
              <a:rPr lang="en-US" altLang="zh-CN" sz="1600" dirty="0"/>
              <a:t>R2</a:t>
            </a:r>
            <a:r>
              <a:rPr lang="zh-CN" altLang="en-US" sz="1600" dirty="0"/>
              <a:t>、</a:t>
            </a:r>
            <a:r>
              <a:rPr lang="en-US" altLang="zh-CN" sz="1600" dirty="0"/>
              <a:t>R3</a:t>
            </a:r>
            <a:r>
              <a:rPr lang="zh-CN" altLang="en-US" sz="1600" dirty="0"/>
              <a:t>运行</a:t>
            </a:r>
            <a:r>
              <a:rPr lang="en-US" altLang="zh-CN" sz="1600" dirty="0"/>
              <a:t>IS-IS</a:t>
            </a:r>
            <a:r>
              <a:rPr lang="zh-CN" altLang="en-US" sz="1600" dirty="0"/>
              <a:t>，通过配置，要求</a:t>
            </a:r>
            <a:r>
              <a:rPr lang="en-US" altLang="zh-CN" sz="1600" dirty="0"/>
              <a:t>R1</a:t>
            </a:r>
            <a:r>
              <a:rPr lang="zh-CN" altLang="en-US" sz="1600" dirty="0"/>
              <a:t>可以通过</a:t>
            </a:r>
            <a:r>
              <a:rPr lang="en-US" altLang="zh-CN" sz="1600" dirty="0"/>
              <a:t>R1-R3</a:t>
            </a:r>
            <a:r>
              <a:rPr lang="zh-CN" altLang="en-US" sz="1600" dirty="0"/>
              <a:t>路径访问</a:t>
            </a:r>
            <a:r>
              <a:rPr lang="en-US" altLang="zh-CN" sz="1600" dirty="0"/>
              <a:t>R3</a:t>
            </a:r>
            <a:r>
              <a:rPr lang="zh-CN" altLang="en-US" sz="1600" dirty="0"/>
              <a:t>的环回口地址，也可以通过</a:t>
            </a:r>
            <a:r>
              <a:rPr lang="en-US" altLang="zh-CN" sz="1600" dirty="0"/>
              <a:t>R1-R2-R3</a:t>
            </a:r>
            <a:r>
              <a:rPr lang="zh-CN" altLang="en-US" sz="1600" dirty="0"/>
              <a:t>路径访问</a:t>
            </a:r>
            <a:r>
              <a:rPr lang="en-US" altLang="zh-CN" sz="1600" dirty="0"/>
              <a:t>R3</a:t>
            </a:r>
            <a:r>
              <a:rPr lang="zh-CN" altLang="en-US" sz="1600" dirty="0"/>
              <a:t>的环回口地址。</a:t>
            </a:r>
            <a:endParaRPr lang="zh-CN" altLang="en-US" sz="1600" dirty="0"/>
          </a:p>
        </p:txBody>
      </p:sp>
      <p:sp>
        <p:nvSpPr>
          <p:cNvPr id="4" name="矩形 3"/>
          <p:cNvSpPr/>
          <p:nvPr/>
        </p:nvSpPr>
        <p:spPr bwMode="gray">
          <a:xfrm>
            <a:off x="1075439" y="1297056"/>
            <a:ext cx="3843503" cy="2027547"/>
          </a:xfrm>
          <a:prstGeom prst="rect">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1066468" y="2933496"/>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nvGrpSpPr>
          <p:cNvPr id="6" name="组合 5"/>
          <p:cNvGrpSpPr/>
          <p:nvPr/>
        </p:nvGrpSpPr>
        <p:grpSpPr bwMode="gray">
          <a:xfrm>
            <a:off x="1291273" y="1297056"/>
            <a:ext cx="3402865" cy="1984387"/>
            <a:chOff x="1407560" y="3964964"/>
            <a:chExt cx="3402865" cy="1984387"/>
          </a:xfrm>
        </p:grpSpPr>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407560" y="4205229"/>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270425" y="4205229"/>
              <a:ext cx="540000" cy="442800"/>
            </a:xfrm>
            <a:prstGeom prst="rect">
              <a:avLst/>
            </a:prstGeom>
          </p:spPr>
        </p:pic>
        <p:pic>
          <p:nvPicPr>
            <p:cNvPr id="9" name="图片 8"/>
            <p:cNvPicPr/>
            <p:nvPr/>
          </p:nvPicPr>
          <p:blipFill>
            <a:blip r:embed="rId1" cstate="print">
              <a:extLst>
                <a:ext uri="{28A0092B-C50C-407E-A947-70E740481C1C}">
                  <a14:useLocalDpi xmlns:a14="http://schemas.microsoft.com/office/drawing/2010/main" val="0"/>
                </a:ext>
              </a:extLst>
            </a:blip>
            <a:stretch>
              <a:fillRect/>
            </a:stretch>
          </p:blipFill>
          <p:spPr bwMode="gray">
            <a:xfrm>
              <a:off x="2838993" y="5244320"/>
              <a:ext cx="540000" cy="442800"/>
            </a:xfrm>
            <a:prstGeom prst="rect">
              <a:avLst/>
            </a:prstGeom>
          </p:spPr>
        </p:pic>
        <p:cxnSp>
          <p:nvCxnSpPr>
            <p:cNvPr id="10" name="直接连接符 9"/>
            <p:cNvCxnSpPr>
              <a:stCxn id="7" idx="3"/>
              <a:endCxn id="8" idx="1"/>
            </p:cNvCxnSpPr>
            <p:nvPr/>
          </p:nvCxnSpPr>
          <p:spPr bwMode="gray">
            <a:xfrm>
              <a:off x="1947560" y="4426629"/>
              <a:ext cx="2322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2"/>
              <a:endCxn id="9" idx="1"/>
            </p:cNvCxnSpPr>
            <p:nvPr/>
          </p:nvCxnSpPr>
          <p:spPr bwMode="gray">
            <a:xfrm>
              <a:off x="1677560" y="4648029"/>
              <a:ext cx="1161433"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9" idx="3"/>
              <a:endCxn id="8" idx="2"/>
            </p:cNvCxnSpPr>
            <p:nvPr/>
          </p:nvCxnSpPr>
          <p:spPr bwMode="gray">
            <a:xfrm flipV="1">
              <a:off x="3378993" y="4648029"/>
              <a:ext cx="1161432"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431698" y="396496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589010" y="41526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rot="2181066">
              <a:off x="1717839" y="49575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rot="19527687">
              <a:off x="3529820" y="50441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295467" y="396496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589675" y="4385854"/>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p:cNvSpPr/>
            <p:nvPr/>
          </p:nvSpPr>
          <p:spPr bwMode="gray">
            <a:xfrm rot="2148243">
              <a:off x="1876705" y="4815303"/>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bwMode="gray">
            <a:xfrm rot="19479832">
              <a:off x="3404773" y="4869478"/>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2863130" y="564157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graphicFrame>
        <p:nvGraphicFramePr>
          <p:cNvPr id="23" name="表格 22"/>
          <p:cNvGraphicFramePr>
            <a:graphicFrameLocks noGrp="1"/>
          </p:cNvGraphicFramePr>
          <p:nvPr/>
        </p:nvGraphicFramePr>
        <p:xfrm>
          <a:off x="1109211" y="3553845"/>
          <a:ext cx="3809731" cy="2438400"/>
        </p:xfrm>
        <a:graphic>
          <a:graphicData uri="http://schemas.openxmlformats.org/drawingml/2006/table">
            <a:tbl>
              <a:tblPr firstRow="1" bandRow="1"/>
              <a:tblGrid>
                <a:gridCol w="786083"/>
                <a:gridCol w="1511824"/>
                <a:gridCol w="1511824"/>
              </a:tblGrid>
              <a:tr h="283456">
                <a:tc>
                  <a:txBody>
                    <a:bodyPr/>
                    <a:lstStyle/>
                    <a:p>
                      <a:pPr algn="ctr"/>
                      <a:r>
                        <a:rPr lang="zh-CN" altLang="en-US" sz="1400" b="1" dirty="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IP</a:t>
                      </a:r>
                      <a:r>
                        <a:rPr lang="zh-CN" altLang="en-US" sz="1400" b="1" dirty="0"/>
                        <a:t>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rowSpan="2">
                  <a:txBody>
                    <a:bodyPr/>
                    <a:lstStyle/>
                    <a:p>
                      <a:pPr algn="ctr"/>
                      <a:r>
                        <a:rPr lang="en-US" altLang="zh-CN" sz="1400" dirty="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a:t>GE0/0/0</a:t>
                      </a:r>
                      <a:endParaRPr lang="en-US" altLang="zh-CN" sz="1400" dirty="0">
                        <a:solidFill>
                          <a:schemeClr val="tx1"/>
                        </a:solidFill>
                      </a:endParaRPr>
                    </a:p>
                  </a:txBody>
                  <a:tcPr anchor="ctr"/>
                </a:tc>
                <a:tc>
                  <a:txBody>
                    <a:bodyPr/>
                    <a:lstStyle/>
                    <a:p>
                      <a:pPr algn="l"/>
                      <a:r>
                        <a:rPr lang="en-US" altLang="zh-CN" sz="1400" dirty="0"/>
                        <a:t>10.1.13.1/24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2">
                  <a:txBody>
                    <a:bodyPr/>
                    <a:lstStyle/>
                    <a:p>
                      <a:pPr algn="ctr"/>
                      <a:r>
                        <a:rPr lang="en-US" altLang="zh-CN" sz="1400" dirty="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3">
                  <a:txBody>
                    <a:bodyPr/>
                    <a:lstStyle/>
                    <a:p>
                      <a:pPr algn="ctr"/>
                      <a:r>
                        <a:rPr lang="en-US" altLang="zh-CN" sz="1400" dirty="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a:t>Loopback0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10.1.3.3/32</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26" name="文本框 31"/>
          <p:cNvSpPr txBox="1"/>
          <p:nvPr/>
        </p:nvSpPr>
        <p:spPr>
          <a:xfrm>
            <a:off x="5097163" y="2349287"/>
            <a:ext cx="4201791"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IS-IS</a:t>
            </a:r>
            <a:r>
              <a:rPr lang="zh-CN" altLang="en-US" sz="1600" dirty="0">
                <a:solidFill>
                  <a:prstClr val="black"/>
                </a:solidFill>
              </a:rPr>
              <a:t>。（略）</a:t>
            </a:r>
            <a:endParaRPr lang="zh-CN" altLang="en-US" sz="1600" dirty="0">
              <a:solidFill>
                <a:prstClr val="black"/>
              </a:solidFill>
            </a:endParaRPr>
          </a:p>
        </p:txBody>
      </p:sp>
      <p:sp>
        <p:nvSpPr>
          <p:cNvPr id="27" name="文本框 32"/>
          <p:cNvSpPr txBox="1"/>
          <p:nvPr/>
        </p:nvSpPr>
        <p:spPr>
          <a:xfrm>
            <a:off x="5138102" y="3243518"/>
            <a:ext cx="4642749"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isis</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[R1-isis-1] </a:t>
            </a:r>
            <a:r>
              <a:rPr lang="en-US" altLang="zh-CN" sz="1400" b="1" dirty="0">
                <a:solidFill>
                  <a:prstClr val="black"/>
                </a:solidFill>
                <a:cs typeface="Courier New" panose="02070309020205020404" pitchFamily="49" charset="0"/>
              </a:rPr>
              <a:t>maximum load-balancing </a:t>
            </a:r>
            <a:r>
              <a:rPr lang="en-US" altLang="zh-CN" sz="1400" dirty="0">
                <a:solidFill>
                  <a:prstClr val="black"/>
                </a:solidFill>
                <a:cs typeface="Courier New" panose="02070309020205020404" pitchFamily="49" charset="0"/>
              </a:rPr>
              <a:t>2	</a:t>
            </a:r>
            <a:endParaRPr lang="en-US" altLang="zh-CN" sz="1400" dirty="0">
              <a:solidFill>
                <a:prstClr val="black"/>
              </a:solidFill>
              <a:cs typeface="Courier New" panose="02070309020205020404" pitchFamily="49" charset="0"/>
            </a:endParaRPr>
          </a:p>
        </p:txBody>
      </p:sp>
      <p:sp>
        <p:nvSpPr>
          <p:cNvPr id="28" name="文本框 33"/>
          <p:cNvSpPr txBox="1"/>
          <p:nvPr/>
        </p:nvSpPr>
        <p:spPr>
          <a:xfrm>
            <a:off x="5097163" y="2880329"/>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a:t>
            </a:r>
            <a:r>
              <a:rPr lang="en-US" altLang="zh-CN" sz="1600" dirty="0">
                <a:solidFill>
                  <a:prstClr val="black"/>
                </a:solidFill>
              </a:rPr>
              <a:t>R1</a:t>
            </a:r>
            <a:r>
              <a:rPr lang="zh-CN" altLang="en-US" sz="1600" dirty="0">
                <a:solidFill>
                  <a:prstClr val="black"/>
                </a:solidFill>
              </a:rPr>
              <a:t>配置路由负载分担。</a:t>
            </a:r>
            <a:endParaRPr lang="zh-CN" altLang="en-US" sz="1600" dirty="0">
              <a:solidFill>
                <a:prstClr val="black"/>
              </a:solidFill>
            </a:endParaRPr>
          </a:p>
        </p:txBody>
      </p:sp>
      <p:sp>
        <p:nvSpPr>
          <p:cNvPr id="29" name="文本框 32"/>
          <p:cNvSpPr txBox="1"/>
          <p:nvPr/>
        </p:nvSpPr>
        <p:spPr>
          <a:xfrm>
            <a:off x="5138102" y="4390860"/>
            <a:ext cx="6610986" cy="1600438"/>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[R1]display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 routing-table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Route Flags: R - relay, D - download to fib</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endParaRPr lang="en-US" altLang="zh-CN" sz="1400" dirty="0">
              <a:solidFill>
                <a:prstClr val="black"/>
              </a:solidFill>
              <a:cs typeface="Courier New" panose="02070309020205020404" pitchFamily="49" charset="0"/>
            </a:endParaRP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Destination/Mask 	Proto   Pre  Cost   Flags </a:t>
            </a:r>
            <a:r>
              <a:rPr lang="en-US" altLang="zh-CN" sz="1400"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Interface</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10.1.3.3/32		ISIS-L2 15   10         D   10.1.13.3   GigabitEthernet0/0/0</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                    	ISIS-L2 15   10         D   10.1.12.2   GigabitEthernet0/0/1</a:t>
            </a:r>
            <a:endParaRPr lang="en-US" altLang="zh-CN" sz="1400" dirty="0">
              <a:solidFill>
                <a:prstClr val="black"/>
              </a:solidFill>
              <a:cs typeface="Courier New" panose="02070309020205020404" pitchFamily="49" charset="0"/>
            </a:endParaRPr>
          </a:p>
        </p:txBody>
      </p:sp>
      <p:sp>
        <p:nvSpPr>
          <p:cNvPr id="30" name="文本框 33"/>
          <p:cNvSpPr txBox="1"/>
          <p:nvPr/>
        </p:nvSpPr>
        <p:spPr>
          <a:xfrm>
            <a:off x="5097163" y="4052306"/>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、结果验证。</a:t>
            </a:r>
            <a:endParaRPr lang="zh-CN" altLang="en-US" sz="1600" dirty="0">
              <a:solidFill>
                <a:prstClr val="black"/>
              </a:solidFill>
            </a:endParaRPr>
          </a:p>
        </p:txBody>
      </p:sp>
      <p:sp>
        <p:nvSpPr>
          <p:cNvPr id="34" name="五边形 33"/>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燕尾形 34"/>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等价路由配置举例 </a:t>
            </a:r>
            <a:r>
              <a:rPr lang="en-US" altLang="zh-CN"/>
              <a:t>(2)</a:t>
            </a:r>
            <a:endParaRPr lang="zh-CN" altLang="en-US" dirty="0"/>
          </a:p>
        </p:txBody>
      </p:sp>
      <p:sp>
        <p:nvSpPr>
          <p:cNvPr id="3" name="文本占位符 2"/>
          <p:cNvSpPr>
            <a:spLocks noGrp="1"/>
          </p:cNvSpPr>
          <p:nvPr>
            <p:ph type="body" sz="quarter" idx="4294967295"/>
          </p:nvPr>
        </p:nvSpPr>
        <p:spPr>
          <a:xfrm>
            <a:off x="5073052" y="1297056"/>
            <a:ext cx="5699125" cy="1252469"/>
          </a:xfrm>
        </p:spPr>
        <p:txBody>
          <a:bodyPr/>
          <a:lstStyle/>
          <a:p>
            <a:pPr marL="0" indent="0">
              <a:buNone/>
            </a:pPr>
            <a:r>
              <a:rPr lang="zh-CN" altLang="en-US" sz="1600" dirty="0"/>
              <a:t>如图</a:t>
            </a:r>
            <a:r>
              <a:rPr lang="en-US" altLang="zh-CN" sz="1600" dirty="0"/>
              <a:t>R1</a:t>
            </a:r>
            <a:r>
              <a:rPr lang="zh-CN" altLang="en-US" sz="1600" dirty="0"/>
              <a:t>、</a:t>
            </a:r>
            <a:r>
              <a:rPr lang="en-US" altLang="zh-CN" sz="1600" dirty="0"/>
              <a:t>R2</a:t>
            </a:r>
            <a:r>
              <a:rPr lang="zh-CN" altLang="en-US" sz="1600" dirty="0"/>
              <a:t>、</a:t>
            </a:r>
            <a:r>
              <a:rPr lang="en-US" altLang="zh-CN" sz="1600" dirty="0"/>
              <a:t>R3</a:t>
            </a:r>
            <a:r>
              <a:rPr lang="zh-CN" altLang="en-US" sz="1600" dirty="0"/>
              <a:t>运行</a:t>
            </a:r>
            <a:r>
              <a:rPr lang="en-US" altLang="zh-CN" sz="1600" dirty="0"/>
              <a:t>IS-IS</a:t>
            </a:r>
            <a:r>
              <a:rPr lang="zh-CN" altLang="en-US" sz="1600" dirty="0"/>
              <a:t>，通过配置，要求</a:t>
            </a:r>
            <a:r>
              <a:rPr lang="en-US" altLang="zh-CN" sz="1600" dirty="0"/>
              <a:t>R1</a:t>
            </a:r>
            <a:r>
              <a:rPr lang="zh-CN" altLang="en-US" sz="1600" dirty="0"/>
              <a:t>优选</a:t>
            </a:r>
            <a:r>
              <a:rPr lang="en-US" altLang="zh-CN" sz="1600" dirty="0"/>
              <a:t>R1-R3</a:t>
            </a:r>
            <a:r>
              <a:rPr lang="zh-CN" altLang="en-US" sz="1600" dirty="0"/>
              <a:t>路径访问</a:t>
            </a:r>
            <a:r>
              <a:rPr lang="en-US" altLang="zh-CN" sz="1600" dirty="0"/>
              <a:t>R3</a:t>
            </a:r>
            <a:r>
              <a:rPr lang="zh-CN" altLang="en-US" sz="1600" dirty="0"/>
              <a:t>的环回口地址。</a:t>
            </a:r>
            <a:endParaRPr lang="zh-CN" altLang="en-US" sz="1600" dirty="0"/>
          </a:p>
        </p:txBody>
      </p:sp>
      <p:sp>
        <p:nvSpPr>
          <p:cNvPr id="27" name="文本框 32"/>
          <p:cNvSpPr txBox="1"/>
          <p:nvPr/>
        </p:nvSpPr>
        <p:spPr>
          <a:xfrm>
            <a:off x="5138102" y="3242472"/>
            <a:ext cx="4642749" cy="73866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isis</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[R1-isis-1] </a:t>
            </a:r>
            <a:r>
              <a:rPr lang="en-US" altLang="zh-CN" sz="1400" b="1"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10.1.13.3 </a:t>
            </a:r>
            <a:r>
              <a:rPr lang="en-US" altLang="zh-CN" sz="1400" b="1" dirty="0">
                <a:solidFill>
                  <a:prstClr val="black"/>
                </a:solidFill>
                <a:cs typeface="Courier New" panose="02070309020205020404" pitchFamily="49" charset="0"/>
              </a:rPr>
              <a:t>weight</a:t>
            </a:r>
            <a:r>
              <a:rPr lang="en-US" altLang="zh-CN" sz="1400" dirty="0">
                <a:solidFill>
                  <a:prstClr val="black"/>
                </a:solidFill>
                <a:cs typeface="Courier New" panose="02070309020205020404" pitchFamily="49" charset="0"/>
              </a:rPr>
              <a:t>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[R1-isis-1] </a:t>
            </a:r>
            <a:r>
              <a:rPr lang="en-US" altLang="zh-CN" sz="1400" b="1"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10.1.12.2 </a:t>
            </a:r>
            <a:r>
              <a:rPr lang="en-US" altLang="zh-CN" sz="1400" b="1" dirty="0">
                <a:solidFill>
                  <a:prstClr val="black"/>
                </a:solidFill>
                <a:cs typeface="Courier New" panose="02070309020205020404" pitchFamily="49" charset="0"/>
              </a:rPr>
              <a:t>weight</a:t>
            </a:r>
            <a:r>
              <a:rPr lang="en-US" altLang="zh-CN" sz="1400" dirty="0">
                <a:solidFill>
                  <a:prstClr val="black"/>
                </a:solidFill>
                <a:cs typeface="Courier New" panose="02070309020205020404" pitchFamily="49" charset="0"/>
              </a:rPr>
              <a:t> 2	</a:t>
            </a:r>
            <a:endParaRPr lang="en-US" altLang="zh-CN" sz="1400" dirty="0">
              <a:solidFill>
                <a:prstClr val="black"/>
              </a:solidFill>
              <a:cs typeface="Courier New" panose="02070309020205020404" pitchFamily="49" charset="0"/>
            </a:endParaRPr>
          </a:p>
        </p:txBody>
      </p:sp>
      <p:sp>
        <p:nvSpPr>
          <p:cNvPr id="30" name="文本框 33"/>
          <p:cNvSpPr txBox="1"/>
          <p:nvPr/>
        </p:nvSpPr>
        <p:spPr>
          <a:xfrm>
            <a:off x="5097163" y="4273665"/>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、结果验证。</a:t>
            </a:r>
            <a:endParaRPr lang="zh-CN" altLang="en-US" sz="1600" dirty="0">
              <a:solidFill>
                <a:prstClr val="black"/>
              </a:solidFill>
            </a:endParaRPr>
          </a:p>
        </p:txBody>
      </p:sp>
      <p:sp>
        <p:nvSpPr>
          <p:cNvPr id="31" name="文本框 32"/>
          <p:cNvSpPr txBox="1"/>
          <p:nvPr/>
        </p:nvSpPr>
        <p:spPr>
          <a:xfrm>
            <a:off x="5138102" y="4612219"/>
            <a:ext cx="6610986" cy="1384995"/>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[R1]display </a:t>
            </a:r>
            <a:r>
              <a:rPr lang="en-US" altLang="zh-CN" sz="1400" dirty="0" err="1">
                <a:solidFill>
                  <a:prstClr val="black"/>
                </a:solidFill>
                <a:cs typeface="Courier New" panose="02070309020205020404" pitchFamily="49" charset="0"/>
              </a:rPr>
              <a:t>ip</a:t>
            </a:r>
            <a:r>
              <a:rPr lang="en-US" altLang="zh-CN" sz="1400" dirty="0">
                <a:solidFill>
                  <a:prstClr val="black"/>
                </a:solidFill>
                <a:cs typeface="Courier New" panose="02070309020205020404" pitchFamily="49" charset="0"/>
              </a:rPr>
              <a:t> routing-table </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Route Flags: R - relay, D - download to fib</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a:t>
            </a:r>
            <a:endParaRPr lang="en-US" altLang="zh-CN" sz="1400" dirty="0">
              <a:solidFill>
                <a:prstClr val="black"/>
              </a:solidFill>
              <a:cs typeface="Courier New" panose="02070309020205020404" pitchFamily="49" charset="0"/>
            </a:endParaRPr>
          </a:p>
          <a:p>
            <a:pPr fontAlgn="auto">
              <a:spcBef>
                <a:spcPts val="0"/>
              </a:spcBef>
              <a:spcAft>
                <a:spcPts val="0"/>
              </a:spcAft>
            </a:pP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Destination/Mask 	Proto   Pre  Cost   Flags </a:t>
            </a:r>
            <a:r>
              <a:rPr lang="en-US" altLang="zh-CN" sz="1400" dirty="0" err="1">
                <a:solidFill>
                  <a:prstClr val="black"/>
                </a:solidFill>
                <a:cs typeface="Courier New" panose="02070309020205020404" pitchFamily="49" charset="0"/>
              </a:rPr>
              <a:t>NextHop</a:t>
            </a:r>
            <a:r>
              <a:rPr lang="en-US" altLang="zh-CN" sz="1400" dirty="0">
                <a:solidFill>
                  <a:prstClr val="black"/>
                </a:solidFill>
                <a:cs typeface="Courier New" panose="02070309020205020404" pitchFamily="49" charset="0"/>
              </a:rPr>
              <a:t>   Interface</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10.1.3.3/32		ISIS-L2 15   10         D   10.1.13.3   GigabitEthernet0/0/0</a:t>
            </a:r>
            <a:endParaRPr lang="en-US" altLang="zh-CN" sz="1400" dirty="0">
              <a:solidFill>
                <a:prstClr val="black"/>
              </a:solidFill>
              <a:cs typeface="Courier New" panose="02070309020205020404" pitchFamily="49" charset="0"/>
            </a:endParaRPr>
          </a:p>
        </p:txBody>
      </p:sp>
      <p:sp>
        <p:nvSpPr>
          <p:cNvPr id="53" name="五边形 52"/>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55"/>
          <p:cNvSpPr/>
          <p:nvPr/>
        </p:nvSpPr>
        <p:spPr bwMode="gray">
          <a:xfrm>
            <a:off x="1075439" y="1297056"/>
            <a:ext cx="3843503" cy="2027547"/>
          </a:xfrm>
          <a:prstGeom prst="rect">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bwMode="gray">
          <a:xfrm>
            <a:off x="1066468" y="2933496"/>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nvGrpSpPr>
          <p:cNvPr id="58" name="组合 57"/>
          <p:cNvGrpSpPr/>
          <p:nvPr/>
        </p:nvGrpSpPr>
        <p:grpSpPr bwMode="gray">
          <a:xfrm>
            <a:off x="1291273" y="1297056"/>
            <a:ext cx="3402865" cy="1984387"/>
            <a:chOff x="1407560" y="3964964"/>
            <a:chExt cx="3402865" cy="1984387"/>
          </a:xfrm>
        </p:grpSpPr>
        <p:pic>
          <p:nvPicPr>
            <p:cNvPr id="59" name="图片 58"/>
            <p:cNvPicPr/>
            <p:nvPr/>
          </p:nvPicPr>
          <p:blipFill>
            <a:blip r:embed="rId1" cstate="print">
              <a:extLst>
                <a:ext uri="{28A0092B-C50C-407E-A947-70E740481C1C}">
                  <a14:useLocalDpi xmlns:a14="http://schemas.microsoft.com/office/drawing/2010/main" val="0"/>
                </a:ext>
              </a:extLst>
            </a:blip>
            <a:stretch>
              <a:fillRect/>
            </a:stretch>
          </p:blipFill>
          <p:spPr bwMode="gray">
            <a:xfrm>
              <a:off x="1407560" y="4205229"/>
              <a:ext cx="540000" cy="442800"/>
            </a:xfrm>
            <a:prstGeom prst="rect">
              <a:avLst/>
            </a:prstGeom>
          </p:spPr>
        </p:pic>
        <p:pic>
          <p:nvPicPr>
            <p:cNvPr id="60" name="图片 59"/>
            <p:cNvPicPr/>
            <p:nvPr/>
          </p:nvPicPr>
          <p:blipFill>
            <a:blip r:embed="rId1" cstate="print">
              <a:extLst>
                <a:ext uri="{28A0092B-C50C-407E-A947-70E740481C1C}">
                  <a14:useLocalDpi xmlns:a14="http://schemas.microsoft.com/office/drawing/2010/main" val="0"/>
                </a:ext>
              </a:extLst>
            </a:blip>
            <a:stretch>
              <a:fillRect/>
            </a:stretch>
          </p:blipFill>
          <p:spPr bwMode="gray">
            <a:xfrm>
              <a:off x="4270425" y="4205229"/>
              <a:ext cx="540000" cy="442800"/>
            </a:xfrm>
            <a:prstGeom prst="rect">
              <a:avLst/>
            </a:prstGeom>
          </p:spPr>
        </p:pic>
        <p:pic>
          <p:nvPicPr>
            <p:cNvPr id="61" name="图片 60"/>
            <p:cNvPicPr/>
            <p:nvPr/>
          </p:nvPicPr>
          <p:blipFill>
            <a:blip r:embed="rId1" cstate="print">
              <a:extLst>
                <a:ext uri="{28A0092B-C50C-407E-A947-70E740481C1C}">
                  <a14:useLocalDpi xmlns:a14="http://schemas.microsoft.com/office/drawing/2010/main" val="0"/>
                </a:ext>
              </a:extLst>
            </a:blip>
            <a:stretch>
              <a:fillRect/>
            </a:stretch>
          </p:blipFill>
          <p:spPr bwMode="gray">
            <a:xfrm>
              <a:off x="2838993" y="5244320"/>
              <a:ext cx="540000" cy="442800"/>
            </a:xfrm>
            <a:prstGeom prst="rect">
              <a:avLst/>
            </a:prstGeom>
          </p:spPr>
        </p:pic>
        <p:cxnSp>
          <p:nvCxnSpPr>
            <p:cNvPr id="62" name="直接连接符 61"/>
            <p:cNvCxnSpPr>
              <a:stCxn id="59" idx="3"/>
              <a:endCxn id="60" idx="1"/>
            </p:cNvCxnSpPr>
            <p:nvPr/>
          </p:nvCxnSpPr>
          <p:spPr bwMode="gray">
            <a:xfrm>
              <a:off x="1947560" y="4426629"/>
              <a:ext cx="232286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a:stCxn id="59" idx="2"/>
              <a:endCxn id="61" idx="1"/>
            </p:cNvCxnSpPr>
            <p:nvPr/>
          </p:nvCxnSpPr>
          <p:spPr bwMode="gray">
            <a:xfrm>
              <a:off x="1677560" y="4648029"/>
              <a:ext cx="1161433"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a:stCxn id="61" idx="3"/>
              <a:endCxn id="60" idx="2"/>
            </p:cNvCxnSpPr>
            <p:nvPr/>
          </p:nvCxnSpPr>
          <p:spPr bwMode="gray">
            <a:xfrm flipV="1">
              <a:off x="3378993" y="4648029"/>
              <a:ext cx="1161432" cy="81769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p:cNvSpPr/>
            <p:nvPr/>
          </p:nvSpPr>
          <p:spPr bwMode="gray">
            <a:xfrm>
              <a:off x="1431698" y="396496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6" name="矩形 65"/>
            <p:cNvSpPr/>
            <p:nvPr/>
          </p:nvSpPr>
          <p:spPr bwMode="gray">
            <a:xfrm>
              <a:off x="2589010" y="41526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Cost=10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7" name="矩形 66"/>
            <p:cNvSpPr/>
            <p:nvPr/>
          </p:nvSpPr>
          <p:spPr bwMode="gray">
            <a:xfrm rot="2181066">
              <a:off x="1717839" y="49575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8" name="矩形 67"/>
            <p:cNvSpPr/>
            <p:nvPr/>
          </p:nvSpPr>
          <p:spPr bwMode="gray">
            <a:xfrm rot="19527687">
              <a:off x="3529820" y="5044108"/>
              <a:ext cx="8877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Cost=5</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9" name="矩形 68"/>
            <p:cNvSpPr/>
            <p:nvPr/>
          </p:nvSpPr>
          <p:spPr bwMode="gray">
            <a:xfrm>
              <a:off x="4295467" y="396496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0" name="矩形 69"/>
            <p:cNvSpPr/>
            <p:nvPr/>
          </p:nvSpPr>
          <p:spPr bwMode="gray">
            <a:xfrm>
              <a:off x="2589675" y="4385854"/>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1" name="矩形 70"/>
            <p:cNvSpPr/>
            <p:nvPr/>
          </p:nvSpPr>
          <p:spPr bwMode="gray">
            <a:xfrm rot="2148243">
              <a:off x="1876705" y="4815303"/>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2" name="矩形 71"/>
            <p:cNvSpPr/>
            <p:nvPr/>
          </p:nvSpPr>
          <p:spPr bwMode="gray">
            <a:xfrm rot="19479832">
              <a:off x="3404773" y="4869478"/>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3" name="矩形 72"/>
            <p:cNvSpPr/>
            <p:nvPr/>
          </p:nvSpPr>
          <p:spPr bwMode="gray">
            <a:xfrm>
              <a:off x="2863130" y="5641574"/>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graphicFrame>
        <p:nvGraphicFramePr>
          <p:cNvPr id="74" name="表格 73"/>
          <p:cNvGraphicFramePr>
            <a:graphicFrameLocks noGrp="1"/>
          </p:cNvGraphicFramePr>
          <p:nvPr/>
        </p:nvGraphicFramePr>
        <p:xfrm>
          <a:off x="1109211" y="3553845"/>
          <a:ext cx="3809731" cy="2438400"/>
        </p:xfrm>
        <a:graphic>
          <a:graphicData uri="http://schemas.openxmlformats.org/drawingml/2006/table">
            <a:tbl>
              <a:tblPr firstRow="1" bandRow="1"/>
              <a:tblGrid>
                <a:gridCol w="786083"/>
                <a:gridCol w="1511824"/>
                <a:gridCol w="1511824"/>
              </a:tblGrid>
              <a:tr h="283456">
                <a:tc>
                  <a:txBody>
                    <a:bodyPr/>
                    <a:lstStyle/>
                    <a:p>
                      <a:pPr algn="ctr"/>
                      <a:r>
                        <a:rPr lang="zh-CN" altLang="en-US" sz="1400" b="1" dirty="0"/>
                        <a:t>设备</a:t>
                      </a:r>
                      <a:endParaRPr lang="zh-CN" altLang="en-US" sz="1400" b="1" dirty="0">
                        <a:solidFill>
                          <a:schemeClr val="bg1"/>
                        </a:solidFill>
                      </a:endParaRP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zh-CN" altLang="en-US" sz="1400" b="1" dirty="0"/>
                        <a:t>接口</a:t>
                      </a:r>
                      <a:endParaRPr lang="zh-CN" altLang="en-US" sz="1400" b="1" dirty="0">
                        <a:solidFill>
                          <a:schemeClr val="bg1"/>
                        </a:solidFill>
                      </a:endParaRPr>
                    </a:p>
                  </a:txBody>
                  <a:tcPr anchor="ctr">
                    <a:lnT w="28575" cap="flat" cmpd="sng" algn="ctr">
                      <a:solidFill>
                        <a:schemeClr val="tx1"/>
                      </a:solidFill>
                      <a:prstDash val="solid"/>
                      <a:round/>
                      <a:headEnd type="none" w="med" len="med"/>
                      <a:tailEnd type="none" w="med" len="med"/>
                    </a:lnT>
                    <a:solidFill>
                      <a:schemeClr val="bg1">
                        <a:lumMod val="85000"/>
                      </a:schemeClr>
                    </a:solidFill>
                  </a:tcPr>
                </a:tc>
                <a:tc>
                  <a:txBody>
                    <a:bodyPr/>
                    <a:lstStyle/>
                    <a:p>
                      <a:pPr algn="ctr"/>
                      <a:r>
                        <a:rPr lang="en-US" altLang="zh-CN" sz="1400" b="1" dirty="0"/>
                        <a:t>IP</a:t>
                      </a:r>
                      <a:r>
                        <a:rPr lang="zh-CN" altLang="en-US" sz="1400" b="1" dirty="0"/>
                        <a:t>地址</a:t>
                      </a:r>
                      <a:endParaRPr lang="zh-CN" altLang="en-US" sz="1400" b="1" dirty="0">
                        <a:solidFill>
                          <a:schemeClr val="bg1"/>
                        </a:solidFill>
                      </a:endParaRP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solidFill>
                      <a:schemeClr val="bg1">
                        <a:lumMod val="85000"/>
                      </a:schemeClr>
                    </a:solidFill>
                  </a:tcPr>
                </a:tc>
              </a:tr>
              <a:tr h="283456">
                <a:tc rowSpan="2">
                  <a:txBody>
                    <a:bodyPr/>
                    <a:lstStyle/>
                    <a:p>
                      <a:pPr algn="ctr"/>
                      <a:r>
                        <a:rPr lang="en-US" altLang="zh-CN" sz="1400" dirty="0"/>
                        <a:t>R1</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algn="ctr"/>
                      <a:r>
                        <a:rPr lang="en-US" altLang="zh-CN" sz="1400" dirty="0"/>
                        <a:t>GE0/0/0</a:t>
                      </a:r>
                      <a:endParaRPr lang="en-US" altLang="zh-CN" sz="1400" dirty="0">
                        <a:solidFill>
                          <a:schemeClr val="tx1"/>
                        </a:solidFill>
                      </a:endParaRPr>
                    </a:p>
                  </a:txBody>
                  <a:tcPr anchor="ctr"/>
                </a:tc>
                <a:tc>
                  <a:txBody>
                    <a:bodyPr/>
                    <a:lstStyle/>
                    <a:p>
                      <a:pPr algn="l"/>
                      <a:r>
                        <a:rPr lang="en-US" altLang="zh-CN" sz="1400" dirty="0"/>
                        <a:t>10.1.13.1/24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10.1.12.1/24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2">
                  <a:txBody>
                    <a:bodyPr/>
                    <a:lstStyle/>
                    <a:p>
                      <a:pPr algn="ctr"/>
                      <a:r>
                        <a:rPr lang="en-US" altLang="zh-CN" sz="1400" dirty="0"/>
                        <a:t>R2</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tcPr>
                </a:tc>
                <a:tc>
                  <a:txBody>
                    <a:bodyPr/>
                    <a:lstStyle/>
                    <a:p>
                      <a:pPr marL="0" marR="0" lvl="0" indent="0" algn="ctr" defTabSz="913765" rtl="0" eaLnBrk="1" fontAlgn="auto" latinLnBrk="0" hangingPunct="1">
                        <a:lnSpc>
                          <a:spcPct val="100000"/>
                        </a:lnSpc>
                        <a:spcBef>
                          <a:spcPts val="0"/>
                        </a:spcBef>
                        <a:spcAft>
                          <a:spcPts val="0"/>
                        </a:spcAft>
                        <a:buClrTx/>
                        <a:buSzTx/>
                        <a:buFontTx/>
                        <a:buNone/>
                        <a:defRPr/>
                      </a:pPr>
                      <a:r>
                        <a:rPr lang="en-US" altLang="zh-CN" sz="1400" dirty="0"/>
                        <a:t>GE0/0/1</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10.1.12.2/24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10.1.23.2/24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rowSpan="3">
                  <a:txBody>
                    <a:bodyPr/>
                    <a:lstStyle/>
                    <a:p>
                      <a:pPr algn="ctr"/>
                      <a:r>
                        <a:rPr lang="en-US" altLang="zh-CN" sz="1400" dirty="0"/>
                        <a:t>R3</a:t>
                      </a:r>
                      <a:endParaRPr lang="zh-CN" altLang="en-US" sz="1400" dirty="0">
                        <a:solidFill>
                          <a:schemeClr val="tx1"/>
                        </a:solidFill>
                      </a:endParaRP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altLang="zh-CN" sz="1400" dirty="0"/>
                        <a:t>Loopback0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10.1.3.3/32</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GE0/0/0</a:t>
                      </a:r>
                      <a:endParaRPr lang="en-US" altLang="zh-CN" sz="1400" dirty="0">
                        <a:solidFill>
                          <a:schemeClr val="tx1"/>
                        </a:solidFill>
                      </a:endParaRPr>
                    </a:p>
                  </a:txBody>
                  <a:tcPr anchor="ct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10.1.13.3/24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tcPr>
                </a:tc>
              </a:tr>
              <a:tr h="283456">
                <a:tc vMerge="1">
                  <a:tcPr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tcPr>
                </a:tc>
                <a:tc>
                  <a:txBody>
                    <a:bodyPr/>
                    <a:lstStyle/>
                    <a:p>
                      <a:pPr algn="ctr"/>
                      <a:r>
                        <a:rPr lang="en-US" altLang="zh-CN" sz="1400" dirty="0"/>
                        <a:t>GE0/0/2</a:t>
                      </a:r>
                      <a:endParaRPr lang="en-US" altLang="zh-CN" sz="1400" dirty="0">
                        <a:solidFill>
                          <a:schemeClr val="tx1"/>
                        </a:solidFill>
                      </a:endParaRPr>
                    </a:p>
                  </a:txBody>
                  <a:tcPr anchor="ctr">
                    <a:lnB w="28575" cap="flat" cmpd="sng" algn="ctr">
                      <a:solidFill>
                        <a:schemeClr val="tx1"/>
                      </a:solidFill>
                      <a:prstDash val="solid"/>
                      <a:round/>
                      <a:headEnd type="none" w="med" len="med"/>
                      <a:tailEnd type="none" w="med" len="med"/>
                    </a:lnB>
                  </a:tcPr>
                </a:tc>
                <a:tc>
                  <a:txBody>
                    <a:bodyPr/>
                    <a:lstStyle/>
                    <a:p>
                      <a:pPr marL="0" marR="0" lvl="0" indent="0" algn="l" defTabSz="913765" rtl="0" eaLnBrk="1" fontAlgn="auto" latinLnBrk="0" hangingPunct="1">
                        <a:lnSpc>
                          <a:spcPct val="100000"/>
                        </a:lnSpc>
                        <a:spcBef>
                          <a:spcPts val="0"/>
                        </a:spcBef>
                        <a:spcAft>
                          <a:spcPts val="0"/>
                        </a:spcAft>
                        <a:buClrTx/>
                        <a:buSzTx/>
                        <a:buFontTx/>
                        <a:buNone/>
                        <a:defRPr/>
                      </a:pPr>
                      <a:r>
                        <a:rPr lang="en-US" altLang="zh-CN" sz="1400" dirty="0"/>
                        <a:t>10.1.23.3/24</a:t>
                      </a:r>
                      <a:endParaRPr lang="en-US" altLang="zh-CN" sz="1400" dirty="0">
                        <a:solidFill>
                          <a:schemeClr val="tx1"/>
                        </a:solidFill>
                      </a:endParaRPr>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tr>
            </a:tbl>
          </a:graphicData>
        </a:graphic>
      </p:graphicFrame>
      <p:sp>
        <p:nvSpPr>
          <p:cNvPr id="75" name="文本框 31"/>
          <p:cNvSpPr txBox="1"/>
          <p:nvPr/>
        </p:nvSpPr>
        <p:spPr>
          <a:xfrm>
            <a:off x="5097163" y="2349287"/>
            <a:ext cx="4201791"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IS-IS</a:t>
            </a:r>
            <a:r>
              <a:rPr lang="zh-CN" altLang="en-US" sz="1600" dirty="0">
                <a:solidFill>
                  <a:prstClr val="black"/>
                </a:solidFill>
              </a:rPr>
              <a:t>。（略）</a:t>
            </a:r>
            <a:endParaRPr lang="zh-CN" altLang="en-US" sz="1600" dirty="0">
              <a:solidFill>
                <a:prstClr val="black"/>
              </a:solidFill>
            </a:endParaRPr>
          </a:p>
        </p:txBody>
      </p:sp>
      <p:sp>
        <p:nvSpPr>
          <p:cNvPr id="76" name="文本框 33"/>
          <p:cNvSpPr txBox="1"/>
          <p:nvPr/>
        </p:nvSpPr>
        <p:spPr>
          <a:xfrm>
            <a:off x="5097163" y="2880329"/>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dirty="0">
                <a:solidFill>
                  <a:prstClr val="black"/>
                </a:solidFill>
              </a:rPr>
              <a:t>2</a:t>
            </a:r>
            <a:r>
              <a:rPr lang="zh-CN" altLang="en-US" sz="1600" dirty="0">
                <a:solidFill>
                  <a:prstClr val="black"/>
                </a:solidFill>
              </a:rPr>
              <a:t>、</a:t>
            </a:r>
            <a:r>
              <a:rPr lang="en-US" altLang="zh-CN" sz="1600" dirty="0">
                <a:solidFill>
                  <a:prstClr val="black"/>
                </a:solidFill>
              </a:rPr>
              <a:t>R1</a:t>
            </a:r>
            <a:r>
              <a:rPr lang="zh-CN" altLang="en-US" sz="1600" dirty="0">
                <a:solidFill>
                  <a:prstClr val="black"/>
                </a:solidFill>
              </a:rPr>
              <a:t>配置等价路由优先级。</a:t>
            </a:r>
            <a:endParaRPr lang="zh-CN" altLang="en-US" sz="1600" dirty="0">
              <a:solidFill>
                <a:prstClr val="black"/>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缺省路由</a:t>
            </a:r>
            <a:endParaRPr lang="zh-CN" altLang="en-US" dirty="0"/>
          </a:p>
        </p:txBody>
      </p:sp>
      <p:sp>
        <p:nvSpPr>
          <p:cNvPr id="3" name="文本占位符 2"/>
          <p:cNvSpPr>
            <a:spLocks noGrp="1"/>
          </p:cNvSpPr>
          <p:nvPr>
            <p:ph type="body" sz="quarter" idx="10"/>
          </p:nvPr>
        </p:nvSpPr>
        <p:spPr>
          <a:xfrm>
            <a:off x="455612" y="1047750"/>
            <a:ext cx="11293475" cy="3252945"/>
          </a:xfrm>
        </p:spPr>
        <p:txBody>
          <a:bodyPr/>
          <a:lstStyle/>
          <a:p>
            <a:r>
              <a:rPr lang="zh-CN" altLang="en-US" sz="2000" dirty="0"/>
              <a:t>在</a:t>
            </a:r>
            <a:r>
              <a:rPr lang="en-US" altLang="zh-CN" sz="2000" dirty="0"/>
              <a:t>IS-IS</a:t>
            </a:r>
            <a:r>
              <a:rPr lang="zh-CN" altLang="en-US" sz="2000" dirty="0"/>
              <a:t>中，主要通过以下</a:t>
            </a:r>
            <a:r>
              <a:rPr lang="en-US" altLang="zh-CN" sz="2000" dirty="0"/>
              <a:t>3</a:t>
            </a:r>
            <a:r>
              <a:rPr lang="zh-CN" altLang="en-US" sz="2000" dirty="0"/>
              <a:t>种方式控制缺省路由的生成和发布。</a:t>
            </a:r>
            <a:endParaRPr lang="en-US" altLang="zh-CN" sz="2000" dirty="0"/>
          </a:p>
          <a:p>
            <a:pPr lvl="1"/>
            <a:r>
              <a:rPr lang="zh-CN" altLang="en-US" sz="1800" dirty="0"/>
              <a:t>在</a:t>
            </a:r>
            <a:r>
              <a:rPr lang="en-US" altLang="zh-CN" sz="1800" dirty="0"/>
              <a:t>Level-1-2</a:t>
            </a:r>
            <a:r>
              <a:rPr lang="zh-CN" altLang="en-US" sz="1800" dirty="0"/>
              <a:t>设备上，控制其产生的</a:t>
            </a:r>
            <a:r>
              <a:rPr lang="en-US" altLang="zh-CN" sz="1800" dirty="0"/>
              <a:t>Level-1 LSP</a:t>
            </a:r>
            <a:r>
              <a:rPr lang="zh-CN" altLang="en-US" sz="1800" dirty="0"/>
              <a:t>中</a:t>
            </a:r>
            <a:r>
              <a:rPr lang="en-US" altLang="zh-CN" sz="1800" dirty="0"/>
              <a:t>ATT</a:t>
            </a:r>
            <a:r>
              <a:rPr lang="zh-CN" altLang="en-US" sz="1800" dirty="0"/>
              <a:t>位的置位情况。</a:t>
            </a:r>
            <a:endParaRPr lang="en-US" altLang="zh-CN" sz="1800" dirty="0"/>
          </a:p>
          <a:p>
            <a:pPr lvl="1"/>
            <a:r>
              <a:rPr lang="zh-CN" altLang="en-US" sz="1800" dirty="0"/>
              <a:t>在</a:t>
            </a:r>
            <a:r>
              <a:rPr lang="en-US" altLang="zh-CN" sz="1800" dirty="0"/>
              <a:t>Level-1</a:t>
            </a:r>
            <a:r>
              <a:rPr lang="zh-CN" altLang="en-US" sz="1800" dirty="0"/>
              <a:t>设备上，通过配置使其即使收到</a:t>
            </a:r>
            <a:r>
              <a:rPr lang="en-US" altLang="zh-CN" sz="1800" dirty="0"/>
              <a:t>ATT</a:t>
            </a:r>
            <a:r>
              <a:rPr lang="zh-CN" altLang="en-US" sz="1800" dirty="0"/>
              <a:t>位置位的</a:t>
            </a:r>
            <a:r>
              <a:rPr lang="en-US" altLang="zh-CN" sz="1800" dirty="0"/>
              <a:t>Level-1 LSP</a:t>
            </a:r>
            <a:r>
              <a:rPr lang="zh-CN" altLang="en-US" sz="1800" dirty="0"/>
              <a:t>也不会自动产生缺省路由。</a:t>
            </a:r>
            <a:endParaRPr lang="en-US" altLang="zh-CN" sz="1800" dirty="0"/>
          </a:p>
          <a:p>
            <a:pPr lvl="1"/>
            <a:r>
              <a:rPr lang="zh-CN" altLang="en-US" sz="1800" dirty="0"/>
              <a:t>在</a:t>
            </a:r>
            <a:r>
              <a:rPr lang="en-US" altLang="zh-CN" sz="1800" dirty="0"/>
              <a:t>IS-IS</a:t>
            </a:r>
            <a:r>
              <a:rPr lang="zh-CN" altLang="en-US" sz="1800" dirty="0"/>
              <a:t>中发布缺省路由。</a:t>
            </a:r>
            <a:endParaRPr lang="en-US" altLang="zh-CN" sz="1800" dirty="0"/>
          </a:p>
          <a:p>
            <a:r>
              <a:rPr lang="en-US" altLang="zh-CN" sz="2000" dirty="0"/>
              <a:t>LSP</a:t>
            </a:r>
            <a:r>
              <a:rPr lang="zh-CN" altLang="en-US" sz="2000" dirty="0"/>
              <a:t>的报文格式：</a:t>
            </a:r>
            <a:endParaRPr lang="en-US" altLang="zh-CN" sz="2000" dirty="0"/>
          </a:p>
          <a:p>
            <a:pPr lvl="1"/>
            <a:r>
              <a:rPr lang="en-US" altLang="zh-CN" sz="1800" dirty="0"/>
              <a:t>ATT</a:t>
            </a:r>
            <a:r>
              <a:rPr lang="zh-CN" altLang="en-US" sz="1800" dirty="0"/>
              <a:t>（</a:t>
            </a:r>
            <a:r>
              <a:rPr lang="en-US" altLang="zh-CN" sz="1800" dirty="0"/>
              <a:t>Attachment</a:t>
            </a:r>
            <a:r>
              <a:rPr lang="zh-CN" altLang="en-US" sz="1800" dirty="0"/>
              <a:t>）：由</a:t>
            </a:r>
            <a:r>
              <a:rPr lang="en-US" altLang="zh-CN" sz="1800" dirty="0"/>
              <a:t>Level-1-2</a:t>
            </a:r>
            <a:r>
              <a:rPr lang="zh-CN" altLang="en-US" sz="1800" dirty="0"/>
              <a:t>路由器产生，用来指明始发路由器是否与其它区域相连。此字段有</a:t>
            </a:r>
            <a:r>
              <a:rPr lang="en-US" altLang="zh-CN" sz="1800" dirty="0"/>
              <a:t>4 bit</a:t>
            </a:r>
            <a:r>
              <a:rPr lang="zh-CN" altLang="en-US" sz="1800" dirty="0"/>
              <a:t>，华为数通产品只使用了其中</a:t>
            </a:r>
            <a:r>
              <a:rPr lang="en-US" altLang="zh-CN" sz="1800" dirty="0"/>
              <a:t>1 bit</a:t>
            </a:r>
            <a:r>
              <a:rPr lang="zh-CN" altLang="en-US" sz="1800" dirty="0"/>
              <a:t>。</a:t>
            </a:r>
            <a:endParaRPr lang="zh-CN" altLang="en-US" sz="1800" dirty="0"/>
          </a:p>
          <a:p>
            <a:pPr lvl="1"/>
            <a:endParaRPr lang="en-US" altLang="zh-CN" sz="1800" dirty="0"/>
          </a:p>
        </p:txBody>
      </p:sp>
      <p:graphicFrame>
        <p:nvGraphicFramePr>
          <p:cNvPr id="19" name="表格 18"/>
          <p:cNvGraphicFramePr>
            <a:graphicFrameLocks noGrp="1"/>
          </p:cNvGraphicFramePr>
          <p:nvPr/>
        </p:nvGraphicFramePr>
        <p:xfrm>
          <a:off x="1749351" y="4700644"/>
          <a:ext cx="3600000" cy="918000"/>
        </p:xfrm>
        <a:graphic>
          <a:graphicData uri="http://schemas.openxmlformats.org/drawingml/2006/table">
            <a:tbl>
              <a:tblPr firstRow="1" bandRow="1"/>
              <a:tblGrid>
                <a:gridCol w="3600000"/>
              </a:tblGrid>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PDU</a:t>
                      </a:r>
                      <a:r>
                        <a:rPr kumimoji="0" lang="zh-CN" altLang="en-US" sz="1400" b="0" i="0" u="none" strike="noStrike" kern="1200" cap="none" normalizeH="0" baseline="0" dirty="0">
                          <a:ln>
                            <a:noFill/>
                          </a:ln>
                          <a:solidFill>
                            <a:schemeClr val="tx1"/>
                          </a:solidFill>
                          <a:effectLst/>
                          <a:latin typeface="+mn-lt"/>
                          <a:ea typeface="+mn-ea"/>
                          <a:cs typeface="+mn-cs"/>
                        </a:rPr>
                        <a:t> </a:t>
                      </a:r>
                      <a:r>
                        <a:rPr kumimoji="0" lang="en-US" altLang="zh-CN" sz="1400" b="0" i="0" u="none" strike="noStrike" kern="1200" cap="none" normalizeH="0" baseline="0" dirty="0">
                          <a:ln>
                            <a:noFill/>
                          </a:ln>
                          <a:solidFill>
                            <a:schemeClr val="tx1"/>
                          </a:solidFill>
                          <a:effectLst/>
                          <a:latin typeface="+mn-lt"/>
                          <a:ea typeface="+mn-ea"/>
                          <a:cs typeface="+mn-cs"/>
                        </a:rPr>
                        <a:t>Common Header</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rgbClr val="C7000B"/>
                          </a:solidFill>
                          <a:effectLst/>
                          <a:latin typeface="+mn-lt"/>
                          <a:ea typeface="+mn-ea"/>
                          <a:cs typeface="+mn-cs"/>
                        </a:rPr>
                        <a:t>PDU Specific Header</a:t>
                      </a:r>
                      <a:endParaRPr kumimoji="0" lang="en-US" altLang="zh-CN" sz="1400" b="0" i="0" u="none" strike="noStrike" kern="1200" cap="none" normalizeH="0" baseline="0" dirty="0">
                        <a:ln>
                          <a:noFill/>
                        </a:ln>
                        <a:solidFill>
                          <a:srgbClr val="C7000B"/>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Variable Length Fields</a:t>
                      </a:r>
                      <a:r>
                        <a:rPr kumimoji="0" lang="zh-CN" altLang="en-US" sz="1400" b="0" i="0" u="none" strike="noStrike" kern="1200" cap="none" normalizeH="0" baseline="0" dirty="0">
                          <a:ln>
                            <a:noFill/>
                          </a:ln>
                          <a:solidFill>
                            <a:schemeClr val="tx1"/>
                          </a:solidFill>
                          <a:effectLst/>
                          <a:latin typeface="+mn-lt"/>
                          <a:ea typeface="+mn-ea"/>
                          <a:cs typeface="+mn-cs"/>
                        </a:rPr>
                        <a:t>（</a:t>
                      </a:r>
                      <a:r>
                        <a:rPr kumimoji="0" lang="en-US" altLang="zh-CN" sz="1400" b="0" i="0" u="none" strike="noStrike" kern="1200" cap="none" normalizeH="0" baseline="0" dirty="0">
                          <a:ln>
                            <a:noFill/>
                          </a:ln>
                          <a:solidFill>
                            <a:schemeClr val="tx1"/>
                          </a:solidFill>
                          <a:effectLst/>
                          <a:latin typeface="+mn-lt"/>
                          <a:ea typeface="+mn-ea"/>
                          <a:cs typeface="+mn-cs"/>
                        </a:rPr>
                        <a:t>TLV</a:t>
                      </a:r>
                      <a:r>
                        <a:rPr kumimoji="0" lang="zh-CN" altLang="en-US" sz="1400" b="0" i="0" u="none" strike="noStrike" kern="1200" cap="none" normalizeH="0" baseline="0" dirty="0">
                          <a:ln>
                            <a:noFill/>
                          </a:ln>
                          <a:solidFill>
                            <a:schemeClr val="tx1"/>
                          </a:solidFill>
                          <a:effectLst/>
                          <a:latin typeface="+mn-lt"/>
                          <a:ea typeface="+mn-ea"/>
                          <a:cs typeface="+mn-cs"/>
                        </a:rPr>
                        <a:t>）</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bl>
          </a:graphicData>
        </a:graphic>
      </p:graphicFrame>
      <p:sp>
        <p:nvSpPr>
          <p:cNvPr id="20" name="Right Arrow 157"/>
          <p:cNvSpPr/>
          <p:nvPr/>
        </p:nvSpPr>
        <p:spPr bwMode="gray">
          <a:xfrm>
            <a:off x="5526171" y="4981523"/>
            <a:ext cx="43593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94DAE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1" name="表格 20"/>
          <p:cNvGraphicFramePr>
            <a:graphicFrameLocks noGrp="1"/>
          </p:cNvGraphicFramePr>
          <p:nvPr/>
        </p:nvGraphicFramePr>
        <p:xfrm>
          <a:off x="6138925" y="4241644"/>
          <a:ext cx="3600000" cy="1836000"/>
        </p:xfrm>
        <a:graphic>
          <a:graphicData uri="http://schemas.openxmlformats.org/drawingml/2006/table">
            <a:tbl>
              <a:tblPr firstRow="1" bandRow="1"/>
              <a:tblGrid>
                <a:gridCol w="450000"/>
                <a:gridCol w="1800000"/>
                <a:gridCol w="450000"/>
                <a:gridCol w="900000"/>
              </a:tblGrid>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PDU Length</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Remaining Lifetime</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LSP ID</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Sequence Number</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Checksum</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P</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1" i="0" u="none" strike="noStrike" kern="1200" cap="none" normalizeH="0" baseline="0" dirty="0">
                          <a:ln>
                            <a:noFill/>
                          </a:ln>
                          <a:solidFill>
                            <a:srgbClr val="C7000B"/>
                          </a:solidFill>
                          <a:effectLst/>
                          <a:latin typeface="+mn-lt"/>
                          <a:ea typeface="+mn-ea"/>
                          <a:cs typeface="+mn-cs"/>
                        </a:rPr>
                        <a:t>ATT</a:t>
                      </a:r>
                      <a:endParaRPr kumimoji="0" lang="en-US" altLang="zh-CN" sz="1400" b="1" i="0" u="none" strike="noStrike" kern="1200" cap="none" normalizeH="0" baseline="0" dirty="0">
                        <a:ln>
                          <a:noFill/>
                        </a:ln>
                        <a:solidFill>
                          <a:srgbClr val="C7000B"/>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OL</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IS Type</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bl>
          </a:graphicData>
        </a:graphic>
      </p:graphicFrame>
      <p:sp>
        <p:nvSpPr>
          <p:cNvPr id="11" name="五边形 10"/>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通过设置</a:t>
            </a:r>
            <a:r>
              <a:rPr lang="en-US" altLang="zh-CN"/>
              <a:t>ATT</a:t>
            </a:r>
            <a:r>
              <a:rPr lang="zh-CN" altLang="en-US"/>
              <a:t>位控制缺省路由生成</a:t>
            </a:r>
            <a:endParaRPr lang="zh-CN" altLang="en-US" dirty="0"/>
          </a:p>
        </p:txBody>
      </p:sp>
      <p:sp>
        <p:nvSpPr>
          <p:cNvPr id="3" name="文本占位符 2"/>
          <p:cNvSpPr>
            <a:spLocks noGrp="1"/>
          </p:cNvSpPr>
          <p:nvPr>
            <p:ph type="body" sz="quarter" idx="10"/>
          </p:nvPr>
        </p:nvSpPr>
        <p:spPr>
          <a:xfrm>
            <a:off x="455612" y="1047750"/>
            <a:ext cx="11293475" cy="2228855"/>
          </a:xfrm>
        </p:spPr>
        <p:txBody>
          <a:bodyPr/>
          <a:lstStyle/>
          <a:p>
            <a:r>
              <a:rPr lang="en-US" altLang="zh-CN" sz="2000" dirty="0"/>
              <a:t>IS-IS</a:t>
            </a:r>
            <a:r>
              <a:rPr lang="zh-CN" altLang="en-US" sz="2000" dirty="0"/>
              <a:t>规定，如果</a:t>
            </a:r>
            <a:r>
              <a:rPr lang="en-US" altLang="zh-CN" sz="2000" dirty="0"/>
              <a:t>IS-IS Level-1-2</a:t>
            </a:r>
            <a:r>
              <a:rPr lang="zh-CN" altLang="en-US" sz="2000" dirty="0"/>
              <a:t>设备根据</a:t>
            </a:r>
            <a:r>
              <a:rPr lang="en-US" altLang="zh-CN" sz="2000" dirty="0"/>
              <a:t>LSDB</a:t>
            </a:r>
            <a:r>
              <a:rPr lang="zh-CN" altLang="en-US" sz="2000" dirty="0"/>
              <a:t>判断通过</a:t>
            </a:r>
            <a:r>
              <a:rPr lang="en-US" altLang="zh-CN" sz="2000" dirty="0"/>
              <a:t>Level-2</a:t>
            </a:r>
            <a:r>
              <a:rPr lang="zh-CN" altLang="en-US" sz="2000" dirty="0"/>
              <a:t>区域比</a:t>
            </a:r>
            <a:r>
              <a:rPr lang="en-US" altLang="zh-CN" sz="2000" dirty="0"/>
              <a:t>Level-1</a:t>
            </a:r>
            <a:r>
              <a:rPr lang="zh-CN" altLang="en-US" sz="2000" dirty="0"/>
              <a:t>区域能够到达更多的区域，该设备会在所发布的</a:t>
            </a:r>
            <a:r>
              <a:rPr lang="en-US" altLang="zh-CN" sz="2000" dirty="0"/>
              <a:t>Level-1 LSP</a:t>
            </a:r>
            <a:r>
              <a:rPr lang="zh-CN" altLang="en-US" sz="2000" dirty="0"/>
              <a:t>内将</a:t>
            </a:r>
            <a:r>
              <a:rPr lang="en-US" altLang="zh-CN" sz="2000" dirty="0"/>
              <a:t>ATT</a:t>
            </a:r>
            <a:r>
              <a:rPr lang="zh-CN" altLang="en-US" sz="2000" dirty="0"/>
              <a:t>位置位。对于收到</a:t>
            </a:r>
            <a:r>
              <a:rPr lang="en-US" altLang="zh-CN" sz="2000" dirty="0"/>
              <a:t>ATT</a:t>
            </a:r>
            <a:r>
              <a:rPr lang="zh-CN" altLang="en-US" sz="2000" dirty="0"/>
              <a:t>位置位的</a:t>
            </a:r>
            <a:r>
              <a:rPr lang="en-US" altLang="zh-CN" sz="2000" dirty="0"/>
              <a:t>LSP</a:t>
            </a:r>
            <a:r>
              <a:rPr lang="zh-CN" altLang="en-US" sz="2000" dirty="0"/>
              <a:t>报文的</a:t>
            </a:r>
            <a:r>
              <a:rPr lang="en-US" altLang="zh-CN" sz="2000" dirty="0"/>
              <a:t>Level-1</a:t>
            </a:r>
            <a:r>
              <a:rPr lang="zh-CN" altLang="en-US" sz="2000" dirty="0"/>
              <a:t>设备，会生成一条目的地为发送该</a:t>
            </a:r>
            <a:r>
              <a:rPr lang="en-US" altLang="zh-CN" sz="2000" dirty="0"/>
              <a:t>LSP</a:t>
            </a:r>
            <a:r>
              <a:rPr lang="zh-CN" altLang="en-US" sz="2000" dirty="0"/>
              <a:t>的</a:t>
            </a:r>
            <a:r>
              <a:rPr lang="en-US" altLang="zh-CN" sz="2000" dirty="0"/>
              <a:t>Level-1-2</a:t>
            </a:r>
            <a:r>
              <a:rPr lang="zh-CN" altLang="en-US" sz="2000" dirty="0"/>
              <a:t>设备地址的缺省路由。</a:t>
            </a:r>
            <a:endParaRPr lang="zh-CN" altLang="en-US" sz="2000" dirty="0"/>
          </a:p>
          <a:p>
            <a:r>
              <a:rPr lang="zh-CN" altLang="en-US" sz="2000" dirty="0"/>
              <a:t>以上是协议的默认原则，在实际应用中，可以根据需要对</a:t>
            </a:r>
            <a:r>
              <a:rPr lang="en-US" altLang="zh-CN" sz="2000" dirty="0"/>
              <a:t>ATT</a:t>
            </a:r>
            <a:r>
              <a:rPr lang="zh-CN" altLang="en-US" sz="2000" dirty="0"/>
              <a:t>比特位进行手动配置以更好地为网络服务。</a:t>
            </a:r>
            <a:endParaRPr lang="zh-CN" altLang="en-US" sz="2000" dirty="0"/>
          </a:p>
        </p:txBody>
      </p:sp>
      <p:sp>
        <p:nvSpPr>
          <p:cNvPr id="4" name="矩形 3"/>
          <p:cNvSpPr/>
          <p:nvPr/>
        </p:nvSpPr>
        <p:spPr>
          <a:xfrm>
            <a:off x="1031917" y="3807325"/>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attached-bit advertise</a:t>
            </a:r>
            <a:r>
              <a:rPr lang="en-US" altLang="zh-CN" sz="1600" dirty="0"/>
              <a:t> { </a:t>
            </a:r>
            <a:r>
              <a:rPr lang="en-US" altLang="zh-CN" sz="1600" b="1" dirty="0"/>
              <a:t>always</a:t>
            </a:r>
            <a:r>
              <a:rPr lang="en-US" altLang="zh-CN" sz="1600" dirty="0"/>
              <a:t> | </a:t>
            </a:r>
            <a:r>
              <a:rPr lang="en-US" altLang="zh-CN" sz="1600" b="1" dirty="0"/>
              <a:t>never</a:t>
            </a:r>
            <a:r>
              <a:rPr lang="en-US" altLang="zh-CN" sz="1600" dirty="0"/>
              <a:t> }</a:t>
            </a:r>
            <a:endParaRPr lang="zh-CN" altLang="en-US" sz="1600" dirty="0">
              <a:cs typeface="Courier New" panose="02070309020205020404" pitchFamily="49" charset="0"/>
            </a:endParaRPr>
          </a:p>
        </p:txBody>
      </p:sp>
      <p:sp>
        <p:nvSpPr>
          <p:cNvPr id="5" name="矩形 4"/>
          <p:cNvSpPr/>
          <p:nvPr/>
        </p:nvSpPr>
        <p:spPr>
          <a:xfrm>
            <a:off x="551384" y="3436141"/>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a:t>
            </a:r>
            <a:r>
              <a:rPr lang="en-US" altLang="zh-CN" sz="1600" dirty="0">
                <a:cs typeface="Courier New" panose="02070309020205020404" pitchFamily="49" charset="0"/>
              </a:rPr>
              <a:t>Level-1-2</a:t>
            </a:r>
            <a:r>
              <a:rPr lang="zh-CN" altLang="en-US" sz="1600" dirty="0">
                <a:cs typeface="Courier New" panose="02070309020205020404" pitchFamily="49" charset="0"/>
              </a:rPr>
              <a:t>设备）设置</a:t>
            </a:r>
            <a:r>
              <a:rPr lang="en-US" altLang="zh-CN" sz="1600" dirty="0">
                <a:cs typeface="Courier New" panose="02070309020205020404" pitchFamily="49" charset="0"/>
              </a:rPr>
              <a:t>IS-IS LSP</a:t>
            </a:r>
            <a:r>
              <a:rPr lang="zh-CN" altLang="en-US" sz="1600" dirty="0">
                <a:cs typeface="Courier New" panose="02070309020205020404" pitchFamily="49" charset="0"/>
              </a:rPr>
              <a:t>报文的</a:t>
            </a:r>
            <a:r>
              <a:rPr lang="en-US" altLang="zh-CN" sz="1600" dirty="0">
                <a:cs typeface="Courier New" panose="02070309020205020404" pitchFamily="49" charset="0"/>
              </a:rPr>
              <a:t>ATT</a:t>
            </a:r>
            <a:r>
              <a:rPr lang="zh-CN" altLang="en-US" sz="1600" dirty="0">
                <a:cs typeface="Courier New" panose="02070309020205020404" pitchFamily="49" charset="0"/>
              </a:rPr>
              <a:t>比特位置位规则。</a:t>
            </a:r>
            <a:endParaRPr lang="zh-CN" altLang="en-US" sz="1600" dirty="0">
              <a:cs typeface="Courier New" panose="02070309020205020404" pitchFamily="49" charset="0"/>
            </a:endParaRPr>
          </a:p>
        </p:txBody>
      </p:sp>
      <p:sp>
        <p:nvSpPr>
          <p:cNvPr id="6" name="矩形 5"/>
          <p:cNvSpPr/>
          <p:nvPr/>
        </p:nvSpPr>
        <p:spPr>
          <a:xfrm>
            <a:off x="1023208" y="4150050"/>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Level-1-2</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设备发布的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位根据缺省置位规则来决定置位情况。</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a:xfrm>
            <a:off x="1031917" y="530127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attached-bit avoid-learning</a:t>
            </a:r>
            <a:endParaRPr lang="zh-CN" altLang="en-US" sz="1600" dirty="0">
              <a:cs typeface="Courier New" panose="02070309020205020404" pitchFamily="49" charset="0"/>
            </a:endParaRPr>
          </a:p>
        </p:txBody>
      </p:sp>
      <p:sp>
        <p:nvSpPr>
          <p:cNvPr id="8" name="矩形 7"/>
          <p:cNvSpPr/>
          <p:nvPr/>
        </p:nvSpPr>
        <p:spPr>
          <a:xfrm>
            <a:off x="551384" y="4930090"/>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cs typeface="Courier New" panose="02070309020205020404" pitchFamily="49" charset="0"/>
              </a:rPr>
              <a:t>（</a:t>
            </a:r>
            <a:r>
              <a:rPr lang="en-US" altLang="zh-CN" sz="1600" dirty="0">
                <a:cs typeface="Courier New" panose="02070309020205020404" pitchFamily="49" charset="0"/>
              </a:rPr>
              <a:t>Level-1</a:t>
            </a:r>
            <a:r>
              <a:rPr lang="zh-CN" altLang="en-US" sz="1600" dirty="0">
                <a:cs typeface="Courier New" panose="02070309020205020404" pitchFamily="49" charset="0"/>
              </a:rPr>
              <a:t>设备）控制</a:t>
            </a:r>
            <a:r>
              <a:rPr lang="en-US" altLang="zh-CN" sz="1600" dirty="0">
                <a:cs typeface="Courier New" panose="02070309020205020404" pitchFamily="49" charset="0"/>
              </a:rPr>
              <a:t>Level-1</a:t>
            </a:r>
            <a:r>
              <a:rPr lang="zh-CN" altLang="en-US" sz="1600" dirty="0">
                <a:cs typeface="Courier New" panose="02070309020205020404" pitchFamily="49" charset="0"/>
              </a:rPr>
              <a:t>设备不因为</a:t>
            </a:r>
            <a:r>
              <a:rPr lang="en-US" altLang="zh-CN" sz="1600" dirty="0">
                <a:cs typeface="Courier New" panose="02070309020205020404" pitchFamily="49" charset="0"/>
              </a:rPr>
              <a:t>ATT</a:t>
            </a:r>
            <a:r>
              <a:rPr lang="zh-CN" altLang="en-US" sz="1600" dirty="0">
                <a:cs typeface="Courier New" panose="02070309020205020404" pitchFamily="49" charset="0"/>
              </a:rPr>
              <a:t>位下发缺省路由到路由表。</a:t>
            </a:r>
            <a:endParaRPr lang="zh-CN" altLang="en-US" sz="1600" dirty="0">
              <a:cs typeface="Courier New" panose="02070309020205020404" pitchFamily="49" charset="0"/>
            </a:endParaRPr>
          </a:p>
        </p:txBody>
      </p:sp>
      <p:sp>
        <p:nvSpPr>
          <p:cNvPr id="9" name="矩形 8"/>
          <p:cNvSpPr/>
          <p:nvPr/>
        </p:nvSpPr>
        <p:spPr>
          <a:xfrm>
            <a:off x="1023208" y="5643999"/>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按</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位缺省使用规则生成缺省路由。</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五边形 13"/>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燕尾形 14"/>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a:t>IS-IS</a:t>
            </a:r>
            <a:r>
              <a:rPr lang="zh-CN" altLang="en-US"/>
              <a:t>发布缺省路由</a:t>
            </a:r>
            <a:endParaRPr lang="zh-CN" altLang="en-US" dirty="0"/>
          </a:p>
        </p:txBody>
      </p:sp>
      <p:sp>
        <p:nvSpPr>
          <p:cNvPr id="3" name="文本占位符 2"/>
          <p:cNvSpPr>
            <a:spLocks noGrp="1"/>
          </p:cNvSpPr>
          <p:nvPr>
            <p:ph type="body" sz="quarter" idx="10"/>
          </p:nvPr>
        </p:nvSpPr>
        <p:spPr bwMode="gray">
          <a:xfrm>
            <a:off x="455612" y="1047751"/>
            <a:ext cx="11293475" cy="3219450"/>
          </a:xfrm>
        </p:spPr>
        <p:txBody>
          <a:bodyPr/>
          <a:lstStyle/>
          <a:p>
            <a:r>
              <a:rPr lang="zh-CN" altLang="en-US" sz="2000" dirty="0"/>
              <a:t>在具有外部路由的边界设备上配置</a:t>
            </a:r>
            <a:r>
              <a:rPr lang="en-US" altLang="zh-CN" sz="2000" dirty="0"/>
              <a:t>IS-IS</a:t>
            </a:r>
            <a:r>
              <a:rPr lang="zh-CN" altLang="en-US" sz="2000" dirty="0"/>
              <a:t>发布缺省路由可以使该设备在</a:t>
            </a:r>
            <a:r>
              <a:rPr lang="en-US" altLang="zh-CN" sz="2000" dirty="0"/>
              <a:t>IS-IS</a:t>
            </a:r>
            <a:r>
              <a:rPr lang="zh-CN" altLang="en-US" sz="2000" dirty="0"/>
              <a:t>路由域内发布一条</a:t>
            </a:r>
            <a:r>
              <a:rPr lang="en-US" altLang="zh-CN" sz="2000" dirty="0"/>
              <a:t>0.0.0.0/0</a:t>
            </a:r>
            <a:r>
              <a:rPr lang="zh-CN" altLang="en-US" sz="2000" dirty="0"/>
              <a:t>的缺省路由。在执行此配置后，</a:t>
            </a:r>
            <a:r>
              <a:rPr lang="en-US" altLang="zh-CN" sz="2000" dirty="0"/>
              <a:t>IS-IS</a:t>
            </a:r>
            <a:r>
              <a:rPr lang="zh-CN" altLang="en-US" sz="2000" dirty="0"/>
              <a:t>域内的其他设备在转发流量时，将所有去往外部路由域的流量首先转发到该设备，然后通过该设备去往外部路由域。</a:t>
            </a:r>
            <a:endParaRPr lang="en-US" altLang="zh-CN" sz="2000" dirty="0"/>
          </a:p>
          <a:p>
            <a:r>
              <a:rPr lang="zh-CN" altLang="en-US" sz="2000" dirty="0"/>
              <a:t>通常，当网络中部署了</a:t>
            </a:r>
            <a:r>
              <a:rPr lang="en-US" altLang="zh-CN" sz="2000" dirty="0"/>
              <a:t>IS-IS</a:t>
            </a:r>
            <a:r>
              <a:rPr lang="zh-CN" altLang="en-US" sz="2000" dirty="0"/>
              <a:t>和其他路由协议时，为了实现</a:t>
            </a:r>
            <a:r>
              <a:rPr lang="en-US" altLang="zh-CN" sz="2000" dirty="0"/>
              <a:t>IS-IS</a:t>
            </a:r>
            <a:r>
              <a:rPr lang="zh-CN" altLang="en-US" sz="2000" dirty="0"/>
              <a:t>域内的流量可以到达</a:t>
            </a:r>
            <a:r>
              <a:rPr lang="en-US" altLang="zh-CN" sz="2000" dirty="0"/>
              <a:t>IS-IS</a:t>
            </a:r>
            <a:r>
              <a:rPr lang="zh-CN" altLang="en-US" sz="2000" dirty="0"/>
              <a:t>域外，通常有如下两种方式：</a:t>
            </a:r>
            <a:endParaRPr lang="zh-CN" altLang="en-US" sz="2000" dirty="0"/>
          </a:p>
          <a:p>
            <a:pPr lvl="1"/>
            <a:r>
              <a:rPr lang="zh-CN" altLang="en-US" sz="1800" dirty="0"/>
              <a:t>在边界设备上配置</a:t>
            </a:r>
            <a:r>
              <a:rPr lang="en-US" altLang="zh-CN" sz="1800" dirty="0"/>
              <a:t>IS-IS</a:t>
            </a:r>
            <a:r>
              <a:rPr lang="zh-CN" altLang="en-US" sz="1800" dirty="0"/>
              <a:t>设备向</a:t>
            </a:r>
            <a:r>
              <a:rPr lang="en-US" altLang="zh-CN" sz="1800" dirty="0"/>
              <a:t>IS-IS</a:t>
            </a:r>
            <a:r>
              <a:rPr lang="zh-CN" altLang="en-US" sz="1800" dirty="0"/>
              <a:t>域发布缺省路由。该方式较为简单，不需要学习外部路由。</a:t>
            </a:r>
            <a:endParaRPr lang="zh-CN" altLang="en-US" sz="1800" dirty="0"/>
          </a:p>
          <a:p>
            <a:pPr lvl="1"/>
            <a:r>
              <a:rPr lang="zh-CN" altLang="en-US" sz="1800" dirty="0"/>
              <a:t>在边界设备上将其他路由域的路由引入到</a:t>
            </a:r>
            <a:r>
              <a:rPr lang="en-US" altLang="zh-CN" sz="1800" dirty="0"/>
              <a:t>IS-IS</a:t>
            </a:r>
            <a:r>
              <a:rPr lang="zh-CN" altLang="en-US" sz="1800" dirty="0"/>
              <a:t>中。</a:t>
            </a:r>
            <a:endParaRPr lang="en-US" altLang="zh-CN" sz="1800" dirty="0"/>
          </a:p>
        </p:txBody>
      </p:sp>
      <p:sp>
        <p:nvSpPr>
          <p:cNvPr id="7" name="矩形 6"/>
          <p:cNvSpPr/>
          <p:nvPr/>
        </p:nvSpPr>
        <p:spPr bwMode="gray">
          <a:xfrm>
            <a:off x="988372" y="4946939"/>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default-route-advertise</a:t>
            </a:r>
            <a:r>
              <a:rPr lang="en-US" altLang="zh-CN" sz="1600" dirty="0"/>
              <a:t> [ </a:t>
            </a:r>
            <a:r>
              <a:rPr lang="en-US" altLang="zh-CN" sz="1600" b="1" dirty="0"/>
              <a:t>always</a:t>
            </a:r>
            <a:r>
              <a:rPr lang="en-US" altLang="zh-CN" sz="1600" dirty="0"/>
              <a:t> | </a:t>
            </a:r>
            <a:r>
              <a:rPr lang="en-US" altLang="zh-CN" sz="1600" b="1" dirty="0"/>
              <a:t>match default</a:t>
            </a:r>
            <a:r>
              <a:rPr lang="en-US" altLang="zh-CN" sz="1600" dirty="0"/>
              <a:t> | </a:t>
            </a:r>
            <a:r>
              <a:rPr lang="en-US" altLang="zh-CN" sz="1600" b="1" dirty="0"/>
              <a:t>route-policy</a:t>
            </a:r>
            <a:r>
              <a:rPr lang="en-US" altLang="zh-CN" sz="1600" dirty="0"/>
              <a:t> </a:t>
            </a:r>
            <a:r>
              <a:rPr lang="en-US" altLang="zh-CN" sz="1600" i="1" dirty="0"/>
              <a:t>route-policy-name</a:t>
            </a:r>
            <a:r>
              <a:rPr lang="en-US" altLang="zh-CN" sz="1600" dirty="0"/>
              <a:t> ] [ </a:t>
            </a:r>
            <a:r>
              <a:rPr lang="en-US" altLang="zh-CN" sz="1600" b="1" dirty="0"/>
              <a:t>cost</a:t>
            </a:r>
            <a:r>
              <a:rPr lang="en-US" altLang="zh-CN" sz="1600" dirty="0"/>
              <a:t> </a:t>
            </a:r>
            <a:r>
              <a:rPr lang="en-US" altLang="zh-CN" sz="1600" i="1" dirty="0" err="1"/>
              <a:t>cost</a:t>
            </a:r>
            <a:r>
              <a:rPr lang="en-US" altLang="zh-CN" sz="1600" dirty="0"/>
              <a:t> | </a:t>
            </a:r>
            <a:r>
              <a:rPr lang="en-US" altLang="zh-CN" sz="1600" b="1" dirty="0"/>
              <a:t>tag</a:t>
            </a:r>
            <a:r>
              <a:rPr lang="en-US" altLang="zh-CN" sz="1600" dirty="0"/>
              <a:t> </a:t>
            </a:r>
            <a:r>
              <a:rPr lang="en-US" altLang="zh-CN" sz="1600" i="1" dirty="0" err="1"/>
              <a:t>tag</a:t>
            </a:r>
            <a:r>
              <a:rPr lang="en-US" altLang="zh-CN" sz="1600" dirty="0"/>
              <a:t> | [ </a:t>
            </a:r>
            <a:r>
              <a:rPr lang="en-US" altLang="zh-CN" sz="1600" b="1" dirty="0"/>
              <a:t>level-1</a:t>
            </a:r>
            <a:r>
              <a:rPr lang="en-US" altLang="zh-CN" sz="1600" dirty="0"/>
              <a:t> | </a:t>
            </a:r>
            <a:r>
              <a:rPr lang="en-US" altLang="zh-CN" sz="1600" b="1" dirty="0"/>
              <a:t>level-1-2</a:t>
            </a:r>
            <a:r>
              <a:rPr lang="en-US" altLang="zh-CN" sz="1600" dirty="0"/>
              <a:t> | </a:t>
            </a:r>
            <a:r>
              <a:rPr lang="en-US" altLang="zh-CN" sz="1600" b="1" dirty="0"/>
              <a:t>level-2</a:t>
            </a:r>
            <a:r>
              <a:rPr lang="en-US" altLang="zh-CN" sz="1600" dirty="0"/>
              <a:t> ] ] [ </a:t>
            </a:r>
            <a:r>
              <a:rPr lang="en-US" altLang="zh-CN" sz="1600" b="1" dirty="0"/>
              <a:t>avoid-learning</a:t>
            </a:r>
            <a:r>
              <a:rPr lang="en-US" altLang="zh-CN" sz="1600" dirty="0"/>
              <a:t> ]</a:t>
            </a:r>
            <a:endParaRPr lang="zh-CN" altLang="en-US" sz="1600" dirty="0">
              <a:cs typeface="Courier New" panose="02070309020205020404" pitchFamily="49" charset="0"/>
            </a:endParaRPr>
          </a:p>
        </p:txBody>
      </p:sp>
      <p:sp>
        <p:nvSpPr>
          <p:cNvPr id="8" name="矩形 7"/>
          <p:cNvSpPr/>
          <p:nvPr/>
        </p:nvSpPr>
        <p:spPr bwMode="gray">
          <a:xfrm>
            <a:off x="888642" y="4540919"/>
            <a:ext cx="10751974" cy="338554"/>
          </a:xfrm>
          <a:prstGeom prst="rect">
            <a:avLst/>
          </a:prstGeom>
        </p:spPr>
        <p:txBody>
          <a:bodyPr wrap="square">
            <a:spAutoFit/>
          </a:bodyPr>
          <a:lstStyle/>
          <a:p>
            <a:pPr fontAlgn="auto"/>
            <a:r>
              <a:rPr lang="zh-CN" altLang="en-US" sz="1600" dirty="0">
                <a:cs typeface="Courier New" panose="02070309020205020404" pitchFamily="49" charset="0"/>
              </a:rPr>
              <a:t>配置运行</a:t>
            </a:r>
            <a:r>
              <a:rPr lang="en-US" altLang="zh-CN" sz="1600" dirty="0">
                <a:cs typeface="Courier New" panose="02070309020205020404" pitchFamily="49" charset="0"/>
              </a:rPr>
              <a:t>IS-IS</a:t>
            </a:r>
            <a:r>
              <a:rPr lang="zh-CN" altLang="en-US" sz="1600" dirty="0">
                <a:cs typeface="Courier New" panose="02070309020205020404" pitchFamily="49" charset="0"/>
              </a:rPr>
              <a:t>的设备生成缺省路由：</a:t>
            </a:r>
            <a:endParaRPr lang="zh-CN" altLang="en-US" sz="1600" dirty="0">
              <a:cs typeface="Courier New" panose="02070309020205020404" pitchFamily="49" charset="0"/>
            </a:endParaRPr>
          </a:p>
        </p:txBody>
      </p:sp>
      <p:sp>
        <p:nvSpPr>
          <p:cNvPr id="9" name="矩形 8"/>
          <p:cNvSpPr/>
          <p:nvPr/>
        </p:nvSpPr>
        <p:spPr bwMode="gray">
          <a:xfrm>
            <a:off x="988372" y="553452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缺省情况下，运行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协议的设备不生成缺省路由。</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五边形 10"/>
          <p:cNvSpPr/>
          <p:nvPr/>
        </p:nvSpPr>
        <p:spPr bwMode="gray">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燕尾形 11"/>
          <p:cNvSpPr/>
          <p:nvPr/>
        </p:nvSpPr>
        <p:spPr bwMode="gray">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燕尾形 12"/>
          <p:cNvSpPr/>
          <p:nvPr/>
        </p:nvSpPr>
        <p:spPr bwMode="gray">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bwMode="gray">
          <a:xfrm>
            <a:off x="638529" y="1375837"/>
            <a:ext cx="2866542" cy="1439159"/>
          </a:xfrm>
          <a:prstGeom prst="rect">
            <a:avLst/>
          </a:prstGeom>
          <a:solidFill>
            <a:srgbClr val="F5FCFD"/>
          </a:solid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bwMode="gray">
          <a:xfrm>
            <a:off x="515661" y="2447464"/>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OSPF</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 name="标题 1"/>
          <p:cNvSpPr>
            <a:spLocks noGrp="1"/>
          </p:cNvSpPr>
          <p:nvPr>
            <p:ph type="title"/>
          </p:nvPr>
        </p:nvSpPr>
        <p:spPr/>
        <p:txBody>
          <a:bodyPr/>
          <a:lstStyle/>
          <a:p>
            <a:r>
              <a:rPr lang="zh-CN" altLang="en-US"/>
              <a:t>缺省路由配置举例</a:t>
            </a:r>
            <a:endParaRPr lang="zh-CN" altLang="en-US" dirty="0"/>
          </a:p>
        </p:txBody>
      </p:sp>
      <p:sp>
        <p:nvSpPr>
          <p:cNvPr id="3" name="文本占位符 2"/>
          <p:cNvSpPr>
            <a:spLocks noGrp="1"/>
          </p:cNvSpPr>
          <p:nvPr>
            <p:ph type="body" sz="quarter" idx="10"/>
          </p:nvPr>
        </p:nvSpPr>
        <p:spPr>
          <a:xfrm>
            <a:off x="585768" y="3464987"/>
            <a:ext cx="5361713" cy="2236320"/>
          </a:xfrm>
        </p:spPr>
        <p:txBody>
          <a:bodyPr/>
          <a:lstStyle/>
          <a:p>
            <a:r>
              <a:rPr lang="zh-CN" altLang="en-US" sz="1800" dirty="0"/>
              <a:t>如图所示，</a:t>
            </a:r>
            <a:r>
              <a:rPr lang="en-US" altLang="zh-CN" sz="1800" dirty="0"/>
              <a:t>R1</a:t>
            </a:r>
            <a:r>
              <a:rPr lang="zh-CN" altLang="en-US" sz="1800" dirty="0"/>
              <a:t>和</a:t>
            </a:r>
            <a:r>
              <a:rPr lang="en-US" altLang="zh-CN" sz="1800" dirty="0"/>
              <a:t>R2</a:t>
            </a:r>
            <a:r>
              <a:rPr lang="zh-CN" altLang="en-US" sz="1800" dirty="0"/>
              <a:t>的</a:t>
            </a:r>
            <a:r>
              <a:rPr lang="en-US" altLang="zh-CN" sz="1800" dirty="0"/>
              <a:t>GE0/0/1</a:t>
            </a:r>
            <a:r>
              <a:rPr lang="zh-CN" altLang="en-US" sz="1800" dirty="0"/>
              <a:t>接口运行</a:t>
            </a:r>
            <a:r>
              <a:rPr lang="en-US" altLang="zh-CN" sz="1800" dirty="0"/>
              <a:t>OSPF</a:t>
            </a:r>
            <a:r>
              <a:rPr lang="zh-CN" altLang="en-US" sz="1800" dirty="0"/>
              <a:t>，</a:t>
            </a:r>
            <a:r>
              <a:rPr lang="en-US" altLang="zh-CN" sz="1800" dirty="0"/>
              <a:t>R2</a:t>
            </a:r>
            <a:r>
              <a:rPr lang="zh-CN" altLang="en-US" sz="1800" dirty="0"/>
              <a:t>的</a:t>
            </a:r>
            <a:r>
              <a:rPr lang="en-US" altLang="zh-CN" sz="1800" dirty="0"/>
              <a:t>GE0/0/2</a:t>
            </a:r>
            <a:r>
              <a:rPr lang="zh-CN" altLang="en-US" sz="1800" dirty="0"/>
              <a:t>接口和</a:t>
            </a:r>
            <a:r>
              <a:rPr lang="en-US" altLang="zh-CN" sz="1800" dirty="0"/>
              <a:t>R3</a:t>
            </a:r>
            <a:r>
              <a:rPr lang="zh-CN" altLang="en-US" sz="1800" dirty="0"/>
              <a:t>运行</a:t>
            </a:r>
            <a:r>
              <a:rPr lang="en-US" altLang="zh-CN" sz="1800" dirty="0"/>
              <a:t>IS-IS</a:t>
            </a:r>
            <a:r>
              <a:rPr lang="zh-CN" altLang="en-US" sz="1800" dirty="0"/>
              <a:t>。</a:t>
            </a:r>
            <a:endParaRPr lang="en-US" altLang="zh-CN" sz="1800" dirty="0"/>
          </a:p>
          <a:p>
            <a:r>
              <a:rPr lang="zh-CN" altLang="en-US" sz="1800" dirty="0"/>
              <a:t>为了让</a:t>
            </a:r>
            <a:r>
              <a:rPr lang="en-US" altLang="zh-CN" sz="1800" dirty="0"/>
              <a:t>R3</a:t>
            </a:r>
            <a:r>
              <a:rPr lang="zh-CN" altLang="en-US" sz="1800" dirty="0"/>
              <a:t>能够访问</a:t>
            </a:r>
            <a:r>
              <a:rPr lang="en-US" altLang="zh-CN" sz="1800" dirty="0"/>
              <a:t>OSPF</a:t>
            </a:r>
            <a:r>
              <a:rPr lang="zh-CN" altLang="en-US" sz="1800" dirty="0"/>
              <a:t>网络，需要在</a:t>
            </a:r>
            <a:r>
              <a:rPr lang="en-US" altLang="zh-CN" sz="1800" dirty="0"/>
              <a:t>R2</a:t>
            </a:r>
            <a:r>
              <a:rPr lang="zh-CN" altLang="en-US" sz="1800" dirty="0"/>
              <a:t>的</a:t>
            </a:r>
            <a:r>
              <a:rPr lang="en-US" altLang="zh-CN" sz="1800" dirty="0"/>
              <a:t>IS-IS</a:t>
            </a:r>
            <a:r>
              <a:rPr lang="zh-CN" altLang="en-US" sz="1800" dirty="0"/>
              <a:t>中发布缺省路由。</a:t>
            </a:r>
            <a:endParaRPr lang="en-US" altLang="zh-CN" sz="1800" dirty="0"/>
          </a:p>
          <a:p>
            <a:r>
              <a:rPr lang="zh-CN" altLang="en-US" sz="1800" dirty="0"/>
              <a:t>同理，在</a:t>
            </a:r>
            <a:r>
              <a:rPr lang="en-US" altLang="zh-CN" sz="1800" dirty="0"/>
              <a:t>R2</a:t>
            </a:r>
            <a:r>
              <a:rPr lang="zh-CN" altLang="en-US" sz="1800" dirty="0"/>
              <a:t>的</a:t>
            </a:r>
            <a:r>
              <a:rPr lang="en-US" altLang="zh-CN" sz="1800" dirty="0"/>
              <a:t>OSPF</a:t>
            </a:r>
            <a:r>
              <a:rPr lang="zh-CN" altLang="en-US" sz="1800" dirty="0"/>
              <a:t>中也需要发布缺省路由。</a:t>
            </a:r>
            <a:endParaRPr lang="en-US" altLang="zh-CN" sz="1800" dirty="0"/>
          </a:p>
        </p:txBody>
      </p:sp>
      <p:sp>
        <p:nvSpPr>
          <p:cNvPr id="7" name="矩形 6"/>
          <p:cNvSpPr/>
          <p:nvPr/>
        </p:nvSpPr>
        <p:spPr bwMode="gray">
          <a:xfrm>
            <a:off x="3570189" y="1375837"/>
            <a:ext cx="2319046" cy="1439159"/>
          </a:xfrm>
          <a:prstGeom prst="rect">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bwMode="gray">
          <a:xfrm>
            <a:off x="3456687" y="2447464"/>
            <a:ext cx="910150" cy="367473"/>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11" name="图片 10"/>
          <p:cNvPicPr/>
          <p:nvPr/>
        </p:nvPicPr>
        <p:blipFill>
          <a:blip r:embed="rId1" cstate="print">
            <a:extLst>
              <a:ext uri="{28A0092B-C50C-407E-A947-70E740481C1C}">
                <a14:useLocalDpi xmlns:a14="http://schemas.microsoft.com/office/drawing/2010/main" val="0"/>
              </a:ext>
            </a:extLst>
          </a:blip>
          <a:stretch>
            <a:fillRect/>
          </a:stretch>
        </p:blipFill>
        <p:spPr bwMode="gray">
          <a:xfrm>
            <a:off x="1664099" y="1817083"/>
            <a:ext cx="540000" cy="442800"/>
          </a:xfrm>
          <a:prstGeom prst="rect">
            <a:avLst/>
          </a:prstGeom>
        </p:spPr>
      </p:pic>
      <p:cxnSp>
        <p:nvCxnSpPr>
          <p:cNvPr id="12" name="直接连接符 11"/>
          <p:cNvCxnSpPr>
            <a:stCxn id="11" idx="3"/>
            <a:endCxn id="14" idx="1"/>
          </p:cNvCxnSpPr>
          <p:nvPr/>
        </p:nvCxnSpPr>
        <p:spPr bwMode="gray">
          <a:xfrm>
            <a:off x="2204099" y="2038483"/>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532798" y="1576818"/>
            <a:ext cx="797389"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14" name="图片 13"/>
          <p:cNvPicPr/>
          <p:nvPr/>
        </p:nvPicPr>
        <p:blipFill>
          <a:blip r:embed="rId1" cstate="print">
            <a:extLst>
              <a:ext uri="{28A0092B-C50C-407E-A947-70E740481C1C}">
                <a14:useLocalDpi xmlns:a14="http://schemas.microsoft.com/office/drawing/2010/main" val="0"/>
              </a:ext>
            </a:extLst>
          </a:blip>
          <a:stretch>
            <a:fillRect/>
          </a:stretch>
        </p:blipFill>
        <p:spPr bwMode="gray">
          <a:xfrm>
            <a:off x="3266625" y="1817083"/>
            <a:ext cx="540000" cy="442800"/>
          </a:xfrm>
          <a:prstGeom prst="rect">
            <a:avLst/>
          </a:prstGeom>
        </p:spPr>
      </p:pic>
      <p:sp>
        <p:nvSpPr>
          <p:cNvPr id="15" name="矩形 14"/>
          <p:cNvSpPr/>
          <p:nvPr/>
        </p:nvSpPr>
        <p:spPr bwMode="gray">
          <a:xfrm>
            <a:off x="3080475" y="1576818"/>
            <a:ext cx="912300"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  L2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16" name="直接连接符 15"/>
          <p:cNvCxnSpPr>
            <a:stCxn id="14" idx="3"/>
            <a:endCxn id="17" idx="1"/>
          </p:cNvCxnSpPr>
          <p:nvPr/>
        </p:nvCxnSpPr>
        <p:spPr bwMode="gray">
          <a:xfrm>
            <a:off x="3806625" y="2038483"/>
            <a:ext cx="106252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图片 16"/>
          <p:cNvPicPr/>
          <p:nvPr/>
        </p:nvPicPr>
        <p:blipFill>
          <a:blip r:embed="rId1" cstate="print">
            <a:extLst>
              <a:ext uri="{28A0092B-C50C-407E-A947-70E740481C1C}">
                <a14:useLocalDpi xmlns:a14="http://schemas.microsoft.com/office/drawing/2010/main" val="0"/>
              </a:ext>
            </a:extLst>
          </a:blip>
          <a:stretch>
            <a:fillRect/>
          </a:stretch>
        </p:blipFill>
        <p:spPr bwMode="gray">
          <a:xfrm>
            <a:off x="4869151" y="1817083"/>
            <a:ext cx="540000" cy="442800"/>
          </a:xfrm>
          <a:prstGeom prst="rect">
            <a:avLst/>
          </a:prstGeom>
        </p:spPr>
      </p:pic>
      <p:sp>
        <p:nvSpPr>
          <p:cNvPr id="18" name="矩形 17"/>
          <p:cNvSpPr/>
          <p:nvPr/>
        </p:nvSpPr>
        <p:spPr bwMode="gray">
          <a:xfrm>
            <a:off x="4758881" y="1576818"/>
            <a:ext cx="760540" cy="3077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R3 L2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0" name="矩形 29"/>
          <p:cNvSpPr/>
          <p:nvPr/>
        </p:nvSpPr>
        <p:spPr bwMode="gray">
          <a:xfrm>
            <a:off x="2307718" y="1826679"/>
            <a:ext cx="797389"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矩形 30"/>
          <p:cNvSpPr/>
          <p:nvPr/>
        </p:nvSpPr>
        <p:spPr bwMode="gray">
          <a:xfrm>
            <a:off x="3968143" y="1826679"/>
            <a:ext cx="797389"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3" name="矩形 32"/>
          <p:cNvSpPr/>
          <p:nvPr/>
        </p:nvSpPr>
        <p:spPr bwMode="gray">
          <a:xfrm>
            <a:off x="2216342" y="2043838"/>
            <a:ext cx="1038699"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10.1.12.0/24</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3847487" y="2043838"/>
            <a:ext cx="1038699" cy="276999"/>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10.1.23.0/24</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35" name="直接连接符 34"/>
          <p:cNvCxnSpPr>
            <a:endCxn id="11" idx="1"/>
          </p:cNvCxnSpPr>
          <p:nvPr/>
        </p:nvCxnSpPr>
        <p:spPr bwMode="gray">
          <a:xfrm>
            <a:off x="1545469" y="2038483"/>
            <a:ext cx="11863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bwMode="gray">
          <a:xfrm rot="5400000">
            <a:off x="1416453" y="2038483"/>
            <a:ext cx="2474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矩形 39"/>
          <p:cNvSpPr/>
          <p:nvPr/>
        </p:nvSpPr>
        <p:spPr bwMode="gray">
          <a:xfrm>
            <a:off x="619278" y="1831910"/>
            <a:ext cx="1038699"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Loopback0</a:t>
            </a:r>
            <a:r>
              <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10.1.1.1/32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1" name="文本框 31"/>
          <p:cNvSpPr txBox="1"/>
          <p:nvPr/>
        </p:nvSpPr>
        <p:spPr>
          <a:xfrm>
            <a:off x="6082309" y="1326952"/>
            <a:ext cx="4777270"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OSPF/IS-IS</a:t>
            </a:r>
            <a:r>
              <a:rPr lang="zh-CN" altLang="en-US" sz="1600" dirty="0">
                <a:solidFill>
                  <a:prstClr val="black"/>
                </a:solidFill>
              </a:rPr>
              <a:t>。（略）</a:t>
            </a:r>
            <a:endParaRPr lang="zh-CN" altLang="en-US" sz="1600" dirty="0">
              <a:solidFill>
                <a:prstClr val="black"/>
              </a:solidFill>
            </a:endParaRPr>
          </a:p>
        </p:txBody>
      </p:sp>
      <p:sp>
        <p:nvSpPr>
          <p:cNvPr id="42" name="文本框 32"/>
          <p:cNvSpPr txBox="1"/>
          <p:nvPr/>
        </p:nvSpPr>
        <p:spPr>
          <a:xfrm>
            <a:off x="6105427" y="2221183"/>
            <a:ext cx="4642749"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isis</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[R2-isis-1] </a:t>
            </a:r>
            <a:r>
              <a:rPr lang="en-US" altLang="zh-CN" sz="1400" b="1" dirty="0">
                <a:solidFill>
                  <a:prstClr val="black"/>
                </a:solidFill>
                <a:cs typeface="Courier New" panose="02070309020205020404" pitchFamily="49" charset="0"/>
              </a:rPr>
              <a:t>default-route-advertise always</a:t>
            </a:r>
            <a:endParaRPr lang="en-US" altLang="zh-CN" sz="1400" dirty="0">
              <a:solidFill>
                <a:prstClr val="black"/>
              </a:solidFill>
              <a:cs typeface="Courier New" panose="02070309020205020404" pitchFamily="49" charset="0"/>
            </a:endParaRPr>
          </a:p>
        </p:txBody>
      </p:sp>
      <p:sp>
        <p:nvSpPr>
          <p:cNvPr id="43" name="文本框 33"/>
          <p:cNvSpPr txBox="1"/>
          <p:nvPr/>
        </p:nvSpPr>
        <p:spPr>
          <a:xfrm>
            <a:off x="6082309" y="1857994"/>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、配置</a:t>
            </a:r>
            <a:r>
              <a:rPr lang="en-US" altLang="zh-CN" sz="1600" dirty="0">
                <a:solidFill>
                  <a:prstClr val="black"/>
                </a:solidFill>
              </a:rPr>
              <a:t>R2</a:t>
            </a:r>
            <a:r>
              <a:rPr lang="zh-CN" altLang="en-US" sz="1600" dirty="0">
                <a:solidFill>
                  <a:prstClr val="black"/>
                </a:solidFill>
              </a:rPr>
              <a:t>在</a:t>
            </a:r>
            <a:r>
              <a:rPr lang="en-US" altLang="zh-CN" sz="1600" dirty="0">
                <a:solidFill>
                  <a:prstClr val="black"/>
                </a:solidFill>
              </a:rPr>
              <a:t>IS-IS</a:t>
            </a:r>
            <a:r>
              <a:rPr lang="zh-CN" altLang="en-US" sz="1600" dirty="0">
                <a:solidFill>
                  <a:prstClr val="black"/>
                </a:solidFill>
              </a:rPr>
              <a:t>中发布缺省路由。</a:t>
            </a:r>
            <a:endParaRPr lang="zh-CN" altLang="en-US" sz="1600" dirty="0">
              <a:solidFill>
                <a:prstClr val="black"/>
              </a:solidFill>
            </a:endParaRPr>
          </a:p>
        </p:txBody>
      </p:sp>
      <p:sp>
        <p:nvSpPr>
          <p:cNvPr id="44" name="文本框 43"/>
          <p:cNvSpPr txBox="1"/>
          <p:nvPr/>
        </p:nvSpPr>
        <p:spPr>
          <a:xfrm>
            <a:off x="6105427" y="3335116"/>
            <a:ext cx="4642749" cy="52322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ospf</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[R2-ospf-1] default-route-advertise always   	</a:t>
            </a:r>
            <a:endParaRPr lang="en-US" altLang="zh-CN" sz="1400" dirty="0">
              <a:solidFill>
                <a:prstClr val="black"/>
              </a:solidFill>
              <a:cs typeface="Courier New" panose="02070309020205020404" pitchFamily="49" charset="0"/>
            </a:endParaRPr>
          </a:p>
        </p:txBody>
      </p:sp>
      <p:sp>
        <p:nvSpPr>
          <p:cNvPr id="45" name="文本框 44"/>
          <p:cNvSpPr txBox="1"/>
          <p:nvPr/>
        </p:nvSpPr>
        <p:spPr>
          <a:xfrm>
            <a:off x="6082309" y="2971927"/>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、配置</a:t>
            </a:r>
            <a:r>
              <a:rPr lang="en-US" altLang="zh-CN" sz="1600" dirty="0">
                <a:solidFill>
                  <a:prstClr val="black"/>
                </a:solidFill>
              </a:rPr>
              <a:t>R2</a:t>
            </a:r>
            <a:r>
              <a:rPr lang="zh-CN" altLang="en-US" sz="1600" dirty="0">
                <a:solidFill>
                  <a:prstClr val="black"/>
                </a:solidFill>
              </a:rPr>
              <a:t>在</a:t>
            </a:r>
            <a:r>
              <a:rPr lang="en-US" altLang="zh-CN" sz="1600" dirty="0">
                <a:solidFill>
                  <a:prstClr val="black"/>
                </a:solidFill>
              </a:rPr>
              <a:t>OSPF</a:t>
            </a:r>
            <a:r>
              <a:rPr lang="zh-CN" altLang="en-US" sz="1600" dirty="0">
                <a:solidFill>
                  <a:prstClr val="black"/>
                </a:solidFill>
              </a:rPr>
              <a:t>中发布缺省路由。</a:t>
            </a:r>
            <a:endParaRPr lang="zh-CN" altLang="en-US" sz="1600" dirty="0">
              <a:solidFill>
                <a:prstClr val="black"/>
              </a:solidFill>
            </a:endParaRPr>
          </a:p>
        </p:txBody>
      </p:sp>
      <p:sp>
        <p:nvSpPr>
          <p:cNvPr id="46" name="文本框 45"/>
          <p:cNvSpPr txBox="1"/>
          <p:nvPr/>
        </p:nvSpPr>
        <p:spPr>
          <a:xfrm>
            <a:off x="6105428" y="4454631"/>
            <a:ext cx="5619648" cy="1569660"/>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200" dirty="0">
                <a:solidFill>
                  <a:prstClr val="black"/>
                </a:solidFill>
                <a:cs typeface="Courier New" panose="02070309020205020404" pitchFamily="49" charset="0"/>
              </a:rPr>
              <a:t>[R3]display </a:t>
            </a:r>
            <a:r>
              <a:rPr lang="en-US" altLang="zh-CN" sz="1200" dirty="0" err="1">
                <a:solidFill>
                  <a:prstClr val="black"/>
                </a:solidFill>
                <a:cs typeface="Courier New" panose="02070309020205020404" pitchFamily="49" charset="0"/>
              </a:rPr>
              <a:t>ip</a:t>
            </a:r>
            <a:r>
              <a:rPr lang="en-US" altLang="zh-CN" sz="1200" dirty="0">
                <a:solidFill>
                  <a:prstClr val="black"/>
                </a:solidFill>
                <a:cs typeface="Courier New" panose="02070309020205020404" pitchFamily="49" charset="0"/>
              </a:rPr>
              <a:t> routing-table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Route Flags: R - relay, D - download to fib</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Routing Tables: Public</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         Destinations : 8        Routes : 8        </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Destination/Mask    Proto    Pre  Cost  Flags  </a:t>
            </a:r>
            <a:r>
              <a:rPr lang="en-US" altLang="zh-CN" sz="1200" dirty="0" err="1">
                <a:solidFill>
                  <a:prstClr val="black"/>
                </a:solidFill>
                <a:cs typeface="Courier New" panose="02070309020205020404" pitchFamily="49" charset="0"/>
              </a:rPr>
              <a:t>NextHop</a:t>
            </a:r>
            <a:r>
              <a:rPr lang="en-US" altLang="zh-CN" sz="1200" dirty="0">
                <a:solidFill>
                  <a:prstClr val="black"/>
                </a:solidFill>
                <a:cs typeface="Courier New" panose="02070309020205020404" pitchFamily="49" charset="0"/>
              </a:rPr>
              <a:t>   Interface</a:t>
            </a:r>
            <a:endParaRPr lang="en-US" altLang="zh-CN" sz="1200" dirty="0">
              <a:solidFill>
                <a:prstClr val="black"/>
              </a:solidFill>
              <a:cs typeface="Courier New" panose="02070309020205020404" pitchFamily="49" charset="0"/>
            </a:endParaRPr>
          </a:p>
          <a:p>
            <a:pPr fontAlgn="auto">
              <a:spcBef>
                <a:spcPts val="0"/>
              </a:spcBef>
              <a:spcAft>
                <a:spcPts val="0"/>
              </a:spcAft>
            </a:pPr>
            <a:r>
              <a:rPr lang="en-US" altLang="zh-CN" sz="1200" dirty="0">
                <a:solidFill>
                  <a:srgbClr val="C7000B"/>
                </a:solidFill>
                <a:cs typeface="Courier New" panose="02070309020205020404" pitchFamily="49" charset="0"/>
              </a:rPr>
              <a:t>0.0.0.0/0	           ISIS-L2 15    10     D      10.1.23.2   GigabitEthernet0/0/2</a:t>
            </a:r>
            <a:endParaRPr lang="en-US" altLang="zh-CN" sz="1200" dirty="0">
              <a:solidFill>
                <a:srgbClr val="C7000B"/>
              </a:solidFill>
              <a:cs typeface="Courier New" panose="02070309020205020404" pitchFamily="49" charset="0"/>
            </a:endParaRPr>
          </a:p>
          <a:p>
            <a:pPr fontAlgn="auto">
              <a:spcBef>
                <a:spcPts val="0"/>
              </a:spcBef>
              <a:spcAft>
                <a:spcPts val="0"/>
              </a:spcAft>
            </a:pPr>
            <a:r>
              <a:rPr lang="en-US" altLang="zh-CN" sz="1200" dirty="0">
                <a:solidFill>
                  <a:prstClr val="black"/>
                </a:solidFill>
                <a:cs typeface="Courier New" panose="02070309020205020404" pitchFamily="49" charset="0"/>
              </a:rPr>
              <a:t>……</a:t>
            </a:r>
            <a:endParaRPr lang="en-US" altLang="zh-CN" sz="1200" dirty="0">
              <a:solidFill>
                <a:prstClr val="black"/>
              </a:solidFill>
              <a:cs typeface="Courier New" panose="02070309020205020404" pitchFamily="49" charset="0"/>
            </a:endParaRPr>
          </a:p>
        </p:txBody>
      </p:sp>
      <p:sp>
        <p:nvSpPr>
          <p:cNvPr id="47" name="文本框 46"/>
          <p:cNvSpPr txBox="1"/>
          <p:nvPr/>
        </p:nvSpPr>
        <p:spPr>
          <a:xfrm>
            <a:off x="6082309" y="4091442"/>
            <a:ext cx="564276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4</a:t>
            </a:r>
            <a:r>
              <a:rPr lang="zh-CN" altLang="en-US" sz="1600" dirty="0">
                <a:solidFill>
                  <a:prstClr val="black"/>
                </a:solidFill>
              </a:rPr>
              <a:t>、查看</a:t>
            </a:r>
            <a:r>
              <a:rPr lang="en-US" altLang="zh-CN" sz="1600" dirty="0">
                <a:solidFill>
                  <a:prstClr val="black"/>
                </a:solidFill>
              </a:rPr>
              <a:t>R3</a:t>
            </a:r>
            <a:r>
              <a:rPr lang="zh-CN" altLang="en-US" sz="1600" dirty="0">
                <a:solidFill>
                  <a:prstClr val="black"/>
                </a:solidFill>
              </a:rPr>
              <a:t>的路由表项。</a:t>
            </a:r>
            <a:endParaRPr lang="zh-CN" altLang="en-US" sz="1600" dirty="0">
              <a:solidFill>
                <a:prstClr val="black"/>
              </a:solidFill>
            </a:endParaRPr>
          </a:p>
        </p:txBody>
      </p:sp>
      <p:sp>
        <p:nvSpPr>
          <p:cNvPr id="36" name="五边形 35"/>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auto">
          <a:xfrm>
            <a:off x="10037943"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燕尾形 38"/>
          <p:cNvSpPr/>
          <p:nvPr/>
        </p:nvSpPr>
        <p:spPr bwMode="auto">
          <a:xfrm>
            <a:off x="10849088"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a:t>IS-IS</a:t>
            </a:r>
            <a:r>
              <a:rPr lang="zh-CN" altLang="en-US"/>
              <a:t>多实例和多进程</a:t>
            </a:r>
            <a:endParaRPr lang="zh-CN" altLang="en-US" dirty="0"/>
          </a:p>
        </p:txBody>
      </p:sp>
      <p:sp>
        <p:nvSpPr>
          <p:cNvPr id="4" name="文本占位符 3"/>
          <p:cNvSpPr>
            <a:spLocks noGrp="1"/>
          </p:cNvSpPr>
          <p:nvPr>
            <p:ph type="body" sz="quarter" idx="10"/>
          </p:nvPr>
        </p:nvSpPr>
        <p:spPr>
          <a:xfrm>
            <a:off x="455612" y="1047750"/>
            <a:ext cx="11293475" cy="2451933"/>
          </a:xfrm>
        </p:spPr>
        <p:txBody>
          <a:bodyPr/>
          <a:lstStyle/>
          <a:p>
            <a:r>
              <a:rPr lang="en-US" altLang="zh-CN" sz="2000"/>
              <a:t>IS-IS</a:t>
            </a:r>
            <a:r>
              <a:rPr lang="zh-CN" altLang="en-US" sz="2000"/>
              <a:t>多实例是指在同一台路由器上，可以配置多个</a:t>
            </a:r>
            <a:r>
              <a:rPr lang="en-US" altLang="zh-CN" sz="2000"/>
              <a:t>VPN</a:t>
            </a:r>
            <a:r>
              <a:rPr lang="zh-CN" altLang="en-US" sz="2000"/>
              <a:t>实例与多个</a:t>
            </a:r>
            <a:r>
              <a:rPr lang="en-US" altLang="zh-CN" sz="2000"/>
              <a:t>IS-IS</a:t>
            </a:r>
            <a:r>
              <a:rPr lang="zh-CN" altLang="en-US" sz="2000"/>
              <a:t>进程相关联。</a:t>
            </a:r>
            <a:endParaRPr lang="en-US" altLang="zh-CN" sz="2000"/>
          </a:p>
          <a:p>
            <a:r>
              <a:rPr lang="en-US" altLang="zh-CN" sz="2000"/>
              <a:t>IS-IS</a:t>
            </a:r>
            <a:r>
              <a:rPr lang="zh-CN" altLang="en-US" sz="2000"/>
              <a:t>多进程指在同一个</a:t>
            </a:r>
            <a:r>
              <a:rPr lang="en-US" altLang="zh-CN" sz="2000"/>
              <a:t>VPN</a:t>
            </a:r>
            <a:r>
              <a:rPr lang="zh-CN" altLang="en-US" sz="2000"/>
              <a:t>下（或者同在公网下）可以创建多个</a:t>
            </a:r>
            <a:r>
              <a:rPr lang="en-US" altLang="zh-CN" sz="2000"/>
              <a:t>IS-IS</a:t>
            </a:r>
            <a:r>
              <a:rPr lang="zh-CN" altLang="en-US" sz="2000"/>
              <a:t>进程，每个进程之间互不影响，彼此独立。不同进程之间的路由交互相当于不同路由协议之间的路由交互。</a:t>
            </a:r>
            <a:endParaRPr lang="en-US" altLang="zh-CN" sz="2000"/>
          </a:p>
          <a:p>
            <a:r>
              <a:rPr lang="zh-CN" altLang="en-US" sz="2000"/>
              <a:t>网络中可能需要同时承载不同的业务，为保证各业务的安全性，需要将业务进行隔离，此时，可以配置与</a:t>
            </a:r>
            <a:r>
              <a:rPr lang="en-US" altLang="zh-CN" sz="2000"/>
              <a:t>VPN</a:t>
            </a:r>
            <a:r>
              <a:rPr lang="zh-CN" altLang="en-US" sz="2000"/>
              <a:t>实例绑定。</a:t>
            </a:r>
            <a:endParaRPr lang="en-US" altLang="zh-CN" sz="2000" dirty="0"/>
          </a:p>
        </p:txBody>
      </p:sp>
      <p:grpSp>
        <p:nvGrpSpPr>
          <p:cNvPr id="30" name="组合 29"/>
          <p:cNvGrpSpPr/>
          <p:nvPr/>
        </p:nvGrpSpPr>
        <p:grpSpPr bwMode="gray">
          <a:xfrm>
            <a:off x="6216180" y="3939668"/>
            <a:ext cx="3285826" cy="2085326"/>
            <a:chOff x="2794714" y="3838562"/>
            <a:chExt cx="3285826" cy="2085326"/>
          </a:xfrm>
        </p:grpSpPr>
        <p:sp>
          <p:nvSpPr>
            <p:cNvPr id="31" name="椭圆 30"/>
            <p:cNvSpPr/>
            <p:nvPr/>
          </p:nvSpPr>
          <p:spPr bwMode="gray">
            <a:xfrm rot="1524204">
              <a:off x="3906532" y="4093208"/>
              <a:ext cx="1332193" cy="827361"/>
            </a:xfrm>
            <a:prstGeom prst="ellipse">
              <a:avLst/>
            </a:prstGeom>
            <a:solidFill>
              <a:srgbClr val="F5FCFD"/>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bwMode="gray">
            <a:xfrm rot="20075796" flipV="1">
              <a:off x="3906531" y="5096527"/>
              <a:ext cx="1332193" cy="827361"/>
            </a:xfrm>
            <a:prstGeom prst="ellipse">
              <a:avLst/>
            </a:prstGeom>
            <a:solidFill>
              <a:srgbClr val="F5FCFD"/>
            </a:solidFill>
            <a:ln>
              <a:solidFill>
                <a:srgbClr val="94DAE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159"/>
            <p:cNvSpPr/>
            <p:nvPr/>
          </p:nvSpPr>
          <p:spPr bwMode="gray">
            <a:xfrm flipH="1">
              <a:off x="2794714" y="3951603"/>
              <a:ext cx="1187838" cy="63996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4" name="图片 33"/>
            <p:cNvPicPr/>
            <p:nvPr/>
          </p:nvPicPr>
          <p:blipFill>
            <a:blip r:embed="rId1" cstate="print">
              <a:extLst>
                <a:ext uri="{28A0092B-C50C-407E-A947-70E740481C1C}">
                  <a14:useLocalDpi xmlns:a14="http://schemas.microsoft.com/office/drawing/2010/main" val="0"/>
                </a:ext>
              </a:extLst>
            </a:blip>
            <a:stretch>
              <a:fillRect/>
            </a:stretch>
          </p:blipFill>
          <p:spPr bwMode="gray">
            <a:xfrm>
              <a:off x="3712553" y="4092515"/>
              <a:ext cx="540000" cy="442800"/>
            </a:xfrm>
            <a:prstGeom prst="rect">
              <a:avLst/>
            </a:prstGeom>
          </p:spPr>
        </p:pic>
        <p:cxnSp>
          <p:nvCxnSpPr>
            <p:cNvPr id="35" name="直接连接符 34"/>
            <p:cNvCxnSpPr>
              <a:stCxn id="34" idx="3"/>
              <a:endCxn id="42" idx="0"/>
            </p:cNvCxnSpPr>
            <p:nvPr/>
          </p:nvCxnSpPr>
          <p:spPr bwMode="gray">
            <a:xfrm>
              <a:off x="4252553" y="4313915"/>
              <a:ext cx="917837" cy="4354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矩形 35"/>
            <p:cNvSpPr/>
            <p:nvPr/>
          </p:nvSpPr>
          <p:spPr bwMode="gray">
            <a:xfrm>
              <a:off x="2933558" y="4052305"/>
              <a:ext cx="910150" cy="523220"/>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Site1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7" name="矩形 36"/>
            <p:cNvSpPr/>
            <p:nvPr/>
          </p:nvSpPr>
          <p:spPr bwMode="gray">
            <a:xfrm>
              <a:off x="3527477" y="3838562"/>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CE1</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8" name="Freeform 159"/>
            <p:cNvSpPr/>
            <p:nvPr/>
          </p:nvSpPr>
          <p:spPr bwMode="gray">
            <a:xfrm flipH="1">
              <a:off x="2794714" y="5248370"/>
              <a:ext cx="1187838" cy="64080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9" name="图片 38"/>
            <p:cNvPicPr/>
            <p:nvPr/>
          </p:nvPicPr>
          <p:blipFill>
            <a:blip r:embed="rId1" cstate="print">
              <a:extLst>
                <a:ext uri="{28A0092B-C50C-407E-A947-70E740481C1C}">
                  <a14:useLocalDpi xmlns:a14="http://schemas.microsoft.com/office/drawing/2010/main" val="0"/>
                </a:ext>
              </a:extLst>
            </a:blip>
            <a:stretch>
              <a:fillRect/>
            </a:stretch>
          </p:blipFill>
          <p:spPr bwMode="gray">
            <a:xfrm>
              <a:off x="3712553" y="5406160"/>
              <a:ext cx="540000" cy="442800"/>
            </a:xfrm>
            <a:prstGeom prst="rect">
              <a:avLst/>
            </a:prstGeom>
          </p:spPr>
        </p:pic>
        <p:sp>
          <p:nvSpPr>
            <p:cNvPr id="40" name="矩形 39"/>
            <p:cNvSpPr/>
            <p:nvPr/>
          </p:nvSpPr>
          <p:spPr bwMode="gray">
            <a:xfrm>
              <a:off x="2933558" y="5365950"/>
              <a:ext cx="910150" cy="523220"/>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Site2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1" name="矩形 40"/>
            <p:cNvSpPr/>
            <p:nvPr/>
          </p:nvSpPr>
          <p:spPr bwMode="gray">
            <a:xfrm>
              <a:off x="3527477" y="5152207"/>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CE2</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42" name="图片 41"/>
            <p:cNvPicPr/>
            <p:nvPr/>
          </p:nvPicPr>
          <p:blipFill>
            <a:blip r:embed="rId1" cstate="print">
              <a:extLst>
                <a:ext uri="{28A0092B-C50C-407E-A947-70E740481C1C}">
                  <a14:useLocalDpi xmlns:a14="http://schemas.microsoft.com/office/drawing/2010/main" val="0"/>
                </a:ext>
              </a:extLst>
            </a:blip>
            <a:stretch>
              <a:fillRect/>
            </a:stretch>
          </p:blipFill>
          <p:spPr bwMode="gray">
            <a:xfrm>
              <a:off x="4900390" y="4749338"/>
              <a:ext cx="540000" cy="442800"/>
            </a:xfrm>
            <a:prstGeom prst="rect">
              <a:avLst/>
            </a:prstGeom>
          </p:spPr>
        </p:pic>
        <p:sp>
          <p:nvSpPr>
            <p:cNvPr id="43" name="矩形 42"/>
            <p:cNvSpPr/>
            <p:nvPr/>
          </p:nvSpPr>
          <p:spPr bwMode="gray">
            <a:xfrm>
              <a:off x="5170390" y="4816849"/>
              <a:ext cx="910150"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PE</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44" name="直接连接符 43"/>
            <p:cNvCxnSpPr>
              <a:stCxn id="39" idx="3"/>
              <a:endCxn id="42" idx="2"/>
            </p:cNvCxnSpPr>
            <p:nvPr/>
          </p:nvCxnSpPr>
          <p:spPr bwMode="gray">
            <a:xfrm flipV="1">
              <a:off x="4252553" y="5192138"/>
              <a:ext cx="917837" cy="43542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矩形 44"/>
            <p:cNvSpPr/>
            <p:nvPr/>
          </p:nvSpPr>
          <p:spPr bwMode="gray">
            <a:xfrm rot="1534608">
              <a:off x="3994712" y="4284732"/>
              <a:ext cx="1562747" cy="276999"/>
            </a:xfrm>
            <a:prstGeom prst="rect">
              <a:avLst/>
            </a:prstGeom>
          </p:spPr>
          <p:txBody>
            <a:bodyPr wrap="square">
              <a:spAutoFit/>
            </a:bodyPr>
            <a:lstStyle/>
            <a:p>
              <a:pPr algn="ctr" fontAlgn="auto"/>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a:t>
              </a:r>
              <a:r>
                <a:rPr lang="en-US" altLang="zh-CN" sz="1200" b="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 </a:t>
              </a:r>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VPN1</a:t>
              </a:r>
              <a:endPar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6" name="矩形 45"/>
            <p:cNvSpPr/>
            <p:nvPr/>
          </p:nvSpPr>
          <p:spPr bwMode="gray">
            <a:xfrm rot="20073624">
              <a:off x="3997141" y="5371820"/>
              <a:ext cx="1562747" cy="276999"/>
            </a:xfrm>
            <a:prstGeom prst="rect">
              <a:avLst/>
            </a:prstGeom>
          </p:spPr>
          <p:txBody>
            <a:bodyPr wrap="square">
              <a:spAutoFit/>
            </a:bodyPr>
            <a:lstStyle/>
            <a:p>
              <a:pPr algn="ctr" fontAlgn="auto"/>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a:t>
              </a:r>
              <a:r>
                <a:rPr lang="en-US" altLang="zh-CN" sz="1200" b="1" dirty="0">
                  <a:solidFill>
                    <a:srgbClr val="C7000B"/>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200</a:t>
              </a:r>
              <a:r>
                <a:rPr lang="en-US" altLang="zh-CN" sz="1200" b="1" dirty="0">
                  <a:solidFill>
                    <a:srgbClr val="EC7061"/>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VPN2</a:t>
              </a:r>
              <a:endParaRPr lang="zh-CN" altLang="en-US" sz="12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sp>
        <p:nvSpPr>
          <p:cNvPr id="47" name="文本占位符 3"/>
          <p:cNvSpPr txBox="1"/>
          <p:nvPr/>
        </p:nvSpPr>
        <p:spPr bwMode="auto">
          <a:xfrm>
            <a:off x="468317" y="3770646"/>
            <a:ext cx="5627683" cy="2394284"/>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auto" latinLnBrk="0" hangingPunct="1">
              <a:lnSpc>
                <a:spcPct val="140000"/>
              </a:lnSpc>
              <a:spcBef>
                <a:spcPts val="790"/>
              </a:spcBef>
              <a:buClrTx/>
              <a:buFont typeface="Arial" panose="020B0604020202020204" pitchFamily="34" charset="0"/>
              <a:buChar char="•"/>
              <a:defRPr sz="2200" kern="1200">
                <a:solidFill>
                  <a:schemeClr val="tx1"/>
                </a:solidFill>
                <a:latin typeface="+mn-lt"/>
                <a:ea typeface="+mn-ea"/>
                <a:cs typeface="Arial" panose="020B0604020202020204" pitchFamily="34" charset="0"/>
              </a:defRPr>
            </a:lvl1pPr>
            <a:lvl2pPr marL="654685" indent="-252095" algn="l" defTabSz="913765" rtl="0" eaLnBrk="1" latinLnBrk="0" hangingPunct="1">
              <a:lnSpc>
                <a:spcPct val="140000"/>
              </a:lnSpc>
              <a:spcBef>
                <a:spcPts val="720"/>
              </a:spcBef>
              <a:buClrTx/>
              <a:buFont typeface="Huawei Sans" panose="020C0503030203020204" pitchFamily="34" charset="0"/>
              <a:buChar char="▫"/>
              <a:defRPr sz="2000" kern="1200">
                <a:solidFill>
                  <a:schemeClr val="tx1"/>
                </a:solidFill>
                <a:latin typeface="+mn-lt"/>
                <a:ea typeface="+mn-ea"/>
                <a:cs typeface="+mn-cs"/>
              </a:defRPr>
            </a:lvl2pPr>
            <a:lvl3pPr marL="1003935" indent="-201295" algn="l" defTabSz="913765" rtl="0" eaLnBrk="1" latinLnBrk="0" hangingPunct="1">
              <a:lnSpc>
                <a:spcPct val="140000"/>
              </a:lnSpc>
              <a:spcBef>
                <a:spcPts val="650"/>
              </a:spcBef>
              <a:buClrTx/>
              <a:buFont typeface="微软雅黑" panose="020B0503020204020204" charset="-122"/>
              <a:buChar char="▪"/>
              <a:defRPr sz="1800" kern="1200">
                <a:solidFill>
                  <a:schemeClr val="tx1"/>
                </a:solidFill>
                <a:latin typeface="+mn-lt"/>
                <a:ea typeface="+mn-ea"/>
                <a:cs typeface="+mn-cs"/>
              </a:defRPr>
            </a:lvl3pPr>
            <a:lvl4pPr marL="1399540" indent="-198120" algn="l" defTabSz="913765" rtl="0" eaLnBrk="1" latinLnBrk="0" hangingPunct="1">
              <a:lnSpc>
                <a:spcPct val="140000"/>
              </a:lnSpc>
              <a:spcBef>
                <a:spcPts val="575"/>
              </a:spcBef>
              <a:buFont typeface="Huawei Sans" panose="020C0503030203020204" pitchFamily="34" charset="0"/>
              <a:buChar char="−"/>
              <a:defRPr sz="1600" kern="1200">
                <a:solidFill>
                  <a:schemeClr val="tx1"/>
                </a:solidFill>
                <a:latin typeface="+mn-lt"/>
                <a:ea typeface="+mn-ea"/>
                <a:cs typeface="+mn-cs"/>
              </a:defRPr>
            </a:lvl4pPr>
            <a:lvl5pPr marL="1802765" indent="-201295" algn="l" defTabSz="913765" rtl="0" eaLnBrk="1" latinLnBrk="0" hangingPunct="1">
              <a:lnSpc>
                <a:spcPct val="140000"/>
              </a:lnSpc>
              <a:spcBef>
                <a:spcPts val="575"/>
              </a:spcBef>
              <a:buFont typeface="Huawei Sans" panose="020C0503030203020204" pitchFamily="34" charset="0"/>
              <a:buChar char="~"/>
              <a:defRPr sz="1400" kern="1200">
                <a:solidFill>
                  <a:schemeClr val="tx1"/>
                </a:solidFill>
                <a:latin typeface="+mn-lt"/>
                <a:ea typeface="+mn-ea"/>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t>应用场景：</a:t>
            </a:r>
            <a:endParaRPr lang="en-US" altLang="zh-CN" sz="1800" dirty="0"/>
          </a:p>
          <a:p>
            <a:pPr lvl="1"/>
            <a:r>
              <a:rPr lang="en-US" altLang="zh-CN" sz="1600" dirty="0"/>
              <a:t>IS-IS</a:t>
            </a:r>
            <a:r>
              <a:rPr lang="zh-CN" altLang="en-US" sz="1600" dirty="0"/>
              <a:t>多实例和多进程的典型应用是在</a:t>
            </a:r>
            <a:r>
              <a:rPr lang="en-US" altLang="zh-CN" sz="1600" dirty="0"/>
              <a:t>VPN</a:t>
            </a:r>
            <a:r>
              <a:rPr lang="zh-CN" altLang="en-US" sz="1600" dirty="0"/>
              <a:t>场景。</a:t>
            </a:r>
            <a:endParaRPr lang="en-US" altLang="zh-CN" sz="1600" dirty="0"/>
          </a:p>
          <a:p>
            <a:pPr lvl="1"/>
            <a:r>
              <a:rPr lang="zh-CN" altLang="en-US" sz="1600" dirty="0"/>
              <a:t>如图，同一台</a:t>
            </a:r>
            <a:r>
              <a:rPr lang="en-US" altLang="zh-CN" sz="1600" dirty="0"/>
              <a:t>PE</a:t>
            </a:r>
            <a:r>
              <a:rPr lang="zh-CN" altLang="en-US" sz="1600" dirty="0"/>
              <a:t>设备连接了两个不同的</a:t>
            </a:r>
            <a:r>
              <a:rPr lang="en-US" altLang="zh-CN" sz="1600" dirty="0"/>
              <a:t>VPN</a:t>
            </a:r>
            <a:r>
              <a:rPr lang="zh-CN" altLang="en-US" sz="1600" dirty="0"/>
              <a:t>客户，并且</a:t>
            </a:r>
            <a:r>
              <a:rPr lang="en-US" altLang="zh-CN" sz="1600" dirty="0"/>
              <a:t>PE</a:t>
            </a:r>
            <a:r>
              <a:rPr lang="zh-CN" altLang="en-US" sz="1600" dirty="0"/>
              <a:t>和</a:t>
            </a:r>
            <a:r>
              <a:rPr lang="en-US" altLang="zh-CN" sz="1600" dirty="0"/>
              <a:t>CE</a:t>
            </a:r>
            <a:r>
              <a:rPr lang="zh-CN" altLang="en-US" sz="1600" dirty="0"/>
              <a:t>之间均部署</a:t>
            </a:r>
            <a:r>
              <a:rPr lang="en-US" altLang="zh-CN" sz="1600" dirty="0"/>
              <a:t>IS-IS</a:t>
            </a:r>
            <a:r>
              <a:rPr lang="zh-CN" altLang="en-US" sz="1600" dirty="0"/>
              <a:t>，因此可以通过在</a:t>
            </a:r>
            <a:r>
              <a:rPr lang="en-US" altLang="zh-CN" sz="1600" dirty="0"/>
              <a:t>PE</a:t>
            </a:r>
            <a:r>
              <a:rPr lang="zh-CN" altLang="en-US" sz="1600" dirty="0"/>
              <a:t>设备上部署多进程实现</a:t>
            </a:r>
            <a:r>
              <a:rPr lang="en-US" altLang="zh-CN" sz="1600" dirty="0"/>
              <a:t>VPN</a:t>
            </a:r>
            <a:r>
              <a:rPr lang="zh-CN" altLang="en-US" sz="1600" dirty="0"/>
              <a:t>客户之间的隔离。</a:t>
            </a:r>
            <a:endParaRPr lang="zh-CN" altLang="en-US" sz="1600" dirty="0"/>
          </a:p>
        </p:txBody>
      </p:sp>
      <p:sp>
        <p:nvSpPr>
          <p:cNvPr id="48" name="圆角矩形标注 47"/>
          <p:cNvSpPr/>
          <p:nvPr/>
        </p:nvSpPr>
        <p:spPr bwMode="gray">
          <a:xfrm>
            <a:off x="8522956" y="3311017"/>
            <a:ext cx="3024888" cy="1177362"/>
          </a:xfrm>
          <a:prstGeom prst="wedgeRoundRectCallout">
            <a:avLst>
              <a:gd name="adj1" fmla="val -41270"/>
              <a:gd name="adj2" fmla="val 76720"/>
              <a:gd name="adj3" fmla="val 16667"/>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en-US" altLang="zh-CN" sz="1400" dirty="0">
                <a:solidFill>
                  <a:schemeClr val="tx1"/>
                </a:solidFill>
              </a:rPr>
              <a:t>[PE] </a:t>
            </a:r>
            <a:r>
              <a:rPr lang="en-US" altLang="zh-CN" sz="1400" b="1" dirty="0">
                <a:solidFill>
                  <a:schemeClr val="tx1"/>
                </a:solidFill>
              </a:rPr>
              <a:t>isis</a:t>
            </a:r>
            <a:r>
              <a:rPr lang="en-US" altLang="zh-CN" sz="1400" dirty="0">
                <a:solidFill>
                  <a:schemeClr val="tx1"/>
                </a:solidFill>
              </a:rPr>
              <a:t> 100 </a:t>
            </a:r>
            <a:r>
              <a:rPr lang="en-US" altLang="zh-CN" sz="1400" b="1" dirty="0" err="1">
                <a:solidFill>
                  <a:schemeClr val="tx1"/>
                </a:solidFill>
              </a:rPr>
              <a:t>vpn</a:t>
            </a:r>
            <a:r>
              <a:rPr lang="en-US" altLang="zh-CN" sz="1400" b="1" dirty="0">
                <a:solidFill>
                  <a:schemeClr val="tx1"/>
                </a:solidFill>
              </a:rPr>
              <a:t>-instance</a:t>
            </a:r>
            <a:r>
              <a:rPr lang="en-US" altLang="zh-CN" sz="1400" dirty="0">
                <a:solidFill>
                  <a:schemeClr val="tx1"/>
                </a:solidFill>
              </a:rPr>
              <a:t> VPN1</a:t>
            </a:r>
            <a:endParaRPr lang="en-US" altLang="zh-CN" sz="1400" dirty="0">
              <a:solidFill>
                <a:schemeClr val="tx1"/>
              </a:solidFill>
            </a:endParaRPr>
          </a:p>
          <a:p>
            <a:pPr>
              <a:lnSpc>
                <a:spcPct val="125000"/>
              </a:lnSpc>
            </a:pPr>
            <a:r>
              <a:rPr lang="en-US" altLang="zh-CN" sz="1400" dirty="0">
                <a:solidFill>
                  <a:schemeClr val="tx1"/>
                </a:solidFill>
              </a:rPr>
              <a:t>[PE-isis-100] quit</a:t>
            </a:r>
            <a:endParaRPr lang="en-US" altLang="zh-CN" sz="1400" dirty="0">
              <a:solidFill>
                <a:schemeClr val="tx1"/>
              </a:solidFill>
            </a:endParaRPr>
          </a:p>
          <a:p>
            <a:pPr>
              <a:lnSpc>
                <a:spcPct val="125000"/>
              </a:lnSpc>
            </a:pPr>
            <a:r>
              <a:rPr lang="en-US" altLang="zh-CN" sz="1400" dirty="0">
                <a:solidFill>
                  <a:schemeClr val="tx1"/>
                </a:solidFill>
              </a:rPr>
              <a:t>[PE] </a:t>
            </a:r>
            <a:r>
              <a:rPr lang="en-US" altLang="zh-CN" sz="1400" b="1" dirty="0">
                <a:solidFill>
                  <a:schemeClr val="tx1"/>
                </a:solidFill>
              </a:rPr>
              <a:t>isis</a:t>
            </a:r>
            <a:r>
              <a:rPr lang="en-US" altLang="zh-CN" sz="1400" dirty="0">
                <a:solidFill>
                  <a:schemeClr val="tx1"/>
                </a:solidFill>
              </a:rPr>
              <a:t> 200 </a:t>
            </a:r>
            <a:r>
              <a:rPr lang="en-US" altLang="zh-CN" sz="1400" b="1" dirty="0" err="1">
                <a:solidFill>
                  <a:schemeClr val="tx1"/>
                </a:solidFill>
              </a:rPr>
              <a:t>vpn</a:t>
            </a:r>
            <a:r>
              <a:rPr lang="en-US" altLang="zh-CN" sz="1400" b="1" dirty="0">
                <a:solidFill>
                  <a:schemeClr val="tx1"/>
                </a:solidFill>
              </a:rPr>
              <a:t>-instance</a:t>
            </a:r>
            <a:r>
              <a:rPr lang="en-US" altLang="zh-CN" sz="1400" dirty="0">
                <a:solidFill>
                  <a:schemeClr val="tx1"/>
                </a:solidFill>
              </a:rPr>
              <a:t> VPN2</a:t>
            </a:r>
            <a:endParaRPr lang="en-US" altLang="zh-CN" sz="1400" dirty="0">
              <a:solidFill>
                <a:schemeClr val="tx1"/>
              </a:solidFill>
            </a:endParaRPr>
          </a:p>
          <a:p>
            <a:pPr>
              <a:lnSpc>
                <a:spcPct val="125000"/>
              </a:lnSpc>
            </a:pPr>
            <a:r>
              <a:rPr lang="en-US" altLang="zh-CN" sz="1400" dirty="0">
                <a:solidFill>
                  <a:schemeClr val="tx1"/>
                </a:solidFill>
              </a:rPr>
              <a:t>[PE-isis-200] quit</a:t>
            </a:r>
            <a:endParaRPr lang="zh-CN" altLang="en-US" sz="1400" dirty="0">
              <a:solidFill>
                <a:schemeClr val="tx1"/>
              </a:solidFill>
            </a:endParaRPr>
          </a:p>
        </p:txBody>
      </p:sp>
      <p:sp>
        <p:nvSpPr>
          <p:cNvPr id="27" name="五边形 26"/>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燕尾形 27"/>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燕尾形 28"/>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sz="2000" dirty="0"/>
              <a:t>当</a:t>
            </a:r>
            <a:r>
              <a:rPr lang="en-US" altLang="zh-CN" sz="2000" dirty="0"/>
              <a:t>IS-IS</a:t>
            </a:r>
            <a:r>
              <a:rPr lang="zh-CN" altLang="en-US" sz="2000" dirty="0"/>
              <a:t>要发布的</a:t>
            </a:r>
            <a:r>
              <a:rPr lang="en-US" altLang="zh-CN" sz="2000" dirty="0"/>
              <a:t>PDU</a:t>
            </a:r>
            <a:r>
              <a:rPr lang="zh-CN" altLang="en-US" sz="2000" dirty="0"/>
              <a:t>中信息量太大时，</a:t>
            </a:r>
            <a:r>
              <a:rPr lang="en-US" altLang="zh-CN" sz="2000" dirty="0"/>
              <a:t>IS-IS</a:t>
            </a:r>
            <a:r>
              <a:rPr lang="zh-CN" altLang="en-US" sz="2000" dirty="0"/>
              <a:t>路由器将会生成多个</a:t>
            </a:r>
            <a:r>
              <a:rPr lang="en-US" altLang="zh-CN" sz="2000" dirty="0"/>
              <a:t>LSP</a:t>
            </a:r>
            <a:r>
              <a:rPr lang="zh-CN" altLang="en-US" sz="2000" dirty="0"/>
              <a:t>分片，用来携带更多的</a:t>
            </a:r>
            <a:r>
              <a:rPr lang="en-US" altLang="zh-CN" sz="2000" dirty="0"/>
              <a:t>IS-IS</a:t>
            </a:r>
            <a:r>
              <a:rPr lang="zh-CN" altLang="en-US" sz="2000" dirty="0"/>
              <a:t>信息。</a:t>
            </a:r>
            <a:endParaRPr lang="zh-CN" altLang="en-US" sz="2000" dirty="0"/>
          </a:p>
          <a:p>
            <a:r>
              <a:rPr lang="en-US" altLang="zh-CN" sz="2000" dirty="0"/>
              <a:t>LSP</a:t>
            </a:r>
            <a:r>
              <a:rPr lang="zh-CN" altLang="en-US" sz="2000" dirty="0"/>
              <a:t>的报文格式为：</a:t>
            </a:r>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dirty="0"/>
              <a:t>IS-IS LSP</a:t>
            </a:r>
            <a:r>
              <a:rPr lang="zh-CN" altLang="en-US" sz="2000" dirty="0"/>
              <a:t>分片由</a:t>
            </a:r>
            <a:r>
              <a:rPr lang="en-US" altLang="zh-CN" sz="2000" dirty="0"/>
              <a:t>LSP ID</a:t>
            </a:r>
            <a:r>
              <a:rPr lang="zh-CN" altLang="en-US" sz="2000" dirty="0"/>
              <a:t>中的分片号（</a:t>
            </a:r>
            <a:r>
              <a:rPr lang="en-US" altLang="zh-CN" sz="2000" dirty="0"/>
              <a:t>LSP Number</a:t>
            </a:r>
            <a:r>
              <a:rPr lang="zh-CN" altLang="en-US" sz="2000" dirty="0"/>
              <a:t>）字段进行标识，这个字段的长度是</a:t>
            </a:r>
            <a:r>
              <a:rPr lang="en-US" altLang="zh-CN" sz="2000" dirty="0"/>
              <a:t>1 Byte</a:t>
            </a:r>
            <a:r>
              <a:rPr lang="zh-CN" altLang="en-US" sz="2000" dirty="0"/>
              <a:t>。因此，一个</a:t>
            </a:r>
            <a:r>
              <a:rPr lang="en-US" altLang="zh-CN" sz="2000" dirty="0"/>
              <a:t>IS-IS</a:t>
            </a:r>
            <a:r>
              <a:rPr lang="zh-CN" altLang="en-US" sz="2000" dirty="0"/>
              <a:t>进程最多可产生</a:t>
            </a:r>
            <a:r>
              <a:rPr lang="en-US" altLang="zh-CN" sz="2000" dirty="0"/>
              <a:t>256</a:t>
            </a:r>
            <a:r>
              <a:rPr lang="zh-CN" altLang="en-US" sz="2000" dirty="0"/>
              <a:t>个</a:t>
            </a:r>
            <a:r>
              <a:rPr lang="en-US" altLang="zh-CN" sz="2000" dirty="0"/>
              <a:t>LSP</a:t>
            </a:r>
            <a:r>
              <a:rPr lang="zh-CN" altLang="en-US" sz="2000" dirty="0"/>
              <a:t>分片，携带的信息量有限。</a:t>
            </a:r>
            <a:endParaRPr lang="zh-CN" altLang="en-US" sz="2000" dirty="0"/>
          </a:p>
        </p:txBody>
      </p:sp>
      <p:sp>
        <p:nvSpPr>
          <p:cNvPr id="2" name="标题 1"/>
          <p:cNvSpPr>
            <a:spLocks noGrp="1"/>
          </p:cNvSpPr>
          <p:nvPr>
            <p:ph type="title"/>
          </p:nvPr>
        </p:nvSpPr>
        <p:spPr/>
        <p:txBody>
          <a:bodyPr/>
          <a:lstStyle/>
          <a:p>
            <a:r>
              <a:rPr lang="en-US" altLang="zh-CN"/>
              <a:t>LSP</a:t>
            </a:r>
            <a:r>
              <a:rPr lang="zh-CN" altLang="en-US"/>
              <a:t>分片</a:t>
            </a:r>
            <a:endParaRPr lang="zh-CN" altLang="en-US" dirty="0"/>
          </a:p>
        </p:txBody>
      </p:sp>
      <p:graphicFrame>
        <p:nvGraphicFramePr>
          <p:cNvPr id="4" name="表格 3"/>
          <p:cNvGraphicFramePr>
            <a:graphicFrameLocks noGrp="1"/>
          </p:cNvGraphicFramePr>
          <p:nvPr/>
        </p:nvGraphicFramePr>
        <p:xfrm>
          <a:off x="874721" y="2720912"/>
          <a:ext cx="3600000" cy="918000"/>
        </p:xfrm>
        <a:graphic>
          <a:graphicData uri="http://schemas.openxmlformats.org/drawingml/2006/table">
            <a:tbl>
              <a:tblPr firstRow="1" bandRow="1"/>
              <a:tblGrid>
                <a:gridCol w="3600000"/>
              </a:tblGrid>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PDU</a:t>
                      </a:r>
                      <a:r>
                        <a:rPr kumimoji="0" lang="zh-CN" altLang="en-US" sz="1400" b="0" i="0" u="none" strike="noStrike" kern="1200" cap="none" normalizeH="0" baseline="0" dirty="0">
                          <a:ln>
                            <a:noFill/>
                          </a:ln>
                          <a:solidFill>
                            <a:schemeClr val="tx1"/>
                          </a:solidFill>
                          <a:effectLst/>
                          <a:latin typeface="+mn-lt"/>
                          <a:ea typeface="+mn-ea"/>
                          <a:cs typeface="+mn-cs"/>
                        </a:rPr>
                        <a:t> </a:t>
                      </a:r>
                      <a:r>
                        <a:rPr kumimoji="0" lang="en-US" altLang="zh-CN" sz="1400" b="0" i="0" u="none" strike="noStrike" kern="1200" cap="none" normalizeH="0" baseline="0" dirty="0">
                          <a:ln>
                            <a:noFill/>
                          </a:ln>
                          <a:solidFill>
                            <a:schemeClr val="tx1"/>
                          </a:solidFill>
                          <a:effectLst/>
                          <a:latin typeface="+mn-lt"/>
                          <a:ea typeface="+mn-ea"/>
                          <a:cs typeface="+mn-cs"/>
                        </a:rPr>
                        <a:t>Common Header</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no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rgbClr val="C7000B"/>
                          </a:solidFill>
                          <a:effectLst/>
                          <a:latin typeface="+mn-lt"/>
                          <a:ea typeface="+mn-ea"/>
                          <a:cs typeface="+mn-cs"/>
                        </a:rPr>
                        <a:t>PDU Specific Header</a:t>
                      </a:r>
                      <a:endParaRPr kumimoji="0" lang="en-US" altLang="zh-CN" sz="1400" b="0" i="0" u="none" strike="noStrike" kern="1200" cap="none" normalizeH="0" baseline="0" dirty="0">
                        <a:ln>
                          <a:noFill/>
                        </a:ln>
                        <a:solidFill>
                          <a:srgbClr val="C7000B"/>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Variable Length Fields</a:t>
                      </a:r>
                      <a:r>
                        <a:rPr kumimoji="0" lang="zh-CN" altLang="en-US" sz="1400" b="0" i="0" u="none" strike="noStrike" kern="1200" cap="none" normalizeH="0" baseline="0" dirty="0">
                          <a:ln>
                            <a:noFill/>
                          </a:ln>
                          <a:solidFill>
                            <a:schemeClr val="tx1"/>
                          </a:solidFill>
                          <a:effectLst/>
                          <a:latin typeface="+mn-lt"/>
                          <a:ea typeface="+mn-ea"/>
                          <a:cs typeface="+mn-cs"/>
                        </a:rPr>
                        <a:t>（</a:t>
                      </a:r>
                      <a:r>
                        <a:rPr kumimoji="0" lang="en-US" altLang="zh-CN" sz="1400" b="0" i="0" u="none" strike="noStrike" kern="1200" cap="none" normalizeH="0" baseline="0" dirty="0">
                          <a:ln>
                            <a:noFill/>
                          </a:ln>
                          <a:solidFill>
                            <a:schemeClr val="tx1"/>
                          </a:solidFill>
                          <a:effectLst/>
                          <a:latin typeface="+mn-lt"/>
                          <a:ea typeface="+mn-ea"/>
                          <a:cs typeface="+mn-cs"/>
                        </a:rPr>
                        <a:t>TLV</a:t>
                      </a:r>
                      <a:r>
                        <a:rPr kumimoji="0" lang="zh-CN" altLang="en-US" sz="1400" b="0" i="0" u="none" strike="noStrike" kern="1200" cap="none" normalizeH="0" baseline="0" dirty="0">
                          <a:ln>
                            <a:noFill/>
                          </a:ln>
                          <a:solidFill>
                            <a:schemeClr val="tx1"/>
                          </a:solidFill>
                          <a:effectLst/>
                          <a:latin typeface="+mn-lt"/>
                          <a:ea typeface="+mn-ea"/>
                          <a:cs typeface="+mn-cs"/>
                        </a:rPr>
                        <a:t>）</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bl>
          </a:graphicData>
        </a:graphic>
      </p:graphicFrame>
      <p:graphicFrame>
        <p:nvGraphicFramePr>
          <p:cNvPr id="5" name="表格 4"/>
          <p:cNvGraphicFramePr>
            <a:graphicFrameLocks noGrp="1"/>
          </p:cNvGraphicFramePr>
          <p:nvPr/>
        </p:nvGraphicFramePr>
        <p:xfrm>
          <a:off x="4942748" y="2720912"/>
          <a:ext cx="3600000" cy="1836000"/>
        </p:xfrm>
        <a:graphic>
          <a:graphicData uri="http://schemas.openxmlformats.org/drawingml/2006/table">
            <a:tbl>
              <a:tblPr firstRow="1" bandRow="1"/>
              <a:tblGrid>
                <a:gridCol w="450000"/>
                <a:gridCol w="1800000"/>
                <a:gridCol w="450000"/>
                <a:gridCol w="900000"/>
              </a:tblGrid>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PDU Length</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Remaining Lifetime</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rgbClr val="C7000B"/>
                          </a:solidFill>
                          <a:effectLst/>
                          <a:latin typeface="+mn-lt"/>
                          <a:ea typeface="+mn-ea"/>
                          <a:cs typeface="+mn-cs"/>
                        </a:rPr>
                        <a:t>LSP ID</a:t>
                      </a:r>
                      <a:endParaRPr kumimoji="0" lang="en-US" altLang="zh-CN" sz="1400" b="0" i="0" u="none" strike="noStrike" kern="1200" cap="none" normalizeH="0" baseline="0" dirty="0">
                        <a:ln>
                          <a:noFill/>
                        </a:ln>
                        <a:solidFill>
                          <a:srgbClr val="C7000B"/>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Sequence Number</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gridSpan="4">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Checksum</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hMerge="1">
                  <a:tcPr/>
                </a:tc>
                <a:tc hMerge="1">
                  <a:tcPr/>
                </a:tc>
                <a:tc hMerge="1">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P</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ATT</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OL</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en-US" altLang="zh-CN" sz="1400" b="0" i="0" u="none" strike="noStrike" kern="1200" cap="none" normalizeH="0" baseline="0" dirty="0">
                          <a:ln>
                            <a:noFill/>
                          </a:ln>
                          <a:solidFill>
                            <a:schemeClr val="tx1"/>
                          </a:solidFill>
                          <a:effectLst/>
                          <a:latin typeface="+mn-lt"/>
                          <a:ea typeface="+mn-ea"/>
                          <a:cs typeface="+mn-cs"/>
                        </a:rPr>
                        <a:t>IS Type</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bl>
          </a:graphicData>
        </a:graphic>
      </p:graphicFrame>
      <p:graphicFrame>
        <p:nvGraphicFramePr>
          <p:cNvPr id="9" name="表格 8"/>
          <p:cNvGraphicFramePr>
            <a:graphicFrameLocks noGrp="1"/>
          </p:cNvGraphicFramePr>
          <p:nvPr/>
        </p:nvGraphicFramePr>
        <p:xfrm>
          <a:off x="9010775" y="2720912"/>
          <a:ext cx="2160000" cy="918000"/>
        </p:xfrm>
        <a:graphic>
          <a:graphicData uri="http://schemas.openxmlformats.org/drawingml/2006/table">
            <a:tbl>
              <a:tblPr firstRow="1" bandRow="1"/>
              <a:tblGrid>
                <a:gridCol w="2160000"/>
              </a:tblGrid>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zh-CN" altLang="en-US" sz="1400" b="0" i="0" u="none" strike="noStrike" kern="1200" cap="none" normalizeH="0" baseline="0" dirty="0">
                          <a:ln>
                            <a:noFill/>
                          </a:ln>
                          <a:solidFill>
                            <a:schemeClr val="tx1"/>
                          </a:solidFill>
                          <a:effectLst/>
                          <a:latin typeface="+mn-lt"/>
                          <a:ea typeface="+mn-ea"/>
                          <a:cs typeface="+mn-cs"/>
                        </a:rPr>
                        <a:t>系统</a:t>
                      </a:r>
                      <a:r>
                        <a:rPr kumimoji="0" lang="en-US" altLang="zh-CN" sz="1400" b="0" i="0" u="none" strike="noStrike" kern="1200" cap="none" normalizeH="0" baseline="0" dirty="0">
                          <a:ln>
                            <a:noFill/>
                          </a:ln>
                          <a:solidFill>
                            <a:schemeClr val="tx1"/>
                          </a:solidFill>
                          <a:effectLst/>
                          <a:latin typeface="+mn-lt"/>
                          <a:ea typeface="+mn-ea"/>
                          <a:cs typeface="+mn-cs"/>
                        </a:rPr>
                        <a:t>ID</a:t>
                      </a:r>
                      <a:r>
                        <a:rPr kumimoji="0" lang="zh-CN" altLang="en-US" sz="1400" b="0" i="0" u="none" strike="noStrike" kern="1200" cap="none" normalizeH="0" baseline="0" dirty="0">
                          <a:ln>
                            <a:noFill/>
                          </a:ln>
                          <a:solidFill>
                            <a:schemeClr val="tx1"/>
                          </a:solidFill>
                          <a:effectLst/>
                          <a:latin typeface="+mn-lt"/>
                          <a:ea typeface="+mn-ea"/>
                          <a:cs typeface="+mn-cs"/>
                        </a:rPr>
                        <a:t>（</a:t>
                      </a:r>
                      <a:r>
                        <a:rPr kumimoji="0" lang="en-US" altLang="zh-CN" sz="1400" b="0" i="0" u="none" strike="noStrike" kern="1200" cap="none" normalizeH="0" baseline="0" dirty="0">
                          <a:ln>
                            <a:noFill/>
                          </a:ln>
                          <a:solidFill>
                            <a:schemeClr val="tx1"/>
                          </a:solidFill>
                          <a:effectLst/>
                          <a:latin typeface="+mn-lt"/>
                          <a:ea typeface="+mn-ea"/>
                          <a:cs typeface="+mn-cs"/>
                        </a:rPr>
                        <a:t>6 Byte</a:t>
                      </a:r>
                      <a:r>
                        <a:rPr kumimoji="0" lang="zh-CN" altLang="en-US" sz="1400" b="0" i="0" u="none" strike="noStrike" kern="1200" cap="none" normalizeH="0" baseline="0" dirty="0">
                          <a:ln>
                            <a:noFill/>
                          </a:ln>
                          <a:solidFill>
                            <a:schemeClr val="tx1"/>
                          </a:solidFill>
                          <a:effectLst/>
                          <a:latin typeface="+mn-lt"/>
                          <a:ea typeface="+mn-ea"/>
                          <a:cs typeface="+mn-cs"/>
                        </a:rPr>
                        <a:t>）</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zh-CN" altLang="en-US" sz="1400" b="0" i="0" u="none" strike="noStrike" kern="1200" cap="none" normalizeH="0" baseline="0" dirty="0">
                          <a:ln>
                            <a:noFill/>
                          </a:ln>
                          <a:solidFill>
                            <a:schemeClr val="tx1"/>
                          </a:solidFill>
                          <a:effectLst/>
                          <a:latin typeface="+mn-lt"/>
                          <a:ea typeface="+mn-ea"/>
                          <a:cs typeface="+mn-cs"/>
                        </a:rPr>
                        <a:t>伪节点</a:t>
                      </a:r>
                      <a:r>
                        <a:rPr kumimoji="0" lang="en-US" altLang="zh-CN" sz="1400" b="0" i="0" u="none" strike="noStrike" kern="1200" cap="none" normalizeH="0" baseline="0" dirty="0">
                          <a:ln>
                            <a:noFill/>
                          </a:ln>
                          <a:solidFill>
                            <a:schemeClr val="tx1"/>
                          </a:solidFill>
                          <a:effectLst/>
                          <a:latin typeface="+mn-lt"/>
                          <a:ea typeface="+mn-ea"/>
                          <a:cs typeface="+mn-cs"/>
                        </a:rPr>
                        <a:t>ID</a:t>
                      </a:r>
                      <a:r>
                        <a:rPr kumimoji="0" lang="zh-CN" altLang="en-US" sz="1400" b="0" i="0" u="none" strike="noStrike" kern="1200" cap="none" normalizeH="0" baseline="0" dirty="0">
                          <a:ln>
                            <a:noFill/>
                          </a:ln>
                          <a:solidFill>
                            <a:schemeClr val="tx1"/>
                          </a:solidFill>
                          <a:effectLst/>
                          <a:latin typeface="+mn-lt"/>
                          <a:ea typeface="+mn-ea"/>
                          <a:cs typeface="+mn-cs"/>
                        </a:rPr>
                        <a:t>（</a:t>
                      </a:r>
                      <a:r>
                        <a:rPr kumimoji="0" lang="en-US" altLang="zh-CN" sz="1400" b="0" i="0" u="none" strike="noStrike" kern="1200" cap="none" normalizeH="0" baseline="0" dirty="0">
                          <a:ln>
                            <a:noFill/>
                          </a:ln>
                          <a:solidFill>
                            <a:schemeClr val="tx1"/>
                          </a:solidFill>
                          <a:effectLst/>
                          <a:latin typeface="+mn-lt"/>
                          <a:ea typeface="+mn-ea"/>
                          <a:cs typeface="+mn-cs"/>
                        </a:rPr>
                        <a:t>1 Byte</a:t>
                      </a:r>
                      <a:r>
                        <a:rPr kumimoji="0" lang="zh-CN" altLang="en-US" sz="1400" b="0" i="0" u="none" strike="noStrike" kern="1200" cap="none" normalizeH="0" baseline="0" dirty="0">
                          <a:ln>
                            <a:noFill/>
                          </a:ln>
                          <a:solidFill>
                            <a:schemeClr val="tx1"/>
                          </a:solidFill>
                          <a:effectLst/>
                          <a:latin typeface="+mn-lt"/>
                          <a:ea typeface="+mn-ea"/>
                          <a:cs typeface="+mn-cs"/>
                        </a:rPr>
                        <a:t>）</a:t>
                      </a:r>
                      <a:endParaRPr kumimoji="0" lang="en-US" altLang="zh-CN"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defRPr/>
                      </a:pPr>
                      <a:r>
                        <a:rPr kumimoji="0" lang="zh-CN" altLang="en-US" sz="1400" b="0" i="0" u="none" strike="noStrike" kern="1200" cap="none" normalizeH="0" baseline="0" dirty="0">
                          <a:ln>
                            <a:noFill/>
                          </a:ln>
                          <a:solidFill>
                            <a:srgbClr val="C7000B"/>
                          </a:solidFill>
                          <a:effectLst/>
                          <a:latin typeface="+mn-lt"/>
                          <a:ea typeface="+mn-ea"/>
                          <a:cs typeface="+mn-cs"/>
                        </a:rPr>
                        <a:t>分片号（</a:t>
                      </a:r>
                      <a:r>
                        <a:rPr kumimoji="0" lang="en-US" altLang="zh-CN" sz="1400" b="0" i="0" u="none" strike="noStrike" kern="1200" cap="none" normalizeH="0" baseline="0" dirty="0">
                          <a:ln>
                            <a:noFill/>
                          </a:ln>
                          <a:solidFill>
                            <a:srgbClr val="C7000B"/>
                          </a:solidFill>
                          <a:effectLst/>
                          <a:latin typeface="+mn-lt"/>
                          <a:ea typeface="+mn-ea"/>
                          <a:cs typeface="+mn-cs"/>
                        </a:rPr>
                        <a:t>1 Byte</a:t>
                      </a:r>
                      <a:r>
                        <a:rPr kumimoji="0" lang="zh-CN" altLang="en-US" sz="1400" b="0" i="0" u="none" strike="noStrike" kern="1200" cap="none" normalizeH="0" baseline="0" dirty="0">
                          <a:ln>
                            <a:noFill/>
                          </a:ln>
                          <a:solidFill>
                            <a:srgbClr val="C7000B"/>
                          </a:solidFill>
                          <a:effectLst/>
                          <a:latin typeface="+mn-lt"/>
                          <a:ea typeface="+mn-ea"/>
                          <a:cs typeface="+mn-cs"/>
                        </a:rPr>
                        <a:t>）</a:t>
                      </a:r>
                      <a:endParaRPr kumimoji="0" lang="en-US" altLang="zh-CN" sz="1400" b="0" i="0" u="none" strike="noStrike" kern="1200" cap="none" normalizeH="0" baseline="0" dirty="0">
                        <a:ln>
                          <a:noFill/>
                        </a:ln>
                        <a:solidFill>
                          <a:srgbClr val="C7000B"/>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bl>
          </a:graphicData>
        </a:graphic>
      </p:graphicFrame>
      <p:sp>
        <p:nvSpPr>
          <p:cNvPr id="10" name="Right Arrow 157"/>
          <p:cNvSpPr/>
          <p:nvPr/>
        </p:nvSpPr>
        <p:spPr bwMode="gray">
          <a:xfrm>
            <a:off x="4490767" y="3001791"/>
            <a:ext cx="435933"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94DAE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Right Arrow 157"/>
          <p:cNvSpPr/>
          <p:nvPr/>
        </p:nvSpPr>
        <p:spPr bwMode="gray">
          <a:xfrm>
            <a:off x="8621486" y="3282670"/>
            <a:ext cx="373242" cy="356242"/>
          </a:xfrm>
          <a:prstGeom prst="rightArrow">
            <a:avLst>
              <a:gd name="adj1" fmla="val 40000"/>
              <a:gd name="adj2" fmla="val 50000"/>
            </a:avLst>
          </a:prstGeom>
          <a:gradFill flip="none" rotWithShape="1">
            <a:gsLst>
              <a:gs pos="15000">
                <a:schemeClr val="accent1">
                  <a:lumMod val="5000"/>
                  <a:lumOff val="95000"/>
                  <a:alpha val="0"/>
                </a:schemeClr>
              </a:gs>
              <a:gs pos="81000">
                <a:srgbClr val="BEE9EE"/>
              </a:gs>
            </a:gsLst>
            <a:lin ang="0" scaled="1"/>
            <a:tileRect/>
          </a:gradFill>
          <a:ln w="15875">
            <a:gradFill flip="none" rotWithShape="1">
              <a:gsLst>
                <a:gs pos="0">
                  <a:schemeClr val="accent1">
                    <a:lumMod val="5000"/>
                    <a:lumOff val="95000"/>
                  </a:schemeClr>
                </a:gs>
                <a:gs pos="100000">
                  <a:srgbClr val="94DAE2"/>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五边形 14"/>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LSP</a:t>
            </a:r>
            <a:r>
              <a:rPr lang="zh-CN" altLang="en-US"/>
              <a:t>分片扩展基本概念</a:t>
            </a:r>
            <a:endParaRPr lang="zh-CN" altLang="en-US" dirty="0"/>
          </a:p>
        </p:txBody>
      </p:sp>
      <p:sp>
        <p:nvSpPr>
          <p:cNvPr id="3" name="文本占位符 2"/>
          <p:cNvSpPr>
            <a:spLocks noGrp="1"/>
          </p:cNvSpPr>
          <p:nvPr>
            <p:ph type="body" sz="quarter" idx="10"/>
          </p:nvPr>
        </p:nvSpPr>
        <p:spPr>
          <a:xfrm>
            <a:off x="455612" y="1047750"/>
            <a:ext cx="11293475" cy="5153025"/>
          </a:xfrm>
        </p:spPr>
        <p:txBody>
          <a:bodyPr/>
          <a:lstStyle/>
          <a:p>
            <a:r>
              <a:rPr lang="en-US" altLang="zh-CN" sz="1800" dirty="0"/>
              <a:t>IS-IS</a:t>
            </a:r>
            <a:r>
              <a:rPr lang="zh-CN" altLang="en-US" sz="1800" dirty="0"/>
              <a:t>可以配置虚拟的系统</a:t>
            </a:r>
            <a:r>
              <a:rPr lang="en-US" altLang="zh-CN" sz="1800" dirty="0"/>
              <a:t>ID </a:t>
            </a:r>
            <a:r>
              <a:rPr lang="zh-CN" altLang="en-US" sz="1800" dirty="0"/>
              <a:t>，并生成虚拟</a:t>
            </a:r>
            <a:r>
              <a:rPr lang="en-US" altLang="zh-CN" sz="1800" dirty="0"/>
              <a:t>IS-IS</a:t>
            </a:r>
            <a:r>
              <a:rPr lang="zh-CN" altLang="en-US" sz="1800" dirty="0"/>
              <a:t>的</a:t>
            </a:r>
            <a:r>
              <a:rPr lang="en-US" altLang="zh-CN" sz="1800" dirty="0"/>
              <a:t>LSP</a:t>
            </a:r>
            <a:r>
              <a:rPr lang="zh-CN" altLang="en-US" sz="1800" dirty="0"/>
              <a:t>报文来携带路由等信息。</a:t>
            </a:r>
            <a:endParaRPr lang="en-US" altLang="zh-CN" sz="1800" dirty="0"/>
          </a:p>
          <a:p>
            <a:pPr lvl="1"/>
            <a:r>
              <a:rPr lang="zh-CN" altLang="en-US" sz="1600" dirty="0"/>
              <a:t>初始系统（</a:t>
            </a:r>
            <a:r>
              <a:rPr lang="en-US" altLang="zh-CN" sz="1600" dirty="0"/>
              <a:t>Originating System</a:t>
            </a:r>
            <a:r>
              <a:rPr lang="zh-CN" altLang="en-US" sz="1600" dirty="0"/>
              <a:t>）：初始系统是实际运行</a:t>
            </a:r>
            <a:r>
              <a:rPr lang="en-US" altLang="zh-CN" sz="1600" dirty="0"/>
              <a:t>IS-IS</a:t>
            </a:r>
            <a:r>
              <a:rPr lang="zh-CN" altLang="en-US" sz="1600" dirty="0"/>
              <a:t>的路由器。允许一个单独的</a:t>
            </a:r>
            <a:r>
              <a:rPr lang="en-US" altLang="zh-CN" sz="1600" dirty="0"/>
              <a:t>IS-IS</a:t>
            </a:r>
            <a:r>
              <a:rPr lang="zh-CN" altLang="en-US" sz="1600" dirty="0"/>
              <a:t>进程像多个虚拟路由器一样发布</a:t>
            </a:r>
            <a:r>
              <a:rPr lang="en-US" altLang="zh-CN" sz="1600" dirty="0"/>
              <a:t>LSP</a:t>
            </a:r>
            <a:r>
              <a:rPr lang="zh-CN" altLang="en-US" sz="1600" dirty="0"/>
              <a:t>，而“</a:t>
            </a:r>
            <a:r>
              <a:rPr lang="en-US" altLang="zh-CN" sz="1600" dirty="0"/>
              <a:t>Originating System</a:t>
            </a:r>
            <a:r>
              <a:rPr lang="zh-CN" altLang="en-US" sz="1600" dirty="0"/>
              <a:t>”指的是那个“真正”的</a:t>
            </a:r>
            <a:r>
              <a:rPr lang="en-US" altLang="zh-CN" sz="1600" dirty="0"/>
              <a:t>IS-IS</a:t>
            </a:r>
            <a:r>
              <a:rPr lang="zh-CN" altLang="en-US" sz="1600" dirty="0"/>
              <a:t>进程。</a:t>
            </a:r>
            <a:endParaRPr lang="zh-CN" altLang="en-US" sz="1600" dirty="0"/>
          </a:p>
          <a:p>
            <a:pPr lvl="1"/>
            <a:r>
              <a:rPr lang="zh-CN" altLang="en-US" sz="1600" dirty="0"/>
              <a:t>系统</a:t>
            </a:r>
            <a:r>
              <a:rPr lang="en-US" altLang="zh-CN" sz="1600" dirty="0"/>
              <a:t>ID</a:t>
            </a:r>
            <a:r>
              <a:rPr lang="zh-CN" altLang="en-US" sz="1600" dirty="0"/>
              <a:t>（</a:t>
            </a:r>
            <a:r>
              <a:rPr lang="en-US" altLang="zh-CN" sz="1600" dirty="0"/>
              <a:t>Normal System-ID</a:t>
            </a:r>
            <a:r>
              <a:rPr lang="zh-CN" altLang="en-US" sz="1600" dirty="0"/>
              <a:t>）：初始系统的系统</a:t>
            </a:r>
            <a:r>
              <a:rPr lang="en-US" altLang="zh-CN" sz="1600" dirty="0"/>
              <a:t>ID</a:t>
            </a:r>
            <a:r>
              <a:rPr lang="zh-CN" altLang="en-US" sz="1600" dirty="0"/>
              <a:t>。</a:t>
            </a:r>
            <a:endParaRPr lang="zh-CN" altLang="en-US" sz="1600" dirty="0"/>
          </a:p>
          <a:p>
            <a:pPr lvl="1"/>
            <a:r>
              <a:rPr lang="zh-CN" altLang="en-US" sz="1600" dirty="0"/>
              <a:t>虚拟系统（</a:t>
            </a:r>
            <a:r>
              <a:rPr lang="en-US" altLang="zh-CN" sz="1600" dirty="0"/>
              <a:t>Virtual System</a:t>
            </a:r>
            <a:r>
              <a:rPr lang="zh-CN" altLang="en-US" sz="1600" dirty="0"/>
              <a:t>）：由附加系统</a:t>
            </a:r>
            <a:r>
              <a:rPr lang="en-US" altLang="zh-CN" sz="1600" dirty="0"/>
              <a:t>ID</a:t>
            </a:r>
            <a:r>
              <a:rPr lang="zh-CN" altLang="en-US" sz="1600" dirty="0"/>
              <a:t>标识的系统，生成扩展</a:t>
            </a:r>
            <a:r>
              <a:rPr lang="en-US" altLang="zh-CN" sz="1600" dirty="0"/>
              <a:t>LSP</a:t>
            </a:r>
            <a:r>
              <a:rPr lang="zh-CN" altLang="en-US" sz="1600" dirty="0"/>
              <a:t>分片。这些分片在其</a:t>
            </a:r>
            <a:r>
              <a:rPr lang="en-US" altLang="zh-CN" sz="1600" dirty="0"/>
              <a:t>LSP ID</a:t>
            </a:r>
            <a:r>
              <a:rPr lang="zh-CN" altLang="en-US" sz="1600" dirty="0"/>
              <a:t>中携带附加系统</a:t>
            </a:r>
            <a:r>
              <a:rPr lang="en-US" altLang="zh-CN" sz="1600" dirty="0"/>
              <a:t>ID</a:t>
            </a:r>
            <a:r>
              <a:rPr lang="zh-CN" altLang="en-US" sz="1600" dirty="0"/>
              <a:t>。</a:t>
            </a:r>
            <a:endParaRPr lang="zh-CN" altLang="en-US" sz="1600" dirty="0"/>
          </a:p>
          <a:p>
            <a:pPr lvl="1"/>
            <a:r>
              <a:rPr lang="zh-CN" altLang="en-US" sz="1600" dirty="0"/>
              <a:t>附加系统</a:t>
            </a:r>
            <a:r>
              <a:rPr lang="en-US" altLang="zh-CN" sz="1600" dirty="0"/>
              <a:t>ID</a:t>
            </a:r>
            <a:r>
              <a:rPr lang="zh-CN" altLang="en-US" sz="1600" dirty="0"/>
              <a:t>（</a:t>
            </a:r>
            <a:r>
              <a:rPr lang="en-US" altLang="zh-CN" sz="1600" dirty="0"/>
              <a:t>Additional System-ID</a:t>
            </a:r>
            <a:r>
              <a:rPr lang="zh-CN" altLang="en-US" sz="1600" dirty="0"/>
              <a:t>）：虚拟系统的系统</a:t>
            </a:r>
            <a:r>
              <a:rPr lang="en-US" altLang="zh-CN" sz="1600" dirty="0"/>
              <a:t>ID</a:t>
            </a:r>
            <a:r>
              <a:rPr lang="zh-CN" altLang="en-US" sz="1600" dirty="0"/>
              <a:t>，由网络管理器统一分配。每个附加系统</a:t>
            </a:r>
            <a:r>
              <a:rPr lang="en-US" altLang="zh-CN" sz="1600" dirty="0"/>
              <a:t>ID</a:t>
            </a:r>
            <a:r>
              <a:rPr lang="zh-CN" altLang="en-US" sz="1600" dirty="0"/>
              <a:t>都允许生成</a:t>
            </a:r>
            <a:r>
              <a:rPr lang="en-US" altLang="zh-CN" sz="1600" dirty="0"/>
              <a:t>256</a:t>
            </a:r>
            <a:r>
              <a:rPr lang="zh-CN" altLang="en-US" sz="1600" dirty="0"/>
              <a:t>个扩展的</a:t>
            </a:r>
            <a:r>
              <a:rPr lang="en-US" altLang="zh-CN" sz="1600" dirty="0"/>
              <a:t>LSP</a:t>
            </a:r>
            <a:r>
              <a:rPr lang="zh-CN" altLang="en-US" sz="1600" dirty="0"/>
              <a:t>分片。</a:t>
            </a:r>
            <a:endParaRPr lang="en-US" altLang="zh-CN" sz="1600" dirty="0"/>
          </a:p>
          <a:p>
            <a:pPr lvl="1"/>
            <a:r>
              <a:rPr lang="en-US" altLang="zh-CN" sz="1600" dirty="0"/>
              <a:t>24</a:t>
            </a:r>
            <a:r>
              <a:rPr lang="zh-CN" altLang="en-US" sz="1600" dirty="0"/>
              <a:t>号</a:t>
            </a:r>
            <a:r>
              <a:rPr lang="en-US" altLang="zh-CN" sz="1600" dirty="0"/>
              <a:t>TLV</a:t>
            </a:r>
            <a:r>
              <a:rPr lang="zh-CN" altLang="en-US" sz="1600" dirty="0"/>
              <a:t>（</a:t>
            </a:r>
            <a:r>
              <a:rPr lang="en-US" altLang="zh-CN" sz="1600" dirty="0"/>
              <a:t>IS Alias ID TLV</a:t>
            </a:r>
            <a:r>
              <a:rPr lang="zh-CN" altLang="en-US" sz="1600" dirty="0"/>
              <a:t>）：</a:t>
            </a:r>
            <a:r>
              <a:rPr lang="en-US" altLang="zh-CN" sz="1600" dirty="0"/>
              <a:t>LSP</a:t>
            </a:r>
            <a:r>
              <a:rPr lang="zh-CN" altLang="en-US" sz="1600" dirty="0"/>
              <a:t>分片携带该</a:t>
            </a:r>
            <a:r>
              <a:rPr lang="en-US" altLang="zh-CN" sz="1600" dirty="0"/>
              <a:t>TLV</a:t>
            </a:r>
            <a:r>
              <a:rPr lang="zh-CN" altLang="en-US" sz="1600" dirty="0"/>
              <a:t>信息，用来表示初始系统与虚拟系统的关系。</a:t>
            </a:r>
            <a:endParaRPr lang="en-US" altLang="zh-CN" sz="1600" dirty="0"/>
          </a:p>
          <a:p>
            <a:pPr lvl="1"/>
            <a:endParaRPr lang="en-US" altLang="zh-CN" sz="1600" dirty="0"/>
          </a:p>
          <a:p>
            <a:r>
              <a:rPr lang="zh-CN" altLang="en-US" sz="1800" dirty="0"/>
              <a:t>使能分片扩展功能之后，如果存在由于报文装满而丢失的信息，系统会提醒重启</a:t>
            </a:r>
            <a:r>
              <a:rPr lang="en-US" altLang="zh-CN" sz="1800" dirty="0"/>
              <a:t>IS-IS</a:t>
            </a:r>
            <a:r>
              <a:rPr lang="zh-CN" altLang="en-US" sz="1800" dirty="0"/>
              <a:t>。重启之后，初始系统会尽最大能力装载路由信息，装不下的信息将放入虚拟系统的</a:t>
            </a:r>
            <a:r>
              <a:rPr lang="en-US" altLang="zh-CN" sz="1800" dirty="0"/>
              <a:t>LSP</a:t>
            </a:r>
            <a:r>
              <a:rPr lang="zh-CN" altLang="en-US" sz="1800" dirty="0"/>
              <a:t>中发送出去，并通过</a:t>
            </a:r>
            <a:r>
              <a:rPr lang="en-US" altLang="zh-CN" sz="1800" dirty="0"/>
              <a:t>24</a:t>
            </a:r>
            <a:r>
              <a:rPr lang="zh-CN" altLang="en-US" sz="1800" dirty="0"/>
              <a:t>号</a:t>
            </a:r>
            <a:r>
              <a:rPr lang="en-US" altLang="zh-CN" sz="1800" dirty="0"/>
              <a:t>TLV</a:t>
            </a:r>
            <a:r>
              <a:rPr lang="zh-CN" altLang="en-US" sz="1800" dirty="0"/>
              <a:t>来告知其他路由器此虚拟系统和自己的关系。</a:t>
            </a:r>
            <a:endParaRPr lang="zh-CN" altLang="en-US" sz="1800" dirty="0"/>
          </a:p>
          <a:p>
            <a:endParaRPr lang="zh-CN" altLang="en-US" sz="1800" dirty="0"/>
          </a:p>
        </p:txBody>
      </p:sp>
      <p:graphicFrame>
        <p:nvGraphicFramePr>
          <p:cNvPr id="8" name="表格 7"/>
          <p:cNvGraphicFramePr>
            <a:graphicFrameLocks noGrp="1"/>
          </p:cNvGraphicFramePr>
          <p:nvPr/>
        </p:nvGraphicFramePr>
        <p:xfrm>
          <a:off x="9656576" y="3648601"/>
          <a:ext cx="2067846" cy="1194168"/>
        </p:xfrm>
        <a:graphic>
          <a:graphicData uri="http://schemas.openxmlformats.org/drawingml/2006/table">
            <a:tbl>
              <a:tblPr firstRow="1" bandRow="1"/>
              <a:tblGrid>
                <a:gridCol w="2067846"/>
              </a:tblGrid>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Type=24</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Length</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r>
              <a:tr h="306000">
                <a:tc>
                  <a:txBody>
                    <a:bodyPr/>
                    <a:lstStyle/>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Value</a:t>
                      </a:r>
                      <a:r>
                        <a:rPr kumimoji="0" lang="zh-CN" altLang="en-US" sz="1400" b="0" i="0" u="none" strike="noStrike" kern="1200" cap="none" normalizeH="0" baseline="0" dirty="0">
                          <a:ln>
                            <a:noFill/>
                          </a:ln>
                          <a:solidFill>
                            <a:schemeClr val="tx1"/>
                          </a:solidFill>
                          <a:effectLst/>
                          <a:latin typeface="+mn-lt"/>
                          <a:ea typeface="+mn-ea"/>
                          <a:cs typeface="+mn-cs"/>
                        </a:rPr>
                        <a:t>：</a:t>
                      </a:r>
                      <a:endParaRPr kumimoji="0" lang="en-US" altLang="zh-CN" sz="1400" b="0" i="0" u="none" strike="noStrike" kern="1200" cap="none" normalizeH="0" baseline="0" dirty="0">
                        <a:ln>
                          <a:noFill/>
                        </a:ln>
                        <a:solidFill>
                          <a:schemeClr val="tx1"/>
                        </a:solidFill>
                        <a:effectLst/>
                        <a:latin typeface="+mn-lt"/>
                        <a:ea typeface="+mn-ea"/>
                        <a:cs typeface="+mn-cs"/>
                      </a:endParaRPr>
                    </a:p>
                    <a:p>
                      <a:pPr marL="0" marR="0" lvl="0" indent="0" algn="ctr" defTabSz="784225" rtl="0" eaLnBrk="1" fontAlgn="base" latinLnBrk="0" hangingPunct="1">
                        <a:lnSpc>
                          <a:spcPct val="100000"/>
                        </a:lnSpc>
                        <a:spcBef>
                          <a:spcPct val="30000"/>
                        </a:spcBef>
                        <a:spcAft>
                          <a:spcPct val="0"/>
                        </a:spcAft>
                        <a:buClr>
                          <a:srgbClr val="808080"/>
                        </a:buClr>
                        <a:buSzPct val="60000"/>
                        <a:buFont typeface="Wingdings" panose="05000000000000000000" pitchFamily="2" charset="2"/>
                        <a:buNone/>
                      </a:pPr>
                      <a:r>
                        <a:rPr kumimoji="0" lang="en-US" altLang="zh-CN" sz="1400" b="1" i="0" u="none" strike="noStrike" kern="1200" cap="none" normalizeH="0" baseline="0" dirty="0">
                          <a:ln>
                            <a:noFill/>
                          </a:ln>
                          <a:solidFill>
                            <a:schemeClr val="tx1"/>
                          </a:solidFill>
                          <a:effectLst/>
                          <a:latin typeface="+mn-lt"/>
                          <a:ea typeface="+mn-ea"/>
                          <a:cs typeface="+mn-cs"/>
                        </a:rPr>
                        <a:t>Normal System-ID</a:t>
                      </a:r>
                      <a:endParaRPr kumimoji="0" lang="zh-CN" altLang="en-US" sz="1400" b="1"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F5FCFD"/>
                    </a:solidFill>
                  </a:tcPr>
                </a:tc>
              </a:tr>
            </a:tbl>
          </a:graphicData>
        </a:graphic>
      </p:graphicFrame>
      <p:sp>
        <p:nvSpPr>
          <p:cNvPr id="9" name="五边形 8"/>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燕尾形 9"/>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燕尾形 10"/>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LSP</a:t>
            </a:r>
            <a:r>
              <a:rPr lang="zh-CN" altLang="en-US"/>
              <a:t>分片扩展工作原理</a:t>
            </a:r>
            <a:endParaRPr lang="zh-CN" altLang="en-US" dirty="0"/>
          </a:p>
        </p:txBody>
      </p:sp>
      <p:sp>
        <p:nvSpPr>
          <p:cNvPr id="3" name="文本占位符 2"/>
          <p:cNvSpPr>
            <a:spLocks noGrp="1"/>
          </p:cNvSpPr>
          <p:nvPr>
            <p:ph type="body" sz="quarter" idx="10"/>
          </p:nvPr>
        </p:nvSpPr>
        <p:spPr>
          <a:xfrm>
            <a:off x="455612" y="1047750"/>
            <a:ext cx="11293475" cy="1454439"/>
          </a:xfrm>
        </p:spPr>
        <p:txBody>
          <a:bodyPr/>
          <a:lstStyle/>
          <a:p>
            <a:r>
              <a:rPr lang="zh-CN" altLang="en-US" sz="2000" dirty="0"/>
              <a:t>在</a:t>
            </a:r>
            <a:r>
              <a:rPr lang="en-US" altLang="zh-CN" sz="2000" dirty="0"/>
              <a:t>IS-IS</a:t>
            </a:r>
            <a:r>
              <a:rPr lang="zh-CN" altLang="en-US" sz="2000" dirty="0"/>
              <a:t>中，每个系统</a:t>
            </a:r>
            <a:r>
              <a:rPr lang="en-US" altLang="zh-CN" sz="2000" dirty="0"/>
              <a:t>ID</a:t>
            </a:r>
            <a:r>
              <a:rPr lang="zh-CN" altLang="en-US" sz="2000" dirty="0"/>
              <a:t>都标识一个系统，每个系统都最多可生成</a:t>
            </a:r>
            <a:r>
              <a:rPr lang="en-US" altLang="zh-CN" sz="2000" dirty="0"/>
              <a:t>256</a:t>
            </a:r>
            <a:r>
              <a:rPr lang="zh-CN" altLang="en-US" sz="2000" dirty="0"/>
              <a:t>个</a:t>
            </a:r>
            <a:r>
              <a:rPr lang="en-US" altLang="zh-CN" sz="2000" dirty="0"/>
              <a:t>LSP</a:t>
            </a:r>
            <a:r>
              <a:rPr lang="zh-CN" altLang="en-US" sz="2000" dirty="0"/>
              <a:t>分片。通过增加附加系统</a:t>
            </a:r>
            <a:r>
              <a:rPr lang="en-US" altLang="zh-CN" sz="2000" dirty="0"/>
              <a:t>ID</a:t>
            </a:r>
            <a:r>
              <a:rPr lang="zh-CN" altLang="en-US" sz="2000" dirty="0"/>
              <a:t>，可以最多配置</a:t>
            </a:r>
            <a:r>
              <a:rPr lang="en-US" altLang="zh-CN" sz="2000" dirty="0"/>
              <a:t>50</a:t>
            </a:r>
            <a:r>
              <a:rPr lang="zh-CN" altLang="en-US" sz="2000" dirty="0"/>
              <a:t>个虚拟系统，从而使得</a:t>
            </a:r>
            <a:r>
              <a:rPr lang="en-US" altLang="zh-CN" sz="2000" dirty="0"/>
              <a:t>IS-IS</a:t>
            </a:r>
            <a:r>
              <a:rPr lang="zh-CN" altLang="en-US" sz="2000" dirty="0"/>
              <a:t>进程最多可生成</a:t>
            </a:r>
            <a:r>
              <a:rPr lang="en-US" altLang="zh-CN" sz="2000" dirty="0"/>
              <a:t>13056</a:t>
            </a:r>
            <a:r>
              <a:rPr lang="zh-CN" altLang="en-US" sz="2000" dirty="0"/>
              <a:t>个</a:t>
            </a:r>
            <a:r>
              <a:rPr lang="en-US" altLang="zh-CN" sz="2000" dirty="0"/>
              <a:t>LSP</a:t>
            </a:r>
            <a:r>
              <a:rPr lang="zh-CN" altLang="en-US" sz="2000" dirty="0"/>
              <a:t>分片。</a:t>
            </a:r>
            <a:endParaRPr lang="en-US" altLang="zh-CN" sz="2000" dirty="0"/>
          </a:p>
          <a:p>
            <a:r>
              <a:rPr lang="en-US" altLang="zh-CN" sz="2000" dirty="0"/>
              <a:t>IS-IS</a:t>
            </a:r>
            <a:r>
              <a:rPr lang="zh-CN" altLang="en-US" sz="2000" dirty="0"/>
              <a:t>路由器可以在两种模式下运行</a:t>
            </a:r>
            <a:r>
              <a:rPr lang="en-US" altLang="zh-CN" sz="2000" dirty="0"/>
              <a:t>LSP</a:t>
            </a:r>
            <a:r>
              <a:rPr lang="zh-CN" altLang="en-US" sz="2000" dirty="0"/>
              <a:t>分片扩展特性：</a:t>
            </a:r>
            <a:endParaRPr lang="zh-CN" altLang="en-US" sz="2000" dirty="0"/>
          </a:p>
        </p:txBody>
      </p:sp>
      <p:sp>
        <p:nvSpPr>
          <p:cNvPr id="24" name="圆角矩形 75"/>
          <p:cNvSpPr/>
          <p:nvPr/>
        </p:nvSpPr>
        <p:spPr bwMode="gray">
          <a:xfrm>
            <a:off x="884737" y="2530147"/>
            <a:ext cx="5220788"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Mode-1</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75"/>
          <p:cNvSpPr/>
          <p:nvPr/>
        </p:nvSpPr>
        <p:spPr bwMode="gray">
          <a:xfrm>
            <a:off x="884737" y="2906451"/>
            <a:ext cx="5220788" cy="327527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75"/>
          <p:cNvSpPr/>
          <p:nvPr/>
        </p:nvSpPr>
        <p:spPr bwMode="gray">
          <a:xfrm>
            <a:off x="897894" y="2899761"/>
            <a:ext cx="5220788" cy="390031"/>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用于网络中的部分路由器不支持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分片扩展特性的情况。</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圆角矩形 75"/>
          <p:cNvSpPr/>
          <p:nvPr/>
        </p:nvSpPr>
        <p:spPr bwMode="gray">
          <a:xfrm>
            <a:off x="897894" y="4509484"/>
            <a:ext cx="5220788" cy="1672240"/>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如图：</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将一部分路由信息放入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报文中向外发送。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的报文时，认为对端有三台独立的路由器，并进行正常的路由计算。同时</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的开销都是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，所以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的路由开销值与</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的路由开销值都相等。</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75"/>
          <p:cNvSpPr/>
          <p:nvPr/>
        </p:nvSpPr>
        <p:spPr bwMode="gray">
          <a:xfrm>
            <a:off x="6451000" y="2530147"/>
            <a:ext cx="5220788"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Mode-2</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圆角矩形 75"/>
          <p:cNvSpPr/>
          <p:nvPr/>
        </p:nvSpPr>
        <p:spPr bwMode="gray">
          <a:xfrm>
            <a:off x="6451000" y="2906451"/>
            <a:ext cx="5220788" cy="327527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75"/>
          <p:cNvSpPr/>
          <p:nvPr/>
        </p:nvSpPr>
        <p:spPr bwMode="gray">
          <a:xfrm>
            <a:off x="6464157" y="2899761"/>
            <a:ext cx="5220788" cy="403415"/>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用于网络中所有路由器都支持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分片扩展特性的情况。</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圆角矩形 75"/>
          <p:cNvSpPr/>
          <p:nvPr/>
        </p:nvSpPr>
        <p:spPr bwMode="gray">
          <a:xfrm>
            <a:off x="6464157" y="4851616"/>
            <a:ext cx="5220788" cy="1330107"/>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如图：</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将一部分路由信息放入</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报文中向外发送。当</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收到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LSP</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时，通过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24</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号</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知道它们的初始系统是</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，则把</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所发布的信息都视为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的信息。</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8" name="组合 67"/>
          <p:cNvGrpSpPr/>
          <p:nvPr/>
        </p:nvGrpSpPr>
        <p:grpSpPr bwMode="gray">
          <a:xfrm>
            <a:off x="2057071" y="3318903"/>
            <a:ext cx="4257189" cy="1202464"/>
            <a:chOff x="1396375" y="3518928"/>
            <a:chExt cx="4257189" cy="1202464"/>
          </a:xfrm>
        </p:grpSpPr>
        <p:pic>
          <p:nvPicPr>
            <p:cNvPr id="4" name="图片 3"/>
            <p:cNvPicPr>
              <a:picLocks noChangeAspect="1"/>
            </p:cNvPicPr>
            <p:nvPr/>
          </p:nvPicPr>
          <p:blipFill>
            <a:blip r:embed="rId1"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1732600" y="3935116"/>
              <a:ext cx="439024" cy="360000"/>
            </a:xfrm>
            <a:prstGeom prst="rect">
              <a:avLst/>
            </a:prstGeom>
          </p:spPr>
        </p:pic>
        <p:sp>
          <p:nvSpPr>
            <p:cNvPr id="5" name="矩形 4"/>
            <p:cNvSpPr/>
            <p:nvPr/>
          </p:nvSpPr>
          <p:spPr bwMode="gray">
            <a:xfrm>
              <a:off x="1396375" y="4259727"/>
              <a:ext cx="1096947" cy="461665"/>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algn="ctr" fontAlgn="auto"/>
              <a:r>
                <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不支持分片</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2800938" y="4255209"/>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8" name="图片 7"/>
            <p:cNvPicPr>
              <a:picLocks noChangeAspect="1"/>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032572" y="3569761"/>
              <a:ext cx="439024" cy="360000"/>
            </a:xfrm>
            <a:prstGeom prst="rect">
              <a:avLst/>
            </a:prstGeom>
          </p:spPr>
        </p:pic>
        <p:pic>
          <p:nvPicPr>
            <p:cNvPr id="9" name="图片 8"/>
            <p:cNvPicPr>
              <a:picLocks noChangeAspect="1"/>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4032572" y="4298676"/>
              <a:ext cx="439024" cy="360000"/>
            </a:xfrm>
            <a:prstGeom prst="rect">
              <a:avLst/>
            </a:prstGeom>
          </p:spPr>
        </p:pic>
        <p:sp>
          <p:nvSpPr>
            <p:cNvPr id="10" name="矩形 9"/>
            <p:cNvSpPr/>
            <p:nvPr/>
          </p:nvSpPr>
          <p:spPr bwMode="gray">
            <a:xfrm>
              <a:off x="4457881" y="3518928"/>
              <a:ext cx="1195683" cy="461665"/>
            </a:xfrm>
            <a:prstGeom prst="rect">
              <a:avLst/>
            </a:prstGeom>
          </p:spPr>
          <p:txBody>
            <a:bodyPr wrap="square">
              <a:spAutoFit/>
            </a:bodyPr>
            <a:lstStyle/>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虚拟系统</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4434547" y="4247843"/>
              <a:ext cx="1195683" cy="461665"/>
            </a:xfrm>
            <a:prstGeom prst="rect">
              <a:avLst/>
            </a:prstGeom>
          </p:spPr>
          <p:txBody>
            <a:bodyPr wrap="square">
              <a:spAutoFit/>
            </a:bodyPr>
            <a:lstStyle/>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虚拟系统</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13" name="直接连接符 12"/>
            <p:cNvCxnSpPr>
              <a:stCxn id="4" idx="3"/>
              <a:endCxn id="6" idx="1"/>
            </p:cNvCxnSpPr>
            <p:nvPr/>
          </p:nvCxnSpPr>
          <p:spPr bwMode="gray">
            <a:xfrm>
              <a:off x="2171624" y="4115116"/>
              <a:ext cx="7236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6" idx="1"/>
              <a:endCxn id="8" idx="1"/>
            </p:cNvCxnSpPr>
            <p:nvPr/>
          </p:nvCxnSpPr>
          <p:spPr bwMode="gray">
            <a:xfrm flipV="1">
              <a:off x="2895297" y="3749761"/>
              <a:ext cx="1137275" cy="36535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6" idx="1"/>
              <a:endCxn id="9" idx="1"/>
            </p:cNvCxnSpPr>
            <p:nvPr/>
          </p:nvCxnSpPr>
          <p:spPr bwMode="gray">
            <a:xfrm>
              <a:off x="2895297" y="4115116"/>
              <a:ext cx="1137275" cy="36356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2895297" y="3935116"/>
              <a:ext cx="439024" cy="360000"/>
            </a:xfrm>
            <a:prstGeom prst="rect">
              <a:avLst/>
            </a:prstGeom>
          </p:spPr>
        </p:pic>
        <p:cxnSp>
          <p:nvCxnSpPr>
            <p:cNvPr id="32" name="直接箭头连接符 31"/>
            <p:cNvCxnSpPr/>
            <p:nvPr/>
          </p:nvCxnSpPr>
          <p:spPr bwMode="gray">
            <a:xfrm flipH="1">
              <a:off x="3320606" y="3627630"/>
              <a:ext cx="597396" cy="234064"/>
            </a:xfrm>
            <a:prstGeom prst="straightConnector1">
              <a:avLst/>
            </a:prstGeom>
            <a:ln w="19050">
              <a:solidFill>
                <a:srgbClr val="C7000B"/>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gray">
            <a:xfrm flipH="1" flipV="1">
              <a:off x="3334461" y="4361676"/>
              <a:ext cx="591887" cy="210020"/>
            </a:xfrm>
            <a:prstGeom prst="straightConnector1">
              <a:avLst/>
            </a:prstGeom>
            <a:ln w="19050">
              <a:solidFill>
                <a:srgbClr val="C7000B"/>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bwMode="gray">
            <a:xfrm flipH="1" flipV="1">
              <a:off x="2243108" y="4014202"/>
              <a:ext cx="553952" cy="0"/>
            </a:xfrm>
            <a:prstGeom prst="straightConnector1">
              <a:avLst/>
            </a:prstGeom>
            <a:ln w="1905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62" name="矩形 61"/>
            <p:cNvSpPr/>
            <p:nvPr/>
          </p:nvSpPr>
          <p:spPr bwMode="gray">
            <a:xfrm>
              <a:off x="2232301" y="3730265"/>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3" name="矩形 62"/>
            <p:cNvSpPr/>
            <p:nvPr/>
          </p:nvSpPr>
          <p:spPr bwMode="gray">
            <a:xfrm rot="20252774">
              <a:off x="3281540" y="3523321"/>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LSP-1</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4" name="矩形 63"/>
            <p:cNvSpPr/>
            <p:nvPr/>
          </p:nvSpPr>
          <p:spPr bwMode="gray">
            <a:xfrm rot="1269121">
              <a:off x="3267633" y="4436526"/>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LSP-2</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grpSp>
        <p:nvGrpSpPr>
          <p:cNvPr id="69" name="组合 68"/>
          <p:cNvGrpSpPr/>
          <p:nvPr/>
        </p:nvGrpSpPr>
        <p:grpSpPr bwMode="gray">
          <a:xfrm>
            <a:off x="7651040" y="3318903"/>
            <a:ext cx="4033905" cy="1194597"/>
            <a:chOff x="6962638" y="3518928"/>
            <a:chExt cx="4033905" cy="1194597"/>
          </a:xfrm>
        </p:grpSpPr>
        <p:pic>
          <p:nvPicPr>
            <p:cNvPr id="44" name="图片 4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7298863" y="3935116"/>
              <a:ext cx="439024" cy="360000"/>
            </a:xfrm>
            <a:prstGeom prst="rect">
              <a:avLst/>
            </a:prstGeom>
          </p:spPr>
        </p:pic>
        <p:sp>
          <p:nvSpPr>
            <p:cNvPr id="45" name="矩形 44"/>
            <p:cNvSpPr/>
            <p:nvPr/>
          </p:nvSpPr>
          <p:spPr bwMode="gray">
            <a:xfrm>
              <a:off x="6962638" y="4259727"/>
              <a:ext cx="1096947"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46" name="矩形 45"/>
            <p:cNvSpPr/>
            <p:nvPr/>
          </p:nvSpPr>
          <p:spPr bwMode="gray">
            <a:xfrm>
              <a:off x="8367201" y="4255209"/>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47" name="图片 46"/>
            <p:cNvPicPr>
              <a:picLocks noChangeAspect="1"/>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598835" y="3569761"/>
              <a:ext cx="439024" cy="360000"/>
            </a:xfrm>
            <a:prstGeom prst="rect">
              <a:avLst/>
            </a:prstGeom>
          </p:spPr>
        </p:pic>
        <p:pic>
          <p:nvPicPr>
            <p:cNvPr id="48" name="图片 47"/>
            <p:cNvPicPr>
              <a:picLocks noChangeAspect="1"/>
            </p:cNvPicPr>
            <p:nvPr/>
          </p:nvPicPr>
          <p:blipFill>
            <a:blip r:embed="rId1"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9598835" y="4298676"/>
              <a:ext cx="439024" cy="360000"/>
            </a:xfrm>
            <a:prstGeom prst="rect">
              <a:avLst/>
            </a:prstGeom>
          </p:spPr>
        </p:pic>
        <p:sp>
          <p:nvSpPr>
            <p:cNvPr id="49" name="矩形 48"/>
            <p:cNvSpPr/>
            <p:nvPr/>
          </p:nvSpPr>
          <p:spPr bwMode="gray">
            <a:xfrm>
              <a:off x="10024144" y="3518928"/>
              <a:ext cx="972399" cy="461665"/>
            </a:xfrm>
            <a:prstGeom prst="rect">
              <a:avLst/>
            </a:prstGeom>
          </p:spPr>
          <p:txBody>
            <a:bodyPr wrap="square">
              <a:spAutoFit/>
            </a:bodyPr>
            <a:lstStyle/>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R1-1</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虚拟系统</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0" name="矩形 49"/>
            <p:cNvSpPr/>
            <p:nvPr/>
          </p:nvSpPr>
          <p:spPr bwMode="gray">
            <a:xfrm>
              <a:off x="10000811" y="4247843"/>
              <a:ext cx="982576" cy="461665"/>
            </a:xfrm>
            <a:prstGeom prst="rect">
              <a:avLst/>
            </a:prstGeom>
          </p:spPr>
          <p:txBody>
            <a:bodyPr wrap="square">
              <a:spAutoFit/>
            </a:bodyPr>
            <a:lstStyle/>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R1-2</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r>
                <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虚拟系统</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cxnSp>
          <p:nvCxnSpPr>
            <p:cNvPr id="51" name="直接连接符 50"/>
            <p:cNvCxnSpPr>
              <a:stCxn id="44" idx="3"/>
              <a:endCxn id="54" idx="1"/>
            </p:cNvCxnSpPr>
            <p:nvPr/>
          </p:nvCxnSpPr>
          <p:spPr bwMode="gray">
            <a:xfrm>
              <a:off x="7737887" y="4115116"/>
              <a:ext cx="72367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a:stCxn id="54" idx="1"/>
              <a:endCxn id="47" idx="1"/>
            </p:cNvCxnSpPr>
            <p:nvPr/>
          </p:nvCxnSpPr>
          <p:spPr bwMode="gray">
            <a:xfrm flipV="1">
              <a:off x="8461560" y="3749761"/>
              <a:ext cx="1137275" cy="36535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54" idx="1"/>
              <a:endCxn id="48" idx="1"/>
            </p:cNvCxnSpPr>
            <p:nvPr/>
          </p:nvCxnSpPr>
          <p:spPr bwMode="gray">
            <a:xfrm>
              <a:off x="8461560" y="4115116"/>
              <a:ext cx="1137275" cy="36356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54" name="图片 5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bwMode="gray">
            <a:xfrm>
              <a:off x="8461560" y="3935116"/>
              <a:ext cx="439024" cy="360000"/>
            </a:xfrm>
            <a:prstGeom prst="rect">
              <a:avLst/>
            </a:prstGeom>
          </p:spPr>
        </p:pic>
        <p:cxnSp>
          <p:nvCxnSpPr>
            <p:cNvPr id="59" name="直接箭头连接符 58"/>
            <p:cNvCxnSpPr/>
            <p:nvPr/>
          </p:nvCxnSpPr>
          <p:spPr bwMode="gray">
            <a:xfrm flipH="1">
              <a:off x="8886869" y="3627630"/>
              <a:ext cx="597396" cy="234064"/>
            </a:xfrm>
            <a:prstGeom prst="straightConnector1">
              <a:avLst/>
            </a:prstGeom>
            <a:ln w="19050">
              <a:solidFill>
                <a:srgbClr val="C7000B"/>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bwMode="gray">
            <a:xfrm flipH="1" flipV="1">
              <a:off x="8900724" y="4361676"/>
              <a:ext cx="591887" cy="210020"/>
            </a:xfrm>
            <a:prstGeom prst="straightConnector1">
              <a:avLst/>
            </a:prstGeom>
            <a:ln w="19050">
              <a:solidFill>
                <a:srgbClr val="C7000B"/>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p:cNvCxnSpPr/>
            <p:nvPr/>
          </p:nvCxnSpPr>
          <p:spPr bwMode="gray">
            <a:xfrm flipH="1" flipV="1">
              <a:off x="7809371" y="4014202"/>
              <a:ext cx="553952" cy="0"/>
            </a:xfrm>
            <a:prstGeom prst="straightConnector1">
              <a:avLst/>
            </a:prstGeom>
            <a:ln w="19050">
              <a:solidFill>
                <a:srgbClr val="C7000B"/>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64"/>
            <p:cNvSpPr/>
            <p:nvPr/>
          </p:nvSpPr>
          <p:spPr bwMode="gray">
            <a:xfrm>
              <a:off x="7787377" y="3730265"/>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6" name="矩形 65"/>
            <p:cNvSpPr/>
            <p:nvPr/>
          </p:nvSpPr>
          <p:spPr bwMode="gray">
            <a:xfrm rot="20252774">
              <a:off x="8836616" y="3523321"/>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LSP-1</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7" name="矩形 66"/>
            <p:cNvSpPr/>
            <p:nvPr/>
          </p:nvSpPr>
          <p:spPr bwMode="gray">
            <a:xfrm rot="1269121">
              <a:off x="8822709" y="4436526"/>
              <a:ext cx="627741"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LSP-2</a:t>
              </a:r>
              <a:endParaRPr lang="zh-CN" altLang="en-US"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grpSp>
      <p:sp>
        <p:nvSpPr>
          <p:cNvPr id="70" name="圆角矩形标注 69"/>
          <p:cNvSpPr/>
          <p:nvPr/>
        </p:nvSpPr>
        <p:spPr bwMode="gray">
          <a:xfrm>
            <a:off x="459428" y="3347573"/>
            <a:ext cx="1797128" cy="592464"/>
          </a:xfrm>
          <a:prstGeom prst="wedgeRoundRectCallout">
            <a:avLst>
              <a:gd name="adj1" fmla="val 57276"/>
              <a:gd name="adj2" fmla="val 47641"/>
              <a:gd name="adj3" fmla="val 16667"/>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200" dirty="0">
                <a:solidFill>
                  <a:schemeClr val="tx1"/>
                </a:solidFill>
              </a:rPr>
              <a:t>对收到的</a:t>
            </a:r>
            <a:r>
              <a:rPr lang="en-US" altLang="zh-CN" sz="1200" dirty="0">
                <a:solidFill>
                  <a:schemeClr val="tx1"/>
                </a:solidFill>
              </a:rPr>
              <a:t>LSP-1</a:t>
            </a:r>
            <a:r>
              <a:rPr lang="zh-CN" altLang="en-US" sz="1200" dirty="0">
                <a:solidFill>
                  <a:schemeClr val="tx1"/>
                </a:solidFill>
              </a:rPr>
              <a:t>和</a:t>
            </a:r>
            <a:r>
              <a:rPr lang="en-US" altLang="zh-CN" sz="1200" dirty="0">
                <a:solidFill>
                  <a:schemeClr val="tx1"/>
                </a:solidFill>
              </a:rPr>
              <a:t>LSP-2</a:t>
            </a:r>
            <a:r>
              <a:rPr lang="zh-CN" altLang="en-US" sz="1200" dirty="0">
                <a:solidFill>
                  <a:schemeClr val="tx1"/>
                </a:solidFill>
              </a:rPr>
              <a:t>单独进行路由计算。</a:t>
            </a:r>
            <a:endParaRPr lang="zh-CN" altLang="en-US" sz="1200" dirty="0">
              <a:solidFill>
                <a:schemeClr val="tx1"/>
              </a:solidFill>
            </a:endParaRPr>
          </a:p>
        </p:txBody>
      </p:sp>
      <p:sp>
        <p:nvSpPr>
          <p:cNvPr id="71" name="圆角矩形标注 70"/>
          <p:cNvSpPr/>
          <p:nvPr/>
        </p:nvSpPr>
        <p:spPr bwMode="gray">
          <a:xfrm>
            <a:off x="6167350" y="3347573"/>
            <a:ext cx="1797128" cy="727702"/>
          </a:xfrm>
          <a:prstGeom prst="wedgeRoundRectCallout">
            <a:avLst>
              <a:gd name="adj1" fmla="val 55734"/>
              <a:gd name="adj2" fmla="val 32410"/>
              <a:gd name="adj3" fmla="val 16667"/>
            </a:avLst>
          </a:prstGeom>
          <a:solidFill>
            <a:srgbClr val="FFF8E5"/>
          </a:solidFill>
          <a:ln>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200" dirty="0">
                <a:solidFill>
                  <a:schemeClr val="tx1"/>
                </a:solidFill>
              </a:rPr>
              <a:t>认为收到的</a:t>
            </a:r>
            <a:r>
              <a:rPr lang="en-US" altLang="zh-CN" sz="1200" dirty="0">
                <a:solidFill>
                  <a:schemeClr val="tx1"/>
                </a:solidFill>
              </a:rPr>
              <a:t>LSP-1</a:t>
            </a:r>
            <a:r>
              <a:rPr lang="zh-CN" altLang="en-US" sz="1200" dirty="0">
                <a:solidFill>
                  <a:schemeClr val="tx1"/>
                </a:solidFill>
              </a:rPr>
              <a:t>和</a:t>
            </a:r>
            <a:r>
              <a:rPr lang="en-US" altLang="zh-CN" sz="1200" dirty="0">
                <a:solidFill>
                  <a:schemeClr val="tx1"/>
                </a:solidFill>
              </a:rPr>
              <a:t>LSP-2</a:t>
            </a:r>
            <a:r>
              <a:rPr lang="zh-CN" altLang="en-US" sz="1200" dirty="0">
                <a:solidFill>
                  <a:schemeClr val="tx1"/>
                </a:solidFill>
              </a:rPr>
              <a:t>都是</a:t>
            </a:r>
            <a:r>
              <a:rPr lang="en-US" altLang="zh-CN" sz="1200" dirty="0">
                <a:solidFill>
                  <a:schemeClr val="tx1"/>
                </a:solidFill>
              </a:rPr>
              <a:t>R1</a:t>
            </a:r>
            <a:r>
              <a:rPr lang="zh-CN" altLang="en-US" sz="1200" dirty="0">
                <a:solidFill>
                  <a:schemeClr val="tx1"/>
                </a:solidFill>
              </a:rPr>
              <a:t>的路由信息，统一进行路由计算。</a:t>
            </a:r>
            <a:endParaRPr lang="zh-CN" altLang="en-US" sz="1200" dirty="0">
              <a:solidFill>
                <a:schemeClr val="tx1"/>
              </a:solidFill>
            </a:endParaRPr>
          </a:p>
        </p:txBody>
      </p:sp>
      <p:sp>
        <p:nvSpPr>
          <p:cNvPr id="75" name="五边形 74"/>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燕尾形 75"/>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燕尾形 76"/>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a:t>LSP</a:t>
            </a:r>
            <a:r>
              <a:rPr lang="zh-CN" altLang="en-US"/>
              <a:t>分片扩展的基本配置命令</a:t>
            </a:r>
            <a:endParaRPr lang="zh-CN" altLang="en-US" dirty="0"/>
          </a:p>
        </p:txBody>
      </p:sp>
      <p:sp>
        <p:nvSpPr>
          <p:cNvPr id="18" name="文本占位符 17"/>
          <p:cNvSpPr>
            <a:spLocks noGrp="1"/>
          </p:cNvSpPr>
          <p:nvPr>
            <p:ph type="body" sz="quarter" idx="10"/>
          </p:nvPr>
        </p:nvSpPr>
        <p:spPr>
          <a:xfrm>
            <a:off x="455612" y="5264727"/>
            <a:ext cx="11293475" cy="849746"/>
          </a:xfrm>
        </p:spPr>
        <p:txBody>
          <a:bodyPr/>
          <a:lstStyle/>
          <a:p>
            <a:r>
              <a:rPr lang="zh-CN" altLang="en-US" sz="1800" dirty="0"/>
              <a:t>注意：以上两条命令是配合使用的，只有使能了</a:t>
            </a:r>
            <a:r>
              <a:rPr lang="en-US" altLang="zh-CN" sz="1800" dirty="0"/>
              <a:t>LSP</a:t>
            </a:r>
            <a:r>
              <a:rPr lang="zh-CN" altLang="en-US" sz="1800" dirty="0"/>
              <a:t>分片扩展，并用</a:t>
            </a:r>
            <a:r>
              <a:rPr lang="en-US" altLang="zh-CN" sz="1800" b="1" dirty="0"/>
              <a:t>reset </a:t>
            </a:r>
            <a:r>
              <a:rPr lang="en-US" altLang="zh-CN" sz="1800" b="1" dirty="0" err="1"/>
              <a:t>isis</a:t>
            </a:r>
            <a:r>
              <a:rPr lang="en-US" altLang="zh-CN" sz="1800" b="1" dirty="0"/>
              <a:t> all</a:t>
            </a:r>
            <a:r>
              <a:rPr lang="zh-CN" altLang="en-US" sz="1800" dirty="0"/>
              <a:t>命令重启了</a:t>
            </a:r>
            <a:r>
              <a:rPr lang="en-US" altLang="zh-CN" sz="1800" dirty="0"/>
              <a:t>IS-IS</a:t>
            </a:r>
            <a:r>
              <a:rPr lang="zh-CN" altLang="en-US" sz="1800" dirty="0"/>
              <a:t>进程后，配置的虚拟系统</a:t>
            </a:r>
            <a:r>
              <a:rPr lang="en-US" altLang="zh-CN" sz="1800" dirty="0"/>
              <a:t>ID</a:t>
            </a:r>
            <a:r>
              <a:rPr lang="zh-CN" altLang="en-US" sz="1800" dirty="0"/>
              <a:t>才会生效。</a:t>
            </a:r>
            <a:endParaRPr lang="zh-CN" altLang="en-US" sz="1800" dirty="0"/>
          </a:p>
        </p:txBody>
      </p:sp>
      <p:sp>
        <p:nvSpPr>
          <p:cNvPr id="10" name="矩形 9"/>
          <p:cNvSpPr/>
          <p:nvPr/>
        </p:nvSpPr>
        <p:spPr>
          <a:xfrm>
            <a:off x="1031917" y="1559172"/>
            <a:ext cx="10608699" cy="338554"/>
          </a:xfrm>
          <a:prstGeom prst="rect">
            <a:avLst/>
          </a:prstGeom>
          <a:solidFill>
            <a:schemeClr val="bg1">
              <a:lumMod val="85000"/>
            </a:schemeClr>
          </a:solid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altLang="zh-CN" sz="1600" dirty="0">
                <a:cs typeface="Courier New" panose="02070309020205020404" pitchFamily="49" charset="0"/>
              </a:rPr>
              <a:t>[Huawei-isis-1] </a:t>
            </a:r>
            <a:r>
              <a:rPr lang="en-US" altLang="zh-CN" sz="1600" b="1" dirty="0" err="1"/>
              <a:t>lsp</a:t>
            </a:r>
            <a:r>
              <a:rPr lang="en-US" altLang="zh-CN" sz="1600" b="1" dirty="0"/>
              <a:t>-fragments-extend</a:t>
            </a:r>
            <a:r>
              <a:rPr lang="en-US" altLang="zh-CN" sz="1600" dirty="0"/>
              <a:t> [ [ </a:t>
            </a:r>
            <a:r>
              <a:rPr lang="en-US" altLang="zh-CN" sz="1600" b="1" dirty="0"/>
              <a:t>level-1</a:t>
            </a:r>
            <a:r>
              <a:rPr lang="en-US" altLang="zh-CN" sz="1600" dirty="0"/>
              <a:t> | </a:t>
            </a:r>
            <a:r>
              <a:rPr lang="en-US" altLang="zh-CN" sz="1600" b="1" dirty="0"/>
              <a:t>level-2</a:t>
            </a:r>
            <a:r>
              <a:rPr lang="en-US" altLang="zh-CN" sz="1600" dirty="0"/>
              <a:t> | </a:t>
            </a:r>
            <a:r>
              <a:rPr lang="en-US" altLang="zh-CN" sz="1600" b="1" dirty="0"/>
              <a:t>level-1-2</a:t>
            </a:r>
            <a:r>
              <a:rPr lang="en-US" altLang="zh-CN" sz="1600" dirty="0"/>
              <a:t> ] | [ </a:t>
            </a:r>
            <a:r>
              <a:rPr lang="en-US" altLang="zh-CN" sz="1600" b="1" dirty="0"/>
              <a:t>mode-1</a:t>
            </a:r>
            <a:r>
              <a:rPr lang="en-US" altLang="zh-CN" sz="1600" dirty="0"/>
              <a:t> | </a:t>
            </a:r>
            <a:r>
              <a:rPr lang="en-US" altLang="zh-CN" sz="1600" b="1" dirty="0"/>
              <a:t>mode-2</a:t>
            </a:r>
            <a:r>
              <a:rPr lang="en-US" altLang="zh-CN" sz="1600" dirty="0"/>
              <a:t> ] ] </a:t>
            </a:r>
            <a:endParaRPr lang="zh-CN" altLang="en-US" sz="1600" dirty="0">
              <a:cs typeface="Courier New" panose="02070309020205020404" pitchFamily="49" charset="0"/>
            </a:endParaRPr>
          </a:p>
        </p:txBody>
      </p:sp>
      <p:sp>
        <p:nvSpPr>
          <p:cNvPr id="11" name="矩形 10"/>
          <p:cNvSpPr/>
          <p:nvPr/>
        </p:nvSpPr>
        <p:spPr>
          <a:xfrm>
            <a:off x="551384" y="1154733"/>
            <a:ext cx="11089232" cy="33855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buFont typeface="+mj-lt"/>
              <a:buAutoNum type="arabicPeriod"/>
            </a:pPr>
            <a:r>
              <a:rPr lang="zh-CN" altLang="en-US" sz="1600" dirty="0">
                <a:cs typeface="Courier New" panose="02070309020205020404" pitchFamily="49" charset="0"/>
              </a:rPr>
              <a:t>使能</a:t>
            </a:r>
            <a:r>
              <a:rPr lang="en-US" altLang="zh-CN" sz="1600" dirty="0">
                <a:cs typeface="Courier New" panose="02070309020205020404" pitchFamily="49" charset="0"/>
              </a:rPr>
              <a:t>IS-IS</a:t>
            </a:r>
            <a:r>
              <a:rPr lang="zh-CN" altLang="en-US" sz="1600" dirty="0">
                <a:cs typeface="Courier New" panose="02070309020205020404" pitchFamily="49" charset="0"/>
              </a:rPr>
              <a:t>进程的</a:t>
            </a:r>
            <a:r>
              <a:rPr lang="en-US" altLang="zh-CN" sz="1600" dirty="0">
                <a:cs typeface="Courier New" panose="02070309020205020404" pitchFamily="49" charset="0"/>
              </a:rPr>
              <a:t>LSP</a:t>
            </a:r>
            <a:r>
              <a:rPr lang="zh-CN" altLang="en-US" sz="1600" dirty="0">
                <a:cs typeface="Courier New" panose="02070309020205020404" pitchFamily="49" charset="0"/>
              </a:rPr>
              <a:t>分片扩展。</a:t>
            </a:r>
            <a:endParaRPr lang="zh-CN" altLang="en-US" sz="1600" dirty="0">
              <a:cs typeface="Courier New" panose="02070309020205020404" pitchFamily="49" charset="0"/>
            </a:endParaRPr>
          </a:p>
        </p:txBody>
      </p:sp>
      <p:sp>
        <p:nvSpPr>
          <p:cNvPr id="12" name="矩形 11"/>
          <p:cNvSpPr/>
          <p:nvPr/>
        </p:nvSpPr>
        <p:spPr>
          <a:xfrm>
            <a:off x="1031917" y="1912384"/>
            <a:ext cx="10608699"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缺省情况下，设备未使能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分片扩展功能。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分片扩展时，如果不指定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level</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级别，则默认为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和</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level-1-2</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a:xfrm>
            <a:off x="1031917" y="3415681"/>
            <a:ext cx="10608699" cy="338554"/>
          </a:xfrm>
          <a:prstGeom prst="rect">
            <a:avLst/>
          </a:prstGeom>
          <a:solidFill>
            <a:schemeClr val="bg1">
              <a:lumMod val="85000"/>
            </a:schemeClr>
          </a:solidFill>
          <a:ln>
            <a:no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r>
              <a:rPr lang="en-US" altLang="zh-CN" sz="1600" dirty="0">
                <a:cs typeface="Courier New" panose="02070309020205020404" pitchFamily="49" charset="0"/>
              </a:rPr>
              <a:t>[Huawei-isis-1] </a:t>
            </a:r>
            <a:r>
              <a:rPr lang="en-US" altLang="zh-CN" sz="1600" b="1" dirty="0"/>
              <a:t>virtual-system</a:t>
            </a:r>
            <a:r>
              <a:rPr lang="en-US" altLang="zh-CN" sz="1600" dirty="0"/>
              <a:t> </a:t>
            </a:r>
            <a:r>
              <a:rPr lang="en-US" altLang="zh-CN" sz="1600" i="1" dirty="0"/>
              <a:t>virtual-system-id</a:t>
            </a:r>
            <a:r>
              <a:rPr lang="en-US" altLang="zh-CN" sz="1600" dirty="0"/>
              <a:t> </a:t>
            </a:r>
            <a:endParaRPr lang="zh-CN" altLang="en-US" sz="1600" dirty="0">
              <a:cs typeface="Courier New" panose="02070309020205020404" pitchFamily="49" charset="0"/>
            </a:endParaRPr>
          </a:p>
        </p:txBody>
      </p:sp>
      <p:sp>
        <p:nvSpPr>
          <p:cNvPr id="16" name="矩形 15"/>
          <p:cNvSpPr/>
          <p:nvPr/>
        </p:nvSpPr>
        <p:spPr>
          <a:xfrm>
            <a:off x="551384" y="3011242"/>
            <a:ext cx="11089232" cy="33855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fontAlgn="auto">
              <a:buFont typeface="+mj-lt"/>
              <a:buAutoNum type="arabicPeriod" startAt="2"/>
            </a:pPr>
            <a:r>
              <a:rPr lang="zh-CN" altLang="en-US" sz="1600" dirty="0">
                <a:cs typeface="Courier New" panose="02070309020205020404" pitchFamily="49" charset="0"/>
              </a:rPr>
              <a:t>配置一个虚拟系统。</a:t>
            </a:r>
            <a:endParaRPr lang="zh-CN" altLang="en-US" sz="1600" dirty="0">
              <a:cs typeface="Courier New" panose="02070309020205020404" pitchFamily="49" charset="0"/>
            </a:endParaRPr>
          </a:p>
        </p:txBody>
      </p:sp>
      <p:sp>
        <p:nvSpPr>
          <p:cNvPr id="17" name="矩形 16"/>
          <p:cNvSpPr/>
          <p:nvPr/>
        </p:nvSpPr>
        <p:spPr>
          <a:xfrm>
            <a:off x="1031917" y="3768893"/>
            <a:ext cx="10608699" cy="1015663"/>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缺省情况下，设备没有配置虚拟系统。</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为了使设备生成扩展</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LSP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分片，应至少配置一个虚拟系统的系统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。这个虚拟系统的系统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在整个路由域中必须唯一。</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一个</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进程最多可配置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50</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个虚拟系统的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System 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五边形 19"/>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endParaRPr lang="zh-CN" altLang="en-US" dirty="0"/>
          </a:p>
        </p:txBody>
      </p:sp>
      <p:sp>
        <p:nvSpPr>
          <p:cNvPr id="3" name="文本占位符 2"/>
          <p:cNvSpPr>
            <a:spLocks noGrp="1"/>
          </p:cNvSpPr>
          <p:nvPr>
            <p:ph type="body" sz="quarter" idx="10"/>
          </p:nvPr>
        </p:nvSpPr>
        <p:spPr>
          <a:xfrm>
            <a:off x="455612" y="1047751"/>
            <a:ext cx="11293475" cy="1051016"/>
          </a:xfrm>
        </p:spPr>
        <p:txBody>
          <a:bodyPr/>
          <a:lstStyle/>
          <a:p>
            <a:r>
              <a:rPr lang="en-US" altLang="zh-CN" sz="2000" dirty="0"/>
              <a:t>IS-IS GR</a:t>
            </a:r>
            <a:r>
              <a:rPr lang="zh-CN" altLang="en-US" sz="2000" dirty="0"/>
              <a:t>是一种支持</a:t>
            </a:r>
            <a:r>
              <a:rPr lang="en-US" altLang="zh-CN" sz="2000" dirty="0"/>
              <a:t>GR</a:t>
            </a:r>
            <a:r>
              <a:rPr lang="zh-CN" altLang="en-US" sz="2000" dirty="0"/>
              <a:t>能力的高可靠性技术，可以实现数据的不间断转发。</a:t>
            </a:r>
            <a:endParaRPr lang="en-US" altLang="zh-CN" sz="2000" dirty="0"/>
          </a:p>
          <a:p>
            <a:r>
              <a:rPr lang="zh-CN" altLang="en-US" sz="2000" dirty="0"/>
              <a:t>为了实现</a:t>
            </a:r>
            <a:r>
              <a:rPr lang="en-US" altLang="zh-CN" sz="2000" dirty="0"/>
              <a:t>GR</a:t>
            </a:r>
            <a:r>
              <a:rPr lang="zh-CN" altLang="en-US" sz="2000" dirty="0"/>
              <a:t>，</a:t>
            </a:r>
            <a:r>
              <a:rPr lang="en-US" altLang="zh-CN" sz="2000" dirty="0"/>
              <a:t>IS-IS</a:t>
            </a:r>
            <a:r>
              <a:rPr lang="zh-CN" altLang="en-US" sz="2000" dirty="0"/>
              <a:t>引入</a:t>
            </a:r>
            <a:r>
              <a:rPr lang="en-US" altLang="zh-CN" sz="2000" dirty="0"/>
              <a:t>211</a:t>
            </a:r>
            <a:r>
              <a:rPr lang="zh-CN" altLang="en-US" sz="2000" dirty="0"/>
              <a:t>号</a:t>
            </a:r>
            <a:r>
              <a:rPr lang="en-US" altLang="zh-CN" sz="2000" dirty="0"/>
              <a:t>TLV</a:t>
            </a:r>
            <a:r>
              <a:rPr lang="zh-CN" altLang="en-US" sz="2000" dirty="0"/>
              <a:t>（</a:t>
            </a:r>
            <a:r>
              <a:rPr lang="en-US" altLang="zh-CN" sz="2000" dirty="0"/>
              <a:t>Restart TLV</a:t>
            </a:r>
            <a:r>
              <a:rPr lang="zh-CN" altLang="en-US" sz="2000" dirty="0"/>
              <a:t>）和</a:t>
            </a:r>
            <a:r>
              <a:rPr lang="en-US" altLang="zh-CN" sz="2000" dirty="0"/>
              <a:t>T1</a:t>
            </a:r>
            <a:r>
              <a:rPr lang="zh-CN" altLang="en-US" sz="2000" dirty="0"/>
              <a:t>、</a:t>
            </a:r>
            <a:r>
              <a:rPr lang="en-US" altLang="zh-CN" sz="2000" dirty="0"/>
              <a:t>T2</a:t>
            </a:r>
            <a:r>
              <a:rPr lang="zh-CN" altLang="en-US" sz="2000" dirty="0"/>
              <a:t>、</a:t>
            </a:r>
            <a:r>
              <a:rPr lang="en-US" altLang="zh-CN" sz="2000" dirty="0"/>
              <a:t>T3</a:t>
            </a:r>
            <a:r>
              <a:rPr lang="zh-CN" altLang="en-US" sz="2000" dirty="0"/>
              <a:t>三个定时器。</a:t>
            </a:r>
            <a:endParaRPr lang="zh-CN" altLang="en-US" sz="2000" dirty="0"/>
          </a:p>
        </p:txBody>
      </p:sp>
      <p:graphicFrame>
        <p:nvGraphicFramePr>
          <p:cNvPr id="4" name="表格 3"/>
          <p:cNvGraphicFramePr>
            <a:graphicFrameLocks noGrp="1"/>
          </p:cNvGraphicFramePr>
          <p:nvPr/>
        </p:nvGraphicFramePr>
        <p:xfrm>
          <a:off x="898611" y="3599502"/>
          <a:ext cx="4483286" cy="1334268"/>
        </p:xfrm>
        <a:graphic>
          <a:graphicData uri="http://schemas.openxmlformats.org/drawingml/2006/table">
            <a:tbl>
              <a:tblPr firstRow="1" bandRow="1"/>
              <a:tblGrid>
                <a:gridCol w="2802053"/>
                <a:gridCol w="560411"/>
                <a:gridCol w="560411"/>
                <a:gridCol w="560411"/>
              </a:tblGrid>
              <a:tr h="209934">
                <a:tc gridSpan="4">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Type = 211</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hMerge="1">
                  <a:tcPr/>
                </a:tc>
                <a:tc hMerge="1">
                  <a:tcPr/>
                </a:tc>
              </a:tr>
              <a:tr h="209934">
                <a:tc gridSpan="4">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Length</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hMerge="1">
                  <a:tcPr/>
                </a:tc>
                <a:tc hMerge="1">
                  <a:tcPr/>
                </a:tc>
                <a:tc hMerge="1">
                  <a:tcPr/>
                </a:tc>
              </a:tr>
              <a:tr h="209934">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Reserved</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chemeClr val="bg1"/>
                    </a:solidFill>
                  </a:tcPr>
                </a:tc>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SA</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RA</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RR</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r>
              <a:tr h="419868">
                <a:tc gridSpan="4">
                  <a:txBody>
                    <a:bodyPr/>
                    <a:lstStyle/>
                    <a:p>
                      <a:pPr marL="0" marR="0" lvl="0" indent="0" algn="ctr" defTabSz="784225" rtl="0" eaLnBrk="1" fontAlgn="base" latinLnBrk="0" hangingPunct="1">
                        <a:lnSpc>
                          <a:spcPct val="100000"/>
                        </a:lnSpc>
                        <a:spcBef>
                          <a:spcPts val="0"/>
                        </a:spcBef>
                        <a:spcAft>
                          <a:spcPct val="0"/>
                        </a:spcAft>
                        <a:buClr>
                          <a:srgbClr val="808080"/>
                        </a:buClr>
                        <a:buSzPct val="60000"/>
                        <a:buFont typeface="Wingdings" panose="05000000000000000000" pitchFamily="2" charset="2"/>
                        <a:buNone/>
                      </a:pPr>
                      <a:r>
                        <a:rPr kumimoji="0" lang="en-US" altLang="zh-CN" sz="1400" b="0" i="0" u="none" strike="noStrike" kern="1200" cap="none" normalizeH="0" baseline="0" dirty="0">
                          <a:ln>
                            <a:noFill/>
                          </a:ln>
                          <a:solidFill>
                            <a:schemeClr val="tx1"/>
                          </a:solidFill>
                          <a:effectLst/>
                          <a:latin typeface="+mn-lt"/>
                          <a:ea typeface="+mn-ea"/>
                          <a:cs typeface="+mn-cs"/>
                        </a:rPr>
                        <a:t>Remaining Time</a:t>
                      </a:r>
                      <a:endParaRPr kumimoji="0" lang="zh-CN" altLang="en-US" sz="1400" b="0" i="0" u="none" strike="noStrike" kern="1200" cap="none" normalizeH="0" baseline="0" dirty="0">
                        <a:ln>
                          <a:noFill/>
                        </a:ln>
                        <a:solidFill>
                          <a:schemeClr val="tx1"/>
                        </a:solidFill>
                        <a:effectLst/>
                        <a:latin typeface="+mn-lt"/>
                        <a:ea typeface="+mn-ea"/>
                        <a:cs typeface="+mn-cs"/>
                      </a:endParaRPr>
                    </a:p>
                  </a:txBody>
                  <a:tcPr anchor="ctr">
                    <a:lnL w="12700" cap="flat" cmpd="sng" algn="ctr">
                      <a:solidFill>
                        <a:srgbClr val="94DAE2"/>
                      </a:solidFill>
                      <a:prstDash val="solid"/>
                      <a:round/>
                      <a:headEnd type="none" w="med" len="med"/>
                      <a:tailEnd type="none" w="med" len="med"/>
                    </a:lnL>
                    <a:lnR w="12700" cap="flat" cmpd="sng" algn="ctr">
                      <a:solidFill>
                        <a:srgbClr val="94DAE2"/>
                      </a:solidFill>
                      <a:prstDash val="solid"/>
                      <a:round/>
                      <a:headEnd type="none" w="med" len="med"/>
                      <a:tailEnd type="none" w="med" len="med"/>
                    </a:lnR>
                    <a:lnT w="12700" cap="flat" cmpd="sng" algn="ctr">
                      <a:solidFill>
                        <a:srgbClr val="94DAE2"/>
                      </a:solidFill>
                      <a:prstDash val="solid"/>
                      <a:round/>
                      <a:headEnd type="none" w="med" len="med"/>
                      <a:tailEnd type="none" w="med" len="med"/>
                    </a:lnT>
                    <a:lnB w="12700" cap="flat" cmpd="sng" algn="ctr">
                      <a:solidFill>
                        <a:srgbClr val="94DAE2"/>
                      </a:solidFill>
                      <a:prstDash val="solid"/>
                      <a:round/>
                      <a:headEnd type="none" w="med" len="med"/>
                      <a:tailEnd type="none" w="med" len="med"/>
                    </a:lnB>
                    <a:solidFill>
                      <a:srgbClr val="ECF9FA"/>
                    </a:solidFill>
                  </a:tcPr>
                </a:tc>
                <a:tc hMerge="1">
                  <a:tcPr/>
                </a:tc>
                <a:tc hMerge="1">
                  <a:tcPr/>
                </a:tc>
                <a:tc hMerge="1">
                  <a:tcPr/>
                </a:tc>
              </a:tr>
            </a:tbl>
          </a:graphicData>
        </a:graphic>
      </p:graphicFrame>
      <p:sp>
        <p:nvSpPr>
          <p:cNvPr id="5" name="圆角矩形 75"/>
          <p:cNvSpPr/>
          <p:nvPr/>
        </p:nvSpPr>
        <p:spPr bwMode="gray">
          <a:xfrm>
            <a:off x="655727" y="2177853"/>
            <a:ext cx="5440273"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211</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号</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TLV</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655727" y="2554157"/>
            <a:ext cx="5440273" cy="36466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653958" y="2514890"/>
            <a:ext cx="5440273" cy="1162015"/>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是包含在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IS-to-IS Hello PDUs</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）报文中的扩展部分。支持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IS-IS 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能力的设备的所有</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报文都包含</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中携带了协议重启的一些参数。</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6326776" y="2177853"/>
            <a:ext cx="5220788" cy="338820"/>
          </a:xfrm>
          <a:prstGeom prst="roundRect">
            <a:avLst>
              <a:gd name="adj" fmla="val 10604"/>
            </a:avLst>
          </a:prstGeom>
          <a:gradFill>
            <a:gsLst>
              <a:gs pos="0">
                <a:schemeClr val="bg1"/>
              </a:gs>
              <a:gs pos="100000">
                <a:srgbClr val="BEE9EE"/>
              </a:gs>
            </a:gsLst>
            <a:lin ang="5400000" scaled="1"/>
          </a:grad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定时器</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75"/>
          <p:cNvSpPr/>
          <p:nvPr/>
        </p:nvSpPr>
        <p:spPr bwMode="gray">
          <a:xfrm>
            <a:off x="6326776" y="2554157"/>
            <a:ext cx="5220788" cy="364661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75"/>
          <p:cNvSpPr/>
          <p:nvPr/>
        </p:nvSpPr>
        <p:spPr bwMode="gray">
          <a:xfrm>
            <a:off x="6325007" y="2514890"/>
            <a:ext cx="5220788" cy="3502733"/>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如果</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已发送</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置位的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报文，但直到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定时器超时还没有收到</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Helper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的包含</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且</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置位的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报文的确认消息时，会重置</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定时器并继续发送包含</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报文。当收到确认报文或者</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定时器已超时</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次时，取消</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定时器缺省设置为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3</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从重启开始到本</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Level</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所有设备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完成同步的时间。</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定时器是系统等待各层</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LSDB</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同步的最长时间，一般情况下为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60</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600"/>
              </a:lnSpc>
              <a:spcBef>
                <a:spcPts val="0"/>
              </a:spcBef>
              <a:spcAft>
                <a:spcPts val="600"/>
              </a:spcAft>
              <a:buFont typeface="Arial" panose="020B0604020202020204" pitchFamily="34" charset="0"/>
              <a:buChar char="•"/>
            </a:pPr>
            <a:r>
              <a:rPr lang="en-US" altLang="zh-CN"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400" b="1"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 Restarter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成功完成</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所允许的最大时间。</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定时器的初始值为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65535</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秒。</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定时器超时表示</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GR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失败。</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75"/>
          <p:cNvSpPr/>
          <p:nvPr/>
        </p:nvSpPr>
        <p:spPr bwMode="gray">
          <a:xfrm>
            <a:off x="653958" y="4987909"/>
            <a:ext cx="5440273" cy="1162015"/>
          </a:xfrm>
          <a:prstGeom prst="roundRect">
            <a:avLst>
              <a:gd name="adj" fmla="val 874"/>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200"/>
              </a:lnSpc>
              <a:spcBef>
                <a:spcPts val="0"/>
              </a:spcBef>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Suppress adjacency advertisement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）：抑制发布邻接关系位</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200"/>
              </a:lnSpc>
              <a:spcBef>
                <a:spcPts val="0"/>
              </a:spcBef>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RA</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Acknowledgement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）：重启应答位</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200"/>
              </a:lnSpc>
              <a:spcBef>
                <a:spcPts val="0"/>
              </a:spcBef>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RR</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Restart Request</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）：重启请求位</a:t>
            </a:r>
            <a:endPar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marL="177800" indent="-177800" algn="just" fontAlgn="auto">
              <a:lnSpc>
                <a:spcPts val="2200"/>
              </a:lnSpc>
              <a:spcBef>
                <a:spcPts val="0"/>
              </a:spcBef>
              <a:buFont typeface="Arial" panose="020B0604020202020204" pitchFamily="34" charset="0"/>
              <a:buChar char="•"/>
            </a:pP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Remaining Time</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：邻居保持邻接关系不重置的时间</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五边形 14"/>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燕尾形 15"/>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燕尾形 16"/>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r>
              <a:rPr lang="zh-CN" altLang="en-US" dirty="0"/>
              <a:t>的过程 </a:t>
            </a:r>
            <a:r>
              <a:rPr lang="en-US" altLang="zh-CN" dirty="0"/>
              <a:t>(Restarting) (1)</a:t>
            </a:r>
            <a:endParaRPr lang="zh-CN" altLang="en-US" dirty="0"/>
          </a:p>
        </p:txBody>
      </p:sp>
      <p:sp>
        <p:nvSpPr>
          <p:cNvPr id="3" name="文本占位符 2"/>
          <p:cNvSpPr>
            <a:spLocks noGrp="1"/>
          </p:cNvSpPr>
          <p:nvPr>
            <p:ph type="body" sz="quarter" idx="10"/>
          </p:nvPr>
        </p:nvSpPr>
        <p:spPr>
          <a:xfrm>
            <a:off x="455612" y="1047751"/>
            <a:ext cx="11293475" cy="502376"/>
          </a:xfrm>
        </p:spPr>
        <p:txBody>
          <a:bodyPr/>
          <a:lstStyle/>
          <a:p>
            <a:r>
              <a:rPr lang="zh-CN" altLang="en-US" sz="2000" dirty="0"/>
              <a:t>主备倒换和重启</a:t>
            </a:r>
            <a:r>
              <a:rPr lang="en-US" altLang="zh-CN" sz="2000" dirty="0"/>
              <a:t>IS-IS</a:t>
            </a:r>
            <a:r>
              <a:rPr lang="zh-CN" altLang="en-US" sz="2000" dirty="0"/>
              <a:t>进程触发的</a:t>
            </a:r>
            <a:r>
              <a:rPr lang="en-US" altLang="zh-CN" sz="2000" dirty="0"/>
              <a:t>GR</a:t>
            </a:r>
            <a:r>
              <a:rPr lang="zh-CN" altLang="en-US" sz="2000" dirty="0"/>
              <a:t>过程称为</a:t>
            </a:r>
            <a:r>
              <a:rPr lang="en-US" altLang="zh-CN" sz="2000" dirty="0"/>
              <a:t>Restarting</a:t>
            </a:r>
            <a:r>
              <a:rPr lang="zh-CN" altLang="en-US" sz="2000" dirty="0"/>
              <a:t>，</a:t>
            </a:r>
            <a:r>
              <a:rPr lang="en-US" altLang="zh-CN" sz="2000" dirty="0"/>
              <a:t>FIB</a:t>
            </a:r>
            <a:r>
              <a:rPr lang="zh-CN" altLang="en-US" sz="2000" dirty="0"/>
              <a:t>表保持不变。</a:t>
            </a:r>
            <a:endParaRPr lang="zh-CN" altLang="en-US" sz="2000" dirty="0"/>
          </a:p>
        </p:txBody>
      </p:sp>
      <p:grpSp>
        <p:nvGrpSpPr>
          <p:cNvPr id="5" name="组合 4"/>
          <p:cNvGrpSpPr/>
          <p:nvPr/>
        </p:nvGrpSpPr>
        <p:grpSpPr>
          <a:xfrm>
            <a:off x="1577478" y="1607070"/>
            <a:ext cx="3631808" cy="1020127"/>
            <a:chOff x="1874790" y="1395473"/>
            <a:chExt cx="3631808" cy="1020127"/>
          </a:xfrm>
        </p:grpSpPr>
        <p:sp>
          <p:nvSpPr>
            <p:cNvPr id="31" name="文本框 30"/>
            <p:cNvSpPr txBox="1"/>
            <p:nvPr/>
          </p:nvSpPr>
          <p:spPr bwMode="gray">
            <a:xfrm>
              <a:off x="1874790" y="2107823"/>
              <a:ext cx="1285929" cy="307777"/>
            </a:xfrm>
            <a:prstGeom prst="rect">
              <a:avLst/>
            </a:prstGeom>
            <a:noFill/>
          </p:spPr>
          <p:txBody>
            <a:bodyPr wrap="none" rtlCol="0">
              <a:spAutoFit/>
            </a:bodyPr>
            <a:lstStyle/>
            <a:p>
              <a:pPr algn="ctr"/>
              <a:r>
                <a:rPr lang="en-US" altLang="zh-CN" sz="1400" b="1" dirty="0"/>
                <a:t>GR Restarter</a:t>
              </a:r>
              <a:endParaRPr lang="zh-CN" altLang="en-US" sz="1400" b="1" dirty="0"/>
            </a:p>
          </p:txBody>
        </p:sp>
        <p:pic>
          <p:nvPicPr>
            <p:cNvPr id="32" name="图片 31"/>
            <p:cNvPicPr/>
            <p:nvPr/>
          </p:nvPicPr>
          <p:blipFill>
            <a:blip r:embed="rId1" cstate="print">
              <a:extLst>
                <a:ext uri="{28A0092B-C50C-407E-A947-70E740481C1C}">
                  <a14:useLocalDpi xmlns:a14="http://schemas.microsoft.com/office/drawing/2010/main" val="0"/>
                </a:ext>
              </a:extLst>
            </a:blip>
            <a:stretch>
              <a:fillRect/>
            </a:stretch>
          </p:blipFill>
          <p:spPr bwMode="gray">
            <a:xfrm>
              <a:off x="2247754" y="1665023"/>
              <a:ext cx="540000" cy="442800"/>
            </a:xfrm>
            <a:prstGeom prst="rect">
              <a:avLst/>
            </a:prstGeom>
          </p:spPr>
        </p:pic>
        <p:cxnSp>
          <p:nvCxnSpPr>
            <p:cNvPr id="33" name="直接连接符 32"/>
            <p:cNvCxnSpPr>
              <a:stCxn id="32" idx="3"/>
              <a:endCxn id="34" idx="1"/>
            </p:cNvCxnSpPr>
            <p:nvPr/>
          </p:nvCxnSpPr>
          <p:spPr bwMode="gray">
            <a:xfrm>
              <a:off x="2787754" y="1886423"/>
              <a:ext cx="19140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33"/>
            <p:cNvPicPr/>
            <p:nvPr/>
          </p:nvPicPr>
          <p:blipFill>
            <a:blip r:embed="rId1" cstate="print">
              <a:extLst>
                <a:ext uri="{28A0092B-C50C-407E-A947-70E740481C1C}">
                  <a14:useLocalDpi xmlns:a14="http://schemas.microsoft.com/office/drawing/2010/main" val="0"/>
                </a:ext>
              </a:extLst>
            </a:blip>
            <a:stretch>
              <a:fillRect/>
            </a:stretch>
          </p:blipFill>
          <p:spPr bwMode="gray">
            <a:xfrm>
              <a:off x="4701836" y="1665023"/>
              <a:ext cx="540000" cy="442800"/>
            </a:xfrm>
            <a:prstGeom prst="rect">
              <a:avLst/>
            </a:prstGeom>
          </p:spPr>
        </p:pic>
        <p:sp>
          <p:nvSpPr>
            <p:cNvPr id="35" name="文本框 34"/>
            <p:cNvSpPr txBox="1"/>
            <p:nvPr/>
          </p:nvSpPr>
          <p:spPr bwMode="gray">
            <a:xfrm>
              <a:off x="4437074" y="2107823"/>
              <a:ext cx="1069524" cy="307777"/>
            </a:xfrm>
            <a:prstGeom prst="rect">
              <a:avLst/>
            </a:prstGeom>
            <a:noFill/>
          </p:spPr>
          <p:txBody>
            <a:bodyPr wrap="none" rtlCol="0">
              <a:spAutoFit/>
            </a:bodyPr>
            <a:lstStyle/>
            <a:p>
              <a:pPr algn="ctr"/>
              <a:r>
                <a:rPr lang="en-US" altLang="zh-CN" sz="1400" b="1" dirty="0"/>
                <a:t>GR Helper</a:t>
              </a:r>
              <a:endParaRPr lang="zh-CN" altLang="en-US" sz="1400" b="1" dirty="0"/>
            </a:p>
          </p:txBody>
        </p:sp>
        <p:sp>
          <p:nvSpPr>
            <p:cNvPr id="36" name="文本框 35"/>
            <p:cNvSpPr txBox="1"/>
            <p:nvPr/>
          </p:nvSpPr>
          <p:spPr bwMode="gray">
            <a:xfrm>
              <a:off x="2314814" y="1395473"/>
              <a:ext cx="405880" cy="307777"/>
            </a:xfrm>
            <a:prstGeom prst="rect">
              <a:avLst/>
            </a:prstGeom>
            <a:noFill/>
          </p:spPr>
          <p:txBody>
            <a:bodyPr wrap="none" rtlCol="0">
              <a:spAutoFit/>
            </a:bodyPr>
            <a:lstStyle/>
            <a:p>
              <a:pPr algn="ctr"/>
              <a:r>
                <a:rPr lang="en-US" altLang="zh-CN" sz="1400" dirty="0"/>
                <a:t>R1</a:t>
              </a:r>
              <a:endParaRPr lang="zh-CN" altLang="en-US" sz="1400" dirty="0"/>
            </a:p>
          </p:txBody>
        </p:sp>
        <p:sp>
          <p:nvSpPr>
            <p:cNvPr id="37" name="文本框 36"/>
            <p:cNvSpPr txBox="1"/>
            <p:nvPr/>
          </p:nvSpPr>
          <p:spPr bwMode="gray">
            <a:xfrm>
              <a:off x="4768895" y="1395473"/>
              <a:ext cx="40588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38" name="文本框 37"/>
            <p:cNvSpPr txBox="1"/>
            <p:nvPr/>
          </p:nvSpPr>
          <p:spPr bwMode="gray">
            <a:xfrm>
              <a:off x="3184386" y="1558300"/>
              <a:ext cx="1120820" cy="307777"/>
            </a:xfrm>
            <a:prstGeom prst="rect">
              <a:avLst/>
            </a:prstGeom>
            <a:noFill/>
          </p:spPr>
          <p:txBody>
            <a:bodyPr wrap="none" rtlCol="0">
              <a:spAutoFit/>
            </a:bodyPr>
            <a:lstStyle/>
            <a:p>
              <a:pPr algn="ctr"/>
              <a:r>
                <a:rPr lang="en-US" altLang="zh-CN" sz="1400" b="1" dirty="0"/>
                <a:t>GR Session</a:t>
              </a:r>
              <a:endParaRPr lang="zh-CN" altLang="en-US" sz="1400" b="1" dirty="0"/>
            </a:p>
          </p:txBody>
        </p:sp>
      </p:grpSp>
      <p:cxnSp>
        <p:nvCxnSpPr>
          <p:cNvPr id="6" name="直接连接符 5"/>
          <p:cNvCxnSpPr/>
          <p:nvPr/>
        </p:nvCxnSpPr>
        <p:spPr bwMode="gray">
          <a:xfrm>
            <a:off x="2367387" y="344330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a:off x="2221839" y="2762220"/>
            <a:ext cx="0" cy="32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4669337" y="2762220"/>
            <a:ext cx="0" cy="32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2367387" y="399086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120"/>
          <p:cNvSpPr txBox="1"/>
          <p:nvPr/>
        </p:nvSpPr>
        <p:spPr bwMode="gray">
          <a:xfrm>
            <a:off x="2536497" y="2974540"/>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a:off x="2367387" y="453842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Box 120"/>
          <p:cNvSpPr txBox="1"/>
          <p:nvPr/>
        </p:nvSpPr>
        <p:spPr bwMode="gray">
          <a:xfrm>
            <a:off x="2776278" y="4269582"/>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CSNP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连接符 13"/>
          <p:cNvCxnSpPr/>
          <p:nvPr/>
        </p:nvCxnSpPr>
        <p:spPr bwMode="gray">
          <a:xfrm>
            <a:off x="2367387" y="563354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TextBox 120"/>
          <p:cNvSpPr txBox="1"/>
          <p:nvPr/>
        </p:nvSpPr>
        <p:spPr bwMode="gray">
          <a:xfrm>
            <a:off x="2743434" y="5357103"/>
            <a:ext cx="1407905"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Flood 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p:nvPr/>
        </p:nvCxnSpPr>
        <p:spPr bwMode="gray">
          <a:xfrm>
            <a:off x="2367387" y="508598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20"/>
          <p:cNvSpPr txBox="1"/>
          <p:nvPr/>
        </p:nvSpPr>
        <p:spPr bwMode="gray">
          <a:xfrm>
            <a:off x="2776278" y="4799537"/>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20"/>
          <p:cNvSpPr txBox="1"/>
          <p:nvPr/>
        </p:nvSpPr>
        <p:spPr bwMode="gray">
          <a:xfrm>
            <a:off x="853635" y="2792998"/>
            <a:ext cx="1369145"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设备主备倒换</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0"/>
          <p:cNvSpPr txBox="1"/>
          <p:nvPr/>
        </p:nvSpPr>
        <p:spPr bwMode="gray">
          <a:xfrm>
            <a:off x="444141" y="3298438"/>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0"/>
          <p:cNvSpPr txBox="1"/>
          <p:nvPr/>
        </p:nvSpPr>
        <p:spPr bwMode="gray">
          <a:xfrm>
            <a:off x="4665278" y="5495043"/>
            <a:ext cx="1517812" cy="276999"/>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p:cNvSpPr txBox="1"/>
          <p:nvPr/>
        </p:nvSpPr>
        <p:spPr bwMode="gray">
          <a:xfrm>
            <a:off x="2536497" y="3523102"/>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p:cNvSpPr txBox="1"/>
          <p:nvPr/>
        </p:nvSpPr>
        <p:spPr bwMode="gray">
          <a:xfrm>
            <a:off x="444141" y="3846267"/>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p:cNvSpPr txBox="1"/>
          <p:nvPr/>
        </p:nvSpPr>
        <p:spPr bwMode="gray">
          <a:xfrm>
            <a:off x="444141" y="4403749"/>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p:cNvSpPr txBox="1"/>
          <p:nvPr/>
        </p:nvSpPr>
        <p:spPr bwMode="gray">
          <a:xfrm>
            <a:off x="444141" y="4933573"/>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p:cNvSpPr txBox="1"/>
          <p:nvPr/>
        </p:nvSpPr>
        <p:spPr bwMode="gray">
          <a:xfrm>
            <a:off x="444141" y="5403269"/>
            <a:ext cx="1778639" cy="461665"/>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占位符 2"/>
          <p:cNvSpPr txBox="1"/>
          <p:nvPr/>
        </p:nvSpPr>
        <p:spPr bwMode="auto">
          <a:xfrm>
            <a:off x="5760127" y="1484313"/>
            <a:ext cx="5988960" cy="4716461"/>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ctr" latinLnBrk="0" hangingPunct="1">
              <a:lnSpc>
                <a:spcPct val="140000"/>
              </a:lnSpc>
              <a:spcBef>
                <a:spcPts val="790"/>
              </a:spcBef>
              <a:buClrTx/>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SzPct val="100000"/>
              <a:buFont typeface="+mj-lt"/>
              <a:buAutoNum type="arabicPeriod"/>
            </a:pPr>
            <a:r>
              <a:rPr lang="en-US" altLang="zh-CN" sz="1400" dirty="0"/>
              <a:t>GR Restarter</a:t>
            </a:r>
            <a:r>
              <a:rPr lang="zh-CN" altLang="en-US" sz="1400" dirty="0"/>
              <a:t>进行协议重启后，</a:t>
            </a:r>
            <a:r>
              <a:rPr lang="en-US" altLang="zh-CN" sz="1400" dirty="0"/>
              <a:t>GR Restarter</a:t>
            </a:r>
            <a:r>
              <a:rPr lang="zh-CN" altLang="en-US" sz="1400" dirty="0"/>
              <a:t>进行如下操作：</a:t>
            </a:r>
            <a:endParaRPr lang="zh-CN" altLang="en-US" sz="1400" dirty="0"/>
          </a:p>
          <a:p>
            <a:pPr lvl="1"/>
            <a:r>
              <a:rPr lang="zh-CN" altLang="en-US" sz="1200" dirty="0"/>
              <a:t>启动</a:t>
            </a:r>
            <a:r>
              <a:rPr lang="en-US" altLang="zh-CN" sz="1200" dirty="0"/>
              <a:t>T1</a:t>
            </a:r>
            <a:r>
              <a:rPr lang="zh-CN" altLang="en-US" sz="1200" dirty="0"/>
              <a:t>、</a:t>
            </a:r>
            <a:r>
              <a:rPr lang="en-US" altLang="zh-CN" sz="1200" dirty="0"/>
              <a:t>T2</a:t>
            </a:r>
            <a:r>
              <a:rPr lang="zh-CN" altLang="en-US" sz="1200" dirty="0"/>
              <a:t>和</a:t>
            </a:r>
            <a:r>
              <a:rPr lang="en-US" altLang="zh-CN" sz="1200" dirty="0"/>
              <a:t>T3</a:t>
            </a:r>
            <a:r>
              <a:rPr lang="zh-CN" altLang="en-US" sz="1200" dirty="0"/>
              <a:t>定时器。</a:t>
            </a:r>
            <a:endParaRPr lang="zh-CN" altLang="en-US" sz="1200" dirty="0"/>
          </a:p>
          <a:p>
            <a:pPr lvl="1"/>
            <a:r>
              <a:rPr lang="zh-CN" altLang="en-US" sz="1200" dirty="0"/>
              <a:t>从所有接口发送包含</a:t>
            </a:r>
            <a:r>
              <a:rPr lang="en-US" altLang="zh-CN" sz="1200" dirty="0"/>
              <a:t>Restart TLV</a:t>
            </a:r>
            <a:r>
              <a:rPr lang="zh-CN" altLang="en-US" sz="1200" dirty="0"/>
              <a:t>的</a:t>
            </a:r>
            <a:r>
              <a:rPr lang="en-US" altLang="zh-CN" sz="1200" dirty="0"/>
              <a:t>IIH</a:t>
            </a:r>
            <a:r>
              <a:rPr lang="zh-CN" altLang="en-US" sz="1200" dirty="0"/>
              <a:t>报文，其中</a:t>
            </a:r>
            <a:r>
              <a:rPr lang="en-US" altLang="zh-CN" sz="1200" dirty="0"/>
              <a:t>RR</a:t>
            </a:r>
            <a:r>
              <a:rPr lang="zh-CN" altLang="en-US" sz="1200" dirty="0"/>
              <a:t>置位，</a:t>
            </a:r>
            <a:r>
              <a:rPr lang="en-US" altLang="zh-CN" sz="1200" dirty="0"/>
              <a:t>RA</a:t>
            </a:r>
            <a:r>
              <a:rPr lang="zh-CN" altLang="en-US" sz="1200" dirty="0"/>
              <a:t>和</a:t>
            </a:r>
            <a:r>
              <a:rPr lang="en-US" altLang="zh-CN" sz="1200" dirty="0"/>
              <a:t>SA</a:t>
            </a:r>
            <a:r>
              <a:rPr lang="zh-CN" altLang="en-US" sz="1200" dirty="0"/>
              <a:t>位清除。</a:t>
            </a:r>
            <a:endParaRPr lang="en-US" altLang="zh-CN" sz="1200" dirty="0"/>
          </a:p>
          <a:p>
            <a:pPr marL="342900" indent="-342900">
              <a:buSzPct val="100000"/>
              <a:buFont typeface="+mj-lt"/>
              <a:buAutoNum type="arabicPeriod"/>
            </a:pPr>
            <a:r>
              <a:rPr lang="en-US" altLang="zh-CN" sz="1400" dirty="0"/>
              <a:t>GR Helper</a:t>
            </a:r>
            <a:r>
              <a:rPr lang="zh-CN" altLang="en-US" sz="1400" dirty="0"/>
              <a:t>收到</a:t>
            </a:r>
            <a:r>
              <a:rPr lang="en-US" altLang="zh-CN" sz="1400" dirty="0"/>
              <a:t>IIH</a:t>
            </a:r>
            <a:r>
              <a:rPr lang="zh-CN" altLang="en-US" sz="1400" dirty="0"/>
              <a:t>报文以后，进行如下操作：</a:t>
            </a:r>
            <a:endParaRPr lang="zh-CN" altLang="en-US" sz="1400" dirty="0"/>
          </a:p>
          <a:p>
            <a:pPr lvl="1"/>
            <a:r>
              <a:rPr lang="en-US" altLang="zh-CN" sz="1200" dirty="0"/>
              <a:t>GR Helper</a:t>
            </a:r>
            <a:r>
              <a:rPr lang="zh-CN" altLang="en-US" sz="1200" dirty="0"/>
              <a:t>维持邻居关系，刷新当前的</a:t>
            </a:r>
            <a:r>
              <a:rPr lang="en-US" altLang="zh-CN" sz="1200" dirty="0" err="1"/>
              <a:t>Holdtime</a:t>
            </a:r>
            <a:r>
              <a:rPr lang="zh-CN" altLang="en-US" sz="1200" dirty="0"/>
              <a:t>。</a:t>
            </a:r>
            <a:endParaRPr lang="zh-CN" altLang="en-US" sz="1200" dirty="0"/>
          </a:p>
          <a:p>
            <a:pPr lvl="1"/>
            <a:r>
              <a:rPr lang="zh-CN" altLang="en-US" sz="1200" dirty="0"/>
              <a:t>回送一个包含</a:t>
            </a:r>
            <a:r>
              <a:rPr lang="en-US" altLang="zh-CN" sz="1200" dirty="0"/>
              <a:t>Restart TLV</a:t>
            </a:r>
            <a:r>
              <a:rPr lang="zh-CN" altLang="en-US" sz="1200" dirty="0"/>
              <a:t>的</a:t>
            </a:r>
            <a:r>
              <a:rPr lang="en-US" altLang="zh-CN" sz="1200" dirty="0"/>
              <a:t>IIH</a:t>
            </a:r>
            <a:r>
              <a:rPr lang="zh-CN" altLang="en-US" sz="1200" dirty="0"/>
              <a:t>报文（</a:t>
            </a:r>
            <a:r>
              <a:rPr lang="en-US" altLang="zh-CN" sz="1200" dirty="0"/>
              <a:t>RR</a:t>
            </a:r>
            <a:r>
              <a:rPr lang="zh-CN" altLang="en-US" sz="1200" dirty="0"/>
              <a:t>清除，</a:t>
            </a:r>
            <a:r>
              <a:rPr lang="en-US" altLang="zh-CN" sz="1200" dirty="0"/>
              <a:t>RA</a:t>
            </a:r>
            <a:r>
              <a:rPr lang="zh-CN" altLang="en-US" sz="1200" dirty="0"/>
              <a:t>置位，</a:t>
            </a:r>
            <a:r>
              <a:rPr lang="en-US" altLang="zh-CN" sz="1200" dirty="0"/>
              <a:t>Remaining time</a:t>
            </a:r>
            <a:r>
              <a:rPr lang="zh-CN" altLang="en-US" sz="1200" dirty="0"/>
              <a:t>是从现在到</a:t>
            </a:r>
            <a:r>
              <a:rPr lang="en-US" altLang="zh-CN" sz="1200" dirty="0" err="1"/>
              <a:t>Holdtime</a:t>
            </a:r>
            <a:r>
              <a:rPr lang="zh-CN" altLang="en-US" sz="1200" dirty="0"/>
              <a:t>超时的时间间隔）。</a:t>
            </a:r>
            <a:endParaRPr lang="zh-CN" altLang="en-US" sz="1200" dirty="0"/>
          </a:p>
          <a:p>
            <a:pPr lvl="1"/>
            <a:r>
              <a:rPr lang="zh-CN" altLang="en-US" sz="1200" dirty="0"/>
              <a:t>发送</a:t>
            </a:r>
            <a:r>
              <a:rPr lang="en-US" altLang="zh-CN" sz="1200" dirty="0"/>
              <a:t>CSNP</a:t>
            </a:r>
            <a:r>
              <a:rPr lang="zh-CN" altLang="en-US" sz="1200" dirty="0"/>
              <a:t>报文和所有</a:t>
            </a:r>
            <a:r>
              <a:rPr lang="en-US" altLang="zh-CN" sz="1200" dirty="0"/>
              <a:t>LSP</a:t>
            </a:r>
            <a:r>
              <a:rPr lang="zh-CN" altLang="en-US" sz="1200" dirty="0"/>
              <a:t>报文给</a:t>
            </a:r>
            <a:r>
              <a:rPr lang="en-US" altLang="zh-CN" sz="1200" dirty="0"/>
              <a:t>GR Restarter</a:t>
            </a:r>
            <a:r>
              <a:rPr lang="zh-CN" altLang="en-US" sz="1200" dirty="0"/>
              <a:t>。</a:t>
            </a:r>
            <a:endParaRPr lang="en-US" altLang="zh-CN" sz="1200" dirty="0"/>
          </a:p>
          <a:p>
            <a:pPr marL="342900" indent="-342900">
              <a:buSzPct val="100000"/>
              <a:buFont typeface="+mj-lt"/>
              <a:buAutoNum type="arabicPeriod"/>
            </a:pPr>
            <a:r>
              <a:rPr lang="en-US" altLang="zh-CN" sz="1400" dirty="0"/>
              <a:t>GR Restarter</a:t>
            </a:r>
            <a:r>
              <a:rPr lang="zh-CN" altLang="en-US" sz="1400" dirty="0"/>
              <a:t>接收到邻居的</a:t>
            </a:r>
            <a:r>
              <a:rPr lang="en-US" altLang="zh-CN" sz="1400" dirty="0"/>
              <a:t>IIH</a:t>
            </a:r>
            <a:r>
              <a:rPr lang="zh-CN" altLang="en-US" sz="1400" dirty="0"/>
              <a:t>回应报文（</a:t>
            </a:r>
            <a:r>
              <a:rPr lang="en-US" altLang="zh-CN" sz="1400" dirty="0"/>
              <a:t>RR=0</a:t>
            </a:r>
            <a:r>
              <a:rPr lang="zh-CN" altLang="en-US" sz="1400" dirty="0"/>
              <a:t>、</a:t>
            </a:r>
            <a:r>
              <a:rPr lang="en-US" altLang="zh-CN" sz="1400" dirty="0"/>
              <a:t>RA=1</a:t>
            </a:r>
            <a:r>
              <a:rPr lang="zh-CN" altLang="en-US" sz="1400" dirty="0"/>
              <a:t>），做如下处理：</a:t>
            </a:r>
            <a:endParaRPr lang="zh-CN" altLang="en-US" sz="1400" dirty="0"/>
          </a:p>
          <a:p>
            <a:pPr lvl="1"/>
            <a:r>
              <a:rPr lang="zh-CN" altLang="en-US" sz="1200" dirty="0"/>
              <a:t>把</a:t>
            </a:r>
            <a:r>
              <a:rPr lang="en-US" altLang="zh-CN" sz="1200" dirty="0"/>
              <a:t>T3</a:t>
            </a:r>
            <a:r>
              <a:rPr lang="zh-CN" altLang="en-US" sz="1200" dirty="0"/>
              <a:t>的当前值和报文中</a:t>
            </a:r>
            <a:r>
              <a:rPr lang="en-US" altLang="zh-CN" sz="1200" dirty="0"/>
              <a:t>Remaining time</a:t>
            </a:r>
            <a:r>
              <a:rPr lang="zh-CN" altLang="en-US" sz="1200" dirty="0"/>
              <a:t>比较，取其中较小者作为</a:t>
            </a:r>
            <a:r>
              <a:rPr lang="en-US" altLang="zh-CN" sz="1200" dirty="0"/>
              <a:t>T3</a:t>
            </a:r>
            <a:r>
              <a:rPr lang="zh-CN" altLang="en-US" sz="1200" dirty="0"/>
              <a:t>的值。</a:t>
            </a:r>
            <a:endParaRPr lang="zh-CN" altLang="en-US" sz="1200" dirty="0"/>
          </a:p>
          <a:p>
            <a:pPr lvl="1"/>
            <a:r>
              <a:rPr lang="zh-CN" altLang="en-US" sz="1200" dirty="0"/>
              <a:t>在接口收到确认报文和</a:t>
            </a:r>
            <a:r>
              <a:rPr lang="en-US" altLang="zh-CN" sz="1200" dirty="0"/>
              <a:t>CSNP</a:t>
            </a:r>
            <a:r>
              <a:rPr lang="zh-CN" altLang="en-US" sz="1200" dirty="0"/>
              <a:t>报文之后，取消该接口的</a:t>
            </a:r>
            <a:r>
              <a:rPr lang="en-US" altLang="zh-CN" sz="1200" dirty="0"/>
              <a:t>T1</a:t>
            </a:r>
            <a:r>
              <a:rPr lang="zh-CN" altLang="en-US" sz="1200" dirty="0"/>
              <a:t>定时器。</a:t>
            </a:r>
            <a:endParaRPr lang="zh-CN" altLang="en-US" sz="1200" dirty="0"/>
          </a:p>
          <a:p>
            <a:pPr lvl="1"/>
            <a:r>
              <a:rPr lang="zh-CN" altLang="en-US" sz="1200" dirty="0"/>
              <a:t>如果该接口没有收到确认报文和</a:t>
            </a:r>
            <a:r>
              <a:rPr lang="en-US" altLang="zh-CN" sz="1200" dirty="0"/>
              <a:t>CSNP</a:t>
            </a:r>
            <a:r>
              <a:rPr lang="zh-CN" altLang="en-US" sz="1200" dirty="0"/>
              <a:t>报文，</a:t>
            </a:r>
            <a:r>
              <a:rPr lang="en-US" altLang="zh-CN" sz="1200" dirty="0"/>
              <a:t>T1</a:t>
            </a:r>
            <a:r>
              <a:rPr lang="zh-CN" altLang="en-US" sz="1200" dirty="0"/>
              <a:t>会不停地重置，重发含</a:t>
            </a:r>
            <a:r>
              <a:rPr lang="en-US" altLang="zh-CN" sz="1200" dirty="0"/>
              <a:t>Restart TLV</a:t>
            </a:r>
            <a:r>
              <a:rPr lang="zh-CN" altLang="en-US" sz="1200" dirty="0"/>
              <a:t>的</a:t>
            </a:r>
            <a:r>
              <a:rPr lang="en-US" altLang="zh-CN" sz="1200" dirty="0"/>
              <a:t>IIH</a:t>
            </a:r>
            <a:r>
              <a:rPr lang="zh-CN" altLang="en-US" sz="1200" dirty="0"/>
              <a:t>报文。如果</a:t>
            </a:r>
            <a:r>
              <a:rPr lang="en-US" altLang="zh-CN" sz="1200" dirty="0"/>
              <a:t>T1</a:t>
            </a:r>
            <a:r>
              <a:rPr lang="zh-CN" altLang="en-US" sz="1200" dirty="0"/>
              <a:t>超时次数超过阈值，</a:t>
            </a:r>
            <a:r>
              <a:rPr lang="en-US" altLang="zh-CN" sz="1200" dirty="0"/>
              <a:t>GR Restarter</a:t>
            </a:r>
            <a:r>
              <a:rPr lang="zh-CN" altLang="en-US" sz="1200" dirty="0"/>
              <a:t>强制取消</a:t>
            </a:r>
            <a:r>
              <a:rPr lang="en-US" altLang="zh-CN" sz="1200" dirty="0"/>
              <a:t>T1</a:t>
            </a:r>
            <a:r>
              <a:rPr lang="zh-CN" altLang="en-US" sz="1200" dirty="0"/>
              <a:t>定时器，启动正常的</a:t>
            </a:r>
            <a:r>
              <a:rPr lang="en-US" altLang="zh-CN" sz="1200" dirty="0"/>
              <a:t>IS-IS</a:t>
            </a:r>
            <a:r>
              <a:rPr lang="zh-CN" altLang="en-US" sz="1200" dirty="0"/>
              <a:t>处理流程。</a:t>
            </a:r>
            <a:endParaRPr lang="zh-CN" altLang="en-US" sz="1200" dirty="0"/>
          </a:p>
        </p:txBody>
      </p:sp>
      <p:sp>
        <p:nvSpPr>
          <p:cNvPr id="45" name="五边形 44"/>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r>
              <a:rPr lang="zh-CN" altLang="en-US" dirty="0"/>
              <a:t>的过程 </a:t>
            </a:r>
            <a:r>
              <a:rPr lang="en-US" altLang="zh-CN" dirty="0"/>
              <a:t>(Restarting) (2)</a:t>
            </a:r>
            <a:endParaRPr lang="zh-CN" altLang="en-US" dirty="0"/>
          </a:p>
        </p:txBody>
      </p:sp>
      <p:sp>
        <p:nvSpPr>
          <p:cNvPr id="3" name="文本占位符 2"/>
          <p:cNvSpPr>
            <a:spLocks noGrp="1"/>
          </p:cNvSpPr>
          <p:nvPr>
            <p:ph type="body" sz="quarter" idx="10"/>
          </p:nvPr>
        </p:nvSpPr>
        <p:spPr>
          <a:xfrm>
            <a:off x="455612" y="1047751"/>
            <a:ext cx="11293475" cy="502376"/>
          </a:xfrm>
        </p:spPr>
        <p:txBody>
          <a:bodyPr/>
          <a:lstStyle/>
          <a:p>
            <a:r>
              <a:rPr lang="zh-CN" altLang="en-US" sz="2000" dirty="0"/>
              <a:t>主备倒换和重启</a:t>
            </a:r>
            <a:r>
              <a:rPr lang="en-US" altLang="zh-CN" sz="2000" dirty="0"/>
              <a:t>IS-IS</a:t>
            </a:r>
            <a:r>
              <a:rPr lang="zh-CN" altLang="en-US" sz="2000" dirty="0"/>
              <a:t>进程触发的</a:t>
            </a:r>
            <a:r>
              <a:rPr lang="en-US" altLang="zh-CN" sz="2000" dirty="0"/>
              <a:t>GR</a:t>
            </a:r>
            <a:r>
              <a:rPr lang="zh-CN" altLang="en-US" sz="2000" dirty="0"/>
              <a:t>过程称为</a:t>
            </a:r>
            <a:r>
              <a:rPr lang="en-US" altLang="zh-CN" sz="2000" dirty="0"/>
              <a:t>Restarting</a:t>
            </a:r>
            <a:r>
              <a:rPr lang="zh-CN" altLang="en-US" sz="2000" dirty="0"/>
              <a:t>，</a:t>
            </a:r>
            <a:r>
              <a:rPr lang="en-US" altLang="zh-CN" sz="2000" dirty="0"/>
              <a:t>FIB</a:t>
            </a:r>
            <a:r>
              <a:rPr lang="zh-CN" altLang="en-US" sz="2000" dirty="0"/>
              <a:t>表保持不变。</a:t>
            </a:r>
            <a:endParaRPr lang="zh-CN" altLang="en-US" sz="2000" dirty="0"/>
          </a:p>
        </p:txBody>
      </p:sp>
      <p:grpSp>
        <p:nvGrpSpPr>
          <p:cNvPr id="5" name="组合 4"/>
          <p:cNvGrpSpPr/>
          <p:nvPr/>
        </p:nvGrpSpPr>
        <p:grpSpPr>
          <a:xfrm>
            <a:off x="1577478" y="1607070"/>
            <a:ext cx="3631808" cy="1020127"/>
            <a:chOff x="1874790" y="1395473"/>
            <a:chExt cx="3631808" cy="1020127"/>
          </a:xfrm>
        </p:grpSpPr>
        <p:sp>
          <p:nvSpPr>
            <p:cNvPr id="31" name="文本框 30"/>
            <p:cNvSpPr txBox="1"/>
            <p:nvPr/>
          </p:nvSpPr>
          <p:spPr bwMode="gray">
            <a:xfrm>
              <a:off x="1874790" y="2107823"/>
              <a:ext cx="1285929" cy="307777"/>
            </a:xfrm>
            <a:prstGeom prst="rect">
              <a:avLst/>
            </a:prstGeom>
            <a:noFill/>
          </p:spPr>
          <p:txBody>
            <a:bodyPr wrap="none" rtlCol="0">
              <a:spAutoFit/>
            </a:bodyPr>
            <a:lstStyle/>
            <a:p>
              <a:pPr algn="ctr"/>
              <a:r>
                <a:rPr lang="en-US" altLang="zh-CN" sz="1400" b="1" dirty="0"/>
                <a:t>GR Restarter</a:t>
              </a:r>
              <a:endParaRPr lang="zh-CN" altLang="en-US" sz="1400" b="1" dirty="0"/>
            </a:p>
          </p:txBody>
        </p:sp>
        <p:pic>
          <p:nvPicPr>
            <p:cNvPr id="32" name="图片 31"/>
            <p:cNvPicPr/>
            <p:nvPr/>
          </p:nvPicPr>
          <p:blipFill>
            <a:blip r:embed="rId1" cstate="print">
              <a:extLst>
                <a:ext uri="{28A0092B-C50C-407E-A947-70E740481C1C}">
                  <a14:useLocalDpi xmlns:a14="http://schemas.microsoft.com/office/drawing/2010/main" val="0"/>
                </a:ext>
              </a:extLst>
            </a:blip>
            <a:stretch>
              <a:fillRect/>
            </a:stretch>
          </p:blipFill>
          <p:spPr bwMode="gray">
            <a:xfrm>
              <a:off x="2247754" y="1665023"/>
              <a:ext cx="540000" cy="442800"/>
            </a:xfrm>
            <a:prstGeom prst="rect">
              <a:avLst/>
            </a:prstGeom>
          </p:spPr>
        </p:pic>
        <p:cxnSp>
          <p:nvCxnSpPr>
            <p:cNvPr id="33" name="直接连接符 32"/>
            <p:cNvCxnSpPr>
              <a:stCxn id="32" idx="3"/>
              <a:endCxn id="34" idx="1"/>
            </p:cNvCxnSpPr>
            <p:nvPr/>
          </p:nvCxnSpPr>
          <p:spPr bwMode="gray">
            <a:xfrm>
              <a:off x="2787754" y="1886423"/>
              <a:ext cx="19140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33"/>
            <p:cNvPicPr/>
            <p:nvPr/>
          </p:nvPicPr>
          <p:blipFill>
            <a:blip r:embed="rId1" cstate="print">
              <a:extLst>
                <a:ext uri="{28A0092B-C50C-407E-A947-70E740481C1C}">
                  <a14:useLocalDpi xmlns:a14="http://schemas.microsoft.com/office/drawing/2010/main" val="0"/>
                </a:ext>
              </a:extLst>
            </a:blip>
            <a:stretch>
              <a:fillRect/>
            </a:stretch>
          </p:blipFill>
          <p:spPr bwMode="gray">
            <a:xfrm>
              <a:off x="4701836" y="1665023"/>
              <a:ext cx="540000" cy="442800"/>
            </a:xfrm>
            <a:prstGeom prst="rect">
              <a:avLst/>
            </a:prstGeom>
          </p:spPr>
        </p:pic>
        <p:sp>
          <p:nvSpPr>
            <p:cNvPr id="35" name="文本框 34"/>
            <p:cNvSpPr txBox="1"/>
            <p:nvPr/>
          </p:nvSpPr>
          <p:spPr bwMode="gray">
            <a:xfrm>
              <a:off x="4437074" y="2107823"/>
              <a:ext cx="1069524" cy="307777"/>
            </a:xfrm>
            <a:prstGeom prst="rect">
              <a:avLst/>
            </a:prstGeom>
            <a:noFill/>
          </p:spPr>
          <p:txBody>
            <a:bodyPr wrap="none" rtlCol="0">
              <a:spAutoFit/>
            </a:bodyPr>
            <a:lstStyle/>
            <a:p>
              <a:pPr algn="ctr"/>
              <a:r>
                <a:rPr lang="en-US" altLang="zh-CN" sz="1400" b="1" dirty="0"/>
                <a:t>GR Helper</a:t>
              </a:r>
              <a:endParaRPr lang="zh-CN" altLang="en-US" sz="1400" b="1" dirty="0"/>
            </a:p>
          </p:txBody>
        </p:sp>
        <p:sp>
          <p:nvSpPr>
            <p:cNvPr id="36" name="文本框 35"/>
            <p:cNvSpPr txBox="1"/>
            <p:nvPr/>
          </p:nvSpPr>
          <p:spPr bwMode="gray">
            <a:xfrm>
              <a:off x="2314814" y="1395473"/>
              <a:ext cx="405880" cy="307777"/>
            </a:xfrm>
            <a:prstGeom prst="rect">
              <a:avLst/>
            </a:prstGeom>
            <a:noFill/>
          </p:spPr>
          <p:txBody>
            <a:bodyPr wrap="none" rtlCol="0">
              <a:spAutoFit/>
            </a:bodyPr>
            <a:lstStyle/>
            <a:p>
              <a:pPr algn="ctr"/>
              <a:r>
                <a:rPr lang="en-US" altLang="zh-CN" sz="1400" dirty="0"/>
                <a:t>R1</a:t>
              </a:r>
              <a:endParaRPr lang="zh-CN" altLang="en-US" sz="1400" dirty="0"/>
            </a:p>
          </p:txBody>
        </p:sp>
        <p:sp>
          <p:nvSpPr>
            <p:cNvPr id="37" name="文本框 36"/>
            <p:cNvSpPr txBox="1"/>
            <p:nvPr/>
          </p:nvSpPr>
          <p:spPr bwMode="gray">
            <a:xfrm>
              <a:off x="4768895" y="1395473"/>
              <a:ext cx="40588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38" name="文本框 37"/>
            <p:cNvSpPr txBox="1"/>
            <p:nvPr/>
          </p:nvSpPr>
          <p:spPr bwMode="gray">
            <a:xfrm>
              <a:off x="3184386" y="1558300"/>
              <a:ext cx="1120820" cy="307777"/>
            </a:xfrm>
            <a:prstGeom prst="rect">
              <a:avLst/>
            </a:prstGeom>
            <a:noFill/>
          </p:spPr>
          <p:txBody>
            <a:bodyPr wrap="none" rtlCol="0">
              <a:spAutoFit/>
            </a:bodyPr>
            <a:lstStyle/>
            <a:p>
              <a:pPr algn="ctr"/>
              <a:r>
                <a:rPr lang="en-US" altLang="zh-CN" sz="1400" b="1" dirty="0"/>
                <a:t>GR Session</a:t>
              </a:r>
              <a:endParaRPr lang="zh-CN" altLang="en-US" sz="1400" b="1" dirty="0"/>
            </a:p>
          </p:txBody>
        </p:sp>
      </p:grpSp>
      <p:cxnSp>
        <p:nvCxnSpPr>
          <p:cNvPr id="6" name="直接连接符 5"/>
          <p:cNvCxnSpPr/>
          <p:nvPr/>
        </p:nvCxnSpPr>
        <p:spPr bwMode="gray">
          <a:xfrm>
            <a:off x="2367387" y="344330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a:off x="2221839" y="2762220"/>
            <a:ext cx="0" cy="32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4669337" y="2762220"/>
            <a:ext cx="0" cy="3240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2367387" y="399086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120"/>
          <p:cNvSpPr txBox="1"/>
          <p:nvPr/>
        </p:nvSpPr>
        <p:spPr bwMode="gray">
          <a:xfrm>
            <a:off x="2536497" y="2974540"/>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a:off x="2367387" y="453842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TextBox 120"/>
          <p:cNvSpPr txBox="1"/>
          <p:nvPr/>
        </p:nvSpPr>
        <p:spPr bwMode="gray">
          <a:xfrm>
            <a:off x="2776278" y="4269582"/>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CSNP </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 name="直接连接符 13"/>
          <p:cNvCxnSpPr/>
          <p:nvPr/>
        </p:nvCxnSpPr>
        <p:spPr bwMode="gray">
          <a:xfrm>
            <a:off x="2367387" y="563354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TextBox 120"/>
          <p:cNvSpPr txBox="1"/>
          <p:nvPr/>
        </p:nvSpPr>
        <p:spPr bwMode="gray">
          <a:xfrm>
            <a:off x="2743434" y="5357103"/>
            <a:ext cx="1407905"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Flood 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p:nvPr/>
        </p:nvCxnSpPr>
        <p:spPr bwMode="gray">
          <a:xfrm>
            <a:off x="2367387" y="508598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20"/>
          <p:cNvSpPr txBox="1"/>
          <p:nvPr/>
        </p:nvSpPr>
        <p:spPr bwMode="gray">
          <a:xfrm>
            <a:off x="2776278" y="4799537"/>
            <a:ext cx="1342218"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20"/>
          <p:cNvSpPr txBox="1"/>
          <p:nvPr/>
        </p:nvSpPr>
        <p:spPr bwMode="gray">
          <a:xfrm>
            <a:off x="853635" y="2792998"/>
            <a:ext cx="1369145"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设备主备倒换</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0"/>
          <p:cNvSpPr txBox="1"/>
          <p:nvPr/>
        </p:nvSpPr>
        <p:spPr bwMode="gray">
          <a:xfrm>
            <a:off x="444141" y="3298438"/>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0"/>
          <p:cNvSpPr txBox="1"/>
          <p:nvPr/>
        </p:nvSpPr>
        <p:spPr bwMode="gray">
          <a:xfrm>
            <a:off x="4665278" y="5495043"/>
            <a:ext cx="1517812" cy="276999"/>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p:cNvSpPr txBox="1"/>
          <p:nvPr/>
        </p:nvSpPr>
        <p:spPr bwMode="gray">
          <a:xfrm>
            <a:off x="2536497" y="3523102"/>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p:cNvSpPr txBox="1"/>
          <p:nvPr/>
        </p:nvSpPr>
        <p:spPr bwMode="gray">
          <a:xfrm>
            <a:off x="444141" y="3846267"/>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重置</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p:cNvSpPr txBox="1"/>
          <p:nvPr/>
        </p:nvSpPr>
        <p:spPr bwMode="gray">
          <a:xfrm>
            <a:off x="444141" y="4403749"/>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p:cNvSpPr txBox="1"/>
          <p:nvPr/>
        </p:nvSpPr>
        <p:spPr bwMode="gray">
          <a:xfrm>
            <a:off x="444141" y="4933573"/>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p:cNvSpPr txBox="1"/>
          <p:nvPr/>
        </p:nvSpPr>
        <p:spPr bwMode="gray">
          <a:xfrm>
            <a:off x="444141" y="5403269"/>
            <a:ext cx="1778639" cy="461665"/>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T3</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占位符 2"/>
          <p:cNvSpPr txBox="1"/>
          <p:nvPr/>
        </p:nvSpPr>
        <p:spPr bwMode="auto">
          <a:xfrm>
            <a:off x="5760127" y="1484313"/>
            <a:ext cx="5988960" cy="4716461"/>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ctr" latinLnBrk="0" hangingPunct="1">
              <a:lnSpc>
                <a:spcPct val="140000"/>
              </a:lnSpc>
              <a:spcBef>
                <a:spcPts val="790"/>
              </a:spcBef>
              <a:buClrTx/>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SzPct val="100000"/>
              <a:buFont typeface="+mj-lt"/>
              <a:buAutoNum type="arabicPeriod" startAt="4"/>
            </a:pPr>
            <a:r>
              <a:rPr lang="zh-CN" altLang="en-US" sz="1400" dirty="0"/>
              <a:t>当</a:t>
            </a:r>
            <a:r>
              <a:rPr lang="en-US" altLang="zh-CN" sz="1400" dirty="0"/>
              <a:t>GR Restarter</a:t>
            </a:r>
            <a:r>
              <a:rPr lang="zh-CN" altLang="en-US" sz="1400" dirty="0"/>
              <a:t>所有接口上的</a:t>
            </a:r>
            <a:r>
              <a:rPr lang="en-US" altLang="zh-CN" sz="1400" dirty="0"/>
              <a:t>T1</a:t>
            </a:r>
            <a:r>
              <a:rPr lang="zh-CN" altLang="en-US" sz="1400" dirty="0"/>
              <a:t>定时器都取消，</a:t>
            </a:r>
            <a:r>
              <a:rPr lang="en-US" altLang="zh-CN" sz="1400" dirty="0"/>
              <a:t>CSNP</a:t>
            </a:r>
            <a:r>
              <a:rPr lang="zh-CN" altLang="en-US" sz="1400" dirty="0"/>
              <a:t>列表清空并且收集全所有的</a:t>
            </a:r>
            <a:r>
              <a:rPr lang="en-US" altLang="zh-CN" sz="1400" dirty="0"/>
              <a:t>LSP</a:t>
            </a:r>
            <a:r>
              <a:rPr lang="zh-CN" altLang="en-US" sz="1400" dirty="0"/>
              <a:t>报文后，可以认为和所有的邻居都完成了同步，取消</a:t>
            </a:r>
            <a:r>
              <a:rPr lang="en-US" altLang="zh-CN" sz="1400" dirty="0"/>
              <a:t>T2</a:t>
            </a:r>
            <a:r>
              <a:rPr lang="zh-CN" altLang="en-US" sz="1400" dirty="0"/>
              <a:t>定时器。</a:t>
            </a:r>
            <a:endParaRPr lang="zh-CN" altLang="en-US" sz="1400" dirty="0"/>
          </a:p>
          <a:p>
            <a:pPr marL="342900" indent="-342900">
              <a:buSzPct val="100000"/>
              <a:buFont typeface="+mj-lt"/>
              <a:buAutoNum type="arabicPeriod" startAt="4"/>
            </a:pPr>
            <a:r>
              <a:rPr lang="en-US" altLang="zh-CN" sz="1400" dirty="0"/>
              <a:t>T2</a:t>
            </a:r>
            <a:r>
              <a:rPr lang="zh-CN" altLang="en-US" sz="1400" dirty="0"/>
              <a:t>定时器被取消，表示本</a:t>
            </a:r>
            <a:r>
              <a:rPr lang="en-US" altLang="zh-CN" sz="1400" dirty="0"/>
              <a:t>Level</a:t>
            </a:r>
            <a:r>
              <a:rPr lang="zh-CN" altLang="en-US" sz="1400" dirty="0"/>
              <a:t>的</a:t>
            </a:r>
            <a:r>
              <a:rPr lang="en-US" altLang="zh-CN" sz="1400" dirty="0"/>
              <a:t>LSDB</a:t>
            </a:r>
            <a:r>
              <a:rPr lang="zh-CN" altLang="en-US" sz="1400" dirty="0"/>
              <a:t>已经同步。</a:t>
            </a:r>
            <a:endParaRPr lang="zh-CN" altLang="en-US" sz="1400" dirty="0"/>
          </a:p>
          <a:p>
            <a:pPr lvl="1"/>
            <a:r>
              <a:rPr lang="zh-CN" altLang="en-US" sz="1200" dirty="0"/>
              <a:t>如果是单</a:t>
            </a:r>
            <a:r>
              <a:rPr lang="en-US" altLang="zh-CN" sz="1200" dirty="0"/>
              <a:t>Level</a:t>
            </a:r>
            <a:r>
              <a:rPr lang="zh-CN" altLang="en-US" sz="1200" dirty="0"/>
              <a:t>系统，则直接触发</a:t>
            </a:r>
            <a:r>
              <a:rPr lang="en-US" altLang="zh-CN" sz="1200" dirty="0"/>
              <a:t>SPF</a:t>
            </a:r>
            <a:r>
              <a:rPr lang="zh-CN" altLang="en-US" sz="1200" dirty="0"/>
              <a:t>计算。</a:t>
            </a:r>
            <a:endParaRPr lang="zh-CN" altLang="en-US" sz="1200" dirty="0"/>
          </a:p>
          <a:p>
            <a:pPr lvl="1"/>
            <a:r>
              <a:rPr lang="zh-CN" altLang="en-US" sz="1200" dirty="0"/>
              <a:t>如果是</a:t>
            </a:r>
            <a:r>
              <a:rPr lang="en-US" altLang="zh-CN" sz="1200" dirty="0"/>
              <a:t>Level-1-2</a:t>
            </a:r>
            <a:r>
              <a:rPr lang="zh-CN" altLang="en-US" sz="1200" dirty="0"/>
              <a:t>系统，此时判断另一个</a:t>
            </a:r>
            <a:r>
              <a:rPr lang="en-US" altLang="zh-CN" sz="1200" dirty="0"/>
              <a:t>Level</a:t>
            </a:r>
            <a:r>
              <a:rPr lang="zh-CN" altLang="en-US" sz="1200" dirty="0"/>
              <a:t>的</a:t>
            </a:r>
            <a:r>
              <a:rPr lang="en-US" altLang="zh-CN" sz="1200" dirty="0"/>
              <a:t>T2</a:t>
            </a:r>
            <a:r>
              <a:rPr lang="zh-CN" altLang="en-US" sz="1200" dirty="0"/>
              <a:t>定时器是否也取消。如果两个</a:t>
            </a:r>
            <a:r>
              <a:rPr lang="en-US" altLang="zh-CN" sz="1200" dirty="0"/>
              <a:t>Level</a:t>
            </a:r>
            <a:r>
              <a:rPr lang="zh-CN" altLang="en-US" sz="1200" dirty="0"/>
              <a:t>的</a:t>
            </a:r>
            <a:r>
              <a:rPr lang="en-US" altLang="zh-CN" sz="1200" dirty="0"/>
              <a:t>T2</a:t>
            </a:r>
            <a:r>
              <a:rPr lang="zh-CN" altLang="en-US" sz="1200" dirty="0"/>
              <a:t>定时器都被取消，那么触发</a:t>
            </a:r>
            <a:r>
              <a:rPr lang="en-US" altLang="zh-CN" sz="1200" dirty="0"/>
              <a:t>SPF</a:t>
            </a:r>
            <a:r>
              <a:rPr lang="zh-CN" altLang="en-US" sz="1200" dirty="0"/>
              <a:t>计算，否则等待另一个</a:t>
            </a:r>
            <a:r>
              <a:rPr lang="en-US" altLang="zh-CN" sz="1200" dirty="0"/>
              <a:t>Level</a:t>
            </a:r>
            <a:r>
              <a:rPr lang="zh-CN" altLang="en-US" sz="1200" dirty="0"/>
              <a:t>的</a:t>
            </a:r>
            <a:r>
              <a:rPr lang="en-US" altLang="zh-CN" sz="1200" dirty="0"/>
              <a:t>T2</a:t>
            </a:r>
            <a:r>
              <a:rPr lang="zh-CN" altLang="en-US" sz="1200" dirty="0"/>
              <a:t>定时器超时。</a:t>
            </a:r>
            <a:endParaRPr lang="en-US" altLang="zh-CN" sz="1200" dirty="0"/>
          </a:p>
          <a:p>
            <a:pPr marL="342900" indent="-342900">
              <a:buSzPct val="100000"/>
              <a:buFont typeface="+mj-lt"/>
              <a:buAutoNum type="arabicPeriod" startAt="4"/>
            </a:pPr>
            <a:r>
              <a:rPr lang="zh-CN" altLang="en-US" sz="1400" dirty="0"/>
              <a:t>各层的</a:t>
            </a:r>
            <a:r>
              <a:rPr lang="en-US" altLang="zh-CN" sz="1400" dirty="0"/>
              <a:t>T2</a:t>
            </a:r>
            <a:r>
              <a:rPr lang="zh-CN" altLang="en-US" sz="1400" dirty="0"/>
              <a:t>定时器都取消后，</a:t>
            </a:r>
            <a:r>
              <a:rPr lang="en-US" altLang="zh-CN" sz="1400" dirty="0"/>
              <a:t>GR Restarter</a:t>
            </a:r>
            <a:r>
              <a:rPr lang="zh-CN" altLang="en-US" sz="1400" dirty="0"/>
              <a:t>取消</a:t>
            </a:r>
            <a:r>
              <a:rPr lang="en-US" altLang="zh-CN" sz="1400" dirty="0"/>
              <a:t>T3</a:t>
            </a:r>
            <a:r>
              <a:rPr lang="zh-CN" altLang="en-US" sz="1400" dirty="0"/>
              <a:t>定时器，更新</a:t>
            </a:r>
            <a:r>
              <a:rPr lang="en-US" altLang="zh-CN" sz="1400" dirty="0"/>
              <a:t>FIB</a:t>
            </a:r>
            <a:r>
              <a:rPr lang="zh-CN" altLang="en-US" sz="1400" dirty="0"/>
              <a:t>表。</a:t>
            </a:r>
            <a:r>
              <a:rPr lang="en-US" altLang="zh-CN" sz="1400" dirty="0"/>
              <a:t>GR Restarter</a:t>
            </a:r>
            <a:r>
              <a:rPr lang="zh-CN" altLang="en-US" sz="1400" dirty="0"/>
              <a:t>可以重新生成各层的</a:t>
            </a:r>
            <a:r>
              <a:rPr lang="en-US" altLang="zh-CN" sz="1400" dirty="0"/>
              <a:t>LSP</a:t>
            </a:r>
            <a:r>
              <a:rPr lang="zh-CN" altLang="en-US" sz="1400" dirty="0"/>
              <a:t>并泛洪，在同步过程中收到的自己重启前生成的</a:t>
            </a:r>
            <a:r>
              <a:rPr lang="en-US" altLang="zh-CN" sz="1400" dirty="0"/>
              <a:t>LSP</a:t>
            </a:r>
            <a:r>
              <a:rPr lang="zh-CN" altLang="en-US" sz="1400" dirty="0"/>
              <a:t>此时也可以被删除。</a:t>
            </a:r>
            <a:endParaRPr lang="zh-CN" altLang="en-US" sz="1400" dirty="0"/>
          </a:p>
          <a:p>
            <a:pPr marL="342900" indent="-342900">
              <a:buSzPct val="100000"/>
              <a:buFont typeface="+mj-lt"/>
              <a:buAutoNum type="arabicPeriod" startAt="4"/>
            </a:pPr>
            <a:r>
              <a:rPr lang="zh-CN" altLang="en-US" sz="1400" dirty="0"/>
              <a:t>至此，</a:t>
            </a:r>
            <a:r>
              <a:rPr lang="en-US" altLang="zh-CN" sz="1400" dirty="0"/>
              <a:t>GR Restarter</a:t>
            </a:r>
            <a:r>
              <a:rPr lang="zh-CN" altLang="en-US" sz="1400" dirty="0"/>
              <a:t>的</a:t>
            </a:r>
            <a:r>
              <a:rPr lang="en-US" altLang="zh-CN" sz="1400" dirty="0"/>
              <a:t>IS-IS Restarting</a:t>
            </a:r>
            <a:r>
              <a:rPr lang="zh-CN" altLang="en-US" sz="1400" dirty="0"/>
              <a:t>过程结束。</a:t>
            </a:r>
            <a:endParaRPr lang="zh-CN" altLang="en-US" sz="1200" dirty="0"/>
          </a:p>
        </p:txBody>
      </p:sp>
      <p:sp>
        <p:nvSpPr>
          <p:cNvPr id="45" name="五边形 44"/>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燕尾形 45"/>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燕尾形 46"/>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r>
              <a:rPr lang="zh-CN" altLang="en-US" dirty="0"/>
              <a:t>的过程 </a:t>
            </a:r>
            <a:r>
              <a:rPr lang="en-US" altLang="zh-CN" dirty="0"/>
              <a:t>(Starting) (1)</a:t>
            </a:r>
            <a:endParaRPr lang="zh-CN" altLang="en-US" dirty="0"/>
          </a:p>
        </p:txBody>
      </p:sp>
      <p:sp>
        <p:nvSpPr>
          <p:cNvPr id="3" name="文本占位符 2"/>
          <p:cNvSpPr>
            <a:spLocks noGrp="1"/>
          </p:cNvSpPr>
          <p:nvPr>
            <p:ph type="body" sz="quarter" idx="10"/>
          </p:nvPr>
        </p:nvSpPr>
        <p:spPr>
          <a:xfrm>
            <a:off x="455612" y="1047751"/>
            <a:ext cx="11293475" cy="502376"/>
          </a:xfrm>
        </p:spPr>
        <p:txBody>
          <a:bodyPr/>
          <a:lstStyle/>
          <a:p>
            <a:r>
              <a:rPr lang="zh-CN" altLang="en-US" sz="2000" dirty="0"/>
              <a:t>设备重启触发的</a:t>
            </a:r>
            <a:r>
              <a:rPr lang="en-US" altLang="zh-CN" sz="2000" dirty="0"/>
              <a:t>GR</a:t>
            </a:r>
            <a:r>
              <a:rPr lang="zh-CN" altLang="en-US" sz="2000" dirty="0"/>
              <a:t>过程称为</a:t>
            </a:r>
            <a:r>
              <a:rPr lang="en-US" altLang="zh-CN" sz="2000" dirty="0"/>
              <a:t>Starting</a:t>
            </a:r>
            <a:r>
              <a:rPr lang="zh-CN" altLang="en-US" sz="2000" dirty="0"/>
              <a:t>，进行</a:t>
            </a:r>
            <a:r>
              <a:rPr lang="en-US" altLang="zh-CN" sz="2000" dirty="0"/>
              <a:t>FIB</a:t>
            </a:r>
            <a:r>
              <a:rPr lang="zh-CN" altLang="en-US" sz="2000" dirty="0"/>
              <a:t>表更新。</a:t>
            </a:r>
            <a:endParaRPr lang="zh-CN" altLang="en-US" sz="2000" dirty="0"/>
          </a:p>
        </p:txBody>
      </p:sp>
      <p:grpSp>
        <p:nvGrpSpPr>
          <p:cNvPr id="5" name="组合 4"/>
          <p:cNvGrpSpPr/>
          <p:nvPr/>
        </p:nvGrpSpPr>
        <p:grpSpPr>
          <a:xfrm>
            <a:off x="1577478" y="1634716"/>
            <a:ext cx="3631808" cy="1020127"/>
            <a:chOff x="1874790" y="1395473"/>
            <a:chExt cx="3631808" cy="1020127"/>
          </a:xfrm>
        </p:grpSpPr>
        <p:sp>
          <p:nvSpPr>
            <p:cNvPr id="31" name="文本框 30"/>
            <p:cNvSpPr txBox="1"/>
            <p:nvPr/>
          </p:nvSpPr>
          <p:spPr bwMode="gray">
            <a:xfrm>
              <a:off x="1874790" y="2107823"/>
              <a:ext cx="1285929" cy="307777"/>
            </a:xfrm>
            <a:prstGeom prst="rect">
              <a:avLst/>
            </a:prstGeom>
            <a:noFill/>
          </p:spPr>
          <p:txBody>
            <a:bodyPr wrap="none" rtlCol="0">
              <a:spAutoFit/>
            </a:bodyPr>
            <a:lstStyle/>
            <a:p>
              <a:pPr algn="ctr"/>
              <a:r>
                <a:rPr lang="en-US" altLang="zh-CN" sz="1400" b="1" dirty="0"/>
                <a:t>GR Restarter</a:t>
              </a:r>
              <a:endParaRPr lang="zh-CN" altLang="en-US" sz="1400" b="1" dirty="0"/>
            </a:p>
          </p:txBody>
        </p:sp>
        <p:pic>
          <p:nvPicPr>
            <p:cNvPr id="32" name="图片 31"/>
            <p:cNvPicPr/>
            <p:nvPr/>
          </p:nvPicPr>
          <p:blipFill>
            <a:blip r:embed="rId1" cstate="print">
              <a:extLst>
                <a:ext uri="{28A0092B-C50C-407E-A947-70E740481C1C}">
                  <a14:useLocalDpi xmlns:a14="http://schemas.microsoft.com/office/drawing/2010/main" val="0"/>
                </a:ext>
              </a:extLst>
            </a:blip>
            <a:stretch>
              <a:fillRect/>
            </a:stretch>
          </p:blipFill>
          <p:spPr bwMode="gray">
            <a:xfrm>
              <a:off x="2247754" y="1665023"/>
              <a:ext cx="540000" cy="442800"/>
            </a:xfrm>
            <a:prstGeom prst="rect">
              <a:avLst/>
            </a:prstGeom>
          </p:spPr>
        </p:pic>
        <p:cxnSp>
          <p:nvCxnSpPr>
            <p:cNvPr id="33" name="直接连接符 32"/>
            <p:cNvCxnSpPr>
              <a:stCxn id="32" idx="3"/>
              <a:endCxn id="34" idx="1"/>
            </p:cNvCxnSpPr>
            <p:nvPr/>
          </p:nvCxnSpPr>
          <p:spPr bwMode="gray">
            <a:xfrm>
              <a:off x="2787754" y="1886423"/>
              <a:ext cx="19140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33"/>
            <p:cNvPicPr/>
            <p:nvPr/>
          </p:nvPicPr>
          <p:blipFill>
            <a:blip r:embed="rId1" cstate="print">
              <a:extLst>
                <a:ext uri="{28A0092B-C50C-407E-A947-70E740481C1C}">
                  <a14:useLocalDpi xmlns:a14="http://schemas.microsoft.com/office/drawing/2010/main" val="0"/>
                </a:ext>
              </a:extLst>
            </a:blip>
            <a:stretch>
              <a:fillRect/>
            </a:stretch>
          </p:blipFill>
          <p:spPr bwMode="gray">
            <a:xfrm>
              <a:off x="4701836" y="1665023"/>
              <a:ext cx="540000" cy="442800"/>
            </a:xfrm>
            <a:prstGeom prst="rect">
              <a:avLst/>
            </a:prstGeom>
          </p:spPr>
        </p:pic>
        <p:sp>
          <p:nvSpPr>
            <p:cNvPr id="35" name="文本框 34"/>
            <p:cNvSpPr txBox="1"/>
            <p:nvPr/>
          </p:nvSpPr>
          <p:spPr bwMode="gray">
            <a:xfrm>
              <a:off x="4437074" y="2107823"/>
              <a:ext cx="1069524" cy="307777"/>
            </a:xfrm>
            <a:prstGeom prst="rect">
              <a:avLst/>
            </a:prstGeom>
            <a:noFill/>
          </p:spPr>
          <p:txBody>
            <a:bodyPr wrap="none" rtlCol="0">
              <a:spAutoFit/>
            </a:bodyPr>
            <a:lstStyle/>
            <a:p>
              <a:pPr algn="ctr"/>
              <a:r>
                <a:rPr lang="en-US" altLang="zh-CN" sz="1400" b="1" dirty="0"/>
                <a:t>GR Helper</a:t>
              </a:r>
              <a:endParaRPr lang="zh-CN" altLang="en-US" sz="1400" b="1" dirty="0"/>
            </a:p>
          </p:txBody>
        </p:sp>
        <p:sp>
          <p:nvSpPr>
            <p:cNvPr id="36" name="文本框 35"/>
            <p:cNvSpPr txBox="1"/>
            <p:nvPr/>
          </p:nvSpPr>
          <p:spPr bwMode="gray">
            <a:xfrm>
              <a:off x="2314814" y="1395473"/>
              <a:ext cx="405880" cy="307777"/>
            </a:xfrm>
            <a:prstGeom prst="rect">
              <a:avLst/>
            </a:prstGeom>
            <a:noFill/>
          </p:spPr>
          <p:txBody>
            <a:bodyPr wrap="none" rtlCol="0">
              <a:spAutoFit/>
            </a:bodyPr>
            <a:lstStyle/>
            <a:p>
              <a:pPr algn="ctr"/>
              <a:r>
                <a:rPr lang="en-US" altLang="zh-CN" sz="1400" dirty="0"/>
                <a:t>R1</a:t>
              </a:r>
              <a:endParaRPr lang="zh-CN" altLang="en-US" sz="1400" dirty="0"/>
            </a:p>
          </p:txBody>
        </p:sp>
        <p:sp>
          <p:nvSpPr>
            <p:cNvPr id="37" name="文本框 36"/>
            <p:cNvSpPr txBox="1"/>
            <p:nvPr/>
          </p:nvSpPr>
          <p:spPr bwMode="gray">
            <a:xfrm>
              <a:off x="4768895" y="1395473"/>
              <a:ext cx="40588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38" name="文本框 37"/>
            <p:cNvSpPr txBox="1"/>
            <p:nvPr/>
          </p:nvSpPr>
          <p:spPr bwMode="gray">
            <a:xfrm>
              <a:off x="3184386" y="1558300"/>
              <a:ext cx="1120820" cy="307777"/>
            </a:xfrm>
            <a:prstGeom prst="rect">
              <a:avLst/>
            </a:prstGeom>
            <a:noFill/>
          </p:spPr>
          <p:txBody>
            <a:bodyPr wrap="none" rtlCol="0">
              <a:spAutoFit/>
            </a:bodyPr>
            <a:lstStyle/>
            <a:p>
              <a:pPr algn="ctr"/>
              <a:r>
                <a:rPr lang="en-US" altLang="zh-CN" sz="1400" b="1" dirty="0"/>
                <a:t>GR Session</a:t>
              </a:r>
              <a:endParaRPr lang="zh-CN" altLang="en-US" sz="1400" b="1" dirty="0"/>
            </a:p>
          </p:txBody>
        </p:sp>
      </p:grpSp>
      <p:cxnSp>
        <p:nvCxnSpPr>
          <p:cNvPr id="6" name="直接连接符 5"/>
          <p:cNvCxnSpPr/>
          <p:nvPr/>
        </p:nvCxnSpPr>
        <p:spPr bwMode="gray">
          <a:xfrm>
            <a:off x="2367387" y="3110110"/>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a:off x="2221839" y="2641347"/>
            <a:ext cx="0" cy="3492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4669337" y="2641347"/>
            <a:ext cx="0" cy="3492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2367387" y="3570583"/>
            <a:ext cx="2160000" cy="1"/>
          </a:xfrm>
          <a:prstGeom prst="line">
            <a:avLst/>
          </a:prstGeom>
          <a:ln w="19050">
            <a:solidFill>
              <a:schemeClr val="tx1"/>
            </a:solidFill>
            <a:prstDash val="dash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extBox 120"/>
          <p:cNvSpPr txBox="1"/>
          <p:nvPr/>
        </p:nvSpPr>
        <p:spPr bwMode="gray">
          <a:xfrm>
            <a:off x="2536497" y="2641347"/>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a:off x="2367387" y="411814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a:off x="2367387" y="5976641"/>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TextBox 120"/>
          <p:cNvSpPr txBox="1"/>
          <p:nvPr/>
        </p:nvSpPr>
        <p:spPr bwMode="gray">
          <a:xfrm>
            <a:off x="2743434" y="5700201"/>
            <a:ext cx="1407905"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Flood 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p:nvPr/>
        </p:nvCxnSpPr>
        <p:spPr bwMode="gray">
          <a:xfrm>
            <a:off x="2367387" y="466570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120"/>
          <p:cNvSpPr txBox="1"/>
          <p:nvPr/>
        </p:nvSpPr>
        <p:spPr bwMode="gray">
          <a:xfrm>
            <a:off x="444141" y="2967418"/>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0"/>
          <p:cNvSpPr txBox="1"/>
          <p:nvPr/>
        </p:nvSpPr>
        <p:spPr bwMode="gray">
          <a:xfrm>
            <a:off x="4665278" y="5838141"/>
            <a:ext cx="952898" cy="276999"/>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p:cNvSpPr txBox="1"/>
          <p:nvPr/>
        </p:nvSpPr>
        <p:spPr bwMode="gray">
          <a:xfrm>
            <a:off x="2536497" y="3285427"/>
            <a:ext cx="1695114" cy="276999"/>
          </a:xfrm>
          <a:prstGeom prst="rect">
            <a:avLst/>
          </a:prstGeom>
          <a:noFill/>
          <a:ln>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重新建立邻接关系</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p:cNvSpPr txBox="1"/>
          <p:nvPr/>
        </p:nvSpPr>
        <p:spPr bwMode="gray">
          <a:xfrm>
            <a:off x="444141" y="5308910"/>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p:cNvSpPr txBox="1"/>
          <p:nvPr/>
        </p:nvSpPr>
        <p:spPr bwMode="gray">
          <a:xfrm>
            <a:off x="1079863" y="5838700"/>
            <a:ext cx="1142917"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占位符 2"/>
          <p:cNvSpPr txBox="1"/>
          <p:nvPr/>
        </p:nvSpPr>
        <p:spPr bwMode="auto">
          <a:xfrm>
            <a:off x="5756067" y="1484313"/>
            <a:ext cx="5993020" cy="4716461"/>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ctr" latinLnBrk="0" hangingPunct="1">
              <a:lnSpc>
                <a:spcPct val="140000"/>
              </a:lnSpc>
              <a:spcBef>
                <a:spcPts val="790"/>
              </a:spcBef>
              <a:buClrTx/>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1400" dirty="0"/>
              <a:t>对于</a:t>
            </a:r>
            <a:r>
              <a:rPr lang="en-US" altLang="zh-CN" sz="1400" dirty="0"/>
              <a:t>Starting</a:t>
            </a:r>
            <a:r>
              <a:rPr lang="zh-CN" altLang="en-US" sz="1400" dirty="0"/>
              <a:t>设备，因为没有保留</a:t>
            </a:r>
            <a:r>
              <a:rPr lang="en-US" altLang="zh-CN" sz="1400" dirty="0"/>
              <a:t>FIB</a:t>
            </a:r>
            <a:r>
              <a:rPr lang="zh-CN" altLang="en-US" sz="1400" dirty="0"/>
              <a:t>表项，所以一方面希望在</a:t>
            </a:r>
            <a:r>
              <a:rPr lang="en-US" altLang="zh-CN" sz="1400" dirty="0"/>
              <a:t>Starting</a:t>
            </a:r>
            <a:r>
              <a:rPr lang="zh-CN" altLang="en-US" sz="1400" dirty="0"/>
              <a:t>之前和自己的邻接关系为“</a:t>
            </a:r>
            <a:r>
              <a:rPr lang="en-US" altLang="zh-CN" sz="1400" dirty="0"/>
              <a:t>Up</a:t>
            </a:r>
            <a:r>
              <a:rPr lang="zh-CN" altLang="en-US" sz="1400" dirty="0"/>
              <a:t>”的邻居重置和自己的邻接关系，同时希望邻居能在一段时间内抑制和自己的邻接关系的发布。</a:t>
            </a:r>
            <a:endParaRPr lang="en-US" altLang="zh-CN" sz="1400" dirty="0"/>
          </a:p>
          <a:p>
            <a:pPr marL="342900" indent="-342900">
              <a:buSzPct val="100000"/>
              <a:buFont typeface="+mj-lt"/>
              <a:buAutoNum type="arabicPeriod"/>
            </a:pPr>
            <a:r>
              <a:rPr lang="en-US" altLang="zh-CN" sz="1400" dirty="0"/>
              <a:t>GR Restarter Starting</a:t>
            </a:r>
            <a:r>
              <a:rPr lang="zh-CN" altLang="en-US" sz="1400" dirty="0"/>
              <a:t>后，进行如下操作：</a:t>
            </a:r>
            <a:endParaRPr lang="zh-CN" altLang="en-US" sz="1400" dirty="0"/>
          </a:p>
          <a:p>
            <a:pPr lvl="1"/>
            <a:r>
              <a:rPr lang="zh-CN" altLang="en-US" sz="1200" dirty="0"/>
              <a:t>为每层</a:t>
            </a:r>
            <a:r>
              <a:rPr lang="en-US" altLang="zh-CN" sz="1200" dirty="0"/>
              <a:t>LSDB</a:t>
            </a:r>
            <a:r>
              <a:rPr lang="zh-CN" altLang="en-US" sz="1200" dirty="0"/>
              <a:t>的同步启动</a:t>
            </a:r>
            <a:r>
              <a:rPr lang="en-US" altLang="zh-CN" sz="1200" dirty="0"/>
              <a:t>T2</a:t>
            </a:r>
            <a:r>
              <a:rPr lang="zh-CN" altLang="en-US" sz="1200" dirty="0"/>
              <a:t>定时器。</a:t>
            </a:r>
            <a:endParaRPr lang="zh-CN" altLang="en-US" sz="1200" dirty="0"/>
          </a:p>
          <a:p>
            <a:pPr lvl="1"/>
            <a:r>
              <a:rPr lang="zh-CN" altLang="en-US" sz="1200" dirty="0"/>
              <a:t>从各个接口发送携带</a:t>
            </a:r>
            <a:r>
              <a:rPr lang="en-US" altLang="zh-CN" sz="1200" dirty="0"/>
              <a:t>Restart TLV</a:t>
            </a:r>
            <a:r>
              <a:rPr lang="zh-CN" altLang="en-US" sz="1200" dirty="0"/>
              <a:t>的</a:t>
            </a:r>
            <a:r>
              <a:rPr lang="en-US" altLang="zh-CN" sz="1200" dirty="0"/>
              <a:t>IIH</a:t>
            </a:r>
            <a:r>
              <a:rPr lang="zh-CN" altLang="en-US" sz="1200" dirty="0"/>
              <a:t>报文，其中</a:t>
            </a:r>
            <a:r>
              <a:rPr lang="en-US" altLang="zh-CN" sz="1200" dirty="0"/>
              <a:t>RR</a:t>
            </a:r>
            <a:r>
              <a:rPr lang="zh-CN" altLang="en-US" sz="1200" dirty="0"/>
              <a:t>位清除，</a:t>
            </a:r>
            <a:r>
              <a:rPr lang="en-US" altLang="zh-CN" sz="1200" dirty="0"/>
              <a:t>SA</a:t>
            </a:r>
            <a:r>
              <a:rPr lang="zh-CN" altLang="en-US" sz="1200" dirty="0"/>
              <a:t>位置位。</a:t>
            </a:r>
            <a:endParaRPr lang="en-US" altLang="zh-CN" sz="1200" dirty="0"/>
          </a:p>
          <a:p>
            <a:pPr marL="342900" indent="-342900">
              <a:buSzPct val="100000"/>
              <a:buFont typeface="+mj-lt"/>
              <a:buAutoNum type="arabicPeriod"/>
            </a:pPr>
            <a:r>
              <a:rPr lang="zh-CN" altLang="en-US" sz="1400" dirty="0"/>
              <a:t>邻居收到携带</a:t>
            </a:r>
            <a:r>
              <a:rPr lang="en-US" altLang="zh-CN" sz="1400" dirty="0"/>
              <a:t>Restart TLV</a:t>
            </a:r>
            <a:r>
              <a:rPr lang="zh-CN" altLang="en-US" sz="1400" dirty="0"/>
              <a:t>的</a:t>
            </a:r>
            <a:r>
              <a:rPr lang="en-US" altLang="zh-CN" sz="1400" dirty="0"/>
              <a:t>IIH</a:t>
            </a:r>
            <a:r>
              <a:rPr lang="zh-CN" altLang="en-US" sz="1400" dirty="0"/>
              <a:t>报文，根据设备是否支持</a:t>
            </a:r>
            <a:r>
              <a:rPr lang="en-US" altLang="zh-CN" sz="1400" dirty="0"/>
              <a:t>GR</a:t>
            </a:r>
            <a:r>
              <a:rPr lang="zh-CN" altLang="en-US" sz="1400" dirty="0"/>
              <a:t>，进行如下处理：</a:t>
            </a:r>
            <a:endParaRPr lang="zh-CN" altLang="en-US" sz="1400" dirty="0"/>
          </a:p>
          <a:p>
            <a:pPr lvl="1"/>
            <a:r>
              <a:rPr lang="zh-CN" altLang="en-US" sz="1200" b="1" dirty="0"/>
              <a:t>支持</a:t>
            </a:r>
            <a:r>
              <a:rPr lang="en-US" altLang="zh-CN" sz="1200" b="1" dirty="0"/>
              <a:t>GR</a:t>
            </a:r>
            <a:r>
              <a:rPr lang="zh-CN" altLang="en-US" sz="1200" b="1" dirty="0"/>
              <a:t>：</a:t>
            </a:r>
            <a:r>
              <a:rPr lang="zh-CN" altLang="en-US" sz="1200" dirty="0"/>
              <a:t>重新初始化邻接关系。</a:t>
            </a:r>
            <a:endParaRPr lang="en-US" altLang="zh-CN" sz="1200" dirty="0"/>
          </a:p>
          <a:p>
            <a:pPr lvl="1"/>
            <a:r>
              <a:rPr lang="zh-CN" altLang="en-US" sz="1200" b="1" dirty="0"/>
              <a:t>不支持</a:t>
            </a:r>
            <a:r>
              <a:rPr lang="en-US" altLang="zh-CN" sz="1200" b="1" dirty="0"/>
              <a:t>GR</a:t>
            </a:r>
            <a:r>
              <a:rPr lang="zh-CN" altLang="en-US" sz="1200" b="1" dirty="0"/>
              <a:t>：</a:t>
            </a:r>
            <a:r>
              <a:rPr lang="zh-CN" altLang="en-US" sz="1200" dirty="0"/>
              <a:t>邻居忽略</a:t>
            </a:r>
            <a:r>
              <a:rPr lang="en-US" altLang="zh-CN" sz="1200" dirty="0"/>
              <a:t>Restart TLV</a:t>
            </a:r>
            <a:r>
              <a:rPr lang="zh-CN" altLang="en-US" sz="1200" dirty="0"/>
              <a:t>，重置和</a:t>
            </a:r>
            <a:r>
              <a:rPr lang="en-US" altLang="zh-CN" sz="1200" dirty="0"/>
              <a:t>GR Restarter</a:t>
            </a:r>
            <a:r>
              <a:rPr lang="zh-CN" altLang="en-US" sz="1200" dirty="0"/>
              <a:t>之间的邻接关系。</a:t>
            </a:r>
            <a:endParaRPr lang="en-US" altLang="zh-CN" sz="1200" dirty="0"/>
          </a:p>
          <a:p>
            <a:pPr marL="342900" indent="-342900">
              <a:buSzPct val="100000"/>
              <a:buFont typeface="+mj-lt"/>
              <a:buAutoNum type="arabicPeriod"/>
            </a:pPr>
            <a:r>
              <a:rPr lang="zh-CN" altLang="en-US" sz="1400" dirty="0"/>
              <a:t>邻接关系重新初始化之后，在每个接口上</a:t>
            </a:r>
            <a:r>
              <a:rPr lang="en-US" altLang="zh-CN" sz="1400" dirty="0"/>
              <a:t>GR Restarter</a:t>
            </a:r>
            <a:r>
              <a:rPr lang="zh-CN" altLang="en-US" sz="1400" dirty="0"/>
              <a:t>都和邻居重建邻接关系。当有一个邻接关系到达</a:t>
            </a:r>
            <a:r>
              <a:rPr lang="en-US" altLang="zh-CN" sz="1400" dirty="0"/>
              <a:t>Up</a:t>
            </a:r>
            <a:r>
              <a:rPr lang="zh-CN" altLang="en-US" sz="1400" dirty="0"/>
              <a:t>状态后，</a:t>
            </a:r>
            <a:r>
              <a:rPr lang="en-US" altLang="zh-CN" sz="1400" dirty="0"/>
              <a:t>GR Restarter</a:t>
            </a:r>
            <a:r>
              <a:rPr lang="zh-CN" altLang="en-US" sz="1400" dirty="0"/>
              <a:t>为该接口启动</a:t>
            </a:r>
            <a:r>
              <a:rPr lang="en-US" altLang="zh-CN" sz="1400" dirty="0"/>
              <a:t>T1</a:t>
            </a:r>
            <a:r>
              <a:rPr lang="zh-CN" altLang="en-US" sz="1400" dirty="0"/>
              <a:t>定时器。</a:t>
            </a:r>
            <a:endParaRPr lang="zh-CN" altLang="en-US" sz="1400" dirty="0"/>
          </a:p>
        </p:txBody>
      </p:sp>
      <p:sp>
        <p:nvSpPr>
          <p:cNvPr id="45" name="TextBox 120"/>
          <p:cNvSpPr txBox="1"/>
          <p:nvPr/>
        </p:nvSpPr>
        <p:spPr bwMode="gray">
          <a:xfrm>
            <a:off x="2536497" y="3651754"/>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0"/>
          <p:cNvSpPr txBox="1"/>
          <p:nvPr/>
        </p:nvSpPr>
        <p:spPr bwMode="gray">
          <a:xfrm>
            <a:off x="2536497" y="4204039"/>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0"/>
          <p:cNvSpPr txBox="1"/>
          <p:nvPr/>
        </p:nvSpPr>
        <p:spPr bwMode="gray">
          <a:xfrm>
            <a:off x="853635" y="2654166"/>
            <a:ext cx="1369145" cy="276999"/>
          </a:xfrm>
          <a:prstGeom prst="rect">
            <a:avLst/>
          </a:prstGeom>
          <a:noFill/>
          <a:ln>
            <a:noFill/>
          </a:ln>
        </p:spPr>
        <p:txBody>
          <a:bodyPr wrap="square" rtlCol="0">
            <a:spAutoFit/>
          </a:bodyPr>
          <a:lstStyle/>
          <a:p>
            <a:pPr algn="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Starting</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p:cNvCxnSpPr/>
          <p:nvPr/>
        </p:nvCxnSpPr>
        <p:spPr bwMode="gray">
          <a:xfrm>
            <a:off x="2367387" y="5041831"/>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Box 120"/>
          <p:cNvSpPr txBox="1"/>
          <p:nvPr/>
        </p:nvSpPr>
        <p:spPr bwMode="gray">
          <a:xfrm>
            <a:off x="2536497" y="4764274"/>
            <a:ext cx="1695114"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CSNP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9"/>
          <p:cNvCxnSpPr/>
          <p:nvPr/>
        </p:nvCxnSpPr>
        <p:spPr bwMode="gray">
          <a:xfrm>
            <a:off x="2367387" y="5439325"/>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Box 120"/>
          <p:cNvSpPr txBox="1"/>
          <p:nvPr/>
        </p:nvSpPr>
        <p:spPr bwMode="gray">
          <a:xfrm>
            <a:off x="2536497" y="5161768"/>
            <a:ext cx="1695114"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0"/>
          <p:cNvSpPr txBox="1"/>
          <p:nvPr/>
        </p:nvSpPr>
        <p:spPr bwMode="gray">
          <a:xfrm>
            <a:off x="3290996" y="5401243"/>
            <a:ext cx="186115" cy="369332"/>
          </a:xfrm>
          <a:prstGeom prst="rect">
            <a:avLst/>
          </a:prstGeom>
          <a:noFill/>
          <a:ln>
            <a:noFill/>
          </a:ln>
        </p:spPr>
        <p:txBody>
          <a:bodyPr wrap="square" rtlCol="0">
            <a:spAutoFit/>
          </a:bodyPr>
          <a:lstStyle/>
          <a:p>
            <a:r>
              <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0"/>
          <p:cNvSpPr txBox="1"/>
          <p:nvPr/>
        </p:nvSpPr>
        <p:spPr bwMode="gray">
          <a:xfrm>
            <a:off x="444141" y="3418168"/>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五边形 53"/>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燕尾形 55"/>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p:cNvSpPr txBox="1"/>
          <p:nvPr/>
        </p:nvSpPr>
        <p:spPr bwMode="gray">
          <a:xfrm>
            <a:off x="444141" y="4760809"/>
            <a:ext cx="1778639" cy="461665"/>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开始同步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LSDB</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r>
              <a:rPr lang="zh-CN" altLang="en-US" dirty="0"/>
              <a:t>的过程 </a:t>
            </a:r>
            <a:r>
              <a:rPr lang="en-US" altLang="zh-CN" dirty="0"/>
              <a:t>(Starting) (2)</a:t>
            </a:r>
            <a:endParaRPr lang="zh-CN" altLang="en-US" dirty="0"/>
          </a:p>
        </p:txBody>
      </p:sp>
      <p:sp>
        <p:nvSpPr>
          <p:cNvPr id="3" name="文本占位符 2"/>
          <p:cNvSpPr>
            <a:spLocks noGrp="1"/>
          </p:cNvSpPr>
          <p:nvPr>
            <p:ph type="body" sz="quarter" idx="10"/>
          </p:nvPr>
        </p:nvSpPr>
        <p:spPr>
          <a:xfrm>
            <a:off x="455612" y="1047751"/>
            <a:ext cx="11293475" cy="502376"/>
          </a:xfrm>
        </p:spPr>
        <p:txBody>
          <a:bodyPr/>
          <a:lstStyle/>
          <a:p>
            <a:r>
              <a:rPr lang="zh-CN" altLang="en-US" sz="2000" dirty="0"/>
              <a:t>设备重启触发的</a:t>
            </a:r>
            <a:r>
              <a:rPr lang="en-US" altLang="zh-CN" sz="2000" dirty="0"/>
              <a:t>GR</a:t>
            </a:r>
            <a:r>
              <a:rPr lang="zh-CN" altLang="en-US" sz="2000" dirty="0"/>
              <a:t>过程称为</a:t>
            </a:r>
            <a:r>
              <a:rPr lang="en-US" altLang="zh-CN" sz="2000" dirty="0"/>
              <a:t>Starting</a:t>
            </a:r>
            <a:r>
              <a:rPr lang="zh-CN" altLang="en-US" sz="2000" dirty="0"/>
              <a:t>，进行</a:t>
            </a:r>
            <a:r>
              <a:rPr lang="en-US" altLang="zh-CN" sz="2000" dirty="0"/>
              <a:t>FIB</a:t>
            </a:r>
            <a:r>
              <a:rPr lang="zh-CN" altLang="en-US" sz="2000" dirty="0"/>
              <a:t>表更新。</a:t>
            </a:r>
            <a:endParaRPr lang="zh-CN" altLang="en-US" sz="2000" dirty="0"/>
          </a:p>
        </p:txBody>
      </p:sp>
      <p:grpSp>
        <p:nvGrpSpPr>
          <p:cNvPr id="5" name="组合 4"/>
          <p:cNvGrpSpPr/>
          <p:nvPr/>
        </p:nvGrpSpPr>
        <p:grpSpPr>
          <a:xfrm>
            <a:off x="1577478" y="1634716"/>
            <a:ext cx="3631808" cy="1020127"/>
            <a:chOff x="1874790" y="1395473"/>
            <a:chExt cx="3631808" cy="1020127"/>
          </a:xfrm>
        </p:grpSpPr>
        <p:sp>
          <p:nvSpPr>
            <p:cNvPr id="31" name="文本框 30"/>
            <p:cNvSpPr txBox="1"/>
            <p:nvPr/>
          </p:nvSpPr>
          <p:spPr bwMode="gray">
            <a:xfrm>
              <a:off x="1874790" y="2107823"/>
              <a:ext cx="1285929" cy="307777"/>
            </a:xfrm>
            <a:prstGeom prst="rect">
              <a:avLst/>
            </a:prstGeom>
            <a:noFill/>
          </p:spPr>
          <p:txBody>
            <a:bodyPr wrap="none" rtlCol="0">
              <a:spAutoFit/>
            </a:bodyPr>
            <a:lstStyle/>
            <a:p>
              <a:pPr algn="ctr"/>
              <a:r>
                <a:rPr lang="en-US" altLang="zh-CN" sz="1400" b="1" dirty="0"/>
                <a:t>GR Restarter</a:t>
              </a:r>
              <a:endParaRPr lang="zh-CN" altLang="en-US" sz="1400" b="1" dirty="0"/>
            </a:p>
          </p:txBody>
        </p:sp>
        <p:pic>
          <p:nvPicPr>
            <p:cNvPr id="32" name="图片 31"/>
            <p:cNvPicPr/>
            <p:nvPr/>
          </p:nvPicPr>
          <p:blipFill>
            <a:blip r:embed="rId1" cstate="print">
              <a:extLst>
                <a:ext uri="{28A0092B-C50C-407E-A947-70E740481C1C}">
                  <a14:useLocalDpi xmlns:a14="http://schemas.microsoft.com/office/drawing/2010/main" val="0"/>
                </a:ext>
              </a:extLst>
            </a:blip>
            <a:stretch>
              <a:fillRect/>
            </a:stretch>
          </p:blipFill>
          <p:spPr bwMode="gray">
            <a:xfrm>
              <a:off x="2247754" y="1665023"/>
              <a:ext cx="540000" cy="442800"/>
            </a:xfrm>
            <a:prstGeom prst="rect">
              <a:avLst/>
            </a:prstGeom>
          </p:spPr>
        </p:pic>
        <p:cxnSp>
          <p:nvCxnSpPr>
            <p:cNvPr id="33" name="直接连接符 32"/>
            <p:cNvCxnSpPr>
              <a:stCxn id="32" idx="3"/>
              <a:endCxn id="34" idx="1"/>
            </p:cNvCxnSpPr>
            <p:nvPr/>
          </p:nvCxnSpPr>
          <p:spPr bwMode="gray">
            <a:xfrm>
              <a:off x="2787754" y="1886423"/>
              <a:ext cx="191408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34" name="图片 33"/>
            <p:cNvPicPr/>
            <p:nvPr/>
          </p:nvPicPr>
          <p:blipFill>
            <a:blip r:embed="rId1" cstate="print">
              <a:extLst>
                <a:ext uri="{28A0092B-C50C-407E-A947-70E740481C1C}">
                  <a14:useLocalDpi xmlns:a14="http://schemas.microsoft.com/office/drawing/2010/main" val="0"/>
                </a:ext>
              </a:extLst>
            </a:blip>
            <a:stretch>
              <a:fillRect/>
            </a:stretch>
          </p:blipFill>
          <p:spPr bwMode="gray">
            <a:xfrm>
              <a:off x="4701836" y="1665023"/>
              <a:ext cx="540000" cy="442800"/>
            </a:xfrm>
            <a:prstGeom prst="rect">
              <a:avLst/>
            </a:prstGeom>
          </p:spPr>
        </p:pic>
        <p:sp>
          <p:nvSpPr>
            <p:cNvPr id="35" name="文本框 34"/>
            <p:cNvSpPr txBox="1"/>
            <p:nvPr/>
          </p:nvSpPr>
          <p:spPr bwMode="gray">
            <a:xfrm>
              <a:off x="4437074" y="2107823"/>
              <a:ext cx="1069524" cy="307777"/>
            </a:xfrm>
            <a:prstGeom prst="rect">
              <a:avLst/>
            </a:prstGeom>
            <a:noFill/>
          </p:spPr>
          <p:txBody>
            <a:bodyPr wrap="none" rtlCol="0">
              <a:spAutoFit/>
            </a:bodyPr>
            <a:lstStyle/>
            <a:p>
              <a:pPr algn="ctr"/>
              <a:r>
                <a:rPr lang="en-US" altLang="zh-CN" sz="1400" b="1" dirty="0"/>
                <a:t>GR Helper</a:t>
              </a:r>
              <a:endParaRPr lang="zh-CN" altLang="en-US" sz="1400" b="1" dirty="0"/>
            </a:p>
          </p:txBody>
        </p:sp>
        <p:sp>
          <p:nvSpPr>
            <p:cNvPr id="36" name="文本框 35"/>
            <p:cNvSpPr txBox="1"/>
            <p:nvPr/>
          </p:nvSpPr>
          <p:spPr bwMode="gray">
            <a:xfrm>
              <a:off x="2314814" y="1395473"/>
              <a:ext cx="405880" cy="307777"/>
            </a:xfrm>
            <a:prstGeom prst="rect">
              <a:avLst/>
            </a:prstGeom>
            <a:noFill/>
          </p:spPr>
          <p:txBody>
            <a:bodyPr wrap="none" rtlCol="0">
              <a:spAutoFit/>
            </a:bodyPr>
            <a:lstStyle/>
            <a:p>
              <a:pPr algn="ctr"/>
              <a:r>
                <a:rPr lang="en-US" altLang="zh-CN" sz="1400" dirty="0"/>
                <a:t>R1</a:t>
              </a:r>
              <a:endParaRPr lang="zh-CN" altLang="en-US" sz="1400" dirty="0"/>
            </a:p>
          </p:txBody>
        </p:sp>
        <p:sp>
          <p:nvSpPr>
            <p:cNvPr id="37" name="文本框 36"/>
            <p:cNvSpPr txBox="1"/>
            <p:nvPr/>
          </p:nvSpPr>
          <p:spPr bwMode="gray">
            <a:xfrm>
              <a:off x="4768895" y="1395473"/>
              <a:ext cx="405880" cy="307777"/>
            </a:xfrm>
            <a:prstGeom prst="rect">
              <a:avLst/>
            </a:prstGeom>
            <a:noFill/>
          </p:spPr>
          <p:txBody>
            <a:bodyPr wrap="none" rtlCol="0">
              <a:spAutoFit/>
            </a:bodyPr>
            <a:lstStyle/>
            <a:p>
              <a:pPr algn="ctr"/>
              <a:r>
                <a:rPr lang="en-US" altLang="zh-CN" sz="1400" dirty="0"/>
                <a:t>R2</a:t>
              </a:r>
              <a:endParaRPr lang="zh-CN" altLang="en-US" sz="1400" dirty="0"/>
            </a:p>
          </p:txBody>
        </p:sp>
        <p:sp>
          <p:nvSpPr>
            <p:cNvPr id="38" name="文本框 37"/>
            <p:cNvSpPr txBox="1"/>
            <p:nvPr/>
          </p:nvSpPr>
          <p:spPr bwMode="gray">
            <a:xfrm>
              <a:off x="3184386" y="1558300"/>
              <a:ext cx="1120820" cy="307777"/>
            </a:xfrm>
            <a:prstGeom prst="rect">
              <a:avLst/>
            </a:prstGeom>
            <a:noFill/>
          </p:spPr>
          <p:txBody>
            <a:bodyPr wrap="none" rtlCol="0">
              <a:spAutoFit/>
            </a:bodyPr>
            <a:lstStyle/>
            <a:p>
              <a:pPr algn="ctr"/>
              <a:r>
                <a:rPr lang="en-US" altLang="zh-CN" sz="1400" b="1" dirty="0"/>
                <a:t>GR Session</a:t>
              </a:r>
              <a:endParaRPr lang="zh-CN" altLang="en-US" sz="1400" b="1" dirty="0"/>
            </a:p>
          </p:txBody>
        </p:sp>
      </p:grpSp>
      <p:cxnSp>
        <p:nvCxnSpPr>
          <p:cNvPr id="6" name="直接连接符 5"/>
          <p:cNvCxnSpPr/>
          <p:nvPr/>
        </p:nvCxnSpPr>
        <p:spPr bwMode="gray">
          <a:xfrm>
            <a:off x="2367387" y="3110110"/>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bwMode="gray">
          <a:xfrm>
            <a:off x="2221839" y="2641347"/>
            <a:ext cx="0" cy="3492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gray">
          <a:xfrm>
            <a:off x="4669337" y="2641347"/>
            <a:ext cx="0" cy="3492000"/>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gray">
          <a:xfrm>
            <a:off x="2367387" y="3570583"/>
            <a:ext cx="2160000" cy="1"/>
          </a:xfrm>
          <a:prstGeom prst="line">
            <a:avLst/>
          </a:prstGeom>
          <a:ln w="19050">
            <a:solidFill>
              <a:schemeClr val="tx1"/>
            </a:solidFill>
            <a:prstDash val="dashDot"/>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 name="TextBox 120"/>
          <p:cNvSpPr txBox="1"/>
          <p:nvPr/>
        </p:nvSpPr>
        <p:spPr bwMode="gray">
          <a:xfrm>
            <a:off x="2536497" y="2641347"/>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a:off x="2367387" y="4118143"/>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bwMode="gray">
          <a:xfrm>
            <a:off x="2367387" y="5976641"/>
            <a:ext cx="2160000" cy="1"/>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TextBox 120"/>
          <p:cNvSpPr txBox="1"/>
          <p:nvPr/>
        </p:nvSpPr>
        <p:spPr bwMode="gray">
          <a:xfrm>
            <a:off x="2743434" y="5700201"/>
            <a:ext cx="1407905"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Flood 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6" name="直接连接符 15"/>
          <p:cNvCxnSpPr/>
          <p:nvPr/>
        </p:nvCxnSpPr>
        <p:spPr bwMode="gray">
          <a:xfrm>
            <a:off x="2367387" y="4665703"/>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120"/>
          <p:cNvSpPr txBox="1"/>
          <p:nvPr/>
        </p:nvSpPr>
        <p:spPr bwMode="gray">
          <a:xfrm>
            <a:off x="444141" y="2967418"/>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120"/>
          <p:cNvSpPr txBox="1"/>
          <p:nvPr/>
        </p:nvSpPr>
        <p:spPr bwMode="gray">
          <a:xfrm>
            <a:off x="4665278" y="5838141"/>
            <a:ext cx="952898" cy="276999"/>
          </a:xfrm>
          <a:prstGeom prst="rect">
            <a:avLst/>
          </a:prstGeom>
          <a:noFill/>
          <a:ln>
            <a:noFill/>
          </a:ln>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120"/>
          <p:cNvSpPr txBox="1"/>
          <p:nvPr/>
        </p:nvSpPr>
        <p:spPr bwMode="gray">
          <a:xfrm>
            <a:off x="2536497" y="3285427"/>
            <a:ext cx="1695114" cy="276999"/>
          </a:xfrm>
          <a:prstGeom prst="rect">
            <a:avLst/>
          </a:prstGeom>
          <a:noFill/>
          <a:ln>
            <a:noFill/>
          </a:ln>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重新建立邻接关系</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p:cNvSpPr txBox="1"/>
          <p:nvPr/>
        </p:nvSpPr>
        <p:spPr bwMode="gray">
          <a:xfrm>
            <a:off x="444141" y="4760809"/>
            <a:ext cx="1778639" cy="461665"/>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开始同步</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LSDB</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p:cNvSpPr txBox="1"/>
          <p:nvPr/>
        </p:nvSpPr>
        <p:spPr bwMode="gray">
          <a:xfrm>
            <a:off x="444141" y="5308910"/>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取消</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p:cNvSpPr txBox="1"/>
          <p:nvPr/>
        </p:nvSpPr>
        <p:spPr bwMode="gray">
          <a:xfrm>
            <a:off x="1079863" y="5838700"/>
            <a:ext cx="1142917"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更新</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FIB</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占位符 2"/>
          <p:cNvSpPr txBox="1"/>
          <p:nvPr/>
        </p:nvSpPr>
        <p:spPr bwMode="auto">
          <a:xfrm>
            <a:off x="5756067" y="1484313"/>
            <a:ext cx="5993020" cy="4716461"/>
          </a:xfrm>
          <a:prstGeom prst="rect">
            <a:avLst/>
          </a:prstGeom>
          <a:noFill/>
          <a:ln w="9525">
            <a:noFill/>
            <a:miter lim="800000"/>
          </a:ln>
        </p:spPr>
        <p:txBody>
          <a:bodyPr vert="horz" wrap="square" lIns="80141" tIns="40071" rIns="80141" bIns="40071" numCol="1" anchor="t" anchorCtr="0" compatLnSpc="1"/>
          <a:lstStyle>
            <a:lvl1pPr marL="302260" indent="-302260" algn="just" defTabSz="913765" rtl="0" eaLnBrk="1" fontAlgn="ctr" latinLnBrk="0" hangingPunct="1">
              <a:lnSpc>
                <a:spcPct val="140000"/>
              </a:lnSpc>
              <a:spcBef>
                <a:spcPts val="790"/>
              </a:spcBef>
              <a:buClrTx/>
              <a:buSzPct val="50000"/>
              <a:buFont typeface="Wingdings" panose="05000000000000000000" pitchFamily="2" charset="2"/>
              <a:buChar char="l"/>
              <a:defRPr sz="2200" kern="1200" baseline="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vl2pPr marL="654685" indent="-252095" algn="l" defTabSz="913765" rtl="0" eaLnBrk="1" fontAlgn="ctr" latinLnBrk="0" hangingPunct="1">
              <a:lnSpc>
                <a:spcPct val="140000"/>
              </a:lnSpc>
              <a:spcBef>
                <a:spcPts val="720"/>
              </a:spcBef>
              <a:buClrTx/>
              <a:buSzPct val="50000"/>
              <a:buFont typeface="Wingdings" panose="05000000000000000000" pitchFamily="2" charset="2"/>
              <a:buChar char="p"/>
              <a:defRPr sz="2000" kern="1200" baseline="0">
                <a:solidFill>
                  <a:schemeClr val="tx1"/>
                </a:solidFill>
                <a:latin typeface="Huawei Sans" panose="020C0503030203020204" pitchFamily="34" charset="0"/>
                <a:ea typeface="方正兰亭黑简体" panose="02000000000000000000" pitchFamily="2" charset="-122"/>
                <a:cs typeface="+mn-cs"/>
              </a:defRPr>
            </a:lvl2pPr>
            <a:lvl3pPr marL="1003935" indent="-201295" algn="l" defTabSz="913765" rtl="0" eaLnBrk="1" fontAlgn="ctr" latinLnBrk="0" hangingPunct="1">
              <a:lnSpc>
                <a:spcPct val="140000"/>
              </a:lnSpc>
              <a:spcBef>
                <a:spcPts val="650"/>
              </a:spcBef>
              <a:buClrTx/>
              <a:buSzPct val="50000"/>
              <a:buFont typeface="Wingdings" panose="05000000000000000000" pitchFamily="2" charset="2"/>
              <a:buChar char="n"/>
              <a:defRPr sz="1800" kern="1200" baseline="0">
                <a:solidFill>
                  <a:schemeClr val="tx1"/>
                </a:solidFill>
                <a:latin typeface="Huawei Sans" panose="020C0503030203020204" pitchFamily="34" charset="0"/>
                <a:ea typeface="方正兰亭黑简体" panose="02000000000000000000" pitchFamily="2" charset="-122"/>
                <a:cs typeface="+mn-cs"/>
              </a:defRPr>
            </a:lvl3pPr>
            <a:lvl4pPr marL="1399540" indent="-198120" algn="l" defTabSz="913765" rtl="0" eaLnBrk="1" fontAlgn="ctr" latinLnBrk="0" hangingPunct="1">
              <a:lnSpc>
                <a:spcPct val="140000"/>
              </a:lnSpc>
              <a:spcBef>
                <a:spcPts val="575"/>
              </a:spcBef>
              <a:buFont typeface="Huawei Sans" panose="020C0503030203020204" pitchFamily="34" charset="0"/>
              <a:buChar char="−"/>
              <a:defRPr sz="1600" kern="1200" baseline="0">
                <a:solidFill>
                  <a:schemeClr val="tx1"/>
                </a:solidFill>
                <a:latin typeface="Huawei Sans" panose="020C0503030203020204" pitchFamily="34" charset="0"/>
                <a:ea typeface="方正兰亭黑简体" panose="02000000000000000000" pitchFamily="2" charset="-122"/>
                <a:cs typeface="+mn-cs"/>
              </a:defRPr>
            </a:lvl4pPr>
            <a:lvl5pPr marL="1802765" indent="-201295" algn="l" defTabSz="913765" rtl="0" eaLnBrk="1" fontAlgn="ctr" latinLnBrk="0" hangingPunct="1">
              <a:lnSpc>
                <a:spcPct val="140000"/>
              </a:lnSpc>
              <a:spcBef>
                <a:spcPts val="575"/>
              </a:spcBef>
              <a:buFont typeface="Huawei Sans" panose="020C0503030203020204" pitchFamily="34" charset="0"/>
              <a:buChar char="~"/>
              <a:defRPr sz="1400" kern="1200" baseline="0">
                <a:solidFill>
                  <a:schemeClr val="tx1"/>
                </a:solidFill>
                <a:latin typeface="Huawei Sans" panose="020C0503030203020204" pitchFamily="34" charset="0"/>
                <a:ea typeface="方正兰亭黑简体" panose="02000000000000000000" pitchFamily="2" charset="-122"/>
                <a:cs typeface="+mn-cs"/>
              </a:defRPr>
            </a:lvl5pPr>
            <a:lvl6pPr marL="25133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5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SzPct val="100000"/>
              <a:buFont typeface="+mj-lt"/>
              <a:buAutoNum type="arabicPeriod" startAt="4"/>
            </a:pPr>
            <a:r>
              <a:rPr lang="zh-CN" altLang="en-US" sz="1400" dirty="0"/>
              <a:t>在</a:t>
            </a:r>
            <a:r>
              <a:rPr lang="en-US" altLang="zh-CN" sz="1400" dirty="0"/>
              <a:t>T1</a:t>
            </a:r>
            <a:r>
              <a:rPr lang="zh-CN" altLang="en-US" sz="1400" dirty="0"/>
              <a:t>定时器超时之后，</a:t>
            </a:r>
            <a:r>
              <a:rPr lang="en-US" altLang="zh-CN" sz="1400" dirty="0"/>
              <a:t>GR Restarter</a:t>
            </a:r>
            <a:r>
              <a:rPr lang="zh-CN" altLang="en-US" sz="1400" dirty="0"/>
              <a:t>发送</a:t>
            </a:r>
            <a:r>
              <a:rPr lang="en-US" altLang="zh-CN" sz="1400" dirty="0"/>
              <a:t>RR</a:t>
            </a:r>
            <a:r>
              <a:rPr lang="zh-CN" altLang="en-US" sz="1400" dirty="0"/>
              <a:t>置位、</a:t>
            </a:r>
            <a:r>
              <a:rPr lang="en-US" altLang="zh-CN" sz="1400" dirty="0"/>
              <a:t>SA</a:t>
            </a:r>
            <a:r>
              <a:rPr lang="zh-CN" altLang="en-US" sz="1400" dirty="0"/>
              <a:t>置位的</a:t>
            </a:r>
            <a:r>
              <a:rPr lang="en-US" altLang="zh-CN" sz="1400" dirty="0"/>
              <a:t>IIH</a:t>
            </a:r>
            <a:r>
              <a:rPr lang="zh-CN" altLang="en-US" sz="1400" dirty="0"/>
              <a:t>报文。</a:t>
            </a:r>
            <a:endParaRPr lang="zh-CN" altLang="en-US" sz="1400" dirty="0"/>
          </a:p>
          <a:p>
            <a:pPr marL="342900" indent="-342900">
              <a:buSzPct val="100000"/>
              <a:buFont typeface="+mj-lt"/>
              <a:buAutoNum type="arabicPeriod" startAt="4"/>
            </a:pPr>
            <a:r>
              <a:rPr lang="zh-CN" altLang="en-US" sz="1400" dirty="0"/>
              <a:t>邻居收到</a:t>
            </a:r>
            <a:r>
              <a:rPr lang="en-US" altLang="zh-CN" sz="1400" dirty="0"/>
              <a:t>RR</a:t>
            </a:r>
            <a:r>
              <a:rPr lang="zh-CN" altLang="en-US" sz="1400" dirty="0"/>
              <a:t>置位和</a:t>
            </a:r>
            <a:r>
              <a:rPr lang="en-US" altLang="zh-CN" sz="1400" dirty="0"/>
              <a:t>SA</a:t>
            </a:r>
            <a:r>
              <a:rPr lang="zh-CN" altLang="en-US" sz="1400" dirty="0"/>
              <a:t>置位的</a:t>
            </a:r>
            <a:r>
              <a:rPr lang="en-US" altLang="zh-CN" sz="1400" dirty="0"/>
              <a:t>IIH</a:t>
            </a:r>
            <a:r>
              <a:rPr lang="zh-CN" altLang="en-US" sz="1400" dirty="0"/>
              <a:t>报文后，发送一个</a:t>
            </a:r>
            <a:r>
              <a:rPr lang="en-US" altLang="zh-CN" sz="1400" dirty="0"/>
              <a:t>RR</a:t>
            </a:r>
            <a:r>
              <a:rPr lang="zh-CN" altLang="en-US" sz="1400" dirty="0"/>
              <a:t>清除、</a:t>
            </a:r>
            <a:r>
              <a:rPr lang="en-US" altLang="zh-CN" sz="1400" dirty="0"/>
              <a:t>RA</a:t>
            </a:r>
            <a:r>
              <a:rPr lang="zh-CN" altLang="en-US" sz="1400" dirty="0"/>
              <a:t>置位的</a:t>
            </a:r>
            <a:r>
              <a:rPr lang="en-US" altLang="zh-CN" sz="1400" dirty="0"/>
              <a:t>IIH</a:t>
            </a:r>
            <a:r>
              <a:rPr lang="zh-CN" altLang="en-US" sz="1400" dirty="0"/>
              <a:t>报文作为确认报文，并发送</a:t>
            </a:r>
            <a:r>
              <a:rPr lang="en-US" altLang="zh-CN" sz="1400" dirty="0"/>
              <a:t>CSNP</a:t>
            </a:r>
            <a:r>
              <a:rPr lang="zh-CN" altLang="en-US" sz="1400" dirty="0"/>
              <a:t>报文。</a:t>
            </a:r>
            <a:endParaRPr lang="zh-CN" altLang="en-US" sz="1400" dirty="0"/>
          </a:p>
          <a:p>
            <a:pPr marL="342900" indent="-342900">
              <a:buSzPct val="100000"/>
              <a:buFont typeface="+mj-lt"/>
              <a:buAutoNum type="arabicPeriod" startAt="4"/>
            </a:pPr>
            <a:r>
              <a:rPr lang="en-US" altLang="zh-CN" sz="1400" dirty="0"/>
              <a:t>GR Restarter</a:t>
            </a:r>
            <a:r>
              <a:rPr lang="zh-CN" altLang="en-US" sz="1400" dirty="0"/>
              <a:t>收到邻居的</a:t>
            </a:r>
            <a:r>
              <a:rPr lang="en-US" altLang="zh-CN" sz="1400" dirty="0"/>
              <a:t>IIH</a:t>
            </a:r>
            <a:r>
              <a:rPr lang="zh-CN" altLang="en-US" sz="1400" dirty="0"/>
              <a:t>确认报文和</a:t>
            </a:r>
            <a:r>
              <a:rPr lang="en-US" altLang="zh-CN" sz="1400" dirty="0"/>
              <a:t>CSNP</a:t>
            </a:r>
            <a:r>
              <a:rPr lang="zh-CN" altLang="en-US" sz="1400" dirty="0"/>
              <a:t>报文以后，取消</a:t>
            </a:r>
            <a:r>
              <a:rPr lang="en-US" altLang="zh-CN" sz="1400" dirty="0"/>
              <a:t>T1</a:t>
            </a:r>
            <a:r>
              <a:rPr lang="zh-CN" altLang="en-US" sz="1400" dirty="0"/>
              <a:t>定时器。</a:t>
            </a:r>
            <a:endParaRPr lang="zh-CN" altLang="en-US" sz="1400" dirty="0"/>
          </a:p>
          <a:p>
            <a:pPr marL="342900" indent="-342900">
              <a:buSzPct val="100000"/>
              <a:buFont typeface="+mj-lt"/>
              <a:buAutoNum type="arabicPeriod" startAt="4"/>
            </a:pPr>
            <a:r>
              <a:rPr lang="zh-CN" altLang="en-US" sz="1400" dirty="0"/>
              <a:t>如果没有收到</a:t>
            </a:r>
            <a:r>
              <a:rPr lang="en-US" altLang="zh-CN" sz="1400" dirty="0"/>
              <a:t>IIH</a:t>
            </a:r>
            <a:r>
              <a:rPr lang="zh-CN" altLang="en-US" sz="1400" dirty="0"/>
              <a:t>报文或者</a:t>
            </a:r>
            <a:r>
              <a:rPr lang="en-US" altLang="zh-CN" sz="1400" dirty="0"/>
              <a:t>CSNP</a:t>
            </a:r>
            <a:r>
              <a:rPr lang="zh-CN" altLang="en-US" sz="1400" dirty="0"/>
              <a:t>报文，就不停重置</a:t>
            </a:r>
            <a:r>
              <a:rPr lang="en-US" altLang="zh-CN" sz="1400" dirty="0"/>
              <a:t>T1</a:t>
            </a:r>
            <a:r>
              <a:rPr lang="zh-CN" altLang="en-US" sz="1400" dirty="0"/>
              <a:t>定时器，重发</a:t>
            </a:r>
            <a:r>
              <a:rPr lang="en-US" altLang="zh-CN" sz="1400" dirty="0"/>
              <a:t>RR</a:t>
            </a:r>
            <a:r>
              <a:rPr lang="zh-CN" altLang="en-US" sz="1400" dirty="0"/>
              <a:t>置位、</a:t>
            </a:r>
            <a:r>
              <a:rPr lang="en-US" altLang="zh-CN" sz="1400" dirty="0"/>
              <a:t>SA</a:t>
            </a:r>
            <a:r>
              <a:rPr lang="zh-CN" altLang="en-US" sz="1400" dirty="0"/>
              <a:t>置位的</a:t>
            </a:r>
            <a:r>
              <a:rPr lang="en-US" altLang="zh-CN" sz="1400" dirty="0"/>
              <a:t>IIH</a:t>
            </a:r>
            <a:r>
              <a:rPr lang="zh-CN" altLang="en-US" sz="1400" dirty="0"/>
              <a:t>报文。如果</a:t>
            </a:r>
            <a:r>
              <a:rPr lang="en-US" altLang="zh-CN" sz="1400" dirty="0"/>
              <a:t>T1</a:t>
            </a:r>
            <a:r>
              <a:rPr lang="zh-CN" altLang="en-US" sz="1400" dirty="0"/>
              <a:t>超时次数超过阈值，</a:t>
            </a:r>
            <a:r>
              <a:rPr lang="en-US" altLang="zh-CN" sz="1400" dirty="0"/>
              <a:t>GR Restarter</a:t>
            </a:r>
            <a:r>
              <a:rPr lang="zh-CN" altLang="en-US" sz="1400" dirty="0"/>
              <a:t>强制取消</a:t>
            </a:r>
            <a:r>
              <a:rPr lang="en-US" altLang="zh-CN" sz="1400" dirty="0"/>
              <a:t>T1</a:t>
            </a:r>
            <a:r>
              <a:rPr lang="zh-CN" altLang="en-US" sz="1400" dirty="0"/>
              <a:t>定时器，进入正常的</a:t>
            </a:r>
            <a:r>
              <a:rPr lang="en-US" altLang="zh-CN" sz="1400" dirty="0"/>
              <a:t>IS-IS</a:t>
            </a:r>
            <a:r>
              <a:rPr lang="zh-CN" altLang="en-US" sz="1400" dirty="0"/>
              <a:t>处理流程完成</a:t>
            </a:r>
            <a:r>
              <a:rPr lang="en-US" altLang="zh-CN" sz="1400" dirty="0"/>
              <a:t>LSDB</a:t>
            </a:r>
            <a:r>
              <a:rPr lang="zh-CN" altLang="en-US" sz="1400" dirty="0"/>
              <a:t>同步。</a:t>
            </a:r>
            <a:endParaRPr lang="zh-CN" altLang="en-US" sz="1400" dirty="0"/>
          </a:p>
          <a:p>
            <a:pPr marL="342900" indent="-342900">
              <a:buSzPct val="100000"/>
              <a:buFont typeface="+mj-lt"/>
              <a:buAutoNum type="arabicPeriod" startAt="4"/>
            </a:pPr>
            <a:r>
              <a:rPr lang="en-US" altLang="zh-CN" sz="1400" dirty="0"/>
              <a:t>GR Restarter</a:t>
            </a:r>
            <a:r>
              <a:rPr lang="zh-CN" altLang="en-US" sz="1400" dirty="0"/>
              <a:t>收到</a:t>
            </a:r>
            <a:r>
              <a:rPr lang="en-US" altLang="zh-CN" sz="1400" dirty="0"/>
              <a:t>Helper</a:t>
            </a:r>
            <a:r>
              <a:rPr lang="zh-CN" altLang="en-US" sz="1400" dirty="0"/>
              <a:t>端的</a:t>
            </a:r>
            <a:r>
              <a:rPr lang="en-US" altLang="zh-CN" sz="1400" dirty="0"/>
              <a:t>CSNP</a:t>
            </a:r>
            <a:r>
              <a:rPr lang="zh-CN" altLang="en-US" sz="1400" dirty="0"/>
              <a:t>以后，开始同步</a:t>
            </a:r>
            <a:r>
              <a:rPr lang="en-US" altLang="zh-CN" sz="1400" dirty="0"/>
              <a:t>LSDB</a:t>
            </a:r>
            <a:r>
              <a:rPr lang="zh-CN" altLang="en-US" sz="1400" dirty="0"/>
              <a:t>。</a:t>
            </a:r>
            <a:endParaRPr lang="zh-CN" altLang="en-US" sz="1400" dirty="0"/>
          </a:p>
          <a:p>
            <a:pPr marL="342900" indent="-342900">
              <a:buSzPct val="100000"/>
              <a:buFont typeface="+mj-lt"/>
              <a:buAutoNum type="arabicPeriod" startAt="4"/>
            </a:pPr>
            <a:r>
              <a:rPr lang="zh-CN" altLang="en-US" sz="1400" dirty="0"/>
              <a:t>本</a:t>
            </a:r>
            <a:r>
              <a:rPr lang="en-US" altLang="zh-CN" sz="1400" dirty="0"/>
              <a:t>Level</a:t>
            </a:r>
            <a:r>
              <a:rPr lang="zh-CN" altLang="en-US" sz="1400" dirty="0"/>
              <a:t>的</a:t>
            </a:r>
            <a:r>
              <a:rPr lang="en-US" altLang="zh-CN" sz="1400" dirty="0"/>
              <a:t>LSDB</a:t>
            </a:r>
            <a:r>
              <a:rPr lang="zh-CN" altLang="en-US" sz="1400" dirty="0"/>
              <a:t>同步完成后，</a:t>
            </a:r>
            <a:r>
              <a:rPr lang="en-US" altLang="zh-CN" sz="1400" dirty="0"/>
              <a:t>GR Restarter</a:t>
            </a:r>
            <a:r>
              <a:rPr lang="zh-CN" altLang="en-US" sz="1400" dirty="0"/>
              <a:t>取消</a:t>
            </a:r>
            <a:r>
              <a:rPr lang="en-US" altLang="zh-CN" sz="1400" dirty="0"/>
              <a:t>T2</a:t>
            </a:r>
            <a:r>
              <a:rPr lang="zh-CN" altLang="en-US" sz="1400" dirty="0"/>
              <a:t>定时器。</a:t>
            </a:r>
            <a:endParaRPr lang="zh-CN" altLang="en-US" sz="1400" dirty="0"/>
          </a:p>
          <a:p>
            <a:pPr marL="342900" indent="-342900">
              <a:buSzPct val="100000"/>
              <a:buFont typeface="+mj-lt"/>
              <a:buAutoNum type="arabicPeriod" startAt="4"/>
            </a:pPr>
            <a:r>
              <a:rPr lang="zh-CN" altLang="en-US" sz="1400" dirty="0"/>
              <a:t>所有的</a:t>
            </a:r>
            <a:r>
              <a:rPr lang="en-US" altLang="zh-CN" sz="1400" dirty="0"/>
              <a:t>T2</a:t>
            </a:r>
            <a:r>
              <a:rPr lang="zh-CN" altLang="en-US" sz="1400" dirty="0"/>
              <a:t>定时器都取消以后，启动</a:t>
            </a:r>
            <a:r>
              <a:rPr lang="en-US" altLang="zh-CN" sz="1400" dirty="0"/>
              <a:t>SPF</a:t>
            </a:r>
            <a:r>
              <a:rPr lang="zh-CN" altLang="en-US" sz="1400" dirty="0"/>
              <a:t>计算，重新生成</a:t>
            </a:r>
            <a:r>
              <a:rPr lang="en-US" altLang="zh-CN" sz="1400" dirty="0"/>
              <a:t>LSP</a:t>
            </a:r>
            <a:r>
              <a:rPr lang="zh-CN" altLang="en-US" sz="1400" dirty="0"/>
              <a:t>，并泛洪。</a:t>
            </a:r>
            <a:endParaRPr lang="zh-CN" altLang="en-US" sz="1400" dirty="0"/>
          </a:p>
          <a:p>
            <a:pPr marL="342900" indent="-342900">
              <a:buSzPct val="100000"/>
              <a:buFont typeface="+mj-lt"/>
              <a:buAutoNum type="arabicPeriod" startAt="4"/>
            </a:pPr>
            <a:r>
              <a:rPr lang="zh-CN" altLang="en-US" sz="1400" dirty="0"/>
              <a:t>至此，</a:t>
            </a:r>
            <a:r>
              <a:rPr lang="en-US" altLang="zh-CN" sz="1400" dirty="0"/>
              <a:t>GR Restarter</a:t>
            </a:r>
            <a:r>
              <a:rPr lang="zh-CN" altLang="en-US" sz="1400" dirty="0"/>
              <a:t>的</a:t>
            </a:r>
            <a:r>
              <a:rPr lang="en-US" altLang="zh-CN" sz="1400" dirty="0"/>
              <a:t>IS-IS Starting</a:t>
            </a:r>
            <a:r>
              <a:rPr lang="zh-CN" altLang="en-US" sz="1400" dirty="0"/>
              <a:t>过程完成。</a:t>
            </a:r>
            <a:endParaRPr lang="en-US" altLang="zh-CN" sz="1200" dirty="0"/>
          </a:p>
        </p:txBody>
      </p:sp>
      <p:sp>
        <p:nvSpPr>
          <p:cNvPr id="45" name="TextBox 120"/>
          <p:cNvSpPr txBox="1"/>
          <p:nvPr/>
        </p:nvSpPr>
        <p:spPr bwMode="gray">
          <a:xfrm>
            <a:off x="2536497" y="3651754"/>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0"/>
          <p:cNvSpPr txBox="1"/>
          <p:nvPr/>
        </p:nvSpPr>
        <p:spPr bwMode="gray">
          <a:xfrm>
            <a:off x="2536497" y="4204039"/>
            <a:ext cx="1695114" cy="461665"/>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IIH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Restart TLV</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RR=0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RA=1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SA=0</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0"/>
          <p:cNvSpPr txBox="1"/>
          <p:nvPr/>
        </p:nvSpPr>
        <p:spPr bwMode="gray">
          <a:xfrm>
            <a:off x="853635" y="2654166"/>
            <a:ext cx="1369145" cy="276999"/>
          </a:xfrm>
          <a:prstGeom prst="rect">
            <a:avLst/>
          </a:prstGeom>
          <a:noFill/>
          <a:ln>
            <a:noFill/>
          </a:ln>
        </p:spPr>
        <p:txBody>
          <a:bodyPr wrap="square" rtlCol="0">
            <a:spAutoFit/>
          </a:bodyPr>
          <a:lstStyle/>
          <a:p>
            <a:pPr algn="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Starting</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p:cNvCxnSpPr/>
          <p:nvPr/>
        </p:nvCxnSpPr>
        <p:spPr bwMode="gray">
          <a:xfrm>
            <a:off x="2367387" y="5041831"/>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Box 120"/>
          <p:cNvSpPr txBox="1"/>
          <p:nvPr/>
        </p:nvSpPr>
        <p:spPr bwMode="gray">
          <a:xfrm>
            <a:off x="2536497" y="4764274"/>
            <a:ext cx="1695114"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CSNP</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9"/>
          <p:cNvCxnSpPr/>
          <p:nvPr/>
        </p:nvCxnSpPr>
        <p:spPr bwMode="gray">
          <a:xfrm>
            <a:off x="2367387" y="5439325"/>
            <a:ext cx="2160000" cy="1"/>
          </a:xfrm>
          <a:prstGeom prst="line">
            <a:avLst/>
          </a:prstGeom>
          <a:ln w="19050">
            <a:solidFill>
              <a:schemeClr val="tx1"/>
            </a:solidFill>
            <a:prstDash val="dash"/>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Box 120"/>
          <p:cNvSpPr txBox="1"/>
          <p:nvPr/>
        </p:nvSpPr>
        <p:spPr bwMode="gray">
          <a:xfrm>
            <a:off x="2536497" y="5161768"/>
            <a:ext cx="1695114" cy="276999"/>
          </a:xfrm>
          <a:prstGeom prst="rect">
            <a:avLst/>
          </a:prstGeom>
          <a:noFill/>
          <a:ln>
            <a:noFill/>
          </a:ln>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LSPs</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120"/>
          <p:cNvSpPr txBox="1"/>
          <p:nvPr/>
        </p:nvSpPr>
        <p:spPr bwMode="gray">
          <a:xfrm>
            <a:off x="3290996" y="5401243"/>
            <a:ext cx="186115" cy="369332"/>
          </a:xfrm>
          <a:prstGeom prst="rect">
            <a:avLst/>
          </a:prstGeom>
          <a:noFill/>
          <a:ln>
            <a:noFill/>
          </a:ln>
        </p:spPr>
        <p:txBody>
          <a:bodyPr wrap="square" rtlCol="0">
            <a:spAutoFit/>
          </a:bodyPr>
          <a:lstStyle/>
          <a:p>
            <a:r>
              <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endParaRPr>
          </a:p>
          <a:p>
            <a:r>
              <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6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TextBox 120"/>
          <p:cNvSpPr txBox="1"/>
          <p:nvPr/>
        </p:nvSpPr>
        <p:spPr bwMode="gray">
          <a:xfrm>
            <a:off x="444141" y="3418168"/>
            <a:ext cx="1778639" cy="276999"/>
          </a:xfrm>
          <a:prstGeom prst="rect">
            <a:avLst/>
          </a:prstGeom>
          <a:noFill/>
          <a:ln>
            <a:noFill/>
          </a:ln>
        </p:spPr>
        <p:txBody>
          <a:bodyPr wrap="square" rtlCol="0">
            <a:spAutoFit/>
          </a:bodyPr>
          <a:lstStyle/>
          <a:p>
            <a:pPr algn="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T1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定时器</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五边形 39"/>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燕尾形 53"/>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燕尾形 54"/>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a:t>
            </a:r>
            <a:r>
              <a:rPr lang="en-US" altLang="zh-CN" dirty="0"/>
              <a:t>IS-IS GR (1)</a:t>
            </a:r>
            <a:endParaRPr lang="zh-CN" altLang="en-US" dirty="0"/>
          </a:p>
        </p:txBody>
      </p:sp>
      <p:sp>
        <p:nvSpPr>
          <p:cNvPr id="4" name="矩形 3"/>
          <p:cNvSpPr/>
          <p:nvPr/>
        </p:nvSpPr>
        <p:spPr>
          <a:xfrm>
            <a:off x="1031917" y="16049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graceful-restart</a:t>
            </a:r>
            <a:endParaRPr lang="zh-CN" altLang="en-US" sz="1600" dirty="0">
              <a:cs typeface="Courier New" panose="02070309020205020404" pitchFamily="49" charset="0"/>
            </a:endParaRPr>
          </a:p>
        </p:txBody>
      </p:sp>
      <p:sp>
        <p:nvSpPr>
          <p:cNvPr id="5" name="矩形 4"/>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a:pPr>
            <a:r>
              <a:rPr lang="zh-CN" altLang="en-US" sz="1600" dirty="0">
                <a:cs typeface="Courier New" panose="02070309020205020404" pitchFamily="49" charset="0"/>
              </a:rPr>
              <a:t>使能</a:t>
            </a:r>
            <a:r>
              <a:rPr lang="en-US" altLang="zh-CN" sz="1600" dirty="0">
                <a:cs typeface="Courier New" panose="02070309020205020404" pitchFamily="49" charset="0"/>
              </a:rPr>
              <a:t>IS-IS</a:t>
            </a:r>
            <a:r>
              <a:rPr lang="zh-CN" altLang="en-US" sz="1600" dirty="0">
                <a:cs typeface="Courier New" panose="02070309020205020404" pitchFamily="49" charset="0"/>
              </a:rPr>
              <a:t>协议的</a:t>
            </a:r>
            <a:r>
              <a:rPr lang="en-US" altLang="zh-CN" sz="1600" dirty="0">
                <a:cs typeface="Courier New" panose="02070309020205020404" pitchFamily="49" charset="0"/>
              </a:rPr>
              <a:t>GR</a:t>
            </a:r>
            <a:r>
              <a:rPr lang="zh-CN" altLang="en-US" sz="1600" dirty="0">
                <a:cs typeface="Courier New" panose="02070309020205020404" pitchFamily="49" charset="0"/>
              </a:rPr>
              <a:t>能力。</a:t>
            </a:r>
            <a:endParaRPr lang="zh-CN" altLang="en-US" sz="1600" dirty="0">
              <a:cs typeface="Courier New" panose="02070309020205020404" pitchFamily="49" charset="0"/>
            </a:endParaRPr>
          </a:p>
        </p:txBody>
      </p:sp>
      <p:sp>
        <p:nvSpPr>
          <p:cNvPr id="7" name="矩形 6"/>
          <p:cNvSpPr/>
          <p:nvPr/>
        </p:nvSpPr>
        <p:spPr>
          <a:xfrm>
            <a:off x="1031917" y="2659905"/>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graceful-restart no-impact-</a:t>
            </a:r>
            <a:r>
              <a:rPr lang="en-US" altLang="zh-CN" sz="1600" b="1" dirty="0" err="1"/>
              <a:t>holdtime</a:t>
            </a:r>
            <a:endParaRPr lang="zh-CN" altLang="en-US" sz="1600" i="1" dirty="0">
              <a:cs typeface="Courier New" panose="02070309020205020404" pitchFamily="49" charset="0"/>
            </a:endParaRPr>
          </a:p>
        </p:txBody>
      </p:sp>
      <p:sp>
        <p:nvSpPr>
          <p:cNvPr id="8" name="矩形 7"/>
          <p:cNvSpPr/>
          <p:nvPr/>
        </p:nvSpPr>
        <p:spPr>
          <a:xfrm>
            <a:off x="551384" y="2227758"/>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t>配置</a:t>
            </a:r>
            <a:r>
              <a:rPr lang="en-US" altLang="zh-CN" sz="1600" dirty="0"/>
              <a:t>IS-IS</a:t>
            </a:r>
            <a:r>
              <a:rPr lang="zh-CN" altLang="en-US" sz="1600" dirty="0"/>
              <a:t>邻居的</a:t>
            </a:r>
            <a:r>
              <a:rPr lang="en-US" altLang="zh-CN" sz="1600" dirty="0" err="1"/>
              <a:t>Holdtime</a:t>
            </a:r>
            <a:r>
              <a:rPr lang="zh-CN" altLang="en-US" sz="1600" dirty="0"/>
              <a:t>不受</a:t>
            </a:r>
            <a:r>
              <a:rPr lang="en-US" altLang="zh-CN" sz="1600" dirty="0"/>
              <a:t>GR</a:t>
            </a:r>
            <a:r>
              <a:rPr lang="zh-CN" altLang="en-US" sz="1600" dirty="0"/>
              <a:t>影响，保持原来的数据。</a:t>
            </a:r>
            <a:endParaRPr lang="zh-CN" altLang="en-US" sz="1600" dirty="0">
              <a:cs typeface="Courier New" panose="02070309020205020404" pitchFamily="49" charset="0"/>
            </a:endParaRPr>
          </a:p>
        </p:txBody>
      </p:sp>
      <p:sp>
        <p:nvSpPr>
          <p:cNvPr id="9" name="矩形 8"/>
          <p:cNvSpPr/>
          <p:nvPr/>
        </p:nvSpPr>
        <p:spPr>
          <a:xfrm>
            <a:off x="1031917" y="3009573"/>
            <a:ext cx="10608699" cy="400110"/>
          </a:xfrm>
          <a:prstGeom prst="rect">
            <a:avLst/>
          </a:prstGeom>
        </p:spPr>
        <p:txBody>
          <a:bodyPr wrap="square">
            <a:spAutoFit/>
          </a:bodyPr>
          <a:lstStyle/>
          <a:p>
            <a:pPr fontAlgn="auto">
              <a:lnSpc>
                <a:spcPts val="2400"/>
              </a:lnSpc>
            </a:pPr>
            <a:r>
              <a:rPr lang="zh-CN" altLang="en-US" sz="1600" dirty="0"/>
              <a:t>缺省情况下，配置</a:t>
            </a:r>
            <a:r>
              <a:rPr lang="en-US" altLang="zh-CN" sz="1600" dirty="0"/>
              <a:t>IS-IS GR</a:t>
            </a:r>
            <a:r>
              <a:rPr lang="zh-CN" altLang="en-US" sz="1600" dirty="0"/>
              <a:t>后，邻居的</a:t>
            </a:r>
            <a:r>
              <a:rPr lang="en-US" altLang="zh-CN" sz="1600" dirty="0" err="1"/>
              <a:t>Holdtime</a:t>
            </a:r>
            <a:r>
              <a:rPr lang="zh-CN" altLang="en-US" sz="1600" dirty="0"/>
              <a:t>值如果小于</a:t>
            </a:r>
            <a:r>
              <a:rPr lang="en-US" altLang="zh-CN" sz="1600" dirty="0"/>
              <a:t>60</a:t>
            </a:r>
            <a:r>
              <a:rPr lang="zh-CN" altLang="en-US" sz="1600" dirty="0"/>
              <a:t>秒，则修改为</a:t>
            </a:r>
            <a:r>
              <a:rPr lang="en-US" altLang="zh-CN" sz="1600" dirty="0"/>
              <a:t>60</a:t>
            </a:r>
            <a:r>
              <a:rPr lang="zh-CN" altLang="en-US" sz="1600" dirty="0"/>
              <a:t>秒，否则保持原</a:t>
            </a:r>
            <a:r>
              <a:rPr lang="en-US" altLang="zh-CN" sz="1600" dirty="0" err="1"/>
              <a:t>Holdtime</a:t>
            </a:r>
            <a:r>
              <a:rPr lang="zh-CN" altLang="en-US" sz="1600" dirty="0"/>
              <a:t>值。</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a:xfrm>
            <a:off x="1031917" y="406208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graceful-restart interval</a:t>
            </a:r>
            <a:r>
              <a:rPr lang="en-US" altLang="zh-CN" sz="1600" dirty="0"/>
              <a:t> </a:t>
            </a:r>
            <a:r>
              <a:rPr lang="en-US" altLang="zh-CN" sz="1600" i="1" dirty="0"/>
              <a:t>interval-value</a:t>
            </a:r>
            <a:endParaRPr lang="zh-CN" altLang="en-US" sz="1600" i="1" dirty="0">
              <a:cs typeface="Courier New" panose="02070309020205020404" pitchFamily="49" charset="0"/>
            </a:endParaRPr>
          </a:p>
        </p:txBody>
      </p:sp>
      <p:sp>
        <p:nvSpPr>
          <p:cNvPr id="14" name="矩形 13"/>
          <p:cNvSpPr/>
          <p:nvPr/>
        </p:nvSpPr>
        <p:spPr>
          <a:xfrm>
            <a:off x="551384" y="3629937"/>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t>（可选）配置</a:t>
            </a:r>
            <a:r>
              <a:rPr lang="en-US" altLang="zh-CN" sz="1600" dirty="0"/>
              <a:t>IS-IS GR</a:t>
            </a:r>
            <a:r>
              <a:rPr lang="zh-CN" altLang="en-US" sz="1600" dirty="0"/>
              <a:t>过程中</a:t>
            </a:r>
            <a:r>
              <a:rPr lang="en-US" altLang="zh-CN" sz="1600" dirty="0"/>
              <a:t>T3</a:t>
            </a:r>
            <a:r>
              <a:rPr lang="zh-CN" altLang="en-US" sz="1600" dirty="0"/>
              <a:t>定时器的时间。</a:t>
            </a:r>
            <a:endParaRPr lang="zh-CN" altLang="en-US" sz="1600" dirty="0">
              <a:cs typeface="Courier New" panose="02070309020205020404" pitchFamily="49" charset="0"/>
            </a:endParaRPr>
          </a:p>
        </p:txBody>
      </p:sp>
      <p:sp>
        <p:nvSpPr>
          <p:cNvPr id="15" name="矩形 14"/>
          <p:cNvSpPr/>
          <p:nvPr/>
        </p:nvSpPr>
        <p:spPr>
          <a:xfrm>
            <a:off x="1031917" y="4402516"/>
            <a:ext cx="10608699" cy="377732"/>
          </a:xfrm>
          <a:prstGeom prst="rect">
            <a:avLst/>
          </a:prstGeom>
        </p:spPr>
        <p:txBody>
          <a:bodyPr wrap="square">
            <a:spAutoFit/>
          </a:bodyPr>
          <a:lstStyle/>
          <a:p>
            <a:pPr fontAlgn="auto">
              <a:lnSpc>
                <a:spcPts val="2400"/>
              </a:lnSpc>
            </a:pPr>
            <a:r>
              <a:rPr lang="zh-CN" altLang="en-US" sz="1600" dirty="0"/>
              <a:t>缺省情况下，</a:t>
            </a:r>
            <a:r>
              <a:rPr lang="en-US" altLang="zh-CN" sz="1600" dirty="0"/>
              <a:t>GR T3</a:t>
            </a:r>
            <a:r>
              <a:rPr lang="zh-CN" altLang="en-US" sz="1600" dirty="0"/>
              <a:t>定时器为</a:t>
            </a:r>
            <a:r>
              <a:rPr lang="en-US" altLang="zh-CN" sz="1600" dirty="0"/>
              <a:t>300</a:t>
            </a:r>
            <a:r>
              <a:rPr lang="zh-CN" altLang="en-US" sz="1600" dirty="0"/>
              <a:t>秒。</a:t>
            </a:r>
            <a:endParaRPr lang="en-US" altLang="zh-CN" sz="1600" dirty="0"/>
          </a:p>
        </p:txBody>
      </p:sp>
      <p:sp>
        <p:nvSpPr>
          <p:cNvPr id="18" name="五边形 17"/>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燕尾形 18"/>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矩形 15"/>
          <p:cNvSpPr/>
          <p:nvPr/>
        </p:nvSpPr>
        <p:spPr>
          <a:xfrm>
            <a:off x="1031917" y="549962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graceful-restart t2-interval</a:t>
            </a:r>
            <a:r>
              <a:rPr lang="en-US" altLang="zh-CN" sz="1600" dirty="0"/>
              <a:t> </a:t>
            </a:r>
            <a:r>
              <a:rPr lang="en-US" altLang="zh-CN" sz="1600" i="1" dirty="0"/>
              <a:t>interval-value</a:t>
            </a:r>
            <a:endParaRPr lang="zh-CN" altLang="en-US" sz="1600" i="1" dirty="0">
              <a:cs typeface="Courier New" panose="02070309020205020404" pitchFamily="49" charset="0"/>
            </a:endParaRPr>
          </a:p>
        </p:txBody>
      </p:sp>
      <p:sp>
        <p:nvSpPr>
          <p:cNvPr id="17" name="矩形 16"/>
          <p:cNvSpPr/>
          <p:nvPr/>
        </p:nvSpPr>
        <p:spPr>
          <a:xfrm>
            <a:off x="551384" y="5067474"/>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t>（可选）配置</a:t>
            </a:r>
            <a:r>
              <a:rPr lang="en-US" altLang="zh-CN" sz="1600" dirty="0"/>
              <a:t>IS-IS GR</a:t>
            </a:r>
            <a:r>
              <a:rPr lang="zh-CN" altLang="en-US" sz="1600" dirty="0"/>
              <a:t>过程中</a:t>
            </a:r>
            <a:r>
              <a:rPr lang="en-US" altLang="zh-CN" sz="1600" dirty="0"/>
              <a:t>T2</a:t>
            </a:r>
            <a:r>
              <a:rPr lang="zh-CN" altLang="en-US" sz="1600" dirty="0"/>
              <a:t>定时器的时间。</a:t>
            </a:r>
            <a:endParaRPr lang="zh-CN" altLang="en-US" sz="1600" dirty="0">
              <a:cs typeface="Courier New" panose="02070309020205020404" pitchFamily="49" charset="0"/>
            </a:endParaRPr>
          </a:p>
        </p:txBody>
      </p:sp>
      <p:sp>
        <p:nvSpPr>
          <p:cNvPr id="21" name="矩形 20"/>
          <p:cNvSpPr/>
          <p:nvPr/>
        </p:nvSpPr>
        <p:spPr>
          <a:xfrm>
            <a:off x="1031917" y="5823043"/>
            <a:ext cx="10608699" cy="400110"/>
          </a:xfrm>
          <a:prstGeom prst="rect">
            <a:avLst/>
          </a:prstGeom>
        </p:spPr>
        <p:txBody>
          <a:bodyPr wrap="square">
            <a:spAutoFit/>
          </a:bodyPr>
          <a:lstStyle/>
          <a:p>
            <a:pPr fontAlgn="auto">
              <a:lnSpc>
                <a:spcPts val="2400"/>
              </a:lnSpc>
            </a:pPr>
            <a:r>
              <a:rPr lang="zh-CN" altLang="en-US" sz="1600" dirty="0"/>
              <a:t>缺省情况下，</a:t>
            </a:r>
            <a:r>
              <a:rPr lang="en-US" altLang="zh-CN" sz="1600" dirty="0"/>
              <a:t>GR T2</a:t>
            </a:r>
            <a:r>
              <a:rPr lang="zh-CN" altLang="en-US" sz="1600" dirty="0"/>
              <a:t>定时器为</a:t>
            </a:r>
            <a:r>
              <a:rPr lang="en-US" altLang="zh-CN" sz="1600" dirty="0"/>
              <a:t>60</a:t>
            </a:r>
            <a:r>
              <a:rPr lang="zh-CN" altLang="en-US" sz="1600" dirty="0"/>
              <a:t>秒。</a:t>
            </a:r>
            <a:endParaRPr lang="en-US" altLang="zh-CN"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配置</a:t>
            </a:r>
            <a:r>
              <a:rPr lang="en-US" altLang="zh-CN" dirty="0"/>
              <a:t>IS-IS GR (2)</a:t>
            </a:r>
            <a:endParaRPr lang="zh-CN" altLang="en-US" dirty="0"/>
          </a:p>
        </p:txBody>
      </p:sp>
      <p:sp>
        <p:nvSpPr>
          <p:cNvPr id="4" name="矩形 3"/>
          <p:cNvSpPr/>
          <p:nvPr/>
        </p:nvSpPr>
        <p:spPr>
          <a:xfrm>
            <a:off x="1031917" y="16049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[Huawei-isis-1] </a:t>
            </a:r>
            <a:r>
              <a:rPr lang="en-US" altLang="zh-CN" sz="1600" b="1" dirty="0"/>
              <a:t>graceful-restart suppress-</a:t>
            </a:r>
            <a:r>
              <a:rPr lang="en-US" altLang="zh-CN" sz="1600" b="1" dirty="0" err="1"/>
              <a:t>sa</a:t>
            </a:r>
            <a:endParaRPr lang="zh-CN" altLang="en-US" sz="1600" i="1" dirty="0">
              <a:cs typeface="Courier New" panose="02070309020205020404" pitchFamily="49" charset="0"/>
            </a:endParaRPr>
          </a:p>
        </p:txBody>
      </p:sp>
      <p:sp>
        <p:nvSpPr>
          <p:cNvPr id="5" name="矩形 4"/>
          <p:cNvSpPr/>
          <p:nvPr/>
        </p:nvSpPr>
        <p:spPr>
          <a:xfrm>
            <a:off x="551384" y="1172807"/>
            <a:ext cx="11089232" cy="338554"/>
          </a:xfrm>
          <a:prstGeom prst="rect">
            <a:avLst/>
          </a:prstGeom>
        </p:spPr>
        <p:txBody>
          <a:bodyPr wrap="square">
            <a:spAutoFit/>
          </a:bodyPr>
          <a:lstStyle/>
          <a:p>
            <a:pPr marL="342900" indent="-342900" fontAlgn="auto">
              <a:buFont typeface="+mj-lt"/>
              <a:buAutoNum type="arabicPeriod" startAt="5"/>
            </a:pPr>
            <a:r>
              <a:rPr lang="zh-CN" altLang="en-US" sz="1600" dirty="0"/>
              <a:t>（可选）配置</a:t>
            </a:r>
            <a:r>
              <a:rPr lang="en-US" altLang="zh-CN" sz="1600" dirty="0"/>
              <a:t>GR Restarter</a:t>
            </a:r>
            <a:r>
              <a:rPr lang="zh-CN" altLang="en-US" sz="1600" dirty="0"/>
              <a:t>来抑制重启</a:t>
            </a:r>
            <a:r>
              <a:rPr lang="en-US" altLang="zh-CN" sz="1600" dirty="0"/>
              <a:t>TLV</a:t>
            </a:r>
            <a:r>
              <a:rPr lang="zh-CN" altLang="en-US" sz="1600" dirty="0"/>
              <a:t>的</a:t>
            </a:r>
            <a:r>
              <a:rPr lang="en-US" altLang="zh-CN" sz="1600" dirty="0"/>
              <a:t>SA</a:t>
            </a:r>
            <a:r>
              <a:rPr lang="zh-CN" altLang="en-US" sz="1600" dirty="0"/>
              <a:t>位。</a:t>
            </a:r>
            <a:endParaRPr lang="zh-CN" altLang="en-US" sz="1600" dirty="0">
              <a:cs typeface="Courier New" panose="02070309020205020404" pitchFamily="49" charset="0"/>
            </a:endParaRPr>
          </a:p>
        </p:txBody>
      </p:sp>
      <p:sp>
        <p:nvSpPr>
          <p:cNvPr id="18" name="矩形 17"/>
          <p:cNvSpPr/>
          <p:nvPr/>
        </p:nvSpPr>
        <p:spPr>
          <a:xfrm>
            <a:off x="1031917" y="277439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a:t>display </a:t>
            </a:r>
            <a:r>
              <a:rPr lang="en-US" altLang="zh-CN" sz="1600" b="1" dirty="0" err="1"/>
              <a:t>isis</a:t>
            </a:r>
            <a:r>
              <a:rPr lang="en-US" altLang="zh-CN" sz="1600" b="1" dirty="0"/>
              <a:t> </a:t>
            </a:r>
            <a:r>
              <a:rPr lang="en-US" altLang="zh-CN" sz="1600" i="1" dirty="0"/>
              <a:t>process-id</a:t>
            </a:r>
            <a:r>
              <a:rPr lang="en-US" altLang="zh-CN" sz="1600" dirty="0"/>
              <a:t> </a:t>
            </a:r>
            <a:r>
              <a:rPr lang="en-US" altLang="zh-CN" sz="1600" b="1" dirty="0"/>
              <a:t>graceful-restart status</a:t>
            </a:r>
            <a:r>
              <a:rPr lang="en-US" altLang="zh-CN" sz="1600" dirty="0"/>
              <a:t> [ </a:t>
            </a:r>
            <a:r>
              <a:rPr lang="en-US" altLang="zh-CN" sz="1600" b="1" dirty="0"/>
              <a:t>level-1</a:t>
            </a:r>
            <a:r>
              <a:rPr lang="en-US" altLang="zh-CN" sz="1600" dirty="0"/>
              <a:t> | </a:t>
            </a:r>
            <a:r>
              <a:rPr lang="en-US" altLang="zh-CN" sz="1600" b="1" dirty="0"/>
              <a:t>level-2</a:t>
            </a:r>
            <a:r>
              <a:rPr lang="en-US" altLang="zh-CN" sz="1600" dirty="0"/>
              <a:t> ]</a:t>
            </a:r>
            <a:endParaRPr lang="zh-CN" altLang="en-US" sz="1600" i="1" dirty="0">
              <a:cs typeface="Courier New" panose="02070309020205020404" pitchFamily="49" charset="0"/>
            </a:endParaRPr>
          </a:p>
        </p:txBody>
      </p:sp>
      <p:sp>
        <p:nvSpPr>
          <p:cNvPr id="19" name="矩形 18"/>
          <p:cNvSpPr/>
          <p:nvPr/>
        </p:nvSpPr>
        <p:spPr>
          <a:xfrm>
            <a:off x="551384" y="2342247"/>
            <a:ext cx="11089232" cy="338554"/>
          </a:xfrm>
          <a:prstGeom prst="rect">
            <a:avLst/>
          </a:prstGeom>
        </p:spPr>
        <p:txBody>
          <a:bodyPr wrap="square">
            <a:spAutoFit/>
          </a:bodyPr>
          <a:lstStyle/>
          <a:p>
            <a:pPr marL="342900" indent="-342900" fontAlgn="auto">
              <a:buFont typeface="+mj-lt"/>
              <a:buAutoNum type="arabicPeriod" startAt="6"/>
            </a:pPr>
            <a:r>
              <a:rPr lang="zh-CN" altLang="en-US" sz="1600" dirty="0"/>
              <a:t>查看</a:t>
            </a:r>
            <a:r>
              <a:rPr lang="en-US" altLang="zh-CN" sz="1600" dirty="0"/>
              <a:t>IS-IS GR</a:t>
            </a:r>
            <a:r>
              <a:rPr lang="zh-CN" altLang="en-US" sz="1600" dirty="0"/>
              <a:t>的状态信息。</a:t>
            </a:r>
            <a:endParaRPr lang="zh-CN" altLang="en-US" sz="1600" dirty="0">
              <a:cs typeface="Courier New" panose="02070309020205020404" pitchFamily="49" charset="0"/>
            </a:endParaRPr>
          </a:p>
        </p:txBody>
      </p:sp>
      <p:sp>
        <p:nvSpPr>
          <p:cNvPr id="21" name="矩形 20"/>
          <p:cNvSpPr/>
          <p:nvPr/>
        </p:nvSpPr>
        <p:spPr>
          <a:xfrm>
            <a:off x="1031917" y="3219238"/>
            <a:ext cx="10608699" cy="584775"/>
          </a:xfrm>
          <a:prstGeom prst="rect">
            <a:avLst/>
          </a:prstGeom>
          <a:solidFill>
            <a:schemeClr val="bg1">
              <a:lumMod val="85000"/>
            </a:schemeClr>
          </a:solidFill>
          <a:ln>
            <a:noFill/>
          </a:ln>
        </p:spPr>
        <p:txBody>
          <a:bodyPr wrap="square">
            <a:spAutoFit/>
          </a:bodyPr>
          <a:lstStyle/>
          <a:p>
            <a:pPr fontAlgn="base"/>
            <a:r>
              <a:rPr lang="en-US" altLang="zh-CN" sz="1600" dirty="0">
                <a:cs typeface="Courier New" panose="02070309020205020404" pitchFamily="49" charset="0"/>
              </a:rPr>
              <a:t>[Huawei] </a:t>
            </a:r>
            <a:r>
              <a:rPr lang="en-US" altLang="zh-CN" sz="1600" b="1" dirty="0"/>
              <a:t>display </a:t>
            </a:r>
            <a:r>
              <a:rPr lang="en-US" altLang="zh-CN" sz="1600" b="1" dirty="0" err="1"/>
              <a:t>isis</a:t>
            </a:r>
            <a:r>
              <a:rPr lang="en-US" altLang="zh-CN" sz="1600" b="1" dirty="0"/>
              <a:t> graceful-restart status</a:t>
            </a:r>
            <a:r>
              <a:rPr lang="en-US" altLang="zh-CN" sz="1600" dirty="0"/>
              <a:t> [ </a:t>
            </a:r>
            <a:r>
              <a:rPr lang="en-US" altLang="zh-CN" sz="1600" b="1" dirty="0"/>
              <a:t>level-1</a:t>
            </a:r>
            <a:r>
              <a:rPr lang="en-US" altLang="zh-CN" sz="1600" dirty="0"/>
              <a:t> | </a:t>
            </a:r>
            <a:r>
              <a:rPr lang="en-US" altLang="zh-CN" sz="1600" b="1" dirty="0"/>
              <a:t>level-2</a:t>
            </a:r>
            <a:r>
              <a:rPr lang="en-US" altLang="zh-CN" sz="1600" dirty="0"/>
              <a:t> ] [ </a:t>
            </a:r>
            <a:r>
              <a:rPr lang="en-US" altLang="zh-CN" sz="1600" i="1" dirty="0"/>
              <a:t>process-id</a:t>
            </a:r>
            <a:r>
              <a:rPr lang="en-US" altLang="zh-CN" sz="1600" dirty="0"/>
              <a:t> | </a:t>
            </a:r>
            <a:r>
              <a:rPr lang="en-US" altLang="zh-CN" sz="1600" b="1" dirty="0" err="1"/>
              <a:t>vpn</a:t>
            </a:r>
            <a:r>
              <a:rPr lang="en-US" altLang="zh-CN" sz="1600" b="1" dirty="0"/>
              <a:t>-instance</a:t>
            </a:r>
            <a:r>
              <a:rPr lang="en-US" altLang="zh-CN" sz="1600" dirty="0"/>
              <a:t> </a:t>
            </a:r>
            <a:r>
              <a:rPr lang="en-US" altLang="zh-CN" sz="1600" i="1" dirty="0" err="1"/>
              <a:t>vpn</a:t>
            </a:r>
            <a:r>
              <a:rPr lang="en-US" altLang="zh-CN" sz="1600" i="1" dirty="0"/>
              <a:t>-instance-name</a:t>
            </a:r>
            <a:r>
              <a:rPr lang="en-US" altLang="zh-CN" sz="1600" dirty="0"/>
              <a:t> ]</a:t>
            </a:r>
            <a:endParaRPr lang="zh-CN" altLang="en-US" sz="1600" i="1" dirty="0">
              <a:cs typeface="Courier New" panose="02070309020205020404" pitchFamily="49" charset="0"/>
            </a:endParaRPr>
          </a:p>
        </p:txBody>
      </p:sp>
      <p:sp>
        <p:nvSpPr>
          <p:cNvPr id="22" name="矩形 21"/>
          <p:cNvSpPr/>
          <p:nvPr/>
        </p:nvSpPr>
        <p:spPr>
          <a:xfrm>
            <a:off x="1031917" y="3804013"/>
            <a:ext cx="10608699" cy="1631216"/>
          </a:xfrm>
          <a:prstGeom prst="rect">
            <a:avLst/>
          </a:prstGeom>
        </p:spPr>
        <p:txBody>
          <a:bodyPr wrap="square">
            <a:spAutoFit/>
          </a:bodyPr>
          <a:lstStyle/>
          <a:p>
            <a:pPr fontAlgn="auto">
              <a:lnSpc>
                <a:spcPts val="2400"/>
              </a:lnSpc>
            </a:pPr>
            <a:r>
              <a:rPr lang="en-US" altLang="zh-CN" sz="1600" b="1" dirty="0"/>
              <a:t>level-1</a:t>
            </a:r>
            <a:r>
              <a:rPr lang="zh-CN" altLang="en-US" sz="1600" dirty="0"/>
              <a:t>：显示</a:t>
            </a:r>
            <a:r>
              <a:rPr lang="en-US" altLang="zh-CN" sz="1600" dirty="0"/>
              <a:t>Level-1</a:t>
            </a:r>
            <a:r>
              <a:rPr lang="zh-CN" altLang="en-US" sz="1600" dirty="0"/>
              <a:t>的</a:t>
            </a:r>
            <a:r>
              <a:rPr lang="en-US" altLang="zh-CN" sz="1600" dirty="0"/>
              <a:t>IS-IS GR</a:t>
            </a:r>
            <a:r>
              <a:rPr lang="zh-CN" altLang="en-US" sz="1600" dirty="0"/>
              <a:t>状态信息。</a:t>
            </a:r>
            <a:endParaRPr lang="en-US" altLang="zh-CN" sz="1600" dirty="0"/>
          </a:p>
          <a:p>
            <a:pPr fontAlgn="auto">
              <a:lnSpc>
                <a:spcPts val="2400"/>
              </a:lnSpc>
            </a:pP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level-2</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：显示</a:t>
            </a:r>
            <a:r>
              <a:rPr lang="en-US" altLang="zh-CN" sz="1600" dirty="0"/>
              <a:t>Level-2</a:t>
            </a:r>
            <a:r>
              <a:rPr lang="zh-CN" altLang="en-US" sz="1600" dirty="0"/>
              <a:t>的</a:t>
            </a:r>
            <a:r>
              <a:rPr lang="en-US" altLang="zh-CN" sz="1600" dirty="0"/>
              <a:t>IS-IS GR</a:t>
            </a:r>
            <a:r>
              <a:rPr lang="zh-CN" altLang="en-US" sz="1600" dirty="0"/>
              <a:t>状态信息。</a:t>
            </a:r>
            <a:endParaRPr lang="en-US" altLang="zh-CN" sz="1600" dirty="0"/>
          </a:p>
          <a:p>
            <a:pPr fontAlgn="auto">
              <a:lnSpc>
                <a:spcPts val="2400"/>
              </a:lnSpc>
            </a:pP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process-id</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：显示指定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进程的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状态信息。整数类型，取值范围是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65535</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en-US" altLang="zh-CN" sz="1600" b="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err="1">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-instance-name</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：显示指定</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VPN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多实例进程的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GR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状态信息。字符串形式，区分大小写，不支持空格，长度范围是</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31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。当输入的字符串两端使用双引号时，可在字符串中输入空格。</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五边形 22"/>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燕尾形 24"/>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r>
              <a:rPr lang="zh-CN" altLang="en-US" dirty="0"/>
              <a:t>配置举例 </a:t>
            </a:r>
            <a:r>
              <a:rPr lang="en-US" altLang="zh-CN" dirty="0"/>
              <a:t>(1)</a:t>
            </a:r>
            <a:endParaRPr lang="zh-CN" altLang="en-US" dirty="0"/>
          </a:p>
        </p:txBody>
      </p:sp>
      <p:sp>
        <p:nvSpPr>
          <p:cNvPr id="44" name="文本占位符 43"/>
          <p:cNvSpPr>
            <a:spLocks noGrp="1"/>
          </p:cNvSpPr>
          <p:nvPr>
            <p:ph type="body" sz="quarter" idx="10"/>
          </p:nvPr>
        </p:nvSpPr>
        <p:spPr>
          <a:xfrm>
            <a:off x="455613" y="3716338"/>
            <a:ext cx="5640388" cy="1929521"/>
          </a:xfrm>
        </p:spPr>
        <p:txBody>
          <a:bodyPr/>
          <a:lstStyle/>
          <a:p>
            <a:r>
              <a:rPr lang="zh-CN" altLang="en-US" sz="1600" dirty="0"/>
              <a:t>路由器</a:t>
            </a:r>
            <a:r>
              <a:rPr lang="en-US" altLang="zh-CN" sz="1600" dirty="0"/>
              <a:t>R1</a:t>
            </a:r>
            <a:r>
              <a:rPr lang="zh-CN" altLang="en-US" sz="1600" dirty="0"/>
              <a:t>和</a:t>
            </a:r>
            <a:r>
              <a:rPr lang="en-US" altLang="zh-CN" sz="1600" dirty="0"/>
              <a:t>R2</a:t>
            </a:r>
            <a:r>
              <a:rPr lang="zh-CN" altLang="en-US" sz="1600" dirty="0"/>
              <a:t>都为双主控设备，主用板和备用板间形成备份关系。路由器间通过</a:t>
            </a:r>
            <a:r>
              <a:rPr lang="en-US" altLang="zh-CN" sz="1600" dirty="0"/>
              <a:t>IS-IS</a:t>
            </a:r>
            <a:r>
              <a:rPr lang="zh-CN" altLang="en-US" sz="1600" dirty="0"/>
              <a:t>协议实现网络互连，并提供</a:t>
            </a:r>
            <a:r>
              <a:rPr lang="en-US" altLang="zh-CN" sz="1600" dirty="0"/>
              <a:t>GR</a:t>
            </a:r>
            <a:r>
              <a:rPr lang="zh-CN" altLang="en-US" sz="1600" dirty="0"/>
              <a:t>机制。</a:t>
            </a:r>
            <a:endParaRPr lang="zh-CN" altLang="en-US" sz="1600" dirty="0"/>
          </a:p>
          <a:p>
            <a:r>
              <a:rPr lang="zh-CN" altLang="en-US" sz="1600" dirty="0"/>
              <a:t>要求当</a:t>
            </a:r>
            <a:r>
              <a:rPr lang="en-US" altLang="zh-CN" sz="1600" dirty="0"/>
              <a:t>R1</a:t>
            </a:r>
            <a:r>
              <a:rPr lang="zh-CN" altLang="en-US" sz="1600" dirty="0"/>
              <a:t>通过</a:t>
            </a:r>
            <a:r>
              <a:rPr lang="en-US" altLang="zh-CN" sz="1600" dirty="0"/>
              <a:t>GR</a:t>
            </a:r>
            <a:r>
              <a:rPr lang="zh-CN" altLang="en-US" sz="1600" dirty="0"/>
              <a:t>方式重启</a:t>
            </a:r>
            <a:r>
              <a:rPr lang="en-US" altLang="zh-CN" sz="1600" dirty="0"/>
              <a:t>IS-IS</a:t>
            </a:r>
            <a:r>
              <a:rPr lang="zh-CN" altLang="en-US" sz="1600" dirty="0"/>
              <a:t>进程或者进行主备倒换时转发不中断。</a:t>
            </a:r>
            <a:endParaRPr lang="zh-CN" altLang="en-US" sz="1600" dirty="0"/>
          </a:p>
        </p:txBody>
      </p:sp>
      <p:sp>
        <p:nvSpPr>
          <p:cNvPr id="4" name="椭圆 3"/>
          <p:cNvSpPr/>
          <p:nvPr/>
        </p:nvSpPr>
        <p:spPr bwMode="gray">
          <a:xfrm>
            <a:off x="1910142" y="1976413"/>
            <a:ext cx="2717847"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2481252" y="2717113"/>
            <a:ext cx="1489749" cy="400110"/>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Area10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346004" y="2343998"/>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627989" y="2343998"/>
            <a:ext cx="540000" cy="442800"/>
          </a:xfrm>
          <a:prstGeom prst="rect">
            <a:avLst/>
          </a:prstGeom>
        </p:spPr>
      </p:pic>
      <p:cxnSp>
        <p:nvCxnSpPr>
          <p:cNvPr id="10" name="直接连接符 9"/>
          <p:cNvCxnSpPr>
            <a:stCxn id="7" idx="3"/>
            <a:endCxn id="8" idx="1"/>
          </p:cNvCxnSpPr>
          <p:nvPr/>
        </p:nvCxnSpPr>
        <p:spPr bwMode="gray">
          <a:xfrm>
            <a:off x="1886004" y="2565398"/>
            <a:ext cx="27419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370142" y="2103733"/>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593351" y="2291377"/>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653031" y="2103733"/>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791144" y="2524623"/>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文本框 31"/>
          <p:cNvSpPr txBox="1"/>
          <p:nvPr/>
        </p:nvSpPr>
        <p:spPr>
          <a:xfrm>
            <a:off x="6096000" y="2097492"/>
            <a:ext cx="5653086"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1</a:t>
            </a:r>
            <a:r>
              <a:rPr lang="zh-CN" altLang="en-US" sz="1600" dirty="0">
                <a:solidFill>
                  <a:prstClr val="black"/>
                </a:solidFill>
              </a:rPr>
              <a:t>、各设备配置接口地址及部署</a:t>
            </a:r>
            <a:r>
              <a:rPr lang="en-US" altLang="zh-CN" sz="1600" dirty="0">
                <a:solidFill>
                  <a:prstClr val="black"/>
                </a:solidFill>
              </a:rPr>
              <a:t>IS-IS</a:t>
            </a:r>
            <a:r>
              <a:rPr lang="zh-CN" altLang="en-US" sz="1600" dirty="0">
                <a:solidFill>
                  <a:prstClr val="black"/>
                </a:solidFill>
              </a:rPr>
              <a:t>。（略）</a:t>
            </a:r>
            <a:endParaRPr lang="zh-CN" altLang="en-US" sz="1600" dirty="0">
              <a:solidFill>
                <a:prstClr val="black"/>
              </a:solidFill>
            </a:endParaRPr>
          </a:p>
        </p:txBody>
      </p:sp>
      <p:sp>
        <p:nvSpPr>
          <p:cNvPr id="26" name="文本框 32"/>
          <p:cNvSpPr txBox="1"/>
          <p:nvPr/>
        </p:nvSpPr>
        <p:spPr>
          <a:xfrm>
            <a:off x="6206958" y="3109020"/>
            <a:ext cx="5542130" cy="73866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[R1] </a:t>
            </a:r>
            <a:r>
              <a:rPr lang="en-US" altLang="zh-CN" sz="1400" dirty="0" err="1">
                <a:solidFill>
                  <a:prstClr val="black"/>
                </a:solidFill>
                <a:cs typeface="Courier New" panose="02070309020205020404" pitchFamily="49" charset="0"/>
              </a:rPr>
              <a:t>isis</a:t>
            </a:r>
            <a:r>
              <a:rPr lang="en-US" altLang="zh-CN" sz="1400" dirty="0">
                <a:solidFill>
                  <a:prstClr val="black"/>
                </a:solidFill>
                <a:cs typeface="Courier New" panose="02070309020205020404" pitchFamily="49" charset="0"/>
              </a:rPr>
              <a:t>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[R1-isis-1] graceful-restart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[R1-isis-1] graceful-restart no-impact-</a:t>
            </a:r>
            <a:r>
              <a:rPr lang="en-US" altLang="zh-CN" sz="1400" dirty="0" err="1">
                <a:solidFill>
                  <a:prstClr val="black"/>
                </a:solidFill>
                <a:cs typeface="Courier New" panose="02070309020205020404" pitchFamily="49" charset="0"/>
              </a:rPr>
              <a:t>holdtime</a:t>
            </a:r>
            <a:endParaRPr lang="en-US" altLang="zh-CN" sz="1400" dirty="0">
              <a:solidFill>
                <a:prstClr val="black"/>
              </a:solidFill>
              <a:cs typeface="Courier New" panose="02070309020205020404" pitchFamily="49" charset="0"/>
            </a:endParaRPr>
          </a:p>
        </p:txBody>
      </p:sp>
      <p:sp>
        <p:nvSpPr>
          <p:cNvPr id="27" name="文本框 33"/>
          <p:cNvSpPr txBox="1"/>
          <p:nvPr/>
        </p:nvSpPr>
        <p:spPr>
          <a:xfrm>
            <a:off x="6096000" y="2750438"/>
            <a:ext cx="4730450"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2</a:t>
            </a:r>
            <a:r>
              <a:rPr lang="zh-CN" altLang="en-US" sz="1600" dirty="0">
                <a:solidFill>
                  <a:prstClr val="black"/>
                </a:solidFill>
              </a:rPr>
              <a:t>、在</a:t>
            </a:r>
            <a:r>
              <a:rPr lang="en-US" altLang="zh-CN" sz="1600" dirty="0">
                <a:solidFill>
                  <a:prstClr val="black"/>
                </a:solidFill>
              </a:rPr>
              <a:t>R1</a:t>
            </a:r>
            <a:r>
              <a:rPr lang="zh-CN" altLang="en-US" sz="1600" dirty="0">
                <a:solidFill>
                  <a:prstClr val="black"/>
                </a:solidFill>
              </a:rPr>
              <a:t>和</a:t>
            </a:r>
            <a:r>
              <a:rPr lang="en-US" altLang="zh-CN" sz="1600" dirty="0">
                <a:solidFill>
                  <a:prstClr val="black"/>
                </a:solidFill>
              </a:rPr>
              <a:t>R2</a:t>
            </a:r>
            <a:r>
              <a:rPr lang="zh-CN" altLang="en-US" sz="1600" dirty="0">
                <a:solidFill>
                  <a:prstClr val="black"/>
                </a:solidFill>
              </a:rPr>
              <a:t>上使能</a:t>
            </a:r>
            <a:r>
              <a:rPr lang="en-US" altLang="zh-CN" sz="1600" dirty="0">
                <a:solidFill>
                  <a:prstClr val="black"/>
                </a:solidFill>
              </a:rPr>
              <a:t>IS-IS GR</a:t>
            </a:r>
            <a:r>
              <a:rPr lang="zh-CN" altLang="en-US" sz="1600" dirty="0">
                <a:solidFill>
                  <a:prstClr val="black"/>
                </a:solidFill>
              </a:rPr>
              <a:t>功能。</a:t>
            </a:r>
            <a:endParaRPr lang="zh-CN" altLang="en-US" sz="1600" dirty="0">
              <a:solidFill>
                <a:prstClr val="black"/>
              </a:solidFill>
            </a:endParaRPr>
          </a:p>
        </p:txBody>
      </p:sp>
      <p:sp>
        <p:nvSpPr>
          <p:cNvPr id="33" name="矩形 32"/>
          <p:cNvSpPr/>
          <p:nvPr/>
        </p:nvSpPr>
        <p:spPr bwMode="gray">
          <a:xfrm>
            <a:off x="1819855" y="2509233"/>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4316276" y="2509233"/>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文本框 32"/>
          <p:cNvSpPr txBox="1"/>
          <p:nvPr/>
        </p:nvSpPr>
        <p:spPr>
          <a:xfrm>
            <a:off x="6206958" y="3962266"/>
            <a:ext cx="5542130" cy="738664"/>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400" dirty="0">
                <a:solidFill>
                  <a:prstClr val="black"/>
                </a:solidFill>
                <a:cs typeface="Courier New" panose="02070309020205020404" pitchFamily="49" charset="0"/>
              </a:rPr>
              <a:t>[R2] </a:t>
            </a:r>
            <a:r>
              <a:rPr lang="en-US" altLang="zh-CN" sz="1400" dirty="0" err="1">
                <a:solidFill>
                  <a:prstClr val="black"/>
                </a:solidFill>
                <a:cs typeface="Courier New" panose="02070309020205020404" pitchFamily="49" charset="0"/>
              </a:rPr>
              <a:t>isis</a:t>
            </a:r>
            <a:r>
              <a:rPr lang="en-US" altLang="zh-CN" sz="1400" dirty="0">
                <a:solidFill>
                  <a:prstClr val="black"/>
                </a:solidFill>
                <a:cs typeface="Courier New" panose="02070309020205020404" pitchFamily="49" charset="0"/>
              </a:rPr>
              <a:t> 1</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[R2-isis-1] graceful-restart</a:t>
            </a:r>
            <a:endParaRPr lang="en-US" altLang="zh-CN" sz="1400" dirty="0">
              <a:solidFill>
                <a:prstClr val="black"/>
              </a:solidFill>
              <a:cs typeface="Courier New" panose="02070309020205020404" pitchFamily="49" charset="0"/>
            </a:endParaRPr>
          </a:p>
          <a:p>
            <a:pPr fontAlgn="auto">
              <a:spcBef>
                <a:spcPts val="0"/>
              </a:spcBef>
              <a:spcAft>
                <a:spcPts val="0"/>
              </a:spcAft>
            </a:pPr>
            <a:r>
              <a:rPr lang="en-US" altLang="zh-CN" sz="1400" dirty="0">
                <a:solidFill>
                  <a:prstClr val="black"/>
                </a:solidFill>
                <a:cs typeface="Courier New" panose="02070309020205020404" pitchFamily="49" charset="0"/>
              </a:rPr>
              <a:t>[R2-isis-1] graceful-restart no-impact-</a:t>
            </a:r>
            <a:r>
              <a:rPr lang="en-US" altLang="zh-CN" sz="1400" dirty="0" err="1">
                <a:solidFill>
                  <a:prstClr val="black"/>
                </a:solidFill>
                <a:cs typeface="Courier New" panose="02070309020205020404" pitchFamily="49" charset="0"/>
              </a:rPr>
              <a:t>holdtime</a:t>
            </a:r>
            <a:endParaRPr lang="en-US" altLang="zh-CN" sz="1400" dirty="0">
              <a:solidFill>
                <a:prstClr val="black"/>
              </a:solidFill>
              <a:cs typeface="Courier New" panose="02070309020205020404" pitchFamily="49" charset="0"/>
            </a:endParaRPr>
          </a:p>
        </p:txBody>
      </p:sp>
      <p:sp>
        <p:nvSpPr>
          <p:cNvPr id="19" name="五边形 18"/>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燕尾形 19"/>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燕尾形 20"/>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IS-IS GR</a:t>
            </a:r>
            <a:r>
              <a:rPr lang="zh-CN" altLang="en-US" dirty="0"/>
              <a:t>配置举例 </a:t>
            </a:r>
            <a:r>
              <a:rPr lang="en-US" altLang="zh-CN" dirty="0"/>
              <a:t>(2)</a:t>
            </a:r>
            <a:endParaRPr lang="zh-CN" altLang="en-US" dirty="0"/>
          </a:p>
        </p:txBody>
      </p:sp>
      <p:sp>
        <p:nvSpPr>
          <p:cNvPr id="44" name="文本占位符 43"/>
          <p:cNvSpPr>
            <a:spLocks noGrp="1"/>
          </p:cNvSpPr>
          <p:nvPr>
            <p:ph type="body" sz="quarter" idx="10"/>
          </p:nvPr>
        </p:nvSpPr>
        <p:spPr>
          <a:xfrm>
            <a:off x="455613" y="3713847"/>
            <a:ext cx="5640388" cy="1929521"/>
          </a:xfrm>
        </p:spPr>
        <p:txBody>
          <a:bodyPr/>
          <a:lstStyle/>
          <a:p>
            <a:r>
              <a:rPr lang="zh-CN" altLang="en-US" sz="1600" dirty="0"/>
              <a:t>路由器</a:t>
            </a:r>
            <a:r>
              <a:rPr lang="en-US" altLang="zh-CN" sz="1600" dirty="0"/>
              <a:t>R1</a:t>
            </a:r>
            <a:r>
              <a:rPr lang="zh-CN" altLang="en-US" sz="1600" dirty="0"/>
              <a:t>和</a:t>
            </a:r>
            <a:r>
              <a:rPr lang="en-US" altLang="zh-CN" sz="1600" dirty="0"/>
              <a:t>R2</a:t>
            </a:r>
            <a:r>
              <a:rPr lang="zh-CN" altLang="en-US" sz="1600" dirty="0"/>
              <a:t>都为双主控设备，主用板和备用板间形成备份关系。路由器间通过</a:t>
            </a:r>
            <a:r>
              <a:rPr lang="en-US" altLang="zh-CN" sz="1600" dirty="0"/>
              <a:t>IS-IS</a:t>
            </a:r>
            <a:r>
              <a:rPr lang="zh-CN" altLang="en-US" sz="1600" dirty="0"/>
              <a:t>协议实现网络互连，并提供</a:t>
            </a:r>
            <a:r>
              <a:rPr lang="en-US" altLang="zh-CN" sz="1600" dirty="0"/>
              <a:t>GR</a:t>
            </a:r>
            <a:r>
              <a:rPr lang="zh-CN" altLang="en-US" sz="1600" dirty="0"/>
              <a:t>机制。</a:t>
            </a:r>
            <a:endParaRPr lang="zh-CN" altLang="en-US" sz="1600" dirty="0"/>
          </a:p>
          <a:p>
            <a:r>
              <a:rPr lang="zh-CN" altLang="en-US" sz="1600" dirty="0"/>
              <a:t>要求当</a:t>
            </a:r>
            <a:r>
              <a:rPr lang="en-US" altLang="zh-CN" sz="1600" dirty="0"/>
              <a:t>R1</a:t>
            </a:r>
            <a:r>
              <a:rPr lang="zh-CN" altLang="en-US" sz="1600" dirty="0"/>
              <a:t>通过</a:t>
            </a:r>
            <a:r>
              <a:rPr lang="en-US" altLang="zh-CN" sz="1600" dirty="0"/>
              <a:t>GR</a:t>
            </a:r>
            <a:r>
              <a:rPr lang="zh-CN" altLang="en-US" sz="1600" dirty="0"/>
              <a:t>方式重启</a:t>
            </a:r>
            <a:r>
              <a:rPr lang="en-US" altLang="zh-CN" sz="1600" dirty="0"/>
              <a:t>IS-IS</a:t>
            </a:r>
            <a:r>
              <a:rPr lang="zh-CN" altLang="en-US" sz="1600" dirty="0"/>
              <a:t>进程或者进行主备倒换时转发不中断。</a:t>
            </a:r>
            <a:endParaRPr lang="zh-CN" altLang="en-US" sz="1600" dirty="0"/>
          </a:p>
        </p:txBody>
      </p:sp>
      <p:sp>
        <p:nvSpPr>
          <p:cNvPr id="4" name="椭圆 3"/>
          <p:cNvSpPr/>
          <p:nvPr/>
        </p:nvSpPr>
        <p:spPr bwMode="gray">
          <a:xfrm>
            <a:off x="1910142" y="1976413"/>
            <a:ext cx="2717847"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2481252" y="2717113"/>
            <a:ext cx="1489749" cy="400110"/>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Area10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346004" y="2343998"/>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627989" y="2343998"/>
            <a:ext cx="540000" cy="442800"/>
          </a:xfrm>
          <a:prstGeom prst="rect">
            <a:avLst/>
          </a:prstGeom>
        </p:spPr>
      </p:pic>
      <p:cxnSp>
        <p:nvCxnSpPr>
          <p:cNvPr id="10" name="直接连接符 9"/>
          <p:cNvCxnSpPr>
            <a:stCxn id="7" idx="3"/>
            <a:endCxn id="8" idx="1"/>
          </p:cNvCxnSpPr>
          <p:nvPr/>
        </p:nvCxnSpPr>
        <p:spPr bwMode="gray">
          <a:xfrm>
            <a:off x="1886004" y="2565398"/>
            <a:ext cx="27419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370142" y="2103733"/>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593351" y="2291377"/>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653031" y="2103733"/>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791144" y="2524623"/>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3" name="矩形 32"/>
          <p:cNvSpPr/>
          <p:nvPr/>
        </p:nvSpPr>
        <p:spPr bwMode="gray">
          <a:xfrm>
            <a:off x="1819855" y="2509233"/>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4316276" y="2509233"/>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2" name="文本框 33"/>
          <p:cNvSpPr txBox="1"/>
          <p:nvPr/>
        </p:nvSpPr>
        <p:spPr>
          <a:xfrm>
            <a:off x="6096000" y="1916470"/>
            <a:ext cx="4730450"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3</a:t>
            </a:r>
            <a:r>
              <a:rPr lang="zh-CN" altLang="en-US" sz="1600" dirty="0">
                <a:solidFill>
                  <a:prstClr val="black"/>
                </a:solidFill>
              </a:rPr>
              <a:t>、在</a:t>
            </a:r>
            <a:r>
              <a:rPr lang="en-US" altLang="zh-CN" sz="1600" dirty="0">
                <a:solidFill>
                  <a:prstClr val="black"/>
                </a:solidFill>
              </a:rPr>
              <a:t>R2</a:t>
            </a:r>
            <a:r>
              <a:rPr lang="zh-CN" altLang="en-US" sz="1600" dirty="0">
                <a:solidFill>
                  <a:prstClr val="black"/>
                </a:solidFill>
              </a:rPr>
              <a:t>上查看</a:t>
            </a:r>
            <a:r>
              <a:rPr lang="en-US" altLang="zh-CN" sz="1600" dirty="0">
                <a:solidFill>
                  <a:prstClr val="black"/>
                </a:solidFill>
              </a:rPr>
              <a:t>IS-IS GR</a:t>
            </a:r>
            <a:r>
              <a:rPr lang="zh-CN" altLang="en-US" sz="1600" dirty="0">
                <a:solidFill>
                  <a:prstClr val="black"/>
                </a:solidFill>
              </a:rPr>
              <a:t>状态信息。</a:t>
            </a:r>
            <a:endParaRPr lang="zh-CN" altLang="en-US" sz="1600" dirty="0">
              <a:solidFill>
                <a:prstClr val="black"/>
              </a:solidFill>
            </a:endParaRPr>
          </a:p>
        </p:txBody>
      </p:sp>
      <p:sp>
        <p:nvSpPr>
          <p:cNvPr id="35" name="文本框 32"/>
          <p:cNvSpPr txBox="1"/>
          <p:nvPr/>
        </p:nvSpPr>
        <p:spPr>
          <a:xfrm>
            <a:off x="6206958" y="2291377"/>
            <a:ext cx="5542130" cy="3600986"/>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&lt;R2&gt; display </a:t>
            </a:r>
            <a:r>
              <a:rPr lang="en-US" altLang="zh-CN" sz="1400" dirty="0" err="1"/>
              <a:t>isis</a:t>
            </a:r>
            <a:r>
              <a:rPr lang="en-US" altLang="zh-CN" sz="1400" dirty="0"/>
              <a:t> 1 graceful-restart status </a:t>
            </a:r>
            <a:endParaRPr lang="zh-CN" altLang="en-US" sz="1400" dirty="0"/>
          </a:p>
          <a:p>
            <a:endParaRPr lang="zh-CN" altLang="en-US" sz="1400" dirty="0"/>
          </a:p>
          <a:p>
            <a:r>
              <a:rPr lang="zh-CN" altLang="en-US" sz="1400" dirty="0"/>
              <a:t>                        </a:t>
            </a:r>
            <a:r>
              <a:rPr lang="en-US" altLang="zh-CN" sz="1400" dirty="0"/>
              <a:t>Restart information for ISIS(1)</a:t>
            </a:r>
            <a:endParaRPr lang="zh-CN" altLang="en-US" sz="1400" dirty="0"/>
          </a:p>
          <a:p>
            <a:r>
              <a:rPr lang="zh-CN" altLang="en-US" sz="1400" dirty="0"/>
              <a:t>                        </a:t>
            </a:r>
            <a:r>
              <a:rPr lang="en-US" altLang="zh-CN" sz="1400" dirty="0"/>
              <a:t>-------------------------------</a:t>
            </a:r>
            <a:endParaRPr lang="zh-CN" altLang="en-US" sz="1400" dirty="0"/>
          </a:p>
          <a:p>
            <a:endParaRPr lang="zh-CN" altLang="en-US" sz="1400" dirty="0"/>
          </a:p>
          <a:p>
            <a:r>
              <a:rPr lang="en-US" altLang="zh-CN" sz="1400" dirty="0"/>
              <a:t>IS-IS(1) Level-1 Restart Status</a:t>
            </a:r>
            <a:endParaRPr lang="zh-CN" altLang="en-US" sz="1400" dirty="0"/>
          </a:p>
          <a:p>
            <a:r>
              <a:rPr lang="en-US" altLang="zh-CN" sz="1400" dirty="0"/>
              <a:t>Restart Interval: 300 </a:t>
            </a:r>
            <a:endParaRPr lang="zh-CN" altLang="en-US" sz="1400" dirty="0"/>
          </a:p>
          <a:p>
            <a:r>
              <a:rPr lang="en-US" altLang="zh-CN" sz="1400" dirty="0"/>
              <a:t>SA Bit Supported </a:t>
            </a:r>
            <a:endParaRPr lang="zh-CN" altLang="en-US" sz="1400" dirty="0"/>
          </a:p>
          <a:p>
            <a:r>
              <a:rPr lang="zh-CN" altLang="en-US" sz="1400" dirty="0"/>
              <a:t>  </a:t>
            </a:r>
            <a:r>
              <a:rPr lang="en-US" altLang="zh-CN" sz="1400" dirty="0"/>
              <a:t>Total Number of Interfaces = 1</a:t>
            </a:r>
            <a:endParaRPr lang="zh-CN" altLang="en-US" sz="1400" dirty="0"/>
          </a:p>
          <a:p>
            <a:r>
              <a:rPr lang="zh-CN" altLang="en-US" sz="1400" dirty="0"/>
              <a:t>  </a:t>
            </a:r>
            <a:r>
              <a:rPr lang="en-US" altLang="zh-CN" sz="1400" dirty="0"/>
              <a:t>Restart Status: RESTART COMPLETE </a:t>
            </a:r>
            <a:endParaRPr lang="zh-CN" altLang="en-US" sz="1400" dirty="0"/>
          </a:p>
          <a:p>
            <a:endParaRPr lang="zh-CN" altLang="en-US" sz="1400" dirty="0"/>
          </a:p>
          <a:p>
            <a:r>
              <a:rPr lang="en-US" altLang="zh-CN" sz="1400" dirty="0"/>
              <a:t>IS-IS(1) Level-2 Restart Status</a:t>
            </a:r>
            <a:endParaRPr lang="zh-CN" altLang="en-US" sz="1400" dirty="0"/>
          </a:p>
          <a:p>
            <a:r>
              <a:rPr lang="en-US" altLang="zh-CN" sz="1400" dirty="0"/>
              <a:t>Restart Interval: 300 </a:t>
            </a:r>
            <a:endParaRPr lang="zh-CN" altLang="en-US" sz="1400" dirty="0"/>
          </a:p>
          <a:p>
            <a:r>
              <a:rPr lang="en-US" altLang="zh-CN" sz="1400" dirty="0"/>
              <a:t>SA Bit Supported </a:t>
            </a:r>
            <a:endParaRPr lang="zh-CN" altLang="en-US" sz="1400" dirty="0"/>
          </a:p>
          <a:p>
            <a:r>
              <a:rPr lang="zh-CN" altLang="en-US" sz="1400" dirty="0"/>
              <a:t>  </a:t>
            </a:r>
            <a:r>
              <a:rPr lang="en-US" altLang="zh-CN" sz="1400" dirty="0"/>
              <a:t>Total Number of Interfaces = 1</a:t>
            </a:r>
            <a:endParaRPr lang="zh-CN" altLang="en-US" sz="1400" dirty="0"/>
          </a:p>
          <a:p>
            <a:r>
              <a:rPr lang="zh-CN" altLang="en-US" sz="1400" dirty="0"/>
              <a:t>  </a:t>
            </a:r>
            <a:r>
              <a:rPr lang="en-US" altLang="zh-CN" sz="1400" dirty="0"/>
              <a:t>Restart Status: RESTART COMPLETE </a:t>
            </a:r>
            <a:endParaRPr lang="en-US" altLang="zh-CN" sz="1400" dirty="0">
              <a:solidFill>
                <a:prstClr val="black"/>
              </a:solidFill>
              <a:cs typeface="Courier New" panose="02070309020205020404" pitchFamily="49" charset="0"/>
            </a:endParaRPr>
          </a:p>
        </p:txBody>
      </p:sp>
      <p:sp>
        <p:nvSpPr>
          <p:cNvPr id="21" name="五边形 20"/>
          <p:cNvSpPr/>
          <p:nvPr/>
        </p:nvSpPr>
        <p:spPr bwMode="auto">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燕尾形 21"/>
          <p:cNvSpPr/>
          <p:nvPr/>
        </p:nvSpPr>
        <p:spPr bwMode="auto">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燕尾形 23"/>
          <p:cNvSpPr/>
          <p:nvPr/>
        </p:nvSpPr>
        <p:spPr bwMode="auto">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t>IS-IS GR</a:t>
            </a:r>
            <a:r>
              <a:rPr lang="zh-CN" altLang="en-US" dirty="0"/>
              <a:t>配置举例 </a:t>
            </a:r>
            <a:r>
              <a:rPr lang="en-US" altLang="zh-CN" dirty="0"/>
              <a:t>(3)</a:t>
            </a:r>
            <a:endParaRPr lang="zh-CN" altLang="en-US" dirty="0"/>
          </a:p>
        </p:txBody>
      </p:sp>
      <p:sp>
        <p:nvSpPr>
          <p:cNvPr id="44" name="文本占位符 43"/>
          <p:cNvSpPr>
            <a:spLocks noGrp="1"/>
          </p:cNvSpPr>
          <p:nvPr>
            <p:ph type="body" sz="quarter" idx="10"/>
          </p:nvPr>
        </p:nvSpPr>
        <p:spPr bwMode="gray">
          <a:xfrm>
            <a:off x="455613" y="3713847"/>
            <a:ext cx="5640388" cy="1929521"/>
          </a:xfrm>
        </p:spPr>
        <p:txBody>
          <a:bodyPr/>
          <a:lstStyle/>
          <a:p>
            <a:r>
              <a:rPr lang="zh-CN" altLang="en-US" sz="1600" dirty="0"/>
              <a:t>路由器</a:t>
            </a:r>
            <a:r>
              <a:rPr lang="en-US" altLang="zh-CN" sz="1600" dirty="0"/>
              <a:t>R1</a:t>
            </a:r>
            <a:r>
              <a:rPr lang="zh-CN" altLang="en-US" sz="1600" dirty="0"/>
              <a:t>和</a:t>
            </a:r>
            <a:r>
              <a:rPr lang="en-US" altLang="zh-CN" sz="1600" dirty="0"/>
              <a:t>R2</a:t>
            </a:r>
            <a:r>
              <a:rPr lang="zh-CN" altLang="en-US" sz="1600" dirty="0"/>
              <a:t>都为双主控设备，主用板和备用板间形成备份关系。路由器间通过</a:t>
            </a:r>
            <a:r>
              <a:rPr lang="en-US" altLang="zh-CN" sz="1600" dirty="0"/>
              <a:t>IS-IS</a:t>
            </a:r>
            <a:r>
              <a:rPr lang="zh-CN" altLang="en-US" sz="1600" dirty="0"/>
              <a:t>协议实现网络互连，并提供</a:t>
            </a:r>
            <a:r>
              <a:rPr lang="en-US" altLang="zh-CN" sz="1600" dirty="0"/>
              <a:t>GR</a:t>
            </a:r>
            <a:r>
              <a:rPr lang="zh-CN" altLang="en-US" sz="1600" dirty="0"/>
              <a:t>机制。</a:t>
            </a:r>
            <a:endParaRPr lang="zh-CN" altLang="en-US" sz="1600" dirty="0"/>
          </a:p>
          <a:p>
            <a:r>
              <a:rPr lang="zh-CN" altLang="en-US" sz="1600" dirty="0"/>
              <a:t>要求当</a:t>
            </a:r>
            <a:r>
              <a:rPr lang="en-US" altLang="zh-CN" sz="1600" dirty="0"/>
              <a:t>R1</a:t>
            </a:r>
            <a:r>
              <a:rPr lang="zh-CN" altLang="en-US" sz="1600" dirty="0"/>
              <a:t>通过</a:t>
            </a:r>
            <a:r>
              <a:rPr lang="en-US" altLang="zh-CN" sz="1600" dirty="0"/>
              <a:t>GR</a:t>
            </a:r>
            <a:r>
              <a:rPr lang="zh-CN" altLang="en-US" sz="1600" dirty="0"/>
              <a:t>方式重启</a:t>
            </a:r>
            <a:r>
              <a:rPr lang="en-US" altLang="zh-CN" sz="1600" dirty="0"/>
              <a:t>IS-IS</a:t>
            </a:r>
            <a:r>
              <a:rPr lang="zh-CN" altLang="en-US" sz="1600" dirty="0"/>
              <a:t>进程或者进行主备倒换时转发不中断。</a:t>
            </a:r>
            <a:endParaRPr lang="zh-CN" altLang="en-US" sz="1600" dirty="0"/>
          </a:p>
        </p:txBody>
      </p:sp>
      <p:sp>
        <p:nvSpPr>
          <p:cNvPr id="4" name="椭圆 3"/>
          <p:cNvSpPr/>
          <p:nvPr/>
        </p:nvSpPr>
        <p:spPr bwMode="gray">
          <a:xfrm>
            <a:off x="1910142" y="1976413"/>
            <a:ext cx="2717847" cy="1195614"/>
          </a:xfrm>
          <a:prstGeom prst="ellipse">
            <a:avLst/>
          </a:prstGeom>
          <a:solidFill>
            <a:srgbClr val="F5FCFD"/>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bwMode="gray">
          <a:xfrm>
            <a:off x="2481252" y="2717113"/>
            <a:ext cx="1489749" cy="400110"/>
          </a:xfrm>
          <a:prstGeom prst="rect">
            <a:avLst/>
          </a:prstGeom>
        </p:spPr>
        <p:txBody>
          <a:bodyPr wrap="square">
            <a:spAutoFit/>
          </a:bodyPr>
          <a:lstStyle/>
          <a:p>
            <a:pPr algn="ctr" fontAlgn="auto">
              <a:lnSpc>
                <a:spcPts val="2400"/>
              </a:lnSpc>
            </a:pP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IS-IS Area10</a:t>
            </a:r>
            <a:endParaRPr lang="zh-CN" altLang="en-US"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pic>
        <p:nvPicPr>
          <p:cNvPr id="7" name="图片 6"/>
          <p:cNvPicPr/>
          <p:nvPr/>
        </p:nvPicPr>
        <p:blipFill>
          <a:blip r:embed="rId1" cstate="print">
            <a:extLst>
              <a:ext uri="{28A0092B-C50C-407E-A947-70E740481C1C}">
                <a14:useLocalDpi xmlns:a14="http://schemas.microsoft.com/office/drawing/2010/main" val="0"/>
              </a:ext>
            </a:extLst>
          </a:blip>
          <a:stretch>
            <a:fillRect/>
          </a:stretch>
        </p:blipFill>
        <p:spPr bwMode="gray">
          <a:xfrm>
            <a:off x="1346004" y="2343998"/>
            <a:ext cx="540000" cy="442800"/>
          </a:xfrm>
          <a:prstGeom prst="rect">
            <a:avLst/>
          </a:prstGeom>
        </p:spPr>
      </p:pic>
      <p:pic>
        <p:nvPicPr>
          <p:cNvPr id="8" name="图片 7"/>
          <p:cNvPicPr/>
          <p:nvPr/>
        </p:nvPicPr>
        <p:blipFill>
          <a:blip r:embed="rId1" cstate="print">
            <a:extLst>
              <a:ext uri="{28A0092B-C50C-407E-A947-70E740481C1C}">
                <a14:useLocalDpi xmlns:a14="http://schemas.microsoft.com/office/drawing/2010/main" val="0"/>
              </a:ext>
            </a:extLst>
          </a:blip>
          <a:stretch>
            <a:fillRect/>
          </a:stretch>
        </p:blipFill>
        <p:spPr bwMode="gray">
          <a:xfrm>
            <a:off x="4627989" y="2343998"/>
            <a:ext cx="540000" cy="442800"/>
          </a:xfrm>
          <a:prstGeom prst="rect">
            <a:avLst/>
          </a:prstGeom>
        </p:spPr>
      </p:pic>
      <p:cxnSp>
        <p:nvCxnSpPr>
          <p:cNvPr id="10" name="直接连接符 9"/>
          <p:cNvCxnSpPr>
            <a:stCxn id="7" idx="3"/>
            <a:endCxn id="8" idx="1"/>
          </p:cNvCxnSpPr>
          <p:nvPr/>
        </p:nvCxnSpPr>
        <p:spPr bwMode="gray">
          <a:xfrm>
            <a:off x="1886004" y="2565398"/>
            <a:ext cx="274198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矩形 12"/>
          <p:cNvSpPr/>
          <p:nvPr/>
        </p:nvSpPr>
        <p:spPr bwMode="gray">
          <a:xfrm>
            <a:off x="1370142" y="2103733"/>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2593351" y="2291377"/>
            <a:ext cx="1283336"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10.1.12.0/30</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4653031" y="2103733"/>
            <a:ext cx="491724"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2791144" y="2524623"/>
            <a:ext cx="887750" cy="276999"/>
          </a:xfrm>
          <a:prstGeom prst="rect">
            <a:avLst/>
          </a:prstGeom>
        </p:spPr>
        <p:txBody>
          <a:bodyPr wrap="square">
            <a:spAutoFit/>
          </a:bodyPr>
          <a:lstStyle/>
          <a:p>
            <a:pPr algn="ctr" fontAlgn="auto"/>
            <a:r>
              <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GE0/0/0</a:t>
            </a:r>
            <a:endParaRPr lang="en-US" altLang="zh-CN" sz="12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3" name="矩形 32"/>
          <p:cNvSpPr/>
          <p:nvPr/>
        </p:nvSpPr>
        <p:spPr bwMode="gray">
          <a:xfrm>
            <a:off x="1819855" y="2509233"/>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4" name="矩形 33"/>
          <p:cNvSpPr/>
          <p:nvPr/>
        </p:nvSpPr>
        <p:spPr bwMode="gray">
          <a:xfrm>
            <a:off x="4316276" y="2509233"/>
            <a:ext cx="386422" cy="307777"/>
          </a:xfrm>
          <a:prstGeom prst="rect">
            <a:avLst/>
          </a:prstGeom>
        </p:spPr>
        <p:txBody>
          <a:bodyPr wrap="square">
            <a:spAutoFit/>
          </a:bodyPr>
          <a:lstStyle/>
          <a:p>
            <a:pPr algn="ctr" fontAlgn="auto"/>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2" name="文本框 33"/>
          <p:cNvSpPr txBox="1"/>
          <p:nvPr/>
        </p:nvSpPr>
        <p:spPr bwMode="gray">
          <a:xfrm>
            <a:off x="6096000" y="1460380"/>
            <a:ext cx="5653088"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pPr>
            <a:r>
              <a:rPr lang="en-US" altLang="zh-CN" sz="1600" dirty="0">
                <a:solidFill>
                  <a:prstClr val="black"/>
                </a:solidFill>
              </a:rPr>
              <a:t>4</a:t>
            </a:r>
            <a:r>
              <a:rPr lang="zh-CN" altLang="en-US" sz="1600" dirty="0">
                <a:solidFill>
                  <a:prstClr val="black"/>
                </a:solidFill>
              </a:rPr>
              <a:t>、在</a:t>
            </a:r>
            <a:r>
              <a:rPr lang="en-US" altLang="zh-CN" sz="1600" dirty="0">
                <a:solidFill>
                  <a:prstClr val="black"/>
                </a:solidFill>
              </a:rPr>
              <a:t>R1</a:t>
            </a:r>
            <a:r>
              <a:rPr lang="zh-CN" altLang="en-US" sz="1600" dirty="0">
                <a:solidFill>
                  <a:prstClr val="black"/>
                </a:solidFill>
              </a:rPr>
              <a:t>用户视图下执行</a:t>
            </a:r>
            <a:r>
              <a:rPr lang="en-US" altLang="zh-CN" sz="1600" b="1" dirty="0">
                <a:solidFill>
                  <a:prstClr val="black"/>
                </a:solidFill>
              </a:rPr>
              <a:t>reset </a:t>
            </a:r>
            <a:r>
              <a:rPr lang="en-US" altLang="zh-CN" sz="1600" b="1" dirty="0" err="1">
                <a:solidFill>
                  <a:prstClr val="black"/>
                </a:solidFill>
              </a:rPr>
              <a:t>isis</a:t>
            </a:r>
            <a:r>
              <a:rPr lang="en-US" altLang="zh-CN" sz="1600" b="1" dirty="0">
                <a:solidFill>
                  <a:prstClr val="black"/>
                </a:solidFill>
              </a:rPr>
              <a:t> all graceful-restart</a:t>
            </a:r>
            <a:r>
              <a:rPr lang="zh-CN" altLang="en-US" sz="1600" dirty="0">
                <a:solidFill>
                  <a:prstClr val="black"/>
                </a:solidFill>
              </a:rPr>
              <a:t>重启</a:t>
            </a:r>
            <a:r>
              <a:rPr lang="en-US" altLang="zh-CN" sz="1600" dirty="0">
                <a:solidFill>
                  <a:prstClr val="black"/>
                </a:solidFill>
              </a:rPr>
              <a:t>IS-IS</a:t>
            </a:r>
            <a:r>
              <a:rPr lang="zh-CN" altLang="en-US" sz="1600" dirty="0">
                <a:solidFill>
                  <a:prstClr val="black"/>
                </a:solidFill>
              </a:rPr>
              <a:t>进程</a:t>
            </a:r>
            <a:r>
              <a:rPr lang="en-US" altLang="zh-CN" sz="1600" dirty="0">
                <a:solidFill>
                  <a:prstClr val="black"/>
                </a:solidFill>
              </a:rPr>
              <a:t>1</a:t>
            </a:r>
            <a:r>
              <a:rPr lang="zh-CN" altLang="en-US" sz="1600" dirty="0">
                <a:solidFill>
                  <a:prstClr val="black"/>
                </a:solidFill>
              </a:rPr>
              <a:t>，同时在</a:t>
            </a:r>
            <a:r>
              <a:rPr lang="en-US" altLang="zh-CN" sz="1600" dirty="0">
                <a:solidFill>
                  <a:prstClr val="black"/>
                </a:solidFill>
              </a:rPr>
              <a:t>R2</a:t>
            </a:r>
            <a:r>
              <a:rPr lang="zh-CN" altLang="en-US" sz="1600" dirty="0">
                <a:solidFill>
                  <a:prstClr val="black"/>
                </a:solidFill>
              </a:rPr>
              <a:t>上执行</a:t>
            </a:r>
            <a:r>
              <a:rPr lang="en-US" altLang="zh-CN" sz="1600" b="1" dirty="0">
                <a:solidFill>
                  <a:prstClr val="black"/>
                </a:solidFill>
              </a:rPr>
              <a:t>display </a:t>
            </a:r>
            <a:r>
              <a:rPr lang="en-US" altLang="zh-CN" sz="1600" b="1" dirty="0" err="1">
                <a:solidFill>
                  <a:prstClr val="black"/>
                </a:solidFill>
              </a:rPr>
              <a:t>isis</a:t>
            </a:r>
            <a:r>
              <a:rPr lang="en-US" altLang="zh-CN" sz="1600" b="1" dirty="0">
                <a:solidFill>
                  <a:prstClr val="black"/>
                </a:solidFill>
              </a:rPr>
              <a:t> peer</a:t>
            </a:r>
            <a:r>
              <a:rPr lang="zh-CN" altLang="en-US" sz="1600" dirty="0">
                <a:solidFill>
                  <a:prstClr val="black"/>
                </a:solidFill>
              </a:rPr>
              <a:t>查看与</a:t>
            </a:r>
            <a:r>
              <a:rPr lang="en-US" altLang="zh-CN" sz="1600" dirty="0">
                <a:solidFill>
                  <a:prstClr val="black"/>
                </a:solidFill>
              </a:rPr>
              <a:t>R1</a:t>
            </a:r>
            <a:r>
              <a:rPr lang="zh-CN" altLang="en-US" sz="1600" dirty="0">
                <a:solidFill>
                  <a:prstClr val="black"/>
                </a:solidFill>
              </a:rPr>
              <a:t>的</a:t>
            </a:r>
            <a:r>
              <a:rPr lang="en-US" altLang="zh-CN" sz="1600" dirty="0">
                <a:solidFill>
                  <a:prstClr val="black"/>
                </a:solidFill>
              </a:rPr>
              <a:t>IS-IS</a:t>
            </a:r>
            <a:r>
              <a:rPr lang="zh-CN" altLang="en-US" sz="1600" dirty="0">
                <a:solidFill>
                  <a:prstClr val="black"/>
                </a:solidFill>
              </a:rPr>
              <a:t>邻接关系：</a:t>
            </a:r>
            <a:endParaRPr lang="zh-CN" altLang="en-US" sz="1600" dirty="0">
              <a:solidFill>
                <a:prstClr val="black"/>
              </a:solidFill>
            </a:endParaRPr>
          </a:p>
        </p:txBody>
      </p:sp>
      <p:sp>
        <p:nvSpPr>
          <p:cNvPr id="35" name="文本框 32"/>
          <p:cNvSpPr txBox="1"/>
          <p:nvPr/>
        </p:nvSpPr>
        <p:spPr bwMode="gray">
          <a:xfrm>
            <a:off x="6206958" y="2291377"/>
            <a:ext cx="5542130" cy="307777"/>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&lt;R1&gt; reset </a:t>
            </a:r>
            <a:r>
              <a:rPr lang="en-US" altLang="zh-CN" sz="1400" dirty="0" err="1"/>
              <a:t>isis</a:t>
            </a:r>
            <a:r>
              <a:rPr lang="en-US" altLang="zh-CN" sz="1400" dirty="0"/>
              <a:t> 1 all graceful-restart</a:t>
            </a:r>
            <a:endParaRPr lang="en-US" altLang="zh-CN" sz="1400" dirty="0">
              <a:solidFill>
                <a:prstClr val="black"/>
              </a:solidFill>
              <a:cs typeface="Courier New" panose="02070309020205020404" pitchFamily="49" charset="0"/>
            </a:endParaRPr>
          </a:p>
        </p:txBody>
      </p:sp>
      <p:sp>
        <p:nvSpPr>
          <p:cNvPr id="19" name="文本框 32"/>
          <p:cNvSpPr txBox="1"/>
          <p:nvPr/>
        </p:nvSpPr>
        <p:spPr bwMode="gray">
          <a:xfrm>
            <a:off x="6206958" y="2763279"/>
            <a:ext cx="5542130" cy="3077766"/>
          </a:xfrm>
          <a:prstGeom prst="rect">
            <a:avLst/>
          </a:prstGeom>
          <a:solidFill>
            <a:schemeClr val="bg1">
              <a:lumMod val="85000"/>
            </a:schemeClr>
          </a:solid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400" dirty="0"/>
              <a:t>&lt;R2&gt; display fib</a:t>
            </a:r>
            <a:endParaRPr lang="zh-CN" altLang="en-US" sz="1400" dirty="0"/>
          </a:p>
          <a:p>
            <a:r>
              <a:rPr lang="en-US" altLang="zh-CN" sz="1200" dirty="0"/>
              <a:t>Route Flags: G - Gateway Route, H - Host Route,    U - Up Route</a:t>
            </a:r>
            <a:endParaRPr lang="zh-CN" altLang="en-US" sz="1200" dirty="0"/>
          </a:p>
          <a:p>
            <a:r>
              <a:rPr lang="zh-CN" altLang="en-US" sz="1200" dirty="0"/>
              <a:t>             </a:t>
            </a:r>
            <a:r>
              <a:rPr lang="en-US" altLang="zh-CN" sz="1200" dirty="0"/>
              <a:t>S - Static Route,  D - Dynamic Route, B - Black Hole Route</a:t>
            </a:r>
            <a:endParaRPr lang="zh-CN" altLang="en-US" sz="1200" dirty="0"/>
          </a:p>
          <a:p>
            <a:r>
              <a:rPr lang="zh-CN" altLang="en-US" sz="1200" dirty="0"/>
              <a:t>             </a:t>
            </a:r>
            <a:r>
              <a:rPr lang="en-US" altLang="zh-CN" sz="1200" dirty="0"/>
              <a:t>L - </a:t>
            </a:r>
            <a:r>
              <a:rPr lang="en-US" altLang="zh-CN" sz="1200" dirty="0" err="1"/>
              <a:t>Vlink</a:t>
            </a:r>
            <a:r>
              <a:rPr lang="en-US" altLang="zh-CN" sz="1200" dirty="0"/>
              <a:t> Route</a:t>
            </a:r>
            <a:endParaRPr lang="zh-CN" altLang="en-US" sz="1200" dirty="0"/>
          </a:p>
          <a:p>
            <a:r>
              <a:rPr lang="en-US" altLang="zh-CN" sz="1200" dirty="0"/>
              <a:t>--------------------------------------------------------------------------------</a:t>
            </a:r>
            <a:endParaRPr lang="zh-CN" altLang="en-US" sz="1200" dirty="0"/>
          </a:p>
          <a:p>
            <a:r>
              <a:rPr lang="zh-CN" altLang="en-US" sz="1200" dirty="0"/>
              <a:t> </a:t>
            </a:r>
            <a:r>
              <a:rPr lang="en-US" altLang="zh-CN" sz="1200" dirty="0"/>
              <a:t>FIB Table:</a:t>
            </a:r>
            <a:endParaRPr lang="zh-CN" altLang="en-US" sz="1200" dirty="0"/>
          </a:p>
          <a:p>
            <a:r>
              <a:rPr lang="zh-CN" altLang="en-US" sz="1200" dirty="0"/>
              <a:t> </a:t>
            </a:r>
            <a:r>
              <a:rPr lang="en-US" altLang="zh-CN" sz="1200" dirty="0"/>
              <a:t>Total number of Routes : 7 </a:t>
            </a:r>
            <a:endParaRPr lang="zh-CN" altLang="en-US" sz="1200" dirty="0"/>
          </a:p>
          <a:p>
            <a:r>
              <a:rPr lang="zh-CN" altLang="en-US" sz="1200" dirty="0"/>
              <a:t> </a:t>
            </a:r>
            <a:endParaRPr lang="zh-CN" altLang="en-US" sz="1200" dirty="0"/>
          </a:p>
          <a:p>
            <a:r>
              <a:rPr lang="en-US" altLang="zh-CN" sz="1200" dirty="0"/>
              <a:t>Destination/Mask   </a:t>
            </a:r>
            <a:r>
              <a:rPr lang="en-US" altLang="zh-CN" sz="1200" dirty="0" err="1"/>
              <a:t>Nexthop</a:t>
            </a:r>
            <a:r>
              <a:rPr lang="en-US" altLang="zh-CN" sz="1200" dirty="0"/>
              <a:t>         Flag	</a:t>
            </a:r>
            <a:r>
              <a:rPr lang="en-US" altLang="zh-CN" sz="1200" dirty="0" err="1"/>
              <a:t>TimeStamp</a:t>
            </a:r>
            <a:r>
              <a:rPr lang="en-US" altLang="zh-CN" sz="1200" dirty="0"/>
              <a:t>	Interface      </a:t>
            </a:r>
            <a:r>
              <a:rPr lang="en-US" altLang="zh-CN" sz="1200" dirty="0" err="1"/>
              <a:t>TunnelID</a:t>
            </a:r>
            <a:endParaRPr lang="zh-CN" altLang="en-US" sz="1200" dirty="0"/>
          </a:p>
          <a:p>
            <a:r>
              <a:rPr lang="en-US" altLang="zh-CN" sz="1200" dirty="0"/>
              <a:t>10.1.12.3/32            127.0.0.1       HU	t[15]	InLoop0        0x0</a:t>
            </a:r>
            <a:endParaRPr lang="zh-CN" altLang="en-US" sz="1200" dirty="0"/>
          </a:p>
          <a:p>
            <a:r>
              <a:rPr lang="en-US" altLang="zh-CN" sz="1200" dirty="0"/>
              <a:t>10.1.12.2/32            127.0.0.1       HU 	t[15]     	InLoop0        0x0</a:t>
            </a:r>
            <a:endParaRPr lang="zh-CN" altLang="en-US" sz="1200" dirty="0"/>
          </a:p>
          <a:p>
            <a:r>
              <a:rPr lang="en-US" altLang="zh-CN" sz="1200" dirty="0"/>
              <a:t>255.255.255.255/32 127.0.0.1       HU 	t[3]         	InLoop0        0x0</a:t>
            </a:r>
            <a:endParaRPr lang="zh-CN" altLang="en-US" sz="1200" dirty="0"/>
          </a:p>
          <a:p>
            <a:r>
              <a:rPr lang="en-US" altLang="zh-CN" sz="1200" dirty="0"/>
              <a:t>127.255.255.255/32 127.0.0.1       HU 	t[3]        	InLoop0        0x0</a:t>
            </a:r>
            <a:endParaRPr lang="zh-CN" altLang="en-US" sz="1200" dirty="0"/>
          </a:p>
          <a:p>
            <a:r>
              <a:rPr lang="en-US" altLang="zh-CN" sz="1200" dirty="0"/>
              <a:t>127.0.0.1/32            127.0.0.1       HU	t[3]    	InLoop0        0x0</a:t>
            </a:r>
            <a:endParaRPr lang="zh-CN" altLang="en-US" sz="1200" dirty="0"/>
          </a:p>
          <a:p>
            <a:r>
              <a:rPr lang="nl-NL" altLang="zh-CN" sz="1200" dirty="0"/>
              <a:t>127.0.0.0/8              127.0.0.1       U  	t[3]    	InLoop0        0x0</a:t>
            </a:r>
            <a:endParaRPr lang="zh-CN" altLang="en-US" sz="1200" dirty="0"/>
          </a:p>
          <a:p>
            <a:r>
              <a:rPr lang="en-US" altLang="zh-CN" sz="1200" dirty="0"/>
              <a:t>10.1.12.0/30            10.1.12.2       U 	t[15]   	GE0/0/0        0x0</a:t>
            </a:r>
            <a:endParaRPr lang="zh-CN" altLang="en-US" sz="1200" dirty="0"/>
          </a:p>
        </p:txBody>
      </p:sp>
      <p:sp>
        <p:nvSpPr>
          <p:cNvPr id="20" name="矩形 19"/>
          <p:cNvSpPr/>
          <p:nvPr/>
        </p:nvSpPr>
        <p:spPr bwMode="gray">
          <a:xfrm>
            <a:off x="2953844" y="5603729"/>
            <a:ext cx="2787192" cy="587781"/>
          </a:xfrm>
          <a:prstGeom prst="rect">
            <a:avLst/>
          </a:prstGeom>
          <a:solidFill>
            <a:srgbClr val="FFF8E5"/>
          </a:solidFill>
          <a:ln w="19050">
            <a:solidFill>
              <a:srgbClr val="FDD35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a:solidFill>
                  <a:schemeClr val="tx1"/>
                </a:solidFill>
              </a:rPr>
              <a:t>R1</a:t>
            </a:r>
            <a:r>
              <a:rPr lang="zh-CN" altLang="en-US" sz="1400" dirty="0">
                <a:solidFill>
                  <a:schemeClr val="tx1"/>
                </a:solidFill>
              </a:rPr>
              <a:t>以</a:t>
            </a:r>
            <a:r>
              <a:rPr lang="en-US" altLang="zh-CN" sz="1400" dirty="0">
                <a:solidFill>
                  <a:schemeClr val="tx1"/>
                </a:solidFill>
              </a:rPr>
              <a:t>GR</a:t>
            </a:r>
            <a:r>
              <a:rPr lang="zh-CN" altLang="en-US" sz="1400" dirty="0">
                <a:solidFill>
                  <a:schemeClr val="tx1"/>
                </a:solidFill>
              </a:rPr>
              <a:t>方式重启</a:t>
            </a:r>
            <a:r>
              <a:rPr lang="en-US" altLang="zh-CN" sz="1400" dirty="0">
                <a:solidFill>
                  <a:schemeClr val="tx1"/>
                </a:solidFill>
              </a:rPr>
              <a:t>IS-IS</a:t>
            </a:r>
            <a:r>
              <a:rPr lang="zh-CN" altLang="en-US" sz="1400" dirty="0">
                <a:solidFill>
                  <a:schemeClr val="tx1"/>
                </a:solidFill>
              </a:rPr>
              <a:t>进程时，</a:t>
            </a:r>
            <a:r>
              <a:rPr lang="en-US" altLang="zh-CN" sz="1400" dirty="0">
                <a:solidFill>
                  <a:schemeClr val="tx1"/>
                </a:solidFill>
              </a:rPr>
              <a:t>FIB</a:t>
            </a:r>
            <a:r>
              <a:rPr lang="zh-CN" altLang="en-US" sz="1400" dirty="0">
                <a:solidFill>
                  <a:schemeClr val="tx1"/>
                </a:solidFill>
              </a:rPr>
              <a:t>表不变，实现数据转发不中断。</a:t>
            </a:r>
            <a:endParaRPr lang="zh-CN" altLang="en-US" sz="1400" dirty="0">
              <a:solidFill>
                <a:schemeClr val="tx1"/>
              </a:solidFill>
            </a:endParaRPr>
          </a:p>
        </p:txBody>
      </p:sp>
      <p:cxnSp>
        <p:nvCxnSpPr>
          <p:cNvPr id="21" name="肘形连接符 20"/>
          <p:cNvCxnSpPr>
            <a:stCxn id="20" idx="3"/>
          </p:cNvCxnSpPr>
          <p:nvPr/>
        </p:nvCxnSpPr>
        <p:spPr bwMode="gray">
          <a:xfrm flipV="1">
            <a:off x="5741036" y="5467546"/>
            <a:ext cx="465922" cy="430074"/>
          </a:xfrm>
          <a:prstGeom prst="bentConnector3">
            <a:avLst>
              <a:gd name="adj1" fmla="val 50000"/>
            </a:avLst>
          </a:prstGeom>
          <a:solidFill>
            <a:srgbClr val="FFF8E5"/>
          </a:solidFill>
          <a:ln w="19050">
            <a:solidFill>
              <a:srgbClr val="FDD35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31" name="五边形 30"/>
          <p:cNvSpPr/>
          <p:nvPr/>
        </p:nvSpPr>
        <p:spPr bwMode="gray">
          <a:xfrm>
            <a:off x="9398540" y="98631"/>
            <a:ext cx="720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快速收敛</a:t>
            </a:r>
            <a:endPar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燕尾形 35"/>
          <p:cNvSpPr/>
          <p:nvPr/>
        </p:nvSpPr>
        <p:spPr bwMode="gray">
          <a:xfrm>
            <a:off x="10037943" y="98631"/>
            <a:ext cx="9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路由控制</a:t>
            </a:r>
            <a:endParaRPr lang="en-US" altLang="zh-CN" sz="1200" kern="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燕尾形 36"/>
          <p:cNvSpPr/>
          <p:nvPr/>
        </p:nvSpPr>
        <p:spPr bwMode="gray">
          <a:xfrm>
            <a:off x="10849088" y="98631"/>
            <a:ext cx="900000"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其他特性</a:t>
            </a:r>
            <a:endParaRPr lang="en-US" altLang="zh-CN"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dirty="0"/>
              <a:t>(</a:t>
            </a:r>
            <a:r>
              <a:rPr lang="zh-CN" altLang="en-US" dirty="0"/>
              <a:t>多选题</a:t>
            </a:r>
            <a:r>
              <a:rPr lang="en-US" altLang="zh-CN" dirty="0"/>
              <a:t>)OSPF</a:t>
            </a:r>
            <a:r>
              <a:rPr lang="zh-CN" altLang="en-US" dirty="0"/>
              <a:t>支持以下哪些选项的快速收敛机制？</a:t>
            </a:r>
            <a:r>
              <a:rPr lang="en-US" altLang="zh-CN" dirty="0"/>
              <a:t>(     )</a:t>
            </a:r>
            <a:endParaRPr lang="en-US" altLang="zh-CN" dirty="0"/>
          </a:p>
          <a:p>
            <a:pPr lvl="1"/>
            <a:r>
              <a:rPr lang="en-US" altLang="zh-CN" dirty="0"/>
              <a:t>PRC</a:t>
            </a:r>
            <a:endParaRPr lang="en-US" altLang="zh-CN" dirty="0"/>
          </a:p>
          <a:p>
            <a:pPr lvl="1"/>
            <a:r>
              <a:rPr lang="en-US" altLang="zh-CN" dirty="0"/>
              <a:t>LSP</a:t>
            </a:r>
            <a:r>
              <a:rPr lang="zh-CN" altLang="en-US" dirty="0"/>
              <a:t>快速扩散</a:t>
            </a:r>
            <a:endParaRPr lang="en-US" altLang="zh-CN" dirty="0"/>
          </a:p>
          <a:p>
            <a:pPr lvl="1"/>
            <a:r>
              <a:rPr lang="zh-CN" altLang="en-US" dirty="0"/>
              <a:t>智能定时器</a:t>
            </a:r>
            <a:endParaRPr lang="en-US" altLang="zh-CN" dirty="0"/>
          </a:p>
          <a:p>
            <a:pPr lvl="1"/>
            <a:r>
              <a:rPr lang="en-US" altLang="zh-CN" dirty="0"/>
              <a:t>OSPF IP FRR</a:t>
            </a:r>
            <a:endParaRPr lang="en-US" altLang="zh-CN" dirty="0"/>
          </a:p>
          <a:p>
            <a:r>
              <a:rPr lang="en-US" altLang="zh-CN" dirty="0"/>
              <a:t>(</a:t>
            </a:r>
            <a:r>
              <a:rPr lang="zh-CN" altLang="en-US" dirty="0"/>
              <a:t>判断题</a:t>
            </a:r>
            <a:r>
              <a:rPr lang="en-US" altLang="zh-CN" dirty="0"/>
              <a:t>)OSPF</a:t>
            </a:r>
            <a:r>
              <a:rPr lang="zh-CN" altLang="en-US" dirty="0"/>
              <a:t>的</a:t>
            </a:r>
            <a:r>
              <a:rPr lang="en-US" altLang="zh-CN" dirty="0"/>
              <a:t>Type5 LSA</a:t>
            </a:r>
            <a:r>
              <a:rPr lang="zh-CN" altLang="en-US" dirty="0"/>
              <a:t>中</a:t>
            </a:r>
            <a:r>
              <a:rPr lang="en-US" altLang="zh-CN" dirty="0"/>
              <a:t>FA</a:t>
            </a:r>
            <a:r>
              <a:rPr lang="zh-CN" altLang="en-US" dirty="0"/>
              <a:t>字段一定为</a:t>
            </a:r>
            <a:r>
              <a:rPr lang="en-US" altLang="zh-CN" dirty="0"/>
              <a:t>0.0.0.0</a:t>
            </a:r>
            <a:r>
              <a:rPr lang="zh-CN" altLang="en-US" dirty="0"/>
              <a:t>。</a:t>
            </a:r>
            <a:r>
              <a:rPr lang="en-US" altLang="zh-CN" dirty="0"/>
              <a:t>(     )</a:t>
            </a:r>
            <a:endParaRPr lang="en-US" altLang="zh-CN" dirty="0"/>
          </a:p>
          <a:p>
            <a:pPr lvl="1"/>
            <a:r>
              <a:rPr lang="zh-CN" altLang="en-US" dirty="0"/>
              <a:t>正确</a:t>
            </a:r>
            <a:endParaRPr lang="en-US" altLang="zh-CN" dirty="0"/>
          </a:p>
          <a:p>
            <a:pPr lvl="1"/>
            <a:r>
              <a:rPr lang="zh-CN" altLang="en-US" dirty="0"/>
              <a:t>错误</a:t>
            </a:r>
            <a:endParaRPr lang="en-US" altLang="zh-CN"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pPr>
              <a:buFont typeface="+mj-lt"/>
              <a:buAutoNum type="arabicPeriod" startAt="3"/>
            </a:pPr>
            <a:r>
              <a:rPr lang="en-US" altLang="zh-CN" dirty="0"/>
              <a:t>(</a:t>
            </a:r>
            <a:r>
              <a:rPr lang="zh-CN" altLang="en-US" dirty="0"/>
              <a:t>判断题</a:t>
            </a:r>
            <a:r>
              <a:rPr lang="en-US" altLang="zh-CN" dirty="0"/>
              <a:t>)</a:t>
            </a:r>
            <a:r>
              <a:rPr lang="zh-CN" altLang="en-US" dirty="0"/>
              <a:t>在</a:t>
            </a:r>
            <a:r>
              <a:rPr lang="en-US" altLang="zh-CN" dirty="0"/>
              <a:t>IS-IS</a:t>
            </a:r>
            <a:r>
              <a:rPr lang="zh-CN" altLang="en-US" dirty="0"/>
              <a:t>网络中，若设备运行</a:t>
            </a:r>
            <a:r>
              <a:rPr lang="en-US" altLang="zh-CN" dirty="0"/>
              <a:t>Mode-2</a:t>
            </a:r>
            <a:r>
              <a:rPr lang="zh-CN" altLang="en-US" dirty="0"/>
              <a:t>的</a:t>
            </a:r>
            <a:r>
              <a:rPr lang="en-US" altLang="zh-CN" dirty="0"/>
              <a:t>LSP</a:t>
            </a:r>
            <a:r>
              <a:rPr lang="zh-CN" altLang="en-US" dirty="0"/>
              <a:t>分片扩展，则虚拟系统不参与路由</a:t>
            </a:r>
            <a:r>
              <a:rPr lang="en-US" altLang="zh-CN" dirty="0"/>
              <a:t>SPF</a:t>
            </a:r>
            <a:r>
              <a:rPr lang="zh-CN" altLang="en-US" dirty="0"/>
              <a:t>计算，网络中所有路由器都知道虚拟系统生成的</a:t>
            </a:r>
            <a:r>
              <a:rPr lang="en-US" altLang="zh-CN" dirty="0"/>
              <a:t>LSP</a:t>
            </a:r>
            <a:r>
              <a:rPr lang="zh-CN" altLang="en-US" dirty="0"/>
              <a:t>实际属于初始系统。</a:t>
            </a:r>
            <a:r>
              <a:rPr lang="en-US" altLang="zh-CN" dirty="0"/>
              <a:t>(     )</a:t>
            </a:r>
            <a:endParaRPr lang="en-US" altLang="zh-CN" dirty="0"/>
          </a:p>
          <a:p>
            <a:pPr lvl="1"/>
            <a:r>
              <a:rPr lang="zh-CN" altLang="en-US" dirty="0"/>
              <a:t>正确</a:t>
            </a:r>
            <a:endParaRPr lang="en-US" altLang="zh-CN" dirty="0"/>
          </a:p>
          <a:p>
            <a:pPr lvl="1"/>
            <a:r>
              <a:rPr lang="zh-CN" altLang="en-US" dirty="0"/>
              <a:t>错误</a:t>
            </a:r>
            <a:endParaRPr lang="en-US" altLang="zh-CN"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1019175" y="1844675"/>
            <a:ext cx="10153650" cy="4356100"/>
          </a:xfrm>
        </p:spPr>
        <p:txBody>
          <a:bodyPr/>
          <a:lstStyle/>
          <a:p>
            <a:r>
              <a:rPr lang="zh-CN" altLang="en-US" sz="1800"/>
              <a:t>为了更好地适应网络拓扑的变化，</a:t>
            </a:r>
            <a:r>
              <a:rPr lang="en-US" altLang="zh-CN" sz="1800"/>
              <a:t>OSPF</a:t>
            </a:r>
            <a:r>
              <a:rPr lang="zh-CN" altLang="en-US" sz="1800"/>
              <a:t>和</a:t>
            </a:r>
            <a:r>
              <a:rPr lang="en-US" altLang="zh-CN" sz="1800"/>
              <a:t>IS-IS</a:t>
            </a:r>
            <a:r>
              <a:rPr lang="zh-CN" altLang="en-US" sz="1800"/>
              <a:t>支持多种快速收敛方式。通过</a:t>
            </a:r>
            <a:r>
              <a:rPr lang="en-US" altLang="zh-CN" sz="1800"/>
              <a:t>I-SPF</a:t>
            </a:r>
            <a:r>
              <a:rPr lang="zh-CN" altLang="en-US" sz="1800"/>
              <a:t>和</a:t>
            </a:r>
            <a:r>
              <a:rPr lang="en-US" altLang="zh-CN" sz="1800"/>
              <a:t>PRC</a:t>
            </a:r>
            <a:r>
              <a:rPr lang="zh-CN" altLang="en-US" sz="1800"/>
              <a:t>算法加速路由的计算，通过</a:t>
            </a:r>
            <a:r>
              <a:rPr lang="en-US" altLang="zh-CN" sz="1800"/>
              <a:t>FRR</a:t>
            </a:r>
            <a:r>
              <a:rPr lang="zh-CN" altLang="en-US" sz="1800"/>
              <a:t>可以实现备份链路的快速切换，还可以设置智能定时器控制链路状态信息的生成和路由计算的速度。</a:t>
            </a:r>
            <a:endParaRPr lang="zh-CN" altLang="en-US" sz="1800"/>
          </a:p>
          <a:p>
            <a:r>
              <a:rPr lang="zh-CN" altLang="en-US" sz="1800"/>
              <a:t>为了控制路由表的规模以及提高网络性能，</a:t>
            </a:r>
            <a:r>
              <a:rPr lang="en-US" altLang="zh-CN" sz="1800"/>
              <a:t>OSPF</a:t>
            </a:r>
            <a:r>
              <a:rPr lang="zh-CN" altLang="en-US" sz="1800"/>
              <a:t>和</a:t>
            </a:r>
            <a:r>
              <a:rPr lang="en-US" altLang="zh-CN" sz="1800"/>
              <a:t>IS-IS</a:t>
            </a:r>
            <a:r>
              <a:rPr lang="zh-CN" altLang="en-US" sz="1800"/>
              <a:t>支持路由信息的过滤，支持等价路由，还支持下发缺省路由。为了实现协议路由表隔离，</a:t>
            </a:r>
            <a:r>
              <a:rPr lang="en-US" altLang="zh-CN" sz="1800"/>
              <a:t>OSPF</a:t>
            </a:r>
            <a:r>
              <a:rPr lang="zh-CN" altLang="en-US" sz="1800"/>
              <a:t>和</a:t>
            </a:r>
            <a:r>
              <a:rPr lang="en-US" altLang="zh-CN" sz="1800"/>
              <a:t>IS-IS</a:t>
            </a:r>
            <a:r>
              <a:rPr lang="zh-CN" altLang="en-US" sz="1800"/>
              <a:t>支持在同一台设备上部署多进程，进程之间的协议路由表互不影响。</a:t>
            </a:r>
            <a:endParaRPr lang="en-US" altLang="zh-CN" sz="1800"/>
          </a:p>
          <a:p>
            <a:r>
              <a:rPr lang="zh-CN" altLang="en-US" sz="1800"/>
              <a:t>为了避免在外部路由引入时出现次优路径，</a:t>
            </a:r>
            <a:r>
              <a:rPr lang="en-US" altLang="zh-CN" sz="1800"/>
              <a:t>OSPF</a:t>
            </a:r>
            <a:r>
              <a:rPr lang="zh-CN" altLang="en-US" sz="1800"/>
              <a:t>通过</a:t>
            </a:r>
            <a:r>
              <a:rPr lang="en-US" altLang="zh-CN" sz="1800"/>
              <a:t>Type5 LSA</a:t>
            </a:r>
            <a:r>
              <a:rPr lang="zh-CN" altLang="en-US" sz="1800"/>
              <a:t>或</a:t>
            </a:r>
            <a:r>
              <a:rPr lang="en-US" altLang="zh-CN" sz="1800"/>
              <a:t>Type7 LSA</a:t>
            </a:r>
            <a:r>
              <a:rPr lang="zh-CN" altLang="en-US" sz="1800"/>
              <a:t>中的</a:t>
            </a:r>
            <a:r>
              <a:rPr lang="en-US" altLang="zh-CN" sz="1800"/>
              <a:t>FA</a:t>
            </a:r>
            <a:r>
              <a:rPr lang="zh-CN" altLang="en-US" sz="1800"/>
              <a:t>指导数据包转发。</a:t>
            </a:r>
            <a:r>
              <a:rPr lang="en-US" altLang="zh-CN" sz="1800"/>
              <a:t>IS-IS</a:t>
            </a:r>
            <a:r>
              <a:rPr lang="zh-CN" altLang="en-US" sz="1800"/>
              <a:t>为了能够携带更多的路由信息，支持</a:t>
            </a:r>
            <a:r>
              <a:rPr lang="en-US" altLang="zh-CN" sz="1800"/>
              <a:t>LSP</a:t>
            </a:r>
            <a:r>
              <a:rPr lang="zh-CN" altLang="en-US" sz="1800"/>
              <a:t>分片扩展。</a:t>
            </a:r>
            <a:endParaRPr lang="en-US" altLang="zh-CN" sz="1800"/>
          </a:p>
          <a:p>
            <a:r>
              <a:rPr lang="zh-CN" altLang="en-US" sz="1800"/>
              <a:t>为了保证设备在重启过程中关键业务不中断，</a:t>
            </a:r>
            <a:r>
              <a:rPr lang="en-US" altLang="zh-CN" sz="1800"/>
              <a:t>OSPF</a:t>
            </a:r>
            <a:r>
              <a:rPr lang="zh-CN" altLang="en-US" sz="1800"/>
              <a:t>和</a:t>
            </a:r>
            <a:r>
              <a:rPr lang="en-US" altLang="zh-CN" sz="1800"/>
              <a:t>IS-IS</a:t>
            </a:r>
            <a:r>
              <a:rPr lang="zh-CN" altLang="en-US" sz="1800"/>
              <a:t>还支持</a:t>
            </a:r>
            <a:r>
              <a:rPr lang="en-US" altLang="zh-CN" sz="1800"/>
              <a:t>GR</a:t>
            </a:r>
            <a:r>
              <a:rPr lang="zh-CN" altLang="en-US" sz="1800"/>
              <a:t>和</a:t>
            </a:r>
            <a:r>
              <a:rPr lang="en-US" altLang="zh-CN" sz="1800"/>
              <a:t>NSR</a:t>
            </a:r>
            <a:r>
              <a:rPr lang="zh-CN" altLang="en-US" sz="1800"/>
              <a:t>特性。</a:t>
            </a:r>
            <a:endParaRPr lang="en-US" altLang="zh-CN" sz="1800"/>
          </a:p>
          <a:p>
            <a:r>
              <a:rPr lang="en-US" altLang="zh-CN" sz="1800"/>
              <a:t>OSPF</a:t>
            </a:r>
            <a:r>
              <a:rPr lang="zh-CN" altLang="en-US" sz="1800"/>
              <a:t>和</a:t>
            </a:r>
            <a:r>
              <a:rPr lang="en-US" altLang="zh-CN" sz="1800"/>
              <a:t>IS-IS</a:t>
            </a:r>
            <a:r>
              <a:rPr lang="zh-CN" altLang="en-US" sz="1800"/>
              <a:t>对以上各种特性的支持，使它们在现网中都被广泛灵活应用。</a:t>
            </a:r>
            <a:endParaRPr lang="zh-CN" altLang="en-US" sz="1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4.xml><?xml version="1.0" encoding="utf-8"?>
<p:tagLst xmlns:p="http://schemas.openxmlformats.org/presentationml/2006/main">
  <p:tag name="commondata" val="eyJoZGlkIjoiNjc0ZmI2NjkxZWUzNmMzMGQwY2FmZGU3M2U2NTgzMTEifQ=="/>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
</file>

<file path=customXml/item2.xml>��
</file>

<file path=customXml/item3.xml>��
</file>

<file path=customXml/itemProps1.xml><?xml version="1.0" encoding="utf-8"?>
<ds:datastoreItem xmlns:ds="http://schemas.openxmlformats.org/officeDocument/2006/customXml" ds:itemID="{DA5960F2-6186-408B-A0DC-5CA5E58B604F}">
  <ds:schemaRefs/>
</ds:datastoreItem>
</file>

<file path=customXml/itemProps2.xml><?xml version="1.0" encoding="utf-8"?>
<ds:datastoreItem xmlns:ds="http://schemas.openxmlformats.org/officeDocument/2006/customXml" ds:itemID="{0BC4523B-84EF-42A0-A60E-6125EC92CA3A}">
  <ds:schemaRefs/>
</ds:datastoreItem>
</file>

<file path=customXml/itemProps3.xml><?xml version="1.0" encoding="utf-8"?>
<ds:datastoreItem xmlns:ds="http://schemas.openxmlformats.org/officeDocument/2006/customXml" ds:itemID="{FEDE263F-0510-4442-823E-69B63ECB61E1}">
  <ds:schemaRefs/>
</ds:datastoreItem>
</file>

<file path=docProps/app.xml><?xml version="1.0" encoding="utf-8"?>
<Properties xmlns="http://schemas.openxmlformats.org/officeDocument/2006/extended-properties" xmlns:vt="http://schemas.openxmlformats.org/officeDocument/2006/docPropsVTypes">
  <TotalTime>0</TotalTime>
  <Words>43564</Words>
  <Application>WPS 演示</Application>
  <PresentationFormat>宽屏</PresentationFormat>
  <Paragraphs>4054</Paragraphs>
  <Slides>100</Slides>
  <Notes>100</Notes>
  <HiddenSlides>6</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100</vt:i4>
      </vt:variant>
    </vt:vector>
  </HeadingPairs>
  <TitlesOfParts>
    <vt:vector size="115" baseType="lpstr">
      <vt:lpstr>Arial</vt:lpstr>
      <vt:lpstr>宋体</vt:lpstr>
      <vt:lpstr>Wingdings</vt:lpstr>
      <vt:lpstr>Huawei Sans</vt:lpstr>
      <vt:lpstr>DejaVu Math TeX Gyre</vt:lpstr>
      <vt:lpstr>方正兰亭黑简体</vt:lpstr>
      <vt:lpstr>黑体</vt:lpstr>
      <vt:lpstr>微软雅黑</vt:lpstr>
      <vt:lpstr>Courier New</vt:lpstr>
      <vt:lpstr>Arial Unicode MS</vt:lpstr>
      <vt:lpstr>方正兰亭黑简体</vt:lpstr>
      <vt:lpstr>2_标题页模板</vt:lpstr>
      <vt:lpstr>3_功能页模板</vt:lpstr>
      <vt:lpstr>4_内容页模板</vt:lpstr>
      <vt:lpstr>5_感谢页模板</vt:lpstr>
      <vt:lpstr>PowerPoint 演示文稿</vt:lpstr>
      <vt:lpstr>IGP高级特性</vt:lpstr>
      <vt:lpstr>PowerPoint 演示文稿</vt:lpstr>
      <vt:lpstr>PowerPoint 演示文稿</vt:lpstr>
      <vt:lpstr>PowerPoint 演示文稿</vt:lpstr>
      <vt:lpstr>OSPF快速收敛概述</vt:lpstr>
      <vt:lpstr>PRC</vt:lpstr>
      <vt:lpstr>智能定时器</vt:lpstr>
      <vt:lpstr>智能定时器的基础配置命令 (1)</vt:lpstr>
      <vt:lpstr>智能定时器的基础配置命令 (2)</vt:lpstr>
      <vt:lpstr>智能定时器的基础配置命令 (3)</vt:lpstr>
      <vt:lpstr>OSPF IP FRR</vt:lpstr>
      <vt:lpstr>OSPF IP FRR组网应用</vt:lpstr>
      <vt:lpstr>OSPF IP FRR的基础配置命令</vt:lpstr>
      <vt:lpstr>OSPF IP FRR配置举例</vt:lpstr>
      <vt:lpstr>查看OSPF IP FRR配置结果</vt:lpstr>
      <vt:lpstr>OSPF与BFD联动</vt:lpstr>
      <vt:lpstr>OSPF与BFD联动的基础配置命令</vt:lpstr>
      <vt:lpstr>PowerPoint 演示文稿</vt:lpstr>
      <vt:lpstr>OSPF路由控制概述</vt:lpstr>
      <vt:lpstr>等价路由</vt:lpstr>
      <vt:lpstr>等价路由配置举例</vt:lpstr>
      <vt:lpstr>缺省路由</vt:lpstr>
      <vt:lpstr>PowerPoint 演示文稿</vt:lpstr>
      <vt:lpstr>将缺省路由通告到OSPF路由区域</vt:lpstr>
      <vt:lpstr>PowerPoint 演示文稿</vt:lpstr>
      <vt:lpstr>对发送的LSA进行过滤</vt:lpstr>
      <vt:lpstr>对ABR Type3 LSA进行过滤</vt:lpstr>
      <vt:lpstr>OSPF Database Overflow概述</vt:lpstr>
      <vt:lpstr>避免OSPF Database Overflow工作原理</vt:lpstr>
      <vt:lpstr>OSPF路由控制配置举例 (1)</vt:lpstr>
      <vt:lpstr>OSPF路由控制配置举例 (2)</vt:lpstr>
      <vt:lpstr>OSPF路由控制案例分析</vt:lpstr>
      <vt:lpstr>需求分析</vt:lpstr>
      <vt:lpstr>控制流量出口</vt:lpstr>
      <vt:lpstr>控制内部路径</vt:lpstr>
      <vt:lpstr>控制内部路径：调整汇聚到核心开销</vt:lpstr>
      <vt:lpstr>控制内部路径：调整核心到边界开销</vt:lpstr>
      <vt:lpstr>OSPF路由控制案例主要配置 (1)</vt:lpstr>
      <vt:lpstr>OSPF路由控制案例主要配置 (2)</vt:lpstr>
      <vt:lpstr>OSPF路由控制案例主要配置 (3)</vt:lpstr>
      <vt:lpstr>PowerPoint 演示文稿</vt:lpstr>
      <vt:lpstr>OSPF多进程</vt:lpstr>
      <vt:lpstr>OSPF与BGP联动 (1)</vt:lpstr>
      <vt:lpstr>OSPF与BGP联动 (2)</vt:lpstr>
      <vt:lpstr>OSPF转发地址</vt:lpstr>
      <vt:lpstr>没有FA引发的问题</vt:lpstr>
      <vt:lpstr>利用FA解决次优路径问题</vt:lpstr>
      <vt:lpstr>FA的取值</vt:lpstr>
      <vt:lpstr>案例：NSSA场景下FA的典型应用</vt:lpstr>
      <vt:lpstr>OSPF GR</vt:lpstr>
      <vt:lpstr>OSPF GR的过程</vt:lpstr>
      <vt:lpstr>PowerPoint 演示文稿</vt:lpstr>
      <vt:lpstr>OSPF GR的退出</vt:lpstr>
      <vt:lpstr>配置OSPF GR (1)</vt:lpstr>
      <vt:lpstr>配置OSPF GR (2)</vt:lpstr>
      <vt:lpstr>OSPF GR配置举例 (1)</vt:lpstr>
      <vt:lpstr>OSPF GR配置举例 (2)</vt:lpstr>
      <vt:lpstr>OSPF GR配置举例 (3)</vt:lpstr>
      <vt:lpstr>OSPF GR配置举例 (4)</vt:lpstr>
      <vt:lpstr>NSR</vt:lpstr>
      <vt:lpstr>NSR原理</vt:lpstr>
      <vt:lpstr>NSR倒换流程：批量备份过程</vt:lpstr>
      <vt:lpstr>NSR倒换流程：实时备份过程</vt:lpstr>
      <vt:lpstr>NSR倒换流程：倒换升主过程</vt:lpstr>
      <vt:lpstr>配置NSR</vt:lpstr>
      <vt:lpstr>PowerPoint 演示文稿</vt:lpstr>
      <vt:lpstr>IS-IS快速收敛概述</vt:lpstr>
      <vt:lpstr>I-SPF</vt:lpstr>
      <vt:lpstr>LSP快速扩散</vt:lpstr>
      <vt:lpstr>IS-IS路由控制概述</vt:lpstr>
      <vt:lpstr>等价路由</vt:lpstr>
      <vt:lpstr>配置IS-IS对等价路由的处理方式</vt:lpstr>
      <vt:lpstr>等价路由配置举例 (1)</vt:lpstr>
      <vt:lpstr>等价路由配置举例 (2)</vt:lpstr>
      <vt:lpstr>缺省路由</vt:lpstr>
      <vt:lpstr>通过设置ATT位控制缺省路由生成</vt:lpstr>
      <vt:lpstr>IS-IS发布缺省路由</vt:lpstr>
      <vt:lpstr>PowerPoint 演示文稿</vt:lpstr>
      <vt:lpstr>缺省路由配置举例</vt:lpstr>
      <vt:lpstr>IS-IS多实例和多进程</vt:lpstr>
      <vt:lpstr>LSP分片</vt:lpstr>
      <vt:lpstr>LSP分片扩展基本概念</vt:lpstr>
      <vt:lpstr>LSP分片扩展工作原理</vt:lpstr>
      <vt:lpstr>LSP分片扩展的基本配置命令</vt:lpstr>
      <vt:lpstr>IS-IS GR</vt:lpstr>
      <vt:lpstr>PowerPoint 演示文稿</vt:lpstr>
      <vt:lpstr>IS-IS GR的过程 (Restarting) (1)</vt:lpstr>
      <vt:lpstr>IS-IS GR的过程 (Restarting) (2)</vt:lpstr>
      <vt:lpstr>IS-IS GR的过程 (Starting) (1)</vt:lpstr>
      <vt:lpstr>IS-IS GR的过程 (Starting) (2)</vt:lpstr>
      <vt:lpstr>配置IS-IS GR (1)</vt:lpstr>
      <vt:lpstr>配置IS-IS GR (2)</vt:lpstr>
      <vt:lpstr>IS-IS GR配置举例 (1)</vt:lpstr>
      <vt:lpstr>IS-IS GR配置举例 (2)</vt:lpstr>
      <vt:lpstr>IS-IS GR配置举例 (3)</vt:lpstr>
      <vt:lpstr>PowerPoint 演示文稿</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郑桂彬</cp:lastModifiedBy>
  <cp:revision>765</cp:revision>
  <cp:lastPrinted>2020-07-31T09:33:00Z</cp:lastPrinted>
  <dcterms:created xsi:type="dcterms:W3CDTF">2018-11-29T10:16:00Z</dcterms:created>
  <dcterms:modified xsi:type="dcterms:W3CDTF">2024-03-08T02:29:04Z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(3)kOO7BhyOGw/+f/kAsWbQIcoqIB8lHmnfxAE1F4XqiGDmrk1tuNWdSTIFS62Ma5Yf8sW9pjQi
zFGSAYgitUOX4t/0jmUejNEMGM8b/xhlS8cPtx4eeG6WQopZlyuHIZ8GGlYlcvOj7+I/bbAM
CaX/89DCUGwkwHKR9eTUqmLq+sGfuGeFaMSg5ThZZb2QMvNJtcI+HOvYX9QKpyFIE2WyD72U
1mlVdTPpjYqdbcql6+</vt:lpwstr>
  </property>
  <property fmtid="{D5CDD505-2E9C-101B-9397-08002B2CF9AE}" pid="3" name="_2015_ms_pID_7253431">
    <vt:lpwstr>mq3YJ+C4c5K/NtupbBdz8k70V6WBNf2+Oe6GQ0cWNa7DdOc+CfHgAb
HJo8e1ItAqd3TOPxEtpSdqxwZdj1N+8HxuIaJpT59BlwTWYIcWiDy4V1WyL7DJVdxpx/NbEX
GSYtxrq48gzdmjlOrTXjRwsTUwbApuUA7yxJYBEIcKoR+nFlZtGv89tgJ3rwvj9Lf7I2gTH0
rrF7aWj3Yv++K+Tw2eMevVjyNlh0snTgRjvY</vt:lpwstr>
  </property>
  <property fmtid="{D5CDD505-2E9C-101B-9397-08002B2CF9AE}" pid="4" name="_2015_ms_pID_7253432">
    <vt:lpwstr>IaliEDQQ+huZ3gmgocrYDbQ=</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1634024950</vt:lpwstr>
  </property>
  <property fmtid="{D5CDD505-2E9C-101B-9397-08002B2CF9AE}" pid="10" name="ICV">
    <vt:lpwstr>DBAEF6B275DD4ECCA0BE723863690BE5_12</vt:lpwstr>
  </property>
  <property fmtid="{D5CDD505-2E9C-101B-9397-08002B2CF9AE}" pid="11" name="KSOProductBuildVer">
    <vt:lpwstr>2052-12.1.0.16388</vt:lpwstr>
  </property>
</Properties>
</file>