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tags/tag1.xml" ContentType="application/vnd.openxmlformats-officedocument.presentationml.tags+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101"/>
  </p:notesMasterIdLst>
  <p:handoutMasterIdLst>
    <p:handoutMasterId r:id="rId102"/>
  </p:handoutMasterIdLst>
  <p:sldIdLst>
    <p:sldId id="333" r:id="rId8"/>
    <p:sldId id="256" r:id="rId9"/>
    <p:sldId id="257" r:id="rId10"/>
    <p:sldId id="258" r:id="rId11"/>
    <p:sldId id="259" r:id="rId12"/>
    <p:sldId id="335" r:id="rId13"/>
    <p:sldId id="262" r:id="rId14"/>
    <p:sldId id="406" r:id="rId15"/>
    <p:sldId id="382" r:id="rId16"/>
    <p:sldId id="264" r:id="rId17"/>
    <p:sldId id="265" r:id="rId18"/>
    <p:sldId id="266" r:id="rId19"/>
    <p:sldId id="267" r:id="rId20"/>
    <p:sldId id="268" r:id="rId21"/>
    <p:sldId id="269" r:id="rId22"/>
    <p:sldId id="270" r:id="rId23"/>
    <p:sldId id="271" r:id="rId24"/>
    <p:sldId id="272" r:id="rId25"/>
    <p:sldId id="273" r:id="rId26"/>
    <p:sldId id="360" r:id="rId27"/>
    <p:sldId id="328" r:id="rId28"/>
    <p:sldId id="359" r:id="rId29"/>
    <p:sldId id="337" r:id="rId30"/>
    <p:sldId id="338" r:id="rId31"/>
    <p:sldId id="340" r:id="rId32"/>
    <p:sldId id="339" r:id="rId33"/>
    <p:sldId id="282" r:id="rId34"/>
    <p:sldId id="284" r:id="rId35"/>
    <p:sldId id="341" r:id="rId36"/>
    <p:sldId id="286" r:id="rId37"/>
    <p:sldId id="287" r:id="rId38"/>
    <p:sldId id="385" r:id="rId39"/>
    <p:sldId id="384" r:id="rId40"/>
    <p:sldId id="364" r:id="rId41"/>
    <p:sldId id="395" r:id="rId42"/>
    <p:sldId id="367" r:id="rId43"/>
    <p:sldId id="329" r:id="rId44"/>
    <p:sldId id="289" r:id="rId45"/>
    <p:sldId id="290" r:id="rId46"/>
    <p:sldId id="291" r:id="rId47"/>
    <p:sldId id="348" r:id="rId48"/>
    <p:sldId id="342" r:id="rId49"/>
    <p:sldId id="343" r:id="rId50"/>
    <p:sldId id="396" r:id="rId51"/>
    <p:sldId id="295" r:id="rId52"/>
    <p:sldId id="361" r:id="rId53"/>
    <p:sldId id="297" r:id="rId54"/>
    <p:sldId id="298" r:id="rId55"/>
    <p:sldId id="398" r:id="rId56"/>
    <p:sldId id="368" r:id="rId57"/>
    <p:sldId id="386" r:id="rId58"/>
    <p:sldId id="387" r:id="rId59"/>
    <p:sldId id="388" r:id="rId60"/>
    <p:sldId id="373" r:id="rId61"/>
    <p:sldId id="374" r:id="rId62"/>
    <p:sldId id="375" r:id="rId63"/>
    <p:sldId id="303" r:id="rId64"/>
    <p:sldId id="350" r:id="rId65"/>
    <p:sldId id="383" r:id="rId66"/>
    <p:sldId id="306" r:id="rId67"/>
    <p:sldId id="307" r:id="rId68"/>
    <p:sldId id="308" r:id="rId69"/>
    <p:sldId id="309" r:id="rId70"/>
    <p:sldId id="310" r:id="rId71"/>
    <p:sldId id="311" r:id="rId72"/>
    <p:sldId id="400" r:id="rId73"/>
    <p:sldId id="312" r:id="rId74"/>
    <p:sldId id="313" r:id="rId75"/>
    <p:sldId id="351" r:id="rId76"/>
    <p:sldId id="352" r:id="rId77"/>
    <p:sldId id="402" r:id="rId78"/>
    <p:sldId id="404" r:id="rId79"/>
    <p:sldId id="354" r:id="rId80"/>
    <p:sldId id="355" r:id="rId81"/>
    <p:sldId id="405" r:id="rId82"/>
    <p:sldId id="357" r:id="rId83"/>
    <p:sldId id="389" r:id="rId84"/>
    <p:sldId id="330" r:id="rId85"/>
    <p:sldId id="318" r:id="rId86"/>
    <p:sldId id="390" r:id="rId87"/>
    <p:sldId id="391" r:id="rId88"/>
    <p:sldId id="324" r:id="rId89"/>
    <p:sldId id="376" r:id="rId90"/>
    <p:sldId id="379" r:id="rId91"/>
    <p:sldId id="378" r:id="rId92"/>
    <p:sldId id="392" r:id="rId93"/>
    <p:sldId id="380" r:id="rId94"/>
    <p:sldId id="381" r:id="rId95"/>
    <p:sldId id="393" r:id="rId96"/>
    <p:sldId id="394" r:id="rId97"/>
    <p:sldId id="331" r:id="rId98"/>
    <p:sldId id="332" r:id="rId99"/>
    <p:sldId id="327" r:id="rId100"/>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3" userDrawn="1">
          <p15:clr>
            <a:srgbClr val="A4A3A4"/>
          </p15:clr>
        </p15:guide>
        <p15:guide id="2" pos="279"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oxinyi (Mike, EBG)" initials="D(E" lastIdx="22" clrIdx="0">
    <p:extLst>
      <p:ext uri="{19B8F6BF-5375-455C-9EA6-DF929625EA0E}">
        <p15:presenceInfo xmlns:p15="http://schemas.microsoft.com/office/powerpoint/2012/main" userId="S-1-5-21-147214757-305610072-1517763936-1834069" providerId="AD"/>
      </p:ext>
    </p:extLst>
  </p:cmAuthor>
  <p:cmAuthor id="2" name="luyueyuezjhw" initials="l" lastIdx="102" clrIdx="1">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1B2A56"/>
    <a:srgbClr val="18497E"/>
    <a:srgbClr val="152451"/>
    <a:srgbClr val="111B39"/>
    <a:srgbClr val="292E3B"/>
    <a:srgbClr val="28345D"/>
    <a:srgbClr val="132046"/>
    <a:srgbClr val="30B5C5"/>
    <a:srgbClr val="111A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88005" autoAdjust="0"/>
  </p:normalViewPr>
  <p:slideViewPr>
    <p:cSldViewPr snapToGrid="0" snapToObjects="1">
      <p:cViewPr varScale="1">
        <p:scale>
          <a:sx n="110" d="100"/>
          <a:sy n="110" d="100"/>
        </p:scale>
        <p:origin x="78" y="108"/>
      </p:cViewPr>
      <p:guideLst>
        <p:guide orient="horz" pos="913"/>
        <p:guide pos="27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0" d="100"/>
          <a:sy n="100" d="100"/>
        </p:scale>
        <p:origin x="3420" y="-39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07" Type="http://schemas.openxmlformats.org/officeDocument/2006/relationships/tableStyles" Target="tableStyles.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handoutMaster" Target="handoutMasters/handoutMaster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commentAuthors" Target="commentAuthor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theme" Target="theme/theme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1"/>
            <a:ext cx="3037840" cy="466435"/>
          </a:xfrm>
          <a:prstGeom prst="rect">
            <a:avLst/>
          </a:prstGeom>
        </p:spPr>
        <p:txBody>
          <a:bodyPr vert="horz" lIns="91432" tIns="45716" rIns="91432" bIns="45716"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9" y="1"/>
            <a:ext cx="3037840" cy="466435"/>
          </a:xfrm>
          <a:prstGeom prst="rect">
            <a:avLst/>
          </a:prstGeom>
        </p:spPr>
        <p:txBody>
          <a:bodyPr vert="horz" lIns="91432" tIns="45716" rIns="91432" bIns="45716" rtlCol="0"/>
          <a:lstStyle>
            <a:lvl1pPr algn="r">
              <a:defRPr sz="1200"/>
            </a:lvl1pPr>
          </a:lstStyle>
          <a:p>
            <a:fld id="{E8CF71B8-DF2A-2E41-BE66-2E18A767DA8A}" type="datetimeFigureOut">
              <a:rPr lang="en-US" smtClean="0">
                <a:latin typeface="Huawei Sans" panose="020C0503030203020204" pitchFamily="34" charset="0"/>
              </a:rPr>
              <a:t>11/15/2021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32" tIns="45716" rIns="91432" bIns="45716"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9" y="8829968"/>
            <a:ext cx="3037840" cy="466434"/>
          </a:xfrm>
          <a:prstGeom prst="rect">
            <a:avLst/>
          </a:prstGeom>
        </p:spPr>
        <p:txBody>
          <a:bodyPr vert="horz" lIns="91432" tIns="45716" rIns="91432" bIns="45716"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32" tIns="45716" rIns="91432" bIns="45716"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191" tIns="45716" rIns="97191" bIns="4571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99421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10050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备注占位符 6"/>
          <p:cNvSpPr>
            <a:spLocks noGrp="1"/>
          </p:cNvSpPr>
          <p:nvPr>
            <p:ph type="body" idx="1"/>
          </p:nvPr>
        </p:nvSpPr>
        <p:spPr/>
        <p:txBody>
          <a:bodyPr/>
          <a:lstStyle/>
          <a:p>
            <a:r>
              <a:rPr lang="zh-CN" altLang="en-US" smtClean="0"/>
              <a:t>在本课程后续的内容中，</a:t>
            </a:r>
            <a:r>
              <a:rPr lang="en-US" altLang="zh-CN" smtClean="0"/>
              <a:t>iMaster NCE-CampusInsight</a:t>
            </a:r>
            <a:r>
              <a:rPr lang="zh-CN" altLang="en-US" smtClean="0"/>
              <a:t>将简写为</a:t>
            </a:r>
            <a:r>
              <a:rPr lang="en-US" altLang="zh-CN" smtClean="0"/>
              <a:t>CampusInsight</a:t>
            </a:r>
            <a:r>
              <a:rPr lang="zh-CN" altLang="en-US" smtClean="0"/>
              <a:t>。</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39615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147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7489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78889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97465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9350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801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90949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err="1" smtClean="0"/>
              <a:t>ProtoBuf</a:t>
            </a:r>
            <a:r>
              <a:rPr lang="zh-CN" altLang="en-US" dirty="0" smtClean="0"/>
              <a:t>：</a:t>
            </a:r>
            <a:r>
              <a:rPr lang="en-US" altLang="zh-CN" dirty="0" smtClean="0"/>
              <a:t>Protocol Buffers</a:t>
            </a:r>
            <a:r>
              <a:rPr lang="zh-CN" altLang="en-US" smtClean="0"/>
              <a:t>，一种序列号数据结构的协议</a:t>
            </a:r>
          </a:p>
        </p:txBody>
      </p:sp>
    </p:spTree>
    <p:extLst>
      <p:ext uri="{BB962C8B-B14F-4D97-AF65-F5344CB8AC3E}">
        <p14:creationId xmlns:p14="http://schemas.microsoft.com/office/powerpoint/2010/main" val="164537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77369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049936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24630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SaaS</a:t>
            </a:r>
            <a:r>
              <a:rPr lang="zh-CN" altLang="en-US" dirty="0" smtClean="0"/>
              <a:t>：</a:t>
            </a:r>
            <a:r>
              <a:rPr lang="en-US" altLang="zh-CN" dirty="0" smtClean="0"/>
              <a:t>software as a service</a:t>
            </a:r>
            <a:r>
              <a:rPr lang="zh-CN" altLang="en-US" dirty="0" smtClean="0"/>
              <a:t>，软件即服务</a:t>
            </a:r>
            <a:endParaRPr lang="zh-CN" altLang="en-US" dirty="0"/>
          </a:p>
        </p:txBody>
      </p:sp>
    </p:spTree>
    <p:extLst>
      <p:ext uri="{BB962C8B-B14F-4D97-AF65-F5344CB8AC3E}">
        <p14:creationId xmlns:p14="http://schemas.microsoft.com/office/powerpoint/2010/main" val="1783213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err="1" smtClean="0"/>
              <a:t>IaaS</a:t>
            </a:r>
            <a:r>
              <a:rPr lang="zh-CN" altLang="en-US" dirty="0" smtClean="0"/>
              <a:t>：</a:t>
            </a:r>
            <a:r>
              <a:rPr lang="en-US" altLang="zh-CN" dirty="0" smtClean="0"/>
              <a:t>infrastructure as a service</a:t>
            </a:r>
            <a:r>
              <a:rPr lang="zh-CN" altLang="en-US" dirty="0" smtClean="0"/>
              <a:t>，基础设施即服务</a:t>
            </a:r>
            <a:endParaRPr lang="zh-CN" altLang="en-US" dirty="0"/>
          </a:p>
        </p:txBody>
      </p:sp>
    </p:spTree>
    <p:extLst>
      <p:ext uri="{BB962C8B-B14F-4D97-AF65-F5344CB8AC3E}">
        <p14:creationId xmlns:p14="http://schemas.microsoft.com/office/powerpoint/2010/main" val="1429276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05757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63889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RSSI</a:t>
            </a:r>
            <a:r>
              <a:rPr lang="zh-CN" altLang="en-US" dirty="0" smtClean="0"/>
              <a:t>：</a:t>
            </a:r>
            <a:r>
              <a:rPr lang="en-US" altLang="zh-CN" dirty="0" smtClean="0"/>
              <a:t>Received Signal Strength Indicator</a:t>
            </a:r>
            <a:r>
              <a:rPr lang="zh-CN" altLang="en-US" dirty="0" smtClean="0"/>
              <a:t>，信号强度</a:t>
            </a:r>
            <a:endParaRPr lang="zh-CN" altLang="en-US" dirty="0"/>
          </a:p>
        </p:txBody>
      </p:sp>
    </p:spTree>
    <p:extLst>
      <p:ext uri="{BB962C8B-B14F-4D97-AF65-F5344CB8AC3E}">
        <p14:creationId xmlns:p14="http://schemas.microsoft.com/office/powerpoint/2010/main" val="1228447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72232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436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KQI</a:t>
            </a:r>
            <a:r>
              <a:rPr lang="zh-CN" altLang="en-US" dirty="0" smtClean="0"/>
              <a:t>：</a:t>
            </a:r>
            <a:r>
              <a:rPr lang="en-US" altLang="zh-CN" dirty="0" smtClean="0"/>
              <a:t>Key Quality Indicator</a:t>
            </a:r>
            <a:r>
              <a:rPr lang="zh-CN" altLang="en-US" dirty="0" smtClean="0"/>
              <a:t>，关键质量指标</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740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939208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0902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8724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17903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err="1" smtClean="0"/>
              <a:t>CampusInsight</a:t>
            </a:r>
            <a:r>
              <a:rPr lang="zh-CN" altLang="en-US" dirty="0" smtClean="0"/>
              <a:t>提供专业评估报告服务，基于“全网概况”、“指标详情”、“整改建议”实时或周期自动生成网络质量评估报表，提供可量化的网络体验。</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258849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18233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err="1" smtClean="0"/>
              <a:t>CampusInsight</a:t>
            </a:r>
            <a:r>
              <a:rPr lang="zh-CN" altLang="en-US" dirty="0" smtClean="0"/>
              <a:t>的业务拓扑能统计状态、接入、拥塞以及误包四大类问题，在拓扑上基于站点、区域、楼宇、楼层可视呈现用户数、流量及各类问题，通过搜索快速查看用户经过的楼栋回放，帮助用户快速确认园区网络问题。</a:t>
            </a:r>
            <a:endParaRPr lang="en-US" altLang="zh-CN" dirty="0" smtClean="0"/>
          </a:p>
          <a:p>
            <a:pPr lvl="0"/>
            <a:r>
              <a:rPr lang="zh-CN" altLang="en-US" dirty="0" smtClean="0"/>
              <a:t>在</a:t>
            </a:r>
            <a:r>
              <a:rPr lang="en-US" altLang="zh-CN" dirty="0" err="1" smtClean="0"/>
              <a:t>CampusInsight</a:t>
            </a:r>
            <a:r>
              <a:rPr lang="zh-CN" altLang="en-US" dirty="0" smtClean="0"/>
              <a:t>的业务拓扑中，可以进入“</a:t>
            </a:r>
            <a:r>
              <a:rPr lang="en-US" altLang="zh-CN" dirty="0" smtClean="0"/>
              <a:t>WLAN</a:t>
            </a:r>
            <a:r>
              <a:rPr lang="zh-CN" altLang="en-US" dirty="0" smtClean="0"/>
              <a:t>拓扑”查看网络的射频热图。</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007452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61307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369037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为进一步分析设备状态，设备频谱分析详情页展示了</a:t>
            </a:r>
            <a:r>
              <a:rPr lang="en-US" altLang="zh-CN" dirty="0" smtClean="0"/>
              <a:t>AP</a:t>
            </a:r>
            <a:r>
              <a:rPr lang="zh-CN" altLang="en-US" dirty="0" smtClean="0"/>
              <a:t>的信道状态与周边干扰，包括各信道的使用占比、当前工作信道、信道状态的历史趋势、非</a:t>
            </a:r>
            <a:r>
              <a:rPr lang="en-US" altLang="zh-CN" dirty="0" smtClean="0"/>
              <a:t>Wi-Fi</a:t>
            </a:r>
            <a:r>
              <a:rPr lang="zh-CN" altLang="en-US" dirty="0" smtClean="0"/>
              <a:t>干扰源列表、</a:t>
            </a:r>
            <a:r>
              <a:rPr lang="en-US" altLang="zh-CN" dirty="0" smtClean="0"/>
              <a:t>Wi-Fi</a:t>
            </a:r>
            <a:r>
              <a:rPr lang="zh-CN" altLang="en-US" dirty="0" smtClean="0"/>
              <a:t>干扰源列表、</a:t>
            </a:r>
            <a:r>
              <a:rPr lang="en-US" altLang="zh-CN" dirty="0" smtClean="0"/>
              <a:t>Wi-Fi</a:t>
            </a:r>
            <a:r>
              <a:rPr lang="zh-CN" altLang="en-US" dirty="0" smtClean="0"/>
              <a:t>干扰源分布等。</a:t>
            </a:r>
            <a:endParaRPr lang="en-US" altLang="zh-CN" dirty="0" smtClean="0"/>
          </a:p>
          <a:p>
            <a:r>
              <a:rPr lang="zh-CN" altLang="en-US" dirty="0" smtClean="0"/>
              <a:t>频谱分析实现流程：</a:t>
            </a:r>
            <a:endParaRPr lang="en-US" altLang="zh-CN" dirty="0" smtClean="0"/>
          </a:p>
          <a:p>
            <a:pPr marL="588550" lvl="1" indent="-228580">
              <a:buFont typeface="+mj-lt"/>
              <a:buAutoNum type="arabicPeriod"/>
            </a:pPr>
            <a:r>
              <a:rPr lang="en-US" altLang="zh-CN" dirty="0" smtClean="0"/>
              <a:t>AP</a:t>
            </a:r>
            <a:r>
              <a:rPr lang="zh-CN" altLang="en-US" dirty="0" smtClean="0"/>
              <a:t>实时全信道扫描，逐信道扫描同频干扰、非</a:t>
            </a:r>
            <a:r>
              <a:rPr lang="en-US" altLang="zh-CN" dirty="0" smtClean="0"/>
              <a:t>Wi-Fi</a:t>
            </a:r>
            <a:r>
              <a:rPr lang="zh-CN" altLang="en-US" dirty="0" smtClean="0"/>
              <a:t>干扰、正常占用比例。</a:t>
            </a:r>
            <a:endParaRPr lang="en-US" altLang="zh-CN" dirty="0" smtClean="0"/>
          </a:p>
          <a:p>
            <a:pPr marL="588550" lvl="1" indent="-228580">
              <a:buFont typeface="+mj-lt"/>
              <a:buAutoNum type="arabicPeriod"/>
            </a:pPr>
            <a:r>
              <a:rPr lang="en-US" altLang="zh-CN" dirty="0" smtClean="0"/>
              <a:t>AP</a:t>
            </a:r>
            <a:r>
              <a:rPr lang="zh-CN" altLang="en-US" dirty="0" smtClean="0"/>
              <a:t>向</a:t>
            </a:r>
            <a:r>
              <a:rPr lang="en-US" altLang="zh-CN" dirty="0" err="1" smtClean="0"/>
              <a:t>CampusInsight</a:t>
            </a:r>
            <a:r>
              <a:rPr lang="zh-CN" altLang="en-US" dirty="0" smtClean="0"/>
              <a:t>上报信道扫描数据。</a:t>
            </a:r>
            <a:endParaRPr lang="en-US" altLang="zh-CN" dirty="0" smtClean="0"/>
          </a:p>
          <a:p>
            <a:pPr marL="588550" lvl="1" indent="-228580">
              <a:buFont typeface="+mj-lt"/>
              <a:buAutoNum type="arabicPeriod"/>
            </a:pPr>
            <a:r>
              <a:rPr lang="en-US" altLang="zh-CN" dirty="0" err="1" smtClean="0"/>
              <a:t>CampusInsight</a:t>
            </a:r>
            <a:r>
              <a:rPr lang="zh-CN" altLang="en-US" dirty="0" smtClean="0"/>
              <a:t>按照</a:t>
            </a:r>
            <a:r>
              <a:rPr lang="en-US" altLang="zh-CN" dirty="0" smtClean="0"/>
              <a:t>AP</a:t>
            </a:r>
            <a:r>
              <a:rPr lang="zh-CN" altLang="en-US" dirty="0" smtClean="0"/>
              <a:t>粒度，呈现实时的全信道状态监测，支持查看历史趋势图，以及非</a:t>
            </a:r>
            <a:r>
              <a:rPr lang="en-US" altLang="zh-CN" dirty="0" smtClean="0"/>
              <a:t>Wi-Fi</a:t>
            </a:r>
            <a:r>
              <a:rPr lang="zh-CN" altLang="en-US" dirty="0" smtClean="0"/>
              <a:t>干扰源类型与</a:t>
            </a:r>
            <a:r>
              <a:rPr lang="en-US" altLang="zh-CN" dirty="0" smtClean="0"/>
              <a:t>RSSI</a:t>
            </a:r>
            <a:r>
              <a:rPr lang="zh-CN" altLang="en-US" dirty="0" smtClean="0"/>
              <a:t>。</a:t>
            </a:r>
          </a:p>
          <a:p>
            <a:pPr lvl="1"/>
            <a:endParaRPr lang="zh-CN" altLang="en-US" dirty="0" smtClean="0"/>
          </a:p>
          <a:p>
            <a:pPr lvl="1"/>
            <a:endParaRPr lang="zh-CN" altLang="en-US"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597079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41388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说明：内网测速、内网文件下载速度、视频体验测试需要搭建内网服务器。</a:t>
            </a:r>
          </a:p>
        </p:txBody>
      </p:sp>
    </p:spTree>
    <p:extLst>
      <p:ext uri="{BB962C8B-B14F-4D97-AF65-F5344CB8AC3E}">
        <p14:creationId xmlns:p14="http://schemas.microsoft.com/office/powerpoint/2010/main" val="42697660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p:txBody>
      </p:sp>
    </p:spTree>
    <p:extLst>
      <p:ext uri="{BB962C8B-B14F-4D97-AF65-F5344CB8AC3E}">
        <p14:creationId xmlns:p14="http://schemas.microsoft.com/office/powerpoint/2010/main" val="14092001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终端零成本快速部署</a:t>
            </a:r>
            <a:r>
              <a:rPr lang="en-US" altLang="zh-CN" dirty="0" err="1" smtClean="0"/>
              <a:t>CloudCampus</a:t>
            </a:r>
            <a:r>
              <a:rPr lang="en-US" altLang="zh-CN" dirty="0" smtClean="0"/>
              <a:t> APP</a:t>
            </a:r>
            <a:r>
              <a:rPr lang="zh-CN" altLang="en-US" dirty="0" smtClean="0"/>
              <a:t>：</a:t>
            </a:r>
            <a:endParaRPr lang="en-US" altLang="zh-CN" dirty="0" smtClean="0"/>
          </a:p>
          <a:p>
            <a:pPr lvl="1"/>
            <a:r>
              <a:rPr lang="zh-CN" altLang="en-US" dirty="0" smtClean="0"/>
              <a:t>网络可达即可进行终端拨测；</a:t>
            </a:r>
          </a:p>
          <a:p>
            <a:pPr lvl="1"/>
            <a:r>
              <a:rPr lang="zh-CN" altLang="en-US" dirty="0" smtClean="0"/>
              <a:t>分析报告即刻输出。</a:t>
            </a:r>
            <a:endParaRPr lang="zh-CN" altLang="en-US" dirty="0"/>
          </a:p>
        </p:txBody>
      </p:sp>
    </p:spTree>
    <p:extLst>
      <p:ext uri="{BB962C8B-B14F-4D97-AF65-F5344CB8AC3E}">
        <p14:creationId xmlns:p14="http://schemas.microsoft.com/office/powerpoint/2010/main" val="10115272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746785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349868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704106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5049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16393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说明：有线用户体验可视的查看流程与无线用户相同。</a:t>
            </a:r>
            <a:endParaRPr lang="zh-CN" altLang="en-US" dirty="0"/>
          </a:p>
        </p:txBody>
      </p:sp>
    </p:spTree>
    <p:extLst>
      <p:ext uri="{BB962C8B-B14F-4D97-AF65-F5344CB8AC3E}">
        <p14:creationId xmlns:p14="http://schemas.microsoft.com/office/powerpoint/2010/main" val="3586890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184192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987351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096345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说明：定位有线接入问题的流程与定位无线接入问题的流程相同。</a:t>
            </a:r>
          </a:p>
          <a:p>
            <a:endParaRPr lang="zh-CN" altLang="en-US" dirty="0"/>
          </a:p>
        </p:txBody>
      </p:sp>
    </p:spTree>
    <p:extLst>
      <p:ext uri="{BB962C8B-B14F-4D97-AF65-F5344CB8AC3E}">
        <p14:creationId xmlns:p14="http://schemas.microsoft.com/office/powerpoint/2010/main" val="42826650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69625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p:txBody>
      </p:sp>
    </p:spTree>
    <p:extLst>
      <p:ext uri="{BB962C8B-B14F-4D97-AF65-F5344CB8AC3E}">
        <p14:creationId xmlns:p14="http://schemas.microsoft.com/office/powerpoint/2010/main" val="8598523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p:txBody>
      </p:sp>
    </p:spTree>
    <p:extLst>
      <p:ext uri="{BB962C8B-B14F-4D97-AF65-F5344CB8AC3E}">
        <p14:creationId xmlns:p14="http://schemas.microsoft.com/office/powerpoint/2010/main" val="19518523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应用分析：</a:t>
            </a:r>
            <a:endParaRPr lang="en-US" altLang="zh-CN" dirty="0" smtClean="0"/>
          </a:p>
          <a:p>
            <a:pPr lvl="1"/>
            <a:r>
              <a:rPr lang="zh-CN" altLang="en-US" dirty="0" smtClean="0"/>
              <a:t>支持全网应用的监控，支持</a:t>
            </a:r>
            <a:r>
              <a:rPr lang="en-US" altLang="zh-CN" dirty="0" err="1" smtClean="0"/>
              <a:t>NetStream</a:t>
            </a:r>
            <a:r>
              <a:rPr lang="zh-CN" altLang="en-US" dirty="0" smtClean="0"/>
              <a:t>和</a:t>
            </a:r>
            <a:r>
              <a:rPr lang="en-US" altLang="zh-CN" dirty="0" smtClean="0"/>
              <a:t>SA</a:t>
            </a:r>
            <a:r>
              <a:rPr lang="zh-CN" altLang="en-US" dirty="0" smtClean="0"/>
              <a:t>（</a:t>
            </a:r>
            <a:r>
              <a:rPr lang="en-US" altLang="zh-CN" dirty="0" smtClean="0"/>
              <a:t>Service Awareness</a:t>
            </a:r>
            <a:r>
              <a:rPr lang="zh-CN" altLang="en-US" dirty="0" smtClean="0"/>
              <a:t>，业务感知）数据源，支持应用数、流量等概览数据的呈现，支持应用按流量升序、降序进行排列。在有线场景下，</a:t>
            </a:r>
            <a:r>
              <a:rPr lang="en-US" altLang="zh-CN" dirty="0" smtClean="0"/>
              <a:t>SA</a:t>
            </a:r>
            <a:r>
              <a:rPr lang="zh-CN" altLang="en-US" dirty="0" smtClean="0"/>
              <a:t>应用识别只能在接入交换机上配置，且呈现的流入和流出流量均为相对于上报设备而言的流入流量和流出流量。</a:t>
            </a:r>
            <a:endParaRPr lang="en-US" altLang="zh-CN" dirty="0" smtClean="0"/>
          </a:p>
          <a:p>
            <a:r>
              <a:rPr lang="en-US" altLang="zh-CN" dirty="0" err="1" smtClean="0"/>
              <a:t>eMDI</a:t>
            </a:r>
            <a:r>
              <a:rPr lang="zh-CN" altLang="en-US" dirty="0" smtClean="0"/>
              <a:t>：</a:t>
            </a:r>
            <a:r>
              <a:rPr lang="en-US" altLang="zh-CN" dirty="0" smtClean="0"/>
              <a:t>Enhanced Media Delivery Index</a:t>
            </a:r>
            <a:r>
              <a:rPr lang="zh-CN" altLang="en-US" dirty="0" smtClean="0"/>
              <a:t>，增强媒体传输质量指标</a:t>
            </a:r>
            <a:endParaRPr lang="en-US" altLang="zh-CN" dirty="0" smtClean="0"/>
          </a:p>
          <a:p>
            <a:r>
              <a:rPr lang="en-US" altLang="zh-CN" dirty="0" smtClean="0"/>
              <a:t>RTP</a:t>
            </a:r>
            <a:r>
              <a:rPr lang="zh-CN" altLang="en-US" dirty="0" smtClean="0"/>
              <a:t>：</a:t>
            </a:r>
            <a:r>
              <a:rPr lang="en-US" altLang="zh-CN" dirty="0" smtClean="0"/>
              <a:t> Real-time Transport Protocol</a:t>
            </a:r>
            <a:r>
              <a:rPr lang="zh-CN" altLang="en-US" dirty="0" smtClean="0"/>
              <a:t>，实时传输协议</a:t>
            </a:r>
            <a:endParaRPr lang="en-US" altLang="zh-CN" dirty="0" smtClean="0"/>
          </a:p>
          <a:p>
            <a:r>
              <a:rPr lang="en-US" altLang="zh-CN" dirty="0" err="1" smtClean="0"/>
              <a:t>iPCA</a:t>
            </a:r>
            <a:r>
              <a:rPr lang="zh-CN" altLang="en-US" dirty="0" smtClean="0"/>
              <a:t>：</a:t>
            </a:r>
            <a:r>
              <a:rPr lang="en-US" altLang="zh-CN" dirty="0" smtClean="0"/>
              <a:t>Packet Conservation Algorithm for Internet</a:t>
            </a:r>
            <a:r>
              <a:rPr lang="zh-CN" altLang="en-US" dirty="0" smtClean="0"/>
              <a:t>，网络包守恒算法</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33937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endParaRPr lang="zh-CN" altLang="en-US" dirty="0"/>
          </a:p>
        </p:txBody>
      </p:sp>
    </p:spTree>
    <p:extLst>
      <p:ext uri="{BB962C8B-B14F-4D97-AF65-F5344CB8AC3E}">
        <p14:creationId xmlns:p14="http://schemas.microsoft.com/office/powerpoint/2010/main" val="32252960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endParaRPr lang="zh-CN" altLang="en-US" dirty="0"/>
          </a:p>
        </p:txBody>
      </p:sp>
    </p:spTree>
    <p:extLst>
      <p:ext uri="{BB962C8B-B14F-4D97-AF65-F5344CB8AC3E}">
        <p14:creationId xmlns:p14="http://schemas.microsoft.com/office/powerpoint/2010/main" val="17070947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在应用详情页，可查看应用体验感知和质差分析。</a:t>
            </a:r>
          </a:p>
          <a:p>
            <a:pPr lvl="1"/>
            <a:r>
              <a:rPr lang="zh-CN" altLang="en-US" dirty="0" smtClean="0"/>
              <a:t>质量概述：展示了该条会话的平均丢包率、平均抖动、乱序率、包速率、字节速率等指标。</a:t>
            </a:r>
          </a:p>
          <a:p>
            <a:pPr lvl="1"/>
            <a:r>
              <a:rPr lang="zh-CN" altLang="en-US" dirty="0" smtClean="0"/>
              <a:t>分析定界：如果在资源侧正确设置设备角色，以及开启设备</a:t>
            </a:r>
            <a:r>
              <a:rPr lang="en-US" altLang="zh-CN" dirty="0" smtClean="0"/>
              <a:t>LLDP</a:t>
            </a:r>
            <a:r>
              <a:rPr lang="zh-CN" altLang="en-US" dirty="0" smtClean="0"/>
              <a:t>链路发现配置，分析定界支持绘制该条会话从发起方到响应方的整条链路的全路径拓扑，可以看到会话经过</a:t>
            </a:r>
            <a:r>
              <a:rPr lang="en-US" altLang="zh-CN" dirty="0" smtClean="0"/>
              <a:t>AP</a:t>
            </a:r>
            <a:r>
              <a:rPr lang="zh-CN" altLang="en-US" dirty="0" smtClean="0"/>
              <a:t>、交换机、</a:t>
            </a:r>
            <a:r>
              <a:rPr lang="en-US" altLang="zh-CN" dirty="0" smtClean="0"/>
              <a:t>AC</a:t>
            </a:r>
            <a:r>
              <a:rPr lang="zh-CN" altLang="en-US" dirty="0" smtClean="0"/>
              <a:t>等设备，当某台设备出现问题时，该设备会被标红，显示为质差。</a:t>
            </a:r>
          </a:p>
          <a:p>
            <a:pPr lvl="1"/>
            <a:r>
              <a:rPr lang="zh-CN" altLang="en-US" dirty="0" smtClean="0"/>
              <a:t>应用质量</a:t>
            </a:r>
            <a:r>
              <a:rPr lang="en-US" altLang="zh-CN" dirty="0" smtClean="0"/>
              <a:t>/</a:t>
            </a:r>
            <a:r>
              <a:rPr lang="zh-CN" altLang="en-US" dirty="0" smtClean="0"/>
              <a:t>空口：单击某台设备可以看到在该条会话中，该设备的性能指标和空口</a:t>
            </a:r>
            <a:r>
              <a:rPr lang="en-US" altLang="zh-CN" dirty="0" smtClean="0"/>
              <a:t>/</a:t>
            </a:r>
            <a:r>
              <a:rPr lang="zh-CN" altLang="en-US" dirty="0" smtClean="0"/>
              <a:t>接口的性能指标。</a:t>
            </a:r>
            <a:endParaRPr lang="en-US" altLang="zh-CN" dirty="0" smtClean="0"/>
          </a:p>
          <a:p>
            <a:pPr lvl="2"/>
            <a:r>
              <a:rPr lang="zh-CN" altLang="en-US" dirty="0" smtClean="0"/>
              <a:t>设备的指标包括：</a:t>
            </a:r>
            <a:r>
              <a:rPr lang="en-US" altLang="zh-CN" dirty="0" smtClean="0"/>
              <a:t>MOS</a:t>
            </a:r>
            <a:r>
              <a:rPr lang="zh-CN" altLang="en-US" dirty="0" smtClean="0"/>
              <a:t>值、丢包率、最长持续丢包数、抖动、乱序率和劣化时间占比等指标。</a:t>
            </a:r>
            <a:endParaRPr lang="en-US" altLang="zh-CN" dirty="0" smtClean="0"/>
          </a:p>
          <a:p>
            <a:pPr lvl="2"/>
            <a:r>
              <a:rPr lang="zh-CN" altLang="en-US" dirty="0" smtClean="0"/>
              <a:t>空口</a:t>
            </a:r>
            <a:r>
              <a:rPr lang="en-US" altLang="zh-CN" dirty="0" smtClean="0"/>
              <a:t>/</a:t>
            </a:r>
            <a:r>
              <a:rPr lang="zh-CN" altLang="en-US" dirty="0" smtClean="0"/>
              <a:t>接口的性能指标包括：信号强度、信道利用率、干扰率、时延、重传率等指标。</a:t>
            </a:r>
          </a:p>
          <a:p>
            <a:pPr lvl="0"/>
            <a:r>
              <a:rPr lang="en-US" altLang="zh-CN" dirty="0" smtClean="0"/>
              <a:t>MOS</a:t>
            </a:r>
            <a:r>
              <a:rPr lang="zh-CN" altLang="en-US" dirty="0" smtClean="0"/>
              <a:t>：</a:t>
            </a:r>
            <a:r>
              <a:rPr lang="en-US" altLang="zh-CN" dirty="0" smtClean="0"/>
              <a:t>Mean Opinion Score</a:t>
            </a:r>
            <a:r>
              <a:rPr lang="zh-CN" altLang="en-US" dirty="0" smtClean="0"/>
              <a:t>，平均意见值。一种提供在线路终端（特别是以互联网为代表的语音通讯）的语音质量的量化测量的方法。</a:t>
            </a:r>
          </a:p>
          <a:p>
            <a:pPr lvl="0"/>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044573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p:txBody>
      </p:sp>
    </p:spTree>
    <p:extLst>
      <p:ext uri="{BB962C8B-B14F-4D97-AF65-F5344CB8AC3E}">
        <p14:creationId xmlns:p14="http://schemas.microsoft.com/office/powerpoint/2010/main" val="33329230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价值：</a:t>
            </a:r>
            <a:r>
              <a:rPr lang="en-US" altLang="zh-CN" dirty="0" err="1" smtClean="0"/>
              <a:t>CampusInsight</a:t>
            </a:r>
            <a:r>
              <a:rPr lang="zh-CN" altLang="en-US" dirty="0" smtClean="0"/>
              <a:t>的应用质量感知与故障定界功能，支持查看具体应用流的质量情况，对于出现质差的应用流，直接对问题进行定界，问题出现在园区内网络，可以根据丢包位置直接排障，问题出现在园区外网络，可以自证清白。 </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585910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65238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644472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09042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935622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018928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用户数量</a:t>
            </a:r>
            <a:r>
              <a:rPr lang="en-US" altLang="zh-CN" dirty="0" smtClean="0"/>
              <a:t>&amp;</a:t>
            </a:r>
            <a:r>
              <a:rPr lang="zh-CN" altLang="en-US" dirty="0" smtClean="0"/>
              <a:t>认证失败率统计分析：</a:t>
            </a:r>
            <a:endParaRPr lang="en-US" altLang="zh-CN" dirty="0" smtClean="0"/>
          </a:p>
          <a:p>
            <a:pPr marL="539954" lvl="1" indent="-179985" defTabSz="1219201">
              <a:defRPr/>
            </a:pPr>
            <a:r>
              <a:rPr lang="zh-CN" altLang="en-US" dirty="0" smtClean="0"/>
              <a:t>异常终端去噪：某些时段也出现认证失败率冲高，经分析为异常终端发起大量认证请求，失败率</a:t>
            </a:r>
            <a:r>
              <a:rPr lang="en-US" altLang="zh-CN" dirty="0" smtClean="0"/>
              <a:t>100%</a:t>
            </a:r>
            <a:r>
              <a:rPr lang="zh-CN" altLang="en-US" dirty="0" smtClean="0"/>
              <a:t>，此种场景非网络问题引起，噪声数据需要去除（用户回访，发现是新员工，未安装公司</a:t>
            </a:r>
            <a:r>
              <a:rPr lang="en-US" altLang="zh-CN" dirty="0" smtClean="0"/>
              <a:t>Wi-Fi</a:t>
            </a:r>
            <a:r>
              <a:rPr lang="zh-CN" altLang="en-US" dirty="0" smtClean="0"/>
              <a:t>证书，频繁重认证导致出现大量失败事件）。</a:t>
            </a:r>
          </a:p>
          <a:p>
            <a:pPr lvl="1"/>
            <a:r>
              <a:rPr lang="zh-CN" altLang="en-US" dirty="0" smtClean="0"/>
              <a:t>智能识别“双高”故障：早上</a:t>
            </a:r>
            <a:r>
              <a:rPr lang="en-US" altLang="zh-CN" dirty="0" smtClean="0"/>
              <a:t>6</a:t>
            </a:r>
            <a:r>
              <a:rPr lang="zh-CN" altLang="en-US" dirty="0" smtClean="0"/>
              <a:t>点，无线接入用户数突增时，认证失败率冲高到</a:t>
            </a:r>
            <a:r>
              <a:rPr lang="en-US" altLang="zh-CN" dirty="0" smtClean="0"/>
              <a:t>30%</a:t>
            </a:r>
            <a:r>
              <a:rPr lang="zh-CN" altLang="en-US" dirty="0" smtClean="0"/>
              <a:t>（</a:t>
            </a:r>
            <a:r>
              <a:rPr lang="en-US" altLang="zh-CN" dirty="0" smtClean="0"/>
              <a:t>RADIUS</a:t>
            </a:r>
            <a:r>
              <a:rPr lang="zh-CN" altLang="en-US" dirty="0" smtClean="0"/>
              <a:t>服务器性能问题无法及时响应认证请求），出现典型的“双高”现象，表明大量用户出现认证失败，即出现群体性故障。</a:t>
            </a:r>
          </a:p>
          <a:p>
            <a:pPr lvl="1"/>
            <a:r>
              <a:rPr lang="zh-CN" altLang="en-US" dirty="0" smtClean="0"/>
              <a:t>失败事件非故障：由于无线用户接入的不稳定性（用户移动，经过盲区等），各个时段用户认证失败现象持续存在，但不影响用户实际体验，自动重新接入后即恢复正常。</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828486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08102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411194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可能原因和建议：</a:t>
            </a:r>
            <a:endParaRPr lang="en-US" altLang="zh-CN" smtClean="0"/>
          </a:p>
          <a:p>
            <a:pPr lvl="1"/>
            <a:r>
              <a:rPr lang="zh-CN" altLang="en-US" smtClean="0"/>
              <a:t>分析器给出问题的可能原因是</a:t>
            </a:r>
            <a:r>
              <a:rPr lang="en-US" altLang="zh-CN" smtClean="0"/>
              <a:t>AP</a:t>
            </a:r>
            <a:r>
              <a:rPr lang="zh-CN" altLang="en-US" smtClean="0"/>
              <a:t>射频功率配置过大，建议降低对应功率配置。</a:t>
            </a:r>
          </a:p>
          <a:p>
            <a:r>
              <a:rPr lang="zh-CN" altLang="en-US" smtClean="0"/>
              <a:t>价值：</a:t>
            </a:r>
            <a:endParaRPr lang="en-US" altLang="zh-CN" smtClean="0"/>
          </a:p>
          <a:p>
            <a:pPr lvl="1"/>
            <a:r>
              <a:rPr lang="zh-CN" altLang="en-US" smtClean="0"/>
              <a:t>弱信号覆盖是很常见的一种</a:t>
            </a:r>
            <a:r>
              <a:rPr lang="en-US" altLang="zh-CN" smtClean="0"/>
              <a:t>Wi-Fi</a:t>
            </a:r>
            <a:r>
              <a:rPr lang="zh-CN" altLang="en-US" smtClean="0"/>
              <a:t>网络问题，由于网规不合理、配置不合理等原因，造成大部分接入用户的信号很差，</a:t>
            </a:r>
            <a:r>
              <a:rPr lang="en-US" altLang="zh-CN" smtClean="0"/>
              <a:t>Wi-Fi</a:t>
            </a:r>
            <a:r>
              <a:rPr lang="zh-CN" altLang="en-US" smtClean="0"/>
              <a:t>体验下降。</a:t>
            </a:r>
            <a:r>
              <a:rPr lang="en-US" altLang="zh-CN" smtClean="0"/>
              <a:t>CampusInsight</a:t>
            </a:r>
            <a:r>
              <a:rPr lang="zh-CN" altLang="en-US" smtClean="0"/>
              <a:t>能够自动识别这种问题，通过用户</a:t>
            </a:r>
            <a:r>
              <a:rPr lang="en-US" altLang="zh-CN" smtClean="0"/>
              <a:t>RSSI</a:t>
            </a:r>
            <a:r>
              <a:rPr lang="zh-CN" altLang="en-US" smtClean="0"/>
              <a:t>模式、射频功率等指标辅助分析，给出问题的原因和修复建议。</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813951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888732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92812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577439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956427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268128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651771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19756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根因分析：</a:t>
            </a:r>
          </a:p>
          <a:p>
            <a:pPr lvl="1"/>
            <a:r>
              <a:rPr lang="zh-CN" altLang="en-US" dirty="0" smtClean="0"/>
              <a:t>链路两端配置检查：检查是否因为链路两端配置（协商速率等）不一致导致错包。</a:t>
            </a:r>
          </a:p>
          <a:p>
            <a:pPr lvl="1"/>
            <a:r>
              <a:rPr lang="zh-CN" altLang="en-US" dirty="0" smtClean="0"/>
              <a:t>端口线缆检测：引导用户进行端口线缆测试，确认线缆是否老化，内部串扰导致误包。</a:t>
            </a:r>
          </a:p>
          <a:p>
            <a:endParaRPr lang="zh-CN" altLang="en-US" dirty="0" smtClean="0"/>
          </a:p>
          <a:p>
            <a:endParaRPr lang="zh-CN" altLang="en-US" dirty="0"/>
          </a:p>
        </p:txBody>
      </p:sp>
    </p:spTree>
    <p:extLst>
      <p:ext uri="{BB962C8B-B14F-4D97-AF65-F5344CB8AC3E}">
        <p14:creationId xmlns:p14="http://schemas.microsoft.com/office/powerpoint/2010/main" val="17864690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077386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价值：</a:t>
            </a:r>
            <a:r>
              <a:rPr lang="en-US" altLang="zh-CN" dirty="0" err="1" smtClean="0"/>
              <a:t>CampusInsight</a:t>
            </a:r>
            <a:r>
              <a:rPr lang="zh-CN" altLang="en-US" dirty="0" smtClean="0"/>
              <a:t>基于端口持续监测误包数，基于动态基线识别误包数的异常增长自动生成</a:t>
            </a:r>
            <a:r>
              <a:rPr lang="en-US" altLang="zh-CN" dirty="0" smtClean="0"/>
              <a:t>Issue</a:t>
            </a:r>
            <a:r>
              <a:rPr lang="zh-CN" altLang="en-US" dirty="0" smtClean="0"/>
              <a:t>，及时准确识别网络中的误包问题，结合专家经验给出合理修复建议。</a:t>
            </a:r>
          </a:p>
          <a:p>
            <a:endParaRPr lang="zh-CN" altLang="en-US" dirty="0"/>
          </a:p>
        </p:txBody>
      </p:sp>
    </p:spTree>
    <p:extLst>
      <p:ext uri="{BB962C8B-B14F-4D97-AF65-F5344CB8AC3E}">
        <p14:creationId xmlns:p14="http://schemas.microsoft.com/office/powerpoint/2010/main" val="330906131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827752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857567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价值：</a:t>
            </a:r>
            <a:r>
              <a:rPr lang="en-US" altLang="zh-CN" dirty="0" err="1" smtClean="0"/>
              <a:t>CampusInsight</a:t>
            </a:r>
            <a:r>
              <a:rPr lang="zh-CN" altLang="en-US" dirty="0" smtClean="0"/>
              <a:t>持续监测每个端口的</a:t>
            </a:r>
            <a:r>
              <a:rPr lang="en-US" altLang="zh-CN" dirty="0" smtClean="0"/>
              <a:t>Down</a:t>
            </a:r>
            <a:r>
              <a:rPr lang="zh-CN" altLang="en-US" dirty="0" smtClean="0"/>
              <a:t>事件，如果端口一段时间内持续出现端口断开，及时准确识别网络中端口闪断问题，结合专家经验给出合理修复建议。</a:t>
            </a:r>
          </a:p>
          <a:p>
            <a:endParaRPr lang="zh-CN" altLang="en-US" dirty="0"/>
          </a:p>
        </p:txBody>
      </p:sp>
    </p:spTree>
    <p:extLst>
      <p:ext uri="{BB962C8B-B14F-4D97-AF65-F5344CB8AC3E}">
        <p14:creationId xmlns:p14="http://schemas.microsoft.com/office/powerpoint/2010/main" val="38481521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157332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仿真反馈：基于</a:t>
            </a:r>
            <a:r>
              <a:rPr lang="en-US" altLang="zh-CN" dirty="0" smtClean="0"/>
              <a:t>AP</a:t>
            </a:r>
            <a:r>
              <a:rPr lang="zh-CN" altLang="en-US" dirty="0" smtClean="0"/>
              <a:t>的射频和邻居数据，评估射频得分和待提升</a:t>
            </a:r>
            <a:r>
              <a:rPr lang="en-US" altLang="zh-CN" dirty="0" smtClean="0"/>
              <a:t>AP</a:t>
            </a:r>
            <a:r>
              <a:rPr lang="zh-CN" altLang="en-US" dirty="0" smtClean="0"/>
              <a:t>数量，并通过</a:t>
            </a:r>
            <a:r>
              <a:rPr lang="en-US" altLang="zh-CN" dirty="0" smtClean="0"/>
              <a:t>AI</a:t>
            </a:r>
            <a:r>
              <a:rPr lang="zh-CN" altLang="en-US" dirty="0" smtClean="0"/>
              <a:t>算法实时仿真优化效果，并给出信道调整建议。使用此功能的</a:t>
            </a:r>
            <a:r>
              <a:rPr lang="en-US" altLang="zh-CN" dirty="0" smtClean="0"/>
              <a:t>AP</a:t>
            </a:r>
            <a:r>
              <a:rPr lang="zh-CN" altLang="en-US" dirty="0" smtClean="0"/>
              <a:t>必须在楼层中。</a:t>
            </a:r>
            <a:endParaRPr lang="en-US" altLang="zh-CN" dirty="0" smtClean="0"/>
          </a:p>
          <a:p>
            <a:r>
              <a:rPr lang="zh-CN" altLang="en-US" dirty="0" smtClean="0"/>
              <a:t>智能无线射频调优：基于历史大数据，运用</a:t>
            </a:r>
            <a:r>
              <a:rPr lang="en-US" altLang="zh-CN" dirty="0" smtClean="0"/>
              <a:t>AI</a:t>
            </a:r>
            <a:r>
              <a:rPr lang="zh-CN" altLang="en-US" dirty="0" smtClean="0"/>
              <a:t>算法分析，网络设备根据调优策略定期请求大数据及分析结果，进行智能无线射频调优。</a:t>
            </a:r>
          </a:p>
          <a:p>
            <a:endParaRPr lang="zh-CN" altLang="en-US" dirty="0"/>
          </a:p>
        </p:txBody>
      </p:sp>
    </p:spTree>
    <p:extLst>
      <p:ext uri="{BB962C8B-B14F-4D97-AF65-F5344CB8AC3E}">
        <p14:creationId xmlns:p14="http://schemas.microsoft.com/office/powerpoint/2010/main" val="21773546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761959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8630408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8647878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价值：智能无线射频调优基于系统持续采集的真实用户的海量数据信息，运算</a:t>
            </a:r>
            <a:r>
              <a:rPr lang="en-US" altLang="zh-CN" dirty="0" smtClean="0"/>
              <a:t>AI</a:t>
            </a:r>
            <a:r>
              <a:rPr lang="zh-CN" altLang="en-US" dirty="0" smtClean="0"/>
              <a:t>算法智能识别系统中“高负载</a:t>
            </a:r>
            <a:r>
              <a:rPr lang="en-US" altLang="zh-CN" dirty="0" smtClean="0"/>
              <a:t>AP</a:t>
            </a:r>
            <a:r>
              <a:rPr lang="zh-CN" altLang="en-US" dirty="0" smtClean="0"/>
              <a:t>”、“边缘</a:t>
            </a:r>
            <a:r>
              <a:rPr lang="en-US" altLang="zh-CN" dirty="0" smtClean="0"/>
              <a:t>AP</a:t>
            </a:r>
            <a:r>
              <a:rPr lang="zh-CN" altLang="en-US" dirty="0" smtClean="0"/>
              <a:t>”，提供决策数据进行差异化的系统调优，实现真正意义上的网随人动。</a:t>
            </a:r>
          </a:p>
          <a:p>
            <a:endParaRPr lang="zh-CN" altLang="en-US" dirty="0"/>
          </a:p>
        </p:txBody>
      </p:sp>
    </p:spTree>
    <p:extLst>
      <p:ext uri="{BB962C8B-B14F-4D97-AF65-F5344CB8AC3E}">
        <p14:creationId xmlns:p14="http://schemas.microsoft.com/office/powerpoint/2010/main" val="10201821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07080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说明：</a:t>
            </a:r>
            <a:endParaRPr lang="en-US" altLang="zh-CN" smtClean="0"/>
          </a:p>
          <a:p>
            <a:pPr lvl="1"/>
            <a:r>
              <a:rPr lang="zh-CN" altLang="en-US" smtClean="0"/>
              <a:t>本版本仅支持无线</a:t>
            </a:r>
            <a:r>
              <a:rPr lang="en-US" altLang="zh-CN" smtClean="0"/>
              <a:t>RSSI</a:t>
            </a:r>
            <a:r>
              <a:rPr lang="zh-CN" altLang="en-US" smtClean="0"/>
              <a:t>网络侧定位，不支持其他的定位方式；     </a:t>
            </a:r>
            <a:endParaRPr lang="en-US" altLang="zh-CN" smtClean="0"/>
          </a:p>
          <a:p>
            <a:pPr lvl="1"/>
            <a:r>
              <a:rPr lang="zh-CN" altLang="en-US" smtClean="0"/>
              <a:t>无线定位仅支持室内定位场景，不支持室外定位无线定位；</a:t>
            </a:r>
            <a:endParaRPr lang="en-US" altLang="zh-CN" smtClean="0"/>
          </a:p>
          <a:p>
            <a:pPr lvl="1"/>
            <a:r>
              <a:rPr lang="zh-CN" altLang="en-US" smtClean="0"/>
              <a:t>定位精度：</a:t>
            </a:r>
            <a:r>
              <a:rPr lang="en-US" altLang="zh-CN" smtClean="0"/>
              <a:t>10</a:t>
            </a:r>
            <a:r>
              <a:rPr lang="zh-CN" altLang="en-US" smtClean="0"/>
              <a:t>米以内，</a:t>
            </a:r>
            <a:r>
              <a:rPr lang="en-US" altLang="zh-CN" smtClean="0"/>
              <a:t>60%</a:t>
            </a:r>
            <a:r>
              <a:rPr lang="zh-CN" altLang="en-US" smtClean="0"/>
              <a:t>精确度（独立射频扫描），</a:t>
            </a:r>
            <a:r>
              <a:rPr lang="en-US" altLang="zh-CN" smtClean="0"/>
              <a:t>50%</a:t>
            </a:r>
            <a:r>
              <a:rPr lang="zh-CN" altLang="en-US" smtClean="0"/>
              <a:t>精确度（非独立射频扫描）；</a:t>
            </a:r>
            <a:endParaRPr lang="en-US" altLang="zh-CN" smtClean="0"/>
          </a:p>
          <a:p>
            <a:pPr lvl="1"/>
            <a:r>
              <a:rPr lang="zh-CN" altLang="en-US" smtClean="0"/>
              <a:t>无线定位相关数据最长保存时间为</a:t>
            </a:r>
            <a:r>
              <a:rPr lang="en-US" altLang="zh-CN" smtClean="0"/>
              <a:t>7</a:t>
            </a:r>
            <a:r>
              <a:rPr lang="zh-CN" altLang="en-US" smtClean="0"/>
              <a:t>天。</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935561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1138846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538384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CampusInsight</a:t>
            </a:r>
            <a:r>
              <a:rPr lang="zh-CN" altLang="en-US" smtClean="0"/>
              <a:t>支持热力图、终端位置及行走路径呈现：</a:t>
            </a:r>
          </a:p>
          <a:p>
            <a:pPr lvl="1"/>
            <a:r>
              <a:rPr lang="zh-CN" altLang="en-US" smtClean="0"/>
              <a:t>支持基于指定时间段，呈现人流分布热力图；</a:t>
            </a:r>
          </a:p>
          <a:p>
            <a:pPr lvl="1"/>
            <a:r>
              <a:rPr lang="zh-CN" altLang="en-US" smtClean="0"/>
              <a:t>支持查看开启</a:t>
            </a:r>
            <a:r>
              <a:rPr lang="en-US" altLang="zh-CN" smtClean="0"/>
              <a:t>Wi-Fi</a:t>
            </a:r>
            <a:r>
              <a:rPr lang="zh-CN" altLang="en-US" smtClean="0"/>
              <a:t>的所有终端位置、单个用户的位置</a:t>
            </a:r>
            <a:r>
              <a:rPr lang="en-US" altLang="zh-CN" smtClean="0"/>
              <a:t>/</a:t>
            </a:r>
            <a:r>
              <a:rPr lang="zh-CN" altLang="en-US" smtClean="0"/>
              <a:t>指定时间段的行走路径；</a:t>
            </a:r>
          </a:p>
          <a:p>
            <a:pPr lvl="1"/>
            <a:r>
              <a:rPr lang="zh-CN" altLang="en-US" smtClean="0"/>
              <a:t>支持终端</a:t>
            </a:r>
            <a:r>
              <a:rPr lang="en-US" altLang="zh-CN" smtClean="0"/>
              <a:t>MAC</a:t>
            </a:r>
            <a:r>
              <a:rPr lang="zh-CN" altLang="en-US" smtClean="0"/>
              <a:t>匿名化。</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386820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594378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7548811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228580" indent="-228580">
              <a:buFont typeface="+mj-lt"/>
              <a:buAutoNum type="arabicPeriod"/>
            </a:pPr>
            <a:r>
              <a:rPr lang="en-US" altLang="zh-CN" dirty="0" smtClean="0"/>
              <a:t>ABCD</a:t>
            </a:r>
            <a:endParaRPr lang="zh-CN" altLang="en-US" dirty="0"/>
          </a:p>
        </p:txBody>
      </p:sp>
    </p:spTree>
    <p:extLst>
      <p:ext uri="{BB962C8B-B14F-4D97-AF65-F5344CB8AC3E}">
        <p14:creationId xmlns:p14="http://schemas.microsoft.com/office/powerpoint/2010/main" val="124786166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6858453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47625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23839051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9905366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52802474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smtClean="0"/>
          </a:p>
          <a:p>
            <a:pPr lvl="1"/>
            <a:endParaRPr lang="en-US" altLang="zh-CN" dirty="0" smtClean="0"/>
          </a:p>
        </p:txBody>
      </p:sp>
      <p:cxnSp>
        <p:nvCxnSpPr>
          <p:cNvPr id="2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xmlns=""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96367409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052420443"/>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0235690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5263851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01019123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3" y="1484312"/>
            <a:ext cx="11256962"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3" y="1047750"/>
            <a:ext cx="11256962"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51364381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82608444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54669"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570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378" userDrawn="1">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279"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5.xml"/><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5.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5.png"/><Relationship Id="rId7"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58.png"/><Relationship Id="rId11" Type="http://schemas.openxmlformats.org/officeDocument/2006/relationships/image" Target="../media/image59.png"/><Relationship Id="rId5" Type="http://schemas.openxmlformats.org/officeDocument/2006/relationships/image" Target="../media/image57.png"/><Relationship Id="rId10" Type="http://schemas.openxmlformats.org/officeDocument/2006/relationships/image" Target="../media/image21.png"/><Relationship Id="rId4" Type="http://schemas.openxmlformats.org/officeDocument/2006/relationships/image" Target="../media/image56.jpg"/><Relationship Id="rId9"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2.xml"/><Relationship Id="rId1" Type="http://schemas.openxmlformats.org/officeDocument/2006/relationships/slideLayout" Target="../slideLayouts/slideLayout15.xml"/><Relationship Id="rId5" Type="http://schemas.openxmlformats.org/officeDocument/2006/relationships/image" Target="../media/image63.png"/><Relationship Id="rId4" Type="http://schemas.openxmlformats.org/officeDocument/2006/relationships/image" Target="../media/image62.png"/></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6.xml"/><Relationship Id="rId1" Type="http://schemas.openxmlformats.org/officeDocument/2006/relationships/slideLayout" Target="../slideLayouts/slideLayout1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15.xml"/><Relationship Id="rId5" Type="http://schemas.openxmlformats.org/officeDocument/2006/relationships/image" Target="../media/image73.png"/><Relationship Id="rId4" Type="http://schemas.openxmlformats.org/officeDocument/2006/relationships/image" Target="../media/image72.png"/></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77.png"/></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4.xml"/><Relationship Id="rId1" Type="http://schemas.openxmlformats.org/officeDocument/2006/relationships/slideLayout" Target="../slideLayouts/slideLayout15.xml"/><Relationship Id="rId5" Type="http://schemas.openxmlformats.org/officeDocument/2006/relationships/image" Target="../media/image82.png"/><Relationship Id="rId4" Type="http://schemas.openxmlformats.org/officeDocument/2006/relationships/image" Target="../media/image81.png"/></Relationships>
</file>

<file path=ppt/slides/_rels/slide5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8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9.xml"/><Relationship Id="rId1" Type="http://schemas.openxmlformats.org/officeDocument/2006/relationships/slideLayout" Target="../slideLayouts/slideLayout15.xml"/><Relationship Id="rId5" Type="http://schemas.openxmlformats.org/officeDocument/2006/relationships/image" Target="../media/image87.png"/><Relationship Id="rId4" Type="http://schemas.openxmlformats.org/officeDocument/2006/relationships/image" Target="../media/image86.png"/></Relationships>
</file>

<file path=ppt/slides/_rels/slide6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0.xml"/><Relationship Id="rId1" Type="http://schemas.openxmlformats.org/officeDocument/2006/relationships/slideLayout" Target="../slideLayouts/slideLayout15.xml"/><Relationship Id="rId5" Type="http://schemas.openxmlformats.org/officeDocument/2006/relationships/image" Target="../media/image90.png"/><Relationship Id="rId4" Type="http://schemas.openxmlformats.org/officeDocument/2006/relationships/image" Target="../media/image89.png"/></Relationships>
</file>

<file path=ppt/slides/_rels/slide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1.xml"/><Relationship Id="rId1" Type="http://schemas.openxmlformats.org/officeDocument/2006/relationships/slideLayout" Target="../slideLayouts/slideLayout15.xml"/><Relationship Id="rId5" Type="http://schemas.openxmlformats.org/officeDocument/2006/relationships/image" Target="../media/image93.png"/><Relationship Id="rId4" Type="http://schemas.openxmlformats.org/officeDocument/2006/relationships/image" Target="../media/image92.png"/></Relationships>
</file>

<file path=ppt/slides/_rels/slide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3.xml"/><Relationship Id="rId1" Type="http://schemas.openxmlformats.org/officeDocument/2006/relationships/slideLayout" Target="../slideLayouts/slideLayout15.xml"/><Relationship Id="rId5" Type="http://schemas.openxmlformats.org/officeDocument/2006/relationships/image" Target="../media/image97.png"/><Relationship Id="rId4" Type="http://schemas.openxmlformats.org/officeDocument/2006/relationships/image" Target="../media/image96.png"/></Relationships>
</file>

<file path=ppt/slides/_rels/slide6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7.xml"/><Relationship Id="rId1" Type="http://schemas.openxmlformats.org/officeDocument/2006/relationships/slideLayout" Target="../slideLayouts/slideLayout15.xml"/><Relationship Id="rId5" Type="http://schemas.openxmlformats.org/officeDocument/2006/relationships/image" Target="../media/image101.png"/><Relationship Id="rId4" Type="http://schemas.openxmlformats.org/officeDocument/2006/relationships/image" Target="../media/image100.png"/></Relationships>
</file>

<file path=ppt/slides/_rels/slide6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8.xml"/><Relationship Id="rId1" Type="http://schemas.openxmlformats.org/officeDocument/2006/relationships/slideLayout" Target="../slideLayouts/slideLayout15.xml"/><Relationship Id="rId5" Type="http://schemas.openxmlformats.org/officeDocument/2006/relationships/image" Target="../media/image104.png"/><Relationship Id="rId4" Type="http://schemas.openxmlformats.org/officeDocument/2006/relationships/image" Target="../media/image103.png"/></Relationships>
</file>

<file path=ppt/slides/_rels/slide6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3.xml"/><Relationship Id="rId1" Type="http://schemas.openxmlformats.org/officeDocument/2006/relationships/slideLayout" Target="../slideLayouts/slideLayout15.xml"/><Relationship Id="rId4" Type="http://schemas.openxmlformats.org/officeDocument/2006/relationships/image" Target="../media/image110.png"/></Relationships>
</file>

<file path=ppt/slides/_rels/slide74.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74.xml"/><Relationship Id="rId1" Type="http://schemas.openxmlformats.org/officeDocument/2006/relationships/slideLayout" Target="../slideLayouts/slideLayout15.xml"/><Relationship Id="rId4" Type="http://schemas.openxmlformats.org/officeDocument/2006/relationships/image" Target="../media/image111.JPG"/></Relationships>
</file>

<file path=ppt/slides/_rels/slide75.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75.xml"/><Relationship Id="rId1" Type="http://schemas.openxmlformats.org/officeDocument/2006/relationships/slideLayout" Target="../slideLayouts/slideLayout15.xml"/><Relationship Id="rId4" Type="http://schemas.openxmlformats.org/officeDocument/2006/relationships/image" Target="../media/image113.JPG"/></Relationships>
</file>

<file path=ppt/slides/_rels/slide7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76.xml"/><Relationship Id="rId1" Type="http://schemas.openxmlformats.org/officeDocument/2006/relationships/slideLayout" Target="../slideLayouts/slideLayout15.xml"/><Relationship Id="rId4" Type="http://schemas.openxmlformats.org/officeDocument/2006/relationships/image" Target="../media/image115.png"/></Relationships>
</file>

<file path=ppt/slides/_rels/slide7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7.xml"/><Relationship Id="rId1" Type="http://schemas.openxmlformats.org/officeDocument/2006/relationships/slideLayout" Target="../slideLayouts/slideLayout15.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82.xml"/><Relationship Id="rId1" Type="http://schemas.openxmlformats.org/officeDocument/2006/relationships/slideLayout" Target="../slideLayouts/slideLayout15.xml"/><Relationship Id="rId5" Type="http://schemas.openxmlformats.org/officeDocument/2006/relationships/image" Target="../media/image123.png"/><Relationship Id="rId4" Type="http://schemas.openxmlformats.org/officeDocument/2006/relationships/image" Target="../media/image122.png"/></Relationships>
</file>

<file path=ppt/slides/_rels/slide8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83.xml"/><Relationship Id="rId1" Type="http://schemas.openxmlformats.org/officeDocument/2006/relationships/slideLayout" Target="../slideLayouts/slideLayout15.xml"/><Relationship Id="rId4" Type="http://schemas.openxmlformats.org/officeDocument/2006/relationships/image" Target="../media/image125.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10.png"/><Relationship Id="rId3" Type="http://schemas.openxmlformats.org/officeDocument/2006/relationships/notesSlide" Target="../notesSlides/notesSlide85.xml"/><Relationship Id="rId7" Type="http://schemas.openxmlformats.org/officeDocument/2006/relationships/image" Target="../media/image128.png"/><Relationship Id="rId12" Type="http://schemas.openxmlformats.org/officeDocument/2006/relationships/image" Target="../media/image132.png"/><Relationship Id="rId2" Type="http://schemas.openxmlformats.org/officeDocument/2006/relationships/slideLayout" Target="../slideLayouts/slideLayout15.xml"/><Relationship Id="rId1" Type="http://schemas.openxmlformats.org/officeDocument/2006/relationships/tags" Target="../tags/tag1.xml"/><Relationship Id="rId6" Type="http://schemas.microsoft.com/office/2007/relationships/hdphoto" Target="../media/hdphoto2.wdp"/><Relationship Id="rId11" Type="http://schemas.openxmlformats.org/officeDocument/2006/relationships/image" Target="../media/image131.png"/><Relationship Id="rId5" Type="http://schemas.openxmlformats.org/officeDocument/2006/relationships/image" Target="../media/image127.png"/><Relationship Id="rId15" Type="http://schemas.openxmlformats.org/officeDocument/2006/relationships/image" Target="../media/image20.png"/><Relationship Id="rId10" Type="http://schemas.openxmlformats.org/officeDocument/2006/relationships/image" Target="../media/image130.png"/><Relationship Id="rId4" Type="http://schemas.openxmlformats.org/officeDocument/2006/relationships/image" Target="../media/image126.png"/><Relationship Id="rId9" Type="http://schemas.openxmlformats.org/officeDocument/2006/relationships/image" Target="../media/image129.png"/><Relationship Id="rId14" Type="http://schemas.openxmlformats.org/officeDocument/2006/relationships/image" Target="../media/image9.png"/></Relationships>
</file>

<file path=ppt/slides/_rels/slide8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7.xml"/><Relationship Id="rId1" Type="http://schemas.openxmlformats.org/officeDocument/2006/relationships/slideLayout" Target="../slideLayouts/slideLayout15.xml"/><Relationship Id="rId4" Type="http://schemas.openxmlformats.org/officeDocument/2006/relationships/image" Target="../media/image134.png"/></Relationships>
</file>

<file path=ppt/slides/_rels/slide8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88.xml"/><Relationship Id="rId1" Type="http://schemas.openxmlformats.org/officeDocument/2006/relationships/slideLayout" Target="../slideLayouts/slideLayout15.xml"/><Relationship Id="rId4" Type="http://schemas.openxmlformats.org/officeDocument/2006/relationships/image" Target="../media/image136.png"/></Relationships>
</file>

<file path=ppt/slides/_rels/slide89.xml.rels><?xml version="1.0" encoding="UTF-8" standalone="yes"?>
<Relationships xmlns="http://schemas.openxmlformats.org/package/2006/relationships"><Relationship Id="rId3" Type="http://schemas.openxmlformats.org/officeDocument/2006/relationships/image" Target="../media/image137.JPG"/><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138.JPG"/><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文本占位符 7"/>
          <p:cNvSpPr>
            <a:spLocks noGrp="1"/>
          </p:cNvSpPr>
          <p:nvPr>
            <p:ph type="body" sz="quarter" idx="17"/>
          </p:nvPr>
        </p:nvSpPr>
        <p:spPr/>
        <p:txBody>
          <a:bodyPr/>
          <a:lstStyle/>
          <a:p>
            <a:endParaRPr lang="zh-CN" altLang="en-US">
              <a:sym typeface="Huawei Sans" panose="020C0503030203020204" pitchFamily="34" charset="0"/>
            </a:endParaRPr>
          </a:p>
        </p:txBody>
      </p:sp>
      <p:sp>
        <p:nvSpPr>
          <p:cNvPr id="9" name="文本占位符 8"/>
          <p:cNvSpPr>
            <a:spLocks noGrp="1"/>
          </p:cNvSpPr>
          <p:nvPr>
            <p:ph type="body" sz="quarter" idx="18"/>
          </p:nvPr>
        </p:nvSpPr>
        <p:spPr/>
        <p:txBody>
          <a:bodyPr/>
          <a:lstStyle/>
          <a:p>
            <a:r>
              <a:rPr lang="en-US" altLang="zh-CN" dirty="0" err="1" smtClean="0">
                <a:sym typeface="Huawei Sans" panose="020C0503030203020204" pitchFamily="34" charset="0"/>
              </a:rPr>
              <a:t>Datacom</a:t>
            </a:r>
            <a:endParaRPr lang="zh-CN" altLang="en-US" dirty="0">
              <a:sym typeface="Huawei Sans" panose="020C0503030203020204" pitchFamily="34" charset="0"/>
            </a:endParaRPr>
          </a:p>
        </p:txBody>
      </p:sp>
      <p:sp>
        <p:nvSpPr>
          <p:cNvPr id="10" name="文本占位符 9"/>
          <p:cNvSpPr>
            <a:spLocks noGrp="1"/>
          </p:cNvSpPr>
          <p:nvPr>
            <p:ph type="body" sz="quarter" idx="19"/>
          </p:nvPr>
        </p:nvSpPr>
        <p:spPr/>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11" name="文本占位符 10"/>
          <p:cNvSpPr>
            <a:spLocks noGrp="1"/>
          </p:cNvSpPr>
          <p:nvPr>
            <p:ph type="body" sz="quarter" idx="20"/>
          </p:nvPr>
        </p:nvSpPr>
        <p:spPr/>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4" name="文本占位符 3"/>
          <p:cNvSpPr>
            <a:spLocks noGrp="1"/>
          </p:cNvSpPr>
          <p:nvPr>
            <p:ph type="body" sz="quarter" idx="13"/>
          </p:nvPr>
        </p:nvSpPr>
        <p:spPr/>
        <p:txBody>
          <a:bodyPr/>
          <a:lstStyle/>
          <a:p>
            <a:r>
              <a:rPr lang="zh-CN" altLang="en-US" dirty="0" smtClean="0">
                <a:sym typeface="Huawei Sans" panose="020C0503030203020204" pitchFamily="34" charset="0"/>
              </a:rPr>
              <a:t>卢玥玥</a:t>
            </a:r>
            <a:r>
              <a:rPr lang="en-US" altLang="zh-CN" dirty="0" smtClean="0">
                <a:sym typeface="Huawei Sans" panose="020C0503030203020204" pitchFamily="34" charset="0"/>
              </a:rPr>
              <a:t>/WX445705</a:t>
            </a:r>
            <a:endParaRPr lang="zh-CN" altLang="en-US" dirty="0">
              <a:sym typeface="Huawei Sans" panose="020C0503030203020204" pitchFamily="34" charset="0"/>
            </a:endParaRPr>
          </a:p>
        </p:txBody>
      </p:sp>
      <p:sp>
        <p:nvSpPr>
          <p:cNvPr id="5" name="文本占位符 4"/>
          <p:cNvSpPr>
            <a:spLocks noGrp="1"/>
          </p:cNvSpPr>
          <p:nvPr>
            <p:ph type="body" sz="quarter" idx="14"/>
          </p:nvPr>
        </p:nvSpPr>
        <p:spPr/>
        <p:txBody>
          <a:bodyPr/>
          <a:lstStyle/>
          <a:p>
            <a:r>
              <a:rPr lang="en-US" altLang="zh-CN" dirty="0" smtClean="0">
                <a:sym typeface="Huawei Sans" panose="020C0503030203020204" pitchFamily="34" charset="0"/>
              </a:rPr>
              <a:t>2020.12.15</a:t>
            </a:r>
            <a:endParaRPr lang="zh-CN" altLang="en-US" dirty="0">
              <a:sym typeface="Huawei Sans" panose="020C0503030203020204" pitchFamily="34" charset="0"/>
            </a:endParaRPr>
          </a:p>
        </p:txBody>
      </p:sp>
      <p:sp>
        <p:nvSpPr>
          <p:cNvPr id="6" name="文本占位符 5"/>
          <p:cNvSpPr>
            <a:spLocks noGrp="1"/>
          </p:cNvSpPr>
          <p:nvPr>
            <p:ph type="body" sz="quarter" idx="15"/>
          </p:nvPr>
        </p:nvSpPr>
        <p:spPr/>
        <p:txBody>
          <a:bodyPr/>
          <a:lstStyle/>
          <a:p>
            <a:r>
              <a:rPr lang="zh-CN" altLang="en-US" dirty="0" smtClean="0">
                <a:sym typeface="Huawei Sans" panose="020C0503030203020204" pitchFamily="34" charset="0"/>
              </a:rPr>
              <a:t>朱仕耿</a:t>
            </a:r>
            <a:r>
              <a:rPr lang="en-US" altLang="zh-CN" dirty="0" smtClean="0">
                <a:sym typeface="Huawei Sans" panose="020C0503030203020204" pitchFamily="34" charset="0"/>
              </a:rPr>
              <a:t>/00261992</a:t>
            </a:r>
            <a:endParaRPr lang="zh-CN" altLang="en-US" dirty="0">
              <a:sym typeface="Huawei Sans" panose="020C0503030203020204" pitchFamily="34" charset="0"/>
            </a:endParaRPr>
          </a:p>
        </p:txBody>
      </p:sp>
      <p:sp>
        <p:nvSpPr>
          <p:cNvPr id="7" name="文本占位符 6"/>
          <p:cNvSpPr>
            <a:spLocks noGrp="1"/>
          </p:cNvSpPr>
          <p:nvPr>
            <p:ph type="body" sz="quarter" idx="16"/>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12" name="文本占位符 11"/>
          <p:cNvSpPr>
            <a:spLocks noGrp="1"/>
          </p:cNvSpPr>
          <p:nvPr>
            <p:ph type="body" sz="quarter" idx="21"/>
          </p:nvPr>
        </p:nvSpPr>
        <p:spPr/>
        <p:txBody>
          <a:bodyPr/>
          <a:lstStyle/>
          <a:p>
            <a:r>
              <a:rPr lang="zh-CN" altLang="en-US" dirty="0">
                <a:sym typeface="Huawei Sans" panose="020C0503030203020204" pitchFamily="34" charset="0"/>
              </a:rPr>
              <a:t>卢玥玥</a:t>
            </a:r>
            <a:r>
              <a:rPr lang="en-US" altLang="zh-CN" dirty="0">
                <a:sym typeface="Huawei Sans" panose="020C0503030203020204" pitchFamily="34" charset="0"/>
              </a:rPr>
              <a:t>/</a:t>
            </a:r>
            <a:r>
              <a:rPr lang="en-US" altLang="zh-CN" dirty="0" smtClean="0">
                <a:sym typeface="Huawei Sans" panose="020C0503030203020204" pitchFamily="34" charset="0"/>
              </a:rPr>
              <a:t>WX445705</a:t>
            </a:r>
            <a:endParaRPr lang="zh-CN" altLang="en-US" dirty="0">
              <a:sym typeface="Huawei Sans" panose="020C0503030203020204" pitchFamily="34" charset="0"/>
            </a:endParaRPr>
          </a:p>
        </p:txBody>
      </p:sp>
      <p:sp>
        <p:nvSpPr>
          <p:cNvPr id="13" name="文本占位符 12"/>
          <p:cNvSpPr>
            <a:spLocks noGrp="1"/>
          </p:cNvSpPr>
          <p:nvPr>
            <p:ph type="body" sz="quarter" idx="22"/>
          </p:nvPr>
        </p:nvSpPr>
        <p:spPr/>
        <p:txBody>
          <a:bodyPr/>
          <a:lstStyle/>
          <a:p>
            <a:r>
              <a:rPr lang="en-US" altLang="zh-CN" dirty="0" smtClean="0">
                <a:sym typeface="Huawei Sans" panose="020C0503030203020204" pitchFamily="34" charset="0"/>
              </a:rPr>
              <a:t>2021.08.15</a:t>
            </a:r>
            <a:endParaRPr lang="zh-CN" altLang="en-US" dirty="0">
              <a:sym typeface="Huawei Sans" panose="020C0503030203020204" pitchFamily="34" charset="0"/>
            </a:endParaRPr>
          </a:p>
        </p:txBody>
      </p:sp>
      <p:sp>
        <p:nvSpPr>
          <p:cNvPr id="14" name="文本占位符 13"/>
          <p:cNvSpPr>
            <a:spLocks noGrp="1"/>
          </p:cNvSpPr>
          <p:nvPr>
            <p:ph type="body" sz="quarter" idx="23"/>
          </p:nvPr>
        </p:nvSpPr>
        <p:spPr/>
        <p:txBody>
          <a:bodyPr/>
          <a:lstStyle/>
          <a:p>
            <a:r>
              <a:rPr lang="zh-CN" altLang="en-US" dirty="0" smtClean="0">
                <a:sym typeface="Huawei Sans" panose="020C0503030203020204" pitchFamily="34" charset="0"/>
              </a:rPr>
              <a:t>吴越</a:t>
            </a:r>
            <a:r>
              <a:rPr lang="en-US" altLang="zh-CN" dirty="0">
                <a:sym typeface="Huawei Sans" panose="020C0503030203020204" pitchFamily="34" charset="0"/>
              </a:rPr>
              <a:t>/WX291773</a:t>
            </a:r>
            <a:endParaRPr lang="zh-CN" altLang="en-US" dirty="0">
              <a:sym typeface="Huawei Sans" panose="020C0503030203020204" pitchFamily="34" charset="0"/>
            </a:endParaRPr>
          </a:p>
        </p:txBody>
      </p:sp>
      <p:sp>
        <p:nvSpPr>
          <p:cNvPr id="15" name="文本占位符 14"/>
          <p:cNvSpPr>
            <a:spLocks noGrp="1"/>
          </p:cNvSpPr>
          <p:nvPr>
            <p:ph type="body" sz="quarter" idx="24"/>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16" name="文本占位符 15"/>
          <p:cNvSpPr>
            <a:spLocks noGrp="1"/>
          </p:cNvSpPr>
          <p:nvPr>
            <p:ph type="body" sz="quarter" idx="25"/>
          </p:nvPr>
        </p:nvSpPr>
        <p:spPr/>
        <p:txBody>
          <a:bodyPr/>
          <a:lstStyle/>
          <a:p>
            <a:endParaRPr lang="zh-CN" altLang="en-US">
              <a:sym typeface="Huawei Sans" panose="020C0503030203020204" pitchFamily="34" charset="0"/>
            </a:endParaRPr>
          </a:p>
        </p:txBody>
      </p:sp>
      <p:sp>
        <p:nvSpPr>
          <p:cNvPr id="17" name="文本占位符 16"/>
          <p:cNvSpPr>
            <a:spLocks noGrp="1"/>
          </p:cNvSpPr>
          <p:nvPr>
            <p:ph type="body" sz="quarter" idx="26"/>
          </p:nvPr>
        </p:nvSpPr>
        <p:spPr/>
        <p:txBody>
          <a:bodyPr/>
          <a:lstStyle/>
          <a:p>
            <a:endParaRPr lang="zh-CN" altLang="en-US">
              <a:sym typeface="Huawei Sans" panose="020C0503030203020204" pitchFamily="34" charset="0"/>
            </a:endParaRPr>
          </a:p>
        </p:txBody>
      </p:sp>
      <p:sp>
        <p:nvSpPr>
          <p:cNvPr id="18" name="文本占位符 17"/>
          <p:cNvSpPr>
            <a:spLocks noGrp="1"/>
          </p:cNvSpPr>
          <p:nvPr>
            <p:ph type="body" sz="quarter" idx="27"/>
          </p:nvPr>
        </p:nvSpPr>
        <p:spPr/>
        <p:txBody>
          <a:bodyPr/>
          <a:lstStyle/>
          <a:p>
            <a:endParaRPr lang="zh-CN" altLang="en-US">
              <a:sym typeface="Huawei Sans" panose="020C0503030203020204" pitchFamily="34" charset="0"/>
            </a:endParaRPr>
          </a:p>
        </p:txBody>
      </p:sp>
      <p:sp>
        <p:nvSpPr>
          <p:cNvPr id="19" name="文本占位符 18"/>
          <p:cNvSpPr>
            <a:spLocks noGrp="1"/>
          </p:cNvSpPr>
          <p:nvPr>
            <p:ph type="body" sz="quarter" idx="28"/>
          </p:nvPr>
        </p:nvSpPr>
        <p:spPr/>
        <p:txBody>
          <a:bodyPr/>
          <a:lstStyle/>
          <a:p>
            <a:endParaRPr lang="zh-CN" altLang="en-US" dirty="0">
              <a:sym typeface="Huawei Sans" panose="020C0503030203020204" pitchFamily="34" charset="0"/>
            </a:endParaRPr>
          </a:p>
        </p:txBody>
      </p:sp>
      <p:sp>
        <p:nvSpPr>
          <p:cNvPr id="20" name="文本占位符 19"/>
          <p:cNvSpPr>
            <a:spLocks noGrp="1"/>
          </p:cNvSpPr>
          <p:nvPr>
            <p:ph type="body" sz="quarter" idx="29"/>
          </p:nvPr>
        </p:nvSpPr>
        <p:spPr/>
        <p:txBody>
          <a:bodyPr/>
          <a:lstStyle/>
          <a:p>
            <a:endParaRPr lang="zh-CN" altLang="en-US">
              <a:sym typeface="Huawei Sans" panose="020C0503030203020204" pitchFamily="34" charset="0"/>
            </a:endParaRPr>
          </a:p>
        </p:txBody>
      </p:sp>
      <p:sp>
        <p:nvSpPr>
          <p:cNvPr id="21" name="文本占位符 20"/>
          <p:cNvSpPr>
            <a:spLocks noGrp="1"/>
          </p:cNvSpPr>
          <p:nvPr>
            <p:ph type="body" sz="quarter" idx="30"/>
          </p:nvPr>
        </p:nvSpPr>
        <p:spPr/>
        <p:txBody>
          <a:bodyPr/>
          <a:lstStyle/>
          <a:p>
            <a:endParaRPr lang="zh-CN" altLang="en-US">
              <a:sym typeface="Huawei Sans" panose="020C0503030203020204" pitchFamily="34" charset="0"/>
            </a:endParaRPr>
          </a:p>
        </p:txBody>
      </p:sp>
      <p:sp>
        <p:nvSpPr>
          <p:cNvPr id="22" name="文本占位符 21"/>
          <p:cNvSpPr>
            <a:spLocks noGrp="1"/>
          </p:cNvSpPr>
          <p:nvPr>
            <p:ph type="body" sz="quarter" idx="31"/>
          </p:nvPr>
        </p:nvSpPr>
        <p:spPr/>
        <p:txBody>
          <a:bodyPr/>
          <a:lstStyle/>
          <a:p>
            <a:endParaRPr lang="zh-CN" altLang="en-US">
              <a:sym typeface="Huawei Sans" panose="020C0503030203020204" pitchFamily="34" charset="0"/>
            </a:endParaRPr>
          </a:p>
        </p:txBody>
      </p:sp>
      <p:sp>
        <p:nvSpPr>
          <p:cNvPr id="23" name="文本占位符 22"/>
          <p:cNvSpPr>
            <a:spLocks noGrp="1"/>
          </p:cNvSpPr>
          <p:nvPr>
            <p:ph type="body" sz="quarter" idx="32"/>
          </p:nvPr>
        </p:nvSpPr>
        <p:spPr/>
        <p:txBody>
          <a:bodyPr/>
          <a:lstStyle/>
          <a:p>
            <a:endParaRPr lang="zh-CN" altLang="en-US">
              <a:sym typeface="Huawei Sans" panose="020C0503030203020204" pitchFamily="34" charset="0"/>
            </a:endParaRPr>
          </a:p>
        </p:txBody>
      </p:sp>
      <p:sp>
        <p:nvSpPr>
          <p:cNvPr id="24" name="文本占位符 23"/>
          <p:cNvSpPr>
            <a:spLocks noGrp="1"/>
          </p:cNvSpPr>
          <p:nvPr>
            <p:ph type="body" sz="quarter" idx="33"/>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34"/>
          </p:nvPr>
        </p:nvSpPr>
        <p:spPr/>
        <p:txBody>
          <a:bodyPr/>
          <a:lstStyle/>
          <a:p>
            <a:endParaRPr lang="zh-CN" altLang="en-US">
              <a:sym typeface="Huawei Sans" panose="020C0503030203020204" pitchFamily="34" charset="0"/>
            </a:endParaRPr>
          </a:p>
        </p:txBody>
      </p:sp>
      <p:sp>
        <p:nvSpPr>
          <p:cNvPr id="26" name="文本占位符 25"/>
          <p:cNvSpPr>
            <a:spLocks noGrp="1"/>
          </p:cNvSpPr>
          <p:nvPr>
            <p:ph type="body" sz="quarter" idx="35"/>
          </p:nvPr>
        </p:nvSpPr>
        <p:spPr/>
        <p:txBody>
          <a:bodyPr/>
          <a:lstStyle/>
          <a:p>
            <a:endParaRPr lang="zh-CN" altLang="en-US">
              <a:sym typeface="Huawei Sans" panose="020C0503030203020204" pitchFamily="34" charset="0"/>
            </a:endParaRPr>
          </a:p>
        </p:txBody>
      </p:sp>
      <p:sp>
        <p:nvSpPr>
          <p:cNvPr id="27" name="文本占位符 26"/>
          <p:cNvSpPr>
            <a:spLocks noGrp="1"/>
          </p:cNvSpPr>
          <p:nvPr>
            <p:ph type="body" sz="quarter" idx="36"/>
          </p:nvPr>
        </p:nvSpPr>
        <p:spPr/>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3743498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sym typeface="Huawei Sans" panose="020C0503030203020204" pitchFamily="34" charset="0"/>
              </a:rPr>
              <a:t>园区网络智能运维</a:t>
            </a:r>
            <a:endParaRPr lang="zh-CN" altLang="en-US" dirty="0">
              <a:sym typeface="Huawei Sans" panose="020C0503030203020204" pitchFamily="34" charset="0"/>
            </a:endParaRPr>
          </a:p>
        </p:txBody>
      </p:sp>
    </p:spTree>
    <p:extLst>
      <p:ext uri="{BB962C8B-B14F-4D97-AF65-F5344CB8AC3E}">
        <p14:creationId xmlns:p14="http://schemas.microsoft.com/office/powerpoint/2010/main" val="36483936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1800" dirty="0" smtClean="0">
                <a:sym typeface="Huawei Sans" panose="020C0503030203020204" pitchFamily="34" charset="0"/>
              </a:rPr>
              <a:t>大数据时代，传统的基于指定规则的运维模式已经支撑不了用户对网络的运维需求，自动化运维的不足日益凸显。通过分析网络产生的大量数据进行智能运维，提升用户运维效率已刻不容缓。</a:t>
            </a:r>
          </a:p>
          <a:p>
            <a:r>
              <a:rPr lang="zh-CN" altLang="en-US" sz="1800" dirty="0" smtClean="0">
                <a:sym typeface="Huawei Sans" panose="020C0503030203020204" pitchFamily="34" charset="0"/>
              </a:rPr>
              <a:t>华为</a:t>
            </a:r>
            <a:r>
              <a:rPr lang="en-US" altLang="zh-CN" sz="1800" dirty="0" err="1" smtClean="0">
                <a:sym typeface="Huawei Sans" panose="020C0503030203020204" pitchFamily="34" charset="0"/>
              </a:rPr>
              <a:t>iMaster</a:t>
            </a:r>
            <a:r>
              <a:rPr lang="en-US" altLang="zh-CN" sz="1800" dirty="0">
                <a:sym typeface="Huawei Sans" panose="020C0503030203020204" pitchFamily="34" charset="0"/>
              </a:rPr>
              <a:t> </a:t>
            </a:r>
            <a:r>
              <a:rPr lang="en-US" altLang="zh-CN" sz="1800" dirty="0" smtClean="0">
                <a:sym typeface="Huawei Sans" panose="020C0503030203020204" pitchFamily="34" charset="0"/>
              </a:rPr>
              <a:t>NCE-CampusInsight</a:t>
            </a:r>
            <a:r>
              <a:rPr lang="zh-CN" altLang="en-US" sz="1800" dirty="0" smtClean="0">
                <a:sym typeface="Huawei Sans" panose="020C0503030203020204" pitchFamily="34" charset="0"/>
              </a:rPr>
              <a:t>（园区网络分析器），颠覆传统聚焦资源状态的监控方式，将人工智能应用于运维领域，基于已有的运维数据（设备性能指标、终端日志等数据），通过大数据、人工智能算法及更多高级分析技术，将网络中的用户体验数字化，辅助客户及时发现网络问题，改善用户体验。</a:t>
            </a:r>
          </a:p>
          <a:p>
            <a:r>
              <a:rPr lang="en-US" altLang="zh-CN" sz="1800" dirty="0" err="1">
                <a:sym typeface="Huawei Sans" panose="020C0503030203020204" pitchFamily="34" charset="0"/>
              </a:rPr>
              <a:t>iMaster</a:t>
            </a:r>
            <a:r>
              <a:rPr lang="en-US" altLang="zh-CN" sz="1800" dirty="0">
                <a:sym typeface="Huawei Sans" panose="020C0503030203020204" pitchFamily="34" charset="0"/>
              </a:rPr>
              <a:t> NCE-CampusInsight</a:t>
            </a:r>
            <a:r>
              <a:rPr lang="zh-CN" altLang="en-US" sz="1800" dirty="0" smtClean="0">
                <a:sym typeface="Huawei Sans" panose="020C0503030203020204" pitchFamily="34" charset="0"/>
              </a:rPr>
              <a:t>采用</a:t>
            </a:r>
            <a:r>
              <a:rPr lang="en-US" altLang="zh-CN" sz="1800" dirty="0" smtClean="0">
                <a:sym typeface="Huawei Sans" panose="020C0503030203020204" pitchFamily="34" charset="0"/>
              </a:rPr>
              <a:t>Telemetry</a:t>
            </a:r>
            <a:r>
              <a:rPr lang="zh-CN" altLang="en-US" sz="1800" dirty="0" smtClean="0">
                <a:sym typeface="Huawei Sans" panose="020C0503030203020204" pitchFamily="34" charset="0"/>
              </a:rPr>
              <a:t>技术实时采集网络设备的性能指标和日志数据，基于真实业务流量发现网络异常。通过大数据平台，对数据进行统一采集、存储和分析，具有高效的大数据处理能力。</a:t>
            </a: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42182134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000" dirty="0" smtClean="0">
                <a:sym typeface="Huawei Sans" panose="020C0503030203020204" pitchFamily="34" charset="0"/>
              </a:rPr>
              <a:t>学完本课程后，您将能够：</a:t>
            </a:r>
          </a:p>
          <a:p>
            <a:pPr lvl="1"/>
            <a:r>
              <a:rPr lang="zh-CN" altLang="en-US" sz="1800" dirty="0" smtClean="0">
                <a:sym typeface="Huawei Sans" panose="020C0503030203020204" pitchFamily="34" charset="0"/>
              </a:rPr>
              <a:t>描述园区网络智能运维的痛点及需求</a:t>
            </a:r>
            <a:endParaRPr lang="en-US" altLang="zh-CN" sz="1800" dirty="0" smtClean="0">
              <a:sym typeface="Huawei Sans" panose="020C0503030203020204" pitchFamily="34" charset="0"/>
            </a:endParaRPr>
          </a:p>
          <a:p>
            <a:pPr lvl="1"/>
            <a:r>
              <a:rPr lang="zh-CN" altLang="en-US" sz="1800" dirty="0">
                <a:sym typeface="Huawei Sans" panose="020C0503030203020204" pitchFamily="34" charset="0"/>
              </a:rPr>
              <a:t>描述</a:t>
            </a:r>
            <a:r>
              <a:rPr lang="en-US" altLang="zh-CN" sz="1800" dirty="0">
                <a:sym typeface="Huawei Sans" panose="020C0503030203020204" pitchFamily="34" charset="0"/>
              </a:rPr>
              <a:t>CampusInsight</a:t>
            </a:r>
            <a:r>
              <a:rPr lang="zh-CN" altLang="en-US" sz="1800" dirty="0">
                <a:sym typeface="Huawei Sans" panose="020C0503030203020204" pitchFamily="34" charset="0"/>
              </a:rPr>
              <a:t>的逻辑架构、外部接口</a:t>
            </a:r>
            <a:endParaRPr lang="en-US" altLang="zh-CN" sz="1800" dirty="0">
              <a:sym typeface="Huawei Sans" panose="020C0503030203020204" pitchFamily="34" charset="0"/>
            </a:endParaRPr>
          </a:p>
          <a:p>
            <a:pPr lvl="1"/>
            <a:r>
              <a:rPr lang="zh-CN" altLang="en-US" sz="1800" dirty="0" smtClean="0">
                <a:sym typeface="Huawei Sans" panose="020C0503030203020204" pitchFamily="34" charset="0"/>
              </a:rPr>
              <a:t>描述</a:t>
            </a:r>
            <a:r>
              <a:rPr lang="en-US" altLang="zh-CN" sz="1800" dirty="0" smtClean="0">
                <a:sym typeface="Huawei Sans" panose="020C0503030203020204" pitchFamily="34" charset="0"/>
              </a:rPr>
              <a:t>CampusInsight</a:t>
            </a:r>
            <a:r>
              <a:rPr lang="zh-CN" altLang="en-US" sz="1800" dirty="0" smtClean="0">
                <a:sym typeface="Huawei Sans" panose="020C0503030203020204" pitchFamily="34" charset="0"/>
              </a:rPr>
              <a:t>的应用场景及部署模式</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描述</a:t>
            </a:r>
            <a:r>
              <a:rPr lang="en-US" altLang="zh-CN" sz="1800" dirty="0" smtClean="0">
                <a:sym typeface="Huawei Sans" panose="020C0503030203020204" pitchFamily="34" charset="0"/>
              </a:rPr>
              <a:t>CampusInsight</a:t>
            </a:r>
            <a:r>
              <a:rPr lang="zh-CN" altLang="en-US" sz="1800" dirty="0" smtClean="0">
                <a:sym typeface="Huawei Sans" panose="020C0503030203020204" pitchFamily="34" charset="0"/>
              </a:rPr>
              <a:t>的主要功能特性及应用</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完成</a:t>
            </a:r>
            <a:r>
              <a:rPr lang="en-US" altLang="zh-CN" sz="1800" dirty="0" smtClean="0">
                <a:sym typeface="Huawei Sans" panose="020C0503030203020204" pitchFamily="34" charset="0"/>
              </a:rPr>
              <a:t>CampusInsight</a:t>
            </a:r>
            <a:r>
              <a:rPr lang="zh-CN" altLang="en-US" sz="1800" dirty="0" smtClean="0">
                <a:sym typeface="Huawei Sans" panose="020C0503030203020204" pitchFamily="34" charset="0"/>
              </a:rPr>
              <a:t>的主要功能操作</a:t>
            </a:r>
          </a:p>
          <a:p>
            <a:endParaRPr lang="zh-CN" altLang="en-US" sz="2000" dirty="0">
              <a:sym typeface="Huawei Sans" panose="020C0503030203020204" pitchFamily="34" charset="0"/>
            </a:endParaRPr>
          </a:p>
        </p:txBody>
      </p:sp>
    </p:spTree>
    <p:extLst>
      <p:ext uri="{BB962C8B-B14F-4D97-AF65-F5344CB8AC3E}">
        <p14:creationId xmlns:p14="http://schemas.microsoft.com/office/powerpoint/2010/main" val="16721697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sym typeface="Huawei Sans" panose="020C0503030203020204" pitchFamily="34" charset="0"/>
              </a:rPr>
              <a:t>CampusInsight</a:t>
            </a:r>
            <a:r>
              <a:rPr lang="zh-CN" altLang="en-US" b="1" dirty="0" smtClean="0">
                <a:sym typeface="Huawei Sans" panose="020C0503030203020204" pitchFamily="34" charset="0"/>
              </a:rPr>
              <a:t>概述</a:t>
            </a:r>
            <a:endParaRPr lang="en-US" altLang="zh-CN" b="1" dirty="0" smtClean="0">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CampusInsight</a:t>
            </a:r>
            <a:r>
              <a:rPr lang="zh-CN" altLang="en-US" dirty="0" smtClean="0">
                <a:solidFill>
                  <a:schemeClr val="bg1">
                    <a:lumMod val="50000"/>
                  </a:schemeClr>
                </a:solidFill>
                <a:sym typeface="Huawei Sans" panose="020C0503030203020204" pitchFamily="34" charset="0"/>
              </a:rPr>
              <a:t>功能与演示</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Telemetry</a:t>
            </a:r>
          </a:p>
          <a:p>
            <a:pPr lvl="1"/>
            <a:r>
              <a:rPr lang="zh-CN" altLang="en-US" dirty="0" smtClean="0">
                <a:solidFill>
                  <a:schemeClr val="bg1">
                    <a:lumMod val="50000"/>
                  </a:schemeClr>
                </a:solidFill>
                <a:sym typeface="Huawei Sans" panose="020C0503030203020204" pitchFamily="34" charset="0"/>
              </a:rPr>
              <a:t>可视</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分析</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调优</a:t>
            </a:r>
            <a:endParaRPr lang="en-US" altLang="zh-CN" dirty="0" smtClean="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保障</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39417104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smtClean="0">
                <a:sym typeface="Huawei Sans" panose="020C0503030203020204" pitchFamily="34" charset="0"/>
              </a:rPr>
              <a:t>园区网络运维面临的挑战</a:t>
            </a:r>
            <a:endParaRPr lang="zh-CN" altLang="en-US" dirty="0">
              <a:sym typeface="Huawei Sans" panose="020C0503030203020204" pitchFamily="34" charset="0"/>
            </a:endParaRPr>
          </a:p>
        </p:txBody>
      </p:sp>
      <p:sp>
        <p:nvSpPr>
          <p:cNvPr id="7" name="矩形 18"/>
          <p:cNvSpPr txBox="1"/>
          <p:nvPr/>
        </p:nvSpPr>
        <p:spPr bwMode="gray">
          <a:xfrm>
            <a:off x="1814938" y="2888949"/>
            <a:ext cx="1057753" cy="3398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5960" tIns="15960" rIns="15960" bIns="15960" numCol="1" anchor="t">
            <a:spAutoFit/>
          </a:bodyPr>
          <a:lstStyle>
            <a:defPPr>
              <a:defRPr lang="en-US"/>
            </a:defPPr>
            <a:lvl1pPr algn="ctr" defTabSz="2065314" hangingPunct="0">
              <a:defRPr sz="1999" b="0" kern="0">
                <a:solidFill>
                  <a:srgbClr val="666666">
                    <a:lumMod val="75000"/>
                  </a:srgbClr>
                </a:solidFill>
                <a:cs typeface="+mn-ea"/>
              </a:defRPr>
            </a:lvl1pPr>
          </a:lstStyle>
          <a:p>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精准检测</a:t>
            </a:r>
          </a:p>
        </p:txBody>
      </p:sp>
      <p:sp>
        <p:nvSpPr>
          <p:cNvPr id="9" name="矩形 5"/>
          <p:cNvSpPr txBox="1"/>
          <p:nvPr/>
        </p:nvSpPr>
        <p:spPr bwMode="gray">
          <a:xfrm>
            <a:off x="9083264" y="2888949"/>
            <a:ext cx="1057753" cy="33988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5960" tIns="15960" rIns="15960" bIns="15960" numCol="1" anchor="t">
            <a:spAutoFit/>
          </a:bodyPr>
          <a:lstStyle>
            <a:lvl1pPr defTabSz="2065314">
              <a:defRPr b="0">
                <a:latin typeface="Microsoft YaHei"/>
                <a:ea typeface="Microsoft YaHei"/>
                <a:cs typeface="Microsoft YaHei"/>
                <a:sym typeface="Microsoft YaHei"/>
              </a:defRPr>
            </a:lvl1pPr>
          </a:lstStyle>
          <a:p>
            <a:pPr algn="ctr" hangingPunct="0"/>
            <a:r>
              <a:rPr lang="zh-CN" altLang="en-US" sz="1999" kern="0" dirty="0">
                <a:latin typeface="Huawei Sans" panose="020C0503030203020204" pitchFamily="34" charset="0"/>
                <a:ea typeface="方正兰亭黑简体" panose="02000000000000000000" pitchFamily="2" charset="-122"/>
                <a:cs typeface="+mn-ea"/>
                <a:sym typeface="Huawei Sans" panose="020C0503030203020204" pitchFamily="34" charset="0"/>
              </a:rPr>
              <a:t>问题识别</a:t>
            </a:r>
            <a:endParaRPr sz="1999"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4"/>
          <p:cNvSpPr txBox="1"/>
          <p:nvPr/>
        </p:nvSpPr>
        <p:spPr bwMode="gray">
          <a:xfrm>
            <a:off x="5573247" y="2888949"/>
            <a:ext cx="1057753" cy="33988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5960" tIns="15960" rIns="15960" bIns="15960" numCol="1" anchor="t">
            <a:spAutoFit/>
          </a:bodyPr>
          <a:lstStyle>
            <a:lvl1pPr defTabSz="2065314">
              <a:defRPr b="0">
                <a:latin typeface="Microsoft YaHei"/>
                <a:ea typeface="Microsoft YaHei"/>
                <a:cs typeface="Microsoft YaHei"/>
                <a:sym typeface="Microsoft YaHei"/>
              </a:defRPr>
            </a:lvl1pPr>
          </a:lstStyle>
          <a:p>
            <a:pPr algn="ctr" hangingPunct="0"/>
            <a:r>
              <a:rPr lang="zh-CN" altLang="en-US" sz="1999" kern="0" dirty="0">
                <a:latin typeface="Huawei Sans" panose="020C0503030203020204" pitchFamily="34" charset="0"/>
                <a:ea typeface="方正兰亭黑简体" panose="02000000000000000000" pitchFamily="2" charset="-122"/>
                <a:cs typeface="+mn-ea"/>
                <a:sym typeface="Huawei Sans" panose="020C0503030203020204" pitchFamily="34" charset="0"/>
              </a:rPr>
              <a:t>体验感知</a:t>
            </a:r>
            <a:endParaRPr sz="1999"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8214847" y="3311962"/>
            <a:ext cx="2794587" cy="1384225"/>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传统运维往往等到用户投诉了，才知道网络发生了问题，无法有效主动识别、</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分析潜在影响用户感知的问题。</a:t>
            </a:r>
            <a:endPar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967733" y="3320862"/>
            <a:ext cx="2752163" cy="1384225"/>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传统运维基于</a:t>
            </a:r>
            <a:r>
              <a:rPr lang="en-US" altLang="zh-CN"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SNMP</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分钟</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级采集</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数据，一旦</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发生问题，故障发生时刻数据无法实时</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获取，且缺少方便的回溯手段。</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bwMode="gray">
          <a:xfrm>
            <a:off x="4726042" y="3317769"/>
            <a:ext cx="2752163" cy="1061414"/>
          </a:xfrm>
          <a:prstGeom prst="rect">
            <a:avLst/>
          </a:prstGeom>
        </p:spPr>
        <p:txBody>
          <a:bodyPr wrap="square" anchor="ctr">
            <a:spAutoFit/>
          </a:bodyPr>
          <a:lstStyle/>
          <a:p>
            <a:pPr>
              <a:lnSpc>
                <a:spcPct val="150000"/>
              </a:lnSpc>
            </a:pP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传统运维仅监控设备指标，有可能指标正常，但用户体验不好，缺少用户和网络的关联</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 name="组合 1"/>
          <p:cNvGrpSpPr/>
          <p:nvPr/>
        </p:nvGrpSpPr>
        <p:grpSpPr bwMode="gray">
          <a:xfrm>
            <a:off x="1639440" y="1377442"/>
            <a:ext cx="1408749" cy="1408749"/>
            <a:chOff x="-1052573" y="2094821"/>
            <a:chExt cx="2124347" cy="2124347"/>
          </a:xfrm>
        </p:grpSpPr>
        <p:grpSp>
          <p:nvGrpSpPr>
            <p:cNvPr id="5" name="组合 4"/>
            <p:cNvGrpSpPr/>
            <p:nvPr/>
          </p:nvGrpSpPr>
          <p:grpSpPr bwMode="gray">
            <a:xfrm>
              <a:off x="-1052573" y="2094821"/>
              <a:ext cx="2124347" cy="2124347"/>
              <a:chOff x="3859893" y="5500020"/>
              <a:chExt cx="720000" cy="720000"/>
            </a:xfrm>
          </p:grpSpPr>
          <p:sp>
            <p:nvSpPr>
              <p:cNvPr id="18" name="椭圆 17"/>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弧形 20"/>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弧形 21"/>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5" name="资源 51@4x.png" descr="资源 51@4x.png"/>
            <p:cNvPicPr>
              <a:picLocks noChangeAspect="1"/>
            </p:cNvPicPr>
            <p:nvPr/>
          </p:nvPicPr>
          <p:blipFill>
            <a:blip r:embed="rId3" cstate="screen">
              <a:duotone>
                <a:schemeClr val="bg2">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tretch>
              <a:fillRect/>
            </a:stretch>
          </p:blipFill>
          <p:spPr bwMode="gray">
            <a:xfrm>
              <a:off x="-388260" y="2726159"/>
              <a:ext cx="805569" cy="826336"/>
            </a:xfrm>
            <a:prstGeom prst="rect">
              <a:avLst/>
            </a:prstGeom>
            <a:ln w="12700" cap="flat">
              <a:noFill/>
              <a:miter lim="400000"/>
            </a:ln>
            <a:effectLst/>
          </p:spPr>
        </p:pic>
      </p:grpSp>
      <p:grpSp>
        <p:nvGrpSpPr>
          <p:cNvPr id="3" name="组合 2"/>
          <p:cNvGrpSpPr/>
          <p:nvPr/>
        </p:nvGrpSpPr>
        <p:grpSpPr bwMode="gray">
          <a:xfrm>
            <a:off x="5397749" y="1377442"/>
            <a:ext cx="1408749" cy="1408749"/>
            <a:chOff x="5269582" y="1653878"/>
            <a:chExt cx="1408749" cy="1408749"/>
          </a:xfrm>
        </p:grpSpPr>
        <p:grpSp>
          <p:nvGrpSpPr>
            <p:cNvPr id="24" name="组合 23"/>
            <p:cNvGrpSpPr/>
            <p:nvPr/>
          </p:nvGrpSpPr>
          <p:grpSpPr bwMode="gray">
            <a:xfrm>
              <a:off x="5269582" y="1653878"/>
              <a:ext cx="1408749" cy="1408749"/>
              <a:chOff x="3859893" y="5500020"/>
              <a:chExt cx="720000" cy="720000"/>
            </a:xfrm>
          </p:grpSpPr>
          <p:sp>
            <p:nvSpPr>
              <p:cNvPr id="27" name="椭圆 26"/>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弧形 28"/>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弧形 29"/>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0" name="资源 53@4x.png" descr="资源 53@4x.png"/>
            <p:cNvPicPr>
              <a:picLocks noChangeAspect="1"/>
            </p:cNvPicPr>
            <p:nvPr/>
          </p:nvPicPr>
          <p:blipFill>
            <a:blip r:embed="rId5" cstate="screen">
              <a:clrChange>
                <a:clrFrom>
                  <a:srgbClr val="000000">
                    <a:alpha val="0"/>
                  </a:srgbClr>
                </a:clrFrom>
                <a:clrTo>
                  <a:srgbClr val="000000">
                    <a:alpha val="0"/>
                  </a:srgbClr>
                </a:clrTo>
              </a:clrChange>
              <a:biLevel thresh="50000"/>
              <a:extLst>
                <a:ext uri="{28A0092B-C50C-407E-A947-70E740481C1C}">
                  <a14:useLocalDpi xmlns:a14="http://schemas.microsoft.com/office/drawing/2010/main"/>
                </a:ext>
              </a:extLst>
            </a:blip>
            <a:stretch>
              <a:fillRect/>
            </a:stretch>
          </p:blipFill>
          <p:spPr bwMode="gray">
            <a:xfrm>
              <a:off x="5705779" y="2134405"/>
              <a:ext cx="524723" cy="540000"/>
            </a:xfrm>
            <a:prstGeom prst="rect">
              <a:avLst/>
            </a:prstGeom>
            <a:ln w="12700" cap="flat">
              <a:noFill/>
              <a:miter lim="400000"/>
            </a:ln>
            <a:effectLst/>
          </p:spPr>
        </p:pic>
      </p:grpSp>
      <p:grpSp>
        <p:nvGrpSpPr>
          <p:cNvPr id="20" name="组合 19"/>
          <p:cNvGrpSpPr/>
          <p:nvPr/>
        </p:nvGrpSpPr>
        <p:grpSpPr bwMode="gray">
          <a:xfrm>
            <a:off x="8907766" y="1377442"/>
            <a:ext cx="1408749" cy="1408749"/>
            <a:chOff x="8916139" y="1653878"/>
            <a:chExt cx="1408749" cy="1408749"/>
          </a:xfrm>
        </p:grpSpPr>
        <p:grpSp>
          <p:nvGrpSpPr>
            <p:cNvPr id="32" name="组合 31"/>
            <p:cNvGrpSpPr/>
            <p:nvPr/>
          </p:nvGrpSpPr>
          <p:grpSpPr bwMode="gray">
            <a:xfrm>
              <a:off x="8916139" y="1653878"/>
              <a:ext cx="1408749" cy="1408749"/>
              <a:chOff x="3859893" y="5500020"/>
              <a:chExt cx="720000" cy="720000"/>
            </a:xfrm>
          </p:grpSpPr>
          <p:sp>
            <p:nvSpPr>
              <p:cNvPr id="34" name="椭圆 33"/>
              <p:cNvSpPr/>
              <p:nvPr/>
            </p:nvSpPr>
            <p:spPr bwMode="gray">
              <a:xfrm>
                <a:off x="3859893" y="5500020"/>
                <a:ext cx="720000" cy="720000"/>
              </a:xfrm>
              <a:prstGeom prst="ellipse">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椭圆 34"/>
              <p:cNvSpPr/>
              <p:nvPr/>
            </p:nvSpPr>
            <p:spPr bwMode="gray">
              <a:xfrm>
                <a:off x="4031672" y="5671799"/>
                <a:ext cx="376442" cy="376442"/>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弧形 35"/>
              <p:cNvSpPr/>
              <p:nvPr/>
            </p:nvSpPr>
            <p:spPr bwMode="gray">
              <a:xfrm>
                <a:off x="3931893" y="5541876"/>
                <a:ext cx="576000" cy="576000"/>
              </a:xfrm>
              <a:prstGeom prst="arc">
                <a:avLst>
                  <a:gd name="adj1" fmla="val 14221504"/>
                  <a:gd name="adj2" fmla="val 5301169"/>
                </a:avLst>
              </a:prstGeom>
              <a:ln>
                <a:gradFill>
                  <a:gsLst>
                    <a:gs pos="51000">
                      <a:srgbClr val="94DAE2"/>
                    </a:gs>
                    <a:gs pos="0">
                      <a:srgbClr val="BEE9EE"/>
                    </a:gs>
                    <a:gs pos="10000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弧形 36"/>
              <p:cNvSpPr/>
              <p:nvPr/>
            </p:nvSpPr>
            <p:spPr bwMode="gray">
              <a:xfrm flipH="1">
                <a:off x="3928921" y="5592948"/>
                <a:ext cx="576000" cy="576000"/>
              </a:xfrm>
              <a:prstGeom prst="arc">
                <a:avLst>
                  <a:gd name="adj1" fmla="val 16245819"/>
                  <a:gd name="adj2" fmla="val 7166993"/>
                </a:avLst>
              </a:prstGeom>
              <a:ln>
                <a:gradFill>
                  <a:gsLst>
                    <a:gs pos="51000">
                      <a:srgbClr val="94DAE2"/>
                    </a:gs>
                    <a:gs pos="100000">
                      <a:srgbClr val="BEE9EE"/>
                    </a:gs>
                    <a:gs pos="0">
                      <a:srgbClr val="30B5C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 name="资源 52@4x.png" descr="资源 52@4x.png"/>
            <p:cNvPicPr>
              <a:picLocks noChangeAspect="1"/>
            </p:cNvPicPr>
            <p:nvPr/>
          </p:nvPicPr>
          <p:blipFill>
            <a:blip r:embed="rId6" cstate="screen">
              <a:biLevel thresh="25000"/>
              <a:extLst>
                <a:ext uri="{28A0092B-C50C-407E-A947-70E740481C1C}">
                  <a14:useLocalDpi xmlns:a14="http://schemas.microsoft.com/office/drawing/2010/main"/>
                </a:ext>
              </a:extLst>
            </a:blip>
            <a:stretch>
              <a:fillRect/>
            </a:stretch>
          </p:blipFill>
          <p:spPr bwMode="gray">
            <a:xfrm>
              <a:off x="9331254" y="2173063"/>
              <a:ext cx="566568" cy="360000"/>
            </a:xfrm>
            <a:prstGeom prst="rect">
              <a:avLst/>
            </a:prstGeom>
            <a:ln w="12700" cap="flat">
              <a:noFill/>
              <a:miter lim="400000"/>
            </a:ln>
            <a:effectLst/>
          </p:spPr>
        </p:pic>
      </p:grpSp>
      <p:sp>
        <p:nvSpPr>
          <p:cNvPr id="31" name="矩形 30"/>
          <p:cNvSpPr/>
          <p:nvPr/>
        </p:nvSpPr>
        <p:spPr bwMode="gray">
          <a:xfrm>
            <a:off x="8144431" y="5227620"/>
            <a:ext cx="2935419" cy="465256"/>
          </a:xfrm>
          <a:prstGeom prst="rect">
            <a:avLst/>
          </a:prstGeom>
        </p:spPr>
        <p:txBody>
          <a:bodyPr wrap="square">
            <a:spAutoFit/>
          </a:bodyPr>
          <a:lstStyle/>
          <a:p>
            <a:pPr algn="ctr" defTabSz="914034" fontAlgn="base">
              <a:lnSpc>
                <a:spcPct val="150000"/>
              </a:lnSpc>
              <a:spcBef>
                <a:spcPct val="0"/>
              </a:spcBef>
              <a:spcAft>
                <a:spcPct val="0"/>
              </a:spcAft>
            </a:pPr>
            <a:r>
              <a:rPr lang="zh-CN" altLang="en-US"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问题主动识别</a:t>
            </a:r>
            <a:r>
              <a:rPr lang="zh-CN" altLang="en-US" sz="1799" b="1" dirty="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“难”</a:t>
            </a:r>
            <a:endParaRPr lang="en-US" altLang="zh-CN"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bwMode="gray">
          <a:xfrm>
            <a:off x="4846010" y="5249391"/>
            <a:ext cx="2512226" cy="465256"/>
          </a:xfrm>
          <a:prstGeom prst="rect">
            <a:avLst/>
          </a:prstGeom>
        </p:spPr>
        <p:txBody>
          <a:bodyPr wrap="square">
            <a:spAutoFit/>
          </a:bodyPr>
          <a:lstStyle/>
          <a:p>
            <a:pPr algn="ctr" defTabSz="914034" fontAlgn="base">
              <a:lnSpc>
                <a:spcPct val="150000"/>
              </a:lnSpc>
              <a:spcBef>
                <a:spcPct val="0"/>
              </a:spcBef>
              <a:spcAft>
                <a:spcPct val="0"/>
              </a:spcAft>
            </a:pPr>
            <a:r>
              <a:rPr lang="zh-CN" altLang="en-US"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用户体验衡量</a:t>
            </a:r>
            <a:r>
              <a:rPr lang="zh-CN" altLang="en-US" sz="1799" b="1" dirty="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“难”</a:t>
            </a:r>
            <a:endParaRPr lang="en-US" altLang="zh-CN"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37"/>
          <p:cNvSpPr/>
          <p:nvPr/>
        </p:nvSpPr>
        <p:spPr bwMode="gray">
          <a:xfrm>
            <a:off x="779925" y="5227620"/>
            <a:ext cx="3127779" cy="465256"/>
          </a:xfrm>
          <a:prstGeom prst="rect">
            <a:avLst/>
          </a:prstGeom>
        </p:spPr>
        <p:txBody>
          <a:bodyPr wrap="square">
            <a:spAutoFit/>
          </a:bodyPr>
          <a:lstStyle/>
          <a:p>
            <a:pPr algn="ctr" defTabSz="914034" fontAlgn="base">
              <a:lnSpc>
                <a:spcPct val="150000"/>
              </a:lnSpc>
              <a:spcBef>
                <a:spcPct val="0"/>
              </a:spcBef>
              <a:spcAft>
                <a:spcPct val="0"/>
              </a:spcAft>
            </a:pPr>
            <a:r>
              <a:rPr lang="zh-CN" altLang="en-US"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问题定位分析</a:t>
            </a:r>
            <a:r>
              <a:rPr lang="zh-CN" altLang="en-US" sz="1799" b="1" dirty="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“难”</a:t>
            </a:r>
            <a:endParaRPr lang="en-US" altLang="zh-CN" sz="1799"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下箭头 63"/>
          <p:cNvSpPr/>
          <p:nvPr/>
        </p:nvSpPr>
        <p:spPr bwMode="gray">
          <a:xfrm rot="10800000" flipV="1">
            <a:off x="2040938"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下箭头 63"/>
          <p:cNvSpPr/>
          <p:nvPr/>
        </p:nvSpPr>
        <p:spPr bwMode="gray">
          <a:xfrm rot="10800000" flipV="1">
            <a:off x="5799247"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下箭头 63"/>
          <p:cNvSpPr/>
          <p:nvPr/>
        </p:nvSpPr>
        <p:spPr bwMode="gray">
          <a:xfrm rot="10800000" flipV="1">
            <a:off x="9309263" y="4687669"/>
            <a:ext cx="605754" cy="564741"/>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490738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园区网络运维需求：</a:t>
            </a:r>
            <a:r>
              <a:rPr lang="en-US" altLang="zh-CN" smtClean="0">
                <a:sym typeface="Huawei Sans" panose="020C0503030203020204" pitchFamily="34" charset="0"/>
              </a:rPr>
              <a:t>AI</a:t>
            </a:r>
            <a:r>
              <a:rPr lang="zh-CN" altLang="en-US" smtClean="0">
                <a:sym typeface="Huawei Sans" panose="020C0503030203020204" pitchFamily="34" charset="0"/>
              </a:rPr>
              <a:t>智能运维</a:t>
            </a:r>
            <a:endParaRPr lang="zh-CN" altLang="en-US" dirty="0">
              <a:sym typeface="Huawei Sans" panose="020C0503030203020204" pitchFamily="34" charset="0"/>
            </a:endParaRPr>
          </a:p>
        </p:txBody>
      </p:sp>
      <p:sp>
        <p:nvSpPr>
          <p:cNvPr id="4" name="任意多边形 3"/>
          <p:cNvSpPr/>
          <p:nvPr/>
        </p:nvSpPr>
        <p:spPr bwMode="gray">
          <a:xfrm rot="5400000" flipV="1">
            <a:off x="1978133" y="2102057"/>
            <a:ext cx="1260616" cy="496193"/>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341" h="354044">
                <a:moveTo>
                  <a:pt x="1616004" y="807"/>
                </a:moveTo>
                <a:lnTo>
                  <a:pt x="0" y="354044"/>
                </a:lnTo>
                <a:lnTo>
                  <a:pt x="4039341" y="350873"/>
                </a:lnTo>
                <a:lnTo>
                  <a:pt x="1978811" y="0"/>
                </a:lnTo>
                <a:lnTo>
                  <a:pt x="1616004" y="807"/>
                </a:lnTo>
                <a:close/>
              </a:path>
            </a:pathLst>
          </a:custGeom>
          <a:gradFill>
            <a:gsLst>
              <a:gs pos="100000">
                <a:schemeClr val="bg1"/>
              </a:gs>
              <a:gs pos="41000">
                <a:schemeClr val="bg1">
                  <a:lumMod val="85000"/>
                </a:scheme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bwMode="gray">
          <a:xfrm>
            <a:off x="519302" y="1116730"/>
            <a:ext cx="3859193" cy="360000"/>
          </a:xfrm>
          <a:prstGeom prst="roundRect">
            <a:avLst/>
          </a:prstGeom>
          <a:gradFill>
            <a:gsLst>
              <a:gs pos="0">
                <a:schemeClr val="bg1"/>
              </a:gs>
              <a:gs pos="100000">
                <a:schemeClr val="bg1">
                  <a:lumMod val="85000"/>
                </a:schemeClr>
              </a:gs>
            </a:gsLst>
            <a:lin ang="5400000" scaled="1"/>
          </a:gra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以</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设备为中心的网络管理</a:t>
            </a:r>
            <a:endPar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5397180" y="1116730"/>
            <a:ext cx="6183366"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以</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用户体验为中心的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5397179" y="1512869"/>
            <a:ext cx="6183367" cy="4046196"/>
          </a:xfrm>
          <a:prstGeom prst="roundRect">
            <a:avLst>
              <a:gd name="adj" fmla="val 973"/>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圆角矩形 7"/>
          <p:cNvSpPr/>
          <p:nvPr/>
        </p:nvSpPr>
        <p:spPr bwMode="gray">
          <a:xfrm>
            <a:off x="515411" y="1512867"/>
            <a:ext cx="3862428" cy="4046198"/>
          </a:xfrm>
          <a:prstGeom prst="roundRect">
            <a:avLst>
              <a:gd name="adj" fmla="val 1810"/>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文本框 9"/>
          <p:cNvSpPr txBox="1"/>
          <p:nvPr/>
        </p:nvSpPr>
        <p:spPr bwMode="gray">
          <a:xfrm>
            <a:off x="519301" y="4285909"/>
            <a:ext cx="3858537" cy="892167"/>
          </a:xfrm>
          <a:prstGeom prst="rect">
            <a:avLst/>
          </a:prstGeom>
          <a:noFill/>
        </p:spPr>
        <p:txBody>
          <a:bodyPr wrap="square" rtlCol="0">
            <a:spAutoFit/>
          </a:bodyPr>
          <a:lstStyle/>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以设备为中心</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，无法感知用户</a:t>
            </a: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“救火式”响应</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，无法识别潜在</a:t>
            </a: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依靠专业工程师</a:t>
            </a: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现场定位</a:t>
            </a:r>
            <a:r>
              <a:rPr lang="zh-CN" altLang="en-US" sz="1399" b="1"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矩形 10"/>
          <p:cNvSpPr/>
          <p:nvPr/>
        </p:nvSpPr>
        <p:spPr bwMode="gray">
          <a:xfrm>
            <a:off x="722653" y="3443160"/>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文本框 11"/>
          <p:cNvSpPr txBox="1"/>
          <p:nvPr/>
        </p:nvSpPr>
        <p:spPr bwMode="gray">
          <a:xfrm>
            <a:off x="703390" y="2637282"/>
            <a:ext cx="1568638" cy="584395"/>
          </a:xfrm>
          <a:prstGeom prst="rect">
            <a:avLst/>
          </a:prstGeom>
          <a:noFill/>
        </p:spPr>
        <p:txBody>
          <a:bodyPr wrap="none" rtlCol="0">
            <a:spAutoFit/>
          </a:bodyPr>
          <a:lstStyle/>
          <a:p>
            <a:pPr algn="r" defTabSz="1218418"/>
            <a:r>
              <a:rPr lang="en-US" altLang="zh-CN" sz="1998"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p>
          <a:p>
            <a:pPr algn="r" defTabSz="1218418"/>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分钟级网络数据采集</a:t>
            </a:r>
            <a:endParaRPr lang="en-US" altLang="zh-CN" sz="15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 name="直接箭头连接符 12"/>
          <p:cNvCxnSpPr/>
          <p:nvPr/>
        </p:nvCxnSpPr>
        <p:spPr bwMode="gray">
          <a:xfrm>
            <a:off x="2263284" y="2530216"/>
            <a:ext cx="0" cy="798527"/>
          </a:xfrm>
          <a:prstGeom prst="straightConnector1">
            <a:avLst/>
          </a:prstGeom>
          <a:noFill/>
          <a:ln w="28575" algn="ctr">
            <a:solidFill>
              <a:schemeClr val="bg1">
                <a:lumMod val="50000"/>
              </a:schemeClr>
            </a:solidFill>
            <a:round/>
            <a:headEnd type="triangle" w="med" len="med"/>
            <a:tailEnd type="none" w="med" len="med"/>
          </a:ln>
        </p:spPr>
      </p:cxnSp>
      <p:sp>
        <p:nvSpPr>
          <p:cNvPr id="14" name="矩形 13"/>
          <p:cNvSpPr/>
          <p:nvPr/>
        </p:nvSpPr>
        <p:spPr bwMode="gray">
          <a:xfrm>
            <a:off x="2853967" y="1723699"/>
            <a:ext cx="1261884" cy="1259086"/>
          </a:xfrm>
          <a:prstGeom prst="rect">
            <a:avLst/>
          </a:prstGeom>
          <a:solidFill>
            <a:schemeClr val="bg1"/>
          </a:solidFill>
          <a:ln w="9525" cap="flat" cmpd="sng" algn="ctr">
            <a:solidFill>
              <a:schemeClr val="bg1">
                <a:lumMod val="7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拓扑</a:t>
            </a: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性能管理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告警管理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配置管理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5397179" y="3932052"/>
            <a:ext cx="6169981" cy="1630703"/>
          </a:xfrm>
          <a:prstGeom prst="rect">
            <a:avLst/>
          </a:prstGeom>
          <a:noFill/>
        </p:spPr>
        <p:txBody>
          <a:bodyPr wrap="square" rtlCol="0">
            <a:spAutoFit/>
          </a:bodyPr>
          <a:lstStyle/>
          <a:p>
            <a:pPr marL="180849" indent="-180849" defTabSz="1218418">
              <a:spcAft>
                <a:spcPts val="600"/>
              </a:spcAft>
              <a:buFont typeface="Arial" panose="020B0604020202020204" pitchFamily="34" charset="0"/>
              <a:buChar char="•"/>
            </a:pPr>
            <a:r>
              <a:rPr lang="zh-CN" altLang="en-US" sz="1399" b="1" dirty="0">
                <a:latin typeface="Huawei Sans" panose="020C0503030203020204" pitchFamily="34" charset="0"/>
                <a:ea typeface="方正兰亭黑简体" panose="02000000000000000000" pitchFamily="2" charset="-122"/>
                <a:cs typeface="+mn-ea"/>
                <a:sym typeface="Huawei Sans" panose="020C0503030203020204" pitchFamily="34" charset="0"/>
              </a:rPr>
              <a:t>体验可视化：</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秒级数据采集，每用户每应用每时刻体验</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可视。</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潜在</a:t>
            </a:r>
            <a:r>
              <a:rPr lang="zh-CN" altLang="en-US" sz="1399" b="1" dirty="0">
                <a:latin typeface="Huawei Sans" panose="020C0503030203020204" pitchFamily="34" charset="0"/>
                <a:ea typeface="方正兰亭黑简体" panose="02000000000000000000" pitchFamily="2" charset="-122"/>
                <a:cs typeface="+mn-ea"/>
                <a:sym typeface="Huawei Sans" panose="020C0503030203020204" pitchFamily="34" charset="0"/>
              </a:rPr>
              <a:t>故障识别和根因定位：</a:t>
            </a:r>
            <a:endParaRPr lang="en-US" altLang="zh-CN" sz="1399"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38089" lvl="1" indent="-180849" defTabSz="1218418">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基于动态基线、大数据关联等识别潜在</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38089" lvl="1" indent="-180849" defTabSz="1218418">
              <a:spcAft>
                <a:spcPts val="600"/>
              </a:spcAft>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关联分析和协议回放，精准定位问题根</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因。</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b="1" dirty="0">
                <a:latin typeface="Huawei Sans" panose="020C0503030203020204" pitchFamily="34" charset="0"/>
                <a:ea typeface="方正兰亭黑简体" panose="02000000000000000000" pitchFamily="2" charset="-122"/>
                <a:cs typeface="+mn-ea"/>
                <a:sym typeface="Huawei Sans" panose="020C0503030203020204" pitchFamily="34" charset="0"/>
              </a:rPr>
              <a:t>网络调优自愈</a:t>
            </a:r>
            <a:r>
              <a:rPr lang="zh-CN" altLang="en-US" sz="1399"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399" dirty="0">
                <a:latin typeface="Huawei Sans" panose="020C0503030203020204" pitchFamily="34" charset="0"/>
                <a:ea typeface="方正兰亭黑简体" panose="02000000000000000000" pitchFamily="2" charset="-122"/>
                <a:cs typeface="+mn-ea"/>
                <a:sym typeface="Huawei Sans" panose="020C0503030203020204" pitchFamily="34" charset="0"/>
              </a:rPr>
              <a:t>算法持续学习和预测分析，实现无线网络的预测性调优</a:t>
            </a:r>
            <a:r>
              <a:rPr lang="zh-CN" altLang="en-US" sz="1399"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3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520274" y="5673482"/>
            <a:ext cx="11046886" cy="321237"/>
          </a:xfrm>
          <a:prstGeom prst="rect">
            <a:avLst/>
          </a:prstGeom>
          <a:solidFill>
            <a:schemeClr val="bg1">
              <a:lumMod val="50000"/>
            </a:schemeClr>
          </a:solidFill>
        </p:spPr>
        <p:txBody>
          <a:bodyPr wrap="square" anchor="ctr" anchorCtr="0">
            <a:noAutofit/>
          </a:bodyPr>
          <a:lstStyle/>
          <a:p>
            <a:pPr defTabSz="914007">
              <a:lnSpc>
                <a:spcPct val="130000"/>
              </a:lnSpc>
            </a:pPr>
            <a:r>
              <a:rPr lang="zh-CN" altLang="en-US" sz="1399" kern="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利用</a:t>
            </a:r>
            <a:r>
              <a:rPr lang="zh-CN" altLang="en-US" sz="13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算法提升效率，通过场景化的持续学习和专家经验，智能运维将运维人员从复杂的告警和</a:t>
            </a:r>
            <a:r>
              <a:rPr lang="zh-CN" altLang="en-US" sz="1399" kern="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噪声中解放</a:t>
            </a:r>
            <a:r>
              <a:rPr lang="zh-CN" altLang="en-US" sz="13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出来，使运维更加自动化和</a:t>
            </a:r>
            <a:r>
              <a:rPr lang="zh-CN" altLang="en-US" sz="1399" kern="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智能化。</a:t>
            </a:r>
            <a:endParaRPr lang="en-US" altLang="zh-CN" sz="13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bwMode="gray">
          <a:xfrm>
            <a:off x="1165642" y="2130226"/>
            <a:ext cx="902811" cy="30764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a:spcAft>
                <a:spcPts val="0"/>
              </a:spcAft>
            </a:pP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传统网管</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8" name="组合 17"/>
          <p:cNvGrpSpPr/>
          <p:nvPr/>
        </p:nvGrpSpPr>
        <p:grpSpPr bwMode="gray">
          <a:xfrm>
            <a:off x="955065" y="3554528"/>
            <a:ext cx="2594795" cy="249395"/>
            <a:chOff x="940595" y="3748838"/>
            <a:chExt cx="2594795" cy="249395"/>
          </a:xfrm>
        </p:grpSpPr>
        <p:pic>
          <p:nvPicPr>
            <p:cNvPr id="19"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2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21"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22"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23"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sp>
        <p:nvSpPr>
          <p:cNvPr id="24" name="文本框 23"/>
          <p:cNvSpPr txBox="1"/>
          <p:nvPr/>
        </p:nvSpPr>
        <p:spPr bwMode="gray">
          <a:xfrm>
            <a:off x="7221582" y="2637252"/>
            <a:ext cx="1441420" cy="584455"/>
          </a:xfrm>
          <a:prstGeom prst="rect">
            <a:avLst/>
          </a:prstGeom>
          <a:noFill/>
        </p:spPr>
        <p:txBody>
          <a:bodyPr wrap="none" rtlCol="0">
            <a:spAutoFit/>
          </a:bodyPr>
          <a:lstStyle/>
          <a:p>
            <a:pPr algn="r" defTabSz="1218418"/>
            <a:r>
              <a:rPr lang="en-US" altLang="zh-CN" sz="1998" b="1" dirty="0">
                <a:latin typeface="Huawei Sans" panose="020C0503030203020204" pitchFamily="34" charset="0"/>
                <a:ea typeface="方正兰亭黑简体" panose="02000000000000000000" pitchFamily="2" charset="-122"/>
                <a:cs typeface="+mn-ea"/>
                <a:sym typeface="Huawei Sans" panose="020C0503030203020204" pitchFamily="34" charset="0"/>
              </a:rPr>
              <a:t>Telemetry</a:t>
            </a:r>
          </a:p>
          <a:p>
            <a:pPr algn="r" defTabSz="1218418"/>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秒级网络数据采集</a:t>
            </a:r>
            <a:endParaRPr lang="en-US" altLang="zh-CN" sz="1599"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5" name="直接箭头连接符 24"/>
          <p:cNvCxnSpPr/>
          <p:nvPr/>
        </p:nvCxnSpPr>
        <p:spPr bwMode="gray">
          <a:xfrm>
            <a:off x="8655940" y="2530216"/>
            <a:ext cx="0" cy="798527"/>
          </a:xfrm>
          <a:prstGeom prst="straightConnector1">
            <a:avLst/>
          </a:prstGeom>
          <a:noFill/>
          <a:ln w="28575" algn="ctr">
            <a:solidFill>
              <a:schemeClr val="tx1"/>
            </a:solidFill>
            <a:round/>
            <a:headEnd type="triangle" w="med" len="med"/>
            <a:tailEnd type="none" w="med" len="med"/>
          </a:ln>
        </p:spPr>
      </p:cxnSp>
      <p:sp>
        <p:nvSpPr>
          <p:cNvPr id="26" name="矩形 25"/>
          <p:cNvSpPr/>
          <p:nvPr/>
        </p:nvSpPr>
        <p:spPr bwMode="gray">
          <a:xfrm>
            <a:off x="9862887" y="1723699"/>
            <a:ext cx="1441420" cy="1259086"/>
          </a:xfrm>
          <a:prstGeom prst="rect">
            <a:avLst/>
          </a:prstGeom>
          <a:solidFill>
            <a:schemeClr val="bg1"/>
          </a:solidFill>
          <a:ln w="9525" cap="flat" cmpd="sng" algn="ctr">
            <a:solidFill>
              <a:srgbClr val="94DAE2"/>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体验可视化管理</a:t>
            </a:r>
            <a:endPar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用户旅程回放</a:t>
            </a:r>
            <a:endPar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潜在故障识别</a:t>
            </a:r>
            <a:endPar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故障根因定位</a:t>
            </a:r>
            <a:endPar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智能网络调</a:t>
            </a: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优</a:t>
            </a:r>
            <a:endPar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7" name="图片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668753" y="1912924"/>
            <a:ext cx="1574850" cy="524950"/>
          </a:xfrm>
          <a:prstGeom prst="rect">
            <a:avLst/>
          </a:prstGeom>
        </p:spPr>
      </p:pic>
      <p:sp>
        <p:nvSpPr>
          <p:cNvPr id="28" name="矩形 27"/>
          <p:cNvSpPr/>
          <p:nvPr/>
        </p:nvSpPr>
        <p:spPr bwMode="gray">
          <a:xfrm>
            <a:off x="7007399" y="3443160"/>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9" name="组合 28"/>
          <p:cNvGrpSpPr/>
          <p:nvPr/>
        </p:nvGrpSpPr>
        <p:grpSpPr bwMode="gray">
          <a:xfrm>
            <a:off x="7239811" y="3554528"/>
            <a:ext cx="2594795" cy="249395"/>
            <a:chOff x="940595" y="3748838"/>
            <a:chExt cx="2594795" cy="249395"/>
          </a:xfrm>
        </p:grpSpPr>
        <p:pic>
          <p:nvPicPr>
            <p:cNvPr id="3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3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32"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33"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34"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pic>
        <p:nvPicPr>
          <p:cNvPr id="35" name="图片 72" descr="交换机.png"/>
          <p:cNvPicPr>
            <a:picLocks noChangeAspect="1"/>
          </p:cNvPicPr>
          <p:nvPr/>
        </p:nvPicPr>
        <p:blipFill>
          <a:blip r:embed="rId9" cstate="print"/>
          <a:stretch>
            <a:fillRect/>
          </a:stretch>
        </p:blipFill>
        <p:spPr bwMode="gray">
          <a:xfrm>
            <a:off x="2078338" y="2105931"/>
            <a:ext cx="404368" cy="331943"/>
          </a:xfrm>
          <a:prstGeom prst="rect">
            <a:avLst/>
          </a:prstGeom>
        </p:spPr>
      </p:pic>
      <p:sp>
        <p:nvSpPr>
          <p:cNvPr id="36" name="任意多边形 35"/>
          <p:cNvSpPr/>
          <p:nvPr/>
        </p:nvSpPr>
        <p:spPr bwMode="gray">
          <a:xfrm rot="5400000" flipV="1">
            <a:off x="8884782" y="2030552"/>
            <a:ext cx="1264428" cy="65064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 name="connsiteX0" fmla="*/ 1616004 w 4063764"/>
              <a:gd name="connsiteY0" fmla="*/ 807 h 412041"/>
              <a:gd name="connsiteX1" fmla="*/ 0 w 4063764"/>
              <a:gd name="connsiteY1" fmla="*/ 354044 h 412041"/>
              <a:gd name="connsiteX2" fmla="*/ 4063765 w 4063764"/>
              <a:gd name="connsiteY2" fmla="*/ 412041 h 412041"/>
              <a:gd name="connsiteX3" fmla="*/ 1978811 w 4063764"/>
              <a:gd name="connsiteY3" fmla="*/ 0 h 412041"/>
              <a:gd name="connsiteX4" fmla="*/ 1616004 w 4063764"/>
              <a:gd name="connsiteY4" fmla="*/ 807 h 412041"/>
              <a:gd name="connsiteX0" fmla="*/ 1603796 w 4051556"/>
              <a:gd name="connsiteY0" fmla="*/ 807 h 412041"/>
              <a:gd name="connsiteX1" fmla="*/ 0 w 4051556"/>
              <a:gd name="connsiteY1" fmla="*/ 409773 h 412041"/>
              <a:gd name="connsiteX2" fmla="*/ 4051557 w 4051556"/>
              <a:gd name="connsiteY2" fmla="*/ 412041 h 412041"/>
              <a:gd name="connsiteX3" fmla="*/ 1966603 w 4051556"/>
              <a:gd name="connsiteY3" fmla="*/ 0 h 412041"/>
              <a:gd name="connsiteX4" fmla="*/ 1603796 w 4051556"/>
              <a:gd name="connsiteY4" fmla="*/ 807 h 412041"/>
              <a:gd name="connsiteX0" fmla="*/ 1127675 w 4051556"/>
              <a:gd name="connsiteY0" fmla="*/ 0 h 464245"/>
              <a:gd name="connsiteX1" fmla="*/ 0 w 4051556"/>
              <a:gd name="connsiteY1" fmla="*/ 461977 h 464245"/>
              <a:gd name="connsiteX2" fmla="*/ 4051557 w 4051556"/>
              <a:gd name="connsiteY2" fmla="*/ 464245 h 464245"/>
              <a:gd name="connsiteX3" fmla="*/ 1966603 w 4051556"/>
              <a:gd name="connsiteY3" fmla="*/ 52204 h 464245"/>
              <a:gd name="connsiteX4" fmla="*/ 1127675 w 4051556"/>
              <a:gd name="connsiteY4" fmla="*/ 0 h 464245"/>
              <a:gd name="connsiteX0" fmla="*/ 1127675 w 4051556"/>
              <a:gd name="connsiteY0" fmla="*/ 0 h 464245"/>
              <a:gd name="connsiteX1" fmla="*/ 0 w 4051556"/>
              <a:gd name="connsiteY1" fmla="*/ 461977 h 464245"/>
              <a:gd name="connsiteX2" fmla="*/ 4051557 w 4051556"/>
              <a:gd name="connsiteY2" fmla="*/ 464245 h 464245"/>
              <a:gd name="connsiteX3" fmla="*/ 1875040 w 4051556"/>
              <a:gd name="connsiteY3" fmla="*/ 4630 h 464245"/>
              <a:gd name="connsiteX4" fmla="*/ 1127675 w 4051556"/>
              <a:gd name="connsiteY4" fmla="*/ 0 h 464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1556" h="464245">
                <a:moveTo>
                  <a:pt x="1127675" y="0"/>
                </a:moveTo>
                <a:lnTo>
                  <a:pt x="0" y="461977"/>
                </a:lnTo>
                <a:lnTo>
                  <a:pt x="4051557" y="464245"/>
                </a:lnTo>
                <a:lnTo>
                  <a:pt x="1875040" y="4630"/>
                </a:lnTo>
                <a:lnTo>
                  <a:pt x="1127675" y="0"/>
                </a:lnTo>
                <a:close/>
              </a:path>
            </a:pathLst>
          </a:custGeom>
          <a:gradFill>
            <a:gsLst>
              <a:gs pos="100000">
                <a:schemeClr val="bg1"/>
              </a:gs>
              <a:gs pos="41000">
                <a:srgbClr val="BEE9EE"/>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下箭头 63"/>
          <p:cNvSpPr/>
          <p:nvPr/>
        </p:nvSpPr>
        <p:spPr bwMode="gray">
          <a:xfrm rot="5400000" flipV="1">
            <a:off x="4573166" y="2941205"/>
            <a:ext cx="701764" cy="79552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4430999" y="3182019"/>
            <a:ext cx="663964" cy="30764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a:spcAft>
                <a:spcPts val="0"/>
              </a:spcAft>
            </a:pPr>
            <a:r>
              <a:rPr lang="en-US" altLang="zh-CN" sz="1399" dirty="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To-BE</a:t>
            </a:r>
            <a:endParaRPr lang="en-US" altLang="zh-CN" sz="1399"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9440803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9917" y="1855315"/>
            <a:ext cx="1998886" cy="1616287"/>
          </a:xfrm>
          <a:prstGeom prst="rect">
            <a:avLst/>
          </a:prstGeom>
          <a:effectLst>
            <a:softEdge rad="88900"/>
          </a:effectLst>
        </p:spPr>
      </p:pic>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34429" y="1855315"/>
            <a:ext cx="2130603" cy="1597953"/>
          </a:xfrm>
          <a:prstGeom prst="rect">
            <a:avLst/>
          </a:prstGeom>
          <a:effectLst>
            <a:softEdge rad="88900"/>
          </a:effectLst>
        </p:spPr>
      </p:pic>
      <p:sp>
        <p:nvSpPr>
          <p:cNvPr id="3" name="标题 2"/>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：基于预测性和</a:t>
            </a:r>
            <a:r>
              <a:rPr lang="en-US" altLang="zh-CN" dirty="0" smtClean="0">
                <a:sym typeface="Huawei Sans" panose="020C0503030203020204" pitchFamily="34" charset="0"/>
              </a:rPr>
              <a:t>AI</a:t>
            </a:r>
            <a:r>
              <a:rPr lang="zh-CN" altLang="en-US" dirty="0" smtClean="0">
                <a:sym typeface="Huawei Sans" panose="020C0503030203020204" pitchFamily="34" charset="0"/>
              </a:rPr>
              <a:t>提升用户和业务体验</a:t>
            </a:r>
            <a:endParaRPr lang="zh-CN" altLang="en-US" dirty="0">
              <a:sym typeface="Huawei Sans" panose="020C0503030203020204" pitchFamily="34" charset="0"/>
            </a:endParaRPr>
          </a:p>
        </p:txBody>
      </p:sp>
      <p:sp>
        <p:nvSpPr>
          <p:cNvPr id="4" name="圆角矩形 3"/>
          <p:cNvSpPr/>
          <p:nvPr/>
        </p:nvSpPr>
        <p:spPr bwMode="gray">
          <a:xfrm>
            <a:off x="8276456" y="1658500"/>
            <a:ext cx="3096000" cy="4343992"/>
          </a:xfrm>
          <a:prstGeom prst="roundRect">
            <a:avLst>
              <a:gd name="adj" fmla="val 535"/>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defTabSz="1219272" fontAlgn="auto">
              <a:spcBef>
                <a:spcPts val="0"/>
              </a:spcBef>
              <a:spcAft>
                <a:spcPts val="0"/>
              </a:spcAft>
              <a:defRPr/>
            </a:pPr>
            <a:endParaRPr lang="zh-CN" altLang="en-US" sz="2667" kern="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bwMode="gray">
          <a:xfrm>
            <a:off x="4564384" y="1658500"/>
            <a:ext cx="3096000" cy="4343992"/>
          </a:xfrm>
          <a:prstGeom prst="roundRect">
            <a:avLst>
              <a:gd name="adj" fmla="val 1108"/>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defTabSz="1219272" fontAlgn="auto">
              <a:spcBef>
                <a:spcPts val="0"/>
              </a:spcBef>
              <a:spcAft>
                <a:spcPts val="0"/>
              </a:spcAft>
              <a:defRPr/>
            </a:pPr>
            <a:endParaRPr lang="zh-CN" altLang="en-US" sz="2667" kern="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圆角矩形 5"/>
          <p:cNvSpPr/>
          <p:nvPr/>
        </p:nvSpPr>
        <p:spPr bwMode="gray">
          <a:xfrm>
            <a:off x="835712" y="1658500"/>
            <a:ext cx="3096000" cy="4343992"/>
          </a:xfrm>
          <a:prstGeom prst="roundRect">
            <a:avLst>
              <a:gd name="adj" fmla="val 1968"/>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defTabSz="1219272" fontAlgn="auto">
              <a:spcBef>
                <a:spcPts val="0"/>
              </a:spcBef>
              <a:spcAft>
                <a:spcPts val="0"/>
              </a:spcAft>
              <a:defRPr/>
            </a:pPr>
            <a:endParaRPr lang="zh-CN" altLang="en-US" sz="2667" kern="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圆角矩形 6"/>
          <p:cNvSpPr/>
          <p:nvPr/>
        </p:nvSpPr>
        <p:spPr bwMode="gray">
          <a:xfrm>
            <a:off x="8260615" y="1220256"/>
            <a:ext cx="30960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智能网络调优</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839202" y="1209584"/>
            <a:ext cx="30960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实时体验可视</a:t>
            </a:r>
          </a:p>
        </p:txBody>
      </p:sp>
      <p:sp>
        <p:nvSpPr>
          <p:cNvPr id="9" name="圆角矩形 8"/>
          <p:cNvSpPr/>
          <p:nvPr/>
        </p:nvSpPr>
        <p:spPr bwMode="gray">
          <a:xfrm>
            <a:off x="4557138" y="1209584"/>
            <a:ext cx="30960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分钟级故障定界</a:t>
            </a:r>
          </a:p>
        </p:txBody>
      </p:sp>
      <p:grpSp>
        <p:nvGrpSpPr>
          <p:cNvPr id="10" name="组合 9"/>
          <p:cNvGrpSpPr/>
          <p:nvPr/>
        </p:nvGrpSpPr>
        <p:grpSpPr bwMode="gray">
          <a:xfrm>
            <a:off x="4114970" y="3128625"/>
            <a:ext cx="276795" cy="880035"/>
            <a:chOff x="8173178" y="2951095"/>
            <a:chExt cx="803142" cy="484632"/>
          </a:xfrm>
          <a:solidFill>
            <a:schemeClr val="bg1">
              <a:lumMod val="65000"/>
            </a:schemeClr>
          </a:solidFill>
        </p:grpSpPr>
        <p:sp>
          <p:nvSpPr>
            <p:cNvPr id="11" name="燕尾形 10"/>
            <p:cNvSpPr/>
            <p:nvPr/>
          </p:nvSpPr>
          <p:spPr bwMode="gray">
            <a:xfrm>
              <a:off x="8173178" y="2951095"/>
              <a:ext cx="484632" cy="484632"/>
            </a:xfrm>
            <a:prstGeom prst="chevron">
              <a:avLst/>
            </a:prstGeom>
            <a:grpFill/>
            <a:ln w="3175">
              <a:miter lim="400000"/>
            </a:ln>
            <a:extLst/>
          </p:spPr>
          <p:txBody>
            <a:bodyPr wrap="square" lIns="31738" tIns="31738" rIns="31738" bIns="31738" anchor="ctr">
              <a:noAutofit/>
            </a:bodyPr>
            <a:lstStyle/>
            <a:p>
              <a:pPr algn="ctr"/>
              <a:endParaRPr lang="zh-CN" altLang="en-US" sz="2000">
                <a:solidFill>
                  <a:schemeClr val="tx2"/>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燕尾形 11"/>
            <p:cNvSpPr/>
            <p:nvPr/>
          </p:nvSpPr>
          <p:spPr bwMode="gray">
            <a:xfrm>
              <a:off x="8491688" y="2951095"/>
              <a:ext cx="484632" cy="484632"/>
            </a:xfrm>
            <a:prstGeom prst="chevron">
              <a:avLst/>
            </a:prstGeom>
            <a:grpFill/>
            <a:ln w="3175">
              <a:miter lim="400000"/>
            </a:ln>
            <a:extLst/>
          </p:spPr>
          <p:txBody>
            <a:bodyPr wrap="square" lIns="31738" tIns="31738" rIns="31738" bIns="31738" anchor="ctr">
              <a:noAutofit/>
            </a:bodyPr>
            <a:lstStyle/>
            <a:p>
              <a:pPr algn="ctr"/>
              <a:endParaRPr lang="zh-CN" altLang="en-US" sz="2000">
                <a:solidFill>
                  <a:schemeClr val="tx2"/>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 name="组合 12"/>
          <p:cNvGrpSpPr/>
          <p:nvPr/>
        </p:nvGrpSpPr>
        <p:grpSpPr bwMode="gray">
          <a:xfrm>
            <a:off x="7818221" y="3128625"/>
            <a:ext cx="276795" cy="880035"/>
            <a:chOff x="8173178" y="2951095"/>
            <a:chExt cx="803142" cy="484632"/>
          </a:xfrm>
          <a:solidFill>
            <a:schemeClr val="bg1">
              <a:lumMod val="65000"/>
            </a:schemeClr>
          </a:solidFill>
        </p:grpSpPr>
        <p:sp>
          <p:nvSpPr>
            <p:cNvPr id="14" name="燕尾形 13"/>
            <p:cNvSpPr/>
            <p:nvPr/>
          </p:nvSpPr>
          <p:spPr bwMode="gray">
            <a:xfrm>
              <a:off x="8173178" y="2951095"/>
              <a:ext cx="484632" cy="484632"/>
            </a:xfrm>
            <a:prstGeom prst="chevron">
              <a:avLst/>
            </a:prstGeom>
            <a:grpFill/>
            <a:ln w="3175">
              <a:miter lim="400000"/>
            </a:ln>
            <a:extLst/>
          </p:spPr>
          <p:txBody>
            <a:bodyPr wrap="square" lIns="31738" tIns="31738" rIns="31738" bIns="31738" anchor="ctr">
              <a:noAutofit/>
            </a:bodyPr>
            <a:lstStyle/>
            <a:p>
              <a:pPr algn="ctr"/>
              <a:endParaRPr lang="zh-CN" altLang="en-US" sz="2000">
                <a:solidFill>
                  <a:schemeClr val="tx2"/>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燕尾形 14"/>
            <p:cNvSpPr/>
            <p:nvPr/>
          </p:nvSpPr>
          <p:spPr bwMode="gray">
            <a:xfrm>
              <a:off x="8491688" y="2951095"/>
              <a:ext cx="484632" cy="484632"/>
            </a:xfrm>
            <a:prstGeom prst="chevron">
              <a:avLst/>
            </a:prstGeom>
            <a:grpFill/>
            <a:ln w="3175">
              <a:miter lim="400000"/>
            </a:ln>
            <a:extLst/>
          </p:spPr>
          <p:txBody>
            <a:bodyPr wrap="square" lIns="31738" tIns="31738" rIns="31738" bIns="31738" anchor="ctr">
              <a:noAutofit/>
            </a:bodyPr>
            <a:lstStyle/>
            <a:p>
              <a:pPr algn="ctr"/>
              <a:endParaRPr lang="zh-CN" altLang="en-US" sz="2000">
                <a:solidFill>
                  <a:schemeClr val="tx2"/>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6" name="885553165"/>
          <p:cNvSpPr>
            <a:spLocks noChangeArrowheads="1"/>
          </p:cNvSpPr>
          <p:nvPr/>
        </p:nvSpPr>
        <p:spPr bwMode="gray">
          <a:xfrm>
            <a:off x="4682976" y="3471382"/>
            <a:ext cx="2824904" cy="2516073"/>
          </a:xfrm>
          <a:prstGeom prst="rect">
            <a:avLst/>
          </a:prstGeom>
          <a:noFill/>
          <a:ln w="9525">
            <a:noFill/>
            <a:miter lim="800000"/>
            <a:headEnd/>
            <a:tailEnd/>
          </a:ln>
        </p:spPr>
        <p:txBody>
          <a:bodyPr wrap="square">
            <a:spAutoFit/>
          </a:bodyPr>
          <a:lstStyle/>
          <a:p>
            <a:pPr marL="182490" indent="-182490">
              <a:lnSpc>
                <a:spcPts val="2100"/>
              </a:lnSpc>
              <a:buFont typeface="Arial" panose="020B0604020202020204" pitchFamily="34" charset="0"/>
              <a:buChar char="•"/>
              <a:defRPr/>
            </a:pP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主动问题识别：</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经过华为</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20</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万</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终端持续训练的</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算法，主动识别</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85%</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的网络潜在问题。</a:t>
            </a:r>
            <a:endPar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2490" indent="-182490">
              <a:lnSpc>
                <a:spcPts val="2100"/>
              </a:lnSpc>
              <a:buFont typeface="Arial" panose="020B0604020202020204" pitchFamily="34" charset="0"/>
              <a:buChar char="•"/>
              <a:defRPr/>
            </a:pP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分钟</a:t>
            </a: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级故障定位</a:t>
            </a:r>
            <a:r>
              <a:rPr lang="zh-CN"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基于故障推理引擎，分钟级问题定界并识别问题根因，给出有效的修复</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建议。</a:t>
            </a:r>
            <a:endPar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2490" indent="-182490">
              <a:lnSpc>
                <a:spcPts val="2100"/>
              </a:lnSpc>
              <a:buFont typeface="Arial" panose="020B0604020202020204" pitchFamily="34" charset="0"/>
              <a:buChar char="•"/>
              <a:defRPr/>
            </a:pP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智能故障预测：</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利用</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学习历史数据动态生成基线，通过和实时数据对比分析从而预测可能发生的</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2012034018"/>
          <p:cNvSpPr>
            <a:spLocks noChangeArrowheads="1"/>
          </p:cNvSpPr>
          <p:nvPr/>
        </p:nvSpPr>
        <p:spPr bwMode="gray">
          <a:xfrm>
            <a:off x="8478471" y="3471382"/>
            <a:ext cx="2691970" cy="2246769"/>
          </a:xfrm>
          <a:prstGeom prst="rect">
            <a:avLst/>
          </a:prstGeom>
          <a:noFill/>
          <a:ln w="9525">
            <a:noFill/>
            <a:miter lim="800000"/>
            <a:headEnd/>
            <a:tailEnd/>
          </a:ln>
        </p:spPr>
        <p:txBody>
          <a:bodyPr wrap="square">
            <a:spAutoFit/>
          </a:bodyPr>
          <a:lstStyle/>
          <a:p>
            <a:pPr marL="182490" indent="-182490">
              <a:lnSpc>
                <a:spcPts val="2100"/>
              </a:lnSpc>
              <a:buFont typeface="Arial" panose="020B0604020202020204" pitchFamily="34" charset="0"/>
              <a:buChar char="•"/>
              <a:defRPr/>
            </a:pP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实时仿真</a:t>
            </a: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反馈：</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基于楼层设备的邻居和射频</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信息，实时评估</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无线网络信道冲突情况，并给出优化</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建议。</a:t>
            </a:r>
            <a:endPar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2490" indent="-182490">
              <a:lnSpc>
                <a:spcPts val="2100"/>
              </a:lnSpc>
              <a:buFont typeface="Arial" panose="020B0604020202020204" pitchFamily="34" charset="0"/>
              <a:buChar char="•"/>
              <a:defRPr/>
            </a:pP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预测性调优：</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基于历史数据的分析识别边缘</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、预测</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的负载趋势，进行无线网络的预测性调优并查看调优前后的增益对比，整网性能提升</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50%+</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Tolly</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认证）</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603136532"/>
          <p:cNvSpPr>
            <a:spLocks noChangeArrowheads="1"/>
          </p:cNvSpPr>
          <p:nvPr/>
        </p:nvSpPr>
        <p:spPr bwMode="gray">
          <a:xfrm>
            <a:off x="1018852" y="3471382"/>
            <a:ext cx="2734292" cy="2516073"/>
          </a:xfrm>
          <a:prstGeom prst="rect">
            <a:avLst/>
          </a:prstGeom>
          <a:noFill/>
          <a:ln w="9525">
            <a:noFill/>
            <a:miter lim="800000"/>
            <a:headEnd/>
            <a:tailEnd/>
          </a:ln>
        </p:spPr>
        <p:txBody>
          <a:bodyPr wrap="square">
            <a:spAutoFit/>
          </a:bodyPr>
          <a:lstStyle/>
          <a:p>
            <a:pPr marL="171450" indent="-171450" defTabSz="1219272" fontAlgn="auto">
              <a:lnSpc>
                <a:spcPts val="2100"/>
              </a:lnSpc>
              <a:buFont typeface="Arial" panose="020B0604020202020204" pitchFamily="34" charset="0"/>
              <a:buChar char="•"/>
              <a:defRPr/>
            </a:pP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每区域</a:t>
            </a: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通过多维的有线</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无线网络健康度，直观呈现整网或每个区域的网络状况及用户</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defTabSz="1219272" fontAlgn="auto">
              <a:lnSpc>
                <a:spcPts val="2100"/>
              </a:lnSpc>
              <a:buFont typeface="Arial" panose="020B0604020202020204" pitchFamily="34" charset="0"/>
              <a:buChar char="•"/>
              <a:defRPr/>
            </a:pP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每</a:t>
            </a: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实时</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呈现每个用户</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的全</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旅程网络体验（谁、何时、连接至哪个</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、体验、问题</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），故障可回溯。</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defTabSz="1219272" fontAlgn="auto">
              <a:lnSpc>
                <a:spcPts val="2100"/>
              </a:lnSpc>
              <a:buFont typeface="Arial" panose="020B0604020202020204" pitchFamily="34" charset="0"/>
              <a:buChar char="•"/>
              <a:defRPr/>
            </a:pPr>
            <a:r>
              <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每应用</a:t>
            </a:r>
            <a:r>
              <a:rPr lang="zh-CN" altLang="en-US" sz="12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实时语音与实时视频应用体验感知，快速智能定界问题设备，分析质差根因。</a:t>
            </a:r>
          </a:p>
        </p:txBody>
      </p:sp>
      <p:pic>
        <p:nvPicPr>
          <p:cNvPr id="2" name="图片 1"/>
          <p:cNvPicPr>
            <a:picLocks noChangeAspect="1"/>
          </p:cNvPicPr>
          <p:nvPr/>
        </p:nvPicPr>
        <p:blipFill rotWithShape="1">
          <a:blip r:embed="rId5" cstate="print">
            <a:extLst>
              <a:ext uri="{28A0092B-C50C-407E-A947-70E740481C1C}">
                <a14:useLocalDpi xmlns:a14="http://schemas.microsoft.com/office/drawing/2010/main" val="0"/>
              </a:ext>
            </a:extLst>
          </a:blip>
          <a:srcRect t="19672" b="6834"/>
          <a:stretch/>
        </p:blipFill>
        <p:spPr>
          <a:xfrm>
            <a:off x="8711088" y="1876196"/>
            <a:ext cx="2340089" cy="1577072"/>
          </a:xfrm>
          <a:prstGeom prst="rect">
            <a:avLst/>
          </a:prstGeom>
          <a:effectLst>
            <a:softEdge rad="88900"/>
          </a:effectLst>
        </p:spPr>
      </p:pic>
    </p:spTree>
    <p:extLst>
      <p:ext uri="{BB962C8B-B14F-4D97-AF65-F5344CB8AC3E}">
        <p14:creationId xmlns:p14="http://schemas.microsoft.com/office/powerpoint/2010/main" val="4143840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Freeform 159"/>
          <p:cNvSpPr/>
          <p:nvPr/>
        </p:nvSpPr>
        <p:spPr bwMode="gray">
          <a:xfrm flipH="1">
            <a:off x="1209408" y="1573174"/>
            <a:ext cx="1909121" cy="997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62"/>
          <p:cNvSpPr/>
          <p:nvPr/>
        </p:nvSpPr>
        <p:spPr bwMode="gray">
          <a:xfrm>
            <a:off x="600998" y="3895586"/>
            <a:ext cx="3125943" cy="2240598"/>
          </a:xfrm>
          <a:prstGeom prst="roundRect">
            <a:avLst>
              <a:gd name="adj" fmla="val 2880"/>
            </a:avLst>
          </a:prstGeom>
          <a:solidFill>
            <a:schemeClr val="bg1">
              <a:lumMod val="95000"/>
            </a:schemeClr>
          </a:solid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err="1" smtClean="0">
                <a:sym typeface="Huawei Sans" panose="020C0503030203020204" pitchFamily="34" charset="0"/>
              </a:rPr>
              <a:t>CampusInsight</a:t>
            </a:r>
            <a:r>
              <a:rPr lang="zh-CN" altLang="en-US" dirty="0" smtClean="0">
                <a:sym typeface="Huawei Sans" panose="020C0503030203020204" pitchFamily="34" charset="0"/>
              </a:rPr>
              <a:t>：构建全栈智能运维</a:t>
            </a:r>
            <a:endParaRPr lang="zh-CN" altLang="en-US" dirty="0">
              <a:sym typeface="Huawei Sans" panose="020C0503030203020204" pitchFamily="34" charset="0"/>
            </a:endParaRPr>
          </a:p>
        </p:txBody>
      </p:sp>
      <p:sp>
        <p:nvSpPr>
          <p:cNvPr id="4" name="圆角矩形 3"/>
          <p:cNvSpPr/>
          <p:nvPr/>
        </p:nvSpPr>
        <p:spPr bwMode="gray">
          <a:xfrm>
            <a:off x="4048465" y="1517271"/>
            <a:ext cx="1800000" cy="1080000"/>
          </a:xfrm>
          <a:prstGeom prst="roundRect">
            <a:avLst>
              <a:gd name="adj" fmla="val 5856"/>
            </a:avLst>
          </a:prstGeom>
          <a:solidFill>
            <a:srgbClr val="FFFFFF"/>
          </a:solid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87"/>
          <p:cNvSpPr txBox="1"/>
          <p:nvPr/>
        </p:nvSpPr>
        <p:spPr bwMode="gray">
          <a:xfrm>
            <a:off x="4240554" y="1849522"/>
            <a:ext cx="1415822" cy="4238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50000"/>
              </a:lnSpc>
              <a:spcBef>
                <a:spcPts val="0"/>
              </a:spcBef>
              <a:spcAft>
                <a:spcPts val="0"/>
              </a:spcAft>
              <a:buClrTx/>
              <a:buSzTx/>
              <a:buFontTx/>
              <a:buNone/>
              <a:tabLst/>
              <a:defRPr/>
            </a:pPr>
            <a:r>
              <a:rPr lang="zh-CN" altLang="en-US" sz="16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实时体验可视</a:t>
            </a:r>
            <a:endParaRPr kumimoji="0" lang="zh-CN" altLang="en-US" sz="16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645527" y="1403357"/>
            <a:ext cx="3289922" cy="4437875"/>
          </a:xfrm>
          <a:prstGeom prst="rect">
            <a:avLst/>
          </a:prstGeom>
          <a:no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4048465" y="2692729"/>
            <a:ext cx="1800000" cy="1080000"/>
          </a:xfrm>
          <a:prstGeom prst="roundRect">
            <a:avLst>
              <a:gd name="adj" fmla="val 5856"/>
            </a:avLst>
          </a:prstGeom>
          <a:solidFill>
            <a:srgbClr val="FFFFFF"/>
          </a:solid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63"/>
          <p:cNvSpPr txBox="1"/>
          <p:nvPr/>
        </p:nvSpPr>
        <p:spPr bwMode="gray">
          <a:xfrm>
            <a:off x="4094598" y="3024980"/>
            <a:ext cx="1705710" cy="4238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分钟级故障定位</a:t>
            </a:r>
            <a:endParaRPr kumimoji="0" lang="zh-CN" altLang="en-US" sz="16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bwMode="gray">
          <a:xfrm>
            <a:off x="4048465" y="3895586"/>
            <a:ext cx="1800000" cy="1080000"/>
          </a:xfrm>
          <a:prstGeom prst="roundRect">
            <a:avLst>
              <a:gd name="adj" fmla="val 5856"/>
            </a:avLst>
          </a:prstGeom>
          <a:solidFill>
            <a:srgbClr val="FFFFFF"/>
          </a:solid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75"/>
          <p:cNvSpPr txBox="1"/>
          <p:nvPr/>
        </p:nvSpPr>
        <p:spPr bwMode="gray">
          <a:xfrm>
            <a:off x="4238487" y="4227837"/>
            <a:ext cx="1419957" cy="4238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智能网络调优</a:t>
            </a:r>
            <a:endParaRPr kumimoji="0" lang="zh-CN" altLang="en-US" sz="16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gray">
          <a:xfrm>
            <a:off x="5964913" y="1517271"/>
            <a:ext cx="5580000" cy="1080000"/>
          </a:xfrm>
          <a:prstGeom prst="roundRect">
            <a:avLst>
              <a:gd name="adj" fmla="val 7068"/>
            </a:avLst>
          </a:prstGeom>
          <a:no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5964913" y="2692729"/>
            <a:ext cx="5580000" cy="1080000"/>
          </a:xfrm>
          <a:prstGeom prst="roundRect">
            <a:avLst>
              <a:gd name="adj" fmla="val 7068"/>
            </a:avLst>
          </a:prstGeom>
          <a:no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bwMode="gray">
          <a:xfrm>
            <a:off x="5964913" y="3895586"/>
            <a:ext cx="5580000" cy="1080000"/>
          </a:xfrm>
          <a:prstGeom prst="roundRect">
            <a:avLst>
              <a:gd name="adj" fmla="val 7068"/>
            </a:avLst>
          </a:prstGeom>
          <a:no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645526" y="977020"/>
            <a:ext cx="3289923" cy="426337"/>
          </a:xfrm>
          <a:prstGeom prst="rect">
            <a:avLst/>
          </a:prstGeom>
          <a:solidFill>
            <a:srgbClr val="EFFAFB"/>
          </a:solidFill>
          <a:ln w="12700" cap="flat" cmpd="sng" algn="ctr">
            <a:solidFill>
              <a:srgbClr val="94DAE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网络的智慧大脑</a:t>
            </a:r>
            <a:endParaRPr kumimoji="0" lang="zh-CN" altLang="en-US" sz="18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4025367" y="977020"/>
            <a:ext cx="7511604" cy="426337"/>
          </a:xfrm>
          <a:prstGeom prst="rect">
            <a:avLst/>
          </a:prstGeom>
          <a:solidFill>
            <a:srgbClr val="EFFAFB"/>
          </a:solidFill>
          <a:ln w="12700" cap="flat" cmpd="sng" algn="ctr">
            <a:solidFill>
              <a:srgbClr val="94DAE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独家业务、用户、应用、网络全栈智能运维</a:t>
            </a:r>
            <a:endParaRPr kumimoji="0" lang="zh-CN" altLang="en-US" sz="18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4048465" y="5056185"/>
            <a:ext cx="1800000" cy="1080000"/>
          </a:xfrm>
          <a:prstGeom prst="roundRect">
            <a:avLst>
              <a:gd name="adj" fmla="val 5856"/>
            </a:avLst>
          </a:prstGeom>
          <a:solidFill>
            <a:srgbClr val="FFFFFF"/>
          </a:solid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31177" y="5388436"/>
            <a:ext cx="1434576" cy="4238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50000"/>
              </a:lnSpc>
              <a:spcBef>
                <a:spcPts val="0"/>
              </a:spcBef>
              <a:spcAft>
                <a:spcPts val="0"/>
              </a:spcAft>
              <a:buClrTx/>
              <a:buSzTx/>
              <a:buFontTx/>
              <a:buNone/>
              <a:tabLst/>
              <a:defRPr/>
            </a:pPr>
            <a:r>
              <a:rPr lang="zh-CN" altLang="en-US" sz="1600" b="1" noProof="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优质业务</a:t>
            </a:r>
            <a:r>
              <a:rPr kumimoji="0" lang="zh-CN" altLang="en-US" sz="1600" b="1" i="0" u="none" strike="noStrike" kern="120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保障</a:t>
            </a:r>
            <a:endParaRPr kumimoji="0" lang="zh-CN" altLang="en-US" sz="16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5964913" y="5056185"/>
            <a:ext cx="5580000" cy="1080000"/>
          </a:xfrm>
          <a:prstGeom prst="roundRect">
            <a:avLst>
              <a:gd name="adj" fmla="val 7068"/>
            </a:avLst>
          </a:prstGeom>
          <a:noFill/>
          <a:ln w="12700" cap="flat" cmpd="sng" algn="ctr">
            <a:solidFill>
              <a:srgbClr val="666666">
                <a:lumMod val="60000"/>
                <a:lumOff val="4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gray">
          <a:xfrm>
            <a:off x="8999325" y="2763536"/>
            <a:ext cx="2348401" cy="928779"/>
          </a:xfrm>
          <a:prstGeom prst="rect">
            <a:avLst/>
          </a:prstGeom>
          <a:solidFill>
            <a:srgbClr val="EFFAFB"/>
          </a:solidFill>
          <a:ln w="12700" cap="flat" cmpd="sng" algn="ctr">
            <a:solidFill>
              <a:srgbClr val="94DAE2"/>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endParaRPr kumimoji="0" lang="zh-CN" altLang="en-US" sz="1200" b="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gray">
          <a:xfrm>
            <a:off x="6325603" y="2761503"/>
            <a:ext cx="2310046" cy="930812"/>
          </a:xfrm>
          <a:prstGeom prst="rect">
            <a:avLst/>
          </a:prstGeom>
          <a:solidFill>
            <a:srgbClr val="EFFAFB"/>
          </a:solidFill>
          <a:ln w="12700" cap="flat" cmpd="sng" algn="ctr">
            <a:solidFill>
              <a:srgbClr val="94DAE2"/>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endParaRPr kumimoji="0" lang="zh-CN" altLang="en-US" sz="1200" b="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8044664" y="1673337"/>
            <a:ext cx="1584000" cy="789142"/>
          </a:xfrm>
          <a:prstGeom prst="rect">
            <a:avLst/>
          </a:prstGeom>
          <a:solidFill>
            <a:srgbClr val="EFFAFB"/>
          </a:solidFill>
          <a:ln w="12700" cap="flat" cmpd="sng" algn="ctr">
            <a:solidFill>
              <a:srgbClr val="94DAE2"/>
            </a:solidFill>
            <a:prstDash val="solid"/>
            <a:miter lim="800000"/>
          </a:ln>
          <a:effectLst/>
        </p:spPr>
        <p:txBody>
          <a:bodyPr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网络</a:t>
            </a:r>
            <a:endParaRPr kumimoji="0" lang="en-US" altLang="zh-CN"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矩形 31"/>
          <p:cNvSpPr/>
          <p:nvPr/>
        </p:nvSpPr>
        <p:spPr bwMode="gray">
          <a:xfrm>
            <a:off x="6325602" y="1665035"/>
            <a:ext cx="1584000" cy="802205"/>
          </a:xfrm>
          <a:prstGeom prst="rect">
            <a:avLst/>
          </a:prstGeom>
          <a:solidFill>
            <a:srgbClr val="EFFAFB"/>
          </a:solidFill>
          <a:ln w="12700" cap="flat" cmpd="sng" algn="ctr">
            <a:solidFill>
              <a:srgbClr val="94DAE2"/>
            </a:solidFill>
            <a:prstDash val="solid"/>
            <a:miter lim="800000"/>
          </a:ln>
          <a:effectLst/>
        </p:spPr>
        <p:txBody>
          <a:bodyPr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a:t>
            </a:r>
            <a:endParaRPr lang="en-US" altLang="zh-CN" sz="1400" b="1"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bwMode="gray">
          <a:xfrm>
            <a:off x="7807514" y="3067707"/>
            <a:ext cx="828135"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质</a:t>
            </a: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差</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用户分析</a:t>
            </a:r>
            <a:endParaRPr kumimoji="0" lang="zh-CN" altLang="en-US" sz="1200" b="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bwMode="gray">
          <a:xfrm>
            <a:off x="6351023" y="3067707"/>
            <a:ext cx="648000"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协议</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回放</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7132460" y="3067707"/>
            <a:ext cx="648000" cy="612000"/>
          </a:xfrm>
          <a:prstGeom prst="rect">
            <a:avLst/>
          </a:prstGeom>
          <a:noFill/>
          <a:ln w="12700" cap="flat" cmpd="sng" algn="ctr">
            <a:noFill/>
            <a:prstDash val="solid"/>
            <a:miter lim="800000"/>
          </a:ln>
          <a:effectLst/>
        </p:spPr>
        <p:txBody>
          <a:bodyPr wrap="none"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主流</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应用分析</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bwMode="gray">
          <a:xfrm>
            <a:off x="7055166" y="2796322"/>
            <a:ext cx="782241" cy="279539"/>
          </a:xfrm>
          <a:prstGeom prst="rect">
            <a:avLst/>
          </a:prstGeom>
          <a:noFill/>
          <a:ln w="3175">
            <a:miter lim="400000"/>
          </a:ln>
        </p:spPr>
        <p:txBody>
          <a:bodyPr wrap="none" lIns="31738" tIns="31738" rIns="31738" bIns="31738"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个障分析</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36"/>
          <p:cNvSpPr/>
          <p:nvPr/>
        </p:nvSpPr>
        <p:spPr bwMode="gray">
          <a:xfrm>
            <a:off x="9741105" y="2806971"/>
            <a:ext cx="782241" cy="279539"/>
          </a:xfrm>
          <a:prstGeom prst="rect">
            <a:avLst/>
          </a:prstGeom>
          <a:noFill/>
          <a:ln w="3175">
            <a:miter lim="400000"/>
          </a:ln>
        </p:spPr>
        <p:txBody>
          <a:bodyPr wrap="none" lIns="31738" tIns="31738" rIns="31738" bIns="31738"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群障分析</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37"/>
          <p:cNvSpPr/>
          <p:nvPr/>
        </p:nvSpPr>
        <p:spPr bwMode="gray">
          <a:xfrm>
            <a:off x="9207513" y="3067707"/>
            <a:ext cx="963691"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群障分析</a:t>
            </a:r>
            <a:endPar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38"/>
          <p:cNvSpPr/>
          <p:nvPr/>
        </p:nvSpPr>
        <p:spPr bwMode="gray">
          <a:xfrm>
            <a:off x="6325603" y="3986765"/>
            <a:ext cx="2297982" cy="920887"/>
          </a:xfrm>
          <a:prstGeom prst="rect">
            <a:avLst/>
          </a:prstGeom>
          <a:solidFill>
            <a:srgbClr val="EFFAFB"/>
          </a:solidFill>
          <a:ln w="12700" cap="flat" cmpd="sng" algn="ctr">
            <a:solidFill>
              <a:srgbClr val="94DAE2"/>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400" b="1" kern="0" dirty="0">
                <a:latin typeface="Huawei Sans" panose="020C0503030203020204" pitchFamily="34" charset="0"/>
                <a:ea typeface="方正兰亭黑简体" panose="02000000000000000000" pitchFamily="2" charset="-122"/>
                <a:cs typeface="+mn-ea"/>
                <a:sym typeface="Huawei Sans" panose="020C0503030203020204" pitchFamily="34" charset="0"/>
              </a:rPr>
              <a:t>智能</a:t>
            </a:r>
            <a:r>
              <a:rPr lang="zh-CN" altLang="en-US" sz="1400" b="1" kern="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无线射频调</a:t>
            </a:r>
            <a:r>
              <a:rPr kumimoji="0" lang="zh-CN" altLang="en-US"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优</a:t>
            </a:r>
          </a:p>
        </p:txBody>
      </p:sp>
      <p:sp>
        <p:nvSpPr>
          <p:cNvPr id="42" name="矩形 41"/>
          <p:cNvSpPr/>
          <p:nvPr/>
        </p:nvSpPr>
        <p:spPr bwMode="gray">
          <a:xfrm>
            <a:off x="9763726" y="1670539"/>
            <a:ext cx="1584000" cy="789142"/>
          </a:xfrm>
          <a:prstGeom prst="rect">
            <a:avLst/>
          </a:prstGeom>
          <a:solidFill>
            <a:srgbClr val="EFFAFB"/>
          </a:solidFill>
          <a:ln w="12700" cap="flat" cmpd="sng" algn="ctr">
            <a:solidFill>
              <a:srgbClr val="94DAE2"/>
            </a:solidFill>
            <a:prstDash val="solid"/>
            <a:miter lim="800000"/>
          </a:ln>
          <a:effectLst/>
        </p:spPr>
        <p:txBody>
          <a:bodyPr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应用</a:t>
            </a:r>
            <a:endParaRPr kumimoji="0" lang="en-US" altLang="zh-CN"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矩形 42"/>
          <p:cNvSpPr/>
          <p:nvPr/>
        </p:nvSpPr>
        <p:spPr bwMode="gray">
          <a:xfrm>
            <a:off x="6428741" y="1904012"/>
            <a:ext cx="648000"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旅程</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bwMode="gray">
          <a:xfrm>
            <a:off x="8883513" y="1892337"/>
            <a:ext cx="648000"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频谱</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矩形 46"/>
          <p:cNvSpPr/>
          <p:nvPr/>
        </p:nvSpPr>
        <p:spPr bwMode="gray">
          <a:xfrm>
            <a:off x="10169085" y="3067707"/>
            <a:ext cx="963691"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有</a:t>
            </a: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线</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群障分析</a:t>
            </a:r>
            <a:endPar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矩形 47"/>
          <p:cNvSpPr/>
          <p:nvPr/>
        </p:nvSpPr>
        <p:spPr bwMode="gray">
          <a:xfrm>
            <a:off x="6325603" y="5135285"/>
            <a:ext cx="2297982" cy="920887"/>
          </a:xfrm>
          <a:prstGeom prst="rect">
            <a:avLst/>
          </a:prstGeom>
          <a:solidFill>
            <a:srgbClr val="EFFAFB"/>
          </a:solidFill>
          <a:ln w="12700" cap="flat" cmpd="sng" algn="ctr">
            <a:solidFill>
              <a:srgbClr val="94DAE2"/>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400" b="1" kern="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无线定位</a:t>
            </a:r>
            <a:endParaRPr kumimoji="0" lang="zh-CN" altLang="en-US" sz="1400" b="1"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矩形 48"/>
          <p:cNvSpPr/>
          <p:nvPr/>
        </p:nvSpPr>
        <p:spPr bwMode="gray">
          <a:xfrm>
            <a:off x="8099678" y="1892337"/>
            <a:ext cx="736985"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矩形 49"/>
          <p:cNvSpPr/>
          <p:nvPr/>
        </p:nvSpPr>
        <p:spPr bwMode="gray">
          <a:xfrm>
            <a:off x="7115936" y="1904012"/>
            <a:ext cx="648000"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终端</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defTabSz="914400">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拨测</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矩形 66"/>
          <p:cNvSpPr/>
          <p:nvPr/>
        </p:nvSpPr>
        <p:spPr bwMode="gray">
          <a:xfrm>
            <a:off x="9865163" y="1904012"/>
            <a:ext cx="1381126" cy="612000"/>
          </a:xfrm>
          <a:prstGeom prst="rect">
            <a:avLst/>
          </a:prstGeom>
          <a:no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1K+</a:t>
            </a: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主流应用可视</a:t>
            </a:r>
            <a:endParaRPr lang="en-US" altLang="zh-CN"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lvl="0" algn="ctr">
              <a:defRPr/>
            </a:pPr>
            <a:r>
              <a:rPr lang="zh-CN" altLang="en-US" sz="1200" kern="0" dirty="0" smtClea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及</a:t>
            </a:r>
            <a:r>
              <a:rPr lang="zh-CN" altLang="en-US" sz="12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rPr>
              <a:t>流量分析</a:t>
            </a:r>
            <a:endParaRPr lang="zh-CN" altLang="en-US" sz="1400" kern="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5" name="图片 44" descr="大型网管-蓝.png"/>
          <p:cNvPicPr>
            <a:picLocks noChangeAspect="1"/>
          </p:cNvPicPr>
          <p:nvPr/>
        </p:nvPicPr>
        <p:blipFill>
          <a:blip r:embed="rId3" cstate="print"/>
          <a:stretch>
            <a:fillRect/>
          </a:stretch>
        </p:blipFill>
        <p:spPr bwMode="gray">
          <a:xfrm>
            <a:off x="1763969" y="4695829"/>
            <a:ext cx="692381" cy="566905"/>
          </a:xfrm>
          <a:prstGeom prst="rect">
            <a:avLst/>
          </a:prstGeom>
        </p:spPr>
      </p:pic>
      <p:pic>
        <p:nvPicPr>
          <p:cNvPr id="46" name="图片 45" descr="酒店-蓝.png"/>
          <p:cNvPicPr>
            <a:picLocks noChangeAspect="1"/>
          </p:cNvPicPr>
          <p:nvPr/>
        </p:nvPicPr>
        <p:blipFill>
          <a:blip r:embed="rId4" cstate="print"/>
          <a:stretch>
            <a:fillRect/>
          </a:stretch>
        </p:blipFill>
        <p:spPr bwMode="gray">
          <a:xfrm>
            <a:off x="2766635" y="4167901"/>
            <a:ext cx="539607" cy="441817"/>
          </a:xfrm>
          <a:prstGeom prst="rect">
            <a:avLst/>
          </a:prstGeom>
        </p:spPr>
      </p:pic>
      <p:pic>
        <p:nvPicPr>
          <p:cNvPr id="51" name="图片 50" descr="酒店-蓝.png"/>
          <p:cNvPicPr>
            <a:picLocks noChangeAspect="1"/>
          </p:cNvPicPr>
          <p:nvPr/>
        </p:nvPicPr>
        <p:blipFill>
          <a:blip r:embed="rId4" cstate="print"/>
          <a:stretch>
            <a:fillRect/>
          </a:stretch>
        </p:blipFill>
        <p:spPr bwMode="gray">
          <a:xfrm>
            <a:off x="2766634" y="5262734"/>
            <a:ext cx="539607" cy="441817"/>
          </a:xfrm>
          <a:prstGeom prst="rect">
            <a:avLst/>
          </a:prstGeom>
        </p:spPr>
      </p:pic>
      <p:pic>
        <p:nvPicPr>
          <p:cNvPr id="52" name="图片 51" descr="酒店-蓝.png"/>
          <p:cNvPicPr>
            <a:picLocks noChangeAspect="1"/>
          </p:cNvPicPr>
          <p:nvPr/>
        </p:nvPicPr>
        <p:blipFill>
          <a:blip r:embed="rId4" cstate="print"/>
          <a:stretch>
            <a:fillRect/>
          </a:stretch>
        </p:blipFill>
        <p:spPr bwMode="gray">
          <a:xfrm>
            <a:off x="1016805" y="4167900"/>
            <a:ext cx="539607" cy="441817"/>
          </a:xfrm>
          <a:prstGeom prst="rect">
            <a:avLst/>
          </a:prstGeom>
        </p:spPr>
      </p:pic>
      <p:pic>
        <p:nvPicPr>
          <p:cNvPr id="54" name="图片 53" descr="办公楼.png"/>
          <p:cNvPicPr>
            <a:picLocks noChangeAspect="1"/>
          </p:cNvPicPr>
          <p:nvPr/>
        </p:nvPicPr>
        <p:blipFill>
          <a:blip r:embed="rId5" cstate="print"/>
          <a:stretch>
            <a:fillRect/>
          </a:stretch>
        </p:blipFill>
        <p:spPr bwMode="gray">
          <a:xfrm>
            <a:off x="1010890" y="5265633"/>
            <a:ext cx="540000" cy="441818"/>
          </a:xfrm>
          <a:prstGeom prst="rect">
            <a:avLst/>
          </a:prstGeom>
        </p:spPr>
      </p:pic>
      <p:sp>
        <p:nvSpPr>
          <p:cNvPr id="55" name="文本框 153"/>
          <p:cNvSpPr txBox="1"/>
          <p:nvPr/>
        </p:nvSpPr>
        <p:spPr bwMode="gray">
          <a:xfrm>
            <a:off x="1748264" y="5300500"/>
            <a:ext cx="723790" cy="21544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58" name="文本框 153"/>
          <p:cNvSpPr txBox="1"/>
          <p:nvPr/>
        </p:nvSpPr>
        <p:spPr bwMode="gray">
          <a:xfrm>
            <a:off x="918995" y="5756476"/>
            <a:ext cx="723790" cy="21544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研发中心</a:t>
            </a:r>
          </a:p>
        </p:txBody>
      </p:sp>
      <p:sp>
        <p:nvSpPr>
          <p:cNvPr id="59" name="文本框 153"/>
          <p:cNvSpPr txBox="1"/>
          <p:nvPr/>
        </p:nvSpPr>
        <p:spPr bwMode="gray">
          <a:xfrm>
            <a:off x="2680485" y="5756476"/>
            <a:ext cx="723790" cy="21544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sp>
        <p:nvSpPr>
          <p:cNvPr id="60" name="文本框 153"/>
          <p:cNvSpPr txBox="1"/>
          <p:nvPr/>
        </p:nvSpPr>
        <p:spPr bwMode="gray">
          <a:xfrm>
            <a:off x="2680485" y="4615753"/>
            <a:ext cx="723790" cy="21544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sp>
        <p:nvSpPr>
          <p:cNvPr id="61" name="文本框 153"/>
          <p:cNvSpPr txBox="1"/>
          <p:nvPr/>
        </p:nvSpPr>
        <p:spPr bwMode="gray">
          <a:xfrm>
            <a:off x="927163" y="4615753"/>
            <a:ext cx="723790" cy="21544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pic>
        <p:nvPicPr>
          <p:cNvPr id="64" name="图片 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152374" y="1892337"/>
            <a:ext cx="1890006" cy="630002"/>
          </a:xfrm>
          <a:prstGeom prst="rect">
            <a:avLst/>
          </a:prstGeom>
        </p:spPr>
      </p:pic>
      <p:sp>
        <p:nvSpPr>
          <p:cNvPr id="3" name="任意多边形 2"/>
          <p:cNvSpPr/>
          <p:nvPr/>
        </p:nvSpPr>
        <p:spPr bwMode="gray">
          <a:xfrm>
            <a:off x="1912994" y="2590011"/>
            <a:ext cx="249181" cy="2134390"/>
          </a:xfrm>
          <a:custGeom>
            <a:avLst/>
            <a:gdLst>
              <a:gd name="connsiteX0" fmla="*/ 163456 w 249181"/>
              <a:gd name="connsiteY0" fmla="*/ 2066925 h 2066925"/>
              <a:gd name="connsiteX1" fmla="*/ 1531 w 249181"/>
              <a:gd name="connsiteY1" fmla="*/ 914400 h 2066925"/>
              <a:gd name="connsiteX2" fmla="*/ 249181 w 249181"/>
              <a:gd name="connsiteY2" fmla="*/ 0 h 2066925"/>
            </a:gdLst>
            <a:ahLst/>
            <a:cxnLst>
              <a:cxn ang="0">
                <a:pos x="connsiteX0" y="connsiteY0"/>
              </a:cxn>
              <a:cxn ang="0">
                <a:pos x="connsiteX1" y="connsiteY1"/>
              </a:cxn>
              <a:cxn ang="0">
                <a:pos x="connsiteX2" y="connsiteY2"/>
              </a:cxn>
            </a:cxnLst>
            <a:rect l="l" t="t" r="r" b="b"/>
            <a:pathLst>
              <a:path w="249181" h="2066925">
                <a:moveTo>
                  <a:pt x="163456" y="2066925"/>
                </a:moveTo>
                <a:cubicBezTo>
                  <a:pt x="75350" y="1662906"/>
                  <a:pt x="-12756" y="1258887"/>
                  <a:pt x="1531" y="914400"/>
                </a:cubicBezTo>
                <a:cubicBezTo>
                  <a:pt x="15818" y="569913"/>
                  <a:pt x="132499" y="284956"/>
                  <a:pt x="249181" y="0"/>
                </a:cubicBezTo>
              </a:path>
            </a:pathLst>
          </a:cu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任意多边形 8"/>
          <p:cNvSpPr/>
          <p:nvPr/>
        </p:nvSpPr>
        <p:spPr bwMode="gray">
          <a:xfrm>
            <a:off x="1189915" y="2590800"/>
            <a:ext cx="705560" cy="1485900"/>
          </a:xfrm>
          <a:custGeom>
            <a:avLst/>
            <a:gdLst>
              <a:gd name="connsiteX0" fmla="*/ 10235 w 705560"/>
              <a:gd name="connsiteY0" fmla="*/ 1485900 h 1485900"/>
              <a:gd name="connsiteX1" fmla="*/ 95960 w 705560"/>
              <a:gd name="connsiteY1" fmla="*/ 561975 h 1485900"/>
              <a:gd name="connsiteX2" fmla="*/ 705560 w 705560"/>
              <a:gd name="connsiteY2" fmla="*/ 0 h 1485900"/>
            </a:gdLst>
            <a:ahLst/>
            <a:cxnLst>
              <a:cxn ang="0">
                <a:pos x="connsiteX0" y="connsiteY0"/>
              </a:cxn>
              <a:cxn ang="0">
                <a:pos x="connsiteX1" y="connsiteY1"/>
              </a:cxn>
              <a:cxn ang="0">
                <a:pos x="connsiteX2" y="connsiteY2"/>
              </a:cxn>
            </a:cxnLst>
            <a:rect l="l" t="t" r="r" b="b"/>
            <a:pathLst>
              <a:path w="705560" h="1485900">
                <a:moveTo>
                  <a:pt x="10235" y="1485900"/>
                </a:moveTo>
                <a:cubicBezTo>
                  <a:pt x="-4846" y="1147762"/>
                  <a:pt x="-19927" y="809625"/>
                  <a:pt x="95960" y="561975"/>
                </a:cubicBezTo>
                <a:cubicBezTo>
                  <a:pt x="211847" y="314325"/>
                  <a:pt x="603960" y="90487"/>
                  <a:pt x="705560" y="0"/>
                </a:cubicBezTo>
              </a:path>
            </a:pathLst>
          </a:cu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任意多边形 11"/>
          <p:cNvSpPr/>
          <p:nvPr/>
        </p:nvSpPr>
        <p:spPr bwMode="gray">
          <a:xfrm>
            <a:off x="2343150" y="2600325"/>
            <a:ext cx="409575" cy="1914525"/>
          </a:xfrm>
          <a:custGeom>
            <a:avLst/>
            <a:gdLst>
              <a:gd name="connsiteX0" fmla="*/ 409575 w 409575"/>
              <a:gd name="connsiteY0" fmla="*/ 1914525 h 1914525"/>
              <a:gd name="connsiteX1" fmla="*/ 333375 w 409575"/>
              <a:gd name="connsiteY1" fmla="*/ 1714500 h 1914525"/>
              <a:gd name="connsiteX2" fmla="*/ 152400 w 409575"/>
              <a:gd name="connsiteY2" fmla="*/ 828675 h 1914525"/>
              <a:gd name="connsiteX3" fmla="*/ 95250 w 409575"/>
              <a:gd name="connsiteY3" fmla="*/ 409575 h 1914525"/>
              <a:gd name="connsiteX4" fmla="*/ 0 w 409575"/>
              <a:gd name="connsiteY4" fmla="*/ 0 h 1914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575" h="1914525">
                <a:moveTo>
                  <a:pt x="409575" y="1914525"/>
                </a:moveTo>
                <a:cubicBezTo>
                  <a:pt x="392906" y="1905000"/>
                  <a:pt x="376237" y="1895475"/>
                  <a:pt x="333375" y="1714500"/>
                </a:cubicBezTo>
                <a:cubicBezTo>
                  <a:pt x="290513" y="1533525"/>
                  <a:pt x="192088" y="1046163"/>
                  <a:pt x="152400" y="828675"/>
                </a:cubicBezTo>
                <a:cubicBezTo>
                  <a:pt x="112712" y="611187"/>
                  <a:pt x="120650" y="547688"/>
                  <a:pt x="95250" y="409575"/>
                </a:cubicBezTo>
                <a:cubicBezTo>
                  <a:pt x="69850" y="271462"/>
                  <a:pt x="34925" y="135731"/>
                  <a:pt x="0" y="0"/>
                </a:cubicBezTo>
              </a:path>
            </a:pathLst>
          </a:cu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任意多边形 14"/>
          <p:cNvSpPr/>
          <p:nvPr/>
        </p:nvSpPr>
        <p:spPr bwMode="gray">
          <a:xfrm>
            <a:off x="2571750" y="2600325"/>
            <a:ext cx="775999" cy="1533525"/>
          </a:xfrm>
          <a:custGeom>
            <a:avLst/>
            <a:gdLst>
              <a:gd name="connsiteX0" fmla="*/ 733425 w 775999"/>
              <a:gd name="connsiteY0" fmla="*/ 1533525 h 1533525"/>
              <a:gd name="connsiteX1" fmla="*/ 695325 w 775999"/>
              <a:gd name="connsiteY1" fmla="*/ 685800 h 1533525"/>
              <a:gd name="connsiteX2" fmla="*/ 0 w 775999"/>
              <a:gd name="connsiteY2" fmla="*/ 0 h 1533525"/>
            </a:gdLst>
            <a:ahLst/>
            <a:cxnLst>
              <a:cxn ang="0">
                <a:pos x="connsiteX0" y="connsiteY0"/>
              </a:cxn>
              <a:cxn ang="0">
                <a:pos x="connsiteX1" y="connsiteY1"/>
              </a:cxn>
              <a:cxn ang="0">
                <a:pos x="connsiteX2" y="connsiteY2"/>
              </a:cxn>
            </a:cxnLst>
            <a:rect l="l" t="t" r="r" b="b"/>
            <a:pathLst>
              <a:path w="775999" h="1533525">
                <a:moveTo>
                  <a:pt x="733425" y="1533525"/>
                </a:moveTo>
                <a:cubicBezTo>
                  <a:pt x="775494" y="1237456"/>
                  <a:pt x="817563" y="941387"/>
                  <a:pt x="695325" y="685800"/>
                </a:cubicBezTo>
                <a:cubicBezTo>
                  <a:pt x="573087" y="430212"/>
                  <a:pt x="286543" y="215106"/>
                  <a:pt x="0" y="0"/>
                </a:cubicBezTo>
              </a:path>
            </a:pathLst>
          </a:custGeom>
          <a:no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153"/>
          <p:cNvSpPr txBox="1"/>
          <p:nvPr/>
        </p:nvSpPr>
        <p:spPr bwMode="gray">
          <a:xfrm>
            <a:off x="1484927" y="3036689"/>
            <a:ext cx="1570722" cy="430887"/>
          </a:xfrm>
          <a:prstGeom prst="rect">
            <a:avLst/>
          </a:prstGeom>
          <a:solidFill>
            <a:schemeClr val="bg1"/>
          </a:solid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Telemetry</a:t>
            </a:r>
          </a:p>
          <a:p>
            <a:pPr algn="ctr"/>
            <a:r>
              <a:rPr kumimoji="1"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实时数据采集</a:t>
            </a:r>
          </a:p>
        </p:txBody>
      </p:sp>
    </p:spTree>
    <p:extLst>
      <p:ext uri="{BB962C8B-B14F-4D97-AF65-F5344CB8AC3E}">
        <p14:creationId xmlns:p14="http://schemas.microsoft.com/office/powerpoint/2010/main" val="19125735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：逻辑架构</a:t>
            </a:r>
            <a:endParaRPr lang="zh-CN" altLang="en-US" dirty="0">
              <a:sym typeface="Huawei Sans" panose="020C0503030203020204" pitchFamily="34" charset="0"/>
            </a:endParaRPr>
          </a:p>
        </p:txBody>
      </p:sp>
      <p:sp>
        <p:nvSpPr>
          <p:cNvPr id="3" name="矩形 2"/>
          <p:cNvSpPr/>
          <p:nvPr/>
        </p:nvSpPr>
        <p:spPr bwMode="gray">
          <a:xfrm>
            <a:off x="348663" y="3475112"/>
            <a:ext cx="1570182" cy="307777"/>
          </a:xfrm>
          <a:prstGeom prst="rect">
            <a:avLst/>
          </a:prstGeom>
        </p:spPr>
        <p:txBody>
          <a:bodyPr wrap="square">
            <a:spAutoFit/>
          </a:bodyPr>
          <a:lstStyle/>
          <a:p>
            <a:pPr algn="ctr" defTabSz="914400" fontAlgn="base">
              <a:spcBef>
                <a:spcPct val="0"/>
              </a:spcBef>
              <a:spcAft>
                <a:spcPct val="0"/>
              </a:spcAft>
            </a:pPr>
            <a:r>
              <a:rPr lang="en-US" altLang="zh-CN" sz="1400" b="1" dirty="0" err="1"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endParaRPr lang="zh-CN" altLang="en-US" sz="14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矩形 3"/>
          <p:cNvSpPr/>
          <p:nvPr/>
        </p:nvSpPr>
        <p:spPr bwMode="gray">
          <a:xfrm>
            <a:off x="1030130" y="5455683"/>
            <a:ext cx="543739" cy="307777"/>
          </a:xfrm>
          <a:prstGeom prst="rect">
            <a:avLst/>
          </a:prstGeom>
        </p:spPr>
        <p:txBody>
          <a:bodyPr wrap="none">
            <a:spAutoFit/>
          </a:bodyPr>
          <a:lstStyle/>
          <a:p>
            <a:pPr algn="ctr" defTabSz="914400" fontAlgn="base">
              <a:spcBef>
                <a:spcPct val="0"/>
              </a:spcBef>
              <a:spcAft>
                <a:spcPct val="0"/>
              </a:spcAft>
            </a:pPr>
            <a:r>
              <a:rPr lang="zh-CN" altLang="en-US" sz="14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endParaRPr lang="zh-CN" altLang="en-US" sz="14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矩形 4"/>
          <p:cNvSpPr/>
          <p:nvPr/>
        </p:nvSpPr>
        <p:spPr bwMode="gray">
          <a:xfrm>
            <a:off x="1030130" y="1815326"/>
            <a:ext cx="543739" cy="307777"/>
          </a:xfrm>
          <a:prstGeom prst="rect">
            <a:avLst/>
          </a:prstGeom>
        </p:spPr>
        <p:txBody>
          <a:bodyPr wrap="none">
            <a:spAutoFit/>
          </a:bodyPr>
          <a:lstStyle/>
          <a:p>
            <a:pPr algn="ctr" defTabSz="914400" fontAlgn="base">
              <a:spcBef>
                <a:spcPct val="0"/>
              </a:spcBef>
              <a:spcAft>
                <a:spcPct val="0"/>
              </a:spcAft>
            </a:pPr>
            <a:r>
              <a:rPr lang="zh-CN" altLang="en-US" sz="1400" b="1"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服务</a:t>
            </a:r>
            <a:endParaRPr lang="zh-CN" altLang="en-US" sz="14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矩形 5"/>
          <p:cNvSpPr/>
          <p:nvPr/>
        </p:nvSpPr>
        <p:spPr bwMode="gray">
          <a:xfrm>
            <a:off x="1845974" y="1656876"/>
            <a:ext cx="817146" cy="510094"/>
          </a:xfrm>
          <a:prstGeom prst="rect">
            <a:avLst/>
          </a:prstGeom>
          <a:solidFill>
            <a:srgbClr val="FCE6D8"/>
          </a:solidFill>
          <a:ln w="0">
            <a:noFill/>
            <a:prstDash val="sysDash"/>
          </a:ln>
          <a:effec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资源</a:t>
            </a:r>
          </a:p>
        </p:txBody>
      </p:sp>
      <p:sp>
        <p:nvSpPr>
          <p:cNvPr id="7" name="矩形 6"/>
          <p:cNvSpPr/>
          <p:nvPr/>
        </p:nvSpPr>
        <p:spPr bwMode="gray">
          <a:xfrm>
            <a:off x="2753982" y="1656323"/>
            <a:ext cx="817200" cy="511200"/>
          </a:xfrm>
          <a:prstGeom prst="rect">
            <a:avLst/>
          </a:prstGeom>
          <a:solidFill>
            <a:srgbClr val="FCE6D8"/>
          </a:solidFill>
          <a:ln w="0">
            <a:noFill/>
            <a:prstDash val="sysDash"/>
          </a:ln>
          <a:effec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矩形 7"/>
          <p:cNvSpPr/>
          <p:nvPr/>
        </p:nvSpPr>
        <p:spPr bwMode="gray">
          <a:xfrm>
            <a:off x="3671232" y="1656323"/>
            <a:ext cx="817200" cy="511200"/>
          </a:xfrm>
          <a:prstGeom prst="rect">
            <a:avLst/>
          </a:prstGeom>
          <a:solidFill>
            <a:srgbClr val="FCE6D8"/>
          </a:solidFill>
          <a:ln w="0">
            <a:noFill/>
            <a:prstDash val="sysDash"/>
          </a:ln>
          <a:effec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智能无线射频调优</a:t>
            </a:r>
          </a:p>
        </p:txBody>
      </p:sp>
      <p:sp>
        <p:nvSpPr>
          <p:cNvPr id="9" name="TextBox 568"/>
          <p:cNvSpPr txBox="1"/>
          <p:nvPr/>
        </p:nvSpPr>
        <p:spPr bwMode="gray">
          <a:xfrm>
            <a:off x="4242445" y="2456773"/>
            <a:ext cx="482824" cy="276999"/>
          </a:xfrm>
          <a:prstGeom prst="rect">
            <a:avLst/>
          </a:prstGeom>
          <a:noFill/>
        </p:spPr>
        <p:txBody>
          <a:bodyPr wrap="none" rtlCol="0">
            <a:spAutoFit/>
          </a:bodyPr>
          <a:lstStyle/>
          <a:p>
            <a:pPr defTabSz="914400" fontAlgn="base">
              <a:spcBef>
                <a:spcPct val="0"/>
              </a:spcBef>
              <a:spcAft>
                <a:spcPct val="0"/>
              </a:spcAft>
            </a:pP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APIs</a:t>
            </a:r>
            <a:endPar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TextBox 568"/>
          <p:cNvSpPr txBox="1"/>
          <p:nvPr/>
        </p:nvSpPr>
        <p:spPr bwMode="gray">
          <a:xfrm>
            <a:off x="4242445" y="4513086"/>
            <a:ext cx="800219" cy="276999"/>
          </a:xfrm>
          <a:prstGeom prst="rect">
            <a:avLst/>
          </a:prstGeom>
          <a:noFill/>
        </p:spPr>
        <p:txBody>
          <a:bodyPr wrap="none" rtlCol="0">
            <a:spAutoFit/>
          </a:bodyPr>
          <a:lstStyle/>
          <a:p>
            <a:pPr defTabSz="914400" fontAlgn="base">
              <a:spcBef>
                <a:spcPct val="0"/>
              </a:spcBef>
              <a:spcAft>
                <a:spcPct val="0"/>
              </a:spcAft>
            </a:pPr>
            <a:r>
              <a:rPr lang="zh-CN" altLang="en-US" sz="12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信息上报</a:t>
            </a:r>
            <a:endParaRPr lang="en-US" altLang="zh-CN"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下箭头 10"/>
          <p:cNvSpPr/>
          <p:nvPr/>
        </p:nvSpPr>
        <p:spPr bwMode="gray">
          <a:xfrm rot="10800000">
            <a:off x="3951244" y="4457061"/>
            <a:ext cx="334116" cy="357324"/>
          </a:xfrm>
          <a:prstGeom prst="downArrow">
            <a:avLst/>
          </a:prstGeom>
          <a:solidFill>
            <a:schemeClr val="bg1">
              <a:lumMod val="85000"/>
            </a:schemeClr>
          </a:solidFill>
          <a:ln w="25400"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801688" eaLnBrk="1" fontAlgn="base"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 name="直接箭头连接符 11"/>
          <p:cNvCxnSpPr/>
          <p:nvPr/>
        </p:nvCxnSpPr>
        <p:spPr bwMode="gray">
          <a:xfrm>
            <a:off x="4775455" y="3801695"/>
            <a:ext cx="237611" cy="0"/>
          </a:xfrm>
          <a:prstGeom prst="straightConnector1">
            <a:avLst/>
          </a:prstGeom>
          <a:noFill/>
          <a:ln w="19050" cap="flat" cmpd="sng" algn="ctr">
            <a:solidFill>
              <a:schemeClr val="bg1">
                <a:lumMod val="85000"/>
              </a:schemeClr>
            </a:solidFill>
            <a:prstDash val="solid"/>
            <a:headEnd type="triangle"/>
            <a:tailEnd type="triangle"/>
          </a:ln>
          <a:effectLst/>
        </p:spPr>
      </p:cxnSp>
      <p:sp>
        <p:nvSpPr>
          <p:cNvPr id="13" name="矩形 12"/>
          <p:cNvSpPr/>
          <p:nvPr/>
        </p:nvSpPr>
        <p:spPr bwMode="gray">
          <a:xfrm>
            <a:off x="4597909" y="1656323"/>
            <a:ext cx="817200" cy="511200"/>
          </a:xfrm>
          <a:prstGeom prst="rect">
            <a:avLst/>
          </a:prstGeom>
          <a:solidFill>
            <a:srgbClr val="FCE6D8"/>
          </a:solidFill>
          <a:ln w="0">
            <a:noFill/>
            <a:prstDash val="sysDash"/>
          </a:ln>
          <a:effec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p>
        </p:txBody>
      </p:sp>
      <p:sp>
        <p:nvSpPr>
          <p:cNvPr id="14" name="圆角矩形 13"/>
          <p:cNvSpPr/>
          <p:nvPr/>
        </p:nvSpPr>
        <p:spPr bwMode="gray">
          <a:xfrm>
            <a:off x="1845974" y="3318513"/>
            <a:ext cx="2844741"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分析：大数据平台公共服务</a:t>
            </a:r>
          </a:p>
        </p:txBody>
      </p:sp>
      <p:sp>
        <p:nvSpPr>
          <p:cNvPr id="15" name="圆角矩形 14"/>
          <p:cNvSpPr/>
          <p:nvPr/>
        </p:nvSpPr>
        <p:spPr bwMode="gray">
          <a:xfrm>
            <a:off x="1845973" y="3996629"/>
            <a:ext cx="1360227"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Syslog</a:t>
            </a:r>
            <a:r>
              <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数据</a:t>
            </a:r>
          </a:p>
        </p:txBody>
      </p:sp>
      <p:sp>
        <p:nvSpPr>
          <p:cNvPr id="16" name="圆角矩形 15"/>
          <p:cNvSpPr/>
          <p:nvPr/>
        </p:nvSpPr>
        <p:spPr bwMode="gray">
          <a:xfrm>
            <a:off x="3364815" y="3996629"/>
            <a:ext cx="1325900"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性能指标数据</a:t>
            </a:r>
          </a:p>
        </p:txBody>
      </p:sp>
      <p:sp>
        <p:nvSpPr>
          <p:cNvPr id="17" name="圆角矩形 16"/>
          <p:cNvSpPr/>
          <p:nvPr/>
        </p:nvSpPr>
        <p:spPr bwMode="gray">
          <a:xfrm>
            <a:off x="1845974" y="3657695"/>
            <a:ext cx="647622"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Spark</a:t>
            </a:r>
            <a:endPar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圆角矩形 17"/>
          <p:cNvSpPr/>
          <p:nvPr/>
        </p:nvSpPr>
        <p:spPr bwMode="gray">
          <a:xfrm>
            <a:off x="2551486" y="3657695"/>
            <a:ext cx="687913"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Druid</a:t>
            </a:r>
            <a:endPar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圆角矩形 18"/>
          <p:cNvSpPr/>
          <p:nvPr/>
        </p:nvSpPr>
        <p:spPr bwMode="gray">
          <a:xfrm>
            <a:off x="3297289" y="3657695"/>
            <a:ext cx="647622"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Kafka</a:t>
            </a:r>
            <a:endPar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圆角矩形 19"/>
          <p:cNvSpPr/>
          <p:nvPr/>
        </p:nvSpPr>
        <p:spPr bwMode="gray">
          <a:xfrm>
            <a:off x="4002802" y="3657695"/>
            <a:ext cx="687913"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HDFS</a:t>
            </a:r>
            <a:endParaRPr lang="zh-CN" altLang="en-US" sz="12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内容占位符 2"/>
          <p:cNvSpPr txBox="1">
            <a:spLocks/>
          </p:cNvSpPr>
          <p:nvPr/>
        </p:nvSpPr>
        <p:spPr bwMode="gray">
          <a:xfrm>
            <a:off x="6581462" y="5394865"/>
            <a:ext cx="4935987" cy="327141"/>
          </a:xfrm>
          <a:prstGeom prst="rect">
            <a:avLst/>
          </a:prstGeom>
          <a:noFill/>
          <a:ln>
            <a:solidFill>
              <a:schemeClr val="bg1">
                <a:lumMod val="85000"/>
              </a:schemeClr>
            </a:solidFill>
          </a:ln>
          <a:extLst/>
        </p:spPr>
        <p:txBody>
          <a:bodyPr wrap="square" rtlCol="0">
            <a:spAutoFit/>
          </a:bodyPr>
          <a:lstStyle>
            <a:defPPr>
              <a:defRPr lang="zh-CN"/>
            </a:defPPr>
            <a:lvl1pPr marL="171450" indent="-171450" defTabSz="913943">
              <a:lnSpc>
                <a:spcPct val="140000"/>
              </a:lnSpc>
              <a:buFont typeface="Arial" panose="020B0604020202020204" pitchFamily="34" charset="0"/>
              <a:buChar char="•"/>
              <a:defRPr sz="1200" b="1" kern="0">
                <a:latin typeface="Arial" panose="020B0604020202020204" pitchFamily="34" charset="0"/>
                <a:ea typeface="微软雅黑" panose="020B0503020204020204" pitchFamily="34" charset="-122"/>
              </a:defRPr>
            </a:lvl1pPr>
          </a:lstStyle>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数据采集：</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用户、射频、</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、交换机、用户日志等多维度</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圆角矩形 21"/>
          <p:cNvSpPr/>
          <p:nvPr/>
        </p:nvSpPr>
        <p:spPr bwMode="gray">
          <a:xfrm>
            <a:off x="1845974" y="2959145"/>
            <a:ext cx="4507560"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智能分析</a:t>
            </a:r>
            <a:r>
              <a:rPr lang="zh-CN" altLang="en-US" sz="12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系统</a:t>
            </a: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文本框 22"/>
          <p:cNvSpPr txBox="1"/>
          <p:nvPr/>
        </p:nvSpPr>
        <p:spPr bwMode="gray">
          <a:xfrm>
            <a:off x="6581462" y="1454380"/>
            <a:ext cx="4935987" cy="1126461"/>
          </a:xfrm>
          <a:prstGeom prst="rect">
            <a:avLst/>
          </a:prstGeom>
          <a:noFill/>
          <a:ln>
            <a:solidFill>
              <a:schemeClr val="bg1">
                <a:lumMod val="85000"/>
              </a:schemeClr>
            </a:solidFill>
          </a:ln>
        </p:spPr>
        <p:txBody>
          <a:bodyPr wrap="square" rtlCol="0">
            <a:spAutoFit/>
          </a:bodyPr>
          <a:lstStyle/>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问题识别：</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连接</a:t>
            </a:r>
            <a:r>
              <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空口性能</a:t>
            </a:r>
            <a:r>
              <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漫游</a:t>
            </a:r>
            <a:r>
              <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设备四类问题的智能识别</a:t>
            </a:r>
          </a:p>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接入分析</a:t>
            </a:r>
            <a:r>
              <a:rPr kumimoji="0" lang="en-US" altLang="zh-CN"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&amp;</a:t>
            </a: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性能体验：</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连接问题以及性能体验问题分析</a:t>
            </a:r>
          </a:p>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kumimoji="0" lang="en-US" altLang="zh-CN"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&amp;</a:t>
            </a: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网络画像：</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用户旅程回放，</a:t>
            </a:r>
            <a:r>
              <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详情分析</a:t>
            </a:r>
            <a:endPar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应用分析：</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主流应用流量分析及质量感知</a:t>
            </a:r>
          </a:p>
        </p:txBody>
      </p:sp>
      <p:sp>
        <p:nvSpPr>
          <p:cNvPr id="24" name="文本框 23"/>
          <p:cNvSpPr txBox="1"/>
          <p:nvPr/>
        </p:nvSpPr>
        <p:spPr bwMode="gray">
          <a:xfrm>
            <a:off x="6581462" y="3531735"/>
            <a:ext cx="4935987" cy="585673"/>
          </a:xfrm>
          <a:prstGeom prst="rect">
            <a:avLst/>
          </a:prstGeom>
          <a:noFill/>
          <a:ln>
            <a:solidFill>
              <a:schemeClr val="bg1">
                <a:lumMod val="85000"/>
              </a:schemeClr>
            </a:solidFill>
          </a:ln>
        </p:spPr>
        <p:txBody>
          <a:bodyPr wrap="square" rtlCol="0">
            <a:spAutoFit/>
          </a:bodyPr>
          <a:lstStyle>
            <a:defPPr>
              <a:defRPr lang="zh-CN"/>
            </a:defPPr>
            <a:lvl1pPr marL="171450" indent="-171450" defTabSz="913943">
              <a:lnSpc>
                <a:spcPct val="140000"/>
              </a:lnSpc>
              <a:buFont typeface="Arial" panose="020B0604020202020204" pitchFamily="34" charset="0"/>
              <a:buChar char="•"/>
              <a:defRPr sz="1200" b="1" kern="0">
                <a:latin typeface="Arial" panose="020B0604020202020204" pitchFamily="34" charset="0"/>
                <a:ea typeface="微软雅黑" panose="020B0503020204020204" pitchFamily="34" charset="-122"/>
              </a:defRPr>
            </a:lvl1pPr>
          </a:lstStyle>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数据存储：</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预处理实时流、分布式处理离线流、数据存储</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服务</a:t>
            </a:r>
            <a:endParaRPr kumimoji="0" lang="en-US" altLang="zh-CN"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marR="0" lvl="0" indent="-171450" defTabSz="913943" eaLnBrk="1" fontAlgn="base" latinLnBrk="0" hangingPunct="1">
              <a:lnSpc>
                <a:spcPct val="14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数据分析</a:t>
            </a:r>
            <a:r>
              <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模式识别、</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引擎、数据汇聚</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&amp;</a:t>
            </a:r>
            <a:r>
              <a:rPr kumimoji="0" lang="zh-CN" altLang="en-US" sz="12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查询</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文本框 24"/>
          <p:cNvSpPr txBox="1"/>
          <p:nvPr/>
        </p:nvSpPr>
        <p:spPr bwMode="gray">
          <a:xfrm>
            <a:off x="6498337" y="1051378"/>
            <a:ext cx="4935987" cy="338554"/>
          </a:xfrm>
          <a:prstGeom prst="rect">
            <a:avLst/>
          </a:prstGeom>
          <a:noFill/>
        </p:spPr>
        <p:txBody>
          <a:bodyPr wrap="square" rtlCol="0">
            <a:spAutoFit/>
          </a:bodyPr>
          <a:lstStyle/>
          <a:p>
            <a:pPr defTabSz="913943" fontAlgn="base">
              <a:spcBef>
                <a:spcPct val="0"/>
              </a:spcBef>
              <a:spcAft>
                <a:spcPct val="0"/>
              </a:spcAft>
            </a:pPr>
            <a:r>
              <a:rPr lang="zh-CN" altLang="en-US" sz="16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业务</a:t>
            </a:r>
            <a:r>
              <a:rPr lang="zh-CN" altLang="en-US" sz="16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服务：面向场景提供数据分析服务</a:t>
            </a:r>
            <a:endParaRPr lang="zh-CN" altLang="en-US" sz="16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文本框 25"/>
          <p:cNvSpPr txBox="1"/>
          <p:nvPr/>
        </p:nvSpPr>
        <p:spPr bwMode="gray">
          <a:xfrm>
            <a:off x="6498337" y="3124977"/>
            <a:ext cx="4935987" cy="338554"/>
          </a:xfrm>
          <a:prstGeom prst="rect">
            <a:avLst/>
          </a:prstGeom>
          <a:noFill/>
        </p:spPr>
        <p:txBody>
          <a:bodyPr wrap="square" rtlCol="0">
            <a:spAutoFit/>
          </a:bodyPr>
          <a:lstStyle/>
          <a:p>
            <a:pPr defTabSz="913943" fontAlgn="base">
              <a:spcBef>
                <a:spcPct val="0"/>
              </a:spcBef>
              <a:spcAft>
                <a:spcPct val="0"/>
              </a:spcAft>
            </a:pPr>
            <a:r>
              <a:rPr lang="zh-CN" altLang="en-US" sz="1600" b="1" kern="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数据分析：大数据平台和数据分析服务</a:t>
            </a:r>
            <a:endParaRPr lang="en-US" altLang="zh-CN" sz="16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文本框 26"/>
          <p:cNvSpPr txBox="1"/>
          <p:nvPr/>
        </p:nvSpPr>
        <p:spPr bwMode="gray">
          <a:xfrm>
            <a:off x="6498337" y="5014430"/>
            <a:ext cx="4935987" cy="338554"/>
          </a:xfrm>
          <a:prstGeom prst="rect">
            <a:avLst/>
          </a:prstGeom>
          <a:noFill/>
        </p:spPr>
        <p:txBody>
          <a:bodyPr wrap="square" rtlCol="0">
            <a:spAutoFit/>
          </a:bodyPr>
          <a:lstStyle/>
          <a:p>
            <a:pPr defTabSz="913943" fontAlgn="base">
              <a:spcBef>
                <a:spcPct val="0"/>
              </a:spcBef>
              <a:spcAft>
                <a:spcPct val="0"/>
              </a:spcAft>
            </a:pPr>
            <a:r>
              <a:rPr lang="zh-CN" altLang="en-US" sz="1600" b="1" kern="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数据采集：秒级采集性能指标以及日志</a:t>
            </a:r>
            <a:endParaRPr lang="zh-CN" altLang="en-US" sz="16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bwMode="gray">
          <a:xfrm>
            <a:off x="5536333" y="1659305"/>
            <a:ext cx="817200" cy="511200"/>
          </a:xfrm>
          <a:prstGeom prst="rect">
            <a:avLst/>
          </a:prstGeom>
          <a:solidFill>
            <a:srgbClr val="FCE6D8"/>
          </a:solidFill>
          <a:ln w="0">
            <a:noFill/>
            <a:prstDash val="sysDash"/>
          </a:ln>
          <a:effec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应用</a:t>
            </a:r>
          </a:p>
        </p:txBody>
      </p:sp>
      <p:sp>
        <p:nvSpPr>
          <p:cNvPr id="29" name="圆角矩形 28"/>
          <p:cNvSpPr/>
          <p:nvPr/>
        </p:nvSpPr>
        <p:spPr bwMode="gray">
          <a:xfrm>
            <a:off x="1845973" y="4902170"/>
            <a:ext cx="4507559" cy="1057231"/>
          </a:xfrm>
          <a:prstGeom prst="roundRect">
            <a:avLst>
              <a:gd name="adj" fmla="val 7054"/>
            </a:avLst>
          </a:prstGeom>
          <a:solidFill>
            <a:schemeClr val="bg1">
              <a:lumMod val="95000"/>
            </a:schemeClr>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801688" eaLnBrk="1" fontAlgn="base"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0" name="组合 29"/>
          <p:cNvGrpSpPr/>
          <p:nvPr/>
        </p:nvGrpSpPr>
        <p:grpSpPr bwMode="gray">
          <a:xfrm>
            <a:off x="2901386" y="5053735"/>
            <a:ext cx="2375855" cy="789319"/>
            <a:chOff x="2805874" y="5414349"/>
            <a:chExt cx="2375855" cy="789319"/>
          </a:xfrm>
        </p:grpSpPr>
        <p:grpSp>
          <p:nvGrpSpPr>
            <p:cNvPr id="31" name="Group 165"/>
            <p:cNvGrpSpPr/>
            <p:nvPr/>
          </p:nvGrpSpPr>
          <p:grpSpPr bwMode="gray">
            <a:xfrm rot="10800000">
              <a:off x="2943222" y="5529835"/>
              <a:ext cx="2072660" cy="514529"/>
              <a:chOff x="-1233037" y="914446"/>
              <a:chExt cx="1573823" cy="778776"/>
            </a:xfrm>
          </p:grpSpPr>
          <p:cxnSp>
            <p:nvCxnSpPr>
              <p:cNvPr id="44" name="Straight Connector 166"/>
              <p:cNvCxnSpPr/>
              <p:nvPr/>
            </p:nvCxnSpPr>
            <p:spPr bwMode="gray">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167"/>
              <p:cNvCxnSpPr/>
              <p:nvPr/>
            </p:nvCxnSpPr>
            <p:spPr bwMode="gray">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32" name="Group 165"/>
            <p:cNvGrpSpPr/>
            <p:nvPr/>
          </p:nvGrpSpPr>
          <p:grpSpPr bwMode="gray">
            <a:xfrm rot="10800000">
              <a:off x="3502514" y="5513086"/>
              <a:ext cx="954076" cy="514529"/>
              <a:chOff x="-1233037" y="914446"/>
              <a:chExt cx="1573823" cy="778776"/>
            </a:xfrm>
          </p:grpSpPr>
          <p:cxnSp>
            <p:nvCxnSpPr>
              <p:cNvPr id="42" name="Straight Connector 166"/>
              <p:cNvCxnSpPr/>
              <p:nvPr/>
            </p:nvCxnSpPr>
            <p:spPr bwMode="gray">
              <a:xfrm flipH="1" flipV="1">
                <a:off x="-1233037" y="914446"/>
                <a:ext cx="786912" cy="77877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167"/>
              <p:cNvCxnSpPr/>
              <p:nvPr/>
            </p:nvCxnSpPr>
            <p:spPr bwMode="gray">
              <a:xfrm flipV="1">
                <a:off x="-446125" y="914446"/>
                <a:ext cx="786911" cy="778776"/>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33" name="图片 76" descr="接入交换机.png"/>
            <p:cNvPicPr>
              <a:picLocks noChangeAspect="1"/>
            </p:cNvPicPr>
            <p:nvPr/>
          </p:nvPicPr>
          <p:blipFill>
            <a:blip r:embed="rId3" cstate="print"/>
            <a:stretch>
              <a:fillRect/>
            </a:stretch>
          </p:blipFill>
          <p:spPr bwMode="gray">
            <a:xfrm>
              <a:off x="3845296" y="5414349"/>
              <a:ext cx="304815" cy="249395"/>
            </a:xfrm>
            <a:prstGeom prst="rect">
              <a:avLst/>
            </a:prstGeom>
          </p:spPr>
        </p:pic>
        <p:pic>
          <p:nvPicPr>
            <p:cNvPr id="34" name="图片 105" descr="AP.png"/>
            <p:cNvPicPr>
              <a:picLocks noChangeAspect="1"/>
            </p:cNvPicPr>
            <p:nvPr/>
          </p:nvPicPr>
          <p:blipFill>
            <a:blip r:embed="rId4" cstate="print"/>
            <a:stretch>
              <a:fillRect/>
            </a:stretch>
          </p:blipFill>
          <p:spPr bwMode="gray">
            <a:xfrm>
              <a:off x="2805874" y="5954273"/>
              <a:ext cx="304815" cy="249395"/>
            </a:xfrm>
            <a:prstGeom prst="rect">
              <a:avLst/>
            </a:prstGeom>
          </p:spPr>
        </p:pic>
        <p:pic>
          <p:nvPicPr>
            <p:cNvPr id="35" name="图片 105" descr="AP.png"/>
            <p:cNvPicPr>
              <a:picLocks noChangeAspect="1"/>
            </p:cNvPicPr>
            <p:nvPr/>
          </p:nvPicPr>
          <p:blipFill>
            <a:blip r:embed="rId4" cstate="print"/>
            <a:stretch>
              <a:fillRect/>
            </a:stretch>
          </p:blipFill>
          <p:spPr bwMode="gray">
            <a:xfrm>
              <a:off x="3342361" y="5954273"/>
              <a:ext cx="304815" cy="249395"/>
            </a:xfrm>
            <a:prstGeom prst="rect">
              <a:avLst/>
            </a:prstGeom>
          </p:spPr>
        </p:pic>
        <p:pic>
          <p:nvPicPr>
            <p:cNvPr id="36" name="图片 105" descr="AP.png"/>
            <p:cNvPicPr>
              <a:picLocks noChangeAspect="1"/>
            </p:cNvPicPr>
            <p:nvPr/>
          </p:nvPicPr>
          <p:blipFill>
            <a:blip r:embed="rId4" cstate="print"/>
            <a:stretch>
              <a:fillRect/>
            </a:stretch>
          </p:blipFill>
          <p:spPr bwMode="gray">
            <a:xfrm>
              <a:off x="4317622" y="5954273"/>
              <a:ext cx="304815" cy="249395"/>
            </a:xfrm>
            <a:prstGeom prst="rect">
              <a:avLst/>
            </a:prstGeom>
          </p:spPr>
        </p:pic>
        <p:pic>
          <p:nvPicPr>
            <p:cNvPr id="37" name="图片 105" descr="AP.png"/>
            <p:cNvPicPr>
              <a:picLocks noChangeAspect="1"/>
            </p:cNvPicPr>
            <p:nvPr/>
          </p:nvPicPr>
          <p:blipFill>
            <a:blip r:embed="rId4" cstate="print"/>
            <a:stretch>
              <a:fillRect/>
            </a:stretch>
          </p:blipFill>
          <p:spPr bwMode="gray">
            <a:xfrm>
              <a:off x="4876914" y="5954273"/>
              <a:ext cx="304815" cy="249395"/>
            </a:xfrm>
            <a:prstGeom prst="rect">
              <a:avLst/>
            </a:prstGeom>
          </p:spPr>
        </p:pic>
        <p:grpSp>
          <p:nvGrpSpPr>
            <p:cNvPr id="38" name="Group 3"/>
            <p:cNvGrpSpPr/>
            <p:nvPr/>
          </p:nvGrpSpPr>
          <p:grpSpPr bwMode="gray">
            <a:xfrm>
              <a:off x="3842860" y="6044365"/>
              <a:ext cx="261965" cy="61979"/>
              <a:chOff x="559282" y="6488261"/>
              <a:chExt cx="261965" cy="61979"/>
            </a:xfrm>
            <a:solidFill>
              <a:schemeClr val="bg1">
                <a:lumMod val="50000"/>
              </a:schemeClr>
            </a:solidFill>
          </p:grpSpPr>
          <p:sp>
            <p:nvSpPr>
              <p:cNvPr id="39"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sp>
        <p:nvSpPr>
          <p:cNvPr id="46" name="圆角矩形 45"/>
          <p:cNvSpPr/>
          <p:nvPr/>
        </p:nvSpPr>
        <p:spPr bwMode="gray">
          <a:xfrm>
            <a:off x="5111394" y="3318513"/>
            <a:ext cx="1242139"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en-US" altLang="zh-CN" sz="120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20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引擎</a:t>
            </a:r>
          </a:p>
        </p:txBody>
      </p:sp>
      <p:sp>
        <p:nvSpPr>
          <p:cNvPr id="47" name="圆角矩形 46"/>
          <p:cNvSpPr/>
          <p:nvPr/>
        </p:nvSpPr>
        <p:spPr bwMode="gray">
          <a:xfrm>
            <a:off x="5111394" y="3657695"/>
            <a:ext cx="1242139"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机器学习算法库</a:t>
            </a:r>
          </a:p>
        </p:txBody>
      </p:sp>
      <p:sp>
        <p:nvSpPr>
          <p:cNvPr id="48" name="圆角矩形 47"/>
          <p:cNvSpPr/>
          <p:nvPr/>
        </p:nvSpPr>
        <p:spPr bwMode="gray">
          <a:xfrm>
            <a:off x="5111394" y="3996629"/>
            <a:ext cx="1242139" cy="288000"/>
          </a:xfrm>
          <a:prstGeom prst="roundRect">
            <a:avLst/>
          </a:prstGeom>
          <a:solidFill>
            <a:srgbClr val="D7F2F5"/>
          </a:solidFill>
          <a:ln w="0">
            <a:noFill/>
            <a:prstDash val="sysDash"/>
          </a:ln>
          <a:effectLst/>
          <a:extLst/>
        </p:spPr>
        <p:txBody>
          <a:bodyPr vert="horz" wrap="square" lIns="72000" tIns="36000" rIns="72000" bIns="36000" numCol="1" rtlCol="0" anchor="ctr" anchorCtr="0" compatLnSpc="1">
            <a:prstTxWarp prst="textNoShape">
              <a:avLst/>
            </a:prstTxWarp>
          </a:bodyPr>
          <a:lstStyle/>
          <a:p>
            <a:pPr algn="ctr" defTabSz="914400" fontAlgn="base">
              <a:spcBef>
                <a:spcPct val="0"/>
              </a:spcBef>
              <a:spcAft>
                <a:spcPct val="0"/>
              </a:spcAft>
              <a:buClr>
                <a:srgbClr val="CC9900"/>
              </a:buClr>
            </a:pPr>
            <a:r>
              <a:rPr lang="zh-CN" altLang="en-US" sz="120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机器学习框架</a:t>
            </a:r>
          </a:p>
        </p:txBody>
      </p:sp>
      <p:sp>
        <p:nvSpPr>
          <p:cNvPr id="49" name="下箭头 48"/>
          <p:cNvSpPr/>
          <p:nvPr/>
        </p:nvSpPr>
        <p:spPr bwMode="gray">
          <a:xfrm rot="10800000">
            <a:off x="3951244" y="2399822"/>
            <a:ext cx="334116" cy="357324"/>
          </a:xfrm>
          <a:prstGeom prst="downArrow">
            <a:avLst/>
          </a:prstGeom>
          <a:solidFill>
            <a:schemeClr val="bg1">
              <a:lumMod val="85000"/>
            </a:schemeClr>
          </a:solidFill>
          <a:ln w="25400"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801688" eaLnBrk="1" fontAlgn="base" latinLnBrk="0" hangingPunct="1">
              <a:lnSpc>
                <a:spcPct val="100000"/>
              </a:lnSpc>
              <a:spcBef>
                <a:spcPct val="0"/>
              </a:spcBef>
              <a:spcAft>
                <a:spcPct val="0"/>
              </a:spcAft>
              <a:buClrTx/>
              <a:buSzTx/>
              <a:buFontTx/>
              <a:buNone/>
              <a:tabLst/>
              <a:defRPr/>
            </a:pPr>
            <a:endParaRPr kumimoji="0" lang="zh-CN" altLang="en-US" sz="1200" b="1"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0" name="直接箭头连接符 49"/>
          <p:cNvCxnSpPr/>
          <p:nvPr/>
        </p:nvCxnSpPr>
        <p:spPr bwMode="gray">
          <a:xfrm>
            <a:off x="4775455" y="3578175"/>
            <a:ext cx="237611" cy="0"/>
          </a:xfrm>
          <a:prstGeom prst="straightConnector1">
            <a:avLst/>
          </a:prstGeom>
          <a:noFill/>
          <a:ln w="19050" cap="flat" cmpd="sng" algn="ctr">
            <a:solidFill>
              <a:schemeClr val="bg1">
                <a:lumMod val="85000"/>
              </a:schemeClr>
            </a:solidFill>
            <a:prstDash val="solid"/>
            <a:headEnd type="triangle"/>
            <a:tailEnd type="triangle"/>
          </a:ln>
          <a:effectLst/>
        </p:spPr>
      </p:cxnSp>
      <p:cxnSp>
        <p:nvCxnSpPr>
          <p:cNvPr id="51" name="直接箭头连接符 50"/>
          <p:cNvCxnSpPr/>
          <p:nvPr/>
        </p:nvCxnSpPr>
        <p:spPr bwMode="gray">
          <a:xfrm>
            <a:off x="4775455" y="4037915"/>
            <a:ext cx="237611" cy="0"/>
          </a:xfrm>
          <a:prstGeom prst="straightConnector1">
            <a:avLst/>
          </a:prstGeom>
          <a:noFill/>
          <a:ln w="19050" cap="flat" cmpd="sng" algn="ctr">
            <a:solidFill>
              <a:schemeClr val="bg1">
                <a:lumMod val="85000"/>
              </a:schemeClr>
            </a:solidFill>
            <a:prstDash val="solid"/>
            <a:headEnd type="triangle"/>
            <a:tailEnd type="triangle"/>
          </a:ln>
          <a:effectLst/>
        </p:spPr>
      </p:cxnSp>
    </p:spTree>
    <p:extLst>
      <p:ext uri="{BB962C8B-B14F-4D97-AF65-F5344CB8AC3E}">
        <p14:creationId xmlns:p14="http://schemas.microsoft.com/office/powerpoint/2010/main" val="20090543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：外部接口</a:t>
            </a:r>
            <a:endParaRPr lang="zh-CN" altLang="en-US" dirty="0">
              <a:sym typeface="Huawei Sans" panose="020C0503030203020204" pitchFamily="34" charset="0"/>
            </a:endParaRPr>
          </a:p>
        </p:txBody>
      </p:sp>
      <p:sp>
        <p:nvSpPr>
          <p:cNvPr id="12" name="文本占位符 11"/>
          <p:cNvSpPr>
            <a:spLocks noGrp="1"/>
          </p:cNvSpPr>
          <p:nvPr>
            <p:ph type="body" sz="quarter" idx="10"/>
          </p:nvPr>
        </p:nvSpPr>
        <p:spPr bwMode="gray">
          <a:xfrm>
            <a:off x="455613" y="1047750"/>
            <a:ext cx="11256962" cy="931879"/>
          </a:xfrm>
        </p:spPr>
        <p:txBody>
          <a:bodyPr/>
          <a:lstStyle/>
          <a:p>
            <a:r>
              <a:rPr lang="en-US" altLang="zh-CN" sz="2000" dirty="0" smtClean="0">
                <a:sym typeface="Huawei Sans" panose="020C0503030203020204" pitchFamily="34" charset="0"/>
              </a:rPr>
              <a:t>CampusInsight</a:t>
            </a:r>
            <a:r>
              <a:rPr lang="zh-CN" altLang="en-US" sz="2000" dirty="0" smtClean="0">
                <a:sym typeface="Huawei Sans" panose="020C0503030203020204" pitchFamily="34" charset="0"/>
              </a:rPr>
              <a:t>南向接口实现</a:t>
            </a:r>
            <a:r>
              <a:rPr lang="en-US" altLang="zh-CN" sz="2000" dirty="0" smtClean="0">
                <a:sym typeface="Huawei Sans" panose="020C0503030203020204" pitchFamily="34" charset="0"/>
              </a:rPr>
              <a:t>CampusInsight</a:t>
            </a:r>
            <a:r>
              <a:rPr lang="zh-CN" altLang="en-US" sz="2000" dirty="0" smtClean="0">
                <a:sym typeface="Huawei Sans" panose="020C0503030203020204" pitchFamily="34" charset="0"/>
              </a:rPr>
              <a:t>与设备之间的对接，完成</a:t>
            </a:r>
            <a:r>
              <a:rPr lang="en-US" altLang="zh-CN" sz="2000" dirty="0" smtClean="0">
                <a:sym typeface="Huawei Sans" panose="020C0503030203020204" pitchFamily="34" charset="0"/>
              </a:rPr>
              <a:t>CampusInsight</a:t>
            </a:r>
            <a:r>
              <a:rPr lang="zh-CN" altLang="en-US" sz="2000" dirty="0" smtClean="0">
                <a:sym typeface="Huawei Sans" panose="020C0503030203020204" pitchFamily="34" charset="0"/>
              </a:rPr>
              <a:t>对设备的管理功能。</a:t>
            </a:r>
            <a:r>
              <a:rPr lang="en-US" altLang="zh-CN" sz="2000" dirty="0" smtClean="0">
                <a:sym typeface="Huawei Sans" panose="020C0503030203020204" pitchFamily="34" charset="0"/>
              </a:rPr>
              <a:t>CampusInsight</a:t>
            </a:r>
            <a:r>
              <a:rPr lang="zh-CN" altLang="en-US" sz="2000" dirty="0" smtClean="0">
                <a:sym typeface="Huawei Sans" panose="020C0503030203020204" pitchFamily="34" charset="0"/>
              </a:rPr>
              <a:t>支持的南向接口类型，包括</a:t>
            </a:r>
            <a:r>
              <a:rPr lang="zh-CN" altLang="en-US" sz="2000" dirty="0">
                <a:sym typeface="Huawei Sans" panose="020C0503030203020204" pitchFamily="34" charset="0"/>
              </a:rPr>
              <a:t>：</a:t>
            </a:r>
            <a:r>
              <a:rPr lang="en-US" altLang="zh-CN" sz="2000" dirty="0" smtClean="0">
                <a:sym typeface="Huawei Sans" panose="020C0503030203020204" pitchFamily="34" charset="0"/>
              </a:rPr>
              <a:t>SNMP</a:t>
            </a:r>
            <a:r>
              <a:rPr lang="zh-CN" altLang="en-US" sz="2000" dirty="0" smtClean="0">
                <a:sym typeface="Huawei Sans" panose="020C0503030203020204" pitchFamily="34" charset="0"/>
              </a:rPr>
              <a:t>、</a:t>
            </a:r>
            <a:r>
              <a:rPr lang="en-US" altLang="zh-CN" sz="2000" dirty="0" smtClean="0">
                <a:sym typeface="Huawei Sans" panose="020C0503030203020204" pitchFamily="34" charset="0"/>
              </a:rPr>
              <a:t>HTTP2+ProtoBuf</a:t>
            </a:r>
            <a:r>
              <a:rPr lang="zh-CN" altLang="en-US" sz="2000" dirty="0" smtClean="0">
                <a:sym typeface="Huawei Sans" panose="020C0503030203020204" pitchFamily="34" charset="0"/>
              </a:rPr>
              <a:t>、</a:t>
            </a:r>
            <a:r>
              <a:rPr lang="en-US" altLang="zh-CN" sz="2000" dirty="0" smtClean="0">
                <a:sym typeface="Huawei Sans" panose="020C0503030203020204" pitchFamily="34" charset="0"/>
              </a:rPr>
              <a:t>Syslog</a:t>
            </a:r>
            <a:r>
              <a:rPr lang="zh-CN" altLang="en-US" sz="2000" dirty="0" smtClean="0">
                <a:sym typeface="Huawei Sans" panose="020C0503030203020204" pitchFamily="34" charset="0"/>
              </a:rPr>
              <a:t>。</a:t>
            </a:r>
          </a:p>
          <a:p>
            <a:endParaRPr lang="zh-CN" altLang="en-US" sz="2000" dirty="0">
              <a:sym typeface="Huawei Sans" panose="020C0503030203020204" pitchFamily="34" charset="0"/>
            </a:endParaRPr>
          </a:p>
        </p:txBody>
      </p:sp>
      <p:sp>
        <p:nvSpPr>
          <p:cNvPr id="4" name="圆角矩形 3"/>
          <p:cNvSpPr/>
          <p:nvPr/>
        </p:nvSpPr>
        <p:spPr bwMode="gray">
          <a:xfrm>
            <a:off x="845820" y="2758144"/>
            <a:ext cx="3175764" cy="3181017"/>
          </a:xfrm>
          <a:prstGeom prst="roundRect">
            <a:avLst>
              <a:gd name="adj" fmla="val 1968"/>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marL="177800" indent="-177800" defTabSz="1219272" fontAlgn="auto">
              <a:lnSpc>
                <a:spcPts val="2400"/>
              </a:lnSpc>
              <a:spcBef>
                <a:spcPts val="0"/>
              </a:spcBef>
              <a:spcAft>
                <a:spcPts val="600"/>
              </a:spcAft>
              <a:buFont typeface="Arial" panose="020B0604020202020204" pitchFamily="34" charset="0"/>
              <a:buChar char="•"/>
              <a:defRPr/>
            </a:pP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标准的</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SNMPv2c/v3</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fontAlgn="auto">
              <a:lnSpc>
                <a:spcPts val="2400"/>
              </a:lnSpc>
              <a:spcBef>
                <a:spcPts val="0"/>
              </a:spcBef>
              <a:spcAft>
                <a:spcPts val="600"/>
              </a:spcAft>
              <a:buFont typeface="Arial" panose="020B0604020202020204" pitchFamily="34" charset="0"/>
              <a:buChar char="•"/>
              <a:defRPr/>
            </a:pP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可以</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实现</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设备的连接，用于接入网络设备</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fontAlgn="auto">
              <a:lnSpc>
                <a:spcPts val="2400"/>
              </a:lnSpc>
              <a:spcBef>
                <a:spcPts val="0"/>
              </a:spcBef>
              <a:spcAft>
                <a:spcPts val="600"/>
              </a:spcAft>
              <a:buFont typeface="Arial" panose="020B0604020202020204" pitchFamily="34" charset="0"/>
              <a:buChar char="•"/>
              <a:defRPr/>
            </a:pP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TCP/IP</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的应用层网络管理协议，使用</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UDP</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作为</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传输层协议，能管理支持代理进程的网络设备</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fontAlgn="auto">
              <a:lnSpc>
                <a:spcPts val="2400"/>
              </a:lnSpc>
              <a:spcBef>
                <a:spcPts val="0"/>
              </a:spcBef>
              <a:spcAft>
                <a:spcPts val="600"/>
              </a:spcAft>
              <a:buFont typeface="Arial" panose="020B0604020202020204" pitchFamily="34" charset="0"/>
              <a:buChar char="•"/>
              <a:defRPr/>
            </a:pPr>
            <a:endPar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bwMode="gray">
          <a:xfrm>
            <a:off x="849310" y="2309228"/>
            <a:ext cx="3175764"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SNMP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4341736" y="2758144"/>
            <a:ext cx="3523882" cy="3181017"/>
          </a:xfrm>
          <a:prstGeom prst="roundRect">
            <a:avLst>
              <a:gd name="adj" fmla="val 1968"/>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marL="177800" indent="-177800" defTabSz="1219272" fontAlgn="auto">
              <a:lnSpc>
                <a:spcPts val="2400"/>
              </a:lnSpc>
              <a:spcBef>
                <a:spcPts val="0"/>
              </a:spcBef>
              <a:spcAft>
                <a:spcPts val="600"/>
              </a:spcAft>
              <a:buFont typeface="Arial" panose="020B0604020202020204" pitchFamily="34" charset="0"/>
              <a:buChar char="•"/>
              <a:defRPr/>
            </a:pP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采用</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HTTP2+ProtoBuf</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接口采集</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设备性能指标报文</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a:lnSpc>
                <a:spcPts val="2400"/>
              </a:lnSpc>
              <a:spcAft>
                <a:spcPts val="600"/>
              </a:spcAft>
              <a:buFont typeface="Arial" panose="020B0604020202020204" pitchFamily="34" charset="0"/>
              <a:buChar char="•"/>
              <a:defRPr/>
            </a:pP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HTTP2</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协议安全层通过</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SSL</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TLS</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进行通信信道的认证和加密。</a:t>
            </a:r>
          </a:p>
          <a:p>
            <a:pPr marL="177800" indent="-177800" defTabSz="1219272" fontAlgn="auto">
              <a:lnSpc>
                <a:spcPts val="2400"/>
              </a:lnSpc>
              <a:spcBef>
                <a:spcPts val="0"/>
              </a:spcBef>
              <a:spcAft>
                <a:spcPts val="600"/>
              </a:spcAft>
              <a:buFont typeface="Arial" panose="020B0604020202020204" pitchFamily="34" charset="0"/>
              <a:buChar char="•"/>
              <a:defRPr/>
            </a:pPr>
            <a:r>
              <a:rPr lang="en-US" altLang="zh-CN" sz="1400" kern="0" dirty="0" err="1"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ProtoBuf</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是由</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Google</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开发的一种数据序列化协议（类似于</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XML</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JSON</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hessian</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），能够</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将数据进行序列化，并广泛应用在数据存储、通信协议等方面</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圆角矩形 6"/>
          <p:cNvSpPr/>
          <p:nvPr/>
        </p:nvSpPr>
        <p:spPr bwMode="gray">
          <a:xfrm>
            <a:off x="4345226" y="2309228"/>
            <a:ext cx="3523882"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HTTP2+ProtoBuf</a:t>
            </a:r>
          </a:p>
        </p:txBody>
      </p:sp>
      <p:sp>
        <p:nvSpPr>
          <p:cNvPr id="8" name="圆角矩形 7"/>
          <p:cNvSpPr/>
          <p:nvPr/>
        </p:nvSpPr>
        <p:spPr bwMode="gray">
          <a:xfrm>
            <a:off x="8185763" y="2758144"/>
            <a:ext cx="3152797" cy="3181017"/>
          </a:xfrm>
          <a:prstGeom prst="roundRect">
            <a:avLst>
              <a:gd name="adj" fmla="val 1968"/>
            </a:avLst>
          </a:prstGeom>
          <a:noFill/>
          <a:ln w="9525" cap="flat" cmpd="sng" algn="ctr">
            <a:solidFill>
              <a:sysClr val="window" lastClr="FFFFFF">
                <a:lumMod val="65000"/>
              </a:sysClr>
            </a:solidFill>
            <a:prstDash val="solid"/>
            <a:round/>
            <a:headEnd type="none" w="med" len="med"/>
            <a:tailEnd type="none" w="med" len="med"/>
          </a:ln>
          <a:effectLst/>
        </p:spPr>
        <p:txBody>
          <a:bodyPr vert="horz" wrap="square" lIns="121948" tIns="60974" rIns="121948" bIns="60974" numCol="1" rtlCol="0" anchor="t" anchorCtr="0" compatLnSpc="1">
            <a:prstTxWarp prst="textNoShape">
              <a:avLst/>
            </a:prstTxWarp>
          </a:bodyPr>
          <a:lstStyle/>
          <a:p>
            <a:pPr marL="177800" indent="-177800" defTabSz="1219272" fontAlgn="auto">
              <a:lnSpc>
                <a:spcPts val="2400"/>
              </a:lnSpc>
              <a:spcBef>
                <a:spcPts val="0"/>
              </a:spcBef>
              <a:spcAft>
                <a:spcPts val="600"/>
              </a:spcAft>
              <a:buFont typeface="Arial" panose="020B0604020202020204" pitchFamily="34" charset="0"/>
              <a:buChar char="•"/>
              <a:defRPr/>
            </a:pP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系统日志（</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Syslog</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）协议是在一个</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网络中转发系统日志信息的</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标准。</a:t>
            </a:r>
            <a:endPar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fontAlgn="auto">
              <a:lnSpc>
                <a:spcPts val="2400"/>
              </a:lnSpc>
              <a:spcBef>
                <a:spcPts val="0"/>
              </a:spcBef>
              <a:spcAft>
                <a:spcPts val="600"/>
              </a:spcAft>
              <a:buFont typeface="Arial" panose="020B0604020202020204" pitchFamily="34" charset="0"/>
              <a:buChar char="•"/>
              <a:defRPr/>
            </a:pP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工业</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标准协议，可用它记录设备的日志</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defTabSz="1219272" fontAlgn="auto">
              <a:lnSpc>
                <a:spcPts val="2400"/>
              </a:lnSpc>
              <a:spcBef>
                <a:spcPts val="0"/>
              </a:spcBef>
              <a:spcAft>
                <a:spcPts val="600"/>
              </a:spcAft>
              <a:buFont typeface="Arial" panose="020B0604020202020204" pitchFamily="34" charset="0"/>
              <a:buChar char="•"/>
              <a:defRPr/>
            </a:pP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Syslog</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协议接收设备上报的日志数据</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圆角矩形 8"/>
          <p:cNvSpPr/>
          <p:nvPr/>
        </p:nvSpPr>
        <p:spPr bwMode="gray">
          <a:xfrm>
            <a:off x="8189253" y="2309228"/>
            <a:ext cx="3152797"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Syslog</a:t>
            </a:r>
          </a:p>
        </p:txBody>
      </p:sp>
    </p:spTree>
    <p:extLst>
      <p:ext uri="{BB962C8B-B14F-4D97-AF65-F5344CB8AC3E}">
        <p14:creationId xmlns:p14="http://schemas.microsoft.com/office/powerpoint/2010/main" val="35175251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：数据处理流程</a:t>
            </a:r>
            <a:endParaRPr lang="zh-CN" altLang="en-US" dirty="0">
              <a:sym typeface="Huawei Sans" panose="020C0503030203020204" pitchFamily="34" charset="0"/>
            </a:endParaRPr>
          </a:p>
        </p:txBody>
      </p:sp>
      <p:sp>
        <p:nvSpPr>
          <p:cNvPr id="3" name="矩形 2"/>
          <p:cNvSpPr/>
          <p:nvPr/>
        </p:nvSpPr>
        <p:spPr bwMode="gray">
          <a:xfrm>
            <a:off x="1012192" y="2535970"/>
            <a:ext cx="1742331" cy="720000"/>
          </a:xfrm>
          <a:prstGeom prst="rect">
            <a:avLst/>
          </a:prstGeom>
          <a:solidFill>
            <a:sysClr val="window" lastClr="FFFFFF">
              <a:lumMod val="85000"/>
            </a:sysClr>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矩形 3"/>
          <p:cNvSpPr/>
          <p:nvPr/>
        </p:nvSpPr>
        <p:spPr bwMode="gray">
          <a:xfrm>
            <a:off x="3455580" y="2530235"/>
            <a:ext cx="1620000" cy="2304256"/>
          </a:xfrm>
          <a:prstGeom prst="rect">
            <a:avLst/>
          </a:prstGeom>
          <a:solidFill>
            <a:srgbClr val="D7F2F5"/>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矩形 4"/>
          <p:cNvSpPr/>
          <p:nvPr/>
        </p:nvSpPr>
        <p:spPr bwMode="gray">
          <a:xfrm>
            <a:off x="5471804" y="2529145"/>
            <a:ext cx="1620000" cy="2305346"/>
          </a:xfrm>
          <a:prstGeom prst="rect">
            <a:avLst/>
          </a:prstGeom>
          <a:solidFill>
            <a:srgbClr val="D7F2F5"/>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altLang="zh-CN"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矩形 5"/>
          <p:cNvSpPr/>
          <p:nvPr/>
        </p:nvSpPr>
        <p:spPr bwMode="gray">
          <a:xfrm>
            <a:off x="7488028" y="2529145"/>
            <a:ext cx="1620000" cy="2305346"/>
          </a:xfrm>
          <a:prstGeom prst="rect">
            <a:avLst/>
          </a:prstGeom>
          <a:solidFill>
            <a:srgbClr val="D7F2F5"/>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矩形 6"/>
          <p:cNvSpPr/>
          <p:nvPr/>
        </p:nvSpPr>
        <p:spPr bwMode="gray">
          <a:xfrm>
            <a:off x="9510484" y="2529145"/>
            <a:ext cx="1620000" cy="2305346"/>
          </a:xfrm>
          <a:prstGeom prst="rect">
            <a:avLst/>
          </a:prstGeom>
          <a:solidFill>
            <a:srgbClr val="D7F2F5"/>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文本框 7"/>
          <p:cNvSpPr txBox="1"/>
          <p:nvPr/>
        </p:nvSpPr>
        <p:spPr bwMode="gray">
          <a:xfrm>
            <a:off x="1431952" y="2915675"/>
            <a:ext cx="902811" cy="307777"/>
          </a:xfrm>
          <a:prstGeom prst="rect">
            <a:avLst/>
          </a:prstGeom>
          <a:noFill/>
        </p:spPr>
        <p:txBody>
          <a:bodyPr wrap="none" rtlCol="0">
            <a:spAutoFit/>
          </a:bodyPr>
          <a:lstStyle/>
          <a:p>
            <a:pPr defTabSz="914400" fontAlgn="base">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用户日志</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矩形 8"/>
          <p:cNvSpPr/>
          <p:nvPr/>
        </p:nvSpPr>
        <p:spPr bwMode="gray">
          <a:xfrm>
            <a:off x="1019261" y="3322403"/>
            <a:ext cx="1728192" cy="720000"/>
          </a:xfrm>
          <a:prstGeom prst="rect">
            <a:avLst/>
          </a:prstGeom>
          <a:solidFill>
            <a:sysClr val="window" lastClr="FFFFFF">
              <a:lumMod val="85000"/>
            </a:sysClr>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文本框 9"/>
          <p:cNvSpPr txBox="1"/>
          <p:nvPr/>
        </p:nvSpPr>
        <p:spPr bwMode="gray">
          <a:xfrm>
            <a:off x="1034407" y="3654460"/>
            <a:ext cx="1697901" cy="307777"/>
          </a:xfrm>
          <a:prstGeom prst="rect">
            <a:avLst/>
          </a:prstGeom>
          <a:noFill/>
        </p:spPr>
        <p:txBody>
          <a:bodyPr wrap="none" rtlCol="0">
            <a:spAutoFit/>
          </a:bodyPr>
          <a:lstStyle/>
          <a:p>
            <a:pPr defTabSz="914400" fontAlgn="base">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用户性能指标</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文本框 10"/>
          <p:cNvSpPr txBox="1"/>
          <p:nvPr/>
        </p:nvSpPr>
        <p:spPr bwMode="gray">
          <a:xfrm>
            <a:off x="3814175" y="4412903"/>
            <a:ext cx="902811" cy="307777"/>
          </a:xfrm>
          <a:prstGeom prst="rect">
            <a:avLst/>
          </a:prstGeom>
          <a:noFill/>
        </p:spPr>
        <p:txBody>
          <a:bodyPr wrap="none" rtlCol="0">
            <a:spAutoFit/>
          </a:bodyPr>
          <a:lstStyle/>
          <a:p>
            <a:pPr defTabSz="914400" fontAlgn="base">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数据接收</a:t>
            </a: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11"/>
          <p:cNvSpPr/>
          <p:nvPr/>
        </p:nvSpPr>
        <p:spPr bwMode="gray">
          <a:xfrm>
            <a:off x="7647244" y="2988319"/>
            <a:ext cx="1301568" cy="626090"/>
          </a:xfrm>
          <a:prstGeom prst="rect">
            <a:avLst/>
          </a:prstGeom>
          <a:solidFill>
            <a:srgbClr val="94DAE2"/>
          </a:solidFill>
          <a:ln w="9525">
            <a:noFill/>
          </a:ln>
        </p:spPr>
        <p:txBody>
          <a:bodyPr wrap="none" lIns="18000" rIns="18000" rtlCol="0" anchor="ctr"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2"/>
          <p:cNvSpPr/>
          <p:nvPr/>
        </p:nvSpPr>
        <p:spPr bwMode="gray">
          <a:xfrm>
            <a:off x="7647244" y="3674133"/>
            <a:ext cx="1301568" cy="626586"/>
          </a:xfrm>
          <a:prstGeom prst="rect">
            <a:avLst/>
          </a:prstGeom>
          <a:solidFill>
            <a:srgbClr val="94DAE2"/>
          </a:solidFill>
          <a:ln w="9525">
            <a:noFill/>
          </a:ln>
        </p:spPr>
        <p:txBody>
          <a:bodyPr wrap="none" lIns="18000" rIns="18000" rtlCol="0" anchor="ctr"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en-US" altLang="zh-CN"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13"/>
          <p:cNvSpPr/>
          <p:nvPr/>
        </p:nvSpPr>
        <p:spPr bwMode="gray">
          <a:xfrm>
            <a:off x="9618484" y="3013857"/>
            <a:ext cx="1404000" cy="396000"/>
          </a:xfrm>
          <a:prstGeom prst="rect">
            <a:avLst/>
          </a:prstGeom>
          <a:solidFill>
            <a:srgbClr val="94DAE2"/>
          </a:solidFill>
          <a:ln>
            <a:noFill/>
          </a:ln>
        </p:spPr>
        <p:txBody>
          <a:bodyPr wrap="none" lIns="18000" rIns="18000" rtlCol="0" anchor="ctr"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原始数据</a:t>
            </a: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9618484" y="3670705"/>
            <a:ext cx="1404000" cy="396000"/>
          </a:xfrm>
          <a:prstGeom prst="rect">
            <a:avLst/>
          </a:prstGeom>
          <a:solidFill>
            <a:srgbClr val="94DAE2"/>
          </a:solidFill>
          <a:ln>
            <a:noFill/>
          </a:ln>
        </p:spPr>
        <p:txBody>
          <a:bodyPr wrap="none" lIns="18000" rIns="18000" rtlCol="0" anchor="ctr"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汇聚数据</a:t>
            </a: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9618484" y="4302431"/>
            <a:ext cx="1404000" cy="396000"/>
          </a:xfrm>
          <a:prstGeom prst="rect">
            <a:avLst/>
          </a:prstGeom>
          <a:solidFill>
            <a:srgbClr val="94DAE2"/>
          </a:solidFill>
          <a:ln>
            <a:noFill/>
          </a:ln>
        </p:spPr>
        <p:txBody>
          <a:bodyPr wrap="none" lIns="18000" rIns="18000" rtlCol="0" anchor="ctr"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分析数据</a:t>
            </a: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bwMode="gray">
          <a:xfrm>
            <a:off x="5953028" y="2601159"/>
            <a:ext cx="657552" cy="307777"/>
          </a:xfrm>
          <a:prstGeom prst="rect">
            <a:avLst/>
          </a:prstGeom>
        </p:spPr>
        <p:txBody>
          <a:bodyPr wrap="none">
            <a:spAutoFit/>
          </a:bodyPr>
          <a:lstStyle/>
          <a:p>
            <a:pPr defTabSz="914400" fontAlgn="base">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K</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afka</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矩形 17"/>
          <p:cNvSpPr/>
          <p:nvPr/>
        </p:nvSpPr>
        <p:spPr bwMode="gray">
          <a:xfrm>
            <a:off x="1513544" y="2588153"/>
            <a:ext cx="700833" cy="307777"/>
          </a:xfrm>
          <a:prstGeom prst="rect">
            <a:avLst/>
          </a:prstGeom>
        </p:spPr>
        <p:txBody>
          <a:bodyPr wrap="none">
            <a:spAutoFit/>
          </a:bodyPr>
          <a:lstStyle/>
          <a:p>
            <a:pPr defTabSz="914400" fontAlgn="base">
              <a:spcBef>
                <a:spcPct val="0"/>
              </a:spcBef>
              <a:spcAft>
                <a:spcPct val="0"/>
              </a:spcAft>
            </a:pP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Syslog</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bwMode="gray">
          <a:xfrm>
            <a:off x="1403418" y="3374586"/>
            <a:ext cx="1002197" cy="307777"/>
          </a:xfrm>
          <a:prstGeom prst="rect">
            <a:avLst/>
          </a:prstGeom>
        </p:spPr>
        <p:txBody>
          <a:bodyPr wrap="none">
            <a:spAutoFit/>
          </a:bodyPr>
          <a:lstStyle/>
          <a:p>
            <a:pPr defTabSz="914400" fontAlgn="base">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elemetry</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bwMode="gray">
          <a:xfrm>
            <a:off x="3814175" y="2601159"/>
            <a:ext cx="902811" cy="307777"/>
          </a:xfrm>
          <a:prstGeom prst="rect">
            <a:avLst/>
          </a:prstGeom>
        </p:spPr>
        <p:txBody>
          <a:bodyPr wrap="none">
            <a:spAutoFit/>
          </a:bodyPr>
          <a:lstStyle/>
          <a:p>
            <a:pPr defTabSz="914400" fontAlgn="base">
              <a:spcBef>
                <a:spcPct val="0"/>
              </a:spcBef>
              <a:spcAft>
                <a:spcPct val="0"/>
              </a:spcAft>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采</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集服务</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矩形 20"/>
          <p:cNvSpPr/>
          <p:nvPr/>
        </p:nvSpPr>
        <p:spPr bwMode="gray">
          <a:xfrm>
            <a:off x="1019261" y="4114491"/>
            <a:ext cx="1728192" cy="720000"/>
          </a:xfrm>
          <a:prstGeom prst="rect">
            <a:avLst/>
          </a:prstGeom>
          <a:solidFill>
            <a:sysClr val="window" lastClr="FFFFFF">
              <a:lumMod val="85000"/>
            </a:sysClr>
          </a:solidFill>
          <a:ln>
            <a:noFill/>
          </a:ln>
        </p:spPr>
        <p:txBody>
          <a:bodyPr wrap="none" lIns="18000" rIns="18000" rtlCol="0" anchor="t" anchorCtr="1">
            <a:noAutofit/>
          </a:bodyPr>
          <a:lstStyle/>
          <a:p>
            <a:pPr marL="0" marR="0" lvl="0" indent="0"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文本框 21"/>
          <p:cNvSpPr txBox="1"/>
          <p:nvPr/>
        </p:nvSpPr>
        <p:spPr bwMode="gray">
          <a:xfrm>
            <a:off x="1431952" y="4474451"/>
            <a:ext cx="902811" cy="307777"/>
          </a:xfrm>
          <a:prstGeom prst="rect">
            <a:avLst/>
          </a:prstGeom>
          <a:noFill/>
        </p:spPr>
        <p:txBody>
          <a:bodyPr wrap="none" rtlCol="0">
            <a:spAutoFit/>
          </a:bodyPr>
          <a:lstStyle/>
          <a:p>
            <a:pPr defTabSz="914400" fontAlgn="base">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设备管理</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矩形 22"/>
          <p:cNvSpPr/>
          <p:nvPr/>
        </p:nvSpPr>
        <p:spPr bwMode="gray">
          <a:xfrm>
            <a:off x="1523323" y="4166674"/>
            <a:ext cx="688009" cy="307777"/>
          </a:xfrm>
          <a:prstGeom prst="rect">
            <a:avLst/>
          </a:prstGeom>
        </p:spPr>
        <p:txBody>
          <a:bodyPr wrap="none">
            <a:spAutoFit/>
          </a:bodyPr>
          <a:lstStyle/>
          <a:p>
            <a:pPr defTabSz="914400" fontAlgn="base">
              <a:spcBef>
                <a:spcPct val="0"/>
              </a:spcBef>
              <a:spcAft>
                <a:spcPct val="0"/>
              </a:spcAft>
            </a:pP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文本框 23"/>
          <p:cNvSpPr txBox="1"/>
          <p:nvPr/>
        </p:nvSpPr>
        <p:spPr bwMode="gray">
          <a:xfrm>
            <a:off x="5612390" y="4412903"/>
            <a:ext cx="1338828" cy="307777"/>
          </a:xfrm>
          <a:prstGeom prst="rect">
            <a:avLst/>
          </a:prstGeom>
          <a:noFill/>
        </p:spPr>
        <p:txBody>
          <a:bodyPr wrap="none" rtlCol="0">
            <a:spAutoFit/>
          </a:bodyPr>
          <a:lstStyle/>
          <a:p>
            <a:pPr defTabSz="914400" fontAlgn="base">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数据分发</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缓冲</a:t>
            </a: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bwMode="gray">
          <a:xfrm>
            <a:off x="7797731" y="2988319"/>
            <a:ext cx="1023037" cy="307777"/>
          </a:xfrm>
          <a:prstGeom prst="rect">
            <a:avLst/>
          </a:prstGeom>
        </p:spPr>
        <p:txBody>
          <a:bodyPr wrap="none">
            <a:spAutoFit/>
          </a:bodyPr>
          <a:lstStyle/>
          <a:p>
            <a:pPr defTabSz="914400" fontAlgn="base">
              <a:spcBef>
                <a:spcPct val="0"/>
              </a:spcBef>
              <a:spcAft>
                <a:spcPct val="0"/>
              </a:spcAft>
              <a:buClr>
                <a:srgbClr val="CC9900"/>
              </a:buClr>
            </a:pP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Streaming</a:t>
            </a:r>
          </a:p>
        </p:txBody>
      </p:sp>
      <p:sp>
        <p:nvSpPr>
          <p:cNvPr id="26" name="矩形 25"/>
          <p:cNvSpPr/>
          <p:nvPr/>
        </p:nvSpPr>
        <p:spPr bwMode="gray">
          <a:xfrm>
            <a:off x="7964122" y="3661433"/>
            <a:ext cx="667812" cy="307777"/>
          </a:xfrm>
          <a:prstGeom prst="rect">
            <a:avLst/>
          </a:prstGeom>
        </p:spPr>
        <p:txBody>
          <a:bodyPr wrap="none">
            <a:spAutoFit/>
          </a:bodyPr>
          <a:lstStyle/>
          <a:p>
            <a:pPr defTabSz="914400" fontAlgn="base">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Spark</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bwMode="gray">
          <a:xfrm>
            <a:off x="3282975" y="2191681"/>
            <a:ext cx="7960092" cy="2712214"/>
          </a:xfrm>
          <a:prstGeom prst="rect">
            <a:avLst/>
          </a:prstGeom>
          <a:noFill/>
          <a:ln w="19050">
            <a:solidFill>
              <a:schemeClr val="bg1">
                <a:lumMod val="85000"/>
              </a:schemeClr>
            </a:solidFill>
            <a:prstDash val="solid"/>
          </a:ln>
        </p:spPr>
        <p:txBody>
          <a:bodyPr wrap="none" lIns="18000" rIns="18000" rtlCol="0" anchor="ctr" anchorCtr="1">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bwMode="gray">
          <a:xfrm>
            <a:off x="894800" y="2191681"/>
            <a:ext cx="1958715" cy="2712214"/>
          </a:xfrm>
          <a:prstGeom prst="rect">
            <a:avLst/>
          </a:prstGeom>
          <a:noFill/>
          <a:ln w="19050">
            <a:solidFill>
              <a:schemeClr val="bg1">
                <a:lumMod val="85000"/>
              </a:schemeClr>
            </a:solidFill>
            <a:prstDash val="solid"/>
          </a:ln>
        </p:spPr>
        <p:txBody>
          <a:bodyPr wrap="none" lIns="18000" rIns="18000" rtlCol="0" anchor="ctr" anchorCtr="1">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en-US" sz="1400" b="0"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文本框 28"/>
          <p:cNvSpPr txBox="1"/>
          <p:nvPr/>
        </p:nvSpPr>
        <p:spPr bwMode="gray">
          <a:xfrm>
            <a:off x="894800" y="2191681"/>
            <a:ext cx="595035" cy="338554"/>
          </a:xfrm>
          <a:prstGeom prst="rect">
            <a:avLst/>
          </a:prstGeom>
          <a:noFill/>
        </p:spPr>
        <p:txBody>
          <a:bodyPr wrap="none" rtlCol="0">
            <a:spAutoFit/>
          </a:bodyPr>
          <a:lstStyle/>
          <a:p>
            <a:pPr defTabSz="914400" fontAlgn="base">
              <a:spcBef>
                <a:spcPct val="0"/>
              </a:spcBef>
              <a:spcAft>
                <a:spcPct val="0"/>
              </a:spcAft>
            </a:pPr>
            <a:r>
              <a:rPr lang="zh-CN" altLang="en-US"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a:t>
            </a:r>
            <a:endParaRPr lang="en-US"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文本框 29"/>
          <p:cNvSpPr txBox="1"/>
          <p:nvPr/>
        </p:nvSpPr>
        <p:spPr bwMode="gray">
          <a:xfrm>
            <a:off x="3457873" y="2191681"/>
            <a:ext cx="800219" cy="338554"/>
          </a:xfrm>
          <a:prstGeom prst="rect">
            <a:avLst/>
          </a:prstGeom>
          <a:noFill/>
        </p:spPr>
        <p:txBody>
          <a:bodyPr wrap="none" rtlCol="0">
            <a:spAutoFit/>
          </a:bodyPr>
          <a:lstStyle/>
          <a:p>
            <a:pPr defTabSz="914400" fontAlgn="base">
              <a:spcBef>
                <a:spcPct val="0"/>
              </a:spcBef>
              <a:spcAft>
                <a:spcPct val="0"/>
              </a:spcAft>
            </a:pPr>
            <a:r>
              <a:rPr lang="zh-CN" altLang="en-US"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分析器</a:t>
            </a:r>
            <a:endParaRPr lang="en-US"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7667086" y="3275855"/>
            <a:ext cx="1261884" cy="307777"/>
          </a:xfrm>
          <a:prstGeom prst="rect">
            <a:avLst/>
          </a:prstGeom>
        </p:spPr>
        <p:txBody>
          <a:bodyPr wrap="none">
            <a:spAutoFit/>
          </a:bodyPr>
          <a:lstStyle/>
          <a:p>
            <a:pPr defTabSz="914400" fontAlgn="base">
              <a:spcBef>
                <a:spcPct val="0"/>
              </a:spcBef>
              <a:spcAft>
                <a:spcPct val="0"/>
              </a:spcAft>
              <a:buClr>
                <a:srgbClr val="CC9900"/>
              </a:buClr>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实时数据处理</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矩形 31"/>
          <p:cNvSpPr/>
          <p:nvPr/>
        </p:nvSpPr>
        <p:spPr bwMode="gray">
          <a:xfrm>
            <a:off x="7667086" y="3949465"/>
            <a:ext cx="1261884" cy="307777"/>
          </a:xfrm>
          <a:prstGeom prst="rect">
            <a:avLst/>
          </a:prstGeom>
        </p:spPr>
        <p:txBody>
          <a:bodyPr wrap="none">
            <a:spAutoFit/>
          </a:bodyPr>
          <a:lstStyle/>
          <a:p>
            <a:pPr defTabSz="914400" fontAlgn="base">
              <a:spcBef>
                <a:spcPct val="0"/>
              </a:spcBef>
              <a:spcAft>
                <a:spcPct val="0"/>
              </a:spcAft>
              <a:buClr>
                <a:srgbClr val="CC9900"/>
              </a:buClr>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离线数据处理</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云形 32"/>
          <p:cNvSpPr/>
          <p:nvPr/>
        </p:nvSpPr>
        <p:spPr bwMode="gray">
          <a:xfrm>
            <a:off x="7825044" y="4357805"/>
            <a:ext cx="945968" cy="446316"/>
          </a:xfrm>
          <a:prstGeom prst="cloud">
            <a:avLst/>
          </a:prstGeom>
          <a:solidFill>
            <a:srgbClr val="94DAE2"/>
          </a:solidFill>
          <a:ln w="9525">
            <a:noFill/>
          </a:ln>
        </p:spPr>
        <p:txBody>
          <a:bodyPr wrap="none" lIns="18000" rIns="18000" rtlCol="0" anchor="ctr" anchorCtr="1">
            <a:noAutofit/>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r>
              <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算法</a:t>
            </a:r>
            <a:endParaRPr kumimoji="0" 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五边形 33"/>
          <p:cNvSpPr/>
          <p:nvPr/>
        </p:nvSpPr>
        <p:spPr bwMode="gray">
          <a:xfrm>
            <a:off x="883766" y="1399315"/>
            <a:ext cx="2448000" cy="540000"/>
          </a:xfrm>
          <a:prstGeom prst="homePlate">
            <a:avLst/>
          </a:prstGeom>
          <a:solidFill>
            <a:schemeClr val="bg1">
              <a:lumMod val="75000"/>
            </a:schemeClr>
          </a:solidFill>
          <a:ln>
            <a:noFill/>
          </a:ln>
        </p:spPr>
        <p:txBody>
          <a:bodyPr wrap="none" lIns="18000" rIns="18000" rtlCol="0" anchor="ctr" anchorCtr="1">
            <a:noAutofit/>
          </a:bodyPr>
          <a:lstStyle/>
          <a:p>
            <a:pPr algn="ctr" defTabSz="914400" fontAlgn="base">
              <a:spcBef>
                <a:spcPct val="0"/>
              </a:spcBef>
              <a:spcAft>
                <a:spcPct val="0"/>
              </a:spcAft>
              <a:buClr>
                <a:srgbClr val="CC9900"/>
              </a:buClr>
            </a:pPr>
            <a:r>
              <a:rPr lang="zh-CN" alt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订阅</a:t>
            </a:r>
            <a:endParaRPr 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燕尾形 34"/>
          <p:cNvSpPr/>
          <p:nvPr/>
        </p:nvSpPr>
        <p:spPr bwMode="gray">
          <a:xfrm>
            <a:off x="3119311" y="1399315"/>
            <a:ext cx="2376000" cy="540000"/>
          </a:xfrm>
          <a:prstGeom prst="chevron">
            <a:avLst/>
          </a:prstGeom>
          <a:solidFill>
            <a:srgbClr val="30B5C5"/>
          </a:solidFill>
          <a:ln>
            <a:noFill/>
          </a:ln>
        </p:spPr>
        <p:txBody>
          <a:bodyPr wrap="none" lIns="18000" rIns="18000" rtlCol="0" anchor="ctr" anchorCtr="1">
            <a:noAutofit/>
          </a:bodyPr>
          <a:lstStyle/>
          <a:p>
            <a:pPr algn="ctr" defTabSz="914400" fontAlgn="base">
              <a:spcBef>
                <a:spcPct val="0"/>
              </a:spcBef>
              <a:spcAft>
                <a:spcPct val="0"/>
              </a:spcAft>
              <a:buClr>
                <a:srgbClr val="CC9900"/>
              </a:buClr>
            </a:pPr>
            <a:r>
              <a:rPr lang="zh-CN" altLang="en-US" sz="1600" b="1"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采集</a:t>
            </a:r>
            <a:endParaRPr 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燕尾形 35"/>
          <p:cNvSpPr/>
          <p:nvPr/>
        </p:nvSpPr>
        <p:spPr bwMode="gray">
          <a:xfrm>
            <a:off x="5282856" y="1399315"/>
            <a:ext cx="2124000" cy="540000"/>
          </a:xfrm>
          <a:prstGeom prst="chevron">
            <a:avLst/>
          </a:prstGeom>
          <a:solidFill>
            <a:srgbClr val="30B5C5"/>
          </a:solidFill>
          <a:ln>
            <a:noFill/>
          </a:ln>
        </p:spPr>
        <p:txBody>
          <a:bodyPr wrap="none" lIns="18000" rIns="18000" rtlCol="0" anchor="ctr" anchorCtr="1">
            <a:noAutofit/>
          </a:bodyPr>
          <a:lstStyle/>
          <a:p>
            <a:pPr algn="ctr" defTabSz="914400" fontAlgn="base">
              <a:spcBef>
                <a:spcPct val="0"/>
              </a:spcBef>
              <a:spcAft>
                <a:spcPct val="0"/>
              </a:spcAft>
              <a:buClr>
                <a:srgbClr val="CC9900"/>
              </a:buClr>
            </a:pPr>
            <a:r>
              <a:rPr lang="zh-CN" altLang="en-US" sz="1600" b="1"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分发</a:t>
            </a:r>
            <a:r>
              <a:rPr lang="en-US" altLang="zh-CN"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600" b="1"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缓冲</a:t>
            </a:r>
            <a:endParaRPr 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燕尾形 36"/>
          <p:cNvSpPr/>
          <p:nvPr/>
        </p:nvSpPr>
        <p:spPr bwMode="gray">
          <a:xfrm>
            <a:off x="7194401" y="1399315"/>
            <a:ext cx="2232000" cy="540000"/>
          </a:xfrm>
          <a:prstGeom prst="chevron">
            <a:avLst/>
          </a:prstGeom>
          <a:solidFill>
            <a:srgbClr val="30B5C5"/>
          </a:solidFill>
          <a:ln>
            <a:noFill/>
          </a:ln>
        </p:spPr>
        <p:txBody>
          <a:bodyPr wrap="none" lIns="18000" rIns="18000" rtlCol="0" anchor="ctr" anchorCtr="1">
            <a:noAutofit/>
          </a:bodyPr>
          <a:lstStyle/>
          <a:p>
            <a:pPr algn="ctr" defTabSz="914400" fontAlgn="base">
              <a:spcBef>
                <a:spcPct val="0"/>
              </a:spcBef>
              <a:spcAft>
                <a:spcPct val="0"/>
              </a:spcAft>
              <a:buClr>
                <a:srgbClr val="CC9900"/>
              </a:buClr>
            </a:pPr>
            <a:r>
              <a:rPr lang="zh-CN" alt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r>
              <a:rPr lang="en-US" altLang="zh-CN"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运算</a:t>
            </a:r>
            <a:endParaRPr 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燕尾形 48"/>
          <p:cNvSpPr/>
          <p:nvPr/>
        </p:nvSpPr>
        <p:spPr bwMode="gray">
          <a:xfrm>
            <a:off x="9213944" y="1399315"/>
            <a:ext cx="2029123" cy="540000"/>
          </a:xfrm>
          <a:custGeom>
            <a:avLst/>
            <a:gdLst>
              <a:gd name="connsiteX0" fmla="*/ 0 w 2664000"/>
              <a:gd name="connsiteY0" fmla="*/ 0 h 540000"/>
              <a:gd name="connsiteX1" fmla="*/ 2394000 w 2664000"/>
              <a:gd name="connsiteY1" fmla="*/ 0 h 540000"/>
              <a:gd name="connsiteX2" fmla="*/ 2664000 w 2664000"/>
              <a:gd name="connsiteY2" fmla="*/ 270000 h 540000"/>
              <a:gd name="connsiteX3" fmla="*/ 2394000 w 2664000"/>
              <a:gd name="connsiteY3" fmla="*/ 540000 h 540000"/>
              <a:gd name="connsiteX4" fmla="*/ 0 w 2664000"/>
              <a:gd name="connsiteY4" fmla="*/ 540000 h 540000"/>
              <a:gd name="connsiteX5" fmla="*/ 270000 w 2664000"/>
              <a:gd name="connsiteY5" fmla="*/ 270000 h 540000"/>
              <a:gd name="connsiteX6" fmla="*/ 0 w 2664000"/>
              <a:gd name="connsiteY6" fmla="*/ 0 h 540000"/>
              <a:gd name="connsiteX0" fmla="*/ 0 w 2394000"/>
              <a:gd name="connsiteY0" fmla="*/ 0 h 540000"/>
              <a:gd name="connsiteX1" fmla="*/ 2394000 w 2394000"/>
              <a:gd name="connsiteY1" fmla="*/ 0 h 540000"/>
              <a:gd name="connsiteX2" fmla="*/ 2394000 w 2394000"/>
              <a:gd name="connsiteY2" fmla="*/ 540000 h 540000"/>
              <a:gd name="connsiteX3" fmla="*/ 0 w 2394000"/>
              <a:gd name="connsiteY3" fmla="*/ 540000 h 540000"/>
              <a:gd name="connsiteX4" fmla="*/ 270000 w 2394000"/>
              <a:gd name="connsiteY4" fmla="*/ 270000 h 540000"/>
              <a:gd name="connsiteX5" fmla="*/ 0 w 2394000"/>
              <a:gd name="connsiteY5" fmla="*/ 0 h 540000"/>
              <a:gd name="connsiteX0" fmla="*/ 0 w 2394000"/>
              <a:gd name="connsiteY0" fmla="*/ 0 h 540000"/>
              <a:gd name="connsiteX1" fmla="*/ 2394000 w 2394000"/>
              <a:gd name="connsiteY1" fmla="*/ 0 h 540000"/>
              <a:gd name="connsiteX2" fmla="*/ 2394000 w 2394000"/>
              <a:gd name="connsiteY2" fmla="*/ 540000 h 540000"/>
              <a:gd name="connsiteX3" fmla="*/ 0 w 2394000"/>
              <a:gd name="connsiteY3" fmla="*/ 540000 h 540000"/>
              <a:gd name="connsiteX4" fmla="*/ 287980 w 2394000"/>
              <a:gd name="connsiteY4" fmla="*/ 270000 h 540000"/>
              <a:gd name="connsiteX5" fmla="*/ 0 w 2394000"/>
              <a:gd name="connsiteY5" fmla="*/ 0 h 5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4000" h="540000">
                <a:moveTo>
                  <a:pt x="0" y="0"/>
                </a:moveTo>
                <a:lnTo>
                  <a:pt x="2394000" y="0"/>
                </a:lnTo>
                <a:lnTo>
                  <a:pt x="2394000" y="540000"/>
                </a:lnTo>
                <a:lnTo>
                  <a:pt x="0" y="540000"/>
                </a:lnTo>
                <a:lnTo>
                  <a:pt x="287980" y="270000"/>
                </a:lnTo>
                <a:lnTo>
                  <a:pt x="0" y="0"/>
                </a:lnTo>
                <a:close/>
              </a:path>
            </a:pathLst>
          </a:custGeom>
          <a:solidFill>
            <a:srgbClr val="30B5C5"/>
          </a:solidFill>
          <a:ln>
            <a:noFill/>
          </a:ln>
        </p:spPr>
        <p:txBody>
          <a:bodyPr wrap="none" lIns="18000" rIns="18000" rtlCol="0" anchor="ctr" anchorCtr="1">
            <a:noAutofit/>
          </a:bodyPr>
          <a:lstStyle/>
          <a:p>
            <a:pPr algn="ctr" defTabSz="914400" fontAlgn="base">
              <a:spcBef>
                <a:spcPct val="0"/>
              </a:spcBef>
              <a:spcAft>
                <a:spcPct val="0"/>
              </a:spcAft>
              <a:buClr>
                <a:srgbClr val="CC9900"/>
              </a:buClr>
            </a:pPr>
            <a:r>
              <a:rPr lang="zh-CN" alt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存储</a:t>
            </a:r>
            <a:endParaRPr lang="en-US" sz="1600" b="1"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右箭头 38"/>
          <p:cNvSpPr/>
          <p:nvPr/>
        </p:nvSpPr>
        <p:spPr bwMode="gray">
          <a:xfrm>
            <a:off x="2896065" y="3538347"/>
            <a:ext cx="344360" cy="287241"/>
          </a:xfrm>
          <a:prstGeom prst="rightArrow">
            <a:avLst/>
          </a:prstGeom>
          <a:solidFill>
            <a:schemeClr val="bg1">
              <a:lumMod val="65000"/>
            </a:schemeClr>
          </a:solidFill>
          <a:ln>
            <a:noFill/>
          </a:ln>
        </p:spPr>
        <p:txBody>
          <a:bodyPr wrap="none" lIns="18000" rIns="18000" rtlCol="0" anchor="ctr" anchorCtr="1">
            <a:noAutofit/>
          </a:bodyPr>
          <a:lstStyle/>
          <a:p>
            <a:pPr algn="ctr" defTabSz="914400" fontAlgn="base">
              <a:spcBef>
                <a:spcPct val="0"/>
              </a:spcBef>
              <a:spcAft>
                <a:spcPct val="0"/>
              </a:spcAft>
              <a:buClr>
                <a:srgbClr val="CC9900"/>
              </a:buClr>
            </a:pP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文本框 39"/>
          <p:cNvSpPr txBox="1"/>
          <p:nvPr/>
        </p:nvSpPr>
        <p:spPr bwMode="gray">
          <a:xfrm>
            <a:off x="883766" y="5304123"/>
            <a:ext cx="10359301" cy="678712"/>
          </a:xfrm>
          <a:prstGeom prst="rect">
            <a:avLst/>
          </a:prstGeom>
          <a:noFill/>
        </p:spPr>
        <p:txBody>
          <a:bodyPr wrap="square" rtlCol="0">
            <a:spAutoFit/>
          </a:bodyPr>
          <a:lstStyle/>
          <a:p>
            <a:pPr defTabSz="914400" fontAlgn="base">
              <a:lnSpc>
                <a:spcPts val="2400"/>
              </a:lnSpc>
              <a:spcBef>
                <a:spcPct val="0"/>
              </a:spcBef>
              <a:spcAft>
                <a:spcPts val="60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数据订阅后，由采集服务完成秒级数据的采集；经过高吞吐的分布式消息系统的缓冲和分发；由各业务服务完成基于</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算法、专家经验的数据分析和运算；最后将处理后的数据保存至快速的列式分布式数据存储系统中，并通过页面进行功能展示。</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矩形 40"/>
          <p:cNvSpPr/>
          <p:nvPr/>
        </p:nvSpPr>
        <p:spPr bwMode="gray">
          <a:xfrm>
            <a:off x="7969252" y="2601159"/>
            <a:ext cx="657552" cy="307777"/>
          </a:xfrm>
          <a:prstGeom prst="rect">
            <a:avLst/>
          </a:prstGeom>
        </p:spPr>
        <p:txBody>
          <a:bodyPr wrap="none">
            <a:spAutoFit/>
          </a:bodyPr>
          <a:lstStyle/>
          <a:p>
            <a:pPr defTabSz="914400" fontAlgn="base">
              <a:spcBef>
                <a:spcPct val="0"/>
              </a:spcBef>
              <a:spcAft>
                <a:spcPct val="0"/>
              </a:spcAft>
            </a:pPr>
            <a:r>
              <a:rPr lang="en-US" altLang="zh-CN" sz="14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Spark</a:t>
            </a:r>
          </a:p>
        </p:txBody>
      </p:sp>
      <p:sp>
        <p:nvSpPr>
          <p:cNvPr id="42" name="矩形 41"/>
          <p:cNvSpPr/>
          <p:nvPr/>
        </p:nvSpPr>
        <p:spPr bwMode="gray">
          <a:xfrm>
            <a:off x="9739235" y="2601159"/>
            <a:ext cx="1162498" cy="307777"/>
          </a:xfrm>
          <a:prstGeom prst="rect">
            <a:avLst/>
          </a:prstGeom>
        </p:spPr>
        <p:txBody>
          <a:bodyPr wrap="none">
            <a:spAutoFit/>
          </a:bodyPr>
          <a:lstStyle/>
          <a:p>
            <a:pPr lvl="0" defTabSz="914400" fontAlgn="base">
              <a:spcBef>
                <a:spcPct val="0"/>
              </a:spcBef>
              <a:spcAft>
                <a:spcPct val="0"/>
              </a:spcAft>
              <a:buClr>
                <a:srgbClr val="CC9900"/>
              </a:buClr>
              <a:defRPr/>
            </a:pPr>
            <a:r>
              <a:rPr lang="en-US" altLang="zh-CN" sz="1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Druid/HDFS</a:t>
            </a:r>
            <a:endPar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右箭头 42"/>
          <p:cNvSpPr/>
          <p:nvPr/>
        </p:nvSpPr>
        <p:spPr bwMode="gray">
          <a:xfrm>
            <a:off x="5127444" y="3538347"/>
            <a:ext cx="344360" cy="287241"/>
          </a:xfrm>
          <a:prstGeom prst="rightArrow">
            <a:avLst/>
          </a:prstGeom>
          <a:solidFill>
            <a:schemeClr val="bg1">
              <a:lumMod val="65000"/>
            </a:schemeClr>
          </a:solidFill>
          <a:ln>
            <a:noFill/>
          </a:ln>
        </p:spPr>
        <p:txBody>
          <a:bodyPr wrap="none" lIns="18000" rIns="18000" rtlCol="0" anchor="ctr" anchorCtr="1">
            <a:noAutofit/>
          </a:bodyPr>
          <a:lstStyle/>
          <a:p>
            <a:pPr algn="ctr" defTabSz="914400" fontAlgn="base">
              <a:spcBef>
                <a:spcPct val="0"/>
              </a:spcBef>
              <a:spcAft>
                <a:spcPct val="0"/>
              </a:spcAft>
              <a:buClr>
                <a:srgbClr val="CC9900"/>
              </a:buClr>
            </a:pP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右箭头 43"/>
          <p:cNvSpPr/>
          <p:nvPr/>
        </p:nvSpPr>
        <p:spPr bwMode="gray">
          <a:xfrm>
            <a:off x="7123233" y="3538347"/>
            <a:ext cx="344360" cy="287241"/>
          </a:xfrm>
          <a:prstGeom prst="rightArrow">
            <a:avLst/>
          </a:prstGeom>
          <a:solidFill>
            <a:schemeClr val="bg1">
              <a:lumMod val="65000"/>
            </a:schemeClr>
          </a:solidFill>
          <a:ln>
            <a:noFill/>
          </a:ln>
        </p:spPr>
        <p:txBody>
          <a:bodyPr wrap="none" lIns="18000" rIns="18000" rtlCol="0" anchor="ctr" anchorCtr="1">
            <a:noAutofit/>
          </a:bodyPr>
          <a:lstStyle/>
          <a:p>
            <a:pPr algn="ctr" defTabSz="914400" fontAlgn="base">
              <a:spcBef>
                <a:spcPct val="0"/>
              </a:spcBef>
              <a:spcAft>
                <a:spcPct val="0"/>
              </a:spcAft>
              <a:buClr>
                <a:srgbClr val="CC9900"/>
              </a:buClr>
            </a:pP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右箭头 44"/>
          <p:cNvSpPr/>
          <p:nvPr/>
        </p:nvSpPr>
        <p:spPr bwMode="gray">
          <a:xfrm>
            <a:off x="9155460" y="3538347"/>
            <a:ext cx="344360" cy="287241"/>
          </a:xfrm>
          <a:prstGeom prst="rightArrow">
            <a:avLst/>
          </a:prstGeom>
          <a:solidFill>
            <a:schemeClr val="bg1">
              <a:lumMod val="65000"/>
            </a:schemeClr>
          </a:solidFill>
          <a:ln>
            <a:noFill/>
          </a:ln>
        </p:spPr>
        <p:txBody>
          <a:bodyPr wrap="none" lIns="18000" rIns="18000" rtlCol="0" anchor="ctr" anchorCtr="1">
            <a:noAutofit/>
          </a:bodyPr>
          <a:lstStyle/>
          <a:p>
            <a:pPr algn="ctr" defTabSz="914400" fontAlgn="base">
              <a:spcBef>
                <a:spcPct val="0"/>
              </a:spcBef>
              <a:spcAft>
                <a:spcPct val="0"/>
              </a:spcAft>
              <a:buClr>
                <a:srgbClr val="CC9900"/>
              </a:buClr>
            </a:pPr>
            <a:endParaRPr 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1231707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err="1" smtClean="0">
                <a:sym typeface="Huawei Sans" panose="020C0503030203020204" pitchFamily="34" charset="0"/>
              </a:rPr>
              <a:t>CampusInsight</a:t>
            </a:r>
            <a:r>
              <a:rPr lang="zh-CN" altLang="en-US" dirty="0" smtClean="0">
                <a:sym typeface="Huawei Sans" panose="020C0503030203020204" pitchFamily="34" charset="0"/>
              </a:rPr>
              <a:t>部署：独立部署模式 </a:t>
            </a:r>
            <a:r>
              <a:rPr lang="en-US" altLang="zh-CN" dirty="0" smtClean="0">
                <a:sym typeface="Huawei Sans" panose="020C0503030203020204" pitchFamily="34" charset="0"/>
              </a:rPr>
              <a:t>(</a:t>
            </a:r>
            <a:r>
              <a:rPr lang="zh-CN" altLang="en-US" dirty="0" smtClean="0">
                <a:sym typeface="Huawei Sans" panose="020C0503030203020204" pitchFamily="34" charset="0"/>
              </a:rPr>
              <a:t>本地部署场景</a:t>
            </a:r>
            <a:r>
              <a:rPr lang="en-US" altLang="zh-CN" dirty="0">
                <a:sym typeface="Huawei Sans" panose="020C0503030203020204" pitchFamily="34" charset="0"/>
              </a:rPr>
              <a:t>)</a:t>
            </a:r>
            <a:endParaRPr lang="zh-CN" altLang="en-US" dirty="0">
              <a:sym typeface="Huawei Sans" panose="020C0503030203020204" pitchFamily="34" charset="0"/>
            </a:endParaRPr>
          </a:p>
        </p:txBody>
      </p:sp>
      <p:cxnSp>
        <p:nvCxnSpPr>
          <p:cNvPr id="3" name="直接连接符 2"/>
          <p:cNvCxnSpPr/>
          <p:nvPr/>
        </p:nvCxnSpPr>
        <p:spPr bwMode="gray">
          <a:xfrm flipH="1">
            <a:off x="1581168" y="3740244"/>
            <a:ext cx="27156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bwMode="gray">
          <a:xfrm>
            <a:off x="2789222" y="2241222"/>
            <a:ext cx="0" cy="24134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102" descr="AC-蓝.png"/>
          <p:cNvPicPr>
            <a:picLocks noChangeAspect="1"/>
          </p:cNvPicPr>
          <p:nvPr/>
        </p:nvPicPr>
        <p:blipFill>
          <a:blip r:embed="rId3" cstate="print"/>
          <a:stretch>
            <a:fillRect/>
          </a:stretch>
        </p:blipFill>
        <p:spPr bwMode="gray">
          <a:xfrm>
            <a:off x="3983031" y="3557675"/>
            <a:ext cx="446281" cy="365139"/>
          </a:xfrm>
          <a:prstGeom prst="rect">
            <a:avLst/>
          </a:prstGeom>
        </p:spPr>
      </p:pic>
      <p:sp>
        <p:nvSpPr>
          <p:cNvPr id="6" name="文本框 5"/>
          <p:cNvSpPr txBox="1"/>
          <p:nvPr/>
        </p:nvSpPr>
        <p:spPr bwMode="gray">
          <a:xfrm>
            <a:off x="4012368" y="3280676"/>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7" name="Group 165"/>
          <p:cNvGrpSpPr/>
          <p:nvPr/>
        </p:nvGrpSpPr>
        <p:grpSpPr bwMode="gray">
          <a:xfrm rot="10800000">
            <a:off x="1414540" y="4654642"/>
            <a:ext cx="2818362" cy="529463"/>
            <a:chOff x="-1233037" y="914446"/>
            <a:chExt cx="1573823" cy="778776"/>
          </a:xfrm>
        </p:grpSpPr>
        <p:cxnSp>
          <p:nvCxnSpPr>
            <p:cNvPr id="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0" name="图片 105" descr="AP.png"/>
          <p:cNvPicPr>
            <a:picLocks noChangeAspect="1"/>
          </p:cNvPicPr>
          <p:nvPr/>
        </p:nvPicPr>
        <p:blipFill>
          <a:blip r:embed="rId4" cstate="print"/>
          <a:stretch>
            <a:fillRect/>
          </a:stretch>
        </p:blipFill>
        <p:spPr bwMode="gray">
          <a:xfrm>
            <a:off x="1175456" y="5059121"/>
            <a:ext cx="405710" cy="331945"/>
          </a:xfrm>
          <a:prstGeom prst="rect">
            <a:avLst/>
          </a:prstGeom>
        </p:spPr>
      </p:pic>
      <p:pic>
        <p:nvPicPr>
          <p:cNvPr id="11" name="图片 76" descr="接入交换机.png"/>
          <p:cNvPicPr>
            <a:picLocks noChangeAspect="1"/>
          </p:cNvPicPr>
          <p:nvPr/>
        </p:nvPicPr>
        <p:blipFill>
          <a:blip r:embed="rId5" cstate="print"/>
          <a:stretch>
            <a:fillRect/>
          </a:stretch>
        </p:blipFill>
        <p:spPr bwMode="gray">
          <a:xfrm>
            <a:off x="2566082" y="4450768"/>
            <a:ext cx="446281" cy="365139"/>
          </a:xfrm>
          <a:prstGeom prst="rect">
            <a:avLst/>
          </a:prstGeom>
        </p:spPr>
      </p:pic>
      <p:pic>
        <p:nvPicPr>
          <p:cNvPr id="12" name="图片 105" descr="AP.png"/>
          <p:cNvPicPr>
            <a:picLocks noChangeAspect="1"/>
          </p:cNvPicPr>
          <p:nvPr/>
        </p:nvPicPr>
        <p:blipFill>
          <a:blip r:embed="rId4" cstate="print"/>
          <a:stretch>
            <a:fillRect/>
          </a:stretch>
        </p:blipFill>
        <p:spPr bwMode="gray">
          <a:xfrm>
            <a:off x="4003317" y="5059121"/>
            <a:ext cx="405710" cy="331945"/>
          </a:xfrm>
          <a:prstGeom prst="rect">
            <a:avLst/>
          </a:prstGeom>
        </p:spPr>
      </p:pic>
      <p:grpSp>
        <p:nvGrpSpPr>
          <p:cNvPr id="13" name="Group 3"/>
          <p:cNvGrpSpPr/>
          <p:nvPr/>
        </p:nvGrpSpPr>
        <p:grpSpPr bwMode="gray">
          <a:xfrm>
            <a:off x="2655222" y="5194103"/>
            <a:ext cx="261965" cy="61979"/>
            <a:chOff x="559282" y="6488261"/>
            <a:chExt cx="261965" cy="61979"/>
          </a:xfrm>
          <a:solidFill>
            <a:schemeClr val="bg1">
              <a:lumMod val="50000"/>
            </a:schemeClr>
          </a:solidFill>
        </p:grpSpPr>
        <p:sp>
          <p:nvSpPr>
            <p:cNvPr id="1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7" name="文本框 16"/>
          <p:cNvSpPr txBox="1"/>
          <p:nvPr/>
        </p:nvSpPr>
        <p:spPr bwMode="gray">
          <a:xfrm>
            <a:off x="2786041" y="3280676"/>
            <a:ext cx="42992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8" name="图片 86" descr="核心交换机.png"/>
          <p:cNvPicPr>
            <a:picLocks noChangeAspect="1"/>
          </p:cNvPicPr>
          <p:nvPr/>
        </p:nvPicPr>
        <p:blipFill>
          <a:blip r:embed="rId6" cstate="print"/>
          <a:stretch>
            <a:fillRect/>
          </a:stretch>
        </p:blipFill>
        <p:spPr bwMode="gray">
          <a:xfrm>
            <a:off x="2566082" y="3555094"/>
            <a:ext cx="446281" cy="365139"/>
          </a:xfrm>
          <a:prstGeom prst="rect">
            <a:avLst/>
          </a:prstGeom>
        </p:spPr>
      </p:pic>
      <p:sp>
        <p:nvSpPr>
          <p:cNvPr id="19" name="文本框 18"/>
          <p:cNvSpPr txBox="1"/>
          <p:nvPr/>
        </p:nvSpPr>
        <p:spPr bwMode="gray">
          <a:xfrm>
            <a:off x="4016471" y="4772125"/>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文本框 19"/>
          <p:cNvSpPr txBox="1"/>
          <p:nvPr/>
        </p:nvSpPr>
        <p:spPr bwMode="gray">
          <a:xfrm>
            <a:off x="1186970" y="4772125"/>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159"/>
          <p:cNvSpPr/>
          <p:nvPr/>
        </p:nvSpPr>
        <p:spPr bwMode="gray">
          <a:xfrm flipH="1">
            <a:off x="2334481" y="178623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en-US" sz="12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95129" y="3559841"/>
            <a:ext cx="812067" cy="595041"/>
          </a:xfrm>
          <a:prstGeom prst="rect">
            <a:avLst/>
          </a:prstGeom>
        </p:spPr>
      </p:pic>
      <p:sp>
        <p:nvSpPr>
          <p:cNvPr id="23" name="圆角矩形 75"/>
          <p:cNvSpPr/>
          <p:nvPr/>
        </p:nvSpPr>
        <p:spPr bwMode="gray">
          <a:xfrm>
            <a:off x="5139353" y="2171690"/>
            <a:ext cx="6135288"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场景描述</a:t>
            </a:r>
          </a:p>
        </p:txBody>
      </p:sp>
      <p:sp>
        <p:nvSpPr>
          <p:cNvPr id="24" name="圆角矩形 75"/>
          <p:cNvSpPr/>
          <p:nvPr/>
        </p:nvSpPr>
        <p:spPr bwMode="gray">
          <a:xfrm>
            <a:off x="5139353" y="2575649"/>
            <a:ext cx="6135288" cy="811179"/>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独立部署</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，即以独立的平台在网络中部署。</a:t>
            </a:r>
            <a:endPar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园区企业无线和有线网络设备的智能分析</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圆角矩形 75"/>
          <p:cNvSpPr/>
          <p:nvPr/>
        </p:nvSpPr>
        <p:spPr bwMode="gray">
          <a:xfrm>
            <a:off x="5139353" y="3516274"/>
            <a:ext cx="6135288"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组网说明</a:t>
            </a:r>
          </a:p>
        </p:txBody>
      </p:sp>
      <p:sp>
        <p:nvSpPr>
          <p:cNvPr id="26" name="圆角矩形 75"/>
          <p:cNvSpPr/>
          <p:nvPr/>
        </p:nvSpPr>
        <p:spPr bwMode="gray">
          <a:xfrm>
            <a:off x="5139353" y="3920233"/>
            <a:ext cx="6135288" cy="1383275"/>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支持的组网如下：</a:t>
            </a:r>
          </a:p>
          <a:p>
            <a:pPr marL="177800" indent="-177800">
              <a:lnSpc>
                <a:spcPts val="2200"/>
              </a:lnSpc>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所有</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包含</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独立</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设备、随板</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及</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ACU</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Fit AP</a:t>
            </a:r>
          </a:p>
          <a:p>
            <a:pPr marL="177800" indent="-177800">
              <a:lnSpc>
                <a:spcPts val="2200"/>
              </a:lnSpc>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所有</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包含独立</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设备、随板</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及</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ACU</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中心</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 + RU</a:t>
            </a: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交换机和</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WLAN</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设备混合组网</a:t>
            </a:r>
          </a:p>
        </p:txBody>
      </p:sp>
      <p:pic>
        <p:nvPicPr>
          <p:cNvPr id="27"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2566082" y="2536272"/>
            <a:ext cx="446281" cy="365138"/>
          </a:xfrm>
          <a:prstGeom prst="rect">
            <a:avLst/>
          </a:prstGeom>
          <a:noFill/>
        </p:spPr>
      </p:pic>
    </p:spTree>
    <p:extLst>
      <p:ext uri="{BB962C8B-B14F-4D97-AF65-F5344CB8AC3E}">
        <p14:creationId xmlns:p14="http://schemas.microsoft.com/office/powerpoint/2010/main" val="30407345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err="1" smtClean="0">
                <a:sym typeface="Huawei Sans" panose="020C0503030203020204" pitchFamily="34" charset="0"/>
              </a:rPr>
              <a:t>CampusInsight</a:t>
            </a:r>
            <a:r>
              <a:rPr lang="zh-CN" altLang="en-US" dirty="0" smtClean="0">
                <a:sym typeface="Huawei Sans" panose="020C0503030203020204" pitchFamily="34" charset="0"/>
              </a:rPr>
              <a:t>部署：</a:t>
            </a:r>
            <a:r>
              <a:rPr lang="en-US" altLang="zh-CN" dirty="0" err="1" smtClean="0">
                <a:sym typeface="Huawei Sans" panose="020C0503030203020204" pitchFamily="34" charset="0"/>
              </a:rPr>
              <a:t>CloudCampus</a:t>
            </a:r>
            <a:r>
              <a:rPr lang="zh-CN" altLang="en-US" dirty="0" smtClean="0">
                <a:sym typeface="Huawei Sans" panose="020C0503030203020204" pitchFamily="34" charset="0"/>
              </a:rPr>
              <a:t>模式 </a:t>
            </a:r>
            <a:r>
              <a:rPr lang="en-US" altLang="zh-CN" dirty="0" smtClean="0">
                <a:sym typeface="Huawei Sans" panose="020C0503030203020204" pitchFamily="34" charset="0"/>
              </a:rPr>
              <a:t>(</a:t>
            </a:r>
            <a:r>
              <a:rPr lang="zh-CN" altLang="en-US" dirty="0" smtClean="0">
                <a:sym typeface="Huawei Sans" panose="020C0503030203020204" pitchFamily="34" charset="0"/>
              </a:rPr>
              <a:t>本地部署场景</a:t>
            </a:r>
            <a:r>
              <a:rPr lang="en-US" altLang="zh-CN" dirty="0" smtClean="0">
                <a:sym typeface="Huawei Sans" panose="020C0503030203020204" pitchFamily="34" charset="0"/>
              </a:rPr>
              <a:t>)</a:t>
            </a:r>
            <a:endParaRPr lang="zh-CN" altLang="en-US" dirty="0">
              <a:sym typeface="Huawei Sans" panose="020C0503030203020204" pitchFamily="34" charset="0"/>
            </a:endParaRPr>
          </a:p>
        </p:txBody>
      </p:sp>
      <p:cxnSp>
        <p:nvCxnSpPr>
          <p:cNvPr id="3" name="直接连接符 2"/>
          <p:cNvCxnSpPr/>
          <p:nvPr/>
        </p:nvCxnSpPr>
        <p:spPr bwMode="gray">
          <a:xfrm>
            <a:off x="2789222" y="2144293"/>
            <a:ext cx="0" cy="24099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圆角矩形 75"/>
          <p:cNvSpPr/>
          <p:nvPr/>
        </p:nvSpPr>
        <p:spPr bwMode="gray">
          <a:xfrm>
            <a:off x="5339339" y="1740334"/>
            <a:ext cx="593530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场景描述</a:t>
            </a:r>
          </a:p>
        </p:txBody>
      </p:sp>
      <p:sp>
        <p:nvSpPr>
          <p:cNvPr id="5" name="圆角矩形 75"/>
          <p:cNvSpPr/>
          <p:nvPr/>
        </p:nvSpPr>
        <p:spPr bwMode="gray">
          <a:xfrm>
            <a:off x="5339339" y="2144293"/>
            <a:ext cx="5935302" cy="1602084"/>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共</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部署。</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企业购买</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华为云管理平台（</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）部署</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在数据</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中心，</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由运</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维人员负责云管理平台</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的维护，</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供</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内部</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企业从华为服务团队购买相关</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license</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6" name="圆角矩形 75"/>
          <p:cNvSpPr/>
          <p:nvPr/>
        </p:nvSpPr>
        <p:spPr bwMode="gray">
          <a:xfrm>
            <a:off x="5339339" y="3876362"/>
            <a:ext cx="593530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组网说明</a:t>
            </a:r>
          </a:p>
        </p:txBody>
      </p:sp>
      <p:sp>
        <p:nvSpPr>
          <p:cNvPr id="7" name="圆角矩形 75"/>
          <p:cNvSpPr/>
          <p:nvPr/>
        </p:nvSpPr>
        <p:spPr bwMode="gray">
          <a:xfrm>
            <a:off x="5339339" y="4280321"/>
            <a:ext cx="5935302" cy="1667898"/>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支持华为云交换机、云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设备的管理和智能分析，具体设备款型</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参见规格清单。</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用户在企业自建的数据中心部署</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对设备进行纳管，</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同步设备等管理信息。</a:t>
            </a: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566082" y="2536272"/>
            <a:ext cx="446281" cy="365138"/>
          </a:xfrm>
          <a:prstGeom prst="rect">
            <a:avLst/>
          </a:prstGeom>
          <a:noFill/>
        </p:spPr>
      </p:pic>
      <p:sp>
        <p:nvSpPr>
          <p:cNvPr id="9" name="Freeform 159"/>
          <p:cNvSpPr/>
          <p:nvPr/>
        </p:nvSpPr>
        <p:spPr bwMode="gray">
          <a:xfrm flipH="1">
            <a:off x="2334481" y="178623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en-US" sz="12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 name="直接连接符 9"/>
          <p:cNvCxnSpPr/>
          <p:nvPr/>
        </p:nvCxnSpPr>
        <p:spPr bwMode="gray">
          <a:xfrm flipH="1">
            <a:off x="2052375" y="3740244"/>
            <a:ext cx="22444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图片 102" descr="AC-蓝.png"/>
          <p:cNvPicPr>
            <a:picLocks noChangeAspect="1"/>
          </p:cNvPicPr>
          <p:nvPr/>
        </p:nvPicPr>
        <p:blipFill>
          <a:blip r:embed="rId4" cstate="print"/>
          <a:stretch>
            <a:fillRect/>
          </a:stretch>
        </p:blipFill>
        <p:spPr bwMode="gray">
          <a:xfrm>
            <a:off x="3983031" y="3557675"/>
            <a:ext cx="446281" cy="365139"/>
          </a:xfrm>
          <a:prstGeom prst="rect">
            <a:avLst/>
          </a:prstGeom>
        </p:spPr>
      </p:pic>
      <p:sp>
        <p:nvSpPr>
          <p:cNvPr id="12" name="文本框 11"/>
          <p:cNvSpPr txBox="1"/>
          <p:nvPr/>
        </p:nvSpPr>
        <p:spPr bwMode="gray">
          <a:xfrm>
            <a:off x="4012368" y="3280676"/>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3" name="Group 165"/>
          <p:cNvGrpSpPr/>
          <p:nvPr/>
        </p:nvGrpSpPr>
        <p:grpSpPr bwMode="gray">
          <a:xfrm rot="10800000">
            <a:off x="1414540" y="4654642"/>
            <a:ext cx="2818362" cy="529463"/>
            <a:chOff x="-1233037" y="914446"/>
            <a:chExt cx="1573823" cy="778776"/>
          </a:xfrm>
        </p:grpSpPr>
        <p:cxnSp>
          <p:nvCxnSpPr>
            <p:cNvPr id="14"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6" name="图片 105" descr="AP.png"/>
          <p:cNvPicPr>
            <a:picLocks noChangeAspect="1"/>
          </p:cNvPicPr>
          <p:nvPr/>
        </p:nvPicPr>
        <p:blipFill>
          <a:blip r:embed="rId5" cstate="print"/>
          <a:stretch>
            <a:fillRect/>
          </a:stretch>
        </p:blipFill>
        <p:spPr bwMode="gray">
          <a:xfrm>
            <a:off x="1175456" y="5059121"/>
            <a:ext cx="405710" cy="331945"/>
          </a:xfrm>
          <a:prstGeom prst="rect">
            <a:avLst/>
          </a:prstGeom>
        </p:spPr>
      </p:pic>
      <p:pic>
        <p:nvPicPr>
          <p:cNvPr id="17" name="图片 76" descr="接入交换机.png"/>
          <p:cNvPicPr>
            <a:picLocks noChangeAspect="1"/>
          </p:cNvPicPr>
          <p:nvPr/>
        </p:nvPicPr>
        <p:blipFill>
          <a:blip r:embed="rId6" cstate="print"/>
          <a:stretch>
            <a:fillRect/>
          </a:stretch>
        </p:blipFill>
        <p:spPr bwMode="gray">
          <a:xfrm>
            <a:off x="2566082" y="4450768"/>
            <a:ext cx="446281" cy="365139"/>
          </a:xfrm>
          <a:prstGeom prst="rect">
            <a:avLst/>
          </a:prstGeom>
        </p:spPr>
      </p:pic>
      <p:pic>
        <p:nvPicPr>
          <p:cNvPr id="18" name="图片 105" descr="AP.png"/>
          <p:cNvPicPr>
            <a:picLocks noChangeAspect="1"/>
          </p:cNvPicPr>
          <p:nvPr/>
        </p:nvPicPr>
        <p:blipFill>
          <a:blip r:embed="rId5" cstate="print"/>
          <a:stretch>
            <a:fillRect/>
          </a:stretch>
        </p:blipFill>
        <p:spPr bwMode="gray">
          <a:xfrm>
            <a:off x="4003317" y="5059121"/>
            <a:ext cx="405710" cy="331945"/>
          </a:xfrm>
          <a:prstGeom prst="rect">
            <a:avLst/>
          </a:prstGeom>
        </p:spPr>
      </p:pic>
      <p:grpSp>
        <p:nvGrpSpPr>
          <p:cNvPr id="19" name="Group 3"/>
          <p:cNvGrpSpPr/>
          <p:nvPr/>
        </p:nvGrpSpPr>
        <p:grpSpPr bwMode="gray">
          <a:xfrm>
            <a:off x="2655222" y="5194103"/>
            <a:ext cx="261965" cy="61979"/>
            <a:chOff x="559282" y="6488261"/>
            <a:chExt cx="261965" cy="61979"/>
          </a:xfrm>
          <a:solidFill>
            <a:schemeClr val="bg1">
              <a:lumMod val="50000"/>
            </a:schemeClr>
          </a:solidFill>
        </p:grpSpPr>
        <p:sp>
          <p:nvSpPr>
            <p:cNvPr id="20"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3" name="文本框 22"/>
          <p:cNvSpPr txBox="1"/>
          <p:nvPr/>
        </p:nvSpPr>
        <p:spPr bwMode="gray">
          <a:xfrm>
            <a:off x="2794044" y="3280676"/>
            <a:ext cx="42992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4" name="图片 86" descr="核心交换机.png"/>
          <p:cNvPicPr>
            <a:picLocks noChangeAspect="1"/>
          </p:cNvPicPr>
          <p:nvPr/>
        </p:nvPicPr>
        <p:blipFill>
          <a:blip r:embed="rId7" cstate="print"/>
          <a:stretch>
            <a:fillRect/>
          </a:stretch>
        </p:blipFill>
        <p:spPr bwMode="gray">
          <a:xfrm>
            <a:off x="2566082" y="3555094"/>
            <a:ext cx="446281" cy="365139"/>
          </a:xfrm>
          <a:prstGeom prst="rect">
            <a:avLst/>
          </a:prstGeom>
        </p:spPr>
      </p:pic>
      <p:sp>
        <p:nvSpPr>
          <p:cNvPr id="25" name="文本框 24"/>
          <p:cNvSpPr txBox="1"/>
          <p:nvPr/>
        </p:nvSpPr>
        <p:spPr bwMode="gray">
          <a:xfrm>
            <a:off x="4016471" y="4772125"/>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文本框 25"/>
          <p:cNvSpPr txBox="1"/>
          <p:nvPr/>
        </p:nvSpPr>
        <p:spPr bwMode="gray">
          <a:xfrm>
            <a:off x="1186970" y="4772125"/>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7" name="图片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995129" y="3746377"/>
            <a:ext cx="812067" cy="595041"/>
          </a:xfrm>
          <a:prstGeom prst="rect">
            <a:avLst/>
          </a:prstGeom>
        </p:spPr>
      </p:pic>
      <p:cxnSp>
        <p:nvCxnSpPr>
          <p:cNvPr id="29" name="直接连接符 28"/>
          <p:cNvCxnSpPr/>
          <p:nvPr/>
        </p:nvCxnSpPr>
        <p:spPr bwMode="gray">
          <a:xfrm>
            <a:off x="2052375" y="3138633"/>
            <a:ext cx="0" cy="1097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gray">
          <a:xfrm flipH="1">
            <a:off x="1528303" y="3138633"/>
            <a:ext cx="5240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flipH="1">
            <a:off x="1873188" y="4241178"/>
            <a:ext cx="1791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012503" y="3030811"/>
            <a:ext cx="786452" cy="447063"/>
          </a:xfrm>
          <a:prstGeom prst="rect">
            <a:avLst/>
          </a:prstGeom>
        </p:spPr>
      </p:pic>
    </p:spTree>
    <p:extLst>
      <p:ext uri="{BB962C8B-B14F-4D97-AF65-F5344CB8AC3E}">
        <p14:creationId xmlns:p14="http://schemas.microsoft.com/office/powerpoint/2010/main" val="19799837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err="1" smtClean="0">
                <a:sym typeface="Huawei Sans" panose="020C0503030203020204" pitchFamily="34" charset="0"/>
              </a:rPr>
              <a:t>CampusInsight</a:t>
            </a:r>
            <a:r>
              <a:rPr lang="zh-CN" altLang="en-US" dirty="0">
                <a:sym typeface="Huawei Sans" panose="020C0503030203020204" pitchFamily="34" charset="0"/>
              </a:rPr>
              <a:t>部署</a:t>
            </a:r>
            <a:r>
              <a:rPr lang="zh-CN" altLang="en-US" dirty="0" smtClean="0">
                <a:sym typeface="Huawei Sans" panose="020C0503030203020204" pitchFamily="34" charset="0"/>
              </a:rPr>
              <a:t>：</a:t>
            </a:r>
            <a:r>
              <a:rPr lang="en-US" altLang="zh-CN" dirty="0" err="1" smtClean="0">
                <a:sym typeface="Huawei Sans" panose="020C0503030203020204" pitchFamily="34" charset="0"/>
              </a:rPr>
              <a:t>CloudCampus</a:t>
            </a:r>
            <a:r>
              <a:rPr lang="zh-CN" altLang="en-US" dirty="0" smtClean="0">
                <a:sym typeface="Huawei Sans" panose="020C0503030203020204" pitchFamily="34" charset="0"/>
              </a:rPr>
              <a:t>模式 </a:t>
            </a:r>
            <a:r>
              <a:rPr lang="en-US" altLang="zh-CN" dirty="0" smtClean="0">
                <a:sym typeface="Huawei Sans" panose="020C0503030203020204" pitchFamily="34" charset="0"/>
              </a:rPr>
              <a:t>(</a:t>
            </a:r>
            <a:r>
              <a:rPr lang="zh-CN" altLang="en-US" dirty="0" smtClean="0">
                <a:sym typeface="Huawei Sans" panose="020C0503030203020204" pitchFamily="34" charset="0"/>
              </a:rPr>
              <a:t>华为公有云场景</a:t>
            </a:r>
            <a:r>
              <a:rPr lang="en-US" altLang="zh-CN" dirty="0" smtClean="0">
                <a:sym typeface="Huawei Sans" panose="020C0503030203020204" pitchFamily="34" charset="0"/>
              </a:rPr>
              <a:t>)</a:t>
            </a:r>
            <a:endParaRPr lang="zh-CN" altLang="en-US" dirty="0">
              <a:sym typeface="Huawei Sans" panose="020C0503030203020204" pitchFamily="34" charset="0"/>
            </a:endParaRPr>
          </a:p>
        </p:txBody>
      </p:sp>
      <p:sp>
        <p:nvSpPr>
          <p:cNvPr id="3" name="圆角矩形 2"/>
          <p:cNvSpPr/>
          <p:nvPr/>
        </p:nvSpPr>
        <p:spPr bwMode="gray">
          <a:xfrm>
            <a:off x="668975" y="1525007"/>
            <a:ext cx="4707904" cy="849496"/>
          </a:xfrm>
          <a:prstGeom prst="roundRect">
            <a:avLst>
              <a:gd name="adj" fmla="val 3548"/>
            </a:avLst>
          </a:prstGeom>
          <a:solidFill>
            <a:srgbClr val="D7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圆角矩形 3"/>
          <p:cNvSpPr/>
          <p:nvPr/>
        </p:nvSpPr>
        <p:spPr bwMode="gray">
          <a:xfrm>
            <a:off x="646115" y="3212458"/>
            <a:ext cx="2178252" cy="2795470"/>
          </a:xfrm>
          <a:prstGeom prst="roundRect">
            <a:avLst>
              <a:gd name="adj" fmla="val 354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 name="直接连接符 4"/>
          <p:cNvCxnSpPr/>
          <p:nvPr/>
        </p:nvCxnSpPr>
        <p:spPr bwMode="gray">
          <a:xfrm flipH="1">
            <a:off x="1578919" y="4205685"/>
            <a:ext cx="7529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bwMode="gray">
          <a:xfrm>
            <a:off x="1578919" y="3460943"/>
            <a:ext cx="0" cy="16591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102" descr="AC-蓝.png"/>
          <p:cNvPicPr>
            <a:picLocks noChangeAspect="1"/>
          </p:cNvPicPr>
          <p:nvPr/>
        </p:nvPicPr>
        <p:blipFill>
          <a:blip r:embed="rId3" cstate="print"/>
          <a:stretch>
            <a:fillRect/>
          </a:stretch>
        </p:blipFill>
        <p:spPr bwMode="gray">
          <a:xfrm>
            <a:off x="2203367" y="4054801"/>
            <a:ext cx="368827" cy="301768"/>
          </a:xfrm>
          <a:prstGeom prst="rect">
            <a:avLst/>
          </a:prstGeom>
        </p:spPr>
      </p:pic>
      <p:sp>
        <p:nvSpPr>
          <p:cNvPr id="8" name="文本框 7"/>
          <p:cNvSpPr txBox="1"/>
          <p:nvPr/>
        </p:nvSpPr>
        <p:spPr bwMode="gray">
          <a:xfrm>
            <a:off x="2193977" y="3802111"/>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9" name="Group 165"/>
          <p:cNvGrpSpPr/>
          <p:nvPr/>
        </p:nvGrpSpPr>
        <p:grpSpPr bwMode="gray">
          <a:xfrm rot="10800000">
            <a:off x="894949" y="5120082"/>
            <a:ext cx="1436938" cy="529463"/>
            <a:chOff x="-1233037" y="914446"/>
            <a:chExt cx="1573823" cy="778776"/>
          </a:xfrm>
        </p:grpSpPr>
        <p:cxnSp>
          <p:nvCxnSpPr>
            <p:cNvPr id="10"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2" name="图片 105" descr="AP.png"/>
          <p:cNvPicPr>
            <a:picLocks noChangeAspect="1"/>
          </p:cNvPicPr>
          <p:nvPr/>
        </p:nvPicPr>
        <p:blipFill>
          <a:blip r:embed="rId4" cstate="print"/>
          <a:stretch>
            <a:fillRect/>
          </a:stretch>
        </p:blipFill>
        <p:spPr bwMode="gray">
          <a:xfrm>
            <a:off x="668975" y="5553367"/>
            <a:ext cx="335297" cy="274335"/>
          </a:xfrm>
          <a:prstGeom prst="rect">
            <a:avLst/>
          </a:prstGeom>
        </p:spPr>
      </p:pic>
      <p:pic>
        <p:nvPicPr>
          <p:cNvPr id="13" name="图片 76" descr="接入交换机.png"/>
          <p:cNvPicPr>
            <a:picLocks noChangeAspect="1"/>
          </p:cNvPicPr>
          <p:nvPr/>
        </p:nvPicPr>
        <p:blipFill>
          <a:blip r:embed="rId5" cstate="print"/>
          <a:stretch>
            <a:fillRect/>
          </a:stretch>
        </p:blipFill>
        <p:spPr bwMode="gray">
          <a:xfrm>
            <a:off x="1394506" y="4947894"/>
            <a:ext cx="368827" cy="301768"/>
          </a:xfrm>
          <a:prstGeom prst="rect">
            <a:avLst/>
          </a:prstGeom>
        </p:spPr>
      </p:pic>
      <p:pic>
        <p:nvPicPr>
          <p:cNvPr id="14" name="图片 105" descr="AP.png"/>
          <p:cNvPicPr>
            <a:picLocks noChangeAspect="1"/>
          </p:cNvPicPr>
          <p:nvPr/>
        </p:nvPicPr>
        <p:blipFill>
          <a:blip r:embed="rId4" cstate="print"/>
          <a:stretch>
            <a:fillRect/>
          </a:stretch>
        </p:blipFill>
        <p:spPr bwMode="gray">
          <a:xfrm>
            <a:off x="2203367" y="5553367"/>
            <a:ext cx="335297" cy="274335"/>
          </a:xfrm>
          <a:prstGeom prst="rect">
            <a:avLst/>
          </a:prstGeom>
        </p:spPr>
      </p:pic>
      <p:grpSp>
        <p:nvGrpSpPr>
          <p:cNvPr id="15" name="Group 3"/>
          <p:cNvGrpSpPr/>
          <p:nvPr/>
        </p:nvGrpSpPr>
        <p:grpSpPr bwMode="gray">
          <a:xfrm>
            <a:off x="1422059" y="5659544"/>
            <a:ext cx="261965" cy="61979"/>
            <a:chOff x="559282" y="6488261"/>
            <a:chExt cx="261965" cy="61979"/>
          </a:xfrm>
          <a:solidFill>
            <a:schemeClr val="bg1">
              <a:lumMod val="50000"/>
            </a:schemeClr>
          </a:solidFill>
        </p:grpSpPr>
        <p:sp>
          <p:nvSpPr>
            <p:cNvPr id="1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9" name="文本框 18"/>
          <p:cNvSpPr txBox="1"/>
          <p:nvPr/>
        </p:nvSpPr>
        <p:spPr bwMode="gray">
          <a:xfrm>
            <a:off x="981345" y="4096390"/>
            <a:ext cx="429926"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0" name="图片 86" descr="核心交换机.png"/>
          <p:cNvPicPr>
            <a:picLocks noChangeAspect="1"/>
          </p:cNvPicPr>
          <p:nvPr/>
        </p:nvPicPr>
        <p:blipFill>
          <a:blip r:embed="rId6" cstate="print"/>
          <a:stretch>
            <a:fillRect/>
          </a:stretch>
        </p:blipFill>
        <p:spPr bwMode="gray">
          <a:xfrm>
            <a:off x="1394506" y="4052220"/>
            <a:ext cx="368827" cy="301768"/>
          </a:xfrm>
          <a:prstGeom prst="rect">
            <a:avLst/>
          </a:prstGeom>
        </p:spPr>
      </p:pic>
      <p:sp>
        <p:nvSpPr>
          <p:cNvPr id="21" name="文本框 20"/>
          <p:cNvSpPr txBox="1"/>
          <p:nvPr/>
        </p:nvSpPr>
        <p:spPr bwMode="gray">
          <a:xfrm>
            <a:off x="2181314"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文本框 21"/>
          <p:cNvSpPr txBox="1"/>
          <p:nvPr/>
        </p:nvSpPr>
        <p:spPr bwMode="gray">
          <a:xfrm>
            <a:off x="645282"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Freeform 159"/>
          <p:cNvSpPr/>
          <p:nvPr/>
        </p:nvSpPr>
        <p:spPr bwMode="gray">
          <a:xfrm flipH="1">
            <a:off x="2469896" y="2557939"/>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en-US" sz="12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圆角矩形 75"/>
          <p:cNvSpPr/>
          <p:nvPr/>
        </p:nvSpPr>
        <p:spPr bwMode="gray">
          <a:xfrm>
            <a:off x="5601777" y="1740334"/>
            <a:ext cx="56728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场景描述</a:t>
            </a:r>
          </a:p>
        </p:txBody>
      </p:sp>
      <p:sp>
        <p:nvSpPr>
          <p:cNvPr id="25" name="圆角矩形 75"/>
          <p:cNvSpPr/>
          <p:nvPr/>
        </p:nvSpPr>
        <p:spPr bwMode="gray">
          <a:xfrm>
            <a:off x="5601777" y="2144293"/>
            <a:ext cx="5672863" cy="1033913"/>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由华为云管理运营团队统一运维维护，提供</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SaaS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服务给最终</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用户（租户）。</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租户网络设备通过运营商网络接入华为云管理平台。</a:t>
            </a:r>
          </a:p>
        </p:txBody>
      </p:sp>
      <p:sp>
        <p:nvSpPr>
          <p:cNvPr id="26" name="圆角矩形 75"/>
          <p:cNvSpPr/>
          <p:nvPr/>
        </p:nvSpPr>
        <p:spPr bwMode="gray">
          <a:xfrm>
            <a:off x="5601777" y="3316695"/>
            <a:ext cx="56728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组网说明</a:t>
            </a:r>
          </a:p>
        </p:txBody>
      </p:sp>
      <p:sp>
        <p:nvSpPr>
          <p:cNvPr id="27" name="圆角矩形 75"/>
          <p:cNvSpPr/>
          <p:nvPr/>
        </p:nvSpPr>
        <p:spPr bwMode="gray">
          <a:xfrm>
            <a:off x="5601777" y="3720654"/>
            <a:ext cx="5672863" cy="1578714"/>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支持华为云交换机、云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设备的管理和智能分析，具体设备款型</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参见规格清单。</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华为云管理运营团队在华为数据公有云部署</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对</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设备进行纳管，</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4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同步</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设备等管理信息。</a:t>
            </a:r>
          </a:p>
        </p:txBody>
      </p:sp>
      <p:pic>
        <p:nvPicPr>
          <p:cNvPr id="28" name="图片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03549" y="1685294"/>
            <a:ext cx="812067" cy="595041"/>
          </a:xfrm>
          <a:prstGeom prst="rect">
            <a:avLst/>
          </a:prstGeom>
        </p:spPr>
      </p:pic>
      <p:pic>
        <p:nvPicPr>
          <p:cNvPr id="29" name="图片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1810141" y="1685294"/>
            <a:ext cx="786452" cy="447063"/>
          </a:xfrm>
          <a:prstGeom prst="rect">
            <a:avLst/>
          </a:prstGeom>
        </p:spPr>
      </p:pic>
      <p:pic>
        <p:nvPicPr>
          <p:cNvPr id="30"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1411271" y="3323776"/>
            <a:ext cx="335297" cy="274334"/>
          </a:xfrm>
          <a:prstGeom prst="rect">
            <a:avLst/>
          </a:prstGeom>
          <a:noFill/>
        </p:spPr>
      </p:pic>
      <p:sp>
        <p:nvSpPr>
          <p:cNvPr id="31" name="圆角矩形 30"/>
          <p:cNvSpPr/>
          <p:nvPr/>
        </p:nvSpPr>
        <p:spPr bwMode="gray">
          <a:xfrm>
            <a:off x="3166339" y="3212458"/>
            <a:ext cx="2210540" cy="2795470"/>
          </a:xfrm>
          <a:prstGeom prst="roundRect">
            <a:avLst>
              <a:gd name="adj" fmla="val 354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2" name="直接连接符 31"/>
          <p:cNvCxnSpPr/>
          <p:nvPr/>
        </p:nvCxnSpPr>
        <p:spPr bwMode="gray">
          <a:xfrm flipH="1">
            <a:off x="4254487" y="4205685"/>
            <a:ext cx="7529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a:off x="4254487" y="3460943"/>
            <a:ext cx="0" cy="16591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102" descr="AC-蓝.png"/>
          <p:cNvPicPr>
            <a:picLocks noChangeAspect="1"/>
          </p:cNvPicPr>
          <p:nvPr/>
        </p:nvPicPr>
        <p:blipFill>
          <a:blip r:embed="rId3" cstate="print"/>
          <a:stretch>
            <a:fillRect/>
          </a:stretch>
        </p:blipFill>
        <p:spPr bwMode="gray">
          <a:xfrm>
            <a:off x="4878935" y="4054801"/>
            <a:ext cx="368827" cy="301768"/>
          </a:xfrm>
          <a:prstGeom prst="rect">
            <a:avLst/>
          </a:prstGeom>
        </p:spPr>
      </p:pic>
      <p:sp>
        <p:nvSpPr>
          <p:cNvPr id="35" name="文本框 34"/>
          <p:cNvSpPr txBox="1"/>
          <p:nvPr/>
        </p:nvSpPr>
        <p:spPr bwMode="gray">
          <a:xfrm>
            <a:off x="4869545" y="3802111"/>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6" name="Group 165"/>
          <p:cNvGrpSpPr/>
          <p:nvPr/>
        </p:nvGrpSpPr>
        <p:grpSpPr bwMode="gray">
          <a:xfrm rot="10800000">
            <a:off x="3570517" y="5120082"/>
            <a:ext cx="1436938" cy="529463"/>
            <a:chOff x="-1233037" y="914446"/>
            <a:chExt cx="1573823" cy="778776"/>
          </a:xfrm>
        </p:grpSpPr>
        <p:cxnSp>
          <p:nvCxnSpPr>
            <p:cNvPr id="3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39" name="图片 105" descr="AP.png"/>
          <p:cNvPicPr>
            <a:picLocks noChangeAspect="1"/>
          </p:cNvPicPr>
          <p:nvPr/>
        </p:nvPicPr>
        <p:blipFill>
          <a:blip r:embed="rId4" cstate="print"/>
          <a:stretch>
            <a:fillRect/>
          </a:stretch>
        </p:blipFill>
        <p:spPr bwMode="gray">
          <a:xfrm>
            <a:off x="3344543" y="5553367"/>
            <a:ext cx="335297" cy="274335"/>
          </a:xfrm>
          <a:prstGeom prst="rect">
            <a:avLst/>
          </a:prstGeom>
        </p:spPr>
      </p:pic>
      <p:pic>
        <p:nvPicPr>
          <p:cNvPr id="40" name="图片 76" descr="接入交换机.png"/>
          <p:cNvPicPr>
            <a:picLocks noChangeAspect="1"/>
          </p:cNvPicPr>
          <p:nvPr/>
        </p:nvPicPr>
        <p:blipFill>
          <a:blip r:embed="rId5" cstate="print"/>
          <a:stretch>
            <a:fillRect/>
          </a:stretch>
        </p:blipFill>
        <p:spPr bwMode="gray">
          <a:xfrm>
            <a:off x="4070074" y="4947894"/>
            <a:ext cx="368827" cy="301768"/>
          </a:xfrm>
          <a:prstGeom prst="rect">
            <a:avLst/>
          </a:prstGeom>
        </p:spPr>
      </p:pic>
      <p:pic>
        <p:nvPicPr>
          <p:cNvPr id="41" name="图片 105" descr="AP.png"/>
          <p:cNvPicPr>
            <a:picLocks noChangeAspect="1"/>
          </p:cNvPicPr>
          <p:nvPr/>
        </p:nvPicPr>
        <p:blipFill>
          <a:blip r:embed="rId4" cstate="print"/>
          <a:stretch>
            <a:fillRect/>
          </a:stretch>
        </p:blipFill>
        <p:spPr bwMode="gray">
          <a:xfrm>
            <a:off x="4878935" y="5553367"/>
            <a:ext cx="335297" cy="274335"/>
          </a:xfrm>
          <a:prstGeom prst="rect">
            <a:avLst/>
          </a:prstGeom>
        </p:spPr>
      </p:pic>
      <p:grpSp>
        <p:nvGrpSpPr>
          <p:cNvPr id="42" name="Group 3"/>
          <p:cNvGrpSpPr/>
          <p:nvPr/>
        </p:nvGrpSpPr>
        <p:grpSpPr bwMode="gray">
          <a:xfrm>
            <a:off x="4120487" y="5659544"/>
            <a:ext cx="261965" cy="61979"/>
            <a:chOff x="559282" y="6488261"/>
            <a:chExt cx="261965" cy="61979"/>
          </a:xfrm>
          <a:solidFill>
            <a:schemeClr val="bg1">
              <a:lumMod val="50000"/>
            </a:schemeClr>
          </a:solidFill>
        </p:grpSpPr>
        <p:sp>
          <p:nvSpPr>
            <p:cNvPr id="43"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46" name="文本框 45"/>
          <p:cNvSpPr txBox="1"/>
          <p:nvPr/>
        </p:nvSpPr>
        <p:spPr bwMode="gray">
          <a:xfrm>
            <a:off x="3656913" y="4096390"/>
            <a:ext cx="429926"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7" name="图片 86" descr="核心交换机.png"/>
          <p:cNvPicPr>
            <a:picLocks noChangeAspect="1"/>
          </p:cNvPicPr>
          <p:nvPr/>
        </p:nvPicPr>
        <p:blipFill>
          <a:blip r:embed="rId6" cstate="print"/>
          <a:stretch>
            <a:fillRect/>
          </a:stretch>
        </p:blipFill>
        <p:spPr bwMode="gray">
          <a:xfrm>
            <a:off x="4070074" y="4052220"/>
            <a:ext cx="368827" cy="301768"/>
          </a:xfrm>
          <a:prstGeom prst="rect">
            <a:avLst/>
          </a:prstGeom>
        </p:spPr>
      </p:pic>
      <p:sp>
        <p:nvSpPr>
          <p:cNvPr id="48" name="文本框 47"/>
          <p:cNvSpPr txBox="1"/>
          <p:nvPr/>
        </p:nvSpPr>
        <p:spPr bwMode="gray">
          <a:xfrm>
            <a:off x="4856882"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文本框 48"/>
          <p:cNvSpPr txBox="1"/>
          <p:nvPr/>
        </p:nvSpPr>
        <p:spPr bwMode="gray">
          <a:xfrm>
            <a:off x="3320850"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0"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4086839" y="3323776"/>
            <a:ext cx="335297" cy="274334"/>
          </a:xfrm>
          <a:prstGeom prst="rect">
            <a:avLst/>
          </a:prstGeom>
          <a:noFill/>
        </p:spPr>
      </p:pic>
      <p:sp>
        <p:nvSpPr>
          <p:cNvPr id="51" name="文本框 50"/>
          <p:cNvSpPr txBox="1"/>
          <p:nvPr/>
        </p:nvSpPr>
        <p:spPr bwMode="gray">
          <a:xfrm>
            <a:off x="2080711" y="4650828"/>
            <a:ext cx="580608" cy="276999"/>
          </a:xfrm>
          <a:prstGeom prst="rect">
            <a:avLst/>
          </a:prstGeom>
          <a:noFill/>
        </p:spPr>
        <p:txBody>
          <a:bodyPr wrap="none" rtlCol="0">
            <a:spAutoFit/>
          </a:bodyPr>
          <a:lstStyle/>
          <a:p>
            <a:pPr algn="ctr"/>
            <a:r>
              <a:rPr lang="zh-CN" altLang="en-US"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b="1">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文本框 51"/>
          <p:cNvSpPr txBox="1"/>
          <p:nvPr/>
        </p:nvSpPr>
        <p:spPr bwMode="gray">
          <a:xfrm>
            <a:off x="3220389" y="4650828"/>
            <a:ext cx="614272" cy="276999"/>
          </a:xfrm>
          <a:prstGeom prst="rect">
            <a:avLst/>
          </a:prstGeom>
          <a:noFill/>
        </p:spPr>
        <p:txBody>
          <a:bodyPr wrap="none" rtlCol="0">
            <a:spAutoFit/>
          </a:bodyPr>
          <a:lstStyle/>
          <a:p>
            <a:pPr algn="ctr"/>
            <a:r>
              <a:rPr lang="zh-CN" altLang="en-US"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N</a:t>
            </a:r>
            <a:endParaRPr lang="zh-CN" altLang="en-US" sz="1200" b="1">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3" name="Group 3"/>
          <p:cNvGrpSpPr/>
          <p:nvPr/>
        </p:nvGrpSpPr>
        <p:grpSpPr bwMode="gray">
          <a:xfrm>
            <a:off x="2868742" y="5036799"/>
            <a:ext cx="261965" cy="61979"/>
            <a:chOff x="559282" y="6488261"/>
            <a:chExt cx="261965" cy="61979"/>
          </a:xfrm>
          <a:solidFill>
            <a:schemeClr val="accent6">
              <a:lumMod val="75000"/>
            </a:schemeClr>
          </a:solidFill>
        </p:grpSpPr>
        <p:sp>
          <p:nvSpPr>
            <p:cNvPr id="5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57" name="文本框 56"/>
          <p:cNvSpPr txBox="1"/>
          <p:nvPr/>
        </p:nvSpPr>
        <p:spPr bwMode="gray">
          <a:xfrm>
            <a:off x="628610" y="1823335"/>
            <a:ext cx="800219" cy="276999"/>
          </a:xfrm>
          <a:prstGeom prst="rect">
            <a:avLst/>
          </a:prstGeom>
          <a:noFill/>
        </p:spPr>
        <p:txBody>
          <a:bodyPr wrap="none" rtlCol="0">
            <a:spAutoFit/>
          </a:bodyPr>
          <a:lstStyle/>
          <a:p>
            <a:pPr algn="ctr"/>
            <a:r>
              <a:rPr lang="zh-CN" altLang="en-US" sz="1200" b="1" dirty="0" smtClean="0">
                <a:solidFill>
                  <a:schemeClr val="tx2">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华为运营</a:t>
            </a:r>
            <a:endParaRPr lang="zh-CN" altLang="en-US" sz="1200" b="1" dirty="0">
              <a:solidFill>
                <a:schemeClr val="tx2">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3100224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err="1" smtClean="0">
                <a:sym typeface="Huawei Sans" panose="020C0503030203020204" pitchFamily="34" charset="0"/>
              </a:rPr>
              <a:t>CampusInsight</a:t>
            </a:r>
            <a:r>
              <a:rPr lang="zh-CN" altLang="en-US" dirty="0" smtClean="0">
                <a:sym typeface="Huawei Sans" panose="020C0503030203020204" pitchFamily="34" charset="0"/>
              </a:rPr>
              <a:t>部署：</a:t>
            </a:r>
            <a:r>
              <a:rPr lang="en-US" altLang="zh-CN" dirty="0" err="1" smtClean="0">
                <a:sym typeface="Huawei Sans" panose="020C0503030203020204" pitchFamily="34" charset="0"/>
              </a:rPr>
              <a:t>CloudCampus</a:t>
            </a:r>
            <a:r>
              <a:rPr lang="zh-CN" altLang="en-US" dirty="0" smtClean="0">
                <a:sym typeface="Huawei Sans" panose="020C0503030203020204" pitchFamily="34" charset="0"/>
              </a:rPr>
              <a:t>模式 </a:t>
            </a:r>
            <a:r>
              <a:rPr lang="en-US" altLang="zh-CN" dirty="0" smtClean="0">
                <a:sym typeface="Huawei Sans" panose="020C0503030203020204" pitchFamily="34" charset="0"/>
              </a:rPr>
              <a:t>(MSP</a:t>
            </a:r>
            <a:r>
              <a:rPr lang="zh-CN" altLang="en-US" dirty="0" smtClean="0">
                <a:sym typeface="Huawei Sans" panose="020C0503030203020204" pitchFamily="34" charset="0"/>
              </a:rPr>
              <a:t>自建云场景</a:t>
            </a:r>
            <a:r>
              <a:rPr lang="en-US" altLang="zh-CN" dirty="0" smtClean="0">
                <a:sym typeface="Huawei Sans" panose="020C0503030203020204" pitchFamily="34" charset="0"/>
              </a:rPr>
              <a:t>)</a:t>
            </a:r>
            <a:endParaRPr lang="zh-CN" altLang="en-US" dirty="0">
              <a:sym typeface="Huawei Sans" panose="020C0503030203020204" pitchFamily="34" charset="0"/>
            </a:endParaRPr>
          </a:p>
        </p:txBody>
      </p:sp>
      <p:sp>
        <p:nvSpPr>
          <p:cNvPr id="24" name="圆角矩形 75"/>
          <p:cNvSpPr/>
          <p:nvPr/>
        </p:nvSpPr>
        <p:spPr bwMode="gray">
          <a:xfrm>
            <a:off x="5601777" y="1661379"/>
            <a:ext cx="56728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场景描述</a:t>
            </a:r>
          </a:p>
        </p:txBody>
      </p:sp>
      <p:sp>
        <p:nvSpPr>
          <p:cNvPr id="25" name="圆角矩形 75"/>
          <p:cNvSpPr/>
          <p:nvPr/>
        </p:nvSpPr>
        <p:spPr bwMode="gray">
          <a:xfrm>
            <a:off x="5601777" y="2065339"/>
            <a:ext cx="5672863" cy="1363662"/>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MSP</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购买</a:t>
            </a:r>
            <a:r>
              <a:rPr lang="en-US" altLang="zh-CN" sz="1400" dirty="0" err="1"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等</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软件做运营，软件可以部署在其数据中心或者公有云</a:t>
            </a:r>
            <a:r>
              <a:rPr lang="en-US" altLang="zh-CN" sz="1400" dirty="0" err="1"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IaaS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MSP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发展租户，向租户提供</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SaaS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租户网络设备通过运营商网络接入</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MSP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数据中心或者公有云</a:t>
            </a:r>
            <a:r>
              <a:rPr lang="en-US" altLang="zh-CN" sz="1400" dirty="0" err="1"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IaaS</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圆角矩形 75"/>
          <p:cNvSpPr/>
          <p:nvPr/>
        </p:nvSpPr>
        <p:spPr bwMode="gray">
          <a:xfrm>
            <a:off x="5601777" y="3548649"/>
            <a:ext cx="56728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组网说明</a:t>
            </a:r>
          </a:p>
        </p:txBody>
      </p:sp>
      <p:sp>
        <p:nvSpPr>
          <p:cNvPr id="27" name="圆角矩形 75"/>
          <p:cNvSpPr/>
          <p:nvPr/>
        </p:nvSpPr>
        <p:spPr bwMode="gray">
          <a:xfrm>
            <a:off x="5601777" y="3952607"/>
            <a:ext cx="5672863" cy="77310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支持华为云交换机、云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和云</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设备的管理和智能分析，具体设备款型</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参见规格清单。</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圆角矩形 59"/>
          <p:cNvSpPr/>
          <p:nvPr/>
        </p:nvSpPr>
        <p:spPr bwMode="gray">
          <a:xfrm>
            <a:off x="668975" y="1525007"/>
            <a:ext cx="4707904" cy="849496"/>
          </a:xfrm>
          <a:prstGeom prst="roundRect">
            <a:avLst>
              <a:gd name="adj" fmla="val 3548"/>
            </a:avLst>
          </a:prstGeom>
          <a:solidFill>
            <a:srgbClr val="D7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圆角矩形 60"/>
          <p:cNvSpPr/>
          <p:nvPr/>
        </p:nvSpPr>
        <p:spPr bwMode="gray">
          <a:xfrm>
            <a:off x="646115" y="3212458"/>
            <a:ext cx="2178252" cy="2795470"/>
          </a:xfrm>
          <a:prstGeom prst="roundRect">
            <a:avLst>
              <a:gd name="adj" fmla="val 354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2" name="直接连接符 61"/>
          <p:cNvCxnSpPr/>
          <p:nvPr/>
        </p:nvCxnSpPr>
        <p:spPr bwMode="gray">
          <a:xfrm flipH="1">
            <a:off x="1578919" y="4205685"/>
            <a:ext cx="7529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gray">
          <a:xfrm>
            <a:off x="1578919" y="3460943"/>
            <a:ext cx="0" cy="16591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4" name="图片 102" descr="AC-蓝.png"/>
          <p:cNvPicPr>
            <a:picLocks noChangeAspect="1"/>
          </p:cNvPicPr>
          <p:nvPr/>
        </p:nvPicPr>
        <p:blipFill>
          <a:blip r:embed="rId3" cstate="print"/>
          <a:stretch>
            <a:fillRect/>
          </a:stretch>
        </p:blipFill>
        <p:spPr bwMode="gray">
          <a:xfrm>
            <a:off x="2203367" y="4054801"/>
            <a:ext cx="368827" cy="301768"/>
          </a:xfrm>
          <a:prstGeom prst="rect">
            <a:avLst/>
          </a:prstGeom>
        </p:spPr>
      </p:pic>
      <p:sp>
        <p:nvSpPr>
          <p:cNvPr id="65" name="文本框 64"/>
          <p:cNvSpPr txBox="1"/>
          <p:nvPr/>
        </p:nvSpPr>
        <p:spPr bwMode="gray">
          <a:xfrm>
            <a:off x="2193977" y="3802111"/>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66" name="Group 165"/>
          <p:cNvGrpSpPr/>
          <p:nvPr/>
        </p:nvGrpSpPr>
        <p:grpSpPr bwMode="gray">
          <a:xfrm rot="10800000">
            <a:off x="894949" y="5120082"/>
            <a:ext cx="1436938" cy="529463"/>
            <a:chOff x="-1233037" y="914446"/>
            <a:chExt cx="1573823" cy="778776"/>
          </a:xfrm>
        </p:grpSpPr>
        <p:cxnSp>
          <p:nvCxnSpPr>
            <p:cNvPr id="6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9" name="图片 105" descr="AP.png"/>
          <p:cNvPicPr>
            <a:picLocks noChangeAspect="1"/>
          </p:cNvPicPr>
          <p:nvPr/>
        </p:nvPicPr>
        <p:blipFill>
          <a:blip r:embed="rId4" cstate="print"/>
          <a:stretch>
            <a:fillRect/>
          </a:stretch>
        </p:blipFill>
        <p:spPr bwMode="gray">
          <a:xfrm>
            <a:off x="668975" y="5553367"/>
            <a:ext cx="335297" cy="274335"/>
          </a:xfrm>
          <a:prstGeom prst="rect">
            <a:avLst/>
          </a:prstGeom>
        </p:spPr>
      </p:pic>
      <p:pic>
        <p:nvPicPr>
          <p:cNvPr id="70" name="图片 76" descr="接入交换机.png"/>
          <p:cNvPicPr>
            <a:picLocks noChangeAspect="1"/>
          </p:cNvPicPr>
          <p:nvPr/>
        </p:nvPicPr>
        <p:blipFill>
          <a:blip r:embed="rId5" cstate="print"/>
          <a:stretch>
            <a:fillRect/>
          </a:stretch>
        </p:blipFill>
        <p:spPr bwMode="gray">
          <a:xfrm>
            <a:off x="1394506" y="4947894"/>
            <a:ext cx="368827" cy="301768"/>
          </a:xfrm>
          <a:prstGeom prst="rect">
            <a:avLst/>
          </a:prstGeom>
        </p:spPr>
      </p:pic>
      <p:pic>
        <p:nvPicPr>
          <p:cNvPr id="71" name="图片 105" descr="AP.png"/>
          <p:cNvPicPr>
            <a:picLocks noChangeAspect="1"/>
          </p:cNvPicPr>
          <p:nvPr/>
        </p:nvPicPr>
        <p:blipFill>
          <a:blip r:embed="rId4" cstate="print"/>
          <a:stretch>
            <a:fillRect/>
          </a:stretch>
        </p:blipFill>
        <p:spPr bwMode="gray">
          <a:xfrm>
            <a:off x="2203367" y="5553367"/>
            <a:ext cx="335297" cy="274335"/>
          </a:xfrm>
          <a:prstGeom prst="rect">
            <a:avLst/>
          </a:prstGeom>
        </p:spPr>
      </p:pic>
      <p:grpSp>
        <p:nvGrpSpPr>
          <p:cNvPr id="72" name="Group 3"/>
          <p:cNvGrpSpPr/>
          <p:nvPr/>
        </p:nvGrpSpPr>
        <p:grpSpPr bwMode="gray">
          <a:xfrm>
            <a:off x="1422059" y="5659544"/>
            <a:ext cx="261965" cy="61979"/>
            <a:chOff x="559282" y="6488261"/>
            <a:chExt cx="261965" cy="61979"/>
          </a:xfrm>
          <a:solidFill>
            <a:schemeClr val="bg1">
              <a:lumMod val="50000"/>
            </a:schemeClr>
          </a:solidFill>
        </p:grpSpPr>
        <p:sp>
          <p:nvSpPr>
            <p:cNvPr id="73"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5"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76" name="文本框 75"/>
          <p:cNvSpPr txBox="1"/>
          <p:nvPr/>
        </p:nvSpPr>
        <p:spPr bwMode="gray">
          <a:xfrm>
            <a:off x="981345" y="4096390"/>
            <a:ext cx="429926"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77" name="图片 86" descr="核心交换机.png"/>
          <p:cNvPicPr>
            <a:picLocks noChangeAspect="1"/>
          </p:cNvPicPr>
          <p:nvPr/>
        </p:nvPicPr>
        <p:blipFill>
          <a:blip r:embed="rId6" cstate="print"/>
          <a:stretch>
            <a:fillRect/>
          </a:stretch>
        </p:blipFill>
        <p:spPr bwMode="gray">
          <a:xfrm>
            <a:off x="1394506" y="4052220"/>
            <a:ext cx="368827" cy="301768"/>
          </a:xfrm>
          <a:prstGeom prst="rect">
            <a:avLst/>
          </a:prstGeom>
        </p:spPr>
      </p:pic>
      <p:sp>
        <p:nvSpPr>
          <p:cNvPr id="78" name="文本框 77"/>
          <p:cNvSpPr txBox="1"/>
          <p:nvPr/>
        </p:nvSpPr>
        <p:spPr bwMode="gray">
          <a:xfrm>
            <a:off x="2181314"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 name="文本框 78"/>
          <p:cNvSpPr txBox="1"/>
          <p:nvPr/>
        </p:nvSpPr>
        <p:spPr bwMode="gray">
          <a:xfrm>
            <a:off x="645282"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Freeform 159"/>
          <p:cNvSpPr/>
          <p:nvPr/>
        </p:nvSpPr>
        <p:spPr bwMode="gray">
          <a:xfrm flipH="1">
            <a:off x="2469896" y="2557939"/>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en-US" sz="12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83"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1411271" y="3323776"/>
            <a:ext cx="335297" cy="274334"/>
          </a:xfrm>
          <a:prstGeom prst="rect">
            <a:avLst/>
          </a:prstGeom>
          <a:noFill/>
        </p:spPr>
      </p:pic>
      <p:sp>
        <p:nvSpPr>
          <p:cNvPr id="84" name="圆角矩形 83"/>
          <p:cNvSpPr/>
          <p:nvPr/>
        </p:nvSpPr>
        <p:spPr bwMode="gray">
          <a:xfrm>
            <a:off x="3166339" y="3212458"/>
            <a:ext cx="2210540" cy="2795470"/>
          </a:xfrm>
          <a:prstGeom prst="roundRect">
            <a:avLst>
              <a:gd name="adj" fmla="val 354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85" name="直接连接符 84"/>
          <p:cNvCxnSpPr/>
          <p:nvPr/>
        </p:nvCxnSpPr>
        <p:spPr bwMode="gray">
          <a:xfrm flipH="1">
            <a:off x="4254487" y="4205685"/>
            <a:ext cx="7529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gray">
          <a:xfrm>
            <a:off x="4254487" y="3460943"/>
            <a:ext cx="0" cy="16591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图片 102" descr="AC-蓝.png"/>
          <p:cNvPicPr>
            <a:picLocks noChangeAspect="1"/>
          </p:cNvPicPr>
          <p:nvPr/>
        </p:nvPicPr>
        <p:blipFill>
          <a:blip r:embed="rId3" cstate="print"/>
          <a:stretch>
            <a:fillRect/>
          </a:stretch>
        </p:blipFill>
        <p:spPr bwMode="gray">
          <a:xfrm>
            <a:off x="4878935" y="4054801"/>
            <a:ext cx="368827" cy="301768"/>
          </a:xfrm>
          <a:prstGeom prst="rect">
            <a:avLst/>
          </a:prstGeom>
        </p:spPr>
      </p:pic>
      <p:sp>
        <p:nvSpPr>
          <p:cNvPr id="88" name="文本框 87"/>
          <p:cNvSpPr txBox="1"/>
          <p:nvPr/>
        </p:nvSpPr>
        <p:spPr bwMode="gray">
          <a:xfrm>
            <a:off x="4869545" y="3802111"/>
            <a:ext cx="38664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89" name="Group 165"/>
          <p:cNvGrpSpPr/>
          <p:nvPr/>
        </p:nvGrpSpPr>
        <p:grpSpPr bwMode="gray">
          <a:xfrm rot="10800000">
            <a:off x="3570517" y="5120082"/>
            <a:ext cx="1436938" cy="529463"/>
            <a:chOff x="-1233037" y="914446"/>
            <a:chExt cx="1573823" cy="778776"/>
          </a:xfrm>
        </p:grpSpPr>
        <p:cxnSp>
          <p:nvCxnSpPr>
            <p:cNvPr id="90"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92" name="图片 105" descr="AP.png"/>
          <p:cNvPicPr>
            <a:picLocks noChangeAspect="1"/>
          </p:cNvPicPr>
          <p:nvPr/>
        </p:nvPicPr>
        <p:blipFill>
          <a:blip r:embed="rId4" cstate="print"/>
          <a:stretch>
            <a:fillRect/>
          </a:stretch>
        </p:blipFill>
        <p:spPr bwMode="gray">
          <a:xfrm>
            <a:off x="3344543" y="5553367"/>
            <a:ext cx="335297" cy="274335"/>
          </a:xfrm>
          <a:prstGeom prst="rect">
            <a:avLst/>
          </a:prstGeom>
        </p:spPr>
      </p:pic>
      <p:pic>
        <p:nvPicPr>
          <p:cNvPr id="93" name="图片 76" descr="接入交换机.png"/>
          <p:cNvPicPr>
            <a:picLocks noChangeAspect="1"/>
          </p:cNvPicPr>
          <p:nvPr/>
        </p:nvPicPr>
        <p:blipFill>
          <a:blip r:embed="rId5" cstate="print"/>
          <a:stretch>
            <a:fillRect/>
          </a:stretch>
        </p:blipFill>
        <p:spPr bwMode="gray">
          <a:xfrm>
            <a:off x="4070074" y="4947894"/>
            <a:ext cx="368827" cy="301768"/>
          </a:xfrm>
          <a:prstGeom prst="rect">
            <a:avLst/>
          </a:prstGeom>
        </p:spPr>
      </p:pic>
      <p:pic>
        <p:nvPicPr>
          <p:cNvPr id="94" name="图片 105" descr="AP.png"/>
          <p:cNvPicPr>
            <a:picLocks noChangeAspect="1"/>
          </p:cNvPicPr>
          <p:nvPr/>
        </p:nvPicPr>
        <p:blipFill>
          <a:blip r:embed="rId4" cstate="print"/>
          <a:stretch>
            <a:fillRect/>
          </a:stretch>
        </p:blipFill>
        <p:spPr bwMode="gray">
          <a:xfrm>
            <a:off x="4878935" y="5553367"/>
            <a:ext cx="335297" cy="274335"/>
          </a:xfrm>
          <a:prstGeom prst="rect">
            <a:avLst/>
          </a:prstGeom>
        </p:spPr>
      </p:pic>
      <p:grpSp>
        <p:nvGrpSpPr>
          <p:cNvPr id="95" name="Group 3"/>
          <p:cNvGrpSpPr/>
          <p:nvPr/>
        </p:nvGrpSpPr>
        <p:grpSpPr bwMode="gray">
          <a:xfrm>
            <a:off x="4120487" y="5659544"/>
            <a:ext cx="261965" cy="61979"/>
            <a:chOff x="559282" y="6488261"/>
            <a:chExt cx="261965" cy="61979"/>
          </a:xfrm>
          <a:solidFill>
            <a:schemeClr val="bg1">
              <a:lumMod val="50000"/>
            </a:schemeClr>
          </a:solidFill>
        </p:grpSpPr>
        <p:sp>
          <p:nvSpPr>
            <p:cNvPr id="9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99" name="文本框 98"/>
          <p:cNvSpPr txBox="1"/>
          <p:nvPr/>
        </p:nvSpPr>
        <p:spPr bwMode="gray">
          <a:xfrm>
            <a:off x="3656913" y="4096390"/>
            <a:ext cx="429926"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SW</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0" name="图片 86" descr="核心交换机.png"/>
          <p:cNvPicPr>
            <a:picLocks noChangeAspect="1"/>
          </p:cNvPicPr>
          <p:nvPr/>
        </p:nvPicPr>
        <p:blipFill>
          <a:blip r:embed="rId6" cstate="print"/>
          <a:stretch>
            <a:fillRect/>
          </a:stretch>
        </p:blipFill>
        <p:spPr bwMode="gray">
          <a:xfrm>
            <a:off x="4070074" y="4052220"/>
            <a:ext cx="368827" cy="301768"/>
          </a:xfrm>
          <a:prstGeom prst="rect">
            <a:avLst/>
          </a:prstGeom>
        </p:spPr>
      </p:pic>
      <p:sp>
        <p:nvSpPr>
          <p:cNvPr id="101" name="文本框 100"/>
          <p:cNvSpPr txBox="1"/>
          <p:nvPr/>
        </p:nvSpPr>
        <p:spPr bwMode="gray">
          <a:xfrm>
            <a:off x="4856882"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文本框 101"/>
          <p:cNvSpPr txBox="1"/>
          <p:nvPr/>
        </p:nvSpPr>
        <p:spPr bwMode="gray">
          <a:xfrm>
            <a:off x="3320850" y="5299367"/>
            <a:ext cx="383438" cy="276999"/>
          </a:xfrm>
          <a:prstGeom prst="rect">
            <a:avLst/>
          </a:prstGeom>
          <a:noFill/>
        </p:spPr>
        <p:txBody>
          <a:bodyPr wrap="none" rtlCol="0">
            <a:spAutoFit/>
          </a:bodyPr>
          <a:lstStyle/>
          <a:p>
            <a:pPr algn="ctr"/>
            <a:r>
              <a:rPr lang="en-US" altLang="zh-CN" sz="1200" b="1"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zh-CN" altLang="en-US" sz="1200" b="1">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3"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4086839" y="3323776"/>
            <a:ext cx="335297" cy="274334"/>
          </a:xfrm>
          <a:prstGeom prst="rect">
            <a:avLst/>
          </a:prstGeom>
          <a:noFill/>
        </p:spPr>
      </p:pic>
      <p:sp>
        <p:nvSpPr>
          <p:cNvPr id="104" name="文本框 103"/>
          <p:cNvSpPr txBox="1"/>
          <p:nvPr/>
        </p:nvSpPr>
        <p:spPr bwMode="gray">
          <a:xfrm>
            <a:off x="2080711" y="4650828"/>
            <a:ext cx="580608" cy="276999"/>
          </a:xfrm>
          <a:prstGeom prst="rect">
            <a:avLst/>
          </a:prstGeom>
          <a:noFill/>
        </p:spPr>
        <p:txBody>
          <a:bodyPr wrap="none" rtlCol="0">
            <a:spAutoFit/>
          </a:bodyPr>
          <a:lstStyle/>
          <a:p>
            <a:pPr algn="ctr"/>
            <a:r>
              <a:rPr lang="zh-CN" altLang="en-US"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b="1">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文本框 104"/>
          <p:cNvSpPr txBox="1"/>
          <p:nvPr/>
        </p:nvSpPr>
        <p:spPr bwMode="gray">
          <a:xfrm>
            <a:off x="3220389" y="4650828"/>
            <a:ext cx="614272" cy="276999"/>
          </a:xfrm>
          <a:prstGeom prst="rect">
            <a:avLst/>
          </a:prstGeom>
          <a:noFill/>
        </p:spPr>
        <p:txBody>
          <a:bodyPr wrap="none" rtlCol="0">
            <a:spAutoFit/>
          </a:bodyPr>
          <a:lstStyle/>
          <a:p>
            <a:pPr algn="ctr"/>
            <a:r>
              <a:rPr lang="zh-CN" altLang="en-US"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b="1" smtClean="0">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N</a:t>
            </a:r>
            <a:endParaRPr lang="zh-CN" altLang="en-US" sz="1200" b="1">
              <a:solidFill>
                <a:schemeClr val="accent6">
                  <a:lumMod val="7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06" name="Group 3"/>
          <p:cNvGrpSpPr/>
          <p:nvPr/>
        </p:nvGrpSpPr>
        <p:grpSpPr bwMode="gray">
          <a:xfrm>
            <a:off x="2868742" y="5036799"/>
            <a:ext cx="261965" cy="61979"/>
            <a:chOff x="559282" y="6488261"/>
            <a:chExt cx="261965" cy="61979"/>
          </a:xfrm>
          <a:solidFill>
            <a:schemeClr val="accent6">
              <a:lumMod val="75000"/>
            </a:schemeClr>
          </a:solidFill>
        </p:grpSpPr>
        <p:sp>
          <p:nvSpPr>
            <p:cNvPr id="107"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10" name="文本框 109"/>
          <p:cNvSpPr txBox="1"/>
          <p:nvPr/>
        </p:nvSpPr>
        <p:spPr bwMode="gray">
          <a:xfrm>
            <a:off x="619793" y="1823335"/>
            <a:ext cx="817853" cy="276999"/>
          </a:xfrm>
          <a:prstGeom prst="rect">
            <a:avLst/>
          </a:prstGeom>
          <a:noFill/>
        </p:spPr>
        <p:txBody>
          <a:bodyPr wrap="none" rtlCol="0">
            <a:spAutoFit/>
          </a:bodyPr>
          <a:lstStyle/>
          <a:p>
            <a:pPr algn="ctr"/>
            <a:r>
              <a:rPr lang="en-US" altLang="zh-CN" sz="1200" b="1" dirty="0">
                <a:solidFill>
                  <a:schemeClr val="tx2">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MSP</a:t>
            </a:r>
            <a:r>
              <a:rPr lang="zh-CN" altLang="en-US" sz="1200" b="1" dirty="0" smtClean="0">
                <a:solidFill>
                  <a:schemeClr val="tx2">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运营</a:t>
            </a:r>
            <a:endParaRPr lang="zh-CN" altLang="en-US" sz="1200" b="1" dirty="0">
              <a:solidFill>
                <a:schemeClr val="tx2">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8" name="图片 5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603549" y="1685294"/>
            <a:ext cx="812067" cy="595041"/>
          </a:xfrm>
          <a:prstGeom prst="rect">
            <a:avLst/>
          </a:prstGeom>
        </p:spPr>
      </p:pic>
      <p:pic>
        <p:nvPicPr>
          <p:cNvPr id="59" name="图片 5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810141" y="1685294"/>
            <a:ext cx="786452" cy="447063"/>
          </a:xfrm>
          <a:prstGeom prst="rect">
            <a:avLst/>
          </a:prstGeom>
        </p:spPr>
      </p:pic>
    </p:spTree>
    <p:extLst>
      <p:ext uri="{BB962C8B-B14F-4D97-AF65-F5344CB8AC3E}">
        <p14:creationId xmlns:p14="http://schemas.microsoft.com/office/powerpoint/2010/main" val="2247070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CampusInsight</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CampusInsight</a:t>
            </a:r>
            <a:r>
              <a:rPr lang="zh-CN" altLang="en-US" b="1" dirty="0" smtClean="0">
                <a:sym typeface="Huawei Sans" panose="020C0503030203020204" pitchFamily="34" charset="0"/>
              </a:rPr>
              <a:t>功能与演示</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Telemetry</a:t>
            </a:r>
          </a:p>
          <a:p>
            <a:pPr lvl="1"/>
            <a:r>
              <a:rPr lang="zh-CN" altLang="en-US" dirty="0" smtClean="0">
                <a:solidFill>
                  <a:schemeClr val="bg1">
                    <a:lumMod val="50000"/>
                  </a:schemeClr>
                </a:solidFill>
                <a:sym typeface="Huawei Sans" panose="020C0503030203020204" pitchFamily="34" charset="0"/>
              </a:rPr>
              <a:t>可视</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分析</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调优</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保障</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2386960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基于</a:t>
            </a:r>
            <a:r>
              <a:rPr lang="en-US" altLang="zh-CN" smtClean="0">
                <a:sym typeface="Huawei Sans" panose="020C0503030203020204" pitchFamily="34" charset="0"/>
              </a:rPr>
              <a:t>Telemetry</a:t>
            </a:r>
            <a:r>
              <a:rPr lang="zh-CN" altLang="en-US" smtClean="0">
                <a:sym typeface="Huawei Sans" panose="020C0503030203020204" pitchFamily="34" charset="0"/>
              </a:rPr>
              <a:t>技术，满足实时分析诉求</a:t>
            </a:r>
            <a:endParaRPr lang="zh-CN" altLang="en-US" dirty="0">
              <a:sym typeface="Huawei Sans" panose="020C0503030203020204" pitchFamily="34" charset="0"/>
            </a:endParaRPr>
          </a:p>
        </p:txBody>
      </p:sp>
      <p:sp>
        <p:nvSpPr>
          <p:cNvPr id="3" name="圆角矩形 2"/>
          <p:cNvSpPr/>
          <p:nvPr/>
        </p:nvSpPr>
        <p:spPr bwMode="gray">
          <a:xfrm>
            <a:off x="815740" y="1059580"/>
            <a:ext cx="5194090" cy="360000"/>
          </a:xfrm>
          <a:prstGeom prst="roundRect">
            <a:avLst/>
          </a:prstGeom>
          <a:gradFill>
            <a:gsLst>
              <a:gs pos="0">
                <a:schemeClr val="bg1"/>
              </a:gs>
              <a:gs pos="100000">
                <a:schemeClr val="bg1">
                  <a:lumMod val="8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SNMP</a:t>
            </a:r>
          </a:p>
        </p:txBody>
      </p:sp>
      <p:sp>
        <p:nvSpPr>
          <p:cNvPr id="4" name="圆角矩形 3"/>
          <p:cNvSpPr/>
          <p:nvPr/>
        </p:nvSpPr>
        <p:spPr bwMode="gray">
          <a:xfrm>
            <a:off x="811848" y="1455716"/>
            <a:ext cx="5198444" cy="4674573"/>
          </a:xfrm>
          <a:prstGeom prst="roundRect">
            <a:avLst>
              <a:gd name="adj" fmla="val 1810"/>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bwMode="blackGray">
          <a:xfrm>
            <a:off x="6303209" y="1059580"/>
            <a:ext cx="5069492"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Telemetry</a:t>
            </a:r>
          </a:p>
        </p:txBody>
      </p:sp>
      <p:sp>
        <p:nvSpPr>
          <p:cNvPr id="6" name="圆角矩形 5"/>
          <p:cNvSpPr/>
          <p:nvPr/>
        </p:nvSpPr>
        <p:spPr bwMode="auto">
          <a:xfrm>
            <a:off x="6299109" y="1455716"/>
            <a:ext cx="5073742" cy="4674573"/>
          </a:xfrm>
          <a:prstGeom prst="roundRect">
            <a:avLst>
              <a:gd name="adj" fmla="val 1810"/>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矩形 6"/>
          <p:cNvSpPr/>
          <p:nvPr/>
        </p:nvSpPr>
        <p:spPr bwMode="gray">
          <a:xfrm>
            <a:off x="1698273" y="3066677"/>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文本框 7"/>
          <p:cNvSpPr txBox="1"/>
          <p:nvPr/>
        </p:nvSpPr>
        <p:spPr bwMode="gray">
          <a:xfrm>
            <a:off x="2468268" y="2564435"/>
            <a:ext cx="779380" cy="338554"/>
          </a:xfrm>
          <a:prstGeom prst="rect">
            <a:avLst/>
          </a:prstGeom>
          <a:noFill/>
        </p:spPr>
        <p:txBody>
          <a:bodyPr wrap="none" rtlCol="0">
            <a:spAutoFit/>
          </a:bodyPr>
          <a:lstStyle/>
          <a:p>
            <a:pPr algn="r" defTabSz="1218418"/>
            <a:r>
              <a:rPr lang="en-US" altLang="zh-CN" sz="1600" b="1"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endParaRPr lang="en-US" altLang="zh-CN" sz="16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9" name="直接箭头连接符 8"/>
          <p:cNvCxnSpPr/>
          <p:nvPr/>
        </p:nvCxnSpPr>
        <p:spPr bwMode="gray">
          <a:xfrm>
            <a:off x="3238904" y="2503043"/>
            <a:ext cx="0" cy="506855"/>
          </a:xfrm>
          <a:prstGeom prst="straightConnector1">
            <a:avLst/>
          </a:prstGeom>
          <a:noFill/>
          <a:ln w="28575" algn="ctr">
            <a:solidFill>
              <a:schemeClr val="bg1">
                <a:lumMod val="50000"/>
              </a:schemeClr>
            </a:solidFill>
            <a:round/>
            <a:headEnd type="triangle" w="med" len="med"/>
            <a:tailEnd type="none" w="med" len="med"/>
          </a:ln>
        </p:spPr>
      </p:cxnSp>
      <p:sp>
        <p:nvSpPr>
          <p:cNvPr id="10" name="矩形 9"/>
          <p:cNvSpPr/>
          <p:nvPr/>
        </p:nvSpPr>
        <p:spPr bwMode="gray">
          <a:xfrm>
            <a:off x="2141262" y="2103053"/>
            <a:ext cx="902811" cy="30764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a:spcAft>
                <a:spcPts val="0"/>
              </a:spcAft>
            </a:pP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传统网管</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1" name="组合 10"/>
          <p:cNvGrpSpPr/>
          <p:nvPr/>
        </p:nvGrpSpPr>
        <p:grpSpPr bwMode="gray">
          <a:xfrm>
            <a:off x="1930685" y="3178045"/>
            <a:ext cx="2594795" cy="249395"/>
            <a:chOff x="940595" y="3748838"/>
            <a:chExt cx="2594795" cy="249395"/>
          </a:xfrm>
        </p:grpSpPr>
        <p:pic>
          <p:nvPicPr>
            <p:cNvPr id="1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1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14"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15"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16"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pic>
        <p:nvPicPr>
          <p:cNvPr id="17" name="图片 72" descr="交换机.png"/>
          <p:cNvPicPr>
            <a:picLocks noChangeAspect="1"/>
          </p:cNvPicPr>
          <p:nvPr/>
        </p:nvPicPr>
        <p:blipFill>
          <a:blip r:embed="rId8" cstate="print"/>
          <a:stretch>
            <a:fillRect/>
          </a:stretch>
        </p:blipFill>
        <p:spPr bwMode="gray">
          <a:xfrm>
            <a:off x="3053958" y="2078758"/>
            <a:ext cx="404368" cy="331943"/>
          </a:xfrm>
          <a:prstGeom prst="rect">
            <a:avLst/>
          </a:prstGeom>
        </p:spPr>
      </p:pic>
      <p:sp>
        <p:nvSpPr>
          <p:cNvPr id="18" name="矩形 17"/>
          <p:cNvSpPr/>
          <p:nvPr/>
        </p:nvSpPr>
        <p:spPr bwMode="gray">
          <a:xfrm>
            <a:off x="811698" y="4033774"/>
            <a:ext cx="5198132" cy="1785104"/>
          </a:xfrm>
          <a:prstGeom prst="rect">
            <a:avLst/>
          </a:prstGeom>
        </p:spPr>
        <p:txBody>
          <a:bodyPr wrap="square">
            <a:spAutoFit/>
          </a:bodyPr>
          <a:lstStyle/>
          <a:p>
            <a:pPr marL="177800" indent="-177800">
              <a:lnSpc>
                <a:spcPts val="2400"/>
              </a:lnSpc>
              <a:spcAft>
                <a:spcPts val="600"/>
              </a:spcAft>
              <a:buFont typeface="Arial" panose="020B0604020202020204" pitchFamily="34" charset="0"/>
              <a:buChar char="•"/>
            </a:pPr>
            <a:r>
              <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协议发展</a:t>
            </a:r>
            <a:r>
              <a:rPr lang="zh-CN" altLang="en-US" sz="16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停滞：</a:t>
            </a:r>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SNMP</a:t>
            </a:r>
            <a:r>
              <a:rPr lang="zh-CN" altLang="en-US" sz="16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的处理能力有限；</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7800" indent="-177800">
              <a:lnSpc>
                <a:spcPts val="2400"/>
              </a:lnSpc>
              <a:spcAft>
                <a:spcPts val="600"/>
              </a:spcAft>
              <a:buFont typeface="Arial" panose="020B0604020202020204" pitchFamily="34" charset="0"/>
              <a:buChar char="•"/>
            </a:pPr>
            <a:r>
              <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基于轮询</a:t>
            </a:r>
            <a:r>
              <a:rPr lang="zh-CN" altLang="en-US" sz="16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技术：分钟</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级轮询周期，无法满足实时管理的业务诉求；</a:t>
            </a:r>
          </a:p>
          <a:p>
            <a:pPr marL="177800" indent="-177800">
              <a:lnSpc>
                <a:spcPts val="2400"/>
              </a:lnSpc>
              <a:spcAft>
                <a:spcPts val="600"/>
              </a:spcAft>
              <a:buFont typeface="Arial" panose="020B0604020202020204" pitchFamily="34" charset="0"/>
              <a:buChar char="•"/>
            </a:pPr>
            <a:r>
              <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刚性</a:t>
            </a:r>
            <a:r>
              <a:rPr lang="zh-CN" altLang="en-US" sz="16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数据结构：固定</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的数据结构定义，完成一次有效采集需要多个数据请求。</a:t>
            </a:r>
          </a:p>
        </p:txBody>
      </p:sp>
      <p:sp>
        <p:nvSpPr>
          <p:cNvPr id="19" name="矩形 18"/>
          <p:cNvSpPr/>
          <p:nvPr/>
        </p:nvSpPr>
        <p:spPr bwMode="gray">
          <a:xfrm>
            <a:off x="7486514" y="3066677"/>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文本框 19"/>
          <p:cNvSpPr txBox="1"/>
          <p:nvPr/>
        </p:nvSpPr>
        <p:spPr bwMode="auto">
          <a:xfrm>
            <a:off x="7844537" y="2564435"/>
            <a:ext cx="1191352" cy="338554"/>
          </a:xfrm>
          <a:prstGeom prst="rect">
            <a:avLst/>
          </a:prstGeom>
          <a:noFill/>
        </p:spPr>
        <p:txBody>
          <a:bodyPr wrap="none" rtlCol="0">
            <a:spAutoFit/>
          </a:bodyPr>
          <a:lstStyle/>
          <a:p>
            <a:pPr algn="r" defTabSz="1218418"/>
            <a:r>
              <a:rPr lang="en-US" altLang="zh-CN" sz="16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p>
        </p:txBody>
      </p:sp>
      <p:cxnSp>
        <p:nvCxnSpPr>
          <p:cNvPr id="21" name="直接箭头连接符 20"/>
          <p:cNvCxnSpPr/>
          <p:nvPr/>
        </p:nvCxnSpPr>
        <p:spPr bwMode="auto">
          <a:xfrm>
            <a:off x="9027145" y="2503043"/>
            <a:ext cx="0" cy="506855"/>
          </a:xfrm>
          <a:prstGeom prst="straightConnector1">
            <a:avLst/>
          </a:prstGeom>
          <a:noFill/>
          <a:ln w="28575" algn="ctr">
            <a:solidFill>
              <a:srgbClr val="30B5C5"/>
            </a:solidFill>
            <a:round/>
            <a:headEnd type="triangle" w="med" len="med"/>
            <a:tailEnd type="none" w="med" len="med"/>
          </a:ln>
        </p:spPr>
      </p:cxnSp>
      <p:grpSp>
        <p:nvGrpSpPr>
          <p:cNvPr id="23" name="组合 22"/>
          <p:cNvGrpSpPr/>
          <p:nvPr/>
        </p:nvGrpSpPr>
        <p:grpSpPr bwMode="gray">
          <a:xfrm>
            <a:off x="7718926" y="3178045"/>
            <a:ext cx="2594795" cy="249395"/>
            <a:chOff x="940595" y="3748838"/>
            <a:chExt cx="2594795" cy="249395"/>
          </a:xfrm>
        </p:grpSpPr>
        <p:pic>
          <p:nvPicPr>
            <p:cNvPr id="24"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2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26"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27"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28"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pic>
        <p:nvPicPr>
          <p:cNvPr id="29" name="图片 72" descr="交换机.png"/>
          <p:cNvPicPr>
            <a:picLocks noChangeAspect="1"/>
          </p:cNvPicPr>
          <p:nvPr/>
        </p:nvPicPr>
        <p:blipFill>
          <a:blip r:embed="rId8" cstate="print"/>
          <a:stretch>
            <a:fillRect/>
          </a:stretch>
        </p:blipFill>
        <p:spPr bwMode="gray">
          <a:xfrm>
            <a:off x="8842199" y="2078758"/>
            <a:ext cx="404368" cy="331943"/>
          </a:xfrm>
          <a:prstGeom prst="rect">
            <a:avLst/>
          </a:prstGeom>
        </p:spPr>
      </p:pic>
      <p:sp>
        <p:nvSpPr>
          <p:cNvPr id="30" name="矩形 29"/>
          <p:cNvSpPr/>
          <p:nvPr/>
        </p:nvSpPr>
        <p:spPr bwMode="gray">
          <a:xfrm>
            <a:off x="6298647" y="4033774"/>
            <a:ext cx="5073592" cy="1477328"/>
          </a:xfrm>
          <a:prstGeom prst="rect">
            <a:avLst/>
          </a:prstGeom>
        </p:spPr>
        <p:txBody>
          <a:bodyPr wrap="square">
            <a:spAutoFit/>
          </a:bodyPr>
          <a:lstStyle/>
          <a:p>
            <a:pPr marL="177800" indent="-177800">
              <a:lnSpc>
                <a:spcPts val="2400"/>
              </a:lnSpc>
              <a:spcAft>
                <a:spcPts val="600"/>
              </a:spcAft>
              <a:buFont typeface="Arial" panose="020B0604020202020204" pitchFamily="34" charset="0"/>
              <a:buChar char="•"/>
            </a:pP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HTTP2 </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600" dirty="0" err="1" smtClean="0">
                <a:latin typeface="Huawei Sans" panose="020C0503030203020204" pitchFamily="34" charset="0"/>
                <a:ea typeface="方正兰亭黑简体" panose="02000000000000000000" pitchFamily="2" charset="-122"/>
                <a:cs typeface="+mn-ea"/>
                <a:sym typeface="Huawei Sans" panose="020C0503030203020204" pitchFamily="34" charset="0"/>
              </a:rPr>
              <a:t>ProtoBuf</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a:p>
            <a:pPr marL="177800" indent="-17780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基于订阅发布、按需使用；</a:t>
            </a:r>
          </a:p>
          <a:p>
            <a:pPr marL="177800" indent="-17780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高效的编解码技术，一次获取多个数据，实现秒级数据获取能力</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1" name="图片 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7940901" y="1837694"/>
            <a:ext cx="812067" cy="595041"/>
          </a:xfrm>
          <a:prstGeom prst="rect">
            <a:avLst/>
          </a:prstGeom>
        </p:spPr>
      </p:pic>
      <p:sp>
        <p:nvSpPr>
          <p:cNvPr id="32" name="矩形 31"/>
          <p:cNvSpPr/>
          <p:nvPr/>
        </p:nvSpPr>
        <p:spPr bwMode="gray">
          <a:xfrm>
            <a:off x="6299109" y="5594290"/>
            <a:ext cx="5073592" cy="377732"/>
          </a:xfrm>
          <a:prstGeom prst="rect">
            <a:avLst/>
          </a:prstGeom>
        </p:spPr>
        <p:txBody>
          <a:bodyPr wrap="square">
            <a:spAutoFit/>
          </a:bodyPr>
          <a:lstStyle/>
          <a:p>
            <a:pPr>
              <a:lnSpc>
                <a:spcPts val="2400"/>
              </a:lnSpc>
              <a:spcAft>
                <a:spcPts val="600"/>
              </a:spcAft>
            </a:pPr>
            <a:r>
              <a:rPr lang="zh-CN" altLang="en-US" sz="16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准实时</a:t>
            </a:r>
            <a:r>
              <a:rPr lang="zh-CN" altLang="en-US" sz="16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数据获取能力，是分析器挖掘数据的关键依赖。</a:t>
            </a:r>
          </a:p>
        </p:txBody>
      </p:sp>
    </p:spTree>
    <p:extLst>
      <p:ext uri="{BB962C8B-B14F-4D97-AF65-F5344CB8AC3E}">
        <p14:creationId xmlns:p14="http://schemas.microsoft.com/office/powerpoint/2010/main" val="3116737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无线网络</a:t>
            </a:r>
            <a:r>
              <a:rPr lang="en-US" altLang="zh-CN" smtClean="0">
                <a:sym typeface="Huawei Sans" panose="020C0503030203020204" pitchFamily="34" charset="0"/>
              </a:rPr>
              <a:t>Telemetry</a:t>
            </a:r>
            <a:r>
              <a:rPr lang="zh-CN" altLang="en-US" smtClean="0">
                <a:sym typeface="Huawei Sans" panose="020C0503030203020204" pitchFamily="34" charset="0"/>
              </a:rPr>
              <a:t>指标监控</a:t>
            </a:r>
            <a:endParaRPr lang="zh-CN" altLang="en-US" dirty="0">
              <a:sym typeface="Huawei Sans" panose="020C0503030203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615424119"/>
              </p:ext>
            </p:extLst>
          </p:nvPr>
        </p:nvGraphicFramePr>
        <p:xfrm>
          <a:off x="455613" y="3869287"/>
          <a:ext cx="5640387" cy="2242879"/>
        </p:xfrm>
        <a:graphic>
          <a:graphicData uri="http://schemas.openxmlformats.org/drawingml/2006/table">
            <a:tbl>
              <a:tblPr/>
              <a:tblGrid>
                <a:gridCol w="900823"/>
                <a:gridCol w="2016618"/>
                <a:gridCol w="1449125"/>
                <a:gridCol w="1273821"/>
              </a:tblGrid>
              <a:tr h="324449">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base">
                        <a:lnSpc>
                          <a:spcPct val="130000"/>
                        </a:lnSpc>
                        <a:spcBef>
                          <a:spcPct val="0"/>
                        </a:spcBef>
                        <a:spcAft>
                          <a:spcPct val="0"/>
                        </a:spcAft>
                      </a:pPr>
                      <a:r>
                        <a:rPr lang="zh-CN" altLang="en-US" sz="1200" b="1" kern="1200" dirty="0">
                          <a:latin typeface="Huawei Sans" panose="020C0503030203020204" pitchFamily="34" charset="0"/>
                          <a:ea typeface="方正兰亭黑简体" panose="02000000000000000000" pitchFamily="2" charset="-122"/>
                          <a:sym typeface="Huawei Sans" panose="020C0503030203020204" pitchFamily="34" charset="0"/>
                        </a:rPr>
                        <a:t>测量对象</a:t>
                      </a:r>
                      <a:endParaRPr lang="zh-CN" altLang="en-US" sz="12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base">
                        <a:lnSpc>
                          <a:spcPct val="130000"/>
                        </a:lnSpc>
                        <a:spcBef>
                          <a:spcPct val="0"/>
                        </a:spcBef>
                        <a:spcAft>
                          <a:spcPct val="0"/>
                        </a:spcAft>
                      </a:pPr>
                      <a:r>
                        <a:rPr lang="zh-CN" altLang="en-US" sz="1200" b="1" kern="1200" dirty="0">
                          <a:latin typeface="Huawei Sans" panose="020C0503030203020204" pitchFamily="34" charset="0"/>
                          <a:ea typeface="方正兰亭黑简体" panose="02000000000000000000" pitchFamily="2" charset="-122"/>
                          <a:sym typeface="Huawei Sans" panose="020C0503030203020204" pitchFamily="34" charset="0"/>
                        </a:rPr>
                        <a:t>测量指标</a:t>
                      </a:r>
                      <a:endParaRPr lang="zh-CN" altLang="en-US" sz="12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base">
                        <a:lnSpc>
                          <a:spcPct val="130000"/>
                        </a:lnSpc>
                        <a:spcBef>
                          <a:spcPct val="0"/>
                        </a:spcBef>
                        <a:spcAft>
                          <a:spcPct val="0"/>
                        </a:spcAft>
                      </a:pPr>
                      <a:r>
                        <a:rPr lang="zh-CN" altLang="en-US" sz="1200" b="1" kern="1200" dirty="0" smtClean="0">
                          <a:latin typeface="Huawei Sans" panose="020C0503030203020204" pitchFamily="34" charset="0"/>
                          <a:ea typeface="方正兰亭黑简体" panose="02000000000000000000" pitchFamily="2" charset="-122"/>
                          <a:sym typeface="Huawei Sans" panose="020C0503030203020204" pitchFamily="34" charset="0"/>
                        </a:rPr>
                        <a:t>支持的设备类型</a:t>
                      </a:r>
                      <a:endParaRPr lang="zh-CN" altLang="en-US" sz="12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base">
                        <a:lnSpc>
                          <a:spcPct val="130000"/>
                        </a:lnSpc>
                        <a:spcBef>
                          <a:spcPct val="0"/>
                        </a:spcBef>
                        <a:spcAft>
                          <a:spcPct val="0"/>
                        </a:spcAft>
                      </a:pPr>
                      <a:r>
                        <a:rPr lang="zh-CN" altLang="en-US" sz="1200" b="1" kern="1200" dirty="0" smtClean="0">
                          <a:latin typeface="Huawei Sans" panose="020C0503030203020204" pitchFamily="34" charset="0"/>
                          <a:ea typeface="方正兰亭黑简体" panose="02000000000000000000" pitchFamily="2" charset="-122"/>
                          <a:sym typeface="Huawei Sans" panose="020C0503030203020204" pitchFamily="34" charset="0"/>
                        </a:rPr>
                        <a:t>默认采样精度</a:t>
                      </a:r>
                      <a:endParaRPr lang="zh-CN" altLang="en-US" sz="12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554313">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a:r>
                        <a:rPr lang="en-US" sz="1200" dirty="0">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利用</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率、内存利用率、在线用户数</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en-US" sz="1200" dirty="0" smtClean="0">
                          <a:latin typeface="Huawei Sans" panose="020C0503030203020204" pitchFamily="34" charset="0"/>
                          <a:ea typeface="方正兰亭黑简体" panose="02000000000000000000" pitchFamily="2" charset="-122"/>
                          <a:sym typeface="Huawei Sans" panose="020C0503030203020204" pitchFamily="34" charset="0"/>
                        </a:rPr>
                        <a:t>AP</a:t>
                      </a:r>
                      <a:endParaRPr 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分钟</a:t>
                      </a:r>
                    </a:p>
                  </a:txBody>
                  <a:tcPr anchor="ctr">
                    <a:lnR w="28575" cap="flat" cmpd="sng" algn="ctr">
                      <a:solidFill>
                        <a:schemeClr val="tx1"/>
                      </a:solidFill>
                      <a:prstDash val="solid"/>
                      <a:round/>
                      <a:headEnd type="none" w="med" len="med"/>
                      <a:tailEnd type="none" w="med" len="med"/>
                    </a:lnR>
                  </a:tcPr>
                </a:tc>
              </a:tr>
              <a:tr h="805069">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zh-CN" altLang="en-US" sz="1200" kern="1200" dirty="0" smtClean="0">
                          <a:latin typeface="Huawei Sans" panose="020C0503030203020204" pitchFamily="34" charset="0"/>
                          <a:ea typeface="方正兰亭黑简体" panose="02000000000000000000" pitchFamily="2" charset="-122"/>
                          <a:sym typeface="Huawei Sans" panose="020C0503030203020204" pitchFamily="34" charset="0"/>
                        </a:rPr>
                        <a:t>射频</a:t>
                      </a:r>
                      <a:endParaRPr lang="zh-CN" altLang="en-US" sz="12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在线用户数、信道利用率、噪声、流量、反压队列、干扰率、功率</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AP</a:t>
                      </a:r>
                      <a:endParaRPr lang="en-US" altLang="zh-CN" sz="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分钟</a:t>
                      </a:r>
                    </a:p>
                  </a:txBody>
                  <a:tcPr anchor="ctr">
                    <a:lnR w="28575" cap="flat" cmpd="sng" algn="ctr">
                      <a:solidFill>
                        <a:schemeClr val="tx1"/>
                      </a:solidFill>
                      <a:prstDash val="solid"/>
                      <a:round/>
                      <a:headEnd type="none" w="med" len="med"/>
                      <a:tailEnd type="none" w="med" len="med"/>
                    </a:lnR>
                  </a:tcPr>
                </a:tc>
              </a:tr>
              <a:tr h="554313">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用户</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RSSI</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、协商速率、丢包率、时延</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AP</a:t>
                      </a:r>
                      <a:endParaRPr lang="en-US" altLang="zh-CN" sz="1200" b="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分钟</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4" name="文本框 3"/>
          <p:cNvSpPr txBox="1"/>
          <p:nvPr/>
        </p:nvSpPr>
        <p:spPr bwMode="gray">
          <a:xfrm>
            <a:off x="455614" y="965596"/>
            <a:ext cx="5640386" cy="1061829"/>
          </a:xfrm>
          <a:prstGeom prst="rect">
            <a:avLst/>
          </a:prstGeom>
          <a:noFill/>
        </p:spPr>
        <p:txBody>
          <a:bodyPr wrap="square" rtlCol="0">
            <a:spAutoFit/>
          </a:bodyPr>
          <a:lstStyle/>
          <a:p>
            <a:pPr defTabSz="914400" fontAlgn="base">
              <a:lnSpc>
                <a:spcPct val="150000"/>
              </a:lnSpc>
              <a:spcBef>
                <a:spcPct val="0"/>
              </a:spcBef>
              <a:spcAft>
                <a:spcPct val="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于</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技术，监控无线侧关键</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指标。从</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、射频、用户三个维度呈现无线侧的网络质量，主动识别弱信号覆盖、高干扰、高信道利用率等空口性能类问题</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文本框 4"/>
          <p:cNvSpPr txBox="1"/>
          <p:nvPr/>
        </p:nvSpPr>
        <p:spPr bwMode="gray">
          <a:xfrm>
            <a:off x="455614" y="2141778"/>
            <a:ext cx="2272080"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实时数据呈现</a:t>
            </a:r>
          </a:p>
        </p:txBody>
      </p:sp>
      <p:sp>
        <p:nvSpPr>
          <p:cNvPr id="6" name="文本框 5"/>
          <p:cNvSpPr txBox="1"/>
          <p:nvPr/>
        </p:nvSpPr>
        <p:spPr bwMode="gray">
          <a:xfrm>
            <a:off x="3386324" y="2141778"/>
            <a:ext cx="2709675"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问题自动识别</a:t>
            </a:r>
          </a:p>
        </p:txBody>
      </p:sp>
      <p:sp>
        <p:nvSpPr>
          <p:cNvPr id="7" name="矩形 6"/>
          <p:cNvSpPr/>
          <p:nvPr/>
        </p:nvSpPr>
        <p:spPr bwMode="gray">
          <a:xfrm>
            <a:off x="455614" y="2524582"/>
            <a:ext cx="2272080" cy="748207"/>
          </a:xfrm>
          <a:prstGeom prst="rect">
            <a:avLst/>
          </a:prstGeom>
          <a:solidFill>
            <a:srgbClr val="EFFAFB"/>
          </a:solidFill>
        </p:spPr>
        <p:txBody>
          <a:bodyPr wrap="square">
            <a:noAutofit/>
          </a:bodyPr>
          <a:lstStyle/>
          <a:p>
            <a:pPr marL="0" marR="0" lvl="0" indent="0" defTabSz="914400" eaLnBrk="1" fontAlgn="base" latinLnBrk="0" hangingPunct="1">
              <a:lnSpc>
                <a:spcPts val="2400"/>
              </a:lnSpc>
              <a:spcBef>
                <a:spcPct val="0"/>
              </a:spcBef>
              <a:spcAft>
                <a:spcPct val="0"/>
              </a:spcAft>
              <a:buClrTx/>
              <a:buSzTx/>
              <a:buFontTx/>
              <a:buNone/>
              <a:tabLst/>
              <a:defRPr/>
            </a:pP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支持呈现无线侧关键</a:t>
            </a:r>
            <a:r>
              <a:rPr kumimoji="0" lang="en-US" altLang="zh-CN"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KPI</a:t>
            </a: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指标，并标识异常指标状态。</a:t>
            </a:r>
            <a:endParaRPr kumimoji="0" lang="en-US" altLang="zh-CN"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矩形 7"/>
          <p:cNvSpPr/>
          <p:nvPr/>
        </p:nvSpPr>
        <p:spPr bwMode="gray">
          <a:xfrm>
            <a:off x="3386326" y="2524582"/>
            <a:ext cx="2709674" cy="748207"/>
          </a:xfrm>
          <a:prstGeom prst="rect">
            <a:avLst/>
          </a:prstGeom>
          <a:solidFill>
            <a:srgbClr val="EFFAFB"/>
          </a:solidFill>
        </p:spPr>
        <p:txBody>
          <a:bodyPr wrap="square">
            <a:noAutofit/>
          </a:bodyPr>
          <a:lstStyle/>
          <a:p>
            <a:pPr marL="0" marR="0" lvl="0" indent="0" defTabSz="914400" eaLnBrk="1" fontAlgn="base" latinLnBrk="0" hangingPunct="1">
              <a:lnSpc>
                <a:spcPts val="2400"/>
              </a:lnSpc>
              <a:spcBef>
                <a:spcPct val="0"/>
              </a:spcBef>
              <a:spcAft>
                <a:spcPct val="0"/>
              </a:spcAft>
              <a:buClrTx/>
              <a:buSzTx/>
              <a:buFontTx/>
              <a:buNone/>
              <a:tabLst/>
              <a:defRPr/>
            </a:pP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结合</a:t>
            </a:r>
            <a:r>
              <a:rPr kumimoji="0" lang="en-US" altLang="zh-CN" sz="1400" b="0"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400" b="0"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算法、相关性分析、异常模式</a:t>
            </a:r>
            <a:r>
              <a:rPr kumimoji="0" lang="zh-CN" altLang="en-US"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等自动识别空口性能类问题。</a:t>
            </a:r>
            <a:endParaRPr kumimoji="0" lang="zh-CN" altLang="en-US" sz="11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圆角矩形 99"/>
          <p:cNvSpPr/>
          <p:nvPr/>
        </p:nvSpPr>
        <p:spPr bwMode="gray">
          <a:xfrm>
            <a:off x="455614" y="3437239"/>
            <a:ext cx="5640388" cy="360000"/>
          </a:xfrm>
          <a:prstGeom prst="roundRect">
            <a:avLst>
              <a:gd name="adj" fmla="val 0"/>
            </a:avLst>
          </a:prstGeom>
          <a:solidFill>
            <a:sysClr val="window" lastClr="FFFFFF">
              <a:lumMod val="50000"/>
            </a:sysClr>
          </a:solidFill>
          <a:ln w="3175">
            <a:noFill/>
            <a:miter lim="400000"/>
          </a:ln>
        </p:spPr>
        <p:txBody>
          <a:bodyPr lIns="37628" tIns="37628" rIns="37628" bIns="37628" anchor="ctr"/>
          <a:lstStyle/>
          <a:p>
            <a:pPr algn="ctr" defTabSz="914400">
              <a:defRPr>
                <a:latin typeface="Arial"/>
                <a:ea typeface="Arial"/>
                <a:cs typeface="Arial"/>
                <a:sym typeface="Arial"/>
              </a:defRPr>
            </a:pPr>
            <a:r>
              <a:rPr lang="zh-CN" altLang="en-US"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a:t>
            </a:r>
            <a:r>
              <a:rPr lang="en-US" altLang="zh-CN"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 Metrics</a:t>
            </a:r>
            <a:r>
              <a:rPr lang="zh-CN" altLang="en-US" sz="1400" b="1" kern="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采集</a:t>
            </a:r>
            <a:endParaRPr lang="zh-CN" altLang="zh-CN"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8" name="图片 17"/>
          <p:cNvPicPr>
            <a:picLocks noChangeAspect="1"/>
          </p:cNvPicPr>
          <p:nvPr/>
        </p:nvPicPr>
        <p:blipFill rotWithShape="1">
          <a:blip r:embed="rId3"/>
          <a:srcRect l="-2" t="1" r="54047" b="47828"/>
          <a:stretch/>
        </p:blipFill>
        <p:spPr bwMode="invGray">
          <a:xfrm>
            <a:off x="6240016" y="981878"/>
            <a:ext cx="5454680" cy="2475697"/>
          </a:xfrm>
          <a:prstGeom prst="rect">
            <a:avLst/>
          </a:prstGeom>
        </p:spPr>
      </p:pic>
      <p:pic>
        <p:nvPicPr>
          <p:cNvPr id="19" name="图片 18"/>
          <p:cNvPicPr>
            <a:picLocks noChangeAspect="1"/>
          </p:cNvPicPr>
          <p:nvPr/>
        </p:nvPicPr>
        <p:blipFill rotWithShape="1">
          <a:blip r:embed="rId4"/>
          <a:srcRect t="24626" r="14396"/>
          <a:stretch/>
        </p:blipFill>
        <p:spPr bwMode="invGray">
          <a:xfrm>
            <a:off x="6240015" y="3676650"/>
            <a:ext cx="5466210" cy="2475140"/>
          </a:xfrm>
          <a:prstGeom prst="rect">
            <a:avLst/>
          </a:prstGeom>
        </p:spPr>
      </p:pic>
      <p:sp>
        <p:nvSpPr>
          <p:cNvPr id="12" name="文本框 11"/>
          <p:cNvSpPr txBox="1"/>
          <p:nvPr/>
        </p:nvSpPr>
        <p:spPr bwMode="gray">
          <a:xfrm>
            <a:off x="10577268" y="1050847"/>
            <a:ext cx="1119432" cy="276999"/>
          </a:xfrm>
          <a:prstGeom prst="rect">
            <a:avLst/>
          </a:prstGeom>
          <a:solidFill>
            <a:schemeClr val="bg1">
              <a:lumMod val="50000"/>
            </a:schemeClr>
          </a:solidFill>
        </p:spPr>
        <p:txBody>
          <a:bodyPr wrap="square" rtlCol="0">
            <a:spAutoFit/>
          </a:bodyPr>
          <a:lstStyle/>
          <a:p>
            <a:pPr defTabSz="914400" fontAlgn="base">
              <a:spcBef>
                <a:spcPct val="0"/>
              </a:spcBef>
              <a:spcAft>
                <a:spcPct val="0"/>
              </a:spcAft>
            </a:pPr>
            <a:r>
              <a:rPr lang="zh-CN" altLang="en-US" sz="12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实时数据呈现</a:t>
            </a:r>
            <a:endParaRPr lang="en-US" altLang="zh-CN" sz="120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文本框 12"/>
          <p:cNvSpPr txBox="1"/>
          <p:nvPr/>
        </p:nvSpPr>
        <p:spPr bwMode="gray">
          <a:xfrm>
            <a:off x="10577268" y="3705225"/>
            <a:ext cx="1119432" cy="276999"/>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400">
                <a:solidFill>
                  <a:prstClr val="white"/>
                </a:solidFill>
                <a:cs typeface="+mn-ea"/>
              </a:defRPr>
            </a:lvl1p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问题自动识别</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995262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有线网络</a:t>
            </a:r>
            <a:r>
              <a:rPr lang="en-US" altLang="zh-CN" smtClean="0">
                <a:sym typeface="Huawei Sans" panose="020C0503030203020204" pitchFamily="34" charset="0"/>
              </a:rPr>
              <a:t>Telemetry</a:t>
            </a:r>
            <a:r>
              <a:rPr lang="zh-CN" altLang="en-US" smtClean="0">
                <a:sym typeface="Huawei Sans" panose="020C0503030203020204" pitchFamily="34" charset="0"/>
              </a:rPr>
              <a:t>指标监控</a:t>
            </a:r>
            <a:endParaRPr lang="zh-CN" altLang="en-US" dirty="0">
              <a:sym typeface="Huawei Sans" panose="020C0503030203020204" pitchFamily="34" charset="0"/>
            </a:endParaRPr>
          </a:p>
        </p:txBody>
      </p:sp>
      <p:sp>
        <p:nvSpPr>
          <p:cNvPr id="6" name="文本框 5"/>
          <p:cNvSpPr txBox="1"/>
          <p:nvPr/>
        </p:nvSpPr>
        <p:spPr bwMode="gray">
          <a:xfrm>
            <a:off x="455614" y="988456"/>
            <a:ext cx="5640385" cy="705642"/>
          </a:xfrm>
          <a:prstGeom prst="rect">
            <a:avLst/>
          </a:prstGeom>
          <a:noFill/>
        </p:spPr>
        <p:txBody>
          <a:bodyPr wrap="square" rtlCol="0">
            <a:spAutoFit/>
          </a:bodyPr>
          <a:lstStyle/>
          <a:p>
            <a:pPr defTabSz="914400" fontAlgn="base">
              <a:lnSpc>
                <a:spcPct val="150000"/>
              </a:lnSpc>
              <a:spcBef>
                <a:spcPct val="0"/>
              </a:spcBef>
              <a:spcAft>
                <a:spcPct val="0"/>
              </a:spcAft>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分析有线网络设备</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特性采集的设备、接口等性能</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Metrics</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数据，主动监控、预测网络异常。</a:t>
            </a:r>
          </a:p>
        </p:txBody>
      </p:sp>
      <p:sp>
        <p:nvSpPr>
          <p:cNvPr id="9" name="矩形 8"/>
          <p:cNvSpPr/>
          <p:nvPr/>
        </p:nvSpPr>
        <p:spPr bwMode="gray">
          <a:xfrm>
            <a:off x="470571" y="2206707"/>
            <a:ext cx="2168934" cy="1007335"/>
          </a:xfrm>
          <a:prstGeom prst="rect">
            <a:avLst/>
          </a:prstGeom>
          <a:solidFill>
            <a:srgbClr val="EFFAFB"/>
          </a:solidFill>
        </p:spPr>
        <p:txBody>
          <a:bodyPr wrap="square">
            <a:noAutofit/>
          </a:bodyPr>
          <a:lstStyle/>
          <a:p>
            <a:pPr lvl="0" defTabSz="914400" fontAlgn="base">
              <a:lnSpc>
                <a:spcPts val="2400"/>
              </a:lnSpc>
              <a:spcBef>
                <a:spcPct val="0"/>
              </a:spcBef>
              <a:spcAft>
                <a:spcPct val="0"/>
              </a:spcAft>
              <a:defRPr/>
            </a:pP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支持有线侧关键指标实时呈现，包含</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Top N</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、历史趋势等多种呈现方式</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矩形 9"/>
          <p:cNvSpPr/>
          <p:nvPr/>
        </p:nvSpPr>
        <p:spPr bwMode="gray">
          <a:xfrm>
            <a:off x="2705493" y="2206707"/>
            <a:ext cx="3390507" cy="1007335"/>
          </a:xfrm>
          <a:prstGeom prst="rect">
            <a:avLst/>
          </a:prstGeom>
          <a:solidFill>
            <a:srgbClr val="EFFAFB"/>
          </a:solidFill>
        </p:spPr>
        <p:txBody>
          <a:bodyPr wrap="square">
            <a:noAutofit/>
          </a:bodyPr>
          <a:lstStyle/>
          <a:p>
            <a:pPr lvl="0" defTabSz="914400" fontAlgn="base">
              <a:lnSpc>
                <a:spcPts val="2400"/>
              </a:lnSpc>
              <a:spcBef>
                <a:spcPct val="0"/>
              </a:spcBef>
              <a:spcAft>
                <a:spcPct val="0"/>
              </a:spcAft>
              <a:defRPr/>
            </a:pP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算法对</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设备的</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内存利用率等指标进行基线预测。通过和动态基线的对比，在业务中断前识别网络指标的劣化。</a:t>
            </a:r>
          </a:p>
        </p:txBody>
      </p:sp>
      <p:sp>
        <p:nvSpPr>
          <p:cNvPr id="11" name="圆角矩形 99"/>
          <p:cNvSpPr/>
          <p:nvPr/>
        </p:nvSpPr>
        <p:spPr bwMode="gray">
          <a:xfrm>
            <a:off x="455614" y="3441244"/>
            <a:ext cx="5640386" cy="360000"/>
          </a:xfrm>
          <a:prstGeom prst="roundRect">
            <a:avLst>
              <a:gd name="adj" fmla="val 0"/>
            </a:avLst>
          </a:prstGeom>
          <a:solidFill>
            <a:sysClr val="window" lastClr="FFFFFF">
              <a:lumMod val="50000"/>
            </a:sysClr>
          </a:solidFill>
          <a:ln w="3175">
            <a:noFill/>
            <a:miter lim="400000"/>
          </a:ln>
        </p:spPr>
        <p:txBody>
          <a:bodyPr lIns="37628" tIns="37628" rIns="37628" bIns="37628" anchor="ctr"/>
          <a:lstStyle/>
          <a:p>
            <a:pPr algn="ctr" defTabSz="914400">
              <a:defRPr>
                <a:latin typeface="Arial"/>
                <a:ea typeface="Arial"/>
                <a:cs typeface="Arial"/>
                <a:sym typeface="Arial"/>
              </a:defRPr>
            </a:pPr>
            <a:r>
              <a:rPr lang="zh-CN" altLang="en-US"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有线网络</a:t>
            </a:r>
            <a:r>
              <a:rPr lang="en-US" altLang="zh-CN"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 Metrics</a:t>
            </a:r>
            <a:r>
              <a:rPr lang="zh-CN" altLang="en-US" sz="1400" b="1"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采集</a:t>
            </a:r>
          </a:p>
        </p:txBody>
      </p:sp>
      <p:graphicFrame>
        <p:nvGraphicFramePr>
          <p:cNvPr id="14" name="表格 13"/>
          <p:cNvGraphicFramePr>
            <a:graphicFrameLocks noGrp="1"/>
          </p:cNvGraphicFramePr>
          <p:nvPr>
            <p:extLst>
              <p:ext uri="{D42A27DB-BD31-4B8C-83A1-F6EECF244321}">
                <p14:modId xmlns:p14="http://schemas.microsoft.com/office/powerpoint/2010/main" val="4027685503"/>
              </p:ext>
            </p:extLst>
          </p:nvPr>
        </p:nvGraphicFramePr>
        <p:xfrm>
          <a:off x="455612" y="3881392"/>
          <a:ext cx="5640388" cy="2013489"/>
        </p:xfrm>
        <a:graphic>
          <a:graphicData uri="http://schemas.openxmlformats.org/drawingml/2006/table">
            <a:tbl>
              <a:tblPr/>
              <a:tblGrid>
                <a:gridCol w="896101"/>
                <a:gridCol w="1905837"/>
                <a:gridCol w="1447800"/>
                <a:gridCol w="1390650"/>
              </a:tblGrid>
              <a:tr h="404858">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b="1" kern="1200" baseline="0" dirty="0">
                          <a:latin typeface="Huawei Sans" panose="020C0503030203020204" pitchFamily="34" charset="0"/>
                          <a:ea typeface="方正兰亭黑简体" panose="02000000000000000000" pitchFamily="2" charset="-122"/>
                          <a:sym typeface="Huawei Sans" panose="020C0503030203020204" pitchFamily="34" charset="0"/>
                        </a:rPr>
                        <a:t>测量对象</a:t>
                      </a:r>
                      <a:endParaRPr lang="zh-CN" altLang="en-US" sz="1200" b="1"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b="1" kern="1200" baseline="0" dirty="0">
                          <a:latin typeface="Huawei Sans" panose="020C0503030203020204" pitchFamily="34" charset="0"/>
                          <a:ea typeface="方正兰亭黑简体" panose="02000000000000000000" pitchFamily="2" charset="-122"/>
                          <a:sym typeface="Huawei Sans" panose="020C0503030203020204" pitchFamily="34" charset="0"/>
                        </a:rPr>
                        <a:t>测量指标</a:t>
                      </a:r>
                      <a:endParaRPr lang="zh-CN" altLang="en-US" sz="1200" b="1"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b="1"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支持的设备类型</a:t>
                      </a:r>
                      <a:endParaRPr lang="zh-CN" altLang="en-US" sz="1200" b="1"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b="1"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默认采样精度</a:t>
                      </a:r>
                      <a:endParaRPr lang="zh-CN" altLang="en-US" sz="1200" b="1"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45994">
                <a:tc rowSpan="2">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kern="1200" baseline="0">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200" kern="1200" baseline="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1200" baseline="0">
                          <a:latin typeface="Huawei Sans" panose="020C0503030203020204" pitchFamily="34" charset="0"/>
                          <a:ea typeface="方正兰亭黑简体" panose="02000000000000000000" pitchFamily="2" charset="-122"/>
                          <a:sym typeface="Huawei Sans" panose="020C0503030203020204" pitchFamily="34" charset="0"/>
                        </a:rPr>
                        <a:t>单板</a:t>
                      </a:r>
                      <a:endParaRPr lang="zh-CN" altLang="en-US" sz="1200" kern="1200" baseline="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利用率</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AC</a:t>
                      </a:r>
                      <a:endParaRPr 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分钟</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66275">
                <a:tc vMerge="1">
                  <a:txBody>
                    <a:bodyPr/>
                    <a:lstStyle/>
                    <a:p>
                      <a:endParaRPr lang="en-US"/>
                    </a:p>
                  </a:txBody>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内存利用率</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ctr" defTabSz="1218956" rtl="0" eaLnBrk="1" fontAlgn="base" latinLnBrk="0" hangingPunct="1">
                        <a:lnSpc>
                          <a:spcPct val="130000"/>
                        </a:lnSpc>
                        <a:spcBef>
                          <a:spcPct val="0"/>
                        </a:spcBef>
                        <a:spcAft>
                          <a:spcPct val="0"/>
                        </a:spcAft>
                        <a:buClrTx/>
                        <a:buSzTx/>
                        <a:buFontTx/>
                        <a:buNone/>
                        <a:tabLst/>
                        <a:defRPr/>
                      </a:pPr>
                      <a:r>
                        <a:rPr lang="zh-CN" altLang="en-US"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AC</a:t>
                      </a:r>
                      <a:endParaRPr lang="en-US" altLang="zh-CN" sz="1200" kern="1200" baseline="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分钟</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896362">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zh-CN" alt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接口</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218956" rtl="0" eaLnBrk="1" fontAlgn="base" latinLnBrk="0" hangingPunct="1">
                        <a:lnSpc>
                          <a:spcPct val="130000"/>
                        </a:lnSpc>
                        <a:spcBef>
                          <a:spcPct val="0"/>
                        </a:spcBef>
                        <a:spcAft>
                          <a:spcPct val="0"/>
                        </a:spcAft>
                        <a:buClrTx/>
                        <a:buSzTx/>
                        <a:buFontTx/>
                        <a:buNone/>
                        <a:tabLst/>
                        <a:defRPr/>
                      </a:pPr>
                      <a:r>
                        <a:rPr lang="zh-CN" altLang="en-US"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广播、组播及单播报文的收、发包数量；收、发丢包数；收、发错包数等</a:t>
                      </a:r>
                      <a:endParaRPr lang="zh-CN" altLang="en-US" sz="1200" kern="1200" baseline="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ctr" defTabSz="1218956" rtl="0" eaLnBrk="1" fontAlgn="base" latinLnBrk="0" hangingPunct="1">
                        <a:lnSpc>
                          <a:spcPct val="130000"/>
                        </a:lnSpc>
                        <a:spcBef>
                          <a:spcPct val="0"/>
                        </a:spcBef>
                        <a:spcAft>
                          <a:spcPct val="0"/>
                        </a:spcAft>
                        <a:buClrTx/>
                        <a:buSzTx/>
                        <a:buFontTx/>
                        <a:buNone/>
                        <a:tabLst/>
                        <a:defRPr/>
                      </a:pPr>
                      <a:r>
                        <a:rPr lang="zh-CN" altLang="en-US"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200" kern="1200" baseline="0" dirty="0" smtClean="0">
                          <a:latin typeface="Huawei Sans" panose="020C0503030203020204" pitchFamily="34" charset="0"/>
                          <a:ea typeface="方正兰亭黑简体" panose="02000000000000000000" pitchFamily="2" charset="-122"/>
                          <a:sym typeface="Huawei Sans" panose="020C0503030203020204" pitchFamily="34" charset="0"/>
                        </a:rPr>
                        <a:t>AC</a:t>
                      </a:r>
                      <a:endParaRPr lang="en-US" altLang="zh-CN" sz="1200" kern="1200" baseline="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algn="ctr" defTabSz="1218956" rtl="0" eaLnBrk="1" fontAlgn="base" latinLnBrk="0" hangingPunct="1">
                        <a:lnSpc>
                          <a:spcPct val="130000"/>
                        </a:lnSpc>
                        <a:spcBef>
                          <a:spcPct val="0"/>
                        </a:spcBef>
                        <a:spcAft>
                          <a:spcPct val="0"/>
                        </a:spcAft>
                      </a:pPr>
                      <a:r>
                        <a:rPr lang="en-US" altLang="zh-CN" sz="1200" kern="1200" baseline="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kern="1200" baseline="0" dirty="0">
                          <a:latin typeface="Huawei Sans" panose="020C0503030203020204" pitchFamily="34" charset="0"/>
                          <a:ea typeface="方正兰亭黑简体" panose="02000000000000000000" pitchFamily="2" charset="-122"/>
                          <a:sym typeface="Huawei Sans" panose="020C0503030203020204" pitchFamily="34" charset="0"/>
                        </a:rPr>
                        <a:t>分钟</a:t>
                      </a:r>
                      <a:endParaRPr lang="zh-CN" altLang="en-US" sz="1200" kern="1200" baseline="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pic>
        <p:nvPicPr>
          <p:cNvPr id="18" name="图片 17"/>
          <p:cNvPicPr>
            <a:picLocks noChangeAspect="1"/>
          </p:cNvPicPr>
          <p:nvPr/>
        </p:nvPicPr>
        <p:blipFill>
          <a:blip r:embed="rId3"/>
          <a:stretch>
            <a:fillRect/>
          </a:stretch>
        </p:blipFill>
        <p:spPr bwMode="invGray">
          <a:xfrm>
            <a:off x="6309357" y="3507220"/>
            <a:ext cx="5112767" cy="2560157"/>
          </a:xfrm>
          <a:prstGeom prst="rect">
            <a:avLst/>
          </a:prstGeom>
        </p:spPr>
      </p:pic>
      <p:sp>
        <p:nvSpPr>
          <p:cNvPr id="20" name="矩形 19"/>
          <p:cNvSpPr/>
          <p:nvPr/>
        </p:nvSpPr>
        <p:spPr bwMode="invGray">
          <a:xfrm>
            <a:off x="6309356" y="5579718"/>
            <a:ext cx="5112767" cy="487659"/>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en-US" sz="12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矩形 21"/>
          <p:cNvSpPr/>
          <p:nvPr/>
        </p:nvSpPr>
        <p:spPr bwMode="gray">
          <a:xfrm>
            <a:off x="6408235" y="3952580"/>
            <a:ext cx="1187425" cy="936819"/>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en-US" sz="12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3" name="图片 22"/>
          <p:cNvPicPr>
            <a:picLocks noChangeAspect="1"/>
          </p:cNvPicPr>
          <p:nvPr/>
        </p:nvPicPr>
        <p:blipFill>
          <a:blip r:embed="rId4"/>
          <a:stretch>
            <a:fillRect/>
          </a:stretch>
        </p:blipFill>
        <p:spPr bwMode="invGray">
          <a:xfrm>
            <a:off x="6309355" y="1055097"/>
            <a:ext cx="5112768" cy="2373903"/>
          </a:xfrm>
          <a:prstGeom prst="rect">
            <a:avLst/>
          </a:prstGeom>
        </p:spPr>
      </p:pic>
      <p:sp>
        <p:nvSpPr>
          <p:cNvPr id="12" name="文本框 11"/>
          <p:cNvSpPr txBox="1"/>
          <p:nvPr/>
        </p:nvSpPr>
        <p:spPr bwMode="gray">
          <a:xfrm>
            <a:off x="8167119" y="1496382"/>
            <a:ext cx="1434081" cy="276999"/>
          </a:xfrm>
          <a:prstGeom prst="rect">
            <a:avLst/>
          </a:prstGeom>
          <a:solidFill>
            <a:schemeClr val="bg1">
              <a:lumMod val="50000"/>
            </a:schemeClr>
          </a:solidFill>
        </p:spPr>
        <p:txBody>
          <a:bodyPr wrap="square" rtlCol="0">
            <a:spAutoFit/>
          </a:bodyPr>
          <a:lstStyle/>
          <a:p>
            <a:pPr defTabSz="914400" fontAlgn="base">
              <a:spcBef>
                <a:spcPct val="0"/>
              </a:spcBef>
              <a:spcAft>
                <a:spcPct val="0"/>
              </a:spcAft>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指标多种呈现方式</a:t>
            </a:r>
          </a:p>
        </p:txBody>
      </p:sp>
      <p:sp>
        <p:nvSpPr>
          <p:cNvPr id="13" name="文本框 12"/>
          <p:cNvSpPr txBox="1"/>
          <p:nvPr/>
        </p:nvSpPr>
        <p:spPr bwMode="gray">
          <a:xfrm>
            <a:off x="7408847" y="3662744"/>
            <a:ext cx="1563703" cy="276999"/>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400">
                <a:solidFill>
                  <a:prstClr val="white"/>
                </a:solidFill>
                <a:cs typeface="+mn-ea"/>
              </a:defRPr>
            </a:lvl1pPr>
          </a:lstStyle>
          <a:p>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识别指标异常的设备</a:t>
            </a:r>
          </a:p>
        </p:txBody>
      </p:sp>
      <p:sp>
        <p:nvSpPr>
          <p:cNvPr id="15" name="文本框 14"/>
          <p:cNvSpPr txBox="1"/>
          <p:nvPr/>
        </p:nvSpPr>
        <p:spPr bwMode="gray">
          <a:xfrm>
            <a:off x="7408847" y="5059127"/>
            <a:ext cx="2039953" cy="461665"/>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400">
                <a:solidFill>
                  <a:prstClr val="white"/>
                </a:solidFill>
                <a:cs typeface="+mn-ea"/>
              </a:defRPr>
            </a:lvl1pPr>
          </a:lstStyle>
          <a:p>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Benchmark</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，对比基线指标趋势，识别异常指标</a:t>
            </a:r>
          </a:p>
        </p:txBody>
      </p:sp>
      <p:sp>
        <p:nvSpPr>
          <p:cNvPr id="7" name="文本框 6"/>
          <p:cNvSpPr txBox="1"/>
          <p:nvPr/>
        </p:nvSpPr>
        <p:spPr bwMode="gray">
          <a:xfrm>
            <a:off x="455614" y="1885324"/>
            <a:ext cx="2184376" cy="310519"/>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关键指标实时呈现</a:t>
            </a:r>
          </a:p>
        </p:txBody>
      </p:sp>
      <p:sp>
        <p:nvSpPr>
          <p:cNvPr id="8" name="文本框 7"/>
          <p:cNvSpPr txBox="1"/>
          <p:nvPr/>
        </p:nvSpPr>
        <p:spPr bwMode="gray">
          <a:xfrm>
            <a:off x="2705493" y="1888263"/>
            <a:ext cx="3390507" cy="30464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基于动态基线的异常检测</a:t>
            </a:r>
          </a:p>
        </p:txBody>
      </p:sp>
    </p:spTree>
    <p:extLst>
      <p:ext uri="{BB962C8B-B14F-4D97-AF65-F5344CB8AC3E}">
        <p14:creationId xmlns:p14="http://schemas.microsoft.com/office/powerpoint/2010/main" val="40017429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CampusInsight</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CampusInsight</a:t>
            </a:r>
            <a:r>
              <a:rPr lang="zh-CN" altLang="en-US" b="1" dirty="0" smtClean="0">
                <a:sym typeface="Huawei Sans" panose="020C0503030203020204" pitchFamily="34" charset="0"/>
              </a:rPr>
              <a:t>功能与演示</a:t>
            </a:r>
            <a:endParaRPr lang="en-US" altLang="zh-CN" b="1" dirty="0" smtClean="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Telemetry</a:t>
            </a:r>
          </a:p>
          <a:p>
            <a:pPr lvl="1">
              <a:buSzPct val="60000"/>
              <a:buFont typeface="Wingdings" panose="05000000000000000000" pitchFamily="2" charset="2"/>
              <a:buChar char="n"/>
            </a:pPr>
            <a:r>
              <a:rPr lang="zh-CN" altLang="en-US" dirty="0">
                <a:sym typeface="Huawei Sans" panose="020C0503030203020204" pitchFamily="34" charset="0"/>
              </a:rPr>
              <a:t>可视</a:t>
            </a:r>
            <a:endParaRPr lang="en-US" altLang="zh-CN" dirty="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分析</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调优</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保障</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3759155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sym typeface="Huawei Sans" panose="020C0503030203020204" pitchFamily="34" charset="0"/>
              </a:rPr>
              <a:t>园区网络健康度</a:t>
            </a:r>
            <a:r>
              <a:rPr lang="zh-CN" altLang="en-US" dirty="0">
                <a:sym typeface="Huawei Sans" panose="020C0503030203020204" pitchFamily="34" charset="0"/>
              </a:rPr>
              <a:t>：</a:t>
            </a:r>
            <a:r>
              <a:rPr lang="zh-CN" altLang="en-US" dirty="0" smtClean="0">
                <a:sym typeface="Huawei Sans" panose="020C0503030203020204" pitchFamily="34" charset="0"/>
              </a:rPr>
              <a:t>直观</a:t>
            </a:r>
            <a:r>
              <a:rPr lang="zh-CN" altLang="en-US" dirty="0">
                <a:sym typeface="Huawei Sans" panose="020C0503030203020204" pitchFamily="34" charset="0"/>
              </a:rPr>
              <a:t>感知网络</a:t>
            </a:r>
            <a:r>
              <a:rPr lang="zh-CN" altLang="en-US" dirty="0" smtClean="0">
                <a:sym typeface="Huawei Sans" panose="020C0503030203020204" pitchFamily="34" charset="0"/>
              </a:rPr>
              <a:t>质量</a:t>
            </a:r>
            <a:endParaRPr lang="zh-CN" altLang="en-US" dirty="0">
              <a:sym typeface="Huawei Sans" panose="020C0503030203020204" pitchFamily="34" charset="0"/>
            </a:endParaRPr>
          </a:p>
        </p:txBody>
      </p:sp>
      <p:sp>
        <p:nvSpPr>
          <p:cNvPr id="151" name="矩形 150"/>
          <p:cNvSpPr/>
          <p:nvPr/>
        </p:nvSpPr>
        <p:spPr bwMode="gray">
          <a:xfrm>
            <a:off x="7291725" y="1520145"/>
            <a:ext cx="3253712" cy="1080000"/>
          </a:xfrm>
          <a:prstGeom prst="rect">
            <a:avLst/>
          </a:prstGeom>
          <a:solidFill>
            <a:srgbClr val="D7F2F5"/>
          </a:solidFill>
          <a:ln w="12700" cap="flat" cmpd="sng" algn="ctr">
            <a:noFill/>
            <a:prstDash val="solid"/>
            <a:miter lim="800000"/>
          </a:ln>
          <a:effectLst/>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097252">
              <a:defRPr/>
            </a:pPr>
            <a:endParaRPr lang="zh-CN" altLang="en-US" sz="132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 name="矩形 151"/>
          <p:cNvSpPr/>
          <p:nvPr/>
        </p:nvSpPr>
        <p:spPr bwMode="gray">
          <a:xfrm>
            <a:off x="1658757" y="1520145"/>
            <a:ext cx="3253712" cy="1080000"/>
          </a:xfrm>
          <a:prstGeom prst="rect">
            <a:avLst/>
          </a:prstGeom>
          <a:solidFill>
            <a:srgbClr val="D7F2F5"/>
          </a:solidFill>
          <a:ln w="12700" cap="flat" cmpd="sng" algn="ctr">
            <a:noFill/>
            <a:prstDash val="solid"/>
            <a:miter lim="800000"/>
          </a:ln>
          <a:effectLst/>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097252">
              <a:defRPr/>
            </a:pPr>
            <a:endParaRPr lang="zh-CN" altLang="en-US" sz="1320" ker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53" name="组合 149"/>
          <p:cNvGrpSpPr>
            <a:grpSpLocks/>
          </p:cNvGrpSpPr>
          <p:nvPr/>
        </p:nvGrpSpPr>
        <p:grpSpPr bwMode="gray">
          <a:xfrm rot="5400000">
            <a:off x="5271570" y="-75023"/>
            <a:ext cx="1743499" cy="4998149"/>
            <a:chOff x="10204861" y="371793"/>
            <a:chExt cx="1034636" cy="1870710"/>
          </a:xfrm>
        </p:grpSpPr>
        <p:sp>
          <p:nvSpPr>
            <p:cNvPr id="154" name="Freeform 6"/>
            <p:cNvSpPr>
              <a:spLocks/>
            </p:cNvSpPr>
            <p:nvPr/>
          </p:nvSpPr>
          <p:spPr bwMode="gray">
            <a:xfrm rot="10800000">
              <a:off x="10204861" y="371793"/>
              <a:ext cx="1019397" cy="1870710"/>
            </a:xfrm>
            <a:custGeom>
              <a:avLst/>
              <a:gdLst/>
              <a:ahLst/>
              <a:cxnLst>
                <a:cxn ang="0">
                  <a:pos x="0" y="0"/>
                </a:cxn>
                <a:cxn ang="0">
                  <a:pos x="20" y="36"/>
                </a:cxn>
                <a:cxn ang="0">
                  <a:pos x="67" y="105"/>
                </a:cxn>
                <a:cxn ang="0">
                  <a:pos x="120" y="172"/>
                </a:cxn>
                <a:cxn ang="0">
                  <a:pos x="180" y="238"/>
                </a:cxn>
                <a:cxn ang="0">
                  <a:pos x="244" y="300"/>
                </a:cxn>
                <a:cxn ang="0">
                  <a:pos x="316" y="363"/>
                </a:cxn>
                <a:cxn ang="0">
                  <a:pos x="391" y="421"/>
                </a:cxn>
                <a:cxn ang="0">
                  <a:pos x="471" y="479"/>
                </a:cxn>
                <a:cxn ang="0">
                  <a:pos x="596" y="560"/>
                </a:cxn>
                <a:cxn ang="0">
                  <a:pos x="773" y="662"/>
                </a:cxn>
                <a:cxn ang="0">
                  <a:pos x="957" y="754"/>
                </a:cxn>
                <a:cxn ang="0">
                  <a:pos x="1142" y="839"/>
                </a:cxn>
                <a:cxn ang="0">
                  <a:pos x="1325" y="914"/>
                </a:cxn>
                <a:cxn ang="0">
                  <a:pos x="1500" y="979"/>
                </a:cxn>
                <a:cxn ang="0">
                  <a:pos x="1664" y="1037"/>
                </a:cxn>
                <a:cxn ang="0">
                  <a:pos x="1878" y="1106"/>
                </a:cxn>
                <a:cxn ang="0">
                  <a:pos x="2081" y="1164"/>
                </a:cxn>
                <a:cxn ang="0">
                  <a:pos x="2158" y="1183"/>
                </a:cxn>
                <a:cxn ang="0">
                  <a:pos x="1992" y="1212"/>
                </a:cxn>
                <a:cxn ang="0">
                  <a:pos x="1809" y="1252"/>
                </a:cxn>
                <a:cxn ang="0">
                  <a:pos x="1661" y="1288"/>
                </a:cxn>
                <a:cxn ang="0">
                  <a:pos x="1495" y="1333"/>
                </a:cxn>
                <a:cxn ang="0">
                  <a:pos x="1318" y="1389"/>
                </a:cxn>
                <a:cxn ang="0">
                  <a:pos x="1134" y="1456"/>
                </a:cxn>
                <a:cxn ang="0">
                  <a:pos x="948" y="1533"/>
                </a:cxn>
                <a:cxn ang="0">
                  <a:pos x="765" y="1624"/>
                </a:cxn>
                <a:cxn ang="0">
                  <a:pos x="676" y="1672"/>
                </a:cxn>
                <a:cxn ang="0">
                  <a:pos x="588" y="1726"/>
                </a:cxn>
                <a:cxn ang="0">
                  <a:pos x="504" y="1782"/>
                </a:cxn>
                <a:cxn ang="0">
                  <a:pos x="422" y="1840"/>
                </a:cxn>
                <a:cxn ang="0">
                  <a:pos x="346" y="1904"/>
                </a:cxn>
                <a:cxn ang="0">
                  <a:pos x="274" y="1970"/>
                </a:cxn>
                <a:cxn ang="0">
                  <a:pos x="206" y="2040"/>
                </a:cxn>
                <a:cxn ang="0">
                  <a:pos x="144" y="2114"/>
                </a:cxn>
                <a:cxn ang="0">
                  <a:pos x="89" y="2190"/>
                </a:cxn>
                <a:cxn ang="0">
                  <a:pos x="41" y="2272"/>
                </a:cxn>
                <a:cxn ang="0">
                  <a:pos x="0" y="2356"/>
                </a:cxn>
              </a:cxnLst>
              <a:rect l="0" t="0" r="r" b="b"/>
              <a:pathLst>
                <a:path w="2158" h="2356">
                  <a:moveTo>
                    <a:pt x="0" y="2356"/>
                  </a:moveTo>
                  <a:lnTo>
                    <a:pt x="0" y="0"/>
                  </a:lnTo>
                  <a:lnTo>
                    <a:pt x="0" y="0"/>
                  </a:lnTo>
                  <a:lnTo>
                    <a:pt x="20" y="36"/>
                  </a:lnTo>
                  <a:lnTo>
                    <a:pt x="42" y="70"/>
                  </a:lnTo>
                  <a:lnTo>
                    <a:pt x="67" y="105"/>
                  </a:lnTo>
                  <a:lnTo>
                    <a:pt x="92" y="139"/>
                  </a:lnTo>
                  <a:lnTo>
                    <a:pt x="120" y="172"/>
                  </a:lnTo>
                  <a:lnTo>
                    <a:pt x="149" y="205"/>
                  </a:lnTo>
                  <a:lnTo>
                    <a:pt x="180" y="238"/>
                  </a:lnTo>
                  <a:lnTo>
                    <a:pt x="211" y="269"/>
                  </a:lnTo>
                  <a:lnTo>
                    <a:pt x="244" y="300"/>
                  </a:lnTo>
                  <a:lnTo>
                    <a:pt x="280" y="332"/>
                  </a:lnTo>
                  <a:lnTo>
                    <a:pt x="316" y="363"/>
                  </a:lnTo>
                  <a:lnTo>
                    <a:pt x="352" y="393"/>
                  </a:lnTo>
                  <a:lnTo>
                    <a:pt x="391" y="421"/>
                  </a:lnTo>
                  <a:lnTo>
                    <a:pt x="430" y="451"/>
                  </a:lnTo>
                  <a:lnTo>
                    <a:pt x="471" y="479"/>
                  </a:lnTo>
                  <a:lnTo>
                    <a:pt x="511" y="507"/>
                  </a:lnTo>
                  <a:lnTo>
                    <a:pt x="596" y="560"/>
                  </a:lnTo>
                  <a:lnTo>
                    <a:pt x="683" y="612"/>
                  </a:lnTo>
                  <a:lnTo>
                    <a:pt x="773" y="662"/>
                  </a:lnTo>
                  <a:lnTo>
                    <a:pt x="865" y="709"/>
                  </a:lnTo>
                  <a:lnTo>
                    <a:pt x="957" y="754"/>
                  </a:lnTo>
                  <a:lnTo>
                    <a:pt x="1049" y="798"/>
                  </a:lnTo>
                  <a:lnTo>
                    <a:pt x="1142" y="839"/>
                  </a:lnTo>
                  <a:lnTo>
                    <a:pt x="1234" y="878"/>
                  </a:lnTo>
                  <a:lnTo>
                    <a:pt x="1325" y="914"/>
                  </a:lnTo>
                  <a:lnTo>
                    <a:pt x="1414" y="948"/>
                  </a:lnTo>
                  <a:lnTo>
                    <a:pt x="1500" y="979"/>
                  </a:lnTo>
                  <a:lnTo>
                    <a:pt x="1584" y="1009"/>
                  </a:lnTo>
                  <a:lnTo>
                    <a:pt x="1664" y="1037"/>
                  </a:lnTo>
                  <a:lnTo>
                    <a:pt x="1740" y="1062"/>
                  </a:lnTo>
                  <a:lnTo>
                    <a:pt x="1878" y="1106"/>
                  </a:lnTo>
                  <a:lnTo>
                    <a:pt x="1994" y="1139"/>
                  </a:lnTo>
                  <a:lnTo>
                    <a:pt x="2081" y="1164"/>
                  </a:lnTo>
                  <a:lnTo>
                    <a:pt x="2158" y="1183"/>
                  </a:lnTo>
                  <a:lnTo>
                    <a:pt x="2158" y="1183"/>
                  </a:lnTo>
                  <a:lnTo>
                    <a:pt x="2081" y="1195"/>
                  </a:lnTo>
                  <a:lnTo>
                    <a:pt x="1992" y="1212"/>
                  </a:lnTo>
                  <a:lnTo>
                    <a:pt x="1877" y="1236"/>
                  </a:lnTo>
                  <a:lnTo>
                    <a:pt x="1809" y="1252"/>
                  </a:lnTo>
                  <a:lnTo>
                    <a:pt x="1737" y="1269"/>
                  </a:lnTo>
                  <a:lnTo>
                    <a:pt x="1661" y="1288"/>
                  </a:lnTo>
                  <a:lnTo>
                    <a:pt x="1579" y="1309"/>
                  </a:lnTo>
                  <a:lnTo>
                    <a:pt x="1495" y="1333"/>
                  </a:lnTo>
                  <a:lnTo>
                    <a:pt x="1407" y="1361"/>
                  </a:lnTo>
                  <a:lnTo>
                    <a:pt x="1318" y="1389"/>
                  </a:lnTo>
                  <a:lnTo>
                    <a:pt x="1226" y="1422"/>
                  </a:lnTo>
                  <a:lnTo>
                    <a:pt x="1134" y="1456"/>
                  </a:lnTo>
                  <a:lnTo>
                    <a:pt x="1041" y="1494"/>
                  </a:lnTo>
                  <a:lnTo>
                    <a:pt x="948" y="1533"/>
                  </a:lnTo>
                  <a:lnTo>
                    <a:pt x="855" y="1577"/>
                  </a:lnTo>
                  <a:lnTo>
                    <a:pt x="765" y="1624"/>
                  </a:lnTo>
                  <a:lnTo>
                    <a:pt x="719" y="1647"/>
                  </a:lnTo>
                  <a:lnTo>
                    <a:pt x="676" y="1672"/>
                  </a:lnTo>
                  <a:lnTo>
                    <a:pt x="632" y="1699"/>
                  </a:lnTo>
                  <a:lnTo>
                    <a:pt x="588" y="1726"/>
                  </a:lnTo>
                  <a:lnTo>
                    <a:pt x="546" y="1752"/>
                  </a:lnTo>
                  <a:lnTo>
                    <a:pt x="504" y="1782"/>
                  </a:lnTo>
                  <a:lnTo>
                    <a:pt x="463" y="1810"/>
                  </a:lnTo>
                  <a:lnTo>
                    <a:pt x="422" y="1840"/>
                  </a:lnTo>
                  <a:lnTo>
                    <a:pt x="383" y="1871"/>
                  </a:lnTo>
                  <a:lnTo>
                    <a:pt x="346" y="1904"/>
                  </a:lnTo>
                  <a:lnTo>
                    <a:pt x="308" y="1935"/>
                  </a:lnTo>
                  <a:lnTo>
                    <a:pt x="274" y="1970"/>
                  </a:lnTo>
                  <a:lnTo>
                    <a:pt x="239" y="2004"/>
                  </a:lnTo>
                  <a:lnTo>
                    <a:pt x="206" y="2040"/>
                  </a:lnTo>
                  <a:lnTo>
                    <a:pt x="175" y="2076"/>
                  </a:lnTo>
                  <a:lnTo>
                    <a:pt x="144" y="2114"/>
                  </a:lnTo>
                  <a:lnTo>
                    <a:pt x="116" y="2151"/>
                  </a:lnTo>
                  <a:lnTo>
                    <a:pt x="89" y="2190"/>
                  </a:lnTo>
                  <a:lnTo>
                    <a:pt x="64" y="2231"/>
                  </a:lnTo>
                  <a:lnTo>
                    <a:pt x="41" y="2272"/>
                  </a:lnTo>
                  <a:lnTo>
                    <a:pt x="19" y="2314"/>
                  </a:lnTo>
                  <a:lnTo>
                    <a:pt x="0" y="2356"/>
                  </a:lnTo>
                  <a:lnTo>
                    <a:pt x="0" y="2356"/>
                  </a:lnTo>
                  <a:close/>
                </a:path>
              </a:pathLst>
            </a:custGeom>
            <a:gradFill flip="none" rotWithShape="1">
              <a:gsLst>
                <a:gs pos="100000">
                  <a:sysClr val="window" lastClr="FFFFFF">
                    <a:lumMod val="50000"/>
                    <a:alpha val="0"/>
                  </a:sysClr>
                </a:gs>
                <a:gs pos="0">
                  <a:sysClr val="window" lastClr="FFFFFF">
                    <a:lumMod val="50000"/>
                    <a:alpha val="74000"/>
                  </a:sysClr>
                </a:gs>
              </a:gsLst>
              <a:lin ang="10800000" scaled="1"/>
              <a:tileRect/>
            </a:gradFill>
            <a:ln w="3175" cap="flat" cmpd="sng" algn="ctr">
              <a:gradFill flip="none" rotWithShape="1">
                <a:gsLst>
                  <a:gs pos="0">
                    <a:srgbClr val="00EAF6">
                      <a:alpha val="0"/>
                    </a:srgbClr>
                  </a:gs>
                  <a:gs pos="100000">
                    <a:srgbClr val="44546A">
                      <a:lumMod val="60000"/>
                      <a:lumOff val="40000"/>
                      <a:alpha val="53000"/>
                    </a:srgbClr>
                  </a:gs>
                </a:gsLst>
                <a:lin ang="0" scaled="1"/>
                <a:tileRect/>
              </a:gradFill>
              <a:prstDash val="solid"/>
              <a:miter lim="800000"/>
            </a:ln>
            <a:effectLst/>
          </p:spPr>
          <p:txBody>
            <a:bodyPr anchor="ctr"/>
            <a:lstStyle/>
            <a:p>
              <a:pPr indent="-403163" algn="ctr" defTabSz="1097252">
                <a:lnSpc>
                  <a:spcPts val="8959"/>
                </a:lnSpc>
                <a:buClr>
                  <a:srgbClr val="CC9900"/>
                </a:buClr>
                <a:buSzPct val="60000"/>
                <a:buFont typeface="Wingdings" pitchFamily="2" charset="2"/>
                <a:buChar char="n"/>
                <a:defRPr/>
              </a:pPr>
              <a:endParaRPr lang="zh-CN" altLang="en-US" sz="2160"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 name="Freeform 6"/>
            <p:cNvSpPr>
              <a:spLocks/>
            </p:cNvSpPr>
            <p:nvPr/>
          </p:nvSpPr>
          <p:spPr bwMode="gray">
            <a:xfrm rot="10800000">
              <a:off x="10220100" y="1058047"/>
              <a:ext cx="1019397" cy="527367"/>
            </a:xfrm>
            <a:custGeom>
              <a:avLst/>
              <a:gdLst/>
              <a:ahLst/>
              <a:cxnLst>
                <a:cxn ang="0">
                  <a:pos x="0" y="0"/>
                </a:cxn>
                <a:cxn ang="0">
                  <a:pos x="20" y="36"/>
                </a:cxn>
                <a:cxn ang="0">
                  <a:pos x="67" y="105"/>
                </a:cxn>
                <a:cxn ang="0">
                  <a:pos x="120" y="172"/>
                </a:cxn>
                <a:cxn ang="0">
                  <a:pos x="180" y="238"/>
                </a:cxn>
                <a:cxn ang="0">
                  <a:pos x="244" y="300"/>
                </a:cxn>
                <a:cxn ang="0">
                  <a:pos x="316" y="363"/>
                </a:cxn>
                <a:cxn ang="0">
                  <a:pos x="391" y="421"/>
                </a:cxn>
                <a:cxn ang="0">
                  <a:pos x="471" y="479"/>
                </a:cxn>
                <a:cxn ang="0">
                  <a:pos x="596" y="560"/>
                </a:cxn>
                <a:cxn ang="0">
                  <a:pos x="773" y="662"/>
                </a:cxn>
                <a:cxn ang="0">
                  <a:pos x="957" y="754"/>
                </a:cxn>
                <a:cxn ang="0">
                  <a:pos x="1142" y="839"/>
                </a:cxn>
                <a:cxn ang="0">
                  <a:pos x="1325" y="914"/>
                </a:cxn>
                <a:cxn ang="0">
                  <a:pos x="1500" y="979"/>
                </a:cxn>
                <a:cxn ang="0">
                  <a:pos x="1664" y="1037"/>
                </a:cxn>
                <a:cxn ang="0">
                  <a:pos x="1878" y="1106"/>
                </a:cxn>
                <a:cxn ang="0">
                  <a:pos x="2081" y="1164"/>
                </a:cxn>
                <a:cxn ang="0">
                  <a:pos x="2158" y="1183"/>
                </a:cxn>
                <a:cxn ang="0">
                  <a:pos x="1992" y="1212"/>
                </a:cxn>
                <a:cxn ang="0">
                  <a:pos x="1809" y="1252"/>
                </a:cxn>
                <a:cxn ang="0">
                  <a:pos x="1661" y="1288"/>
                </a:cxn>
                <a:cxn ang="0">
                  <a:pos x="1495" y="1333"/>
                </a:cxn>
                <a:cxn ang="0">
                  <a:pos x="1318" y="1389"/>
                </a:cxn>
                <a:cxn ang="0">
                  <a:pos x="1134" y="1456"/>
                </a:cxn>
                <a:cxn ang="0">
                  <a:pos x="948" y="1533"/>
                </a:cxn>
                <a:cxn ang="0">
                  <a:pos x="765" y="1624"/>
                </a:cxn>
                <a:cxn ang="0">
                  <a:pos x="676" y="1672"/>
                </a:cxn>
                <a:cxn ang="0">
                  <a:pos x="588" y="1726"/>
                </a:cxn>
                <a:cxn ang="0">
                  <a:pos x="504" y="1782"/>
                </a:cxn>
                <a:cxn ang="0">
                  <a:pos x="422" y="1840"/>
                </a:cxn>
                <a:cxn ang="0">
                  <a:pos x="346" y="1904"/>
                </a:cxn>
                <a:cxn ang="0">
                  <a:pos x="274" y="1970"/>
                </a:cxn>
                <a:cxn ang="0">
                  <a:pos x="206" y="2040"/>
                </a:cxn>
                <a:cxn ang="0">
                  <a:pos x="144" y="2114"/>
                </a:cxn>
                <a:cxn ang="0">
                  <a:pos x="89" y="2190"/>
                </a:cxn>
                <a:cxn ang="0">
                  <a:pos x="41" y="2272"/>
                </a:cxn>
                <a:cxn ang="0">
                  <a:pos x="0" y="2356"/>
                </a:cxn>
              </a:cxnLst>
              <a:rect l="0" t="0" r="r" b="b"/>
              <a:pathLst>
                <a:path w="2158" h="2356">
                  <a:moveTo>
                    <a:pt x="0" y="2356"/>
                  </a:moveTo>
                  <a:lnTo>
                    <a:pt x="0" y="0"/>
                  </a:lnTo>
                  <a:lnTo>
                    <a:pt x="0" y="0"/>
                  </a:lnTo>
                  <a:lnTo>
                    <a:pt x="20" y="36"/>
                  </a:lnTo>
                  <a:lnTo>
                    <a:pt x="42" y="70"/>
                  </a:lnTo>
                  <a:lnTo>
                    <a:pt x="67" y="105"/>
                  </a:lnTo>
                  <a:lnTo>
                    <a:pt x="92" y="139"/>
                  </a:lnTo>
                  <a:lnTo>
                    <a:pt x="120" y="172"/>
                  </a:lnTo>
                  <a:lnTo>
                    <a:pt x="149" y="205"/>
                  </a:lnTo>
                  <a:lnTo>
                    <a:pt x="180" y="238"/>
                  </a:lnTo>
                  <a:lnTo>
                    <a:pt x="211" y="269"/>
                  </a:lnTo>
                  <a:lnTo>
                    <a:pt x="244" y="300"/>
                  </a:lnTo>
                  <a:lnTo>
                    <a:pt x="280" y="332"/>
                  </a:lnTo>
                  <a:lnTo>
                    <a:pt x="316" y="363"/>
                  </a:lnTo>
                  <a:lnTo>
                    <a:pt x="352" y="393"/>
                  </a:lnTo>
                  <a:lnTo>
                    <a:pt x="391" y="421"/>
                  </a:lnTo>
                  <a:lnTo>
                    <a:pt x="430" y="451"/>
                  </a:lnTo>
                  <a:lnTo>
                    <a:pt x="471" y="479"/>
                  </a:lnTo>
                  <a:lnTo>
                    <a:pt x="511" y="507"/>
                  </a:lnTo>
                  <a:lnTo>
                    <a:pt x="596" y="560"/>
                  </a:lnTo>
                  <a:lnTo>
                    <a:pt x="683" y="612"/>
                  </a:lnTo>
                  <a:lnTo>
                    <a:pt x="773" y="662"/>
                  </a:lnTo>
                  <a:lnTo>
                    <a:pt x="865" y="709"/>
                  </a:lnTo>
                  <a:lnTo>
                    <a:pt x="957" y="754"/>
                  </a:lnTo>
                  <a:lnTo>
                    <a:pt x="1049" y="798"/>
                  </a:lnTo>
                  <a:lnTo>
                    <a:pt x="1142" y="839"/>
                  </a:lnTo>
                  <a:lnTo>
                    <a:pt x="1234" y="878"/>
                  </a:lnTo>
                  <a:lnTo>
                    <a:pt x="1325" y="914"/>
                  </a:lnTo>
                  <a:lnTo>
                    <a:pt x="1414" y="948"/>
                  </a:lnTo>
                  <a:lnTo>
                    <a:pt x="1500" y="979"/>
                  </a:lnTo>
                  <a:lnTo>
                    <a:pt x="1584" y="1009"/>
                  </a:lnTo>
                  <a:lnTo>
                    <a:pt x="1664" y="1037"/>
                  </a:lnTo>
                  <a:lnTo>
                    <a:pt x="1740" y="1062"/>
                  </a:lnTo>
                  <a:lnTo>
                    <a:pt x="1878" y="1106"/>
                  </a:lnTo>
                  <a:lnTo>
                    <a:pt x="1994" y="1139"/>
                  </a:lnTo>
                  <a:lnTo>
                    <a:pt x="2081" y="1164"/>
                  </a:lnTo>
                  <a:lnTo>
                    <a:pt x="2158" y="1183"/>
                  </a:lnTo>
                  <a:lnTo>
                    <a:pt x="2158" y="1183"/>
                  </a:lnTo>
                  <a:lnTo>
                    <a:pt x="2081" y="1195"/>
                  </a:lnTo>
                  <a:lnTo>
                    <a:pt x="1992" y="1212"/>
                  </a:lnTo>
                  <a:lnTo>
                    <a:pt x="1877" y="1236"/>
                  </a:lnTo>
                  <a:lnTo>
                    <a:pt x="1809" y="1252"/>
                  </a:lnTo>
                  <a:lnTo>
                    <a:pt x="1737" y="1269"/>
                  </a:lnTo>
                  <a:lnTo>
                    <a:pt x="1661" y="1288"/>
                  </a:lnTo>
                  <a:lnTo>
                    <a:pt x="1579" y="1309"/>
                  </a:lnTo>
                  <a:lnTo>
                    <a:pt x="1495" y="1333"/>
                  </a:lnTo>
                  <a:lnTo>
                    <a:pt x="1407" y="1361"/>
                  </a:lnTo>
                  <a:lnTo>
                    <a:pt x="1318" y="1389"/>
                  </a:lnTo>
                  <a:lnTo>
                    <a:pt x="1226" y="1422"/>
                  </a:lnTo>
                  <a:lnTo>
                    <a:pt x="1134" y="1456"/>
                  </a:lnTo>
                  <a:lnTo>
                    <a:pt x="1041" y="1494"/>
                  </a:lnTo>
                  <a:lnTo>
                    <a:pt x="948" y="1533"/>
                  </a:lnTo>
                  <a:lnTo>
                    <a:pt x="855" y="1577"/>
                  </a:lnTo>
                  <a:lnTo>
                    <a:pt x="765" y="1624"/>
                  </a:lnTo>
                  <a:lnTo>
                    <a:pt x="719" y="1647"/>
                  </a:lnTo>
                  <a:lnTo>
                    <a:pt x="676" y="1672"/>
                  </a:lnTo>
                  <a:lnTo>
                    <a:pt x="632" y="1699"/>
                  </a:lnTo>
                  <a:lnTo>
                    <a:pt x="588" y="1726"/>
                  </a:lnTo>
                  <a:lnTo>
                    <a:pt x="546" y="1752"/>
                  </a:lnTo>
                  <a:lnTo>
                    <a:pt x="504" y="1782"/>
                  </a:lnTo>
                  <a:lnTo>
                    <a:pt x="463" y="1810"/>
                  </a:lnTo>
                  <a:lnTo>
                    <a:pt x="422" y="1840"/>
                  </a:lnTo>
                  <a:lnTo>
                    <a:pt x="383" y="1871"/>
                  </a:lnTo>
                  <a:lnTo>
                    <a:pt x="346" y="1904"/>
                  </a:lnTo>
                  <a:lnTo>
                    <a:pt x="308" y="1935"/>
                  </a:lnTo>
                  <a:lnTo>
                    <a:pt x="274" y="1970"/>
                  </a:lnTo>
                  <a:lnTo>
                    <a:pt x="239" y="2004"/>
                  </a:lnTo>
                  <a:lnTo>
                    <a:pt x="206" y="2040"/>
                  </a:lnTo>
                  <a:lnTo>
                    <a:pt x="175" y="2076"/>
                  </a:lnTo>
                  <a:lnTo>
                    <a:pt x="144" y="2114"/>
                  </a:lnTo>
                  <a:lnTo>
                    <a:pt x="116" y="2151"/>
                  </a:lnTo>
                  <a:lnTo>
                    <a:pt x="89" y="2190"/>
                  </a:lnTo>
                  <a:lnTo>
                    <a:pt x="64" y="2231"/>
                  </a:lnTo>
                  <a:lnTo>
                    <a:pt x="41" y="2272"/>
                  </a:lnTo>
                  <a:lnTo>
                    <a:pt x="19" y="2314"/>
                  </a:lnTo>
                  <a:lnTo>
                    <a:pt x="0" y="2356"/>
                  </a:lnTo>
                  <a:lnTo>
                    <a:pt x="0" y="2356"/>
                  </a:lnTo>
                  <a:close/>
                </a:path>
              </a:pathLst>
            </a:custGeom>
            <a:gradFill flip="none" rotWithShape="1">
              <a:gsLst>
                <a:gs pos="100000">
                  <a:sysClr val="window" lastClr="FFFFFF">
                    <a:lumMod val="50000"/>
                    <a:alpha val="0"/>
                  </a:sysClr>
                </a:gs>
                <a:gs pos="0">
                  <a:srgbClr val="929292"/>
                </a:gs>
              </a:gsLst>
              <a:lin ang="10800000" scaled="1"/>
              <a:tileRect/>
            </a:gradFill>
            <a:ln w="3175" cap="flat" cmpd="sng" algn="ctr">
              <a:noFill/>
              <a:prstDash val="solid"/>
              <a:miter lim="800000"/>
            </a:ln>
            <a:effectLst/>
          </p:spPr>
          <p:txBody>
            <a:bodyPr anchor="ctr"/>
            <a:lstStyle/>
            <a:p>
              <a:pPr indent="-403163" algn="ctr" defTabSz="1097252">
                <a:lnSpc>
                  <a:spcPts val="8959"/>
                </a:lnSpc>
                <a:buClr>
                  <a:srgbClr val="CC9900"/>
                </a:buClr>
                <a:buSzPct val="60000"/>
                <a:buFont typeface="Wingdings" pitchFamily="2" charset="2"/>
                <a:buChar char="n"/>
                <a:defRPr/>
              </a:pPr>
              <a:endParaRPr lang="zh-CN" altLang="en-US" sz="2160"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56" name="文本框 155"/>
          <p:cNvSpPr txBox="1"/>
          <p:nvPr/>
        </p:nvSpPr>
        <p:spPr bwMode="gray">
          <a:xfrm>
            <a:off x="1859870" y="1513747"/>
            <a:ext cx="2811068" cy="705642"/>
          </a:xfrm>
          <a:prstGeom prst="rect">
            <a:avLst/>
          </a:prstGeom>
          <a:noFill/>
        </p:spPr>
        <p:txBody>
          <a:bodyPr wrap="square" rtlCol="0">
            <a:spAutoFit/>
          </a:bodyPr>
          <a:lstStyle/>
          <a:p>
            <a:pPr algn="ctr" defTabSz="1097252">
              <a:lnSpc>
                <a:spcPct val="150000"/>
              </a:lnSpc>
            </a:pPr>
            <a:r>
              <a:rPr lang="zh-CN" altLang="en-US" sz="1400" b="1"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endParaRPr lang="en-US" altLang="zh-CN" sz="1400" b="1"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97252">
              <a:lnSpc>
                <a:spcPct val="150000"/>
              </a:lnSpc>
            </a:pPr>
            <a:r>
              <a:rPr lang="zh-CN" altLang="en-US" sz="1400"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KQI/KPI</a:t>
            </a:r>
            <a:r>
              <a:rPr lang="zh-CN" altLang="en-US" sz="1400"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持续牵引网络</a:t>
            </a:r>
            <a:r>
              <a:rPr lang="zh-CN" altLang="en-US" sz="1400"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优化</a:t>
            </a:r>
            <a:endParaRPr lang="zh-CN" altLang="en-US" sz="1400"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 name="文本框 156"/>
          <p:cNvSpPr txBox="1"/>
          <p:nvPr/>
        </p:nvSpPr>
        <p:spPr bwMode="gray">
          <a:xfrm>
            <a:off x="7291725" y="1515381"/>
            <a:ext cx="3253712" cy="1061829"/>
          </a:xfrm>
          <a:prstGeom prst="rect">
            <a:avLst/>
          </a:prstGeom>
          <a:noFill/>
        </p:spPr>
        <p:txBody>
          <a:bodyPr wrap="square" rtlCol="0">
            <a:spAutoFit/>
          </a:bodyPr>
          <a:lstStyle/>
          <a:p>
            <a:pPr algn="ctr" defTabSz="1097252">
              <a:lnSpc>
                <a:spcPct val="150000"/>
              </a:lnSpc>
            </a:pPr>
            <a:r>
              <a:rPr lang="zh-CN" altLang="en-US" sz="1400" b="1"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有线</a:t>
            </a:r>
            <a:endParaRPr lang="en-US" altLang="zh-CN" sz="1400" b="1"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97252">
              <a:lnSpc>
                <a:spcPct val="150000"/>
              </a:lnSpc>
            </a:pPr>
            <a:r>
              <a:rPr lang="zh-CN" altLang="en-US" sz="1400"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基于精准问题上报，</a:t>
            </a:r>
            <a:r>
              <a:rPr lang="zh-CN" altLang="en-US" sz="1400"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故障及早发现、及时</a:t>
            </a:r>
            <a:r>
              <a:rPr lang="zh-CN" altLang="en-US" sz="1400" dirty="0" smtClean="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rPr>
              <a:t>处理</a:t>
            </a:r>
            <a:endParaRPr lang="zh-CN" altLang="en-US" sz="1400" dirty="0">
              <a:solidFill>
                <a:prstClr val="black">
                  <a:lumMod val="85000"/>
                  <a:lumOff val="1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 name="文本框 157"/>
          <p:cNvSpPr txBox="1"/>
          <p:nvPr/>
        </p:nvSpPr>
        <p:spPr bwMode="gray">
          <a:xfrm>
            <a:off x="8398598" y="2604635"/>
            <a:ext cx="1106392" cy="313932"/>
          </a:xfrm>
          <a:prstGeom prst="rect">
            <a:avLst/>
          </a:prstGeom>
          <a:noFill/>
        </p:spPr>
        <p:txBody>
          <a:bodyPr wrap="none" rtlCol="0">
            <a:spAutoFit/>
          </a:bodyPr>
          <a:lstStyle/>
          <a:p>
            <a:pPr algn="ctr" defTabSz="1097252"/>
            <a:r>
              <a:rPr lang="zh-CN" altLang="en-US" sz="14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有线健康度</a:t>
            </a:r>
          </a:p>
        </p:txBody>
      </p:sp>
      <p:sp>
        <p:nvSpPr>
          <p:cNvPr id="159" name="矩形 158"/>
          <p:cNvSpPr/>
          <p:nvPr/>
        </p:nvSpPr>
        <p:spPr bwMode="gray">
          <a:xfrm>
            <a:off x="5366817" y="3300828"/>
            <a:ext cx="1475084" cy="313932"/>
          </a:xfrm>
          <a:prstGeom prst="rect">
            <a:avLst/>
          </a:prstGeom>
        </p:spPr>
        <p:txBody>
          <a:bodyPr wrap="none">
            <a:spAutoFit/>
          </a:bodyPr>
          <a:lstStyle/>
          <a:p>
            <a:pPr algn="ctr" defTabSz="1097252"/>
            <a:r>
              <a:rPr lang="zh-CN" altLang="en-US" sz="144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日常运维主入口</a:t>
            </a:r>
            <a:endParaRPr lang="en-US" altLang="zh-CN" sz="144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 name="文本框 159"/>
          <p:cNvSpPr txBox="1"/>
          <p:nvPr/>
        </p:nvSpPr>
        <p:spPr bwMode="gray">
          <a:xfrm>
            <a:off x="4912469" y="4205506"/>
            <a:ext cx="2723100" cy="617990"/>
          </a:xfrm>
          <a:prstGeom prst="rect">
            <a:avLst/>
          </a:prstGeom>
          <a:noFill/>
        </p:spPr>
        <p:txBody>
          <a:bodyPr wrap="square" rtlCol="0">
            <a:spAutoFit/>
          </a:bodyPr>
          <a:lstStyle/>
          <a:p>
            <a:pPr marL="274313" indent="-274313" defTabSz="1097252">
              <a:lnSpc>
                <a:spcPct val="150000"/>
              </a:lnSpc>
              <a:buClr>
                <a:srgbClr val="333333"/>
              </a:buClr>
              <a:buFont typeface="Arial" panose="020B0604020202020204" pitchFamily="34" charset="0"/>
              <a:buChar char="•"/>
            </a:pPr>
            <a:r>
              <a:rPr lang="zh-CN" altLang="en-US" sz="12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融合</a:t>
            </a:r>
            <a:r>
              <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有线</a:t>
            </a:r>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无线统一监控</a:t>
            </a:r>
            <a:endPar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74313" indent="-274313" defTabSz="1097252">
              <a:lnSpc>
                <a:spcPct val="150000"/>
              </a:lnSpc>
              <a:buClr>
                <a:srgbClr val="333333"/>
              </a:buClr>
              <a:buFont typeface="Arial" panose="020B0604020202020204" pitchFamily="34" charset="0"/>
              <a:buChar char="•"/>
            </a:pPr>
            <a:r>
              <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楼宇视角直观、简洁、高效呈现</a:t>
            </a:r>
            <a:endPar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 name="文本框 160"/>
          <p:cNvSpPr txBox="1"/>
          <p:nvPr/>
        </p:nvSpPr>
        <p:spPr bwMode="gray">
          <a:xfrm>
            <a:off x="8370804" y="4023718"/>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设备容量</a:t>
            </a:r>
          </a:p>
        </p:txBody>
      </p:sp>
      <p:sp>
        <p:nvSpPr>
          <p:cNvPr id="162" name="文本框 161"/>
          <p:cNvSpPr txBox="1"/>
          <p:nvPr/>
        </p:nvSpPr>
        <p:spPr bwMode="gray">
          <a:xfrm>
            <a:off x="8370804" y="3226054"/>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网络状态</a:t>
            </a:r>
          </a:p>
        </p:txBody>
      </p:sp>
      <p:sp>
        <p:nvSpPr>
          <p:cNvPr id="163" name="文本框 162"/>
          <p:cNvSpPr txBox="1"/>
          <p:nvPr/>
        </p:nvSpPr>
        <p:spPr bwMode="gray">
          <a:xfrm>
            <a:off x="8370804" y="3640797"/>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网络性能</a:t>
            </a:r>
          </a:p>
        </p:txBody>
      </p:sp>
      <p:cxnSp>
        <p:nvCxnSpPr>
          <p:cNvPr id="164" name="直接箭头连接符 163"/>
          <p:cNvCxnSpPr/>
          <p:nvPr/>
        </p:nvCxnSpPr>
        <p:spPr bwMode="gray">
          <a:xfrm flipV="1">
            <a:off x="4349998" y="4152394"/>
            <a:ext cx="3492004" cy="0"/>
          </a:xfrm>
          <a:prstGeom prst="straightConnector1">
            <a:avLst/>
          </a:prstGeom>
          <a:noFill/>
          <a:ln w="6350" cap="flat" cmpd="sng" algn="ctr">
            <a:solidFill>
              <a:sysClr val="window" lastClr="FFFFFF">
                <a:lumMod val="65000"/>
              </a:sysClr>
            </a:solidFill>
            <a:prstDash val="solid"/>
            <a:miter lim="800000"/>
            <a:headEnd type="oval"/>
            <a:tailEnd type="oval"/>
          </a:ln>
          <a:effectLst/>
        </p:spPr>
      </p:cxnSp>
      <p:sp>
        <p:nvSpPr>
          <p:cNvPr id="165" name="文本框 164"/>
          <p:cNvSpPr txBox="1"/>
          <p:nvPr/>
        </p:nvSpPr>
        <p:spPr bwMode="gray">
          <a:xfrm>
            <a:off x="8370804" y="4448540"/>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设备环境</a:t>
            </a:r>
          </a:p>
        </p:txBody>
      </p:sp>
      <p:sp>
        <p:nvSpPr>
          <p:cNvPr id="166" name="文本框 165"/>
          <p:cNvSpPr txBox="1"/>
          <p:nvPr/>
        </p:nvSpPr>
        <p:spPr bwMode="gray">
          <a:xfrm>
            <a:off x="2648730" y="2604635"/>
            <a:ext cx="1106392" cy="313932"/>
          </a:xfrm>
          <a:prstGeom prst="rect">
            <a:avLst/>
          </a:prstGeom>
          <a:noFill/>
        </p:spPr>
        <p:txBody>
          <a:bodyPr wrap="none" rtlCol="0">
            <a:spAutoFit/>
          </a:bodyPr>
          <a:lstStyle/>
          <a:p>
            <a:pPr algn="ctr" defTabSz="1097252"/>
            <a:r>
              <a:rPr lang="zh-CN" altLang="en-US" sz="14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r>
              <a:rPr lang="zh-CN" altLang="en-US" sz="144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p>
        </p:txBody>
      </p:sp>
      <p:sp>
        <p:nvSpPr>
          <p:cNvPr id="167" name="文本框 166"/>
          <p:cNvSpPr txBox="1"/>
          <p:nvPr/>
        </p:nvSpPr>
        <p:spPr bwMode="gray">
          <a:xfrm>
            <a:off x="2335311" y="3218906"/>
            <a:ext cx="1692771"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接入成功率、耗时</a:t>
            </a:r>
          </a:p>
        </p:txBody>
      </p:sp>
      <p:sp>
        <p:nvSpPr>
          <p:cNvPr id="168" name="文本框 167"/>
          <p:cNvSpPr txBox="1"/>
          <p:nvPr/>
        </p:nvSpPr>
        <p:spPr bwMode="gray">
          <a:xfrm>
            <a:off x="2335311" y="3593505"/>
            <a:ext cx="1692771"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漫游成功率、耗时</a:t>
            </a:r>
          </a:p>
        </p:txBody>
      </p:sp>
      <p:sp>
        <p:nvSpPr>
          <p:cNvPr id="169" name="文本框 168"/>
          <p:cNvSpPr txBox="1"/>
          <p:nvPr/>
        </p:nvSpPr>
        <p:spPr bwMode="gray">
          <a:xfrm>
            <a:off x="2336922" y="3977397"/>
            <a:ext cx="127438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信号与</a:t>
            </a:r>
            <a:r>
              <a:rPr lang="zh-CN" altLang="en-US" sz="1200" dirty="0" smtClean="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干扰</a:t>
            </a:r>
            <a:endPar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0" name="文本框 169"/>
          <p:cNvSpPr txBox="1"/>
          <p:nvPr/>
        </p:nvSpPr>
        <p:spPr bwMode="gray">
          <a:xfrm>
            <a:off x="2373476" y="4386256"/>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空口容量</a:t>
            </a:r>
          </a:p>
        </p:txBody>
      </p:sp>
      <p:sp>
        <p:nvSpPr>
          <p:cNvPr id="171" name="文本框 170"/>
          <p:cNvSpPr txBox="1"/>
          <p:nvPr/>
        </p:nvSpPr>
        <p:spPr bwMode="gray">
          <a:xfrm>
            <a:off x="2364249" y="4762611"/>
            <a:ext cx="1077218" cy="276999"/>
          </a:xfrm>
          <a:prstGeom prst="rect">
            <a:avLst/>
          </a:prstGeom>
          <a:noFill/>
        </p:spPr>
        <p:txBody>
          <a:bodyPr wrap="none" rtlCol="0">
            <a:spAutoFit/>
          </a:bodyPr>
          <a:lstStyle/>
          <a:p>
            <a:pPr marL="274313" indent="-274313" defTabSz="1097252">
              <a:buFont typeface="Arial" panose="020B0604020202020204" pitchFamily="34" charset="0"/>
              <a:buChar char="•"/>
            </a:pPr>
            <a:r>
              <a:rPr lang="zh-CN" altLang="en-US" sz="1200" dirty="0">
                <a:solidFill>
                  <a:srgbClr val="1D1D1B"/>
                </a:solidFill>
                <a:latin typeface="Huawei Sans" panose="020C0503030203020204" pitchFamily="34" charset="0"/>
                <a:ea typeface="方正兰亭黑简体" panose="02000000000000000000" pitchFamily="2" charset="-122"/>
                <a:cs typeface="+mn-ea"/>
                <a:sym typeface="Huawei Sans" panose="020C0503030203020204" pitchFamily="34" charset="0"/>
              </a:rPr>
              <a:t>空口吞吐</a:t>
            </a:r>
          </a:p>
        </p:txBody>
      </p:sp>
      <p:sp>
        <p:nvSpPr>
          <p:cNvPr id="172" name="文本框 171"/>
          <p:cNvSpPr txBox="1"/>
          <p:nvPr/>
        </p:nvSpPr>
        <p:spPr bwMode="gray">
          <a:xfrm>
            <a:off x="1658756" y="5311299"/>
            <a:ext cx="8886681" cy="723211"/>
          </a:xfrm>
          <a:prstGeom prst="rect">
            <a:avLst/>
          </a:prstGeom>
          <a:solidFill>
            <a:srgbClr val="ECECEC"/>
          </a:solidFill>
        </p:spPr>
        <p:txBody>
          <a:bodyPr wrap="square" rtlCol="0">
            <a:spAutoFit/>
          </a:bodyPr>
          <a:lstStyle/>
          <a:p>
            <a:pPr marL="285750" indent="-285750" defTabSz="1097237">
              <a:lnSpc>
                <a:spcPct val="150000"/>
              </a:lnSpc>
              <a:buFont typeface="Arial" panose="020B0604020202020204" pitchFamily="34" charset="0"/>
              <a:buChar char="•"/>
            </a:pPr>
            <a:r>
              <a:rPr lang="zh-CN" altLang="en-US" sz="144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基于无线健康度与有线健康度，构建园区健康度可视化拓扑监控能力，提升园区智简运维能力。</a:t>
            </a:r>
            <a:endParaRPr lang="en-US" altLang="zh-CN" sz="144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defTabSz="1097237">
              <a:lnSpc>
                <a:spcPct val="150000"/>
              </a:lnSpc>
              <a:buFont typeface="Arial" panose="020B0604020202020204" pitchFamily="34" charset="0"/>
              <a:buChar char="•"/>
            </a:pPr>
            <a:r>
              <a:rPr lang="zh-CN" altLang="en-US" sz="144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以健康度拓扑为入口，提供本楼宇内网络与设备问题及本楼宇内人员报障快速处理能力，简化运维。</a:t>
            </a:r>
            <a:endParaRPr lang="zh-CN" altLang="en-US" sz="144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3" name="文本框 172"/>
          <p:cNvSpPr txBox="1"/>
          <p:nvPr/>
        </p:nvSpPr>
        <p:spPr bwMode="gray">
          <a:xfrm>
            <a:off x="4980256" y="1075010"/>
            <a:ext cx="2231488" cy="369332"/>
          </a:xfrm>
          <a:prstGeom prst="rect">
            <a:avLst/>
          </a:prstGeom>
          <a:noFill/>
        </p:spPr>
        <p:txBody>
          <a:bodyPr wrap="square" rtlCol="0">
            <a:spAutoFit/>
          </a:bodyPr>
          <a:lstStyle/>
          <a:p>
            <a:pPr algn="ctr" defTabSz="914377"/>
            <a:r>
              <a:rPr lang="zh-CN" altLang="en-US" b="1" dirty="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园区网络健康度</a:t>
            </a:r>
            <a:endPar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74" name="图片 173"/>
          <p:cNvPicPr>
            <a:picLocks noChangeAspect="1"/>
          </p:cNvPicPr>
          <p:nvPr/>
        </p:nvPicPr>
        <p:blipFill>
          <a:blip r:embed="rId3"/>
          <a:stretch>
            <a:fillRect/>
          </a:stretch>
        </p:blipFill>
        <p:spPr bwMode="invGray">
          <a:xfrm>
            <a:off x="4991920" y="1513748"/>
            <a:ext cx="2229175" cy="1086398"/>
          </a:xfrm>
          <a:prstGeom prst="rect">
            <a:avLst/>
          </a:prstGeom>
          <a:noFill/>
          <a:ln>
            <a:noFill/>
          </a:ln>
        </p:spPr>
      </p:pic>
      <p:sp>
        <p:nvSpPr>
          <p:cNvPr id="31" name="燕尾形 30"/>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五边形 32"/>
          <p:cNvSpPr/>
          <p:nvPr/>
        </p:nvSpPr>
        <p:spPr bwMode="gray">
          <a:xfrm>
            <a:off x="7185569" y="124239"/>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91264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楼宇</a:t>
            </a:r>
            <a:r>
              <a:rPr lang="zh-CN" altLang="en-US" dirty="0" smtClean="0">
                <a:sym typeface="Huawei Sans" panose="020C0503030203020204" pitchFamily="34" charset="0"/>
              </a:rPr>
              <a:t>拓扑</a:t>
            </a:r>
            <a:r>
              <a:rPr lang="zh-CN" altLang="en-US" dirty="0">
                <a:sym typeface="Huawei Sans" panose="020C0503030203020204" pitchFamily="34" charset="0"/>
              </a:rPr>
              <a:t>：</a:t>
            </a:r>
            <a:r>
              <a:rPr lang="zh-CN" altLang="en-US" dirty="0" smtClean="0">
                <a:sym typeface="Huawei Sans" panose="020C0503030203020204" pitchFamily="34" charset="0"/>
              </a:rPr>
              <a:t>基于</a:t>
            </a:r>
            <a:r>
              <a:rPr lang="zh-CN" altLang="en-US" dirty="0">
                <a:sym typeface="Huawei Sans" panose="020C0503030203020204" pitchFamily="34" charset="0"/>
              </a:rPr>
              <a:t>楼宇呈现关键</a:t>
            </a:r>
            <a:r>
              <a:rPr lang="en-US" altLang="zh-CN" dirty="0">
                <a:sym typeface="Huawei Sans" panose="020C0503030203020204" pitchFamily="34" charset="0"/>
              </a:rPr>
              <a:t>KPI</a:t>
            </a:r>
            <a:r>
              <a:rPr lang="zh-CN" altLang="en-US" dirty="0">
                <a:sym typeface="Huawei Sans" panose="020C0503030203020204" pitchFamily="34" charset="0"/>
              </a:rPr>
              <a:t>及网络</a:t>
            </a:r>
            <a:r>
              <a:rPr lang="zh-CN" altLang="en-US" dirty="0" smtClean="0">
                <a:sym typeface="Huawei Sans" panose="020C0503030203020204" pitchFamily="34" charset="0"/>
              </a:rPr>
              <a:t>问题</a:t>
            </a:r>
            <a:endParaRPr lang="zh-CN" altLang="en-US" dirty="0">
              <a:sym typeface="Huawei Sans" panose="020C0503030203020204" pitchFamily="34" charset="0"/>
            </a:endParaRPr>
          </a:p>
        </p:txBody>
      </p:sp>
      <p:sp>
        <p:nvSpPr>
          <p:cNvPr id="3" name="圆角矩形 2"/>
          <p:cNvSpPr/>
          <p:nvPr/>
        </p:nvSpPr>
        <p:spPr bwMode="gray">
          <a:xfrm>
            <a:off x="465445" y="1183843"/>
            <a:ext cx="3677592" cy="4894975"/>
          </a:xfrm>
          <a:prstGeom prst="roundRect">
            <a:avLst>
              <a:gd name="adj" fmla="val 0"/>
            </a:avLst>
          </a:prstGeom>
          <a:solidFill>
            <a:schemeClr val="bg1">
              <a:lumMod val="95000"/>
            </a:schemeClr>
          </a:solidFill>
          <a:ln w="6350">
            <a:solidFill>
              <a:schemeClr val="bg1">
                <a:lumMod val="75000"/>
              </a:schemeClr>
            </a:solidFill>
          </a:ln>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fr-FR" altLang="zh-CN" sz="900" dirty="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 name="图片 3"/>
          <p:cNvPicPr>
            <a:picLocks noChangeAspect="1"/>
          </p:cNvPicPr>
          <p:nvPr/>
        </p:nvPicPr>
        <p:blipFill>
          <a:blip r:embed="rId3"/>
          <a:stretch>
            <a:fillRect/>
          </a:stretch>
        </p:blipFill>
        <p:spPr bwMode="invGray">
          <a:xfrm>
            <a:off x="4199965" y="1183843"/>
            <a:ext cx="7379545" cy="4894976"/>
          </a:xfrm>
          <a:prstGeom prst="rect">
            <a:avLst/>
          </a:prstGeom>
          <a:noFill/>
          <a:ln>
            <a:noFill/>
          </a:ln>
        </p:spPr>
      </p:pic>
      <p:sp>
        <p:nvSpPr>
          <p:cNvPr id="5" name="Working with Partners to Build One of the Five Clouds for an Intelligent World"/>
          <p:cNvSpPr txBox="1"/>
          <p:nvPr/>
        </p:nvSpPr>
        <p:spPr bwMode="gray">
          <a:xfrm>
            <a:off x="792527" y="1508504"/>
            <a:ext cx="3350510" cy="208553"/>
          </a:xfrm>
          <a:prstGeom prst="rect">
            <a:avLst/>
          </a:prstGeom>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56" tIns="7256" rIns="7256" bIns="7256">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eaLnBrk="1" fontAlgn="auto">
              <a:spcBef>
                <a:spcPts val="0"/>
              </a:spcBef>
              <a:spcAft>
                <a:spcPts val="0"/>
              </a:spcAft>
            </a:pPr>
            <a:r>
              <a:rPr lang="zh-CN" altLang="en-US" sz="1400" b="1" kern="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楼宇视角，直观、简洁问题呈现</a:t>
            </a:r>
            <a:endParaRPr sz="1400" b="1"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6" name="组合 5"/>
          <p:cNvGrpSpPr/>
          <p:nvPr/>
        </p:nvGrpSpPr>
        <p:grpSpPr bwMode="gray">
          <a:xfrm>
            <a:off x="489869" y="1392164"/>
            <a:ext cx="216354" cy="246374"/>
            <a:chOff x="2303690" y="3504497"/>
            <a:chExt cx="415878" cy="446243"/>
          </a:xfrm>
        </p:grpSpPr>
        <p:sp>
          <p:nvSpPr>
            <p:cNvPr id="7" name="泪滴形 6"/>
            <p:cNvSpPr/>
            <p:nvPr/>
          </p:nvSpPr>
          <p:spPr bwMode="gray">
            <a:xfrm rot="8118236">
              <a:off x="2303690" y="3504497"/>
              <a:ext cx="415878" cy="446243"/>
            </a:xfrm>
            <a:prstGeom prst="teardrop">
              <a:avLst>
                <a:gd name="adj" fmla="val 1347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87" eaLnBrk="1" fontAlgn="auto" hangingPunct="1">
                <a:spcBef>
                  <a:spcPts val="0"/>
                </a:spcBef>
                <a:spcAft>
                  <a:spcPts val="0"/>
                </a:spcAft>
                <a:defRPr/>
              </a:pP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Freeform 15"/>
            <p:cNvSpPr>
              <a:spLocks noEditPoints="1"/>
            </p:cNvSpPr>
            <p:nvPr/>
          </p:nvSpPr>
          <p:spPr bwMode="gray">
            <a:xfrm>
              <a:off x="2346033" y="3616658"/>
              <a:ext cx="325576" cy="221912"/>
            </a:xfrm>
            <a:custGeom>
              <a:avLst/>
              <a:gdLst>
                <a:gd name="T0" fmla="*/ 86 w 108"/>
                <a:gd name="T1" fmla="*/ 88 h 88"/>
                <a:gd name="T2" fmla="*/ 83 w 108"/>
                <a:gd name="T3" fmla="*/ 44 h 88"/>
                <a:gd name="T4" fmla="*/ 79 w 108"/>
                <a:gd name="T5" fmla="*/ 70 h 88"/>
                <a:gd name="T6" fmla="*/ 108 w 108"/>
                <a:gd name="T7" fmla="*/ 0 h 88"/>
                <a:gd name="T8" fmla="*/ 91 w 108"/>
                <a:gd name="T9" fmla="*/ 33 h 88"/>
                <a:gd name="T10" fmla="*/ 80 w 108"/>
                <a:gd name="T11" fmla="*/ 24 h 88"/>
                <a:gd name="T12" fmla="*/ 67 w 108"/>
                <a:gd name="T13" fmla="*/ 67 h 88"/>
                <a:gd name="T14" fmla="*/ 36 w 108"/>
                <a:gd name="T15" fmla="*/ 72 h 88"/>
                <a:gd name="T16" fmla="*/ 19 w 108"/>
                <a:gd name="T17" fmla="*/ 62 h 88"/>
                <a:gd name="T18" fmla="*/ 0 w 108"/>
                <a:gd name="T19" fmla="*/ 55 h 88"/>
                <a:gd name="T20" fmla="*/ 24 w 108"/>
                <a:gd name="T21" fmla="*/ 48 h 88"/>
                <a:gd name="T22" fmla="*/ 30 w 108"/>
                <a:gd name="T23" fmla="*/ 57 h 88"/>
                <a:gd name="T24" fmla="*/ 43 w 108"/>
                <a:gd name="T25" fmla="*/ 29 h 88"/>
                <a:gd name="T26" fmla="*/ 65 w 108"/>
                <a:gd name="T27" fmla="*/ 50 h 88"/>
                <a:gd name="T28" fmla="*/ 68 w 108"/>
                <a:gd name="T29" fmla="*/ 18 h 88"/>
                <a:gd name="T30" fmla="*/ 77 w 108"/>
                <a:gd name="T31" fmla="*/ 11 h 88"/>
                <a:gd name="T32" fmla="*/ 90 w 108"/>
                <a:gd name="T33" fmla="*/ 0 h 88"/>
                <a:gd name="T34" fmla="*/ 22 w 108"/>
                <a:gd name="T35" fmla="*/ 88 h 88"/>
                <a:gd name="T36" fmla="*/ 28 w 108"/>
                <a:gd name="T37" fmla="*/ 80 h 88"/>
                <a:gd name="T38" fmla="*/ 22 w 108"/>
                <a:gd name="T39" fmla="*/ 78 h 88"/>
                <a:gd name="T40" fmla="*/ 10 w 108"/>
                <a:gd name="T41" fmla="*/ 88 h 88"/>
                <a:gd name="T42" fmla="*/ 17 w 108"/>
                <a:gd name="T43" fmla="*/ 71 h 88"/>
                <a:gd name="T44" fmla="*/ 10 w 108"/>
                <a:gd name="T45" fmla="*/ 72 h 88"/>
                <a:gd name="T46" fmla="*/ 33 w 108"/>
                <a:gd name="T47" fmla="*/ 88 h 88"/>
                <a:gd name="T48" fmla="*/ 40 w 108"/>
                <a:gd name="T49" fmla="*/ 78 h 88"/>
                <a:gd name="T50" fmla="*/ 33 w 108"/>
                <a:gd name="T51" fmla="*/ 80 h 88"/>
                <a:gd name="T52" fmla="*/ 45 w 108"/>
                <a:gd name="T53" fmla="*/ 88 h 88"/>
                <a:gd name="T54" fmla="*/ 51 w 108"/>
                <a:gd name="T55" fmla="*/ 62 h 88"/>
                <a:gd name="T56" fmla="*/ 45 w 108"/>
                <a:gd name="T57" fmla="*/ 68 h 88"/>
                <a:gd name="T58" fmla="*/ 56 w 108"/>
                <a:gd name="T59" fmla="*/ 88 h 88"/>
                <a:gd name="T60" fmla="*/ 63 w 108"/>
                <a:gd name="T61" fmla="*/ 73 h 88"/>
                <a:gd name="T62" fmla="*/ 56 w 108"/>
                <a:gd name="T63" fmla="*/ 88 h 88"/>
                <a:gd name="T64" fmla="*/ 74 w 108"/>
                <a:gd name="T65" fmla="*/ 88 h 88"/>
                <a:gd name="T66" fmla="*/ 68 w 108"/>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8" h="88">
                  <a:moveTo>
                    <a:pt x="79" y="88"/>
                  </a:moveTo>
                  <a:cubicBezTo>
                    <a:pt x="86" y="88"/>
                    <a:pt x="86" y="88"/>
                    <a:pt x="86" y="88"/>
                  </a:cubicBezTo>
                  <a:cubicBezTo>
                    <a:pt x="86" y="43"/>
                    <a:pt x="86" y="43"/>
                    <a:pt x="86" y="43"/>
                  </a:cubicBezTo>
                  <a:cubicBezTo>
                    <a:pt x="83" y="44"/>
                    <a:pt x="83" y="44"/>
                    <a:pt x="83" y="44"/>
                  </a:cubicBezTo>
                  <a:cubicBezTo>
                    <a:pt x="82" y="69"/>
                    <a:pt x="82" y="69"/>
                    <a:pt x="82" y="69"/>
                  </a:cubicBezTo>
                  <a:cubicBezTo>
                    <a:pt x="79" y="70"/>
                    <a:pt x="79" y="70"/>
                    <a:pt x="79" y="70"/>
                  </a:cubicBezTo>
                  <a:cubicBezTo>
                    <a:pt x="79" y="88"/>
                    <a:pt x="79" y="88"/>
                    <a:pt x="79" y="88"/>
                  </a:cubicBezTo>
                  <a:close/>
                  <a:moveTo>
                    <a:pt x="108" y="0"/>
                  </a:moveTo>
                  <a:cubicBezTo>
                    <a:pt x="100" y="16"/>
                    <a:pt x="100" y="16"/>
                    <a:pt x="100" y="16"/>
                  </a:cubicBezTo>
                  <a:cubicBezTo>
                    <a:pt x="91" y="33"/>
                    <a:pt x="91" y="33"/>
                    <a:pt x="91" y="33"/>
                  </a:cubicBezTo>
                  <a:cubicBezTo>
                    <a:pt x="84" y="22"/>
                    <a:pt x="84" y="22"/>
                    <a:pt x="84" y="22"/>
                  </a:cubicBezTo>
                  <a:cubicBezTo>
                    <a:pt x="80" y="24"/>
                    <a:pt x="80" y="24"/>
                    <a:pt x="80" y="24"/>
                  </a:cubicBezTo>
                  <a:cubicBezTo>
                    <a:pt x="77" y="63"/>
                    <a:pt x="77" y="63"/>
                    <a:pt x="77" y="63"/>
                  </a:cubicBezTo>
                  <a:cubicBezTo>
                    <a:pt x="67" y="67"/>
                    <a:pt x="67" y="67"/>
                    <a:pt x="67" y="67"/>
                  </a:cubicBezTo>
                  <a:cubicBezTo>
                    <a:pt x="47" y="49"/>
                    <a:pt x="47" y="49"/>
                    <a:pt x="47" y="49"/>
                  </a:cubicBezTo>
                  <a:cubicBezTo>
                    <a:pt x="36" y="72"/>
                    <a:pt x="36" y="72"/>
                    <a:pt x="36" y="72"/>
                  </a:cubicBezTo>
                  <a:cubicBezTo>
                    <a:pt x="25" y="73"/>
                    <a:pt x="25" y="73"/>
                    <a:pt x="25" y="73"/>
                  </a:cubicBezTo>
                  <a:cubicBezTo>
                    <a:pt x="19" y="62"/>
                    <a:pt x="19" y="62"/>
                    <a:pt x="19" y="62"/>
                  </a:cubicBezTo>
                  <a:cubicBezTo>
                    <a:pt x="3" y="67"/>
                    <a:pt x="3" y="67"/>
                    <a:pt x="3" y="67"/>
                  </a:cubicBezTo>
                  <a:cubicBezTo>
                    <a:pt x="0" y="55"/>
                    <a:pt x="0" y="55"/>
                    <a:pt x="0" y="55"/>
                  </a:cubicBezTo>
                  <a:cubicBezTo>
                    <a:pt x="20" y="49"/>
                    <a:pt x="20" y="49"/>
                    <a:pt x="20" y="49"/>
                  </a:cubicBezTo>
                  <a:cubicBezTo>
                    <a:pt x="24" y="48"/>
                    <a:pt x="24" y="48"/>
                    <a:pt x="24" y="48"/>
                  </a:cubicBezTo>
                  <a:cubicBezTo>
                    <a:pt x="27" y="52"/>
                    <a:pt x="27" y="52"/>
                    <a:pt x="27" y="52"/>
                  </a:cubicBezTo>
                  <a:cubicBezTo>
                    <a:pt x="30" y="57"/>
                    <a:pt x="30" y="57"/>
                    <a:pt x="30" y="57"/>
                  </a:cubicBezTo>
                  <a:cubicBezTo>
                    <a:pt x="39" y="36"/>
                    <a:pt x="39" y="36"/>
                    <a:pt x="39" y="36"/>
                  </a:cubicBezTo>
                  <a:cubicBezTo>
                    <a:pt x="43" y="29"/>
                    <a:pt x="43" y="29"/>
                    <a:pt x="43" y="29"/>
                  </a:cubicBezTo>
                  <a:cubicBezTo>
                    <a:pt x="49" y="35"/>
                    <a:pt x="49" y="35"/>
                    <a:pt x="49" y="35"/>
                  </a:cubicBezTo>
                  <a:cubicBezTo>
                    <a:pt x="65" y="50"/>
                    <a:pt x="65" y="50"/>
                    <a:pt x="65" y="50"/>
                  </a:cubicBezTo>
                  <a:cubicBezTo>
                    <a:pt x="67" y="21"/>
                    <a:pt x="67" y="21"/>
                    <a:pt x="67" y="21"/>
                  </a:cubicBezTo>
                  <a:cubicBezTo>
                    <a:pt x="68" y="18"/>
                    <a:pt x="68" y="18"/>
                    <a:pt x="68" y="18"/>
                  </a:cubicBezTo>
                  <a:cubicBezTo>
                    <a:pt x="70" y="16"/>
                    <a:pt x="70" y="16"/>
                    <a:pt x="70" y="16"/>
                  </a:cubicBezTo>
                  <a:cubicBezTo>
                    <a:pt x="77" y="11"/>
                    <a:pt x="77" y="11"/>
                    <a:pt x="77" y="11"/>
                  </a:cubicBezTo>
                  <a:cubicBezTo>
                    <a:pt x="71" y="1"/>
                    <a:pt x="71" y="1"/>
                    <a:pt x="71" y="1"/>
                  </a:cubicBezTo>
                  <a:cubicBezTo>
                    <a:pt x="90" y="0"/>
                    <a:pt x="90" y="0"/>
                    <a:pt x="90" y="0"/>
                  </a:cubicBezTo>
                  <a:cubicBezTo>
                    <a:pt x="108" y="0"/>
                    <a:pt x="108" y="0"/>
                    <a:pt x="108" y="0"/>
                  </a:cubicBezTo>
                  <a:close/>
                  <a:moveTo>
                    <a:pt x="22" y="88"/>
                  </a:moveTo>
                  <a:cubicBezTo>
                    <a:pt x="24" y="88"/>
                    <a:pt x="26" y="88"/>
                    <a:pt x="28" y="88"/>
                  </a:cubicBezTo>
                  <a:cubicBezTo>
                    <a:pt x="28" y="80"/>
                    <a:pt x="28" y="80"/>
                    <a:pt x="28" y="80"/>
                  </a:cubicBezTo>
                  <a:cubicBezTo>
                    <a:pt x="23" y="80"/>
                    <a:pt x="23" y="80"/>
                    <a:pt x="23" y="80"/>
                  </a:cubicBezTo>
                  <a:cubicBezTo>
                    <a:pt x="22" y="78"/>
                    <a:pt x="22" y="78"/>
                    <a:pt x="22" y="78"/>
                  </a:cubicBezTo>
                  <a:cubicBezTo>
                    <a:pt x="22" y="88"/>
                    <a:pt x="22" y="88"/>
                    <a:pt x="22" y="88"/>
                  </a:cubicBezTo>
                  <a:close/>
                  <a:moveTo>
                    <a:pt x="10" y="88"/>
                  </a:moveTo>
                  <a:cubicBezTo>
                    <a:pt x="17" y="88"/>
                    <a:pt x="17" y="88"/>
                    <a:pt x="17" y="88"/>
                  </a:cubicBezTo>
                  <a:cubicBezTo>
                    <a:pt x="17" y="71"/>
                    <a:pt x="17" y="71"/>
                    <a:pt x="17" y="71"/>
                  </a:cubicBezTo>
                  <a:cubicBezTo>
                    <a:pt x="17" y="70"/>
                    <a:pt x="17" y="70"/>
                    <a:pt x="17" y="70"/>
                  </a:cubicBezTo>
                  <a:cubicBezTo>
                    <a:pt x="10" y="72"/>
                    <a:pt x="10" y="72"/>
                    <a:pt x="10" y="72"/>
                  </a:cubicBezTo>
                  <a:cubicBezTo>
                    <a:pt x="10" y="88"/>
                    <a:pt x="10" y="88"/>
                    <a:pt x="10" y="88"/>
                  </a:cubicBezTo>
                  <a:close/>
                  <a:moveTo>
                    <a:pt x="33" y="88"/>
                  </a:moveTo>
                  <a:cubicBezTo>
                    <a:pt x="35" y="88"/>
                    <a:pt x="38" y="88"/>
                    <a:pt x="40" y="88"/>
                  </a:cubicBezTo>
                  <a:cubicBezTo>
                    <a:pt x="40" y="78"/>
                    <a:pt x="40" y="78"/>
                    <a:pt x="40" y="78"/>
                  </a:cubicBezTo>
                  <a:cubicBezTo>
                    <a:pt x="39" y="79"/>
                    <a:pt x="39" y="79"/>
                    <a:pt x="39" y="79"/>
                  </a:cubicBezTo>
                  <a:cubicBezTo>
                    <a:pt x="33" y="80"/>
                    <a:pt x="33" y="80"/>
                    <a:pt x="33" y="80"/>
                  </a:cubicBezTo>
                  <a:cubicBezTo>
                    <a:pt x="33" y="88"/>
                    <a:pt x="33" y="88"/>
                    <a:pt x="33" y="88"/>
                  </a:cubicBezTo>
                  <a:close/>
                  <a:moveTo>
                    <a:pt x="45" y="88"/>
                  </a:moveTo>
                  <a:cubicBezTo>
                    <a:pt x="47" y="88"/>
                    <a:pt x="49" y="88"/>
                    <a:pt x="51" y="88"/>
                  </a:cubicBezTo>
                  <a:cubicBezTo>
                    <a:pt x="51" y="62"/>
                    <a:pt x="51" y="62"/>
                    <a:pt x="51" y="62"/>
                  </a:cubicBezTo>
                  <a:cubicBezTo>
                    <a:pt x="49" y="60"/>
                    <a:pt x="49" y="60"/>
                    <a:pt x="49" y="60"/>
                  </a:cubicBezTo>
                  <a:cubicBezTo>
                    <a:pt x="45" y="68"/>
                    <a:pt x="45" y="68"/>
                    <a:pt x="45" y="68"/>
                  </a:cubicBezTo>
                  <a:cubicBezTo>
                    <a:pt x="45" y="88"/>
                    <a:pt x="45" y="88"/>
                    <a:pt x="45" y="88"/>
                  </a:cubicBezTo>
                  <a:close/>
                  <a:moveTo>
                    <a:pt x="56" y="88"/>
                  </a:moveTo>
                  <a:cubicBezTo>
                    <a:pt x="58" y="88"/>
                    <a:pt x="60" y="88"/>
                    <a:pt x="63" y="88"/>
                  </a:cubicBezTo>
                  <a:cubicBezTo>
                    <a:pt x="63" y="73"/>
                    <a:pt x="63" y="73"/>
                    <a:pt x="63" y="73"/>
                  </a:cubicBezTo>
                  <a:cubicBezTo>
                    <a:pt x="56" y="67"/>
                    <a:pt x="56" y="67"/>
                    <a:pt x="56" y="67"/>
                  </a:cubicBezTo>
                  <a:cubicBezTo>
                    <a:pt x="56" y="88"/>
                    <a:pt x="56" y="88"/>
                    <a:pt x="56" y="88"/>
                  </a:cubicBezTo>
                  <a:close/>
                  <a:moveTo>
                    <a:pt x="68" y="88"/>
                  </a:moveTo>
                  <a:cubicBezTo>
                    <a:pt x="70" y="88"/>
                    <a:pt x="72" y="88"/>
                    <a:pt x="74" y="88"/>
                  </a:cubicBezTo>
                  <a:cubicBezTo>
                    <a:pt x="74" y="72"/>
                    <a:pt x="74" y="72"/>
                    <a:pt x="74" y="72"/>
                  </a:cubicBezTo>
                  <a:cubicBezTo>
                    <a:pt x="68" y="75"/>
                    <a:pt x="68" y="75"/>
                    <a:pt x="68" y="75"/>
                  </a:cubicBezTo>
                  <a:lnTo>
                    <a:pt x="68" y="88"/>
                  </a:lnTo>
                  <a:close/>
                </a:path>
              </a:pathLst>
            </a:custGeom>
            <a:solidFill>
              <a:srgbClr val="FFFFFF"/>
            </a:solidFill>
            <a:ln>
              <a:noFill/>
            </a:ln>
          </p:spPr>
          <p:txBody>
            <a:bodyPr vert="horz" wrap="square" lIns="91428" tIns="45714" rIns="91428" bIns="45714" numCol="1" anchor="t" anchorCtr="0" compatLnSpc="1">
              <a:prstTxWarp prst="textNoShape">
                <a:avLst/>
              </a:prstTxWarp>
            </a:bodyPr>
            <a:lstStyle/>
            <a:p>
              <a:pPr defTabSz="914387" eaLnBrk="1" fontAlgn="auto" hangingPunct="1">
                <a:spcBef>
                  <a:spcPts val="0"/>
                </a:spcBef>
                <a:spcAft>
                  <a:spcPts val="0"/>
                </a:spcAft>
              </a:pPr>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9" name="文本框 8"/>
          <p:cNvSpPr txBox="1"/>
          <p:nvPr/>
        </p:nvSpPr>
        <p:spPr bwMode="gray">
          <a:xfrm>
            <a:off x="522373" y="1950640"/>
            <a:ext cx="3428846" cy="33239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您的网络出现</a:t>
            </a:r>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状态问题</a:t>
            </a:r>
            <a:endParaRPr lang="en-US" altLang="zh-CN"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设备离线、端口闪断、</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离线等</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p>
          <a:p>
            <a:endParaRPr lang="en-US" altLang="zh-CN"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en-US" altLang="zh-CN"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Wingdings" panose="05000000000000000000" pitchFamily="2" charset="2"/>
              <a:buChar char="ü"/>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您的</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出现</a:t>
            </a:r>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接入问题</a:t>
            </a:r>
            <a:endParaRPr lang="en-US" altLang="zh-CN"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出现批量认证失败</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等问题</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en-US" altLang="zh-CN"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Wingdings" panose="05000000000000000000" pitchFamily="2" charset="2"/>
              <a:buChar char="ü"/>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您的网络出现</a:t>
            </a:r>
            <a:r>
              <a:rPr lang="zh-CN" altLang="en-US"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拥塞问题</a:t>
            </a:r>
            <a:endParaRPr lang="en-US" altLang="zh-CN"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出现端口拥塞、队列拥塞</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等问题</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buFont typeface="Wingdings" panose="05000000000000000000" pitchFamily="2" charset="2"/>
              <a:buChar char="ü"/>
            </a:pP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您的网络出现</a:t>
            </a:r>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误包问题</a:t>
            </a:r>
            <a:endParaRPr lang="en-US" altLang="zh-CN"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端口出现误包超过阈值、误包数持续增长</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等问题</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燕尾形 17"/>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五边形 19"/>
          <p:cNvSpPr/>
          <p:nvPr/>
        </p:nvSpPr>
        <p:spPr bwMode="gray">
          <a:xfrm>
            <a:off x="7185569" y="124239"/>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602539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多维网络健康度评估模型，全方位评价网络</a:t>
            </a:r>
            <a:r>
              <a:rPr lang="zh-CN" altLang="en-US" dirty="0" smtClean="0">
                <a:sym typeface="Huawei Sans" panose="020C0503030203020204" pitchFamily="34" charset="0"/>
              </a:rPr>
              <a:t>体验</a:t>
            </a:r>
            <a:endParaRPr lang="zh-CN" altLang="en-US" dirty="0">
              <a:sym typeface="Huawei Sans" panose="020C0503030203020204" pitchFamily="34" charset="0"/>
            </a:endParaRPr>
          </a:p>
        </p:txBody>
      </p:sp>
      <p:sp>
        <p:nvSpPr>
          <p:cNvPr id="3" name="圆角矩形 2"/>
          <p:cNvSpPr/>
          <p:nvPr/>
        </p:nvSpPr>
        <p:spPr bwMode="gray">
          <a:xfrm>
            <a:off x="459713" y="1095716"/>
            <a:ext cx="5439182"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无线网络健康度评估模型</a:t>
            </a:r>
          </a:p>
        </p:txBody>
      </p:sp>
      <p:sp>
        <p:nvSpPr>
          <p:cNvPr id="4" name="圆角矩形 3"/>
          <p:cNvSpPr/>
          <p:nvPr/>
        </p:nvSpPr>
        <p:spPr bwMode="gray">
          <a:xfrm>
            <a:off x="455613" y="1491852"/>
            <a:ext cx="5443742" cy="4674573"/>
          </a:xfrm>
          <a:prstGeom prst="roundRect">
            <a:avLst>
              <a:gd name="adj" fmla="val 1810"/>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29" name="表格 28"/>
          <p:cNvGraphicFramePr>
            <a:graphicFrameLocks noGrp="1"/>
          </p:cNvGraphicFramePr>
          <p:nvPr>
            <p:extLst>
              <p:ext uri="{D42A27DB-BD31-4B8C-83A1-F6EECF244321}">
                <p14:modId xmlns:p14="http://schemas.microsoft.com/office/powerpoint/2010/main" val="705583458"/>
              </p:ext>
            </p:extLst>
          </p:nvPr>
        </p:nvGraphicFramePr>
        <p:xfrm>
          <a:off x="612049" y="4084073"/>
          <a:ext cx="5176339" cy="1920240"/>
        </p:xfrm>
        <a:graphic>
          <a:graphicData uri="http://schemas.openxmlformats.org/drawingml/2006/table">
            <a:tbl>
              <a:tblPr/>
              <a:tblGrid>
                <a:gridCol w="828824"/>
                <a:gridCol w="1117600"/>
                <a:gridCol w="3229915"/>
              </a:tblGrid>
              <a:tr h="25579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分类</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评估指标</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根因指标</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43840">
                <a:tc rowSpan="2">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接入体验</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接入成功率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关联</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认证</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成功率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243840">
                <a:tc vMerge="1">
                  <a:txBody>
                    <a:bodyPr/>
                    <a:lstStyle/>
                    <a:p>
                      <a:pPr algn="ctr" rtl="0" fontAlgn="ct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接入</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耗时</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关联</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认证</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耗时</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243840">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漫游体验</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漫游达标率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漫游成功率</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漫游</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耗时</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243840">
                <a:tc rowSpan="3">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吞吐体验</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信号与干扰</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信号强度达标率、干扰达标率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243840">
                <a:tc vMerge="1">
                  <a:txBody>
                    <a:bodyPr/>
                    <a:lstStyle/>
                    <a:p>
                      <a:pPr algn="ctr" rtl="0" fontAlgn="ct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容量健康度</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信道</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利用率达标率</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用户</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数达标率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243840">
                <a:tc vMerge="1">
                  <a:txBody>
                    <a:bodyPr/>
                    <a:lstStyle/>
                    <a:p>
                      <a:pPr algn="ctr" rtl="0" fontAlgn="ctr"/>
                      <a:endParaRPr lang="zh-CN" altLang="en-US"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吞吐达标率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非</a:t>
                      </a:r>
                      <a:r>
                        <a:rPr lang="en-US" alt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5G</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优先占比</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空口</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拥塞达标率</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带宽</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30" name="矩形 29"/>
          <p:cNvSpPr/>
          <p:nvPr/>
        </p:nvSpPr>
        <p:spPr bwMode="gray">
          <a:xfrm>
            <a:off x="1292096" y="1576131"/>
            <a:ext cx="3904948" cy="338554"/>
          </a:xfrm>
          <a:prstGeom prst="rect">
            <a:avLst/>
          </a:prstGeom>
        </p:spPr>
        <p:txBody>
          <a:bodyPr wrap="square">
            <a:spAutoFit/>
          </a:bodyPr>
          <a:lstStyle/>
          <a:p>
            <a:pPr algn="ctr"/>
            <a:r>
              <a:rPr lang="zh-CN" altLang="en-US" sz="1600" b="1" kern="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三</a:t>
            </a:r>
            <a:r>
              <a:rPr lang="zh-CN" altLang="en-US" sz="1600" b="1"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个</a:t>
            </a:r>
            <a:r>
              <a:rPr lang="zh-CN" altLang="en-US" sz="14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维度，</a:t>
            </a:r>
            <a:r>
              <a:rPr lang="zh-CN" altLang="en-US" sz="1600" b="1"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六个</a:t>
            </a:r>
            <a:r>
              <a:rPr lang="zh-CN" altLang="en-US" sz="14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子类，直观呈现无线网络质量</a:t>
            </a:r>
            <a:endParaRPr lang="zh-CN" altLang="en-US" sz="1400" b="1"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Working with Partners to Build One of the Five Clouds for an Intelligent World"/>
          <p:cNvSpPr txBox="1"/>
          <p:nvPr/>
        </p:nvSpPr>
        <p:spPr bwMode="gray">
          <a:xfrm>
            <a:off x="612049" y="2122156"/>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接入体验</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Working with Partners to Build One of the Five Clouds for an Intelligent World"/>
          <p:cNvSpPr txBox="1"/>
          <p:nvPr/>
        </p:nvSpPr>
        <p:spPr bwMode="gray">
          <a:xfrm>
            <a:off x="3274143" y="1996581"/>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Working with Partners to Build One of the Five Clouds for an Intelligent World"/>
          <p:cNvSpPr txBox="1"/>
          <p:nvPr/>
        </p:nvSpPr>
        <p:spPr bwMode="gray">
          <a:xfrm>
            <a:off x="612049" y="2801232"/>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漫游</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体验</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Working with Partners to Build One of the Five Clouds for an Intelligent World"/>
          <p:cNvSpPr txBox="1"/>
          <p:nvPr/>
        </p:nvSpPr>
        <p:spPr bwMode="gray">
          <a:xfrm>
            <a:off x="3274143" y="2675657"/>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Working with Partners to Build One of the Five Clouds for an Intelligent World"/>
          <p:cNvSpPr txBox="1"/>
          <p:nvPr/>
        </p:nvSpPr>
        <p:spPr bwMode="gray">
          <a:xfrm>
            <a:off x="612049" y="3498781"/>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吞吐</a:t>
            </a: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体验</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Working with Partners to Build One of the Five Clouds for an Intelligent World"/>
          <p:cNvSpPr txBox="1"/>
          <p:nvPr/>
        </p:nvSpPr>
        <p:spPr bwMode="gray">
          <a:xfrm>
            <a:off x="3274143" y="3373206"/>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连接符 60"/>
          <p:cNvCxnSpPr>
            <a:stCxn id="55" idx="5"/>
            <a:endCxn id="56" idx="1"/>
          </p:cNvCxnSpPr>
          <p:nvPr/>
        </p:nvCxnSpPr>
        <p:spPr bwMode="gray">
          <a:xfrm>
            <a:off x="1964243" y="2302581"/>
            <a:ext cx="1309900" cy="0"/>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7" idx="5"/>
            <a:endCxn id="58" idx="1"/>
          </p:cNvCxnSpPr>
          <p:nvPr/>
        </p:nvCxnSpPr>
        <p:spPr bwMode="gray">
          <a:xfrm>
            <a:off x="1964243" y="2981657"/>
            <a:ext cx="1309900" cy="0"/>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9" idx="5"/>
            <a:endCxn id="60" idx="1"/>
          </p:cNvCxnSpPr>
          <p:nvPr/>
        </p:nvCxnSpPr>
        <p:spPr bwMode="gray">
          <a:xfrm>
            <a:off x="1964243" y="3679206"/>
            <a:ext cx="1309900" cy="0"/>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5" name="Working with Partners to Build One of the Five Clouds for an Intelligent World"/>
          <p:cNvSpPr txBox="1"/>
          <p:nvPr/>
        </p:nvSpPr>
        <p:spPr bwMode="gray">
          <a:xfrm>
            <a:off x="3364989" y="1996581"/>
            <a:ext cx="2423399"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用户是否能正常接入</a:t>
            </a:r>
            <a:r>
              <a:rPr lang="zh-CN" altLang="en-US" b="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Working with Partners to Build One of the Five Clouds for an Intelligent World"/>
          <p:cNvSpPr txBox="1"/>
          <p:nvPr/>
        </p:nvSpPr>
        <p:spPr bwMode="gray">
          <a:xfrm>
            <a:off x="3364989" y="2675657"/>
            <a:ext cx="2423399"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0" kern="0">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用户移动过程中是否顺畅，没有卡顿</a:t>
            </a:r>
          </a:p>
        </p:txBody>
      </p:sp>
      <p:sp>
        <p:nvSpPr>
          <p:cNvPr id="87" name="Working with Partners to Build One of the Five Clouds for an Intelligent World"/>
          <p:cNvSpPr txBox="1"/>
          <p:nvPr/>
        </p:nvSpPr>
        <p:spPr bwMode="gray">
          <a:xfrm>
            <a:off x="3364989" y="3383720"/>
            <a:ext cx="2423399"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0" kern="0">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无线网络是否存在干扰，是否需要扩容</a:t>
            </a:r>
          </a:p>
        </p:txBody>
      </p:sp>
      <p:sp>
        <p:nvSpPr>
          <p:cNvPr id="94" name="圆角矩形 93"/>
          <p:cNvSpPr/>
          <p:nvPr/>
        </p:nvSpPr>
        <p:spPr bwMode="gray">
          <a:xfrm>
            <a:off x="6092673" y="1095716"/>
            <a:ext cx="5439182"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有线</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健康度评估模型</a:t>
            </a:r>
          </a:p>
        </p:txBody>
      </p:sp>
      <p:sp>
        <p:nvSpPr>
          <p:cNvPr id="95" name="圆角矩形 94"/>
          <p:cNvSpPr/>
          <p:nvPr/>
        </p:nvSpPr>
        <p:spPr bwMode="gray">
          <a:xfrm>
            <a:off x="6088573" y="1491852"/>
            <a:ext cx="5443742" cy="4674573"/>
          </a:xfrm>
          <a:prstGeom prst="roundRect">
            <a:avLst>
              <a:gd name="adj" fmla="val 1810"/>
            </a:avLst>
          </a:prstGeom>
          <a:noFill/>
          <a:ln w="3175" cap="flat" cmpd="sng" algn="ctr">
            <a:solidFill>
              <a:schemeClr val="bg1">
                <a:lumMod val="75000"/>
              </a:schemeClr>
            </a:solidFill>
            <a:prstDash val="solid"/>
            <a:round/>
            <a:headEnd type="none" w="med" len="med"/>
            <a:tailEnd type="none" w="med" len="med"/>
          </a:ln>
          <a:effectLst/>
        </p:spPr>
        <p:txBody>
          <a:bodyPr vert="horz" wrap="square" lIns="121896" tIns="60949" rIns="121896" bIns="60949" numCol="1" rtlCol="0" anchor="t" anchorCtr="0" compatLnSpc="1">
            <a:prstTxWarp prst="textNoShape">
              <a:avLst/>
            </a:prstTxWarp>
          </a:bodyPr>
          <a:lstStyle/>
          <a:p>
            <a:pPr algn="ctr" defTabSz="1068595"/>
            <a:endParaRPr lang="zh-CN" altLang="en-US" sz="3199"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 name="矩形 96"/>
          <p:cNvSpPr/>
          <p:nvPr/>
        </p:nvSpPr>
        <p:spPr bwMode="gray">
          <a:xfrm>
            <a:off x="6095999" y="1576131"/>
            <a:ext cx="5435855" cy="338554"/>
          </a:xfrm>
          <a:prstGeom prst="rect">
            <a:avLst/>
          </a:prstGeom>
        </p:spPr>
        <p:txBody>
          <a:bodyPr wrap="square">
            <a:spAutoFit/>
          </a:bodyPr>
          <a:lstStyle/>
          <a:p>
            <a:pPr algn="ctr"/>
            <a:r>
              <a:rPr lang="zh-CN" altLang="en-US" sz="1400" b="1" kern="0" dirty="0">
                <a:latin typeface="Huawei Sans" panose="020C0503030203020204" pitchFamily="34" charset="0"/>
                <a:ea typeface="方正兰亭黑简体" panose="02000000000000000000" pitchFamily="2" charset="-122"/>
                <a:cs typeface="+mn-ea"/>
                <a:sym typeface="Huawei Sans" panose="020C0503030203020204" pitchFamily="34" charset="0"/>
              </a:rPr>
              <a:t>分析</a:t>
            </a:r>
            <a:r>
              <a:rPr lang="en-US" altLang="zh-CN" sz="1600" b="1"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10+</a:t>
            </a:r>
            <a:r>
              <a:rPr lang="zh-CN" altLang="en-US" sz="1400" b="1" kern="0" dirty="0">
                <a:latin typeface="Huawei Sans" panose="020C0503030203020204" pitchFamily="34" charset="0"/>
                <a:ea typeface="方正兰亭黑简体" panose="02000000000000000000" pitchFamily="2" charset="-122"/>
                <a:cs typeface="+mn-ea"/>
                <a:sym typeface="Huawei Sans" panose="020C0503030203020204" pitchFamily="34" charset="0"/>
              </a:rPr>
              <a:t>类监控对象，</a:t>
            </a:r>
            <a:r>
              <a:rPr lang="en-US" altLang="zh-CN" sz="1600" b="1"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30+</a:t>
            </a:r>
            <a:r>
              <a:rPr lang="zh-CN" altLang="en-US" sz="1400" b="1" kern="0" dirty="0">
                <a:latin typeface="Huawei Sans" panose="020C0503030203020204" pitchFamily="34" charset="0"/>
                <a:ea typeface="方正兰亭黑简体" panose="02000000000000000000" pitchFamily="2" charset="-122"/>
                <a:cs typeface="+mn-ea"/>
                <a:sym typeface="Huawei Sans" panose="020C0503030203020204" pitchFamily="34" charset="0"/>
              </a:rPr>
              <a:t>项指标数据，直观呈现有线网络质量</a:t>
            </a:r>
          </a:p>
        </p:txBody>
      </p:sp>
      <p:sp>
        <p:nvSpPr>
          <p:cNvPr id="98" name="Working with Partners to Build One of the Five Clouds for an Intelligent World"/>
          <p:cNvSpPr txBox="1"/>
          <p:nvPr/>
        </p:nvSpPr>
        <p:spPr bwMode="gray">
          <a:xfrm>
            <a:off x="6245009" y="2122156"/>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设备环境</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Working with Partners to Build One of the Five Clouds for an Intelligent World"/>
          <p:cNvSpPr txBox="1"/>
          <p:nvPr/>
        </p:nvSpPr>
        <p:spPr bwMode="gray">
          <a:xfrm>
            <a:off x="8907103" y="1996581"/>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Working with Partners to Build One of the Five Clouds for an Intelligent World"/>
          <p:cNvSpPr txBox="1"/>
          <p:nvPr/>
        </p:nvSpPr>
        <p:spPr bwMode="gray">
          <a:xfrm>
            <a:off x="6245009" y="3100564"/>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设备容量</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Working with Partners to Build One of the Five Clouds for an Intelligent World"/>
          <p:cNvSpPr txBox="1"/>
          <p:nvPr/>
        </p:nvSpPr>
        <p:spPr bwMode="gray">
          <a:xfrm>
            <a:off x="8907103" y="2967703"/>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Working with Partners to Build One of the Five Clouds for an Intelligent World"/>
          <p:cNvSpPr txBox="1"/>
          <p:nvPr/>
        </p:nvSpPr>
        <p:spPr bwMode="gray">
          <a:xfrm>
            <a:off x="6245009" y="4078972"/>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网络状态</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Working with Partners to Build One of the Five Clouds for an Intelligent World"/>
          <p:cNvSpPr txBox="1"/>
          <p:nvPr/>
        </p:nvSpPr>
        <p:spPr bwMode="gray">
          <a:xfrm>
            <a:off x="8907103" y="3950168"/>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4" name="直接连接符 103"/>
          <p:cNvCxnSpPr>
            <a:stCxn id="98" idx="5"/>
            <a:endCxn id="99" idx="1"/>
          </p:cNvCxnSpPr>
          <p:nvPr/>
        </p:nvCxnSpPr>
        <p:spPr bwMode="gray">
          <a:xfrm>
            <a:off x="7597203" y="2302581"/>
            <a:ext cx="1309900" cy="0"/>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00" idx="5"/>
            <a:endCxn id="101" idx="1"/>
          </p:cNvCxnSpPr>
          <p:nvPr/>
        </p:nvCxnSpPr>
        <p:spPr bwMode="gray">
          <a:xfrm flipV="1">
            <a:off x="7597203" y="3273703"/>
            <a:ext cx="1309900" cy="7286"/>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102" idx="5"/>
            <a:endCxn id="103" idx="1"/>
          </p:cNvCxnSpPr>
          <p:nvPr/>
        </p:nvCxnSpPr>
        <p:spPr bwMode="gray">
          <a:xfrm flipV="1">
            <a:off x="7597203" y="4256168"/>
            <a:ext cx="1309900" cy="3229"/>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07" name="Working with Partners to Build One of the Five Clouds for an Intelligent World"/>
          <p:cNvSpPr txBox="1"/>
          <p:nvPr/>
        </p:nvSpPr>
        <p:spPr bwMode="gray">
          <a:xfrm>
            <a:off x="9002598" y="1996581"/>
            <a:ext cx="2418750"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物理器件是否有状态异常</a:t>
            </a:r>
          </a:p>
        </p:txBody>
      </p:sp>
      <p:sp>
        <p:nvSpPr>
          <p:cNvPr id="108" name="Working with Partners to Build One of the Five Clouds for an Intelligent World"/>
          <p:cNvSpPr txBox="1"/>
          <p:nvPr/>
        </p:nvSpPr>
        <p:spPr bwMode="gray">
          <a:xfrm>
            <a:off x="9002598" y="2967703"/>
            <a:ext cx="2418750"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0" kern="0">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感知设备资源数量或容量是否够用</a:t>
            </a:r>
          </a:p>
        </p:txBody>
      </p:sp>
      <p:sp>
        <p:nvSpPr>
          <p:cNvPr id="109" name="Working with Partners to Build One of the Five Clouds for an Intelligent World"/>
          <p:cNvSpPr txBox="1"/>
          <p:nvPr/>
        </p:nvSpPr>
        <p:spPr bwMode="gray">
          <a:xfrm>
            <a:off x="9002598" y="3960682"/>
            <a:ext cx="2418750"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0" kern="0">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网络接口是否有状态异常</a:t>
            </a:r>
          </a:p>
        </p:txBody>
      </p:sp>
      <p:sp>
        <p:nvSpPr>
          <p:cNvPr id="113" name="Working with Partners to Build One of the Five Clouds for an Intelligent World"/>
          <p:cNvSpPr txBox="1"/>
          <p:nvPr/>
        </p:nvSpPr>
        <p:spPr bwMode="gray">
          <a:xfrm>
            <a:off x="6245009" y="5057379"/>
            <a:ext cx="1502438" cy="360850"/>
          </a:xfrm>
          <a:prstGeom prst="flowChartInputOutput">
            <a:avLst/>
          </a:prstGeom>
          <a:solidFill>
            <a:schemeClr val="bg1">
              <a:lumMod val="95000"/>
            </a:schemeClr>
          </a:solidFill>
          <a:ln w="63500" cap="rnd">
            <a:solidFill>
              <a:schemeClr val="bg1">
                <a:lumMod val="85000"/>
              </a:schemeClr>
            </a:solidFill>
            <a:round/>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solidFill>
                  <a:srgbClr val="EC7061"/>
                </a:solidFill>
                <a:cs typeface="+mn-ea"/>
              </a:defRPr>
            </a:lvl1pPr>
          </a:lstStyle>
          <a:p>
            <a:pPr algn="ctr"/>
            <a:r>
              <a:rPr lang="zh-CN" altLang="en-US"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网络性能</a:t>
            </a:r>
            <a:endPar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Working with Partners to Build One of the Five Clouds for an Intelligent World"/>
          <p:cNvSpPr txBox="1"/>
          <p:nvPr/>
        </p:nvSpPr>
        <p:spPr bwMode="gray">
          <a:xfrm>
            <a:off x="8907103" y="4931804"/>
            <a:ext cx="2514246" cy="612000"/>
          </a:xfrm>
          <a:prstGeom prst="rect">
            <a:avLst/>
          </a:prstGeom>
          <a:solidFill>
            <a:schemeClr val="bg1">
              <a:lumMod val="95000"/>
            </a:schemeClr>
          </a:solidFill>
          <a:ln w="3175">
            <a:solidFill>
              <a:schemeClr val="bg1">
                <a:lumMod val="75000"/>
              </a:schemeClr>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endParaRPr lang="zh-CN" altLang="en-US"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直接连接符 114"/>
          <p:cNvCxnSpPr>
            <a:stCxn id="113" idx="5"/>
            <a:endCxn id="114" idx="1"/>
          </p:cNvCxnSpPr>
          <p:nvPr/>
        </p:nvCxnSpPr>
        <p:spPr bwMode="gray">
          <a:xfrm>
            <a:off x="7597203" y="5237804"/>
            <a:ext cx="1309900" cy="0"/>
          </a:xfrm>
          <a:prstGeom prst="line">
            <a:avLst/>
          </a:prstGeom>
          <a:ln w="28575">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6" name="Working with Partners to Build One of the Five Clouds for an Intelligent World"/>
          <p:cNvSpPr txBox="1"/>
          <p:nvPr/>
        </p:nvSpPr>
        <p:spPr bwMode="gray">
          <a:xfrm>
            <a:off x="9002598" y="4942318"/>
            <a:ext cx="2418750"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0" kern="0">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数据传输异常，影响吞吐</a:t>
            </a:r>
          </a:p>
        </p:txBody>
      </p:sp>
      <p:sp>
        <p:nvSpPr>
          <p:cNvPr id="120" name="Working with Partners to Build One of the Five Clouds for an Intelligent World"/>
          <p:cNvSpPr txBox="1"/>
          <p:nvPr/>
        </p:nvSpPr>
        <p:spPr bwMode="gray">
          <a:xfrm>
            <a:off x="6179419" y="2437168"/>
            <a:ext cx="2099342"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整机、单板、风扇、电源、文件系统故障等</a:t>
            </a:r>
          </a:p>
        </p:txBody>
      </p:sp>
      <p:sp>
        <p:nvSpPr>
          <p:cNvPr id="121" name="Working with Partners to Build One of the Five Clouds for an Intelligent World"/>
          <p:cNvSpPr txBox="1"/>
          <p:nvPr/>
        </p:nvSpPr>
        <p:spPr bwMode="gray">
          <a:xfrm>
            <a:off x="6179419" y="3412212"/>
            <a:ext cx="2099342"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en-US" altLang="zh-CN" sz="1200" b="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ARP/MAC/FIB</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等表项容量、</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资源、存储器容量等</a:t>
            </a:r>
          </a:p>
        </p:txBody>
      </p:sp>
      <p:sp>
        <p:nvSpPr>
          <p:cNvPr id="122" name="Working with Partners to Build One of the Five Clouds for an Intelligent World"/>
          <p:cNvSpPr txBox="1"/>
          <p:nvPr/>
        </p:nvSpPr>
        <p:spPr bwMode="gray">
          <a:xfrm>
            <a:off x="6179419" y="4384943"/>
            <a:ext cx="2099342"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zh-CN" altLang="en-US" sz="1200" b="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闪断、接口假死、光模块异常等</a:t>
            </a:r>
          </a:p>
        </p:txBody>
      </p:sp>
      <p:sp>
        <p:nvSpPr>
          <p:cNvPr id="123" name="Working with Partners to Build One of the Five Clouds for an Intelligent World"/>
          <p:cNvSpPr txBox="1"/>
          <p:nvPr/>
        </p:nvSpPr>
        <p:spPr bwMode="gray">
          <a:xfrm>
            <a:off x="6179419" y="5368856"/>
            <a:ext cx="2099342" cy="612000"/>
          </a:xfrm>
          <a:prstGeom prst="rect">
            <a:avLst/>
          </a:prstGeom>
          <a:noFill/>
          <a:ln w="3175">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noAutofit/>
          </a:bodyPr>
          <a:lstStyle>
            <a:defPPr>
              <a:defRPr lang="en-US"/>
            </a:defPPr>
            <a:lvl1pPr defTabSz="609598" hangingPunct="0">
              <a:lnSpc>
                <a:spcPct val="100000"/>
              </a:lnSpc>
              <a:spcAft>
                <a:spcPts val="600"/>
              </a:spcAft>
              <a:defRPr sz="1400" b="1" kern="0">
                <a:solidFill>
                  <a:srgbClr val="EC7061"/>
                </a:solidFill>
                <a:cs typeface="+mn-ea"/>
              </a:defRPr>
            </a:lvl1pPr>
          </a:lstStyle>
          <a:p>
            <a:r>
              <a:rPr lang="zh-CN" altLang="en-US" sz="1200" b="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拥塞、队列拥塞、接口误包等</a:t>
            </a:r>
          </a:p>
        </p:txBody>
      </p:sp>
      <p:sp>
        <p:nvSpPr>
          <p:cNvPr id="50" name="燕尾形 49"/>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51"/>
          <p:cNvSpPr/>
          <p:nvPr/>
        </p:nvSpPr>
        <p:spPr bwMode="gray">
          <a:xfrm>
            <a:off x="7185569" y="124239"/>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883546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bwMode="invGray">
          <a:xfrm>
            <a:off x="6357673" y="2938302"/>
            <a:ext cx="5267401" cy="3097036"/>
          </a:xfrm>
          <a:prstGeom prst="rect">
            <a:avLst/>
          </a:prstGeom>
        </p:spPr>
      </p:pic>
      <p:pic>
        <p:nvPicPr>
          <p:cNvPr id="23" name="图片 22"/>
          <p:cNvPicPr>
            <a:picLocks noChangeAspect="1"/>
          </p:cNvPicPr>
          <p:nvPr/>
        </p:nvPicPr>
        <p:blipFill>
          <a:blip r:embed="rId4"/>
          <a:stretch>
            <a:fillRect/>
          </a:stretch>
        </p:blipFill>
        <p:spPr bwMode="invGray">
          <a:xfrm>
            <a:off x="3177953" y="4898180"/>
            <a:ext cx="2761307" cy="1095843"/>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a:t>
            </a:r>
            <a:r>
              <a:rPr lang="zh-CN" altLang="en-US" dirty="0" smtClean="0">
                <a:sym typeface="Huawei Sans" panose="020C0503030203020204" pitchFamily="34" charset="0"/>
              </a:rPr>
              <a:t>：</a:t>
            </a:r>
            <a:r>
              <a:rPr lang="zh-CN" altLang="en-US" dirty="0">
                <a:sym typeface="Huawei Sans" panose="020C0503030203020204" pitchFamily="34" charset="0"/>
              </a:rPr>
              <a:t>无线</a:t>
            </a:r>
            <a:r>
              <a:rPr lang="zh-CN" altLang="en-US" dirty="0" smtClean="0">
                <a:sym typeface="Huawei Sans" panose="020C0503030203020204" pitchFamily="34" charset="0"/>
              </a:rPr>
              <a:t>网络健康度</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67557"/>
            <a:ext cx="11256962" cy="1253402"/>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ct val="150000"/>
              </a:lnSpc>
              <a:spcAft>
                <a:spcPts val="600"/>
              </a:spcAft>
            </a:pPr>
            <a:r>
              <a:rPr lang="zh-CN" altLang="en-US" sz="16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某局点运维人员使用</a:t>
            </a:r>
            <a:r>
              <a:rPr lang="en-US" altLang="zh-CN"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无线网络健康度，</a:t>
            </a:r>
            <a:r>
              <a:rPr lang="zh-CN" altLang="en-US" sz="16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发现“</a:t>
            </a:r>
            <a:r>
              <a:rPr lang="en-US" altLang="zh-CN"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Shenzhen</a:t>
            </a:r>
            <a:r>
              <a:rPr lang="zh-CN" altLang="en-US" sz="16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网络质量评估明显低于其他园区。对其进行维度分析，发现“</a:t>
            </a:r>
            <a:r>
              <a:rPr lang="en-US" altLang="zh-CN"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Shenzhen</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”园区接入成功率、覆盖、吞吐达标率得分均低于行业</a:t>
            </a:r>
            <a:r>
              <a:rPr lang="en-US" altLang="zh-CN"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Benchmark</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。运维人员进行维度钻取分析，发现问题原因，将问题修复解决。</a:t>
            </a:r>
          </a:p>
        </p:txBody>
      </p:sp>
      <p:pic>
        <p:nvPicPr>
          <p:cNvPr id="6" name="图片 5"/>
          <p:cNvPicPr>
            <a:picLocks noChangeAspect="1"/>
          </p:cNvPicPr>
          <p:nvPr/>
        </p:nvPicPr>
        <p:blipFill>
          <a:blip r:embed="rId5"/>
          <a:stretch>
            <a:fillRect/>
          </a:stretch>
        </p:blipFill>
        <p:spPr bwMode="invGray">
          <a:xfrm>
            <a:off x="3177953" y="2932410"/>
            <a:ext cx="2602737" cy="1117897"/>
          </a:xfrm>
          <a:prstGeom prst="rect">
            <a:avLst/>
          </a:prstGeom>
        </p:spPr>
      </p:pic>
      <p:sp>
        <p:nvSpPr>
          <p:cNvPr id="7" name="文本框 6"/>
          <p:cNvSpPr txBox="1"/>
          <p:nvPr/>
        </p:nvSpPr>
        <p:spPr bwMode="gray">
          <a:xfrm>
            <a:off x="455613" y="2299706"/>
            <a:ext cx="1938772" cy="461665"/>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“无线健康度”</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文本框 7"/>
          <p:cNvSpPr txBox="1"/>
          <p:nvPr/>
        </p:nvSpPr>
        <p:spPr bwMode="gray">
          <a:xfrm>
            <a:off x="3098892" y="2286079"/>
            <a:ext cx="2951939" cy="646331"/>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、达标率排名中，深圳园区达标率低于其他园区。点击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Shenzhen</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”柱状图</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，页面刷新为深圳园区质量评估数据。</a:t>
            </a:r>
          </a:p>
        </p:txBody>
      </p:sp>
      <p:sp>
        <p:nvSpPr>
          <p:cNvPr id="9" name="矩形 8"/>
          <p:cNvSpPr/>
          <p:nvPr/>
        </p:nvSpPr>
        <p:spPr bwMode="gray">
          <a:xfrm>
            <a:off x="5081670" y="3138701"/>
            <a:ext cx="533802" cy="880079"/>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下箭头 9"/>
          <p:cNvSpPr/>
          <p:nvPr/>
        </p:nvSpPr>
        <p:spPr bwMode="gray">
          <a:xfrm flipV="1">
            <a:off x="5198257" y="2872625"/>
            <a:ext cx="300627" cy="269170"/>
          </a:xfrm>
          <a:prstGeom prst="down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文本框 10"/>
          <p:cNvSpPr txBox="1"/>
          <p:nvPr/>
        </p:nvSpPr>
        <p:spPr bwMode="gray">
          <a:xfrm>
            <a:off x="3098893" y="4251849"/>
            <a:ext cx="3258780" cy="646331"/>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大维度数据，发现信号与干扰维度质量评估是“良”，低于行业</a:t>
            </a: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Benchmark</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“信号</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强度达标率</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指标”</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钻取查看问题。</a:t>
            </a:r>
          </a:p>
        </p:txBody>
      </p:sp>
      <p:sp>
        <p:nvSpPr>
          <p:cNvPr id="12" name="矩形 11"/>
          <p:cNvSpPr/>
          <p:nvPr/>
        </p:nvSpPr>
        <p:spPr bwMode="gray">
          <a:xfrm>
            <a:off x="4352251" y="5164256"/>
            <a:ext cx="1342046" cy="35242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下箭头 12"/>
          <p:cNvSpPr/>
          <p:nvPr/>
        </p:nvSpPr>
        <p:spPr bwMode="gray">
          <a:xfrm flipV="1">
            <a:off x="4459814" y="4845304"/>
            <a:ext cx="286635" cy="324000"/>
          </a:xfrm>
          <a:prstGeom prst="down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13"/>
          <p:cNvSpPr txBox="1"/>
          <p:nvPr/>
        </p:nvSpPr>
        <p:spPr bwMode="gray">
          <a:xfrm>
            <a:off x="6272668" y="2276712"/>
            <a:ext cx="5103992" cy="461665"/>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、在信号强度达标率分析页面，看到发生了两次弱信号覆盖的问题。点击问题的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“问题名称”</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超链接，跳转到问题详情界面，查看具体问题。</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6513738" y="5612801"/>
            <a:ext cx="2094555" cy="31264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下箭头 15"/>
          <p:cNvSpPr/>
          <p:nvPr/>
        </p:nvSpPr>
        <p:spPr bwMode="gray">
          <a:xfrm flipV="1">
            <a:off x="7527875" y="2738377"/>
            <a:ext cx="276882" cy="2866804"/>
          </a:xfrm>
          <a:prstGeom prst="down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1" name="图片 20"/>
          <p:cNvPicPr>
            <a:picLocks noChangeAspect="1"/>
          </p:cNvPicPr>
          <p:nvPr/>
        </p:nvPicPr>
        <p:blipFill>
          <a:blip r:embed="rId6"/>
          <a:stretch>
            <a:fillRect/>
          </a:stretch>
        </p:blipFill>
        <p:spPr bwMode="invGray">
          <a:xfrm>
            <a:off x="531800" y="2946037"/>
            <a:ext cx="2069170" cy="2184124"/>
          </a:xfrm>
          <a:prstGeom prst="rect">
            <a:avLst/>
          </a:prstGeom>
        </p:spPr>
      </p:pic>
      <p:sp>
        <p:nvSpPr>
          <p:cNvPr id="22" name="矩形 21"/>
          <p:cNvSpPr/>
          <p:nvPr/>
        </p:nvSpPr>
        <p:spPr bwMode="gray">
          <a:xfrm>
            <a:off x="531800" y="3954975"/>
            <a:ext cx="893140" cy="229642"/>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3"/>
          <p:cNvSpPr/>
          <p:nvPr/>
        </p:nvSpPr>
        <p:spPr bwMode="gray">
          <a:xfrm>
            <a:off x="1698334" y="3085921"/>
            <a:ext cx="859873" cy="32971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燕尾形 32"/>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五边形 34"/>
          <p:cNvSpPr/>
          <p:nvPr/>
        </p:nvSpPr>
        <p:spPr bwMode="gray">
          <a:xfrm>
            <a:off x="7185569" y="124239"/>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233170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319561" y="2517185"/>
            <a:ext cx="5393014" cy="2874464"/>
            <a:chOff x="6553643" y="2517185"/>
            <a:chExt cx="5158932" cy="2874464"/>
          </a:xfrm>
        </p:grpSpPr>
        <p:pic>
          <p:nvPicPr>
            <p:cNvPr id="31" name="图片 30"/>
            <p:cNvPicPr>
              <a:picLocks noChangeAspect="1"/>
            </p:cNvPicPr>
            <p:nvPr/>
          </p:nvPicPr>
          <p:blipFill>
            <a:blip r:embed="rId3"/>
            <a:stretch>
              <a:fillRect/>
            </a:stretch>
          </p:blipFill>
          <p:spPr bwMode="invGray">
            <a:xfrm>
              <a:off x="6553643" y="2517185"/>
              <a:ext cx="5158932" cy="2874464"/>
            </a:xfrm>
            <a:prstGeom prst="rect">
              <a:avLst/>
            </a:prstGeom>
          </p:spPr>
        </p:pic>
        <p:sp>
          <p:nvSpPr>
            <p:cNvPr id="4" name="矩形 3"/>
            <p:cNvSpPr/>
            <p:nvPr/>
          </p:nvSpPr>
          <p:spPr>
            <a:xfrm>
              <a:off x="7185569" y="2851842"/>
              <a:ext cx="265433" cy="135253"/>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2</a:t>
            </a:r>
            <a:r>
              <a:rPr lang="zh-CN" altLang="en-US" dirty="0" smtClean="0">
                <a:sym typeface="Huawei Sans" panose="020C0503030203020204" pitchFamily="34" charset="0"/>
              </a:rPr>
              <a:t>：有线网络健康度</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a:xfrm>
            <a:off x="455613" y="967557"/>
            <a:ext cx="11256962" cy="846304"/>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ct val="150000"/>
              </a:lnSpc>
              <a:spcAft>
                <a:spcPts val="600"/>
              </a:spcAft>
            </a:pPr>
            <a:r>
              <a:rPr lang="zh-CN" altLang="en-US" sz="16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某局点运维人员使用</a:t>
            </a:r>
            <a:r>
              <a:rPr lang="en-US" altLang="zh-CN"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6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有线网络健康度，发现网络性能维度存在异常。运维人员通过详情查看，发现异常的监控项，进入对应的问题分析页面查看具体问题根因，将问题修复解决。</a:t>
            </a:r>
          </a:p>
        </p:txBody>
      </p:sp>
      <p:sp>
        <p:nvSpPr>
          <p:cNvPr id="7" name="文本框 6"/>
          <p:cNvSpPr txBox="1"/>
          <p:nvPr/>
        </p:nvSpPr>
        <p:spPr>
          <a:xfrm>
            <a:off x="455613" y="2055520"/>
            <a:ext cx="2798734" cy="461665"/>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、菜单选择 </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“有线健康度”</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2" name="图片 21"/>
          <p:cNvPicPr>
            <a:picLocks noChangeAspect="1"/>
          </p:cNvPicPr>
          <p:nvPr/>
        </p:nvPicPr>
        <p:blipFill>
          <a:blip r:embed="rId4"/>
          <a:stretch>
            <a:fillRect/>
          </a:stretch>
        </p:blipFill>
        <p:spPr bwMode="invGray">
          <a:xfrm>
            <a:off x="541284" y="2517185"/>
            <a:ext cx="2728159" cy="1946605"/>
          </a:xfrm>
          <a:prstGeom prst="rect">
            <a:avLst/>
          </a:prstGeom>
        </p:spPr>
      </p:pic>
      <p:sp>
        <p:nvSpPr>
          <p:cNvPr id="23" name="矩形 22"/>
          <p:cNvSpPr/>
          <p:nvPr/>
        </p:nvSpPr>
        <p:spPr bwMode="gray">
          <a:xfrm>
            <a:off x="538962" y="3391629"/>
            <a:ext cx="938123" cy="249052"/>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3"/>
          <p:cNvSpPr/>
          <p:nvPr/>
        </p:nvSpPr>
        <p:spPr bwMode="invGray">
          <a:xfrm>
            <a:off x="2390246" y="2657382"/>
            <a:ext cx="879197" cy="32971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文本框 24"/>
          <p:cNvSpPr txBox="1"/>
          <p:nvPr/>
        </p:nvSpPr>
        <p:spPr>
          <a:xfrm>
            <a:off x="3386485" y="2055520"/>
            <a:ext cx="2391780" cy="461665"/>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、发现</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“网络性能”</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存在</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异常，点击</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“查看详情”</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0" name="图片 29"/>
          <p:cNvPicPr>
            <a:picLocks noChangeAspect="1"/>
          </p:cNvPicPr>
          <p:nvPr/>
        </p:nvPicPr>
        <p:blipFill>
          <a:blip r:embed="rId5"/>
          <a:stretch>
            <a:fillRect/>
          </a:stretch>
        </p:blipFill>
        <p:spPr bwMode="invGray">
          <a:xfrm>
            <a:off x="3427887" y="2517185"/>
            <a:ext cx="2733232" cy="3645588"/>
          </a:xfrm>
          <a:prstGeom prst="rect">
            <a:avLst/>
          </a:prstGeom>
        </p:spPr>
      </p:pic>
      <p:sp>
        <p:nvSpPr>
          <p:cNvPr id="32" name="矩形 31"/>
          <p:cNvSpPr/>
          <p:nvPr/>
        </p:nvSpPr>
        <p:spPr bwMode="gray">
          <a:xfrm>
            <a:off x="5416887" y="5927641"/>
            <a:ext cx="722755" cy="235132"/>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bwMode="gray">
          <a:xfrm>
            <a:off x="10783593" y="3390372"/>
            <a:ext cx="483865" cy="56888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bwMode="gray">
          <a:xfrm>
            <a:off x="9179073" y="3390373"/>
            <a:ext cx="1329037" cy="56888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3452722" y="5306741"/>
            <a:ext cx="1302737" cy="856032"/>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文本框 35"/>
          <p:cNvSpPr txBox="1"/>
          <p:nvPr/>
        </p:nvSpPr>
        <p:spPr>
          <a:xfrm>
            <a:off x="6286575" y="2055520"/>
            <a:ext cx="4729835" cy="461665"/>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、查看异常的检测项，对于异常的问题，通过</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 进入具体分析页面，查看问题原因与修复建议，闭环</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燕尾形 27"/>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五边形 36"/>
          <p:cNvSpPr/>
          <p:nvPr/>
        </p:nvSpPr>
        <p:spPr bwMode="gray">
          <a:xfrm>
            <a:off x="7185569" y="124239"/>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294534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质量评估报告：实时或定期生成，优化有据可依</a:t>
            </a:r>
            <a:endParaRPr lang="zh-CN" altLang="en-US" dirty="0">
              <a:sym typeface="Huawei Sans" panose="020C0503030203020204" pitchFamily="34" charset="0"/>
            </a:endParaRPr>
          </a:p>
        </p:txBody>
      </p:sp>
      <p:sp>
        <p:nvSpPr>
          <p:cNvPr id="4" name="文本框 3"/>
          <p:cNvSpPr txBox="1"/>
          <p:nvPr/>
        </p:nvSpPr>
        <p:spPr bwMode="gray">
          <a:xfrm>
            <a:off x="461385" y="1089388"/>
            <a:ext cx="3543430"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全网概况</a:t>
            </a:r>
          </a:p>
        </p:txBody>
      </p:sp>
      <p:sp>
        <p:nvSpPr>
          <p:cNvPr id="5" name="矩形 4"/>
          <p:cNvSpPr/>
          <p:nvPr/>
        </p:nvSpPr>
        <p:spPr bwMode="gray">
          <a:xfrm>
            <a:off x="461385" y="1449388"/>
            <a:ext cx="3543430" cy="523220"/>
          </a:xfrm>
          <a:prstGeom prst="rect">
            <a:avLst/>
          </a:prstGeom>
          <a:noFill/>
        </p:spPr>
        <p:txBody>
          <a:bodyPr wrap="square">
            <a:spAutoFit/>
          </a:bodyPr>
          <a:lstStyle/>
          <a:p>
            <a:pPr marL="0" marR="0" lvl="0" indent="0" defTabSz="914400" eaLnBrk="1" fontAlgn="base" latinLnBrk="0" hangingPunct="1">
              <a:spcBef>
                <a:spcPct val="0"/>
              </a:spcBef>
              <a:spcAft>
                <a:spcPct val="0"/>
              </a:spcAft>
              <a:buClrTx/>
              <a:buSzTx/>
              <a:buFontTx/>
              <a:buNone/>
              <a:tabLst/>
              <a:defRPr/>
            </a:pP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资源概况、用户概况、质量概况，全网信息一目了然。</a:t>
            </a:r>
            <a:endParaRPr kumimoji="0" lang="en-US" altLang="zh-CN" sz="1400" b="0"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文本框 5"/>
          <p:cNvSpPr txBox="1"/>
          <p:nvPr/>
        </p:nvSpPr>
        <p:spPr bwMode="gray">
          <a:xfrm>
            <a:off x="4120065" y="1089388"/>
            <a:ext cx="3678296"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指标详情</a:t>
            </a:r>
          </a:p>
        </p:txBody>
      </p:sp>
      <p:sp>
        <p:nvSpPr>
          <p:cNvPr id="7" name="矩形 6"/>
          <p:cNvSpPr/>
          <p:nvPr/>
        </p:nvSpPr>
        <p:spPr bwMode="gray">
          <a:xfrm>
            <a:off x="4120065" y="1449388"/>
            <a:ext cx="3678295" cy="523220"/>
          </a:xfrm>
          <a:prstGeom prst="rect">
            <a:avLst/>
          </a:prstGeom>
          <a:noFill/>
        </p:spPr>
        <p:txBody>
          <a:bodyPr wrap="square">
            <a:spAutoFit/>
          </a:bodyPr>
          <a:lstStyle/>
          <a:p>
            <a:pPr defTabSz="914400" fontAlgn="base">
              <a:spcBef>
                <a:spcPct val="0"/>
              </a:spcBef>
              <a:spcAft>
                <a:spcPct val="0"/>
              </a:spcAft>
            </a:pP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依据网络健康度多个维度指标，统计站点质量排名，识别站点质量变化趋势。</a:t>
            </a:r>
            <a:endPar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文本框 7"/>
          <p:cNvSpPr txBox="1"/>
          <p:nvPr/>
        </p:nvSpPr>
        <p:spPr bwMode="gray">
          <a:xfrm>
            <a:off x="7944136" y="1089388"/>
            <a:ext cx="3750309"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整改建议</a:t>
            </a:r>
          </a:p>
        </p:txBody>
      </p:sp>
      <p:sp>
        <p:nvSpPr>
          <p:cNvPr id="9" name="矩形 8"/>
          <p:cNvSpPr/>
          <p:nvPr/>
        </p:nvSpPr>
        <p:spPr bwMode="gray">
          <a:xfrm>
            <a:off x="7944137" y="1449388"/>
            <a:ext cx="3750308" cy="523220"/>
          </a:xfrm>
          <a:prstGeom prst="rect">
            <a:avLst/>
          </a:prstGeom>
          <a:noFill/>
        </p:spPr>
        <p:txBody>
          <a:bodyPr wrap="square">
            <a:spAutoFit/>
          </a:bodyPr>
          <a:lstStyle/>
          <a:p>
            <a:pPr defTabSz="914400" fontAlgn="base">
              <a:spcBef>
                <a:spcPct val="0"/>
              </a:spcBef>
              <a:spcAft>
                <a:spcPct val="0"/>
              </a:spcAft>
            </a:pP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识别网络</a:t>
            </a:r>
            <a:r>
              <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Top</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问题根因，提供修复建议指导用户持续提升网络质量。</a:t>
            </a:r>
            <a:endPar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8" name="图片 17"/>
          <p:cNvPicPr>
            <a:picLocks noChangeAspect="1"/>
          </p:cNvPicPr>
          <p:nvPr/>
        </p:nvPicPr>
        <p:blipFill>
          <a:blip r:embed="rId3"/>
          <a:stretch>
            <a:fillRect/>
          </a:stretch>
        </p:blipFill>
        <p:spPr bwMode="gray">
          <a:xfrm>
            <a:off x="470910" y="1935886"/>
            <a:ext cx="3543430" cy="4222564"/>
          </a:xfrm>
          <a:prstGeom prst="rect">
            <a:avLst/>
          </a:prstGeom>
          <a:noFill/>
          <a:ln w="12700">
            <a:solidFill>
              <a:schemeClr val="bg1">
                <a:lumMod val="85000"/>
              </a:schemeClr>
            </a:solidFill>
          </a:ln>
        </p:spPr>
      </p:pic>
      <p:pic>
        <p:nvPicPr>
          <p:cNvPr id="19" name="图片 18"/>
          <p:cNvPicPr>
            <a:picLocks noChangeAspect="1"/>
          </p:cNvPicPr>
          <p:nvPr/>
        </p:nvPicPr>
        <p:blipFill>
          <a:blip r:embed="rId4"/>
          <a:stretch>
            <a:fillRect/>
          </a:stretch>
        </p:blipFill>
        <p:spPr bwMode="gray">
          <a:xfrm>
            <a:off x="4120065" y="1935887"/>
            <a:ext cx="3678296" cy="4222564"/>
          </a:xfrm>
          <a:prstGeom prst="rect">
            <a:avLst/>
          </a:prstGeom>
          <a:noFill/>
          <a:ln w="12700">
            <a:solidFill>
              <a:schemeClr val="bg1">
                <a:lumMod val="85000"/>
              </a:schemeClr>
            </a:solidFill>
          </a:ln>
        </p:spPr>
      </p:pic>
      <p:pic>
        <p:nvPicPr>
          <p:cNvPr id="20" name="图片 19"/>
          <p:cNvPicPr>
            <a:picLocks noChangeAspect="1"/>
          </p:cNvPicPr>
          <p:nvPr/>
        </p:nvPicPr>
        <p:blipFill>
          <a:blip r:embed="rId5"/>
          <a:stretch>
            <a:fillRect/>
          </a:stretch>
        </p:blipFill>
        <p:spPr bwMode="gray">
          <a:xfrm>
            <a:off x="7944136" y="1917702"/>
            <a:ext cx="3750310" cy="4217770"/>
          </a:xfrm>
          <a:prstGeom prst="rect">
            <a:avLst/>
          </a:prstGeom>
          <a:noFill/>
          <a:ln w="12700">
            <a:solidFill>
              <a:schemeClr val="bg1">
                <a:lumMod val="85000"/>
              </a:schemeClr>
            </a:solidFill>
          </a:ln>
        </p:spPr>
      </p:pic>
      <p:sp>
        <p:nvSpPr>
          <p:cNvPr id="21" name="燕尾形 20"/>
          <p:cNvSpPr/>
          <p:nvPr/>
        </p:nvSpPr>
        <p:spPr bwMode="gray">
          <a:xfrm>
            <a:off x="8002321" y="124239"/>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五边形 22"/>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768240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3</a:t>
            </a:r>
            <a:r>
              <a:rPr lang="zh-CN" altLang="en-US" dirty="0" smtClean="0">
                <a:sym typeface="Huawei Sans" panose="020C0503030203020204" pitchFamily="34" charset="0"/>
              </a:rPr>
              <a:t>：质量评估报告</a:t>
            </a:r>
            <a:endParaRPr lang="zh-CN" altLang="en-US" dirty="0">
              <a:sym typeface="Huawei Sans" panose="020C0503030203020204" pitchFamily="34" charset="0"/>
            </a:endParaRPr>
          </a:p>
        </p:txBody>
      </p:sp>
      <p:sp>
        <p:nvSpPr>
          <p:cNvPr id="5" name="文本框 4"/>
          <p:cNvSpPr txBox="1"/>
          <p:nvPr/>
        </p:nvSpPr>
        <p:spPr bwMode="gray">
          <a:xfrm>
            <a:off x="717755" y="983028"/>
            <a:ext cx="6542777" cy="276999"/>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“无线健康度”</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页面，点击右上角</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“报告导出”</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6" name="文本框 5"/>
          <p:cNvSpPr txBox="1"/>
          <p:nvPr/>
        </p:nvSpPr>
        <p:spPr bwMode="gray">
          <a:xfrm>
            <a:off x="717755" y="3159234"/>
            <a:ext cx="4657163" cy="461665"/>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“定时发送”</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选择报告</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“发送时间”</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 与</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“通知用户组”</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，报告会按照设置的周期，定时发送到用户设置的邮箱中。</a:t>
            </a:r>
          </a:p>
        </p:txBody>
      </p:sp>
      <p:sp>
        <p:nvSpPr>
          <p:cNvPr id="9" name="文本框 8"/>
          <p:cNvSpPr txBox="1"/>
          <p:nvPr/>
        </p:nvSpPr>
        <p:spPr bwMode="gray">
          <a:xfrm>
            <a:off x="6038850" y="3159234"/>
            <a:ext cx="5213452" cy="646331"/>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“立即发送”</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选择报告</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“起止时间”</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“接收方式”</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，报告立即生成。（立即下载：浏览器直接提供下载；邮件发送：报告立即发送到指定用户邮箱）</a:t>
            </a:r>
          </a:p>
        </p:txBody>
      </p:sp>
      <p:pic>
        <p:nvPicPr>
          <p:cNvPr id="18" name="图片 17"/>
          <p:cNvPicPr>
            <a:picLocks noChangeAspect="1"/>
          </p:cNvPicPr>
          <p:nvPr/>
        </p:nvPicPr>
        <p:blipFill>
          <a:blip r:embed="rId3"/>
          <a:stretch>
            <a:fillRect/>
          </a:stretch>
        </p:blipFill>
        <p:spPr bwMode="invGray">
          <a:xfrm>
            <a:off x="802090" y="1243147"/>
            <a:ext cx="10712968" cy="1845635"/>
          </a:xfrm>
          <a:prstGeom prst="rect">
            <a:avLst/>
          </a:prstGeom>
        </p:spPr>
      </p:pic>
      <p:sp>
        <p:nvSpPr>
          <p:cNvPr id="19" name="矩形 18"/>
          <p:cNvSpPr/>
          <p:nvPr/>
        </p:nvSpPr>
        <p:spPr bwMode="gray">
          <a:xfrm>
            <a:off x="1992733" y="1448721"/>
            <a:ext cx="941058" cy="21281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bwMode="gray">
          <a:xfrm>
            <a:off x="791699" y="2165964"/>
            <a:ext cx="1115759" cy="21281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3" name="图片 22"/>
          <p:cNvPicPr>
            <a:picLocks noChangeAspect="1"/>
          </p:cNvPicPr>
          <p:nvPr/>
        </p:nvPicPr>
        <p:blipFill>
          <a:blip r:embed="rId4"/>
          <a:stretch>
            <a:fillRect/>
          </a:stretch>
        </p:blipFill>
        <p:spPr bwMode="invGray">
          <a:xfrm>
            <a:off x="791698" y="3620899"/>
            <a:ext cx="4944537" cy="2527093"/>
          </a:xfrm>
          <a:prstGeom prst="rect">
            <a:avLst/>
          </a:prstGeom>
        </p:spPr>
      </p:pic>
      <p:sp>
        <p:nvSpPr>
          <p:cNvPr id="25" name="矩形 24"/>
          <p:cNvSpPr/>
          <p:nvPr/>
        </p:nvSpPr>
        <p:spPr bwMode="gray">
          <a:xfrm>
            <a:off x="823674" y="3805564"/>
            <a:ext cx="335010" cy="124376"/>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矩形 20"/>
          <p:cNvSpPr/>
          <p:nvPr/>
        </p:nvSpPr>
        <p:spPr bwMode="gray">
          <a:xfrm>
            <a:off x="10535775" y="1285831"/>
            <a:ext cx="513226" cy="15336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 name="图片 3"/>
          <p:cNvPicPr>
            <a:picLocks noChangeAspect="1"/>
          </p:cNvPicPr>
          <p:nvPr/>
        </p:nvPicPr>
        <p:blipFill>
          <a:blip r:embed="rId5"/>
          <a:stretch>
            <a:fillRect/>
          </a:stretch>
        </p:blipFill>
        <p:spPr bwMode="auto">
          <a:xfrm>
            <a:off x="6106372" y="3800829"/>
            <a:ext cx="5078408" cy="2347163"/>
          </a:xfrm>
          <a:prstGeom prst="rect">
            <a:avLst/>
          </a:prstGeom>
        </p:spPr>
      </p:pic>
      <p:sp>
        <p:nvSpPr>
          <p:cNvPr id="26" name="矩形 25"/>
          <p:cNvSpPr/>
          <p:nvPr/>
        </p:nvSpPr>
        <p:spPr bwMode="grayWhite">
          <a:xfrm>
            <a:off x="6881166" y="4207639"/>
            <a:ext cx="621621" cy="18518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bwMode="gray">
          <a:xfrm>
            <a:off x="6158574" y="5832893"/>
            <a:ext cx="1882550" cy="277770"/>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燕尾形 30"/>
          <p:cNvSpPr/>
          <p:nvPr/>
        </p:nvSpPr>
        <p:spPr bwMode="gray">
          <a:xfrm>
            <a:off x="8002321" y="124239"/>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五边形 36"/>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343903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bwMode="invGray">
          <a:xfrm>
            <a:off x="5846905" y="1295055"/>
            <a:ext cx="5828281" cy="4730906"/>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射频热图：网络覆盖仿真直观可视</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2092223"/>
            <a:ext cx="5332815" cy="653238"/>
          </a:xfrm>
          <a:prstGeom prst="rect">
            <a:avLst/>
          </a:prstGeom>
          <a:solidFill>
            <a:srgbClr val="EFFAFB"/>
          </a:solidFill>
          <a:ln w="3175">
            <a:solidFill>
              <a:srgbClr val="94DAE2"/>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cs typeface="+mn-ea"/>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看影响：需要增加一扇隔离墙，网络有影响吗？</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通过增加故障物，仿真对无线覆盖</a:t>
            </a:r>
            <a:r>
              <a:rPr lang="zh-CN" altLang="en-US" b="0" dirty="0" smtClean="0">
                <a:latin typeface="Huawei Sans" panose="020C0503030203020204" pitchFamily="34" charset="0"/>
                <a:ea typeface="方正兰亭黑简体" panose="02000000000000000000" pitchFamily="2" charset="-122"/>
                <a:sym typeface="Huawei Sans" panose="020C0503030203020204" pitchFamily="34" charset="0"/>
              </a:rPr>
              <a:t>影响。</a:t>
            </a:r>
            <a:endParaRPr lang="zh-CN" altLang="en-US" b="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Working with Partners to Build One of the Five Clouds for an Intelligent World"/>
          <p:cNvSpPr txBox="1"/>
          <p:nvPr/>
        </p:nvSpPr>
        <p:spPr bwMode="gray">
          <a:xfrm>
            <a:off x="447415" y="2889390"/>
            <a:ext cx="5332815" cy="653238"/>
          </a:xfrm>
          <a:prstGeom prst="rect">
            <a:avLst/>
          </a:prstGeom>
          <a:solidFill>
            <a:srgbClr val="EFFAFB"/>
          </a:solidFill>
          <a:ln w="3175">
            <a:solidFill>
              <a:srgbClr val="94DAE2"/>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cs typeface="+mn-ea"/>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少干扰：需要修改设备配置，会干扰其它设备吗？</a:t>
            </a:r>
          </a:p>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修改设备配置，如功率、信道后，实时仿真设备间是否产生</a:t>
            </a:r>
            <a:r>
              <a:rPr lang="zh-CN" altLang="en-US" b="0" dirty="0" smtClean="0">
                <a:latin typeface="Huawei Sans" panose="020C0503030203020204" pitchFamily="34" charset="0"/>
                <a:ea typeface="方正兰亭黑简体" panose="02000000000000000000" pitchFamily="2" charset="-122"/>
                <a:sym typeface="Huawei Sans" panose="020C0503030203020204" pitchFamily="34" charset="0"/>
              </a:rPr>
              <a:t>干扰。</a:t>
            </a:r>
            <a:endParaRPr lang="zh-CN" altLang="en-US" b="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Working with Partners to Build One of the Five Clouds for an Intelligent World"/>
          <p:cNvSpPr txBox="1"/>
          <p:nvPr/>
        </p:nvSpPr>
        <p:spPr bwMode="gray">
          <a:xfrm>
            <a:off x="447415" y="1295055"/>
            <a:ext cx="5332815" cy="653238"/>
          </a:xfrm>
          <a:prstGeom prst="rect">
            <a:avLst/>
          </a:prstGeom>
          <a:solidFill>
            <a:srgbClr val="EFFAFB"/>
          </a:solidFill>
          <a:ln w="3175">
            <a:solidFill>
              <a:srgbClr val="94DAE2"/>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nchor="ctr">
            <a:spAutoFit/>
          </a:bodyPr>
          <a:lstStyle>
            <a:defPPr>
              <a:defRPr lang="en-US"/>
            </a:defPPr>
            <a:lvl1pPr defTabSz="609598" hangingPunct="0">
              <a:lnSpc>
                <a:spcPct val="100000"/>
              </a:lnSpc>
              <a:spcAft>
                <a:spcPts val="600"/>
              </a:spcAft>
              <a:defRPr sz="1400" b="1" kern="0">
                <a:cs typeface="+mn-ea"/>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比规划：部署无线网络覆盖与规划是否一致？</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基于网络开通后射频</a:t>
            </a:r>
            <a:r>
              <a:rPr lang="zh-CN" altLang="en-US" b="0" dirty="0" smtClean="0">
                <a:latin typeface="Huawei Sans" panose="020C0503030203020204" pitchFamily="34" charset="0"/>
                <a:ea typeface="方正兰亭黑简体" panose="02000000000000000000" pitchFamily="2" charset="-122"/>
                <a:sym typeface="Huawei Sans" panose="020C0503030203020204" pitchFamily="34" charset="0"/>
              </a:rPr>
              <a:t>真实功率，仿真</a:t>
            </a:r>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覆盖</a:t>
            </a:r>
            <a:r>
              <a:rPr lang="zh-CN" altLang="en-US" b="0" dirty="0" smtClean="0">
                <a:latin typeface="Huawei Sans" panose="020C0503030203020204" pitchFamily="34" charset="0"/>
                <a:ea typeface="方正兰亭黑简体" panose="02000000000000000000" pitchFamily="2" charset="-122"/>
                <a:sym typeface="Huawei Sans" panose="020C0503030203020204" pitchFamily="34" charset="0"/>
              </a:rPr>
              <a:t>范围。</a:t>
            </a:r>
            <a:endParaRPr lang="zh-CN" altLang="en-US" b="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006410698"/>
              </p:ext>
            </p:extLst>
          </p:nvPr>
        </p:nvGraphicFramePr>
        <p:xfrm>
          <a:off x="508114" y="3890629"/>
          <a:ext cx="5123758" cy="1511402"/>
        </p:xfrm>
        <a:graphic>
          <a:graphicData uri="http://schemas.openxmlformats.org/drawingml/2006/table">
            <a:tbl>
              <a:tblPr/>
              <a:tblGrid>
                <a:gridCol w="988176"/>
                <a:gridCol w="4135582"/>
              </a:tblGrid>
              <a:tr h="304364">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能力</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40234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按强度</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仿真楼层各个位置</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覆盖信号强度。</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40234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按速率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rtl="0" fontAlgn="ctr"/>
                      <a:r>
                        <a:rPr lang="zh-CN" altLang="en-US" sz="1200" u="none" strike="noStrike" kern="1200" dirty="0" smtClean="0">
                          <a:effectLst/>
                          <a:latin typeface="Huawei Sans" panose="020C0503030203020204" pitchFamily="34" charset="0"/>
                          <a:ea typeface="方正兰亭黑简体" panose="02000000000000000000" pitchFamily="2" charset="-122"/>
                          <a:sym typeface="Huawei Sans" panose="020C0503030203020204" pitchFamily="34" charset="0"/>
                        </a:rPr>
                        <a:t>仿真楼层各个位置</a:t>
                      </a:r>
                      <a:r>
                        <a:rPr lang="en-US" altLang="zh-CN" sz="1200" u="none" strike="noStrike" kern="1200" dirty="0" smtClean="0">
                          <a:effectLst/>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u="none" strike="noStrike" kern="1200" dirty="0" smtClean="0">
                          <a:effectLst/>
                          <a:latin typeface="Huawei Sans" panose="020C0503030203020204" pitchFamily="34" charset="0"/>
                          <a:ea typeface="方正兰亭黑简体" panose="02000000000000000000" pitchFamily="2" charset="-122"/>
                          <a:sym typeface="Huawei Sans" panose="020C0503030203020204" pitchFamily="34" charset="0"/>
                        </a:rPr>
                        <a:t>访问可达到速率值。</a:t>
                      </a:r>
                      <a:endParaRPr lang="zh-CN" altLang="en-US" sz="1200" b="0" i="0" u="none" strike="noStrike" kern="120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40234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按信道</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rtl="0" fontAlgn="ctr"/>
                      <a:r>
                        <a:rPr lang="zh-CN" altLang="en-US" sz="1200" u="none" strike="noStrike" kern="1200" dirty="0" smtClean="0">
                          <a:effectLst/>
                          <a:latin typeface="Huawei Sans" panose="020C0503030203020204" pitchFamily="34" charset="0"/>
                          <a:ea typeface="方正兰亭黑简体" panose="02000000000000000000" pitchFamily="2" charset="-122"/>
                          <a:sym typeface="Huawei Sans" panose="020C0503030203020204" pitchFamily="34" charset="0"/>
                        </a:rPr>
                        <a:t>仿真楼层各个位置在指定信道上覆盖信号强度及冲突情况。</a:t>
                      </a:r>
                      <a:endParaRPr lang="zh-CN" altLang="en-US" sz="1200" b="0" i="0" u="none" strike="noStrike" kern="120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8" name="矩形 17"/>
          <p:cNvSpPr/>
          <p:nvPr/>
        </p:nvSpPr>
        <p:spPr bwMode="gray">
          <a:xfrm>
            <a:off x="9033693" y="1529252"/>
            <a:ext cx="2290917" cy="461665"/>
          </a:xfrm>
          <a:prstGeom prst="rect">
            <a:avLst/>
          </a:prstGeom>
          <a:solidFill>
            <a:schemeClr val="bg1">
              <a:lumMod val="50000"/>
            </a:schemeClr>
          </a:solidFill>
          <a:ln>
            <a:noFill/>
          </a:ln>
        </p:spPr>
        <p:txBody>
          <a:bodyPr wrap="square">
            <a:spAutoFit/>
          </a:bodyPr>
          <a:lstStyle/>
          <a:p>
            <a:pPr>
              <a:buSzPct val="60000"/>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信号</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强度</a:t>
            </a: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速率</a:t>
            </a: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信道分布的</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方式仿真楼层</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内的无线信号</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覆盖。</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bwMode="gray">
          <a:xfrm>
            <a:off x="5924069" y="3033100"/>
            <a:ext cx="2018246" cy="646331"/>
          </a:xfrm>
          <a:prstGeom prst="rect">
            <a:avLst/>
          </a:prstGeom>
          <a:solidFill>
            <a:schemeClr val="bg1">
              <a:lumMod val="50000"/>
            </a:schemeClr>
          </a:solidFill>
          <a:ln>
            <a:noFill/>
          </a:ln>
        </p:spPr>
        <p:txBody>
          <a:bodyPr wrap="square">
            <a:spAutoFit/>
          </a:bodyPr>
          <a:lstStyle/>
          <a:p>
            <a:pPr>
              <a:buSzPct val="60000"/>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按楼层仿真信号覆盖与强度变化，排查信号覆盖盲点，直观体现楼房网络覆盖</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状态。</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矩形 20"/>
          <p:cNvSpPr/>
          <p:nvPr/>
        </p:nvSpPr>
        <p:spPr bwMode="gray">
          <a:xfrm>
            <a:off x="8920531" y="3950950"/>
            <a:ext cx="2031325" cy="276999"/>
          </a:xfrm>
          <a:prstGeom prst="rect">
            <a:avLst/>
          </a:prstGeom>
          <a:solidFill>
            <a:schemeClr val="bg1">
              <a:lumMod val="50000"/>
            </a:schemeClr>
          </a:solidFill>
          <a:ln>
            <a:noFill/>
          </a:ln>
        </p:spPr>
        <p:txBody>
          <a:bodyPr wrap="square">
            <a:spAutoFit/>
          </a:bodyPr>
          <a:lstStyle/>
          <a:p>
            <a:pPr>
              <a:buSzPct val="60000"/>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设置障碍物，增强环境</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仿真。</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矩形 21"/>
          <p:cNvSpPr/>
          <p:nvPr/>
        </p:nvSpPr>
        <p:spPr bwMode="gray">
          <a:xfrm>
            <a:off x="6857812" y="4330461"/>
            <a:ext cx="2062720" cy="461665"/>
          </a:xfrm>
          <a:prstGeom prst="rect">
            <a:avLst/>
          </a:prstGeom>
          <a:solidFill>
            <a:schemeClr val="bg1">
              <a:lumMod val="50000"/>
            </a:schemeClr>
          </a:solidFill>
          <a:ln>
            <a:noFill/>
          </a:ln>
        </p:spPr>
        <p:txBody>
          <a:bodyPr wrap="square">
            <a:spAutoFit/>
          </a:bodyPr>
          <a:lstStyle/>
          <a:p>
            <a:pPr>
              <a:buSzPct val="60000"/>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因障碍物遮挡，信号覆盖较弱区域，及时</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发现和修正。</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燕尾形 23"/>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179073"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五边形 25"/>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956343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p:cNvPicPr>
            <a:picLocks noChangeAspect="1"/>
          </p:cNvPicPr>
          <p:nvPr/>
        </p:nvPicPr>
        <p:blipFill rotWithShape="1">
          <a:blip r:embed="rId3"/>
          <a:srcRect l="130" t="27240" r="81290" b="37997"/>
          <a:stretch/>
        </p:blipFill>
        <p:spPr bwMode="invGray">
          <a:xfrm>
            <a:off x="524900" y="2704599"/>
            <a:ext cx="2496891" cy="2627847"/>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a:sym typeface="Huawei Sans" panose="020C0503030203020204" pitchFamily="34" charset="0"/>
              </a:rPr>
              <a:t>4</a:t>
            </a:r>
            <a:r>
              <a:rPr lang="zh-CN" altLang="en-US" dirty="0" smtClean="0">
                <a:sym typeface="Huawei Sans" panose="020C0503030203020204" pitchFamily="34" charset="0"/>
              </a:rPr>
              <a:t>：射频热图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66101"/>
            <a:ext cx="11256962" cy="846304"/>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defPPr>
              <a:defRPr lang="en-US"/>
            </a:defPPr>
            <a:lvl1pPr defTabSz="609598" hangingPunct="0">
              <a:lnSpc>
                <a:spcPct val="150000"/>
              </a:lnSpc>
              <a:spcAft>
                <a:spcPts val="600"/>
              </a:spcAft>
              <a:defRPr sz="1600" b="1" kern="0">
                <a:latin typeface="Huawei Sans" panose="020C0503030203020204" pitchFamily="34" charset="0"/>
                <a:ea typeface="方正兰亭黑简体" panose="02000000000000000000" pitchFamily="2" charset="-122"/>
                <a:cs typeface="+mn-ea"/>
              </a:defRPr>
            </a:lvl1pPr>
          </a:lstStyle>
          <a:p>
            <a:r>
              <a:rPr lang="zh-CN" altLang="en-US" dirty="0" smtClean="0">
                <a:sym typeface="Huawei Sans" panose="020C0503030203020204" pitchFamily="34" charset="0"/>
              </a:rPr>
              <a:t>案例描述：</a:t>
            </a:r>
            <a:r>
              <a:rPr lang="zh-CN" altLang="en-US" b="0" dirty="0">
                <a:sym typeface="Huawei Sans" panose="020C0503030203020204" pitchFamily="34" charset="0"/>
              </a:rPr>
              <a:t>某公司会议室资源紧张，需要在办公场所隔出会议室，施工设计方向公司</a:t>
            </a:r>
            <a:r>
              <a:rPr lang="en-US" altLang="zh-CN" b="0" dirty="0">
                <a:sym typeface="Huawei Sans" panose="020C0503030203020204" pitchFamily="34" charset="0"/>
              </a:rPr>
              <a:t>IT</a:t>
            </a:r>
            <a:r>
              <a:rPr lang="zh-CN" altLang="en-US" b="0" dirty="0">
                <a:sym typeface="Huawei Sans" panose="020C0503030203020204" pitchFamily="34" charset="0"/>
              </a:rPr>
              <a:t>部门</a:t>
            </a:r>
            <a:r>
              <a:rPr lang="zh-CN" altLang="en-US" b="0" dirty="0" smtClean="0">
                <a:sym typeface="Huawei Sans" panose="020C0503030203020204" pitchFamily="34" charset="0"/>
              </a:rPr>
              <a:t>咨询：增加</a:t>
            </a:r>
            <a:r>
              <a:rPr lang="zh-CN" altLang="en-US" b="0" dirty="0">
                <a:sym typeface="Huawei Sans" panose="020C0503030203020204" pitchFamily="34" charset="0"/>
              </a:rPr>
              <a:t>会议室，是否对</a:t>
            </a:r>
            <a:r>
              <a:rPr lang="zh-CN" altLang="en-US" b="0" dirty="0" smtClean="0">
                <a:sym typeface="Huawei Sans" panose="020C0503030203020204" pitchFamily="34" charset="0"/>
              </a:rPr>
              <a:t>办公</a:t>
            </a:r>
            <a:r>
              <a:rPr lang="en-US" altLang="zh-CN" b="0" dirty="0" smtClean="0">
                <a:sym typeface="Huawei Sans" panose="020C0503030203020204" pitchFamily="34" charset="0"/>
              </a:rPr>
              <a:t>Wi-Fi</a:t>
            </a:r>
            <a:r>
              <a:rPr lang="zh-CN" altLang="en-US" b="0" dirty="0" smtClean="0">
                <a:sym typeface="Huawei Sans" panose="020C0503030203020204" pitchFamily="34" charset="0"/>
              </a:rPr>
              <a:t>产生影响？</a:t>
            </a:r>
            <a:r>
              <a:rPr lang="en-US" altLang="zh-CN" b="0" dirty="0" smtClean="0">
                <a:sym typeface="Huawei Sans" panose="020C0503030203020204" pitchFamily="34" charset="0"/>
              </a:rPr>
              <a:t>IT</a:t>
            </a:r>
            <a:r>
              <a:rPr lang="zh-CN" altLang="en-US" b="0" dirty="0">
                <a:sym typeface="Huawei Sans" panose="020C0503030203020204" pitchFamily="34" charset="0"/>
              </a:rPr>
              <a:t>人员通过射频热图，编辑会议室墙、玻璃门等故障物，根据仿真结果进行</a:t>
            </a:r>
            <a:r>
              <a:rPr lang="en-US" altLang="zh-CN" b="0" dirty="0">
                <a:sym typeface="Huawei Sans" panose="020C0503030203020204" pitchFamily="34" charset="0"/>
              </a:rPr>
              <a:t>AP</a:t>
            </a:r>
            <a:r>
              <a:rPr lang="zh-CN" altLang="en-US" b="0" dirty="0">
                <a:sym typeface="Huawei Sans" panose="020C0503030203020204" pitchFamily="34" charset="0"/>
              </a:rPr>
              <a:t>补盲或调整。</a:t>
            </a:r>
          </a:p>
        </p:txBody>
      </p:sp>
      <p:pic>
        <p:nvPicPr>
          <p:cNvPr id="18" name="图片 17"/>
          <p:cNvPicPr>
            <a:picLocks noChangeAspect="1"/>
          </p:cNvPicPr>
          <p:nvPr/>
        </p:nvPicPr>
        <p:blipFill>
          <a:blip r:embed="rId4"/>
          <a:stretch>
            <a:fillRect/>
          </a:stretch>
        </p:blipFill>
        <p:spPr bwMode="invGray">
          <a:xfrm>
            <a:off x="3238040" y="2703641"/>
            <a:ext cx="1673453" cy="2800758"/>
          </a:xfrm>
          <a:prstGeom prst="rect">
            <a:avLst/>
          </a:prstGeom>
        </p:spPr>
      </p:pic>
      <p:sp>
        <p:nvSpPr>
          <p:cNvPr id="19" name="文本框 18"/>
          <p:cNvSpPr txBox="1"/>
          <p:nvPr/>
        </p:nvSpPr>
        <p:spPr bwMode="gray">
          <a:xfrm>
            <a:off x="768833" y="2058268"/>
            <a:ext cx="2052735" cy="461665"/>
          </a:xfrm>
          <a:prstGeom prst="rect">
            <a:avLst/>
          </a:prstGeom>
          <a:noFill/>
        </p:spPr>
        <p:txBody>
          <a:bodyPr vert="horz" wrap="square" rtlCol="0" anchor="ctr">
            <a:spAutoFit/>
          </a:bodyPr>
          <a:lstStyle/>
          <a:p>
            <a:pPr marL="0" marR="0" lvl="0" indent="-57600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、点击菜单</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“业务拓扑”</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WLAN</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拓扑”</a:t>
            </a:r>
            <a:r>
              <a:rPr lang="zh-CN" altLang="en-US" sz="1200" kern="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文本框 21"/>
          <p:cNvSpPr txBox="1"/>
          <p:nvPr/>
        </p:nvSpPr>
        <p:spPr bwMode="gray">
          <a:xfrm>
            <a:off x="3122078" y="2058268"/>
            <a:ext cx="2069047" cy="646331"/>
          </a:xfrm>
          <a:prstGeom prst="rect">
            <a:avLst/>
          </a:prstGeom>
          <a:noFill/>
        </p:spPr>
        <p:txBody>
          <a:bodyPr vert="horz"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左树层级选择</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Shenzhen</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N10</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noProof="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N10</a:t>
            </a:r>
            <a:r>
              <a:rPr lang="en-US" altLang="zh-CN" sz="1200" kern="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-1F</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zh-CN" altLang="en-US" sz="1200" i="0" u="none" strike="noStrike" kern="0" cap="none" spc="0" normalizeH="0" baseline="0" noProof="0" dirty="0" smtClean="0">
              <a:ln>
                <a:noFill/>
              </a:ln>
              <a:solidFill>
                <a:srgbClr val="FF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矩形 22"/>
          <p:cNvSpPr/>
          <p:nvPr/>
        </p:nvSpPr>
        <p:spPr bwMode="gray">
          <a:xfrm>
            <a:off x="3444102" y="3658051"/>
            <a:ext cx="1194620" cy="672430"/>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4" name="图片 23"/>
          <p:cNvPicPr>
            <a:picLocks noChangeAspect="1"/>
          </p:cNvPicPr>
          <p:nvPr/>
        </p:nvPicPr>
        <p:blipFill>
          <a:blip r:embed="rId5"/>
          <a:stretch>
            <a:fillRect/>
          </a:stretch>
        </p:blipFill>
        <p:spPr bwMode="invGray">
          <a:xfrm>
            <a:off x="5327965" y="2704120"/>
            <a:ext cx="6363733" cy="2800758"/>
          </a:xfrm>
          <a:prstGeom prst="rect">
            <a:avLst/>
          </a:prstGeom>
        </p:spPr>
      </p:pic>
      <p:sp>
        <p:nvSpPr>
          <p:cNvPr id="25" name="矩形 24"/>
          <p:cNvSpPr/>
          <p:nvPr/>
        </p:nvSpPr>
        <p:spPr bwMode="gray">
          <a:xfrm>
            <a:off x="8967596" y="4183448"/>
            <a:ext cx="538353" cy="122979"/>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文本框 25"/>
          <p:cNvSpPr txBox="1"/>
          <p:nvPr/>
        </p:nvSpPr>
        <p:spPr bwMode="gray">
          <a:xfrm>
            <a:off x="5245894" y="2058268"/>
            <a:ext cx="4144207" cy="276999"/>
          </a:xfrm>
          <a:prstGeom prst="rect">
            <a:avLst/>
          </a:prstGeom>
          <a:noFill/>
        </p:spPr>
        <p:txBody>
          <a:bodyPr vert="horz"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切换到</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编辑态</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，右键选择</a:t>
            </a:r>
            <a:r>
              <a:rPr lang="zh-CN" altLang="en-US" sz="1200" kern="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“增加障碍物”</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zh-CN" altLang="en-US" sz="1200" i="0" u="none" strike="noStrike" kern="0" cap="none" spc="0" normalizeH="0" baseline="0" noProof="0" dirty="0" smtClean="0">
              <a:ln>
                <a:noFill/>
              </a:ln>
              <a:solidFill>
                <a:srgbClr val="FF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bwMode="gray">
          <a:xfrm>
            <a:off x="5327965" y="3741984"/>
            <a:ext cx="234892" cy="113479"/>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文本框 27"/>
          <p:cNvSpPr txBox="1"/>
          <p:nvPr/>
        </p:nvSpPr>
        <p:spPr bwMode="gray">
          <a:xfrm>
            <a:off x="5680287" y="3678863"/>
            <a:ext cx="1107996" cy="276999"/>
          </a:xfrm>
          <a:prstGeom prst="rect">
            <a:avLst/>
          </a:prstGeom>
          <a:solidFill>
            <a:schemeClr val="bg1">
              <a:lumMod val="50000"/>
            </a:schemeClr>
          </a:solidFill>
        </p:spPr>
        <p:txBody>
          <a:bodyPr vert="horz" wrap="square" rtlCol="0" anchor="ctr">
            <a:spAutoFit/>
          </a:bodyPr>
          <a:lstStyle/>
          <a:p>
            <a:pPr marL="0" marR="0" lvl="0" indent="0" defTabSz="914400" eaLnBrk="1" fontAlgn="auto" latinLnBrk="0" hangingPunct="1">
              <a:spcBef>
                <a:spcPts val="0"/>
              </a:spcBef>
              <a:spcAft>
                <a:spcPts val="0"/>
              </a:spcAft>
              <a:buClrTx/>
              <a:buSzTx/>
              <a:buFontTx/>
              <a:buNone/>
              <a:tabLst/>
              <a:defRPr/>
            </a:pPr>
            <a:r>
              <a:rPr kumimoji="0" lang="zh-CN" altLang="en-US" sz="1200" i="0" u="none" strike="noStrike" kern="0" cap="none" spc="0" normalizeH="0" baseline="0" noProof="0" dirty="0" smtClean="0">
                <a:ln>
                  <a:noFill/>
                </a:ln>
                <a:solidFill>
                  <a:schemeClr val="bg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切换到编辑态</a:t>
            </a:r>
          </a:p>
        </p:txBody>
      </p:sp>
      <p:sp>
        <p:nvSpPr>
          <p:cNvPr id="30" name="矩形 29"/>
          <p:cNvSpPr/>
          <p:nvPr/>
        </p:nvSpPr>
        <p:spPr bwMode="gray">
          <a:xfrm>
            <a:off x="509000" y="2982392"/>
            <a:ext cx="1388523" cy="30563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2096782" y="3461020"/>
            <a:ext cx="758189" cy="25761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2" name="直接箭头连接符 31"/>
          <p:cNvCxnSpPr>
            <a:stCxn id="30" idx="3"/>
          </p:cNvCxnSpPr>
          <p:nvPr/>
        </p:nvCxnSpPr>
        <p:spPr bwMode="gray">
          <a:xfrm>
            <a:off x="1897523" y="3135209"/>
            <a:ext cx="308234" cy="276918"/>
          </a:xfrm>
          <a:prstGeom prst="straightConnector1">
            <a:avLst/>
          </a:prstGeom>
          <a:ln w="28575">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bwMode="gray">
          <a:xfrm>
            <a:off x="9615705" y="4106437"/>
            <a:ext cx="1418781" cy="276999"/>
          </a:xfrm>
          <a:prstGeom prst="rect">
            <a:avLst/>
          </a:prstGeom>
          <a:solidFill>
            <a:schemeClr val="bg1">
              <a:lumMod val="50000"/>
            </a:schemeClr>
          </a:solidFill>
        </p:spPr>
        <p:txBody>
          <a:bodyPr vert="horz" wrap="square" rtlCol="0" anchor="ctr">
            <a:spAutoFit/>
          </a:bodyPr>
          <a:lstStyle/>
          <a:p>
            <a:pPr marL="0" marR="0" lvl="0" indent="0" defTabSz="914400" eaLnBrk="1" fontAlgn="auto" latinLnBrk="0" hangingPunct="1">
              <a:spcBef>
                <a:spcPts val="0"/>
              </a:spcBef>
              <a:spcAft>
                <a:spcPts val="0"/>
              </a:spcAft>
              <a:buClrTx/>
              <a:buSzTx/>
              <a:buFontTx/>
              <a:buNone/>
              <a:tabLst/>
              <a:defRPr/>
            </a:pPr>
            <a:r>
              <a:rPr lang="zh-CN" altLang="en-US" sz="1200" kern="0" noProof="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选择“增加障碍物”</a:t>
            </a:r>
            <a:endParaRPr kumimoji="0" lang="zh-CN" altLang="en-US" sz="1200" i="0" u="none" strike="noStrike" kern="0" cap="none" spc="0" normalizeH="0" baseline="0" noProof="0" dirty="0" smtClean="0">
              <a:ln>
                <a:noFill/>
              </a:ln>
              <a:solidFill>
                <a:schemeClr val="bg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燕尾形 32"/>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9179073"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五边形 34"/>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295384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4</a:t>
            </a:r>
            <a:r>
              <a:rPr lang="zh-CN" altLang="en-US" dirty="0" smtClean="0">
                <a:sym typeface="Huawei Sans" panose="020C0503030203020204" pitchFamily="34" charset="0"/>
              </a:rPr>
              <a:t>：射频热图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pic>
        <p:nvPicPr>
          <p:cNvPr id="3" name="图片 2"/>
          <p:cNvPicPr>
            <a:picLocks noChangeAspect="1"/>
          </p:cNvPicPr>
          <p:nvPr/>
        </p:nvPicPr>
        <p:blipFill>
          <a:blip r:embed="rId3"/>
          <a:stretch>
            <a:fillRect/>
          </a:stretch>
        </p:blipFill>
        <p:spPr bwMode="invGray">
          <a:xfrm>
            <a:off x="3127934" y="1776517"/>
            <a:ext cx="3997386" cy="2766908"/>
          </a:xfrm>
          <a:prstGeom prst="rect">
            <a:avLst/>
          </a:prstGeom>
        </p:spPr>
      </p:pic>
      <p:sp>
        <p:nvSpPr>
          <p:cNvPr id="4" name="文本框 3"/>
          <p:cNvSpPr txBox="1"/>
          <p:nvPr/>
        </p:nvSpPr>
        <p:spPr bwMode="gray">
          <a:xfrm>
            <a:off x="559850" y="1295235"/>
            <a:ext cx="2298676" cy="461665"/>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、形状选择 </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“折线”</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、类型</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“砖墙</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或</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“木门”</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5" name="文本框 4"/>
          <p:cNvSpPr txBox="1"/>
          <p:nvPr/>
        </p:nvSpPr>
        <p:spPr bwMode="gray">
          <a:xfrm>
            <a:off x="3127934" y="1295234"/>
            <a:ext cx="3997386" cy="461665"/>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5</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、拓扑绘制会议室（如图方块，绘制完鼠标左键双击退出障碍物编辑</a:t>
            </a:r>
            <a:r>
              <a:rPr lang="zh-CN" altLang="en-US" sz="1200" kern="0" noProof="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“保存”。</a:t>
            </a:r>
            <a:endPar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 name="图片 5"/>
          <p:cNvPicPr>
            <a:picLocks noChangeAspect="1"/>
          </p:cNvPicPr>
          <p:nvPr/>
        </p:nvPicPr>
        <p:blipFill>
          <a:blip r:embed="rId4"/>
          <a:stretch>
            <a:fillRect/>
          </a:stretch>
        </p:blipFill>
        <p:spPr bwMode="invGray">
          <a:xfrm>
            <a:off x="642918" y="1776517"/>
            <a:ext cx="2215608" cy="2376904"/>
          </a:xfrm>
          <a:prstGeom prst="rect">
            <a:avLst/>
          </a:prstGeom>
        </p:spPr>
      </p:pic>
      <p:pic>
        <p:nvPicPr>
          <p:cNvPr id="9" name="图片 8"/>
          <p:cNvPicPr>
            <a:picLocks noChangeAspect="1"/>
          </p:cNvPicPr>
          <p:nvPr/>
        </p:nvPicPr>
        <p:blipFill>
          <a:blip r:embed="rId5"/>
          <a:stretch>
            <a:fillRect/>
          </a:stretch>
        </p:blipFill>
        <p:spPr bwMode="invGray">
          <a:xfrm>
            <a:off x="7394728" y="1772611"/>
            <a:ext cx="4128747" cy="2770814"/>
          </a:xfrm>
          <a:prstGeom prst="rect">
            <a:avLst/>
          </a:prstGeom>
        </p:spPr>
      </p:pic>
      <p:sp>
        <p:nvSpPr>
          <p:cNvPr id="10" name="文本框 9"/>
          <p:cNvSpPr txBox="1"/>
          <p:nvPr/>
        </p:nvSpPr>
        <p:spPr bwMode="gray">
          <a:xfrm>
            <a:off x="7346016" y="1293395"/>
            <a:ext cx="3624832" cy="461665"/>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6</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、进入监控态，选择</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“按强度”</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“刷新”</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查看是否存在盲区，根据仿真结果进行优化调整。</a:t>
            </a:r>
            <a:endParaRPr kumimoji="0" lang="zh-CN" altLang="en-US" sz="1200" i="0" u="none" strike="noStrike" kern="0" cap="none" spc="0" normalizeH="0" baseline="0" noProof="0" dirty="0" smtClean="0">
              <a:ln>
                <a:noFill/>
              </a:ln>
              <a:solidFill>
                <a:srgbClr val="FF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矩形 10"/>
          <p:cNvSpPr/>
          <p:nvPr/>
        </p:nvSpPr>
        <p:spPr bwMode="gray">
          <a:xfrm>
            <a:off x="9860449" y="2113584"/>
            <a:ext cx="388452" cy="172983"/>
          </a:xfrm>
          <a:prstGeom prst="rect">
            <a:avLst/>
          </a:prstGeom>
          <a:noFill/>
          <a:ln w="28575" cap="flat" cmpd="sng" algn="ctr">
            <a:solidFill>
              <a:srgbClr val="C7000B"/>
            </a:soli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11"/>
          <p:cNvSpPr/>
          <p:nvPr/>
        </p:nvSpPr>
        <p:spPr bwMode="gray">
          <a:xfrm>
            <a:off x="7798825" y="2036618"/>
            <a:ext cx="403284" cy="172983"/>
          </a:xfrm>
          <a:prstGeom prst="rect">
            <a:avLst/>
          </a:prstGeom>
          <a:noFill/>
          <a:ln w="28575" cap="flat" cmpd="sng" algn="ctr">
            <a:solidFill>
              <a:srgbClr val="C7000B"/>
            </a:soli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2"/>
          <p:cNvSpPr/>
          <p:nvPr/>
        </p:nvSpPr>
        <p:spPr bwMode="gray">
          <a:xfrm>
            <a:off x="3127934" y="3442529"/>
            <a:ext cx="156384" cy="172983"/>
          </a:xfrm>
          <a:prstGeom prst="rect">
            <a:avLst/>
          </a:prstGeom>
          <a:noFill/>
          <a:ln w="28575" cap="flat" cmpd="sng" algn="ctr">
            <a:solidFill>
              <a:srgbClr val="C7000B"/>
            </a:soli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13"/>
          <p:cNvSpPr txBox="1"/>
          <p:nvPr/>
        </p:nvSpPr>
        <p:spPr bwMode="gray">
          <a:xfrm>
            <a:off x="3369201" y="3398628"/>
            <a:ext cx="514822" cy="276999"/>
          </a:xfrm>
          <a:prstGeom prst="rect">
            <a:avLst/>
          </a:prstGeom>
          <a:solidFill>
            <a:schemeClr val="bg1">
              <a:lumMod val="50000"/>
            </a:schemeClr>
          </a:solidFill>
        </p:spPr>
        <p:txBody>
          <a:bodyPr vert="horz"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i="0" u="none" strike="noStrike" kern="0" cap="none" spc="0" normalizeH="0" baseline="0" noProof="0" dirty="0" smtClean="0">
                <a:ln>
                  <a:noFill/>
                </a:ln>
                <a:solidFill>
                  <a:schemeClr val="bg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保存</a:t>
            </a:r>
          </a:p>
        </p:txBody>
      </p:sp>
      <p:sp>
        <p:nvSpPr>
          <p:cNvPr id="15" name="矩形 14"/>
          <p:cNvSpPr/>
          <p:nvPr/>
        </p:nvSpPr>
        <p:spPr bwMode="gray">
          <a:xfrm>
            <a:off x="7384175" y="2868319"/>
            <a:ext cx="202250" cy="148536"/>
          </a:xfrm>
          <a:prstGeom prst="rect">
            <a:avLst/>
          </a:prstGeom>
          <a:noFill/>
          <a:ln w="28575" cap="flat" cmpd="sng" algn="ctr">
            <a:solidFill>
              <a:srgbClr val="C7000B"/>
            </a:soli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文本框 15"/>
          <p:cNvSpPr txBox="1"/>
          <p:nvPr/>
        </p:nvSpPr>
        <p:spPr bwMode="gray">
          <a:xfrm>
            <a:off x="7620004" y="2819573"/>
            <a:ext cx="1130438" cy="276999"/>
          </a:xfrm>
          <a:prstGeom prst="rect">
            <a:avLst/>
          </a:prstGeom>
          <a:solidFill>
            <a:schemeClr val="bg1">
              <a:lumMod val="50000"/>
            </a:schemeClr>
          </a:solid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i="0" u="none" strike="noStrike" kern="0" cap="none" spc="0" normalizeH="0" baseline="0" noProof="0" dirty="0" smtClean="0">
                <a:ln>
                  <a:noFill/>
                </a:ln>
                <a:solidFill>
                  <a:schemeClr val="bg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切换到监控态</a:t>
            </a:r>
          </a:p>
        </p:txBody>
      </p:sp>
      <p:sp>
        <p:nvSpPr>
          <p:cNvPr id="19" name="圆角矩形 75"/>
          <p:cNvSpPr/>
          <p:nvPr/>
        </p:nvSpPr>
        <p:spPr bwMode="gray">
          <a:xfrm>
            <a:off x="980373" y="4867567"/>
            <a:ext cx="1015616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75"/>
          <p:cNvSpPr/>
          <p:nvPr/>
        </p:nvSpPr>
        <p:spPr bwMode="gray">
          <a:xfrm>
            <a:off x="980373" y="5271525"/>
            <a:ext cx="10156169" cy="77310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当无线环境或设备信号配置发生变更后，通过射频热图，基于无线信号传播模型，仿真无线覆盖情况，主动识别覆盖盲区与冲突影响区域，为网络补盲及网络配置</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调整提供</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依据。 </a:t>
            </a:r>
          </a:p>
        </p:txBody>
      </p:sp>
      <p:sp>
        <p:nvSpPr>
          <p:cNvPr id="24" name="矩形 23"/>
          <p:cNvSpPr/>
          <p:nvPr/>
        </p:nvSpPr>
        <p:spPr bwMode="gray">
          <a:xfrm>
            <a:off x="1121507" y="2646590"/>
            <a:ext cx="401289" cy="172983"/>
          </a:xfrm>
          <a:prstGeom prst="rect">
            <a:avLst/>
          </a:prstGeom>
          <a:noFill/>
          <a:ln w="28575" cap="flat" cmpd="sng" algn="ctr">
            <a:solidFill>
              <a:srgbClr val="C7000B"/>
            </a:soli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燕尾形 22"/>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gray">
          <a:xfrm>
            <a:off x="9179073"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五边形 30"/>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161664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频谱分析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0"/>
            <a:ext cx="11256962" cy="523875"/>
          </a:xfrm>
        </p:spPr>
        <p:txBody>
          <a:bodyPr/>
          <a:lstStyle/>
          <a:p>
            <a:r>
              <a:rPr lang="en-US" altLang="zh-CN" sz="1800" dirty="0" err="1">
                <a:sym typeface="Huawei Sans" panose="020C0503030203020204" pitchFamily="34" charset="0"/>
              </a:rPr>
              <a:t>CampusInsight</a:t>
            </a:r>
            <a:r>
              <a:rPr lang="zh-CN" altLang="en-US" sz="1800" dirty="0">
                <a:sym typeface="Huawei Sans" panose="020C0503030203020204" pitchFamily="34" charset="0"/>
              </a:rPr>
              <a:t>频谱分析基于</a:t>
            </a:r>
            <a:r>
              <a:rPr lang="en-US" altLang="zh-CN" sz="1800" dirty="0">
                <a:sym typeface="Huawei Sans" panose="020C0503030203020204" pitchFamily="34" charset="0"/>
              </a:rPr>
              <a:t>AP</a:t>
            </a:r>
            <a:r>
              <a:rPr lang="zh-CN" altLang="en-US" sz="1800" dirty="0">
                <a:sym typeface="Huawei Sans" panose="020C0503030203020204" pitchFamily="34" charset="0"/>
              </a:rPr>
              <a:t>的全信道状态监测能力，直观呈现各信道的占用情况，更加简洁易懂</a:t>
            </a:r>
            <a:r>
              <a:rPr lang="zh-CN" altLang="en-US" sz="1800" dirty="0" smtClean="0">
                <a:sym typeface="Huawei Sans" panose="020C0503030203020204" pitchFamily="34" charset="0"/>
              </a:rPr>
              <a:t>。</a:t>
            </a:r>
            <a:endParaRPr lang="en-US" altLang="zh-CN" sz="1800" dirty="0" smtClean="0">
              <a:sym typeface="Huawei Sans" panose="020C0503030203020204" pitchFamily="34" charset="0"/>
            </a:endParaRPr>
          </a:p>
        </p:txBody>
      </p:sp>
      <p:sp>
        <p:nvSpPr>
          <p:cNvPr id="6" name="Rectangle 12"/>
          <p:cNvSpPr>
            <a:spLocks noChangeArrowheads="1"/>
          </p:cNvSpPr>
          <p:nvPr/>
        </p:nvSpPr>
        <p:spPr bwMode="auto">
          <a:xfrm>
            <a:off x="750888" y="1685925"/>
            <a:ext cx="1875939" cy="313932"/>
          </a:xfrm>
          <a:prstGeom prst="rect">
            <a:avLst/>
          </a:prstGeom>
          <a:noFill/>
          <a:ln w="9525">
            <a:noFill/>
            <a:miter lim="800000"/>
            <a:headEnd/>
            <a:tailEnd/>
          </a:ln>
        </p:spPr>
        <p:txBody>
          <a:bodyPr wrap="square" lIns="97536" tIns="48768" rIns="97536" bIns="48768">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eaLnBrk="0" hangingPunct="0"/>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全信道状态监测</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noChangeAspect="1"/>
          </p:cNvPicPr>
          <p:nvPr/>
        </p:nvPicPr>
        <p:blipFill>
          <a:blip r:embed="rId3"/>
          <a:stretch>
            <a:fillRect/>
          </a:stretch>
        </p:blipFill>
        <p:spPr bwMode="invGray">
          <a:xfrm>
            <a:off x="1168173" y="1999857"/>
            <a:ext cx="9474003" cy="1779535"/>
          </a:xfrm>
          <a:prstGeom prst="rect">
            <a:avLst/>
          </a:prstGeom>
        </p:spPr>
      </p:pic>
      <p:sp>
        <p:nvSpPr>
          <p:cNvPr id="10" name="Rectangle 12"/>
          <p:cNvSpPr>
            <a:spLocks noChangeArrowheads="1"/>
          </p:cNvSpPr>
          <p:nvPr/>
        </p:nvSpPr>
        <p:spPr bwMode="auto">
          <a:xfrm>
            <a:off x="750888" y="4093324"/>
            <a:ext cx="2487612" cy="313932"/>
          </a:xfrm>
          <a:prstGeom prst="rect">
            <a:avLst/>
          </a:prstGeom>
          <a:noFill/>
          <a:ln w="9525">
            <a:noFill/>
            <a:miter lim="800000"/>
            <a:headEnd/>
            <a:tailEnd/>
          </a:ln>
        </p:spPr>
        <p:txBody>
          <a:bodyPr wrap="square" lIns="97536" tIns="48768" rIns="97536" bIns="48768">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eaLnBrk="0" hangingPunct="0"/>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信道维度的历史趋势图</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p:cNvPicPr>
            <a:picLocks noChangeAspect="1"/>
          </p:cNvPicPr>
          <p:nvPr/>
        </p:nvPicPr>
        <p:blipFill>
          <a:blip r:embed="rId4"/>
          <a:stretch>
            <a:fillRect/>
          </a:stretch>
        </p:blipFill>
        <p:spPr bwMode="invGray">
          <a:xfrm>
            <a:off x="1168172" y="4407256"/>
            <a:ext cx="9474003" cy="1664800"/>
          </a:xfrm>
          <a:prstGeom prst="rect">
            <a:avLst/>
          </a:prstGeom>
        </p:spPr>
      </p:pic>
      <p:sp>
        <p:nvSpPr>
          <p:cNvPr id="12" name="燕尾形 11"/>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五边形 13"/>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9995825"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437474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bwMode="invGray">
          <a:xfrm>
            <a:off x="1168170" y="1565045"/>
            <a:ext cx="9474005" cy="3438442"/>
          </a:xfrm>
          <a:prstGeom prst="rect">
            <a:avLst/>
          </a:prstGeom>
        </p:spPr>
      </p:pic>
      <p:sp>
        <p:nvSpPr>
          <p:cNvPr id="2" name="标题 1"/>
          <p:cNvSpPr>
            <a:spLocks noGrp="1"/>
          </p:cNvSpPr>
          <p:nvPr>
            <p:ph type="title"/>
          </p:nvPr>
        </p:nvSpPr>
        <p:spPr/>
        <p:txBody>
          <a:bodyPr/>
          <a:lstStyle/>
          <a:p>
            <a:r>
              <a:rPr lang="zh-CN" altLang="en-US" dirty="0" smtClean="0">
                <a:sym typeface="Huawei Sans" panose="020C0503030203020204" pitchFamily="34" charset="0"/>
              </a:rPr>
              <a:t>频谱分析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5" name="Rectangle 12"/>
          <p:cNvSpPr>
            <a:spLocks noChangeArrowheads="1"/>
          </p:cNvSpPr>
          <p:nvPr/>
        </p:nvSpPr>
        <p:spPr bwMode="auto">
          <a:xfrm>
            <a:off x="750888" y="1177012"/>
            <a:ext cx="3029406" cy="313932"/>
          </a:xfrm>
          <a:prstGeom prst="rect">
            <a:avLst/>
          </a:prstGeom>
          <a:noFill/>
          <a:ln w="9525">
            <a:noFill/>
            <a:miter lim="800000"/>
            <a:headEnd/>
            <a:tailEnd/>
          </a:ln>
        </p:spPr>
        <p:txBody>
          <a:bodyPr wrap="square" lIns="97536" tIns="48768" rIns="97536" bIns="48768">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eaLnBrk="0" hangingPunct="0"/>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非</a:t>
            </a: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干扰源探测列表</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五边形 15"/>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81257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995825"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719211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746514" y="1820610"/>
            <a:ext cx="10789679" cy="3056189"/>
          </a:xfrm>
          <a:prstGeom prst="rect">
            <a:avLst/>
          </a:prstGeom>
          <a:ln w="12700">
            <a:noFill/>
          </a:ln>
        </p:spPr>
      </p:pic>
      <p:sp>
        <p:nvSpPr>
          <p:cNvPr id="2" name="标题 1"/>
          <p:cNvSpPr>
            <a:spLocks noGrp="1"/>
          </p:cNvSpPr>
          <p:nvPr>
            <p:ph type="title"/>
          </p:nvPr>
        </p:nvSpPr>
        <p:spPr/>
        <p:txBody>
          <a:bodyPr/>
          <a:lstStyle/>
          <a:p>
            <a:r>
              <a:rPr lang="zh-CN" altLang="en-US" dirty="0" smtClean="0">
                <a:sym typeface="Huawei Sans" panose="020C0503030203020204" pitchFamily="34" charset="0"/>
              </a:rPr>
              <a:t>终端拨测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1"/>
            <a:ext cx="11256962" cy="786283"/>
          </a:xfrm>
        </p:spPr>
        <p:txBody>
          <a:bodyPr/>
          <a:lstStyle/>
          <a:p>
            <a:r>
              <a:rPr lang="zh-CN" altLang="en-US" sz="1800" dirty="0">
                <a:sym typeface="Huawei Sans" panose="020C0503030203020204" pitchFamily="34" charset="0"/>
              </a:rPr>
              <a:t>终端拨测提供</a:t>
            </a:r>
            <a:r>
              <a:rPr lang="zh-CN" altLang="en-US" sz="1800" dirty="0" smtClean="0">
                <a:sym typeface="Huawei Sans" panose="020C0503030203020204" pitchFamily="34" charset="0"/>
              </a:rPr>
              <a:t>基于</a:t>
            </a:r>
            <a:r>
              <a:rPr lang="en-US" altLang="zh-CN" sz="1800" dirty="0" err="1" smtClean="0">
                <a:sym typeface="Huawei Sans" panose="020C0503030203020204" pitchFamily="34" charset="0"/>
              </a:rPr>
              <a:t>CloudCampus</a:t>
            </a:r>
            <a:r>
              <a:rPr lang="en-US" altLang="zh-CN" sz="1800" dirty="0" smtClean="0">
                <a:sym typeface="Huawei Sans" panose="020C0503030203020204" pitchFamily="34" charset="0"/>
              </a:rPr>
              <a:t> APP</a:t>
            </a:r>
            <a:r>
              <a:rPr lang="zh-CN" altLang="en-US" sz="1800" dirty="0">
                <a:sym typeface="Huawei Sans" panose="020C0503030203020204" pitchFamily="34" charset="0"/>
              </a:rPr>
              <a:t>探测上报</a:t>
            </a:r>
            <a:r>
              <a:rPr lang="zh-CN" altLang="en-US" sz="1800" dirty="0" smtClean="0">
                <a:sym typeface="Huawei Sans" panose="020C0503030203020204" pitchFamily="34" charset="0"/>
              </a:rPr>
              <a:t>的拨测终端用户</a:t>
            </a:r>
            <a:r>
              <a:rPr lang="zh-CN" altLang="en-US" sz="1800" dirty="0">
                <a:sym typeface="Huawei Sans" panose="020C0503030203020204" pitchFamily="34" charset="0"/>
              </a:rPr>
              <a:t>体验可视，直观通过终端</a:t>
            </a:r>
            <a:r>
              <a:rPr lang="en-US" altLang="zh-CN" sz="1800" dirty="0">
                <a:sym typeface="Huawei Sans" panose="020C0503030203020204" pitchFamily="34" charset="0"/>
              </a:rPr>
              <a:t>APP</a:t>
            </a:r>
            <a:r>
              <a:rPr lang="zh-CN" altLang="en-US" sz="1800" dirty="0" smtClean="0">
                <a:sym typeface="Huawei Sans" panose="020C0503030203020204" pitchFamily="34" charset="0"/>
              </a:rPr>
              <a:t>的多</a:t>
            </a:r>
            <a:r>
              <a:rPr lang="zh-CN" altLang="en-US" sz="1800" dirty="0">
                <a:sym typeface="Huawei Sans" panose="020C0503030203020204" pitchFamily="34" charset="0"/>
              </a:rPr>
              <a:t>个测试方法采集多项指标，从用户角度出发展示</a:t>
            </a:r>
            <a:r>
              <a:rPr lang="en-US" altLang="zh-CN" sz="1800" dirty="0">
                <a:sym typeface="Huawei Sans" panose="020C0503030203020204" pitchFamily="34" charset="0"/>
              </a:rPr>
              <a:t>WLAN</a:t>
            </a:r>
            <a:r>
              <a:rPr lang="zh-CN" altLang="en-US" sz="1800" dirty="0">
                <a:sym typeface="Huawei Sans" panose="020C0503030203020204" pitchFamily="34" charset="0"/>
              </a:rPr>
              <a:t>整体体验优劣。</a:t>
            </a:r>
          </a:p>
        </p:txBody>
      </p:sp>
      <p:graphicFrame>
        <p:nvGraphicFramePr>
          <p:cNvPr id="12" name="表格 11"/>
          <p:cNvGraphicFramePr>
            <a:graphicFrameLocks noGrp="1"/>
          </p:cNvGraphicFramePr>
          <p:nvPr>
            <p:extLst>
              <p:ext uri="{D42A27DB-BD31-4B8C-83A1-F6EECF244321}">
                <p14:modId xmlns:p14="http://schemas.microsoft.com/office/powerpoint/2010/main" val="916175479"/>
              </p:ext>
            </p:extLst>
          </p:nvPr>
        </p:nvGraphicFramePr>
        <p:xfrm>
          <a:off x="742066" y="4982788"/>
          <a:ext cx="5123758" cy="1163910"/>
        </p:xfrm>
        <a:graphic>
          <a:graphicData uri="http://schemas.openxmlformats.org/drawingml/2006/table">
            <a:tbl>
              <a:tblPr/>
              <a:tblGrid>
                <a:gridCol w="1201034"/>
                <a:gridCol w="3922724"/>
              </a:tblGrid>
              <a:tr h="304364">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i="0" u="none" strike="noStrike" dirty="0" smtClean="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拨测类型</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拨测测试内容</a:t>
                      </a:r>
                      <a:endParaRPr lang="zh-CN" altLang="en-US" sz="1200" b="1"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40234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网络指标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rtl="0"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信号强度、带宽、</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时延、</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丢包率、</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关联性能。</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40234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ctr" rtl="0" fontAlgn="ctr"/>
                      <a:r>
                        <a:rPr lang="en-US" altLang="zh-CN" sz="1200" b="0" i="0" u="none" strike="noStrike" dirty="0" smtClean="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Wi-Fi</a:t>
                      </a:r>
                      <a:r>
                        <a:rPr lang="zh-CN" altLang="en-US" sz="1200" b="0" i="0" u="none" strike="noStrike" dirty="0" smtClean="0">
                          <a:solidFill>
                            <a:schemeClr val="dk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业务指标</a:t>
                      </a:r>
                      <a:endParaRPr lang="zh-CN" alt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algn="l" rtl="0" fontAlgn="ctr"/>
                      <a:r>
                        <a:rPr lang="zh-CN" altLang="en-US" sz="1200" u="none" strike="noStrike" kern="1200" dirty="0" smtClean="0">
                          <a:effectLst/>
                          <a:latin typeface="Huawei Sans" panose="020C0503030203020204" pitchFamily="34" charset="0"/>
                          <a:ea typeface="方正兰亭黑简体" panose="02000000000000000000" pitchFamily="2" charset="-122"/>
                          <a:sym typeface="Huawei Sans" panose="020C0503030203020204" pitchFamily="34" charset="0"/>
                        </a:rPr>
                        <a:t>网页连通性、内网测速、内网文件下载速度、互联网性能测速、视频体验。</a:t>
                      </a:r>
                      <a:endParaRPr lang="zh-CN" altLang="en-US" sz="1200" b="0" i="0" u="none" strike="noStrike" kern="120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3" name="文本框 12"/>
          <p:cNvSpPr txBox="1"/>
          <p:nvPr/>
        </p:nvSpPr>
        <p:spPr bwMode="gray">
          <a:xfrm>
            <a:off x="742066" y="2172899"/>
            <a:ext cx="5123758" cy="276999"/>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400">
                <a:solidFill>
                  <a:prstClr val="white"/>
                </a:solidFill>
                <a:cs typeface="+mn-ea"/>
              </a:defRPr>
            </a:lvl1pPr>
          </a:lstStyle>
          <a:p>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拨测记录：支持基于拨测区域、厂商、</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BSSID</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和终端</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进行</a:t>
            </a:r>
            <a:r>
              <a:rPr lang="zh-CN" altLang="en-US"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筛选。</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auto">
          <a:xfrm>
            <a:off x="8135168" y="3429000"/>
            <a:ext cx="1799261" cy="461665"/>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200">
                <a:solidFill>
                  <a:schemeClr val="bg1"/>
                </a:solidFill>
                <a:latin typeface="Huawei Sans" panose="020C0503030203020204" pitchFamily="34" charset="0"/>
                <a:ea typeface="方正兰亭黑简体" panose="02000000000000000000" pitchFamily="2" charset="-122"/>
                <a:cs typeface="+mn-ea"/>
              </a:defRPr>
            </a:lvl1pPr>
          </a:lstStyle>
          <a:p>
            <a:r>
              <a:rPr lang="zh-CN" altLang="en-US" dirty="0">
                <a:sym typeface="Huawei Sans" panose="020C0503030203020204" pitchFamily="34" charset="0"/>
              </a:rPr>
              <a:t>通过颜色直观呈现拨测指标优劣的趋势变化。</a:t>
            </a: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472584" y="5204523"/>
            <a:ext cx="562215" cy="562215"/>
          </a:xfrm>
          <a:prstGeom prst="rect">
            <a:avLst/>
          </a:prstGeom>
        </p:spPr>
      </p:pic>
      <p:sp>
        <p:nvSpPr>
          <p:cNvPr id="17" name="圆角矩形 16"/>
          <p:cNvSpPr/>
          <p:nvPr/>
        </p:nvSpPr>
        <p:spPr bwMode="gray">
          <a:xfrm>
            <a:off x="7877325" y="5768143"/>
            <a:ext cx="1745501" cy="312889"/>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CloudCampus</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五边形 24"/>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10812575"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149148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终端拨测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23" name="燕尾形 22"/>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五边形 24"/>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10812575"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819458" y="1594564"/>
            <a:ext cx="10722765" cy="3727904"/>
          </a:xfrm>
          <a:prstGeom prst="rect">
            <a:avLst/>
          </a:prstGeom>
          <a:ln w="12700">
            <a:noFill/>
          </a:ln>
        </p:spPr>
      </p:pic>
      <p:sp>
        <p:nvSpPr>
          <p:cNvPr id="14" name="文本框 13"/>
          <p:cNvSpPr txBox="1"/>
          <p:nvPr/>
        </p:nvSpPr>
        <p:spPr bwMode="gray">
          <a:xfrm>
            <a:off x="819458" y="1308138"/>
            <a:ext cx="5219323" cy="276999"/>
          </a:xfrm>
          <a:prstGeom prst="rect">
            <a:avLst/>
          </a:prstGeom>
          <a:solidFill>
            <a:schemeClr val="bg1">
              <a:lumMod val="50000"/>
            </a:schemeClr>
          </a:solidFill>
        </p:spPr>
        <p:txBody>
          <a:bodyPr wrap="square" rtlCol="0">
            <a:spAutoFit/>
          </a:bodyPr>
          <a:lstStyle>
            <a:defPPr>
              <a:defRPr lang="en-US"/>
            </a:defPPr>
            <a:lvl1pPr defTabSz="914400" fontAlgn="base">
              <a:spcBef>
                <a:spcPct val="0"/>
              </a:spcBef>
              <a:spcAft>
                <a:spcPct val="0"/>
              </a:spcAft>
              <a:defRPr sz="1400">
                <a:solidFill>
                  <a:prstClr val="white"/>
                </a:solidFill>
                <a:cs typeface="+mn-ea"/>
              </a:defRPr>
            </a:lvl1pPr>
          </a:lstStyle>
          <a:p>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拨测详情：单击不同指标，可以查看终端</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上报的不同指标的历史趋势</a:t>
            </a:r>
            <a:r>
              <a:rPr lang="zh-CN" altLang="en-US"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图。</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64888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bwMode="gray">
          <a:xfrm>
            <a:off x="885524" y="2703519"/>
            <a:ext cx="2569945" cy="993811"/>
          </a:xfrm>
          <a:prstGeom prst="round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64"/>
          <p:cNvPicPr>
            <a:picLocks noChangeAspect="1"/>
          </p:cNvPicPr>
          <p:nvPr/>
        </p:nvPicPr>
        <p:blipFill>
          <a:blip r:embed="rId3">
            <a:grayscl/>
            <a:extLst>
              <a:ext uri="{28A0092B-C50C-407E-A947-70E740481C1C}">
                <a14:useLocalDpi xmlns:a14="http://schemas.microsoft.com/office/drawing/2010/main" val="0"/>
              </a:ext>
            </a:extLst>
          </a:blip>
          <a:srcRect r="996"/>
          <a:stretch>
            <a:fillRect/>
          </a:stretch>
        </p:blipFill>
        <p:spPr bwMode="auto">
          <a:xfrm>
            <a:off x="4276496" y="1052845"/>
            <a:ext cx="7426552" cy="514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sym typeface="Huawei Sans" panose="020C0503030203020204" pitchFamily="34" charset="0"/>
              </a:rPr>
              <a:t>拨测报告：实时网络诊断，智能问题分析</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1"/>
            <a:ext cx="3820883" cy="1166558"/>
          </a:xfrm>
        </p:spPr>
        <p:txBody>
          <a:bodyPr/>
          <a:lstStyle/>
          <a:p>
            <a:pPr marL="0" indent="0">
              <a:buNone/>
            </a:pPr>
            <a:r>
              <a:rPr lang="zh-CN" altLang="en-US" sz="1800" dirty="0">
                <a:sym typeface="Huawei Sans" panose="020C0503030203020204" pitchFamily="34" charset="0"/>
              </a:rPr>
              <a:t>提供不同厂商的拨测对比测评报告，全面评估整体</a:t>
            </a:r>
            <a:r>
              <a:rPr lang="en-US" altLang="zh-CN" sz="1800" dirty="0">
                <a:sym typeface="Huawei Sans" panose="020C0503030203020204" pitchFamily="34" charset="0"/>
              </a:rPr>
              <a:t>Wi-Fi</a:t>
            </a:r>
            <a:r>
              <a:rPr lang="zh-CN" altLang="en-US" sz="1800" dirty="0">
                <a:sym typeface="Huawei Sans" panose="020C0503030203020204" pitchFamily="34" charset="0"/>
              </a:rPr>
              <a:t>网络用户体验，提供问题分析指导网络优化。</a:t>
            </a:r>
          </a:p>
          <a:p>
            <a:endParaRPr lang="zh-CN" altLang="en-US" sz="1800" dirty="0">
              <a:sym typeface="Huawei Sans" panose="020C0503030203020204" pitchFamily="34" charset="0"/>
            </a:endParaRPr>
          </a:p>
        </p:txBody>
      </p:sp>
      <p:sp>
        <p:nvSpPr>
          <p:cNvPr id="11" name="矩形 10"/>
          <p:cNvSpPr/>
          <p:nvPr/>
        </p:nvSpPr>
        <p:spPr>
          <a:xfrm>
            <a:off x="4343400" y="1152712"/>
            <a:ext cx="466725" cy="1384995"/>
          </a:xfrm>
          <a:prstGeom prst="rect">
            <a:avLst/>
          </a:prstGeom>
        </p:spPr>
        <p:txBody>
          <a:bodyPr wrap="square">
            <a:spAutoFit/>
          </a:bodyPr>
          <a:lstStyle/>
          <a:p>
            <a:r>
              <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测评结果概况</a:t>
            </a:r>
          </a:p>
        </p:txBody>
      </p:sp>
      <p:pic>
        <p:nvPicPr>
          <p:cNvPr id="8" name="图片 7"/>
          <p:cNvPicPr>
            <a:picLocks noChangeAspect="1"/>
          </p:cNvPicPr>
          <p:nvPr/>
        </p:nvPicPr>
        <p:blipFill rotWithShape="1">
          <a:blip r:embed="rId4" cstate="print">
            <a:extLst>
              <a:ext uri="{28A0092B-C50C-407E-A947-70E740481C1C}">
                <a14:useLocalDpi xmlns:a14="http://schemas.microsoft.com/office/drawing/2010/main" val="0"/>
              </a:ext>
            </a:extLst>
          </a:blip>
          <a:srcRect l="1179" t="36350" r="431" b="859"/>
          <a:stretch/>
        </p:blipFill>
        <p:spPr>
          <a:xfrm>
            <a:off x="4723154" y="2756970"/>
            <a:ext cx="6979894" cy="1926443"/>
          </a:xfrm>
          <a:prstGeom prst="rect">
            <a:avLst/>
          </a:prstGeom>
          <a:ln w="12700">
            <a:solidFill>
              <a:schemeClr val="bg1">
                <a:lumMod val="85000"/>
              </a:schemeClr>
            </a:solidFill>
          </a:ln>
        </p:spPr>
      </p:pic>
      <p:pic>
        <p:nvPicPr>
          <p:cNvPr id="6" name="图片 5"/>
          <p:cNvPicPr>
            <a:picLocks noChangeAspect="1"/>
          </p:cNvPicPr>
          <p:nvPr/>
        </p:nvPicPr>
        <p:blipFill>
          <a:blip r:embed="rId5"/>
          <a:stretch>
            <a:fillRect/>
          </a:stretch>
        </p:blipFill>
        <p:spPr>
          <a:xfrm>
            <a:off x="4714519" y="4774383"/>
            <a:ext cx="6980525" cy="1396105"/>
          </a:xfrm>
          <a:prstGeom prst="rect">
            <a:avLst/>
          </a:prstGeom>
          <a:ln w="12700">
            <a:solidFill>
              <a:schemeClr val="bg1">
                <a:lumMod val="85000"/>
              </a:schemeClr>
            </a:solidFill>
          </a:ln>
        </p:spPr>
      </p:pic>
      <p:sp>
        <p:nvSpPr>
          <p:cNvPr id="20" name="矩形 19"/>
          <p:cNvSpPr/>
          <p:nvPr/>
        </p:nvSpPr>
        <p:spPr>
          <a:xfrm>
            <a:off x="4343400" y="3133652"/>
            <a:ext cx="466725" cy="954107"/>
          </a:xfrm>
          <a:prstGeom prst="rect">
            <a:avLst/>
          </a:prstGeom>
        </p:spPr>
        <p:txBody>
          <a:bodyPr wrap="square">
            <a:spAutoFit/>
          </a:bodyPr>
          <a:lstStyle/>
          <a:p>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指标概览</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a:xfrm>
            <a:off x="4343400" y="5033054"/>
            <a:ext cx="466725" cy="954107"/>
          </a:xfrm>
          <a:prstGeom prst="rect">
            <a:avLst/>
          </a:prstGeom>
        </p:spPr>
        <p:txBody>
          <a:bodyPr wrap="square">
            <a:spAutoFit/>
          </a:bodyPr>
          <a:lstStyle/>
          <a:p>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测试详情</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75"/>
          <p:cNvSpPr/>
          <p:nvPr/>
        </p:nvSpPr>
        <p:spPr bwMode="gray">
          <a:xfrm>
            <a:off x="569859" y="2220200"/>
            <a:ext cx="329612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部署方案</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75"/>
          <p:cNvSpPr/>
          <p:nvPr/>
        </p:nvSpPr>
        <p:spPr bwMode="gray">
          <a:xfrm>
            <a:off x="569859" y="2624157"/>
            <a:ext cx="3296123" cy="357661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5" name="图片 24" descr="SAN网络-蓝.png"/>
          <p:cNvPicPr>
            <a:picLocks noChangeAspect="1"/>
          </p:cNvPicPr>
          <p:nvPr/>
        </p:nvPicPr>
        <p:blipFill>
          <a:blip r:embed="rId6" cstate="print"/>
          <a:stretch>
            <a:fillRect/>
          </a:stretch>
        </p:blipFill>
        <p:spPr bwMode="gray">
          <a:xfrm>
            <a:off x="1933946" y="5210121"/>
            <a:ext cx="267540" cy="438311"/>
          </a:xfrm>
          <a:prstGeom prst="rect">
            <a:avLst/>
          </a:prstGeom>
        </p:spPr>
      </p:pic>
      <p:pic>
        <p:nvPicPr>
          <p:cNvPr id="26" name="图片 25" descr="接入交换机.png"/>
          <p:cNvPicPr>
            <a:picLocks noChangeAspect="1"/>
          </p:cNvPicPr>
          <p:nvPr/>
        </p:nvPicPr>
        <p:blipFill>
          <a:blip r:embed="rId7" cstate="print"/>
          <a:stretch>
            <a:fillRect/>
          </a:stretch>
        </p:blipFill>
        <p:spPr bwMode="gray">
          <a:xfrm>
            <a:off x="1857129" y="4019215"/>
            <a:ext cx="403770" cy="330357"/>
          </a:xfrm>
          <a:prstGeom prst="rect">
            <a:avLst/>
          </a:prstGeom>
        </p:spPr>
      </p:pic>
      <p:pic>
        <p:nvPicPr>
          <p:cNvPr id="27" name="图片 26" descr="AP.png"/>
          <p:cNvPicPr>
            <a:picLocks noChangeAspect="1"/>
          </p:cNvPicPr>
          <p:nvPr/>
        </p:nvPicPr>
        <p:blipFill>
          <a:blip r:embed="rId8" cstate="print"/>
          <a:stretch>
            <a:fillRect/>
          </a:stretch>
        </p:blipFill>
        <p:spPr bwMode="gray">
          <a:xfrm>
            <a:off x="1858171" y="4736298"/>
            <a:ext cx="403770" cy="330357"/>
          </a:xfrm>
          <a:prstGeom prst="rect">
            <a:avLst/>
          </a:prstGeom>
        </p:spPr>
      </p:pic>
      <p:pic>
        <p:nvPicPr>
          <p:cNvPr id="28" name="图片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163843" y="3045724"/>
            <a:ext cx="833304" cy="473696"/>
          </a:xfrm>
          <a:prstGeom prst="rect">
            <a:avLst/>
          </a:prstGeom>
        </p:spPr>
      </p:pic>
      <p:pic>
        <p:nvPicPr>
          <p:cNvPr id="29" name="图片 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2261941" y="3045724"/>
            <a:ext cx="874880" cy="641067"/>
          </a:xfrm>
          <a:prstGeom prst="rect">
            <a:avLst/>
          </a:prstGeom>
        </p:spPr>
      </p:pic>
      <p:sp>
        <p:nvSpPr>
          <p:cNvPr id="30" name="矩形 29"/>
          <p:cNvSpPr/>
          <p:nvPr/>
        </p:nvSpPr>
        <p:spPr bwMode="gray">
          <a:xfrm>
            <a:off x="1209355" y="2737947"/>
            <a:ext cx="1895875" cy="307777"/>
          </a:xfrm>
          <a:prstGeom prst="rect">
            <a:avLst/>
          </a:prstGeom>
        </p:spPr>
        <p:txBody>
          <a:bodyPr wrap="square">
            <a:spAutoFit/>
          </a:bodyPr>
          <a:lstStyle/>
          <a:p>
            <a:pPr algn="ctr"/>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华为公有云</a:t>
            </a:r>
            <a:r>
              <a:rPr lang="en-US" altLang="zh-CN"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本地部署</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1102010" y="5702439"/>
            <a:ext cx="1990749" cy="492443"/>
          </a:xfrm>
          <a:prstGeom prst="rect">
            <a:avLst/>
          </a:prstGeom>
        </p:spPr>
        <p:txBody>
          <a:bodyPr wrap="square">
            <a:spAutoFit/>
          </a:bodyPr>
          <a:lstStyle/>
          <a:p>
            <a:pPr algn="ctr"/>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拨测终端</a:t>
            </a:r>
            <a:endParaRPr lang="en-US" altLang="zh-CN"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（安装</a:t>
            </a:r>
            <a:r>
              <a:rPr lang="en-US" altLang="zh-CN" sz="1200" b="1" dirty="0" err="1"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CloudCampus</a:t>
            </a:r>
            <a:r>
              <a:rPr lang="en-US" altLang="zh-CN" sz="12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APP</a:t>
            </a:r>
            <a:r>
              <a:rPr lang="zh-CN" altLang="en-US" sz="12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2297923" y="4748935"/>
            <a:ext cx="516432" cy="307777"/>
          </a:xfrm>
          <a:prstGeom prst="rect">
            <a:avLst/>
          </a:prstGeom>
        </p:spPr>
        <p:txBody>
          <a:bodyPr wrap="square">
            <a:spAutoFit/>
          </a:bodyPr>
          <a:lstStyle/>
          <a:p>
            <a:pPr algn="ctr"/>
            <a:r>
              <a:rPr lang="en-US" altLang="zh-CN"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2242060" y="4019215"/>
            <a:ext cx="628157" cy="307777"/>
          </a:xfrm>
          <a:prstGeom prst="rect">
            <a:avLst/>
          </a:prstGeom>
        </p:spPr>
        <p:txBody>
          <a:bodyPr wrap="square">
            <a:spAutoFit/>
          </a:bodyPr>
          <a:lstStyle/>
          <a:p>
            <a:pPr algn="ctr"/>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任意多边形 8"/>
          <p:cNvSpPr/>
          <p:nvPr/>
        </p:nvSpPr>
        <p:spPr bwMode="gray">
          <a:xfrm>
            <a:off x="1549667" y="3628724"/>
            <a:ext cx="482730" cy="1617044"/>
          </a:xfrm>
          <a:custGeom>
            <a:avLst/>
            <a:gdLst>
              <a:gd name="connsiteX0" fmla="*/ 404261 w 482730"/>
              <a:gd name="connsiteY0" fmla="*/ 1617044 h 1617044"/>
              <a:gd name="connsiteX1" fmla="*/ 452388 w 482730"/>
              <a:gd name="connsiteY1" fmla="*/ 606392 h 1617044"/>
              <a:gd name="connsiteX2" fmla="*/ 0 w 482730"/>
              <a:gd name="connsiteY2" fmla="*/ 0 h 1617044"/>
            </a:gdLst>
            <a:ahLst/>
            <a:cxnLst>
              <a:cxn ang="0">
                <a:pos x="connsiteX0" y="connsiteY0"/>
              </a:cxn>
              <a:cxn ang="0">
                <a:pos x="connsiteX1" y="connsiteY1"/>
              </a:cxn>
              <a:cxn ang="0">
                <a:pos x="connsiteX2" y="connsiteY2"/>
              </a:cxn>
            </a:cxnLst>
            <a:rect l="l" t="t" r="r" b="b"/>
            <a:pathLst>
              <a:path w="482730" h="1617044">
                <a:moveTo>
                  <a:pt x="404261" y="1617044"/>
                </a:moveTo>
                <a:cubicBezTo>
                  <a:pt x="462013" y="1246471"/>
                  <a:pt x="519765" y="875899"/>
                  <a:pt x="452388" y="606392"/>
                </a:cubicBezTo>
                <a:cubicBezTo>
                  <a:pt x="385011" y="336885"/>
                  <a:pt x="192505" y="168442"/>
                  <a:pt x="0" y="0"/>
                </a:cubicBezTo>
              </a:path>
            </a:pathLst>
          </a:custGeom>
          <a:noFill/>
          <a:ln w="19050">
            <a:solidFill>
              <a:srgbClr val="30B5C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任意多边形 9"/>
          <p:cNvSpPr/>
          <p:nvPr/>
        </p:nvSpPr>
        <p:spPr bwMode="gray">
          <a:xfrm>
            <a:off x="2068197" y="3724977"/>
            <a:ext cx="501748" cy="1530417"/>
          </a:xfrm>
          <a:custGeom>
            <a:avLst/>
            <a:gdLst>
              <a:gd name="connsiteX0" fmla="*/ 1235 w 501748"/>
              <a:gd name="connsiteY0" fmla="*/ 1530417 h 1530417"/>
              <a:gd name="connsiteX1" fmla="*/ 78237 w 501748"/>
              <a:gd name="connsiteY1" fmla="*/ 558265 h 1530417"/>
              <a:gd name="connsiteX2" fmla="*/ 501748 w 501748"/>
              <a:gd name="connsiteY2" fmla="*/ 0 h 1530417"/>
            </a:gdLst>
            <a:ahLst/>
            <a:cxnLst>
              <a:cxn ang="0">
                <a:pos x="connsiteX0" y="connsiteY0"/>
              </a:cxn>
              <a:cxn ang="0">
                <a:pos x="connsiteX1" y="connsiteY1"/>
              </a:cxn>
              <a:cxn ang="0">
                <a:pos x="connsiteX2" y="connsiteY2"/>
              </a:cxn>
            </a:cxnLst>
            <a:rect l="l" t="t" r="r" b="b"/>
            <a:pathLst>
              <a:path w="501748" h="1530417">
                <a:moveTo>
                  <a:pt x="1235" y="1530417"/>
                </a:moveTo>
                <a:cubicBezTo>
                  <a:pt x="-1974" y="1171875"/>
                  <a:pt x="-5182" y="813334"/>
                  <a:pt x="78237" y="558265"/>
                </a:cubicBezTo>
                <a:cubicBezTo>
                  <a:pt x="161656" y="303195"/>
                  <a:pt x="331702" y="151597"/>
                  <a:pt x="501748" y="0"/>
                </a:cubicBezTo>
              </a:path>
            </a:pathLst>
          </a:custGeom>
          <a:noFill/>
          <a:ln w="19050">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p:cNvPicPr>
            <a:picLocks noChangeAspect="1"/>
          </p:cNvPicPr>
          <p:nvPr/>
        </p:nvPicPr>
        <p:blipFill>
          <a:blip r:embed="rId11"/>
          <a:stretch>
            <a:fillRect/>
          </a:stretch>
        </p:blipFill>
        <p:spPr>
          <a:xfrm>
            <a:off x="4707598" y="1084843"/>
            <a:ext cx="6987446" cy="1597130"/>
          </a:xfrm>
          <a:prstGeom prst="rect">
            <a:avLst/>
          </a:prstGeom>
          <a:ln w="12700">
            <a:solidFill>
              <a:schemeClr val="bg1">
                <a:lumMod val="85000"/>
              </a:schemeClr>
            </a:solidFill>
          </a:ln>
        </p:spPr>
      </p:pic>
      <p:sp>
        <p:nvSpPr>
          <p:cNvPr id="40" name="燕尾形 39"/>
          <p:cNvSpPr/>
          <p:nvPr/>
        </p:nvSpPr>
        <p:spPr bwMode="gray">
          <a:xfrm>
            <a:off x="8002321" y="124239"/>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质量评估报告</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179073"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射频热图</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gray">
          <a:xfrm>
            <a:off x="7185569"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健康度</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10812575"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终端拨测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999582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频谱分析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414247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CampusInsight</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CampusInsight</a:t>
            </a:r>
            <a:r>
              <a:rPr lang="zh-CN" altLang="en-US" b="1" dirty="0" smtClean="0">
                <a:sym typeface="Huawei Sans" panose="020C0503030203020204" pitchFamily="34" charset="0"/>
              </a:rPr>
              <a:t>功能与演示</a:t>
            </a:r>
            <a:endParaRPr lang="en-US" altLang="zh-CN" b="1" dirty="0" smtClean="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Telemetry</a:t>
            </a:r>
          </a:p>
          <a:p>
            <a:pPr lvl="1"/>
            <a:r>
              <a:rPr lang="zh-CN" altLang="en-US" dirty="0">
                <a:solidFill>
                  <a:schemeClr val="bg1">
                    <a:lumMod val="50000"/>
                  </a:schemeClr>
                </a:solidFill>
                <a:sym typeface="Huawei Sans" panose="020C0503030203020204" pitchFamily="34" charset="0"/>
              </a:rPr>
              <a:t>可视</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分析</a:t>
            </a:r>
            <a:endParaRPr lang="en-US" altLang="zh-CN" dirty="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调优</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保障</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4433354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：个障分析 </a:t>
            </a:r>
            <a:r>
              <a:rPr lang="en-US" altLang="zh-CN" dirty="0" smtClean="0">
                <a:sym typeface="Huawei Sans" panose="020C0503030203020204" pitchFamily="34" charset="0"/>
              </a:rPr>
              <a:t>&amp; </a:t>
            </a:r>
            <a:r>
              <a:rPr lang="zh-CN" altLang="en-US" dirty="0" smtClean="0">
                <a:sym typeface="Huawei Sans" panose="020C0503030203020204" pitchFamily="34" charset="0"/>
              </a:rPr>
              <a:t>群障分析</a:t>
            </a:r>
            <a:endParaRPr lang="zh-CN" altLang="en-US" dirty="0">
              <a:sym typeface="Huawei Sans" panose="020C0503030203020204" pitchFamily="34" charset="0"/>
            </a:endParaRPr>
          </a:p>
        </p:txBody>
      </p:sp>
      <p:sp>
        <p:nvSpPr>
          <p:cNvPr id="3" name="文本框 146"/>
          <p:cNvSpPr txBox="1"/>
          <p:nvPr/>
        </p:nvSpPr>
        <p:spPr bwMode="gray">
          <a:xfrm>
            <a:off x="922235" y="1097488"/>
            <a:ext cx="10369350" cy="1026415"/>
          </a:xfrm>
          <a:prstGeom prst="rect">
            <a:avLst/>
          </a:prstGeom>
          <a:noFill/>
        </p:spPr>
        <p:txBody>
          <a:bodyPr wrap="square">
            <a:noAutofit/>
          </a:bodyPr>
          <a:lstStyle/>
          <a:p>
            <a:pPr defTabSz="1217566" eaLnBrk="0" fontAlgn="base" hangingPunct="0">
              <a:lnSpc>
                <a:spcPct val="150000"/>
              </a:lnSpc>
              <a:spcBef>
                <a:spcPct val="0"/>
              </a:spcBef>
              <a:spcAft>
                <a:spcPct val="0"/>
              </a:spcAft>
              <a:buClr>
                <a:srgbClr val="CC9900"/>
              </a:buClr>
              <a:defRPr/>
            </a:pP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园区网络运维过程</a:t>
            </a:r>
            <a:r>
              <a:rPr lang="zh-CN" altLang="en-US" sz="14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中，管理员遇到</a:t>
            </a: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的问题主要分为两</a:t>
            </a:r>
            <a:r>
              <a:rPr lang="zh-CN" altLang="en-US" sz="14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类：</a:t>
            </a:r>
            <a:endParaRPr lang="en-US" altLang="zh-CN" sz="14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a:lnSpc>
                <a:spcPct val="150000"/>
              </a:lnSpc>
              <a:defRPr/>
            </a:pP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）个体性</a:t>
            </a:r>
            <a:r>
              <a:rPr lang="zh-CN" altLang="en-US" sz="14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比如</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终端配置错误导致</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的个体接入</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失败</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等。</a:t>
            </a:r>
            <a:endParaRPr lang="en-US" altLang="zh-CN"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a:lnSpc>
                <a:spcPct val="150000"/>
              </a:lnSpc>
              <a:defRPr/>
            </a:pP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4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）群体性</a:t>
            </a:r>
            <a:r>
              <a:rPr lang="zh-CN" altLang="en-US" sz="1400" b="1"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比如</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认证服务器问题导致的批量认证</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失败，</a:t>
            </a:r>
            <a:r>
              <a:rPr lang="en-US" altLang="zh-CN"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覆盖不足导致的批量用户信号强度</a:t>
            </a:r>
            <a:r>
              <a:rPr lang="zh-CN" altLang="en-US" sz="14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差等。</a:t>
            </a:r>
            <a:endPar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圆角矩形 3"/>
          <p:cNvSpPr/>
          <p:nvPr/>
        </p:nvSpPr>
        <p:spPr bwMode="gray">
          <a:xfrm>
            <a:off x="911226" y="2709968"/>
            <a:ext cx="10365802" cy="1447661"/>
          </a:xfrm>
          <a:prstGeom prst="roundRect">
            <a:avLst>
              <a:gd name="adj" fmla="val 0"/>
            </a:avLst>
          </a:prstGeom>
          <a:solidFill>
            <a:schemeClr val="bg1">
              <a:lumMod val="95000"/>
            </a:schemeClr>
          </a:solidFill>
          <a:ln w="6350" cap="flat" cmpd="sng" algn="ctr">
            <a:noFill/>
            <a:prstDash val="dash"/>
          </a:ln>
          <a:effectLst/>
        </p:spPr>
        <p:txBody>
          <a:bodyPr lIns="182823" tIns="91411" rIns="182823" bIns="91411" rtlCol="0" anchor="ctr"/>
          <a:lstStyle/>
          <a:p>
            <a:pPr marL="0" marR="0" lvl="0" indent="0" algn="ctr" defTabSz="1218906" eaLnBrk="1" fontAlgn="auto" latinLnBrk="0" hangingPunct="1">
              <a:lnSpc>
                <a:spcPct val="100000"/>
              </a:lnSpc>
              <a:spcBef>
                <a:spcPts val="0"/>
              </a:spcBef>
              <a:spcAft>
                <a:spcPts val="0"/>
              </a:spcAft>
              <a:buClrTx/>
              <a:buSzTx/>
              <a:buFontTx/>
              <a:buNone/>
              <a:tabLst/>
              <a:defRPr/>
            </a:pPr>
            <a:endParaRPr kumimoji="0" lang="en-US" altLang="zh-CN" sz="16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同侧圆角矩形 4"/>
          <p:cNvSpPr/>
          <p:nvPr/>
        </p:nvSpPr>
        <p:spPr bwMode="gray">
          <a:xfrm>
            <a:off x="911226" y="2320037"/>
            <a:ext cx="3098245" cy="338554"/>
          </a:xfrm>
          <a:prstGeom prst="round2SameRect">
            <a:avLst>
              <a:gd name="adj1" fmla="val 0"/>
              <a:gd name="adj2" fmla="val 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个体性问题解决方案</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a:spLocks noChangeArrowheads="1"/>
          </p:cNvSpPr>
          <p:nvPr/>
        </p:nvSpPr>
        <p:spPr bwMode="gray">
          <a:xfrm>
            <a:off x="4510225" y="3128343"/>
            <a:ext cx="6757006" cy="705642"/>
          </a:xfrm>
          <a:prstGeom prst="rect">
            <a:avLst/>
          </a:prstGeom>
          <a:noFill/>
          <a:ln w="9525">
            <a:noFill/>
            <a:miter lim="800000"/>
            <a:headEnd/>
            <a:tailEnd/>
          </a:ln>
        </p:spPr>
        <p:txBody>
          <a:bodyPr wrap="square">
            <a:spAutoFit/>
          </a:bodyPr>
          <a:lstStyle/>
          <a:p>
            <a:pPr defTabSz="1218906">
              <a:lnSpc>
                <a:spcPct val="150000"/>
              </a:lnSpc>
            </a:pP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、每指标：秒级数据采集</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4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异常检测。</a:t>
            </a:r>
            <a:endParaRPr lang="en-US" altLang="zh-CN" sz="14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8906">
              <a:lnSpc>
                <a:spcPct val="150000"/>
              </a:lnSpc>
            </a:pPr>
            <a:r>
              <a:rPr lang="en-US" altLang="zh-CN" sz="14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、每</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：协议级接入过程分析、全旅程回放</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体验分析、音视频应用</a:t>
            </a:r>
            <a:r>
              <a:rPr lang="zh-CN" altLang="en-US" sz="140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质量感知。</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圆角矩形 6"/>
          <p:cNvSpPr/>
          <p:nvPr/>
        </p:nvSpPr>
        <p:spPr bwMode="gray">
          <a:xfrm>
            <a:off x="911226" y="4650152"/>
            <a:ext cx="10358671" cy="1457602"/>
          </a:xfrm>
          <a:prstGeom prst="roundRect">
            <a:avLst>
              <a:gd name="adj" fmla="val 0"/>
            </a:avLst>
          </a:prstGeom>
          <a:solidFill>
            <a:schemeClr val="bg1">
              <a:lumMod val="95000"/>
            </a:schemeClr>
          </a:solidFill>
          <a:ln w="6350" cap="flat" cmpd="sng" algn="ctr">
            <a:noFill/>
            <a:prstDash val="dash"/>
          </a:ln>
          <a:effectLst/>
        </p:spPr>
        <p:txBody>
          <a:bodyPr lIns="182823" tIns="91411" rIns="182823" bIns="91411" rtlCol="0" anchor="ctr"/>
          <a:lstStyle/>
          <a:p>
            <a:pPr marL="0" marR="0" lvl="0" indent="0" algn="ctr" defTabSz="1218906" eaLnBrk="1" fontAlgn="auto" latinLnBrk="0" hangingPunct="1">
              <a:lnSpc>
                <a:spcPct val="100000"/>
              </a:lnSpc>
              <a:spcBef>
                <a:spcPts val="0"/>
              </a:spcBef>
              <a:spcAft>
                <a:spcPts val="0"/>
              </a:spcAft>
              <a:buClrTx/>
              <a:buSzTx/>
              <a:buFontTx/>
              <a:buNone/>
              <a:tabLst/>
              <a:defRPr/>
            </a:pPr>
            <a:endParaRPr kumimoji="0" lang="en-US" altLang="zh-CN" sz="16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433009304"/>
          <p:cNvSpPr/>
          <p:nvPr/>
        </p:nvSpPr>
        <p:spPr bwMode="gray">
          <a:xfrm>
            <a:off x="911226" y="4280229"/>
            <a:ext cx="3098245" cy="307777"/>
          </a:xfrm>
          <a:prstGeom prst="round2SameRect">
            <a:avLst>
              <a:gd name="adj1" fmla="val 0"/>
              <a:gd name="adj2" fmla="val 0"/>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群体性问题解决方案</a:t>
            </a:r>
          </a:p>
        </p:txBody>
      </p:sp>
      <p:sp>
        <p:nvSpPr>
          <p:cNvPr id="9" name="矩形 8"/>
          <p:cNvSpPr>
            <a:spLocks noChangeArrowheads="1"/>
          </p:cNvSpPr>
          <p:nvPr/>
        </p:nvSpPr>
        <p:spPr bwMode="gray">
          <a:xfrm>
            <a:off x="4504602" y="5182991"/>
            <a:ext cx="6785210" cy="332463"/>
          </a:xfrm>
          <a:prstGeom prst="rect">
            <a:avLst/>
          </a:prstGeom>
          <a:noFill/>
          <a:ln w="9525">
            <a:noFill/>
            <a:miter lim="800000"/>
            <a:headEnd/>
            <a:tailEnd/>
          </a:ln>
        </p:spPr>
        <p:txBody>
          <a:bodyPr wrap="square">
            <a:spAutoFit/>
          </a:bodyPr>
          <a:lstStyle/>
          <a:p>
            <a:pPr defTabSz="1218906">
              <a:lnSpc>
                <a:spcPts val="2000"/>
              </a:lnSpc>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四</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大</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类问题识别：智能识别连接类、空口性能类、漫游</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类、设备类问题。</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0" name="组合 9">
            <a:extLst>
              <a:ext uri="{FF2B5EF4-FFF2-40B4-BE49-F238E27FC236}">
                <a16:creationId xmlns="" xmlns:a16="http://schemas.microsoft.com/office/drawing/2014/main" id="{07771919-29BA-4F84-A108-95F68658FD60}"/>
              </a:ext>
            </a:extLst>
          </p:cNvPr>
          <p:cNvGrpSpPr/>
          <p:nvPr/>
        </p:nvGrpSpPr>
        <p:grpSpPr bwMode="black">
          <a:xfrm>
            <a:off x="1271464" y="2950319"/>
            <a:ext cx="118198" cy="256412"/>
            <a:chOff x="329220" y="2244206"/>
            <a:chExt cx="128499" cy="256412"/>
          </a:xfrm>
        </p:grpSpPr>
        <p:sp>
          <p:nvSpPr>
            <p:cNvPr id="11"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 name="组合 12">
            <a:extLst>
              <a:ext uri="{FF2B5EF4-FFF2-40B4-BE49-F238E27FC236}">
                <a16:creationId xmlns="" xmlns:a16="http://schemas.microsoft.com/office/drawing/2014/main" id="{DB25A4B8-9E5D-4864-880B-A9518AD5BB11}"/>
              </a:ext>
            </a:extLst>
          </p:cNvPr>
          <p:cNvGrpSpPr/>
          <p:nvPr/>
        </p:nvGrpSpPr>
        <p:grpSpPr bwMode="gray">
          <a:xfrm>
            <a:off x="1403907" y="2950319"/>
            <a:ext cx="118198" cy="256412"/>
            <a:chOff x="506809" y="2244206"/>
            <a:chExt cx="128499" cy="256412"/>
          </a:xfrm>
        </p:grpSpPr>
        <p:sp>
          <p:nvSpPr>
            <p:cNvPr id="14"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6" name="组合 15">
            <a:extLst>
              <a:ext uri="{FF2B5EF4-FFF2-40B4-BE49-F238E27FC236}">
                <a16:creationId xmlns="" xmlns:a16="http://schemas.microsoft.com/office/drawing/2014/main" id="{202DEABF-3D55-44F6-8FCD-8ED9E6485203}"/>
              </a:ext>
            </a:extLst>
          </p:cNvPr>
          <p:cNvGrpSpPr/>
          <p:nvPr/>
        </p:nvGrpSpPr>
        <p:grpSpPr bwMode="gray">
          <a:xfrm>
            <a:off x="1536350" y="2950319"/>
            <a:ext cx="118198" cy="256412"/>
            <a:chOff x="684397" y="2244206"/>
            <a:chExt cx="128499" cy="256412"/>
          </a:xfrm>
        </p:grpSpPr>
        <p:sp>
          <p:nvSpPr>
            <p:cNvPr id="17"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9" name="组合 18">
            <a:extLst>
              <a:ext uri="{FF2B5EF4-FFF2-40B4-BE49-F238E27FC236}">
                <a16:creationId xmlns="" xmlns:a16="http://schemas.microsoft.com/office/drawing/2014/main" id="{B7BF07FD-8F7C-4965-A0C8-339ED4A5F586}"/>
              </a:ext>
            </a:extLst>
          </p:cNvPr>
          <p:cNvGrpSpPr/>
          <p:nvPr/>
        </p:nvGrpSpPr>
        <p:grpSpPr bwMode="gray">
          <a:xfrm>
            <a:off x="1668792" y="2950319"/>
            <a:ext cx="112886" cy="256412"/>
            <a:chOff x="867760" y="2244206"/>
            <a:chExt cx="122724" cy="256412"/>
          </a:xfrm>
        </p:grpSpPr>
        <p:sp>
          <p:nvSpPr>
            <p:cNvPr id="20"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 name="组合 21">
            <a:extLst>
              <a:ext uri="{FF2B5EF4-FFF2-40B4-BE49-F238E27FC236}">
                <a16:creationId xmlns="" xmlns:a16="http://schemas.microsoft.com/office/drawing/2014/main" id="{F82E017D-E6E4-4CFB-995C-E48F28C9F348}"/>
              </a:ext>
            </a:extLst>
          </p:cNvPr>
          <p:cNvGrpSpPr/>
          <p:nvPr/>
        </p:nvGrpSpPr>
        <p:grpSpPr bwMode="gray">
          <a:xfrm>
            <a:off x="1795923" y="2950319"/>
            <a:ext cx="118198" cy="256412"/>
            <a:chOff x="1045348" y="2244206"/>
            <a:chExt cx="128499" cy="256412"/>
          </a:xfrm>
        </p:grpSpPr>
        <p:sp>
          <p:nvSpPr>
            <p:cNvPr id="23"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5" name="组合 24">
            <a:extLst>
              <a:ext uri="{FF2B5EF4-FFF2-40B4-BE49-F238E27FC236}">
                <a16:creationId xmlns="" xmlns:a16="http://schemas.microsoft.com/office/drawing/2014/main" id="{3D664CD3-334F-4DA7-B3FF-6AFB386AAC2A}"/>
              </a:ext>
            </a:extLst>
          </p:cNvPr>
          <p:cNvGrpSpPr/>
          <p:nvPr/>
        </p:nvGrpSpPr>
        <p:grpSpPr bwMode="gray">
          <a:xfrm>
            <a:off x="1928366" y="2950319"/>
            <a:ext cx="118198" cy="256412"/>
            <a:chOff x="1187248" y="2249442"/>
            <a:chExt cx="128499" cy="256412"/>
          </a:xfrm>
        </p:grpSpPr>
        <p:sp>
          <p:nvSpPr>
            <p:cNvPr id="26"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8" name="组合 27">
            <a:extLst>
              <a:ext uri="{FF2B5EF4-FFF2-40B4-BE49-F238E27FC236}">
                <a16:creationId xmlns="" xmlns:a16="http://schemas.microsoft.com/office/drawing/2014/main" id="{AE515FB8-930E-44E9-AC6F-964116A87E4C}"/>
              </a:ext>
            </a:extLst>
          </p:cNvPr>
          <p:cNvGrpSpPr/>
          <p:nvPr/>
        </p:nvGrpSpPr>
        <p:grpSpPr bwMode="gray">
          <a:xfrm>
            <a:off x="2060810" y="2950319"/>
            <a:ext cx="118198" cy="256412"/>
            <a:chOff x="1187248" y="2249442"/>
            <a:chExt cx="128499" cy="256412"/>
          </a:xfrm>
        </p:grpSpPr>
        <p:sp>
          <p:nvSpPr>
            <p:cNvPr id="29"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1" name="组合 30">
            <a:extLst>
              <a:ext uri="{FF2B5EF4-FFF2-40B4-BE49-F238E27FC236}">
                <a16:creationId xmlns="" xmlns:a16="http://schemas.microsoft.com/office/drawing/2014/main" id="{07771919-29BA-4F84-A108-95F68658FD60}"/>
              </a:ext>
            </a:extLst>
          </p:cNvPr>
          <p:cNvGrpSpPr/>
          <p:nvPr/>
        </p:nvGrpSpPr>
        <p:grpSpPr bwMode="gray">
          <a:xfrm>
            <a:off x="1271464" y="3253365"/>
            <a:ext cx="118198" cy="256412"/>
            <a:chOff x="329220" y="2244206"/>
            <a:chExt cx="128499" cy="256412"/>
          </a:xfrm>
        </p:grpSpPr>
        <p:sp>
          <p:nvSpPr>
            <p:cNvPr id="32" name="Freeform 15">
              <a:extLst>
                <a:ext uri="{FF2B5EF4-FFF2-40B4-BE49-F238E27FC236}">
                  <a16:creationId xmlns="" xmlns:a16="http://schemas.microsoft.com/office/drawing/2014/main" id="{C0E50A3E-8EAA-43E2-B53D-5CFEC687DEBB}"/>
                </a:ext>
              </a:extLst>
            </p:cNvPr>
            <p:cNvSpPr>
              <a:spLocks/>
            </p:cNvSpPr>
            <p:nvPr/>
          </p:nvSpPr>
          <p:spPr bwMode="gray">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ysClr val="window" lastClr="FFFFFF">
                <a:lumMod val="50000"/>
              </a:sysClr>
            </a:solidFill>
            <a:ln>
              <a:noFill/>
            </a:ln>
            <a:extLst/>
          </p:spPr>
          <p:txBody>
            <a:bodyPr vert="horz" wrap="square" lIns="91419" tIns="45709" rIns="91419" bIns="45709" numCol="1" anchor="t" anchorCtr="0" compatLnSpc="1">
              <a:prstTxWarp prst="textNoShape">
                <a:avLst/>
              </a:prstTxWarp>
            </a:bodyPr>
            <a:lstStyle/>
            <a:p>
              <a:pPr marL="0" marR="0" lvl="0" indent="0" defTabSz="1219028" eaLnBrk="1" fontAlgn="base" latinLnBrk="0" hangingPunct="1">
                <a:lnSpc>
                  <a:spcPct val="100000"/>
                </a:lnSpc>
                <a:spcBef>
                  <a:spcPct val="0"/>
                </a:spcBef>
                <a:spcAft>
                  <a:spcPct val="0"/>
                </a:spcAft>
                <a:buClrTx/>
                <a:buSzTx/>
                <a:buFontTx/>
                <a:buNone/>
                <a:tabLst/>
                <a:defRPr/>
              </a:pPr>
              <a:endParaRPr kumimoji="0" lang="zh-CN" altLang="en-US" sz="5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Oval 16">
              <a:extLst>
                <a:ext uri="{FF2B5EF4-FFF2-40B4-BE49-F238E27FC236}">
                  <a16:creationId xmlns="" xmlns:a16="http://schemas.microsoft.com/office/drawing/2014/main" id="{E7D1A3D8-D5BA-4779-A780-361700E46E86}"/>
                </a:ext>
              </a:extLst>
            </p:cNvPr>
            <p:cNvSpPr>
              <a:spLocks noChangeArrowheads="1"/>
            </p:cNvSpPr>
            <p:nvPr/>
          </p:nvSpPr>
          <p:spPr bwMode="gray">
            <a:xfrm>
              <a:off x="360983" y="2244206"/>
              <a:ext cx="60640" cy="51039"/>
            </a:xfrm>
            <a:prstGeom prst="ellipse">
              <a:avLst/>
            </a:prstGeom>
            <a:solidFill>
              <a:sysClr val="window" lastClr="FFFFFF">
                <a:lumMod val="50000"/>
              </a:sysClr>
            </a:solidFill>
            <a:ln>
              <a:noFill/>
            </a:ln>
            <a:extLst/>
          </p:spPr>
          <p:txBody>
            <a:bodyPr vert="horz" wrap="square" lIns="91419" tIns="45709" rIns="91419" bIns="45709" numCol="1" anchor="t" anchorCtr="0" compatLnSpc="1">
              <a:prstTxWarp prst="textNoShape">
                <a:avLst/>
              </a:prstTxWarp>
            </a:bodyPr>
            <a:lstStyle/>
            <a:p>
              <a:pPr marL="0" marR="0" lvl="0" indent="0" defTabSz="1219028" eaLnBrk="1" fontAlgn="base" latinLnBrk="0" hangingPunct="1">
                <a:lnSpc>
                  <a:spcPct val="100000"/>
                </a:lnSpc>
                <a:spcBef>
                  <a:spcPct val="0"/>
                </a:spcBef>
                <a:spcAft>
                  <a:spcPct val="0"/>
                </a:spcAft>
                <a:buClrTx/>
                <a:buSzTx/>
                <a:buFontTx/>
                <a:buNone/>
                <a:tabLst/>
                <a:defRPr/>
              </a:pPr>
              <a:endParaRPr kumimoji="0" lang="zh-CN" altLang="en-US" sz="5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4" name="组合 33">
            <a:extLst>
              <a:ext uri="{FF2B5EF4-FFF2-40B4-BE49-F238E27FC236}">
                <a16:creationId xmlns="" xmlns:a16="http://schemas.microsoft.com/office/drawing/2014/main" id="{DB25A4B8-9E5D-4864-880B-A9518AD5BB11}"/>
              </a:ext>
            </a:extLst>
          </p:cNvPr>
          <p:cNvGrpSpPr/>
          <p:nvPr/>
        </p:nvGrpSpPr>
        <p:grpSpPr bwMode="gray">
          <a:xfrm>
            <a:off x="1403907" y="3253365"/>
            <a:ext cx="118198" cy="256412"/>
            <a:chOff x="506809" y="2244206"/>
            <a:chExt cx="128499" cy="256412"/>
          </a:xfrm>
        </p:grpSpPr>
        <p:sp>
          <p:nvSpPr>
            <p:cNvPr id="35"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7" name="组合 36">
            <a:extLst>
              <a:ext uri="{FF2B5EF4-FFF2-40B4-BE49-F238E27FC236}">
                <a16:creationId xmlns="" xmlns:a16="http://schemas.microsoft.com/office/drawing/2014/main" id="{202DEABF-3D55-44F6-8FCD-8ED9E6485203}"/>
              </a:ext>
            </a:extLst>
          </p:cNvPr>
          <p:cNvGrpSpPr/>
          <p:nvPr/>
        </p:nvGrpSpPr>
        <p:grpSpPr bwMode="gray">
          <a:xfrm>
            <a:off x="1536350" y="3253365"/>
            <a:ext cx="118198" cy="256412"/>
            <a:chOff x="684397" y="2244206"/>
            <a:chExt cx="128499" cy="256412"/>
          </a:xfrm>
        </p:grpSpPr>
        <p:sp>
          <p:nvSpPr>
            <p:cNvPr id="38"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40" name="组合 39">
            <a:extLst>
              <a:ext uri="{FF2B5EF4-FFF2-40B4-BE49-F238E27FC236}">
                <a16:creationId xmlns="" xmlns:a16="http://schemas.microsoft.com/office/drawing/2014/main" id="{B7BF07FD-8F7C-4965-A0C8-339ED4A5F586}"/>
              </a:ext>
            </a:extLst>
          </p:cNvPr>
          <p:cNvGrpSpPr/>
          <p:nvPr/>
        </p:nvGrpSpPr>
        <p:grpSpPr bwMode="gray">
          <a:xfrm>
            <a:off x="1668792" y="3253365"/>
            <a:ext cx="112886" cy="256412"/>
            <a:chOff x="867760" y="2244206"/>
            <a:chExt cx="122724" cy="256412"/>
          </a:xfrm>
        </p:grpSpPr>
        <p:sp>
          <p:nvSpPr>
            <p:cNvPr id="41"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43" name="组合 42">
            <a:extLst>
              <a:ext uri="{FF2B5EF4-FFF2-40B4-BE49-F238E27FC236}">
                <a16:creationId xmlns="" xmlns:a16="http://schemas.microsoft.com/office/drawing/2014/main" id="{F82E017D-E6E4-4CFB-995C-E48F28C9F348}"/>
              </a:ext>
            </a:extLst>
          </p:cNvPr>
          <p:cNvGrpSpPr/>
          <p:nvPr/>
        </p:nvGrpSpPr>
        <p:grpSpPr bwMode="gray">
          <a:xfrm>
            <a:off x="1795923" y="3253365"/>
            <a:ext cx="118198" cy="256412"/>
            <a:chOff x="1045348" y="2244206"/>
            <a:chExt cx="128499" cy="256412"/>
          </a:xfrm>
        </p:grpSpPr>
        <p:sp>
          <p:nvSpPr>
            <p:cNvPr id="44"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46" name="组合 45">
            <a:extLst>
              <a:ext uri="{FF2B5EF4-FFF2-40B4-BE49-F238E27FC236}">
                <a16:creationId xmlns="" xmlns:a16="http://schemas.microsoft.com/office/drawing/2014/main" id="{3D664CD3-334F-4DA7-B3FF-6AFB386AAC2A}"/>
              </a:ext>
            </a:extLst>
          </p:cNvPr>
          <p:cNvGrpSpPr/>
          <p:nvPr/>
        </p:nvGrpSpPr>
        <p:grpSpPr bwMode="gray">
          <a:xfrm>
            <a:off x="1928366" y="3253365"/>
            <a:ext cx="118198" cy="256412"/>
            <a:chOff x="1187248" y="2249442"/>
            <a:chExt cx="128499" cy="256412"/>
          </a:xfrm>
        </p:grpSpPr>
        <p:sp>
          <p:nvSpPr>
            <p:cNvPr id="47"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49" name="组合 48">
            <a:extLst>
              <a:ext uri="{FF2B5EF4-FFF2-40B4-BE49-F238E27FC236}">
                <a16:creationId xmlns="" xmlns:a16="http://schemas.microsoft.com/office/drawing/2014/main" id="{AE515FB8-930E-44E9-AC6F-964116A87E4C}"/>
              </a:ext>
            </a:extLst>
          </p:cNvPr>
          <p:cNvGrpSpPr/>
          <p:nvPr/>
        </p:nvGrpSpPr>
        <p:grpSpPr bwMode="gray">
          <a:xfrm>
            <a:off x="2060810" y="3253365"/>
            <a:ext cx="118198" cy="256412"/>
            <a:chOff x="1187248" y="2249442"/>
            <a:chExt cx="128499" cy="256412"/>
          </a:xfrm>
        </p:grpSpPr>
        <p:sp>
          <p:nvSpPr>
            <p:cNvPr id="50"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52" name="组合 51">
            <a:extLst>
              <a:ext uri="{FF2B5EF4-FFF2-40B4-BE49-F238E27FC236}">
                <a16:creationId xmlns="" xmlns:a16="http://schemas.microsoft.com/office/drawing/2014/main" id="{07771919-29BA-4F84-A108-95F68658FD60}"/>
              </a:ext>
            </a:extLst>
          </p:cNvPr>
          <p:cNvGrpSpPr/>
          <p:nvPr/>
        </p:nvGrpSpPr>
        <p:grpSpPr bwMode="black">
          <a:xfrm>
            <a:off x="2053204" y="3591499"/>
            <a:ext cx="118198" cy="256412"/>
            <a:chOff x="329220" y="2244206"/>
            <a:chExt cx="128499" cy="256412"/>
          </a:xfrm>
        </p:grpSpPr>
        <p:sp>
          <p:nvSpPr>
            <p:cNvPr id="53"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55" name="组合 54">
            <a:extLst>
              <a:ext uri="{FF2B5EF4-FFF2-40B4-BE49-F238E27FC236}">
                <a16:creationId xmlns="" xmlns:a16="http://schemas.microsoft.com/office/drawing/2014/main" id="{DB25A4B8-9E5D-4864-880B-A9518AD5BB11}"/>
              </a:ext>
            </a:extLst>
          </p:cNvPr>
          <p:cNvGrpSpPr/>
          <p:nvPr/>
        </p:nvGrpSpPr>
        <p:grpSpPr bwMode="gray">
          <a:xfrm>
            <a:off x="1271464" y="3595538"/>
            <a:ext cx="118198" cy="256412"/>
            <a:chOff x="506809" y="2244206"/>
            <a:chExt cx="128499" cy="256412"/>
          </a:xfrm>
        </p:grpSpPr>
        <p:sp>
          <p:nvSpPr>
            <p:cNvPr id="56"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58" name="组合 57">
            <a:extLst>
              <a:ext uri="{FF2B5EF4-FFF2-40B4-BE49-F238E27FC236}">
                <a16:creationId xmlns="" xmlns:a16="http://schemas.microsoft.com/office/drawing/2014/main" id="{202DEABF-3D55-44F6-8FCD-8ED9E6485203}"/>
              </a:ext>
            </a:extLst>
          </p:cNvPr>
          <p:cNvGrpSpPr/>
          <p:nvPr/>
        </p:nvGrpSpPr>
        <p:grpSpPr bwMode="gray">
          <a:xfrm>
            <a:off x="1403907" y="3595538"/>
            <a:ext cx="118198" cy="256412"/>
            <a:chOff x="684397" y="2244206"/>
            <a:chExt cx="128499" cy="256412"/>
          </a:xfrm>
        </p:grpSpPr>
        <p:sp>
          <p:nvSpPr>
            <p:cNvPr id="59"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61" name="组合 60">
            <a:extLst>
              <a:ext uri="{FF2B5EF4-FFF2-40B4-BE49-F238E27FC236}">
                <a16:creationId xmlns="" xmlns:a16="http://schemas.microsoft.com/office/drawing/2014/main" id="{B7BF07FD-8F7C-4965-A0C8-339ED4A5F586}"/>
              </a:ext>
            </a:extLst>
          </p:cNvPr>
          <p:cNvGrpSpPr/>
          <p:nvPr/>
        </p:nvGrpSpPr>
        <p:grpSpPr bwMode="gray">
          <a:xfrm>
            <a:off x="1536349" y="3595538"/>
            <a:ext cx="112886" cy="256412"/>
            <a:chOff x="867760" y="2244206"/>
            <a:chExt cx="122724" cy="256412"/>
          </a:xfrm>
        </p:grpSpPr>
        <p:sp>
          <p:nvSpPr>
            <p:cNvPr id="62"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64" name="组合 63">
            <a:extLst>
              <a:ext uri="{FF2B5EF4-FFF2-40B4-BE49-F238E27FC236}">
                <a16:creationId xmlns="" xmlns:a16="http://schemas.microsoft.com/office/drawing/2014/main" id="{F82E017D-E6E4-4CFB-995C-E48F28C9F348}"/>
              </a:ext>
            </a:extLst>
          </p:cNvPr>
          <p:cNvGrpSpPr/>
          <p:nvPr/>
        </p:nvGrpSpPr>
        <p:grpSpPr bwMode="gray">
          <a:xfrm>
            <a:off x="1663480" y="3595538"/>
            <a:ext cx="118198" cy="256412"/>
            <a:chOff x="1045348" y="2244206"/>
            <a:chExt cx="128499" cy="256412"/>
          </a:xfrm>
        </p:grpSpPr>
        <p:sp>
          <p:nvSpPr>
            <p:cNvPr id="65"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67" name="组合 66">
            <a:extLst>
              <a:ext uri="{FF2B5EF4-FFF2-40B4-BE49-F238E27FC236}">
                <a16:creationId xmlns="" xmlns:a16="http://schemas.microsoft.com/office/drawing/2014/main" id="{3D664CD3-334F-4DA7-B3FF-6AFB386AAC2A}"/>
              </a:ext>
            </a:extLst>
          </p:cNvPr>
          <p:cNvGrpSpPr/>
          <p:nvPr/>
        </p:nvGrpSpPr>
        <p:grpSpPr bwMode="gray">
          <a:xfrm>
            <a:off x="1795923" y="3595538"/>
            <a:ext cx="118198" cy="256412"/>
            <a:chOff x="1187248" y="2249442"/>
            <a:chExt cx="128499" cy="256412"/>
          </a:xfrm>
        </p:grpSpPr>
        <p:sp>
          <p:nvSpPr>
            <p:cNvPr id="68"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0" name="组合 69">
            <a:extLst>
              <a:ext uri="{FF2B5EF4-FFF2-40B4-BE49-F238E27FC236}">
                <a16:creationId xmlns="" xmlns:a16="http://schemas.microsoft.com/office/drawing/2014/main" id="{AE515FB8-930E-44E9-AC6F-964116A87E4C}"/>
              </a:ext>
            </a:extLst>
          </p:cNvPr>
          <p:cNvGrpSpPr/>
          <p:nvPr/>
        </p:nvGrpSpPr>
        <p:grpSpPr bwMode="gray">
          <a:xfrm>
            <a:off x="1928367" y="3595538"/>
            <a:ext cx="118198" cy="256412"/>
            <a:chOff x="1187248" y="2249442"/>
            <a:chExt cx="128499" cy="256412"/>
          </a:xfrm>
        </p:grpSpPr>
        <p:sp>
          <p:nvSpPr>
            <p:cNvPr id="71"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3" name="组合 72">
            <a:extLst>
              <a:ext uri="{FF2B5EF4-FFF2-40B4-BE49-F238E27FC236}">
                <a16:creationId xmlns="" xmlns:a16="http://schemas.microsoft.com/office/drawing/2014/main" id="{07771919-29BA-4F84-A108-95F68658FD60}"/>
              </a:ext>
            </a:extLst>
          </p:cNvPr>
          <p:cNvGrpSpPr/>
          <p:nvPr/>
        </p:nvGrpSpPr>
        <p:grpSpPr bwMode="black">
          <a:xfrm>
            <a:off x="3042308" y="2958167"/>
            <a:ext cx="118198" cy="256412"/>
            <a:chOff x="329220" y="2244206"/>
            <a:chExt cx="128499" cy="256412"/>
          </a:xfrm>
        </p:grpSpPr>
        <p:sp>
          <p:nvSpPr>
            <p:cNvPr id="74"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5"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6" name="组合 75">
            <a:extLst>
              <a:ext uri="{FF2B5EF4-FFF2-40B4-BE49-F238E27FC236}">
                <a16:creationId xmlns="" xmlns:a16="http://schemas.microsoft.com/office/drawing/2014/main" id="{DB25A4B8-9E5D-4864-880B-A9518AD5BB11}"/>
              </a:ext>
            </a:extLst>
          </p:cNvPr>
          <p:cNvGrpSpPr/>
          <p:nvPr/>
        </p:nvGrpSpPr>
        <p:grpSpPr bwMode="gray">
          <a:xfrm>
            <a:off x="2652391" y="2961593"/>
            <a:ext cx="118198" cy="256412"/>
            <a:chOff x="506809" y="2244206"/>
            <a:chExt cx="128499" cy="256412"/>
          </a:xfrm>
        </p:grpSpPr>
        <p:sp>
          <p:nvSpPr>
            <p:cNvPr id="77"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9" name="组合 78">
            <a:extLst>
              <a:ext uri="{FF2B5EF4-FFF2-40B4-BE49-F238E27FC236}">
                <a16:creationId xmlns="" xmlns:a16="http://schemas.microsoft.com/office/drawing/2014/main" id="{202DEABF-3D55-44F6-8FCD-8ED9E6485203}"/>
              </a:ext>
            </a:extLst>
          </p:cNvPr>
          <p:cNvGrpSpPr/>
          <p:nvPr/>
        </p:nvGrpSpPr>
        <p:grpSpPr bwMode="gray">
          <a:xfrm>
            <a:off x="2784834" y="2961593"/>
            <a:ext cx="118198" cy="256412"/>
            <a:chOff x="684397" y="2244206"/>
            <a:chExt cx="128499" cy="256412"/>
          </a:xfrm>
        </p:grpSpPr>
        <p:sp>
          <p:nvSpPr>
            <p:cNvPr id="80"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82" name="组合 81">
            <a:extLst>
              <a:ext uri="{FF2B5EF4-FFF2-40B4-BE49-F238E27FC236}">
                <a16:creationId xmlns="" xmlns:a16="http://schemas.microsoft.com/office/drawing/2014/main" id="{B7BF07FD-8F7C-4965-A0C8-339ED4A5F586}"/>
              </a:ext>
            </a:extLst>
          </p:cNvPr>
          <p:cNvGrpSpPr/>
          <p:nvPr/>
        </p:nvGrpSpPr>
        <p:grpSpPr bwMode="gray">
          <a:xfrm>
            <a:off x="2917276" y="2961593"/>
            <a:ext cx="112886" cy="256412"/>
            <a:chOff x="867760" y="2244206"/>
            <a:chExt cx="122724" cy="256412"/>
          </a:xfrm>
        </p:grpSpPr>
        <p:sp>
          <p:nvSpPr>
            <p:cNvPr id="83"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85" name="组合 84">
            <a:extLst>
              <a:ext uri="{FF2B5EF4-FFF2-40B4-BE49-F238E27FC236}">
                <a16:creationId xmlns="" xmlns:a16="http://schemas.microsoft.com/office/drawing/2014/main" id="{F82E017D-E6E4-4CFB-995C-E48F28C9F348}"/>
              </a:ext>
            </a:extLst>
          </p:cNvPr>
          <p:cNvGrpSpPr/>
          <p:nvPr/>
        </p:nvGrpSpPr>
        <p:grpSpPr bwMode="gray">
          <a:xfrm>
            <a:off x="2510163" y="2961593"/>
            <a:ext cx="118198" cy="256412"/>
            <a:chOff x="1045348" y="2244206"/>
            <a:chExt cx="128499" cy="256412"/>
          </a:xfrm>
        </p:grpSpPr>
        <p:sp>
          <p:nvSpPr>
            <p:cNvPr id="86"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88" name="组合 87">
            <a:extLst>
              <a:ext uri="{FF2B5EF4-FFF2-40B4-BE49-F238E27FC236}">
                <a16:creationId xmlns="" xmlns:a16="http://schemas.microsoft.com/office/drawing/2014/main" id="{3D664CD3-334F-4DA7-B3FF-6AFB386AAC2A}"/>
              </a:ext>
            </a:extLst>
          </p:cNvPr>
          <p:cNvGrpSpPr/>
          <p:nvPr/>
        </p:nvGrpSpPr>
        <p:grpSpPr bwMode="gray">
          <a:xfrm>
            <a:off x="3176850" y="2961593"/>
            <a:ext cx="118198" cy="256412"/>
            <a:chOff x="1187248" y="2249442"/>
            <a:chExt cx="128499" cy="256412"/>
          </a:xfrm>
        </p:grpSpPr>
        <p:sp>
          <p:nvSpPr>
            <p:cNvPr id="89"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1" name="组合 90">
            <a:extLst>
              <a:ext uri="{FF2B5EF4-FFF2-40B4-BE49-F238E27FC236}">
                <a16:creationId xmlns="" xmlns:a16="http://schemas.microsoft.com/office/drawing/2014/main" id="{AE515FB8-930E-44E9-AC6F-964116A87E4C}"/>
              </a:ext>
            </a:extLst>
          </p:cNvPr>
          <p:cNvGrpSpPr/>
          <p:nvPr/>
        </p:nvGrpSpPr>
        <p:grpSpPr bwMode="gray">
          <a:xfrm>
            <a:off x="3309294" y="2961593"/>
            <a:ext cx="118198" cy="256412"/>
            <a:chOff x="1187248" y="2249442"/>
            <a:chExt cx="128499" cy="256412"/>
          </a:xfrm>
        </p:grpSpPr>
        <p:sp>
          <p:nvSpPr>
            <p:cNvPr id="92"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4" name="组合 93">
            <a:extLst>
              <a:ext uri="{FF2B5EF4-FFF2-40B4-BE49-F238E27FC236}">
                <a16:creationId xmlns="" xmlns:a16="http://schemas.microsoft.com/office/drawing/2014/main" id="{DB25A4B8-9E5D-4864-880B-A9518AD5BB11}"/>
              </a:ext>
            </a:extLst>
          </p:cNvPr>
          <p:cNvGrpSpPr/>
          <p:nvPr/>
        </p:nvGrpSpPr>
        <p:grpSpPr bwMode="gray">
          <a:xfrm>
            <a:off x="2652391" y="3264639"/>
            <a:ext cx="118198" cy="256412"/>
            <a:chOff x="506809" y="2244206"/>
            <a:chExt cx="128499" cy="256412"/>
          </a:xfrm>
        </p:grpSpPr>
        <p:sp>
          <p:nvSpPr>
            <p:cNvPr id="95"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7" name="组合 96">
            <a:extLst>
              <a:ext uri="{FF2B5EF4-FFF2-40B4-BE49-F238E27FC236}">
                <a16:creationId xmlns="" xmlns:a16="http://schemas.microsoft.com/office/drawing/2014/main" id="{202DEABF-3D55-44F6-8FCD-8ED9E6485203}"/>
              </a:ext>
            </a:extLst>
          </p:cNvPr>
          <p:cNvGrpSpPr/>
          <p:nvPr/>
        </p:nvGrpSpPr>
        <p:grpSpPr bwMode="gray">
          <a:xfrm>
            <a:off x="2784834" y="3264639"/>
            <a:ext cx="118198" cy="256412"/>
            <a:chOff x="684397" y="2244206"/>
            <a:chExt cx="128499" cy="256412"/>
          </a:xfrm>
        </p:grpSpPr>
        <p:sp>
          <p:nvSpPr>
            <p:cNvPr id="98"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00" name="组合 99">
            <a:extLst>
              <a:ext uri="{FF2B5EF4-FFF2-40B4-BE49-F238E27FC236}">
                <a16:creationId xmlns="" xmlns:a16="http://schemas.microsoft.com/office/drawing/2014/main" id="{B7BF07FD-8F7C-4965-A0C8-339ED4A5F586}"/>
              </a:ext>
            </a:extLst>
          </p:cNvPr>
          <p:cNvGrpSpPr/>
          <p:nvPr/>
        </p:nvGrpSpPr>
        <p:grpSpPr bwMode="gray">
          <a:xfrm>
            <a:off x="2917276" y="3264639"/>
            <a:ext cx="112886" cy="256412"/>
            <a:chOff x="867760" y="2244206"/>
            <a:chExt cx="122724" cy="256412"/>
          </a:xfrm>
        </p:grpSpPr>
        <p:sp>
          <p:nvSpPr>
            <p:cNvPr id="101"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03" name="组合 102">
            <a:extLst>
              <a:ext uri="{FF2B5EF4-FFF2-40B4-BE49-F238E27FC236}">
                <a16:creationId xmlns="" xmlns:a16="http://schemas.microsoft.com/office/drawing/2014/main" id="{F82E017D-E6E4-4CFB-995C-E48F28C9F348}"/>
              </a:ext>
            </a:extLst>
          </p:cNvPr>
          <p:cNvGrpSpPr/>
          <p:nvPr/>
        </p:nvGrpSpPr>
        <p:grpSpPr bwMode="gray">
          <a:xfrm>
            <a:off x="3044407" y="3264639"/>
            <a:ext cx="118198" cy="256412"/>
            <a:chOff x="1045348" y="2244206"/>
            <a:chExt cx="128499" cy="256412"/>
          </a:xfrm>
        </p:grpSpPr>
        <p:sp>
          <p:nvSpPr>
            <p:cNvPr id="104"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06" name="组合 105">
            <a:extLst>
              <a:ext uri="{FF2B5EF4-FFF2-40B4-BE49-F238E27FC236}">
                <a16:creationId xmlns="" xmlns:a16="http://schemas.microsoft.com/office/drawing/2014/main" id="{3D664CD3-334F-4DA7-B3FF-6AFB386AAC2A}"/>
              </a:ext>
            </a:extLst>
          </p:cNvPr>
          <p:cNvGrpSpPr/>
          <p:nvPr/>
        </p:nvGrpSpPr>
        <p:grpSpPr bwMode="gray">
          <a:xfrm>
            <a:off x="3176850" y="3264639"/>
            <a:ext cx="118198" cy="256412"/>
            <a:chOff x="1187248" y="2249442"/>
            <a:chExt cx="128499" cy="256412"/>
          </a:xfrm>
        </p:grpSpPr>
        <p:sp>
          <p:nvSpPr>
            <p:cNvPr id="107"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09" name="组合 108">
            <a:extLst>
              <a:ext uri="{FF2B5EF4-FFF2-40B4-BE49-F238E27FC236}">
                <a16:creationId xmlns="" xmlns:a16="http://schemas.microsoft.com/office/drawing/2014/main" id="{AE515FB8-930E-44E9-AC6F-964116A87E4C}"/>
              </a:ext>
            </a:extLst>
          </p:cNvPr>
          <p:cNvGrpSpPr/>
          <p:nvPr/>
        </p:nvGrpSpPr>
        <p:grpSpPr bwMode="gray">
          <a:xfrm>
            <a:off x="3309294" y="3264639"/>
            <a:ext cx="118198" cy="256412"/>
            <a:chOff x="1187248" y="2249442"/>
            <a:chExt cx="128499" cy="256412"/>
          </a:xfrm>
        </p:grpSpPr>
        <p:sp>
          <p:nvSpPr>
            <p:cNvPr id="110"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12" name="组合 111">
            <a:extLst>
              <a:ext uri="{FF2B5EF4-FFF2-40B4-BE49-F238E27FC236}">
                <a16:creationId xmlns="" xmlns:a16="http://schemas.microsoft.com/office/drawing/2014/main" id="{DB25A4B8-9E5D-4864-880B-A9518AD5BB11}"/>
              </a:ext>
            </a:extLst>
          </p:cNvPr>
          <p:cNvGrpSpPr/>
          <p:nvPr/>
        </p:nvGrpSpPr>
        <p:grpSpPr bwMode="gray">
          <a:xfrm>
            <a:off x="2666635" y="3606812"/>
            <a:ext cx="118198" cy="256412"/>
            <a:chOff x="506809" y="2244206"/>
            <a:chExt cx="128499" cy="256412"/>
          </a:xfrm>
        </p:grpSpPr>
        <p:sp>
          <p:nvSpPr>
            <p:cNvPr id="113"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4"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15" name="组合 114">
            <a:extLst>
              <a:ext uri="{FF2B5EF4-FFF2-40B4-BE49-F238E27FC236}">
                <a16:creationId xmlns="" xmlns:a16="http://schemas.microsoft.com/office/drawing/2014/main" id="{202DEABF-3D55-44F6-8FCD-8ED9E6485203}"/>
              </a:ext>
            </a:extLst>
          </p:cNvPr>
          <p:cNvGrpSpPr/>
          <p:nvPr/>
        </p:nvGrpSpPr>
        <p:grpSpPr bwMode="gray">
          <a:xfrm>
            <a:off x="2799078" y="3606812"/>
            <a:ext cx="118198" cy="256412"/>
            <a:chOff x="684397" y="2244206"/>
            <a:chExt cx="128499" cy="256412"/>
          </a:xfrm>
        </p:grpSpPr>
        <p:sp>
          <p:nvSpPr>
            <p:cNvPr id="116"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18" name="组合 117">
            <a:extLst>
              <a:ext uri="{FF2B5EF4-FFF2-40B4-BE49-F238E27FC236}">
                <a16:creationId xmlns="" xmlns:a16="http://schemas.microsoft.com/office/drawing/2014/main" id="{B7BF07FD-8F7C-4965-A0C8-339ED4A5F586}"/>
              </a:ext>
            </a:extLst>
          </p:cNvPr>
          <p:cNvGrpSpPr/>
          <p:nvPr/>
        </p:nvGrpSpPr>
        <p:grpSpPr bwMode="gray">
          <a:xfrm>
            <a:off x="2931520" y="3606812"/>
            <a:ext cx="112886" cy="256412"/>
            <a:chOff x="867760" y="2244206"/>
            <a:chExt cx="122724" cy="256412"/>
          </a:xfrm>
        </p:grpSpPr>
        <p:sp>
          <p:nvSpPr>
            <p:cNvPr id="119"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0"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21" name="组合 120">
            <a:extLst>
              <a:ext uri="{FF2B5EF4-FFF2-40B4-BE49-F238E27FC236}">
                <a16:creationId xmlns="" xmlns:a16="http://schemas.microsoft.com/office/drawing/2014/main" id="{F82E017D-E6E4-4CFB-995C-E48F28C9F348}"/>
              </a:ext>
            </a:extLst>
          </p:cNvPr>
          <p:cNvGrpSpPr/>
          <p:nvPr/>
        </p:nvGrpSpPr>
        <p:grpSpPr bwMode="gray">
          <a:xfrm>
            <a:off x="3058651" y="3606812"/>
            <a:ext cx="118198" cy="256412"/>
            <a:chOff x="1045348" y="2244206"/>
            <a:chExt cx="128499" cy="256412"/>
          </a:xfrm>
        </p:grpSpPr>
        <p:sp>
          <p:nvSpPr>
            <p:cNvPr id="122"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3"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24" name="组合 123">
            <a:extLst>
              <a:ext uri="{FF2B5EF4-FFF2-40B4-BE49-F238E27FC236}">
                <a16:creationId xmlns="" xmlns:a16="http://schemas.microsoft.com/office/drawing/2014/main" id="{3D664CD3-334F-4DA7-B3FF-6AFB386AAC2A}"/>
              </a:ext>
            </a:extLst>
          </p:cNvPr>
          <p:cNvGrpSpPr/>
          <p:nvPr/>
        </p:nvGrpSpPr>
        <p:grpSpPr bwMode="gray">
          <a:xfrm>
            <a:off x="3191094" y="3606812"/>
            <a:ext cx="118198" cy="256412"/>
            <a:chOff x="1187248" y="2249442"/>
            <a:chExt cx="128499" cy="256412"/>
          </a:xfrm>
        </p:grpSpPr>
        <p:sp>
          <p:nvSpPr>
            <p:cNvPr id="125"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6"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27" name="组合 126">
            <a:extLst>
              <a:ext uri="{FF2B5EF4-FFF2-40B4-BE49-F238E27FC236}">
                <a16:creationId xmlns="" xmlns:a16="http://schemas.microsoft.com/office/drawing/2014/main" id="{AE515FB8-930E-44E9-AC6F-964116A87E4C}"/>
              </a:ext>
            </a:extLst>
          </p:cNvPr>
          <p:cNvGrpSpPr/>
          <p:nvPr/>
        </p:nvGrpSpPr>
        <p:grpSpPr bwMode="gray">
          <a:xfrm>
            <a:off x="3323538" y="3606812"/>
            <a:ext cx="118198" cy="256412"/>
            <a:chOff x="1187248" y="2249442"/>
            <a:chExt cx="128499" cy="256412"/>
          </a:xfrm>
        </p:grpSpPr>
        <p:sp>
          <p:nvSpPr>
            <p:cNvPr id="128"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9"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0" name="组合 129">
            <a:extLst>
              <a:ext uri="{FF2B5EF4-FFF2-40B4-BE49-F238E27FC236}">
                <a16:creationId xmlns="" xmlns:a16="http://schemas.microsoft.com/office/drawing/2014/main" id="{DB25A4B8-9E5D-4864-880B-A9518AD5BB11}"/>
              </a:ext>
            </a:extLst>
          </p:cNvPr>
          <p:cNvGrpSpPr/>
          <p:nvPr/>
        </p:nvGrpSpPr>
        <p:grpSpPr bwMode="gray">
          <a:xfrm>
            <a:off x="2519374" y="3264639"/>
            <a:ext cx="118198" cy="256412"/>
            <a:chOff x="506809" y="2244206"/>
            <a:chExt cx="128499" cy="256412"/>
          </a:xfrm>
        </p:grpSpPr>
        <p:sp>
          <p:nvSpPr>
            <p:cNvPr id="131"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3" name="组合 132">
            <a:extLst>
              <a:ext uri="{FF2B5EF4-FFF2-40B4-BE49-F238E27FC236}">
                <a16:creationId xmlns="" xmlns:a16="http://schemas.microsoft.com/office/drawing/2014/main" id="{DB25A4B8-9E5D-4864-880B-A9518AD5BB11}"/>
              </a:ext>
            </a:extLst>
          </p:cNvPr>
          <p:cNvGrpSpPr/>
          <p:nvPr/>
        </p:nvGrpSpPr>
        <p:grpSpPr bwMode="gray">
          <a:xfrm>
            <a:off x="2528880" y="3606812"/>
            <a:ext cx="118198" cy="256412"/>
            <a:chOff x="506809" y="2244206"/>
            <a:chExt cx="128499" cy="256412"/>
          </a:xfrm>
        </p:grpSpPr>
        <p:sp>
          <p:nvSpPr>
            <p:cNvPr id="134"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6" name="组合 135">
            <a:extLst>
              <a:ext uri="{FF2B5EF4-FFF2-40B4-BE49-F238E27FC236}">
                <a16:creationId xmlns="" xmlns:a16="http://schemas.microsoft.com/office/drawing/2014/main" id="{DB25A4B8-9E5D-4864-880B-A9518AD5BB11}"/>
              </a:ext>
            </a:extLst>
          </p:cNvPr>
          <p:cNvGrpSpPr/>
          <p:nvPr/>
        </p:nvGrpSpPr>
        <p:grpSpPr bwMode="gray">
          <a:xfrm>
            <a:off x="1403907" y="4932601"/>
            <a:ext cx="118198" cy="256412"/>
            <a:chOff x="506809" y="2244206"/>
            <a:chExt cx="128499" cy="256412"/>
          </a:xfrm>
        </p:grpSpPr>
        <p:sp>
          <p:nvSpPr>
            <p:cNvPr id="137"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39" name="组合 138">
            <a:extLst>
              <a:ext uri="{FF2B5EF4-FFF2-40B4-BE49-F238E27FC236}">
                <a16:creationId xmlns="" xmlns:a16="http://schemas.microsoft.com/office/drawing/2014/main" id="{202DEABF-3D55-44F6-8FCD-8ED9E6485203}"/>
              </a:ext>
            </a:extLst>
          </p:cNvPr>
          <p:cNvGrpSpPr/>
          <p:nvPr/>
        </p:nvGrpSpPr>
        <p:grpSpPr bwMode="gray">
          <a:xfrm>
            <a:off x="1536350" y="4932601"/>
            <a:ext cx="118198" cy="256412"/>
            <a:chOff x="684397" y="2244206"/>
            <a:chExt cx="128499" cy="256412"/>
          </a:xfrm>
        </p:grpSpPr>
        <p:sp>
          <p:nvSpPr>
            <p:cNvPr id="140"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42" name="组合 141">
            <a:extLst>
              <a:ext uri="{FF2B5EF4-FFF2-40B4-BE49-F238E27FC236}">
                <a16:creationId xmlns="" xmlns:a16="http://schemas.microsoft.com/office/drawing/2014/main" id="{B7BF07FD-8F7C-4965-A0C8-339ED4A5F586}"/>
              </a:ext>
            </a:extLst>
          </p:cNvPr>
          <p:cNvGrpSpPr/>
          <p:nvPr/>
        </p:nvGrpSpPr>
        <p:grpSpPr bwMode="gray">
          <a:xfrm>
            <a:off x="1668792" y="4932601"/>
            <a:ext cx="112886" cy="256412"/>
            <a:chOff x="867760" y="2244206"/>
            <a:chExt cx="122724" cy="256412"/>
          </a:xfrm>
        </p:grpSpPr>
        <p:sp>
          <p:nvSpPr>
            <p:cNvPr id="143"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45" name="组合 144">
            <a:extLst>
              <a:ext uri="{FF2B5EF4-FFF2-40B4-BE49-F238E27FC236}">
                <a16:creationId xmlns="" xmlns:a16="http://schemas.microsoft.com/office/drawing/2014/main" id="{F82E017D-E6E4-4CFB-995C-E48F28C9F348}"/>
              </a:ext>
            </a:extLst>
          </p:cNvPr>
          <p:cNvGrpSpPr/>
          <p:nvPr/>
        </p:nvGrpSpPr>
        <p:grpSpPr bwMode="gray">
          <a:xfrm>
            <a:off x="1795923" y="4932601"/>
            <a:ext cx="118198" cy="256412"/>
            <a:chOff x="1045348" y="2244206"/>
            <a:chExt cx="128499" cy="256412"/>
          </a:xfrm>
        </p:grpSpPr>
        <p:sp>
          <p:nvSpPr>
            <p:cNvPr id="146"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48" name="组合 147">
            <a:extLst>
              <a:ext uri="{FF2B5EF4-FFF2-40B4-BE49-F238E27FC236}">
                <a16:creationId xmlns="" xmlns:a16="http://schemas.microsoft.com/office/drawing/2014/main" id="{3D664CD3-334F-4DA7-B3FF-6AFB386AAC2A}"/>
              </a:ext>
            </a:extLst>
          </p:cNvPr>
          <p:cNvGrpSpPr/>
          <p:nvPr/>
        </p:nvGrpSpPr>
        <p:grpSpPr bwMode="gray">
          <a:xfrm>
            <a:off x="1928366" y="4932601"/>
            <a:ext cx="118198" cy="256412"/>
            <a:chOff x="1187248" y="2249442"/>
            <a:chExt cx="128499" cy="256412"/>
          </a:xfrm>
        </p:grpSpPr>
        <p:sp>
          <p:nvSpPr>
            <p:cNvPr id="149"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51" name="组合 150">
            <a:extLst>
              <a:ext uri="{FF2B5EF4-FFF2-40B4-BE49-F238E27FC236}">
                <a16:creationId xmlns="" xmlns:a16="http://schemas.microsoft.com/office/drawing/2014/main" id="{AE515FB8-930E-44E9-AC6F-964116A87E4C}"/>
              </a:ext>
            </a:extLst>
          </p:cNvPr>
          <p:cNvGrpSpPr/>
          <p:nvPr/>
        </p:nvGrpSpPr>
        <p:grpSpPr bwMode="gray">
          <a:xfrm>
            <a:off x="1259808" y="4943053"/>
            <a:ext cx="118198" cy="256412"/>
            <a:chOff x="1187248" y="2249442"/>
            <a:chExt cx="128499" cy="256412"/>
          </a:xfrm>
        </p:grpSpPr>
        <p:sp>
          <p:nvSpPr>
            <p:cNvPr id="152"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54" name="组合 153">
            <a:extLst>
              <a:ext uri="{FF2B5EF4-FFF2-40B4-BE49-F238E27FC236}">
                <a16:creationId xmlns="" xmlns:a16="http://schemas.microsoft.com/office/drawing/2014/main" id="{07771919-29BA-4F84-A108-95F68658FD60}"/>
              </a:ext>
            </a:extLst>
          </p:cNvPr>
          <p:cNvGrpSpPr/>
          <p:nvPr/>
        </p:nvGrpSpPr>
        <p:grpSpPr bwMode="gray">
          <a:xfrm>
            <a:off x="1271464" y="5235647"/>
            <a:ext cx="118198" cy="256412"/>
            <a:chOff x="329220" y="2244206"/>
            <a:chExt cx="128499" cy="256412"/>
          </a:xfrm>
        </p:grpSpPr>
        <p:sp>
          <p:nvSpPr>
            <p:cNvPr id="155" name="Freeform 15">
              <a:extLst>
                <a:ext uri="{FF2B5EF4-FFF2-40B4-BE49-F238E27FC236}">
                  <a16:creationId xmlns="" xmlns:a16="http://schemas.microsoft.com/office/drawing/2014/main" id="{C0E50A3E-8EAA-43E2-B53D-5CFEC687DEBB}"/>
                </a:ext>
              </a:extLst>
            </p:cNvPr>
            <p:cNvSpPr>
              <a:spLocks/>
            </p:cNvSpPr>
            <p:nvPr/>
          </p:nvSpPr>
          <p:spPr bwMode="gray">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ysClr val="window" lastClr="FFFFFF">
                <a:lumMod val="50000"/>
              </a:sysClr>
            </a:solidFill>
            <a:ln>
              <a:noFill/>
            </a:ln>
            <a:extLst/>
          </p:spPr>
          <p:txBody>
            <a:bodyPr vert="horz" wrap="square" lIns="91419" tIns="45709" rIns="91419" bIns="45709" numCol="1" anchor="t" anchorCtr="0" compatLnSpc="1">
              <a:prstTxWarp prst="textNoShape">
                <a:avLst/>
              </a:prstTxWarp>
            </a:bodyPr>
            <a:lstStyle/>
            <a:p>
              <a:pPr marL="0" marR="0" lvl="0" indent="0" defTabSz="1219028" eaLnBrk="1" fontAlgn="base" latinLnBrk="0" hangingPunct="1">
                <a:lnSpc>
                  <a:spcPct val="100000"/>
                </a:lnSpc>
                <a:spcBef>
                  <a:spcPct val="0"/>
                </a:spcBef>
                <a:spcAft>
                  <a:spcPct val="0"/>
                </a:spcAft>
                <a:buClrTx/>
                <a:buSzTx/>
                <a:buFontTx/>
                <a:buNone/>
                <a:tabLst/>
                <a:defRPr/>
              </a:pPr>
              <a:endParaRPr kumimoji="0" lang="zh-CN" altLang="en-US" sz="5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 name="Oval 16">
              <a:extLst>
                <a:ext uri="{FF2B5EF4-FFF2-40B4-BE49-F238E27FC236}">
                  <a16:creationId xmlns="" xmlns:a16="http://schemas.microsoft.com/office/drawing/2014/main" id="{E7D1A3D8-D5BA-4779-A780-361700E46E86}"/>
                </a:ext>
              </a:extLst>
            </p:cNvPr>
            <p:cNvSpPr>
              <a:spLocks noChangeArrowheads="1"/>
            </p:cNvSpPr>
            <p:nvPr/>
          </p:nvSpPr>
          <p:spPr bwMode="gray">
            <a:xfrm>
              <a:off x="360983" y="2244206"/>
              <a:ext cx="60640" cy="51039"/>
            </a:xfrm>
            <a:prstGeom prst="ellipse">
              <a:avLst/>
            </a:prstGeom>
            <a:solidFill>
              <a:sysClr val="window" lastClr="FFFFFF">
                <a:lumMod val="50000"/>
              </a:sysClr>
            </a:solidFill>
            <a:ln>
              <a:noFill/>
            </a:ln>
            <a:extLst/>
          </p:spPr>
          <p:txBody>
            <a:bodyPr vert="horz" wrap="square" lIns="91419" tIns="45709" rIns="91419" bIns="45709" numCol="1" anchor="t" anchorCtr="0" compatLnSpc="1">
              <a:prstTxWarp prst="textNoShape">
                <a:avLst/>
              </a:prstTxWarp>
            </a:bodyPr>
            <a:lstStyle/>
            <a:p>
              <a:pPr marL="0" marR="0" lvl="0" indent="0" defTabSz="1219028" eaLnBrk="1" fontAlgn="base" latinLnBrk="0" hangingPunct="1">
                <a:lnSpc>
                  <a:spcPct val="100000"/>
                </a:lnSpc>
                <a:spcBef>
                  <a:spcPct val="0"/>
                </a:spcBef>
                <a:spcAft>
                  <a:spcPct val="0"/>
                </a:spcAft>
                <a:buClrTx/>
                <a:buSzTx/>
                <a:buFontTx/>
                <a:buNone/>
                <a:tabLst/>
                <a:defRPr/>
              </a:pPr>
              <a:endParaRPr kumimoji="0" lang="zh-CN" altLang="en-US" sz="5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57" name="组合 156">
            <a:extLst>
              <a:ext uri="{FF2B5EF4-FFF2-40B4-BE49-F238E27FC236}">
                <a16:creationId xmlns="" xmlns:a16="http://schemas.microsoft.com/office/drawing/2014/main" id="{DB25A4B8-9E5D-4864-880B-A9518AD5BB11}"/>
              </a:ext>
            </a:extLst>
          </p:cNvPr>
          <p:cNvGrpSpPr/>
          <p:nvPr/>
        </p:nvGrpSpPr>
        <p:grpSpPr bwMode="gray">
          <a:xfrm>
            <a:off x="1403907" y="5235647"/>
            <a:ext cx="118198" cy="256412"/>
            <a:chOff x="506809" y="2244206"/>
            <a:chExt cx="128499" cy="256412"/>
          </a:xfrm>
        </p:grpSpPr>
        <p:sp>
          <p:nvSpPr>
            <p:cNvPr id="158"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60" name="组合 159">
            <a:extLst>
              <a:ext uri="{FF2B5EF4-FFF2-40B4-BE49-F238E27FC236}">
                <a16:creationId xmlns="" xmlns:a16="http://schemas.microsoft.com/office/drawing/2014/main" id="{202DEABF-3D55-44F6-8FCD-8ED9E6485203}"/>
              </a:ext>
            </a:extLst>
          </p:cNvPr>
          <p:cNvGrpSpPr/>
          <p:nvPr/>
        </p:nvGrpSpPr>
        <p:grpSpPr bwMode="gray">
          <a:xfrm>
            <a:off x="1536350" y="5235647"/>
            <a:ext cx="118198" cy="256412"/>
            <a:chOff x="684397" y="2244206"/>
            <a:chExt cx="128499" cy="256412"/>
          </a:xfrm>
        </p:grpSpPr>
        <p:sp>
          <p:nvSpPr>
            <p:cNvPr id="161"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2"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63" name="组合 162">
            <a:extLst>
              <a:ext uri="{FF2B5EF4-FFF2-40B4-BE49-F238E27FC236}">
                <a16:creationId xmlns="" xmlns:a16="http://schemas.microsoft.com/office/drawing/2014/main" id="{B7BF07FD-8F7C-4965-A0C8-339ED4A5F586}"/>
              </a:ext>
            </a:extLst>
          </p:cNvPr>
          <p:cNvGrpSpPr/>
          <p:nvPr/>
        </p:nvGrpSpPr>
        <p:grpSpPr bwMode="gray">
          <a:xfrm>
            <a:off x="1668792" y="5235647"/>
            <a:ext cx="112886" cy="256412"/>
            <a:chOff x="867760" y="2244206"/>
            <a:chExt cx="122724" cy="256412"/>
          </a:xfrm>
        </p:grpSpPr>
        <p:sp>
          <p:nvSpPr>
            <p:cNvPr id="164"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5"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66" name="组合 165">
            <a:extLst>
              <a:ext uri="{FF2B5EF4-FFF2-40B4-BE49-F238E27FC236}">
                <a16:creationId xmlns="" xmlns:a16="http://schemas.microsoft.com/office/drawing/2014/main" id="{F82E017D-E6E4-4CFB-995C-E48F28C9F348}"/>
              </a:ext>
            </a:extLst>
          </p:cNvPr>
          <p:cNvGrpSpPr/>
          <p:nvPr/>
        </p:nvGrpSpPr>
        <p:grpSpPr bwMode="gray">
          <a:xfrm>
            <a:off x="1795923" y="5235647"/>
            <a:ext cx="118198" cy="256412"/>
            <a:chOff x="1045348" y="2244206"/>
            <a:chExt cx="128499" cy="256412"/>
          </a:xfrm>
        </p:grpSpPr>
        <p:sp>
          <p:nvSpPr>
            <p:cNvPr id="167"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8"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69" name="组合 168">
            <a:extLst>
              <a:ext uri="{FF2B5EF4-FFF2-40B4-BE49-F238E27FC236}">
                <a16:creationId xmlns="" xmlns:a16="http://schemas.microsoft.com/office/drawing/2014/main" id="{3D664CD3-334F-4DA7-B3FF-6AFB386AAC2A}"/>
              </a:ext>
            </a:extLst>
          </p:cNvPr>
          <p:cNvGrpSpPr/>
          <p:nvPr/>
        </p:nvGrpSpPr>
        <p:grpSpPr bwMode="gray">
          <a:xfrm>
            <a:off x="1928366" y="5235647"/>
            <a:ext cx="118198" cy="256412"/>
            <a:chOff x="1187248" y="2249442"/>
            <a:chExt cx="128499" cy="256412"/>
          </a:xfrm>
        </p:grpSpPr>
        <p:sp>
          <p:nvSpPr>
            <p:cNvPr id="170"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1"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72" name="组合 171">
            <a:extLst>
              <a:ext uri="{FF2B5EF4-FFF2-40B4-BE49-F238E27FC236}">
                <a16:creationId xmlns="" xmlns:a16="http://schemas.microsoft.com/office/drawing/2014/main" id="{AE515FB8-930E-44E9-AC6F-964116A87E4C}"/>
              </a:ext>
            </a:extLst>
          </p:cNvPr>
          <p:cNvGrpSpPr/>
          <p:nvPr/>
        </p:nvGrpSpPr>
        <p:grpSpPr bwMode="gray">
          <a:xfrm>
            <a:off x="2060810" y="5235647"/>
            <a:ext cx="118198" cy="256412"/>
            <a:chOff x="1187248" y="2249442"/>
            <a:chExt cx="128499" cy="256412"/>
          </a:xfrm>
        </p:grpSpPr>
        <p:sp>
          <p:nvSpPr>
            <p:cNvPr id="173"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4"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75" name="组合 174">
            <a:extLst>
              <a:ext uri="{FF2B5EF4-FFF2-40B4-BE49-F238E27FC236}">
                <a16:creationId xmlns="" xmlns:a16="http://schemas.microsoft.com/office/drawing/2014/main" id="{DB25A4B8-9E5D-4864-880B-A9518AD5BB11}"/>
              </a:ext>
            </a:extLst>
          </p:cNvPr>
          <p:cNvGrpSpPr/>
          <p:nvPr/>
        </p:nvGrpSpPr>
        <p:grpSpPr bwMode="gray">
          <a:xfrm>
            <a:off x="1271464" y="5577820"/>
            <a:ext cx="118198" cy="256412"/>
            <a:chOff x="506809" y="2244206"/>
            <a:chExt cx="128499" cy="256412"/>
          </a:xfrm>
        </p:grpSpPr>
        <p:sp>
          <p:nvSpPr>
            <p:cNvPr id="176"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7"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78" name="组合 177">
            <a:extLst>
              <a:ext uri="{FF2B5EF4-FFF2-40B4-BE49-F238E27FC236}">
                <a16:creationId xmlns="" xmlns:a16="http://schemas.microsoft.com/office/drawing/2014/main" id="{202DEABF-3D55-44F6-8FCD-8ED9E6485203}"/>
              </a:ext>
            </a:extLst>
          </p:cNvPr>
          <p:cNvGrpSpPr/>
          <p:nvPr/>
        </p:nvGrpSpPr>
        <p:grpSpPr bwMode="gray">
          <a:xfrm>
            <a:off x="1403907" y="5577820"/>
            <a:ext cx="118198" cy="256412"/>
            <a:chOff x="684397" y="2244206"/>
            <a:chExt cx="128499" cy="256412"/>
          </a:xfrm>
        </p:grpSpPr>
        <p:sp>
          <p:nvSpPr>
            <p:cNvPr id="179"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0"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81" name="组合 180">
            <a:extLst>
              <a:ext uri="{FF2B5EF4-FFF2-40B4-BE49-F238E27FC236}">
                <a16:creationId xmlns="" xmlns:a16="http://schemas.microsoft.com/office/drawing/2014/main" id="{B7BF07FD-8F7C-4965-A0C8-339ED4A5F586}"/>
              </a:ext>
            </a:extLst>
          </p:cNvPr>
          <p:cNvGrpSpPr/>
          <p:nvPr/>
        </p:nvGrpSpPr>
        <p:grpSpPr bwMode="gray">
          <a:xfrm>
            <a:off x="1536349" y="5577820"/>
            <a:ext cx="112886" cy="256412"/>
            <a:chOff x="867760" y="2244206"/>
            <a:chExt cx="122724" cy="256412"/>
          </a:xfrm>
        </p:grpSpPr>
        <p:sp>
          <p:nvSpPr>
            <p:cNvPr id="182"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3"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84" name="组合 183">
            <a:extLst>
              <a:ext uri="{FF2B5EF4-FFF2-40B4-BE49-F238E27FC236}">
                <a16:creationId xmlns="" xmlns:a16="http://schemas.microsoft.com/office/drawing/2014/main" id="{F82E017D-E6E4-4CFB-995C-E48F28C9F348}"/>
              </a:ext>
            </a:extLst>
          </p:cNvPr>
          <p:cNvGrpSpPr/>
          <p:nvPr/>
        </p:nvGrpSpPr>
        <p:grpSpPr bwMode="gray">
          <a:xfrm>
            <a:off x="1663480" y="5577820"/>
            <a:ext cx="118198" cy="256412"/>
            <a:chOff x="1045348" y="2244206"/>
            <a:chExt cx="128499" cy="256412"/>
          </a:xfrm>
        </p:grpSpPr>
        <p:sp>
          <p:nvSpPr>
            <p:cNvPr id="185"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6"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87" name="组合 186">
            <a:extLst>
              <a:ext uri="{FF2B5EF4-FFF2-40B4-BE49-F238E27FC236}">
                <a16:creationId xmlns="" xmlns:a16="http://schemas.microsoft.com/office/drawing/2014/main" id="{3D664CD3-334F-4DA7-B3FF-6AFB386AAC2A}"/>
              </a:ext>
            </a:extLst>
          </p:cNvPr>
          <p:cNvGrpSpPr/>
          <p:nvPr/>
        </p:nvGrpSpPr>
        <p:grpSpPr bwMode="gray">
          <a:xfrm>
            <a:off x="1795923" y="5577820"/>
            <a:ext cx="118198" cy="256412"/>
            <a:chOff x="1187248" y="2249442"/>
            <a:chExt cx="128499" cy="256412"/>
          </a:xfrm>
        </p:grpSpPr>
        <p:sp>
          <p:nvSpPr>
            <p:cNvPr id="188"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9"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90" name="组合 189">
            <a:extLst>
              <a:ext uri="{FF2B5EF4-FFF2-40B4-BE49-F238E27FC236}">
                <a16:creationId xmlns="" xmlns:a16="http://schemas.microsoft.com/office/drawing/2014/main" id="{AE515FB8-930E-44E9-AC6F-964116A87E4C}"/>
              </a:ext>
            </a:extLst>
          </p:cNvPr>
          <p:cNvGrpSpPr/>
          <p:nvPr/>
        </p:nvGrpSpPr>
        <p:grpSpPr bwMode="gray">
          <a:xfrm>
            <a:off x="1928367" y="5577820"/>
            <a:ext cx="118198" cy="256412"/>
            <a:chOff x="1187248" y="2249442"/>
            <a:chExt cx="128499" cy="256412"/>
          </a:xfrm>
        </p:grpSpPr>
        <p:sp>
          <p:nvSpPr>
            <p:cNvPr id="191"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2"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93" name="组合 192">
            <a:extLst>
              <a:ext uri="{FF2B5EF4-FFF2-40B4-BE49-F238E27FC236}">
                <a16:creationId xmlns="" xmlns:a16="http://schemas.microsoft.com/office/drawing/2014/main" id="{F82E017D-E6E4-4CFB-995C-E48F28C9F348}"/>
              </a:ext>
            </a:extLst>
          </p:cNvPr>
          <p:cNvGrpSpPr/>
          <p:nvPr/>
        </p:nvGrpSpPr>
        <p:grpSpPr bwMode="gray">
          <a:xfrm>
            <a:off x="2063825" y="4932601"/>
            <a:ext cx="118198" cy="256412"/>
            <a:chOff x="1045348" y="2244206"/>
            <a:chExt cx="128499" cy="256412"/>
          </a:xfrm>
        </p:grpSpPr>
        <p:sp>
          <p:nvSpPr>
            <p:cNvPr id="194"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5"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96" name="组合 195">
            <a:extLst>
              <a:ext uri="{FF2B5EF4-FFF2-40B4-BE49-F238E27FC236}">
                <a16:creationId xmlns="" xmlns:a16="http://schemas.microsoft.com/office/drawing/2014/main" id="{AE515FB8-930E-44E9-AC6F-964116A87E4C}"/>
              </a:ext>
            </a:extLst>
          </p:cNvPr>
          <p:cNvGrpSpPr/>
          <p:nvPr/>
        </p:nvGrpSpPr>
        <p:grpSpPr bwMode="gray">
          <a:xfrm>
            <a:off x="3309294" y="4943875"/>
            <a:ext cx="118198" cy="256412"/>
            <a:chOff x="1187248" y="2249442"/>
            <a:chExt cx="128499" cy="256412"/>
          </a:xfrm>
        </p:grpSpPr>
        <p:sp>
          <p:nvSpPr>
            <p:cNvPr id="197"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8"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99" name="组合 198">
            <a:extLst>
              <a:ext uri="{FF2B5EF4-FFF2-40B4-BE49-F238E27FC236}">
                <a16:creationId xmlns="" xmlns:a16="http://schemas.microsoft.com/office/drawing/2014/main" id="{AE515FB8-930E-44E9-AC6F-964116A87E4C}"/>
              </a:ext>
            </a:extLst>
          </p:cNvPr>
          <p:cNvGrpSpPr/>
          <p:nvPr/>
        </p:nvGrpSpPr>
        <p:grpSpPr bwMode="gray">
          <a:xfrm>
            <a:off x="3309294" y="5246921"/>
            <a:ext cx="118198" cy="256412"/>
            <a:chOff x="1187248" y="2249442"/>
            <a:chExt cx="128499" cy="256412"/>
          </a:xfrm>
        </p:grpSpPr>
        <p:sp>
          <p:nvSpPr>
            <p:cNvPr id="200"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1"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02" name="组合 201">
            <a:extLst>
              <a:ext uri="{FF2B5EF4-FFF2-40B4-BE49-F238E27FC236}">
                <a16:creationId xmlns="" xmlns:a16="http://schemas.microsoft.com/office/drawing/2014/main" id="{DB25A4B8-9E5D-4864-880B-A9518AD5BB11}"/>
              </a:ext>
            </a:extLst>
          </p:cNvPr>
          <p:cNvGrpSpPr/>
          <p:nvPr/>
        </p:nvGrpSpPr>
        <p:grpSpPr bwMode="gray">
          <a:xfrm>
            <a:off x="2666635" y="5589094"/>
            <a:ext cx="118198" cy="256412"/>
            <a:chOff x="506809" y="2244206"/>
            <a:chExt cx="128499" cy="256412"/>
          </a:xfrm>
        </p:grpSpPr>
        <p:sp>
          <p:nvSpPr>
            <p:cNvPr id="203"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4"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05" name="组合 204">
            <a:extLst>
              <a:ext uri="{FF2B5EF4-FFF2-40B4-BE49-F238E27FC236}">
                <a16:creationId xmlns="" xmlns:a16="http://schemas.microsoft.com/office/drawing/2014/main" id="{202DEABF-3D55-44F6-8FCD-8ED9E6485203}"/>
              </a:ext>
            </a:extLst>
          </p:cNvPr>
          <p:cNvGrpSpPr/>
          <p:nvPr/>
        </p:nvGrpSpPr>
        <p:grpSpPr bwMode="gray">
          <a:xfrm>
            <a:off x="2799078" y="5589094"/>
            <a:ext cx="118198" cy="256412"/>
            <a:chOff x="684397" y="2244206"/>
            <a:chExt cx="128499" cy="256412"/>
          </a:xfrm>
        </p:grpSpPr>
        <p:sp>
          <p:nvSpPr>
            <p:cNvPr id="206" name="Freeform 23">
              <a:extLst>
                <a:ext uri="{FF2B5EF4-FFF2-40B4-BE49-F238E27FC236}">
                  <a16:creationId xmlns="" xmlns:a16="http://schemas.microsoft.com/office/drawing/2014/main" id="{BF6FDBE3-5F78-4B6E-8D88-30511C1D5736}"/>
                </a:ext>
              </a:extLst>
            </p:cNvPr>
            <p:cNvSpPr>
              <a:spLocks/>
            </p:cNvSpPr>
            <p:nvPr/>
          </p:nvSpPr>
          <p:spPr bwMode="gray">
            <a:xfrm>
              <a:off x="684397" y="2300106"/>
              <a:ext cx="128499" cy="200512"/>
            </a:xfrm>
            <a:custGeom>
              <a:avLst/>
              <a:gdLst>
                <a:gd name="T0" fmla="*/ 1 w 21"/>
                <a:gd name="T1" fmla="*/ 18 h 39"/>
                <a:gd name="T2" fmla="*/ 3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8 w 21"/>
                <a:gd name="T45" fmla="*/ 12 h 39"/>
                <a:gd name="T46" fmla="*/ 17 w 21"/>
                <a:gd name="T47" fmla="*/ 18 h 39"/>
                <a:gd name="T48" fmla="*/ 19 w 21"/>
                <a:gd name="T49" fmla="*/ 20 h 39"/>
                <a:gd name="T50" fmla="*/ 21 w 21"/>
                <a:gd name="T51" fmla="*/ 18 h 39"/>
                <a:gd name="T52" fmla="*/ 21 w 21"/>
                <a:gd name="T53" fmla="*/ 12 h 39"/>
                <a:gd name="T54" fmla="*/ 18 w 21"/>
                <a:gd name="T55" fmla="*/ 2 h 39"/>
                <a:gd name="T56" fmla="*/ 15 w 21"/>
                <a:gd name="T57" fmla="*/ 0 h 39"/>
                <a:gd name="T58" fmla="*/ 11 w 21"/>
                <a:gd name="T59" fmla="*/ 0 h 39"/>
                <a:gd name="T60" fmla="*/ 7 w 21"/>
                <a:gd name="T61" fmla="*/ 0 h 39"/>
                <a:gd name="T62" fmla="*/ 3 w 21"/>
                <a:gd name="T63" fmla="*/ 2 h 39"/>
                <a:gd name="T64" fmla="*/ 1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3"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3"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7" y="6"/>
                    <a:pt x="17" y="9"/>
                    <a:pt x="18" y="12"/>
                  </a:cubicBezTo>
                  <a:cubicBezTo>
                    <a:pt x="18" y="15"/>
                    <a:pt x="17" y="18"/>
                    <a:pt x="17" y="18"/>
                  </a:cubicBezTo>
                  <a:cubicBezTo>
                    <a:pt x="17" y="19"/>
                    <a:pt x="18" y="20"/>
                    <a:pt x="19" y="20"/>
                  </a:cubicBezTo>
                  <a:cubicBezTo>
                    <a:pt x="20" y="20"/>
                    <a:pt x="20" y="19"/>
                    <a:pt x="21" y="18"/>
                  </a:cubicBezTo>
                  <a:cubicBezTo>
                    <a:pt x="21" y="18"/>
                    <a:pt x="21" y="14"/>
                    <a:pt x="21" y="12"/>
                  </a:cubicBezTo>
                  <a:cubicBezTo>
                    <a:pt x="20" y="4"/>
                    <a:pt x="19" y="2"/>
                    <a:pt x="18" y="2"/>
                  </a:cubicBezTo>
                  <a:cubicBezTo>
                    <a:pt x="17" y="1"/>
                    <a:pt x="16" y="1"/>
                    <a:pt x="15" y="0"/>
                  </a:cubicBezTo>
                  <a:cubicBezTo>
                    <a:pt x="14" y="0"/>
                    <a:pt x="12" y="0"/>
                    <a:pt x="11" y="0"/>
                  </a:cubicBezTo>
                  <a:cubicBezTo>
                    <a:pt x="10" y="0"/>
                    <a:pt x="7" y="0"/>
                    <a:pt x="7" y="0"/>
                  </a:cubicBezTo>
                  <a:cubicBezTo>
                    <a:pt x="6" y="1"/>
                    <a:pt x="4" y="1"/>
                    <a:pt x="3" y="2"/>
                  </a:cubicBezTo>
                  <a:cubicBezTo>
                    <a:pt x="3" y="2"/>
                    <a:pt x="1" y="4"/>
                    <a:pt x="1"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7" name="Oval 24">
              <a:extLst>
                <a:ext uri="{FF2B5EF4-FFF2-40B4-BE49-F238E27FC236}">
                  <a16:creationId xmlns="" xmlns:a16="http://schemas.microsoft.com/office/drawing/2014/main" id="{0E246011-0105-4EA4-8C82-FC51C748C5BD}"/>
                </a:ext>
              </a:extLst>
            </p:cNvPr>
            <p:cNvSpPr>
              <a:spLocks noChangeArrowheads="1"/>
            </p:cNvSpPr>
            <p:nvPr/>
          </p:nvSpPr>
          <p:spPr bwMode="gray">
            <a:xfrm>
              <a:off x="721935" y="2244206"/>
              <a:ext cx="60640"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08" name="组合 207">
            <a:extLst>
              <a:ext uri="{FF2B5EF4-FFF2-40B4-BE49-F238E27FC236}">
                <a16:creationId xmlns="" xmlns:a16="http://schemas.microsoft.com/office/drawing/2014/main" id="{B7BF07FD-8F7C-4965-A0C8-339ED4A5F586}"/>
              </a:ext>
            </a:extLst>
          </p:cNvPr>
          <p:cNvGrpSpPr/>
          <p:nvPr/>
        </p:nvGrpSpPr>
        <p:grpSpPr bwMode="gray">
          <a:xfrm>
            <a:off x="2931520" y="5589094"/>
            <a:ext cx="112886" cy="256412"/>
            <a:chOff x="867760" y="2244206"/>
            <a:chExt cx="122724" cy="256412"/>
          </a:xfrm>
        </p:grpSpPr>
        <p:sp>
          <p:nvSpPr>
            <p:cNvPr id="209" name="Freeform 27">
              <a:extLst>
                <a:ext uri="{FF2B5EF4-FFF2-40B4-BE49-F238E27FC236}">
                  <a16:creationId xmlns="" xmlns:a16="http://schemas.microsoft.com/office/drawing/2014/main" id="{2F4146EA-9353-4D35-94B3-A0C1438887C3}"/>
                </a:ext>
              </a:extLst>
            </p:cNvPr>
            <p:cNvSpPr>
              <a:spLocks/>
            </p:cNvSpPr>
            <p:nvPr/>
          </p:nvSpPr>
          <p:spPr bwMode="gray">
            <a:xfrm>
              <a:off x="867760" y="2300106"/>
              <a:ext cx="122724" cy="200512"/>
            </a:xfrm>
            <a:custGeom>
              <a:avLst/>
              <a:gdLst>
                <a:gd name="T0" fmla="*/ 0 w 20"/>
                <a:gd name="T1" fmla="*/ 18 h 39"/>
                <a:gd name="T2" fmla="*/ 2 w 20"/>
                <a:gd name="T3" fmla="*/ 20 h 39"/>
                <a:gd name="T4" fmla="*/ 4 w 20"/>
                <a:gd name="T5" fmla="*/ 18 h 39"/>
                <a:gd name="T6" fmla="*/ 3 w 20"/>
                <a:gd name="T7" fmla="*/ 12 h 39"/>
                <a:gd name="T8" fmla="*/ 5 w 20"/>
                <a:gd name="T9" fmla="*/ 6 h 39"/>
                <a:gd name="T10" fmla="*/ 5 w 20"/>
                <a:gd name="T11" fmla="*/ 6 h 39"/>
                <a:gd name="T12" fmla="*/ 5 w 20"/>
                <a:gd name="T13" fmla="*/ 17 h 39"/>
                <a:gd name="T14" fmla="*/ 5 w 20"/>
                <a:gd name="T15" fmla="*/ 18 h 39"/>
                <a:gd name="T16" fmla="*/ 5 w 20"/>
                <a:gd name="T17" fmla="*/ 37 h 39"/>
                <a:gd name="T18" fmla="*/ 7 w 20"/>
                <a:gd name="T19" fmla="*/ 39 h 39"/>
                <a:gd name="T20" fmla="*/ 7 w 20"/>
                <a:gd name="T21" fmla="*/ 39 h 39"/>
                <a:gd name="T22" fmla="*/ 10 w 20"/>
                <a:gd name="T23" fmla="*/ 37 h 39"/>
                <a:gd name="T24" fmla="*/ 10 w 20"/>
                <a:gd name="T25" fmla="*/ 20 h 39"/>
                <a:gd name="T26" fmla="*/ 11 w 20"/>
                <a:gd name="T27" fmla="*/ 20 h 39"/>
                <a:gd name="T28" fmla="*/ 11 w 20"/>
                <a:gd name="T29" fmla="*/ 37 h 39"/>
                <a:gd name="T30" fmla="*/ 13 w 20"/>
                <a:gd name="T31" fmla="*/ 39 h 39"/>
                <a:gd name="T32" fmla="*/ 13 w 20"/>
                <a:gd name="T33" fmla="*/ 39 h 39"/>
                <a:gd name="T34" fmla="*/ 16 w 20"/>
                <a:gd name="T35" fmla="*/ 37 h 39"/>
                <a:gd name="T36" fmla="*/ 16 w 20"/>
                <a:gd name="T37" fmla="*/ 18 h 39"/>
                <a:gd name="T38" fmla="*/ 16 w 20"/>
                <a:gd name="T39" fmla="*/ 17 h 39"/>
                <a:gd name="T40" fmla="*/ 16 w 20"/>
                <a:gd name="T41" fmla="*/ 6 h 39"/>
                <a:gd name="T42" fmla="*/ 16 w 20"/>
                <a:gd name="T43" fmla="*/ 6 h 39"/>
                <a:gd name="T44" fmla="*/ 17 w 20"/>
                <a:gd name="T45" fmla="*/ 12 h 39"/>
                <a:gd name="T46" fmla="*/ 17 w 20"/>
                <a:gd name="T47" fmla="*/ 18 h 39"/>
                <a:gd name="T48" fmla="*/ 18 w 20"/>
                <a:gd name="T49" fmla="*/ 20 h 39"/>
                <a:gd name="T50" fmla="*/ 20 w 20"/>
                <a:gd name="T51" fmla="*/ 18 h 39"/>
                <a:gd name="T52" fmla="*/ 20 w 20"/>
                <a:gd name="T53" fmla="*/ 12 h 39"/>
                <a:gd name="T54" fmla="*/ 18 w 20"/>
                <a:gd name="T55" fmla="*/ 2 h 39"/>
                <a:gd name="T56" fmla="*/ 14 w 20"/>
                <a:gd name="T57" fmla="*/ 0 h 39"/>
                <a:gd name="T58" fmla="*/ 10 w 20"/>
                <a:gd name="T59" fmla="*/ 0 h 39"/>
                <a:gd name="T60" fmla="*/ 6 w 20"/>
                <a:gd name="T61" fmla="*/ 0 h 39"/>
                <a:gd name="T62" fmla="*/ 3 w 20"/>
                <a:gd name="T63" fmla="*/ 2 h 39"/>
                <a:gd name="T64" fmla="*/ 0 w 20"/>
                <a:gd name="T65" fmla="*/ 12 h 39"/>
                <a:gd name="T66" fmla="*/ 0 w 20"/>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 h="39">
                  <a:moveTo>
                    <a:pt x="0" y="18"/>
                  </a:moveTo>
                  <a:cubicBezTo>
                    <a:pt x="0" y="19"/>
                    <a:pt x="1" y="20"/>
                    <a:pt x="2" y="20"/>
                  </a:cubicBezTo>
                  <a:cubicBezTo>
                    <a:pt x="3" y="20"/>
                    <a:pt x="4" y="19"/>
                    <a:pt x="4" y="18"/>
                  </a:cubicBezTo>
                  <a:cubicBezTo>
                    <a:pt x="4" y="18"/>
                    <a:pt x="3" y="15"/>
                    <a:pt x="3"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8"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4"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8" y="20"/>
                  </a:cubicBezTo>
                  <a:cubicBezTo>
                    <a:pt x="20" y="20"/>
                    <a:pt x="20" y="19"/>
                    <a:pt x="20" y="18"/>
                  </a:cubicBezTo>
                  <a:cubicBezTo>
                    <a:pt x="20" y="18"/>
                    <a:pt x="20"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3" y="1"/>
                    <a:pt x="3" y="2"/>
                  </a:cubicBezTo>
                  <a:cubicBezTo>
                    <a:pt x="2" y="2"/>
                    <a:pt x="0"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0" name="Oval 28">
              <a:extLst>
                <a:ext uri="{FF2B5EF4-FFF2-40B4-BE49-F238E27FC236}">
                  <a16:creationId xmlns="" xmlns:a16="http://schemas.microsoft.com/office/drawing/2014/main" id="{6EDE7C7C-F672-4A8D-8E47-CC0451B53D51}"/>
                </a:ext>
              </a:extLst>
            </p:cNvPr>
            <p:cNvSpPr>
              <a:spLocks noChangeArrowheads="1"/>
            </p:cNvSpPr>
            <p:nvPr/>
          </p:nvSpPr>
          <p:spPr bwMode="gray">
            <a:xfrm>
              <a:off x="898080" y="2244206"/>
              <a:ext cx="62085"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11" name="组合 210">
            <a:extLst>
              <a:ext uri="{FF2B5EF4-FFF2-40B4-BE49-F238E27FC236}">
                <a16:creationId xmlns="" xmlns:a16="http://schemas.microsoft.com/office/drawing/2014/main" id="{F82E017D-E6E4-4CFB-995C-E48F28C9F348}"/>
              </a:ext>
            </a:extLst>
          </p:cNvPr>
          <p:cNvGrpSpPr/>
          <p:nvPr/>
        </p:nvGrpSpPr>
        <p:grpSpPr bwMode="gray">
          <a:xfrm>
            <a:off x="3058651" y="5589094"/>
            <a:ext cx="118198" cy="256412"/>
            <a:chOff x="1045348" y="2244206"/>
            <a:chExt cx="128499" cy="256412"/>
          </a:xfrm>
        </p:grpSpPr>
        <p:sp>
          <p:nvSpPr>
            <p:cNvPr id="212" name="Freeform 31">
              <a:extLst>
                <a:ext uri="{FF2B5EF4-FFF2-40B4-BE49-F238E27FC236}">
                  <a16:creationId xmlns="" xmlns:a16="http://schemas.microsoft.com/office/drawing/2014/main" id="{15238805-130E-4414-AF62-FC05E1181121}"/>
                </a:ext>
              </a:extLst>
            </p:cNvPr>
            <p:cNvSpPr>
              <a:spLocks/>
            </p:cNvSpPr>
            <p:nvPr/>
          </p:nvSpPr>
          <p:spPr bwMode="gray">
            <a:xfrm>
              <a:off x="1045348"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1" y="12"/>
                  </a:cubicBezTo>
                  <a:cubicBezTo>
                    <a:pt x="20" y="4"/>
                    <a:pt x="18" y="2"/>
                    <a:pt x="18" y="2"/>
                  </a:cubicBezTo>
                  <a:cubicBezTo>
                    <a:pt x="17" y="1"/>
                    <a:pt x="15" y="1"/>
                    <a:pt x="14" y="0"/>
                  </a:cubicBezTo>
                  <a:cubicBezTo>
                    <a:pt x="14" y="0"/>
                    <a:pt x="12" y="0"/>
                    <a:pt x="10" y="0"/>
                  </a:cubicBezTo>
                  <a:cubicBezTo>
                    <a:pt x="9" y="0"/>
                    <a:pt x="7" y="0"/>
                    <a:pt x="7" y="0"/>
                  </a:cubicBezTo>
                  <a:cubicBezTo>
                    <a:pt x="5" y="1"/>
                    <a:pt x="4" y="1"/>
                    <a:pt x="3" y="2"/>
                  </a:cubicBezTo>
                  <a:cubicBezTo>
                    <a:pt x="2" y="2"/>
                    <a:pt x="1" y="4"/>
                    <a:pt x="0" y="12"/>
                  </a:cubicBezTo>
                  <a:cubicBezTo>
                    <a:pt x="0" y="14"/>
                    <a:pt x="0" y="18"/>
                    <a:pt x="0"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3" name="Oval 32">
              <a:extLst>
                <a:ext uri="{FF2B5EF4-FFF2-40B4-BE49-F238E27FC236}">
                  <a16:creationId xmlns="" xmlns:a16="http://schemas.microsoft.com/office/drawing/2014/main" id="{A30B9C04-33D8-4D5D-BF09-DC8C7F7FF7CA}"/>
                </a:ext>
              </a:extLst>
            </p:cNvPr>
            <p:cNvSpPr>
              <a:spLocks noChangeArrowheads="1"/>
            </p:cNvSpPr>
            <p:nvPr/>
          </p:nvSpPr>
          <p:spPr bwMode="gray">
            <a:xfrm>
              <a:off x="107566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14" name="组合 213">
            <a:extLst>
              <a:ext uri="{FF2B5EF4-FFF2-40B4-BE49-F238E27FC236}">
                <a16:creationId xmlns="" xmlns:a16="http://schemas.microsoft.com/office/drawing/2014/main" id="{3D664CD3-334F-4DA7-B3FF-6AFB386AAC2A}"/>
              </a:ext>
            </a:extLst>
          </p:cNvPr>
          <p:cNvGrpSpPr/>
          <p:nvPr/>
        </p:nvGrpSpPr>
        <p:grpSpPr bwMode="gray">
          <a:xfrm>
            <a:off x="3191094" y="5589094"/>
            <a:ext cx="118198" cy="256412"/>
            <a:chOff x="1187248" y="2249442"/>
            <a:chExt cx="128499" cy="256412"/>
          </a:xfrm>
        </p:grpSpPr>
        <p:sp>
          <p:nvSpPr>
            <p:cNvPr id="215" name="Freeform 19">
              <a:extLst>
                <a:ext uri="{FF2B5EF4-FFF2-40B4-BE49-F238E27FC236}">
                  <a16:creationId xmlns="" xmlns:a16="http://schemas.microsoft.com/office/drawing/2014/main" id="{DA6B96B8-0760-4E31-860D-52936B87DBD9}"/>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6" name="Oval 20">
              <a:extLst>
                <a:ext uri="{FF2B5EF4-FFF2-40B4-BE49-F238E27FC236}">
                  <a16:creationId xmlns="" xmlns:a16="http://schemas.microsoft.com/office/drawing/2014/main" id="{599FD86A-7F8F-48B4-B5DF-E1D74FCEBD0B}"/>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17" name="组合 216">
            <a:extLst>
              <a:ext uri="{FF2B5EF4-FFF2-40B4-BE49-F238E27FC236}">
                <a16:creationId xmlns="" xmlns:a16="http://schemas.microsoft.com/office/drawing/2014/main" id="{AE515FB8-930E-44E9-AC6F-964116A87E4C}"/>
              </a:ext>
            </a:extLst>
          </p:cNvPr>
          <p:cNvGrpSpPr/>
          <p:nvPr/>
        </p:nvGrpSpPr>
        <p:grpSpPr bwMode="gray">
          <a:xfrm>
            <a:off x="3323538" y="5589094"/>
            <a:ext cx="118198" cy="256412"/>
            <a:chOff x="1187248" y="2249442"/>
            <a:chExt cx="128499" cy="256412"/>
          </a:xfrm>
        </p:grpSpPr>
        <p:sp>
          <p:nvSpPr>
            <p:cNvPr id="218" name="Freeform 19">
              <a:extLst>
                <a:ext uri="{FF2B5EF4-FFF2-40B4-BE49-F238E27FC236}">
                  <a16:creationId xmlns="" xmlns:a16="http://schemas.microsoft.com/office/drawing/2014/main" id="{9ED772A9-6E96-44C0-8577-ED26904FC16C}"/>
                </a:ext>
              </a:extLst>
            </p:cNvPr>
            <p:cNvSpPr>
              <a:spLocks/>
            </p:cNvSpPr>
            <p:nvPr/>
          </p:nvSpPr>
          <p:spPr bwMode="gray">
            <a:xfrm>
              <a:off x="1187248" y="2305342"/>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9" name="Oval 20">
              <a:extLst>
                <a:ext uri="{FF2B5EF4-FFF2-40B4-BE49-F238E27FC236}">
                  <a16:creationId xmlns="" xmlns:a16="http://schemas.microsoft.com/office/drawing/2014/main" id="{4E667100-6B8F-449A-A194-E50D38C14088}"/>
                </a:ext>
              </a:extLst>
            </p:cNvPr>
            <p:cNvSpPr>
              <a:spLocks noChangeArrowheads="1"/>
            </p:cNvSpPr>
            <p:nvPr/>
          </p:nvSpPr>
          <p:spPr bwMode="gray">
            <a:xfrm>
              <a:off x="1217567" y="2249442"/>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0" name="组合 219">
            <a:extLst>
              <a:ext uri="{FF2B5EF4-FFF2-40B4-BE49-F238E27FC236}">
                <a16:creationId xmlns="" xmlns:a16="http://schemas.microsoft.com/office/drawing/2014/main" id="{DB25A4B8-9E5D-4864-880B-A9518AD5BB11}"/>
              </a:ext>
            </a:extLst>
          </p:cNvPr>
          <p:cNvGrpSpPr/>
          <p:nvPr/>
        </p:nvGrpSpPr>
        <p:grpSpPr bwMode="gray">
          <a:xfrm>
            <a:off x="2062800" y="5569598"/>
            <a:ext cx="118198" cy="256412"/>
            <a:chOff x="506809" y="2244206"/>
            <a:chExt cx="128499" cy="256412"/>
          </a:xfrm>
        </p:grpSpPr>
        <p:sp>
          <p:nvSpPr>
            <p:cNvPr id="221"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2"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3" name="组合 222">
            <a:extLst>
              <a:ext uri="{FF2B5EF4-FFF2-40B4-BE49-F238E27FC236}">
                <a16:creationId xmlns="" xmlns:a16="http://schemas.microsoft.com/office/drawing/2014/main" id="{DB25A4B8-9E5D-4864-880B-A9518AD5BB11}"/>
              </a:ext>
            </a:extLst>
          </p:cNvPr>
          <p:cNvGrpSpPr/>
          <p:nvPr/>
        </p:nvGrpSpPr>
        <p:grpSpPr bwMode="gray">
          <a:xfrm>
            <a:off x="2528880" y="5589094"/>
            <a:ext cx="118198" cy="256412"/>
            <a:chOff x="506809" y="2244206"/>
            <a:chExt cx="128499" cy="256412"/>
          </a:xfrm>
        </p:grpSpPr>
        <p:sp>
          <p:nvSpPr>
            <p:cNvPr id="224" name="Freeform 19">
              <a:extLst>
                <a:ext uri="{FF2B5EF4-FFF2-40B4-BE49-F238E27FC236}">
                  <a16:creationId xmlns="" xmlns:a16="http://schemas.microsoft.com/office/drawing/2014/main" id="{FD4D6DDD-11B5-4147-A518-8A65A8DF77C1}"/>
                </a:ext>
              </a:extLst>
            </p:cNvPr>
            <p:cNvSpPr>
              <a:spLocks/>
            </p:cNvSpPr>
            <p:nvPr/>
          </p:nvSpPr>
          <p:spPr bwMode="gray">
            <a:xfrm>
              <a:off x="506809" y="2300106"/>
              <a:ext cx="128499" cy="200512"/>
            </a:xfrm>
            <a:custGeom>
              <a:avLst/>
              <a:gdLst>
                <a:gd name="T0" fmla="*/ 1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8 w 21"/>
                <a:gd name="T19" fmla="*/ 39 h 39"/>
                <a:gd name="T20" fmla="*/ 8 w 21"/>
                <a:gd name="T21" fmla="*/ 39 h 39"/>
                <a:gd name="T22" fmla="*/ 10 w 21"/>
                <a:gd name="T23" fmla="*/ 37 h 39"/>
                <a:gd name="T24" fmla="*/ 10 w 21"/>
                <a:gd name="T25" fmla="*/ 20 h 39"/>
                <a:gd name="T26" fmla="*/ 11 w 21"/>
                <a:gd name="T27" fmla="*/ 20 h 39"/>
                <a:gd name="T28" fmla="*/ 11 w 21"/>
                <a:gd name="T29" fmla="*/ 37 h 39"/>
                <a:gd name="T30" fmla="*/ 14 w 21"/>
                <a:gd name="T31" fmla="*/ 39 h 39"/>
                <a:gd name="T32" fmla="*/ 14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1 w 21"/>
                <a:gd name="T53" fmla="*/ 12 h 39"/>
                <a:gd name="T54" fmla="*/ 18 w 21"/>
                <a:gd name="T55" fmla="*/ 2 h 39"/>
                <a:gd name="T56" fmla="*/ 14 w 21"/>
                <a:gd name="T57" fmla="*/ 0 h 39"/>
                <a:gd name="T58" fmla="*/ 10 w 21"/>
                <a:gd name="T59" fmla="*/ 0 h 39"/>
                <a:gd name="T60" fmla="*/ 7 w 21"/>
                <a:gd name="T61" fmla="*/ 0 h 39"/>
                <a:gd name="T62" fmla="*/ 3 w 21"/>
                <a:gd name="T63" fmla="*/ 2 h 39"/>
                <a:gd name="T64" fmla="*/ 0 w 21"/>
                <a:gd name="T65" fmla="*/ 12 h 39"/>
                <a:gd name="T66" fmla="*/ 1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1" y="18"/>
                  </a:moveTo>
                  <a:cubicBezTo>
                    <a:pt x="1" y="19"/>
                    <a:pt x="1" y="20"/>
                    <a:pt x="2" y="20"/>
                  </a:cubicBezTo>
                  <a:cubicBezTo>
                    <a:pt x="4" y="20"/>
                    <a:pt x="4" y="19"/>
                    <a:pt x="4" y="18"/>
                  </a:cubicBezTo>
                  <a:cubicBezTo>
                    <a:pt x="4" y="18"/>
                    <a:pt x="4" y="15"/>
                    <a:pt x="4" y="12"/>
                  </a:cubicBezTo>
                  <a:cubicBezTo>
                    <a:pt x="4" y="9"/>
                    <a:pt x="5"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8" y="39"/>
                  </a:cubicBezTo>
                  <a:cubicBezTo>
                    <a:pt x="8" y="39"/>
                    <a:pt x="8" y="39"/>
                    <a:pt x="8"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4" y="39"/>
                  </a:cubicBezTo>
                  <a:cubicBezTo>
                    <a:pt x="14" y="39"/>
                    <a:pt x="14" y="39"/>
                    <a:pt x="14"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8" y="20"/>
                    <a:pt x="19" y="20"/>
                  </a:cubicBezTo>
                  <a:cubicBezTo>
                    <a:pt x="20" y="20"/>
                    <a:pt x="20" y="19"/>
                    <a:pt x="20" y="18"/>
                  </a:cubicBezTo>
                  <a:cubicBezTo>
                    <a:pt x="20" y="18"/>
                    <a:pt x="21" y="14"/>
                    <a:pt x="21" y="12"/>
                  </a:cubicBezTo>
                  <a:cubicBezTo>
                    <a:pt x="20" y="4"/>
                    <a:pt x="19" y="2"/>
                    <a:pt x="18" y="2"/>
                  </a:cubicBezTo>
                  <a:cubicBezTo>
                    <a:pt x="17" y="1"/>
                    <a:pt x="16" y="1"/>
                    <a:pt x="14" y="0"/>
                  </a:cubicBezTo>
                  <a:cubicBezTo>
                    <a:pt x="14" y="0"/>
                    <a:pt x="12" y="0"/>
                    <a:pt x="10" y="0"/>
                  </a:cubicBezTo>
                  <a:cubicBezTo>
                    <a:pt x="9" y="0"/>
                    <a:pt x="7" y="0"/>
                    <a:pt x="7" y="0"/>
                  </a:cubicBezTo>
                  <a:cubicBezTo>
                    <a:pt x="6" y="1"/>
                    <a:pt x="4" y="1"/>
                    <a:pt x="3" y="2"/>
                  </a:cubicBezTo>
                  <a:cubicBezTo>
                    <a:pt x="3" y="2"/>
                    <a:pt x="1" y="4"/>
                    <a:pt x="0" y="12"/>
                  </a:cubicBezTo>
                  <a:cubicBezTo>
                    <a:pt x="0" y="14"/>
                    <a:pt x="1" y="18"/>
                    <a:pt x="1" y="18"/>
                  </a:cubicBezTo>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5" name="Oval 20">
              <a:extLst>
                <a:ext uri="{FF2B5EF4-FFF2-40B4-BE49-F238E27FC236}">
                  <a16:creationId xmlns="" xmlns:a16="http://schemas.microsoft.com/office/drawing/2014/main" id="{9CF2612A-7A11-4C4F-A72C-C43E78D0DC24}"/>
                </a:ext>
              </a:extLst>
            </p:cNvPr>
            <p:cNvSpPr>
              <a:spLocks noChangeArrowheads="1"/>
            </p:cNvSpPr>
            <p:nvPr/>
          </p:nvSpPr>
          <p:spPr bwMode="gray">
            <a:xfrm>
              <a:off x="537128" y="2244206"/>
              <a:ext cx="67859" cy="51039"/>
            </a:xfrm>
            <a:prstGeom prst="ellipse">
              <a:avLst/>
            </a:pr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6" name="组合 225"/>
          <p:cNvGrpSpPr/>
          <p:nvPr/>
        </p:nvGrpSpPr>
        <p:grpSpPr bwMode="black">
          <a:xfrm>
            <a:off x="2501836" y="4932601"/>
            <a:ext cx="266669" cy="582853"/>
            <a:chOff x="2501836" y="5092621"/>
            <a:chExt cx="266669" cy="582853"/>
          </a:xfrm>
        </p:grpSpPr>
        <p:grpSp>
          <p:nvGrpSpPr>
            <p:cNvPr id="227" name="组合 226">
              <a:extLst>
                <a:ext uri="{FF2B5EF4-FFF2-40B4-BE49-F238E27FC236}">
                  <a16:creationId xmlns="" xmlns:a16="http://schemas.microsoft.com/office/drawing/2014/main" id="{07771919-29BA-4F84-A108-95F68658FD60}"/>
                </a:ext>
              </a:extLst>
            </p:cNvPr>
            <p:cNvGrpSpPr/>
            <p:nvPr/>
          </p:nvGrpSpPr>
          <p:grpSpPr bwMode="black">
            <a:xfrm>
              <a:off x="2508907" y="5092621"/>
              <a:ext cx="118198" cy="256412"/>
              <a:chOff x="329220" y="2244206"/>
              <a:chExt cx="128499" cy="256412"/>
            </a:xfrm>
          </p:grpSpPr>
          <p:sp>
            <p:nvSpPr>
              <p:cNvPr id="237"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8"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8" name="组合 227">
              <a:extLst>
                <a:ext uri="{FF2B5EF4-FFF2-40B4-BE49-F238E27FC236}">
                  <a16:creationId xmlns="" xmlns:a16="http://schemas.microsoft.com/office/drawing/2014/main" id="{07771919-29BA-4F84-A108-95F68658FD60}"/>
                </a:ext>
              </a:extLst>
            </p:cNvPr>
            <p:cNvGrpSpPr/>
            <p:nvPr/>
          </p:nvGrpSpPr>
          <p:grpSpPr bwMode="black">
            <a:xfrm>
              <a:off x="2501836" y="5411214"/>
              <a:ext cx="118198" cy="256412"/>
              <a:chOff x="329220" y="2244206"/>
              <a:chExt cx="128499" cy="256412"/>
            </a:xfrm>
          </p:grpSpPr>
          <p:sp>
            <p:nvSpPr>
              <p:cNvPr id="235"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6"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29" name="组合 228">
              <a:extLst>
                <a:ext uri="{FF2B5EF4-FFF2-40B4-BE49-F238E27FC236}">
                  <a16:creationId xmlns="" xmlns:a16="http://schemas.microsoft.com/office/drawing/2014/main" id="{07771919-29BA-4F84-A108-95F68658FD60}"/>
                </a:ext>
              </a:extLst>
            </p:cNvPr>
            <p:cNvGrpSpPr/>
            <p:nvPr/>
          </p:nvGrpSpPr>
          <p:grpSpPr bwMode="black">
            <a:xfrm>
              <a:off x="2650307" y="5100469"/>
              <a:ext cx="118198" cy="256412"/>
              <a:chOff x="329220" y="2244206"/>
              <a:chExt cx="128499" cy="256412"/>
            </a:xfrm>
          </p:grpSpPr>
          <p:sp>
            <p:nvSpPr>
              <p:cNvPr id="233"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4"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30" name="组合 229">
              <a:extLst>
                <a:ext uri="{FF2B5EF4-FFF2-40B4-BE49-F238E27FC236}">
                  <a16:creationId xmlns="" xmlns:a16="http://schemas.microsoft.com/office/drawing/2014/main" id="{07771919-29BA-4F84-A108-95F68658FD60}"/>
                </a:ext>
              </a:extLst>
            </p:cNvPr>
            <p:cNvGrpSpPr/>
            <p:nvPr/>
          </p:nvGrpSpPr>
          <p:grpSpPr bwMode="black">
            <a:xfrm>
              <a:off x="2643236" y="5419062"/>
              <a:ext cx="118198" cy="256412"/>
              <a:chOff x="329220" y="2244206"/>
              <a:chExt cx="128499" cy="256412"/>
            </a:xfrm>
          </p:grpSpPr>
          <p:sp>
            <p:nvSpPr>
              <p:cNvPr id="231"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2"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grpSp>
        <p:nvGrpSpPr>
          <p:cNvPr id="239" name="组合 238"/>
          <p:cNvGrpSpPr/>
          <p:nvPr/>
        </p:nvGrpSpPr>
        <p:grpSpPr bwMode="black">
          <a:xfrm>
            <a:off x="2776039" y="4932601"/>
            <a:ext cx="266669" cy="582853"/>
            <a:chOff x="2501836" y="5092621"/>
            <a:chExt cx="266669" cy="582853"/>
          </a:xfrm>
        </p:grpSpPr>
        <p:grpSp>
          <p:nvGrpSpPr>
            <p:cNvPr id="240" name="组合 239">
              <a:extLst>
                <a:ext uri="{FF2B5EF4-FFF2-40B4-BE49-F238E27FC236}">
                  <a16:creationId xmlns="" xmlns:a16="http://schemas.microsoft.com/office/drawing/2014/main" id="{07771919-29BA-4F84-A108-95F68658FD60}"/>
                </a:ext>
              </a:extLst>
            </p:cNvPr>
            <p:cNvGrpSpPr/>
            <p:nvPr/>
          </p:nvGrpSpPr>
          <p:grpSpPr bwMode="black">
            <a:xfrm>
              <a:off x="2508907" y="5092621"/>
              <a:ext cx="118198" cy="256412"/>
              <a:chOff x="329220" y="2244206"/>
              <a:chExt cx="128499" cy="256412"/>
            </a:xfrm>
          </p:grpSpPr>
          <p:sp>
            <p:nvSpPr>
              <p:cNvPr id="250"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1"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41" name="组合 240">
              <a:extLst>
                <a:ext uri="{FF2B5EF4-FFF2-40B4-BE49-F238E27FC236}">
                  <a16:creationId xmlns="" xmlns:a16="http://schemas.microsoft.com/office/drawing/2014/main" id="{07771919-29BA-4F84-A108-95F68658FD60}"/>
                </a:ext>
              </a:extLst>
            </p:cNvPr>
            <p:cNvGrpSpPr/>
            <p:nvPr/>
          </p:nvGrpSpPr>
          <p:grpSpPr bwMode="black">
            <a:xfrm>
              <a:off x="2501836" y="5411214"/>
              <a:ext cx="118198" cy="256412"/>
              <a:chOff x="329220" y="2244206"/>
              <a:chExt cx="128499" cy="256412"/>
            </a:xfrm>
          </p:grpSpPr>
          <p:sp>
            <p:nvSpPr>
              <p:cNvPr id="248"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9"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42" name="组合 241">
              <a:extLst>
                <a:ext uri="{FF2B5EF4-FFF2-40B4-BE49-F238E27FC236}">
                  <a16:creationId xmlns="" xmlns:a16="http://schemas.microsoft.com/office/drawing/2014/main" id="{07771919-29BA-4F84-A108-95F68658FD60}"/>
                </a:ext>
              </a:extLst>
            </p:cNvPr>
            <p:cNvGrpSpPr/>
            <p:nvPr/>
          </p:nvGrpSpPr>
          <p:grpSpPr bwMode="black">
            <a:xfrm>
              <a:off x="2650307" y="5100469"/>
              <a:ext cx="118198" cy="256412"/>
              <a:chOff x="329220" y="2244206"/>
              <a:chExt cx="128499" cy="256412"/>
            </a:xfrm>
          </p:grpSpPr>
          <p:sp>
            <p:nvSpPr>
              <p:cNvPr id="246"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7"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43" name="组合 242">
              <a:extLst>
                <a:ext uri="{FF2B5EF4-FFF2-40B4-BE49-F238E27FC236}">
                  <a16:creationId xmlns="" xmlns:a16="http://schemas.microsoft.com/office/drawing/2014/main" id="{07771919-29BA-4F84-A108-95F68658FD60}"/>
                </a:ext>
              </a:extLst>
            </p:cNvPr>
            <p:cNvGrpSpPr/>
            <p:nvPr/>
          </p:nvGrpSpPr>
          <p:grpSpPr bwMode="black">
            <a:xfrm>
              <a:off x="2643236" y="5419062"/>
              <a:ext cx="118198" cy="256412"/>
              <a:chOff x="329220" y="2244206"/>
              <a:chExt cx="128499" cy="256412"/>
            </a:xfrm>
          </p:grpSpPr>
          <p:sp>
            <p:nvSpPr>
              <p:cNvPr id="244"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5"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grpSp>
        <p:nvGrpSpPr>
          <p:cNvPr id="252" name="组合 251"/>
          <p:cNvGrpSpPr/>
          <p:nvPr/>
        </p:nvGrpSpPr>
        <p:grpSpPr bwMode="black">
          <a:xfrm>
            <a:off x="3033002" y="4940449"/>
            <a:ext cx="266669" cy="582853"/>
            <a:chOff x="2501836" y="5092621"/>
            <a:chExt cx="266669" cy="582853"/>
          </a:xfrm>
        </p:grpSpPr>
        <p:grpSp>
          <p:nvGrpSpPr>
            <p:cNvPr id="253" name="组合 252">
              <a:extLst>
                <a:ext uri="{FF2B5EF4-FFF2-40B4-BE49-F238E27FC236}">
                  <a16:creationId xmlns="" xmlns:a16="http://schemas.microsoft.com/office/drawing/2014/main" id="{07771919-29BA-4F84-A108-95F68658FD60}"/>
                </a:ext>
              </a:extLst>
            </p:cNvPr>
            <p:cNvGrpSpPr/>
            <p:nvPr/>
          </p:nvGrpSpPr>
          <p:grpSpPr bwMode="black">
            <a:xfrm>
              <a:off x="2508907" y="5092621"/>
              <a:ext cx="118198" cy="256412"/>
              <a:chOff x="329220" y="2244206"/>
              <a:chExt cx="128499" cy="256412"/>
            </a:xfrm>
          </p:grpSpPr>
          <p:sp>
            <p:nvSpPr>
              <p:cNvPr id="263"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4"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54" name="组合 253">
              <a:extLst>
                <a:ext uri="{FF2B5EF4-FFF2-40B4-BE49-F238E27FC236}">
                  <a16:creationId xmlns="" xmlns:a16="http://schemas.microsoft.com/office/drawing/2014/main" id="{07771919-29BA-4F84-A108-95F68658FD60}"/>
                </a:ext>
              </a:extLst>
            </p:cNvPr>
            <p:cNvGrpSpPr/>
            <p:nvPr/>
          </p:nvGrpSpPr>
          <p:grpSpPr bwMode="black">
            <a:xfrm>
              <a:off x="2501836" y="5411214"/>
              <a:ext cx="118198" cy="256412"/>
              <a:chOff x="329220" y="2244206"/>
              <a:chExt cx="128499" cy="256412"/>
            </a:xfrm>
          </p:grpSpPr>
          <p:sp>
            <p:nvSpPr>
              <p:cNvPr id="261"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2"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55" name="组合 254">
              <a:extLst>
                <a:ext uri="{FF2B5EF4-FFF2-40B4-BE49-F238E27FC236}">
                  <a16:creationId xmlns="" xmlns:a16="http://schemas.microsoft.com/office/drawing/2014/main" id="{07771919-29BA-4F84-A108-95F68658FD60}"/>
                </a:ext>
              </a:extLst>
            </p:cNvPr>
            <p:cNvGrpSpPr/>
            <p:nvPr/>
          </p:nvGrpSpPr>
          <p:grpSpPr bwMode="black">
            <a:xfrm>
              <a:off x="2650307" y="5100469"/>
              <a:ext cx="118198" cy="256412"/>
              <a:chOff x="329220" y="2244206"/>
              <a:chExt cx="128499" cy="256412"/>
            </a:xfrm>
          </p:grpSpPr>
          <p:sp>
            <p:nvSpPr>
              <p:cNvPr id="259"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0"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56" name="组合 255">
              <a:extLst>
                <a:ext uri="{FF2B5EF4-FFF2-40B4-BE49-F238E27FC236}">
                  <a16:creationId xmlns="" xmlns:a16="http://schemas.microsoft.com/office/drawing/2014/main" id="{07771919-29BA-4F84-A108-95F68658FD60}"/>
                </a:ext>
              </a:extLst>
            </p:cNvPr>
            <p:cNvGrpSpPr/>
            <p:nvPr/>
          </p:nvGrpSpPr>
          <p:grpSpPr bwMode="black">
            <a:xfrm>
              <a:off x="2643236" y="5419062"/>
              <a:ext cx="118198" cy="256412"/>
              <a:chOff x="329220" y="2244206"/>
              <a:chExt cx="128499" cy="256412"/>
            </a:xfrm>
          </p:grpSpPr>
          <p:sp>
            <p:nvSpPr>
              <p:cNvPr id="257" name="Freeform 15">
                <a:extLst>
                  <a:ext uri="{FF2B5EF4-FFF2-40B4-BE49-F238E27FC236}">
                    <a16:creationId xmlns="" xmlns:a16="http://schemas.microsoft.com/office/drawing/2014/main" id="{C0E50A3E-8EAA-43E2-B53D-5CFEC687DEBB}"/>
                  </a:ext>
                </a:extLst>
              </p:cNvPr>
              <p:cNvSpPr>
                <a:spLocks/>
              </p:cNvSpPr>
              <p:nvPr/>
            </p:nvSpPr>
            <p:spPr bwMode="black">
              <a:xfrm>
                <a:off x="329220" y="2300106"/>
                <a:ext cx="128499" cy="200512"/>
              </a:xfrm>
              <a:custGeom>
                <a:avLst/>
                <a:gdLst>
                  <a:gd name="T0" fmla="*/ 0 w 21"/>
                  <a:gd name="T1" fmla="*/ 18 h 39"/>
                  <a:gd name="T2" fmla="*/ 2 w 21"/>
                  <a:gd name="T3" fmla="*/ 20 h 39"/>
                  <a:gd name="T4" fmla="*/ 4 w 21"/>
                  <a:gd name="T5" fmla="*/ 18 h 39"/>
                  <a:gd name="T6" fmla="*/ 4 w 21"/>
                  <a:gd name="T7" fmla="*/ 12 h 39"/>
                  <a:gd name="T8" fmla="*/ 5 w 21"/>
                  <a:gd name="T9" fmla="*/ 6 h 39"/>
                  <a:gd name="T10" fmla="*/ 5 w 21"/>
                  <a:gd name="T11" fmla="*/ 6 h 39"/>
                  <a:gd name="T12" fmla="*/ 5 w 21"/>
                  <a:gd name="T13" fmla="*/ 17 h 39"/>
                  <a:gd name="T14" fmla="*/ 5 w 21"/>
                  <a:gd name="T15" fmla="*/ 18 h 39"/>
                  <a:gd name="T16" fmla="*/ 5 w 21"/>
                  <a:gd name="T17" fmla="*/ 37 h 39"/>
                  <a:gd name="T18" fmla="*/ 7 w 21"/>
                  <a:gd name="T19" fmla="*/ 39 h 39"/>
                  <a:gd name="T20" fmla="*/ 7 w 21"/>
                  <a:gd name="T21" fmla="*/ 39 h 39"/>
                  <a:gd name="T22" fmla="*/ 10 w 21"/>
                  <a:gd name="T23" fmla="*/ 37 h 39"/>
                  <a:gd name="T24" fmla="*/ 10 w 21"/>
                  <a:gd name="T25" fmla="*/ 20 h 39"/>
                  <a:gd name="T26" fmla="*/ 11 w 21"/>
                  <a:gd name="T27" fmla="*/ 20 h 39"/>
                  <a:gd name="T28" fmla="*/ 11 w 21"/>
                  <a:gd name="T29" fmla="*/ 37 h 39"/>
                  <a:gd name="T30" fmla="*/ 13 w 21"/>
                  <a:gd name="T31" fmla="*/ 39 h 39"/>
                  <a:gd name="T32" fmla="*/ 13 w 21"/>
                  <a:gd name="T33" fmla="*/ 39 h 39"/>
                  <a:gd name="T34" fmla="*/ 16 w 21"/>
                  <a:gd name="T35" fmla="*/ 37 h 39"/>
                  <a:gd name="T36" fmla="*/ 16 w 21"/>
                  <a:gd name="T37" fmla="*/ 18 h 39"/>
                  <a:gd name="T38" fmla="*/ 16 w 21"/>
                  <a:gd name="T39" fmla="*/ 17 h 39"/>
                  <a:gd name="T40" fmla="*/ 16 w 21"/>
                  <a:gd name="T41" fmla="*/ 6 h 39"/>
                  <a:gd name="T42" fmla="*/ 16 w 21"/>
                  <a:gd name="T43" fmla="*/ 6 h 39"/>
                  <a:gd name="T44" fmla="*/ 17 w 21"/>
                  <a:gd name="T45" fmla="*/ 12 h 39"/>
                  <a:gd name="T46" fmla="*/ 17 w 21"/>
                  <a:gd name="T47" fmla="*/ 18 h 39"/>
                  <a:gd name="T48" fmla="*/ 19 w 21"/>
                  <a:gd name="T49" fmla="*/ 20 h 39"/>
                  <a:gd name="T50" fmla="*/ 20 w 21"/>
                  <a:gd name="T51" fmla="*/ 18 h 39"/>
                  <a:gd name="T52" fmla="*/ 20 w 21"/>
                  <a:gd name="T53" fmla="*/ 12 h 39"/>
                  <a:gd name="T54" fmla="*/ 18 w 21"/>
                  <a:gd name="T55" fmla="*/ 2 h 39"/>
                  <a:gd name="T56" fmla="*/ 14 w 21"/>
                  <a:gd name="T57" fmla="*/ 0 h 39"/>
                  <a:gd name="T58" fmla="*/ 10 w 21"/>
                  <a:gd name="T59" fmla="*/ 0 h 39"/>
                  <a:gd name="T60" fmla="*/ 6 w 21"/>
                  <a:gd name="T61" fmla="*/ 0 h 39"/>
                  <a:gd name="T62" fmla="*/ 3 w 21"/>
                  <a:gd name="T63" fmla="*/ 2 h 39"/>
                  <a:gd name="T64" fmla="*/ 0 w 21"/>
                  <a:gd name="T65" fmla="*/ 12 h 39"/>
                  <a:gd name="T66" fmla="*/ 0 w 21"/>
                  <a:gd name="T6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 h="39">
                    <a:moveTo>
                      <a:pt x="0" y="18"/>
                    </a:moveTo>
                    <a:cubicBezTo>
                      <a:pt x="1" y="19"/>
                      <a:pt x="1" y="20"/>
                      <a:pt x="2" y="20"/>
                    </a:cubicBezTo>
                    <a:cubicBezTo>
                      <a:pt x="3" y="20"/>
                      <a:pt x="4" y="19"/>
                      <a:pt x="4" y="18"/>
                    </a:cubicBezTo>
                    <a:cubicBezTo>
                      <a:pt x="4" y="18"/>
                      <a:pt x="3" y="15"/>
                      <a:pt x="4" y="12"/>
                    </a:cubicBezTo>
                    <a:cubicBezTo>
                      <a:pt x="4" y="9"/>
                      <a:pt x="4" y="6"/>
                      <a:pt x="5" y="6"/>
                    </a:cubicBezTo>
                    <a:cubicBezTo>
                      <a:pt x="5" y="6"/>
                      <a:pt x="5" y="6"/>
                      <a:pt x="5" y="6"/>
                    </a:cubicBezTo>
                    <a:cubicBezTo>
                      <a:pt x="5" y="17"/>
                      <a:pt x="5" y="17"/>
                      <a:pt x="5" y="17"/>
                    </a:cubicBezTo>
                    <a:cubicBezTo>
                      <a:pt x="5" y="18"/>
                      <a:pt x="5" y="18"/>
                      <a:pt x="5" y="18"/>
                    </a:cubicBezTo>
                    <a:cubicBezTo>
                      <a:pt x="5" y="37"/>
                      <a:pt x="5" y="37"/>
                      <a:pt x="5" y="37"/>
                    </a:cubicBezTo>
                    <a:cubicBezTo>
                      <a:pt x="5" y="38"/>
                      <a:pt x="6" y="39"/>
                      <a:pt x="7" y="39"/>
                    </a:cubicBezTo>
                    <a:cubicBezTo>
                      <a:pt x="7" y="39"/>
                      <a:pt x="7" y="39"/>
                      <a:pt x="7" y="39"/>
                    </a:cubicBezTo>
                    <a:cubicBezTo>
                      <a:pt x="9" y="39"/>
                      <a:pt x="10" y="38"/>
                      <a:pt x="10" y="37"/>
                    </a:cubicBezTo>
                    <a:cubicBezTo>
                      <a:pt x="10" y="20"/>
                      <a:pt x="10" y="20"/>
                      <a:pt x="10" y="20"/>
                    </a:cubicBezTo>
                    <a:cubicBezTo>
                      <a:pt x="11" y="20"/>
                      <a:pt x="11" y="20"/>
                      <a:pt x="11" y="20"/>
                    </a:cubicBezTo>
                    <a:cubicBezTo>
                      <a:pt x="11" y="37"/>
                      <a:pt x="11" y="37"/>
                      <a:pt x="11" y="37"/>
                    </a:cubicBezTo>
                    <a:cubicBezTo>
                      <a:pt x="11" y="38"/>
                      <a:pt x="12" y="39"/>
                      <a:pt x="13" y="39"/>
                    </a:cubicBezTo>
                    <a:cubicBezTo>
                      <a:pt x="13" y="39"/>
                      <a:pt x="13" y="39"/>
                      <a:pt x="13" y="39"/>
                    </a:cubicBezTo>
                    <a:cubicBezTo>
                      <a:pt x="15" y="39"/>
                      <a:pt x="16" y="38"/>
                      <a:pt x="16" y="37"/>
                    </a:cubicBezTo>
                    <a:cubicBezTo>
                      <a:pt x="16" y="18"/>
                      <a:pt x="16" y="18"/>
                      <a:pt x="16" y="18"/>
                    </a:cubicBezTo>
                    <a:cubicBezTo>
                      <a:pt x="16" y="18"/>
                      <a:pt x="16" y="18"/>
                      <a:pt x="16" y="17"/>
                    </a:cubicBezTo>
                    <a:cubicBezTo>
                      <a:pt x="16" y="6"/>
                      <a:pt x="16" y="6"/>
                      <a:pt x="16" y="6"/>
                    </a:cubicBezTo>
                    <a:cubicBezTo>
                      <a:pt x="16" y="6"/>
                      <a:pt x="16" y="6"/>
                      <a:pt x="16" y="6"/>
                    </a:cubicBezTo>
                    <a:cubicBezTo>
                      <a:pt x="16" y="6"/>
                      <a:pt x="17" y="9"/>
                      <a:pt x="17" y="12"/>
                    </a:cubicBezTo>
                    <a:cubicBezTo>
                      <a:pt x="17" y="15"/>
                      <a:pt x="17" y="18"/>
                      <a:pt x="17" y="18"/>
                    </a:cubicBezTo>
                    <a:cubicBezTo>
                      <a:pt x="17" y="19"/>
                      <a:pt x="17" y="20"/>
                      <a:pt x="19" y="20"/>
                    </a:cubicBezTo>
                    <a:cubicBezTo>
                      <a:pt x="20" y="20"/>
                      <a:pt x="20" y="19"/>
                      <a:pt x="20" y="18"/>
                    </a:cubicBezTo>
                    <a:cubicBezTo>
                      <a:pt x="20" y="18"/>
                      <a:pt x="21" y="14"/>
                      <a:pt x="20" y="12"/>
                    </a:cubicBezTo>
                    <a:cubicBezTo>
                      <a:pt x="20" y="4"/>
                      <a:pt x="18" y="2"/>
                      <a:pt x="18" y="2"/>
                    </a:cubicBezTo>
                    <a:cubicBezTo>
                      <a:pt x="17" y="1"/>
                      <a:pt x="15" y="1"/>
                      <a:pt x="14" y="0"/>
                    </a:cubicBezTo>
                    <a:cubicBezTo>
                      <a:pt x="14" y="0"/>
                      <a:pt x="11" y="0"/>
                      <a:pt x="10" y="0"/>
                    </a:cubicBezTo>
                    <a:cubicBezTo>
                      <a:pt x="9" y="0"/>
                      <a:pt x="7" y="0"/>
                      <a:pt x="6" y="0"/>
                    </a:cubicBezTo>
                    <a:cubicBezTo>
                      <a:pt x="5" y="1"/>
                      <a:pt x="4" y="1"/>
                      <a:pt x="3" y="2"/>
                    </a:cubicBezTo>
                    <a:cubicBezTo>
                      <a:pt x="2" y="2"/>
                      <a:pt x="1" y="4"/>
                      <a:pt x="0" y="12"/>
                    </a:cubicBezTo>
                    <a:cubicBezTo>
                      <a:pt x="0" y="14"/>
                      <a:pt x="0" y="18"/>
                      <a:pt x="0" y="18"/>
                    </a:cubicBezTo>
                  </a:path>
                </a:pathLst>
              </a:cu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8" name="Oval 16">
                <a:extLst>
                  <a:ext uri="{FF2B5EF4-FFF2-40B4-BE49-F238E27FC236}">
                    <a16:creationId xmlns="" xmlns:a16="http://schemas.microsoft.com/office/drawing/2014/main" id="{E7D1A3D8-D5BA-4779-A780-361700E46E86}"/>
                  </a:ext>
                </a:extLst>
              </p:cNvPr>
              <p:cNvSpPr>
                <a:spLocks noChangeArrowheads="1"/>
              </p:cNvSpPr>
              <p:nvPr/>
            </p:nvSpPr>
            <p:spPr bwMode="black">
              <a:xfrm>
                <a:off x="360983" y="2244206"/>
                <a:ext cx="60640" cy="51039"/>
              </a:xfrm>
              <a:prstGeom prst="ellipse">
                <a:avLst/>
              </a:prstGeom>
              <a:solidFill>
                <a:srgbClr val="C0504D"/>
              </a:solidFill>
              <a:ln>
                <a:noFill/>
              </a:ln>
              <a:extLst/>
            </p:spPr>
            <p:txBody>
              <a:bodyPr vert="horz" wrap="square" lIns="91419" tIns="45709" rIns="91419" bIns="45709" numCol="1" anchor="t" anchorCtr="0" compatLnSpc="1">
                <a:prstTxWarp prst="textNoShape">
                  <a:avLst/>
                </a:prstTxWarp>
              </a:bodyPr>
              <a:lstStyle/>
              <a:p>
                <a:pPr defTabSz="1219028" fontAlgn="base">
                  <a:spcBef>
                    <a:spcPct val="0"/>
                  </a:spcBef>
                  <a:spcAft>
                    <a:spcPct val="0"/>
                  </a:spcAft>
                  <a:defRPr/>
                </a:pPr>
                <a:endParaRPr lang="zh-CN" altLang="en-US" sz="54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spTree>
    <p:extLst>
      <p:ext uri="{BB962C8B-B14F-4D97-AF65-F5344CB8AC3E}">
        <p14:creationId xmlns:p14="http://schemas.microsoft.com/office/powerpoint/2010/main" val="3381988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：故障推理</a:t>
            </a:r>
            <a:endParaRPr lang="zh-CN" altLang="en-US" dirty="0">
              <a:sym typeface="Huawei Sans" panose="020C0503030203020204" pitchFamily="34" charset="0"/>
            </a:endParaRPr>
          </a:p>
        </p:txBody>
      </p:sp>
      <p:sp>
        <p:nvSpPr>
          <p:cNvPr id="3" name="圆角矩形 2"/>
          <p:cNvSpPr/>
          <p:nvPr/>
        </p:nvSpPr>
        <p:spPr bwMode="gray">
          <a:xfrm>
            <a:off x="1076893" y="4707699"/>
            <a:ext cx="2755652" cy="785294"/>
          </a:xfrm>
          <a:prstGeom prst="roundRect">
            <a:avLst>
              <a:gd name="adj" fmla="val 5863"/>
            </a:avLst>
          </a:prstGeom>
          <a:solidFill>
            <a:srgbClr val="ED6D00"/>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圆角矩形 3"/>
          <p:cNvSpPr/>
          <p:nvPr/>
        </p:nvSpPr>
        <p:spPr bwMode="gray">
          <a:xfrm>
            <a:off x="1076893" y="3743544"/>
            <a:ext cx="2755652" cy="785294"/>
          </a:xfrm>
          <a:prstGeom prst="roundRect">
            <a:avLst>
              <a:gd name="adj" fmla="val 5863"/>
            </a:avLst>
          </a:prstGeom>
          <a:solidFill>
            <a:srgbClr val="30B5C5"/>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圆角矩形 4"/>
          <p:cNvSpPr/>
          <p:nvPr/>
        </p:nvSpPr>
        <p:spPr bwMode="gray">
          <a:xfrm>
            <a:off x="4420385" y="1556320"/>
            <a:ext cx="3053866" cy="4414206"/>
          </a:xfrm>
          <a:prstGeom prst="roundRect">
            <a:avLst>
              <a:gd name="adj" fmla="val 4267"/>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圆角矩形 5"/>
          <p:cNvSpPr/>
          <p:nvPr/>
        </p:nvSpPr>
        <p:spPr bwMode="gray">
          <a:xfrm>
            <a:off x="4618973" y="3561158"/>
            <a:ext cx="2690366" cy="2064470"/>
          </a:xfrm>
          <a:prstGeom prst="roundRect">
            <a:avLst>
              <a:gd name="adj" fmla="val 2798"/>
            </a:avLst>
          </a:prstGeom>
          <a:noFill/>
          <a:ln w="28575"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7" name="组合 6">
            <a:extLst>
              <a:ext uri="{FF2B5EF4-FFF2-40B4-BE49-F238E27FC236}">
                <a16:creationId xmlns:a16="http://schemas.microsoft.com/office/drawing/2014/main" xmlns="" id="{18BAD502-4EC5-4653-802D-0538217FF216}"/>
              </a:ext>
            </a:extLst>
          </p:cNvPr>
          <p:cNvGrpSpPr/>
          <p:nvPr/>
        </p:nvGrpSpPr>
        <p:grpSpPr bwMode="gray">
          <a:xfrm>
            <a:off x="4839700" y="4511918"/>
            <a:ext cx="387308" cy="387435"/>
            <a:chOff x="12694528" y="4148711"/>
            <a:chExt cx="845459" cy="845472"/>
          </a:xfrm>
        </p:grpSpPr>
        <p:sp>
          <p:nvSpPr>
            <p:cNvPr id="8" name="椭圆 7">
              <a:extLst>
                <a:ext uri="{FF2B5EF4-FFF2-40B4-BE49-F238E27FC236}">
                  <a16:creationId xmlns:a16="http://schemas.microsoft.com/office/drawing/2014/main" xmlns="" id="{0525A635-9D86-47C8-8C97-4E737DFA7851}"/>
                </a:ext>
              </a:extLst>
            </p:cNvPr>
            <p:cNvSpPr/>
            <p:nvPr/>
          </p:nvSpPr>
          <p:spPr bwMode="gray">
            <a:xfrm flipH="1">
              <a:off x="12694528" y="4148711"/>
              <a:ext cx="845459" cy="845472"/>
            </a:xfrm>
            <a:prstGeom prst="ellipse">
              <a:avLst/>
            </a:prstGeom>
            <a:solidFill>
              <a:srgbClr val="EC7061"/>
            </a:solidFill>
            <a:ln w="25400" cap="flat" cmpd="sng" algn="ctr">
              <a:noFill/>
              <a:prstDash val="solid"/>
            </a:ln>
            <a:effectLst/>
          </p:spPr>
          <p:txBody>
            <a:bodyPr rtlCol="0" anchor="ctr"/>
            <a:lstStyle/>
            <a:p>
              <a:pPr algn="ctr" defTabSz="386703" fontAlgn="auto">
                <a:spcBef>
                  <a:spcPts val="0"/>
                </a:spcBef>
                <a:spcAft>
                  <a:spcPts val="0"/>
                </a:spcAft>
                <a:defRPr/>
              </a:pPr>
              <a:endParaRPr lang="zh-CN" altLang="en-US" sz="1200" ker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Freeform 10">
              <a:extLst>
                <a:ext uri="{FF2B5EF4-FFF2-40B4-BE49-F238E27FC236}">
                  <a16:creationId xmlns:a16="http://schemas.microsoft.com/office/drawing/2014/main" xmlns="" id="{1C237055-E3A2-43D3-B827-C5300F3C973B}"/>
                </a:ext>
              </a:extLst>
            </p:cNvPr>
            <p:cNvSpPr>
              <a:spLocks noEditPoints="1"/>
            </p:cNvSpPr>
            <p:nvPr/>
          </p:nvSpPr>
          <p:spPr bwMode="gray">
            <a:xfrm flipH="1">
              <a:off x="12873184" y="4272463"/>
              <a:ext cx="488145" cy="551150"/>
            </a:xfrm>
            <a:custGeom>
              <a:avLst/>
              <a:gdLst>
                <a:gd name="T0" fmla="*/ 978 w 1066"/>
                <a:gd name="T1" fmla="*/ 1204 h 1204"/>
                <a:gd name="T2" fmla="*/ 448 w 1066"/>
                <a:gd name="T3" fmla="*/ 1204 h 1204"/>
                <a:gd name="T4" fmla="*/ 422 w 1066"/>
                <a:gd name="T5" fmla="*/ 1061 h 1204"/>
                <a:gd name="T6" fmla="*/ 398 w 1066"/>
                <a:gd name="T7" fmla="*/ 1040 h 1204"/>
                <a:gd name="T8" fmla="*/ 189 w 1066"/>
                <a:gd name="T9" fmla="*/ 1041 h 1204"/>
                <a:gd name="T10" fmla="*/ 146 w 1066"/>
                <a:gd name="T11" fmla="*/ 1002 h 1204"/>
                <a:gd name="T12" fmla="*/ 150 w 1066"/>
                <a:gd name="T13" fmla="*/ 928 h 1204"/>
                <a:gd name="T14" fmla="*/ 154 w 1066"/>
                <a:gd name="T15" fmla="*/ 857 h 1204"/>
                <a:gd name="T16" fmla="*/ 124 w 1066"/>
                <a:gd name="T17" fmla="*/ 846 h 1204"/>
                <a:gd name="T18" fmla="*/ 112 w 1066"/>
                <a:gd name="T19" fmla="*/ 824 h 1204"/>
                <a:gd name="T20" fmla="*/ 94 w 1066"/>
                <a:gd name="T21" fmla="*/ 721 h 1204"/>
                <a:gd name="T22" fmla="*/ 81 w 1066"/>
                <a:gd name="T23" fmla="*/ 713 h 1204"/>
                <a:gd name="T24" fmla="*/ 30 w 1066"/>
                <a:gd name="T25" fmla="*/ 703 h 1204"/>
                <a:gd name="T26" fmla="*/ 20 w 1066"/>
                <a:gd name="T27" fmla="*/ 663 h 1204"/>
                <a:gd name="T28" fmla="*/ 79 w 1066"/>
                <a:gd name="T29" fmla="*/ 605 h 1204"/>
                <a:gd name="T30" fmla="*/ 112 w 1066"/>
                <a:gd name="T31" fmla="*/ 487 h 1204"/>
                <a:gd name="T32" fmla="*/ 244 w 1066"/>
                <a:gd name="T33" fmla="*/ 134 h 1204"/>
                <a:gd name="T34" fmla="*/ 614 w 1066"/>
                <a:gd name="T35" fmla="*/ 8 h 1204"/>
                <a:gd name="T36" fmla="*/ 999 w 1066"/>
                <a:gd name="T37" fmla="*/ 217 h 1204"/>
                <a:gd name="T38" fmla="*/ 1061 w 1066"/>
                <a:gd name="T39" fmla="*/ 438 h 1204"/>
                <a:gd name="T40" fmla="*/ 942 w 1066"/>
                <a:gd name="T41" fmla="*/ 800 h 1204"/>
                <a:gd name="T42" fmla="*/ 931 w 1066"/>
                <a:gd name="T43" fmla="*/ 852 h 1204"/>
                <a:gd name="T44" fmla="*/ 977 w 1066"/>
                <a:gd name="T45" fmla="*/ 1186 h 1204"/>
                <a:gd name="T46" fmla="*/ 978 w 1066"/>
                <a:gd name="T47" fmla="*/ 1204 h 1204"/>
                <a:gd name="T48" fmla="*/ 596 w 1066"/>
                <a:gd name="T49" fmla="*/ 502 h 1204"/>
                <a:gd name="T50" fmla="*/ 724 w 1066"/>
                <a:gd name="T51" fmla="*/ 575 h 1204"/>
                <a:gd name="T52" fmla="*/ 733 w 1066"/>
                <a:gd name="T53" fmla="*/ 592 h 1204"/>
                <a:gd name="T54" fmla="*/ 770 w 1066"/>
                <a:gd name="T55" fmla="*/ 640 h 1204"/>
                <a:gd name="T56" fmla="*/ 821 w 1066"/>
                <a:gd name="T57" fmla="*/ 618 h 1204"/>
                <a:gd name="T58" fmla="*/ 815 w 1066"/>
                <a:gd name="T59" fmla="*/ 560 h 1204"/>
                <a:gd name="T60" fmla="*/ 757 w 1066"/>
                <a:gd name="T61" fmla="*/ 553 h 1204"/>
                <a:gd name="T62" fmla="*/ 741 w 1066"/>
                <a:gd name="T63" fmla="*/ 555 h 1204"/>
                <a:gd name="T64" fmla="*/ 615 w 1066"/>
                <a:gd name="T65" fmla="*/ 484 h 1204"/>
                <a:gd name="T66" fmla="*/ 627 w 1066"/>
                <a:gd name="T67" fmla="*/ 350 h 1204"/>
                <a:gd name="T68" fmla="*/ 630 w 1066"/>
                <a:gd name="T69" fmla="*/ 338 h 1204"/>
                <a:gd name="T70" fmla="*/ 694 w 1066"/>
                <a:gd name="T71" fmla="*/ 300 h 1204"/>
                <a:gd name="T72" fmla="*/ 710 w 1066"/>
                <a:gd name="T73" fmla="*/ 321 h 1204"/>
                <a:gd name="T74" fmla="*/ 834 w 1066"/>
                <a:gd name="T75" fmla="*/ 339 h 1204"/>
                <a:gd name="T76" fmla="*/ 870 w 1066"/>
                <a:gd name="T77" fmla="*/ 217 h 1204"/>
                <a:gd name="T78" fmla="*/ 759 w 1066"/>
                <a:gd name="T79" fmla="*/ 160 h 1204"/>
                <a:gd name="T80" fmla="*/ 682 w 1066"/>
                <a:gd name="T81" fmla="*/ 261 h 1204"/>
                <a:gd name="T82" fmla="*/ 674 w 1066"/>
                <a:gd name="T83" fmla="*/ 278 h 1204"/>
                <a:gd name="T84" fmla="*/ 609 w 1066"/>
                <a:gd name="T85" fmla="*/ 317 h 1204"/>
                <a:gd name="T86" fmla="*/ 394 w 1066"/>
                <a:gd name="T87" fmla="*/ 292 h 1204"/>
                <a:gd name="T88" fmla="*/ 378 w 1066"/>
                <a:gd name="T89" fmla="*/ 494 h 1204"/>
                <a:gd name="T90" fmla="*/ 596 w 1066"/>
                <a:gd name="T91" fmla="*/ 502 h 1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66" h="1204">
                  <a:moveTo>
                    <a:pt x="978" y="1204"/>
                  </a:moveTo>
                  <a:cubicBezTo>
                    <a:pt x="801" y="1204"/>
                    <a:pt x="625" y="1204"/>
                    <a:pt x="448" y="1204"/>
                  </a:cubicBezTo>
                  <a:cubicBezTo>
                    <a:pt x="439" y="1156"/>
                    <a:pt x="430" y="1109"/>
                    <a:pt x="422" y="1061"/>
                  </a:cubicBezTo>
                  <a:cubicBezTo>
                    <a:pt x="420" y="1046"/>
                    <a:pt x="415" y="1040"/>
                    <a:pt x="398" y="1040"/>
                  </a:cubicBezTo>
                  <a:cubicBezTo>
                    <a:pt x="329" y="1041"/>
                    <a:pt x="259" y="1041"/>
                    <a:pt x="189" y="1041"/>
                  </a:cubicBezTo>
                  <a:cubicBezTo>
                    <a:pt x="162" y="1041"/>
                    <a:pt x="147" y="1030"/>
                    <a:pt x="146" y="1002"/>
                  </a:cubicBezTo>
                  <a:cubicBezTo>
                    <a:pt x="145" y="978"/>
                    <a:pt x="148" y="953"/>
                    <a:pt x="150" y="928"/>
                  </a:cubicBezTo>
                  <a:cubicBezTo>
                    <a:pt x="103" y="894"/>
                    <a:pt x="103" y="889"/>
                    <a:pt x="154" y="857"/>
                  </a:cubicBezTo>
                  <a:cubicBezTo>
                    <a:pt x="145" y="854"/>
                    <a:pt x="133" y="852"/>
                    <a:pt x="124" y="846"/>
                  </a:cubicBezTo>
                  <a:cubicBezTo>
                    <a:pt x="118" y="842"/>
                    <a:pt x="111" y="831"/>
                    <a:pt x="112" y="824"/>
                  </a:cubicBezTo>
                  <a:cubicBezTo>
                    <a:pt x="118" y="787"/>
                    <a:pt x="102" y="755"/>
                    <a:pt x="94" y="721"/>
                  </a:cubicBezTo>
                  <a:cubicBezTo>
                    <a:pt x="93" y="717"/>
                    <a:pt x="86" y="714"/>
                    <a:pt x="81" y="713"/>
                  </a:cubicBezTo>
                  <a:cubicBezTo>
                    <a:pt x="64" y="709"/>
                    <a:pt x="46" y="708"/>
                    <a:pt x="30" y="703"/>
                  </a:cubicBezTo>
                  <a:cubicBezTo>
                    <a:pt x="2" y="695"/>
                    <a:pt x="0" y="682"/>
                    <a:pt x="20" y="663"/>
                  </a:cubicBezTo>
                  <a:cubicBezTo>
                    <a:pt x="40" y="644"/>
                    <a:pt x="60" y="625"/>
                    <a:pt x="79" y="605"/>
                  </a:cubicBezTo>
                  <a:cubicBezTo>
                    <a:pt x="111" y="572"/>
                    <a:pt x="120" y="532"/>
                    <a:pt x="112" y="487"/>
                  </a:cubicBezTo>
                  <a:cubicBezTo>
                    <a:pt x="87" y="344"/>
                    <a:pt x="133" y="227"/>
                    <a:pt x="244" y="134"/>
                  </a:cubicBezTo>
                  <a:cubicBezTo>
                    <a:pt x="351" y="43"/>
                    <a:pt x="474" y="0"/>
                    <a:pt x="614" y="8"/>
                  </a:cubicBezTo>
                  <a:cubicBezTo>
                    <a:pt x="774" y="17"/>
                    <a:pt x="907" y="81"/>
                    <a:pt x="999" y="217"/>
                  </a:cubicBezTo>
                  <a:cubicBezTo>
                    <a:pt x="1044" y="283"/>
                    <a:pt x="1066" y="358"/>
                    <a:pt x="1061" y="438"/>
                  </a:cubicBezTo>
                  <a:cubicBezTo>
                    <a:pt x="1053" y="569"/>
                    <a:pt x="1020" y="692"/>
                    <a:pt x="942" y="800"/>
                  </a:cubicBezTo>
                  <a:cubicBezTo>
                    <a:pt x="930" y="817"/>
                    <a:pt x="928" y="833"/>
                    <a:pt x="931" y="852"/>
                  </a:cubicBezTo>
                  <a:cubicBezTo>
                    <a:pt x="946" y="963"/>
                    <a:pt x="962" y="1075"/>
                    <a:pt x="977" y="1186"/>
                  </a:cubicBezTo>
                  <a:cubicBezTo>
                    <a:pt x="978" y="1191"/>
                    <a:pt x="978" y="1197"/>
                    <a:pt x="978" y="1204"/>
                  </a:cubicBezTo>
                  <a:close/>
                  <a:moveTo>
                    <a:pt x="596" y="502"/>
                  </a:moveTo>
                  <a:cubicBezTo>
                    <a:pt x="639" y="527"/>
                    <a:pt x="682" y="550"/>
                    <a:pt x="724" y="575"/>
                  </a:cubicBezTo>
                  <a:cubicBezTo>
                    <a:pt x="728" y="578"/>
                    <a:pt x="732" y="586"/>
                    <a:pt x="733" y="592"/>
                  </a:cubicBezTo>
                  <a:cubicBezTo>
                    <a:pt x="734" y="617"/>
                    <a:pt x="747" y="634"/>
                    <a:pt x="770" y="640"/>
                  </a:cubicBezTo>
                  <a:cubicBezTo>
                    <a:pt x="789" y="645"/>
                    <a:pt x="811" y="635"/>
                    <a:pt x="821" y="618"/>
                  </a:cubicBezTo>
                  <a:cubicBezTo>
                    <a:pt x="832" y="600"/>
                    <a:pt x="829" y="576"/>
                    <a:pt x="815" y="560"/>
                  </a:cubicBezTo>
                  <a:cubicBezTo>
                    <a:pt x="799" y="544"/>
                    <a:pt x="780" y="541"/>
                    <a:pt x="757" y="553"/>
                  </a:cubicBezTo>
                  <a:cubicBezTo>
                    <a:pt x="752" y="555"/>
                    <a:pt x="744" y="558"/>
                    <a:pt x="741" y="555"/>
                  </a:cubicBezTo>
                  <a:cubicBezTo>
                    <a:pt x="698" y="532"/>
                    <a:pt x="657" y="508"/>
                    <a:pt x="615" y="484"/>
                  </a:cubicBezTo>
                  <a:cubicBezTo>
                    <a:pt x="643" y="424"/>
                    <a:pt x="643" y="414"/>
                    <a:pt x="627" y="350"/>
                  </a:cubicBezTo>
                  <a:cubicBezTo>
                    <a:pt x="627" y="346"/>
                    <a:pt x="627" y="340"/>
                    <a:pt x="630" y="338"/>
                  </a:cubicBezTo>
                  <a:cubicBezTo>
                    <a:pt x="651" y="325"/>
                    <a:pt x="672" y="312"/>
                    <a:pt x="694" y="300"/>
                  </a:cubicBezTo>
                  <a:cubicBezTo>
                    <a:pt x="700" y="309"/>
                    <a:pt x="705" y="315"/>
                    <a:pt x="710" y="321"/>
                  </a:cubicBezTo>
                  <a:cubicBezTo>
                    <a:pt x="743" y="357"/>
                    <a:pt x="795" y="364"/>
                    <a:pt x="834" y="339"/>
                  </a:cubicBezTo>
                  <a:cubicBezTo>
                    <a:pt x="874" y="313"/>
                    <a:pt x="889" y="261"/>
                    <a:pt x="870" y="217"/>
                  </a:cubicBezTo>
                  <a:cubicBezTo>
                    <a:pt x="851" y="174"/>
                    <a:pt x="804" y="149"/>
                    <a:pt x="759" y="160"/>
                  </a:cubicBezTo>
                  <a:cubicBezTo>
                    <a:pt x="711" y="172"/>
                    <a:pt x="680" y="213"/>
                    <a:pt x="682" y="261"/>
                  </a:cubicBezTo>
                  <a:cubicBezTo>
                    <a:pt x="682" y="267"/>
                    <a:pt x="679" y="275"/>
                    <a:pt x="674" y="278"/>
                  </a:cubicBezTo>
                  <a:cubicBezTo>
                    <a:pt x="653" y="292"/>
                    <a:pt x="631" y="304"/>
                    <a:pt x="609" y="317"/>
                  </a:cubicBezTo>
                  <a:cubicBezTo>
                    <a:pt x="542" y="232"/>
                    <a:pt x="445" y="246"/>
                    <a:pt x="394" y="292"/>
                  </a:cubicBezTo>
                  <a:cubicBezTo>
                    <a:pt x="335" y="344"/>
                    <a:pt x="328" y="433"/>
                    <a:pt x="378" y="494"/>
                  </a:cubicBezTo>
                  <a:cubicBezTo>
                    <a:pt x="433" y="560"/>
                    <a:pt x="516" y="563"/>
                    <a:pt x="596" y="502"/>
                  </a:cubicBezTo>
                  <a:close/>
                </a:path>
              </a:pathLst>
            </a:custGeom>
            <a:solidFill>
              <a:srgbClr val="FFFFFF"/>
            </a:solidFill>
            <a:ln>
              <a:noFill/>
            </a:ln>
          </p:spPr>
          <p:txBody>
            <a:bodyPr vert="horz" wrap="square" lIns="19355" tIns="9677" rIns="19355" bIns="9677" numCol="1" anchor="t" anchorCtr="0" compatLnSpc="1"/>
            <a:lstStyle/>
            <a:p>
              <a:pPr defTabSz="386703" fontAlgn="auto">
                <a:spcBef>
                  <a:spcPts val="0"/>
                </a:spcBef>
                <a:spcAft>
                  <a:spcPts val="0"/>
                </a:spcAft>
                <a:defRPr/>
              </a:pPr>
              <a:endParaRPr lang="zh-CN" altLang="en-US" sz="1200" ker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0" name="左中括号 9"/>
          <p:cNvSpPr/>
          <p:nvPr/>
        </p:nvSpPr>
        <p:spPr bwMode="gray">
          <a:xfrm>
            <a:off x="5450695" y="4285000"/>
            <a:ext cx="466475" cy="833906"/>
          </a:xfrm>
          <a:prstGeom prst="leftBracket">
            <a:avLst>
              <a:gd name="adj" fmla="val 42124"/>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 name="直接连接符 10"/>
          <p:cNvCxnSpPr>
            <a:stCxn id="8" idx="2"/>
            <a:endCxn id="10" idx="1"/>
          </p:cNvCxnSpPr>
          <p:nvPr/>
        </p:nvCxnSpPr>
        <p:spPr bwMode="gray">
          <a:xfrm flipV="1">
            <a:off x="5227008" y="4701953"/>
            <a:ext cx="223687" cy="3683"/>
          </a:xfrm>
          <a:prstGeom prst="line">
            <a:avLst/>
          </a:prstGeom>
          <a:noFill/>
          <a:ln w="19050" cap="flat" cmpd="sng" algn="ctr">
            <a:solidFill>
              <a:srgbClr val="EC7061"/>
            </a:solidFill>
            <a:prstDash val="solid"/>
            <a:miter lim="800000"/>
          </a:ln>
          <a:effectLst/>
        </p:spPr>
      </p:cxnSp>
      <p:sp>
        <p:nvSpPr>
          <p:cNvPr id="12" name="左中括号 11"/>
          <p:cNvSpPr/>
          <p:nvPr/>
        </p:nvSpPr>
        <p:spPr bwMode="gray">
          <a:xfrm>
            <a:off x="5907619" y="4078554"/>
            <a:ext cx="466475" cy="445519"/>
          </a:xfrm>
          <a:prstGeom prst="leftBracket">
            <a:avLst>
              <a:gd name="adj" fmla="val 36084"/>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圆角矩形 12"/>
          <p:cNvSpPr/>
          <p:nvPr/>
        </p:nvSpPr>
        <p:spPr bwMode="gray">
          <a:xfrm>
            <a:off x="6383645" y="3961516"/>
            <a:ext cx="661589" cy="273492"/>
          </a:xfrm>
          <a:prstGeom prst="roundRect">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规则</a:t>
            </a:r>
            <a:r>
              <a:rPr kumimoji="0" lang="en-US" altLang="zh-CN"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圆角矩形 13"/>
          <p:cNvSpPr/>
          <p:nvPr/>
        </p:nvSpPr>
        <p:spPr bwMode="gray">
          <a:xfrm>
            <a:off x="6384055" y="4373740"/>
            <a:ext cx="661589" cy="273492"/>
          </a:xfrm>
          <a:prstGeom prst="roundRect">
            <a:avLst/>
          </a:prstGeom>
          <a:solidFill>
            <a:srgbClr val="EC7061"/>
          </a:solid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规则</a:t>
            </a:r>
            <a:r>
              <a:rPr kumimoji="0" lang="en-US" altLang="zh-CN" sz="1200" b="0" i="0" u="none" strike="noStrike" kern="0" cap="none" spc="0" normalizeH="0" baseline="0" noProof="0" dirty="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kumimoji="0" lang="zh-CN" altLang="en-US" sz="1200" b="0" i="0" u="none" strike="noStrike" kern="0" cap="none" spc="0" normalizeH="0" baseline="0" noProof="0" dirty="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圆角矩形 14"/>
          <p:cNvSpPr/>
          <p:nvPr/>
        </p:nvSpPr>
        <p:spPr bwMode="gray">
          <a:xfrm>
            <a:off x="6384055" y="4755123"/>
            <a:ext cx="661589" cy="273492"/>
          </a:xfrm>
          <a:prstGeom prst="roundRect">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规则</a:t>
            </a:r>
            <a:r>
              <a:rPr kumimoji="0" lang="en-US" altLang="zh-CN"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endPar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圆角矩形 15"/>
          <p:cNvSpPr/>
          <p:nvPr/>
        </p:nvSpPr>
        <p:spPr bwMode="gray">
          <a:xfrm>
            <a:off x="6384055" y="5185189"/>
            <a:ext cx="661589" cy="273492"/>
          </a:xfrm>
          <a:prstGeom prst="roundRect">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规则</a:t>
            </a:r>
            <a:r>
              <a:rPr kumimoji="0" lang="en-US" altLang="zh-CN"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4</a:t>
            </a:r>
            <a:endPar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左中括号 16"/>
          <p:cNvSpPr/>
          <p:nvPr/>
        </p:nvSpPr>
        <p:spPr bwMode="gray">
          <a:xfrm>
            <a:off x="5917580" y="4879983"/>
            <a:ext cx="466475" cy="445519"/>
          </a:xfrm>
          <a:prstGeom prst="leftBracket">
            <a:avLst>
              <a:gd name="adj" fmla="val 36084"/>
            </a:avLst>
          </a:prstGeom>
          <a:noFill/>
          <a:ln w="19050" cap="flat" cmpd="sng" algn="ctr">
            <a:solidFill>
              <a:srgbClr val="EC7061"/>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文本框 17"/>
          <p:cNvSpPr txBox="1"/>
          <p:nvPr/>
        </p:nvSpPr>
        <p:spPr bwMode="gray">
          <a:xfrm>
            <a:off x="5338851" y="3483721"/>
            <a:ext cx="1082348" cy="467116"/>
          </a:xfrm>
          <a:prstGeom prst="rect">
            <a:avLst/>
          </a:prstGeom>
          <a:noFill/>
        </p:spPr>
        <p:txBody>
          <a:bodyPr vert="horz" wrap="none" rtlCol="0">
            <a:spAutoFit/>
          </a:bodyPr>
          <a:lstStyle/>
          <a:p>
            <a:pPr defTabSz="914478" fontAlgn="auto">
              <a:lnSpc>
                <a:spcPts val="3440"/>
              </a:lnSpc>
              <a:spcBef>
                <a:spcPts val="0"/>
              </a:spcBef>
              <a:spcAft>
                <a:spcPts val="0"/>
              </a:spcAft>
            </a:pP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知识库</a:t>
            </a:r>
            <a:endPar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文本框 18"/>
          <p:cNvSpPr txBox="1"/>
          <p:nvPr/>
        </p:nvSpPr>
        <p:spPr bwMode="gray">
          <a:xfrm>
            <a:off x="5479170" y="1124872"/>
            <a:ext cx="1005403" cy="338554"/>
          </a:xfrm>
          <a:prstGeom prst="rect">
            <a:avLst/>
          </a:prstGeom>
          <a:noFill/>
        </p:spPr>
        <p:txBody>
          <a:bodyPr vert="horz" wrap="none" rtlCol="0">
            <a:spAutoFit/>
          </a:bodyPr>
          <a:lstStyle/>
          <a:p>
            <a:pPr defTabSz="914478" fontAlgn="auto">
              <a:spcBef>
                <a:spcPts val="0"/>
              </a:spcBef>
              <a:spcAft>
                <a:spcPts val="0"/>
              </a:spcAft>
            </a:pPr>
            <a:r>
              <a:rPr lang="zh-CN" altLang="en-US" sz="16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故障推理</a:t>
            </a:r>
          </a:p>
        </p:txBody>
      </p:sp>
      <p:sp>
        <p:nvSpPr>
          <p:cNvPr id="20" name="文本框 19"/>
          <p:cNvSpPr txBox="1"/>
          <p:nvPr/>
        </p:nvSpPr>
        <p:spPr bwMode="gray">
          <a:xfrm>
            <a:off x="4963112" y="1753828"/>
            <a:ext cx="2241963" cy="1384995"/>
          </a:xfrm>
          <a:prstGeom prst="rect">
            <a:avLst/>
          </a:prstGeom>
          <a:noFill/>
        </p:spPr>
        <p:txBody>
          <a:bodyPr vert="horz" wrap="square" rtlCol="0">
            <a:spAutoFit/>
          </a:bodyPr>
          <a:lstStyle/>
          <a:p>
            <a:pPr marL="171450" indent="-171450" defTabSz="914478" fontAlgn="auto">
              <a:lnSpc>
                <a:spcPct val="150000"/>
              </a:lnSpc>
              <a:spcBef>
                <a:spcPts val="0"/>
              </a:spcBef>
              <a:spcAft>
                <a:spcPts val="0"/>
              </a:spcAft>
              <a:buFont typeface="Wingdings" panose="05000000000000000000" pitchFamily="2" charset="2"/>
              <a:buChar char="l"/>
            </a:pP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精确匹配故障场景</a:t>
            </a:r>
            <a:endPar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defTabSz="914478" fontAlgn="auto">
              <a:lnSpc>
                <a:spcPct val="150000"/>
              </a:lnSpc>
              <a:spcBef>
                <a:spcPts val="0"/>
              </a:spcBef>
              <a:spcAft>
                <a:spcPts val="0"/>
              </a:spcAft>
              <a:buFont typeface="Wingdings" panose="05000000000000000000" pitchFamily="2" charset="2"/>
              <a:buChar char="l"/>
            </a:pP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自动识别故障根因</a:t>
            </a:r>
            <a:endPar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defTabSz="914478" fontAlgn="auto">
              <a:lnSpc>
                <a:spcPct val="150000"/>
              </a:lnSpc>
              <a:spcBef>
                <a:spcPts val="0"/>
              </a:spcBef>
              <a:spcAft>
                <a:spcPts val="0"/>
              </a:spcAft>
              <a:buFont typeface="Wingdings" panose="05000000000000000000" pitchFamily="2" charset="2"/>
              <a:buChar char="l"/>
            </a:pP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给出最合理的修复建议</a:t>
            </a:r>
            <a:endPar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1450" indent="-171450" defTabSz="914478" fontAlgn="auto">
              <a:lnSpc>
                <a:spcPct val="150000"/>
              </a:lnSpc>
              <a:spcBef>
                <a:spcPts val="0"/>
              </a:spcBef>
              <a:spcAft>
                <a:spcPts val="0"/>
              </a:spcAft>
              <a:buFont typeface="Wingdings" panose="05000000000000000000" pitchFamily="2" charset="2"/>
              <a:buChar char="l"/>
            </a:pPr>
            <a:r>
              <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140+</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故障推理规则</a:t>
            </a:r>
            <a:endPar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173"/>
          <p:cNvSpPr>
            <a:spLocks noChangeAspect="1" noEditPoints="1"/>
          </p:cNvSpPr>
          <p:nvPr/>
        </p:nvSpPr>
        <p:spPr bwMode="gray">
          <a:xfrm>
            <a:off x="1248076" y="3897371"/>
            <a:ext cx="569028" cy="518466"/>
          </a:xfrm>
          <a:custGeom>
            <a:avLst/>
            <a:gdLst/>
            <a:ahLst/>
            <a:cxnLst>
              <a:cxn ang="0">
                <a:pos x="8976" y="5808"/>
              </a:cxn>
              <a:cxn ang="0">
                <a:pos x="6336" y="7920"/>
              </a:cxn>
              <a:cxn ang="0">
                <a:pos x="7788" y="13376"/>
              </a:cxn>
              <a:cxn ang="0">
                <a:pos x="8008" y="9636"/>
              </a:cxn>
              <a:cxn ang="0">
                <a:pos x="5720" y="10780"/>
              </a:cxn>
              <a:cxn ang="0">
                <a:pos x="3916" y="12276"/>
              </a:cxn>
              <a:cxn ang="0">
                <a:pos x="4532" y="13376"/>
              </a:cxn>
              <a:cxn ang="0">
                <a:pos x="1804" y="12276"/>
              </a:cxn>
              <a:cxn ang="0">
                <a:pos x="2376" y="10780"/>
              </a:cxn>
              <a:cxn ang="0">
                <a:pos x="0" y="5368"/>
              </a:cxn>
              <a:cxn ang="0">
                <a:pos x="2288" y="9592"/>
              </a:cxn>
              <a:cxn ang="0">
                <a:pos x="3740" y="4268"/>
              </a:cxn>
              <a:cxn ang="0">
                <a:pos x="8712" y="4840"/>
              </a:cxn>
              <a:cxn ang="0">
                <a:pos x="10340" y="5368"/>
              </a:cxn>
              <a:cxn ang="0">
                <a:pos x="12496" y="5808"/>
              </a:cxn>
              <a:cxn ang="0">
                <a:pos x="13640" y="5368"/>
              </a:cxn>
              <a:cxn ang="0">
                <a:pos x="14256" y="3916"/>
              </a:cxn>
              <a:cxn ang="0">
                <a:pos x="13860" y="4972"/>
              </a:cxn>
              <a:cxn ang="0">
                <a:pos x="14124" y="616"/>
              </a:cxn>
              <a:cxn ang="0">
                <a:pos x="14608" y="2376"/>
              </a:cxn>
              <a:cxn ang="0">
                <a:pos x="14960" y="2420"/>
              </a:cxn>
              <a:cxn ang="0">
                <a:pos x="15224" y="2596"/>
              </a:cxn>
              <a:cxn ang="0">
                <a:pos x="15400" y="2860"/>
              </a:cxn>
              <a:cxn ang="0">
                <a:pos x="15444" y="3168"/>
              </a:cxn>
              <a:cxn ang="0">
                <a:pos x="15356" y="3564"/>
              </a:cxn>
              <a:cxn ang="0">
                <a:pos x="15136" y="3828"/>
              </a:cxn>
              <a:cxn ang="0">
                <a:pos x="15840" y="5368"/>
              </a:cxn>
              <a:cxn ang="0">
                <a:pos x="16368" y="5808"/>
              </a:cxn>
              <a:cxn ang="0">
                <a:pos x="16368" y="7216"/>
              </a:cxn>
              <a:cxn ang="0">
                <a:pos x="13860" y="12276"/>
              </a:cxn>
              <a:cxn ang="0">
                <a:pos x="15224" y="13376"/>
              </a:cxn>
              <a:cxn ang="0">
                <a:pos x="10032" y="12276"/>
              </a:cxn>
              <a:cxn ang="0">
                <a:pos x="14476" y="7216"/>
              </a:cxn>
              <a:cxn ang="0">
                <a:pos x="8624" y="5808"/>
              </a:cxn>
              <a:cxn ang="0">
                <a:pos x="5104" y="44"/>
              </a:cxn>
              <a:cxn ang="0">
                <a:pos x="4532" y="264"/>
              </a:cxn>
              <a:cxn ang="0">
                <a:pos x="4092" y="704"/>
              </a:cxn>
              <a:cxn ang="0">
                <a:pos x="3872" y="1276"/>
              </a:cxn>
              <a:cxn ang="0">
                <a:pos x="3872" y="1936"/>
              </a:cxn>
              <a:cxn ang="0">
                <a:pos x="4092" y="2508"/>
              </a:cxn>
              <a:cxn ang="0">
                <a:pos x="4532" y="2904"/>
              </a:cxn>
              <a:cxn ang="0">
                <a:pos x="5104" y="3168"/>
              </a:cxn>
              <a:cxn ang="0">
                <a:pos x="5764" y="3168"/>
              </a:cxn>
              <a:cxn ang="0">
                <a:pos x="6336" y="2904"/>
              </a:cxn>
              <a:cxn ang="0">
                <a:pos x="6776" y="2508"/>
              </a:cxn>
              <a:cxn ang="0">
                <a:pos x="6996" y="1936"/>
              </a:cxn>
              <a:cxn ang="0">
                <a:pos x="6996" y="1276"/>
              </a:cxn>
              <a:cxn ang="0">
                <a:pos x="6776" y="704"/>
              </a:cxn>
              <a:cxn ang="0">
                <a:pos x="6336" y="264"/>
              </a:cxn>
              <a:cxn ang="0">
                <a:pos x="5764" y="44"/>
              </a:cxn>
            </a:cxnLst>
            <a:rect l="0" t="0" r="r" b="b"/>
            <a:pathLst>
              <a:path w="16368" h="13376">
                <a:moveTo>
                  <a:pt x="8624" y="5808"/>
                </a:moveTo>
                <a:lnTo>
                  <a:pt x="8976" y="5808"/>
                </a:lnTo>
                <a:lnTo>
                  <a:pt x="6556" y="5764"/>
                </a:lnTo>
                <a:lnTo>
                  <a:pt x="6336" y="7920"/>
                </a:lnTo>
                <a:lnTo>
                  <a:pt x="9856" y="9064"/>
                </a:lnTo>
                <a:lnTo>
                  <a:pt x="7788" y="13376"/>
                </a:lnTo>
                <a:lnTo>
                  <a:pt x="6644" y="13376"/>
                </a:lnTo>
                <a:lnTo>
                  <a:pt x="8008" y="9636"/>
                </a:lnTo>
                <a:lnTo>
                  <a:pt x="5720" y="9592"/>
                </a:lnTo>
                <a:lnTo>
                  <a:pt x="5720" y="10780"/>
                </a:lnTo>
                <a:lnTo>
                  <a:pt x="3916" y="10780"/>
                </a:lnTo>
                <a:lnTo>
                  <a:pt x="3916" y="12276"/>
                </a:lnTo>
                <a:lnTo>
                  <a:pt x="4532" y="12276"/>
                </a:lnTo>
                <a:lnTo>
                  <a:pt x="4532" y="13376"/>
                </a:lnTo>
                <a:lnTo>
                  <a:pt x="1804" y="13376"/>
                </a:lnTo>
                <a:lnTo>
                  <a:pt x="1804" y="12276"/>
                </a:lnTo>
                <a:lnTo>
                  <a:pt x="2376" y="12276"/>
                </a:lnTo>
                <a:lnTo>
                  <a:pt x="2376" y="10780"/>
                </a:lnTo>
                <a:lnTo>
                  <a:pt x="792" y="10780"/>
                </a:lnTo>
                <a:lnTo>
                  <a:pt x="0" y="5368"/>
                </a:lnTo>
                <a:lnTo>
                  <a:pt x="1672" y="5368"/>
                </a:lnTo>
                <a:lnTo>
                  <a:pt x="2288" y="9592"/>
                </a:lnTo>
                <a:lnTo>
                  <a:pt x="3740" y="9592"/>
                </a:lnTo>
                <a:lnTo>
                  <a:pt x="3740" y="4268"/>
                </a:lnTo>
                <a:lnTo>
                  <a:pt x="3740" y="3608"/>
                </a:lnTo>
                <a:lnTo>
                  <a:pt x="8712" y="4840"/>
                </a:lnTo>
                <a:lnTo>
                  <a:pt x="10295" y="4972"/>
                </a:lnTo>
                <a:lnTo>
                  <a:pt x="10340" y="5368"/>
                </a:lnTo>
                <a:lnTo>
                  <a:pt x="12496" y="5148"/>
                </a:lnTo>
                <a:lnTo>
                  <a:pt x="12496" y="5808"/>
                </a:lnTo>
                <a:lnTo>
                  <a:pt x="13640" y="5808"/>
                </a:lnTo>
                <a:lnTo>
                  <a:pt x="13640" y="5368"/>
                </a:lnTo>
                <a:lnTo>
                  <a:pt x="14256" y="5368"/>
                </a:lnTo>
                <a:lnTo>
                  <a:pt x="14256" y="3916"/>
                </a:lnTo>
                <a:lnTo>
                  <a:pt x="14168" y="3872"/>
                </a:lnTo>
                <a:lnTo>
                  <a:pt x="13860" y="4972"/>
                </a:lnTo>
                <a:lnTo>
                  <a:pt x="13024" y="4752"/>
                </a:lnTo>
                <a:lnTo>
                  <a:pt x="14124" y="616"/>
                </a:lnTo>
                <a:lnTo>
                  <a:pt x="15004" y="880"/>
                </a:lnTo>
                <a:lnTo>
                  <a:pt x="14608" y="2376"/>
                </a:lnTo>
                <a:lnTo>
                  <a:pt x="14784" y="2376"/>
                </a:lnTo>
                <a:lnTo>
                  <a:pt x="14960" y="2420"/>
                </a:lnTo>
                <a:lnTo>
                  <a:pt x="15092" y="2508"/>
                </a:lnTo>
                <a:lnTo>
                  <a:pt x="15224" y="2596"/>
                </a:lnTo>
                <a:lnTo>
                  <a:pt x="15312" y="2728"/>
                </a:lnTo>
                <a:lnTo>
                  <a:pt x="15400" y="2860"/>
                </a:lnTo>
                <a:lnTo>
                  <a:pt x="15444" y="2992"/>
                </a:lnTo>
                <a:lnTo>
                  <a:pt x="15444" y="3168"/>
                </a:lnTo>
                <a:lnTo>
                  <a:pt x="15444" y="3388"/>
                </a:lnTo>
                <a:lnTo>
                  <a:pt x="15356" y="3564"/>
                </a:lnTo>
                <a:lnTo>
                  <a:pt x="15268" y="3696"/>
                </a:lnTo>
                <a:lnTo>
                  <a:pt x="15136" y="3828"/>
                </a:lnTo>
                <a:lnTo>
                  <a:pt x="15136" y="5368"/>
                </a:lnTo>
                <a:lnTo>
                  <a:pt x="15840" y="5368"/>
                </a:lnTo>
                <a:lnTo>
                  <a:pt x="15840" y="5808"/>
                </a:lnTo>
                <a:lnTo>
                  <a:pt x="16368" y="5808"/>
                </a:lnTo>
                <a:lnTo>
                  <a:pt x="16368" y="6687"/>
                </a:lnTo>
                <a:lnTo>
                  <a:pt x="16368" y="7216"/>
                </a:lnTo>
                <a:lnTo>
                  <a:pt x="16148" y="7216"/>
                </a:lnTo>
                <a:lnTo>
                  <a:pt x="13860" y="12276"/>
                </a:lnTo>
                <a:lnTo>
                  <a:pt x="15224" y="12276"/>
                </a:lnTo>
                <a:lnTo>
                  <a:pt x="15224" y="13376"/>
                </a:lnTo>
                <a:lnTo>
                  <a:pt x="10032" y="13376"/>
                </a:lnTo>
                <a:lnTo>
                  <a:pt x="10032" y="12276"/>
                </a:lnTo>
                <a:lnTo>
                  <a:pt x="12188" y="12276"/>
                </a:lnTo>
                <a:lnTo>
                  <a:pt x="14476" y="7216"/>
                </a:lnTo>
                <a:lnTo>
                  <a:pt x="8624" y="7216"/>
                </a:lnTo>
                <a:lnTo>
                  <a:pt x="8624" y="5808"/>
                </a:lnTo>
                <a:close/>
                <a:moveTo>
                  <a:pt x="5412" y="0"/>
                </a:moveTo>
                <a:lnTo>
                  <a:pt x="5104" y="44"/>
                </a:lnTo>
                <a:lnTo>
                  <a:pt x="4796" y="132"/>
                </a:lnTo>
                <a:lnTo>
                  <a:pt x="4532" y="264"/>
                </a:lnTo>
                <a:lnTo>
                  <a:pt x="4312" y="484"/>
                </a:lnTo>
                <a:lnTo>
                  <a:pt x="4092" y="704"/>
                </a:lnTo>
                <a:lnTo>
                  <a:pt x="3960" y="968"/>
                </a:lnTo>
                <a:lnTo>
                  <a:pt x="3872" y="1276"/>
                </a:lnTo>
                <a:lnTo>
                  <a:pt x="3828" y="1584"/>
                </a:lnTo>
                <a:lnTo>
                  <a:pt x="3872" y="1936"/>
                </a:lnTo>
                <a:lnTo>
                  <a:pt x="3960" y="2199"/>
                </a:lnTo>
                <a:lnTo>
                  <a:pt x="4092" y="2508"/>
                </a:lnTo>
                <a:lnTo>
                  <a:pt x="4312" y="2728"/>
                </a:lnTo>
                <a:lnTo>
                  <a:pt x="4532" y="2904"/>
                </a:lnTo>
                <a:lnTo>
                  <a:pt x="4796" y="3080"/>
                </a:lnTo>
                <a:lnTo>
                  <a:pt x="5104" y="3168"/>
                </a:lnTo>
                <a:lnTo>
                  <a:pt x="5412" y="3212"/>
                </a:lnTo>
                <a:lnTo>
                  <a:pt x="5764" y="3168"/>
                </a:lnTo>
                <a:lnTo>
                  <a:pt x="6073" y="3080"/>
                </a:lnTo>
                <a:lnTo>
                  <a:pt x="6336" y="2904"/>
                </a:lnTo>
                <a:lnTo>
                  <a:pt x="6556" y="2728"/>
                </a:lnTo>
                <a:lnTo>
                  <a:pt x="6776" y="2508"/>
                </a:lnTo>
                <a:lnTo>
                  <a:pt x="6908" y="2199"/>
                </a:lnTo>
                <a:lnTo>
                  <a:pt x="6996" y="1936"/>
                </a:lnTo>
                <a:lnTo>
                  <a:pt x="7040" y="1584"/>
                </a:lnTo>
                <a:lnTo>
                  <a:pt x="6996" y="1276"/>
                </a:lnTo>
                <a:lnTo>
                  <a:pt x="6908" y="968"/>
                </a:lnTo>
                <a:lnTo>
                  <a:pt x="6776" y="704"/>
                </a:lnTo>
                <a:lnTo>
                  <a:pt x="6556" y="484"/>
                </a:lnTo>
                <a:lnTo>
                  <a:pt x="6336" y="264"/>
                </a:lnTo>
                <a:lnTo>
                  <a:pt x="6073" y="132"/>
                </a:lnTo>
                <a:lnTo>
                  <a:pt x="5764" y="44"/>
                </a:lnTo>
                <a:lnTo>
                  <a:pt x="5412" y="0"/>
                </a:lnTo>
                <a:close/>
              </a:path>
            </a:pathLst>
          </a:custGeom>
          <a:solidFill>
            <a:srgbClr val="FFFFFF"/>
          </a:solidFill>
          <a:ln w="9525">
            <a:noFill/>
            <a:round/>
            <a:headEnd/>
            <a:tailEnd/>
          </a:ln>
        </p:spPr>
        <p:txBody>
          <a:bodyPr vert="horz" wrap="square" lIns="121944" tIns="60973" rIns="121944" bIns="60973" numCol="1" anchor="t" anchorCtr="0" compatLnSpc="1">
            <a:prstTxWarp prst="textNoShape">
              <a:avLst/>
            </a:prstTxWarp>
          </a:bodyPr>
          <a:lstStyle/>
          <a:p>
            <a:pPr marL="0" marR="0" lvl="0" indent="0" defTabSz="1626047" eaLnBrk="1" fontAlgn="auto" latinLnBrk="0" hangingPunct="1">
              <a:lnSpc>
                <a:spcPct val="100000"/>
              </a:lnSpc>
              <a:spcBef>
                <a:spcPts val="0"/>
              </a:spcBef>
              <a:spcAft>
                <a:spcPts val="0"/>
              </a:spcAft>
              <a:buClrTx/>
              <a:buSzTx/>
              <a:buFontTx/>
              <a:buNone/>
              <a:tabLst/>
              <a:defRPr/>
            </a:pPr>
            <a:endParaRPr kumimoji="0" lang="zh-CN" altLang="en-US" sz="1467"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文本框 21"/>
          <p:cNvSpPr txBox="1"/>
          <p:nvPr/>
        </p:nvSpPr>
        <p:spPr bwMode="gray">
          <a:xfrm>
            <a:off x="1898948" y="3887944"/>
            <a:ext cx="1681894" cy="523220"/>
          </a:xfrm>
          <a:prstGeom prst="rect">
            <a:avLst/>
          </a:prstGeom>
          <a:noFill/>
        </p:spPr>
        <p:txBody>
          <a:bodyPr vert="horz" wrap="square" rtlCol="0">
            <a:spAutoFit/>
          </a:bodyPr>
          <a:lstStyle/>
          <a:p>
            <a:pPr defTabSz="914478" fontAlgn="auto">
              <a:spcBef>
                <a:spcPts val="0"/>
              </a:spcBef>
              <a:spcAft>
                <a:spcPts val="0"/>
              </a:spcAft>
            </a:pPr>
            <a:r>
              <a:rPr lang="zh-CN" altLang="en-US" sz="1400" dirty="0" smtClean="0">
                <a:solidFill>
                  <a:srgbClr val="FFFFFF"/>
                </a:solidFill>
                <a:latin typeface="Huawei Sans" panose="020C0503030203020204" pitchFamily="34" charset="0"/>
                <a:ea typeface="方正兰亭黑简体" panose="02000000000000000000" pitchFamily="2" charset="-122"/>
                <a:cs typeface="+mn-ea"/>
                <a:sym typeface="Huawei Sans" panose="020C0503030203020204" pitchFamily="34" charset="0"/>
              </a:rPr>
              <a:t>华为工程师长期运维专家经验</a:t>
            </a:r>
          </a:p>
        </p:txBody>
      </p:sp>
      <p:sp>
        <p:nvSpPr>
          <p:cNvPr id="23" name="文本框 22"/>
          <p:cNvSpPr txBox="1"/>
          <p:nvPr/>
        </p:nvSpPr>
        <p:spPr bwMode="gray">
          <a:xfrm>
            <a:off x="1915519" y="4850618"/>
            <a:ext cx="1681894" cy="523220"/>
          </a:xfrm>
          <a:prstGeom prst="rect">
            <a:avLst/>
          </a:prstGeom>
          <a:noFill/>
        </p:spPr>
        <p:txBody>
          <a:bodyPr vert="horz" wrap="square" rtlCol="0">
            <a:spAutoFit/>
          </a:bodyPr>
          <a:lstStyle/>
          <a:p>
            <a:pPr defTabSz="914478" fontAlgn="auto">
              <a:spcBef>
                <a:spcPts val="0"/>
              </a:spcBef>
              <a:spcAft>
                <a:spcPts val="0"/>
              </a:spcAft>
            </a:pPr>
            <a:r>
              <a:rPr lang="zh-CN" altLang="en-US" sz="1400" dirty="0" smtClean="0">
                <a:solidFill>
                  <a:srgbClr val="FFFFFF"/>
                </a:solidFill>
                <a:latin typeface="Huawei Sans" panose="020C0503030203020204" pitchFamily="34" charset="0"/>
                <a:ea typeface="方正兰亭黑简体" panose="02000000000000000000" pitchFamily="2" charset="-122"/>
                <a:cs typeface="+mn-ea"/>
                <a:sym typeface="Huawei Sans" panose="020C0503030203020204" pitchFamily="34" charset="0"/>
              </a:rPr>
              <a:t>真实局点故障问题持续学习提炼</a:t>
            </a:r>
          </a:p>
        </p:txBody>
      </p:sp>
      <p:cxnSp>
        <p:nvCxnSpPr>
          <p:cNvPr id="24" name="直接箭头连接符 23"/>
          <p:cNvCxnSpPr>
            <a:stCxn id="4" idx="3"/>
          </p:cNvCxnSpPr>
          <p:nvPr/>
        </p:nvCxnSpPr>
        <p:spPr bwMode="gray">
          <a:xfrm>
            <a:off x="3832545" y="4136191"/>
            <a:ext cx="786428" cy="0"/>
          </a:xfrm>
          <a:prstGeom prst="straightConnector1">
            <a:avLst/>
          </a:prstGeom>
          <a:noFill/>
          <a:ln w="57150" cap="flat" cmpd="sng" algn="ctr">
            <a:solidFill>
              <a:srgbClr val="30B5C5"/>
            </a:solidFill>
            <a:prstDash val="solid"/>
            <a:miter lim="800000"/>
            <a:headEnd type="none" w="med" len="med"/>
            <a:tailEnd type="triangle" w="med" len="med"/>
          </a:ln>
          <a:effectLst/>
        </p:spPr>
      </p:cxnSp>
      <p:cxnSp>
        <p:nvCxnSpPr>
          <p:cNvPr id="25" name="直接箭头连接符 24"/>
          <p:cNvCxnSpPr>
            <a:stCxn id="3" idx="3"/>
          </p:cNvCxnSpPr>
          <p:nvPr/>
        </p:nvCxnSpPr>
        <p:spPr bwMode="gray">
          <a:xfrm>
            <a:off x="3832545" y="5100346"/>
            <a:ext cx="786428" cy="0"/>
          </a:xfrm>
          <a:prstGeom prst="straightConnector1">
            <a:avLst/>
          </a:prstGeom>
          <a:noFill/>
          <a:ln w="57150" cap="flat" cmpd="sng" algn="ctr">
            <a:solidFill>
              <a:srgbClr val="ED6D00"/>
            </a:solidFill>
            <a:prstDash val="solid"/>
            <a:miter lim="800000"/>
            <a:headEnd type="none" w="med" len="med"/>
            <a:tailEnd type="triangle" w="med" len="med"/>
          </a:ln>
          <a:effectLst/>
        </p:spPr>
      </p:cxnSp>
      <p:sp>
        <p:nvSpPr>
          <p:cNvPr id="26" name="矩形 25"/>
          <p:cNvSpPr/>
          <p:nvPr/>
        </p:nvSpPr>
        <p:spPr bwMode="gray">
          <a:xfrm>
            <a:off x="8805058" y="1556320"/>
            <a:ext cx="2301415" cy="459090"/>
          </a:xfrm>
          <a:prstGeom prst="rect">
            <a:avLst/>
          </a:prstGeom>
          <a:solidFill>
            <a:srgbClr val="D7F2F5"/>
          </a:solidFill>
          <a:ln>
            <a:noFill/>
          </a:ln>
        </p:spPr>
        <p:txBody>
          <a:bodyPr wrap="none" lIns="36000" tIns="36000" rIns="36000" bIns="36000" rtlCol="0" anchor="ctr" anchorCtr="1">
            <a:noAutofit/>
          </a:bodyPr>
          <a:lstStyle/>
          <a:p>
            <a:pPr marL="0" marR="0" lvl="0" indent="0" defTabSz="914478" eaLnBrk="1" fontAlgn="auto" latinLnBrk="0" hangingPunct="1">
              <a:lnSpc>
                <a:spcPct val="100000"/>
              </a:lnSpc>
              <a:spcBef>
                <a:spcPts val="0"/>
              </a:spcBef>
              <a:spcAft>
                <a:spcPts val="0"/>
              </a:spcAft>
              <a:buClr>
                <a:srgbClr val="CC9900"/>
              </a:buClr>
              <a:buSzTx/>
              <a:buFontTx/>
              <a:buNone/>
              <a:tabLst/>
              <a:defRPr/>
            </a:pPr>
            <a:r>
              <a:rPr lang="zh-CN" altLang="en-US" sz="1400" b="1" kern="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现象：</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用户在认证阶段接入失败</a:t>
            </a:r>
            <a:endParaRPr kumimoji="0" 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bwMode="gray">
          <a:xfrm>
            <a:off x="8813692" y="2177672"/>
            <a:ext cx="2301414" cy="412226"/>
          </a:xfrm>
          <a:prstGeom prst="rect">
            <a:avLst/>
          </a:prstGeom>
          <a:solidFill>
            <a:srgbClr val="D7F2F5"/>
          </a:solidFill>
          <a:ln>
            <a:noFill/>
          </a:ln>
        </p:spPr>
        <p:txBody>
          <a:bodyPr wrap="square" lIns="36000" tIns="36000" rIns="36000" bIns="36000" rtlCol="0" anchor="ctr" anchorCtr="1">
            <a:noAutofit/>
          </a:bodyPr>
          <a:lstStyle/>
          <a:p>
            <a:pPr>
              <a:buClr>
                <a:srgbClr val="CC9900"/>
              </a:buClr>
            </a:pPr>
            <a:r>
              <a:rPr lang="zh-CN" altLang="en-US"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认证</a:t>
            </a:r>
            <a:r>
              <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方式</a:t>
            </a:r>
            <a:r>
              <a:rPr lang="zh-CN" altLang="en-US" sz="1200" kern="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是</a:t>
            </a:r>
            <a:r>
              <a:rPr lang="en-US" altLang="zh-CN" sz="1200" kern="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802.1X</a:t>
            </a:r>
            <a:r>
              <a:rPr lang="zh-CN" altLang="en-US" sz="1200" kern="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认证</a:t>
            </a:r>
            <a:endParaRPr lang="en-US"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bwMode="gray">
          <a:xfrm>
            <a:off x="8815492" y="2784827"/>
            <a:ext cx="2299614" cy="468138"/>
          </a:xfrm>
          <a:prstGeom prst="rect">
            <a:avLst/>
          </a:prstGeom>
          <a:solidFill>
            <a:srgbClr val="D7F2F5"/>
          </a:solidFill>
          <a:ln>
            <a:noFill/>
          </a:ln>
        </p:spPr>
        <p:txBody>
          <a:bodyPr wrap="square" lIns="36000" tIns="36000" rIns="36000" bIns="36000" rtlCol="0" anchor="ctr" anchorCtr="1">
            <a:noAutofit/>
          </a:bodyPr>
          <a:lstStyle/>
          <a:p>
            <a:pPr marL="0" marR="0" lvl="0" indent="0" defTabSz="914478" eaLnBrk="1" fontAlgn="auto" latinLnBrk="0" hangingPunct="1">
              <a:lnSpc>
                <a:spcPct val="100000"/>
              </a:lnSpc>
              <a:spcBef>
                <a:spcPts val="0"/>
              </a:spcBef>
              <a:spcAft>
                <a:spcPts val="0"/>
              </a:spcAft>
              <a:buClr>
                <a:srgbClr val="CC9900"/>
              </a:buClr>
              <a:buSzTx/>
              <a:buFontTx/>
              <a:buNone/>
              <a:tabLst/>
              <a:defRPr/>
            </a:pP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协议交互最后一条报文是</a:t>
            </a:r>
            <a:r>
              <a:rPr kumimoji="0" lang="en-US" altLang="zh-CN"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EAP-Failure</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报文</a:t>
            </a:r>
            <a:endParaRPr kumimoji="0" 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矩形 28"/>
          <p:cNvSpPr/>
          <p:nvPr/>
        </p:nvSpPr>
        <p:spPr bwMode="gray">
          <a:xfrm>
            <a:off x="8810850" y="3442193"/>
            <a:ext cx="2304255" cy="468138"/>
          </a:xfrm>
          <a:prstGeom prst="rect">
            <a:avLst/>
          </a:prstGeom>
          <a:solidFill>
            <a:srgbClr val="D7F2F5"/>
          </a:solidFill>
          <a:ln>
            <a:noFill/>
          </a:ln>
        </p:spPr>
        <p:txBody>
          <a:bodyPr wrap="square" lIns="36000" tIns="36000" rIns="36000" bIns="36000" rtlCol="0" anchor="ctr" anchorCtr="1">
            <a:noAutofit/>
          </a:bodyPr>
          <a:lstStyle/>
          <a:p>
            <a:pPr>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EAP-Failure</a:t>
            </a:r>
            <a:r>
              <a:rPr lang="zh-CN" altLang="en-US"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报文前一</a:t>
            </a:r>
            <a:r>
              <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条报文的转发方向是从终端到</a:t>
            </a:r>
            <a:r>
              <a:rPr lang="en-US" altLang="zh-CN"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en-US" sz="1200" kern="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gray">
          <a:xfrm>
            <a:off x="8810850" y="4114718"/>
            <a:ext cx="2304255" cy="468138"/>
          </a:xfrm>
          <a:prstGeom prst="rect">
            <a:avLst/>
          </a:prstGeom>
          <a:solidFill>
            <a:srgbClr val="D7F2F5"/>
          </a:solidFill>
          <a:ln>
            <a:noFill/>
          </a:ln>
        </p:spPr>
        <p:txBody>
          <a:bodyPr wrap="square" lIns="36000" tIns="36000" rIns="36000" bIns="36000" rtlCol="0" anchor="ctr" anchorCtr="1">
            <a:noAutofit/>
          </a:bodyPr>
          <a:lstStyle/>
          <a:p>
            <a:pPr marL="0" marR="0" lvl="0" indent="0" defTabSz="914478" eaLnBrk="1" fontAlgn="auto" latinLnBrk="0" hangingPunct="1">
              <a:lnSpc>
                <a:spcPct val="100000"/>
              </a:lnSpc>
              <a:spcBef>
                <a:spcPts val="0"/>
              </a:spcBef>
              <a:spcAft>
                <a:spcPts val="0"/>
              </a:spcAft>
              <a:buClr>
                <a:srgbClr val="CC9900"/>
              </a:buClr>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EAP-Failure</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报文和前一条报文消息间隔</a:t>
            </a:r>
            <a:r>
              <a:rPr kumimoji="0" lang="en-US" altLang="zh-CN"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&lt;2</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秒</a:t>
            </a:r>
            <a:endParaRPr kumimoji="0" 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8810851" y="4818970"/>
            <a:ext cx="2304256" cy="468138"/>
          </a:xfrm>
          <a:prstGeom prst="rect">
            <a:avLst/>
          </a:prstGeom>
          <a:solidFill>
            <a:srgbClr val="D7F2F5"/>
          </a:solidFill>
          <a:ln>
            <a:noFill/>
          </a:ln>
        </p:spPr>
        <p:txBody>
          <a:bodyPr wrap="square" lIns="36000" tIns="36000" rIns="36000" bIns="36000" rtlCol="0" anchor="ctr" anchorCtr="1">
            <a:noAutofit/>
          </a:bodyPr>
          <a:lstStyle/>
          <a:p>
            <a:pPr marL="0" marR="0" lvl="0" indent="0" defTabSz="914478" eaLnBrk="1" fontAlgn="auto" latinLnBrk="0" hangingPunct="1">
              <a:lnSpc>
                <a:spcPct val="100000"/>
              </a:lnSpc>
              <a:spcBef>
                <a:spcPts val="0"/>
              </a:spcBef>
              <a:spcAft>
                <a:spcPts val="0"/>
              </a:spcAft>
              <a:buClr>
                <a:srgbClr val="CC9900"/>
              </a:buClr>
              <a:buSzTx/>
              <a:buFontTx/>
              <a:buNone/>
              <a:tabLst/>
              <a:defRPr/>
            </a:pPr>
            <a:r>
              <a:rPr kumimoji="0" lang="zh-CN" altLang="en-US" sz="14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失败原因：</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用户名</a:t>
            </a:r>
            <a:r>
              <a:rPr kumimoji="0" lang="en-US" altLang="zh-CN"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密码错误或证书问题导致认证服务器拒绝</a:t>
            </a:r>
            <a:endParaRPr kumimoji="0" 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矩形 31"/>
          <p:cNvSpPr/>
          <p:nvPr/>
        </p:nvSpPr>
        <p:spPr bwMode="gray">
          <a:xfrm>
            <a:off x="8810850" y="5502388"/>
            <a:ext cx="2295623" cy="468138"/>
          </a:xfrm>
          <a:prstGeom prst="rect">
            <a:avLst/>
          </a:prstGeom>
          <a:solidFill>
            <a:srgbClr val="D7F2F5"/>
          </a:solidFill>
          <a:ln>
            <a:noFill/>
          </a:ln>
        </p:spPr>
        <p:txBody>
          <a:bodyPr wrap="square" lIns="36000" tIns="36000" rIns="36000" bIns="36000" rtlCol="0" anchor="ctr" anchorCtr="1">
            <a:noAutofit/>
          </a:bodyPr>
          <a:lstStyle/>
          <a:p>
            <a:pPr marL="0" marR="0" lvl="0" indent="0" defTabSz="914478" eaLnBrk="1" fontAlgn="auto" latinLnBrk="0" hangingPunct="1">
              <a:lnSpc>
                <a:spcPct val="100000"/>
              </a:lnSpc>
              <a:spcBef>
                <a:spcPts val="0"/>
              </a:spcBef>
              <a:spcAft>
                <a:spcPts val="0"/>
              </a:spcAft>
              <a:buClr>
                <a:srgbClr val="CC9900"/>
              </a:buClr>
              <a:buSzTx/>
              <a:buFontTx/>
              <a:buNone/>
              <a:tabLst/>
              <a:defRPr/>
            </a:pPr>
            <a:r>
              <a:rPr kumimoji="0" lang="zh-CN" altLang="en-US" sz="14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修复建议：</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检查终端用户名</a:t>
            </a:r>
            <a:r>
              <a:rPr kumimoji="0" lang="en-US" altLang="zh-CN"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密码是否正确，证书是否安装正确</a:t>
            </a:r>
            <a:endParaRPr kumimoji="0" 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3" name="直接箭头连接符 32"/>
          <p:cNvCxnSpPr>
            <a:stCxn id="26" idx="2"/>
            <a:endCxn id="27" idx="0"/>
          </p:cNvCxnSpPr>
          <p:nvPr/>
        </p:nvCxnSpPr>
        <p:spPr bwMode="gray">
          <a:xfrm>
            <a:off x="9955766" y="2015410"/>
            <a:ext cx="8633" cy="162262"/>
          </a:xfrm>
          <a:prstGeom prst="straightConnector1">
            <a:avLst/>
          </a:prstGeom>
          <a:noFill/>
          <a:ln w="6350" cap="flat" cmpd="sng" algn="ctr">
            <a:solidFill>
              <a:srgbClr val="1D1D1A"/>
            </a:solidFill>
            <a:prstDash val="solid"/>
            <a:miter lim="800000"/>
            <a:tailEnd type="triangle"/>
          </a:ln>
          <a:effectLst/>
        </p:spPr>
      </p:cxnSp>
      <p:cxnSp>
        <p:nvCxnSpPr>
          <p:cNvPr id="34" name="直接箭头连接符 33"/>
          <p:cNvCxnSpPr>
            <a:stCxn id="27" idx="2"/>
            <a:endCxn id="28" idx="0"/>
          </p:cNvCxnSpPr>
          <p:nvPr/>
        </p:nvCxnSpPr>
        <p:spPr bwMode="gray">
          <a:xfrm>
            <a:off x="9964399" y="2589898"/>
            <a:ext cx="900" cy="194929"/>
          </a:xfrm>
          <a:prstGeom prst="straightConnector1">
            <a:avLst/>
          </a:prstGeom>
          <a:noFill/>
          <a:ln w="6350" cap="flat" cmpd="sng" algn="ctr">
            <a:solidFill>
              <a:srgbClr val="1D1D1A"/>
            </a:solidFill>
            <a:prstDash val="solid"/>
            <a:miter lim="800000"/>
            <a:tailEnd type="triangle"/>
          </a:ln>
          <a:effectLst/>
        </p:spPr>
      </p:cxnSp>
      <p:cxnSp>
        <p:nvCxnSpPr>
          <p:cNvPr id="35" name="直接箭头连接符 34"/>
          <p:cNvCxnSpPr>
            <a:stCxn id="28" idx="2"/>
            <a:endCxn id="29" idx="0"/>
          </p:cNvCxnSpPr>
          <p:nvPr/>
        </p:nvCxnSpPr>
        <p:spPr bwMode="gray">
          <a:xfrm flipH="1">
            <a:off x="9962978" y="3252965"/>
            <a:ext cx="2321" cy="189228"/>
          </a:xfrm>
          <a:prstGeom prst="straightConnector1">
            <a:avLst/>
          </a:prstGeom>
          <a:noFill/>
          <a:ln w="6350" cap="flat" cmpd="sng" algn="ctr">
            <a:solidFill>
              <a:srgbClr val="1D1D1A"/>
            </a:solidFill>
            <a:prstDash val="solid"/>
            <a:miter lim="800000"/>
            <a:tailEnd type="triangle"/>
          </a:ln>
          <a:effectLst/>
        </p:spPr>
      </p:cxnSp>
      <p:cxnSp>
        <p:nvCxnSpPr>
          <p:cNvPr id="36" name="直接箭头连接符 35"/>
          <p:cNvCxnSpPr>
            <a:stCxn id="29" idx="2"/>
            <a:endCxn id="30" idx="0"/>
          </p:cNvCxnSpPr>
          <p:nvPr/>
        </p:nvCxnSpPr>
        <p:spPr bwMode="gray">
          <a:xfrm>
            <a:off x="9962978" y="3910331"/>
            <a:ext cx="0" cy="204387"/>
          </a:xfrm>
          <a:prstGeom prst="straightConnector1">
            <a:avLst/>
          </a:prstGeom>
          <a:noFill/>
          <a:ln w="6350" cap="flat" cmpd="sng" algn="ctr">
            <a:solidFill>
              <a:srgbClr val="1D1D1A"/>
            </a:solidFill>
            <a:prstDash val="solid"/>
            <a:miter lim="800000"/>
            <a:tailEnd type="triangle"/>
          </a:ln>
          <a:effectLst/>
        </p:spPr>
      </p:cxnSp>
      <p:cxnSp>
        <p:nvCxnSpPr>
          <p:cNvPr id="37" name="直接箭头连接符 36"/>
          <p:cNvCxnSpPr>
            <a:stCxn id="30" idx="2"/>
            <a:endCxn id="31" idx="0"/>
          </p:cNvCxnSpPr>
          <p:nvPr/>
        </p:nvCxnSpPr>
        <p:spPr bwMode="gray">
          <a:xfrm>
            <a:off x="9962978" y="4582856"/>
            <a:ext cx="1" cy="236114"/>
          </a:xfrm>
          <a:prstGeom prst="straightConnector1">
            <a:avLst/>
          </a:prstGeom>
          <a:noFill/>
          <a:ln w="6350" cap="flat" cmpd="sng" algn="ctr">
            <a:solidFill>
              <a:srgbClr val="1D1D1A"/>
            </a:solidFill>
            <a:prstDash val="solid"/>
            <a:miter lim="800000"/>
            <a:tailEnd type="triangle"/>
          </a:ln>
          <a:effectLst/>
        </p:spPr>
      </p:cxnSp>
      <p:cxnSp>
        <p:nvCxnSpPr>
          <p:cNvPr id="38" name="直接箭头连接符 37"/>
          <p:cNvCxnSpPr>
            <a:stCxn id="31" idx="2"/>
            <a:endCxn id="32" idx="0"/>
          </p:cNvCxnSpPr>
          <p:nvPr/>
        </p:nvCxnSpPr>
        <p:spPr bwMode="gray">
          <a:xfrm flipH="1">
            <a:off x="9958662" y="5287108"/>
            <a:ext cx="4317" cy="215280"/>
          </a:xfrm>
          <a:prstGeom prst="straightConnector1">
            <a:avLst/>
          </a:prstGeom>
          <a:noFill/>
          <a:ln w="6350" cap="flat" cmpd="sng" algn="ctr">
            <a:solidFill>
              <a:srgbClr val="1D1D1A"/>
            </a:solidFill>
            <a:prstDash val="solid"/>
            <a:miter lim="800000"/>
            <a:tailEnd type="triangle"/>
          </a:ln>
          <a:effectLst/>
        </p:spPr>
      </p:cxnSp>
      <p:sp>
        <p:nvSpPr>
          <p:cNvPr id="39" name="文本框 38"/>
          <p:cNvSpPr txBox="1"/>
          <p:nvPr/>
        </p:nvSpPr>
        <p:spPr bwMode="gray">
          <a:xfrm>
            <a:off x="1169130" y="2141402"/>
            <a:ext cx="1011815" cy="338554"/>
          </a:xfrm>
          <a:prstGeom prst="rect">
            <a:avLst/>
          </a:prstGeom>
          <a:noFill/>
        </p:spPr>
        <p:txBody>
          <a:bodyPr wrap="none" rtlCol="0">
            <a:spAutoFit/>
          </a:bodyPr>
          <a:lstStyle/>
          <a:p>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发生故障</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文本框 39"/>
          <p:cNvSpPr txBox="1"/>
          <p:nvPr/>
        </p:nvSpPr>
        <p:spPr bwMode="gray">
          <a:xfrm>
            <a:off x="2647608" y="2339657"/>
            <a:ext cx="1002197" cy="523220"/>
          </a:xfrm>
          <a:prstGeom prst="rect">
            <a:avLst/>
          </a:prstGeom>
          <a:noFill/>
        </p:spPr>
        <p:txBody>
          <a:bodyPr vert="horz" wrap="none" rtlCol="0">
            <a:spAutoFit/>
          </a:bodyPr>
          <a:lstStyle/>
          <a:p>
            <a:pPr algn="ctr" defTabSz="914478" fontAlgn="auto">
              <a:spcBef>
                <a:spcPts val="0"/>
              </a:spcBef>
              <a:spcAft>
                <a:spcPts val="0"/>
              </a:spcAft>
            </a:pPr>
            <a:r>
              <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p>
          <a:p>
            <a:pPr algn="ctr" defTabSz="914478" fontAlgn="auto">
              <a:spcBef>
                <a:spcPts val="0"/>
              </a:spcBef>
              <a:spcAft>
                <a:spcPts val="0"/>
              </a:spcAft>
            </a:pPr>
            <a:r>
              <a:rPr lang="en-US" altLang="zh-CN"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Syslog</a:t>
            </a:r>
            <a:endPar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bwMode="gray">
          <a:xfrm>
            <a:off x="2647608" y="1922754"/>
            <a:ext cx="1011815" cy="338554"/>
          </a:xfrm>
          <a:prstGeom prst="rect">
            <a:avLst/>
          </a:prstGeom>
          <a:noFill/>
        </p:spPr>
        <p:txBody>
          <a:bodyPr wrap="none" rtlCol="0">
            <a:spAutoFit/>
          </a:bodyPr>
          <a:lstStyle/>
          <a:p>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数据采集</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41"/>
          <p:cNvSpPr txBox="1"/>
          <p:nvPr/>
        </p:nvSpPr>
        <p:spPr bwMode="gray">
          <a:xfrm>
            <a:off x="7588498" y="3134410"/>
            <a:ext cx="1011815" cy="338554"/>
          </a:xfrm>
          <a:prstGeom prst="rect">
            <a:avLst/>
          </a:prstGeom>
          <a:noFill/>
        </p:spPr>
        <p:txBody>
          <a:bodyPr wrap="none" rtlCol="0">
            <a:spAutoFit/>
          </a:bodyPr>
          <a:lstStyle/>
          <a:p>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规则</a:t>
            </a:r>
            <a:r>
              <a:rPr lang="zh-CN" altLang="en-US" sz="16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匹配</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Freeform 19"/>
          <p:cNvSpPr>
            <a:spLocks noEditPoints="1"/>
          </p:cNvSpPr>
          <p:nvPr/>
        </p:nvSpPr>
        <p:spPr bwMode="gray">
          <a:xfrm>
            <a:off x="1298737" y="4850618"/>
            <a:ext cx="425980" cy="437676"/>
          </a:xfrm>
          <a:custGeom>
            <a:avLst/>
            <a:gdLst>
              <a:gd name="T0" fmla="*/ 37 w 557"/>
              <a:gd name="T1" fmla="*/ 45 h 550"/>
              <a:gd name="T2" fmla="*/ 224 w 557"/>
              <a:gd name="T3" fmla="*/ 0 h 550"/>
              <a:gd name="T4" fmla="*/ 262 w 557"/>
              <a:gd name="T5" fmla="*/ 59 h 550"/>
              <a:gd name="T6" fmla="*/ 101 w 557"/>
              <a:gd name="T7" fmla="*/ 550 h 550"/>
              <a:gd name="T8" fmla="*/ 35 w 557"/>
              <a:gd name="T9" fmla="*/ 446 h 550"/>
              <a:gd name="T10" fmla="*/ 0 w 557"/>
              <a:gd name="T11" fmla="*/ 550 h 550"/>
              <a:gd name="T12" fmla="*/ 262 w 557"/>
              <a:gd name="T13" fmla="*/ 59 h 550"/>
              <a:gd name="T14" fmla="*/ 35 w 557"/>
              <a:gd name="T15" fmla="*/ 320 h 550"/>
              <a:gd name="T16" fmla="*/ 106 w 557"/>
              <a:gd name="T17" fmla="*/ 372 h 550"/>
              <a:gd name="T18" fmla="*/ 106 w 557"/>
              <a:gd name="T19" fmla="*/ 244 h 550"/>
              <a:gd name="T20" fmla="*/ 35 w 557"/>
              <a:gd name="T21" fmla="*/ 294 h 550"/>
              <a:gd name="T22" fmla="*/ 106 w 557"/>
              <a:gd name="T23" fmla="*/ 244 h 550"/>
              <a:gd name="T24" fmla="*/ 35 w 557"/>
              <a:gd name="T25" fmla="*/ 166 h 550"/>
              <a:gd name="T26" fmla="*/ 106 w 557"/>
              <a:gd name="T27" fmla="*/ 216 h 550"/>
              <a:gd name="T28" fmla="*/ 106 w 557"/>
              <a:gd name="T29" fmla="*/ 88 h 550"/>
              <a:gd name="T30" fmla="*/ 35 w 557"/>
              <a:gd name="T31" fmla="*/ 138 h 550"/>
              <a:gd name="T32" fmla="*/ 106 w 557"/>
              <a:gd name="T33" fmla="*/ 88 h 550"/>
              <a:gd name="T34" fmla="*/ 156 w 557"/>
              <a:gd name="T35" fmla="*/ 320 h 550"/>
              <a:gd name="T36" fmla="*/ 226 w 557"/>
              <a:gd name="T37" fmla="*/ 372 h 550"/>
              <a:gd name="T38" fmla="*/ 226 w 557"/>
              <a:gd name="T39" fmla="*/ 244 h 550"/>
              <a:gd name="T40" fmla="*/ 156 w 557"/>
              <a:gd name="T41" fmla="*/ 294 h 550"/>
              <a:gd name="T42" fmla="*/ 226 w 557"/>
              <a:gd name="T43" fmla="*/ 244 h 550"/>
              <a:gd name="T44" fmla="*/ 156 w 557"/>
              <a:gd name="T45" fmla="*/ 166 h 550"/>
              <a:gd name="T46" fmla="*/ 226 w 557"/>
              <a:gd name="T47" fmla="*/ 216 h 550"/>
              <a:gd name="T48" fmla="*/ 226 w 557"/>
              <a:gd name="T49" fmla="*/ 88 h 550"/>
              <a:gd name="T50" fmla="*/ 156 w 557"/>
              <a:gd name="T51" fmla="*/ 138 h 550"/>
              <a:gd name="T52" fmla="*/ 226 w 557"/>
              <a:gd name="T53" fmla="*/ 88 h 550"/>
              <a:gd name="T54" fmla="*/ 335 w 557"/>
              <a:gd name="T55" fmla="*/ 145 h 550"/>
              <a:gd name="T56" fmla="*/ 520 w 557"/>
              <a:gd name="T57" fmla="*/ 190 h 550"/>
              <a:gd name="T58" fmla="*/ 557 w 557"/>
              <a:gd name="T59" fmla="*/ 204 h 550"/>
              <a:gd name="T60" fmla="*/ 397 w 557"/>
              <a:gd name="T61" fmla="*/ 550 h 550"/>
              <a:gd name="T62" fmla="*/ 330 w 557"/>
              <a:gd name="T63" fmla="*/ 446 h 550"/>
              <a:gd name="T64" fmla="*/ 297 w 557"/>
              <a:gd name="T65" fmla="*/ 550 h 550"/>
              <a:gd name="T66" fmla="*/ 557 w 557"/>
              <a:gd name="T67" fmla="*/ 204 h 550"/>
              <a:gd name="T68" fmla="*/ 333 w 557"/>
              <a:gd name="T69" fmla="*/ 320 h 550"/>
              <a:gd name="T70" fmla="*/ 401 w 557"/>
              <a:gd name="T71" fmla="*/ 372 h 550"/>
              <a:gd name="T72" fmla="*/ 401 w 557"/>
              <a:gd name="T73" fmla="*/ 244 h 550"/>
              <a:gd name="T74" fmla="*/ 333 w 557"/>
              <a:gd name="T75" fmla="*/ 294 h 550"/>
              <a:gd name="T76" fmla="*/ 401 w 557"/>
              <a:gd name="T77" fmla="*/ 244 h 550"/>
              <a:gd name="T78" fmla="*/ 451 w 557"/>
              <a:gd name="T79" fmla="*/ 320 h 550"/>
              <a:gd name="T80" fmla="*/ 522 w 557"/>
              <a:gd name="T81" fmla="*/ 372 h 550"/>
              <a:gd name="T82" fmla="*/ 522 w 557"/>
              <a:gd name="T83" fmla="*/ 244 h 550"/>
              <a:gd name="T84" fmla="*/ 451 w 557"/>
              <a:gd name="T85" fmla="*/ 294 h 550"/>
              <a:gd name="T86" fmla="*/ 522 w 557"/>
              <a:gd name="T87" fmla="*/ 24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7" h="550">
                <a:moveTo>
                  <a:pt x="224" y="45"/>
                </a:moveTo>
                <a:lnTo>
                  <a:pt x="37" y="45"/>
                </a:lnTo>
                <a:lnTo>
                  <a:pt x="37" y="0"/>
                </a:lnTo>
                <a:lnTo>
                  <a:pt x="224" y="0"/>
                </a:lnTo>
                <a:lnTo>
                  <a:pt x="224" y="45"/>
                </a:lnTo>
                <a:close/>
                <a:moveTo>
                  <a:pt x="262" y="59"/>
                </a:moveTo>
                <a:lnTo>
                  <a:pt x="262" y="550"/>
                </a:lnTo>
                <a:lnTo>
                  <a:pt x="101" y="550"/>
                </a:lnTo>
                <a:lnTo>
                  <a:pt x="101" y="446"/>
                </a:lnTo>
                <a:lnTo>
                  <a:pt x="35" y="446"/>
                </a:lnTo>
                <a:lnTo>
                  <a:pt x="35" y="550"/>
                </a:lnTo>
                <a:lnTo>
                  <a:pt x="0" y="550"/>
                </a:lnTo>
                <a:lnTo>
                  <a:pt x="0" y="59"/>
                </a:lnTo>
                <a:lnTo>
                  <a:pt x="262" y="59"/>
                </a:lnTo>
                <a:close/>
                <a:moveTo>
                  <a:pt x="106" y="320"/>
                </a:moveTo>
                <a:lnTo>
                  <a:pt x="35" y="320"/>
                </a:lnTo>
                <a:lnTo>
                  <a:pt x="35" y="372"/>
                </a:lnTo>
                <a:lnTo>
                  <a:pt x="106" y="372"/>
                </a:lnTo>
                <a:lnTo>
                  <a:pt x="106" y="320"/>
                </a:lnTo>
                <a:close/>
                <a:moveTo>
                  <a:pt x="106" y="244"/>
                </a:moveTo>
                <a:lnTo>
                  <a:pt x="35" y="244"/>
                </a:lnTo>
                <a:lnTo>
                  <a:pt x="35" y="294"/>
                </a:lnTo>
                <a:lnTo>
                  <a:pt x="106" y="294"/>
                </a:lnTo>
                <a:lnTo>
                  <a:pt x="106" y="244"/>
                </a:lnTo>
                <a:close/>
                <a:moveTo>
                  <a:pt x="106" y="166"/>
                </a:moveTo>
                <a:lnTo>
                  <a:pt x="35" y="166"/>
                </a:lnTo>
                <a:lnTo>
                  <a:pt x="35" y="216"/>
                </a:lnTo>
                <a:lnTo>
                  <a:pt x="106" y="216"/>
                </a:lnTo>
                <a:lnTo>
                  <a:pt x="106" y="166"/>
                </a:lnTo>
                <a:close/>
                <a:moveTo>
                  <a:pt x="106" y="88"/>
                </a:moveTo>
                <a:lnTo>
                  <a:pt x="35" y="88"/>
                </a:lnTo>
                <a:lnTo>
                  <a:pt x="35" y="138"/>
                </a:lnTo>
                <a:lnTo>
                  <a:pt x="106" y="138"/>
                </a:lnTo>
                <a:lnTo>
                  <a:pt x="106" y="88"/>
                </a:lnTo>
                <a:close/>
                <a:moveTo>
                  <a:pt x="226" y="320"/>
                </a:moveTo>
                <a:lnTo>
                  <a:pt x="156" y="320"/>
                </a:lnTo>
                <a:lnTo>
                  <a:pt x="156" y="372"/>
                </a:lnTo>
                <a:lnTo>
                  <a:pt x="226" y="372"/>
                </a:lnTo>
                <a:lnTo>
                  <a:pt x="226" y="320"/>
                </a:lnTo>
                <a:close/>
                <a:moveTo>
                  <a:pt x="226" y="244"/>
                </a:moveTo>
                <a:lnTo>
                  <a:pt x="156" y="244"/>
                </a:lnTo>
                <a:lnTo>
                  <a:pt x="156" y="294"/>
                </a:lnTo>
                <a:lnTo>
                  <a:pt x="226" y="294"/>
                </a:lnTo>
                <a:lnTo>
                  <a:pt x="226" y="244"/>
                </a:lnTo>
                <a:close/>
                <a:moveTo>
                  <a:pt x="226" y="166"/>
                </a:moveTo>
                <a:lnTo>
                  <a:pt x="156" y="166"/>
                </a:lnTo>
                <a:lnTo>
                  <a:pt x="156" y="216"/>
                </a:lnTo>
                <a:lnTo>
                  <a:pt x="226" y="216"/>
                </a:lnTo>
                <a:lnTo>
                  <a:pt x="226" y="166"/>
                </a:lnTo>
                <a:close/>
                <a:moveTo>
                  <a:pt x="226" y="88"/>
                </a:moveTo>
                <a:lnTo>
                  <a:pt x="156" y="88"/>
                </a:lnTo>
                <a:lnTo>
                  <a:pt x="156" y="138"/>
                </a:lnTo>
                <a:lnTo>
                  <a:pt x="226" y="138"/>
                </a:lnTo>
                <a:lnTo>
                  <a:pt x="226" y="88"/>
                </a:lnTo>
                <a:close/>
                <a:moveTo>
                  <a:pt x="520" y="145"/>
                </a:moveTo>
                <a:lnTo>
                  <a:pt x="335" y="145"/>
                </a:lnTo>
                <a:lnTo>
                  <a:pt x="335" y="190"/>
                </a:lnTo>
                <a:lnTo>
                  <a:pt x="520" y="190"/>
                </a:lnTo>
                <a:lnTo>
                  <a:pt x="520" y="145"/>
                </a:lnTo>
                <a:close/>
                <a:moveTo>
                  <a:pt x="557" y="204"/>
                </a:moveTo>
                <a:lnTo>
                  <a:pt x="557" y="550"/>
                </a:lnTo>
                <a:lnTo>
                  <a:pt x="397" y="550"/>
                </a:lnTo>
                <a:lnTo>
                  <a:pt x="397" y="446"/>
                </a:lnTo>
                <a:lnTo>
                  <a:pt x="330" y="446"/>
                </a:lnTo>
                <a:lnTo>
                  <a:pt x="330" y="550"/>
                </a:lnTo>
                <a:lnTo>
                  <a:pt x="297" y="550"/>
                </a:lnTo>
                <a:lnTo>
                  <a:pt x="297" y="204"/>
                </a:lnTo>
                <a:lnTo>
                  <a:pt x="557" y="204"/>
                </a:lnTo>
                <a:close/>
                <a:moveTo>
                  <a:pt x="401" y="320"/>
                </a:moveTo>
                <a:lnTo>
                  <a:pt x="333" y="320"/>
                </a:lnTo>
                <a:lnTo>
                  <a:pt x="333" y="372"/>
                </a:lnTo>
                <a:lnTo>
                  <a:pt x="401" y="372"/>
                </a:lnTo>
                <a:lnTo>
                  <a:pt x="401" y="320"/>
                </a:lnTo>
                <a:close/>
                <a:moveTo>
                  <a:pt x="401" y="244"/>
                </a:moveTo>
                <a:lnTo>
                  <a:pt x="333" y="244"/>
                </a:lnTo>
                <a:lnTo>
                  <a:pt x="333" y="294"/>
                </a:lnTo>
                <a:lnTo>
                  <a:pt x="401" y="294"/>
                </a:lnTo>
                <a:lnTo>
                  <a:pt x="401" y="244"/>
                </a:lnTo>
                <a:close/>
                <a:moveTo>
                  <a:pt x="522" y="320"/>
                </a:moveTo>
                <a:lnTo>
                  <a:pt x="451" y="320"/>
                </a:lnTo>
                <a:lnTo>
                  <a:pt x="451" y="372"/>
                </a:lnTo>
                <a:lnTo>
                  <a:pt x="522" y="372"/>
                </a:lnTo>
                <a:lnTo>
                  <a:pt x="522" y="320"/>
                </a:lnTo>
                <a:close/>
                <a:moveTo>
                  <a:pt x="522" y="244"/>
                </a:moveTo>
                <a:lnTo>
                  <a:pt x="451" y="244"/>
                </a:lnTo>
                <a:lnTo>
                  <a:pt x="451" y="294"/>
                </a:lnTo>
                <a:lnTo>
                  <a:pt x="522" y="294"/>
                </a:lnTo>
                <a:lnTo>
                  <a:pt x="522" y="2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bwMode="gray">
          <a:xfrm>
            <a:off x="9308255" y="1124872"/>
            <a:ext cx="1425390" cy="338554"/>
          </a:xfrm>
          <a:prstGeom prst="rect">
            <a:avLst/>
          </a:prstGeom>
        </p:spPr>
        <p:txBody>
          <a:bodyPr wrap="none">
            <a:spAutoFit/>
          </a:bodyPr>
          <a:lstStyle/>
          <a:p>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精准根因分析</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5" name="直接箭头连接符 44"/>
          <p:cNvCxnSpPr/>
          <p:nvPr/>
        </p:nvCxnSpPr>
        <p:spPr bwMode="gray">
          <a:xfrm flipH="1">
            <a:off x="2138426" y="2310679"/>
            <a:ext cx="2246838" cy="0"/>
          </a:xfrm>
          <a:prstGeom prst="straightConnector1">
            <a:avLst/>
          </a:prstGeom>
          <a:noFill/>
          <a:ln w="38100" algn="ctr">
            <a:solidFill>
              <a:schemeClr val="tx1"/>
            </a:solidFill>
            <a:round/>
            <a:headEnd type="triangle" w="med" len="med"/>
            <a:tailEnd type="none" w="med" len="med"/>
          </a:ln>
        </p:spPr>
      </p:cxnSp>
      <p:cxnSp>
        <p:nvCxnSpPr>
          <p:cNvPr id="46" name="直接箭头连接符 45"/>
          <p:cNvCxnSpPr/>
          <p:nvPr/>
        </p:nvCxnSpPr>
        <p:spPr bwMode="gray">
          <a:xfrm flipH="1" flipV="1">
            <a:off x="7554285" y="3483721"/>
            <a:ext cx="1130793" cy="2"/>
          </a:xfrm>
          <a:prstGeom prst="straightConnector1">
            <a:avLst/>
          </a:prstGeom>
          <a:noFill/>
          <a:ln w="38100" algn="ctr">
            <a:solidFill>
              <a:schemeClr val="tx1"/>
            </a:solidFill>
            <a:round/>
            <a:headEnd type="triangle" w="med" len="med"/>
            <a:tailEnd type="none" w="med" len="med"/>
          </a:ln>
        </p:spPr>
      </p:cxnSp>
    </p:spTree>
    <p:extLst>
      <p:ext uri="{BB962C8B-B14F-4D97-AF65-F5344CB8AC3E}">
        <p14:creationId xmlns:p14="http://schemas.microsoft.com/office/powerpoint/2010/main" val="37087267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：从四个方面智能分析个体性问题</a:t>
            </a:r>
            <a:endParaRPr lang="zh-CN" altLang="en-US" dirty="0">
              <a:sym typeface="Huawei Sans" panose="020C0503030203020204" pitchFamily="34" charset="0"/>
            </a:endParaRPr>
          </a:p>
        </p:txBody>
      </p:sp>
      <p:sp>
        <p:nvSpPr>
          <p:cNvPr id="3" name="文本框 214"/>
          <p:cNvSpPr txBox="1"/>
          <p:nvPr/>
        </p:nvSpPr>
        <p:spPr bwMode="gray">
          <a:xfrm>
            <a:off x="1119716" y="3005899"/>
            <a:ext cx="9888282" cy="3112961"/>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endParaRPr lang="en-US" altLang="zh-CN"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文本框 3"/>
          <p:cNvSpPr txBox="1"/>
          <p:nvPr/>
        </p:nvSpPr>
        <p:spPr bwMode="gray">
          <a:xfrm>
            <a:off x="6386347" y="3453470"/>
            <a:ext cx="4300243" cy="2246769"/>
          </a:xfrm>
          <a:prstGeom prst="rect">
            <a:avLst/>
          </a:prstGeom>
          <a:noFill/>
        </p:spPr>
        <p:txBody>
          <a:bodyPr wrap="square" rtlCol="0">
            <a:spAutoFit/>
          </a:bodyPr>
          <a:lstStyle/>
          <a:p>
            <a:pPr defTabSz="914400" fontAlgn="base">
              <a:lnSpc>
                <a:spcPts val="2800"/>
              </a:lnSpc>
              <a:spcBef>
                <a:spcPct val="0"/>
              </a:spcBef>
              <a:spcAft>
                <a:spcPct val="0"/>
              </a:spcAft>
            </a:pP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针对网络运维过程</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中遇到的</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用户个体性</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从接入网络、使用旅程、体验质量、应用感知四个方面进行分析，将协议过程打开分析、用户旅程可视化回放、质差体验关联分析并感知音视频应用质量，助力管理员运维网络，精准保障</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VIP</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用户体验。</a:t>
            </a:r>
            <a:endParaRPr 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文本框 214"/>
          <p:cNvSpPr txBox="1"/>
          <p:nvPr/>
        </p:nvSpPr>
        <p:spPr bwMode="gray">
          <a:xfrm>
            <a:off x="1119716" y="1469492"/>
            <a:ext cx="4091921" cy="938719"/>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无法</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有效分析“接入失败发生在哪个阶段” </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无法</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有效分析“用户去了哪里、体验怎么样</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无法</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有效感知</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“应用质量”。</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Rectangle 25"/>
          <p:cNvSpPr>
            <a:spLocks noChangeArrowheads="1"/>
          </p:cNvSpPr>
          <p:nvPr/>
        </p:nvSpPr>
        <p:spPr bwMode="gray">
          <a:xfrm>
            <a:off x="1871972" y="3283921"/>
            <a:ext cx="984242"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旅程分析</a:t>
            </a:r>
            <a:endParaRPr lang="en-US" altLang="zh-CN"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Rectangle 1"/>
          <p:cNvSpPr>
            <a:spLocks noChangeArrowheads="1"/>
          </p:cNvSpPr>
          <p:nvPr/>
        </p:nvSpPr>
        <p:spPr bwMode="gray">
          <a:xfrm>
            <a:off x="4299470" y="3770044"/>
            <a:ext cx="1081822" cy="545516"/>
          </a:xfrm>
          <a:prstGeom prst="rect">
            <a:avLst/>
          </a:prstGeom>
          <a:noFill/>
          <a:ln w="9525">
            <a:noFill/>
            <a:miter lim="800000"/>
            <a:headEnd/>
            <a:tailEnd/>
          </a:ln>
          <a:effectLst/>
        </p:spPr>
        <p:txBody>
          <a:bodyPr wrap="square" lIns="72000" tIns="72000" rIns="72000" bIns="72000">
            <a:spAutoFit/>
          </a:bodyPr>
          <a:lstStyle/>
          <a:p>
            <a:pPr marL="0" lvl="2" algn="ctr" defTabSz="514004" fontAlgn="base">
              <a:spcBef>
                <a:spcPct val="0"/>
              </a:spcBef>
              <a:spcAft>
                <a:spcPct val="0"/>
              </a:spcAft>
              <a:buSzPct val="60000"/>
              <a:tabLst>
                <a:tab pos="771007" algn="l"/>
              </a:tabLst>
              <a:defRPr/>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协议回放</a:t>
            </a:r>
            <a:endParaRPr lang="en-US" altLang="zh-CN" sz="1400" b="1" dirty="0">
              <a:solidFill>
                <a:srgbClr val="A7212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algn="ctr" defTabSz="514004" fontAlgn="base">
              <a:spcBef>
                <a:spcPct val="0"/>
              </a:spcBef>
              <a:spcAft>
                <a:spcPct val="0"/>
              </a:spcAft>
              <a:buSzPct val="60000"/>
              <a:tabLst>
                <a:tab pos="771007" algn="l"/>
              </a:tabLst>
              <a:defRPr/>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有线</a:t>
            </a: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Rectangle 25"/>
          <p:cNvSpPr>
            <a:spLocks noChangeArrowheads="1"/>
          </p:cNvSpPr>
          <p:nvPr/>
        </p:nvSpPr>
        <p:spPr bwMode="gray">
          <a:xfrm>
            <a:off x="1871972" y="4841392"/>
            <a:ext cx="984242" cy="331498"/>
          </a:xfrm>
          <a:prstGeom prst="rect">
            <a:avLst/>
          </a:prstGeom>
          <a:noFill/>
          <a:ln w="9525" algn="ctr">
            <a:noFill/>
            <a:miter lim="800000"/>
            <a:headEnd/>
            <a:tailEnd/>
          </a:ln>
        </p:spPr>
        <p:txBody>
          <a:bodyPr wrap="none" lIns="26986" tIns="26986" rIns="26986" bIns="26986" anchor="ctr">
            <a:spAutoFit/>
          </a:bodyPr>
          <a:lstStyle/>
          <a:p>
            <a:pPr marL="101740" marR="0" lvl="0" indent="-101740" algn="ctr" defTabSz="493532" eaLnBrk="1" fontAlgn="base" latinLnBrk="0" hangingPunct="1">
              <a:lnSpc>
                <a:spcPct val="100000"/>
              </a:lnSpc>
              <a:spcBef>
                <a:spcPct val="0"/>
              </a:spcBef>
              <a:spcAft>
                <a:spcPct val="0"/>
              </a:spcAft>
              <a:buClrTx/>
              <a:buSzTx/>
              <a:buFontTx/>
              <a:buNone/>
              <a:tabLst/>
              <a:defRPr/>
            </a:pPr>
            <a:r>
              <a:rPr kumimoji="0" lang="zh-CN" altLang="en-US"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体验分析</a:t>
            </a:r>
            <a:endParaRPr kumimoji="0" lang="en-US" altLang="zh-CN"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Rectangle 1"/>
          <p:cNvSpPr>
            <a:spLocks noChangeArrowheads="1"/>
          </p:cNvSpPr>
          <p:nvPr/>
        </p:nvSpPr>
        <p:spPr bwMode="gray">
          <a:xfrm>
            <a:off x="1483475" y="5226178"/>
            <a:ext cx="1761234" cy="545516"/>
          </a:xfrm>
          <a:prstGeom prst="rect">
            <a:avLst/>
          </a:prstGeom>
          <a:noFill/>
          <a:ln w="9525">
            <a:noFill/>
            <a:miter lim="800000"/>
            <a:headEnd/>
            <a:tailEnd/>
          </a:ln>
          <a:effectLst/>
        </p:spPr>
        <p:txBody>
          <a:bodyPr wrap="square" lIns="72000" tIns="72000" rIns="72000" bIns="72000">
            <a:spAutoFit/>
          </a:bodyPr>
          <a:lstStyle/>
          <a:p>
            <a:pPr marL="0" lvl="2" algn="ctr" defTabSz="514004" fontAlgn="base">
              <a:spcBef>
                <a:spcPct val="0"/>
              </a:spcBef>
              <a:spcAft>
                <a:spcPct val="0"/>
              </a:spcAft>
              <a:buSzPct val="60000"/>
              <a:tabLst>
                <a:tab pos="771007" algn="l"/>
              </a:tabLst>
              <a:defRPr/>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质差用户相关性分析</a:t>
            </a:r>
            <a:endParaRPr lang="en-US" altLang="zh-CN" sz="1400" b="1" dirty="0" smtClean="0">
              <a:solidFill>
                <a:srgbClr val="A7212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algn="ctr" defTabSz="514004" fontAlgn="base">
              <a:spcBef>
                <a:spcPct val="0"/>
              </a:spcBef>
              <a:spcAft>
                <a:spcPct val="0"/>
              </a:spcAft>
              <a:buSzPct val="60000"/>
              <a:tabLst>
                <a:tab pos="771007" algn="l"/>
              </a:tabLst>
              <a:defRPr/>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Rectangle 25"/>
          <p:cNvSpPr>
            <a:spLocks noChangeArrowheads="1"/>
          </p:cNvSpPr>
          <p:nvPr/>
        </p:nvSpPr>
        <p:spPr bwMode="gray">
          <a:xfrm>
            <a:off x="4343501" y="3283921"/>
            <a:ext cx="984242"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接入分析</a:t>
            </a:r>
            <a:endParaRPr lang="en-US" altLang="zh-CN"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Rectangle 1"/>
          <p:cNvSpPr>
            <a:spLocks noChangeArrowheads="1"/>
          </p:cNvSpPr>
          <p:nvPr/>
        </p:nvSpPr>
        <p:spPr bwMode="gray">
          <a:xfrm>
            <a:off x="1776562" y="3770044"/>
            <a:ext cx="1175059" cy="545516"/>
          </a:xfrm>
          <a:prstGeom prst="rect">
            <a:avLst/>
          </a:prstGeom>
          <a:noFill/>
          <a:ln w="9525">
            <a:noFill/>
            <a:miter lim="800000"/>
            <a:headEnd/>
            <a:tailEnd/>
          </a:ln>
          <a:effectLst/>
        </p:spPr>
        <p:txBody>
          <a:bodyPr wrap="square" lIns="72000" tIns="72000" rIns="72000" bIns="72000">
            <a:spAutoFit/>
          </a:bodyPr>
          <a:lstStyle/>
          <a:p>
            <a:pPr marL="0" lvl="2" algn="ctr" defTabSz="514004" fontAlgn="base">
              <a:spcBef>
                <a:spcPct val="0"/>
              </a:spcBef>
              <a:spcAft>
                <a:spcPct val="0"/>
              </a:spcAft>
              <a:buSzPct val="60000"/>
              <a:tabLst>
                <a:tab pos="771007" algn="l"/>
              </a:tabLst>
              <a:defRPr/>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用户旅程</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algn="ctr" defTabSz="514004" fontAlgn="base">
              <a:spcBef>
                <a:spcPct val="0"/>
              </a:spcBef>
              <a:spcAft>
                <a:spcPct val="0"/>
              </a:spcAft>
              <a:buSzPct val="60000"/>
              <a:tabLst>
                <a:tab pos="771007" algn="l"/>
              </a:tabLst>
              <a:defRPr/>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有线）</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Rectangle 25"/>
          <p:cNvSpPr>
            <a:spLocks noChangeArrowheads="1"/>
          </p:cNvSpPr>
          <p:nvPr/>
        </p:nvSpPr>
        <p:spPr bwMode="gray">
          <a:xfrm>
            <a:off x="4343501" y="4841392"/>
            <a:ext cx="984242"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应用分析</a:t>
            </a:r>
            <a:endParaRPr lang="en-US" altLang="zh-CN"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Rectangle 1"/>
          <p:cNvSpPr>
            <a:spLocks noChangeArrowheads="1"/>
          </p:cNvSpPr>
          <p:nvPr/>
        </p:nvSpPr>
        <p:spPr bwMode="gray">
          <a:xfrm>
            <a:off x="3934967" y="5226178"/>
            <a:ext cx="1801309" cy="545516"/>
          </a:xfrm>
          <a:prstGeom prst="rect">
            <a:avLst/>
          </a:prstGeom>
          <a:noFill/>
          <a:ln w="9525">
            <a:noFill/>
            <a:miter lim="800000"/>
            <a:headEnd/>
            <a:tailEnd/>
          </a:ln>
          <a:effectLst/>
        </p:spPr>
        <p:txBody>
          <a:bodyPr wrap="square" lIns="72000" tIns="72000" rIns="72000" bIns="72000">
            <a:spAutoFit/>
          </a:bodyPr>
          <a:lstStyle/>
          <a:p>
            <a:pPr marL="0" lvl="2" algn="ctr" defTabSz="514004" fontAlgn="base">
              <a:spcBef>
                <a:spcPct val="0"/>
              </a:spcBef>
              <a:spcAft>
                <a:spcPct val="0"/>
              </a:spcAft>
              <a:buSzPct val="60000"/>
              <a:tabLst>
                <a:tab pos="771007" algn="l"/>
              </a:tabLst>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应用体验感知及保障</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algn="ctr" defTabSz="514004" fontAlgn="base">
              <a:spcBef>
                <a:spcPct val="0"/>
              </a:spcBef>
              <a:spcAft>
                <a:spcPct val="0"/>
              </a:spcAft>
              <a:buSzPct val="60000"/>
              <a:tabLst>
                <a:tab pos="771007" algn="l"/>
              </a:tabLst>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无线</a:t>
            </a:r>
            <a:r>
              <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有线</a:t>
            </a: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13"/>
          <p:cNvSpPr/>
          <p:nvPr/>
        </p:nvSpPr>
        <p:spPr bwMode="gray">
          <a:xfrm>
            <a:off x="1119717" y="1055706"/>
            <a:ext cx="4091920" cy="360000"/>
          </a:xfrm>
          <a:prstGeom prst="rect">
            <a:avLst/>
          </a:prstGeom>
          <a:solidFill>
            <a:srgbClr val="EFFAFB"/>
          </a:solidFill>
          <a:ln w="9525" cap="flat" cmpd="sng" algn="ctr">
            <a:solidFill>
              <a:srgbClr val="BEE9EE"/>
            </a:solidFill>
            <a:prstDash val="solid"/>
            <a:miter lim="800000"/>
          </a:ln>
          <a:effectLst/>
        </p:spPr>
        <p:txBody>
          <a:bodyPr wrap="none" lIns="0" tIns="0" rIns="0" bIns="0" rtlCol="0" anchor="ctr"/>
          <a:lstStyle/>
          <a:p>
            <a:pPr algn="ctr"/>
            <a:r>
              <a:rPr lang="zh-CN" altLang="en-US" sz="1600" kern="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挑战</a:t>
            </a:r>
            <a:endParaRPr lang="en-US" altLang="zh-CN" sz="1600" kern="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文本框 214"/>
          <p:cNvSpPr txBox="1"/>
          <p:nvPr/>
        </p:nvSpPr>
        <p:spPr bwMode="gray">
          <a:xfrm>
            <a:off x="6732397" y="1469492"/>
            <a:ext cx="4275602" cy="938719"/>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端到端</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识别</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单个用户的网络体验问题并提供根因</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6732397" y="1055706"/>
            <a:ext cx="4275601" cy="360000"/>
          </a:xfrm>
          <a:prstGeom prst="rect">
            <a:avLst/>
          </a:prstGeom>
          <a:solidFill>
            <a:srgbClr val="EFFAFB"/>
          </a:solidFill>
          <a:ln w="9525" cap="flat" cmpd="sng" algn="ctr">
            <a:solidFill>
              <a:srgbClr val="BEE9EE"/>
            </a:solidFill>
            <a:prstDash val="solid"/>
            <a:miter lim="800000"/>
          </a:ln>
          <a:effectLst/>
        </p:spPr>
        <p:txBody>
          <a:bodyPr wrap="none" lIns="0" tIns="0" rIns="0" bIns="0" rtlCol="0" anchor="ctr"/>
          <a:lstStyle/>
          <a:p>
            <a:pPr algn="ctr"/>
            <a:r>
              <a:rPr lang="zh-CN" altLang="en-US" sz="1600" kern="0" smtClea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需求</a:t>
            </a:r>
            <a:endParaRPr lang="en-US" altLang="zh-CN" sz="1600" kern="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圆角矩形 75"/>
          <p:cNvSpPr/>
          <p:nvPr/>
        </p:nvSpPr>
        <p:spPr bwMode="gray">
          <a:xfrm>
            <a:off x="1119717" y="2558231"/>
            <a:ext cx="988828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解决方案和客户价值</a:t>
            </a:r>
          </a:p>
        </p:txBody>
      </p:sp>
      <p:cxnSp>
        <p:nvCxnSpPr>
          <p:cNvPr id="18" name="直接连接符 17"/>
          <p:cNvCxnSpPr>
            <a:stCxn id="3" idx="1"/>
          </p:cNvCxnSpPr>
          <p:nvPr/>
        </p:nvCxnSpPr>
        <p:spPr bwMode="gray">
          <a:xfrm>
            <a:off x="1119716" y="4562380"/>
            <a:ext cx="4969801" cy="0"/>
          </a:xfrm>
          <a:prstGeom prst="line">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直接连接符 18"/>
          <p:cNvCxnSpPr/>
          <p:nvPr/>
        </p:nvCxnSpPr>
        <p:spPr bwMode="gray">
          <a:xfrm flipV="1">
            <a:off x="6101565" y="3005899"/>
            <a:ext cx="0" cy="3112961"/>
          </a:xfrm>
          <a:prstGeom prst="line">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直接连接符 19"/>
          <p:cNvCxnSpPr/>
          <p:nvPr/>
        </p:nvCxnSpPr>
        <p:spPr bwMode="gray">
          <a:xfrm flipH="1" flipV="1">
            <a:off x="3591245" y="3005899"/>
            <a:ext cx="1" cy="3112961"/>
          </a:xfrm>
          <a:prstGeom prst="line">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1" name="五边形 20"/>
          <p:cNvSpPr/>
          <p:nvPr/>
        </p:nvSpPr>
        <p:spPr bwMode="gray">
          <a:xfrm>
            <a:off x="9993984"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815410"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群障分析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907385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3"/>
          <p:cNvSpPr/>
          <p:nvPr/>
        </p:nvSpPr>
        <p:spPr bwMode="gray">
          <a:xfrm>
            <a:off x="872072" y="4743781"/>
            <a:ext cx="5540391" cy="1456993"/>
          </a:xfrm>
          <a:prstGeom prst="roundRect">
            <a:avLst>
              <a:gd name="adj" fmla="val 831"/>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Rounded Rectangle 23"/>
          <p:cNvSpPr/>
          <p:nvPr/>
        </p:nvSpPr>
        <p:spPr bwMode="gray">
          <a:xfrm>
            <a:off x="859372" y="3313843"/>
            <a:ext cx="5540391" cy="1367086"/>
          </a:xfrm>
          <a:prstGeom prst="roundRect">
            <a:avLst>
              <a:gd name="adj" fmla="val 3513"/>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Rounded Rectangle 23"/>
          <p:cNvSpPr/>
          <p:nvPr/>
        </p:nvSpPr>
        <p:spPr bwMode="gray">
          <a:xfrm>
            <a:off x="872072" y="944563"/>
            <a:ext cx="5540391" cy="2292332"/>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Working with Partners to Build One of the Five Clouds for an Intelligent World"/>
          <p:cNvSpPr txBox="1"/>
          <p:nvPr/>
        </p:nvSpPr>
        <p:spPr bwMode="gray">
          <a:xfrm>
            <a:off x="1187236" y="1815054"/>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Step1 </a:t>
            </a:r>
            <a:r>
              <a:rPr lang="zh-CN" altLang="en-US" sz="16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体验概览</a:t>
            </a:r>
            <a:endParaRPr sz="1600" b="1"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Working with Partners to Build One of the Five Clouds for an Intelligent World"/>
          <p:cNvSpPr txBox="1"/>
          <p:nvPr/>
        </p:nvSpPr>
        <p:spPr bwMode="gray">
          <a:xfrm>
            <a:off x="1187236" y="3642359"/>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Step2 </a:t>
            </a: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趋势</a:t>
            </a:r>
            <a:endParaRPr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1187236" y="5045809"/>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Step3 </a:t>
            </a:r>
            <a:r>
              <a:rPr lang="zh-CN" altLang="en-US" sz="1600" b="1"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旅程</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回放</a:t>
            </a:r>
            <a:endParaRPr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3年支持100万开发者实践"/>
          <p:cNvSpPr txBox="1"/>
          <p:nvPr/>
        </p:nvSpPr>
        <p:spPr bwMode="gray">
          <a:xfrm>
            <a:off x="1187236" y="5417734"/>
            <a:ext cx="2617316" cy="3693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看看每个时刻，接入了哪个</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，体验如何，发生了什么问题？</a:t>
            </a:r>
          </a:p>
        </p:txBody>
      </p:sp>
      <p:sp>
        <p:nvSpPr>
          <p:cNvPr id="10" name="3年支持100万开发者实践"/>
          <p:cNvSpPr txBox="1"/>
          <p:nvPr/>
        </p:nvSpPr>
        <p:spPr bwMode="gray">
          <a:xfrm>
            <a:off x="1187236" y="2168642"/>
            <a:ext cx="2308324" cy="18466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看看整体的体验指标有没有问题？</a:t>
            </a:r>
          </a:p>
        </p:txBody>
      </p:sp>
      <p:sp>
        <p:nvSpPr>
          <p:cNvPr id="11" name="3年支持100万开发者实践"/>
          <p:cNvSpPr txBox="1"/>
          <p:nvPr/>
        </p:nvSpPr>
        <p:spPr bwMode="gray">
          <a:xfrm>
            <a:off x="1187236" y="4013763"/>
            <a:ext cx="2308324" cy="18466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看看体验趋势有没有波动或劣化？</a:t>
            </a:r>
          </a:p>
        </p:txBody>
      </p:sp>
      <p:grpSp>
        <p:nvGrpSpPr>
          <p:cNvPr id="13" name="组合 12"/>
          <p:cNvGrpSpPr/>
          <p:nvPr/>
        </p:nvGrpSpPr>
        <p:grpSpPr>
          <a:xfrm>
            <a:off x="4349986" y="963873"/>
            <a:ext cx="7199626" cy="5236901"/>
            <a:chOff x="4349986" y="963873"/>
            <a:chExt cx="7199626" cy="5236901"/>
          </a:xfrm>
        </p:grpSpPr>
        <p:pic>
          <p:nvPicPr>
            <p:cNvPr id="22" name="图片 21"/>
            <p:cNvPicPr>
              <a:picLocks noChangeAspect="1"/>
            </p:cNvPicPr>
            <p:nvPr/>
          </p:nvPicPr>
          <p:blipFill rotWithShape="1">
            <a:blip r:embed="rId3"/>
            <a:srcRect b="20531"/>
            <a:stretch/>
          </p:blipFill>
          <p:spPr bwMode="invGray">
            <a:xfrm>
              <a:off x="4349986" y="963873"/>
              <a:ext cx="7199626" cy="5236901"/>
            </a:xfrm>
            <a:prstGeom prst="rect">
              <a:avLst/>
            </a:prstGeom>
          </p:spPr>
        </p:pic>
        <p:sp>
          <p:nvSpPr>
            <p:cNvPr id="12" name="矩形 11"/>
            <p:cNvSpPr/>
            <p:nvPr/>
          </p:nvSpPr>
          <p:spPr>
            <a:xfrm>
              <a:off x="5223850" y="1122630"/>
              <a:ext cx="334978" cy="208229"/>
            </a:xfrm>
            <a:prstGeom prst="rect">
              <a:avLst/>
            </a:prstGeom>
            <a:solidFill>
              <a:srgbClr val="1320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用户旅程：每用户每时刻实时体验可视</a:t>
            </a:r>
            <a:endParaRPr lang="zh-CN" altLang="en-US" dirty="0">
              <a:sym typeface="Huawei Sans" panose="020C0503030203020204" pitchFamily="34" charset="0"/>
            </a:endParaRPr>
          </a:p>
        </p:txBody>
      </p:sp>
      <p:sp>
        <p:nvSpPr>
          <p:cNvPr id="18" name="燕尾形 17"/>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10815410"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4349986" y="950841"/>
            <a:ext cx="7199626" cy="2286054"/>
          </a:xfrm>
          <a:prstGeom prst="rect">
            <a:avLst/>
          </a:prstGeom>
          <a:noFill/>
          <a:ln w="1905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矩形 28"/>
          <p:cNvSpPr/>
          <p:nvPr/>
        </p:nvSpPr>
        <p:spPr bwMode="gray">
          <a:xfrm>
            <a:off x="4349986" y="3306796"/>
            <a:ext cx="7199626" cy="1367086"/>
          </a:xfrm>
          <a:prstGeom prst="rect">
            <a:avLst/>
          </a:prstGeom>
          <a:noFill/>
          <a:ln w="1905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gray">
          <a:xfrm>
            <a:off x="4349986" y="4743782"/>
            <a:ext cx="7199626" cy="1456992"/>
          </a:xfrm>
          <a:prstGeom prst="rect">
            <a:avLst/>
          </a:prstGeom>
          <a:noFill/>
          <a:ln w="1905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4349986" y="5618342"/>
            <a:ext cx="6722498" cy="517787"/>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文本框 31"/>
          <p:cNvSpPr txBox="1"/>
          <p:nvPr/>
        </p:nvSpPr>
        <p:spPr bwMode="gray">
          <a:xfrm>
            <a:off x="4368092" y="5351861"/>
            <a:ext cx="3570208" cy="256714"/>
          </a:xfrm>
          <a:prstGeom prst="rect">
            <a:avLst/>
          </a:prstGeom>
          <a:solidFill>
            <a:schemeClr val="bg1">
              <a:lumMod val="50000"/>
            </a:schemeClr>
          </a:solidFill>
        </p:spPr>
        <p:txBody>
          <a:bodyPr vert="horz" wrap="none" rtlCol="0" anchor="ctr">
            <a:noAutofit/>
          </a:bodyPr>
          <a:lstStyle/>
          <a:p>
            <a:pPr algn="l" fontAlgn="base"/>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丢包很高，信号差，并出现了“弱信号覆盖”问题。</a:t>
            </a:r>
          </a:p>
        </p:txBody>
      </p:sp>
      <p:sp>
        <p:nvSpPr>
          <p:cNvPr id="23" name="五边形 22"/>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8365209"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183292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bwMode="invGray">
          <a:xfrm>
            <a:off x="2426586" y="4159749"/>
            <a:ext cx="9239892" cy="1437018"/>
          </a:xfrm>
          <a:prstGeom prst="rect">
            <a:avLst/>
          </a:prstGeom>
        </p:spPr>
      </p:pic>
      <p:pic>
        <p:nvPicPr>
          <p:cNvPr id="4" name="图片 3"/>
          <p:cNvPicPr>
            <a:picLocks noChangeAspect="1"/>
          </p:cNvPicPr>
          <p:nvPr/>
        </p:nvPicPr>
        <p:blipFill>
          <a:blip r:embed="rId4"/>
          <a:stretch>
            <a:fillRect/>
          </a:stretch>
        </p:blipFill>
        <p:spPr bwMode="invGray">
          <a:xfrm>
            <a:off x="2426585" y="2642253"/>
            <a:ext cx="9285989" cy="828654"/>
          </a:xfrm>
          <a:prstGeom prst="rect">
            <a:avLst/>
          </a:prstGeom>
        </p:spPr>
      </p:pic>
      <p:pic>
        <p:nvPicPr>
          <p:cNvPr id="5" name="图片 4"/>
          <p:cNvPicPr>
            <a:picLocks noChangeAspect="1"/>
          </p:cNvPicPr>
          <p:nvPr/>
        </p:nvPicPr>
        <p:blipFill>
          <a:blip r:embed="rId5"/>
          <a:stretch>
            <a:fillRect/>
          </a:stretch>
        </p:blipFill>
        <p:spPr bwMode="invGray">
          <a:xfrm>
            <a:off x="654623" y="2661736"/>
            <a:ext cx="1231499" cy="2950720"/>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5</a:t>
            </a:r>
            <a:r>
              <a:rPr lang="zh-CN" altLang="en-US" dirty="0" smtClean="0">
                <a:sym typeface="Huawei Sans" panose="020C0503030203020204" pitchFamily="34" charset="0"/>
              </a:rPr>
              <a:t>：</a:t>
            </a:r>
            <a:r>
              <a:rPr lang="en-US" altLang="zh-CN" dirty="0" smtClean="0">
                <a:sym typeface="Huawei Sans" panose="020C0503030203020204" pitchFamily="34" charset="0"/>
              </a:rPr>
              <a:t>Wi-Fi</a:t>
            </a:r>
            <a:r>
              <a:rPr lang="zh-CN" altLang="en-US" dirty="0" smtClean="0">
                <a:sym typeface="Huawei Sans" panose="020C0503030203020204" pitchFamily="34" charset="0"/>
              </a:rPr>
              <a:t>用户体验可视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58195"/>
            <a:ext cx="11256962" cy="760959"/>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某局点领导报障，称</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体验不佳。运维人员使用用户旅程功能，发现领导在咖啡厅</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时数据丢</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包很高</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信号</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差，并出现了</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“弱信号覆盖”问题。</a:t>
            </a:r>
            <a:endPar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文本框 32"/>
          <p:cNvSpPr txBox="1"/>
          <p:nvPr/>
        </p:nvSpPr>
        <p:spPr bwMode="gray">
          <a:xfrm>
            <a:off x="487098" y="2299990"/>
            <a:ext cx="1735284" cy="276999"/>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、菜单选择 </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39" name="文本框 38"/>
          <p:cNvSpPr txBox="1"/>
          <p:nvPr/>
        </p:nvSpPr>
        <p:spPr bwMode="gray">
          <a:xfrm>
            <a:off x="2329065" y="2299990"/>
            <a:ext cx="6036143" cy="276999"/>
          </a:xfrm>
          <a:prstGeom prst="rect">
            <a:avLst/>
          </a:prstGeom>
          <a:noFill/>
        </p:spPr>
        <p:txBody>
          <a:bodyPr vert="horz" wrap="square" rtlCol="0">
            <a:spAutoFit/>
          </a:bodyPr>
          <a:lstStyle/>
          <a:p>
            <a:pPr lvl="0" defTabSz="914400">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、点击搜索框，按用户名搜索</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l0***14</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“检索”</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按钮</a:t>
            </a:r>
            <a:r>
              <a:rPr lang="zh-CN" altLang="en-US" sz="1200" kern="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矩形 39"/>
          <p:cNvSpPr/>
          <p:nvPr/>
        </p:nvSpPr>
        <p:spPr bwMode="gray">
          <a:xfrm>
            <a:off x="4117888" y="2827672"/>
            <a:ext cx="1054949" cy="185567"/>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矩形 40"/>
          <p:cNvSpPr/>
          <p:nvPr/>
        </p:nvSpPr>
        <p:spPr bwMode="gray">
          <a:xfrm>
            <a:off x="11131246" y="2825632"/>
            <a:ext cx="417250" cy="187607"/>
          </a:xfrm>
          <a:prstGeom prst="rect">
            <a:avLst/>
          </a:prstGeom>
          <a:noFill/>
          <a:ln w="28575" cap="flat" cmpd="sng" algn="ctr">
            <a:solidFill>
              <a:srgbClr val="E900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41"/>
          <p:cNvSpPr txBox="1"/>
          <p:nvPr/>
        </p:nvSpPr>
        <p:spPr bwMode="gray">
          <a:xfrm>
            <a:off x="2329065" y="3823170"/>
            <a:ext cx="7640316" cy="276999"/>
          </a:xfrm>
          <a:prstGeom prst="rect">
            <a:avLst/>
          </a:prstGeom>
          <a:noFill/>
        </p:spPr>
        <p:txBody>
          <a:bodyPr vert="horz" wrap="square" rtlCol="0">
            <a:spAutoFit/>
          </a:bodyPr>
          <a:lstStyle>
            <a:defPPr>
              <a:defRPr lang="en-US"/>
            </a:defPPr>
            <a:lvl1pPr>
              <a:defRPr sz="1200">
                <a:latin typeface="微软雅黑" panose="020B0503020204020204" pitchFamily="34" charset="-122"/>
                <a:ea typeface="微软雅黑" panose="020B0503020204020204" pitchFamily="34" charset="-122"/>
              </a:defRPr>
            </a:lvl1pPr>
          </a:lstStyle>
          <a:p>
            <a:r>
              <a:rPr lang="en-US" altLang="zh-CN"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en-US" altLang="zh-CN"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超</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链接</a:t>
            </a:r>
            <a:r>
              <a:rPr lang="zh-CN" altLang="en-US"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，跳转到用户旅程</a:t>
            </a:r>
            <a:r>
              <a:rPr lang="zh-CN" altLang="en-US"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a:t>
            </a:r>
            <a:r>
              <a:rPr lang="zh-CN" altLang="en-US"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（页面内演示步骤见下一页</a:t>
            </a:r>
            <a:r>
              <a:rPr lang="zh-CN" altLang="en-US"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dirty="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矩形 42"/>
          <p:cNvSpPr/>
          <p:nvPr/>
        </p:nvSpPr>
        <p:spPr bwMode="gray">
          <a:xfrm>
            <a:off x="2426586" y="3208719"/>
            <a:ext cx="883144" cy="205162"/>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矩形 48"/>
          <p:cNvSpPr/>
          <p:nvPr/>
        </p:nvSpPr>
        <p:spPr bwMode="auto">
          <a:xfrm>
            <a:off x="654623" y="5043453"/>
            <a:ext cx="1231499" cy="23948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燕尾形 51"/>
          <p:cNvSpPr/>
          <p:nvPr/>
        </p:nvSpPr>
        <p:spPr bwMode="gray">
          <a:xfrm>
            <a:off x="9181942"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0815409"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98676"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54"/>
          <p:cNvSpPr/>
          <p:nvPr/>
        </p:nvSpPr>
        <p:spPr bwMode="gray">
          <a:xfrm>
            <a:off x="7465208"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8365208"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31399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stretch>
            <a:fillRect/>
          </a:stretch>
        </p:blipFill>
        <p:spPr bwMode="invGray">
          <a:xfrm>
            <a:off x="806776" y="1545939"/>
            <a:ext cx="9239892" cy="1437018"/>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5</a:t>
            </a:r>
            <a:r>
              <a:rPr lang="zh-CN" altLang="en-US" dirty="0" smtClean="0">
                <a:sym typeface="Huawei Sans" panose="020C0503030203020204" pitchFamily="34" charset="0"/>
              </a:rPr>
              <a:t>：</a:t>
            </a:r>
            <a:r>
              <a:rPr lang="en-US" altLang="zh-CN" dirty="0" smtClean="0">
                <a:sym typeface="Huawei Sans" panose="020C0503030203020204" pitchFamily="34" charset="0"/>
              </a:rPr>
              <a:t>Wi-Fi</a:t>
            </a:r>
            <a:r>
              <a:rPr lang="zh-CN" altLang="en-US" dirty="0" smtClean="0">
                <a:sym typeface="Huawei Sans" panose="020C0503030203020204" pitchFamily="34" charset="0"/>
              </a:rPr>
              <a:t>用户体验可视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pic>
        <p:nvPicPr>
          <p:cNvPr id="19" name="图片 18"/>
          <p:cNvPicPr>
            <a:picLocks noChangeAspect="1"/>
          </p:cNvPicPr>
          <p:nvPr/>
        </p:nvPicPr>
        <p:blipFill>
          <a:blip r:embed="rId4"/>
          <a:stretch>
            <a:fillRect/>
          </a:stretch>
        </p:blipFill>
        <p:spPr bwMode="invGray">
          <a:xfrm>
            <a:off x="806776" y="3758877"/>
            <a:ext cx="9879848" cy="2144966"/>
          </a:xfrm>
          <a:prstGeom prst="rect">
            <a:avLst/>
          </a:prstGeom>
        </p:spPr>
      </p:pic>
      <p:sp>
        <p:nvSpPr>
          <p:cNvPr id="21" name="文本框 20"/>
          <p:cNvSpPr txBox="1"/>
          <p:nvPr/>
        </p:nvSpPr>
        <p:spPr bwMode="gray">
          <a:xfrm>
            <a:off x="461720" y="1227410"/>
            <a:ext cx="7171532"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、首先查看用户连接</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体验概览，发现用户</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体验指标中</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平均丢包率</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较高，超过了</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15%</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2" name="矩形 21"/>
          <p:cNvSpPr/>
          <p:nvPr/>
        </p:nvSpPr>
        <p:spPr bwMode="gray">
          <a:xfrm>
            <a:off x="8647552" y="2307979"/>
            <a:ext cx="723234" cy="54590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文本框 23"/>
          <p:cNvSpPr txBox="1"/>
          <p:nvPr/>
        </p:nvSpPr>
        <p:spPr bwMode="gray">
          <a:xfrm>
            <a:off x="450795" y="3463751"/>
            <a:ext cx="11261780"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、查看用户</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体验趋势，发现用户连接</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的一段时间体验发生了明显的劣化，</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信号很差</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（小于</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-65 </a:t>
            </a:r>
            <a:r>
              <a:rPr lang="en-US" altLang="zh-CN" sz="1200" dirty="0" err="1" smtClean="0">
                <a:latin typeface="Huawei Sans" panose="020C0503030203020204" pitchFamily="34" charset="0"/>
                <a:ea typeface="方正兰亭黑简体" panose="02000000000000000000" pitchFamily="2" charset="-122"/>
                <a:cs typeface="+mn-ea"/>
                <a:sym typeface="Huawei Sans" panose="020C0503030203020204" pitchFamily="34" charset="0"/>
              </a:rPr>
              <a:t>dBm</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），对应时间段的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丢包率很高</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（超过</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37" name="矩形 36"/>
          <p:cNvSpPr/>
          <p:nvPr/>
        </p:nvSpPr>
        <p:spPr bwMode="gray">
          <a:xfrm>
            <a:off x="2502241" y="4654788"/>
            <a:ext cx="1374020" cy="104530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燕尾形 48"/>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10815410"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51"/>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8365209"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7465209" y="4654788"/>
            <a:ext cx="1374020" cy="104530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80082832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5</a:t>
            </a:r>
            <a:r>
              <a:rPr lang="zh-CN" altLang="en-US" dirty="0" smtClean="0">
                <a:sym typeface="Huawei Sans" panose="020C0503030203020204" pitchFamily="34" charset="0"/>
              </a:rPr>
              <a:t>：</a:t>
            </a:r>
            <a:r>
              <a:rPr lang="en-US" altLang="zh-CN" dirty="0" smtClean="0">
                <a:sym typeface="Huawei Sans" panose="020C0503030203020204" pitchFamily="34" charset="0"/>
              </a:rPr>
              <a:t>Wi-Fi</a:t>
            </a:r>
            <a:r>
              <a:rPr lang="zh-CN" altLang="en-US" dirty="0" smtClean="0">
                <a:sym typeface="Huawei Sans" panose="020C0503030203020204" pitchFamily="34" charset="0"/>
              </a:rPr>
              <a:t>用户体验可视 </a:t>
            </a:r>
            <a:r>
              <a:rPr lang="en-US" altLang="zh-CN" dirty="0" smtClean="0">
                <a:sym typeface="Huawei Sans" panose="020C0503030203020204" pitchFamily="34" charset="0"/>
              </a:rPr>
              <a:t>(3)</a:t>
            </a:r>
            <a:endParaRPr lang="zh-CN" altLang="en-US" dirty="0">
              <a:sym typeface="Huawei Sans" panose="020C0503030203020204" pitchFamily="34" charset="0"/>
            </a:endParaRPr>
          </a:p>
        </p:txBody>
      </p:sp>
      <p:sp>
        <p:nvSpPr>
          <p:cNvPr id="41" name="圆角矩形 75"/>
          <p:cNvSpPr/>
          <p:nvPr/>
        </p:nvSpPr>
        <p:spPr bwMode="gray">
          <a:xfrm>
            <a:off x="805779" y="4562983"/>
            <a:ext cx="1015616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p:cNvSpPr/>
          <p:nvPr/>
        </p:nvSpPr>
        <p:spPr bwMode="gray">
          <a:xfrm>
            <a:off x="805779" y="4966941"/>
            <a:ext cx="10156169" cy="77310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用户旅程功能，聚焦用户真实的</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体验，将每一个设备都作为传感器，精准地回放用户接入</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网络的整个旅程，谁，什么时间，去哪里接入了哪个</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，体验如何，遇到了什么问题，全部都一目了然。</a:t>
            </a:r>
          </a:p>
        </p:txBody>
      </p:sp>
      <p:pic>
        <p:nvPicPr>
          <p:cNvPr id="20" name="图片 19"/>
          <p:cNvPicPr>
            <a:picLocks noChangeAspect="1"/>
          </p:cNvPicPr>
          <p:nvPr/>
        </p:nvPicPr>
        <p:blipFill rotWithShape="1">
          <a:blip r:embed="rId3"/>
          <a:srcRect t="50367"/>
          <a:stretch/>
        </p:blipFill>
        <p:spPr bwMode="invGray">
          <a:xfrm>
            <a:off x="805779" y="1548367"/>
            <a:ext cx="9383874" cy="2675763"/>
          </a:xfrm>
          <a:prstGeom prst="rect">
            <a:avLst/>
          </a:prstGeom>
        </p:spPr>
      </p:pic>
      <p:sp>
        <p:nvSpPr>
          <p:cNvPr id="44" name="矩形 43"/>
          <p:cNvSpPr/>
          <p:nvPr/>
        </p:nvSpPr>
        <p:spPr bwMode="gray">
          <a:xfrm>
            <a:off x="1958010" y="2394460"/>
            <a:ext cx="4015408" cy="20959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燕尾形 48"/>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10815410"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51"/>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8365209"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461720" y="1227410"/>
            <a:ext cx="11253690"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6</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在用户的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旅程回放中，看到用户在接入</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N10-2F-3</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”时，出现了</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弱信号覆盖问题</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，此时信号很差，丢包率非常高。</a:t>
            </a:r>
          </a:p>
        </p:txBody>
      </p:sp>
    </p:spTree>
    <p:extLst>
      <p:ext uri="{BB962C8B-B14F-4D97-AF65-F5344CB8AC3E}">
        <p14:creationId xmlns:p14="http://schemas.microsoft.com/office/powerpoint/2010/main" val="30489866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bwMode="invGray">
          <a:xfrm>
            <a:off x="3638500" y="1324620"/>
            <a:ext cx="8045201" cy="4666605"/>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协议回放：分钟级定位接入故障根因</a:t>
            </a:r>
            <a:endParaRPr lang="zh-CN" altLang="en-US" dirty="0">
              <a:sym typeface="Huawei Sans" panose="020C0503030203020204" pitchFamily="34" charset="0"/>
            </a:endParaRPr>
          </a:p>
        </p:txBody>
      </p:sp>
      <p:sp>
        <p:nvSpPr>
          <p:cNvPr id="7" name="文本框 214"/>
          <p:cNvSpPr txBox="1"/>
          <p:nvPr/>
        </p:nvSpPr>
        <p:spPr bwMode="gray">
          <a:xfrm>
            <a:off x="473423" y="1738405"/>
            <a:ext cx="3098084" cy="425282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矩形 7"/>
          <p:cNvSpPr/>
          <p:nvPr/>
        </p:nvSpPr>
        <p:spPr bwMode="gray">
          <a:xfrm>
            <a:off x="473423" y="1324620"/>
            <a:ext cx="3098083"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解决接入类问题，只需“三看”</a:t>
            </a:r>
          </a:p>
        </p:txBody>
      </p:sp>
      <p:sp>
        <p:nvSpPr>
          <p:cNvPr id="9" name="Working with Partners to Build One of the Five Clouds for an Intelligent World"/>
          <p:cNvSpPr txBox="1"/>
          <p:nvPr/>
        </p:nvSpPr>
        <p:spPr bwMode="gray">
          <a:xfrm>
            <a:off x="914288" y="3372944"/>
            <a:ext cx="2710042" cy="861041"/>
          </a:xfrm>
          <a:prstGeom prst="rect">
            <a:avLst/>
          </a:prstGeom>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57" tIns="7257" rIns="7257" bIns="7257">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000"/>
              </a:lnSpc>
              <a:spcAft>
                <a:spcPts val="600"/>
              </a:spcAft>
              <a:defRPr/>
            </a:pPr>
            <a:r>
              <a:rPr lang="zh-CN" altLang="en-US" sz="1400" b="1"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看交互：每一步协议交互正常么？</a:t>
            </a:r>
            <a:endParaRPr lang="en-US" altLang="zh-CN" sz="1400" b="1"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hangingPunct="0">
              <a:lnSpc>
                <a:spcPts val="2000"/>
              </a:lnSpc>
              <a:spcAft>
                <a:spcPts val="600"/>
              </a:spcAf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查看关联、认证、</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协议交互过程，确定异常</a:t>
            </a:r>
            <a:r>
              <a:rPr lang="zh-CN" altLang="en-US" sz="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阶段。</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Working with Partners to Build One of the Five Clouds for an Intelligent World"/>
          <p:cNvSpPr txBox="1"/>
          <p:nvPr/>
        </p:nvSpPr>
        <p:spPr bwMode="gray">
          <a:xfrm>
            <a:off x="914288" y="4789240"/>
            <a:ext cx="2710042" cy="581349"/>
          </a:xfrm>
          <a:prstGeom prst="rect">
            <a:avLst/>
          </a:prstGeom>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57" tIns="7257" rIns="7257" bIns="7257">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marL="0" marR="0" lvl="0" indent="0" algn="l" defTabSz="609598" eaLnBrk="1" fontAlgn="auto" latinLnBrk="0" hangingPunct="0">
              <a:lnSpc>
                <a:spcPts val="2000"/>
              </a:lnSpc>
              <a:spcBef>
                <a:spcPts val="0"/>
              </a:spcBef>
              <a:spcAft>
                <a:spcPts val="600"/>
              </a:spcAft>
              <a:buClrTx/>
              <a:buSzTx/>
              <a:buFontTx/>
              <a:buNone/>
              <a:tabLst/>
              <a:defRPr/>
            </a:pPr>
            <a:r>
              <a:rPr kumimoji="0" lang="zh-CN" altLang="en-US" sz="1400" b="1" i="0" u="none" strike="noStrike" kern="0" cap="none" spc="0" normalizeH="0" baseline="0" noProof="0" dirty="0" smtClean="0">
                <a:ln>
                  <a:noFill/>
                </a:ln>
                <a:solidFill>
                  <a:schemeClr val="tx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看根因：问题</a:t>
            </a:r>
            <a:r>
              <a:rPr kumimoji="0" lang="zh-CN" altLang="en-US" sz="1400" b="1" i="0" u="none" strike="noStrike" kern="0" cap="none" spc="0" normalizeH="0" baseline="0" noProof="0" dirty="0">
                <a:ln>
                  <a:noFill/>
                </a:ln>
                <a:solidFill>
                  <a:schemeClr val="tx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根因是什么</a:t>
            </a:r>
            <a:r>
              <a:rPr kumimoji="0" lang="zh-CN" altLang="en-US" sz="1400" b="1" i="0" u="none" strike="noStrike" kern="0" cap="none" spc="0" normalizeH="0" baseline="0" noProof="0" dirty="0" smtClean="0">
                <a:ln>
                  <a:noFill/>
                </a:ln>
                <a:solidFill>
                  <a:schemeClr val="tx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en-US" altLang="zh-CN" sz="1400" b="1" i="0" u="none" strike="noStrike" kern="0" cap="none" spc="0" normalizeH="0" baseline="0" noProof="0" dirty="0" smtClean="0">
              <a:ln>
                <a:noFill/>
              </a:ln>
              <a:solidFill>
                <a:schemeClr val="tx1"/>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hangingPunct="0">
              <a:lnSpc>
                <a:spcPts val="2000"/>
              </a:lnSpc>
              <a:spcAft>
                <a:spcPts val="600"/>
              </a:spcAf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查看问题的大概率根因和修复</a:t>
            </a:r>
            <a:r>
              <a:rPr lang="zh-CN" altLang="en-US" sz="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建议。</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Working with Partners to Build One of the Five Clouds for an Intelligent World"/>
          <p:cNvSpPr txBox="1"/>
          <p:nvPr/>
        </p:nvSpPr>
        <p:spPr bwMode="gray">
          <a:xfrm>
            <a:off x="914287" y="2137555"/>
            <a:ext cx="2710043" cy="861041"/>
          </a:xfrm>
          <a:prstGeom prst="rect">
            <a:avLst/>
          </a:prstGeom>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57" tIns="7257" rIns="7257" bIns="7257">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000"/>
              </a:lnSpc>
              <a:spcAft>
                <a:spcPts val="600"/>
              </a:spcAft>
              <a:defRPr/>
            </a:pPr>
            <a:r>
              <a:rPr lang="zh-CN" altLang="en-US" sz="1400" b="1"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看状态：终端接入成功了没？</a:t>
            </a:r>
            <a:endParaRPr lang="en-US" altLang="zh-CN" sz="1400" b="1"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hangingPunct="0">
              <a:lnSpc>
                <a:spcPts val="2000"/>
              </a:lnSpc>
              <a:spcAft>
                <a:spcPts val="600"/>
              </a:spcAft>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查看会话的接入结果，确认是否出现接入类</a:t>
            </a:r>
            <a:r>
              <a:rPr lang="zh-CN" altLang="en-US" sz="12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2" name="Oval 4"/>
          <p:cNvSpPr>
            <a:spLocks noChangeAspect="1"/>
          </p:cNvSpPr>
          <p:nvPr/>
        </p:nvSpPr>
        <p:spPr bwMode="gray">
          <a:xfrm>
            <a:off x="563083" y="2313835"/>
            <a:ext cx="252000" cy="252000"/>
          </a:xfrm>
          <a:prstGeom prst="ellipse">
            <a:avLst/>
          </a:prstGeom>
          <a:solidFill>
            <a:srgbClr val="30B5C5"/>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kumimoji="0" lang="zh-CN" altLang="en-US"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Oval 4"/>
          <p:cNvSpPr>
            <a:spLocks noChangeAspect="1"/>
          </p:cNvSpPr>
          <p:nvPr/>
        </p:nvSpPr>
        <p:spPr bwMode="gray">
          <a:xfrm>
            <a:off x="563083" y="3677464"/>
            <a:ext cx="252000" cy="252000"/>
          </a:xfrm>
          <a:prstGeom prst="ellipse">
            <a:avLst/>
          </a:prstGeom>
          <a:solidFill>
            <a:srgbClr val="30B5C5"/>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kumimoji="0" lang="zh-CN" altLang="en-US"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Oval 4"/>
          <p:cNvSpPr>
            <a:spLocks noChangeAspect="1"/>
          </p:cNvSpPr>
          <p:nvPr/>
        </p:nvSpPr>
        <p:spPr bwMode="gray">
          <a:xfrm>
            <a:off x="563083" y="4965520"/>
            <a:ext cx="252000" cy="252000"/>
          </a:xfrm>
          <a:prstGeom prst="ellipse">
            <a:avLst/>
          </a:prstGeom>
          <a:solidFill>
            <a:srgbClr val="30B5C5"/>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endParaRPr kumimoji="0" lang="zh-CN" altLang="en-US"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矩形 42"/>
          <p:cNvSpPr/>
          <p:nvPr/>
        </p:nvSpPr>
        <p:spPr bwMode="gray">
          <a:xfrm>
            <a:off x="3978725" y="1656541"/>
            <a:ext cx="7336975" cy="163727"/>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zh-CN" altLang="en-US" sz="120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文本框 43"/>
          <p:cNvSpPr txBox="1"/>
          <p:nvPr/>
        </p:nvSpPr>
        <p:spPr bwMode="gray">
          <a:xfrm>
            <a:off x="5209186" y="1399180"/>
            <a:ext cx="2640168" cy="206875"/>
          </a:xfrm>
          <a:prstGeom prst="rect">
            <a:avLst/>
          </a:prstGeom>
          <a:solidFill>
            <a:schemeClr val="bg1">
              <a:lumMod val="50000"/>
            </a:schemeClr>
          </a:solidFill>
          <a:ln>
            <a:noFill/>
            <a:prstDash val="dash"/>
          </a:ln>
        </p:spPr>
        <p:txBody>
          <a:bodyPr wrap="none" lIns="18000" rIns="18000" rtlCol="0" anchor="ctr" anchorCtr="1">
            <a:noAutofit/>
          </a:bodyPr>
          <a:lstStyle>
            <a:defPPr>
              <a:defRPr lang="en-US"/>
            </a:defPPr>
            <a:lvl1pPr algn="ctr" defTabSz="914400" fontAlgn="base">
              <a:spcBef>
                <a:spcPct val="0"/>
              </a:spcBef>
              <a:spcAft>
                <a:spcPct val="0"/>
              </a:spcAft>
              <a:buClr>
                <a:srgbClr val="CC9900"/>
              </a:buClr>
              <a:defRPr sz="1200">
                <a:solidFill>
                  <a:prstClr val="white"/>
                </a:solidFill>
                <a:latin typeface="Arial" panose="020B0604020202020204" pitchFamily="34" charset="0"/>
                <a:ea typeface="微软雅黑" panose="020B0503020204020204" pitchFamily="34" charset="-122"/>
              </a:defRPr>
            </a:lvl1pPr>
          </a:lstStyle>
          <a:p>
            <a:r>
              <a:rPr lang="en-US" altLang="zh-CN"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Step1 </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看状态：按会话识别接入</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状态。</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文本框 45"/>
          <p:cNvSpPr txBox="1"/>
          <p:nvPr/>
        </p:nvSpPr>
        <p:spPr bwMode="gray">
          <a:xfrm>
            <a:off x="3978725" y="2262030"/>
            <a:ext cx="1225966" cy="1015664"/>
          </a:xfrm>
          <a:prstGeom prst="rect">
            <a:avLst/>
          </a:prstGeom>
          <a:solidFill>
            <a:schemeClr val="bg1">
              <a:lumMod val="50000"/>
            </a:schemeClr>
          </a:solidFill>
          <a:ln>
            <a:noFill/>
            <a:prstDash val="dash"/>
          </a:ln>
        </p:spPr>
        <p:txBody>
          <a:bodyPr wrap="square" lIns="18000" rIns="18000" rtlCol="0" anchor="ctr" anchorCtr="1">
            <a:spAutoFit/>
          </a:bodyPr>
          <a:lstStyle>
            <a:defPPr>
              <a:defRPr lang="en-US"/>
            </a:defPPr>
            <a:lvl1pPr algn="ctr" defTabSz="914400" fontAlgn="base">
              <a:spcBef>
                <a:spcPct val="0"/>
              </a:spcBef>
              <a:spcAft>
                <a:spcPct val="0"/>
              </a:spcAft>
              <a:buClr>
                <a:srgbClr val="CC9900"/>
              </a:buClr>
              <a:defRPr sz="1200">
                <a:solidFill>
                  <a:prstClr val="white"/>
                </a:solidFill>
                <a:latin typeface="Arial" panose="020B0604020202020204" pitchFamily="34" charset="0"/>
                <a:ea typeface="微软雅黑" panose="020B0503020204020204" pitchFamily="34" charset="-122"/>
              </a:defRPr>
            </a:lvl1pPr>
          </a:lstStyle>
          <a:p>
            <a:pPr algn="l"/>
            <a:r>
              <a:rPr lang="en-US" altLang="zh-CN"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Step2</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看交互：呈现终端、认证点、认证服务器之间协议级别交互</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细节。</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矩形 46"/>
          <p:cNvSpPr/>
          <p:nvPr/>
        </p:nvSpPr>
        <p:spPr bwMode="gray">
          <a:xfrm>
            <a:off x="3820617" y="5652459"/>
            <a:ext cx="2354304" cy="338766"/>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zh-CN" altLang="en-US" sz="120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文本框 47"/>
          <p:cNvSpPr txBox="1"/>
          <p:nvPr/>
        </p:nvSpPr>
        <p:spPr bwMode="gray">
          <a:xfrm>
            <a:off x="6241914" y="5688671"/>
            <a:ext cx="3929384" cy="244587"/>
          </a:xfrm>
          <a:prstGeom prst="rect">
            <a:avLst/>
          </a:prstGeom>
          <a:solidFill>
            <a:schemeClr val="bg1">
              <a:lumMod val="50000"/>
            </a:schemeClr>
          </a:solidFill>
          <a:ln>
            <a:noFill/>
            <a:prstDash val="dash"/>
          </a:ln>
        </p:spPr>
        <p:txBody>
          <a:bodyPr wrap="none" lIns="18000" rIns="18000" rtlCol="0" anchor="ctr" anchorCtr="1">
            <a:noAutofit/>
          </a:bodyPr>
          <a:lstStyle>
            <a:defPPr>
              <a:defRPr lang="en-US"/>
            </a:defPPr>
            <a:lvl1pPr algn="ctr" defTabSz="914400" fontAlgn="base">
              <a:spcBef>
                <a:spcPct val="0"/>
              </a:spcBef>
              <a:spcAft>
                <a:spcPct val="0"/>
              </a:spcAft>
              <a:buClr>
                <a:srgbClr val="CC9900"/>
              </a:buClr>
              <a:defRPr sz="1200">
                <a:solidFill>
                  <a:prstClr val="white"/>
                </a:solidFill>
                <a:latin typeface="Arial" panose="020B0604020202020204" pitchFamily="34" charset="0"/>
                <a:ea typeface="微软雅黑" panose="020B0503020204020204" pitchFamily="34" charset="-122"/>
              </a:defRPr>
            </a:lvl1pPr>
          </a:lstStyle>
          <a:p>
            <a:r>
              <a:rPr lang="en-US" altLang="zh-CN"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Step3 </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看根因：通过协议报文特征，给出问题可能</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原因。</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矩形 39"/>
          <p:cNvSpPr/>
          <p:nvPr/>
        </p:nvSpPr>
        <p:spPr bwMode="gray">
          <a:xfrm>
            <a:off x="10966728" y="3092798"/>
            <a:ext cx="614786" cy="1052075"/>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zh-CN" altLang="en-US" sz="120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bwMode="gray">
          <a:xfrm>
            <a:off x="10302534" y="4171001"/>
            <a:ext cx="1328387" cy="276999"/>
          </a:xfrm>
          <a:prstGeom prst="rect">
            <a:avLst/>
          </a:prstGeom>
          <a:solidFill>
            <a:schemeClr val="bg1">
              <a:lumMod val="50000"/>
            </a:schemeClr>
          </a:solidFill>
          <a:ln>
            <a:noFill/>
            <a:prstDash val="dash"/>
          </a:ln>
        </p:spPr>
        <p:txBody>
          <a:bodyPr wrap="square" lIns="18000" rIns="18000" rtlCol="0" anchor="ctr" anchorCtr="1">
            <a:spAutoFit/>
          </a:bodyPr>
          <a:lstStyle>
            <a:defPPr>
              <a:defRPr lang="en-US"/>
            </a:defPPr>
            <a:lvl1pPr defTabSz="914400" fontAlgn="base">
              <a:spcBef>
                <a:spcPct val="0"/>
              </a:spcBef>
              <a:spcAft>
                <a:spcPct val="0"/>
              </a:spcAft>
              <a:buClr>
                <a:srgbClr val="CC9900"/>
              </a:buClr>
              <a:defRPr sz="1200">
                <a:solidFill>
                  <a:prstClr val="white"/>
                </a:solidFill>
                <a:latin typeface="Arial" panose="020B0604020202020204" pitchFamily="34" charset="0"/>
                <a:ea typeface="微软雅黑" panose="020B0503020204020204" pitchFamily="34" charset="-122"/>
              </a:defRPr>
            </a:lvl1pPr>
          </a:lstStyle>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直观呈现异常阶段</a:t>
            </a:r>
          </a:p>
        </p:txBody>
      </p:sp>
      <p:sp>
        <p:nvSpPr>
          <p:cNvPr id="49" name="燕尾形 48"/>
          <p:cNvSpPr/>
          <p:nvPr/>
        </p:nvSpPr>
        <p:spPr bwMode="gray">
          <a:xfrm>
            <a:off x="9181945"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10815412"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999867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51"/>
          <p:cNvSpPr/>
          <p:nvPr/>
        </p:nvSpPr>
        <p:spPr bwMode="gray">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594195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bwMode="invGray">
          <a:xfrm>
            <a:off x="5541041" y="2096207"/>
            <a:ext cx="5627096" cy="1280271"/>
          </a:xfrm>
          <a:prstGeom prst="rect">
            <a:avLst/>
          </a:prstGeom>
        </p:spPr>
      </p:pic>
      <p:pic>
        <p:nvPicPr>
          <p:cNvPr id="10" name="图片 9"/>
          <p:cNvPicPr>
            <a:picLocks noChangeAspect="1"/>
          </p:cNvPicPr>
          <p:nvPr/>
        </p:nvPicPr>
        <p:blipFill>
          <a:blip r:embed="rId4"/>
          <a:stretch>
            <a:fillRect/>
          </a:stretch>
        </p:blipFill>
        <p:spPr bwMode="invGray">
          <a:xfrm>
            <a:off x="5559253" y="3712543"/>
            <a:ext cx="4426080" cy="2481287"/>
          </a:xfrm>
          <a:prstGeom prst="rect">
            <a:avLst/>
          </a:prstGeom>
        </p:spPr>
      </p:pic>
      <p:pic>
        <p:nvPicPr>
          <p:cNvPr id="8" name="图片 7"/>
          <p:cNvPicPr>
            <a:picLocks noChangeAspect="1"/>
          </p:cNvPicPr>
          <p:nvPr/>
        </p:nvPicPr>
        <p:blipFill>
          <a:blip r:embed="rId5"/>
          <a:stretch>
            <a:fillRect/>
          </a:stretch>
        </p:blipFill>
        <p:spPr bwMode="invGray">
          <a:xfrm>
            <a:off x="3145485" y="2080363"/>
            <a:ext cx="1322947" cy="1548518"/>
          </a:xfrm>
          <a:prstGeom prst="rect">
            <a:avLst/>
          </a:prstGeom>
        </p:spPr>
      </p:pic>
      <p:pic>
        <p:nvPicPr>
          <p:cNvPr id="4" name="图片 3"/>
          <p:cNvPicPr>
            <a:picLocks noChangeAspect="1"/>
          </p:cNvPicPr>
          <p:nvPr/>
        </p:nvPicPr>
        <p:blipFill>
          <a:blip r:embed="rId6"/>
          <a:stretch>
            <a:fillRect/>
          </a:stretch>
        </p:blipFill>
        <p:spPr bwMode="invGray">
          <a:xfrm>
            <a:off x="794688" y="2076061"/>
            <a:ext cx="1225402" cy="3273836"/>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6</a:t>
            </a:r>
            <a:r>
              <a:rPr lang="zh-CN" altLang="en-US" dirty="0" smtClean="0">
                <a:sym typeface="Huawei Sans" panose="020C0503030203020204" pitchFamily="34" charset="0"/>
              </a:rPr>
              <a:t>：定位无线接入问题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62896"/>
            <a:ext cx="11256962" cy="731785"/>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某局点用户报障，</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无法正常接入。运维人员通过</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协议回放功能，定位出问题根因是由于</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地址池满了，导致给手机终端分配</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地址失败。修改对应配置，扩充</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地址池可用地址范围后问题解决。</a:t>
            </a:r>
          </a:p>
        </p:txBody>
      </p:sp>
      <p:sp>
        <p:nvSpPr>
          <p:cNvPr id="32" name="文本框 31"/>
          <p:cNvSpPr txBox="1"/>
          <p:nvPr/>
        </p:nvSpPr>
        <p:spPr bwMode="gray">
          <a:xfrm>
            <a:off x="697797" y="1789112"/>
            <a:ext cx="2054928"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、菜单选择 </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“协议回放”</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33" name="文本框 32"/>
          <p:cNvSpPr txBox="1"/>
          <p:nvPr/>
        </p:nvSpPr>
        <p:spPr bwMode="gray">
          <a:xfrm>
            <a:off x="3040301" y="1789112"/>
            <a:ext cx="1685962"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切换用户按钮</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smtClean="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bwMode="gray">
          <a:xfrm>
            <a:off x="3795651" y="2558566"/>
            <a:ext cx="254000" cy="23948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文本框 36"/>
          <p:cNvSpPr txBox="1"/>
          <p:nvPr/>
        </p:nvSpPr>
        <p:spPr bwMode="gray">
          <a:xfrm>
            <a:off x="5470907" y="1789112"/>
            <a:ext cx="4435494"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、点击搜索框，按用户名搜索</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l0</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14</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smtClean="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文本框 37"/>
          <p:cNvSpPr txBox="1"/>
          <p:nvPr/>
        </p:nvSpPr>
        <p:spPr bwMode="gray">
          <a:xfrm>
            <a:off x="5470907" y="3425682"/>
            <a:ext cx="5427772"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、页面刷新为案例相关数据。（页面内演示步骤见下一页）</a:t>
            </a:r>
            <a:endParaRPr lang="zh-CN" altLang="en-US" sz="1200" dirty="0" smtClean="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矩形 40"/>
          <p:cNvSpPr/>
          <p:nvPr/>
        </p:nvSpPr>
        <p:spPr bwMode="gray">
          <a:xfrm>
            <a:off x="9985333" y="2768169"/>
            <a:ext cx="438160" cy="18713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矩形 41"/>
          <p:cNvSpPr/>
          <p:nvPr/>
        </p:nvSpPr>
        <p:spPr bwMode="gray">
          <a:xfrm>
            <a:off x="6099093" y="2411286"/>
            <a:ext cx="1161519" cy="210047"/>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矩形 49"/>
          <p:cNvSpPr/>
          <p:nvPr/>
        </p:nvSpPr>
        <p:spPr bwMode="auto">
          <a:xfrm>
            <a:off x="871504" y="4748690"/>
            <a:ext cx="1012371" cy="240619"/>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燕尾形 51"/>
          <p:cNvSpPr/>
          <p:nvPr/>
        </p:nvSpPr>
        <p:spPr bwMode="gray">
          <a:xfrm>
            <a:off x="9181945"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0815412"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9867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54"/>
          <p:cNvSpPr/>
          <p:nvPr/>
        </p:nvSpPr>
        <p:spPr bwMode="gray">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694551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bwMode="invGray">
          <a:xfrm>
            <a:off x="523910" y="1628093"/>
            <a:ext cx="4797968" cy="1024217"/>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6</a:t>
            </a:r>
            <a:r>
              <a:rPr lang="zh-CN" altLang="en-US" dirty="0" smtClean="0">
                <a:sym typeface="Huawei Sans" panose="020C0503030203020204" pitchFamily="34" charset="0"/>
              </a:rPr>
              <a:t>：定位</a:t>
            </a:r>
            <a:r>
              <a:rPr lang="zh-CN" altLang="en-US" dirty="0">
                <a:sym typeface="Huawei Sans" panose="020C0503030203020204" pitchFamily="34" charset="0"/>
              </a:rPr>
              <a:t>无线接入问题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27" name="文本框 26"/>
          <p:cNvSpPr txBox="1"/>
          <p:nvPr/>
        </p:nvSpPr>
        <p:spPr bwMode="gray">
          <a:xfrm>
            <a:off x="455613" y="1115415"/>
            <a:ext cx="4413060" cy="461665"/>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、首先能够确定，用户在此时出现了接入失败的问题。</a:t>
            </a:r>
            <a:endPar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l"/>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Session List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中选择一条接入失败的会话（直接点击）。</a:t>
            </a:r>
          </a:p>
        </p:txBody>
      </p:sp>
      <p:sp>
        <p:nvSpPr>
          <p:cNvPr id="28" name="文本框 27"/>
          <p:cNvSpPr txBox="1"/>
          <p:nvPr/>
        </p:nvSpPr>
        <p:spPr bwMode="gray">
          <a:xfrm>
            <a:off x="455613" y="2703324"/>
            <a:ext cx="4506145" cy="646331"/>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、查看用户接入过程，发现用户的关联、认证都已经成功，但</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过程出现了异常。</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按钮</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，呈现</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交互的过程</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0" name="图片 29"/>
          <p:cNvPicPr>
            <a:picLocks noChangeAspect="1"/>
          </p:cNvPicPr>
          <p:nvPr/>
        </p:nvPicPr>
        <p:blipFill>
          <a:blip r:embed="rId4"/>
          <a:stretch>
            <a:fillRect/>
          </a:stretch>
        </p:blipFill>
        <p:spPr bwMode="invGray">
          <a:xfrm>
            <a:off x="2167757" y="3210184"/>
            <a:ext cx="842412" cy="1449430"/>
          </a:xfrm>
          <a:prstGeom prst="rect">
            <a:avLst/>
          </a:prstGeom>
        </p:spPr>
      </p:pic>
      <p:sp>
        <p:nvSpPr>
          <p:cNvPr id="31" name="矩形 30"/>
          <p:cNvSpPr/>
          <p:nvPr/>
        </p:nvSpPr>
        <p:spPr bwMode="gray">
          <a:xfrm>
            <a:off x="2210794" y="3984325"/>
            <a:ext cx="784132" cy="28783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文本框 31"/>
          <p:cNvSpPr txBox="1"/>
          <p:nvPr/>
        </p:nvSpPr>
        <p:spPr bwMode="gray">
          <a:xfrm>
            <a:off x="5392430" y="1115414"/>
            <a:ext cx="5010528" cy="461665"/>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6</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交互过程中，可以看到终端向</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 Server</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发送了</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请求，但</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DHCP Server</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回复了</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NAK</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的异常报文</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文本框 32"/>
          <p:cNvSpPr txBox="1"/>
          <p:nvPr/>
        </p:nvSpPr>
        <p:spPr bwMode="gray">
          <a:xfrm>
            <a:off x="10224656" y="3858004"/>
            <a:ext cx="1551708" cy="1015663"/>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7</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、系统分析出问题原因：</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地址池中没有可供分配的</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地址</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建议扩充地址池可用范围。</a:t>
            </a:r>
          </a:p>
        </p:txBody>
      </p:sp>
      <p:pic>
        <p:nvPicPr>
          <p:cNvPr id="35" name="图片 34"/>
          <p:cNvPicPr>
            <a:picLocks noChangeAspect="1"/>
          </p:cNvPicPr>
          <p:nvPr/>
        </p:nvPicPr>
        <p:blipFill>
          <a:blip r:embed="rId5"/>
          <a:stretch>
            <a:fillRect/>
          </a:stretch>
        </p:blipFill>
        <p:spPr bwMode="invGray">
          <a:xfrm>
            <a:off x="5521492" y="1566776"/>
            <a:ext cx="4712399" cy="3259549"/>
          </a:xfrm>
          <a:prstGeom prst="rect">
            <a:avLst/>
          </a:prstGeom>
        </p:spPr>
      </p:pic>
      <p:sp>
        <p:nvSpPr>
          <p:cNvPr id="36" name="矩形 35"/>
          <p:cNvSpPr/>
          <p:nvPr/>
        </p:nvSpPr>
        <p:spPr bwMode="gray">
          <a:xfrm>
            <a:off x="5584643" y="4428357"/>
            <a:ext cx="3684817" cy="375606"/>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右箭头 36"/>
          <p:cNvSpPr/>
          <p:nvPr/>
        </p:nvSpPr>
        <p:spPr bwMode="gray">
          <a:xfrm>
            <a:off x="9273080" y="4373729"/>
            <a:ext cx="808868" cy="185557"/>
          </a:xfrm>
          <a:prstGeom prst="rightArrow">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37"/>
          <p:cNvSpPr/>
          <p:nvPr/>
        </p:nvSpPr>
        <p:spPr bwMode="gray">
          <a:xfrm>
            <a:off x="6097393" y="2529542"/>
            <a:ext cx="2917297" cy="654418"/>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上箭头 38"/>
          <p:cNvSpPr/>
          <p:nvPr/>
        </p:nvSpPr>
        <p:spPr bwMode="gray">
          <a:xfrm>
            <a:off x="7466229" y="1539334"/>
            <a:ext cx="201080" cy="987901"/>
          </a:xfrm>
          <a:prstGeom prst="upArrow">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圆角矩形 75"/>
          <p:cNvSpPr/>
          <p:nvPr/>
        </p:nvSpPr>
        <p:spPr bwMode="gray">
          <a:xfrm>
            <a:off x="1026553" y="4941455"/>
            <a:ext cx="1015616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75"/>
          <p:cNvSpPr/>
          <p:nvPr/>
        </p:nvSpPr>
        <p:spPr bwMode="gray">
          <a:xfrm>
            <a:off x="1026553" y="5345413"/>
            <a:ext cx="10156169" cy="77310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协议回放能力，能够基于用户接入</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三阶段（关联、认证、</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）进行协议级别的精细化分析，细化各阶段协议交互的详情，提供用户接入问题的根因与修复建议，是解决</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连不上问题的一个强有力的武器。</a:t>
            </a:r>
          </a:p>
        </p:txBody>
      </p:sp>
      <p:sp>
        <p:nvSpPr>
          <p:cNvPr id="45" name="燕尾形 44"/>
          <p:cNvSpPr/>
          <p:nvPr/>
        </p:nvSpPr>
        <p:spPr bwMode="gray">
          <a:xfrm>
            <a:off x="9181948"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10815415"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9998682"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五边形 47"/>
          <p:cNvSpPr/>
          <p:nvPr/>
        </p:nvSpPr>
        <p:spPr bwMode="gray">
          <a:xfrm>
            <a:off x="7465214"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8365214"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3774642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23"/>
          <p:cNvSpPr/>
          <p:nvPr/>
        </p:nvSpPr>
        <p:spPr bwMode="gray">
          <a:xfrm>
            <a:off x="455613" y="2316395"/>
            <a:ext cx="5716815" cy="3884380"/>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Working with Partners to Build One of the Five Clouds for an Intelligent World"/>
          <p:cNvSpPr txBox="1"/>
          <p:nvPr/>
        </p:nvSpPr>
        <p:spPr bwMode="gray">
          <a:xfrm>
            <a:off x="591389" y="3580903"/>
            <a:ext cx="1243930"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Step2 AI</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p>
        </p:txBody>
      </p:sp>
      <p:sp>
        <p:nvSpPr>
          <p:cNvPr id="6" name="3年支持100万开发者实践"/>
          <p:cNvSpPr txBox="1"/>
          <p:nvPr/>
        </p:nvSpPr>
        <p:spPr bwMode="gray">
          <a:xfrm>
            <a:off x="591390" y="3935419"/>
            <a:ext cx="2599072" cy="64633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使用相关性分析算法，分析出相关性最大的网络指标，锁定问题根</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因。</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Rounded Rectangle 23"/>
          <p:cNvSpPr/>
          <p:nvPr/>
        </p:nvSpPr>
        <p:spPr bwMode="gray">
          <a:xfrm>
            <a:off x="455613" y="944563"/>
            <a:ext cx="5716815" cy="1263537"/>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591389" y="1163443"/>
            <a:ext cx="1243930"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Step1 AI</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识别</a:t>
            </a:r>
          </a:p>
        </p:txBody>
      </p:sp>
      <p:sp>
        <p:nvSpPr>
          <p:cNvPr id="9" name="3年支持100万开发者实践"/>
          <p:cNvSpPr txBox="1"/>
          <p:nvPr/>
        </p:nvSpPr>
        <p:spPr bwMode="gray">
          <a:xfrm>
            <a:off x="591389" y="1511112"/>
            <a:ext cx="2599073" cy="430887"/>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算法进行离群检测，识别</a:t>
            </a:r>
            <a:r>
              <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体验劣化</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6" name="组合 15"/>
          <p:cNvGrpSpPr/>
          <p:nvPr/>
        </p:nvGrpSpPr>
        <p:grpSpPr>
          <a:xfrm>
            <a:off x="3335891" y="944563"/>
            <a:ext cx="8349525" cy="5256212"/>
            <a:chOff x="3363050" y="944563"/>
            <a:chExt cx="8349525" cy="5256212"/>
          </a:xfrm>
        </p:grpSpPr>
        <p:pic>
          <p:nvPicPr>
            <p:cNvPr id="10" name="图片 9"/>
            <p:cNvPicPr>
              <a:picLocks noChangeAspect="1"/>
            </p:cNvPicPr>
            <p:nvPr/>
          </p:nvPicPr>
          <p:blipFill>
            <a:blip r:embed="rId3"/>
            <a:stretch>
              <a:fillRect/>
            </a:stretch>
          </p:blipFill>
          <p:spPr bwMode="invGray">
            <a:xfrm>
              <a:off x="3363050" y="944563"/>
              <a:ext cx="8349525" cy="5256212"/>
            </a:xfrm>
            <a:prstGeom prst="rect">
              <a:avLst/>
            </a:prstGeom>
          </p:spPr>
        </p:pic>
        <p:sp>
          <p:nvSpPr>
            <p:cNvPr id="15" name="矩形 14"/>
            <p:cNvSpPr/>
            <p:nvPr/>
          </p:nvSpPr>
          <p:spPr>
            <a:xfrm>
              <a:off x="5658416" y="1511112"/>
              <a:ext cx="514012" cy="73244"/>
            </a:xfrm>
            <a:prstGeom prst="rect">
              <a:avLst/>
            </a:prstGeom>
            <a:solidFill>
              <a:srgbClr val="292E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用户</a:t>
            </a:r>
            <a:r>
              <a:rPr lang="en-US" altLang="zh-CN" dirty="0" smtClean="0">
                <a:sym typeface="Huawei Sans" panose="020C0503030203020204" pitchFamily="34" charset="0"/>
              </a:rPr>
              <a:t>Wi-Fi</a:t>
            </a:r>
            <a:r>
              <a:rPr lang="zh-CN" altLang="en-US" dirty="0" smtClean="0">
                <a:sym typeface="Huawei Sans" panose="020C0503030203020204" pitchFamily="34" charset="0"/>
              </a:rPr>
              <a:t>体验劣化相关性分析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23" name="燕尾形 22"/>
          <p:cNvSpPr/>
          <p:nvPr/>
        </p:nvSpPr>
        <p:spPr bwMode="gray">
          <a:xfrm>
            <a:off x="9181945"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815412"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98679"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五边形 25"/>
          <p:cNvSpPr/>
          <p:nvPr/>
        </p:nvSpPr>
        <p:spPr bwMode="gray">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3335891" y="964441"/>
            <a:ext cx="8349525" cy="114265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矩形 20"/>
          <p:cNvSpPr/>
          <p:nvPr/>
        </p:nvSpPr>
        <p:spPr bwMode="gray">
          <a:xfrm>
            <a:off x="3335891" y="2306456"/>
            <a:ext cx="8352361" cy="388438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0187045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用户</a:t>
            </a:r>
            <a:r>
              <a:rPr lang="en-US" altLang="zh-CN" dirty="0" smtClean="0">
                <a:sym typeface="Huawei Sans" panose="020C0503030203020204" pitchFamily="34" charset="0"/>
              </a:rPr>
              <a:t>Wi-Fi</a:t>
            </a:r>
            <a:r>
              <a:rPr lang="zh-CN" altLang="en-US" dirty="0" smtClean="0">
                <a:sym typeface="Huawei Sans" panose="020C0503030203020204" pitchFamily="34" charset="0"/>
              </a:rPr>
              <a:t>体验劣化相关性分析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7" name="Rounded Rectangle 23"/>
          <p:cNvSpPr/>
          <p:nvPr/>
        </p:nvSpPr>
        <p:spPr bwMode="gray">
          <a:xfrm>
            <a:off x="455613" y="1530158"/>
            <a:ext cx="5716815" cy="1599854"/>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591389" y="1768916"/>
            <a:ext cx="1243930"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Step3 AI</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闭环</a:t>
            </a:r>
          </a:p>
        </p:txBody>
      </p:sp>
      <p:sp>
        <p:nvSpPr>
          <p:cNvPr id="9" name="3年支持100万开发者实践"/>
          <p:cNvSpPr txBox="1"/>
          <p:nvPr/>
        </p:nvSpPr>
        <p:spPr bwMode="gray">
          <a:xfrm>
            <a:off x="591389" y="2115753"/>
            <a:ext cx="2599073" cy="64633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根据华为工程师长期运维专家经验，给出最合理的问题闭环修复建议。</a:t>
            </a:r>
          </a:p>
        </p:txBody>
      </p:sp>
      <p:sp>
        <p:nvSpPr>
          <p:cNvPr id="23" name="燕尾形 22"/>
          <p:cNvSpPr/>
          <p:nvPr/>
        </p:nvSpPr>
        <p:spPr bwMode="gray">
          <a:xfrm>
            <a:off x="9181945"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815412"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98679" y="124239"/>
            <a:ext cx="90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五边形 25"/>
          <p:cNvSpPr/>
          <p:nvPr/>
        </p:nvSpPr>
        <p:spPr bwMode="gray">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noChangeAspect="1"/>
          </p:cNvPicPr>
          <p:nvPr/>
        </p:nvPicPr>
        <p:blipFill>
          <a:blip r:embed="rId3"/>
          <a:stretch>
            <a:fillRect/>
          </a:stretch>
        </p:blipFill>
        <p:spPr bwMode="invGray">
          <a:xfrm>
            <a:off x="3356721" y="1530157"/>
            <a:ext cx="8331532" cy="1611203"/>
          </a:xfrm>
          <a:prstGeom prst="rect">
            <a:avLst/>
          </a:prstGeom>
        </p:spPr>
      </p:pic>
      <p:sp>
        <p:nvSpPr>
          <p:cNvPr id="18" name="矩形 17"/>
          <p:cNvSpPr/>
          <p:nvPr/>
        </p:nvSpPr>
        <p:spPr bwMode="gray">
          <a:xfrm>
            <a:off x="455613" y="5862221"/>
            <a:ext cx="11259799" cy="338554"/>
          </a:xfrm>
          <a:prstGeom prst="rect">
            <a:avLst/>
          </a:prstGeom>
          <a:solidFill>
            <a:srgbClr val="30B5C5"/>
          </a:solidFill>
        </p:spPr>
        <p:txBody>
          <a:bodyPr wrap="square">
            <a:spAutoFit/>
          </a:bodyPr>
          <a:lstStyle/>
          <a:p>
            <a:pPr algn="ctr"/>
            <a:r>
              <a:rPr lang="en-US" altLang="zh-CN"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连接</a:t>
            </a: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质量</a:t>
            </a:r>
            <a:r>
              <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不好</a:t>
            </a: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？“全</a:t>
            </a:r>
            <a:r>
              <a:rPr lang="en-US" altLang="zh-CN"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bwMode="gray">
          <a:xfrm>
            <a:off x="3335891" y="1519476"/>
            <a:ext cx="8349525" cy="161053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2795774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应用分析：基于应用的端到端体验感知及保障</a:t>
            </a:r>
            <a:endParaRPr lang="zh-CN" altLang="en-US" dirty="0">
              <a:sym typeface="Huawei Sans" panose="020C0503030203020204" pitchFamily="34" charset="0"/>
            </a:endParaRPr>
          </a:p>
        </p:txBody>
      </p:sp>
      <p:sp>
        <p:nvSpPr>
          <p:cNvPr id="3" name="Rectangle 1"/>
          <p:cNvSpPr>
            <a:spLocks noChangeArrowheads="1"/>
          </p:cNvSpPr>
          <p:nvPr/>
        </p:nvSpPr>
        <p:spPr bwMode="gray">
          <a:xfrm>
            <a:off x="4188897" y="3316934"/>
            <a:ext cx="3740601" cy="2125926"/>
          </a:xfrm>
          <a:prstGeom prst="rect">
            <a:avLst/>
          </a:prstGeom>
          <a:solidFill>
            <a:srgbClr val="EBEBEB"/>
          </a:solidFill>
          <a:ln w="19050">
            <a:noFill/>
            <a:round/>
            <a:headEnd/>
            <a:tailEnd/>
          </a:ln>
          <a:effectLst/>
          <a:extLst/>
        </p:spPr>
        <p:txBody>
          <a:bodyPr vert="horz" wrap="none" lIns="91440" tIns="45720" rIns="91440" bIns="45720" numCol="1" anchor="ctr"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srgbClr val="B2B2B2"/>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 name="object 11"/>
          <p:cNvSpPr/>
          <p:nvPr/>
        </p:nvSpPr>
        <p:spPr bwMode="gray">
          <a:xfrm>
            <a:off x="804504" y="1624259"/>
            <a:ext cx="10358767" cy="1072603"/>
          </a:xfrm>
          <a:custGeom>
            <a:avLst/>
            <a:gdLst/>
            <a:ahLst/>
            <a:cxnLst/>
            <a:rect l="l" t="t" r="r" b="b"/>
            <a:pathLst>
              <a:path w="18062575" h="1482089">
                <a:moveTo>
                  <a:pt x="0" y="1481697"/>
                </a:moveTo>
                <a:lnTo>
                  <a:pt x="73452" y="1455822"/>
                </a:lnTo>
                <a:lnTo>
                  <a:pt x="200363" y="1411931"/>
                </a:lnTo>
                <a:lnTo>
                  <a:pt x="327864" y="1368649"/>
                </a:lnTo>
                <a:lnTo>
                  <a:pt x="455951" y="1325977"/>
                </a:lnTo>
                <a:lnTo>
                  <a:pt x="584618" y="1283920"/>
                </a:lnTo>
                <a:lnTo>
                  <a:pt x="713862" y="1242480"/>
                </a:lnTo>
                <a:lnTo>
                  <a:pt x="843676" y="1201661"/>
                </a:lnTo>
                <a:lnTo>
                  <a:pt x="974058" y="1161465"/>
                </a:lnTo>
                <a:lnTo>
                  <a:pt x="1105000" y="1121896"/>
                </a:lnTo>
                <a:lnTo>
                  <a:pt x="1236500" y="1082956"/>
                </a:lnTo>
                <a:lnTo>
                  <a:pt x="1368552" y="1044650"/>
                </a:lnTo>
                <a:lnTo>
                  <a:pt x="1501150" y="1006979"/>
                </a:lnTo>
                <a:lnTo>
                  <a:pt x="1634292" y="969946"/>
                </a:lnTo>
                <a:lnTo>
                  <a:pt x="1767970" y="933556"/>
                </a:lnTo>
                <a:lnTo>
                  <a:pt x="1902182" y="897811"/>
                </a:lnTo>
                <a:lnTo>
                  <a:pt x="2036922" y="862713"/>
                </a:lnTo>
                <a:lnTo>
                  <a:pt x="2172185" y="828267"/>
                </a:lnTo>
                <a:lnTo>
                  <a:pt x="2307966" y="794475"/>
                </a:lnTo>
                <a:lnTo>
                  <a:pt x="2444261" y="761340"/>
                </a:lnTo>
                <a:lnTo>
                  <a:pt x="2581064" y="728865"/>
                </a:lnTo>
                <a:lnTo>
                  <a:pt x="2718372" y="697053"/>
                </a:lnTo>
                <a:lnTo>
                  <a:pt x="2856178" y="665908"/>
                </a:lnTo>
                <a:lnTo>
                  <a:pt x="2994480" y="635432"/>
                </a:lnTo>
                <a:lnTo>
                  <a:pt x="3133270" y="605629"/>
                </a:lnTo>
                <a:lnTo>
                  <a:pt x="3272546" y="576501"/>
                </a:lnTo>
                <a:lnTo>
                  <a:pt x="3412301" y="548051"/>
                </a:lnTo>
                <a:lnTo>
                  <a:pt x="3552532" y="520284"/>
                </a:lnTo>
                <a:lnTo>
                  <a:pt x="3693233" y="493201"/>
                </a:lnTo>
                <a:lnTo>
                  <a:pt x="3834400" y="466805"/>
                </a:lnTo>
                <a:lnTo>
                  <a:pt x="3976027" y="441101"/>
                </a:lnTo>
                <a:lnTo>
                  <a:pt x="4118110" y="416090"/>
                </a:lnTo>
                <a:lnTo>
                  <a:pt x="4260645" y="391776"/>
                </a:lnTo>
                <a:lnTo>
                  <a:pt x="4403626" y="368163"/>
                </a:lnTo>
                <a:lnTo>
                  <a:pt x="4547048" y="345252"/>
                </a:lnTo>
                <a:lnTo>
                  <a:pt x="4690907" y="323047"/>
                </a:lnTo>
                <a:lnTo>
                  <a:pt x="4835198" y="301552"/>
                </a:lnTo>
                <a:lnTo>
                  <a:pt x="4979916" y="280768"/>
                </a:lnTo>
                <a:lnTo>
                  <a:pt x="5125057" y="260700"/>
                </a:lnTo>
                <a:lnTo>
                  <a:pt x="5270615" y="241350"/>
                </a:lnTo>
                <a:lnTo>
                  <a:pt x="5416586" y="222722"/>
                </a:lnTo>
                <a:lnTo>
                  <a:pt x="5562965" y="204818"/>
                </a:lnTo>
                <a:lnTo>
                  <a:pt x="5709747" y="187642"/>
                </a:lnTo>
                <a:lnTo>
                  <a:pt x="5856927" y="171196"/>
                </a:lnTo>
                <a:lnTo>
                  <a:pt x="6004501" y="155483"/>
                </a:lnTo>
                <a:lnTo>
                  <a:pt x="6152463" y="140507"/>
                </a:lnTo>
                <a:lnTo>
                  <a:pt x="6300810" y="126271"/>
                </a:lnTo>
                <a:lnTo>
                  <a:pt x="6449535" y="112778"/>
                </a:lnTo>
                <a:lnTo>
                  <a:pt x="6598635" y="100031"/>
                </a:lnTo>
                <a:lnTo>
                  <a:pt x="6748105" y="88032"/>
                </a:lnTo>
                <a:lnTo>
                  <a:pt x="6897939" y="76786"/>
                </a:lnTo>
                <a:lnTo>
                  <a:pt x="7048133" y="66294"/>
                </a:lnTo>
                <a:lnTo>
                  <a:pt x="7198682" y="56561"/>
                </a:lnTo>
                <a:lnTo>
                  <a:pt x="7349582" y="47588"/>
                </a:lnTo>
                <a:lnTo>
                  <a:pt x="7500827" y="39380"/>
                </a:lnTo>
                <a:lnTo>
                  <a:pt x="7652413" y="31939"/>
                </a:lnTo>
                <a:lnTo>
                  <a:pt x="7804334" y="25268"/>
                </a:lnTo>
                <a:lnTo>
                  <a:pt x="7956587" y="19371"/>
                </a:lnTo>
                <a:lnTo>
                  <a:pt x="8109166" y="14250"/>
                </a:lnTo>
                <a:lnTo>
                  <a:pt x="8262066" y="9908"/>
                </a:lnTo>
                <a:lnTo>
                  <a:pt x="8415284" y="6349"/>
                </a:lnTo>
                <a:lnTo>
                  <a:pt x="8568813" y="3576"/>
                </a:lnTo>
                <a:lnTo>
                  <a:pt x="8722649" y="1591"/>
                </a:lnTo>
                <a:lnTo>
                  <a:pt x="8876788" y="398"/>
                </a:lnTo>
                <a:lnTo>
                  <a:pt x="9031224" y="0"/>
                </a:lnTo>
                <a:lnTo>
                  <a:pt x="9185659" y="398"/>
                </a:lnTo>
                <a:lnTo>
                  <a:pt x="9339798" y="1591"/>
                </a:lnTo>
                <a:lnTo>
                  <a:pt x="9493634" y="3576"/>
                </a:lnTo>
                <a:lnTo>
                  <a:pt x="9647163" y="6349"/>
                </a:lnTo>
                <a:lnTo>
                  <a:pt x="9800381" y="9908"/>
                </a:lnTo>
                <a:lnTo>
                  <a:pt x="9953281" y="14250"/>
                </a:lnTo>
                <a:lnTo>
                  <a:pt x="10105860" y="19371"/>
                </a:lnTo>
                <a:lnTo>
                  <a:pt x="10258113" y="25268"/>
                </a:lnTo>
                <a:lnTo>
                  <a:pt x="10410034" y="31939"/>
                </a:lnTo>
                <a:lnTo>
                  <a:pt x="10561620" y="39380"/>
                </a:lnTo>
                <a:lnTo>
                  <a:pt x="10712865" y="47588"/>
                </a:lnTo>
                <a:lnTo>
                  <a:pt x="10863765" y="56561"/>
                </a:lnTo>
                <a:lnTo>
                  <a:pt x="11014314" y="66294"/>
                </a:lnTo>
                <a:lnTo>
                  <a:pt x="11164508" y="76786"/>
                </a:lnTo>
                <a:lnTo>
                  <a:pt x="11314342" y="88032"/>
                </a:lnTo>
                <a:lnTo>
                  <a:pt x="11463812" y="100031"/>
                </a:lnTo>
                <a:lnTo>
                  <a:pt x="11612912" y="112778"/>
                </a:lnTo>
                <a:lnTo>
                  <a:pt x="11761637" y="126271"/>
                </a:lnTo>
                <a:lnTo>
                  <a:pt x="11909984" y="140507"/>
                </a:lnTo>
                <a:lnTo>
                  <a:pt x="12057946" y="155483"/>
                </a:lnTo>
                <a:lnTo>
                  <a:pt x="12205520" y="171196"/>
                </a:lnTo>
                <a:lnTo>
                  <a:pt x="12352700" y="187642"/>
                </a:lnTo>
                <a:lnTo>
                  <a:pt x="12499482" y="204818"/>
                </a:lnTo>
                <a:lnTo>
                  <a:pt x="12645861" y="222722"/>
                </a:lnTo>
                <a:lnTo>
                  <a:pt x="12791832" y="241350"/>
                </a:lnTo>
                <a:lnTo>
                  <a:pt x="12937390" y="260700"/>
                </a:lnTo>
                <a:lnTo>
                  <a:pt x="13082531" y="280768"/>
                </a:lnTo>
                <a:lnTo>
                  <a:pt x="13227249" y="301552"/>
                </a:lnTo>
                <a:lnTo>
                  <a:pt x="13371540" y="323047"/>
                </a:lnTo>
                <a:lnTo>
                  <a:pt x="13515399" y="345252"/>
                </a:lnTo>
                <a:lnTo>
                  <a:pt x="13658821" y="368163"/>
                </a:lnTo>
                <a:lnTo>
                  <a:pt x="13801802" y="391776"/>
                </a:lnTo>
                <a:lnTo>
                  <a:pt x="13944337" y="416090"/>
                </a:lnTo>
                <a:lnTo>
                  <a:pt x="14086420" y="441101"/>
                </a:lnTo>
                <a:lnTo>
                  <a:pt x="14228047" y="466805"/>
                </a:lnTo>
                <a:lnTo>
                  <a:pt x="14369214" y="493201"/>
                </a:lnTo>
                <a:lnTo>
                  <a:pt x="14509915" y="520284"/>
                </a:lnTo>
                <a:lnTo>
                  <a:pt x="14650146" y="548051"/>
                </a:lnTo>
                <a:lnTo>
                  <a:pt x="14789901" y="576501"/>
                </a:lnTo>
                <a:lnTo>
                  <a:pt x="14929177" y="605629"/>
                </a:lnTo>
                <a:lnTo>
                  <a:pt x="15067967" y="635432"/>
                </a:lnTo>
                <a:lnTo>
                  <a:pt x="15206269" y="665908"/>
                </a:lnTo>
                <a:lnTo>
                  <a:pt x="15344075" y="697053"/>
                </a:lnTo>
                <a:lnTo>
                  <a:pt x="15481383" y="728865"/>
                </a:lnTo>
                <a:lnTo>
                  <a:pt x="15618186" y="761340"/>
                </a:lnTo>
                <a:lnTo>
                  <a:pt x="15754481" y="794475"/>
                </a:lnTo>
                <a:lnTo>
                  <a:pt x="15890262" y="828267"/>
                </a:lnTo>
                <a:lnTo>
                  <a:pt x="16025525" y="862713"/>
                </a:lnTo>
                <a:lnTo>
                  <a:pt x="16160265" y="897811"/>
                </a:lnTo>
                <a:lnTo>
                  <a:pt x="16294477" y="933556"/>
                </a:lnTo>
                <a:lnTo>
                  <a:pt x="16428155" y="969946"/>
                </a:lnTo>
                <a:lnTo>
                  <a:pt x="16561297" y="1006979"/>
                </a:lnTo>
                <a:lnTo>
                  <a:pt x="16693895" y="1044650"/>
                </a:lnTo>
                <a:lnTo>
                  <a:pt x="16825947" y="1082956"/>
                </a:lnTo>
                <a:lnTo>
                  <a:pt x="16957447" y="1121896"/>
                </a:lnTo>
                <a:lnTo>
                  <a:pt x="17088389" y="1161465"/>
                </a:lnTo>
                <a:lnTo>
                  <a:pt x="17218771" y="1201661"/>
                </a:lnTo>
                <a:lnTo>
                  <a:pt x="17348585" y="1242480"/>
                </a:lnTo>
                <a:lnTo>
                  <a:pt x="17477829" y="1283920"/>
                </a:lnTo>
                <a:lnTo>
                  <a:pt x="17606496" y="1325977"/>
                </a:lnTo>
                <a:lnTo>
                  <a:pt x="17734583" y="1368649"/>
                </a:lnTo>
                <a:lnTo>
                  <a:pt x="17862084" y="1411931"/>
                </a:lnTo>
                <a:lnTo>
                  <a:pt x="17988995" y="1455822"/>
                </a:lnTo>
                <a:lnTo>
                  <a:pt x="18062446" y="1481697"/>
                </a:lnTo>
              </a:path>
            </a:pathLst>
          </a:custGeom>
          <a:solidFill>
            <a:srgbClr val="FFFFFF">
              <a:lumMod val="95000"/>
            </a:srgbClr>
          </a:solidFill>
          <a:ln w="28575">
            <a:solidFill>
              <a:srgbClr val="56C4D2"/>
            </a:solidFill>
          </a:ln>
        </p:spPr>
        <p:txBody>
          <a:bodyPr wrap="square" lIns="0" tIns="0" rIns="0" bIns="0"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61722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object 15"/>
          <p:cNvSpPr/>
          <p:nvPr/>
        </p:nvSpPr>
        <p:spPr bwMode="gray">
          <a:xfrm>
            <a:off x="5822464" y="1509948"/>
            <a:ext cx="218778" cy="206915"/>
          </a:xfrm>
          <a:custGeom>
            <a:avLst/>
            <a:gdLst/>
            <a:ahLst/>
            <a:cxnLst/>
            <a:rect l="l" t="t" r="r" b="b"/>
            <a:pathLst>
              <a:path w="360045" h="360045">
                <a:moveTo>
                  <a:pt x="179832" y="0"/>
                </a:moveTo>
                <a:lnTo>
                  <a:pt x="132027" y="6424"/>
                </a:lnTo>
                <a:lnTo>
                  <a:pt x="89069" y="24553"/>
                </a:lnTo>
                <a:lnTo>
                  <a:pt x="52673" y="52673"/>
                </a:lnTo>
                <a:lnTo>
                  <a:pt x="24553" y="89069"/>
                </a:lnTo>
                <a:lnTo>
                  <a:pt x="6424" y="132027"/>
                </a:lnTo>
                <a:lnTo>
                  <a:pt x="0" y="179832"/>
                </a:lnTo>
                <a:lnTo>
                  <a:pt x="6424" y="227636"/>
                </a:lnTo>
                <a:lnTo>
                  <a:pt x="24553" y="270594"/>
                </a:lnTo>
                <a:lnTo>
                  <a:pt x="52673" y="306990"/>
                </a:lnTo>
                <a:lnTo>
                  <a:pt x="89069" y="335110"/>
                </a:lnTo>
                <a:lnTo>
                  <a:pt x="132027" y="353239"/>
                </a:lnTo>
                <a:lnTo>
                  <a:pt x="179832" y="359663"/>
                </a:lnTo>
                <a:lnTo>
                  <a:pt x="227636" y="353239"/>
                </a:lnTo>
                <a:lnTo>
                  <a:pt x="270594" y="335110"/>
                </a:lnTo>
                <a:lnTo>
                  <a:pt x="306990" y="306990"/>
                </a:lnTo>
                <a:lnTo>
                  <a:pt x="335110" y="270594"/>
                </a:lnTo>
                <a:lnTo>
                  <a:pt x="353239" y="227636"/>
                </a:lnTo>
                <a:lnTo>
                  <a:pt x="359663" y="179832"/>
                </a:lnTo>
                <a:lnTo>
                  <a:pt x="353239" y="132027"/>
                </a:lnTo>
                <a:lnTo>
                  <a:pt x="335110" y="89069"/>
                </a:lnTo>
                <a:lnTo>
                  <a:pt x="306990" y="52673"/>
                </a:lnTo>
                <a:lnTo>
                  <a:pt x="270594" y="24553"/>
                </a:lnTo>
                <a:lnTo>
                  <a:pt x="227636" y="6424"/>
                </a:lnTo>
                <a:lnTo>
                  <a:pt x="179832" y="0"/>
                </a:lnTo>
                <a:close/>
              </a:path>
            </a:pathLst>
          </a:custGeom>
          <a:solidFill>
            <a:srgbClr val="EBEBEB"/>
          </a:solidFill>
          <a:ln>
            <a:solidFill>
              <a:srgbClr val="56C4D2"/>
            </a:solidFill>
          </a:ln>
        </p:spPr>
        <p:txBody>
          <a:bodyPr wrap="square" lIns="0" tIns="0" rIns="0" bIns="0"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61722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object 15"/>
          <p:cNvSpPr/>
          <p:nvPr/>
        </p:nvSpPr>
        <p:spPr bwMode="gray">
          <a:xfrm>
            <a:off x="9113830" y="1936119"/>
            <a:ext cx="218778" cy="206915"/>
          </a:xfrm>
          <a:custGeom>
            <a:avLst/>
            <a:gdLst/>
            <a:ahLst/>
            <a:cxnLst/>
            <a:rect l="l" t="t" r="r" b="b"/>
            <a:pathLst>
              <a:path w="360045" h="360045">
                <a:moveTo>
                  <a:pt x="179832" y="0"/>
                </a:moveTo>
                <a:lnTo>
                  <a:pt x="132027" y="6424"/>
                </a:lnTo>
                <a:lnTo>
                  <a:pt x="89069" y="24553"/>
                </a:lnTo>
                <a:lnTo>
                  <a:pt x="52673" y="52673"/>
                </a:lnTo>
                <a:lnTo>
                  <a:pt x="24553" y="89069"/>
                </a:lnTo>
                <a:lnTo>
                  <a:pt x="6424" y="132027"/>
                </a:lnTo>
                <a:lnTo>
                  <a:pt x="0" y="179832"/>
                </a:lnTo>
                <a:lnTo>
                  <a:pt x="6424" y="227636"/>
                </a:lnTo>
                <a:lnTo>
                  <a:pt x="24553" y="270594"/>
                </a:lnTo>
                <a:lnTo>
                  <a:pt x="52673" y="306990"/>
                </a:lnTo>
                <a:lnTo>
                  <a:pt x="89069" y="335110"/>
                </a:lnTo>
                <a:lnTo>
                  <a:pt x="132027" y="353239"/>
                </a:lnTo>
                <a:lnTo>
                  <a:pt x="179832" y="359663"/>
                </a:lnTo>
                <a:lnTo>
                  <a:pt x="227636" y="353239"/>
                </a:lnTo>
                <a:lnTo>
                  <a:pt x="270594" y="335110"/>
                </a:lnTo>
                <a:lnTo>
                  <a:pt x="306990" y="306990"/>
                </a:lnTo>
                <a:lnTo>
                  <a:pt x="335110" y="270594"/>
                </a:lnTo>
                <a:lnTo>
                  <a:pt x="353239" y="227636"/>
                </a:lnTo>
                <a:lnTo>
                  <a:pt x="359663" y="179832"/>
                </a:lnTo>
                <a:lnTo>
                  <a:pt x="353239" y="132027"/>
                </a:lnTo>
                <a:lnTo>
                  <a:pt x="335110" y="89069"/>
                </a:lnTo>
                <a:lnTo>
                  <a:pt x="306990" y="52673"/>
                </a:lnTo>
                <a:lnTo>
                  <a:pt x="270594" y="24553"/>
                </a:lnTo>
                <a:lnTo>
                  <a:pt x="227636" y="6424"/>
                </a:lnTo>
                <a:lnTo>
                  <a:pt x="179832" y="0"/>
                </a:lnTo>
                <a:close/>
              </a:path>
            </a:pathLst>
          </a:custGeom>
          <a:solidFill>
            <a:srgbClr val="EBEBEB"/>
          </a:solidFill>
          <a:ln>
            <a:solidFill>
              <a:srgbClr val="56C4D2"/>
            </a:solidFill>
          </a:ln>
        </p:spPr>
        <p:txBody>
          <a:bodyPr wrap="square" lIns="0" tIns="0" rIns="0" bIns="0"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61722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bject 15"/>
          <p:cNvSpPr/>
          <p:nvPr/>
        </p:nvSpPr>
        <p:spPr bwMode="gray">
          <a:xfrm>
            <a:off x="2634666" y="1936119"/>
            <a:ext cx="218778" cy="206915"/>
          </a:xfrm>
          <a:custGeom>
            <a:avLst/>
            <a:gdLst/>
            <a:ahLst/>
            <a:cxnLst/>
            <a:rect l="l" t="t" r="r" b="b"/>
            <a:pathLst>
              <a:path w="360045" h="360045">
                <a:moveTo>
                  <a:pt x="179832" y="0"/>
                </a:moveTo>
                <a:lnTo>
                  <a:pt x="132027" y="6424"/>
                </a:lnTo>
                <a:lnTo>
                  <a:pt x="89069" y="24553"/>
                </a:lnTo>
                <a:lnTo>
                  <a:pt x="52673" y="52673"/>
                </a:lnTo>
                <a:lnTo>
                  <a:pt x="24553" y="89069"/>
                </a:lnTo>
                <a:lnTo>
                  <a:pt x="6424" y="132027"/>
                </a:lnTo>
                <a:lnTo>
                  <a:pt x="0" y="179832"/>
                </a:lnTo>
                <a:lnTo>
                  <a:pt x="6424" y="227636"/>
                </a:lnTo>
                <a:lnTo>
                  <a:pt x="24553" y="270594"/>
                </a:lnTo>
                <a:lnTo>
                  <a:pt x="52673" y="306990"/>
                </a:lnTo>
                <a:lnTo>
                  <a:pt x="89069" y="335110"/>
                </a:lnTo>
                <a:lnTo>
                  <a:pt x="132027" y="353239"/>
                </a:lnTo>
                <a:lnTo>
                  <a:pt x="179832" y="359663"/>
                </a:lnTo>
                <a:lnTo>
                  <a:pt x="227636" y="353239"/>
                </a:lnTo>
                <a:lnTo>
                  <a:pt x="270594" y="335110"/>
                </a:lnTo>
                <a:lnTo>
                  <a:pt x="306990" y="306990"/>
                </a:lnTo>
                <a:lnTo>
                  <a:pt x="335110" y="270594"/>
                </a:lnTo>
                <a:lnTo>
                  <a:pt x="353239" y="227636"/>
                </a:lnTo>
                <a:lnTo>
                  <a:pt x="359663" y="179832"/>
                </a:lnTo>
                <a:lnTo>
                  <a:pt x="353239" y="132027"/>
                </a:lnTo>
                <a:lnTo>
                  <a:pt x="335110" y="89069"/>
                </a:lnTo>
                <a:lnTo>
                  <a:pt x="306990" y="52673"/>
                </a:lnTo>
                <a:lnTo>
                  <a:pt x="270594" y="24553"/>
                </a:lnTo>
                <a:lnTo>
                  <a:pt x="227636" y="6424"/>
                </a:lnTo>
                <a:lnTo>
                  <a:pt x="179832" y="0"/>
                </a:lnTo>
                <a:close/>
              </a:path>
            </a:pathLst>
          </a:custGeom>
          <a:solidFill>
            <a:srgbClr val="EBEBEB"/>
          </a:solidFill>
          <a:ln>
            <a:solidFill>
              <a:srgbClr val="56C4D2"/>
            </a:solidFill>
          </a:ln>
        </p:spPr>
        <p:txBody>
          <a:bodyPr wrap="square" lIns="0" tIns="0" rIns="0" bIns="0"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61722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rot="20681533">
            <a:off x="2131965" y="1523382"/>
            <a:ext cx="1005403" cy="344353"/>
          </a:xfrm>
          <a:prstGeom prst="rect">
            <a:avLst/>
          </a:prstGeom>
          <a:solidFill>
            <a:srgbClr val="FFFFFF"/>
          </a:solidFill>
        </p:spPr>
        <p:txBody>
          <a:bodyPr wrap="none" anchor="ctr">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b="1"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应用可视</a:t>
            </a:r>
            <a:endParaRPr kumimoji="0" lang="zh-CN" altLang="en-US" sz="16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rot="880314">
            <a:off x="8836561" y="1457702"/>
            <a:ext cx="1005403" cy="344353"/>
          </a:xfrm>
          <a:prstGeom prst="rect">
            <a:avLst/>
          </a:prstGeom>
          <a:solidFill>
            <a:srgbClr val="FFFFFF"/>
          </a:solidFill>
        </p:spPr>
        <p:txBody>
          <a:bodyPr wrap="none" anchor="ctr">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故障定界</a:t>
            </a:r>
          </a:p>
        </p:txBody>
      </p:sp>
      <p:sp>
        <p:nvSpPr>
          <p:cNvPr id="10" name="燕尾形 9"/>
          <p:cNvSpPr>
            <a:spLocks noChangeAspect="1"/>
          </p:cNvSpPr>
          <p:nvPr/>
        </p:nvSpPr>
        <p:spPr bwMode="gray">
          <a:xfrm rot="21295017">
            <a:off x="4033164" y="1348849"/>
            <a:ext cx="213688" cy="202543"/>
          </a:xfrm>
          <a:prstGeom prst="chevron">
            <a:avLst/>
          </a:prstGeom>
          <a:solidFill>
            <a:srgbClr val="56C4D2"/>
          </a:solidFill>
          <a:ln w="12700" cap="flat" cmpd="sng" algn="ctr">
            <a:noFill/>
            <a:prstDash val="solid"/>
            <a:miter lim="800000"/>
          </a:ln>
          <a:effectLst/>
        </p:spPr>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a:spLocks noChangeAspect="1"/>
          </p:cNvSpPr>
          <p:nvPr/>
        </p:nvSpPr>
        <p:spPr bwMode="gray">
          <a:xfrm rot="883161">
            <a:off x="7630241" y="1351032"/>
            <a:ext cx="213688" cy="202543"/>
          </a:xfrm>
          <a:prstGeom prst="chevron">
            <a:avLst/>
          </a:prstGeom>
          <a:solidFill>
            <a:srgbClr val="56C4D2"/>
          </a:solidFill>
          <a:ln w="12700" cap="flat" cmpd="sng" algn="ctr">
            <a:noFill/>
            <a:prstDash val="solid"/>
            <a:miter lim="800000"/>
          </a:ln>
          <a:effectLst/>
        </p:spPr>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AutoShape 6"/>
          <p:cNvSpPr>
            <a:spLocks noChangeArrowheads="1"/>
          </p:cNvSpPr>
          <p:nvPr/>
        </p:nvSpPr>
        <p:spPr bwMode="gray">
          <a:xfrm rot="16200000">
            <a:off x="1016610" y="2620074"/>
            <a:ext cx="2694554" cy="3443165"/>
          </a:xfrm>
          <a:custGeom>
            <a:avLst/>
            <a:gdLst>
              <a:gd name="T0" fmla="*/ 2163 w 21600"/>
              <a:gd name="T1" fmla="*/ 742 h 21600"/>
              <a:gd name="T2" fmla="*/ 1140 w 21600"/>
              <a:gd name="T3" fmla="*/ 1484 h 21600"/>
              <a:gd name="T4" fmla="*/ 117 w 21600"/>
              <a:gd name="T5" fmla="*/ 742 h 21600"/>
              <a:gd name="T6" fmla="*/ 1140 w 21600"/>
              <a:gd name="T7" fmla="*/ 0 h 21600"/>
              <a:gd name="T8" fmla="*/ 0 60000 65536"/>
              <a:gd name="T9" fmla="*/ 0 60000 65536"/>
              <a:gd name="T10" fmla="*/ 0 60000 65536"/>
              <a:gd name="T11" fmla="*/ 0 60000 65536"/>
              <a:gd name="T12" fmla="*/ 2908 w 21600"/>
              <a:gd name="T13" fmla="*/ 2911 h 21600"/>
              <a:gd name="T14" fmla="*/ 18692 w 21600"/>
              <a:gd name="T15" fmla="*/ 18689 h 21600"/>
            </a:gdLst>
            <a:ahLst/>
            <a:cxnLst>
              <a:cxn ang="T8">
                <a:pos x="T0" y="T1"/>
              </a:cxn>
              <a:cxn ang="T9">
                <a:pos x="T2" y="T3"/>
              </a:cxn>
              <a:cxn ang="T10">
                <a:pos x="T4" y="T5"/>
              </a:cxn>
              <a:cxn ang="T11">
                <a:pos x="T6" y="T7"/>
              </a:cxn>
            </a:cxnLst>
            <a:rect l="T12" t="T13" r="T14" b="T15"/>
            <a:pathLst>
              <a:path w="21600" h="21600">
                <a:moveTo>
                  <a:pt x="0" y="0"/>
                </a:moveTo>
                <a:lnTo>
                  <a:pt x="2218" y="21600"/>
                </a:lnTo>
                <a:lnTo>
                  <a:pt x="19382" y="21600"/>
                </a:lnTo>
                <a:lnTo>
                  <a:pt x="21600" y="0"/>
                </a:lnTo>
                <a:lnTo>
                  <a:pt x="0" y="0"/>
                </a:lnTo>
                <a:close/>
              </a:path>
            </a:pathLst>
          </a:custGeom>
          <a:solidFill>
            <a:schemeClr val="bg2"/>
          </a:solidFill>
          <a:ln w="19050">
            <a:noFill/>
            <a:round/>
            <a:headEnd/>
            <a:tailEnd/>
          </a:ln>
          <a:effectLst/>
          <a:extLst/>
        </p:spPr>
        <p:txBody>
          <a:bodyPr vert="horz" wrap="none" lIns="91440" tIns="45720" rIns="91440" bIns="45720" numCol="1" anchor="ctr"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B2B2B2"/>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AutoShape 10"/>
          <p:cNvSpPr>
            <a:spLocks noChangeArrowheads="1"/>
          </p:cNvSpPr>
          <p:nvPr/>
        </p:nvSpPr>
        <p:spPr bwMode="gray">
          <a:xfrm rot="5400000">
            <a:off x="8343745" y="2647197"/>
            <a:ext cx="2692014" cy="3386379"/>
          </a:xfrm>
          <a:custGeom>
            <a:avLst/>
            <a:gdLst>
              <a:gd name="T0" fmla="*/ 2175 w 21600"/>
              <a:gd name="T1" fmla="*/ 744 h 21600"/>
              <a:gd name="T2" fmla="*/ 1147 w 21600"/>
              <a:gd name="T3" fmla="*/ 1488 h 21600"/>
              <a:gd name="T4" fmla="*/ 118 w 21600"/>
              <a:gd name="T5" fmla="*/ 744 h 21600"/>
              <a:gd name="T6" fmla="*/ 1147 w 21600"/>
              <a:gd name="T7" fmla="*/ 0 h 21600"/>
              <a:gd name="T8" fmla="*/ 0 60000 65536"/>
              <a:gd name="T9" fmla="*/ 0 60000 65536"/>
              <a:gd name="T10" fmla="*/ 0 60000 65536"/>
              <a:gd name="T11" fmla="*/ 0 60000 65536"/>
              <a:gd name="T12" fmla="*/ 2911 w 21600"/>
              <a:gd name="T13" fmla="*/ 2903 h 21600"/>
              <a:gd name="T14" fmla="*/ 18689 w 21600"/>
              <a:gd name="T15" fmla="*/ 18697 h 21600"/>
            </a:gdLst>
            <a:ahLst/>
            <a:cxnLst>
              <a:cxn ang="T8">
                <a:pos x="T0" y="T1"/>
              </a:cxn>
              <a:cxn ang="T9">
                <a:pos x="T2" y="T3"/>
              </a:cxn>
              <a:cxn ang="T10">
                <a:pos x="T4" y="T5"/>
              </a:cxn>
              <a:cxn ang="T11">
                <a:pos x="T6" y="T7"/>
              </a:cxn>
            </a:cxnLst>
            <a:rect l="T12" t="T13" r="T14" b="T15"/>
            <a:pathLst>
              <a:path w="21600" h="21600">
                <a:moveTo>
                  <a:pt x="0" y="0"/>
                </a:moveTo>
                <a:lnTo>
                  <a:pt x="2218" y="21600"/>
                </a:lnTo>
                <a:lnTo>
                  <a:pt x="19382" y="21600"/>
                </a:lnTo>
                <a:lnTo>
                  <a:pt x="21600" y="0"/>
                </a:lnTo>
                <a:lnTo>
                  <a:pt x="0" y="0"/>
                </a:lnTo>
                <a:close/>
              </a:path>
            </a:pathLst>
          </a:custGeom>
          <a:solidFill>
            <a:srgbClr val="EBEBEB"/>
          </a:solidFill>
          <a:ln w="19050">
            <a:noFill/>
            <a:round/>
            <a:headEnd/>
            <a:tailEnd/>
          </a:ln>
          <a:effectLst/>
          <a:extLst/>
        </p:spPr>
        <p:txBody>
          <a:bodyPr vert="horz" wrap="none" lIns="91440" tIns="45720" rIns="91440" bIns="45720" numCol="1" anchor="ctr"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B2B2B2"/>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bwMode="gray">
          <a:xfrm rot="21333696">
            <a:off x="1077719" y="2812045"/>
            <a:ext cx="2761098" cy="386965"/>
          </a:xfrm>
          <a:prstGeom prst="rect">
            <a:avLst/>
          </a:prstGeom>
        </p:spPr>
        <p:txBody>
          <a:bodyPr wrap="square">
            <a:spAutoFit/>
            <a:scene3d>
              <a:camera prst="orthographicFront">
                <a:rot lat="0" lon="0" rev="21000000"/>
              </a:camera>
              <a:lightRig rig="threePt" dir="t"/>
            </a:scene3d>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1600" b="1" i="0" u="sng"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1K+</a:t>
            </a:r>
            <a:r>
              <a:rPr kumimoji="0" lang="zh-CN" altLang="en-US" sz="1600" b="1" i="0" u="sng"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应用精准识别</a:t>
            </a:r>
          </a:p>
        </p:txBody>
      </p:sp>
      <p:sp>
        <p:nvSpPr>
          <p:cNvPr id="15" name="文本框 139"/>
          <p:cNvSpPr txBox="1"/>
          <p:nvPr/>
        </p:nvSpPr>
        <p:spPr bwMode="gray">
          <a:xfrm rot="302822">
            <a:off x="8193903" y="2782962"/>
            <a:ext cx="2828552" cy="456887"/>
          </a:xfrm>
          <a:prstGeom prst="rect">
            <a:avLst/>
          </a:prstGeom>
          <a:noFill/>
          <a:ln w="9525" cap="flat" cmpd="sng" algn="ctr">
            <a:noFill/>
            <a:prstDash val="solid"/>
            <a:miter lim="800000"/>
            <a:headEnd type="none" w="med" len="med"/>
            <a:tailEnd type="none" w="med" len="med"/>
          </a:ln>
          <a:effectLst/>
        </p:spPr>
        <p:txBody>
          <a:bodyPr vert="horz" wrap="square" lIns="85291" tIns="42646" rIns="85291" bIns="42646" numCol="1" rtlCol="0" anchor="ctr" anchorCtr="1" compatLnSpc="1">
            <a:prstTxWarp prst="textNoShape">
              <a:avLst/>
            </a:prstTxWarp>
            <a:scene3d>
              <a:camera prst="orthographicFront">
                <a:rot lat="0" lon="0" rev="600000"/>
              </a:camera>
              <a:lightRig rig="threePt" dir="t"/>
            </a:scene3d>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base" latinLnBrk="0" hangingPunct="1">
              <a:lnSpc>
                <a:spcPct val="130000"/>
              </a:lnSpc>
              <a:spcBef>
                <a:spcPct val="0"/>
              </a:spcBef>
              <a:spcAft>
                <a:spcPct val="0"/>
              </a:spcAft>
              <a:buClr>
                <a:srgbClr val="CC9900"/>
              </a:buClr>
              <a:buSzTx/>
              <a:buFontTx/>
              <a:buNone/>
              <a:tabLst/>
              <a:defRPr/>
            </a:pPr>
            <a:r>
              <a:rPr kumimoji="0" lang="zh-CN" altLang="en-US" sz="1600" b="1" i="0" u="sng"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质差应用故障定界</a:t>
            </a:r>
            <a:endParaRPr kumimoji="0" lang="zh-CN" altLang="en-US" sz="1600" b="1" i="0" u="sng"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Trapezoid 3"/>
          <p:cNvSpPr/>
          <p:nvPr/>
        </p:nvSpPr>
        <p:spPr bwMode="gray">
          <a:xfrm>
            <a:off x="1581593" y="5575758"/>
            <a:ext cx="8646072" cy="359968"/>
          </a:xfrm>
          <a:prstGeom prst="trapezoid">
            <a:avLst>
              <a:gd name="adj" fmla="val 223317"/>
            </a:avLst>
          </a:prstGeom>
          <a:solidFill>
            <a:srgbClr val="DDDDDD"/>
          </a:solidFill>
          <a:ln w="19050">
            <a:noFill/>
            <a:round/>
            <a:headEnd/>
            <a:tailEnd/>
          </a:ln>
          <a:effectLst>
            <a:outerShdw blurRad="101600" dist="38100" dir="5400000" algn="t" rotWithShape="0">
              <a:prstClr val="black">
                <a:alpha val="40000"/>
              </a:prstClr>
            </a:outerShdw>
          </a:effectLst>
        </p:spPr>
        <p:txBody>
          <a:bodyPr vert="horz" wrap="none" lIns="91440" tIns="45720" rIns="91440" bIns="45720" numCol="1" anchor="ctr"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B2B2B2"/>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矩形 16"/>
          <p:cNvSpPr/>
          <p:nvPr/>
        </p:nvSpPr>
        <p:spPr bwMode="gray">
          <a:xfrm>
            <a:off x="4281229" y="5626246"/>
            <a:ext cx="3233118" cy="313049"/>
          </a:xfrm>
          <a:prstGeom prst="rect">
            <a:avLst/>
          </a:prstGeom>
          <a:ln>
            <a:noFill/>
          </a:ln>
        </p:spPr>
        <p:txBody>
          <a:bodyPr wrap="square" anchor="t">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srgbClr val="666666">
                    <a:lumMod val="75000"/>
                  </a:srgb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围绕应用打造完整的精细化运维</a:t>
            </a:r>
            <a:r>
              <a:rPr lang="zh-CN" altLang="en-US" sz="1400" b="1" kern="0" dirty="0" smtClean="0">
                <a:solidFill>
                  <a:srgbClr val="666666">
                    <a:lumMod val="75000"/>
                  </a:srgb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方案。</a:t>
            </a:r>
            <a:endParaRPr lang="en-US" altLang="zh-CN" sz="1400" b="1" kern="0" dirty="0">
              <a:solidFill>
                <a:srgbClr val="666666">
                  <a:lumMod val="75000"/>
                </a:srgb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文本框 138"/>
          <p:cNvSpPr txBox="1"/>
          <p:nvPr/>
        </p:nvSpPr>
        <p:spPr bwMode="gray">
          <a:xfrm>
            <a:off x="4571601" y="2926620"/>
            <a:ext cx="2975191" cy="471724"/>
          </a:xfrm>
          <a:prstGeom prst="rect">
            <a:avLst/>
          </a:prstGeom>
          <a:noFill/>
          <a:ln w="9525" cap="flat" cmpd="sng" algn="ctr">
            <a:noFill/>
            <a:prstDash val="solid"/>
            <a:miter lim="800000"/>
            <a:headEnd type="none" w="med" len="med"/>
            <a:tailEnd type="none" w="med" len="med"/>
          </a:ln>
          <a:effectLst/>
        </p:spPr>
        <p:txBody>
          <a:bodyPr vert="horz" wrap="square" lIns="85291" tIns="42646" rIns="85291" bIns="42646" numCol="1" rtlCol="0" anchor="ctr" anchorCtr="1"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base" latinLnBrk="0" hangingPunct="1">
              <a:lnSpc>
                <a:spcPct val="130000"/>
              </a:lnSpc>
              <a:spcBef>
                <a:spcPct val="0"/>
              </a:spcBef>
              <a:spcAft>
                <a:spcPct val="0"/>
              </a:spcAft>
              <a:buClr>
                <a:srgbClr val="CC9900"/>
              </a:buClr>
              <a:buSzTx/>
              <a:buFontTx/>
              <a:buNone/>
              <a:tabLst/>
              <a:defRPr/>
            </a:pPr>
            <a:r>
              <a:rPr lang="zh-CN" altLang="en-US" sz="1600" b="1" u="sng" kern="0" dirty="0" smtClean="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应用质量实时感知</a:t>
            </a:r>
            <a:endParaRPr kumimoji="0" lang="en-US" altLang="zh-CN" sz="1600" b="1" i="0" u="sng"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矩形 18"/>
          <p:cNvSpPr/>
          <p:nvPr/>
        </p:nvSpPr>
        <p:spPr bwMode="gray">
          <a:xfrm>
            <a:off x="8204966" y="3554599"/>
            <a:ext cx="2958305" cy="1246495"/>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1" indent="0" defTabSz="457135" eaLnBrk="1" fontAlgn="auto" latinLnBrk="0" hangingPunct="1">
              <a:lnSpc>
                <a:spcPct val="100000"/>
              </a:lnSpc>
              <a:spcBef>
                <a:spcPts val="0"/>
              </a:spcBef>
              <a:spcAft>
                <a:spcPts val="600"/>
              </a:spcAft>
              <a:buClrTx/>
              <a:buSzTx/>
              <a:buFontTx/>
              <a:buNone/>
              <a:tabLst/>
              <a:defRPr/>
            </a:pP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通过独家</a:t>
            </a:r>
            <a:r>
              <a:rPr lang="en-US" altLang="zh-CN"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a:t>
            </a:r>
            <a:r>
              <a:rPr kumimoji="0" lang="en-US" altLang="zh-CN"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PCA 2.0</a:t>
            </a:r>
            <a:r>
              <a:rPr kumimoji="0" lang="zh-CN" altLang="en-US"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技术</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，对质差应用流进行故障定界：</a:t>
            </a:r>
            <a:endParaRPr kumimoji="0" lang="en-US" altLang="zh-CN"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marR="0" lvl="1" indent="-171450" defTabSz="457135"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zh-CN" altLang="en-US"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空口问题：</a:t>
            </a:r>
            <a:r>
              <a:rPr kumimoji="0" lang="zh-CN" altLang="en-US" sz="1200" b="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分析空口指标相关性</a:t>
            </a:r>
            <a:endParaRPr kumimoji="0" lang="en-US" altLang="zh-CN" sz="1200" b="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lvl="1" indent="-171450" defTabSz="457135">
              <a:spcAft>
                <a:spcPts val="600"/>
              </a:spcAft>
              <a:buFont typeface="Arial" panose="020B0604020202020204" pitchFamily="34" charset="0"/>
              <a:buChar char="•"/>
              <a:defRPr/>
            </a:pPr>
            <a:r>
              <a:rPr lang="zh-CN" altLang="en-US"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园区内有线侧问题：</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定界丢包位置</a:t>
            </a:r>
            <a:endParaRPr lang="en-US" altLang="zh-CN"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lvl="1" indent="-171450" defTabSz="457135">
              <a:spcAft>
                <a:spcPts val="600"/>
              </a:spcAft>
              <a:buFont typeface="Arial" panose="020B0604020202020204" pitchFamily="34" charset="0"/>
              <a:buChar char="•"/>
              <a:defRPr/>
            </a:pPr>
            <a:r>
              <a:rPr lang="zh-CN" altLang="en-US"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园区外问题：</a:t>
            </a: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自证清白</a:t>
            </a:r>
            <a:endParaRPr lang="en-US" altLang="zh-CN"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 name="突破商业边界…"/>
          <p:cNvSpPr/>
          <p:nvPr/>
        </p:nvSpPr>
        <p:spPr bwMode="gray">
          <a:xfrm>
            <a:off x="3350404" y="1988479"/>
            <a:ext cx="1251285" cy="410058"/>
          </a:xfrm>
          <a:prstGeom prst="rect">
            <a:avLst/>
          </a:prstGeom>
          <a:solidFill>
            <a:srgbClr val="56C4D2"/>
          </a:solidFill>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34268" tIns="34268" rIns="34268" bIns="34268"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3373">
              <a:defRPr sz="1400">
                <a:solidFill>
                  <a:srgbClr val="9BBB59">
                    <a:lumOff val="44000"/>
                  </a:srgbClr>
                </a:solidFill>
              </a:defRPr>
            </a:pPr>
            <a:r>
              <a:rPr lang="zh-CN" altLang="en-US" sz="1600" b="1" dirty="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每用户</a:t>
            </a:r>
            <a:endParaRPr lang="en-US" altLang="zh-CN" sz="1600" b="1" dirty="0" smtClean="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突破商业边界…"/>
          <p:cNvSpPr/>
          <p:nvPr/>
        </p:nvSpPr>
        <p:spPr bwMode="gray">
          <a:xfrm>
            <a:off x="5306208" y="1988479"/>
            <a:ext cx="1251285" cy="410058"/>
          </a:xfrm>
          <a:prstGeom prst="rect">
            <a:avLst/>
          </a:prstGeom>
          <a:solidFill>
            <a:srgbClr val="56C4D2"/>
          </a:solidFill>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34268" tIns="34268" rIns="34268" bIns="34268"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3373">
              <a:defRPr sz="1400">
                <a:solidFill>
                  <a:srgbClr val="9BBB59">
                    <a:lumOff val="44000"/>
                  </a:srgbClr>
                </a:solidFill>
              </a:defRPr>
            </a:pPr>
            <a:r>
              <a:rPr lang="zh-CN" altLang="en-US" sz="1600" b="1" dirty="0" smtClean="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每时刻</a:t>
            </a:r>
            <a:endParaRPr lang="en-US" altLang="zh-CN" sz="1600" b="1" dirty="0" smtClean="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突破商业边界…"/>
          <p:cNvSpPr/>
          <p:nvPr/>
        </p:nvSpPr>
        <p:spPr bwMode="gray">
          <a:xfrm>
            <a:off x="7262012" y="1986029"/>
            <a:ext cx="1251285" cy="410058"/>
          </a:xfrm>
          <a:prstGeom prst="rect">
            <a:avLst/>
          </a:prstGeom>
          <a:solidFill>
            <a:srgbClr val="56C4D2"/>
          </a:solidFill>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34268" tIns="34268" rIns="34268" bIns="34268"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913373">
              <a:defRPr sz="1400">
                <a:solidFill>
                  <a:srgbClr val="9BBB59">
                    <a:lumOff val="44000"/>
                  </a:srgbClr>
                </a:solidFill>
              </a:defRPr>
            </a:pPr>
            <a:r>
              <a:rPr lang="zh-CN" altLang="en-US" sz="1600" b="1" dirty="0" smtClean="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每应用</a:t>
            </a:r>
            <a:endParaRPr lang="en-US" altLang="zh-CN" sz="1600" b="1" dirty="0" smtClean="0">
              <a:solidFill>
                <a:srgbClr val="9BBB59">
                  <a:lumOff val="44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bwMode="gray">
          <a:xfrm>
            <a:off x="4464365" y="3542214"/>
            <a:ext cx="3248592" cy="1354217"/>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1" indent="0" defTabSz="457135" eaLnBrk="1" fontAlgn="auto" latinLnBrk="0" hangingPunct="1">
              <a:lnSpc>
                <a:spcPct val="150000"/>
              </a:lnSpc>
              <a:spcBef>
                <a:spcPts val="0"/>
              </a:spcBef>
              <a:spcAft>
                <a:spcPts val="600"/>
              </a:spcAft>
              <a:buClrTx/>
              <a:buSzTx/>
              <a:buFontTx/>
              <a:buNone/>
              <a:tabLst/>
              <a:defRPr/>
            </a:pP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通过独家</a:t>
            </a:r>
            <a:r>
              <a:rPr kumimoji="0" lang="en-US" altLang="zh-CN" sz="1200" b="1" i="0" u="none" strike="noStrike" kern="0" cap="none" spc="0" normalizeH="0" baseline="0" noProof="0" dirty="0" err="1"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eMDI</a:t>
            </a:r>
            <a:r>
              <a:rPr kumimoji="0" lang="zh-CN" altLang="en-US"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技术 </a:t>
            </a:r>
            <a:r>
              <a:rPr kumimoji="0" lang="en-US" altLang="zh-CN"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AI</a:t>
            </a:r>
            <a:r>
              <a:rPr kumimoji="0" lang="zh-CN" altLang="en-US" sz="1200" b="1"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算法实时</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感知</a:t>
            </a:r>
            <a:r>
              <a:rPr lang="zh-CN" altLang="en-US" sz="1200" kern="0" noProof="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主流通讯与办公</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应用的质量，识别质差应用，包括：</a:t>
            </a:r>
            <a:endParaRPr lang="en-US" altLang="zh-CN"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lvl="1" indent="-171450" defTabSz="457135">
              <a:lnSpc>
                <a:spcPct val="150000"/>
              </a:lnSpc>
              <a:spcAft>
                <a:spcPts val="600"/>
              </a:spcAft>
              <a:buFont typeface="Arial" panose="020B0604020202020204" pitchFamily="34" charset="0"/>
              <a:buChar char="•"/>
              <a:defRPr/>
            </a:pP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非加密的</a:t>
            </a:r>
            <a:r>
              <a:rPr lang="en-US" altLang="zh-CN"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RTP</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a:t>
            </a:r>
            <a:endParaRPr lang="en-US" altLang="zh-CN"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lvl="1" indent="-171450" defTabSz="457135">
              <a:lnSpc>
                <a:spcPct val="150000"/>
              </a:lnSpc>
              <a:spcAft>
                <a:spcPts val="600"/>
              </a:spcAft>
              <a:buFont typeface="Arial" panose="020B0604020202020204" pitchFamily="34" charset="0"/>
              <a:buChar char="•"/>
              <a:defRPr/>
            </a:pP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视频直播等</a:t>
            </a:r>
            <a:r>
              <a:rPr lang="en-US" altLang="zh-CN"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a:t>
            </a:r>
            <a:endPar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6" name="矩形 25"/>
          <p:cNvSpPr/>
          <p:nvPr/>
        </p:nvSpPr>
        <p:spPr bwMode="gray">
          <a:xfrm>
            <a:off x="830694" y="3554599"/>
            <a:ext cx="3023690" cy="923330"/>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a:t>
            </a:r>
            <a:r>
              <a:rPr lang="zh-CN" altLang="en-US" sz="12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应用识别</a:t>
            </a:r>
            <a:r>
              <a:rPr lang="zh-CN" altLang="en-US"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技术，</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精准识别</a:t>
            </a:r>
            <a:r>
              <a:rPr lang="en-US" altLang="zh-CN"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1K+</a:t>
            </a:r>
            <a:r>
              <a:rPr lang="zh-CN" altLang="en-US"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主流应用</a:t>
            </a: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a:lnSpc>
                <a:spcPct val="150000"/>
              </a:lnSpc>
              <a:buFont typeface="Arial" panose="020B0604020202020204" pitchFamily="34" charset="0"/>
              <a:buChar char="•"/>
            </a:pPr>
            <a:r>
              <a:rPr lang="zh-CN" altLang="en-US" sz="12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支持基于</a:t>
            </a:r>
            <a:r>
              <a:rPr lang="zh-CN" altLang="en-US" sz="1200" b="1"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多种维度的应用流量统计。</a:t>
            </a:r>
            <a:endParaRPr lang="zh-CN" altLang="en-US" sz="12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2" name="燕尾形 81"/>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燕尾形 82"/>
          <p:cNvSpPr/>
          <p:nvPr/>
        </p:nvSpPr>
        <p:spPr bwMode="gray">
          <a:xfrm>
            <a:off x="10815410"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燕尾形 83"/>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五边形 84"/>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燕尾形 85"/>
          <p:cNvSpPr/>
          <p:nvPr/>
        </p:nvSpPr>
        <p:spPr bwMode="gray">
          <a:xfrm>
            <a:off x="836520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5398721" y="1143250"/>
            <a:ext cx="1011816" cy="338554"/>
          </a:xfrm>
          <a:prstGeom prst="rect">
            <a:avLst/>
          </a:prstGeom>
          <a:solidFill>
            <a:srgbClr val="FFFFFF"/>
          </a:solidFill>
        </p:spPr>
        <p:txBody>
          <a:bodyPr wrap="none" anchor="ctr">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b="1"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质量感知</a:t>
            </a:r>
            <a:endParaRPr kumimoji="0" lang="zh-CN" altLang="en-US" sz="16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6023134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bwMode="invGray">
          <a:xfrm>
            <a:off x="1647097" y="3713224"/>
            <a:ext cx="8913124" cy="2438611"/>
          </a:xfrm>
          <a:prstGeom prst="rect">
            <a:avLst/>
          </a:prstGeom>
        </p:spPr>
      </p:pic>
      <p:pic>
        <p:nvPicPr>
          <p:cNvPr id="5" name="图片 4"/>
          <p:cNvPicPr>
            <a:picLocks noChangeAspect="1"/>
          </p:cNvPicPr>
          <p:nvPr/>
        </p:nvPicPr>
        <p:blipFill>
          <a:blip r:embed="rId4"/>
          <a:stretch>
            <a:fillRect/>
          </a:stretch>
        </p:blipFill>
        <p:spPr bwMode="invGray">
          <a:xfrm>
            <a:off x="1641000" y="1524824"/>
            <a:ext cx="8919221" cy="2170364"/>
          </a:xfrm>
          <a:prstGeom prst="rect">
            <a:avLst/>
          </a:prstGeom>
        </p:spPr>
      </p:pic>
      <p:sp>
        <p:nvSpPr>
          <p:cNvPr id="2" name="标题 1"/>
          <p:cNvSpPr>
            <a:spLocks noGrp="1"/>
          </p:cNvSpPr>
          <p:nvPr>
            <p:ph type="title"/>
          </p:nvPr>
        </p:nvSpPr>
        <p:spPr/>
        <p:txBody>
          <a:bodyPr/>
          <a:lstStyle/>
          <a:p>
            <a:r>
              <a:rPr lang="zh-CN" altLang="en-US" dirty="0" smtClean="0">
                <a:sym typeface="Huawei Sans" panose="020C0503030203020204" pitchFamily="34" charset="0"/>
              </a:rPr>
              <a:t>应用识别与流量分析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1"/>
            <a:ext cx="11256962" cy="401638"/>
          </a:xfrm>
        </p:spPr>
        <p:txBody>
          <a:bodyPr/>
          <a:lstStyle/>
          <a:p>
            <a:r>
              <a:rPr lang="zh-CN" altLang="en-US" sz="1800" dirty="0"/>
              <a:t>基于应用，分析全网应用</a:t>
            </a:r>
            <a:r>
              <a:rPr lang="zh-CN" altLang="en-US" sz="1800" dirty="0" smtClean="0"/>
              <a:t>流量</a:t>
            </a:r>
            <a:r>
              <a:rPr lang="zh-CN" altLang="en-US" sz="1800" dirty="0"/>
              <a:t>和</a:t>
            </a:r>
            <a:r>
              <a:rPr lang="zh-CN" altLang="en-US" sz="1800" dirty="0" smtClean="0"/>
              <a:t>用户数</a:t>
            </a:r>
            <a:r>
              <a:rPr lang="zh-CN" altLang="en-US" sz="1800" dirty="0"/>
              <a:t>。</a:t>
            </a:r>
          </a:p>
        </p:txBody>
      </p:sp>
      <p:sp>
        <p:nvSpPr>
          <p:cNvPr id="90" name="燕尾形 89"/>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10815410"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五边形 92"/>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燕尾形 93"/>
          <p:cNvSpPr/>
          <p:nvPr/>
        </p:nvSpPr>
        <p:spPr bwMode="gray">
          <a:xfrm>
            <a:off x="836520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061533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应用识别与流量分析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1"/>
            <a:ext cx="11256962" cy="401638"/>
          </a:xfrm>
        </p:spPr>
        <p:txBody>
          <a:bodyPr/>
          <a:lstStyle/>
          <a:p>
            <a:r>
              <a:rPr lang="zh-CN" altLang="en-US" sz="1800" dirty="0"/>
              <a:t>基于接口、设备、主机等，细化呈现应用的流量使用情况。</a:t>
            </a:r>
          </a:p>
        </p:txBody>
      </p:sp>
      <p:sp>
        <p:nvSpPr>
          <p:cNvPr id="90" name="燕尾形 89"/>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10815410"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五边形 92"/>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燕尾形 93"/>
          <p:cNvSpPr/>
          <p:nvPr/>
        </p:nvSpPr>
        <p:spPr bwMode="gray">
          <a:xfrm>
            <a:off x="836520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p:cNvPicPr>
            <a:picLocks noChangeAspect="1"/>
          </p:cNvPicPr>
          <p:nvPr/>
        </p:nvPicPr>
        <p:blipFill>
          <a:blip r:embed="rId3"/>
          <a:stretch>
            <a:fillRect/>
          </a:stretch>
        </p:blipFill>
        <p:spPr bwMode="invGray">
          <a:xfrm>
            <a:off x="1318912" y="1506539"/>
            <a:ext cx="9579765" cy="2979736"/>
          </a:xfrm>
          <a:prstGeom prst="rect">
            <a:avLst/>
          </a:prstGeom>
        </p:spPr>
      </p:pic>
      <p:sp>
        <p:nvSpPr>
          <p:cNvPr id="12" name="文本占位符 2"/>
          <p:cNvSpPr txBox="1">
            <a:spLocks/>
          </p:cNvSpPr>
          <p:nvPr/>
        </p:nvSpPr>
        <p:spPr bwMode="auto">
          <a:xfrm>
            <a:off x="455613" y="4676776"/>
            <a:ext cx="11256962" cy="40163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还可以基于用户</a:t>
            </a:r>
            <a:r>
              <a:rPr lang="zh-CN" altLang="en-US" sz="1800" dirty="0" smtClean="0"/>
              <a:t>，在</a:t>
            </a:r>
            <a:r>
              <a:rPr lang="zh-CN" altLang="en-US" sz="1800" dirty="0"/>
              <a:t>旅程中回放应用使用</a:t>
            </a:r>
            <a:r>
              <a:rPr lang="zh-CN" altLang="en-US" sz="1800" dirty="0" smtClean="0"/>
              <a:t>情况（参考“旅程分析”）。</a:t>
            </a:r>
            <a:endParaRPr lang="zh-CN" altLang="en-US" sz="1800" dirty="0"/>
          </a:p>
        </p:txBody>
      </p:sp>
    </p:spTree>
    <p:extLst>
      <p:ext uri="{BB962C8B-B14F-4D97-AF65-F5344CB8AC3E}">
        <p14:creationId xmlns:p14="http://schemas.microsoft.com/office/powerpoint/2010/main" val="8097228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应用体验感知与质差分析</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7465209" y="1069862"/>
            <a:ext cx="4247365" cy="2105024"/>
          </a:xfrm>
        </p:spPr>
        <p:txBody>
          <a:bodyPr/>
          <a:lstStyle/>
          <a:p>
            <a:r>
              <a:rPr lang="zh-CN" altLang="en-US" sz="1800" dirty="0" smtClean="0"/>
              <a:t>应用分析可以进行主流</a:t>
            </a:r>
            <a:r>
              <a:rPr lang="zh-CN" altLang="en-US" sz="1800" dirty="0"/>
              <a:t>通讯及办公应用体验感知，识别质差应用，保障</a:t>
            </a:r>
            <a:r>
              <a:rPr lang="en-US" altLang="zh-CN" sz="1800" dirty="0"/>
              <a:t>VIP</a:t>
            </a:r>
            <a:r>
              <a:rPr lang="zh-CN" altLang="en-US" sz="1800" dirty="0"/>
              <a:t>用户</a:t>
            </a:r>
            <a:r>
              <a:rPr lang="zh-CN" altLang="en-US" sz="1800" dirty="0" smtClean="0"/>
              <a:t>体验。</a:t>
            </a:r>
            <a:endParaRPr lang="en-US" altLang="zh-CN" sz="1800" dirty="0" smtClean="0"/>
          </a:p>
          <a:p>
            <a:r>
              <a:rPr lang="zh-CN" altLang="en-US" sz="1800" dirty="0" smtClean="0"/>
              <a:t>应用分析还可以对质</a:t>
            </a:r>
            <a:r>
              <a:rPr lang="zh-CN" altLang="en-US" sz="1800" dirty="0"/>
              <a:t>差应用</a:t>
            </a:r>
            <a:r>
              <a:rPr lang="zh-CN" altLang="en-US" sz="1800" dirty="0" smtClean="0"/>
              <a:t>流进行</a:t>
            </a:r>
            <a:r>
              <a:rPr lang="zh-CN" altLang="en-US" sz="1800" dirty="0"/>
              <a:t>路径分析及故障定界</a:t>
            </a:r>
            <a:r>
              <a:rPr lang="zh-CN" altLang="en-US" sz="1800" dirty="0" smtClean="0"/>
              <a:t>。</a:t>
            </a:r>
            <a:endParaRPr lang="zh-CN" altLang="en-US" sz="1800" dirty="0"/>
          </a:p>
        </p:txBody>
      </p:sp>
      <p:sp>
        <p:nvSpPr>
          <p:cNvPr id="90" name="燕尾形 89"/>
          <p:cNvSpPr/>
          <p:nvPr/>
        </p:nvSpPr>
        <p:spPr bwMode="gray">
          <a:xfrm>
            <a:off x="9181943"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10815410"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gray">
          <a:xfrm>
            <a:off x="9998677"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五边形 92"/>
          <p:cNvSpPr/>
          <p:nvPr/>
        </p:nvSpPr>
        <p:spPr bwMode="gray">
          <a:xfrm>
            <a:off x="746520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燕尾形 93"/>
          <p:cNvSpPr/>
          <p:nvPr/>
        </p:nvSpPr>
        <p:spPr bwMode="gray">
          <a:xfrm>
            <a:off x="836520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p:cNvPicPr>
            <a:picLocks noChangeAspect="1"/>
          </p:cNvPicPr>
          <p:nvPr/>
        </p:nvPicPr>
        <p:blipFill rotWithShape="1">
          <a:blip r:embed="rId3"/>
          <a:srcRect t="1147"/>
          <a:stretch/>
        </p:blipFill>
        <p:spPr bwMode="invGray">
          <a:xfrm>
            <a:off x="658813" y="1008723"/>
            <a:ext cx="6806396" cy="5177078"/>
          </a:xfrm>
          <a:prstGeom prst="rect">
            <a:avLst/>
          </a:prstGeom>
        </p:spPr>
      </p:pic>
    </p:spTree>
    <p:extLst>
      <p:ext uri="{BB962C8B-B14F-4D97-AF65-F5344CB8AC3E}">
        <p14:creationId xmlns:p14="http://schemas.microsoft.com/office/powerpoint/2010/main" val="6486978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bwMode="invGray">
          <a:xfrm>
            <a:off x="3630646" y="3839382"/>
            <a:ext cx="8065707" cy="2176461"/>
          </a:xfrm>
          <a:prstGeom prst="rect">
            <a:avLst/>
          </a:prstGeom>
        </p:spPr>
      </p:pic>
      <p:sp>
        <p:nvSpPr>
          <p:cNvPr id="2" name="标题 1"/>
          <p:cNvSpPr>
            <a:spLocks noGrp="1"/>
          </p:cNvSpPr>
          <p:nvPr>
            <p:ph type="title"/>
          </p:nvPr>
        </p:nvSpPr>
        <p:spPr bwMode="auto"/>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7</a:t>
            </a:r>
            <a:r>
              <a:rPr lang="zh-CN" altLang="en-US" dirty="0" smtClean="0">
                <a:sym typeface="Huawei Sans" panose="020C0503030203020204" pitchFamily="34" charset="0"/>
              </a:rPr>
              <a:t>：应用质量感知与故障定界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auto">
          <a:xfrm>
            <a:off x="455613" y="962896"/>
            <a:ext cx="11256962" cy="731785"/>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某局点运维人员对公司领导参加的重要视频会议进行保障，主动巡检领导的会议应用质量，发现出现会议质量问题后，使用应用排障功能，快速定界应用流丢包位置，进行问题修复。</a:t>
            </a:r>
          </a:p>
        </p:txBody>
      </p:sp>
      <p:sp>
        <p:nvSpPr>
          <p:cNvPr id="32" name="文本框 31"/>
          <p:cNvSpPr txBox="1"/>
          <p:nvPr/>
        </p:nvSpPr>
        <p:spPr bwMode="auto">
          <a:xfrm>
            <a:off x="455613" y="1821943"/>
            <a:ext cx="2785177"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、菜单选择 </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“用户列表”</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37" name="文本框 36"/>
          <p:cNvSpPr txBox="1"/>
          <p:nvPr/>
        </p:nvSpPr>
        <p:spPr bwMode="auto">
          <a:xfrm>
            <a:off x="3576119" y="1821943"/>
            <a:ext cx="7453242"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、在用户列表</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VIP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视图中，点击用户“</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d0</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82</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地址超链接，跳转到对应的用户旅程</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页面。</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燕尾形 51"/>
          <p:cNvSpPr/>
          <p:nvPr/>
        </p:nvSpPr>
        <p:spPr bwMode="auto">
          <a:xfrm>
            <a:off x="9181945"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10815412"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999867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54"/>
          <p:cNvSpPr/>
          <p:nvPr/>
        </p:nvSpPr>
        <p:spPr bwMode="auto">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noChangeAspect="1"/>
          </p:cNvPicPr>
          <p:nvPr/>
        </p:nvPicPr>
        <p:blipFill>
          <a:blip r:embed="rId4"/>
          <a:stretch>
            <a:fillRect/>
          </a:stretch>
        </p:blipFill>
        <p:spPr bwMode="invGray">
          <a:xfrm>
            <a:off x="796324" y="2093333"/>
            <a:ext cx="1255461" cy="3119688"/>
          </a:xfrm>
          <a:prstGeom prst="rect">
            <a:avLst/>
          </a:prstGeom>
        </p:spPr>
      </p:pic>
      <p:sp>
        <p:nvSpPr>
          <p:cNvPr id="50" name="矩形 49"/>
          <p:cNvSpPr/>
          <p:nvPr/>
        </p:nvSpPr>
        <p:spPr bwMode="auto">
          <a:xfrm>
            <a:off x="796323" y="4685119"/>
            <a:ext cx="1255461" cy="26395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 name="图片 3"/>
          <p:cNvPicPr>
            <a:picLocks noChangeAspect="1"/>
          </p:cNvPicPr>
          <p:nvPr/>
        </p:nvPicPr>
        <p:blipFill>
          <a:blip r:embed="rId5"/>
          <a:stretch>
            <a:fillRect/>
          </a:stretch>
        </p:blipFill>
        <p:spPr bwMode="invGray">
          <a:xfrm>
            <a:off x="3639350" y="2093333"/>
            <a:ext cx="8065707" cy="1194920"/>
          </a:xfrm>
          <a:prstGeom prst="rect">
            <a:avLst/>
          </a:prstGeom>
        </p:spPr>
      </p:pic>
      <p:sp>
        <p:nvSpPr>
          <p:cNvPr id="28" name="矩形 27"/>
          <p:cNvSpPr/>
          <p:nvPr/>
        </p:nvSpPr>
        <p:spPr bwMode="auto">
          <a:xfrm>
            <a:off x="3651533" y="2865963"/>
            <a:ext cx="1968217" cy="169466"/>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文本框 30"/>
          <p:cNvSpPr txBox="1"/>
          <p:nvPr/>
        </p:nvSpPr>
        <p:spPr bwMode="auto">
          <a:xfrm>
            <a:off x="3576118" y="3376178"/>
            <a:ext cx="7585217" cy="461665"/>
          </a:xfrm>
          <a:prstGeom prst="rect">
            <a:avLst/>
          </a:prstGeom>
          <a:noFill/>
        </p:spPr>
        <p:txBody>
          <a:bodyPr vert="horz" wrap="squar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、下拉到时刻点</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7:00:04-</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应用体验分析，查看用户的应用使用情况。发现用户在使用</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Xiao***</a:t>
            </a:r>
            <a:r>
              <a:rPr lang="en-US" altLang="zh-CN" sz="1200" dirty="0" err="1" smtClean="0">
                <a:latin typeface="Huawei Sans" panose="020C0503030203020204" pitchFamily="34" charset="0"/>
                <a:ea typeface="方正兰亭黑简体" panose="02000000000000000000" pitchFamily="2" charset="-122"/>
                <a:cs typeface="+mn-ea"/>
                <a:sym typeface="Huawei Sans" panose="020C0503030203020204" pitchFamily="34" charset="0"/>
              </a:rPr>
              <a:t>Lian</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时体验欠佳。点击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“是”</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“详情”</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按钮，查看应用故障详情。</a:t>
            </a:r>
          </a:p>
        </p:txBody>
      </p:sp>
      <p:sp>
        <p:nvSpPr>
          <p:cNvPr id="34" name="矩形 33"/>
          <p:cNvSpPr/>
          <p:nvPr/>
        </p:nvSpPr>
        <p:spPr bwMode="auto">
          <a:xfrm>
            <a:off x="10718053" y="5052872"/>
            <a:ext cx="361252" cy="169466"/>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auto">
          <a:xfrm>
            <a:off x="11029361" y="5411145"/>
            <a:ext cx="361252" cy="169466"/>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86032530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71303" y="988682"/>
            <a:ext cx="8444086" cy="2888083"/>
            <a:chOff x="471303" y="988682"/>
            <a:chExt cx="8444086" cy="2888083"/>
          </a:xfrm>
        </p:grpSpPr>
        <p:pic>
          <p:nvPicPr>
            <p:cNvPr id="22" name="图片 21"/>
            <p:cNvPicPr>
              <a:picLocks noChangeAspect="1"/>
            </p:cNvPicPr>
            <p:nvPr/>
          </p:nvPicPr>
          <p:blipFill>
            <a:blip r:embed="rId3"/>
            <a:stretch>
              <a:fillRect/>
            </a:stretch>
          </p:blipFill>
          <p:spPr bwMode="invGray">
            <a:xfrm>
              <a:off x="471303" y="988682"/>
              <a:ext cx="8444086" cy="2888083"/>
            </a:xfrm>
            <a:prstGeom prst="rect">
              <a:avLst/>
            </a:prstGeom>
          </p:spPr>
        </p:pic>
        <p:sp>
          <p:nvSpPr>
            <p:cNvPr id="3" name="矩形 2"/>
            <p:cNvSpPr/>
            <p:nvPr/>
          </p:nvSpPr>
          <p:spPr>
            <a:xfrm>
              <a:off x="986828" y="1303699"/>
              <a:ext cx="289711" cy="145689"/>
            </a:xfrm>
            <a:prstGeom prst="rect">
              <a:avLst/>
            </a:prstGeom>
            <a:solidFill>
              <a:srgbClr val="111B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7</a:t>
            </a:r>
            <a:r>
              <a:rPr lang="zh-CN" altLang="en-US" dirty="0" smtClean="0">
                <a:sym typeface="Huawei Sans" panose="020C0503030203020204" pitchFamily="34" charset="0"/>
              </a:rPr>
              <a:t>：应用质量感知与故障定界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52" name="燕尾形 51"/>
          <p:cNvSpPr/>
          <p:nvPr/>
        </p:nvSpPr>
        <p:spPr bwMode="gray">
          <a:xfrm>
            <a:off x="9181945"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0815412"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98679"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体验分析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54"/>
          <p:cNvSpPr/>
          <p:nvPr/>
        </p:nvSpPr>
        <p:spPr bwMode="gray">
          <a:xfrm>
            <a:off x="746521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个障分析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8365211" y="124239"/>
            <a:ext cx="90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旅程分析</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8903733" y="1161328"/>
            <a:ext cx="2739658" cy="954107"/>
          </a:xfrm>
          <a:prstGeom prst="rect">
            <a:avLst/>
          </a:prstGeom>
          <a:noFill/>
        </p:spPr>
        <p:txBody>
          <a:bodyPr vert="horz" wrap="square" rtlCol="0">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应用基本信息</a:t>
            </a: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质量概述</a:t>
            </a: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查看应用流的五元组等基本信息，以及丢包、乱序、抖动等质量</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概述</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0" name="文本框 19"/>
          <p:cNvSpPr txBox="1"/>
          <p:nvPr/>
        </p:nvSpPr>
        <p:spPr>
          <a:xfrm>
            <a:off x="8903735" y="2889562"/>
            <a:ext cx="2739658" cy="1169551"/>
          </a:xfrm>
          <a:prstGeom prst="rect">
            <a:avLst/>
          </a:prstGeom>
          <a:noFill/>
        </p:spPr>
        <p:txBody>
          <a:bodyPr vert="horz" wrap="square" rtlCol="0">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分析定界</a:t>
            </a: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查看应用流的物理拓扑路径与真实应用路径，使用黄色链路标注空口质量差，问题疑似发生在</a:t>
            </a:r>
            <a:r>
              <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AP4</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上。</a:t>
            </a:r>
          </a:p>
        </p:txBody>
      </p:sp>
      <p:sp>
        <p:nvSpPr>
          <p:cNvPr id="21" name="文本框 20"/>
          <p:cNvSpPr txBox="1"/>
          <p:nvPr/>
        </p:nvSpPr>
        <p:spPr>
          <a:xfrm>
            <a:off x="8905875" y="4569697"/>
            <a:ext cx="2743548" cy="954107"/>
          </a:xfrm>
          <a:prstGeom prst="rect">
            <a:avLst/>
          </a:prstGeom>
          <a:noFill/>
        </p:spPr>
        <p:txBody>
          <a:bodyPr vert="horz" wrap="square" rtlCol="0">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关联分析</a:t>
            </a: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查看设备上应用流的质量指标趋势，以及端口的各项</a:t>
            </a:r>
            <a:r>
              <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，辅助问题定位。</a:t>
            </a:r>
          </a:p>
        </p:txBody>
      </p:sp>
      <p:pic>
        <p:nvPicPr>
          <p:cNvPr id="23" name="图片 22"/>
          <p:cNvPicPr>
            <a:picLocks noChangeAspect="1"/>
          </p:cNvPicPr>
          <p:nvPr/>
        </p:nvPicPr>
        <p:blipFill>
          <a:blip r:embed="rId4"/>
          <a:stretch>
            <a:fillRect/>
          </a:stretch>
        </p:blipFill>
        <p:spPr bwMode="invGray">
          <a:xfrm>
            <a:off x="465951" y="3977122"/>
            <a:ext cx="8439924" cy="2197526"/>
          </a:xfrm>
          <a:prstGeom prst="rect">
            <a:avLst/>
          </a:prstGeom>
        </p:spPr>
      </p:pic>
      <p:sp>
        <p:nvSpPr>
          <p:cNvPr id="24" name="矩形 23"/>
          <p:cNvSpPr/>
          <p:nvPr/>
        </p:nvSpPr>
        <p:spPr bwMode="gray">
          <a:xfrm>
            <a:off x="474467" y="988531"/>
            <a:ext cx="8440921" cy="91146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bwMode="gray">
          <a:xfrm>
            <a:off x="474467" y="2940314"/>
            <a:ext cx="8440921" cy="91146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矩形 28"/>
          <p:cNvSpPr/>
          <p:nvPr/>
        </p:nvSpPr>
        <p:spPr bwMode="gray">
          <a:xfrm>
            <a:off x="474467" y="4001263"/>
            <a:ext cx="8440921" cy="217338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3472569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：智能分析四类群体性问题</a:t>
            </a:r>
            <a:endParaRPr lang="zh-CN" altLang="en-US" dirty="0">
              <a:sym typeface="Huawei Sans" panose="020C0503030203020204" pitchFamily="34" charset="0"/>
            </a:endParaRPr>
          </a:p>
        </p:txBody>
      </p:sp>
      <p:sp>
        <p:nvSpPr>
          <p:cNvPr id="7" name="文本框 214"/>
          <p:cNvSpPr txBox="1"/>
          <p:nvPr/>
        </p:nvSpPr>
        <p:spPr bwMode="gray">
          <a:xfrm>
            <a:off x="1157816" y="1549502"/>
            <a:ext cx="9888282" cy="74407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数字化时代，“救火式”运</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维、事后</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处置难以保障业务体验。</a:t>
            </a:r>
          </a:p>
          <a:p>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需要有更智能的手段自动识别潜在故障，并精准定位根因，</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从而</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降低</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故障响应时间。</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矩形 10"/>
          <p:cNvSpPr/>
          <p:nvPr/>
        </p:nvSpPr>
        <p:spPr bwMode="gray">
          <a:xfrm>
            <a:off x="1157817" y="1135716"/>
            <a:ext cx="9888280" cy="360000"/>
          </a:xfrm>
          <a:prstGeom prst="rect">
            <a:avLst/>
          </a:prstGeom>
          <a:solidFill>
            <a:srgbClr val="EFFAFB"/>
          </a:solidFill>
          <a:ln w="9525" cap="flat" cmpd="sng" algn="ctr">
            <a:solidFill>
              <a:srgbClr val="BEE9EE"/>
            </a:solidFill>
            <a:prstDash val="solid"/>
            <a:miter lim="800000"/>
          </a:ln>
          <a:effectLst/>
        </p:spPr>
        <p:txBody>
          <a:bodyPr wrap="none" lIns="0" tIns="0" rIns="0" bIns="0" rtlCol="0" anchor="ctr"/>
          <a:lstStyle/>
          <a:p>
            <a:pPr algn="ctr"/>
            <a:r>
              <a:rPr lang="zh-CN" altLang="en-US" sz="1600" kern="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场景和需求</a:t>
            </a:r>
          </a:p>
        </p:txBody>
      </p:sp>
      <p:sp>
        <p:nvSpPr>
          <p:cNvPr id="12" name="圆角矩形 75"/>
          <p:cNvSpPr/>
          <p:nvPr/>
        </p:nvSpPr>
        <p:spPr bwMode="gray">
          <a:xfrm>
            <a:off x="1157817" y="2459576"/>
            <a:ext cx="988828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识别潜在故障：故障响应时间</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从小时</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级降至分钟级</a:t>
            </a:r>
          </a:p>
        </p:txBody>
      </p:sp>
      <p:sp>
        <p:nvSpPr>
          <p:cNvPr id="21" name="五边形 20"/>
          <p:cNvSpPr/>
          <p:nvPr/>
        </p:nvSpPr>
        <p:spPr bwMode="gray">
          <a:xfrm>
            <a:off x="9993983"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个障分析</a:t>
            </a:r>
          </a:p>
        </p:txBody>
      </p:sp>
      <p:sp>
        <p:nvSpPr>
          <p:cNvPr id="22" name="燕尾形 21"/>
          <p:cNvSpPr/>
          <p:nvPr/>
        </p:nvSpPr>
        <p:spPr bwMode="gray">
          <a:xfrm>
            <a:off x="10815409" y="124239"/>
            <a:ext cx="900000" cy="213120"/>
          </a:xfrm>
          <a:prstGeom prst="chevron">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p:cNvSpPr/>
          <p:nvPr/>
        </p:nvSpPr>
        <p:spPr bwMode="auto">
          <a:xfrm>
            <a:off x="6137546" y="4539328"/>
            <a:ext cx="4908550" cy="1561984"/>
          </a:xfrm>
          <a:prstGeom prst="roundRect">
            <a:avLst>
              <a:gd name="adj" fmla="val 4099"/>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75"/>
          <p:cNvSpPr/>
          <p:nvPr/>
        </p:nvSpPr>
        <p:spPr bwMode="gray">
          <a:xfrm>
            <a:off x="6137546" y="2908039"/>
            <a:ext cx="4908550" cy="1561984"/>
          </a:xfrm>
          <a:prstGeom prst="roundRect">
            <a:avLst>
              <a:gd name="adj" fmla="val 4099"/>
            </a:avLst>
          </a:prstGeom>
          <a:solidFill>
            <a:srgbClr val="FEF3E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75"/>
          <p:cNvSpPr/>
          <p:nvPr/>
        </p:nvSpPr>
        <p:spPr bwMode="gray">
          <a:xfrm>
            <a:off x="1157816" y="4539328"/>
            <a:ext cx="4908550" cy="1561984"/>
          </a:xfrm>
          <a:prstGeom prst="roundRect">
            <a:avLst>
              <a:gd name="adj" fmla="val 4099"/>
            </a:avLst>
          </a:prstGeom>
          <a:solidFill>
            <a:srgbClr val="FEF3E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75"/>
          <p:cNvSpPr/>
          <p:nvPr/>
        </p:nvSpPr>
        <p:spPr bwMode="gray">
          <a:xfrm>
            <a:off x="1157816" y="2908039"/>
            <a:ext cx="4908550" cy="1561984"/>
          </a:xfrm>
          <a:prstGeom prst="roundRect">
            <a:avLst>
              <a:gd name="adj" fmla="val 4099"/>
            </a:avLst>
          </a:prstGeom>
          <a:solidFill>
            <a:srgbClr val="FEF3E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Rectangle 25"/>
          <p:cNvSpPr>
            <a:spLocks noChangeArrowheads="1"/>
          </p:cNvSpPr>
          <p:nvPr/>
        </p:nvSpPr>
        <p:spPr bwMode="gray">
          <a:xfrm>
            <a:off x="3236189" y="4655083"/>
            <a:ext cx="751805" cy="331498"/>
          </a:xfrm>
          <a:prstGeom prst="rect">
            <a:avLst/>
          </a:prstGeom>
          <a:noFill/>
          <a:ln w="9525" algn="ctr">
            <a:noFill/>
            <a:miter lim="800000"/>
            <a:headEnd/>
            <a:tailEnd/>
          </a:ln>
        </p:spPr>
        <p:txBody>
          <a:bodyPr wrap="none" lIns="26986" tIns="26986" rIns="26986" bIns="26986" anchor="ctr">
            <a:spAutoFit/>
          </a:bodyPr>
          <a:lstStyle/>
          <a:p>
            <a:pPr marL="101740" lvl="0" indent="-101740" algn="ctr" defTabSz="493532" fontAlgn="base">
              <a:spcBef>
                <a:spcPct val="0"/>
              </a:spcBef>
              <a:spcAft>
                <a:spcPct val="0"/>
              </a:spcAft>
              <a:defRPr/>
            </a:pPr>
            <a:r>
              <a:rPr lang="zh-CN" altLang="en-US" b="1" kern="0">
                <a:latin typeface="Huawei Sans" panose="020C0503030203020204" pitchFamily="34" charset="0"/>
                <a:ea typeface="方正兰亭黑简体" panose="02000000000000000000" pitchFamily="2" charset="-122"/>
                <a:cs typeface="+mn-ea"/>
                <a:sym typeface="Huawei Sans" panose="020C0503030203020204" pitchFamily="34" charset="0"/>
              </a:rPr>
              <a:t>漫游类</a:t>
            </a:r>
          </a:p>
        </p:txBody>
      </p:sp>
      <p:sp>
        <p:nvSpPr>
          <p:cNvPr id="47" name="Rectangle 1"/>
          <p:cNvSpPr>
            <a:spLocks noChangeArrowheads="1"/>
          </p:cNvSpPr>
          <p:nvPr/>
        </p:nvSpPr>
        <p:spPr bwMode="gray">
          <a:xfrm>
            <a:off x="3213585" y="5061570"/>
            <a:ext cx="797013" cy="461024"/>
          </a:xfrm>
          <a:prstGeom prst="rect">
            <a:avLst/>
          </a:prstGeom>
          <a:noFill/>
          <a:ln w="9525">
            <a:noFill/>
            <a:miter lim="800000"/>
            <a:headEnd/>
            <a:tailEnd/>
          </a:ln>
          <a:effectLst/>
        </p:spPr>
        <p:txBody>
          <a:bodyPr wrap="none" lIns="0" tIns="0" rIns="0" bIns="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乒乓漫游</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漫游异常</a:t>
            </a:r>
          </a:p>
        </p:txBody>
      </p:sp>
      <p:sp>
        <p:nvSpPr>
          <p:cNvPr id="48" name="Rectangle 25"/>
          <p:cNvSpPr>
            <a:spLocks noChangeArrowheads="1"/>
          </p:cNvSpPr>
          <p:nvPr/>
        </p:nvSpPr>
        <p:spPr bwMode="gray">
          <a:xfrm>
            <a:off x="8215919" y="4655083"/>
            <a:ext cx="751805"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设备类</a:t>
            </a:r>
          </a:p>
        </p:txBody>
      </p:sp>
      <p:sp>
        <p:nvSpPr>
          <p:cNvPr id="51" name="Rectangle 1"/>
          <p:cNvSpPr>
            <a:spLocks noChangeArrowheads="1"/>
          </p:cNvSpPr>
          <p:nvPr/>
        </p:nvSpPr>
        <p:spPr bwMode="gray">
          <a:xfrm>
            <a:off x="6897557" y="3419654"/>
            <a:ext cx="1104790" cy="760208"/>
          </a:xfrm>
          <a:prstGeom prst="rect">
            <a:avLst/>
          </a:prstGeom>
          <a:noFill/>
          <a:ln w="9525">
            <a:noFill/>
            <a:miter lim="800000"/>
            <a:headEnd/>
            <a:tailEnd/>
          </a:ln>
          <a:effectLst/>
        </p:spPr>
        <p:txBody>
          <a:bodyPr wrap="none" lIns="0" tIns="0" rIns="0" bIns="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弱覆盖</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高信道利用率</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高干扰</a:t>
            </a:r>
            <a:r>
              <a:rPr lang="zh-CN" altLang="en-US" sz="14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p>
        </p:txBody>
      </p:sp>
      <p:sp>
        <p:nvSpPr>
          <p:cNvPr id="52" name="文本框 51"/>
          <p:cNvSpPr txBox="1"/>
          <p:nvPr/>
        </p:nvSpPr>
        <p:spPr bwMode="gray">
          <a:xfrm>
            <a:off x="9110941" y="3419654"/>
            <a:ext cx="838691" cy="720197"/>
          </a:xfrm>
          <a:prstGeom prst="rect">
            <a:avLst/>
          </a:prstGeom>
          <a:noFill/>
        </p:spPr>
        <p:txBody>
          <a:bodyPr wrap="none" lIns="0" tIns="0" rIns="0" bIns="0" rtlCol="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非</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优先</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终端容量</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空口拥塞</a:t>
            </a:r>
            <a:endPar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Rectangle 1"/>
          <p:cNvSpPr>
            <a:spLocks noChangeArrowheads="1"/>
          </p:cNvSpPr>
          <p:nvPr/>
        </p:nvSpPr>
        <p:spPr bwMode="gray">
          <a:xfrm>
            <a:off x="6897557" y="5038599"/>
            <a:ext cx="3917852" cy="960263"/>
          </a:xfrm>
          <a:prstGeom prst="rect">
            <a:avLst/>
          </a:prstGeom>
          <a:noFill/>
          <a:ln w="9525">
            <a:noFill/>
            <a:miter lim="800000"/>
            <a:headEnd/>
            <a:tailEnd/>
          </a:ln>
          <a:effectLst/>
        </p:spPr>
        <p:txBody>
          <a:bodyPr wrap="square" lIns="0" tIns="0" rIns="0" bIns="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网络状态：端口</a:t>
            </a:r>
            <a:r>
              <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Down</a:t>
            </a: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、端口闪断、端口</a:t>
            </a:r>
            <a:r>
              <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Error Down</a:t>
            </a: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等</a:t>
            </a:r>
            <a:endPar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网络性能：二层环路、端口拥塞、端口错包等</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设备环境：设备离线、</a:t>
            </a: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a:t>
            </a: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复重启、主控板故障等</a:t>
            </a:r>
            <a:endPar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设备容量：</a:t>
            </a:r>
            <a:r>
              <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ARP</a:t>
            </a: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表项数量超阈值、</a:t>
            </a:r>
            <a:r>
              <a:rPr lang="en-US" altLang="zh-CN"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超限等</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Rectangle 25"/>
          <p:cNvSpPr>
            <a:spLocks noChangeArrowheads="1"/>
          </p:cNvSpPr>
          <p:nvPr/>
        </p:nvSpPr>
        <p:spPr bwMode="gray">
          <a:xfrm>
            <a:off x="3236189" y="2935989"/>
            <a:ext cx="751805"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dirty="0">
                <a:latin typeface="Huawei Sans" panose="020C0503030203020204" pitchFamily="34" charset="0"/>
                <a:ea typeface="方正兰亭黑简体" panose="02000000000000000000" pitchFamily="2" charset="-122"/>
                <a:cs typeface="+mn-ea"/>
                <a:sym typeface="Huawei Sans" panose="020C0503030203020204" pitchFamily="34" charset="0"/>
              </a:rPr>
              <a:t>连接类</a:t>
            </a:r>
          </a:p>
        </p:txBody>
      </p:sp>
      <p:sp>
        <p:nvSpPr>
          <p:cNvPr id="56" name="Rectangle 25"/>
          <p:cNvSpPr>
            <a:spLocks noChangeArrowheads="1"/>
          </p:cNvSpPr>
          <p:nvPr/>
        </p:nvSpPr>
        <p:spPr bwMode="gray">
          <a:xfrm>
            <a:off x="7983483" y="2935989"/>
            <a:ext cx="1216677" cy="331498"/>
          </a:xfrm>
          <a:prstGeom prst="rect">
            <a:avLst/>
          </a:prstGeom>
          <a:noFill/>
          <a:ln w="9525" algn="ctr">
            <a:noFill/>
            <a:miter lim="800000"/>
            <a:headEnd/>
            <a:tailEnd/>
          </a:ln>
        </p:spPr>
        <p:txBody>
          <a:bodyPr wrap="none" lIns="26986" tIns="26986" rIns="26986" bIns="26986" anchor="ctr">
            <a:spAutoFit/>
          </a:bodyPr>
          <a:lstStyle/>
          <a:p>
            <a:pPr marL="101740" indent="-101740" algn="ctr" defTabSz="493532" fontAlgn="base">
              <a:spcBef>
                <a:spcPct val="0"/>
              </a:spcBef>
              <a:spcAft>
                <a:spcPct val="0"/>
              </a:spcAft>
              <a:defRPr/>
            </a:pPr>
            <a:r>
              <a:rPr lang="zh-CN" altLang="en-US" b="1">
                <a:latin typeface="Huawei Sans" panose="020C0503030203020204" pitchFamily="34" charset="0"/>
                <a:ea typeface="方正兰亭黑简体" panose="02000000000000000000" pitchFamily="2" charset="-122"/>
                <a:cs typeface="+mn-ea"/>
                <a:sym typeface="Huawei Sans" panose="020C0503030203020204" pitchFamily="34" charset="0"/>
              </a:rPr>
              <a:t>空口性能类</a:t>
            </a:r>
          </a:p>
        </p:txBody>
      </p:sp>
      <p:sp>
        <p:nvSpPr>
          <p:cNvPr id="57" name="Rectangle 1"/>
          <p:cNvSpPr>
            <a:spLocks noChangeArrowheads="1"/>
          </p:cNvSpPr>
          <p:nvPr/>
        </p:nvSpPr>
        <p:spPr bwMode="gray">
          <a:xfrm>
            <a:off x="2096589" y="3419654"/>
            <a:ext cx="797013" cy="461024"/>
          </a:xfrm>
          <a:prstGeom prst="rect">
            <a:avLst/>
          </a:prstGeom>
          <a:noFill/>
          <a:ln w="9525">
            <a:noFill/>
            <a:miter lim="800000"/>
            <a:headEnd/>
            <a:tailEnd/>
          </a:ln>
          <a:effectLst/>
        </p:spPr>
        <p:txBody>
          <a:bodyPr wrap="none" lIns="0" tIns="0" rIns="0" bIns="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关联失败</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关联</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慢</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文本框 57"/>
          <p:cNvSpPr txBox="1"/>
          <p:nvPr/>
        </p:nvSpPr>
        <p:spPr bwMode="gray">
          <a:xfrm>
            <a:off x="4204779" y="3419654"/>
            <a:ext cx="1258678" cy="720197"/>
          </a:xfrm>
          <a:prstGeom prst="rect">
            <a:avLst/>
          </a:prstGeom>
          <a:noFill/>
        </p:spPr>
        <p:txBody>
          <a:bodyPr wrap="none" lIns="0" tIns="0" rIns="0" bIns="0" rtlCol="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失败</a:t>
            </a:r>
            <a:endPar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DHCP</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慢</a:t>
            </a:r>
            <a:endPar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用户网关不可达</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Rectangle 1"/>
          <p:cNvSpPr>
            <a:spLocks noChangeArrowheads="1"/>
          </p:cNvSpPr>
          <p:nvPr/>
        </p:nvSpPr>
        <p:spPr bwMode="gray">
          <a:xfrm>
            <a:off x="3150684" y="3419654"/>
            <a:ext cx="797013" cy="720197"/>
          </a:xfrm>
          <a:prstGeom prst="rect">
            <a:avLst/>
          </a:prstGeom>
          <a:noFill/>
          <a:ln w="9525">
            <a:noFill/>
            <a:miter lim="800000"/>
            <a:headEnd/>
            <a:tailEnd/>
          </a:ln>
          <a:effectLst/>
        </p:spPr>
        <p:txBody>
          <a:bodyPr wrap="none" lIns="0" tIns="0" rIns="0" bIns="0">
            <a:spAutoFit/>
          </a:bodyPr>
          <a:lstStyle/>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认证</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败</a:t>
            </a: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认证超时</a:t>
            </a:r>
            <a:endPar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lvl="2" indent="179946" defTabSz="514004" fontAlgn="base">
              <a:lnSpc>
                <a:spcPct val="130000"/>
              </a:lnSpc>
              <a:spcBef>
                <a:spcPct val="0"/>
              </a:spcBef>
              <a:spcAft>
                <a:spcPct val="0"/>
              </a:spcAft>
              <a:buSzPct val="60000"/>
              <a:buFont typeface="Wingdings" pitchFamily="2" charset="2"/>
              <a:buChar char="l"/>
              <a:tabLst>
                <a:tab pos="771007" algn="l"/>
              </a:tabLst>
              <a:defRPr/>
            </a:pP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认证慢</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圆角矩形 75"/>
          <p:cNvSpPr/>
          <p:nvPr/>
        </p:nvSpPr>
        <p:spPr bwMode="gray">
          <a:xfrm>
            <a:off x="11087271" y="5511054"/>
            <a:ext cx="614233" cy="258351"/>
          </a:xfrm>
          <a:prstGeom prst="roundRect">
            <a:avLst>
              <a:gd name="adj" fmla="val 4099"/>
            </a:avLst>
          </a:prstGeom>
          <a:solidFill>
            <a:srgbClr val="FEF3E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无线</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75"/>
          <p:cNvSpPr/>
          <p:nvPr/>
        </p:nvSpPr>
        <p:spPr bwMode="auto">
          <a:xfrm>
            <a:off x="11087271" y="5822062"/>
            <a:ext cx="614233" cy="258351"/>
          </a:xfrm>
          <a:prstGeom prst="roundRect">
            <a:avLst>
              <a:gd name="adj" fmla="val 4099"/>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有线</a:t>
            </a:r>
          </a:p>
        </p:txBody>
      </p:sp>
    </p:spTree>
    <p:extLst>
      <p:ext uri="{BB962C8B-B14F-4D97-AF65-F5344CB8AC3E}">
        <p14:creationId xmlns:p14="http://schemas.microsoft.com/office/powerpoint/2010/main" val="187628419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：智能识别四类典型问题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905644606"/>
              </p:ext>
            </p:extLst>
          </p:nvPr>
        </p:nvGraphicFramePr>
        <p:xfrm>
          <a:off x="828897" y="1092772"/>
          <a:ext cx="10510393" cy="5015134"/>
        </p:xfrm>
        <a:graphic>
          <a:graphicData uri="http://schemas.openxmlformats.org/drawingml/2006/table">
            <a:tbl>
              <a:tblPr/>
              <a:tblGrid>
                <a:gridCol w="1491745"/>
                <a:gridCol w="3906327"/>
                <a:gridCol w="5112321"/>
              </a:tblGrid>
              <a:tr h="351694">
                <a:tc>
                  <a:txBody>
                    <a:bodyPr/>
                    <a:lstStyle/>
                    <a:p>
                      <a:pPr algn="ctr" fontAlgn="ctr"/>
                      <a:r>
                        <a:rPr lang="zh-CN"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类型</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ctr"/>
                      <a:r>
                        <a:rPr lang="zh-CN" altLang="en-US" sz="1200" b="1" i="0" u="none" strike="noStrike"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问题</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10896">
                <a:tc rowSpan="9">
                  <a:txBody>
                    <a:bodyPr/>
                    <a:lstStyle/>
                    <a:p>
                      <a:pPr algn="ctr"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连接类</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rowSpan="9">
                  <a:txBody>
                    <a:bodyPr/>
                    <a:lstStyle/>
                    <a:p>
                      <a:pPr algn="l"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快速识别关联、认证、</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三个阶段出现的群体性失败、慢等各类用户接入网络过程的问题。针对每个问题，通过故障知识库快速精准识别问题根因并给出修复建议。</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p>
                      <a:pPr marL="0" marR="0" lvl="0" indent="0" algn="l" defTabSz="1187798" rtl="0" eaLnBrk="1" fontAlgn="ctr" latinLnBrk="0" hangingPunct="1">
                        <a:lnSpc>
                          <a:spcPct val="12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认证</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失败</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（无线</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认证</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超时</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（无线</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认证</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慢</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（无线</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关联</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失败</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关联</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慢</a:t>
                      </a:r>
                      <a:endParaRPr 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pPr algn="l" fontAlgn="ctr"/>
                      <a:endParaRPr lang="en-US" sz="1100" b="0" i="0" u="none" strike="noStrike" dirty="0">
                        <a:solidFill>
                          <a:schemeClr val="bg1"/>
                        </a:solidFill>
                        <a:effectLst/>
                        <a:latin typeface="微软雅黑" panose="020B0503020204020204" pitchFamily="34" charset="-122"/>
                        <a:ea typeface="微软雅黑" panose="020B0503020204020204" pitchFamily="34" charset="-122"/>
                      </a:endParaRPr>
                    </a:p>
                  </a:txBody>
                  <a:tcPr marL="7469" marR="7469" marT="7469" marB="0" anchor="ctr">
                    <a:solidFill>
                      <a:srgbClr val="006699"/>
                    </a:solidFill>
                  </a:tcPr>
                </a:tc>
                <a:tc vMerge="1">
                  <a:txBody>
                    <a:bodyPr/>
                    <a:lstStyle/>
                    <a:p>
                      <a:endParaRPr lang="zh-CN" altLang="en-US"/>
                    </a:p>
                  </a:txBody>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失败（无线</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pPr algn="l" fontAlgn="ctr"/>
                      <a:endParaRPr lang="en-US" sz="1100" b="0" i="0" u="none" strike="noStrike" dirty="0">
                        <a:solidFill>
                          <a:schemeClr val="bg1"/>
                        </a:solidFill>
                        <a:effectLst/>
                        <a:latin typeface="微软雅黑" panose="020B0503020204020204" pitchFamily="34" charset="-122"/>
                        <a:ea typeface="微软雅黑" panose="020B0503020204020204" pitchFamily="34" charset="-122"/>
                      </a:endParaRPr>
                    </a:p>
                  </a:txBody>
                  <a:tcPr marL="7469" marR="7469" marT="7469" marB="0" anchor="ctr">
                    <a:solidFill>
                      <a:srgbClr val="006699"/>
                    </a:solidFill>
                  </a:tcPr>
                </a:tc>
                <a:tc vMerge="1">
                  <a:txBody>
                    <a:bodyPr/>
                    <a:lstStyle/>
                    <a:p>
                      <a:endParaRPr lang="zh-CN" altLang="en-US"/>
                    </a:p>
                  </a:txBody>
                  <a:tcPr/>
                </a:tc>
                <a:tc>
                  <a:txBody>
                    <a:bodyPr/>
                    <a:lstStyle/>
                    <a:p>
                      <a:pPr marL="0" marR="0" lvl="0" indent="0" algn="l" defTabSz="1187798" rtl="0" eaLnBrk="1" fontAlgn="ctr" latinLnBrk="0" hangingPunct="1">
                        <a:lnSpc>
                          <a:spcPct val="120000"/>
                        </a:lnSpc>
                        <a:spcBef>
                          <a:spcPts val="0"/>
                        </a:spcBef>
                        <a:spcAft>
                          <a:spcPts val="0"/>
                        </a:spcAft>
                        <a:buClrTx/>
                        <a:buSzTx/>
                        <a:buFontTx/>
                        <a:buNone/>
                        <a:tabLst/>
                        <a:defRPr/>
                      </a:pP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慢（无线</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pPr algn="ctr" fontAlgn="ctr"/>
                      <a:endParaRPr 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7469" marR="7469" marT="74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fontAlgn="ctr"/>
                      <a:endParaRPr 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7469" marR="7469" marT="74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lnSpc>
                          <a:spcPct val="120000"/>
                        </a:lnSpc>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用户网关不可达</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pPr algn="ctr" fontAlgn="ctr"/>
                      <a:endParaRPr lang="en-US" sz="1400" b="0" i="0" u="none" strike="noStrike"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tcPr>
                </a:tc>
                <a:tc vMerge="1">
                  <a:txBody>
                    <a:bodyPr/>
                    <a:lstStyle/>
                    <a:p>
                      <a:pPr algn="l" fontAlgn="ctr"/>
                      <a:endParaRPr lang="en-US" sz="1400" b="0" i="0" u="none" strike="noStrike" dirty="0">
                        <a:solidFill>
                          <a:schemeClr val="tx1"/>
                        </a:solidFill>
                        <a:effectLst/>
                        <a:latin typeface="+mn-lt"/>
                        <a:ea typeface="+mn-ea"/>
                        <a:cs typeface="+mn-ea"/>
                        <a:sym typeface="+mn-lt"/>
                      </a:endParaRPr>
                    </a:p>
                  </a:txBody>
                  <a:tcPr anchor="ctr"/>
                </a:tc>
                <a:tc>
                  <a:txBody>
                    <a:bodyPr/>
                    <a:lstStyle/>
                    <a:p>
                      <a:pPr algn="l" fontAlgn="ctr">
                        <a:lnSpc>
                          <a:spcPct val="120000"/>
                        </a:lnSpc>
                      </a:pP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用户集体下线</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rowSpan="6">
                  <a:txBody>
                    <a:bodyPr/>
                    <a:lstStyle/>
                    <a:p>
                      <a:pPr algn="ctr" fontAlgn="ct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性能</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类</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rowSpan="6">
                  <a:txBody>
                    <a:bodyPr/>
                    <a:lstStyle/>
                    <a:p>
                      <a:pPr algn="l"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实时监控无线空口性能数据，并融入华为专家经验，智能识别用户在接入无线网络后，影响用户上网体验的六类无线空口问题，并对应给出修复建议。</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弱</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覆盖</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高</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干扰</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高信道</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利用率</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空口</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拥塞</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非5G优先</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10896">
                <a:tc vMerge="1">
                  <a:txBody>
                    <a:bodyPr/>
                    <a:lstStyle/>
                    <a:p>
                      <a:endParaRPr 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终端</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容量</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 name="五边形 5"/>
          <p:cNvSpPr/>
          <p:nvPr/>
        </p:nvSpPr>
        <p:spPr bwMode="auto">
          <a:xfrm>
            <a:off x="9993983"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个障分析</a:t>
            </a:r>
          </a:p>
        </p:txBody>
      </p:sp>
      <p:sp>
        <p:nvSpPr>
          <p:cNvPr id="7" name="燕尾形 6"/>
          <p:cNvSpPr/>
          <p:nvPr/>
        </p:nvSpPr>
        <p:spPr bwMode="auto">
          <a:xfrm>
            <a:off x="10815409" y="124239"/>
            <a:ext cx="900000" cy="213120"/>
          </a:xfrm>
          <a:prstGeom prst="chevron">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3937725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Huawei Sans" panose="020C0503030203020204" pitchFamily="34" charset="0"/>
              </a:rPr>
              <a:t>CampusInsight</a:t>
            </a:r>
            <a:r>
              <a:rPr lang="zh-CN" altLang="en-US" dirty="0" smtClean="0">
                <a:sym typeface="Huawei Sans" panose="020C0503030203020204" pitchFamily="34" charset="0"/>
              </a:rPr>
              <a:t>：智能识别四类典型问题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510159549"/>
              </p:ext>
            </p:extLst>
          </p:nvPr>
        </p:nvGraphicFramePr>
        <p:xfrm>
          <a:off x="828897" y="1094913"/>
          <a:ext cx="10510393" cy="2980204"/>
        </p:xfrm>
        <a:graphic>
          <a:graphicData uri="http://schemas.openxmlformats.org/drawingml/2006/table">
            <a:tbl>
              <a:tblPr/>
              <a:tblGrid>
                <a:gridCol w="1491745"/>
                <a:gridCol w="3906327"/>
                <a:gridCol w="5112321"/>
              </a:tblGrid>
              <a:tr h="349682">
                <a:tc>
                  <a:txBody>
                    <a:bodyPr/>
                    <a:lstStyle/>
                    <a:p>
                      <a:pPr algn="ctr" fontAlgn="ctr"/>
                      <a:r>
                        <a:rPr lang="zh-CN"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类型</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ctr"/>
                      <a:r>
                        <a:rPr lang="zh-CN" altLang="en-US" sz="1200" b="1"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问题</a:t>
                      </a:r>
                      <a:endParaRPr lang="en-US" sz="1200" b="1" i="0" u="none" strike="noStrike" dirty="0">
                        <a:solidFill>
                          <a:schemeClr val="tx2"/>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09421">
                <a:tc rowSpan="2">
                  <a:txBody>
                    <a:bodyPr/>
                    <a:lstStyle/>
                    <a:p>
                      <a:pPr algn="ctr" fontAlgn="ct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漫游</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类</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rowSpan="2">
                  <a:txBody>
                    <a:bodyPr/>
                    <a:lstStyle/>
                    <a:p>
                      <a:pPr algn="l" fontAlgn="ct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分析用户在多个</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间的上</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下线流程，智能识别用户在移动过程中的上网体验问题，并对应给出修复建议。</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乒乓</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漫游</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09421">
                <a:tc vMerge="1">
                  <a:txBody>
                    <a:bodyPr/>
                    <a:lstStyle/>
                    <a:p>
                      <a:pPr algn="ctr" fontAlgn="ctr"/>
                      <a:endParaRPr 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7469" marR="7469" marT="74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漫游异常</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09421">
                <a:tc rowSpan="4">
                  <a:txBody>
                    <a:bodyPr/>
                    <a:lstStyle/>
                    <a:p>
                      <a:pPr algn="ctr" fontAlgn="ctr">
                        <a:lnSpc>
                          <a:spcPct val="100000"/>
                        </a:lnSpc>
                      </a:pPr>
                      <a:r>
                        <a:rPr lang="zh-CN" sz="1200" u="none" strike="noStrike" dirty="0">
                          <a:effectLst/>
                          <a:latin typeface="Huawei Sans" panose="020C0503030203020204" pitchFamily="34" charset="0"/>
                          <a:ea typeface="方正兰亭黑简体" panose="02000000000000000000" pitchFamily="2" charset="-122"/>
                          <a:sym typeface="Huawei Sans" panose="020C0503030203020204" pitchFamily="34" charset="0"/>
                        </a:rPr>
                        <a:t>设备</a:t>
                      </a:r>
                      <a:r>
                        <a:rPr 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类</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rowSpan="4">
                  <a:txBody>
                    <a:bodyPr/>
                    <a:lstStyle/>
                    <a:p>
                      <a:pPr algn="l" fontAlgn="ctr">
                        <a:lnSpc>
                          <a:spcPct val="100000"/>
                        </a:lnSpc>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智能识别网络状态、网络性能、设备环境、设备容量等各类问题，并对应给出修复建议。</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l" fontAlgn="ctr">
                        <a:lnSpc>
                          <a:spcPct val="100000"/>
                        </a:lnSpc>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网络状态：</a:t>
                      </a:r>
                      <a:endPar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endParaRPr>
                    </a:p>
                    <a:p>
                      <a:pPr algn="l" fontAlgn="ctr">
                        <a:lnSpc>
                          <a:spcPct val="100000"/>
                        </a:lnSpc>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端口</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Down</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、端口闪断、端口</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Error Down</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、物理端口假死、光模块异常</a:t>
                      </a:r>
                      <a:endParaRPr lang="en-US" sz="1200" b="0" i="0" u="none" strike="noStrike"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09421">
                <a:tc vMerge="1">
                  <a:txBody>
                    <a:bodyPr/>
                    <a:lstStyle/>
                    <a:p>
                      <a:endParaRPr lang="zh-CN" alt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网络性能：</a:t>
                      </a:r>
                      <a:endPar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二层环路、端口拥塞、队列拥塞、端口错包、</a:t>
                      </a:r>
                      <a:r>
                        <a:rPr lang="en-US" altLang="zh-CN"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CPCAR</a:t>
                      </a:r>
                      <a:r>
                        <a:rPr lang="zh-CN" altLang="en-US" sz="1200" u="none" strike="noStrike" dirty="0" smtClean="0">
                          <a:effectLst/>
                          <a:latin typeface="Huawei Sans" panose="020C0503030203020204" pitchFamily="34" charset="0"/>
                          <a:ea typeface="方正兰亭黑简体" panose="02000000000000000000" pitchFamily="2" charset="-122"/>
                          <a:sym typeface="Huawei Sans" panose="020C0503030203020204" pitchFamily="34" charset="0"/>
                        </a:rPr>
                        <a:t>丢包</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09421">
                <a:tc vMerge="1">
                  <a:txBody>
                    <a:bodyPr/>
                    <a:lstStyle/>
                    <a:p>
                      <a:endParaRPr lang="zh-CN" altLang="en-US"/>
                    </a:p>
                  </a:txBody>
                  <a:tcPr/>
                </a:tc>
                <a:tc vMerge="1">
                  <a:txBody>
                    <a:bodyPr/>
                    <a:lstStyle/>
                    <a:p>
                      <a:endParaRPr lang="zh-CN" altLang="en-US"/>
                    </a:p>
                  </a:txBody>
                  <a:tcPr/>
                </a:tc>
                <a:tc>
                  <a:txBody>
                    <a:bodyPr/>
                    <a:lstStyle/>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设备环境：</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l" defTabSz="914034"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设备离线、设备反复重启、接口板故障、主控板故障、交换网板故障等</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tr>
              <a:tr h="309421">
                <a:tc vMerge="1">
                  <a:txBody>
                    <a:bodyPr/>
                    <a:lstStyle/>
                    <a:p>
                      <a:pPr algn="ctr" fontAlgn="ctr"/>
                      <a:endParaRPr 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7469" marR="7469" marT="7469" marB="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vMerge="1">
                  <a:txBody>
                    <a:bodyPr/>
                    <a:lstStyle/>
                    <a:p>
                      <a:pPr algn="l" fontAlgn="ctr"/>
                      <a:endParaRPr lang="en-US"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7469" marR="7469" marT="7469" marB="0" anchor="ctr">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设备容量：</a:t>
                      </a:r>
                      <a:endPar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APR</a:t>
                      </a: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表项数量超阈值、</a:t>
                      </a:r>
                      <a:r>
                        <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MAC</a:t>
                      </a: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表项数量超阈值、</a:t>
                      </a:r>
                      <a:r>
                        <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FIB</a:t>
                      </a: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表项数量超阈值、</a:t>
                      </a:r>
                      <a:r>
                        <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ACL</a:t>
                      </a: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资源不足、</a:t>
                      </a:r>
                      <a:r>
                        <a:rPr lang="en-US" altLang="zh-CN"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超限等</a:t>
                      </a:r>
                      <a:endParaRPr lang="en-US" sz="1200" b="0" i="0" u="none" strike="noStrike" dirty="0" smtClean="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 name="五边形 5"/>
          <p:cNvSpPr/>
          <p:nvPr/>
        </p:nvSpPr>
        <p:spPr bwMode="auto">
          <a:xfrm>
            <a:off x="9993982" y="124239"/>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个障分析</a:t>
            </a:r>
          </a:p>
        </p:txBody>
      </p:sp>
      <p:sp>
        <p:nvSpPr>
          <p:cNvPr id="7" name="燕尾形 6"/>
          <p:cNvSpPr/>
          <p:nvPr/>
        </p:nvSpPr>
        <p:spPr bwMode="auto">
          <a:xfrm>
            <a:off x="10815408" y="124239"/>
            <a:ext cx="900000" cy="213120"/>
          </a:xfrm>
          <a:prstGeom prst="chevron">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群障分析</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8823497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bwMode="invGray">
          <a:xfrm>
            <a:off x="6267113" y="3309234"/>
            <a:ext cx="4968671" cy="1320691"/>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连接类问题分析</a:t>
            </a:r>
            <a:endParaRPr lang="zh-CN" altLang="en-US" dirty="0">
              <a:sym typeface="Huawei Sans" panose="020C0503030203020204" pitchFamily="34" charset="0"/>
            </a:endParaRPr>
          </a:p>
        </p:txBody>
      </p:sp>
      <p:sp>
        <p:nvSpPr>
          <p:cNvPr id="30" name="文本框 214"/>
          <p:cNvSpPr txBox="1"/>
          <p:nvPr/>
        </p:nvSpPr>
        <p:spPr bwMode="gray">
          <a:xfrm>
            <a:off x="527053" y="1399807"/>
            <a:ext cx="5301191" cy="47042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6213" indent="-176213" algn="just">
              <a:lnSpc>
                <a:spcPts val="2600"/>
              </a:lnSpc>
              <a:spcAft>
                <a:spcPts val="300"/>
              </a:spcAft>
              <a:buFont typeface="Arial" panose="020B0604020202020204" pitchFamily="34" charset="0"/>
              <a:buChar char="•"/>
            </a:pP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异常识别：</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网络接入行为的异常</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检测。</a:t>
            </a:r>
            <a:endParaRPr lang="en-US" altLang="zh-CN"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560427" lvl="1" indent="-285750" algn="just">
              <a:lnSpc>
                <a:spcPts val="2600"/>
              </a:lnSpc>
              <a:spcAft>
                <a:spcPts val="300"/>
              </a:spcAft>
              <a:buSzPct val="50000"/>
              <a:buFont typeface="Wingdings" panose="05000000000000000000" pitchFamily="2" charset="2"/>
              <a:buChar char="p"/>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正常</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失败非故障场景（如右图</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区段）：无线网络用户接入失败始终存在，然而它们不一定是故障。</a:t>
            </a:r>
          </a:p>
          <a:p>
            <a:pPr marL="560427" lvl="1" indent="-285750" algn="just">
              <a:lnSpc>
                <a:spcPts val="2600"/>
              </a:lnSpc>
              <a:spcAft>
                <a:spcPts val="300"/>
              </a:spcAft>
              <a:buSzPct val="50000"/>
              <a:buFont typeface="Wingdings" panose="05000000000000000000" pitchFamily="2" charset="2"/>
              <a:buChar char="p"/>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终端去噪（如右图</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区段）：排除个体终端自身因素</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影响</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异常</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终端导致失败率冲</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高，虽然</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超出基线但不是问题。</a:t>
            </a:r>
          </a:p>
          <a:p>
            <a:pPr marL="560427" lvl="1" indent="-285750" algn="just">
              <a:lnSpc>
                <a:spcPts val="2600"/>
              </a:lnSpc>
              <a:spcAft>
                <a:spcPts val="300"/>
              </a:spcAft>
              <a:buSzPct val="50000"/>
              <a:buFont typeface="Wingdings" panose="05000000000000000000" pitchFamily="2" charset="2"/>
              <a:buChar char="p"/>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机器学习</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智能识别</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“双高”（</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如右图</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 ：智能识别影响范围大的群体性问题，“失败用户数高”与“失败比例高”同时发生的“双高”问题。</a:t>
            </a:r>
          </a:p>
          <a:p>
            <a:pPr marL="176213" indent="-176213" algn="just">
              <a:lnSpc>
                <a:spcPts val="2600"/>
              </a:lnSpc>
              <a:spcAft>
                <a:spcPts val="300"/>
              </a:spcAft>
              <a:buFont typeface="Arial" panose="020B0604020202020204" pitchFamily="34" charset="0"/>
              <a:buChar char="•"/>
            </a:pP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模式识别：</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相同的问题现象可能有不同的原因，通过识别模式找出可能的原因。将接入失败终端的相关特征进行抽象，运用聚类算法进行特征分析。</a:t>
            </a:r>
          </a:p>
          <a:p>
            <a:pPr marL="176213" indent="-176213" algn="just">
              <a:lnSpc>
                <a:spcPts val="2600"/>
              </a:lnSpc>
              <a:spcAft>
                <a:spcPts val="300"/>
              </a:spcAft>
              <a:buFont typeface="Arial" panose="020B0604020202020204" pitchFamily="34" charset="0"/>
              <a:buChar char="•"/>
            </a:pP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根因分析：</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基于终端上线日志，提炼可能的故障根因并给出修复建议，帮助运维人员实现问题闭环</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矩形 30"/>
          <p:cNvSpPr/>
          <p:nvPr/>
        </p:nvSpPr>
        <p:spPr bwMode="gray">
          <a:xfrm>
            <a:off x="527053" y="986022"/>
            <a:ext cx="5301189"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关键技术</a:t>
            </a:r>
          </a:p>
        </p:txBody>
      </p:sp>
      <p:sp>
        <p:nvSpPr>
          <p:cNvPr id="34" name="文本框 33"/>
          <p:cNvSpPr txBox="1"/>
          <p:nvPr/>
        </p:nvSpPr>
        <p:spPr bwMode="gray">
          <a:xfrm>
            <a:off x="6267113" y="4196900"/>
            <a:ext cx="902811" cy="307777"/>
          </a:xfrm>
          <a:prstGeom prst="rect">
            <a:avLst/>
          </a:prstGeom>
          <a:solidFill>
            <a:schemeClr val="bg1">
              <a:lumMod val="50000"/>
            </a:schemeClr>
          </a:solidFill>
        </p:spPr>
        <p:txBody>
          <a:bodyPr wrap="none" rtlCol="0">
            <a:spAutoFit/>
          </a:bodyPr>
          <a:lstStyle/>
          <a:p>
            <a:pPr defTabSz="914400" fontAlgn="base">
              <a:spcBef>
                <a:spcPct val="0"/>
              </a:spcBef>
              <a:spcAft>
                <a:spcPct val="0"/>
              </a:spcAft>
            </a:pPr>
            <a:r>
              <a:rPr lang="zh-CN" altLang="en-US" sz="14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故障模式</a:t>
            </a:r>
            <a:endParaRPr lang="en-US" sz="140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6281416" y="3326990"/>
            <a:ext cx="381027" cy="846718"/>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en-US" sz="12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9" name="图片 38"/>
          <p:cNvPicPr>
            <a:picLocks noChangeAspect="1"/>
          </p:cNvPicPr>
          <p:nvPr/>
        </p:nvPicPr>
        <p:blipFill>
          <a:blip r:embed="rId4"/>
          <a:stretch>
            <a:fillRect/>
          </a:stretch>
        </p:blipFill>
        <p:spPr bwMode="invGray">
          <a:xfrm>
            <a:off x="6263137" y="4693039"/>
            <a:ext cx="5448910" cy="1455377"/>
          </a:xfrm>
          <a:prstGeom prst="rect">
            <a:avLst/>
          </a:prstGeom>
        </p:spPr>
      </p:pic>
      <p:sp>
        <p:nvSpPr>
          <p:cNvPr id="40" name="矩形 39"/>
          <p:cNvSpPr/>
          <p:nvPr/>
        </p:nvSpPr>
        <p:spPr bwMode="gray">
          <a:xfrm>
            <a:off x="7898211" y="5171636"/>
            <a:ext cx="3795174" cy="936624"/>
          </a:xfrm>
          <a:prstGeom prst="rect">
            <a:avLst/>
          </a:prstGeom>
          <a:noFill/>
          <a:ln w="28575">
            <a:solidFill>
              <a:srgbClr val="C7000B"/>
            </a:solidFill>
            <a:prstDash val="solid"/>
          </a:ln>
        </p:spPr>
        <p:txBody>
          <a:bodyPr wrap="none" lIns="18000" rIns="18000" rtlCol="0" anchor="ctr" anchorCtr="1">
            <a:noAutofit/>
          </a:bodyPr>
          <a:lstStyle/>
          <a:p>
            <a:pPr algn="ctr" defTabSz="914400" fontAlgn="base">
              <a:spcBef>
                <a:spcPct val="0"/>
              </a:spcBef>
              <a:spcAft>
                <a:spcPct val="0"/>
              </a:spcAft>
              <a:buClr>
                <a:srgbClr val="CC9900"/>
              </a:buClr>
            </a:pPr>
            <a:endParaRPr lang="en-US" sz="120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bwMode="gray">
          <a:xfrm>
            <a:off x="9930350" y="4795757"/>
            <a:ext cx="1741182" cy="307777"/>
          </a:xfrm>
          <a:prstGeom prst="rect">
            <a:avLst/>
          </a:prstGeom>
          <a:solidFill>
            <a:schemeClr val="bg1">
              <a:lumMod val="50000"/>
            </a:schemeClr>
          </a:solidFill>
        </p:spPr>
        <p:txBody>
          <a:bodyPr wrap="none" rtlCol="0">
            <a:spAutoFit/>
          </a:bodyPr>
          <a:lstStyle/>
          <a:p>
            <a:pPr defTabSz="914400" fontAlgn="base">
              <a:spcBef>
                <a:spcPct val="0"/>
              </a:spcBef>
              <a:spcAft>
                <a:spcPct val="0"/>
              </a:spcAft>
            </a:pPr>
            <a:r>
              <a:rPr lang="zh-CN" altLang="en-US" sz="14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根因分析</a:t>
            </a:r>
            <a:r>
              <a:rPr lang="en-US" altLang="zh-CN" sz="14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400" dirty="0" smtClean="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修复建议</a:t>
            </a:r>
            <a:endParaRPr lang="en-US" sz="140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燕尾形 66"/>
          <p:cNvSpPr/>
          <p:nvPr/>
        </p:nvSpPr>
        <p:spPr bwMode="gray">
          <a:xfrm>
            <a:off x="964275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gray">
          <a:xfrm>
            <a:off x="8634417" y="124239"/>
            <a:ext cx="108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五边形 68"/>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燕尾形 71"/>
          <p:cNvSpPr/>
          <p:nvPr/>
        </p:nvSpPr>
        <p:spPr bwMode="gray">
          <a:xfrm>
            <a:off x="1063204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箭头连接符 48"/>
          <p:cNvCxnSpPr/>
          <p:nvPr/>
        </p:nvCxnSpPr>
        <p:spPr bwMode="gray">
          <a:xfrm flipH="1" flipV="1">
            <a:off x="6385654" y="1945968"/>
            <a:ext cx="5345" cy="1091427"/>
          </a:xfrm>
          <a:prstGeom prst="straightConnector1">
            <a:avLst/>
          </a:prstGeom>
          <a:noFill/>
          <a:ln w="9525" cap="flat" cmpd="sng" algn="ctr">
            <a:solidFill>
              <a:schemeClr val="bg1">
                <a:lumMod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文本框 49"/>
          <p:cNvSpPr txBox="1"/>
          <p:nvPr/>
        </p:nvSpPr>
        <p:spPr bwMode="gray">
          <a:xfrm>
            <a:off x="6456214" y="3053978"/>
            <a:ext cx="646331" cy="276999"/>
          </a:xfrm>
          <a:prstGeom prst="rect">
            <a:avLst/>
          </a:prstGeom>
          <a:noFill/>
        </p:spPr>
        <p:txBody>
          <a:bodyPr wrap="none" rtlCol="0">
            <a:spAutoFit/>
          </a:bodyPr>
          <a:lstStyle/>
          <a:p>
            <a:pPr defTabSz="914400" fontAlgn="base">
              <a:spcBef>
                <a:spcPct val="0"/>
              </a:spcBef>
              <a:spcAft>
                <a:spcPct val="0"/>
              </a:spcAft>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时间轴</a:t>
            </a:r>
            <a:endParaRPr 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文本框 50"/>
          <p:cNvSpPr txBox="1"/>
          <p:nvPr/>
        </p:nvSpPr>
        <p:spPr bwMode="gray">
          <a:xfrm rot="16200000">
            <a:off x="5527335" y="2301248"/>
            <a:ext cx="1415772" cy="276999"/>
          </a:xfrm>
          <a:prstGeom prst="rect">
            <a:avLst/>
          </a:prstGeom>
          <a:noFill/>
        </p:spPr>
        <p:txBody>
          <a:bodyPr wrap="none" rtlCol="0">
            <a:spAutoFit/>
          </a:bodyPr>
          <a:lstStyle/>
          <a:p>
            <a:pPr defTabSz="914400" fontAlgn="base">
              <a:spcBef>
                <a:spcPct val="0"/>
              </a:spcBef>
              <a:spcAft>
                <a:spcPct val="0"/>
              </a:spcAft>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失败比例由低至高</a:t>
            </a:r>
            <a:endParaRPr 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2" name="直接箭头连接符 51"/>
          <p:cNvCxnSpPr/>
          <p:nvPr/>
        </p:nvCxnSpPr>
        <p:spPr bwMode="gray">
          <a:xfrm>
            <a:off x="6375833" y="3061695"/>
            <a:ext cx="4548391" cy="10558"/>
          </a:xfrm>
          <a:prstGeom prst="straightConnector1">
            <a:avLst/>
          </a:prstGeom>
          <a:noFill/>
          <a:ln w="9525" cap="flat" cmpd="sng" algn="ctr">
            <a:solidFill>
              <a:schemeClr val="bg1">
                <a:lumMod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4" name="图片 63"/>
          <p:cNvPicPr>
            <a:picLocks/>
          </p:cNvPicPr>
          <p:nvPr/>
        </p:nvPicPr>
        <p:blipFill>
          <a:blip r:embed="rId5"/>
          <a:stretch>
            <a:fillRect/>
          </a:stretch>
        </p:blipFill>
        <p:spPr bwMode="invGray">
          <a:xfrm>
            <a:off x="6519326" y="1762536"/>
            <a:ext cx="4328513" cy="1275070"/>
          </a:xfrm>
          <a:prstGeom prst="rect">
            <a:avLst/>
          </a:prstGeom>
        </p:spPr>
      </p:pic>
      <p:sp>
        <p:nvSpPr>
          <p:cNvPr id="55" name="文本框 54"/>
          <p:cNvSpPr txBox="1"/>
          <p:nvPr/>
        </p:nvSpPr>
        <p:spPr bwMode="gray">
          <a:xfrm rot="16200000">
            <a:off x="10456815" y="2383863"/>
            <a:ext cx="1261884" cy="276999"/>
          </a:xfrm>
          <a:prstGeom prst="rect">
            <a:avLst/>
          </a:prstGeom>
          <a:noFill/>
        </p:spPr>
        <p:txBody>
          <a:bodyPr wrap="none" rtlCol="0">
            <a:spAutoFit/>
          </a:bodyPr>
          <a:lstStyle/>
          <a:p>
            <a:pPr defTabSz="914400" fontAlgn="base">
              <a:spcBef>
                <a:spcPct val="0"/>
              </a:spcBef>
              <a:spcAft>
                <a:spcPct val="0"/>
              </a:spcAft>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用户数由少至多</a:t>
            </a:r>
            <a:endParaRPr 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6" name="直接箭头连接符 55"/>
          <p:cNvCxnSpPr/>
          <p:nvPr/>
        </p:nvCxnSpPr>
        <p:spPr bwMode="gray">
          <a:xfrm flipH="1" flipV="1">
            <a:off x="10918879" y="1954731"/>
            <a:ext cx="5345" cy="1091427"/>
          </a:xfrm>
          <a:prstGeom prst="straightConnector1">
            <a:avLst/>
          </a:prstGeom>
          <a:noFill/>
          <a:ln w="9525" cap="flat" cmpd="sng" algn="ctr">
            <a:solidFill>
              <a:schemeClr val="bg1">
                <a:lumMod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p:cNvSpPr txBox="1"/>
          <p:nvPr/>
        </p:nvSpPr>
        <p:spPr bwMode="gray">
          <a:xfrm>
            <a:off x="6501516" y="980740"/>
            <a:ext cx="1979877" cy="646331"/>
          </a:xfrm>
          <a:prstGeom prst="rect">
            <a:avLst/>
          </a:prstGeom>
          <a:noFill/>
        </p:spPr>
        <p:txBody>
          <a:bodyPr wrap="square" rtlCol="0">
            <a:spAutoFit/>
          </a:bodyPr>
          <a:lstStyle/>
          <a:p>
            <a:pPr defTabSz="914400" fontAlgn="base">
              <a:spcBef>
                <a:spcPct val="0"/>
              </a:spcBef>
              <a:spcAft>
                <a:spcPct val="0"/>
              </a:spcAft>
            </a:pPr>
            <a:r>
              <a:rPr lang="zh-CN" altLang="en-US" sz="1200" dirty="0" smtClean="0">
                <a:solidFill>
                  <a:srgbClr val="00B050"/>
                </a:solidFill>
                <a:latin typeface="Huawei Sans" panose="020C0503030203020204" pitchFamily="34" charset="0"/>
                <a:ea typeface="方正兰亭黑简体" panose="02000000000000000000" pitchFamily="2" charset="-122"/>
                <a:cs typeface="+mn-ea"/>
                <a:sym typeface="Huawei Sans" panose="020C0503030203020204" pitchFamily="34" charset="0"/>
              </a:rPr>
              <a:t>绿色</a:t>
            </a:r>
            <a:r>
              <a:rPr lang="zh-CN" altLang="en-US" sz="1200" dirty="0">
                <a:solidFill>
                  <a:srgbClr val="00B050"/>
                </a:solidFill>
                <a:latin typeface="Huawei Sans" panose="020C0503030203020204" pitchFamily="34" charset="0"/>
                <a:ea typeface="方正兰亭黑简体" panose="02000000000000000000" pitchFamily="2" charset="-122"/>
                <a:cs typeface="+mn-ea"/>
                <a:sym typeface="Huawei Sans" panose="020C0503030203020204" pitchFamily="34" charset="0"/>
              </a:rPr>
              <a:t>虚</a:t>
            </a:r>
            <a:r>
              <a:rPr lang="zh-CN" altLang="en-US" sz="1200" dirty="0" smtClean="0">
                <a:solidFill>
                  <a:srgbClr val="00B050"/>
                </a:solidFill>
                <a:latin typeface="Huawei Sans" panose="020C0503030203020204" pitchFamily="34" charset="0"/>
                <a:ea typeface="方正兰亭黑简体" panose="02000000000000000000" pitchFamily="2" charset="-122"/>
                <a:cs typeface="+mn-ea"/>
                <a:sym typeface="Huawei Sans" panose="020C0503030203020204" pitchFamily="34" charset="0"/>
              </a:rPr>
              <a:t>线</a:t>
            </a:r>
            <a:r>
              <a:rPr lang="zh-CN" altLang="en-US" sz="1200" dirty="0">
                <a:solidFill>
                  <a:srgbClr val="00B05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用户</a:t>
            </a: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数量</a:t>
            </a:r>
            <a:r>
              <a:rPr lang="en-US" altLang="zh-CN" sz="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smtClean="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p>
          <a:p>
            <a:pPr defTabSz="914400" fontAlgn="base">
              <a:spcBef>
                <a:spcPct val="0"/>
              </a:spcBef>
              <a:spcAft>
                <a:spcPct val="0"/>
              </a:spcAft>
            </a:pPr>
            <a:r>
              <a:rPr lang="zh-CN" altLang="en-US" sz="1200" dirty="0" smtClean="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蓝色曲线</a:t>
            </a: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：失败率     </a:t>
            </a:r>
            <a:endParaRPr lang="en-US" altLang="zh-CN"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灰色阴影：失败率基线</a:t>
            </a:r>
            <a:endParaRPr lang="en-US" altLang="zh-CN"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8" name="直接连接符 57"/>
          <p:cNvCxnSpPr/>
          <p:nvPr/>
        </p:nvCxnSpPr>
        <p:spPr bwMode="gray">
          <a:xfrm flipH="1">
            <a:off x="9974309" y="1599625"/>
            <a:ext cx="14490" cy="1440000"/>
          </a:xfrm>
          <a:prstGeom prst="line">
            <a:avLst/>
          </a:prstGeom>
          <a:noFill/>
          <a:ln w="19050" cap="flat" cmpd="sng" algn="ctr">
            <a:solidFill>
              <a:srgbClr val="C7000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p:cNvCxnSpPr/>
          <p:nvPr/>
        </p:nvCxnSpPr>
        <p:spPr bwMode="gray">
          <a:xfrm flipH="1">
            <a:off x="10662073" y="1599625"/>
            <a:ext cx="3212" cy="1440000"/>
          </a:xfrm>
          <a:prstGeom prst="line">
            <a:avLst/>
          </a:prstGeom>
          <a:noFill/>
          <a:ln w="19050" cap="flat" cmpd="sng" algn="ctr">
            <a:solidFill>
              <a:srgbClr val="C7000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p:cNvCxnSpPr/>
          <p:nvPr/>
        </p:nvCxnSpPr>
        <p:spPr bwMode="gray">
          <a:xfrm>
            <a:off x="8973217" y="1599625"/>
            <a:ext cx="0" cy="1440000"/>
          </a:xfrm>
          <a:prstGeom prst="line">
            <a:avLst/>
          </a:prstGeom>
          <a:noFill/>
          <a:ln w="19050" cap="flat" cmpd="sng" algn="ctr">
            <a:solidFill>
              <a:srgbClr val="FFC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60"/>
          <p:cNvCxnSpPr/>
          <p:nvPr/>
        </p:nvCxnSpPr>
        <p:spPr bwMode="gray">
          <a:xfrm>
            <a:off x="9727246" y="1599625"/>
            <a:ext cx="0" cy="1440000"/>
          </a:xfrm>
          <a:prstGeom prst="line">
            <a:avLst/>
          </a:prstGeom>
          <a:noFill/>
          <a:ln w="19050" cap="flat" cmpd="sng" algn="ctr">
            <a:solidFill>
              <a:srgbClr val="FFC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gray">
          <a:xfrm>
            <a:off x="6516354" y="1599625"/>
            <a:ext cx="0" cy="1440000"/>
          </a:xfrm>
          <a:prstGeom prst="line">
            <a:avLst/>
          </a:prstGeom>
          <a:noFill/>
          <a:ln w="19050" cap="flat" cmpd="sng" algn="ctr">
            <a:solidFill>
              <a:srgbClr val="00B05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gray">
          <a:xfrm>
            <a:off x="8779777" y="1599625"/>
            <a:ext cx="0" cy="1440000"/>
          </a:xfrm>
          <a:prstGeom prst="line">
            <a:avLst/>
          </a:prstGeom>
          <a:noFill/>
          <a:ln w="19050" cap="flat" cmpd="sng" algn="ctr">
            <a:solidFill>
              <a:srgbClr val="00B05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任意多边形 43"/>
          <p:cNvSpPr/>
          <p:nvPr/>
        </p:nvSpPr>
        <p:spPr bwMode="invGray">
          <a:xfrm>
            <a:off x="6529926" y="2679797"/>
            <a:ext cx="4191753" cy="443496"/>
          </a:xfrm>
          <a:custGeom>
            <a:avLst/>
            <a:gdLst>
              <a:gd name="connsiteX0" fmla="*/ 0 w 4724400"/>
              <a:gd name="connsiteY0" fmla="*/ 461277 h 461277"/>
              <a:gd name="connsiteX1" fmla="*/ 95250 w 4724400"/>
              <a:gd name="connsiteY1" fmla="*/ 289827 h 461277"/>
              <a:gd name="connsiteX2" fmla="*/ 361950 w 4724400"/>
              <a:gd name="connsiteY2" fmla="*/ 137427 h 461277"/>
              <a:gd name="connsiteX3" fmla="*/ 714375 w 4724400"/>
              <a:gd name="connsiteY3" fmla="*/ 166002 h 461277"/>
              <a:gd name="connsiteX4" fmla="*/ 1152525 w 4724400"/>
              <a:gd name="connsiteY4" fmla="*/ 32652 h 461277"/>
              <a:gd name="connsiteX5" fmla="*/ 1562100 w 4724400"/>
              <a:gd name="connsiteY5" fmla="*/ 232677 h 461277"/>
              <a:gd name="connsiteX6" fmla="*/ 2047875 w 4724400"/>
              <a:gd name="connsiteY6" fmla="*/ 4077 h 461277"/>
              <a:gd name="connsiteX7" fmla="*/ 2571750 w 4724400"/>
              <a:gd name="connsiteY7" fmla="*/ 89802 h 461277"/>
              <a:gd name="connsiteX8" fmla="*/ 3028950 w 4724400"/>
              <a:gd name="connsiteY8" fmla="*/ 137427 h 461277"/>
              <a:gd name="connsiteX9" fmla="*/ 3305175 w 4724400"/>
              <a:gd name="connsiteY9" fmla="*/ 32652 h 461277"/>
              <a:gd name="connsiteX10" fmla="*/ 3743325 w 4724400"/>
              <a:gd name="connsiteY10" fmla="*/ 166002 h 461277"/>
              <a:gd name="connsiteX11" fmla="*/ 4248150 w 4724400"/>
              <a:gd name="connsiteY11" fmla="*/ 80277 h 461277"/>
              <a:gd name="connsiteX12" fmla="*/ 4600575 w 4724400"/>
              <a:gd name="connsiteY12" fmla="*/ 308877 h 461277"/>
              <a:gd name="connsiteX13" fmla="*/ 4724400 w 4724400"/>
              <a:gd name="connsiteY13" fmla="*/ 461277 h 4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24400" h="461277">
                <a:moveTo>
                  <a:pt x="0" y="461277"/>
                </a:moveTo>
                <a:cubicBezTo>
                  <a:pt x="17462" y="402539"/>
                  <a:pt x="34925" y="343802"/>
                  <a:pt x="95250" y="289827"/>
                </a:cubicBezTo>
                <a:cubicBezTo>
                  <a:pt x="155575" y="235852"/>
                  <a:pt x="258763" y="158064"/>
                  <a:pt x="361950" y="137427"/>
                </a:cubicBezTo>
                <a:cubicBezTo>
                  <a:pt x="465137" y="116790"/>
                  <a:pt x="582613" y="183464"/>
                  <a:pt x="714375" y="166002"/>
                </a:cubicBezTo>
                <a:cubicBezTo>
                  <a:pt x="846137" y="148540"/>
                  <a:pt x="1011238" y="21539"/>
                  <a:pt x="1152525" y="32652"/>
                </a:cubicBezTo>
                <a:cubicBezTo>
                  <a:pt x="1293813" y="43764"/>
                  <a:pt x="1412875" y="237440"/>
                  <a:pt x="1562100" y="232677"/>
                </a:cubicBezTo>
                <a:cubicBezTo>
                  <a:pt x="1711325" y="227914"/>
                  <a:pt x="1879600" y="27889"/>
                  <a:pt x="2047875" y="4077"/>
                </a:cubicBezTo>
                <a:cubicBezTo>
                  <a:pt x="2216150" y="-19735"/>
                  <a:pt x="2408238" y="67577"/>
                  <a:pt x="2571750" y="89802"/>
                </a:cubicBezTo>
                <a:cubicBezTo>
                  <a:pt x="2735262" y="112027"/>
                  <a:pt x="2906713" y="146952"/>
                  <a:pt x="3028950" y="137427"/>
                </a:cubicBezTo>
                <a:cubicBezTo>
                  <a:pt x="3151188" y="127902"/>
                  <a:pt x="3186113" y="27890"/>
                  <a:pt x="3305175" y="32652"/>
                </a:cubicBezTo>
                <a:cubicBezTo>
                  <a:pt x="3424237" y="37414"/>
                  <a:pt x="3586163" y="158065"/>
                  <a:pt x="3743325" y="166002"/>
                </a:cubicBezTo>
                <a:cubicBezTo>
                  <a:pt x="3900487" y="173939"/>
                  <a:pt x="4105275" y="56465"/>
                  <a:pt x="4248150" y="80277"/>
                </a:cubicBezTo>
                <a:cubicBezTo>
                  <a:pt x="4391025" y="104089"/>
                  <a:pt x="4521200" y="245377"/>
                  <a:pt x="4600575" y="308877"/>
                </a:cubicBezTo>
                <a:cubicBezTo>
                  <a:pt x="4679950" y="372377"/>
                  <a:pt x="4702175" y="416827"/>
                  <a:pt x="4724400" y="461277"/>
                </a:cubicBezTo>
              </a:path>
            </a:pathLst>
          </a:custGeom>
          <a:solidFill>
            <a:schemeClr val="bg1">
              <a:lumMod val="85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任意多边形 53"/>
          <p:cNvSpPr>
            <a:spLocks noChangeAspect="1"/>
          </p:cNvSpPr>
          <p:nvPr/>
        </p:nvSpPr>
        <p:spPr bwMode="ltGray">
          <a:xfrm>
            <a:off x="6566224" y="1777698"/>
            <a:ext cx="4234717" cy="1024778"/>
          </a:xfrm>
          <a:custGeom>
            <a:avLst/>
            <a:gdLst>
              <a:gd name="connsiteX0" fmla="*/ 0 w 6184354"/>
              <a:gd name="connsiteY0" fmla="*/ 845037 h 1064112"/>
              <a:gd name="connsiteX1" fmla="*/ 352425 w 6184354"/>
              <a:gd name="connsiteY1" fmla="*/ 597387 h 1064112"/>
              <a:gd name="connsiteX2" fmla="*/ 628650 w 6184354"/>
              <a:gd name="connsiteY2" fmla="*/ 92562 h 1064112"/>
              <a:gd name="connsiteX3" fmla="*/ 1009650 w 6184354"/>
              <a:gd name="connsiteY3" fmla="*/ 387837 h 1064112"/>
              <a:gd name="connsiteX4" fmla="*/ 1143000 w 6184354"/>
              <a:gd name="connsiteY4" fmla="*/ 568812 h 1064112"/>
              <a:gd name="connsiteX5" fmla="*/ 1323975 w 6184354"/>
              <a:gd name="connsiteY5" fmla="*/ 797412 h 1064112"/>
              <a:gd name="connsiteX6" fmla="*/ 1943100 w 6184354"/>
              <a:gd name="connsiteY6" fmla="*/ 683112 h 1064112"/>
              <a:gd name="connsiteX7" fmla="*/ 2514600 w 6184354"/>
              <a:gd name="connsiteY7" fmla="*/ 187812 h 1064112"/>
              <a:gd name="connsiteX8" fmla="*/ 3371850 w 6184354"/>
              <a:gd name="connsiteY8" fmla="*/ 302112 h 1064112"/>
              <a:gd name="connsiteX9" fmla="*/ 3705225 w 6184354"/>
              <a:gd name="connsiteY9" fmla="*/ 692637 h 1064112"/>
              <a:gd name="connsiteX10" fmla="*/ 4495800 w 6184354"/>
              <a:gd name="connsiteY10" fmla="*/ 749787 h 1064112"/>
              <a:gd name="connsiteX11" fmla="*/ 5038725 w 6184354"/>
              <a:gd name="connsiteY11" fmla="*/ 63987 h 1064112"/>
              <a:gd name="connsiteX12" fmla="*/ 5524500 w 6184354"/>
              <a:gd name="connsiteY12" fmla="*/ 111612 h 1064112"/>
              <a:gd name="connsiteX13" fmla="*/ 5953125 w 6184354"/>
              <a:gd name="connsiteY13" fmla="*/ 787887 h 1064112"/>
              <a:gd name="connsiteX14" fmla="*/ 6181725 w 6184354"/>
              <a:gd name="connsiteY14" fmla="*/ 1064112 h 1064112"/>
              <a:gd name="connsiteX0" fmla="*/ 0 w 6240116"/>
              <a:gd name="connsiteY0" fmla="*/ 845037 h 1026012"/>
              <a:gd name="connsiteX1" fmla="*/ 352425 w 6240116"/>
              <a:gd name="connsiteY1" fmla="*/ 597387 h 1026012"/>
              <a:gd name="connsiteX2" fmla="*/ 628650 w 6240116"/>
              <a:gd name="connsiteY2" fmla="*/ 92562 h 1026012"/>
              <a:gd name="connsiteX3" fmla="*/ 1009650 w 6240116"/>
              <a:gd name="connsiteY3" fmla="*/ 387837 h 1026012"/>
              <a:gd name="connsiteX4" fmla="*/ 1143000 w 6240116"/>
              <a:gd name="connsiteY4" fmla="*/ 568812 h 1026012"/>
              <a:gd name="connsiteX5" fmla="*/ 1323975 w 6240116"/>
              <a:gd name="connsiteY5" fmla="*/ 797412 h 1026012"/>
              <a:gd name="connsiteX6" fmla="*/ 1943100 w 6240116"/>
              <a:gd name="connsiteY6" fmla="*/ 683112 h 1026012"/>
              <a:gd name="connsiteX7" fmla="*/ 2514600 w 6240116"/>
              <a:gd name="connsiteY7" fmla="*/ 187812 h 1026012"/>
              <a:gd name="connsiteX8" fmla="*/ 3371850 w 6240116"/>
              <a:gd name="connsiteY8" fmla="*/ 302112 h 1026012"/>
              <a:gd name="connsiteX9" fmla="*/ 3705225 w 6240116"/>
              <a:gd name="connsiteY9" fmla="*/ 692637 h 1026012"/>
              <a:gd name="connsiteX10" fmla="*/ 4495800 w 6240116"/>
              <a:gd name="connsiteY10" fmla="*/ 749787 h 1026012"/>
              <a:gd name="connsiteX11" fmla="*/ 5038725 w 6240116"/>
              <a:gd name="connsiteY11" fmla="*/ 63987 h 1026012"/>
              <a:gd name="connsiteX12" fmla="*/ 5524500 w 6240116"/>
              <a:gd name="connsiteY12" fmla="*/ 111612 h 1026012"/>
              <a:gd name="connsiteX13" fmla="*/ 5953125 w 6240116"/>
              <a:gd name="connsiteY13" fmla="*/ 787887 h 1026012"/>
              <a:gd name="connsiteX14" fmla="*/ 6238075 w 6240116"/>
              <a:gd name="connsiteY14" fmla="*/ 1026012 h 1026012"/>
              <a:gd name="connsiteX0" fmla="*/ 0 w 6310108"/>
              <a:gd name="connsiteY0" fmla="*/ 845037 h 921237"/>
              <a:gd name="connsiteX1" fmla="*/ 352425 w 6310108"/>
              <a:gd name="connsiteY1" fmla="*/ 597387 h 921237"/>
              <a:gd name="connsiteX2" fmla="*/ 628650 w 6310108"/>
              <a:gd name="connsiteY2" fmla="*/ 92562 h 921237"/>
              <a:gd name="connsiteX3" fmla="*/ 1009650 w 6310108"/>
              <a:gd name="connsiteY3" fmla="*/ 387837 h 921237"/>
              <a:gd name="connsiteX4" fmla="*/ 1143000 w 6310108"/>
              <a:gd name="connsiteY4" fmla="*/ 568812 h 921237"/>
              <a:gd name="connsiteX5" fmla="*/ 1323975 w 6310108"/>
              <a:gd name="connsiteY5" fmla="*/ 797412 h 921237"/>
              <a:gd name="connsiteX6" fmla="*/ 1943100 w 6310108"/>
              <a:gd name="connsiteY6" fmla="*/ 683112 h 921237"/>
              <a:gd name="connsiteX7" fmla="*/ 2514600 w 6310108"/>
              <a:gd name="connsiteY7" fmla="*/ 187812 h 921237"/>
              <a:gd name="connsiteX8" fmla="*/ 3371850 w 6310108"/>
              <a:gd name="connsiteY8" fmla="*/ 302112 h 921237"/>
              <a:gd name="connsiteX9" fmla="*/ 3705225 w 6310108"/>
              <a:gd name="connsiteY9" fmla="*/ 692637 h 921237"/>
              <a:gd name="connsiteX10" fmla="*/ 4495800 w 6310108"/>
              <a:gd name="connsiteY10" fmla="*/ 749787 h 921237"/>
              <a:gd name="connsiteX11" fmla="*/ 5038725 w 6310108"/>
              <a:gd name="connsiteY11" fmla="*/ 63987 h 921237"/>
              <a:gd name="connsiteX12" fmla="*/ 5524500 w 6310108"/>
              <a:gd name="connsiteY12" fmla="*/ 111612 h 921237"/>
              <a:gd name="connsiteX13" fmla="*/ 5953125 w 6310108"/>
              <a:gd name="connsiteY13" fmla="*/ 787887 h 921237"/>
              <a:gd name="connsiteX14" fmla="*/ 6308512 w 6310108"/>
              <a:gd name="connsiteY14" fmla="*/ 921237 h 921237"/>
              <a:gd name="connsiteX0" fmla="*/ 0 w 5953125"/>
              <a:gd name="connsiteY0" fmla="*/ 845037 h 845037"/>
              <a:gd name="connsiteX1" fmla="*/ 352425 w 5953125"/>
              <a:gd name="connsiteY1" fmla="*/ 597387 h 845037"/>
              <a:gd name="connsiteX2" fmla="*/ 628650 w 5953125"/>
              <a:gd name="connsiteY2" fmla="*/ 92562 h 845037"/>
              <a:gd name="connsiteX3" fmla="*/ 1009650 w 5953125"/>
              <a:gd name="connsiteY3" fmla="*/ 387837 h 845037"/>
              <a:gd name="connsiteX4" fmla="*/ 1143000 w 5953125"/>
              <a:gd name="connsiteY4" fmla="*/ 568812 h 845037"/>
              <a:gd name="connsiteX5" fmla="*/ 1323975 w 5953125"/>
              <a:gd name="connsiteY5" fmla="*/ 797412 h 845037"/>
              <a:gd name="connsiteX6" fmla="*/ 1943100 w 5953125"/>
              <a:gd name="connsiteY6" fmla="*/ 683112 h 845037"/>
              <a:gd name="connsiteX7" fmla="*/ 2514600 w 5953125"/>
              <a:gd name="connsiteY7" fmla="*/ 187812 h 845037"/>
              <a:gd name="connsiteX8" fmla="*/ 3371850 w 5953125"/>
              <a:gd name="connsiteY8" fmla="*/ 302112 h 845037"/>
              <a:gd name="connsiteX9" fmla="*/ 3705225 w 5953125"/>
              <a:gd name="connsiteY9" fmla="*/ 692637 h 845037"/>
              <a:gd name="connsiteX10" fmla="*/ 4495800 w 5953125"/>
              <a:gd name="connsiteY10" fmla="*/ 749787 h 845037"/>
              <a:gd name="connsiteX11" fmla="*/ 5038725 w 5953125"/>
              <a:gd name="connsiteY11" fmla="*/ 63987 h 845037"/>
              <a:gd name="connsiteX12" fmla="*/ 5524500 w 5953125"/>
              <a:gd name="connsiteY12" fmla="*/ 111612 h 845037"/>
              <a:gd name="connsiteX13" fmla="*/ 5953125 w 5953125"/>
              <a:gd name="connsiteY13" fmla="*/ 787887 h 845037"/>
              <a:gd name="connsiteX0" fmla="*/ 0 w 5953125"/>
              <a:gd name="connsiteY0" fmla="*/ 845037 h 845037"/>
              <a:gd name="connsiteX1" fmla="*/ 352425 w 5953125"/>
              <a:gd name="connsiteY1" fmla="*/ 597387 h 845037"/>
              <a:gd name="connsiteX2" fmla="*/ 628650 w 5953125"/>
              <a:gd name="connsiteY2" fmla="*/ 92562 h 845037"/>
              <a:gd name="connsiteX3" fmla="*/ 1009650 w 5953125"/>
              <a:gd name="connsiteY3" fmla="*/ 387837 h 845037"/>
              <a:gd name="connsiteX4" fmla="*/ 1143000 w 5953125"/>
              <a:gd name="connsiteY4" fmla="*/ 568812 h 845037"/>
              <a:gd name="connsiteX5" fmla="*/ 1323975 w 5953125"/>
              <a:gd name="connsiteY5" fmla="*/ 797412 h 845037"/>
              <a:gd name="connsiteX6" fmla="*/ 1943100 w 5953125"/>
              <a:gd name="connsiteY6" fmla="*/ 683112 h 845037"/>
              <a:gd name="connsiteX7" fmla="*/ 2514600 w 5953125"/>
              <a:gd name="connsiteY7" fmla="*/ 187812 h 845037"/>
              <a:gd name="connsiteX8" fmla="*/ 3174627 w 5953125"/>
              <a:gd name="connsiteY8" fmla="*/ 492612 h 845037"/>
              <a:gd name="connsiteX9" fmla="*/ 3705225 w 5953125"/>
              <a:gd name="connsiteY9" fmla="*/ 692637 h 845037"/>
              <a:gd name="connsiteX10" fmla="*/ 4495800 w 5953125"/>
              <a:gd name="connsiteY10" fmla="*/ 749787 h 845037"/>
              <a:gd name="connsiteX11" fmla="*/ 5038725 w 5953125"/>
              <a:gd name="connsiteY11" fmla="*/ 63987 h 845037"/>
              <a:gd name="connsiteX12" fmla="*/ 5524500 w 5953125"/>
              <a:gd name="connsiteY12" fmla="*/ 111612 h 845037"/>
              <a:gd name="connsiteX13" fmla="*/ 5953125 w 5953125"/>
              <a:gd name="connsiteY13" fmla="*/ 787887 h 845037"/>
              <a:gd name="connsiteX0" fmla="*/ 0 w 5953125"/>
              <a:gd name="connsiteY0" fmla="*/ 845037 h 845037"/>
              <a:gd name="connsiteX1" fmla="*/ 352425 w 5953125"/>
              <a:gd name="connsiteY1" fmla="*/ 597387 h 845037"/>
              <a:gd name="connsiteX2" fmla="*/ 628650 w 5953125"/>
              <a:gd name="connsiteY2" fmla="*/ 92562 h 845037"/>
              <a:gd name="connsiteX3" fmla="*/ 1009650 w 5953125"/>
              <a:gd name="connsiteY3" fmla="*/ 387837 h 845037"/>
              <a:gd name="connsiteX4" fmla="*/ 1143000 w 5953125"/>
              <a:gd name="connsiteY4" fmla="*/ 568812 h 845037"/>
              <a:gd name="connsiteX5" fmla="*/ 1323975 w 5953125"/>
              <a:gd name="connsiteY5" fmla="*/ 797412 h 845037"/>
              <a:gd name="connsiteX6" fmla="*/ 1943100 w 5953125"/>
              <a:gd name="connsiteY6" fmla="*/ 683112 h 845037"/>
              <a:gd name="connsiteX7" fmla="*/ 2514600 w 5953125"/>
              <a:gd name="connsiteY7" fmla="*/ 187812 h 845037"/>
              <a:gd name="connsiteX8" fmla="*/ 2930171 w 5953125"/>
              <a:gd name="connsiteY8" fmla="*/ 212695 h 845037"/>
              <a:gd name="connsiteX9" fmla="*/ 3174627 w 5953125"/>
              <a:gd name="connsiteY9" fmla="*/ 492612 h 845037"/>
              <a:gd name="connsiteX10" fmla="*/ 3705225 w 5953125"/>
              <a:gd name="connsiteY10" fmla="*/ 692637 h 845037"/>
              <a:gd name="connsiteX11" fmla="*/ 4495800 w 5953125"/>
              <a:gd name="connsiteY11" fmla="*/ 749787 h 845037"/>
              <a:gd name="connsiteX12" fmla="*/ 5038725 w 5953125"/>
              <a:gd name="connsiteY12" fmla="*/ 63987 h 845037"/>
              <a:gd name="connsiteX13" fmla="*/ 5524500 w 5953125"/>
              <a:gd name="connsiteY13" fmla="*/ 111612 h 845037"/>
              <a:gd name="connsiteX14" fmla="*/ 5953125 w 5953125"/>
              <a:gd name="connsiteY14" fmla="*/ 787887 h 84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3125" h="845037">
                <a:moveTo>
                  <a:pt x="0" y="845037"/>
                </a:moveTo>
                <a:cubicBezTo>
                  <a:pt x="123825" y="783918"/>
                  <a:pt x="247650" y="722800"/>
                  <a:pt x="352425" y="597387"/>
                </a:cubicBezTo>
                <a:cubicBezTo>
                  <a:pt x="457200" y="471974"/>
                  <a:pt x="519113" y="127487"/>
                  <a:pt x="628650" y="92562"/>
                </a:cubicBezTo>
                <a:cubicBezTo>
                  <a:pt x="738188" y="57637"/>
                  <a:pt x="923925" y="308462"/>
                  <a:pt x="1009650" y="387837"/>
                </a:cubicBezTo>
                <a:cubicBezTo>
                  <a:pt x="1095375" y="467212"/>
                  <a:pt x="1090613" y="500550"/>
                  <a:pt x="1143000" y="568812"/>
                </a:cubicBezTo>
                <a:cubicBezTo>
                  <a:pt x="1195387" y="637074"/>
                  <a:pt x="1190625" y="778362"/>
                  <a:pt x="1323975" y="797412"/>
                </a:cubicBezTo>
                <a:cubicBezTo>
                  <a:pt x="1457325" y="816462"/>
                  <a:pt x="1744663" y="784712"/>
                  <a:pt x="1943100" y="683112"/>
                </a:cubicBezTo>
                <a:cubicBezTo>
                  <a:pt x="2141537" y="581512"/>
                  <a:pt x="2350088" y="266215"/>
                  <a:pt x="2514600" y="187812"/>
                </a:cubicBezTo>
                <a:cubicBezTo>
                  <a:pt x="2679112" y="109409"/>
                  <a:pt x="2820167" y="161895"/>
                  <a:pt x="2930171" y="212695"/>
                </a:cubicBezTo>
                <a:cubicBezTo>
                  <a:pt x="3040175" y="263495"/>
                  <a:pt x="3045451" y="412622"/>
                  <a:pt x="3174627" y="492612"/>
                </a:cubicBezTo>
                <a:cubicBezTo>
                  <a:pt x="3303803" y="572602"/>
                  <a:pt x="3485030" y="649775"/>
                  <a:pt x="3705225" y="692637"/>
                </a:cubicBezTo>
                <a:cubicBezTo>
                  <a:pt x="3925420" y="735499"/>
                  <a:pt x="4273550" y="854562"/>
                  <a:pt x="4495800" y="749787"/>
                </a:cubicBezTo>
                <a:cubicBezTo>
                  <a:pt x="4718050" y="645012"/>
                  <a:pt x="4867275" y="170349"/>
                  <a:pt x="5038725" y="63987"/>
                </a:cubicBezTo>
                <a:cubicBezTo>
                  <a:pt x="5210175" y="-42375"/>
                  <a:pt x="5372100" y="-9038"/>
                  <a:pt x="5524500" y="111612"/>
                </a:cubicBezTo>
                <a:cubicBezTo>
                  <a:pt x="5676900" y="232262"/>
                  <a:pt x="5822456" y="652950"/>
                  <a:pt x="5953125" y="787887"/>
                </a:cubicBezTo>
              </a:path>
            </a:pathLst>
          </a:custGeom>
          <a:noFill/>
          <a:ln w="25400">
            <a:solidFill>
              <a:srgbClr val="00B050"/>
            </a:solidFill>
            <a:prstDash val="dash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defTabSz="914400" fontAlgn="base">
              <a:spcBef>
                <a:spcPct val="0"/>
              </a:spcBef>
              <a:spcAft>
                <a:spcPct val="0"/>
              </a:spcAft>
            </a:pPr>
            <a:endParaRPr 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文本框 47"/>
          <p:cNvSpPr txBox="1"/>
          <p:nvPr/>
        </p:nvSpPr>
        <p:spPr bwMode="auto">
          <a:xfrm>
            <a:off x="7181342" y="1889209"/>
            <a:ext cx="1151419" cy="646331"/>
          </a:xfrm>
          <a:prstGeom prst="rect">
            <a:avLst/>
          </a:prstGeom>
          <a:noFill/>
        </p:spPr>
        <p:txBody>
          <a:bodyPr wrap="square" rtlCol="0">
            <a:spAutoFit/>
          </a:bodyPr>
          <a:lstStyle/>
          <a:p>
            <a:pPr defTabSz="914400" fontAlgn="base">
              <a:spcBef>
                <a:spcPct val="0"/>
              </a:spcBef>
              <a:spcAft>
                <a:spcPct val="0"/>
              </a:spcAft>
            </a:pP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      A</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无线网络接入</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失败始终存在</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文本框 62"/>
          <p:cNvSpPr txBox="1"/>
          <p:nvPr/>
        </p:nvSpPr>
        <p:spPr bwMode="auto">
          <a:xfrm>
            <a:off x="8926619" y="2368002"/>
            <a:ext cx="800219" cy="646331"/>
          </a:xfrm>
          <a:prstGeom prst="rect">
            <a:avLst/>
          </a:prstGeom>
          <a:noFill/>
        </p:spPr>
        <p:txBody>
          <a:bodyPr wrap="none" rtlCol="0">
            <a:spAutoFit/>
          </a:bodyPr>
          <a:lstStyle/>
          <a:p>
            <a:pPr defTabSz="914400" fontAlgn="base">
              <a:spcBef>
                <a:spcPct val="0"/>
              </a:spcBef>
              <a:spcAft>
                <a:spcPct val="0"/>
              </a:spcAft>
            </a:pP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  B</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排除个体</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终端影响</a:t>
            </a:r>
            <a:endParaRPr 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文本框 61"/>
          <p:cNvSpPr txBox="1"/>
          <p:nvPr/>
        </p:nvSpPr>
        <p:spPr bwMode="auto">
          <a:xfrm>
            <a:off x="9918481" y="2364323"/>
            <a:ext cx="800219" cy="646331"/>
          </a:xfrm>
          <a:prstGeom prst="rect">
            <a:avLst/>
          </a:prstGeom>
          <a:noFill/>
        </p:spPr>
        <p:txBody>
          <a:bodyPr wrap="none" rtlCol="0">
            <a:spAutoFit/>
          </a:bodyPr>
          <a:lstStyle/>
          <a:p>
            <a:pPr defTabSz="914400" fontAlgn="base">
              <a:spcBef>
                <a:spcPct val="0"/>
              </a:spcBef>
              <a:spcAft>
                <a:spcPct val="0"/>
              </a:spcAft>
            </a:pP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  C</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区段</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大量用户</a:t>
            </a:r>
            <a:endPar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400" fontAlgn="base">
              <a:spcBef>
                <a:spcPct val="0"/>
              </a:spcBef>
              <a:spcAft>
                <a:spcPct val="0"/>
              </a:spcAft>
            </a:pP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接入失败</a:t>
            </a:r>
            <a:endParaRPr 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07634202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bwMode="invGray">
          <a:xfrm>
            <a:off x="929871" y="2432714"/>
            <a:ext cx="1432684" cy="3304318"/>
          </a:xfrm>
          <a:prstGeom prst="rect">
            <a:avLst/>
          </a:prstGeom>
        </p:spPr>
      </p:pic>
      <p:pic>
        <p:nvPicPr>
          <p:cNvPr id="5" name="图片 4"/>
          <p:cNvPicPr>
            <a:picLocks noChangeAspect="1"/>
          </p:cNvPicPr>
          <p:nvPr/>
        </p:nvPicPr>
        <p:blipFill>
          <a:blip r:embed="rId4"/>
          <a:stretch>
            <a:fillRect/>
          </a:stretch>
        </p:blipFill>
        <p:spPr bwMode="invGray">
          <a:xfrm>
            <a:off x="3028783" y="2432714"/>
            <a:ext cx="8683264" cy="999831"/>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8</a:t>
            </a:r>
            <a:r>
              <a:rPr lang="zh-CN" altLang="en-US" dirty="0" smtClean="0">
                <a:sym typeface="Huawei Sans" panose="020C0503030203020204" pitchFamily="34" charset="0"/>
              </a:rPr>
              <a:t>：连接类问题分析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72717"/>
            <a:ext cx="11256962" cy="760959"/>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局点运维人员某天中午接到用户保障，抱怨早上上班时段出现手机无法接入</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经</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IT</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人员最终定位，发现</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是</a:t>
            </a:r>
            <a:r>
              <a:rPr lang="en-US" altLang="zh-CN"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RADIUS</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性能较差，在上班高峰时段无法及时处理大量认证请求，导致认证失败</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，更换</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更高性能的服务器后故障消失。</a:t>
            </a:r>
          </a:p>
        </p:txBody>
      </p:sp>
      <p:pic>
        <p:nvPicPr>
          <p:cNvPr id="22" name="图片 21"/>
          <p:cNvPicPr>
            <a:picLocks noChangeAspect="1"/>
          </p:cNvPicPr>
          <p:nvPr/>
        </p:nvPicPr>
        <p:blipFill>
          <a:blip r:embed="rId5"/>
          <a:stretch>
            <a:fillRect/>
          </a:stretch>
        </p:blipFill>
        <p:spPr bwMode="invGray">
          <a:xfrm>
            <a:off x="3020929" y="4002914"/>
            <a:ext cx="8262521" cy="1650764"/>
          </a:xfrm>
          <a:prstGeom prst="rect">
            <a:avLst/>
          </a:prstGeom>
        </p:spPr>
      </p:pic>
      <p:sp>
        <p:nvSpPr>
          <p:cNvPr id="23" name="文本框 22"/>
          <p:cNvSpPr txBox="1"/>
          <p:nvPr/>
        </p:nvSpPr>
        <p:spPr bwMode="gray">
          <a:xfrm>
            <a:off x="850350" y="2060536"/>
            <a:ext cx="2065126"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4" name="文本框 23"/>
          <p:cNvSpPr txBox="1"/>
          <p:nvPr/>
        </p:nvSpPr>
        <p:spPr bwMode="gray">
          <a:xfrm>
            <a:off x="2920151" y="2060536"/>
            <a:ext cx="8316820" cy="279192"/>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“连接</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类页</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签”</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“认证</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超时</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卡片，进入认证失败问题视图。</a:t>
            </a:r>
          </a:p>
        </p:txBody>
      </p:sp>
      <p:sp>
        <p:nvSpPr>
          <p:cNvPr id="25" name="文本框 24"/>
          <p:cNvSpPr txBox="1"/>
          <p:nvPr/>
        </p:nvSpPr>
        <p:spPr bwMode="gray">
          <a:xfrm>
            <a:off x="2915476" y="3702676"/>
            <a:ext cx="8262521"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“统计”</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右侧</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“用户数量</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认证失败率”</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的统计分析图（具体分析见下一页）</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auto">
          <a:xfrm>
            <a:off x="1064541" y="4256708"/>
            <a:ext cx="1112143" cy="305797"/>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矩形 31"/>
          <p:cNvSpPr/>
          <p:nvPr/>
        </p:nvSpPr>
        <p:spPr bwMode="gray">
          <a:xfrm>
            <a:off x="7246394" y="4402317"/>
            <a:ext cx="3858716" cy="1215486"/>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3035312" y="2455966"/>
            <a:ext cx="269110" cy="201418"/>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bwMode="gray">
          <a:xfrm>
            <a:off x="4676155" y="2524905"/>
            <a:ext cx="1145430" cy="72864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38"/>
          <p:cNvSpPr/>
          <p:nvPr/>
        </p:nvSpPr>
        <p:spPr bwMode="gray">
          <a:xfrm>
            <a:off x="3088798" y="4001679"/>
            <a:ext cx="376701" cy="23369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任意多边形 43"/>
          <p:cNvSpPr/>
          <p:nvPr/>
        </p:nvSpPr>
        <p:spPr bwMode="gray">
          <a:xfrm>
            <a:off x="3306807" y="2295525"/>
            <a:ext cx="647700" cy="276225"/>
          </a:xfrm>
          <a:custGeom>
            <a:avLst/>
            <a:gdLst>
              <a:gd name="connsiteX0" fmla="*/ 0 w 647700"/>
              <a:gd name="connsiteY0" fmla="*/ 276225 h 276225"/>
              <a:gd name="connsiteX1" fmla="*/ 504825 w 647700"/>
              <a:gd name="connsiteY1" fmla="*/ 133350 h 276225"/>
              <a:gd name="connsiteX2" fmla="*/ 647700 w 647700"/>
              <a:gd name="connsiteY2" fmla="*/ 0 h 276225"/>
            </a:gdLst>
            <a:ahLst/>
            <a:cxnLst>
              <a:cxn ang="0">
                <a:pos x="connsiteX0" y="connsiteY0"/>
              </a:cxn>
              <a:cxn ang="0">
                <a:pos x="connsiteX1" y="connsiteY1"/>
              </a:cxn>
              <a:cxn ang="0">
                <a:pos x="connsiteX2" y="connsiteY2"/>
              </a:cxn>
            </a:cxnLst>
            <a:rect l="l" t="t" r="r" b="b"/>
            <a:pathLst>
              <a:path w="647700" h="276225">
                <a:moveTo>
                  <a:pt x="0" y="276225"/>
                </a:moveTo>
                <a:cubicBezTo>
                  <a:pt x="198437" y="227806"/>
                  <a:pt x="396875" y="179387"/>
                  <a:pt x="504825" y="133350"/>
                </a:cubicBezTo>
                <a:cubicBezTo>
                  <a:pt x="612775" y="87313"/>
                  <a:pt x="630237" y="43656"/>
                  <a:pt x="647700" y="0"/>
                </a:cubicBezTo>
              </a:path>
            </a:pathLst>
          </a:custGeom>
          <a:noFill/>
          <a:ln w="38100" cap="flat" cmpd="sng" algn="ctr">
            <a:solidFill>
              <a:srgbClr val="E9002F"/>
            </a:solidFill>
            <a:prstDash val="solid"/>
            <a:miter lim="800000"/>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gray">
          <a:xfrm>
            <a:off x="964275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8634417" y="124239"/>
            <a:ext cx="108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五边形 46"/>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1063204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849684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bwMode="invGray">
          <a:xfrm>
            <a:off x="6179127" y="1319512"/>
            <a:ext cx="5517358" cy="3170195"/>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8</a:t>
            </a:r>
            <a:r>
              <a:rPr lang="zh-CN" altLang="en-US" dirty="0" smtClean="0">
                <a:sym typeface="Huawei Sans" panose="020C0503030203020204" pitchFamily="34" charset="0"/>
              </a:rPr>
              <a:t>：连接类问题分析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pic>
        <p:nvPicPr>
          <p:cNvPr id="52" name="图片 51"/>
          <p:cNvPicPr>
            <a:picLocks noChangeAspect="1"/>
          </p:cNvPicPr>
          <p:nvPr/>
        </p:nvPicPr>
        <p:blipFill>
          <a:blip r:embed="rId4"/>
          <a:stretch>
            <a:fillRect/>
          </a:stretch>
        </p:blipFill>
        <p:spPr bwMode="invGray">
          <a:xfrm>
            <a:off x="498742" y="3557975"/>
            <a:ext cx="5597257" cy="1106291"/>
          </a:xfrm>
          <a:prstGeom prst="rect">
            <a:avLst/>
          </a:prstGeom>
        </p:spPr>
      </p:pic>
      <p:pic>
        <p:nvPicPr>
          <p:cNvPr id="53" name="图片 52"/>
          <p:cNvPicPr>
            <a:picLocks noChangeAspect="1"/>
          </p:cNvPicPr>
          <p:nvPr/>
        </p:nvPicPr>
        <p:blipFill>
          <a:blip r:embed="rId5"/>
          <a:stretch>
            <a:fillRect/>
          </a:stretch>
        </p:blipFill>
        <p:spPr bwMode="invGray">
          <a:xfrm>
            <a:off x="498743" y="1430119"/>
            <a:ext cx="5378860" cy="1606322"/>
          </a:xfrm>
          <a:prstGeom prst="rect">
            <a:avLst/>
          </a:prstGeom>
        </p:spPr>
      </p:pic>
      <p:sp>
        <p:nvSpPr>
          <p:cNvPr id="54" name="矩形 53"/>
          <p:cNvSpPr/>
          <p:nvPr/>
        </p:nvSpPr>
        <p:spPr bwMode="gray">
          <a:xfrm>
            <a:off x="2046345" y="1976598"/>
            <a:ext cx="413702" cy="790728"/>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文本框 54"/>
          <p:cNvSpPr txBox="1"/>
          <p:nvPr/>
        </p:nvSpPr>
        <p:spPr bwMode="gray">
          <a:xfrm>
            <a:off x="2543175" y="2003813"/>
            <a:ext cx="1794662" cy="276999"/>
          </a:xfrm>
          <a:prstGeom prst="rect">
            <a:avLst/>
          </a:prstGeom>
          <a:solidFill>
            <a:schemeClr val="bg1">
              <a:lumMod val="50000"/>
            </a:schemeClr>
          </a:solidFill>
        </p:spPr>
        <p:txBody>
          <a:bodyPr vert="horz" wrap="square" rtlCol="0">
            <a:spAutoFit/>
          </a:bodyPr>
          <a:lstStyle/>
          <a:p>
            <a:pPr algn="ct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识别</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“双高”故障</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文本框 60"/>
          <p:cNvSpPr txBox="1"/>
          <p:nvPr/>
        </p:nvSpPr>
        <p:spPr bwMode="gray">
          <a:xfrm>
            <a:off x="455612" y="983804"/>
            <a:ext cx="5723515" cy="461665"/>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、（接上一页步骤</a:t>
            </a: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“统计”</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右侧</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“用户数量</a:t>
            </a:r>
            <a:r>
              <a:rPr lang="en-US" altLang="zh-CN"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&amp;</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认证失败率”</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的统计分析</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图。</a:t>
            </a:r>
          </a:p>
        </p:txBody>
      </p:sp>
      <p:sp>
        <p:nvSpPr>
          <p:cNvPr id="63" name="文本框 62"/>
          <p:cNvSpPr txBox="1"/>
          <p:nvPr/>
        </p:nvSpPr>
        <p:spPr bwMode="gray">
          <a:xfrm>
            <a:off x="442913" y="3273862"/>
            <a:ext cx="5653086"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、切换</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至</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原始问题列表”</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“问题名称”</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超</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链接</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，跳</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转</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到问题详情页面。</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矩形 63"/>
          <p:cNvSpPr/>
          <p:nvPr/>
        </p:nvSpPr>
        <p:spPr bwMode="gray">
          <a:xfrm>
            <a:off x="543336" y="4089062"/>
            <a:ext cx="1370305" cy="19187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文本框 64"/>
          <p:cNvSpPr txBox="1"/>
          <p:nvPr/>
        </p:nvSpPr>
        <p:spPr bwMode="gray">
          <a:xfrm>
            <a:off x="6298607" y="993064"/>
            <a:ext cx="2725108"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失败事件</a:t>
            </a:r>
            <a:r>
              <a:rPr lang="zh-CN" altLang="en-US" sz="1200" dirty="0" smtClean="0">
                <a:solidFill>
                  <a:srgbClr val="151515"/>
                </a:solidFill>
                <a:latin typeface="Huawei Sans" panose="020C0503030203020204" pitchFamily="34" charset="0"/>
                <a:ea typeface="方正兰亭黑简体" panose="02000000000000000000" pitchFamily="2" charset="-122"/>
                <a:cs typeface="+mn-ea"/>
                <a:sym typeface="Huawei Sans" panose="020C0503030203020204" pitchFamily="34" charset="0"/>
              </a:rPr>
              <a:t>及</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可能原因分析</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矩形 66"/>
          <p:cNvSpPr/>
          <p:nvPr/>
        </p:nvSpPr>
        <p:spPr bwMode="gray">
          <a:xfrm>
            <a:off x="10722754" y="1603241"/>
            <a:ext cx="767281" cy="147209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8" name="矩形 67"/>
          <p:cNvSpPr/>
          <p:nvPr/>
        </p:nvSpPr>
        <p:spPr bwMode="gray">
          <a:xfrm>
            <a:off x="6191772" y="3525330"/>
            <a:ext cx="1622192" cy="38572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文本框 68"/>
          <p:cNvSpPr txBox="1"/>
          <p:nvPr/>
        </p:nvSpPr>
        <p:spPr bwMode="gray">
          <a:xfrm>
            <a:off x="9070257" y="1054672"/>
            <a:ext cx="2579466" cy="461665"/>
          </a:xfrm>
          <a:prstGeom prst="rect">
            <a:avLst/>
          </a:prstGeom>
          <a:solidFill>
            <a:schemeClr val="bg1">
              <a:lumMod val="50000"/>
            </a:schemeClr>
          </a:solidFill>
          <a:ln w="28575">
            <a:noFill/>
          </a:ln>
        </p:spPr>
        <p:txBody>
          <a:bodyPr vert="horz" wrap="square" rtlCol="0">
            <a:spAutoFit/>
          </a:bodyPr>
          <a:lstStyle/>
          <a:p>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失败</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原因：</a:t>
            </a: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RADIUS</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服务器响应超时或严重导致不可访问。</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文本框 70"/>
          <p:cNvSpPr txBox="1"/>
          <p:nvPr/>
        </p:nvSpPr>
        <p:spPr bwMode="invGray">
          <a:xfrm>
            <a:off x="6114472" y="3957465"/>
            <a:ext cx="3718345" cy="461665"/>
          </a:xfrm>
          <a:prstGeom prst="rect">
            <a:avLst/>
          </a:prstGeom>
          <a:no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分析器给出可能原因：服务器异常或接入控制器点与服务器连接异常，建议登录认证服务器进一步检查。</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圆角矩形 75"/>
          <p:cNvSpPr/>
          <p:nvPr/>
        </p:nvSpPr>
        <p:spPr bwMode="gray">
          <a:xfrm>
            <a:off x="922487" y="4781842"/>
            <a:ext cx="10411527"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圆角矩形 75"/>
          <p:cNvSpPr/>
          <p:nvPr/>
        </p:nvSpPr>
        <p:spPr bwMode="gray">
          <a:xfrm>
            <a:off x="922487" y="5185800"/>
            <a:ext cx="10411527" cy="992279"/>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由于无线网络受信号</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覆盖、物理环境遮挡、无线</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干扰等因素影响，用户接入失败的事件持续存在。</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基于用户接入数据分析，识别异常终端，去除无效失败事件，使用机器学习算法智能识别系统中“双高”现象，及时准确识别网络中的群体性连接类故障，结合专家经验给出合理修复建议。</a:t>
            </a:r>
          </a:p>
        </p:txBody>
      </p:sp>
      <p:sp>
        <p:nvSpPr>
          <p:cNvPr id="78" name="燕尾形 77"/>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78"/>
          <p:cNvSpPr/>
          <p:nvPr/>
        </p:nvSpPr>
        <p:spPr bwMode="gray">
          <a:xfrm>
            <a:off x="8634415" y="124239"/>
            <a:ext cx="1080000" cy="21045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五边形 79"/>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燕尾形 80"/>
          <p:cNvSpPr/>
          <p:nvPr/>
        </p:nvSpPr>
        <p:spPr bwMode="gray">
          <a:xfrm>
            <a:off x="1063204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5027218" y="4131322"/>
            <a:ext cx="224051" cy="149614"/>
          </a:xfrm>
          <a:prstGeom prst="rect">
            <a:avLst/>
          </a:prstGeom>
          <a:solidFill>
            <a:srgbClr val="1B2A5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bwMode="gray">
          <a:xfrm>
            <a:off x="6385975" y="1780809"/>
            <a:ext cx="224051" cy="1294526"/>
          </a:xfrm>
          <a:prstGeom prst="rect">
            <a:avLst/>
          </a:prstGeom>
          <a:solidFill>
            <a:srgbClr val="1B2A5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82330941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弱信号覆盖问题解决信号覆盖类问题</a:t>
            </a:r>
            <a:endParaRPr lang="zh-CN" altLang="en-US" dirty="0">
              <a:sym typeface="Huawei Sans" panose="020C0503030203020204" pitchFamily="34" charset="0"/>
            </a:endParaRPr>
          </a:p>
        </p:txBody>
      </p:sp>
      <p:sp>
        <p:nvSpPr>
          <p:cNvPr id="3" name="Rounded Rectangle 23"/>
          <p:cNvSpPr/>
          <p:nvPr/>
        </p:nvSpPr>
        <p:spPr bwMode="gray">
          <a:xfrm>
            <a:off x="807387" y="4729628"/>
            <a:ext cx="5540391" cy="912020"/>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Rounded Rectangle 23"/>
          <p:cNvSpPr/>
          <p:nvPr/>
        </p:nvSpPr>
        <p:spPr bwMode="gray">
          <a:xfrm>
            <a:off x="807387" y="1868112"/>
            <a:ext cx="5540391" cy="2771887"/>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Working with Partners to Build One of the Five Clouds for an Intelligent World"/>
          <p:cNvSpPr txBox="1"/>
          <p:nvPr/>
        </p:nvSpPr>
        <p:spPr bwMode="gray">
          <a:xfrm>
            <a:off x="1122551" y="3009330"/>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Step2 </a:t>
            </a: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p>
        </p:txBody>
      </p:sp>
      <p:sp>
        <p:nvSpPr>
          <p:cNvPr id="6" name="3年支持100万开发者实践"/>
          <p:cNvSpPr txBox="1"/>
          <p:nvPr/>
        </p:nvSpPr>
        <p:spPr bwMode="gray">
          <a:xfrm>
            <a:off x="1122551" y="3337698"/>
            <a:ext cx="4432779" cy="21544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问题信息辅助分析</a:t>
            </a:r>
          </a:p>
        </p:txBody>
      </p:sp>
      <p:sp>
        <p:nvSpPr>
          <p:cNvPr id="7" name="Rounded Rectangle 23"/>
          <p:cNvSpPr/>
          <p:nvPr/>
        </p:nvSpPr>
        <p:spPr bwMode="gray">
          <a:xfrm>
            <a:off x="807387" y="1004007"/>
            <a:ext cx="5540391" cy="774477"/>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1122551" y="1130909"/>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Step1 </a:t>
            </a: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问题发现</a:t>
            </a:r>
            <a:endPar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3年支持100万开发者实践"/>
          <p:cNvSpPr txBox="1"/>
          <p:nvPr/>
        </p:nvSpPr>
        <p:spPr bwMode="gray">
          <a:xfrm>
            <a:off x="1122551" y="1469108"/>
            <a:ext cx="1974900" cy="21544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智能识别弱信号覆盖问题</a:t>
            </a:r>
          </a:p>
        </p:txBody>
      </p:sp>
      <p:sp>
        <p:nvSpPr>
          <p:cNvPr id="10" name="矩形 9"/>
          <p:cNvSpPr/>
          <p:nvPr/>
        </p:nvSpPr>
        <p:spPr bwMode="gray">
          <a:xfrm>
            <a:off x="807386" y="5787362"/>
            <a:ext cx="10596294" cy="338554"/>
          </a:xfrm>
          <a:prstGeom prst="rect">
            <a:avLst/>
          </a:prstGeom>
          <a:solidFill>
            <a:srgbClr val="30B5C5"/>
          </a:solidFill>
        </p:spPr>
        <p:txBody>
          <a:bodyPr wrap="square">
            <a:spAutoFit/>
          </a:bodyPr>
          <a:lstStyle/>
          <a:p>
            <a:pPr algn="ct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“智能识别”弱信号</a:t>
            </a:r>
            <a:r>
              <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覆盖，“足不出户”轻松搞定</a:t>
            </a: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endPar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Working with Partners to Build One of the Five Clouds for an Intelligent World"/>
          <p:cNvSpPr txBox="1"/>
          <p:nvPr/>
        </p:nvSpPr>
        <p:spPr bwMode="gray">
          <a:xfrm>
            <a:off x="1122551" y="4859917"/>
            <a:ext cx="1449115"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Step3 </a:t>
            </a: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原因</a:t>
            </a:r>
          </a:p>
        </p:txBody>
      </p:sp>
      <p:sp>
        <p:nvSpPr>
          <p:cNvPr id="12" name="3年支持100万开发者实践"/>
          <p:cNvSpPr txBox="1"/>
          <p:nvPr/>
        </p:nvSpPr>
        <p:spPr bwMode="gray">
          <a:xfrm>
            <a:off x="1122551" y="5195766"/>
            <a:ext cx="4432779" cy="21544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根据建议辅助排障</a:t>
            </a:r>
          </a:p>
        </p:txBody>
      </p:sp>
      <p:pic>
        <p:nvPicPr>
          <p:cNvPr id="19" name="图片 18"/>
          <p:cNvPicPr>
            <a:picLocks noChangeAspect="1"/>
          </p:cNvPicPr>
          <p:nvPr/>
        </p:nvPicPr>
        <p:blipFill>
          <a:blip r:embed="rId3"/>
          <a:stretch>
            <a:fillRect/>
          </a:stretch>
        </p:blipFill>
        <p:spPr bwMode="invGray">
          <a:xfrm>
            <a:off x="3680340" y="998835"/>
            <a:ext cx="7723340" cy="4645587"/>
          </a:xfrm>
          <a:prstGeom prst="rect">
            <a:avLst/>
          </a:prstGeom>
        </p:spPr>
      </p:pic>
      <p:sp>
        <p:nvSpPr>
          <p:cNvPr id="20" name="文本框 19"/>
          <p:cNvSpPr txBox="1"/>
          <p:nvPr/>
        </p:nvSpPr>
        <p:spPr bwMode="gray">
          <a:xfrm>
            <a:off x="4469322" y="3751218"/>
            <a:ext cx="2172016" cy="276999"/>
          </a:xfrm>
          <a:prstGeom prst="rect">
            <a:avLst/>
          </a:prstGeom>
          <a:solidFill>
            <a:schemeClr val="bg1">
              <a:lumMod val="50000"/>
            </a:schemeClr>
          </a:solidFill>
        </p:spPr>
        <p:txBody>
          <a:bodyPr vert="horz" wrap="square" rtlCol="0" anchor="ctr">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射频功率较高，导致远端关联。</a:t>
            </a:r>
          </a:p>
        </p:txBody>
      </p:sp>
      <p:sp>
        <p:nvSpPr>
          <p:cNvPr id="21" name="燕尾形 20"/>
          <p:cNvSpPr/>
          <p:nvPr/>
        </p:nvSpPr>
        <p:spPr bwMode="gray">
          <a:xfrm>
            <a:off x="964275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五边形 22"/>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63204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3671196" y="3708217"/>
            <a:ext cx="7723340" cy="98605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bwMode="gray">
          <a:xfrm>
            <a:off x="4451904" y="1621548"/>
            <a:ext cx="111387" cy="92141"/>
          </a:xfrm>
          <a:prstGeom prst="rect">
            <a:avLst/>
          </a:prstGeom>
          <a:solidFill>
            <a:srgbClr val="1B2A5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7319614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bwMode="invGray">
          <a:xfrm>
            <a:off x="975105" y="2398144"/>
            <a:ext cx="1432684" cy="3115326"/>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9</a:t>
            </a:r>
            <a:r>
              <a:rPr lang="zh-CN" altLang="en-US" dirty="0" smtClean="0">
                <a:sym typeface="Huawei Sans" panose="020C0503030203020204" pitchFamily="34" charset="0"/>
              </a:rPr>
              <a:t>：弱信号覆盖问题分析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42913" y="968685"/>
            <a:ext cx="11269662" cy="760959"/>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某局点运维人员通过</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检测到多条弱信号</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覆盖问题，通过问题详情</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分析出问题射频下大部分用户信号都比较弱，且该射频功率较高，导致较多终端远端关联到该射频。运维人员根据修复建议处理后，问题解决。</a:t>
            </a:r>
          </a:p>
        </p:txBody>
      </p:sp>
      <p:pic>
        <p:nvPicPr>
          <p:cNvPr id="38" name="图片 37"/>
          <p:cNvPicPr>
            <a:picLocks noChangeAspect="1"/>
          </p:cNvPicPr>
          <p:nvPr/>
        </p:nvPicPr>
        <p:blipFill>
          <a:blip r:embed="rId4"/>
          <a:stretch>
            <a:fillRect/>
          </a:stretch>
        </p:blipFill>
        <p:spPr bwMode="invGray">
          <a:xfrm>
            <a:off x="3035346" y="4506380"/>
            <a:ext cx="8676698" cy="1025227"/>
          </a:xfrm>
          <a:prstGeom prst="rect">
            <a:avLst/>
          </a:prstGeom>
        </p:spPr>
      </p:pic>
      <p:pic>
        <p:nvPicPr>
          <p:cNvPr id="39" name="图片 38"/>
          <p:cNvPicPr>
            <a:picLocks noChangeAspect="1"/>
          </p:cNvPicPr>
          <p:nvPr/>
        </p:nvPicPr>
        <p:blipFill rotWithShape="1">
          <a:blip r:embed="rId5"/>
          <a:srcRect r="8784"/>
          <a:stretch/>
        </p:blipFill>
        <p:spPr bwMode="invGray">
          <a:xfrm>
            <a:off x="3030502" y="2408967"/>
            <a:ext cx="8445980" cy="1028994"/>
          </a:xfrm>
          <a:prstGeom prst="rect">
            <a:avLst/>
          </a:prstGeom>
        </p:spPr>
      </p:pic>
      <p:sp>
        <p:nvSpPr>
          <p:cNvPr id="40" name="文本框 39"/>
          <p:cNvSpPr txBox="1"/>
          <p:nvPr/>
        </p:nvSpPr>
        <p:spPr bwMode="gray">
          <a:xfrm>
            <a:off x="836026" y="2109962"/>
            <a:ext cx="2040523"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41" name="文本框 40"/>
          <p:cNvSpPr txBox="1"/>
          <p:nvPr/>
        </p:nvSpPr>
        <p:spPr bwMode="gray">
          <a:xfrm>
            <a:off x="2924635" y="2110066"/>
            <a:ext cx="8316820" cy="279192"/>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“空口</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性能页</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签”</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“弱信号覆盖”</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卡片，进入弱信号覆盖问题视图。</a:t>
            </a:r>
          </a:p>
        </p:txBody>
      </p:sp>
      <p:sp>
        <p:nvSpPr>
          <p:cNvPr id="42" name="矩形 41"/>
          <p:cNvSpPr/>
          <p:nvPr/>
        </p:nvSpPr>
        <p:spPr bwMode="gray">
          <a:xfrm>
            <a:off x="3023154" y="2700066"/>
            <a:ext cx="274792" cy="201418"/>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bwMode="gray">
          <a:xfrm>
            <a:off x="3453365" y="2534104"/>
            <a:ext cx="1283989" cy="673600"/>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文本框 45"/>
          <p:cNvSpPr txBox="1"/>
          <p:nvPr/>
        </p:nvSpPr>
        <p:spPr bwMode="gray">
          <a:xfrm>
            <a:off x="2924635" y="4007862"/>
            <a:ext cx="8262521" cy="461665"/>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“原始问题列表”</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问题列表，选择第一个问题，</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“问题名称”</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超</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链接</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，跳转到问题详情页面（</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页面内演示步骤见下一页</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矩形 46"/>
          <p:cNvSpPr/>
          <p:nvPr/>
        </p:nvSpPr>
        <p:spPr bwMode="gray">
          <a:xfrm>
            <a:off x="3506824" y="4608738"/>
            <a:ext cx="711770" cy="16255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矩形 47"/>
          <p:cNvSpPr/>
          <p:nvPr/>
        </p:nvSpPr>
        <p:spPr bwMode="gray">
          <a:xfrm>
            <a:off x="3227012" y="4988930"/>
            <a:ext cx="2068126" cy="279354"/>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矩形 52"/>
          <p:cNvSpPr/>
          <p:nvPr/>
        </p:nvSpPr>
        <p:spPr bwMode="invGray">
          <a:xfrm>
            <a:off x="1080384" y="4130904"/>
            <a:ext cx="1112143" cy="28829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任意多边形 54"/>
          <p:cNvSpPr/>
          <p:nvPr/>
        </p:nvSpPr>
        <p:spPr bwMode="gray">
          <a:xfrm>
            <a:off x="4744702" y="2359138"/>
            <a:ext cx="980373" cy="213174"/>
          </a:xfrm>
          <a:custGeom>
            <a:avLst/>
            <a:gdLst>
              <a:gd name="connsiteX0" fmla="*/ 0 w 647700"/>
              <a:gd name="connsiteY0" fmla="*/ 276225 h 276225"/>
              <a:gd name="connsiteX1" fmla="*/ 504825 w 647700"/>
              <a:gd name="connsiteY1" fmla="*/ 133350 h 276225"/>
              <a:gd name="connsiteX2" fmla="*/ 647700 w 647700"/>
              <a:gd name="connsiteY2" fmla="*/ 0 h 276225"/>
            </a:gdLst>
            <a:ahLst/>
            <a:cxnLst>
              <a:cxn ang="0">
                <a:pos x="connsiteX0" y="connsiteY0"/>
              </a:cxn>
              <a:cxn ang="0">
                <a:pos x="connsiteX1" y="connsiteY1"/>
              </a:cxn>
              <a:cxn ang="0">
                <a:pos x="connsiteX2" y="connsiteY2"/>
              </a:cxn>
            </a:cxnLst>
            <a:rect l="l" t="t" r="r" b="b"/>
            <a:pathLst>
              <a:path w="647700" h="276225">
                <a:moveTo>
                  <a:pt x="0" y="276225"/>
                </a:moveTo>
                <a:cubicBezTo>
                  <a:pt x="198437" y="227806"/>
                  <a:pt x="396875" y="179387"/>
                  <a:pt x="504825" y="133350"/>
                </a:cubicBezTo>
                <a:cubicBezTo>
                  <a:pt x="612775" y="87313"/>
                  <a:pt x="630237" y="43656"/>
                  <a:pt x="647700" y="0"/>
                </a:cubicBezTo>
              </a:path>
            </a:pathLst>
          </a:custGeom>
          <a:noFill/>
          <a:ln w="38100" cap="flat" cmpd="sng" algn="ctr">
            <a:solidFill>
              <a:srgbClr val="E9002F"/>
            </a:solidFill>
            <a:prstDash val="solid"/>
            <a:miter lim="800000"/>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任意多边形 56"/>
          <p:cNvSpPr/>
          <p:nvPr/>
        </p:nvSpPr>
        <p:spPr bwMode="gray">
          <a:xfrm rot="5400000" flipH="1">
            <a:off x="3255029" y="2315822"/>
            <a:ext cx="320185" cy="440112"/>
          </a:xfrm>
          <a:custGeom>
            <a:avLst/>
            <a:gdLst>
              <a:gd name="connsiteX0" fmla="*/ 0 w 647700"/>
              <a:gd name="connsiteY0" fmla="*/ 276225 h 276225"/>
              <a:gd name="connsiteX1" fmla="*/ 504825 w 647700"/>
              <a:gd name="connsiteY1" fmla="*/ 133350 h 276225"/>
              <a:gd name="connsiteX2" fmla="*/ 647700 w 647700"/>
              <a:gd name="connsiteY2" fmla="*/ 0 h 276225"/>
            </a:gdLst>
            <a:ahLst/>
            <a:cxnLst>
              <a:cxn ang="0">
                <a:pos x="connsiteX0" y="connsiteY0"/>
              </a:cxn>
              <a:cxn ang="0">
                <a:pos x="connsiteX1" y="connsiteY1"/>
              </a:cxn>
              <a:cxn ang="0">
                <a:pos x="connsiteX2" y="connsiteY2"/>
              </a:cxn>
            </a:cxnLst>
            <a:rect l="l" t="t" r="r" b="b"/>
            <a:pathLst>
              <a:path w="647700" h="276225">
                <a:moveTo>
                  <a:pt x="0" y="276225"/>
                </a:moveTo>
                <a:cubicBezTo>
                  <a:pt x="198437" y="227806"/>
                  <a:pt x="396875" y="179387"/>
                  <a:pt x="504825" y="133350"/>
                </a:cubicBezTo>
                <a:cubicBezTo>
                  <a:pt x="612775" y="87313"/>
                  <a:pt x="630237" y="43656"/>
                  <a:pt x="647700" y="0"/>
                </a:cubicBezTo>
              </a:path>
            </a:pathLst>
          </a:custGeom>
          <a:noFill/>
          <a:ln w="38100" cap="flat" cmpd="sng" algn="ctr">
            <a:solidFill>
              <a:srgbClr val="E9002F"/>
            </a:solidFill>
            <a:prstDash val="solid"/>
            <a:miter lim="800000"/>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9642754"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8634414"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59"/>
          <p:cNvSpPr/>
          <p:nvPr/>
        </p:nvSpPr>
        <p:spPr bwMode="gray">
          <a:xfrm>
            <a:off x="7724889"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10632044"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5586922" y="5056565"/>
            <a:ext cx="224051" cy="149614"/>
          </a:xfrm>
          <a:prstGeom prst="rect">
            <a:avLst/>
          </a:prstGeom>
          <a:solidFill>
            <a:srgbClr val="1B2A5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08960382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55613" y="952290"/>
            <a:ext cx="8863730" cy="5248485"/>
            <a:chOff x="455613" y="952290"/>
            <a:chExt cx="8863730" cy="5248485"/>
          </a:xfrm>
        </p:grpSpPr>
        <p:pic>
          <p:nvPicPr>
            <p:cNvPr id="18" name="图片 17"/>
            <p:cNvPicPr>
              <a:picLocks noChangeAspect="1"/>
            </p:cNvPicPr>
            <p:nvPr/>
          </p:nvPicPr>
          <p:blipFill>
            <a:blip r:embed="rId3"/>
            <a:stretch>
              <a:fillRect/>
            </a:stretch>
          </p:blipFill>
          <p:spPr bwMode="invGray">
            <a:xfrm>
              <a:off x="455613" y="952290"/>
              <a:ext cx="8863730" cy="5248485"/>
            </a:xfrm>
            <a:prstGeom prst="rect">
              <a:avLst/>
            </a:prstGeom>
          </p:spPr>
        </p:pic>
        <p:sp>
          <p:nvSpPr>
            <p:cNvPr id="3" name="矩形 2"/>
            <p:cNvSpPr/>
            <p:nvPr/>
          </p:nvSpPr>
          <p:spPr>
            <a:xfrm>
              <a:off x="1311965" y="1649896"/>
              <a:ext cx="278296" cy="109330"/>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9</a:t>
            </a:r>
            <a:r>
              <a:rPr lang="zh-CN" altLang="en-US" dirty="0" smtClean="0">
                <a:sym typeface="Huawei Sans" panose="020C0503030203020204" pitchFamily="34" charset="0"/>
              </a:rPr>
              <a:t>：弱信号覆盖问题分析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20" name="矩形 19"/>
          <p:cNvSpPr/>
          <p:nvPr/>
        </p:nvSpPr>
        <p:spPr bwMode="gray">
          <a:xfrm>
            <a:off x="4874544" y="3262098"/>
            <a:ext cx="3613473" cy="36685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矩形 22"/>
          <p:cNvSpPr/>
          <p:nvPr/>
        </p:nvSpPr>
        <p:spPr bwMode="gray">
          <a:xfrm>
            <a:off x="455613" y="4434022"/>
            <a:ext cx="8863730" cy="54548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bwMode="gray">
          <a:xfrm>
            <a:off x="455613" y="5145131"/>
            <a:ext cx="8863730" cy="105564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燕尾形 29"/>
          <p:cNvSpPr/>
          <p:nvPr/>
        </p:nvSpPr>
        <p:spPr bwMode="gray">
          <a:xfrm>
            <a:off x="9642759"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gray">
          <a:xfrm>
            <a:off x="8634419"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五边形 31"/>
          <p:cNvSpPr/>
          <p:nvPr/>
        </p:nvSpPr>
        <p:spPr bwMode="gray">
          <a:xfrm>
            <a:off x="7724894"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10632049"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70"/>
          <p:cNvSpPr txBox="1"/>
          <p:nvPr/>
        </p:nvSpPr>
        <p:spPr bwMode="gray">
          <a:xfrm>
            <a:off x="9319343" y="1649896"/>
            <a:ext cx="2393232" cy="2169825"/>
          </a:xfrm>
          <a:prstGeom prst="rect">
            <a:avLst/>
          </a:prstGeom>
          <a:noFill/>
        </p:spPr>
        <p:txBody>
          <a:bodyPr vert="horz"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l">
              <a:lnSpc>
                <a:spcPct val="125000"/>
              </a:lnSpc>
            </a:pP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N10-2F-3</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”出现了弱信号覆盖的问题。</a:t>
            </a:r>
            <a:endPar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nSpc>
                <a:spcPct val="125000"/>
              </a:lnSpc>
            </a:pP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查看该</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下用户的信号强度分布，发现在问题发生的时段内，</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80%</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以上的用户信号强度均出现异常，低于</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-65 </a:t>
            </a:r>
            <a:r>
              <a:rPr lang="en-US" altLang="zh-CN" sz="1200" dirty="0" err="1"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dBm</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l">
              <a:lnSpc>
                <a:spcPct val="125000"/>
              </a:lnSpc>
            </a:pP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说明：以华为</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IT</a:t>
            </a: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长期运维经验来看，信号强度低于</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-65 </a:t>
            </a:r>
            <a:r>
              <a:rPr lang="en-US" altLang="zh-CN" sz="1200" i="1" dirty="0" err="1" smtClean="0">
                <a:latin typeface="Huawei Sans" panose="020C0503030203020204" pitchFamily="34" charset="0"/>
                <a:ea typeface="方正兰亭黑简体" panose="02000000000000000000" pitchFamily="2" charset="-122"/>
                <a:cs typeface="+mn-ea"/>
                <a:sym typeface="Huawei Sans" panose="020C0503030203020204" pitchFamily="34" charset="0"/>
              </a:rPr>
              <a:t>dBm</a:t>
            </a: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会影响用户体验。</a:t>
            </a:r>
          </a:p>
        </p:txBody>
      </p:sp>
      <p:sp>
        <p:nvSpPr>
          <p:cNvPr id="35" name="文本框 73"/>
          <p:cNvSpPr txBox="1"/>
          <p:nvPr/>
        </p:nvSpPr>
        <p:spPr bwMode="gray">
          <a:xfrm>
            <a:off x="9319343" y="4076459"/>
            <a:ext cx="2393232" cy="1938992"/>
          </a:xfrm>
          <a:prstGeom prst="rect">
            <a:avLst/>
          </a:prstGeom>
          <a:noFill/>
        </p:spPr>
        <p:txBody>
          <a:bodyPr vert="horz"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25000"/>
              </a:lnSpc>
            </a:pP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、查看该</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的射频功率配置，发现在问题发生时段内，该</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射频功率配置过高，值为</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30</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功率配置过高，会使远处的终端关联进来，造成远端关联，出现弱信号覆盖现象。</a:t>
            </a:r>
          </a:p>
          <a:p>
            <a:pPr algn="l">
              <a:lnSpc>
                <a:spcPct val="125000"/>
              </a:lnSpc>
            </a:pP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说明：按照华为</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IT</a:t>
            </a: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长期运维经验，</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射频功率一般配置为</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13</a:t>
            </a: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9527370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23"/>
          <p:cNvSpPr/>
          <p:nvPr/>
        </p:nvSpPr>
        <p:spPr bwMode="gray">
          <a:xfrm>
            <a:off x="455613" y="2668726"/>
            <a:ext cx="5540391" cy="3522110"/>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Working with Partners to Build One of the Five Clouds for an Intelligent World"/>
          <p:cNvSpPr txBox="1"/>
          <p:nvPr/>
        </p:nvSpPr>
        <p:spPr bwMode="gray">
          <a:xfrm>
            <a:off x="637159" y="3811824"/>
            <a:ext cx="1591782"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Step2</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：关联分析</a:t>
            </a:r>
          </a:p>
        </p:txBody>
      </p:sp>
      <p:sp>
        <p:nvSpPr>
          <p:cNvPr id="6" name="3年支持100万开发者实践"/>
          <p:cNvSpPr txBox="1"/>
          <p:nvPr/>
        </p:nvSpPr>
        <p:spPr bwMode="gray">
          <a:xfrm>
            <a:off x="637159" y="4191955"/>
            <a:ext cx="2588649" cy="21544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高</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干扰问题相关</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指标关联</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Rounded Rectangle 23"/>
          <p:cNvSpPr/>
          <p:nvPr/>
        </p:nvSpPr>
        <p:spPr bwMode="gray">
          <a:xfrm>
            <a:off x="455613" y="944562"/>
            <a:ext cx="5540391" cy="1705305"/>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637159" y="1389885"/>
            <a:ext cx="1591782"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Step1</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：智能识别</a:t>
            </a:r>
          </a:p>
        </p:txBody>
      </p:sp>
      <p:sp>
        <p:nvSpPr>
          <p:cNvPr id="9" name="3年支持100万开发者实践"/>
          <p:cNvSpPr txBox="1"/>
          <p:nvPr/>
        </p:nvSpPr>
        <p:spPr bwMode="gray">
          <a:xfrm>
            <a:off x="637159" y="1760434"/>
            <a:ext cx="2304824" cy="430887"/>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智能识别，主动发现网络中高干扰</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4" name="组合 13"/>
          <p:cNvGrpSpPr/>
          <p:nvPr/>
        </p:nvGrpSpPr>
        <p:grpSpPr>
          <a:xfrm>
            <a:off x="3407353" y="967845"/>
            <a:ext cx="8305221" cy="5222991"/>
            <a:chOff x="3128501" y="963421"/>
            <a:chExt cx="8584074" cy="5227415"/>
          </a:xfrm>
        </p:grpSpPr>
        <p:pic>
          <p:nvPicPr>
            <p:cNvPr id="19" name="图片 18"/>
            <p:cNvPicPr>
              <a:picLocks noChangeAspect="1"/>
            </p:cNvPicPr>
            <p:nvPr/>
          </p:nvPicPr>
          <p:blipFill rotWithShape="1">
            <a:blip r:embed="rId3"/>
            <a:srcRect b="23530"/>
            <a:stretch/>
          </p:blipFill>
          <p:spPr bwMode="invGray">
            <a:xfrm>
              <a:off x="3128501" y="963421"/>
              <a:ext cx="8584074" cy="5227415"/>
            </a:xfrm>
            <a:prstGeom prst="rect">
              <a:avLst/>
            </a:prstGeom>
          </p:spPr>
        </p:pic>
        <p:sp>
          <p:nvSpPr>
            <p:cNvPr id="13" name="矩形 12"/>
            <p:cNvSpPr/>
            <p:nvPr/>
          </p:nvSpPr>
          <p:spPr>
            <a:xfrm>
              <a:off x="3975652" y="1542812"/>
              <a:ext cx="251919" cy="123111"/>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高干扰问题解决干扰类问题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20" name="文本框 19"/>
          <p:cNvSpPr txBox="1"/>
          <p:nvPr/>
        </p:nvSpPr>
        <p:spPr bwMode="gray">
          <a:xfrm>
            <a:off x="4227571" y="1763614"/>
            <a:ext cx="3605474" cy="276999"/>
          </a:xfrm>
          <a:prstGeom prst="rect">
            <a:avLst/>
          </a:prstGeom>
          <a:solidFill>
            <a:schemeClr val="bg1">
              <a:lumMod val="50000"/>
            </a:schemeClr>
          </a:solidFill>
        </p:spPr>
        <p:txBody>
          <a:bodyPr vert="horz" wrap="none" rtlCol="0" anchor="ctr">
            <a:spAutoFit/>
          </a:bodyPr>
          <a:lstStyle/>
          <a:p>
            <a:pPr algn="l"/>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根据相关性算法，找到问题相关度最高的邻居</a:t>
            </a: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1" name="文本框 20"/>
          <p:cNvSpPr txBox="1"/>
          <p:nvPr/>
        </p:nvSpPr>
        <p:spPr bwMode="gray">
          <a:xfrm>
            <a:off x="4227571" y="4538103"/>
            <a:ext cx="1768433" cy="276999"/>
          </a:xfrm>
          <a:prstGeom prst="rect">
            <a:avLst/>
          </a:prstGeom>
          <a:solidFill>
            <a:schemeClr val="bg1">
              <a:lumMod val="50000"/>
            </a:schemeClr>
          </a:solidFill>
        </p:spPr>
        <p:txBody>
          <a:bodyPr vert="horz" wrap="none" rtlCol="0" anchor="ctr">
            <a:spAutoFit/>
          </a:bodyPr>
          <a:lstStyle>
            <a:defPPr>
              <a:defRPr lang="en-US"/>
            </a:defPPr>
            <a:lvl1pPr>
              <a:defRPr sz="1200" b="1">
                <a:solidFill>
                  <a:schemeClr val="bg1"/>
                </a:solidFill>
                <a:cs typeface="+mn-ea"/>
              </a:defRPr>
            </a:lvl1pPr>
          </a:lstStyle>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邻居</a:t>
            </a:r>
            <a:r>
              <a:rPr lang="en-US" altLang="zh-CN" b="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相同信道强干扰</a:t>
            </a:r>
          </a:p>
        </p:txBody>
      </p:sp>
      <p:sp>
        <p:nvSpPr>
          <p:cNvPr id="22" name="燕尾形 21"/>
          <p:cNvSpPr/>
          <p:nvPr/>
        </p:nvSpPr>
        <p:spPr bwMode="gray">
          <a:xfrm>
            <a:off x="9642757"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8634417"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五边形 23"/>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1063204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8177703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23"/>
          <p:cNvSpPr/>
          <p:nvPr/>
        </p:nvSpPr>
        <p:spPr bwMode="gray">
          <a:xfrm>
            <a:off x="455613" y="2276405"/>
            <a:ext cx="5540391" cy="1818515"/>
          </a:xfrm>
          <a:prstGeom prst="roundRect">
            <a:avLst>
              <a:gd name="adj" fmla="val 2238"/>
            </a:avLst>
          </a:prstGeom>
          <a:gradFill flip="none" rotWithShape="1">
            <a:gsLst>
              <a:gs pos="100000">
                <a:schemeClr val="bg1"/>
              </a:gs>
              <a:gs pos="0">
                <a:srgbClr val="BEE9EE"/>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Working with Partners to Build One of the Five Clouds for an Intelligent World"/>
          <p:cNvSpPr txBox="1"/>
          <p:nvPr/>
        </p:nvSpPr>
        <p:spPr bwMode="gray">
          <a:xfrm>
            <a:off x="637159" y="2721728"/>
            <a:ext cx="1591782" cy="246221"/>
          </a:xfrm>
          <a:prstGeom prst="rect">
            <a:avLst/>
          </a:prstGeom>
          <a:ln w="3175">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609598">
              <a:lnSpc>
                <a:spcPct val="90000"/>
              </a:lnSpc>
              <a:defRPr sz="8000" b="0">
                <a:solidFill>
                  <a:schemeClr val="accent2"/>
                </a:solidFill>
                <a:latin typeface="FZLanTingHeiS-DB1-GBK"/>
                <a:ea typeface="FZLanTingHeiS-DB1-GBK"/>
                <a:cs typeface="FZLanTingHeiS-DB1-GBK"/>
                <a:sym typeface="FZLanTingHeiS-DB1-GBK"/>
              </a:defRPr>
            </a:lvl1pPr>
          </a:lstStyle>
          <a:p>
            <a:pPr hangingPunct="0">
              <a:lnSpc>
                <a:spcPct val="100000"/>
              </a:lnSpc>
            </a:pPr>
            <a:r>
              <a:rPr lang="en-US" altLang="zh-CN"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Step3</a:t>
            </a: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：定位排障</a:t>
            </a:r>
          </a:p>
        </p:txBody>
      </p:sp>
      <p:sp>
        <p:nvSpPr>
          <p:cNvPr id="9" name="3年支持100万开发者实践"/>
          <p:cNvSpPr txBox="1"/>
          <p:nvPr/>
        </p:nvSpPr>
        <p:spPr bwMode="gray">
          <a:xfrm>
            <a:off x="637159" y="3092277"/>
            <a:ext cx="2304824" cy="430887"/>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687916">
              <a:defRPr sz="4000" b="0">
                <a:latin typeface="FZLanTingHei-M-GBK"/>
                <a:ea typeface="FZLanTingHei-M-GBK"/>
                <a:cs typeface="FZLanTingHei-M-GBK"/>
                <a:sym typeface="FZLanTingHei-M-GBK"/>
              </a:defRPr>
            </a:lvl1pPr>
          </a:lstStyle>
          <a:p>
            <a:pPr hangingPunct="0"/>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辅助可能原因与建议，定位问题根因并排障。</a:t>
            </a:r>
          </a:p>
        </p:txBody>
      </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高干扰问题解决干扰类问题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22" name="燕尾形 21"/>
          <p:cNvSpPr/>
          <p:nvPr/>
        </p:nvSpPr>
        <p:spPr bwMode="gray">
          <a:xfrm>
            <a:off x="9642757"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8634417"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五边形 23"/>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1063204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7"/>
          <p:cNvPicPr>
            <a:picLocks noChangeAspect="1"/>
          </p:cNvPicPr>
          <p:nvPr/>
        </p:nvPicPr>
        <p:blipFill rotWithShape="1">
          <a:blip r:embed="rId3"/>
          <a:srcRect t="77113" r="13676"/>
          <a:stretch/>
        </p:blipFill>
        <p:spPr bwMode="invGray">
          <a:xfrm>
            <a:off x="3123529" y="2288669"/>
            <a:ext cx="8554949" cy="1806251"/>
          </a:xfrm>
          <a:prstGeom prst="rect">
            <a:avLst/>
          </a:prstGeom>
        </p:spPr>
      </p:pic>
      <p:sp>
        <p:nvSpPr>
          <p:cNvPr id="26" name="矩形 25"/>
          <p:cNvSpPr/>
          <p:nvPr/>
        </p:nvSpPr>
        <p:spPr bwMode="gray">
          <a:xfrm>
            <a:off x="455613" y="4339036"/>
            <a:ext cx="11256433" cy="338554"/>
          </a:xfrm>
          <a:prstGeom prst="rect">
            <a:avLst/>
          </a:prstGeom>
          <a:solidFill>
            <a:srgbClr val="30B5C5"/>
          </a:solidFill>
        </p:spPr>
        <p:txBody>
          <a:bodyPr wrap="square">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“救火式”运维变为</a:t>
            </a:r>
            <a:r>
              <a:rPr lang="zh-CN" altLang="en-US" sz="16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“主动运维”。 </a:t>
            </a:r>
            <a:endParaRPr lang="zh-CN" altLang="en-US" sz="16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42651130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bwMode="invGray">
          <a:xfrm>
            <a:off x="946839" y="2511540"/>
            <a:ext cx="1432684" cy="3115326"/>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10</a:t>
            </a:r>
            <a:r>
              <a:rPr lang="zh-CN" altLang="en-US" dirty="0" smtClean="0">
                <a:sym typeface="Huawei Sans" panose="020C0503030203020204" pitchFamily="34" charset="0"/>
              </a:rPr>
              <a:t>：高干扰问题分析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Working with Partners to Build One of the Five Clouds for an Intelligent World"/>
          <p:cNvSpPr txBox="1"/>
          <p:nvPr/>
        </p:nvSpPr>
        <p:spPr bwMode="gray">
          <a:xfrm>
            <a:off x="455613" y="973425"/>
            <a:ext cx="11256962" cy="760959"/>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某局点运维人员通过</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检测到高</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干扰问题，通过问题详情</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关联分析发现有邻居</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造成严重的同频干扰，运维人员根据修复建议处理后，问题解决。</a:t>
            </a:r>
          </a:p>
        </p:txBody>
      </p:sp>
      <p:pic>
        <p:nvPicPr>
          <p:cNvPr id="38" name="图片 37"/>
          <p:cNvPicPr>
            <a:picLocks noChangeAspect="1"/>
          </p:cNvPicPr>
          <p:nvPr/>
        </p:nvPicPr>
        <p:blipFill>
          <a:blip r:embed="rId4"/>
          <a:stretch>
            <a:fillRect/>
          </a:stretch>
        </p:blipFill>
        <p:spPr bwMode="invGray">
          <a:xfrm>
            <a:off x="3110487" y="4612109"/>
            <a:ext cx="8601558" cy="872653"/>
          </a:xfrm>
          <a:prstGeom prst="rect">
            <a:avLst/>
          </a:prstGeom>
        </p:spPr>
      </p:pic>
      <p:pic>
        <p:nvPicPr>
          <p:cNvPr id="39" name="图片 38"/>
          <p:cNvPicPr>
            <a:picLocks noChangeAspect="1"/>
          </p:cNvPicPr>
          <p:nvPr/>
        </p:nvPicPr>
        <p:blipFill rotWithShape="1">
          <a:blip r:embed="rId5"/>
          <a:srcRect r="9695"/>
          <a:stretch/>
        </p:blipFill>
        <p:spPr bwMode="invGray">
          <a:xfrm>
            <a:off x="3110487" y="2511540"/>
            <a:ext cx="8424287" cy="936003"/>
          </a:xfrm>
          <a:prstGeom prst="rect">
            <a:avLst/>
          </a:prstGeom>
        </p:spPr>
      </p:pic>
      <p:sp>
        <p:nvSpPr>
          <p:cNvPr id="40" name="文本框 39"/>
          <p:cNvSpPr txBox="1"/>
          <p:nvPr/>
        </p:nvSpPr>
        <p:spPr bwMode="gray">
          <a:xfrm>
            <a:off x="2935639" y="2220844"/>
            <a:ext cx="8080982" cy="276999"/>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“空口</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性能页</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签”</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点击选择</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“高干扰”</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卡片，进入高干扰问题视图。</a:t>
            </a:r>
          </a:p>
        </p:txBody>
      </p:sp>
      <p:sp>
        <p:nvSpPr>
          <p:cNvPr id="41" name="矩形 40"/>
          <p:cNvSpPr/>
          <p:nvPr/>
        </p:nvSpPr>
        <p:spPr bwMode="gray">
          <a:xfrm>
            <a:off x="3110488" y="2758671"/>
            <a:ext cx="274499" cy="216488"/>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矩形 42"/>
          <p:cNvSpPr/>
          <p:nvPr/>
        </p:nvSpPr>
        <p:spPr bwMode="gray">
          <a:xfrm>
            <a:off x="4964271" y="2577061"/>
            <a:ext cx="1353471" cy="746175"/>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文本框 43"/>
          <p:cNvSpPr txBox="1"/>
          <p:nvPr/>
        </p:nvSpPr>
        <p:spPr bwMode="gray">
          <a:xfrm>
            <a:off x="2935639" y="4120537"/>
            <a:ext cx="8118802" cy="461665"/>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“原始问题列表”</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问题列表，选择第一个问题，</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“问题名称”</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超</a:t>
            </a:r>
            <a:r>
              <a:rPr kumimoji="0" lang="zh-CN" altLang="en-US" sz="12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链接</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，跳转到问题详情页面（页面内演示步骤见下一页）</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0" lang="zh-CN" altLang="en-US" sz="1200" i="0" u="none" strike="noStrike" kern="0" cap="none" spc="0" normalizeH="0" baseline="0" noProof="0" dirty="0" smtClean="0">
              <a:ln>
                <a:noFill/>
              </a:ln>
              <a:solidFill>
                <a:srgbClr val="FF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5" name="组合 44"/>
          <p:cNvGrpSpPr/>
          <p:nvPr/>
        </p:nvGrpSpPr>
        <p:grpSpPr bwMode="gray">
          <a:xfrm>
            <a:off x="3257227" y="4628069"/>
            <a:ext cx="1461918" cy="562499"/>
            <a:chOff x="3134997" y="4700291"/>
            <a:chExt cx="1600508" cy="611753"/>
          </a:xfrm>
        </p:grpSpPr>
        <p:sp>
          <p:nvSpPr>
            <p:cNvPr id="46" name="矩形 45"/>
            <p:cNvSpPr/>
            <p:nvPr/>
          </p:nvSpPr>
          <p:spPr bwMode="gray">
            <a:xfrm>
              <a:off x="3530780" y="4700291"/>
              <a:ext cx="686772" cy="231001"/>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矩形 46"/>
            <p:cNvSpPr/>
            <p:nvPr/>
          </p:nvSpPr>
          <p:spPr bwMode="gray">
            <a:xfrm>
              <a:off x="3134997" y="5120607"/>
              <a:ext cx="1600508" cy="191437"/>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48" name="文本框 47"/>
          <p:cNvSpPr txBox="1"/>
          <p:nvPr/>
        </p:nvSpPr>
        <p:spPr bwMode="gray">
          <a:xfrm>
            <a:off x="816603" y="2220844"/>
            <a:ext cx="2088521" cy="276999"/>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54" name="矩形 53"/>
          <p:cNvSpPr/>
          <p:nvPr/>
        </p:nvSpPr>
        <p:spPr bwMode="auto">
          <a:xfrm>
            <a:off x="946839" y="4197531"/>
            <a:ext cx="1432684" cy="327362"/>
          </a:xfrm>
          <a:prstGeom prst="rect">
            <a:avLst/>
          </a:prstGeom>
          <a:noFill/>
          <a:ln w="28575" cap="flat" cmpd="sng" algn="ctr">
            <a:solidFill>
              <a:srgbClr val="E9002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燕尾形 55"/>
          <p:cNvSpPr/>
          <p:nvPr/>
        </p:nvSpPr>
        <p:spPr bwMode="gray">
          <a:xfrm>
            <a:off x="964275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五边形 57"/>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1063204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5599835" y="5048435"/>
            <a:ext cx="224051" cy="149614"/>
          </a:xfrm>
          <a:prstGeom prst="rect">
            <a:avLst/>
          </a:prstGeom>
          <a:solidFill>
            <a:srgbClr val="1B2A5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36065937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08306" y="1718330"/>
            <a:ext cx="5651816" cy="3190603"/>
            <a:chOff x="508306" y="1718330"/>
            <a:chExt cx="5651816" cy="3190603"/>
          </a:xfrm>
        </p:grpSpPr>
        <p:pic>
          <p:nvPicPr>
            <p:cNvPr id="18" name="图片 17"/>
            <p:cNvPicPr>
              <a:picLocks noChangeAspect="1"/>
            </p:cNvPicPr>
            <p:nvPr/>
          </p:nvPicPr>
          <p:blipFill>
            <a:blip r:embed="rId3"/>
            <a:stretch>
              <a:fillRect/>
            </a:stretch>
          </p:blipFill>
          <p:spPr bwMode="invGray">
            <a:xfrm>
              <a:off x="508306" y="1718330"/>
              <a:ext cx="5651816" cy="3190603"/>
            </a:xfrm>
            <a:prstGeom prst="rect">
              <a:avLst/>
            </a:prstGeom>
          </p:spPr>
        </p:pic>
        <p:sp>
          <p:nvSpPr>
            <p:cNvPr id="3" name="矩形 2"/>
            <p:cNvSpPr/>
            <p:nvPr/>
          </p:nvSpPr>
          <p:spPr>
            <a:xfrm>
              <a:off x="1018903" y="2255520"/>
              <a:ext cx="278674" cy="94741"/>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10</a:t>
            </a:r>
            <a:r>
              <a:rPr lang="zh-CN" altLang="en-US" dirty="0" smtClean="0">
                <a:sym typeface="Huawei Sans" panose="020C0503030203020204" pitchFamily="34" charset="0"/>
              </a:rPr>
              <a:t>：高干扰问题分析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pic>
        <p:nvPicPr>
          <p:cNvPr id="16" name="图片 15"/>
          <p:cNvPicPr>
            <a:picLocks noChangeAspect="1"/>
          </p:cNvPicPr>
          <p:nvPr/>
        </p:nvPicPr>
        <p:blipFill>
          <a:blip r:embed="rId4"/>
          <a:stretch>
            <a:fillRect/>
          </a:stretch>
        </p:blipFill>
        <p:spPr bwMode="invGray">
          <a:xfrm>
            <a:off x="6469640" y="1728962"/>
            <a:ext cx="5242405" cy="621299"/>
          </a:xfrm>
          <a:prstGeom prst="rect">
            <a:avLst/>
          </a:prstGeom>
        </p:spPr>
      </p:pic>
      <p:sp>
        <p:nvSpPr>
          <p:cNvPr id="19" name="文本框 18"/>
          <p:cNvSpPr txBox="1"/>
          <p:nvPr/>
        </p:nvSpPr>
        <p:spPr bwMode="gray">
          <a:xfrm>
            <a:off x="420515" y="1029204"/>
            <a:ext cx="5615897" cy="646331"/>
          </a:xfrm>
          <a:prstGeom prst="rect">
            <a:avLst/>
          </a:prstGeom>
          <a:noFill/>
        </p:spPr>
        <p:txBody>
          <a:bodyPr vert="horz" wrap="square" rtlCol="0">
            <a:spAutoFit/>
          </a:bodyPr>
          <a:lstStyle/>
          <a:p>
            <a:pPr lvl="0" defTabSz="914400">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N5-2F-1</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出现了高干扰问题。由于</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的干扰率与对它造成干扰的邻居</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的信道利用率和</a:t>
            </a: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RSSI</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强相关，分析器</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通过相关性分析算法，自动识别出最可能造成干扰的邻居</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N5-2F-3</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0" name="矩形 19"/>
          <p:cNvSpPr/>
          <p:nvPr/>
        </p:nvSpPr>
        <p:spPr bwMode="gray">
          <a:xfrm>
            <a:off x="510734" y="2444619"/>
            <a:ext cx="5649388" cy="2464313"/>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文本框 20"/>
          <p:cNvSpPr txBox="1"/>
          <p:nvPr/>
        </p:nvSpPr>
        <p:spPr bwMode="gray">
          <a:xfrm>
            <a:off x="6361290" y="1028087"/>
            <a:ext cx="5337446" cy="461665"/>
          </a:xfrm>
          <a:prstGeom prst="rect">
            <a:avLst/>
          </a:prstGeom>
          <a:noFill/>
        </p:spPr>
        <p:txBody>
          <a:bodyPr vert="horz" wrap="square" rtlCol="0">
            <a:spAutoFit/>
          </a:bodyPr>
          <a:lstStyle/>
          <a:p>
            <a:pPr lvl="0" defTabSz="914400">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、通过信道干扰率分析，发现邻居</a:t>
            </a:r>
            <a:r>
              <a:rPr lang="en-US" altLang="zh-CN"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N5-2F-3</a:t>
            </a:r>
            <a:r>
              <a:rPr lang="zh-CN" altLang="en-US" sz="1200" kern="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配置了</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相同信道（信道</a:t>
            </a:r>
            <a:r>
              <a:rPr kumimoji="0" lang="en-US" altLang="zh-CN"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，存在干扰。</a:t>
            </a:r>
          </a:p>
        </p:txBody>
      </p:sp>
      <p:sp>
        <p:nvSpPr>
          <p:cNvPr id="22" name="文本框 21"/>
          <p:cNvSpPr txBox="1"/>
          <p:nvPr/>
        </p:nvSpPr>
        <p:spPr bwMode="gray">
          <a:xfrm>
            <a:off x="6361290" y="2394219"/>
            <a:ext cx="5337446" cy="461665"/>
          </a:xfrm>
          <a:prstGeom prst="rect">
            <a:avLst/>
          </a:prstGeom>
          <a:noFill/>
        </p:spPr>
        <p:txBody>
          <a:bodyPr vert="horz" wrap="square" rtlCol="0">
            <a:spAutoFit/>
          </a:bodyPr>
          <a:lstStyle/>
          <a:p>
            <a:pPr lvl="0" defTabSz="914400">
              <a:defRPr/>
            </a:pPr>
            <a:r>
              <a:rPr kumimoji="0" lang="en-US" altLang="zh-CN"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、分析器给出问题的可能原因，是由于</a:t>
            </a:r>
            <a:r>
              <a:rPr kumimoji="0" lang="zh-CN" altLang="en-US" sz="120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同频邻居</a:t>
            </a:r>
            <a:r>
              <a:rPr lang="en-US" altLang="zh-CN" sz="1200"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N5-2F-3</a:t>
            </a:r>
            <a:r>
              <a:rPr lang="zh-CN" altLang="en-US" sz="1200" kern="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kumimoji="0" lang="zh-CN" altLang="en-US" sz="120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，建议进行射频调优。</a:t>
            </a:r>
          </a:p>
        </p:txBody>
      </p:sp>
      <p:pic>
        <p:nvPicPr>
          <p:cNvPr id="23" name="图片 22"/>
          <p:cNvPicPr>
            <a:picLocks noChangeAspect="1"/>
          </p:cNvPicPr>
          <p:nvPr/>
        </p:nvPicPr>
        <p:blipFill rotWithShape="1">
          <a:blip r:embed="rId5"/>
          <a:srcRect l="51110" t="2421"/>
          <a:stretch/>
        </p:blipFill>
        <p:spPr bwMode="invGray">
          <a:xfrm>
            <a:off x="7345090" y="2689512"/>
            <a:ext cx="4267790" cy="2195680"/>
          </a:xfrm>
          <a:prstGeom prst="rect">
            <a:avLst/>
          </a:prstGeom>
        </p:spPr>
      </p:pic>
      <p:sp>
        <p:nvSpPr>
          <p:cNvPr id="24" name="上箭头 23"/>
          <p:cNvSpPr/>
          <p:nvPr/>
        </p:nvSpPr>
        <p:spPr bwMode="gray">
          <a:xfrm>
            <a:off x="3902796" y="1507813"/>
            <a:ext cx="159433" cy="928476"/>
          </a:xfrm>
          <a:prstGeom prst="up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bwMode="gray">
          <a:xfrm>
            <a:off x="6596815" y="1893689"/>
            <a:ext cx="5016065" cy="199257"/>
          </a:xfrm>
          <a:prstGeom prst="rect">
            <a:avLst/>
          </a:prstGeom>
          <a:noFill/>
          <a:ln w="28575" cap="flat" cmpd="sng" algn="ctr">
            <a:solidFill>
              <a:srgbClr val="C7000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上箭头 25"/>
          <p:cNvSpPr/>
          <p:nvPr/>
        </p:nvSpPr>
        <p:spPr bwMode="gray">
          <a:xfrm>
            <a:off x="7330520" y="1543851"/>
            <a:ext cx="159433" cy="370222"/>
          </a:xfrm>
          <a:prstGeom prst="up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圆角矩形 28"/>
          <p:cNvSpPr/>
          <p:nvPr/>
        </p:nvSpPr>
        <p:spPr bwMode="gray">
          <a:xfrm>
            <a:off x="922487" y="4952891"/>
            <a:ext cx="10411527"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75"/>
          <p:cNvSpPr/>
          <p:nvPr/>
        </p:nvSpPr>
        <p:spPr bwMode="gray">
          <a:xfrm>
            <a:off x="922487" y="5356849"/>
            <a:ext cx="10411527" cy="75448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高干扰问题是</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网络中非常常见的问题</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，会出现</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网络延迟大、网络卡顿等问题</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一定程度上影响接入用户</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能够主动发现网络中出现高干扰问题，通过相关性算法与大数据分析，找到问题最有可能的原因，并给出修复建议。</a:t>
            </a:r>
          </a:p>
        </p:txBody>
      </p:sp>
      <p:sp>
        <p:nvSpPr>
          <p:cNvPr id="31" name="燕尾形 30"/>
          <p:cNvSpPr/>
          <p:nvPr/>
        </p:nvSpPr>
        <p:spPr bwMode="gray">
          <a:xfrm>
            <a:off x="964275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五边形 32"/>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1063204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3843724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90449" y="1054671"/>
            <a:ext cx="7446557" cy="3384279"/>
            <a:chOff x="455613" y="1054671"/>
            <a:chExt cx="7446557" cy="3384279"/>
          </a:xfrm>
        </p:grpSpPr>
        <p:pic>
          <p:nvPicPr>
            <p:cNvPr id="13" name="图片 12"/>
            <p:cNvPicPr>
              <a:picLocks noChangeAspect="1"/>
            </p:cNvPicPr>
            <p:nvPr/>
          </p:nvPicPr>
          <p:blipFill>
            <a:blip r:embed="rId3"/>
            <a:stretch>
              <a:fillRect/>
            </a:stretch>
          </p:blipFill>
          <p:spPr bwMode="invGray">
            <a:xfrm>
              <a:off x="455613" y="1054671"/>
              <a:ext cx="7446557" cy="3384279"/>
            </a:xfrm>
            <a:prstGeom prst="rect">
              <a:avLst/>
            </a:prstGeom>
          </p:spPr>
        </p:pic>
        <p:sp>
          <p:nvSpPr>
            <p:cNvPr id="9" name="矩形 8"/>
            <p:cNvSpPr/>
            <p:nvPr/>
          </p:nvSpPr>
          <p:spPr>
            <a:xfrm>
              <a:off x="6470469" y="1054672"/>
              <a:ext cx="313508" cy="147111"/>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a:sym typeface="Huawei Sans" panose="020C0503030203020204" pitchFamily="34" charset="0"/>
              </a:rPr>
              <a:t>二</a:t>
            </a:r>
            <a:r>
              <a:rPr lang="zh-CN" altLang="en-US" dirty="0" smtClean="0">
                <a:sym typeface="Huawei Sans" panose="020C0503030203020204" pitchFamily="34" charset="0"/>
              </a:rPr>
              <a:t>层环路问题</a:t>
            </a:r>
            <a:endParaRPr lang="zh-CN" altLang="en-US" dirty="0">
              <a:sym typeface="Huawei Sans" panose="020C0503030203020204" pitchFamily="34" charset="0"/>
            </a:endParaRPr>
          </a:p>
        </p:txBody>
      </p:sp>
      <p:sp>
        <p:nvSpPr>
          <p:cNvPr id="3" name="燕尾形 2"/>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214"/>
          <p:cNvSpPr txBox="1"/>
          <p:nvPr/>
        </p:nvSpPr>
        <p:spPr bwMode="gray">
          <a:xfrm>
            <a:off x="1472598" y="4906523"/>
            <a:ext cx="9257511" cy="119252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6213" indent="-176213" algn="just">
              <a:lnSpc>
                <a:spcPts val="2600"/>
              </a:lnSpc>
              <a:spcAft>
                <a:spcPts val="300"/>
              </a:spcAft>
              <a:buFont typeface="Arial" panose="020B0604020202020204" pitchFamily="34" charset="0"/>
              <a:buChar char="•"/>
            </a:pPr>
            <a:r>
              <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以太网交换网络中为了提高网络可靠性，通常会采用冗余设备和冗余链路，然而现网中由于组网调整、配置修改、升级割接等原因，经常会造成数据或协议报文环形转发，不可避免的形成环路。</a:t>
            </a:r>
          </a:p>
          <a:p>
            <a:pPr marL="176213" indent="-176213" algn="just">
              <a:lnSpc>
                <a:spcPts val="2600"/>
              </a:lnSpc>
              <a:spcAft>
                <a:spcPts val="300"/>
              </a:spcAft>
              <a:buFont typeface="Arial" panose="020B0604020202020204" pitchFamily="34" charset="0"/>
              <a:buChar char="•"/>
            </a:pPr>
            <a:r>
              <a:rPr lang="zh-CN" altLang="en-US"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网络拓扑的环路路径呈现：根据交换机邻居关系还原二层环路的环路</a:t>
            </a:r>
            <a:r>
              <a:rPr lang="zh-CN" altLang="en-US"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路径。</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矩形 7"/>
          <p:cNvSpPr/>
          <p:nvPr/>
        </p:nvSpPr>
        <p:spPr bwMode="gray">
          <a:xfrm>
            <a:off x="1472598" y="4492737"/>
            <a:ext cx="9257507"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关键技术</a:t>
            </a:r>
          </a:p>
        </p:txBody>
      </p:sp>
      <p:sp>
        <p:nvSpPr>
          <p:cNvPr id="14" name="矩形 13"/>
          <p:cNvSpPr/>
          <p:nvPr/>
        </p:nvSpPr>
        <p:spPr bwMode="gray">
          <a:xfrm>
            <a:off x="7971372" y="1720840"/>
            <a:ext cx="3766208" cy="1708160"/>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 + Syslog</a:t>
            </a: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机制监控所有接口的</a:t>
            </a:r>
            <a:r>
              <a:rPr lang="en-US" altLang="zh-CN"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及异常日志，识别</a:t>
            </a:r>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二层环路接口</a:t>
            </a: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，快速定位故障。</a:t>
            </a:r>
            <a:endParaRPr lang="en-US" altLang="zh-CN"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342900" indent="-342900">
              <a:lnSpc>
                <a:spcPct val="150000"/>
              </a:lnSpc>
              <a:buFont typeface="Arial" panose="020B0604020202020204" pitchFamily="34" charset="0"/>
              <a:buChar char="•"/>
            </a:pP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呈现</a:t>
            </a:r>
            <a:r>
              <a:rPr lang="zh-CN" altLang="en-US" sz="1400" dirty="0" smtClean="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环路接口</a:t>
            </a: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列表及位置。</a:t>
            </a:r>
            <a:endParaRPr lang="en-US" altLang="zh-CN"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342900" indent="-342900">
              <a:lnSpc>
                <a:spcPct val="150000"/>
              </a:lnSpc>
              <a:buFont typeface="Arial" panose="020B0604020202020204" pitchFamily="34" charset="0"/>
              <a:buChar char="•"/>
            </a:pPr>
            <a:r>
              <a:rPr lang="zh-CN" altLang="en-US"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联动控制器隔离环路接口进行闭环。</a:t>
            </a:r>
            <a:endParaRPr lang="en-US" altLang="zh-CN" sz="1400" dirty="0" smtClea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22545502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11</a:t>
            </a:r>
            <a:r>
              <a:rPr lang="zh-CN" altLang="en-US" dirty="0" smtClean="0">
                <a:sym typeface="Huawei Sans" panose="020C0503030203020204" pitchFamily="34" charset="0"/>
              </a:rPr>
              <a:t>：二层环路问题分析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燕尾形 2"/>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Working with Partners to Build One of the Five Clouds for an Intelligent World"/>
          <p:cNvSpPr txBox="1"/>
          <p:nvPr/>
        </p:nvSpPr>
        <p:spPr bwMode="gray">
          <a:xfrm>
            <a:off x="455613" y="968330"/>
            <a:ext cx="11256962" cy="731785"/>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案例</a:t>
            </a:r>
            <a:r>
              <a:rPr lang="zh-CN" altLang="en-US" sz="14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描述</a:t>
            </a: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某园区</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网络中，</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某设备端口流量突发冲高，端口负载快速上升，导致端口下业务中断，无法正常运行，需要尽快定位处理并恢复业务</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。经过</a:t>
            </a:r>
            <a:r>
              <a:rPr lang="en-US" altLang="zh-CN"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快速</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定位发现是该</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设备的其中一个端口网络二层环路</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导致问题发生，</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通过紧急隔离处理，业务恢复。</a:t>
            </a:r>
          </a:p>
        </p:txBody>
      </p:sp>
      <p:sp>
        <p:nvSpPr>
          <p:cNvPr id="26" name="文本框 26"/>
          <p:cNvSpPr txBox="1"/>
          <p:nvPr/>
        </p:nvSpPr>
        <p:spPr bwMode="gray">
          <a:xfrm>
            <a:off x="583373" y="1667133"/>
            <a:ext cx="8542723" cy="340991"/>
          </a:xfrm>
          <a:prstGeom prst="rect">
            <a:avLst/>
          </a:prstGeom>
          <a:noFill/>
        </p:spPr>
        <p:txBody>
          <a:bodyPr vert="horz"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r>
              <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“待处理</a:t>
            </a:r>
            <a:r>
              <a:rPr lang="en-US" altLang="zh-CN"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Issues</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”查看问题</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。进入待处理</a:t>
            </a: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Issues</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列表，发现存在二层环路问题，展开查看具体问题详情</a:t>
            </a:r>
            <a:r>
              <a:rPr lang="zh-CN" altLang="en-US" sz="1200" kern="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2" name="图片 31"/>
          <p:cNvPicPr>
            <a:picLocks noChangeAspect="1"/>
          </p:cNvPicPr>
          <p:nvPr/>
        </p:nvPicPr>
        <p:blipFill>
          <a:blip r:embed="rId3"/>
          <a:stretch>
            <a:fillRect/>
          </a:stretch>
        </p:blipFill>
        <p:spPr bwMode="invGray">
          <a:xfrm>
            <a:off x="853937" y="2034391"/>
            <a:ext cx="10671671" cy="4166384"/>
          </a:xfrm>
          <a:prstGeom prst="rect">
            <a:avLst/>
          </a:prstGeom>
          <a:noFill/>
          <a:ln>
            <a:noFill/>
          </a:ln>
        </p:spPr>
      </p:pic>
      <p:sp>
        <p:nvSpPr>
          <p:cNvPr id="33" name="矩形 32"/>
          <p:cNvSpPr/>
          <p:nvPr/>
        </p:nvSpPr>
        <p:spPr bwMode="gray">
          <a:xfrm>
            <a:off x="853937" y="2069813"/>
            <a:ext cx="10586001" cy="53298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bwMode="gray">
          <a:xfrm>
            <a:off x="6677810" y="2920830"/>
            <a:ext cx="4762128" cy="206737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50"/>
          <p:cNvSpPr txBox="1"/>
          <p:nvPr/>
        </p:nvSpPr>
        <p:spPr bwMode="auto">
          <a:xfrm>
            <a:off x="3285602" y="2241816"/>
            <a:ext cx="5888813" cy="340991"/>
          </a:xfrm>
          <a:prstGeom prst="rect">
            <a:avLst/>
          </a:prstGeom>
          <a:noFill/>
        </p:spPr>
        <p:txBody>
          <a:bodyPr vert="horz"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pPr>
            <a:r>
              <a:rPr lang="en-US" altLang="zh-CN"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① </a:t>
            </a:r>
            <a:r>
              <a:rPr lang="zh-CN" altLang="en-US"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信息：</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呈现环路涉及的端口、问题发生的时间、当前的状态</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等。</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文本框 82"/>
          <p:cNvSpPr txBox="1"/>
          <p:nvPr/>
        </p:nvSpPr>
        <p:spPr bwMode="auto">
          <a:xfrm>
            <a:off x="6677810" y="4988201"/>
            <a:ext cx="4762128" cy="617990"/>
          </a:xfrm>
          <a:prstGeom prst="rect">
            <a:avLst/>
          </a:prstGeom>
          <a:noFill/>
        </p:spPr>
        <p:txBody>
          <a:bodyPr vert="horz"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pPr>
            <a:r>
              <a:rPr lang="en-US" altLang="zh-CN"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② </a:t>
            </a:r>
            <a:r>
              <a:rPr lang="zh-CN" altLang="en-US"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拓扑</a:t>
            </a: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还原：</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查看生成二层环路多台设备间端口的环路异常信息，并通过拓扑还原</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环路影响的设备</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接口。</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5684255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a:blip r:embed="rId3"/>
          <a:stretch>
            <a:fillRect/>
          </a:stretch>
        </p:blipFill>
        <p:spPr bwMode="invGray">
          <a:xfrm>
            <a:off x="853937" y="1355438"/>
            <a:ext cx="10693461" cy="2391041"/>
          </a:xfrm>
          <a:prstGeom prst="rect">
            <a:avLst/>
          </a:prstGeom>
          <a:noFill/>
          <a:ln>
            <a:noFill/>
          </a:ln>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11</a:t>
            </a:r>
            <a:r>
              <a:rPr lang="zh-CN" altLang="en-US" dirty="0" smtClean="0">
                <a:sym typeface="Huawei Sans" panose="020C0503030203020204" pitchFamily="34" charset="0"/>
              </a:rPr>
              <a:t>：二层环路问题分析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3" name="燕尾形 2"/>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6"/>
          <p:cNvSpPr txBox="1"/>
          <p:nvPr/>
        </p:nvSpPr>
        <p:spPr bwMode="gray">
          <a:xfrm>
            <a:off x="583373" y="966854"/>
            <a:ext cx="5915402" cy="369332"/>
          </a:xfrm>
          <a:prstGeom prst="rect">
            <a:avLst/>
          </a:prstGeom>
          <a:noFill/>
        </p:spPr>
        <p:txBody>
          <a:bodyPr vert="horz"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进入待处理</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Issues</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列表，发现存在</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二层环路问题</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，展开查看具体问题详情</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。（续）</a:t>
            </a:r>
            <a:endParaRPr lang="zh-CN" altLang="en-US" sz="1200" b="1"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214"/>
          <p:cNvSpPr txBox="1"/>
          <p:nvPr/>
        </p:nvSpPr>
        <p:spPr bwMode="gray">
          <a:xfrm>
            <a:off x="853938" y="5320309"/>
            <a:ext cx="10693460" cy="77866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6213" indent="-176213" algn="just">
              <a:lnSpc>
                <a:spcPts val="2600"/>
              </a:lnSpc>
              <a:spcAft>
                <a:spcPts val="300"/>
              </a:spcAft>
              <a:buFont typeface="Arial" panose="020B0604020202020204" pitchFamily="34" charset="0"/>
              <a:buChar char="•"/>
            </a:pPr>
            <a:r>
              <a:rPr lang="en-US" altLang="zh-CN"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CampusInsight</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二层环路问题功能，能够主动发现网络中二层环路问题，通过交换机链路信息还原出环路拓扑，定位到环路发生的</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位置，并给出修复建议。</a:t>
            </a:r>
            <a:endPar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bwMode="gray">
          <a:xfrm>
            <a:off x="853938" y="4906523"/>
            <a:ext cx="10693456"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a:t>
            </a:r>
          </a:p>
        </p:txBody>
      </p:sp>
      <p:sp>
        <p:nvSpPr>
          <p:cNvPr id="16" name="矩形 15"/>
          <p:cNvSpPr/>
          <p:nvPr/>
        </p:nvSpPr>
        <p:spPr bwMode="auto">
          <a:xfrm>
            <a:off x="4897596" y="1579917"/>
            <a:ext cx="5825159" cy="340991"/>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pPr>
            <a:r>
              <a:rPr lang="en-US" altLang="zh-CN"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③ </a:t>
            </a:r>
            <a:r>
              <a:rPr lang="zh-CN" altLang="en-US"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影响</a:t>
            </a:r>
            <a:r>
              <a:rPr lang="zh-CN" altLang="en-US" sz="12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r>
              <a:rPr lang="zh-CN" altLang="en-US" sz="1200" b="1"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识别环路端口导致的广播</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报文突增，对业务影响</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严重。</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46606092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端口误包问题</a:t>
            </a:r>
            <a:endParaRPr lang="zh-CN" altLang="en-US" dirty="0">
              <a:sym typeface="Huawei Sans" panose="020C0503030203020204" pitchFamily="34" charset="0"/>
            </a:endParaRPr>
          </a:p>
        </p:txBody>
      </p:sp>
      <p:sp>
        <p:nvSpPr>
          <p:cNvPr id="7" name="文本占位符 6"/>
          <p:cNvSpPr>
            <a:spLocks noGrp="1"/>
          </p:cNvSpPr>
          <p:nvPr>
            <p:ph type="body" sz="quarter" idx="10"/>
          </p:nvPr>
        </p:nvSpPr>
        <p:spPr/>
        <p:txBody>
          <a:bodyPr/>
          <a:lstStyle/>
          <a:p>
            <a:r>
              <a:rPr lang="zh-CN" altLang="en-US" sz="1600" dirty="0" smtClean="0"/>
              <a:t>业务</a:t>
            </a:r>
            <a:r>
              <a:rPr lang="zh-CN" altLang="en-US" sz="1600" dirty="0"/>
              <a:t>影响：端口误包会直接导致业务包被丢弃，对各种应用影响较大，比如文件下载慢、组播花屏、语音模糊等。</a:t>
            </a:r>
          </a:p>
          <a:p>
            <a:r>
              <a:rPr lang="zh-CN" altLang="en-US" sz="1600" dirty="0" smtClean="0"/>
              <a:t>问题识别：</a:t>
            </a:r>
            <a:endParaRPr lang="en-US" altLang="zh-CN" sz="1600" dirty="0" smtClean="0"/>
          </a:p>
          <a:p>
            <a:pPr lvl="1"/>
            <a:r>
              <a:rPr lang="zh-CN" altLang="en-US" sz="1400" dirty="0"/>
              <a:t>离群检测算法：与其他端口对比，空间维度识别异常。</a:t>
            </a:r>
          </a:p>
          <a:p>
            <a:pPr lvl="2"/>
            <a:r>
              <a:rPr lang="zh-CN" altLang="en-US" sz="1200" dirty="0" smtClean="0"/>
              <a:t>典型</a:t>
            </a:r>
            <a:r>
              <a:rPr lang="zh-CN" altLang="en-US" sz="1200" dirty="0"/>
              <a:t>场景：终端接入设备差异性，终端支持的协商速率与交换机侧端口不一致，引发误码明显高于其它端口问题。</a:t>
            </a:r>
          </a:p>
          <a:p>
            <a:pPr lvl="1"/>
            <a:r>
              <a:rPr lang="zh-CN" altLang="en-US" sz="1400" dirty="0"/>
              <a:t>时间序列异常检测算法：与自己对比，时间维度识别异常。</a:t>
            </a:r>
          </a:p>
          <a:p>
            <a:pPr lvl="2"/>
            <a:r>
              <a:rPr lang="zh-CN" altLang="en-US" sz="1200" dirty="0" smtClean="0"/>
              <a:t>典型场景：网线线缆、水晶头等物理设备老化，导致的误码率长时间持续缓慢升高。</a:t>
            </a:r>
          </a:p>
          <a:p>
            <a:endParaRPr lang="en-US" altLang="zh-CN" sz="1600" dirty="0" smtClean="0"/>
          </a:p>
          <a:p>
            <a:endParaRPr lang="en-US" altLang="zh-CN" sz="1600" dirty="0"/>
          </a:p>
          <a:p>
            <a:endParaRPr lang="en-US" altLang="zh-CN" sz="1600" dirty="0" smtClean="0"/>
          </a:p>
        </p:txBody>
      </p:sp>
      <p:sp>
        <p:nvSpPr>
          <p:cNvPr id="3" name="燕尾形 2"/>
          <p:cNvSpPr/>
          <p:nvPr/>
        </p:nvSpPr>
        <p:spPr bwMode="gray">
          <a:xfrm>
            <a:off x="964275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6"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1"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6"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1559589" y="3348930"/>
            <a:ext cx="8083167" cy="2780266"/>
          </a:xfrm>
          <a:prstGeom prst="rect">
            <a:avLst/>
          </a:prstGeom>
        </p:spPr>
      </p:pic>
      <p:sp>
        <p:nvSpPr>
          <p:cNvPr id="11" name="文本框 10"/>
          <p:cNvSpPr txBox="1"/>
          <p:nvPr/>
        </p:nvSpPr>
        <p:spPr>
          <a:xfrm>
            <a:off x="2758245" y="3487652"/>
            <a:ext cx="1620957" cy="307777"/>
          </a:xfrm>
          <a:prstGeom prst="rect">
            <a:avLst/>
          </a:prstGeom>
          <a:solidFill>
            <a:schemeClr val="bg1">
              <a:lumMod val="50000"/>
            </a:schemeClr>
          </a:solidFill>
        </p:spPr>
        <p:txBody>
          <a:bodyPr vert="horz" wrap="none" rtlCol="0">
            <a:spAutoFit/>
          </a:bodyPr>
          <a:lstStyle/>
          <a:p>
            <a:pPr algn="l"/>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离</a:t>
            </a:r>
            <a:r>
              <a:rPr lang="zh-CN" altLang="en-US" sz="14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群检测识别异常</a:t>
            </a:r>
          </a:p>
        </p:txBody>
      </p:sp>
      <p:sp>
        <p:nvSpPr>
          <p:cNvPr id="12" name="文本框 11"/>
          <p:cNvSpPr txBox="1"/>
          <p:nvPr/>
        </p:nvSpPr>
        <p:spPr>
          <a:xfrm>
            <a:off x="2758244" y="4916096"/>
            <a:ext cx="1620957" cy="307777"/>
          </a:xfrm>
          <a:prstGeom prst="rect">
            <a:avLst/>
          </a:prstGeom>
          <a:solidFill>
            <a:schemeClr val="bg1">
              <a:lumMod val="50000"/>
            </a:schemeClr>
          </a:solidFill>
        </p:spPr>
        <p:txBody>
          <a:bodyPr vert="horz" wrap="none" rtlCol="0">
            <a:spAutoFit/>
          </a:bodyPr>
          <a:lstStyle>
            <a:defPPr>
              <a:defRPr lang="en-US"/>
            </a:defPPr>
            <a:lvl1pPr>
              <a:defRPr sz="1400" b="1">
                <a:solidFill>
                  <a:schemeClr val="bg1"/>
                </a:solidFill>
                <a:cs typeface="+mn-ea"/>
              </a:defRPr>
            </a:lvl1pPr>
          </a:lstStyle>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时间序列识别异常</a:t>
            </a:r>
          </a:p>
        </p:txBody>
      </p:sp>
    </p:spTree>
    <p:extLst>
      <p:ext uri="{BB962C8B-B14F-4D97-AF65-F5344CB8AC3E}">
        <p14:creationId xmlns:p14="http://schemas.microsoft.com/office/powerpoint/2010/main" val="363900830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12</a:t>
            </a:r>
            <a:r>
              <a:rPr lang="zh-CN" altLang="en-US" dirty="0" smtClean="0">
                <a:sym typeface="Huawei Sans" panose="020C0503030203020204" pitchFamily="34" charset="0"/>
              </a:rPr>
              <a:t>：端口误包问题分析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燕尾形 2"/>
          <p:cNvSpPr/>
          <p:nvPr/>
        </p:nvSpPr>
        <p:spPr bwMode="gray">
          <a:xfrm>
            <a:off x="9642759"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9"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4"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9"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Working with Partners to Build One of the Five Clouds for an Intelligent World"/>
          <p:cNvSpPr txBox="1"/>
          <p:nvPr/>
        </p:nvSpPr>
        <p:spPr bwMode="gray">
          <a:xfrm>
            <a:off x="455613" y="968330"/>
            <a:ext cx="11256962" cy="1453457"/>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案例</a:t>
            </a:r>
            <a:r>
              <a:rPr lang="zh-CN" altLang="en-US" sz="14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描述</a:t>
            </a: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某公司运维人员小王，早上上班后打开分析器健康度拓扑，</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发现某区域的</a:t>
            </a:r>
            <a:r>
              <a:rPr lang="en-US" altLang="zh-CN"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N7</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栋楼存在网络误包问题，通过问题端口找到对应的</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员工</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李某</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进行</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拜访，李某反馈近期办公过程中确实偶尔出现视频观看卡顿，对日常办公存在影响。</a:t>
            </a:r>
          </a:p>
          <a:p>
            <a:pPr hangingPunct="0">
              <a:lnSpc>
                <a:spcPts val="2400"/>
              </a:lnSpc>
              <a:spcAft>
                <a:spcPts val="600"/>
              </a:spcAft>
            </a:pP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经过</a:t>
            </a:r>
            <a:r>
              <a:rPr lang="en-US" altLang="zh-CN"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快速定位，发现此用户的接入端口存在持续的网络误包，最终排查为网线老化，内部线路出现串扰</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导致。更换</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网线后故障</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消失，业务</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恢复</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a:t>
            </a:r>
            <a:endPar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671569" y="2415182"/>
            <a:ext cx="2288447"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“业务拓扑”</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40" name="文本框 39"/>
          <p:cNvSpPr txBox="1"/>
          <p:nvPr/>
        </p:nvSpPr>
        <p:spPr>
          <a:xfrm>
            <a:off x="3637758" y="2415182"/>
            <a:ext cx="5859167"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、发现某区域出现了</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误包问题</a:t>
            </a:r>
            <a:r>
              <a:rPr lang="zh-CN" altLang="en-US" sz="1200" dirty="0" smtClean="0">
                <a:solidFill>
                  <a:srgbClr val="FF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tips</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中点击</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问题跳转查看对应问题。</a:t>
            </a:r>
          </a:p>
        </p:txBody>
      </p:sp>
      <p:pic>
        <p:nvPicPr>
          <p:cNvPr id="41" name="图片 40"/>
          <p:cNvPicPr>
            <a:picLocks noChangeAspect="1"/>
          </p:cNvPicPr>
          <p:nvPr/>
        </p:nvPicPr>
        <p:blipFill>
          <a:blip r:embed="rId3"/>
          <a:stretch>
            <a:fillRect/>
          </a:stretch>
        </p:blipFill>
        <p:spPr bwMode="invGray">
          <a:xfrm>
            <a:off x="1041935" y="2727892"/>
            <a:ext cx="1124051" cy="3470572"/>
          </a:xfrm>
          <a:prstGeom prst="rect">
            <a:avLst/>
          </a:prstGeom>
        </p:spPr>
      </p:pic>
      <p:sp>
        <p:nvSpPr>
          <p:cNvPr id="42" name="矩形 41"/>
          <p:cNvSpPr/>
          <p:nvPr/>
        </p:nvSpPr>
        <p:spPr>
          <a:xfrm>
            <a:off x="1041936" y="5111651"/>
            <a:ext cx="1124051" cy="27786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7" name="图片 6"/>
          <p:cNvPicPr>
            <a:picLocks noChangeAspect="1"/>
          </p:cNvPicPr>
          <p:nvPr/>
        </p:nvPicPr>
        <p:blipFill>
          <a:blip r:embed="rId4"/>
          <a:stretch>
            <a:fillRect/>
          </a:stretch>
        </p:blipFill>
        <p:spPr bwMode="invGray">
          <a:xfrm>
            <a:off x="3762789" y="2727892"/>
            <a:ext cx="6772107" cy="3470572"/>
          </a:xfrm>
          <a:prstGeom prst="rect">
            <a:avLst/>
          </a:prstGeom>
          <a:ln w="12700">
            <a:noFill/>
          </a:ln>
        </p:spPr>
      </p:pic>
      <p:sp>
        <p:nvSpPr>
          <p:cNvPr id="44" name="矩形 43"/>
          <p:cNvSpPr/>
          <p:nvPr/>
        </p:nvSpPr>
        <p:spPr>
          <a:xfrm>
            <a:off x="6096000" y="2998286"/>
            <a:ext cx="1737802" cy="162458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1088907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12</a:t>
            </a:r>
            <a:r>
              <a:rPr lang="zh-CN" altLang="en-US" dirty="0" smtClean="0">
                <a:sym typeface="Huawei Sans" panose="020C0503030203020204" pitchFamily="34" charset="0"/>
              </a:rPr>
              <a:t>：端口误包问题分析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3" name="燕尾形 2"/>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8070573" y="1688350"/>
            <a:ext cx="3642001" cy="738664"/>
          </a:xfrm>
          <a:prstGeom prst="rect">
            <a:avLst/>
          </a:prstGeom>
          <a:noFill/>
        </p:spPr>
        <p:txBody>
          <a:bodyPr vert="horz" wrap="square" rtlCol="0">
            <a:spAutoFit/>
          </a:bodyPr>
          <a:lstStyle/>
          <a:p>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偏态分析：</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基于历史大数据分析，基于偏态算法识别问题端口误包数远高于其他端口，离群特征明显，表明此端口存在异常</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9" name="文本框 18"/>
          <p:cNvSpPr txBox="1"/>
          <p:nvPr/>
        </p:nvSpPr>
        <p:spPr>
          <a:xfrm>
            <a:off x="521695" y="953070"/>
            <a:ext cx="4869455"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、点击问题分析，跳转后展开</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“端口误包数超过阈值”</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详情分析。</a:t>
            </a:r>
          </a:p>
        </p:txBody>
      </p:sp>
      <p:sp>
        <p:nvSpPr>
          <p:cNvPr id="23" name="文本框 22"/>
          <p:cNvSpPr txBox="1"/>
          <p:nvPr/>
        </p:nvSpPr>
        <p:spPr>
          <a:xfrm>
            <a:off x="8070574" y="3020823"/>
            <a:ext cx="3642001" cy="738664"/>
          </a:xfrm>
          <a:prstGeom prst="rect">
            <a:avLst/>
          </a:prstGeom>
          <a:noFill/>
        </p:spPr>
        <p:txBody>
          <a:bodyPr vert="horz" wrap="square" rtlCol="0">
            <a:spAutoFit/>
          </a:bodyPr>
          <a:lstStyle/>
          <a:p>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异常识别：</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查看此端口</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的误包数</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统计，发现此端口每个周期</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持续存在误包，</a:t>
            </a:r>
            <a:r>
              <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且</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持续时间较长。</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文本框 26"/>
          <p:cNvSpPr txBox="1"/>
          <p:nvPr/>
        </p:nvSpPr>
        <p:spPr>
          <a:xfrm>
            <a:off x="5565913" y="4722628"/>
            <a:ext cx="4854575" cy="738664"/>
          </a:xfrm>
          <a:prstGeom prst="rect">
            <a:avLst/>
          </a:prstGeom>
          <a:noFill/>
        </p:spPr>
        <p:txBody>
          <a:bodyPr vert="horz" wrap="square" rtlCol="0">
            <a:spAutoFit/>
          </a:bodyPr>
          <a:lstStyle/>
          <a:p>
            <a:r>
              <a:rPr lang="zh-CN" altLang="en-US" sz="14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根因分析：</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根据根因分析建议提示，通过在设备上敲</a:t>
            </a:r>
            <a:r>
              <a:rPr lang="en-US" altLang="zh-CN" sz="14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virtual-cable-test</a:t>
            </a:r>
            <a:r>
              <a:rPr lang="zh-CN" altLang="en-US" sz="14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命令对网线进行测试。发现网络存在串扰，更换网线后问题消失。</a:t>
            </a:r>
            <a:endParaRPr lang="zh-CN" altLang="en-US"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573645" y="1180862"/>
            <a:ext cx="7496929" cy="2578625"/>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invGray">
          <a:xfrm>
            <a:off x="573645" y="3776013"/>
            <a:ext cx="4817505" cy="2403111"/>
          </a:xfrm>
          <a:prstGeom prst="rect">
            <a:avLst/>
          </a:prstGeom>
        </p:spPr>
      </p:pic>
    </p:spTree>
    <p:extLst>
      <p:ext uri="{BB962C8B-B14F-4D97-AF65-F5344CB8AC3E}">
        <p14:creationId xmlns:p14="http://schemas.microsoft.com/office/powerpoint/2010/main" val="120448403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端口闪断问题</a:t>
            </a:r>
            <a:endParaRPr lang="zh-CN" altLang="en-US" dirty="0">
              <a:sym typeface="Huawei Sans" panose="020C0503030203020204" pitchFamily="34" charset="0"/>
            </a:endParaRPr>
          </a:p>
        </p:txBody>
      </p:sp>
      <p:sp>
        <p:nvSpPr>
          <p:cNvPr id="3" name="燕尾形 2"/>
          <p:cNvSpPr/>
          <p:nvPr/>
        </p:nvSpPr>
        <p:spPr bwMode="gray">
          <a:xfrm>
            <a:off x="964275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7"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7"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214"/>
          <p:cNvSpPr txBox="1"/>
          <p:nvPr/>
        </p:nvSpPr>
        <p:spPr bwMode="gray">
          <a:xfrm>
            <a:off x="492462" y="1579807"/>
            <a:ext cx="4464046" cy="418379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6213" indent="-176213" algn="just">
              <a:lnSpc>
                <a:spcPts val="2600"/>
              </a:lnSpc>
              <a:spcAft>
                <a:spcPts val="300"/>
              </a:spcAft>
              <a:buFont typeface="Arial" panose="020B0604020202020204" pitchFamily="34" charset="0"/>
              <a:buChar char="•"/>
            </a:pPr>
            <a:r>
              <a:rPr lang="zh-CN" altLang="en-US"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业务影响：</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设备端口频繁</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出现</a:t>
            </a:r>
            <a:r>
              <a:rPr lang="en-US" altLang="zh-CN"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Up/Down</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导致端口物理层面直接断开，业务中断，业务连续性严重</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受损。</a:t>
            </a:r>
            <a:endParaRPr lang="en-US" altLang="zh-CN"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gn="just">
              <a:lnSpc>
                <a:spcPts val="2600"/>
              </a:lnSpc>
              <a:spcAft>
                <a:spcPts val="300"/>
              </a:spcAft>
              <a:buFont typeface="Arial" panose="020B0604020202020204" pitchFamily="34" charset="0"/>
              <a:buChar char="•"/>
            </a:pPr>
            <a:r>
              <a:rPr lang="zh-CN" altLang="en-US"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识别：</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监测每个端口</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Up/Down</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事件</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，短时间内</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频繁出现该事件则识别为异常。</a:t>
            </a:r>
            <a:endPar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76213" indent="-176213" algn="just">
              <a:lnSpc>
                <a:spcPts val="2600"/>
              </a:lnSpc>
              <a:spcAft>
                <a:spcPts val="300"/>
              </a:spcAft>
              <a:buFont typeface="Arial" panose="020B0604020202020204" pitchFamily="34" charset="0"/>
              <a:buChar char="•"/>
            </a:pPr>
            <a:r>
              <a:rPr lang="zh-CN" altLang="en-US"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根</a:t>
            </a: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因分析</a:t>
            </a:r>
            <a:r>
              <a:rPr lang="zh-CN" altLang="en-US"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17577" lvl="1" indent="-342900" algn="just">
              <a:lnSpc>
                <a:spcPts val="2600"/>
              </a:lnSpc>
              <a:spcAft>
                <a:spcPts val="300"/>
              </a:spcAft>
              <a:buFont typeface="+mj-lt"/>
              <a:buAutoNum type="arabicPeriod"/>
            </a:pPr>
            <a:r>
              <a:rPr lang="zh-CN" altLang="en-US" sz="14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相关性分析：</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Up/Down</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端口状态时间维度相关性检查，确认是否因为两端双工模式、协商速率不一致，导致端口反复协商，引发端口</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频繁</a:t>
            </a:r>
            <a:r>
              <a:rPr lang="en-US" altLang="zh-CN"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Up/Down</a:t>
            </a: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17577" lvl="1" indent="-342900" algn="just">
              <a:lnSpc>
                <a:spcPts val="2600"/>
              </a:lnSpc>
              <a:spcAft>
                <a:spcPts val="300"/>
              </a:spcAft>
              <a:buFont typeface="+mj-lt"/>
              <a:buAutoNum type="arabicPeriod"/>
            </a:pPr>
            <a:r>
              <a:rPr lang="zh-CN" altLang="en-US" sz="14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a:t>
            </a: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线缆检测</a:t>
            </a:r>
            <a:r>
              <a:rPr lang="zh-CN" altLang="en-US" sz="14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引导用户进行端口线缆测试，确认是否线缆水晶头内部虚连接等问题导致反复协商。</a:t>
            </a:r>
          </a:p>
        </p:txBody>
      </p:sp>
      <p:sp>
        <p:nvSpPr>
          <p:cNvPr id="17" name="矩形 16"/>
          <p:cNvSpPr/>
          <p:nvPr/>
        </p:nvSpPr>
        <p:spPr bwMode="gray">
          <a:xfrm>
            <a:off x="492462" y="1166022"/>
            <a:ext cx="4464044"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关键技术</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5026081" y="1649381"/>
            <a:ext cx="6607553" cy="1779619"/>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invGray">
          <a:xfrm>
            <a:off x="5026081" y="3429000"/>
            <a:ext cx="6607553" cy="2399197"/>
          </a:xfrm>
          <a:prstGeom prst="rect">
            <a:avLst/>
          </a:prstGeom>
        </p:spPr>
      </p:pic>
      <p:sp>
        <p:nvSpPr>
          <p:cNvPr id="16" name="矩形 15"/>
          <p:cNvSpPr/>
          <p:nvPr/>
        </p:nvSpPr>
        <p:spPr>
          <a:xfrm>
            <a:off x="5026080" y="1875849"/>
            <a:ext cx="6607553" cy="268621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矩形 17"/>
          <p:cNvSpPr/>
          <p:nvPr/>
        </p:nvSpPr>
        <p:spPr>
          <a:xfrm>
            <a:off x="5026080" y="4562061"/>
            <a:ext cx="6607553" cy="1266136"/>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a:xfrm>
            <a:off x="9305867" y="1756196"/>
            <a:ext cx="1800493" cy="307777"/>
          </a:xfrm>
          <a:prstGeom prst="rect">
            <a:avLst/>
          </a:prstGeom>
          <a:solidFill>
            <a:schemeClr val="bg1">
              <a:lumMod val="50000"/>
            </a:schemeClr>
          </a:solidFill>
        </p:spPr>
        <p:txBody>
          <a:bodyPr vert="horz" wrap="none" rtlCol="0">
            <a:spAutoFit/>
          </a:bodyPr>
          <a:lstStyle/>
          <a:p>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时间维度相关性分析</a:t>
            </a:r>
          </a:p>
        </p:txBody>
      </p:sp>
      <p:sp>
        <p:nvSpPr>
          <p:cNvPr id="20" name="矩形 19"/>
          <p:cNvSpPr/>
          <p:nvPr/>
        </p:nvSpPr>
        <p:spPr>
          <a:xfrm>
            <a:off x="9305867" y="4685906"/>
            <a:ext cx="1261884" cy="307777"/>
          </a:xfrm>
          <a:prstGeom prst="rect">
            <a:avLst/>
          </a:prstGeom>
          <a:solidFill>
            <a:schemeClr val="bg1">
              <a:lumMod val="50000"/>
            </a:schemeClr>
          </a:solidFill>
        </p:spPr>
        <p:txBody>
          <a:bodyPr vert="horz" wrap="none" rtlCol="0">
            <a:spAutoFit/>
          </a:bodyPr>
          <a:lstStyle/>
          <a:p>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端口线缆测试</a:t>
            </a:r>
          </a:p>
        </p:txBody>
      </p:sp>
    </p:spTree>
    <p:extLst>
      <p:ext uri="{BB962C8B-B14F-4D97-AF65-F5344CB8AC3E}">
        <p14:creationId xmlns:p14="http://schemas.microsoft.com/office/powerpoint/2010/main" val="205988611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bwMode="invGray">
          <a:xfrm>
            <a:off x="971381" y="4411259"/>
            <a:ext cx="9815411" cy="1767993"/>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13</a:t>
            </a:r>
            <a:r>
              <a:rPr lang="zh-CN" altLang="en-US" dirty="0" smtClean="0">
                <a:sym typeface="Huawei Sans" panose="020C0503030203020204" pitchFamily="34" charset="0"/>
              </a:rPr>
              <a:t>：端口</a:t>
            </a:r>
            <a:r>
              <a:rPr lang="zh-CN" altLang="en-US" dirty="0">
                <a:sym typeface="Huawei Sans" panose="020C0503030203020204" pitchFamily="34" charset="0"/>
              </a:rPr>
              <a:t>闪</a:t>
            </a:r>
            <a:r>
              <a:rPr lang="zh-CN" altLang="en-US" dirty="0" smtClean="0">
                <a:sym typeface="Huawei Sans" panose="020C0503030203020204" pitchFamily="34" charset="0"/>
              </a:rPr>
              <a:t>断问题分析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燕尾形 2"/>
          <p:cNvSpPr/>
          <p:nvPr/>
        </p:nvSpPr>
        <p:spPr bwMode="gray">
          <a:xfrm>
            <a:off x="964275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7"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2"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7"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Working with Partners to Build One of the Five Clouds for an Intelligent World"/>
          <p:cNvSpPr txBox="1"/>
          <p:nvPr/>
        </p:nvSpPr>
        <p:spPr bwMode="gray">
          <a:xfrm>
            <a:off x="455613" y="968330"/>
            <a:ext cx="11256962" cy="1145680"/>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案例</a:t>
            </a:r>
            <a:r>
              <a:rPr lang="zh-CN" altLang="en-US" sz="14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描述</a:t>
            </a:r>
            <a:r>
              <a:rPr lang="zh-CN" altLang="en-US" sz="14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某公司员工小网，早上上班后打开笔记本办公，发现笔记本频繁出现断网，严重影响日常办公。</a:t>
            </a:r>
          </a:p>
          <a:p>
            <a:pPr hangingPunct="0">
              <a:lnSpc>
                <a:spcPts val="2400"/>
              </a:lnSpc>
              <a:spcAft>
                <a:spcPts val="600"/>
              </a:spcAft>
            </a:pP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经过</a:t>
            </a:r>
            <a:r>
              <a:rPr lang="en-US" altLang="zh-CN"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CampusInsight</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快速定位，发现此用户接入的有线端口存在频繁闪断情况，最终排查为网线水晶头内部线路出现虚连接，导致端口出现</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断开</a:t>
            </a:r>
            <a:r>
              <a:rPr lang="en-US" altLang="zh-CN"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连通现象。更换</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网线后故障</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消失，业务</a:t>
            </a:r>
            <a:r>
              <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恢复</a:t>
            </a:r>
            <a:r>
              <a:rPr lang="zh-CN" altLang="en-US" sz="1400"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a:t>
            </a:r>
            <a:endParaRPr lang="zh-CN" altLang="en-US" sz="1400"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660237" y="2139632"/>
            <a:ext cx="5066349" cy="276999"/>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“健康度”</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“待处理</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Issues</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文本框 15"/>
          <p:cNvSpPr txBox="1"/>
          <p:nvPr/>
        </p:nvSpPr>
        <p:spPr>
          <a:xfrm>
            <a:off x="660237" y="4134260"/>
            <a:ext cx="6969288" cy="276999"/>
          </a:xfrm>
          <a:prstGeom prst="rect">
            <a:avLst/>
          </a:prstGeom>
          <a:noFill/>
        </p:spPr>
        <p:txBody>
          <a:bodyPr vert="horz" wrap="square" rtlCol="0">
            <a:spAutoFit/>
          </a:bodyPr>
          <a:lstStyle/>
          <a:p>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“待处理</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Issues</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页面</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发现</a:t>
            </a: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Edge-1</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设备端口出现持续的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“端口闪断”</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问题。</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a:xfrm>
            <a:off x="1257519" y="5101937"/>
            <a:ext cx="8645433" cy="226838"/>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a:stretch>
            <a:fillRect/>
          </a:stretch>
        </p:blipFill>
        <p:spPr bwMode="invGray">
          <a:xfrm>
            <a:off x="973762" y="2425312"/>
            <a:ext cx="2905282" cy="1558932"/>
          </a:xfrm>
          <a:prstGeom prst="rect">
            <a:avLst/>
          </a:prstGeom>
        </p:spPr>
      </p:pic>
      <p:sp>
        <p:nvSpPr>
          <p:cNvPr id="21" name="矩形 20"/>
          <p:cNvSpPr/>
          <p:nvPr/>
        </p:nvSpPr>
        <p:spPr>
          <a:xfrm>
            <a:off x="2504896" y="3011798"/>
            <a:ext cx="968890" cy="21651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4969102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13</a:t>
            </a:r>
            <a:r>
              <a:rPr lang="zh-CN" altLang="en-US" dirty="0" smtClean="0">
                <a:sym typeface="Huawei Sans" panose="020C0503030203020204" pitchFamily="34" charset="0"/>
              </a:rPr>
              <a:t>：端口</a:t>
            </a:r>
            <a:r>
              <a:rPr lang="zh-CN" altLang="en-US" dirty="0">
                <a:sym typeface="Huawei Sans" panose="020C0503030203020204" pitchFamily="34" charset="0"/>
              </a:rPr>
              <a:t>闪</a:t>
            </a:r>
            <a:r>
              <a:rPr lang="zh-CN" altLang="en-US" dirty="0" smtClean="0">
                <a:sym typeface="Huawei Sans" panose="020C0503030203020204" pitchFamily="34" charset="0"/>
              </a:rPr>
              <a:t>断问题分析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3" name="燕尾形 2"/>
          <p:cNvSpPr/>
          <p:nvPr/>
        </p:nvSpPr>
        <p:spPr bwMode="gray">
          <a:xfrm>
            <a:off x="964275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性能类问题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燕尾形 3"/>
          <p:cNvSpPr/>
          <p:nvPr/>
        </p:nvSpPr>
        <p:spPr bwMode="gray">
          <a:xfrm>
            <a:off x="8634415" y="124239"/>
            <a:ext cx="1080000" cy="21045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连接类问题</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五边形 4"/>
          <p:cNvSpPr/>
          <p:nvPr/>
        </p:nvSpPr>
        <p:spPr bwMode="gray">
          <a:xfrm>
            <a:off x="7724890" y="124239"/>
            <a:ext cx="900000" cy="213120"/>
          </a:xfrm>
          <a:prstGeom prst="homePlate">
            <a:avLst/>
          </a:prstGeom>
          <a:solidFill>
            <a:srgbClr val="C7000B"/>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群障</a:t>
            </a: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分析</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63204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设备类问题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a:xfrm>
            <a:off x="7724889" y="1430697"/>
            <a:ext cx="3987685" cy="461665"/>
          </a:xfrm>
          <a:prstGeom prst="rect">
            <a:avLst/>
          </a:prstGeom>
          <a:noFill/>
        </p:spPr>
        <p:txBody>
          <a:bodyPr vert="horz" wrap="square" rtlCol="0">
            <a:spAutoFit/>
          </a:bodyPr>
          <a:lstStyle/>
          <a:p>
            <a:r>
              <a:rPr lang="zh-CN" altLang="en-US" sz="12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端口</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D</a:t>
            </a: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own</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次数趋势统计，说明此端口</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频繁发生</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端口</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Down</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事件，且持续时间较</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长。</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文本框 25"/>
          <p:cNvSpPr txBox="1"/>
          <p:nvPr/>
        </p:nvSpPr>
        <p:spPr>
          <a:xfrm>
            <a:off x="587039" y="966333"/>
            <a:ext cx="4061161" cy="276999"/>
          </a:xfrm>
          <a:prstGeom prst="rect">
            <a:avLst/>
          </a:prstGeom>
          <a:noFill/>
        </p:spPr>
        <p:txBody>
          <a:bodyPr vert="horz" wrap="square" rtlCol="0">
            <a:spAutoFit/>
          </a:bodyPr>
          <a:lstStyle/>
          <a:p>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、点击问题展开</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“端口闪断”</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详情分析。</a:t>
            </a:r>
          </a:p>
        </p:txBody>
      </p:sp>
      <p:sp>
        <p:nvSpPr>
          <p:cNvPr id="28" name="文本框 27"/>
          <p:cNvSpPr txBox="1"/>
          <p:nvPr/>
        </p:nvSpPr>
        <p:spPr>
          <a:xfrm>
            <a:off x="7685511" y="3023393"/>
            <a:ext cx="4057807" cy="2031325"/>
          </a:xfrm>
          <a:prstGeom prst="rect">
            <a:avLst/>
          </a:prstGeom>
          <a:noFill/>
        </p:spPr>
        <p:txBody>
          <a:bodyPr vert="horz" wrap="square" rtlCol="0">
            <a:spAutoFit/>
          </a:bodyPr>
          <a:lstStyle/>
          <a:p>
            <a:pPr>
              <a:lnSpc>
                <a:spcPct val="150000"/>
              </a:lnSpc>
            </a:pPr>
            <a:r>
              <a:rPr lang="zh-CN" altLang="en-US" sz="12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根因分析：</a:t>
            </a:r>
            <a:endParaRPr lang="en-US" altLang="zh-CN" sz="12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nSpc>
                <a:spcPct val="150000"/>
              </a:lnSpc>
            </a:pP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、端口</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闪断问题时间段内，端口上的</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协商速率</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出现多次跳</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变</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，端口不停的进行端口协商，</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引发端口</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闪</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断。</a:t>
            </a:r>
            <a:endPar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nSpc>
                <a:spcPct val="150000"/>
              </a:lnSpc>
            </a:pPr>
            <a:r>
              <a:rPr lang="en-US" altLang="zh-CN"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、按照排障建议</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virtual-cable-test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命令对</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端口网线进行线路检测，发现此网线只有</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两对四根线连通</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，导致速率出现变化引发闪断（</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正常应该</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为四对八根线连通），经检查为网线水晶头问题，重做水晶头后问题</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消失</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pic>
        <p:nvPicPr>
          <p:cNvPr id="41" name="图片 40"/>
          <p:cNvPicPr/>
          <p:nvPr/>
        </p:nvPicPr>
        <p:blipFill rotWithShape="1">
          <a:blip r:embed="rId3"/>
          <a:srcRect t="8161"/>
          <a:stretch/>
        </p:blipFill>
        <p:spPr bwMode="invGray">
          <a:xfrm>
            <a:off x="764453" y="1282217"/>
            <a:ext cx="6580843" cy="1785166"/>
          </a:xfrm>
          <a:prstGeom prst="rect">
            <a:avLst/>
          </a:prstGeom>
        </p:spPr>
      </p:pic>
      <p:pic>
        <p:nvPicPr>
          <p:cNvPr id="42" name="图片 41"/>
          <p:cNvPicPr>
            <a:picLocks noChangeAspect="1"/>
          </p:cNvPicPr>
          <p:nvPr/>
        </p:nvPicPr>
        <p:blipFill>
          <a:blip r:embed="rId4"/>
          <a:stretch>
            <a:fillRect/>
          </a:stretch>
        </p:blipFill>
        <p:spPr bwMode="invGray">
          <a:xfrm>
            <a:off x="764453" y="3106267"/>
            <a:ext cx="6928781" cy="1347705"/>
          </a:xfrm>
          <a:prstGeom prst="rect">
            <a:avLst/>
          </a:prstGeom>
        </p:spPr>
      </p:pic>
      <p:pic>
        <p:nvPicPr>
          <p:cNvPr id="43" name="图片 42"/>
          <p:cNvPicPr>
            <a:picLocks noChangeAspect="1"/>
          </p:cNvPicPr>
          <p:nvPr/>
        </p:nvPicPr>
        <p:blipFill>
          <a:blip r:embed="rId5"/>
          <a:stretch>
            <a:fillRect/>
          </a:stretch>
        </p:blipFill>
        <p:spPr bwMode="invGray">
          <a:xfrm>
            <a:off x="764454" y="4442302"/>
            <a:ext cx="5331546" cy="1758473"/>
          </a:xfrm>
          <a:prstGeom prst="rect">
            <a:avLst/>
          </a:prstGeom>
        </p:spPr>
      </p:pic>
      <p:sp>
        <p:nvSpPr>
          <p:cNvPr id="33" name="矩形 32"/>
          <p:cNvSpPr/>
          <p:nvPr/>
        </p:nvSpPr>
        <p:spPr>
          <a:xfrm>
            <a:off x="764453" y="1918471"/>
            <a:ext cx="6360247" cy="113149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5" name="图片 34"/>
          <p:cNvPicPr>
            <a:picLocks noChangeAspect="1"/>
          </p:cNvPicPr>
          <p:nvPr/>
        </p:nvPicPr>
        <p:blipFill>
          <a:blip r:embed="rId6"/>
          <a:stretch>
            <a:fillRect/>
          </a:stretch>
        </p:blipFill>
        <p:spPr bwMode="invGray">
          <a:xfrm>
            <a:off x="6702375" y="5128795"/>
            <a:ext cx="4931109" cy="957811"/>
          </a:xfrm>
          <a:prstGeom prst="rect">
            <a:avLst/>
          </a:prstGeom>
        </p:spPr>
      </p:pic>
      <p:sp>
        <p:nvSpPr>
          <p:cNvPr id="37" name="文本框 36"/>
          <p:cNvSpPr txBox="1"/>
          <p:nvPr/>
        </p:nvSpPr>
        <p:spPr>
          <a:xfrm>
            <a:off x="9986566" y="5729541"/>
            <a:ext cx="1620957" cy="307777"/>
          </a:xfrm>
          <a:prstGeom prst="rect">
            <a:avLst/>
          </a:prstGeom>
          <a:solidFill>
            <a:schemeClr val="bg1">
              <a:lumMod val="50000"/>
            </a:schemeClr>
          </a:solidFill>
        </p:spPr>
        <p:txBody>
          <a:bodyPr vert="horz" wrap="none" rtlCol="0">
            <a:spAutoFit/>
          </a:bodyPr>
          <a:lstStyle>
            <a:defPPr>
              <a:defRPr lang="en-US"/>
            </a:defPPr>
            <a:lvl1pPr>
              <a:defRPr sz="1400" b="1">
                <a:solidFill>
                  <a:schemeClr val="bg1"/>
                </a:solidFill>
                <a:cs typeface="+mn-ea"/>
              </a:defRPr>
            </a:lvl1pPr>
          </a:lstStyle>
          <a:p>
            <a:r>
              <a:rPr lang="zh-CN" altLang="en-US" b="0" dirty="0">
                <a:latin typeface="Huawei Sans" panose="020C0503030203020204" pitchFamily="34" charset="0"/>
                <a:ea typeface="方正兰亭黑简体" panose="02000000000000000000" pitchFamily="2" charset="-122"/>
                <a:sym typeface="Huawei Sans" panose="020C0503030203020204" pitchFamily="34" charset="0"/>
              </a:rPr>
              <a:t>问题网线测试结果</a:t>
            </a:r>
          </a:p>
        </p:txBody>
      </p:sp>
      <p:sp>
        <p:nvSpPr>
          <p:cNvPr id="39" name="圆角右箭头 38"/>
          <p:cNvSpPr/>
          <p:nvPr/>
        </p:nvSpPr>
        <p:spPr>
          <a:xfrm>
            <a:off x="6628511" y="1486957"/>
            <a:ext cx="1096379" cy="448932"/>
          </a:xfrm>
          <a:prstGeom prst="bentArrow">
            <a:avLst>
              <a:gd name="adj1" fmla="val 14670"/>
              <a:gd name="adj2" fmla="val 25000"/>
              <a:gd name="adj3" fmla="val 25000"/>
              <a:gd name="adj4" fmla="val 43750"/>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8443496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CampusInsight</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CampusInsight</a:t>
            </a:r>
            <a:r>
              <a:rPr lang="zh-CN" altLang="en-US" b="1" dirty="0" smtClean="0">
                <a:sym typeface="Huawei Sans" panose="020C0503030203020204" pitchFamily="34" charset="0"/>
              </a:rPr>
              <a:t>功能与演示</a:t>
            </a:r>
            <a:endParaRPr lang="en-US" altLang="zh-CN" b="1" dirty="0" smtClean="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Telemetry</a:t>
            </a:r>
          </a:p>
          <a:p>
            <a:pPr lvl="1"/>
            <a:r>
              <a:rPr lang="zh-CN" altLang="en-US" dirty="0">
                <a:solidFill>
                  <a:schemeClr val="bg1">
                    <a:lumMod val="50000"/>
                  </a:schemeClr>
                </a:solidFill>
                <a:sym typeface="Huawei Sans" panose="020C0503030203020204" pitchFamily="34" charset="0"/>
              </a:rPr>
              <a:t>可视</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分析</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调</a:t>
            </a:r>
            <a:r>
              <a:rPr lang="zh-CN" altLang="en-US" dirty="0" smtClean="0">
                <a:sym typeface="Huawei Sans" panose="020C0503030203020204" pitchFamily="34" charset="0"/>
              </a:rPr>
              <a:t>优</a:t>
            </a:r>
            <a:endParaRPr lang="en-US" altLang="zh-CN" dirty="0" smtClean="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保障</a:t>
            </a:r>
            <a:endParaRPr lang="en-US" altLang="zh-CN" dirty="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65880867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AI</a:t>
            </a:r>
            <a:r>
              <a:rPr lang="zh-CN" altLang="en-US" smtClean="0">
                <a:sym typeface="Huawei Sans" panose="020C0503030203020204" pitchFamily="34" charset="0"/>
              </a:rPr>
              <a:t>加持的智能无线射频调优，提升整网性能</a:t>
            </a:r>
            <a:endParaRPr lang="zh-CN" altLang="en-US" dirty="0">
              <a:sym typeface="Huawei Sans" panose="020C0503030203020204" pitchFamily="34" charset="0"/>
            </a:endParaRPr>
          </a:p>
        </p:txBody>
      </p:sp>
      <p:sp>
        <p:nvSpPr>
          <p:cNvPr id="3" name="梯形 43"/>
          <p:cNvSpPr/>
          <p:nvPr/>
        </p:nvSpPr>
        <p:spPr bwMode="gray">
          <a:xfrm>
            <a:off x="937259" y="5072051"/>
            <a:ext cx="5030119" cy="1020372"/>
          </a:xfrm>
          <a:custGeom>
            <a:avLst/>
            <a:gdLst>
              <a:gd name="connsiteX0" fmla="*/ 0 w 6925908"/>
              <a:gd name="connsiteY0" fmla="*/ 484094 h 484094"/>
              <a:gd name="connsiteX1" fmla="*/ 1017832 w 6925908"/>
              <a:gd name="connsiteY1" fmla="*/ 0 h 484094"/>
              <a:gd name="connsiteX2" fmla="*/ 5908076 w 6925908"/>
              <a:gd name="connsiteY2" fmla="*/ 0 h 484094"/>
              <a:gd name="connsiteX3" fmla="*/ 6925908 w 6925908"/>
              <a:gd name="connsiteY3" fmla="*/ 484094 h 484094"/>
              <a:gd name="connsiteX4" fmla="*/ 0 w 6925908"/>
              <a:gd name="connsiteY4" fmla="*/ 484094 h 484094"/>
              <a:gd name="connsiteX0" fmla="*/ 0 w 6936776"/>
              <a:gd name="connsiteY0" fmla="*/ 484094 h 484094"/>
              <a:gd name="connsiteX1" fmla="*/ 1017832 w 6936776"/>
              <a:gd name="connsiteY1" fmla="*/ 0 h 484094"/>
              <a:gd name="connsiteX2" fmla="*/ 6936776 w 6936776"/>
              <a:gd name="connsiteY2" fmla="*/ 0 h 484094"/>
              <a:gd name="connsiteX3" fmla="*/ 6925908 w 6936776"/>
              <a:gd name="connsiteY3" fmla="*/ 484094 h 484094"/>
              <a:gd name="connsiteX4" fmla="*/ 0 w 6936776"/>
              <a:gd name="connsiteY4" fmla="*/ 484094 h 484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6776" h="484094">
                <a:moveTo>
                  <a:pt x="0" y="484094"/>
                </a:moveTo>
                <a:lnTo>
                  <a:pt x="1017832" y="0"/>
                </a:lnTo>
                <a:lnTo>
                  <a:pt x="6936776" y="0"/>
                </a:lnTo>
                <a:lnTo>
                  <a:pt x="6925908" y="484094"/>
                </a:lnTo>
                <a:lnTo>
                  <a:pt x="0" y="484094"/>
                </a:lnTo>
                <a:close/>
              </a:path>
            </a:pathLst>
          </a:custGeom>
          <a:gradFill flip="none" rotWithShape="1">
            <a:gsLst>
              <a:gs pos="0">
                <a:srgbClr val="B5B5B5">
                  <a:alpha val="50000"/>
                </a:srgbClr>
              </a:gs>
              <a:gs pos="56000">
                <a:srgbClr val="DDDDDD">
                  <a:alpha val="0"/>
                </a:srgbClr>
              </a:gs>
            </a:gsLst>
            <a:lin ang="16200000" scaled="1"/>
            <a:tileRect/>
          </a:gradFill>
          <a:ln w="6350" cap="flat" cmpd="sng" algn="ctr">
            <a:gradFill flip="none" rotWithShape="1">
              <a:gsLst>
                <a:gs pos="0">
                  <a:srgbClr val="666666">
                    <a:lumMod val="75000"/>
                    <a:alpha val="65000"/>
                  </a:srgbClr>
                </a:gs>
                <a:gs pos="100000">
                  <a:srgbClr val="FFFFFF">
                    <a:lumMod val="65000"/>
                    <a:alpha val="0"/>
                  </a:srgbClr>
                </a:gs>
              </a:gsLst>
              <a:lin ang="16200000" scaled="1"/>
              <a:tileRect/>
            </a:gradFill>
            <a:prstDash val="solid"/>
            <a:miter lim="800000"/>
          </a:ln>
          <a:effectLst/>
        </p:spPr>
        <p:txBody>
          <a:bodyPr lIns="49744" tIns="24872" rIns="49744" bIns="24872"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梯形 43"/>
          <p:cNvSpPr/>
          <p:nvPr/>
        </p:nvSpPr>
        <p:spPr bwMode="gray">
          <a:xfrm flipH="1">
            <a:off x="6246195" y="5072051"/>
            <a:ext cx="5097522" cy="990942"/>
          </a:xfrm>
          <a:custGeom>
            <a:avLst/>
            <a:gdLst>
              <a:gd name="connsiteX0" fmla="*/ 0 w 6925908"/>
              <a:gd name="connsiteY0" fmla="*/ 484094 h 484094"/>
              <a:gd name="connsiteX1" fmla="*/ 1017832 w 6925908"/>
              <a:gd name="connsiteY1" fmla="*/ 0 h 484094"/>
              <a:gd name="connsiteX2" fmla="*/ 5908076 w 6925908"/>
              <a:gd name="connsiteY2" fmla="*/ 0 h 484094"/>
              <a:gd name="connsiteX3" fmla="*/ 6925908 w 6925908"/>
              <a:gd name="connsiteY3" fmla="*/ 484094 h 484094"/>
              <a:gd name="connsiteX4" fmla="*/ 0 w 6925908"/>
              <a:gd name="connsiteY4" fmla="*/ 484094 h 484094"/>
              <a:gd name="connsiteX0" fmla="*/ 0 w 6936776"/>
              <a:gd name="connsiteY0" fmla="*/ 484094 h 484094"/>
              <a:gd name="connsiteX1" fmla="*/ 1017832 w 6936776"/>
              <a:gd name="connsiteY1" fmla="*/ 0 h 484094"/>
              <a:gd name="connsiteX2" fmla="*/ 6936776 w 6936776"/>
              <a:gd name="connsiteY2" fmla="*/ 0 h 484094"/>
              <a:gd name="connsiteX3" fmla="*/ 6925908 w 6936776"/>
              <a:gd name="connsiteY3" fmla="*/ 484094 h 484094"/>
              <a:gd name="connsiteX4" fmla="*/ 0 w 6936776"/>
              <a:gd name="connsiteY4" fmla="*/ 484094 h 484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6776" h="484094">
                <a:moveTo>
                  <a:pt x="0" y="484094"/>
                </a:moveTo>
                <a:lnTo>
                  <a:pt x="1017832" y="0"/>
                </a:lnTo>
                <a:lnTo>
                  <a:pt x="6936776" y="0"/>
                </a:lnTo>
                <a:lnTo>
                  <a:pt x="6925908" y="484094"/>
                </a:lnTo>
                <a:lnTo>
                  <a:pt x="0" y="484094"/>
                </a:lnTo>
                <a:close/>
              </a:path>
            </a:pathLst>
          </a:custGeom>
          <a:gradFill flip="none" rotWithShape="1">
            <a:gsLst>
              <a:gs pos="0">
                <a:srgbClr val="B5B5B5">
                  <a:alpha val="50000"/>
                </a:srgbClr>
              </a:gs>
              <a:gs pos="56000">
                <a:srgbClr val="DDDDDD">
                  <a:alpha val="0"/>
                </a:srgbClr>
              </a:gs>
            </a:gsLst>
            <a:lin ang="16200000" scaled="1"/>
            <a:tileRect/>
          </a:gradFill>
          <a:ln w="6350" cap="flat" cmpd="sng" algn="ctr">
            <a:gradFill flip="none" rotWithShape="1">
              <a:gsLst>
                <a:gs pos="0">
                  <a:srgbClr val="666666">
                    <a:lumMod val="75000"/>
                    <a:alpha val="65000"/>
                  </a:srgbClr>
                </a:gs>
                <a:gs pos="100000">
                  <a:srgbClr val="FFFFFF">
                    <a:lumMod val="65000"/>
                    <a:alpha val="0"/>
                  </a:srgbClr>
                </a:gs>
              </a:gsLst>
              <a:lin ang="16200000" scaled="1"/>
              <a:tileRect/>
            </a:gradFill>
            <a:prstDash val="solid"/>
            <a:miter lim="800000"/>
          </a:ln>
          <a:effectLst/>
        </p:spPr>
        <p:txBody>
          <a:bodyPr lIns="49744" tIns="24872" rIns="49744" bIns="24872"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TextBox 342"/>
          <p:cNvSpPr txBox="1"/>
          <p:nvPr/>
        </p:nvSpPr>
        <p:spPr bwMode="gray">
          <a:xfrm>
            <a:off x="1715643" y="2355263"/>
            <a:ext cx="3103473" cy="369304"/>
          </a:xfrm>
          <a:prstGeom prst="rect">
            <a:avLst/>
          </a:prstGeom>
          <a:noFill/>
        </p:spPr>
        <p:txBody>
          <a:bodyPr wrap="square" lIns="91413" tIns="45706" rIns="91413" bIns="45706" rtlCol="0">
            <a:spAutoFit/>
          </a:bodyPr>
          <a:lstStyle/>
          <a:p>
            <a:pPr algn="ctr" defTabSz="1219028">
              <a:buSzPct val="100000"/>
            </a:pPr>
            <a:r>
              <a:rPr lang="zh-CN" altLang="en-US"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场景</a:t>
            </a:r>
            <a:r>
              <a:rPr lang="en-US" altLang="zh-CN"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：人工调优</a:t>
            </a:r>
            <a:endPar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6" name="组合 22"/>
          <p:cNvGrpSpPr/>
          <p:nvPr/>
        </p:nvGrpSpPr>
        <p:grpSpPr bwMode="gray">
          <a:xfrm>
            <a:off x="2906322" y="1503492"/>
            <a:ext cx="722115" cy="402185"/>
            <a:chOff x="9383944" y="1327457"/>
            <a:chExt cx="275230" cy="152436"/>
          </a:xfrm>
          <a:solidFill>
            <a:srgbClr val="C7000B"/>
          </a:solidFill>
        </p:grpSpPr>
        <p:sp>
          <p:nvSpPr>
            <p:cNvPr id="7" name="Freeform 144"/>
            <p:cNvSpPr>
              <a:spLocks/>
            </p:cNvSpPr>
            <p:nvPr/>
          </p:nvSpPr>
          <p:spPr bwMode="gray">
            <a:xfrm>
              <a:off x="9515207" y="1327457"/>
              <a:ext cx="55046" cy="67749"/>
            </a:xfrm>
            <a:custGeom>
              <a:avLst/>
              <a:gdLst>
                <a:gd name="T0" fmla="*/ 47 w 47"/>
                <a:gd name="T1" fmla="*/ 8 h 59"/>
                <a:gd name="T2" fmla="*/ 47 w 47"/>
                <a:gd name="T3" fmla="*/ 8 h 59"/>
                <a:gd name="T4" fmla="*/ 7 w 47"/>
                <a:gd name="T5" fmla="*/ 0 h 59"/>
                <a:gd name="T6" fmla="*/ 0 w 47"/>
                <a:gd name="T7" fmla="*/ 51 h 59"/>
                <a:gd name="T8" fmla="*/ 18 w 47"/>
                <a:gd name="T9" fmla="*/ 59 h 59"/>
                <a:gd name="T10" fmla="*/ 47 w 47"/>
                <a:gd name="T11" fmla="*/ 8 h 59"/>
              </a:gdLst>
              <a:ahLst/>
              <a:cxnLst>
                <a:cxn ang="0">
                  <a:pos x="T0" y="T1"/>
                </a:cxn>
                <a:cxn ang="0">
                  <a:pos x="T2" y="T3"/>
                </a:cxn>
                <a:cxn ang="0">
                  <a:pos x="T4" y="T5"/>
                </a:cxn>
                <a:cxn ang="0">
                  <a:pos x="T6" y="T7"/>
                </a:cxn>
                <a:cxn ang="0">
                  <a:pos x="T8" y="T9"/>
                </a:cxn>
                <a:cxn ang="0">
                  <a:pos x="T10" y="T11"/>
                </a:cxn>
              </a:cxnLst>
              <a:rect l="0" t="0" r="r" b="b"/>
              <a:pathLst>
                <a:path w="47" h="59">
                  <a:moveTo>
                    <a:pt x="47" y="8"/>
                  </a:moveTo>
                  <a:lnTo>
                    <a:pt x="47" y="8"/>
                  </a:lnTo>
                  <a:cubicBezTo>
                    <a:pt x="35" y="3"/>
                    <a:pt x="21" y="0"/>
                    <a:pt x="7" y="0"/>
                  </a:cubicBezTo>
                  <a:lnTo>
                    <a:pt x="0" y="51"/>
                  </a:lnTo>
                  <a:cubicBezTo>
                    <a:pt x="6" y="53"/>
                    <a:pt x="12" y="56"/>
                    <a:pt x="18" y="59"/>
                  </a:cubicBezTo>
                  <a:lnTo>
                    <a:pt x="47" y="8"/>
                  </a:ln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Freeform 145"/>
            <p:cNvSpPr>
              <a:spLocks/>
            </p:cNvSpPr>
            <p:nvPr/>
          </p:nvSpPr>
          <p:spPr bwMode="gray">
            <a:xfrm>
              <a:off x="9386062" y="1420612"/>
              <a:ext cx="27522" cy="29640"/>
            </a:xfrm>
            <a:custGeom>
              <a:avLst/>
              <a:gdLst>
                <a:gd name="T0" fmla="*/ 25 w 25"/>
                <a:gd name="T1" fmla="*/ 13 h 26"/>
                <a:gd name="T2" fmla="*/ 25 w 25"/>
                <a:gd name="T3" fmla="*/ 13 h 26"/>
                <a:gd name="T4" fmla="*/ 5 w 25"/>
                <a:gd name="T5" fmla="*/ 0 h 26"/>
                <a:gd name="T6" fmla="*/ 0 w 25"/>
                <a:gd name="T7" fmla="*/ 21 h 26"/>
                <a:gd name="T8" fmla="*/ 20 w 25"/>
                <a:gd name="T9" fmla="*/ 26 h 26"/>
                <a:gd name="T10" fmla="*/ 25 w 25"/>
                <a:gd name="T11" fmla="*/ 13 h 26"/>
              </a:gdLst>
              <a:ahLst/>
              <a:cxnLst>
                <a:cxn ang="0">
                  <a:pos x="T0" y="T1"/>
                </a:cxn>
                <a:cxn ang="0">
                  <a:pos x="T2" y="T3"/>
                </a:cxn>
                <a:cxn ang="0">
                  <a:pos x="T4" y="T5"/>
                </a:cxn>
                <a:cxn ang="0">
                  <a:pos x="T6" y="T7"/>
                </a:cxn>
                <a:cxn ang="0">
                  <a:pos x="T8" y="T9"/>
                </a:cxn>
                <a:cxn ang="0">
                  <a:pos x="T10" y="T11"/>
                </a:cxn>
              </a:cxnLst>
              <a:rect l="0" t="0" r="r" b="b"/>
              <a:pathLst>
                <a:path w="25" h="26">
                  <a:moveTo>
                    <a:pt x="25" y="13"/>
                  </a:moveTo>
                  <a:lnTo>
                    <a:pt x="25" y="13"/>
                  </a:lnTo>
                  <a:lnTo>
                    <a:pt x="5" y="0"/>
                  </a:lnTo>
                  <a:cubicBezTo>
                    <a:pt x="3" y="7"/>
                    <a:pt x="1" y="14"/>
                    <a:pt x="0" y="21"/>
                  </a:cubicBezTo>
                  <a:lnTo>
                    <a:pt x="20" y="26"/>
                  </a:lnTo>
                  <a:cubicBezTo>
                    <a:pt x="21" y="22"/>
                    <a:pt x="23" y="17"/>
                    <a:pt x="25" y="13"/>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Freeform 146"/>
            <p:cNvSpPr>
              <a:spLocks/>
            </p:cNvSpPr>
            <p:nvPr/>
          </p:nvSpPr>
          <p:spPr bwMode="gray">
            <a:xfrm>
              <a:off x="9396647" y="1388855"/>
              <a:ext cx="31757" cy="35992"/>
            </a:xfrm>
            <a:custGeom>
              <a:avLst/>
              <a:gdLst>
                <a:gd name="T0" fmla="*/ 29 w 29"/>
                <a:gd name="T1" fmla="*/ 21 h 32"/>
                <a:gd name="T2" fmla="*/ 29 w 29"/>
                <a:gd name="T3" fmla="*/ 21 h 32"/>
                <a:gd name="T4" fmla="*/ 11 w 29"/>
                <a:gd name="T5" fmla="*/ 0 h 32"/>
                <a:gd name="T6" fmla="*/ 0 w 29"/>
                <a:gd name="T7" fmla="*/ 19 h 32"/>
                <a:gd name="T8" fmla="*/ 21 w 29"/>
                <a:gd name="T9" fmla="*/ 32 h 32"/>
                <a:gd name="T10" fmla="*/ 29 w 29"/>
                <a:gd name="T11" fmla="*/ 21 h 32"/>
              </a:gdLst>
              <a:ahLst/>
              <a:cxnLst>
                <a:cxn ang="0">
                  <a:pos x="T0" y="T1"/>
                </a:cxn>
                <a:cxn ang="0">
                  <a:pos x="T2" y="T3"/>
                </a:cxn>
                <a:cxn ang="0">
                  <a:pos x="T4" y="T5"/>
                </a:cxn>
                <a:cxn ang="0">
                  <a:pos x="T6" y="T7"/>
                </a:cxn>
                <a:cxn ang="0">
                  <a:pos x="T8" y="T9"/>
                </a:cxn>
                <a:cxn ang="0">
                  <a:pos x="T10" y="T11"/>
                </a:cxn>
              </a:cxnLst>
              <a:rect l="0" t="0" r="r" b="b"/>
              <a:pathLst>
                <a:path w="29" h="32">
                  <a:moveTo>
                    <a:pt x="29" y="21"/>
                  </a:moveTo>
                  <a:lnTo>
                    <a:pt x="29" y="21"/>
                  </a:lnTo>
                  <a:lnTo>
                    <a:pt x="11" y="0"/>
                  </a:lnTo>
                  <a:cubicBezTo>
                    <a:pt x="7" y="6"/>
                    <a:pt x="3" y="12"/>
                    <a:pt x="0" y="19"/>
                  </a:cubicBezTo>
                  <a:lnTo>
                    <a:pt x="21" y="32"/>
                  </a:lnTo>
                  <a:cubicBezTo>
                    <a:pt x="23" y="28"/>
                    <a:pt x="26" y="25"/>
                    <a:pt x="29" y="21"/>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Freeform 147"/>
            <p:cNvSpPr>
              <a:spLocks/>
            </p:cNvSpPr>
            <p:nvPr/>
          </p:nvSpPr>
          <p:spPr bwMode="gray">
            <a:xfrm>
              <a:off x="9574488" y="1395206"/>
              <a:ext cx="84686" cy="82570"/>
            </a:xfrm>
            <a:custGeom>
              <a:avLst/>
              <a:gdLst>
                <a:gd name="T0" fmla="*/ 57 w 75"/>
                <a:gd name="T1" fmla="*/ 0 h 73"/>
                <a:gd name="T2" fmla="*/ 57 w 75"/>
                <a:gd name="T3" fmla="*/ 0 h 73"/>
                <a:gd name="T4" fmla="*/ 0 w 75"/>
                <a:gd name="T5" fmla="*/ 37 h 73"/>
                <a:gd name="T6" fmla="*/ 7 w 75"/>
                <a:gd name="T7" fmla="*/ 71 h 73"/>
                <a:gd name="T8" fmla="*/ 7 w 75"/>
                <a:gd name="T9" fmla="*/ 73 h 73"/>
                <a:gd name="T10" fmla="*/ 75 w 75"/>
                <a:gd name="T11" fmla="*/ 73 h 73"/>
                <a:gd name="T12" fmla="*/ 75 w 75"/>
                <a:gd name="T13" fmla="*/ 67 h 73"/>
                <a:gd name="T14" fmla="*/ 57 w 75"/>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73">
                  <a:moveTo>
                    <a:pt x="57" y="0"/>
                  </a:moveTo>
                  <a:lnTo>
                    <a:pt x="57" y="0"/>
                  </a:lnTo>
                  <a:lnTo>
                    <a:pt x="0" y="37"/>
                  </a:lnTo>
                  <a:cubicBezTo>
                    <a:pt x="5" y="47"/>
                    <a:pt x="7" y="59"/>
                    <a:pt x="7" y="71"/>
                  </a:cubicBezTo>
                  <a:lnTo>
                    <a:pt x="7" y="73"/>
                  </a:lnTo>
                  <a:lnTo>
                    <a:pt x="75" y="73"/>
                  </a:lnTo>
                  <a:cubicBezTo>
                    <a:pt x="75" y="71"/>
                    <a:pt x="75" y="69"/>
                    <a:pt x="75" y="67"/>
                  </a:cubicBezTo>
                  <a:cubicBezTo>
                    <a:pt x="75" y="42"/>
                    <a:pt x="68" y="20"/>
                    <a:pt x="57" y="0"/>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Freeform 148"/>
            <p:cNvSpPr>
              <a:spLocks/>
            </p:cNvSpPr>
            <p:nvPr/>
          </p:nvSpPr>
          <p:spPr bwMode="gray">
            <a:xfrm>
              <a:off x="9544848" y="1340160"/>
              <a:ext cx="88921" cy="86804"/>
            </a:xfrm>
            <a:custGeom>
              <a:avLst/>
              <a:gdLst>
                <a:gd name="T0" fmla="*/ 21 w 77"/>
                <a:gd name="T1" fmla="*/ 76 h 76"/>
                <a:gd name="T2" fmla="*/ 21 w 77"/>
                <a:gd name="T3" fmla="*/ 76 h 76"/>
                <a:gd name="T4" fmla="*/ 77 w 77"/>
                <a:gd name="T5" fmla="*/ 40 h 76"/>
                <a:gd name="T6" fmla="*/ 30 w 77"/>
                <a:gd name="T7" fmla="*/ 0 h 76"/>
                <a:gd name="T8" fmla="*/ 0 w 77"/>
                <a:gd name="T9" fmla="*/ 53 h 76"/>
                <a:gd name="T10" fmla="*/ 21 w 77"/>
                <a:gd name="T11" fmla="*/ 76 h 76"/>
              </a:gdLst>
              <a:ahLst/>
              <a:cxnLst>
                <a:cxn ang="0">
                  <a:pos x="T0" y="T1"/>
                </a:cxn>
                <a:cxn ang="0">
                  <a:pos x="T2" y="T3"/>
                </a:cxn>
                <a:cxn ang="0">
                  <a:pos x="T4" y="T5"/>
                </a:cxn>
                <a:cxn ang="0">
                  <a:pos x="T6" y="T7"/>
                </a:cxn>
                <a:cxn ang="0">
                  <a:pos x="T8" y="T9"/>
                </a:cxn>
                <a:cxn ang="0">
                  <a:pos x="T10" y="T11"/>
                </a:cxn>
              </a:cxnLst>
              <a:rect l="0" t="0" r="r" b="b"/>
              <a:pathLst>
                <a:path w="77" h="76">
                  <a:moveTo>
                    <a:pt x="21" y="76"/>
                  </a:moveTo>
                  <a:lnTo>
                    <a:pt x="21" y="76"/>
                  </a:lnTo>
                  <a:lnTo>
                    <a:pt x="77" y="40"/>
                  </a:lnTo>
                  <a:cubicBezTo>
                    <a:pt x="65" y="23"/>
                    <a:pt x="49" y="9"/>
                    <a:pt x="30" y="0"/>
                  </a:cubicBezTo>
                  <a:lnTo>
                    <a:pt x="0" y="53"/>
                  </a:lnTo>
                  <a:cubicBezTo>
                    <a:pt x="8" y="59"/>
                    <a:pt x="16" y="67"/>
                    <a:pt x="21" y="76"/>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Freeform 149"/>
            <p:cNvSpPr>
              <a:spLocks/>
            </p:cNvSpPr>
            <p:nvPr/>
          </p:nvSpPr>
          <p:spPr bwMode="gray">
            <a:xfrm>
              <a:off x="9383944" y="1456604"/>
              <a:ext cx="21172" cy="21172"/>
            </a:xfrm>
            <a:custGeom>
              <a:avLst/>
              <a:gdLst>
                <a:gd name="T0" fmla="*/ 19 w 20"/>
                <a:gd name="T1" fmla="*/ 19 h 19"/>
                <a:gd name="T2" fmla="*/ 19 w 20"/>
                <a:gd name="T3" fmla="*/ 19 h 19"/>
                <a:gd name="T4" fmla="*/ 19 w 20"/>
                <a:gd name="T5" fmla="*/ 17 h 19"/>
                <a:gd name="T6" fmla="*/ 20 w 20"/>
                <a:gd name="T7" fmla="*/ 6 h 19"/>
                <a:gd name="T8" fmla="*/ 1 w 20"/>
                <a:gd name="T9" fmla="*/ 0 h 19"/>
                <a:gd name="T10" fmla="*/ 0 w 20"/>
                <a:gd name="T11" fmla="*/ 13 h 19"/>
                <a:gd name="T12" fmla="*/ 0 w 20"/>
                <a:gd name="T13" fmla="*/ 19 h 19"/>
                <a:gd name="T14" fmla="*/ 19 w 20"/>
                <a:gd name="T15" fmla="*/ 19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9">
                  <a:moveTo>
                    <a:pt x="19" y="19"/>
                  </a:moveTo>
                  <a:lnTo>
                    <a:pt x="19" y="19"/>
                  </a:lnTo>
                  <a:cubicBezTo>
                    <a:pt x="19" y="18"/>
                    <a:pt x="19" y="18"/>
                    <a:pt x="19" y="17"/>
                  </a:cubicBezTo>
                  <a:cubicBezTo>
                    <a:pt x="19" y="13"/>
                    <a:pt x="19" y="9"/>
                    <a:pt x="20" y="6"/>
                  </a:cubicBezTo>
                  <a:lnTo>
                    <a:pt x="1" y="0"/>
                  </a:lnTo>
                  <a:cubicBezTo>
                    <a:pt x="0" y="4"/>
                    <a:pt x="0" y="9"/>
                    <a:pt x="0" y="13"/>
                  </a:cubicBezTo>
                  <a:cubicBezTo>
                    <a:pt x="0" y="15"/>
                    <a:pt x="0" y="17"/>
                    <a:pt x="0" y="19"/>
                  </a:cubicBezTo>
                  <a:lnTo>
                    <a:pt x="19" y="19"/>
                  </a:ln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Freeform 150"/>
            <p:cNvSpPr>
              <a:spLocks/>
            </p:cNvSpPr>
            <p:nvPr/>
          </p:nvSpPr>
          <p:spPr bwMode="gray">
            <a:xfrm>
              <a:off x="9474982" y="1327457"/>
              <a:ext cx="38109" cy="57164"/>
            </a:xfrm>
            <a:custGeom>
              <a:avLst/>
              <a:gdLst>
                <a:gd name="T0" fmla="*/ 17 w 34"/>
                <a:gd name="T1" fmla="*/ 49 h 50"/>
                <a:gd name="T2" fmla="*/ 17 w 34"/>
                <a:gd name="T3" fmla="*/ 49 h 50"/>
                <a:gd name="T4" fmla="*/ 27 w 34"/>
                <a:gd name="T5" fmla="*/ 50 h 50"/>
                <a:gd name="T6" fmla="*/ 34 w 34"/>
                <a:gd name="T7" fmla="*/ 0 h 50"/>
                <a:gd name="T8" fmla="*/ 0 w 34"/>
                <a:gd name="T9" fmla="*/ 7 h 50"/>
                <a:gd name="T10" fmla="*/ 4 w 34"/>
                <a:gd name="T11" fmla="*/ 50 h 50"/>
                <a:gd name="T12" fmla="*/ 17 w 34"/>
                <a:gd name="T13" fmla="*/ 49 h 50"/>
              </a:gdLst>
              <a:ahLst/>
              <a:cxnLst>
                <a:cxn ang="0">
                  <a:pos x="T0" y="T1"/>
                </a:cxn>
                <a:cxn ang="0">
                  <a:pos x="T2" y="T3"/>
                </a:cxn>
                <a:cxn ang="0">
                  <a:pos x="T4" y="T5"/>
                </a:cxn>
                <a:cxn ang="0">
                  <a:pos x="T6" y="T7"/>
                </a:cxn>
                <a:cxn ang="0">
                  <a:pos x="T8" y="T9"/>
                </a:cxn>
                <a:cxn ang="0">
                  <a:pos x="T10" y="T11"/>
                </a:cxn>
                <a:cxn ang="0">
                  <a:pos x="T12" y="T13"/>
                </a:cxn>
              </a:cxnLst>
              <a:rect l="0" t="0" r="r" b="b"/>
              <a:pathLst>
                <a:path w="34" h="50">
                  <a:moveTo>
                    <a:pt x="17" y="49"/>
                  </a:moveTo>
                  <a:lnTo>
                    <a:pt x="17" y="49"/>
                  </a:lnTo>
                  <a:cubicBezTo>
                    <a:pt x="20" y="49"/>
                    <a:pt x="23" y="49"/>
                    <a:pt x="27" y="50"/>
                  </a:cubicBezTo>
                  <a:lnTo>
                    <a:pt x="34" y="0"/>
                  </a:lnTo>
                  <a:cubicBezTo>
                    <a:pt x="22" y="1"/>
                    <a:pt x="11" y="3"/>
                    <a:pt x="0" y="7"/>
                  </a:cubicBezTo>
                  <a:lnTo>
                    <a:pt x="4" y="50"/>
                  </a:lnTo>
                  <a:cubicBezTo>
                    <a:pt x="8" y="49"/>
                    <a:pt x="12" y="49"/>
                    <a:pt x="17" y="49"/>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Freeform 151"/>
            <p:cNvSpPr>
              <a:spLocks/>
            </p:cNvSpPr>
            <p:nvPr/>
          </p:nvSpPr>
          <p:spPr bwMode="gray">
            <a:xfrm>
              <a:off x="9441108" y="1340160"/>
              <a:ext cx="27522" cy="50812"/>
            </a:xfrm>
            <a:custGeom>
              <a:avLst/>
              <a:gdLst>
                <a:gd name="T0" fmla="*/ 26 w 26"/>
                <a:gd name="T1" fmla="*/ 41 h 45"/>
                <a:gd name="T2" fmla="*/ 26 w 26"/>
                <a:gd name="T3" fmla="*/ 41 h 45"/>
                <a:gd name="T4" fmla="*/ 22 w 26"/>
                <a:gd name="T5" fmla="*/ 0 h 45"/>
                <a:gd name="T6" fmla="*/ 0 w 26"/>
                <a:gd name="T7" fmla="*/ 13 h 45"/>
                <a:gd name="T8" fmla="*/ 15 w 26"/>
                <a:gd name="T9" fmla="*/ 45 h 45"/>
                <a:gd name="T10" fmla="*/ 26 w 26"/>
                <a:gd name="T11" fmla="*/ 41 h 45"/>
              </a:gdLst>
              <a:ahLst/>
              <a:cxnLst>
                <a:cxn ang="0">
                  <a:pos x="T0" y="T1"/>
                </a:cxn>
                <a:cxn ang="0">
                  <a:pos x="T2" y="T3"/>
                </a:cxn>
                <a:cxn ang="0">
                  <a:pos x="T4" y="T5"/>
                </a:cxn>
                <a:cxn ang="0">
                  <a:pos x="T6" y="T7"/>
                </a:cxn>
                <a:cxn ang="0">
                  <a:pos x="T8" y="T9"/>
                </a:cxn>
                <a:cxn ang="0">
                  <a:pos x="T10" y="T11"/>
                </a:cxn>
              </a:cxnLst>
              <a:rect l="0" t="0" r="r" b="b"/>
              <a:pathLst>
                <a:path w="26" h="45">
                  <a:moveTo>
                    <a:pt x="26" y="41"/>
                  </a:moveTo>
                  <a:lnTo>
                    <a:pt x="26" y="41"/>
                  </a:lnTo>
                  <a:lnTo>
                    <a:pt x="22" y="0"/>
                  </a:lnTo>
                  <a:cubicBezTo>
                    <a:pt x="14" y="3"/>
                    <a:pt x="7" y="8"/>
                    <a:pt x="0" y="13"/>
                  </a:cubicBezTo>
                  <a:lnTo>
                    <a:pt x="15" y="45"/>
                  </a:lnTo>
                  <a:cubicBezTo>
                    <a:pt x="19" y="44"/>
                    <a:pt x="22" y="42"/>
                    <a:pt x="26" y="41"/>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Freeform 152"/>
            <p:cNvSpPr>
              <a:spLocks/>
            </p:cNvSpPr>
            <p:nvPr/>
          </p:nvSpPr>
          <p:spPr bwMode="gray">
            <a:xfrm>
              <a:off x="9415702" y="1361331"/>
              <a:ext cx="31757" cy="44461"/>
            </a:xfrm>
            <a:custGeom>
              <a:avLst/>
              <a:gdLst>
                <a:gd name="T0" fmla="*/ 29 w 29"/>
                <a:gd name="T1" fmla="*/ 31 h 38"/>
                <a:gd name="T2" fmla="*/ 29 w 29"/>
                <a:gd name="T3" fmla="*/ 31 h 38"/>
                <a:gd name="T4" fmla="*/ 14 w 29"/>
                <a:gd name="T5" fmla="*/ 0 h 38"/>
                <a:gd name="T6" fmla="*/ 0 w 29"/>
                <a:gd name="T7" fmla="*/ 16 h 38"/>
                <a:gd name="T8" fmla="*/ 19 w 29"/>
                <a:gd name="T9" fmla="*/ 38 h 38"/>
                <a:gd name="T10" fmla="*/ 29 w 29"/>
                <a:gd name="T11" fmla="*/ 31 h 38"/>
              </a:gdLst>
              <a:ahLst/>
              <a:cxnLst>
                <a:cxn ang="0">
                  <a:pos x="T0" y="T1"/>
                </a:cxn>
                <a:cxn ang="0">
                  <a:pos x="T2" y="T3"/>
                </a:cxn>
                <a:cxn ang="0">
                  <a:pos x="T4" y="T5"/>
                </a:cxn>
                <a:cxn ang="0">
                  <a:pos x="T6" y="T7"/>
                </a:cxn>
                <a:cxn ang="0">
                  <a:pos x="T8" y="T9"/>
                </a:cxn>
                <a:cxn ang="0">
                  <a:pos x="T10" y="T11"/>
                </a:cxn>
              </a:cxnLst>
              <a:rect l="0" t="0" r="r" b="b"/>
              <a:pathLst>
                <a:path w="29" h="38">
                  <a:moveTo>
                    <a:pt x="29" y="31"/>
                  </a:moveTo>
                  <a:lnTo>
                    <a:pt x="29" y="31"/>
                  </a:lnTo>
                  <a:lnTo>
                    <a:pt x="14" y="0"/>
                  </a:lnTo>
                  <a:cubicBezTo>
                    <a:pt x="9" y="5"/>
                    <a:pt x="4" y="10"/>
                    <a:pt x="0" y="16"/>
                  </a:cubicBezTo>
                  <a:lnTo>
                    <a:pt x="19" y="38"/>
                  </a:lnTo>
                  <a:cubicBezTo>
                    <a:pt x="22" y="36"/>
                    <a:pt x="25" y="33"/>
                    <a:pt x="29" y="31"/>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Freeform 153"/>
            <p:cNvSpPr>
              <a:spLocks/>
            </p:cNvSpPr>
            <p:nvPr/>
          </p:nvSpPr>
          <p:spPr bwMode="gray">
            <a:xfrm>
              <a:off x="9477099" y="1418495"/>
              <a:ext cx="69865" cy="61398"/>
            </a:xfrm>
            <a:custGeom>
              <a:avLst/>
              <a:gdLst>
                <a:gd name="T0" fmla="*/ 19 w 62"/>
                <a:gd name="T1" fmla="*/ 51 h 54"/>
                <a:gd name="T2" fmla="*/ 19 w 62"/>
                <a:gd name="T3" fmla="*/ 51 h 54"/>
                <a:gd name="T4" fmla="*/ 21 w 62"/>
                <a:gd name="T5" fmla="*/ 49 h 54"/>
                <a:gd name="T6" fmla="*/ 60 w 62"/>
                <a:gd name="T7" fmla="*/ 5 h 54"/>
                <a:gd name="T8" fmla="*/ 62 w 62"/>
                <a:gd name="T9" fmla="*/ 2 h 54"/>
                <a:gd name="T10" fmla="*/ 5 w 62"/>
                <a:gd name="T11" fmla="*/ 33 h 54"/>
                <a:gd name="T12" fmla="*/ 5 w 62"/>
                <a:gd name="T13" fmla="*/ 33 h 54"/>
                <a:gd name="T14" fmla="*/ 4 w 62"/>
                <a:gd name="T15" fmla="*/ 33 h 54"/>
                <a:gd name="T16" fmla="*/ 4 w 62"/>
                <a:gd name="T17" fmla="*/ 34 h 54"/>
                <a:gd name="T18" fmla="*/ 4 w 62"/>
                <a:gd name="T19" fmla="*/ 34 h 54"/>
                <a:gd name="T20" fmla="*/ 0 w 62"/>
                <a:gd name="T21" fmla="*/ 42 h 54"/>
                <a:gd name="T22" fmla="*/ 8 w 62"/>
                <a:gd name="T23" fmla="*/ 53 h 54"/>
                <a:gd name="T24" fmla="*/ 11 w 62"/>
                <a:gd name="T25" fmla="*/ 54 h 54"/>
                <a:gd name="T26" fmla="*/ 11 w 62"/>
                <a:gd name="T27" fmla="*/ 54 h 54"/>
                <a:gd name="T28" fmla="*/ 12 w 62"/>
                <a:gd name="T29" fmla="*/ 54 h 54"/>
                <a:gd name="T30" fmla="*/ 19 w 62"/>
                <a:gd name="T31" fmla="*/ 51 h 54"/>
                <a:gd name="T32" fmla="*/ 19 w 62"/>
                <a:gd name="T33" fmla="*/ 51 h 54"/>
                <a:gd name="T34" fmla="*/ 19 w 62"/>
                <a:gd name="T35"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54">
                  <a:moveTo>
                    <a:pt x="19" y="51"/>
                  </a:moveTo>
                  <a:lnTo>
                    <a:pt x="19" y="51"/>
                  </a:lnTo>
                  <a:cubicBezTo>
                    <a:pt x="20" y="50"/>
                    <a:pt x="21" y="50"/>
                    <a:pt x="21" y="49"/>
                  </a:cubicBezTo>
                  <a:cubicBezTo>
                    <a:pt x="30" y="39"/>
                    <a:pt x="53" y="16"/>
                    <a:pt x="60" y="5"/>
                  </a:cubicBezTo>
                  <a:cubicBezTo>
                    <a:pt x="61" y="3"/>
                    <a:pt x="62" y="2"/>
                    <a:pt x="62" y="2"/>
                  </a:cubicBezTo>
                  <a:cubicBezTo>
                    <a:pt x="60" y="0"/>
                    <a:pt x="10" y="29"/>
                    <a:pt x="5" y="33"/>
                  </a:cubicBezTo>
                  <a:cubicBezTo>
                    <a:pt x="5" y="33"/>
                    <a:pt x="5" y="33"/>
                    <a:pt x="5" y="33"/>
                  </a:cubicBezTo>
                  <a:cubicBezTo>
                    <a:pt x="5" y="33"/>
                    <a:pt x="5" y="33"/>
                    <a:pt x="4" y="33"/>
                  </a:cubicBezTo>
                  <a:cubicBezTo>
                    <a:pt x="4" y="33"/>
                    <a:pt x="4" y="34"/>
                    <a:pt x="4" y="34"/>
                  </a:cubicBezTo>
                  <a:lnTo>
                    <a:pt x="4" y="34"/>
                  </a:lnTo>
                  <a:cubicBezTo>
                    <a:pt x="1" y="36"/>
                    <a:pt x="0" y="39"/>
                    <a:pt x="0" y="42"/>
                  </a:cubicBezTo>
                  <a:cubicBezTo>
                    <a:pt x="0" y="47"/>
                    <a:pt x="4" y="52"/>
                    <a:pt x="8" y="53"/>
                  </a:cubicBezTo>
                  <a:cubicBezTo>
                    <a:pt x="9" y="53"/>
                    <a:pt x="10" y="54"/>
                    <a:pt x="11" y="54"/>
                  </a:cubicBezTo>
                  <a:lnTo>
                    <a:pt x="11" y="54"/>
                  </a:lnTo>
                  <a:lnTo>
                    <a:pt x="12" y="54"/>
                  </a:lnTo>
                  <a:cubicBezTo>
                    <a:pt x="14" y="54"/>
                    <a:pt x="17" y="53"/>
                    <a:pt x="19" y="51"/>
                  </a:cubicBezTo>
                  <a:lnTo>
                    <a:pt x="19" y="51"/>
                  </a:lnTo>
                  <a:cubicBezTo>
                    <a:pt x="19" y="51"/>
                    <a:pt x="19" y="51"/>
                    <a:pt x="19" y="51"/>
                  </a:cubicBezTo>
                  <a:close/>
                </a:path>
              </a:pathLst>
            </a:custGeom>
            <a:grpFill/>
            <a:ln w="635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7" name="TextBox 342"/>
          <p:cNvSpPr txBox="1"/>
          <p:nvPr/>
        </p:nvSpPr>
        <p:spPr bwMode="gray">
          <a:xfrm>
            <a:off x="7199624" y="2355263"/>
            <a:ext cx="3493143" cy="369304"/>
          </a:xfrm>
          <a:prstGeom prst="rect">
            <a:avLst/>
          </a:prstGeom>
          <a:noFill/>
        </p:spPr>
        <p:txBody>
          <a:bodyPr wrap="square" lIns="91413" tIns="45706" rIns="91413" bIns="45706" rtlCol="0">
            <a:spAutoFit/>
          </a:bodyPr>
          <a:lstStyle/>
          <a:p>
            <a:pPr algn="ctr" defTabSz="1219028">
              <a:buSzPct val="100000"/>
            </a:pPr>
            <a:r>
              <a:rPr lang="zh-CN" altLang="en-US"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场景</a:t>
            </a:r>
            <a:r>
              <a:rPr lang="en-US" altLang="zh-CN"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：自动调优</a:t>
            </a:r>
            <a:endParaRPr lang="en-US" altLang="zh-CN" sz="14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8" name="组合 97"/>
          <p:cNvGrpSpPr/>
          <p:nvPr/>
        </p:nvGrpSpPr>
        <p:grpSpPr bwMode="gray">
          <a:xfrm>
            <a:off x="8602080" y="1402043"/>
            <a:ext cx="688230" cy="705253"/>
            <a:chOff x="1322388" y="2787650"/>
            <a:chExt cx="449262" cy="460375"/>
          </a:xfrm>
          <a:solidFill>
            <a:srgbClr val="C7000B"/>
          </a:solidFill>
        </p:grpSpPr>
        <p:sp>
          <p:nvSpPr>
            <p:cNvPr id="19" name="Freeform 220"/>
            <p:cNvSpPr>
              <a:spLocks noEditPoints="1"/>
            </p:cNvSpPr>
            <p:nvPr/>
          </p:nvSpPr>
          <p:spPr bwMode="gray">
            <a:xfrm>
              <a:off x="1374775" y="2890838"/>
              <a:ext cx="339725" cy="252413"/>
            </a:xfrm>
            <a:custGeom>
              <a:avLst/>
              <a:gdLst>
                <a:gd name="T0" fmla="*/ 166 w 400"/>
                <a:gd name="T1" fmla="*/ 157 h 296"/>
                <a:gd name="T2" fmla="*/ 163 w 400"/>
                <a:gd name="T3" fmla="*/ 125 h 296"/>
                <a:gd name="T4" fmla="*/ 222 w 400"/>
                <a:gd name="T5" fmla="*/ 108 h 296"/>
                <a:gd name="T6" fmla="*/ 237 w 400"/>
                <a:gd name="T7" fmla="*/ 147 h 296"/>
                <a:gd name="T8" fmla="*/ 215 w 400"/>
                <a:gd name="T9" fmla="*/ 171 h 296"/>
                <a:gd name="T10" fmla="*/ 108 w 400"/>
                <a:gd name="T11" fmla="*/ 126 h 296"/>
                <a:gd name="T12" fmla="*/ 108 w 400"/>
                <a:gd name="T13" fmla="*/ 153 h 296"/>
                <a:gd name="T14" fmla="*/ 68 w 400"/>
                <a:gd name="T15" fmla="*/ 161 h 296"/>
                <a:gd name="T16" fmla="*/ 47 w 400"/>
                <a:gd name="T17" fmla="*/ 133 h 296"/>
                <a:gd name="T18" fmla="*/ 55 w 400"/>
                <a:gd name="T19" fmla="*/ 127 h 296"/>
                <a:gd name="T20" fmla="*/ 98 w 400"/>
                <a:gd name="T21" fmla="*/ 63 h 296"/>
                <a:gd name="T22" fmla="*/ 134 w 400"/>
                <a:gd name="T23" fmla="*/ 61 h 296"/>
                <a:gd name="T24" fmla="*/ 175 w 400"/>
                <a:gd name="T25" fmla="*/ 54 h 296"/>
                <a:gd name="T26" fmla="*/ 186 w 400"/>
                <a:gd name="T27" fmla="*/ 88 h 296"/>
                <a:gd name="T28" fmla="*/ 137 w 400"/>
                <a:gd name="T29" fmla="*/ 109 h 296"/>
                <a:gd name="T30" fmla="*/ 290 w 400"/>
                <a:gd name="T31" fmla="*/ 54 h 296"/>
                <a:gd name="T32" fmla="*/ 290 w 400"/>
                <a:gd name="T33" fmla="*/ 73 h 296"/>
                <a:gd name="T34" fmla="*/ 331 w 400"/>
                <a:gd name="T35" fmla="*/ 82 h 296"/>
                <a:gd name="T36" fmla="*/ 338 w 400"/>
                <a:gd name="T37" fmla="*/ 107 h 296"/>
                <a:gd name="T38" fmla="*/ 291 w 400"/>
                <a:gd name="T39" fmla="*/ 157 h 296"/>
                <a:gd name="T40" fmla="*/ 247 w 400"/>
                <a:gd name="T41" fmla="*/ 142 h 296"/>
                <a:gd name="T42" fmla="*/ 269 w 400"/>
                <a:gd name="T43" fmla="*/ 81 h 296"/>
                <a:gd name="T44" fmla="*/ 290 w 400"/>
                <a:gd name="T45" fmla="*/ 54 h 296"/>
                <a:gd name="T46" fmla="*/ 358 w 400"/>
                <a:gd name="T47" fmla="*/ 175 h 296"/>
                <a:gd name="T48" fmla="*/ 332 w 400"/>
                <a:gd name="T49" fmla="*/ 189 h 296"/>
                <a:gd name="T50" fmla="*/ 338 w 400"/>
                <a:gd name="T51" fmla="*/ 222 h 296"/>
                <a:gd name="T52" fmla="*/ 311 w 400"/>
                <a:gd name="T53" fmla="*/ 232 h 296"/>
                <a:gd name="T54" fmla="*/ 282 w 400"/>
                <a:gd name="T55" fmla="*/ 214 h 296"/>
                <a:gd name="T56" fmla="*/ 296 w 400"/>
                <a:gd name="T57" fmla="*/ 166 h 296"/>
                <a:gd name="T58" fmla="*/ 358 w 400"/>
                <a:gd name="T59" fmla="*/ 155 h 296"/>
                <a:gd name="T60" fmla="*/ 256 w 400"/>
                <a:gd name="T61" fmla="*/ 230 h 296"/>
                <a:gd name="T62" fmla="*/ 273 w 400"/>
                <a:gd name="T63" fmla="*/ 219 h 296"/>
                <a:gd name="T64" fmla="*/ 283 w 400"/>
                <a:gd name="T65" fmla="*/ 248 h 296"/>
                <a:gd name="T66" fmla="*/ 311 w 400"/>
                <a:gd name="T67" fmla="*/ 296 h 296"/>
                <a:gd name="T68" fmla="*/ 338 w 400"/>
                <a:gd name="T69" fmla="*/ 248 h 296"/>
                <a:gd name="T70" fmla="*/ 346 w 400"/>
                <a:gd name="T71" fmla="*/ 227 h 296"/>
                <a:gd name="T72" fmla="*/ 383 w 400"/>
                <a:gd name="T73" fmla="*/ 219 h 296"/>
                <a:gd name="T74" fmla="*/ 368 w 400"/>
                <a:gd name="T75" fmla="*/ 181 h 296"/>
                <a:gd name="T76" fmla="*/ 369 w 400"/>
                <a:gd name="T77" fmla="*/ 161 h 296"/>
                <a:gd name="T78" fmla="*/ 400 w 400"/>
                <a:gd name="T79" fmla="*/ 107 h 296"/>
                <a:gd name="T80" fmla="*/ 358 w 400"/>
                <a:gd name="T81" fmla="*/ 96 h 296"/>
                <a:gd name="T82" fmla="*/ 345 w 400"/>
                <a:gd name="T83" fmla="*/ 73 h 296"/>
                <a:gd name="T84" fmla="*/ 318 w 400"/>
                <a:gd name="T85" fmla="*/ 26 h 296"/>
                <a:gd name="T86" fmla="*/ 290 w 400"/>
                <a:gd name="T87" fmla="*/ 44 h 296"/>
                <a:gd name="T88" fmla="*/ 269 w 400"/>
                <a:gd name="T89" fmla="*/ 27 h 296"/>
                <a:gd name="T90" fmla="*/ 175 w 400"/>
                <a:gd name="T91" fmla="*/ 27 h 296"/>
                <a:gd name="T92" fmla="*/ 134 w 400"/>
                <a:gd name="T93" fmla="*/ 44 h 296"/>
                <a:gd name="T94" fmla="*/ 114 w 400"/>
                <a:gd name="T95" fmla="*/ 26 h 296"/>
                <a:gd name="T96" fmla="*/ 94 w 400"/>
                <a:gd name="T97" fmla="*/ 54 h 296"/>
                <a:gd name="T98" fmla="*/ 28 w 400"/>
                <a:gd name="T99" fmla="*/ 79 h 296"/>
                <a:gd name="T100" fmla="*/ 0 w 400"/>
                <a:gd name="T101" fmla="*/ 127 h 296"/>
                <a:gd name="T102" fmla="*/ 38 w 400"/>
                <a:gd name="T103" fmla="*/ 137 h 296"/>
                <a:gd name="T104" fmla="*/ 55 w 400"/>
                <a:gd name="T105" fmla="*/ 169 h 296"/>
                <a:gd name="T106" fmla="*/ 42 w 400"/>
                <a:gd name="T107" fmla="*/ 205 h 296"/>
                <a:gd name="T108" fmla="*/ 94 w 400"/>
                <a:gd name="T109" fmla="*/ 206 h 296"/>
                <a:gd name="T110" fmla="*/ 93 w 400"/>
                <a:gd name="T111" fmla="*/ 175 h 296"/>
                <a:gd name="T112" fmla="*/ 137 w 400"/>
                <a:gd name="T113" fmla="*/ 176 h 296"/>
                <a:gd name="T114" fmla="*/ 215 w 400"/>
                <a:gd name="T115" fmla="*/ 182 h 296"/>
                <a:gd name="T116" fmla="*/ 256 w 400"/>
                <a:gd name="T117" fmla="*/ 23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0" h="296">
                  <a:moveTo>
                    <a:pt x="166" y="157"/>
                  </a:moveTo>
                  <a:lnTo>
                    <a:pt x="166" y="157"/>
                  </a:lnTo>
                  <a:lnTo>
                    <a:pt x="166" y="126"/>
                  </a:lnTo>
                  <a:lnTo>
                    <a:pt x="163" y="125"/>
                  </a:lnTo>
                  <a:lnTo>
                    <a:pt x="195" y="93"/>
                  </a:lnTo>
                  <a:lnTo>
                    <a:pt x="222" y="108"/>
                  </a:lnTo>
                  <a:lnTo>
                    <a:pt x="233" y="102"/>
                  </a:lnTo>
                  <a:lnTo>
                    <a:pt x="237" y="147"/>
                  </a:lnTo>
                  <a:lnTo>
                    <a:pt x="215" y="160"/>
                  </a:lnTo>
                  <a:lnTo>
                    <a:pt x="215" y="171"/>
                  </a:lnTo>
                  <a:lnTo>
                    <a:pt x="166" y="157"/>
                  </a:lnTo>
                  <a:close/>
                  <a:moveTo>
                    <a:pt x="108" y="126"/>
                  </a:moveTo>
                  <a:lnTo>
                    <a:pt x="108" y="126"/>
                  </a:lnTo>
                  <a:lnTo>
                    <a:pt x="108" y="153"/>
                  </a:lnTo>
                  <a:lnTo>
                    <a:pt x="83" y="170"/>
                  </a:lnTo>
                  <a:lnTo>
                    <a:pt x="68" y="161"/>
                  </a:lnTo>
                  <a:lnTo>
                    <a:pt x="59" y="166"/>
                  </a:lnTo>
                  <a:lnTo>
                    <a:pt x="47" y="133"/>
                  </a:lnTo>
                  <a:lnTo>
                    <a:pt x="43" y="134"/>
                  </a:lnTo>
                  <a:lnTo>
                    <a:pt x="55" y="127"/>
                  </a:lnTo>
                  <a:lnTo>
                    <a:pt x="55" y="102"/>
                  </a:lnTo>
                  <a:lnTo>
                    <a:pt x="98" y="63"/>
                  </a:lnTo>
                  <a:lnTo>
                    <a:pt x="114" y="72"/>
                  </a:lnTo>
                  <a:lnTo>
                    <a:pt x="134" y="61"/>
                  </a:lnTo>
                  <a:lnTo>
                    <a:pt x="134" y="54"/>
                  </a:lnTo>
                  <a:lnTo>
                    <a:pt x="175" y="54"/>
                  </a:lnTo>
                  <a:lnTo>
                    <a:pt x="175" y="81"/>
                  </a:lnTo>
                  <a:lnTo>
                    <a:pt x="186" y="88"/>
                  </a:lnTo>
                  <a:lnTo>
                    <a:pt x="154" y="119"/>
                  </a:lnTo>
                  <a:lnTo>
                    <a:pt x="137" y="109"/>
                  </a:lnTo>
                  <a:lnTo>
                    <a:pt x="108" y="126"/>
                  </a:lnTo>
                  <a:close/>
                  <a:moveTo>
                    <a:pt x="290" y="54"/>
                  </a:moveTo>
                  <a:lnTo>
                    <a:pt x="290" y="54"/>
                  </a:lnTo>
                  <a:lnTo>
                    <a:pt x="290" y="73"/>
                  </a:lnTo>
                  <a:lnTo>
                    <a:pt x="317" y="89"/>
                  </a:lnTo>
                  <a:lnTo>
                    <a:pt x="331" y="82"/>
                  </a:lnTo>
                  <a:lnTo>
                    <a:pt x="349" y="101"/>
                  </a:lnTo>
                  <a:lnTo>
                    <a:pt x="338" y="107"/>
                  </a:lnTo>
                  <a:lnTo>
                    <a:pt x="338" y="136"/>
                  </a:lnTo>
                  <a:lnTo>
                    <a:pt x="291" y="157"/>
                  </a:lnTo>
                  <a:lnTo>
                    <a:pt x="256" y="137"/>
                  </a:lnTo>
                  <a:lnTo>
                    <a:pt x="247" y="142"/>
                  </a:lnTo>
                  <a:lnTo>
                    <a:pt x="242" y="97"/>
                  </a:lnTo>
                  <a:lnTo>
                    <a:pt x="269" y="81"/>
                  </a:lnTo>
                  <a:lnTo>
                    <a:pt x="269" y="54"/>
                  </a:lnTo>
                  <a:lnTo>
                    <a:pt x="290" y="54"/>
                  </a:lnTo>
                  <a:close/>
                  <a:moveTo>
                    <a:pt x="358" y="175"/>
                  </a:moveTo>
                  <a:lnTo>
                    <a:pt x="358" y="175"/>
                  </a:lnTo>
                  <a:lnTo>
                    <a:pt x="358" y="175"/>
                  </a:lnTo>
                  <a:lnTo>
                    <a:pt x="332" y="189"/>
                  </a:lnTo>
                  <a:lnTo>
                    <a:pt x="332" y="219"/>
                  </a:lnTo>
                  <a:lnTo>
                    <a:pt x="338" y="222"/>
                  </a:lnTo>
                  <a:lnTo>
                    <a:pt x="324" y="240"/>
                  </a:lnTo>
                  <a:lnTo>
                    <a:pt x="311" y="232"/>
                  </a:lnTo>
                  <a:lnTo>
                    <a:pt x="297" y="240"/>
                  </a:lnTo>
                  <a:lnTo>
                    <a:pt x="282" y="214"/>
                  </a:lnTo>
                  <a:lnTo>
                    <a:pt x="296" y="206"/>
                  </a:lnTo>
                  <a:lnTo>
                    <a:pt x="296" y="166"/>
                  </a:lnTo>
                  <a:lnTo>
                    <a:pt x="342" y="145"/>
                  </a:lnTo>
                  <a:lnTo>
                    <a:pt x="358" y="155"/>
                  </a:lnTo>
                  <a:lnTo>
                    <a:pt x="358" y="175"/>
                  </a:lnTo>
                  <a:close/>
                  <a:moveTo>
                    <a:pt x="256" y="230"/>
                  </a:moveTo>
                  <a:lnTo>
                    <a:pt x="256" y="230"/>
                  </a:lnTo>
                  <a:lnTo>
                    <a:pt x="273" y="219"/>
                  </a:lnTo>
                  <a:lnTo>
                    <a:pt x="289" y="245"/>
                  </a:lnTo>
                  <a:lnTo>
                    <a:pt x="283" y="248"/>
                  </a:lnTo>
                  <a:lnTo>
                    <a:pt x="283" y="280"/>
                  </a:lnTo>
                  <a:lnTo>
                    <a:pt x="311" y="296"/>
                  </a:lnTo>
                  <a:lnTo>
                    <a:pt x="338" y="280"/>
                  </a:lnTo>
                  <a:lnTo>
                    <a:pt x="338" y="248"/>
                  </a:lnTo>
                  <a:lnTo>
                    <a:pt x="333" y="245"/>
                  </a:lnTo>
                  <a:lnTo>
                    <a:pt x="346" y="227"/>
                  </a:lnTo>
                  <a:lnTo>
                    <a:pt x="358" y="234"/>
                  </a:lnTo>
                  <a:lnTo>
                    <a:pt x="383" y="219"/>
                  </a:lnTo>
                  <a:lnTo>
                    <a:pt x="383" y="190"/>
                  </a:lnTo>
                  <a:lnTo>
                    <a:pt x="368" y="181"/>
                  </a:lnTo>
                  <a:lnTo>
                    <a:pt x="368" y="160"/>
                  </a:lnTo>
                  <a:lnTo>
                    <a:pt x="369" y="161"/>
                  </a:lnTo>
                  <a:lnTo>
                    <a:pt x="400" y="143"/>
                  </a:lnTo>
                  <a:lnTo>
                    <a:pt x="400" y="107"/>
                  </a:lnTo>
                  <a:lnTo>
                    <a:pt x="369" y="89"/>
                  </a:lnTo>
                  <a:lnTo>
                    <a:pt x="358" y="96"/>
                  </a:lnTo>
                  <a:lnTo>
                    <a:pt x="339" y="77"/>
                  </a:lnTo>
                  <a:lnTo>
                    <a:pt x="345" y="73"/>
                  </a:lnTo>
                  <a:lnTo>
                    <a:pt x="345" y="42"/>
                  </a:lnTo>
                  <a:lnTo>
                    <a:pt x="318" y="26"/>
                  </a:lnTo>
                  <a:lnTo>
                    <a:pt x="290" y="42"/>
                  </a:lnTo>
                  <a:lnTo>
                    <a:pt x="290" y="44"/>
                  </a:lnTo>
                  <a:lnTo>
                    <a:pt x="269" y="44"/>
                  </a:lnTo>
                  <a:lnTo>
                    <a:pt x="269" y="27"/>
                  </a:lnTo>
                  <a:lnTo>
                    <a:pt x="222" y="0"/>
                  </a:lnTo>
                  <a:lnTo>
                    <a:pt x="175" y="27"/>
                  </a:lnTo>
                  <a:lnTo>
                    <a:pt x="175" y="44"/>
                  </a:lnTo>
                  <a:lnTo>
                    <a:pt x="134" y="44"/>
                  </a:lnTo>
                  <a:lnTo>
                    <a:pt x="134" y="37"/>
                  </a:lnTo>
                  <a:lnTo>
                    <a:pt x="114" y="26"/>
                  </a:lnTo>
                  <a:lnTo>
                    <a:pt x="94" y="37"/>
                  </a:lnTo>
                  <a:lnTo>
                    <a:pt x="94" y="54"/>
                  </a:lnTo>
                  <a:lnTo>
                    <a:pt x="51" y="93"/>
                  </a:lnTo>
                  <a:lnTo>
                    <a:pt x="28" y="79"/>
                  </a:lnTo>
                  <a:lnTo>
                    <a:pt x="0" y="95"/>
                  </a:lnTo>
                  <a:lnTo>
                    <a:pt x="0" y="127"/>
                  </a:lnTo>
                  <a:lnTo>
                    <a:pt x="27" y="143"/>
                  </a:lnTo>
                  <a:lnTo>
                    <a:pt x="38" y="137"/>
                  </a:lnTo>
                  <a:lnTo>
                    <a:pt x="50" y="170"/>
                  </a:lnTo>
                  <a:lnTo>
                    <a:pt x="55" y="169"/>
                  </a:lnTo>
                  <a:lnTo>
                    <a:pt x="42" y="176"/>
                  </a:lnTo>
                  <a:lnTo>
                    <a:pt x="42" y="205"/>
                  </a:lnTo>
                  <a:lnTo>
                    <a:pt x="68" y="220"/>
                  </a:lnTo>
                  <a:lnTo>
                    <a:pt x="94" y="206"/>
                  </a:lnTo>
                  <a:lnTo>
                    <a:pt x="94" y="176"/>
                  </a:lnTo>
                  <a:lnTo>
                    <a:pt x="93" y="175"/>
                  </a:lnTo>
                  <a:lnTo>
                    <a:pt x="112" y="162"/>
                  </a:lnTo>
                  <a:lnTo>
                    <a:pt x="137" y="176"/>
                  </a:lnTo>
                  <a:lnTo>
                    <a:pt x="158" y="165"/>
                  </a:lnTo>
                  <a:lnTo>
                    <a:pt x="215" y="182"/>
                  </a:lnTo>
                  <a:lnTo>
                    <a:pt x="215" y="206"/>
                  </a:lnTo>
                  <a:lnTo>
                    <a:pt x="256" y="230"/>
                  </a:lnTo>
                  <a:close/>
                </a:path>
              </a:pathLst>
            </a:custGeom>
            <a:grpFill/>
            <a:ln w="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Freeform 221"/>
            <p:cNvSpPr>
              <a:spLocks/>
            </p:cNvSpPr>
            <p:nvPr/>
          </p:nvSpPr>
          <p:spPr bwMode="gray">
            <a:xfrm>
              <a:off x="1322388" y="2787650"/>
              <a:ext cx="449262" cy="460375"/>
            </a:xfrm>
            <a:custGeom>
              <a:avLst/>
              <a:gdLst>
                <a:gd name="T0" fmla="*/ 225 w 528"/>
                <a:gd name="T1" fmla="*/ 540 h 540"/>
                <a:gd name="T2" fmla="*/ 225 w 528"/>
                <a:gd name="T3" fmla="*/ 540 h 540"/>
                <a:gd name="T4" fmla="*/ 251 w 528"/>
                <a:gd name="T5" fmla="*/ 514 h 540"/>
                <a:gd name="T6" fmla="*/ 225 w 528"/>
                <a:gd name="T7" fmla="*/ 488 h 540"/>
                <a:gd name="T8" fmla="*/ 206 w 528"/>
                <a:gd name="T9" fmla="*/ 497 h 540"/>
                <a:gd name="T10" fmla="*/ 24 w 528"/>
                <a:gd name="T11" fmla="*/ 265 h 540"/>
                <a:gd name="T12" fmla="*/ 264 w 528"/>
                <a:gd name="T13" fmla="*/ 25 h 540"/>
                <a:gd name="T14" fmla="*/ 504 w 528"/>
                <a:gd name="T15" fmla="*/ 265 h 540"/>
                <a:gd name="T16" fmla="*/ 323 w 528"/>
                <a:gd name="T17" fmla="*/ 497 h 540"/>
                <a:gd name="T18" fmla="*/ 304 w 528"/>
                <a:gd name="T19" fmla="*/ 488 h 540"/>
                <a:gd name="T20" fmla="*/ 278 w 528"/>
                <a:gd name="T21" fmla="*/ 514 h 540"/>
                <a:gd name="T22" fmla="*/ 304 w 528"/>
                <a:gd name="T23" fmla="*/ 539 h 540"/>
                <a:gd name="T24" fmla="*/ 329 w 528"/>
                <a:gd name="T25" fmla="*/ 521 h 540"/>
                <a:gd name="T26" fmla="*/ 528 w 528"/>
                <a:gd name="T27" fmla="*/ 265 h 540"/>
                <a:gd name="T28" fmla="*/ 264 w 528"/>
                <a:gd name="T29" fmla="*/ 0 h 540"/>
                <a:gd name="T30" fmla="*/ 0 w 528"/>
                <a:gd name="T31" fmla="*/ 265 h 540"/>
                <a:gd name="T32" fmla="*/ 200 w 528"/>
                <a:gd name="T33" fmla="*/ 521 h 540"/>
                <a:gd name="T34" fmla="*/ 225 w 528"/>
                <a:gd name="T35" fmla="*/ 54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8" h="540">
                  <a:moveTo>
                    <a:pt x="225" y="540"/>
                  </a:moveTo>
                  <a:lnTo>
                    <a:pt x="225" y="540"/>
                  </a:lnTo>
                  <a:cubicBezTo>
                    <a:pt x="239" y="540"/>
                    <a:pt x="251" y="528"/>
                    <a:pt x="251" y="514"/>
                  </a:cubicBezTo>
                  <a:cubicBezTo>
                    <a:pt x="251" y="500"/>
                    <a:pt x="239" y="488"/>
                    <a:pt x="225" y="488"/>
                  </a:cubicBezTo>
                  <a:cubicBezTo>
                    <a:pt x="217" y="488"/>
                    <a:pt x="210" y="492"/>
                    <a:pt x="206" y="497"/>
                  </a:cubicBezTo>
                  <a:cubicBezTo>
                    <a:pt x="101" y="471"/>
                    <a:pt x="24" y="375"/>
                    <a:pt x="24" y="265"/>
                  </a:cubicBezTo>
                  <a:cubicBezTo>
                    <a:pt x="24" y="132"/>
                    <a:pt x="132" y="25"/>
                    <a:pt x="264" y="25"/>
                  </a:cubicBezTo>
                  <a:cubicBezTo>
                    <a:pt x="396" y="25"/>
                    <a:pt x="504" y="132"/>
                    <a:pt x="504" y="265"/>
                  </a:cubicBezTo>
                  <a:cubicBezTo>
                    <a:pt x="504" y="374"/>
                    <a:pt x="428" y="470"/>
                    <a:pt x="323" y="497"/>
                  </a:cubicBezTo>
                  <a:cubicBezTo>
                    <a:pt x="319" y="491"/>
                    <a:pt x="312" y="488"/>
                    <a:pt x="304" y="488"/>
                  </a:cubicBezTo>
                  <a:cubicBezTo>
                    <a:pt x="290" y="488"/>
                    <a:pt x="278" y="499"/>
                    <a:pt x="278" y="514"/>
                  </a:cubicBezTo>
                  <a:cubicBezTo>
                    <a:pt x="278" y="528"/>
                    <a:pt x="290" y="539"/>
                    <a:pt x="304" y="539"/>
                  </a:cubicBezTo>
                  <a:cubicBezTo>
                    <a:pt x="316" y="539"/>
                    <a:pt x="325" y="532"/>
                    <a:pt x="329" y="521"/>
                  </a:cubicBezTo>
                  <a:cubicBezTo>
                    <a:pt x="444" y="492"/>
                    <a:pt x="528" y="386"/>
                    <a:pt x="528" y="265"/>
                  </a:cubicBezTo>
                  <a:cubicBezTo>
                    <a:pt x="528" y="119"/>
                    <a:pt x="410" y="0"/>
                    <a:pt x="264" y="0"/>
                  </a:cubicBezTo>
                  <a:cubicBezTo>
                    <a:pt x="118" y="0"/>
                    <a:pt x="0" y="119"/>
                    <a:pt x="0" y="265"/>
                  </a:cubicBezTo>
                  <a:cubicBezTo>
                    <a:pt x="0" y="386"/>
                    <a:pt x="84" y="493"/>
                    <a:pt x="200" y="521"/>
                  </a:cubicBezTo>
                  <a:cubicBezTo>
                    <a:pt x="204" y="532"/>
                    <a:pt x="213" y="540"/>
                    <a:pt x="225" y="540"/>
                  </a:cubicBezTo>
                  <a:close/>
                </a:path>
              </a:pathLst>
            </a:custGeom>
            <a:grpFill/>
            <a:ln w="0">
              <a:noFill/>
              <a:prstDash val="solid"/>
              <a:round/>
              <a:headEnd/>
              <a:tailEnd/>
            </a:ln>
          </p:spPr>
          <p:txBody>
            <a:bodyPr/>
            <a:lstStyle/>
            <a:p>
              <a:pPr marL="0" marR="0" lvl="0" indent="0" defTabSz="54358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1" name="TextBox 3"/>
          <p:cNvSpPr txBox="1">
            <a:spLocks noChangeArrowheads="1"/>
          </p:cNvSpPr>
          <p:nvPr/>
        </p:nvSpPr>
        <p:spPr bwMode="gray">
          <a:xfrm>
            <a:off x="1000437" y="5231996"/>
            <a:ext cx="503381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38"/>
              </a:spcBef>
              <a:buFont typeface="Arial" panose="020B0604020202020204" pitchFamily="34" charset="0"/>
              <a:buChar char="•"/>
              <a:defRPr sz="1100">
                <a:solidFill>
                  <a:schemeClr val="tx1"/>
                </a:solidFill>
                <a:latin typeface="Arial" panose="020B0604020202020204" pitchFamily="34" charset="0"/>
                <a:ea typeface="宋体" panose="02010600030101010101" pitchFamily="2" charset="-122"/>
              </a:defRPr>
            </a:lvl1pPr>
            <a:lvl2pPr marL="742950" indent="-285750">
              <a:spcBef>
                <a:spcPts val="38"/>
              </a:spcBef>
              <a:buFont typeface="Arial" panose="020B0604020202020204" pitchFamily="34" charset="0"/>
              <a:buChar char="–"/>
              <a:defRPr sz="1000">
                <a:solidFill>
                  <a:schemeClr val="tx1"/>
                </a:solidFill>
                <a:latin typeface="Arial" panose="020B0604020202020204" pitchFamily="34" charset="0"/>
                <a:ea typeface="宋体" panose="02010600030101010101" pitchFamily="2" charset="-122"/>
              </a:defRPr>
            </a:lvl2pPr>
            <a:lvl3pPr marL="1143000" indent="-228600">
              <a:spcBef>
                <a:spcPts val="38"/>
              </a:spcBef>
              <a:buFont typeface="Arial" panose="020B0604020202020204" pitchFamily="34" charset="0"/>
              <a:buChar char="•"/>
              <a:defRPr sz="800">
                <a:solidFill>
                  <a:schemeClr val="tx1"/>
                </a:solidFill>
                <a:latin typeface="Arial" panose="020B0604020202020204" pitchFamily="34" charset="0"/>
                <a:ea typeface="宋体" panose="02010600030101010101" pitchFamily="2" charset="-122"/>
              </a:defRPr>
            </a:lvl3pPr>
            <a:lvl4pPr marL="1600200" indent="-228600">
              <a:spcBef>
                <a:spcPts val="38"/>
              </a:spcBef>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4pPr>
            <a:lvl5pPr marL="2057400" indent="-228600">
              <a:spcBef>
                <a:spcPts val="38"/>
              </a:spcBef>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9pPr>
          </a:lstStyle>
          <a:p>
            <a:pPr algn="ctr" defTabSz="4726716" fontAlgn="base">
              <a:lnSpc>
                <a:spcPct val="150000"/>
              </a:lnSpc>
              <a:spcBef>
                <a:spcPct val="0"/>
              </a:spcBef>
              <a:spcAft>
                <a:spcPct val="0"/>
              </a:spcAft>
              <a:buFont typeface="Arial" panose="020B0604020202020204" pitchFamily="34" charset="0"/>
              <a:buNone/>
            </a:pPr>
            <a:r>
              <a:rPr lang="zh-CN" altLang="en-US" sz="18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实时仿真反馈</a:t>
            </a:r>
            <a:endParaRPr lang="en-US" altLang="zh-CN" sz="18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4726716" fontAlgn="base">
              <a:lnSpc>
                <a:spcPct val="150000"/>
              </a:lnSpc>
              <a:spcBef>
                <a:spcPct val="0"/>
              </a:spcBef>
              <a:spcAft>
                <a:spcPct val="0"/>
              </a:spcAft>
              <a:buFont typeface="Arial" panose="020B0604020202020204" pitchFamily="34" charset="0"/>
              <a:buNone/>
            </a:pP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结合</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环境变化实时反馈</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，提供预测、仿真工具</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驱动</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优化</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56"/>
          <p:cNvSpPr txBox="1">
            <a:spLocks noChangeArrowheads="1"/>
          </p:cNvSpPr>
          <p:nvPr/>
        </p:nvSpPr>
        <p:spPr bwMode="gray">
          <a:xfrm>
            <a:off x="6548673" y="5231996"/>
            <a:ext cx="4795044"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38"/>
              </a:spcBef>
              <a:buFont typeface="Arial" panose="020B0604020202020204" pitchFamily="34" charset="0"/>
              <a:buChar char="•"/>
              <a:defRPr sz="1100">
                <a:solidFill>
                  <a:schemeClr val="tx1"/>
                </a:solidFill>
                <a:latin typeface="Arial" panose="020B0604020202020204" pitchFamily="34" charset="0"/>
                <a:ea typeface="宋体" panose="02010600030101010101" pitchFamily="2" charset="-122"/>
              </a:defRPr>
            </a:lvl1pPr>
            <a:lvl2pPr marL="742950" indent="-285750">
              <a:spcBef>
                <a:spcPts val="38"/>
              </a:spcBef>
              <a:buFont typeface="Arial" panose="020B0604020202020204" pitchFamily="34" charset="0"/>
              <a:buChar char="–"/>
              <a:defRPr sz="1000">
                <a:solidFill>
                  <a:schemeClr val="tx1"/>
                </a:solidFill>
                <a:latin typeface="Arial" panose="020B0604020202020204" pitchFamily="34" charset="0"/>
                <a:ea typeface="宋体" panose="02010600030101010101" pitchFamily="2" charset="-122"/>
              </a:defRPr>
            </a:lvl2pPr>
            <a:lvl3pPr marL="1143000" indent="-228600">
              <a:spcBef>
                <a:spcPts val="38"/>
              </a:spcBef>
              <a:buFont typeface="Arial" panose="020B0604020202020204" pitchFamily="34" charset="0"/>
              <a:buChar char="•"/>
              <a:defRPr sz="800">
                <a:solidFill>
                  <a:schemeClr val="tx1"/>
                </a:solidFill>
                <a:latin typeface="Arial" panose="020B0604020202020204" pitchFamily="34" charset="0"/>
                <a:ea typeface="宋体" panose="02010600030101010101" pitchFamily="2" charset="-122"/>
              </a:defRPr>
            </a:lvl3pPr>
            <a:lvl4pPr marL="1600200" indent="-228600">
              <a:spcBef>
                <a:spcPts val="38"/>
              </a:spcBef>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4pPr>
            <a:lvl5pPr marL="2057400" indent="-228600">
              <a:spcBef>
                <a:spcPts val="38"/>
              </a:spcBef>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38"/>
              </a:spcBef>
              <a:spcAft>
                <a:spcPct val="0"/>
              </a:spcAft>
              <a:buFont typeface="Arial" panose="020B0604020202020204" pitchFamily="34" charset="0"/>
              <a:buChar char="»"/>
              <a:defRPr sz="700">
                <a:solidFill>
                  <a:schemeClr val="tx1"/>
                </a:solidFill>
                <a:latin typeface="Arial" panose="020B0604020202020204" pitchFamily="34" charset="0"/>
                <a:ea typeface="宋体" panose="02010600030101010101" pitchFamily="2" charset="-122"/>
              </a:defRPr>
            </a:lvl9pPr>
          </a:lstStyle>
          <a:p>
            <a:pPr algn="ctr" defTabSz="4726716" fontAlgn="base">
              <a:lnSpc>
                <a:spcPct val="150000"/>
              </a:lnSpc>
              <a:spcBef>
                <a:spcPct val="0"/>
              </a:spcBef>
              <a:spcAft>
                <a:spcPct val="0"/>
              </a:spcAft>
              <a:buFont typeface="Arial" panose="020B0604020202020204" pitchFamily="34" charset="0"/>
              <a:buNone/>
            </a:pPr>
            <a:r>
              <a:rPr lang="zh-CN" altLang="en-US" sz="18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预测性调优</a:t>
            </a:r>
            <a:endParaRPr lang="en-US" altLang="zh-CN" sz="18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4726716" fontAlgn="base">
              <a:lnSpc>
                <a:spcPct val="150000"/>
              </a:lnSpc>
              <a:spcBef>
                <a:spcPct val="0"/>
              </a:spcBef>
              <a:spcAft>
                <a:spcPct val="0"/>
              </a:spcAft>
              <a:buFont typeface="Arial" panose="020B0604020202020204" pitchFamily="34" charset="0"/>
              <a:buNone/>
            </a:pP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大数据</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+AI </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提供</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业务权重</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的权衡调</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优能力。</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矩形 22"/>
          <p:cNvSpPr/>
          <p:nvPr/>
        </p:nvSpPr>
        <p:spPr bwMode="gray">
          <a:xfrm>
            <a:off x="1729859" y="2757761"/>
            <a:ext cx="3765250" cy="340991"/>
          </a:xfrm>
          <a:prstGeom prst="rect">
            <a:avLst/>
          </a:prstGeom>
          <a:noFill/>
        </p:spPr>
        <p:txBody>
          <a:bodyPr wrap="square">
            <a:spAutoFit/>
          </a:bodyPr>
          <a:lstStyle/>
          <a:p>
            <a:pPr>
              <a:lnSpc>
                <a:spcPct val="150000"/>
              </a:lnSpc>
            </a:pP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约</a:t>
            </a:r>
            <a:r>
              <a:rPr lang="en-US" altLang="zh-CN" sz="12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20%</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客户</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会</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选择手工规划信道等，但面临的挑战：</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文本框 23"/>
          <p:cNvSpPr txBox="1"/>
          <p:nvPr/>
        </p:nvSpPr>
        <p:spPr bwMode="gray">
          <a:xfrm>
            <a:off x="7430980" y="2757761"/>
            <a:ext cx="3718659" cy="340991"/>
          </a:xfrm>
          <a:prstGeom prst="rect">
            <a:avLst/>
          </a:prstGeom>
          <a:noFill/>
        </p:spPr>
        <p:txBody>
          <a:bodyPr vert="horz" wrap="square" rtlCol="0">
            <a:spAutoFit/>
          </a:bodyPr>
          <a:lstStyle/>
          <a:p>
            <a:pPr>
              <a:lnSpc>
                <a:spcPct val="150000"/>
              </a:lnSpc>
            </a:pP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约</a:t>
            </a:r>
            <a:r>
              <a:rPr lang="en-US" altLang="zh-CN" sz="1200" b="1"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80%</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会采用设备自动调优，但面临的挑战：</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下箭头 24"/>
          <p:cNvSpPr/>
          <p:nvPr/>
        </p:nvSpPr>
        <p:spPr bwMode="gray">
          <a:xfrm>
            <a:off x="3077682" y="4721670"/>
            <a:ext cx="379395" cy="330110"/>
          </a:xfrm>
          <a:prstGeom prst="down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下箭头 25"/>
          <p:cNvSpPr/>
          <p:nvPr/>
        </p:nvSpPr>
        <p:spPr bwMode="gray">
          <a:xfrm>
            <a:off x="8756498" y="4721670"/>
            <a:ext cx="379395" cy="330110"/>
          </a:xfrm>
          <a:prstGeom prst="downArrow">
            <a:avLst/>
          </a:prstGeom>
          <a:solidFill>
            <a:srgbClr val="C7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文本框 26"/>
          <p:cNvSpPr txBox="1"/>
          <p:nvPr/>
        </p:nvSpPr>
        <p:spPr bwMode="gray">
          <a:xfrm>
            <a:off x="2747068" y="3870803"/>
            <a:ext cx="2072048" cy="523220"/>
          </a:xfrm>
          <a:prstGeom prst="rect">
            <a:avLst/>
          </a:prstGeom>
          <a:noFill/>
        </p:spPr>
        <p:txBody>
          <a:bodyPr wrap="square" rtlCol="0">
            <a:spAutoFit/>
          </a:bodyPr>
          <a:lstStyle/>
          <a:p>
            <a:pPr defTabSz="1219028" fontAlgn="base">
              <a:spcBef>
                <a:spcPct val="0"/>
              </a:spcBef>
              <a:spcAft>
                <a:spcPct val="0"/>
              </a:spcAft>
              <a:buClr>
                <a:srgbClr val="CC9900"/>
              </a:buClr>
            </a:pPr>
            <a:r>
              <a:rPr lang="zh-CN" altLang="en-US"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无法实时感知</a:t>
            </a:r>
            <a:endParaRPr lang="en-US" altLang="zh-CN"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9028" fontAlgn="base">
              <a:spcBef>
                <a:spcPct val="0"/>
              </a:spcBef>
              <a:spcAft>
                <a:spcPct val="0"/>
              </a:spcAft>
              <a:buClr>
                <a:srgbClr val="CC9900"/>
              </a:buClr>
            </a:pPr>
            <a:r>
              <a:rPr kumimoji="1"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网络环境复杂，干扰变化大</a:t>
            </a:r>
            <a:endParaRPr kumimoji="1"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文本框 27"/>
          <p:cNvSpPr txBox="1"/>
          <p:nvPr/>
        </p:nvSpPr>
        <p:spPr bwMode="gray">
          <a:xfrm>
            <a:off x="2739274" y="3227381"/>
            <a:ext cx="1905654" cy="338554"/>
          </a:xfrm>
          <a:prstGeom prst="rect">
            <a:avLst/>
          </a:prstGeom>
          <a:noFill/>
        </p:spPr>
        <p:txBody>
          <a:bodyPr wrap="square" rtlCol="0">
            <a:spAutoFit/>
          </a:bodyPr>
          <a:lstStyle/>
          <a:p>
            <a:pPr defTabSz="1219028" fontAlgn="base">
              <a:spcBef>
                <a:spcPct val="0"/>
              </a:spcBef>
              <a:spcAft>
                <a:spcPct val="0"/>
              </a:spcAft>
              <a:buClr>
                <a:srgbClr val="CC9900"/>
              </a:buClr>
            </a:pPr>
            <a:r>
              <a:rPr lang="zh-CN" altLang="en-US"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手工规划不是最优</a:t>
            </a:r>
            <a:endParaRPr lang="en-US" altLang="zh-CN"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Freeform 34"/>
          <p:cNvSpPr/>
          <p:nvPr/>
        </p:nvSpPr>
        <p:spPr bwMode="gray">
          <a:xfrm>
            <a:off x="1900458" y="3227381"/>
            <a:ext cx="409125" cy="338554"/>
          </a:xfrm>
          <a:custGeom>
            <a:avLst/>
            <a:gdLst/>
            <a:ahLst/>
            <a:cxnLst>
              <a:cxn ang="0">
                <a:pos x="wd2" y="hd2"/>
              </a:cxn>
              <a:cxn ang="5400000">
                <a:pos x="wd2" y="hd2"/>
              </a:cxn>
              <a:cxn ang="10800000">
                <a:pos x="wd2" y="hd2"/>
              </a:cxn>
              <a:cxn ang="16200000">
                <a:pos x="wd2" y="hd2"/>
              </a:cxn>
            </a:cxnLst>
            <a:rect l="0" t="0" r="r" b="b"/>
            <a:pathLst>
              <a:path w="21600" h="21600" extrusionOk="0">
                <a:moveTo>
                  <a:pt x="19518" y="18494"/>
                </a:moveTo>
                <a:cubicBezTo>
                  <a:pt x="20039" y="17788"/>
                  <a:pt x="20299" y="16941"/>
                  <a:pt x="20299" y="15953"/>
                </a:cubicBezTo>
                <a:cubicBezTo>
                  <a:pt x="20299" y="13694"/>
                  <a:pt x="18607" y="11718"/>
                  <a:pt x="16395" y="11718"/>
                </a:cubicBezTo>
                <a:cubicBezTo>
                  <a:pt x="14313" y="11718"/>
                  <a:pt x="12492" y="13694"/>
                  <a:pt x="12492" y="15953"/>
                </a:cubicBezTo>
                <a:cubicBezTo>
                  <a:pt x="12492" y="18353"/>
                  <a:pt x="14313" y="20329"/>
                  <a:pt x="16395" y="20329"/>
                </a:cubicBezTo>
                <a:cubicBezTo>
                  <a:pt x="17306" y="20329"/>
                  <a:pt x="18087" y="19906"/>
                  <a:pt x="18737" y="19341"/>
                </a:cubicBezTo>
                <a:cubicBezTo>
                  <a:pt x="20559" y="21459"/>
                  <a:pt x="20559" y="21459"/>
                  <a:pt x="20559" y="21459"/>
                </a:cubicBezTo>
                <a:cubicBezTo>
                  <a:pt x="20689" y="21600"/>
                  <a:pt x="20949" y="21600"/>
                  <a:pt x="21080" y="21600"/>
                </a:cubicBezTo>
                <a:cubicBezTo>
                  <a:pt x="21080" y="21600"/>
                  <a:pt x="21340" y="21600"/>
                  <a:pt x="21470" y="21459"/>
                </a:cubicBezTo>
                <a:cubicBezTo>
                  <a:pt x="21600" y="21176"/>
                  <a:pt x="21600" y="20894"/>
                  <a:pt x="21470" y="20612"/>
                </a:cubicBezTo>
                <a:lnTo>
                  <a:pt x="19518" y="18494"/>
                </a:lnTo>
                <a:close/>
                <a:moveTo>
                  <a:pt x="18217" y="18353"/>
                </a:moveTo>
                <a:cubicBezTo>
                  <a:pt x="17696" y="18776"/>
                  <a:pt x="17046" y="19059"/>
                  <a:pt x="16395" y="19059"/>
                </a:cubicBezTo>
                <a:cubicBezTo>
                  <a:pt x="14834" y="19059"/>
                  <a:pt x="13663" y="17647"/>
                  <a:pt x="13663" y="15953"/>
                </a:cubicBezTo>
                <a:cubicBezTo>
                  <a:pt x="13663" y="14400"/>
                  <a:pt x="14834" y="12988"/>
                  <a:pt x="16395" y="12988"/>
                </a:cubicBezTo>
                <a:cubicBezTo>
                  <a:pt x="17957" y="12988"/>
                  <a:pt x="19258" y="14400"/>
                  <a:pt x="19258" y="15953"/>
                </a:cubicBezTo>
                <a:cubicBezTo>
                  <a:pt x="19258" y="16941"/>
                  <a:pt x="18867" y="17788"/>
                  <a:pt x="18217" y="18353"/>
                </a:cubicBezTo>
                <a:close/>
                <a:moveTo>
                  <a:pt x="7677" y="5506"/>
                </a:moveTo>
                <a:cubicBezTo>
                  <a:pt x="7677" y="4376"/>
                  <a:pt x="6766" y="3388"/>
                  <a:pt x="5725" y="3388"/>
                </a:cubicBezTo>
                <a:cubicBezTo>
                  <a:pt x="4554" y="3388"/>
                  <a:pt x="3643" y="4376"/>
                  <a:pt x="3643" y="5506"/>
                </a:cubicBezTo>
                <a:cubicBezTo>
                  <a:pt x="3643" y="6776"/>
                  <a:pt x="4554" y="7765"/>
                  <a:pt x="5725" y="7765"/>
                </a:cubicBezTo>
                <a:cubicBezTo>
                  <a:pt x="6766" y="7765"/>
                  <a:pt x="7677" y="6776"/>
                  <a:pt x="7677" y="5506"/>
                </a:cubicBezTo>
                <a:close/>
                <a:moveTo>
                  <a:pt x="4294" y="5506"/>
                </a:moveTo>
                <a:cubicBezTo>
                  <a:pt x="4294" y="4659"/>
                  <a:pt x="4945" y="3953"/>
                  <a:pt x="5725" y="3953"/>
                </a:cubicBezTo>
                <a:cubicBezTo>
                  <a:pt x="6506" y="3953"/>
                  <a:pt x="7157" y="4659"/>
                  <a:pt x="7157" y="5506"/>
                </a:cubicBezTo>
                <a:cubicBezTo>
                  <a:pt x="7157" y="6353"/>
                  <a:pt x="6506" y="7059"/>
                  <a:pt x="5725" y="7059"/>
                </a:cubicBezTo>
                <a:cubicBezTo>
                  <a:pt x="4945" y="7059"/>
                  <a:pt x="4294" y="6353"/>
                  <a:pt x="4294" y="5506"/>
                </a:cubicBezTo>
                <a:close/>
                <a:moveTo>
                  <a:pt x="19908" y="0"/>
                </a:moveTo>
                <a:cubicBezTo>
                  <a:pt x="1692" y="0"/>
                  <a:pt x="1692" y="0"/>
                  <a:pt x="1692" y="0"/>
                </a:cubicBezTo>
                <a:cubicBezTo>
                  <a:pt x="781" y="0"/>
                  <a:pt x="0" y="847"/>
                  <a:pt x="0" y="1835"/>
                </a:cubicBezTo>
                <a:cubicBezTo>
                  <a:pt x="0" y="19200"/>
                  <a:pt x="0" y="19200"/>
                  <a:pt x="0" y="19200"/>
                </a:cubicBezTo>
                <a:cubicBezTo>
                  <a:pt x="0" y="20188"/>
                  <a:pt x="781" y="21035"/>
                  <a:pt x="1692" y="21035"/>
                </a:cubicBezTo>
                <a:cubicBezTo>
                  <a:pt x="11971" y="21035"/>
                  <a:pt x="11971" y="21035"/>
                  <a:pt x="11971" y="21035"/>
                </a:cubicBezTo>
                <a:cubicBezTo>
                  <a:pt x="12231" y="21035"/>
                  <a:pt x="12492" y="20753"/>
                  <a:pt x="12492" y="20329"/>
                </a:cubicBezTo>
                <a:cubicBezTo>
                  <a:pt x="12492" y="20047"/>
                  <a:pt x="12231" y="19765"/>
                  <a:pt x="11971" y="19765"/>
                </a:cubicBezTo>
                <a:cubicBezTo>
                  <a:pt x="1692" y="19765"/>
                  <a:pt x="1692" y="19765"/>
                  <a:pt x="1692" y="19765"/>
                </a:cubicBezTo>
                <a:cubicBezTo>
                  <a:pt x="1431" y="19765"/>
                  <a:pt x="1171" y="19482"/>
                  <a:pt x="1171" y="19200"/>
                </a:cubicBezTo>
                <a:cubicBezTo>
                  <a:pt x="1171" y="1835"/>
                  <a:pt x="1171" y="1835"/>
                  <a:pt x="1171" y="1835"/>
                </a:cubicBezTo>
                <a:cubicBezTo>
                  <a:pt x="1171" y="1553"/>
                  <a:pt x="1431" y="1271"/>
                  <a:pt x="1692" y="1271"/>
                </a:cubicBezTo>
                <a:cubicBezTo>
                  <a:pt x="19908" y="1271"/>
                  <a:pt x="19908" y="1271"/>
                  <a:pt x="19908" y="1271"/>
                </a:cubicBezTo>
                <a:cubicBezTo>
                  <a:pt x="20169" y="1271"/>
                  <a:pt x="20429" y="1553"/>
                  <a:pt x="20429" y="1835"/>
                </a:cubicBezTo>
                <a:cubicBezTo>
                  <a:pt x="20429" y="12424"/>
                  <a:pt x="20429" y="12424"/>
                  <a:pt x="20429" y="12424"/>
                </a:cubicBezTo>
                <a:cubicBezTo>
                  <a:pt x="20429" y="12706"/>
                  <a:pt x="20689" y="12988"/>
                  <a:pt x="21080" y="12988"/>
                </a:cubicBezTo>
                <a:cubicBezTo>
                  <a:pt x="21340" y="12988"/>
                  <a:pt x="21600" y="12706"/>
                  <a:pt x="21600" y="12424"/>
                </a:cubicBezTo>
                <a:cubicBezTo>
                  <a:pt x="21600" y="1835"/>
                  <a:pt x="21600" y="1835"/>
                  <a:pt x="21600" y="1835"/>
                </a:cubicBezTo>
                <a:cubicBezTo>
                  <a:pt x="21600" y="847"/>
                  <a:pt x="20819" y="0"/>
                  <a:pt x="19908" y="0"/>
                </a:cubicBezTo>
                <a:close/>
                <a:moveTo>
                  <a:pt x="2993" y="16518"/>
                </a:moveTo>
                <a:cubicBezTo>
                  <a:pt x="2993" y="16518"/>
                  <a:pt x="3123" y="16518"/>
                  <a:pt x="3123" y="16518"/>
                </a:cubicBezTo>
                <a:cubicBezTo>
                  <a:pt x="3253" y="16518"/>
                  <a:pt x="3253" y="16518"/>
                  <a:pt x="3253" y="16376"/>
                </a:cubicBezTo>
                <a:cubicBezTo>
                  <a:pt x="5595" y="11859"/>
                  <a:pt x="5595" y="11859"/>
                  <a:pt x="5595" y="11859"/>
                </a:cubicBezTo>
                <a:cubicBezTo>
                  <a:pt x="6116" y="10729"/>
                  <a:pt x="7417" y="10447"/>
                  <a:pt x="8328" y="11012"/>
                </a:cubicBezTo>
                <a:cubicBezTo>
                  <a:pt x="9499" y="11576"/>
                  <a:pt x="9499" y="11576"/>
                  <a:pt x="9499" y="11576"/>
                </a:cubicBezTo>
                <a:cubicBezTo>
                  <a:pt x="10670" y="12424"/>
                  <a:pt x="12361" y="12000"/>
                  <a:pt x="13272" y="10871"/>
                </a:cubicBezTo>
                <a:cubicBezTo>
                  <a:pt x="14964" y="8612"/>
                  <a:pt x="14964" y="8612"/>
                  <a:pt x="14964" y="8612"/>
                </a:cubicBezTo>
                <a:cubicBezTo>
                  <a:pt x="15354" y="8047"/>
                  <a:pt x="16135" y="7200"/>
                  <a:pt x="17176" y="7906"/>
                </a:cubicBezTo>
                <a:cubicBezTo>
                  <a:pt x="17696" y="8329"/>
                  <a:pt x="18217" y="9176"/>
                  <a:pt x="18217" y="9176"/>
                </a:cubicBezTo>
                <a:cubicBezTo>
                  <a:pt x="18347" y="9176"/>
                  <a:pt x="18477" y="9318"/>
                  <a:pt x="18607" y="9176"/>
                </a:cubicBezTo>
                <a:cubicBezTo>
                  <a:pt x="18737" y="9035"/>
                  <a:pt x="18867" y="8894"/>
                  <a:pt x="18737" y="8753"/>
                </a:cubicBezTo>
                <a:cubicBezTo>
                  <a:pt x="18737" y="8753"/>
                  <a:pt x="18087" y="7906"/>
                  <a:pt x="17436" y="7482"/>
                </a:cubicBezTo>
                <a:cubicBezTo>
                  <a:pt x="16525" y="6776"/>
                  <a:pt x="15484" y="7059"/>
                  <a:pt x="14573" y="8188"/>
                </a:cubicBezTo>
                <a:cubicBezTo>
                  <a:pt x="12882" y="10447"/>
                  <a:pt x="12882" y="10447"/>
                  <a:pt x="12882" y="10447"/>
                </a:cubicBezTo>
                <a:cubicBezTo>
                  <a:pt x="12101" y="11435"/>
                  <a:pt x="10800" y="11718"/>
                  <a:pt x="9759" y="11153"/>
                </a:cubicBezTo>
                <a:cubicBezTo>
                  <a:pt x="8588" y="10447"/>
                  <a:pt x="8588" y="10447"/>
                  <a:pt x="8588" y="10447"/>
                </a:cubicBezTo>
                <a:cubicBezTo>
                  <a:pt x="7417" y="9741"/>
                  <a:pt x="5855" y="10165"/>
                  <a:pt x="5205" y="11576"/>
                </a:cubicBezTo>
                <a:cubicBezTo>
                  <a:pt x="2863" y="16094"/>
                  <a:pt x="2863" y="16094"/>
                  <a:pt x="2863" y="16094"/>
                </a:cubicBezTo>
                <a:cubicBezTo>
                  <a:pt x="2733" y="16235"/>
                  <a:pt x="2863" y="16518"/>
                  <a:pt x="2993" y="16518"/>
                </a:cubicBezTo>
                <a:close/>
              </a:path>
            </a:pathLst>
          </a:custGeom>
          <a:solidFill>
            <a:srgbClr val="666666"/>
          </a:solidFill>
          <a:ln w="3175">
            <a:noFill/>
            <a:miter lim="400000"/>
          </a:ln>
        </p:spPr>
        <p:txBody>
          <a:bodyPr lIns="15679" tIns="15679" rIns="15679" bIns="15679"/>
          <a:lstStyle/>
          <a:p>
            <a:pPr marL="0" marR="0" lvl="0" indent="0" defTabSz="254784" eaLnBrk="1" fontAlgn="auto" latinLnBrk="0" hangingPunct="1">
              <a:lnSpc>
                <a:spcPct val="100000"/>
              </a:lnSpc>
              <a:spcBef>
                <a:spcPts val="0"/>
              </a:spcBef>
              <a:spcAft>
                <a:spcPts val="0"/>
              </a:spcAft>
              <a:buClrTx/>
              <a:buSzTx/>
              <a:buFontTx/>
              <a:buNone/>
              <a:tabLst/>
              <a:defRPr sz="1600" b="1">
                <a:solidFill>
                  <a:srgbClr val="FFFFFF"/>
                </a:solidFill>
                <a:latin typeface="Arial"/>
                <a:ea typeface="Arial"/>
                <a:cs typeface="Arial"/>
                <a:sym typeface="Arial"/>
              </a:defRPr>
            </a:pPr>
            <a:endParaRPr kumimoji="0" sz="1200" b="1" i="0" u="none" strike="noStrike" kern="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圆形"/>
          <p:cNvSpPr/>
          <p:nvPr/>
        </p:nvSpPr>
        <p:spPr bwMode="gray">
          <a:xfrm>
            <a:off x="1882037" y="3907064"/>
            <a:ext cx="445967" cy="435308"/>
          </a:xfrm>
          <a:prstGeom prst="ellipse">
            <a:avLst/>
          </a:prstGeom>
          <a:ln w="38100">
            <a:solidFill>
              <a:srgbClr val="1D1D1A">
                <a:lumMod val="65000"/>
                <a:lumOff val="35000"/>
              </a:srgbClr>
            </a:solidFill>
            <a:miter lim="400000"/>
          </a:ln>
        </p:spPr>
        <p:txBody>
          <a:bodyPr lIns="44619" tIns="44619" rIns="44619" bIns="44619" anchor="ctr"/>
          <a:lstStyle/>
          <a:p>
            <a:pPr marL="0" marR="0" lvl="0" indent="0" defTabSz="914400" eaLnBrk="1" fontAlgn="auto" latinLnBrk="0" hangingPunct="1">
              <a:lnSpc>
                <a:spcPct val="100000"/>
              </a:lnSpc>
              <a:spcBef>
                <a:spcPts val="0"/>
              </a:spcBef>
              <a:spcAft>
                <a:spcPts val="0"/>
              </a:spcAft>
              <a:buClrTx/>
              <a:buSzTx/>
              <a:buFontTx/>
              <a:buNone/>
              <a:tabLst/>
              <a:defRPr sz="3200">
                <a:latin typeface="Helvetica Light"/>
                <a:ea typeface="Helvetica Light"/>
                <a:cs typeface="Helvetica Light"/>
                <a:sym typeface="Helvetica Light"/>
              </a:defRPr>
            </a:pPr>
            <a:endParaRPr kumimoji="0"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椭圆形"/>
          <p:cNvSpPr/>
          <p:nvPr/>
        </p:nvSpPr>
        <p:spPr bwMode="gray">
          <a:xfrm>
            <a:off x="1974714" y="4083013"/>
            <a:ext cx="92707" cy="87335"/>
          </a:xfrm>
          <a:prstGeom prst="ellipse">
            <a:avLst/>
          </a:prstGeom>
          <a:solidFill>
            <a:srgbClr val="666666"/>
          </a:solidFill>
          <a:ln w="3175">
            <a:miter lim="400000"/>
          </a:ln>
        </p:spPr>
        <p:txBody>
          <a:bodyPr lIns="44619" tIns="44619" rIns="44619" bIns="44619" anchor="ctr"/>
          <a:lstStyle/>
          <a:p>
            <a:pPr marL="0" marR="0" lvl="0" indent="0" defTabSz="914400" eaLnBrk="1" fontAlgn="auto" latinLnBrk="0" hangingPunct="1">
              <a:lnSpc>
                <a:spcPct val="100000"/>
              </a:lnSpc>
              <a:spcBef>
                <a:spcPts val="0"/>
              </a:spcBef>
              <a:spcAft>
                <a:spcPts val="0"/>
              </a:spcAft>
              <a:buClrTx/>
              <a:buSzTx/>
              <a:buFontTx/>
              <a:buNone/>
              <a:tabLst/>
              <a:defRPr sz="3200">
                <a:latin typeface="Helvetica Light"/>
                <a:ea typeface="Helvetica Light"/>
                <a:cs typeface="Helvetica Light"/>
                <a:sym typeface="Helvetica Light"/>
              </a:defRPr>
            </a:pPr>
            <a:endParaRPr kumimoji="0" sz="20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椭圆形"/>
          <p:cNvSpPr/>
          <p:nvPr/>
        </p:nvSpPr>
        <p:spPr bwMode="gray">
          <a:xfrm>
            <a:off x="2143956" y="4083013"/>
            <a:ext cx="92707" cy="87335"/>
          </a:xfrm>
          <a:prstGeom prst="ellipse">
            <a:avLst/>
          </a:prstGeom>
          <a:solidFill>
            <a:srgbClr val="666666"/>
          </a:solidFill>
          <a:ln w="3175">
            <a:miter lim="400000"/>
          </a:ln>
        </p:spPr>
        <p:txBody>
          <a:bodyPr lIns="44619" tIns="44619" rIns="44619" bIns="44619" anchor="ctr"/>
          <a:lstStyle/>
          <a:p>
            <a:pPr marL="0" marR="0" lvl="0" indent="0" defTabSz="914400" eaLnBrk="1" fontAlgn="auto" latinLnBrk="0" hangingPunct="1">
              <a:lnSpc>
                <a:spcPct val="100000"/>
              </a:lnSpc>
              <a:spcBef>
                <a:spcPts val="0"/>
              </a:spcBef>
              <a:spcAft>
                <a:spcPts val="0"/>
              </a:spcAft>
              <a:buClrTx/>
              <a:buSzTx/>
              <a:buFontTx/>
              <a:buNone/>
              <a:tabLst/>
              <a:defRPr sz="3200">
                <a:latin typeface="Helvetica Light"/>
                <a:ea typeface="Helvetica Light"/>
                <a:cs typeface="Helvetica Light"/>
                <a:sym typeface="Helvetica Light"/>
              </a:defRPr>
            </a:pPr>
            <a:endParaRPr kumimoji="0" sz="20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椭圆形"/>
          <p:cNvSpPr/>
          <p:nvPr/>
        </p:nvSpPr>
        <p:spPr bwMode="gray">
          <a:xfrm rot="5376000">
            <a:off x="2058950" y="3998575"/>
            <a:ext cx="92294" cy="87727"/>
          </a:xfrm>
          <a:prstGeom prst="ellipse">
            <a:avLst/>
          </a:prstGeom>
          <a:solidFill>
            <a:srgbClr val="666666"/>
          </a:solidFill>
          <a:ln w="3175">
            <a:miter lim="400000"/>
          </a:ln>
        </p:spPr>
        <p:txBody>
          <a:bodyPr lIns="44619" tIns="44619" rIns="44619" bIns="44619" anchor="ctr"/>
          <a:lstStyle/>
          <a:p>
            <a:pPr marL="0" marR="0" lvl="0" indent="0" defTabSz="914400" eaLnBrk="1" fontAlgn="auto" latinLnBrk="0" hangingPunct="1">
              <a:lnSpc>
                <a:spcPct val="100000"/>
              </a:lnSpc>
              <a:spcBef>
                <a:spcPts val="0"/>
              </a:spcBef>
              <a:spcAft>
                <a:spcPts val="0"/>
              </a:spcAft>
              <a:buClrTx/>
              <a:buSzTx/>
              <a:buFontTx/>
              <a:buNone/>
              <a:tabLst/>
              <a:defRPr sz="3200">
                <a:latin typeface="Helvetica Light"/>
                <a:ea typeface="Helvetica Light"/>
                <a:cs typeface="Helvetica Light"/>
                <a:sym typeface="Helvetica Light"/>
              </a:defRPr>
            </a:pPr>
            <a:endParaRPr kumimoji="0" sz="20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椭圆形"/>
          <p:cNvSpPr/>
          <p:nvPr/>
        </p:nvSpPr>
        <p:spPr bwMode="gray">
          <a:xfrm rot="5376000">
            <a:off x="2060132" y="4167058"/>
            <a:ext cx="92294" cy="87727"/>
          </a:xfrm>
          <a:prstGeom prst="ellipse">
            <a:avLst/>
          </a:prstGeom>
          <a:solidFill>
            <a:srgbClr val="C7000B"/>
          </a:solidFill>
          <a:ln w="3175">
            <a:miter lim="400000"/>
          </a:ln>
        </p:spPr>
        <p:txBody>
          <a:bodyPr lIns="44619" tIns="44619" rIns="44619" bIns="44619" anchor="ctr"/>
          <a:lstStyle/>
          <a:p>
            <a:pPr marL="0" marR="0" lvl="0" indent="0" defTabSz="914400" eaLnBrk="1" fontAlgn="auto" latinLnBrk="0" hangingPunct="1">
              <a:lnSpc>
                <a:spcPct val="100000"/>
              </a:lnSpc>
              <a:spcBef>
                <a:spcPts val="0"/>
              </a:spcBef>
              <a:spcAft>
                <a:spcPts val="0"/>
              </a:spcAft>
              <a:buClrTx/>
              <a:buSzTx/>
              <a:buFontTx/>
              <a:buNone/>
              <a:tabLst/>
              <a:defRPr sz="3200">
                <a:latin typeface="Helvetica Light"/>
                <a:ea typeface="Helvetica Light"/>
                <a:cs typeface="Helvetica Light"/>
                <a:sym typeface="Helvetica Light"/>
              </a:defRPr>
            </a:pPr>
            <a:endParaRPr kumimoji="0" sz="20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5" name="组合 34"/>
          <p:cNvGrpSpPr/>
          <p:nvPr/>
        </p:nvGrpSpPr>
        <p:grpSpPr bwMode="gray">
          <a:xfrm>
            <a:off x="7517530" y="3212285"/>
            <a:ext cx="2857331" cy="1181738"/>
            <a:chOff x="7878403" y="2772408"/>
            <a:chExt cx="2857331" cy="1181738"/>
          </a:xfrm>
        </p:grpSpPr>
        <p:grpSp>
          <p:nvGrpSpPr>
            <p:cNvPr id="36" name="Group 4"/>
            <p:cNvGrpSpPr>
              <a:grpSpLocks noChangeAspect="1"/>
            </p:cNvGrpSpPr>
            <p:nvPr/>
          </p:nvGrpSpPr>
          <p:grpSpPr bwMode="gray">
            <a:xfrm>
              <a:off x="7878403" y="3445668"/>
              <a:ext cx="455071" cy="478347"/>
              <a:chOff x="15577" y="1382"/>
              <a:chExt cx="648" cy="690"/>
            </a:xfrm>
            <a:solidFill>
              <a:srgbClr val="666666"/>
            </a:solidFill>
          </p:grpSpPr>
          <p:sp>
            <p:nvSpPr>
              <p:cNvPr id="40" name="Rectangle 5"/>
              <p:cNvSpPr>
                <a:spLocks noChangeArrowheads="1"/>
              </p:cNvSpPr>
              <p:nvPr/>
            </p:nvSpPr>
            <p:spPr bwMode="gray">
              <a:xfrm>
                <a:off x="16020" y="1932"/>
                <a:ext cx="3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Rectangle 6"/>
              <p:cNvSpPr>
                <a:spLocks noChangeArrowheads="1"/>
              </p:cNvSpPr>
              <p:nvPr/>
            </p:nvSpPr>
            <p:spPr bwMode="gray">
              <a:xfrm>
                <a:off x="15793" y="1393"/>
                <a:ext cx="22" cy="64"/>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Rectangle 7"/>
              <p:cNvSpPr>
                <a:spLocks noChangeArrowheads="1"/>
              </p:cNvSpPr>
              <p:nvPr/>
            </p:nvSpPr>
            <p:spPr bwMode="gray">
              <a:xfrm>
                <a:off x="15577" y="1554"/>
                <a:ext cx="119"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Freeform 8"/>
              <p:cNvSpPr>
                <a:spLocks noEditPoints="1"/>
              </p:cNvSpPr>
              <p:nvPr/>
            </p:nvSpPr>
            <p:spPr bwMode="gray">
              <a:xfrm>
                <a:off x="15858" y="1447"/>
                <a:ext cx="65" cy="64"/>
              </a:xfrm>
              <a:custGeom>
                <a:avLst/>
                <a:gdLst>
                  <a:gd name="T0" fmla="*/ 65 w 65"/>
                  <a:gd name="T1" fmla="*/ 64 h 64"/>
                  <a:gd name="T2" fmla="*/ 0 w 65"/>
                  <a:gd name="T3" fmla="*/ 64 h 64"/>
                  <a:gd name="T4" fmla="*/ 0 w 65"/>
                  <a:gd name="T5" fmla="*/ 0 h 64"/>
                  <a:gd name="T6" fmla="*/ 65 w 65"/>
                  <a:gd name="T7" fmla="*/ 0 h 64"/>
                  <a:gd name="T8" fmla="*/ 65 w 65"/>
                  <a:gd name="T9" fmla="*/ 64 h 64"/>
                  <a:gd name="T10" fmla="*/ 22 w 65"/>
                  <a:gd name="T11" fmla="*/ 43 h 64"/>
                  <a:gd name="T12" fmla="*/ 43 w 65"/>
                  <a:gd name="T13" fmla="*/ 43 h 64"/>
                  <a:gd name="T14" fmla="*/ 43 w 65"/>
                  <a:gd name="T15" fmla="*/ 21 h 64"/>
                  <a:gd name="T16" fmla="*/ 22 w 65"/>
                  <a:gd name="T17" fmla="*/ 21 h 64"/>
                  <a:gd name="T18" fmla="*/ 22 w 65"/>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4">
                    <a:moveTo>
                      <a:pt x="65" y="64"/>
                    </a:moveTo>
                    <a:lnTo>
                      <a:pt x="0" y="64"/>
                    </a:lnTo>
                    <a:lnTo>
                      <a:pt x="0" y="0"/>
                    </a:lnTo>
                    <a:lnTo>
                      <a:pt x="65" y="0"/>
                    </a:lnTo>
                    <a:lnTo>
                      <a:pt x="65" y="64"/>
                    </a:lnTo>
                    <a:close/>
                    <a:moveTo>
                      <a:pt x="22" y="43"/>
                    </a:moveTo>
                    <a:lnTo>
                      <a:pt x="43" y="43"/>
                    </a:lnTo>
                    <a:lnTo>
                      <a:pt x="43" y="21"/>
                    </a:lnTo>
                    <a:lnTo>
                      <a:pt x="22" y="21"/>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Freeform 9"/>
              <p:cNvSpPr>
                <a:spLocks noEditPoints="1"/>
              </p:cNvSpPr>
              <p:nvPr/>
            </p:nvSpPr>
            <p:spPr bwMode="gray">
              <a:xfrm>
                <a:off x="15858" y="1533"/>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1 h 65"/>
                  <a:gd name="T16" fmla="*/ 22 w 65"/>
                  <a:gd name="T17" fmla="*/ 21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1"/>
                    </a:lnTo>
                    <a:lnTo>
                      <a:pt x="22" y="21"/>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Freeform 10"/>
              <p:cNvSpPr>
                <a:spLocks noEditPoints="1"/>
              </p:cNvSpPr>
              <p:nvPr/>
            </p:nvSpPr>
            <p:spPr bwMode="gray">
              <a:xfrm>
                <a:off x="15858" y="1619"/>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2 h 65"/>
                  <a:gd name="T16" fmla="*/ 22 w 65"/>
                  <a:gd name="T17" fmla="*/ 22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2"/>
                    </a:lnTo>
                    <a:lnTo>
                      <a:pt x="22" y="22"/>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Freeform 11"/>
              <p:cNvSpPr>
                <a:spLocks noEditPoints="1"/>
              </p:cNvSpPr>
              <p:nvPr/>
            </p:nvSpPr>
            <p:spPr bwMode="gray">
              <a:xfrm>
                <a:off x="15772" y="1447"/>
                <a:ext cx="64" cy="64"/>
              </a:xfrm>
              <a:custGeom>
                <a:avLst/>
                <a:gdLst>
                  <a:gd name="T0" fmla="*/ 64 w 64"/>
                  <a:gd name="T1" fmla="*/ 64 h 64"/>
                  <a:gd name="T2" fmla="*/ 0 w 64"/>
                  <a:gd name="T3" fmla="*/ 64 h 64"/>
                  <a:gd name="T4" fmla="*/ 0 w 64"/>
                  <a:gd name="T5" fmla="*/ 0 h 64"/>
                  <a:gd name="T6" fmla="*/ 64 w 64"/>
                  <a:gd name="T7" fmla="*/ 0 h 64"/>
                  <a:gd name="T8" fmla="*/ 64 w 64"/>
                  <a:gd name="T9" fmla="*/ 64 h 64"/>
                  <a:gd name="T10" fmla="*/ 21 w 64"/>
                  <a:gd name="T11" fmla="*/ 43 h 64"/>
                  <a:gd name="T12" fmla="*/ 43 w 64"/>
                  <a:gd name="T13" fmla="*/ 43 h 64"/>
                  <a:gd name="T14" fmla="*/ 43 w 64"/>
                  <a:gd name="T15" fmla="*/ 21 h 64"/>
                  <a:gd name="T16" fmla="*/ 21 w 64"/>
                  <a:gd name="T17" fmla="*/ 21 h 64"/>
                  <a:gd name="T18" fmla="*/ 21 w 64"/>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64" y="64"/>
                    </a:moveTo>
                    <a:lnTo>
                      <a:pt x="0" y="64"/>
                    </a:lnTo>
                    <a:lnTo>
                      <a:pt x="0" y="0"/>
                    </a:lnTo>
                    <a:lnTo>
                      <a:pt x="64" y="0"/>
                    </a:lnTo>
                    <a:lnTo>
                      <a:pt x="64" y="64"/>
                    </a:lnTo>
                    <a:close/>
                    <a:moveTo>
                      <a:pt x="21" y="43"/>
                    </a:moveTo>
                    <a:lnTo>
                      <a:pt x="43" y="43"/>
                    </a:lnTo>
                    <a:lnTo>
                      <a:pt x="43" y="21"/>
                    </a:lnTo>
                    <a:lnTo>
                      <a:pt x="21" y="21"/>
                    </a:lnTo>
                    <a:lnTo>
                      <a:pt x="21"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Freeform 12"/>
              <p:cNvSpPr>
                <a:spLocks noEditPoints="1"/>
              </p:cNvSpPr>
              <p:nvPr/>
            </p:nvSpPr>
            <p:spPr bwMode="gray">
              <a:xfrm>
                <a:off x="15772" y="1619"/>
                <a:ext cx="64" cy="65"/>
              </a:xfrm>
              <a:custGeom>
                <a:avLst/>
                <a:gdLst>
                  <a:gd name="T0" fmla="*/ 64 w 64"/>
                  <a:gd name="T1" fmla="*/ 65 h 65"/>
                  <a:gd name="T2" fmla="*/ 0 w 64"/>
                  <a:gd name="T3" fmla="*/ 65 h 65"/>
                  <a:gd name="T4" fmla="*/ 0 w 64"/>
                  <a:gd name="T5" fmla="*/ 0 h 65"/>
                  <a:gd name="T6" fmla="*/ 64 w 64"/>
                  <a:gd name="T7" fmla="*/ 0 h 65"/>
                  <a:gd name="T8" fmla="*/ 64 w 64"/>
                  <a:gd name="T9" fmla="*/ 65 h 65"/>
                  <a:gd name="T10" fmla="*/ 21 w 64"/>
                  <a:gd name="T11" fmla="*/ 43 h 65"/>
                  <a:gd name="T12" fmla="*/ 43 w 64"/>
                  <a:gd name="T13" fmla="*/ 43 h 65"/>
                  <a:gd name="T14" fmla="*/ 43 w 64"/>
                  <a:gd name="T15" fmla="*/ 22 h 65"/>
                  <a:gd name="T16" fmla="*/ 21 w 64"/>
                  <a:gd name="T17" fmla="*/ 22 h 65"/>
                  <a:gd name="T18" fmla="*/ 21 w 64"/>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5">
                    <a:moveTo>
                      <a:pt x="64" y="65"/>
                    </a:moveTo>
                    <a:lnTo>
                      <a:pt x="0" y="65"/>
                    </a:lnTo>
                    <a:lnTo>
                      <a:pt x="0" y="0"/>
                    </a:lnTo>
                    <a:lnTo>
                      <a:pt x="64" y="0"/>
                    </a:lnTo>
                    <a:lnTo>
                      <a:pt x="64" y="65"/>
                    </a:lnTo>
                    <a:close/>
                    <a:moveTo>
                      <a:pt x="21" y="43"/>
                    </a:moveTo>
                    <a:lnTo>
                      <a:pt x="43" y="43"/>
                    </a:lnTo>
                    <a:lnTo>
                      <a:pt x="43" y="22"/>
                    </a:lnTo>
                    <a:lnTo>
                      <a:pt x="21" y="22"/>
                    </a:lnTo>
                    <a:lnTo>
                      <a:pt x="21"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Freeform 13"/>
              <p:cNvSpPr>
                <a:spLocks noEditPoints="1"/>
              </p:cNvSpPr>
              <p:nvPr/>
            </p:nvSpPr>
            <p:spPr bwMode="gray">
              <a:xfrm>
                <a:off x="15685" y="1447"/>
                <a:ext cx="65" cy="64"/>
              </a:xfrm>
              <a:custGeom>
                <a:avLst/>
                <a:gdLst>
                  <a:gd name="T0" fmla="*/ 65 w 65"/>
                  <a:gd name="T1" fmla="*/ 64 h 64"/>
                  <a:gd name="T2" fmla="*/ 0 w 65"/>
                  <a:gd name="T3" fmla="*/ 64 h 64"/>
                  <a:gd name="T4" fmla="*/ 0 w 65"/>
                  <a:gd name="T5" fmla="*/ 0 h 64"/>
                  <a:gd name="T6" fmla="*/ 65 w 65"/>
                  <a:gd name="T7" fmla="*/ 0 h 64"/>
                  <a:gd name="T8" fmla="*/ 65 w 65"/>
                  <a:gd name="T9" fmla="*/ 64 h 64"/>
                  <a:gd name="T10" fmla="*/ 22 w 65"/>
                  <a:gd name="T11" fmla="*/ 43 h 64"/>
                  <a:gd name="T12" fmla="*/ 43 w 65"/>
                  <a:gd name="T13" fmla="*/ 43 h 64"/>
                  <a:gd name="T14" fmla="*/ 43 w 65"/>
                  <a:gd name="T15" fmla="*/ 21 h 64"/>
                  <a:gd name="T16" fmla="*/ 22 w 65"/>
                  <a:gd name="T17" fmla="*/ 21 h 64"/>
                  <a:gd name="T18" fmla="*/ 22 w 65"/>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4">
                    <a:moveTo>
                      <a:pt x="65" y="64"/>
                    </a:moveTo>
                    <a:lnTo>
                      <a:pt x="0" y="64"/>
                    </a:lnTo>
                    <a:lnTo>
                      <a:pt x="0" y="0"/>
                    </a:lnTo>
                    <a:lnTo>
                      <a:pt x="65" y="0"/>
                    </a:lnTo>
                    <a:lnTo>
                      <a:pt x="65" y="64"/>
                    </a:lnTo>
                    <a:close/>
                    <a:moveTo>
                      <a:pt x="22" y="43"/>
                    </a:moveTo>
                    <a:lnTo>
                      <a:pt x="43" y="43"/>
                    </a:lnTo>
                    <a:lnTo>
                      <a:pt x="43" y="21"/>
                    </a:lnTo>
                    <a:lnTo>
                      <a:pt x="22" y="21"/>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Freeform 14"/>
              <p:cNvSpPr>
                <a:spLocks noEditPoints="1"/>
              </p:cNvSpPr>
              <p:nvPr/>
            </p:nvSpPr>
            <p:spPr bwMode="gray">
              <a:xfrm>
                <a:off x="15685" y="1533"/>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1 h 65"/>
                  <a:gd name="T16" fmla="*/ 22 w 65"/>
                  <a:gd name="T17" fmla="*/ 21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1"/>
                    </a:lnTo>
                    <a:lnTo>
                      <a:pt x="22" y="21"/>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Freeform 15"/>
              <p:cNvSpPr>
                <a:spLocks noEditPoints="1"/>
              </p:cNvSpPr>
              <p:nvPr/>
            </p:nvSpPr>
            <p:spPr bwMode="gray">
              <a:xfrm>
                <a:off x="15685" y="1619"/>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2 h 65"/>
                  <a:gd name="T16" fmla="*/ 22 w 65"/>
                  <a:gd name="T17" fmla="*/ 22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2"/>
                    </a:lnTo>
                    <a:lnTo>
                      <a:pt x="22" y="22"/>
                    </a:lnTo>
                    <a:lnTo>
                      <a:pt x="22"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Freeform 16"/>
              <p:cNvSpPr>
                <a:spLocks/>
              </p:cNvSpPr>
              <p:nvPr/>
            </p:nvSpPr>
            <p:spPr bwMode="gray">
              <a:xfrm>
                <a:off x="15880" y="1673"/>
                <a:ext cx="216" cy="119"/>
              </a:xfrm>
              <a:custGeom>
                <a:avLst/>
                <a:gdLst>
                  <a:gd name="T0" fmla="*/ 216 w 216"/>
                  <a:gd name="T1" fmla="*/ 119 h 119"/>
                  <a:gd name="T2" fmla="*/ 43 w 216"/>
                  <a:gd name="T3" fmla="*/ 119 h 119"/>
                  <a:gd name="T4" fmla="*/ 43 w 216"/>
                  <a:gd name="T5" fmla="*/ 76 h 119"/>
                  <a:gd name="T6" fmla="*/ 0 w 216"/>
                  <a:gd name="T7" fmla="*/ 76 h 119"/>
                  <a:gd name="T8" fmla="*/ 0 w 216"/>
                  <a:gd name="T9" fmla="*/ 0 h 119"/>
                  <a:gd name="T10" fmla="*/ 21 w 216"/>
                  <a:gd name="T11" fmla="*/ 0 h 119"/>
                  <a:gd name="T12" fmla="*/ 21 w 216"/>
                  <a:gd name="T13" fmla="*/ 54 h 119"/>
                  <a:gd name="T14" fmla="*/ 64 w 216"/>
                  <a:gd name="T15" fmla="*/ 54 h 119"/>
                  <a:gd name="T16" fmla="*/ 64 w 216"/>
                  <a:gd name="T17" fmla="*/ 97 h 119"/>
                  <a:gd name="T18" fmla="*/ 216 w 216"/>
                  <a:gd name="T19" fmla="*/ 97 h 119"/>
                  <a:gd name="T20" fmla="*/ 216 w 216"/>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119">
                    <a:moveTo>
                      <a:pt x="216" y="119"/>
                    </a:moveTo>
                    <a:lnTo>
                      <a:pt x="43" y="119"/>
                    </a:lnTo>
                    <a:lnTo>
                      <a:pt x="43" y="76"/>
                    </a:lnTo>
                    <a:lnTo>
                      <a:pt x="0" y="76"/>
                    </a:lnTo>
                    <a:lnTo>
                      <a:pt x="0" y="0"/>
                    </a:lnTo>
                    <a:lnTo>
                      <a:pt x="21" y="0"/>
                    </a:lnTo>
                    <a:lnTo>
                      <a:pt x="21" y="54"/>
                    </a:lnTo>
                    <a:lnTo>
                      <a:pt x="64" y="54"/>
                    </a:lnTo>
                    <a:lnTo>
                      <a:pt x="64" y="97"/>
                    </a:lnTo>
                    <a:lnTo>
                      <a:pt x="216" y="97"/>
                    </a:lnTo>
                    <a:lnTo>
                      <a:pt x="216" y="119"/>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Rectangle 17"/>
              <p:cNvSpPr>
                <a:spLocks noChangeArrowheads="1"/>
              </p:cNvSpPr>
              <p:nvPr/>
            </p:nvSpPr>
            <p:spPr bwMode="gray">
              <a:xfrm>
                <a:off x="16074" y="1598"/>
                <a:ext cx="22" cy="21"/>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Freeform 18"/>
              <p:cNvSpPr>
                <a:spLocks/>
              </p:cNvSpPr>
              <p:nvPr/>
            </p:nvSpPr>
            <p:spPr bwMode="gray">
              <a:xfrm>
                <a:off x="15912" y="1554"/>
                <a:ext cx="76" cy="108"/>
              </a:xfrm>
              <a:custGeom>
                <a:avLst/>
                <a:gdLst>
                  <a:gd name="T0" fmla="*/ 76 w 76"/>
                  <a:gd name="T1" fmla="*/ 108 h 108"/>
                  <a:gd name="T2" fmla="*/ 0 w 76"/>
                  <a:gd name="T3" fmla="*/ 108 h 108"/>
                  <a:gd name="T4" fmla="*/ 0 w 76"/>
                  <a:gd name="T5" fmla="*/ 87 h 108"/>
                  <a:gd name="T6" fmla="*/ 54 w 76"/>
                  <a:gd name="T7" fmla="*/ 87 h 108"/>
                  <a:gd name="T8" fmla="*/ 54 w 76"/>
                  <a:gd name="T9" fmla="*/ 22 h 108"/>
                  <a:gd name="T10" fmla="*/ 0 w 76"/>
                  <a:gd name="T11" fmla="*/ 22 h 108"/>
                  <a:gd name="T12" fmla="*/ 0 w 76"/>
                  <a:gd name="T13" fmla="*/ 0 h 108"/>
                  <a:gd name="T14" fmla="*/ 76 w 76"/>
                  <a:gd name="T15" fmla="*/ 0 h 108"/>
                  <a:gd name="T16" fmla="*/ 76 w 76"/>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08">
                    <a:moveTo>
                      <a:pt x="76" y="108"/>
                    </a:moveTo>
                    <a:lnTo>
                      <a:pt x="0" y="108"/>
                    </a:lnTo>
                    <a:lnTo>
                      <a:pt x="0" y="87"/>
                    </a:lnTo>
                    <a:lnTo>
                      <a:pt x="54" y="87"/>
                    </a:lnTo>
                    <a:lnTo>
                      <a:pt x="54" y="22"/>
                    </a:lnTo>
                    <a:lnTo>
                      <a:pt x="0" y="22"/>
                    </a:lnTo>
                    <a:lnTo>
                      <a:pt x="0" y="0"/>
                    </a:lnTo>
                    <a:lnTo>
                      <a:pt x="76" y="0"/>
                    </a:lnTo>
                    <a:lnTo>
                      <a:pt x="76" y="108"/>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Rectangle 19"/>
              <p:cNvSpPr>
                <a:spLocks noChangeArrowheads="1"/>
              </p:cNvSpPr>
              <p:nvPr/>
            </p:nvSpPr>
            <p:spPr bwMode="gray">
              <a:xfrm>
                <a:off x="16009" y="1468"/>
                <a:ext cx="2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Rectangle 20"/>
              <p:cNvSpPr>
                <a:spLocks noChangeArrowheads="1"/>
              </p:cNvSpPr>
              <p:nvPr/>
            </p:nvSpPr>
            <p:spPr bwMode="gray">
              <a:xfrm>
                <a:off x="16009" y="1511"/>
                <a:ext cx="2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Rectangle 21"/>
              <p:cNvSpPr>
                <a:spLocks noChangeArrowheads="1"/>
              </p:cNvSpPr>
              <p:nvPr/>
            </p:nvSpPr>
            <p:spPr bwMode="gray">
              <a:xfrm>
                <a:off x="16052" y="1511"/>
                <a:ext cx="2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Rectangle 22"/>
              <p:cNvSpPr>
                <a:spLocks noChangeArrowheads="1"/>
              </p:cNvSpPr>
              <p:nvPr/>
            </p:nvSpPr>
            <p:spPr bwMode="gray">
              <a:xfrm>
                <a:off x="16009" y="1554"/>
                <a:ext cx="2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Freeform 23"/>
              <p:cNvSpPr>
                <a:spLocks/>
              </p:cNvSpPr>
              <p:nvPr/>
            </p:nvSpPr>
            <p:spPr bwMode="gray">
              <a:xfrm>
                <a:off x="15793" y="1673"/>
                <a:ext cx="65" cy="399"/>
              </a:xfrm>
              <a:custGeom>
                <a:avLst/>
                <a:gdLst>
                  <a:gd name="T0" fmla="*/ 65 w 65"/>
                  <a:gd name="T1" fmla="*/ 399 h 399"/>
                  <a:gd name="T2" fmla="*/ 43 w 65"/>
                  <a:gd name="T3" fmla="*/ 399 h 399"/>
                  <a:gd name="T4" fmla="*/ 43 w 65"/>
                  <a:gd name="T5" fmla="*/ 140 h 399"/>
                  <a:gd name="T6" fmla="*/ 0 w 65"/>
                  <a:gd name="T7" fmla="*/ 140 h 399"/>
                  <a:gd name="T8" fmla="*/ 0 w 65"/>
                  <a:gd name="T9" fmla="*/ 0 h 399"/>
                  <a:gd name="T10" fmla="*/ 22 w 65"/>
                  <a:gd name="T11" fmla="*/ 0 h 399"/>
                  <a:gd name="T12" fmla="*/ 22 w 65"/>
                  <a:gd name="T13" fmla="*/ 119 h 399"/>
                  <a:gd name="T14" fmla="*/ 65 w 65"/>
                  <a:gd name="T15" fmla="*/ 119 h 399"/>
                  <a:gd name="T16" fmla="*/ 65 w 65"/>
                  <a:gd name="T17" fmla="*/ 399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399">
                    <a:moveTo>
                      <a:pt x="65" y="399"/>
                    </a:moveTo>
                    <a:lnTo>
                      <a:pt x="43" y="399"/>
                    </a:lnTo>
                    <a:lnTo>
                      <a:pt x="43" y="140"/>
                    </a:lnTo>
                    <a:lnTo>
                      <a:pt x="0" y="140"/>
                    </a:lnTo>
                    <a:lnTo>
                      <a:pt x="0" y="0"/>
                    </a:lnTo>
                    <a:lnTo>
                      <a:pt x="22" y="0"/>
                    </a:lnTo>
                    <a:lnTo>
                      <a:pt x="22" y="119"/>
                    </a:lnTo>
                    <a:lnTo>
                      <a:pt x="65" y="119"/>
                    </a:lnTo>
                    <a:lnTo>
                      <a:pt x="65" y="399"/>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Rectangle 24"/>
              <p:cNvSpPr>
                <a:spLocks noChangeArrowheads="1"/>
              </p:cNvSpPr>
              <p:nvPr/>
            </p:nvSpPr>
            <p:spPr bwMode="gray">
              <a:xfrm>
                <a:off x="15880" y="1393"/>
                <a:ext cx="21" cy="64"/>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Freeform 25"/>
              <p:cNvSpPr>
                <a:spLocks/>
              </p:cNvSpPr>
              <p:nvPr/>
            </p:nvSpPr>
            <p:spPr bwMode="gray">
              <a:xfrm>
                <a:off x="15620" y="1468"/>
                <a:ext cx="76" cy="194"/>
              </a:xfrm>
              <a:custGeom>
                <a:avLst/>
                <a:gdLst>
                  <a:gd name="T0" fmla="*/ 76 w 76"/>
                  <a:gd name="T1" fmla="*/ 194 h 194"/>
                  <a:gd name="T2" fmla="*/ 0 w 76"/>
                  <a:gd name="T3" fmla="*/ 194 h 194"/>
                  <a:gd name="T4" fmla="*/ 0 w 76"/>
                  <a:gd name="T5" fmla="*/ 0 h 194"/>
                  <a:gd name="T6" fmla="*/ 76 w 76"/>
                  <a:gd name="T7" fmla="*/ 0 h 194"/>
                  <a:gd name="T8" fmla="*/ 76 w 76"/>
                  <a:gd name="T9" fmla="*/ 22 h 194"/>
                  <a:gd name="T10" fmla="*/ 22 w 76"/>
                  <a:gd name="T11" fmla="*/ 22 h 194"/>
                  <a:gd name="T12" fmla="*/ 22 w 76"/>
                  <a:gd name="T13" fmla="*/ 173 h 194"/>
                  <a:gd name="T14" fmla="*/ 76 w 76"/>
                  <a:gd name="T15" fmla="*/ 173 h 194"/>
                  <a:gd name="T16" fmla="*/ 76 w 76"/>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94">
                    <a:moveTo>
                      <a:pt x="76" y="194"/>
                    </a:moveTo>
                    <a:lnTo>
                      <a:pt x="0" y="194"/>
                    </a:lnTo>
                    <a:lnTo>
                      <a:pt x="0" y="0"/>
                    </a:lnTo>
                    <a:lnTo>
                      <a:pt x="76" y="0"/>
                    </a:lnTo>
                    <a:lnTo>
                      <a:pt x="76" y="22"/>
                    </a:lnTo>
                    <a:lnTo>
                      <a:pt x="22" y="22"/>
                    </a:lnTo>
                    <a:lnTo>
                      <a:pt x="22" y="173"/>
                    </a:lnTo>
                    <a:lnTo>
                      <a:pt x="76" y="173"/>
                    </a:lnTo>
                    <a:lnTo>
                      <a:pt x="76" y="194"/>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Freeform 26"/>
              <p:cNvSpPr>
                <a:spLocks/>
              </p:cNvSpPr>
              <p:nvPr/>
            </p:nvSpPr>
            <p:spPr bwMode="gray">
              <a:xfrm>
                <a:off x="15707" y="1673"/>
                <a:ext cx="86" cy="399"/>
              </a:xfrm>
              <a:custGeom>
                <a:avLst/>
                <a:gdLst>
                  <a:gd name="T0" fmla="*/ 32 w 32"/>
                  <a:gd name="T1" fmla="*/ 148 h 148"/>
                  <a:gd name="T2" fmla="*/ 24 w 32"/>
                  <a:gd name="T3" fmla="*/ 148 h 148"/>
                  <a:gd name="T4" fmla="*/ 24 w 32"/>
                  <a:gd name="T5" fmla="*/ 89 h 148"/>
                  <a:gd name="T6" fmla="*/ 0 w 32"/>
                  <a:gd name="T7" fmla="*/ 42 h 148"/>
                  <a:gd name="T8" fmla="*/ 0 w 32"/>
                  <a:gd name="T9" fmla="*/ 40 h 148"/>
                  <a:gd name="T10" fmla="*/ 0 w 32"/>
                  <a:gd name="T11" fmla="*/ 0 h 148"/>
                  <a:gd name="T12" fmla="*/ 8 w 32"/>
                  <a:gd name="T13" fmla="*/ 0 h 148"/>
                  <a:gd name="T14" fmla="*/ 8 w 32"/>
                  <a:gd name="T15" fmla="*/ 39 h 148"/>
                  <a:gd name="T16" fmla="*/ 32 w 32"/>
                  <a:gd name="T17" fmla="*/ 86 h 148"/>
                  <a:gd name="T18" fmla="*/ 32 w 32"/>
                  <a:gd name="T19" fmla="*/ 88 h 148"/>
                  <a:gd name="T20" fmla="*/ 32 w 32"/>
                  <a:gd name="T2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148">
                    <a:moveTo>
                      <a:pt x="32" y="148"/>
                    </a:moveTo>
                    <a:cubicBezTo>
                      <a:pt x="24" y="148"/>
                      <a:pt x="24" y="148"/>
                      <a:pt x="24" y="148"/>
                    </a:cubicBezTo>
                    <a:cubicBezTo>
                      <a:pt x="24" y="89"/>
                      <a:pt x="24" y="89"/>
                      <a:pt x="24" y="89"/>
                    </a:cubicBezTo>
                    <a:cubicBezTo>
                      <a:pt x="0" y="42"/>
                      <a:pt x="0" y="42"/>
                      <a:pt x="0" y="42"/>
                    </a:cubicBezTo>
                    <a:cubicBezTo>
                      <a:pt x="0" y="41"/>
                      <a:pt x="0" y="41"/>
                      <a:pt x="0" y="40"/>
                    </a:cubicBezTo>
                    <a:cubicBezTo>
                      <a:pt x="0" y="0"/>
                      <a:pt x="0" y="0"/>
                      <a:pt x="0" y="0"/>
                    </a:cubicBezTo>
                    <a:cubicBezTo>
                      <a:pt x="8" y="0"/>
                      <a:pt x="8" y="0"/>
                      <a:pt x="8" y="0"/>
                    </a:cubicBezTo>
                    <a:cubicBezTo>
                      <a:pt x="8" y="39"/>
                      <a:pt x="8" y="39"/>
                      <a:pt x="8" y="39"/>
                    </a:cubicBezTo>
                    <a:cubicBezTo>
                      <a:pt x="32" y="86"/>
                      <a:pt x="32" y="86"/>
                      <a:pt x="32" y="86"/>
                    </a:cubicBezTo>
                    <a:cubicBezTo>
                      <a:pt x="32" y="87"/>
                      <a:pt x="32" y="87"/>
                      <a:pt x="32" y="88"/>
                    </a:cubicBezTo>
                    <a:lnTo>
                      <a:pt x="32" y="148"/>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Rectangle 27"/>
              <p:cNvSpPr>
                <a:spLocks noChangeArrowheads="1"/>
              </p:cNvSpPr>
              <p:nvPr/>
            </p:nvSpPr>
            <p:spPr bwMode="gray">
              <a:xfrm>
                <a:off x="15880" y="1770"/>
                <a:ext cx="21"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Rectangle 28"/>
              <p:cNvSpPr>
                <a:spLocks noChangeArrowheads="1"/>
              </p:cNvSpPr>
              <p:nvPr/>
            </p:nvSpPr>
            <p:spPr bwMode="gray">
              <a:xfrm>
                <a:off x="15836" y="1705"/>
                <a:ext cx="22"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Rectangle 29"/>
              <p:cNvSpPr>
                <a:spLocks noChangeArrowheads="1"/>
              </p:cNvSpPr>
              <p:nvPr/>
            </p:nvSpPr>
            <p:spPr bwMode="gray">
              <a:xfrm>
                <a:off x="15836" y="1749"/>
                <a:ext cx="22" cy="21"/>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Rectangle 30"/>
              <p:cNvSpPr>
                <a:spLocks noChangeArrowheads="1"/>
              </p:cNvSpPr>
              <p:nvPr/>
            </p:nvSpPr>
            <p:spPr bwMode="gray">
              <a:xfrm>
                <a:off x="15880" y="1813"/>
                <a:ext cx="21"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Rectangle 31"/>
              <p:cNvSpPr>
                <a:spLocks noChangeArrowheads="1"/>
              </p:cNvSpPr>
              <p:nvPr/>
            </p:nvSpPr>
            <p:spPr bwMode="gray">
              <a:xfrm>
                <a:off x="15923" y="1813"/>
                <a:ext cx="21" cy="22"/>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Freeform 32"/>
              <p:cNvSpPr>
                <a:spLocks/>
              </p:cNvSpPr>
              <p:nvPr/>
            </p:nvSpPr>
            <p:spPr bwMode="gray">
              <a:xfrm>
                <a:off x="15912" y="1468"/>
                <a:ext cx="76" cy="65"/>
              </a:xfrm>
              <a:custGeom>
                <a:avLst/>
                <a:gdLst>
                  <a:gd name="T0" fmla="*/ 76 w 76"/>
                  <a:gd name="T1" fmla="*/ 65 h 65"/>
                  <a:gd name="T2" fmla="*/ 54 w 76"/>
                  <a:gd name="T3" fmla="*/ 65 h 65"/>
                  <a:gd name="T4" fmla="*/ 54 w 76"/>
                  <a:gd name="T5" fmla="*/ 22 h 65"/>
                  <a:gd name="T6" fmla="*/ 0 w 76"/>
                  <a:gd name="T7" fmla="*/ 22 h 65"/>
                  <a:gd name="T8" fmla="*/ 0 w 76"/>
                  <a:gd name="T9" fmla="*/ 0 h 65"/>
                  <a:gd name="T10" fmla="*/ 76 w 76"/>
                  <a:gd name="T11" fmla="*/ 0 h 65"/>
                  <a:gd name="T12" fmla="*/ 76 w 76"/>
                  <a:gd name="T13" fmla="*/ 65 h 65"/>
                </a:gdLst>
                <a:ahLst/>
                <a:cxnLst>
                  <a:cxn ang="0">
                    <a:pos x="T0" y="T1"/>
                  </a:cxn>
                  <a:cxn ang="0">
                    <a:pos x="T2" y="T3"/>
                  </a:cxn>
                  <a:cxn ang="0">
                    <a:pos x="T4" y="T5"/>
                  </a:cxn>
                  <a:cxn ang="0">
                    <a:pos x="T6" y="T7"/>
                  </a:cxn>
                  <a:cxn ang="0">
                    <a:pos x="T8" y="T9"/>
                  </a:cxn>
                  <a:cxn ang="0">
                    <a:pos x="T10" y="T11"/>
                  </a:cxn>
                  <a:cxn ang="0">
                    <a:pos x="T12" y="T13"/>
                  </a:cxn>
                </a:cxnLst>
                <a:rect l="0" t="0" r="r" b="b"/>
                <a:pathLst>
                  <a:path w="76" h="65">
                    <a:moveTo>
                      <a:pt x="76" y="65"/>
                    </a:moveTo>
                    <a:lnTo>
                      <a:pt x="54" y="65"/>
                    </a:lnTo>
                    <a:lnTo>
                      <a:pt x="54" y="22"/>
                    </a:lnTo>
                    <a:lnTo>
                      <a:pt x="0" y="22"/>
                    </a:lnTo>
                    <a:lnTo>
                      <a:pt x="0" y="0"/>
                    </a:lnTo>
                    <a:lnTo>
                      <a:pt x="76" y="0"/>
                    </a:lnTo>
                    <a:lnTo>
                      <a:pt x="76" y="65"/>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8" name="Rectangle 33"/>
              <p:cNvSpPr>
                <a:spLocks noChangeArrowheads="1"/>
              </p:cNvSpPr>
              <p:nvPr/>
            </p:nvSpPr>
            <p:spPr bwMode="gray">
              <a:xfrm>
                <a:off x="15977" y="1598"/>
                <a:ext cx="75" cy="21"/>
              </a:xfrm>
              <a:prstGeom prst="rect">
                <a:avLst/>
              </a:prstGeom>
              <a:grpFill/>
              <a:ln w="9525">
                <a:noFill/>
                <a:miter lim="800000"/>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Freeform 34"/>
              <p:cNvSpPr>
                <a:spLocks noEditPoints="1"/>
              </p:cNvSpPr>
              <p:nvPr/>
            </p:nvSpPr>
            <p:spPr bwMode="gray">
              <a:xfrm>
                <a:off x="15772" y="1533"/>
                <a:ext cx="64" cy="65"/>
              </a:xfrm>
              <a:custGeom>
                <a:avLst/>
                <a:gdLst>
                  <a:gd name="T0" fmla="*/ 64 w 64"/>
                  <a:gd name="T1" fmla="*/ 65 h 65"/>
                  <a:gd name="T2" fmla="*/ 0 w 64"/>
                  <a:gd name="T3" fmla="*/ 65 h 65"/>
                  <a:gd name="T4" fmla="*/ 0 w 64"/>
                  <a:gd name="T5" fmla="*/ 0 h 65"/>
                  <a:gd name="T6" fmla="*/ 64 w 64"/>
                  <a:gd name="T7" fmla="*/ 0 h 65"/>
                  <a:gd name="T8" fmla="*/ 64 w 64"/>
                  <a:gd name="T9" fmla="*/ 65 h 65"/>
                  <a:gd name="T10" fmla="*/ 21 w 64"/>
                  <a:gd name="T11" fmla="*/ 43 h 65"/>
                  <a:gd name="T12" fmla="*/ 43 w 64"/>
                  <a:gd name="T13" fmla="*/ 43 h 65"/>
                  <a:gd name="T14" fmla="*/ 43 w 64"/>
                  <a:gd name="T15" fmla="*/ 21 h 65"/>
                  <a:gd name="T16" fmla="*/ 21 w 64"/>
                  <a:gd name="T17" fmla="*/ 21 h 65"/>
                  <a:gd name="T18" fmla="*/ 21 w 64"/>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5">
                    <a:moveTo>
                      <a:pt x="64" y="65"/>
                    </a:moveTo>
                    <a:lnTo>
                      <a:pt x="0" y="65"/>
                    </a:lnTo>
                    <a:lnTo>
                      <a:pt x="0" y="0"/>
                    </a:lnTo>
                    <a:lnTo>
                      <a:pt x="64" y="0"/>
                    </a:lnTo>
                    <a:lnTo>
                      <a:pt x="64" y="65"/>
                    </a:lnTo>
                    <a:close/>
                    <a:moveTo>
                      <a:pt x="21" y="43"/>
                    </a:moveTo>
                    <a:lnTo>
                      <a:pt x="43" y="43"/>
                    </a:lnTo>
                    <a:lnTo>
                      <a:pt x="43" y="21"/>
                    </a:lnTo>
                    <a:lnTo>
                      <a:pt x="21" y="21"/>
                    </a:lnTo>
                    <a:lnTo>
                      <a:pt x="21" y="43"/>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Freeform 35"/>
              <p:cNvSpPr>
                <a:spLocks/>
              </p:cNvSpPr>
              <p:nvPr/>
            </p:nvSpPr>
            <p:spPr bwMode="gray">
              <a:xfrm>
                <a:off x="15847" y="1857"/>
                <a:ext cx="54" cy="215"/>
              </a:xfrm>
              <a:custGeom>
                <a:avLst/>
                <a:gdLst>
                  <a:gd name="T0" fmla="*/ 54 w 54"/>
                  <a:gd name="T1" fmla="*/ 215 h 215"/>
                  <a:gd name="T2" fmla="*/ 33 w 54"/>
                  <a:gd name="T3" fmla="*/ 215 h 215"/>
                  <a:gd name="T4" fmla="*/ 33 w 54"/>
                  <a:gd name="T5" fmla="*/ 21 h 215"/>
                  <a:gd name="T6" fmla="*/ 0 w 54"/>
                  <a:gd name="T7" fmla="*/ 21 h 215"/>
                  <a:gd name="T8" fmla="*/ 0 w 54"/>
                  <a:gd name="T9" fmla="*/ 0 h 215"/>
                  <a:gd name="T10" fmla="*/ 54 w 54"/>
                  <a:gd name="T11" fmla="*/ 0 h 215"/>
                  <a:gd name="T12" fmla="*/ 54 w 54"/>
                  <a:gd name="T13" fmla="*/ 215 h 215"/>
                </a:gdLst>
                <a:ahLst/>
                <a:cxnLst>
                  <a:cxn ang="0">
                    <a:pos x="T0" y="T1"/>
                  </a:cxn>
                  <a:cxn ang="0">
                    <a:pos x="T2" y="T3"/>
                  </a:cxn>
                  <a:cxn ang="0">
                    <a:pos x="T4" y="T5"/>
                  </a:cxn>
                  <a:cxn ang="0">
                    <a:pos x="T6" y="T7"/>
                  </a:cxn>
                  <a:cxn ang="0">
                    <a:pos x="T8" y="T9"/>
                  </a:cxn>
                  <a:cxn ang="0">
                    <a:pos x="T10" y="T11"/>
                  </a:cxn>
                  <a:cxn ang="0">
                    <a:pos x="T12" y="T13"/>
                  </a:cxn>
                </a:cxnLst>
                <a:rect l="0" t="0" r="r" b="b"/>
                <a:pathLst>
                  <a:path w="54" h="215">
                    <a:moveTo>
                      <a:pt x="54" y="215"/>
                    </a:moveTo>
                    <a:lnTo>
                      <a:pt x="33" y="215"/>
                    </a:lnTo>
                    <a:lnTo>
                      <a:pt x="33" y="21"/>
                    </a:lnTo>
                    <a:lnTo>
                      <a:pt x="0" y="21"/>
                    </a:lnTo>
                    <a:lnTo>
                      <a:pt x="0" y="0"/>
                    </a:lnTo>
                    <a:lnTo>
                      <a:pt x="54" y="0"/>
                    </a:lnTo>
                    <a:lnTo>
                      <a:pt x="54" y="215"/>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Freeform 36"/>
              <p:cNvSpPr>
                <a:spLocks/>
              </p:cNvSpPr>
              <p:nvPr/>
            </p:nvSpPr>
            <p:spPr bwMode="gray">
              <a:xfrm>
                <a:off x="15750" y="1382"/>
                <a:ext cx="475" cy="690"/>
              </a:xfrm>
              <a:custGeom>
                <a:avLst/>
                <a:gdLst>
                  <a:gd name="T0" fmla="*/ 104 w 176"/>
                  <a:gd name="T1" fmla="*/ 256 h 256"/>
                  <a:gd name="T2" fmla="*/ 96 w 176"/>
                  <a:gd name="T3" fmla="*/ 256 h 256"/>
                  <a:gd name="T4" fmla="*/ 96 w 176"/>
                  <a:gd name="T5" fmla="*/ 208 h 256"/>
                  <a:gd name="T6" fmla="*/ 100 w 176"/>
                  <a:gd name="T7" fmla="*/ 204 h 256"/>
                  <a:gd name="T8" fmla="*/ 124 w 176"/>
                  <a:gd name="T9" fmla="*/ 204 h 256"/>
                  <a:gd name="T10" fmla="*/ 144 w 176"/>
                  <a:gd name="T11" fmla="*/ 184 h 256"/>
                  <a:gd name="T12" fmla="*/ 144 w 176"/>
                  <a:gd name="T13" fmla="*/ 148 h 256"/>
                  <a:gd name="T14" fmla="*/ 148 w 176"/>
                  <a:gd name="T15" fmla="*/ 144 h 256"/>
                  <a:gd name="T16" fmla="*/ 168 w 176"/>
                  <a:gd name="T17" fmla="*/ 144 h 256"/>
                  <a:gd name="T18" fmla="*/ 168 w 176"/>
                  <a:gd name="T19" fmla="*/ 141 h 256"/>
                  <a:gd name="T20" fmla="*/ 144 w 176"/>
                  <a:gd name="T21" fmla="*/ 90 h 256"/>
                  <a:gd name="T22" fmla="*/ 144 w 176"/>
                  <a:gd name="T23" fmla="*/ 88 h 256"/>
                  <a:gd name="T24" fmla="*/ 64 w 176"/>
                  <a:gd name="T25" fmla="*/ 8 h 256"/>
                  <a:gd name="T26" fmla="*/ 0 w 176"/>
                  <a:gd name="T27" fmla="*/ 8 h 256"/>
                  <a:gd name="T28" fmla="*/ 0 w 176"/>
                  <a:gd name="T29" fmla="*/ 0 h 256"/>
                  <a:gd name="T30" fmla="*/ 64 w 176"/>
                  <a:gd name="T31" fmla="*/ 0 h 256"/>
                  <a:gd name="T32" fmla="*/ 152 w 176"/>
                  <a:gd name="T33" fmla="*/ 87 h 256"/>
                  <a:gd name="T34" fmla="*/ 176 w 176"/>
                  <a:gd name="T35" fmla="*/ 138 h 256"/>
                  <a:gd name="T36" fmla="*/ 176 w 176"/>
                  <a:gd name="T37" fmla="*/ 140 h 256"/>
                  <a:gd name="T38" fmla="*/ 176 w 176"/>
                  <a:gd name="T39" fmla="*/ 148 h 256"/>
                  <a:gd name="T40" fmla="*/ 172 w 176"/>
                  <a:gd name="T41" fmla="*/ 152 h 256"/>
                  <a:gd name="T42" fmla="*/ 152 w 176"/>
                  <a:gd name="T43" fmla="*/ 152 h 256"/>
                  <a:gd name="T44" fmla="*/ 152 w 176"/>
                  <a:gd name="T45" fmla="*/ 184 h 256"/>
                  <a:gd name="T46" fmla="*/ 124 w 176"/>
                  <a:gd name="T47" fmla="*/ 212 h 256"/>
                  <a:gd name="T48" fmla="*/ 104 w 176"/>
                  <a:gd name="T49" fmla="*/ 212 h 256"/>
                  <a:gd name="T50" fmla="*/ 104 w 176"/>
                  <a:gd name="T51" fmla="*/ 2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6" h="256">
                    <a:moveTo>
                      <a:pt x="104" y="256"/>
                    </a:moveTo>
                    <a:cubicBezTo>
                      <a:pt x="96" y="256"/>
                      <a:pt x="96" y="256"/>
                      <a:pt x="96" y="256"/>
                    </a:cubicBezTo>
                    <a:cubicBezTo>
                      <a:pt x="96" y="208"/>
                      <a:pt x="96" y="208"/>
                      <a:pt x="96" y="208"/>
                    </a:cubicBezTo>
                    <a:cubicBezTo>
                      <a:pt x="96" y="206"/>
                      <a:pt x="98" y="204"/>
                      <a:pt x="100" y="204"/>
                    </a:cubicBezTo>
                    <a:cubicBezTo>
                      <a:pt x="124" y="204"/>
                      <a:pt x="124" y="204"/>
                      <a:pt x="124" y="204"/>
                    </a:cubicBezTo>
                    <a:cubicBezTo>
                      <a:pt x="135" y="204"/>
                      <a:pt x="144" y="195"/>
                      <a:pt x="144" y="184"/>
                    </a:cubicBezTo>
                    <a:cubicBezTo>
                      <a:pt x="144" y="148"/>
                      <a:pt x="144" y="148"/>
                      <a:pt x="144" y="148"/>
                    </a:cubicBezTo>
                    <a:cubicBezTo>
                      <a:pt x="144" y="146"/>
                      <a:pt x="146" y="144"/>
                      <a:pt x="148" y="144"/>
                    </a:cubicBezTo>
                    <a:cubicBezTo>
                      <a:pt x="168" y="144"/>
                      <a:pt x="168" y="144"/>
                      <a:pt x="168" y="144"/>
                    </a:cubicBezTo>
                    <a:cubicBezTo>
                      <a:pt x="168" y="141"/>
                      <a:pt x="168" y="141"/>
                      <a:pt x="168" y="141"/>
                    </a:cubicBezTo>
                    <a:cubicBezTo>
                      <a:pt x="144" y="90"/>
                      <a:pt x="144" y="90"/>
                      <a:pt x="144" y="90"/>
                    </a:cubicBezTo>
                    <a:cubicBezTo>
                      <a:pt x="144" y="89"/>
                      <a:pt x="144" y="89"/>
                      <a:pt x="144" y="88"/>
                    </a:cubicBezTo>
                    <a:cubicBezTo>
                      <a:pt x="144" y="44"/>
                      <a:pt x="108" y="8"/>
                      <a:pt x="64" y="8"/>
                    </a:cubicBezTo>
                    <a:cubicBezTo>
                      <a:pt x="0" y="8"/>
                      <a:pt x="0" y="8"/>
                      <a:pt x="0" y="8"/>
                    </a:cubicBezTo>
                    <a:cubicBezTo>
                      <a:pt x="0" y="0"/>
                      <a:pt x="0" y="0"/>
                      <a:pt x="0" y="0"/>
                    </a:cubicBezTo>
                    <a:cubicBezTo>
                      <a:pt x="64" y="0"/>
                      <a:pt x="64" y="0"/>
                      <a:pt x="64" y="0"/>
                    </a:cubicBezTo>
                    <a:cubicBezTo>
                      <a:pt x="112" y="0"/>
                      <a:pt x="152" y="39"/>
                      <a:pt x="152" y="87"/>
                    </a:cubicBezTo>
                    <a:cubicBezTo>
                      <a:pt x="176" y="138"/>
                      <a:pt x="176" y="138"/>
                      <a:pt x="176" y="138"/>
                    </a:cubicBezTo>
                    <a:cubicBezTo>
                      <a:pt x="176" y="139"/>
                      <a:pt x="176" y="139"/>
                      <a:pt x="176" y="140"/>
                    </a:cubicBezTo>
                    <a:cubicBezTo>
                      <a:pt x="176" y="148"/>
                      <a:pt x="176" y="148"/>
                      <a:pt x="176" y="148"/>
                    </a:cubicBezTo>
                    <a:cubicBezTo>
                      <a:pt x="176" y="150"/>
                      <a:pt x="174" y="152"/>
                      <a:pt x="172" y="152"/>
                    </a:cubicBezTo>
                    <a:cubicBezTo>
                      <a:pt x="152" y="152"/>
                      <a:pt x="152" y="152"/>
                      <a:pt x="152" y="152"/>
                    </a:cubicBezTo>
                    <a:cubicBezTo>
                      <a:pt x="152" y="184"/>
                      <a:pt x="152" y="184"/>
                      <a:pt x="152" y="184"/>
                    </a:cubicBezTo>
                    <a:cubicBezTo>
                      <a:pt x="152" y="199"/>
                      <a:pt x="139" y="212"/>
                      <a:pt x="124" y="212"/>
                    </a:cubicBezTo>
                    <a:cubicBezTo>
                      <a:pt x="104" y="212"/>
                      <a:pt x="104" y="212"/>
                      <a:pt x="104" y="212"/>
                    </a:cubicBezTo>
                    <a:lnTo>
                      <a:pt x="104" y="256"/>
                    </a:lnTo>
                    <a:close/>
                  </a:path>
                </a:pathLst>
              </a:custGeom>
              <a:grpFill/>
              <a:ln w="9525">
                <a:noFill/>
                <a:round/>
                <a:headEnd/>
                <a:tailEnd/>
              </a:ln>
            </p:spPr>
            <p:txBody>
              <a:bodyPr vert="horz" wrap="square" lIns="45710" tIns="22855" rIns="45710" bIns="22855"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1"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37" name="文本框 36"/>
            <p:cNvSpPr txBox="1"/>
            <p:nvPr/>
          </p:nvSpPr>
          <p:spPr bwMode="gray">
            <a:xfrm>
              <a:off x="8682401" y="3430926"/>
              <a:ext cx="1977985" cy="523220"/>
            </a:xfrm>
            <a:prstGeom prst="rect">
              <a:avLst/>
            </a:prstGeom>
            <a:noFill/>
          </p:spPr>
          <p:txBody>
            <a:bodyPr wrap="square" rtlCol="0">
              <a:spAutoFit/>
            </a:bodyPr>
            <a:lstStyle/>
            <a:p>
              <a:pPr defTabSz="1219028" fontAlgn="base">
                <a:spcBef>
                  <a:spcPct val="0"/>
                </a:spcBef>
                <a:spcAft>
                  <a:spcPct val="0"/>
                </a:spcAft>
                <a:buClr>
                  <a:srgbClr val="CC9900"/>
                </a:buClr>
              </a:pPr>
              <a:r>
                <a:rPr lang="zh-CN" altLang="en-US"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仅感知当前状态</a:t>
              </a:r>
              <a:endParaRPr lang="en-US" altLang="zh-CN"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9028" fontAlgn="base">
                <a:spcBef>
                  <a:spcPct val="0"/>
                </a:spcBef>
                <a:spcAft>
                  <a:spcPct val="0"/>
                </a:spcAft>
                <a:buClr>
                  <a:srgbClr val="CC9900"/>
                </a:buClr>
              </a:pPr>
              <a:r>
                <a:rPr kumimoji="1"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无法感知历史负载与干扰</a:t>
              </a:r>
              <a:endParaRPr kumimoji="1"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文本框 37"/>
            <p:cNvSpPr txBox="1"/>
            <p:nvPr/>
          </p:nvSpPr>
          <p:spPr bwMode="gray">
            <a:xfrm>
              <a:off x="8682404" y="2787504"/>
              <a:ext cx="2053330" cy="338554"/>
            </a:xfrm>
            <a:prstGeom prst="rect">
              <a:avLst/>
            </a:prstGeom>
            <a:noFill/>
          </p:spPr>
          <p:txBody>
            <a:bodyPr wrap="square" rtlCol="0">
              <a:spAutoFit/>
            </a:bodyPr>
            <a:lstStyle/>
            <a:p>
              <a:pPr defTabSz="1219028" fontAlgn="base">
                <a:spcBef>
                  <a:spcPct val="0"/>
                </a:spcBef>
                <a:spcAft>
                  <a:spcPct val="0"/>
                </a:spcAft>
                <a:buClr>
                  <a:srgbClr val="CC9900"/>
                </a:buClr>
              </a:pPr>
              <a:r>
                <a:rPr lang="zh-CN" altLang="en-US"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均衡调优未考虑负载</a:t>
              </a:r>
              <a:endParaRPr lang="en-US" altLang="zh-CN" sz="16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Freeform 18"/>
            <p:cNvSpPr>
              <a:spLocks/>
            </p:cNvSpPr>
            <p:nvPr/>
          </p:nvSpPr>
          <p:spPr bwMode="gray">
            <a:xfrm>
              <a:off x="7932001" y="2772408"/>
              <a:ext cx="347874" cy="368747"/>
            </a:xfrm>
            <a:custGeom>
              <a:avLst/>
              <a:gdLst/>
              <a:ahLst/>
              <a:cxnLst>
                <a:cxn ang="0">
                  <a:pos x="132" y="124"/>
                </a:cxn>
                <a:cxn ang="0">
                  <a:pos x="124" y="126"/>
                </a:cxn>
                <a:cxn ang="0">
                  <a:pos x="88" y="91"/>
                </a:cxn>
                <a:cxn ang="0">
                  <a:pos x="91" y="82"/>
                </a:cxn>
                <a:cxn ang="0">
                  <a:pos x="91" y="80"/>
                </a:cxn>
                <a:cxn ang="0">
                  <a:pos x="119" y="68"/>
                </a:cxn>
                <a:cxn ang="0">
                  <a:pos x="132" y="74"/>
                </a:cxn>
                <a:cxn ang="0">
                  <a:pos x="148" y="58"/>
                </a:cxn>
                <a:cxn ang="0">
                  <a:pos x="132" y="41"/>
                </a:cxn>
                <a:cxn ang="0">
                  <a:pos x="115" y="58"/>
                </a:cxn>
                <a:cxn ang="0">
                  <a:pos x="116" y="60"/>
                </a:cxn>
                <a:cxn ang="0">
                  <a:pos x="87" y="72"/>
                </a:cxn>
                <a:cxn ang="0">
                  <a:pos x="78" y="66"/>
                </a:cxn>
                <a:cxn ang="0">
                  <a:pos x="78" y="32"/>
                </a:cxn>
                <a:cxn ang="0">
                  <a:pos x="91" y="16"/>
                </a:cxn>
                <a:cxn ang="0">
                  <a:pos x="74" y="0"/>
                </a:cxn>
                <a:cxn ang="0">
                  <a:pos x="58" y="16"/>
                </a:cxn>
                <a:cxn ang="0">
                  <a:pos x="70" y="32"/>
                </a:cxn>
                <a:cxn ang="0">
                  <a:pos x="70" y="66"/>
                </a:cxn>
                <a:cxn ang="0">
                  <a:pos x="61" y="72"/>
                </a:cxn>
                <a:cxn ang="0">
                  <a:pos x="33" y="60"/>
                </a:cxn>
                <a:cxn ang="0">
                  <a:pos x="33" y="58"/>
                </a:cxn>
                <a:cxn ang="0">
                  <a:pos x="17" y="41"/>
                </a:cxn>
                <a:cxn ang="0">
                  <a:pos x="0" y="58"/>
                </a:cxn>
                <a:cxn ang="0">
                  <a:pos x="17" y="74"/>
                </a:cxn>
                <a:cxn ang="0">
                  <a:pos x="30" y="68"/>
                </a:cxn>
                <a:cxn ang="0">
                  <a:pos x="58" y="80"/>
                </a:cxn>
                <a:cxn ang="0">
                  <a:pos x="58" y="82"/>
                </a:cxn>
                <a:cxn ang="0">
                  <a:pos x="60" y="91"/>
                </a:cxn>
                <a:cxn ang="0">
                  <a:pos x="25" y="126"/>
                </a:cxn>
                <a:cxn ang="0">
                  <a:pos x="17" y="124"/>
                </a:cxn>
                <a:cxn ang="0">
                  <a:pos x="0" y="140"/>
                </a:cxn>
                <a:cxn ang="0">
                  <a:pos x="17" y="157"/>
                </a:cxn>
                <a:cxn ang="0">
                  <a:pos x="33" y="140"/>
                </a:cxn>
                <a:cxn ang="0">
                  <a:pos x="31" y="132"/>
                </a:cxn>
                <a:cxn ang="0">
                  <a:pos x="66" y="97"/>
                </a:cxn>
                <a:cxn ang="0">
                  <a:pos x="70" y="98"/>
                </a:cxn>
                <a:cxn ang="0">
                  <a:pos x="70" y="116"/>
                </a:cxn>
                <a:cxn ang="0">
                  <a:pos x="58" y="132"/>
                </a:cxn>
                <a:cxn ang="0">
                  <a:pos x="74" y="148"/>
                </a:cxn>
                <a:cxn ang="0">
                  <a:pos x="91" y="132"/>
                </a:cxn>
                <a:cxn ang="0">
                  <a:pos x="78" y="116"/>
                </a:cxn>
                <a:cxn ang="0">
                  <a:pos x="78" y="98"/>
                </a:cxn>
                <a:cxn ang="0">
                  <a:pos x="83" y="97"/>
                </a:cxn>
                <a:cxn ang="0">
                  <a:pos x="118" y="132"/>
                </a:cxn>
                <a:cxn ang="0">
                  <a:pos x="115" y="140"/>
                </a:cxn>
                <a:cxn ang="0">
                  <a:pos x="132" y="157"/>
                </a:cxn>
                <a:cxn ang="0">
                  <a:pos x="148" y="140"/>
                </a:cxn>
                <a:cxn ang="0">
                  <a:pos x="132" y="124"/>
                </a:cxn>
              </a:cxnLst>
              <a:rect l="0" t="0" r="r" b="b"/>
              <a:pathLst>
                <a:path w="148" h="157">
                  <a:moveTo>
                    <a:pt x="132" y="124"/>
                  </a:moveTo>
                  <a:cubicBezTo>
                    <a:pt x="129" y="124"/>
                    <a:pt x="126" y="124"/>
                    <a:pt x="124" y="126"/>
                  </a:cubicBezTo>
                  <a:cubicBezTo>
                    <a:pt x="88" y="91"/>
                    <a:pt x="88" y="91"/>
                    <a:pt x="88" y="91"/>
                  </a:cubicBezTo>
                  <a:cubicBezTo>
                    <a:pt x="90" y="88"/>
                    <a:pt x="91" y="85"/>
                    <a:pt x="91" y="82"/>
                  </a:cubicBezTo>
                  <a:cubicBezTo>
                    <a:pt x="91" y="82"/>
                    <a:pt x="91" y="81"/>
                    <a:pt x="91" y="80"/>
                  </a:cubicBezTo>
                  <a:cubicBezTo>
                    <a:pt x="119" y="68"/>
                    <a:pt x="119" y="68"/>
                    <a:pt x="119" y="68"/>
                  </a:cubicBezTo>
                  <a:cubicBezTo>
                    <a:pt x="122" y="72"/>
                    <a:pt x="127" y="74"/>
                    <a:pt x="132" y="74"/>
                  </a:cubicBezTo>
                  <a:cubicBezTo>
                    <a:pt x="141" y="74"/>
                    <a:pt x="148" y="67"/>
                    <a:pt x="148" y="58"/>
                  </a:cubicBezTo>
                  <a:cubicBezTo>
                    <a:pt x="148" y="49"/>
                    <a:pt x="141" y="41"/>
                    <a:pt x="132" y="41"/>
                  </a:cubicBezTo>
                  <a:cubicBezTo>
                    <a:pt x="123" y="41"/>
                    <a:pt x="115" y="49"/>
                    <a:pt x="115" y="58"/>
                  </a:cubicBezTo>
                  <a:cubicBezTo>
                    <a:pt x="115" y="59"/>
                    <a:pt x="116" y="59"/>
                    <a:pt x="116" y="60"/>
                  </a:cubicBezTo>
                  <a:cubicBezTo>
                    <a:pt x="87" y="72"/>
                    <a:pt x="87" y="72"/>
                    <a:pt x="87" y="72"/>
                  </a:cubicBezTo>
                  <a:cubicBezTo>
                    <a:pt x="85" y="70"/>
                    <a:pt x="82" y="67"/>
                    <a:pt x="78" y="66"/>
                  </a:cubicBezTo>
                  <a:cubicBezTo>
                    <a:pt x="78" y="32"/>
                    <a:pt x="78" y="32"/>
                    <a:pt x="78" y="32"/>
                  </a:cubicBezTo>
                  <a:cubicBezTo>
                    <a:pt x="85" y="31"/>
                    <a:pt x="91" y="24"/>
                    <a:pt x="91" y="16"/>
                  </a:cubicBezTo>
                  <a:cubicBezTo>
                    <a:pt x="91" y="7"/>
                    <a:pt x="83" y="0"/>
                    <a:pt x="74" y="0"/>
                  </a:cubicBezTo>
                  <a:cubicBezTo>
                    <a:pt x="65" y="0"/>
                    <a:pt x="58" y="7"/>
                    <a:pt x="58" y="16"/>
                  </a:cubicBezTo>
                  <a:cubicBezTo>
                    <a:pt x="58" y="24"/>
                    <a:pt x="63" y="31"/>
                    <a:pt x="70" y="32"/>
                  </a:cubicBezTo>
                  <a:cubicBezTo>
                    <a:pt x="70" y="66"/>
                    <a:pt x="70" y="66"/>
                    <a:pt x="70" y="66"/>
                  </a:cubicBezTo>
                  <a:cubicBezTo>
                    <a:pt x="67" y="67"/>
                    <a:pt x="64" y="70"/>
                    <a:pt x="61" y="72"/>
                  </a:cubicBezTo>
                  <a:cubicBezTo>
                    <a:pt x="33" y="60"/>
                    <a:pt x="33" y="60"/>
                    <a:pt x="33" y="60"/>
                  </a:cubicBezTo>
                  <a:cubicBezTo>
                    <a:pt x="33" y="59"/>
                    <a:pt x="33" y="59"/>
                    <a:pt x="33" y="58"/>
                  </a:cubicBezTo>
                  <a:cubicBezTo>
                    <a:pt x="33" y="49"/>
                    <a:pt x="26" y="41"/>
                    <a:pt x="17" y="41"/>
                  </a:cubicBezTo>
                  <a:cubicBezTo>
                    <a:pt x="8" y="41"/>
                    <a:pt x="0" y="49"/>
                    <a:pt x="0" y="58"/>
                  </a:cubicBezTo>
                  <a:cubicBezTo>
                    <a:pt x="0" y="67"/>
                    <a:pt x="8" y="74"/>
                    <a:pt x="17" y="74"/>
                  </a:cubicBezTo>
                  <a:cubicBezTo>
                    <a:pt x="22" y="74"/>
                    <a:pt x="27" y="72"/>
                    <a:pt x="30" y="68"/>
                  </a:cubicBezTo>
                  <a:cubicBezTo>
                    <a:pt x="58" y="80"/>
                    <a:pt x="58" y="80"/>
                    <a:pt x="58" y="80"/>
                  </a:cubicBezTo>
                  <a:cubicBezTo>
                    <a:pt x="58" y="81"/>
                    <a:pt x="58" y="82"/>
                    <a:pt x="58" y="82"/>
                  </a:cubicBezTo>
                  <a:cubicBezTo>
                    <a:pt x="58" y="85"/>
                    <a:pt x="59" y="88"/>
                    <a:pt x="60" y="91"/>
                  </a:cubicBezTo>
                  <a:cubicBezTo>
                    <a:pt x="25" y="126"/>
                    <a:pt x="25" y="126"/>
                    <a:pt x="25" y="126"/>
                  </a:cubicBezTo>
                  <a:cubicBezTo>
                    <a:pt x="23" y="124"/>
                    <a:pt x="20" y="124"/>
                    <a:pt x="17" y="124"/>
                  </a:cubicBezTo>
                  <a:cubicBezTo>
                    <a:pt x="8" y="124"/>
                    <a:pt x="0" y="131"/>
                    <a:pt x="0" y="140"/>
                  </a:cubicBezTo>
                  <a:cubicBezTo>
                    <a:pt x="0" y="149"/>
                    <a:pt x="8" y="157"/>
                    <a:pt x="17" y="157"/>
                  </a:cubicBezTo>
                  <a:cubicBezTo>
                    <a:pt x="26" y="157"/>
                    <a:pt x="33" y="149"/>
                    <a:pt x="33" y="140"/>
                  </a:cubicBezTo>
                  <a:cubicBezTo>
                    <a:pt x="33" y="137"/>
                    <a:pt x="32" y="134"/>
                    <a:pt x="31" y="132"/>
                  </a:cubicBezTo>
                  <a:cubicBezTo>
                    <a:pt x="66" y="97"/>
                    <a:pt x="66" y="97"/>
                    <a:pt x="66" y="97"/>
                  </a:cubicBezTo>
                  <a:cubicBezTo>
                    <a:pt x="67" y="97"/>
                    <a:pt x="69" y="98"/>
                    <a:pt x="70" y="98"/>
                  </a:cubicBezTo>
                  <a:cubicBezTo>
                    <a:pt x="70" y="116"/>
                    <a:pt x="70" y="116"/>
                    <a:pt x="70" y="116"/>
                  </a:cubicBezTo>
                  <a:cubicBezTo>
                    <a:pt x="63" y="118"/>
                    <a:pt x="58" y="124"/>
                    <a:pt x="58" y="132"/>
                  </a:cubicBezTo>
                  <a:cubicBezTo>
                    <a:pt x="58" y="141"/>
                    <a:pt x="65" y="148"/>
                    <a:pt x="74" y="148"/>
                  </a:cubicBezTo>
                  <a:cubicBezTo>
                    <a:pt x="83" y="148"/>
                    <a:pt x="91" y="141"/>
                    <a:pt x="91" y="132"/>
                  </a:cubicBezTo>
                  <a:cubicBezTo>
                    <a:pt x="91" y="124"/>
                    <a:pt x="85" y="118"/>
                    <a:pt x="78" y="116"/>
                  </a:cubicBezTo>
                  <a:cubicBezTo>
                    <a:pt x="78" y="98"/>
                    <a:pt x="78" y="98"/>
                    <a:pt x="78" y="98"/>
                  </a:cubicBezTo>
                  <a:cubicBezTo>
                    <a:pt x="80" y="98"/>
                    <a:pt x="81" y="97"/>
                    <a:pt x="83" y="97"/>
                  </a:cubicBezTo>
                  <a:cubicBezTo>
                    <a:pt x="118" y="132"/>
                    <a:pt x="118" y="132"/>
                    <a:pt x="118" y="132"/>
                  </a:cubicBezTo>
                  <a:cubicBezTo>
                    <a:pt x="116" y="134"/>
                    <a:pt x="115" y="137"/>
                    <a:pt x="115" y="140"/>
                  </a:cubicBezTo>
                  <a:cubicBezTo>
                    <a:pt x="115" y="149"/>
                    <a:pt x="123" y="157"/>
                    <a:pt x="132" y="157"/>
                  </a:cubicBezTo>
                  <a:cubicBezTo>
                    <a:pt x="141" y="157"/>
                    <a:pt x="148" y="149"/>
                    <a:pt x="148" y="140"/>
                  </a:cubicBezTo>
                  <a:cubicBezTo>
                    <a:pt x="148" y="131"/>
                    <a:pt x="141" y="124"/>
                    <a:pt x="132" y="124"/>
                  </a:cubicBezTo>
                  <a:close/>
                </a:path>
              </a:pathLst>
            </a:custGeom>
            <a:solidFill>
              <a:srgbClr val="898989"/>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Tree>
    <p:extLst>
      <p:ext uri="{BB962C8B-B14F-4D97-AF65-F5344CB8AC3E}">
        <p14:creationId xmlns:p14="http://schemas.microsoft.com/office/powerpoint/2010/main" val="102826453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场景</a:t>
            </a:r>
            <a:r>
              <a:rPr lang="en-US" altLang="zh-CN" smtClean="0">
                <a:sym typeface="Huawei Sans" panose="020C0503030203020204" pitchFamily="34" charset="0"/>
              </a:rPr>
              <a:t>1</a:t>
            </a:r>
            <a:r>
              <a:rPr lang="zh-CN" altLang="en-US" smtClean="0">
                <a:sym typeface="Huawei Sans" panose="020C0503030203020204" pitchFamily="34" charset="0"/>
              </a:rPr>
              <a:t>：基于神经网络仿真反馈给出最佳信道规划建议</a:t>
            </a:r>
            <a:endParaRPr lang="zh-CN" altLang="en-US" dirty="0">
              <a:sym typeface="Huawei Sans" panose="020C0503030203020204" pitchFamily="34" charset="0"/>
            </a:endParaRPr>
          </a:p>
        </p:txBody>
      </p:sp>
      <p:sp>
        <p:nvSpPr>
          <p:cNvPr id="3" name="文本框 214"/>
          <p:cNvSpPr txBox="1"/>
          <p:nvPr/>
        </p:nvSpPr>
        <p:spPr bwMode="gray">
          <a:xfrm>
            <a:off x="790464" y="1383638"/>
            <a:ext cx="5048780" cy="11034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r>
              <a:rPr lang="en-US" altLang="zh-CN" smtClean="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IT</a:t>
            </a:r>
            <a:r>
              <a:rPr lang="zh-CN" altLang="en-US">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工程师对员工报障区域进行网络优化</a:t>
            </a:r>
            <a:r>
              <a:rPr lang="zh-CN" altLang="en-US" smtClean="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，却发现优化</a:t>
            </a:r>
            <a:r>
              <a:rPr lang="zh-CN" altLang="en-US">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后，周边区域又产生报障，持续多天多次调整，结果还是不尽如人意，越调越差，引发网络不稳定。</a:t>
            </a:r>
          </a:p>
        </p:txBody>
      </p:sp>
      <p:sp>
        <p:nvSpPr>
          <p:cNvPr id="4" name="矩形 3"/>
          <p:cNvSpPr/>
          <p:nvPr/>
        </p:nvSpPr>
        <p:spPr bwMode="gray">
          <a:xfrm>
            <a:off x="790464" y="978077"/>
            <a:ext cx="5048778"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问题现象</a:t>
            </a:r>
          </a:p>
        </p:txBody>
      </p:sp>
      <p:sp>
        <p:nvSpPr>
          <p:cNvPr id="5" name="六边形 4"/>
          <p:cNvSpPr/>
          <p:nvPr/>
        </p:nvSpPr>
        <p:spPr bwMode="gray">
          <a:xfrm>
            <a:off x="1453508" y="3405457"/>
            <a:ext cx="499533" cy="430632"/>
          </a:xfrm>
          <a:prstGeom prst="hexago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六边形 5"/>
          <p:cNvSpPr/>
          <p:nvPr/>
        </p:nvSpPr>
        <p:spPr bwMode="gray">
          <a:xfrm>
            <a:off x="1844668" y="3620773"/>
            <a:ext cx="499533" cy="430632"/>
          </a:xfrm>
          <a:prstGeom prst="hexago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六边形 6"/>
          <p:cNvSpPr/>
          <p:nvPr/>
        </p:nvSpPr>
        <p:spPr bwMode="gray">
          <a:xfrm>
            <a:off x="1062348" y="3620773"/>
            <a:ext cx="499533" cy="430632"/>
          </a:xfrm>
          <a:prstGeom prst="hexagon">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六边形 7"/>
          <p:cNvSpPr/>
          <p:nvPr/>
        </p:nvSpPr>
        <p:spPr bwMode="gray">
          <a:xfrm>
            <a:off x="1844668" y="4051405"/>
            <a:ext cx="499533" cy="430632"/>
          </a:xfrm>
          <a:prstGeom prst="hexagon">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六边形 8"/>
          <p:cNvSpPr/>
          <p:nvPr/>
        </p:nvSpPr>
        <p:spPr bwMode="gray">
          <a:xfrm>
            <a:off x="1062348" y="4051405"/>
            <a:ext cx="499533" cy="430632"/>
          </a:xfrm>
          <a:prstGeom prst="hexagon">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六边形 9"/>
          <p:cNvSpPr/>
          <p:nvPr/>
        </p:nvSpPr>
        <p:spPr bwMode="gray">
          <a:xfrm>
            <a:off x="1453508" y="4266721"/>
            <a:ext cx="499533" cy="430632"/>
          </a:xfrm>
          <a:prstGeom prst="hexagon">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六边形 10"/>
          <p:cNvSpPr/>
          <p:nvPr/>
        </p:nvSpPr>
        <p:spPr bwMode="gray">
          <a:xfrm>
            <a:off x="2626988" y="3620773"/>
            <a:ext cx="499533" cy="430632"/>
          </a:xfrm>
          <a:prstGeom prst="hexago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六边形 11"/>
          <p:cNvSpPr/>
          <p:nvPr/>
        </p:nvSpPr>
        <p:spPr bwMode="gray">
          <a:xfrm>
            <a:off x="2626988" y="4051405"/>
            <a:ext cx="499533" cy="430632"/>
          </a:xfrm>
          <a:prstGeom prst="hexago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六边形 12"/>
          <p:cNvSpPr/>
          <p:nvPr/>
        </p:nvSpPr>
        <p:spPr bwMode="gray">
          <a:xfrm>
            <a:off x="2235827" y="3405457"/>
            <a:ext cx="499533" cy="430632"/>
          </a:xfrm>
          <a:prstGeom prst="hexago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六边形 13"/>
          <p:cNvSpPr/>
          <p:nvPr/>
        </p:nvSpPr>
        <p:spPr bwMode="gray">
          <a:xfrm>
            <a:off x="2235827" y="4266721"/>
            <a:ext cx="499533" cy="430632"/>
          </a:xfrm>
          <a:prstGeom prst="hexagon">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六边形 14"/>
          <p:cNvSpPr/>
          <p:nvPr/>
        </p:nvSpPr>
        <p:spPr bwMode="gray">
          <a:xfrm>
            <a:off x="1453508" y="3836089"/>
            <a:ext cx="499533" cy="430632"/>
          </a:xfrm>
          <a:prstGeom prst="hexagon">
            <a:avLst/>
          </a:prstGeom>
          <a:solidFill>
            <a:srgbClr val="FF99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六边形 15"/>
          <p:cNvSpPr/>
          <p:nvPr/>
        </p:nvSpPr>
        <p:spPr bwMode="gray">
          <a:xfrm>
            <a:off x="2235828" y="3836089"/>
            <a:ext cx="499533" cy="430632"/>
          </a:xfrm>
          <a:prstGeom prst="hexagon">
            <a:avLst/>
          </a:prstGeom>
          <a:solidFill>
            <a:srgbClr val="FF99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六边形 16"/>
          <p:cNvSpPr/>
          <p:nvPr/>
        </p:nvSpPr>
        <p:spPr bwMode="gray">
          <a:xfrm>
            <a:off x="4053622" y="3405457"/>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六边形 17"/>
          <p:cNvSpPr/>
          <p:nvPr/>
        </p:nvSpPr>
        <p:spPr bwMode="gray">
          <a:xfrm>
            <a:off x="4444782" y="3620773"/>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六边形 18"/>
          <p:cNvSpPr/>
          <p:nvPr/>
        </p:nvSpPr>
        <p:spPr bwMode="gray">
          <a:xfrm>
            <a:off x="3662462" y="3620773"/>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六边形 19"/>
          <p:cNvSpPr/>
          <p:nvPr/>
        </p:nvSpPr>
        <p:spPr bwMode="gray">
          <a:xfrm>
            <a:off x="4444782" y="4051405"/>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六边形 20"/>
          <p:cNvSpPr/>
          <p:nvPr/>
        </p:nvSpPr>
        <p:spPr bwMode="gray">
          <a:xfrm>
            <a:off x="3662462" y="4051405"/>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六边形 21"/>
          <p:cNvSpPr/>
          <p:nvPr/>
        </p:nvSpPr>
        <p:spPr bwMode="gray">
          <a:xfrm>
            <a:off x="4053622" y="4266721"/>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六边形 22"/>
          <p:cNvSpPr/>
          <p:nvPr/>
        </p:nvSpPr>
        <p:spPr bwMode="gray">
          <a:xfrm>
            <a:off x="5227102" y="3620773"/>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六边形 23"/>
          <p:cNvSpPr/>
          <p:nvPr/>
        </p:nvSpPr>
        <p:spPr bwMode="gray">
          <a:xfrm>
            <a:off x="5227102" y="4051405"/>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六边形 24"/>
          <p:cNvSpPr/>
          <p:nvPr/>
        </p:nvSpPr>
        <p:spPr bwMode="gray">
          <a:xfrm>
            <a:off x="4835941" y="3405457"/>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六边形 25"/>
          <p:cNvSpPr/>
          <p:nvPr/>
        </p:nvSpPr>
        <p:spPr bwMode="gray">
          <a:xfrm>
            <a:off x="4835941" y="4266721"/>
            <a:ext cx="499533" cy="430632"/>
          </a:xfrm>
          <a:prstGeom prst="hexagon">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六边形 26"/>
          <p:cNvSpPr/>
          <p:nvPr/>
        </p:nvSpPr>
        <p:spPr bwMode="gray">
          <a:xfrm>
            <a:off x="4053622" y="3836089"/>
            <a:ext cx="499533" cy="430632"/>
          </a:xfrm>
          <a:prstGeom prst="hexagon">
            <a:avLst/>
          </a:prstGeom>
          <a:solidFill>
            <a:srgbClr val="FF993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六边形 27"/>
          <p:cNvSpPr/>
          <p:nvPr/>
        </p:nvSpPr>
        <p:spPr bwMode="gray">
          <a:xfrm>
            <a:off x="4835942" y="3836089"/>
            <a:ext cx="499533" cy="430632"/>
          </a:xfrm>
          <a:prstGeom prst="hexagon">
            <a:avLst/>
          </a:prstGeom>
          <a:solidFill>
            <a:srgbClr val="FF9933"/>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lstStyle/>
          <a:p>
            <a:pPr algn="ctr"/>
            <a:r>
              <a:rPr lang="en-US" altLang="zh-CN"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椭圆 28"/>
          <p:cNvSpPr>
            <a:spLocks noChangeAspect="1"/>
          </p:cNvSpPr>
          <p:nvPr/>
        </p:nvSpPr>
        <p:spPr bwMode="gray">
          <a:xfrm>
            <a:off x="3803585" y="3530209"/>
            <a:ext cx="999607" cy="999607"/>
          </a:xfrm>
          <a:prstGeom prst="ellipse">
            <a:avLst/>
          </a:prstGeom>
          <a:solidFill>
            <a:srgbClr val="FFC000">
              <a:alpha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smtClean="0">
              <a:ln>
                <a:noFill/>
              </a:ln>
              <a:solidFill>
                <a:srgbClr val="FFC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椭圆 29"/>
          <p:cNvSpPr>
            <a:spLocks noChangeAspect="1"/>
          </p:cNvSpPr>
          <p:nvPr/>
        </p:nvSpPr>
        <p:spPr bwMode="gray">
          <a:xfrm>
            <a:off x="4585904" y="3530209"/>
            <a:ext cx="999607" cy="999607"/>
          </a:xfrm>
          <a:prstGeom prst="ellipse">
            <a:avLst/>
          </a:prstGeom>
          <a:solidFill>
            <a:srgbClr val="FFC000">
              <a:alpha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smtClean="0">
              <a:ln>
                <a:noFill/>
              </a:ln>
              <a:solidFill>
                <a:srgbClr val="FFC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内容占位符 2"/>
          <p:cNvSpPr txBox="1">
            <a:spLocks/>
          </p:cNvSpPr>
          <p:nvPr/>
        </p:nvSpPr>
        <p:spPr bwMode="gray">
          <a:xfrm>
            <a:off x="1200098" y="4819080"/>
            <a:ext cx="1951868" cy="438582"/>
          </a:xfrm>
          <a:prstGeom prst="rect">
            <a:avLst/>
          </a:prstGeom>
          <a:ln>
            <a:noFill/>
          </a:ln>
        </p:spPr>
        <p:txBody>
          <a:bodyPr vert="horz" lIns="68580" tIns="34290" rIns="68580" bIns="34290" rtlCol="0" anchor="ctr" anchorCtr="1">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 typeface="Arial" pitchFamily="34" charset="0"/>
              <a:buNone/>
              <a:tabLst/>
              <a:defRPr/>
            </a:pP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信道规划不合理导致</a:t>
            </a:r>
            <a:r>
              <a:rPr kumimoji="0" lang="en-US" altLang="zh-CN"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相互干扰</a:t>
            </a:r>
            <a:endParaRPr kumimoji="0" lang="en-US" altLang="zh-CN" sz="12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内容占位符 2"/>
          <p:cNvSpPr txBox="1">
            <a:spLocks/>
          </p:cNvSpPr>
          <p:nvPr/>
        </p:nvSpPr>
        <p:spPr bwMode="gray">
          <a:xfrm>
            <a:off x="3734745" y="4819080"/>
            <a:ext cx="1951868" cy="438582"/>
          </a:xfrm>
          <a:prstGeom prst="rect">
            <a:avLst/>
          </a:prstGeom>
          <a:ln>
            <a:noFill/>
          </a:ln>
        </p:spPr>
        <p:txBody>
          <a:bodyPr vert="horz" lIns="68580" tIns="34290" rIns="68580" bIns="34290" rtlCol="0" anchor="ctr" anchorCtr="1">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 typeface="Arial" pitchFamily="34" charset="0"/>
              <a:buNone/>
              <a:tabLst/>
              <a:defRPr/>
            </a:pP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信道为</a:t>
            </a:r>
            <a:r>
              <a:rPr kumimoji="0" lang="en-US" altLang="zh-CN"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的两个</a:t>
            </a:r>
            <a:r>
              <a:rPr kumimoji="0" lang="en-US" altLang="zh-CN"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过近导致</a:t>
            </a:r>
            <a:r>
              <a:rPr kumimoji="0" lang="en-US" altLang="zh-CN"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AP</a:t>
            </a:r>
            <a:r>
              <a:rPr kumimoji="0" lang="zh-CN" altLang="en-US" sz="1200" b="0" i="0" u="none" strike="noStrike" kern="1200" cap="none" spc="0" normalizeH="0" baseline="0" noProof="0" dirty="0" smtClean="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相互干扰</a:t>
            </a:r>
            <a:endParaRPr kumimoji="0" lang="en-US" altLang="zh-CN" sz="12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文本框 214"/>
          <p:cNvSpPr txBox="1"/>
          <p:nvPr/>
        </p:nvSpPr>
        <p:spPr bwMode="gray">
          <a:xfrm>
            <a:off x="790464" y="3074495"/>
            <a:ext cx="5048780" cy="302549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endParaRPr lang="zh-CN" altLang="en-US">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bwMode="gray">
          <a:xfrm>
            <a:off x="790464" y="2673098"/>
            <a:ext cx="5048778"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技术根因</a:t>
            </a:r>
          </a:p>
        </p:txBody>
      </p:sp>
      <p:sp>
        <p:nvSpPr>
          <p:cNvPr id="35" name="文本框 214"/>
          <p:cNvSpPr txBox="1"/>
          <p:nvPr/>
        </p:nvSpPr>
        <p:spPr bwMode="gray">
          <a:xfrm>
            <a:off x="790464" y="5324360"/>
            <a:ext cx="5048780" cy="7756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r>
              <a:rPr lang="en-US" altLang="zh-CN"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配置需充分考虑</a:t>
            </a:r>
            <a:r>
              <a:rPr lang="en-US" altLang="zh-CN"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间、周边干扰、距离等影响，大部分调优只能保证本地最优，</a:t>
            </a:r>
            <a:r>
              <a:rPr lang="zh-CN" altLang="en-US"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无法提供全网综合</a:t>
            </a:r>
            <a:r>
              <a:rPr lang="zh-CN" altLang="en-US"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评估、确保</a:t>
            </a:r>
            <a:r>
              <a:rPr lang="zh-CN" altLang="en-US"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整网最优</a:t>
            </a:r>
            <a:r>
              <a:rPr lang="zh-CN" altLang="en-US"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36" name="文本框 214"/>
          <p:cNvSpPr txBox="1"/>
          <p:nvPr/>
        </p:nvSpPr>
        <p:spPr bwMode="gray">
          <a:xfrm>
            <a:off x="5886027" y="1375171"/>
            <a:ext cx="5466784" cy="85055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r>
              <a:rPr lang="zh-CN" altLang="en-US"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依赖专家经验调优</a:t>
            </a:r>
            <a:r>
              <a:rPr lang="zh-CN" altLang="en-US"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，专业要求高；</a:t>
            </a:r>
            <a:r>
              <a:rPr lang="zh-CN" altLang="en-US"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分析工作量大，人工无法从整网视角规划无线</a:t>
            </a:r>
            <a:r>
              <a:rPr lang="zh-CN" altLang="en-US"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endParaRPr lang="zh-CN" altLang="en-US"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36"/>
          <p:cNvSpPr/>
          <p:nvPr/>
        </p:nvSpPr>
        <p:spPr bwMode="gray">
          <a:xfrm>
            <a:off x="5886027" y="978077"/>
            <a:ext cx="5466782"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挑战</a:t>
            </a:r>
          </a:p>
        </p:txBody>
      </p:sp>
      <p:sp>
        <p:nvSpPr>
          <p:cNvPr id="38" name="文本框 214"/>
          <p:cNvSpPr txBox="1"/>
          <p:nvPr/>
        </p:nvSpPr>
        <p:spPr bwMode="gray">
          <a:xfrm>
            <a:off x="5886027" y="2749612"/>
            <a:ext cx="5466784" cy="3348981"/>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endParaRPr lang="zh-CN" altLang="en-US">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38"/>
          <p:cNvSpPr/>
          <p:nvPr/>
        </p:nvSpPr>
        <p:spPr bwMode="gray">
          <a:xfrm>
            <a:off x="5886027" y="2352519"/>
            <a:ext cx="5466782" cy="360000"/>
          </a:xfrm>
          <a:prstGeom prst="rect">
            <a:avLst/>
          </a:prstGeom>
          <a:solidFill>
            <a:srgbClr val="30B5C5"/>
          </a:solidFill>
          <a:ln w="9525" cap="flat" cmpd="sng" algn="ctr">
            <a:noFill/>
            <a:prstDash val="solid"/>
            <a:miter lim="800000"/>
          </a:ln>
          <a:effectLst/>
        </p:spPr>
        <p:txBody>
          <a:bodyPr wrap="none" lIns="0" tIns="0" rIns="0" bIns="0" rtlCol="0" anchor="ctr"/>
          <a:lstStyle/>
          <a:p>
            <a:pPr algn="ctr"/>
            <a:r>
              <a:rPr lang="zh-CN" altLang="en-US" sz="1600" ker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无线网络仿真反馈方案</a:t>
            </a:r>
          </a:p>
        </p:txBody>
      </p:sp>
      <p:sp>
        <p:nvSpPr>
          <p:cNvPr id="40" name="文本框 214"/>
          <p:cNvSpPr txBox="1"/>
          <p:nvPr/>
        </p:nvSpPr>
        <p:spPr bwMode="gray">
          <a:xfrm>
            <a:off x="6096000" y="5324360"/>
            <a:ext cx="5126183" cy="7756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defPPr>
              <a:defRPr lang="en-US"/>
            </a:defPPr>
            <a:lvl1pPr marL="182563" indent="-182563">
              <a:lnSpc>
                <a:spcPts val="2200"/>
              </a:lnSpc>
              <a:buFont typeface="+mj-lt"/>
              <a:buAutoNum type="arabicPeriod"/>
              <a:defRPr sz="140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just">
              <a:lnSpc>
                <a:spcPts val="2600"/>
              </a:lnSpc>
              <a:spcAft>
                <a:spcPts val="300"/>
              </a:spcAft>
              <a:buNone/>
            </a:pPr>
            <a:r>
              <a:rPr lang="zh-CN" altLang="en-US"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预期效果：</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全网最优推理，合理分配空口资源；提供仿真能力，基于收益得分评估，先确认后</a:t>
            </a:r>
            <a:r>
              <a:rPr lang="zh-CN" altLang="en-US"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下发</a:t>
            </a:r>
            <a:r>
              <a:rPr lang="zh-CN" altLang="en-US"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41" name="object 5"/>
          <p:cNvSpPr/>
          <p:nvPr/>
        </p:nvSpPr>
        <p:spPr bwMode="gray">
          <a:xfrm>
            <a:off x="8341683" y="3493932"/>
            <a:ext cx="1202916" cy="1085772"/>
          </a:xfrm>
          <a:custGeom>
            <a:avLst/>
            <a:gdLst/>
            <a:ahLst/>
            <a:cxnLst/>
            <a:rect l="l" t="t" r="r" b="b"/>
            <a:pathLst>
              <a:path w="1988185" h="1743075">
                <a:moveTo>
                  <a:pt x="994066" y="0"/>
                </a:moveTo>
                <a:lnTo>
                  <a:pt x="958423" y="11946"/>
                </a:lnTo>
                <a:lnTo>
                  <a:pt x="927172" y="47786"/>
                </a:lnTo>
                <a:lnTo>
                  <a:pt x="15413" y="1626981"/>
                </a:lnTo>
                <a:lnTo>
                  <a:pt x="0" y="1671979"/>
                </a:lnTo>
                <a:lnTo>
                  <a:pt x="7479" y="1708827"/>
                </a:lnTo>
                <a:lnTo>
                  <a:pt x="35652" y="1733724"/>
                </a:lnTo>
                <a:lnTo>
                  <a:pt x="82317" y="1742868"/>
                </a:lnTo>
                <a:lnTo>
                  <a:pt x="1905808" y="1742868"/>
                </a:lnTo>
                <a:lnTo>
                  <a:pt x="1952484" y="1733724"/>
                </a:lnTo>
                <a:lnTo>
                  <a:pt x="1980656" y="1708827"/>
                </a:lnTo>
                <a:lnTo>
                  <a:pt x="1988129" y="1671979"/>
                </a:lnTo>
                <a:lnTo>
                  <a:pt x="1972712" y="1626981"/>
                </a:lnTo>
                <a:lnTo>
                  <a:pt x="1060979" y="47786"/>
                </a:lnTo>
                <a:lnTo>
                  <a:pt x="1029713" y="11946"/>
                </a:lnTo>
                <a:lnTo>
                  <a:pt x="994066" y="0"/>
                </a:lnTo>
                <a:close/>
              </a:path>
            </a:pathLst>
          </a:custGeom>
          <a:solidFill>
            <a:srgbClr val="C8102E"/>
          </a:solidFill>
        </p:spPr>
        <p:txBody>
          <a:bodyPr wrap="square" lIns="0" tIns="0" rIns="0" bIns="0" rtlCol="0"/>
          <a:lstStyle/>
          <a:p>
            <a:pPr marL="0" marR="0" lvl="0" indent="0" defTabSz="1218916" eaLnBrk="1" fontAlgn="auto" latinLnBrk="0" hangingPunct="1">
              <a:lnSpc>
                <a:spcPct val="100000"/>
              </a:lnSpc>
              <a:spcBef>
                <a:spcPts val="0"/>
              </a:spcBef>
              <a:spcAft>
                <a:spcPts val="0"/>
              </a:spcAft>
              <a:buClrTx/>
              <a:buSzTx/>
              <a:buFontTx/>
              <a:buNone/>
              <a:tabLst/>
              <a:defRPr/>
            </a:pPr>
            <a:endParaRPr kumimoji="0" sz="20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object 6"/>
          <p:cNvSpPr/>
          <p:nvPr/>
        </p:nvSpPr>
        <p:spPr bwMode="gray">
          <a:xfrm>
            <a:off x="7759283" y="2986004"/>
            <a:ext cx="2367767" cy="2437719"/>
          </a:xfrm>
          <a:custGeom>
            <a:avLst/>
            <a:gdLst/>
            <a:ahLst/>
            <a:cxnLst/>
            <a:rect l="l" t="t" r="r" b="b"/>
            <a:pathLst>
              <a:path w="3128645" h="3128645">
                <a:moveTo>
                  <a:pt x="458152" y="458152"/>
                </a:moveTo>
                <a:lnTo>
                  <a:pt x="492475" y="424843"/>
                </a:lnTo>
                <a:lnTo>
                  <a:pt x="527550" y="392791"/>
                </a:lnTo>
                <a:lnTo>
                  <a:pt x="563348" y="361997"/>
                </a:lnTo>
                <a:lnTo>
                  <a:pt x="599841" y="332459"/>
                </a:lnTo>
                <a:lnTo>
                  <a:pt x="636998" y="304178"/>
                </a:lnTo>
                <a:lnTo>
                  <a:pt x="674792" y="277153"/>
                </a:lnTo>
                <a:lnTo>
                  <a:pt x="713194" y="251386"/>
                </a:lnTo>
                <a:lnTo>
                  <a:pt x="752174" y="226876"/>
                </a:lnTo>
                <a:lnTo>
                  <a:pt x="791704" y="203623"/>
                </a:lnTo>
                <a:lnTo>
                  <a:pt x="831754" y="181626"/>
                </a:lnTo>
                <a:lnTo>
                  <a:pt x="872297" y="160887"/>
                </a:lnTo>
                <a:lnTo>
                  <a:pt x="913302" y="141405"/>
                </a:lnTo>
                <a:lnTo>
                  <a:pt x="954741" y="123179"/>
                </a:lnTo>
                <a:lnTo>
                  <a:pt x="996585" y="106210"/>
                </a:lnTo>
                <a:lnTo>
                  <a:pt x="1038805" y="90499"/>
                </a:lnTo>
                <a:lnTo>
                  <a:pt x="1081372" y="76044"/>
                </a:lnTo>
                <a:lnTo>
                  <a:pt x="1124257" y="62846"/>
                </a:lnTo>
                <a:lnTo>
                  <a:pt x="1167432" y="50905"/>
                </a:lnTo>
                <a:lnTo>
                  <a:pt x="1210867" y="40221"/>
                </a:lnTo>
                <a:lnTo>
                  <a:pt x="1254533" y="30794"/>
                </a:lnTo>
                <a:lnTo>
                  <a:pt x="1298402" y="22624"/>
                </a:lnTo>
                <a:lnTo>
                  <a:pt x="1342445" y="15711"/>
                </a:lnTo>
                <a:lnTo>
                  <a:pt x="1386632" y="10055"/>
                </a:lnTo>
                <a:lnTo>
                  <a:pt x="1430935" y="5656"/>
                </a:lnTo>
                <a:lnTo>
                  <a:pt x="1475325" y="2513"/>
                </a:lnTo>
                <a:lnTo>
                  <a:pt x="1519772" y="628"/>
                </a:lnTo>
                <a:lnTo>
                  <a:pt x="1564249" y="0"/>
                </a:lnTo>
                <a:lnTo>
                  <a:pt x="1608726" y="628"/>
                </a:lnTo>
                <a:lnTo>
                  <a:pt x="1653173" y="2513"/>
                </a:lnTo>
                <a:lnTo>
                  <a:pt x="1697563" y="5656"/>
                </a:lnTo>
                <a:lnTo>
                  <a:pt x="1741866" y="10055"/>
                </a:lnTo>
                <a:lnTo>
                  <a:pt x="1786054" y="15711"/>
                </a:lnTo>
                <a:lnTo>
                  <a:pt x="1830096" y="22624"/>
                </a:lnTo>
                <a:lnTo>
                  <a:pt x="1873966" y="30794"/>
                </a:lnTo>
                <a:lnTo>
                  <a:pt x="1917633" y="40221"/>
                </a:lnTo>
                <a:lnTo>
                  <a:pt x="1961068" y="50905"/>
                </a:lnTo>
                <a:lnTo>
                  <a:pt x="2004243" y="62846"/>
                </a:lnTo>
                <a:lnTo>
                  <a:pt x="2047129" y="76044"/>
                </a:lnTo>
                <a:lnTo>
                  <a:pt x="2089697" y="90499"/>
                </a:lnTo>
                <a:lnTo>
                  <a:pt x="2131918" y="106210"/>
                </a:lnTo>
                <a:lnTo>
                  <a:pt x="2173762" y="123179"/>
                </a:lnTo>
                <a:lnTo>
                  <a:pt x="2215202" y="141405"/>
                </a:lnTo>
                <a:lnTo>
                  <a:pt x="2256208" y="160887"/>
                </a:lnTo>
                <a:lnTo>
                  <a:pt x="2296751" y="181626"/>
                </a:lnTo>
                <a:lnTo>
                  <a:pt x="2336802" y="203623"/>
                </a:lnTo>
                <a:lnTo>
                  <a:pt x="2376333" y="226876"/>
                </a:lnTo>
                <a:lnTo>
                  <a:pt x="2415314" y="251386"/>
                </a:lnTo>
                <a:lnTo>
                  <a:pt x="2453717" y="277153"/>
                </a:lnTo>
                <a:lnTo>
                  <a:pt x="2491512" y="304178"/>
                </a:lnTo>
                <a:lnTo>
                  <a:pt x="2528671" y="332459"/>
                </a:lnTo>
                <a:lnTo>
                  <a:pt x="2565165" y="361997"/>
                </a:lnTo>
                <a:lnTo>
                  <a:pt x="2600964" y="392791"/>
                </a:lnTo>
                <a:lnTo>
                  <a:pt x="2636041" y="424843"/>
                </a:lnTo>
                <a:lnTo>
                  <a:pt x="2670365" y="458152"/>
                </a:lnTo>
                <a:lnTo>
                  <a:pt x="2703675" y="492476"/>
                </a:lnTo>
                <a:lnTo>
                  <a:pt x="2735728" y="527551"/>
                </a:lnTo>
                <a:lnTo>
                  <a:pt x="2766524" y="563350"/>
                </a:lnTo>
                <a:lnTo>
                  <a:pt x="2796064" y="599843"/>
                </a:lnTo>
                <a:lnTo>
                  <a:pt x="2824346" y="637001"/>
                </a:lnTo>
                <a:lnTo>
                  <a:pt x="2851371" y="674796"/>
                </a:lnTo>
                <a:lnTo>
                  <a:pt x="2877139" y="713198"/>
                </a:lnTo>
                <a:lnTo>
                  <a:pt x="2901651" y="752179"/>
                </a:lnTo>
                <a:lnTo>
                  <a:pt x="2924905" y="791709"/>
                </a:lnTo>
                <a:lnTo>
                  <a:pt x="2946902" y="831760"/>
                </a:lnTo>
                <a:lnTo>
                  <a:pt x="2967642" y="872303"/>
                </a:lnTo>
                <a:lnTo>
                  <a:pt x="2987126" y="913308"/>
                </a:lnTo>
                <a:lnTo>
                  <a:pt x="3005352" y="954748"/>
                </a:lnTo>
                <a:lnTo>
                  <a:pt x="3022321" y="996592"/>
                </a:lnTo>
                <a:lnTo>
                  <a:pt x="3038034" y="1038812"/>
                </a:lnTo>
                <a:lnTo>
                  <a:pt x="3052489" y="1081380"/>
                </a:lnTo>
                <a:lnTo>
                  <a:pt x="3065687" y="1124266"/>
                </a:lnTo>
                <a:lnTo>
                  <a:pt x="3077629" y="1167440"/>
                </a:lnTo>
                <a:lnTo>
                  <a:pt x="3088313" y="1210876"/>
                </a:lnTo>
                <a:lnTo>
                  <a:pt x="3097740" y="1254542"/>
                </a:lnTo>
                <a:lnTo>
                  <a:pt x="3105911" y="1298411"/>
                </a:lnTo>
                <a:lnTo>
                  <a:pt x="3112824" y="1342454"/>
                </a:lnTo>
                <a:lnTo>
                  <a:pt x="3118481" y="1386641"/>
                </a:lnTo>
                <a:lnTo>
                  <a:pt x="3122880" y="1430944"/>
                </a:lnTo>
                <a:lnTo>
                  <a:pt x="3126023" y="1475334"/>
                </a:lnTo>
                <a:lnTo>
                  <a:pt x="3127908" y="1519782"/>
                </a:lnTo>
                <a:lnTo>
                  <a:pt x="3128537" y="1564259"/>
                </a:lnTo>
                <a:lnTo>
                  <a:pt x="3127908" y="1608735"/>
                </a:lnTo>
                <a:lnTo>
                  <a:pt x="3126023" y="1653183"/>
                </a:lnTo>
                <a:lnTo>
                  <a:pt x="3122880" y="1697573"/>
                </a:lnTo>
                <a:lnTo>
                  <a:pt x="3118481" y="1741876"/>
                </a:lnTo>
                <a:lnTo>
                  <a:pt x="3112824" y="1786063"/>
                </a:lnTo>
                <a:lnTo>
                  <a:pt x="3105911" y="1830106"/>
                </a:lnTo>
                <a:lnTo>
                  <a:pt x="3097740" y="1873975"/>
                </a:lnTo>
                <a:lnTo>
                  <a:pt x="3088313" y="1917641"/>
                </a:lnTo>
                <a:lnTo>
                  <a:pt x="3077629" y="1961077"/>
                </a:lnTo>
                <a:lnTo>
                  <a:pt x="3065687" y="2004251"/>
                </a:lnTo>
                <a:lnTo>
                  <a:pt x="3052489" y="2047137"/>
                </a:lnTo>
                <a:lnTo>
                  <a:pt x="3038034" y="2089705"/>
                </a:lnTo>
                <a:lnTo>
                  <a:pt x="3022321" y="2131925"/>
                </a:lnTo>
                <a:lnTo>
                  <a:pt x="3005352" y="2173769"/>
                </a:lnTo>
                <a:lnTo>
                  <a:pt x="2987126" y="2215209"/>
                </a:lnTo>
                <a:lnTo>
                  <a:pt x="2967642" y="2256214"/>
                </a:lnTo>
                <a:lnTo>
                  <a:pt x="2946902" y="2296757"/>
                </a:lnTo>
                <a:lnTo>
                  <a:pt x="2924905" y="2336808"/>
                </a:lnTo>
                <a:lnTo>
                  <a:pt x="2901651" y="2376338"/>
                </a:lnTo>
                <a:lnTo>
                  <a:pt x="2877139" y="2415319"/>
                </a:lnTo>
                <a:lnTo>
                  <a:pt x="2851371" y="2453721"/>
                </a:lnTo>
                <a:lnTo>
                  <a:pt x="2824346" y="2491516"/>
                </a:lnTo>
                <a:lnTo>
                  <a:pt x="2796064" y="2528674"/>
                </a:lnTo>
                <a:lnTo>
                  <a:pt x="2766524" y="2565167"/>
                </a:lnTo>
                <a:lnTo>
                  <a:pt x="2735728" y="2600966"/>
                </a:lnTo>
                <a:lnTo>
                  <a:pt x="2703675" y="2636041"/>
                </a:lnTo>
                <a:lnTo>
                  <a:pt x="2670365" y="2670365"/>
                </a:lnTo>
                <a:lnTo>
                  <a:pt x="2636041" y="2703674"/>
                </a:lnTo>
                <a:lnTo>
                  <a:pt x="2600964" y="2735727"/>
                </a:lnTo>
                <a:lnTo>
                  <a:pt x="2565165" y="2766522"/>
                </a:lnTo>
                <a:lnTo>
                  <a:pt x="2528671" y="2796061"/>
                </a:lnTo>
                <a:lnTo>
                  <a:pt x="2491512" y="2824343"/>
                </a:lnTo>
                <a:lnTo>
                  <a:pt x="2453717" y="2851367"/>
                </a:lnTo>
                <a:lnTo>
                  <a:pt x="2415314" y="2877135"/>
                </a:lnTo>
                <a:lnTo>
                  <a:pt x="2376333" y="2901646"/>
                </a:lnTo>
                <a:lnTo>
                  <a:pt x="2336802" y="2924899"/>
                </a:lnTo>
                <a:lnTo>
                  <a:pt x="2296751" y="2946896"/>
                </a:lnTo>
                <a:lnTo>
                  <a:pt x="2256208" y="2967636"/>
                </a:lnTo>
                <a:lnTo>
                  <a:pt x="2215202" y="2987119"/>
                </a:lnTo>
                <a:lnTo>
                  <a:pt x="2173762" y="3005345"/>
                </a:lnTo>
                <a:lnTo>
                  <a:pt x="2131918" y="3022314"/>
                </a:lnTo>
                <a:lnTo>
                  <a:pt x="2089697" y="3038026"/>
                </a:lnTo>
                <a:lnTo>
                  <a:pt x="2047129" y="3052481"/>
                </a:lnTo>
                <a:lnTo>
                  <a:pt x="2004243" y="3065679"/>
                </a:lnTo>
                <a:lnTo>
                  <a:pt x="1961068" y="3077620"/>
                </a:lnTo>
                <a:lnTo>
                  <a:pt x="1917633" y="3088304"/>
                </a:lnTo>
                <a:lnTo>
                  <a:pt x="1873966" y="3097731"/>
                </a:lnTo>
                <a:lnTo>
                  <a:pt x="1830096" y="3105902"/>
                </a:lnTo>
                <a:lnTo>
                  <a:pt x="1786054" y="3112815"/>
                </a:lnTo>
                <a:lnTo>
                  <a:pt x="1741866" y="3118471"/>
                </a:lnTo>
                <a:lnTo>
                  <a:pt x="1697563" y="3122871"/>
                </a:lnTo>
                <a:lnTo>
                  <a:pt x="1653173" y="3126013"/>
                </a:lnTo>
                <a:lnTo>
                  <a:pt x="1608726" y="3127899"/>
                </a:lnTo>
                <a:lnTo>
                  <a:pt x="1564249" y="3128527"/>
                </a:lnTo>
                <a:lnTo>
                  <a:pt x="1519772" y="3127899"/>
                </a:lnTo>
                <a:lnTo>
                  <a:pt x="1475325" y="3126013"/>
                </a:lnTo>
                <a:lnTo>
                  <a:pt x="1430935" y="3122871"/>
                </a:lnTo>
                <a:lnTo>
                  <a:pt x="1386632" y="3118471"/>
                </a:lnTo>
                <a:lnTo>
                  <a:pt x="1342445" y="3112815"/>
                </a:lnTo>
                <a:lnTo>
                  <a:pt x="1298402" y="3105902"/>
                </a:lnTo>
                <a:lnTo>
                  <a:pt x="1254533" y="3097731"/>
                </a:lnTo>
                <a:lnTo>
                  <a:pt x="1210867" y="3088304"/>
                </a:lnTo>
                <a:lnTo>
                  <a:pt x="1167432" y="3077620"/>
                </a:lnTo>
                <a:lnTo>
                  <a:pt x="1124257" y="3065679"/>
                </a:lnTo>
                <a:lnTo>
                  <a:pt x="1081372" y="3052481"/>
                </a:lnTo>
                <a:lnTo>
                  <a:pt x="1038805" y="3038026"/>
                </a:lnTo>
                <a:lnTo>
                  <a:pt x="996585" y="3022314"/>
                </a:lnTo>
                <a:lnTo>
                  <a:pt x="954741" y="3005345"/>
                </a:lnTo>
                <a:lnTo>
                  <a:pt x="913302" y="2987119"/>
                </a:lnTo>
                <a:lnTo>
                  <a:pt x="872297" y="2967636"/>
                </a:lnTo>
                <a:lnTo>
                  <a:pt x="831754" y="2946896"/>
                </a:lnTo>
                <a:lnTo>
                  <a:pt x="791704" y="2924899"/>
                </a:lnTo>
                <a:lnTo>
                  <a:pt x="752174" y="2901646"/>
                </a:lnTo>
                <a:lnTo>
                  <a:pt x="713194" y="2877135"/>
                </a:lnTo>
                <a:lnTo>
                  <a:pt x="674792" y="2851367"/>
                </a:lnTo>
                <a:lnTo>
                  <a:pt x="636998" y="2824343"/>
                </a:lnTo>
                <a:lnTo>
                  <a:pt x="599841" y="2796061"/>
                </a:lnTo>
                <a:lnTo>
                  <a:pt x="563348" y="2766522"/>
                </a:lnTo>
                <a:lnTo>
                  <a:pt x="527550" y="2735727"/>
                </a:lnTo>
                <a:lnTo>
                  <a:pt x="492475" y="2703674"/>
                </a:lnTo>
                <a:lnTo>
                  <a:pt x="458152" y="2670365"/>
                </a:lnTo>
                <a:lnTo>
                  <a:pt x="424843" y="2636041"/>
                </a:lnTo>
                <a:lnTo>
                  <a:pt x="392791" y="2600966"/>
                </a:lnTo>
                <a:lnTo>
                  <a:pt x="361997" y="2565167"/>
                </a:lnTo>
                <a:lnTo>
                  <a:pt x="332459" y="2528674"/>
                </a:lnTo>
                <a:lnTo>
                  <a:pt x="304178" y="2491516"/>
                </a:lnTo>
                <a:lnTo>
                  <a:pt x="277153" y="2453721"/>
                </a:lnTo>
                <a:lnTo>
                  <a:pt x="251386" y="2415319"/>
                </a:lnTo>
                <a:lnTo>
                  <a:pt x="226876" y="2376338"/>
                </a:lnTo>
                <a:lnTo>
                  <a:pt x="203623" y="2336808"/>
                </a:lnTo>
                <a:lnTo>
                  <a:pt x="181626" y="2296757"/>
                </a:lnTo>
                <a:lnTo>
                  <a:pt x="160887" y="2256214"/>
                </a:lnTo>
                <a:lnTo>
                  <a:pt x="141405" y="2215209"/>
                </a:lnTo>
                <a:lnTo>
                  <a:pt x="123179" y="2173769"/>
                </a:lnTo>
                <a:lnTo>
                  <a:pt x="106210" y="2131925"/>
                </a:lnTo>
                <a:lnTo>
                  <a:pt x="90499" y="2089705"/>
                </a:lnTo>
                <a:lnTo>
                  <a:pt x="76044" y="2047137"/>
                </a:lnTo>
                <a:lnTo>
                  <a:pt x="62846" y="2004251"/>
                </a:lnTo>
                <a:lnTo>
                  <a:pt x="50905" y="1961077"/>
                </a:lnTo>
                <a:lnTo>
                  <a:pt x="40221" y="1917641"/>
                </a:lnTo>
                <a:lnTo>
                  <a:pt x="30794" y="1873975"/>
                </a:lnTo>
                <a:lnTo>
                  <a:pt x="22624" y="1830106"/>
                </a:lnTo>
                <a:lnTo>
                  <a:pt x="15711" y="1786063"/>
                </a:lnTo>
                <a:lnTo>
                  <a:pt x="10055" y="1741876"/>
                </a:lnTo>
                <a:lnTo>
                  <a:pt x="5656" y="1697573"/>
                </a:lnTo>
                <a:lnTo>
                  <a:pt x="2513" y="1653183"/>
                </a:lnTo>
                <a:lnTo>
                  <a:pt x="628" y="1608735"/>
                </a:lnTo>
                <a:lnTo>
                  <a:pt x="0" y="1564259"/>
                </a:lnTo>
                <a:lnTo>
                  <a:pt x="628" y="1519782"/>
                </a:lnTo>
                <a:lnTo>
                  <a:pt x="2513" y="1475334"/>
                </a:lnTo>
                <a:lnTo>
                  <a:pt x="5656" y="1430944"/>
                </a:lnTo>
                <a:lnTo>
                  <a:pt x="10055" y="1386641"/>
                </a:lnTo>
                <a:lnTo>
                  <a:pt x="15711" y="1342454"/>
                </a:lnTo>
                <a:lnTo>
                  <a:pt x="22624" y="1298411"/>
                </a:lnTo>
                <a:lnTo>
                  <a:pt x="30794" y="1254542"/>
                </a:lnTo>
                <a:lnTo>
                  <a:pt x="40221" y="1210876"/>
                </a:lnTo>
                <a:lnTo>
                  <a:pt x="50905" y="1167440"/>
                </a:lnTo>
                <a:lnTo>
                  <a:pt x="62846" y="1124266"/>
                </a:lnTo>
                <a:lnTo>
                  <a:pt x="76044" y="1081380"/>
                </a:lnTo>
                <a:lnTo>
                  <a:pt x="90499" y="1038812"/>
                </a:lnTo>
                <a:lnTo>
                  <a:pt x="106210" y="996592"/>
                </a:lnTo>
                <a:lnTo>
                  <a:pt x="123179" y="954748"/>
                </a:lnTo>
                <a:lnTo>
                  <a:pt x="141405" y="913308"/>
                </a:lnTo>
                <a:lnTo>
                  <a:pt x="160887" y="872303"/>
                </a:lnTo>
                <a:lnTo>
                  <a:pt x="181626" y="831760"/>
                </a:lnTo>
                <a:lnTo>
                  <a:pt x="203623" y="791709"/>
                </a:lnTo>
                <a:lnTo>
                  <a:pt x="226876" y="752179"/>
                </a:lnTo>
                <a:lnTo>
                  <a:pt x="251386" y="713198"/>
                </a:lnTo>
                <a:lnTo>
                  <a:pt x="277153" y="674796"/>
                </a:lnTo>
                <a:lnTo>
                  <a:pt x="304178" y="637001"/>
                </a:lnTo>
                <a:lnTo>
                  <a:pt x="332459" y="599843"/>
                </a:lnTo>
                <a:lnTo>
                  <a:pt x="361997" y="563350"/>
                </a:lnTo>
                <a:lnTo>
                  <a:pt x="392791" y="527551"/>
                </a:lnTo>
                <a:lnTo>
                  <a:pt x="424843" y="492476"/>
                </a:lnTo>
                <a:lnTo>
                  <a:pt x="458152" y="458152"/>
                </a:lnTo>
                <a:close/>
              </a:path>
            </a:pathLst>
          </a:custGeom>
          <a:ln w="28575">
            <a:solidFill>
              <a:schemeClr val="bg1">
                <a:lumMod val="65000"/>
              </a:schemeClr>
            </a:solidFill>
            <a:prstDash val="sysDot"/>
          </a:ln>
        </p:spPr>
        <p:txBody>
          <a:bodyPr wrap="square" lIns="0" tIns="0" rIns="0" bIns="0" rtlCol="0"/>
          <a:lstStyle/>
          <a:p>
            <a:pPr marL="0" marR="0" lvl="0" indent="0" defTabSz="1218916" eaLnBrk="1" fontAlgn="auto" latinLnBrk="0" hangingPunct="1">
              <a:lnSpc>
                <a:spcPct val="100000"/>
              </a:lnSpc>
              <a:spcBef>
                <a:spcPts val="0"/>
              </a:spcBef>
              <a:spcAft>
                <a:spcPts val="0"/>
              </a:spcAft>
              <a:buClrTx/>
              <a:buSzTx/>
              <a:buFontTx/>
              <a:buNone/>
              <a:tabLst/>
              <a:defRPr/>
            </a:pPr>
            <a:endParaRPr kumimoji="0" sz="20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object 9"/>
          <p:cNvSpPr txBox="1"/>
          <p:nvPr/>
        </p:nvSpPr>
        <p:spPr bwMode="gray">
          <a:xfrm>
            <a:off x="8404034" y="2827606"/>
            <a:ext cx="1121827" cy="514738"/>
          </a:xfrm>
          <a:prstGeom prst="rect">
            <a:avLst/>
          </a:prstGeom>
          <a:solidFill>
            <a:schemeClr val="bg1">
              <a:lumMod val="95000"/>
            </a:schemeClr>
          </a:solidFill>
          <a:ln>
            <a:solidFill>
              <a:schemeClr val="bg1">
                <a:lumMod val="85000"/>
              </a:schemeClr>
            </a:solidFill>
          </a:ln>
        </p:spPr>
        <p:txBody>
          <a:bodyPr vert="horz" wrap="none" lIns="72000" tIns="72000" rIns="72000" bIns="72000" rtlCol="0">
            <a:spAutoFit/>
          </a:bodyPr>
          <a:lstStyle/>
          <a:p>
            <a:pPr marL="0" marR="0" lvl="0" indent="0" algn="ctr" defTabSz="305741" eaLnBrk="1" fontAlgn="auto" latinLnBrk="0" hangingPunct="0">
              <a:spcBef>
                <a:spcPts val="0"/>
              </a:spcBef>
              <a:spcAft>
                <a:spcPts val="0"/>
              </a:spcAft>
              <a:buClrTx/>
              <a:buSzTx/>
              <a:buFontTx/>
              <a:buNone/>
              <a:tabLst/>
              <a:defRPr/>
            </a:pPr>
            <a:r>
              <a:rPr kumimoji="0" lang="zh-CN" altLang="en-US" sz="1200" b="1" i="0" u="none" strike="noStrike" kern="0" cap="none" spc="-5"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强化</a:t>
            </a:r>
            <a:r>
              <a:rPr kumimoji="0" lang="zh-CN" altLang="en-US"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学习</a:t>
            </a:r>
            <a:endParaRPr kumimoji="0" lang="en-US" altLang="zh-CN"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305741" eaLnBrk="1" fontAlgn="auto" latinLnBrk="0" hangingPunct="0">
              <a:spcBef>
                <a:spcPts val="0"/>
              </a:spcBef>
              <a:spcAft>
                <a:spcPts val="0"/>
              </a:spcAft>
              <a:buClrTx/>
              <a:buSzTx/>
              <a:buFontTx/>
              <a:buNone/>
              <a:tabLst/>
              <a:defRPr/>
            </a:pPr>
            <a:r>
              <a:rPr kumimoji="0" lang="zh-CN" altLang="en-US" sz="1200" b="0" i="0" u="none" strike="noStrike" kern="0" cap="none" spc="69" normalizeH="0" baseline="0" noProof="0" dirty="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迭代收益最佳</a:t>
            </a:r>
            <a:endParaRPr kumimoji="0" lang="en-US" altLang="en-US" sz="1200" b="0" i="0" u="none" strike="noStrike" kern="0" cap="none" spc="69" normalizeH="0" baseline="0" noProof="0" dirty="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object 10"/>
          <p:cNvSpPr txBox="1"/>
          <p:nvPr/>
        </p:nvSpPr>
        <p:spPr bwMode="gray">
          <a:xfrm>
            <a:off x="9840774" y="4474944"/>
            <a:ext cx="1064889" cy="514738"/>
          </a:xfrm>
          <a:prstGeom prst="rect">
            <a:avLst/>
          </a:prstGeom>
          <a:solidFill>
            <a:schemeClr val="bg1">
              <a:lumMod val="95000"/>
            </a:schemeClr>
          </a:solidFill>
          <a:ln>
            <a:solidFill>
              <a:schemeClr val="bg1">
                <a:lumMod val="85000"/>
              </a:schemeClr>
            </a:solidFill>
          </a:ln>
        </p:spPr>
        <p:txBody>
          <a:bodyPr vert="horz" wrap="none" lIns="72000" tIns="72000" rIns="72000" bIns="72000" rtlCol="0">
            <a:spAutoFit/>
          </a:bodyPr>
          <a:lstStyle/>
          <a:p>
            <a:pPr marL="0" marR="0" lvl="0" indent="0" algn="ctr" defTabSz="305741" eaLnBrk="1" fontAlgn="auto" latinLnBrk="0" hangingPunct="0">
              <a:spcBef>
                <a:spcPts val="0"/>
              </a:spcBef>
              <a:spcAft>
                <a:spcPts val="0"/>
              </a:spcAft>
              <a:buClrTx/>
              <a:buSzTx/>
              <a:buFontTx/>
              <a:buNone/>
              <a:tabLst/>
              <a:defRPr/>
            </a:pPr>
            <a:r>
              <a:rPr kumimoji="0" lang="zh-CN" altLang="en-US" sz="1200" b="1" i="0" u="none" strike="noStrike" kern="0" cap="none" spc="-5"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优化收益</a:t>
            </a:r>
            <a:r>
              <a:rPr kumimoji="0" lang="zh-CN" altLang="en-US"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预测</a:t>
            </a:r>
            <a:endParaRPr kumimoji="0" lang="en-US" altLang="zh-CN"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305741" eaLnBrk="1" fontAlgn="auto" latinLnBrk="0" hangingPunct="0">
              <a:spcBef>
                <a:spcPts val="0"/>
              </a:spcBef>
              <a:spcAft>
                <a:spcPts val="0"/>
              </a:spcAft>
              <a:buClrTx/>
              <a:buSzTx/>
              <a:buFontTx/>
              <a:buNone/>
              <a:tabLst/>
              <a:defRPr/>
            </a:pPr>
            <a:r>
              <a:rPr kumimoji="0" lang="zh-CN" altLang="en-US" sz="1200" b="0" i="0" u="none" strike="noStrike" kern="0" cap="none" spc="69" normalizeH="0" baseline="0" noProof="0" dirty="0" smtClean="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质量评分</a:t>
            </a:r>
            <a:endParaRPr kumimoji="0" lang="en-US" altLang="en-US" sz="1200" b="0" i="0" u="none" strike="noStrike" kern="0" cap="none" spc="69" normalizeH="0" baseline="0" noProof="0" dirty="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object 12"/>
          <p:cNvSpPr txBox="1"/>
          <p:nvPr/>
        </p:nvSpPr>
        <p:spPr bwMode="gray">
          <a:xfrm>
            <a:off x="6603182" y="4474944"/>
            <a:ext cx="1447301" cy="514738"/>
          </a:xfrm>
          <a:prstGeom prst="rect">
            <a:avLst/>
          </a:prstGeom>
          <a:solidFill>
            <a:schemeClr val="bg1">
              <a:lumMod val="95000"/>
            </a:schemeClr>
          </a:solidFill>
          <a:ln>
            <a:solidFill>
              <a:schemeClr val="bg1">
                <a:lumMod val="85000"/>
              </a:schemeClr>
            </a:solidFill>
          </a:ln>
        </p:spPr>
        <p:txBody>
          <a:bodyPr vert="horz" wrap="none" lIns="72000" tIns="72000" rIns="72000" bIns="72000" rtlCol="0">
            <a:spAutoFit/>
          </a:bodyPr>
          <a:lstStyle/>
          <a:p>
            <a:pPr marL="0" marR="0" lvl="0" indent="0" algn="ctr" defTabSz="305741" eaLnBrk="1" fontAlgn="auto" latinLnBrk="0" hangingPunct="0">
              <a:spcBef>
                <a:spcPts val="0"/>
              </a:spcBef>
              <a:spcAft>
                <a:spcPts val="0"/>
              </a:spcAft>
              <a:buClrTx/>
              <a:buSzTx/>
              <a:buFontTx/>
              <a:buNone/>
              <a:tabLst/>
              <a:defRPr/>
            </a:pPr>
            <a:r>
              <a:rPr kumimoji="0" lang="zh-CN" altLang="en-US" sz="1200" b="1" i="0" u="none" strike="noStrike" kern="0" cap="none" spc="-5"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神经网络</a:t>
            </a:r>
            <a:r>
              <a:rPr kumimoji="0" lang="zh-CN" altLang="en-US"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推理</a:t>
            </a:r>
            <a:endParaRPr kumimoji="0" lang="en-US" altLang="zh-CN"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305741" eaLnBrk="1" fontAlgn="auto" latinLnBrk="0" hangingPunct="0">
              <a:spcBef>
                <a:spcPts val="0"/>
              </a:spcBef>
              <a:spcAft>
                <a:spcPts val="0"/>
              </a:spcAft>
              <a:buClrTx/>
              <a:buSzTx/>
              <a:buFontTx/>
              <a:buNone/>
              <a:tabLst/>
              <a:defRPr/>
            </a:pPr>
            <a:r>
              <a:rPr kumimoji="0" lang="zh-CN" altLang="en-US" sz="1200" b="0" i="0" u="none" strike="noStrike" kern="0" cap="none" spc="69" normalizeH="0" baseline="0" noProof="0" dirty="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基于概率配置</a:t>
            </a:r>
            <a:r>
              <a:rPr kumimoji="0" lang="zh-CN" altLang="en-US" sz="1200" b="0" i="0" u="none" strike="noStrike" kern="0" cap="none" spc="69" normalizeH="0" baseline="0" noProof="0" dirty="0" smtClean="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推荐</a:t>
            </a:r>
            <a:endParaRPr kumimoji="0" lang="en-US" altLang="en-US" sz="1200" b="0" i="0" u="none" strike="noStrike" kern="0" cap="none" spc="69" normalizeH="0" baseline="0" noProof="0" dirty="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object 13"/>
          <p:cNvSpPr txBox="1"/>
          <p:nvPr/>
        </p:nvSpPr>
        <p:spPr bwMode="gray">
          <a:xfrm>
            <a:off x="8839523" y="4076950"/>
            <a:ext cx="397789" cy="227622"/>
          </a:xfrm>
          <a:prstGeom prst="rect">
            <a:avLst/>
          </a:prstGeom>
        </p:spPr>
        <p:txBody>
          <a:bodyPr vert="horz" wrap="square" lIns="0" tIns="12061" rIns="0" bIns="0" rtlCol="0">
            <a:spAutoFit/>
          </a:bodyPr>
          <a:lstStyle/>
          <a:p>
            <a:pPr marL="0" marR="0" lvl="0" indent="0" defTabSz="1218916" eaLnBrk="1" fontAlgn="auto" latinLnBrk="0" hangingPunct="1">
              <a:lnSpc>
                <a:spcPct val="100000"/>
              </a:lnSpc>
              <a:spcBef>
                <a:spcPts val="95"/>
              </a:spcBef>
              <a:spcAft>
                <a:spcPts val="0"/>
              </a:spcAft>
              <a:buClrTx/>
              <a:buSzTx/>
              <a:buFontTx/>
              <a:buNone/>
              <a:tabLst/>
              <a:defRPr/>
            </a:pPr>
            <a:r>
              <a:rPr kumimoji="0" lang="en-US" sz="1400" b="1" i="0" u="none" strike="noStrike" kern="0" cap="none" spc="89" normalizeH="0" baseline="0" noProof="0" dirty="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endParaRPr kumimoji="0" sz="14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7" name="图片 378" descr="图片 378"/>
          <p:cNvPicPr>
            <a:picLocks noChangeAspect="1"/>
          </p:cNvPicPr>
          <p:nvPr/>
        </p:nvPicPr>
        <p:blipFill>
          <a:blip r:embed="rId3" cstate="email">
            <a:duotone>
              <a:srgbClr val="EBEBEB">
                <a:shade val="45000"/>
                <a:satMod val="135000"/>
              </a:srgbClr>
              <a:prstClr val="white"/>
            </a:duotone>
            <a:extLst>
              <a:ext uri="{28A0092B-C50C-407E-A947-70E740481C1C}">
                <a14:useLocalDpi xmlns:a14="http://schemas.microsoft.com/office/drawing/2010/main"/>
              </a:ext>
            </a:extLst>
          </a:blip>
          <a:stretch>
            <a:fillRect/>
          </a:stretch>
        </p:blipFill>
        <p:spPr bwMode="gray">
          <a:xfrm>
            <a:off x="8658497" y="3874505"/>
            <a:ext cx="569287" cy="660715"/>
          </a:xfrm>
          <a:prstGeom prst="rect">
            <a:avLst/>
          </a:prstGeom>
          <a:ln w="12700" cap="flat">
            <a:noFill/>
            <a:miter lim="400000"/>
          </a:ln>
          <a:effectLst/>
        </p:spPr>
      </p:pic>
      <p:sp>
        <p:nvSpPr>
          <p:cNvPr id="48" name="矩形 47"/>
          <p:cNvSpPr/>
          <p:nvPr/>
        </p:nvSpPr>
        <p:spPr bwMode="gray">
          <a:xfrm>
            <a:off x="6165991" y="3489687"/>
            <a:ext cx="1284565" cy="514738"/>
          </a:xfrm>
          <a:prstGeom prst="rect">
            <a:avLst/>
          </a:prstGeom>
          <a:solidFill>
            <a:schemeClr val="bg1">
              <a:lumMod val="95000"/>
            </a:schemeClr>
          </a:solidFill>
          <a:ln>
            <a:solidFill>
              <a:schemeClr val="bg1">
                <a:lumMod val="85000"/>
              </a:schemeClr>
            </a:solidFill>
          </a:ln>
        </p:spPr>
        <p:txBody>
          <a:bodyPr wrap="none" lIns="72000" tIns="72000" rIns="72000" bIns="72000" rtlCol="0">
            <a:spAutoFit/>
          </a:bodyPr>
          <a:lstStyle/>
          <a:p>
            <a:pPr marL="0" marR="0" lvl="0" indent="0" algn="ctr" defTabSz="1218916" eaLnBrk="1" fontAlgn="auto" latinLnBrk="0" hangingPunct="1">
              <a:spcBef>
                <a:spcPts val="0"/>
              </a:spcBef>
              <a:spcAft>
                <a:spcPts val="0"/>
              </a:spcAft>
              <a:buClrTx/>
              <a:buSzTx/>
              <a:buFontTx/>
              <a:buNone/>
              <a:tabLst/>
              <a:defRPr/>
            </a:pPr>
            <a:r>
              <a:rPr kumimoji="0" lang="zh-CN" altLang="en-US"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实时数据</a:t>
            </a:r>
            <a:endParaRPr kumimoji="0" lang="en-US" altLang="zh-CN"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1218916" eaLnBrk="1" fontAlgn="auto" latinLnBrk="0" hangingPunct="1">
              <a:spcBef>
                <a:spcPts val="0"/>
              </a:spcBef>
              <a:spcAft>
                <a:spcPts val="0"/>
              </a:spcAft>
              <a:buClrTx/>
              <a:buSzTx/>
              <a:buFontTx/>
              <a:buNone/>
              <a:tabLst/>
              <a:defRPr/>
            </a:pPr>
            <a:r>
              <a:rPr kumimoji="0" lang="zh-CN" altLang="en-US" sz="1200" b="0" i="0" u="none" strike="noStrike" kern="0" cap="none" spc="69" normalizeH="0" baseline="0" noProof="0" dirty="0" smtClean="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配置、邻居信息</a:t>
            </a:r>
          </a:p>
        </p:txBody>
      </p:sp>
      <p:sp>
        <p:nvSpPr>
          <p:cNvPr id="49" name="矩形 48"/>
          <p:cNvSpPr/>
          <p:nvPr/>
        </p:nvSpPr>
        <p:spPr bwMode="gray">
          <a:xfrm>
            <a:off x="10300747" y="3604244"/>
            <a:ext cx="995072" cy="514738"/>
          </a:xfrm>
          <a:prstGeom prst="rect">
            <a:avLst/>
          </a:prstGeom>
          <a:solidFill>
            <a:schemeClr val="bg1">
              <a:lumMod val="95000"/>
            </a:schemeClr>
          </a:solidFill>
          <a:ln>
            <a:solidFill>
              <a:schemeClr val="bg1">
                <a:lumMod val="85000"/>
              </a:schemeClr>
            </a:solidFill>
          </a:ln>
        </p:spPr>
        <p:txBody>
          <a:bodyPr wrap="square" lIns="72000" tIns="72000" rIns="72000" bIns="72000" rtlCol="0">
            <a:spAutoFit/>
          </a:bodyPr>
          <a:lstStyle/>
          <a:p>
            <a:pPr marL="0" marR="0" lvl="0" indent="0" algn="ctr" defTabSz="1218916" eaLnBrk="1" fontAlgn="auto" latinLnBrk="0" hangingPunct="1">
              <a:spcBef>
                <a:spcPts val="0"/>
              </a:spcBef>
              <a:spcAft>
                <a:spcPts val="0"/>
              </a:spcAft>
              <a:buClrTx/>
              <a:buSzTx/>
              <a:buFontTx/>
              <a:buNone/>
              <a:tabLst/>
              <a:defRPr/>
            </a:pPr>
            <a:r>
              <a:rPr kumimoji="0" lang="zh-CN" altLang="en-US" sz="1200" b="1" i="0" u="none" strike="noStrike" kern="0" cap="none" spc="-5"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信号配置</a:t>
            </a:r>
          </a:p>
          <a:p>
            <a:pPr marL="0" marR="0" lvl="0" indent="0" algn="ctr" defTabSz="1218916" eaLnBrk="1" fontAlgn="auto" latinLnBrk="0" hangingPunct="1">
              <a:spcBef>
                <a:spcPts val="0"/>
              </a:spcBef>
              <a:spcAft>
                <a:spcPts val="0"/>
              </a:spcAft>
              <a:buClrTx/>
              <a:buSzTx/>
              <a:buFontTx/>
              <a:buNone/>
              <a:tabLst/>
              <a:defRPr/>
            </a:pPr>
            <a:r>
              <a:rPr kumimoji="0" lang="zh-CN" altLang="en-US" sz="1200" b="0" i="0" u="none" strike="noStrike" kern="0" cap="none" spc="69" normalizeH="0" baseline="0" noProof="0" dirty="0" smtClean="0">
                <a:ln>
                  <a:noFill/>
                </a:ln>
                <a:solidFill>
                  <a:srgbClr val="5C585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信道</a:t>
            </a:r>
          </a:p>
        </p:txBody>
      </p:sp>
      <p:sp>
        <p:nvSpPr>
          <p:cNvPr id="50" name="右箭头 49"/>
          <p:cNvSpPr/>
          <p:nvPr/>
        </p:nvSpPr>
        <p:spPr bwMode="gray">
          <a:xfrm>
            <a:off x="7509631" y="3703515"/>
            <a:ext cx="400281" cy="228840"/>
          </a:xfrm>
          <a:prstGeom prst="rightArrow">
            <a:avLst/>
          </a:prstGeom>
          <a:gradFill flip="none" rotWithShape="1">
            <a:gsLst>
              <a:gs pos="15000">
                <a:srgbClr val="1AABE2">
                  <a:lumMod val="5000"/>
                  <a:lumOff val="95000"/>
                  <a:alpha val="0"/>
                </a:srgbClr>
              </a:gs>
              <a:gs pos="81000">
                <a:schemeClr val="bg1">
                  <a:lumMod val="85000"/>
                </a:schemeClr>
              </a:gs>
            </a:gsLst>
            <a:lin ang="0" scaled="1"/>
            <a:tileRect/>
          </a:gradFill>
          <a:ln w="9525" cap="flat" cmpd="sng" algn="ctr">
            <a:gradFill flip="none" rotWithShape="1">
              <a:gsLst>
                <a:gs pos="0">
                  <a:srgbClr val="1AABE2">
                    <a:lumMod val="5000"/>
                    <a:lumOff val="95000"/>
                  </a:srgbClr>
                </a:gs>
                <a:gs pos="100000">
                  <a:schemeClr val="bg1">
                    <a:lumMod val="65000"/>
                  </a:schemeClr>
                </a:gs>
              </a:gsLst>
              <a:lin ang="0" scaled="1"/>
              <a:tileRect/>
            </a:gra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右箭头 50"/>
          <p:cNvSpPr/>
          <p:nvPr/>
        </p:nvSpPr>
        <p:spPr bwMode="gray">
          <a:xfrm>
            <a:off x="9808356" y="3822265"/>
            <a:ext cx="400281" cy="228840"/>
          </a:xfrm>
          <a:prstGeom prst="rightArrow">
            <a:avLst/>
          </a:prstGeom>
          <a:gradFill flip="none" rotWithShape="1">
            <a:gsLst>
              <a:gs pos="15000">
                <a:srgbClr val="1AABE2">
                  <a:lumMod val="5000"/>
                  <a:lumOff val="95000"/>
                  <a:alpha val="0"/>
                </a:srgbClr>
              </a:gs>
              <a:gs pos="81000">
                <a:schemeClr val="bg1">
                  <a:lumMod val="85000"/>
                </a:schemeClr>
              </a:gs>
            </a:gsLst>
            <a:lin ang="0" scaled="1"/>
            <a:tileRect/>
          </a:gradFill>
          <a:ln w="9525" cap="flat" cmpd="sng" algn="ctr">
            <a:gradFill flip="none" rotWithShape="1">
              <a:gsLst>
                <a:gs pos="0">
                  <a:srgbClr val="1AABE2">
                    <a:lumMod val="5000"/>
                    <a:lumOff val="95000"/>
                  </a:srgbClr>
                </a:gs>
                <a:gs pos="100000">
                  <a:schemeClr val="bg1">
                    <a:lumMod val="65000"/>
                  </a:schemeClr>
                </a:gs>
              </a:gsLst>
              <a:lin ang="0" scaled="1"/>
              <a:tileRect/>
            </a:gradFill>
            <a:prstDash val="solid"/>
            <a:miter lim="800000"/>
          </a:ln>
          <a:effectLst/>
        </p:spPr>
        <p:txBody>
          <a:bodyPr rtlCol="0" anchor="ctr"/>
          <a:lstStyle/>
          <a:p>
            <a:pPr algn="ctr" defTabSz="914400"/>
            <a:endParaRPr lang="zh-CN" altLang="en-US" kern="0">
              <a:solidFill>
                <a:srgbClr val="666666"/>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矩形 51"/>
          <p:cNvSpPr/>
          <p:nvPr/>
        </p:nvSpPr>
        <p:spPr bwMode="gray">
          <a:xfrm>
            <a:off x="9770748" y="3587807"/>
            <a:ext cx="492443"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输出</a:t>
            </a:r>
          </a:p>
        </p:txBody>
      </p:sp>
      <p:sp>
        <p:nvSpPr>
          <p:cNvPr id="53" name="矩形 52"/>
          <p:cNvSpPr/>
          <p:nvPr/>
        </p:nvSpPr>
        <p:spPr bwMode="gray">
          <a:xfrm>
            <a:off x="7472068" y="3446208"/>
            <a:ext cx="492443"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输入</a:t>
            </a:r>
          </a:p>
        </p:txBody>
      </p:sp>
    </p:spTree>
    <p:extLst>
      <p:ext uri="{BB962C8B-B14F-4D97-AF65-F5344CB8AC3E}">
        <p14:creationId xmlns:p14="http://schemas.microsoft.com/office/powerpoint/2010/main" val="2203761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场景</a:t>
            </a:r>
            <a:r>
              <a:rPr lang="en-US" altLang="zh-CN" dirty="0" smtClean="0">
                <a:sym typeface="Huawei Sans" panose="020C0503030203020204" pitchFamily="34" charset="0"/>
              </a:rPr>
              <a:t>2</a:t>
            </a:r>
            <a:r>
              <a:rPr lang="zh-CN" altLang="en-US" dirty="0" smtClean="0">
                <a:sym typeface="Huawei Sans" panose="020C0503030203020204" pitchFamily="34" charset="0"/>
              </a:rPr>
              <a:t>：基于</a:t>
            </a:r>
            <a:r>
              <a:rPr lang="en-US" altLang="zh-CN" dirty="0" smtClean="0">
                <a:sym typeface="Huawei Sans" panose="020C0503030203020204" pitchFamily="34" charset="0"/>
              </a:rPr>
              <a:t>AI</a:t>
            </a:r>
            <a:r>
              <a:rPr lang="zh-CN" altLang="en-US" dirty="0" smtClean="0">
                <a:sym typeface="Huawei Sans" panose="020C0503030203020204" pitchFamily="34" charset="0"/>
              </a:rPr>
              <a:t>的预测性调优</a:t>
            </a:r>
            <a:endParaRPr lang="zh-CN" altLang="en-US" dirty="0">
              <a:sym typeface="Huawei Sans" panose="020C0503030203020204" pitchFamily="34" charset="0"/>
            </a:endParaRPr>
          </a:p>
        </p:txBody>
      </p:sp>
      <p:sp>
        <p:nvSpPr>
          <p:cNvPr id="3" name="矩形 2"/>
          <p:cNvSpPr/>
          <p:nvPr/>
        </p:nvSpPr>
        <p:spPr bwMode="gray">
          <a:xfrm>
            <a:off x="8191893" y="3184752"/>
            <a:ext cx="3206691" cy="1132346"/>
          </a:xfrm>
          <a:prstGeom prst="rect">
            <a:avLst/>
          </a:prstGeom>
          <a:solidFill>
            <a:schemeClr val="bg1">
              <a:lumMod val="85000"/>
            </a:schemeClr>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矩形 3"/>
          <p:cNvSpPr/>
          <p:nvPr/>
        </p:nvSpPr>
        <p:spPr bwMode="gray">
          <a:xfrm>
            <a:off x="4374844" y="3064342"/>
            <a:ext cx="1746007" cy="2518619"/>
          </a:xfrm>
          <a:prstGeom prst="rect">
            <a:avLst/>
          </a:prstGeom>
          <a:solidFill>
            <a:srgbClr val="EFFA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EFFAF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矩形 4"/>
          <p:cNvSpPr/>
          <p:nvPr/>
        </p:nvSpPr>
        <p:spPr bwMode="gray">
          <a:xfrm>
            <a:off x="829378" y="3064342"/>
            <a:ext cx="3548803" cy="25186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矩形 5"/>
          <p:cNvSpPr/>
          <p:nvPr/>
        </p:nvSpPr>
        <p:spPr bwMode="gray">
          <a:xfrm>
            <a:off x="731837" y="1382530"/>
            <a:ext cx="10690681" cy="51290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gn="just">
              <a:lnSpc>
                <a:spcPts val="2600"/>
              </a:lnSpc>
              <a:spcAft>
                <a:spcPts val="300"/>
              </a:spcAft>
              <a:buFont typeface="+mj-lt"/>
              <a:buNone/>
            </a:pP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无线网络环境</a:t>
            </a:r>
            <a:r>
              <a:rPr lang="zh-CN" altLang="en-US" sz="1400" dirty="0" smtClean="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中每个</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的繁忙程度不同，如何准确预测每个</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的负载趋势，差异化作出整网的预测性调优</a:t>
            </a:r>
            <a:r>
              <a:rPr lang="zh-CN" altLang="en-US" sz="1400" dirty="0" smtClean="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矩形 6"/>
          <p:cNvSpPr/>
          <p:nvPr/>
        </p:nvSpPr>
        <p:spPr bwMode="gray">
          <a:xfrm>
            <a:off x="731837" y="985142"/>
            <a:ext cx="10690681" cy="3600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挑战：如何利用</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负载数据，高效利用频谱</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资源？</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731834" y="2133419"/>
            <a:ext cx="10692168" cy="338554"/>
          </a:xfrm>
          <a:prstGeom prst="rect">
            <a:avLst/>
          </a:prstGeom>
          <a:solidFill>
            <a:srgbClr val="30B5C5"/>
          </a:solidFill>
          <a:ln w="9525" cap="flat" cmpd="sng" algn="ctr">
            <a:noFill/>
            <a:prstDash val="solid"/>
            <a:miter lim="800000"/>
          </a:ln>
          <a:effectLst/>
        </p:spPr>
        <p:txBody>
          <a:bodyPr wrap="none" lIns="0" tIns="0" rIns="0" bIns="0" rtlCol="0" anchor="ctr"/>
          <a:lstStyle/>
          <a:p>
            <a:pPr algn="ctr"/>
            <a:r>
              <a:rPr lang="zh-CN" altLang="en-US" sz="16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方案：多种预测模型集成，准确预测</a:t>
            </a:r>
            <a:r>
              <a:rPr lang="en-US" altLang="zh-CN" sz="16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6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负载，差异化射频调</a:t>
            </a:r>
            <a:r>
              <a:rPr lang="zh-CN" altLang="en-US" sz="1600" kern="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优。</a:t>
            </a:r>
            <a:endParaRPr lang="zh-CN" altLang="en-US" sz="160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矩形 8"/>
          <p:cNvSpPr/>
          <p:nvPr/>
        </p:nvSpPr>
        <p:spPr bwMode="gray">
          <a:xfrm>
            <a:off x="731837" y="2511215"/>
            <a:ext cx="10690681" cy="3564742"/>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gn="just">
              <a:lnSpc>
                <a:spcPts val="2600"/>
              </a:lnSpc>
              <a:spcAft>
                <a:spcPts val="300"/>
              </a:spcAft>
              <a:buFont typeface="+mj-lt"/>
              <a:buNone/>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 name="直接箭头连接符 9"/>
          <p:cNvCxnSpPr/>
          <p:nvPr/>
        </p:nvCxnSpPr>
        <p:spPr bwMode="gray">
          <a:xfrm>
            <a:off x="829378" y="5590483"/>
            <a:ext cx="5414208" cy="0"/>
          </a:xfrm>
          <a:prstGeom prst="straightConnector1">
            <a:avLst/>
          </a:prstGeom>
          <a:noFill/>
          <a:ln w="28575" cap="flat" cmpd="sng" algn="ctr">
            <a:solidFill>
              <a:schemeClr val="bg1">
                <a:lumMod val="50000"/>
              </a:schemeClr>
            </a:solidFill>
            <a:prstDash val="solid"/>
            <a:miter lim="800000"/>
            <a:tailEnd type="triangle"/>
          </a:ln>
          <a:effectLst/>
        </p:spPr>
      </p:cxnSp>
      <p:cxnSp>
        <p:nvCxnSpPr>
          <p:cNvPr id="11" name="直接箭头连接符 10"/>
          <p:cNvCxnSpPr/>
          <p:nvPr/>
        </p:nvCxnSpPr>
        <p:spPr bwMode="gray">
          <a:xfrm flipV="1">
            <a:off x="829378" y="2780570"/>
            <a:ext cx="0" cy="2809914"/>
          </a:xfrm>
          <a:prstGeom prst="straightConnector1">
            <a:avLst/>
          </a:prstGeom>
          <a:noFill/>
          <a:ln w="28575" cap="flat" cmpd="sng" algn="ctr">
            <a:solidFill>
              <a:schemeClr val="bg1">
                <a:lumMod val="50000"/>
              </a:schemeClr>
            </a:solidFill>
            <a:prstDash val="solid"/>
            <a:miter lim="800000"/>
            <a:tailEnd type="triangle"/>
          </a:ln>
          <a:effectLst/>
        </p:spPr>
      </p:cxnSp>
      <p:sp>
        <p:nvSpPr>
          <p:cNvPr id="12" name="椭圆 11"/>
          <p:cNvSpPr>
            <a:spLocks noChangeAspect="1"/>
          </p:cNvSpPr>
          <p:nvPr/>
        </p:nvSpPr>
        <p:spPr bwMode="gray">
          <a:xfrm>
            <a:off x="972871" y="4163303"/>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椭圆 12"/>
          <p:cNvSpPr>
            <a:spLocks noChangeAspect="1"/>
          </p:cNvSpPr>
          <p:nvPr/>
        </p:nvSpPr>
        <p:spPr bwMode="gray">
          <a:xfrm>
            <a:off x="1261736" y="4405253"/>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椭圆 13"/>
          <p:cNvSpPr>
            <a:spLocks noChangeAspect="1"/>
          </p:cNvSpPr>
          <p:nvPr/>
        </p:nvSpPr>
        <p:spPr bwMode="gray">
          <a:xfrm>
            <a:off x="1550601" y="4021638"/>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椭圆 14"/>
          <p:cNvSpPr>
            <a:spLocks noChangeAspect="1"/>
          </p:cNvSpPr>
          <p:nvPr/>
        </p:nvSpPr>
        <p:spPr bwMode="gray">
          <a:xfrm>
            <a:off x="1839466" y="4242500"/>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椭圆 15"/>
          <p:cNvSpPr>
            <a:spLocks noChangeAspect="1"/>
          </p:cNvSpPr>
          <p:nvPr/>
        </p:nvSpPr>
        <p:spPr bwMode="gray">
          <a:xfrm>
            <a:off x="2128331" y="4242500"/>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椭圆 16"/>
          <p:cNvSpPr>
            <a:spLocks noChangeAspect="1"/>
          </p:cNvSpPr>
          <p:nvPr/>
        </p:nvSpPr>
        <p:spPr bwMode="gray">
          <a:xfrm>
            <a:off x="2417196" y="4675767"/>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椭圆 17"/>
          <p:cNvSpPr>
            <a:spLocks noChangeAspect="1"/>
          </p:cNvSpPr>
          <p:nvPr/>
        </p:nvSpPr>
        <p:spPr bwMode="gray">
          <a:xfrm>
            <a:off x="2706061" y="4187221"/>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椭圆 18"/>
          <p:cNvSpPr>
            <a:spLocks noChangeAspect="1"/>
          </p:cNvSpPr>
          <p:nvPr/>
        </p:nvSpPr>
        <p:spPr bwMode="gray">
          <a:xfrm>
            <a:off x="2994926" y="4451733"/>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椭圆 19"/>
          <p:cNvSpPr>
            <a:spLocks noChangeAspect="1"/>
          </p:cNvSpPr>
          <p:nvPr/>
        </p:nvSpPr>
        <p:spPr bwMode="gray">
          <a:xfrm>
            <a:off x="3283791" y="4051314"/>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椭圆 20"/>
          <p:cNvSpPr>
            <a:spLocks noChangeAspect="1"/>
          </p:cNvSpPr>
          <p:nvPr/>
        </p:nvSpPr>
        <p:spPr bwMode="gray">
          <a:xfrm>
            <a:off x="3572656" y="4217838"/>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椭圆 21"/>
          <p:cNvSpPr>
            <a:spLocks noChangeAspect="1"/>
          </p:cNvSpPr>
          <p:nvPr/>
        </p:nvSpPr>
        <p:spPr bwMode="gray">
          <a:xfrm>
            <a:off x="3861521" y="4217838"/>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椭圆 22"/>
          <p:cNvSpPr>
            <a:spLocks noChangeAspect="1"/>
          </p:cNvSpPr>
          <p:nvPr/>
        </p:nvSpPr>
        <p:spPr bwMode="gray">
          <a:xfrm>
            <a:off x="4150386" y="4652108"/>
            <a:ext cx="153670" cy="15367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椭圆 23"/>
          <p:cNvSpPr>
            <a:spLocks noChangeAspect="1"/>
          </p:cNvSpPr>
          <p:nvPr/>
        </p:nvSpPr>
        <p:spPr bwMode="gray">
          <a:xfrm>
            <a:off x="4439251" y="4160740"/>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椭圆 24"/>
          <p:cNvSpPr>
            <a:spLocks noChangeAspect="1"/>
          </p:cNvSpPr>
          <p:nvPr/>
        </p:nvSpPr>
        <p:spPr bwMode="gray">
          <a:xfrm>
            <a:off x="4728116" y="4403278"/>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椭圆 25"/>
          <p:cNvSpPr>
            <a:spLocks noChangeAspect="1"/>
          </p:cNvSpPr>
          <p:nvPr/>
        </p:nvSpPr>
        <p:spPr bwMode="gray">
          <a:xfrm>
            <a:off x="5016981" y="4003188"/>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椭圆 26"/>
          <p:cNvSpPr>
            <a:spLocks noChangeAspect="1"/>
          </p:cNvSpPr>
          <p:nvPr/>
        </p:nvSpPr>
        <p:spPr bwMode="gray">
          <a:xfrm>
            <a:off x="5305846" y="4249188"/>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椭圆 27"/>
          <p:cNvSpPr>
            <a:spLocks noChangeAspect="1"/>
          </p:cNvSpPr>
          <p:nvPr/>
        </p:nvSpPr>
        <p:spPr bwMode="gray">
          <a:xfrm>
            <a:off x="5594711" y="4249188"/>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椭圆 28"/>
          <p:cNvSpPr>
            <a:spLocks noChangeAspect="1"/>
          </p:cNvSpPr>
          <p:nvPr/>
        </p:nvSpPr>
        <p:spPr bwMode="gray">
          <a:xfrm>
            <a:off x="5883572" y="4674288"/>
            <a:ext cx="153670" cy="15367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0" name="直接箭头连接符 29"/>
          <p:cNvCxnSpPr/>
          <p:nvPr/>
        </p:nvCxnSpPr>
        <p:spPr bwMode="gray">
          <a:xfrm>
            <a:off x="4378181" y="2919070"/>
            <a:ext cx="0" cy="2671413"/>
          </a:xfrm>
          <a:prstGeom prst="straightConnector1">
            <a:avLst/>
          </a:prstGeom>
          <a:noFill/>
          <a:ln w="19050" cap="flat" cmpd="sng" algn="ctr">
            <a:solidFill>
              <a:srgbClr val="C7000B"/>
            </a:solidFill>
            <a:prstDash val="sysDot"/>
            <a:miter lim="800000"/>
            <a:headEnd type="triangle" w="med" len="med"/>
            <a:tailEnd type="none" w="med" len="med"/>
          </a:ln>
          <a:effectLst/>
        </p:spPr>
      </p:cxnSp>
      <p:cxnSp>
        <p:nvCxnSpPr>
          <p:cNvPr id="31" name="直接箭头连接符 30"/>
          <p:cNvCxnSpPr/>
          <p:nvPr/>
        </p:nvCxnSpPr>
        <p:spPr bwMode="gray">
          <a:xfrm>
            <a:off x="2635273" y="3652726"/>
            <a:ext cx="0" cy="1937757"/>
          </a:xfrm>
          <a:prstGeom prst="straightConnector1">
            <a:avLst/>
          </a:prstGeom>
          <a:noFill/>
          <a:ln w="19050" cap="flat" cmpd="sng" algn="ctr">
            <a:solidFill>
              <a:schemeClr val="bg1">
                <a:lumMod val="75000"/>
              </a:schemeClr>
            </a:solidFill>
            <a:prstDash val="sysDot"/>
            <a:miter lim="800000"/>
            <a:headEnd type="none" w="med" len="med"/>
            <a:tailEnd type="none" w="med" len="med"/>
          </a:ln>
          <a:effectLst/>
        </p:spPr>
      </p:cxnSp>
      <p:sp>
        <p:nvSpPr>
          <p:cNvPr id="32" name="矩形 31"/>
          <p:cNvSpPr/>
          <p:nvPr/>
        </p:nvSpPr>
        <p:spPr bwMode="gray">
          <a:xfrm>
            <a:off x="689582" y="2545207"/>
            <a:ext cx="1107996" cy="276999"/>
          </a:xfrm>
          <a:prstGeom prst="rect">
            <a:avLst/>
          </a:prstGeom>
        </p:spPr>
        <p:txBody>
          <a:bodyPr wrap="none">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负载变化趋势</a:t>
            </a:r>
          </a:p>
        </p:txBody>
      </p:sp>
      <p:sp>
        <p:nvSpPr>
          <p:cNvPr id="33" name="矩形 32"/>
          <p:cNvSpPr/>
          <p:nvPr/>
        </p:nvSpPr>
        <p:spPr bwMode="gray">
          <a:xfrm>
            <a:off x="5731953" y="5612663"/>
            <a:ext cx="492443"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cs typeface="+mn-ea"/>
                <a:sym typeface="Huawei Sans" panose="020C0503030203020204" pitchFamily="34" charset="0"/>
              </a:rPr>
              <a:t>时间</a:t>
            </a:r>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bwMode="gray">
          <a:xfrm>
            <a:off x="1423858" y="5612663"/>
            <a:ext cx="492443" cy="276999"/>
          </a:xfrm>
          <a:prstGeom prst="rect">
            <a:avLst/>
          </a:prstGeom>
        </p:spPr>
        <p:txBody>
          <a:bodyPr wrap="none">
            <a:spAutoFit/>
          </a:bodyPr>
          <a:lstStyle/>
          <a:p>
            <a:pPr algn="ctr"/>
            <a:r>
              <a:rPr lang="zh-CN" altLang="en-US" sz="1200" smtClean="0">
                <a:latin typeface="Huawei Sans" panose="020C0503030203020204" pitchFamily="34" charset="0"/>
                <a:ea typeface="方正兰亭黑简体" panose="02000000000000000000" pitchFamily="2" charset="-122"/>
                <a:cs typeface="+mn-ea"/>
                <a:sym typeface="Huawei Sans" panose="020C0503030203020204" pitchFamily="34" charset="0"/>
              </a:rPr>
              <a:t>昨天</a:t>
            </a:r>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3191239" y="5612663"/>
            <a:ext cx="492443" cy="276999"/>
          </a:xfrm>
          <a:prstGeom prst="rect">
            <a:avLst/>
          </a:prstGeom>
        </p:spPr>
        <p:txBody>
          <a:bodyPr wrap="none">
            <a:spAutoFit/>
          </a:bodyPr>
          <a:lstStyle/>
          <a:p>
            <a:pPr algn="ctr"/>
            <a:r>
              <a:rPr lang="zh-CN" altLang="en-US" sz="1200" smtClean="0">
                <a:latin typeface="Huawei Sans" panose="020C0503030203020204" pitchFamily="34" charset="0"/>
                <a:ea typeface="方正兰亭黑简体" panose="02000000000000000000" pitchFamily="2" charset="-122"/>
                <a:cs typeface="+mn-ea"/>
                <a:sym typeface="Huawei Sans" panose="020C0503030203020204" pitchFamily="34" charset="0"/>
              </a:rPr>
              <a:t>今天</a:t>
            </a:r>
            <a:endParaRPr lang="zh-CN" altLang="en-US" sz="120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bwMode="gray">
          <a:xfrm>
            <a:off x="4924429" y="5612663"/>
            <a:ext cx="492443" cy="276999"/>
          </a:xfrm>
          <a:prstGeom prst="rect">
            <a:avLst/>
          </a:prstGeom>
        </p:spPr>
        <p:txBody>
          <a:bodyPr wrap="none">
            <a:spAutoFit/>
          </a:bodyPr>
          <a:lstStyle/>
          <a:p>
            <a:pPr algn="ct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明天</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36"/>
          <p:cNvSpPr/>
          <p:nvPr/>
        </p:nvSpPr>
        <p:spPr bwMode="gray">
          <a:xfrm>
            <a:off x="3964906" y="2582283"/>
            <a:ext cx="902811" cy="307777"/>
          </a:xfrm>
          <a:prstGeom prst="rect">
            <a:avLst/>
          </a:prstGeom>
        </p:spPr>
        <p:txBody>
          <a:bodyPr wrap="none">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调优时刻</a:t>
            </a:r>
          </a:p>
        </p:txBody>
      </p:sp>
      <p:sp>
        <p:nvSpPr>
          <p:cNvPr id="38" name="矩形 37"/>
          <p:cNvSpPr/>
          <p:nvPr/>
        </p:nvSpPr>
        <p:spPr bwMode="gray">
          <a:xfrm>
            <a:off x="2674385" y="5038959"/>
            <a:ext cx="1723550" cy="276999"/>
          </a:xfrm>
          <a:prstGeom prst="rect">
            <a:avLst/>
          </a:prstGeom>
        </p:spPr>
        <p:txBody>
          <a:bodyPr wrap="none">
            <a:spAutoFit/>
          </a:bodyPr>
          <a:lstStyle/>
          <a:p>
            <a:pPr algn="r"/>
            <a:r>
              <a:rPr lang="zh-CN" altLang="en-US" sz="12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传统调优</a:t>
            </a:r>
            <a:r>
              <a:rPr lang="zh-CN" altLang="en-US" sz="1200" b="1"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过去值</a:t>
            </a:r>
          </a:p>
        </p:txBody>
      </p:sp>
      <p:sp>
        <p:nvSpPr>
          <p:cNvPr id="39" name="矩形 38"/>
          <p:cNvSpPr/>
          <p:nvPr/>
        </p:nvSpPr>
        <p:spPr bwMode="gray">
          <a:xfrm>
            <a:off x="4397935" y="3247474"/>
            <a:ext cx="1415772" cy="461665"/>
          </a:xfrm>
          <a:prstGeom prst="rect">
            <a:avLst/>
          </a:prstGeom>
        </p:spPr>
        <p:txBody>
          <a:bodyPr wrap="none">
            <a:spAutoFit/>
          </a:bodyPr>
          <a:lstStyle/>
          <a:p>
            <a:r>
              <a:rPr lang="en-US" altLang="zh-CN" sz="12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2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预测性调优：</a:t>
            </a:r>
          </a:p>
          <a:p>
            <a:r>
              <a:rPr lang="zh-CN" altLang="en-US" sz="1200"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基于预测的未来值</a:t>
            </a:r>
          </a:p>
        </p:txBody>
      </p:sp>
      <p:sp>
        <p:nvSpPr>
          <p:cNvPr id="40" name="矩形 39"/>
          <p:cNvSpPr/>
          <p:nvPr/>
        </p:nvSpPr>
        <p:spPr bwMode="gray">
          <a:xfrm>
            <a:off x="7555182" y="2710210"/>
            <a:ext cx="3826689" cy="307777"/>
          </a:xfrm>
          <a:prstGeom prst="rect">
            <a:avLst/>
          </a:prstGeom>
        </p:spPr>
        <p:txBody>
          <a:bodyPr wrap="none">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差异化射频调优，高负载</a:t>
            </a: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优选“干净”信道</a:t>
            </a:r>
          </a:p>
        </p:txBody>
      </p:sp>
      <p:sp>
        <p:nvSpPr>
          <p:cNvPr id="41" name="矩形 40"/>
          <p:cNvSpPr/>
          <p:nvPr/>
        </p:nvSpPr>
        <p:spPr bwMode="gray">
          <a:xfrm>
            <a:off x="6136668" y="3702422"/>
            <a:ext cx="1685683" cy="432000"/>
          </a:xfrm>
          <a:prstGeom prst="rect">
            <a:avLst/>
          </a:prstGeom>
          <a:solidFill>
            <a:srgbClr val="FEF3EC"/>
          </a:solidFill>
          <a:ln w="12700" cap="flat">
            <a:solidFill>
              <a:srgbClr val="F6B78C"/>
            </a:solidFill>
            <a:miter lim="400000"/>
          </a:ln>
          <a:effectLst/>
          <a:sp3d/>
        </p:spPr>
        <p:txBody>
          <a:bodyPr rot="0" spcFirstLastPara="1" vertOverflow="overflow" horzOverflow="overflow" vert="horz" wrap="square" lIns="18815" tIns="18815" rIns="18815" bIns="18815" numCol="1" spcCol="38100" rtlCol="0" anchor="ctr">
            <a:noAutofit/>
          </a:bodyPr>
          <a:lstStyle/>
          <a:p>
            <a:pPr marL="0" marR="0" lvl="0" indent="0" algn="ctr" defTabSz="305741" eaLnBrk="1" fontAlgn="auto" latinLnBrk="0" hangingPunct="0">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七天历史运行数据</a:t>
            </a:r>
            <a:endParaRPr kumimoji="0" lang="zh-CN" altLang="en-US" sz="16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矩形 41"/>
          <p:cNvSpPr/>
          <p:nvPr/>
        </p:nvSpPr>
        <p:spPr bwMode="gray">
          <a:xfrm>
            <a:off x="8286238" y="3702422"/>
            <a:ext cx="1159749" cy="432000"/>
          </a:xfrm>
          <a:prstGeom prst="rect">
            <a:avLst/>
          </a:prstGeom>
          <a:solidFill>
            <a:srgbClr val="FEF3EC"/>
          </a:solidFill>
          <a:ln w="12700" cap="flat">
            <a:solidFill>
              <a:srgbClr val="F6B78C"/>
            </a:solidFill>
            <a:miter lim="400000"/>
          </a:ln>
          <a:effectLst/>
          <a:sp3d/>
        </p:spPr>
        <p:txBody>
          <a:bodyPr rot="0" spcFirstLastPara="1" vertOverflow="overflow" horzOverflow="overflow" vert="horz" wrap="square" lIns="18815" tIns="18815" rIns="18815" bIns="18815" numCol="1" spcCol="38100" rtlCol="0" anchor="ctr">
            <a:noAutofit/>
          </a:bodyPr>
          <a:lstStyle/>
          <a:p>
            <a:pPr marL="0" marR="0" lvl="0" indent="0" algn="ctr" defTabSz="305741" eaLnBrk="1" fontAlgn="auto" latinLnBrk="0" hangingPunct="0">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基线训练</a:t>
            </a:r>
            <a:endParaRPr kumimoji="0" lang="en-US" altLang="en-US" sz="16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文本框 42"/>
          <p:cNvSpPr txBox="1"/>
          <p:nvPr/>
        </p:nvSpPr>
        <p:spPr bwMode="gray">
          <a:xfrm>
            <a:off x="9158157" y="3225141"/>
            <a:ext cx="1148892" cy="399324"/>
          </a:xfrm>
          <a:prstGeom prst="rect">
            <a:avLst/>
          </a:prstGeom>
          <a:noFill/>
          <a:ln w="28575" cap="flat">
            <a:noFill/>
            <a:miter lim="400000"/>
          </a:ln>
          <a:effectLst/>
          <a:sp3d/>
        </p:spPr>
        <p:txBody>
          <a:bodyPr rot="0" spcFirstLastPara="1" vertOverflow="overflow" horzOverflow="overflow" vert="horz" wrap="none" lIns="18815" tIns="18815" rIns="18815" bIns="18815" numCol="1" spcCol="38100" rtlCol="0" anchor="ctr">
            <a:noAutofit/>
          </a:bodyPr>
          <a:lstStyle/>
          <a:p>
            <a:pPr marL="0" marR="0" lvl="0" indent="0" algn="ctr" defTabSz="305741" eaLnBrk="1" fontAlgn="auto" latinLnBrk="0" hangingPunct="0">
              <a:lnSpc>
                <a:spcPct val="100000"/>
              </a:lnSpc>
              <a:spcBef>
                <a:spcPts val="0"/>
              </a:spcBef>
              <a:spcAft>
                <a:spcPts val="0"/>
              </a:spcAft>
              <a:buClrTx/>
              <a:buSzTx/>
              <a:buFontTx/>
              <a:buNone/>
              <a:tabLst/>
              <a:defRPr/>
            </a:pPr>
            <a:r>
              <a:rPr kumimoji="0" lang="en-US" altLang="zh-CN" sz="16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AI</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智能</a:t>
            </a:r>
            <a:r>
              <a:rPr kumimoji="0" lang="zh-CN" altLang="en-US" sz="16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算法</a:t>
            </a:r>
            <a:endParaRPr kumimoji="0" lang="en-US"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文本框 43"/>
          <p:cNvSpPr txBox="1"/>
          <p:nvPr/>
        </p:nvSpPr>
        <p:spPr bwMode="gray">
          <a:xfrm>
            <a:off x="6274765" y="5211954"/>
            <a:ext cx="5131832" cy="412414"/>
          </a:xfrm>
          <a:prstGeom prst="rect">
            <a:avLst/>
          </a:prstGeom>
          <a:solidFill>
            <a:schemeClr val="bg1">
              <a:lumMod val="75000"/>
            </a:schemeClr>
          </a:solidFill>
          <a:ln w="28575" cap="flat">
            <a:noFill/>
            <a:miter lim="400000"/>
          </a:ln>
          <a:effectLst/>
          <a:sp3d/>
        </p:spPr>
        <p:txBody>
          <a:bodyPr rot="0" spcFirstLastPara="1" vertOverflow="overflow" horzOverflow="overflow" vert="horz" wrap="none" lIns="18815" tIns="18815" rIns="18815" bIns="18815" numCol="1" spcCol="38100" rtlCol="0" anchor="ctr">
            <a:noAutofit/>
          </a:bodyPr>
          <a:lstStyle/>
          <a:p>
            <a:pPr marL="0" marR="0" lvl="0" indent="0" algn="ctr" defTabSz="305741" eaLnBrk="1" fontAlgn="auto" latinLnBrk="0" hangingPunct="0">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设备</a:t>
            </a:r>
            <a:endParaRPr kumimoji="0" lang="en-US"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矩形 44"/>
          <p:cNvSpPr/>
          <p:nvPr/>
        </p:nvSpPr>
        <p:spPr bwMode="gray">
          <a:xfrm>
            <a:off x="10021784" y="3702422"/>
            <a:ext cx="1320724" cy="432000"/>
          </a:xfrm>
          <a:prstGeom prst="rect">
            <a:avLst/>
          </a:prstGeom>
          <a:solidFill>
            <a:srgbClr val="FEF3EC"/>
          </a:solidFill>
          <a:ln w="12700" cap="flat">
            <a:solidFill>
              <a:srgbClr val="F6B78C"/>
            </a:solidFill>
            <a:miter lim="400000"/>
          </a:ln>
          <a:effectLst/>
          <a:sp3d/>
        </p:spPr>
        <p:txBody>
          <a:bodyPr rot="0" spcFirstLastPara="1" vertOverflow="overflow" horzOverflow="overflow" vert="horz" wrap="square" lIns="18815" tIns="18815" rIns="18815" bIns="18815" numCol="1" spcCol="38100" rtlCol="0" anchor="ctr">
            <a:noAutofit/>
          </a:bodyPr>
          <a:lstStyle/>
          <a:p>
            <a:pPr marL="0" marR="0" lvl="0" indent="0" algn="ctr" defTabSz="305741" eaLnBrk="1" fontAlgn="auto" latinLnBrk="0" hangingPunct="0">
              <a:lnSpc>
                <a:spcPct val="100000"/>
              </a:lnSpc>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负载预测</a:t>
            </a:r>
            <a:endParaRPr kumimoji="0" lang="en-US" altLang="en-US" sz="16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6" name="直接箭头连接符 45"/>
          <p:cNvCxnSpPr>
            <a:stCxn id="41" idx="3"/>
            <a:endCxn id="42" idx="1"/>
          </p:cNvCxnSpPr>
          <p:nvPr/>
        </p:nvCxnSpPr>
        <p:spPr bwMode="gray">
          <a:xfrm>
            <a:off x="7822351" y="3918422"/>
            <a:ext cx="463887" cy="0"/>
          </a:xfrm>
          <a:prstGeom prst="straightConnector1">
            <a:avLst/>
          </a:prstGeom>
          <a:noFill/>
          <a:ln w="28575" cap="flat" cmpd="sng" algn="ctr">
            <a:solidFill>
              <a:srgbClr val="F6B78C"/>
            </a:solidFill>
            <a:prstDash val="solid"/>
            <a:miter lim="800000"/>
            <a:tailEnd type="triangle"/>
          </a:ln>
          <a:effectLst/>
        </p:spPr>
      </p:cxnSp>
      <p:cxnSp>
        <p:nvCxnSpPr>
          <p:cNvPr id="47" name="直接箭头连接符 46"/>
          <p:cNvCxnSpPr>
            <a:stCxn id="42" idx="3"/>
            <a:endCxn id="45" idx="1"/>
          </p:cNvCxnSpPr>
          <p:nvPr/>
        </p:nvCxnSpPr>
        <p:spPr bwMode="gray">
          <a:xfrm>
            <a:off x="9445987" y="3918422"/>
            <a:ext cx="575797" cy="0"/>
          </a:xfrm>
          <a:prstGeom prst="straightConnector1">
            <a:avLst/>
          </a:prstGeom>
          <a:noFill/>
          <a:ln w="28575" cap="flat" cmpd="sng" algn="ctr">
            <a:solidFill>
              <a:srgbClr val="F6B78C"/>
            </a:solidFill>
            <a:prstDash val="solid"/>
            <a:miter lim="800000"/>
            <a:tailEnd type="triangle"/>
          </a:ln>
          <a:effectLst/>
        </p:spPr>
      </p:cxnSp>
      <p:cxnSp>
        <p:nvCxnSpPr>
          <p:cNvPr id="48" name="直接箭头连接符 47"/>
          <p:cNvCxnSpPr>
            <a:stCxn id="45" idx="2"/>
          </p:cNvCxnSpPr>
          <p:nvPr/>
        </p:nvCxnSpPr>
        <p:spPr bwMode="gray">
          <a:xfrm>
            <a:off x="10682146" y="4134422"/>
            <a:ext cx="1" cy="1077532"/>
          </a:xfrm>
          <a:prstGeom prst="straightConnector1">
            <a:avLst/>
          </a:prstGeom>
          <a:noFill/>
          <a:ln w="28575" cap="flat" cmpd="sng" algn="ctr">
            <a:solidFill>
              <a:srgbClr val="F6B78C"/>
            </a:solidFill>
            <a:prstDash val="solid"/>
            <a:miter lim="800000"/>
            <a:tailEnd type="triangle"/>
          </a:ln>
          <a:effectLst/>
        </p:spPr>
      </p:cxnSp>
      <p:sp>
        <p:nvSpPr>
          <p:cNvPr id="49" name="文本框 48"/>
          <p:cNvSpPr txBox="1"/>
          <p:nvPr/>
        </p:nvSpPr>
        <p:spPr bwMode="gray">
          <a:xfrm>
            <a:off x="6982026" y="4566655"/>
            <a:ext cx="1005403" cy="338554"/>
          </a:xfrm>
          <a:prstGeom prst="rect">
            <a:avLst/>
          </a:prstGeom>
          <a:noFill/>
        </p:spPr>
        <p:txBody>
          <a:bodyPr vert="horz" wrap="none" rtlCol="0">
            <a:spAutoFit/>
          </a:bodyPr>
          <a:lstStyle/>
          <a:p>
            <a:pPr marL="0" marR="0" lvl="0" indent="0" defTabSz="914400" eaLnBrk="1" fontAlgn="auto" latinLnBrk="0" hangingPunct="1">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数据上报</a:t>
            </a:r>
          </a:p>
        </p:txBody>
      </p:sp>
      <p:sp>
        <p:nvSpPr>
          <p:cNvPr id="50" name="文本框 49"/>
          <p:cNvSpPr txBox="1"/>
          <p:nvPr/>
        </p:nvSpPr>
        <p:spPr bwMode="gray">
          <a:xfrm>
            <a:off x="9286800" y="4566422"/>
            <a:ext cx="1415772" cy="338554"/>
          </a:xfrm>
          <a:prstGeom prst="rect">
            <a:avLst/>
          </a:prstGeom>
          <a:noFill/>
        </p:spPr>
        <p:txBody>
          <a:bodyPr vert="horz" wrap="none" rtlCol="0">
            <a:spAutoFit/>
          </a:bodyPr>
          <a:lstStyle/>
          <a:p>
            <a:pPr marL="0" marR="0" lvl="0" indent="0" algn="r" defTabSz="914400" eaLnBrk="1" fontAlgn="auto" latinLnBrk="0" hangingPunct="1">
              <a:spcBef>
                <a:spcPts val="0"/>
              </a:spcBef>
              <a:spcAft>
                <a:spcPts val="0"/>
              </a:spcAft>
              <a:buClrTx/>
              <a:buSzTx/>
              <a:buFontTx/>
              <a:buNone/>
              <a:tabLst/>
              <a:defRPr/>
            </a:pPr>
            <a:r>
              <a:rPr kumimoji="0" lang="zh-CN" altLang="en-US" sz="16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指导设备调优</a:t>
            </a:r>
          </a:p>
        </p:txBody>
      </p:sp>
      <p:cxnSp>
        <p:nvCxnSpPr>
          <p:cNvPr id="51" name="直接箭头连接符 50"/>
          <p:cNvCxnSpPr>
            <a:endCxn id="41" idx="2"/>
          </p:cNvCxnSpPr>
          <p:nvPr/>
        </p:nvCxnSpPr>
        <p:spPr bwMode="gray">
          <a:xfrm flipV="1">
            <a:off x="6973311" y="4134422"/>
            <a:ext cx="0" cy="1077532"/>
          </a:xfrm>
          <a:prstGeom prst="straightConnector1">
            <a:avLst/>
          </a:prstGeom>
          <a:noFill/>
          <a:ln w="28575" cap="flat" cmpd="sng" algn="ctr">
            <a:solidFill>
              <a:srgbClr val="F6B78C"/>
            </a:solidFill>
            <a:prstDash val="solid"/>
            <a:miter lim="800000"/>
            <a:tailEnd type="triangle"/>
          </a:ln>
          <a:effectLst/>
        </p:spPr>
      </p:cxnSp>
      <p:sp>
        <p:nvSpPr>
          <p:cNvPr id="52" name="椭圆 51"/>
          <p:cNvSpPr/>
          <p:nvPr/>
        </p:nvSpPr>
        <p:spPr>
          <a:xfrm>
            <a:off x="4078130" y="4585051"/>
            <a:ext cx="288000" cy="288000"/>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4373470" y="4098500"/>
            <a:ext cx="288000" cy="288000"/>
          </a:xfrm>
          <a:prstGeom prst="ellipse">
            <a:avLst/>
          </a:prstGeom>
          <a:noFill/>
          <a:ln w="1905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箭头连接符 53"/>
          <p:cNvCxnSpPr/>
          <p:nvPr/>
        </p:nvCxnSpPr>
        <p:spPr bwMode="gray">
          <a:xfrm flipV="1">
            <a:off x="3536160" y="4805778"/>
            <a:ext cx="479031" cy="190176"/>
          </a:xfrm>
          <a:prstGeom prst="straightConnector1">
            <a:avLst/>
          </a:prstGeom>
          <a:noFill/>
          <a:ln w="19050" cap="flat" cmpd="sng" algn="ctr">
            <a:solidFill>
              <a:schemeClr val="bg1">
                <a:lumMod val="50000"/>
              </a:schemeClr>
            </a:solidFill>
            <a:prstDash val="solid"/>
            <a:miter lim="800000"/>
            <a:tailEnd type="triangle"/>
          </a:ln>
          <a:effectLst/>
        </p:spPr>
      </p:cxnSp>
      <p:cxnSp>
        <p:nvCxnSpPr>
          <p:cNvPr id="56" name="直接箭头连接符 55"/>
          <p:cNvCxnSpPr/>
          <p:nvPr/>
        </p:nvCxnSpPr>
        <p:spPr bwMode="gray">
          <a:xfrm flipH="1">
            <a:off x="4600871" y="3702422"/>
            <a:ext cx="259222" cy="348892"/>
          </a:xfrm>
          <a:prstGeom prst="straightConnector1">
            <a:avLst/>
          </a:prstGeom>
          <a:noFill/>
          <a:ln w="19050" cap="flat" cmpd="sng" algn="ctr">
            <a:solidFill>
              <a:srgbClr val="30B5C5"/>
            </a:solidFill>
            <a:prstDash val="solid"/>
            <a:miter lim="800000"/>
            <a:tailEnd type="triangle"/>
          </a:ln>
          <a:effectLst/>
        </p:spPr>
      </p:cxnSp>
    </p:spTree>
    <p:extLst>
      <p:ext uri="{BB962C8B-B14F-4D97-AF65-F5344CB8AC3E}">
        <p14:creationId xmlns:p14="http://schemas.microsoft.com/office/powerpoint/2010/main" val="207090812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66652" y="4380323"/>
            <a:ext cx="5763965" cy="1713175"/>
            <a:chOff x="466652" y="4380323"/>
            <a:chExt cx="5763965" cy="1713175"/>
          </a:xfrm>
        </p:grpSpPr>
        <p:pic>
          <p:nvPicPr>
            <p:cNvPr id="28" name="图片 27"/>
            <p:cNvPicPr>
              <a:picLocks noChangeAspect="1"/>
            </p:cNvPicPr>
            <p:nvPr/>
          </p:nvPicPr>
          <p:blipFill rotWithShape="1">
            <a:blip r:embed="rId3"/>
            <a:srcRect r="10668" b="29849"/>
            <a:stretch/>
          </p:blipFill>
          <p:spPr bwMode="invGray">
            <a:xfrm>
              <a:off x="466652" y="4380323"/>
              <a:ext cx="5763965" cy="1713175"/>
            </a:xfrm>
            <a:prstGeom prst="rect">
              <a:avLst/>
            </a:prstGeom>
          </p:spPr>
        </p:pic>
        <p:sp>
          <p:nvSpPr>
            <p:cNvPr id="5" name="矩形 4"/>
            <p:cNvSpPr/>
            <p:nvPr/>
          </p:nvSpPr>
          <p:spPr>
            <a:xfrm>
              <a:off x="2733251" y="5558843"/>
              <a:ext cx="333242" cy="90520"/>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733251" y="5718366"/>
              <a:ext cx="333242" cy="90520"/>
            </a:xfrm>
            <a:prstGeom prst="rect">
              <a:avLst/>
            </a:prstGeom>
            <a:solidFill>
              <a:srgbClr val="152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14</a:t>
            </a:r>
            <a:r>
              <a:rPr lang="zh-CN" altLang="en-US" dirty="0" smtClean="0">
                <a:sym typeface="Huawei Sans" panose="020C0503030203020204" pitchFamily="34" charset="0"/>
              </a:rPr>
              <a:t>：基于</a:t>
            </a:r>
            <a:r>
              <a:rPr lang="en-US" altLang="zh-CN" dirty="0" smtClean="0">
                <a:sym typeface="Huawei Sans" panose="020C0503030203020204" pitchFamily="34" charset="0"/>
              </a:rPr>
              <a:t>AI</a:t>
            </a:r>
            <a:r>
              <a:rPr lang="zh-CN" altLang="en-US" dirty="0" smtClean="0">
                <a:sym typeface="Huawei Sans" panose="020C0503030203020204" pitchFamily="34" charset="0"/>
              </a:rPr>
              <a:t>的预测性调优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15" name="Working with Partners to Build One of the Five Clouds for an Intelligent World"/>
          <p:cNvSpPr txBox="1"/>
          <p:nvPr/>
        </p:nvSpPr>
        <p:spPr bwMode="gray">
          <a:xfrm>
            <a:off x="452339" y="973497"/>
            <a:ext cx="11260235" cy="731785"/>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某公司无线网络办公区升级改造，员工临时搬迁到</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C4</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栋楼临时集中办公，导致</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C4</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楼栋人员增多，网路负载加大，员工抱怨无线网络越来越卡，通过开启“智能无线射频调优”，自动识别</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C4</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办公楼内的高负载区域，针对性调整</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频宽，员工带宽得到提升，体验良好。</a:t>
            </a:r>
          </a:p>
        </p:txBody>
      </p:sp>
      <p:sp>
        <p:nvSpPr>
          <p:cNvPr id="16" name="文本框 15"/>
          <p:cNvSpPr txBox="1"/>
          <p:nvPr/>
        </p:nvSpPr>
        <p:spPr bwMode="gray">
          <a:xfrm>
            <a:off x="449678" y="1780666"/>
            <a:ext cx="4286914"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“智能无线射频调优”</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“大数据调优</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7" name="文本框 16"/>
          <p:cNvSpPr txBox="1"/>
          <p:nvPr/>
        </p:nvSpPr>
        <p:spPr bwMode="gray">
          <a:xfrm>
            <a:off x="6082212" y="1780666"/>
            <a:ext cx="5257153"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、开启</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“智能无线射频调优”</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（建议提前开启，提升数据训练的准确度）。</a:t>
            </a:r>
          </a:p>
        </p:txBody>
      </p:sp>
      <p:sp>
        <p:nvSpPr>
          <p:cNvPr id="18" name="右箭头 17"/>
          <p:cNvSpPr/>
          <p:nvPr/>
        </p:nvSpPr>
        <p:spPr bwMode="gray">
          <a:xfrm>
            <a:off x="1967994" y="2646911"/>
            <a:ext cx="406707" cy="266330"/>
          </a:xfrm>
          <a:prstGeom prst="rightArrow">
            <a:avLst/>
          </a:prstGeom>
          <a:solidFill>
            <a:schemeClr val="bg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rotWithShape="1">
          <a:blip r:embed="rId4"/>
          <a:srcRect t="16286"/>
          <a:stretch/>
        </p:blipFill>
        <p:spPr bwMode="invGray">
          <a:xfrm>
            <a:off x="741609" y="2038998"/>
            <a:ext cx="2970074" cy="1478296"/>
          </a:xfrm>
          <a:prstGeom prst="rect">
            <a:avLst/>
          </a:prstGeom>
        </p:spPr>
      </p:pic>
      <p:sp>
        <p:nvSpPr>
          <p:cNvPr id="20" name="矩形 19"/>
          <p:cNvSpPr/>
          <p:nvPr/>
        </p:nvSpPr>
        <p:spPr bwMode="gray">
          <a:xfrm>
            <a:off x="2381007" y="2526337"/>
            <a:ext cx="704488" cy="21962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2" name="图片 21"/>
          <p:cNvPicPr>
            <a:picLocks noChangeAspect="1"/>
          </p:cNvPicPr>
          <p:nvPr/>
        </p:nvPicPr>
        <p:blipFill>
          <a:blip r:embed="rId5"/>
          <a:stretch>
            <a:fillRect/>
          </a:stretch>
        </p:blipFill>
        <p:spPr bwMode="invGray">
          <a:xfrm>
            <a:off x="6264514" y="2057665"/>
            <a:ext cx="5441263" cy="2944103"/>
          </a:xfrm>
          <a:prstGeom prst="rect">
            <a:avLst/>
          </a:prstGeom>
        </p:spPr>
      </p:pic>
      <p:sp>
        <p:nvSpPr>
          <p:cNvPr id="23" name="矩形 22"/>
          <p:cNvSpPr/>
          <p:nvPr/>
        </p:nvSpPr>
        <p:spPr bwMode="gray">
          <a:xfrm>
            <a:off x="6408508" y="4495414"/>
            <a:ext cx="799334" cy="206067"/>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文本框 23"/>
          <p:cNvSpPr txBox="1"/>
          <p:nvPr/>
        </p:nvSpPr>
        <p:spPr bwMode="gray">
          <a:xfrm>
            <a:off x="6408508" y="4162168"/>
            <a:ext cx="1723549" cy="276999"/>
          </a:xfrm>
          <a:prstGeom prst="rect">
            <a:avLst/>
          </a:prstGeom>
          <a:solidFill>
            <a:schemeClr val="bg1">
              <a:lumMod val="50000"/>
            </a:schemeClr>
          </a:solidFill>
        </p:spPr>
        <p:txBody>
          <a:bodyPr vert="horz" wrap="none" rtlCol="0">
            <a:spAutoFit/>
          </a:bodyPr>
          <a:lstStyle/>
          <a:p>
            <a:pPr algn="l"/>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使</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能智能无线射频调优</a:t>
            </a:r>
          </a:p>
        </p:txBody>
      </p:sp>
      <p:sp>
        <p:nvSpPr>
          <p:cNvPr id="25" name="文本框 24"/>
          <p:cNvSpPr txBox="1"/>
          <p:nvPr/>
        </p:nvSpPr>
        <p:spPr bwMode="gray">
          <a:xfrm>
            <a:off x="466652" y="4059526"/>
            <a:ext cx="5549856"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、点击“下一步”，在“负载优化”中发现“</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C4-3F</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”识别出较多的</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高负载</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9" name="矩形 28"/>
          <p:cNvSpPr/>
          <p:nvPr/>
        </p:nvSpPr>
        <p:spPr bwMode="gray">
          <a:xfrm>
            <a:off x="4176702" y="4467918"/>
            <a:ext cx="699166" cy="264788"/>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gray">
          <a:xfrm>
            <a:off x="3625089" y="5389938"/>
            <a:ext cx="2470911" cy="46062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 name="右箭头 2"/>
          <p:cNvSpPr/>
          <p:nvPr/>
        </p:nvSpPr>
        <p:spPr>
          <a:xfrm>
            <a:off x="4441527" y="2617190"/>
            <a:ext cx="868680" cy="17680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右箭头 3"/>
          <p:cNvSpPr/>
          <p:nvPr/>
        </p:nvSpPr>
        <p:spPr>
          <a:xfrm rot="10800000">
            <a:off x="6502697" y="5251886"/>
            <a:ext cx="380154" cy="325062"/>
          </a:xfrm>
          <a:prstGeom prst="ben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741609" y="3157410"/>
            <a:ext cx="1420566" cy="35988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06720712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27638" y="1300806"/>
            <a:ext cx="8187762" cy="3139524"/>
            <a:chOff x="727638" y="1300806"/>
            <a:chExt cx="8187762" cy="3139524"/>
          </a:xfrm>
        </p:grpSpPr>
        <p:pic>
          <p:nvPicPr>
            <p:cNvPr id="19" name="图片 18"/>
            <p:cNvPicPr>
              <a:picLocks noChangeAspect="1"/>
            </p:cNvPicPr>
            <p:nvPr/>
          </p:nvPicPr>
          <p:blipFill>
            <a:blip r:embed="rId3"/>
            <a:stretch>
              <a:fillRect/>
            </a:stretch>
          </p:blipFill>
          <p:spPr bwMode="invGray">
            <a:xfrm>
              <a:off x="727638" y="1300806"/>
              <a:ext cx="8187762" cy="3139524"/>
            </a:xfrm>
            <a:prstGeom prst="rect">
              <a:avLst/>
            </a:prstGeom>
          </p:spPr>
        </p:pic>
        <p:sp>
          <p:nvSpPr>
            <p:cNvPr id="3" name="矩形 2"/>
            <p:cNvSpPr/>
            <p:nvPr/>
          </p:nvSpPr>
          <p:spPr>
            <a:xfrm>
              <a:off x="914400" y="3991170"/>
              <a:ext cx="389299" cy="164241"/>
            </a:xfrm>
            <a:prstGeom prst="rect">
              <a:avLst/>
            </a:prstGeom>
            <a:solidFill>
              <a:srgbClr val="1B2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14</a:t>
            </a:r>
            <a:r>
              <a:rPr lang="zh-CN" altLang="en-US" dirty="0" smtClean="0">
                <a:sym typeface="Huawei Sans" panose="020C0503030203020204" pitchFamily="34" charset="0"/>
              </a:rPr>
              <a:t>：基于</a:t>
            </a:r>
            <a:r>
              <a:rPr lang="en-US" altLang="zh-CN" dirty="0" smtClean="0">
                <a:sym typeface="Huawei Sans" panose="020C0503030203020204" pitchFamily="34" charset="0"/>
              </a:rPr>
              <a:t>AI</a:t>
            </a:r>
            <a:r>
              <a:rPr lang="zh-CN" altLang="en-US" dirty="0" smtClean="0">
                <a:sym typeface="Huawei Sans" panose="020C0503030203020204" pitchFamily="34" charset="0"/>
              </a:rPr>
              <a:t>的预测性调优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pic>
        <p:nvPicPr>
          <p:cNvPr id="18" name="图片 17"/>
          <p:cNvPicPr>
            <a:picLocks noChangeAspect="1"/>
          </p:cNvPicPr>
          <p:nvPr/>
        </p:nvPicPr>
        <p:blipFill rotWithShape="1">
          <a:blip r:embed="rId4"/>
          <a:srcRect t="79443"/>
          <a:stretch/>
        </p:blipFill>
        <p:spPr bwMode="invGray">
          <a:xfrm>
            <a:off x="727638" y="4878462"/>
            <a:ext cx="9698880" cy="977120"/>
          </a:xfrm>
          <a:prstGeom prst="rect">
            <a:avLst/>
          </a:prstGeom>
        </p:spPr>
      </p:pic>
      <p:sp>
        <p:nvSpPr>
          <p:cNvPr id="20" name="文本框 19"/>
          <p:cNvSpPr txBox="1"/>
          <p:nvPr/>
        </p:nvSpPr>
        <p:spPr bwMode="gray">
          <a:xfrm>
            <a:off x="442913" y="1052383"/>
            <a:ext cx="10537960" cy="276999"/>
          </a:xfrm>
          <a:prstGeom prst="rect">
            <a:avLst/>
          </a:prstGeom>
          <a:noFill/>
        </p:spPr>
        <p:txBody>
          <a:bodyPr vert="horz" wrap="squar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、开启大数据调优后第二天，</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C4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三楼片区的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经过大数据调优后，学生带宽提升到</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257 Mbps</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（提升</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50%</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平均信道利用率降为</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3.4%</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（下降</a:t>
            </a:r>
            <a:r>
              <a:rPr lang="en-US" altLang="zh-CN"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0%</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21" name="矩形 20"/>
          <p:cNvSpPr/>
          <p:nvPr/>
        </p:nvSpPr>
        <p:spPr bwMode="gray">
          <a:xfrm>
            <a:off x="2853060" y="2972312"/>
            <a:ext cx="1890390" cy="72741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文本框 22"/>
          <p:cNvSpPr txBox="1"/>
          <p:nvPr/>
        </p:nvSpPr>
        <p:spPr bwMode="gray">
          <a:xfrm>
            <a:off x="442913" y="4590224"/>
            <a:ext cx="11269662"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、查看调优详情，</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C4</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三</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楼</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的高负载</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频</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宽，</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 </a:t>
            </a:r>
            <a:r>
              <a:rPr lang="en-US" altLang="zh-CN" sz="1200" dirty="0" err="1"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Mhz</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调整为</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40 </a:t>
            </a:r>
            <a:r>
              <a:rPr lang="en-US" altLang="zh-CN" sz="1200" dirty="0" err="1"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Mhz</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员工</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上网体验提升，不再出现卡顿</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注：</a:t>
            </a: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频宽加大，用户的带宽会同步提升。</a:t>
            </a:r>
            <a:endPar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bwMode="gray">
          <a:xfrm>
            <a:off x="8134766" y="5102290"/>
            <a:ext cx="930173" cy="56756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bwMode="gray">
          <a:xfrm>
            <a:off x="8422829" y="3991170"/>
            <a:ext cx="177024" cy="16424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6777360" y="2972312"/>
            <a:ext cx="1890390" cy="72741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02797700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en-US" altLang="zh-CN" dirty="0" err="1">
                <a:solidFill>
                  <a:schemeClr val="bg1">
                    <a:lumMod val="50000"/>
                  </a:schemeClr>
                </a:solidFill>
                <a:sym typeface="Huawei Sans" panose="020C0503030203020204" pitchFamily="34" charset="0"/>
              </a:rPr>
              <a:t>CampusInsight</a:t>
            </a:r>
            <a:r>
              <a:rPr lang="zh-CN" altLang="en-US" dirty="0">
                <a:solidFill>
                  <a:schemeClr val="bg1">
                    <a:lumMod val="50000"/>
                  </a:schemeClr>
                </a:solidFill>
                <a:sym typeface="Huawei Sans" panose="020C0503030203020204" pitchFamily="34" charset="0"/>
              </a:rPr>
              <a:t>概述</a:t>
            </a:r>
            <a:endParaRPr lang="en-US" altLang="zh-CN" dirty="0">
              <a:solidFill>
                <a:schemeClr val="bg1">
                  <a:lumMod val="50000"/>
                </a:schemeClr>
              </a:solidFill>
              <a:sym typeface="Huawei Sans" panose="020C0503030203020204" pitchFamily="34" charset="0"/>
            </a:endParaRPr>
          </a:p>
          <a:p>
            <a:r>
              <a:rPr lang="en-US" altLang="zh-CN" b="1" dirty="0" err="1">
                <a:sym typeface="Huawei Sans" panose="020C0503030203020204" pitchFamily="34" charset="0"/>
              </a:rPr>
              <a:t>CampusInsight</a:t>
            </a:r>
            <a:r>
              <a:rPr lang="zh-CN" altLang="en-US" b="1" dirty="0">
                <a:sym typeface="Huawei Sans" panose="020C0503030203020204" pitchFamily="34" charset="0"/>
              </a:rPr>
              <a:t>功能与演示</a:t>
            </a:r>
            <a:endParaRPr lang="en-US" altLang="zh-CN"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Telemetry</a:t>
            </a:r>
          </a:p>
          <a:p>
            <a:pPr lvl="1"/>
            <a:r>
              <a:rPr lang="zh-CN" altLang="en-US" dirty="0">
                <a:solidFill>
                  <a:schemeClr val="bg1">
                    <a:lumMod val="50000"/>
                  </a:schemeClr>
                </a:solidFill>
                <a:sym typeface="Huawei Sans" panose="020C0503030203020204" pitchFamily="34" charset="0"/>
              </a:rPr>
              <a:t>可视</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分析</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调优</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保障</a:t>
            </a:r>
            <a:endParaRPr lang="en-US" altLang="zh-CN" dirty="0">
              <a:sym typeface="Huawei Sans" panose="020C0503030203020204" pitchFamily="34" charset="0"/>
            </a:endParaRPr>
          </a:p>
        </p:txBody>
      </p:sp>
    </p:spTree>
    <p:extLst>
      <p:ext uri="{BB962C8B-B14F-4D97-AF65-F5344CB8AC3E}">
        <p14:creationId xmlns:p14="http://schemas.microsoft.com/office/powerpoint/2010/main" val="94702327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圆角矩形 279"/>
          <p:cNvSpPr/>
          <p:nvPr/>
        </p:nvSpPr>
        <p:spPr bwMode="gray">
          <a:xfrm>
            <a:off x="8174937" y="2580371"/>
            <a:ext cx="2902638" cy="2012008"/>
          </a:xfrm>
          <a:prstGeom prst="roundRect">
            <a:avLst>
              <a:gd name="adj" fmla="val 530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48" descr="大云"/>
          <p:cNvPicPr>
            <a:picLocks noChangeAspect="1"/>
          </p:cNvPicPr>
          <p:nvPr/>
        </p:nvPicPr>
        <p:blipFill>
          <a:blip r:embed="rId4"/>
          <a:srcRect t="37649" r="23277"/>
          <a:stretch>
            <a:fillRect/>
          </a:stretch>
        </p:blipFill>
        <p:spPr bwMode="gray">
          <a:xfrm>
            <a:off x="2607641" y="1846624"/>
            <a:ext cx="4517128" cy="2344244"/>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无线定位：基于终端位置的精细化运维</a:t>
            </a:r>
            <a:endParaRPr lang="zh-CN" altLang="en-US" dirty="0">
              <a:sym typeface="Huawei Sans" panose="020C0503030203020204" pitchFamily="34" charset="0"/>
            </a:endParaRPr>
          </a:p>
        </p:txBody>
      </p:sp>
      <p:cxnSp>
        <p:nvCxnSpPr>
          <p:cNvPr id="251" name="直接连接符 250">
            <a:extLst>
              <a:ext uri="{FF2B5EF4-FFF2-40B4-BE49-F238E27FC236}">
                <a16:creationId xmlns="" xmlns:a16="http://schemas.microsoft.com/office/drawing/2014/main" id="{5AB55E07-1260-4728-8ED2-A11223096554}"/>
              </a:ext>
            </a:extLst>
          </p:cNvPr>
          <p:cNvCxnSpPr>
            <a:cxnSpLocks/>
          </p:cNvCxnSpPr>
          <p:nvPr/>
        </p:nvCxnSpPr>
        <p:spPr bwMode="gray">
          <a:xfrm flipV="1">
            <a:off x="638638" y="5816418"/>
            <a:ext cx="7200000" cy="9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bwMode="gray">
          <a:xfrm>
            <a:off x="817429" y="5142204"/>
            <a:ext cx="723275" cy="307777"/>
          </a:xfrm>
          <a:prstGeom prst="rect">
            <a:avLst/>
          </a:prstGeom>
          <a:noFill/>
        </p:spPr>
        <p:txBody>
          <a:bodyPr wrap="none" rtlCol="0">
            <a:spAutoFit/>
          </a:bodyPr>
          <a:lstStyle/>
          <a:p>
            <a:pPr defTabSz="685584"/>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终端层</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7" name="Picture 19">
            <a:extLst>
              <a:ext uri="{FF2B5EF4-FFF2-40B4-BE49-F238E27FC236}">
                <a16:creationId xmlns:a16="http://schemas.microsoft.com/office/drawing/2014/main" xmlns="" id="{C1955561-F482-4E3F-8DB0-AE74A3EDA2FD}"/>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5000"/>
                    </a14:imgEffect>
                    <a14:imgEffect>
                      <a14:saturation sat="138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bwMode="gray">
          <a:xfrm rot="5400000">
            <a:off x="3830253" y="409189"/>
            <a:ext cx="996349" cy="8037743"/>
          </a:xfrm>
          <a:prstGeom prst="rect">
            <a:avLst/>
          </a:prstGeom>
          <a:noFill/>
          <a:ln w="12700" cap="flat" cmpd="sng" algn="ctr">
            <a:noFill/>
            <a:prstDash val="solid"/>
            <a:miter lim="800000"/>
          </a:ln>
          <a:effectLst/>
        </p:spPr>
      </p:pic>
      <p:sp>
        <p:nvSpPr>
          <p:cNvPr id="18" name="文本框 17"/>
          <p:cNvSpPr txBox="1"/>
          <p:nvPr/>
        </p:nvSpPr>
        <p:spPr bwMode="gray">
          <a:xfrm>
            <a:off x="817429" y="4255293"/>
            <a:ext cx="723275" cy="307777"/>
          </a:xfrm>
          <a:prstGeom prst="rect">
            <a:avLst/>
          </a:prstGeom>
          <a:noFill/>
        </p:spPr>
        <p:txBody>
          <a:bodyPr wrap="none" rtlCol="0">
            <a:spAutoFit/>
          </a:bodyPr>
          <a:lstStyle/>
          <a:p>
            <a:pPr defTabSz="685584"/>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网络</a:t>
            </a:r>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层</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文本框 18"/>
          <p:cNvSpPr txBox="1"/>
          <p:nvPr/>
        </p:nvSpPr>
        <p:spPr bwMode="gray">
          <a:xfrm>
            <a:off x="458356" y="1327678"/>
            <a:ext cx="1441420" cy="523220"/>
          </a:xfrm>
          <a:prstGeom prst="rect">
            <a:avLst/>
          </a:prstGeom>
          <a:noFill/>
        </p:spPr>
        <p:txBody>
          <a:bodyPr wrap="none" rtlCol="0">
            <a:spAutoFit/>
          </a:bodyPr>
          <a:lstStyle/>
          <a:p>
            <a:pPr algn="ctr" defTabSz="685584"/>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应用层</a:t>
            </a:r>
            <a:endParaRPr lang="en-US" altLang="zh-CN"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685584"/>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（第三方提供</a:t>
            </a:r>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cxnSp>
        <p:nvCxnSpPr>
          <p:cNvPr id="20" name="直接连接符 19"/>
          <p:cNvCxnSpPr>
            <a:stCxn id="268" idx="2"/>
            <a:endCxn id="261" idx="0"/>
          </p:cNvCxnSpPr>
          <p:nvPr/>
        </p:nvCxnSpPr>
        <p:spPr bwMode="gray">
          <a:xfrm flipH="1">
            <a:off x="3421609" y="3491728"/>
            <a:ext cx="1346170" cy="463098"/>
          </a:xfrm>
          <a:prstGeom prst="line">
            <a:avLst/>
          </a:prstGeom>
          <a:noFill/>
          <a:ln w="12700" cap="flat" cmpd="sng" algn="ctr">
            <a:solidFill>
              <a:schemeClr val="bg2">
                <a:lumMod val="50000"/>
              </a:schemeClr>
            </a:solidFill>
            <a:prstDash val="solid"/>
            <a:miter lim="800000"/>
          </a:ln>
          <a:effectLst/>
        </p:spPr>
      </p:cxnSp>
      <p:cxnSp>
        <p:nvCxnSpPr>
          <p:cNvPr id="21" name="直接连接符 20"/>
          <p:cNvCxnSpPr>
            <a:stCxn id="268" idx="2"/>
            <a:endCxn id="262" idx="0"/>
          </p:cNvCxnSpPr>
          <p:nvPr/>
        </p:nvCxnSpPr>
        <p:spPr bwMode="gray">
          <a:xfrm flipH="1">
            <a:off x="4767778" y="3491728"/>
            <a:ext cx="1" cy="463098"/>
          </a:xfrm>
          <a:prstGeom prst="line">
            <a:avLst/>
          </a:prstGeom>
          <a:noFill/>
          <a:ln w="12700" cap="flat" cmpd="sng" algn="ctr">
            <a:solidFill>
              <a:schemeClr val="bg2">
                <a:lumMod val="50000"/>
              </a:schemeClr>
            </a:solidFill>
            <a:prstDash val="solid"/>
            <a:miter lim="800000"/>
          </a:ln>
          <a:effectLst/>
        </p:spPr>
      </p:cxnSp>
      <p:cxnSp>
        <p:nvCxnSpPr>
          <p:cNvPr id="22" name="直接连接符 21"/>
          <p:cNvCxnSpPr>
            <a:stCxn id="263" idx="0"/>
            <a:endCxn id="268" idx="2"/>
          </p:cNvCxnSpPr>
          <p:nvPr/>
        </p:nvCxnSpPr>
        <p:spPr bwMode="gray">
          <a:xfrm flipH="1" flipV="1">
            <a:off x="4767779" y="3491728"/>
            <a:ext cx="1301607" cy="463098"/>
          </a:xfrm>
          <a:prstGeom prst="line">
            <a:avLst/>
          </a:prstGeom>
          <a:noFill/>
          <a:ln w="12700" cap="flat" cmpd="sng" algn="ctr">
            <a:solidFill>
              <a:schemeClr val="bg2">
                <a:lumMod val="50000"/>
              </a:schemeClr>
            </a:solidFill>
            <a:prstDash val="solid"/>
            <a:miter lim="800000"/>
          </a:ln>
          <a:effectLst/>
        </p:spPr>
      </p:cxnSp>
      <p:cxnSp>
        <p:nvCxnSpPr>
          <p:cNvPr id="23" name="直接连接符 22"/>
          <p:cNvCxnSpPr>
            <a:endCxn id="257" idx="0"/>
          </p:cNvCxnSpPr>
          <p:nvPr/>
        </p:nvCxnSpPr>
        <p:spPr bwMode="gray">
          <a:xfrm flipH="1">
            <a:off x="2697114" y="4170198"/>
            <a:ext cx="673982" cy="273205"/>
          </a:xfrm>
          <a:prstGeom prst="line">
            <a:avLst/>
          </a:prstGeom>
          <a:noFill/>
          <a:ln w="12700" cap="flat" cmpd="sng" algn="ctr">
            <a:solidFill>
              <a:schemeClr val="bg2">
                <a:lumMod val="50000"/>
              </a:schemeClr>
            </a:solidFill>
            <a:prstDash val="solid"/>
            <a:miter lim="800000"/>
          </a:ln>
          <a:effectLst/>
        </p:spPr>
      </p:cxnSp>
      <p:cxnSp>
        <p:nvCxnSpPr>
          <p:cNvPr id="24" name="直接连接符 23"/>
          <p:cNvCxnSpPr/>
          <p:nvPr/>
        </p:nvCxnSpPr>
        <p:spPr bwMode="gray">
          <a:xfrm flipH="1">
            <a:off x="4094650" y="4255936"/>
            <a:ext cx="638112" cy="336443"/>
          </a:xfrm>
          <a:prstGeom prst="line">
            <a:avLst/>
          </a:prstGeom>
          <a:noFill/>
          <a:ln w="12700" cap="flat" cmpd="sng" algn="ctr">
            <a:solidFill>
              <a:schemeClr val="bg2">
                <a:lumMod val="50000"/>
              </a:schemeClr>
            </a:solidFill>
            <a:prstDash val="solid"/>
            <a:miter lim="800000"/>
          </a:ln>
          <a:effectLst/>
        </p:spPr>
      </p:cxnSp>
      <p:cxnSp>
        <p:nvCxnSpPr>
          <p:cNvPr id="25" name="直接连接符 24"/>
          <p:cNvCxnSpPr/>
          <p:nvPr/>
        </p:nvCxnSpPr>
        <p:spPr bwMode="gray">
          <a:xfrm>
            <a:off x="4908659" y="4264445"/>
            <a:ext cx="547657" cy="339331"/>
          </a:xfrm>
          <a:prstGeom prst="line">
            <a:avLst/>
          </a:prstGeom>
          <a:noFill/>
          <a:ln w="12700" cap="flat" cmpd="sng" algn="ctr">
            <a:solidFill>
              <a:schemeClr val="bg2">
                <a:lumMod val="50000"/>
              </a:schemeClr>
            </a:solidFill>
            <a:prstDash val="solid"/>
            <a:miter lim="800000"/>
          </a:ln>
          <a:effectLst/>
        </p:spPr>
      </p:cxnSp>
      <p:cxnSp>
        <p:nvCxnSpPr>
          <p:cNvPr id="26" name="直接连接符 25"/>
          <p:cNvCxnSpPr/>
          <p:nvPr/>
        </p:nvCxnSpPr>
        <p:spPr bwMode="gray">
          <a:xfrm>
            <a:off x="6123647" y="4264445"/>
            <a:ext cx="624950" cy="264464"/>
          </a:xfrm>
          <a:prstGeom prst="line">
            <a:avLst/>
          </a:prstGeom>
          <a:noFill/>
          <a:ln w="12700" cap="flat" cmpd="sng" algn="ctr">
            <a:solidFill>
              <a:schemeClr val="bg2">
                <a:lumMod val="50000"/>
              </a:schemeClr>
            </a:solidFill>
            <a:prstDash val="solid"/>
            <a:miter lim="800000"/>
          </a:ln>
          <a:effectLst/>
        </p:spPr>
      </p:cxnSp>
      <p:cxnSp>
        <p:nvCxnSpPr>
          <p:cNvPr id="78" name="直接连接符 77">
            <a:extLst>
              <a:ext uri="{FF2B5EF4-FFF2-40B4-BE49-F238E27FC236}">
                <a16:creationId xmlns="" xmlns:a16="http://schemas.microsoft.com/office/drawing/2014/main" id="{5AB55E07-1260-4728-8ED2-A11223096554}"/>
              </a:ext>
            </a:extLst>
          </p:cNvPr>
          <p:cNvCxnSpPr>
            <a:cxnSpLocks/>
          </p:cNvCxnSpPr>
          <p:nvPr/>
        </p:nvCxnSpPr>
        <p:spPr bwMode="gray">
          <a:xfrm>
            <a:off x="638638" y="4865307"/>
            <a:ext cx="7200000" cy="2322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PA-文本框 472">
            <a:extLst>
              <a:ext uri="{FF2B5EF4-FFF2-40B4-BE49-F238E27FC236}">
                <a16:creationId xmlns:a16="http://schemas.microsoft.com/office/drawing/2014/main" xmlns="" id="{B6415082-6786-4BB6-A29F-4745C818E539}"/>
              </a:ext>
            </a:extLst>
          </p:cNvPr>
          <p:cNvSpPr txBox="1"/>
          <p:nvPr>
            <p:custDataLst>
              <p:tags r:id="rId1"/>
            </p:custDataLst>
          </p:nvPr>
        </p:nvSpPr>
        <p:spPr bwMode="gray">
          <a:xfrm>
            <a:off x="4267322" y="3549539"/>
            <a:ext cx="120539" cy="276999"/>
          </a:xfrm>
          <a:prstGeom prst="rect">
            <a:avLst/>
          </a:prstGeom>
          <a:noFill/>
        </p:spPr>
        <p:txBody>
          <a:bodyPr wrap="square" rtlCol="0">
            <a:spAutoFit/>
          </a:bodyPr>
          <a:lstStyle/>
          <a:p>
            <a:pPr defTabSz="914400"/>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连接符 63">
            <a:extLst>
              <a:ext uri="{FF2B5EF4-FFF2-40B4-BE49-F238E27FC236}">
                <a16:creationId xmlns="" xmlns:a16="http://schemas.microsoft.com/office/drawing/2014/main" id="{5AB55E07-1260-4728-8ED2-A11223096554}"/>
              </a:ext>
            </a:extLst>
          </p:cNvPr>
          <p:cNvCxnSpPr>
            <a:cxnSpLocks/>
          </p:cNvCxnSpPr>
          <p:nvPr/>
        </p:nvCxnSpPr>
        <p:spPr bwMode="gray">
          <a:xfrm flipV="1">
            <a:off x="638638" y="1930679"/>
            <a:ext cx="7200000" cy="242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1" name="图片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943142" y="2377362"/>
            <a:ext cx="1709409" cy="640197"/>
          </a:xfrm>
          <a:prstGeom prst="rect">
            <a:avLst/>
          </a:prstGeom>
        </p:spPr>
      </p:pic>
      <p:sp>
        <p:nvSpPr>
          <p:cNvPr id="52" name="Freeform 18"/>
          <p:cNvSpPr>
            <a:spLocks/>
          </p:cNvSpPr>
          <p:nvPr/>
        </p:nvSpPr>
        <p:spPr bwMode="gray">
          <a:xfrm>
            <a:off x="2939290" y="1334242"/>
            <a:ext cx="431806" cy="197544"/>
          </a:xfrm>
          <a:custGeom>
            <a:avLst/>
            <a:gdLst>
              <a:gd name="T0" fmla="*/ 699 w 813"/>
              <a:gd name="T1" fmla="*/ 96 h 324"/>
              <a:gd name="T2" fmla="*/ 661 w 813"/>
              <a:gd name="T3" fmla="*/ 96 h 324"/>
              <a:gd name="T4" fmla="*/ 661 w 813"/>
              <a:gd name="T5" fmla="*/ 178 h 324"/>
              <a:gd name="T6" fmla="*/ 632 w 813"/>
              <a:gd name="T7" fmla="*/ 207 h 324"/>
              <a:gd name="T8" fmla="*/ 317 w 813"/>
              <a:gd name="T9" fmla="*/ 207 h 324"/>
              <a:gd name="T10" fmla="*/ 317 w 813"/>
              <a:gd name="T11" fmla="*/ 296 h 324"/>
              <a:gd name="T12" fmla="*/ 289 w 813"/>
              <a:gd name="T13" fmla="*/ 324 h 324"/>
              <a:gd name="T14" fmla="*/ 120 w 813"/>
              <a:gd name="T15" fmla="*/ 324 h 324"/>
              <a:gd name="T16" fmla="*/ 92 w 813"/>
              <a:gd name="T17" fmla="*/ 296 h 324"/>
              <a:gd name="T18" fmla="*/ 92 w 813"/>
              <a:gd name="T19" fmla="*/ 204 h 324"/>
              <a:gd name="T20" fmla="*/ 0 w 813"/>
              <a:gd name="T21" fmla="*/ 204 h 324"/>
              <a:gd name="T22" fmla="*/ 0 w 813"/>
              <a:gd name="T23" fmla="*/ 147 h 324"/>
              <a:gd name="T24" fmla="*/ 120 w 813"/>
              <a:gd name="T25" fmla="*/ 147 h 324"/>
              <a:gd name="T26" fmla="*/ 149 w 813"/>
              <a:gd name="T27" fmla="*/ 175 h 324"/>
              <a:gd name="T28" fmla="*/ 149 w 813"/>
              <a:gd name="T29" fmla="*/ 267 h 324"/>
              <a:gd name="T30" fmla="*/ 260 w 813"/>
              <a:gd name="T31" fmla="*/ 267 h 324"/>
              <a:gd name="T32" fmla="*/ 260 w 813"/>
              <a:gd name="T33" fmla="*/ 178 h 324"/>
              <a:gd name="T34" fmla="*/ 289 w 813"/>
              <a:gd name="T35" fmla="*/ 150 h 324"/>
              <a:gd name="T36" fmla="*/ 603 w 813"/>
              <a:gd name="T37" fmla="*/ 150 h 324"/>
              <a:gd name="T38" fmla="*/ 603 w 813"/>
              <a:gd name="T39" fmla="*/ 67 h 324"/>
              <a:gd name="T40" fmla="*/ 632 w 813"/>
              <a:gd name="T41" fmla="*/ 39 h 324"/>
              <a:gd name="T42" fmla="*/ 699 w 813"/>
              <a:gd name="T43" fmla="*/ 39 h 324"/>
              <a:gd name="T44" fmla="*/ 699 w 813"/>
              <a:gd name="T45" fmla="*/ 0 h 324"/>
              <a:gd name="T46" fmla="*/ 813 w 813"/>
              <a:gd name="T47" fmla="*/ 67 h 324"/>
              <a:gd name="T48" fmla="*/ 699 w 813"/>
              <a:gd name="T49" fmla="*/ 134 h 324"/>
              <a:gd name="T50" fmla="*/ 699 w 813"/>
              <a:gd name="T51" fmla="*/ 96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13" h="324">
                <a:moveTo>
                  <a:pt x="699" y="96"/>
                </a:moveTo>
                <a:cubicBezTo>
                  <a:pt x="661" y="96"/>
                  <a:pt x="661" y="96"/>
                  <a:pt x="661" y="96"/>
                </a:cubicBezTo>
                <a:cubicBezTo>
                  <a:pt x="661" y="123"/>
                  <a:pt x="661" y="151"/>
                  <a:pt x="661" y="178"/>
                </a:cubicBezTo>
                <a:cubicBezTo>
                  <a:pt x="661" y="194"/>
                  <a:pt x="648" y="207"/>
                  <a:pt x="632" y="207"/>
                </a:cubicBezTo>
                <a:cubicBezTo>
                  <a:pt x="317" y="207"/>
                  <a:pt x="317" y="207"/>
                  <a:pt x="317" y="207"/>
                </a:cubicBezTo>
                <a:cubicBezTo>
                  <a:pt x="317" y="296"/>
                  <a:pt x="317" y="296"/>
                  <a:pt x="317" y="296"/>
                </a:cubicBezTo>
                <a:cubicBezTo>
                  <a:pt x="317" y="312"/>
                  <a:pt x="305" y="324"/>
                  <a:pt x="289" y="324"/>
                </a:cubicBezTo>
                <a:cubicBezTo>
                  <a:pt x="120" y="324"/>
                  <a:pt x="120" y="324"/>
                  <a:pt x="120" y="324"/>
                </a:cubicBezTo>
                <a:cubicBezTo>
                  <a:pt x="105" y="324"/>
                  <a:pt x="92" y="312"/>
                  <a:pt x="92" y="296"/>
                </a:cubicBezTo>
                <a:cubicBezTo>
                  <a:pt x="92" y="204"/>
                  <a:pt x="92" y="204"/>
                  <a:pt x="92" y="204"/>
                </a:cubicBezTo>
                <a:cubicBezTo>
                  <a:pt x="0" y="204"/>
                  <a:pt x="0" y="204"/>
                  <a:pt x="0" y="204"/>
                </a:cubicBezTo>
                <a:cubicBezTo>
                  <a:pt x="0" y="147"/>
                  <a:pt x="0" y="147"/>
                  <a:pt x="0" y="147"/>
                </a:cubicBezTo>
                <a:cubicBezTo>
                  <a:pt x="28" y="147"/>
                  <a:pt x="92" y="147"/>
                  <a:pt x="120" y="147"/>
                </a:cubicBezTo>
                <a:cubicBezTo>
                  <a:pt x="136" y="147"/>
                  <a:pt x="149" y="159"/>
                  <a:pt x="149" y="175"/>
                </a:cubicBezTo>
                <a:cubicBezTo>
                  <a:pt x="149" y="267"/>
                  <a:pt x="149" y="267"/>
                  <a:pt x="149" y="267"/>
                </a:cubicBezTo>
                <a:cubicBezTo>
                  <a:pt x="260" y="267"/>
                  <a:pt x="260" y="267"/>
                  <a:pt x="260" y="267"/>
                </a:cubicBezTo>
                <a:cubicBezTo>
                  <a:pt x="260" y="178"/>
                  <a:pt x="260" y="178"/>
                  <a:pt x="260" y="178"/>
                </a:cubicBezTo>
                <a:cubicBezTo>
                  <a:pt x="260" y="162"/>
                  <a:pt x="273" y="150"/>
                  <a:pt x="289" y="150"/>
                </a:cubicBezTo>
                <a:cubicBezTo>
                  <a:pt x="603" y="150"/>
                  <a:pt x="603" y="150"/>
                  <a:pt x="603" y="150"/>
                </a:cubicBezTo>
                <a:cubicBezTo>
                  <a:pt x="603" y="67"/>
                  <a:pt x="603" y="67"/>
                  <a:pt x="603" y="67"/>
                </a:cubicBezTo>
                <a:cubicBezTo>
                  <a:pt x="603" y="51"/>
                  <a:pt x="616" y="39"/>
                  <a:pt x="632" y="39"/>
                </a:cubicBezTo>
                <a:cubicBezTo>
                  <a:pt x="699" y="39"/>
                  <a:pt x="699" y="39"/>
                  <a:pt x="699" y="39"/>
                </a:cubicBezTo>
                <a:cubicBezTo>
                  <a:pt x="699" y="0"/>
                  <a:pt x="699" y="0"/>
                  <a:pt x="699" y="0"/>
                </a:cubicBezTo>
                <a:cubicBezTo>
                  <a:pt x="813" y="67"/>
                  <a:pt x="813" y="67"/>
                  <a:pt x="813" y="67"/>
                </a:cubicBezTo>
                <a:cubicBezTo>
                  <a:pt x="699" y="134"/>
                  <a:pt x="699" y="134"/>
                  <a:pt x="699" y="134"/>
                </a:cubicBezTo>
                <a:cubicBezTo>
                  <a:pt x="699" y="96"/>
                  <a:pt x="699" y="96"/>
                  <a:pt x="699" y="96"/>
                </a:cubicBezTo>
                <a:close/>
              </a:path>
            </a:pathLst>
          </a:custGeom>
          <a:solidFill>
            <a:srgbClr val="C00000"/>
          </a:solidFill>
          <a:ln>
            <a:noFill/>
          </a:ln>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9"/>
          <p:cNvSpPr>
            <a:spLocks noEditPoints="1"/>
          </p:cNvSpPr>
          <p:nvPr/>
        </p:nvSpPr>
        <p:spPr bwMode="gray">
          <a:xfrm>
            <a:off x="2947145" y="1212508"/>
            <a:ext cx="401476" cy="403201"/>
          </a:xfrm>
          <a:custGeom>
            <a:avLst/>
            <a:gdLst>
              <a:gd name="T0" fmla="*/ 502 w 756"/>
              <a:gd name="T1" fmla="*/ 57 h 782"/>
              <a:gd name="T2" fmla="*/ 569 w 756"/>
              <a:gd name="T3" fmla="*/ 331 h 782"/>
              <a:gd name="T4" fmla="*/ 464 w 756"/>
              <a:gd name="T5" fmla="*/ 369 h 782"/>
              <a:gd name="T6" fmla="*/ 381 w 756"/>
              <a:gd name="T7" fmla="*/ 57 h 782"/>
              <a:gd name="T8" fmla="*/ 343 w 756"/>
              <a:gd name="T9" fmla="*/ 146 h 782"/>
              <a:gd name="T10" fmla="*/ 165 w 756"/>
              <a:gd name="T11" fmla="*/ 57 h 782"/>
              <a:gd name="T12" fmla="*/ 127 w 756"/>
              <a:gd name="T13" fmla="*/ 146 h 782"/>
              <a:gd name="T14" fmla="*/ 57 w 756"/>
              <a:gd name="T15" fmla="*/ 57 h 782"/>
              <a:gd name="T16" fmla="*/ 235 w 756"/>
              <a:gd name="T17" fmla="*/ 222 h 782"/>
              <a:gd name="T18" fmla="*/ 273 w 756"/>
              <a:gd name="T19" fmla="*/ 102 h 782"/>
              <a:gd name="T20" fmla="*/ 381 w 756"/>
              <a:gd name="T21" fmla="*/ 222 h 782"/>
              <a:gd name="T22" fmla="*/ 225 w 756"/>
              <a:gd name="T23" fmla="*/ 369 h 782"/>
              <a:gd name="T24" fmla="*/ 187 w 756"/>
              <a:gd name="T25" fmla="*/ 486 h 782"/>
              <a:gd name="T26" fmla="*/ 343 w 756"/>
              <a:gd name="T27" fmla="*/ 331 h 782"/>
              <a:gd name="T28" fmla="*/ 57 w 756"/>
              <a:gd name="T29" fmla="*/ 260 h 782"/>
              <a:gd name="T30" fmla="*/ 0 w 756"/>
              <a:gd name="T31" fmla="*/ 365 h 782"/>
              <a:gd name="T32" fmla="*/ 28 w 756"/>
              <a:gd name="T33" fmla="*/ 0 h 782"/>
              <a:gd name="T34" fmla="*/ 756 w 756"/>
              <a:gd name="T35" fmla="*/ 29 h 782"/>
              <a:gd name="T36" fmla="*/ 699 w 756"/>
              <a:gd name="T37" fmla="*/ 213 h 782"/>
              <a:gd name="T38" fmla="*/ 616 w 756"/>
              <a:gd name="T39" fmla="*/ 146 h 782"/>
              <a:gd name="T40" fmla="*/ 578 w 756"/>
              <a:gd name="T41" fmla="*/ 261 h 782"/>
              <a:gd name="T42" fmla="*/ 699 w 756"/>
              <a:gd name="T43" fmla="*/ 108 h 782"/>
              <a:gd name="T44" fmla="*/ 168 w 756"/>
              <a:gd name="T45" fmla="*/ 655 h 782"/>
              <a:gd name="T46" fmla="*/ 149 w 756"/>
              <a:gd name="T47" fmla="*/ 616 h 782"/>
              <a:gd name="T48" fmla="*/ 352 w 756"/>
              <a:gd name="T49" fmla="*/ 502 h 782"/>
              <a:gd name="T50" fmla="*/ 391 w 756"/>
              <a:gd name="T51" fmla="*/ 655 h 782"/>
              <a:gd name="T52" fmla="*/ 273 w 756"/>
              <a:gd name="T53" fmla="*/ 725 h 782"/>
              <a:gd name="T54" fmla="*/ 464 w 756"/>
              <a:gd name="T55" fmla="*/ 616 h 782"/>
              <a:gd name="T56" fmla="*/ 578 w 756"/>
              <a:gd name="T57" fmla="*/ 540 h 782"/>
              <a:gd name="T58" fmla="*/ 464 w 756"/>
              <a:gd name="T59" fmla="*/ 502 h 782"/>
              <a:gd name="T60" fmla="*/ 616 w 756"/>
              <a:gd name="T61" fmla="*/ 655 h 782"/>
              <a:gd name="T62" fmla="*/ 502 w 756"/>
              <a:gd name="T63" fmla="*/ 725 h 782"/>
              <a:gd name="T64" fmla="*/ 699 w 756"/>
              <a:gd name="T65" fmla="*/ 435 h 782"/>
              <a:gd name="T66" fmla="*/ 756 w 756"/>
              <a:gd name="T67" fmla="*/ 753 h 782"/>
              <a:gd name="T68" fmla="*/ 28 w 756"/>
              <a:gd name="T69" fmla="*/ 782 h 782"/>
              <a:gd name="T70" fmla="*/ 0 w 756"/>
              <a:gd name="T71" fmla="*/ 499 h 782"/>
              <a:gd name="T72" fmla="*/ 57 w 756"/>
              <a:gd name="T73" fmla="*/ 725 h 782"/>
              <a:gd name="T74" fmla="*/ 235 w 756"/>
              <a:gd name="T75" fmla="*/ 655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6" h="782">
                <a:moveTo>
                  <a:pt x="699" y="57"/>
                </a:moveTo>
                <a:cubicBezTo>
                  <a:pt x="502" y="57"/>
                  <a:pt x="502" y="57"/>
                  <a:pt x="502" y="57"/>
                </a:cubicBezTo>
                <a:cubicBezTo>
                  <a:pt x="502" y="331"/>
                  <a:pt x="502" y="331"/>
                  <a:pt x="502" y="331"/>
                </a:cubicBezTo>
                <a:cubicBezTo>
                  <a:pt x="569" y="331"/>
                  <a:pt x="569" y="331"/>
                  <a:pt x="569" y="331"/>
                </a:cubicBezTo>
                <a:cubicBezTo>
                  <a:pt x="569" y="369"/>
                  <a:pt x="569" y="369"/>
                  <a:pt x="569" y="369"/>
                </a:cubicBezTo>
                <a:cubicBezTo>
                  <a:pt x="464" y="369"/>
                  <a:pt x="464" y="369"/>
                  <a:pt x="464" y="369"/>
                </a:cubicBezTo>
                <a:cubicBezTo>
                  <a:pt x="464" y="57"/>
                  <a:pt x="464" y="57"/>
                  <a:pt x="464" y="57"/>
                </a:cubicBezTo>
                <a:cubicBezTo>
                  <a:pt x="381" y="57"/>
                  <a:pt x="381" y="57"/>
                  <a:pt x="381" y="57"/>
                </a:cubicBezTo>
                <a:cubicBezTo>
                  <a:pt x="381" y="146"/>
                  <a:pt x="381" y="146"/>
                  <a:pt x="381" y="146"/>
                </a:cubicBezTo>
                <a:cubicBezTo>
                  <a:pt x="343" y="146"/>
                  <a:pt x="343" y="146"/>
                  <a:pt x="343" y="146"/>
                </a:cubicBezTo>
                <a:cubicBezTo>
                  <a:pt x="343" y="57"/>
                  <a:pt x="343" y="57"/>
                  <a:pt x="343" y="57"/>
                </a:cubicBezTo>
                <a:cubicBezTo>
                  <a:pt x="165" y="57"/>
                  <a:pt x="165" y="57"/>
                  <a:pt x="165" y="57"/>
                </a:cubicBezTo>
                <a:cubicBezTo>
                  <a:pt x="165" y="146"/>
                  <a:pt x="165" y="146"/>
                  <a:pt x="165" y="146"/>
                </a:cubicBezTo>
                <a:cubicBezTo>
                  <a:pt x="127" y="146"/>
                  <a:pt x="127" y="146"/>
                  <a:pt x="127" y="146"/>
                </a:cubicBezTo>
                <a:cubicBezTo>
                  <a:pt x="127" y="57"/>
                  <a:pt x="127" y="57"/>
                  <a:pt x="127" y="57"/>
                </a:cubicBezTo>
                <a:cubicBezTo>
                  <a:pt x="57" y="57"/>
                  <a:pt x="57" y="57"/>
                  <a:pt x="57" y="57"/>
                </a:cubicBezTo>
                <a:cubicBezTo>
                  <a:pt x="57" y="222"/>
                  <a:pt x="57" y="222"/>
                  <a:pt x="57" y="222"/>
                </a:cubicBezTo>
                <a:cubicBezTo>
                  <a:pt x="235" y="222"/>
                  <a:pt x="235" y="222"/>
                  <a:pt x="235" y="222"/>
                </a:cubicBezTo>
                <a:cubicBezTo>
                  <a:pt x="235" y="102"/>
                  <a:pt x="235" y="102"/>
                  <a:pt x="235" y="102"/>
                </a:cubicBezTo>
                <a:cubicBezTo>
                  <a:pt x="273" y="102"/>
                  <a:pt x="273" y="102"/>
                  <a:pt x="273" y="102"/>
                </a:cubicBezTo>
                <a:cubicBezTo>
                  <a:pt x="273" y="222"/>
                  <a:pt x="273" y="222"/>
                  <a:pt x="273" y="222"/>
                </a:cubicBezTo>
                <a:cubicBezTo>
                  <a:pt x="381" y="222"/>
                  <a:pt x="381" y="222"/>
                  <a:pt x="381" y="222"/>
                </a:cubicBezTo>
                <a:cubicBezTo>
                  <a:pt x="381" y="369"/>
                  <a:pt x="381" y="369"/>
                  <a:pt x="381" y="369"/>
                </a:cubicBezTo>
                <a:cubicBezTo>
                  <a:pt x="225" y="369"/>
                  <a:pt x="225" y="369"/>
                  <a:pt x="225" y="369"/>
                </a:cubicBezTo>
                <a:cubicBezTo>
                  <a:pt x="225" y="486"/>
                  <a:pt x="225" y="486"/>
                  <a:pt x="225" y="486"/>
                </a:cubicBezTo>
                <a:cubicBezTo>
                  <a:pt x="187" y="486"/>
                  <a:pt x="187" y="486"/>
                  <a:pt x="187" y="486"/>
                </a:cubicBezTo>
                <a:cubicBezTo>
                  <a:pt x="187" y="331"/>
                  <a:pt x="187" y="331"/>
                  <a:pt x="187" y="331"/>
                </a:cubicBezTo>
                <a:cubicBezTo>
                  <a:pt x="343" y="331"/>
                  <a:pt x="343" y="331"/>
                  <a:pt x="343" y="331"/>
                </a:cubicBezTo>
                <a:cubicBezTo>
                  <a:pt x="343" y="260"/>
                  <a:pt x="343" y="260"/>
                  <a:pt x="343" y="260"/>
                </a:cubicBezTo>
                <a:cubicBezTo>
                  <a:pt x="57" y="260"/>
                  <a:pt x="57" y="260"/>
                  <a:pt x="57" y="260"/>
                </a:cubicBezTo>
                <a:cubicBezTo>
                  <a:pt x="57" y="365"/>
                  <a:pt x="57" y="365"/>
                  <a:pt x="57" y="365"/>
                </a:cubicBezTo>
                <a:cubicBezTo>
                  <a:pt x="0" y="365"/>
                  <a:pt x="0" y="365"/>
                  <a:pt x="0" y="365"/>
                </a:cubicBezTo>
                <a:cubicBezTo>
                  <a:pt x="0" y="29"/>
                  <a:pt x="0" y="29"/>
                  <a:pt x="0" y="29"/>
                </a:cubicBezTo>
                <a:cubicBezTo>
                  <a:pt x="0" y="13"/>
                  <a:pt x="12" y="0"/>
                  <a:pt x="28" y="0"/>
                </a:cubicBezTo>
                <a:cubicBezTo>
                  <a:pt x="727" y="0"/>
                  <a:pt x="727" y="0"/>
                  <a:pt x="727" y="0"/>
                </a:cubicBezTo>
                <a:cubicBezTo>
                  <a:pt x="743" y="0"/>
                  <a:pt x="756" y="13"/>
                  <a:pt x="756" y="29"/>
                </a:cubicBezTo>
                <a:cubicBezTo>
                  <a:pt x="756" y="247"/>
                  <a:pt x="756" y="247"/>
                  <a:pt x="756" y="247"/>
                </a:cubicBezTo>
                <a:cubicBezTo>
                  <a:pt x="699" y="213"/>
                  <a:pt x="699" y="213"/>
                  <a:pt x="699" y="213"/>
                </a:cubicBezTo>
                <a:cubicBezTo>
                  <a:pt x="699" y="146"/>
                  <a:pt x="699" y="146"/>
                  <a:pt x="699" y="146"/>
                </a:cubicBezTo>
                <a:cubicBezTo>
                  <a:pt x="616" y="146"/>
                  <a:pt x="616" y="146"/>
                  <a:pt x="616" y="146"/>
                </a:cubicBezTo>
                <a:cubicBezTo>
                  <a:pt x="616" y="261"/>
                  <a:pt x="616" y="261"/>
                  <a:pt x="616" y="261"/>
                </a:cubicBezTo>
                <a:cubicBezTo>
                  <a:pt x="578" y="261"/>
                  <a:pt x="578" y="261"/>
                  <a:pt x="578" y="261"/>
                </a:cubicBezTo>
                <a:cubicBezTo>
                  <a:pt x="578" y="108"/>
                  <a:pt x="578" y="108"/>
                  <a:pt x="578" y="108"/>
                </a:cubicBezTo>
                <a:cubicBezTo>
                  <a:pt x="618" y="108"/>
                  <a:pt x="658" y="108"/>
                  <a:pt x="699" y="108"/>
                </a:cubicBezTo>
                <a:cubicBezTo>
                  <a:pt x="699" y="57"/>
                  <a:pt x="699" y="57"/>
                  <a:pt x="699" y="57"/>
                </a:cubicBezTo>
                <a:close/>
                <a:moveTo>
                  <a:pt x="168" y="655"/>
                </a:moveTo>
                <a:cubicBezTo>
                  <a:pt x="149" y="655"/>
                  <a:pt x="149" y="655"/>
                  <a:pt x="149" y="655"/>
                </a:cubicBezTo>
                <a:cubicBezTo>
                  <a:pt x="149" y="616"/>
                  <a:pt x="149" y="616"/>
                  <a:pt x="149" y="616"/>
                </a:cubicBezTo>
                <a:cubicBezTo>
                  <a:pt x="352" y="616"/>
                  <a:pt x="352" y="616"/>
                  <a:pt x="352" y="616"/>
                </a:cubicBezTo>
                <a:cubicBezTo>
                  <a:pt x="352" y="502"/>
                  <a:pt x="352" y="502"/>
                  <a:pt x="352" y="502"/>
                </a:cubicBezTo>
                <a:cubicBezTo>
                  <a:pt x="391" y="502"/>
                  <a:pt x="391" y="502"/>
                  <a:pt x="391" y="502"/>
                </a:cubicBezTo>
                <a:cubicBezTo>
                  <a:pt x="391" y="655"/>
                  <a:pt x="391" y="655"/>
                  <a:pt x="391" y="655"/>
                </a:cubicBezTo>
                <a:cubicBezTo>
                  <a:pt x="273" y="655"/>
                  <a:pt x="273" y="655"/>
                  <a:pt x="273" y="655"/>
                </a:cubicBezTo>
                <a:cubicBezTo>
                  <a:pt x="273" y="725"/>
                  <a:pt x="273" y="725"/>
                  <a:pt x="273" y="725"/>
                </a:cubicBezTo>
                <a:cubicBezTo>
                  <a:pt x="464" y="725"/>
                  <a:pt x="464" y="725"/>
                  <a:pt x="464" y="725"/>
                </a:cubicBezTo>
                <a:cubicBezTo>
                  <a:pt x="464" y="616"/>
                  <a:pt x="464" y="616"/>
                  <a:pt x="464" y="616"/>
                </a:cubicBezTo>
                <a:cubicBezTo>
                  <a:pt x="578" y="616"/>
                  <a:pt x="578" y="616"/>
                  <a:pt x="578" y="616"/>
                </a:cubicBezTo>
                <a:cubicBezTo>
                  <a:pt x="578" y="540"/>
                  <a:pt x="578" y="540"/>
                  <a:pt x="578" y="540"/>
                </a:cubicBezTo>
                <a:cubicBezTo>
                  <a:pt x="464" y="540"/>
                  <a:pt x="464" y="540"/>
                  <a:pt x="464" y="540"/>
                </a:cubicBezTo>
                <a:cubicBezTo>
                  <a:pt x="464" y="502"/>
                  <a:pt x="464" y="502"/>
                  <a:pt x="464" y="502"/>
                </a:cubicBezTo>
                <a:cubicBezTo>
                  <a:pt x="616" y="502"/>
                  <a:pt x="616" y="502"/>
                  <a:pt x="616" y="502"/>
                </a:cubicBezTo>
                <a:cubicBezTo>
                  <a:pt x="616" y="655"/>
                  <a:pt x="616" y="655"/>
                  <a:pt x="616" y="655"/>
                </a:cubicBezTo>
                <a:cubicBezTo>
                  <a:pt x="502" y="655"/>
                  <a:pt x="502" y="655"/>
                  <a:pt x="502" y="655"/>
                </a:cubicBezTo>
                <a:cubicBezTo>
                  <a:pt x="502" y="725"/>
                  <a:pt x="502" y="725"/>
                  <a:pt x="502" y="725"/>
                </a:cubicBezTo>
                <a:cubicBezTo>
                  <a:pt x="699" y="725"/>
                  <a:pt x="699" y="725"/>
                  <a:pt x="699" y="725"/>
                </a:cubicBezTo>
                <a:cubicBezTo>
                  <a:pt x="699" y="435"/>
                  <a:pt x="699" y="435"/>
                  <a:pt x="699" y="435"/>
                </a:cubicBezTo>
                <a:cubicBezTo>
                  <a:pt x="756" y="402"/>
                  <a:pt x="756" y="402"/>
                  <a:pt x="756" y="402"/>
                </a:cubicBezTo>
                <a:cubicBezTo>
                  <a:pt x="756" y="753"/>
                  <a:pt x="756" y="753"/>
                  <a:pt x="756" y="753"/>
                </a:cubicBezTo>
                <a:cubicBezTo>
                  <a:pt x="756" y="769"/>
                  <a:pt x="743" y="782"/>
                  <a:pt x="727" y="782"/>
                </a:cubicBezTo>
                <a:cubicBezTo>
                  <a:pt x="28" y="782"/>
                  <a:pt x="28" y="782"/>
                  <a:pt x="28" y="782"/>
                </a:cubicBezTo>
                <a:cubicBezTo>
                  <a:pt x="12" y="782"/>
                  <a:pt x="0" y="769"/>
                  <a:pt x="0" y="753"/>
                </a:cubicBezTo>
                <a:cubicBezTo>
                  <a:pt x="0" y="499"/>
                  <a:pt x="0" y="499"/>
                  <a:pt x="0" y="499"/>
                </a:cubicBezTo>
                <a:cubicBezTo>
                  <a:pt x="57" y="499"/>
                  <a:pt x="57" y="499"/>
                  <a:pt x="57" y="499"/>
                </a:cubicBezTo>
                <a:cubicBezTo>
                  <a:pt x="57" y="725"/>
                  <a:pt x="57" y="725"/>
                  <a:pt x="57" y="725"/>
                </a:cubicBezTo>
                <a:cubicBezTo>
                  <a:pt x="235" y="725"/>
                  <a:pt x="235" y="725"/>
                  <a:pt x="235" y="725"/>
                </a:cubicBezTo>
                <a:cubicBezTo>
                  <a:pt x="235" y="655"/>
                  <a:pt x="235" y="655"/>
                  <a:pt x="235" y="655"/>
                </a:cubicBezTo>
                <a:cubicBezTo>
                  <a:pt x="168" y="655"/>
                  <a:pt x="168" y="655"/>
                  <a:pt x="168" y="655"/>
                </a:cubicBezTo>
                <a:close/>
              </a:path>
            </a:pathLst>
          </a:custGeom>
          <a:solidFill>
            <a:schemeClr val="tx1">
              <a:lumMod val="75000"/>
              <a:lumOff val="25000"/>
            </a:schemeClr>
          </a:solidFill>
          <a:ln>
            <a:noFill/>
          </a:ln>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2760862" y="1456902"/>
            <a:ext cx="800219" cy="460254"/>
          </a:xfrm>
          <a:prstGeom prst="rect">
            <a:avLst/>
          </a:prstGeom>
          <a:noFill/>
        </p:spPr>
        <p:txBody>
          <a:bodyPr vert="horz" wrap="none" rtlCol="0">
            <a:spAutoFit/>
          </a:bodyPr>
          <a:lstStyle/>
          <a:p>
            <a:pPr algn="l">
              <a:lnSpc>
                <a:spcPts val="3440"/>
              </a:lnSpc>
            </a:pP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位置分析</a:t>
            </a:r>
          </a:p>
        </p:txBody>
      </p:sp>
      <p:sp>
        <p:nvSpPr>
          <p:cNvPr id="55" name="Freeform 227"/>
          <p:cNvSpPr>
            <a:spLocks noEditPoints="1"/>
          </p:cNvSpPr>
          <p:nvPr/>
        </p:nvSpPr>
        <p:spPr bwMode="gray">
          <a:xfrm>
            <a:off x="4206386" y="1207102"/>
            <a:ext cx="505868" cy="415820"/>
          </a:xfrm>
          <a:custGeom>
            <a:avLst/>
            <a:gdLst>
              <a:gd name="T0" fmla="*/ 384 w 417"/>
              <a:gd name="T1" fmla="*/ 0 h 311"/>
              <a:gd name="T2" fmla="*/ 32 w 417"/>
              <a:gd name="T3" fmla="*/ 0 h 311"/>
              <a:gd name="T4" fmla="*/ 0 w 417"/>
              <a:gd name="T5" fmla="*/ 33 h 311"/>
              <a:gd name="T6" fmla="*/ 0 w 417"/>
              <a:gd name="T7" fmla="*/ 278 h 311"/>
              <a:gd name="T8" fmla="*/ 32 w 417"/>
              <a:gd name="T9" fmla="*/ 311 h 311"/>
              <a:gd name="T10" fmla="*/ 384 w 417"/>
              <a:gd name="T11" fmla="*/ 311 h 311"/>
              <a:gd name="T12" fmla="*/ 417 w 417"/>
              <a:gd name="T13" fmla="*/ 278 h 311"/>
              <a:gd name="T14" fmla="*/ 417 w 417"/>
              <a:gd name="T15" fmla="*/ 33 h 311"/>
              <a:gd name="T16" fmla="*/ 384 w 417"/>
              <a:gd name="T17" fmla="*/ 0 h 311"/>
              <a:gd name="T18" fmla="*/ 378 w 417"/>
              <a:gd name="T19" fmla="*/ 251 h 311"/>
              <a:gd name="T20" fmla="*/ 351 w 417"/>
              <a:gd name="T21" fmla="*/ 277 h 311"/>
              <a:gd name="T22" fmla="*/ 62 w 417"/>
              <a:gd name="T23" fmla="*/ 277 h 311"/>
              <a:gd name="T24" fmla="*/ 35 w 417"/>
              <a:gd name="T25" fmla="*/ 251 h 311"/>
              <a:gd name="T26" fmla="*/ 35 w 417"/>
              <a:gd name="T27" fmla="*/ 60 h 311"/>
              <a:gd name="T28" fmla="*/ 62 w 417"/>
              <a:gd name="T29" fmla="*/ 35 h 311"/>
              <a:gd name="T30" fmla="*/ 351 w 417"/>
              <a:gd name="T31" fmla="*/ 35 h 311"/>
              <a:gd name="T32" fmla="*/ 378 w 417"/>
              <a:gd name="T33" fmla="*/ 60 h 311"/>
              <a:gd name="T34" fmla="*/ 378 w 417"/>
              <a:gd name="T35" fmla="*/ 25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7" h="311">
                <a:moveTo>
                  <a:pt x="384" y="0"/>
                </a:moveTo>
                <a:cubicBezTo>
                  <a:pt x="32" y="0"/>
                  <a:pt x="32" y="0"/>
                  <a:pt x="32" y="0"/>
                </a:cubicBezTo>
                <a:cubicBezTo>
                  <a:pt x="14" y="0"/>
                  <a:pt x="0" y="15"/>
                  <a:pt x="0" y="33"/>
                </a:cubicBezTo>
                <a:cubicBezTo>
                  <a:pt x="0" y="278"/>
                  <a:pt x="0" y="278"/>
                  <a:pt x="0" y="278"/>
                </a:cubicBezTo>
                <a:cubicBezTo>
                  <a:pt x="0" y="296"/>
                  <a:pt x="14" y="311"/>
                  <a:pt x="32" y="311"/>
                </a:cubicBezTo>
                <a:cubicBezTo>
                  <a:pt x="384" y="311"/>
                  <a:pt x="384" y="311"/>
                  <a:pt x="384" y="311"/>
                </a:cubicBezTo>
                <a:cubicBezTo>
                  <a:pt x="402" y="311"/>
                  <a:pt x="417" y="296"/>
                  <a:pt x="417" y="278"/>
                </a:cubicBezTo>
                <a:cubicBezTo>
                  <a:pt x="417" y="33"/>
                  <a:pt x="417" y="33"/>
                  <a:pt x="417" y="33"/>
                </a:cubicBezTo>
                <a:cubicBezTo>
                  <a:pt x="417" y="15"/>
                  <a:pt x="402" y="0"/>
                  <a:pt x="384" y="0"/>
                </a:cubicBezTo>
                <a:close/>
                <a:moveTo>
                  <a:pt x="378" y="251"/>
                </a:moveTo>
                <a:cubicBezTo>
                  <a:pt x="378" y="265"/>
                  <a:pt x="366" y="277"/>
                  <a:pt x="351" y="277"/>
                </a:cubicBezTo>
                <a:cubicBezTo>
                  <a:pt x="62" y="277"/>
                  <a:pt x="62" y="277"/>
                  <a:pt x="62" y="277"/>
                </a:cubicBezTo>
                <a:cubicBezTo>
                  <a:pt x="47" y="277"/>
                  <a:pt x="35" y="265"/>
                  <a:pt x="35" y="251"/>
                </a:cubicBezTo>
                <a:cubicBezTo>
                  <a:pt x="35" y="60"/>
                  <a:pt x="35" y="60"/>
                  <a:pt x="35" y="60"/>
                </a:cubicBezTo>
                <a:cubicBezTo>
                  <a:pt x="35" y="46"/>
                  <a:pt x="47" y="35"/>
                  <a:pt x="62" y="35"/>
                </a:cubicBezTo>
                <a:cubicBezTo>
                  <a:pt x="351" y="35"/>
                  <a:pt x="351" y="35"/>
                  <a:pt x="351" y="35"/>
                </a:cubicBezTo>
                <a:cubicBezTo>
                  <a:pt x="366" y="35"/>
                  <a:pt x="378" y="46"/>
                  <a:pt x="378" y="60"/>
                </a:cubicBezTo>
                <a:lnTo>
                  <a:pt x="378" y="251"/>
                </a:lnTo>
                <a:close/>
              </a:path>
            </a:pathLst>
          </a:custGeom>
          <a:solidFill>
            <a:schemeClr val="tx1">
              <a:lumMod val="75000"/>
              <a:lumOff val="25000"/>
            </a:schemeClr>
          </a:solidFill>
          <a:ln>
            <a:noFill/>
          </a:ln>
          <a:extLst/>
        </p:spPr>
        <p:txBody>
          <a:bodyPr vert="horz" wrap="square" lIns="91440" tIns="45720" rIns="91440" bIns="45720"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228"/>
          <p:cNvSpPr>
            <a:spLocks/>
          </p:cNvSpPr>
          <p:nvPr/>
        </p:nvSpPr>
        <p:spPr bwMode="gray">
          <a:xfrm>
            <a:off x="4249935" y="1290289"/>
            <a:ext cx="348314" cy="136443"/>
          </a:xfrm>
          <a:custGeom>
            <a:avLst/>
            <a:gdLst>
              <a:gd name="T0" fmla="*/ 231 w 649"/>
              <a:gd name="T1" fmla="*/ 83 h 234"/>
              <a:gd name="T2" fmla="*/ 0 w 649"/>
              <a:gd name="T3" fmla="*/ 234 h 234"/>
              <a:gd name="T4" fmla="*/ 92 w 649"/>
              <a:gd name="T5" fmla="*/ 234 h 234"/>
              <a:gd name="T6" fmla="*/ 231 w 649"/>
              <a:gd name="T7" fmla="*/ 142 h 234"/>
              <a:gd name="T8" fmla="*/ 361 w 649"/>
              <a:gd name="T9" fmla="*/ 220 h 234"/>
              <a:gd name="T10" fmla="*/ 649 w 649"/>
              <a:gd name="T11" fmla="*/ 57 h 234"/>
              <a:gd name="T12" fmla="*/ 649 w 649"/>
              <a:gd name="T13" fmla="*/ 0 h 234"/>
              <a:gd name="T14" fmla="*/ 361 w 649"/>
              <a:gd name="T15" fmla="*/ 159 h 234"/>
              <a:gd name="T16" fmla="*/ 231 w 649"/>
              <a:gd name="T17" fmla="*/ 8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9" h="234">
                <a:moveTo>
                  <a:pt x="231" y="83"/>
                </a:moveTo>
                <a:lnTo>
                  <a:pt x="0" y="234"/>
                </a:lnTo>
                <a:lnTo>
                  <a:pt x="92" y="234"/>
                </a:lnTo>
                <a:lnTo>
                  <a:pt x="231" y="142"/>
                </a:lnTo>
                <a:lnTo>
                  <a:pt x="361" y="220"/>
                </a:lnTo>
                <a:lnTo>
                  <a:pt x="649" y="57"/>
                </a:lnTo>
                <a:lnTo>
                  <a:pt x="649" y="0"/>
                </a:lnTo>
                <a:lnTo>
                  <a:pt x="361" y="159"/>
                </a:lnTo>
                <a:lnTo>
                  <a:pt x="231" y="83"/>
                </a:lnTo>
                <a:close/>
              </a:path>
            </a:pathLst>
          </a:custGeom>
          <a:solidFill>
            <a:srgbClr val="C00000"/>
          </a:solidFill>
          <a:ln>
            <a:noFill/>
          </a:ln>
          <a:extLst/>
        </p:spPr>
        <p:txBody>
          <a:bodyPr vert="horz" wrap="square" lIns="91440" tIns="45720" rIns="91440" bIns="45720"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229"/>
          <p:cNvSpPr>
            <a:spLocks/>
          </p:cNvSpPr>
          <p:nvPr/>
        </p:nvSpPr>
        <p:spPr bwMode="gray">
          <a:xfrm>
            <a:off x="4310001" y="1642116"/>
            <a:ext cx="247415" cy="45719"/>
          </a:xfrm>
          <a:custGeom>
            <a:avLst/>
            <a:gdLst>
              <a:gd name="T0" fmla="*/ 181 w 195"/>
              <a:gd name="T1" fmla="*/ 0 h 27"/>
              <a:gd name="T2" fmla="*/ 14 w 195"/>
              <a:gd name="T3" fmla="*/ 0 h 27"/>
              <a:gd name="T4" fmla="*/ 4 w 195"/>
              <a:gd name="T5" fmla="*/ 4 h 27"/>
              <a:gd name="T6" fmla="*/ 0 w 195"/>
              <a:gd name="T7" fmla="*/ 14 h 27"/>
              <a:gd name="T8" fmla="*/ 14 w 195"/>
              <a:gd name="T9" fmla="*/ 27 h 27"/>
              <a:gd name="T10" fmla="*/ 181 w 195"/>
              <a:gd name="T11" fmla="*/ 27 h 27"/>
              <a:gd name="T12" fmla="*/ 195 w 195"/>
              <a:gd name="T13" fmla="*/ 14 h 27"/>
              <a:gd name="T14" fmla="*/ 181 w 195"/>
              <a:gd name="T15" fmla="*/ 0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27">
                <a:moveTo>
                  <a:pt x="181" y="0"/>
                </a:moveTo>
                <a:cubicBezTo>
                  <a:pt x="14" y="0"/>
                  <a:pt x="14" y="0"/>
                  <a:pt x="14" y="0"/>
                </a:cubicBezTo>
                <a:cubicBezTo>
                  <a:pt x="10" y="0"/>
                  <a:pt x="6" y="2"/>
                  <a:pt x="4" y="4"/>
                </a:cubicBezTo>
                <a:cubicBezTo>
                  <a:pt x="1" y="7"/>
                  <a:pt x="0" y="10"/>
                  <a:pt x="0" y="14"/>
                </a:cubicBezTo>
                <a:cubicBezTo>
                  <a:pt x="0" y="21"/>
                  <a:pt x="6" y="27"/>
                  <a:pt x="14" y="27"/>
                </a:cubicBezTo>
                <a:cubicBezTo>
                  <a:pt x="181" y="27"/>
                  <a:pt x="181" y="27"/>
                  <a:pt x="181" y="27"/>
                </a:cubicBezTo>
                <a:cubicBezTo>
                  <a:pt x="189" y="27"/>
                  <a:pt x="195" y="21"/>
                  <a:pt x="195" y="14"/>
                </a:cubicBezTo>
                <a:cubicBezTo>
                  <a:pt x="195" y="6"/>
                  <a:pt x="189" y="0"/>
                  <a:pt x="181" y="0"/>
                </a:cubicBezTo>
                <a:close/>
              </a:path>
            </a:pathLst>
          </a:custGeom>
          <a:solidFill>
            <a:srgbClr val="5859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4065682" y="1470359"/>
            <a:ext cx="800219" cy="460254"/>
          </a:xfrm>
          <a:prstGeom prst="rect">
            <a:avLst/>
          </a:prstGeom>
          <a:noFill/>
        </p:spPr>
        <p:txBody>
          <a:bodyPr vert="horz" wrap="none" rtlCol="0">
            <a:spAutoFit/>
          </a:bodyPr>
          <a:lstStyle/>
          <a:p>
            <a:pPr algn="l">
              <a:lnSpc>
                <a:spcPts val="3440"/>
              </a:lnSpc>
            </a:pP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客流统计</a:t>
            </a:r>
          </a:p>
        </p:txBody>
      </p:sp>
      <p:sp>
        <p:nvSpPr>
          <p:cNvPr id="59" name="Freeform 884"/>
          <p:cNvSpPr>
            <a:spLocks noEditPoints="1"/>
          </p:cNvSpPr>
          <p:nvPr/>
        </p:nvSpPr>
        <p:spPr bwMode="gray">
          <a:xfrm>
            <a:off x="5406091" y="1175552"/>
            <a:ext cx="473868" cy="509446"/>
          </a:xfrm>
          <a:custGeom>
            <a:avLst/>
            <a:gdLst>
              <a:gd name="T0" fmla="*/ 90 w 174"/>
              <a:gd name="T1" fmla="*/ 14 h 176"/>
              <a:gd name="T2" fmla="*/ 90 w 174"/>
              <a:gd name="T3" fmla="*/ 0 h 176"/>
              <a:gd name="T4" fmla="*/ 80 w 174"/>
              <a:gd name="T5" fmla="*/ 0 h 176"/>
              <a:gd name="T6" fmla="*/ 80 w 174"/>
              <a:gd name="T7" fmla="*/ 14 h 176"/>
              <a:gd name="T8" fmla="*/ 0 w 174"/>
              <a:gd name="T9" fmla="*/ 14 h 176"/>
              <a:gd name="T10" fmla="*/ 0 w 174"/>
              <a:gd name="T11" fmla="*/ 40 h 176"/>
              <a:gd name="T12" fmla="*/ 9 w 174"/>
              <a:gd name="T13" fmla="*/ 40 h 176"/>
              <a:gd name="T14" fmla="*/ 9 w 174"/>
              <a:gd name="T15" fmla="*/ 138 h 176"/>
              <a:gd name="T16" fmla="*/ 70 w 174"/>
              <a:gd name="T17" fmla="*/ 138 h 176"/>
              <a:gd name="T18" fmla="*/ 33 w 174"/>
              <a:gd name="T19" fmla="*/ 168 h 176"/>
              <a:gd name="T20" fmla="*/ 39 w 174"/>
              <a:gd name="T21" fmla="*/ 176 h 176"/>
              <a:gd name="T22" fmla="*/ 86 w 174"/>
              <a:gd name="T23" fmla="*/ 138 h 176"/>
              <a:gd name="T24" fmla="*/ 86 w 174"/>
              <a:gd name="T25" fmla="*/ 138 h 176"/>
              <a:gd name="T26" fmla="*/ 133 w 174"/>
              <a:gd name="T27" fmla="*/ 176 h 176"/>
              <a:gd name="T28" fmla="*/ 140 w 174"/>
              <a:gd name="T29" fmla="*/ 168 h 176"/>
              <a:gd name="T30" fmla="*/ 102 w 174"/>
              <a:gd name="T31" fmla="*/ 138 h 176"/>
              <a:gd name="T32" fmla="*/ 164 w 174"/>
              <a:gd name="T33" fmla="*/ 138 h 176"/>
              <a:gd name="T34" fmla="*/ 164 w 174"/>
              <a:gd name="T35" fmla="*/ 40 h 176"/>
              <a:gd name="T36" fmla="*/ 174 w 174"/>
              <a:gd name="T37" fmla="*/ 40 h 176"/>
              <a:gd name="T38" fmla="*/ 174 w 174"/>
              <a:gd name="T39" fmla="*/ 14 h 176"/>
              <a:gd name="T40" fmla="*/ 90 w 174"/>
              <a:gd name="T41" fmla="*/ 14 h 176"/>
              <a:gd name="T42" fmla="*/ 154 w 174"/>
              <a:gd name="T43" fmla="*/ 128 h 176"/>
              <a:gd name="T44" fmla="*/ 19 w 174"/>
              <a:gd name="T45" fmla="*/ 128 h 176"/>
              <a:gd name="T46" fmla="*/ 19 w 174"/>
              <a:gd name="T47" fmla="*/ 40 h 176"/>
              <a:gd name="T48" fmla="*/ 154 w 174"/>
              <a:gd name="T49" fmla="*/ 40 h 176"/>
              <a:gd name="T50" fmla="*/ 154 w 174"/>
              <a:gd name="T51" fmla="*/ 128 h 176"/>
              <a:gd name="T52" fmla="*/ 51 w 174"/>
              <a:gd name="T53" fmla="*/ 105 h 176"/>
              <a:gd name="T54" fmla="*/ 51 w 174"/>
              <a:gd name="T55" fmla="*/ 79 h 176"/>
              <a:gd name="T56" fmla="*/ 77 w 174"/>
              <a:gd name="T57" fmla="*/ 79 h 176"/>
              <a:gd name="T58" fmla="*/ 51 w 174"/>
              <a:gd name="T59" fmla="*/ 53 h 176"/>
              <a:gd name="T60" fmla="*/ 25 w 174"/>
              <a:gd name="T61" fmla="*/ 79 h 176"/>
              <a:gd name="T62" fmla="*/ 51 w 174"/>
              <a:gd name="T63" fmla="*/ 105 h 176"/>
              <a:gd name="T64" fmla="*/ 59 w 174"/>
              <a:gd name="T65" fmla="*/ 112 h 176"/>
              <a:gd name="T66" fmla="*/ 85 w 174"/>
              <a:gd name="T67" fmla="*/ 86 h 176"/>
              <a:gd name="T68" fmla="*/ 59 w 174"/>
              <a:gd name="T69" fmla="*/ 86 h 176"/>
              <a:gd name="T70" fmla="*/ 59 w 174"/>
              <a:gd name="T71" fmla="*/ 112 h 176"/>
              <a:gd name="T72" fmla="*/ 138 w 174"/>
              <a:gd name="T73" fmla="*/ 59 h 176"/>
              <a:gd name="T74" fmla="*/ 105 w 174"/>
              <a:gd name="T75" fmla="*/ 59 h 176"/>
              <a:gd name="T76" fmla="*/ 105 w 174"/>
              <a:gd name="T77" fmla="*/ 69 h 176"/>
              <a:gd name="T78" fmla="*/ 138 w 174"/>
              <a:gd name="T79" fmla="*/ 69 h 176"/>
              <a:gd name="T80" fmla="*/ 138 w 174"/>
              <a:gd name="T81" fmla="*/ 59 h 176"/>
              <a:gd name="T82" fmla="*/ 138 w 174"/>
              <a:gd name="T83" fmla="*/ 77 h 176"/>
              <a:gd name="T84" fmla="*/ 105 w 174"/>
              <a:gd name="T85" fmla="*/ 77 h 176"/>
              <a:gd name="T86" fmla="*/ 105 w 174"/>
              <a:gd name="T87" fmla="*/ 87 h 176"/>
              <a:gd name="T88" fmla="*/ 138 w 174"/>
              <a:gd name="T89" fmla="*/ 87 h 176"/>
              <a:gd name="T90" fmla="*/ 138 w 174"/>
              <a:gd name="T91" fmla="*/ 77 h 176"/>
              <a:gd name="T92" fmla="*/ 138 w 174"/>
              <a:gd name="T93" fmla="*/ 96 h 176"/>
              <a:gd name="T94" fmla="*/ 105 w 174"/>
              <a:gd name="T95" fmla="*/ 96 h 176"/>
              <a:gd name="T96" fmla="*/ 105 w 174"/>
              <a:gd name="T97" fmla="*/ 106 h 176"/>
              <a:gd name="T98" fmla="*/ 138 w 174"/>
              <a:gd name="T99" fmla="*/ 106 h 176"/>
              <a:gd name="T100" fmla="*/ 138 w 174"/>
              <a:gd name="T101" fmla="*/ 9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4" h="176">
                <a:moveTo>
                  <a:pt x="90" y="14"/>
                </a:moveTo>
                <a:cubicBezTo>
                  <a:pt x="90" y="0"/>
                  <a:pt x="90" y="0"/>
                  <a:pt x="90" y="0"/>
                </a:cubicBezTo>
                <a:cubicBezTo>
                  <a:pt x="80" y="0"/>
                  <a:pt x="80" y="0"/>
                  <a:pt x="80" y="0"/>
                </a:cubicBezTo>
                <a:cubicBezTo>
                  <a:pt x="80" y="14"/>
                  <a:pt x="80" y="14"/>
                  <a:pt x="80" y="14"/>
                </a:cubicBezTo>
                <a:cubicBezTo>
                  <a:pt x="0" y="14"/>
                  <a:pt x="0" y="14"/>
                  <a:pt x="0" y="14"/>
                </a:cubicBezTo>
                <a:cubicBezTo>
                  <a:pt x="0" y="40"/>
                  <a:pt x="0" y="40"/>
                  <a:pt x="0" y="40"/>
                </a:cubicBezTo>
                <a:cubicBezTo>
                  <a:pt x="9" y="40"/>
                  <a:pt x="9" y="40"/>
                  <a:pt x="9" y="40"/>
                </a:cubicBezTo>
                <a:cubicBezTo>
                  <a:pt x="9" y="138"/>
                  <a:pt x="9" y="138"/>
                  <a:pt x="9" y="138"/>
                </a:cubicBezTo>
                <a:cubicBezTo>
                  <a:pt x="70" y="138"/>
                  <a:pt x="70" y="138"/>
                  <a:pt x="70" y="138"/>
                </a:cubicBezTo>
                <a:cubicBezTo>
                  <a:pt x="33" y="168"/>
                  <a:pt x="33" y="168"/>
                  <a:pt x="33" y="168"/>
                </a:cubicBezTo>
                <a:cubicBezTo>
                  <a:pt x="39" y="176"/>
                  <a:pt x="39" y="176"/>
                  <a:pt x="39" y="176"/>
                </a:cubicBezTo>
                <a:cubicBezTo>
                  <a:pt x="86" y="138"/>
                  <a:pt x="86" y="138"/>
                  <a:pt x="86" y="138"/>
                </a:cubicBezTo>
                <a:cubicBezTo>
                  <a:pt x="86" y="138"/>
                  <a:pt x="86" y="138"/>
                  <a:pt x="86" y="138"/>
                </a:cubicBezTo>
                <a:cubicBezTo>
                  <a:pt x="133" y="176"/>
                  <a:pt x="133" y="176"/>
                  <a:pt x="133" y="176"/>
                </a:cubicBezTo>
                <a:cubicBezTo>
                  <a:pt x="140" y="168"/>
                  <a:pt x="140" y="168"/>
                  <a:pt x="140" y="168"/>
                </a:cubicBezTo>
                <a:cubicBezTo>
                  <a:pt x="102" y="138"/>
                  <a:pt x="102" y="138"/>
                  <a:pt x="102" y="138"/>
                </a:cubicBezTo>
                <a:cubicBezTo>
                  <a:pt x="164" y="138"/>
                  <a:pt x="164" y="138"/>
                  <a:pt x="164" y="138"/>
                </a:cubicBezTo>
                <a:cubicBezTo>
                  <a:pt x="164" y="40"/>
                  <a:pt x="164" y="40"/>
                  <a:pt x="164" y="40"/>
                </a:cubicBezTo>
                <a:cubicBezTo>
                  <a:pt x="174" y="40"/>
                  <a:pt x="174" y="40"/>
                  <a:pt x="174" y="40"/>
                </a:cubicBezTo>
                <a:cubicBezTo>
                  <a:pt x="174" y="14"/>
                  <a:pt x="174" y="14"/>
                  <a:pt x="174" y="14"/>
                </a:cubicBezTo>
                <a:lnTo>
                  <a:pt x="90" y="14"/>
                </a:lnTo>
                <a:close/>
                <a:moveTo>
                  <a:pt x="154" y="128"/>
                </a:moveTo>
                <a:cubicBezTo>
                  <a:pt x="19" y="128"/>
                  <a:pt x="19" y="128"/>
                  <a:pt x="19" y="128"/>
                </a:cubicBezTo>
                <a:cubicBezTo>
                  <a:pt x="19" y="40"/>
                  <a:pt x="19" y="40"/>
                  <a:pt x="19" y="40"/>
                </a:cubicBezTo>
                <a:cubicBezTo>
                  <a:pt x="154" y="40"/>
                  <a:pt x="154" y="40"/>
                  <a:pt x="154" y="40"/>
                </a:cubicBezTo>
                <a:lnTo>
                  <a:pt x="154" y="128"/>
                </a:lnTo>
                <a:close/>
                <a:moveTo>
                  <a:pt x="51" y="105"/>
                </a:moveTo>
                <a:cubicBezTo>
                  <a:pt x="51" y="79"/>
                  <a:pt x="51" y="79"/>
                  <a:pt x="51" y="79"/>
                </a:cubicBezTo>
                <a:cubicBezTo>
                  <a:pt x="77" y="79"/>
                  <a:pt x="77" y="79"/>
                  <a:pt x="77" y="79"/>
                </a:cubicBezTo>
                <a:cubicBezTo>
                  <a:pt x="77" y="65"/>
                  <a:pt x="66" y="53"/>
                  <a:pt x="51" y="53"/>
                </a:cubicBezTo>
                <a:cubicBezTo>
                  <a:pt x="37" y="53"/>
                  <a:pt x="25" y="65"/>
                  <a:pt x="25" y="79"/>
                </a:cubicBezTo>
                <a:cubicBezTo>
                  <a:pt x="25" y="94"/>
                  <a:pt x="37" y="105"/>
                  <a:pt x="51" y="105"/>
                </a:cubicBezTo>
                <a:close/>
                <a:moveTo>
                  <a:pt x="59" y="112"/>
                </a:moveTo>
                <a:cubicBezTo>
                  <a:pt x="73" y="112"/>
                  <a:pt x="85" y="101"/>
                  <a:pt x="85" y="86"/>
                </a:cubicBezTo>
                <a:cubicBezTo>
                  <a:pt x="59" y="86"/>
                  <a:pt x="59" y="86"/>
                  <a:pt x="59" y="86"/>
                </a:cubicBezTo>
                <a:lnTo>
                  <a:pt x="59" y="112"/>
                </a:lnTo>
                <a:close/>
                <a:moveTo>
                  <a:pt x="138" y="59"/>
                </a:moveTo>
                <a:cubicBezTo>
                  <a:pt x="105" y="59"/>
                  <a:pt x="105" y="59"/>
                  <a:pt x="105" y="59"/>
                </a:cubicBezTo>
                <a:cubicBezTo>
                  <a:pt x="105" y="69"/>
                  <a:pt x="105" y="69"/>
                  <a:pt x="105" y="69"/>
                </a:cubicBezTo>
                <a:cubicBezTo>
                  <a:pt x="138" y="69"/>
                  <a:pt x="138" y="69"/>
                  <a:pt x="138" y="69"/>
                </a:cubicBezTo>
                <a:lnTo>
                  <a:pt x="138" y="59"/>
                </a:lnTo>
                <a:close/>
                <a:moveTo>
                  <a:pt x="138" y="77"/>
                </a:moveTo>
                <a:cubicBezTo>
                  <a:pt x="105" y="77"/>
                  <a:pt x="105" y="77"/>
                  <a:pt x="105" y="77"/>
                </a:cubicBezTo>
                <a:cubicBezTo>
                  <a:pt x="105" y="87"/>
                  <a:pt x="105" y="87"/>
                  <a:pt x="105" y="87"/>
                </a:cubicBezTo>
                <a:cubicBezTo>
                  <a:pt x="138" y="87"/>
                  <a:pt x="138" y="87"/>
                  <a:pt x="138" y="87"/>
                </a:cubicBezTo>
                <a:lnTo>
                  <a:pt x="138" y="77"/>
                </a:lnTo>
                <a:close/>
                <a:moveTo>
                  <a:pt x="138" y="96"/>
                </a:moveTo>
                <a:cubicBezTo>
                  <a:pt x="105" y="96"/>
                  <a:pt x="105" y="96"/>
                  <a:pt x="105" y="96"/>
                </a:cubicBezTo>
                <a:cubicBezTo>
                  <a:pt x="105" y="106"/>
                  <a:pt x="105" y="106"/>
                  <a:pt x="105" y="106"/>
                </a:cubicBezTo>
                <a:cubicBezTo>
                  <a:pt x="138" y="106"/>
                  <a:pt x="138" y="106"/>
                  <a:pt x="138" y="106"/>
                </a:cubicBezTo>
                <a:lnTo>
                  <a:pt x="138" y="96"/>
                </a:lnTo>
                <a:close/>
              </a:path>
            </a:pathLst>
          </a:custGeom>
          <a:solidFill>
            <a:schemeClr val="tx1">
              <a:lumMod val="75000"/>
              <a:lumOff val="25000"/>
            </a:schemeClr>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5268476" y="1482697"/>
            <a:ext cx="930063" cy="460254"/>
          </a:xfrm>
          <a:prstGeom prst="rect">
            <a:avLst/>
          </a:prstGeom>
          <a:noFill/>
        </p:spPr>
        <p:txBody>
          <a:bodyPr vert="horz" wrap="none" rtlCol="0">
            <a:spAutoFit/>
          </a:bodyPr>
          <a:lstStyle/>
          <a:p>
            <a:pPr algn="l">
              <a:lnSpc>
                <a:spcPts val="344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业务系统</a:t>
            </a:r>
          </a:p>
        </p:txBody>
      </p:sp>
      <p:sp>
        <p:nvSpPr>
          <p:cNvPr id="61" name="文本框 60"/>
          <p:cNvSpPr txBox="1"/>
          <p:nvPr/>
        </p:nvSpPr>
        <p:spPr bwMode="gray">
          <a:xfrm>
            <a:off x="6381075" y="1113315"/>
            <a:ext cx="444352" cy="457241"/>
          </a:xfrm>
          <a:prstGeom prst="rect">
            <a:avLst/>
          </a:prstGeom>
          <a:noFill/>
        </p:spPr>
        <p:txBody>
          <a:bodyPr vert="horz" wrap="none" rtlCol="0">
            <a:spAutoFit/>
          </a:bodyPr>
          <a:lstStyle/>
          <a:p>
            <a:pPr algn="l">
              <a:lnSpc>
                <a:spcPts val="344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2" name="图片 251" descr="SAN网络-蓝.png"/>
          <p:cNvPicPr>
            <a:picLocks noChangeAspect="1"/>
          </p:cNvPicPr>
          <p:nvPr/>
        </p:nvPicPr>
        <p:blipFill>
          <a:blip r:embed="rId8" cstate="print"/>
          <a:stretch>
            <a:fillRect/>
          </a:stretch>
        </p:blipFill>
        <p:spPr bwMode="gray">
          <a:xfrm>
            <a:off x="5616195" y="5165483"/>
            <a:ext cx="267540" cy="438311"/>
          </a:xfrm>
          <a:prstGeom prst="rect">
            <a:avLst/>
          </a:prstGeom>
        </p:spPr>
      </p:pic>
      <p:pic>
        <p:nvPicPr>
          <p:cNvPr id="253" name="图片 252" descr="故障链路.png"/>
          <p:cNvPicPr>
            <a:picLocks noChangeAspect="1"/>
          </p:cNvPicPr>
          <p:nvPr/>
        </p:nvPicPr>
        <p:blipFill>
          <a:blip r:embed="rId9" cstate="print"/>
          <a:stretch>
            <a:fillRect/>
          </a:stretch>
        </p:blipFill>
        <p:spPr bwMode="gray">
          <a:xfrm>
            <a:off x="4596205" y="5183305"/>
            <a:ext cx="540000" cy="402667"/>
          </a:xfrm>
          <a:prstGeom prst="rect">
            <a:avLst/>
          </a:prstGeom>
        </p:spPr>
      </p:pic>
      <p:pic>
        <p:nvPicPr>
          <p:cNvPr id="254" name="图片 253" descr="IP电话.png"/>
          <p:cNvPicPr>
            <a:picLocks noChangeAspect="1"/>
          </p:cNvPicPr>
          <p:nvPr/>
        </p:nvPicPr>
        <p:blipFill>
          <a:blip r:embed="rId10" cstate="print"/>
          <a:stretch>
            <a:fillRect/>
          </a:stretch>
        </p:blipFill>
        <p:spPr bwMode="gray">
          <a:xfrm>
            <a:off x="3576268" y="5130838"/>
            <a:ext cx="539947" cy="507600"/>
          </a:xfrm>
          <a:prstGeom prst="rect">
            <a:avLst/>
          </a:prstGeom>
        </p:spPr>
      </p:pic>
      <p:pic>
        <p:nvPicPr>
          <p:cNvPr id="255" name="图片 254" descr="复印机.png"/>
          <p:cNvPicPr>
            <a:picLocks noChangeAspect="1"/>
          </p:cNvPicPr>
          <p:nvPr/>
        </p:nvPicPr>
        <p:blipFill>
          <a:blip r:embed="rId11" cstate="print"/>
          <a:stretch>
            <a:fillRect/>
          </a:stretch>
        </p:blipFill>
        <p:spPr bwMode="gray">
          <a:xfrm>
            <a:off x="6363726" y="5174038"/>
            <a:ext cx="543803" cy="421200"/>
          </a:xfrm>
          <a:prstGeom prst="rect">
            <a:avLst/>
          </a:prstGeom>
        </p:spPr>
      </p:pic>
      <p:pic>
        <p:nvPicPr>
          <p:cNvPr id="256" name="图片 255" descr="笔记本电脑.png"/>
          <p:cNvPicPr>
            <a:picLocks noChangeAspect="1"/>
          </p:cNvPicPr>
          <p:nvPr/>
        </p:nvPicPr>
        <p:blipFill>
          <a:blip r:embed="rId12" cstate="print"/>
          <a:stretch>
            <a:fillRect/>
          </a:stretch>
        </p:blipFill>
        <p:spPr bwMode="gray">
          <a:xfrm>
            <a:off x="2556499" y="5215438"/>
            <a:ext cx="539779" cy="338400"/>
          </a:xfrm>
          <a:prstGeom prst="rect">
            <a:avLst/>
          </a:prstGeom>
        </p:spPr>
      </p:pic>
      <p:pic>
        <p:nvPicPr>
          <p:cNvPr id="257" name="图片 256" descr="AP.png"/>
          <p:cNvPicPr>
            <a:picLocks noChangeAspect="1"/>
          </p:cNvPicPr>
          <p:nvPr/>
        </p:nvPicPr>
        <p:blipFill>
          <a:blip r:embed="rId13" cstate="print"/>
          <a:stretch>
            <a:fillRect/>
          </a:stretch>
        </p:blipFill>
        <p:spPr bwMode="gray">
          <a:xfrm>
            <a:off x="2493391" y="4443403"/>
            <a:ext cx="407445" cy="333364"/>
          </a:xfrm>
          <a:prstGeom prst="rect">
            <a:avLst/>
          </a:prstGeom>
        </p:spPr>
      </p:pic>
      <p:pic>
        <p:nvPicPr>
          <p:cNvPr id="258" name="图片 257" descr="AP.png"/>
          <p:cNvPicPr>
            <a:picLocks noChangeAspect="1"/>
          </p:cNvPicPr>
          <p:nvPr/>
        </p:nvPicPr>
        <p:blipFill>
          <a:blip r:embed="rId13" cstate="print"/>
          <a:stretch>
            <a:fillRect/>
          </a:stretch>
        </p:blipFill>
        <p:spPr bwMode="gray">
          <a:xfrm>
            <a:off x="3887648" y="4443403"/>
            <a:ext cx="407445" cy="333364"/>
          </a:xfrm>
          <a:prstGeom prst="rect">
            <a:avLst/>
          </a:prstGeom>
        </p:spPr>
      </p:pic>
      <p:pic>
        <p:nvPicPr>
          <p:cNvPr id="259" name="图片 258" descr="AP.png"/>
          <p:cNvPicPr>
            <a:picLocks noChangeAspect="1"/>
          </p:cNvPicPr>
          <p:nvPr/>
        </p:nvPicPr>
        <p:blipFill>
          <a:blip r:embed="rId13" cstate="print"/>
          <a:stretch>
            <a:fillRect/>
          </a:stretch>
        </p:blipFill>
        <p:spPr bwMode="gray">
          <a:xfrm>
            <a:off x="5281905" y="4443403"/>
            <a:ext cx="407445" cy="333364"/>
          </a:xfrm>
          <a:prstGeom prst="rect">
            <a:avLst/>
          </a:prstGeom>
        </p:spPr>
      </p:pic>
      <p:pic>
        <p:nvPicPr>
          <p:cNvPr id="260" name="图片 259" descr="AP.png"/>
          <p:cNvPicPr>
            <a:picLocks noChangeAspect="1"/>
          </p:cNvPicPr>
          <p:nvPr/>
        </p:nvPicPr>
        <p:blipFill>
          <a:blip r:embed="rId13" cstate="print"/>
          <a:stretch>
            <a:fillRect/>
          </a:stretch>
        </p:blipFill>
        <p:spPr bwMode="gray">
          <a:xfrm>
            <a:off x="6676162" y="4443403"/>
            <a:ext cx="407445" cy="333364"/>
          </a:xfrm>
          <a:prstGeom prst="rect">
            <a:avLst/>
          </a:prstGeom>
        </p:spPr>
      </p:pic>
      <p:pic>
        <p:nvPicPr>
          <p:cNvPr id="261" name="图片 260" descr="接入交换机.png"/>
          <p:cNvPicPr>
            <a:picLocks noChangeAspect="1"/>
          </p:cNvPicPr>
          <p:nvPr/>
        </p:nvPicPr>
        <p:blipFill>
          <a:blip r:embed="rId14" cstate="print"/>
          <a:stretch>
            <a:fillRect/>
          </a:stretch>
        </p:blipFill>
        <p:spPr bwMode="gray">
          <a:xfrm>
            <a:off x="3198161" y="3954826"/>
            <a:ext cx="446896" cy="365642"/>
          </a:xfrm>
          <a:prstGeom prst="rect">
            <a:avLst/>
          </a:prstGeom>
        </p:spPr>
      </p:pic>
      <p:pic>
        <p:nvPicPr>
          <p:cNvPr id="262" name="图片 261" descr="接入交换机.png"/>
          <p:cNvPicPr>
            <a:picLocks noChangeAspect="1"/>
          </p:cNvPicPr>
          <p:nvPr/>
        </p:nvPicPr>
        <p:blipFill>
          <a:blip r:embed="rId14" cstate="print"/>
          <a:stretch>
            <a:fillRect/>
          </a:stretch>
        </p:blipFill>
        <p:spPr bwMode="gray">
          <a:xfrm>
            <a:off x="4544330" y="3954826"/>
            <a:ext cx="446896" cy="365642"/>
          </a:xfrm>
          <a:prstGeom prst="rect">
            <a:avLst/>
          </a:prstGeom>
        </p:spPr>
      </p:pic>
      <p:pic>
        <p:nvPicPr>
          <p:cNvPr id="263" name="图片 262" descr="接入交换机.png"/>
          <p:cNvPicPr>
            <a:picLocks noChangeAspect="1"/>
          </p:cNvPicPr>
          <p:nvPr/>
        </p:nvPicPr>
        <p:blipFill>
          <a:blip r:embed="rId14" cstate="print"/>
          <a:stretch>
            <a:fillRect/>
          </a:stretch>
        </p:blipFill>
        <p:spPr bwMode="gray">
          <a:xfrm>
            <a:off x="5845938" y="3954826"/>
            <a:ext cx="446896" cy="365642"/>
          </a:xfrm>
          <a:prstGeom prst="rect">
            <a:avLst/>
          </a:prstGeom>
        </p:spPr>
      </p:pic>
      <p:pic>
        <p:nvPicPr>
          <p:cNvPr id="268" name="图片 267" descr="核心交换机.png"/>
          <p:cNvPicPr>
            <a:picLocks noChangeAspect="1"/>
          </p:cNvPicPr>
          <p:nvPr/>
        </p:nvPicPr>
        <p:blipFill>
          <a:blip r:embed="rId15" cstate="print"/>
          <a:stretch>
            <a:fillRect/>
          </a:stretch>
        </p:blipFill>
        <p:spPr bwMode="gray">
          <a:xfrm>
            <a:off x="4543972" y="3125499"/>
            <a:ext cx="447613" cy="366229"/>
          </a:xfrm>
          <a:prstGeom prst="rect">
            <a:avLst/>
          </a:prstGeom>
        </p:spPr>
      </p:pic>
      <p:sp>
        <p:nvSpPr>
          <p:cNvPr id="275" name="标题 1"/>
          <p:cNvSpPr txBox="1">
            <a:spLocks/>
          </p:cNvSpPr>
          <p:nvPr/>
        </p:nvSpPr>
        <p:spPr bwMode="gray">
          <a:xfrm>
            <a:off x="8205134" y="2724226"/>
            <a:ext cx="2453342" cy="835284"/>
          </a:xfrm>
          <a:prstGeom prst="rect">
            <a:avLst/>
          </a:prstGeom>
        </p:spPr>
        <p:txBody>
          <a:bodyPr vert="horz" lIns="121944" tIns="60972" rIns="121944" bIns="60972" rtlCol="0"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北向</a:t>
            </a:r>
            <a:r>
              <a:rPr lang="en-US" altLang="zh-CN"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对接</a:t>
            </a:r>
            <a:endParaRPr lang="en-US" altLang="zh-CN"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地图信息</a:t>
            </a:r>
            <a:endPar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终端位置信息</a:t>
            </a:r>
            <a:endParaRPr 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标题 1"/>
          <p:cNvSpPr txBox="1">
            <a:spLocks/>
          </p:cNvSpPr>
          <p:nvPr/>
        </p:nvSpPr>
        <p:spPr bwMode="gray">
          <a:xfrm>
            <a:off x="8126995" y="1341118"/>
            <a:ext cx="2676499" cy="299267"/>
          </a:xfrm>
          <a:prstGeom prst="rect">
            <a:avLst/>
          </a:prstGeom>
        </p:spPr>
        <p:txBody>
          <a:bodyPr vert="horz" lIns="121944" tIns="60972" rIns="121944" bIns="60972" rtlCol="0"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合作伙伴提供上层应用</a:t>
            </a:r>
            <a:endParaRPr lang="en-US" altLang="zh-CN"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标题 1"/>
          <p:cNvSpPr txBox="1">
            <a:spLocks/>
          </p:cNvSpPr>
          <p:nvPr/>
        </p:nvSpPr>
        <p:spPr bwMode="gray">
          <a:xfrm>
            <a:off x="8196934" y="3616660"/>
            <a:ext cx="2676499" cy="826115"/>
          </a:xfrm>
          <a:prstGeom prst="rect">
            <a:avLst/>
          </a:prstGeom>
        </p:spPr>
        <p:txBody>
          <a:bodyPr vert="horz" lIns="121944" tIns="60972" rIns="121944" bIns="60972" rtlCol="0" anchor="ctr">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支持</a:t>
            </a:r>
            <a:r>
              <a:rPr lang="zh-CN" altLang="en-US"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功能</a:t>
            </a:r>
            <a:endParaRPr lang="en-US" altLang="zh-CN" sz="16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人流热图、行走路径、干扰源定位、位置查询</a:t>
            </a:r>
          </a:p>
        </p:txBody>
      </p:sp>
      <p:sp>
        <p:nvSpPr>
          <p:cNvPr id="278" name="矩形 277"/>
          <p:cNvSpPr/>
          <p:nvPr/>
        </p:nvSpPr>
        <p:spPr bwMode="gray">
          <a:xfrm>
            <a:off x="8205843" y="5106259"/>
            <a:ext cx="1794081" cy="584775"/>
          </a:xfrm>
          <a:prstGeom prst="rect">
            <a:avLst/>
          </a:prstGeom>
        </p:spPr>
        <p:txBody>
          <a:bodyPr wrap="none">
            <a:spAutoFit/>
          </a:bodyPr>
          <a:lstStyle/>
          <a:p>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主要场景</a:t>
            </a:r>
            <a:endPar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商超和办公场景</a:t>
            </a:r>
          </a:p>
        </p:txBody>
      </p:sp>
      <p:sp>
        <p:nvSpPr>
          <p:cNvPr id="279" name="矩形 278"/>
          <p:cNvSpPr/>
          <p:nvPr/>
        </p:nvSpPr>
        <p:spPr bwMode="gray">
          <a:xfrm>
            <a:off x="8166738" y="2253399"/>
            <a:ext cx="3057564" cy="338554"/>
          </a:xfrm>
          <a:prstGeom prst="rect">
            <a:avLst/>
          </a:prstGeom>
        </p:spPr>
        <p:txBody>
          <a:bodyPr wrap="square">
            <a:spAutoFit/>
          </a:bodyPr>
          <a:lstStyle/>
          <a:p>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CampusInsight</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提供定位能力</a:t>
            </a:r>
          </a:p>
        </p:txBody>
      </p:sp>
    </p:spTree>
    <p:extLst>
      <p:ext uri="{BB962C8B-B14F-4D97-AF65-F5344CB8AC3E}">
        <p14:creationId xmlns:p14="http://schemas.microsoft.com/office/powerpoint/2010/main" val="133193159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干扰源定位</a:t>
            </a:r>
            <a:endParaRPr lang="zh-CN" altLang="en-US" dirty="0"/>
          </a:p>
        </p:txBody>
      </p:sp>
      <p:sp>
        <p:nvSpPr>
          <p:cNvPr id="4" name="文本占位符 3"/>
          <p:cNvSpPr>
            <a:spLocks noGrp="1"/>
          </p:cNvSpPr>
          <p:nvPr>
            <p:ph type="body" sz="quarter" idx="10"/>
          </p:nvPr>
        </p:nvSpPr>
        <p:spPr>
          <a:xfrm>
            <a:off x="455613" y="1047751"/>
            <a:ext cx="11256962" cy="401638"/>
          </a:xfrm>
        </p:spPr>
        <p:txBody>
          <a:bodyPr/>
          <a:lstStyle/>
          <a:p>
            <a:r>
              <a:rPr lang="en-US" altLang="zh-CN" sz="1800" dirty="0" err="1" smtClean="0"/>
              <a:t>CampusInsight</a:t>
            </a:r>
            <a:r>
              <a:rPr lang="zh-CN" altLang="en-US" sz="1800" dirty="0" smtClean="0"/>
              <a:t>支持</a:t>
            </a:r>
            <a:r>
              <a:rPr lang="en-US" altLang="zh-CN" sz="1800" dirty="0"/>
              <a:t>Wi-Fi</a:t>
            </a:r>
            <a:r>
              <a:rPr lang="zh-CN" altLang="en-US" sz="1800" dirty="0"/>
              <a:t>干扰源</a:t>
            </a:r>
            <a:r>
              <a:rPr lang="zh-CN" altLang="en-US" sz="1800" dirty="0" smtClean="0"/>
              <a:t>定位</a:t>
            </a:r>
            <a:r>
              <a:rPr lang="zh-CN" altLang="en-US" sz="1800" dirty="0"/>
              <a:t>，</a:t>
            </a:r>
            <a:r>
              <a:rPr lang="zh-CN" altLang="en-US" sz="1800" dirty="0" smtClean="0"/>
              <a:t>支持</a:t>
            </a:r>
            <a:r>
              <a:rPr lang="zh-CN" altLang="en-US" sz="1800" dirty="0"/>
              <a:t>非</a:t>
            </a:r>
            <a:r>
              <a:rPr lang="en-US" altLang="zh-CN" sz="1800" dirty="0"/>
              <a:t>Wi-Fi</a:t>
            </a:r>
            <a:r>
              <a:rPr lang="zh-CN" altLang="en-US" sz="1800" dirty="0"/>
              <a:t>干扰源定位（蓝牙、微波、影音设备等</a:t>
            </a:r>
            <a:r>
              <a:rPr lang="zh-CN" altLang="en-US" sz="1800" dirty="0" smtClean="0"/>
              <a:t>）。</a:t>
            </a:r>
            <a:endParaRPr lang="zh-CN" altLang="en-US" sz="1800" dirty="0"/>
          </a:p>
        </p:txBody>
      </p:sp>
      <p:pic>
        <p:nvPicPr>
          <p:cNvPr id="3" name="Picture 2" descr="C:\Users\z00191671\AppData\Roaming\eSpace_Desktop\UserData\z00515735\imagefiles\originalImgfiles\A2D1BE78-A764-40C3-B5AB-1695493AF8E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invGray">
          <a:xfrm>
            <a:off x="1801892" y="1449389"/>
            <a:ext cx="8564402" cy="4722772"/>
          </a:xfrm>
          <a:prstGeom prst="rect">
            <a:avLst/>
          </a:prstGeom>
          <a:noFill/>
          <a:ln w="12700">
            <a:solidFill>
              <a:schemeClr val="bg1">
                <a:lumMod val="8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484668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rotWithShape="1">
          <a:blip r:embed="rId3"/>
          <a:srcRect l="130" t="27240" r="81290" b="37997"/>
          <a:stretch/>
        </p:blipFill>
        <p:spPr bwMode="invGray">
          <a:xfrm>
            <a:off x="741609" y="2115076"/>
            <a:ext cx="2496891" cy="2627847"/>
          </a:xfrm>
          <a:prstGeom prst="rect">
            <a:avLst/>
          </a:prstGeom>
        </p:spPr>
      </p:pic>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15</a:t>
            </a:r>
            <a:r>
              <a:rPr lang="zh-CN" altLang="en-US" dirty="0" smtClean="0">
                <a:sym typeface="Huawei Sans" panose="020C0503030203020204" pitchFamily="34" charset="0"/>
              </a:rPr>
              <a:t>：无线定位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15" name="Working with Partners to Build One of the Five Clouds for an Intelligent World"/>
          <p:cNvSpPr txBox="1"/>
          <p:nvPr/>
        </p:nvSpPr>
        <p:spPr bwMode="gray">
          <a:xfrm>
            <a:off x="452339" y="973497"/>
            <a:ext cx="11260235" cy="731785"/>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某景区疫情期间，希望能严控人员接触，降低疫情传播和扩散风险。通过查看指定时间段的人流分布热力图，识别人员密集区域，提前疏导和引流，降低接触</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风险。</a:t>
            </a:r>
            <a:endPar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文本框 15"/>
          <p:cNvSpPr txBox="1"/>
          <p:nvPr/>
        </p:nvSpPr>
        <p:spPr bwMode="gray">
          <a:xfrm>
            <a:off x="449678" y="1780666"/>
            <a:ext cx="3569872" cy="276999"/>
          </a:xfrm>
          <a:prstGeom prst="rect">
            <a:avLst/>
          </a:prstGeom>
          <a:noFill/>
        </p:spPr>
        <p:txBody>
          <a:bodyPr vert="horz" wrap="square" rtlCol="0">
            <a:spAutoFit/>
          </a:bodyPr>
          <a:lstStyle/>
          <a:p>
            <a:pPr algn="l"/>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、菜单选择</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“业务拓扑”</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“进入</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WLAN</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拓扑”</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7" name="文本框 16"/>
          <p:cNvSpPr txBox="1"/>
          <p:nvPr/>
        </p:nvSpPr>
        <p:spPr bwMode="gray">
          <a:xfrm>
            <a:off x="4095750" y="1780666"/>
            <a:ext cx="5610225"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、左树层级选择 </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Shenzhen</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N5</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N5-2F</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“无线定位”</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卡片。</a:t>
            </a:r>
          </a:p>
        </p:txBody>
      </p:sp>
      <p:sp>
        <p:nvSpPr>
          <p:cNvPr id="20" name="矩形 19"/>
          <p:cNvSpPr/>
          <p:nvPr/>
        </p:nvSpPr>
        <p:spPr bwMode="gray">
          <a:xfrm>
            <a:off x="2259940" y="2893768"/>
            <a:ext cx="788059" cy="21962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bwMode="gray">
          <a:xfrm>
            <a:off x="741609" y="2390618"/>
            <a:ext cx="1334841" cy="35534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7" name="图片 26"/>
          <p:cNvPicPr>
            <a:picLocks noChangeAspect="1"/>
          </p:cNvPicPr>
          <p:nvPr/>
        </p:nvPicPr>
        <p:blipFill>
          <a:blip r:embed="rId4"/>
          <a:stretch>
            <a:fillRect/>
          </a:stretch>
        </p:blipFill>
        <p:spPr bwMode="invGray">
          <a:xfrm>
            <a:off x="4199028" y="2115076"/>
            <a:ext cx="7513547" cy="3831299"/>
          </a:xfrm>
          <a:prstGeom prst="rect">
            <a:avLst/>
          </a:prstGeom>
          <a:ln w="12700">
            <a:solidFill>
              <a:schemeClr val="bg1">
                <a:lumMod val="85000"/>
              </a:schemeClr>
            </a:solidFill>
          </a:ln>
        </p:spPr>
      </p:pic>
      <p:sp>
        <p:nvSpPr>
          <p:cNvPr id="31" name="矩形 30"/>
          <p:cNvSpPr/>
          <p:nvPr/>
        </p:nvSpPr>
        <p:spPr bwMode="gray">
          <a:xfrm>
            <a:off x="4269715" y="2745958"/>
            <a:ext cx="854735" cy="68304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文本框 31"/>
          <p:cNvSpPr txBox="1"/>
          <p:nvPr/>
        </p:nvSpPr>
        <p:spPr bwMode="gray">
          <a:xfrm>
            <a:off x="4199028" y="3587300"/>
            <a:ext cx="1415772" cy="276999"/>
          </a:xfrm>
          <a:prstGeom prst="rect">
            <a:avLst/>
          </a:prstGeom>
          <a:solidFill>
            <a:schemeClr val="bg1">
              <a:lumMod val="50000"/>
            </a:schemeClr>
          </a:solidFill>
        </p:spPr>
        <p:txBody>
          <a:bodyPr vert="horz" wrap="none" rtlCol="0">
            <a:spAutoFit/>
          </a:bodyPr>
          <a:lstStyle/>
          <a:p>
            <a:pPr algn="l"/>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选择无线定位楼层</a:t>
            </a:r>
          </a:p>
        </p:txBody>
      </p:sp>
      <p:sp>
        <p:nvSpPr>
          <p:cNvPr id="33" name="矩形 32"/>
          <p:cNvSpPr/>
          <p:nvPr/>
        </p:nvSpPr>
        <p:spPr bwMode="gray">
          <a:xfrm>
            <a:off x="9003640" y="2096764"/>
            <a:ext cx="854735" cy="19876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文本框 33"/>
          <p:cNvSpPr txBox="1"/>
          <p:nvPr/>
        </p:nvSpPr>
        <p:spPr bwMode="gray">
          <a:xfrm>
            <a:off x="8723121" y="2351557"/>
            <a:ext cx="1415772" cy="276999"/>
          </a:xfrm>
          <a:prstGeom prst="rect">
            <a:avLst/>
          </a:prstGeom>
          <a:solidFill>
            <a:schemeClr val="bg1">
              <a:lumMod val="50000"/>
            </a:schemeClr>
          </a:solidFill>
        </p:spPr>
        <p:txBody>
          <a:bodyPr vert="horz" wrap="none" rtlCol="0">
            <a:spAutoFit/>
          </a:bodyPr>
          <a:lstStyle/>
          <a:p>
            <a:pPr algn="l"/>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选择“无线定位”</a:t>
            </a:r>
          </a:p>
        </p:txBody>
      </p:sp>
    </p:spTree>
    <p:extLst>
      <p:ext uri="{BB962C8B-B14F-4D97-AF65-F5344CB8AC3E}">
        <p14:creationId xmlns:p14="http://schemas.microsoft.com/office/powerpoint/2010/main" val="169961447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939555" y="1609164"/>
            <a:ext cx="7760911" cy="4382061"/>
            <a:chOff x="3939555" y="1609164"/>
            <a:chExt cx="7760911" cy="4382061"/>
          </a:xfrm>
        </p:grpSpPr>
        <p:pic>
          <p:nvPicPr>
            <p:cNvPr id="39" name="图片 38"/>
            <p:cNvPicPr>
              <a:picLocks noChangeAspect="1"/>
            </p:cNvPicPr>
            <p:nvPr/>
          </p:nvPicPr>
          <p:blipFill>
            <a:blip r:embed="rId3"/>
            <a:stretch>
              <a:fillRect/>
            </a:stretch>
          </p:blipFill>
          <p:spPr bwMode="invGray">
            <a:xfrm>
              <a:off x="3939555" y="1609164"/>
              <a:ext cx="7760911" cy="4382061"/>
            </a:xfrm>
            <a:prstGeom prst="rect">
              <a:avLst/>
            </a:prstGeom>
            <a:ln w="12700">
              <a:solidFill>
                <a:schemeClr val="bg1">
                  <a:lumMod val="85000"/>
                </a:schemeClr>
              </a:solidFill>
            </a:ln>
          </p:spPr>
        </p:pic>
        <p:sp>
          <p:nvSpPr>
            <p:cNvPr id="5" name="矩形 4"/>
            <p:cNvSpPr/>
            <p:nvPr/>
          </p:nvSpPr>
          <p:spPr>
            <a:xfrm>
              <a:off x="4798337" y="2279381"/>
              <a:ext cx="289711" cy="94232"/>
            </a:xfrm>
            <a:prstGeom prst="rect">
              <a:avLst/>
            </a:prstGeom>
            <a:solidFill>
              <a:srgbClr val="1849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556338" y="2279381"/>
              <a:ext cx="289711" cy="94232"/>
            </a:xfrm>
            <a:prstGeom prst="rect">
              <a:avLst/>
            </a:prstGeom>
            <a:solidFill>
              <a:srgbClr val="1849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749671" y="1609164"/>
            <a:ext cx="2860304" cy="4510269"/>
            <a:chOff x="749671" y="1609164"/>
            <a:chExt cx="2860304" cy="4510269"/>
          </a:xfrm>
        </p:grpSpPr>
        <p:pic>
          <p:nvPicPr>
            <p:cNvPr id="18" name="图片 17"/>
            <p:cNvPicPr>
              <a:picLocks noChangeAspect="1"/>
            </p:cNvPicPr>
            <p:nvPr/>
          </p:nvPicPr>
          <p:blipFill>
            <a:blip r:embed="rId4"/>
            <a:stretch>
              <a:fillRect/>
            </a:stretch>
          </p:blipFill>
          <p:spPr bwMode="invGray">
            <a:xfrm>
              <a:off x="749671" y="1609164"/>
              <a:ext cx="2860304" cy="4510269"/>
            </a:xfrm>
            <a:prstGeom prst="rect">
              <a:avLst/>
            </a:prstGeom>
          </p:spPr>
        </p:pic>
        <p:sp>
          <p:nvSpPr>
            <p:cNvPr id="3" name="矩形 2"/>
            <p:cNvSpPr/>
            <p:nvPr/>
          </p:nvSpPr>
          <p:spPr>
            <a:xfrm>
              <a:off x="1792159" y="3429000"/>
              <a:ext cx="334815" cy="119270"/>
            </a:xfrm>
            <a:prstGeom prst="rect">
              <a:avLst/>
            </a:prstGeom>
            <a:solidFill>
              <a:srgbClr val="2834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792159" y="3662202"/>
              <a:ext cx="334815" cy="119270"/>
            </a:xfrm>
            <a:prstGeom prst="rect">
              <a:avLst/>
            </a:prstGeom>
            <a:solidFill>
              <a:srgbClr val="2834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15</a:t>
            </a:r>
            <a:r>
              <a:rPr lang="zh-CN" altLang="en-US" dirty="0" smtClean="0">
                <a:sym typeface="Huawei Sans" panose="020C0503030203020204" pitchFamily="34" charset="0"/>
              </a:rPr>
              <a:t>：无线定位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16" name="文本框 15"/>
          <p:cNvSpPr txBox="1"/>
          <p:nvPr/>
        </p:nvSpPr>
        <p:spPr bwMode="gray">
          <a:xfrm>
            <a:off x="657225" y="1153304"/>
            <a:ext cx="3162300" cy="646331"/>
          </a:xfrm>
          <a:prstGeom prst="rect">
            <a:avLst/>
          </a:prstGeom>
          <a:noFill/>
        </p:spPr>
        <p:txBody>
          <a:bodyPr vert="horz" wrap="squar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、无线定位设置菜单，开启</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“人流热图”</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开关，点击</a:t>
            </a:r>
            <a:r>
              <a:rPr lang="zh-CN" altLang="en-US" sz="1200"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“确定”</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a:p>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文本框 16"/>
          <p:cNvSpPr txBox="1"/>
          <p:nvPr/>
        </p:nvSpPr>
        <p:spPr bwMode="gray">
          <a:xfrm>
            <a:off x="3819526" y="1153304"/>
            <a:ext cx="5886450" cy="276999"/>
          </a:xfrm>
          <a:prstGeom prst="rect">
            <a:avLst/>
          </a:prstGeom>
          <a:noFill/>
        </p:spPr>
        <p:txBody>
          <a:bodyPr vert="horz" wrap="squar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4</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“人流热图”</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，通过切换时间段，识别人员密集位置。</a:t>
            </a:r>
          </a:p>
        </p:txBody>
      </p:sp>
      <p:sp>
        <p:nvSpPr>
          <p:cNvPr id="29" name="矩形 28"/>
          <p:cNvSpPr/>
          <p:nvPr/>
        </p:nvSpPr>
        <p:spPr bwMode="gray">
          <a:xfrm>
            <a:off x="2696034" y="2177094"/>
            <a:ext cx="342442" cy="232731"/>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矩形 29"/>
          <p:cNvSpPr/>
          <p:nvPr/>
        </p:nvSpPr>
        <p:spPr bwMode="gray">
          <a:xfrm>
            <a:off x="1792159" y="2755365"/>
            <a:ext cx="1513016" cy="35931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p:cNvSpPr/>
          <p:nvPr/>
        </p:nvSpPr>
        <p:spPr bwMode="gray">
          <a:xfrm>
            <a:off x="2201734" y="5857875"/>
            <a:ext cx="494300" cy="226098"/>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文本框 35"/>
          <p:cNvSpPr txBox="1"/>
          <p:nvPr/>
        </p:nvSpPr>
        <p:spPr bwMode="gray">
          <a:xfrm>
            <a:off x="942959" y="4542835"/>
            <a:ext cx="2383284" cy="461665"/>
          </a:xfrm>
          <a:prstGeom prst="rect">
            <a:avLst/>
          </a:prstGeom>
          <a:solidFill>
            <a:schemeClr val="bg1">
              <a:lumMod val="50000"/>
            </a:schemeClr>
          </a:solidFill>
        </p:spPr>
        <p:txBody>
          <a:bodyPr vert="horz" wrap="square" rtlCol="0">
            <a:spAutoFit/>
          </a:bodyPr>
          <a:lstStyle/>
          <a:p>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支持选择查看可行走路径、人流热图、</a:t>
            </a: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干扰源、终端</a:t>
            </a:r>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显示。</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文本框 36"/>
          <p:cNvSpPr txBox="1"/>
          <p:nvPr/>
        </p:nvSpPr>
        <p:spPr bwMode="auto">
          <a:xfrm>
            <a:off x="1748329" y="2503198"/>
            <a:ext cx="1600675" cy="276999"/>
          </a:xfrm>
          <a:prstGeom prst="rect">
            <a:avLst/>
          </a:prstGeom>
          <a:no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调整热图效果（可选）</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文本框 37"/>
          <p:cNvSpPr txBox="1"/>
          <p:nvPr/>
        </p:nvSpPr>
        <p:spPr bwMode="auto">
          <a:xfrm>
            <a:off x="3018057" y="2164226"/>
            <a:ext cx="544523" cy="276999"/>
          </a:xfrm>
          <a:prstGeom prst="rect">
            <a:avLst/>
          </a:prstGeom>
          <a:no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开关</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矩形 39"/>
          <p:cNvSpPr/>
          <p:nvPr/>
        </p:nvSpPr>
        <p:spPr bwMode="gray">
          <a:xfrm>
            <a:off x="4014746" y="2050514"/>
            <a:ext cx="2690853" cy="845085"/>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bwMode="gray">
          <a:xfrm>
            <a:off x="6780790" y="2038594"/>
            <a:ext cx="2165971" cy="276999"/>
          </a:xfrm>
          <a:prstGeom prst="rect">
            <a:avLst/>
          </a:prstGeom>
          <a:solidFill>
            <a:schemeClr val="bg1">
              <a:lumMod val="50000"/>
            </a:schemeClr>
          </a:solid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切换不同时间，查看人流热图。</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88196716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16</a:t>
            </a:r>
            <a:r>
              <a:rPr lang="zh-CN" altLang="en-US" dirty="0" smtClean="0">
                <a:sym typeface="Huawei Sans" panose="020C0503030203020204" pitchFamily="34" charset="0"/>
              </a:rPr>
              <a:t>：干扰源定位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15" name="Working with Partners to Build One of the Five Clouds for an Intelligent World"/>
          <p:cNvSpPr txBox="1"/>
          <p:nvPr/>
        </p:nvSpPr>
        <p:spPr bwMode="gray">
          <a:xfrm>
            <a:off x="452339" y="973497"/>
            <a:ext cx="11260235" cy="760959"/>
          </a:xfrm>
          <a:prstGeom prst="rect">
            <a:avLst/>
          </a:prstGeom>
          <a:solidFill>
            <a:schemeClr val="bg1">
              <a:lumMod val="95000"/>
            </a:schemeClr>
          </a:solidFill>
          <a:ln w="3175">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2000" tIns="72000" rIns="72000" bIns="72000">
            <a:spAutoFit/>
          </a:bodyPr>
          <a:lstStyle>
            <a:lvl1pPr algn="l" defTabSz="609598">
              <a:lnSpc>
                <a:spcPct val="90000"/>
              </a:lnSpc>
              <a:defRPr sz="8000" b="0">
                <a:solidFill>
                  <a:srgbClr val="5ECCFF"/>
                </a:solidFill>
                <a:latin typeface="FZLanTingHeiS-DB1-GBK"/>
                <a:ea typeface="FZLanTingHeiS-DB1-GBK"/>
                <a:cs typeface="FZLanTingHeiS-DB1-GBK"/>
                <a:sym typeface="FZLanTingHeiS-DB1-GBK"/>
              </a:defRPr>
            </a:lvl1pPr>
          </a:lstStyle>
          <a:p>
            <a:pPr hangingPunct="0">
              <a:lnSpc>
                <a:spcPts val="2400"/>
              </a:lnSpc>
              <a:spcAft>
                <a:spcPts val="600"/>
              </a:spcAft>
            </a:pPr>
            <a:r>
              <a:rPr lang="zh-CN" altLang="en-US" sz="1400" b="1"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案例描述：</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某部门的员工反馈办公位附近网络质量差，下载和邮件发送很慢，影响办公效率。通过问题分析，找到员工所接入</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出现高</a:t>
            </a:r>
            <a:r>
              <a:rPr lang="zh-CN" altLang="en-US" sz="1400" kern="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干扰，由于</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外部干扰源导致网络质量差。结合干扰源定位，发现员工工位附近有非法</a:t>
            </a:r>
            <a:r>
              <a:rPr lang="en-US" altLang="zh-CN"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。通过实地查看并排除干扰源后，用户体验</a:t>
            </a:r>
            <a:r>
              <a:rPr lang="zh-CN" altLang="en-US" sz="1400" ker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恢复</a:t>
            </a:r>
            <a:r>
              <a:rPr lang="zh-CN" altLang="en-US" sz="1400" kern="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400" kern="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文本框 15"/>
          <p:cNvSpPr txBox="1"/>
          <p:nvPr/>
        </p:nvSpPr>
        <p:spPr bwMode="gray">
          <a:xfrm>
            <a:off x="649385" y="1780666"/>
            <a:ext cx="11053761"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、菜单点击</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“问题分析”</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，选择</a:t>
            </a:r>
            <a:r>
              <a:rPr lang="zh-CN" altLang="en-US" sz="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“高干扰”</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，点击原始问题列表</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查看问题列表，点击</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问题名称超链接，跳转</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到问题详情</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页面。</a:t>
            </a:r>
            <a:endPar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982302" y="2103875"/>
            <a:ext cx="6566064" cy="3046180"/>
          </a:xfrm>
          <a:prstGeom prst="rect">
            <a:avLst/>
          </a:prstGeom>
        </p:spPr>
      </p:pic>
      <p:sp>
        <p:nvSpPr>
          <p:cNvPr id="18" name="矩形 17"/>
          <p:cNvSpPr/>
          <p:nvPr/>
        </p:nvSpPr>
        <p:spPr bwMode="gray">
          <a:xfrm>
            <a:off x="982302" y="3784322"/>
            <a:ext cx="1268200" cy="359310"/>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bwMode="gray">
          <a:xfrm>
            <a:off x="4498500" y="2753876"/>
            <a:ext cx="1503870" cy="790602"/>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矩形 21"/>
          <p:cNvSpPr/>
          <p:nvPr/>
        </p:nvSpPr>
        <p:spPr bwMode="gray">
          <a:xfrm>
            <a:off x="2742609" y="4573249"/>
            <a:ext cx="1581789" cy="224994"/>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99284183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案例</a:t>
            </a:r>
            <a:r>
              <a:rPr lang="en-US" altLang="zh-CN" dirty="0" smtClean="0">
                <a:sym typeface="Huawei Sans" panose="020C0503030203020204" pitchFamily="34" charset="0"/>
              </a:rPr>
              <a:t>16</a:t>
            </a:r>
            <a:r>
              <a:rPr lang="zh-CN" altLang="en-US" dirty="0">
                <a:sym typeface="Huawei Sans" panose="020C0503030203020204" pitchFamily="34" charset="0"/>
              </a:rPr>
              <a:t>：干扰源定位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16" name="文本框 15"/>
          <p:cNvSpPr txBox="1"/>
          <p:nvPr/>
        </p:nvSpPr>
        <p:spPr bwMode="gray">
          <a:xfrm>
            <a:off x="657225" y="1014804"/>
            <a:ext cx="3829934"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、进入高干扰问题分析详情，查询具体干扰源信息</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invGray">
          <a:xfrm>
            <a:off x="952108" y="1291803"/>
            <a:ext cx="10058400" cy="4547126"/>
          </a:xfrm>
          <a:prstGeom prst="rect">
            <a:avLst/>
          </a:prstGeom>
        </p:spPr>
      </p:pic>
      <p:sp>
        <p:nvSpPr>
          <p:cNvPr id="19" name="文本框 18"/>
          <p:cNvSpPr txBox="1"/>
          <p:nvPr/>
        </p:nvSpPr>
        <p:spPr bwMode="gray">
          <a:xfrm>
            <a:off x="6096000" y="1333532"/>
            <a:ext cx="1569165" cy="276999"/>
          </a:xfrm>
          <a:prstGeom prst="rect">
            <a:avLst/>
          </a:prstGeom>
          <a:solidFill>
            <a:schemeClr val="bg1">
              <a:lumMod val="50000"/>
            </a:schemeClr>
          </a:solid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高干扰问题基本信息</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bwMode="gray">
          <a:xfrm>
            <a:off x="4957909" y="4406236"/>
            <a:ext cx="971552" cy="583213"/>
          </a:xfrm>
          <a:prstGeom prst="rect">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文本框 20"/>
          <p:cNvSpPr txBox="1"/>
          <p:nvPr/>
        </p:nvSpPr>
        <p:spPr bwMode="gray">
          <a:xfrm>
            <a:off x="6096000" y="4153394"/>
            <a:ext cx="1569165" cy="276999"/>
          </a:xfrm>
          <a:prstGeom prst="rect">
            <a:avLst/>
          </a:prstGeom>
          <a:solidFill>
            <a:schemeClr val="bg1">
              <a:lumMod val="50000"/>
            </a:schemeClr>
          </a:solidFill>
        </p:spPr>
        <p:txBody>
          <a:bodyPr vert="horz" wrap="square" rtlCol="0">
            <a:spAutoFit/>
          </a:bodyPr>
          <a:lstStyle/>
          <a:p>
            <a:r>
              <a:rPr lang="zh-CN" altLang="en-US"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呈现干扰源及其位置</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文本框 21"/>
          <p:cNvSpPr txBox="1"/>
          <p:nvPr/>
        </p:nvSpPr>
        <p:spPr bwMode="gray">
          <a:xfrm>
            <a:off x="657225" y="5923776"/>
            <a:ext cx="11286536" cy="276999"/>
          </a:xfrm>
          <a:prstGeom prst="rect">
            <a:avLst/>
          </a:prstGeom>
          <a:noFill/>
        </p:spPr>
        <p:txBody>
          <a:bodyPr vert="horz" wrap="square" rtlCol="0">
            <a:spAutoFit/>
          </a:bodyPr>
          <a:lstStyle/>
          <a:p>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、查看</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问题可能原因：外部干扰源（比如运营商或私设的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热点、蓝牙或微波炉等非</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设备）造成</a:t>
            </a:r>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干扰。</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2005300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smtClean="0">
                <a:sym typeface="Huawei Sans" panose="020C0503030203020204" pitchFamily="34" charset="0"/>
              </a:rPr>
              <a:t>(</a:t>
            </a:r>
            <a:r>
              <a:rPr lang="zh-CN" altLang="en-US" dirty="0" smtClean="0">
                <a:sym typeface="Huawei Sans" panose="020C0503030203020204" pitchFamily="34" charset="0"/>
              </a:rPr>
              <a:t>多选题</a:t>
            </a:r>
            <a:r>
              <a:rPr lang="en-US" altLang="zh-CN" dirty="0" smtClean="0">
                <a:sym typeface="Huawei Sans" panose="020C0503030203020204" pitchFamily="34" charset="0"/>
              </a:rPr>
              <a:t>)</a:t>
            </a:r>
            <a:r>
              <a:rPr lang="en-US" altLang="zh-CN" dirty="0" err="1" smtClean="0">
                <a:sym typeface="Huawei Sans" panose="020C0503030203020204" pitchFamily="34" charset="0"/>
              </a:rPr>
              <a:t>CampusInsight</a:t>
            </a:r>
            <a:r>
              <a:rPr lang="zh-CN" altLang="en-US" dirty="0" smtClean="0">
                <a:sym typeface="Huawei Sans" panose="020C0503030203020204" pitchFamily="34" charset="0"/>
              </a:rPr>
              <a:t>可以实现以下哪些选项的功能？</a:t>
            </a:r>
            <a:r>
              <a:rPr lang="en-US" altLang="zh-CN" dirty="0" smtClean="0">
                <a:sym typeface="Huawei Sans" panose="020C0503030203020204" pitchFamily="34" charset="0"/>
              </a:rPr>
              <a:t>(     )</a:t>
            </a:r>
          </a:p>
          <a:p>
            <a:pPr lvl="1"/>
            <a:r>
              <a:rPr lang="zh-CN" altLang="en-US" dirty="0" smtClean="0">
                <a:sym typeface="Huawei Sans" panose="020C0503030203020204" pitchFamily="34" charset="0"/>
              </a:rPr>
              <a:t>网络健康度评估</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有线用户体验可视</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协议回放定位无线接入问题</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分钟级故障定位</a:t>
            </a:r>
            <a:endParaRPr lang="zh-CN" altLang="en-US" dirty="0">
              <a:sym typeface="Huawei Sans" panose="020C0503030203020204" pitchFamily="34" charset="0"/>
            </a:endParaRPr>
          </a:p>
        </p:txBody>
      </p:sp>
    </p:spTree>
    <p:extLst>
      <p:ext uri="{BB962C8B-B14F-4D97-AF65-F5344CB8AC3E}">
        <p14:creationId xmlns:p14="http://schemas.microsoft.com/office/powerpoint/2010/main" val="290082105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smtClean="0">
                <a:sym typeface="Huawei Sans" panose="020C0503030203020204" pitchFamily="34" charset="0"/>
              </a:rPr>
              <a:t>CampusInsight</a:t>
            </a:r>
            <a:r>
              <a:rPr lang="zh-CN" altLang="en-US" dirty="0">
                <a:sym typeface="Huawei Sans" panose="020C0503030203020204" pitchFamily="34" charset="0"/>
              </a:rPr>
              <a:t>是华为推出的园区网络分析器，使用大数据分析技术和机器学习算法，旨在通过每时刻每用户的数据分析，提供卓越的网络服务保障</a:t>
            </a:r>
            <a:r>
              <a:rPr lang="zh-CN" altLang="en-US" dirty="0" smtClean="0">
                <a:sym typeface="Huawei Sans" panose="020C0503030203020204" pitchFamily="34" charset="0"/>
              </a:rPr>
              <a:t>体验。</a:t>
            </a:r>
            <a:endParaRPr lang="en-US" altLang="zh-CN" dirty="0" smtClean="0">
              <a:sym typeface="Huawei Sans" panose="020C0503030203020204" pitchFamily="34" charset="0"/>
            </a:endParaRPr>
          </a:p>
          <a:p>
            <a:r>
              <a:rPr lang="en-US" altLang="zh-CN" dirty="0" smtClean="0">
                <a:sym typeface="Huawei Sans" panose="020C0503030203020204" pitchFamily="34" charset="0"/>
              </a:rPr>
              <a:t>CampusInsight</a:t>
            </a:r>
            <a:r>
              <a:rPr lang="zh-CN" altLang="en-US" dirty="0" smtClean="0">
                <a:sym typeface="Huawei Sans" panose="020C0503030203020204" pitchFamily="34" charset="0"/>
              </a:rPr>
              <a:t>能够实现实时体验可视、分钟级故障定位、智能网络调优，本课程介绍了</a:t>
            </a:r>
            <a:r>
              <a:rPr lang="en-US" altLang="zh-CN" dirty="0" smtClean="0">
                <a:sym typeface="Huawei Sans" panose="020C0503030203020204" pitchFamily="34" charset="0"/>
              </a:rPr>
              <a:t>CampusInsight</a:t>
            </a:r>
            <a:r>
              <a:rPr lang="zh-CN" altLang="en-US" dirty="0" smtClean="0">
                <a:sym typeface="Huawei Sans" panose="020C0503030203020204" pitchFamily="34" charset="0"/>
              </a:rPr>
              <a:t>的主要功能及应用案例，包括有线无线网络健康度、个障及群障分析、智能调优、无线定位、干扰源定位等。</a:t>
            </a:r>
            <a:endParaRPr lang="zh-CN" altLang="en-US" dirty="0">
              <a:sym typeface="Huawei Sans" panose="020C0503030203020204" pitchFamily="34" charset="0"/>
            </a:endParaRPr>
          </a:p>
        </p:txBody>
      </p:sp>
    </p:spTree>
    <p:extLst>
      <p:ext uri="{BB962C8B-B14F-4D97-AF65-F5344CB8AC3E}">
        <p14:creationId xmlns:p14="http://schemas.microsoft.com/office/powerpoint/2010/main" val="308396191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10568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5"/>
</p:tagLst>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7850B9B3-0874-4345-B0B5-48D0CF5E6807}"/>
</file>

<file path=customXml/itemProps3.xml><?xml version="1.0" encoding="utf-8"?>
<ds:datastoreItem xmlns:ds="http://schemas.openxmlformats.org/officeDocument/2006/customXml" ds:itemID="{DA5960F2-6186-408B-A0DC-5CA5E58B604F}">
  <ds:schemaRefs>
    <ds:schemaRef ds:uri="475f1e55-3009-46d8-9566-5d569a2b3a98"/>
    <ds:schemaRef ds:uri="http://purl.org/dc/terms/"/>
    <ds:schemaRef ds:uri="http://schemas.microsoft.com/office/2006/documentManagement/types"/>
    <ds:schemaRef ds:uri="http://purl.org/dc/elements/1.1/"/>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11862</TotalTime>
  <Words>12005</Words>
  <Application>Microsoft Office PowerPoint</Application>
  <PresentationFormat>宽屏</PresentationFormat>
  <Paragraphs>1323</Paragraphs>
  <Slides>93</Slides>
  <Notes>93</Notes>
  <HiddenSlides>1</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93</vt:i4>
      </vt:variant>
    </vt:vector>
  </HeadingPairs>
  <TitlesOfParts>
    <vt:vector size="104" baseType="lpstr">
      <vt:lpstr>FZLanTingHeiS-DB1-GBK</vt:lpstr>
      <vt:lpstr>方正兰亭黑简体</vt:lpstr>
      <vt:lpstr>Microsoft YaHei</vt:lpstr>
      <vt:lpstr>Microsoft YaHei</vt:lpstr>
      <vt:lpstr>Arial</vt:lpstr>
      <vt:lpstr>Huawei Sans</vt:lpstr>
      <vt:lpstr>Wingdings</vt:lpstr>
      <vt:lpstr>1_标题页模板</vt:lpstr>
      <vt:lpstr>2_功能页模板</vt:lpstr>
      <vt:lpstr>3_内容页模板</vt:lpstr>
      <vt:lpstr>4_感谢页模板</vt:lpstr>
      <vt:lpstr>PowerPoint 演示文稿</vt:lpstr>
      <vt:lpstr>园区网络智能运维</vt:lpstr>
      <vt:lpstr>PowerPoint 演示文稿</vt:lpstr>
      <vt:lpstr>PowerPoint 演示文稿</vt:lpstr>
      <vt:lpstr>PowerPoint 演示文稿</vt:lpstr>
      <vt:lpstr>园区网络运维面临的挑战</vt:lpstr>
      <vt:lpstr>园区网络运维需求：AI智能运维</vt:lpstr>
      <vt:lpstr>CampusInsight：基于预测性和AI提升用户和业务体验</vt:lpstr>
      <vt:lpstr>CampusInsight：构建全栈智能运维</vt:lpstr>
      <vt:lpstr>CampusInsight：逻辑架构</vt:lpstr>
      <vt:lpstr>CampusInsight：外部接口</vt:lpstr>
      <vt:lpstr>CampusInsight：数据处理流程</vt:lpstr>
      <vt:lpstr>CampusInsight部署：独立部署模式 (本地部署场景)</vt:lpstr>
      <vt:lpstr>CampusInsight部署：CloudCampus模式 (本地部署场景)</vt:lpstr>
      <vt:lpstr>CampusInsight部署：CloudCampus模式 (华为公有云场景)</vt:lpstr>
      <vt:lpstr>CampusInsight部署：CloudCampus模式 (MSP自建云场景)</vt:lpstr>
      <vt:lpstr>PowerPoint 演示文稿</vt:lpstr>
      <vt:lpstr>基于Telemetry技术，满足实时分析诉求</vt:lpstr>
      <vt:lpstr>无线网络Telemetry指标监控</vt:lpstr>
      <vt:lpstr>有线网络Telemetry指标监控</vt:lpstr>
      <vt:lpstr>PowerPoint 演示文稿</vt:lpstr>
      <vt:lpstr>园区网络健康度：直观感知网络质量</vt:lpstr>
      <vt:lpstr>楼宇拓扑：基于楼宇呈现关键KPI及网络问题</vt:lpstr>
      <vt:lpstr>多维网络健康度评估模型，全方位评价网络体验</vt:lpstr>
      <vt:lpstr>案例1：无线网络健康度</vt:lpstr>
      <vt:lpstr>案例2：有线网络健康度</vt:lpstr>
      <vt:lpstr>质量评估报告：实时或定期生成，优化有据可依</vt:lpstr>
      <vt:lpstr>案例3：质量评估报告</vt:lpstr>
      <vt:lpstr>射频热图：网络覆盖仿真直观可视</vt:lpstr>
      <vt:lpstr>案例4：射频热图 (1)</vt:lpstr>
      <vt:lpstr>案例4：射频热图 (2)</vt:lpstr>
      <vt:lpstr>频谱分析 (1)</vt:lpstr>
      <vt:lpstr>频谱分析 (2)</vt:lpstr>
      <vt:lpstr>终端拨测 (1)</vt:lpstr>
      <vt:lpstr>终端拨测 (2)</vt:lpstr>
      <vt:lpstr>拨测报告：实时网络诊断，智能问题分析</vt:lpstr>
      <vt:lpstr>PowerPoint 演示文稿</vt:lpstr>
      <vt:lpstr>CampusInsight：个障分析 &amp; 群障分析</vt:lpstr>
      <vt:lpstr>CampusInsight：故障推理</vt:lpstr>
      <vt:lpstr>CampusInsight：从四个方面智能分析个体性问题</vt:lpstr>
      <vt:lpstr>用户旅程：每用户每时刻实时体验可视</vt:lpstr>
      <vt:lpstr>案例5：Wi-Fi用户体验可视 (1)</vt:lpstr>
      <vt:lpstr>案例5：Wi-Fi用户体验可视 (2)</vt:lpstr>
      <vt:lpstr>案例5：Wi-Fi用户体验可视 (3)</vt:lpstr>
      <vt:lpstr>协议回放：分钟级定位接入故障根因</vt:lpstr>
      <vt:lpstr>案例6：定位无线接入问题 (1)</vt:lpstr>
      <vt:lpstr>案例6：定位无线接入问题 (2)</vt:lpstr>
      <vt:lpstr>用户Wi-Fi体验劣化相关性分析 (1)</vt:lpstr>
      <vt:lpstr>用户Wi-Fi体验劣化相关性分析 (2)</vt:lpstr>
      <vt:lpstr>应用分析：基于应用的端到端体验感知及保障</vt:lpstr>
      <vt:lpstr>应用识别与流量分析 (1)</vt:lpstr>
      <vt:lpstr>应用识别与流量分析 (2)</vt:lpstr>
      <vt:lpstr>应用体验感知与质差分析</vt:lpstr>
      <vt:lpstr>案例7：应用质量感知与故障定界 (1)</vt:lpstr>
      <vt:lpstr>案例7：应用质量感知与故障定界 (2)</vt:lpstr>
      <vt:lpstr>CampusInsight：智能分析四类群体性问题</vt:lpstr>
      <vt:lpstr>CampusInsight：智能识别四类典型问题 (1)</vt:lpstr>
      <vt:lpstr>CampusInsight：智能识别四类典型问题 (2)</vt:lpstr>
      <vt:lpstr>连接类问题分析</vt:lpstr>
      <vt:lpstr>案例8：连接类问题分析 (1)</vt:lpstr>
      <vt:lpstr>案例8：连接类问题分析 (2)</vt:lpstr>
      <vt:lpstr>弱信号覆盖问题解决信号覆盖类问题</vt:lpstr>
      <vt:lpstr>案例9：弱信号覆盖问题分析 (1)</vt:lpstr>
      <vt:lpstr>案例9：弱信号覆盖问题分析 (2)</vt:lpstr>
      <vt:lpstr>高干扰问题解决干扰类问题 (1)</vt:lpstr>
      <vt:lpstr>高干扰问题解决干扰类问题 (2)</vt:lpstr>
      <vt:lpstr>案例10：高干扰问题分析 (1)</vt:lpstr>
      <vt:lpstr>案例10：高干扰问题分析 (2)</vt:lpstr>
      <vt:lpstr>二层环路问题</vt:lpstr>
      <vt:lpstr>案例11：二层环路问题分析 (1)</vt:lpstr>
      <vt:lpstr>案例11：二层环路问题分析 (2)</vt:lpstr>
      <vt:lpstr>端口误包问题</vt:lpstr>
      <vt:lpstr>案例12：端口误包问题分析 (1)</vt:lpstr>
      <vt:lpstr>案例12：端口误包问题分析 (2)</vt:lpstr>
      <vt:lpstr>端口闪断问题</vt:lpstr>
      <vt:lpstr>案例13：端口闪断问题分析 (1)</vt:lpstr>
      <vt:lpstr>案例13：端口闪断问题分析 (2)</vt:lpstr>
      <vt:lpstr>PowerPoint 演示文稿</vt:lpstr>
      <vt:lpstr>AI加持的智能无线射频调优，提升整网性能</vt:lpstr>
      <vt:lpstr>场景1：基于神经网络仿真反馈给出最佳信道规划建议</vt:lpstr>
      <vt:lpstr>场景2：基于AI的预测性调优</vt:lpstr>
      <vt:lpstr>案例14：基于AI的预测性调优 (1)</vt:lpstr>
      <vt:lpstr>案例14：基于AI的预测性调优 (2)</vt:lpstr>
      <vt:lpstr>PowerPoint 演示文稿</vt:lpstr>
      <vt:lpstr>无线定位：基于终端位置的精细化运维</vt:lpstr>
      <vt:lpstr>干扰源定位</vt:lpstr>
      <vt:lpstr>案例15：无线定位 (1)</vt:lpstr>
      <vt:lpstr>案例15：无线定位 (2)</vt:lpstr>
      <vt:lpstr>案例16：干扰源定位 (1)</vt:lpstr>
      <vt:lpstr>案例16：干扰源定位 (2)</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1466</cp:revision>
  <cp:lastPrinted>2020-07-31T09:33:18Z</cp:lastPrinted>
  <dcterms:created xsi:type="dcterms:W3CDTF">2018-11-29T10:16:29Z</dcterms:created>
  <dcterms:modified xsi:type="dcterms:W3CDTF">2021-11-15T01:00:55Z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(3)4l9O0AOUe+j6kF7R0gSTa/mE1b+OSVhDzOO8NPM+nN0P15QaSv0Edbw7Rpi3fsvWh1wT0iwj
wsNi64vDuZxjRKrnP4gOR8imlKkyysgxpPh+JkX/B2aT4gM6kL88Dj8lVFdVe/xBbjXECOZ+
YvYmaKjz2k/1L7kDnvvwi4rUCyNcD0g8UqIwf1B/KqqDwC45cbmi4w6zDn5q3EXkCcT5O8sq
FYEo/gNVCyrBlV5kIx</vt:lpwstr>
  </property>
  <property fmtid="{D5CDD505-2E9C-101B-9397-08002B2CF9AE}" pid="3" name="_2015_ms_pID_7253431">
    <vt:lpwstr>D5P8hbGV7NQmgZeeuGOz30PwwiBGbySZa+Lfxdl1Ln6LhKuaDaio7L
AmeyH7njn+QniEm3B4U0Yp13eR37TUjt/1xy8ihKj/8wLCsujgQArc++yIGzv5L8X8x8Q14/
vVf1eEu0fGnNnWi0DIUsWxLoCnPtxbq/s2SVpBBnBPwigu6Sj93NN8HjkhxBEyIWeuml60hs
nvfxNB/4sCEgJkMLXaZOmVjalGriLE2Qe5vr</vt:lpwstr>
  </property>
  <property fmtid="{D5CDD505-2E9C-101B-9397-08002B2CF9AE}" pid="4" name="_2015_ms_pID_7253432">
    <vt:lpwstr>UYuD7ZWr2xFVJcBTscIjIys=</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1636331523</vt:lpwstr>
  </property>
</Properties>
</file>