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70"/>
  </p:notesMasterIdLst>
  <p:handoutMasterIdLst>
    <p:handoutMasterId r:id="rId71"/>
  </p:handoutMasterIdLst>
  <p:sldIdLst>
    <p:sldId id="257" r:id="rId8"/>
    <p:sldId id="258"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342" r:id="rId66"/>
    <p:sldId id="343" r:id="rId67"/>
    <p:sldId id="344" r:id="rId68"/>
    <p:sldId id="284" r:id="rId69"/>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69" userDrawn="1">
          <p15:clr>
            <a:srgbClr val="A4A3A4"/>
          </p15:clr>
        </p15:guide>
        <p15:guide id="4" orient="horz" pos="2137"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2"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DAE2"/>
    <a:srgbClr val="30B5C5"/>
    <a:srgbClr val="56C4D2"/>
    <a:srgbClr val="BEE9EE"/>
    <a:srgbClr val="FEEEC1"/>
    <a:srgbClr val="D0E8C4"/>
    <a:srgbClr val="D9D9D9"/>
    <a:srgbClr val="C7000B"/>
    <a:srgbClr val="CB3778"/>
    <a:srgbClr val="FAD3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18" autoAdjust="0"/>
  </p:normalViewPr>
  <p:slideViewPr>
    <p:cSldViewPr snapToGrid="0" snapToObjects="1">
      <p:cViewPr varScale="1">
        <p:scale>
          <a:sx n="109" d="100"/>
          <a:sy n="109" d="100"/>
        </p:scale>
        <p:origin x="1968" y="108"/>
      </p:cViewPr>
      <p:guideLst>
        <p:guide pos="5269"/>
        <p:guide orient="horz" pos="213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4248"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10/15/2021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6403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140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2459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55404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完美前向保密（</a:t>
            </a:r>
            <a:r>
              <a:rPr lang="en-US" altLang="zh-CN" smtClean="0"/>
              <a:t>Perfect Forward Secrecy</a:t>
            </a:r>
            <a:r>
              <a:rPr lang="zh-CN" altLang="en-US" smtClean="0"/>
              <a:t>，</a:t>
            </a:r>
            <a:r>
              <a:rPr lang="en-US" altLang="zh-CN" smtClean="0"/>
              <a:t>PFS</a:t>
            </a:r>
            <a:r>
              <a:rPr lang="zh-CN" altLang="en-US" smtClean="0"/>
              <a:t>），是安全通讯协议中的一种属性，</a:t>
            </a:r>
            <a:r>
              <a:rPr lang="en-US" altLang="zh-CN" smtClean="0"/>
              <a:t>PFS</a:t>
            </a:r>
            <a:r>
              <a:rPr lang="zh-CN" altLang="en-US" smtClean="0"/>
              <a:t>由</a:t>
            </a:r>
            <a:r>
              <a:rPr lang="en-US" altLang="zh-CN" smtClean="0"/>
              <a:t>Christoph G. Günther</a:t>
            </a:r>
            <a:r>
              <a:rPr lang="zh-CN" altLang="en-US" smtClean="0"/>
              <a:t>在</a:t>
            </a:r>
            <a:r>
              <a:rPr lang="en-US" altLang="zh-CN" smtClean="0"/>
              <a:t>1990</a:t>
            </a:r>
            <a:r>
              <a:rPr lang="zh-CN" altLang="en-US" smtClean="0"/>
              <a:t>年提出，其最初用于定义会话密钥交换协议的一种安全性，指的是用来产生会话密钥的长期密钥（</a:t>
            </a:r>
            <a:r>
              <a:rPr lang="en-US" altLang="zh-CN" smtClean="0"/>
              <a:t>long-term key</a:t>
            </a:r>
            <a:r>
              <a:rPr lang="zh-CN" altLang="en-US" smtClean="0"/>
              <a:t>，通常为私钥或者相关认证材料）的泄露，不会导致过去的会话密钥（</a:t>
            </a:r>
            <a:r>
              <a:rPr lang="en-US" altLang="zh-CN" smtClean="0"/>
              <a:t>session key</a:t>
            </a:r>
            <a:r>
              <a:rPr lang="zh-CN" altLang="en-US" smtClean="0"/>
              <a:t>）泄漏。前向保密能够保护历史通讯和会话不受密码或密钥在未来暴露的威胁，即使攻击者进行主动干预也是如此。</a:t>
            </a:r>
            <a:endParaRPr lang="en-US" altLang="zh-CN" smtClean="0"/>
          </a:p>
          <a:p>
            <a:pPr lvl="0"/>
            <a:r>
              <a:rPr lang="en-US" altLang="zh-CN" smtClean="0"/>
              <a:t>SSH</a:t>
            </a:r>
            <a:r>
              <a:rPr lang="zh-CN" altLang="en-US" smtClean="0"/>
              <a:t>传输层协议采用的</a:t>
            </a:r>
            <a:r>
              <a:rPr lang="en-US" altLang="zh-CN" smtClean="0"/>
              <a:t>Diffie-Hellman</a:t>
            </a:r>
            <a:r>
              <a:rPr lang="zh-CN" altLang="en-US" smtClean="0"/>
              <a:t>密钥交换算法可以提供完美的前向保密性（</a:t>
            </a:r>
            <a:r>
              <a:rPr lang="en-US" altLang="zh-CN" smtClean="0"/>
              <a:t>PFS</a:t>
            </a:r>
            <a:r>
              <a:rPr lang="zh-CN" altLang="en-US" smtClean="0"/>
              <a:t>）。</a:t>
            </a:r>
            <a:endParaRPr lang="en-US" altLang="zh-CN" smtClean="0"/>
          </a:p>
          <a:p>
            <a:pPr lvl="0"/>
            <a:r>
              <a:rPr lang="zh-CN" altLang="en-US" smtClean="0"/>
              <a:t>更多参考</a:t>
            </a:r>
            <a:r>
              <a:rPr lang="en-US" altLang="zh-CN" smtClean="0"/>
              <a:t>RFC4251 9.3.7 Forward Secrecy</a:t>
            </a:r>
            <a:r>
              <a:rPr lang="zh-CN" altLang="en-US" smtClean="0"/>
              <a:t>小节，</a:t>
            </a:r>
            <a:r>
              <a:rPr lang="en-US" altLang="zh-CN" smtClean="0"/>
              <a:t>https://www.ietf.org/rfc/rfc4251.txt</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36309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公钥是用来解密信息的，确保让别人知道这条信息是真的，是有自己本人发布的，是完整正确的。接收者由此可知这条信息确实来自于拥有私钥的某人，这被称作数字签名，公钥的形式就是数字证书。</a:t>
            </a:r>
            <a:endParaRPr lang="en-US" altLang="zh-CN" smtClean="0"/>
          </a:p>
          <a:p>
            <a:pPr lvl="0"/>
            <a:r>
              <a:rPr lang="zh-CN" altLang="en-US" smtClean="0"/>
              <a:t>当此协议启动时，它从</a:t>
            </a:r>
            <a:r>
              <a:rPr lang="en-US" altLang="zh-CN" smtClean="0"/>
              <a:t>SSH</a:t>
            </a:r>
            <a:r>
              <a:rPr lang="zh-CN" altLang="en-US" smtClean="0"/>
              <a:t>传输层协议接收会话</a:t>
            </a:r>
            <a:r>
              <a:rPr lang="en-US" altLang="zh-CN" smtClean="0"/>
              <a:t>ID</a:t>
            </a:r>
            <a:r>
              <a:rPr lang="zh-CN" altLang="en-US" smtClean="0"/>
              <a:t>。会话</a:t>
            </a:r>
            <a:r>
              <a:rPr lang="en-US" altLang="zh-CN" smtClean="0"/>
              <a:t>ID</a:t>
            </a:r>
            <a:r>
              <a:rPr lang="zh-CN" altLang="en-US" smtClean="0"/>
              <a:t>唯一标识一个会话，并且参与签名以证明私钥的所有权。</a:t>
            </a:r>
            <a:endParaRPr lang="en-US" altLang="zh-CN" smtClean="0"/>
          </a:p>
          <a:p>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68151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TCP/IP</a:t>
            </a:r>
            <a:r>
              <a:rPr lang="zh-CN" altLang="en-US" smtClean="0"/>
              <a:t>连接转发能够将其他</a:t>
            </a:r>
            <a:r>
              <a:rPr lang="en-US" altLang="zh-CN" smtClean="0"/>
              <a:t>TCP</a:t>
            </a:r>
            <a:r>
              <a:rPr lang="zh-CN" altLang="en-US" smtClean="0"/>
              <a:t>端口的网络数据通过</a:t>
            </a:r>
            <a:r>
              <a:rPr lang="en-US" altLang="zh-CN" smtClean="0"/>
              <a:t>SSH</a:t>
            </a:r>
            <a:r>
              <a:rPr lang="zh-CN" altLang="en-US" smtClean="0"/>
              <a:t>通道来转发，并保证了安全性。</a:t>
            </a:r>
            <a:endParaRPr lang="en-US" altLang="zh-CN" smtClean="0"/>
          </a:p>
          <a:p>
            <a:r>
              <a:rPr lang="en-US" altLang="zh-CN" smtClean="0"/>
              <a:t>Telnet</a:t>
            </a:r>
            <a:r>
              <a:rPr lang="zh-CN" altLang="en-US" smtClean="0"/>
              <a:t>、</a:t>
            </a:r>
            <a:r>
              <a:rPr lang="en-US" altLang="zh-CN" smtClean="0"/>
              <a:t>SMTP</a:t>
            </a:r>
            <a:r>
              <a:rPr lang="zh-CN" altLang="en-US" smtClean="0"/>
              <a:t>、</a:t>
            </a:r>
            <a:r>
              <a:rPr lang="en-US" altLang="zh-CN" smtClean="0"/>
              <a:t>IMAP</a:t>
            </a:r>
            <a:r>
              <a:rPr lang="zh-CN" altLang="en-US" smtClean="0"/>
              <a:t>和其他一些基于</a:t>
            </a:r>
            <a:r>
              <a:rPr lang="en-US" altLang="zh-CN" smtClean="0"/>
              <a:t>TCP/IP</a:t>
            </a:r>
            <a:r>
              <a:rPr lang="zh-CN" altLang="en-US" smtClean="0"/>
              <a:t>的不安全协议都可以通过</a:t>
            </a:r>
            <a:r>
              <a:rPr lang="en-US" altLang="zh-CN" smtClean="0"/>
              <a:t>SSH</a:t>
            </a:r>
            <a:r>
              <a:rPr lang="zh-CN" altLang="en-US" smtClean="0"/>
              <a:t>转发变得安全，避免了用户名，密码以及隐私信息的明文传输。此外，如果防火墙限制了一些网络端口的使用，但是允许</a:t>
            </a:r>
            <a:r>
              <a:rPr lang="en-US" altLang="zh-CN" smtClean="0"/>
              <a:t>SSH</a:t>
            </a:r>
            <a:r>
              <a:rPr lang="zh-CN" altLang="en-US" smtClean="0"/>
              <a:t>的连接，可以通过</a:t>
            </a:r>
            <a:r>
              <a:rPr lang="en-US" altLang="zh-CN" smtClean="0"/>
              <a:t>SSH TCP/IP</a:t>
            </a:r>
            <a:r>
              <a:rPr lang="zh-CN" altLang="en-US" smtClean="0"/>
              <a:t>连接转发进行通讯。</a:t>
            </a:r>
            <a:endParaRPr lang="en-US" altLang="zh-CN" smtClean="0"/>
          </a:p>
          <a:p>
            <a:r>
              <a:rPr lang="en-US" altLang="zh-CN" smtClean="0"/>
              <a:t>X11</a:t>
            </a:r>
            <a:r>
              <a:rPr lang="zh-CN" altLang="en-US" smtClean="0"/>
              <a:t>中的</a:t>
            </a:r>
            <a:r>
              <a:rPr lang="en-US" altLang="zh-CN" smtClean="0"/>
              <a:t>X</a:t>
            </a:r>
            <a:r>
              <a:rPr lang="zh-CN" altLang="en-US" smtClean="0"/>
              <a:t>是</a:t>
            </a:r>
            <a:r>
              <a:rPr lang="en-US" altLang="zh-CN" smtClean="0"/>
              <a:t>X</a:t>
            </a:r>
            <a:r>
              <a:rPr lang="zh-CN" altLang="en-US" smtClean="0"/>
              <a:t>协议，</a:t>
            </a:r>
            <a:r>
              <a:rPr lang="en-US" altLang="zh-CN" smtClean="0"/>
              <a:t>11</a:t>
            </a:r>
            <a:r>
              <a:rPr lang="zh-CN" altLang="en-US" smtClean="0"/>
              <a:t>是</a:t>
            </a:r>
            <a:r>
              <a:rPr lang="en-US" altLang="zh-CN" smtClean="0"/>
              <a:t>X</a:t>
            </a:r>
            <a:r>
              <a:rPr lang="zh-CN" altLang="en-US" smtClean="0"/>
              <a:t>协议的第</a:t>
            </a:r>
            <a:r>
              <a:rPr lang="en-US" altLang="zh-CN" smtClean="0"/>
              <a:t>11</a:t>
            </a:r>
            <a:r>
              <a:rPr lang="zh-CN" altLang="en-US" smtClean="0"/>
              <a:t>个版本。</a:t>
            </a:r>
            <a:r>
              <a:rPr lang="en-US" altLang="zh-CN" smtClean="0"/>
              <a:t>Linux</a:t>
            </a:r>
            <a:r>
              <a:rPr lang="zh-CN" altLang="en-US" smtClean="0"/>
              <a:t>的图形化界面，底层都是基于</a:t>
            </a:r>
            <a:r>
              <a:rPr lang="en-US" altLang="zh-CN" smtClean="0"/>
              <a:t>X</a:t>
            </a:r>
            <a:r>
              <a:rPr lang="zh-CN" altLang="en-US" smtClean="0"/>
              <a:t>协议。当需要与</a:t>
            </a:r>
            <a:r>
              <a:rPr lang="en-US" altLang="zh-CN" smtClean="0"/>
              <a:t>linux</a:t>
            </a:r>
            <a:r>
              <a:rPr lang="zh-CN" altLang="en-US" smtClean="0"/>
              <a:t>服务器上的图形化应用程序进行远程交互时，一种加强通讯安全的方法就是使用</a:t>
            </a:r>
            <a:r>
              <a:rPr lang="en-US" altLang="zh-CN" smtClean="0"/>
              <a:t>SSH</a:t>
            </a:r>
            <a:r>
              <a:rPr lang="zh-CN" altLang="en-US" smtClean="0"/>
              <a:t>通过</a:t>
            </a:r>
            <a:r>
              <a:rPr lang="en-US" altLang="zh-CN" smtClean="0"/>
              <a:t>X11</a:t>
            </a:r>
            <a:r>
              <a:rPr lang="zh-CN" altLang="en-US" smtClean="0"/>
              <a:t>隧道转发，将图形界面投射到客户端本地。</a:t>
            </a:r>
            <a:endParaRPr lang="en-US" altLang="zh-CN" smtClean="0"/>
          </a:p>
          <a:p>
            <a:r>
              <a:rPr lang="zh-CN" altLang="en-US" smtClean="0"/>
              <a:t>会话是程序的远程执行。程序可以是</a:t>
            </a:r>
            <a:r>
              <a:rPr lang="en-US" altLang="zh-CN" smtClean="0"/>
              <a:t>shell</a:t>
            </a:r>
            <a:r>
              <a:rPr lang="zh-CN" altLang="en-US" smtClean="0"/>
              <a:t>、应用程序、系统命令或一些内置的子系统。多个会话通道可以同时处于活动状态。交互式登录会话可以是</a:t>
            </a:r>
            <a:r>
              <a:rPr lang="en-US" altLang="zh-CN" smtClean="0"/>
              <a:t>invoker_shell()</a:t>
            </a:r>
            <a:r>
              <a:rPr lang="zh-CN" altLang="en-US" smtClean="0"/>
              <a:t>方法，远程执行命令可以是</a:t>
            </a:r>
            <a:r>
              <a:rPr lang="en-US" altLang="zh-CN" smtClean="0"/>
              <a:t>exec_command()</a:t>
            </a:r>
            <a:r>
              <a:rPr lang="zh-CN" altLang="en-US" smtClean="0"/>
              <a:t>方法，后文会详细介绍。</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59310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0338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9461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服务端打开端口</a:t>
            </a:r>
            <a:r>
              <a:rPr lang="en-US" altLang="zh-CN" smtClean="0"/>
              <a:t>22</a:t>
            </a:r>
            <a:r>
              <a:rPr lang="zh-CN" altLang="en-US" smtClean="0"/>
              <a:t>，等待客户连接。 客户端向服务端发起</a:t>
            </a:r>
            <a:r>
              <a:rPr lang="en-US" altLang="zh-CN" smtClean="0"/>
              <a:t>TCP</a:t>
            </a:r>
            <a:r>
              <a:rPr lang="zh-CN" altLang="en-US" smtClean="0"/>
              <a:t>连接，双方完成握手并建立连接。 客户端向服务端发送第一个报文，包括版本标志字符串，格式为 “协议版本号 次协议版本号 软件版本号”。 服务端收到报文后，解析协议版本号，如果客户端的协议版本号比自己的低，且服务端能支持客户端的低版本，就使用客户端的协议号，否则使用自己的协议版本号。</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2135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算法协商过程为：从客户端的算法列表取出第一个算法，服务器在自身的算法列表中查找，若匹配上相同的算法，则协商成功，继续协商下一种算法；否则继续从客户端的该种算法列表中取出下一个算法，在服务器端的算法列表中匹配，直到匹配成功。</a:t>
            </a:r>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31908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客户端和服务器首先约定两个公开的质数</a:t>
            </a:r>
            <a:r>
              <a:rPr lang="en-US" altLang="zh-CN" smtClean="0"/>
              <a:t>p</a:t>
            </a:r>
            <a:r>
              <a:rPr lang="zh-CN" altLang="en-US" smtClean="0"/>
              <a:t>和</a:t>
            </a:r>
            <a:r>
              <a:rPr lang="en-US" altLang="zh-CN" smtClean="0"/>
              <a:t>g</a:t>
            </a:r>
            <a:r>
              <a:rPr lang="zh-CN" altLang="en-US" smtClean="0"/>
              <a:t>。</a:t>
            </a:r>
            <a:endParaRPr lang="en-US" altLang="zh-CN" smtClean="0"/>
          </a:p>
          <a:p>
            <a:pPr lvl="0"/>
            <a:r>
              <a:rPr lang="zh-CN" altLang="en-US" smtClean="0"/>
              <a:t>客户端和服务器各自随机产生一个数</a:t>
            </a:r>
            <a:r>
              <a:rPr lang="en-US" altLang="zh-CN" smtClean="0"/>
              <a:t>Xc</a:t>
            </a:r>
            <a:r>
              <a:rPr lang="zh-CN" altLang="en-US" smtClean="0"/>
              <a:t>，</a:t>
            </a:r>
            <a:r>
              <a:rPr lang="en-US" altLang="zh-CN" smtClean="0"/>
              <a:t>Xs</a:t>
            </a:r>
            <a:r>
              <a:rPr lang="zh-CN" altLang="en-US" smtClean="0"/>
              <a:t>，作为自己的私钥。</a:t>
            </a:r>
            <a:endParaRPr lang="en-US" altLang="zh-CN" smtClean="0"/>
          </a:p>
          <a:p>
            <a:pPr lvl="0"/>
            <a:r>
              <a:rPr lang="zh-CN" altLang="en-US" smtClean="0"/>
              <a:t>各自计算出自己的公钥</a:t>
            </a:r>
            <a:r>
              <a:rPr lang="en-US" altLang="zh-CN" smtClean="0"/>
              <a:t>Yc</a:t>
            </a:r>
            <a:r>
              <a:rPr lang="zh-CN" altLang="en-US" smtClean="0"/>
              <a:t>，</a:t>
            </a:r>
            <a:r>
              <a:rPr lang="en-US" altLang="zh-CN" smtClean="0"/>
              <a:t>Ys</a:t>
            </a:r>
            <a:r>
              <a:rPr lang="zh-CN" altLang="en-US" smtClean="0"/>
              <a:t>。</a:t>
            </a:r>
            <a:endParaRPr lang="en-US" altLang="zh-CN" smtClean="0"/>
          </a:p>
          <a:p>
            <a:pPr lvl="0"/>
            <a:r>
              <a:rPr lang="zh-CN" altLang="en-US" smtClean="0"/>
              <a:t>交换公钥</a:t>
            </a:r>
            <a:r>
              <a:rPr lang="en-US" altLang="zh-CN" smtClean="0"/>
              <a:t>Yc</a:t>
            </a:r>
            <a:r>
              <a:rPr lang="zh-CN" altLang="en-US" smtClean="0"/>
              <a:t>，</a:t>
            </a:r>
            <a:r>
              <a:rPr lang="en-US" altLang="zh-CN" smtClean="0"/>
              <a:t>Ys</a:t>
            </a:r>
            <a:r>
              <a:rPr lang="zh-CN" altLang="en-US" smtClean="0"/>
              <a:t>。</a:t>
            </a:r>
            <a:endParaRPr lang="en-US" altLang="zh-CN" smtClean="0"/>
          </a:p>
          <a:p>
            <a:pPr lvl="0"/>
            <a:r>
              <a:rPr lang="zh-CN" altLang="en-US" smtClean="0"/>
              <a:t>根据公私钥计算出加密用的会话密钥。</a:t>
            </a:r>
            <a:endParaRPr lang="en-US" altLang="zh-CN" smtClean="0"/>
          </a:p>
          <a:p>
            <a:pPr lvl="0"/>
            <a:r>
              <a:rPr lang="zh-CN" altLang="en-US" smtClean="0"/>
              <a:t>具体的密钥交换算法为</a:t>
            </a:r>
            <a:r>
              <a:rPr lang="en-US" altLang="zh-CN" smtClean="0"/>
              <a:t>DH</a:t>
            </a:r>
            <a:r>
              <a:rPr lang="zh-CN" altLang="en-US" smtClean="0"/>
              <a:t>算法，</a:t>
            </a:r>
            <a:r>
              <a:rPr lang="en-US" altLang="zh-CN" smtClean="0"/>
              <a:t>DH</a:t>
            </a:r>
            <a:r>
              <a:rPr lang="zh-CN" altLang="en-US" smtClean="0"/>
              <a:t>算法基于数学的离散对数，本课程不做展开。在密钥交换过程中私钥</a:t>
            </a:r>
            <a:r>
              <a:rPr lang="en-US" altLang="zh-CN" smtClean="0"/>
              <a:t>Xc</a:t>
            </a:r>
            <a:r>
              <a:rPr lang="zh-CN" altLang="en-US" smtClean="0"/>
              <a:t>，</a:t>
            </a:r>
            <a:r>
              <a:rPr lang="en-US" altLang="zh-CN" smtClean="0"/>
              <a:t>Xs</a:t>
            </a:r>
            <a:r>
              <a:rPr lang="zh-CN" altLang="en-US" smtClean="0"/>
              <a:t>始终是保密不传播的，且由于离散对数计算的困难性，其他用户即使获取了</a:t>
            </a:r>
            <a:r>
              <a:rPr lang="en-US" altLang="zh-CN" smtClean="0"/>
              <a:t>p</a:t>
            </a:r>
            <a:r>
              <a:rPr lang="zh-CN" altLang="en-US" smtClean="0"/>
              <a:t>，</a:t>
            </a:r>
            <a:r>
              <a:rPr lang="en-US" altLang="zh-CN" smtClean="0"/>
              <a:t>g</a:t>
            </a:r>
            <a:r>
              <a:rPr lang="zh-CN" altLang="en-US" smtClean="0"/>
              <a:t>，</a:t>
            </a:r>
            <a:r>
              <a:rPr lang="en-US" altLang="zh-CN" smtClean="0"/>
              <a:t>Yc</a:t>
            </a:r>
            <a:r>
              <a:rPr lang="zh-CN" altLang="en-US" smtClean="0"/>
              <a:t>，</a:t>
            </a:r>
            <a:r>
              <a:rPr lang="en-US" altLang="zh-CN" smtClean="0"/>
              <a:t>Ys</a:t>
            </a:r>
            <a:r>
              <a:rPr lang="zh-CN" altLang="en-US" smtClean="0"/>
              <a:t>也无法推断出私钥</a:t>
            </a:r>
            <a:r>
              <a:rPr lang="en-US" altLang="zh-CN" smtClean="0"/>
              <a:t>Xc</a:t>
            </a:r>
            <a:r>
              <a:rPr lang="zh-CN" altLang="en-US" smtClean="0"/>
              <a:t>，</a:t>
            </a:r>
            <a:r>
              <a:rPr lang="en-US" altLang="zh-CN" smtClean="0"/>
              <a:t>Xs</a:t>
            </a:r>
            <a:r>
              <a:rPr lang="zh-CN" altLang="en-US" smtClean="0"/>
              <a:t>，从而保证了会话密钥的安全性。</a:t>
            </a:r>
            <a:endParaRPr lang="en-US" altLang="zh-CN" smtClean="0"/>
          </a:p>
          <a:p>
            <a:pPr lvl="0"/>
            <a:r>
              <a:rPr lang="zh-CN" altLang="en-US" smtClean="0"/>
              <a:t>注意，该阶段产生的公私钥仅用于产生会话密钥，与后续用户认证无关。密钥交换阶段完成后，后续所有报文交互均为会话密钥加密过的报文。</a:t>
            </a:r>
          </a:p>
          <a:p>
            <a:pPr lvl="0"/>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54573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38660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00298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通道类型包括会话通道，</a:t>
            </a:r>
            <a:r>
              <a:rPr lang="en-US" altLang="zh-CN" dirty="0" smtClean="0"/>
              <a:t>x11</a:t>
            </a:r>
            <a:r>
              <a:rPr lang="zh-CN" altLang="en-US" dirty="0" smtClean="0"/>
              <a:t>通道，转发的</a:t>
            </a:r>
            <a:r>
              <a:rPr lang="en-US" altLang="zh-CN" dirty="0" err="1" smtClean="0"/>
              <a:t>tcp-ip</a:t>
            </a:r>
            <a:r>
              <a:rPr lang="zh-CN" altLang="en-US" dirty="0" smtClean="0"/>
              <a:t>通道，非转发的（直连的）</a:t>
            </a:r>
            <a:r>
              <a:rPr lang="en-US" altLang="zh-CN" dirty="0" err="1" smtClean="0"/>
              <a:t>tcp-ip</a:t>
            </a:r>
            <a:r>
              <a:rPr lang="zh-CN" altLang="en-US" dirty="0" smtClean="0"/>
              <a:t>通道。</a:t>
            </a:r>
            <a:endParaRPr lang="en-US" altLang="zh-CN" dirty="0" smtClean="0"/>
          </a:p>
          <a:p>
            <a:pPr lvl="0"/>
            <a:r>
              <a:rPr lang="zh-CN" altLang="en-US" dirty="0" smtClean="0"/>
              <a:t>更多参考</a:t>
            </a:r>
            <a:r>
              <a:rPr lang="en-US" altLang="zh-CN" dirty="0" smtClean="0"/>
              <a:t>RFC4250 4.9.1. Connection Protocol Channel Types</a:t>
            </a:r>
            <a:r>
              <a:rPr lang="zh-CN" altLang="en-US" dirty="0" smtClean="0"/>
              <a:t>小节，</a:t>
            </a:r>
            <a:r>
              <a:rPr lang="en-US" altLang="zh-CN" dirty="0" smtClean="0"/>
              <a:t>https://www.ietf.org/rfc/rfc4250.txt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51311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03958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在</a:t>
            </a:r>
            <a:r>
              <a:rPr lang="en-US" altLang="zh-CN" smtClean="0"/>
              <a:t>HCIA</a:t>
            </a:r>
            <a:r>
              <a:rPr lang="zh-CN" altLang="en-US" smtClean="0"/>
              <a:t>课程中我们学习了使用</a:t>
            </a:r>
            <a:r>
              <a:rPr lang="en-US" altLang="zh-CN" smtClean="0"/>
              <a:t>telnetlib</a:t>
            </a:r>
            <a:r>
              <a:rPr lang="zh-CN" altLang="en-US" smtClean="0"/>
              <a:t>模块进行</a:t>
            </a:r>
            <a:r>
              <a:rPr lang="en-US" altLang="zh-CN" smtClean="0"/>
              <a:t>telnet</a:t>
            </a:r>
            <a:r>
              <a:rPr lang="zh-CN" altLang="en-US" smtClean="0"/>
              <a:t>远程连接，在生产环境中更为推荐使用安全的</a:t>
            </a:r>
            <a:r>
              <a:rPr lang="en-US" altLang="zh-CN" smtClean="0"/>
              <a:t>paramiko</a:t>
            </a:r>
            <a:r>
              <a:rPr lang="zh-CN" altLang="en-US" smtClean="0"/>
              <a:t>模块进行</a:t>
            </a:r>
            <a:r>
              <a:rPr lang="en-US" altLang="zh-CN" smtClean="0"/>
              <a:t>SSH</a:t>
            </a:r>
            <a:r>
              <a:rPr lang="zh-CN" altLang="en-US" smtClean="0"/>
              <a:t>远程连接。</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07386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89481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en-US" altLang="zh-CN" smtClean="0"/>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32542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Channel</a:t>
            </a:r>
            <a:r>
              <a:rPr lang="zh-CN" altLang="en-US" smtClean="0"/>
              <a:t>类包含执行命令，请求</a:t>
            </a:r>
            <a:r>
              <a:rPr lang="en-US" altLang="zh-CN" smtClean="0"/>
              <a:t>X11</a:t>
            </a:r>
            <a:r>
              <a:rPr lang="zh-CN" altLang="en-US" smtClean="0"/>
              <a:t>会话，发送数据，打开交互式会话等方法。通常这些来自</a:t>
            </a:r>
            <a:r>
              <a:rPr lang="en-US" altLang="zh-CN" smtClean="0"/>
              <a:t>Channel</a:t>
            </a:r>
            <a:r>
              <a:rPr lang="zh-CN" altLang="en-US" smtClean="0"/>
              <a:t>类的常用方法已包装在了</a:t>
            </a:r>
            <a:r>
              <a:rPr lang="en-US" altLang="zh-CN" smtClean="0"/>
              <a:t>SSHClient</a:t>
            </a:r>
            <a:r>
              <a:rPr lang="zh-CN" altLang="en-US" smtClean="0"/>
              <a:t>类中。</a:t>
            </a:r>
            <a:endParaRPr lang="en-US" altLang="zh-CN" smtClean="0"/>
          </a:p>
          <a:p>
            <a:pPr lvl="0"/>
            <a:r>
              <a:rPr lang="en-US" altLang="zh-CN" smtClean="0"/>
              <a:t>Message</a:t>
            </a:r>
            <a:r>
              <a:rPr lang="zh-CN" altLang="en-US" smtClean="0"/>
              <a:t>类包含向流中写入字节，提取字节等方法。</a:t>
            </a:r>
            <a:endParaRPr lang="en-US" altLang="zh-CN" smtClean="0"/>
          </a:p>
          <a:p>
            <a:pPr lvl="0"/>
            <a:r>
              <a:rPr lang="en-US" altLang="zh-CN" smtClean="0"/>
              <a:t>Packetizer</a:t>
            </a:r>
            <a:r>
              <a:rPr lang="zh-CN" altLang="en-US" smtClean="0"/>
              <a:t>类包含检查握手，获取</a:t>
            </a:r>
            <a:r>
              <a:rPr lang="en-US" altLang="zh-CN" smtClean="0"/>
              <a:t>channel ID</a:t>
            </a:r>
            <a:r>
              <a:rPr lang="zh-CN" altLang="en-US" smtClean="0"/>
              <a:t>等方法。</a:t>
            </a:r>
            <a:endParaRPr lang="en-US" altLang="zh-CN" smtClean="0"/>
          </a:p>
          <a:p>
            <a:pPr lvl="0"/>
            <a:r>
              <a:rPr lang="en-US" altLang="zh-CN" smtClean="0"/>
              <a:t>Transport</a:t>
            </a:r>
            <a:r>
              <a:rPr lang="zh-CN" altLang="en-US" smtClean="0"/>
              <a:t>类包含公钥认证，打开</a:t>
            </a:r>
            <a:r>
              <a:rPr lang="en-US" altLang="zh-CN" smtClean="0"/>
              <a:t>channel</a:t>
            </a:r>
            <a:r>
              <a:rPr lang="zh-CN" altLang="en-US" smtClean="0"/>
              <a:t>通道等方法。</a:t>
            </a:r>
            <a:endParaRPr lang="en-US" altLang="zh-CN" smtClean="0"/>
          </a:p>
          <a:p>
            <a:pPr lvl="0"/>
            <a:r>
              <a:rPr lang="en-US" altLang="zh-CN" smtClean="0"/>
              <a:t>SSHClient</a:t>
            </a:r>
            <a:r>
              <a:rPr lang="zh-CN" altLang="en-US" smtClean="0"/>
              <a:t>类包含建立连接，打开交互式会话等方法。</a:t>
            </a:r>
            <a:endParaRPr lang="en-US" altLang="zh-CN" smtClean="0"/>
          </a:p>
          <a:p>
            <a:pPr lvl="0"/>
            <a:r>
              <a:rPr lang="en-US" altLang="zh-CN" smtClean="0"/>
              <a:t>SFTPClient</a:t>
            </a:r>
            <a:r>
              <a:rPr lang="zh-CN" altLang="en-US" smtClean="0"/>
              <a:t>类包含文件上传，文件下载等方法。</a:t>
            </a:r>
            <a:endParaRPr lang="en-US" altLang="zh-CN" smtClean="0"/>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20114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OpenSSH</a:t>
            </a:r>
            <a:r>
              <a:rPr lang="zh-CN" altLang="en-US" smtClean="0"/>
              <a:t>是</a:t>
            </a:r>
            <a:r>
              <a:rPr lang="en-US" altLang="zh-CN" smtClean="0"/>
              <a:t>SSH</a:t>
            </a:r>
            <a:r>
              <a:rPr lang="zh-CN" altLang="en-US" smtClean="0"/>
              <a:t>协议的免费开源实现。</a:t>
            </a:r>
            <a:r>
              <a:rPr lang="en-US" altLang="zh-CN" smtClean="0"/>
              <a:t>OpenSSH</a:t>
            </a:r>
            <a:r>
              <a:rPr lang="zh-CN" altLang="en-US" smtClean="0"/>
              <a:t>提供了服务端后台程序和客户端工具。所有的</a:t>
            </a:r>
            <a:r>
              <a:rPr lang="en-US" altLang="zh-CN" smtClean="0"/>
              <a:t>Linux</a:t>
            </a:r>
            <a:r>
              <a:rPr lang="zh-CN" altLang="en-US" smtClean="0"/>
              <a:t>操作系统均集成了</a:t>
            </a:r>
            <a:r>
              <a:rPr lang="en-US" altLang="zh-CN" smtClean="0"/>
              <a:t>OpenSSH</a:t>
            </a:r>
            <a:r>
              <a:rPr lang="zh-CN" altLang="en-US" smtClean="0"/>
              <a:t>。</a:t>
            </a:r>
            <a:r>
              <a:rPr lang="en-US" altLang="zh-CN" smtClean="0"/>
              <a:t>OpenSSH</a:t>
            </a:r>
            <a:r>
              <a:rPr lang="zh-CN" altLang="en-US" smtClean="0"/>
              <a:t>把用户访问过每个计算机的公钥都记录在</a:t>
            </a:r>
            <a:r>
              <a:rPr lang="en-US" altLang="zh-CN" smtClean="0"/>
              <a:t>~/.ssh/known_hosts</a:t>
            </a:r>
            <a:r>
              <a:rPr lang="zh-CN" altLang="en-US" smtClean="0"/>
              <a:t>。当下次访问相同计算机时，</a:t>
            </a:r>
            <a:r>
              <a:rPr lang="en-US" altLang="zh-CN" smtClean="0"/>
              <a:t>OpenSSH</a:t>
            </a:r>
            <a:r>
              <a:rPr lang="zh-CN" altLang="en-US" smtClean="0"/>
              <a:t>会核对公钥。如果公钥不同，</a:t>
            </a:r>
            <a:r>
              <a:rPr lang="en-US" altLang="zh-CN" smtClean="0"/>
              <a:t>OpenSSH</a:t>
            </a:r>
            <a:r>
              <a:rPr lang="zh-CN" altLang="en-US" smtClean="0"/>
              <a:t>会发出警告， 避免用户受到中间人攻击等。</a:t>
            </a:r>
            <a:endParaRPr lang="en-US" altLang="zh-CN" smtClean="0"/>
          </a:p>
          <a:p>
            <a:pPr lvl="0"/>
            <a:endParaRPr lang="en-US" altLang="zh-CN" smtClean="0"/>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339089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本次课程涉及这四个类的相关方法：</a:t>
            </a:r>
            <a:r>
              <a:rPr lang="en-US" altLang="zh-CN" smtClean="0"/>
              <a:t>Transport</a:t>
            </a:r>
            <a:r>
              <a:rPr lang="zh-CN" altLang="en-US" smtClean="0"/>
              <a:t>类，</a:t>
            </a:r>
            <a:r>
              <a:rPr lang="en-US" altLang="zh-CN" smtClean="0"/>
              <a:t>Key handling</a:t>
            </a:r>
            <a:r>
              <a:rPr lang="zh-CN" altLang="en-US" smtClean="0"/>
              <a:t>类，</a:t>
            </a:r>
            <a:r>
              <a:rPr lang="en-US" altLang="zh-CN" smtClean="0"/>
              <a:t>SSHClient</a:t>
            </a:r>
            <a:r>
              <a:rPr lang="zh-CN" altLang="en-US" smtClean="0"/>
              <a:t>类，</a:t>
            </a:r>
            <a:r>
              <a:rPr lang="en-US" altLang="zh-CN" smtClean="0"/>
              <a:t>SFTPClient</a:t>
            </a:r>
            <a:r>
              <a:rPr lang="zh-CN" altLang="en-US" smtClean="0"/>
              <a:t>类。</a:t>
            </a:r>
            <a:endParaRPr lang="en-US" altLang="zh-CN" smtClean="0"/>
          </a:p>
          <a:p>
            <a:r>
              <a:rPr lang="zh-CN" altLang="en-US" smtClean="0"/>
              <a:t>本流程以</a:t>
            </a:r>
            <a:r>
              <a:rPr lang="en-US" altLang="zh-CN" smtClean="0"/>
              <a:t>Paramiko SFTP</a:t>
            </a:r>
            <a:r>
              <a:rPr lang="zh-CN" altLang="en-US" smtClean="0"/>
              <a:t>会话为例。事实上，由于</a:t>
            </a:r>
            <a:r>
              <a:rPr lang="en-US" altLang="zh-CN" smtClean="0"/>
              <a:t>SSHClient</a:t>
            </a:r>
            <a:r>
              <a:rPr lang="zh-CN" altLang="en-US" smtClean="0"/>
              <a:t>类集成了</a:t>
            </a:r>
            <a:r>
              <a:rPr lang="en-US" altLang="zh-CN" smtClean="0"/>
              <a:t>Transport,Channel</a:t>
            </a:r>
            <a:r>
              <a:rPr lang="zh-CN" altLang="en-US" smtClean="0"/>
              <a:t>和</a:t>
            </a:r>
            <a:r>
              <a:rPr lang="en-US" altLang="zh-CN" smtClean="0"/>
              <a:t>SFTPClient</a:t>
            </a:r>
            <a:r>
              <a:rPr lang="zh-CN" altLang="en-US" smtClean="0"/>
              <a:t>类，上述方法都可由</a:t>
            </a:r>
            <a:r>
              <a:rPr lang="en-US" altLang="zh-CN" smtClean="0"/>
              <a:t>SSHClient</a:t>
            </a:r>
            <a:r>
              <a:rPr lang="zh-CN" altLang="en-US" smtClean="0"/>
              <a:t>这一个类实现，</a:t>
            </a:r>
            <a:r>
              <a:rPr lang="en-US" altLang="zh-CN" smtClean="0"/>
              <a:t>SSH</a:t>
            </a:r>
            <a:r>
              <a:rPr lang="zh-CN" altLang="en-US" smtClean="0"/>
              <a:t>会话更是如此。</a:t>
            </a:r>
            <a:endParaRPr lang="en-US" altLang="zh-CN"/>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63302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047331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为了便于使用，可以传入地址（作为元组）或主机字符串作为</a:t>
            </a:r>
            <a:r>
              <a:rPr lang="en-US" altLang="zh-CN" smtClean="0"/>
              <a:t>sock</a:t>
            </a:r>
            <a:r>
              <a:rPr lang="zh-CN" altLang="en-US" smtClean="0"/>
              <a:t>参数。主机字符串是具有可选端口（以“：”分隔）的主机名，该端口将转换为（主机名，端口）的元组。</a:t>
            </a:r>
            <a:endParaRPr lang="en-US" altLang="zh-CN"/>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221506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46829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92009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714735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20074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09238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32053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09584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7662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915705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022887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OpenSSH</a:t>
            </a:r>
            <a:r>
              <a:rPr lang="zh-CN" altLang="en-US" smtClean="0"/>
              <a:t>会把用户访问过每个计算机的公钥</a:t>
            </a:r>
            <a:r>
              <a:rPr lang="en-US" altLang="zh-CN" smtClean="0"/>
              <a:t>(public key)</a:t>
            </a:r>
            <a:r>
              <a:rPr lang="zh-CN" altLang="en-US" smtClean="0"/>
              <a:t>都记录在</a:t>
            </a:r>
            <a:r>
              <a:rPr lang="en-US" altLang="zh-CN" smtClean="0"/>
              <a:t>~/.ssh/known_hosts</a:t>
            </a:r>
            <a:r>
              <a:rPr lang="zh-CN" altLang="en-US" smtClean="0"/>
              <a:t>。当下次访问相同计算机时，</a:t>
            </a:r>
            <a:r>
              <a:rPr lang="en-US" altLang="zh-CN" smtClean="0"/>
              <a:t>OpenSSH</a:t>
            </a:r>
            <a:r>
              <a:rPr lang="zh-CN" altLang="en-US" smtClean="0"/>
              <a:t>会核对公钥。如果公钥不同，</a:t>
            </a:r>
            <a:r>
              <a:rPr lang="en-US" altLang="zh-CN" smtClean="0"/>
              <a:t>OpenSSH</a:t>
            </a:r>
            <a:r>
              <a:rPr lang="zh-CN" altLang="en-US" smtClean="0"/>
              <a:t>会发出警告， 避免用户受到中间人攻击等。通常客户端第一次连接</a:t>
            </a:r>
            <a:r>
              <a:rPr lang="en-US" altLang="zh-CN" smtClean="0"/>
              <a:t>SSH</a:t>
            </a:r>
            <a:r>
              <a:rPr lang="zh-CN" altLang="en-US" smtClean="0"/>
              <a:t>服务器均需要输入</a:t>
            </a:r>
            <a:r>
              <a:rPr lang="en-US" altLang="zh-CN" smtClean="0"/>
              <a:t>Yes</a:t>
            </a:r>
            <a:r>
              <a:rPr lang="zh-CN" altLang="en-US" smtClean="0"/>
              <a:t>或</a:t>
            </a:r>
            <a:r>
              <a:rPr lang="en-US" altLang="zh-CN" smtClean="0"/>
              <a:t>No</a:t>
            </a:r>
            <a:r>
              <a:rPr lang="zh-CN" altLang="en-US" smtClean="0"/>
              <a:t>进行确认。</a:t>
            </a:r>
            <a:endParaRPr lang="en-US" altLang="zh-CN" smtClean="0"/>
          </a:p>
          <a:p>
            <a:endParaRPr lang="zh-CN" altLang="en-US"/>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603211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14051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61207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07202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370917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104952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35536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794901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199570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612279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031027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命令详细介绍可参考华为官方产品文档：</a:t>
            </a:r>
            <a:r>
              <a:rPr lang="en-US" altLang="zh-CN" smtClean="0"/>
              <a:t>https://support.huawei.com/enterprise/zh/doc/EDOC1000097324/466984de</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086514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630410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08080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401967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852172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48762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962543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16223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命令详细介绍可参考华为官方产品文档：</a:t>
            </a:r>
            <a:r>
              <a:rPr lang="en-US" altLang="zh-CN" smtClean="0"/>
              <a:t>https://support.huawei.com/enterprise/zh/doc/EDOC1000097324/466984de</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337648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12943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92558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smtClean="0"/>
              <a:t>ABCDE</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427618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358663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791496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文本占位符 23"/>
          <p:cNvSpPr>
            <a:spLocks noGrp="1"/>
          </p:cNvSpPr>
          <p:nvPr>
            <p:ph type="body" sz="quarter" idx="17"/>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18"/>
          </p:nvPr>
        </p:nvSpPr>
        <p:spPr/>
        <p:txBody>
          <a:bodyPr/>
          <a:lstStyle/>
          <a:p>
            <a:r>
              <a:rPr lang="en-US" altLang="zh-CN" dirty="0" smtClean="0">
                <a:sym typeface="Huawei Sans" panose="020C0503030203020204" pitchFamily="34" charset="0"/>
              </a:rPr>
              <a:t>Datacom</a:t>
            </a:r>
            <a:endParaRPr lang="zh-CN" altLang="en-US" dirty="0">
              <a:sym typeface="Huawei Sans" panose="020C0503030203020204" pitchFamily="34" charset="0"/>
            </a:endParaRPr>
          </a:p>
        </p:txBody>
      </p:sp>
      <p:sp>
        <p:nvSpPr>
          <p:cNvPr id="26" name="文本占位符 25"/>
          <p:cNvSpPr>
            <a:spLocks noGrp="1"/>
          </p:cNvSpPr>
          <p:nvPr>
            <p:ph type="body" sz="quarter" idx="19"/>
          </p:nvPr>
        </p:nvSpPr>
        <p:spPr/>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27" name="文本占位符 26"/>
          <p:cNvSpPr>
            <a:spLocks noGrp="1"/>
          </p:cNvSpPr>
          <p:nvPr>
            <p:ph type="body" sz="quarter" idx="20"/>
          </p:nvPr>
        </p:nvSpPr>
        <p:spPr/>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陈粲</a:t>
            </a:r>
            <a:r>
              <a:rPr lang="en-US" altLang="zh-CN" dirty="0" smtClean="0">
                <a:sym typeface="Huawei Sans" panose="020C0503030203020204" pitchFamily="34" charset="0"/>
              </a:rPr>
              <a:t>/WX934766</a:t>
            </a:r>
            <a:endParaRPr lang="en-US" altLang="zh-CN" dirty="0">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dirty="0" smtClean="0">
                <a:sym typeface="Huawei Sans" panose="020C0503030203020204" pitchFamily="34" charset="0"/>
              </a:rPr>
              <a:t>2020.05.25</a:t>
            </a:r>
            <a:endParaRPr lang="en-US" altLang="zh-CN" dirty="0">
              <a:sym typeface="Huawei Sans" panose="020C0503030203020204" pitchFamily="34" charset="0"/>
            </a:endParaRPr>
          </a:p>
        </p:txBody>
      </p:sp>
      <p:sp>
        <p:nvSpPr>
          <p:cNvPr id="22" name="文本占位符 21"/>
          <p:cNvSpPr>
            <a:spLocks noGrp="1"/>
          </p:cNvSpPr>
          <p:nvPr>
            <p:ph type="body" sz="quarter" idx="15"/>
          </p:nvPr>
        </p:nvSpPr>
        <p:spPr/>
        <p:txBody>
          <a:bodyPr/>
          <a:lstStyle/>
          <a:p>
            <a:r>
              <a:rPr lang="zh-CN" altLang="en-US" dirty="0">
                <a:sym typeface="Huawei Sans" panose="020C0503030203020204" pitchFamily="34" charset="0"/>
              </a:rPr>
              <a:t>李先</a:t>
            </a:r>
            <a:r>
              <a:rPr lang="zh-CN" altLang="en-US" dirty="0" smtClean="0">
                <a:sym typeface="Huawei Sans" panose="020C0503030203020204" pitchFamily="34" charset="0"/>
              </a:rPr>
              <a:t>之</a:t>
            </a:r>
            <a:r>
              <a:rPr lang="en-US" altLang="zh-CN" dirty="0" smtClean="0">
                <a:sym typeface="Huawei Sans" panose="020C0503030203020204" pitchFamily="34" charset="0"/>
              </a:rPr>
              <a:t>/00354681</a:t>
            </a:r>
            <a:endParaRPr lang="zh-CN" altLang="en-US" dirty="0">
              <a:sym typeface="Huawei Sans" panose="020C0503030203020204" pitchFamily="34" charset="0"/>
            </a:endParaRPr>
          </a:p>
        </p:txBody>
      </p:sp>
      <p:sp>
        <p:nvSpPr>
          <p:cNvPr id="23" name="文本占位符 22"/>
          <p:cNvSpPr>
            <a:spLocks noGrp="1"/>
          </p:cNvSpPr>
          <p:nvPr>
            <p:ph type="body" sz="quarter" idx="16"/>
          </p:nvPr>
        </p:nvSpPr>
        <p:spPr/>
        <p:txBody>
          <a:bodyPr/>
          <a:lstStyle/>
          <a:p>
            <a:r>
              <a:rPr lang="zh-CN" altLang="en-US" dirty="0">
                <a:sym typeface="Huawei Sans" panose="020C0503030203020204" pitchFamily="34" charset="0"/>
              </a:rPr>
              <a:t>新开发</a:t>
            </a: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何军建</a:t>
            </a:r>
            <a:r>
              <a:rPr lang="en-US" altLang="zh-CN" dirty="0" smtClean="0">
                <a:sym typeface="Huawei Sans" panose="020C0503030203020204" pitchFamily="34" charset="0"/>
              </a:rPr>
              <a:t>/WX580230</a:t>
            </a:r>
            <a:endParaRPr lang="zh-CN" altLang="en-US" dirty="0">
              <a:sym typeface="Huawei Sans" panose="020C0503030203020204" pitchFamily="34" charset="0"/>
            </a:endParaRPr>
          </a:p>
        </p:txBody>
      </p:sp>
      <p:sp>
        <p:nvSpPr>
          <p:cNvPr id="29" name="文本占位符 28"/>
          <p:cNvSpPr>
            <a:spLocks noGrp="1"/>
          </p:cNvSpPr>
          <p:nvPr>
            <p:ph type="body" sz="quarter" idx="22"/>
          </p:nvPr>
        </p:nvSpPr>
        <p:spPr/>
        <p:txBody>
          <a:bodyPr/>
          <a:lstStyle/>
          <a:p>
            <a:r>
              <a:rPr lang="en-US" altLang="zh-CN" dirty="0" smtClean="0">
                <a:sym typeface="Huawei Sans" panose="020C0503030203020204" pitchFamily="34" charset="0"/>
              </a:rPr>
              <a:t>2021.08.17</a:t>
            </a:r>
            <a:endParaRPr lang="zh-CN" altLang="en-US" dirty="0">
              <a:sym typeface="Huawei Sans" panose="020C0503030203020204" pitchFamily="34" charset="0"/>
            </a:endParaRPr>
          </a:p>
        </p:txBody>
      </p:sp>
      <p:sp>
        <p:nvSpPr>
          <p:cNvPr id="30" name="文本占位符 29"/>
          <p:cNvSpPr>
            <a:spLocks noGrp="1"/>
          </p:cNvSpPr>
          <p:nvPr>
            <p:ph type="body" sz="quarter" idx="23"/>
          </p:nvPr>
        </p:nvSpPr>
        <p:spPr/>
        <p:txBody>
          <a:bodyPr/>
          <a:lstStyle/>
          <a:p>
            <a:r>
              <a:rPr lang="zh-CN" altLang="en-US" dirty="0">
                <a:sym typeface="Huawei Sans" panose="020C0503030203020204" pitchFamily="34" charset="0"/>
              </a:rPr>
              <a:t>李先</a:t>
            </a:r>
            <a:r>
              <a:rPr lang="zh-CN" altLang="en-US" dirty="0" smtClean="0">
                <a:sym typeface="Huawei Sans" panose="020C0503030203020204" pitchFamily="34" charset="0"/>
              </a:rPr>
              <a:t>之</a:t>
            </a:r>
            <a:r>
              <a:rPr lang="en-US" altLang="zh-CN" dirty="0" smtClean="0">
                <a:sym typeface="Huawei Sans" panose="020C0503030203020204" pitchFamily="34" charset="0"/>
              </a:rPr>
              <a:t>/00354681</a:t>
            </a:r>
            <a:endParaRPr lang="en-US" altLang="zh-CN" dirty="0">
              <a:sym typeface="Huawei Sans" panose="020C0503030203020204" pitchFamily="34" charset="0"/>
            </a:endParaRPr>
          </a:p>
        </p:txBody>
      </p:sp>
      <p:sp>
        <p:nvSpPr>
          <p:cNvPr id="31" name="文本占位符 30"/>
          <p:cNvSpPr>
            <a:spLocks noGrp="1"/>
          </p:cNvSpPr>
          <p:nvPr>
            <p:ph type="body" sz="quarter" idx="24"/>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32" name="文本占位符 31"/>
          <p:cNvSpPr>
            <a:spLocks noGrp="1"/>
          </p:cNvSpPr>
          <p:nvPr>
            <p:ph type="body" sz="quarter" idx="25"/>
          </p:nvPr>
        </p:nvSpPr>
        <p:spPr/>
        <p:txBody>
          <a:bodyPr/>
          <a:lstStyle/>
          <a:p>
            <a:endParaRPr lang="zh-CN" altLang="en-US">
              <a:sym typeface="Huawei Sans" panose="020C0503030203020204" pitchFamily="34" charset="0"/>
            </a:endParaRPr>
          </a:p>
        </p:txBody>
      </p:sp>
      <p:sp>
        <p:nvSpPr>
          <p:cNvPr id="33" name="文本占位符 32"/>
          <p:cNvSpPr>
            <a:spLocks noGrp="1"/>
          </p:cNvSpPr>
          <p:nvPr>
            <p:ph type="body" sz="quarter" idx="26"/>
          </p:nvPr>
        </p:nvSpPr>
        <p:spPr/>
        <p:txBody>
          <a:bodyPr/>
          <a:lstStyle/>
          <a:p>
            <a:endParaRPr lang="zh-CN" altLang="en-US" dirty="0">
              <a:sym typeface="Huawei Sans" panose="020C0503030203020204" pitchFamily="34" charset="0"/>
            </a:endParaRPr>
          </a:p>
        </p:txBody>
      </p:sp>
      <p:sp>
        <p:nvSpPr>
          <p:cNvPr id="34" name="文本占位符 33"/>
          <p:cNvSpPr>
            <a:spLocks noGrp="1"/>
          </p:cNvSpPr>
          <p:nvPr>
            <p:ph type="body" sz="quarter" idx="27"/>
          </p:nvPr>
        </p:nvSpPr>
        <p:spPr/>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p:txBody>
          <a:bodyPr/>
          <a:lstStyle/>
          <a:p>
            <a:endParaRPr lang="zh-CN" altLang="en-US" dirty="0">
              <a:sym typeface="Huawei Sans" panose="020C0503030203020204" pitchFamily="34" charset="0"/>
            </a:endParaRPr>
          </a:p>
        </p:txBody>
      </p:sp>
      <p:sp>
        <p:nvSpPr>
          <p:cNvPr id="36" name="文本占位符 35"/>
          <p:cNvSpPr>
            <a:spLocks noGrp="1"/>
          </p:cNvSpPr>
          <p:nvPr>
            <p:ph type="body" sz="quarter" idx="29"/>
          </p:nvPr>
        </p:nvSpPr>
        <p:spPr/>
        <p:txBody>
          <a:bodyPr/>
          <a:lstStyle/>
          <a:p>
            <a:endParaRPr lang="zh-CN" altLang="en-US">
              <a:sym typeface="Huawei Sans" panose="020C0503030203020204" pitchFamily="34" charset="0"/>
            </a:endParaRPr>
          </a:p>
        </p:txBody>
      </p:sp>
      <p:sp>
        <p:nvSpPr>
          <p:cNvPr id="37" name="文本占位符 36"/>
          <p:cNvSpPr>
            <a:spLocks noGrp="1"/>
          </p:cNvSpPr>
          <p:nvPr>
            <p:ph type="body" sz="quarter" idx="30"/>
          </p:nvPr>
        </p:nvSpPr>
        <p:spPr/>
        <p:txBody>
          <a:bodyPr/>
          <a:lstStyle/>
          <a:p>
            <a:endParaRPr lang="zh-CN" altLang="en-US">
              <a:sym typeface="Huawei Sans" panose="020C0503030203020204" pitchFamily="34" charset="0"/>
            </a:endParaRPr>
          </a:p>
        </p:txBody>
      </p:sp>
      <p:sp>
        <p:nvSpPr>
          <p:cNvPr id="38" name="文本占位符 37"/>
          <p:cNvSpPr>
            <a:spLocks noGrp="1"/>
          </p:cNvSpPr>
          <p:nvPr>
            <p:ph type="body" sz="quarter" idx="31"/>
          </p:nvPr>
        </p:nvSpPr>
        <p:spPr/>
        <p:txBody>
          <a:bodyPr/>
          <a:lstStyle/>
          <a:p>
            <a:endParaRPr lang="zh-CN" altLang="en-US">
              <a:sym typeface="Huawei Sans" panose="020C0503030203020204" pitchFamily="34" charset="0"/>
            </a:endParaRPr>
          </a:p>
        </p:txBody>
      </p:sp>
      <p:sp>
        <p:nvSpPr>
          <p:cNvPr id="39" name="文本占位符 38"/>
          <p:cNvSpPr>
            <a:spLocks noGrp="1"/>
          </p:cNvSpPr>
          <p:nvPr>
            <p:ph type="body" sz="quarter" idx="32"/>
          </p:nvPr>
        </p:nvSpPr>
        <p:spPr/>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1129691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en-US" altLang="zh-CN" dirty="0">
                <a:sym typeface="Huawei Sans" panose="020C0503030203020204" pitchFamily="34" charset="0"/>
              </a:rPr>
              <a:t>SSH</a:t>
            </a:r>
            <a:r>
              <a:rPr lang="zh-CN" altLang="en-US" dirty="0">
                <a:sym typeface="Huawei Sans" panose="020C0503030203020204" pitchFamily="34" charset="0"/>
              </a:rPr>
              <a:t>原理与实践</a:t>
            </a:r>
          </a:p>
        </p:txBody>
      </p:sp>
    </p:spTree>
    <p:extLst>
      <p:ext uri="{BB962C8B-B14F-4D97-AF65-F5344CB8AC3E}">
        <p14:creationId xmlns:p14="http://schemas.microsoft.com/office/powerpoint/2010/main" val="3171237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mtClean="0">
                <a:sym typeface="Huawei Sans" panose="020C0503030203020204" pitchFamily="34" charset="0"/>
              </a:rPr>
              <a:t>面对越来越复杂的业务需求及网络架构，网络自动化开始不断普及和演进以使得运维高效敏捷。目前，</a:t>
            </a:r>
            <a:r>
              <a:rPr lang="en-US" altLang="zh-CN" smtClean="0">
                <a:sym typeface="Huawei Sans" panose="020C0503030203020204" pitchFamily="34" charset="0"/>
              </a:rPr>
              <a:t>SSH</a:t>
            </a:r>
            <a:r>
              <a:rPr lang="zh-CN" altLang="en-US" smtClean="0">
                <a:sym typeface="Huawei Sans" panose="020C0503030203020204" pitchFamily="34" charset="0"/>
              </a:rPr>
              <a:t>登录设备是工程师最为熟悉的远程管理方法，因此，工程师有必要学习及使用一种自动化工具去实现</a:t>
            </a:r>
            <a:r>
              <a:rPr lang="en-US" altLang="zh-CN" smtClean="0">
                <a:sym typeface="Huawei Sans" panose="020C0503030203020204" pitchFamily="34" charset="0"/>
              </a:rPr>
              <a:t>SSH</a:t>
            </a:r>
            <a:r>
              <a:rPr lang="zh-CN" altLang="en-US" smtClean="0">
                <a:sym typeface="Huawei Sans" panose="020C0503030203020204" pitchFamily="34" charset="0"/>
              </a:rPr>
              <a:t>远程登录设备，模拟运维人员人机交互等，自动传输文件等功能。</a:t>
            </a:r>
            <a:endParaRPr lang="en-US" altLang="zh-CN" smtClean="0">
              <a:sym typeface="Huawei Sans" panose="020C0503030203020204" pitchFamily="34" charset="0"/>
            </a:endParaRPr>
          </a:p>
          <a:p>
            <a:r>
              <a:rPr lang="zh-CN" altLang="en-US" smtClean="0">
                <a:sym typeface="Huawei Sans" panose="020C0503030203020204" pitchFamily="34" charset="0"/>
              </a:rPr>
              <a:t>本课程中我们将使用</a:t>
            </a:r>
            <a:r>
              <a:rPr lang="en-US" altLang="zh-CN" smtClean="0">
                <a:sym typeface="Huawei Sans" panose="020C0503030203020204" pitchFamily="34" charset="0"/>
              </a:rPr>
              <a:t>Python</a:t>
            </a:r>
            <a:r>
              <a:rPr lang="zh-CN" altLang="en-US" smtClean="0">
                <a:sym typeface="Huawei Sans" panose="020C0503030203020204" pitchFamily="34" charset="0"/>
              </a:rPr>
              <a:t>工具，围绕</a:t>
            </a:r>
            <a:r>
              <a:rPr lang="en-US" altLang="zh-CN" smtClean="0">
                <a:sym typeface="Huawei Sans" panose="020C0503030203020204" pitchFamily="34" charset="0"/>
              </a:rPr>
              <a:t>Python</a:t>
            </a:r>
            <a:r>
              <a:rPr lang="zh-CN" altLang="en-US" smtClean="0">
                <a:sym typeface="Huawei Sans" panose="020C0503030203020204" pitchFamily="34" charset="0"/>
              </a:rPr>
              <a:t>中的</a:t>
            </a:r>
            <a:r>
              <a:rPr lang="en-US" altLang="zh-CN" smtClean="0">
                <a:sym typeface="Huawei Sans" panose="020C0503030203020204" pitchFamily="34" charset="0"/>
              </a:rPr>
              <a:t>Paramiko</a:t>
            </a:r>
            <a:r>
              <a:rPr lang="zh-CN" altLang="en-US" smtClean="0">
                <a:sym typeface="Huawei Sans" panose="020C0503030203020204" pitchFamily="34" charset="0"/>
              </a:rPr>
              <a:t>模块编写自动化脚本实现基于</a:t>
            </a:r>
            <a:r>
              <a:rPr lang="en-US" altLang="zh-CN" smtClean="0">
                <a:sym typeface="Huawei Sans" panose="020C0503030203020204" pitchFamily="34" charset="0"/>
              </a:rPr>
              <a:t>SSH</a:t>
            </a:r>
            <a:r>
              <a:rPr lang="zh-CN" altLang="en-US" smtClean="0">
                <a:sym typeface="Huawei Sans" panose="020C0503030203020204" pitchFamily="34" charset="0"/>
              </a:rPr>
              <a:t>的初级网络自动化。</a:t>
            </a:r>
            <a:endParaRPr lang="zh-CN" altLang="en-US">
              <a:sym typeface="Huawei Sans" panose="020C0503030203020204" pitchFamily="34" charset="0"/>
            </a:endParaRPr>
          </a:p>
        </p:txBody>
      </p:sp>
    </p:spTree>
    <p:extLst>
      <p:ext uri="{BB962C8B-B14F-4D97-AF65-F5344CB8AC3E}">
        <p14:creationId xmlns:p14="http://schemas.microsoft.com/office/powerpoint/2010/main" val="19159012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smtClean="0">
                <a:sym typeface="Huawei Sans" panose="020C0503030203020204" pitchFamily="34" charset="0"/>
              </a:rPr>
              <a:t>学完本课程后，您将能够：</a:t>
            </a:r>
            <a:endParaRPr lang="en-US" altLang="zh-CN" smtClean="0">
              <a:sym typeface="Huawei Sans" panose="020C0503030203020204" pitchFamily="34" charset="0"/>
            </a:endParaRPr>
          </a:p>
          <a:p>
            <a:pPr lvl="1"/>
            <a:r>
              <a:rPr lang="zh-CN" altLang="en-US" smtClean="0">
                <a:sym typeface="Huawei Sans" panose="020C0503030203020204" pitchFamily="34" charset="0"/>
              </a:rPr>
              <a:t>描述</a:t>
            </a:r>
            <a:r>
              <a:rPr lang="en-US" altLang="zh-CN" smtClean="0">
                <a:sym typeface="Huawei Sans" panose="020C0503030203020204" pitchFamily="34" charset="0"/>
              </a:rPr>
              <a:t>SSH</a:t>
            </a:r>
            <a:r>
              <a:rPr lang="zh-CN" altLang="en-US" smtClean="0">
                <a:sym typeface="Huawei Sans" panose="020C0503030203020204" pitchFamily="34" charset="0"/>
              </a:rPr>
              <a:t>的基本概念和工作原理</a:t>
            </a:r>
            <a:endParaRPr lang="en-US" altLang="zh-CN" smtClean="0">
              <a:sym typeface="Huawei Sans" panose="020C0503030203020204" pitchFamily="34" charset="0"/>
            </a:endParaRPr>
          </a:p>
          <a:p>
            <a:pPr lvl="1"/>
            <a:r>
              <a:rPr lang="zh-CN" altLang="en-US" smtClean="0">
                <a:sym typeface="Huawei Sans" panose="020C0503030203020204" pitchFamily="34" charset="0"/>
              </a:rPr>
              <a:t>描述</a:t>
            </a:r>
            <a:r>
              <a:rPr lang="en-US" altLang="zh-CN" smtClean="0">
                <a:sym typeface="Huawei Sans" panose="020C0503030203020204" pitchFamily="34" charset="0"/>
              </a:rPr>
              <a:t>Paramiko</a:t>
            </a:r>
            <a:r>
              <a:rPr lang="zh-CN" altLang="en-US" smtClean="0">
                <a:sym typeface="Huawei Sans" panose="020C0503030203020204" pitchFamily="34" charset="0"/>
              </a:rPr>
              <a:t>的概念</a:t>
            </a:r>
            <a:endParaRPr lang="en-US" altLang="zh-CN" smtClean="0">
              <a:sym typeface="Huawei Sans" panose="020C0503030203020204" pitchFamily="34" charset="0"/>
            </a:endParaRPr>
          </a:p>
          <a:p>
            <a:pPr lvl="1"/>
            <a:r>
              <a:rPr lang="zh-CN" altLang="en-US" smtClean="0">
                <a:sym typeface="Huawei Sans" panose="020C0503030203020204" pitchFamily="34" charset="0"/>
              </a:rPr>
              <a:t>描述</a:t>
            </a:r>
            <a:r>
              <a:rPr lang="en-US" altLang="zh-CN" smtClean="0">
                <a:sym typeface="Huawei Sans" panose="020C0503030203020204" pitchFamily="34" charset="0"/>
              </a:rPr>
              <a:t>Paramiko</a:t>
            </a:r>
            <a:r>
              <a:rPr lang="zh-CN" altLang="en-US" smtClean="0">
                <a:sym typeface="Huawei Sans" panose="020C0503030203020204" pitchFamily="34" charset="0"/>
              </a:rPr>
              <a:t>的组成及常用方法</a:t>
            </a:r>
            <a:endParaRPr lang="en-US" altLang="zh-CN" smtClean="0">
              <a:sym typeface="Huawei Sans" panose="020C0503030203020204" pitchFamily="34" charset="0"/>
            </a:endParaRPr>
          </a:p>
          <a:p>
            <a:pPr lvl="1"/>
            <a:r>
              <a:rPr lang="zh-CN" altLang="en-US" smtClean="0">
                <a:sym typeface="Huawei Sans" panose="020C0503030203020204" pitchFamily="34" charset="0"/>
              </a:rPr>
              <a:t>实现</a:t>
            </a:r>
            <a:r>
              <a:rPr lang="en-US" altLang="zh-CN" smtClean="0">
                <a:sym typeface="Huawei Sans" panose="020C0503030203020204" pitchFamily="34" charset="0"/>
              </a:rPr>
              <a:t>Paramiko</a:t>
            </a:r>
            <a:r>
              <a:rPr lang="zh-CN" altLang="en-US" smtClean="0">
                <a:sym typeface="Huawei Sans" panose="020C0503030203020204" pitchFamily="34" charset="0"/>
              </a:rPr>
              <a:t>的常用方法</a:t>
            </a:r>
            <a:endParaRPr lang="en-US" altLang="zh-CN" smtClean="0">
              <a:sym typeface="Huawei Sans" panose="020C0503030203020204" pitchFamily="34" charset="0"/>
            </a:endParaRPr>
          </a:p>
          <a:p>
            <a:endParaRPr lang="en-US" altLang="zh-CN">
              <a:sym typeface="Huawei Sans" panose="020C0503030203020204" pitchFamily="34" charset="0"/>
            </a:endParaRPr>
          </a:p>
        </p:txBody>
      </p:sp>
    </p:spTree>
    <p:extLst>
      <p:ext uri="{BB962C8B-B14F-4D97-AF65-F5344CB8AC3E}">
        <p14:creationId xmlns:p14="http://schemas.microsoft.com/office/powerpoint/2010/main" val="39012493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sym typeface="Huawei Sans" panose="020C0503030203020204" pitchFamily="34" charset="0"/>
              </a:rPr>
              <a:t>SSH</a:t>
            </a:r>
            <a:r>
              <a:rPr lang="zh-CN" altLang="en-US" b="1" dirty="0" smtClean="0">
                <a:sym typeface="Huawei Sans" panose="020C0503030203020204" pitchFamily="34" charset="0"/>
              </a:rPr>
              <a:t>介绍</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SSH</a:t>
            </a:r>
            <a:r>
              <a:rPr lang="zh-CN" altLang="en-US" dirty="0" smtClean="0">
                <a:sym typeface="Huawei Sans" panose="020C0503030203020204" pitchFamily="34" charset="0"/>
              </a:rPr>
              <a:t>简介</a:t>
            </a:r>
            <a:endParaRPr lang="en-US" altLang="zh-CN"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工作原理</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简介</a:t>
            </a:r>
            <a:endParaRPr lang="en-US" altLang="zh-CN" dirty="0" smtClean="0">
              <a:solidFill>
                <a:schemeClr val="bg1">
                  <a:lumMod val="50000"/>
                </a:schemeClr>
              </a:solidFill>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34026805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SSH</a:t>
            </a:r>
            <a:r>
              <a:rPr lang="zh-CN" altLang="en-US" smtClean="0">
                <a:sym typeface="Huawei Sans" panose="020C0503030203020204" pitchFamily="34" charset="0"/>
              </a:rPr>
              <a:t>简介</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Secure Shell</a:t>
            </a:r>
            <a:r>
              <a:rPr lang="zh-CN" altLang="en-US" sz="1800" dirty="0" smtClean="0">
                <a:sym typeface="Huawei Sans" panose="020C0503030203020204" pitchFamily="34" charset="0"/>
              </a:rPr>
              <a:t>，安全外壳协议）是一种用于在不安全网络上进行安全远程登录和实现其他安全网络服务的协议。</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协议由三个组件构成：</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传输层协议，</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用户认证协议，</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连接协议。</a:t>
            </a:r>
            <a:endParaRPr lang="en-US" altLang="zh-CN" sz="1800" dirty="0">
              <a:sym typeface="Huawei Sans" panose="020C0503030203020204" pitchFamily="34" charset="0"/>
            </a:endParaRPr>
          </a:p>
        </p:txBody>
      </p:sp>
      <p:sp>
        <p:nvSpPr>
          <p:cNvPr id="15" name="文本框 14"/>
          <p:cNvSpPr txBox="1"/>
          <p:nvPr/>
        </p:nvSpPr>
        <p:spPr bwMode="gray">
          <a:xfrm>
            <a:off x="6480856" y="3265897"/>
            <a:ext cx="2049686" cy="369332"/>
          </a:xfrm>
          <a:prstGeom prst="rect">
            <a:avLst/>
          </a:prstGeom>
          <a:noFill/>
        </p:spPr>
        <p:txBody>
          <a:bodyPr wrap="square" rtlCol="0">
            <a:spAutoFit/>
          </a:bodyPr>
          <a:lstStyle/>
          <a:p>
            <a:r>
              <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用户认证协议</a:t>
            </a:r>
          </a:p>
        </p:txBody>
      </p:sp>
      <p:sp>
        <p:nvSpPr>
          <p:cNvPr id="12" name="矩形 11"/>
          <p:cNvSpPr/>
          <p:nvPr/>
        </p:nvSpPr>
        <p:spPr bwMode="gray">
          <a:xfrm>
            <a:off x="4026778" y="4987237"/>
            <a:ext cx="1968182" cy="271036"/>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传输层协议</a:t>
            </a:r>
          </a:p>
        </p:txBody>
      </p:sp>
      <p:sp>
        <p:nvSpPr>
          <p:cNvPr id="13" name="梯形 12"/>
          <p:cNvSpPr/>
          <p:nvPr/>
        </p:nvSpPr>
        <p:spPr bwMode="gray">
          <a:xfrm>
            <a:off x="4026778" y="4325292"/>
            <a:ext cx="1968182" cy="661945"/>
          </a:xfrm>
          <a:prstGeom prst="trapezoid">
            <a:avLst>
              <a:gd name="adj" fmla="val 75739"/>
            </a:avLst>
          </a:prstGeom>
          <a:gradFill flip="none" rotWithShape="1">
            <a:gsLst>
              <a:gs pos="0">
                <a:schemeClr val="bg1"/>
              </a:gs>
              <a:gs pos="100000">
                <a:srgbClr val="56C4D2"/>
              </a:gs>
            </a:gsLst>
            <a:lin ang="5400000" scaled="1"/>
            <a:tileRect/>
          </a:gradFill>
          <a:ln>
            <a:gradFill flip="none" rotWithShape="1">
              <a:gsLst>
                <a:gs pos="0">
                  <a:schemeClr val="accent1">
                    <a:lumMod val="5000"/>
                    <a:lumOff val="95000"/>
                  </a:schemeClr>
                </a:gs>
                <a:gs pos="100000">
                  <a:srgbClr val="30B5C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bwMode="gray">
          <a:xfrm>
            <a:off x="4052390" y="4297174"/>
            <a:ext cx="1968182" cy="271036"/>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用户认证协议</a:t>
            </a:r>
          </a:p>
        </p:txBody>
      </p:sp>
      <p:sp>
        <p:nvSpPr>
          <p:cNvPr id="16" name="梯形 15"/>
          <p:cNvSpPr/>
          <p:nvPr/>
        </p:nvSpPr>
        <p:spPr bwMode="gray">
          <a:xfrm>
            <a:off x="4052390" y="3635229"/>
            <a:ext cx="1968182" cy="661945"/>
          </a:xfrm>
          <a:prstGeom prst="trapezoid">
            <a:avLst>
              <a:gd name="adj" fmla="val 75739"/>
            </a:avLst>
          </a:prstGeom>
          <a:gradFill flip="none" rotWithShape="1">
            <a:gsLst>
              <a:gs pos="0">
                <a:schemeClr val="bg1"/>
              </a:gs>
              <a:gs pos="100000">
                <a:srgbClr val="56C4D2"/>
              </a:gs>
            </a:gsLst>
            <a:lin ang="5400000" scaled="1"/>
            <a:tileRect/>
          </a:gradFill>
          <a:ln>
            <a:gradFill flip="none" rotWithShape="1">
              <a:gsLst>
                <a:gs pos="0">
                  <a:schemeClr val="accent1">
                    <a:lumMod val="5000"/>
                    <a:lumOff val="95000"/>
                  </a:schemeClr>
                </a:gs>
                <a:gs pos="100000">
                  <a:srgbClr val="30B5C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梯形 17"/>
          <p:cNvSpPr/>
          <p:nvPr/>
        </p:nvSpPr>
        <p:spPr bwMode="gray">
          <a:xfrm>
            <a:off x="4022109" y="2922466"/>
            <a:ext cx="1968182" cy="661945"/>
          </a:xfrm>
          <a:prstGeom prst="trapezoid">
            <a:avLst>
              <a:gd name="adj" fmla="val 75739"/>
            </a:avLst>
          </a:prstGeom>
          <a:gradFill flip="none" rotWithShape="1">
            <a:gsLst>
              <a:gs pos="0">
                <a:schemeClr val="bg1"/>
              </a:gs>
              <a:gs pos="100000">
                <a:srgbClr val="56C4D2"/>
              </a:gs>
            </a:gsLst>
            <a:lin ang="5400000" scaled="1"/>
            <a:tileRect/>
          </a:gradFill>
          <a:ln>
            <a:gradFill flip="none" rotWithShape="1">
              <a:gsLst>
                <a:gs pos="0">
                  <a:schemeClr val="accent1">
                    <a:lumMod val="5000"/>
                    <a:lumOff val="95000"/>
                  </a:schemeClr>
                </a:gs>
                <a:gs pos="100000">
                  <a:srgbClr val="30B5C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4022109" y="3570352"/>
            <a:ext cx="1968182" cy="271036"/>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连接协议</a:t>
            </a:r>
          </a:p>
        </p:txBody>
      </p:sp>
      <p:sp>
        <p:nvSpPr>
          <p:cNvPr id="6" name="文本框 5">
            <a:extLst>
              <a:ext uri="{FF2B5EF4-FFF2-40B4-BE49-F238E27FC236}">
                <a16:creationId xmlns="" xmlns:a16="http://schemas.microsoft.com/office/drawing/2014/main" id="{F61E6AB9-C458-423A-A83D-A13181486FB4}"/>
              </a:ext>
            </a:extLst>
          </p:cNvPr>
          <p:cNvSpPr txBox="1"/>
          <p:nvPr/>
        </p:nvSpPr>
        <p:spPr bwMode="gray">
          <a:xfrm>
            <a:off x="6720114" y="4955338"/>
            <a:ext cx="3057247" cy="338554"/>
          </a:xfrm>
          <a:prstGeom prst="rect">
            <a:avLst/>
          </a:prstGeom>
          <a:noFill/>
        </p:spPr>
        <p:txBody>
          <a:bodyPr wrap="non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版本协商、算法协商、密钥交换</a:t>
            </a:r>
          </a:p>
        </p:txBody>
      </p:sp>
      <p:sp>
        <p:nvSpPr>
          <p:cNvPr id="20" name="文本框 19">
            <a:extLst>
              <a:ext uri="{FF2B5EF4-FFF2-40B4-BE49-F238E27FC236}">
                <a16:creationId xmlns="" xmlns:a16="http://schemas.microsoft.com/office/drawing/2014/main" id="{837F5302-FAB2-4A14-8000-4E692B8D7F29}"/>
              </a:ext>
            </a:extLst>
          </p:cNvPr>
          <p:cNvSpPr txBox="1"/>
          <p:nvPr/>
        </p:nvSpPr>
        <p:spPr bwMode="gray">
          <a:xfrm>
            <a:off x="6720114" y="4263414"/>
            <a:ext cx="2441694" cy="338554"/>
          </a:xfrm>
          <a:prstGeom prst="rect">
            <a:avLst/>
          </a:prstGeom>
          <a:noFill/>
        </p:spPr>
        <p:txBody>
          <a:bodyPr wrap="non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用户认证（口令、密钥）</a:t>
            </a:r>
          </a:p>
        </p:txBody>
      </p:sp>
      <p:sp>
        <p:nvSpPr>
          <p:cNvPr id="21" name="文本框 20">
            <a:extLst>
              <a:ext uri="{FF2B5EF4-FFF2-40B4-BE49-F238E27FC236}">
                <a16:creationId xmlns="" xmlns:a16="http://schemas.microsoft.com/office/drawing/2014/main" id="{A082A659-ECA0-496F-A5B1-91DDC69DA303}"/>
              </a:ext>
            </a:extLst>
          </p:cNvPr>
          <p:cNvSpPr txBox="1"/>
          <p:nvPr/>
        </p:nvSpPr>
        <p:spPr bwMode="gray">
          <a:xfrm>
            <a:off x="6720114" y="3518017"/>
            <a:ext cx="1415772"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建立会话连接</a:t>
            </a:r>
          </a:p>
        </p:txBody>
      </p:sp>
    </p:spTree>
    <p:extLst>
      <p:ext uri="{BB962C8B-B14F-4D97-AF65-F5344CB8AC3E}">
        <p14:creationId xmlns:p14="http://schemas.microsoft.com/office/powerpoint/2010/main" val="41768698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SSH</a:t>
            </a:r>
            <a:r>
              <a:rPr lang="zh-CN" altLang="en-US" smtClean="0">
                <a:sym typeface="Huawei Sans" panose="020C0503030203020204" pitchFamily="34" charset="0"/>
              </a:rPr>
              <a:t>传输层协议</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传输层协议是一个安全传输协议。</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传输层通常建立在</a:t>
            </a:r>
            <a:r>
              <a:rPr lang="en-US" altLang="zh-CN" sz="1800" dirty="0" smtClean="0">
                <a:sym typeface="Huawei Sans" panose="020C0503030203020204" pitchFamily="34" charset="0"/>
              </a:rPr>
              <a:t>TCP/IP</a:t>
            </a:r>
            <a:r>
              <a:rPr lang="zh-CN" altLang="en-US" sz="1800" dirty="0" smtClean="0">
                <a:sym typeface="Huawei Sans" panose="020C0503030203020204" pitchFamily="34" charset="0"/>
              </a:rPr>
              <a:t>连接上，但也可以在任何其他可靠的数据流上建立。</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传输层协议协商了所有的密钥交换算法、公钥算法、对称加密算法、消息认证算法等。</a:t>
            </a:r>
            <a:endParaRPr lang="en-US" altLang="zh-CN" sz="1800" dirty="0" smtClean="0">
              <a:sym typeface="Huawei Sans" panose="020C0503030203020204" pitchFamily="34" charset="0"/>
            </a:endParaRPr>
          </a:p>
          <a:p>
            <a:endParaRPr lang="en-US" altLang="zh-CN" sz="1800" dirty="0">
              <a:sym typeface="Huawei Sans" panose="020C0503030203020204" pitchFamily="34" charset="0"/>
            </a:endParaRPr>
          </a:p>
        </p:txBody>
      </p:sp>
      <p:graphicFrame>
        <p:nvGraphicFramePr>
          <p:cNvPr id="7" name="Group 128"/>
          <p:cNvGraphicFramePr>
            <a:graphicFrameLocks noGrp="1"/>
          </p:cNvGraphicFramePr>
          <p:nvPr>
            <p:extLst>
              <p:ext uri="{D42A27DB-BD31-4B8C-83A1-F6EECF244321}">
                <p14:modId xmlns:p14="http://schemas.microsoft.com/office/powerpoint/2010/main" val="2867062429"/>
              </p:ext>
            </p:extLst>
          </p:nvPr>
        </p:nvGraphicFramePr>
        <p:xfrm>
          <a:off x="1268045" y="3062465"/>
          <a:ext cx="9102113" cy="2457381"/>
        </p:xfrm>
        <a:graphic>
          <a:graphicData uri="http://schemas.openxmlformats.org/drawingml/2006/table">
            <a:tbl>
              <a:tblPr/>
              <a:tblGrid>
                <a:gridCol w="1912505">
                  <a:extLst>
                    <a:ext uri="{9D8B030D-6E8A-4147-A177-3AD203B41FA5}">
                      <a16:colId xmlns="" xmlns:a16="http://schemas.microsoft.com/office/drawing/2014/main" val="20000"/>
                    </a:ext>
                  </a:extLst>
                </a:gridCol>
                <a:gridCol w="2846817">
                  <a:extLst>
                    <a:ext uri="{9D8B030D-6E8A-4147-A177-3AD203B41FA5}">
                      <a16:colId xmlns="" xmlns:a16="http://schemas.microsoft.com/office/drawing/2014/main" val="20001"/>
                    </a:ext>
                  </a:extLst>
                </a:gridCol>
                <a:gridCol w="4342791">
                  <a:extLst>
                    <a:ext uri="{9D8B030D-6E8A-4147-A177-3AD203B41FA5}">
                      <a16:colId xmlns="" xmlns:a16="http://schemas.microsoft.com/office/drawing/2014/main" val="20002"/>
                    </a:ext>
                  </a:extLst>
                </a:gridCol>
              </a:tblGrid>
              <a:tr h="317556">
                <a:tc>
                  <a:txBody>
                    <a:bodyPr/>
                    <a:lstStyle/>
                    <a:p>
                      <a:pPr marL="0" marR="0" indent="0" algn="ctr" defTabSz="914034"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算法类别</a:t>
                      </a:r>
                      <a:endParaRPr lang="en-US" altLang="zh-CN" sz="18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034" rtl="0" eaLnBrk="1" fontAlgn="base" latinLnBrk="0" hangingPunct="1">
                        <a:lnSpc>
                          <a:spcPct val="100000"/>
                        </a:lnSpc>
                        <a:spcBef>
                          <a:spcPct val="30000"/>
                        </a:spcBef>
                        <a:spcAft>
                          <a:spcPct val="0"/>
                        </a:spcAft>
                        <a:buClr>
                          <a:srgbClr val="808080"/>
                        </a:buClr>
                        <a:buSzPct val="60000"/>
                        <a:buFont typeface="Wingdings" pitchFamily="2" charset="2"/>
                        <a:buNone/>
                        <a:tabLst/>
                        <a:defRPr/>
                      </a:pPr>
                      <a:r>
                        <a:rPr lang="zh-CN" altLang="en-US" sz="18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算法功能</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034" rtl="0" eaLnBrk="1" fontAlgn="base" latinLnBrk="0" hangingPunct="1">
                        <a:lnSpc>
                          <a:spcPct val="100000"/>
                        </a:lnSpc>
                        <a:spcBef>
                          <a:spcPct val="30000"/>
                        </a:spcBef>
                        <a:spcAft>
                          <a:spcPct val="0"/>
                        </a:spcAft>
                        <a:buClr>
                          <a:srgbClr val="808080"/>
                        </a:buClr>
                        <a:buSzPct val="60000"/>
                        <a:buFont typeface="Wingdings" pitchFamily="2" charset="2"/>
                        <a:buNone/>
                        <a:tabLst/>
                        <a:defRPr/>
                      </a:pPr>
                      <a:r>
                        <a:rPr lang="zh-CN" altLang="en-US" sz="18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算法名称</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10000"/>
                  </a:ext>
                </a:extLst>
              </a:tr>
              <a:tr h="586637">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密钥交换算法</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ctr" defTabSz="784225" rtl="0" eaLnBrk="1" fontAlgn="base" latinLnBrk="0" hangingPunct="1">
                        <a:lnSpc>
                          <a:spcPct val="150000"/>
                        </a:lnSpc>
                        <a:spcBef>
                          <a:spcPct val="30000"/>
                        </a:spcBef>
                        <a:spcAft>
                          <a:spcPct val="0"/>
                        </a:spcAft>
                        <a:buClr>
                          <a:srgbClr val="808080"/>
                        </a:buClr>
                        <a:buSzPct val="60000"/>
                        <a:buFont typeface="Wingdings" pitchFamily="2" charset="2"/>
                        <a:buNone/>
                        <a:tabLst/>
                        <a:defRP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用于产生会话密钥</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diffie-hellman-group14-sha1, diffie-hellman-group1-sha1…</a:t>
                      </a:r>
                      <a:endPar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1"/>
                  </a:ext>
                </a:extLst>
              </a:tr>
              <a:tr h="48324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公钥算法</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ctr" defTabSz="784225" rtl="0" eaLnBrk="1" fontAlgn="base" latinLnBrk="0" hangingPunct="1">
                        <a:lnSpc>
                          <a:spcPct val="150000"/>
                        </a:lnSpc>
                        <a:spcBef>
                          <a:spcPct val="30000"/>
                        </a:spcBef>
                        <a:spcAft>
                          <a:spcPct val="0"/>
                        </a:spcAft>
                        <a:buClr>
                          <a:srgbClr val="808080"/>
                        </a:buClr>
                        <a:buSzPct val="60000"/>
                        <a:buFont typeface="Wingdings" pitchFamily="2" charset="2"/>
                        <a:buNone/>
                        <a:tabLst/>
                        <a:defRP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用于进行数字签名和用户认证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ssh-rsa,ssh-dss …</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2"/>
                  </a:ext>
                </a:extLst>
              </a:tr>
              <a:tr h="387877">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对称加密算法</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ctr" defTabSz="784225" rtl="0" eaLnBrk="1" fontAlgn="base" latinLnBrk="0" hangingPunct="1">
                        <a:lnSpc>
                          <a:spcPct val="150000"/>
                        </a:lnSpc>
                        <a:spcBef>
                          <a:spcPct val="30000"/>
                        </a:spcBef>
                        <a:spcAft>
                          <a:spcPct val="0"/>
                        </a:spcAft>
                        <a:buClr>
                          <a:srgbClr val="808080"/>
                        </a:buClr>
                        <a:buSzPct val="60000"/>
                        <a:buFont typeface="Wingdings" pitchFamily="2" charset="2"/>
                        <a:buNone/>
                        <a:tabLs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用于会话的加密</a:t>
                      </a: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aes128-ctr,3des-cbc …</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3"/>
                  </a:ext>
                </a:extLst>
              </a:tr>
              <a:tr h="564544">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消息认证算法</a:t>
                      </a:r>
                      <a:endParaRPr lang="en-US" altLang="zh-CN" sz="16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marR="0" lvl="0" indent="0" algn="ctr" defTabSz="784225" rtl="0" eaLnBrk="1" fontAlgn="base" latinLnBrk="0" hangingPunct="1">
                        <a:lnSpc>
                          <a:spcPct val="150000"/>
                        </a:lnSpc>
                        <a:spcBef>
                          <a:spcPct val="30000"/>
                        </a:spcBef>
                        <a:spcAft>
                          <a:spcPct val="0"/>
                        </a:spcAft>
                        <a:buClr>
                          <a:srgbClr val="808080"/>
                        </a:buClr>
                        <a:buSzPct val="60000"/>
                        <a:buFont typeface="Wingdings" pitchFamily="2" charset="2"/>
                        <a:buNone/>
                        <a:tabLs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用于数据完整性认证</a:t>
                      </a:r>
                      <a:endPar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hmac-sha1,hmac-md5 …</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401573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SSH</a:t>
            </a:r>
            <a:r>
              <a:rPr lang="zh-CN" altLang="en-US" smtClean="0">
                <a:sym typeface="Huawei Sans" panose="020C0503030203020204" pitchFamily="34" charset="0"/>
              </a:rPr>
              <a:t>用户认证协议</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用户认证协议为服务器提供客户端的用户鉴别。它运行在传输层协议上。</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用户认证协议提供两种认证方法：口令认证和公钥认证</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口令认证：客户端通过用户名和密码登录到服务器，完成用户认证。</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公钥认证：服务器通过公钥解密客户端的数字签名，完成用户认证。</a:t>
            </a:r>
            <a:endParaRPr lang="en-US" altLang="zh-CN" sz="1600" dirty="0" smtClean="0">
              <a:sym typeface="Huawei Sans" panose="020C0503030203020204" pitchFamily="34" charset="0"/>
            </a:endParaRPr>
          </a:p>
          <a:p>
            <a:endParaRPr lang="zh-CN" altLang="en-US" sz="1800" dirty="0">
              <a:sym typeface="Huawei Sans" panose="020C0503030203020204" pitchFamily="34" charset="0"/>
            </a:endParaRPr>
          </a:p>
        </p:txBody>
      </p:sp>
      <p:sp>
        <p:nvSpPr>
          <p:cNvPr id="7" name="文本框 6"/>
          <p:cNvSpPr txBox="1"/>
          <p:nvPr/>
        </p:nvSpPr>
        <p:spPr bwMode="gray">
          <a:xfrm>
            <a:off x="977162" y="4760869"/>
            <a:ext cx="805029"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4057795" y="4764149"/>
            <a:ext cx="805029"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8" descr="PC.png"/>
          <p:cNvPicPr>
            <a:picLocks noChangeAspect="1"/>
          </p:cNvPicPr>
          <p:nvPr/>
        </p:nvPicPr>
        <p:blipFill>
          <a:blip r:embed="rId3" cstate="print"/>
          <a:stretch>
            <a:fillRect/>
          </a:stretch>
        </p:blipFill>
        <p:spPr bwMode="gray">
          <a:xfrm>
            <a:off x="1782191" y="4567188"/>
            <a:ext cx="576563" cy="442800"/>
          </a:xfrm>
          <a:prstGeom prst="rect">
            <a:avLst/>
          </a:prstGeom>
        </p:spPr>
      </p:pic>
      <p:pic>
        <p:nvPicPr>
          <p:cNvPr id="10" name="图片 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553243" y="4573799"/>
            <a:ext cx="540000" cy="442800"/>
          </a:xfrm>
          <a:prstGeom prst="rect">
            <a:avLst/>
          </a:prstGeom>
        </p:spPr>
      </p:pic>
      <p:cxnSp>
        <p:nvCxnSpPr>
          <p:cNvPr id="14" name="直接连接符 13"/>
          <p:cNvCxnSpPr/>
          <p:nvPr/>
        </p:nvCxnSpPr>
        <p:spPr bwMode="gray">
          <a:xfrm flipV="1">
            <a:off x="2471928" y="4795199"/>
            <a:ext cx="1006813" cy="1"/>
          </a:xfrm>
          <a:prstGeom prst="line">
            <a:avLst/>
          </a:prstGeom>
          <a:ln w="28575">
            <a:solidFill>
              <a:srgbClr val="30B5C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bwMode="gray">
          <a:xfrm>
            <a:off x="2397425" y="4340155"/>
            <a:ext cx="2062884" cy="323165"/>
          </a:xfrm>
          <a:prstGeom prst="rect">
            <a:avLst/>
          </a:prstGeom>
          <a:noFill/>
        </p:spPr>
        <p:txBody>
          <a:bodyPr wrap="square" rtlCol="0">
            <a:spAutoFit/>
          </a:bodyPr>
          <a:lstStyle/>
          <a:p>
            <a:r>
              <a:rPr lang="zh-CN" altLang="en-US" sz="1500" b="1">
                <a:latin typeface="Huawei Sans" panose="020C0503030203020204" pitchFamily="34" charset="0"/>
                <a:ea typeface="方正兰亭黑简体" panose="02000000000000000000" pitchFamily="2" charset="-122"/>
                <a:sym typeface="Huawei Sans" panose="020C0503030203020204" pitchFamily="34" charset="0"/>
              </a:rPr>
              <a:t>用户名</a:t>
            </a:r>
            <a:r>
              <a:rPr lang="en-US" altLang="zh-CN" sz="1500" b="1">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500" b="1">
                <a:latin typeface="Huawei Sans" panose="020C0503030203020204" pitchFamily="34" charset="0"/>
                <a:ea typeface="方正兰亭黑简体" panose="02000000000000000000" pitchFamily="2" charset="-122"/>
                <a:sym typeface="Huawei Sans" panose="020C0503030203020204" pitchFamily="34" charset="0"/>
              </a:rPr>
              <a:t>密码</a:t>
            </a:r>
          </a:p>
        </p:txBody>
      </p:sp>
      <p:sp>
        <p:nvSpPr>
          <p:cNvPr id="21" name="文本框 20"/>
          <p:cNvSpPr txBox="1"/>
          <p:nvPr/>
        </p:nvSpPr>
        <p:spPr bwMode="gray">
          <a:xfrm>
            <a:off x="6427127" y="4760869"/>
            <a:ext cx="805029"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9543208" y="4702284"/>
            <a:ext cx="805029"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descr="PC.png"/>
          <p:cNvPicPr>
            <a:picLocks noChangeAspect="1"/>
          </p:cNvPicPr>
          <p:nvPr/>
        </p:nvPicPr>
        <p:blipFill>
          <a:blip r:embed="rId3" cstate="print"/>
          <a:stretch>
            <a:fillRect/>
          </a:stretch>
        </p:blipFill>
        <p:spPr bwMode="gray">
          <a:xfrm>
            <a:off x="7232156" y="4567188"/>
            <a:ext cx="576563" cy="442800"/>
          </a:xfrm>
          <a:prstGeom prst="rect">
            <a:avLst/>
          </a:prstGeom>
        </p:spPr>
      </p:pic>
      <p:pic>
        <p:nvPicPr>
          <p:cNvPr id="24" name="图片 2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003208" y="4573799"/>
            <a:ext cx="540000" cy="442800"/>
          </a:xfrm>
          <a:prstGeom prst="rect">
            <a:avLst/>
          </a:prstGeom>
        </p:spPr>
      </p:pic>
      <p:sp>
        <p:nvSpPr>
          <p:cNvPr id="35" name="文本框 34"/>
          <p:cNvSpPr txBox="1"/>
          <p:nvPr/>
        </p:nvSpPr>
        <p:spPr bwMode="gray">
          <a:xfrm>
            <a:off x="7916840" y="4340155"/>
            <a:ext cx="2062884" cy="323165"/>
          </a:xfrm>
          <a:prstGeom prst="rect">
            <a:avLst/>
          </a:prstGeom>
          <a:noFill/>
        </p:spPr>
        <p:txBody>
          <a:bodyPr wrap="square" rtlCol="0">
            <a:spAutoFit/>
          </a:bodyPr>
          <a:lstStyle/>
          <a:p>
            <a:r>
              <a:rPr lang="zh-CN" altLang="en-US" sz="1500" b="1">
                <a:latin typeface="Huawei Sans" panose="020C0503030203020204" pitchFamily="34" charset="0"/>
                <a:ea typeface="方正兰亭黑简体" panose="02000000000000000000" pitchFamily="2" charset="-122"/>
                <a:sym typeface="Huawei Sans" panose="020C0503030203020204" pitchFamily="34" charset="0"/>
              </a:rPr>
              <a:t>数字签名</a:t>
            </a:r>
          </a:p>
        </p:txBody>
      </p:sp>
      <p:sp>
        <p:nvSpPr>
          <p:cNvPr id="37" name="文本框 36"/>
          <p:cNvSpPr txBox="1"/>
          <p:nvPr/>
        </p:nvSpPr>
        <p:spPr bwMode="gray">
          <a:xfrm>
            <a:off x="1009405" y="3449263"/>
            <a:ext cx="2062884" cy="338554"/>
          </a:xfrm>
          <a:prstGeom prst="rect">
            <a:avLst/>
          </a:prstGeom>
          <a:noFill/>
        </p:spPr>
        <p:txBody>
          <a:bodyPr wrap="square" rtlCol="0" anchor="ctr">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口令认证示意图</a:t>
            </a:r>
          </a:p>
        </p:txBody>
      </p:sp>
      <p:sp>
        <p:nvSpPr>
          <p:cNvPr id="38" name="文本框 37"/>
          <p:cNvSpPr txBox="1"/>
          <p:nvPr/>
        </p:nvSpPr>
        <p:spPr bwMode="gray">
          <a:xfrm>
            <a:off x="6382685" y="3449263"/>
            <a:ext cx="2062884" cy="338554"/>
          </a:xfrm>
          <a:prstGeom prst="rect">
            <a:avLst/>
          </a:prstGeom>
          <a:noFill/>
        </p:spPr>
        <p:txBody>
          <a:bodyPr wrap="square" rtlCol="0" anchor="ctr">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公钥认证示意图</a:t>
            </a:r>
          </a:p>
        </p:txBody>
      </p:sp>
      <p:cxnSp>
        <p:nvCxnSpPr>
          <p:cNvPr id="39" name="直接连接符 38"/>
          <p:cNvCxnSpPr/>
          <p:nvPr/>
        </p:nvCxnSpPr>
        <p:spPr bwMode="gray">
          <a:xfrm flipV="1">
            <a:off x="7923238" y="4801505"/>
            <a:ext cx="1006813" cy="1"/>
          </a:xfrm>
          <a:prstGeom prst="line">
            <a:avLst/>
          </a:prstGeom>
          <a:ln w="28575">
            <a:solidFill>
              <a:srgbClr val="30B5C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flipV="1">
            <a:off x="7314748" y="4201448"/>
            <a:ext cx="169845" cy="277414"/>
            <a:chOff x="6854192" y="3360118"/>
            <a:chExt cx="169845" cy="277414"/>
          </a:xfrm>
        </p:grpSpPr>
        <p:sp>
          <p:nvSpPr>
            <p:cNvPr id="26" name="Freeform 280"/>
            <p:cNvSpPr>
              <a:spLocks noEditPoints="1"/>
            </p:cNvSpPr>
            <p:nvPr/>
          </p:nvSpPr>
          <p:spPr bwMode="auto">
            <a:xfrm>
              <a:off x="6895709" y="3511091"/>
              <a:ext cx="86810" cy="84923"/>
            </a:xfrm>
            <a:custGeom>
              <a:avLst/>
              <a:gdLst>
                <a:gd name="T0" fmla="*/ 57964388 w 46"/>
                <a:gd name="T1" fmla="*/ 110943214 h 46"/>
                <a:gd name="T2" fmla="*/ 0 w 46"/>
                <a:gd name="T3" fmla="*/ 55471607 h 46"/>
                <a:gd name="T4" fmla="*/ 57964388 w 46"/>
                <a:gd name="T5" fmla="*/ 0 h 46"/>
                <a:gd name="T6" fmla="*/ 115927188 w 46"/>
                <a:gd name="T7" fmla="*/ 55471607 h 46"/>
                <a:gd name="T8" fmla="*/ 57964388 w 46"/>
                <a:gd name="T9" fmla="*/ 110943214 h 46"/>
                <a:gd name="T10" fmla="*/ 57964388 w 46"/>
                <a:gd name="T11" fmla="*/ 28941708 h 46"/>
                <a:gd name="T12" fmla="*/ 30241875 w 46"/>
                <a:gd name="T13" fmla="*/ 55471607 h 46"/>
                <a:gd name="T14" fmla="*/ 57964388 w 46"/>
                <a:gd name="T15" fmla="*/ 82001506 h 46"/>
                <a:gd name="T16" fmla="*/ 85685313 w 46"/>
                <a:gd name="T17" fmla="*/ 55471607 h 46"/>
                <a:gd name="T18" fmla="*/ 57964388 w 46"/>
                <a:gd name="T19" fmla="*/ 28941708 h 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 h="46">
                  <a:moveTo>
                    <a:pt x="23" y="46"/>
                  </a:moveTo>
                  <a:cubicBezTo>
                    <a:pt x="10" y="46"/>
                    <a:pt x="0" y="36"/>
                    <a:pt x="0" y="23"/>
                  </a:cubicBezTo>
                  <a:cubicBezTo>
                    <a:pt x="0" y="10"/>
                    <a:pt x="10" y="0"/>
                    <a:pt x="23" y="0"/>
                  </a:cubicBezTo>
                  <a:cubicBezTo>
                    <a:pt x="36" y="0"/>
                    <a:pt x="46" y="10"/>
                    <a:pt x="46" y="23"/>
                  </a:cubicBezTo>
                  <a:cubicBezTo>
                    <a:pt x="46" y="36"/>
                    <a:pt x="36" y="46"/>
                    <a:pt x="23" y="46"/>
                  </a:cubicBezTo>
                  <a:close/>
                  <a:moveTo>
                    <a:pt x="23" y="12"/>
                  </a:moveTo>
                  <a:cubicBezTo>
                    <a:pt x="17" y="12"/>
                    <a:pt x="12" y="17"/>
                    <a:pt x="12" y="23"/>
                  </a:cubicBezTo>
                  <a:cubicBezTo>
                    <a:pt x="12" y="29"/>
                    <a:pt x="17" y="34"/>
                    <a:pt x="23" y="34"/>
                  </a:cubicBezTo>
                  <a:cubicBezTo>
                    <a:pt x="29" y="34"/>
                    <a:pt x="34" y="29"/>
                    <a:pt x="34" y="23"/>
                  </a:cubicBezTo>
                  <a:cubicBezTo>
                    <a:pt x="34" y="17"/>
                    <a:pt x="29" y="12"/>
                    <a:pt x="23" y="1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7" name="Freeform 281"/>
            <p:cNvSpPr>
              <a:spLocks noEditPoints="1"/>
            </p:cNvSpPr>
            <p:nvPr/>
          </p:nvSpPr>
          <p:spPr bwMode="auto">
            <a:xfrm>
              <a:off x="6854192" y="3360118"/>
              <a:ext cx="169845" cy="277414"/>
            </a:xfrm>
            <a:custGeom>
              <a:avLst/>
              <a:gdLst>
                <a:gd name="T0" fmla="*/ 113407825 w 90"/>
                <a:gd name="T1" fmla="*/ 367961417 h 148"/>
                <a:gd name="T2" fmla="*/ 0 w 90"/>
                <a:gd name="T3" fmla="*/ 256081203 h 148"/>
                <a:gd name="T4" fmla="*/ 70564375 w 90"/>
                <a:gd name="T5" fmla="*/ 151659145 h 148"/>
                <a:gd name="T6" fmla="*/ 70564375 w 90"/>
                <a:gd name="T7" fmla="*/ 106907059 h 148"/>
                <a:gd name="T8" fmla="*/ 45362813 w 90"/>
                <a:gd name="T9" fmla="*/ 106907059 h 148"/>
                <a:gd name="T10" fmla="*/ 30241875 w 90"/>
                <a:gd name="T11" fmla="*/ 91990749 h 148"/>
                <a:gd name="T12" fmla="*/ 30241875 w 90"/>
                <a:gd name="T13" fmla="*/ 47238663 h 148"/>
                <a:gd name="T14" fmla="*/ 45362813 w 90"/>
                <a:gd name="T15" fmla="*/ 32320776 h 148"/>
                <a:gd name="T16" fmla="*/ 70564375 w 90"/>
                <a:gd name="T17" fmla="*/ 32320776 h 148"/>
                <a:gd name="T18" fmla="*/ 70564375 w 90"/>
                <a:gd name="T19" fmla="*/ 14917887 h 148"/>
                <a:gd name="T20" fmla="*/ 85685313 w 90"/>
                <a:gd name="T21" fmla="*/ 0 h 148"/>
                <a:gd name="T22" fmla="*/ 141128750 w 90"/>
                <a:gd name="T23" fmla="*/ 0 h 148"/>
                <a:gd name="T24" fmla="*/ 156249688 w 90"/>
                <a:gd name="T25" fmla="*/ 14917887 h 148"/>
                <a:gd name="T26" fmla="*/ 156249688 w 90"/>
                <a:gd name="T27" fmla="*/ 151659145 h 148"/>
                <a:gd name="T28" fmla="*/ 226814063 w 90"/>
                <a:gd name="T29" fmla="*/ 256081203 h 148"/>
                <a:gd name="T30" fmla="*/ 113407825 w 90"/>
                <a:gd name="T31" fmla="*/ 367961417 h 148"/>
                <a:gd name="T32" fmla="*/ 60483750 w 90"/>
                <a:gd name="T33" fmla="*/ 77072861 h 148"/>
                <a:gd name="T34" fmla="*/ 85685313 w 90"/>
                <a:gd name="T35" fmla="*/ 77072861 h 148"/>
                <a:gd name="T36" fmla="*/ 100806250 w 90"/>
                <a:gd name="T37" fmla="*/ 91990749 h 148"/>
                <a:gd name="T38" fmla="*/ 100806250 w 90"/>
                <a:gd name="T39" fmla="*/ 164090455 h 148"/>
                <a:gd name="T40" fmla="*/ 90725625 w 90"/>
                <a:gd name="T41" fmla="*/ 176521765 h 148"/>
                <a:gd name="T42" fmla="*/ 30241875 w 90"/>
                <a:gd name="T43" fmla="*/ 256081203 h 148"/>
                <a:gd name="T44" fmla="*/ 113407825 w 90"/>
                <a:gd name="T45" fmla="*/ 338127219 h 148"/>
                <a:gd name="T46" fmla="*/ 196572188 w 90"/>
                <a:gd name="T47" fmla="*/ 256081203 h 148"/>
                <a:gd name="T48" fmla="*/ 136088438 w 90"/>
                <a:gd name="T49" fmla="*/ 176521765 h 148"/>
                <a:gd name="T50" fmla="*/ 126007813 w 90"/>
                <a:gd name="T51" fmla="*/ 164090455 h 148"/>
                <a:gd name="T52" fmla="*/ 126007813 w 90"/>
                <a:gd name="T53" fmla="*/ 29834198 h 148"/>
                <a:gd name="T54" fmla="*/ 100806250 w 90"/>
                <a:gd name="T55" fmla="*/ 29834198 h 148"/>
                <a:gd name="T56" fmla="*/ 100806250 w 90"/>
                <a:gd name="T57" fmla="*/ 47238663 h 148"/>
                <a:gd name="T58" fmla="*/ 85685313 w 90"/>
                <a:gd name="T59" fmla="*/ 62154974 h 148"/>
                <a:gd name="T60" fmla="*/ 60483750 w 90"/>
                <a:gd name="T61" fmla="*/ 62154974 h 148"/>
                <a:gd name="T62" fmla="*/ 60483750 w 90"/>
                <a:gd name="T63" fmla="*/ 77072861 h 1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0" h="148">
                  <a:moveTo>
                    <a:pt x="45" y="148"/>
                  </a:moveTo>
                  <a:cubicBezTo>
                    <a:pt x="20" y="148"/>
                    <a:pt x="0" y="128"/>
                    <a:pt x="0" y="103"/>
                  </a:cubicBezTo>
                  <a:cubicBezTo>
                    <a:pt x="0" y="85"/>
                    <a:pt x="11" y="68"/>
                    <a:pt x="28" y="61"/>
                  </a:cubicBezTo>
                  <a:cubicBezTo>
                    <a:pt x="28" y="43"/>
                    <a:pt x="28" y="43"/>
                    <a:pt x="28" y="43"/>
                  </a:cubicBezTo>
                  <a:cubicBezTo>
                    <a:pt x="18" y="43"/>
                    <a:pt x="18" y="43"/>
                    <a:pt x="18" y="43"/>
                  </a:cubicBezTo>
                  <a:cubicBezTo>
                    <a:pt x="14" y="43"/>
                    <a:pt x="12" y="40"/>
                    <a:pt x="12" y="37"/>
                  </a:cubicBezTo>
                  <a:cubicBezTo>
                    <a:pt x="12" y="19"/>
                    <a:pt x="12" y="19"/>
                    <a:pt x="12" y="19"/>
                  </a:cubicBezTo>
                  <a:cubicBezTo>
                    <a:pt x="12" y="16"/>
                    <a:pt x="14" y="13"/>
                    <a:pt x="18" y="13"/>
                  </a:cubicBezTo>
                  <a:cubicBezTo>
                    <a:pt x="28" y="13"/>
                    <a:pt x="28" y="13"/>
                    <a:pt x="28" y="13"/>
                  </a:cubicBezTo>
                  <a:cubicBezTo>
                    <a:pt x="28" y="6"/>
                    <a:pt x="28" y="6"/>
                    <a:pt x="28" y="6"/>
                  </a:cubicBezTo>
                  <a:cubicBezTo>
                    <a:pt x="28" y="3"/>
                    <a:pt x="30" y="0"/>
                    <a:pt x="34" y="0"/>
                  </a:cubicBezTo>
                  <a:cubicBezTo>
                    <a:pt x="56" y="0"/>
                    <a:pt x="56" y="0"/>
                    <a:pt x="56" y="0"/>
                  </a:cubicBezTo>
                  <a:cubicBezTo>
                    <a:pt x="59" y="0"/>
                    <a:pt x="62" y="3"/>
                    <a:pt x="62" y="6"/>
                  </a:cubicBezTo>
                  <a:cubicBezTo>
                    <a:pt x="62" y="61"/>
                    <a:pt x="62" y="61"/>
                    <a:pt x="62" y="61"/>
                  </a:cubicBezTo>
                  <a:cubicBezTo>
                    <a:pt x="79" y="68"/>
                    <a:pt x="90" y="85"/>
                    <a:pt x="90" y="103"/>
                  </a:cubicBezTo>
                  <a:cubicBezTo>
                    <a:pt x="90" y="128"/>
                    <a:pt x="70" y="148"/>
                    <a:pt x="45" y="148"/>
                  </a:cubicBezTo>
                  <a:close/>
                  <a:moveTo>
                    <a:pt x="24" y="31"/>
                  </a:moveTo>
                  <a:cubicBezTo>
                    <a:pt x="34" y="31"/>
                    <a:pt x="34" y="31"/>
                    <a:pt x="34" y="31"/>
                  </a:cubicBezTo>
                  <a:cubicBezTo>
                    <a:pt x="37" y="31"/>
                    <a:pt x="40" y="34"/>
                    <a:pt x="40" y="37"/>
                  </a:cubicBezTo>
                  <a:cubicBezTo>
                    <a:pt x="40" y="66"/>
                    <a:pt x="40" y="66"/>
                    <a:pt x="40" y="66"/>
                  </a:cubicBezTo>
                  <a:cubicBezTo>
                    <a:pt x="40" y="68"/>
                    <a:pt x="38" y="71"/>
                    <a:pt x="36" y="71"/>
                  </a:cubicBezTo>
                  <a:cubicBezTo>
                    <a:pt x="22" y="76"/>
                    <a:pt x="12" y="89"/>
                    <a:pt x="12" y="103"/>
                  </a:cubicBezTo>
                  <a:cubicBezTo>
                    <a:pt x="12" y="121"/>
                    <a:pt x="27" y="136"/>
                    <a:pt x="45" y="136"/>
                  </a:cubicBezTo>
                  <a:cubicBezTo>
                    <a:pt x="63" y="136"/>
                    <a:pt x="78" y="121"/>
                    <a:pt x="78" y="103"/>
                  </a:cubicBezTo>
                  <a:cubicBezTo>
                    <a:pt x="78" y="89"/>
                    <a:pt x="68" y="76"/>
                    <a:pt x="54" y="71"/>
                  </a:cubicBezTo>
                  <a:cubicBezTo>
                    <a:pt x="52" y="71"/>
                    <a:pt x="50" y="68"/>
                    <a:pt x="50" y="66"/>
                  </a:cubicBezTo>
                  <a:cubicBezTo>
                    <a:pt x="50" y="12"/>
                    <a:pt x="50" y="12"/>
                    <a:pt x="50" y="12"/>
                  </a:cubicBezTo>
                  <a:cubicBezTo>
                    <a:pt x="40" y="12"/>
                    <a:pt x="40" y="12"/>
                    <a:pt x="40" y="12"/>
                  </a:cubicBezTo>
                  <a:cubicBezTo>
                    <a:pt x="40" y="19"/>
                    <a:pt x="40" y="19"/>
                    <a:pt x="40" y="19"/>
                  </a:cubicBezTo>
                  <a:cubicBezTo>
                    <a:pt x="40" y="22"/>
                    <a:pt x="37" y="25"/>
                    <a:pt x="34" y="25"/>
                  </a:cubicBezTo>
                  <a:cubicBezTo>
                    <a:pt x="24" y="25"/>
                    <a:pt x="24" y="25"/>
                    <a:pt x="24" y="25"/>
                  </a:cubicBezTo>
                  <a:lnTo>
                    <a:pt x="24" y="31"/>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grpSp>
      <p:grpSp>
        <p:nvGrpSpPr>
          <p:cNvPr id="28" name="组合 27"/>
          <p:cNvGrpSpPr/>
          <p:nvPr/>
        </p:nvGrpSpPr>
        <p:grpSpPr>
          <a:xfrm flipV="1">
            <a:off x="7518108" y="4201448"/>
            <a:ext cx="169845" cy="277414"/>
            <a:chOff x="6854192" y="3360118"/>
            <a:chExt cx="169845" cy="277414"/>
          </a:xfrm>
          <a:solidFill>
            <a:srgbClr val="30B5C5"/>
          </a:solidFill>
        </p:grpSpPr>
        <p:sp>
          <p:nvSpPr>
            <p:cNvPr id="29" name="Freeform 280"/>
            <p:cNvSpPr>
              <a:spLocks noEditPoints="1"/>
            </p:cNvSpPr>
            <p:nvPr/>
          </p:nvSpPr>
          <p:spPr bwMode="auto">
            <a:xfrm>
              <a:off x="6895709" y="3511091"/>
              <a:ext cx="86810" cy="84923"/>
            </a:xfrm>
            <a:custGeom>
              <a:avLst/>
              <a:gdLst>
                <a:gd name="T0" fmla="*/ 57964388 w 46"/>
                <a:gd name="T1" fmla="*/ 110943214 h 46"/>
                <a:gd name="T2" fmla="*/ 0 w 46"/>
                <a:gd name="T3" fmla="*/ 55471607 h 46"/>
                <a:gd name="T4" fmla="*/ 57964388 w 46"/>
                <a:gd name="T5" fmla="*/ 0 h 46"/>
                <a:gd name="T6" fmla="*/ 115927188 w 46"/>
                <a:gd name="T7" fmla="*/ 55471607 h 46"/>
                <a:gd name="T8" fmla="*/ 57964388 w 46"/>
                <a:gd name="T9" fmla="*/ 110943214 h 46"/>
                <a:gd name="T10" fmla="*/ 57964388 w 46"/>
                <a:gd name="T11" fmla="*/ 28941708 h 46"/>
                <a:gd name="T12" fmla="*/ 30241875 w 46"/>
                <a:gd name="T13" fmla="*/ 55471607 h 46"/>
                <a:gd name="T14" fmla="*/ 57964388 w 46"/>
                <a:gd name="T15" fmla="*/ 82001506 h 46"/>
                <a:gd name="T16" fmla="*/ 85685313 w 46"/>
                <a:gd name="T17" fmla="*/ 55471607 h 46"/>
                <a:gd name="T18" fmla="*/ 57964388 w 46"/>
                <a:gd name="T19" fmla="*/ 28941708 h 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 h="46">
                  <a:moveTo>
                    <a:pt x="23" y="46"/>
                  </a:moveTo>
                  <a:cubicBezTo>
                    <a:pt x="10" y="46"/>
                    <a:pt x="0" y="36"/>
                    <a:pt x="0" y="23"/>
                  </a:cubicBezTo>
                  <a:cubicBezTo>
                    <a:pt x="0" y="10"/>
                    <a:pt x="10" y="0"/>
                    <a:pt x="23" y="0"/>
                  </a:cubicBezTo>
                  <a:cubicBezTo>
                    <a:pt x="36" y="0"/>
                    <a:pt x="46" y="10"/>
                    <a:pt x="46" y="23"/>
                  </a:cubicBezTo>
                  <a:cubicBezTo>
                    <a:pt x="46" y="36"/>
                    <a:pt x="36" y="46"/>
                    <a:pt x="23" y="46"/>
                  </a:cubicBezTo>
                  <a:close/>
                  <a:moveTo>
                    <a:pt x="23" y="12"/>
                  </a:moveTo>
                  <a:cubicBezTo>
                    <a:pt x="17" y="12"/>
                    <a:pt x="12" y="17"/>
                    <a:pt x="12" y="23"/>
                  </a:cubicBezTo>
                  <a:cubicBezTo>
                    <a:pt x="12" y="29"/>
                    <a:pt x="17" y="34"/>
                    <a:pt x="23" y="34"/>
                  </a:cubicBezTo>
                  <a:cubicBezTo>
                    <a:pt x="29" y="34"/>
                    <a:pt x="34" y="29"/>
                    <a:pt x="34" y="23"/>
                  </a:cubicBezTo>
                  <a:cubicBezTo>
                    <a:pt x="34" y="17"/>
                    <a:pt x="29" y="12"/>
                    <a:pt x="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0" name="Freeform 281"/>
            <p:cNvSpPr>
              <a:spLocks noEditPoints="1"/>
            </p:cNvSpPr>
            <p:nvPr/>
          </p:nvSpPr>
          <p:spPr bwMode="auto">
            <a:xfrm>
              <a:off x="6854192" y="3360118"/>
              <a:ext cx="169845" cy="277414"/>
            </a:xfrm>
            <a:custGeom>
              <a:avLst/>
              <a:gdLst>
                <a:gd name="T0" fmla="*/ 113407825 w 90"/>
                <a:gd name="T1" fmla="*/ 367961417 h 148"/>
                <a:gd name="T2" fmla="*/ 0 w 90"/>
                <a:gd name="T3" fmla="*/ 256081203 h 148"/>
                <a:gd name="T4" fmla="*/ 70564375 w 90"/>
                <a:gd name="T5" fmla="*/ 151659145 h 148"/>
                <a:gd name="T6" fmla="*/ 70564375 w 90"/>
                <a:gd name="T7" fmla="*/ 106907059 h 148"/>
                <a:gd name="T8" fmla="*/ 45362813 w 90"/>
                <a:gd name="T9" fmla="*/ 106907059 h 148"/>
                <a:gd name="T10" fmla="*/ 30241875 w 90"/>
                <a:gd name="T11" fmla="*/ 91990749 h 148"/>
                <a:gd name="T12" fmla="*/ 30241875 w 90"/>
                <a:gd name="T13" fmla="*/ 47238663 h 148"/>
                <a:gd name="T14" fmla="*/ 45362813 w 90"/>
                <a:gd name="T15" fmla="*/ 32320776 h 148"/>
                <a:gd name="T16" fmla="*/ 70564375 w 90"/>
                <a:gd name="T17" fmla="*/ 32320776 h 148"/>
                <a:gd name="T18" fmla="*/ 70564375 w 90"/>
                <a:gd name="T19" fmla="*/ 14917887 h 148"/>
                <a:gd name="T20" fmla="*/ 85685313 w 90"/>
                <a:gd name="T21" fmla="*/ 0 h 148"/>
                <a:gd name="T22" fmla="*/ 141128750 w 90"/>
                <a:gd name="T23" fmla="*/ 0 h 148"/>
                <a:gd name="T24" fmla="*/ 156249688 w 90"/>
                <a:gd name="T25" fmla="*/ 14917887 h 148"/>
                <a:gd name="T26" fmla="*/ 156249688 w 90"/>
                <a:gd name="T27" fmla="*/ 151659145 h 148"/>
                <a:gd name="T28" fmla="*/ 226814063 w 90"/>
                <a:gd name="T29" fmla="*/ 256081203 h 148"/>
                <a:gd name="T30" fmla="*/ 113407825 w 90"/>
                <a:gd name="T31" fmla="*/ 367961417 h 148"/>
                <a:gd name="T32" fmla="*/ 60483750 w 90"/>
                <a:gd name="T33" fmla="*/ 77072861 h 148"/>
                <a:gd name="T34" fmla="*/ 85685313 w 90"/>
                <a:gd name="T35" fmla="*/ 77072861 h 148"/>
                <a:gd name="T36" fmla="*/ 100806250 w 90"/>
                <a:gd name="T37" fmla="*/ 91990749 h 148"/>
                <a:gd name="T38" fmla="*/ 100806250 w 90"/>
                <a:gd name="T39" fmla="*/ 164090455 h 148"/>
                <a:gd name="T40" fmla="*/ 90725625 w 90"/>
                <a:gd name="T41" fmla="*/ 176521765 h 148"/>
                <a:gd name="T42" fmla="*/ 30241875 w 90"/>
                <a:gd name="T43" fmla="*/ 256081203 h 148"/>
                <a:gd name="T44" fmla="*/ 113407825 w 90"/>
                <a:gd name="T45" fmla="*/ 338127219 h 148"/>
                <a:gd name="T46" fmla="*/ 196572188 w 90"/>
                <a:gd name="T47" fmla="*/ 256081203 h 148"/>
                <a:gd name="T48" fmla="*/ 136088438 w 90"/>
                <a:gd name="T49" fmla="*/ 176521765 h 148"/>
                <a:gd name="T50" fmla="*/ 126007813 w 90"/>
                <a:gd name="T51" fmla="*/ 164090455 h 148"/>
                <a:gd name="T52" fmla="*/ 126007813 w 90"/>
                <a:gd name="T53" fmla="*/ 29834198 h 148"/>
                <a:gd name="T54" fmla="*/ 100806250 w 90"/>
                <a:gd name="T55" fmla="*/ 29834198 h 148"/>
                <a:gd name="T56" fmla="*/ 100806250 w 90"/>
                <a:gd name="T57" fmla="*/ 47238663 h 148"/>
                <a:gd name="T58" fmla="*/ 85685313 w 90"/>
                <a:gd name="T59" fmla="*/ 62154974 h 148"/>
                <a:gd name="T60" fmla="*/ 60483750 w 90"/>
                <a:gd name="T61" fmla="*/ 62154974 h 148"/>
                <a:gd name="T62" fmla="*/ 60483750 w 90"/>
                <a:gd name="T63" fmla="*/ 77072861 h 1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0" h="148">
                  <a:moveTo>
                    <a:pt x="45" y="148"/>
                  </a:moveTo>
                  <a:cubicBezTo>
                    <a:pt x="20" y="148"/>
                    <a:pt x="0" y="128"/>
                    <a:pt x="0" y="103"/>
                  </a:cubicBezTo>
                  <a:cubicBezTo>
                    <a:pt x="0" y="85"/>
                    <a:pt x="11" y="68"/>
                    <a:pt x="28" y="61"/>
                  </a:cubicBezTo>
                  <a:cubicBezTo>
                    <a:pt x="28" y="43"/>
                    <a:pt x="28" y="43"/>
                    <a:pt x="28" y="43"/>
                  </a:cubicBezTo>
                  <a:cubicBezTo>
                    <a:pt x="18" y="43"/>
                    <a:pt x="18" y="43"/>
                    <a:pt x="18" y="43"/>
                  </a:cubicBezTo>
                  <a:cubicBezTo>
                    <a:pt x="14" y="43"/>
                    <a:pt x="12" y="40"/>
                    <a:pt x="12" y="37"/>
                  </a:cubicBezTo>
                  <a:cubicBezTo>
                    <a:pt x="12" y="19"/>
                    <a:pt x="12" y="19"/>
                    <a:pt x="12" y="19"/>
                  </a:cubicBezTo>
                  <a:cubicBezTo>
                    <a:pt x="12" y="16"/>
                    <a:pt x="14" y="13"/>
                    <a:pt x="18" y="13"/>
                  </a:cubicBezTo>
                  <a:cubicBezTo>
                    <a:pt x="28" y="13"/>
                    <a:pt x="28" y="13"/>
                    <a:pt x="28" y="13"/>
                  </a:cubicBezTo>
                  <a:cubicBezTo>
                    <a:pt x="28" y="6"/>
                    <a:pt x="28" y="6"/>
                    <a:pt x="28" y="6"/>
                  </a:cubicBezTo>
                  <a:cubicBezTo>
                    <a:pt x="28" y="3"/>
                    <a:pt x="30" y="0"/>
                    <a:pt x="34" y="0"/>
                  </a:cubicBezTo>
                  <a:cubicBezTo>
                    <a:pt x="56" y="0"/>
                    <a:pt x="56" y="0"/>
                    <a:pt x="56" y="0"/>
                  </a:cubicBezTo>
                  <a:cubicBezTo>
                    <a:pt x="59" y="0"/>
                    <a:pt x="62" y="3"/>
                    <a:pt x="62" y="6"/>
                  </a:cubicBezTo>
                  <a:cubicBezTo>
                    <a:pt x="62" y="61"/>
                    <a:pt x="62" y="61"/>
                    <a:pt x="62" y="61"/>
                  </a:cubicBezTo>
                  <a:cubicBezTo>
                    <a:pt x="79" y="68"/>
                    <a:pt x="90" y="85"/>
                    <a:pt x="90" y="103"/>
                  </a:cubicBezTo>
                  <a:cubicBezTo>
                    <a:pt x="90" y="128"/>
                    <a:pt x="70" y="148"/>
                    <a:pt x="45" y="148"/>
                  </a:cubicBezTo>
                  <a:close/>
                  <a:moveTo>
                    <a:pt x="24" y="31"/>
                  </a:moveTo>
                  <a:cubicBezTo>
                    <a:pt x="34" y="31"/>
                    <a:pt x="34" y="31"/>
                    <a:pt x="34" y="31"/>
                  </a:cubicBezTo>
                  <a:cubicBezTo>
                    <a:pt x="37" y="31"/>
                    <a:pt x="40" y="34"/>
                    <a:pt x="40" y="37"/>
                  </a:cubicBezTo>
                  <a:cubicBezTo>
                    <a:pt x="40" y="66"/>
                    <a:pt x="40" y="66"/>
                    <a:pt x="40" y="66"/>
                  </a:cubicBezTo>
                  <a:cubicBezTo>
                    <a:pt x="40" y="68"/>
                    <a:pt x="38" y="71"/>
                    <a:pt x="36" y="71"/>
                  </a:cubicBezTo>
                  <a:cubicBezTo>
                    <a:pt x="22" y="76"/>
                    <a:pt x="12" y="89"/>
                    <a:pt x="12" y="103"/>
                  </a:cubicBezTo>
                  <a:cubicBezTo>
                    <a:pt x="12" y="121"/>
                    <a:pt x="27" y="136"/>
                    <a:pt x="45" y="136"/>
                  </a:cubicBezTo>
                  <a:cubicBezTo>
                    <a:pt x="63" y="136"/>
                    <a:pt x="78" y="121"/>
                    <a:pt x="78" y="103"/>
                  </a:cubicBezTo>
                  <a:cubicBezTo>
                    <a:pt x="78" y="89"/>
                    <a:pt x="68" y="76"/>
                    <a:pt x="54" y="71"/>
                  </a:cubicBezTo>
                  <a:cubicBezTo>
                    <a:pt x="52" y="71"/>
                    <a:pt x="50" y="68"/>
                    <a:pt x="50" y="66"/>
                  </a:cubicBezTo>
                  <a:cubicBezTo>
                    <a:pt x="50" y="12"/>
                    <a:pt x="50" y="12"/>
                    <a:pt x="50" y="12"/>
                  </a:cubicBezTo>
                  <a:cubicBezTo>
                    <a:pt x="40" y="12"/>
                    <a:pt x="40" y="12"/>
                    <a:pt x="40" y="12"/>
                  </a:cubicBezTo>
                  <a:cubicBezTo>
                    <a:pt x="40" y="19"/>
                    <a:pt x="40" y="19"/>
                    <a:pt x="40" y="19"/>
                  </a:cubicBezTo>
                  <a:cubicBezTo>
                    <a:pt x="40" y="22"/>
                    <a:pt x="37" y="25"/>
                    <a:pt x="34" y="25"/>
                  </a:cubicBezTo>
                  <a:cubicBezTo>
                    <a:pt x="24" y="25"/>
                    <a:pt x="24" y="25"/>
                    <a:pt x="24" y="25"/>
                  </a:cubicBezTo>
                  <a:lnTo>
                    <a:pt x="24"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grpSp>
      <p:grpSp>
        <p:nvGrpSpPr>
          <p:cNvPr id="31" name="组合 30"/>
          <p:cNvGrpSpPr/>
          <p:nvPr/>
        </p:nvGrpSpPr>
        <p:grpSpPr>
          <a:xfrm flipV="1">
            <a:off x="9188285" y="4201448"/>
            <a:ext cx="169845" cy="277414"/>
            <a:chOff x="6854192" y="3360118"/>
            <a:chExt cx="169845" cy="277414"/>
          </a:xfrm>
          <a:solidFill>
            <a:srgbClr val="30B5C5"/>
          </a:solidFill>
        </p:grpSpPr>
        <p:sp>
          <p:nvSpPr>
            <p:cNvPr id="36" name="Freeform 280"/>
            <p:cNvSpPr>
              <a:spLocks noEditPoints="1"/>
            </p:cNvSpPr>
            <p:nvPr/>
          </p:nvSpPr>
          <p:spPr bwMode="auto">
            <a:xfrm>
              <a:off x="6895709" y="3511091"/>
              <a:ext cx="86810" cy="84923"/>
            </a:xfrm>
            <a:custGeom>
              <a:avLst/>
              <a:gdLst>
                <a:gd name="T0" fmla="*/ 57964388 w 46"/>
                <a:gd name="T1" fmla="*/ 110943214 h 46"/>
                <a:gd name="T2" fmla="*/ 0 w 46"/>
                <a:gd name="T3" fmla="*/ 55471607 h 46"/>
                <a:gd name="T4" fmla="*/ 57964388 w 46"/>
                <a:gd name="T5" fmla="*/ 0 h 46"/>
                <a:gd name="T6" fmla="*/ 115927188 w 46"/>
                <a:gd name="T7" fmla="*/ 55471607 h 46"/>
                <a:gd name="T8" fmla="*/ 57964388 w 46"/>
                <a:gd name="T9" fmla="*/ 110943214 h 46"/>
                <a:gd name="T10" fmla="*/ 57964388 w 46"/>
                <a:gd name="T11" fmla="*/ 28941708 h 46"/>
                <a:gd name="T12" fmla="*/ 30241875 w 46"/>
                <a:gd name="T13" fmla="*/ 55471607 h 46"/>
                <a:gd name="T14" fmla="*/ 57964388 w 46"/>
                <a:gd name="T15" fmla="*/ 82001506 h 46"/>
                <a:gd name="T16" fmla="*/ 85685313 w 46"/>
                <a:gd name="T17" fmla="*/ 55471607 h 46"/>
                <a:gd name="T18" fmla="*/ 57964388 w 46"/>
                <a:gd name="T19" fmla="*/ 28941708 h 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 h="46">
                  <a:moveTo>
                    <a:pt x="23" y="46"/>
                  </a:moveTo>
                  <a:cubicBezTo>
                    <a:pt x="10" y="46"/>
                    <a:pt x="0" y="36"/>
                    <a:pt x="0" y="23"/>
                  </a:cubicBezTo>
                  <a:cubicBezTo>
                    <a:pt x="0" y="10"/>
                    <a:pt x="10" y="0"/>
                    <a:pt x="23" y="0"/>
                  </a:cubicBezTo>
                  <a:cubicBezTo>
                    <a:pt x="36" y="0"/>
                    <a:pt x="46" y="10"/>
                    <a:pt x="46" y="23"/>
                  </a:cubicBezTo>
                  <a:cubicBezTo>
                    <a:pt x="46" y="36"/>
                    <a:pt x="36" y="46"/>
                    <a:pt x="23" y="46"/>
                  </a:cubicBezTo>
                  <a:close/>
                  <a:moveTo>
                    <a:pt x="23" y="12"/>
                  </a:moveTo>
                  <a:cubicBezTo>
                    <a:pt x="17" y="12"/>
                    <a:pt x="12" y="17"/>
                    <a:pt x="12" y="23"/>
                  </a:cubicBezTo>
                  <a:cubicBezTo>
                    <a:pt x="12" y="29"/>
                    <a:pt x="17" y="34"/>
                    <a:pt x="23" y="34"/>
                  </a:cubicBezTo>
                  <a:cubicBezTo>
                    <a:pt x="29" y="34"/>
                    <a:pt x="34" y="29"/>
                    <a:pt x="34" y="23"/>
                  </a:cubicBezTo>
                  <a:cubicBezTo>
                    <a:pt x="34" y="17"/>
                    <a:pt x="29" y="12"/>
                    <a:pt x="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40" name="Freeform 281"/>
            <p:cNvSpPr>
              <a:spLocks noEditPoints="1"/>
            </p:cNvSpPr>
            <p:nvPr/>
          </p:nvSpPr>
          <p:spPr bwMode="auto">
            <a:xfrm>
              <a:off x="6854192" y="3360118"/>
              <a:ext cx="169845" cy="277414"/>
            </a:xfrm>
            <a:custGeom>
              <a:avLst/>
              <a:gdLst>
                <a:gd name="T0" fmla="*/ 113407825 w 90"/>
                <a:gd name="T1" fmla="*/ 367961417 h 148"/>
                <a:gd name="T2" fmla="*/ 0 w 90"/>
                <a:gd name="T3" fmla="*/ 256081203 h 148"/>
                <a:gd name="T4" fmla="*/ 70564375 w 90"/>
                <a:gd name="T5" fmla="*/ 151659145 h 148"/>
                <a:gd name="T6" fmla="*/ 70564375 w 90"/>
                <a:gd name="T7" fmla="*/ 106907059 h 148"/>
                <a:gd name="T8" fmla="*/ 45362813 w 90"/>
                <a:gd name="T9" fmla="*/ 106907059 h 148"/>
                <a:gd name="T10" fmla="*/ 30241875 w 90"/>
                <a:gd name="T11" fmla="*/ 91990749 h 148"/>
                <a:gd name="T12" fmla="*/ 30241875 w 90"/>
                <a:gd name="T13" fmla="*/ 47238663 h 148"/>
                <a:gd name="T14" fmla="*/ 45362813 w 90"/>
                <a:gd name="T15" fmla="*/ 32320776 h 148"/>
                <a:gd name="T16" fmla="*/ 70564375 w 90"/>
                <a:gd name="T17" fmla="*/ 32320776 h 148"/>
                <a:gd name="T18" fmla="*/ 70564375 w 90"/>
                <a:gd name="T19" fmla="*/ 14917887 h 148"/>
                <a:gd name="T20" fmla="*/ 85685313 w 90"/>
                <a:gd name="T21" fmla="*/ 0 h 148"/>
                <a:gd name="T22" fmla="*/ 141128750 w 90"/>
                <a:gd name="T23" fmla="*/ 0 h 148"/>
                <a:gd name="T24" fmla="*/ 156249688 w 90"/>
                <a:gd name="T25" fmla="*/ 14917887 h 148"/>
                <a:gd name="T26" fmla="*/ 156249688 w 90"/>
                <a:gd name="T27" fmla="*/ 151659145 h 148"/>
                <a:gd name="T28" fmla="*/ 226814063 w 90"/>
                <a:gd name="T29" fmla="*/ 256081203 h 148"/>
                <a:gd name="T30" fmla="*/ 113407825 w 90"/>
                <a:gd name="T31" fmla="*/ 367961417 h 148"/>
                <a:gd name="T32" fmla="*/ 60483750 w 90"/>
                <a:gd name="T33" fmla="*/ 77072861 h 148"/>
                <a:gd name="T34" fmla="*/ 85685313 w 90"/>
                <a:gd name="T35" fmla="*/ 77072861 h 148"/>
                <a:gd name="T36" fmla="*/ 100806250 w 90"/>
                <a:gd name="T37" fmla="*/ 91990749 h 148"/>
                <a:gd name="T38" fmla="*/ 100806250 w 90"/>
                <a:gd name="T39" fmla="*/ 164090455 h 148"/>
                <a:gd name="T40" fmla="*/ 90725625 w 90"/>
                <a:gd name="T41" fmla="*/ 176521765 h 148"/>
                <a:gd name="T42" fmla="*/ 30241875 w 90"/>
                <a:gd name="T43" fmla="*/ 256081203 h 148"/>
                <a:gd name="T44" fmla="*/ 113407825 w 90"/>
                <a:gd name="T45" fmla="*/ 338127219 h 148"/>
                <a:gd name="T46" fmla="*/ 196572188 w 90"/>
                <a:gd name="T47" fmla="*/ 256081203 h 148"/>
                <a:gd name="T48" fmla="*/ 136088438 w 90"/>
                <a:gd name="T49" fmla="*/ 176521765 h 148"/>
                <a:gd name="T50" fmla="*/ 126007813 w 90"/>
                <a:gd name="T51" fmla="*/ 164090455 h 148"/>
                <a:gd name="T52" fmla="*/ 126007813 w 90"/>
                <a:gd name="T53" fmla="*/ 29834198 h 148"/>
                <a:gd name="T54" fmla="*/ 100806250 w 90"/>
                <a:gd name="T55" fmla="*/ 29834198 h 148"/>
                <a:gd name="T56" fmla="*/ 100806250 w 90"/>
                <a:gd name="T57" fmla="*/ 47238663 h 148"/>
                <a:gd name="T58" fmla="*/ 85685313 w 90"/>
                <a:gd name="T59" fmla="*/ 62154974 h 148"/>
                <a:gd name="T60" fmla="*/ 60483750 w 90"/>
                <a:gd name="T61" fmla="*/ 62154974 h 148"/>
                <a:gd name="T62" fmla="*/ 60483750 w 90"/>
                <a:gd name="T63" fmla="*/ 77072861 h 1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0" h="148">
                  <a:moveTo>
                    <a:pt x="45" y="148"/>
                  </a:moveTo>
                  <a:cubicBezTo>
                    <a:pt x="20" y="148"/>
                    <a:pt x="0" y="128"/>
                    <a:pt x="0" y="103"/>
                  </a:cubicBezTo>
                  <a:cubicBezTo>
                    <a:pt x="0" y="85"/>
                    <a:pt x="11" y="68"/>
                    <a:pt x="28" y="61"/>
                  </a:cubicBezTo>
                  <a:cubicBezTo>
                    <a:pt x="28" y="43"/>
                    <a:pt x="28" y="43"/>
                    <a:pt x="28" y="43"/>
                  </a:cubicBezTo>
                  <a:cubicBezTo>
                    <a:pt x="18" y="43"/>
                    <a:pt x="18" y="43"/>
                    <a:pt x="18" y="43"/>
                  </a:cubicBezTo>
                  <a:cubicBezTo>
                    <a:pt x="14" y="43"/>
                    <a:pt x="12" y="40"/>
                    <a:pt x="12" y="37"/>
                  </a:cubicBezTo>
                  <a:cubicBezTo>
                    <a:pt x="12" y="19"/>
                    <a:pt x="12" y="19"/>
                    <a:pt x="12" y="19"/>
                  </a:cubicBezTo>
                  <a:cubicBezTo>
                    <a:pt x="12" y="16"/>
                    <a:pt x="14" y="13"/>
                    <a:pt x="18" y="13"/>
                  </a:cubicBezTo>
                  <a:cubicBezTo>
                    <a:pt x="28" y="13"/>
                    <a:pt x="28" y="13"/>
                    <a:pt x="28" y="13"/>
                  </a:cubicBezTo>
                  <a:cubicBezTo>
                    <a:pt x="28" y="6"/>
                    <a:pt x="28" y="6"/>
                    <a:pt x="28" y="6"/>
                  </a:cubicBezTo>
                  <a:cubicBezTo>
                    <a:pt x="28" y="3"/>
                    <a:pt x="30" y="0"/>
                    <a:pt x="34" y="0"/>
                  </a:cubicBezTo>
                  <a:cubicBezTo>
                    <a:pt x="56" y="0"/>
                    <a:pt x="56" y="0"/>
                    <a:pt x="56" y="0"/>
                  </a:cubicBezTo>
                  <a:cubicBezTo>
                    <a:pt x="59" y="0"/>
                    <a:pt x="62" y="3"/>
                    <a:pt x="62" y="6"/>
                  </a:cubicBezTo>
                  <a:cubicBezTo>
                    <a:pt x="62" y="61"/>
                    <a:pt x="62" y="61"/>
                    <a:pt x="62" y="61"/>
                  </a:cubicBezTo>
                  <a:cubicBezTo>
                    <a:pt x="79" y="68"/>
                    <a:pt x="90" y="85"/>
                    <a:pt x="90" y="103"/>
                  </a:cubicBezTo>
                  <a:cubicBezTo>
                    <a:pt x="90" y="128"/>
                    <a:pt x="70" y="148"/>
                    <a:pt x="45" y="148"/>
                  </a:cubicBezTo>
                  <a:close/>
                  <a:moveTo>
                    <a:pt x="24" y="31"/>
                  </a:moveTo>
                  <a:cubicBezTo>
                    <a:pt x="34" y="31"/>
                    <a:pt x="34" y="31"/>
                    <a:pt x="34" y="31"/>
                  </a:cubicBezTo>
                  <a:cubicBezTo>
                    <a:pt x="37" y="31"/>
                    <a:pt x="40" y="34"/>
                    <a:pt x="40" y="37"/>
                  </a:cubicBezTo>
                  <a:cubicBezTo>
                    <a:pt x="40" y="66"/>
                    <a:pt x="40" y="66"/>
                    <a:pt x="40" y="66"/>
                  </a:cubicBezTo>
                  <a:cubicBezTo>
                    <a:pt x="40" y="68"/>
                    <a:pt x="38" y="71"/>
                    <a:pt x="36" y="71"/>
                  </a:cubicBezTo>
                  <a:cubicBezTo>
                    <a:pt x="22" y="76"/>
                    <a:pt x="12" y="89"/>
                    <a:pt x="12" y="103"/>
                  </a:cubicBezTo>
                  <a:cubicBezTo>
                    <a:pt x="12" y="121"/>
                    <a:pt x="27" y="136"/>
                    <a:pt x="45" y="136"/>
                  </a:cubicBezTo>
                  <a:cubicBezTo>
                    <a:pt x="63" y="136"/>
                    <a:pt x="78" y="121"/>
                    <a:pt x="78" y="103"/>
                  </a:cubicBezTo>
                  <a:cubicBezTo>
                    <a:pt x="78" y="89"/>
                    <a:pt x="68" y="76"/>
                    <a:pt x="54" y="71"/>
                  </a:cubicBezTo>
                  <a:cubicBezTo>
                    <a:pt x="52" y="71"/>
                    <a:pt x="50" y="68"/>
                    <a:pt x="50" y="66"/>
                  </a:cubicBezTo>
                  <a:cubicBezTo>
                    <a:pt x="50" y="12"/>
                    <a:pt x="50" y="12"/>
                    <a:pt x="50" y="12"/>
                  </a:cubicBezTo>
                  <a:cubicBezTo>
                    <a:pt x="40" y="12"/>
                    <a:pt x="40" y="12"/>
                    <a:pt x="40" y="12"/>
                  </a:cubicBezTo>
                  <a:cubicBezTo>
                    <a:pt x="40" y="19"/>
                    <a:pt x="40" y="19"/>
                    <a:pt x="40" y="19"/>
                  </a:cubicBezTo>
                  <a:cubicBezTo>
                    <a:pt x="40" y="22"/>
                    <a:pt x="37" y="25"/>
                    <a:pt x="34" y="25"/>
                  </a:cubicBezTo>
                  <a:cubicBezTo>
                    <a:pt x="24" y="25"/>
                    <a:pt x="24" y="25"/>
                    <a:pt x="24" y="25"/>
                  </a:cubicBezTo>
                  <a:lnTo>
                    <a:pt x="24"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grpSp>
    </p:spTree>
    <p:extLst>
      <p:ext uri="{BB962C8B-B14F-4D97-AF65-F5344CB8AC3E}">
        <p14:creationId xmlns:p14="http://schemas.microsoft.com/office/powerpoint/2010/main" val="28563678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n 9">
            <a:extLst>
              <a:ext uri="{FF2B5EF4-FFF2-40B4-BE49-F238E27FC236}">
                <a16:creationId xmlns="" xmlns:a16="http://schemas.microsoft.com/office/drawing/2014/main" id="{550DF8FB-0BF1-49E3-B0F9-2B489FF49F06}"/>
              </a:ext>
            </a:extLst>
          </p:cNvPr>
          <p:cNvSpPr/>
          <p:nvPr/>
        </p:nvSpPr>
        <p:spPr bwMode="gray">
          <a:xfrm rot="5400000">
            <a:off x="3182470" y="3577146"/>
            <a:ext cx="2904070" cy="1768616"/>
          </a:xfrm>
          <a:prstGeom prst="can">
            <a:avLst>
              <a:gd name="adj" fmla="val 40000"/>
            </a:avLst>
          </a:prstGeom>
          <a:solidFill>
            <a:srgbClr val="56C4D2"/>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SSH</a:t>
            </a:r>
            <a:r>
              <a:rPr lang="zh-CN" altLang="en-US" smtClean="0">
                <a:sym typeface="Huawei Sans" panose="020C0503030203020204" pitchFamily="34" charset="0"/>
              </a:rPr>
              <a:t>连接协议</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连接协议将加密的会话连接多路复用成若干个逻辑通道，它提供了交互式登录会话，远程执行命令，</a:t>
            </a:r>
            <a:r>
              <a:rPr lang="en-US" altLang="zh-CN" sz="1800" dirty="0" smtClean="0">
                <a:sym typeface="Huawei Sans" panose="020C0503030203020204" pitchFamily="34" charset="0"/>
              </a:rPr>
              <a:t>TCP/IP</a:t>
            </a:r>
            <a:r>
              <a:rPr lang="zh-CN" altLang="en-US" sz="1800" dirty="0" smtClean="0">
                <a:sym typeface="Huawei Sans" panose="020C0503030203020204" pitchFamily="34" charset="0"/>
              </a:rPr>
              <a:t>连接转发和</a:t>
            </a:r>
            <a:r>
              <a:rPr lang="en-US" altLang="zh-CN" sz="1800" dirty="0" smtClean="0">
                <a:sym typeface="Huawei Sans" panose="020C0503030203020204" pitchFamily="34" charset="0"/>
              </a:rPr>
              <a:t>X11</a:t>
            </a:r>
            <a:r>
              <a:rPr lang="zh-CN" altLang="en-US" sz="1800" dirty="0" smtClean="0">
                <a:sym typeface="Huawei Sans" panose="020C0503030203020204" pitchFamily="34" charset="0"/>
              </a:rPr>
              <a:t>连接转发等功能。所有通道都复用一个会话连接。</a:t>
            </a:r>
          </a:p>
          <a:p>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连接协议在</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传输层和</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用户认证协议之上运行。</a:t>
            </a:r>
            <a:endParaRPr lang="en-US" altLang="zh-CN" sz="1800" dirty="0" smtClean="0">
              <a:sym typeface="Huawei Sans" panose="020C0503030203020204" pitchFamily="34" charset="0"/>
            </a:endParaRPr>
          </a:p>
          <a:p>
            <a:endParaRPr lang="en-US" altLang="zh-CN" sz="1800" dirty="0">
              <a:sym typeface="Huawei Sans" panose="020C0503030203020204" pitchFamily="34" charset="0"/>
            </a:endParaRPr>
          </a:p>
        </p:txBody>
      </p:sp>
      <p:sp>
        <p:nvSpPr>
          <p:cNvPr id="13" name="Can 225">
            <a:extLst>
              <a:ext uri="{FF2B5EF4-FFF2-40B4-BE49-F238E27FC236}">
                <a16:creationId xmlns="" xmlns:a16="http://schemas.microsoft.com/office/drawing/2014/main" id="{A9BF94CA-243B-48EE-A411-92B416672610}"/>
              </a:ext>
            </a:extLst>
          </p:cNvPr>
          <p:cNvSpPr/>
          <p:nvPr/>
        </p:nvSpPr>
        <p:spPr bwMode="gray">
          <a:xfrm rot="5400000">
            <a:off x="6063603" y="3105786"/>
            <a:ext cx="323164" cy="2017982"/>
          </a:xfrm>
          <a:prstGeom prst="can">
            <a:avLst>
              <a:gd name="adj" fmla="val 40000"/>
            </a:avLst>
          </a:prstGeom>
          <a:solidFill>
            <a:srgbClr val="D0E8C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Can 9">
            <a:extLst>
              <a:ext uri="{FF2B5EF4-FFF2-40B4-BE49-F238E27FC236}">
                <a16:creationId xmlns="" xmlns:a16="http://schemas.microsoft.com/office/drawing/2014/main" id="{37FBF1A5-1262-422D-8F72-2E35ADDABDD5}"/>
              </a:ext>
            </a:extLst>
          </p:cNvPr>
          <p:cNvSpPr/>
          <p:nvPr/>
        </p:nvSpPr>
        <p:spPr bwMode="gray">
          <a:xfrm rot="5400000">
            <a:off x="6081675" y="3689308"/>
            <a:ext cx="287014" cy="2017982"/>
          </a:xfrm>
          <a:prstGeom prst="can">
            <a:avLst>
              <a:gd name="adj" fmla="val 40000"/>
            </a:avLst>
          </a:prstGeom>
          <a:solidFill>
            <a:srgbClr val="BEE9E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Can 9">
            <a:extLst>
              <a:ext uri="{FF2B5EF4-FFF2-40B4-BE49-F238E27FC236}">
                <a16:creationId xmlns="" xmlns:a16="http://schemas.microsoft.com/office/drawing/2014/main" id="{CB668C7A-EB0A-4F8F-AF32-C4C3C9D6F34C}"/>
              </a:ext>
            </a:extLst>
          </p:cNvPr>
          <p:cNvSpPr/>
          <p:nvPr/>
        </p:nvSpPr>
        <p:spPr bwMode="gray">
          <a:xfrm rot="5400000">
            <a:off x="6058584" y="2523839"/>
            <a:ext cx="333200" cy="2017984"/>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70445" y="4554792"/>
            <a:ext cx="1977095" cy="338554"/>
          </a:xfrm>
          <a:prstGeom prst="rect">
            <a:avLst/>
          </a:prstGeom>
          <a:noFill/>
          <a:ln>
            <a:noFill/>
          </a:ln>
        </p:spPr>
        <p:txBody>
          <a:bodyPr wrap="square" rtlCol="0">
            <a:spAutoFit/>
          </a:bodyPr>
          <a:lstStyle/>
          <a:p>
            <a:r>
              <a:rPr lang="zh-CN" altLang="en-US" sz="1600" dirty="0">
                <a:sym typeface="Huawei Sans" panose="020C0503030203020204" pitchFamily="34" charset="0"/>
              </a:rPr>
              <a:t>交互式登录会话</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5216191" y="3398451"/>
            <a:ext cx="2900278" cy="323165"/>
          </a:xfrm>
          <a:prstGeom prst="rect">
            <a:avLst/>
          </a:prstGeom>
          <a:noFill/>
        </p:spPr>
        <p:txBody>
          <a:bodyPr wrap="square" rtlCol="0">
            <a:spAutoFit/>
          </a:bodyPr>
          <a:lstStyle/>
          <a:p>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TCP/IP</a:t>
            </a:r>
            <a:r>
              <a:rPr lang="zh-CN" altLang="en-US" sz="1500" dirty="0">
                <a:latin typeface="Huawei Sans" panose="020C0503030203020204" pitchFamily="34" charset="0"/>
                <a:ea typeface="方正兰亭黑简体" panose="02000000000000000000" pitchFamily="2" charset="-122"/>
                <a:sym typeface="Huawei Sans" panose="020C0503030203020204" pitchFamily="34" charset="0"/>
              </a:rPr>
              <a:t>转发通道</a:t>
            </a:r>
          </a:p>
        </p:txBody>
      </p:sp>
      <p:sp>
        <p:nvSpPr>
          <p:cNvPr id="19" name="文本框 18"/>
          <p:cNvSpPr txBox="1"/>
          <p:nvPr/>
        </p:nvSpPr>
        <p:spPr bwMode="gray">
          <a:xfrm>
            <a:off x="5265949" y="3953195"/>
            <a:ext cx="1709312" cy="323165"/>
          </a:xfrm>
          <a:prstGeom prst="rect">
            <a:avLst/>
          </a:prstGeom>
          <a:noFill/>
        </p:spPr>
        <p:txBody>
          <a:bodyPr wrap="square" rtlCol="0">
            <a:spAutoFit/>
          </a:bodyPr>
          <a:lstStyle/>
          <a:p>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X11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通道</a:t>
            </a:r>
          </a:p>
        </p:txBody>
      </p:sp>
      <p:sp>
        <p:nvSpPr>
          <p:cNvPr id="20" name="文本框 19"/>
          <p:cNvSpPr txBox="1"/>
          <p:nvPr/>
        </p:nvSpPr>
        <p:spPr bwMode="gray">
          <a:xfrm>
            <a:off x="3900513" y="4008488"/>
            <a:ext cx="893705" cy="707886"/>
          </a:xfrm>
          <a:prstGeom prst="rect">
            <a:avLst/>
          </a:prstGeom>
          <a:noFill/>
        </p:spPr>
        <p:txBody>
          <a:bodyPr wrap="square" rtlCol="0">
            <a:spAutoFit/>
          </a:bodyPr>
          <a:lstStyle/>
          <a:p>
            <a:r>
              <a:rPr lang="en-US" altLang="zh-CN" sz="2000" b="1">
                <a:solidFill>
                  <a:srgbClr val="F4FBFE"/>
                </a:solidFill>
                <a:latin typeface="Huawei Sans" panose="020C0503030203020204" pitchFamily="34" charset="0"/>
                <a:ea typeface="方正兰亭黑简体" panose="02000000000000000000" pitchFamily="2" charset="-122"/>
                <a:sym typeface="Huawei Sans" panose="020C0503030203020204" pitchFamily="34" charset="0"/>
              </a:rPr>
              <a:t>SSH</a:t>
            </a:r>
          </a:p>
          <a:p>
            <a:r>
              <a:rPr lang="zh-CN" altLang="en-US" sz="2000" b="1">
                <a:solidFill>
                  <a:srgbClr val="F4FBFE"/>
                </a:solidFill>
                <a:latin typeface="Huawei Sans" panose="020C0503030203020204" pitchFamily="34" charset="0"/>
                <a:ea typeface="方正兰亭黑简体" panose="02000000000000000000" pitchFamily="2" charset="-122"/>
                <a:sym typeface="Huawei Sans" panose="020C0503030203020204" pitchFamily="34" charset="0"/>
              </a:rPr>
              <a:t>连接</a:t>
            </a:r>
          </a:p>
        </p:txBody>
      </p:sp>
      <p:sp>
        <p:nvSpPr>
          <p:cNvPr id="27" name="Can 225">
            <a:extLst>
              <a:ext uri="{FF2B5EF4-FFF2-40B4-BE49-F238E27FC236}">
                <a16:creationId xmlns="" xmlns:a16="http://schemas.microsoft.com/office/drawing/2014/main" id="{A9BF94CA-243B-48EE-A411-92B416672610}"/>
              </a:ext>
            </a:extLst>
          </p:cNvPr>
          <p:cNvSpPr/>
          <p:nvPr/>
        </p:nvSpPr>
        <p:spPr bwMode="gray">
          <a:xfrm rot="5400000">
            <a:off x="6050805" y="4363934"/>
            <a:ext cx="299004" cy="1968227"/>
          </a:xfrm>
          <a:prstGeom prst="can">
            <a:avLst>
              <a:gd name="adj" fmla="val 40000"/>
            </a:avLst>
          </a:prstGeom>
          <a:solidFill>
            <a:srgbClr val="FEEEC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5265949" y="5185623"/>
            <a:ext cx="1718860" cy="338554"/>
          </a:xfrm>
          <a:prstGeom prst="rect">
            <a:avLst/>
          </a:prstGeom>
          <a:noFill/>
        </p:spPr>
        <p:txBody>
          <a:bodyPr wrap="square" rtlCol="0">
            <a:spAutoFit/>
          </a:bodyPr>
          <a:lstStyle/>
          <a:p>
            <a:r>
              <a:rPr lang="zh-CN" altLang="en-US" sz="1600" dirty="0">
                <a:sym typeface="Huawei Sans" panose="020C0503030203020204" pitchFamily="34" charset="0"/>
              </a:rPr>
              <a:t>远程执行命令</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27761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sym typeface="Huawei Sans" panose="020C0503030203020204" pitchFamily="34" charset="0"/>
              </a:rPr>
              <a:t>SSH</a:t>
            </a:r>
            <a:r>
              <a:rPr lang="zh-CN" altLang="en-US" b="1" dirty="0" smtClean="0">
                <a:sym typeface="Huawei Sans" panose="020C0503030203020204" pitchFamily="34" charset="0"/>
              </a:rPr>
              <a:t>介绍</a:t>
            </a:r>
            <a:endParaRPr lang="en-US" altLang="zh-CN" b="1"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简介</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SSH</a:t>
            </a:r>
            <a:r>
              <a:rPr lang="zh-CN" altLang="en-US" dirty="0" smtClean="0">
                <a:sym typeface="Huawei Sans" panose="020C0503030203020204" pitchFamily="34" charset="0"/>
              </a:rPr>
              <a:t>工作原理</a:t>
            </a:r>
            <a:endParaRPr lang="en-US" altLang="zh-CN"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简介</a:t>
            </a:r>
            <a:endParaRPr lang="en-US" altLang="zh-CN" dirty="0" smtClean="0">
              <a:solidFill>
                <a:schemeClr val="bg1">
                  <a:lumMod val="50000"/>
                </a:schemeClr>
              </a:solidFill>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37721418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SSH</a:t>
            </a:r>
            <a:r>
              <a:rPr lang="zh-CN" altLang="en-US" smtClean="0">
                <a:sym typeface="Huawei Sans" panose="020C0503030203020204" pitchFamily="34" charset="0"/>
              </a:rPr>
              <a:t>工作原理</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在整个通讯过程中，为实现</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的安全连接，服务器端与客户端要经历如下五个阶段：    </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版本协商阶段：</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目前包括</a:t>
            </a:r>
            <a:r>
              <a:rPr lang="en-US" altLang="zh-CN" sz="1600" dirty="0" smtClean="0">
                <a:sym typeface="Huawei Sans" panose="020C0503030203020204" pitchFamily="34" charset="0"/>
              </a:rPr>
              <a:t>SSH1</a:t>
            </a:r>
            <a:r>
              <a:rPr lang="zh-CN" altLang="en-US" sz="1600" dirty="0" smtClean="0">
                <a:sym typeface="Huawei Sans" panose="020C0503030203020204" pitchFamily="34" charset="0"/>
              </a:rPr>
              <a:t>和</a:t>
            </a:r>
            <a:r>
              <a:rPr lang="en-US" altLang="zh-CN" sz="1600" dirty="0" smtClean="0">
                <a:sym typeface="Huawei Sans" panose="020C0503030203020204" pitchFamily="34" charset="0"/>
              </a:rPr>
              <a:t>SSH2</a:t>
            </a:r>
            <a:r>
              <a:rPr lang="zh-CN" altLang="en-US" sz="1600" dirty="0" smtClean="0">
                <a:sym typeface="Huawei Sans" panose="020C0503030203020204" pitchFamily="34" charset="0"/>
              </a:rPr>
              <a:t>两个版本，双方通过版本协商确定使用的版本。    </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算法协商阶段：</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支持多种加密算法，双方根据本端和对端支持的算法，协商出最终使用的加密算法。</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密钥交换阶段：通过密钥交换算法生成会话密钥，此后双方的会话均通过会话密钥加密。</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用户认证阶段：</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客户端向服务器端发起认证请求，服务器端对客户端进行认证。   </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会话交互阶段：认证通过后，服务器端和客户端进行信息的交互。 </a:t>
            </a:r>
            <a:endParaRPr lang="zh-CN" altLang="en-US" sz="1600" dirty="0">
              <a:sym typeface="Huawei Sans" panose="020C0503030203020204" pitchFamily="34" charset="0"/>
            </a:endParaRPr>
          </a:p>
        </p:txBody>
      </p:sp>
      <p:sp>
        <p:nvSpPr>
          <p:cNvPr id="24" name="箭头: 左右 2">
            <a:extLst>
              <a:ext uri="{FF2B5EF4-FFF2-40B4-BE49-F238E27FC236}">
                <a16:creationId xmlns="" xmlns:a16="http://schemas.microsoft.com/office/drawing/2014/main" id="{1DD5D190-80A5-44E8-A5F6-AC5FFC413C7D}"/>
              </a:ext>
            </a:extLst>
          </p:cNvPr>
          <p:cNvSpPr/>
          <p:nvPr/>
        </p:nvSpPr>
        <p:spPr bwMode="gray">
          <a:xfrm>
            <a:off x="3775629" y="5275814"/>
            <a:ext cx="4027696" cy="571354"/>
          </a:xfrm>
          <a:prstGeom prst="leftRightArrow">
            <a:avLst/>
          </a:prstGeom>
          <a:solidFill>
            <a:srgbClr val="BEE9EE"/>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5" name="组合 24">
            <a:extLst>
              <a:ext uri="{FF2B5EF4-FFF2-40B4-BE49-F238E27FC236}">
                <a16:creationId xmlns="" xmlns:a16="http://schemas.microsoft.com/office/drawing/2014/main" id="{B86C6D83-5D88-43F0-8BE9-821D6F23118C}"/>
              </a:ext>
            </a:extLst>
          </p:cNvPr>
          <p:cNvGrpSpPr/>
          <p:nvPr/>
        </p:nvGrpSpPr>
        <p:grpSpPr bwMode="gray">
          <a:xfrm>
            <a:off x="2552797" y="4680000"/>
            <a:ext cx="1961891" cy="338554"/>
            <a:chOff x="5269164" y="3424619"/>
            <a:chExt cx="1961891" cy="338554"/>
          </a:xfrm>
        </p:grpSpPr>
        <p:sp>
          <p:nvSpPr>
            <p:cNvPr id="26" name="文本框 25">
              <a:extLst>
                <a:ext uri="{FF2B5EF4-FFF2-40B4-BE49-F238E27FC236}">
                  <a16:creationId xmlns="" xmlns:a16="http://schemas.microsoft.com/office/drawing/2014/main" id="{3C3FF089-B9AB-42DE-B035-C48333AFF041}"/>
                </a:ext>
              </a:extLst>
            </p:cNvPr>
            <p:cNvSpPr txBox="1"/>
            <p:nvPr/>
          </p:nvSpPr>
          <p:spPr bwMode="gray">
            <a:xfrm>
              <a:off x="5595772" y="3424619"/>
              <a:ext cx="1635283"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版本协商</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4">
              <a:extLst>
                <a:ext uri="{FF2B5EF4-FFF2-40B4-BE49-F238E27FC236}">
                  <a16:creationId xmlns="" xmlns:a16="http://schemas.microsoft.com/office/drawing/2014/main" id="{326250CA-CF09-4735-979F-1C7560E92239}"/>
                </a:ext>
              </a:extLst>
            </p:cNvPr>
            <p:cNvSpPr>
              <a:spLocks noChangeAspect="1"/>
            </p:cNvSpPr>
            <p:nvPr/>
          </p:nvSpPr>
          <p:spPr bwMode="gray">
            <a:xfrm>
              <a:off x="5269164" y="3471419"/>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 name="组合 27">
            <a:extLst>
              <a:ext uri="{FF2B5EF4-FFF2-40B4-BE49-F238E27FC236}">
                <a16:creationId xmlns="" xmlns:a16="http://schemas.microsoft.com/office/drawing/2014/main" id="{9BEEBDB9-1EBF-4AB7-B2E0-931A7402743D}"/>
              </a:ext>
            </a:extLst>
          </p:cNvPr>
          <p:cNvGrpSpPr/>
          <p:nvPr/>
        </p:nvGrpSpPr>
        <p:grpSpPr bwMode="gray">
          <a:xfrm>
            <a:off x="4066591" y="4680000"/>
            <a:ext cx="2039817" cy="338554"/>
            <a:chOff x="5269164" y="4006765"/>
            <a:chExt cx="2039817" cy="338554"/>
          </a:xfrm>
        </p:grpSpPr>
        <p:sp>
          <p:nvSpPr>
            <p:cNvPr id="29" name="文本框 28">
              <a:extLst>
                <a:ext uri="{FF2B5EF4-FFF2-40B4-BE49-F238E27FC236}">
                  <a16:creationId xmlns="" xmlns:a16="http://schemas.microsoft.com/office/drawing/2014/main" id="{9F8FF9AC-0966-48FF-9B6A-C55F02E0466D}"/>
                </a:ext>
              </a:extLst>
            </p:cNvPr>
            <p:cNvSpPr txBox="1"/>
            <p:nvPr/>
          </p:nvSpPr>
          <p:spPr bwMode="gray">
            <a:xfrm>
              <a:off x="5625786" y="4006765"/>
              <a:ext cx="1683195"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算法协商</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4">
              <a:extLst>
                <a:ext uri="{FF2B5EF4-FFF2-40B4-BE49-F238E27FC236}">
                  <a16:creationId xmlns="" xmlns:a16="http://schemas.microsoft.com/office/drawing/2014/main" id="{AB36BB67-50C4-4E49-B8BF-D809C4603A5F}"/>
                </a:ext>
              </a:extLst>
            </p:cNvPr>
            <p:cNvSpPr>
              <a:spLocks noChangeAspect="1"/>
            </p:cNvSpPr>
            <p:nvPr/>
          </p:nvSpPr>
          <p:spPr bwMode="gray">
            <a:xfrm>
              <a:off x="5269164" y="4054862"/>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1" name="组合 30">
            <a:extLst>
              <a:ext uri="{FF2B5EF4-FFF2-40B4-BE49-F238E27FC236}">
                <a16:creationId xmlns="" xmlns:a16="http://schemas.microsoft.com/office/drawing/2014/main" id="{D1EE8611-47E7-4C95-B9EB-DE65A14963ED}"/>
              </a:ext>
            </a:extLst>
          </p:cNvPr>
          <p:cNvGrpSpPr/>
          <p:nvPr/>
        </p:nvGrpSpPr>
        <p:grpSpPr bwMode="gray">
          <a:xfrm>
            <a:off x="5492525" y="4680000"/>
            <a:ext cx="1934275" cy="338554"/>
            <a:chOff x="5269164" y="4701535"/>
            <a:chExt cx="1934275" cy="338554"/>
          </a:xfrm>
        </p:grpSpPr>
        <p:sp>
          <p:nvSpPr>
            <p:cNvPr id="32" name="文本框 31">
              <a:extLst>
                <a:ext uri="{FF2B5EF4-FFF2-40B4-BE49-F238E27FC236}">
                  <a16:creationId xmlns="" xmlns:a16="http://schemas.microsoft.com/office/drawing/2014/main" id="{79F6DA42-39F5-4439-BAD4-D91DC70CB75F}"/>
                </a:ext>
              </a:extLst>
            </p:cNvPr>
            <p:cNvSpPr txBox="1"/>
            <p:nvPr/>
          </p:nvSpPr>
          <p:spPr bwMode="gray">
            <a:xfrm>
              <a:off x="5595772" y="4701535"/>
              <a:ext cx="1607667"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密钥交换</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4">
              <a:extLst>
                <a:ext uri="{FF2B5EF4-FFF2-40B4-BE49-F238E27FC236}">
                  <a16:creationId xmlns="" xmlns:a16="http://schemas.microsoft.com/office/drawing/2014/main" id="{0EE1AD7F-68A4-4413-8AFD-75A231DBC65B}"/>
                </a:ext>
              </a:extLst>
            </p:cNvPr>
            <p:cNvSpPr>
              <a:spLocks noChangeAspect="1"/>
            </p:cNvSpPr>
            <p:nvPr/>
          </p:nvSpPr>
          <p:spPr bwMode="gray">
            <a:xfrm>
              <a:off x="5269164" y="4748335"/>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文本框 33"/>
          <p:cNvSpPr txBox="1"/>
          <p:nvPr/>
        </p:nvSpPr>
        <p:spPr bwMode="gray">
          <a:xfrm>
            <a:off x="2114226" y="5508614"/>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8647839" y="5451249"/>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descr="PC.png"/>
          <p:cNvPicPr>
            <a:picLocks noChangeAspect="1"/>
          </p:cNvPicPr>
          <p:nvPr/>
        </p:nvPicPr>
        <p:blipFill>
          <a:blip r:embed="rId3" cstate="print"/>
          <a:stretch>
            <a:fillRect/>
          </a:stretch>
        </p:blipFill>
        <p:spPr bwMode="gray">
          <a:xfrm>
            <a:off x="2931115" y="5335547"/>
            <a:ext cx="576563" cy="442800"/>
          </a:xfrm>
          <a:prstGeom prst="rect">
            <a:avLst/>
          </a:prstGeom>
        </p:spPr>
      </p:pic>
      <p:pic>
        <p:nvPicPr>
          <p:cNvPr id="37" name="图片 3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084116" y="5301224"/>
            <a:ext cx="540000" cy="442800"/>
          </a:xfrm>
          <a:prstGeom prst="rect">
            <a:avLst/>
          </a:prstGeom>
        </p:spPr>
      </p:pic>
      <p:grpSp>
        <p:nvGrpSpPr>
          <p:cNvPr id="38" name="组合 37">
            <a:extLst>
              <a:ext uri="{FF2B5EF4-FFF2-40B4-BE49-F238E27FC236}">
                <a16:creationId xmlns="" xmlns:a16="http://schemas.microsoft.com/office/drawing/2014/main" id="{D1EE8611-47E7-4C95-B9EB-DE65A14963ED}"/>
              </a:ext>
            </a:extLst>
          </p:cNvPr>
          <p:cNvGrpSpPr/>
          <p:nvPr/>
        </p:nvGrpSpPr>
        <p:grpSpPr bwMode="gray">
          <a:xfrm>
            <a:off x="6836187" y="4680000"/>
            <a:ext cx="1934275" cy="338554"/>
            <a:chOff x="5269164" y="4701535"/>
            <a:chExt cx="1934275" cy="338554"/>
          </a:xfrm>
        </p:grpSpPr>
        <p:sp>
          <p:nvSpPr>
            <p:cNvPr id="39" name="文本框 38">
              <a:extLst>
                <a:ext uri="{FF2B5EF4-FFF2-40B4-BE49-F238E27FC236}">
                  <a16:creationId xmlns="" xmlns:a16="http://schemas.microsoft.com/office/drawing/2014/main" id="{79F6DA42-39F5-4439-BAD4-D91DC70CB75F}"/>
                </a:ext>
              </a:extLst>
            </p:cNvPr>
            <p:cNvSpPr txBox="1"/>
            <p:nvPr/>
          </p:nvSpPr>
          <p:spPr bwMode="gray">
            <a:xfrm>
              <a:off x="5595772" y="4701535"/>
              <a:ext cx="1607667"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
              <a:extLst>
                <a:ext uri="{FF2B5EF4-FFF2-40B4-BE49-F238E27FC236}">
                  <a16:creationId xmlns="" xmlns:a16="http://schemas.microsoft.com/office/drawing/2014/main" id="{0EE1AD7F-68A4-4413-8AFD-75A231DBC65B}"/>
                </a:ext>
              </a:extLst>
            </p:cNvPr>
            <p:cNvSpPr>
              <a:spLocks noChangeAspect="1"/>
            </p:cNvSpPr>
            <p:nvPr/>
          </p:nvSpPr>
          <p:spPr bwMode="gray">
            <a:xfrm>
              <a:off x="5269164" y="4748335"/>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1" name="组合 40">
            <a:extLst>
              <a:ext uri="{FF2B5EF4-FFF2-40B4-BE49-F238E27FC236}">
                <a16:creationId xmlns="" xmlns:a16="http://schemas.microsoft.com/office/drawing/2014/main" id="{D1EE8611-47E7-4C95-B9EB-DE65A14963ED}"/>
              </a:ext>
            </a:extLst>
          </p:cNvPr>
          <p:cNvGrpSpPr/>
          <p:nvPr/>
        </p:nvGrpSpPr>
        <p:grpSpPr bwMode="gray">
          <a:xfrm>
            <a:off x="8339561" y="4680000"/>
            <a:ext cx="1934275" cy="338554"/>
            <a:chOff x="5269164" y="4701535"/>
            <a:chExt cx="1934275" cy="338554"/>
          </a:xfrm>
        </p:grpSpPr>
        <p:sp>
          <p:nvSpPr>
            <p:cNvPr id="42" name="文本框 41">
              <a:extLst>
                <a:ext uri="{FF2B5EF4-FFF2-40B4-BE49-F238E27FC236}">
                  <a16:creationId xmlns="" xmlns:a16="http://schemas.microsoft.com/office/drawing/2014/main" id="{79F6DA42-39F5-4439-BAD4-D91DC70CB75F}"/>
                </a:ext>
              </a:extLst>
            </p:cNvPr>
            <p:cNvSpPr txBox="1"/>
            <p:nvPr/>
          </p:nvSpPr>
          <p:spPr bwMode="gray">
            <a:xfrm>
              <a:off x="5595772" y="4701535"/>
              <a:ext cx="1607667"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Oval 4">
              <a:extLst>
                <a:ext uri="{FF2B5EF4-FFF2-40B4-BE49-F238E27FC236}">
                  <a16:creationId xmlns="" xmlns:a16="http://schemas.microsoft.com/office/drawing/2014/main" id="{0EE1AD7F-68A4-4413-8AFD-75A231DBC65B}"/>
                </a:ext>
              </a:extLst>
            </p:cNvPr>
            <p:cNvSpPr>
              <a:spLocks noChangeAspect="1"/>
            </p:cNvSpPr>
            <p:nvPr/>
          </p:nvSpPr>
          <p:spPr bwMode="gray">
            <a:xfrm>
              <a:off x="5269164" y="4748335"/>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3" name="肘形连接符 12"/>
          <p:cNvCxnSpPr/>
          <p:nvPr/>
        </p:nvCxnSpPr>
        <p:spPr bwMode="gray">
          <a:xfrm rot="5400000" flipH="1" flipV="1">
            <a:off x="4148661" y="3214404"/>
            <a:ext cx="12700" cy="2939728"/>
          </a:xfrm>
          <a:prstGeom prst="bentConnector3">
            <a:avLst>
              <a:gd name="adj1" fmla="val 1967441"/>
            </a:avLst>
          </a:prstGeom>
          <a:ln w="19050">
            <a:solidFill>
              <a:srgbClr val="94DAE2"/>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57" idx="2"/>
          </p:cNvCxnSpPr>
          <p:nvPr/>
        </p:nvCxnSpPr>
        <p:spPr bwMode="gray">
          <a:xfrm flipV="1">
            <a:off x="4197543" y="4358310"/>
            <a:ext cx="0" cy="362140"/>
          </a:xfrm>
          <a:prstGeom prst="line">
            <a:avLst/>
          </a:prstGeom>
          <a:ln w="19050">
            <a:solidFill>
              <a:srgbClr val="94DAE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58" idx="2"/>
          </p:cNvCxnSpPr>
          <p:nvPr/>
        </p:nvCxnSpPr>
        <p:spPr bwMode="gray">
          <a:xfrm flipV="1">
            <a:off x="6962187" y="4359600"/>
            <a:ext cx="0" cy="360850"/>
          </a:xfrm>
          <a:prstGeom prst="line">
            <a:avLst/>
          </a:prstGeom>
          <a:ln w="19050">
            <a:solidFill>
              <a:srgbClr val="94DAE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a:endCxn id="59" idx="2"/>
          </p:cNvCxnSpPr>
          <p:nvPr/>
        </p:nvCxnSpPr>
        <p:spPr bwMode="gray">
          <a:xfrm flipV="1">
            <a:off x="8465061" y="3999600"/>
            <a:ext cx="0" cy="241797"/>
          </a:xfrm>
          <a:prstGeom prst="line">
            <a:avLst/>
          </a:prstGeom>
        </p:spPr>
        <p:style>
          <a:lnRef idx="1">
            <a:schemeClr val="accent1"/>
          </a:lnRef>
          <a:fillRef idx="0">
            <a:schemeClr val="accent1"/>
          </a:fillRef>
          <a:effectRef idx="0">
            <a:schemeClr val="accent1"/>
          </a:effectRef>
          <a:fontRef idx="minor">
            <a:schemeClr val="tx1"/>
          </a:fontRef>
        </p:style>
      </p:cxnSp>
      <p:sp>
        <p:nvSpPr>
          <p:cNvPr id="57" name="圆角矩形 56"/>
          <p:cNvSpPr/>
          <p:nvPr/>
        </p:nvSpPr>
        <p:spPr bwMode="gray">
          <a:xfrm>
            <a:off x="3450744" y="3998310"/>
            <a:ext cx="1493597" cy="360000"/>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传输层协议</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7"/>
          <p:cNvSpPr/>
          <p:nvPr/>
        </p:nvSpPr>
        <p:spPr bwMode="gray">
          <a:xfrm>
            <a:off x="6244975" y="3999600"/>
            <a:ext cx="1434423" cy="360000"/>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用户认证协议</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8"/>
          <p:cNvSpPr/>
          <p:nvPr/>
        </p:nvSpPr>
        <p:spPr bwMode="gray">
          <a:xfrm>
            <a:off x="7800405" y="3999600"/>
            <a:ext cx="1329312" cy="355895"/>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连接协议</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p:nvPr/>
        </p:nvCxnSpPr>
        <p:spPr bwMode="gray">
          <a:xfrm flipV="1">
            <a:off x="8465061" y="4356614"/>
            <a:ext cx="0" cy="360850"/>
          </a:xfrm>
          <a:prstGeom prst="line">
            <a:avLst/>
          </a:prstGeom>
          <a:ln w="19050">
            <a:solidFill>
              <a:srgbClr val="94DAE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5176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版本协商阶段</a:t>
            </a:r>
            <a:endParaRPr lang="zh-CN" altLang="en-US">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客户端和服务器交互</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版本协商报文，确定</a:t>
            </a:r>
            <a:r>
              <a:rPr lang="en-US" altLang="zh-CN" sz="1800" dirty="0" smtClean="0">
                <a:sym typeface="Huawei Sans" panose="020C0503030203020204" pitchFamily="34" charset="0"/>
              </a:rPr>
              <a:t>V1</a:t>
            </a:r>
            <a:r>
              <a:rPr lang="zh-CN" altLang="en-US" sz="1800" dirty="0" smtClean="0">
                <a:sym typeface="Huawei Sans" panose="020C0503030203020204" pitchFamily="34" charset="0"/>
              </a:rPr>
              <a:t>或</a:t>
            </a:r>
            <a:r>
              <a:rPr lang="en-US" altLang="zh-CN" sz="1800" dirty="0" smtClean="0">
                <a:sym typeface="Huawei Sans" panose="020C0503030203020204" pitchFamily="34" charset="0"/>
              </a:rPr>
              <a:t>V2</a:t>
            </a:r>
            <a:r>
              <a:rPr lang="zh-CN" altLang="en-US" sz="1800" dirty="0" smtClean="0">
                <a:sym typeface="Huawei Sans" panose="020C0503030203020204" pitchFamily="34" charset="0"/>
              </a:rPr>
              <a:t>版本。</a:t>
            </a:r>
            <a:endParaRPr lang="zh-CN" altLang="en-US" sz="1800" dirty="0">
              <a:sym typeface="Huawei Sans" panose="020C0503030203020204" pitchFamily="34" charset="0"/>
            </a:endParaRPr>
          </a:p>
        </p:txBody>
      </p:sp>
      <p:cxnSp>
        <p:nvCxnSpPr>
          <p:cNvPr id="56" name="直接连接符 55"/>
          <p:cNvCxnSpPr/>
          <p:nvPr/>
        </p:nvCxnSpPr>
        <p:spPr bwMode="gray">
          <a:xfrm>
            <a:off x="3173202" y="2063006"/>
            <a:ext cx="2707" cy="4061716"/>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4570" y="2004265"/>
            <a:ext cx="14964" cy="4120457"/>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bwMode="gray">
          <a:xfrm>
            <a:off x="2126087" y="1725614"/>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8852572" y="1724795"/>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59" descr="PC.png"/>
          <p:cNvPicPr>
            <a:picLocks noChangeAspect="1"/>
          </p:cNvPicPr>
          <p:nvPr/>
        </p:nvPicPr>
        <p:blipFill>
          <a:blip r:embed="rId3" cstate="print"/>
          <a:stretch>
            <a:fillRect/>
          </a:stretch>
        </p:blipFill>
        <p:spPr bwMode="gray">
          <a:xfrm>
            <a:off x="2931115" y="1641798"/>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1641678"/>
            <a:ext cx="540000" cy="442800"/>
          </a:xfrm>
          <a:prstGeom prst="rect">
            <a:avLst/>
          </a:prstGeom>
        </p:spPr>
      </p:pic>
      <p:sp>
        <p:nvSpPr>
          <p:cNvPr id="127" name="矩形 126"/>
          <p:cNvSpPr/>
          <p:nvPr/>
        </p:nvSpPr>
        <p:spPr bwMode="gray">
          <a:xfrm>
            <a:off x="4917162" y="4202029"/>
            <a:ext cx="2254143"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Server Protocol:SSH-2.0--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1617123" y="3668290"/>
            <a:ext cx="1533186"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版本</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协商</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3184495" y="3815348"/>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flipH="1">
            <a:off x="3184495" y="4520853"/>
            <a:ext cx="5400000" cy="1"/>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34" idx="1"/>
          </p:cNvCxnSpPr>
          <p:nvPr/>
        </p:nvCxnSpPr>
        <p:spPr bwMode="gray">
          <a:xfrm flipH="1">
            <a:off x="3173203" y="2859174"/>
            <a:ext cx="2101431" cy="4646"/>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gray">
          <a:xfrm>
            <a:off x="5274634" y="2705285"/>
            <a:ext cx="1215397" cy="307777"/>
          </a:xfrm>
          <a:prstGeom prst="rect">
            <a:avLst/>
          </a:prstGeom>
        </p:spPr>
        <p:txBody>
          <a:bodyPr wrap="none" anchor="ctr">
            <a:spAutoFit/>
          </a:bodyPr>
          <a:lstStyle/>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连接建立</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gray">
          <a:xfrm>
            <a:off x="6508057" y="2844067"/>
            <a:ext cx="2073301"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矩形 60"/>
          <p:cNvSpPr/>
          <p:nvPr/>
        </p:nvSpPr>
        <p:spPr bwMode="gray">
          <a:xfrm>
            <a:off x="1675373" y="2704732"/>
            <a:ext cx="1215397"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三次握手</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4560259" y="3496523"/>
            <a:ext cx="3953447" cy="307777"/>
          </a:xfrm>
          <a:prstGeom prst="rect">
            <a:avLst/>
          </a:prstGeom>
          <a:noFill/>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client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Protocol:SSH-2.0-paramiko_2.7.1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8912558" y="4374196"/>
            <a:ext cx="1383520"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版本协商</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3" name="表格 72"/>
          <p:cNvGraphicFramePr>
            <a:graphicFrameLocks noGrp="1"/>
          </p:cNvGraphicFramePr>
          <p:nvPr>
            <p:extLst>
              <p:ext uri="{D42A27DB-BD31-4B8C-83A1-F6EECF244321}">
                <p14:modId xmlns:p14="http://schemas.microsoft.com/office/powerpoint/2010/main" val="2110528698"/>
              </p:ext>
            </p:extLst>
          </p:nvPr>
        </p:nvGraphicFramePr>
        <p:xfrm>
          <a:off x="4166886" y="5205982"/>
          <a:ext cx="3912243" cy="518160"/>
        </p:xfrm>
        <a:graphic>
          <a:graphicData uri="http://schemas.openxmlformats.org/drawingml/2006/table">
            <a:tbl>
              <a:tblPr firstRow="1" bandRow="1">
                <a:tableStyleId>{7E9639D4-E3E2-4D34-9284-5A2195B3D0D7}</a:tableStyleId>
              </a:tblPr>
              <a:tblGrid>
                <a:gridCol w="872132">
                  <a:extLst>
                    <a:ext uri="{9D8B030D-6E8A-4147-A177-3AD203B41FA5}">
                      <a16:colId xmlns="" xmlns:a16="http://schemas.microsoft.com/office/drawing/2014/main" val="20000"/>
                    </a:ext>
                  </a:extLst>
                </a:gridCol>
                <a:gridCol w="3040111">
                  <a:extLst>
                    <a:ext uri="{9D8B030D-6E8A-4147-A177-3AD203B41FA5}">
                      <a16:colId xmlns="" xmlns:a16="http://schemas.microsoft.com/office/drawing/2014/main" val="20001"/>
                    </a:ext>
                  </a:extLst>
                </a:gridCol>
              </a:tblGrid>
              <a:tr h="462440">
                <a:tc>
                  <a:txBody>
                    <a:bodyPr/>
                    <a:lstStyle/>
                    <a:p>
                      <a:pPr algn="ct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Protocol</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SSH-&lt;</a:t>
                      </a:r>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主协议版本号</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&gt;</a:t>
                      </a:r>
                    </a:p>
                    <a:p>
                      <a:pPr algn="ctr"/>
                      <a:r>
                        <a:rPr lang="en-US" altLang="zh-CN" sz="1400" b="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a:t>
                      </a:r>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次协议版本号</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&gt;-&lt;</a:t>
                      </a:r>
                      <a:r>
                        <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软件版本号</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bl>
          </a:graphicData>
        </a:graphic>
      </p:graphicFrame>
      <p:sp>
        <p:nvSpPr>
          <p:cNvPr id="81" name="五边形 80"/>
          <p:cNvSpPr/>
          <p:nvPr/>
        </p:nvSpPr>
        <p:spPr bwMode="gray">
          <a:xfrm>
            <a:off x="6824455" y="126000"/>
            <a:ext cx="1055909" cy="212400"/>
          </a:xfrm>
          <a:prstGeom prst="homePlate">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82" name="燕尾形 81"/>
          <p:cNvSpPr/>
          <p:nvPr/>
        </p:nvSpPr>
        <p:spPr bwMode="gray">
          <a:xfrm>
            <a:off x="7791239"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83" name="燕尾形 82"/>
          <p:cNvSpPr/>
          <p:nvPr/>
        </p:nvSpPr>
        <p:spPr bwMode="gray">
          <a:xfrm>
            <a:off x="8758023"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密钥交换</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燕尾形 83"/>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84"/>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Oval 4"/>
          <p:cNvSpPr>
            <a:spLocks noChangeAspect="1"/>
          </p:cNvSpPr>
          <p:nvPr/>
        </p:nvSpPr>
        <p:spPr bwMode="gray">
          <a:xfrm>
            <a:off x="2888926" y="3679377"/>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Oval 4"/>
          <p:cNvSpPr>
            <a:spLocks noChangeAspect="1"/>
          </p:cNvSpPr>
          <p:nvPr/>
        </p:nvSpPr>
        <p:spPr bwMode="gray">
          <a:xfrm>
            <a:off x="8625197" y="4383806"/>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Oval 4"/>
          <p:cNvSpPr>
            <a:spLocks noChangeAspect="1"/>
          </p:cNvSpPr>
          <p:nvPr/>
        </p:nvSpPr>
        <p:spPr bwMode="gray">
          <a:xfrm>
            <a:off x="2890770" y="2728917"/>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箭头连接符 5"/>
          <p:cNvCxnSpPr>
            <a:stCxn id="127" idx="2"/>
          </p:cNvCxnSpPr>
          <p:nvPr/>
        </p:nvCxnSpPr>
        <p:spPr>
          <a:xfrm flipH="1">
            <a:off x="5867400" y="4509806"/>
            <a:ext cx="176834" cy="69617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6157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算法协商阶段</a:t>
            </a:r>
            <a:endParaRPr lang="zh-CN" altLang="en-US">
              <a:sym typeface="Huawei Sans" panose="020C0503030203020204" pitchFamily="34" charset="0"/>
            </a:endParaRPr>
          </a:p>
        </p:txBody>
      </p:sp>
      <p:sp>
        <p:nvSpPr>
          <p:cNvPr id="28"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客户端和服务器交互自己支持的算法列表，该列表包括四种算法的具体算法名称。</a:t>
            </a:r>
            <a:endParaRPr lang="zh-CN" altLang="en-US" sz="1800" dirty="0">
              <a:sym typeface="Huawei Sans" panose="020C0503030203020204" pitchFamily="34" charset="0"/>
            </a:endParaRPr>
          </a:p>
        </p:txBody>
      </p:sp>
      <p:cxnSp>
        <p:nvCxnSpPr>
          <p:cNvPr id="56" name="直接连接符 55"/>
          <p:cNvCxnSpPr/>
          <p:nvPr/>
        </p:nvCxnSpPr>
        <p:spPr bwMode="gray">
          <a:xfrm>
            <a:off x="3173202" y="2065835"/>
            <a:ext cx="2707" cy="4061716"/>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4570" y="2007094"/>
            <a:ext cx="0" cy="406171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3" cstate="print"/>
          <a:stretch>
            <a:fillRect/>
          </a:stretch>
        </p:blipFill>
        <p:spPr bwMode="gray">
          <a:xfrm>
            <a:off x="2931115" y="1609783"/>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1609783"/>
            <a:ext cx="540000" cy="442800"/>
          </a:xfrm>
          <a:prstGeom prst="rect">
            <a:avLst/>
          </a:prstGeom>
        </p:spPr>
      </p:pic>
      <p:sp>
        <p:nvSpPr>
          <p:cNvPr id="127" name="矩形 126"/>
          <p:cNvSpPr/>
          <p:nvPr/>
        </p:nvSpPr>
        <p:spPr bwMode="gray">
          <a:xfrm>
            <a:off x="4917162" y="1936220"/>
            <a:ext cx="2180405"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Server:Key Exchange Init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1615491" y="4150977"/>
            <a:ext cx="1326978"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发送自己支持的算法</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列表。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3184495" y="4325106"/>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flipH="1" flipV="1">
            <a:off x="3184495" y="2255045"/>
            <a:ext cx="5368401" cy="14670"/>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bwMode="gray">
          <a:xfrm>
            <a:off x="4964353" y="3964690"/>
            <a:ext cx="2871715"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Client:Key Exchange Init</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8872793" y="2111268"/>
            <a:ext cx="1335323"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发送自己支持的算法</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列表</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7" name="表格 26"/>
          <p:cNvGraphicFramePr>
            <a:graphicFrameLocks noGrp="1"/>
          </p:cNvGraphicFramePr>
          <p:nvPr>
            <p:extLst>
              <p:ext uri="{D42A27DB-BD31-4B8C-83A1-F6EECF244321}">
                <p14:modId xmlns:p14="http://schemas.microsoft.com/office/powerpoint/2010/main" val="3655753454"/>
              </p:ext>
            </p:extLst>
          </p:nvPr>
        </p:nvGraphicFramePr>
        <p:xfrm>
          <a:off x="3472970" y="2413997"/>
          <a:ext cx="4960396" cy="1432560"/>
        </p:xfrm>
        <a:graphic>
          <a:graphicData uri="http://schemas.openxmlformats.org/drawingml/2006/table">
            <a:tbl>
              <a:tblPr firstRow="1" bandRow="1">
                <a:tableStyleId>{7E9639D4-E3E2-4D34-9284-5A2195B3D0D7}</a:tableStyleId>
              </a:tblPr>
              <a:tblGrid>
                <a:gridCol w="1411119">
                  <a:extLst>
                    <a:ext uri="{9D8B030D-6E8A-4147-A177-3AD203B41FA5}">
                      <a16:colId xmlns="" xmlns:a16="http://schemas.microsoft.com/office/drawing/2014/main" val="20000"/>
                    </a:ext>
                  </a:extLst>
                </a:gridCol>
                <a:gridCol w="3549277">
                  <a:extLst>
                    <a:ext uri="{9D8B030D-6E8A-4147-A177-3AD203B41FA5}">
                      <a16:colId xmlns="" xmlns:a16="http://schemas.microsoft.com/office/drawing/2014/main" val="20001"/>
                    </a:ext>
                  </a:extLst>
                </a:gridCol>
              </a:tblGrid>
              <a:tr h="36028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密钥交换算法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diffie-hellman-group14-sha1</a:t>
                      </a:r>
                      <a:r>
                        <a:rPr lang="en-US" altLang="zh-CN" sz="14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,ecdh-sha2-nistp521</a:t>
                      </a:r>
                      <a:endParaRPr lang="zh-CN" altLang="en-US" sz="14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7656">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公钥算法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ssh-dss,</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ssh-rsa</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,ecdsa-sha2-nistp521</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37656">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对称加密算法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aes128-ctr</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,3des-cbc,</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aes256-ctr</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37656">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消息认证算法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hmac-sha2-512</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hmac-sha1,</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hmac-md5</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
        <p:nvSpPr>
          <p:cNvPr id="37" name="矩形 36"/>
          <p:cNvSpPr/>
          <p:nvPr/>
        </p:nvSpPr>
        <p:spPr bwMode="gray">
          <a:xfrm>
            <a:off x="8899145" y="4156454"/>
            <a:ext cx="2495532" cy="95410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根据客户端算法查找自身的算法列表进行匹配，若每种算法都匹配成功，进入下一阶段，否则</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断开连接</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9" name="表格 28">
            <a:extLst>
              <a:ext uri="{FF2B5EF4-FFF2-40B4-BE49-F238E27FC236}">
                <a16:creationId xmlns="" xmlns:a16="http://schemas.microsoft.com/office/drawing/2014/main" id="{561E9E20-516E-4C33-825C-3305B7899ACC}"/>
              </a:ext>
            </a:extLst>
          </p:cNvPr>
          <p:cNvGraphicFramePr>
            <a:graphicFrameLocks noGrp="1"/>
          </p:cNvGraphicFramePr>
          <p:nvPr>
            <p:extLst>
              <p:ext uri="{D42A27DB-BD31-4B8C-83A1-F6EECF244321}">
                <p14:modId xmlns:p14="http://schemas.microsoft.com/office/powerpoint/2010/main" val="3800807352"/>
              </p:ext>
            </p:extLst>
          </p:nvPr>
        </p:nvGraphicFramePr>
        <p:xfrm>
          <a:off x="3440322" y="4432701"/>
          <a:ext cx="4993044" cy="1645920"/>
        </p:xfrm>
        <a:graphic>
          <a:graphicData uri="http://schemas.openxmlformats.org/drawingml/2006/table">
            <a:tbl>
              <a:tblPr firstRow="1" bandRow="1">
                <a:tableStyleId>{7E9639D4-E3E2-4D34-9284-5A2195B3D0D7}</a:tableStyleId>
              </a:tblPr>
              <a:tblGrid>
                <a:gridCol w="1420405">
                  <a:extLst>
                    <a:ext uri="{9D8B030D-6E8A-4147-A177-3AD203B41FA5}">
                      <a16:colId xmlns="" xmlns:a16="http://schemas.microsoft.com/office/drawing/2014/main" val="20000"/>
                    </a:ext>
                  </a:extLst>
                </a:gridCol>
                <a:gridCol w="3572639">
                  <a:extLst>
                    <a:ext uri="{9D8B030D-6E8A-4147-A177-3AD203B41FA5}">
                      <a16:colId xmlns="" xmlns:a16="http://schemas.microsoft.com/office/drawing/2014/main" val="20001"/>
                    </a:ext>
                  </a:extLst>
                </a:gridCol>
              </a:tblGrid>
              <a:tr h="36028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密钥交换算法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diffie-hellman-group1-sha1,diffie-hellman-group-exchange-sha256,</a:t>
                      </a:r>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diffie-hellman-group14-sha1</a:t>
                      </a:r>
                      <a:endParaRPr lang="zh-CN" altLang="en-US" sz="14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公钥算法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ecdsa-sha2-nistp384,</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ssh-rsa</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,ssh-dss</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对称加密算法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aes192-ctr,</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aes256-ctr</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aes128-ctr</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消息认证算法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hmac-sha2-512</a:t>
                      </a: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hmac-sha1</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,hmac-md5</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
        <p:nvSpPr>
          <p:cNvPr id="38" name="Oval 4"/>
          <p:cNvSpPr>
            <a:spLocks noChangeAspect="1"/>
          </p:cNvSpPr>
          <p:nvPr/>
        </p:nvSpPr>
        <p:spPr bwMode="gray">
          <a:xfrm>
            <a:off x="8601940" y="2154980"/>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4"/>
          <p:cNvSpPr>
            <a:spLocks noChangeAspect="1"/>
          </p:cNvSpPr>
          <p:nvPr/>
        </p:nvSpPr>
        <p:spPr bwMode="gray">
          <a:xfrm>
            <a:off x="2897881" y="4199106"/>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4"/>
          <p:cNvSpPr>
            <a:spLocks noChangeAspect="1"/>
          </p:cNvSpPr>
          <p:nvPr/>
        </p:nvSpPr>
        <p:spPr bwMode="gray">
          <a:xfrm>
            <a:off x="8620793" y="4212102"/>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2126087" y="1693719"/>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8852572" y="1692900"/>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五边形 30"/>
          <p:cNvSpPr/>
          <p:nvPr/>
        </p:nvSpPr>
        <p:spPr bwMode="gray">
          <a:xfrm>
            <a:off x="6824455"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33" name="燕尾形 32"/>
          <p:cNvSpPr/>
          <p:nvPr/>
        </p:nvSpPr>
        <p:spPr bwMode="gray">
          <a:xfrm>
            <a:off x="7791239"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34" name="燕尾形 33"/>
          <p:cNvSpPr/>
          <p:nvPr/>
        </p:nvSpPr>
        <p:spPr bwMode="gray">
          <a:xfrm>
            <a:off x="8758023"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密钥交换</a:t>
            </a:r>
          </a:p>
        </p:txBody>
      </p:sp>
      <p:sp>
        <p:nvSpPr>
          <p:cNvPr id="35" name="燕尾形 34"/>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用户认证</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55019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密钥交换阶段</a:t>
            </a:r>
            <a:endParaRPr lang="zh-CN" altLang="en-US">
              <a:sym typeface="Huawei Sans" panose="020C0503030203020204" pitchFamily="34" charset="0"/>
            </a:endParaRPr>
          </a:p>
        </p:txBody>
      </p:sp>
      <p:sp>
        <p:nvSpPr>
          <p:cNvPr id="41"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根据密钥交换算法，双方动态地产生会话密钥用于后续会话加密。会话密钥无法被第三者截获，安全可靠。</a:t>
            </a:r>
            <a:endParaRPr lang="zh-CN" altLang="en-US" sz="1800" dirty="0">
              <a:sym typeface="Huawei Sans" panose="020C0503030203020204" pitchFamily="34" charset="0"/>
            </a:endParaRPr>
          </a:p>
        </p:txBody>
      </p:sp>
      <p:cxnSp>
        <p:nvCxnSpPr>
          <p:cNvPr id="56" name="直接连接符 55"/>
          <p:cNvCxnSpPr/>
          <p:nvPr/>
        </p:nvCxnSpPr>
        <p:spPr bwMode="gray">
          <a:xfrm>
            <a:off x="3173202" y="2026322"/>
            <a:ext cx="2707" cy="4061716"/>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4570" y="1967581"/>
            <a:ext cx="0" cy="4061716"/>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3" cstate="print"/>
          <a:stretch>
            <a:fillRect/>
          </a:stretch>
        </p:blipFill>
        <p:spPr bwMode="gray">
          <a:xfrm>
            <a:off x="2931115" y="1673579"/>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1673579"/>
            <a:ext cx="540000" cy="442800"/>
          </a:xfrm>
          <a:prstGeom prst="rect">
            <a:avLst/>
          </a:prstGeom>
        </p:spPr>
      </p:pic>
      <p:sp>
        <p:nvSpPr>
          <p:cNvPr id="47" name="矩形 46"/>
          <p:cNvSpPr/>
          <p:nvPr/>
        </p:nvSpPr>
        <p:spPr bwMode="gray">
          <a:xfrm>
            <a:off x="3733165" y="2587468"/>
            <a:ext cx="4615919" cy="307777"/>
          </a:xfrm>
          <a:prstGeom prst="rect">
            <a:avLst/>
          </a:prstGeom>
        </p:spPr>
        <p:txBody>
          <a:bodyPr wrap="squar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客户端生成随机私钥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Xc</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，计算出公钥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Yc</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发给服务器。</a:t>
            </a:r>
          </a:p>
        </p:txBody>
      </p:sp>
      <p:cxnSp>
        <p:nvCxnSpPr>
          <p:cNvPr id="30" name="直接连接符 29"/>
          <p:cNvCxnSpPr/>
          <p:nvPr/>
        </p:nvCxnSpPr>
        <p:spPr bwMode="gray">
          <a:xfrm>
            <a:off x="3184495" y="2921114"/>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flipH="1">
            <a:off x="3184495" y="3458582"/>
            <a:ext cx="5368401" cy="5992"/>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矩形 71"/>
          <p:cNvSpPr/>
          <p:nvPr/>
        </p:nvSpPr>
        <p:spPr bwMode="gray">
          <a:xfrm>
            <a:off x="3746949" y="3098181"/>
            <a:ext cx="4837546" cy="307777"/>
          </a:xfrm>
          <a:prstGeom prst="rect">
            <a:avLst/>
          </a:prstGeom>
        </p:spPr>
        <p:txBody>
          <a:bodyPr wrap="squar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服务器生成随机私钥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Xs</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，计算出公钥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Ys</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发给客户端。</a:t>
            </a:r>
          </a:p>
        </p:txBody>
      </p:sp>
      <p:sp>
        <p:nvSpPr>
          <p:cNvPr id="23" name="矩形 22"/>
          <p:cNvSpPr/>
          <p:nvPr/>
        </p:nvSpPr>
        <p:spPr bwMode="gray">
          <a:xfrm>
            <a:off x="535710" y="3897501"/>
            <a:ext cx="2428406" cy="523220"/>
          </a:xfrm>
          <a:prstGeom prst="rect">
            <a:avLst/>
          </a:prstGeom>
        </p:spPr>
        <p:txBody>
          <a:bodyPr wrap="squar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客户端根据公钥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Ys</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和私钥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Xc</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计算出会话密钥。</a:t>
            </a:r>
          </a:p>
        </p:txBody>
      </p:sp>
      <p:sp>
        <p:nvSpPr>
          <p:cNvPr id="29" name="矩形 28"/>
          <p:cNvSpPr/>
          <p:nvPr/>
        </p:nvSpPr>
        <p:spPr bwMode="gray">
          <a:xfrm>
            <a:off x="8916100" y="3883538"/>
            <a:ext cx="2445189" cy="523220"/>
          </a:xfrm>
          <a:prstGeom prst="rect">
            <a:avLst/>
          </a:prstGeom>
        </p:spPr>
        <p:txBody>
          <a:bodyPr wrap="squar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服务器根据公钥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Yc</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和私钥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Xs</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计算出会话密钥。</a:t>
            </a:r>
          </a:p>
        </p:txBody>
      </p:sp>
      <p:graphicFrame>
        <p:nvGraphicFramePr>
          <p:cNvPr id="35" name="表格 34"/>
          <p:cNvGraphicFramePr>
            <a:graphicFrameLocks noGrp="1"/>
          </p:cNvGraphicFramePr>
          <p:nvPr>
            <p:extLst>
              <p:ext uri="{D42A27DB-BD31-4B8C-83A1-F6EECF244321}">
                <p14:modId xmlns:p14="http://schemas.microsoft.com/office/powerpoint/2010/main" val="169250551"/>
              </p:ext>
            </p:extLst>
          </p:nvPr>
        </p:nvGraphicFramePr>
        <p:xfrm>
          <a:off x="1485381" y="2283354"/>
          <a:ext cx="1195715" cy="1219200"/>
        </p:xfrm>
        <a:graphic>
          <a:graphicData uri="http://schemas.openxmlformats.org/drawingml/2006/table">
            <a:tbl>
              <a:tblPr firstRow="1" bandRow="1">
                <a:tableStyleId>{72833802-FEF1-4C79-8D5D-14CF1EAF98D9}</a:tableStyleId>
              </a:tblPr>
              <a:tblGrid>
                <a:gridCol w="1195715">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262147">
                <a:tc>
                  <a:txBody>
                    <a:bodyPr/>
                    <a:lstStyle/>
                    <a:p>
                      <a:pPr marL="0" algn="ctr" defTabSz="914034"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262147">
                <a:tc>
                  <a:txBody>
                    <a:bodyPr/>
                    <a:lstStyle/>
                    <a:p>
                      <a:pPr marL="0"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Xc</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62147">
                <a:tc>
                  <a:txBody>
                    <a:bodyPr/>
                    <a:lstStyle/>
                    <a:p>
                      <a:pPr marL="0" algn="ctr" defTabSz="914034" rtl="0" eaLnBrk="1" latinLnBrk="0" hangingPunct="1"/>
                      <a:r>
                        <a:rPr lang="en-US" altLang="zh-CN" sz="1400" b="1"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Yc</a:t>
                      </a:r>
                      <a:endPar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p:graphicFrame>
        <p:nvGraphicFramePr>
          <p:cNvPr id="40" name="表格 39"/>
          <p:cNvGraphicFramePr>
            <a:graphicFrameLocks noGrp="1"/>
          </p:cNvGraphicFramePr>
          <p:nvPr>
            <p:extLst>
              <p:ext uri="{D42A27DB-BD31-4B8C-83A1-F6EECF244321}">
                <p14:modId xmlns:p14="http://schemas.microsoft.com/office/powerpoint/2010/main" val="4152201513"/>
              </p:ext>
            </p:extLst>
          </p:nvPr>
        </p:nvGraphicFramePr>
        <p:xfrm>
          <a:off x="1485381" y="4503461"/>
          <a:ext cx="1189587" cy="1524000"/>
        </p:xfrm>
        <a:graphic>
          <a:graphicData uri="http://schemas.openxmlformats.org/drawingml/2006/table">
            <a:tbl>
              <a:tblPr firstRow="1" bandRow="1">
                <a:tableStyleId>{72833802-FEF1-4C79-8D5D-14CF1EAF98D9}</a:tableStyleId>
              </a:tblPr>
              <a:tblGrid>
                <a:gridCol w="1189587">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Data</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4"/>
                  </a:ext>
                </a:extLst>
              </a:tr>
              <a:tr h="251443">
                <a:tc>
                  <a:txBody>
                    <a:bodyPr/>
                    <a:lstStyle/>
                    <a:p>
                      <a:pPr marL="0" algn="ctr" defTabSz="914034"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62147">
                <a:tc>
                  <a:txBody>
                    <a:bodyPr/>
                    <a:lstStyle/>
                    <a:p>
                      <a:pPr marL="0"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Xc</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62147">
                <a:tc>
                  <a:txBody>
                    <a:bodyPr/>
                    <a:lstStyle/>
                    <a:p>
                      <a:pPr marL="0" algn="ctr" defTabSz="914034"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Ys</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r h="262147">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Session Key</a:t>
                      </a:r>
                      <a:endPar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bl>
          </a:graphicData>
        </a:graphic>
      </p:graphicFrame>
      <p:sp>
        <p:nvSpPr>
          <p:cNvPr id="43" name="任意多边形 42"/>
          <p:cNvSpPr/>
          <p:nvPr/>
        </p:nvSpPr>
        <p:spPr bwMode="gray">
          <a:xfrm rot="10800000">
            <a:off x="1025111" y="4954660"/>
            <a:ext cx="444805" cy="902466"/>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p:cNvCxnSpPr/>
          <p:nvPr/>
        </p:nvCxnSpPr>
        <p:spPr bwMode="gray">
          <a:xfrm>
            <a:off x="1034348" y="5505745"/>
            <a:ext cx="4448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任意多边形 50"/>
          <p:cNvSpPr/>
          <p:nvPr/>
        </p:nvSpPr>
        <p:spPr bwMode="gray">
          <a:xfrm rot="10800000" flipH="1">
            <a:off x="10245937" y="4962583"/>
            <a:ext cx="451210" cy="866597"/>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p:nvPr/>
        </p:nvCxnSpPr>
        <p:spPr bwMode="gray">
          <a:xfrm>
            <a:off x="10256899" y="5516266"/>
            <a:ext cx="4424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bwMode="gray">
          <a:xfrm>
            <a:off x="3977453" y="4736686"/>
            <a:ext cx="4127342" cy="523220"/>
          </a:xfrm>
          <a:prstGeom prst="rect">
            <a:avLst/>
          </a:prstGeom>
        </p:spPr>
        <p:txBody>
          <a:bodyPr wrap="square" anchor="ctr">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后续阶段的报文交互均被</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Session key</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加密，且加密算法为算法协商阶段的对称加密算法。</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连接符 62"/>
          <p:cNvCxnSpPr/>
          <p:nvPr/>
        </p:nvCxnSpPr>
        <p:spPr bwMode="gray">
          <a:xfrm flipV="1">
            <a:off x="3184495" y="5285419"/>
            <a:ext cx="5396863" cy="2161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bwMode="gray">
          <a:xfrm flipH="1">
            <a:off x="3186420" y="5528704"/>
            <a:ext cx="5366476" cy="11742"/>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任意多边形 65"/>
          <p:cNvSpPr/>
          <p:nvPr/>
        </p:nvSpPr>
        <p:spPr bwMode="gray">
          <a:xfrm rot="10800000">
            <a:off x="1032111" y="2721919"/>
            <a:ext cx="444805" cy="647649"/>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任意多边形 66"/>
          <p:cNvSpPr/>
          <p:nvPr/>
        </p:nvSpPr>
        <p:spPr bwMode="gray">
          <a:xfrm rot="10800000" flipH="1">
            <a:off x="10242961" y="2639333"/>
            <a:ext cx="456381" cy="657917"/>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p:nvPr/>
        </p:nvCxnSpPr>
        <p:spPr bwMode="gray">
          <a:xfrm flipH="1">
            <a:off x="3173202" y="2417374"/>
            <a:ext cx="1931366" cy="4646"/>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gray">
          <a:xfrm>
            <a:off x="5031987" y="2251912"/>
            <a:ext cx="1646605" cy="307777"/>
          </a:xfrm>
          <a:prstGeom prst="rect">
            <a:avLst/>
          </a:prstGeom>
        </p:spPr>
        <p:txBody>
          <a:bodyPr wrap="none" anchor="ctr">
            <a:spAutoFit/>
          </a:bodyPr>
          <a:lstStyle/>
          <a:p>
            <a:pPr algn="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双方约定质数</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连接符 45"/>
          <p:cNvCxnSpPr/>
          <p:nvPr/>
        </p:nvCxnSpPr>
        <p:spPr bwMode="gray">
          <a:xfrm>
            <a:off x="6678592" y="2402267"/>
            <a:ext cx="1902766"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a:off x="1042949" y="3051571"/>
            <a:ext cx="4448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a:off x="10242961" y="2955787"/>
            <a:ext cx="4448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a:off x="1041983" y="5264606"/>
            <a:ext cx="4448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bwMode="gray">
          <a:xfrm>
            <a:off x="10252340" y="5262211"/>
            <a:ext cx="4285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
          <p:cNvSpPr>
            <a:spLocks noChangeAspect="1"/>
          </p:cNvSpPr>
          <p:nvPr/>
        </p:nvSpPr>
        <p:spPr bwMode="gray">
          <a:xfrm>
            <a:off x="2880970" y="2786125"/>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Oval 4"/>
          <p:cNvSpPr>
            <a:spLocks noChangeAspect="1"/>
          </p:cNvSpPr>
          <p:nvPr/>
        </p:nvSpPr>
        <p:spPr bwMode="gray">
          <a:xfrm>
            <a:off x="8608120" y="3250554"/>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4"/>
          <p:cNvSpPr>
            <a:spLocks noChangeAspect="1"/>
          </p:cNvSpPr>
          <p:nvPr/>
        </p:nvSpPr>
        <p:spPr bwMode="gray">
          <a:xfrm>
            <a:off x="2887256" y="3931180"/>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4"/>
          <p:cNvSpPr>
            <a:spLocks noChangeAspect="1"/>
          </p:cNvSpPr>
          <p:nvPr/>
        </p:nvSpPr>
        <p:spPr bwMode="gray">
          <a:xfrm>
            <a:off x="8608120" y="3931180"/>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5" name="表格 64"/>
          <p:cNvGraphicFramePr>
            <a:graphicFrameLocks noGrp="1"/>
          </p:cNvGraphicFramePr>
          <p:nvPr>
            <p:extLst>
              <p:ext uri="{D42A27DB-BD31-4B8C-83A1-F6EECF244321}">
                <p14:modId xmlns:p14="http://schemas.microsoft.com/office/powerpoint/2010/main" val="208099094"/>
              </p:ext>
            </p:extLst>
          </p:nvPr>
        </p:nvGraphicFramePr>
        <p:xfrm>
          <a:off x="9052982" y="4512117"/>
          <a:ext cx="1189587" cy="1524000"/>
        </p:xfrm>
        <a:graphic>
          <a:graphicData uri="http://schemas.openxmlformats.org/drawingml/2006/table">
            <a:tbl>
              <a:tblPr firstRow="1" bandRow="1">
                <a:tableStyleId>{72833802-FEF1-4C79-8D5D-14CF1EAF98D9}</a:tableStyleId>
              </a:tblPr>
              <a:tblGrid>
                <a:gridCol w="1189587">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4"/>
                  </a:ext>
                </a:extLst>
              </a:tr>
              <a:tr h="251443">
                <a:tc>
                  <a:txBody>
                    <a:bodyPr/>
                    <a:lstStyle/>
                    <a:p>
                      <a:pPr marL="0" algn="ctr" defTabSz="914034"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62147">
                <a:tc>
                  <a:txBody>
                    <a:bodyPr/>
                    <a:lstStyle/>
                    <a:p>
                      <a:pPr marL="0"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Xs</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62147">
                <a:tc>
                  <a:txBody>
                    <a:bodyPr/>
                    <a:lstStyle/>
                    <a:p>
                      <a:pPr marL="0"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Yc</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r h="262147">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Session Key</a:t>
                      </a:r>
                      <a:endPar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bl>
          </a:graphicData>
        </a:graphic>
      </p:graphicFrame>
      <p:graphicFrame>
        <p:nvGraphicFramePr>
          <p:cNvPr id="68" name="表格 67"/>
          <p:cNvGraphicFramePr>
            <a:graphicFrameLocks noGrp="1"/>
          </p:cNvGraphicFramePr>
          <p:nvPr>
            <p:extLst>
              <p:ext uri="{D42A27DB-BD31-4B8C-83A1-F6EECF244321}">
                <p14:modId xmlns:p14="http://schemas.microsoft.com/office/powerpoint/2010/main" val="334879154"/>
              </p:ext>
            </p:extLst>
          </p:nvPr>
        </p:nvGraphicFramePr>
        <p:xfrm>
          <a:off x="9052982" y="2222664"/>
          <a:ext cx="1184163" cy="1219200"/>
        </p:xfrm>
        <a:graphic>
          <a:graphicData uri="http://schemas.openxmlformats.org/drawingml/2006/table">
            <a:tbl>
              <a:tblPr firstRow="1" bandRow="1">
                <a:tableStyleId>{72833802-FEF1-4C79-8D5D-14CF1EAF98D9}</a:tableStyleId>
              </a:tblPr>
              <a:tblGrid>
                <a:gridCol w="1184163">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262147">
                <a:tc>
                  <a:txBody>
                    <a:bodyPr/>
                    <a:lstStyle/>
                    <a:p>
                      <a:pPr marL="0" algn="ctr" defTabSz="914034" rtl="0" eaLnBrk="1" latinLnBrk="0" hangingPunct="1"/>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g</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262147">
                <a:tc>
                  <a:txBody>
                    <a:bodyPr/>
                    <a:lstStyle/>
                    <a:p>
                      <a:pPr marL="0"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Xs</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62147">
                <a:tc>
                  <a:txBody>
                    <a:bodyPr/>
                    <a:lstStyle/>
                    <a:p>
                      <a:pPr marL="0" algn="ctr" defTabSz="914034" rtl="0" eaLnBrk="1" latinLnBrk="0" hangingPunct="1"/>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Ys</a:t>
                      </a:r>
                      <a:endPar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p:sp>
        <p:nvSpPr>
          <p:cNvPr id="53" name="文本框 52"/>
          <p:cNvSpPr txBox="1"/>
          <p:nvPr/>
        </p:nvSpPr>
        <p:spPr bwMode="gray">
          <a:xfrm>
            <a:off x="2126087" y="1757515"/>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8852572" y="1756696"/>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五边形 70"/>
          <p:cNvSpPr/>
          <p:nvPr/>
        </p:nvSpPr>
        <p:spPr bwMode="gray">
          <a:xfrm>
            <a:off x="6824455"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77" name="燕尾形 76"/>
          <p:cNvSpPr/>
          <p:nvPr/>
        </p:nvSpPr>
        <p:spPr bwMode="gray">
          <a:xfrm>
            <a:off x="7791239"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79" name="燕尾形 78"/>
          <p:cNvSpPr/>
          <p:nvPr/>
        </p:nvSpPr>
        <p:spPr bwMode="gray">
          <a:xfrm>
            <a:off x="8758023"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密钥交换</a:t>
            </a:r>
          </a:p>
        </p:txBody>
      </p:sp>
      <p:sp>
        <p:nvSpPr>
          <p:cNvPr id="80" name="燕尾形 79"/>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p>
        </p:txBody>
      </p:sp>
      <p:sp>
        <p:nvSpPr>
          <p:cNvPr id="81" name="燕尾形 80"/>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688014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用户认证阶段：口令认证</a:t>
            </a:r>
            <a:endParaRPr lang="zh-CN" altLang="en-US">
              <a:sym typeface="Huawei Sans" panose="020C0503030203020204" pitchFamily="34" charset="0"/>
            </a:endParaRPr>
          </a:p>
        </p:txBody>
      </p:sp>
      <p:sp>
        <p:nvSpPr>
          <p:cNvPr id="27"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用户认证阶段有口令认证和公钥认证两种方式。其中口令认证过程为：客户端发送携带用户名和口令的认证请求，服务器与本地用户数据进行匹配认证。</a:t>
            </a:r>
            <a:endParaRPr lang="zh-CN" altLang="en-US" sz="1800" dirty="0">
              <a:sym typeface="Huawei Sans" panose="020C0503030203020204" pitchFamily="34" charset="0"/>
            </a:endParaRPr>
          </a:p>
        </p:txBody>
      </p:sp>
      <p:cxnSp>
        <p:nvCxnSpPr>
          <p:cNvPr id="56" name="直接连接符 55"/>
          <p:cNvCxnSpPr/>
          <p:nvPr/>
        </p:nvCxnSpPr>
        <p:spPr bwMode="gray">
          <a:xfrm>
            <a:off x="3173202" y="2677431"/>
            <a:ext cx="0" cy="3441548"/>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4570" y="2618690"/>
            <a:ext cx="0" cy="3500289"/>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3" cstate="print"/>
          <a:stretch>
            <a:fillRect/>
          </a:stretch>
        </p:blipFill>
        <p:spPr bwMode="gray">
          <a:xfrm>
            <a:off x="2931115" y="2256223"/>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2168892"/>
            <a:ext cx="540000" cy="442800"/>
          </a:xfrm>
          <a:prstGeom prst="rect">
            <a:avLst/>
          </a:prstGeom>
        </p:spPr>
      </p:pic>
      <p:sp>
        <p:nvSpPr>
          <p:cNvPr id="47" name="矩形 46"/>
          <p:cNvSpPr/>
          <p:nvPr/>
        </p:nvSpPr>
        <p:spPr bwMode="gray">
          <a:xfrm>
            <a:off x="1609192" y="3006990"/>
            <a:ext cx="1326978" cy="30777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发起认证</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请求。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3184495" y="3110257"/>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bwMode="gray">
          <a:xfrm>
            <a:off x="4519030" y="2791085"/>
            <a:ext cx="4450032"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SSH_MSG_USERAUTH_REQUEST</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8875882" y="5107207"/>
            <a:ext cx="1948467" cy="738664"/>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与本地保存的用户名密码比较，匹配一致返回认证</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成功。</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4635932" y="4882515"/>
            <a:ext cx="2810385"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SSH_MSG_USERAUTH_SUCCESS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gray">
          <a:xfrm flipH="1">
            <a:off x="3184495" y="5233207"/>
            <a:ext cx="5368401" cy="1"/>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9" name="表格 38"/>
          <p:cNvGraphicFramePr>
            <a:graphicFrameLocks noGrp="1"/>
          </p:cNvGraphicFramePr>
          <p:nvPr>
            <p:extLst>
              <p:ext uri="{D42A27DB-BD31-4B8C-83A1-F6EECF244321}">
                <p14:modId xmlns:p14="http://schemas.microsoft.com/office/powerpoint/2010/main" val="2524026496"/>
              </p:ext>
            </p:extLst>
          </p:nvPr>
        </p:nvGraphicFramePr>
        <p:xfrm>
          <a:off x="4301456" y="3568974"/>
          <a:ext cx="3461583" cy="969886"/>
        </p:xfrm>
        <a:graphic>
          <a:graphicData uri="http://schemas.openxmlformats.org/drawingml/2006/table">
            <a:tbl>
              <a:tblPr firstRow="1" bandRow="1">
                <a:tableStyleId>{7E9639D4-E3E2-4D34-9284-5A2195B3D0D7}</a:tableStyleId>
              </a:tblPr>
              <a:tblGrid>
                <a:gridCol w="984740">
                  <a:extLst>
                    <a:ext uri="{9D8B030D-6E8A-4147-A177-3AD203B41FA5}">
                      <a16:colId xmlns="" xmlns:a16="http://schemas.microsoft.com/office/drawing/2014/main" val="20000"/>
                    </a:ext>
                  </a:extLst>
                </a:gridCol>
                <a:gridCol w="2476843">
                  <a:extLst>
                    <a:ext uri="{9D8B030D-6E8A-4147-A177-3AD203B41FA5}">
                      <a16:colId xmlns="" xmlns:a16="http://schemas.microsoft.com/office/drawing/2014/main" val="20001"/>
                    </a:ext>
                  </a:extLst>
                </a:gridCol>
              </a:tblGrid>
              <a:tr h="36028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b="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testuser</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password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口令</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testpwd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9" name="文本框 28"/>
          <p:cNvSpPr txBox="1"/>
          <p:nvPr/>
        </p:nvSpPr>
        <p:spPr bwMode="gray">
          <a:xfrm>
            <a:off x="2126087" y="2384310"/>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8875882" y="2323776"/>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4"/>
          <p:cNvSpPr>
            <a:spLocks noChangeAspect="1"/>
          </p:cNvSpPr>
          <p:nvPr/>
        </p:nvSpPr>
        <p:spPr bwMode="gray">
          <a:xfrm>
            <a:off x="2891850" y="3016939"/>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4"/>
          <p:cNvSpPr>
            <a:spLocks noChangeAspect="1"/>
          </p:cNvSpPr>
          <p:nvPr/>
        </p:nvSpPr>
        <p:spPr bwMode="gray">
          <a:xfrm>
            <a:off x="8608158" y="5107207"/>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五边形 35"/>
          <p:cNvSpPr/>
          <p:nvPr/>
        </p:nvSpPr>
        <p:spPr bwMode="gray">
          <a:xfrm>
            <a:off x="6824455"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37" name="燕尾形 36"/>
          <p:cNvSpPr/>
          <p:nvPr/>
        </p:nvSpPr>
        <p:spPr bwMode="gray">
          <a:xfrm>
            <a:off x="7791239"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38" name="燕尾形 37"/>
          <p:cNvSpPr/>
          <p:nvPr/>
        </p:nvSpPr>
        <p:spPr bwMode="gray">
          <a:xfrm>
            <a:off x="8758023"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密钥交换</a:t>
            </a:r>
          </a:p>
        </p:txBody>
      </p:sp>
      <p:sp>
        <p:nvSpPr>
          <p:cNvPr id="41" name="燕尾形 40"/>
          <p:cNvSpPr/>
          <p:nvPr/>
        </p:nvSpPr>
        <p:spPr bwMode="gray">
          <a:xfrm>
            <a:off x="9724807"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用户认证</a:t>
            </a:r>
          </a:p>
        </p:txBody>
      </p:sp>
      <p:sp>
        <p:nvSpPr>
          <p:cNvPr id="42" name="燕尾形 41"/>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箭头连接符 24"/>
          <p:cNvCxnSpPr/>
          <p:nvPr/>
        </p:nvCxnSpPr>
        <p:spPr>
          <a:xfrm flipH="1">
            <a:off x="5653760" y="3130111"/>
            <a:ext cx="353926" cy="391381"/>
          </a:xfrm>
          <a:prstGeom prst="straightConnector1">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7433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用户认证阶段：公钥认证</a:t>
            </a:r>
            <a:endParaRPr lang="zh-CN" altLang="en-US">
              <a:sym typeface="Huawei Sans" panose="020C0503030203020204" pitchFamily="34" charset="0"/>
            </a:endParaRPr>
          </a:p>
        </p:txBody>
      </p:sp>
      <p:sp>
        <p:nvSpPr>
          <p:cNvPr id="27"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公钥认证过程为：客户端发送携带数字签名的认证请求，服务器通过公钥解密数字签名进行认证。</a:t>
            </a:r>
            <a:endParaRPr lang="zh-CN" altLang="en-US" sz="1800" dirty="0">
              <a:sym typeface="Huawei Sans" panose="020C0503030203020204" pitchFamily="34" charset="0"/>
            </a:endParaRPr>
          </a:p>
        </p:txBody>
      </p:sp>
      <p:cxnSp>
        <p:nvCxnSpPr>
          <p:cNvPr id="56" name="直接连接符 55"/>
          <p:cNvCxnSpPr/>
          <p:nvPr/>
        </p:nvCxnSpPr>
        <p:spPr bwMode="gray">
          <a:xfrm>
            <a:off x="3173202" y="2073206"/>
            <a:ext cx="0" cy="3912599"/>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4570" y="2014465"/>
            <a:ext cx="0" cy="3971340"/>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3" cstate="print"/>
          <a:stretch>
            <a:fillRect/>
          </a:stretch>
        </p:blipFill>
        <p:spPr bwMode="gray">
          <a:xfrm>
            <a:off x="2931115" y="1599150"/>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1599150"/>
            <a:ext cx="540000" cy="442800"/>
          </a:xfrm>
          <a:prstGeom prst="rect">
            <a:avLst/>
          </a:prstGeom>
        </p:spPr>
      </p:pic>
      <p:cxnSp>
        <p:nvCxnSpPr>
          <p:cNvPr id="30" name="直接连接符 29"/>
          <p:cNvCxnSpPr/>
          <p:nvPr/>
        </p:nvCxnSpPr>
        <p:spPr bwMode="gray">
          <a:xfrm>
            <a:off x="3184495" y="3001332"/>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bwMode="gray">
          <a:xfrm>
            <a:off x="4519030" y="2682160"/>
            <a:ext cx="4450032"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SSH_MSG_USERAUTH_REQUEST</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8929067" y="5201848"/>
            <a:ext cx="2392482" cy="95410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通过本地保存的公钥解密数字签名，依次检查客户端提供的公钥及数字签名的正确性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正确则返回认证</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成功。</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4635932" y="5481092"/>
            <a:ext cx="2810385"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SSH_MSG_USERAUTH_SUCCESS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gray">
          <a:xfrm flipH="1">
            <a:off x="3184495" y="5831785"/>
            <a:ext cx="5368401" cy="0"/>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9" name="表格 38"/>
          <p:cNvGraphicFramePr>
            <a:graphicFrameLocks noGrp="1"/>
          </p:cNvGraphicFramePr>
          <p:nvPr>
            <p:extLst>
              <p:ext uri="{D42A27DB-BD31-4B8C-83A1-F6EECF244321}">
                <p14:modId xmlns:p14="http://schemas.microsoft.com/office/powerpoint/2010/main" val="3543719208"/>
              </p:ext>
            </p:extLst>
          </p:nvPr>
        </p:nvGraphicFramePr>
        <p:xfrm>
          <a:off x="4088714" y="3278988"/>
          <a:ext cx="3921730" cy="1792846"/>
        </p:xfrm>
        <a:graphic>
          <a:graphicData uri="http://schemas.openxmlformats.org/drawingml/2006/table">
            <a:tbl>
              <a:tblPr firstRow="1" bandRow="1">
                <a:tableStyleId>{7E9639D4-E3E2-4D34-9284-5A2195B3D0D7}</a:tableStyleId>
              </a:tblPr>
              <a:tblGrid>
                <a:gridCol w="1115641">
                  <a:extLst>
                    <a:ext uri="{9D8B030D-6E8A-4147-A177-3AD203B41FA5}">
                      <a16:colId xmlns="" xmlns:a16="http://schemas.microsoft.com/office/drawing/2014/main" val="20000"/>
                    </a:ext>
                  </a:extLst>
                </a:gridCol>
                <a:gridCol w="2806089">
                  <a:extLst>
                    <a:ext uri="{9D8B030D-6E8A-4147-A177-3AD203B41FA5}">
                      <a16:colId xmlns="" xmlns:a16="http://schemas.microsoft.com/office/drawing/2014/main" val="20001"/>
                    </a:ext>
                  </a:extLst>
                </a:gridCol>
              </a:tblGrid>
              <a:tr h="36028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b="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testuser</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publickey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公钥算法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ssh-rsa</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ssh-dss</a:t>
                      </a:r>
                      <a:r>
                        <a:rPr lang="en-US" altLang="zh-CN" sz="1400" baseline="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公钥</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ssh-rsa</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AAAAB3NzaC1yc2EA…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237656">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数字签名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包含用户名，会话</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，公钥算法，公钥等数据，由私钥加密生成</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bl>
          </a:graphicData>
        </a:graphic>
      </p:graphicFrame>
      <p:sp>
        <p:nvSpPr>
          <p:cNvPr id="34" name="矩形 33"/>
          <p:cNvSpPr/>
          <p:nvPr/>
        </p:nvSpPr>
        <p:spPr bwMode="gray">
          <a:xfrm>
            <a:off x="1563390" y="2848275"/>
            <a:ext cx="1326978" cy="30777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发起认证</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请求。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4"/>
          <p:cNvSpPr>
            <a:spLocks noChangeAspect="1"/>
          </p:cNvSpPr>
          <p:nvPr/>
        </p:nvSpPr>
        <p:spPr bwMode="gray">
          <a:xfrm>
            <a:off x="2890368" y="2875332"/>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Oval 4"/>
          <p:cNvSpPr>
            <a:spLocks noChangeAspect="1"/>
          </p:cNvSpPr>
          <p:nvPr/>
        </p:nvSpPr>
        <p:spPr bwMode="gray">
          <a:xfrm>
            <a:off x="8622537" y="5229092"/>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1614828" y="2263674"/>
            <a:ext cx="1542957" cy="30777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人工生成公私钥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8728737" y="2264004"/>
            <a:ext cx="1834397" cy="307777"/>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人工复制公钥至本地</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2126087" y="1683086"/>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8852572" y="1682267"/>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五边形 31"/>
          <p:cNvSpPr/>
          <p:nvPr/>
        </p:nvSpPr>
        <p:spPr bwMode="gray">
          <a:xfrm>
            <a:off x="6824455"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46" name="燕尾形 45"/>
          <p:cNvSpPr/>
          <p:nvPr/>
        </p:nvSpPr>
        <p:spPr bwMode="gray">
          <a:xfrm>
            <a:off x="7791239"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47" name="燕尾形 46"/>
          <p:cNvSpPr/>
          <p:nvPr/>
        </p:nvSpPr>
        <p:spPr bwMode="gray">
          <a:xfrm>
            <a:off x="8758023"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密钥交换</a:t>
            </a:r>
          </a:p>
        </p:txBody>
      </p:sp>
      <p:sp>
        <p:nvSpPr>
          <p:cNvPr id="48" name="燕尾形 47"/>
          <p:cNvSpPr/>
          <p:nvPr/>
        </p:nvSpPr>
        <p:spPr bwMode="gray">
          <a:xfrm>
            <a:off x="9724807"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用户认证</a:t>
            </a:r>
          </a:p>
        </p:txBody>
      </p:sp>
      <p:sp>
        <p:nvSpPr>
          <p:cNvPr id="49" name="燕尾形 48"/>
          <p:cNvSpPr/>
          <p:nvPr/>
        </p:nvSpPr>
        <p:spPr bwMode="gray">
          <a:xfrm>
            <a:off x="10691591"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会话交互</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箭头连接符 4"/>
          <p:cNvCxnSpPr/>
          <p:nvPr/>
        </p:nvCxnSpPr>
        <p:spPr>
          <a:xfrm flipH="1">
            <a:off x="5321300" y="3001332"/>
            <a:ext cx="228600" cy="277656"/>
          </a:xfrm>
          <a:prstGeom prst="straightConnector1">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5375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会话交互阶段</a:t>
            </a:r>
            <a:endParaRPr lang="zh-CN" altLang="en-US" dirty="0">
              <a:sym typeface="Huawei Sans" panose="020C0503030203020204" pitchFamily="34" charset="0"/>
            </a:endParaRPr>
          </a:p>
        </p:txBody>
      </p:sp>
      <p:sp>
        <p:nvSpPr>
          <p:cNvPr id="34"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用户完成认证后，客户端向服务器发起建立通道请求，进行数据传输。</a:t>
            </a:r>
            <a:endParaRPr lang="zh-CN" altLang="en-US" sz="1800" dirty="0">
              <a:sym typeface="Huawei Sans" panose="020C0503030203020204" pitchFamily="34" charset="0"/>
            </a:endParaRPr>
          </a:p>
        </p:txBody>
      </p:sp>
      <p:cxnSp>
        <p:nvCxnSpPr>
          <p:cNvPr id="56" name="直接连接符 55"/>
          <p:cNvCxnSpPr/>
          <p:nvPr/>
        </p:nvCxnSpPr>
        <p:spPr bwMode="gray">
          <a:xfrm>
            <a:off x="3173202" y="2073849"/>
            <a:ext cx="0" cy="4006200"/>
          </a:xfrm>
          <a:prstGeom prst="line">
            <a:avLst/>
          </a:prstGeom>
          <a:ln w="19050">
            <a:solidFill>
              <a:srgbClr val="EC7061"/>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8575200" y="2073849"/>
            <a:ext cx="21674" cy="4006200"/>
          </a:xfrm>
          <a:prstGeom prst="line">
            <a:avLst/>
          </a:prstGeom>
          <a:ln w="19050">
            <a:solidFill>
              <a:srgbClr val="56C4D2"/>
            </a:solidFill>
            <a:prstDash val="sysDot"/>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3" cstate="print"/>
          <a:stretch>
            <a:fillRect/>
          </a:stretch>
        </p:blipFill>
        <p:spPr bwMode="gray">
          <a:xfrm>
            <a:off x="2931115" y="1631049"/>
            <a:ext cx="576563" cy="442800"/>
          </a:xfrm>
          <a:prstGeom prst="rect">
            <a:avLst/>
          </a:prstGeom>
        </p:spPr>
      </p:pic>
      <p:pic>
        <p:nvPicPr>
          <p:cNvPr id="75" name="图片 7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282896" y="1631049"/>
            <a:ext cx="540000" cy="442800"/>
          </a:xfrm>
          <a:prstGeom prst="rect">
            <a:avLst/>
          </a:prstGeom>
        </p:spPr>
      </p:pic>
      <p:sp>
        <p:nvSpPr>
          <p:cNvPr id="47" name="矩形 46"/>
          <p:cNvSpPr/>
          <p:nvPr/>
        </p:nvSpPr>
        <p:spPr bwMode="gray">
          <a:xfrm>
            <a:off x="2002479" y="2525239"/>
            <a:ext cx="1112593"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请求建立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会话</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3184495" y="2626830"/>
            <a:ext cx="5400000" cy="0"/>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bwMode="gray">
          <a:xfrm>
            <a:off x="4519030" y="2307658"/>
            <a:ext cx="4450032"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SSH_MSG_CHANNEL_OPEN</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9009984" y="3359630"/>
            <a:ext cx="1948467" cy="738664"/>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匹配是否为支持的通道类型，支持则返回成功建立会话</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通道。</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4166827" y="3148250"/>
            <a:ext cx="3902030"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SSH_MSG_CHANNEL_OPEN_CONFIRMATION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gray">
          <a:xfrm flipH="1">
            <a:off x="3184495" y="3498943"/>
            <a:ext cx="5368401" cy="0"/>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flipH="1">
            <a:off x="3204156" y="4451899"/>
            <a:ext cx="1931366" cy="4646"/>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矩形 28"/>
          <p:cNvSpPr/>
          <p:nvPr/>
        </p:nvSpPr>
        <p:spPr bwMode="gray">
          <a:xfrm>
            <a:off x="5310180" y="4286437"/>
            <a:ext cx="902812" cy="307777"/>
          </a:xfrm>
          <a:prstGeom prst="rect">
            <a:avLst/>
          </a:prstGeom>
        </p:spPr>
        <p:txBody>
          <a:bodyPr wrap="none" anchor="ctr">
            <a:spAutoFit/>
          </a:bodyPr>
          <a:lstStyle/>
          <a:p>
            <a:pPr algn="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数据传输</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31"/>
          <p:cNvCxnSpPr/>
          <p:nvPr/>
        </p:nvCxnSpPr>
        <p:spPr bwMode="gray">
          <a:xfrm>
            <a:off x="6304432" y="4431155"/>
            <a:ext cx="2270138" cy="5637"/>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6" name="表格 35"/>
          <p:cNvGraphicFramePr>
            <a:graphicFrameLocks noGrp="1"/>
          </p:cNvGraphicFramePr>
          <p:nvPr>
            <p:extLst>
              <p:ext uri="{D42A27DB-BD31-4B8C-83A1-F6EECF244321}">
                <p14:modId xmlns:p14="http://schemas.microsoft.com/office/powerpoint/2010/main" val="807478737"/>
              </p:ext>
            </p:extLst>
          </p:nvPr>
        </p:nvGraphicFramePr>
        <p:xfrm>
          <a:off x="4535850" y="5297826"/>
          <a:ext cx="2429033" cy="457200"/>
        </p:xfrm>
        <a:graphic>
          <a:graphicData uri="http://schemas.openxmlformats.org/drawingml/2006/table">
            <a:tbl>
              <a:tblPr firstRow="1" bandRow="1">
                <a:tableStyleId>{7E9639D4-E3E2-4D34-9284-5A2195B3D0D7}</a:tableStyleId>
              </a:tblPr>
              <a:tblGrid>
                <a:gridCol w="2429033">
                  <a:extLst>
                    <a:ext uri="{9D8B030D-6E8A-4147-A177-3AD203B41FA5}">
                      <a16:colId xmlns="" xmlns:a16="http://schemas.microsoft.com/office/drawing/2014/main" val="20000"/>
                    </a:ext>
                  </a:extLst>
                </a:gridCol>
              </a:tblGrid>
              <a:tr h="350824">
                <a:tc>
                  <a:txBody>
                    <a:body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均由会话密钥</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(Session Key)</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采用</a:t>
                      </a:r>
                      <a:r>
                        <a:rPr lang="zh-CN" altLang="en-US" sz="12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对称加密算法加密</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BEE9EE"/>
                    </a:solidFill>
                  </a:tcPr>
                </a:tc>
                <a:extLst>
                  <a:ext uri="{0D108BD9-81ED-4DB2-BD59-A6C34878D82A}">
                    <a16:rowId xmlns="" xmlns:a16="http://schemas.microsoft.com/office/drawing/2014/main" val="10000"/>
                  </a:ext>
                </a:extLst>
              </a:tr>
            </a:tbl>
          </a:graphicData>
        </a:graphic>
      </p:graphicFrame>
      <p:sp>
        <p:nvSpPr>
          <p:cNvPr id="39" name="Oval 4"/>
          <p:cNvSpPr>
            <a:spLocks noChangeAspect="1"/>
          </p:cNvSpPr>
          <p:nvPr/>
        </p:nvSpPr>
        <p:spPr bwMode="gray">
          <a:xfrm>
            <a:off x="2890368" y="2537376"/>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
          <p:cNvSpPr>
            <a:spLocks noChangeAspect="1"/>
          </p:cNvSpPr>
          <p:nvPr/>
        </p:nvSpPr>
        <p:spPr bwMode="gray">
          <a:xfrm>
            <a:off x="8696896" y="3372943"/>
            <a:ext cx="252000" cy="25200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2126087" y="1714985"/>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8852572" y="1714166"/>
            <a:ext cx="805028" cy="338554"/>
          </a:xfrm>
          <a:prstGeom prst="rect">
            <a:avLst/>
          </a:prstGeom>
          <a:noFill/>
        </p:spPr>
        <p:txBody>
          <a:bodyPr wrap="none" rtlCol="0">
            <a:spAutoFit/>
          </a:bodyPr>
          <a:lstStyle/>
          <a:p>
            <a:pPr algn="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五边形 36"/>
          <p:cNvSpPr/>
          <p:nvPr/>
        </p:nvSpPr>
        <p:spPr bwMode="gray">
          <a:xfrm>
            <a:off x="6824455" y="126000"/>
            <a:ext cx="1055909" cy="21240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版本协商</a:t>
            </a:r>
          </a:p>
        </p:txBody>
      </p:sp>
      <p:sp>
        <p:nvSpPr>
          <p:cNvPr id="38" name="燕尾形 37"/>
          <p:cNvSpPr/>
          <p:nvPr/>
        </p:nvSpPr>
        <p:spPr bwMode="gray">
          <a:xfrm>
            <a:off x="7791239"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算法协商</a:t>
            </a:r>
          </a:p>
        </p:txBody>
      </p:sp>
      <p:sp>
        <p:nvSpPr>
          <p:cNvPr id="41" name="燕尾形 40"/>
          <p:cNvSpPr/>
          <p:nvPr/>
        </p:nvSpPr>
        <p:spPr bwMode="gray">
          <a:xfrm>
            <a:off x="8758023"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密钥交换</a:t>
            </a:r>
          </a:p>
        </p:txBody>
      </p:sp>
      <p:sp>
        <p:nvSpPr>
          <p:cNvPr id="42" name="燕尾形 41"/>
          <p:cNvSpPr/>
          <p:nvPr/>
        </p:nvSpPr>
        <p:spPr bwMode="gray">
          <a:xfrm>
            <a:off x="9724807" y="126000"/>
            <a:ext cx="1055909" cy="21240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用户认证</a:t>
            </a:r>
          </a:p>
        </p:txBody>
      </p:sp>
      <p:sp>
        <p:nvSpPr>
          <p:cNvPr id="45" name="燕尾形 44"/>
          <p:cNvSpPr/>
          <p:nvPr/>
        </p:nvSpPr>
        <p:spPr bwMode="gray">
          <a:xfrm>
            <a:off x="10691591" y="126000"/>
            <a:ext cx="1055909" cy="212400"/>
          </a:xfrm>
          <a:prstGeom prst="chevron">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ctr"/>
            <a:r>
              <a:rPr lang="zh-CN" altLang="en-US" sz="12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会话交互</a:t>
            </a:r>
          </a:p>
        </p:txBody>
      </p:sp>
      <p:cxnSp>
        <p:nvCxnSpPr>
          <p:cNvPr id="5" name="直接箭头连接符 4"/>
          <p:cNvCxnSpPr>
            <a:stCxn id="29" idx="2"/>
          </p:cNvCxnSpPr>
          <p:nvPr/>
        </p:nvCxnSpPr>
        <p:spPr>
          <a:xfrm flipH="1">
            <a:off x="5422987" y="4594214"/>
            <a:ext cx="338599" cy="703612"/>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3838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sym typeface="Huawei Sans" panose="020C0503030203020204" pitchFamily="34" charset="0"/>
              </a:rPr>
              <a:t>SSH</a:t>
            </a:r>
            <a:r>
              <a:rPr lang="zh-CN" altLang="en-US" b="1" dirty="0" smtClean="0">
                <a:sym typeface="Huawei Sans" panose="020C0503030203020204" pitchFamily="34" charset="0"/>
              </a:rPr>
              <a:t>介绍</a:t>
            </a:r>
            <a:endParaRPr lang="en-US" altLang="zh-CN" b="1"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简介</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工作原理</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err="1" smtClean="0">
                <a:sym typeface="Huawei Sans" panose="020C0503030203020204" pitchFamily="34" charset="0"/>
              </a:rPr>
              <a:t>Paramiko</a:t>
            </a:r>
            <a:r>
              <a:rPr lang="zh-CN" altLang="en-US" dirty="0" smtClean="0">
                <a:sym typeface="Huawei Sans" panose="020C0503030203020204" pitchFamily="34" charset="0"/>
              </a:rPr>
              <a:t>简介</a:t>
            </a:r>
            <a:endParaRPr lang="en-US" altLang="zh-CN" dirty="0" smtClean="0">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16260773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Paramiko</a:t>
            </a:r>
            <a:r>
              <a:rPr lang="zh-CN" altLang="en-US" smtClean="0">
                <a:sym typeface="Huawei Sans" panose="020C0503030203020204" pitchFamily="34" charset="0"/>
              </a:rPr>
              <a:t>简介</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1800" smtClean="0">
                <a:sym typeface="Huawei Sans" panose="020C0503030203020204" pitchFamily="34" charset="0"/>
              </a:rPr>
              <a:t>Paramiko</a:t>
            </a:r>
            <a:r>
              <a:rPr lang="zh-CN" altLang="en-US" sz="1800" smtClean="0">
                <a:sym typeface="Huawei Sans" panose="020C0503030203020204" pitchFamily="34" charset="0"/>
              </a:rPr>
              <a:t>是</a:t>
            </a:r>
            <a:r>
              <a:rPr lang="en-US" altLang="zh-CN" sz="1800" smtClean="0">
                <a:sym typeface="Huawei Sans" panose="020C0503030203020204" pitchFamily="34" charset="0"/>
              </a:rPr>
              <a:t>Python</a:t>
            </a:r>
            <a:r>
              <a:rPr lang="zh-CN" altLang="en-US" sz="1800" smtClean="0">
                <a:sym typeface="Huawei Sans" panose="020C0503030203020204" pitchFamily="34" charset="0"/>
              </a:rPr>
              <a:t>实现</a:t>
            </a:r>
            <a:r>
              <a:rPr lang="en-US" altLang="zh-CN" sz="1800" smtClean="0">
                <a:sym typeface="Huawei Sans" panose="020C0503030203020204" pitchFamily="34" charset="0"/>
              </a:rPr>
              <a:t>SSHv2</a:t>
            </a:r>
            <a:r>
              <a:rPr lang="zh-CN" altLang="en-US" sz="1800" smtClean="0">
                <a:sym typeface="Huawei Sans" panose="020C0503030203020204" pitchFamily="34" charset="0"/>
              </a:rPr>
              <a:t>协议的模块，它支持口令认证和公钥认证两种方式。它可以实现安全的远程命令执行、文件传输等功能。</a:t>
            </a:r>
            <a:endParaRPr lang="en-US" altLang="zh-CN" sz="1800" smtClean="0">
              <a:sym typeface="Huawei Sans" panose="020C0503030203020204" pitchFamily="34" charset="0"/>
            </a:endParaRPr>
          </a:p>
          <a:p>
            <a:r>
              <a:rPr lang="zh-CN" altLang="en-US" sz="1800" smtClean="0">
                <a:sym typeface="Huawei Sans" panose="020C0503030203020204" pitchFamily="34" charset="0"/>
              </a:rPr>
              <a:t>工程师可基于</a:t>
            </a:r>
            <a:r>
              <a:rPr lang="en-US" altLang="zh-CN" sz="1800" smtClean="0">
                <a:sym typeface="Huawei Sans" panose="020C0503030203020204" pitchFamily="34" charset="0"/>
              </a:rPr>
              <a:t>Paramiko</a:t>
            </a:r>
            <a:r>
              <a:rPr lang="zh-CN" altLang="en-US" sz="1800" smtClean="0">
                <a:sym typeface="Huawei Sans" panose="020C0503030203020204" pitchFamily="34" charset="0"/>
              </a:rPr>
              <a:t>模块编写</a:t>
            </a:r>
            <a:r>
              <a:rPr lang="en-US" altLang="zh-CN" sz="1800" smtClean="0">
                <a:sym typeface="Huawei Sans" panose="020C0503030203020204" pitchFamily="34" charset="0"/>
              </a:rPr>
              <a:t>Python</a:t>
            </a:r>
            <a:r>
              <a:rPr lang="zh-CN" altLang="en-US" sz="1800" smtClean="0">
                <a:sym typeface="Huawei Sans" panose="020C0503030203020204" pitchFamily="34" charset="0"/>
              </a:rPr>
              <a:t>代码，实现</a:t>
            </a:r>
            <a:r>
              <a:rPr lang="en-US" altLang="zh-CN" sz="1800" smtClean="0">
                <a:sym typeface="Huawei Sans" panose="020C0503030203020204" pitchFamily="34" charset="0"/>
              </a:rPr>
              <a:t>SSH</a:t>
            </a:r>
            <a:r>
              <a:rPr lang="zh-CN" altLang="en-US" sz="1800" smtClean="0">
                <a:sym typeface="Huawei Sans" panose="020C0503030203020204" pitchFamily="34" charset="0"/>
              </a:rPr>
              <a:t>相关功能。</a:t>
            </a:r>
            <a:endParaRPr lang="en-US" altLang="zh-CN" sz="1800" smtClean="0">
              <a:sym typeface="Huawei Sans" panose="020C0503030203020204" pitchFamily="34" charset="0"/>
            </a:endParaRPr>
          </a:p>
          <a:p>
            <a:endParaRPr lang="zh-CN" altLang="en-US" sz="1800">
              <a:sym typeface="Huawei Sans" panose="020C0503030203020204" pitchFamily="34" charset="0"/>
            </a:endParaRPr>
          </a:p>
        </p:txBody>
      </p:sp>
      <p:pic>
        <p:nvPicPr>
          <p:cNvPr id="5" name="图片 4">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05361" y="3761898"/>
            <a:ext cx="540000" cy="442800"/>
          </a:xfrm>
          <a:prstGeom prst="rect">
            <a:avLst/>
          </a:prstGeom>
        </p:spPr>
      </p:pic>
      <p:pic>
        <p:nvPicPr>
          <p:cNvPr id="6" name="图片 5"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75289" y="3773043"/>
            <a:ext cx="539063" cy="414000"/>
          </a:xfrm>
          <a:prstGeom prst="rect">
            <a:avLst/>
          </a:prstGeom>
        </p:spPr>
      </p:pic>
      <p:cxnSp>
        <p:nvCxnSpPr>
          <p:cNvPr id="7" name="直接连接符 6">
            <a:extLst>
              <a:ext uri="{FF2B5EF4-FFF2-40B4-BE49-F238E27FC236}">
                <a16:creationId xmlns="" xmlns:a16="http://schemas.microsoft.com/office/drawing/2014/main" id="{4E6C53B9-8234-4E7F-B6A4-301B84C20E21}"/>
              </a:ext>
            </a:extLst>
          </p:cNvPr>
          <p:cNvCxnSpPr>
            <a:cxnSpLocks/>
            <a:stCxn id="6" idx="1"/>
            <a:endCxn id="5" idx="3"/>
          </p:cNvCxnSpPr>
          <p:nvPr/>
        </p:nvCxnSpPr>
        <p:spPr bwMode="gray">
          <a:xfrm flipH="1">
            <a:off x="4245361" y="3980043"/>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 xmlns:a16="http://schemas.microsoft.com/office/drawing/2014/main" id="{77A4502C-F66C-4C6A-81AF-DBD4FF816CA0}"/>
              </a:ext>
            </a:extLst>
          </p:cNvPr>
          <p:cNvSpPr txBox="1"/>
          <p:nvPr/>
        </p:nvSpPr>
        <p:spPr bwMode="gray">
          <a:xfrm>
            <a:off x="2279664" y="3834352"/>
            <a:ext cx="1173719"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a:extLst>
              <a:ext uri="{FF2B5EF4-FFF2-40B4-BE49-F238E27FC236}">
                <a16:creationId xmlns="" xmlns:a16="http://schemas.microsoft.com/office/drawing/2014/main" id="{B885BED1-0EC0-435F-AECC-01CB43FD768C}"/>
              </a:ext>
            </a:extLst>
          </p:cNvPr>
          <p:cNvSpPr txBox="1"/>
          <p:nvPr/>
        </p:nvSpPr>
        <p:spPr bwMode="gray">
          <a:xfrm>
            <a:off x="7746149" y="3834352"/>
            <a:ext cx="1173719"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 xmlns:a16="http://schemas.microsoft.com/office/drawing/2014/main" id="{B885BED1-0EC0-435F-AECC-01CB43FD768C}"/>
              </a:ext>
            </a:extLst>
          </p:cNvPr>
          <p:cNvSpPr txBox="1"/>
          <p:nvPr/>
        </p:nvSpPr>
        <p:spPr bwMode="gray">
          <a:xfrm>
            <a:off x="6676020" y="3328220"/>
            <a:ext cx="1537600" cy="338554"/>
          </a:xfrm>
          <a:prstGeom prst="rect">
            <a:avLst/>
          </a:prstGeom>
          <a:solidFill>
            <a:srgbClr val="56C4D2"/>
          </a:solidFill>
        </p:spPr>
        <p:txBody>
          <a:bodyPr wrap="none" rtlCol="0">
            <a:spAutoFit/>
          </a:bodyPr>
          <a:lstStyle/>
          <a:p>
            <a:pPr algn="ctr"/>
            <a:r>
              <a:rPr lang="en-US" altLang="zh-CN"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Paramiko</a:t>
            </a: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脚本</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a:extLst>
              <a:ext uri="{FF2B5EF4-FFF2-40B4-BE49-F238E27FC236}">
                <a16:creationId xmlns="" xmlns:a16="http://schemas.microsoft.com/office/drawing/2014/main" id="{B885BED1-0EC0-435F-AECC-01CB43FD768C}"/>
              </a:ext>
            </a:extLst>
          </p:cNvPr>
          <p:cNvSpPr txBox="1"/>
          <p:nvPr/>
        </p:nvSpPr>
        <p:spPr bwMode="gray">
          <a:xfrm>
            <a:off x="4852062" y="4050527"/>
            <a:ext cx="137890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协议交互</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135335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Paramiko</a:t>
            </a:r>
            <a:r>
              <a:rPr lang="zh-CN" altLang="en-US" b="1" dirty="0" smtClean="0">
                <a:sym typeface="Huawei Sans" panose="020C0503030203020204" pitchFamily="34" charset="0"/>
              </a:rPr>
              <a:t>组件架构</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en-US" altLang="zh-CN" dirty="0" err="1" smtClean="0">
                <a:sym typeface="Huawei Sans" panose="020C0503030203020204" pitchFamily="34" charset="0"/>
              </a:rPr>
              <a:t>Paramiko</a:t>
            </a:r>
            <a:r>
              <a:rPr lang="zh-CN" altLang="en-US" dirty="0" smtClean="0">
                <a:sym typeface="Huawei Sans" panose="020C0503030203020204" pitchFamily="34" charset="0"/>
              </a:rPr>
              <a:t>组件架构</a:t>
            </a:r>
            <a:endParaRPr lang="en-US" altLang="zh-CN"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Transport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Key handling</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SFTPClient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SSHClient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22537655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Paramiko</a:t>
            </a:r>
            <a:r>
              <a:rPr lang="zh-CN" altLang="en-US" smtClean="0">
                <a:sym typeface="Huawei Sans" panose="020C0503030203020204" pitchFamily="34" charset="0"/>
              </a:rPr>
              <a:t>组件架构</a:t>
            </a:r>
            <a:endParaRPr lang="zh-CN" altLang="en-US">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en-US" altLang="zh-CN" sz="1800" dirty="0" err="1" smtClean="0">
                <a:sym typeface="Huawei Sans" panose="020C0503030203020204" pitchFamily="34" charset="0"/>
              </a:rPr>
              <a:t>Paramiko</a:t>
            </a:r>
            <a:r>
              <a:rPr lang="zh-CN" altLang="en-US" sz="1800" dirty="0" smtClean="0">
                <a:sym typeface="Huawei Sans" panose="020C0503030203020204" pitchFamily="34" charset="0"/>
              </a:rPr>
              <a:t>组件如下图所示，最常用的两个类为</a:t>
            </a:r>
            <a:r>
              <a:rPr lang="en-US" altLang="zh-CN" sz="1800" dirty="0" err="1" smtClean="0">
                <a:sym typeface="Huawei Sans" panose="020C0503030203020204" pitchFamily="34" charset="0"/>
              </a:rPr>
              <a:t>SSHClient</a:t>
            </a:r>
            <a:r>
              <a:rPr lang="zh-CN" altLang="en-US" sz="1800" dirty="0" smtClean="0">
                <a:sym typeface="Huawei Sans" panose="020C0503030203020204" pitchFamily="34" charset="0"/>
              </a:rPr>
              <a:t>类和</a:t>
            </a:r>
            <a:r>
              <a:rPr lang="en-US" altLang="zh-CN" sz="1800" dirty="0" err="1" smtClean="0">
                <a:sym typeface="Huawei Sans" panose="020C0503030203020204" pitchFamily="34" charset="0"/>
              </a:rPr>
              <a:t>SFTPClient</a:t>
            </a:r>
            <a:r>
              <a:rPr lang="zh-CN" altLang="en-US" sz="1800" dirty="0" smtClean="0">
                <a:sym typeface="Huawei Sans" panose="020C0503030203020204" pitchFamily="34" charset="0"/>
              </a:rPr>
              <a:t>类，分别提供</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和</a:t>
            </a:r>
            <a:r>
              <a:rPr lang="en-US" altLang="zh-CN" sz="1800" dirty="0" smtClean="0">
                <a:sym typeface="Huawei Sans" panose="020C0503030203020204" pitchFamily="34" charset="0"/>
              </a:rPr>
              <a:t>SFTP</a:t>
            </a:r>
            <a:r>
              <a:rPr lang="zh-CN" altLang="en-US" sz="1800" dirty="0" smtClean="0">
                <a:sym typeface="Huawei Sans" panose="020C0503030203020204" pitchFamily="34" charset="0"/>
              </a:rPr>
              <a:t>功能。</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本次课程介绍这四个类的相关方法：</a:t>
            </a:r>
            <a:r>
              <a:rPr lang="en-US" altLang="zh-CN" sz="1800" dirty="0" smtClean="0">
                <a:sym typeface="Huawei Sans" panose="020C0503030203020204" pitchFamily="34" charset="0"/>
              </a:rPr>
              <a:t>Transport</a:t>
            </a:r>
            <a:r>
              <a:rPr lang="zh-CN" altLang="en-US" sz="1800" dirty="0" smtClean="0">
                <a:sym typeface="Huawei Sans" panose="020C0503030203020204" pitchFamily="34" charset="0"/>
              </a:rPr>
              <a:t>类，</a:t>
            </a:r>
            <a:r>
              <a:rPr lang="en-US" altLang="zh-CN" sz="1800" dirty="0" smtClean="0">
                <a:sym typeface="Huawei Sans" panose="020C0503030203020204" pitchFamily="34" charset="0"/>
              </a:rPr>
              <a:t>Key handling</a:t>
            </a:r>
            <a:r>
              <a:rPr lang="zh-CN" altLang="en-US" sz="1800" dirty="0" smtClean="0">
                <a:sym typeface="Huawei Sans" panose="020C0503030203020204" pitchFamily="34" charset="0"/>
              </a:rPr>
              <a:t>类，</a:t>
            </a:r>
            <a:r>
              <a:rPr lang="en-US" altLang="zh-CN" sz="1800" dirty="0" err="1" smtClean="0">
                <a:sym typeface="Huawei Sans" panose="020C0503030203020204" pitchFamily="34" charset="0"/>
              </a:rPr>
              <a:t>SSHClient</a:t>
            </a:r>
            <a:r>
              <a:rPr lang="zh-CN" altLang="en-US" sz="1800" dirty="0" smtClean="0">
                <a:sym typeface="Huawei Sans" panose="020C0503030203020204" pitchFamily="34" charset="0"/>
              </a:rPr>
              <a:t>类，</a:t>
            </a:r>
            <a:r>
              <a:rPr lang="en-US" altLang="zh-CN" sz="1800" dirty="0" err="1" smtClean="0">
                <a:sym typeface="Huawei Sans" panose="020C0503030203020204" pitchFamily="34" charset="0"/>
              </a:rPr>
              <a:t>SFTPClient</a:t>
            </a:r>
            <a:r>
              <a:rPr lang="zh-CN" altLang="en-US" sz="1800" dirty="0" smtClean="0">
                <a:sym typeface="Huawei Sans" panose="020C0503030203020204" pitchFamily="34" charset="0"/>
              </a:rPr>
              <a:t>类。</a:t>
            </a:r>
          </a:p>
          <a:p>
            <a:endParaRPr lang="en-US" altLang="zh-CN" sz="1800" dirty="0">
              <a:sym typeface="Huawei Sans" panose="020C0503030203020204" pitchFamily="34" charset="0"/>
            </a:endParaRPr>
          </a:p>
        </p:txBody>
      </p:sp>
      <p:sp>
        <p:nvSpPr>
          <p:cNvPr id="10" name="圆角矩形 9"/>
          <p:cNvSpPr/>
          <p:nvPr/>
        </p:nvSpPr>
        <p:spPr bwMode="gray">
          <a:xfrm>
            <a:off x="3973277" y="4044241"/>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Packetizer</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2488279" y="4044241"/>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Message</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gray">
          <a:xfrm>
            <a:off x="6943273" y="4044241"/>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SSHClient</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bwMode="gray">
          <a:xfrm>
            <a:off x="1003281" y="4044241"/>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Channel</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gray">
          <a:xfrm>
            <a:off x="5458275" y="4044241"/>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Transport</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圆角矩形 14"/>
          <p:cNvSpPr/>
          <p:nvPr/>
        </p:nvSpPr>
        <p:spPr bwMode="gray">
          <a:xfrm>
            <a:off x="910360" y="5167388"/>
            <a:ext cx="10062439" cy="610690"/>
          </a:xfrm>
          <a:prstGeom prst="roundRect">
            <a:avLst>
              <a:gd name="adj" fmla="val 15000"/>
            </a:avLst>
          </a:prstGeom>
          <a:solidFill>
            <a:srgbClr val="30B5C5"/>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Paramiko</a:t>
            </a:r>
            <a:endParaRPr lang="zh-CN" altLang="en-US"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7773666" y="2750325"/>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Key handling</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4853439" y="2750325"/>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Host keys</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1933211" y="2750325"/>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SSH agents</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8428270" y="4044241"/>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SFTPClient</a:t>
            </a:r>
            <a:endPar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910360" y="2638881"/>
            <a:ext cx="10062439" cy="1109097"/>
          </a:xfrm>
          <a:prstGeom prst="roundRect">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9756809" y="3405925"/>
            <a:ext cx="1215990" cy="584775"/>
          </a:xfrm>
          <a:prstGeom prst="rect">
            <a:avLst/>
          </a:prstGeom>
          <a:noFill/>
        </p:spPr>
        <p:txBody>
          <a:bodyPr wrap="square" rtlCol="0">
            <a:spAutoFit/>
          </a:bodyPr>
          <a:lstStyle/>
          <a:p>
            <a:r>
              <a:rPr lang="zh-CN" altLang="en-US" sz="1600" b="1" kern="0" dirty="0">
                <a:latin typeface="Huawei Sans" panose="020C0503030203020204" pitchFamily="34" charset="0"/>
                <a:ea typeface="方正兰亭黑简体" panose="02000000000000000000" pitchFamily="2" charset="-122"/>
                <a:sym typeface="Huawei Sans" panose="020C0503030203020204" pitchFamily="34" charset="0"/>
              </a:rPr>
              <a:t>密钥相关类</a:t>
            </a:r>
          </a:p>
          <a:p>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910361" y="3918489"/>
            <a:ext cx="10062439" cy="1109097"/>
          </a:xfrm>
          <a:prstGeom prst="roundRect">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9776318" y="4635838"/>
            <a:ext cx="1363911" cy="338554"/>
          </a:xfrm>
          <a:prstGeom prst="rect">
            <a:avLst/>
          </a:prstGeom>
          <a:noFill/>
        </p:spPr>
        <p:txBody>
          <a:bodyPr wrap="square" rtlCol="0">
            <a:spAutoFit/>
          </a:bodyPr>
          <a:lstStyle/>
          <a:p>
            <a:r>
              <a:rPr lang="zh-CN" altLang="en-US" sz="1600" b="1" kern="0" dirty="0">
                <a:latin typeface="Huawei Sans" panose="020C0503030203020204" pitchFamily="34" charset="0"/>
                <a:ea typeface="方正兰亭黑简体" panose="02000000000000000000" pitchFamily="2" charset="-122"/>
                <a:sym typeface="Huawei Sans" panose="020C0503030203020204" pitchFamily="34" charset="0"/>
              </a:rPr>
              <a:t>常用协议类</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241098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Paramiko</a:t>
            </a:r>
            <a:r>
              <a:rPr lang="zh-CN" altLang="en-US" smtClean="0">
                <a:sym typeface="Huawei Sans" panose="020C0503030203020204" pitchFamily="34" charset="0"/>
              </a:rPr>
              <a:t>常用类简介</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Channel</a:t>
            </a:r>
            <a:r>
              <a:rPr lang="zh-CN" altLang="en-US" sz="1800" dirty="0" smtClean="0">
                <a:sym typeface="Huawei Sans" panose="020C0503030203020204" pitchFamily="34" charset="0"/>
              </a:rPr>
              <a:t>类：该类用于创建在</a:t>
            </a:r>
            <a:r>
              <a:rPr lang="en-US" altLang="zh-CN" sz="1800" dirty="0" smtClean="0">
                <a:sym typeface="Huawei Sans" panose="020C0503030203020204" pitchFamily="34" charset="0"/>
              </a:rPr>
              <a:t>SSH Transport</a:t>
            </a:r>
            <a:r>
              <a:rPr lang="zh-CN" altLang="en-US" sz="1800" dirty="0" smtClean="0">
                <a:sym typeface="Huawei Sans" panose="020C0503030203020204" pitchFamily="34" charset="0"/>
              </a:rPr>
              <a:t>上的安全通道。</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Message</a:t>
            </a:r>
            <a:r>
              <a:rPr lang="zh-CN" altLang="en-US" sz="1800" dirty="0" smtClean="0">
                <a:sym typeface="Huawei Sans" panose="020C0503030203020204" pitchFamily="34" charset="0"/>
              </a:rPr>
              <a:t>类：</a:t>
            </a:r>
            <a:r>
              <a:rPr lang="en-US" altLang="zh-CN" sz="1800" dirty="0" smtClean="0">
                <a:sym typeface="Huawei Sans" panose="020C0503030203020204" pitchFamily="34" charset="0"/>
              </a:rPr>
              <a:t>SSH Message</a:t>
            </a:r>
            <a:r>
              <a:rPr lang="zh-CN" altLang="en-US" sz="1800" dirty="0" smtClean="0">
                <a:sym typeface="Huawei Sans" panose="020C0503030203020204" pitchFamily="34" charset="0"/>
              </a:rPr>
              <a:t>是字节流。该类对字符串、整数、</a:t>
            </a:r>
            <a:r>
              <a:rPr lang="en-US" altLang="zh-CN" sz="1800" dirty="0" smtClean="0">
                <a:sym typeface="Huawei Sans" panose="020C0503030203020204" pitchFamily="34" charset="0"/>
              </a:rPr>
              <a:t>bools</a:t>
            </a:r>
            <a:r>
              <a:rPr lang="zh-CN" altLang="en-US" sz="1800" dirty="0" smtClean="0">
                <a:sym typeface="Huawei Sans" panose="020C0503030203020204" pitchFamily="34" charset="0"/>
              </a:rPr>
              <a:t>和无限精度整数（</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中称为</a:t>
            </a:r>
            <a:r>
              <a:rPr lang="en-US" altLang="zh-CN" sz="1800" dirty="0" smtClean="0">
                <a:sym typeface="Huawei Sans" panose="020C0503030203020204" pitchFamily="34" charset="0"/>
              </a:rPr>
              <a:t>long</a:t>
            </a:r>
            <a:r>
              <a:rPr lang="zh-CN" altLang="en-US" sz="1800" dirty="0" smtClean="0">
                <a:sym typeface="Huawei Sans" panose="020C0503030203020204" pitchFamily="34" charset="0"/>
              </a:rPr>
              <a:t>）的某些组合进行编码。</a:t>
            </a:r>
            <a:endParaRPr lang="en-US" altLang="zh-CN" sz="1800" dirty="0" smtClean="0">
              <a:sym typeface="Huawei Sans" panose="020C0503030203020204" pitchFamily="34" charset="0"/>
            </a:endParaRPr>
          </a:p>
          <a:p>
            <a:r>
              <a:rPr lang="en-US" altLang="zh-CN" sz="1800" dirty="0" err="1" smtClean="0">
                <a:sym typeface="Huawei Sans" panose="020C0503030203020204" pitchFamily="34" charset="0"/>
              </a:rPr>
              <a:t>Packetizer</a:t>
            </a:r>
            <a:r>
              <a:rPr lang="zh-CN" altLang="en-US" sz="1800" dirty="0" smtClean="0">
                <a:sym typeface="Huawei Sans" panose="020C0503030203020204" pitchFamily="34" charset="0"/>
              </a:rPr>
              <a:t>类：数据包处理类。</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Transport</a:t>
            </a:r>
            <a:r>
              <a:rPr lang="zh-CN" altLang="en-US" sz="1800" dirty="0" smtClean="0">
                <a:sym typeface="Huawei Sans" panose="020C0503030203020204" pitchFamily="34" charset="0"/>
              </a:rPr>
              <a:t>类：该类用于在现有套接字或类套接字对象上创建一个</a:t>
            </a:r>
            <a:r>
              <a:rPr lang="en-US" altLang="zh-CN" sz="1800" dirty="0" smtClean="0">
                <a:sym typeface="Huawei Sans" panose="020C0503030203020204" pitchFamily="34" charset="0"/>
              </a:rPr>
              <a:t>Transport</a:t>
            </a:r>
            <a:r>
              <a:rPr lang="zh-CN" altLang="en-US" sz="1800" dirty="0" smtClean="0">
                <a:sym typeface="Huawei Sans" panose="020C0503030203020204" pitchFamily="34" charset="0"/>
              </a:rPr>
              <a:t>会话对象。</a:t>
            </a:r>
            <a:endParaRPr lang="en-US" altLang="zh-CN" sz="1800" dirty="0" smtClean="0">
              <a:sym typeface="Huawei Sans" panose="020C0503030203020204" pitchFamily="34" charset="0"/>
            </a:endParaRPr>
          </a:p>
          <a:p>
            <a:r>
              <a:rPr lang="en-US" altLang="zh-CN" sz="1800" dirty="0" err="1" smtClean="0">
                <a:sym typeface="Huawei Sans" panose="020C0503030203020204" pitchFamily="34" charset="0"/>
              </a:rPr>
              <a:t>SFTPClient</a:t>
            </a:r>
            <a:r>
              <a:rPr lang="zh-CN" altLang="en-US" sz="1800" dirty="0" smtClean="0">
                <a:sym typeface="Huawei Sans" panose="020C0503030203020204" pitchFamily="34" charset="0"/>
              </a:rPr>
              <a:t>类：该类通过一个打开的</a:t>
            </a:r>
            <a:r>
              <a:rPr lang="en-US" altLang="zh-CN" sz="1800" dirty="0" smtClean="0">
                <a:sym typeface="Huawei Sans" panose="020C0503030203020204" pitchFamily="34" charset="0"/>
              </a:rPr>
              <a:t>SSH Transport</a:t>
            </a:r>
            <a:r>
              <a:rPr lang="zh-CN" altLang="en-US" sz="1800" dirty="0" smtClean="0">
                <a:sym typeface="Huawei Sans" panose="020C0503030203020204" pitchFamily="34" charset="0"/>
              </a:rPr>
              <a:t>会话创建</a:t>
            </a:r>
            <a:r>
              <a:rPr lang="en-US" altLang="zh-CN" sz="1800" dirty="0" smtClean="0">
                <a:sym typeface="Huawei Sans" panose="020C0503030203020204" pitchFamily="34" charset="0"/>
              </a:rPr>
              <a:t>SFTP</a:t>
            </a:r>
            <a:r>
              <a:rPr lang="zh-CN" altLang="en-US" sz="1800" dirty="0" smtClean="0">
                <a:sym typeface="Huawei Sans" panose="020C0503030203020204" pitchFamily="34" charset="0"/>
              </a:rPr>
              <a:t>会话通道并执行远程文件操作。</a:t>
            </a:r>
            <a:endParaRPr lang="en-US" altLang="zh-CN" sz="1800" dirty="0" smtClean="0">
              <a:sym typeface="Huawei Sans" panose="020C0503030203020204" pitchFamily="34" charset="0"/>
            </a:endParaRPr>
          </a:p>
          <a:p>
            <a:r>
              <a:rPr lang="en-US" altLang="zh-CN" sz="1800" dirty="0" err="1" smtClean="0">
                <a:sym typeface="Huawei Sans" panose="020C0503030203020204" pitchFamily="34" charset="0"/>
              </a:rPr>
              <a:t>SSHClient</a:t>
            </a:r>
            <a:r>
              <a:rPr lang="zh-CN" altLang="en-US" sz="1800" dirty="0" smtClean="0">
                <a:sym typeface="Huawei Sans" panose="020C0503030203020204" pitchFamily="34" charset="0"/>
              </a:rPr>
              <a:t>类：</a:t>
            </a:r>
            <a:r>
              <a:rPr lang="en-US" altLang="zh-CN" sz="1800" dirty="0" err="1" smtClean="0">
                <a:sym typeface="Huawei Sans" panose="020C0503030203020204" pitchFamily="34" charset="0"/>
              </a:rPr>
              <a:t>SSHClient</a:t>
            </a:r>
            <a:r>
              <a:rPr lang="zh-CN" altLang="en-US" sz="1800" dirty="0" smtClean="0">
                <a:sym typeface="Huawei Sans" panose="020C0503030203020204" pitchFamily="34" charset="0"/>
              </a:rPr>
              <a:t>类是与</a:t>
            </a:r>
            <a:r>
              <a:rPr lang="en-US" altLang="zh-CN" sz="1800" dirty="0" smtClean="0">
                <a:sym typeface="Huawei Sans" panose="020C0503030203020204" pitchFamily="34" charset="0"/>
              </a:rPr>
              <a:t>SSH</a:t>
            </a:r>
            <a:r>
              <a:rPr lang="zh-CN" altLang="en-US" sz="1800" dirty="0" smtClean="0">
                <a:sym typeface="Huawei Sans" panose="020C0503030203020204" pitchFamily="34" charset="0"/>
              </a:rPr>
              <a:t>服务器会话的高级表示。该类集成了</a:t>
            </a:r>
            <a:r>
              <a:rPr lang="en-US" altLang="zh-CN" sz="1800" dirty="0" smtClean="0">
                <a:sym typeface="Huawei Sans" panose="020C0503030203020204" pitchFamily="34" charset="0"/>
              </a:rPr>
              <a:t>Transport</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Channel</a:t>
            </a:r>
            <a:r>
              <a:rPr lang="zh-CN" altLang="en-US" sz="1800" dirty="0" smtClean="0">
                <a:sym typeface="Huawei Sans" panose="020C0503030203020204" pitchFamily="34" charset="0"/>
              </a:rPr>
              <a:t>和</a:t>
            </a:r>
            <a:r>
              <a:rPr lang="en-US" altLang="zh-CN" sz="1800" dirty="0" err="1" smtClean="0">
                <a:sym typeface="Huawei Sans" panose="020C0503030203020204" pitchFamily="34" charset="0"/>
              </a:rPr>
              <a:t>SFTPClient</a:t>
            </a:r>
            <a:r>
              <a:rPr lang="zh-CN" altLang="en-US" sz="1800" dirty="0" smtClean="0">
                <a:sym typeface="Huawei Sans" panose="020C0503030203020204" pitchFamily="34" charset="0"/>
              </a:rPr>
              <a:t>类。</a:t>
            </a:r>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zh-CN" altLang="en-US" sz="1800" dirty="0">
              <a:sym typeface="Huawei Sans" panose="020C0503030203020204" pitchFamily="34" charset="0"/>
            </a:endParaRPr>
          </a:p>
        </p:txBody>
      </p:sp>
      <p:sp>
        <p:nvSpPr>
          <p:cNvPr id="4" name="圆角矩形 3"/>
          <p:cNvSpPr/>
          <p:nvPr/>
        </p:nvSpPr>
        <p:spPr bwMode="gray">
          <a:xfrm>
            <a:off x="4001725" y="4791295"/>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err="1">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Packetizer</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2502503" y="4791295"/>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Message</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7000169" y="4791295"/>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SSHClient</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1003281" y="4791295"/>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Channel</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5500947" y="4791295"/>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Transport</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8499390" y="4791295"/>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SFTPClient</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910361" y="4650009"/>
            <a:ext cx="10235159" cy="1109097"/>
          </a:xfrm>
          <a:prstGeom prst="roundRect">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9818579" y="5381097"/>
            <a:ext cx="1355801" cy="369332"/>
          </a:xfrm>
          <a:prstGeom prst="rect">
            <a:avLst/>
          </a:prstGeom>
          <a:noFill/>
        </p:spPr>
        <p:txBody>
          <a:bodyPr wrap="square" rtlCol="0">
            <a:spAutoFit/>
          </a:bodyPr>
          <a:lstStyle/>
          <a:p>
            <a:r>
              <a:rPr lang="zh-CN" altLang="en-US" b="1" kern="0" dirty="0">
                <a:latin typeface="Huawei Sans" panose="020C0503030203020204" pitchFamily="34" charset="0"/>
                <a:ea typeface="方正兰亭黑简体" panose="02000000000000000000" pitchFamily="2" charset="-122"/>
                <a:sym typeface="Huawei Sans" panose="020C0503030203020204" pitchFamily="34" charset="0"/>
              </a:rPr>
              <a:t>常用协议类</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250709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Paramiko</a:t>
            </a:r>
            <a:r>
              <a:rPr lang="zh-CN" altLang="en-US" smtClean="0">
                <a:sym typeface="Huawei Sans" panose="020C0503030203020204" pitchFamily="34" charset="0"/>
              </a:rPr>
              <a:t>密钥相关类简介</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smtClean="0">
                <a:sym typeface="Huawei Sans" panose="020C0503030203020204" pitchFamily="34" charset="0"/>
              </a:rPr>
              <a:t>SSH Agent</a:t>
            </a:r>
            <a:r>
              <a:rPr lang="zh-CN" altLang="en-US" sz="1800" smtClean="0">
                <a:sym typeface="Huawei Sans" panose="020C0503030203020204" pitchFamily="34" charset="0"/>
              </a:rPr>
              <a:t>类：该类用于</a:t>
            </a:r>
            <a:r>
              <a:rPr lang="en-US" altLang="zh-CN" sz="1800" smtClean="0">
                <a:sym typeface="Huawei Sans" panose="020C0503030203020204" pitchFamily="34" charset="0"/>
              </a:rPr>
              <a:t>SSH</a:t>
            </a:r>
            <a:r>
              <a:rPr lang="zh-CN" altLang="en-US" sz="1800" smtClean="0">
                <a:sym typeface="Huawei Sans" panose="020C0503030203020204" pitchFamily="34" charset="0"/>
              </a:rPr>
              <a:t>代理。</a:t>
            </a:r>
            <a:endParaRPr lang="en-US" altLang="zh-CN" sz="1800" smtClean="0">
              <a:sym typeface="Huawei Sans" panose="020C0503030203020204" pitchFamily="34" charset="0"/>
            </a:endParaRPr>
          </a:p>
          <a:p>
            <a:r>
              <a:rPr lang="en-US" altLang="zh-CN" sz="1800" smtClean="0">
                <a:sym typeface="Huawei Sans" panose="020C0503030203020204" pitchFamily="34" charset="0"/>
              </a:rPr>
              <a:t>Host keys</a:t>
            </a:r>
            <a:r>
              <a:rPr lang="zh-CN" altLang="en-US" sz="1800" smtClean="0">
                <a:sym typeface="Huawei Sans" panose="020C0503030203020204" pitchFamily="34" charset="0"/>
              </a:rPr>
              <a:t>类：该类与</a:t>
            </a:r>
            <a:r>
              <a:rPr lang="en-US" altLang="zh-CN" sz="1800" smtClean="0">
                <a:sym typeface="Huawei Sans" panose="020C0503030203020204" pitchFamily="34" charset="0"/>
              </a:rPr>
              <a:t>OpenSSH known_hosts</a:t>
            </a:r>
            <a:r>
              <a:rPr lang="zh-CN" altLang="en-US" sz="1800" smtClean="0">
                <a:sym typeface="Huawei Sans" panose="020C0503030203020204" pitchFamily="34" charset="0"/>
              </a:rPr>
              <a:t>文件相关，用于创建一个</a:t>
            </a:r>
            <a:r>
              <a:rPr lang="en-US" altLang="zh-CN" sz="1800" smtClean="0">
                <a:sym typeface="Huawei Sans" panose="020C0503030203020204" pitchFamily="34" charset="0"/>
              </a:rPr>
              <a:t>host keys</a:t>
            </a:r>
            <a:r>
              <a:rPr lang="zh-CN" altLang="en-US" sz="1800" smtClean="0">
                <a:sym typeface="Huawei Sans" panose="020C0503030203020204" pitchFamily="34" charset="0"/>
              </a:rPr>
              <a:t>对象。</a:t>
            </a:r>
            <a:endParaRPr lang="en-US" altLang="zh-CN" sz="1800" smtClean="0">
              <a:sym typeface="Huawei Sans" panose="020C0503030203020204" pitchFamily="34" charset="0"/>
            </a:endParaRPr>
          </a:p>
          <a:p>
            <a:r>
              <a:rPr lang="en-US" altLang="zh-CN" sz="1800" smtClean="0">
                <a:sym typeface="Huawei Sans" panose="020C0503030203020204" pitchFamily="34" charset="0"/>
              </a:rPr>
              <a:t>Key handling</a:t>
            </a:r>
            <a:r>
              <a:rPr lang="zh-CN" altLang="en-US" sz="1800" smtClean="0">
                <a:sym typeface="Huawei Sans" panose="020C0503030203020204" pitchFamily="34" charset="0"/>
              </a:rPr>
              <a:t>类：该类用于创建对应密钥类型的实例，如</a:t>
            </a:r>
            <a:r>
              <a:rPr lang="en-US" altLang="zh-CN" sz="1800" smtClean="0">
                <a:sym typeface="Huawei Sans" panose="020C0503030203020204" pitchFamily="34" charset="0"/>
              </a:rPr>
              <a:t>RSA</a:t>
            </a:r>
            <a:r>
              <a:rPr lang="zh-CN" altLang="en-US" sz="1800" smtClean="0">
                <a:sym typeface="Huawei Sans" panose="020C0503030203020204" pitchFamily="34" charset="0"/>
              </a:rPr>
              <a:t>密钥，</a:t>
            </a:r>
            <a:r>
              <a:rPr lang="en-US" altLang="zh-CN" sz="1800" smtClean="0">
                <a:sym typeface="Huawei Sans" panose="020C0503030203020204" pitchFamily="34" charset="0"/>
              </a:rPr>
              <a:t>DSS</a:t>
            </a:r>
            <a:r>
              <a:rPr lang="zh-CN" altLang="en-US" sz="1800" smtClean="0">
                <a:sym typeface="Huawei Sans" panose="020C0503030203020204" pitchFamily="34" charset="0"/>
              </a:rPr>
              <a:t>（</a:t>
            </a:r>
            <a:r>
              <a:rPr lang="en-US" altLang="zh-CN" sz="1800" smtClean="0">
                <a:sym typeface="Huawei Sans" panose="020C0503030203020204" pitchFamily="34" charset="0"/>
              </a:rPr>
              <a:t>DSA</a:t>
            </a:r>
            <a:r>
              <a:rPr lang="zh-CN" altLang="en-US" sz="1800" smtClean="0">
                <a:sym typeface="Huawei Sans" panose="020C0503030203020204" pitchFamily="34" charset="0"/>
              </a:rPr>
              <a:t>）密钥。</a:t>
            </a:r>
            <a:endParaRPr lang="en-US" altLang="zh-CN" sz="1800" smtClean="0">
              <a:sym typeface="Huawei Sans" panose="020C0503030203020204" pitchFamily="34" charset="0"/>
            </a:endParaRPr>
          </a:p>
          <a:p>
            <a:endParaRPr lang="en-US" altLang="zh-CN" sz="1800" smtClean="0">
              <a:sym typeface="Huawei Sans" panose="020C0503030203020204" pitchFamily="34" charset="0"/>
            </a:endParaRPr>
          </a:p>
          <a:p>
            <a:endParaRPr lang="zh-CN" altLang="en-US" sz="1800">
              <a:sym typeface="Huawei Sans" panose="020C0503030203020204" pitchFamily="34" charset="0"/>
            </a:endParaRPr>
          </a:p>
        </p:txBody>
      </p:sp>
      <p:sp>
        <p:nvSpPr>
          <p:cNvPr id="20" name="圆角矩形 19"/>
          <p:cNvSpPr/>
          <p:nvPr/>
        </p:nvSpPr>
        <p:spPr bwMode="gray">
          <a:xfrm>
            <a:off x="7773666" y="2994553"/>
            <a:ext cx="1348048" cy="862446"/>
          </a:xfrm>
          <a:prstGeom prst="roundRect">
            <a:avLst>
              <a:gd name="adj" fmla="val 15000"/>
            </a:avLst>
          </a:prstGeom>
          <a:solidFill>
            <a:srgbClr val="EC7061"/>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Key handling</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4853439" y="2994553"/>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Host keys</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1933211" y="2994553"/>
            <a:ext cx="1348048" cy="862446"/>
          </a:xfrm>
          <a:prstGeom prst="roundRect">
            <a:avLst>
              <a:gd name="adj" fmla="val 15000"/>
            </a:avLst>
          </a:prstGeom>
          <a:solidFill>
            <a:srgbClr val="56C4D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SSH agents</a:t>
            </a:r>
            <a:endParaRPr lang="zh-CN" altLang="en-US" sz="14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910361" y="2883109"/>
            <a:ext cx="9927356" cy="1109097"/>
          </a:xfrm>
          <a:prstGeom prst="roundRect">
            <a:avLst/>
          </a:prstGeom>
          <a:no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9456142" y="3622874"/>
            <a:ext cx="1381575" cy="369332"/>
          </a:xfrm>
          <a:prstGeom prst="rect">
            <a:avLst/>
          </a:prstGeom>
          <a:noFill/>
        </p:spPr>
        <p:txBody>
          <a:bodyPr wrap="square" rtlCol="0">
            <a:spAutoFit/>
          </a:bodyPr>
          <a:lstStyle/>
          <a:p>
            <a:r>
              <a:rPr lang="zh-CN" altLang="en-US" b="1" kern="0" dirty="0">
                <a:latin typeface="Huawei Sans" panose="020C0503030203020204" pitchFamily="34" charset="0"/>
                <a:ea typeface="方正兰亭黑简体" panose="02000000000000000000" pitchFamily="2" charset="-122"/>
                <a:sym typeface="Huawei Sans" panose="020C0503030203020204" pitchFamily="34" charset="0"/>
              </a:rPr>
              <a:t>密钥相关类</a:t>
            </a:r>
          </a:p>
        </p:txBody>
      </p:sp>
    </p:spTree>
    <p:extLst>
      <p:ext uri="{BB962C8B-B14F-4D97-AF65-F5344CB8AC3E}">
        <p14:creationId xmlns:p14="http://schemas.microsoft.com/office/powerpoint/2010/main" val="1815101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Paramiko</a:t>
            </a:r>
            <a:r>
              <a:rPr lang="zh-CN" altLang="en-US" smtClean="0">
                <a:sym typeface="Huawei Sans" panose="020C0503030203020204" pitchFamily="34" charset="0"/>
              </a:rPr>
              <a:t>使用流程图</a:t>
            </a:r>
            <a:endParaRPr lang="zh-CN" altLang="en-US">
              <a:sym typeface="Huawei Sans" panose="020C0503030203020204" pitchFamily="34" charset="0"/>
            </a:endParaRPr>
          </a:p>
        </p:txBody>
      </p:sp>
      <p:sp>
        <p:nvSpPr>
          <p:cNvPr id="5" name="圆角矩形 4"/>
          <p:cNvSpPr/>
          <p:nvPr/>
        </p:nvSpPr>
        <p:spPr bwMode="gray">
          <a:xfrm>
            <a:off x="2924071" y="1427690"/>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实例化</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会话通道</a:t>
            </a:r>
          </a:p>
        </p:txBody>
      </p:sp>
      <p:sp>
        <p:nvSpPr>
          <p:cNvPr id="6" name="圆角矩形 5"/>
          <p:cNvSpPr/>
          <p:nvPr/>
        </p:nvSpPr>
        <p:spPr bwMode="gray">
          <a:xfrm>
            <a:off x="1384261" y="2540420"/>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设置口令认证</a:t>
            </a:r>
          </a:p>
        </p:txBody>
      </p:sp>
      <p:sp>
        <p:nvSpPr>
          <p:cNvPr id="7" name="圆角矩形 6"/>
          <p:cNvSpPr/>
          <p:nvPr/>
        </p:nvSpPr>
        <p:spPr bwMode="gray">
          <a:xfrm>
            <a:off x="2956893" y="3716200"/>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SSH</a:t>
            </a: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会话连接</a:t>
            </a:r>
          </a:p>
        </p:txBody>
      </p:sp>
      <p:cxnSp>
        <p:nvCxnSpPr>
          <p:cNvPr id="8" name="直接箭头连接符 7"/>
          <p:cNvCxnSpPr>
            <a:stCxn id="5" idx="2"/>
            <a:endCxn id="6" idx="0"/>
          </p:cNvCxnSpPr>
          <p:nvPr/>
        </p:nvCxnSpPr>
        <p:spPr bwMode="gray">
          <a:xfrm flipH="1">
            <a:off x="2702250" y="1967492"/>
            <a:ext cx="1539810" cy="572928"/>
          </a:xfrm>
          <a:prstGeom prst="straightConnector1">
            <a:avLst/>
          </a:prstGeom>
          <a:noFill/>
          <a:ln w="19050" cap="flat" cmpd="sng" algn="ctr">
            <a:solidFill>
              <a:schemeClr val="tx1"/>
            </a:solidFill>
            <a:prstDash val="solid"/>
            <a:round/>
            <a:headEnd type="none" w="med" len="med"/>
            <a:tailEnd type="triangle"/>
          </a:ln>
          <a:effectLst/>
        </p:spPr>
      </p:cxnSp>
      <p:cxnSp>
        <p:nvCxnSpPr>
          <p:cNvPr id="9" name="直接箭头连接符 8"/>
          <p:cNvCxnSpPr>
            <a:stCxn id="6" idx="2"/>
            <a:endCxn id="7" idx="0"/>
          </p:cNvCxnSpPr>
          <p:nvPr/>
        </p:nvCxnSpPr>
        <p:spPr bwMode="gray">
          <a:xfrm>
            <a:off x="2702250" y="3080222"/>
            <a:ext cx="1572632" cy="635978"/>
          </a:xfrm>
          <a:prstGeom prst="straightConnector1">
            <a:avLst/>
          </a:prstGeom>
          <a:noFill/>
          <a:ln w="19050" cap="flat" cmpd="sng" algn="ctr">
            <a:solidFill>
              <a:schemeClr val="tx1"/>
            </a:solidFill>
            <a:prstDash val="solid"/>
            <a:round/>
            <a:headEnd type="none" w="med" len="med"/>
            <a:tailEnd type="triangle"/>
          </a:ln>
          <a:effectLst/>
        </p:spPr>
      </p:cxnSp>
      <p:sp>
        <p:nvSpPr>
          <p:cNvPr id="13" name="圆角矩形 12"/>
          <p:cNvSpPr/>
          <p:nvPr/>
        </p:nvSpPr>
        <p:spPr bwMode="gray">
          <a:xfrm>
            <a:off x="4558308" y="2525024"/>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设置公钥认证</a:t>
            </a:r>
          </a:p>
        </p:txBody>
      </p:sp>
      <p:cxnSp>
        <p:nvCxnSpPr>
          <p:cNvPr id="15" name="直接箭头连接符 14"/>
          <p:cNvCxnSpPr>
            <a:stCxn id="5" idx="2"/>
          </p:cNvCxnSpPr>
          <p:nvPr/>
        </p:nvCxnSpPr>
        <p:spPr bwMode="gray">
          <a:xfrm>
            <a:off x="4242058" y="1967492"/>
            <a:ext cx="1853599" cy="557532"/>
          </a:xfrm>
          <a:prstGeom prst="straightConnector1">
            <a:avLst/>
          </a:prstGeom>
          <a:noFill/>
          <a:ln w="19050" cap="flat" cmpd="sng" algn="ctr">
            <a:solidFill>
              <a:schemeClr val="tx1"/>
            </a:solidFill>
            <a:prstDash val="solid"/>
            <a:round/>
            <a:headEnd type="none" w="med" len="med"/>
            <a:tailEnd type="triangle"/>
          </a:ln>
          <a:effectLst/>
        </p:spPr>
      </p:cxnSp>
      <p:cxnSp>
        <p:nvCxnSpPr>
          <p:cNvPr id="19" name="直接箭头连接符 18"/>
          <p:cNvCxnSpPr>
            <a:endCxn id="7" idx="0"/>
          </p:cNvCxnSpPr>
          <p:nvPr/>
        </p:nvCxnSpPr>
        <p:spPr bwMode="gray">
          <a:xfrm flipH="1">
            <a:off x="4274880" y="3064826"/>
            <a:ext cx="1775039" cy="651374"/>
          </a:xfrm>
          <a:prstGeom prst="straightConnector1">
            <a:avLst/>
          </a:prstGeom>
          <a:noFill/>
          <a:ln w="19050" cap="flat" cmpd="sng" algn="ctr">
            <a:solidFill>
              <a:schemeClr val="tx1"/>
            </a:solidFill>
            <a:prstDash val="solid"/>
            <a:round/>
            <a:headEnd type="none" w="med" len="med"/>
            <a:tailEnd type="triangle"/>
          </a:ln>
          <a:effectLst/>
        </p:spPr>
      </p:cxnSp>
      <p:sp>
        <p:nvSpPr>
          <p:cNvPr id="21" name="圆角矩形 20"/>
          <p:cNvSpPr/>
          <p:nvPr/>
        </p:nvSpPr>
        <p:spPr bwMode="gray">
          <a:xfrm>
            <a:off x="2956891" y="4622079"/>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发送相关指令</a:t>
            </a:r>
          </a:p>
        </p:txBody>
      </p:sp>
      <p:cxnSp>
        <p:nvCxnSpPr>
          <p:cNvPr id="22" name="直接箭头连接符 21"/>
          <p:cNvCxnSpPr>
            <a:stCxn id="7" idx="2"/>
            <a:endCxn id="21" idx="0"/>
          </p:cNvCxnSpPr>
          <p:nvPr/>
        </p:nvCxnSpPr>
        <p:spPr bwMode="gray">
          <a:xfrm flipH="1">
            <a:off x="4274880" y="4256002"/>
            <a:ext cx="2" cy="366077"/>
          </a:xfrm>
          <a:prstGeom prst="straightConnector1">
            <a:avLst/>
          </a:prstGeom>
          <a:noFill/>
          <a:ln w="19050" cap="flat" cmpd="sng" algn="ctr">
            <a:solidFill>
              <a:schemeClr val="tx1"/>
            </a:solidFill>
            <a:prstDash val="solid"/>
            <a:round/>
            <a:headEnd type="none" w="med" len="med"/>
            <a:tailEnd type="triangle"/>
          </a:ln>
          <a:effectLst/>
        </p:spPr>
      </p:cxnSp>
      <p:sp>
        <p:nvSpPr>
          <p:cNvPr id="25" name="圆角矩形 24"/>
          <p:cNvSpPr/>
          <p:nvPr/>
        </p:nvSpPr>
        <p:spPr bwMode="gray">
          <a:xfrm>
            <a:off x="2956891" y="5559650"/>
            <a:ext cx="2635978" cy="539802"/>
          </a:xfrm>
          <a:prstGeom prst="roundRect">
            <a:avLst>
              <a:gd name="adj" fmla="val 1500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关闭会话通道</a:t>
            </a:r>
          </a:p>
        </p:txBody>
      </p:sp>
      <p:cxnSp>
        <p:nvCxnSpPr>
          <p:cNvPr id="26" name="直接箭头连接符 25"/>
          <p:cNvCxnSpPr/>
          <p:nvPr/>
        </p:nvCxnSpPr>
        <p:spPr bwMode="gray">
          <a:xfrm>
            <a:off x="4274880" y="5193573"/>
            <a:ext cx="0" cy="366077"/>
          </a:xfrm>
          <a:prstGeom prst="straightConnector1">
            <a:avLst/>
          </a:prstGeom>
          <a:noFill/>
          <a:ln w="19050" cap="flat" cmpd="sng" algn="ctr">
            <a:solidFill>
              <a:schemeClr val="tx1"/>
            </a:solidFill>
            <a:prstDash val="solid"/>
            <a:round/>
            <a:headEnd type="none" w="med" len="med"/>
            <a:tailEnd type="triangle"/>
          </a:ln>
          <a:effectLst/>
        </p:spPr>
      </p:cxnSp>
      <p:graphicFrame>
        <p:nvGraphicFramePr>
          <p:cNvPr id="16" name="表格 15"/>
          <p:cNvGraphicFramePr>
            <a:graphicFrameLocks noGrp="1"/>
          </p:cNvGraphicFramePr>
          <p:nvPr>
            <p:extLst>
              <p:ext uri="{D42A27DB-BD31-4B8C-83A1-F6EECF244321}">
                <p14:modId xmlns:p14="http://schemas.microsoft.com/office/powerpoint/2010/main" val="1301670771"/>
              </p:ext>
            </p:extLst>
          </p:nvPr>
        </p:nvGraphicFramePr>
        <p:xfrm>
          <a:off x="6704846" y="1435624"/>
          <a:ext cx="4410194" cy="624840"/>
        </p:xfrm>
        <a:graphic>
          <a:graphicData uri="http://schemas.openxmlformats.org/drawingml/2006/table">
            <a:tbl>
              <a:tblPr firstRow="1" bandRow="1">
                <a:tableStyleId>{72833802-FEF1-4C79-8D5D-14CF1EAF98D9}</a:tableStyleId>
              </a:tblPr>
              <a:tblGrid>
                <a:gridCol w="4410194">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类</a:t>
                      </a:r>
                      <a:endPar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6C4D2"/>
                    </a:solidFill>
                  </a:tcPr>
                </a:tc>
                <a:extLst>
                  <a:ext uri="{0D108BD9-81ED-4DB2-BD59-A6C34878D82A}">
                    <a16:rowId xmlns="" xmlns:a16="http://schemas.microsoft.com/office/drawing/2014/main" val="10000"/>
                  </a:ext>
                </a:extLst>
              </a:tr>
              <a:tr h="262147">
                <a:tc>
                  <a:txBody>
                    <a:bodyPr/>
                    <a:lstStyle/>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tran</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paramiko.Transport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(('192.168.56.100</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0B5C5"/>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2072939308"/>
              </p:ext>
            </p:extLst>
          </p:nvPr>
        </p:nvGraphicFramePr>
        <p:xfrm>
          <a:off x="8068384" y="2429648"/>
          <a:ext cx="3453056" cy="838200"/>
        </p:xfrm>
        <a:graphic>
          <a:graphicData uri="http://schemas.openxmlformats.org/drawingml/2006/table">
            <a:tbl>
              <a:tblPr firstRow="1" bandRow="1">
                <a:tableStyleId>{72833802-FEF1-4C79-8D5D-14CF1EAF98D9}</a:tableStyleId>
              </a:tblPr>
              <a:tblGrid>
                <a:gridCol w="3453056">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Key handling</a:t>
                      </a:r>
                      <a:r>
                        <a:rPr lang="zh-CN" altLang="en-US"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类</a:t>
                      </a:r>
                      <a:endPar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solidFill>
                      <a:srgbClr val="56C4D2"/>
                    </a:solidFill>
                  </a:tcPr>
                </a:tc>
                <a:extLst>
                  <a:ext uri="{0D108BD9-81ED-4DB2-BD59-A6C34878D82A}">
                    <a16:rowId xmlns="" xmlns:a16="http://schemas.microsoft.com/office/drawing/2014/main" val="10000"/>
                  </a:ext>
                </a:extLst>
              </a:tr>
              <a:tr h="262147">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key=paramiko.RSAKey.from_private_key_file(</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r'C</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:\Users\</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exampleuser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ssh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id_rsa</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sp>
        <p:nvSpPr>
          <p:cNvPr id="24" name="Right Arrow 157">
            <a:extLst>
              <a:ext uri="{FF2B5EF4-FFF2-40B4-BE49-F238E27FC236}">
                <a16:creationId xmlns="" xmlns:a16="http://schemas.microsoft.com/office/drawing/2014/main" id="{684E91EA-140B-45B9-BF7F-1CCCF5A4DAFF}"/>
              </a:ext>
            </a:extLst>
          </p:cNvPr>
          <p:cNvSpPr/>
          <p:nvPr/>
        </p:nvSpPr>
        <p:spPr bwMode="gray">
          <a:xfrm rot="10800000">
            <a:off x="7298945" y="2569788"/>
            <a:ext cx="666495" cy="420164"/>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2700">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7">
            <a:extLst>
              <a:ext uri="{FF2B5EF4-FFF2-40B4-BE49-F238E27FC236}">
                <a16:creationId xmlns="" xmlns:a16="http://schemas.microsoft.com/office/drawing/2014/main" id="{684E91EA-140B-45B9-BF7F-1CCCF5A4DAFF}"/>
              </a:ext>
            </a:extLst>
          </p:cNvPr>
          <p:cNvSpPr/>
          <p:nvPr/>
        </p:nvSpPr>
        <p:spPr bwMode="gray">
          <a:xfrm rot="10800000">
            <a:off x="5924323" y="1517510"/>
            <a:ext cx="666495" cy="420164"/>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2700">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8" name="表格 27"/>
          <p:cNvGraphicFramePr>
            <a:graphicFrameLocks noGrp="1"/>
          </p:cNvGraphicFramePr>
          <p:nvPr>
            <p:extLst>
              <p:ext uri="{D42A27DB-BD31-4B8C-83A1-F6EECF244321}">
                <p14:modId xmlns:p14="http://schemas.microsoft.com/office/powerpoint/2010/main" val="1402525892"/>
              </p:ext>
            </p:extLst>
          </p:nvPr>
        </p:nvGraphicFramePr>
        <p:xfrm>
          <a:off x="6704846" y="3564946"/>
          <a:ext cx="4054594" cy="624840"/>
        </p:xfrm>
        <a:graphic>
          <a:graphicData uri="http://schemas.openxmlformats.org/drawingml/2006/table">
            <a:tbl>
              <a:tblPr firstRow="1" bandRow="1">
                <a:tableStyleId>{72833802-FEF1-4C79-8D5D-14CF1EAF98D9}</a:tableStyleId>
              </a:tblPr>
              <a:tblGrid>
                <a:gridCol w="4054594">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类</a:t>
                      </a:r>
                      <a:endPar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56C4D2"/>
                    </a:solidFill>
                  </a:tcPr>
                </a:tc>
                <a:extLst>
                  <a:ext uri="{0D108BD9-81ED-4DB2-BD59-A6C34878D82A}">
                    <a16:rowId xmlns="" xmlns:a16="http://schemas.microsoft.com/office/drawing/2014/main" val="10000"/>
                  </a:ext>
                </a:extLst>
              </a:tr>
              <a:tr h="262147">
                <a:tc>
                  <a:txBody>
                    <a:bodyPr/>
                    <a:lstStyle/>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tran.connect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(username=‘client’,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pkey</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=key)</a:t>
                      </a: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sp>
        <p:nvSpPr>
          <p:cNvPr id="29" name="Right Arrow 157">
            <a:extLst>
              <a:ext uri="{FF2B5EF4-FFF2-40B4-BE49-F238E27FC236}">
                <a16:creationId xmlns="" xmlns:a16="http://schemas.microsoft.com/office/drawing/2014/main" id="{684E91EA-140B-45B9-BF7F-1CCCF5A4DAFF}"/>
              </a:ext>
            </a:extLst>
          </p:cNvPr>
          <p:cNvSpPr/>
          <p:nvPr/>
        </p:nvSpPr>
        <p:spPr bwMode="gray">
          <a:xfrm rot="10800000">
            <a:off x="5924323" y="3786860"/>
            <a:ext cx="666495" cy="420164"/>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2700">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0" name="表格 29"/>
          <p:cNvGraphicFramePr>
            <a:graphicFrameLocks noGrp="1"/>
          </p:cNvGraphicFramePr>
          <p:nvPr>
            <p:extLst>
              <p:ext uri="{D42A27DB-BD31-4B8C-83A1-F6EECF244321}">
                <p14:modId xmlns:p14="http://schemas.microsoft.com/office/powerpoint/2010/main" val="2066035194"/>
              </p:ext>
            </p:extLst>
          </p:nvPr>
        </p:nvGraphicFramePr>
        <p:xfrm>
          <a:off x="6704846" y="4391508"/>
          <a:ext cx="4054594" cy="929640"/>
        </p:xfrm>
        <a:graphic>
          <a:graphicData uri="http://schemas.openxmlformats.org/drawingml/2006/table">
            <a:tbl>
              <a:tblPr firstRow="1" bandRow="1">
                <a:tableStyleId>{72833802-FEF1-4C79-8D5D-14CF1EAF98D9}</a:tableStyleId>
              </a:tblPr>
              <a:tblGrid>
                <a:gridCol w="4054594">
                  <a:extLst>
                    <a:ext uri="{9D8B030D-6E8A-4147-A177-3AD203B41FA5}">
                      <a16:colId xmlns="" xmlns:a16="http://schemas.microsoft.com/office/drawing/2014/main" val="20000"/>
                    </a:ext>
                  </a:extLst>
                </a:gridCol>
              </a:tblGrid>
              <a:tr h="120706">
                <a:tc>
                  <a:txBody>
                    <a:bodyPr/>
                    <a:lstStyle/>
                    <a:p>
                      <a:pPr marL="0" algn="ctr" defTabSz="914034" rtl="0" eaLnBrk="1" latinLnBrk="0" hangingPunct="1"/>
                      <a:r>
                        <a:rPr lang="en-US" altLang="zh-CN" sz="1500" b="0" kern="1200" dirty="0" err="1">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SFTPClient</a:t>
                      </a:r>
                      <a:r>
                        <a:rPr lang="zh-CN" altLang="en-US"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类</a:t>
                      </a:r>
                      <a:endPar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solidFill>
                      <a:srgbClr val="56C4D2"/>
                    </a:solidFill>
                  </a:tcPr>
                </a:tc>
                <a:extLst>
                  <a:ext uri="{0D108BD9-81ED-4DB2-BD59-A6C34878D82A}">
                    <a16:rowId xmlns="" xmlns:a16="http://schemas.microsoft.com/office/drawing/2014/main" val="10000"/>
                  </a:ext>
                </a:extLst>
              </a:tr>
              <a:tr h="262147">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sftp</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paramiko.SFTPClient.from_transport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tran</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noFill/>
                  </a:tcPr>
                </a:tc>
                <a:extLst>
                  <a:ext uri="{0D108BD9-81ED-4DB2-BD59-A6C34878D82A}">
                    <a16:rowId xmlns="" xmlns:a16="http://schemas.microsoft.com/office/drawing/2014/main" val="10001"/>
                  </a:ext>
                </a:extLst>
              </a:tr>
              <a:tr h="262147">
                <a:tc>
                  <a:txBody>
                    <a:bodyPr/>
                    <a:lstStyle/>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sftp.get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remote_path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local_path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p:sp>
        <p:nvSpPr>
          <p:cNvPr id="31" name="Right Arrow 157">
            <a:extLst>
              <a:ext uri="{FF2B5EF4-FFF2-40B4-BE49-F238E27FC236}">
                <a16:creationId xmlns="" xmlns:a16="http://schemas.microsoft.com/office/drawing/2014/main" id="{684E91EA-140B-45B9-BF7F-1CCCF5A4DAFF}"/>
              </a:ext>
            </a:extLst>
          </p:cNvPr>
          <p:cNvSpPr/>
          <p:nvPr/>
        </p:nvSpPr>
        <p:spPr bwMode="gray">
          <a:xfrm rot="10800000">
            <a:off x="5924323" y="4622863"/>
            <a:ext cx="666495" cy="420164"/>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2700">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2" name="表格 31"/>
          <p:cNvGraphicFramePr>
            <a:graphicFrameLocks noGrp="1"/>
          </p:cNvGraphicFramePr>
          <p:nvPr>
            <p:extLst>
              <p:ext uri="{D42A27DB-BD31-4B8C-83A1-F6EECF244321}">
                <p14:modId xmlns:p14="http://schemas.microsoft.com/office/powerpoint/2010/main" val="389544441"/>
              </p:ext>
            </p:extLst>
          </p:nvPr>
        </p:nvGraphicFramePr>
        <p:xfrm>
          <a:off x="6704846" y="5559650"/>
          <a:ext cx="4054594" cy="624840"/>
        </p:xfrm>
        <a:graphic>
          <a:graphicData uri="http://schemas.openxmlformats.org/drawingml/2006/table">
            <a:tbl>
              <a:tblPr firstRow="1" bandRow="1">
                <a:tableStyleId>{72833802-FEF1-4C79-8D5D-14CF1EAF98D9}</a:tableStyleId>
              </a:tblPr>
              <a:tblGrid>
                <a:gridCol w="4054594">
                  <a:extLst>
                    <a:ext uri="{9D8B030D-6E8A-4147-A177-3AD203B41FA5}">
                      <a16:colId xmlns="" xmlns:a16="http://schemas.microsoft.com/office/drawing/2014/main" val="20000"/>
                    </a:ext>
                  </a:extLst>
                </a:gridCol>
              </a:tblGrid>
              <a:tr h="251443">
                <a:tc>
                  <a:txBody>
                    <a:bodyPr/>
                    <a:lstStyle/>
                    <a:p>
                      <a:pPr marL="0" algn="ctr" defTabSz="914034" rtl="0" eaLnBrk="1" latinLnBrk="0" hangingPunct="1"/>
                      <a:r>
                        <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类</a:t>
                      </a:r>
                      <a:endParaRPr lang="en-US" altLang="zh-CN" sz="15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rgbClr val="30B5C5"/>
                      </a:solidFill>
                      <a:prstDash val="solid"/>
                      <a:round/>
                      <a:headEnd type="none" w="med" len="med"/>
                      <a:tailEnd type="none" w="med" len="med"/>
                    </a:lnL>
                    <a:lnR w="12700" cap="flat" cmpd="sng" algn="ctr">
                      <a:solidFill>
                        <a:srgbClr val="30B5C5"/>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30B5C5"/>
                      </a:solidFill>
                      <a:prstDash val="solid"/>
                      <a:round/>
                      <a:headEnd type="none" w="med" len="med"/>
                      <a:tailEnd type="none" w="med" len="med"/>
                    </a:lnB>
                    <a:solidFill>
                      <a:srgbClr val="56C4D2"/>
                    </a:solidFill>
                  </a:tcPr>
                </a:tc>
                <a:extLst>
                  <a:ext uri="{0D108BD9-81ED-4DB2-BD59-A6C34878D82A}">
                    <a16:rowId xmlns="" xmlns:a16="http://schemas.microsoft.com/office/drawing/2014/main" val="10000"/>
                  </a:ext>
                </a:extLst>
              </a:tr>
              <a:tr h="262147">
                <a:tc>
                  <a:txBody>
                    <a:bodyPr/>
                    <a:lstStyle/>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tran.close</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30B5C5"/>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1"/>
                  </a:ext>
                </a:extLst>
              </a:tr>
            </a:tbl>
          </a:graphicData>
        </a:graphic>
      </p:graphicFrame>
      <p:sp>
        <p:nvSpPr>
          <p:cNvPr id="33" name="Right Arrow 157">
            <a:extLst>
              <a:ext uri="{FF2B5EF4-FFF2-40B4-BE49-F238E27FC236}">
                <a16:creationId xmlns="" xmlns:a16="http://schemas.microsoft.com/office/drawing/2014/main" id="{684E91EA-140B-45B9-BF7F-1CCCF5A4DAFF}"/>
              </a:ext>
            </a:extLst>
          </p:cNvPr>
          <p:cNvSpPr/>
          <p:nvPr/>
        </p:nvSpPr>
        <p:spPr bwMode="gray">
          <a:xfrm rot="10800000">
            <a:off x="5927006" y="5680746"/>
            <a:ext cx="666495" cy="420164"/>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2700">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767827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Paramiko</a:t>
            </a:r>
            <a:r>
              <a:rPr lang="zh-CN" altLang="en-US" b="1" dirty="0" smtClean="0">
                <a:sym typeface="Huawei Sans" panose="020C0503030203020204" pitchFamily="34" charset="0"/>
              </a:rPr>
              <a:t>组件架构</a:t>
            </a:r>
            <a:endParaRPr lang="en-US" altLang="zh-CN" b="1"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Transport</a:t>
            </a:r>
            <a:r>
              <a:rPr lang="zh-CN" altLang="en-US" dirty="0" smtClean="0">
                <a:sym typeface="Huawei Sans" panose="020C0503030203020204" pitchFamily="34" charset="0"/>
              </a:rPr>
              <a:t>类及其方法介绍</a:t>
            </a:r>
            <a:endParaRPr lang="en-US" altLang="zh-CN"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Key handling</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SFTPClient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SSHClient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4836941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Transport</a:t>
            </a:r>
            <a:r>
              <a:rPr lang="zh-CN" altLang="en-US" smtClean="0">
                <a:sym typeface="Huawei Sans" panose="020C0503030203020204" pitchFamily="34" charset="0"/>
              </a:rPr>
              <a:t>类及其方法介绍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a:sym typeface="Huawei Sans" panose="020C0503030203020204" pitchFamily="34" charset="0"/>
              </a:rPr>
              <a:t>Transport</a:t>
            </a:r>
            <a:r>
              <a:rPr lang="zh-CN" altLang="en-US" sz="1800" dirty="0">
                <a:sym typeface="Huawei Sans" panose="020C0503030203020204" pitchFamily="34" charset="0"/>
              </a:rPr>
              <a:t>类：一个</a:t>
            </a:r>
            <a:r>
              <a:rPr lang="en-US" altLang="zh-CN" sz="1800" dirty="0">
                <a:sym typeface="Huawei Sans" panose="020C0503030203020204" pitchFamily="34" charset="0"/>
              </a:rPr>
              <a:t>SSH Transport</a:t>
            </a:r>
            <a:r>
              <a:rPr lang="zh-CN" altLang="en-US" sz="1800" dirty="0">
                <a:sym typeface="Huawei Sans" panose="020C0503030203020204" pitchFamily="34" charset="0"/>
              </a:rPr>
              <a:t>连接到一个流（通常为套接字），协商加密会话，进行认证。后续可在加密会话上创建通道。多个通道可以在单个会话连接中多路复用（事实上经常如此，如端口转发）。</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599767"/>
            <a:ext cx="8646045" cy="584775"/>
          </a:xfrm>
          <a:prstGeom prst="rect">
            <a:avLst/>
          </a:prstGeom>
          <a:noFill/>
          <a:ln>
            <a:solidFill>
              <a:srgbClr val="56C4D2"/>
            </a:solidFill>
          </a:ln>
        </p:spPr>
        <p:txBody>
          <a:bodyPr wrap="square" rtlCol="0">
            <a:spAutoFit/>
          </a:bodyPr>
          <a:lstStyle/>
          <a:p>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paramiko.Transport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(('192.168.56.100</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tran.connect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(username=‘</a:t>
            </a: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client’,password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=‘test’)      </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238073648"/>
              </p:ext>
            </p:extLst>
          </p:nvPr>
        </p:nvGraphicFramePr>
        <p:xfrm>
          <a:off x="965547" y="3512237"/>
          <a:ext cx="9351645" cy="1562388"/>
        </p:xfrm>
        <a:graphic>
          <a:graphicData uri="http://schemas.openxmlformats.org/drawingml/2006/table">
            <a:tbl>
              <a:tblPr/>
              <a:tblGrid>
                <a:gridCol w="4220026">
                  <a:extLst>
                    <a:ext uri="{9D8B030D-6E8A-4147-A177-3AD203B41FA5}">
                      <a16:colId xmlns="" xmlns:a16="http://schemas.microsoft.com/office/drawing/2014/main" val="20000"/>
                    </a:ext>
                  </a:extLst>
                </a:gridCol>
                <a:gridCol w="5131619">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常用方法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功能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Transport(sock)</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建立</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对象</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实例化</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SSH</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会话</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通道。</a:t>
                      </a:r>
                      <a:endPar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connect(username=“,password=</a:t>
                      </a:r>
                      <a:r>
                        <a:rPr lang="en-US" altLang="zh-CN" sz="14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None,pkey</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=None)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建立</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SSH</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会话连接，并使用密码或私钥进行身份</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认证。</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88346">
                <a:tc>
                  <a:txBody>
                    <a:bodyPr/>
                    <a:lstStyle/>
                    <a:p>
                      <a:pPr marL="0" lvl="1" algn="ctr" defTabSz="914034" rtl="0" eaLnBrk="1" latinLnBrk="0" hangingPunct="1"/>
                      <a:r>
                        <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close()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关闭</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会话。</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526309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Paramiko</a:t>
            </a:r>
            <a:r>
              <a:rPr lang="zh-CN" altLang="en-US" b="1" dirty="0" smtClean="0">
                <a:sym typeface="Huawei Sans" panose="020C0503030203020204" pitchFamily="34" charset="0"/>
              </a:rPr>
              <a:t>组件架构</a:t>
            </a:r>
            <a:endParaRPr lang="en-US" altLang="zh-CN" b="1"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Transport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Key handling</a:t>
            </a:r>
            <a:r>
              <a:rPr lang="zh-CN" altLang="en-US" dirty="0" smtClean="0">
                <a:sym typeface="Huawei Sans" panose="020C0503030203020204" pitchFamily="34" charset="0"/>
              </a:rPr>
              <a:t>类及其方法介绍</a:t>
            </a:r>
            <a:endParaRPr lang="en-US" altLang="zh-CN"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SFTPClient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SSHClient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28141495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p:txBody>
          <a:bodyPr/>
          <a:lstStyle/>
          <a:p>
            <a:r>
              <a:rPr lang="en-US" altLang="zh-CN" smtClean="0">
                <a:sym typeface="Huawei Sans" panose="020C0503030203020204" pitchFamily="34" charset="0"/>
              </a:rPr>
              <a:t>Key handling</a:t>
            </a:r>
            <a:r>
              <a:rPr lang="zh-CN" altLang="en-US" smtClean="0">
                <a:sym typeface="Huawei Sans" panose="020C0503030203020204" pitchFamily="34" charset="0"/>
              </a:rPr>
              <a:t>类及其方法介绍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p:txBody>
          <a:bodyPr/>
          <a:lstStyle/>
          <a:p>
            <a:r>
              <a:rPr lang="en-US" altLang="zh-CN" sz="1800" dirty="0">
                <a:sym typeface="Huawei Sans" panose="020C0503030203020204" pitchFamily="34" charset="0"/>
              </a:rPr>
              <a:t>Key handling</a:t>
            </a:r>
            <a:r>
              <a:rPr lang="zh-CN" altLang="en-US" sz="1800" dirty="0">
                <a:sym typeface="Huawei Sans" panose="020C0503030203020204" pitchFamily="34" charset="0"/>
              </a:rPr>
              <a:t>类用于创建对应密钥类型的实例，如</a:t>
            </a:r>
            <a:r>
              <a:rPr lang="en-US" altLang="zh-CN" sz="1800" dirty="0">
                <a:sym typeface="Huawei Sans" panose="020C0503030203020204" pitchFamily="34" charset="0"/>
              </a:rPr>
              <a:t>RSA</a:t>
            </a:r>
            <a:r>
              <a:rPr lang="zh-CN" altLang="en-US" sz="1800" dirty="0">
                <a:sym typeface="Huawei Sans" panose="020C0503030203020204" pitchFamily="34" charset="0"/>
              </a:rPr>
              <a:t>密钥，</a:t>
            </a:r>
            <a:r>
              <a:rPr lang="en-US" altLang="zh-CN" sz="1800" dirty="0">
                <a:sym typeface="Huawei Sans" panose="020C0503030203020204" pitchFamily="34" charset="0"/>
              </a:rPr>
              <a:t>DSS</a:t>
            </a:r>
            <a:r>
              <a:rPr lang="zh-CN" altLang="en-US" sz="1800" dirty="0">
                <a:sym typeface="Huawei Sans" panose="020C0503030203020204" pitchFamily="34" charset="0"/>
              </a:rPr>
              <a:t>（</a:t>
            </a:r>
            <a:r>
              <a:rPr lang="en-US" altLang="zh-CN" sz="1800" dirty="0">
                <a:sym typeface="Huawei Sans" panose="020C0503030203020204" pitchFamily="34" charset="0"/>
              </a:rPr>
              <a:t>DSA</a:t>
            </a:r>
            <a:r>
              <a:rPr lang="zh-CN" altLang="en-US" sz="1800" dirty="0">
                <a:sym typeface="Huawei Sans" panose="020C0503030203020204" pitchFamily="34" charset="0"/>
              </a:rPr>
              <a:t>）密钥。这个类包含了密钥的读取，写入等相关方法。</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a:xfrm>
            <a:off x="965547" y="2629256"/>
            <a:ext cx="8646045" cy="338554"/>
          </a:xfrm>
          <a:prstGeom prst="rect">
            <a:avLst/>
          </a:prstGeom>
          <a:noFill/>
          <a:ln>
            <a:solidFill>
              <a:srgbClr val="56C4D2"/>
            </a:solidFill>
          </a:ln>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key=</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paramiko.RSAKey.from_private_key_file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r'C</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:\Users\</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exampleuser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ssh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id_rsa</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1439193960"/>
              </p:ext>
            </p:extLst>
          </p:nvPr>
        </p:nvGraphicFramePr>
        <p:xfrm>
          <a:off x="2138740" y="3273640"/>
          <a:ext cx="7143283" cy="1174042"/>
        </p:xfrm>
        <a:graphic>
          <a:graphicData uri="http://schemas.openxmlformats.org/drawingml/2006/table">
            <a:tbl>
              <a:tblPr/>
              <a:tblGrid>
                <a:gridCol w="3537441">
                  <a:extLst>
                    <a:ext uri="{9D8B030D-6E8A-4147-A177-3AD203B41FA5}">
                      <a16:colId xmlns="" xmlns:a16="http://schemas.microsoft.com/office/drawing/2014/main" val="20000"/>
                    </a:ext>
                  </a:extLst>
                </a:gridCol>
                <a:gridCol w="3605842">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常用方法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功能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RSAKey.from_private_key_file</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(filename)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从文件读取</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RSA</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私钥来创建密钥</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对象。</a:t>
                      </a:r>
                      <a:endPar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DSSKey.from_private_key_file(filename)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从文件读取</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DSS</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私钥来创建密钥</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对象。</a:t>
                      </a:r>
                      <a:endPar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4346021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Paramiko</a:t>
            </a:r>
            <a:r>
              <a:rPr lang="zh-CN" altLang="en-US" b="1" dirty="0" smtClean="0">
                <a:sym typeface="Huawei Sans" panose="020C0503030203020204" pitchFamily="34" charset="0"/>
              </a:rPr>
              <a:t>组件架构</a:t>
            </a:r>
            <a:endParaRPr lang="en-US" altLang="zh-CN" b="1"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Transport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Key handling</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err="1" smtClean="0">
                <a:sym typeface="Huawei Sans" panose="020C0503030203020204" pitchFamily="34" charset="0"/>
              </a:rPr>
              <a:t>SFTPClient</a:t>
            </a:r>
            <a:r>
              <a:rPr lang="zh-CN" altLang="en-US" dirty="0" smtClean="0">
                <a:sym typeface="Huawei Sans" panose="020C0503030203020204" pitchFamily="34" charset="0"/>
              </a:rPr>
              <a:t>类及其方法介绍</a:t>
            </a:r>
            <a:endParaRPr lang="en-US" altLang="zh-CN"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SSHClient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5515842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SFTPClient</a:t>
            </a:r>
            <a:r>
              <a:rPr lang="zh-CN" altLang="en-US" smtClean="0">
                <a:sym typeface="Huawei Sans" panose="020C0503030203020204" pitchFamily="34" charset="0"/>
              </a:rPr>
              <a:t>类及其方法介绍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SFTPClient</a:t>
            </a:r>
            <a:r>
              <a:rPr lang="zh-CN" altLang="en-US" sz="1800" dirty="0">
                <a:sym typeface="Huawei Sans" panose="020C0503030203020204" pitchFamily="34" charset="0"/>
              </a:rPr>
              <a:t>类通过一个打开的</a:t>
            </a:r>
            <a:r>
              <a:rPr lang="en-US" altLang="zh-CN" sz="1800" dirty="0">
                <a:sym typeface="Huawei Sans" panose="020C0503030203020204" pitchFamily="34" charset="0"/>
              </a:rPr>
              <a:t>SSH Transport</a:t>
            </a:r>
            <a:r>
              <a:rPr lang="zh-CN" altLang="en-US" sz="1800" dirty="0">
                <a:sym typeface="Huawei Sans" panose="020C0503030203020204" pitchFamily="34" charset="0"/>
              </a:rPr>
              <a:t>会话通道创建</a:t>
            </a:r>
            <a:r>
              <a:rPr lang="en-US" altLang="zh-CN" sz="1800" dirty="0">
                <a:sym typeface="Huawei Sans" panose="020C0503030203020204" pitchFamily="34" charset="0"/>
              </a:rPr>
              <a:t>SFTP</a:t>
            </a:r>
            <a:r>
              <a:rPr lang="zh-CN" altLang="en-US" sz="1800" dirty="0">
                <a:sym typeface="Huawei Sans" panose="020C0503030203020204" pitchFamily="34" charset="0"/>
              </a:rPr>
              <a:t>会话连接并执行远程文件操作。</a:t>
            </a:r>
          </a:p>
          <a:p>
            <a:r>
              <a:rPr lang="zh-CN" altLang="en-US" sz="1800" dirty="0">
                <a:sym typeface="Huawei Sans" panose="020C0503030203020204" pitchFamily="34" charset="0"/>
              </a:rPr>
              <a:t>如下为一个典型用例：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038059"/>
            <a:ext cx="8646045" cy="2160591"/>
          </a:xfrm>
          <a:prstGeom prst="rect">
            <a:avLst/>
          </a:prstGeom>
          <a:noFill/>
          <a:ln>
            <a:solidFill>
              <a:srgbClr val="56C4D2"/>
            </a:solidFill>
          </a:ln>
        </p:spPr>
        <p:txBody>
          <a:bodyPr wrap="square" rtlCol="0">
            <a:spAutoFit/>
          </a:bodyPr>
          <a:lstStyle/>
          <a:p>
            <a:pP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key=</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paramiko.RSAKey.from_private_key_file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r'C</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:\Users\</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exampleuser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ssh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id_rsa</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paramiko.Transport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(('192.168.56.100</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tran.connect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(username=‘client’,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pkey</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=key)</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sftp</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paramiko.SFTPClient.from_transport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tran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local_path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r'C</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:\Users\</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exampleuser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ssh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vrptest.cfg</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remote_path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vrpcfg.cfg</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sftp.get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remote_path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local_path</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900963359"/>
              </p:ext>
            </p:extLst>
          </p:nvPr>
        </p:nvGraphicFramePr>
        <p:xfrm>
          <a:off x="2407041" y="4379416"/>
          <a:ext cx="5763056" cy="1562388"/>
        </p:xfrm>
        <a:graphic>
          <a:graphicData uri="http://schemas.openxmlformats.org/drawingml/2006/table">
            <a:tbl>
              <a:tblPr/>
              <a:tblGrid>
                <a:gridCol w="1717267">
                  <a:extLst>
                    <a:ext uri="{9D8B030D-6E8A-4147-A177-3AD203B41FA5}">
                      <a16:colId xmlns="" xmlns:a16="http://schemas.microsoft.com/office/drawing/2014/main" val="20000"/>
                    </a:ext>
                  </a:extLst>
                </a:gridCol>
                <a:gridCol w="4045789">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常用方法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功能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from_transport</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从打开的</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创建一个</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SFTP</a:t>
                      </a:r>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会话</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连接。</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get()</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下载指定</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文件。</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88346">
                <a:tc>
                  <a:txBody>
                    <a:bodyPr/>
                    <a:lstStyle/>
                    <a:p>
                      <a:pPr marL="0" lvl="1" algn="ctr" defTabSz="914034" rtl="0" eaLnBrk="1" latinLnBrk="0" hangingPunct="1"/>
                      <a:r>
                        <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put()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上传指定</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文件。</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466343"/>
                  </a:ext>
                </a:extLst>
              </a:tr>
            </a:tbl>
          </a:graphicData>
        </a:graphic>
      </p:graphicFrame>
    </p:spTree>
    <p:extLst>
      <p:ext uri="{BB962C8B-B14F-4D97-AF65-F5344CB8AC3E}">
        <p14:creationId xmlns:p14="http://schemas.microsoft.com/office/powerpoint/2010/main" val="37815152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from_transport</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from_transport</a:t>
            </a:r>
            <a:r>
              <a:rPr lang="en-US" altLang="zh-CN" sz="1800" dirty="0">
                <a:sym typeface="Huawei Sans" panose="020C0503030203020204" pitchFamily="34" charset="0"/>
              </a:rPr>
              <a:t>()</a:t>
            </a:r>
            <a:r>
              <a:rPr lang="zh-CN" altLang="en-US" sz="1800" dirty="0">
                <a:sym typeface="Huawei Sans" panose="020C0503030203020204" pitchFamily="34" charset="0"/>
              </a:rPr>
              <a:t>：从开启的</a:t>
            </a:r>
            <a:r>
              <a:rPr lang="en-US" altLang="zh-CN" sz="1800" dirty="0">
                <a:sym typeface="Huawei Sans" panose="020C0503030203020204" pitchFamily="34" charset="0"/>
              </a:rPr>
              <a:t>Transport</a:t>
            </a:r>
            <a:r>
              <a:rPr lang="zh-CN" altLang="en-US" sz="1800" dirty="0">
                <a:sym typeface="Huawei Sans" panose="020C0503030203020204" pitchFamily="34" charset="0"/>
              </a:rPr>
              <a:t>通道创建一个</a:t>
            </a:r>
            <a:r>
              <a:rPr lang="en-US" altLang="zh-CN" sz="1800" dirty="0">
                <a:sym typeface="Huawei Sans" panose="020C0503030203020204" pitchFamily="34" charset="0"/>
              </a:rPr>
              <a:t>SFTP</a:t>
            </a:r>
            <a:r>
              <a:rPr lang="zh-CN" altLang="en-US" sz="1800" dirty="0">
                <a:sym typeface="Huawei Sans" panose="020C0503030203020204" pitchFamily="34" charset="0"/>
              </a:rPr>
              <a:t>客户端通道。</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274032"/>
            <a:ext cx="9788888" cy="785856"/>
          </a:xfrm>
          <a:prstGeom prst="rect">
            <a:avLst/>
          </a:prstGeom>
          <a:noFill/>
          <a:ln>
            <a:solidFill>
              <a:srgbClr val="56C4D2"/>
            </a:solidFill>
          </a:ln>
        </p:spPr>
        <p:txBody>
          <a:bodyPr wrap="square" rtlCol="0">
            <a:spAutoFit/>
          </a:bodyPr>
          <a:lstStyle/>
          <a:p>
            <a:pPr marL="0" lvl="2" indent="0">
              <a:lnSpc>
                <a:spcPct val="120000"/>
              </a:lnSpc>
              <a:spcBef>
                <a:spcPts val="792"/>
              </a:spcBef>
              <a:buNone/>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paramiko.Transport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((‘192.168.56.100’,22)) </a:t>
            </a:r>
          </a:p>
          <a:p>
            <a:pPr marL="0" lvl="2">
              <a:lnSpc>
                <a:spcPct val="120000"/>
              </a:lnSpc>
              <a:spcBef>
                <a:spcPts val="792"/>
              </a:spcBef>
            </a:pP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sftp</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paramiko.SFTPClient.from_transport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T,window_size</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=None,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err="1" smtClean="0">
                <a:latin typeface="Huawei Sans" panose="020C0503030203020204" pitchFamily="34" charset="0"/>
                <a:ea typeface="方正兰亭黑简体" panose="02000000000000000000" pitchFamily="2" charset="-122"/>
                <a:sym typeface="Huawei Sans" panose="020C0503030203020204" pitchFamily="34" charset="0"/>
              </a:rPr>
              <a:t>max_packet_size</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=None)</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2629138465"/>
              </p:ext>
            </p:extLst>
          </p:nvPr>
        </p:nvGraphicFramePr>
        <p:xfrm>
          <a:off x="2052476" y="3174188"/>
          <a:ext cx="6366905" cy="1562388"/>
        </p:xfrm>
        <a:graphic>
          <a:graphicData uri="http://schemas.openxmlformats.org/drawingml/2006/table">
            <a:tbl>
              <a:tblPr/>
              <a:tblGrid>
                <a:gridCol w="1865100">
                  <a:extLst>
                    <a:ext uri="{9D8B030D-6E8A-4147-A177-3AD203B41FA5}">
                      <a16:colId xmlns="" xmlns:a16="http://schemas.microsoft.com/office/drawing/2014/main" val="20000"/>
                    </a:ext>
                  </a:extLst>
                </a:gridCol>
                <a:gridCol w="4501805">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T</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一个认证过的开启的</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Transport</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会话。</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window_size</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可选参数，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会话窗口</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大小。</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88346">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max_packet_size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可选参数，</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SFTP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会话</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最大数据包大小。</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466343"/>
                  </a:ext>
                </a:extLst>
              </a:tr>
            </a:tbl>
          </a:graphicData>
        </a:graphic>
      </p:graphicFrame>
    </p:spTree>
    <p:extLst>
      <p:ext uri="{BB962C8B-B14F-4D97-AF65-F5344CB8AC3E}">
        <p14:creationId xmlns:p14="http://schemas.microsoft.com/office/powerpoint/2010/main" val="244869648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get</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a:sym typeface="Huawei Sans" panose="020C0503030203020204" pitchFamily="34" charset="0"/>
              </a:rPr>
              <a:t>get()</a:t>
            </a:r>
            <a:r>
              <a:rPr lang="zh-CN" altLang="en-US" sz="1800" dirty="0">
                <a:sym typeface="Huawei Sans" panose="020C0503030203020204" pitchFamily="34" charset="0"/>
              </a:rPr>
              <a:t>：将远程文件（</a:t>
            </a:r>
            <a:r>
              <a:rPr lang="en-US" altLang="zh-CN" sz="1800" dirty="0" err="1">
                <a:sym typeface="Huawei Sans" panose="020C0503030203020204" pitchFamily="34" charset="0"/>
              </a:rPr>
              <a:t>remotepath</a:t>
            </a:r>
            <a:r>
              <a:rPr lang="zh-CN" altLang="en-US" sz="1800" dirty="0">
                <a:sym typeface="Huawei Sans" panose="020C0503030203020204" pitchFamily="34" charset="0"/>
              </a:rPr>
              <a:t>）从</a:t>
            </a:r>
            <a:r>
              <a:rPr lang="en-US" altLang="zh-CN" sz="1800" dirty="0">
                <a:sym typeface="Huawei Sans" panose="020C0503030203020204" pitchFamily="34" charset="0"/>
              </a:rPr>
              <a:t>SFTP</a:t>
            </a:r>
            <a:r>
              <a:rPr lang="zh-CN" altLang="en-US" sz="1800" dirty="0">
                <a:sym typeface="Huawei Sans" panose="020C0503030203020204" pitchFamily="34" charset="0"/>
              </a:rPr>
              <a:t>服务器复制到本地主机的指定路径中（</a:t>
            </a:r>
            <a:r>
              <a:rPr lang="en-US" altLang="zh-CN" sz="1800" dirty="0" err="1">
                <a:sym typeface="Huawei Sans" panose="020C0503030203020204" pitchFamily="34" charset="0"/>
              </a:rPr>
              <a:t>localpath</a:t>
            </a:r>
            <a:r>
              <a:rPr lang="zh-CN" altLang="en-US" sz="1800" dirty="0">
                <a:sym typeface="Huawei Sans" panose="020C0503030203020204" pitchFamily="34" charset="0"/>
              </a:rPr>
              <a:t>），操作引发的任何异常都将被传递。</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1509010" y="2473115"/>
            <a:ext cx="8646045" cy="1183914"/>
          </a:xfrm>
          <a:prstGeom prst="rect">
            <a:avLst/>
          </a:prstGeom>
          <a:noFill/>
          <a:ln>
            <a:solidFill>
              <a:srgbClr val="56C4D2"/>
            </a:solidFill>
          </a:ln>
        </p:spPr>
        <p:txBody>
          <a:bodyPr wrap="square" rtlCol="0">
            <a:spAutoFit/>
          </a:bodyPr>
          <a:lstStyle/>
          <a:p>
            <a:pPr marL="0" lvl="2">
              <a:lnSpc>
                <a:spcPct val="120000"/>
              </a:lnSpc>
              <a:spcBef>
                <a:spcPts val="792"/>
              </a:spcBef>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local_path=r'C:\Users\exampleuser\.ssh\vrptest.cfg'</a:t>
            </a:r>
          </a:p>
          <a:p>
            <a:pPr marL="0" lvl="2">
              <a:lnSpc>
                <a:spcPct val="120000"/>
              </a:lnSpc>
              <a:spcBef>
                <a:spcPts val="792"/>
              </a:spcBef>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remote_path= '/vrpcfg.cfg'</a:t>
            </a:r>
          </a:p>
          <a:p>
            <a:pPr marL="0" lvl="2">
              <a:lnSpc>
                <a:spcPct val="120000"/>
              </a:lnSpc>
              <a:spcBef>
                <a:spcPts val="792"/>
              </a:spcBef>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sftp.get(remote_path, local_path) </a:t>
            </a: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1263913778"/>
              </p:ext>
            </p:extLst>
          </p:nvPr>
        </p:nvGraphicFramePr>
        <p:xfrm>
          <a:off x="2078355" y="3965174"/>
          <a:ext cx="7764385" cy="1174042"/>
        </p:xfrm>
        <a:graphic>
          <a:graphicData uri="http://schemas.openxmlformats.org/drawingml/2006/table">
            <a:tbl>
              <a:tblPr/>
              <a:tblGrid>
                <a:gridCol w="1665510">
                  <a:extLst>
                    <a:ext uri="{9D8B030D-6E8A-4147-A177-3AD203B41FA5}">
                      <a16:colId xmlns="" xmlns:a16="http://schemas.microsoft.com/office/drawing/2014/main" val="20000"/>
                    </a:ext>
                  </a:extLst>
                </a:gridCol>
                <a:gridCol w="6098875">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remotepath</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远程</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文件。</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localpath</a:t>
                      </a:r>
                      <a:endPar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本地主机的目的路径</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该路径应包含文件名，仅指定目录可能会导致</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错误。</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9516714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put</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a:sym typeface="Huawei Sans" panose="020C0503030203020204" pitchFamily="34" charset="0"/>
              </a:rPr>
              <a:t>put()</a:t>
            </a:r>
            <a:r>
              <a:rPr lang="zh-CN" altLang="en-US" sz="1800" dirty="0">
                <a:sym typeface="Huawei Sans" panose="020C0503030203020204" pitchFamily="34" charset="0"/>
              </a:rPr>
              <a:t>：将本地文件</a:t>
            </a:r>
            <a:r>
              <a:rPr lang="en-US" altLang="zh-CN" sz="1800" dirty="0">
                <a:sym typeface="Huawei Sans" panose="020C0503030203020204" pitchFamily="34" charset="0"/>
              </a:rPr>
              <a:t>(</a:t>
            </a:r>
            <a:r>
              <a:rPr lang="en-US" altLang="zh-CN" sz="1800" dirty="0" err="1">
                <a:sym typeface="Huawei Sans" panose="020C0503030203020204" pitchFamily="34" charset="0"/>
              </a:rPr>
              <a:t>localpath</a:t>
            </a:r>
            <a:r>
              <a:rPr lang="en-US" altLang="zh-CN" sz="1800" dirty="0">
                <a:sym typeface="Huawei Sans" panose="020C0503030203020204" pitchFamily="34" charset="0"/>
              </a:rPr>
              <a:t>)</a:t>
            </a:r>
            <a:r>
              <a:rPr lang="zh-CN" altLang="en-US" sz="1800" dirty="0">
                <a:sym typeface="Huawei Sans" panose="020C0503030203020204" pitchFamily="34" charset="0"/>
              </a:rPr>
              <a:t>从本地主机复制到</a:t>
            </a:r>
            <a:r>
              <a:rPr lang="en-US" altLang="zh-CN" sz="1800" dirty="0">
                <a:sym typeface="Huawei Sans" panose="020C0503030203020204" pitchFamily="34" charset="0"/>
              </a:rPr>
              <a:t>SFTP</a:t>
            </a:r>
            <a:r>
              <a:rPr lang="zh-CN" altLang="en-US" sz="1800" dirty="0">
                <a:sym typeface="Huawei Sans" panose="020C0503030203020204" pitchFamily="34" charset="0"/>
              </a:rPr>
              <a:t>服务器的指定路径中</a:t>
            </a:r>
            <a:r>
              <a:rPr lang="en-US" altLang="zh-CN" sz="1800" dirty="0">
                <a:sym typeface="Huawei Sans" panose="020C0503030203020204" pitchFamily="34" charset="0"/>
              </a:rPr>
              <a:t>(</a:t>
            </a:r>
            <a:r>
              <a:rPr lang="en-US" altLang="zh-CN" sz="1800" dirty="0" err="1">
                <a:sym typeface="Huawei Sans" panose="020C0503030203020204" pitchFamily="34" charset="0"/>
              </a:rPr>
              <a:t>remotepath</a:t>
            </a:r>
            <a:r>
              <a:rPr lang="en-US" altLang="zh-CN" sz="1800" dirty="0">
                <a:sym typeface="Huawei Sans" panose="020C0503030203020204" pitchFamily="34" charset="0"/>
              </a:rPr>
              <a:t>)</a:t>
            </a:r>
            <a:r>
              <a:rPr lang="zh-CN" altLang="en-US" sz="1800" dirty="0">
                <a:sym typeface="Huawei Sans" panose="020C0503030203020204" pitchFamily="34" charset="0"/>
              </a:rPr>
              <a:t>，操作引发的任何异常都将被传递。</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1698791" y="2473115"/>
            <a:ext cx="8646045" cy="1183914"/>
          </a:xfrm>
          <a:prstGeom prst="rect">
            <a:avLst/>
          </a:prstGeom>
          <a:noFill/>
          <a:ln>
            <a:solidFill>
              <a:srgbClr val="56C4D2"/>
            </a:solidFill>
          </a:ln>
        </p:spPr>
        <p:txBody>
          <a:bodyPr wrap="square" rtlCol="0">
            <a:spAutoFit/>
          </a:bodyPr>
          <a:lstStyle/>
          <a:p>
            <a:pPr marL="0" lvl="2">
              <a:lnSpc>
                <a:spcPct val="120000"/>
              </a:lnSpc>
              <a:spcBef>
                <a:spcPts val="792"/>
              </a:spcBef>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local_path=r'C:\Users\exampleuser\.ssh\vrptest.cfg'</a:t>
            </a:r>
          </a:p>
          <a:p>
            <a:pPr marL="0" lvl="2">
              <a:lnSpc>
                <a:spcPct val="120000"/>
              </a:lnSpc>
              <a:spcBef>
                <a:spcPts val="792"/>
              </a:spcBef>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remote_path= '/vrpcfg.cfg'</a:t>
            </a:r>
          </a:p>
          <a:p>
            <a:pPr marL="0" lvl="2" indent="0">
              <a:lnSpc>
                <a:spcPct val="120000"/>
              </a:lnSpc>
              <a:spcBef>
                <a:spcPts val="792"/>
              </a:spcBef>
              <a:buNone/>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sftp.put(localpath, remotepath)</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802885189"/>
              </p:ext>
            </p:extLst>
          </p:nvPr>
        </p:nvGraphicFramePr>
        <p:xfrm>
          <a:off x="1991556" y="4033512"/>
          <a:ext cx="8221585" cy="1030193"/>
        </p:xfrm>
        <a:graphic>
          <a:graphicData uri="http://schemas.openxmlformats.org/drawingml/2006/table">
            <a:tbl>
              <a:tblPr/>
              <a:tblGrid>
                <a:gridCol w="1665319">
                  <a:extLst>
                    <a:ext uri="{9D8B030D-6E8A-4147-A177-3AD203B41FA5}">
                      <a16:colId xmlns="" xmlns:a16="http://schemas.microsoft.com/office/drawing/2014/main" val="20000"/>
                    </a:ext>
                  </a:extLst>
                </a:gridCol>
                <a:gridCol w="6556266">
                  <a:extLst>
                    <a:ext uri="{9D8B030D-6E8A-4147-A177-3AD203B41FA5}">
                      <a16:colId xmlns="" xmlns:a16="http://schemas.microsoft.com/office/drawing/2014/main" val="20001"/>
                    </a:ext>
                  </a:extLst>
                </a:gridCol>
              </a:tblGrid>
              <a:tr h="348665">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40764">
                <a:tc>
                  <a:txBody>
                    <a:bodyPr/>
                    <a:lstStyle/>
                    <a:p>
                      <a:pPr marL="0" lvl="1" algn="ctr" defTabSz="914034" rtl="0" eaLnBrk="1" latinLnBrk="0" hangingPunct="1"/>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localpath</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本地</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文件。</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40764">
                <a:tc>
                  <a:txBody>
                    <a:bodyPr/>
                    <a:lstStyle/>
                    <a:p>
                      <a:pPr marL="0" lvl="1" algn="ctr" defTabSz="914034" rtl="0" eaLnBrk="1" latinLnBrk="0" hangingPunct="1"/>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remotepath</a:t>
                      </a:r>
                      <a:endPar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SFTP</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服务器上的目的路径，该路径应包含文件名，仅指定目录可能会导致错误。</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0303250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b="1" dirty="0" err="1" smtClean="0">
                <a:sym typeface="Huawei Sans" panose="020C0503030203020204" pitchFamily="34" charset="0"/>
              </a:rPr>
              <a:t>Paramiko</a:t>
            </a:r>
            <a:r>
              <a:rPr lang="zh-CN" altLang="en-US" b="1" dirty="0" smtClean="0">
                <a:sym typeface="Huawei Sans" panose="020C0503030203020204" pitchFamily="34" charset="0"/>
              </a:rPr>
              <a:t>组件架构</a:t>
            </a:r>
            <a:endParaRPr lang="en-US" altLang="zh-CN" b="1" dirty="0" smtClean="0">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Transport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Key handling</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r>
              <a:rPr lang="en-US" altLang="zh-CN" dirty="0" err="1" smtClean="0">
                <a:solidFill>
                  <a:schemeClr val="bg1">
                    <a:lumMod val="50000"/>
                  </a:schemeClr>
                </a:solidFill>
                <a:sym typeface="Huawei Sans" panose="020C0503030203020204" pitchFamily="34" charset="0"/>
              </a:rPr>
              <a:t>SFTPClient</a:t>
            </a:r>
            <a:r>
              <a:rPr lang="zh-CN" altLang="en-US" dirty="0" smtClean="0">
                <a:solidFill>
                  <a:schemeClr val="bg1">
                    <a:lumMod val="50000"/>
                  </a:schemeClr>
                </a:solidFill>
                <a:sym typeface="Huawei Sans" panose="020C0503030203020204" pitchFamily="34" charset="0"/>
              </a:rPr>
              <a:t>类及其方法介绍</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err="1" smtClean="0">
                <a:sym typeface="Huawei Sans" panose="020C0503030203020204" pitchFamily="34" charset="0"/>
              </a:rPr>
              <a:t>SSHClient</a:t>
            </a:r>
            <a:r>
              <a:rPr lang="zh-CN" altLang="en-US" dirty="0" smtClean="0">
                <a:sym typeface="Huawei Sans" panose="020C0503030203020204" pitchFamily="34" charset="0"/>
              </a:rPr>
              <a:t>类及其方法介绍</a:t>
            </a:r>
            <a:endParaRPr lang="en-US" altLang="zh-CN"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10697193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SSHClient</a:t>
            </a:r>
            <a:r>
              <a:rPr lang="zh-CN" altLang="en-US" smtClean="0">
                <a:sym typeface="Huawei Sans" panose="020C0503030203020204" pitchFamily="34" charset="0"/>
              </a:rPr>
              <a:t>类及其方法介绍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SSHClient</a:t>
            </a:r>
            <a:r>
              <a:rPr lang="zh-CN" altLang="en-US" sz="1800" dirty="0">
                <a:sym typeface="Huawei Sans" panose="020C0503030203020204" pitchFamily="34" charset="0"/>
              </a:rPr>
              <a:t>类是与</a:t>
            </a:r>
            <a:r>
              <a:rPr lang="en-US" altLang="zh-CN" sz="1800" dirty="0">
                <a:sym typeface="Huawei Sans" panose="020C0503030203020204" pitchFamily="34" charset="0"/>
              </a:rPr>
              <a:t>SSH</a:t>
            </a:r>
            <a:r>
              <a:rPr lang="zh-CN" altLang="en-US" sz="1800" dirty="0">
                <a:sym typeface="Huawei Sans" panose="020C0503030203020204" pitchFamily="34" charset="0"/>
              </a:rPr>
              <a:t>服务器会话的高级表示。这个类已经包装了</a:t>
            </a:r>
            <a:r>
              <a:rPr lang="en-US" altLang="zh-CN" sz="1800" dirty="0">
                <a:sym typeface="Huawei Sans" panose="020C0503030203020204" pitchFamily="34" charset="0"/>
              </a:rPr>
              <a:t>Transport</a:t>
            </a:r>
            <a:r>
              <a:rPr lang="zh-CN" altLang="en-US" sz="1800" dirty="0">
                <a:sym typeface="Huawei Sans" panose="020C0503030203020204" pitchFamily="34" charset="0"/>
              </a:rPr>
              <a:t>类、</a:t>
            </a:r>
            <a:r>
              <a:rPr lang="en-US" altLang="zh-CN" sz="1800" dirty="0">
                <a:sym typeface="Huawei Sans" panose="020C0503030203020204" pitchFamily="34" charset="0"/>
              </a:rPr>
              <a:t>Channel</a:t>
            </a:r>
            <a:r>
              <a:rPr lang="zh-CN" altLang="en-US" sz="1800" dirty="0">
                <a:sym typeface="Huawei Sans" panose="020C0503030203020204" pitchFamily="34" charset="0"/>
              </a:rPr>
              <a:t>类和</a:t>
            </a:r>
            <a:r>
              <a:rPr lang="en-US" altLang="zh-CN" sz="1800" dirty="0" err="1">
                <a:sym typeface="Huawei Sans" panose="020C0503030203020204" pitchFamily="34" charset="0"/>
              </a:rPr>
              <a:t>SFTPClient</a:t>
            </a:r>
            <a:r>
              <a:rPr lang="zh-CN" altLang="en-US" sz="1800" dirty="0">
                <a:sym typeface="Huawei Sans" panose="020C0503030203020204" pitchFamily="34" charset="0"/>
              </a:rPr>
              <a:t>类来进行会话通道的建立和鉴权认证。如下为一个典型用例：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6" y="1909883"/>
            <a:ext cx="9204614" cy="978729"/>
          </a:xfrm>
          <a:prstGeom prst="rect">
            <a:avLst/>
          </a:prstGeom>
          <a:noFill/>
          <a:ln>
            <a:solidFill>
              <a:srgbClr val="56C4D2"/>
            </a:solidFill>
          </a:ln>
        </p:spPr>
        <p:txBody>
          <a:bodyPr wrap="square" rtlCol="0">
            <a:spAutoFit/>
          </a:bodyPr>
          <a:lstStyle/>
          <a:p>
            <a:pP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client=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paramiko.client.SSHClient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client.connect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(hostname</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=‘192.168.56.100</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’,port=22,username=‘</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client’,password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=‘123456’)</a:t>
            </a:r>
          </a:p>
          <a:p>
            <a:pPr>
              <a:lnSpc>
                <a:spcPct val="120000"/>
              </a:lnSpc>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stdin,stdout,stderr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client.exec_command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 –l’)</a:t>
            </a: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1814944064"/>
              </p:ext>
            </p:extLst>
          </p:nvPr>
        </p:nvGraphicFramePr>
        <p:xfrm>
          <a:off x="1493693" y="2997871"/>
          <a:ext cx="7555416" cy="2590799"/>
        </p:xfrm>
        <a:graphic>
          <a:graphicData uri="http://schemas.openxmlformats.org/drawingml/2006/table">
            <a:tbl>
              <a:tblPr/>
              <a:tblGrid>
                <a:gridCol w="2603854">
                  <a:extLst>
                    <a:ext uri="{9D8B030D-6E8A-4147-A177-3AD203B41FA5}">
                      <a16:colId xmlns="" xmlns:a16="http://schemas.microsoft.com/office/drawing/2014/main" val="20000"/>
                    </a:ext>
                  </a:extLst>
                </a:gridCol>
                <a:gridCol w="4951562">
                  <a:extLst>
                    <a:ext uri="{9D8B030D-6E8A-4147-A177-3AD203B41FA5}">
                      <a16:colId xmlns="" xmlns:a16="http://schemas.microsoft.com/office/drawing/2014/main" val="20001"/>
                    </a:ext>
                  </a:extLst>
                </a:gridCol>
              </a:tblGrid>
              <a:tr h="329688">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常用方法</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功能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22217">
                <a:tc>
                  <a:txBody>
                    <a:bodyPr/>
                    <a:lstStyle/>
                    <a:p>
                      <a:pPr marL="0" lvl="1" algn="ctr" defTabSz="914034" rtl="0" eaLnBrk="1" latinLnBrk="0" hangingPunct="1"/>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connect()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实现远程服务器的连接与</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认证。</a:t>
                      </a:r>
                      <a:endPar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22217">
                <a:tc>
                  <a:txBody>
                    <a:bodyPr/>
                    <a:lstStyle/>
                    <a:p>
                      <a:pPr marL="0" lvl="1" algn="ctr" defTabSz="914034" rtl="0" eaLnBrk="1" latinLnBrk="0" hangingPunct="1"/>
                      <a:r>
                        <a:rPr lang="en-US" altLang="zh-CN" sz="14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set_missing_host_key_policy</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设置连接到没有已知主机密钥的服务器时使用的</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策略。</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22217">
                <a:tc>
                  <a:txBody>
                    <a:bodyPr/>
                    <a:lstStyle/>
                    <a:p>
                      <a:pPr marL="0" lvl="1" algn="ctr" defTabSz="914034" rtl="0" eaLnBrk="1" latinLnBrk="0" hangingPunct="1"/>
                      <a:r>
                        <a:rPr lang="en-US" altLang="zh-CN" sz="1400" kern="1200" dirty="0" err="1"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load_system_host_keys</a:t>
                      </a:r>
                      <a:r>
                        <a:rPr lang="en-US" altLang="zh-CN"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从系统文件中加载主机</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密钥。</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22217">
                <a:tc>
                  <a:txBody>
                    <a:bodyPr/>
                    <a:lstStyle/>
                    <a:p>
                      <a:pPr marL="0" lvl="1" algn="ctr" defTabSz="914034" rtl="0" eaLnBrk="1" latinLnBrk="0" hangingPunct="1"/>
                      <a:r>
                        <a:rPr lang="en-US" altLang="zh-CN" sz="14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exec_command</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在远程服务器执行</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Linux</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命令。</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466343"/>
                  </a:ext>
                </a:extLst>
              </a:tr>
              <a:tr h="322217">
                <a:tc>
                  <a:txBody>
                    <a:bodyPr/>
                    <a:lstStyle/>
                    <a:p>
                      <a:pPr marL="0" lvl="1" algn="ctr" defTabSz="914034" rtl="0" eaLnBrk="1" latinLnBrk="0" hangingPunct="1"/>
                      <a:r>
                        <a:rPr lang="en-US" altLang="zh-CN" sz="14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invoke_shell</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在远程服务器上启动交互式</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shell</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会话。</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322217">
                <a:tc>
                  <a:txBody>
                    <a:bodyPr/>
                    <a:lstStyle/>
                    <a:p>
                      <a:pPr algn="ctr"/>
                      <a:r>
                        <a:rPr lang="en-US" sz="1400" dirty="0" err="1">
                          <a:effectLst/>
                          <a:latin typeface="Huawei Sans" panose="020C0503030203020204" pitchFamily="34" charset="0"/>
                          <a:ea typeface="方正兰亭黑简体" panose="02000000000000000000" pitchFamily="2" charset="-122"/>
                          <a:sym typeface="Huawei Sans" panose="020C0503030203020204" pitchFamily="34" charset="0"/>
                        </a:rPr>
                        <a:t>open_sftp</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在一个会话连接中创建</a:t>
                      </a:r>
                      <a:r>
                        <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SFTP</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通道。</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r h="322217">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close()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r>
                        <a:rPr lang="zh-CN" alt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关闭</a:t>
                      </a:r>
                      <a:r>
                        <a:rPr lang="zh-CN" altLang="en-US" sz="1400" kern="1200" dirty="0" smtClean="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连接。</a:t>
                      </a:r>
                      <a:endParaRPr lang="en-US"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22794711"/>
                  </a:ext>
                </a:extLst>
              </a:tr>
            </a:tbl>
          </a:graphicData>
        </a:graphic>
      </p:graphicFrame>
    </p:spTree>
    <p:extLst>
      <p:ext uri="{BB962C8B-B14F-4D97-AF65-F5344CB8AC3E}">
        <p14:creationId xmlns:p14="http://schemas.microsoft.com/office/powerpoint/2010/main" val="6666394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connect</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a:sym typeface="Huawei Sans" panose="020C0503030203020204" pitchFamily="34" charset="0"/>
              </a:rPr>
              <a:t>connect()</a:t>
            </a:r>
            <a:r>
              <a:rPr lang="zh-CN" altLang="en-US" sz="1800" dirty="0">
                <a:sym typeface="Huawei Sans" panose="020C0503030203020204" pitchFamily="34" charset="0"/>
              </a:rPr>
              <a:t>：实现远程服务器的连接与认证。</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6" y="2118760"/>
            <a:ext cx="9788888" cy="687368"/>
          </a:xfrm>
          <a:prstGeom prst="rect">
            <a:avLst/>
          </a:prstGeom>
          <a:noFill/>
          <a:ln>
            <a:solidFill>
              <a:srgbClr val="56C4D2"/>
            </a:solidFill>
          </a:ln>
        </p:spPr>
        <p:txBody>
          <a:bodyPr wrap="square" rtlCol="0">
            <a:spAutoFit/>
          </a:bodyPr>
          <a:lstStyle/>
          <a:p>
            <a:pPr marL="349060" lvl="2" indent="0">
              <a:spcBef>
                <a:spcPts val="792"/>
              </a:spcBef>
              <a:buNone/>
            </a:pPr>
            <a:r>
              <a:rPr lang="en-US" altLang="zh-CN" sz="16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client.connect</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(hostname='192.168.56.100',port=22,username=‘client',</a:t>
            </a:r>
            <a:r>
              <a:rPr lang="en-US" altLang="zh-CN" sz="16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key_filename</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id_rsa</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pPr marL="349060" lvl="2">
              <a:spcBef>
                <a:spcPts val="792"/>
              </a:spcBef>
            </a:pPr>
            <a:r>
              <a:rPr lang="en-US" altLang="zh-CN" sz="16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client.connect</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(hostname='192.168.56.100',port=22,username=‘</a:t>
            </a:r>
            <a:r>
              <a:rPr lang="en-US" altLang="zh-CN" sz="1600" dirty="0" err="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client',password</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=‘123456')</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4278069541"/>
              </p:ext>
            </p:extLst>
          </p:nvPr>
        </p:nvGraphicFramePr>
        <p:xfrm>
          <a:off x="2759842" y="3037444"/>
          <a:ext cx="5944211" cy="2915459"/>
        </p:xfrm>
        <a:graphic>
          <a:graphicData uri="http://schemas.openxmlformats.org/drawingml/2006/table">
            <a:tbl>
              <a:tblPr/>
              <a:tblGrid>
                <a:gridCol w="1639630">
                  <a:extLst>
                    <a:ext uri="{9D8B030D-6E8A-4147-A177-3AD203B41FA5}">
                      <a16:colId xmlns="" xmlns:a16="http://schemas.microsoft.com/office/drawing/2014/main" val="20000"/>
                    </a:ext>
                  </a:extLst>
                </a:gridCol>
                <a:gridCol w="4304581">
                  <a:extLst>
                    <a:ext uri="{9D8B030D-6E8A-4147-A177-3AD203B41FA5}">
                      <a16:colId xmlns="" xmlns:a16="http://schemas.microsoft.com/office/drawing/2014/main" val="20001"/>
                    </a:ext>
                  </a:extLst>
                </a:gridCol>
              </a:tblGrid>
              <a:tr h="371727">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63303">
                <a:tc>
                  <a:txBody>
                    <a:bodyPr/>
                    <a:lstStyle/>
                    <a:p>
                      <a:pPr marL="0" lvl="1" algn="ctr" defTabSz="914034" rtl="0" eaLnBrk="1" latinLnBrk="0" hangingPunct="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hostname</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连接的目标主机，只有该参数为必选</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参数。</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63303">
                <a:tc>
                  <a:txBody>
                    <a:bodyPr/>
                    <a:lstStyle/>
                    <a:p>
                      <a:pPr marL="0" lvl="1" algn="ctr" defTabSz="914034" rtl="0" eaLnBrk="1" latinLnBrk="0" hangingPunct="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port</a:t>
                      </a:r>
                      <a:endParaRPr lang="en-US" altLang="zh-CN" sz="14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指定端口，默认为</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22</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6391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username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进行认证的用户名，默认为</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空。</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466343"/>
                  </a:ext>
                </a:extLst>
              </a:tr>
              <a:tr h="363303">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password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进行认证的用户密码，默认为</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空。</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63303">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key_filename</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一个文件名或文件列表，指定私钥文件，默认为</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空。</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r h="363303">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pkey</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用于身份验证的私</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钥。</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7"/>
                  </a:ext>
                </a:extLst>
              </a:tr>
              <a:tr h="363303">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kern="120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26869663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set_missing_host_key_policy</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set_missing_host_key_policy</a:t>
            </a:r>
            <a:r>
              <a:rPr lang="en-US" altLang="zh-CN" sz="1800" dirty="0">
                <a:sym typeface="Huawei Sans" panose="020C0503030203020204" pitchFamily="34" charset="0"/>
              </a:rPr>
              <a:t>()</a:t>
            </a:r>
            <a:r>
              <a:rPr lang="zh-CN" altLang="en-US" sz="1800" dirty="0">
                <a:sym typeface="Huawei Sans" panose="020C0503030203020204" pitchFamily="34" charset="0"/>
              </a:rPr>
              <a:t>：设置连接到没有已知主机密钥的服务器时使用的策略。</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6" y="2274032"/>
            <a:ext cx="7321927" cy="338554"/>
          </a:xfrm>
          <a:prstGeom prst="rect">
            <a:avLst/>
          </a:prstGeom>
          <a:noFill/>
          <a:ln>
            <a:solidFill>
              <a:srgbClr val="56C4D2"/>
            </a:solidFill>
          </a:ln>
        </p:spPr>
        <p:txBody>
          <a:bodyPr wrap="square" rtlCol="0">
            <a:spAutoFit/>
          </a:bodyPr>
          <a:lstStyle/>
          <a:p>
            <a:pPr marL="403039" lvl="1" indent="0">
              <a:buNone/>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client.set_missing_host_key_policy</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paramiko.client.AutoAddPolicy</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2989212883"/>
              </p:ext>
            </p:extLst>
          </p:nvPr>
        </p:nvGraphicFramePr>
        <p:xfrm>
          <a:off x="965547" y="3286400"/>
          <a:ext cx="9788887" cy="1822016"/>
        </p:xfrm>
        <a:graphic>
          <a:graphicData uri="http://schemas.openxmlformats.org/drawingml/2006/table">
            <a:tbl>
              <a:tblPr/>
              <a:tblGrid>
                <a:gridCol w="1984687">
                  <a:extLst>
                    <a:ext uri="{9D8B030D-6E8A-4147-A177-3AD203B41FA5}">
                      <a16:colId xmlns="" xmlns:a16="http://schemas.microsoft.com/office/drawing/2014/main" val="20000"/>
                    </a:ext>
                  </a:extLst>
                </a:gridCol>
                <a:gridCol w="7804200">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AutoAddPolicy</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自动添加主机名及主机密钥到本地</a:t>
                      </a:r>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HostKeys</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对象，不依赖</a:t>
                      </a:r>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load_system_host_key</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的配置。即新建立</a:t>
                      </a:r>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ssh</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连接时不需要再输入</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yes</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或</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no</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进行</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确认。</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88346">
                <a:tc>
                  <a:txBody>
                    <a:bodyPr/>
                    <a:lstStyle/>
                    <a:p>
                      <a:pPr marL="0" lvl="1" algn="ctr" defTabSz="914034" rtl="0" eaLnBrk="1" latinLnBrk="0" hangingPunct="1"/>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WarningPolicy</a:t>
                      </a:r>
                      <a:endParaRPr lang="en-US" altLang="zh-CN" sz="1400" kern="120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用于记录一个未知的主机密钥的</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python</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警告并接受，功能上和</a:t>
                      </a:r>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AutoAddPolicy</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类似，但是会提示是新</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连接。</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88346">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RejectPolicy</a:t>
                      </a:r>
                      <a:endParaRPr lang="en-US" altLang="zh-CN" sz="1400" kern="120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自动拒绝未知的主机名和密钥，依赖</a:t>
                      </a:r>
                      <a:r>
                        <a:rPr lang="en-US" altLang="zh-CN" sz="1400" kern="1200" dirty="0" err="1">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load_system_host_key</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的配置</a:t>
                      </a:r>
                      <a:r>
                        <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此为默认</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选项。</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466343"/>
                  </a:ext>
                </a:extLst>
              </a:tr>
            </a:tbl>
          </a:graphicData>
        </a:graphic>
      </p:graphicFrame>
    </p:spTree>
    <p:extLst>
      <p:ext uri="{BB962C8B-B14F-4D97-AF65-F5344CB8AC3E}">
        <p14:creationId xmlns:p14="http://schemas.microsoft.com/office/powerpoint/2010/main" val="32561890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load_system_host_keys</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load_system_host_keys</a:t>
            </a:r>
            <a:r>
              <a:rPr lang="en-US" altLang="zh-CN" sz="1800" dirty="0">
                <a:sym typeface="Huawei Sans" panose="020C0503030203020204" pitchFamily="34" charset="0"/>
              </a:rPr>
              <a:t>()</a:t>
            </a:r>
            <a:r>
              <a:rPr lang="zh-CN" altLang="en-US" sz="1800" dirty="0">
                <a:sym typeface="Huawei Sans" panose="020C0503030203020204" pitchFamily="34" charset="0"/>
              </a:rPr>
              <a:t>：从系统文件加载主机密钥，如果没有参数，那么就尝试从用户本地的“</a:t>
            </a:r>
            <a:r>
              <a:rPr lang="en-US" altLang="zh-CN" sz="1800" dirty="0">
                <a:sym typeface="Huawei Sans" panose="020C0503030203020204" pitchFamily="34" charset="0"/>
              </a:rPr>
              <a:t>known hosts”</a:t>
            </a:r>
            <a:r>
              <a:rPr lang="zh-CN" altLang="en-US" sz="1800" dirty="0">
                <a:sym typeface="Huawei Sans" panose="020C0503030203020204" pitchFamily="34" charset="0"/>
              </a:rPr>
              <a:t>文件中读取密钥信息。</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621740"/>
            <a:ext cx="7321927" cy="338554"/>
          </a:xfrm>
          <a:prstGeom prst="rect">
            <a:avLst/>
          </a:prstGeom>
          <a:noFill/>
          <a:ln>
            <a:solidFill>
              <a:srgbClr val="56C4D2"/>
            </a:solidFill>
          </a:ln>
        </p:spPr>
        <p:txBody>
          <a:bodyPr wrap="square" rtlCol="0">
            <a:spAutoFit/>
          </a:bodyPr>
          <a:lstStyle/>
          <a:p>
            <a:pPr marL="403039" lvl="1" indent="0">
              <a:buNone/>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client.load_system_host_keys()</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 name="表格 5">
            <a:extLst>
              <a:ext uri="{FF2B5EF4-FFF2-40B4-BE49-F238E27FC236}">
                <a16:creationId xmlns="" xmlns:a16="http://schemas.microsoft.com/office/drawing/2014/main" id="{F519A085-E072-4FC0-9DB2-DF62A37F547F}"/>
              </a:ext>
            </a:extLst>
          </p:cNvPr>
          <p:cNvGraphicFramePr>
            <a:graphicFrameLocks noGrp="1"/>
          </p:cNvGraphicFramePr>
          <p:nvPr>
            <p:extLst>
              <p:ext uri="{D42A27DB-BD31-4B8C-83A1-F6EECF244321}">
                <p14:modId xmlns:p14="http://schemas.microsoft.com/office/powerpoint/2010/main" val="711145140"/>
              </p:ext>
            </p:extLst>
          </p:nvPr>
        </p:nvGraphicFramePr>
        <p:xfrm>
          <a:off x="3432703" y="3223219"/>
          <a:ext cx="4339698" cy="785696"/>
        </p:xfrm>
        <a:graphic>
          <a:graphicData uri="http://schemas.openxmlformats.org/drawingml/2006/table">
            <a:tbl>
              <a:tblPr/>
              <a:tblGrid>
                <a:gridCol w="1143749">
                  <a:extLst>
                    <a:ext uri="{9D8B030D-6E8A-4147-A177-3AD203B41FA5}">
                      <a16:colId xmlns="" xmlns:a16="http://schemas.microsoft.com/office/drawing/2014/main" val="20000"/>
                    </a:ext>
                  </a:extLst>
                </a:gridCol>
                <a:gridCol w="3195949">
                  <a:extLst>
                    <a:ext uri="{9D8B030D-6E8A-4147-A177-3AD203B41FA5}">
                      <a16:colId xmlns="" xmlns:a16="http://schemas.microsoft.com/office/drawing/2014/main" val="20001"/>
                    </a:ext>
                  </a:extLst>
                </a:gridCol>
              </a:tblGrid>
              <a:tr h="397350">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方法参数</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说明</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88346">
                <a:tc>
                  <a:txBody>
                    <a:bodyPr/>
                    <a:lstStyle/>
                    <a:p>
                      <a:pPr marL="0" lvl="1" algn="ctr" defTabSz="914034" rtl="0" eaLnBrk="1" latinLnBrk="0" hangingPunct="1"/>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filename</a:t>
                      </a:r>
                      <a:endParaRPr lang="en-US" altLang="zh-CN"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文件名，默认为</a:t>
                      </a:r>
                      <a:r>
                        <a:rPr lang="zh-CN" altLang="en-US" sz="1400" kern="120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空。</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3038640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exec_command</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exec_command</a:t>
            </a:r>
            <a:r>
              <a:rPr lang="en-US" altLang="zh-CN" sz="1800" dirty="0">
                <a:sym typeface="Huawei Sans" panose="020C0503030203020204" pitchFamily="34" charset="0"/>
              </a:rPr>
              <a:t>()</a:t>
            </a:r>
            <a:r>
              <a:rPr lang="zh-CN" altLang="en-US" sz="1800" dirty="0">
                <a:sym typeface="Huawei Sans" panose="020C0503030203020204" pitchFamily="34" charset="0"/>
              </a:rPr>
              <a:t>：在远程服务器执行</a:t>
            </a:r>
            <a:r>
              <a:rPr lang="en-US" altLang="zh-CN" sz="1800" dirty="0">
                <a:sym typeface="Huawei Sans" panose="020C0503030203020204" pitchFamily="34" charset="0"/>
              </a:rPr>
              <a:t>Linux</a:t>
            </a:r>
            <a:r>
              <a:rPr lang="zh-CN" altLang="en-US" sz="1800" dirty="0">
                <a:sym typeface="Huawei Sans" panose="020C0503030203020204" pitchFamily="34" charset="0"/>
              </a:rPr>
              <a:t>命令的方法。</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436543"/>
            <a:ext cx="7321927" cy="338554"/>
          </a:xfrm>
          <a:prstGeom prst="rect">
            <a:avLst/>
          </a:prstGeom>
          <a:noFill/>
          <a:ln>
            <a:solidFill>
              <a:srgbClr val="56C4D2"/>
            </a:solidFill>
          </a:ln>
        </p:spPr>
        <p:txBody>
          <a:bodyPr wrap="square" rtlCol="0">
            <a:spAutoFit/>
          </a:bodyPr>
          <a:lstStyle/>
          <a:p>
            <a:pPr marL="349060" lvl="2" indent="0" algn="just">
              <a:spcBef>
                <a:spcPts val="792"/>
              </a:spcBef>
              <a:buNone/>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stdin,stdout,stderr=client.exec_command(‘ls –l’)</a:t>
            </a:r>
            <a:endParaRPr lang="zh-CN"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575917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invoke_shell</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invoke_shell</a:t>
            </a:r>
            <a:r>
              <a:rPr lang="en-US" altLang="zh-CN" sz="1800" dirty="0">
                <a:sym typeface="Huawei Sans" panose="020C0503030203020204" pitchFamily="34" charset="0"/>
              </a:rPr>
              <a:t>()</a:t>
            </a:r>
            <a:r>
              <a:rPr lang="zh-CN" altLang="en-US" sz="1800" dirty="0">
                <a:sym typeface="Huawei Sans" panose="020C0503030203020204" pitchFamily="34" charset="0"/>
              </a:rPr>
              <a:t>：基于</a:t>
            </a:r>
            <a:r>
              <a:rPr lang="en-US" altLang="zh-CN" sz="1800" dirty="0">
                <a:sym typeface="Huawei Sans" panose="020C0503030203020204" pitchFamily="34" charset="0"/>
              </a:rPr>
              <a:t>SSH</a:t>
            </a:r>
            <a:r>
              <a:rPr lang="zh-CN" altLang="en-US" sz="1800" dirty="0">
                <a:sym typeface="Huawei Sans" panose="020C0503030203020204" pitchFamily="34" charset="0"/>
              </a:rPr>
              <a:t>会话连接，启动一个交互式</a:t>
            </a:r>
            <a:r>
              <a:rPr lang="en-US" altLang="zh-CN" sz="1800" dirty="0">
                <a:sym typeface="Huawei Sans" panose="020C0503030203020204" pitchFamily="34" charset="0"/>
              </a:rPr>
              <a:t>shell</a:t>
            </a:r>
            <a:r>
              <a:rPr lang="zh-CN" altLang="en-US" sz="1800" dirty="0">
                <a:sym typeface="Huawei Sans" panose="020C0503030203020204" pitchFamily="34" charset="0"/>
              </a:rPr>
              <a:t>会话。</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436543"/>
            <a:ext cx="7321927" cy="338554"/>
          </a:xfrm>
          <a:prstGeom prst="rect">
            <a:avLst/>
          </a:prstGeom>
          <a:noFill/>
          <a:ln>
            <a:solidFill>
              <a:srgbClr val="56C4D2"/>
            </a:solidFill>
          </a:ln>
        </p:spPr>
        <p:txBody>
          <a:bodyPr wrap="square" rtlCol="0">
            <a:spAutoFit/>
          </a:bodyPr>
          <a:lstStyle/>
          <a:p>
            <a:pPr marL="403039" lvl="1" indent="0">
              <a:buNone/>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cli = client.invoke_shell()</a:t>
            </a:r>
          </a:p>
        </p:txBody>
      </p:sp>
    </p:spTree>
    <p:extLst>
      <p:ext uri="{BB962C8B-B14F-4D97-AF65-F5344CB8AC3E}">
        <p14:creationId xmlns:p14="http://schemas.microsoft.com/office/powerpoint/2010/main" val="25183892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FFC12CA-11E8-48C6-9676-F6E786635BA7}"/>
              </a:ext>
            </a:extLst>
          </p:cNvPr>
          <p:cNvSpPr>
            <a:spLocks noGrp="1"/>
          </p:cNvSpPr>
          <p:nvPr>
            <p:ph type="title"/>
          </p:nvPr>
        </p:nvSpPr>
        <p:spPr bwMode="gray"/>
        <p:txBody>
          <a:bodyPr/>
          <a:lstStyle/>
          <a:p>
            <a:r>
              <a:rPr lang="en-US" altLang="zh-CN" smtClean="0">
                <a:sym typeface="Huawei Sans" panose="020C0503030203020204" pitchFamily="34" charset="0"/>
              </a:rPr>
              <a:t>open_sftp</a:t>
            </a:r>
            <a:r>
              <a:rPr lang="zh-CN" altLang="en-US" smtClean="0">
                <a:sym typeface="Huawei Sans" panose="020C0503030203020204" pitchFamily="34" charset="0"/>
              </a:rPr>
              <a:t>方法介绍</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en-US" altLang="zh-CN" sz="1800" dirty="0" err="1">
                <a:sym typeface="Huawei Sans" panose="020C0503030203020204" pitchFamily="34" charset="0"/>
              </a:rPr>
              <a:t>open_sftp</a:t>
            </a:r>
            <a:r>
              <a:rPr lang="en-US" altLang="zh-CN" sz="1800" dirty="0">
                <a:sym typeface="Huawei Sans" panose="020C0503030203020204" pitchFamily="34" charset="0"/>
              </a:rPr>
              <a:t>()</a:t>
            </a:r>
            <a:r>
              <a:rPr lang="zh-CN" altLang="en-US" sz="1800" dirty="0">
                <a:sym typeface="Huawei Sans" panose="020C0503030203020204" pitchFamily="34" charset="0"/>
              </a:rPr>
              <a:t>：在</a:t>
            </a:r>
            <a:r>
              <a:rPr lang="en-US" altLang="zh-CN" sz="1800" dirty="0">
                <a:sym typeface="Huawei Sans" panose="020C0503030203020204" pitchFamily="34" charset="0"/>
              </a:rPr>
              <a:t>SSH</a:t>
            </a:r>
            <a:r>
              <a:rPr lang="zh-CN" altLang="en-US" sz="1800" dirty="0">
                <a:sym typeface="Huawei Sans" panose="020C0503030203020204" pitchFamily="34" charset="0"/>
              </a:rPr>
              <a:t>服务器上创建打开一个</a:t>
            </a:r>
            <a:r>
              <a:rPr lang="en-US" altLang="zh-CN" sz="1800" dirty="0">
                <a:sym typeface="Huawei Sans" panose="020C0503030203020204" pitchFamily="34" charset="0"/>
              </a:rPr>
              <a:t>SFTP</a:t>
            </a:r>
            <a:r>
              <a:rPr lang="zh-CN" altLang="en-US" sz="1800" dirty="0">
                <a:sym typeface="Huawei Sans" panose="020C0503030203020204" pitchFamily="34" charset="0"/>
              </a:rPr>
              <a:t>会话。</a:t>
            </a:r>
          </a:p>
          <a:p>
            <a:r>
              <a:rPr lang="zh-CN" altLang="en-US" sz="1800" dirty="0">
                <a:sym typeface="Huawei Sans" panose="020C0503030203020204" pitchFamily="34" charset="0"/>
              </a:rPr>
              <a:t>如下为方法示例：</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3" name="内容占位符 2">
            <a:extLst>
              <a:ext uri="{FF2B5EF4-FFF2-40B4-BE49-F238E27FC236}">
                <a16:creationId xmlns="" xmlns:a16="http://schemas.microsoft.com/office/drawing/2014/main" id="{D7097A8A-DE97-48C9-BD10-D1358457795B}"/>
              </a:ext>
            </a:extLst>
          </p:cNvPr>
          <p:cNvSpPr txBox="1">
            <a:spLocks/>
          </p:cNvSpPr>
          <p:nvPr/>
        </p:nvSpPr>
        <p:spPr bwMode="gray">
          <a:xfrm>
            <a:off x="459535" y="1204428"/>
            <a:ext cx="11286378" cy="115438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 xmlns:a16="http://schemas.microsoft.com/office/drawing/2014/main" id="{69387562-BBB4-4B4D-B3CF-C5337D4F1D5C}"/>
              </a:ext>
            </a:extLst>
          </p:cNvPr>
          <p:cNvSpPr txBox="1"/>
          <p:nvPr/>
        </p:nvSpPr>
        <p:spPr bwMode="gray">
          <a:xfrm>
            <a:off x="965547" y="2436543"/>
            <a:ext cx="7321927" cy="338554"/>
          </a:xfrm>
          <a:prstGeom prst="rect">
            <a:avLst/>
          </a:prstGeom>
          <a:noFill/>
          <a:ln>
            <a:solidFill>
              <a:srgbClr val="56C4D2"/>
            </a:solidFill>
          </a:ln>
        </p:spPr>
        <p:txBody>
          <a:bodyPr wrap="square" rtlCol="0">
            <a:spAutoFit/>
          </a:bodyPr>
          <a:lstStyle/>
          <a:p>
            <a:pPr marL="403039" lvl="1" indent="0">
              <a:buNone/>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sftp=client.open_sftp()</a:t>
            </a:r>
          </a:p>
        </p:txBody>
      </p:sp>
    </p:spTree>
    <p:extLst>
      <p:ext uri="{BB962C8B-B14F-4D97-AF65-F5344CB8AC3E}">
        <p14:creationId xmlns:p14="http://schemas.microsoft.com/office/powerpoint/2010/main" val="22400425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SSH</a:t>
            </a:r>
            <a:r>
              <a:rPr lang="zh-CN" altLang="en-US" b="1" dirty="0" smtClean="0">
                <a:sym typeface="Huawei Sans" panose="020C0503030203020204" pitchFamily="34" charset="0"/>
              </a:rPr>
              <a:t>实践</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SSH Python</a:t>
            </a:r>
            <a:r>
              <a:rPr lang="zh-CN" altLang="en-US" dirty="0" smtClean="0">
                <a:sym typeface="Huawei Sans" panose="020C0503030203020204" pitchFamily="34" charset="0"/>
              </a:rPr>
              <a:t>脚本实践</a:t>
            </a:r>
            <a:endParaRPr lang="en-US" altLang="zh-CN"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SFTP Python</a:t>
            </a:r>
            <a:r>
              <a:rPr lang="zh-CN" altLang="en-US" dirty="0" smtClean="0">
                <a:solidFill>
                  <a:schemeClr val="bg1">
                    <a:lumMod val="50000"/>
                  </a:schemeClr>
                </a:solidFill>
                <a:sym typeface="Huawei Sans" panose="020C0503030203020204" pitchFamily="34" charset="0"/>
              </a:rPr>
              <a:t>脚本实践</a:t>
            </a:r>
            <a:endParaRPr lang="en-US" altLang="zh-CN" dirty="0" smtClean="0">
              <a:solidFill>
                <a:schemeClr val="bg1">
                  <a:lumMod val="50000"/>
                </a:schemeClr>
              </a:solidFill>
              <a:sym typeface="Huawei Sans" panose="020C0503030203020204" pitchFamily="34" charset="0"/>
            </a:endParaRPr>
          </a:p>
          <a:p>
            <a:pPr lvl="1"/>
            <a:endParaRPr lang="en-US" altLang="zh-CN" dirty="0" smtClean="0">
              <a:sym typeface="Huawei Sans" panose="020C0503030203020204" pitchFamily="34" charset="0"/>
            </a:endParaRPr>
          </a:p>
          <a:p>
            <a:pPr lvl="1"/>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260880188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 xmlns:a16="http://schemas.microsoft.com/office/drawing/2014/main" id="{8D19C945-FB7C-43B3-9617-D7EAE256D0BC}"/>
              </a:ext>
            </a:extLst>
          </p:cNvPr>
          <p:cNvSpPr>
            <a:spLocks noGrp="1"/>
          </p:cNvSpPr>
          <p:nvPr>
            <p:ph type="title"/>
          </p:nvPr>
        </p:nvSpPr>
        <p:spPr bwMode="gray"/>
        <p:txBody>
          <a:bodyPr/>
          <a:lstStyle/>
          <a:p>
            <a:r>
              <a:rPr lang="zh-CN" altLang="en-US" smtClean="0">
                <a:sym typeface="Huawei Sans" panose="020C0503030203020204" pitchFamily="34" charset="0"/>
              </a:rPr>
              <a:t>案例：使用</a:t>
            </a:r>
            <a:r>
              <a:rPr lang="en-US" altLang="zh-CN" smtClean="0">
                <a:sym typeface="Huawei Sans" panose="020C0503030203020204" pitchFamily="34" charset="0"/>
              </a:rPr>
              <a:t>SSH</a:t>
            </a:r>
            <a:r>
              <a:rPr lang="zh-CN" altLang="en-US" smtClean="0">
                <a:sym typeface="Huawei Sans" panose="020C0503030203020204" pitchFamily="34" charset="0"/>
              </a:rPr>
              <a:t>登录设备</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案例描述：</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如图所示，在交换机作为</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服务器使能</a:t>
            </a:r>
            <a:r>
              <a:rPr lang="en-US" altLang="zh-CN" sz="1600" dirty="0" err="1" smtClean="0">
                <a:sym typeface="Huawei Sans" panose="020C0503030203020204" pitchFamily="34" charset="0"/>
              </a:rPr>
              <a:t>STelnet</a:t>
            </a:r>
            <a:r>
              <a:rPr lang="zh-CN" altLang="en-US" sz="1600" dirty="0" smtClean="0">
                <a:sym typeface="Huawei Sans" panose="020C0503030203020204" pitchFamily="34" charset="0"/>
              </a:rPr>
              <a:t>服务器功能后，</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客户端</a:t>
            </a:r>
            <a:r>
              <a:rPr lang="en-US" altLang="zh-CN" sz="1600" dirty="0" smtClean="0">
                <a:sym typeface="Huawei Sans" panose="020C0503030203020204" pitchFamily="34" charset="0"/>
              </a:rPr>
              <a:t>PC</a:t>
            </a:r>
            <a:r>
              <a:rPr lang="zh-CN" altLang="en-US" sz="1600" dirty="0" smtClean="0">
                <a:sym typeface="Huawei Sans" panose="020C0503030203020204" pitchFamily="34" charset="0"/>
              </a:rPr>
              <a:t>可以通过</a:t>
            </a:r>
            <a:r>
              <a:rPr lang="en-US" altLang="zh-CN" sz="1600" dirty="0" smtClean="0">
                <a:sym typeface="Huawei Sans" panose="020C0503030203020204" pitchFamily="34" charset="0"/>
              </a:rPr>
              <a:t>password</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RSA</a:t>
            </a:r>
            <a:r>
              <a:rPr lang="zh-CN" altLang="en-US" sz="1600" dirty="0" smtClean="0">
                <a:sym typeface="Huawei Sans" panose="020C0503030203020204" pitchFamily="34" charset="0"/>
              </a:rPr>
              <a:t>等认证方式登录</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服务器。</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本例以</a:t>
            </a:r>
            <a:r>
              <a:rPr lang="en-US" altLang="zh-CN" sz="1600" dirty="0" smtClean="0">
                <a:sym typeface="Huawei Sans" panose="020C0503030203020204" pitchFamily="34" charset="0"/>
              </a:rPr>
              <a:t>RSA</a:t>
            </a:r>
            <a:r>
              <a:rPr lang="zh-CN" altLang="en-US" sz="1600" dirty="0" smtClean="0">
                <a:sym typeface="Huawei Sans" panose="020C0503030203020204" pitchFamily="34" charset="0"/>
              </a:rPr>
              <a:t>用户认证方式介绍客户端使用</a:t>
            </a:r>
            <a:r>
              <a:rPr lang="en-US" altLang="zh-CN" sz="1600" dirty="0" smtClean="0">
                <a:sym typeface="Huawei Sans" panose="020C0503030203020204" pitchFamily="34" charset="0"/>
              </a:rPr>
              <a:t>Python </a:t>
            </a:r>
            <a:r>
              <a:rPr lang="en-US" altLang="zh-CN" sz="1600" dirty="0" err="1" smtClean="0">
                <a:sym typeface="Huawei Sans" panose="020C0503030203020204" pitchFamily="34" charset="0"/>
              </a:rPr>
              <a:t>Paramiko</a:t>
            </a:r>
            <a:r>
              <a:rPr lang="zh-CN" altLang="en-US" sz="1600" dirty="0" smtClean="0">
                <a:sym typeface="Huawei Sans" panose="020C0503030203020204" pitchFamily="34" charset="0"/>
              </a:rPr>
              <a:t> </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登录服务器的配置过程。</a:t>
            </a:r>
            <a:endParaRPr lang="en-US" altLang="zh-CN" sz="1600" dirty="0" smtClean="0">
              <a:sym typeface="Huawei Sans" panose="020C0503030203020204" pitchFamily="34" charset="0"/>
            </a:endParaRPr>
          </a:p>
          <a:p>
            <a:pPr lvl="1"/>
            <a:endParaRPr lang="en-US" altLang="zh-CN" sz="1600" dirty="0" smtClean="0">
              <a:sym typeface="Huawei Sans" panose="020C0503030203020204" pitchFamily="34" charset="0"/>
            </a:endParaRPr>
          </a:p>
          <a:p>
            <a:endParaRPr lang="zh-CN" altLang="en-US"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a:sym typeface="Huawei Sans" panose="020C0503030203020204" pitchFamily="34" charset="0"/>
            </a:endParaRPr>
          </a:p>
        </p:txBody>
      </p:sp>
      <p:grpSp>
        <p:nvGrpSpPr>
          <p:cNvPr id="78" name="组合 77">
            <a:extLst>
              <a:ext uri="{FF2B5EF4-FFF2-40B4-BE49-F238E27FC236}">
                <a16:creationId xmlns="" xmlns:a16="http://schemas.microsoft.com/office/drawing/2014/main" id="{1D3C8CF5-5A8D-4753-9D94-EEA573CC72CB}"/>
              </a:ext>
            </a:extLst>
          </p:cNvPr>
          <p:cNvGrpSpPr/>
          <p:nvPr/>
        </p:nvGrpSpPr>
        <p:grpSpPr bwMode="gray">
          <a:xfrm>
            <a:off x="2032635" y="3507743"/>
            <a:ext cx="7463118" cy="1210928"/>
            <a:chOff x="1990165" y="1344713"/>
            <a:chExt cx="7463118" cy="1210928"/>
          </a:xfrm>
        </p:grpSpPr>
        <p:sp>
          <p:nvSpPr>
            <p:cNvPr id="90" name="矩形: 圆角 23">
              <a:extLst>
                <a:ext uri="{FF2B5EF4-FFF2-40B4-BE49-F238E27FC236}">
                  <a16:creationId xmlns="" xmlns:a16="http://schemas.microsoft.com/office/drawing/2014/main" id="{FCA78E05-2E38-43E2-B379-4EC2C561C5AA}"/>
                </a:ext>
              </a:extLst>
            </p:cNvPr>
            <p:cNvSpPr/>
            <p:nvPr/>
          </p:nvSpPr>
          <p:spPr bwMode="gray">
            <a:xfrm>
              <a:off x="1990165" y="1344713"/>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1" name="图片 90">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45279" y="1877723"/>
              <a:ext cx="540000" cy="442800"/>
            </a:xfrm>
            <a:prstGeom prst="rect">
              <a:avLst/>
            </a:prstGeom>
          </p:spPr>
        </p:pic>
        <p:pic>
          <p:nvPicPr>
            <p:cNvPr id="92" name="图片 91"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15207" y="1888868"/>
              <a:ext cx="539063" cy="414000"/>
            </a:xfrm>
            <a:prstGeom prst="rect">
              <a:avLst/>
            </a:prstGeom>
          </p:spPr>
        </p:pic>
        <p:cxnSp>
          <p:nvCxnSpPr>
            <p:cNvPr id="93" name="直接连接符 92">
              <a:extLst>
                <a:ext uri="{FF2B5EF4-FFF2-40B4-BE49-F238E27FC236}">
                  <a16:creationId xmlns="" xmlns:a16="http://schemas.microsoft.com/office/drawing/2014/main" id="{4E6C53B9-8234-4E7F-B6A4-301B84C20E21}"/>
                </a:ext>
              </a:extLst>
            </p:cNvPr>
            <p:cNvCxnSpPr>
              <a:cxnSpLocks/>
              <a:stCxn id="92" idx="1"/>
              <a:endCxn id="91" idx="3"/>
            </p:cNvCxnSpPr>
            <p:nvPr/>
          </p:nvCxnSpPr>
          <p:spPr bwMode="gray">
            <a:xfrm flipH="1">
              <a:off x="4185279" y="2095868"/>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 xmlns:a16="http://schemas.microsoft.com/office/drawing/2014/main" id="{B9781689-051C-471B-87F8-A16330B40AE4}"/>
                </a:ext>
              </a:extLst>
            </p:cNvPr>
            <p:cNvSpPr txBox="1"/>
            <p:nvPr/>
          </p:nvSpPr>
          <p:spPr bwMode="gray">
            <a:xfrm>
              <a:off x="4309508" y="1721532"/>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94">
              <a:extLst>
                <a:ext uri="{FF2B5EF4-FFF2-40B4-BE49-F238E27FC236}">
                  <a16:creationId xmlns="" xmlns:a16="http://schemas.microsoft.com/office/drawing/2014/main" id="{FDEB4104-2868-4CDC-B074-9C4E6F60E61A}"/>
                </a:ext>
              </a:extLst>
            </p:cNvPr>
            <p:cNvSpPr txBox="1"/>
            <p:nvPr/>
          </p:nvSpPr>
          <p:spPr bwMode="gray">
            <a:xfrm>
              <a:off x="6700900" y="1410100"/>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a:extLst>
                <a:ext uri="{FF2B5EF4-FFF2-40B4-BE49-F238E27FC236}">
                  <a16:creationId xmlns="" xmlns:a16="http://schemas.microsoft.com/office/drawing/2014/main" id="{AD9C5971-1048-41C8-9BC0-07A2BCA40623}"/>
                </a:ext>
              </a:extLst>
            </p:cNvPr>
            <p:cNvSpPr txBox="1"/>
            <p:nvPr/>
          </p:nvSpPr>
          <p:spPr bwMode="gray">
            <a:xfrm>
              <a:off x="3835840" y="1410100"/>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a:extLst>
                <a:ext uri="{FF2B5EF4-FFF2-40B4-BE49-F238E27FC236}">
                  <a16:creationId xmlns="" xmlns:a16="http://schemas.microsoft.com/office/drawing/2014/main" id="{77A4502C-F66C-4C6A-81AF-DBD4FF816CA0}"/>
                </a:ext>
              </a:extLst>
            </p:cNvPr>
            <p:cNvSpPr txBox="1"/>
            <p:nvPr/>
          </p:nvSpPr>
          <p:spPr bwMode="gray">
            <a:xfrm>
              <a:off x="2059281" y="1950177"/>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98" name="文本框 97">
              <a:extLst>
                <a:ext uri="{FF2B5EF4-FFF2-40B4-BE49-F238E27FC236}">
                  <a16:creationId xmlns="" xmlns:a16="http://schemas.microsoft.com/office/drawing/2014/main" id="{B885BED1-0EC0-435F-AECC-01CB43FD768C}"/>
                </a:ext>
              </a:extLst>
            </p:cNvPr>
            <p:cNvSpPr txBox="1"/>
            <p:nvPr/>
          </p:nvSpPr>
          <p:spPr bwMode="gray">
            <a:xfrm>
              <a:off x="7739986" y="1950177"/>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 name="组合 7"/>
          <p:cNvGrpSpPr/>
          <p:nvPr/>
        </p:nvGrpSpPr>
        <p:grpSpPr bwMode="gray">
          <a:xfrm>
            <a:off x="1351280" y="2985367"/>
            <a:ext cx="9694258" cy="345607"/>
            <a:chOff x="751840" y="4003281"/>
            <a:chExt cx="9694258" cy="345607"/>
          </a:xfrm>
        </p:grpSpPr>
        <p:sp>
          <p:nvSpPr>
            <p:cNvPr id="79"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1" name="直接箭头连接符 80">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82"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5" name="直接箭头连接符 84">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86" name="直接箭头连接符 85">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87" name="直接箭头连接符 86">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88" name="直接箭头连接符 87">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89"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7302631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 xmlns:a16="http://schemas.microsoft.com/office/drawing/2014/main" id="{8D19C945-FB7C-43B3-9617-D7EAE256D0BC}"/>
              </a:ext>
            </a:extLst>
          </p:cNvPr>
          <p:cNvSpPr>
            <a:spLocks noGrp="1"/>
          </p:cNvSpPr>
          <p:nvPr>
            <p:ph type="title"/>
          </p:nvPr>
        </p:nvSpPr>
        <p:spPr bwMode="gray"/>
        <p:txBody>
          <a:bodyPr/>
          <a:lstStyle/>
          <a:p>
            <a:r>
              <a:rPr lang="zh-CN" altLang="en-US" smtClean="0">
                <a:sym typeface="Huawei Sans" panose="020C0503030203020204" pitchFamily="34" charset="0"/>
              </a:rPr>
              <a:t>配置思路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3255998"/>
            <a:ext cx="5640388" cy="2671557"/>
          </a:xfrm>
        </p:spPr>
        <p:txBody>
          <a:bodyPr/>
          <a:lstStyle/>
          <a:p>
            <a:r>
              <a:rPr lang="zh-CN" altLang="en-US" sz="1800" dirty="0" smtClean="0">
                <a:sym typeface="Huawei Sans" panose="020C0503030203020204" pitchFamily="34" charset="0"/>
              </a:rPr>
              <a:t>服务器端的配置：</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配置设备</a:t>
            </a:r>
            <a:r>
              <a:rPr lang="en-US" altLang="zh-CN" sz="1600" dirty="0" err="1" smtClean="0">
                <a:sym typeface="Huawei Sans" panose="020C0503030203020204" pitchFamily="34" charset="0"/>
              </a:rPr>
              <a:t>STelnet</a:t>
            </a:r>
            <a:r>
              <a:rPr lang="zh-CN" altLang="en-US" sz="1600" dirty="0" smtClean="0">
                <a:sym typeface="Huawei Sans" panose="020C0503030203020204" pitchFamily="34" charset="0"/>
              </a:rPr>
              <a:t>：配置管理</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使能</a:t>
            </a:r>
            <a:r>
              <a:rPr lang="en-US" altLang="zh-CN" sz="1600" dirty="0" err="1" smtClean="0">
                <a:sym typeface="Huawei Sans" panose="020C0503030203020204" pitchFamily="34" charset="0"/>
              </a:rPr>
              <a:t>STelnet</a:t>
            </a:r>
            <a:r>
              <a:rPr lang="zh-CN" altLang="en-US" sz="1600" dirty="0" smtClean="0">
                <a:sym typeface="Huawei Sans" panose="020C0503030203020204" pitchFamily="34" charset="0"/>
              </a:rPr>
              <a:t>功能，配置用户界面</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配置用户：创建本地用户和</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用户，配置服务类型和认证方式</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配置公钥：添加客户端生成的公钥并分配给用户</a:t>
            </a:r>
            <a:endParaRPr lang="zh-CN" altLang="en-US" sz="1600" dirty="0">
              <a:sym typeface="Huawei Sans" panose="020C0503030203020204" pitchFamily="34" charset="0"/>
            </a:endParaRPr>
          </a:p>
        </p:txBody>
      </p:sp>
      <p:sp>
        <p:nvSpPr>
          <p:cNvPr id="100" name="文本占位符 2"/>
          <p:cNvSpPr txBox="1">
            <a:spLocks/>
          </p:cNvSpPr>
          <p:nvPr/>
        </p:nvSpPr>
        <p:spPr bwMode="gray">
          <a:xfrm>
            <a:off x="6067504" y="3120483"/>
            <a:ext cx="5649912" cy="315452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客户端的配置：</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创建密钥对：本地生成公钥和私钥</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代码</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结果验证</a:t>
            </a:r>
          </a:p>
        </p:txBody>
      </p:sp>
      <p:grpSp>
        <p:nvGrpSpPr>
          <p:cNvPr id="102" name="组合 101">
            <a:extLst>
              <a:ext uri="{FF2B5EF4-FFF2-40B4-BE49-F238E27FC236}">
                <a16:creationId xmlns="" xmlns:a16="http://schemas.microsoft.com/office/drawing/2014/main" id="{1D3C8CF5-5A8D-4753-9D94-EEA573CC72CB}"/>
              </a:ext>
            </a:extLst>
          </p:cNvPr>
          <p:cNvGrpSpPr/>
          <p:nvPr/>
        </p:nvGrpSpPr>
        <p:grpSpPr bwMode="gray">
          <a:xfrm>
            <a:off x="2084845" y="1854376"/>
            <a:ext cx="7463118" cy="1210928"/>
            <a:chOff x="1990165" y="1344713"/>
            <a:chExt cx="7463118" cy="1210928"/>
          </a:xfrm>
        </p:grpSpPr>
        <p:sp>
          <p:nvSpPr>
            <p:cNvPr id="114" name="矩形: 圆角 23">
              <a:extLst>
                <a:ext uri="{FF2B5EF4-FFF2-40B4-BE49-F238E27FC236}">
                  <a16:creationId xmlns="" xmlns:a16="http://schemas.microsoft.com/office/drawing/2014/main" id="{FCA78E05-2E38-43E2-B379-4EC2C561C5AA}"/>
                </a:ext>
              </a:extLst>
            </p:cNvPr>
            <p:cNvSpPr/>
            <p:nvPr/>
          </p:nvSpPr>
          <p:spPr bwMode="gray">
            <a:xfrm>
              <a:off x="1990165" y="1344713"/>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5" name="图片 114">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45279" y="1877723"/>
              <a:ext cx="540000" cy="442800"/>
            </a:xfrm>
            <a:prstGeom prst="rect">
              <a:avLst/>
            </a:prstGeom>
          </p:spPr>
        </p:pic>
        <p:pic>
          <p:nvPicPr>
            <p:cNvPr id="116" name="图片 115"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15207" y="1888868"/>
              <a:ext cx="539063" cy="414000"/>
            </a:xfrm>
            <a:prstGeom prst="rect">
              <a:avLst/>
            </a:prstGeom>
          </p:spPr>
        </p:pic>
        <p:cxnSp>
          <p:nvCxnSpPr>
            <p:cNvPr id="117" name="直接连接符 116">
              <a:extLst>
                <a:ext uri="{FF2B5EF4-FFF2-40B4-BE49-F238E27FC236}">
                  <a16:creationId xmlns="" xmlns:a16="http://schemas.microsoft.com/office/drawing/2014/main" id="{4E6C53B9-8234-4E7F-B6A4-301B84C20E21}"/>
                </a:ext>
              </a:extLst>
            </p:cNvPr>
            <p:cNvCxnSpPr>
              <a:cxnSpLocks/>
              <a:stCxn id="116" idx="1"/>
              <a:endCxn id="115" idx="3"/>
            </p:cNvCxnSpPr>
            <p:nvPr/>
          </p:nvCxnSpPr>
          <p:spPr bwMode="gray">
            <a:xfrm flipH="1">
              <a:off x="4185279" y="2095868"/>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 xmlns:a16="http://schemas.microsoft.com/office/drawing/2014/main" id="{B9781689-051C-471B-87F8-A16330B40AE4}"/>
                </a:ext>
              </a:extLst>
            </p:cNvPr>
            <p:cNvSpPr txBox="1"/>
            <p:nvPr/>
          </p:nvSpPr>
          <p:spPr bwMode="gray">
            <a:xfrm>
              <a:off x="4309508" y="1721532"/>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文本框 118">
              <a:extLst>
                <a:ext uri="{FF2B5EF4-FFF2-40B4-BE49-F238E27FC236}">
                  <a16:creationId xmlns="" xmlns:a16="http://schemas.microsoft.com/office/drawing/2014/main" id="{FDEB4104-2868-4CDC-B074-9C4E6F60E61A}"/>
                </a:ext>
              </a:extLst>
            </p:cNvPr>
            <p:cNvSpPr txBox="1"/>
            <p:nvPr/>
          </p:nvSpPr>
          <p:spPr bwMode="gray">
            <a:xfrm>
              <a:off x="6700900" y="1410100"/>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文本框 119">
              <a:extLst>
                <a:ext uri="{FF2B5EF4-FFF2-40B4-BE49-F238E27FC236}">
                  <a16:creationId xmlns="" xmlns:a16="http://schemas.microsoft.com/office/drawing/2014/main" id="{AD9C5971-1048-41C8-9BC0-07A2BCA40623}"/>
                </a:ext>
              </a:extLst>
            </p:cNvPr>
            <p:cNvSpPr txBox="1"/>
            <p:nvPr/>
          </p:nvSpPr>
          <p:spPr bwMode="gray">
            <a:xfrm>
              <a:off x="3835840" y="1410100"/>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文本框 120">
              <a:extLst>
                <a:ext uri="{FF2B5EF4-FFF2-40B4-BE49-F238E27FC236}">
                  <a16:creationId xmlns="" xmlns:a16="http://schemas.microsoft.com/office/drawing/2014/main" id="{77A4502C-F66C-4C6A-81AF-DBD4FF816CA0}"/>
                </a:ext>
              </a:extLst>
            </p:cNvPr>
            <p:cNvSpPr txBox="1"/>
            <p:nvPr/>
          </p:nvSpPr>
          <p:spPr bwMode="gray">
            <a:xfrm>
              <a:off x="2059281" y="1950177"/>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122" name="文本框 121">
              <a:extLst>
                <a:ext uri="{FF2B5EF4-FFF2-40B4-BE49-F238E27FC236}">
                  <a16:creationId xmlns="" xmlns:a16="http://schemas.microsoft.com/office/drawing/2014/main" id="{B885BED1-0EC0-435F-AECC-01CB43FD768C}"/>
                </a:ext>
              </a:extLst>
            </p:cNvPr>
            <p:cNvSpPr txBox="1"/>
            <p:nvPr/>
          </p:nvSpPr>
          <p:spPr bwMode="gray">
            <a:xfrm>
              <a:off x="7739986" y="1950177"/>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1285384" y="1318075"/>
            <a:ext cx="9694258" cy="345607"/>
            <a:chOff x="751840" y="4003281"/>
            <a:chExt cx="9694258" cy="345607"/>
          </a:xfrm>
        </p:grpSpPr>
        <p:sp>
          <p:nvSpPr>
            <p:cNvPr id="40"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43"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箭头连接符 45">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47" name="直接箭头连接符 46">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8" name="直接箭头连接符 47">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9" name="直接箭头连接符 48">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50"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42885652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案例：服务器端配置</a:t>
            </a:r>
            <a:r>
              <a:rPr lang="en-US" altLang="zh-CN" smtClean="0">
                <a:sym typeface="Huawei Sans" panose="020C0503030203020204" pitchFamily="34" charset="0"/>
              </a:rPr>
              <a:t>STelnet</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3352789"/>
            <a:ext cx="11293475" cy="2462042"/>
          </a:xfrm>
        </p:spPr>
        <p:txBody>
          <a:bodyPr/>
          <a:lstStyle/>
          <a:p>
            <a:pPr marL="0" indent="0">
              <a:buNone/>
            </a:pPr>
            <a:r>
              <a:rPr lang="en-US" altLang="zh-CN" sz="1600" dirty="0" smtClean="0">
                <a:sym typeface="Huawei Sans" panose="020C0503030203020204" pitchFamily="34" charset="0"/>
              </a:rPr>
              <a:t>1.</a:t>
            </a:r>
            <a:r>
              <a:rPr lang="zh-CN" altLang="en-US" sz="1600" dirty="0" smtClean="0">
                <a:sym typeface="Huawei Sans" panose="020C0503030203020204" pitchFamily="34" charset="0"/>
              </a:rPr>
              <a:t>配置服务器端的管理网口</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a:t>
            </a:r>
            <a:endParaRPr lang="en-US" altLang="zh-CN" sz="1600" dirty="0" smtClean="0">
              <a:sym typeface="Huawei Sans" panose="020C0503030203020204" pitchFamily="34" charset="0"/>
            </a:endParaRPr>
          </a:p>
          <a:p>
            <a:endParaRPr lang="en-US" altLang="zh-CN" sz="1600" dirty="0" smtClean="0">
              <a:sym typeface="Huawei Sans" panose="020C0503030203020204" pitchFamily="34" charset="0"/>
            </a:endParaRPr>
          </a:p>
          <a:p>
            <a:endParaRPr lang="en-US" altLang="zh-CN" sz="1600" dirty="0" smtClean="0">
              <a:sym typeface="Huawei Sans" panose="020C0503030203020204" pitchFamily="34" charset="0"/>
            </a:endParaRPr>
          </a:p>
          <a:p>
            <a:endParaRPr lang="en-US" altLang="zh-CN" sz="1600" dirty="0" smtClean="0">
              <a:sym typeface="Huawei Sans" panose="020C0503030203020204" pitchFamily="34" charset="0"/>
            </a:endParaRPr>
          </a:p>
          <a:p>
            <a:endParaRPr lang="zh-CN" altLang="en-US" sz="1600" dirty="0">
              <a:sym typeface="Huawei Sans" panose="020C0503030203020204" pitchFamily="34" charset="0"/>
            </a:endParaRPr>
          </a:p>
        </p:txBody>
      </p:sp>
      <p:sp>
        <p:nvSpPr>
          <p:cNvPr id="5" name="文本框 4">
            <a:extLst>
              <a:ext uri="{FF2B5EF4-FFF2-40B4-BE49-F238E27FC236}">
                <a16:creationId xmlns="" xmlns:a16="http://schemas.microsoft.com/office/drawing/2014/main" id="{773D837C-8D89-4B32-AD1E-4199EF71F59D}"/>
              </a:ext>
            </a:extLst>
          </p:cNvPr>
          <p:cNvSpPr txBox="1"/>
          <p:nvPr/>
        </p:nvSpPr>
        <p:spPr bwMode="gray">
          <a:xfrm>
            <a:off x="806304" y="4108219"/>
            <a:ext cx="4864180" cy="116955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&lt;HUAWEI&gt;system-view immediately</a:t>
            </a: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sysname</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SSH Server</a:t>
            </a: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 Server] interface GE 1/0/0</a:t>
            </a: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 Server-GE1/0/0]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 192.168.56.100 24</a:t>
            </a: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 Server-GE1/0/0] quit </a:t>
            </a:r>
          </a:p>
        </p:txBody>
      </p:sp>
      <p:sp>
        <p:nvSpPr>
          <p:cNvPr id="24" name="文本占位符 2"/>
          <p:cNvSpPr txBox="1">
            <a:spLocks/>
          </p:cNvSpPr>
          <p:nvPr/>
        </p:nvSpPr>
        <p:spPr bwMode="gray">
          <a:xfrm>
            <a:off x="6056426" y="3352789"/>
            <a:ext cx="5627683" cy="2482850"/>
          </a:xfrm>
          <a:prstGeom prst="rect">
            <a:avLst/>
          </a:prstGeom>
          <a:solidFill>
            <a:schemeClr val="bg1"/>
          </a:solid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使能服务器端的</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功能及配置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VTY</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用户界面。</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Font typeface="Arial" panose="020B0604020202020204" pitchFamily="34" charset="0"/>
              <a:buNone/>
            </a:pPr>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a:extLst>
              <a:ext uri="{FF2B5EF4-FFF2-40B4-BE49-F238E27FC236}">
                <a16:creationId xmlns="" xmlns:a16="http://schemas.microsoft.com/office/drawing/2014/main" id="{773D837C-8D89-4B32-AD1E-4199EF71F59D}"/>
              </a:ext>
            </a:extLst>
          </p:cNvPr>
          <p:cNvSpPr txBox="1"/>
          <p:nvPr/>
        </p:nvSpPr>
        <p:spPr bwMode="gray">
          <a:xfrm>
            <a:off x="6384810" y="4138997"/>
            <a:ext cx="4864180" cy="1384995"/>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 Server]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stelnet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server enable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 Server] user-interface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vty</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0 4</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 Server-ui-vty0-4] authentication-mode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aaa</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 Server-ui-vty0-4] protocol inbound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ssh</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 Server-ui-vty0-4] user privilege level 3</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[SSH Server-ui-vty0-4] quit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2084845" y="1854376"/>
            <a:ext cx="7463118" cy="1210928"/>
            <a:chOff x="2084845" y="1854376"/>
            <a:chExt cx="7463118" cy="1210928"/>
          </a:xfrm>
        </p:grpSpPr>
        <p:sp>
          <p:nvSpPr>
            <p:cNvPr id="32" name="矩形: 圆角 23">
              <a:extLst>
                <a:ext uri="{FF2B5EF4-FFF2-40B4-BE49-F238E27FC236}">
                  <a16:creationId xmlns="" xmlns:a16="http://schemas.microsoft.com/office/drawing/2014/main" id="{FCA78E05-2E38-43E2-B379-4EC2C561C5AA}"/>
                </a:ext>
              </a:extLst>
            </p:cNvPr>
            <p:cNvSpPr/>
            <p:nvPr/>
          </p:nvSpPr>
          <p:spPr bwMode="gray">
            <a:xfrm>
              <a:off x="2084845" y="1854376"/>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9959" y="2387386"/>
              <a:ext cx="540000" cy="442800"/>
            </a:xfrm>
            <a:prstGeom prst="rect">
              <a:avLst/>
            </a:prstGeom>
          </p:spPr>
        </p:pic>
        <p:pic>
          <p:nvPicPr>
            <p:cNvPr id="34" name="图片 33"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209887" y="2398531"/>
              <a:ext cx="539063" cy="414000"/>
            </a:xfrm>
            <a:prstGeom prst="rect">
              <a:avLst/>
            </a:prstGeom>
          </p:spPr>
        </p:pic>
        <p:cxnSp>
          <p:nvCxnSpPr>
            <p:cNvPr id="35" name="直接连接符 34">
              <a:extLst>
                <a:ext uri="{FF2B5EF4-FFF2-40B4-BE49-F238E27FC236}">
                  <a16:creationId xmlns="" xmlns:a16="http://schemas.microsoft.com/office/drawing/2014/main" id="{4E6C53B9-8234-4E7F-B6A4-301B84C20E21}"/>
                </a:ext>
              </a:extLst>
            </p:cNvPr>
            <p:cNvCxnSpPr>
              <a:cxnSpLocks/>
              <a:stCxn id="34" idx="1"/>
              <a:endCxn id="33" idx="3"/>
            </p:cNvCxnSpPr>
            <p:nvPr/>
          </p:nvCxnSpPr>
          <p:spPr bwMode="gray">
            <a:xfrm flipH="1">
              <a:off x="4279959" y="2605531"/>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 xmlns:a16="http://schemas.microsoft.com/office/drawing/2014/main" id="{B9781689-051C-471B-87F8-A16330B40AE4}"/>
                </a:ext>
              </a:extLst>
            </p:cNvPr>
            <p:cNvSpPr txBox="1"/>
            <p:nvPr/>
          </p:nvSpPr>
          <p:spPr bwMode="gray">
            <a:xfrm>
              <a:off x="4404188" y="2231195"/>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 xmlns:a16="http://schemas.microsoft.com/office/drawing/2014/main" id="{FDEB4104-2868-4CDC-B074-9C4E6F60E61A}"/>
                </a:ext>
              </a:extLst>
            </p:cNvPr>
            <p:cNvSpPr txBox="1"/>
            <p:nvPr/>
          </p:nvSpPr>
          <p:spPr bwMode="gray">
            <a:xfrm>
              <a:off x="6795580" y="1919763"/>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 xmlns:a16="http://schemas.microsoft.com/office/drawing/2014/main" id="{AD9C5971-1048-41C8-9BC0-07A2BCA40623}"/>
                </a:ext>
              </a:extLst>
            </p:cNvPr>
            <p:cNvSpPr txBox="1"/>
            <p:nvPr/>
          </p:nvSpPr>
          <p:spPr bwMode="gray">
            <a:xfrm>
              <a:off x="3930520" y="1919763"/>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a:extLst>
                <a:ext uri="{FF2B5EF4-FFF2-40B4-BE49-F238E27FC236}">
                  <a16:creationId xmlns="" xmlns:a16="http://schemas.microsoft.com/office/drawing/2014/main" id="{77A4502C-F66C-4C6A-81AF-DBD4FF816CA0}"/>
                </a:ext>
              </a:extLst>
            </p:cNvPr>
            <p:cNvSpPr txBox="1"/>
            <p:nvPr/>
          </p:nvSpPr>
          <p:spPr bwMode="gray">
            <a:xfrm>
              <a:off x="2153961" y="2459840"/>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40" name="文本框 39">
              <a:extLst>
                <a:ext uri="{FF2B5EF4-FFF2-40B4-BE49-F238E27FC236}">
                  <a16:creationId xmlns="" xmlns:a16="http://schemas.microsoft.com/office/drawing/2014/main" id="{B885BED1-0EC0-435F-AECC-01CB43FD768C}"/>
                </a:ext>
              </a:extLst>
            </p:cNvPr>
            <p:cNvSpPr txBox="1"/>
            <p:nvPr/>
          </p:nvSpPr>
          <p:spPr bwMode="gray">
            <a:xfrm>
              <a:off x="7834666" y="2459840"/>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2" name="组合 61"/>
          <p:cNvGrpSpPr/>
          <p:nvPr/>
        </p:nvGrpSpPr>
        <p:grpSpPr bwMode="gray">
          <a:xfrm>
            <a:off x="1285384" y="1318075"/>
            <a:ext cx="9694258" cy="345607"/>
            <a:chOff x="751840" y="4003281"/>
            <a:chExt cx="9694258" cy="345607"/>
          </a:xfrm>
        </p:grpSpPr>
        <p:sp>
          <p:nvSpPr>
            <p:cNvPr id="63"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箭头连接符 65">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67"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箭头连接符 69">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71" name="直接箭头连接符 70">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72" name="直接箭头连接符 71">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73" name="直接箭头连接符 72">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74"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5933227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案例：服务器端配置用户</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550800" y="3030460"/>
            <a:ext cx="11293475" cy="425634"/>
          </a:xfrm>
          <a:noFill/>
        </p:spPr>
        <p:txBody>
          <a:bodyPr wrap="square" rtlCol="0">
            <a:spAutoFit/>
          </a:bodyPr>
          <a:lstStyle/>
          <a:p>
            <a:pPr marL="0" indent="0">
              <a:buNone/>
            </a:pPr>
            <a:r>
              <a:rPr lang="en-US" altLang="zh-CN" sz="1600" dirty="0">
                <a:cs typeface="Arial" panose="020B0604020202020204" pitchFamily="34" charset="0"/>
                <a:sym typeface="Huawei Sans" panose="020C0503030203020204" pitchFamily="34" charset="0"/>
              </a:rPr>
              <a:t>3.</a:t>
            </a:r>
            <a:r>
              <a:rPr lang="zh-CN" altLang="en-US" sz="1600" dirty="0">
                <a:cs typeface="Arial" panose="020B0604020202020204" pitchFamily="34" charset="0"/>
                <a:sym typeface="Huawei Sans" panose="020C0503030203020204" pitchFamily="34" charset="0"/>
              </a:rPr>
              <a:t>在服务器端创建本地用户，将用户加入管理员组，并配置用户服务方式。</a:t>
            </a:r>
            <a:endParaRPr lang="en-US" altLang="zh-CN" sz="1600" dirty="0">
              <a:cs typeface="Arial" panose="020B0604020202020204" pitchFamily="34" charset="0"/>
              <a:sym typeface="Huawei Sans" panose="020C0503030203020204" pitchFamily="34" charset="0"/>
            </a:endParaRPr>
          </a:p>
        </p:txBody>
      </p:sp>
      <p:sp>
        <p:nvSpPr>
          <p:cNvPr id="5" name="文本框 4">
            <a:extLst>
              <a:ext uri="{FF2B5EF4-FFF2-40B4-BE49-F238E27FC236}">
                <a16:creationId xmlns="" xmlns:a16="http://schemas.microsoft.com/office/drawing/2014/main" id="{773D837C-8D89-4B32-AD1E-4199EF71F59D}"/>
              </a:ext>
            </a:extLst>
          </p:cNvPr>
          <p:cNvSpPr txBox="1"/>
          <p:nvPr/>
        </p:nvSpPr>
        <p:spPr bwMode="gray">
          <a:xfrm>
            <a:off x="944076" y="3468157"/>
            <a:ext cx="8532171" cy="1169551"/>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aaa</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aaa</a:t>
            </a:r>
            <a:r>
              <a:rPr lang="en-US" altLang="zh-CN" dirty="0">
                <a:sym typeface="Huawei Sans" panose="020C0503030203020204" pitchFamily="34" charset="0"/>
              </a:rPr>
              <a:t>] local-user client password irreversible-cipher Huawei@123</a:t>
            </a: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aaa</a:t>
            </a:r>
            <a:r>
              <a:rPr lang="en-US" altLang="zh-CN" dirty="0">
                <a:sym typeface="Huawei Sans" panose="020C0503030203020204" pitchFamily="34" charset="0"/>
              </a:rPr>
              <a:t>] local-user client user-group manage-</a:t>
            </a:r>
            <a:r>
              <a:rPr lang="en-US" altLang="zh-CN" dirty="0" err="1">
                <a:sym typeface="Huawei Sans" panose="020C0503030203020204" pitchFamily="34" charset="0"/>
              </a:rPr>
              <a:t>ug</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aaa</a:t>
            </a:r>
            <a:r>
              <a:rPr lang="en-US" altLang="zh-CN" dirty="0">
                <a:sym typeface="Huawei Sans" panose="020C0503030203020204" pitchFamily="34" charset="0"/>
              </a:rPr>
              <a:t>] local-user client service-type </a:t>
            </a:r>
            <a:r>
              <a:rPr lang="en-US" altLang="zh-CN" dirty="0" err="1">
                <a:sym typeface="Huawei Sans" panose="020C0503030203020204" pitchFamily="34" charset="0"/>
              </a:rPr>
              <a:t>ssh</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aaa</a:t>
            </a:r>
            <a:r>
              <a:rPr lang="en-US" altLang="zh-CN" dirty="0">
                <a:sym typeface="Huawei Sans" panose="020C0503030203020204" pitchFamily="34" charset="0"/>
              </a:rPr>
              <a:t>] quit</a:t>
            </a:r>
          </a:p>
        </p:txBody>
      </p:sp>
      <p:sp>
        <p:nvSpPr>
          <p:cNvPr id="7" name="文本框 6">
            <a:extLst>
              <a:ext uri="{FF2B5EF4-FFF2-40B4-BE49-F238E27FC236}">
                <a16:creationId xmlns="" xmlns:a16="http://schemas.microsoft.com/office/drawing/2014/main" id="{773D837C-8D89-4B32-AD1E-4199EF71F59D}"/>
              </a:ext>
            </a:extLst>
          </p:cNvPr>
          <p:cNvSpPr txBox="1"/>
          <p:nvPr/>
        </p:nvSpPr>
        <p:spPr bwMode="gray">
          <a:xfrm>
            <a:off x="944076" y="5310018"/>
            <a:ext cx="8615299" cy="738664"/>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ssh</a:t>
            </a:r>
            <a:r>
              <a:rPr lang="en-US" altLang="zh-CN" dirty="0">
                <a:sym typeface="Huawei Sans" panose="020C0503030203020204" pitchFamily="34" charset="0"/>
              </a:rPr>
              <a:t> user client</a:t>
            </a:r>
          </a:p>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ssh</a:t>
            </a:r>
            <a:r>
              <a:rPr lang="en-US" altLang="zh-CN" dirty="0">
                <a:sym typeface="Huawei Sans" panose="020C0503030203020204" pitchFamily="34" charset="0"/>
              </a:rPr>
              <a:t> user client authentication-type </a:t>
            </a:r>
            <a:r>
              <a:rPr lang="en-US" altLang="zh-CN" dirty="0" err="1">
                <a:sym typeface="Huawei Sans" panose="020C0503030203020204" pitchFamily="34" charset="0"/>
              </a:rPr>
              <a:t>rsa</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ssh</a:t>
            </a:r>
            <a:r>
              <a:rPr lang="en-US" altLang="zh-CN" dirty="0">
                <a:sym typeface="Huawei Sans" panose="020C0503030203020204" pitchFamily="34" charset="0"/>
              </a:rPr>
              <a:t> user client service-type </a:t>
            </a:r>
            <a:r>
              <a:rPr lang="en-US" altLang="zh-CN" dirty="0" err="1">
                <a:sym typeface="Huawei Sans" panose="020C0503030203020204" pitchFamily="34" charset="0"/>
              </a:rPr>
              <a:t>stelnet</a:t>
            </a:r>
            <a:endParaRPr lang="en-US" altLang="zh-CN" dirty="0">
              <a:sym typeface="Huawei Sans" panose="020C0503030203020204" pitchFamily="34" charset="0"/>
            </a:endParaRPr>
          </a:p>
        </p:txBody>
      </p:sp>
      <p:sp>
        <p:nvSpPr>
          <p:cNvPr id="39" name="文本框 38"/>
          <p:cNvSpPr txBox="1"/>
          <p:nvPr/>
        </p:nvSpPr>
        <p:spPr bwMode="gray">
          <a:xfrm>
            <a:off x="550800" y="4835439"/>
            <a:ext cx="9317672" cy="757130"/>
          </a:xfrm>
          <a:prstGeom prst="rect">
            <a:avLst/>
          </a:prstGeom>
          <a:noFill/>
        </p:spPr>
        <p:txBody>
          <a:bodyPr wrap="square" rtlCol="0">
            <a:spAutoFit/>
          </a:bodyPr>
          <a:lstStyle/>
          <a:p>
            <a:pPr algn="just" defTabSz="914034">
              <a:lnSpc>
                <a:spcPct val="140000"/>
              </a:lnSpc>
              <a:spcBef>
                <a:spcPts val="792"/>
              </a:spcBef>
            </a:pP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在服务器端创建</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SSH</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用户，并配置用户认证方式和服务方式</a:t>
            </a:r>
            <a:r>
              <a:rPr lang="zh-CN" altLang="en-US"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bwMode="gray">
          <a:xfrm>
            <a:off x="2084845" y="1854376"/>
            <a:ext cx="7463118" cy="1210928"/>
            <a:chOff x="2084845" y="1854376"/>
            <a:chExt cx="7463118" cy="1210928"/>
          </a:xfrm>
        </p:grpSpPr>
        <p:sp>
          <p:nvSpPr>
            <p:cNvPr id="32" name="矩形: 圆角 23">
              <a:extLst>
                <a:ext uri="{FF2B5EF4-FFF2-40B4-BE49-F238E27FC236}">
                  <a16:creationId xmlns="" xmlns:a16="http://schemas.microsoft.com/office/drawing/2014/main" id="{FCA78E05-2E38-43E2-B379-4EC2C561C5AA}"/>
                </a:ext>
              </a:extLst>
            </p:cNvPr>
            <p:cNvSpPr/>
            <p:nvPr/>
          </p:nvSpPr>
          <p:spPr bwMode="gray">
            <a:xfrm>
              <a:off x="2084845" y="1854376"/>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9959" y="2387386"/>
              <a:ext cx="540000" cy="442800"/>
            </a:xfrm>
            <a:prstGeom prst="rect">
              <a:avLst/>
            </a:prstGeom>
          </p:spPr>
        </p:pic>
        <p:pic>
          <p:nvPicPr>
            <p:cNvPr id="34" name="图片 33"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209887" y="2398531"/>
              <a:ext cx="539063" cy="414000"/>
            </a:xfrm>
            <a:prstGeom prst="rect">
              <a:avLst/>
            </a:prstGeom>
          </p:spPr>
        </p:pic>
        <p:cxnSp>
          <p:nvCxnSpPr>
            <p:cNvPr id="35" name="直接连接符 34">
              <a:extLst>
                <a:ext uri="{FF2B5EF4-FFF2-40B4-BE49-F238E27FC236}">
                  <a16:creationId xmlns="" xmlns:a16="http://schemas.microsoft.com/office/drawing/2014/main" id="{4E6C53B9-8234-4E7F-B6A4-301B84C20E21}"/>
                </a:ext>
              </a:extLst>
            </p:cNvPr>
            <p:cNvCxnSpPr>
              <a:cxnSpLocks/>
              <a:stCxn id="34" idx="1"/>
              <a:endCxn id="33" idx="3"/>
            </p:cNvCxnSpPr>
            <p:nvPr/>
          </p:nvCxnSpPr>
          <p:spPr bwMode="gray">
            <a:xfrm flipH="1">
              <a:off x="4279959" y="2605531"/>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 xmlns:a16="http://schemas.microsoft.com/office/drawing/2014/main" id="{B9781689-051C-471B-87F8-A16330B40AE4}"/>
                </a:ext>
              </a:extLst>
            </p:cNvPr>
            <p:cNvSpPr txBox="1"/>
            <p:nvPr/>
          </p:nvSpPr>
          <p:spPr bwMode="gray">
            <a:xfrm>
              <a:off x="4404188" y="2231195"/>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 xmlns:a16="http://schemas.microsoft.com/office/drawing/2014/main" id="{FDEB4104-2868-4CDC-B074-9C4E6F60E61A}"/>
                </a:ext>
              </a:extLst>
            </p:cNvPr>
            <p:cNvSpPr txBox="1"/>
            <p:nvPr/>
          </p:nvSpPr>
          <p:spPr bwMode="gray">
            <a:xfrm>
              <a:off x="6795580" y="1919763"/>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 xmlns:a16="http://schemas.microsoft.com/office/drawing/2014/main" id="{AD9C5971-1048-41C8-9BC0-07A2BCA40623}"/>
                </a:ext>
              </a:extLst>
            </p:cNvPr>
            <p:cNvSpPr txBox="1"/>
            <p:nvPr/>
          </p:nvSpPr>
          <p:spPr bwMode="gray">
            <a:xfrm>
              <a:off x="3930520" y="1919763"/>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 xmlns:a16="http://schemas.microsoft.com/office/drawing/2014/main" id="{77A4502C-F66C-4C6A-81AF-DBD4FF816CA0}"/>
                </a:ext>
              </a:extLst>
            </p:cNvPr>
            <p:cNvSpPr txBox="1"/>
            <p:nvPr/>
          </p:nvSpPr>
          <p:spPr bwMode="gray">
            <a:xfrm>
              <a:off x="2153961" y="2459840"/>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41" name="文本框 40">
              <a:extLst>
                <a:ext uri="{FF2B5EF4-FFF2-40B4-BE49-F238E27FC236}">
                  <a16:creationId xmlns="" xmlns:a16="http://schemas.microsoft.com/office/drawing/2014/main" id="{B885BED1-0EC0-435F-AECC-01CB43FD768C}"/>
                </a:ext>
              </a:extLst>
            </p:cNvPr>
            <p:cNvSpPr txBox="1"/>
            <p:nvPr/>
          </p:nvSpPr>
          <p:spPr bwMode="gray">
            <a:xfrm>
              <a:off x="7834666" y="2459840"/>
              <a:ext cx="1494320"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STelnet</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0" name="组合 29"/>
          <p:cNvGrpSpPr/>
          <p:nvPr/>
        </p:nvGrpSpPr>
        <p:grpSpPr bwMode="gray">
          <a:xfrm>
            <a:off x="1285384" y="1318075"/>
            <a:ext cx="9694258" cy="345607"/>
            <a:chOff x="751840" y="4003281"/>
            <a:chExt cx="9694258" cy="345607"/>
          </a:xfrm>
        </p:grpSpPr>
        <p:sp>
          <p:nvSpPr>
            <p:cNvPr id="42"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配置用户</a:t>
              </a:r>
            </a:p>
          </p:txBody>
        </p:sp>
        <p:cxnSp>
          <p:nvCxnSpPr>
            <p:cNvPr id="44" name="直接箭头连接符 43">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4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箭头连接符 4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49" name="直接箭头连接符 4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50" name="直接箭头连接符 4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51" name="直接箭头连接符 5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5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7493569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案例：客户端创建</a:t>
            </a:r>
            <a:r>
              <a:rPr lang="en-US" altLang="zh-CN" smtClean="0">
                <a:sym typeface="Huawei Sans" panose="020C0503030203020204" pitchFamily="34" charset="0"/>
              </a:rPr>
              <a:t>RSA</a:t>
            </a:r>
            <a:r>
              <a:rPr lang="zh-CN" altLang="en-US" smtClean="0">
                <a:sym typeface="Huawei Sans" panose="020C0503030203020204" pitchFamily="34" charset="0"/>
              </a:rPr>
              <a:t>密钥对</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42913" y="1897232"/>
            <a:ext cx="11293475" cy="4879805"/>
          </a:xfrm>
        </p:spPr>
        <p:txBody>
          <a:bodyPr/>
          <a:lstStyle/>
          <a:p>
            <a:pPr marL="0" indent="0">
              <a:buNone/>
            </a:pPr>
            <a:r>
              <a:rPr lang="en-US" altLang="zh-CN" sz="1600" dirty="0" smtClean="0">
                <a:sym typeface="Huawei Sans" panose="020C0503030203020204" pitchFamily="34" charset="0"/>
              </a:rPr>
              <a:t>5.</a:t>
            </a:r>
            <a:r>
              <a:rPr lang="zh-CN" altLang="en-US" sz="1600" dirty="0" smtClean="0">
                <a:sym typeface="Huawei Sans" panose="020C0503030203020204" pitchFamily="34" charset="0"/>
              </a:rPr>
              <a:t>客户端使用</a:t>
            </a:r>
            <a:r>
              <a:rPr lang="en-US" altLang="zh-CN" sz="1600" dirty="0" err="1" smtClean="0">
                <a:sym typeface="Huawei Sans" panose="020C0503030203020204" pitchFamily="34" charset="0"/>
              </a:rPr>
              <a:t>Git</a:t>
            </a:r>
            <a:r>
              <a:rPr lang="en-US" altLang="zh-CN" sz="1600" dirty="0" smtClean="0">
                <a:sym typeface="Huawei Sans" panose="020C0503030203020204" pitchFamily="34" charset="0"/>
              </a:rPr>
              <a:t> Bash</a:t>
            </a:r>
            <a:r>
              <a:rPr lang="zh-CN" altLang="en-US" sz="1600" dirty="0" smtClean="0">
                <a:sym typeface="Huawei Sans" panose="020C0503030203020204" pitchFamily="34" charset="0"/>
              </a:rPr>
              <a:t>创建</a:t>
            </a:r>
            <a:r>
              <a:rPr lang="en-US" altLang="zh-CN" sz="1600" dirty="0" smtClean="0">
                <a:sym typeface="Huawei Sans" panose="020C0503030203020204" pitchFamily="34" charset="0"/>
              </a:rPr>
              <a:t>RSA</a:t>
            </a:r>
            <a:r>
              <a:rPr lang="zh-CN" altLang="en-US" sz="1600" dirty="0" smtClean="0">
                <a:sym typeface="Huawei Sans" panose="020C0503030203020204" pitchFamily="34" charset="0"/>
              </a:rPr>
              <a:t>密钥对（私钥</a:t>
            </a:r>
            <a:r>
              <a:rPr lang="en-US" altLang="zh-CN" sz="1600" dirty="0" err="1" smtClean="0">
                <a:sym typeface="Huawei Sans" panose="020C0503030203020204" pitchFamily="34" charset="0"/>
              </a:rPr>
              <a:t>id_rsa</a:t>
            </a:r>
            <a:r>
              <a:rPr lang="zh-CN" altLang="en-US" sz="1600" dirty="0" smtClean="0">
                <a:sym typeface="Huawei Sans" panose="020C0503030203020204" pitchFamily="34" charset="0"/>
              </a:rPr>
              <a:t>和公钥</a:t>
            </a:r>
            <a:r>
              <a:rPr lang="en-US" altLang="zh-CN" sz="1600" dirty="0" smtClean="0">
                <a:sym typeface="Huawei Sans" panose="020C0503030203020204" pitchFamily="34" charset="0"/>
              </a:rPr>
              <a:t>id_rsa.pub</a:t>
            </a:r>
            <a:r>
              <a:rPr lang="zh-CN" altLang="en-US" sz="1600" dirty="0" smtClean="0">
                <a:sym typeface="Huawei Sans" panose="020C0503030203020204" pitchFamily="34" charset="0"/>
              </a:rPr>
              <a:t>），并查看公钥。</a:t>
            </a:r>
            <a:endParaRPr lang="en-US" altLang="zh-CN" sz="1600" dirty="0">
              <a:sym typeface="Huawei Sans" panose="020C0503030203020204" pitchFamily="34" charset="0"/>
            </a:endParaRPr>
          </a:p>
        </p:txBody>
      </p:sp>
      <p:sp>
        <p:nvSpPr>
          <p:cNvPr id="5" name="文本框 4">
            <a:extLst>
              <a:ext uri="{FF2B5EF4-FFF2-40B4-BE49-F238E27FC236}">
                <a16:creationId xmlns="" xmlns:a16="http://schemas.microsoft.com/office/drawing/2014/main" id="{773D837C-8D89-4B32-AD1E-4199EF71F59D}"/>
              </a:ext>
            </a:extLst>
          </p:cNvPr>
          <p:cNvSpPr txBox="1"/>
          <p:nvPr/>
        </p:nvSpPr>
        <p:spPr bwMode="gray">
          <a:xfrm>
            <a:off x="4699259" y="2357677"/>
            <a:ext cx="5977238" cy="2398798"/>
          </a:xfrm>
          <a:prstGeom prst="rect">
            <a:avLst/>
          </a:prstGeom>
          <a:noFill/>
          <a:ln>
            <a:solidFill>
              <a:srgbClr val="94DAE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dirty="0" err="1">
                <a:sym typeface="Huawei Sans" panose="020C0503030203020204" pitchFamily="34" charset="0"/>
              </a:rPr>
              <a:t>exampleuser@exampleuser</a:t>
            </a:r>
            <a:r>
              <a:rPr lang="en-US" altLang="zh-CN" dirty="0">
                <a:sym typeface="Huawei Sans" panose="020C0503030203020204" pitchFamily="34" charset="0"/>
              </a:rPr>
              <a:t> MINGW64 ~</a:t>
            </a:r>
          </a:p>
          <a:p>
            <a:r>
              <a:rPr lang="en-US" altLang="zh-CN" dirty="0">
                <a:sym typeface="Huawei Sans" panose="020C0503030203020204" pitchFamily="34" charset="0"/>
              </a:rPr>
              <a:t>$ </a:t>
            </a:r>
            <a:r>
              <a:rPr lang="en-US" altLang="zh-CN" dirty="0" err="1">
                <a:sym typeface="Huawei Sans" panose="020C0503030203020204" pitchFamily="34" charset="0"/>
              </a:rPr>
              <a:t>ssh-keygen</a:t>
            </a:r>
            <a:r>
              <a:rPr lang="en-US" altLang="zh-CN" dirty="0">
                <a:sym typeface="Huawei Sans" panose="020C0503030203020204" pitchFamily="34" charset="0"/>
              </a:rPr>
              <a:t> -t </a:t>
            </a:r>
            <a:r>
              <a:rPr lang="en-US" altLang="zh-CN" dirty="0" err="1">
                <a:sym typeface="Huawei Sans" panose="020C0503030203020204" pitchFamily="34" charset="0"/>
              </a:rPr>
              <a:t>rsa</a:t>
            </a:r>
            <a:endParaRPr lang="en-US" altLang="zh-CN" dirty="0">
              <a:sym typeface="Huawei Sans" panose="020C0503030203020204" pitchFamily="34" charset="0"/>
            </a:endParaRPr>
          </a:p>
          <a:p>
            <a:r>
              <a:rPr lang="en-US" altLang="zh-CN" dirty="0">
                <a:sym typeface="Huawei Sans" panose="020C0503030203020204" pitchFamily="34" charset="0"/>
              </a:rPr>
              <a:t>Generating public/private </a:t>
            </a:r>
            <a:r>
              <a:rPr lang="en-US" altLang="zh-CN" dirty="0" err="1">
                <a:sym typeface="Huawei Sans" panose="020C0503030203020204" pitchFamily="34" charset="0"/>
              </a:rPr>
              <a:t>rsa</a:t>
            </a:r>
            <a:r>
              <a:rPr lang="en-US" altLang="zh-CN" dirty="0">
                <a:sym typeface="Huawei Sans" panose="020C0503030203020204" pitchFamily="34" charset="0"/>
              </a:rPr>
              <a:t> key pair.</a:t>
            </a:r>
          </a:p>
          <a:p>
            <a:r>
              <a:rPr lang="en-US" altLang="zh-CN" dirty="0">
                <a:sym typeface="Huawei Sans" panose="020C0503030203020204" pitchFamily="34" charset="0"/>
              </a:rPr>
              <a:t>Enter file in which to save the key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id_rsa</a:t>
            </a:r>
            <a:r>
              <a:rPr lang="en-US" altLang="zh-CN" dirty="0">
                <a:sym typeface="Huawei Sans" panose="020C0503030203020204" pitchFamily="34" charset="0"/>
              </a:rPr>
              <a:t>):</a:t>
            </a:r>
          </a:p>
          <a:p>
            <a:r>
              <a:rPr lang="en-US" altLang="zh-CN" dirty="0">
                <a:sym typeface="Huawei Sans" panose="020C0503030203020204" pitchFamily="34" charset="0"/>
              </a:rPr>
              <a:t>Enter passphrase (empty for no passphrase):</a:t>
            </a:r>
          </a:p>
          <a:p>
            <a:r>
              <a:rPr lang="en-US" altLang="zh-CN" dirty="0">
                <a:sym typeface="Huawei Sans" panose="020C0503030203020204" pitchFamily="34" charset="0"/>
              </a:rPr>
              <a:t>Enter same passphrase again:</a:t>
            </a:r>
          </a:p>
          <a:p>
            <a:r>
              <a:rPr lang="en-US" altLang="zh-CN" dirty="0">
                <a:sym typeface="Huawei Sans" panose="020C0503030203020204" pitchFamily="34" charset="0"/>
              </a:rPr>
              <a:t>Your identification has been saved in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id_rsa</a:t>
            </a:r>
            <a:endParaRPr lang="en-US" altLang="zh-CN" dirty="0">
              <a:sym typeface="Huawei Sans" panose="020C0503030203020204" pitchFamily="34" charset="0"/>
            </a:endParaRPr>
          </a:p>
          <a:p>
            <a:r>
              <a:rPr lang="en-US" altLang="zh-CN" dirty="0">
                <a:sym typeface="Huawei Sans" panose="020C0503030203020204" pitchFamily="34" charset="0"/>
              </a:rPr>
              <a:t>Your public key has been saved in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/id_rsa.pub</a:t>
            </a:r>
          </a:p>
        </p:txBody>
      </p:sp>
      <p:sp>
        <p:nvSpPr>
          <p:cNvPr id="6" name="文本框 5">
            <a:extLst>
              <a:ext uri="{FF2B5EF4-FFF2-40B4-BE49-F238E27FC236}">
                <a16:creationId xmlns="" xmlns:a16="http://schemas.microsoft.com/office/drawing/2014/main" id="{76555FBF-27B5-43BA-BEF8-5D6B48E01858}"/>
              </a:ext>
            </a:extLst>
          </p:cNvPr>
          <p:cNvSpPr txBox="1"/>
          <p:nvPr/>
        </p:nvSpPr>
        <p:spPr bwMode="gray">
          <a:xfrm>
            <a:off x="1815147" y="2549537"/>
            <a:ext cx="2475333" cy="1015663"/>
          </a:xfrm>
          <a:prstGeom prst="rect">
            <a:avLst/>
          </a:prstGeom>
          <a:noFill/>
        </p:spPr>
        <p:txBody>
          <a:bodyPr wrap="square" rtlCol="0">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生成</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RSA</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公钥</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私钥对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决定密钥保存路径</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文本框 13">
            <a:extLst>
              <a:ext uri="{FF2B5EF4-FFF2-40B4-BE49-F238E27FC236}">
                <a16:creationId xmlns="" xmlns:a16="http://schemas.microsoft.com/office/drawing/2014/main" id="{2054DF83-260B-4E69-B8A9-C0910F849C57}"/>
              </a:ext>
            </a:extLst>
          </p:cNvPr>
          <p:cNvSpPr txBox="1"/>
          <p:nvPr/>
        </p:nvSpPr>
        <p:spPr bwMode="gray">
          <a:xfrm>
            <a:off x="4300067" y="2565276"/>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6" name="文本框 15">
            <a:extLst>
              <a:ext uri="{FF2B5EF4-FFF2-40B4-BE49-F238E27FC236}">
                <a16:creationId xmlns="" xmlns:a16="http://schemas.microsoft.com/office/drawing/2014/main" id="{773D837C-8D89-4B32-AD1E-4199EF71F59D}"/>
              </a:ext>
            </a:extLst>
          </p:cNvPr>
          <p:cNvSpPr txBox="1"/>
          <p:nvPr/>
        </p:nvSpPr>
        <p:spPr bwMode="gray">
          <a:xfrm>
            <a:off x="4699259" y="4833395"/>
            <a:ext cx="5977238" cy="350865"/>
          </a:xfrm>
          <a:prstGeom prst="rect">
            <a:avLst/>
          </a:prstGeom>
          <a:noFill/>
          <a:ln>
            <a:solidFill>
              <a:srgbClr val="94DAE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 cat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/id_rsa.pub</a:t>
            </a:r>
          </a:p>
        </p:txBody>
      </p:sp>
      <p:sp>
        <p:nvSpPr>
          <p:cNvPr id="17" name="文本框 16">
            <a:extLst>
              <a:ext uri="{FF2B5EF4-FFF2-40B4-BE49-F238E27FC236}">
                <a16:creationId xmlns="" xmlns:a16="http://schemas.microsoft.com/office/drawing/2014/main" id="{76555FBF-27B5-43BA-BEF8-5D6B48E01858}"/>
              </a:ext>
            </a:extLst>
          </p:cNvPr>
          <p:cNvSpPr txBox="1"/>
          <p:nvPr/>
        </p:nvSpPr>
        <p:spPr bwMode="gray">
          <a:xfrm>
            <a:off x="1827992" y="4752074"/>
            <a:ext cx="2289445" cy="400110"/>
          </a:xfrm>
          <a:prstGeom prst="rect">
            <a:avLst/>
          </a:prstGeom>
          <a:noFill/>
        </p:spPr>
        <p:txBody>
          <a:bodyPr wrap="square" rtlCol="0">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查看公钥</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文本框 18">
            <a:extLst>
              <a:ext uri="{FF2B5EF4-FFF2-40B4-BE49-F238E27FC236}">
                <a16:creationId xmlns="" xmlns:a16="http://schemas.microsoft.com/office/drawing/2014/main" id="{2054DF83-260B-4E69-B8A9-C0910F849C57}"/>
              </a:ext>
            </a:extLst>
          </p:cNvPr>
          <p:cNvSpPr txBox="1"/>
          <p:nvPr/>
        </p:nvSpPr>
        <p:spPr bwMode="gray">
          <a:xfrm>
            <a:off x="3574829" y="4802987"/>
            <a:ext cx="1124430"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6" name="文本框 65">
            <a:extLst>
              <a:ext uri="{FF2B5EF4-FFF2-40B4-BE49-F238E27FC236}">
                <a16:creationId xmlns="" xmlns:a16="http://schemas.microsoft.com/office/drawing/2014/main" id="{2054DF83-260B-4E69-B8A9-C0910F849C57}"/>
              </a:ext>
            </a:extLst>
          </p:cNvPr>
          <p:cNvSpPr txBox="1"/>
          <p:nvPr/>
        </p:nvSpPr>
        <p:spPr bwMode="gray">
          <a:xfrm>
            <a:off x="4300067" y="3857354"/>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67" name="文本框 66">
            <a:extLst>
              <a:ext uri="{FF2B5EF4-FFF2-40B4-BE49-F238E27FC236}">
                <a16:creationId xmlns="" xmlns:a16="http://schemas.microsoft.com/office/drawing/2014/main" id="{2054DF83-260B-4E69-B8A9-C0910F849C57}"/>
              </a:ext>
            </a:extLst>
          </p:cNvPr>
          <p:cNvSpPr txBox="1"/>
          <p:nvPr/>
        </p:nvSpPr>
        <p:spPr bwMode="gray">
          <a:xfrm>
            <a:off x="4300067" y="3107107"/>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69" name="文本框 68">
            <a:extLst>
              <a:ext uri="{FF2B5EF4-FFF2-40B4-BE49-F238E27FC236}">
                <a16:creationId xmlns="" xmlns:a16="http://schemas.microsoft.com/office/drawing/2014/main" id="{2054DF83-260B-4E69-B8A9-C0910F849C57}"/>
              </a:ext>
            </a:extLst>
          </p:cNvPr>
          <p:cNvSpPr txBox="1"/>
          <p:nvPr/>
        </p:nvSpPr>
        <p:spPr bwMode="gray">
          <a:xfrm>
            <a:off x="4300067" y="3568812"/>
            <a:ext cx="399192" cy="367473"/>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4" name="矩形 3"/>
          <p:cNvSpPr/>
          <p:nvPr/>
        </p:nvSpPr>
        <p:spPr bwMode="gray">
          <a:xfrm>
            <a:off x="1803902" y="3918567"/>
            <a:ext cx="2523979" cy="400110"/>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客户端的私钥文件路径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a:off x="1827992" y="4337135"/>
            <a:ext cx="2523979" cy="400110"/>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客户端的公钥文件路径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1815147" y="3389792"/>
            <a:ext cx="2302290" cy="370935"/>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输入通行短语</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grpSp>
        <p:nvGrpSpPr>
          <p:cNvPr id="31" name="组合 30"/>
          <p:cNvGrpSpPr/>
          <p:nvPr/>
        </p:nvGrpSpPr>
        <p:grpSpPr bwMode="gray">
          <a:xfrm>
            <a:off x="1285384" y="1318075"/>
            <a:ext cx="9694258" cy="345607"/>
            <a:chOff x="751840" y="4003281"/>
            <a:chExt cx="9694258" cy="345607"/>
          </a:xfrm>
        </p:grpSpPr>
        <p:sp>
          <p:nvSpPr>
            <p:cNvPr id="32"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3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创建密钥对</a:t>
              </a:r>
            </a:p>
          </p:txBody>
        </p:sp>
        <p:sp>
          <p:nvSpPr>
            <p:cNvPr id="3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0" name="直接箭头连接符 3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4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3" name="文本框 42">
            <a:extLst>
              <a:ext uri="{FF2B5EF4-FFF2-40B4-BE49-F238E27FC236}">
                <a16:creationId xmlns="" xmlns:a16="http://schemas.microsoft.com/office/drawing/2014/main" id="{2054DF83-260B-4E69-B8A9-C0910F849C57}"/>
              </a:ext>
            </a:extLst>
          </p:cNvPr>
          <p:cNvSpPr txBox="1"/>
          <p:nvPr/>
        </p:nvSpPr>
        <p:spPr bwMode="gray">
          <a:xfrm>
            <a:off x="4300067" y="4351787"/>
            <a:ext cx="399192" cy="367473"/>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44" name="文本框 43">
            <a:extLst>
              <a:ext uri="{FF2B5EF4-FFF2-40B4-BE49-F238E27FC236}">
                <a16:creationId xmlns="" xmlns:a16="http://schemas.microsoft.com/office/drawing/2014/main" id="{2054DF83-260B-4E69-B8A9-C0910F849C57}"/>
              </a:ext>
            </a:extLst>
          </p:cNvPr>
          <p:cNvSpPr txBox="1"/>
          <p:nvPr/>
        </p:nvSpPr>
        <p:spPr bwMode="gray">
          <a:xfrm>
            <a:off x="4300067" y="3312315"/>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0" name="矩形 9"/>
          <p:cNvSpPr/>
          <p:nvPr/>
        </p:nvSpPr>
        <p:spPr bwMode="gray">
          <a:xfrm>
            <a:off x="1803902" y="3630900"/>
            <a:ext cx="2486578" cy="400110"/>
          </a:xfrm>
          <a:prstGeom prst="rect">
            <a:avLst/>
          </a:prstGeom>
        </p:spPr>
        <p:txBody>
          <a:bodyPr wrap="non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重复输入通行短语</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32342532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案例：服务器端配置公钥</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3" y="1844361"/>
            <a:ext cx="11293475" cy="4879805"/>
          </a:xfrm>
        </p:spPr>
        <p:txBody>
          <a:bodyPr/>
          <a:lstStyle/>
          <a:p>
            <a:pPr marL="0" indent="0">
              <a:buNone/>
            </a:pPr>
            <a:r>
              <a:rPr lang="en-US" altLang="zh-CN" sz="1800" dirty="0" smtClean="0">
                <a:sym typeface="Huawei Sans" panose="020C0503030203020204" pitchFamily="34" charset="0"/>
              </a:rPr>
              <a:t>6.</a:t>
            </a:r>
            <a:r>
              <a:rPr lang="zh-CN" altLang="en-US" sz="1800" dirty="0" smtClean="0">
                <a:sym typeface="Huawei Sans" panose="020C0503030203020204" pitchFamily="34" charset="0"/>
              </a:rPr>
              <a:t>服务器端添加客户端生成的公钥，并将公钥分配给用户。</a:t>
            </a:r>
            <a:endParaRPr lang="en-US" altLang="zh-CN" sz="1800" dirty="0" smtClean="0">
              <a:sym typeface="Huawei Sans" panose="020C0503030203020204" pitchFamily="34" charset="0"/>
            </a:endParaRPr>
          </a:p>
          <a:p>
            <a:pPr marL="0" indent="0">
              <a:buNone/>
            </a:pPr>
            <a:endParaRPr lang="en-US" altLang="zh-CN" sz="1800" dirty="0" smtClean="0">
              <a:sym typeface="Huawei Sans" panose="020C0503030203020204" pitchFamily="34" charset="0"/>
            </a:endParaRPr>
          </a:p>
          <a:p>
            <a:pPr marL="0" indent="0">
              <a:buNone/>
            </a:pPr>
            <a:endParaRPr lang="en-US" altLang="zh-CN" sz="1800" dirty="0">
              <a:sym typeface="Huawei Sans" panose="020C0503030203020204" pitchFamily="34" charset="0"/>
            </a:endParaRPr>
          </a:p>
        </p:txBody>
      </p:sp>
      <p:sp>
        <p:nvSpPr>
          <p:cNvPr id="5" name="文本框 4">
            <a:extLst>
              <a:ext uri="{FF2B5EF4-FFF2-40B4-BE49-F238E27FC236}">
                <a16:creationId xmlns="" xmlns:a16="http://schemas.microsoft.com/office/drawing/2014/main" id="{773D837C-8D89-4B32-AD1E-4199EF71F59D}"/>
              </a:ext>
            </a:extLst>
          </p:cNvPr>
          <p:cNvSpPr txBox="1"/>
          <p:nvPr/>
        </p:nvSpPr>
        <p:spPr bwMode="gray">
          <a:xfrm>
            <a:off x="871601" y="2319738"/>
            <a:ext cx="9737517" cy="2677656"/>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rsa</a:t>
            </a:r>
            <a:r>
              <a:rPr lang="en-US" altLang="zh-CN" dirty="0">
                <a:sym typeface="Huawei Sans" panose="020C0503030203020204" pitchFamily="34" charset="0"/>
              </a:rPr>
              <a:t> peer-public-key rsa01 encoding-type </a:t>
            </a:r>
            <a:r>
              <a:rPr lang="en-US" altLang="zh-CN" dirty="0" err="1">
                <a:sym typeface="Huawei Sans" panose="020C0503030203020204" pitchFamily="34" charset="0"/>
              </a:rPr>
              <a:t>openssh</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rsa</a:t>
            </a:r>
            <a:r>
              <a:rPr lang="en-US" altLang="zh-CN" dirty="0">
                <a:sym typeface="Huawei Sans" panose="020C0503030203020204" pitchFamily="34" charset="0"/>
              </a:rPr>
              <a:t>-public-key] public-key-code begin</a:t>
            </a: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rsa</a:t>
            </a:r>
            <a:r>
              <a:rPr lang="en-US" altLang="zh-CN" dirty="0">
                <a:sym typeface="Huawei Sans" panose="020C0503030203020204" pitchFamily="34" charset="0"/>
              </a:rPr>
              <a:t>-public-key-</a:t>
            </a:r>
            <a:r>
              <a:rPr lang="en-US" altLang="zh-CN" dirty="0" err="1">
                <a:sym typeface="Huawei Sans" panose="020C0503030203020204" pitchFamily="34" charset="0"/>
              </a:rPr>
              <a:t>rsa</a:t>
            </a:r>
            <a:r>
              <a:rPr lang="en-US" altLang="zh-CN" dirty="0">
                <a:sym typeface="Huawei Sans" panose="020C0503030203020204" pitchFamily="34" charset="0"/>
              </a:rPr>
              <a:t>-key-code] </a:t>
            </a:r>
            <a:r>
              <a:rPr lang="en-US" altLang="zh-CN" dirty="0" err="1">
                <a:sym typeface="Huawei Sans" panose="020C0503030203020204" pitchFamily="34" charset="0"/>
              </a:rPr>
              <a:t>ssh-rsa</a:t>
            </a:r>
            <a:r>
              <a:rPr lang="en-US" altLang="zh-CN" dirty="0">
                <a:sym typeface="Huawei Sans" panose="020C0503030203020204" pitchFamily="34" charset="0"/>
              </a:rPr>
              <a:t> AAAAB3NzaC1yc2EAAAADAQABAAABgQDwLRx8MmuNs500dRemhFHdDbBmxco8Bp+wyqwaGuHJZBCjyFQV6AB+ezu5t0eWE3mw57IZfgmvR+MjBcliZv/x3l8oUMLcQKlKslYQDtvfUCZd+za1suXAPB/dyPKMhYPAzSDA7K+xqCWlmU3q06vxHEPLMv4A5IX54rKtBnK92fWjl9ACU+ak0ZlHxbKwOFn1tr0GJBazcInEs9DKGwkTTqJdu9+5hI5NxXTSbM3an53805ZbCU18xPy57g7MZC89vbdsag/uvQmFkLJ3arts/Om2R7fhR92EU/SNPmVy+qDEdwZEVdubdqJInW+8zzVkPGlnb2oH5hwH78Ksklbxb0fEfmGR0mS1ZAi3ZHUGcEEjuFZona3+5Z0Un2OPxfXwvoljVDusbYcugJHo9Ssurz05GzVuamQZlcO2JYY6FhtLUAImtXGQ80MpTjB0lcprkAZCib8agYOtVQNTZ7iB0g2EcBN9UTyMz7sh8RtrBDj445r+XPaDE8LmpDRKHMk= </a:t>
            </a:r>
          </a:p>
          <a:p>
            <a:pPr>
              <a:lnSpc>
                <a:spcPct val="100000"/>
              </a:lnSpc>
            </a:pPr>
            <a:r>
              <a:rPr lang="en-US" altLang="zh-CN" dirty="0">
                <a:sym typeface="Huawei Sans" panose="020C0503030203020204" pitchFamily="34" charset="0"/>
              </a:rPr>
              <a:t>[SSH Server-</a:t>
            </a:r>
            <a:r>
              <a:rPr lang="en-US" altLang="zh-CN" dirty="0" err="1">
                <a:sym typeface="Huawei Sans" panose="020C0503030203020204" pitchFamily="34" charset="0"/>
              </a:rPr>
              <a:t>rsa</a:t>
            </a:r>
            <a:r>
              <a:rPr lang="en-US" altLang="zh-CN" dirty="0">
                <a:sym typeface="Huawei Sans" panose="020C0503030203020204" pitchFamily="34" charset="0"/>
              </a:rPr>
              <a:t>-public-key-</a:t>
            </a:r>
            <a:r>
              <a:rPr lang="en-US" altLang="zh-CN" dirty="0" err="1">
                <a:sym typeface="Huawei Sans" panose="020C0503030203020204" pitchFamily="34" charset="0"/>
              </a:rPr>
              <a:t>rsa</a:t>
            </a:r>
            <a:r>
              <a:rPr lang="en-US" altLang="zh-CN" dirty="0">
                <a:sym typeface="Huawei Sans" panose="020C0503030203020204" pitchFamily="34" charset="0"/>
              </a:rPr>
              <a:t>-key-code] public-key-code end</a:t>
            </a:r>
          </a:p>
          <a:p>
            <a:pPr>
              <a:lnSpc>
                <a:spcPct val="100000"/>
              </a:lnSpc>
            </a:pPr>
            <a:r>
              <a:rPr lang="en-US" altLang="zh-CN" dirty="0">
                <a:sym typeface="Huawei Sans" panose="020C0503030203020204" pitchFamily="34" charset="0"/>
              </a:rPr>
              <a:t>[SSH Server-key-code] peer-public-key end</a:t>
            </a:r>
          </a:p>
          <a:p>
            <a:pPr>
              <a:lnSpc>
                <a:spcPct val="100000"/>
              </a:lnSpc>
            </a:pPr>
            <a:r>
              <a:rPr lang="en-US" altLang="zh-CN" dirty="0">
                <a:sym typeface="Huawei Sans" panose="020C0503030203020204" pitchFamily="34" charset="0"/>
              </a:rPr>
              <a:t>[SSH Server] </a:t>
            </a:r>
            <a:r>
              <a:rPr lang="en-US" altLang="zh-CN" dirty="0" err="1">
                <a:sym typeface="Huawei Sans" panose="020C0503030203020204" pitchFamily="34" charset="0"/>
              </a:rPr>
              <a:t>ssh</a:t>
            </a:r>
            <a:r>
              <a:rPr lang="en-US" altLang="zh-CN" dirty="0">
                <a:sym typeface="Huawei Sans" panose="020C0503030203020204" pitchFamily="34" charset="0"/>
              </a:rPr>
              <a:t> user client assign </a:t>
            </a:r>
            <a:r>
              <a:rPr lang="en-US" altLang="zh-CN" dirty="0" err="1">
                <a:sym typeface="Huawei Sans" panose="020C0503030203020204" pitchFamily="34" charset="0"/>
              </a:rPr>
              <a:t>rsa</a:t>
            </a:r>
            <a:r>
              <a:rPr lang="en-US" altLang="zh-CN" dirty="0">
                <a:sym typeface="Huawei Sans" panose="020C0503030203020204" pitchFamily="34" charset="0"/>
              </a:rPr>
              <a:t>-key rsa01</a:t>
            </a:r>
          </a:p>
        </p:txBody>
      </p:sp>
      <p:grpSp>
        <p:nvGrpSpPr>
          <p:cNvPr id="18" name="组合 17"/>
          <p:cNvGrpSpPr/>
          <p:nvPr/>
        </p:nvGrpSpPr>
        <p:grpSpPr bwMode="gray">
          <a:xfrm>
            <a:off x="1285384" y="1318075"/>
            <a:ext cx="9694258" cy="345607"/>
            <a:chOff x="751840" y="4003281"/>
            <a:chExt cx="9694258" cy="345607"/>
          </a:xfrm>
        </p:grpSpPr>
        <p:sp>
          <p:nvSpPr>
            <p:cNvPr id="19"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箭头连接符 20">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3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配置公钥</a:t>
              </a:r>
            </a:p>
          </p:txBody>
        </p:sp>
        <p:sp>
          <p:nvSpPr>
            <p:cNvPr id="3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0" name="直接箭头连接符 3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4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9723525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案例：客户端编写</a:t>
            </a:r>
            <a:r>
              <a:rPr lang="en-US" altLang="zh-CN" smtClean="0">
                <a:sym typeface="Huawei Sans" panose="020C0503030203020204" pitchFamily="34" charset="0"/>
              </a:rPr>
              <a:t>Python</a:t>
            </a:r>
            <a:r>
              <a:rPr lang="zh-CN" altLang="en-US" smtClean="0">
                <a:sym typeface="Huawei Sans" panose="020C0503030203020204" pitchFamily="34" charset="0"/>
              </a:rPr>
              <a:t>代码</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1649068"/>
            <a:ext cx="11293475" cy="4278487"/>
          </a:xfrm>
        </p:spPr>
        <p:txBody>
          <a:bodyPr/>
          <a:lstStyle/>
          <a:p>
            <a:pPr marL="0" indent="0">
              <a:buNone/>
            </a:pPr>
            <a:r>
              <a:rPr lang="en-US" altLang="zh-CN" sz="1600" dirty="0" smtClean="0">
                <a:sym typeface="Huawei Sans" panose="020C0503030203020204" pitchFamily="34" charset="0"/>
              </a:rPr>
              <a:t>7.</a:t>
            </a:r>
            <a:r>
              <a:rPr lang="zh-CN" altLang="en-US" sz="1600" dirty="0" smtClean="0">
                <a:sym typeface="Huawei Sans" panose="020C0503030203020204" pitchFamily="34" charset="0"/>
              </a:rPr>
              <a:t>客户端编写和运行</a:t>
            </a:r>
            <a:r>
              <a:rPr lang="en-US" altLang="zh-CN" sz="1600" dirty="0" smtClean="0">
                <a:sym typeface="Huawei Sans" panose="020C0503030203020204" pitchFamily="34" charset="0"/>
              </a:rPr>
              <a:t>Python</a:t>
            </a:r>
            <a:r>
              <a:rPr lang="zh-CN" altLang="en-US" sz="1600" dirty="0" smtClean="0">
                <a:sym typeface="Huawei Sans" panose="020C0503030203020204" pitchFamily="34" charset="0"/>
              </a:rPr>
              <a:t>代码，</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登录至服务器。</a:t>
            </a:r>
            <a:endParaRPr lang="en-US" altLang="zh-CN" sz="1600" dirty="0" smtClean="0">
              <a:sym typeface="Huawei Sans" panose="020C0503030203020204" pitchFamily="34" charset="0"/>
            </a:endParaRPr>
          </a:p>
          <a:p>
            <a:endParaRPr lang="zh-CN" altLang="en-US" sz="1600" dirty="0" smtClean="0">
              <a:sym typeface="Huawei Sans" panose="020C0503030203020204" pitchFamily="34" charset="0"/>
            </a:endParaRPr>
          </a:p>
          <a:p>
            <a:endParaRPr lang="zh-CN" altLang="en-US" sz="1600" dirty="0">
              <a:sym typeface="Huawei Sans" panose="020C0503030203020204" pitchFamily="34" charset="0"/>
            </a:endParaRPr>
          </a:p>
        </p:txBody>
      </p:sp>
      <p:grpSp>
        <p:nvGrpSpPr>
          <p:cNvPr id="6" name="组合 5"/>
          <p:cNvGrpSpPr/>
          <p:nvPr/>
        </p:nvGrpSpPr>
        <p:grpSpPr bwMode="gray">
          <a:xfrm>
            <a:off x="1451490" y="1975379"/>
            <a:ext cx="9555469" cy="4107988"/>
            <a:chOff x="1345822" y="1566340"/>
            <a:chExt cx="9555469" cy="4107988"/>
          </a:xfrm>
        </p:grpSpPr>
        <p:sp>
          <p:nvSpPr>
            <p:cNvPr id="4" name="文本框 3">
              <a:extLst>
                <a:ext uri="{FF2B5EF4-FFF2-40B4-BE49-F238E27FC236}">
                  <a16:creationId xmlns="" xmlns:a16="http://schemas.microsoft.com/office/drawing/2014/main" id="{E4E30EB8-DE34-4595-BCF8-67A3852D8F2A}"/>
                </a:ext>
              </a:extLst>
            </p:cNvPr>
            <p:cNvSpPr txBox="1"/>
            <p:nvPr/>
          </p:nvSpPr>
          <p:spPr bwMode="gray">
            <a:xfrm>
              <a:off x="3680184" y="1730708"/>
              <a:ext cx="7221107" cy="3933384"/>
            </a:xfrm>
            <a:prstGeom prst="rect">
              <a:avLst/>
            </a:prstGeom>
            <a:noFill/>
            <a:ln>
              <a:solidFill>
                <a:srgbClr val="56C4D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sz="1600" dirty="0">
                  <a:sym typeface="Huawei Sans" panose="020C0503030203020204" pitchFamily="34" charset="0"/>
                </a:rPr>
                <a:t>import </a:t>
              </a:r>
              <a:r>
                <a:rPr lang="en-US" altLang="zh-CN" sz="1600" dirty="0" err="1">
                  <a:sym typeface="Huawei Sans" panose="020C0503030203020204" pitchFamily="34" charset="0"/>
                </a:rPr>
                <a:t>paramiko</a:t>
              </a:r>
              <a:endParaRPr lang="en-US" altLang="zh-CN" sz="1600" dirty="0">
                <a:sym typeface="Huawei Sans" panose="020C0503030203020204" pitchFamily="34" charset="0"/>
              </a:endParaRPr>
            </a:p>
            <a:p>
              <a:r>
                <a:rPr lang="en-US" altLang="zh-CN" sz="1600" dirty="0">
                  <a:sym typeface="Huawei Sans" panose="020C0503030203020204" pitchFamily="34" charset="0"/>
                </a:rPr>
                <a:t>import time</a:t>
              </a:r>
            </a:p>
            <a:p>
              <a:r>
                <a:rPr lang="en-US" altLang="zh-CN" sz="1600" dirty="0" err="1">
                  <a:sym typeface="Huawei Sans" panose="020C0503030203020204" pitchFamily="34" charset="0"/>
                </a:rPr>
                <a:t>ssh</a:t>
              </a:r>
              <a:r>
                <a:rPr lang="en-US" altLang="zh-CN" sz="1600" dirty="0">
                  <a:sym typeface="Huawei Sans" panose="020C0503030203020204" pitchFamily="34" charset="0"/>
                </a:rPr>
                <a:t> = </a:t>
              </a:r>
              <a:r>
                <a:rPr lang="en-US" altLang="zh-CN" sz="1600" dirty="0" err="1">
                  <a:sym typeface="Huawei Sans" panose="020C0503030203020204" pitchFamily="34" charset="0"/>
                </a:rPr>
                <a:t>paramiko.SSHClient</a:t>
              </a:r>
              <a:r>
                <a:rPr lang="en-US" altLang="zh-CN" sz="1600" dirty="0">
                  <a:sym typeface="Huawei Sans" panose="020C0503030203020204" pitchFamily="34" charset="0"/>
                </a:rPr>
                <a:t>()</a:t>
              </a:r>
            </a:p>
            <a:p>
              <a:r>
                <a:rPr lang="en-US" altLang="zh-CN" sz="1600" dirty="0" err="1">
                  <a:sym typeface="Huawei Sans" panose="020C0503030203020204" pitchFamily="34" charset="0"/>
                </a:rPr>
                <a:t>ssh.set_missing_host_key_policy</a:t>
              </a:r>
              <a:r>
                <a:rPr lang="en-US" altLang="zh-CN" sz="1600" dirty="0">
                  <a:sym typeface="Huawei Sans" panose="020C0503030203020204" pitchFamily="34" charset="0"/>
                </a:rPr>
                <a:t>(</a:t>
              </a:r>
              <a:r>
                <a:rPr lang="en-US" altLang="zh-CN" sz="1600" dirty="0" err="1">
                  <a:sym typeface="Huawei Sans" panose="020C0503030203020204" pitchFamily="34" charset="0"/>
                </a:rPr>
                <a:t>paramiko.AutoAddPolicy</a:t>
              </a:r>
              <a:r>
                <a:rPr lang="en-US" altLang="zh-CN" sz="1600" dirty="0">
                  <a:sym typeface="Huawei Sans" panose="020C0503030203020204" pitchFamily="34" charset="0"/>
                </a:rPr>
                <a:t>())</a:t>
              </a:r>
            </a:p>
            <a:p>
              <a:r>
                <a:rPr lang="en-US" altLang="zh-CN" sz="1600" dirty="0" err="1">
                  <a:sym typeface="Huawei Sans" panose="020C0503030203020204" pitchFamily="34" charset="0"/>
                </a:rPr>
                <a:t>ssh.connect</a:t>
              </a:r>
              <a:r>
                <a:rPr lang="en-US" altLang="zh-CN" sz="1600" dirty="0">
                  <a:sym typeface="Huawei Sans" panose="020C0503030203020204" pitchFamily="34" charset="0"/>
                </a:rPr>
                <a:t>(hostname='192.168.56.100',port=22,username='client',</a:t>
              </a:r>
              <a:r>
                <a:rPr lang="en-US" altLang="zh-CN" sz="1600" dirty="0" err="1">
                  <a:sym typeface="Huawei Sans" panose="020C0503030203020204" pitchFamily="34" charset="0"/>
                </a:rPr>
                <a:t>key_filename</a:t>
              </a:r>
              <a:r>
                <a:rPr lang="en-US" altLang="zh-CN" sz="1600" dirty="0">
                  <a:sym typeface="Huawei Sans" panose="020C0503030203020204" pitchFamily="34" charset="0"/>
                </a:rPr>
                <a:t>=</a:t>
              </a:r>
              <a:r>
                <a:rPr lang="en-US" altLang="zh-CN" sz="1600" dirty="0" err="1">
                  <a:sym typeface="Huawei Sans" panose="020C0503030203020204" pitchFamily="34" charset="0"/>
                </a:rPr>
                <a:t>r'C</a:t>
              </a:r>
              <a:r>
                <a:rPr lang="en-US" altLang="zh-CN" sz="1600" dirty="0">
                  <a:sym typeface="Huawei Sans" panose="020C0503030203020204" pitchFamily="34" charset="0"/>
                </a:rPr>
                <a:t>:\Users\</a:t>
              </a:r>
              <a:r>
                <a:rPr lang="en-US" altLang="zh-CN" sz="1600" dirty="0" err="1">
                  <a:sym typeface="Huawei Sans" panose="020C0503030203020204" pitchFamily="34" charset="0"/>
                </a:rPr>
                <a:t>exampleuser</a:t>
              </a:r>
              <a:r>
                <a:rPr lang="en-US" altLang="zh-CN" sz="1600" dirty="0">
                  <a:sym typeface="Huawei Sans" panose="020C0503030203020204" pitchFamily="34" charset="0"/>
                </a:rPr>
                <a:t>\.</a:t>
              </a:r>
              <a:r>
                <a:rPr lang="en-US" altLang="zh-CN" sz="1600" dirty="0" err="1">
                  <a:sym typeface="Huawei Sans" panose="020C0503030203020204" pitchFamily="34" charset="0"/>
                </a:rPr>
                <a:t>ssh</a:t>
              </a:r>
              <a:r>
                <a:rPr lang="en-US" altLang="zh-CN" sz="1600" dirty="0">
                  <a:sym typeface="Huawei Sans" panose="020C0503030203020204" pitchFamily="34" charset="0"/>
                </a:rPr>
                <a:t>\</a:t>
              </a:r>
              <a:r>
                <a:rPr lang="en-US" altLang="zh-CN" sz="1600" dirty="0" err="1">
                  <a:sym typeface="Huawei Sans" panose="020C0503030203020204" pitchFamily="34" charset="0"/>
                </a:rPr>
                <a:t>id_rsa</a:t>
              </a:r>
              <a:r>
                <a:rPr lang="en-US" altLang="zh-CN" sz="1600" dirty="0">
                  <a:sym typeface="Huawei Sans" panose="020C0503030203020204" pitchFamily="34" charset="0"/>
                </a:rPr>
                <a:t>')</a:t>
              </a:r>
            </a:p>
            <a:p>
              <a:r>
                <a:rPr lang="en-US" altLang="zh-CN" sz="1600" dirty="0">
                  <a:sym typeface="Huawei Sans" panose="020C0503030203020204" pitchFamily="34" charset="0"/>
                </a:rPr>
                <a:t>cli = </a:t>
              </a:r>
              <a:r>
                <a:rPr lang="en-US" altLang="zh-CN" sz="1600" dirty="0" err="1">
                  <a:sym typeface="Huawei Sans" panose="020C0503030203020204" pitchFamily="34" charset="0"/>
                </a:rPr>
                <a:t>ssh.invoke_shell</a:t>
              </a:r>
              <a:r>
                <a:rPr lang="en-US" altLang="zh-CN" sz="1600" dirty="0">
                  <a:sym typeface="Huawei Sans" panose="020C0503030203020204" pitchFamily="34" charset="0"/>
                </a:rPr>
                <a:t>()</a:t>
              </a:r>
            </a:p>
            <a:p>
              <a:r>
                <a:rPr lang="en-US" altLang="zh-CN" sz="1600" dirty="0" err="1">
                  <a:sym typeface="Huawei Sans" panose="020C0503030203020204" pitchFamily="34" charset="0"/>
                </a:rPr>
                <a:t>cli.send</a:t>
              </a:r>
              <a:r>
                <a:rPr lang="en-US" altLang="zh-CN" sz="1600" dirty="0">
                  <a:sym typeface="Huawei Sans" panose="020C0503030203020204" pitchFamily="34" charset="0"/>
                </a:rPr>
                <a:t>('screen-length 0 temporary\n')</a:t>
              </a:r>
            </a:p>
            <a:p>
              <a:r>
                <a:rPr lang="en-US" altLang="zh-CN" sz="1600" dirty="0" err="1">
                  <a:sym typeface="Huawei Sans" panose="020C0503030203020204" pitchFamily="34" charset="0"/>
                </a:rPr>
                <a:t>cli.send</a:t>
              </a:r>
              <a:r>
                <a:rPr lang="en-US" altLang="zh-CN" sz="1600" dirty="0">
                  <a:sym typeface="Huawei Sans" panose="020C0503030203020204" pitchFamily="34" charset="0"/>
                </a:rPr>
                <a:t>('display cu\n')</a:t>
              </a:r>
            </a:p>
            <a:p>
              <a:r>
                <a:rPr lang="en-US" altLang="zh-CN" sz="1600" dirty="0" err="1">
                  <a:sym typeface="Huawei Sans" panose="020C0503030203020204" pitchFamily="34" charset="0"/>
                </a:rPr>
                <a:t>time.sleep</a:t>
              </a:r>
              <a:r>
                <a:rPr lang="en-US" altLang="zh-CN" sz="1600" dirty="0">
                  <a:sym typeface="Huawei Sans" panose="020C0503030203020204" pitchFamily="34" charset="0"/>
                </a:rPr>
                <a:t>(3)</a:t>
              </a:r>
            </a:p>
            <a:p>
              <a:r>
                <a:rPr lang="en-US" altLang="zh-CN" sz="1600" dirty="0" err="1">
                  <a:sym typeface="Huawei Sans" panose="020C0503030203020204" pitchFamily="34" charset="0"/>
                </a:rPr>
                <a:t>dis_cu</a:t>
              </a:r>
              <a:r>
                <a:rPr lang="en-US" altLang="zh-CN" sz="1600" dirty="0">
                  <a:sym typeface="Huawei Sans" panose="020C0503030203020204" pitchFamily="34" charset="0"/>
                </a:rPr>
                <a:t> = </a:t>
              </a:r>
              <a:r>
                <a:rPr lang="en-US" altLang="zh-CN" sz="1600" dirty="0" err="1">
                  <a:sym typeface="Huawei Sans" panose="020C0503030203020204" pitchFamily="34" charset="0"/>
                </a:rPr>
                <a:t>cli.recv</a:t>
              </a:r>
              <a:r>
                <a:rPr lang="en-US" altLang="zh-CN" sz="1600" dirty="0">
                  <a:sym typeface="Huawei Sans" panose="020C0503030203020204" pitchFamily="34" charset="0"/>
                </a:rPr>
                <a:t>(999999).decode()</a:t>
              </a:r>
            </a:p>
            <a:p>
              <a:r>
                <a:rPr lang="en-US" altLang="zh-CN" sz="1600" dirty="0">
                  <a:sym typeface="Huawei Sans" panose="020C0503030203020204" pitchFamily="34" charset="0"/>
                </a:rPr>
                <a:t>print(</a:t>
              </a:r>
              <a:r>
                <a:rPr lang="en-US" altLang="zh-CN" sz="1600" dirty="0" err="1">
                  <a:sym typeface="Huawei Sans" panose="020C0503030203020204" pitchFamily="34" charset="0"/>
                </a:rPr>
                <a:t>dis_cu</a:t>
              </a:r>
              <a:r>
                <a:rPr lang="en-US" altLang="zh-CN" sz="1600" dirty="0">
                  <a:sym typeface="Huawei Sans" panose="020C0503030203020204" pitchFamily="34" charset="0"/>
                </a:rPr>
                <a:t>)</a:t>
              </a:r>
            </a:p>
            <a:p>
              <a:r>
                <a:rPr lang="en-US" altLang="zh-CN" sz="1600" dirty="0" err="1">
                  <a:sym typeface="Huawei Sans" panose="020C0503030203020204" pitchFamily="34" charset="0"/>
                </a:rPr>
                <a:t>ssh.close</a:t>
              </a:r>
              <a:r>
                <a:rPr lang="en-US" altLang="zh-CN" sz="1600" dirty="0">
                  <a:sym typeface="Huawei Sans" panose="020C0503030203020204" pitchFamily="34" charset="0"/>
                </a:rPr>
                <a:t>()</a:t>
              </a:r>
            </a:p>
          </p:txBody>
        </p:sp>
        <p:sp>
          <p:nvSpPr>
            <p:cNvPr id="5" name="文本框 4">
              <a:extLst>
                <a:ext uri="{FF2B5EF4-FFF2-40B4-BE49-F238E27FC236}">
                  <a16:creationId xmlns="" xmlns:a16="http://schemas.microsoft.com/office/drawing/2014/main" id="{76555FBF-27B5-43BA-BEF8-5D6B48E01858}"/>
                </a:ext>
              </a:extLst>
            </p:cNvPr>
            <p:cNvSpPr txBox="1"/>
            <p:nvPr/>
          </p:nvSpPr>
          <p:spPr bwMode="gray">
            <a:xfrm>
              <a:off x="1345822" y="1580900"/>
              <a:ext cx="4088199" cy="4093428"/>
            </a:xfrm>
            <a:prstGeom prst="rect">
              <a:avLst/>
            </a:prstGeom>
            <a:noFill/>
          </p:spPr>
          <p:txBody>
            <a:bodyPr wrap="square" rtlCol="0">
              <a:spAutoFit/>
            </a:bodyPr>
            <a:lstStyle/>
            <a:p>
              <a:pPr fontAlgn="auto">
                <a:lnSpc>
                  <a:spcPts val="2400"/>
                </a:lnSpc>
                <a:spcBef>
                  <a:spcPts val="0"/>
                </a:spcBef>
                <a:spcAft>
                  <a:spcPts val="0"/>
                </a:spcAft>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导入模块  </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实例化</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对象</a:t>
              </a: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允许连接未知主机</a:t>
              </a: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建立</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会话连接</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打开交互式会话</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取消分屏</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命令</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发送显示当前配置命令</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设置暂停</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秒</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实例化接收的数据</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打印回显</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关闭</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连接</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文本框 7">
              <a:extLst>
                <a:ext uri="{FF2B5EF4-FFF2-40B4-BE49-F238E27FC236}">
                  <a16:creationId xmlns="" xmlns:a16="http://schemas.microsoft.com/office/drawing/2014/main" id="{2054DF83-260B-4E69-B8A9-C0910F849C57}"/>
                </a:ext>
              </a:extLst>
            </p:cNvPr>
            <p:cNvSpPr txBox="1"/>
            <p:nvPr/>
          </p:nvSpPr>
          <p:spPr bwMode="gray">
            <a:xfrm>
              <a:off x="2565985" y="1566340"/>
              <a:ext cx="1124430" cy="4093428"/>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r">
                <a:lnSpc>
                  <a:spcPts val="2400"/>
                </a:lnSpc>
              </a:pP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ts val="2400"/>
                </a:lnSpc>
                <a:spcBef>
                  <a:spcPts val="0"/>
                </a:spcBef>
                <a:spcAft>
                  <a:spcPts val="0"/>
                </a:spcAft>
              </a:pP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a:lnSpc>
                  <a:spcPts val="2400"/>
                </a:lnSpc>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grpSp>
      <p:grpSp>
        <p:nvGrpSpPr>
          <p:cNvPr id="21" name="组合 20"/>
          <p:cNvGrpSpPr/>
          <p:nvPr/>
        </p:nvGrpSpPr>
        <p:grpSpPr bwMode="gray">
          <a:xfrm>
            <a:off x="1285384" y="1318075"/>
            <a:ext cx="9694258" cy="345607"/>
            <a:chOff x="751840" y="4003281"/>
            <a:chExt cx="9694258" cy="345607"/>
          </a:xfrm>
        </p:grpSpPr>
        <p:sp>
          <p:nvSpPr>
            <p:cNvPr id="22"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箭头连接符 23">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2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代码</a:t>
              </a:r>
            </a:p>
          </p:txBody>
        </p:sp>
        <p:cxnSp>
          <p:nvCxnSpPr>
            <p:cNvPr id="28" name="直接箭头连接符 2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29" name="直接箭头连接符 2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0" name="直接箭头连接符 2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1" name="直接箭头连接符 3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3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6910559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案例：客户端结果验证</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1710900"/>
            <a:ext cx="11293475" cy="4216655"/>
          </a:xfrm>
        </p:spPr>
        <p:txBody>
          <a:bodyPr/>
          <a:lstStyle/>
          <a:p>
            <a:pPr marL="0" indent="0">
              <a:buNone/>
            </a:pPr>
            <a:r>
              <a:rPr lang="en-US" altLang="zh-CN" sz="1600" dirty="0" smtClean="0">
                <a:sym typeface="Huawei Sans" panose="020C0503030203020204" pitchFamily="34" charset="0"/>
              </a:rPr>
              <a:t>8.</a:t>
            </a:r>
            <a:r>
              <a:rPr lang="zh-CN" altLang="en-US" sz="1600" dirty="0" smtClean="0">
                <a:sym typeface="Huawei Sans" panose="020C0503030203020204" pitchFamily="34" charset="0"/>
              </a:rPr>
              <a:t>运行代码，成功显示</a:t>
            </a:r>
            <a:r>
              <a:rPr lang="en-US" altLang="zh-CN" sz="1600" dirty="0" smtClean="0">
                <a:sym typeface="Huawei Sans" panose="020C0503030203020204" pitchFamily="34" charset="0"/>
              </a:rPr>
              <a:t>SSH</a:t>
            </a:r>
            <a:r>
              <a:rPr lang="zh-CN" altLang="en-US" sz="1600" dirty="0" smtClean="0">
                <a:sym typeface="Huawei Sans" panose="020C0503030203020204" pitchFamily="34" charset="0"/>
              </a:rPr>
              <a:t>服务器的当前配置信息。</a:t>
            </a:r>
            <a:endParaRPr lang="en-US" altLang="zh-CN" sz="1600" dirty="0">
              <a:sym typeface="Huawei Sans" panose="020C0503030203020204" pitchFamily="34" charset="0"/>
            </a:endParaRPr>
          </a:p>
        </p:txBody>
      </p:sp>
      <p:grpSp>
        <p:nvGrpSpPr>
          <p:cNvPr id="21" name="组合 20"/>
          <p:cNvGrpSpPr/>
          <p:nvPr/>
        </p:nvGrpSpPr>
        <p:grpSpPr bwMode="gray">
          <a:xfrm>
            <a:off x="1285384" y="1318075"/>
            <a:ext cx="9694258" cy="345607"/>
            <a:chOff x="751840" y="4003281"/>
            <a:chExt cx="9694258" cy="345607"/>
          </a:xfrm>
        </p:grpSpPr>
        <p:sp>
          <p:nvSpPr>
            <p:cNvPr id="22"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STelnet</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箭头连接符 24">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26"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0" name="直接箭头连接符 29">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1" name="直接箭头连接符 30">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2" name="直接箭头连接符 31">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33"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结果验证</a:t>
              </a:r>
            </a:p>
          </p:txBody>
        </p:sp>
      </p:grpSp>
      <p:sp>
        <p:nvSpPr>
          <p:cNvPr id="16" name="文本框 15">
            <a:extLst>
              <a:ext uri="{FF2B5EF4-FFF2-40B4-BE49-F238E27FC236}">
                <a16:creationId xmlns="" xmlns:a16="http://schemas.microsoft.com/office/drawing/2014/main" id="{E4E30EB8-DE34-4595-BCF8-67A3852D8F2A}"/>
              </a:ext>
            </a:extLst>
          </p:cNvPr>
          <p:cNvSpPr txBox="1"/>
          <p:nvPr/>
        </p:nvSpPr>
        <p:spPr bwMode="gray">
          <a:xfrm>
            <a:off x="1702853" y="2207998"/>
            <a:ext cx="7221107" cy="1815882"/>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Info: The max number of VTY users is 5, the number of current VTY users online is 1, and total number of terminal users online is 2.</a:t>
            </a:r>
            <a:endParaRPr lang="zh-CN"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&lt;</a:t>
            </a:r>
            <a:r>
              <a:rPr lang="en-US" altLang="zh-CN" dirty="0">
                <a:sym typeface="Huawei Sans" panose="020C0503030203020204" pitchFamily="34" charset="0"/>
              </a:rPr>
              <a:t>SSH Server&gt;screen-length 0 temporary</a:t>
            </a:r>
            <a:endParaRPr lang="zh-CN" altLang="zh-CN" dirty="0">
              <a:sym typeface="Huawei Sans" panose="020C0503030203020204" pitchFamily="34" charset="0"/>
            </a:endParaRPr>
          </a:p>
          <a:p>
            <a:pPr>
              <a:lnSpc>
                <a:spcPct val="100000"/>
              </a:lnSpc>
            </a:pPr>
            <a:r>
              <a:rPr lang="en-US" altLang="zh-CN" dirty="0">
                <a:sym typeface="Huawei Sans" panose="020C0503030203020204" pitchFamily="34" charset="0"/>
              </a:rPr>
              <a:t>Info: The configuration takes effect on the current user terminal interface only.</a:t>
            </a:r>
            <a:endParaRPr lang="zh-CN" altLang="zh-CN" dirty="0">
              <a:sym typeface="Huawei Sans" panose="020C0503030203020204" pitchFamily="34" charset="0"/>
            </a:endParaRPr>
          </a:p>
          <a:p>
            <a:pPr>
              <a:lnSpc>
                <a:spcPct val="100000"/>
              </a:lnSpc>
            </a:pPr>
            <a:r>
              <a:rPr lang="en-US" altLang="zh-CN" dirty="0">
                <a:sym typeface="Huawei Sans" panose="020C0503030203020204" pitchFamily="34" charset="0"/>
              </a:rPr>
              <a:t>&lt;SSH Server&gt;display cu</a:t>
            </a:r>
            <a:endParaRPr lang="zh-CN" altLang="zh-CN" dirty="0">
              <a:sym typeface="Huawei Sans" panose="020C0503030203020204" pitchFamily="34" charset="0"/>
            </a:endParaRPr>
          </a:p>
          <a:p>
            <a:pPr>
              <a:lnSpc>
                <a:spcPct val="100000"/>
              </a:lnSpc>
            </a:pPr>
            <a:r>
              <a:rPr lang="en-US" altLang="zh-CN" dirty="0">
                <a:sym typeface="Huawei Sans" panose="020C0503030203020204" pitchFamily="34" charset="0"/>
              </a:rPr>
              <a:t>!Software Version V200R005C10SPC607B607</a:t>
            </a:r>
            <a:endParaRPr lang="zh-CN"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a:t>
            </a:r>
          </a:p>
        </p:txBody>
      </p:sp>
    </p:spTree>
    <p:extLst>
      <p:ext uri="{BB962C8B-B14F-4D97-AF65-F5344CB8AC3E}">
        <p14:creationId xmlns:p14="http://schemas.microsoft.com/office/powerpoint/2010/main" val="309315850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SSH</a:t>
            </a:r>
            <a:r>
              <a:rPr lang="zh-CN" altLang="en-US" dirty="0" smtClean="0">
                <a:solidFill>
                  <a:schemeClr val="bg1">
                    <a:lumMod val="50000"/>
                  </a:schemeClr>
                </a:solidFill>
                <a:sym typeface="Huawei Sans" panose="020C0503030203020204" pitchFamily="34" charset="0"/>
              </a:rPr>
              <a:t>介绍</a:t>
            </a:r>
            <a:endParaRPr lang="en-US" altLang="zh-CN" dirty="0" smtClean="0">
              <a:solidFill>
                <a:schemeClr val="bg1">
                  <a:lumMod val="50000"/>
                </a:schemeClr>
              </a:solidFill>
              <a:sym typeface="Huawei Sans" panose="020C0503030203020204" pitchFamily="34" charset="0"/>
            </a:endParaRPr>
          </a:p>
          <a:p>
            <a:r>
              <a:rPr lang="en-US" altLang="zh-CN" dirty="0" err="1" smtClean="0">
                <a:solidFill>
                  <a:schemeClr val="bg1">
                    <a:lumMod val="50000"/>
                  </a:schemeClr>
                </a:solidFill>
                <a:sym typeface="Huawei Sans" panose="020C0503030203020204" pitchFamily="34" charset="0"/>
              </a:rPr>
              <a:t>Paramiko</a:t>
            </a:r>
            <a:r>
              <a:rPr lang="zh-CN" altLang="en-US" dirty="0" smtClean="0">
                <a:solidFill>
                  <a:schemeClr val="bg1">
                    <a:lumMod val="50000"/>
                  </a:schemeClr>
                </a:solidFill>
                <a:sym typeface="Huawei Sans" panose="020C0503030203020204" pitchFamily="34" charset="0"/>
              </a:rPr>
              <a:t>组件架构</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SSH</a:t>
            </a:r>
            <a:r>
              <a:rPr lang="zh-CN" altLang="en-US" b="1" dirty="0" smtClean="0">
                <a:sym typeface="Huawei Sans" panose="020C0503030203020204" pitchFamily="34" charset="0"/>
              </a:rPr>
              <a:t>实践</a:t>
            </a:r>
            <a:endParaRPr lang="en-US" altLang="zh-CN" b="1" dirty="0" smtClean="0">
              <a:sym typeface="Huawei Sans" panose="020C0503030203020204" pitchFamily="34" charset="0"/>
            </a:endParaRPr>
          </a:p>
          <a:p>
            <a:pPr lvl="1"/>
            <a:r>
              <a:rPr lang="en-US" altLang="zh-CN" dirty="0" smtClean="0">
                <a:solidFill>
                  <a:schemeClr val="bg1">
                    <a:lumMod val="50000"/>
                  </a:schemeClr>
                </a:solidFill>
                <a:sym typeface="Huawei Sans" panose="020C0503030203020204" pitchFamily="34" charset="0"/>
              </a:rPr>
              <a:t>SSH Python</a:t>
            </a:r>
            <a:r>
              <a:rPr lang="zh-CN" altLang="en-US" dirty="0" smtClean="0">
                <a:solidFill>
                  <a:schemeClr val="bg1">
                    <a:lumMod val="50000"/>
                  </a:schemeClr>
                </a:solidFill>
                <a:sym typeface="Huawei Sans" panose="020C0503030203020204" pitchFamily="34" charset="0"/>
              </a:rPr>
              <a:t>脚本实践</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smtClean="0">
                <a:sym typeface="Huawei Sans" panose="020C0503030203020204" pitchFamily="34" charset="0"/>
              </a:rPr>
              <a:t>SFTP Python</a:t>
            </a:r>
            <a:r>
              <a:rPr lang="zh-CN" altLang="en-US" dirty="0" smtClean="0">
                <a:sym typeface="Huawei Sans" panose="020C0503030203020204" pitchFamily="34" charset="0"/>
              </a:rPr>
              <a:t>脚本实践</a:t>
            </a:r>
            <a:endParaRPr lang="en-US" altLang="zh-CN" dirty="0" smtClean="0">
              <a:sym typeface="Huawei Sans" panose="020C0503030203020204" pitchFamily="34" charset="0"/>
            </a:endParaRPr>
          </a:p>
          <a:p>
            <a:pPr lvl="1"/>
            <a:endParaRPr lang="en-US" altLang="zh-CN" dirty="0" smtClean="0">
              <a:sym typeface="Huawei Sans" panose="020C0503030203020204" pitchFamily="34" charset="0"/>
            </a:endParaRPr>
          </a:p>
          <a:p>
            <a:pPr lvl="1"/>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9000677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 xmlns:a16="http://schemas.microsoft.com/office/drawing/2014/main" id="{8D19C945-FB7C-43B3-9617-D7EAE256D0BC}"/>
              </a:ext>
            </a:extLst>
          </p:cNvPr>
          <p:cNvSpPr>
            <a:spLocks noGrp="1"/>
          </p:cNvSpPr>
          <p:nvPr>
            <p:ph type="title"/>
          </p:nvPr>
        </p:nvSpPr>
        <p:spPr bwMode="gray"/>
        <p:txBody>
          <a:bodyPr/>
          <a:lstStyle/>
          <a:p>
            <a:r>
              <a:rPr lang="zh-CN" altLang="en-US" smtClean="0">
                <a:sym typeface="Huawei Sans" panose="020C0503030203020204" pitchFamily="34" charset="0"/>
              </a:rPr>
              <a:t>案例：使用</a:t>
            </a:r>
            <a:r>
              <a:rPr lang="en-US" altLang="zh-CN" smtClean="0">
                <a:sym typeface="Huawei Sans" panose="020C0503030203020204" pitchFamily="34" charset="0"/>
              </a:rPr>
              <a:t>SFTP</a:t>
            </a:r>
            <a:r>
              <a:rPr lang="zh-CN" altLang="en-US" smtClean="0">
                <a:sym typeface="Huawei Sans" panose="020C0503030203020204" pitchFamily="34" charset="0"/>
              </a:rPr>
              <a:t>上传和下载文件</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smtClean="0">
                <a:sym typeface="Huawei Sans" panose="020C0503030203020204" pitchFamily="34" charset="0"/>
              </a:rPr>
              <a:t>案例描述：</a:t>
            </a:r>
            <a:endParaRPr lang="en-US" altLang="zh-CN" sz="1600" dirty="0" smtClean="0">
              <a:sym typeface="Huawei Sans" panose="020C0503030203020204" pitchFamily="34" charset="0"/>
            </a:endParaRPr>
          </a:p>
          <a:p>
            <a:pPr lvl="1"/>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 （</a:t>
            </a:r>
            <a:r>
              <a:rPr lang="en-US" altLang="zh-CN" sz="1400" dirty="0" smtClean="0">
                <a:sym typeface="Huawei Sans" panose="020C0503030203020204" pitchFamily="34" charset="0"/>
              </a:rPr>
              <a:t>SSH File Transfer Protocol</a:t>
            </a:r>
            <a:r>
              <a:rPr lang="zh-CN" altLang="en-US" sz="1400" dirty="0" smtClean="0">
                <a:sym typeface="Huawei Sans" panose="020C0503030203020204" pitchFamily="34" charset="0"/>
              </a:rPr>
              <a:t>）是一个安全的文件传输协议，建立在</a:t>
            </a:r>
            <a:r>
              <a:rPr lang="en-US" altLang="zh-CN" sz="1400" dirty="0" smtClean="0">
                <a:sym typeface="Huawei Sans" panose="020C0503030203020204" pitchFamily="34" charset="0"/>
              </a:rPr>
              <a:t>SSH</a:t>
            </a:r>
            <a:r>
              <a:rPr lang="zh-CN" altLang="en-US" sz="1400" dirty="0" smtClean="0">
                <a:sym typeface="Huawei Sans" panose="020C0503030203020204" pitchFamily="34" charset="0"/>
              </a:rPr>
              <a:t>协议的基础之上。</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不仅提供了</a:t>
            </a:r>
            <a:r>
              <a:rPr lang="en-US" altLang="zh-CN" sz="1400" dirty="0" smtClean="0">
                <a:sym typeface="Huawei Sans" panose="020C0503030203020204" pitchFamily="34" charset="0"/>
              </a:rPr>
              <a:t>FTP</a:t>
            </a:r>
            <a:r>
              <a:rPr lang="zh-CN" altLang="en-US" sz="1400" dirty="0" smtClean="0">
                <a:sym typeface="Huawei Sans" panose="020C0503030203020204" pitchFamily="34" charset="0"/>
              </a:rPr>
              <a:t>协议的所有功能，而且安全性和可靠性更高。</a:t>
            </a:r>
          </a:p>
          <a:p>
            <a:pPr lvl="1"/>
            <a:r>
              <a:rPr lang="zh-CN" altLang="en-US" sz="1400" dirty="0" smtClean="0">
                <a:sym typeface="Huawei Sans" panose="020C0503030203020204" pitchFamily="34" charset="0"/>
              </a:rPr>
              <a:t>如图所示，在作为</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服务器的交换机上使能</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服务器功能后，客户端</a:t>
            </a:r>
            <a:r>
              <a:rPr lang="en-US" altLang="zh-CN" sz="1400" dirty="0" smtClean="0">
                <a:sym typeface="Huawei Sans" panose="020C0503030203020204" pitchFamily="34" charset="0"/>
              </a:rPr>
              <a:t>PC</a:t>
            </a:r>
            <a:r>
              <a:rPr lang="zh-CN" altLang="en-US" sz="1400" dirty="0" smtClean="0">
                <a:sym typeface="Huawei Sans" panose="020C0503030203020204" pitchFamily="34" charset="0"/>
              </a:rPr>
              <a:t>可以通过</a:t>
            </a:r>
            <a:r>
              <a:rPr lang="en-US" altLang="zh-CN" sz="1400" dirty="0" smtClean="0">
                <a:sym typeface="Huawei Sans" panose="020C0503030203020204" pitchFamily="34" charset="0"/>
              </a:rPr>
              <a:t>password</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RSA</a:t>
            </a:r>
            <a:r>
              <a:rPr lang="zh-CN" altLang="en-US" sz="1400" dirty="0" smtClean="0">
                <a:sym typeface="Huawei Sans" panose="020C0503030203020204" pitchFamily="34" charset="0"/>
              </a:rPr>
              <a:t>、等认证方式</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登录服务器完成文件上传和下载等功能。</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本例以</a:t>
            </a:r>
            <a:r>
              <a:rPr lang="en-US" altLang="zh-CN" sz="1400" dirty="0" smtClean="0">
                <a:sym typeface="Huawei Sans" panose="020C0503030203020204" pitchFamily="34" charset="0"/>
              </a:rPr>
              <a:t>RSA</a:t>
            </a:r>
            <a:r>
              <a:rPr lang="zh-CN" altLang="en-US" sz="1400" dirty="0" smtClean="0">
                <a:sym typeface="Huawei Sans" panose="020C0503030203020204" pitchFamily="34" charset="0"/>
              </a:rPr>
              <a:t>用户认证方式介绍客户端使用</a:t>
            </a:r>
            <a:r>
              <a:rPr lang="en-US" altLang="zh-CN" sz="1400" dirty="0" smtClean="0">
                <a:sym typeface="Huawei Sans" panose="020C0503030203020204" pitchFamily="34" charset="0"/>
              </a:rPr>
              <a:t>Python </a:t>
            </a:r>
            <a:r>
              <a:rPr lang="en-US" altLang="zh-CN" sz="1400" dirty="0" err="1" smtClean="0">
                <a:sym typeface="Huawei Sans" panose="020C0503030203020204" pitchFamily="34" charset="0"/>
              </a:rPr>
              <a:t>Paramiko</a:t>
            </a:r>
            <a:r>
              <a:rPr lang="zh-CN" altLang="en-US" sz="1400" dirty="0" smtClean="0">
                <a:sym typeface="Huawei Sans" panose="020C0503030203020204" pitchFamily="34" charset="0"/>
              </a:rPr>
              <a:t> </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上传和下载文件的配置过程。</a:t>
            </a:r>
            <a:endParaRPr lang="en-US" altLang="zh-CN" sz="1400" dirty="0" smtClean="0">
              <a:sym typeface="Huawei Sans" panose="020C0503030203020204" pitchFamily="34" charset="0"/>
            </a:endParaRPr>
          </a:p>
          <a:p>
            <a:endParaRPr lang="en-US" altLang="zh-CN" sz="1600" dirty="0" smtClean="0">
              <a:sym typeface="Huawei Sans" panose="020C0503030203020204" pitchFamily="34" charset="0"/>
            </a:endParaRPr>
          </a:p>
          <a:p>
            <a:endParaRPr lang="en-US" altLang="zh-CN" sz="1600" dirty="0">
              <a:sym typeface="Huawei Sans" panose="020C0503030203020204" pitchFamily="34" charset="0"/>
            </a:endParaRPr>
          </a:p>
        </p:txBody>
      </p:sp>
      <p:grpSp>
        <p:nvGrpSpPr>
          <p:cNvPr id="26" name="组合 25">
            <a:extLst>
              <a:ext uri="{FF2B5EF4-FFF2-40B4-BE49-F238E27FC236}">
                <a16:creationId xmlns="" xmlns:a16="http://schemas.microsoft.com/office/drawing/2014/main" id="{1D3C8CF5-5A8D-4753-9D94-EEA573CC72CB}"/>
              </a:ext>
            </a:extLst>
          </p:cNvPr>
          <p:cNvGrpSpPr/>
          <p:nvPr/>
        </p:nvGrpSpPr>
        <p:grpSpPr bwMode="gray">
          <a:xfrm>
            <a:off x="2032635" y="4525657"/>
            <a:ext cx="7463118" cy="1210928"/>
            <a:chOff x="1990165" y="1344713"/>
            <a:chExt cx="7463118" cy="1210928"/>
          </a:xfrm>
        </p:grpSpPr>
        <p:sp>
          <p:nvSpPr>
            <p:cNvPr id="28" name="矩形: 圆角 23">
              <a:extLst>
                <a:ext uri="{FF2B5EF4-FFF2-40B4-BE49-F238E27FC236}">
                  <a16:creationId xmlns="" xmlns:a16="http://schemas.microsoft.com/office/drawing/2014/main" id="{FCA78E05-2E38-43E2-B379-4EC2C561C5AA}"/>
                </a:ext>
              </a:extLst>
            </p:cNvPr>
            <p:cNvSpPr/>
            <p:nvPr/>
          </p:nvSpPr>
          <p:spPr bwMode="gray">
            <a:xfrm>
              <a:off x="1990165" y="1344713"/>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45279" y="1877723"/>
              <a:ext cx="540000" cy="442800"/>
            </a:xfrm>
            <a:prstGeom prst="rect">
              <a:avLst/>
            </a:prstGeom>
          </p:spPr>
        </p:pic>
        <p:pic>
          <p:nvPicPr>
            <p:cNvPr id="30" name="图片 29"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15207" y="1888868"/>
              <a:ext cx="539063" cy="414000"/>
            </a:xfrm>
            <a:prstGeom prst="rect">
              <a:avLst/>
            </a:prstGeom>
          </p:spPr>
        </p:pic>
        <p:cxnSp>
          <p:nvCxnSpPr>
            <p:cNvPr id="31" name="直接连接符 30">
              <a:extLst>
                <a:ext uri="{FF2B5EF4-FFF2-40B4-BE49-F238E27FC236}">
                  <a16:creationId xmlns="" xmlns:a16="http://schemas.microsoft.com/office/drawing/2014/main" id="{4E6C53B9-8234-4E7F-B6A4-301B84C20E21}"/>
                </a:ext>
              </a:extLst>
            </p:cNvPr>
            <p:cNvCxnSpPr>
              <a:cxnSpLocks/>
              <a:stCxn id="30" idx="1"/>
              <a:endCxn id="29" idx="3"/>
            </p:cNvCxnSpPr>
            <p:nvPr/>
          </p:nvCxnSpPr>
          <p:spPr bwMode="gray">
            <a:xfrm flipH="1">
              <a:off x="4185279" y="2095868"/>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 xmlns:a16="http://schemas.microsoft.com/office/drawing/2014/main" id="{B9781689-051C-471B-87F8-A16330B40AE4}"/>
                </a:ext>
              </a:extLst>
            </p:cNvPr>
            <p:cNvSpPr txBox="1"/>
            <p:nvPr/>
          </p:nvSpPr>
          <p:spPr bwMode="gray">
            <a:xfrm>
              <a:off x="4309508" y="1721532"/>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a:extLst>
                <a:ext uri="{FF2B5EF4-FFF2-40B4-BE49-F238E27FC236}">
                  <a16:creationId xmlns="" xmlns:a16="http://schemas.microsoft.com/office/drawing/2014/main" id="{FDEB4104-2868-4CDC-B074-9C4E6F60E61A}"/>
                </a:ext>
              </a:extLst>
            </p:cNvPr>
            <p:cNvSpPr txBox="1"/>
            <p:nvPr/>
          </p:nvSpPr>
          <p:spPr bwMode="gray">
            <a:xfrm>
              <a:off x="6700900" y="1410100"/>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 xmlns:a16="http://schemas.microsoft.com/office/drawing/2014/main" id="{AD9C5971-1048-41C8-9BC0-07A2BCA40623}"/>
                </a:ext>
              </a:extLst>
            </p:cNvPr>
            <p:cNvSpPr txBox="1"/>
            <p:nvPr/>
          </p:nvSpPr>
          <p:spPr bwMode="gray">
            <a:xfrm>
              <a:off x="3835840" y="1410100"/>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 xmlns:a16="http://schemas.microsoft.com/office/drawing/2014/main" id="{77A4502C-F66C-4C6A-81AF-DBD4FF816CA0}"/>
                </a:ext>
              </a:extLst>
            </p:cNvPr>
            <p:cNvSpPr txBox="1"/>
            <p:nvPr/>
          </p:nvSpPr>
          <p:spPr bwMode="gray">
            <a:xfrm>
              <a:off x="2181109"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a:extLst>
                <a:ext uri="{FF2B5EF4-FFF2-40B4-BE49-F238E27FC236}">
                  <a16:creationId xmlns="" xmlns:a16="http://schemas.microsoft.com/office/drawing/2014/main" id="{B885BED1-0EC0-435F-AECC-01CB43FD768C}"/>
                </a:ext>
              </a:extLst>
            </p:cNvPr>
            <p:cNvSpPr txBox="1"/>
            <p:nvPr/>
          </p:nvSpPr>
          <p:spPr bwMode="gray">
            <a:xfrm>
              <a:off x="7861814"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4" name="组合 53"/>
          <p:cNvGrpSpPr/>
          <p:nvPr/>
        </p:nvGrpSpPr>
        <p:grpSpPr bwMode="gray">
          <a:xfrm>
            <a:off x="1351280" y="4003281"/>
            <a:ext cx="9694258" cy="345607"/>
            <a:chOff x="751840" y="4003281"/>
            <a:chExt cx="9694258" cy="345607"/>
          </a:xfrm>
        </p:grpSpPr>
        <p:sp>
          <p:nvSpPr>
            <p:cNvPr id="55"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58"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箭头连接符 60">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62" name="直接箭头连接符 61">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63" name="直接箭头连接符 62">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64" name="直接箭头连接符 63">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65"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3286017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 xmlns:a16="http://schemas.microsoft.com/office/drawing/2014/main" id="{8D19C945-FB7C-43B3-9617-D7EAE256D0BC}"/>
              </a:ext>
            </a:extLst>
          </p:cNvPr>
          <p:cNvSpPr>
            <a:spLocks noGrp="1"/>
          </p:cNvSpPr>
          <p:nvPr>
            <p:ph type="title"/>
          </p:nvPr>
        </p:nvSpPr>
        <p:spPr bwMode="gray"/>
        <p:txBody>
          <a:bodyPr/>
          <a:lstStyle/>
          <a:p>
            <a:r>
              <a:rPr lang="zh-CN" altLang="en-US" smtClean="0">
                <a:sym typeface="Huawei Sans" panose="020C0503030203020204" pitchFamily="34" charset="0"/>
              </a:rPr>
              <a:t>配置思路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2" y="3205142"/>
            <a:ext cx="11293475" cy="2722413"/>
          </a:xfrm>
        </p:spPr>
        <p:txBody>
          <a:bodyPr/>
          <a:lstStyle/>
          <a:p>
            <a:r>
              <a:rPr lang="zh-CN" altLang="en-US" sz="1800" dirty="0" smtClean="0">
                <a:sym typeface="Huawei Sans" panose="020C0503030203020204" pitchFamily="34" charset="0"/>
              </a:rPr>
              <a:t>服务器端的配置：</a:t>
            </a:r>
            <a:endParaRPr lang="en-US" altLang="zh-CN" sz="1800" dirty="0" smtClean="0">
              <a:sym typeface="Huawei Sans" panose="020C0503030203020204" pitchFamily="34" charset="0"/>
            </a:endParaRPr>
          </a:p>
          <a:p>
            <a:pPr lvl="1"/>
            <a:r>
              <a:rPr lang="zh-CN" altLang="en-US" sz="1400" dirty="0" smtClean="0">
                <a:sym typeface="Huawei Sans" panose="020C0503030203020204" pitchFamily="34" charset="0"/>
              </a:rPr>
              <a:t>配置设备</a:t>
            </a:r>
            <a:r>
              <a:rPr lang="en-US" altLang="zh-CN" sz="1400" dirty="0" smtClean="0">
                <a:sym typeface="Huawei Sans" panose="020C0503030203020204" pitchFamily="34" charset="0"/>
              </a:rPr>
              <a:t>SFTP</a:t>
            </a:r>
            <a:r>
              <a:rPr lang="zh-CN" altLang="en-US" sz="1400" dirty="0" smtClean="0">
                <a:sym typeface="Huawei Sans" panose="020C0503030203020204" pitchFamily="34" charset="0"/>
              </a:rPr>
              <a:t>：配置管理</a:t>
            </a:r>
            <a:r>
              <a:rPr lang="en-US" altLang="zh-CN" sz="1400" dirty="0" smtClean="0">
                <a:sym typeface="Huawei Sans" panose="020C0503030203020204" pitchFamily="34" charset="0"/>
              </a:rPr>
              <a:t>IP,</a:t>
            </a:r>
            <a:r>
              <a:rPr lang="zh-CN" altLang="en-US" sz="1400" dirty="0" smtClean="0">
                <a:sym typeface="Huawei Sans" panose="020C0503030203020204" pitchFamily="34" charset="0"/>
              </a:rPr>
              <a:t>使能</a:t>
            </a:r>
            <a:r>
              <a:rPr lang="en-US" altLang="zh-CN" sz="1400" dirty="0" smtClean="0">
                <a:sym typeface="Huawei Sans" panose="020C0503030203020204" pitchFamily="34" charset="0"/>
              </a:rPr>
              <a:t>SFTP</a:t>
            </a:r>
          </a:p>
          <a:p>
            <a:pPr lvl="1"/>
            <a:r>
              <a:rPr lang="zh-CN" altLang="en-US" sz="1400" dirty="0" smtClean="0">
                <a:sym typeface="Huawei Sans" panose="020C0503030203020204" pitchFamily="34" charset="0"/>
              </a:rPr>
              <a:t>配置用户：创建</a:t>
            </a:r>
            <a:r>
              <a:rPr lang="en-US" altLang="zh-CN" sz="1400" dirty="0" smtClean="0">
                <a:sym typeface="Huawei Sans" panose="020C0503030203020204" pitchFamily="34" charset="0"/>
              </a:rPr>
              <a:t>SSH</a:t>
            </a:r>
            <a:r>
              <a:rPr lang="zh-CN" altLang="en-US" sz="1400" dirty="0" smtClean="0">
                <a:sym typeface="Huawei Sans" panose="020C0503030203020204" pitchFamily="34" charset="0"/>
              </a:rPr>
              <a:t>用户，配置服务类型和认证方式和</a:t>
            </a:r>
            <a:r>
              <a:rPr lang="en-US" altLang="zh-CN" sz="1400" dirty="0" err="1" smtClean="0">
                <a:sym typeface="Huawei Sans" panose="020C0503030203020204" pitchFamily="34" charset="0"/>
              </a:rPr>
              <a:t>sftp</a:t>
            </a:r>
            <a:r>
              <a:rPr lang="zh-CN" altLang="en-US" sz="1400" dirty="0" smtClean="0">
                <a:sym typeface="Huawei Sans" panose="020C0503030203020204" pitchFamily="34" charset="0"/>
              </a:rPr>
              <a:t>路径</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配置公钥：添加客户端生成的公钥并分配给用户</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结果验证：查看上传的文件</a:t>
            </a:r>
            <a:endParaRPr lang="zh-CN" altLang="en-US" sz="1400" dirty="0">
              <a:sym typeface="Huawei Sans" panose="020C0503030203020204" pitchFamily="34" charset="0"/>
            </a:endParaRPr>
          </a:p>
        </p:txBody>
      </p:sp>
      <p:sp>
        <p:nvSpPr>
          <p:cNvPr id="100" name="文本占位符 2"/>
          <p:cNvSpPr txBox="1">
            <a:spLocks/>
          </p:cNvSpPr>
          <p:nvPr/>
        </p:nvSpPr>
        <p:spPr bwMode="gray">
          <a:xfrm>
            <a:off x="6067504" y="3120483"/>
            <a:ext cx="5649912" cy="315452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base">
              <a:lnSpc>
                <a:spcPct val="140000"/>
              </a:lnSpc>
              <a:spcBef>
                <a:spcPts val="792"/>
              </a:spcBef>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sz="1400"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ym typeface="Huawei Sans" panose="020C0503030203020204" pitchFamily="34" charset="0"/>
              </a:rPr>
              <a:t>客户端的配置：</a:t>
            </a:r>
            <a:endParaRPr lang="en-US" altLang="zh-CN" dirty="0">
              <a:sym typeface="Huawei Sans" panose="020C0503030203020204" pitchFamily="34" charset="0"/>
            </a:endParaRPr>
          </a:p>
          <a:p>
            <a:pPr lvl="1"/>
            <a:r>
              <a:rPr lang="zh-CN" altLang="en-US" dirty="0">
                <a:sym typeface="Huawei Sans" panose="020C0503030203020204" pitchFamily="34" charset="0"/>
              </a:rPr>
              <a:t>创建密钥对：本地生成公钥和私钥</a:t>
            </a:r>
            <a:endParaRPr lang="en-US" altLang="zh-CN" dirty="0">
              <a:sym typeface="Huawei Sans" panose="020C0503030203020204" pitchFamily="34" charset="0"/>
            </a:endParaRPr>
          </a:p>
          <a:p>
            <a:pPr lvl="1"/>
            <a:r>
              <a:rPr lang="zh-CN" altLang="en-US" dirty="0">
                <a:sym typeface="Huawei Sans" panose="020C0503030203020204" pitchFamily="34" charset="0"/>
              </a:rPr>
              <a:t>编写</a:t>
            </a:r>
            <a:r>
              <a:rPr lang="en-US" altLang="zh-CN" dirty="0">
                <a:sym typeface="Huawei Sans" panose="020C0503030203020204" pitchFamily="34" charset="0"/>
              </a:rPr>
              <a:t>Python</a:t>
            </a:r>
            <a:r>
              <a:rPr lang="zh-CN" altLang="en-US" dirty="0">
                <a:sym typeface="Huawei Sans" panose="020C0503030203020204" pitchFamily="34" charset="0"/>
              </a:rPr>
              <a:t>代码</a:t>
            </a:r>
            <a:endParaRPr lang="en-US" altLang="zh-CN" dirty="0">
              <a:sym typeface="Huawei Sans" panose="020C0503030203020204" pitchFamily="34" charset="0"/>
            </a:endParaRPr>
          </a:p>
          <a:p>
            <a:pPr lvl="1"/>
            <a:r>
              <a:rPr lang="zh-CN" altLang="en-US" dirty="0">
                <a:sym typeface="Huawei Sans" panose="020C0503030203020204" pitchFamily="34" charset="0"/>
              </a:rPr>
              <a:t>结果验证：查看下载的文件</a:t>
            </a:r>
          </a:p>
        </p:txBody>
      </p:sp>
      <p:grpSp>
        <p:nvGrpSpPr>
          <p:cNvPr id="49" name="组合 48">
            <a:extLst>
              <a:ext uri="{FF2B5EF4-FFF2-40B4-BE49-F238E27FC236}">
                <a16:creationId xmlns="" xmlns:a16="http://schemas.microsoft.com/office/drawing/2014/main" id="{1D3C8CF5-5A8D-4753-9D94-EEA573CC72CB}"/>
              </a:ext>
            </a:extLst>
          </p:cNvPr>
          <p:cNvGrpSpPr/>
          <p:nvPr/>
        </p:nvGrpSpPr>
        <p:grpSpPr bwMode="gray">
          <a:xfrm>
            <a:off x="2084400" y="1854000"/>
            <a:ext cx="7463118" cy="1210928"/>
            <a:chOff x="1990165" y="1344713"/>
            <a:chExt cx="7463118" cy="1210928"/>
          </a:xfrm>
        </p:grpSpPr>
        <p:sp>
          <p:nvSpPr>
            <p:cNvPr id="50" name="矩形: 圆角 23">
              <a:extLst>
                <a:ext uri="{FF2B5EF4-FFF2-40B4-BE49-F238E27FC236}">
                  <a16:creationId xmlns="" xmlns:a16="http://schemas.microsoft.com/office/drawing/2014/main" id="{FCA78E05-2E38-43E2-B379-4EC2C561C5AA}"/>
                </a:ext>
              </a:extLst>
            </p:cNvPr>
            <p:cNvSpPr/>
            <p:nvPr/>
          </p:nvSpPr>
          <p:spPr bwMode="gray">
            <a:xfrm>
              <a:off x="1990165" y="1344713"/>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50">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45279" y="1877723"/>
              <a:ext cx="540000" cy="442800"/>
            </a:xfrm>
            <a:prstGeom prst="rect">
              <a:avLst/>
            </a:prstGeom>
          </p:spPr>
        </p:pic>
        <p:pic>
          <p:nvPicPr>
            <p:cNvPr id="52" name="图片 51"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15207" y="1888868"/>
              <a:ext cx="539063" cy="414000"/>
            </a:xfrm>
            <a:prstGeom prst="rect">
              <a:avLst/>
            </a:prstGeom>
          </p:spPr>
        </p:pic>
        <p:cxnSp>
          <p:nvCxnSpPr>
            <p:cNvPr id="53" name="直接连接符 52">
              <a:extLst>
                <a:ext uri="{FF2B5EF4-FFF2-40B4-BE49-F238E27FC236}">
                  <a16:creationId xmlns="" xmlns:a16="http://schemas.microsoft.com/office/drawing/2014/main" id="{4E6C53B9-8234-4E7F-B6A4-301B84C20E21}"/>
                </a:ext>
              </a:extLst>
            </p:cNvPr>
            <p:cNvCxnSpPr>
              <a:cxnSpLocks/>
              <a:stCxn id="52" idx="1"/>
              <a:endCxn id="51" idx="3"/>
            </p:cNvCxnSpPr>
            <p:nvPr/>
          </p:nvCxnSpPr>
          <p:spPr bwMode="gray">
            <a:xfrm flipH="1">
              <a:off x="4185279" y="2095868"/>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 xmlns:a16="http://schemas.microsoft.com/office/drawing/2014/main" id="{B9781689-051C-471B-87F8-A16330B40AE4}"/>
                </a:ext>
              </a:extLst>
            </p:cNvPr>
            <p:cNvSpPr txBox="1"/>
            <p:nvPr/>
          </p:nvSpPr>
          <p:spPr bwMode="gray">
            <a:xfrm>
              <a:off x="4309508" y="1721532"/>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a:extLst>
                <a:ext uri="{FF2B5EF4-FFF2-40B4-BE49-F238E27FC236}">
                  <a16:creationId xmlns="" xmlns:a16="http://schemas.microsoft.com/office/drawing/2014/main" id="{FDEB4104-2868-4CDC-B074-9C4E6F60E61A}"/>
                </a:ext>
              </a:extLst>
            </p:cNvPr>
            <p:cNvSpPr txBox="1"/>
            <p:nvPr/>
          </p:nvSpPr>
          <p:spPr bwMode="gray">
            <a:xfrm>
              <a:off x="6700900" y="1410100"/>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a:extLst>
                <a:ext uri="{FF2B5EF4-FFF2-40B4-BE49-F238E27FC236}">
                  <a16:creationId xmlns="" xmlns:a16="http://schemas.microsoft.com/office/drawing/2014/main" id="{AD9C5971-1048-41C8-9BC0-07A2BCA40623}"/>
                </a:ext>
              </a:extLst>
            </p:cNvPr>
            <p:cNvSpPr txBox="1"/>
            <p:nvPr/>
          </p:nvSpPr>
          <p:spPr bwMode="gray">
            <a:xfrm>
              <a:off x="3835840" y="1410100"/>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a:extLst>
                <a:ext uri="{FF2B5EF4-FFF2-40B4-BE49-F238E27FC236}">
                  <a16:creationId xmlns="" xmlns:a16="http://schemas.microsoft.com/office/drawing/2014/main" id="{77A4502C-F66C-4C6A-81AF-DBD4FF816CA0}"/>
                </a:ext>
              </a:extLst>
            </p:cNvPr>
            <p:cNvSpPr txBox="1"/>
            <p:nvPr/>
          </p:nvSpPr>
          <p:spPr bwMode="gray">
            <a:xfrm>
              <a:off x="2181109"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a:extLst>
                <a:ext uri="{FF2B5EF4-FFF2-40B4-BE49-F238E27FC236}">
                  <a16:creationId xmlns="" xmlns:a16="http://schemas.microsoft.com/office/drawing/2014/main" id="{B885BED1-0EC0-435F-AECC-01CB43FD768C}"/>
                </a:ext>
              </a:extLst>
            </p:cNvPr>
            <p:cNvSpPr txBox="1"/>
            <p:nvPr/>
          </p:nvSpPr>
          <p:spPr bwMode="gray">
            <a:xfrm>
              <a:off x="7861814"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9" name="组合 58"/>
          <p:cNvGrpSpPr/>
          <p:nvPr/>
        </p:nvGrpSpPr>
        <p:grpSpPr bwMode="gray">
          <a:xfrm>
            <a:off x="1285200" y="1317600"/>
            <a:ext cx="9694258" cy="345607"/>
            <a:chOff x="751840" y="4003281"/>
            <a:chExt cx="9694258" cy="345607"/>
          </a:xfrm>
        </p:grpSpPr>
        <p:sp>
          <p:nvSpPr>
            <p:cNvPr id="60"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2" name="直接箭头连接符 61">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63"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箭头连接符 65">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67" name="直接箭头连接符 66">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68" name="直接箭头连接符 67">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69" name="直接箭头连接符 68">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70"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41301458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案例：服务器端配置</a:t>
            </a:r>
            <a:r>
              <a:rPr lang="en-US" altLang="zh-CN" smtClean="0">
                <a:sym typeface="Huawei Sans" panose="020C0503030203020204" pitchFamily="34" charset="0"/>
              </a:rPr>
              <a:t>SFTP</a:t>
            </a:r>
            <a:r>
              <a:rPr lang="zh-CN" altLang="en-US" smtClean="0">
                <a:sym typeface="Huawei Sans" panose="020C0503030203020204" pitchFamily="34" charset="0"/>
              </a:rPr>
              <a:t>和用户</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3625895"/>
            <a:ext cx="11293475" cy="2211217"/>
          </a:xfrm>
        </p:spPr>
        <p:txBody>
          <a:bodyPr/>
          <a:lstStyle/>
          <a:p>
            <a:pPr marL="342900" indent="-342900">
              <a:buSzPct val="100000"/>
              <a:buFont typeface="+mj-lt"/>
              <a:buAutoNum type="arabicPeriod"/>
            </a:pPr>
            <a:r>
              <a:rPr lang="zh-CN" altLang="en-US" sz="1600" dirty="0" smtClean="0">
                <a:sym typeface="Huawei Sans" panose="020C0503030203020204" pitchFamily="34" charset="0"/>
              </a:rPr>
              <a:t>配置</a:t>
            </a:r>
            <a:r>
              <a:rPr lang="en-US" altLang="zh-CN" sz="1600" dirty="0" smtClean="0">
                <a:sym typeface="Huawei Sans" panose="020C0503030203020204" pitchFamily="34" charset="0"/>
              </a:rPr>
              <a:t>SFTP</a:t>
            </a:r>
            <a:r>
              <a:rPr lang="zh-CN" altLang="en-US" sz="1600" dirty="0" smtClean="0">
                <a:sym typeface="Huawei Sans" panose="020C0503030203020204" pitchFamily="34" charset="0"/>
              </a:rPr>
              <a:t>服务器的管理</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地址，使能</a:t>
            </a:r>
            <a:r>
              <a:rPr lang="en-US" altLang="zh-CN" sz="1600" dirty="0" smtClean="0">
                <a:sym typeface="Huawei Sans" panose="020C0503030203020204" pitchFamily="34" charset="0"/>
              </a:rPr>
              <a:t>SFTP</a:t>
            </a:r>
            <a:r>
              <a:rPr lang="zh-CN" altLang="en-US" sz="1600" dirty="0" smtClean="0">
                <a:sym typeface="Huawei Sans" panose="020C0503030203020204" pitchFamily="34" charset="0"/>
              </a:rPr>
              <a:t>服务器功能。</a:t>
            </a:r>
            <a:endParaRPr lang="en-US" altLang="zh-CN" sz="1600" dirty="0">
              <a:sym typeface="Huawei Sans" panose="020C0503030203020204" pitchFamily="34" charset="0"/>
            </a:endParaRPr>
          </a:p>
        </p:txBody>
      </p:sp>
      <p:sp>
        <p:nvSpPr>
          <p:cNvPr id="5" name="文本框 4">
            <a:extLst>
              <a:ext uri="{FF2B5EF4-FFF2-40B4-BE49-F238E27FC236}">
                <a16:creationId xmlns="" xmlns:a16="http://schemas.microsoft.com/office/drawing/2014/main" id="{773D837C-8D89-4B32-AD1E-4199EF71F59D}"/>
              </a:ext>
            </a:extLst>
          </p:cNvPr>
          <p:cNvSpPr txBox="1"/>
          <p:nvPr/>
        </p:nvSpPr>
        <p:spPr bwMode="gray">
          <a:xfrm>
            <a:off x="546482" y="4150894"/>
            <a:ext cx="4988396" cy="1384995"/>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&lt;HUAWEI&gt;system-view immediately</a:t>
            </a:r>
          </a:p>
          <a:p>
            <a:pPr>
              <a:lnSpc>
                <a:spcPct val="100000"/>
              </a:lnSpc>
            </a:pPr>
            <a:r>
              <a:rPr lang="en-US" altLang="zh-CN" dirty="0">
                <a:sym typeface="Huawei Sans" panose="020C0503030203020204" pitchFamily="34" charset="0"/>
              </a:rPr>
              <a:t>[HUAWEI] </a:t>
            </a:r>
            <a:r>
              <a:rPr lang="en-US" altLang="zh-CN" dirty="0" err="1">
                <a:sym typeface="Huawei Sans" panose="020C0503030203020204" pitchFamily="34" charset="0"/>
              </a:rPr>
              <a:t>sysname</a:t>
            </a:r>
            <a:r>
              <a:rPr lang="en-US" altLang="zh-CN" dirty="0">
                <a:sym typeface="Huawei Sans" panose="020C0503030203020204" pitchFamily="34" charset="0"/>
              </a:rPr>
              <a:t> SFTP Server</a:t>
            </a:r>
          </a:p>
          <a:p>
            <a:pPr>
              <a:lnSpc>
                <a:spcPct val="100000"/>
              </a:lnSpc>
            </a:pPr>
            <a:r>
              <a:rPr lang="en-US" altLang="zh-CN" dirty="0">
                <a:sym typeface="Huawei Sans" panose="020C0503030203020204" pitchFamily="34" charset="0"/>
              </a:rPr>
              <a:t>[SFTP Server] interface GE 1/0/0</a:t>
            </a:r>
          </a:p>
          <a:p>
            <a:pPr>
              <a:lnSpc>
                <a:spcPct val="100000"/>
              </a:lnSpc>
            </a:pPr>
            <a:r>
              <a:rPr lang="en-US" altLang="zh-CN" dirty="0">
                <a:sym typeface="Huawei Sans" panose="020C0503030203020204" pitchFamily="34" charset="0"/>
              </a:rPr>
              <a:t>[SFTP Server-GE1/0/0] </a:t>
            </a:r>
            <a:r>
              <a:rPr lang="en-US" altLang="zh-CN" dirty="0" err="1">
                <a:sym typeface="Huawei Sans" panose="020C0503030203020204" pitchFamily="34" charset="0"/>
              </a:rPr>
              <a:t>ip</a:t>
            </a:r>
            <a:r>
              <a:rPr lang="en-US" altLang="zh-CN" dirty="0">
                <a:sym typeface="Huawei Sans" panose="020C0503030203020204" pitchFamily="34" charset="0"/>
              </a:rPr>
              <a:t> add 192.168.56.100 24</a:t>
            </a:r>
          </a:p>
          <a:p>
            <a:pPr>
              <a:lnSpc>
                <a:spcPct val="100000"/>
              </a:lnSpc>
            </a:pPr>
            <a:r>
              <a:rPr lang="en-US" altLang="zh-CN" dirty="0">
                <a:sym typeface="Huawei Sans" panose="020C0503030203020204" pitchFamily="34" charset="0"/>
              </a:rPr>
              <a:t>[SFTP Server-GE1/0/0] quit </a:t>
            </a: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sftp</a:t>
            </a:r>
            <a:r>
              <a:rPr lang="en-US" altLang="zh-CN" dirty="0">
                <a:sym typeface="Huawei Sans" panose="020C0503030203020204" pitchFamily="34" charset="0"/>
              </a:rPr>
              <a:t> server enable</a:t>
            </a:r>
            <a:endParaRPr lang="zh-CN" altLang="en-US" dirty="0">
              <a:sym typeface="Huawei Sans" panose="020C0503030203020204" pitchFamily="34" charset="0"/>
            </a:endParaRPr>
          </a:p>
        </p:txBody>
      </p:sp>
      <p:sp>
        <p:nvSpPr>
          <p:cNvPr id="6" name="文本框 5">
            <a:extLst>
              <a:ext uri="{FF2B5EF4-FFF2-40B4-BE49-F238E27FC236}">
                <a16:creationId xmlns="" xmlns:a16="http://schemas.microsoft.com/office/drawing/2014/main" id="{773D837C-8D89-4B32-AD1E-4199EF71F59D}"/>
              </a:ext>
            </a:extLst>
          </p:cNvPr>
          <p:cNvSpPr txBox="1"/>
          <p:nvPr/>
        </p:nvSpPr>
        <p:spPr bwMode="gray">
          <a:xfrm>
            <a:off x="6195442" y="4146128"/>
            <a:ext cx="5051678" cy="1169551"/>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user client</a:t>
            </a:r>
            <a:endParaRPr lang="zh-CN" altLang="en-US" dirty="0">
              <a:sym typeface="Huawei Sans" panose="020C0503030203020204" pitchFamily="34" charset="0"/>
            </a:endParaRP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user client authentication-type </a:t>
            </a:r>
            <a:r>
              <a:rPr lang="en-US" altLang="zh-CN" dirty="0" err="1">
                <a:sym typeface="Huawei Sans" panose="020C0503030203020204" pitchFamily="34" charset="0"/>
              </a:rPr>
              <a:t>rsa</a:t>
            </a:r>
            <a:endParaRPr lang="zh-CN" altLang="en-US" dirty="0">
              <a:sym typeface="Huawei Sans" panose="020C0503030203020204" pitchFamily="34" charset="0"/>
            </a:endParaRP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user client service-type </a:t>
            </a:r>
            <a:r>
              <a:rPr lang="en-US" altLang="zh-CN" dirty="0" err="1">
                <a:sym typeface="Huawei Sans" panose="020C0503030203020204" pitchFamily="34" charset="0"/>
              </a:rPr>
              <a:t>sftp</a:t>
            </a:r>
            <a:r>
              <a:rPr lang="en-US" altLang="zh-CN" dirty="0">
                <a:sym typeface="Huawei Sans" panose="020C0503030203020204" pitchFamily="34" charset="0"/>
              </a:rPr>
              <a:t> </a:t>
            </a:r>
            <a:endParaRPr lang="zh-CN" altLang="en-US" dirty="0">
              <a:sym typeface="Huawei Sans" panose="020C0503030203020204" pitchFamily="34" charset="0"/>
            </a:endParaRP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user client </a:t>
            </a:r>
            <a:r>
              <a:rPr lang="en-US" altLang="zh-CN" dirty="0" err="1">
                <a:sym typeface="Huawei Sans" panose="020C0503030203020204" pitchFamily="34" charset="0"/>
              </a:rPr>
              <a:t>sftp</a:t>
            </a:r>
            <a:r>
              <a:rPr lang="en-US" altLang="zh-CN" dirty="0">
                <a:sym typeface="Huawei Sans" panose="020C0503030203020204" pitchFamily="34" charset="0"/>
              </a:rPr>
              <a:t>-directory </a:t>
            </a:r>
            <a:r>
              <a:rPr lang="en-US" altLang="zh-CN" dirty="0" err="1">
                <a:sym typeface="Huawei Sans" panose="020C0503030203020204" pitchFamily="34" charset="0"/>
              </a:rPr>
              <a:t>cfcard</a:t>
            </a:r>
            <a:r>
              <a:rPr lang="en-US" altLang="zh-CN" dirty="0">
                <a:sym typeface="Huawei Sans" panose="020C0503030203020204" pitchFamily="34" charset="0"/>
              </a:rPr>
              <a:t>:</a:t>
            </a:r>
            <a:endParaRPr lang="zh-CN" altLang="en-US" dirty="0">
              <a:sym typeface="Huawei Sans" panose="020C0503030203020204" pitchFamily="34" charset="0"/>
            </a:endParaRP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authorization-type default root</a:t>
            </a:r>
          </a:p>
        </p:txBody>
      </p:sp>
      <p:sp>
        <p:nvSpPr>
          <p:cNvPr id="4" name="文本框 3"/>
          <p:cNvSpPr txBox="1"/>
          <p:nvPr/>
        </p:nvSpPr>
        <p:spPr bwMode="gray">
          <a:xfrm>
            <a:off x="6065520" y="3625895"/>
            <a:ext cx="6126480" cy="40543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42900" indent="-342900" algn="just" defTabSz="914034" fontAlgn="base">
              <a:lnSpc>
                <a:spcPct val="140000"/>
              </a:lnSpc>
              <a:spcBef>
                <a:spcPts val="792"/>
              </a:spcBef>
              <a:buClrTx/>
              <a:buSzPct val="100000"/>
              <a:buFont typeface="+mj-lt"/>
              <a:buAutoNum type="arabicPeriod"/>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base">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buFont typeface="+mj-lt"/>
              <a:buAutoNum type="arabicPeriod" startAt="2"/>
            </a:pPr>
            <a:r>
              <a:rPr lang="zh-CN" altLang="en-US" dirty="0" smtClean="0">
                <a:sym typeface="Huawei Sans" panose="020C0503030203020204" pitchFamily="34" charset="0"/>
              </a:rPr>
              <a:t>创建</a:t>
            </a:r>
            <a:r>
              <a:rPr lang="en-US" altLang="zh-CN" dirty="0">
                <a:sym typeface="Huawei Sans" panose="020C0503030203020204" pitchFamily="34" charset="0"/>
              </a:rPr>
              <a:t>SSH</a:t>
            </a:r>
            <a:r>
              <a:rPr lang="zh-CN" altLang="en-US" dirty="0">
                <a:sym typeface="Huawei Sans" panose="020C0503030203020204" pitchFamily="34" charset="0"/>
              </a:rPr>
              <a:t>用户</a:t>
            </a:r>
            <a:r>
              <a:rPr lang="en-US" altLang="zh-CN" dirty="0">
                <a:sym typeface="Huawei Sans" panose="020C0503030203020204" pitchFamily="34" charset="0"/>
              </a:rPr>
              <a:t>client</a:t>
            </a:r>
            <a:r>
              <a:rPr lang="zh-CN" altLang="en-US" dirty="0">
                <a:sym typeface="Huawei Sans" panose="020C0503030203020204" pitchFamily="34" charset="0"/>
              </a:rPr>
              <a:t>并配置认证类型和服务类型。</a:t>
            </a:r>
            <a:endParaRPr lang="en-US" altLang="zh-CN" dirty="0">
              <a:sym typeface="Huawei Sans" panose="020C0503030203020204" pitchFamily="34" charset="0"/>
            </a:endParaRPr>
          </a:p>
        </p:txBody>
      </p:sp>
      <p:grpSp>
        <p:nvGrpSpPr>
          <p:cNvPr id="29" name="组合 28">
            <a:extLst>
              <a:ext uri="{FF2B5EF4-FFF2-40B4-BE49-F238E27FC236}">
                <a16:creationId xmlns="" xmlns:a16="http://schemas.microsoft.com/office/drawing/2014/main" id="{1D3C8CF5-5A8D-4753-9D94-EEA573CC72CB}"/>
              </a:ext>
            </a:extLst>
          </p:cNvPr>
          <p:cNvGrpSpPr/>
          <p:nvPr/>
        </p:nvGrpSpPr>
        <p:grpSpPr bwMode="gray">
          <a:xfrm>
            <a:off x="2084400" y="1854000"/>
            <a:ext cx="7463118" cy="1210928"/>
            <a:chOff x="1990165" y="1344713"/>
            <a:chExt cx="7463118" cy="1210928"/>
          </a:xfrm>
        </p:grpSpPr>
        <p:sp>
          <p:nvSpPr>
            <p:cNvPr id="30" name="矩形: 圆角 23">
              <a:extLst>
                <a:ext uri="{FF2B5EF4-FFF2-40B4-BE49-F238E27FC236}">
                  <a16:creationId xmlns="" xmlns:a16="http://schemas.microsoft.com/office/drawing/2014/main" id="{FCA78E05-2E38-43E2-B379-4EC2C561C5AA}"/>
                </a:ext>
              </a:extLst>
            </p:cNvPr>
            <p:cNvSpPr/>
            <p:nvPr/>
          </p:nvSpPr>
          <p:spPr bwMode="gray">
            <a:xfrm>
              <a:off x="1990165" y="1344713"/>
              <a:ext cx="7463118" cy="1210928"/>
            </a:xfrm>
            <a:prstGeom prst="round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a:extLst>
                <a:ext uri="{FF2B5EF4-FFF2-40B4-BE49-F238E27FC236}">
                  <a16:creationId xmlns="" xmlns:a16="http://schemas.microsoft.com/office/drawing/2014/main" id="{865642D9-F5C4-4F05-AB6D-EC41C4249A5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645279" y="1877723"/>
              <a:ext cx="540000" cy="442800"/>
            </a:xfrm>
            <a:prstGeom prst="rect">
              <a:avLst/>
            </a:prstGeom>
          </p:spPr>
        </p:pic>
        <p:pic>
          <p:nvPicPr>
            <p:cNvPr id="32" name="图片 31" descr="PC.png">
              <a:extLst>
                <a:ext uri="{FF2B5EF4-FFF2-40B4-BE49-F238E27FC236}">
                  <a16:creationId xmlns="" xmlns:a16="http://schemas.microsoft.com/office/drawing/2014/main" id="{FAF8B3F2-9812-44D2-88D0-3D714BD62BC0}"/>
                </a:ext>
              </a:extLst>
            </p:cNvPr>
            <p:cNvPicPr>
              <a:picLocks noChangeAspect="1"/>
            </p:cNvPicPr>
            <p:nvPr/>
          </p:nvPicPr>
          <p:blipFill>
            <a:blip r:embed="rId4" cstate="print"/>
            <a:stretch>
              <a:fillRect/>
            </a:stretch>
          </p:blipFill>
          <p:spPr bwMode="gray">
            <a:xfrm>
              <a:off x="7115207" y="1888868"/>
              <a:ext cx="539063" cy="414000"/>
            </a:xfrm>
            <a:prstGeom prst="rect">
              <a:avLst/>
            </a:prstGeom>
          </p:spPr>
        </p:pic>
        <p:cxnSp>
          <p:nvCxnSpPr>
            <p:cNvPr id="33" name="直接连接符 32">
              <a:extLst>
                <a:ext uri="{FF2B5EF4-FFF2-40B4-BE49-F238E27FC236}">
                  <a16:creationId xmlns="" xmlns:a16="http://schemas.microsoft.com/office/drawing/2014/main" id="{4E6C53B9-8234-4E7F-B6A4-301B84C20E21}"/>
                </a:ext>
              </a:extLst>
            </p:cNvPr>
            <p:cNvCxnSpPr>
              <a:cxnSpLocks/>
              <a:stCxn id="32" idx="1"/>
              <a:endCxn id="31" idx="3"/>
            </p:cNvCxnSpPr>
            <p:nvPr/>
          </p:nvCxnSpPr>
          <p:spPr bwMode="gray">
            <a:xfrm flipH="1">
              <a:off x="4185279" y="2095868"/>
              <a:ext cx="2929928" cy="3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 xmlns:a16="http://schemas.microsoft.com/office/drawing/2014/main" id="{B9781689-051C-471B-87F8-A16330B40AE4}"/>
                </a:ext>
              </a:extLst>
            </p:cNvPr>
            <p:cNvSpPr txBox="1"/>
            <p:nvPr/>
          </p:nvSpPr>
          <p:spPr bwMode="gray">
            <a:xfrm>
              <a:off x="4309508" y="1721532"/>
              <a:ext cx="94609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 xmlns:a16="http://schemas.microsoft.com/office/drawing/2014/main" id="{FDEB4104-2868-4CDC-B074-9C4E6F60E61A}"/>
                </a:ext>
              </a:extLst>
            </p:cNvPr>
            <p:cNvSpPr txBox="1"/>
            <p:nvPr/>
          </p:nvSpPr>
          <p:spPr bwMode="gray">
            <a:xfrm>
              <a:off x="6700900" y="1410100"/>
              <a:ext cx="1367682"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 xmlns:a16="http://schemas.microsoft.com/office/drawing/2014/main" id="{AD9C5971-1048-41C8-9BC0-07A2BCA40623}"/>
                </a:ext>
              </a:extLst>
            </p:cNvPr>
            <p:cNvSpPr txBox="1"/>
            <p:nvPr/>
          </p:nvSpPr>
          <p:spPr bwMode="gray">
            <a:xfrm>
              <a:off x="3835840" y="1410100"/>
              <a:ext cx="1598516"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 xmlns:a16="http://schemas.microsoft.com/office/drawing/2014/main" id="{77A4502C-F66C-4C6A-81AF-DBD4FF816CA0}"/>
                </a:ext>
              </a:extLst>
            </p:cNvPr>
            <p:cNvSpPr txBox="1"/>
            <p:nvPr/>
          </p:nvSpPr>
          <p:spPr bwMode="gray">
            <a:xfrm>
              <a:off x="2181109"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 xmlns:a16="http://schemas.microsoft.com/office/drawing/2014/main" id="{B885BED1-0EC0-435F-AECC-01CB43FD768C}"/>
                </a:ext>
              </a:extLst>
            </p:cNvPr>
            <p:cNvSpPr txBox="1"/>
            <p:nvPr/>
          </p:nvSpPr>
          <p:spPr bwMode="gray">
            <a:xfrm>
              <a:off x="7861814" y="1950177"/>
              <a:ext cx="1250663" cy="338554"/>
            </a:xfrm>
            <a:prstGeom prst="rect">
              <a:avLst/>
            </a:prstGeom>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客户端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1285200" y="1317600"/>
            <a:ext cx="9694258" cy="345607"/>
            <a:chOff x="751840" y="4003281"/>
            <a:chExt cx="9694258" cy="345607"/>
          </a:xfrm>
        </p:grpSpPr>
        <p:sp>
          <p:nvSpPr>
            <p:cNvPr id="40"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配置用户</a:t>
              </a:r>
            </a:p>
          </p:txBody>
        </p:sp>
        <p:cxnSp>
          <p:nvCxnSpPr>
            <p:cNvPr id="42" name="直接箭头连接符 41">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43"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箭头连接符 45">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47" name="直接箭头连接符 46">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8" name="直接箭头连接符 47">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9" name="直接箭头连接符 48">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50"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9691240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案例：客户端创建</a:t>
            </a:r>
            <a:r>
              <a:rPr lang="en-US" altLang="zh-CN" smtClean="0">
                <a:sym typeface="Huawei Sans" panose="020C0503030203020204" pitchFamily="34" charset="0"/>
              </a:rPr>
              <a:t>RSA</a:t>
            </a:r>
            <a:r>
              <a:rPr lang="zh-CN" altLang="en-US" smtClean="0">
                <a:sym typeface="Huawei Sans" panose="020C0503030203020204" pitchFamily="34" charset="0"/>
              </a:rPr>
              <a:t>密钥对</a:t>
            </a:r>
            <a:endParaRPr lang="zh-CN" altLang="en-US">
              <a:sym typeface="Huawei Sans" panose="020C0503030203020204" pitchFamily="34" charset="0"/>
            </a:endParaRPr>
          </a:p>
        </p:txBody>
      </p:sp>
      <p:grpSp>
        <p:nvGrpSpPr>
          <p:cNvPr id="31" name="组合 30"/>
          <p:cNvGrpSpPr/>
          <p:nvPr/>
        </p:nvGrpSpPr>
        <p:grpSpPr bwMode="gray">
          <a:xfrm>
            <a:off x="1285200" y="1317600"/>
            <a:ext cx="9694258" cy="345607"/>
            <a:chOff x="751840" y="4003281"/>
            <a:chExt cx="9694258" cy="345607"/>
          </a:xfrm>
        </p:grpSpPr>
        <p:sp>
          <p:nvSpPr>
            <p:cNvPr id="32"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3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创建密钥对</a:t>
              </a:r>
            </a:p>
          </p:txBody>
        </p:sp>
        <p:sp>
          <p:nvSpPr>
            <p:cNvPr id="3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0" name="直接箭头连接符 3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4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3" name="文本占位符 2"/>
          <p:cNvSpPr txBox="1">
            <a:spLocks/>
          </p:cNvSpPr>
          <p:nvPr/>
        </p:nvSpPr>
        <p:spPr bwMode="gray">
          <a:xfrm>
            <a:off x="550800" y="1800000"/>
            <a:ext cx="11276183" cy="3539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42900" indent="-342900" algn="just" defTabSz="914034" fontAlgn="base">
              <a:lnSpc>
                <a:spcPct val="140000"/>
              </a:lnSpc>
              <a:spcBef>
                <a:spcPts val="792"/>
              </a:spcBef>
              <a:buClrTx/>
              <a:buSzPct val="100000"/>
              <a:buFont typeface="+mj-lt"/>
              <a:buAutoNum type="arabicPeriod"/>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base">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buFont typeface="+mj-lt"/>
              <a:buAutoNum type="arabicPeriod" startAt="3"/>
            </a:pPr>
            <a:r>
              <a:rPr lang="zh-CN" altLang="en-US" dirty="0" smtClean="0">
                <a:sym typeface="Huawei Sans" panose="020C0503030203020204" pitchFamily="34" charset="0"/>
              </a:rPr>
              <a:t>客户端</a:t>
            </a:r>
            <a:r>
              <a:rPr lang="zh-CN" altLang="en-US" dirty="0">
                <a:sym typeface="Huawei Sans" panose="020C0503030203020204" pitchFamily="34" charset="0"/>
              </a:rPr>
              <a:t>使用</a:t>
            </a:r>
            <a:r>
              <a:rPr lang="en-US" altLang="zh-CN" dirty="0" err="1">
                <a:sym typeface="Huawei Sans" panose="020C0503030203020204" pitchFamily="34" charset="0"/>
              </a:rPr>
              <a:t>Git</a:t>
            </a:r>
            <a:r>
              <a:rPr lang="en-US" altLang="zh-CN" dirty="0">
                <a:sym typeface="Huawei Sans" panose="020C0503030203020204" pitchFamily="34" charset="0"/>
              </a:rPr>
              <a:t> Bash</a:t>
            </a:r>
            <a:r>
              <a:rPr lang="zh-CN" altLang="en-US" dirty="0">
                <a:sym typeface="Huawei Sans" panose="020C0503030203020204" pitchFamily="34" charset="0"/>
              </a:rPr>
              <a:t>创建</a:t>
            </a:r>
            <a:r>
              <a:rPr lang="en-US" altLang="zh-CN" dirty="0">
                <a:sym typeface="Huawei Sans" panose="020C0503030203020204" pitchFamily="34" charset="0"/>
              </a:rPr>
              <a:t>RSA</a:t>
            </a:r>
            <a:r>
              <a:rPr lang="zh-CN" altLang="en-US" dirty="0">
                <a:sym typeface="Huawei Sans" panose="020C0503030203020204" pitchFamily="34" charset="0"/>
              </a:rPr>
              <a:t>密钥对（私钥</a:t>
            </a:r>
            <a:r>
              <a:rPr lang="en-US" altLang="zh-CN" dirty="0" err="1">
                <a:sym typeface="Huawei Sans" panose="020C0503030203020204" pitchFamily="34" charset="0"/>
              </a:rPr>
              <a:t>id_rsa</a:t>
            </a:r>
            <a:r>
              <a:rPr lang="zh-CN" altLang="en-US" dirty="0">
                <a:sym typeface="Huawei Sans" panose="020C0503030203020204" pitchFamily="34" charset="0"/>
              </a:rPr>
              <a:t>和公钥</a:t>
            </a:r>
            <a:r>
              <a:rPr lang="en-US" altLang="zh-CN" dirty="0">
                <a:sym typeface="Huawei Sans" panose="020C0503030203020204" pitchFamily="34" charset="0"/>
              </a:rPr>
              <a:t>id_rsa.pub</a:t>
            </a:r>
            <a:r>
              <a:rPr lang="zh-CN" altLang="en-US" dirty="0">
                <a:sym typeface="Huawei Sans" panose="020C0503030203020204" pitchFamily="34" charset="0"/>
              </a:rPr>
              <a:t>），并查看公钥。</a:t>
            </a:r>
            <a:endParaRPr lang="en-US" altLang="zh-CN" dirty="0">
              <a:sym typeface="Huawei Sans" panose="020C0503030203020204" pitchFamily="34" charset="0"/>
            </a:endParaRPr>
          </a:p>
        </p:txBody>
      </p:sp>
      <p:sp>
        <p:nvSpPr>
          <p:cNvPr id="44" name="文本框 43">
            <a:extLst>
              <a:ext uri="{FF2B5EF4-FFF2-40B4-BE49-F238E27FC236}">
                <a16:creationId xmlns="" xmlns:a16="http://schemas.microsoft.com/office/drawing/2014/main" id="{773D837C-8D89-4B32-AD1E-4199EF71F59D}"/>
              </a:ext>
            </a:extLst>
          </p:cNvPr>
          <p:cNvSpPr txBox="1"/>
          <p:nvPr/>
        </p:nvSpPr>
        <p:spPr bwMode="gray">
          <a:xfrm>
            <a:off x="4699259" y="2357677"/>
            <a:ext cx="5977238" cy="2398798"/>
          </a:xfrm>
          <a:prstGeom prst="rect">
            <a:avLst/>
          </a:prstGeom>
          <a:noFill/>
          <a:ln>
            <a:solidFill>
              <a:srgbClr val="94DAE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dirty="0" err="1">
                <a:sym typeface="Huawei Sans" panose="020C0503030203020204" pitchFamily="34" charset="0"/>
              </a:rPr>
              <a:t>exampleuser@exampleuser</a:t>
            </a:r>
            <a:r>
              <a:rPr lang="en-US" altLang="zh-CN" dirty="0">
                <a:sym typeface="Huawei Sans" panose="020C0503030203020204" pitchFamily="34" charset="0"/>
              </a:rPr>
              <a:t> MINGW64 ~</a:t>
            </a:r>
          </a:p>
          <a:p>
            <a:r>
              <a:rPr lang="en-US" altLang="zh-CN" dirty="0">
                <a:sym typeface="Huawei Sans" panose="020C0503030203020204" pitchFamily="34" charset="0"/>
              </a:rPr>
              <a:t>$ </a:t>
            </a:r>
            <a:r>
              <a:rPr lang="en-US" altLang="zh-CN" dirty="0" err="1">
                <a:sym typeface="Huawei Sans" panose="020C0503030203020204" pitchFamily="34" charset="0"/>
              </a:rPr>
              <a:t>ssh-keygen</a:t>
            </a:r>
            <a:r>
              <a:rPr lang="en-US" altLang="zh-CN" dirty="0">
                <a:sym typeface="Huawei Sans" panose="020C0503030203020204" pitchFamily="34" charset="0"/>
              </a:rPr>
              <a:t> -t </a:t>
            </a:r>
            <a:r>
              <a:rPr lang="en-US" altLang="zh-CN" dirty="0" err="1">
                <a:sym typeface="Huawei Sans" panose="020C0503030203020204" pitchFamily="34" charset="0"/>
              </a:rPr>
              <a:t>rsa</a:t>
            </a:r>
            <a:endParaRPr lang="en-US" altLang="zh-CN" dirty="0">
              <a:sym typeface="Huawei Sans" panose="020C0503030203020204" pitchFamily="34" charset="0"/>
            </a:endParaRPr>
          </a:p>
          <a:p>
            <a:r>
              <a:rPr lang="en-US" altLang="zh-CN" dirty="0">
                <a:sym typeface="Huawei Sans" panose="020C0503030203020204" pitchFamily="34" charset="0"/>
              </a:rPr>
              <a:t>Generating public/private </a:t>
            </a:r>
            <a:r>
              <a:rPr lang="en-US" altLang="zh-CN" dirty="0" err="1">
                <a:sym typeface="Huawei Sans" panose="020C0503030203020204" pitchFamily="34" charset="0"/>
              </a:rPr>
              <a:t>rsa</a:t>
            </a:r>
            <a:r>
              <a:rPr lang="en-US" altLang="zh-CN" dirty="0">
                <a:sym typeface="Huawei Sans" panose="020C0503030203020204" pitchFamily="34" charset="0"/>
              </a:rPr>
              <a:t> key pair.</a:t>
            </a:r>
          </a:p>
          <a:p>
            <a:r>
              <a:rPr lang="en-US" altLang="zh-CN" dirty="0">
                <a:sym typeface="Huawei Sans" panose="020C0503030203020204" pitchFamily="34" charset="0"/>
              </a:rPr>
              <a:t>Enter file in which to save the key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id_rsa</a:t>
            </a:r>
            <a:r>
              <a:rPr lang="en-US" altLang="zh-CN" dirty="0">
                <a:sym typeface="Huawei Sans" panose="020C0503030203020204" pitchFamily="34" charset="0"/>
              </a:rPr>
              <a:t>):</a:t>
            </a:r>
          </a:p>
          <a:p>
            <a:r>
              <a:rPr lang="en-US" altLang="zh-CN" dirty="0">
                <a:sym typeface="Huawei Sans" panose="020C0503030203020204" pitchFamily="34" charset="0"/>
              </a:rPr>
              <a:t>Enter passphrase (empty for no passphrase):</a:t>
            </a:r>
          </a:p>
          <a:p>
            <a:r>
              <a:rPr lang="en-US" altLang="zh-CN" dirty="0">
                <a:sym typeface="Huawei Sans" panose="020C0503030203020204" pitchFamily="34" charset="0"/>
              </a:rPr>
              <a:t>Enter same passphrase again:</a:t>
            </a:r>
          </a:p>
          <a:p>
            <a:r>
              <a:rPr lang="en-US" altLang="zh-CN" dirty="0">
                <a:sym typeface="Huawei Sans" panose="020C0503030203020204" pitchFamily="34" charset="0"/>
              </a:rPr>
              <a:t>Your identification has been saved in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id_rsa</a:t>
            </a:r>
            <a:endParaRPr lang="en-US" altLang="zh-CN" dirty="0">
              <a:sym typeface="Huawei Sans" panose="020C0503030203020204" pitchFamily="34" charset="0"/>
            </a:endParaRPr>
          </a:p>
          <a:p>
            <a:r>
              <a:rPr lang="en-US" altLang="zh-CN" dirty="0">
                <a:sym typeface="Huawei Sans" panose="020C0503030203020204" pitchFamily="34" charset="0"/>
              </a:rPr>
              <a:t>Your public key has been saved in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/id_rsa.pub</a:t>
            </a:r>
          </a:p>
        </p:txBody>
      </p:sp>
      <p:sp>
        <p:nvSpPr>
          <p:cNvPr id="45" name="文本框 44">
            <a:extLst>
              <a:ext uri="{FF2B5EF4-FFF2-40B4-BE49-F238E27FC236}">
                <a16:creationId xmlns="" xmlns:a16="http://schemas.microsoft.com/office/drawing/2014/main" id="{76555FBF-27B5-43BA-BEF8-5D6B48E01858}"/>
              </a:ext>
            </a:extLst>
          </p:cNvPr>
          <p:cNvSpPr txBox="1"/>
          <p:nvPr/>
        </p:nvSpPr>
        <p:spPr bwMode="gray">
          <a:xfrm>
            <a:off x="1815147" y="2549537"/>
            <a:ext cx="2475333" cy="1015663"/>
          </a:xfrm>
          <a:prstGeom prst="rect">
            <a:avLst/>
          </a:prstGeom>
          <a:noFill/>
        </p:spPr>
        <p:txBody>
          <a:bodyPr wrap="square" rtlCol="0">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生成</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RSA</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公钥</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私钥对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决定密钥保存路径</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6" name="文本框 45">
            <a:extLst>
              <a:ext uri="{FF2B5EF4-FFF2-40B4-BE49-F238E27FC236}">
                <a16:creationId xmlns="" xmlns:a16="http://schemas.microsoft.com/office/drawing/2014/main" id="{2054DF83-260B-4E69-B8A9-C0910F849C57}"/>
              </a:ext>
            </a:extLst>
          </p:cNvPr>
          <p:cNvSpPr txBox="1"/>
          <p:nvPr/>
        </p:nvSpPr>
        <p:spPr bwMode="gray">
          <a:xfrm>
            <a:off x="4300067" y="2565276"/>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47" name="文本框 46">
            <a:extLst>
              <a:ext uri="{FF2B5EF4-FFF2-40B4-BE49-F238E27FC236}">
                <a16:creationId xmlns="" xmlns:a16="http://schemas.microsoft.com/office/drawing/2014/main" id="{773D837C-8D89-4B32-AD1E-4199EF71F59D}"/>
              </a:ext>
            </a:extLst>
          </p:cNvPr>
          <p:cNvSpPr txBox="1"/>
          <p:nvPr/>
        </p:nvSpPr>
        <p:spPr bwMode="gray">
          <a:xfrm>
            <a:off x="4699259" y="4833395"/>
            <a:ext cx="5977238" cy="350865"/>
          </a:xfrm>
          <a:prstGeom prst="rect">
            <a:avLst/>
          </a:prstGeom>
          <a:noFill/>
          <a:ln>
            <a:solidFill>
              <a:srgbClr val="94DAE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 cat /c/Users/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/id_rsa.pub</a:t>
            </a:r>
          </a:p>
        </p:txBody>
      </p:sp>
      <p:sp>
        <p:nvSpPr>
          <p:cNvPr id="48" name="文本框 47">
            <a:extLst>
              <a:ext uri="{FF2B5EF4-FFF2-40B4-BE49-F238E27FC236}">
                <a16:creationId xmlns="" xmlns:a16="http://schemas.microsoft.com/office/drawing/2014/main" id="{76555FBF-27B5-43BA-BEF8-5D6B48E01858}"/>
              </a:ext>
            </a:extLst>
          </p:cNvPr>
          <p:cNvSpPr txBox="1"/>
          <p:nvPr/>
        </p:nvSpPr>
        <p:spPr bwMode="gray">
          <a:xfrm>
            <a:off x="1827992" y="4752074"/>
            <a:ext cx="2289445" cy="400110"/>
          </a:xfrm>
          <a:prstGeom prst="rect">
            <a:avLst/>
          </a:prstGeom>
          <a:noFill/>
        </p:spPr>
        <p:txBody>
          <a:bodyPr wrap="square" rtlCol="0">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查看公钥</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9" name="文本框 48">
            <a:extLst>
              <a:ext uri="{FF2B5EF4-FFF2-40B4-BE49-F238E27FC236}">
                <a16:creationId xmlns="" xmlns:a16="http://schemas.microsoft.com/office/drawing/2014/main" id="{2054DF83-260B-4E69-B8A9-C0910F849C57}"/>
              </a:ext>
            </a:extLst>
          </p:cNvPr>
          <p:cNvSpPr txBox="1"/>
          <p:nvPr/>
        </p:nvSpPr>
        <p:spPr bwMode="gray">
          <a:xfrm>
            <a:off x="3574829" y="4802987"/>
            <a:ext cx="1124430" cy="367473"/>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0" name="文本框 49">
            <a:extLst>
              <a:ext uri="{FF2B5EF4-FFF2-40B4-BE49-F238E27FC236}">
                <a16:creationId xmlns="" xmlns:a16="http://schemas.microsoft.com/office/drawing/2014/main" id="{2054DF83-260B-4E69-B8A9-C0910F849C57}"/>
              </a:ext>
            </a:extLst>
          </p:cNvPr>
          <p:cNvSpPr txBox="1"/>
          <p:nvPr/>
        </p:nvSpPr>
        <p:spPr bwMode="gray">
          <a:xfrm>
            <a:off x="4300067" y="3857354"/>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1" name="文本框 50">
            <a:extLst>
              <a:ext uri="{FF2B5EF4-FFF2-40B4-BE49-F238E27FC236}">
                <a16:creationId xmlns="" xmlns:a16="http://schemas.microsoft.com/office/drawing/2014/main" id="{2054DF83-260B-4E69-B8A9-C0910F849C57}"/>
              </a:ext>
            </a:extLst>
          </p:cNvPr>
          <p:cNvSpPr txBox="1"/>
          <p:nvPr/>
        </p:nvSpPr>
        <p:spPr bwMode="gray">
          <a:xfrm>
            <a:off x="4300067" y="3107107"/>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2" name="文本框 51">
            <a:extLst>
              <a:ext uri="{FF2B5EF4-FFF2-40B4-BE49-F238E27FC236}">
                <a16:creationId xmlns="" xmlns:a16="http://schemas.microsoft.com/office/drawing/2014/main" id="{2054DF83-260B-4E69-B8A9-C0910F849C57}"/>
              </a:ext>
            </a:extLst>
          </p:cNvPr>
          <p:cNvSpPr txBox="1"/>
          <p:nvPr/>
        </p:nvSpPr>
        <p:spPr bwMode="gray">
          <a:xfrm>
            <a:off x="4300067" y="3568812"/>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3" name="矩形 52"/>
          <p:cNvSpPr/>
          <p:nvPr/>
        </p:nvSpPr>
        <p:spPr bwMode="gray">
          <a:xfrm>
            <a:off x="1803902" y="3918567"/>
            <a:ext cx="2523979" cy="370935"/>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客户端的私钥文件路径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4" name="矩形 53"/>
          <p:cNvSpPr/>
          <p:nvPr/>
        </p:nvSpPr>
        <p:spPr bwMode="gray">
          <a:xfrm>
            <a:off x="1827992" y="4337135"/>
            <a:ext cx="2523979" cy="400110"/>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客户端的公钥文件路径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5" name="矩形 54"/>
          <p:cNvSpPr/>
          <p:nvPr/>
        </p:nvSpPr>
        <p:spPr bwMode="gray">
          <a:xfrm>
            <a:off x="1815147" y="3389792"/>
            <a:ext cx="2302290" cy="400110"/>
          </a:xfrm>
          <a:prstGeom prst="rect">
            <a:avLst/>
          </a:prstGeom>
        </p:spPr>
        <p:txBody>
          <a:bodyPr wrap="squar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输入通行短语</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6" name="文本框 55">
            <a:extLst>
              <a:ext uri="{FF2B5EF4-FFF2-40B4-BE49-F238E27FC236}">
                <a16:creationId xmlns="" xmlns:a16="http://schemas.microsoft.com/office/drawing/2014/main" id="{2054DF83-260B-4E69-B8A9-C0910F849C57}"/>
              </a:ext>
            </a:extLst>
          </p:cNvPr>
          <p:cNvSpPr txBox="1"/>
          <p:nvPr/>
        </p:nvSpPr>
        <p:spPr bwMode="gray">
          <a:xfrm>
            <a:off x="4300067" y="4351787"/>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7" name="文本框 56">
            <a:extLst>
              <a:ext uri="{FF2B5EF4-FFF2-40B4-BE49-F238E27FC236}">
                <a16:creationId xmlns="" xmlns:a16="http://schemas.microsoft.com/office/drawing/2014/main" id="{2054DF83-260B-4E69-B8A9-C0910F849C57}"/>
              </a:ext>
            </a:extLst>
          </p:cNvPr>
          <p:cNvSpPr txBox="1"/>
          <p:nvPr/>
        </p:nvSpPr>
        <p:spPr bwMode="gray">
          <a:xfrm>
            <a:off x="4300067" y="3312315"/>
            <a:ext cx="399192" cy="400110"/>
          </a:xfrm>
          <a:prstGeom prst="rect">
            <a:avLst/>
          </a:prstGeom>
          <a:noFill/>
        </p:spPr>
        <p:txBody>
          <a:bodyPr wrap="square" rtlCol="0">
            <a:spAutoFit/>
          </a:bodyPr>
          <a:lstStyle/>
          <a:p>
            <a:pPr algn="r" fontAlgn="auto">
              <a:lnSpc>
                <a:spcPts val="24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58" name="矩形 57"/>
          <p:cNvSpPr/>
          <p:nvPr/>
        </p:nvSpPr>
        <p:spPr bwMode="gray">
          <a:xfrm>
            <a:off x="1803902" y="3630900"/>
            <a:ext cx="2486578" cy="400110"/>
          </a:xfrm>
          <a:prstGeom prst="rect">
            <a:avLst/>
          </a:prstGeom>
        </p:spPr>
        <p:txBody>
          <a:bodyPr wrap="none">
            <a:spAutoFit/>
          </a:bodyPr>
          <a:lstStyle/>
          <a:p>
            <a:pPr fontAlgn="auto">
              <a:lnSpc>
                <a:spcPts val="2400"/>
              </a:lnSpc>
              <a:spcBef>
                <a:spcPts val="0"/>
              </a:spcBef>
              <a:spcAft>
                <a:spcPts val="0"/>
              </a:spcAft>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重复输入通行短语</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回车默认</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34207258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案例：服务器端配置公钥</a:t>
            </a:r>
            <a:endParaRPr lang="zh-CN" altLang="en-US">
              <a:sym typeface="Huawei Sans" panose="020C0503030203020204" pitchFamily="34" charset="0"/>
            </a:endParaRPr>
          </a:p>
        </p:txBody>
      </p:sp>
      <p:grpSp>
        <p:nvGrpSpPr>
          <p:cNvPr id="18" name="组合 17"/>
          <p:cNvGrpSpPr/>
          <p:nvPr/>
        </p:nvGrpSpPr>
        <p:grpSpPr bwMode="gray">
          <a:xfrm>
            <a:off x="1285200" y="1317600"/>
            <a:ext cx="9694258" cy="345607"/>
            <a:chOff x="751840" y="4003281"/>
            <a:chExt cx="9694258" cy="345607"/>
          </a:xfrm>
        </p:grpSpPr>
        <p:sp>
          <p:nvSpPr>
            <p:cNvPr id="19"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箭头连接符 20">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35"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配置公钥</a:t>
              </a:r>
            </a:p>
          </p:txBody>
        </p:sp>
        <p:sp>
          <p:nvSpPr>
            <p:cNvPr id="36"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9" name="直接箭头连接符 38">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0" name="直接箭头连接符 39">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41" name="直接箭头连接符 40">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42"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文本占位符 2"/>
          <p:cNvSpPr txBox="1">
            <a:spLocks/>
          </p:cNvSpPr>
          <p:nvPr/>
        </p:nvSpPr>
        <p:spPr bwMode="gray">
          <a:xfrm>
            <a:off x="550800" y="1800000"/>
            <a:ext cx="11276183" cy="34658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42900" indent="-342900" algn="just" defTabSz="914034" fontAlgn="base">
              <a:lnSpc>
                <a:spcPct val="140000"/>
              </a:lnSpc>
              <a:spcBef>
                <a:spcPts val="792"/>
              </a:spcBef>
              <a:buClrTx/>
              <a:buSzPct val="100000"/>
              <a:buFont typeface="+mj-lt"/>
              <a:buAutoNum type="arabicPeriod"/>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base">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buFont typeface="+mj-lt"/>
              <a:buAutoNum type="arabicPeriod" startAt="4"/>
            </a:pPr>
            <a:r>
              <a:rPr lang="zh-CN" altLang="en-US" dirty="0" smtClean="0">
                <a:sym typeface="Huawei Sans" panose="020C0503030203020204" pitchFamily="34" charset="0"/>
              </a:rPr>
              <a:t>服务器</a:t>
            </a:r>
            <a:r>
              <a:rPr lang="zh-CN" altLang="en-US" dirty="0">
                <a:sym typeface="Huawei Sans" panose="020C0503030203020204" pitchFamily="34" charset="0"/>
              </a:rPr>
              <a:t>端添加客户端生成的公钥，并将公钥分配给用户。</a:t>
            </a:r>
            <a:endParaRPr lang="en-US" altLang="zh-CN" dirty="0">
              <a:sym typeface="Huawei Sans" panose="020C0503030203020204" pitchFamily="34" charset="0"/>
            </a:endParaRPr>
          </a:p>
          <a:p>
            <a:pPr>
              <a:buAutoNum type="arabicPeriod" startAt="4"/>
            </a:pPr>
            <a:endParaRPr lang="en-US" altLang="zh-CN" dirty="0">
              <a:sym typeface="Huawei Sans" panose="020C0503030203020204" pitchFamily="34" charset="0"/>
            </a:endParaRPr>
          </a:p>
          <a:p>
            <a:pPr>
              <a:buAutoNum type="arabicPeriod" startAt="4"/>
            </a:pPr>
            <a:endParaRPr lang="en-US" altLang="zh-CN" dirty="0">
              <a:sym typeface="Huawei Sans" panose="020C0503030203020204" pitchFamily="34" charset="0"/>
            </a:endParaRPr>
          </a:p>
        </p:txBody>
      </p:sp>
      <p:sp>
        <p:nvSpPr>
          <p:cNvPr id="23" name="文本框 22">
            <a:extLst>
              <a:ext uri="{FF2B5EF4-FFF2-40B4-BE49-F238E27FC236}">
                <a16:creationId xmlns="" xmlns:a16="http://schemas.microsoft.com/office/drawing/2014/main" id="{773D837C-8D89-4B32-AD1E-4199EF71F59D}"/>
              </a:ext>
            </a:extLst>
          </p:cNvPr>
          <p:cNvSpPr txBox="1"/>
          <p:nvPr/>
        </p:nvSpPr>
        <p:spPr bwMode="gray">
          <a:xfrm>
            <a:off x="871601" y="2319738"/>
            <a:ext cx="9737517" cy="2677656"/>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rsa</a:t>
            </a:r>
            <a:r>
              <a:rPr lang="en-US" altLang="zh-CN" dirty="0">
                <a:sym typeface="Huawei Sans" panose="020C0503030203020204" pitchFamily="34" charset="0"/>
              </a:rPr>
              <a:t> peer-public-key rsa01 encoding-type </a:t>
            </a:r>
            <a:r>
              <a:rPr lang="en-US" altLang="zh-CN" dirty="0" err="1">
                <a:sym typeface="Huawei Sans" panose="020C0503030203020204" pitchFamily="34" charset="0"/>
              </a:rPr>
              <a:t>openssh</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[SFTP Server-</a:t>
            </a:r>
            <a:r>
              <a:rPr lang="en-US" altLang="zh-CN" dirty="0" err="1">
                <a:sym typeface="Huawei Sans" panose="020C0503030203020204" pitchFamily="34" charset="0"/>
              </a:rPr>
              <a:t>rsa</a:t>
            </a:r>
            <a:r>
              <a:rPr lang="en-US" altLang="zh-CN" dirty="0">
                <a:sym typeface="Huawei Sans" panose="020C0503030203020204" pitchFamily="34" charset="0"/>
              </a:rPr>
              <a:t>-public-key] public-key-code begin</a:t>
            </a:r>
          </a:p>
          <a:p>
            <a:pPr>
              <a:lnSpc>
                <a:spcPct val="100000"/>
              </a:lnSpc>
            </a:pPr>
            <a:r>
              <a:rPr lang="en-US" altLang="zh-CN" dirty="0">
                <a:sym typeface="Huawei Sans" panose="020C0503030203020204" pitchFamily="34" charset="0"/>
              </a:rPr>
              <a:t>[SFTP Server-</a:t>
            </a:r>
            <a:r>
              <a:rPr lang="en-US" altLang="zh-CN" dirty="0" err="1">
                <a:sym typeface="Huawei Sans" panose="020C0503030203020204" pitchFamily="34" charset="0"/>
              </a:rPr>
              <a:t>rsa</a:t>
            </a:r>
            <a:r>
              <a:rPr lang="en-US" altLang="zh-CN" dirty="0">
                <a:sym typeface="Huawei Sans" panose="020C0503030203020204" pitchFamily="34" charset="0"/>
              </a:rPr>
              <a:t>-public-key-</a:t>
            </a:r>
            <a:r>
              <a:rPr lang="en-US" altLang="zh-CN" dirty="0" err="1">
                <a:sym typeface="Huawei Sans" panose="020C0503030203020204" pitchFamily="34" charset="0"/>
              </a:rPr>
              <a:t>rsa</a:t>
            </a:r>
            <a:r>
              <a:rPr lang="en-US" altLang="zh-CN" dirty="0">
                <a:sym typeface="Huawei Sans" panose="020C0503030203020204" pitchFamily="34" charset="0"/>
              </a:rPr>
              <a:t>-key-code] </a:t>
            </a:r>
            <a:r>
              <a:rPr lang="en-US" altLang="zh-CN" dirty="0" err="1">
                <a:sym typeface="Huawei Sans" panose="020C0503030203020204" pitchFamily="34" charset="0"/>
              </a:rPr>
              <a:t>ssh-rsa</a:t>
            </a:r>
            <a:r>
              <a:rPr lang="en-US" altLang="zh-CN" dirty="0">
                <a:sym typeface="Huawei Sans" panose="020C0503030203020204" pitchFamily="34" charset="0"/>
              </a:rPr>
              <a:t> AAAAB3NzaC1yc2EAAAADAQABAAABgQDwLRx8MmuNs500dRemhFHdDbBmxco8Bp+wyqwaGuHJZBCjyFQV6AB+ezu5t0eWE3mw57IZfgmvR+MjBcliZv/x3l8oUMLcQKlKslYQDtvfUCZd+za1suXAPB/dyPKMhYPAzSDA7K+xqCWlmU3q06vxHEPLMv4A5IX54rKtBnK92fWjl9ACU+ak0ZlHxbKwOFn1tr0GJBazcInEs9DKGwkTTqJdu9+5hI5NxXTSbM3an53805ZbCU18xPy57g7MZC89vbdsag/uvQmFkLJ3arts/Om2R7fhR92EU/SNPmVy+qDEdwZEVdubdqJInW+8zzVkPGlnb2oH5hwH78Ksklbxb0fEfmGR0mS1ZAi3ZHUGcEEjuFZona3+5Z0Un2OPxfXwvoljVDusbYcugJHo9Ssurz05GzVuamQZlcO2JYY6FhtLUAImtXGQ80MpTjB0lcprkAZCib8agYOtVQNTZ7iB0g2EcBN9UTyMz7sh8RtrBDj445r+XPaDE8LmpDRKHMk= </a:t>
            </a:r>
          </a:p>
          <a:p>
            <a:pPr>
              <a:lnSpc>
                <a:spcPct val="100000"/>
              </a:lnSpc>
            </a:pPr>
            <a:r>
              <a:rPr lang="en-US" altLang="zh-CN" dirty="0">
                <a:sym typeface="Huawei Sans" panose="020C0503030203020204" pitchFamily="34" charset="0"/>
              </a:rPr>
              <a:t>[SFTP Server-</a:t>
            </a:r>
            <a:r>
              <a:rPr lang="en-US" altLang="zh-CN" dirty="0" err="1">
                <a:sym typeface="Huawei Sans" panose="020C0503030203020204" pitchFamily="34" charset="0"/>
              </a:rPr>
              <a:t>rsa</a:t>
            </a:r>
            <a:r>
              <a:rPr lang="en-US" altLang="zh-CN" dirty="0">
                <a:sym typeface="Huawei Sans" panose="020C0503030203020204" pitchFamily="34" charset="0"/>
              </a:rPr>
              <a:t>-public-key-</a:t>
            </a:r>
            <a:r>
              <a:rPr lang="en-US" altLang="zh-CN" dirty="0" err="1">
                <a:sym typeface="Huawei Sans" panose="020C0503030203020204" pitchFamily="34" charset="0"/>
              </a:rPr>
              <a:t>rsa</a:t>
            </a:r>
            <a:r>
              <a:rPr lang="en-US" altLang="zh-CN" dirty="0">
                <a:sym typeface="Huawei Sans" panose="020C0503030203020204" pitchFamily="34" charset="0"/>
              </a:rPr>
              <a:t>-key-code] public-key-code end</a:t>
            </a:r>
          </a:p>
          <a:p>
            <a:pPr>
              <a:lnSpc>
                <a:spcPct val="100000"/>
              </a:lnSpc>
            </a:pPr>
            <a:r>
              <a:rPr lang="en-US" altLang="zh-CN" dirty="0">
                <a:sym typeface="Huawei Sans" panose="020C0503030203020204" pitchFamily="34" charset="0"/>
              </a:rPr>
              <a:t>[SFTP Server-key-code] peer-public-key end</a:t>
            </a:r>
          </a:p>
          <a:p>
            <a:pPr>
              <a:lnSpc>
                <a:spcPct val="100000"/>
              </a:lnSpc>
            </a:pPr>
            <a:r>
              <a:rPr lang="en-US" altLang="zh-CN" dirty="0">
                <a:sym typeface="Huawei Sans" panose="020C0503030203020204" pitchFamily="34" charset="0"/>
              </a:rPr>
              <a:t>[SFTP Server] </a:t>
            </a:r>
            <a:r>
              <a:rPr lang="en-US" altLang="zh-CN" dirty="0" err="1">
                <a:sym typeface="Huawei Sans" panose="020C0503030203020204" pitchFamily="34" charset="0"/>
              </a:rPr>
              <a:t>ssh</a:t>
            </a:r>
            <a:r>
              <a:rPr lang="en-US" altLang="zh-CN" dirty="0">
                <a:sym typeface="Huawei Sans" panose="020C0503030203020204" pitchFamily="34" charset="0"/>
              </a:rPr>
              <a:t> user client assign </a:t>
            </a:r>
            <a:r>
              <a:rPr lang="en-US" altLang="zh-CN" dirty="0" err="1">
                <a:sym typeface="Huawei Sans" panose="020C0503030203020204" pitchFamily="34" charset="0"/>
              </a:rPr>
              <a:t>rsa</a:t>
            </a:r>
            <a:r>
              <a:rPr lang="en-US" altLang="zh-CN" dirty="0">
                <a:sym typeface="Huawei Sans" panose="020C0503030203020204" pitchFamily="34" charset="0"/>
              </a:rPr>
              <a:t>-key rsa01</a:t>
            </a:r>
          </a:p>
        </p:txBody>
      </p:sp>
    </p:spTree>
    <p:extLst>
      <p:ext uri="{BB962C8B-B14F-4D97-AF65-F5344CB8AC3E}">
        <p14:creationId xmlns:p14="http://schemas.microsoft.com/office/powerpoint/2010/main" val="214923897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案例：客户端编写</a:t>
            </a:r>
            <a:r>
              <a:rPr lang="en-US" altLang="zh-CN" smtClean="0">
                <a:sym typeface="Huawei Sans" panose="020C0503030203020204" pitchFamily="34" charset="0"/>
              </a:rPr>
              <a:t>Python</a:t>
            </a:r>
            <a:r>
              <a:rPr lang="zh-CN" altLang="en-US" smtClean="0">
                <a:sym typeface="Huawei Sans" panose="020C0503030203020204" pitchFamily="34" charset="0"/>
              </a:rPr>
              <a:t>代码</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2095079"/>
            <a:ext cx="11293475" cy="3832476"/>
          </a:xfrm>
          <a:noFill/>
          <a:ln w="9525">
            <a:noFill/>
            <a:miter lim="800000"/>
            <a:headEnd/>
            <a:tailEnd/>
          </a:ln>
        </p:spPr>
        <p:txBody>
          <a:bodyPr vert="horz" wrap="square" lIns="80141" tIns="40071" rIns="80141" bIns="40071" numCol="1" anchor="t" anchorCtr="0" compatLnSpc="1">
            <a:prstTxWarp prst="textNoShape">
              <a:avLst/>
            </a:prstTxWarp>
          </a:bodyPr>
          <a:lstStyle/>
          <a:p>
            <a:pPr marL="342900" indent="-342900">
              <a:buSzPct val="100000"/>
              <a:buFont typeface="+mj-lt"/>
              <a:buAutoNum type="arabicPeriod" startAt="5"/>
            </a:pPr>
            <a:r>
              <a:rPr lang="zh-CN" altLang="en-US" sz="1600" dirty="0" smtClean="0">
                <a:sym typeface="Huawei Sans" panose="020C0503030203020204" pitchFamily="34" charset="0"/>
              </a:rPr>
              <a:t>客户端</a:t>
            </a:r>
            <a:r>
              <a:rPr lang="zh-CN" altLang="en-US" sz="1600" dirty="0">
                <a:sym typeface="Huawei Sans" panose="020C0503030203020204" pitchFamily="34" charset="0"/>
              </a:rPr>
              <a:t>编写和运行</a:t>
            </a:r>
            <a:r>
              <a:rPr lang="en-US" altLang="zh-CN" sz="1600" dirty="0">
                <a:sym typeface="Huawei Sans" panose="020C0503030203020204" pitchFamily="34" charset="0"/>
              </a:rPr>
              <a:t>Python</a:t>
            </a:r>
            <a:r>
              <a:rPr lang="zh-CN" altLang="en-US" sz="1600" dirty="0">
                <a:sym typeface="Huawei Sans" panose="020C0503030203020204" pitchFamily="34" charset="0"/>
              </a:rPr>
              <a:t>代码，</a:t>
            </a:r>
            <a:r>
              <a:rPr lang="en-US" altLang="zh-CN" sz="1600" dirty="0">
                <a:sym typeface="Huawei Sans" panose="020C0503030203020204" pitchFamily="34" charset="0"/>
              </a:rPr>
              <a:t>SFTP</a:t>
            </a:r>
            <a:r>
              <a:rPr lang="zh-CN" altLang="en-US" sz="1600" dirty="0">
                <a:sym typeface="Huawei Sans" panose="020C0503030203020204" pitchFamily="34" charset="0"/>
              </a:rPr>
              <a:t>至服务器进行文件上传和下载。</a:t>
            </a:r>
            <a:endParaRPr lang="en-US" altLang="zh-CN" sz="1600" dirty="0">
              <a:sym typeface="Huawei Sans" panose="020C0503030203020204" pitchFamily="34" charset="0"/>
            </a:endParaRPr>
          </a:p>
          <a:p>
            <a:pPr marL="342900" indent="-342900">
              <a:buSzPct val="100000"/>
              <a:buFont typeface="+mj-lt"/>
              <a:buAutoNum type="arabicPeriod" startAt="5"/>
            </a:pPr>
            <a:endParaRPr lang="zh-CN" altLang="en-US" sz="1600" dirty="0">
              <a:sym typeface="Huawei Sans" panose="020C0503030203020204" pitchFamily="34" charset="0"/>
            </a:endParaRPr>
          </a:p>
          <a:p>
            <a:pPr marL="342900" indent="-342900">
              <a:buSzPct val="100000"/>
              <a:buFont typeface="+mj-lt"/>
              <a:buAutoNum type="arabicPeriod" startAt="5"/>
            </a:pPr>
            <a:endParaRPr lang="zh-CN" altLang="en-US" sz="1600" dirty="0">
              <a:sym typeface="Huawei Sans" panose="020C0503030203020204" pitchFamily="34" charset="0"/>
            </a:endParaRPr>
          </a:p>
        </p:txBody>
      </p:sp>
      <p:grpSp>
        <p:nvGrpSpPr>
          <p:cNvPr id="25" name="组合 24"/>
          <p:cNvGrpSpPr/>
          <p:nvPr/>
        </p:nvGrpSpPr>
        <p:grpSpPr bwMode="gray">
          <a:xfrm>
            <a:off x="2202108" y="2690984"/>
            <a:ext cx="8777350" cy="2677656"/>
            <a:chOff x="3087552" y="1955125"/>
            <a:chExt cx="8777350" cy="2677656"/>
          </a:xfrm>
        </p:grpSpPr>
        <p:sp>
          <p:nvSpPr>
            <p:cNvPr id="4" name="文本框 3">
              <a:extLst>
                <a:ext uri="{FF2B5EF4-FFF2-40B4-BE49-F238E27FC236}">
                  <a16:creationId xmlns="" xmlns:a16="http://schemas.microsoft.com/office/drawing/2014/main" id="{E4E30EB8-DE34-4595-BCF8-67A3852D8F2A}"/>
                </a:ext>
              </a:extLst>
            </p:cNvPr>
            <p:cNvSpPr txBox="1"/>
            <p:nvPr/>
          </p:nvSpPr>
          <p:spPr bwMode="gray">
            <a:xfrm>
              <a:off x="5147369" y="1955125"/>
              <a:ext cx="6717533" cy="2657331"/>
            </a:xfrm>
            <a:prstGeom prst="rect">
              <a:avLst/>
            </a:prstGeom>
            <a:noFill/>
            <a:ln>
              <a:solidFill>
                <a:srgbClr val="56C4D2"/>
              </a:solid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import </a:t>
              </a:r>
              <a:r>
                <a:rPr lang="en-US" altLang="zh-CN" dirty="0" err="1">
                  <a:sym typeface="Huawei Sans" panose="020C0503030203020204" pitchFamily="34" charset="0"/>
                </a:rPr>
                <a:t>paramiko</a:t>
              </a:r>
              <a:endParaRPr lang="en-US" altLang="zh-CN" dirty="0">
                <a:sym typeface="Huawei Sans" panose="020C0503030203020204" pitchFamily="34" charset="0"/>
              </a:endParaRPr>
            </a:p>
            <a:p>
              <a:r>
                <a:rPr lang="en-US" altLang="zh-CN" dirty="0">
                  <a:sym typeface="Huawei Sans" panose="020C0503030203020204" pitchFamily="34" charset="0"/>
                </a:rPr>
                <a:t>key=</a:t>
              </a:r>
              <a:r>
                <a:rPr lang="en-US" altLang="zh-CN" dirty="0" err="1">
                  <a:sym typeface="Huawei Sans" panose="020C0503030203020204" pitchFamily="34" charset="0"/>
                </a:rPr>
                <a:t>paramiko.RSAKey.from_private_key_file</a:t>
              </a:r>
              <a:r>
                <a:rPr lang="en-US" altLang="zh-CN" dirty="0">
                  <a:sym typeface="Huawei Sans" panose="020C0503030203020204" pitchFamily="34" charset="0"/>
                </a:rPr>
                <a:t>(</a:t>
              </a:r>
              <a:r>
                <a:rPr lang="en-US" altLang="zh-CN" dirty="0" err="1">
                  <a:sym typeface="Huawei Sans" panose="020C0503030203020204" pitchFamily="34" charset="0"/>
                </a:rPr>
                <a:t>r'C</a:t>
              </a:r>
              <a:r>
                <a:rPr lang="en-US" altLang="zh-CN" dirty="0">
                  <a:sym typeface="Huawei Sans" panose="020C0503030203020204" pitchFamily="34" charset="0"/>
                </a:rPr>
                <a:t>:\Users\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id_rsa</a:t>
              </a:r>
              <a:r>
                <a:rPr lang="en-US" altLang="zh-CN" dirty="0">
                  <a:sym typeface="Huawei Sans" panose="020C0503030203020204" pitchFamily="34" charset="0"/>
                </a:rPr>
                <a:t>')</a:t>
              </a:r>
            </a:p>
            <a:p>
              <a:r>
                <a:rPr lang="en-US" altLang="zh-CN" dirty="0" err="1">
                  <a:sym typeface="Huawei Sans" panose="020C0503030203020204" pitchFamily="34" charset="0"/>
                </a:rPr>
                <a:t>tran</a:t>
              </a:r>
              <a:r>
                <a:rPr lang="en-US" altLang="zh-CN" dirty="0">
                  <a:sym typeface="Huawei Sans" panose="020C0503030203020204" pitchFamily="34" charset="0"/>
                </a:rPr>
                <a:t> = </a:t>
              </a:r>
              <a:r>
                <a:rPr lang="en-US" altLang="zh-CN" dirty="0" err="1">
                  <a:sym typeface="Huawei Sans" panose="020C0503030203020204" pitchFamily="34" charset="0"/>
                </a:rPr>
                <a:t>paramiko.Transport</a:t>
              </a:r>
              <a:r>
                <a:rPr lang="en-US" altLang="zh-CN" dirty="0">
                  <a:sym typeface="Huawei Sans" panose="020C0503030203020204" pitchFamily="34" charset="0"/>
                </a:rPr>
                <a:t>(('192.168.56.100', 22)) </a:t>
              </a:r>
              <a:r>
                <a:rPr lang="en-US" altLang="zh-CN" dirty="0" err="1">
                  <a:sym typeface="Huawei Sans" panose="020C0503030203020204" pitchFamily="34" charset="0"/>
                </a:rPr>
                <a:t>tran.connect</a:t>
              </a:r>
              <a:r>
                <a:rPr lang="en-US" altLang="zh-CN" dirty="0">
                  <a:sym typeface="Huawei Sans" panose="020C0503030203020204" pitchFamily="34" charset="0"/>
                </a:rPr>
                <a:t>(username=‘client’, </a:t>
              </a:r>
              <a:r>
                <a:rPr lang="en-US" altLang="zh-CN" dirty="0" err="1">
                  <a:sym typeface="Huawei Sans" panose="020C0503030203020204" pitchFamily="34" charset="0"/>
                </a:rPr>
                <a:t>pkey</a:t>
              </a:r>
              <a:r>
                <a:rPr lang="en-US" altLang="zh-CN" dirty="0">
                  <a:sym typeface="Huawei Sans" panose="020C0503030203020204" pitchFamily="34" charset="0"/>
                </a:rPr>
                <a:t>=key)</a:t>
              </a:r>
            </a:p>
            <a:p>
              <a:r>
                <a:rPr lang="en-US" altLang="zh-CN" dirty="0" err="1">
                  <a:sym typeface="Huawei Sans" panose="020C0503030203020204" pitchFamily="34" charset="0"/>
                </a:rPr>
                <a:t>sftp</a:t>
              </a:r>
              <a:r>
                <a:rPr lang="en-US" altLang="zh-CN" dirty="0">
                  <a:sym typeface="Huawei Sans" panose="020C0503030203020204" pitchFamily="34" charset="0"/>
                </a:rPr>
                <a:t> = </a:t>
              </a:r>
              <a:r>
                <a:rPr lang="en-US" altLang="zh-CN" dirty="0" err="1">
                  <a:sym typeface="Huawei Sans" panose="020C0503030203020204" pitchFamily="34" charset="0"/>
                </a:rPr>
                <a:t>paramiko.SFTPClient.from_transport</a:t>
              </a:r>
              <a:r>
                <a:rPr lang="en-US" altLang="zh-CN" dirty="0">
                  <a:sym typeface="Huawei Sans" panose="020C0503030203020204" pitchFamily="34" charset="0"/>
                </a:rPr>
                <a:t>(</a:t>
              </a:r>
              <a:r>
                <a:rPr lang="en-US" altLang="zh-CN" dirty="0" err="1">
                  <a:sym typeface="Huawei Sans" panose="020C0503030203020204" pitchFamily="34" charset="0"/>
                </a:rPr>
                <a:t>tran</a:t>
              </a:r>
              <a:r>
                <a:rPr lang="en-US" altLang="zh-CN" dirty="0">
                  <a:sym typeface="Huawei Sans" panose="020C0503030203020204" pitchFamily="34" charset="0"/>
                </a:rPr>
                <a:t>) </a:t>
              </a:r>
              <a:r>
                <a:rPr lang="en-US" altLang="zh-CN" dirty="0" err="1">
                  <a:sym typeface="Huawei Sans" panose="020C0503030203020204" pitchFamily="34" charset="0"/>
                </a:rPr>
                <a:t>local_path</a:t>
              </a:r>
              <a:r>
                <a:rPr lang="en-US" altLang="zh-CN" dirty="0">
                  <a:sym typeface="Huawei Sans" panose="020C0503030203020204" pitchFamily="34" charset="0"/>
                </a:rPr>
                <a:t>=</a:t>
              </a:r>
              <a:r>
                <a:rPr lang="en-US" altLang="zh-CN" dirty="0" err="1">
                  <a:sym typeface="Huawei Sans" panose="020C0503030203020204" pitchFamily="34" charset="0"/>
                </a:rPr>
                <a:t>r'C</a:t>
              </a:r>
              <a:r>
                <a:rPr lang="en-US" altLang="zh-CN" dirty="0">
                  <a:sym typeface="Huawei Sans" panose="020C0503030203020204" pitchFamily="34" charset="0"/>
                </a:rPr>
                <a:t>:\Users\</a:t>
              </a:r>
              <a:r>
                <a:rPr lang="en-US" altLang="zh-CN" dirty="0" err="1">
                  <a:sym typeface="Huawei Sans" panose="020C0503030203020204" pitchFamily="34" charset="0"/>
                </a:rPr>
                <a:t>exampleuser</a:t>
              </a:r>
              <a:r>
                <a:rPr lang="en-US" altLang="zh-CN" dirty="0">
                  <a:sym typeface="Huawei Sans" panose="020C0503030203020204" pitchFamily="34" charset="0"/>
                </a:rPr>
                <a:t>\.</a:t>
              </a:r>
              <a:r>
                <a:rPr lang="en-US" altLang="zh-CN" dirty="0" err="1">
                  <a:sym typeface="Huawei Sans" panose="020C0503030203020204" pitchFamily="34" charset="0"/>
                </a:rPr>
                <a:t>ssh</a:t>
              </a:r>
              <a:r>
                <a:rPr lang="en-US" altLang="zh-CN" dirty="0">
                  <a:sym typeface="Huawei Sans" panose="020C0503030203020204" pitchFamily="34" charset="0"/>
                </a:rPr>
                <a:t>\</a:t>
              </a:r>
              <a:r>
                <a:rPr lang="en-US" altLang="zh-CN" dirty="0" err="1">
                  <a:sym typeface="Huawei Sans" panose="020C0503030203020204" pitchFamily="34" charset="0"/>
                </a:rPr>
                <a:t>vrptest.cfg</a:t>
              </a:r>
              <a:r>
                <a:rPr lang="en-US" altLang="zh-CN" dirty="0">
                  <a:sym typeface="Huawei Sans" panose="020C0503030203020204" pitchFamily="34" charset="0"/>
                </a:rPr>
                <a:t>'</a:t>
              </a:r>
            </a:p>
            <a:p>
              <a:r>
                <a:rPr lang="en-US" altLang="zh-CN" dirty="0" err="1">
                  <a:sym typeface="Huawei Sans" panose="020C0503030203020204" pitchFamily="34" charset="0"/>
                </a:rPr>
                <a:t>remote_path</a:t>
              </a:r>
              <a:r>
                <a:rPr lang="en-US" altLang="zh-CN" dirty="0">
                  <a:sym typeface="Huawei Sans" panose="020C0503030203020204" pitchFamily="34" charset="0"/>
                </a:rPr>
                <a:t>='/</a:t>
              </a:r>
              <a:r>
                <a:rPr lang="en-US" altLang="zh-CN" dirty="0" err="1">
                  <a:sym typeface="Huawei Sans" panose="020C0503030203020204" pitchFamily="34" charset="0"/>
                </a:rPr>
                <a:t>vrpcfg.cfg</a:t>
              </a:r>
              <a:r>
                <a:rPr lang="en-US" altLang="zh-CN" dirty="0">
                  <a:sym typeface="Huawei Sans" panose="020C0503030203020204" pitchFamily="34" charset="0"/>
                </a:rPr>
                <a:t>'</a:t>
              </a:r>
            </a:p>
            <a:p>
              <a:r>
                <a:rPr lang="en-US" altLang="zh-CN" dirty="0" err="1">
                  <a:sym typeface="Huawei Sans" panose="020C0503030203020204" pitchFamily="34" charset="0"/>
                </a:rPr>
                <a:t>sftp.get</a:t>
              </a:r>
              <a:r>
                <a:rPr lang="en-US" altLang="zh-CN" dirty="0">
                  <a:sym typeface="Huawei Sans" panose="020C0503030203020204" pitchFamily="34" charset="0"/>
                </a:rPr>
                <a:t>(</a:t>
              </a:r>
              <a:r>
                <a:rPr lang="en-US" altLang="zh-CN" dirty="0" err="1">
                  <a:sym typeface="Huawei Sans" panose="020C0503030203020204" pitchFamily="34" charset="0"/>
                </a:rPr>
                <a:t>remote_path</a:t>
              </a:r>
              <a:r>
                <a:rPr lang="en-US" altLang="zh-CN" dirty="0">
                  <a:sym typeface="Huawei Sans" panose="020C0503030203020204" pitchFamily="34" charset="0"/>
                </a:rPr>
                <a:t>, </a:t>
              </a:r>
              <a:r>
                <a:rPr lang="en-US" altLang="zh-CN" dirty="0" err="1">
                  <a:sym typeface="Huawei Sans" panose="020C0503030203020204" pitchFamily="34" charset="0"/>
                </a:rPr>
                <a:t>local_path</a:t>
              </a:r>
              <a:r>
                <a:rPr lang="en-US" altLang="zh-CN" dirty="0">
                  <a:sym typeface="Huawei Sans" panose="020C0503030203020204" pitchFamily="34" charset="0"/>
                </a:rPr>
                <a:t>) </a:t>
              </a:r>
            </a:p>
            <a:p>
              <a:r>
                <a:rPr lang="en-US" altLang="zh-CN" dirty="0" err="1">
                  <a:sym typeface="Huawei Sans" panose="020C0503030203020204" pitchFamily="34" charset="0"/>
                </a:rPr>
                <a:t>sftp.put</a:t>
              </a:r>
              <a:r>
                <a:rPr lang="en-US" altLang="zh-CN" dirty="0">
                  <a:sym typeface="Huawei Sans" panose="020C0503030203020204" pitchFamily="34" charset="0"/>
                </a:rPr>
                <a:t>(</a:t>
              </a:r>
              <a:r>
                <a:rPr lang="en-US" altLang="zh-CN" dirty="0" err="1">
                  <a:sym typeface="Huawei Sans" panose="020C0503030203020204" pitchFamily="34" charset="0"/>
                </a:rPr>
                <a:t>local_path</a:t>
              </a:r>
              <a:r>
                <a:rPr lang="en-US" altLang="zh-CN" dirty="0">
                  <a:sym typeface="Huawei Sans" panose="020C0503030203020204" pitchFamily="34" charset="0"/>
                </a:rPr>
                <a:t>,’/</a:t>
              </a:r>
              <a:r>
                <a:rPr lang="en-US" altLang="zh-CN" dirty="0" err="1">
                  <a:sym typeface="Huawei Sans" panose="020C0503030203020204" pitchFamily="34" charset="0"/>
                </a:rPr>
                <a:t>test.cfg</a:t>
              </a:r>
              <a:r>
                <a:rPr lang="en-US" altLang="zh-CN" dirty="0">
                  <a:sym typeface="Huawei Sans" panose="020C0503030203020204" pitchFamily="34" charset="0"/>
                </a:rPr>
                <a:t>’)</a:t>
              </a:r>
            </a:p>
            <a:p>
              <a:r>
                <a:rPr lang="en-US" altLang="zh-CN" dirty="0" err="1">
                  <a:sym typeface="Huawei Sans" panose="020C0503030203020204" pitchFamily="34" charset="0"/>
                </a:rPr>
                <a:t>tran.close</a:t>
              </a:r>
              <a:r>
                <a:rPr lang="en-US" altLang="zh-CN" dirty="0">
                  <a:sym typeface="Huawei Sans" panose="020C0503030203020204" pitchFamily="34" charset="0"/>
                </a:rPr>
                <a:t>()</a:t>
              </a:r>
            </a:p>
          </p:txBody>
        </p:sp>
        <p:sp>
          <p:nvSpPr>
            <p:cNvPr id="5" name="文本框 4">
              <a:extLst>
                <a:ext uri="{FF2B5EF4-FFF2-40B4-BE49-F238E27FC236}">
                  <a16:creationId xmlns="" xmlns:a16="http://schemas.microsoft.com/office/drawing/2014/main" id="{76555FBF-27B5-43BA-BEF8-5D6B48E01858}"/>
                </a:ext>
              </a:extLst>
            </p:cNvPr>
            <p:cNvSpPr txBox="1"/>
            <p:nvPr/>
          </p:nvSpPr>
          <p:spPr bwMode="gray">
            <a:xfrm>
              <a:off x="3087552" y="1955125"/>
              <a:ext cx="4088199" cy="2677656"/>
            </a:xfrm>
            <a:prstGeom prst="rect">
              <a:avLst/>
            </a:prstGeom>
            <a:noFill/>
          </p:spPr>
          <p:txBody>
            <a:bodyPr wrap="square" rtlCol="0">
              <a:spAutoFit/>
            </a:bodyPr>
            <a:lstStyle/>
            <a:p>
              <a:pPr fontAlgn="auto">
                <a:lnSpc>
                  <a:spcPct val="120000"/>
                </a:lnSpc>
                <a:spcBef>
                  <a:spcPts val="0"/>
                </a:spcBef>
                <a:spcAft>
                  <a:spcPts val="0"/>
                </a:spcAft>
              </a:pP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导入</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模块  </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RSA</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密钥对象</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20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实例化会话通道</a:t>
              </a: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建立</a:t>
              </a: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SSH</a:t>
              </a: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会话连接</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SFTP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通道</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设置本地路径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设置远端路径</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进行下载操作</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进行上传操作</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ct val="120000"/>
                </a:lnSpc>
              </a:pPr>
              <a:r>
                <a:rPr lang="zh-CN" altLang="en-US"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关闭会话</a:t>
              </a:r>
              <a:endPar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文本框 10">
              <a:extLst>
                <a:ext uri="{FF2B5EF4-FFF2-40B4-BE49-F238E27FC236}">
                  <a16:creationId xmlns="" xmlns:a16="http://schemas.microsoft.com/office/drawing/2014/main" id="{2054DF83-260B-4E69-B8A9-C0910F849C57}"/>
                </a:ext>
              </a:extLst>
            </p:cNvPr>
            <p:cNvSpPr txBox="1"/>
            <p:nvPr/>
          </p:nvSpPr>
          <p:spPr bwMode="gray">
            <a:xfrm>
              <a:off x="3991503" y="1955125"/>
              <a:ext cx="1124430" cy="2677656"/>
            </a:xfrm>
            <a:prstGeom prst="rect">
              <a:avLst/>
            </a:prstGeom>
            <a:noFill/>
          </p:spPr>
          <p:txBody>
            <a:bodyPr wrap="square" rtlCol="0">
              <a:spAutoFit/>
            </a:bodyPr>
            <a:lstStyle/>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r" fontAlgn="auto">
                <a:lnSpc>
                  <a:spcPct val="120000"/>
                </a:lnSpc>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grpSp>
      <p:grpSp>
        <p:nvGrpSpPr>
          <p:cNvPr id="26" name="组合 25"/>
          <p:cNvGrpSpPr/>
          <p:nvPr/>
        </p:nvGrpSpPr>
        <p:grpSpPr bwMode="gray">
          <a:xfrm>
            <a:off x="1285200" y="1317600"/>
            <a:ext cx="9694258" cy="345607"/>
            <a:chOff x="751840" y="4003281"/>
            <a:chExt cx="9694258" cy="345607"/>
          </a:xfrm>
        </p:grpSpPr>
        <p:sp>
          <p:nvSpPr>
            <p:cNvPr id="27"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30"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代码</a:t>
              </a:r>
            </a:p>
          </p:txBody>
        </p:sp>
        <p:cxnSp>
          <p:nvCxnSpPr>
            <p:cNvPr id="33" name="直接箭头连接符 32">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4" name="直接箭头连接符 33">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5" name="直接箭头连接符 34">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6" name="直接箭头连接符 35">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37"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11663815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案例：客户端和服务器端结果验证</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1952533"/>
            <a:ext cx="11293475" cy="3067875"/>
          </a:xfrm>
        </p:spPr>
        <p:txBody>
          <a:bodyPr/>
          <a:lstStyle/>
          <a:p>
            <a:pPr marL="342900" indent="-342900">
              <a:buSzPct val="100000"/>
              <a:buFont typeface="+mj-lt"/>
              <a:buAutoNum type="arabicPeriod" startAt="6"/>
            </a:pPr>
            <a:r>
              <a:rPr lang="zh-CN" altLang="en-US" sz="1600" dirty="0" smtClean="0">
                <a:sym typeface="Huawei Sans" panose="020C0503030203020204" pitchFamily="34" charset="0"/>
              </a:rPr>
              <a:t>运行</a:t>
            </a:r>
            <a:r>
              <a:rPr lang="zh-CN" altLang="en-US" sz="1600" dirty="0" smtClean="0">
                <a:sym typeface="Huawei Sans" panose="020C0503030203020204" pitchFamily="34" charset="0"/>
              </a:rPr>
              <a:t>代码，客户端成功下载指定文件到本地。</a:t>
            </a:r>
            <a:endParaRPr lang="en-US" altLang="zh-CN" sz="1600" dirty="0" smtClean="0">
              <a:sym typeface="Huawei Sans" panose="020C0503030203020204" pitchFamily="34" charset="0"/>
            </a:endParaRPr>
          </a:p>
          <a:p>
            <a:endParaRPr lang="en-US" altLang="zh-CN" sz="1600" dirty="0" smtClean="0">
              <a:sym typeface="Huawei Sans" panose="020C0503030203020204" pitchFamily="34" charset="0"/>
            </a:endParaRPr>
          </a:p>
          <a:p>
            <a:pPr marL="342900" indent="-342900">
              <a:buSzPct val="100000"/>
              <a:buFont typeface="+mj-lt"/>
              <a:buAutoNum type="arabicPeriod" startAt="7"/>
            </a:pPr>
            <a:r>
              <a:rPr lang="zh-CN" altLang="en-US" sz="1600" dirty="0">
                <a:sym typeface="Huawei Sans" panose="020C0503030203020204" pitchFamily="34" charset="0"/>
              </a:rPr>
              <a:t>服务器端输入</a:t>
            </a:r>
            <a:r>
              <a:rPr lang="en-US" altLang="zh-CN" sz="1600" dirty="0" err="1">
                <a:sym typeface="Huawei Sans" panose="020C0503030203020204" pitchFamily="34" charset="0"/>
              </a:rPr>
              <a:t>dir</a:t>
            </a:r>
            <a:r>
              <a:rPr lang="zh-CN" altLang="en-US" sz="1600" dirty="0">
                <a:sym typeface="Huawei Sans" panose="020C0503030203020204" pitchFamily="34" charset="0"/>
              </a:rPr>
              <a:t>命令查看，成功获得上传的指定文件。</a:t>
            </a:r>
            <a:endParaRPr lang="en-US" altLang="zh-CN" sz="1600" dirty="0">
              <a:sym typeface="Huawei Sans" panose="020C0503030203020204" pitchFamily="34" charset="0"/>
            </a:endParaRPr>
          </a:p>
          <a:p>
            <a:endParaRPr lang="zh-CN" altLang="en-US" sz="1600" dirty="0">
              <a:sym typeface="Huawei Sans" panose="020C0503030203020204" pitchFamily="34" charset="0"/>
            </a:endParaRPr>
          </a:p>
        </p:txBody>
      </p:sp>
      <p:grpSp>
        <p:nvGrpSpPr>
          <p:cNvPr id="23" name="组合 22"/>
          <p:cNvGrpSpPr/>
          <p:nvPr/>
        </p:nvGrpSpPr>
        <p:grpSpPr bwMode="gray">
          <a:xfrm>
            <a:off x="1285200" y="1317600"/>
            <a:ext cx="9694258" cy="345607"/>
            <a:chOff x="751840" y="4003281"/>
            <a:chExt cx="9694258" cy="345607"/>
          </a:xfrm>
        </p:grpSpPr>
        <p:sp>
          <p:nvSpPr>
            <p:cNvPr id="24" name="圆角矩形 11">
              <a:extLst>
                <a:ext uri="{FF2B5EF4-FFF2-40B4-BE49-F238E27FC236}">
                  <a16:creationId xmlns="" xmlns:a16="http://schemas.microsoft.com/office/drawing/2014/main" id="{701E0E72-A8AF-4A06-B6EF-16D484D4FF4A}"/>
                </a:ext>
              </a:extLst>
            </p:cNvPr>
            <p:cNvSpPr/>
            <p:nvPr/>
          </p:nvSpPr>
          <p:spPr bwMode="gray">
            <a:xfrm>
              <a:off x="751840" y="4003282"/>
              <a:ext cx="169538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SFTP</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11">
              <a:extLst>
                <a:ext uri="{FF2B5EF4-FFF2-40B4-BE49-F238E27FC236}">
                  <a16:creationId xmlns="" xmlns:a16="http://schemas.microsoft.com/office/drawing/2014/main" id="{701E0E72-A8AF-4A06-B6EF-16D484D4FF4A}"/>
                </a:ext>
              </a:extLst>
            </p:cNvPr>
            <p:cNvSpPr/>
            <p:nvPr/>
          </p:nvSpPr>
          <p:spPr bwMode="gray">
            <a:xfrm>
              <a:off x="2939186" y="4003283"/>
              <a:ext cx="992256"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配置用户</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a:extLst>
                <a:ext uri="{FF2B5EF4-FFF2-40B4-BE49-F238E27FC236}">
                  <a16:creationId xmlns="" xmlns:a16="http://schemas.microsoft.com/office/drawing/2014/main" id="{123AA511-BE26-485F-AC84-C8225487E8EA}"/>
                </a:ext>
              </a:extLst>
            </p:cNvPr>
            <p:cNvCxnSpPr>
              <a:cxnSpLocks/>
            </p:cNvCxnSpPr>
            <p:nvPr/>
          </p:nvCxnSpPr>
          <p:spPr bwMode="gray">
            <a:xfrm>
              <a:off x="2447221" y="4184465"/>
              <a:ext cx="480745" cy="0"/>
            </a:xfrm>
            <a:prstGeom prst="straightConnector1">
              <a:avLst/>
            </a:prstGeom>
            <a:noFill/>
            <a:ln w="19050" cap="flat" cmpd="sng" algn="ctr">
              <a:solidFill>
                <a:schemeClr val="tx1"/>
              </a:solidFill>
              <a:prstDash val="solid"/>
              <a:round/>
              <a:headEnd type="none" w="med" len="med"/>
              <a:tailEnd type="triangle"/>
            </a:ln>
            <a:effectLst/>
          </p:spPr>
        </p:cxnSp>
        <p:sp>
          <p:nvSpPr>
            <p:cNvPr id="28" name="圆角矩形 11">
              <a:extLst>
                <a:ext uri="{FF2B5EF4-FFF2-40B4-BE49-F238E27FC236}">
                  <a16:creationId xmlns="" xmlns:a16="http://schemas.microsoft.com/office/drawing/2014/main" id="{701E0E72-A8AF-4A06-B6EF-16D484D4FF4A}"/>
                </a:ext>
              </a:extLst>
            </p:cNvPr>
            <p:cNvSpPr/>
            <p:nvPr/>
          </p:nvSpPr>
          <p:spPr bwMode="gray">
            <a:xfrm>
              <a:off x="5982568" y="4003785"/>
              <a:ext cx="969590"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配置公钥</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11">
              <a:extLst>
                <a:ext uri="{FF2B5EF4-FFF2-40B4-BE49-F238E27FC236}">
                  <a16:creationId xmlns="" xmlns:a16="http://schemas.microsoft.com/office/drawing/2014/main" id="{701E0E72-A8AF-4A06-B6EF-16D484D4FF4A}"/>
                </a:ext>
              </a:extLst>
            </p:cNvPr>
            <p:cNvSpPr/>
            <p:nvPr/>
          </p:nvSpPr>
          <p:spPr bwMode="gray">
            <a:xfrm>
              <a:off x="4388616" y="4003281"/>
              <a:ext cx="117361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创建密钥对</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12">
              <a:extLst>
                <a:ext uri="{FF2B5EF4-FFF2-40B4-BE49-F238E27FC236}">
                  <a16:creationId xmlns="" xmlns:a16="http://schemas.microsoft.com/office/drawing/2014/main" id="{7E1C0CD0-705F-43E8-93C5-8AA73F3C40FD}"/>
                </a:ext>
              </a:extLst>
            </p:cNvPr>
            <p:cNvSpPr/>
            <p:nvPr/>
          </p:nvSpPr>
          <p:spPr bwMode="gray">
            <a:xfrm>
              <a:off x="7372499" y="4003785"/>
              <a:ext cx="1664671" cy="345103"/>
            </a:xfrm>
            <a:prstGeom prst="roundRect">
              <a:avLst>
                <a:gd name="adj" fmla="val 429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代码</a:t>
              </a:r>
              <a:endPar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箭头连接符 30">
              <a:extLst>
                <a:ext uri="{FF2B5EF4-FFF2-40B4-BE49-F238E27FC236}">
                  <a16:creationId xmlns="" xmlns:a16="http://schemas.microsoft.com/office/drawing/2014/main" id="{123AA511-BE26-485F-AC84-C8225487E8EA}"/>
                </a:ext>
              </a:extLst>
            </p:cNvPr>
            <p:cNvCxnSpPr>
              <a:cxnSpLocks/>
            </p:cNvCxnSpPr>
            <p:nvPr/>
          </p:nvCxnSpPr>
          <p:spPr bwMode="gray">
            <a:xfrm>
              <a:off x="3931442" y="4199945"/>
              <a:ext cx="429675" cy="0"/>
            </a:xfrm>
            <a:prstGeom prst="straightConnector1">
              <a:avLst/>
            </a:prstGeom>
            <a:noFill/>
            <a:ln w="19050" cap="flat" cmpd="sng" algn="ctr">
              <a:solidFill>
                <a:schemeClr val="tx1"/>
              </a:solidFill>
              <a:prstDash val="solid"/>
              <a:round/>
              <a:headEnd type="none" w="med" len="med"/>
              <a:tailEnd type="triangle"/>
            </a:ln>
            <a:effectLst/>
          </p:spPr>
        </p:cxnSp>
        <p:cxnSp>
          <p:nvCxnSpPr>
            <p:cNvPr id="32" name="直接箭头连接符 31">
              <a:extLst>
                <a:ext uri="{FF2B5EF4-FFF2-40B4-BE49-F238E27FC236}">
                  <a16:creationId xmlns="" xmlns:a16="http://schemas.microsoft.com/office/drawing/2014/main" id="{123AA511-BE26-485F-AC84-C8225487E8EA}"/>
                </a:ext>
              </a:extLst>
            </p:cNvPr>
            <p:cNvCxnSpPr>
              <a:cxnSpLocks/>
            </p:cNvCxnSpPr>
            <p:nvPr/>
          </p:nvCxnSpPr>
          <p:spPr bwMode="gray">
            <a:xfrm>
              <a:off x="5562227"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3" name="直接箭头连接符 32">
              <a:extLst>
                <a:ext uri="{FF2B5EF4-FFF2-40B4-BE49-F238E27FC236}">
                  <a16:creationId xmlns="" xmlns:a16="http://schemas.microsoft.com/office/drawing/2014/main" id="{123AA511-BE26-485F-AC84-C8225487E8EA}"/>
                </a:ext>
              </a:extLst>
            </p:cNvPr>
            <p:cNvCxnSpPr>
              <a:cxnSpLocks/>
            </p:cNvCxnSpPr>
            <p:nvPr/>
          </p:nvCxnSpPr>
          <p:spPr bwMode="gray">
            <a:xfrm>
              <a:off x="6952158" y="4199945"/>
              <a:ext cx="420341" cy="0"/>
            </a:xfrm>
            <a:prstGeom prst="straightConnector1">
              <a:avLst/>
            </a:prstGeom>
            <a:noFill/>
            <a:ln w="19050" cap="flat" cmpd="sng" algn="ctr">
              <a:solidFill>
                <a:schemeClr val="tx1"/>
              </a:solidFill>
              <a:prstDash val="solid"/>
              <a:round/>
              <a:headEnd type="none" w="med" len="med"/>
              <a:tailEnd type="triangle"/>
            </a:ln>
            <a:effectLst/>
          </p:spPr>
        </p:cxnSp>
        <p:cxnSp>
          <p:nvCxnSpPr>
            <p:cNvPr id="34" name="直接箭头连接符 33">
              <a:extLst>
                <a:ext uri="{FF2B5EF4-FFF2-40B4-BE49-F238E27FC236}">
                  <a16:creationId xmlns="" xmlns:a16="http://schemas.microsoft.com/office/drawing/2014/main" id="{123AA511-BE26-485F-AC84-C8225487E8EA}"/>
                </a:ext>
              </a:extLst>
            </p:cNvPr>
            <p:cNvCxnSpPr>
              <a:cxnSpLocks/>
            </p:cNvCxnSpPr>
            <p:nvPr/>
          </p:nvCxnSpPr>
          <p:spPr bwMode="gray">
            <a:xfrm>
              <a:off x="9037170" y="4199945"/>
              <a:ext cx="399908" cy="0"/>
            </a:xfrm>
            <a:prstGeom prst="straightConnector1">
              <a:avLst/>
            </a:prstGeom>
            <a:noFill/>
            <a:ln w="19050" cap="flat" cmpd="sng" algn="ctr">
              <a:solidFill>
                <a:schemeClr val="tx1"/>
              </a:solidFill>
              <a:prstDash val="solid"/>
              <a:round/>
              <a:headEnd type="none" w="med" len="med"/>
              <a:tailEnd type="triangle"/>
            </a:ln>
            <a:effectLst/>
          </p:spPr>
        </p:cxnSp>
        <p:sp>
          <p:nvSpPr>
            <p:cNvPr id="35" name="圆角矩形 12">
              <a:extLst>
                <a:ext uri="{FF2B5EF4-FFF2-40B4-BE49-F238E27FC236}">
                  <a16:creationId xmlns="" xmlns:a16="http://schemas.microsoft.com/office/drawing/2014/main" id="{605A06C5-BF3A-417C-B6E3-668468C81F0A}"/>
                </a:ext>
              </a:extLst>
            </p:cNvPr>
            <p:cNvSpPr/>
            <p:nvPr/>
          </p:nvSpPr>
          <p:spPr bwMode="gray">
            <a:xfrm>
              <a:off x="9440695" y="4003785"/>
              <a:ext cx="1005403" cy="345103"/>
            </a:xfrm>
            <a:prstGeom prst="roundRect">
              <a:avLst>
                <a:gd name="adj" fmla="val 4298"/>
              </a:avLst>
            </a:prstGeom>
            <a:solidFill>
              <a:srgbClr val="56C4D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结果验证</a:t>
              </a:r>
            </a:p>
          </p:txBody>
        </p:sp>
      </p:grpSp>
      <p:sp>
        <p:nvSpPr>
          <p:cNvPr id="20" name="文本框 19">
            <a:extLst>
              <a:ext uri="{FF2B5EF4-FFF2-40B4-BE49-F238E27FC236}">
                <a16:creationId xmlns="" xmlns:a16="http://schemas.microsoft.com/office/drawing/2014/main" id="{672EBE24-C2C4-46CB-B9F6-5022468478D7}"/>
              </a:ext>
            </a:extLst>
          </p:cNvPr>
          <p:cNvSpPr txBox="1"/>
          <p:nvPr/>
        </p:nvSpPr>
        <p:spPr bwMode="gray">
          <a:xfrm>
            <a:off x="837340" y="3284602"/>
            <a:ext cx="5528292" cy="1384995"/>
          </a:xfrm>
          <a:prstGeom prst="rect">
            <a:avLst/>
          </a:prstGeom>
          <a:solidFill>
            <a:schemeClr val="bg1">
              <a:lumMod val="85000"/>
            </a:schemeClr>
          </a:solidFill>
          <a:ln>
            <a:noFill/>
          </a:ln>
        </p:spPr>
        <p:txBody>
          <a:bodyPr wrap="square" rtlCol="0">
            <a:spAutoFit/>
          </a:bodyPr>
          <a:lstStyle>
            <a:defPPr>
              <a:defRPr lang="en-US"/>
            </a:defPPr>
            <a:lvl1pPr fontAlgn="auto">
              <a:lnSpc>
                <a:spcPct val="120000"/>
              </a:lnSpc>
              <a:spcBef>
                <a:spcPts val="0"/>
              </a:spcBef>
              <a:spcAft>
                <a:spcPts val="0"/>
              </a:spcAft>
              <a:defRPr sz="1400">
                <a:latin typeface="Huawei Sans" panose="020C0503030203020204" pitchFamily="34" charset="0"/>
                <a:ea typeface="方正兰亭黑简体" panose="02000000000000000000" pitchFamily="2" charset="-122"/>
              </a:defRPr>
            </a:lvl1pPr>
          </a:lstStyle>
          <a:p>
            <a:pPr>
              <a:lnSpc>
                <a:spcPct val="100000"/>
              </a:lnSpc>
            </a:pPr>
            <a:r>
              <a:rPr lang="en-US" altLang="zh-CN" dirty="0">
                <a:sym typeface="Huawei Sans" panose="020C0503030203020204" pitchFamily="34" charset="0"/>
              </a:rPr>
              <a:t>&lt;SFTP Server&gt;</a:t>
            </a:r>
            <a:r>
              <a:rPr lang="en-US" altLang="zh-CN" dirty="0" err="1">
                <a:sym typeface="Huawei Sans" panose="020C0503030203020204" pitchFamily="34" charset="0"/>
              </a:rPr>
              <a:t>dir</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Directory of </a:t>
            </a:r>
            <a:r>
              <a:rPr lang="en-US" altLang="zh-CN" dirty="0" err="1">
                <a:sym typeface="Huawei Sans" panose="020C0503030203020204" pitchFamily="34" charset="0"/>
              </a:rPr>
              <a:t>cfcard</a:t>
            </a:r>
            <a:r>
              <a:rPr lang="en-US" altLang="zh-CN" dirty="0">
                <a:sym typeface="Huawei Sans" panose="020C0503030203020204" pitchFamily="34" charset="0"/>
              </a:rPr>
              <a:t>:/</a:t>
            </a:r>
          </a:p>
          <a:p>
            <a:pPr>
              <a:lnSpc>
                <a:spcPct val="100000"/>
              </a:lnSpc>
            </a:pP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  </a:t>
            </a:r>
            <a:r>
              <a:rPr lang="en-US" altLang="zh-CN" dirty="0" err="1">
                <a:sym typeface="Huawei Sans" panose="020C0503030203020204" pitchFamily="34" charset="0"/>
              </a:rPr>
              <a:t>Idx</a:t>
            </a:r>
            <a:r>
              <a:rPr lang="en-US" altLang="zh-CN" dirty="0">
                <a:sym typeface="Huawei Sans" panose="020C0503030203020204" pitchFamily="34" charset="0"/>
              </a:rPr>
              <a:t>  </a:t>
            </a:r>
            <a:r>
              <a:rPr lang="en-US" altLang="zh-CN" dirty="0" err="1">
                <a:sym typeface="Huawei Sans" panose="020C0503030203020204" pitchFamily="34" charset="0"/>
              </a:rPr>
              <a:t>Attr</a:t>
            </a:r>
            <a:r>
              <a:rPr lang="en-US" altLang="zh-CN" dirty="0">
                <a:sym typeface="Huawei Sans" panose="020C0503030203020204" pitchFamily="34" charset="0"/>
              </a:rPr>
              <a:t>     </a:t>
            </a:r>
            <a:r>
              <a:rPr lang="en-US" altLang="zh-CN" dirty="0" smtClean="0">
                <a:sym typeface="Huawei Sans" panose="020C0503030203020204" pitchFamily="34" charset="0"/>
              </a:rPr>
              <a:t>Size(Byte)  </a:t>
            </a:r>
            <a:r>
              <a:rPr lang="en-US" altLang="zh-CN" dirty="0" err="1" smtClean="0">
                <a:sym typeface="Huawei Sans" panose="020C0503030203020204" pitchFamily="34" charset="0"/>
              </a:rPr>
              <a:t>FileName</a:t>
            </a:r>
            <a:r>
              <a:rPr lang="en-US" altLang="zh-CN" dirty="0" smtClean="0">
                <a:sym typeface="Huawei Sans" panose="020C0503030203020204" pitchFamily="34" charset="0"/>
              </a:rPr>
              <a:t>                     </a:t>
            </a:r>
            <a:endParaRPr lang="en-US"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    5  </a:t>
            </a:r>
            <a:r>
              <a:rPr lang="en-US" altLang="zh-CN" dirty="0">
                <a:sym typeface="Huawei Sans" panose="020C0503030203020204" pitchFamily="34" charset="0"/>
              </a:rPr>
              <a:t>-</a:t>
            </a:r>
            <a:r>
              <a:rPr lang="en-US" altLang="zh-CN" dirty="0" err="1">
                <a:sym typeface="Huawei Sans" panose="020C0503030203020204" pitchFamily="34" charset="0"/>
              </a:rPr>
              <a:t>rw</a:t>
            </a:r>
            <a:r>
              <a:rPr lang="en-US" altLang="zh-CN" dirty="0">
                <a:sym typeface="Huawei Sans" panose="020C0503030203020204" pitchFamily="34" charset="0"/>
              </a:rPr>
              <a:t>-          2,428  </a:t>
            </a:r>
            <a:r>
              <a:rPr lang="en-US" altLang="zh-CN" dirty="0" err="1" smtClean="0">
                <a:sym typeface="Huawei Sans" panose="020C0503030203020204" pitchFamily="34" charset="0"/>
              </a:rPr>
              <a:t>test.cfg</a:t>
            </a:r>
            <a:r>
              <a:rPr lang="en-US" altLang="zh-CN" dirty="0" smtClean="0">
                <a:sym typeface="Huawei Sans" panose="020C0503030203020204" pitchFamily="34" charset="0"/>
              </a:rPr>
              <a:t>                     </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    6  -</a:t>
            </a:r>
            <a:r>
              <a:rPr lang="en-US" altLang="zh-CN" dirty="0" err="1">
                <a:sym typeface="Huawei Sans" panose="020C0503030203020204" pitchFamily="34" charset="0"/>
              </a:rPr>
              <a:t>rw</a:t>
            </a:r>
            <a:r>
              <a:rPr lang="en-US" altLang="zh-CN" dirty="0">
                <a:sym typeface="Huawei Sans" panose="020C0503030203020204" pitchFamily="34" charset="0"/>
              </a:rPr>
              <a:t>-          2,493  </a:t>
            </a:r>
            <a:r>
              <a:rPr lang="en-US" altLang="zh-CN" dirty="0" err="1" smtClean="0">
                <a:sym typeface="Huawei Sans" panose="020C0503030203020204" pitchFamily="34" charset="0"/>
              </a:rPr>
              <a:t>vrpcfg.cfg</a:t>
            </a:r>
            <a:r>
              <a:rPr lang="en-US" altLang="zh-CN" dirty="0" smtClean="0">
                <a:sym typeface="Huawei Sans" panose="020C0503030203020204" pitchFamily="34" charset="0"/>
              </a:rPr>
              <a:t>                   </a:t>
            </a:r>
            <a:endParaRPr lang="en-US" altLang="zh-CN" dirty="0">
              <a:sym typeface="Huawei Sans" panose="020C0503030203020204" pitchFamily="34" charset="0"/>
            </a:endParaRPr>
          </a:p>
        </p:txBody>
      </p:sp>
      <p:pic>
        <p:nvPicPr>
          <p:cNvPr id="5" name="图片 4"/>
          <p:cNvPicPr>
            <a:picLocks noChangeAspect="1"/>
          </p:cNvPicPr>
          <p:nvPr/>
        </p:nvPicPr>
        <p:blipFill>
          <a:blip r:embed="rId3"/>
          <a:stretch>
            <a:fillRect/>
          </a:stretch>
        </p:blipFill>
        <p:spPr>
          <a:xfrm>
            <a:off x="837340" y="2504268"/>
            <a:ext cx="7077075" cy="228600"/>
          </a:xfrm>
          <a:prstGeom prst="rect">
            <a:avLst/>
          </a:prstGeom>
        </p:spPr>
      </p:pic>
    </p:spTree>
    <p:extLst>
      <p:ext uri="{BB962C8B-B14F-4D97-AF65-F5344CB8AC3E}">
        <p14:creationId xmlns:p14="http://schemas.microsoft.com/office/powerpoint/2010/main" val="29320304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ym typeface="Huawei Sans" panose="020C0503030203020204" pitchFamily="34" charset="0"/>
              </a:rPr>
              <a:t>(</a:t>
            </a:r>
            <a:r>
              <a:rPr lang="zh-CN" altLang="en-US" dirty="0" smtClean="0">
                <a:sym typeface="Huawei Sans" panose="020C0503030203020204" pitchFamily="34" charset="0"/>
              </a:rPr>
              <a:t>多选题</a:t>
            </a:r>
            <a:r>
              <a:rPr lang="en-US" altLang="zh-CN" dirty="0" smtClean="0">
                <a:sym typeface="Huawei Sans" panose="020C0503030203020204" pitchFamily="34" charset="0"/>
              </a:rPr>
              <a:t>)SSH</a:t>
            </a:r>
            <a:r>
              <a:rPr lang="zh-CN" altLang="en-US" dirty="0" smtClean="0">
                <a:sym typeface="Huawei Sans" panose="020C0503030203020204" pitchFamily="34" charset="0"/>
              </a:rPr>
              <a:t>协议有哪几个工作阶段？</a:t>
            </a:r>
            <a:r>
              <a:rPr lang="en-US" altLang="zh-CN" dirty="0" smtClean="0">
                <a:sym typeface="Huawei Sans" panose="020C0503030203020204" pitchFamily="34" charset="0"/>
              </a:rPr>
              <a:t>(     )</a:t>
            </a:r>
          </a:p>
          <a:p>
            <a:pPr lvl="1"/>
            <a:r>
              <a:rPr lang="zh-CN" altLang="en-US" dirty="0" smtClean="0">
                <a:sym typeface="Huawei Sans" panose="020C0503030203020204" pitchFamily="34" charset="0"/>
              </a:rPr>
              <a:t>版本协商阶段</a:t>
            </a:r>
          </a:p>
          <a:p>
            <a:pPr lvl="1"/>
            <a:r>
              <a:rPr lang="zh-CN" altLang="en-US" dirty="0" smtClean="0">
                <a:sym typeface="Huawei Sans" panose="020C0503030203020204" pitchFamily="34" charset="0"/>
              </a:rPr>
              <a:t>算法协商阶段</a:t>
            </a:r>
          </a:p>
          <a:p>
            <a:pPr lvl="1"/>
            <a:r>
              <a:rPr lang="zh-CN" altLang="en-US" dirty="0" smtClean="0">
                <a:sym typeface="Huawei Sans" panose="020C0503030203020204" pitchFamily="34" charset="0"/>
              </a:rPr>
              <a:t>密钥交换阶段</a:t>
            </a:r>
          </a:p>
          <a:p>
            <a:pPr lvl="1"/>
            <a:r>
              <a:rPr lang="zh-CN" altLang="en-US" dirty="0" smtClean="0">
                <a:sym typeface="Huawei Sans" panose="020C0503030203020204" pitchFamily="34" charset="0"/>
              </a:rPr>
              <a:t>用户认证阶段</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会话交互阶段</a:t>
            </a:r>
            <a:endParaRPr lang="en-US" altLang="zh-CN" dirty="0" smtClean="0">
              <a:sym typeface="Huawei Sans" panose="020C0503030203020204" pitchFamily="34" charset="0"/>
            </a:endParaRPr>
          </a:p>
          <a:p>
            <a:pPr lvl="1"/>
            <a:endParaRPr lang="en-US" altLang="zh-CN" dirty="0"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314895312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smtClean="0">
                <a:sym typeface="Huawei Sans" panose="020C0503030203020204" pitchFamily="34" charset="0"/>
              </a:rPr>
              <a:t>本章介绍了</a:t>
            </a:r>
            <a:r>
              <a:rPr lang="en-US" altLang="zh-CN" dirty="0" err="1" smtClean="0">
                <a:sym typeface="Huawei Sans" panose="020C0503030203020204" pitchFamily="34" charset="0"/>
              </a:rPr>
              <a:t>Paramiko</a:t>
            </a:r>
            <a:r>
              <a:rPr lang="zh-CN" altLang="en-US" dirty="0" smtClean="0">
                <a:sym typeface="Huawei Sans" panose="020C0503030203020204" pitchFamily="34" charset="0"/>
              </a:rPr>
              <a:t>的概念和</a:t>
            </a:r>
            <a:r>
              <a:rPr lang="en-US" altLang="zh-CN" dirty="0" smtClean="0">
                <a:sym typeface="Huawei Sans" panose="020C0503030203020204" pitchFamily="34" charset="0"/>
              </a:rPr>
              <a:t>SSH</a:t>
            </a:r>
            <a:r>
              <a:rPr lang="zh-CN" altLang="en-US" dirty="0" smtClean="0">
                <a:sym typeface="Huawei Sans" panose="020C0503030203020204" pitchFamily="34" charset="0"/>
              </a:rPr>
              <a:t>的概念，重点分析了</a:t>
            </a:r>
            <a:r>
              <a:rPr lang="en-US" altLang="zh-CN" dirty="0" smtClean="0">
                <a:sym typeface="Huawei Sans" panose="020C0503030203020204" pitchFamily="34" charset="0"/>
              </a:rPr>
              <a:t>SSH</a:t>
            </a:r>
            <a:r>
              <a:rPr lang="zh-CN" altLang="en-US" dirty="0" smtClean="0">
                <a:sym typeface="Huawei Sans" panose="020C0503030203020204" pitchFamily="34" charset="0"/>
              </a:rPr>
              <a:t>的工作原理。</a:t>
            </a:r>
            <a:endParaRPr lang="en-US" altLang="zh-CN" dirty="0" smtClean="0">
              <a:sym typeface="Huawei Sans" panose="020C0503030203020204" pitchFamily="34" charset="0"/>
            </a:endParaRPr>
          </a:p>
          <a:p>
            <a:r>
              <a:rPr lang="zh-CN" altLang="en-US" dirty="0" smtClean="0">
                <a:sym typeface="Huawei Sans" panose="020C0503030203020204" pitchFamily="34" charset="0"/>
              </a:rPr>
              <a:t>本章介绍了</a:t>
            </a:r>
            <a:r>
              <a:rPr lang="en-US" altLang="zh-CN" dirty="0" err="1" smtClean="0">
                <a:sym typeface="Huawei Sans" panose="020C0503030203020204" pitchFamily="34" charset="0"/>
              </a:rPr>
              <a:t>Paramiko</a:t>
            </a:r>
            <a:r>
              <a:rPr lang="zh-CN" altLang="en-US" dirty="0" smtClean="0">
                <a:sym typeface="Huawei Sans" panose="020C0503030203020204" pitchFamily="34" charset="0"/>
              </a:rPr>
              <a:t>的组件和常用方法，最后通过</a:t>
            </a:r>
            <a:r>
              <a:rPr lang="en-US" altLang="zh-CN" dirty="0" smtClean="0">
                <a:sym typeface="Huawei Sans" panose="020C0503030203020204" pitchFamily="34" charset="0"/>
              </a:rPr>
              <a:t>Python SSH</a:t>
            </a:r>
            <a:r>
              <a:rPr lang="zh-CN" altLang="en-US" dirty="0" smtClean="0">
                <a:sym typeface="Huawei Sans" panose="020C0503030203020204" pitchFamily="34" charset="0"/>
              </a:rPr>
              <a:t>及</a:t>
            </a:r>
            <a:r>
              <a:rPr lang="en-US" altLang="zh-CN" dirty="0" smtClean="0">
                <a:sym typeface="Huawei Sans" panose="020C0503030203020204" pitchFamily="34" charset="0"/>
              </a:rPr>
              <a:t>SFTP</a:t>
            </a:r>
            <a:r>
              <a:rPr lang="zh-CN" altLang="en-US" dirty="0" smtClean="0">
                <a:sym typeface="Huawei Sans" panose="020C0503030203020204" pitchFamily="34" charset="0"/>
              </a:rPr>
              <a:t>示例脚本让读者能够运用及实践</a:t>
            </a:r>
            <a:r>
              <a:rPr lang="en-US" altLang="zh-CN" dirty="0" err="1" smtClean="0">
                <a:sym typeface="Huawei Sans" panose="020C0503030203020204" pitchFamily="34" charset="0"/>
              </a:rPr>
              <a:t>Paramiko</a:t>
            </a:r>
            <a:r>
              <a:rPr lang="zh-CN" altLang="en-US" dirty="0" smtClean="0">
                <a:sym typeface="Huawei Sans" panose="020C0503030203020204" pitchFamily="34" charset="0"/>
              </a:rPr>
              <a:t>的方法，实现基于</a:t>
            </a:r>
            <a:r>
              <a:rPr lang="en-US" altLang="zh-CN" dirty="0" smtClean="0">
                <a:sym typeface="Huawei Sans" panose="020C0503030203020204" pitchFamily="34" charset="0"/>
              </a:rPr>
              <a:t>SSH</a:t>
            </a:r>
            <a:r>
              <a:rPr lang="zh-CN" altLang="en-US" dirty="0" smtClean="0">
                <a:sym typeface="Huawei Sans" panose="020C0503030203020204" pitchFamily="34" charset="0"/>
              </a:rPr>
              <a:t>的初级网络自动化。</a:t>
            </a:r>
            <a:endParaRPr lang="en-US" altLang="zh-CN" dirty="0"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16650465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sz="1600" dirty="0" err="1" smtClean="0">
                <a:sym typeface="Huawei Sans" panose="020C0503030203020204" pitchFamily="34" charset="0"/>
              </a:rPr>
              <a:t>Paramiko</a:t>
            </a:r>
            <a:r>
              <a:rPr lang="zh-CN" altLang="en-US" sz="1600" dirty="0" smtClean="0">
                <a:sym typeface="Huawei Sans" panose="020C0503030203020204" pitchFamily="34" charset="0"/>
              </a:rPr>
              <a:t>官网</a:t>
            </a:r>
          </a:p>
          <a:p>
            <a:pPr lvl="1"/>
            <a:r>
              <a:rPr lang="en-US" altLang="zh-CN" sz="1400" dirty="0" smtClean="0">
                <a:sym typeface="Huawei Sans" panose="020C0503030203020204" pitchFamily="34" charset="0"/>
              </a:rPr>
              <a:t>docs.paramiko.org/</a:t>
            </a:r>
            <a:r>
              <a:rPr lang="en-US" altLang="zh-CN" sz="1400" dirty="0" err="1" smtClean="0">
                <a:sym typeface="Huawei Sans" panose="020C0503030203020204" pitchFamily="34" charset="0"/>
              </a:rPr>
              <a:t>en</a:t>
            </a:r>
            <a:r>
              <a:rPr lang="en-US" altLang="zh-CN" sz="1400" dirty="0" smtClean="0">
                <a:sym typeface="Huawei Sans" panose="020C0503030203020204" pitchFamily="34" charset="0"/>
              </a:rPr>
              <a:t>/latest/index.html</a:t>
            </a:r>
          </a:p>
          <a:p>
            <a:pPr lvl="1"/>
            <a:r>
              <a:rPr lang="en-US" altLang="zh-CN" sz="1400" dirty="0" smtClean="0">
                <a:sym typeface="Huawei Sans" panose="020C0503030203020204" pitchFamily="34" charset="0"/>
              </a:rPr>
              <a:t>www.paramiko.com</a:t>
            </a:r>
          </a:p>
          <a:p>
            <a:r>
              <a:rPr lang="en-US" altLang="zh-CN" sz="1600" dirty="0" smtClean="0">
                <a:sym typeface="Huawei Sans" panose="020C0503030203020204" pitchFamily="34" charset="0"/>
              </a:rPr>
              <a:t>SSH RFC</a:t>
            </a:r>
            <a:r>
              <a:rPr lang="zh-CN" altLang="en-US" sz="1600" dirty="0" smtClean="0">
                <a:sym typeface="Huawei Sans" panose="020C0503030203020204" pitchFamily="34" charset="0"/>
              </a:rPr>
              <a:t>文档</a:t>
            </a:r>
            <a:endParaRPr lang="en-US" altLang="zh-CN" sz="1600" dirty="0" smtClean="0">
              <a:sym typeface="Huawei Sans" panose="020C0503030203020204" pitchFamily="34" charset="0"/>
            </a:endParaRPr>
          </a:p>
          <a:p>
            <a:pPr lvl="1"/>
            <a:r>
              <a:rPr lang="en-US" altLang="zh-CN" sz="1400" dirty="0" smtClean="0">
                <a:sym typeface="Huawei Sans" panose="020C0503030203020204" pitchFamily="34" charset="0"/>
              </a:rPr>
              <a:t>https://tools.ietf.org/html/rfc4251.html</a:t>
            </a:r>
          </a:p>
          <a:p>
            <a:pPr lvl="1"/>
            <a:r>
              <a:rPr lang="en-US" altLang="zh-CN" sz="1400" dirty="0" smtClean="0">
                <a:sym typeface="Huawei Sans" panose="020C0503030203020204" pitchFamily="34" charset="0"/>
              </a:rPr>
              <a:t>https://tools.ietf.org/html/rfc4252.html</a:t>
            </a:r>
          </a:p>
          <a:p>
            <a:pPr lvl="1"/>
            <a:r>
              <a:rPr lang="en-US" altLang="zh-CN" sz="1400" dirty="0" smtClean="0">
                <a:sym typeface="Huawei Sans" panose="020C0503030203020204" pitchFamily="34" charset="0"/>
              </a:rPr>
              <a:t>https://tools.ietf.org/html/rfc4253.html</a:t>
            </a:r>
          </a:p>
          <a:p>
            <a:pPr lvl="1"/>
            <a:r>
              <a:rPr lang="en-US" altLang="zh-CN" sz="1400" dirty="0" smtClean="0">
                <a:sym typeface="Huawei Sans" panose="020C0503030203020204" pitchFamily="34" charset="0"/>
              </a:rPr>
              <a:t>https://tools.ietf.org/html/rfc4254.html</a:t>
            </a:r>
          </a:p>
          <a:p>
            <a:pPr lvl="1"/>
            <a:r>
              <a:rPr lang="en-US" altLang="zh-CN" sz="1400" dirty="0" smtClean="0">
                <a:sym typeface="Huawei Sans" panose="020C0503030203020204" pitchFamily="34" charset="0"/>
              </a:rPr>
              <a:t>https://fabric-chs.readthedocs.io/zh_CN/chs/tutorial.html</a:t>
            </a:r>
            <a:endParaRPr lang="en-US" altLang="zh-CN" sz="1400" dirty="0">
              <a:sym typeface="Huawei Sans" panose="020C0503030203020204" pitchFamily="34" charset="0"/>
            </a:endParaRPr>
          </a:p>
        </p:txBody>
      </p:sp>
    </p:spTree>
    <p:extLst>
      <p:ext uri="{BB962C8B-B14F-4D97-AF65-F5344CB8AC3E}">
        <p14:creationId xmlns:p14="http://schemas.microsoft.com/office/powerpoint/2010/main" val="337525485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DA5960F2-6186-408B-A0DC-5CA5E58B604F}">
  <ds:schemaRefs>
    <ds:schemaRef ds:uri="http://schemas.microsoft.com/office/2006/metadata/properties"/>
    <ds:schemaRef ds:uri="http://purl.org/dc/elements/1.1/"/>
    <ds:schemaRef ds:uri="http://www.w3.org/XML/1998/namespace"/>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475f1e55-3009-46d8-9566-5d569a2b3a98"/>
    <ds:schemaRef ds:uri="http://purl.org/dc/dcmitype/"/>
  </ds:schemaRefs>
</ds:datastoreItem>
</file>

<file path=customXml/itemProps3.xml><?xml version="1.0" encoding="utf-8"?>
<ds:datastoreItem xmlns:ds="http://schemas.openxmlformats.org/officeDocument/2006/customXml" ds:itemID="{E3B98D5C-54B9-4870-8183-5324CFF2A395}"/>
</file>

<file path=docProps/app.xml><?xml version="1.0" encoding="utf-8"?>
<Properties xmlns="http://schemas.openxmlformats.org/officeDocument/2006/extended-properties" xmlns:vt="http://schemas.openxmlformats.org/officeDocument/2006/docPropsVTypes">
  <Template/>
  <TotalTime>13754</TotalTime>
  <Words>5925</Words>
  <Application>Microsoft Office PowerPoint</Application>
  <PresentationFormat>宽屏</PresentationFormat>
  <Paragraphs>951</Paragraphs>
  <Slides>62</Slides>
  <Notes>62</Notes>
  <HiddenSlides>1</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62</vt:i4>
      </vt:variant>
    </vt:vector>
  </HeadingPairs>
  <TitlesOfParts>
    <vt:vector size="73" baseType="lpstr">
      <vt:lpstr>方正兰亭黑简体</vt:lpstr>
      <vt:lpstr>Microsoft YaHei</vt:lpstr>
      <vt:lpstr>Microsoft YaHei</vt:lpstr>
      <vt:lpstr>Arial</vt:lpstr>
      <vt:lpstr>Courier New</vt:lpstr>
      <vt:lpstr>Huawei Sans</vt:lpstr>
      <vt:lpstr>Wingdings</vt:lpstr>
      <vt:lpstr>2_标题页模板</vt:lpstr>
      <vt:lpstr>3_功能页模板</vt:lpstr>
      <vt:lpstr>4_内容页模板</vt:lpstr>
      <vt:lpstr>5_感谢页模板</vt:lpstr>
      <vt:lpstr>PowerPoint 演示文稿</vt:lpstr>
      <vt:lpstr>SSH原理与实践</vt:lpstr>
      <vt:lpstr>PowerPoint 演示文稿</vt:lpstr>
      <vt:lpstr>PowerPoint 演示文稿</vt:lpstr>
      <vt:lpstr>PowerPoint 演示文稿</vt:lpstr>
      <vt:lpstr>SSH简介</vt:lpstr>
      <vt:lpstr>SSH传输层协议</vt:lpstr>
      <vt:lpstr>SSH用户认证协议</vt:lpstr>
      <vt:lpstr>SSH连接协议</vt:lpstr>
      <vt:lpstr>PowerPoint 演示文稿</vt:lpstr>
      <vt:lpstr>SSH工作原理</vt:lpstr>
      <vt:lpstr>版本协商阶段</vt:lpstr>
      <vt:lpstr>算法协商阶段</vt:lpstr>
      <vt:lpstr>密钥交换阶段</vt:lpstr>
      <vt:lpstr>用户认证阶段：口令认证</vt:lpstr>
      <vt:lpstr>用户认证阶段：公钥认证</vt:lpstr>
      <vt:lpstr>会话交互阶段</vt:lpstr>
      <vt:lpstr>PowerPoint 演示文稿</vt:lpstr>
      <vt:lpstr>Paramiko简介</vt:lpstr>
      <vt:lpstr>PowerPoint 演示文稿</vt:lpstr>
      <vt:lpstr>Paramiko组件架构</vt:lpstr>
      <vt:lpstr>Paramiko常用类简介</vt:lpstr>
      <vt:lpstr>Paramiko密钥相关类简介</vt:lpstr>
      <vt:lpstr>Paramiko使用流程图</vt:lpstr>
      <vt:lpstr>PowerPoint 演示文稿</vt:lpstr>
      <vt:lpstr>Transport类及其方法介绍</vt:lpstr>
      <vt:lpstr>PowerPoint 演示文稿</vt:lpstr>
      <vt:lpstr>Key handling类及其方法介绍</vt:lpstr>
      <vt:lpstr>PowerPoint 演示文稿</vt:lpstr>
      <vt:lpstr>SFTPClient类及其方法介绍</vt:lpstr>
      <vt:lpstr>from_transport方法介绍</vt:lpstr>
      <vt:lpstr>get方法介绍</vt:lpstr>
      <vt:lpstr>put方法介绍</vt:lpstr>
      <vt:lpstr>PowerPoint 演示文稿</vt:lpstr>
      <vt:lpstr>SSHClient类及其方法介绍</vt:lpstr>
      <vt:lpstr>connect方法介绍</vt:lpstr>
      <vt:lpstr>set_missing_host_key_policy方法介绍</vt:lpstr>
      <vt:lpstr>load_system_host_keys方法介绍</vt:lpstr>
      <vt:lpstr>exec_command方法介绍</vt:lpstr>
      <vt:lpstr>invoke_shell方法介绍</vt:lpstr>
      <vt:lpstr>open_sftp方法介绍</vt:lpstr>
      <vt:lpstr>PowerPoint 演示文稿</vt:lpstr>
      <vt:lpstr>案例：使用SSH登录设备</vt:lpstr>
      <vt:lpstr>配置思路</vt:lpstr>
      <vt:lpstr>案例：服务器端配置STelnet</vt:lpstr>
      <vt:lpstr>案例：服务器端配置用户</vt:lpstr>
      <vt:lpstr>案例：客户端创建RSA密钥对</vt:lpstr>
      <vt:lpstr>案例：服务器端配置公钥</vt:lpstr>
      <vt:lpstr>案例：客户端编写Python代码</vt:lpstr>
      <vt:lpstr>案例：客户端结果验证</vt:lpstr>
      <vt:lpstr>PowerPoint 演示文稿</vt:lpstr>
      <vt:lpstr>案例：使用SFTP上传和下载文件</vt:lpstr>
      <vt:lpstr>配置思路</vt:lpstr>
      <vt:lpstr>案例：服务器端配置SFTP和用户</vt:lpstr>
      <vt:lpstr>案例：客户端创建RSA密钥对</vt:lpstr>
      <vt:lpstr>案例：服务器端配置公钥</vt:lpstr>
      <vt:lpstr>案例：客户端编写Python代码</vt:lpstr>
      <vt:lpstr>案例：客户端和服务器端结果验证</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614</cp:revision>
  <cp:lastPrinted>2020-07-31T09:33:18Z</cp:lastPrinted>
  <dcterms:created xsi:type="dcterms:W3CDTF">2018-11-29T10:16:29Z</dcterms:created>
  <dcterms:modified xsi:type="dcterms:W3CDTF">2021-10-15T08:24:41Z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(3)Bb/RTCz43HVEnivtNrwEwNNZimv7C/gqyaDAw9IbQW5+EzYDOa82AXe3nLMitLOur2pFEvE6
SUahibETAv74U9m4d3RlpGSPjeSAF4jG+XNqD7gqEruAUtWnhjDGhvAy64ssWwWqCjbPAoJ5
Z6T959sY/9brRDikFPjsTJv617Dlr0vCD7t9RszlpAIqa3kY2n4b3F392zJeeOLorlf/f/52
S9P+94QcYfnAGcBCSN</vt:lpwstr>
  </property>
  <property fmtid="{D5CDD505-2E9C-101B-9397-08002B2CF9AE}" pid="3" name="_2015_ms_pID_7253431">
    <vt:lpwstr>EtiXJB10qTAaoNfIRhSqhQx5Z8Fw5Q/l8Z02YzI+mJwQDdZ3DGd48n
8oabXdys1i5uUX0pZkA9Wi9XpsqoowxlEKTCvMk88qZPusBKzxCAdjsUraQEZ0QwXHfTBwmj
8CbGfepbVjPDyze31wygSRjJS6HOV7nmNK7y3wt1xaLaYPwb2wyHlmRiObeZXCLcIEqbB67V
9fviF+tLd7U/amya6naUkbKPqWRXNd1QpH7d</vt:lpwstr>
  </property>
  <property fmtid="{D5CDD505-2E9C-101B-9397-08002B2CF9AE}" pid="4" name="_2015_ms_pID_7253432">
    <vt:lpwstr>+g==</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1634109167</vt:lpwstr>
  </property>
</Properties>
</file>