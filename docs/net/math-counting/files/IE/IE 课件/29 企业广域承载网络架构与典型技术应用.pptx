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84.xml" ContentType="application/vnd.openxmlformats-officedocument.presentationml.notesSlide+xml"/>
  <Override PartName="/ppt/tags/tag82.xml" ContentType="application/vnd.openxmlformats-officedocument.presentationml.tags+xml"/>
  <Override PartName="/ppt/notesSlides/notesSlide8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97"/>
  </p:notesMasterIdLst>
  <p:handoutMasterIdLst>
    <p:handoutMasterId r:id="rId98"/>
  </p:handoutMasterIdLst>
  <p:sldIdLst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11" clrIdx="0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5C5"/>
    <a:srgbClr val="ADCDEA"/>
    <a:srgbClr val="404040"/>
    <a:srgbClr val="EBEBEB"/>
    <a:srgbClr val="151515"/>
    <a:srgbClr val="C7000B"/>
    <a:srgbClr val="575756"/>
    <a:srgbClr val="FFFFFF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296" autoAdjust="0"/>
  </p:normalViewPr>
  <p:slideViewPr>
    <p:cSldViewPr snapToGrid="0" snapToObjects="1">
      <p:cViewPr varScale="1">
        <p:scale>
          <a:sx n="94" d="100"/>
          <a:sy n="94" d="100"/>
        </p:scale>
        <p:origin x="66" y="9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00" d="100"/>
          <a:sy n="100" d="100"/>
        </p:scale>
        <p:origin x="3420" y="-85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103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commentAuthors" Target="commentAuthors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10/14/2021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7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9" name="备注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97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731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904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515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49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对于同城数据中心的</a:t>
            </a:r>
            <a:r>
              <a:rPr lang="en-US" altLang="zh-CN" dirty="0"/>
              <a:t>P</a:t>
            </a:r>
            <a:r>
              <a:rPr lang="zh-CN" altLang="en-US" dirty="0"/>
              <a:t>设备之间，使用波分或裸光纤直接互联，链路带宽</a:t>
            </a:r>
            <a:r>
              <a:rPr lang="zh-CN" altLang="en-US" dirty="0" smtClean="0"/>
              <a:t>可达到</a:t>
            </a:r>
            <a:r>
              <a:rPr lang="en-US" altLang="zh-CN" dirty="0"/>
              <a:t>10 G</a:t>
            </a:r>
            <a:r>
              <a:rPr lang="zh-CN" altLang="en-US" dirty="0"/>
              <a:t>。对于异地的数据中心，从成本考虑可以通过运营商</a:t>
            </a:r>
            <a:r>
              <a:rPr lang="en-US" altLang="zh-CN" dirty="0"/>
              <a:t>MSTP</a:t>
            </a:r>
            <a:r>
              <a:rPr lang="zh-CN" altLang="en-US" dirty="0"/>
              <a:t>链路互联。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237973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242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44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623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17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511555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sz="1100" dirty="0"/>
              <a:t>更多详细</a:t>
            </a:r>
            <a:r>
              <a:rPr lang="en-US" altLang="zh-CN" sz="1100" dirty="0"/>
              <a:t>MPLS</a:t>
            </a:r>
            <a:r>
              <a:rPr lang="zh-CN" altLang="en-US" sz="1100" dirty="0"/>
              <a:t>信息，请参考</a:t>
            </a:r>
            <a:r>
              <a:rPr lang="en-US" altLang="zh-CN" sz="1100" dirty="0"/>
              <a:t>HCIP-Datacom-Advanced Routing &amp; Switching Technology</a:t>
            </a:r>
            <a:r>
              <a:rPr lang="zh-CN" altLang="en-US" sz="1100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8879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893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8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273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58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0811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299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10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indent="-180000"/>
            <a:r>
              <a:rPr lang="zh-CN" altLang="en-US" dirty="0"/>
              <a:t>基于</a:t>
            </a:r>
            <a:r>
              <a:rPr lang="en-US" altLang="zh-CN" dirty="0"/>
              <a:t>MPLS</a:t>
            </a:r>
            <a:r>
              <a:rPr lang="zh-CN" altLang="en-US" dirty="0"/>
              <a:t>和</a:t>
            </a:r>
            <a:r>
              <a:rPr lang="en-US" altLang="zh-CN" dirty="0"/>
              <a:t>IPv6</a:t>
            </a:r>
            <a:r>
              <a:rPr lang="zh-CN" altLang="en-US" dirty="0"/>
              <a:t>两种转发技术，</a:t>
            </a:r>
            <a:r>
              <a:rPr lang="en-US" altLang="zh-CN" dirty="0"/>
              <a:t>SR Policy</a:t>
            </a:r>
            <a:r>
              <a:rPr lang="zh-CN" altLang="en-US" dirty="0"/>
              <a:t>可分为</a:t>
            </a:r>
            <a:r>
              <a:rPr lang="en-US" altLang="zh-CN" dirty="0"/>
              <a:t>SR-MPLS</a:t>
            </a:r>
            <a:r>
              <a:rPr lang="zh-CN" altLang="en-US" dirty="0"/>
              <a:t>和</a:t>
            </a:r>
            <a:r>
              <a:rPr lang="en-US" altLang="zh-CN" dirty="0"/>
              <a:t>SRv6 Policy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76547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961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8298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66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52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传统的交换网（如</a:t>
            </a:r>
            <a:r>
              <a:rPr lang="en-US" altLang="zh-CN" dirty="0"/>
              <a:t>ATM</a:t>
            </a:r>
            <a:r>
              <a:rPr lang="zh-CN" altLang="en-US" dirty="0"/>
              <a:t>、</a:t>
            </a:r>
            <a:r>
              <a:rPr lang="en-US" altLang="zh-CN" dirty="0"/>
              <a:t>FR</a:t>
            </a:r>
            <a:r>
              <a:rPr lang="zh-CN" altLang="en-US" dirty="0"/>
              <a:t>）与</a:t>
            </a:r>
            <a:r>
              <a:rPr lang="en-US" altLang="zh-CN" dirty="0"/>
              <a:t>IP</a:t>
            </a:r>
            <a:r>
              <a:rPr lang="zh-CN" altLang="en-US" dirty="0"/>
              <a:t>或</a:t>
            </a:r>
            <a:r>
              <a:rPr lang="en-US" altLang="zh-CN" dirty="0"/>
              <a:t>MPLS</a:t>
            </a:r>
            <a:r>
              <a:rPr lang="zh-CN" altLang="en-US" dirty="0"/>
              <a:t>网络融合，</a:t>
            </a:r>
            <a:r>
              <a:rPr lang="en-US" altLang="zh-CN" dirty="0"/>
              <a:t>L2VPN</a:t>
            </a:r>
            <a:r>
              <a:rPr lang="zh-CN" altLang="en-US" dirty="0"/>
              <a:t>因此而诞生。</a:t>
            </a:r>
            <a:r>
              <a:rPr lang="en-US" altLang="zh-CN" dirty="0"/>
              <a:t>L2VPN</a:t>
            </a:r>
            <a:r>
              <a:rPr lang="zh-CN" altLang="en-US" dirty="0"/>
              <a:t>包括</a:t>
            </a:r>
            <a:r>
              <a:rPr lang="en-US" altLang="zh-CN" dirty="0"/>
              <a:t>VPWS</a:t>
            </a:r>
            <a:r>
              <a:rPr lang="zh-CN" altLang="en-US" dirty="0"/>
              <a:t>（</a:t>
            </a:r>
            <a:r>
              <a:rPr lang="en-US" altLang="zh-CN" dirty="0"/>
              <a:t>Virtual Pseudo Wire Service</a:t>
            </a:r>
            <a:r>
              <a:rPr lang="zh-CN" altLang="en-US" dirty="0"/>
              <a:t>，虚拟专用线路业务）和</a:t>
            </a:r>
            <a:r>
              <a:rPr lang="en-US" altLang="zh-CN" dirty="0"/>
              <a:t>VPLS</a:t>
            </a:r>
            <a:r>
              <a:rPr lang="zh-CN" altLang="en-US" dirty="0"/>
              <a:t>（</a:t>
            </a:r>
            <a:r>
              <a:rPr lang="en-US" altLang="zh-CN" dirty="0"/>
              <a:t>Virtual Private LAN Service</a:t>
            </a:r>
            <a:r>
              <a:rPr lang="zh-CN" altLang="en-US" dirty="0"/>
              <a:t>，虚拟专用局域网业务）：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VPWS</a:t>
            </a:r>
            <a:r>
              <a:rPr lang="zh-CN" altLang="en-US" dirty="0"/>
              <a:t>尽可能真实地模仿</a:t>
            </a:r>
            <a:r>
              <a:rPr lang="en-US" altLang="zh-CN" dirty="0"/>
              <a:t>ATM</a:t>
            </a:r>
            <a:r>
              <a:rPr lang="zh-CN" altLang="en-US" dirty="0"/>
              <a:t>、帧中继等业务的基本行为和特征，是一种点到点的</a:t>
            </a:r>
            <a:r>
              <a:rPr lang="en-US" altLang="zh-CN" dirty="0"/>
              <a:t>L2VPN</a:t>
            </a:r>
            <a:r>
              <a:rPr lang="zh-CN" altLang="en-US" dirty="0"/>
              <a:t>技术。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VPLS</a:t>
            </a:r>
            <a:r>
              <a:rPr lang="zh-CN" altLang="en-US" dirty="0"/>
              <a:t>提供点到多点的</a:t>
            </a:r>
            <a:r>
              <a:rPr lang="en-US" altLang="zh-CN" dirty="0"/>
              <a:t>L2VPN</a:t>
            </a:r>
            <a:r>
              <a:rPr lang="zh-CN" altLang="en-US" dirty="0"/>
              <a:t>业务，使各个站点间的连接效果像在一个</a:t>
            </a:r>
            <a:r>
              <a:rPr lang="en-US" altLang="zh-CN" dirty="0"/>
              <a:t>LAN</a:t>
            </a:r>
            <a:r>
              <a:rPr lang="zh-CN" altLang="en-US" dirty="0"/>
              <a:t>中一样。</a:t>
            </a:r>
            <a:endParaRPr lang="en-US" altLang="zh-CN" dirty="0"/>
          </a:p>
          <a:p>
            <a:pPr eaLnBrk="1" hangingPunct="1"/>
            <a:r>
              <a:rPr lang="en-US" altLang="zh-CN" dirty="0"/>
              <a:t>VPDN</a:t>
            </a:r>
            <a:r>
              <a:rPr lang="zh-CN" altLang="en-US" dirty="0"/>
              <a:t>是指在公共网络上构建的虚拟专用网络，采用专用的网络加密通信协议，为企业驻外机构、移动办公人员提供接入服务。</a:t>
            </a:r>
            <a:r>
              <a:rPr lang="en-US" altLang="zh-CN" dirty="0"/>
              <a:t>VPDN</a:t>
            </a:r>
            <a:r>
              <a:rPr lang="zh-CN" altLang="en-US" dirty="0"/>
              <a:t>隧道协议有多种，目前使用最广泛的是</a:t>
            </a:r>
            <a:r>
              <a:rPr lang="en-US" altLang="zh-CN" dirty="0"/>
              <a:t>L2TP</a:t>
            </a:r>
            <a:r>
              <a:rPr lang="zh-CN" altLang="en-US" dirty="0"/>
              <a:t>（</a:t>
            </a:r>
            <a:r>
              <a:rPr lang="en-US" altLang="zh-CN" dirty="0"/>
              <a:t>Layer Two Tunneling Protocol</a:t>
            </a:r>
            <a:r>
              <a:rPr lang="zh-CN" altLang="en-US" dirty="0"/>
              <a:t>）。严格来说，</a:t>
            </a:r>
            <a:r>
              <a:rPr lang="en-US" altLang="zh-CN" dirty="0"/>
              <a:t>L2TP</a:t>
            </a:r>
            <a:r>
              <a:rPr lang="zh-CN" altLang="en-US" dirty="0"/>
              <a:t>也属于二层</a:t>
            </a:r>
            <a:r>
              <a:rPr lang="en-US" altLang="zh-CN" dirty="0"/>
              <a:t>VPN</a:t>
            </a:r>
            <a:r>
              <a:rPr lang="zh-CN" altLang="en-US" dirty="0"/>
              <a:t>，但其网络构成和协议设计与其他</a:t>
            </a:r>
            <a:r>
              <a:rPr lang="en-US" altLang="zh-CN" dirty="0"/>
              <a:t>L2VPN</a:t>
            </a:r>
            <a:r>
              <a:rPr lang="zh-CN" altLang="en-US" dirty="0"/>
              <a:t>有很大不同且采用拨号方式，所以分类为</a:t>
            </a:r>
            <a:r>
              <a:rPr lang="en-US" altLang="zh-CN" dirty="0"/>
              <a:t>VPDN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en-US" altLang="zh-CN" dirty="0"/>
              <a:t>L3VPN</a:t>
            </a:r>
            <a:r>
              <a:rPr lang="zh-CN" altLang="en-US" dirty="0"/>
              <a:t>也称为</a:t>
            </a:r>
            <a:r>
              <a:rPr lang="en-US" altLang="zh-CN" dirty="0"/>
              <a:t>VPRN</a:t>
            </a:r>
            <a:r>
              <a:rPr lang="zh-CN" altLang="en-US" dirty="0"/>
              <a:t>（</a:t>
            </a:r>
            <a:r>
              <a:rPr lang="en-US" altLang="zh-CN" dirty="0"/>
              <a:t>Virtual Private Routing Network</a:t>
            </a:r>
            <a:r>
              <a:rPr lang="zh-CN" altLang="en-US" dirty="0"/>
              <a:t>），包括多种类型例如基于</a:t>
            </a:r>
            <a:r>
              <a:rPr lang="en-US" altLang="zh-CN" dirty="0"/>
              <a:t>RFC2547</a:t>
            </a:r>
            <a:r>
              <a:rPr lang="zh-CN" altLang="en-US" dirty="0"/>
              <a:t>的</a:t>
            </a:r>
            <a:r>
              <a:rPr lang="en-US" altLang="zh-CN" dirty="0"/>
              <a:t>BGP/MPLS IP VPN</a:t>
            </a:r>
            <a:r>
              <a:rPr lang="zh-CN" altLang="en-US" dirty="0"/>
              <a:t>、以</a:t>
            </a:r>
            <a:r>
              <a:rPr lang="en-US" altLang="zh-CN" dirty="0"/>
              <a:t>IPsec</a:t>
            </a:r>
            <a:r>
              <a:rPr lang="zh-CN" altLang="en-US" dirty="0"/>
              <a:t>或</a:t>
            </a:r>
            <a:r>
              <a:rPr lang="en-US" altLang="zh-CN" dirty="0"/>
              <a:t>GRE</a:t>
            </a:r>
            <a:r>
              <a:rPr lang="zh-CN" altLang="en-US" dirty="0"/>
              <a:t>作为隧道的</a:t>
            </a:r>
            <a:r>
              <a:rPr lang="en-US" altLang="zh-CN" dirty="0"/>
              <a:t>IPsec VPN</a:t>
            </a:r>
            <a:r>
              <a:rPr lang="zh-CN" altLang="en-US" dirty="0"/>
              <a:t>和</a:t>
            </a:r>
            <a:r>
              <a:rPr lang="en-US" altLang="zh-CN" dirty="0"/>
              <a:t>GRE VPN</a:t>
            </a:r>
            <a:r>
              <a:rPr lang="zh-CN" altLang="en-US" dirty="0"/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6429567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传统</a:t>
            </a:r>
            <a:r>
              <a:rPr lang="en-US" altLang="zh-CN" dirty="0"/>
              <a:t>L2VPN</a:t>
            </a:r>
            <a:r>
              <a:rPr lang="zh-CN" altLang="en-US" dirty="0"/>
              <a:t>没有控制平面，不传递业务路由信息（</a:t>
            </a:r>
            <a:r>
              <a:rPr lang="en-US" altLang="zh-CN" dirty="0"/>
              <a:t>MAC</a:t>
            </a:r>
            <a:r>
              <a:rPr lang="zh-CN" altLang="en-US" dirty="0"/>
              <a:t>地址），使用</a:t>
            </a:r>
            <a:r>
              <a:rPr lang="en-US" altLang="zh-CN" dirty="0"/>
              <a:t>BGP</a:t>
            </a:r>
            <a:r>
              <a:rPr lang="zh-CN" altLang="en-US" dirty="0"/>
              <a:t>作为信令协议建立</a:t>
            </a:r>
            <a:r>
              <a:rPr lang="en-US" altLang="zh-CN" dirty="0"/>
              <a:t>VC</a:t>
            </a:r>
            <a:r>
              <a:rPr lang="zh-CN" altLang="en-US" dirty="0"/>
              <a:t>（</a:t>
            </a:r>
            <a:r>
              <a:rPr lang="en-US" altLang="zh-CN" dirty="0"/>
              <a:t>Virtual Circuit</a:t>
            </a:r>
            <a:r>
              <a:rPr lang="zh-CN" altLang="en-US" dirty="0"/>
              <a:t>，虚链路</a:t>
            </a:r>
            <a:r>
              <a:rPr lang="zh-CN" altLang="en-US" dirty="0" smtClean="0"/>
              <a:t>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4060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VC</a:t>
            </a:r>
            <a:r>
              <a:rPr lang="zh-CN" altLang="en-US"/>
              <a:t>在部分文档也称为</a:t>
            </a:r>
            <a:r>
              <a:rPr lang="en-US" altLang="zh-CN"/>
              <a:t>PW</a:t>
            </a:r>
            <a:r>
              <a:rPr lang="zh-CN" altLang="en-US"/>
              <a:t>（</a:t>
            </a:r>
            <a:r>
              <a:rPr lang="en-US" altLang="zh-CN"/>
              <a:t>Pseudo Wire</a:t>
            </a:r>
            <a:r>
              <a:rPr lang="zh-CN" altLang="en-US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3008070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11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0303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613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4974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98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</a:t>
            </a:r>
            <a:r>
              <a:rPr lang="zh-CN" altLang="en-US" dirty="0"/>
              <a:t>：</a:t>
            </a:r>
            <a:r>
              <a:rPr lang="en-US" altLang="zh-CN" dirty="0"/>
              <a:t>GRE</a:t>
            </a:r>
            <a:r>
              <a:rPr lang="zh-CN" altLang="en-US" dirty="0"/>
              <a:t>可应用于</a:t>
            </a:r>
            <a:r>
              <a:rPr lang="en-US" altLang="zh-CN" dirty="0"/>
              <a:t>L2VPN</a:t>
            </a:r>
            <a:r>
              <a:rPr lang="zh-CN" altLang="en-US" dirty="0"/>
              <a:t>，也可以应用于</a:t>
            </a:r>
            <a:r>
              <a:rPr lang="en-US" altLang="zh-CN" dirty="0"/>
              <a:t>L3VPN</a:t>
            </a:r>
            <a:r>
              <a:rPr lang="zh-CN" altLang="en-US" dirty="0"/>
              <a:t>。通常</a:t>
            </a:r>
            <a:r>
              <a:rPr lang="en-US" altLang="zh-CN" dirty="0"/>
              <a:t>MPLS VPN</a:t>
            </a:r>
            <a:r>
              <a:rPr lang="zh-CN" altLang="en-US" dirty="0"/>
              <a:t>广域承载网使用</a:t>
            </a:r>
            <a:r>
              <a:rPr lang="en-US" altLang="zh-CN" dirty="0"/>
              <a:t>LSP</a:t>
            </a:r>
            <a:r>
              <a:rPr lang="zh-CN" altLang="en-US" dirty="0"/>
              <a:t>作为公网隧道。如果广域承载网设备（</a:t>
            </a:r>
            <a:r>
              <a:rPr lang="en-US" altLang="zh-CN" dirty="0"/>
              <a:t>P</a:t>
            </a:r>
            <a:r>
              <a:rPr lang="zh-CN" altLang="en-US" dirty="0"/>
              <a:t>设备）只提供纯</a:t>
            </a:r>
            <a:r>
              <a:rPr lang="en-US" altLang="zh-CN" dirty="0"/>
              <a:t>IP</a:t>
            </a:r>
            <a:r>
              <a:rPr lang="zh-CN" altLang="en-US" dirty="0"/>
              <a:t>功能，不具备</a:t>
            </a:r>
            <a:r>
              <a:rPr lang="en-US" altLang="zh-CN" dirty="0"/>
              <a:t>MPLS</a:t>
            </a:r>
            <a:r>
              <a:rPr lang="zh-CN" altLang="en-US" dirty="0"/>
              <a:t>功能，而网络边缘的</a:t>
            </a:r>
            <a:r>
              <a:rPr lang="en-US" altLang="zh-CN" dirty="0"/>
              <a:t>PE</a:t>
            </a:r>
            <a:r>
              <a:rPr lang="zh-CN" altLang="en-US" dirty="0"/>
              <a:t>具备</a:t>
            </a:r>
            <a:r>
              <a:rPr lang="en-US" altLang="zh-CN" dirty="0"/>
              <a:t>MPLS</a:t>
            </a:r>
            <a:r>
              <a:rPr lang="zh-CN" altLang="en-US" dirty="0"/>
              <a:t>功能，就不能使用</a:t>
            </a:r>
            <a:r>
              <a:rPr lang="en-US" altLang="zh-CN" dirty="0"/>
              <a:t>LSP</a:t>
            </a:r>
            <a:r>
              <a:rPr lang="zh-CN" altLang="en-US" dirty="0"/>
              <a:t>作为公网隧道。此时，可以使用</a:t>
            </a:r>
            <a:r>
              <a:rPr lang="en-US" altLang="zh-CN" dirty="0"/>
              <a:t>GRE</a:t>
            </a:r>
            <a:r>
              <a:rPr lang="zh-CN" altLang="en-US" dirty="0"/>
              <a:t>隧道替代</a:t>
            </a:r>
            <a:r>
              <a:rPr lang="en-US" altLang="zh-CN" dirty="0"/>
              <a:t>LSP</a:t>
            </a:r>
            <a:r>
              <a:rPr lang="zh-CN" altLang="en-US" dirty="0"/>
              <a:t>，在广域承载网提供三层或二层</a:t>
            </a:r>
            <a:r>
              <a:rPr lang="en-US" altLang="zh-CN" dirty="0"/>
              <a:t>VPN</a:t>
            </a:r>
            <a:r>
              <a:rPr lang="zh-CN" altLang="en-US" dirty="0"/>
              <a:t>解决方案。</a:t>
            </a:r>
            <a:endParaRPr lang="en-US" altLang="zh-CN" dirty="0"/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SR-MPLS Policy</a:t>
            </a:r>
            <a:r>
              <a:rPr lang="zh-CN" altLang="en-US" dirty="0"/>
              <a:t>：</a:t>
            </a:r>
            <a:r>
              <a:rPr lang="en-US" altLang="zh-CN" dirty="0"/>
              <a:t>SR-MPLS</a:t>
            </a:r>
            <a:r>
              <a:rPr lang="zh-CN" altLang="en-US" dirty="0"/>
              <a:t>隧道的一种。</a:t>
            </a:r>
            <a:endParaRPr lang="en-US" altLang="zh-CN" dirty="0"/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dirty="0"/>
              <a:t>SRv6 Policy</a:t>
            </a:r>
            <a:r>
              <a:rPr lang="zh-CN" altLang="en-US" dirty="0"/>
              <a:t>：</a:t>
            </a:r>
            <a:r>
              <a:rPr lang="en-US" altLang="zh-CN" dirty="0"/>
              <a:t>SRv6</a:t>
            </a:r>
            <a:r>
              <a:rPr lang="zh-CN" altLang="en-US" dirty="0"/>
              <a:t>隧道的一种。</a:t>
            </a:r>
            <a:endParaRPr lang="en-US" altLang="zh-CN" dirty="0"/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隧道管理配置有配置隧道策略和配置隧道策略选择器两种方式。本课程以配置隧道策略为例。隧道策略选择器主要适用跨域</a:t>
            </a:r>
            <a:r>
              <a:rPr lang="en-US" altLang="zh-CN" dirty="0"/>
              <a:t>VPN</a:t>
            </a:r>
            <a:r>
              <a:rPr lang="zh-CN" altLang="en-US" dirty="0"/>
              <a:t>场景，详细可参考</a:t>
            </a:r>
            <a:r>
              <a:rPr lang="en-US" altLang="zh-CN" dirty="0"/>
              <a:t>NE</a:t>
            </a:r>
            <a:r>
              <a:rPr lang="zh-CN" altLang="en-US" dirty="0"/>
              <a:t>系列产品文档。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36818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隧道策略参数配置有诸多细节，例如</a:t>
            </a:r>
            <a:r>
              <a:rPr lang="en-US" altLang="zh-CN"/>
              <a:t>CR-LSP</a:t>
            </a:r>
            <a:r>
              <a:rPr lang="zh-CN" altLang="en-US"/>
              <a:t>类型隧道包含</a:t>
            </a:r>
            <a:r>
              <a:rPr lang="en-US" altLang="zh-CN"/>
              <a:t>RSVP-TE</a:t>
            </a:r>
            <a:r>
              <a:rPr lang="zh-CN" altLang="en-US"/>
              <a:t>隧道和</a:t>
            </a:r>
            <a:r>
              <a:rPr lang="en-US" altLang="zh-CN"/>
              <a:t>SR-MPLS TE</a:t>
            </a:r>
            <a:r>
              <a:rPr lang="zh-CN" altLang="en-US"/>
              <a:t>隧道，系统会根据隧道</a:t>
            </a:r>
            <a:r>
              <a:rPr lang="en-US" altLang="zh-CN"/>
              <a:t>Up</a:t>
            </a:r>
            <a:r>
              <a:rPr lang="zh-CN" altLang="en-US"/>
              <a:t>时间确认其优先级。更多配置详细细节，请参考华为</a:t>
            </a:r>
            <a:r>
              <a:rPr lang="en-US" altLang="zh-CN"/>
              <a:t>NE</a:t>
            </a:r>
            <a:r>
              <a:rPr lang="zh-CN" altLang="en-US"/>
              <a:t>系列路由器产品文档“</a:t>
            </a:r>
            <a:r>
              <a:rPr lang="en-US" altLang="zh-CN"/>
              <a:t>VPN</a:t>
            </a:r>
            <a:r>
              <a:rPr lang="zh-CN" altLang="en-US"/>
              <a:t>隧道管理配置”小节。</a:t>
            </a:r>
          </a:p>
        </p:txBody>
      </p:sp>
    </p:spTree>
    <p:extLst>
      <p:ext uri="{BB962C8B-B14F-4D97-AF65-F5344CB8AC3E}">
        <p14:creationId xmlns:p14="http://schemas.microsoft.com/office/powerpoint/2010/main" val="2929626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sz="1100" dirty="0">
                <a:sym typeface="Huawei Sans" panose="020C0503030203020204" pitchFamily="34" charset="0"/>
              </a:rPr>
              <a:t>其他类型例如</a:t>
            </a:r>
            <a:r>
              <a:rPr lang="en-US" altLang="zh-CN" sz="1100" dirty="0">
                <a:sym typeface="Huawei Sans" panose="020C0503030203020204" pitchFamily="34" charset="0"/>
              </a:rPr>
              <a:t>VPNv6</a:t>
            </a:r>
            <a:r>
              <a:rPr lang="zh-CN" altLang="en-US" sz="1100" dirty="0">
                <a:sym typeface="Huawei Sans" panose="020C0503030203020204" pitchFamily="34" charset="0"/>
              </a:rPr>
              <a:t>、</a:t>
            </a:r>
            <a:r>
              <a:rPr lang="en-US" altLang="zh-CN" sz="1100" dirty="0">
                <a:sym typeface="Huawei Sans" panose="020C0503030203020204" pitchFamily="34" charset="0"/>
              </a:rPr>
              <a:t>L2VPN</a:t>
            </a:r>
            <a:r>
              <a:rPr lang="zh-CN" altLang="en-US" sz="1100" dirty="0">
                <a:sym typeface="Huawei Sans" panose="020C0503030203020204" pitchFamily="34" charset="0"/>
              </a:rPr>
              <a:t>和</a:t>
            </a:r>
            <a:r>
              <a:rPr lang="en-US" altLang="zh-CN" sz="1100" dirty="0">
                <a:sym typeface="Huawei Sans" panose="020C0503030203020204" pitchFamily="34" charset="0"/>
              </a:rPr>
              <a:t>EVPN</a:t>
            </a:r>
            <a:r>
              <a:rPr lang="zh-CN" altLang="en-US" sz="1100" dirty="0">
                <a:sym typeface="Huawei Sans" panose="020C0503030203020204" pitchFamily="34" charset="0"/>
              </a:rPr>
              <a:t>等的应用请参考</a:t>
            </a:r>
            <a:r>
              <a:rPr lang="en-US" altLang="zh-CN" sz="1100" dirty="0">
                <a:sym typeface="Huawei Sans" panose="020C0503030203020204" pitchFamily="34" charset="0"/>
              </a:rPr>
              <a:t>NE</a:t>
            </a:r>
            <a:r>
              <a:rPr lang="zh-CN" altLang="en-US" sz="1100" dirty="0">
                <a:sym typeface="Huawei Sans" panose="020C0503030203020204" pitchFamily="34" charset="0"/>
              </a:rPr>
              <a:t>系列路由器产品文档。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4531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参考</a:t>
            </a:r>
            <a:r>
              <a:rPr lang="en-US" altLang="zh-CN" dirty="0"/>
              <a:t>RFC </a:t>
            </a:r>
            <a:r>
              <a:rPr lang="en-US" altLang="zh-CN" dirty="0" smtClean="0"/>
              <a:t>8402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《2</a:t>
            </a:r>
            <a:r>
              <a:rPr lang="en-US" altLang="zh-CN" dirty="0"/>
              <a:t>. Terminology ”SR Policy</a:t>
            </a:r>
            <a:r>
              <a:rPr lang="en-US" altLang="zh-CN" dirty="0" smtClean="0"/>
              <a:t>”》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en-US" altLang="zh-CN" sz="1100" dirty="0"/>
              <a:t>SR Policy</a:t>
            </a:r>
            <a:r>
              <a:rPr lang="zh-CN" altLang="en-US" sz="1100" dirty="0"/>
              <a:t>的引流方式有</a:t>
            </a:r>
            <a:r>
              <a:rPr lang="en-US" altLang="zh-CN" sz="1100" dirty="0"/>
              <a:t>Binding SID</a:t>
            </a:r>
            <a:r>
              <a:rPr lang="zh-CN" altLang="en-US" sz="1100" dirty="0"/>
              <a:t>引流、</a:t>
            </a:r>
            <a:r>
              <a:rPr lang="en-US" altLang="zh-CN" sz="1100" dirty="0"/>
              <a:t>Color</a:t>
            </a:r>
            <a:r>
              <a:rPr lang="zh-CN" altLang="en-US" sz="1100" dirty="0"/>
              <a:t>引流和</a:t>
            </a:r>
            <a:r>
              <a:rPr lang="en-US" altLang="zh-CN" sz="1100" dirty="0"/>
              <a:t>DSCP</a:t>
            </a:r>
            <a:r>
              <a:rPr lang="zh-CN" altLang="en-US" sz="1100" dirty="0"/>
              <a:t>引流，不在此详细展开。</a:t>
            </a:r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521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0170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6997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12976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在不同解决方案中使用的采集协议可能不同，例如在华为</a:t>
            </a:r>
            <a:r>
              <a:rPr lang="en-US" altLang="zh-CN" dirty="0"/>
              <a:t>MPLS</a:t>
            </a:r>
            <a:r>
              <a:rPr lang="zh-CN" altLang="en-US" dirty="0"/>
              <a:t>网络中使用</a:t>
            </a:r>
            <a:r>
              <a:rPr lang="en-US" altLang="zh-CN" dirty="0"/>
              <a:t>PCEP</a:t>
            </a:r>
            <a:r>
              <a:rPr lang="zh-CN" altLang="en-US" dirty="0"/>
              <a:t>采集</a:t>
            </a:r>
            <a:r>
              <a:rPr lang="en-US" altLang="zh-CN" dirty="0"/>
              <a:t>TE</a:t>
            </a:r>
            <a:r>
              <a:rPr lang="zh-CN" altLang="en-US" dirty="0"/>
              <a:t>隧道信息，在</a:t>
            </a:r>
            <a:r>
              <a:rPr lang="en-US" altLang="zh-CN" dirty="0"/>
              <a:t>SRv6</a:t>
            </a:r>
            <a:r>
              <a:rPr lang="zh-CN" altLang="en-US" dirty="0"/>
              <a:t>网络中使用</a:t>
            </a:r>
            <a:r>
              <a:rPr lang="en-US" altLang="zh-CN" dirty="0"/>
              <a:t>BGP SR Policy</a:t>
            </a:r>
            <a:r>
              <a:rPr lang="zh-CN" altLang="en-US" dirty="0"/>
              <a:t>采集</a:t>
            </a:r>
            <a:r>
              <a:rPr lang="en-US" altLang="zh-CN" dirty="0"/>
              <a:t>TE</a:t>
            </a:r>
            <a:r>
              <a:rPr lang="zh-CN" altLang="en-US" dirty="0"/>
              <a:t>隧道信息。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3626256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带宽均衡路径：满足约束，</a:t>
            </a:r>
            <a:r>
              <a:rPr lang="en-US" altLang="zh-CN"/>
              <a:t>COST</a:t>
            </a:r>
            <a:r>
              <a:rPr lang="zh-CN" altLang="en-US"/>
              <a:t>也相同的所有路径中，剩余带宽更多的路径。</a:t>
            </a:r>
            <a:endParaRPr lang="en-US" altLang="zh-CN"/>
          </a:p>
          <a:p>
            <a:r>
              <a:rPr lang="zh-CN" altLang="en-US"/>
              <a:t>最优可用度路径：满足约束的所有路径中，可用度最优的路径。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08788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34593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38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55456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6115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7257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66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4310764"/>
            <a:ext cx="5580062" cy="4985635"/>
          </a:xfrm>
        </p:spPr>
        <p:txBody>
          <a:bodyPr/>
          <a:lstStyle/>
          <a:p>
            <a:r>
              <a:rPr lang="zh-CN" altLang="en-US" dirty="0" smtClean="0"/>
              <a:t>报文基本转发流程请参考</a:t>
            </a:r>
            <a:r>
              <a:rPr lang="en-US" altLang="zh-CN" dirty="0" smtClean="0"/>
              <a:t>HCIP-</a:t>
            </a:r>
            <a:r>
              <a:rPr lang="en-US" altLang="zh-CN" dirty="0" err="1" smtClean="0"/>
              <a:t>Datacom</a:t>
            </a:r>
            <a:r>
              <a:rPr lang="en-US" altLang="zh-CN" dirty="0" smtClean="0"/>
              <a:t>-Core《</a:t>
            </a:r>
            <a:r>
              <a:rPr lang="zh-CN" altLang="en-US" dirty="0" smtClean="0"/>
              <a:t>认识网络设备</a:t>
            </a:r>
            <a:r>
              <a:rPr lang="en-US" altLang="zh-CN" dirty="0" smtClean="0"/>
              <a:t>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简单流分类：简单流分类是指只根据</a:t>
            </a:r>
            <a:r>
              <a:rPr lang="en-US" altLang="zh-CN" dirty="0" smtClean="0"/>
              <a:t>IP</a:t>
            </a:r>
            <a:r>
              <a:rPr lang="zh-CN" altLang="en-US" dirty="0" smtClean="0"/>
              <a:t>报文的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优先级或</a:t>
            </a:r>
            <a:r>
              <a:rPr lang="en-US" altLang="zh-CN" dirty="0" smtClean="0"/>
              <a:t>DSCP</a:t>
            </a:r>
            <a:r>
              <a:rPr lang="zh-CN" altLang="en-US" dirty="0" smtClean="0"/>
              <a:t>值、</a:t>
            </a:r>
            <a:r>
              <a:rPr lang="en-US" altLang="zh-CN" dirty="0" smtClean="0"/>
              <a:t>IPv6</a:t>
            </a:r>
            <a:r>
              <a:rPr lang="zh-CN" altLang="en-US" dirty="0" smtClean="0"/>
              <a:t>报文的</a:t>
            </a:r>
            <a:r>
              <a:rPr lang="en-US" altLang="zh-CN" dirty="0" smtClean="0"/>
              <a:t>TC</a:t>
            </a:r>
            <a:r>
              <a:rPr lang="zh-CN" altLang="en-US" dirty="0" smtClean="0"/>
              <a:t>值、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报文的</a:t>
            </a:r>
            <a:r>
              <a:rPr lang="en-US" altLang="zh-CN" dirty="0" smtClean="0"/>
              <a:t>EXP</a:t>
            </a:r>
            <a:r>
              <a:rPr lang="zh-CN" altLang="en-US" dirty="0" smtClean="0"/>
              <a:t>域值、</a:t>
            </a:r>
            <a:r>
              <a:rPr lang="en-US" altLang="zh-CN" dirty="0" smtClean="0"/>
              <a:t>VLAN</a:t>
            </a:r>
            <a:r>
              <a:rPr lang="zh-CN" altLang="en-US" dirty="0" smtClean="0"/>
              <a:t>报文的</a:t>
            </a:r>
            <a:r>
              <a:rPr lang="en-US" altLang="zh-CN" dirty="0" smtClean="0"/>
              <a:t>802.1p</a:t>
            </a:r>
            <a:r>
              <a:rPr lang="zh-CN" altLang="en-US" dirty="0" smtClean="0"/>
              <a:t>值，对报文进行粗略的分类，以识别出具有不同优先级或服务等级特征的流量，实现外部优先级和内部优先级之间的映射。</a:t>
            </a:r>
            <a:endParaRPr lang="en-US" altLang="zh-CN" dirty="0" smtClean="0"/>
          </a:p>
          <a:p>
            <a:r>
              <a:rPr lang="zh-CN" altLang="en-US" dirty="0" smtClean="0"/>
              <a:t>复杂流分类：复杂流分类是指采用复杂的规则，如由五元组（源地址、源端口号、协议号码、目的地址、目的端口号）对报文进行精细的分类。</a:t>
            </a:r>
            <a:endParaRPr lang="en-US" altLang="zh-CN" dirty="0" smtClean="0"/>
          </a:p>
          <a:p>
            <a:r>
              <a:rPr lang="en-US" altLang="zh-CN" dirty="0" smtClean="0"/>
              <a:t>PFE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Packet Forwarding Engine</a:t>
            </a:r>
            <a:r>
              <a:rPr lang="zh-CN" altLang="en-US" dirty="0" smtClean="0"/>
              <a:t>，包转发引擎）：路由器上电启动之后，就会运行路由协议学习网络拓扑，生成路由表。如果接口板注册成功，主控板就可以根据路由表生成转发表项并下发给接口板，这样路由器就可以根据转发表转发数据包了。执行数据包转发的部件是位于接口板上的一个被称为包转发引擎</a:t>
            </a:r>
            <a:r>
              <a:rPr lang="en-US" altLang="zh-CN" dirty="0" smtClean="0"/>
              <a:t>PFE</a:t>
            </a:r>
            <a:r>
              <a:rPr lang="zh-CN" altLang="en-US" dirty="0" smtClean="0"/>
              <a:t>的芯片。</a:t>
            </a:r>
            <a:endParaRPr lang="en-US" altLang="zh-CN" dirty="0" smtClean="0"/>
          </a:p>
          <a:p>
            <a:r>
              <a:rPr lang="en-US" altLang="zh-CN" dirty="0" smtClean="0"/>
              <a:t>TM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Traffic Management</a:t>
            </a:r>
            <a:r>
              <a:rPr lang="zh-CN" altLang="en-US" dirty="0" smtClean="0"/>
              <a:t>，流量管理）：华为高端路由器的接口板上有一块被称为</a:t>
            </a:r>
            <a:r>
              <a:rPr lang="en-US" altLang="zh-CN" dirty="0" smtClean="0"/>
              <a:t>TM</a:t>
            </a:r>
            <a:r>
              <a:rPr lang="zh-CN" altLang="en-US" dirty="0" smtClean="0"/>
              <a:t>的芯片，里面存在高速缓存。在拥塞的情况下，数据包以队列的形式暂存在缓存里，</a:t>
            </a:r>
            <a:r>
              <a:rPr lang="en-US" altLang="zh-CN" dirty="0" smtClean="0"/>
              <a:t>TM</a:t>
            </a:r>
            <a:r>
              <a:rPr lang="zh-CN" altLang="en-US" dirty="0" smtClean="0"/>
              <a:t>再按一定的规则把数据包调度出队，送往交换网。如果超过缓存容量，则会按一定规则做报文丢弃。 </a:t>
            </a:r>
            <a:endParaRPr lang="en-US" altLang="zh-CN" dirty="0" smtClean="0"/>
          </a:p>
          <a:p>
            <a:r>
              <a:rPr lang="en-US" altLang="zh-CN" dirty="0" smtClean="0"/>
              <a:t>CAR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Committed Access Rate</a:t>
            </a:r>
            <a:r>
              <a:rPr lang="zh-CN" altLang="en-US" dirty="0" smtClean="0"/>
              <a:t>，承诺接入速率）：使得流量不超过入</a:t>
            </a:r>
            <a:r>
              <a:rPr lang="en-US" altLang="zh-CN" dirty="0" smtClean="0"/>
              <a:t>/</a:t>
            </a:r>
            <a:r>
              <a:rPr lang="zh-CN" altLang="en-US" dirty="0" smtClean="0"/>
              <a:t>出接口允许的带宽，超出限制的那部分数据包会被直接丢弃。目前流量监管使用的技术是</a:t>
            </a:r>
            <a:r>
              <a:rPr lang="en-US" altLang="zh-CN" dirty="0" smtClean="0"/>
              <a:t>CAR</a:t>
            </a:r>
            <a:r>
              <a:rPr lang="zh-CN" altLang="en-US" dirty="0" smtClean="0"/>
              <a:t>。</a:t>
            </a:r>
            <a:r>
              <a:rPr lang="en-US" altLang="zh-CN" dirty="0" smtClean="0"/>
              <a:t>CAR</a:t>
            </a:r>
            <a:r>
              <a:rPr lang="zh-CN" altLang="en-US" dirty="0" smtClean="0"/>
              <a:t>是由包转发引擎</a:t>
            </a:r>
            <a:r>
              <a:rPr lang="en-US" altLang="zh-CN" dirty="0" smtClean="0"/>
              <a:t>PFE</a:t>
            </a:r>
            <a:r>
              <a:rPr lang="zh-CN" altLang="en-US" dirty="0" smtClean="0"/>
              <a:t>完成的，可以在上行</a:t>
            </a:r>
            <a:r>
              <a:rPr lang="en-US" altLang="zh-CN" dirty="0" smtClean="0"/>
              <a:t>PFE</a:t>
            </a:r>
            <a:r>
              <a:rPr lang="zh-CN" altLang="en-US" dirty="0" smtClean="0"/>
              <a:t>上执行，限制流量不超过入接口带宽；也可以在下行</a:t>
            </a:r>
            <a:r>
              <a:rPr lang="en-US" altLang="zh-CN" dirty="0" smtClean="0"/>
              <a:t>PFE</a:t>
            </a:r>
            <a:r>
              <a:rPr lang="zh-CN" altLang="en-US" dirty="0" smtClean="0"/>
              <a:t>上执行，限制流量不超过出接口带宽。</a:t>
            </a:r>
            <a:endParaRPr lang="en-US" altLang="zh-CN" dirty="0" smtClean="0"/>
          </a:p>
          <a:p>
            <a:r>
              <a:rPr lang="zh-CN" altLang="en-US" dirty="0" smtClean="0"/>
              <a:t>获取封装信息：在下行接口板，获取的封装信息需要根据转发技术决定，例如</a:t>
            </a:r>
            <a:r>
              <a:rPr lang="en-US" altLang="zh-CN" dirty="0" smtClean="0"/>
              <a:t>IP</a:t>
            </a:r>
            <a:r>
              <a:rPr lang="zh-CN" altLang="en-US" dirty="0" smtClean="0"/>
              <a:t>转发则获取目的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信息，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转发则需要获取标签信息。</a:t>
            </a:r>
          </a:p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357745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88754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2027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596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WRED (Weighted Random Early Detection</a:t>
            </a:r>
            <a:r>
              <a:rPr lang="zh-CN" altLang="en-US"/>
              <a:t>，加权随机早期检测</a:t>
            </a:r>
            <a:r>
              <a:rPr lang="en-US" altLang="zh-CN"/>
              <a:t>)</a:t>
            </a:r>
            <a:r>
              <a:rPr lang="zh-CN" altLang="en-US"/>
              <a:t>：通过对不同优先级数据包或队列设置相应的丢弃策略，以实现对不同流量进行区分丢弃。是在队列拥塞前进行丢弃报文的一种拥塞避免机制。详细请参考华为</a:t>
            </a:r>
            <a:r>
              <a:rPr lang="en-US" altLang="zh-CN"/>
              <a:t>NE</a:t>
            </a:r>
            <a:r>
              <a:rPr lang="zh-CN" altLang="en-US"/>
              <a:t>系列产品文档。</a:t>
            </a:r>
            <a:endParaRPr lang="en-US" altLang="zh-CN"/>
          </a:p>
          <a:p>
            <a:r>
              <a:rPr lang="en-US" altLang="zh-CN"/>
              <a:t>FIFO</a:t>
            </a:r>
            <a:r>
              <a:rPr lang="zh-CN" altLang="en-US"/>
              <a:t>：</a:t>
            </a:r>
            <a:r>
              <a:rPr lang="en-US" altLang="zh-CN"/>
              <a:t>FIFO</a:t>
            </a:r>
            <a:r>
              <a:rPr lang="zh-CN" altLang="en-US"/>
              <a:t>不对报文进行分类。</a:t>
            </a:r>
            <a:r>
              <a:rPr lang="en-US" altLang="zh-CN"/>
              <a:t>FIFO</a:t>
            </a:r>
            <a:r>
              <a:rPr lang="zh-CN" altLang="en-US"/>
              <a:t>按报文到达接口的先后顺序让报文进入队列，在队列的出口让报文按进队的顺序出队，先进的报文将先出队，后进的报文将后出队。</a:t>
            </a:r>
            <a:endParaRPr lang="en-US" altLang="zh-CN"/>
          </a:p>
          <a:p>
            <a:r>
              <a:rPr lang="en-US" altLang="zh-CN"/>
              <a:t>SP</a:t>
            </a:r>
            <a:r>
              <a:rPr lang="zh-CN" altLang="en-US"/>
              <a:t>：严格按照队列优先级的高低顺序进行调度。只有高优先级队列中的报文全部调度完毕后，低优先级队列才有调度机会。</a:t>
            </a:r>
            <a:endParaRPr lang="en-US" altLang="zh-CN"/>
          </a:p>
          <a:p>
            <a:r>
              <a:rPr lang="en-US" altLang="zh-CN"/>
              <a:t>WFQ</a:t>
            </a:r>
            <a:r>
              <a:rPr lang="zh-CN" altLang="en-US"/>
              <a:t>：按队列权重来分配每个流应占有出口的带宽。</a:t>
            </a:r>
            <a:endParaRPr lang="en-US" altLang="zh-CN"/>
          </a:p>
          <a:p>
            <a:r>
              <a:rPr lang="zh-CN" altLang="en-US"/>
              <a:t>更多的调度算法例如</a:t>
            </a:r>
            <a:r>
              <a:rPr lang="en-US" altLang="zh-CN"/>
              <a:t>RR</a:t>
            </a:r>
            <a:r>
              <a:rPr lang="zh-CN" altLang="en-US"/>
              <a:t>轮询、</a:t>
            </a:r>
            <a:r>
              <a:rPr lang="en-US" altLang="zh-CN"/>
              <a:t>WRR</a:t>
            </a:r>
            <a:r>
              <a:rPr lang="zh-CN" altLang="en-US"/>
              <a:t>加权轮询、</a:t>
            </a:r>
            <a:r>
              <a:rPr lang="en-US" altLang="zh-CN"/>
              <a:t>DRR</a:t>
            </a:r>
            <a:r>
              <a:rPr lang="zh-CN" altLang="en-US"/>
              <a:t>差分轮询等不在此介绍。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63687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CN" dirty="0"/>
              <a:t>PQ</a:t>
            </a:r>
            <a:r>
              <a:rPr lang="zh-CN" altLang="en-US" dirty="0"/>
              <a:t>队列</a:t>
            </a:r>
          </a:p>
          <a:p>
            <a:pPr lvl="1">
              <a:spcAft>
                <a:spcPts val="0"/>
              </a:spcAft>
            </a:pPr>
            <a:r>
              <a:rPr lang="en-US" altLang="zh-CN" dirty="0"/>
              <a:t>PQ</a:t>
            </a:r>
            <a:r>
              <a:rPr lang="zh-CN" altLang="en-US" dirty="0"/>
              <a:t>队列之间采用</a:t>
            </a:r>
            <a:r>
              <a:rPr lang="en-US" altLang="zh-CN" dirty="0"/>
              <a:t>SP</a:t>
            </a:r>
            <a:r>
              <a:rPr lang="zh-CN" altLang="en-US" dirty="0"/>
              <a:t>调度算法，当从队列调度报文时，先从高优先级的队列调度报文。这样，可对不同业务数据提供绝对的优先，对时延敏感的应用如</a:t>
            </a:r>
            <a:r>
              <a:rPr lang="en-US" altLang="zh-CN" dirty="0"/>
              <a:t>VoIP</a:t>
            </a:r>
            <a:r>
              <a:rPr lang="zh-CN" altLang="en-US" dirty="0"/>
              <a:t>的延时可以得到保证，对优先业务的报文带宽占用可以绝对优先。</a:t>
            </a:r>
          </a:p>
          <a:p>
            <a:pPr lvl="1">
              <a:spcAft>
                <a:spcPts val="0"/>
              </a:spcAft>
            </a:pPr>
            <a:r>
              <a:rPr lang="zh-CN" altLang="en-US" dirty="0"/>
              <a:t>缺点：报文饿死现象</a:t>
            </a:r>
            <a:r>
              <a:rPr lang="en-US" altLang="zh-CN" dirty="0"/>
              <a:t>——</a:t>
            </a:r>
            <a:r>
              <a:rPr lang="zh-CN" altLang="en-US" dirty="0"/>
              <a:t>如果不对高优先级的报文带宽加限制，会造成低优先级报文得不到带宽，可能得不到调度机会。</a:t>
            </a:r>
          </a:p>
          <a:p>
            <a:pPr lvl="1">
              <a:spcAft>
                <a:spcPts val="0"/>
              </a:spcAft>
            </a:pPr>
            <a:r>
              <a:rPr lang="zh-CN" altLang="en-US" dirty="0"/>
              <a:t>通常情况下，只有时延敏感的业务入</a:t>
            </a:r>
            <a:r>
              <a:rPr lang="en-US" altLang="zh-CN" dirty="0"/>
              <a:t>PQ</a:t>
            </a:r>
            <a:r>
              <a:rPr lang="zh-CN" altLang="en-US" dirty="0"/>
              <a:t>队列。</a:t>
            </a:r>
          </a:p>
          <a:p>
            <a:pPr lvl="0">
              <a:spcAft>
                <a:spcPts val="0"/>
              </a:spcAft>
            </a:pPr>
            <a:r>
              <a:rPr lang="en-US" altLang="zh-CN" dirty="0"/>
              <a:t>WFQ</a:t>
            </a:r>
            <a:r>
              <a:rPr lang="zh-CN" altLang="en-US" dirty="0"/>
              <a:t>队列</a:t>
            </a:r>
          </a:p>
          <a:p>
            <a:pPr lvl="1">
              <a:spcAft>
                <a:spcPts val="0"/>
              </a:spcAft>
            </a:pPr>
            <a:r>
              <a:rPr lang="en-US" altLang="zh-CN" dirty="0"/>
              <a:t>WFQ</a:t>
            </a:r>
            <a:r>
              <a:rPr lang="zh-CN" altLang="en-US" dirty="0"/>
              <a:t>队列是按权重进行调度的，调度算法可以是</a:t>
            </a:r>
            <a:r>
              <a:rPr lang="en-US" altLang="zh-CN" dirty="0"/>
              <a:t>WFQ</a:t>
            </a:r>
            <a:r>
              <a:rPr lang="zh-CN" altLang="en-US" dirty="0"/>
              <a:t>调度算法，按权重进行剩余带宽的分配。</a:t>
            </a:r>
          </a:p>
          <a:p>
            <a:pPr lvl="0">
              <a:spcAft>
                <a:spcPts val="0"/>
              </a:spcAft>
            </a:pPr>
            <a:r>
              <a:rPr lang="en-US" altLang="zh-CN" dirty="0"/>
              <a:t>LPQ</a:t>
            </a:r>
            <a:r>
              <a:rPr lang="zh-CN" altLang="en-US" dirty="0"/>
              <a:t>队列</a:t>
            </a:r>
          </a:p>
          <a:p>
            <a:pPr lvl="1">
              <a:spcAft>
                <a:spcPts val="0"/>
              </a:spcAft>
            </a:pPr>
            <a:r>
              <a:rPr lang="en-US" altLang="zh-CN" dirty="0"/>
              <a:t>LPQ</a:t>
            </a:r>
            <a:r>
              <a:rPr lang="zh-CN" altLang="en-US" dirty="0"/>
              <a:t>队列是在高速链路（以太网）接口上实现的队列调度机制。低速链路（如</a:t>
            </a:r>
            <a:r>
              <a:rPr lang="en-US" altLang="zh-CN" dirty="0"/>
              <a:t>Serial</a:t>
            </a:r>
            <a:r>
              <a:rPr lang="zh-CN" altLang="en-US" dirty="0"/>
              <a:t>、</a:t>
            </a:r>
            <a:r>
              <a:rPr lang="en-US" altLang="zh-CN" dirty="0"/>
              <a:t>MP-Group</a:t>
            </a:r>
            <a:r>
              <a:rPr lang="zh-CN" altLang="en-US" dirty="0"/>
              <a:t>）上不支持</a:t>
            </a:r>
            <a:r>
              <a:rPr lang="en-US" altLang="zh-CN" dirty="0"/>
              <a:t>LPQ</a:t>
            </a:r>
            <a:r>
              <a:rPr lang="zh-CN" altLang="en-US" dirty="0"/>
              <a:t>队列。</a:t>
            </a:r>
          </a:p>
          <a:p>
            <a:pPr lvl="1">
              <a:spcAft>
                <a:spcPts val="0"/>
              </a:spcAft>
            </a:pPr>
            <a:r>
              <a:rPr lang="en-US" altLang="zh-CN" dirty="0"/>
              <a:t>LPQ</a:t>
            </a:r>
            <a:r>
              <a:rPr lang="zh-CN" altLang="en-US" dirty="0"/>
              <a:t>队列之间的调度方式与</a:t>
            </a:r>
            <a:r>
              <a:rPr lang="en-US" altLang="zh-CN" dirty="0"/>
              <a:t>PQ</a:t>
            </a:r>
            <a:r>
              <a:rPr lang="zh-CN" altLang="en-US" dirty="0"/>
              <a:t>队列一样，也采用</a:t>
            </a:r>
            <a:r>
              <a:rPr lang="en-US" altLang="zh-CN" dirty="0"/>
              <a:t>SP</a:t>
            </a:r>
            <a:r>
              <a:rPr lang="zh-CN" altLang="en-US" dirty="0"/>
              <a:t>调度。不同在于拥塞时</a:t>
            </a:r>
            <a:r>
              <a:rPr lang="en-US" altLang="zh-CN" dirty="0"/>
              <a:t>PQ</a:t>
            </a:r>
            <a:r>
              <a:rPr lang="zh-CN" altLang="en-US" dirty="0"/>
              <a:t>可以抢占</a:t>
            </a:r>
            <a:r>
              <a:rPr lang="en-US" altLang="zh-CN" dirty="0"/>
              <a:t>WFQ</a:t>
            </a:r>
            <a:r>
              <a:rPr lang="zh-CN" altLang="en-US" dirty="0"/>
              <a:t>的带宽，而</a:t>
            </a:r>
            <a:r>
              <a:rPr lang="en-US" altLang="zh-CN" dirty="0"/>
              <a:t>LPQ</a:t>
            </a:r>
            <a:r>
              <a:rPr lang="zh-CN" altLang="en-US" dirty="0"/>
              <a:t>不可以抢占</a:t>
            </a:r>
            <a:r>
              <a:rPr lang="en-US" altLang="zh-CN" dirty="0"/>
              <a:t>WFQ</a:t>
            </a:r>
            <a:r>
              <a:rPr lang="zh-CN" altLang="en-US" dirty="0"/>
              <a:t>的带宽。在</a:t>
            </a:r>
            <a:r>
              <a:rPr lang="en-US" altLang="zh-CN" dirty="0"/>
              <a:t>PQ</a:t>
            </a:r>
            <a:r>
              <a:rPr lang="zh-CN" altLang="en-US" dirty="0"/>
              <a:t>和</a:t>
            </a:r>
            <a:r>
              <a:rPr lang="en-US" altLang="zh-CN" dirty="0"/>
              <a:t>WFQ</a:t>
            </a:r>
            <a:r>
              <a:rPr lang="zh-CN" altLang="en-US" dirty="0"/>
              <a:t>队列调度结束后，如果还有剩余带宽则分配给</a:t>
            </a:r>
            <a:r>
              <a:rPr lang="en-US" altLang="zh-CN" dirty="0"/>
              <a:t>LPQ</a:t>
            </a:r>
            <a:r>
              <a:rPr lang="zh-CN" altLang="en-US" dirty="0"/>
              <a:t>。</a:t>
            </a:r>
          </a:p>
          <a:p>
            <a:pPr lvl="1">
              <a:spcAft>
                <a:spcPts val="0"/>
              </a:spcAft>
            </a:pPr>
            <a:r>
              <a:rPr lang="zh-CN" altLang="en-US" dirty="0"/>
              <a:t>实际应用中，可以将</a:t>
            </a:r>
            <a:r>
              <a:rPr lang="en-US" altLang="zh-CN" dirty="0"/>
              <a:t>BE</a:t>
            </a:r>
            <a:r>
              <a:rPr lang="zh-CN" altLang="en-US" dirty="0"/>
              <a:t>流用</a:t>
            </a:r>
            <a:r>
              <a:rPr lang="en-US" altLang="zh-CN" dirty="0"/>
              <a:t>LPQ</a:t>
            </a:r>
            <a:r>
              <a:rPr lang="zh-CN" altLang="en-US" dirty="0"/>
              <a:t>进行调度。这样，在网络负载较重时，</a:t>
            </a:r>
            <a:r>
              <a:rPr lang="en-US" altLang="zh-CN" dirty="0"/>
              <a:t>BE</a:t>
            </a:r>
            <a:r>
              <a:rPr lang="zh-CN" altLang="en-US" dirty="0"/>
              <a:t>流可以完全被限制，优先满足其它业务。</a:t>
            </a:r>
          </a:p>
          <a:p>
            <a:pPr lvl="0">
              <a:spcAft>
                <a:spcPts val="0"/>
              </a:spcAft>
            </a:pPr>
            <a:r>
              <a:rPr lang="zh-CN" altLang="en-US" dirty="0"/>
              <a:t>所有的</a:t>
            </a:r>
            <a:r>
              <a:rPr lang="en-US" altLang="zh-CN" dirty="0"/>
              <a:t>8</a:t>
            </a:r>
            <a:r>
              <a:rPr lang="zh-CN" altLang="en-US" dirty="0"/>
              <a:t>个端口队列可以全部配置成</a:t>
            </a:r>
            <a:r>
              <a:rPr lang="en-US" altLang="zh-CN" dirty="0"/>
              <a:t>WFQ</a:t>
            </a:r>
            <a:r>
              <a:rPr lang="zh-CN" altLang="en-US" dirty="0"/>
              <a:t>，也可以全部配置成</a:t>
            </a:r>
            <a:r>
              <a:rPr lang="en-US" altLang="zh-CN" dirty="0"/>
              <a:t>PQ</a:t>
            </a:r>
            <a:r>
              <a:rPr lang="zh-CN" altLang="en-US" dirty="0"/>
              <a:t>，也可以全部配置成</a:t>
            </a:r>
            <a:r>
              <a:rPr lang="en-US" altLang="zh-CN" dirty="0"/>
              <a:t>LPQ</a:t>
            </a:r>
            <a:r>
              <a:rPr lang="zh-CN" altLang="en-US" dirty="0"/>
              <a:t>，也可以组合。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3233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en-US" altLang="zh-CN"/>
              <a:t>CE</a:t>
            </a:r>
            <a:r>
              <a:rPr lang="zh-CN" altLang="en-US"/>
              <a:t>或者</a:t>
            </a:r>
            <a:r>
              <a:rPr lang="en-US" altLang="zh-CN"/>
              <a:t>CE</a:t>
            </a:r>
            <a:r>
              <a:rPr lang="zh-CN" altLang="en-US"/>
              <a:t>下游设备不具备流量标记能力，可以考虑在广域承载网</a:t>
            </a:r>
            <a:r>
              <a:rPr lang="en-US" altLang="zh-CN"/>
              <a:t>PE</a:t>
            </a:r>
            <a:r>
              <a:rPr lang="zh-CN" altLang="en-US"/>
              <a:t>入口部署复杂流分类进行流标记入队列，但是会相对影响广域承载网转发性能。</a:t>
            </a:r>
          </a:p>
        </p:txBody>
      </p:sp>
    </p:spTree>
    <p:extLst>
      <p:ext uri="{BB962C8B-B14F-4D97-AF65-F5344CB8AC3E}">
        <p14:creationId xmlns:p14="http://schemas.microsoft.com/office/powerpoint/2010/main" val="4488723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367442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657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49508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1855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39715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4885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534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00480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06709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业务通过不同</a:t>
            </a:r>
            <a:r>
              <a:rPr lang="en-US" altLang="zh-CN" dirty="0"/>
              <a:t>VLAN</a:t>
            </a:r>
            <a:r>
              <a:rPr lang="zh-CN" altLang="en-US" dirty="0"/>
              <a:t>接入，多个逻辑接口对应网络分片的</a:t>
            </a:r>
            <a:r>
              <a:rPr lang="en-US" altLang="zh-CN" dirty="0"/>
              <a:t>VPN</a:t>
            </a:r>
            <a:r>
              <a:rPr lang="zh-CN" altLang="en-US" dirty="0"/>
              <a:t>实例</a:t>
            </a:r>
            <a:r>
              <a:rPr lang="en-US" altLang="zh-CN" dirty="0"/>
              <a:t>VRF1</a:t>
            </a:r>
            <a:r>
              <a:rPr lang="zh-CN" altLang="en-US" dirty="0"/>
              <a:t>，</a:t>
            </a:r>
            <a:r>
              <a:rPr lang="en-US" altLang="zh-CN" dirty="0"/>
              <a:t>VRF2</a:t>
            </a:r>
            <a:r>
              <a:rPr lang="zh-CN" altLang="en-US" dirty="0"/>
              <a:t>，</a:t>
            </a:r>
            <a:r>
              <a:rPr lang="en-US" altLang="zh-CN" dirty="0" smtClean="0"/>
              <a:t>VRF3……</a:t>
            </a:r>
          </a:p>
          <a:p>
            <a:r>
              <a:rPr lang="en-US" altLang="zh-CN" dirty="0" smtClean="0"/>
              <a:t>Ingress PE</a:t>
            </a:r>
            <a:r>
              <a:rPr lang="zh-CN" altLang="en-US" dirty="0" smtClean="0"/>
              <a:t>节点为</a:t>
            </a:r>
            <a:r>
              <a:rPr lang="en-US" altLang="zh-CN" dirty="0" err="1" smtClean="0"/>
              <a:t>SliceID</a:t>
            </a:r>
            <a:r>
              <a:rPr lang="zh-CN" altLang="en-US" dirty="0" smtClean="0"/>
              <a:t>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的网络分片业务流封装</a:t>
            </a:r>
            <a:r>
              <a:rPr lang="en-US" altLang="zh-CN" dirty="0" smtClean="0"/>
              <a:t>VPN SID</a:t>
            </a:r>
            <a:r>
              <a:rPr lang="zh-CN" altLang="en-US" dirty="0" smtClean="0"/>
              <a:t>及</a:t>
            </a:r>
            <a:r>
              <a:rPr lang="en-US" altLang="zh-CN" dirty="0" smtClean="0"/>
              <a:t>SRv6 Policy</a:t>
            </a:r>
            <a:r>
              <a:rPr lang="zh-CN" altLang="en-US" dirty="0" smtClean="0"/>
              <a:t>隧道信息，同时在</a:t>
            </a:r>
            <a:r>
              <a:rPr lang="en-US" altLang="zh-CN" dirty="0" smtClean="0"/>
              <a:t>IPv6 Head</a:t>
            </a:r>
            <a:r>
              <a:rPr lang="zh-CN" altLang="en-US" dirty="0" smtClean="0"/>
              <a:t>与</a:t>
            </a:r>
            <a:r>
              <a:rPr lang="en-US" altLang="zh-CN" dirty="0" smtClean="0"/>
              <a:t>SRH</a:t>
            </a:r>
            <a:r>
              <a:rPr lang="zh-CN" altLang="en-US" dirty="0" smtClean="0"/>
              <a:t>扩展头之间插入</a:t>
            </a:r>
            <a:r>
              <a:rPr lang="en-US" altLang="zh-CN" dirty="0" smtClean="0"/>
              <a:t>Hop By Hop </a:t>
            </a:r>
            <a:r>
              <a:rPr lang="en-US" altLang="zh-CN" dirty="0" err="1" smtClean="0"/>
              <a:t>SliceID</a:t>
            </a:r>
            <a:r>
              <a:rPr lang="zh-CN" altLang="en-US" dirty="0" smtClean="0"/>
              <a:t>等于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的扩展头。</a:t>
            </a:r>
            <a:endParaRPr lang="en-US" altLang="zh-CN" dirty="0" smtClean="0"/>
          </a:p>
          <a:p>
            <a:r>
              <a:rPr lang="zh-CN" altLang="en-US" dirty="0" smtClean="0"/>
              <a:t>中</a:t>
            </a:r>
            <a:r>
              <a:rPr lang="zh-CN" altLang="en-US" dirty="0"/>
              <a:t>间各节点逐跳查询</a:t>
            </a:r>
            <a:r>
              <a:rPr lang="en-US" altLang="zh-CN" dirty="0"/>
              <a:t>SRH</a:t>
            </a:r>
            <a:r>
              <a:rPr lang="zh-CN" altLang="en-US" dirty="0"/>
              <a:t>中的</a:t>
            </a:r>
            <a:r>
              <a:rPr lang="en-US" altLang="zh-CN" dirty="0"/>
              <a:t>SRv6 SID</a:t>
            </a:r>
            <a:r>
              <a:rPr lang="zh-CN" altLang="en-US" dirty="0"/>
              <a:t>得到物理出接口，再根据</a:t>
            </a:r>
            <a:r>
              <a:rPr lang="en-US" altLang="zh-CN" dirty="0" err="1"/>
              <a:t>SliceID</a:t>
            </a:r>
            <a:r>
              <a:rPr lang="zh-CN" altLang="en-US" dirty="0"/>
              <a:t>查询得到此物理出接口下特定的“资源预留”子接口，</a:t>
            </a:r>
            <a:r>
              <a:rPr lang="en-US" altLang="zh-CN" dirty="0"/>
              <a:t>Hop By Hop </a:t>
            </a:r>
            <a:r>
              <a:rPr lang="en-US" altLang="zh-CN" dirty="0" err="1"/>
              <a:t>SliceID</a:t>
            </a:r>
            <a:r>
              <a:rPr lang="zh-CN" altLang="en-US" dirty="0"/>
              <a:t>全程不变。</a:t>
            </a:r>
            <a:endParaRPr lang="en-US" altLang="zh-CN" dirty="0"/>
          </a:p>
          <a:p>
            <a:r>
              <a:rPr lang="en-US" altLang="zh-CN" dirty="0"/>
              <a:t>Egress PE</a:t>
            </a:r>
            <a:r>
              <a:rPr lang="zh-CN" altLang="en-US" dirty="0"/>
              <a:t>节点弹出</a:t>
            </a:r>
            <a:r>
              <a:rPr lang="en-US" altLang="zh-CN" dirty="0"/>
              <a:t>Hop By Hop</a:t>
            </a:r>
            <a:r>
              <a:rPr lang="zh-CN" altLang="en-US" dirty="0"/>
              <a:t>扩展头，根据</a:t>
            </a:r>
            <a:r>
              <a:rPr lang="en-US" altLang="zh-CN" dirty="0"/>
              <a:t>VPN SID</a:t>
            </a:r>
            <a:r>
              <a:rPr lang="zh-CN" altLang="en-US" dirty="0"/>
              <a:t>转发到对应</a:t>
            </a:r>
            <a:r>
              <a:rPr lang="en-US" altLang="zh-CN" dirty="0"/>
              <a:t>VRF</a:t>
            </a:r>
            <a:r>
              <a:rPr lang="zh-CN" altLang="en-US" dirty="0"/>
              <a:t>实例的</a:t>
            </a:r>
            <a:r>
              <a:rPr lang="en-US" altLang="zh-CN" dirty="0"/>
              <a:t>AC</a:t>
            </a:r>
            <a:r>
              <a:rPr lang="zh-CN" altLang="en-US" dirty="0"/>
              <a:t>侧接口。</a:t>
            </a:r>
          </a:p>
          <a:p>
            <a:r>
              <a:rPr lang="zh-CN" altLang="en-US" dirty="0"/>
              <a:t>默认分片</a:t>
            </a:r>
            <a:r>
              <a:rPr lang="en-US" altLang="zh-CN" dirty="0" err="1"/>
              <a:t>SliceID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，不需要插入</a:t>
            </a:r>
            <a:r>
              <a:rPr lang="en-US" altLang="zh-CN" dirty="0"/>
              <a:t>IPv6 Hop By Hop</a:t>
            </a:r>
            <a:r>
              <a:rPr lang="zh-CN" altLang="en-US" dirty="0"/>
              <a:t>扩展头，转发面报文格式与传统</a:t>
            </a:r>
            <a:r>
              <a:rPr lang="en-US" altLang="zh-CN" dirty="0"/>
              <a:t>L3VPN over SRv6 Policy</a:t>
            </a:r>
            <a:r>
              <a:rPr lang="zh-CN" altLang="en-US" dirty="0"/>
              <a:t>一致。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2482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13641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由于不同的广域</a:t>
            </a:r>
            <a:r>
              <a:rPr lang="en-US" altLang="zh-CN" dirty="0"/>
              <a:t>VPN</a:t>
            </a:r>
            <a:r>
              <a:rPr lang="zh-CN" altLang="en-US" dirty="0"/>
              <a:t>技术的术语不同，本章节将概要性介绍各种保护机制，不展开特定保护技术介绍。</a:t>
            </a:r>
            <a:endParaRPr lang="en-US" altLang="zh-CN" dirty="0"/>
          </a:p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933751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MPLS</a:t>
            </a:r>
            <a:r>
              <a:rPr lang="zh-CN" altLang="en-US" dirty="0"/>
              <a:t> </a:t>
            </a:r>
            <a:r>
              <a:rPr lang="en-US" altLang="zh-CN" dirty="0"/>
              <a:t>TE</a:t>
            </a:r>
            <a:r>
              <a:rPr lang="zh-CN" altLang="en-US" dirty="0"/>
              <a:t>的端到端保护分为热备份（</a:t>
            </a:r>
            <a:r>
              <a:rPr lang="en-US" altLang="zh-CN" dirty="0"/>
              <a:t>Hot-standby</a:t>
            </a:r>
            <a:r>
              <a:rPr lang="zh-CN" altLang="en-US" dirty="0"/>
              <a:t>）和普通备份（</a:t>
            </a:r>
            <a:r>
              <a:rPr lang="en-US" altLang="zh-CN" dirty="0"/>
              <a:t>Ordinary</a:t>
            </a:r>
            <a:r>
              <a:rPr lang="zh-CN" altLang="en-US" dirty="0"/>
              <a:t>）。热备份是备份路径与主路径同时创建。</a:t>
            </a:r>
            <a:endParaRPr lang="en-US" altLang="zh-CN" dirty="0"/>
          </a:p>
          <a:p>
            <a:r>
              <a:rPr lang="en-US" altLang="zh-CN" dirty="0"/>
              <a:t>Segment Routing</a:t>
            </a:r>
            <a:r>
              <a:rPr lang="zh-CN" altLang="en-US" dirty="0"/>
              <a:t>的局部保护技术较于</a:t>
            </a:r>
            <a:r>
              <a:rPr lang="en-US" altLang="zh-CN" dirty="0"/>
              <a:t>FRR</a:t>
            </a:r>
            <a:r>
              <a:rPr lang="zh-CN" altLang="en-US" dirty="0"/>
              <a:t>有增强，叫做</a:t>
            </a:r>
            <a:r>
              <a:rPr lang="en-US" altLang="zh-CN" dirty="0" smtClean="0"/>
              <a:t>TI-LFA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Topology </a:t>
            </a:r>
            <a:r>
              <a:rPr lang="en-US" altLang="zh-CN" dirty="0"/>
              <a:t>Independent-Loop Free </a:t>
            </a:r>
            <a:r>
              <a:rPr lang="en-US" altLang="zh-CN" dirty="0" smtClean="0"/>
              <a:t>Alternate</a:t>
            </a:r>
            <a:r>
              <a:rPr lang="zh-CN" altLang="en-US" smtClean="0"/>
              <a:t>）。</a:t>
            </a:r>
            <a:endParaRPr lang="en-US" altLang="zh-CN" dirty="0"/>
          </a:p>
          <a:p>
            <a:r>
              <a:rPr lang="zh-CN" altLang="en-US" dirty="0"/>
              <a:t>快速检测机制：以</a:t>
            </a:r>
            <a:r>
              <a:rPr lang="en-US" altLang="zh-CN" dirty="0"/>
              <a:t>BFD</a:t>
            </a:r>
            <a:r>
              <a:rPr lang="zh-CN" altLang="en-US" dirty="0"/>
              <a:t>为例的的快速检测机制，支持快速检测设备间的通信故障。</a:t>
            </a:r>
          </a:p>
        </p:txBody>
      </p:sp>
    </p:spTree>
    <p:extLst>
      <p:ext uri="{BB962C8B-B14F-4D97-AF65-F5344CB8AC3E}">
        <p14:creationId xmlns:p14="http://schemas.microsoft.com/office/powerpoint/2010/main" val="132485424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传统</a:t>
            </a:r>
            <a:r>
              <a:rPr lang="en-US" altLang="zh-CN"/>
              <a:t>LFA</a:t>
            </a:r>
            <a:r>
              <a:rPr lang="zh-CN" altLang="en-US"/>
              <a:t>无法形成备份路径的本质在于分布式网络架构下，每台设备独立计算路径，在故障瞬间对于最短路径的理解没有共识。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248422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550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33575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90440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92313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03515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本图中未呈现隧道技术、流量统计等相关协议。</a:t>
            </a:r>
            <a:endParaRPr lang="en-US" altLang="zh-CN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09093528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1406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4290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9840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80766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TWAMP Light</a:t>
            </a:r>
            <a:r>
              <a:rPr lang="zh-CN" altLang="en-US" dirty="0"/>
              <a:t>是基于标准协议定义的</a:t>
            </a:r>
            <a:r>
              <a:rPr lang="en-US" altLang="zh-CN" dirty="0"/>
              <a:t>TWAMP</a:t>
            </a:r>
            <a:r>
              <a:rPr lang="zh-CN" altLang="en-US" dirty="0"/>
              <a:t>的轻量级架构。与</a:t>
            </a:r>
            <a:r>
              <a:rPr lang="en-US" altLang="zh-CN" dirty="0"/>
              <a:t>TWAMP</a:t>
            </a:r>
            <a:r>
              <a:rPr lang="zh-CN" altLang="en-US" dirty="0"/>
              <a:t>标准框架相比，</a:t>
            </a:r>
            <a:r>
              <a:rPr lang="en-US" altLang="zh-CN" dirty="0"/>
              <a:t>TWAMP Light</a:t>
            </a:r>
            <a:r>
              <a:rPr lang="zh-CN" altLang="en-US" dirty="0"/>
              <a:t>简化了建立性能测量会话的控制协议。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34526058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dirty="0"/>
              <a:t>TWAMP</a:t>
            </a:r>
            <a:r>
              <a:rPr lang="zh-CN" altLang="en-US" sz="1100" dirty="0"/>
              <a:t>标准版基于</a:t>
            </a:r>
            <a:r>
              <a:rPr lang="en-US" altLang="zh-CN" sz="1100" dirty="0"/>
              <a:t>TCP</a:t>
            </a:r>
            <a:r>
              <a:rPr lang="zh-CN" altLang="en-US" sz="1100" dirty="0"/>
              <a:t>协商控制面，测试报文基于</a:t>
            </a:r>
            <a:r>
              <a:rPr lang="en-US" altLang="zh-CN" sz="1100" dirty="0"/>
              <a:t>UDP</a:t>
            </a:r>
            <a:r>
              <a:rPr lang="zh-CN" altLang="en-US" sz="1100" dirty="0"/>
              <a:t>；反射端需要了解</a:t>
            </a:r>
            <a:r>
              <a:rPr lang="en-US" altLang="zh-CN" sz="1100" dirty="0"/>
              <a:t>Session</a:t>
            </a:r>
            <a:r>
              <a:rPr lang="zh-CN" altLang="en-US" sz="1100" dirty="0"/>
              <a:t>状态，不同厂商可以互通。</a:t>
            </a:r>
            <a:endParaRPr lang="en-US" altLang="zh-CN" sz="1100" dirty="0"/>
          </a:p>
          <a:p>
            <a:r>
              <a:rPr lang="en-US" altLang="zh-CN" sz="1100" dirty="0"/>
              <a:t>TWAMP</a:t>
            </a:r>
            <a:r>
              <a:rPr lang="en-US" altLang="zh-CN" sz="1100" baseline="0" dirty="0"/>
              <a:t> Light</a:t>
            </a:r>
            <a:r>
              <a:rPr lang="zh-CN" altLang="en-US" sz="1100" baseline="0" dirty="0"/>
              <a:t>无控制面协商过程，测试报文基于</a:t>
            </a:r>
            <a:r>
              <a:rPr lang="en-US" altLang="zh-CN" sz="1100" baseline="0" dirty="0"/>
              <a:t>UDP</a:t>
            </a:r>
            <a:r>
              <a:rPr lang="zh-CN" altLang="en-US" sz="1100" baseline="0" dirty="0"/>
              <a:t>；实现简单，配置简化，反射端无需了解</a:t>
            </a:r>
            <a:r>
              <a:rPr lang="en-US" altLang="zh-CN" sz="1100" baseline="0" dirty="0"/>
              <a:t>Session</a:t>
            </a:r>
            <a:r>
              <a:rPr lang="zh-CN" altLang="en-US" sz="1100" baseline="0" dirty="0"/>
              <a:t>状态。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9200742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3065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/>
              <a:t>iFIT</a:t>
            </a:r>
            <a:r>
              <a:rPr lang="zh-CN" altLang="en-US" dirty="0"/>
              <a:t>对端到端业务报文进行测量，从而得到</a:t>
            </a:r>
            <a:r>
              <a:rPr lang="en-US" altLang="zh-CN" dirty="0"/>
              <a:t>IP</a:t>
            </a:r>
            <a:r>
              <a:rPr lang="zh-CN" altLang="en-US" dirty="0"/>
              <a:t>网络的真实丢包率、时延等性能指标。</a:t>
            </a:r>
            <a:r>
              <a:rPr lang="en-US" altLang="zh-CN" dirty="0" err="1"/>
              <a:t>iFIT</a:t>
            </a:r>
            <a:r>
              <a:rPr lang="zh-CN" altLang="en-US" dirty="0"/>
              <a:t>在业务流中插入报文头做染色标记。通过</a:t>
            </a:r>
            <a:r>
              <a:rPr lang="en-US" altLang="zh-CN" dirty="0"/>
              <a:t>Telemetry</a:t>
            </a:r>
            <a:r>
              <a:rPr lang="zh-CN" altLang="en-US" dirty="0"/>
              <a:t>周期性采集信息，支持端到端时延统计、丢包测量等特性。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188559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End.DT4 SID</a:t>
            </a:r>
            <a:r>
              <a:rPr lang="zh-CN" altLang="en-US" dirty="0"/>
              <a:t>表示</a:t>
            </a:r>
            <a:r>
              <a:rPr lang="en-US" altLang="zh-CN" dirty="0"/>
              <a:t>PE</a:t>
            </a:r>
            <a:r>
              <a:rPr lang="zh-CN" altLang="en-US" dirty="0"/>
              <a:t>类型的</a:t>
            </a:r>
            <a:r>
              <a:rPr lang="en-US" altLang="zh-CN" dirty="0"/>
              <a:t>Endpoint SID</a:t>
            </a:r>
            <a:r>
              <a:rPr lang="zh-CN" altLang="en-US" dirty="0"/>
              <a:t>，用于标识网络中的某个</a:t>
            </a:r>
            <a:r>
              <a:rPr lang="en-US" altLang="zh-CN" dirty="0"/>
              <a:t>IPv4 VPN</a:t>
            </a:r>
            <a:r>
              <a:rPr lang="zh-CN" altLang="en-US" dirty="0"/>
              <a:t>实例。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MPLS</a:t>
            </a:r>
            <a:r>
              <a:rPr lang="zh-CN" altLang="en-US" dirty="0"/>
              <a:t>报文，</a:t>
            </a:r>
            <a:r>
              <a:rPr lang="en-US" altLang="zh-CN" dirty="0" err="1"/>
              <a:t>iFIT</a:t>
            </a:r>
            <a:r>
              <a:rPr lang="zh-CN" altLang="en-US" dirty="0"/>
              <a:t>头是插在</a:t>
            </a:r>
            <a:r>
              <a:rPr lang="en-US" altLang="zh-CN" dirty="0"/>
              <a:t>MPLS</a:t>
            </a:r>
            <a:r>
              <a:rPr lang="zh-CN" altLang="en-US" dirty="0"/>
              <a:t>标签和</a:t>
            </a:r>
            <a:r>
              <a:rPr lang="en-US" altLang="zh-CN" dirty="0"/>
              <a:t>MPLS Payload</a:t>
            </a:r>
            <a:r>
              <a:rPr lang="zh-CN" altLang="en-US" dirty="0"/>
              <a:t>之间的。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18394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49815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16342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9088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 smtClean="0"/>
              <a:t>A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dirty="0" smtClean="0"/>
              <a:t>ABCD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52627858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62247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4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/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/>
          </p:nvPr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8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26" Type="http://schemas.openxmlformats.org/officeDocument/2006/relationships/tags" Target="../tags/tag44.xml"/><Relationship Id="rId3" Type="http://schemas.openxmlformats.org/officeDocument/2006/relationships/tags" Target="../tags/tag21.xml"/><Relationship Id="rId21" Type="http://schemas.openxmlformats.org/officeDocument/2006/relationships/tags" Target="../tags/tag39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5" Type="http://schemas.openxmlformats.org/officeDocument/2006/relationships/tags" Target="../tags/tag43.xml"/><Relationship Id="rId33" Type="http://schemas.openxmlformats.org/officeDocument/2006/relationships/image" Target="../media/image5.png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tags" Target="../tags/tag38.xml"/><Relationship Id="rId29" Type="http://schemas.openxmlformats.org/officeDocument/2006/relationships/tags" Target="../tags/tag47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24" Type="http://schemas.openxmlformats.org/officeDocument/2006/relationships/tags" Target="../tags/tag42.xml"/><Relationship Id="rId32" Type="http://schemas.openxmlformats.org/officeDocument/2006/relationships/notesSlide" Target="../notesSlides/notesSlide83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23" Type="http://schemas.openxmlformats.org/officeDocument/2006/relationships/tags" Target="../tags/tag41.xml"/><Relationship Id="rId28" Type="http://schemas.openxmlformats.org/officeDocument/2006/relationships/tags" Target="../tags/tag46.xml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tags" Target="../tags/tag40.xml"/><Relationship Id="rId27" Type="http://schemas.openxmlformats.org/officeDocument/2006/relationships/tags" Target="../tags/tag45.xml"/><Relationship Id="rId30" Type="http://schemas.openxmlformats.org/officeDocument/2006/relationships/tags" Target="../tags/tag48.xml"/><Relationship Id="rId8" Type="http://schemas.openxmlformats.org/officeDocument/2006/relationships/tags" Target="../tags/tag26.xml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26" Type="http://schemas.openxmlformats.org/officeDocument/2006/relationships/tags" Target="../tags/tag74.xml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34" Type="http://schemas.openxmlformats.org/officeDocument/2006/relationships/slideLayout" Target="../slideLayouts/slideLayout13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5" Type="http://schemas.openxmlformats.org/officeDocument/2006/relationships/tags" Target="../tags/tag73.xml"/><Relationship Id="rId33" Type="http://schemas.openxmlformats.org/officeDocument/2006/relationships/tags" Target="../tags/tag81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29" Type="http://schemas.openxmlformats.org/officeDocument/2006/relationships/tags" Target="../tags/tag77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tags" Target="../tags/tag72.xml"/><Relationship Id="rId32" Type="http://schemas.openxmlformats.org/officeDocument/2006/relationships/tags" Target="../tags/tag80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tags" Target="../tags/tag71.xml"/><Relationship Id="rId28" Type="http://schemas.openxmlformats.org/officeDocument/2006/relationships/tags" Target="../tags/tag76.xml"/><Relationship Id="rId36" Type="http://schemas.openxmlformats.org/officeDocument/2006/relationships/image" Target="../media/image5.png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31" Type="http://schemas.openxmlformats.org/officeDocument/2006/relationships/tags" Target="../tags/tag79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tags" Target="../tags/tag70.xml"/><Relationship Id="rId27" Type="http://schemas.openxmlformats.org/officeDocument/2006/relationships/tags" Target="../tags/tag75.xml"/><Relationship Id="rId30" Type="http://schemas.openxmlformats.org/officeDocument/2006/relationships/tags" Target="../tags/tag78.xml"/><Relationship Id="rId35" Type="http://schemas.openxmlformats.org/officeDocument/2006/relationships/notesSlide" Target="../notesSlides/notesSlide84.xml"/><Relationship Id="rId8" Type="http://schemas.openxmlformats.org/officeDocument/2006/relationships/tags" Target="../tags/tag5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85.xml"/><Relationship Id="rId7" Type="http://schemas.openxmlformats.org/officeDocument/2006/relationships/notesSlide" Target="../notesSlides/notesSlide86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7.xml"/><Relationship Id="rId4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占位符 50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endParaRPr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US" altLang="zh-CN" dirty="0"/>
              <a:t>Datacom</a:t>
            </a:r>
            <a:endParaRPr lang="zh-CN" altLang="en-US" dirty="0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zh-CN" altLang="en-US" dirty="0" smtClean="0"/>
              <a:t>通用</a:t>
            </a:r>
            <a:endParaRPr lang="zh-CN" altLang="en-US" dirty="0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zh-CN" altLang="en-US" dirty="0"/>
              <a:t>万倡利</a:t>
            </a:r>
            <a:r>
              <a:rPr lang="en-US" altLang="zh-CN" dirty="0"/>
              <a:t>/WX408647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US" altLang="zh-CN" dirty="0"/>
              <a:t>2021.3.17</a:t>
            </a:r>
            <a:endParaRPr lang="zh-CN" altLang="en-US" dirty="0"/>
          </a:p>
        </p:txBody>
      </p:sp>
      <p:sp>
        <p:nvSpPr>
          <p:cNvPr id="48" name="文本占位符 47"/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zh-CN" altLang="en-US" sz="1600" dirty="0"/>
              <a:t>刘淑英</a:t>
            </a:r>
            <a:r>
              <a:rPr lang="en-US" altLang="zh-CN" sz="1600" dirty="0"/>
              <a:t>/00245623</a:t>
            </a:r>
            <a:r>
              <a:rPr lang="zh-CN" altLang="en-US" sz="1600" dirty="0"/>
              <a:t>、王秋生</a:t>
            </a:r>
            <a:r>
              <a:rPr lang="en-US" altLang="zh-CN" sz="1600" dirty="0"/>
              <a:t>/00287740</a:t>
            </a:r>
            <a:endParaRPr lang="zh-CN" altLang="en-US" sz="1600" dirty="0"/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zh-CN" altLang="en-US" dirty="0"/>
              <a:t>新开发</a:t>
            </a:r>
          </a:p>
        </p:txBody>
      </p:sp>
      <p:sp>
        <p:nvSpPr>
          <p:cNvPr id="56" name="文本占位符 55"/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zh-CN" altLang="en-US" dirty="0"/>
              <a:t>万倡利</a:t>
            </a:r>
            <a:r>
              <a:rPr lang="en-US" altLang="zh-CN" dirty="0"/>
              <a:t>/WX408647</a:t>
            </a:r>
            <a:r>
              <a:rPr lang="zh-CN" altLang="en-US" dirty="0"/>
              <a:t>、朱仕耿</a:t>
            </a:r>
            <a:r>
              <a:rPr lang="en-US" altLang="zh-CN" dirty="0"/>
              <a:t>/00261992</a:t>
            </a:r>
            <a:endParaRPr lang="zh-CN" alt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en-US" altLang="zh-CN" dirty="0" smtClean="0"/>
              <a:t>2021.01.21</a:t>
            </a:r>
            <a:endParaRPr lang="zh-CN" alt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zh-CN" altLang="en-US" dirty="0" smtClean="0"/>
              <a:t>何军建</a:t>
            </a:r>
            <a:r>
              <a:rPr lang="en-US" altLang="zh-CN" dirty="0" smtClean="0"/>
              <a:t>/WX580230</a:t>
            </a:r>
            <a:endParaRPr lang="zh-CN" alt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zh-CN" altLang="en-US" dirty="0" smtClean="0"/>
              <a:t>优化</a:t>
            </a:r>
            <a:endParaRPr lang="zh-CN" alt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zh-CN" altLang="en-US" dirty="0"/>
              <a:t>吴越</a:t>
            </a:r>
            <a:r>
              <a:rPr lang="en-US" altLang="zh-CN" dirty="0" smtClean="0"/>
              <a:t>/WX291773</a:t>
            </a:r>
            <a:endParaRPr lang="zh-CN" alt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en-US" altLang="zh-CN" dirty="0" smtClean="0"/>
              <a:t>2021.9.16</a:t>
            </a:r>
            <a:endParaRPr lang="zh-CN" alt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zh-CN" altLang="en-US" dirty="0"/>
              <a:t>卢玥玥</a:t>
            </a:r>
            <a:r>
              <a:rPr lang="en-US" altLang="zh-CN" dirty="0" smtClean="0"/>
              <a:t>/WX445705</a:t>
            </a:r>
            <a:endParaRPr lang="en-US" altLang="zh-CN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zh-CN" altLang="en-US" dirty="0" smtClean="0"/>
              <a:t>优化</a:t>
            </a:r>
            <a:endParaRPr lang="zh-CN" alt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2"/>
          </p:nvPr>
        </p:nvSpPr>
        <p:spPr bwMode="gray"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企业广域承载网络架构与典型技术应用</a:t>
            </a:r>
          </a:p>
        </p:txBody>
      </p:sp>
    </p:spTree>
    <p:extLst>
      <p:ext uri="{BB962C8B-B14F-4D97-AF65-F5344CB8AC3E}">
        <p14:creationId xmlns:p14="http://schemas.microsoft.com/office/powerpoint/2010/main" val="183042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广域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承载网络是一种跨地域的数据通信网络，通常覆盖一个国家或地区，用于实现跨地域的多个局域网络或分支网络的互联互通。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本课程以拥有“两地三中心”和各地分支机构的大型企业为例，介绍企业广域承载网典型架构、承载技术、</a:t>
            </a:r>
            <a:r>
              <a:rPr lang="en-US" altLang="zh-CN" dirty="0">
                <a:sym typeface="Huawei Sans" panose="020C0503030203020204" pitchFamily="34" charset="0"/>
              </a:rPr>
              <a:t>VPN</a:t>
            </a:r>
            <a:r>
              <a:rPr lang="zh-CN" altLang="en-US" dirty="0">
                <a:sym typeface="Huawei Sans" panose="020C0503030203020204" pitchFamily="34" charset="0"/>
              </a:rPr>
              <a:t>业务、网络流量优化、</a:t>
            </a:r>
            <a:r>
              <a:rPr lang="en-US" altLang="zh-CN" dirty="0">
                <a:sym typeface="Huawei Sans" panose="020C0503030203020204" pitchFamily="34" charset="0"/>
              </a:rPr>
              <a:t>SLA</a:t>
            </a:r>
            <a:r>
              <a:rPr lang="zh-CN" altLang="en-US" dirty="0">
                <a:sym typeface="Huawei Sans" panose="020C0503030203020204" pitchFamily="34" charset="0"/>
              </a:rPr>
              <a:t>、可靠性、网络管理与分析等概念和技术原理和应用。</a:t>
            </a:r>
          </a:p>
        </p:txBody>
      </p:sp>
    </p:spTree>
    <p:extLst>
      <p:ext uri="{BB962C8B-B14F-4D97-AF65-F5344CB8AC3E}">
        <p14:creationId xmlns:p14="http://schemas.microsoft.com/office/powerpoint/2010/main" val="94915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学完本课程后，您将能够：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描述广域承载网络典型架构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MPLS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>
                <a:sym typeface="Huawei Sans" panose="020C0503030203020204" pitchFamily="34" charset="0"/>
              </a:rPr>
              <a:t>SR-MPLS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>
                <a:sym typeface="Huawei Sans" panose="020C0503030203020204" pitchFamily="34" charset="0"/>
              </a:rPr>
              <a:t>SRv6</a:t>
            </a:r>
            <a:r>
              <a:rPr lang="zh-CN" altLang="en-US" dirty="0">
                <a:sym typeface="Huawei Sans" panose="020C0503030203020204" pitchFamily="34" charset="0"/>
              </a:rPr>
              <a:t>基本概念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描述广域网网络流量优化原理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SLA</a:t>
            </a:r>
            <a:r>
              <a:rPr lang="zh-CN" altLang="en-US" dirty="0">
                <a:sym typeface="Huawei Sans" panose="020C0503030203020204" pitchFamily="34" charset="0"/>
              </a:rPr>
              <a:t>模型和报文处理流程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描述网络可靠性设计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描述网络管理与分析关键协议</a:t>
            </a: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0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b="1" dirty="0">
                <a:sym typeface="Huawei Sans" panose="020C0503030203020204" pitchFamily="34" charset="0"/>
              </a:rPr>
              <a:t>广域承载网络架构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28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935A2671-D680-45DA-A655-843E065F7F60}"/>
              </a:ext>
            </a:extLst>
          </p:cNvPr>
          <p:cNvSpPr/>
          <p:nvPr/>
        </p:nvSpPr>
        <p:spPr bwMode="gray">
          <a:xfrm>
            <a:off x="461393" y="2726412"/>
            <a:ext cx="3433439" cy="1998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企业广域承载网典型架构</a:t>
            </a:r>
          </a:p>
        </p:txBody>
      </p:sp>
      <p:pic>
        <p:nvPicPr>
          <p:cNvPr id="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BB0E2666-B6EE-442D-AFF0-BAF695D04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88133" y="3063650"/>
            <a:ext cx="353331" cy="289089"/>
          </a:xfrm>
          <a:prstGeom prst="rect">
            <a:avLst/>
          </a:prstGeom>
          <a:noFill/>
        </p:spPr>
      </p:pic>
      <p:pic>
        <p:nvPicPr>
          <p:cNvPr id="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15229E0-C049-4768-A446-4D4F76BFC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557918" y="3063650"/>
            <a:ext cx="353331" cy="289089"/>
          </a:xfrm>
          <a:prstGeom prst="rect">
            <a:avLst/>
          </a:prstGeom>
          <a:noFill/>
        </p:spPr>
      </p:pic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80CA9A41-63A6-4262-9D5B-31994A0994AE}"/>
              </a:ext>
            </a:extLst>
          </p:cNvPr>
          <p:cNvCxnSpPr>
            <a:stCxn id="4" idx="3"/>
            <a:endCxn id="6" idx="1"/>
          </p:cNvCxnSpPr>
          <p:nvPr/>
        </p:nvCxnSpPr>
        <p:spPr bwMode="gray">
          <a:xfrm>
            <a:off x="2141464" y="3208195"/>
            <a:ext cx="4164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97925D7-D0AB-4BB6-BAAC-F81FA3CA7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88133" y="3601701"/>
            <a:ext cx="353331" cy="289089"/>
          </a:xfrm>
          <a:prstGeom prst="rect">
            <a:avLst/>
          </a:prstGeom>
          <a:noFill/>
        </p:spPr>
      </p:pic>
      <p:pic>
        <p:nvPicPr>
          <p:cNvPr id="1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465B777-419A-467F-89D8-571E82CFC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557918" y="3601701"/>
            <a:ext cx="353331" cy="289089"/>
          </a:xfrm>
          <a:prstGeom prst="rect">
            <a:avLst/>
          </a:prstGeom>
          <a:noFill/>
        </p:spPr>
      </p:pic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DAB54A62-5AC1-4FF2-801E-5F0CADFC66B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 bwMode="gray">
          <a:xfrm>
            <a:off x="2141464" y="3746246"/>
            <a:ext cx="4164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65172AC5-28EA-491F-B174-A70F8506813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 bwMode="gray">
          <a:xfrm>
            <a:off x="1964799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="" xmlns:a16="http://schemas.microsoft.com/office/drawing/2014/main" id="{2AE378BA-510A-4100-8E1A-F53C73BB3BE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 bwMode="gray">
          <a:xfrm>
            <a:off x="2734584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07730DAC-E3A4-4C79-AB27-0B86A23E2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066961" y="3068815"/>
            <a:ext cx="353331" cy="289089"/>
          </a:xfrm>
          <a:prstGeom prst="rect">
            <a:avLst/>
          </a:prstGeom>
          <a:noFill/>
        </p:spPr>
      </p:pic>
      <p:pic>
        <p:nvPicPr>
          <p:cNvPr id="1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EA16C8F4-5F49-4930-AFBD-990D38A00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874845" y="3068815"/>
            <a:ext cx="353331" cy="289089"/>
          </a:xfrm>
          <a:prstGeom prst="rect">
            <a:avLst/>
          </a:prstGeom>
          <a:noFill/>
        </p:spPr>
      </p:pic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BDF72F4D-C00A-4095-BB18-FB1AA20ACDF7}"/>
              </a:ext>
            </a:extLst>
          </p:cNvPr>
          <p:cNvCxnSpPr>
            <a:stCxn id="18" idx="3"/>
            <a:endCxn id="19" idx="1"/>
          </p:cNvCxnSpPr>
          <p:nvPr/>
        </p:nvCxnSpPr>
        <p:spPr bwMode="gray">
          <a:xfrm>
            <a:off x="6420292" y="3213360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42F364E9-ED4F-4B8A-894F-88D30436C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066961" y="3606866"/>
            <a:ext cx="353331" cy="289089"/>
          </a:xfrm>
          <a:prstGeom prst="rect">
            <a:avLst/>
          </a:prstGeom>
          <a:noFill/>
        </p:spPr>
      </p:pic>
      <p:pic>
        <p:nvPicPr>
          <p:cNvPr id="2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CA0D3249-63EA-43E2-95E5-C0F39D6EC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874845" y="3606866"/>
            <a:ext cx="353331" cy="289089"/>
          </a:xfrm>
          <a:prstGeom prst="rect">
            <a:avLst/>
          </a:prstGeom>
          <a:noFill/>
        </p:spPr>
      </p:pic>
      <p:cxnSp>
        <p:nvCxnSpPr>
          <p:cNvPr id="23" name="直接连接符 22">
            <a:extLst>
              <a:ext uri="{FF2B5EF4-FFF2-40B4-BE49-F238E27FC236}">
                <a16:creationId xmlns="" xmlns:a16="http://schemas.microsoft.com/office/drawing/2014/main" id="{EEC62AAC-92EC-493A-8E70-2932D282E4E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 bwMode="gray">
          <a:xfrm>
            <a:off x="6420292" y="3751411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D9D4D1DF-0EF8-4E9D-B2CB-D184263F2483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 bwMode="gray">
          <a:xfrm>
            <a:off x="6243627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3F7E53EC-05C3-433B-862F-C8E202DAED64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 bwMode="gray">
          <a:xfrm>
            <a:off x="7051511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="" xmlns:a16="http://schemas.microsoft.com/office/drawing/2014/main" id="{98450B3A-D244-4075-8FF6-DC4AB7B6E693}"/>
              </a:ext>
            </a:extLst>
          </p:cNvPr>
          <p:cNvCxnSpPr>
            <a:stCxn id="26" idx="3"/>
            <a:endCxn id="27" idx="1"/>
          </p:cNvCxnSpPr>
          <p:nvPr/>
        </p:nvCxnSpPr>
        <p:spPr bwMode="gray">
          <a:xfrm>
            <a:off x="4263735" y="1761643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691AC4DB-02D8-4BCE-96A5-2A1ACA29E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0404" y="2186899"/>
            <a:ext cx="353331" cy="289089"/>
          </a:xfrm>
          <a:prstGeom prst="rect">
            <a:avLst/>
          </a:prstGeom>
          <a:noFill/>
        </p:spPr>
      </p:pic>
      <p:pic>
        <p:nvPicPr>
          <p:cNvPr id="3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0F2DD30-5A52-420B-8966-07CB314FE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84964" y="2186899"/>
            <a:ext cx="353331" cy="289089"/>
          </a:xfrm>
          <a:prstGeom prst="rect">
            <a:avLst/>
          </a:prstGeom>
          <a:noFill/>
        </p:spPr>
      </p:pic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05B99F99-C38D-4B6F-B9A0-E5C895A6EC2A}"/>
              </a:ext>
            </a:extLst>
          </p:cNvPr>
          <p:cNvCxnSpPr>
            <a:stCxn id="29" idx="3"/>
            <a:endCxn id="30" idx="1"/>
          </p:cNvCxnSpPr>
          <p:nvPr/>
        </p:nvCxnSpPr>
        <p:spPr bwMode="gray">
          <a:xfrm>
            <a:off x="4263735" y="2331444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="" xmlns:a16="http://schemas.microsoft.com/office/drawing/2014/main" id="{35D5F3B1-822D-46C4-B661-A668C6AC18EC}"/>
              </a:ext>
            </a:extLst>
          </p:cNvPr>
          <p:cNvCxnSpPr>
            <a:cxnSpLocks/>
            <a:stCxn id="328" idx="2"/>
            <a:endCxn id="29" idx="0"/>
          </p:cNvCxnSpPr>
          <p:nvPr/>
        </p:nvCxnSpPr>
        <p:spPr bwMode="gray">
          <a:xfrm>
            <a:off x="4087070" y="1443905"/>
            <a:ext cx="0" cy="742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3F1FAF1D-02E9-4ED9-8E33-1B377A4FA6A4}"/>
              </a:ext>
            </a:extLst>
          </p:cNvPr>
          <p:cNvCxnSpPr>
            <a:cxnSpLocks/>
            <a:stCxn id="329" idx="2"/>
            <a:endCxn id="30" idx="0"/>
          </p:cNvCxnSpPr>
          <p:nvPr/>
        </p:nvCxnSpPr>
        <p:spPr bwMode="gray">
          <a:xfrm>
            <a:off x="4961630" y="1443905"/>
            <a:ext cx="0" cy="742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1E57C7A-D6DB-4A6C-8A29-9828DB705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86934" y="5011642"/>
            <a:ext cx="353331" cy="289089"/>
          </a:xfrm>
          <a:prstGeom prst="rect">
            <a:avLst/>
          </a:prstGeom>
          <a:noFill/>
        </p:spPr>
      </p:pic>
      <p:pic>
        <p:nvPicPr>
          <p:cNvPr id="3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CA43C4C2-DB99-4B2B-A7D6-BD5126697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812867" y="5011642"/>
            <a:ext cx="353331" cy="289089"/>
          </a:xfrm>
          <a:prstGeom prst="rect">
            <a:avLst/>
          </a:prstGeom>
          <a:noFill/>
        </p:spPr>
      </p:pic>
      <p:pic>
        <p:nvPicPr>
          <p:cNvPr id="4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48A1D6D7-57A9-4F15-B8A4-955872560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144626" y="5011642"/>
            <a:ext cx="353331" cy="289089"/>
          </a:xfrm>
          <a:prstGeom prst="rect">
            <a:avLst/>
          </a:prstGeom>
          <a:noFill/>
        </p:spPr>
      </p:pic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EFAD2DC0-7591-46B7-B722-180F7420C1C7}"/>
              </a:ext>
            </a:extLst>
          </p:cNvPr>
          <p:cNvCxnSpPr>
            <a:stCxn id="39" idx="3"/>
            <a:endCxn id="40" idx="1"/>
          </p:cNvCxnSpPr>
          <p:nvPr/>
        </p:nvCxnSpPr>
        <p:spPr bwMode="gray">
          <a:xfrm>
            <a:off x="5166198" y="5156187"/>
            <a:ext cx="9784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B16B1B89-8575-4354-A286-5BC1B6A96850}"/>
              </a:ext>
            </a:extLst>
          </p:cNvPr>
          <p:cNvSpPr/>
          <p:nvPr/>
        </p:nvSpPr>
        <p:spPr bwMode="gray">
          <a:xfrm>
            <a:off x="4934346" y="2729416"/>
            <a:ext cx="3684296" cy="1998554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6CD09993-65C2-48A6-94FF-53C80E56D6C4}"/>
              </a:ext>
            </a:extLst>
          </p:cNvPr>
          <p:cNvSpPr/>
          <p:nvPr/>
        </p:nvSpPr>
        <p:spPr bwMode="gray">
          <a:xfrm>
            <a:off x="3155054" y="999878"/>
            <a:ext cx="2830272" cy="3584127"/>
          </a:xfrm>
          <a:custGeom>
            <a:avLst/>
            <a:gdLst>
              <a:gd name="connsiteX0" fmla="*/ 0 w 2668347"/>
              <a:gd name="connsiteY0" fmla="*/ 0 h 1591892"/>
              <a:gd name="connsiteX1" fmla="*/ 2668347 w 2668347"/>
              <a:gd name="connsiteY1" fmla="*/ 0 h 1591892"/>
              <a:gd name="connsiteX2" fmla="*/ 2668347 w 2668347"/>
              <a:gd name="connsiteY2" fmla="*/ 1591892 h 1591892"/>
              <a:gd name="connsiteX3" fmla="*/ 0 w 2668347"/>
              <a:gd name="connsiteY3" fmla="*/ 1591892 h 1591892"/>
              <a:gd name="connsiteX4" fmla="*/ 0 w 2668347"/>
              <a:gd name="connsiteY4" fmla="*/ 0 h 1591892"/>
              <a:gd name="connsiteX0" fmla="*/ 0 w 2668347"/>
              <a:gd name="connsiteY0" fmla="*/ 0 h 1591892"/>
              <a:gd name="connsiteX1" fmla="*/ 2668347 w 2668347"/>
              <a:gd name="connsiteY1" fmla="*/ 0 h 1591892"/>
              <a:gd name="connsiteX2" fmla="*/ 2668347 w 2668347"/>
              <a:gd name="connsiteY2" fmla="*/ 1591892 h 1591892"/>
              <a:gd name="connsiteX3" fmla="*/ 858241 w 2668347"/>
              <a:gd name="connsiteY3" fmla="*/ 1576385 h 1591892"/>
              <a:gd name="connsiteX4" fmla="*/ 0 w 2668347"/>
              <a:gd name="connsiteY4" fmla="*/ 1591892 h 1591892"/>
              <a:gd name="connsiteX5" fmla="*/ 0 w 2668347"/>
              <a:gd name="connsiteY5" fmla="*/ 0 h 1591892"/>
              <a:gd name="connsiteX0" fmla="*/ 0 w 2668347"/>
              <a:gd name="connsiteY0" fmla="*/ 0 h 1591892"/>
              <a:gd name="connsiteX1" fmla="*/ 2668347 w 2668347"/>
              <a:gd name="connsiteY1" fmla="*/ 0 h 1591892"/>
              <a:gd name="connsiteX2" fmla="*/ 2668347 w 2668347"/>
              <a:gd name="connsiteY2" fmla="*/ 1591892 h 1591892"/>
              <a:gd name="connsiteX3" fmla="*/ 1673581 w 2668347"/>
              <a:gd name="connsiteY3" fmla="*/ 1561145 h 1591892"/>
              <a:gd name="connsiteX4" fmla="*/ 858241 w 2668347"/>
              <a:gd name="connsiteY4" fmla="*/ 1576385 h 1591892"/>
              <a:gd name="connsiteX5" fmla="*/ 0 w 2668347"/>
              <a:gd name="connsiteY5" fmla="*/ 1591892 h 1591892"/>
              <a:gd name="connsiteX6" fmla="*/ 0 w 2668347"/>
              <a:gd name="connsiteY6" fmla="*/ 0 h 1591892"/>
              <a:gd name="connsiteX0" fmla="*/ 0 w 2668347"/>
              <a:gd name="connsiteY0" fmla="*/ 0 h 1591892"/>
              <a:gd name="connsiteX1" fmla="*/ 2668347 w 2668347"/>
              <a:gd name="connsiteY1" fmla="*/ 0 h 1591892"/>
              <a:gd name="connsiteX2" fmla="*/ 2668347 w 2668347"/>
              <a:gd name="connsiteY2" fmla="*/ 1591892 h 1591892"/>
              <a:gd name="connsiteX3" fmla="*/ 1673581 w 2668347"/>
              <a:gd name="connsiteY3" fmla="*/ 1561145 h 1591892"/>
              <a:gd name="connsiteX4" fmla="*/ 919201 w 2668347"/>
              <a:gd name="connsiteY4" fmla="*/ 1553525 h 1591892"/>
              <a:gd name="connsiteX5" fmla="*/ 858241 w 2668347"/>
              <a:gd name="connsiteY5" fmla="*/ 1576385 h 1591892"/>
              <a:gd name="connsiteX6" fmla="*/ 0 w 2668347"/>
              <a:gd name="connsiteY6" fmla="*/ 1591892 h 1591892"/>
              <a:gd name="connsiteX7" fmla="*/ 0 w 2668347"/>
              <a:gd name="connsiteY7" fmla="*/ 0 h 1591892"/>
              <a:gd name="connsiteX0" fmla="*/ 0 w 2668347"/>
              <a:gd name="connsiteY0" fmla="*/ 0 h 3207065"/>
              <a:gd name="connsiteX1" fmla="*/ 2668347 w 2668347"/>
              <a:gd name="connsiteY1" fmla="*/ 0 h 3207065"/>
              <a:gd name="connsiteX2" fmla="*/ 2668347 w 2668347"/>
              <a:gd name="connsiteY2" fmla="*/ 1591892 h 3207065"/>
              <a:gd name="connsiteX3" fmla="*/ 1673581 w 2668347"/>
              <a:gd name="connsiteY3" fmla="*/ 1561145 h 3207065"/>
              <a:gd name="connsiteX4" fmla="*/ 858241 w 2668347"/>
              <a:gd name="connsiteY4" fmla="*/ 3207065 h 3207065"/>
              <a:gd name="connsiteX5" fmla="*/ 858241 w 2668347"/>
              <a:gd name="connsiteY5" fmla="*/ 1576385 h 3207065"/>
              <a:gd name="connsiteX6" fmla="*/ 0 w 2668347"/>
              <a:gd name="connsiteY6" fmla="*/ 1591892 h 3207065"/>
              <a:gd name="connsiteX7" fmla="*/ 0 w 2668347"/>
              <a:gd name="connsiteY7" fmla="*/ 0 h 3207065"/>
              <a:gd name="connsiteX0" fmla="*/ 0 w 2668347"/>
              <a:gd name="connsiteY0" fmla="*/ 0 h 3207065"/>
              <a:gd name="connsiteX1" fmla="*/ 2668347 w 2668347"/>
              <a:gd name="connsiteY1" fmla="*/ 0 h 3207065"/>
              <a:gd name="connsiteX2" fmla="*/ 2668347 w 2668347"/>
              <a:gd name="connsiteY2" fmla="*/ 1591892 h 3207065"/>
              <a:gd name="connsiteX3" fmla="*/ 1673581 w 2668347"/>
              <a:gd name="connsiteY3" fmla="*/ 1561145 h 3207065"/>
              <a:gd name="connsiteX4" fmla="*/ 1231621 w 2668347"/>
              <a:gd name="connsiteY4" fmla="*/ 2475545 h 3207065"/>
              <a:gd name="connsiteX5" fmla="*/ 858241 w 2668347"/>
              <a:gd name="connsiteY5" fmla="*/ 3207065 h 3207065"/>
              <a:gd name="connsiteX6" fmla="*/ 858241 w 2668347"/>
              <a:gd name="connsiteY6" fmla="*/ 1576385 h 3207065"/>
              <a:gd name="connsiteX7" fmla="*/ 0 w 2668347"/>
              <a:gd name="connsiteY7" fmla="*/ 1591892 h 3207065"/>
              <a:gd name="connsiteX8" fmla="*/ 0 w 2668347"/>
              <a:gd name="connsiteY8" fmla="*/ 0 h 3207065"/>
              <a:gd name="connsiteX0" fmla="*/ 0 w 2668347"/>
              <a:gd name="connsiteY0" fmla="*/ 0 h 3207065"/>
              <a:gd name="connsiteX1" fmla="*/ 2668347 w 2668347"/>
              <a:gd name="connsiteY1" fmla="*/ 0 h 3207065"/>
              <a:gd name="connsiteX2" fmla="*/ 2668347 w 2668347"/>
              <a:gd name="connsiteY2" fmla="*/ 1591892 h 3207065"/>
              <a:gd name="connsiteX3" fmla="*/ 1673581 w 2668347"/>
              <a:gd name="connsiteY3" fmla="*/ 1561145 h 3207065"/>
              <a:gd name="connsiteX4" fmla="*/ 1673581 w 2668347"/>
              <a:gd name="connsiteY4" fmla="*/ 3207065 h 3207065"/>
              <a:gd name="connsiteX5" fmla="*/ 858241 w 2668347"/>
              <a:gd name="connsiteY5" fmla="*/ 3207065 h 3207065"/>
              <a:gd name="connsiteX6" fmla="*/ 858241 w 2668347"/>
              <a:gd name="connsiteY6" fmla="*/ 1576385 h 3207065"/>
              <a:gd name="connsiteX7" fmla="*/ 0 w 2668347"/>
              <a:gd name="connsiteY7" fmla="*/ 1591892 h 3207065"/>
              <a:gd name="connsiteX8" fmla="*/ 0 w 2668347"/>
              <a:gd name="connsiteY8" fmla="*/ 0 h 3207065"/>
              <a:gd name="connsiteX0" fmla="*/ 0 w 2668347"/>
              <a:gd name="connsiteY0" fmla="*/ 0 h 3505515"/>
              <a:gd name="connsiteX1" fmla="*/ 2668347 w 2668347"/>
              <a:gd name="connsiteY1" fmla="*/ 0 h 3505515"/>
              <a:gd name="connsiteX2" fmla="*/ 2668347 w 2668347"/>
              <a:gd name="connsiteY2" fmla="*/ 1591892 h 3505515"/>
              <a:gd name="connsiteX3" fmla="*/ 1673581 w 2668347"/>
              <a:gd name="connsiteY3" fmla="*/ 1561145 h 3505515"/>
              <a:gd name="connsiteX4" fmla="*/ 1673581 w 2668347"/>
              <a:gd name="connsiteY4" fmla="*/ 3207065 h 3505515"/>
              <a:gd name="connsiteX5" fmla="*/ 845541 w 2668347"/>
              <a:gd name="connsiteY5" fmla="*/ 3505515 h 3505515"/>
              <a:gd name="connsiteX6" fmla="*/ 858241 w 2668347"/>
              <a:gd name="connsiteY6" fmla="*/ 1576385 h 3505515"/>
              <a:gd name="connsiteX7" fmla="*/ 0 w 2668347"/>
              <a:gd name="connsiteY7" fmla="*/ 1591892 h 3505515"/>
              <a:gd name="connsiteX8" fmla="*/ 0 w 2668347"/>
              <a:gd name="connsiteY8" fmla="*/ 0 h 3505515"/>
              <a:gd name="connsiteX0" fmla="*/ 0 w 2668347"/>
              <a:gd name="connsiteY0" fmla="*/ 0 h 3511865"/>
              <a:gd name="connsiteX1" fmla="*/ 2668347 w 2668347"/>
              <a:gd name="connsiteY1" fmla="*/ 0 h 3511865"/>
              <a:gd name="connsiteX2" fmla="*/ 2668347 w 2668347"/>
              <a:gd name="connsiteY2" fmla="*/ 1591892 h 3511865"/>
              <a:gd name="connsiteX3" fmla="*/ 1673581 w 2668347"/>
              <a:gd name="connsiteY3" fmla="*/ 1561145 h 3511865"/>
              <a:gd name="connsiteX4" fmla="*/ 1686281 w 2668347"/>
              <a:gd name="connsiteY4" fmla="*/ 3511865 h 3511865"/>
              <a:gd name="connsiteX5" fmla="*/ 845541 w 2668347"/>
              <a:gd name="connsiteY5" fmla="*/ 3505515 h 3511865"/>
              <a:gd name="connsiteX6" fmla="*/ 858241 w 2668347"/>
              <a:gd name="connsiteY6" fmla="*/ 1576385 h 3511865"/>
              <a:gd name="connsiteX7" fmla="*/ 0 w 2668347"/>
              <a:gd name="connsiteY7" fmla="*/ 1591892 h 3511865"/>
              <a:gd name="connsiteX8" fmla="*/ 0 w 2668347"/>
              <a:gd name="connsiteY8" fmla="*/ 0 h 3511865"/>
              <a:gd name="connsiteX0" fmla="*/ 0 w 2668347"/>
              <a:gd name="connsiteY0" fmla="*/ 0 h 3505515"/>
              <a:gd name="connsiteX1" fmla="*/ 2668347 w 2668347"/>
              <a:gd name="connsiteY1" fmla="*/ 0 h 3505515"/>
              <a:gd name="connsiteX2" fmla="*/ 2668347 w 2668347"/>
              <a:gd name="connsiteY2" fmla="*/ 1591892 h 3505515"/>
              <a:gd name="connsiteX3" fmla="*/ 1673581 w 2668347"/>
              <a:gd name="connsiteY3" fmla="*/ 1561145 h 3505515"/>
              <a:gd name="connsiteX4" fmla="*/ 1679931 w 2668347"/>
              <a:gd name="connsiteY4" fmla="*/ 3492815 h 3505515"/>
              <a:gd name="connsiteX5" fmla="*/ 845541 w 2668347"/>
              <a:gd name="connsiteY5" fmla="*/ 3505515 h 3505515"/>
              <a:gd name="connsiteX6" fmla="*/ 858241 w 2668347"/>
              <a:gd name="connsiteY6" fmla="*/ 1576385 h 3505515"/>
              <a:gd name="connsiteX7" fmla="*/ 0 w 2668347"/>
              <a:gd name="connsiteY7" fmla="*/ 1591892 h 3505515"/>
              <a:gd name="connsiteX8" fmla="*/ 0 w 2668347"/>
              <a:gd name="connsiteY8" fmla="*/ 0 h 3505515"/>
              <a:gd name="connsiteX0" fmla="*/ 0 w 2668347"/>
              <a:gd name="connsiteY0" fmla="*/ 0 h 3524565"/>
              <a:gd name="connsiteX1" fmla="*/ 2668347 w 2668347"/>
              <a:gd name="connsiteY1" fmla="*/ 0 h 3524565"/>
              <a:gd name="connsiteX2" fmla="*/ 2668347 w 2668347"/>
              <a:gd name="connsiteY2" fmla="*/ 1591892 h 3524565"/>
              <a:gd name="connsiteX3" fmla="*/ 1673581 w 2668347"/>
              <a:gd name="connsiteY3" fmla="*/ 1561145 h 3524565"/>
              <a:gd name="connsiteX4" fmla="*/ 1679931 w 2668347"/>
              <a:gd name="connsiteY4" fmla="*/ 3524565 h 3524565"/>
              <a:gd name="connsiteX5" fmla="*/ 845541 w 2668347"/>
              <a:gd name="connsiteY5" fmla="*/ 3505515 h 3524565"/>
              <a:gd name="connsiteX6" fmla="*/ 858241 w 2668347"/>
              <a:gd name="connsiteY6" fmla="*/ 1576385 h 3524565"/>
              <a:gd name="connsiteX7" fmla="*/ 0 w 2668347"/>
              <a:gd name="connsiteY7" fmla="*/ 1591892 h 3524565"/>
              <a:gd name="connsiteX8" fmla="*/ 0 w 2668347"/>
              <a:gd name="connsiteY8" fmla="*/ 0 h 3524565"/>
              <a:gd name="connsiteX0" fmla="*/ 0 w 2820747"/>
              <a:gd name="connsiteY0" fmla="*/ 0 h 3524565"/>
              <a:gd name="connsiteX1" fmla="*/ 2668347 w 2820747"/>
              <a:gd name="connsiteY1" fmla="*/ 0 h 3524565"/>
              <a:gd name="connsiteX2" fmla="*/ 2820747 w 2820747"/>
              <a:gd name="connsiteY2" fmla="*/ 1610676 h 3524565"/>
              <a:gd name="connsiteX3" fmla="*/ 1673581 w 2820747"/>
              <a:gd name="connsiteY3" fmla="*/ 1561145 h 3524565"/>
              <a:gd name="connsiteX4" fmla="*/ 1679931 w 2820747"/>
              <a:gd name="connsiteY4" fmla="*/ 3524565 h 3524565"/>
              <a:gd name="connsiteX5" fmla="*/ 845541 w 2820747"/>
              <a:gd name="connsiteY5" fmla="*/ 3505515 h 3524565"/>
              <a:gd name="connsiteX6" fmla="*/ 858241 w 2820747"/>
              <a:gd name="connsiteY6" fmla="*/ 1576385 h 3524565"/>
              <a:gd name="connsiteX7" fmla="*/ 0 w 2820747"/>
              <a:gd name="connsiteY7" fmla="*/ 1591892 h 3524565"/>
              <a:gd name="connsiteX8" fmla="*/ 0 w 2820747"/>
              <a:gd name="connsiteY8" fmla="*/ 0 h 3524565"/>
              <a:gd name="connsiteX0" fmla="*/ 0 w 2820747"/>
              <a:gd name="connsiteY0" fmla="*/ 9392 h 3533957"/>
              <a:gd name="connsiteX1" fmla="*/ 2820747 w 2820747"/>
              <a:gd name="connsiteY1" fmla="*/ 0 h 3533957"/>
              <a:gd name="connsiteX2" fmla="*/ 2820747 w 2820747"/>
              <a:gd name="connsiteY2" fmla="*/ 1620068 h 3533957"/>
              <a:gd name="connsiteX3" fmla="*/ 1673581 w 2820747"/>
              <a:gd name="connsiteY3" fmla="*/ 1570537 h 3533957"/>
              <a:gd name="connsiteX4" fmla="*/ 1679931 w 2820747"/>
              <a:gd name="connsiteY4" fmla="*/ 3533957 h 3533957"/>
              <a:gd name="connsiteX5" fmla="*/ 845541 w 2820747"/>
              <a:gd name="connsiteY5" fmla="*/ 3514907 h 3533957"/>
              <a:gd name="connsiteX6" fmla="*/ 858241 w 2820747"/>
              <a:gd name="connsiteY6" fmla="*/ 1585777 h 3533957"/>
              <a:gd name="connsiteX7" fmla="*/ 0 w 2820747"/>
              <a:gd name="connsiteY7" fmla="*/ 1601284 h 3533957"/>
              <a:gd name="connsiteX8" fmla="*/ 0 w 2820747"/>
              <a:gd name="connsiteY8" fmla="*/ 9392 h 3533957"/>
              <a:gd name="connsiteX0" fmla="*/ 0 w 2820747"/>
              <a:gd name="connsiteY0" fmla="*/ 9392 h 3533957"/>
              <a:gd name="connsiteX1" fmla="*/ 2820747 w 2820747"/>
              <a:gd name="connsiteY1" fmla="*/ 0 h 3533957"/>
              <a:gd name="connsiteX2" fmla="*/ 2811222 w 2820747"/>
              <a:gd name="connsiteY2" fmla="*/ 1601284 h 3533957"/>
              <a:gd name="connsiteX3" fmla="*/ 1673581 w 2820747"/>
              <a:gd name="connsiteY3" fmla="*/ 1570537 h 3533957"/>
              <a:gd name="connsiteX4" fmla="*/ 1679931 w 2820747"/>
              <a:gd name="connsiteY4" fmla="*/ 3533957 h 3533957"/>
              <a:gd name="connsiteX5" fmla="*/ 845541 w 2820747"/>
              <a:gd name="connsiteY5" fmla="*/ 3514907 h 3533957"/>
              <a:gd name="connsiteX6" fmla="*/ 858241 w 2820747"/>
              <a:gd name="connsiteY6" fmla="*/ 1585777 h 3533957"/>
              <a:gd name="connsiteX7" fmla="*/ 0 w 2820747"/>
              <a:gd name="connsiteY7" fmla="*/ 1601284 h 3533957"/>
              <a:gd name="connsiteX8" fmla="*/ 0 w 2820747"/>
              <a:gd name="connsiteY8" fmla="*/ 9392 h 3533957"/>
              <a:gd name="connsiteX0" fmla="*/ 0 w 2830272"/>
              <a:gd name="connsiteY0" fmla="*/ 9392 h 3533957"/>
              <a:gd name="connsiteX1" fmla="*/ 2820747 w 2830272"/>
              <a:gd name="connsiteY1" fmla="*/ 0 h 3533957"/>
              <a:gd name="connsiteX2" fmla="*/ 2830272 w 2830272"/>
              <a:gd name="connsiteY2" fmla="*/ 1591893 h 3533957"/>
              <a:gd name="connsiteX3" fmla="*/ 1673581 w 2830272"/>
              <a:gd name="connsiteY3" fmla="*/ 1570537 h 3533957"/>
              <a:gd name="connsiteX4" fmla="*/ 1679931 w 2830272"/>
              <a:gd name="connsiteY4" fmla="*/ 3533957 h 3533957"/>
              <a:gd name="connsiteX5" fmla="*/ 845541 w 2830272"/>
              <a:gd name="connsiteY5" fmla="*/ 3514907 h 3533957"/>
              <a:gd name="connsiteX6" fmla="*/ 858241 w 2830272"/>
              <a:gd name="connsiteY6" fmla="*/ 1585777 h 3533957"/>
              <a:gd name="connsiteX7" fmla="*/ 0 w 2830272"/>
              <a:gd name="connsiteY7" fmla="*/ 1601284 h 3533957"/>
              <a:gd name="connsiteX8" fmla="*/ 0 w 2830272"/>
              <a:gd name="connsiteY8" fmla="*/ 9392 h 353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30272" h="3533957">
                <a:moveTo>
                  <a:pt x="0" y="9392"/>
                </a:moveTo>
                <a:lnTo>
                  <a:pt x="2820747" y="0"/>
                </a:lnTo>
                <a:lnTo>
                  <a:pt x="2830272" y="1591893"/>
                </a:lnTo>
                <a:lnTo>
                  <a:pt x="1673581" y="1570537"/>
                </a:lnTo>
                <a:cubicBezTo>
                  <a:pt x="1677814" y="2220777"/>
                  <a:pt x="1675698" y="2883717"/>
                  <a:pt x="1679931" y="3533957"/>
                </a:cubicBezTo>
                <a:lnTo>
                  <a:pt x="845541" y="3514907"/>
                </a:lnTo>
                <a:cubicBezTo>
                  <a:pt x="849774" y="2871864"/>
                  <a:pt x="854008" y="2228820"/>
                  <a:pt x="858241" y="1585777"/>
                </a:cubicBezTo>
                <a:lnTo>
                  <a:pt x="0" y="1601284"/>
                </a:lnTo>
                <a:lnTo>
                  <a:pt x="0" y="9392"/>
                </a:lnTo>
                <a:close/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D6E8D64-C06A-4C6A-9185-D740EF27D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808377" y="4162008"/>
            <a:ext cx="353331" cy="289089"/>
          </a:xfrm>
          <a:prstGeom prst="rect">
            <a:avLst/>
          </a:prstGeom>
          <a:noFill/>
        </p:spPr>
      </p:pic>
      <p:pic>
        <p:nvPicPr>
          <p:cNvPr id="4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D27C0C7-917C-477F-A1AC-B7342F358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832109" y="4161218"/>
            <a:ext cx="353331" cy="289089"/>
          </a:xfrm>
          <a:prstGeom prst="rect">
            <a:avLst/>
          </a:prstGeom>
          <a:noFill/>
        </p:spPr>
      </p:pic>
      <p:sp>
        <p:nvSpPr>
          <p:cNvPr id="55" name="矩形 54">
            <a:extLst>
              <a:ext uri="{FF2B5EF4-FFF2-40B4-BE49-F238E27FC236}">
                <a16:creationId xmlns="" xmlns:a16="http://schemas.microsoft.com/office/drawing/2014/main" id="{5D281FE9-E790-4730-A66D-5F0813987C6F}"/>
              </a:ext>
            </a:extLst>
          </p:cNvPr>
          <p:cNvSpPr/>
          <p:nvPr/>
        </p:nvSpPr>
        <p:spPr bwMode="gray">
          <a:xfrm>
            <a:off x="1371887" y="4844208"/>
            <a:ext cx="2895826" cy="1358472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="" xmlns:a16="http://schemas.microsoft.com/office/drawing/2014/main" id="{58266744-9182-4EC0-979D-E5D39E480484}"/>
              </a:ext>
            </a:extLst>
          </p:cNvPr>
          <p:cNvSpPr/>
          <p:nvPr/>
        </p:nvSpPr>
        <p:spPr bwMode="gray">
          <a:xfrm>
            <a:off x="4627399" y="4844208"/>
            <a:ext cx="3203515" cy="1358472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14AEBA93-03D6-48A3-89F6-805D4C4B5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206333" y="4285948"/>
            <a:ext cx="353331" cy="289089"/>
          </a:xfrm>
          <a:prstGeom prst="rect">
            <a:avLst/>
          </a:prstGeom>
          <a:noFill/>
        </p:spPr>
      </p:pic>
      <p:cxnSp>
        <p:nvCxnSpPr>
          <p:cNvPr id="61" name="直接连接符 60">
            <a:extLst>
              <a:ext uri="{FF2B5EF4-FFF2-40B4-BE49-F238E27FC236}">
                <a16:creationId xmlns="" xmlns:a16="http://schemas.microsoft.com/office/drawing/2014/main" id="{693FE951-C6F9-41A6-A890-4C0CD05D3407}"/>
              </a:ext>
            </a:extLst>
          </p:cNvPr>
          <p:cNvCxnSpPr>
            <a:cxnSpLocks/>
            <a:stCxn id="39" idx="0"/>
            <a:endCxn id="60" idx="2"/>
          </p:cNvCxnSpPr>
          <p:nvPr/>
        </p:nvCxnSpPr>
        <p:spPr bwMode="gray">
          <a:xfrm flipH="1" flipV="1">
            <a:off x="3382999" y="4575037"/>
            <a:ext cx="1606534" cy="4366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="" xmlns:a16="http://schemas.microsoft.com/office/drawing/2014/main" id="{74AAF069-92E1-4597-BC91-8D72D3D996B6}"/>
              </a:ext>
            </a:extLst>
          </p:cNvPr>
          <p:cNvSpPr txBox="1"/>
          <p:nvPr/>
        </p:nvSpPr>
        <p:spPr bwMode="gray">
          <a:xfrm>
            <a:off x="2278616" y="4347515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62D255F3-CEEC-49C7-A279-8D49A9AA5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91290" y="4282936"/>
            <a:ext cx="353331" cy="289089"/>
          </a:xfrm>
          <a:prstGeom prst="rect">
            <a:avLst/>
          </a:prstGeom>
          <a:noFill/>
        </p:spPr>
      </p:pic>
      <p:cxnSp>
        <p:nvCxnSpPr>
          <p:cNvPr id="65" name="直接连接符 64">
            <a:extLst>
              <a:ext uri="{FF2B5EF4-FFF2-40B4-BE49-F238E27FC236}">
                <a16:creationId xmlns="" xmlns:a16="http://schemas.microsoft.com/office/drawing/2014/main" id="{C16770BA-2283-40D1-9282-EEEA4578E070}"/>
              </a:ext>
            </a:extLst>
          </p:cNvPr>
          <p:cNvCxnSpPr>
            <a:cxnSpLocks/>
            <a:stCxn id="63" idx="2"/>
            <a:endCxn id="174" idx="0"/>
          </p:cNvCxnSpPr>
          <p:nvPr/>
        </p:nvCxnSpPr>
        <p:spPr bwMode="gray">
          <a:xfrm flipH="1">
            <a:off x="4004531" y="4572025"/>
            <a:ext cx="1563425" cy="439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="" xmlns:a16="http://schemas.microsoft.com/office/drawing/2014/main" id="{8380BA99-C055-4A50-9023-DD739DD838F8}"/>
              </a:ext>
            </a:extLst>
          </p:cNvPr>
          <p:cNvSpPr txBox="1"/>
          <p:nvPr/>
        </p:nvSpPr>
        <p:spPr bwMode="gray">
          <a:xfrm>
            <a:off x="5843422" y="4289461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="" xmlns:a16="http://schemas.microsoft.com/office/drawing/2014/main" id="{C9A4527F-D7EA-417B-8031-F2922947C706}"/>
              </a:ext>
            </a:extLst>
          </p:cNvPr>
          <p:cNvCxnSpPr>
            <a:cxnSpLocks/>
            <a:stCxn id="36" idx="0"/>
            <a:endCxn id="60" idx="2"/>
          </p:cNvCxnSpPr>
          <p:nvPr/>
        </p:nvCxnSpPr>
        <p:spPr bwMode="gray">
          <a:xfrm flipV="1">
            <a:off x="2663600" y="4575037"/>
            <a:ext cx="719399" cy="4366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="" xmlns:a16="http://schemas.microsoft.com/office/drawing/2014/main" id="{7E631715-26CA-4F52-B092-FDB480C43D39}"/>
              </a:ext>
            </a:extLst>
          </p:cNvPr>
          <p:cNvCxnSpPr>
            <a:cxnSpLocks/>
            <a:stCxn id="63" idx="2"/>
            <a:endCxn id="40" idx="0"/>
          </p:cNvCxnSpPr>
          <p:nvPr/>
        </p:nvCxnSpPr>
        <p:spPr bwMode="gray">
          <a:xfrm>
            <a:off x="5567956" y="4572025"/>
            <a:ext cx="753336" cy="439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="" xmlns:a16="http://schemas.microsoft.com/office/drawing/2014/main" id="{728A2384-A1D9-41D9-9B6B-E0E1835462DE}"/>
              </a:ext>
            </a:extLst>
          </p:cNvPr>
          <p:cNvSpPr txBox="1"/>
          <p:nvPr/>
        </p:nvSpPr>
        <p:spPr bwMode="gray">
          <a:xfrm>
            <a:off x="2435728" y="276349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="" xmlns:a16="http://schemas.microsoft.com/office/drawing/2014/main" id="{FD5CE415-8301-4338-B514-F984250751BF}"/>
              </a:ext>
            </a:extLst>
          </p:cNvPr>
          <p:cNvCxnSpPr>
            <a:cxnSpLocks/>
            <a:stCxn id="6" idx="3"/>
            <a:endCxn id="60" idx="0"/>
          </p:cNvCxnSpPr>
          <p:nvPr/>
        </p:nvCxnSpPr>
        <p:spPr bwMode="gray">
          <a:xfrm>
            <a:off x="2911249" y="3208195"/>
            <a:ext cx="471750" cy="10777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="" xmlns:a16="http://schemas.microsoft.com/office/drawing/2014/main" id="{C644FA1C-EFEF-4091-BB75-D8CBB3D594B0}"/>
              </a:ext>
            </a:extLst>
          </p:cNvPr>
          <p:cNvCxnSpPr>
            <a:cxnSpLocks/>
            <a:stCxn id="10" idx="3"/>
            <a:endCxn id="60" idx="0"/>
          </p:cNvCxnSpPr>
          <p:nvPr/>
        </p:nvCxnSpPr>
        <p:spPr bwMode="gray">
          <a:xfrm>
            <a:off x="2911249" y="3746246"/>
            <a:ext cx="471750" cy="5397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="" xmlns:a16="http://schemas.microsoft.com/office/drawing/2014/main" id="{9E6C5A79-F36A-4788-B274-7CBF31FE0644}"/>
              </a:ext>
            </a:extLst>
          </p:cNvPr>
          <p:cNvCxnSpPr>
            <a:cxnSpLocks/>
            <a:stCxn id="6" idx="1"/>
            <a:endCxn id="48" idx="0"/>
          </p:cNvCxnSpPr>
          <p:nvPr/>
        </p:nvCxnSpPr>
        <p:spPr bwMode="gray">
          <a:xfrm flipH="1">
            <a:off x="1985043" y="3208195"/>
            <a:ext cx="572875" cy="9538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="" xmlns:a16="http://schemas.microsoft.com/office/drawing/2014/main" id="{6EB0A55F-61BA-4D67-820C-2F1CEA77F8D7}"/>
              </a:ext>
            </a:extLst>
          </p:cNvPr>
          <p:cNvCxnSpPr>
            <a:cxnSpLocks/>
            <a:stCxn id="10" idx="1"/>
            <a:endCxn id="48" idx="0"/>
          </p:cNvCxnSpPr>
          <p:nvPr/>
        </p:nvCxnSpPr>
        <p:spPr bwMode="gray">
          <a:xfrm flipH="1">
            <a:off x="1985043" y="3746246"/>
            <a:ext cx="572875" cy="415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="" xmlns:a16="http://schemas.microsoft.com/office/drawing/2014/main" id="{32894298-998F-4991-9A26-091F6A6E8B53}"/>
              </a:ext>
            </a:extLst>
          </p:cNvPr>
          <p:cNvSpPr txBox="1"/>
          <p:nvPr/>
        </p:nvSpPr>
        <p:spPr bwMode="gray">
          <a:xfrm>
            <a:off x="1438561" y="416200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8" name="直接连接符 107">
            <a:extLst>
              <a:ext uri="{FF2B5EF4-FFF2-40B4-BE49-F238E27FC236}">
                <a16:creationId xmlns="" xmlns:a16="http://schemas.microsoft.com/office/drawing/2014/main" id="{4F11DFB0-6436-412E-8AA4-0B0AEF89E706}"/>
              </a:ext>
            </a:extLst>
          </p:cNvPr>
          <p:cNvCxnSpPr>
            <a:cxnSpLocks/>
            <a:stCxn id="10" idx="3"/>
            <a:endCxn id="30" idx="2"/>
          </p:cNvCxnSpPr>
          <p:nvPr/>
        </p:nvCxnSpPr>
        <p:spPr bwMode="gray">
          <a:xfrm flipV="1">
            <a:off x="2911249" y="2475988"/>
            <a:ext cx="2050381" cy="12702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="" xmlns:a16="http://schemas.microsoft.com/office/drawing/2014/main" id="{C9AF71D5-FFF6-4FFC-A4CA-11190A25E91A}"/>
              </a:ext>
            </a:extLst>
          </p:cNvPr>
          <p:cNvCxnSpPr>
            <a:cxnSpLocks/>
            <a:stCxn id="49" idx="0"/>
            <a:endCxn id="18" idx="3"/>
          </p:cNvCxnSpPr>
          <p:nvPr/>
        </p:nvCxnSpPr>
        <p:spPr bwMode="gray">
          <a:xfrm flipH="1" flipV="1">
            <a:off x="6420292" y="3213360"/>
            <a:ext cx="588483" cy="947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="" xmlns:a16="http://schemas.microsoft.com/office/drawing/2014/main" id="{1381DAE1-011C-4E43-B374-2AF646700617}"/>
              </a:ext>
            </a:extLst>
          </p:cNvPr>
          <p:cNvCxnSpPr>
            <a:cxnSpLocks/>
            <a:stCxn id="6" idx="3"/>
            <a:endCxn id="29" idx="2"/>
          </p:cNvCxnSpPr>
          <p:nvPr/>
        </p:nvCxnSpPr>
        <p:spPr bwMode="gray">
          <a:xfrm flipV="1">
            <a:off x="2911249" y="2475988"/>
            <a:ext cx="1175821" cy="7322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="" xmlns:a16="http://schemas.microsoft.com/office/drawing/2014/main" id="{9821C185-07D0-48A3-9C23-6E054C1AC5BD}"/>
              </a:ext>
            </a:extLst>
          </p:cNvPr>
          <p:cNvCxnSpPr>
            <a:cxnSpLocks/>
            <a:stCxn id="18" idx="1"/>
            <a:endCxn id="30" idx="2"/>
          </p:cNvCxnSpPr>
          <p:nvPr/>
        </p:nvCxnSpPr>
        <p:spPr bwMode="gray">
          <a:xfrm flipH="1" flipV="1">
            <a:off x="4961630" y="2475988"/>
            <a:ext cx="1105331" cy="7373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="" xmlns:a16="http://schemas.microsoft.com/office/drawing/2014/main" id="{A9B12BC9-8F74-47D4-8888-9E420B83BE67}"/>
              </a:ext>
            </a:extLst>
          </p:cNvPr>
          <p:cNvCxnSpPr>
            <a:cxnSpLocks/>
            <a:stCxn id="21" idx="1"/>
            <a:endCxn id="29" idx="2"/>
          </p:cNvCxnSpPr>
          <p:nvPr/>
        </p:nvCxnSpPr>
        <p:spPr bwMode="gray">
          <a:xfrm flipH="1" flipV="1">
            <a:off x="4087070" y="2475988"/>
            <a:ext cx="1979891" cy="12754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="" xmlns:a16="http://schemas.microsoft.com/office/drawing/2014/main" id="{7FEC6AD9-00A0-4E3E-9D24-9DD6E5D3740C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 bwMode="gray">
          <a:xfrm>
            <a:off x="2911249" y="3208195"/>
            <a:ext cx="3155712" cy="5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="" xmlns:a16="http://schemas.microsoft.com/office/drawing/2014/main" id="{A832F5D0-0D0A-4223-9B4C-3D992E020C29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 bwMode="gray">
          <a:xfrm>
            <a:off x="2911249" y="3746246"/>
            <a:ext cx="3155712" cy="5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="" xmlns:a16="http://schemas.microsoft.com/office/drawing/2014/main" id="{3AF7E61D-ECAE-421E-B114-53D27100E78C}"/>
              </a:ext>
            </a:extLst>
          </p:cNvPr>
          <p:cNvCxnSpPr>
            <a:cxnSpLocks/>
            <a:stCxn id="49" idx="0"/>
            <a:endCxn id="21" idx="3"/>
          </p:cNvCxnSpPr>
          <p:nvPr/>
        </p:nvCxnSpPr>
        <p:spPr bwMode="gray">
          <a:xfrm flipH="1" flipV="1">
            <a:off x="6420292" y="3751411"/>
            <a:ext cx="588483" cy="409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="" xmlns:a16="http://schemas.microsoft.com/office/drawing/2014/main" id="{45D332D3-715A-4B88-9B2C-33EACE9A1BCF}"/>
              </a:ext>
            </a:extLst>
          </p:cNvPr>
          <p:cNvSpPr txBox="1"/>
          <p:nvPr/>
        </p:nvSpPr>
        <p:spPr bwMode="gray">
          <a:xfrm>
            <a:off x="5926957" y="276349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="" xmlns:a16="http://schemas.microsoft.com/office/drawing/2014/main" id="{22A14B88-2761-4852-8920-2AF2B20F4328}"/>
              </a:ext>
            </a:extLst>
          </p:cNvPr>
          <p:cNvSpPr txBox="1"/>
          <p:nvPr/>
        </p:nvSpPr>
        <p:spPr bwMode="gray">
          <a:xfrm>
            <a:off x="3263483" y="2188414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="" xmlns:a16="http://schemas.microsoft.com/office/drawing/2014/main" id="{C66BB037-61C5-485A-B2CC-B08011BDD102}"/>
              </a:ext>
            </a:extLst>
          </p:cNvPr>
          <p:cNvSpPr txBox="1"/>
          <p:nvPr/>
        </p:nvSpPr>
        <p:spPr bwMode="gray">
          <a:xfrm>
            <a:off x="7177502" y="4142530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040D24E8-53B8-450D-8893-4360A7EC9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246022" y="3838374"/>
            <a:ext cx="353331" cy="289089"/>
          </a:xfrm>
          <a:prstGeom prst="rect">
            <a:avLst/>
          </a:prstGeom>
          <a:noFill/>
        </p:spPr>
      </p:pic>
      <p:cxnSp>
        <p:nvCxnSpPr>
          <p:cNvPr id="162" name="直接连接符 161">
            <a:extLst>
              <a:ext uri="{FF2B5EF4-FFF2-40B4-BE49-F238E27FC236}">
                <a16:creationId xmlns="" xmlns:a16="http://schemas.microsoft.com/office/drawing/2014/main" id="{AD3A79C8-87CE-4910-ACD7-96E004A1F17D}"/>
              </a:ext>
            </a:extLst>
          </p:cNvPr>
          <p:cNvCxnSpPr>
            <a:cxnSpLocks/>
            <a:stCxn id="37" idx="0"/>
            <a:endCxn id="161" idx="2"/>
          </p:cNvCxnSpPr>
          <p:nvPr/>
        </p:nvCxnSpPr>
        <p:spPr bwMode="gray">
          <a:xfrm flipV="1">
            <a:off x="3310253" y="4127463"/>
            <a:ext cx="1112435" cy="884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3114271D-FB44-445B-8885-E87EE39CE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827865" y="5011642"/>
            <a:ext cx="353331" cy="289089"/>
          </a:xfrm>
          <a:prstGeom prst="rect">
            <a:avLst/>
          </a:prstGeom>
          <a:noFill/>
        </p:spPr>
      </p:pic>
      <p:cxnSp>
        <p:nvCxnSpPr>
          <p:cNvPr id="192" name="直接连接符 191">
            <a:extLst>
              <a:ext uri="{FF2B5EF4-FFF2-40B4-BE49-F238E27FC236}">
                <a16:creationId xmlns="" xmlns:a16="http://schemas.microsoft.com/office/drawing/2014/main" id="{0B5AD177-7F1A-40D7-873A-B8F2B90833A6}"/>
              </a:ext>
            </a:extLst>
          </p:cNvPr>
          <p:cNvCxnSpPr>
            <a:cxnSpLocks/>
            <a:stCxn id="36" idx="3"/>
            <a:endCxn id="174" idx="1"/>
          </p:cNvCxnSpPr>
          <p:nvPr/>
        </p:nvCxnSpPr>
        <p:spPr bwMode="gray">
          <a:xfrm>
            <a:off x="2840265" y="5156187"/>
            <a:ext cx="9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8D57FD5-1EF8-4A11-8B1A-A35CEA885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478747" y="5011642"/>
            <a:ext cx="353331" cy="289089"/>
          </a:xfrm>
          <a:prstGeom prst="rect">
            <a:avLst/>
          </a:prstGeom>
          <a:noFill/>
        </p:spPr>
      </p:pic>
      <p:cxnSp>
        <p:nvCxnSpPr>
          <p:cNvPr id="226" name="直接连接符 225">
            <a:extLst>
              <a:ext uri="{FF2B5EF4-FFF2-40B4-BE49-F238E27FC236}">
                <a16:creationId xmlns="" xmlns:a16="http://schemas.microsoft.com/office/drawing/2014/main" id="{6A219F71-78C2-484E-A7A7-E801D489A2E3}"/>
              </a:ext>
            </a:extLst>
          </p:cNvPr>
          <p:cNvCxnSpPr>
            <a:cxnSpLocks/>
            <a:stCxn id="39" idx="2"/>
            <a:endCxn id="242" idx="0"/>
          </p:cNvCxnSpPr>
          <p:nvPr/>
        </p:nvCxnSpPr>
        <p:spPr bwMode="gray">
          <a:xfrm>
            <a:off x="4989533" y="5300731"/>
            <a:ext cx="25875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="" xmlns:a16="http://schemas.microsoft.com/office/drawing/2014/main" id="{FBFFA295-B58C-439A-81AD-9B0B82218D8B}"/>
              </a:ext>
            </a:extLst>
          </p:cNvPr>
          <p:cNvCxnSpPr>
            <a:cxnSpLocks/>
            <a:stCxn id="225" idx="2"/>
            <a:endCxn id="242" idx="0"/>
          </p:cNvCxnSpPr>
          <p:nvPr/>
        </p:nvCxnSpPr>
        <p:spPr bwMode="gray">
          <a:xfrm flipH="1">
            <a:off x="5248286" y="5300731"/>
            <a:ext cx="407127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="" xmlns:a16="http://schemas.microsoft.com/office/drawing/2014/main" id="{B3B2AF42-28A4-492E-9D3F-A2CB398A2AA8}"/>
              </a:ext>
            </a:extLst>
          </p:cNvPr>
          <p:cNvCxnSpPr>
            <a:cxnSpLocks/>
            <a:stCxn id="225" idx="0"/>
            <a:endCxn id="161" idx="2"/>
          </p:cNvCxnSpPr>
          <p:nvPr/>
        </p:nvCxnSpPr>
        <p:spPr bwMode="gray">
          <a:xfrm flipH="1" flipV="1">
            <a:off x="4422688" y="4127463"/>
            <a:ext cx="1232725" cy="884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062997E-EA1B-456A-B7E3-11774982D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694324" y="5812810"/>
            <a:ext cx="353331" cy="289089"/>
          </a:xfrm>
          <a:prstGeom prst="rect">
            <a:avLst/>
          </a:prstGeom>
          <a:noFill/>
        </p:spPr>
      </p:pic>
      <p:pic>
        <p:nvPicPr>
          <p:cNvPr id="24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54F1087-9A2A-4D9F-A7DB-E6936D0B9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3568884" y="5812810"/>
            <a:ext cx="353331" cy="289089"/>
          </a:xfrm>
          <a:prstGeom prst="rect">
            <a:avLst/>
          </a:prstGeom>
          <a:noFill/>
        </p:spPr>
      </p:pic>
      <p:cxnSp>
        <p:nvCxnSpPr>
          <p:cNvPr id="241" name="直接连接符 240">
            <a:extLst>
              <a:ext uri="{FF2B5EF4-FFF2-40B4-BE49-F238E27FC236}">
                <a16:creationId xmlns="" xmlns:a16="http://schemas.microsoft.com/office/drawing/2014/main" id="{EE1EB316-73DE-4EFE-9E0B-E3083081700F}"/>
              </a:ext>
            </a:extLst>
          </p:cNvPr>
          <p:cNvCxnSpPr>
            <a:stCxn id="239" idx="3"/>
            <a:endCxn id="240" idx="1"/>
          </p:cNvCxnSpPr>
          <p:nvPr/>
        </p:nvCxnSpPr>
        <p:spPr bwMode="gray">
          <a:xfrm>
            <a:off x="3047655" y="5957355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4EE00D67-069E-4068-A156-38A713815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071620" y="5812810"/>
            <a:ext cx="353331" cy="289089"/>
          </a:xfrm>
          <a:prstGeom prst="rect">
            <a:avLst/>
          </a:prstGeom>
          <a:noFill/>
        </p:spPr>
      </p:pic>
      <p:pic>
        <p:nvPicPr>
          <p:cNvPr id="24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2A964273-A24C-4C3F-892F-F0B08626A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946180" y="5812810"/>
            <a:ext cx="353331" cy="289089"/>
          </a:xfrm>
          <a:prstGeom prst="rect">
            <a:avLst/>
          </a:prstGeom>
          <a:noFill/>
        </p:spPr>
      </p:pic>
      <p:cxnSp>
        <p:nvCxnSpPr>
          <p:cNvPr id="244" name="直接连接符 243">
            <a:extLst>
              <a:ext uri="{FF2B5EF4-FFF2-40B4-BE49-F238E27FC236}">
                <a16:creationId xmlns="" xmlns:a16="http://schemas.microsoft.com/office/drawing/2014/main" id="{3C9F7EB3-2B83-4953-BBFA-C523CEBCD13F}"/>
              </a:ext>
            </a:extLst>
          </p:cNvPr>
          <p:cNvCxnSpPr>
            <a:stCxn id="242" idx="3"/>
            <a:endCxn id="243" idx="1"/>
          </p:cNvCxnSpPr>
          <p:nvPr/>
        </p:nvCxnSpPr>
        <p:spPr bwMode="gray">
          <a:xfrm>
            <a:off x="5424951" y="5957355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="" xmlns:a16="http://schemas.microsoft.com/office/drawing/2014/main" id="{2B6612B9-5E84-4338-AA67-E75547B2E263}"/>
              </a:ext>
            </a:extLst>
          </p:cNvPr>
          <p:cNvCxnSpPr>
            <a:cxnSpLocks/>
            <a:stCxn id="36" idx="2"/>
            <a:endCxn id="239" idx="0"/>
          </p:cNvCxnSpPr>
          <p:nvPr/>
        </p:nvCxnSpPr>
        <p:spPr bwMode="gray">
          <a:xfrm>
            <a:off x="2663600" y="5300731"/>
            <a:ext cx="207390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>
            <a:extLst>
              <a:ext uri="{FF2B5EF4-FFF2-40B4-BE49-F238E27FC236}">
                <a16:creationId xmlns="" xmlns:a16="http://schemas.microsoft.com/office/drawing/2014/main" id="{71BDFAFB-2488-4F75-8866-19CF1A20D3C7}"/>
              </a:ext>
            </a:extLst>
          </p:cNvPr>
          <p:cNvCxnSpPr>
            <a:cxnSpLocks/>
            <a:stCxn id="174" idx="2"/>
            <a:endCxn id="240" idx="0"/>
          </p:cNvCxnSpPr>
          <p:nvPr/>
        </p:nvCxnSpPr>
        <p:spPr bwMode="gray">
          <a:xfrm flipH="1">
            <a:off x="3745550" y="5300731"/>
            <a:ext cx="258981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="" xmlns:a16="http://schemas.microsoft.com/office/drawing/2014/main" id="{FF68FC72-66ED-4952-B6B5-1200803C446D}"/>
              </a:ext>
            </a:extLst>
          </p:cNvPr>
          <p:cNvCxnSpPr>
            <a:cxnSpLocks/>
            <a:stCxn id="37" idx="2"/>
            <a:endCxn id="239" idx="0"/>
          </p:cNvCxnSpPr>
          <p:nvPr/>
        </p:nvCxnSpPr>
        <p:spPr bwMode="gray">
          <a:xfrm flipH="1">
            <a:off x="2870990" y="5300731"/>
            <a:ext cx="43926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="" xmlns:a16="http://schemas.microsoft.com/office/drawing/2014/main" id="{29C186A5-1C43-47BF-874F-E3B1D215E879}"/>
              </a:ext>
            </a:extLst>
          </p:cNvPr>
          <p:cNvCxnSpPr>
            <a:cxnSpLocks/>
            <a:stCxn id="174" idx="2"/>
            <a:endCxn id="239" idx="0"/>
          </p:cNvCxnSpPr>
          <p:nvPr/>
        </p:nvCxnSpPr>
        <p:spPr bwMode="gray">
          <a:xfrm flipH="1">
            <a:off x="2870990" y="5300731"/>
            <a:ext cx="1133541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="" xmlns:a16="http://schemas.microsoft.com/office/drawing/2014/main" id="{52E75F46-E176-47FD-A3E0-53EFC007E2DE}"/>
              </a:ext>
            </a:extLst>
          </p:cNvPr>
          <p:cNvCxnSpPr>
            <a:cxnSpLocks/>
            <a:stCxn id="240" idx="0"/>
            <a:endCxn id="37" idx="2"/>
          </p:cNvCxnSpPr>
          <p:nvPr/>
        </p:nvCxnSpPr>
        <p:spPr bwMode="gray">
          <a:xfrm flipH="1" flipV="1">
            <a:off x="3310253" y="5300731"/>
            <a:ext cx="435297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08B7D62-EFEC-4E14-BBEA-9AE053991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133587" y="5011642"/>
            <a:ext cx="353331" cy="289089"/>
          </a:xfrm>
          <a:prstGeom prst="rect">
            <a:avLst/>
          </a:prstGeom>
          <a:noFill/>
        </p:spPr>
      </p:pic>
      <p:cxnSp>
        <p:nvCxnSpPr>
          <p:cNvPr id="275" name="直接连接符 274">
            <a:extLst>
              <a:ext uri="{FF2B5EF4-FFF2-40B4-BE49-F238E27FC236}">
                <a16:creationId xmlns="" xmlns:a16="http://schemas.microsoft.com/office/drawing/2014/main" id="{3A474F64-2A66-4DFE-9A42-C8B2C73C8F3E}"/>
              </a:ext>
            </a:extLst>
          </p:cNvPr>
          <p:cNvCxnSpPr>
            <a:cxnSpLocks/>
            <a:stCxn id="225" idx="2"/>
            <a:endCxn id="243" idx="0"/>
          </p:cNvCxnSpPr>
          <p:nvPr/>
        </p:nvCxnSpPr>
        <p:spPr bwMode="gray">
          <a:xfrm>
            <a:off x="5655413" y="5300731"/>
            <a:ext cx="46743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="" xmlns:a16="http://schemas.microsoft.com/office/drawing/2014/main" id="{422DF834-61DE-4C1B-B7C3-FCB52964C531}"/>
              </a:ext>
            </a:extLst>
          </p:cNvPr>
          <p:cNvCxnSpPr>
            <a:cxnSpLocks/>
            <a:stCxn id="40" idx="2"/>
            <a:endCxn id="242" idx="0"/>
          </p:cNvCxnSpPr>
          <p:nvPr/>
        </p:nvCxnSpPr>
        <p:spPr bwMode="gray">
          <a:xfrm flipH="1">
            <a:off x="5248286" y="5300731"/>
            <a:ext cx="1073006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连接符 276">
            <a:extLst>
              <a:ext uri="{FF2B5EF4-FFF2-40B4-BE49-F238E27FC236}">
                <a16:creationId xmlns="" xmlns:a16="http://schemas.microsoft.com/office/drawing/2014/main" id="{5805CB89-7F9F-49DD-85DD-65E520353AB3}"/>
              </a:ext>
            </a:extLst>
          </p:cNvPr>
          <p:cNvCxnSpPr>
            <a:cxnSpLocks/>
            <a:stCxn id="40" idx="2"/>
            <a:endCxn id="243" idx="0"/>
          </p:cNvCxnSpPr>
          <p:nvPr/>
        </p:nvCxnSpPr>
        <p:spPr bwMode="gray">
          <a:xfrm flipH="1">
            <a:off x="6122846" y="5300731"/>
            <a:ext cx="198446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="" xmlns:a16="http://schemas.microsoft.com/office/drawing/2014/main" id="{37E28C4F-0A77-41F1-9A12-94CC0E4903A1}"/>
              </a:ext>
            </a:extLst>
          </p:cNvPr>
          <p:cNvCxnSpPr>
            <a:cxnSpLocks/>
            <a:stCxn id="39" idx="2"/>
            <a:endCxn id="243" idx="0"/>
          </p:cNvCxnSpPr>
          <p:nvPr/>
        </p:nvCxnSpPr>
        <p:spPr bwMode="gray">
          <a:xfrm>
            <a:off x="4989533" y="5300731"/>
            <a:ext cx="113331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="" xmlns:a16="http://schemas.microsoft.com/office/drawing/2014/main" id="{BF19512E-ECD7-4851-8535-6A1E1B23B925}"/>
              </a:ext>
            </a:extLst>
          </p:cNvPr>
          <p:cNvCxnSpPr>
            <a:cxnSpLocks/>
            <a:stCxn id="29" idx="2"/>
            <a:endCxn id="161" idx="0"/>
          </p:cNvCxnSpPr>
          <p:nvPr/>
        </p:nvCxnSpPr>
        <p:spPr bwMode="gray">
          <a:xfrm>
            <a:off x="4087070" y="2475988"/>
            <a:ext cx="335618" cy="1362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>
            <a:extLst>
              <a:ext uri="{FF2B5EF4-FFF2-40B4-BE49-F238E27FC236}">
                <a16:creationId xmlns="" xmlns:a16="http://schemas.microsoft.com/office/drawing/2014/main" id="{FC5D46CC-79DB-49A6-80D8-23826F992666}"/>
              </a:ext>
            </a:extLst>
          </p:cNvPr>
          <p:cNvCxnSpPr>
            <a:cxnSpLocks/>
            <a:stCxn id="30" idx="2"/>
            <a:endCxn id="161" idx="0"/>
          </p:cNvCxnSpPr>
          <p:nvPr/>
        </p:nvCxnSpPr>
        <p:spPr bwMode="gray">
          <a:xfrm flipH="1">
            <a:off x="4422688" y="2475988"/>
            <a:ext cx="538942" cy="1362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文本框 301">
            <a:extLst>
              <a:ext uri="{FF2B5EF4-FFF2-40B4-BE49-F238E27FC236}">
                <a16:creationId xmlns="" xmlns:a16="http://schemas.microsoft.com/office/drawing/2014/main" id="{756E7228-4D68-428D-84C9-33949A0CA7E8}"/>
              </a:ext>
            </a:extLst>
          </p:cNvPr>
          <p:cNvSpPr txBox="1"/>
          <p:nvPr/>
        </p:nvSpPr>
        <p:spPr bwMode="gray">
          <a:xfrm>
            <a:off x="3238083" y="164299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="" xmlns:a16="http://schemas.microsoft.com/office/drawing/2014/main" id="{C3D7EB80-EC09-4384-9669-97D3338F239D}"/>
              </a:ext>
            </a:extLst>
          </p:cNvPr>
          <p:cNvSpPr txBox="1"/>
          <p:nvPr/>
        </p:nvSpPr>
        <p:spPr bwMode="gray">
          <a:xfrm>
            <a:off x="1586451" y="27731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="" xmlns:a16="http://schemas.microsoft.com/office/drawing/2014/main" id="{FC4909A5-818E-4DE7-995E-6B7DA13FE723}"/>
              </a:ext>
            </a:extLst>
          </p:cNvPr>
          <p:cNvSpPr txBox="1"/>
          <p:nvPr/>
        </p:nvSpPr>
        <p:spPr bwMode="gray">
          <a:xfrm>
            <a:off x="6698951" y="27731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="" xmlns:a16="http://schemas.microsoft.com/office/drawing/2014/main" id="{DE5DAC1C-C7B7-4F6E-9D1B-32DC44EEE430}"/>
              </a:ext>
            </a:extLst>
          </p:cNvPr>
          <p:cNvSpPr txBox="1"/>
          <p:nvPr/>
        </p:nvSpPr>
        <p:spPr bwMode="gray">
          <a:xfrm>
            <a:off x="4066133" y="4305161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1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BA95C5F-8B96-460C-A9E5-82F29892F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1019957" y="3063650"/>
            <a:ext cx="353331" cy="289089"/>
          </a:xfrm>
          <a:prstGeom prst="rect">
            <a:avLst/>
          </a:prstGeom>
          <a:noFill/>
        </p:spPr>
      </p:pic>
      <p:cxnSp>
        <p:nvCxnSpPr>
          <p:cNvPr id="311" name="直接连接符 310">
            <a:extLst>
              <a:ext uri="{FF2B5EF4-FFF2-40B4-BE49-F238E27FC236}">
                <a16:creationId xmlns="" xmlns:a16="http://schemas.microsoft.com/office/drawing/2014/main" id="{9499B634-EFCB-42E1-84C7-42646E7EA9BA}"/>
              </a:ext>
            </a:extLst>
          </p:cNvPr>
          <p:cNvCxnSpPr>
            <a:cxnSpLocks/>
            <a:stCxn id="310" idx="3"/>
            <a:endCxn id="4" idx="1"/>
          </p:cNvCxnSpPr>
          <p:nvPr/>
        </p:nvCxnSpPr>
        <p:spPr bwMode="gray">
          <a:xfrm>
            <a:off x="1373288" y="3208195"/>
            <a:ext cx="4148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DF72AA8D-EB7E-4DE1-97B7-2F525E854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1019957" y="3601701"/>
            <a:ext cx="353331" cy="289089"/>
          </a:xfrm>
          <a:prstGeom prst="rect">
            <a:avLst/>
          </a:prstGeom>
          <a:noFill/>
        </p:spPr>
      </p:pic>
      <p:cxnSp>
        <p:nvCxnSpPr>
          <p:cNvPr id="313" name="直接连接符 312">
            <a:extLst>
              <a:ext uri="{FF2B5EF4-FFF2-40B4-BE49-F238E27FC236}">
                <a16:creationId xmlns="" xmlns:a16="http://schemas.microsoft.com/office/drawing/2014/main" id="{C673DC0A-710C-4E04-8722-A5A60C1FFE6A}"/>
              </a:ext>
            </a:extLst>
          </p:cNvPr>
          <p:cNvCxnSpPr>
            <a:cxnSpLocks/>
            <a:stCxn id="312" idx="3"/>
            <a:endCxn id="9" idx="1"/>
          </p:cNvCxnSpPr>
          <p:nvPr/>
        </p:nvCxnSpPr>
        <p:spPr bwMode="gray">
          <a:xfrm>
            <a:off x="1373288" y="3746246"/>
            <a:ext cx="4148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="" xmlns:a16="http://schemas.microsoft.com/office/drawing/2014/main" id="{657360B0-C3BE-4864-908B-761E1AD6EEBB}"/>
              </a:ext>
            </a:extLst>
          </p:cNvPr>
          <p:cNvCxnSpPr>
            <a:cxnSpLocks/>
            <a:stCxn id="310" idx="2"/>
            <a:endCxn id="312" idx="0"/>
          </p:cNvCxnSpPr>
          <p:nvPr/>
        </p:nvCxnSpPr>
        <p:spPr bwMode="gray">
          <a:xfrm>
            <a:off x="1196623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文本框 316">
            <a:extLst>
              <a:ext uri="{FF2B5EF4-FFF2-40B4-BE49-F238E27FC236}">
                <a16:creationId xmlns="" xmlns:a16="http://schemas.microsoft.com/office/drawing/2014/main" id="{2AA68AC8-EDD8-4102-A114-E07B41C98433}"/>
              </a:ext>
            </a:extLst>
          </p:cNvPr>
          <p:cNvSpPr txBox="1"/>
          <p:nvPr/>
        </p:nvSpPr>
        <p:spPr bwMode="gray">
          <a:xfrm>
            <a:off x="832311" y="277319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1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32C89DE8-046E-4BE6-809F-960AE0F5B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7640384" y="3068815"/>
            <a:ext cx="353331" cy="289089"/>
          </a:xfrm>
          <a:prstGeom prst="rect">
            <a:avLst/>
          </a:prstGeom>
          <a:noFill/>
        </p:spPr>
      </p:pic>
      <p:cxnSp>
        <p:nvCxnSpPr>
          <p:cNvPr id="319" name="直接连接符 318">
            <a:extLst>
              <a:ext uri="{FF2B5EF4-FFF2-40B4-BE49-F238E27FC236}">
                <a16:creationId xmlns="" xmlns:a16="http://schemas.microsoft.com/office/drawing/2014/main" id="{A4AA9B75-2521-4654-96C0-D95078B091BF}"/>
              </a:ext>
            </a:extLst>
          </p:cNvPr>
          <p:cNvCxnSpPr>
            <a:endCxn id="318" idx="1"/>
          </p:cNvCxnSpPr>
          <p:nvPr/>
        </p:nvCxnSpPr>
        <p:spPr bwMode="gray">
          <a:xfrm>
            <a:off x="7185831" y="3213360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EB27F293-98C7-4439-83BA-363C905EF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7640384" y="3606866"/>
            <a:ext cx="353331" cy="289089"/>
          </a:xfrm>
          <a:prstGeom prst="rect">
            <a:avLst/>
          </a:prstGeom>
          <a:noFill/>
        </p:spPr>
      </p:pic>
      <p:cxnSp>
        <p:nvCxnSpPr>
          <p:cNvPr id="321" name="直接连接符 320">
            <a:extLst>
              <a:ext uri="{FF2B5EF4-FFF2-40B4-BE49-F238E27FC236}">
                <a16:creationId xmlns="" xmlns:a16="http://schemas.microsoft.com/office/drawing/2014/main" id="{76576F7F-3EBE-4BD6-8A7A-37AE46EAA116}"/>
              </a:ext>
            </a:extLst>
          </p:cNvPr>
          <p:cNvCxnSpPr>
            <a:cxnSpLocks/>
            <a:endCxn id="320" idx="1"/>
          </p:cNvCxnSpPr>
          <p:nvPr/>
        </p:nvCxnSpPr>
        <p:spPr bwMode="gray">
          <a:xfrm>
            <a:off x="7185831" y="3751411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="" xmlns:a16="http://schemas.microsoft.com/office/drawing/2014/main" id="{20654F91-441B-4419-BB8E-D1B175539C8F}"/>
              </a:ext>
            </a:extLst>
          </p:cNvPr>
          <p:cNvCxnSpPr>
            <a:cxnSpLocks/>
            <a:stCxn id="318" idx="2"/>
            <a:endCxn id="320" idx="0"/>
          </p:cNvCxnSpPr>
          <p:nvPr/>
        </p:nvCxnSpPr>
        <p:spPr bwMode="gray">
          <a:xfrm>
            <a:off x="7817050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文本框 322">
            <a:extLst>
              <a:ext uri="{FF2B5EF4-FFF2-40B4-BE49-F238E27FC236}">
                <a16:creationId xmlns="" xmlns:a16="http://schemas.microsoft.com/office/drawing/2014/main" id="{0A455F81-A421-453B-A369-3538857585B0}"/>
              </a:ext>
            </a:extLst>
          </p:cNvPr>
          <p:cNvSpPr txBox="1"/>
          <p:nvPr/>
        </p:nvSpPr>
        <p:spPr bwMode="gray">
          <a:xfrm>
            <a:off x="7443286" y="277319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4" name="Freeform 159">
            <a:extLst>
              <a:ext uri="{FF2B5EF4-FFF2-40B4-BE49-F238E27FC236}">
                <a16:creationId xmlns="" xmlns:a16="http://schemas.microsoft.com/office/drawing/2014/main" id="{BCDC4F52-E19F-4093-90AB-D2C8DE9DA57E}"/>
              </a:ext>
            </a:extLst>
          </p:cNvPr>
          <p:cNvSpPr/>
          <p:nvPr/>
        </p:nvSpPr>
        <p:spPr bwMode="gray">
          <a:xfrm flipH="1">
            <a:off x="558229" y="315718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5" name="Freeform 159">
            <a:extLst>
              <a:ext uri="{FF2B5EF4-FFF2-40B4-BE49-F238E27FC236}">
                <a16:creationId xmlns="" xmlns:a16="http://schemas.microsoft.com/office/drawing/2014/main" id="{5776DB77-4350-4DDD-9223-14213F9CEB30}"/>
              </a:ext>
            </a:extLst>
          </p:cNvPr>
          <p:cNvSpPr/>
          <p:nvPr/>
        </p:nvSpPr>
        <p:spPr bwMode="gray">
          <a:xfrm flipH="1">
            <a:off x="7544203" y="315718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2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F469ED4-CDF0-4A74-BC41-2468F7799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3910404" y="1154816"/>
            <a:ext cx="353331" cy="289089"/>
          </a:xfrm>
          <a:prstGeom prst="rect">
            <a:avLst/>
          </a:prstGeom>
          <a:noFill/>
        </p:spPr>
      </p:pic>
      <p:pic>
        <p:nvPicPr>
          <p:cNvPr id="32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DD6059B-22F6-48B6-B49E-C680FB4E1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784964" y="1154816"/>
            <a:ext cx="353331" cy="289089"/>
          </a:xfrm>
          <a:prstGeom prst="rect">
            <a:avLst/>
          </a:prstGeom>
          <a:noFill/>
        </p:spPr>
      </p:pic>
      <p:cxnSp>
        <p:nvCxnSpPr>
          <p:cNvPr id="330" name="直接连接符 329">
            <a:extLst>
              <a:ext uri="{FF2B5EF4-FFF2-40B4-BE49-F238E27FC236}">
                <a16:creationId xmlns="" xmlns:a16="http://schemas.microsoft.com/office/drawing/2014/main" id="{73AF6E19-D32E-46E5-8573-D60F221E15BA}"/>
              </a:ext>
            </a:extLst>
          </p:cNvPr>
          <p:cNvCxnSpPr>
            <a:stCxn id="328" idx="3"/>
            <a:endCxn id="329" idx="1"/>
          </p:cNvCxnSpPr>
          <p:nvPr/>
        </p:nvCxnSpPr>
        <p:spPr bwMode="gray">
          <a:xfrm>
            <a:off x="4263735" y="1299361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159">
            <a:extLst>
              <a:ext uri="{FF2B5EF4-FFF2-40B4-BE49-F238E27FC236}">
                <a16:creationId xmlns="" xmlns:a16="http://schemas.microsoft.com/office/drawing/2014/main" id="{DF754ED5-C668-41CC-8B82-C097EA75CE44}"/>
              </a:ext>
            </a:extLst>
          </p:cNvPr>
          <p:cNvSpPr/>
          <p:nvPr/>
        </p:nvSpPr>
        <p:spPr bwMode="gray">
          <a:xfrm flipH="1">
            <a:off x="4037003" y="1022868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2903F9D-A303-4AE4-9505-297592D6A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0404" y="1617098"/>
            <a:ext cx="353331" cy="289089"/>
          </a:xfrm>
          <a:prstGeom prst="rect">
            <a:avLst/>
          </a:prstGeom>
          <a:noFill/>
        </p:spPr>
      </p:pic>
      <p:pic>
        <p:nvPicPr>
          <p:cNvPr id="2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8CDD1CC-135B-4DFD-AA21-1C5AA9800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84964" y="1617098"/>
            <a:ext cx="353331" cy="289089"/>
          </a:xfrm>
          <a:prstGeom prst="rect">
            <a:avLst/>
          </a:prstGeom>
          <a:noFill/>
        </p:spPr>
      </p:pic>
      <p:sp>
        <p:nvSpPr>
          <p:cNvPr id="334" name="文本框 333">
            <a:extLst>
              <a:ext uri="{FF2B5EF4-FFF2-40B4-BE49-F238E27FC236}">
                <a16:creationId xmlns="" xmlns:a16="http://schemas.microsoft.com/office/drawing/2014/main" id="{64A12073-DF77-4D05-9A1E-11ABF38D0A85}"/>
              </a:ext>
            </a:extLst>
          </p:cNvPr>
          <p:cNvSpPr txBox="1"/>
          <p:nvPr/>
        </p:nvSpPr>
        <p:spPr bwMode="gray">
          <a:xfrm>
            <a:off x="3238083" y="116553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5" name="Freeform 159">
            <a:extLst>
              <a:ext uri="{FF2B5EF4-FFF2-40B4-BE49-F238E27FC236}">
                <a16:creationId xmlns="" xmlns:a16="http://schemas.microsoft.com/office/drawing/2014/main" id="{CADD9C19-608E-45A4-9E1E-2E960B20BBC5}"/>
              </a:ext>
            </a:extLst>
          </p:cNvPr>
          <p:cNvSpPr/>
          <p:nvPr/>
        </p:nvSpPr>
        <p:spPr bwMode="gray">
          <a:xfrm flipH="1">
            <a:off x="2837854" y="5688566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6" name="Freeform 159">
            <a:extLst>
              <a:ext uri="{FF2B5EF4-FFF2-40B4-BE49-F238E27FC236}">
                <a16:creationId xmlns="" xmlns:a16="http://schemas.microsoft.com/office/drawing/2014/main" id="{CB859170-E9C3-4638-8390-7ED40262CFA2}"/>
              </a:ext>
            </a:extLst>
          </p:cNvPr>
          <p:cNvSpPr/>
          <p:nvPr/>
        </p:nvSpPr>
        <p:spPr bwMode="gray">
          <a:xfrm flipH="1">
            <a:off x="5200893" y="567669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7" name="文本框 336">
            <a:extLst>
              <a:ext uri="{FF2B5EF4-FFF2-40B4-BE49-F238E27FC236}">
                <a16:creationId xmlns="" xmlns:a16="http://schemas.microsoft.com/office/drawing/2014/main" id="{020CFE3C-B5CD-4BD2-910D-C4020893D28A}"/>
              </a:ext>
            </a:extLst>
          </p:cNvPr>
          <p:cNvSpPr txBox="1"/>
          <p:nvPr/>
        </p:nvSpPr>
        <p:spPr bwMode="gray">
          <a:xfrm>
            <a:off x="1779516" y="501593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="" xmlns:a16="http://schemas.microsoft.com/office/drawing/2014/main" id="{072BE176-3C79-42E6-9A21-FD758DAA0B8F}"/>
              </a:ext>
            </a:extLst>
          </p:cNvPr>
          <p:cNvSpPr txBox="1"/>
          <p:nvPr/>
        </p:nvSpPr>
        <p:spPr bwMode="gray">
          <a:xfrm>
            <a:off x="1827017" y="581343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9" name="文本框 338">
            <a:extLst>
              <a:ext uri="{FF2B5EF4-FFF2-40B4-BE49-F238E27FC236}">
                <a16:creationId xmlns="" xmlns:a16="http://schemas.microsoft.com/office/drawing/2014/main" id="{2071A1FA-E5B1-49BE-B506-81AD5D058E44}"/>
              </a:ext>
            </a:extLst>
          </p:cNvPr>
          <p:cNvSpPr txBox="1"/>
          <p:nvPr/>
        </p:nvSpPr>
        <p:spPr bwMode="gray">
          <a:xfrm>
            <a:off x="6506222" y="501593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0" name="文本框 339">
            <a:extLst>
              <a:ext uri="{FF2B5EF4-FFF2-40B4-BE49-F238E27FC236}">
                <a16:creationId xmlns="" xmlns:a16="http://schemas.microsoft.com/office/drawing/2014/main" id="{BB81A99B-7F01-47BC-9AD3-867AAD305091}"/>
              </a:ext>
            </a:extLst>
          </p:cNvPr>
          <p:cNvSpPr txBox="1"/>
          <p:nvPr/>
        </p:nvSpPr>
        <p:spPr bwMode="gray">
          <a:xfrm>
            <a:off x="6482473" y="581343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1" name="文本框 340">
            <a:extLst>
              <a:ext uri="{FF2B5EF4-FFF2-40B4-BE49-F238E27FC236}">
                <a16:creationId xmlns="" xmlns:a16="http://schemas.microsoft.com/office/drawing/2014/main" id="{259CFDC2-0F20-4E59-BF10-91009FAF5C45}"/>
              </a:ext>
            </a:extLst>
          </p:cNvPr>
          <p:cNvSpPr txBox="1"/>
          <p:nvPr/>
        </p:nvSpPr>
        <p:spPr bwMode="gray">
          <a:xfrm>
            <a:off x="577695" y="4261775"/>
            <a:ext cx="660758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2" name="文本框 341">
            <a:extLst>
              <a:ext uri="{FF2B5EF4-FFF2-40B4-BE49-F238E27FC236}">
                <a16:creationId xmlns="" xmlns:a16="http://schemas.microsoft.com/office/drawing/2014/main" id="{AA978F99-A84E-44D7-8798-B4378C4A0B2E}"/>
              </a:ext>
            </a:extLst>
          </p:cNvPr>
          <p:cNvSpPr txBox="1"/>
          <p:nvPr/>
        </p:nvSpPr>
        <p:spPr bwMode="gray">
          <a:xfrm>
            <a:off x="7768398" y="4261775"/>
            <a:ext cx="660758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3" name="文本框 342">
            <a:extLst>
              <a:ext uri="{FF2B5EF4-FFF2-40B4-BE49-F238E27FC236}">
                <a16:creationId xmlns="" xmlns:a16="http://schemas.microsoft.com/office/drawing/2014/main" id="{9C7622CA-1DB5-467B-9D0B-C96565233CA6}"/>
              </a:ext>
            </a:extLst>
          </p:cNvPr>
          <p:cNvSpPr txBox="1"/>
          <p:nvPr/>
        </p:nvSpPr>
        <p:spPr bwMode="gray">
          <a:xfrm>
            <a:off x="5200940" y="2179505"/>
            <a:ext cx="651140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4" name="文本框 343">
            <a:extLst>
              <a:ext uri="{FF2B5EF4-FFF2-40B4-BE49-F238E27FC236}">
                <a16:creationId xmlns="" xmlns:a16="http://schemas.microsoft.com/office/drawing/2014/main" id="{D3085399-3827-40DD-8D28-6982A130D666}"/>
              </a:ext>
            </a:extLst>
          </p:cNvPr>
          <p:cNvSpPr txBox="1"/>
          <p:nvPr/>
        </p:nvSpPr>
        <p:spPr bwMode="gray">
          <a:xfrm>
            <a:off x="1602129" y="5390021"/>
            <a:ext cx="652743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="" xmlns:a16="http://schemas.microsoft.com/office/drawing/2014/main" id="{39295D68-5537-4D91-89C2-696F22FC9CF9}"/>
              </a:ext>
            </a:extLst>
          </p:cNvPr>
          <p:cNvSpPr txBox="1"/>
          <p:nvPr/>
        </p:nvSpPr>
        <p:spPr bwMode="gray">
          <a:xfrm>
            <a:off x="6673549" y="5390021"/>
            <a:ext cx="673582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7" name="文本框 346">
            <a:extLst>
              <a:ext uri="{FF2B5EF4-FFF2-40B4-BE49-F238E27FC236}">
                <a16:creationId xmlns="" xmlns:a16="http://schemas.microsoft.com/office/drawing/2014/main" id="{21FAD1DD-141C-4717-B8C6-6F835B038FD4}"/>
              </a:ext>
            </a:extLst>
          </p:cNvPr>
          <p:cNvSpPr txBox="1"/>
          <p:nvPr/>
        </p:nvSpPr>
        <p:spPr bwMode="gray">
          <a:xfrm>
            <a:off x="8641734" y="1796881"/>
            <a:ext cx="3130446" cy="337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：构建两地三中心高速互联网络。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：汇聚数据中心或同城业务。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：数据中心接入设备。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：汇聚各省分支机构上行链路。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：反射广域承载网区域路由。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：分支机构广域承载网边缘设备。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：分支机构接入设备。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9" name="文本框 348">
            <a:extLst>
              <a:ext uri="{FF2B5EF4-FFF2-40B4-BE49-F238E27FC236}">
                <a16:creationId xmlns="" xmlns:a16="http://schemas.microsoft.com/office/drawing/2014/main" id="{E987ABEE-19E4-4738-895B-11F4986B6D9D}"/>
              </a:ext>
            </a:extLst>
          </p:cNvPr>
          <p:cNvSpPr txBox="1"/>
          <p:nvPr/>
        </p:nvSpPr>
        <p:spPr bwMode="gray">
          <a:xfrm>
            <a:off x="8143461" y="5174578"/>
            <a:ext cx="3605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* 注：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建议由两台设备部署，构建双平面广域承载网，本拓扑仅呈现一台。</a:t>
            </a:r>
          </a:p>
        </p:txBody>
      </p:sp>
      <p:cxnSp>
        <p:nvCxnSpPr>
          <p:cNvPr id="125" name="直接连接符 124">
            <a:extLst>
              <a:ext uri="{FF2B5EF4-FFF2-40B4-BE49-F238E27FC236}">
                <a16:creationId xmlns="" xmlns:a16="http://schemas.microsoft.com/office/drawing/2014/main" id="{237A4678-3B03-409E-9D8C-71780BB03905}"/>
              </a:ext>
            </a:extLst>
          </p:cNvPr>
          <p:cNvCxnSpPr>
            <a:cxnSpLocks/>
            <a:stCxn id="21" idx="1"/>
            <a:endCxn id="63" idx="0"/>
          </p:cNvCxnSpPr>
          <p:nvPr/>
        </p:nvCxnSpPr>
        <p:spPr bwMode="gray">
          <a:xfrm flipH="1">
            <a:off x="5567956" y="3751411"/>
            <a:ext cx="499005" cy="531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="" xmlns:a16="http://schemas.microsoft.com/office/drawing/2014/main" id="{CCE72983-B230-4F47-BA4D-E12822EF0847}"/>
              </a:ext>
            </a:extLst>
          </p:cNvPr>
          <p:cNvCxnSpPr>
            <a:cxnSpLocks/>
            <a:stCxn id="18" idx="1"/>
            <a:endCxn id="63" idx="0"/>
          </p:cNvCxnSpPr>
          <p:nvPr/>
        </p:nvCxnSpPr>
        <p:spPr bwMode="gray">
          <a:xfrm flipH="1">
            <a:off x="5567956" y="3213360"/>
            <a:ext cx="499005" cy="10695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46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F68E2FA-76F2-4581-89A2-ACD301FE9E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广域承载网典型架构分层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6C5DE2B-C485-4CB3-BC28-75BCBD380D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>
                <a:sym typeface="Huawei Sans" panose="020C0503030203020204" pitchFamily="34" charset="0"/>
              </a:rPr>
              <a:t>将广域承载网典型架构抽象，分为接入层、汇聚层和核心层三层架构。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336534C5-89D0-4FA8-B45F-D58ACB5B5390}"/>
              </a:ext>
            </a:extLst>
          </p:cNvPr>
          <p:cNvGrpSpPr/>
          <p:nvPr/>
        </p:nvGrpSpPr>
        <p:grpSpPr bwMode="gray">
          <a:xfrm>
            <a:off x="3895315" y="2468571"/>
            <a:ext cx="3059321" cy="3059321"/>
            <a:chOff x="1080510" y="2273862"/>
            <a:chExt cx="3059321" cy="3059321"/>
          </a:xfrm>
        </p:grpSpPr>
        <p:sp>
          <p:nvSpPr>
            <p:cNvPr id="5" name="椭圆 4">
              <a:extLst>
                <a:ext uri="{FF2B5EF4-FFF2-40B4-BE49-F238E27FC236}">
                  <a16:creationId xmlns="" xmlns:a16="http://schemas.microsoft.com/office/drawing/2014/main" id="{570D8137-45A3-400C-9A8E-BE5D033D5589}"/>
                </a:ext>
              </a:extLst>
            </p:cNvPr>
            <p:cNvSpPr/>
            <p:nvPr/>
          </p:nvSpPr>
          <p:spPr bwMode="gray">
            <a:xfrm>
              <a:off x="1112348" y="2313433"/>
              <a:ext cx="2987248" cy="29808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="" xmlns:a16="http://schemas.microsoft.com/office/drawing/2014/main" id="{DD43FAA7-39E3-4A90-8779-26C1E36579EC}"/>
                </a:ext>
              </a:extLst>
            </p:cNvPr>
            <p:cNvSpPr/>
            <p:nvPr/>
          </p:nvSpPr>
          <p:spPr bwMode="gray">
            <a:xfrm>
              <a:off x="1531315" y="2738998"/>
              <a:ext cx="2172545" cy="2167902"/>
            </a:xfrm>
            <a:prstGeom prst="ellipse">
              <a:avLst/>
            </a:prstGeom>
            <a:noFill/>
            <a:ln>
              <a:solidFill>
                <a:srgbClr val="81AA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="" xmlns:a16="http://schemas.microsoft.com/office/drawing/2014/main" id="{CEFE3864-DAC3-47AB-97F6-4CEFE9B896BB}"/>
                </a:ext>
              </a:extLst>
            </p:cNvPr>
            <p:cNvSpPr txBox="1"/>
            <p:nvPr/>
          </p:nvSpPr>
          <p:spPr bwMode="gray">
            <a:xfrm>
              <a:off x="2557030" y="2600197"/>
              <a:ext cx="2487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="" xmlns:a16="http://schemas.microsoft.com/office/drawing/2014/main" id="{A8E9D4D9-7B1A-4FA3-AF2F-AE8EC2BCF2F1}"/>
                </a:ext>
              </a:extLst>
            </p:cNvPr>
            <p:cNvSpPr/>
            <p:nvPr/>
          </p:nvSpPr>
          <p:spPr bwMode="gray">
            <a:xfrm>
              <a:off x="2291548" y="2664172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="" xmlns:a16="http://schemas.microsoft.com/office/drawing/2014/main" id="{C688DDE9-99F5-4BF8-BC0B-61DE5AD1A0E7}"/>
                </a:ext>
              </a:extLst>
            </p:cNvPr>
            <p:cNvSpPr/>
            <p:nvPr/>
          </p:nvSpPr>
          <p:spPr bwMode="gray">
            <a:xfrm>
              <a:off x="2563206" y="2645986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="" xmlns:a16="http://schemas.microsoft.com/office/drawing/2014/main" id="{BCAEB028-D436-4DAB-BB46-2A097E4776F5}"/>
                </a:ext>
              </a:extLst>
            </p:cNvPr>
            <p:cNvSpPr/>
            <p:nvPr/>
          </p:nvSpPr>
          <p:spPr bwMode="gray">
            <a:xfrm>
              <a:off x="2834744" y="2692709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="" xmlns:a16="http://schemas.microsoft.com/office/drawing/2014/main" id="{58B2255F-B6F5-4B66-8E03-1BF2F55B9596}"/>
                </a:ext>
              </a:extLst>
            </p:cNvPr>
            <p:cNvSpPr/>
            <p:nvPr/>
          </p:nvSpPr>
          <p:spPr bwMode="gray">
            <a:xfrm rot="4113548">
              <a:off x="3367685" y="302772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="" xmlns:a16="http://schemas.microsoft.com/office/drawing/2014/main" id="{71C7E2E6-8D5F-4677-9E24-B4EAAA4BD543}"/>
                </a:ext>
              </a:extLst>
            </p:cNvPr>
            <p:cNvSpPr/>
            <p:nvPr/>
          </p:nvSpPr>
          <p:spPr bwMode="gray">
            <a:xfrm rot="4113548">
              <a:off x="3502775" y="3211657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="" xmlns:a16="http://schemas.microsoft.com/office/drawing/2014/main" id="{6D21B76B-09D1-4DEB-AD82-90A44FBA4B25}"/>
                </a:ext>
              </a:extLst>
            </p:cNvPr>
            <p:cNvSpPr/>
            <p:nvPr/>
          </p:nvSpPr>
          <p:spPr bwMode="gray">
            <a:xfrm rot="4113548">
              <a:off x="3574017" y="3429390"/>
              <a:ext cx="14765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="" xmlns:a16="http://schemas.microsoft.com/office/drawing/2014/main" id="{218806A6-4152-46F3-A7EF-61BAA00E8FCA}"/>
                </a:ext>
              </a:extLst>
            </p:cNvPr>
            <p:cNvSpPr/>
            <p:nvPr/>
          </p:nvSpPr>
          <p:spPr bwMode="gray">
            <a:xfrm rot="10800000">
              <a:off x="2841102" y="4789419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="" xmlns:a16="http://schemas.microsoft.com/office/drawing/2014/main" id="{69E94B64-475C-4067-8E05-FD475BD2297F}"/>
                </a:ext>
              </a:extLst>
            </p:cNvPr>
            <p:cNvSpPr/>
            <p:nvPr/>
          </p:nvSpPr>
          <p:spPr bwMode="gray">
            <a:xfrm rot="10800000">
              <a:off x="2546697" y="4829344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="" xmlns:a16="http://schemas.microsoft.com/office/drawing/2014/main" id="{3E865351-F899-43F5-96A6-3464C9068132}"/>
                </a:ext>
              </a:extLst>
            </p:cNvPr>
            <p:cNvSpPr/>
            <p:nvPr/>
          </p:nvSpPr>
          <p:spPr bwMode="gray">
            <a:xfrm rot="10800000">
              <a:off x="2252730" y="4798733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="" xmlns:a16="http://schemas.microsoft.com/office/drawing/2014/main" id="{12BC114F-5710-4DC0-8F2A-FA6DAC78BF3F}"/>
                </a:ext>
              </a:extLst>
            </p:cNvPr>
            <p:cNvSpPr/>
            <p:nvPr/>
          </p:nvSpPr>
          <p:spPr bwMode="gray">
            <a:xfrm rot="6490213">
              <a:off x="3615692" y="390517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="" xmlns:a16="http://schemas.microsoft.com/office/drawing/2014/main" id="{C513260C-567C-4EB3-9497-B937F361664E}"/>
                </a:ext>
              </a:extLst>
            </p:cNvPr>
            <p:cNvSpPr/>
            <p:nvPr/>
          </p:nvSpPr>
          <p:spPr bwMode="gray">
            <a:xfrm rot="6490213">
              <a:off x="3538054" y="415292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="" xmlns:a16="http://schemas.microsoft.com/office/drawing/2014/main" id="{E0CC8B3D-0701-4DBE-BED5-5E7F00EA504D}"/>
                </a:ext>
              </a:extLst>
            </p:cNvPr>
            <p:cNvSpPr/>
            <p:nvPr/>
          </p:nvSpPr>
          <p:spPr bwMode="gray">
            <a:xfrm rot="6490213">
              <a:off x="3420050" y="438520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="" xmlns:a16="http://schemas.microsoft.com/office/drawing/2014/main" id="{5366463B-0191-4343-B5E1-D655933076D9}"/>
                </a:ext>
              </a:extLst>
            </p:cNvPr>
            <p:cNvSpPr/>
            <p:nvPr/>
          </p:nvSpPr>
          <p:spPr bwMode="gray">
            <a:xfrm rot="14436908">
              <a:off x="1782639" y="455555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="" xmlns:a16="http://schemas.microsoft.com/office/drawing/2014/main" id="{BFB0182B-1A8D-4216-BA60-15E375C9D642}"/>
                </a:ext>
              </a:extLst>
            </p:cNvPr>
            <p:cNvSpPr/>
            <p:nvPr/>
          </p:nvSpPr>
          <p:spPr bwMode="gray">
            <a:xfrm rot="14436908">
              <a:off x="1619748" y="434485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="" xmlns:a16="http://schemas.microsoft.com/office/drawing/2014/main" id="{182776F1-3C10-4728-8F1F-F83035919E69}"/>
                </a:ext>
              </a:extLst>
            </p:cNvPr>
            <p:cNvSpPr/>
            <p:nvPr/>
          </p:nvSpPr>
          <p:spPr bwMode="gray">
            <a:xfrm rot="14436908">
              <a:off x="1518858" y="412030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="" xmlns:a16="http://schemas.microsoft.com/office/drawing/2014/main" id="{B926926F-82F4-47A0-9E30-6C6E2F8729D0}"/>
                </a:ext>
              </a:extLst>
            </p:cNvPr>
            <p:cNvSpPr/>
            <p:nvPr/>
          </p:nvSpPr>
          <p:spPr bwMode="gray">
            <a:xfrm rot="16973446">
              <a:off x="1438441" y="3761307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="" xmlns:a16="http://schemas.microsoft.com/office/drawing/2014/main" id="{7E04236F-ED57-4F2D-92C1-71FF17A1A225}"/>
                </a:ext>
              </a:extLst>
            </p:cNvPr>
            <p:cNvSpPr/>
            <p:nvPr/>
          </p:nvSpPr>
          <p:spPr bwMode="gray">
            <a:xfrm rot="16973446">
              <a:off x="1484509" y="3490289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="" xmlns:a16="http://schemas.microsoft.com/office/drawing/2014/main" id="{B780CDFE-59D7-4354-85E1-1A0C04DEF3CD}"/>
                </a:ext>
              </a:extLst>
            </p:cNvPr>
            <p:cNvSpPr/>
            <p:nvPr/>
          </p:nvSpPr>
          <p:spPr bwMode="gray">
            <a:xfrm rot="16973446">
              <a:off x="1578150" y="3241971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="" xmlns:a16="http://schemas.microsoft.com/office/drawing/2014/main" id="{52035EC2-ED2D-4992-9B9E-DFB470D39084}"/>
                </a:ext>
              </a:extLst>
            </p:cNvPr>
            <p:cNvSpPr txBox="1"/>
            <p:nvPr/>
          </p:nvSpPr>
          <p:spPr bwMode="gray">
            <a:xfrm>
              <a:off x="1639713" y="2817242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81AAD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汇聚层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B9D2D70A-2BAE-4F74-9D95-6D0BA40680E1}"/>
                </a:ext>
              </a:extLst>
            </p:cNvPr>
            <p:cNvSpPr txBox="1"/>
            <p:nvPr/>
          </p:nvSpPr>
          <p:spPr bwMode="gray">
            <a:xfrm>
              <a:off x="2201082" y="3603958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B29CCC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核心层</a:t>
              </a:r>
            </a:p>
          </p:txBody>
        </p:sp>
        <p:sp>
          <p:nvSpPr>
            <p:cNvPr id="28" name="椭圆 27">
              <a:extLst>
                <a:ext uri="{FF2B5EF4-FFF2-40B4-BE49-F238E27FC236}">
                  <a16:creationId xmlns="" xmlns:a16="http://schemas.microsoft.com/office/drawing/2014/main" id="{52621961-34EF-4219-9F16-8C8D0CE19F52}"/>
                </a:ext>
              </a:extLst>
            </p:cNvPr>
            <p:cNvSpPr/>
            <p:nvPr/>
          </p:nvSpPr>
          <p:spPr bwMode="gray">
            <a:xfrm>
              <a:off x="2092237" y="2335547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="" xmlns:a16="http://schemas.microsoft.com/office/drawing/2014/main" id="{76D609DE-4C23-41FC-A4B0-B8FA3121F4E9}"/>
                </a:ext>
              </a:extLst>
            </p:cNvPr>
            <p:cNvSpPr/>
            <p:nvPr/>
          </p:nvSpPr>
          <p:spPr bwMode="gray">
            <a:xfrm>
              <a:off x="1493053" y="2732369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="" xmlns:a16="http://schemas.microsoft.com/office/drawing/2014/main" id="{81485129-BFA7-46CF-BD2D-45CF031AEA70}"/>
                </a:ext>
              </a:extLst>
            </p:cNvPr>
            <p:cNvSpPr/>
            <p:nvPr/>
          </p:nvSpPr>
          <p:spPr bwMode="gray">
            <a:xfrm>
              <a:off x="2549735" y="2273862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="" xmlns:a16="http://schemas.microsoft.com/office/drawing/2014/main" id="{13093B4C-41F3-4060-932C-49BC17740444}"/>
                </a:ext>
              </a:extLst>
            </p:cNvPr>
            <p:cNvSpPr/>
            <p:nvPr/>
          </p:nvSpPr>
          <p:spPr bwMode="gray">
            <a:xfrm>
              <a:off x="2997703" y="2328570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="" xmlns:a16="http://schemas.microsoft.com/office/drawing/2014/main" id="{9DEE8DBE-DBAB-4481-A090-D2E2243501AE}"/>
                </a:ext>
              </a:extLst>
            </p:cNvPr>
            <p:cNvSpPr/>
            <p:nvPr/>
          </p:nvSpPr>
          <p:spPr bwMode="gray">
            <a:xfrm>
              <a:off x="3758178" y="2847405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="" xmlns:a16="http://schemas.microsoft.com/office/drawing/2014/main" id="{C4FA2CDB-7FE2-4066-850D-E85A52D4F71F}"/>
                </a:ext>
              </a:extLst>
            </p:cNvPr>
            <p:cNvSpPr/>
            <p:nvPr/>
          </p:nvSpPr>
          <p:spPr bwMode="gray">
            <a:xfrm>
              <a:off x="3973620" y="3269186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="" xmlns:a16="http://schemas.microsoft.com/office/drawing/2014/main" id="{42CFBF5C-0319-44B7-A3F4-8983913D634C}"/>
                </a:ext>
              </a:extLst>
            </p:cNvPr>
            <p:cNvSpPr/>
            <p:nvPr/>
          </p:nvSpPr>
          <p:spPr bwMode="gray">
            <a:xfrm>
              <a:off x="4062317" y="385193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="" xmlns:a16="http://schemas.microsoft.com/office/drawing/2014/main" id="{3F21186A-F08B-47DB-B025-FDEF72667E6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965630" y="3172776"/>
              <a:ext cx="1357841" cy="1354939"/>
            </a:xfrm>
            <a:prstGeom prst="ellipse">
              <a:avLst/>
            </a:prstGeom>
            <a:noFill/>
            <a:ln w="12700">
              <a:solidFill>
                <a:srgbClr val="B29CCC"/>
              </a:solidFill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="" xmlns:a16="http://schemas.microsoft.com/office/drawing/2014/main" id="{E637D487-C57D-463C-A3DC-747068541216}"/>
                </a:ext>
              </a:extLst>
            </p:cNvPr>
            <p:cNvSpPr txBox="1"/>
            <p:nvPr/>
          </p:nvSpPr>
          <p:spPr bwMode="gray">
            <a:xfrm>
              <a:off x="1324360" y="2371260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B0F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接入层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="" xmlns:a16="http://schemas.microsoft.com/office/drawing/2014/main" id="{0260350D-0CAE-44D1-AF17-A8D2B1114551}"/>
                </a:ext>
              </a:extLst>
            </p:cNvPr>
            <p:cNvSpPr/>
            <p:nvPr/>
          </p:nvSpPr>
          <p:spPr bwMode="gray">
            <a:xfrm>
              <a:off x="3404510" y="2535061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="" xmlns:a16="http://schemas.microsoft.com/office/drawing/2014/main" id="{D2AD2882-83BB-4E4F-8C2E-AB09A59E2D00}"/>
                </a:ext>
              </a:extLst>
            </p:cNvPr>
            <p:cNvSpPr/>
            <p:nvPr/>
          </p:nvSpPr>
          <p:spPr bwMode="gray">
            <a:xfrm>
              <a:off x="3595219" y="4852937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="" xmlns:a16="http://schemas.microsoft.com/office/drawing/2014/main" id="{B01F1044-5637-4B78-86C1-5DF7A452B527}"/>
                </a:ext>
              </a:extLst>
            </p:cNvPr>
            <p:cNvSpPr/>
            <p:nvPr/>
          </p:nvSpPr>
          <p:spPr bwMode="gray">
            <a:xfrm>
              <a:off x="3905440" y="4420084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="" xmlns:a16="http://schemas.microsoft.com/office/drawing/2014/main" id="{4FD3D63F-9FE1-498A-A3D6-066A78CBE321}"/>
                </a:ext>
              </a:extLst>
            </p:cNvPr>
            <p:cNvSpPr/>
            <p:nvPr/>
          </p:nvSpPr>
          <p:spPr bwMode="gray">
            <a:xfrm>
              <a:off x="1996755" y="5155014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="" xmlns:a16="http://schemas.microsoft.com/office/drawing/2014/main" id="{6B6D173B-560F-4C8C-9865-D352CB90D7E2}"/>
                </a:ext>
              </a:extLst>
            </p:cNvPr>
            <p:cNvSpPr/>
            <p:nvPr/>
          </p:nvSpPr>
          <p:spPr bwMode="gray">
            <a:xfrm>
              <a:off x="1143142" y="4233496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="" xmlns:a16="http://schemas.microsoft.com/office/drawing/2014/main" id="{9F935FCF-D363-424E-90F6-C5C572FC2B59}"/>
                </a:ext>
              </a:extLst>
            </p:cNvPr>
            <p:cNvSpPr/>
            <p:nvPr/>
          </p:nvSpPr>
          <p:spPr bwMode="gray">
            <a:xfrm>
              <a:off x="1615635" y="491539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="" xmlns:a16="http://schemas.microsoft.com/office/drawing/2014/main" id="{25982752-3262-4672-BC31-303120C2FE1B}"/>
                </a:ext>
              </a:extLst>
            </p:cNvPr>
            <p:cNvSpPr/>
            <p:nvPr/>
          </p:nvSpPr>
          <p:spPr bwMode="gray">
            <a:xfrm>
              <a:off x="1318754" y="458537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="" xmlns:a16="http://schemas.microsoft.com/office/drawing/2014/main" id="{2A2283C3-BE13-4F02-8AA8-4DFE8CAD79EA}"/>
                </a:ext>
              </a:extLst>
            </p:cNvPr>
            <p:cNvSpPr/>
            <p:nvPr/>
          </p:nvSpPr>
          <p:spPr bwMode="gray">
            <a:xfrm>
              <a:off x="3032653" y="5186773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="" xmlns:a16="http://schemas.microsoft.com/office/drawing/2014/main" id="{57E84EA9-E245-438D-81E4-A02141558688}"/>
                </a:ext>
              </a:extLst>
            </p:cNvPr>
            <p:cNvSpPr/>
            <p:nvPr/>
          </p:nvSpPr>
          <p:spPr bwMode="gray">
            <a:xfrm>
              <a:off x="2462004" y="5255835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="" xmlns:a16="http://schemas.microsoft.com/office/drawing/2014/main" id="{6BCE028C-58C4-479A-B1A4-002CBE1AD0C9}"/>
                </a:ext>
              </a:extLst>
            </p:cNvPr>
            <p:cNvSpPr/>
            <p:nvPr/>
          </p:nvSpPr>
          <p:spPr bwMode="gray">
            <a:xfrm>
              <a:off x="1179494" y="3202400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="" xmlns:a16="http://schemas.microsoft.com/office/drawing/2014/main" id="{3B31DC84-5394-4F06-929D-ECA02CBB2D40}"/>
                </a:ext>
              </a:extLst>
            </p:cNvPr>
            <p:cNvSpPr/>
            <p:nvPr/>
          </p:nvSpPr>
          <p:spPr bwMode="gray">
            <a:xfrm>
              <a:off x="1080510" y="3745721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="" xmlns:a16="http://schemas.microsoft.com/office/drawing/2014/main" id="{0C5381CE-1C52-4457-92BD-A5AC8A950780}"/>
                </a:ext>
              </a:extLst>
            </p:cNvPr>
            <p:cNvGrpSpPr/>
            <p:nvPr/>
          </p:nvGrpSpPr>
          <p:grpSpPr bwMode="gray">
            <a:xfrm>
              <a:off x="1887487" y="3052894"/>
              <a:ext cx="1481625" cy="1590963"/>
              <a:chOff x="1763607" y="2953172"/>
              <a:chExt cx="1481625" cy="1590963"/>
            </a:xfrm>
            <a:solidFill>
              <a:srgbClr val="8064A2">
                <a:lumMod val="60000"/>
                <a:lumOff val="40000"/>
              </a:srgbClr>
            </a:solidFill>
          </p:grpSpPr>
          <p:sp>
            <p:nvSpPr>
              <p:cNvPr id="49" name="椭圆 48">
                <a:extLst>
                  <a:ext uri="{FF2B5EF4-FFF2-40B4-BE49-F238E27FC236}">
                    <a16:creationId xmlns="" xmlns:a16="http://schemas.microsoft.com/office/drawing/2014/main" id="{6F683ED8-82D8-4F9D-B64E-EF3154B327B3}"/>
                  </a:ext>
                </a:extLst>
              </p:cNvPr>
              <p:cNvSpPr/>
              <p:nvPr/>
            </p:nvSpPr>
            <p:spPr bwMode="gray">
              <a:xfrm>
                <a:off x="2367585" y="2953172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="" xmlns:a16="http://schemas.microsoft.com/office/drawing/2014/main" id="{2BB8853E-F393-4EBC-832F-FA3630203A9D}"/>
                  </a:ext>
                </a:extLst>
              </p:cNvPr>
              <p:cNvSpPr/>
              <p:nvPr/>
            </p:nvSpPr>
            <p:spPr bwMode="gray">
              <a:xfrm>
                <a:off x="1763607" y="3297482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="" xmlns:a16="http://schemas.microsoft.com/office/drawing/2014/main" id="{20E11801-5E23-46D0-B6C2-7A47B8B3D96A}"/>
                  </a:ext>
                </a:extLst>
              </p:cNvPr>
              <p:cNvSpPr/>
              <p:nvPr/>
            </p:nvSpPr>
            <p:spPr bwMode="gray">
              <a:xfrm>
                <a:off x="2973664" y="3297482"/>
                <a:ext cx="271568" cy="270988"/>
              </a:xfrm>
              <a:prstGeom prst="ellipse">
                <a:avLst/>
              </a:prstGeom>
              <a:solidFill>
                <a:srgbClr val="8064A2">
                  <a:lumMod val="60000"/>
                  <a:lumOff val="40000"/>
                </a:srgbClr>
              </a:solidFill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="" xmlns:a16="http://schemas.microsoft.com/office/drawing/2014/main" id="{4C28090E-BAAB-4F24-BFC6-800230FD5DD4}"/>
                  </a:ext>
                </a:extLst>
              </p:cNvPr>
              <p:cNvSpPr/>
              <p:nvPr/>
            </p:nvSpPr>
            <p:spPr bwMode="gray">
              <a:xfrm>
                <a:off x="1763607" y="395540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="" xmlns:a16="http://schemas.microsoft.com/office/drawing/2014/main" id="{081932C4-4BCC-45DA-91E9-EB989FC056B5}"/>
                  </a:ext>
                </a:extLst>
              </p:cNvPr>
              <p:cNvSpPr/>
              <p:nvPr/>
            </p:nvSpPr>
            <p:spPr bwMode="gray">
              <a:xfrm>
                <a:off x="2376148" y="427314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="" xmlns:a16="http://schemas.microsoft.com/office/drawing/2014/main" id="{EC0EB15B-6C13-41F4-B5CD-D99B1F2F14E2}"/>
                  </a:ext>
                </a:extLst>
              </p:cNvPr>
              <p:cNvSpPr/>
              <p:nvPr/>
            </p:nvSpPr>
            <p:spPr bwMode="gray">
              <a:xfrm>
                <a:off x="2973664" y="395540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56" name="直接连接符 55">
            <a:extLst>
              <a:ext uri="{FF2B5EF4-FFF2-40B4-BE49-F238E27FC236}">
                <a16:creationId xmlns="" xmlns:a16="http://schemas.microsoft.com/office/drawing/2014/main" id="{8E93EA23-CDD7-435D-965C-B55351CD419A}"/>
              </a:ext>
            </a:extLst>
          </p:cNvPr>
          <p:cNvCxnSpPr>
            <a:cxnSpLocks/>
            <a:stCxn id="36" idx="1"/>
            <a:endCxn id="57" idx="3"/>
          </p:cNvCxnSpPr>
          <p:nvPr/>
        </p:nvCxnSpPr>
        <p:spPr bwMode="gray">
          <a:xfrm flipH="1">
            <a:off x="3423505" y="2735246"/>
            <a:ext cx="715660" cy="114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2901F7B7-9545-4EB7-85F4-5521E1DF51C0}"/>
              </a:ext>
            </a:extLst>
          </p:cNvPr>
          <p:cNvSpPr txBox="1"/>
          <p:nvPr/>
        </p:nvSpPr>
        <p:spPr bwMode="gray">
          <a:xfrm>
            <a:off x="1219055" y="2100406"/>
            <a:ext cx="2204450" cy="1292662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接入层（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CE-PE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多地多数据中心接入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各地分支机构接入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各地外联业务接入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="" xmlns:a16="http://schemas.microsoft.com/office/drawing/2014/main" id="{57FF68D2-FEEC-44F8-AEF9-456263998838}"/>
              </a:ext>
            </a:extLst>
          </p:cNvPr>
          <p:cNvCxnSpPr>
            <a:cxnSpLocks/>
            <a:stCxn id="62" idx="1"/>
            <a:endCxn id="6" idx="7"/>
          </p:cNvCxnSpPr>
          <p:nvPr/>
        </p:nvCxnSpPr>
        <p:spPr bwMode="gray">
          <a:xfrm flipH="1">
            <a:off x="6200503" y="2844839"/>
            <a:ext cx="1294503" cy="406350"/>
          </a:xfrm>
          <a:prstGeom prst="line">
            <a:avLst/>
          </a:prstGeom>
          <a:ln w="12700">
            <a:solidFill>
              <a:srgbClr val="A0BF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="" xmlns:a16="http://schemas.microsoft.com/office/drawing/2014/main" id="{9728DF15-5247-49FD-BDFA-0F0045B9A71E}"/>
              </a:ext>
            </a:extLst>
          </p:cNvPr>
          <p:cNvSpPr txBox="1"/>
          <p:nvPr/>
        </p:nvSpPr>
        <p:spPr bwMode="gray">
          <a:xfrm>
            <a:off x="7495006" y="2348549"/>
            <a:ext cx="3171215" cy="992579"/>
          </a:xfrm>
          <a:prstGeom prst="rect">
            <a:avLst/>
          </a:prstGeom>
          <a:noFill/>
          <a:ln w="12700">
            <a:solidFill>
              <a:srgbClr val="A0BFE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汇聚层（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PE-P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基于物理地域，将不同业务分类汇聚接入广域承载网。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="" xmlns:a16="http://schemas.microsoft.com/office/drawing/2014/main" id="{8F6E3F16-028F-4088-BDB3-821EF896078F}"/>
              </a:ext>
            </a:extLst>
          </p:cNvPr>
          <p:cNvSpPr txBox="1"/>
          <p:nvPr/>
        </p:nvSpPr>
        <p:spPr bwMode="gray">
          <a:xfrm>
            <a:off x="7542434" y="4137341"/>
            <a:ext cx="3345623" cy="1292662"/>
          </a:xfrm>
          <a:prstGeom prst="rect">
            <a:avLst/>
          </a:prstGeom>
          <a:noFill/>
          <a:ln w="12700">
            <a:solidFill>
              <a:srgbClr val="BFADD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核心层（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一般采用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Full-mesh+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双平面架构。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稳定、可靠地提供地域间流量的高速转发。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="" xmlns:a16="http://schemas.microsoft.com/office/drawing/2014/main" id="{715F6D4F-78A8-4001-A985-0CA45D3D6D78}"/>
              </a:ext>
            </a:extLst>
          </p:cNvPr>
          <p:cNvCxnSpPr>
            <a:cxnSpLocks/>
            <a:stCxn id="72" idx="1"/>
            <a:endCxn id="54" idx="5"/>
          </p:cNvCxnSpPr>
          <p:nvPr/>
        </p:nvCxnSpPr>
        <p:spPr bwMode="gray">
          <a:xfrm flipH="1" flipV="1">
            <a:off x="6144147" y="4481141"/>
            <a:ext cx="1398287" cy="302531"/>
          </a:xfrm>
          <a:prstGeom prst="line">
            <a:avLst/>
          </a:prstGeom>
          <a:ln w="12700">
            <a:solidFill>
              <a:srgbClr val="BFAD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47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 125">
            <a:extLst>
              <a:ext uri="{FF2B5EF4-FFF2-40B4-BE49-F238E27FC236}">
                <a16:creationId xmlns="" xmlns:a16="http://schemas.microsoft.com/office/drawing/2014/main" id="{36756FC9-D7BF-4986-B113-6D0A1B43C90C}"/>
              </a:ext>
            </a:extLst>
          </p:cNvPr>
          <p:cNvSpPr/>
          <p:nvPr/>
        </p:nvSpPr>
        <p:spPr bwMode="gray">
          <a:xfrm>
            <a:off x="3658381" y="3684480"/>
            <a:ext cx="4182469" cy="2235191"/>
          </a:xfrm>
          <a:prstGeom prst="rect">
            <a:avLst/>
          </a:prstGeom>
          <a:solidFill>
            <a:srgbClr val="BEE9EE"/>
          </a:solidFill>
          <a:ln w="19050">
            <a:solidFill>
              <a:srgbClr val="94DA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4D5FC48-974F-46FF-BE39-E3E3CAB27EE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广域承载网典型架构技术应用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="" xmlns:a16="http://schemas.microsoft.com/office/drawing/2014/main" id="{46A43B8C-D7FF-4FD9-80F1-3FC16DBAA3F3}"/>
              </a:ext>
            </a:extLst>
          </p:cNvPr>
          <p:cNvCxnSpPr>
            <a:cxnSpLocks/>
            <a:stCxn id="105" idx="1"/>
            <a:endCxn id="56" idx="3"/>
          </p:cNvCxnSpPr>
          <p:nvPr/>
        </p:nvCxnSpPr>
        <p:spPr bwMode="gray">
          <a:xfrm flipH="1" flipV="1">
            <a:off x="3469787" y="3341686"/>
            <a:ext cx="129588" cy="1413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D2B58AEE-26A5-41F7-B180-11EB319A25DE}"/>
              </a:ext>
            </a:extLst>
          </p:cNvPr>
          <p:cNvSpPr txBox="1"/>
          <p:nvPr/>
        </p:nvSpPr>
        <p:spPr bwMode="gray">
          <a:xfrm>
            <a:off x="531311" y="2845396"/>
            <a:ext cx="2938476" cy="99257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隔离业务：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L2VPN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：二层互访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：三层互访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="" xmlns:a16="http://schemas.microsoft.com/office/drawing/2014/main" id="{6DC81B98-D0D8-4A4C-BDD3-26EBD421CE72}"/>
              </a:ext>
            </a:extLst>
          </p:cNvPr>
          <p:cNvSpPr txBox="1"/>
          <p:nvPr/>
        </p:nvSpPr>
        <p:spPr bwMode="gray">
          <a:xfrm>
            <a:off x="8029444" y="2790686"/>
            <a:ext cx="2540361" cy="692497"/>
          </a:xfrm>
          <a:prstGeom prst="rect">
            <a:avLst/>
          </a:prstGeom>
          <a:noFill/>
          <a:ln w="19050">
            <a:solidFill>
              <a:srgbClr val="BFADD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数据转发：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转发。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="" xmlns:a16="http://schemas.microsoft.com/office/drawing/2014/main" id="{03FCE2E0-8F71-4A1A-9985-6A10D5102471}"/>
              </a:ext>
            </a:extLst>
          </p:cNvPr>
          <p:cNvCxnSpPr>
            <a:cxnSpLocks/>
            <a:stCxn id="59" idx="1"/>
            <a:endCxn id="126" idx="0"/>
          </p:cNvCxnSpPr>
          <p:nvPr/>
        </p:nvCxnSpPr>
        <p:spPr bwMode="gray">
          <a:xfrm flipH="1">
            <a:off x="5749616" y="3136935"/>
            <a:ext cx="2279828" cy="547545"/>
          </a:xfrm>
          <a:prstGeom prst="line">
            <a:avLst/>
          </a:prstGeom>
          <a:ln w="19050">
            <a:solidFill>
              <a:srgbClr val="BFAD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="" xmlns:a16="http://schemas.microsoft.com/office/drawing/2014/main" id="{67C5060C-466F-4B0B-B416-006C5E4CA05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64574" y="4097652"/>
            <a:ext cx="414450" cy="339849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="" xmlns:a16="http://schemas.microsoft.com/office/drawing/2014/main" id="{CA8A7CF1-6BCD-497C-BAC9-0167DA38F26D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59874" y="4097652"/>
            <a:ext cx="414450" cy="339849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="" xmlns:a16="http://schemas.microsoft.com/office/drawing/2014/main" id="{DC9A6AF9-EDF4-447A-ADD4-93C978A986F0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59874" y="5015020"/>
            <a:ext cx="414450" cy="339849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="" xmlns:a16="http://schemas.microsoft.com/office/drawing/2014/main" id="{FF848F46-25C7-4E52-9C35-D78A44CA2BE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64574" y="5015020"/>
            <a:ext cx="414450" cy="339849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="" xmlns:a16="http://schemas.microsoft.com/office/drawing/2014/main" id="{C840984B-4E48-49A9-BFFC-E2C8009ECA7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97241" y="5015020"/>
            <a:ext cx="414450" cy="339849"/>
          </a:xfrm>
          <a:prstGeom prst="rect">
            <a:avLst/>
          </a:prstGeom>
        </p:spPr>
      </p:pic>
      <p:cxnSp>
        <p:nvCxnSpPr>
          <p:cNvPr id="73" name="直接连接符 72">
            <a:extLst>
              <a:ext uri="{FF2B5EF4-FFF2-40B4-BE49-F238E27FC236}">
                <a16:creationId xmlns="" xmlns:a16="http://schemas.microsoft.com/office/drawing/2014/main" id="{E28B8DCD-B2E2-4B8D-B4F9-F32ECC3FB2D2}"/>
              </a:ext>
            </a:extLst>
          </p:cNvPr>
          <p:cNvCxnSpPr>
            <a:cxnSpLocks/>
            <a:stCxn id="69" idx="3"/>
            <a:endCxn id="105" idx="1"/>
          </p:cNvCxnSpPr>
          <p:nvPr/>
        </p:nvCxnSpPr>
        <p:spPr bwMode="gray">
          <a:xfrm>
            <a:off x="3074324" y="4267577"/>
            <a:ext cx="525051" cy="487453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="" xmlns:a16="http://schemas.microsoft.com/office/drawing/2014/main" id="{AC062F1A-362D-45F6-997B-2F197418CE8C}"/>
              </a:ext>
            </a:extLst>
          </p:cNvPr>
          <p:cNvCxnSpPr>
            <a:cxnSpLocks/>
            <a:stCxn id="70" idx="3"/>
            <a:endCxn id="105" idx="1"/>
          </p:cNvCxnSpPr>
          <p:nvPr/>
        </p:nvCxnSpPr>
        <p:spPr bwMode="gray">
          <a:xfrm flipV="1">
            <a:off x="3074324" y="4755029"/>
            <a:ext cx="525051" cy="429915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="" xmlns:a16="http://schemas.microsoft.com/office/drawing/2014/main" id="{225B90B7-1C2B-4DE8-99E5-EE9F6C6E694E}"/>
              </a:ext>
            </a:extLst>
          </p:cNvPr>
          <p:cNvSpPr txBox="1"/>
          <p:nvPr/>
        </p:nvSpPr>
        <p:spPr bwMode="gray">
          <a:xfrm>
            <a:off x="2679498" y="4427145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="" xmlns:a16="http://schemas.microsoft.com/office/drawing/2014/main" id="{BDE1849E-6160-4DBE-93FE-16DF257FAB8A}"/>
              </a:ext>
            </a:extLst>
          </p:cNvPr>
          <p:cNvSpPr txBox="1"/>
          <p:nvPr/>
        </p:nvSpPr>
        <p:spPr bwMode="gray">
          <a:xfrm>
            <a:off x="2679498" y="5335831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="" xmlns:a16="http://schemas.microsoft.com/office/drawing/2014/main" id="{CD7FB0D2-FACB-49A3-A701-3DE8D618868A}"/>
              </a:ext>
            </a:extLst>
          </p:cNvPr>
          <p:cNvSpPr txBox="1"/>
          <p:nvPr/>
        </p:nvSpPr>
        <p:spPr bwMode="gray">
          <a:xfrm>
            <a:off x="5039213" y="3806551"/>
            <a:ext cx="242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="" xmlns:a16="http://schemas.microsoft.com/office/drawing/2014/main" id="{AA895BF5-2278-48EB-811C-F2EAB760A799}"/>
              </a:ext>
            </a:extLst>
          </p:cNvPr>
          <p:cNvSpPr txBox="1"/>
          <p:nvPr/>
        </p:nvSpPr>
        <p:spPr bwMode="gray">
          <a:xfrm>
            <a:off x="3619100" y="497100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="" xmlns:a16="http://schemas.microsoft.com/office/drawing/2014/main" id="{827DF39C-6D00-480E-ABE6-39A75AA78EC3}"/>
              </a:ext>
            </a:extLst>
          </p:cNvPr>
          <p:cNvSpPr txBox="1"/>
          <p:nvPr/>
        </p:nvSpPr>
        <p:spPr bwMode="gray">
          <a:xfrm>
            <a:off x="7502382" y="379760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="" xmlns:a16="http://schemas.microsoft.com/office/drawing/2014/main" id="{BB1440C2-8223-42C2-BD2C-5B907B98F5CC}"/>
              </a:ext>
            </a:extLst>
          </p:cNvPr>
          <p:cNvSpPr txBox="1"/>
          <p:nvPr/>
        </p:nvSpPr>
        <p:spPr bwMode="gray">
          <a:xfrm>
            <a:off x="7498230" y="5335831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="" xmlns:a16="http://schemas.microsoft.com/office/drawing/2014/main" id="{F7E8867C-7276-47A4-BCE5-E3345202B763}"/>
              </a:ext>
            </a:extLst>
          </p:cNvPr>
          <p:cNvGrpSpPr/>
          <p:nvPr/>
        </p:nvGrpSpPr>
        <p:grpSpPr bwMode="gray">
          <a:xfrm>
            <a:off x="1738345" y="3978024"/>
            <a:ext cx="944166" cy="493543"/>
            <a:chOff x="1107024" y="2866458"/>
            <a:chExt cx="1230185" cy="643053"/>
          </a:xfrm>
        </p:grpSpPr>
        <p:sp>
          <p:nvSpPr>
            <p:cNvPr id="82" name="Freeform 159">
              <a:extLst>
                <a:ext uri="{FF2B5EF4-FFF2-40B4-BE49-F238E27FC236}">
                  <a16:creationId xmlns="" xmlns:a16="http://schemas.microsoft.com/office/drawing/2014/main" id="{050B99EC-47B6-4E03-9412-415B16505575}"/>
                </a:ext>
              </a:extLst>
            </p:cNvPr>
            <p:cNvSpPr/>
            <p:nvPr/>
          </p:nvSpPr>
          <p:spPr bwMode="gray">
            <a:xfrm flipH="1">
              <a:off x="1107024" y="2866458"/>
              <a:ext cx="1230185" cy="64305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="" xmlns:a16="http://schemas.microsoft.com/office/drawing/2014/main" id="{6CD7E983-B624-4F6F-B491-DF72F5AA3A5C}"/>
                </a:ext>
              </a:extLst>
            </p:cNvPr>
            <p:cNvSpPr txBox="1"/>
            <p:nvPr/>
          </p:nvSpPr>
          <p:spPr bwMode="gray">
            <a:xfrm>
              <a:off x="1361818" y="3074153"/>
              <a:ext cx="840037" cy="401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业务</a:t>
              </a: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="" xmlns:a16="http://schemas.microsoft.com/office/drawing/2014/main" id="{BFD53536-C416-4863-8A64-3565B8F6A646}"/>
              </a:ext>
            </a:extLst>
          </p:cNvPr>
          <p:cNvSpPr txBox="1"/>
          <p:nvPr/>
        </p:nvSpPr>
        <p:spPr bwMode="gray">
          <a:xfrm>
            <a:off x="5054412" y="5339484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="" xmlns:a16="http://schemas.microsoft.com/office/drawing/2014/main" id="{E1446E74-4182-4744-9415-E2A70D71D573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89541" y="4097652"/>
            <a:ext cx="414450" cy="339849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="" xmlns:a16="http://schemas.microsoft.com/office/drawing/2014/main" id="{A206CDEA-4FFF-4561-BD5A-81F6EFA176F9}"/>
              </a:ext>
            </a:extLst>
          </p:cNvPr>
          <p:cNvPicPr>
            <a:picLocks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89541" y="5015020"/>
            <a:ext cx="414450" cy="339849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="" xmlns:a16="http://schemas.microsoft.com/office/drawing/2014/main" id="{35F58D5E-5B61-40A0-83FC-F85BC1ECE359}"/>
              </a:ext>
            </a:extLst>
          </p:cNvPr>
          <p:cNvSpPr txBox="1"/>
          <p:nvPr/>
        </p:nvSpPr>
        <p:spPr bwMode="gray">
          <a:xfrm>
            <a:off x="8709166" y="4435079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="" xmlns:a16="http://schemas.microsoft.com/office/drawing/2014/main" id="{6D2620D5-1858-48D3-A941-7E52AF875F15}"/>
              </a:ext>
            </a:extLst>
          </p:cNvPr>
          <p:cNvSpPr txBox="1"/>
          <p:nvPr/>
        </p:nvSpPr>
        <p:spPr bwMode="gray">
          <a:xfrm>
            <a:off x="8709166" y="5343765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>
            <a:extLst>
              <a:ext uri="{FF2B5EF4-FFF2-40B4-BE49-F238E27FC236}">
                <a16:creationId xmlns="" xmlns:a16="http://schemas.microsoft.com/office/drawing/2014/main" id="{266F7930-F490-454D-B72A-AF7FC133F13E}"/>
              </a:ext>
            </a:extLst>
          </p:cNvPr>
          <p:cNvCxnSpPr>
            <a:cxnSpLocks/>
            <a:stCxn id="109" idx="3"/>
            <a:endCxn id="85" idx="1"/>
          </p:cNvCxnSpPr>
          <p:nvPr/>
        </p:nvCxnSpPr>
        <p:spPr bwMode="gray">
          <a:xfrm>
            <a:off x="7911691" y="4267577"/>
            <a:ext cx="777850" cy="0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="" xmlns:a16="http://schemas.microsoft.com/office/drawing/2014/main" id="{5C247970-ECF4-43AD-A213-9C1BE9083C83}"/>
              </a:ext>
            </a:extLst>
          </p:cNvPr>
          <p:cNvCxnSpPr>
            <a:cxnSpLocks/>
            <a:stCxn id="72" idx="3"/>
            <a:endCxn id="86" idx="1"/>
          </p:cNvCxnSpPr>
          <p:nvPr/>
        </p:nvCxnSpPr>
        <p:spPr bwMode="gray">
          <a:xfrm>
            <a:off x="7911691" y="5184945"/>
            <a:ext cx="777850" cy="0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="" xmlns:a16="http://schemas.microsoft.com/office/drawing/2014/main" id="{87FE4922-C401-4259-93F3-88202EFA1F5D}"/>
              </a:ext>
            </a:extLst>
          </p:cNvPr>
          <p:cNvCxnSpPr>
            <a:cxnSpLocks/>
            <a:stCxn id="68" idx="3"/>
            <a:endCxn id="109" idx="1"/>
          </p:cNvCxnSpPr>
          <p:nvPr/>
        </p:nvCxnSpPr>
        <p:spPr bwMode="gray">
          <a:xfrm>
            <a:off x="5379024" y="4267577"/>
            <a:ext cx="2118217" cy="0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="" xmlns:a16="http://schemas.microsoft.com/office/drawing/2014/main" id="{5F407946-26F7-4549-85EB-40C9FB1C9B79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 bwMode="gray">
          <a:xfrm>
            <a:off x="5379024" y="5184945"/>
            <a:ext cx="2118217" cy="0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="" xmlns:a16="http://schemas.microsoft.com/office/drawing/2014/main" id="{D9CE5E3D-BC86-4F81-9ECA-0B303B88F6F8}"/>
              </a:ext>
            </a:extLst>
          </p:cNvPr>
          <p:cNvCxnSpPr>
            <a:cxnSpLocks/>
            <a:stCxn id="68" idx="1"/>
            <a:endCxn id="105" idx="3"/>
          </p:cNvCxnSpPr>
          <p:nvPr/>
        </p:nvCxnSpPr>
        <p:spPr bwMode="gray">
          <a:xfrm flipH="1">
            <a:off x="4013825" y="4267577"/>
            <a:ext cx="950749" cy="487453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="" xmlns:a16="http://schemas.microsoft.com/office/drawing/2014/main" id="{690C1D0B-94FD-4E37-9456-85F659948949}"/>
              </a:ext>
            </a:extLst>
          </p:cNvPr>
          <p:cNvCxnSpPr>
            <a:cxnSpLocks/>
            <a:stCxn id="72" idx="0"/>
            <a:endCxn id="109" idx="2"/>
          </p:cNvCxnSpPr>
          <p:nvPr/>
        </p:nvCxnSpPr>
        <p:spPr bwMode="gray">
          <a:xfrm flipV="1">
            <a:off x="7704466" y="4437501"/>
            <a:ext cx="0" cy="577519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="" xmlns:a16="http://schemas.microsoft.com/office/drawing/2014/main" id="{17439101-4377-4216-AC09-7C9FE15A352F}"/>
              </a:ext>
            </a:extLst>
          </p:cNvPr>
          <p:cNvSpPr txBox="1"/>
          <p:nvPr/>
        </p:nvSpPr>
        <p:spPr bwMode="gray">
          <a:xfrm>
            <a:off x="5385674" y="556737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广域承载网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="" xmlns:a16="http://schemas.microsoft.com/office/drawing/2014/main" id="{5428C488-76FA-4949-BEEC-FF306E36C337}"/>
              </a:ext>
            </a:extLst>
          </p:cNvPr>
          <p:cNvGrpSpPr/>
          <p:nvPr/>
        </p:nvGrpSpPr>
        <p:grpSpPr bwMode="gray">
          <a:xfrm>
            <a:off x="1738345" y="4865963"/>
            <a:ext cx="944166" cy="493543"/>
            <a:chOff x="1107024" y="2866458"/>
            <a:chExt cx="1230185" cy="643053"/>
          </a:xfrm>
        </p:grpSpPr>
        <p:sp>
          <p:nvSpPr>
            <p:cNvPr id="97" name="Freeform 159">
              <a:extLst>
                <a:ext uri="{FF2B5EF4-FFF2-40B4-BE49-F238E27FC236}">
                  <a16:creationId xmlns="" xmlns:a16="http://schemas.microsoft.com/office/drawing/2014/main" id="{8DD41F02-B317-4830-AD7C-4FA974BAEC46}"/>
                </a:ext>
              </a:extLst>
            </p:cNvPr>
            <p:cNvSpPr/>
            <p:nvPr/>
          </p:nvSpPr>
          <p:spPr bwMode="gray">
            <a:xfrm flipH="1">
              <a:off x="1107024" y="2866458"/>
              <a:ext cx="1230185" cy="64305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="" xmlns:a16="http://schemas.microsoft.com/office/drawing/2014/main" id="{78C727E6-A1A8-49C7-AABC-DF35281E50DE}"/>
                </a:ext>
              </a:extLst>
            </p:cNvPr>
            <p:cNvSpPr txBox="1"/>
            <p:nvPr/>
          </p:nvSpPr>
          <p:spPr bwMode="gray">
            <a:xfrm>
              <a:off x="1331109" y="3090446"/>
              <a:ext cx="840037" cy="401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业务</a:t>
              </a: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="" xmlns:a16="http://schemas.microsoft.com/office/drawing/2014/main" id="{0EBB92EF-4EE3-48B7-84EE-6DF20E2BA562}"/>
              </a:ext>
            </a:extLst>
          </p:cNvPr>
          <p:cNvGrpSpPr/>
          <p:nvPr/>
        </p:nvGrpSpPr>
        <p:grpSpPr bwMode="gray">
          <a:xfrm>
            <a:off x="9055226" y="4865963"/>
            <a:ext cx="944166" cy="493543"/>
            <a:chOff x="1107024" y="2866458"/>
            <a:chExt cx="1230185" cy="643053"/>
          </a:xfrm>
        </p:grpSpPr>
        <p:sp>
          <p:nvSpPr>
            <p:cNvPr id="100" name="Freeform 159">
              <a:extLst>
                <a:ext uri="{FF2B5EF4-FFF2-40B4-BE49-F238E27FC236}">
                  <a16:creationId xmlns="" xmlns:a16="http://schemas.microsoft.com/office/drawing/2014/main" id="{CCDEE4C8-F211-41A3-9D7F-B7949D135E93}"/>
                </a:ext>
              </a:extLst>
            </p:cNvPr>
            <p:cNvSpPr/>
            <p:nvPr/>
          </p:nvSpPr>
          <p:spPr bwMode="gray">
            <a:xfrm flipH="1">
              <a:off x="1107024" y="2866458"/>
              <a:ext cx="1230185" cy="64305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="" xmlns:a16="http://schemas.microsoft.com/office/drawing/2014/main" id="{1650FA4B-42AA-40AF-A3E9-FC881083D128}"/>
                </a:ext>
              </a:extLst>
            </p:cNvPr>
            <p:cNvSpPr txBox="1"/>
            <p:nvPr/>
          </p:nvSpPr>
          <p:spPr bwMode="gray">
            <a:xfrm>
              <a:off x="1346584" y="3090446"/>
              <a:ext cx="840037" cy="401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业务</a:t>
              </a: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="" xmlns:a16="http://schemas.microsoft.com/office/drawing/2014/main" id="{5E572D3F-FD09-4DF5-B954-BFDFEB127600}"/>
              </a:ext>
            </a:extLst>
          </p:cNvPr>
          <p:cNvGrpSpPr/>
          <p:nvPr/>
        </p:nvGrpSpPr>
        <p:grpSpPr bwMode="gray">
          <a:xfrm>
            <a:off x="9055226" y="3956976"/>
            <a:ext cx="944166" cy="493543"/>
            <a:chOff x="1107024" y="2866458"/>
            <a:chExt cx="1230185" cy="643053"/>
          </a:xfrm>
        </p:grpSpPr>
        <p:sp>
          <p:nvSpPr>
            <p:cNvPr id="103" name="Freeform 159">
              <a:extLst>
                <a:ext uri="{FF2B5EF4-FFF2-40B4-BE49-F238E27FC236}">
                  <a16:creationId xmlns="" xmlns:a16="http://schemas.microsoft.com/office/drawing/2014/main" id="{C153F74C-55E7-4F2C-A617-840BB49D72B3}"/>
                </a:ext>
              </a:extLst>
            </p:cNvPr>
            <p:cNvSpPr/>
            <p:nvPr/>
          </p:nvSpPr>
          <p:spPr bwMode="gray">
            <a:xfrm flipH="1">
              <a:off x="1107024" y="2866458"/>
              <a:ext cx="1230185" cy="64305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="" xmlns:a16="http://schemas.microsoft.com/office/drawing/2014/main" id="{0E697740-A800-462B-BE05-ADBABED7BA83}"/>
                </a:ext>
              </a:extLst>
            </p:cNvPr>
            <p:cNvSpPr txBox="1"/>
            <p:nvPr/>
          </p:nvSpPr>
          <p:spPr bwMode="gray">
            <a:xfrm>
              <a:off x="1300164" y="3090446"/>
              <a:ext cx="840037" cy="401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业务</a:t>
              </a: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105" name="图片 104">
            <a:extLst>
              <a:ext uri="{FF2B5EF4-FFF2-40B4-BE49-F238E27FC236}">
                <a16:creationId xmlns="" xmlns:a16="http://schemas.microsoft.com/office/drawing/2014/main" id="{1A2B8093-453C-4A6D-98E7-B4A0893E0BA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99375" y="4585105"/>
            <a:ext cx="414450" cy="339849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="" xmlns:a16="http://schemas.microsoft.com/office/drawing/2014/main" id="{CAA77394-966D-45A3-9E3C-C1FAE7B5C5A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86247" y="4097652"/>
            <a:ext cx="414450" cy="339849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="" xmlns:a16="http://schemas.microsoft.com/office/drawing/2014/main" id="{B3302F32-0397-4A2C-BB97-98877D37D27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86247" y="5015020"/>
            <a:ext cx="414450" cy="339849"/>
          </a:xfrm>
          <a:prstGeom prst="rect">
            <a:avLst/>
          </a:prstGeom>
        </p:spPr>
      </p:pic>
      <p:cxnSp>
        <p:nvCxnSpPr>
          <p:cNvPr id="108" name="直接连接符 107">
            <a:extLst>
              <a:ext uri="{FF2B5EF4-FFF2-40B4-BE49-F238E27FC236}">
                <a16:creationId xmlns="" xmlns:a16="http://schemas.microsoft.com/office/drawing/2014/main" id="{D6F4A2C3-9D29-40AA-A665-334B2326CB57}"/>
              </a:ext>
            </a:extLst>
          </p:cNvPr>
          <p:cNvCxnSpPr>
            <a:cxnSpLocks/>
            <a:stCxn id="71" idx="1"/>
            <a:endCxn id="105" idx="3"/>
          </p:cNvCxnSpPr>
          <p:nvPr/>
        </p:nvCxnSpPr>
        <p:spPr bwMode="gray">
          <a:xfrm flipH="1" flipV="1">
            <a:off x="4013825" y="4755030"/>
            <a:ext cx="950749" cy="429915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图片 108">
            <a:extLst>
              <a:ext uri="{FF2B5EF4-FFF2-40B4-BE49-F238E27FC236}">
                <a16:creationId xmlns="" xmlns:a16="http://schemas.microsoft.com/office/drawing/2014/main" id="{1A6488DC-4CD0-41F8-A8D9-20F577277A0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97241" y="4097652"/>
            <a:ext cx="414450" cy="339849"/>
          </a:xfrm>
          <a:prstGeom prst="rect">
            <a:avLst/>
          </a:prstGeom>
        </p:spPr>
      </p:pic>
      <p:sp>
        <p:nvSpPr>
          <p:cNvPr id="110" name="文本框 109">
            <a:extLst>
              <a:ext uri="{FF2B5EF4-FFF2-40B4-BE49-F238E27FC236}">
                <a16:creationId xmlns="" xmlns:a16="http://schemas.microsoft.com/office/drawing/2014/main" id="{D102D409-90FC-48CF-ADDC-B92033BBEF2E}"/>
              </a:ext>
            </a:extLst>
          </p:cNvPr>
          <p:cNvSpPr txBox="1"/>
          <p:nvPr/>
        </p:nvSpPr>
        <p:spPr bwMode="gray">
          <a:xfrm>
            <a:off x="6246420" y="3806551"/>
            <a:ext cx="242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="" xmlns:a16="http://schemas.microsoft.com/office/drawing/2014/main" id="{13DAF930-F341-4A01-AE86-B695C73CAF3B}"/>
              </a:ext>
            </a:extLst>
          </p:cNvPr>
          <p:cNvSpPr txBox="1"/>
          <p:nvPr/>
        </p:nvSpPr>
        <p:spPr bwMode="gray">
          <a:xfrm>
            <a:off x="6261619" y="5339484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3" name="直接连接符 112">
            <a:extLst>
              <a:ext uri="{FF2B5EF4-FFF2-40B4-BE49-F238E27FC236}">
                <a16:creationId xmlns="" xmlns:a16="http://schemas.microsoft.com/office/drawing/2014/main" id="{83983673-41F5-4A66-B57C-40BCFF340FA1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 bwMode="gray">
          <a:xfrm>
            <a:off x="5171799" y="4437501"/>
            <a:ext cx="0" cy="577519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="" xmlns:a16="http://schemas.microsoft.com/office/drawing/2014/main" id="{812D6BA0-2D46-441A-AA33-21930447C498}"/>
              </a:ext>
            </a:extLst>
          </p:cNvPr>
          <p:cNvCxnSpPr>
            <a:cxnSpLocks/>
            <a:stCxn id="106" idx="2"/>
            <a:endCxn id="107" idx="0"/>
          </p:cNvCxnSpPr>
          <p:nvPr/>
        </p:nvCxnSpPr>
        <p:spPr bwMode="gray">
          <a:xfrm>
            <a:off x="6393472" y="4437501"/>
            <a:ext cx="0" cy="577519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="" xmlns:a16="http://schemas.microsoft.com/office/drawing/2014/main" id="{48A30A50-574B-46AC-81B4-BB49AFF6D49F}"/>
              </a:ext>
            </a:extLst>
          </p:cNvPr>
          <p:cNvCxnSpPr>
            <a:cxnSpLocks/>
            <a:stCxn id="132" idx="2"/>
            <a:endCxn id="105" idx="0"/>
          </p:cNvCxnSpPr>
          <p:nvPr/>
        </p:nvCxnSpPr>
        <p:spPr bwMode="gray">
          <a:xfrm flipH="1">
            <a:off x="3806600" y="2728553"/>
            <a:ext cx="1919165" cy="1856552"/>
          </a:xfrm>
          <a:prstGeom prst="line">
            <a:avLst/>
          </a:prstGeom>
          <a:ln w="19050">
            <a:solidFill>
              <a:srgbClr val="A0BF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="" xmlns:a16="http://schemas.microsoft.com/office/drawing/2014/main" id="{E8216DEF-C7DB-4E2E-9625-CFD884EA706A}"/>
              </a:ext>
            </a:extLst>
          </p:cNvPr>
          <p:cNvSpPr txBox="1"/>
          <p:nvPr/>
        </p:nvSpPr>
        <p:spPr bwMode="gray">
          <a:xfrm>
            <a:off x="3539404" y="1135809"/>
            <a:ext cx="4372722" cy="1592744"/>
          </a:xfrm>
          <a:prstGeom prst="rect">
            <a:avLst/>
          </a:prstGeom>
          <a:noFill/>
          <a:ln w="19050">
            <a:solidFill>
              <a:srgbClr val="A0BFE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之间构建业务隧道，用于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业务迭代。例如：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BE/TE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 BE/TE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54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b="1" dirty="0">
                <a:sym typeface="Huawei Sans" panose="020C0503030203020204" pitchFamily="34" charset="0"/>
              </a:rPr>
              <a:t>广域承载网络基础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en-US" altLang="zh-CN" b="1" dirty="0">
              <a:sym typeface="Huawei Sans" panose="020C0503030203020204" pitchFamily="34" charset="0"/>
            </a:endParaRPr>
          </a:p>
          <a:p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28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MPLS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422B2F38-F872-4A66-8E62-1A5807DF0A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>
                <a:sym typeface="Huawei Sans" panose="020C0503030203020204" pitchFamily="34" charset="0"/>
              </a:rPr>
              <a:t>MPLS</a:t>
            </a:r>
            <a:r>
              <a:rPr lang="zh-CN" altLang="en-US" sz="1600">
                <a:sym typeface="Huawei Sans" panose="020C0503030203020204" pitchFamily="34" charset="0"/>
              </a:rPr>
              <a:t>位于</a:t>
            </a:r>
            <a:r>
              <a:rPr lang="en-US" altLang="zh-CN" sz="1600">
                <a:sym typeface="Huawei Sans" panose="020C0503030203020204" pitchFamily="34" charset="0"/>
              </a:rPr>
              <a:t>TCP/IP</a:t>
            </a:r>
            <a:r>
              <a:rPr lang="zh-CN" altLang="en-US" sz="1600">
                <a:sym typeface="Huawei Sans" panose="020C0503030203020204" pitchFamily="34" charset="0"/>
              </a:rPr>
              <a:t>协议栈中的数据链路层和网络层之间，可以向所有网络层提供服务。</a:t>
            </a:r>
          </a:p>
          <a:p>
            <a:r>
              <a:rPr lang="zh-CN" altLang="en-US" sz="1600">
                <a:sym typeface="Huawei Sans" panose="020C0503030203020204" pitchFamily="34" charset="0"/>
              </a:rPr>
              <a:t>通过在数据链路层和网络层之间增加额外的</a:t>
            </a:r>
            <a:r>
              <a:rPr lang="en-US" altLang="zh-CN" sz="1600">
                <a:sym typeface="Huawei Sans" panose="020C0503030203020204" pitchFamily="34" charset="0"/>
              </a:rPr>
              <a:t>MPLS</a:t>
            </a:r>
            <a:r>
              <a:rPr lang="zh-CN" altLang="en-US" sz="1600">
                <a:sym typeface="Huawei Sans" panose="020C0503030203020204" pitchFamily="34" charset="0"/>
              </a:rPr>
              <a:t>头部，基于</a:t>
            </a:r>
            <a:r>
              <a:rPr lang="en-US" altLang="zh-CN" sz="1600">
                <a:sym typeface="Huawei Sans" panose="020C0503030203020204" pitchFamily="34" charset="0"/>
              </a:rPr>
              <a:t>MPLS</a:t>
            </a:r>
            <a:r>
              <a:rPr lang="zh-CN" altLang="en-US" sz="1600">
                <a:sym typeface="Huawei Sans" panose="020C0503030203020204" pitchFamily="34" charset="0"/>
              </a:rPr>
              <a:t>头部实现数据快速转发。</a:t>
            </a:r>
          </a:p>
          <a:p>
            <a:endParaRPr lang="zh-CN" altLang="en-US" sz="1600">
              <a:sym typeface="Huawei Sans" panose="020C0503030203020204" pitchFamily="34" charset="0"/>
            </a:endParaRPr>
          </a:p>
        </p:txBody>
      </p:sp>
      <p:sp>
        <p:nvSpPr>
          <p:cNvPr id="71" name="Rounded Rectangle 36">
            <a:extLst>
              <a:ext uri="{FF2B5EF4-FFF2-40B4-BE49-F238E27FC236}">
                <a16:creationId xmlns="" xmlns:a16="http://schemas.microsoft.com/office/drawing/2014/main" id="{9B307B89-1D5F-434B-B9CA-A70F20EB761D}"/>
              </a:ext>
            </a:extLst>
          </p:cNvPr>
          <p:cNvSpPr/>
          <p:nvPr/>
        </p:nvSpPr>
        <p:spPr bwMode="gray">
          <a:xfrm>
            <a:off x="3204372" y="2835606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F4FBFE"/>
          </a:solidFill>
          <a:ln w="1905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2" name="直接连接符 4">
            <a:extLst>
              <a:ext uri="{FF2B5EF4-FFF2-40B4-BE49-F238E27FC236}">
                <a16:creationId xmlns="" xmlns:a16="http://schemas.microsoft.com/office/drawing/2014/main" id="{846E9396-3E92-46C0-AFB3-91E6FF045B9A}"/>
              </a:ext>
            </a:extLst>
          </p:cNvPr>
          <p:cNvCxnSpPr/>
          <p:nvPr/>
        </p:nvCxnSpPr>
        <p:spPr bwMode="gray">
          <a:xfrm>
            <a:off x="2091723" y="3868424"/>
            <a:ext cx="766824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="" xmlns:a16="http://schemas.microsoft.com/office/drawing/2014/main" id="{20E36D48-8C6C-40FB-A301-626C2AF2442E}"/>
              </a:ext>
            </a:extLst>
          </p:cNvPr>
          <p:cNvCxnSpPr/>
          <p:nvPr/>
        </p:nvCxnSpPr>
        <p:spPr bwMode="gray">
          <a:xfrm rot="10800000" flipH="1">
            <a:off x="3331330" y="3517576"/>
            <a:ext cx="2050788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55">
            <a:extLst>
              <a:ext uri="{FF2B5EF4-FFF2-40B4-BE49-F238E27FC236}">
                <a16:creationId xmlns="" xmlns:a16="http://schemas.microsoft.com/office/drawing/2014/main" id="{4517B609-EAB4-42BD-A053-62D0A15FC8DD}"/>
              </a:ext>
            </a:extLst>
          </p:cNvPr>
          <p:cNvCxnSpPr/>
          <p:nvPr/>
        </p:nvCxnSpPr>
        <p:spPr bwMode="gray">
          <a:xfrm rot="10800000" flipH="1">
            <a:off x="2091723" y="3517576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55">
            <a:extLst>
              <a:ext uri="{FF2B5EF4-FFF2-40B4-BE49-F238E27FC236}">
                <a16:creationId xmlns="" xmlns:a16="http://schemas.microsoft.com/office/drawing/2014/main" id="{C8D59540-C662-4E81-B63D-E6F039A81CAD}"/>
              </a:ext>
            </a:extLst>
          </p:cNvPr>
          <p:cNvCxnSpPr/>
          <p:nvPr/>
        </p:nvCxnSpPr>
        <p:spPr bwMode="gray">
          <a:xfrm rot="10800000" flipH="1">
            <a:off x="5906991" y="3517576"/>
            <a:ext cx="206446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55">
            <a:extLst>
              <a:ext uri="{FF2B5EF4-FFF2-40B4-BE49-F238E27FC236}">
                <a16:creationId xmlns="" xmlns:a16="http://schemas.microsoft.com/office/drawing/2014/main" id="{4D59581F-0DDC-44CD-83E1-BA87D93A56F5}"/>
              </a:ext>
            </a:extLst>
          </p:cNvPr>
          <p:cNvCxnSpPr/>
          <p:nvPr/>
        </p:nvCxnSpPr>
        <p:spPr bwMode="gray">
          <a:xfrm rot="10800000" flipH="1">
            <a:off x="8349719" y="3517576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="" xmlns:a16="http://schemas.microsoft.com/office/drawing/2014/main" id="{B61ACEB4-3C77-4A48-97FB-0F08EFCEE49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36261" y="3643393"/>
            <a:ext cx="540000" cy="442800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="" xmlns:a16="http://schemas.microsoft.com/office/drawing/2014/main" id="{D162279A-5872-43E8-A676-6A93D0545D7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63937" y="3653518"/>
            <a:ext cx="540000" cy="442800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="" xmlns:a16="http://schemas.microsoft.com/office/drawing/2014/main" id="{9FEAF4DA-4B2F-4D0C-8D39-7F69A0C9885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026292" y="3639609"/>
            <a:ext cx="540000" cy="442800"/>
          </a:xfrm>
          <a:prstGeom prst="rect">
            <a:avLst/>
          </a:prstGeom>
        </p:spPr>
      </p:pic>
      <p:sp>
        <p:nvSpPr>
          <p:cNvPr id="83" name="任意多边形 35">
            <a:extLst>
              <a:ext uri="{FF2B5EF4-FFF2-40B4-BE49-F238E27FC236}">
                <a16:creationId xmlns="" xmlns:a16="http://schemas.microsoft.com/office/drawing/2014/main" id="{A5FA98AB-6AE0-4C78-A3F8-E84ACE6EA875}"/>
              </a:ext>
            </a:extLst>
          </p:cNvPr>
          <p:cNvSpPr/>
          <p:nvPr/>
        </p:nvSpPr>
        <p:spPr bwMode="gray">
          <a:xfrm>
            <a:off x="6337034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任意多边形 37">
            <a:extLst>
              <a:ext uri="{FF2B5EF4-FFF2-40B4-BE49-F238E27FC236}">
                <a16:creationId xmlns="" xmlns:a16="http://schemas.microsoft.com/office/drawing/2014/main" id="{74C6C53A-5365-49A4-B020-C4302B0AFE28}"/>
              </a:ext>
            </a:extLst>
          </p:cNvPr>
          <p:cNvSpPr/>
          <p:nvPr/>
        </p:nvSpPr>
        <p:spPr bwMode="gray">
          <a:xfrm>
            <a:off x="6697034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任意多边形 43">
            <a:extLst>
              <a:ext uri="{FF2B5EF4-FFF2-40B4-BE49-F238E27FC236}">
                <a16:creationId xmlns="" xmlns:a16="http://schemas.microsoft.com/office/drawing/2014/main" id="{3B7E7D50-C75E-4FFE-9B60-D710DC1370CF}"/>
              </a:ext>
            </a:extLst>
          </p:cNvPr>
          <p:cNvSpPr/>
          <p:nvPr/>
        </p:nvSpPr>
        <p:spPr bwMode="gray">
          <a:xfrm>
            <a:off x="7057034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任意多边形 46">
            <a:extLst>
              <a:ext uri="{FF2B5EF4-FFF2-40B4-BE49-F238E27FC236}">
                <a16:creationId xmlns="" xmlns:a16="http://schemas.microsoft.com/office/drawing/2014/main" id="{3B39B9D3-AB57-4F8C-B5F9-6F6A3420D7B1}"/>
              </a:ext>
            </a:extLst>
          </p:cNvPr>
          <p:cNvSpPr/>
          <p:nvPr/>
        </p:nvSpPr>
        <p:spPr bwMode="gray">
          <a:xfrm>
            <a:off x="2198228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任意多边形 51">
            <a:extLst>
              <a:ext uri="{FF2B5EF4-FFF2-40B4-BE49-F238E27FC236}">
                <a16:creationId xmlns="" xmlns:a16="http://schemas.microsoft.com/office/drawing/2014/main" id="{887D8BA9-0B4A-4039-9C8E-38F87B60C48D}"/>
              </a:ext>
            </a:extLst>
          </p:cNvPr>
          <p:cNvSpPr/>
          <p:nvPr/>
        </p:nvSpPr>
        <p:spPr bwMode="gray">
          <a:xfrm>
            <a:off x="2558228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任意多边形 56">
            <a:extLst>
              <a:ext uri="{FF2B5EF4-FFF2-40B4-BE49-F238E27FC236}">
                <a16:creationId xmlns="" xmlns:a16="http://schemas.microsoft.com/office/drawing/2014/main" id="{9624C496-5E5D-4906-9B8E-448CC4E54994}"/>
              </a:ext>
            </a:extLst>
          </p:cNvPr>
          <p:cNvSpPr/>
          <p:nvPr/>
        </p:nvSpPr>
        <p:spPr bwMode="gray">
          <a:xfrm>
            <a:off x="3816723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任意多边形 57">
            <a:extLst>
              <a:ext uri="{FF2B5EF4-FFF2-40B4-BE49-F238E27FC236}">
                <a16:creationId xmlns="" xmlns:a16="http://schemas.microsoft.com/office/drawing/2014/main" id="{99FC2B78-C41E-4A0D-B95C-7A2638936BDC}"/>
              </a:ext>
            </a:extLst>
          </p:cNvPr>
          <p:cNvSpPr/>
          <p:nvPr/>
        </p:nvSpPr>
        <p:spPr bwMode="gray">
          <a:xfrm>
            <a:off x="4176723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任意多边形 60">
            <a:extLst>
              <a:ext uri="{FF2B5EF4-FFF2-40B4-BE49-F238E27FC236}">
                <a16:creationId xmlns="" xmlns:a16="http://schemas.microsoft.com/office/drawing/2014/main" id="{5612D07E-5E32-4B86-96C7-C2259A5F4D71}"/>
              </a:ext>
            </a:extLst>
          </p:cNvPr>
          <p:cNvSpPr/>
          <p:nvPr/>
        </p:nvSpPr>
        <p:spPr bwMode="gray">
          <a:xfrm>
            <a:off x="4536723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任意多边形 65">
            <a:extLst>
              <a:ext uri="{FF2B5EF4-FFF2-40B4-BE49-F238E27FC236}">
                <a16:creationId xmlns="" xmlns:a16="http://schemas.microsoft.com/office/drawing/2014/main" id="{20D2A95E-DA62-489C-855C-F68845E430E9}"/>
              </a:ext>
            </a:extLst>
          </p:cNvPr>
          <p:cNvSpPr/>
          <p:nvPr/>
        </p:nvSpPr>
        <p:spPr bwMode="gray">
          <a:xfrm>
            <a:off x="8509687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任意多边形 66">
            <a:extLst>
              <a:ext uri="{FF2B5EF4-FFF2-40B4-BE49-F238E27FC236}">
                <a16:creationId xmlns="" xmlns:a16="http://schemas.microsoft.com/office/drawing/2014/main" id="{6C3ADB7F-707A-460E-B8E1-7C8B34CC7105}"/>
              </a:ext>
            </a:extLst>
          </p:cNvPr>
          <p:cNvSpPr/>
          <p:nvPr/>
        </p:nvSpPr>
        <p:spPr bwMode="gray">
          <a:xfrm>
            <a:off x="8869687" y="299423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4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="" xmlns:a16="http://schemas.microsoft.com/office/drawing/2014/main" id="{2F341BA8-9D7A-43BE-87C3-C58A5C7D32C8}"/>
              </a:ext>
            </a:extLst>
          </p:cNvPr>
          <p:cNvSpPr txBox="1"/>
          <p:nvPr/>
        </p:nvSpPr>
        <p:spPr bwMode="gray">
          <a:xfrm>
            <a:off x="3546337" y="3220647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标签转发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="" xmlns:a16="http://schemas.microsoft.com/office/drawing/2014/main" id="{8E95A5D1-37F3-4E35-A088-7A19434FF9EA}"/>
              </a:ext>
            </a:extLst>
          </p:cNvPr>
          <p:cNvSpPr txBox="1"/>
          <p:nvPr/>
        </p:nvSpPr>
        <p:spPr bwMode="gray">
          <a:xfrm>
            <a:off x="6107155" y="3248398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标签转发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="" xmlns:a16="http://schemas.microsoft.com/office/drawing/2014/main" id="{63781EF1-7800-4A15-9F17-DC6C2A1A5012}"/>
              </a:ext>
            </a:extLst>
          </p:cNvPr>
          <p:cNvSpPr txBox="1"/>
          <p:nvPr/>
        </p:nvSpPr>
        <p:spPr bwMode="gray">
          <a:xfrm>
            <a:off x="8266788" y="322235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="" xmlns:a16="http://schemas.microsoft.com/office/drawing/2014/main" id="{C3C94AF1-5CAB-41AF-8BD5-8A8BDD63573B}"/>
              </a:ext>
            </a:extLst>
          </p:cNvPr>
          <p:cNvGrpSpPr/>
          <p:nvPr/>
        </p:nvGrpSpPr>
        <p:grpSpPr bwMode="gray">
          <a:xfrm>
            <a:off x="717323" y="3366193"/>
            <a:ext cx="1377387" cy="720000"/>
            <a:chOff x="833949" y="4172890"/>
            <a:chExt cx="1377387" cy="720000"/>
          </a:xfrm>
        </p:grpSpPr>
        <p:sp>
          <p:nvSpPr>
            <p:cNvPr id="104" name="Freeform 159">
              <a:extLst>
                <a:ext uri="{FF2B5EF4-FFF2-40B4-BE49-F238E27FC236}">
                  <a16:creationId xmlns="" xmlns:a16="http://schemas.microsoft.com/office/drawing/2014/main" id="{30175254-1288-407C-86D7-9D2E8571C4CD}"/>
                </a:ext>
              </a:extLst>
            </p:cNvPr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="" xmlns:a16="http://schemas.microsoft.com/office/drawing/2014/main" id="{00A4BE33-5FB7-4F8D-9A60-A8EEEA68AD60}"/>
                </a:ext>
              </a:extLst>
            </p:cNvPr>
            <p:cNvSpPr txBox="1"/>
            <p:nvPr/>
          </p:nvSpPr>
          <p:spPr bwMode="gray">
            <a:xfrm>
              <a:off x="1135044" y="4446306"/>
              <a:ext cx="769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="" xmlns:a16="http://schemas.microsoft.com/office/drawing/2014/main" id="{1F9B71FC-C160-49BE-B68C-2C5E1FB49FE3}"/>
              </a:ext>
            </a:extLst>
          </p:cNvPr>
          <p:cNvGrpSpPr/>
          <p:nvPr/>
        </p:nvGrpSpPr>
        <p:grpSpPr bwMode="gray">
          <a:xfrm>
            <a:off x="9339378" y="3393597"/>
            <a:ext cx="1377387" cy="720000"/>
            <a:chOff x="833949" y="4172890"/>
            <a:chExt cx="1377387" cy="720000"/>
          </a:xfrm>
        </p:grpSpPr>
        <p:sp>
          <p:nvSpPr>
            <p:cNvPr id="107" name="Freeform 159">
              <a:extLst>
                <a:ext uri="{FF2B5EF4-FFF2-40B4-BE49-F238E27FC236}">
                  <a16:creationId xmlns="" xmlns:a16="http://schemas.microsoft.com/office/drawing/2014/main" id="{65F2BE8E-057D-4EEA-BFFA-E48D767E6F0A}"/>
                </a:ext>
              </a:extLst>
            </p:cNvPr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="" xmlns:a16="http://schemas.microsoft.com/office/drawing/2014/main" id="{9C095016-061D-47F8-87FC-A7CD39FD7403}"/>
                </a:ext>
              </a:extLst>
            </p:cNvPr>
            <p:cNvSpPr txBox="1"/>
            <p:nvPr/>
          </p:nvSpPr>
          <p:spPr bwMode="gray">
            <a:xfrm>
              <a:off x="1137760" y="4300605"/>
              <a:ext cx="769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9" name="矩形 32">
            <a:extLst>
              <a:ext uri="{FF2B5EF4-FFF2-40B4-BE49-F238E27FC236}">
                <a16:creationId xmlns="" xmlns:a16="http://schemas.microsoft.com/office/drawing/2014/main" id="{69AE8E0F-D928-4B69-B682-F17CBC114119}"/>
              </a:ext>
            </a:extLst>
          </p:cNvPr>
          <p:cNvSpPr/>
          <p:nvPr/>
        </p:nvSpPr>
        <p:spPr bwMode="gray">
          <a:xfrm>
            <a:off x="10756669" y="4998160"/>
            <a:ext cx="898817" cy="410785"/>
          </a:xfrm>
          <a:prstGeom prst="rect">
            <a:avLst/>
          </a:prstGeom>
          <a:solidFill>
            <a:srgbClr val="FFF2CC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  <a:p>
            <a:pPr algn="ctr" defTabSz="914400"/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Packet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矩形 33">
            <a:extLst>
              <a:ext uri="{FF2B5EF4-FFF2-40B4-BE49-F238E27FC236}">
                <a16:creationId xmlns="" xmlns:a16="http://schemas.microsoft.com/office/drawing/2014/main" id="{1AED1453-2CEE-41B4-888A-469862445163}"/>
              </a:ext>
            </a:extLst>
          </p:cNvPr>
          <p:cNvSpPr/>
          <p:nvPr/>
        </p:nvSpPr>
        <p:spPr bwMode="gray">
          <a:xfrm>
            <a:off x="9633556" y="4998160"/>
            <a:ext cx="898817" cy="410785"/>
          </a:xfrm>
          <a:prstGeom prst="rect">
            <a:avLst/>
          </a:prstGeom>
          <a:solidFill>
            <a:srgbClr val="8BC9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矩形 33">
            <a:extLst>
              <a:ext uri="{FF2B5EF4-FFF2-40B4-BE49-F238E27FC236}">
                <a16:creationId xmlns="" xmlns:a16="http://schemas.microsoft.com/office/drawing/2014/main" id="{C003256A-36FC-4A99-8635-BDE8BF372C71}"/>
              </a:ext>
            </a:extLst>
          </p:cNvPr>
          <p:cNvSpPr/>
          <p:nvPr/>
        </p:nvSpPr>
        <p:spPr bwMode="gray">
          <a:xfrm>
            <a:off x="8510443" y="4998160"/>
            <a:ext cx="898817" cy="410785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</a:t>
            </a:r>
          </a:p>
          <a:p>
            <a:pPr algn="ctr" defTabSz="914400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sz="14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五边形 35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燕尾形 36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燕尾形 37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08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1FF0F7BF-59F0-489D-8175-D62D2DA916E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</a:t>
            </a:r>
            <a:r>
              <a:rPr lang="zh-CN" altLang="en-US" dirty="0">
                <a:sym typeface="Huawei Sans" panose="020C0503030203020204" pitchFamily="34" charset="0"/>
              </a:rPr>
              <a:t>术语介绍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0ADDA2B-8002-49ED-B12A-8161725D29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域（</a:t>
            </a:r>
            <a:r>
              <a:rPr lang="en-US" altLang="zh-CN" sz="1600" dirty="0">
                <a:sym typeface="Huawei Sans" panose="020C0503030203020204" pitchFamily="34" charset="0"/>
              </a:rPr>
              <a:t>MPLS Domain</a:t>
            </a:r>
            <a:r>
              <a:rPr lang="zh-CN" altLang="en-US" sz="1600" dirty="0">
                <a:sym typeface="Huawei Sans" panose="020C0503030203020204" pitchFamily="34" charset="0"/>
              </a:rPr>
              <a:t>）：一系列连续的运行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的网络设备构成了一个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域。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Label Switching Router</a:t>
            </a:r>
            <a:r>
              <a:rPr lang="zh-CN" altLang="en-US" sz="1600" dirty="0">
                <a:sym typeface="Huawei Sans" panose="020C0503030203020204" pitchFamily="34" charset="0"/>
              </a:rPr>
              <a:t>，标签交换路由器）：支持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的路由器（实际上也指支持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的交换机或其他网络设备）。位于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域边缘、连接其它网络的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称为边缘路由器</a:t>
            </a:r>
            <a:r>
              <a:rPr lang="en-US" altLang="zh-CN" sz="1600" dirty="0">
                <a:sym typeface="Huawei Sans" panose="020C0503030203020204" pitchFamily="34" charset="0"/>
              </a:rPr>
              <a:t>LER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Label Edge Router</a:t>
            </a:r>
            <a:r>
              <a:rPr lang="zh-CN" altLang="en-US" sz="1600" dirty="0">
                <a:sym typeface="Huawei Sans" panose="020C0503030203020204" pitchFamily="34" charset="0"/>
              </a:rPr>
              <a:t>），区域内部的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称为核心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Core LSR</a:t>
            </a:r>
            <a:r>
              <a:rPr lang="zh-CN" altLang="en-US" sz="1600" dirty="0">
                <a:sym typeface="Huawei Sans" panose="020C0503030203020204" pitchFamily="34" charset="0"/>
              </a:rPr>
              <a:t>）。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包在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网络中经过的路径称为标签交换路径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Label Switched Path</a:t>
            </a:r>
            <a:r>
              <a:rPr lang="zh-CN" altLang="en-US" sz="1600" dirty="0">
                <a:sym typeface="Huawei Sans" panose="020C0503030203020204" pitchFamily="34" charset="0"/>
              </a:rPr>
              <a:t>）。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是一个单向路径，与数据流的方向一致。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的起始节点称为入节点（</a:t>
            </a:r>
            <a:r>
              <a:rPr lang="en-US" altLang="zh-CN" sz="1600" dirty="0">
                <a:sym typeface="Huawei Sans" panose="020C0503030203020204" pitchFamily="34" charset="0"/>
              </a:rPr>
              <a:t>Ingress</a:t>
            </a:r>
            <a:r>
              <a:rPr lang="zh-CN" altLang="en-US" sz="1600" dirty="0">
                <a:sym typeface="Huawei Sans" panose="020C0503030203020204" pitchFamily="34" charset="0"/>
              </a:rPr>
              <a:t>）；位于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中间的节点称为中间节点（</a:t>
            </a:r>
            <a:r>
              <a:rPr lang="en-US" altLang="zh-CN" sz="1600" dirty="0">
                <a:sym typeface="Huawei Sans" panose="020C0503030203020204" pitchFamily="34" charset="0"/>
              </a:rPr>
              <a:t>Transit</a:t>
            </a:r>
            <a:r>
              <a:rPr lang="zh-CN" altLang="en-US" sz="1600" dirty="0">
                <a:sym typeface="Huawei Sans" panose="020C0503030203020204" pitchFamily="34" charset="0"/>
              </a:rPr>
              <a:t>）；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的末节点称为出节点（</a:t>
            </a:r>
            <a:r>
              <a:rPr lang="en-US" altLang="zh-CN" sz="1600" dirty="0">
                <a:sym typeface="Huawei Sans" panose="020C0503030203020204" pitchFamily="34" charset="0"/>
              </a:rPr>
              <a:t>Egress</a:t>
            </a:r>
            <a:r>
              <a:rPr lang="zh-CN" altLang="en-US" sz="1600" dirty="0">
                <a:sym typeface="Huawei Sans" panose="020C0503030203020204" pitchFamily="34" charset="0"/>
              </a:rPr>
              <a:t>）。一条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可以有</a:t>
            </a:r>
            <a:r>
              <a:rPr lang="en-US" altLang="zh-CN" sz="1600" dirty="0">
                <a:sym typeface="Huawei Sans" panose="020C0503030203020204" pitchFamily="34" charset="0"/>
              </a:rPr>
              <a:t>0</a:t>
            </a:r>
            <a:r>
              <a:rPr lang="zh-CN" altLang="en-US" sz="1600" dirty="0">
                <a:sym typeface="Huawei Sans" panose="020C0503030203020204" pitchFamily="34" charset="0"/>
              </a:rPr>
              <a:t>个、</a:t>
            </a:r>
            <a:r>
              <a:rPr lang="en-US" altLang="zh-CN" sz="1600" dirty="0"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sym typeface="Huawei Sans" panose="020C0503030203020204" pitchFamily="34" charset="0"/>
              </a:rPr>
              <a:t>个或多个中间节点，但有且只有一个入节点和出节点。</a:t>
            </a:r>
          </a:p>
        </p:txBody>
      </p:sp>
      <p:sp>
        <p:nvSpPr>
          <p:cNvPr id="6" name="Rounded Rectangle 36">
            <a:extLst>
              <a:ext uri="{FF2B5EF4-FFF2-40B4-BE49-F238E27FC236}">
                <a16:creationId xmlns="" xmlns:a16="http://schemas.microsoft.com/office/drawing/2014/main" id="{FF5AAC4F-737D-4AEC-9EF3-C9236A8FA9FB}"/>
              </a:ext>
            </a:extLst>
          </p:cNvPr>
          <p:cNvSpPr/>
          <p:nvPr/>
        </p:nvSpPr>
        <p:spPr bwMode="gray">
          <a:xfrm>
            <a:off x="3320998" y="3899346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F4FBFE"/>
          </a:solidFill>
          <a:ln w="1905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连接符 4">
            <a:extLst>
              <a:ext uri="{FF2B5EF4-FFF2-40B4-BE49-F238E27FC236}">
                <a16:creationId xmlns="" xmlns:a16="http://schemas.microsoft.com/office/drawing/2014/main" id="{85E5CA65-F48B-472C-A771-2764F17BF330}"/>
              </a:ext>
            </a:extLst>
          </p:cNvPr>
          <p:cNvCxnSpPr/>
          <p:nvPr/>
        </p:nvCxnSpPr>
        <p:spPr bwMode="gray">
          <a:xfrm>
            <a:off x="2208349" y="4932164"/>
            <a:ext cx="769765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55">
            <a:extLst>
              <a:ext uri="{FF2B5EF4-FFF2-40B4-BE49-F238E27FC236}">
                <a16:creationId xmlns="" xmlns:a16="http://schemas.microsoft.com/office/drawing/2014/main" id="{E249713C-C191-418F-BE64-3760936F9558}"/>
              </a:ext>
            </a:extLst>
          </p:cNvPr>
          <p:cNvCxnSpPr/>
          <p:nvPr/>
        </p:nvCxnSpPr>
        <p:spPr bwMode="gray">
          <a:xfrm>
            <a:off x="3152245" y="4625560"/>
            <a:ext cx="5535342" cy="0"/>
          </a:xfrm>
          <a:prstGeom prst="line">
            <a:avLst/>
          </a:prstGeom>
          <a:ln w="38100">
            <a:solidFill>
              <a:srgbClr val="FCC8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67">
            <a:extLst>
              <a:ext uri="{FF2B5EF4-FFF2-40B4-BE49-F238E27FC236}">
                <a16:creationId xmlns="" xmlns:a16="http://schemas.microsoft.com/office/drawing/2014/main" id="{67EC632C-1CB6-41C8-9F9B-CE84C14D9D50}"/>
              </a:ext>
            </a:extLst>
          </p:cNvPr>
          <p:cNvSpPr/>
          <p:nvPr/>
        </p:nvSpPr>
        <p:spPr bwMode="gray">
          <a:xfrm>
            <a:off x="5184966" y="5457890"/>
            <a:ext cx="11769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80531C1B-D420-41E5-8326-297D6DF79AE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52887" y="4707133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AE978478-3711-49E7-90C3-E5DDB812959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80563" y="4717258"/>
            <a:ext cx="540000" cy="442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E3F669FD-F6C6-4D78-B7CA-AB8818E7031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42918" y="4703349"/>
            <a:ext cx="540000" cy="442800"/>
          </a:xfrm>
          <a:prstGeom prst="rect">
            <a:avLst/>
          </a:prstGeom>
        </p:spPr>
      </p:pic>
      <p:sp>
        <p:nvSpPr>
          <p:cNvPr id="16" name="TextBox 43">
            <a:extLst>
              <a:ext uri="{FF2B5EF4-FFF2-40B4-BE49-F238E27FC236}">
                <a16:creationId xmlns="" xmlns:a16="http://schemas.microsoft.com/office/drawing/2014/main" id="{32C3CD5B-DC61-47D1-8B48-35EC9CC2FFF9}"/>
              </a:ext>
            </a:extLst>
          </p:cNvPr>
          <p:cNvSpPr txBox="1"/>
          <p:nvPr/>
        </p:nvSpPr>
        <p:spPr bwMode="gray">
          <a:xfrm>
            <a:off x="3117071" y="516005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LER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TextBox 43">
            <a:extLst>
              <a:ext uri="{FF2B5EF4-FFF2-40B4-BE49-F238E27FC236}">
                <a16:creationId xmlns="" xmlns:a16="http://schemas.microsoft.com/office/drawing/2014/main" id="{779FCF00-BFFC-4D75-BC9E-AA1E7C478436}"/>
              </a:ext>
            </a:extLst>
          </p:cNvPr>
          <p:cNvSpPr txBox="1"/>
          <p:nvPr/>
        </p:nvSpPr>
        <p:spPr bwMode="gray">
          <a:xfrm>
            <a:off x="5432700" y="5160058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Core LSR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Box 43">
            <a:extLst>
              <a:ext uri="{FF2B5EF4-FFF2-40B4-BE49-F238E27FC236}">
                <a16:creationId xmlns="" xmlns:a16="http://schemas.microsoft.com/office/drawing/2014/main" id="{AFCBC2D3-D290-4636-AE65-3E3A098B6674}"/>
              </a:ext>
            </a:extLst>
          </p:cNvPr>
          <p:cNvSpPr txBox="1"/>
          <p:nvPr/>
        </p:nvSpPr>
        <p:spPr bwMode="gray">
          <a:xfrm>
            <a:off x="8235219" y="516005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LER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任意多边形 69">
            <a:extLst>
              <a:ext uri="{FF2B5EF4-FFF2-40B4-BE49-F238E27FC236}">
                <a16:creationId xmlns="" xmlns:a16="http://schemas.microsoft.com/office/drawing/2014/main" id="{00502C64-1833-4344-80CC-48C3B9EDB490}"/>
              </a:ext>
            </a:extLst>
          </p:cNvPr>
          <p:cNvSpPr/>
          <p:nvPr/>
        </p:nvSpPr>
        <p:spPr bwMode="gray">
          <a:xfrm>
            <a:off x="6453660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任意多边形 70">
            <a:extLst>
              <a:ext uri="{FF2B5EF4-FFF2-40B4-BE49-F238E27FC236}">
                <a16:creationId xmlns="" xmlns:a16="http://schemas.microsoft.com/office/drawing/2014/main" id="{68C1A1D9-AB80-4A6A-9686-2EB1855C2F34}"/>
              </a:ext>
            </a:extLst>
          </p:cNvPr>
          <p:cNvSpPr/>
          <p:nvPr/>
        </p:nvSpPr>
        <p:spPr bwMode="gray">
          <a:xfrm>
            <a:off x="6813660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任意多边形 71">
            <a:extLst>
              <a:ext uri="{FF2B5EF4-FFF2-40B4-BE49-F238E27FC236}">
                <a16:creationId xmlns="" xmlns:a16="http://schemas.microsoft.com/office/drawing/2014/main" id="{D8A11049-F743-4F41-ACB4-1C90DCEDA227}"/>
              </a:ext>
            </a:extLst>
          </p:cNvPr>
          <p:cNvSpPr/>
          <p:nvPr/>
        </p:nvSpPr>
        <p:spPr bwMode="gray">
          <a:xfrm>
            <a:off x="7173660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任意多边形 76">
            <a:extLst>
              <a:ext uri="{FF2B5EF4-FFF2-40B4-BE49-F238E27FC236}">
                <a16:creationId xmlns="" xmlns:a16="http://schemas.microsoft.com/office/drawing/2014/main" id="{D4396F69-B688-4548-8ADD-87590B95F6F5}"/>
              </a:ext>
            </a:extLst>
          </p:cNvPr>
          <p:cNvSpPr/>
          <p:nvPr/>
        </p:nvSpPr>
        <p:spPr bwMode="gray">
          <a:xfrm>
            <a:off x="2314854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任意多边形 77">
            <a:extLst>
              <a:ext uri="{FF2B5EF4-FFF2-40B4-BE49-F238E27FC236}">
                <a16:creationId xmlns="" xmlns:a16="http://schemas.microsoft.com/office/drawing/2014/main" id="{8AA537A1-4F7B-4DB5-BF10-6BAD1E8DB515}"/>
              </a:ext>
            </a:extLst>
          </p:cNvPr>
          <p:cNvSpPr/>
          <p:nvPr/>
        </p:nvSpPr>
        <p:spPr bwMode="gray">
          <a:xfrm>
            <a:off x="2674854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任意多边形 79">
            <a:extLst>
              <a:ext uri="{FF2B5EF4-FFF2-40B4-BE49-F238E27FC236}">
                <a16:creationId xmlns="" xmlns:a16="http://schemas.microsoft.com/office/drawing/2014/main" id="{0D196B43-EEB8-45D9-85E3-026E8084AFAE}"/>
              </a:ext>
            </a:extLst>
          </p:cNvPr>
          <p:cNvSpPr/>
          <p:nvPr/>
        </p:nvSpPr>
        <p:spPr bwMode="gray">
          <a:xfrm>
            <a:off x="3933349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任意多边形 80">
            <a:extLst>
              <a:ext uri="{FF2B5EF4-FFF2-40B4-BE49-F238E27FC236}">
                <a16:creationId xmlns="" xmlns:a16="http://schemas.microsoft.com/office/drawing/2014/main" id="{F0998EC5-9A4E-42C4-8300-8F6BF81E41CA}"/>
              </a:ext>
            </a:extLst>
          </p:cNvPr>
          <p:cNvSpPr/>
          <p:nvPr/>
        </p:nvSpPr>
        <p:spPr bwMode="gray">
          <a:xfrm>
            <a:off x="4293349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FFF2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任意多边形 81">
            <a:extLst>
              <a:ext uri="{FF2B5EF4-FFF2-40B4-BE49-F238E27FC236}">
                <a16:creationId xmlns="" xmlns:a16="http://schemas.microsoft.com/office/drawing/2014/main" id="{0233F360-24F2-4DDD-93B0-7B32B4CA9AAA}"/>
              </a:ext>
            </a:extLst>
          </p:cNvPr>
          <p:cNvSpPr/>
          <p:nvPr/>
        </p:nvSpPr>
        <p:spPr bwMode="gray">
          <a:xfrm>
            <a:off x="4653349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任意多边形 83">
            <a:extLst>
              <a:ext uri="{FF2B5EF4-FFF2-40B4-BE49-F238E27FC236}">
                <a16:creationId xmlns="" xmlns:a16="http://schemas.microsoft.com/office/drawing/2014/main" id="{E948A39C-5BB7-4B7A-89B7-69AAEDBC6B2B}"/>
              </a:ext>
            </a:extLst>
          </p:cNvPr>
          <p:cNvSpPr/>
          <p:nvPr/>
        </p:nvSpPr>
        <p:spPr bwMode="gray">
          <a:xfrm>
            <a:off x="8626313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任意多边形 84">
            <a:extLst>
              <a:ext uri="{FF2B5EF4-FFF2-40B4-BE49-F238E27FC236}">
                <a16:creationId xmlns="" xmlns:a16="http://schemas.microsoft.com/office/drawing/2014/main" id="{0AFB8764-4DAF-4096-B422-BA86261F47B6}"/>
              </a:ext>
            </a:extLst>
          </p:cNvPr>
          <p:cNvSpPr/>
          <p:nvPr/>
        </p:nvSpPr>
        <p:spPr bwMode="gray">
          <a:xfrm>
            <a:off x="8986313" y="4057974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="" xmlns:a16="http://schemas.microsoft.com/office/drawing/2014/main" id="{21EF50E4-AF2E-4129-A577-EC6F62605C9C}"/>
              </a:ext>
            </a:extLst>
          </p:cNvPr>
          <p:cNvGrpSpPr/>
          <p:nvPr/>
        </p:nvGrpSpPr>
        <p:grpSpPr bwMode="gray">
          <a:xfrm>
            <a:off x="833949" y="4429933"/>
            <a:ext cx="1377387" cy="720000"/>
            <a:chOff x="833949" y="4172890"/>
            <a:chExt cx="1377387" cy="720000"/>
          </a:xfrm>
        </p:grpSpPr>
        <p:sp>
          <p:nvSpPr>
            <p:cNvPr id="30" name="Freeform 159">
              <a:extLst>
                <a:ext uri="{FF2B5EF4-FFF2-40B4-BE49-F238E27FC236}">
                  <a16:creationId xmlns="" xmlns:a16="http://schemas.microsoft.com/office/drawing/2014/main" id="{5038C43A-E6CD-424A-AA51-106719721120}"/>
                </a:ext>
              </a:extLst>
            </p:cNvPr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="" xmlns:a16="http://schemas.microsoft.com/office/drawing/2014/main" id="{1064014F-2308-43C1-9BC5-FFCBDEBE8161}"/>
                </a:ext>
              </a:extLst>
            </p:cNvPr>
            <p:cNvSpPr txBox="1"/>
            <p:nvPr/>
          </p:nvSpPr>
          <p:spPr bwMode="gray">
            <a:xfrm>
              <a:off x="1135044" y="4446306"/>
              <a:ext cx="6238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C127013B-8851-492A-9310-FF92D54C1427}"/>
              </a:ext>
            </a:extLst>
          </p:cNvPr>
          <p:cNvGrpSpPr/>
          <p:nvPr/>
        </p:nvGrpSpPr>
        <p:grpSpPr bwMode="gray">
          <a:xfrm>
            <a:off x="9456004" y="4457337"/>
            <a:ext cx="1377387" cy="720000"/>
            <a:chOff x="833949" y="4172890"/>
            <a:chExt cx="1377387" cy="720000"/>
          </a:xfrm>
        </p:grpSpPr>
        <p:sp>
          <p:nvSpPr>
            <p:cNvPr id="33" name="Freeform 159">
              <a:extLst>
                <a:ext uri="{FF2B5EF4-FFF2-40B4-BE49-F238E27FC236}">
                  <a16:creationId xmlns="" xmlns:a16="http://schemas.microsoft.com/office/drawing/2014/main" id="{B610A392-AC47-40F0-8413-106A8D9C989F}"/>
                </a:ext>
              </a:extLst>
            </p:cNvPr>
            <p:cNvSpPr>
              <a:spLocks noChangeAspect="1"/>
            </p:cNvSpPr>
            <p:nvPr/>
          </p:nvSpPr>
          <p:spPr bwMode="gray">
            <a:xfrm flipH="1">
              <a:off x="833949" y="4172890"/>
              <a:ext cx="1377387" cy="720000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="" xmlns:a16="http://schemas.microsoft.com/office/drawing/2014/main" id="{B6360FB9-1480-41D6-B3F6-1CEA0D32CB8A}"/>
                </a:ext>
              </a:extLst>
            </p:cNvPr>
            <p:cNvSpPr txBox="1"/>
            <p:nvPr/>
          </p:nvSpPr>
          <p:spPr bwMode="gray">
            <a:xfrm>
              <a:off x="1210697" y="4418902"/>
              <a:ext cx="6238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</a:t>
              </a:r>
              <a:endPara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5" name="矩形 32">
            <a:extLst>
              <a:ext uri="{FF2B5EF4-FFF2-40B4-BE49-F238E27FC236}">
                <a16:creationId xmlns="" xmlns:a16="http://schemas.microsoft.com/office/drawing/2014/main" id="{91FE009B-8B53-4917-AB00-5ED025CBE995}"/>
              </a:ext>
            </a:extLst>
          </p:cNvPr>
          <p:cNvSpPr/>
          <p:nvPr/>
        </p:nvSpPr>
        <p:spPr bwMode="gray">
          <a:xfrm>
            <a:off x="10302587" y="5942099"/>
            <a:ext cx="1440000" cy="252000"/>
          </a:xfrm>
          <a:prstGeom prst="rect">
            <a:avLst/>
          </a:pr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Packet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3">
            <a:extLst>
              <a:ext uri="{FF2B5EF4-FFF2-40B4-BE49-F238E27FC236}">
                <a16:creationId xmlns="" xmlns:a16="http://schemas.microsoft.com/office/drawing/2014/main" id="{66C0ED2E-E8C3-4513-BDDF-2DCED5D9B3B6}"/>
              </a:ext>
            </a:extLst>
          </p:cNvPr>
          <p:cNvSpPr/>
          <p:nvPr/>
        </p:nvSpPr>
        <p:spPr bwMode="gray">
          <a:xfrm>
            <a:off x="8737155" y="5942099"/>
            <a:ext cx="1440000" cy="252000"/>
          </a:xfrm>
          <a:prstGeom prst="rect">
            <a:avLst/>
          </a:prstGeom>
          <a:solidFill>
            <a:srgbClr val="FFF2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Header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3">
            <a:extLst>
              <a:ext uri="{FF2B5EF4-FFF2-40B4-BE49-F238E27FC236}">
                <a16:creationId xmlns="" xmlns:a16="http://schemas.microsoft.com/office/drawing/2014/main" id="{2AA90F87-C115-4994-A69D-AAA25B37E521}"/>
              </a:ext>
            </a:extLst>
          </p:cNvPr>
          <p:cNvSpPr/>
          <p:nvPr/>
        </p:nvSpPr>
        <p:spPr bwMode="gray">
          <a:xfrm>
            <a:off x="7171723" y="5942099"/>
            <a:ext cx="1440000" cy="252000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 Header</a:t>
            </a:r>
            <a:endParaRPr lang="zh-CN" altLang="en-US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TextBox 43">
            <a:extLst>
              <a:ext uri="{FF2B5EF4-FFF2-40B4-BE49-F238E27FC236}">
                <a16:creationId xmlns="" xmlns:a16="http://schemas.microsoft.com/office/drawing/2014/main" id="{7CF75FF4-8F1B-43B4-AC82-D504AF6D6B03}"/>
              </a:ext>
            </a:extLst>
          </p:cNvPr>
          <p:cNvSpPr txBox="1"/>
          <p:nvPr/>
        </p:nvSpPr>
        <p:spPr bwMode="gray">
          <a:xfrm>
            <a:off x="2936088" y="4336303"/>
            <a:ext cx="708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TextBox 43">
            <a:extLst>
              <a:ext uri="{FF2B5EF4-FFF2-40B4-BE49-F238E27FC236}">
                <a16:creationId xmlns="" xmlns:a16="http://schemas.microsoft.com/office/drawing/2014/main" id="{66BA69DD-AABA-4DB0-BC51-BD1641FC02C9}"/>
              </a:ext>
            </a:extLst>
          </p:cNvPr>
          <p:cNvSpPr txBox="1"/>
          <p:nvPr/>
        </p:nvSpPr>
        <p:spPr bwMode="gray">
          <a:xfrm>
            <a:off x="5458259" y="4336303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Box 43">
            <a:extLst>
              <a:ext uri="{FF2B5EF4-FFF2-40B4-BE49-F238E27FC236}">
                <a16:creationId xmlns="" xmlns:a16="http://schemas.microsoft.com/office/drawing/2014/main" id="{673697A7-19B1-4B5B-AE20-00D91746FC94}"/>
              </a:ext>
            </a:extLst>
          </p:cNvPr>
          <p:cNvSpPr txBox="1"/>
          <p:nvPr/>
        </p:nvSpPr>
        <p:spPr bwMode="gray">
          <a:xfrm>
            <a:off x="8144385" y="4336303"/>
            <a:ext cx="651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五边形 40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41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42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57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6">
            <a:extLst>
              <a:ext uri="{FF2B5EF4-FFF2-40B4-BE49-F238E27FC236}">
                <a16:creationId xmlns="" xmlns:a16="http://schemas.microsoft.com/office/drawing/2014/main" id="{B7C48ACF-C00E-4EDD-B0EC-53673C621CB2}"/>
              </a:ext>
            </a:extLst>
          </p:cNvPr>
          <p:cNvSpPr/>
          <p:nvPr/>
        </p:nvSpPr>
        <p:spPr bwMode="gray">
          <a:xfrm>
            <a:off x="3320998" y="3091372"/>
            <a:ext cx="5057297" cy="3108571"/>
          </a:xfrm>
          <a:prstGeom prst="roundRect">
            <a:avLst>
              <a:gd name="adj" fmla="val 5020"/>
            </a:avLst>
          </a:prstGeom>
          <a:solidFill>
            <a:srgbClr val="F4FBFE"/>
          </a:solidFill>
          <a:ln w="1905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E979ABC-DEB3-4627-A268-70140ED327E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</a:t>
            </a:r>
            <a:r>
              <a:rPr lang="zh-CN" altLang="en-US" dirty="0">
                <a:sym typeface="Huawei Sans" panose="020C0503030203020204" pitchFamily="34" charset="0"/>
              </a:rPr>
              <a:t>术语介绍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7862B12-5784-4775-B6BC-457A159079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FEC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Forwarding Equivalence Class</a:t>
            </a:r>
            <a:r>
              <a:rPr lang="zh-CN" altLang="en-US" sz="1600" dirty="0">
                <a:sym typeface="Huawei Sans" panose="020C0503030203020204" pitchFamily="34" charset="0"/>
              </a:rPr>
              <a:t>，转发等价类）是一组具有某些共性的数据流的集合，这些数据流在转发过程中被网络节点以相同方式处理。在传统的采用最长匹配算法的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转发中，匹配到同一条路由的所有报文就是一个转发等价类。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0"/>
            <a:r>
              <a:rPr lang="zh-CN" altLang="en-US" sz="1600" dirty="0">
                <a:sym typeface="Huawei Sans" panose="020C0503030203020204" pitchFamily="34" charset="0"/>
              </a:rPr>
              <a:t>一条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包含一台入站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、一台出站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以及数量可变的中转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，因此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也可以看做是这些</a:t>
            </a:r>
            <a:r>
              <a:rPr lang="en-US" altLang="zh-CN" sz="1600" dirty="0">
                <a:sym typeface="Huawei Sans" panose="020C0503030203020204" pitchFamily="34" charset="0"/>
              </a:rPr>
              <a:t>LSR</a:t>
            </a:r>
            <a:r>
              <a:rPr lang="zh-CN" altLang="en-US" sz="1600" dirty="0">
                <a:sym typeface="Huawei Sans" panose="020C0503030203020204" pitchFamily="34" charset="0"/>
              </a:rPr>
              <a:t>的有序集合。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0"/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需要在数据转发开始前建立完成，只有这样报文才能顺利穿越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域。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0"/>
            <a:r>
              <a:rPr lang="zh-CN" altLang="en-US" sz="1600" dirty="0">
                <a:sym typeface="Huawei Sans" panose="020C0503030203020204" pitchFamily="34" charset="0"/>
              </a:rPr>
              <a:t>需要注意的是，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是一个从“起点”到“终点”的单向路径，若需要双向数据互通，则需要在双方之间建立双向的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en-US" altLang="zh-CN" sz="1600" dirty="0">
              <a:sym typeface="Huawei Sans" panose="020C0503030203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E2B83216-4382-4C9A-8894-CD12AC398F63}"/>
              </a:ext>
            </a:extLst>
          </p:cNvPr>
          <p:cNvCxnSpPr/>
          <p:nvPr/>
        </p:nvCxnSpPr>
        <p:spPr bwMode="gray">
          <a:xfrm>
            <a:off x="1359758" y="5759463"/>
            <a:ext cx="1737297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B03955C0-437A-426E-A9BD-B137BFE7436A}"/>
              </a:ext>
            </a:extLst>
          </p:cNvPr>
          <p:cNvCxnSpPr/>
          <p:nvPr/>
        </p:nvCxnSpPr>
        <p:spPr bwMode="gray">
          <a:xfrm>
            <a:off x="3320998" y="4717661"/>
            <a:ext cx="1274397" cy="1041802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08E977E4-0565-4EA0-8439-ED04D382475C}"/>
              </a:ext>
            </a:extLst>
          </p:cNvPr>
          <p:cNvCxnSpPr/>
          <p:nvPr/>
        </p:nvCxnSpPr>
        <p:spPr bwMode="gray">
          <a:xfrm flipV="1">
            <a:off x="7120122" y="4703753"/>
            <a:ext cx="1292796" cy="105571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49FAAD73-9EB4-4B29-87F9-749CA9FB6D8B}"/>
              </a:ext>
            </a:extLst>
          </p:cNvPr>
          <p:cNvCxnSpPr/>
          <p:nvPr/>
        </p:nvCxnSpPr>
        <p:spPr bwMode="gray">
          <a:xfrm flipV="1">
            <a:off x="3320998" y="3369922"/>
            <a:ext cx="1274397" cy="1341245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140431C6-B9D4-4BFE-A3A4-14D60DE1AD88}"/>
              </a:ext>
            </a:extLst>
          </p:cNvPr>
          <p:cNvCxnSpPr/>
          <p:nvPr/>
        </p:nvCxnSpPr>
        <p:spPr bwMode="gray">
          <a:xfrm>
            <a:off x="7158068" y="3358200"/>
            <a:ext cx="1220227" cy="1345552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7">
            <a:extLst>
              <a:ext uri="{FF2B5EF4-FFF2-40B4-BE49-F238E27FC236}">
                <a16:creationId xmlns="" xmlns:a16="http://schemas.microsoft.com/office/drawing/2014/main" id="{5D647A62-C5AE-4E6C-9E13-0FA889C4447C}"/>
              </a:ext>
            </a:extLst>
          </p:cNvPr>
          <p:cNvSpPr/>
          <p:nvPr/>
        </p:nvSpPr>
        <p:spPr bwMode="gray">
          <a:xfrm>
            <a:off x="5282404" y="4139295"/>
            <a:ext cx="11769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cxnSp>
        <p:nvCxnSpPr>
          <p:cNvPr id="11" name="直接连接符 4">
            <a:extLst>
              <a:ext uri="{FF2B5EF4-FFF2-40B4-BE49-F238E27FC236}">
                <a16:creationId xmlns="" xmlns:a16="http://schemas.microsoft.com/office/drawing/2014/main" id="{35F8103A-E23E-4B2D-A8C9-85659245F2A3}"/>
              </a:ext>
            </a:extLst>
          </p:cNvPr>
          <p:cNvCxnSpPr/>
          <p:nvPr/>
        </p:nvCxnSpPr>
        <p:spPr bwMode="gray">
          <a:xfrm>
            <a:off x="1359758" y="4658087"/>
            <a:ext cx="851683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C8B7C382-C195-4687-9971-28C5EBD629F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52887" y="4433056"/>
            <a:ext cx="540000" cy="442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CBF80ABA-DBA4-405D-97EB-BCEB4013FB7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7903" y="4443181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8E84BC06-586D-4C0D-A00C-25C7EC9BB75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42918" y="4429272"/>
            <a:ext cx="540000" cy="442800"/>
          </a:xfrm>
          <a:prstGeom prst="rect">
            <a:avLst/>
          </a:prstGeom>
        </p:spPr>
      </p:pic>
      <p:sp>
        <p:nvSpPr>
          <p:cNvPr id="15" name="Freeform 159">
            <a:extLst>
              <a:ext uri="{FF2B5EF4-FFF2-40B4-BE49-F238E27FC236}">
                <a16:creationId xmlns="" xmlns:a16="http://schemas.microsoft.com/office/drawing/2014/main" id="{2F0EC74E-CE0A-41ED-B036-CE8F7A8BF7E0}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9456003" y="4183259"/>
            <a:ext cx="1377387" cy="960291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A14E9471-12D6-4155-B01C-F447731CCDEC}"/>
              </a:ext>
            </a:extLst>
          </p:cNvPr>
          <p:cNvSpPr txBox="1"/>
          <p:nvPr/>
        </p:nvSpPr>
        <p:spPr bwMode="gray">
          <a:xfrm>
            <a:off x="9666843" y="4373310"/>
            <a:ext cx="955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solidFill>
                  <a:srgbClr val="ED7D3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10.0.1.0/24</a:t>
            </a:r>
          </a:p>
          <a:p>
            <a:pPr algn="ctr"/>
            <a:r>
              <a:rPr lang="en-US" altLang="zh-CN" sz="1200" dirty="0">
                <a:solidFill>
                  <a:srgbClr val="62B23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10.0.2.0/24</a:t>
            </a:r>
            <a:endParaRPr lang="zh-CN" altLang="en-US" sz="1200" dirty="0">
              <a:solidFill>
                <a:srgbClr val="62B23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TextBox 43">
            <a:extLst>
              <a:ext uri="{FF2B5EF4-FFF2-40B4-BE49-F238E27FC236}">
                <a16:creationId xmlns="" xmlns:a16="http://schemas.microsoft.com/office/drawing/2014/main" id="{1C11C5B1-3F09-448D-8F77-316DD6DB473A}"/>
              </a:ext>
            </a:extLst>
          </p:cNvPr>
          <p:cNvSpPr txBox="1"/>
          <p:nvPr/>
        </p:nvSpPr>
        <p:spPr bwMode="gray">
          <a:xfrm>
            <a:off x="3139363" y="4847881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Box 43">
            <a:extLst>
              <a:ext uri="{FF2B5EF4-FFF2-40B4-BE49-F238E27FC236}">
                <a16:creationId xmlns="" xmlns:a16="http://schemas.microsoft.com/office/drawing/2014/main" id="{B0F7A47E-8896-4CBE-96CE-A7BC97E2992A}"/>
              </a:ext>
            </a:extLst>
          </p:cNvPr>
          <p:cNvSpPr txBox="1"/>
          <p:nvPr/>
        </p:nvSpPr>
        <p:spPr bwMode="gray">
          <a:xfrm>
            <a:off x="5664333" y="4847881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TextBox 43">
            <a:extLst>
              <a:ext uri="{FF2B5EF4-FFF2-40B4-BE49-F238E27FC236}">
                <a16:creationId xmlns="" xmlns:a16="http://schemas.microsoft.com/office/drawing/2014/main" id="{05252388-54D5-40BB-AA12-E7F9595A902A}"/>
              </a:ext>
            </a:extLst>
          </p:cNvPr>
          <p:cNvSpPr txBox="1"/>
          <p:nvPr/>
        </p:nvSpPr>
        <p:spPr bwMode="gray">
          <a:xfrm>
            <a:off x="8275296" y="4847881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A172FE16-BFB0-49D2-B0D1-DE7FDEB671BB}"/>
              </a:ext>
            </a:extLst>
          </p:cNvPr>
          <p:cNvCxnSpPr/>
          <p:nvPr/>
        </p:nvCxnSpPr>
        <p:spPr bwMode="gray">
          <a:xfrm>
            <a:off x="4630019" y="3358200"/>
            <a:ext cx="251039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B3123FF9-A7A7-4BEF-A6D9-FE8D4082607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325395" y="3148522"/>
            <a:ext cx="540000" cy="4428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98B3E647-B00F-47D3-AF37-9C14DCA39CD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70411" y="3148522"/>
            <a:ext cx="540000" cy="442800"/>
          </a:xfrm>
          <a:prstGeom prst="rect">
            <a:avLst/>
          </a:prstGeom>
        </p:spPr>
      </p:pic>
      <p:sp>
        <p:nvSpPr>
          <p:cNvPr id="23" name="TextBox 43">
            <a:extLst>
              <a:ext uri="{FF2B5EF4-FFF2-40B4-BE49-F238E27FC236}">
                <a16:creationId xmlns="" xmlns:a16="http://schemas.microsoft.com/office/drawing/2014/main" id="{2052666E-E641-489E-8479-FA15AB9BB5F0}"/>
              </a:ext>
            </a:extLst>
          </p:cNvPr>
          <p:cNvSpPr txBox="1"/>
          <p:nvPr/>
        </p:nvSpPr>
        <p:spPr bwMode="gray">
          <a:xfrm>
            <a:off x="4409286" y="3591322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TextBox 43">
            <a:extLst>
              <a:ext uri="{FF2B5EF4-FFF2-40B4-BE49-F238E27FC236}">
                <a16:creationId xmlns="" xmlns:a16="http://schemas.microsoft.com/office/drawing/2014/main" id="{452F3C4D-D02D-4E15-A4F3-91FBB71EFE64}"/>
              </a:ext>
            </a:extLst>
          </p:cNvPr>
          <p:cNvSpPr txBox="1"/>
          <p:nvPr/>
        </p:nvSpPr>
        <p:spPr bwMode="gray">
          <a:xfrm>
            <a:off x="6954302" y="3567411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E7C4903A-1F4D-44A0-AAB7-2CB7998582EE}"/>
              </a:ext>
            </a:extLst>
          </p:cNvPr>
          <p:cNvCxnSpPr/>
          <p:nvPr/>
        </p:nvCxnSpPr>
        <p:spPr bwMode="gray">
          <a:xfrm>
            <a:off x="3122532" y="5744484"/>
            <a:ext cx="4008559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="" xmlns:a16="http://schemas.microsoft.com/office/drawing/2014/main" id="{E75C7F9B-E04A-4F99-98E8-DD731CE9590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29995" y="5526716"/>
            <a:ext cx="540000" cy="4428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="" xmlns:a16="http://schemas.microsoft.com/office/drawing/2014/main" id="{3BA017AF-96A8-495F-A4CD-030774A29AC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70411" y="5526716"/>
            <a:ext cx="540000" cy="442800"/>
          </a:xfrm>
          <a:prstGeom prst="rect">
            <a:avLst/>
          </a:prstGeom>
        </p:spPr>
      </p:pic>
      <p:sp>
        <p:nvSpPr>
          <p:cNvPr id="28" name="TextBox 43">
            <a:extLst>
              <a:ext uri="{FF2B5EF4-FFF2-40B4-BE49-F238E27FC236}">
                <a16:creationId xmlns="" xmlns:a16="http://schemas.microsoft.com/office/drawing/2014/main" id="{62CC104D-F984-4FB0-8876-928D6D1C4B69}"/>
              </a:ext>
            </a:extLst>
          </p:cNvPr>
          <p:cNvSpPr txBox="1"/>
          <p:nvPr/>
        </p:nvSpPr>
        <p:spPr bwMode="gray">
          <a:xfrm>
            <a:off x="3113886" y="5969516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TextBox 43">
            <a:extLst>
              <a:ext uri="{FF2B5EF4-FFF2-40B4-BE49-F238E27FC236}">
                <a16:creationId xmlns="" xmlns:a16="http://schemas.microsoft.com/office/drawing/2014/main" id="{D9894F04-6EBC-41A4-B584-0F3FB56994A2}"/>
              </a:ext>
            </a:extLst>
          </p:cNvPr>
          <p:cNvSpPr txBox="1"/>
          <p:nvPr/>
        </p:nvSpPr>
        <p:spPr bwMode="gray">
          <a:xfrm>
            <a:off x="6954302" y="5945605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Freeform 159">
            <a:extLst>
              <a:ext uri="{FF2B5EF4-FFF2-40B4-BE49-F238E27FC236}">
                <a16:creationId xmlns="" xmlns:a16="http://schemas.microsoft.com/office/drawing/2014/main" id="{F142CE79-06DC-4AFC-8975-AF02CAB90579}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633965" y="415585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AE00639C-806C-4FF1-82EF-EEA1703136BD}"/>
              </a:ext>
            </a:extLst>
          </p:cNvPr>
          <p:cNvSpPr txBox="1"/>
          <p:nvPr/>
        </p:nvSpPr>
        <p:spPr bwMode="gray">
          <a:xfrm>
            <a:off x="996570" y="4422451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Freeform 159">
            <a:extLst>
              <a:ext uri="{FF2B5EF4-FFF2-40B4-BE49-F238E27FC236}">
                <a16:creationId xmlns="" xmlns:a16="http://schemas.microsoft.com/office/drawing/2014/main" id="{B091CB66-A2C0-435D-814F-A6B037D8487C}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633965" y="5325306"/>
            <a:ext cx="1377387" cy="72000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63970AD7-1A60-4646-A167-0A3B32D012D7}"/>
              </a:ext>
            </a:extLst>
          </p:cNvPr>
          <p:cNvSpPr txBox="1"/>
          <p:nvPr/>
        </p:nvSpPr>
        <p:spPr bwMode="gray">
          <a:xfrm>
            <a:off x="996570" y="5591901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7" name="直接连接符 55">
            <a:extLst>
              <a:ext uri="{FF2B5EF4-FFF2-40B4-BE49-F238E27FC236}">
                <a16:creationId xmlns="" xmlns:a16="http://schemas.microsoft.com/office/drawing/2014/main" id="{A73FC759-5A9A-4DD7-BF6A-63E0327F9882}"/>
              </a:ext>
            </a:extLst>
          </p:cNvPr>
          <p:cNvCxnSpPr/>
          <p:nvPr/>
        </p:nvCxnSpPr>
        <p:spPr bwMode="gray">
          <a:xfrm rot="10800000" flipH="1">
            <a:off x="2034483" y="4322219"/>
            <a:ext cx="1039936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52CC4739-20C4-4F76-87B8-7BA03BB6B7CF}"/>
              </a:ext>
            </a:extLst>
          </p:cNvPr>
          <p:cNvSpPr txBox="1"/>
          <p:nvPr/>
        </p:nvSpPr>
        <p:spPr bwMode="gray">
          <a:xfrm>
            <a:off x="1802404" y="4024568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10.0.1.1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任意多边形 117">
            <a:extLst>
              <a:ext uri="{FF2B5EF4-FFF2-40B4-BE49-F238E27FC236}">
                <a16:creationId xmlns="" xmlns:a16="http://schemas.microsoft.com/office/drawing/2014/main" id="{DD1E9E3B-2F55-4062-AB0C-11E00AD58378}"/>
              </a:ext>
            </a:extLst>
          </p:cNvPr>
          <p:cNvSpPr/>
          <p:nvPr/>
        </p:nvSpPr>
        <p:spPr bwMode="gray">
          <a:xfrm>
            <a:off x="2140988" y="3798877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任意多边形 118">
            <a:extLst>
              <a:ext uri="{FF2B5EF4-FFF2-40B4-BE49-F238E27FC236}">
                <a16:creationId xmlns="" xmlns:a16="http://schemas.microsoft.com/office/drawing/2014/main" id="{4B4646BF-4358-43BE-ACFB-6B27F5EBC123}"/>
              </a:ext>
            </a:extLst>
          </p:cNvPr>
          <p:cNvSpPr/>
          <p:nvPr/>
        </p:nvSpPr>
        <p:spPr bwMode="gray">
          <a:xfrm>
            <a:off x="2500988" y="3798877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1" name="直接连接符 55">
            <a:extLst>
              <a:ext uri="{FF2B5EF4-FFF2-40B4-BE49-F238E27FC236}">
                <a16:creationId xmlns="" xmlns:a16="http://schemas.microsoft.com/office/drawing/2014/main" id="{24A33F12-4D41-4AAB-8E3F-C965843FC396}"/>
              </a:ext>
            </a:extLst>
          </p:cNvPr>
          <p:cNvCxnSpPr/>
          <p:nvPr/>
        </p:nvCxnSpPr>
        <p:spPr bwMode="gray">
          <a:xfrm rot="10800000" flipH="1">
            <a:off x="2034483" y="5450893"/>
            <a:ext cx="1039936" cy="0"/>
          </a:xfrm>
          <a:prstGeom prst="line">
            <a:avLst/>
          </a:prstGeom>
          <a:ln w="38100">
            <a:solidFill>
              <a:srgbClr val="62B23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5B33D269-148F-4AB7-AD59-6EC6811D1E09}"/>
              </a:ext>
            </a:extLst>
          </p:cNvPr>
          <p:cNvSpPr txBox="1"/>
          <p:nvPr/>
        </p:nvSpPr>
        <p:spPr bwMode="gray">
          <a:xfrm>
            <a:off x="1802404" y="5153242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目的：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10.0.2.1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任意多边形 122">
            <a:extLst>
              <a:ext uri="{FF2B5EF4-FFF2-40B4-BE49-F238E27FC236}">
                <a16:creationId xmlns="" xmlns:a16="http://schemas.microsoft.com/office/drawing/2014/main" id="{05E1C570-12BD-4762-95FE-3BB2AA2097DB}"/>
              </a:ext>
            </a:extLst>
          </p:cNvPr>
          <p:cNvSpPr/>
          <p:nvPr/>
        </p:nvSpPr>
        <p:spPr bwMode="gray">
          <a:xfrm>
            <a:off x="2140988" y="4927551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任意多边形 123">
            <a:extLst>
              <a:ext uri="{FF2B5EF4-FFF2-40B4-BE49-F238E27FC236}">
                <a16:creationId xmlns="" xmlns:a16="http://schemas.microsoft.com/office/drawing/2014/main" id="{38C739B0-0CD6-449E-9FD7-90A1BF17EBE4}"/>
              </a:ext>
            </a:extLst>
          </p:cNvPr>
          <p:cNvSpPr/>
          <p:nvPr/>
        </p:nvSpPr>
        <p:spPr bwMode="gray">
          <a:xfrm>
            <a:off x="2500988" y="4927551"/>
            <a:ext cx="360000" cy="216000"/>
          </a:xfrm>
          <a:custGeom>
            <a:avLst/>
            <a:gdLst>
              <a:gd name="connsiteX0" fmla="*/ 0 w 360000"/>
              <a:gd name="connsiteY0" fmla="*/ 0 h 216000"/>
              <a:gd name="connsiteX1" fmla="*/ 360000 w 360000"/>
              <a:gd name="connsiteY1" fmla="*/ 0 h 216000"/>
              <a:gd name="connsiteX2" fmla="*/ 360000 w 360000"/>
              <a:gd name="connsiteY2" fmla="*/ 216000 h 216000"/>
              <a:gd name="connsiteX3" fmla="*/ 0 w 360000"/>
              <a:gd name="connsiteY3" fmla="*/ 21600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000" h="216000">
                <a:moveTo>
                  <a:pt x="0" y="0"/>
                </a:moveTo>
                <a:lnTo>
                  <a:pt x="360000" y="0"/>
                </a:lnTo>
                <a:lnTo>
                  <a:pt x="360000" y="216000"/>
                </a:lnTo>
                <a:lnTo>
                  <a:pt x="0" y="216000"/>
                </a:lnTo>
                <a:close/>
              </a:path>
            </a:pathLst>
          </a:cu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="" xmlns:a16="http://schemas.microsoft.com/office/drawing/2014/main" id="{A37ABBA1-EA9E-4CBE-9A4F-0FE6FFED23F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89507" y="5523084"/>
            <a:ext cx="540000" cy="442800"/>
          </a:xfrm>
          <a:prstGeom prst="rect">
            <a:avLst/>
          </a:prstGeom>
        </p:spPr>
      </p:pic>
      <p:sp>
        <p:nvSpPr>
          <p:cNvPr id="46" name="TextBox 43">
            <a:extLst>
              <a:ext uri="{FF2B5EF4-FFF2-40B4-BE49-F238E27FC236}">
                <a16:creationId xmlns="" xmlns:a16="http://schemas.microsoft.com/office/drawing/2014/main" id="{B9C027D2-3C78-472D-A298-139DAD494064}"/>
              </a:ext>
            </a:extLst>
          </p:cNvPr>
          <p:cNvSpPr txBox="1"/>
          <p:nvPr/>
        </p:nvSpPr>
        <p:spPr bwMode="gray">
          <a:xfrm>
            <a:off x="4355937" y="5927784"/>
            <a:ext cx="372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任意多边形 31">
            <a:extLst>
              <a:ext uri="{FF2B5EF4-FFF2-40B4-BE49-F238E27FC236}">
                <a16:creationId xmlns="" xmlns:a16="http://schemas.microsoft.com/office/drawing/2014/main" id="{1379E30C-DC30-48F9-A171-A67EA039DF43}"/>
              </a:ext>
            </a:extLst>
          </p:cNvPr>
          <p:cNvSpPr/>
          <p:nvPr/>
        </p:nvSpPr>
        <p:spPr bwMode="gray">
          <a:xfrm>
            <a:off x="3296229" y="3201601"/>
            <a:ext cx="5105400" cy="1282700"/>
          </a:xfrm>
          <a:custGeom>
            <a:avLst/>
            <a:gdLst>
              <a:gd name="connsiteX0" fmla="*/ 0 w 5105400"/>
              <a:gd name="connsiteY0" fmla="*/ 1270000 h 1282700"/>
              <a:gd name="connsiteX1" fmla="*/ 1295400 w 5105400"/>
              <a:gd name="connsiteY1" fmla="*/ 0 h 1282700"/>
              <a:gd name="connsiteX2" fmla="*/ 3822700 w 5105400"/>
              <a:gd name="connsiteY2" fmla="*/ 12700 h 1282700"/>
              <a:gd name="connsiteX3" fmla="*/ 5105400 w 5105400"/>
              <a:gd name="connsiteY3" fmla="*/ 1282700 h 128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5400" h="1282700">
                <a:moveTo>
                  <a:pt x="0" y="1270000"/>
                </a:moveTo>
                <a:lnTo>
                  <a:pt x="1295400" y="0"/>
                </a:lnTo>
                <a:lnTo>
                  <a:pt x="3822700" y="12700"/>
                </a:lnTo>
                <a:lnTo>
                  <a:pt x="5105400" y="1282700"/>
                </a:lnTo>
              </a:path>
            </a:pathLst>
          </a:cu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任意多边形 126">
            <a:extLst>
              <a:ext uri="{FF2B5EF4-FFF2-40B4-BE49-F238E27FC236}">
                <a16:creationId xmlns="" xmlns:a16="http://schemas.microsoft.com/office/drawing/2014/main" id="{76BBA762-6B03-469E-A18E-8801F01DDBCF}"/>
              </a:ext>
            </a:extLst>
          </p:cNvPr>
          <p:cNvSpPr/>
          <p:nvPr/>
        </p:nvSpPr>
        <p:spPr bwMode="gray">
          <a:xfrm>
            <a:off x="3289300" y="4868190"/>
            <a:ext cx="5130800" cy="1104900"/>
          </a:xfrm>
          <a:custGeom>
            <a:avLst/>
            <a:gdLst>
              <a:gd name="connsiteX0" fmla="*/ 0 w 5130800"/>
              <a:gd name="connsiteY0" fmla="*/ 1092200 h 1104900"/>
              <a:gd name="connsiteX1" fmla="*/ 1257300 w 5130800"/>
              <a:gd name="connsiteY1" fmla="*/ 1104900 h 1104900"/>
              <a:gd name="connsiteX2" fmla="*/ 3886200 w 5130800"/>
              <a:gd name="connsiteY2" fmla="*/ 1104900 h 1104900"/>
              <a:gd name="connsiteX3" fmla="*/ 5130800 w 5130800"/>
              <a:gd name="connsiteY3" fmla="*/ 0 h 1104900"/>
              <a:gd name="connsiteX4" fmla="*/ 5130800 w 5130800"/>
              <a:gd name="connsiteY4" fmla="*/ 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0800" h="1104900">
                <a:moveTo>
                  <a:pt x="0" y="1092200"/>
                </a:moveTo>
                <a:lnTo>
                  <a:pt x="1257300" y="1104900"/>
                </a:lnTo>
                <a:lnTo>
                  <a:pt x="3886200" y="1104900"/>
                </a:lnTo>
                <a:lnTo>
                  <a:pt x="5130800" y="0"/>
                </a:lnTo>
                <a:lnTo>
                  <a:pt x="5130800" y="0"/>
                </a:lnTo>
              </a:path>
            </a:pathLst>
          </a:custGeom>
          <a:ln w="38100">
            <a:solidFill>
              <a:srgbClr val="62B23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B4E09CB3-22D3-4A23-B59C-849E737E92C3}"/>
              </a:ext>
            </a:extLst>
          </p:cNvPr>
          <p:cNvSpPr txBox="1"/>
          <p:nvPr/>
        </p:nvSpPr>
        <p:spPr bwMode="gray">
          <a:xfrm>
            <a:off x="3522450" y="3517025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ED7D3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LSP1</a:t>
            </a:r>
            <a:endParaRPr lang="zh-CN" altLang="en-US" sz="1200" b="1" dirty="0">
              <a:solidFill>
                <a:srgbClr val="ED7D3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FCF539C4-0DA9-49DF-B0B2-5C24268601E7}"/>
              </a:ext>
            </a:extLst>
          </p:cNvPr>
          <p:cNvSpPr txBox="1"/>
          <p:nvPr/>
        </p:nvSpPr>
        <p:spPr bwMode="gray">
          <a:xfrm>
            <a:off x="5382044" y="5695502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62B23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LSP2</a:t>
            </a:r>
            <a:endParaRPr lang="zh-CN" altLang="en-US" sz="1200" b="1" dirty="0">
              <a:solidFill>
                <a:srgbClr val="62B23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32">
            <a:extLst>
              <a:ext uri="{FF2B5EF4-FFF2-40B4-BE49-F238E27FC236}">
                <a16:creationId xmlns="" xmlns:a16="http://schemas.microsoft.com/office/drawing/2014/main" id="{91FE009B-8B53-4917-AB00-5ED025CBE995}"/>
              </a:ext>
            </a:extLst>
          </p:cNvPr>
          <p:cNvSpPr/>
          <p:nvPr/>
        </p:nvSpPr>
        <p:spPr bwMode="gray">
          <a:xfrm>
            <a:off x="10302587" y="5942099"/>
            <a:ext cx="1440000" cy="252000"/>
          </a:xfrm>
          <a:prstGeom prst="rect">
            <a:avLst/>
          </a:prstGeom>
          <a:solidFill>
            <a:srgbClr val="8BC9A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Packet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33">
            <a:extLst>
              <a:ext uri="{FF2B5EF4-FFF2-40B4-BE49-F238E27FC236}">
                <a16:creationId xmlns="" xmlns:a16="http://schemas.microsoft.com/office/drawing/2014/main" id="{2AA90F87-C115-4994-A69D-AAA25B37E521}"/>
              </a:ext>
            </a:extLst>
          </p:cNvPr>
          <p:cNvSpPr/>
          <p:nvPr/>
        </p:nvSpPr>
        <p:spPr bwMode="gray">
          <a:xfrm>
            <a:off x="8720301" y="5942099"/>
            <a:ext cx="1440000" cy="252000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 Header</a:t>
            </a:r>
            <a:endParaRPr lang="zh-CN" altLang="en-US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五边形 50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燕尾形 51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53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7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</a:t>
            </a:r>
            <a:r>
              <a:rPr lang="zh-CN" altLang="en-US" dirty="0">
                <a:sym typeface="Huawei Sans" panose="020C0503030203020204" pitchFamily="34" charset="0"/>
              </a:rPr>
              <a:t>术语介绍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="" xmlns:a16="http://schemas.microsoft.com/office/drawing/2014/main" id="{A8AD0858-ADCA-4F9A-A570-C2D65B236C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可通过静态配置和动态建立两种方式生成。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其中动态建立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又有两种常见的协议，</a:t>
            </a:r>
            <a:r>
              <a:rPr lang="en-US" altLang="zh-CN" sz="1600" dirty="0"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Label Distribution Protocol</a:t>
            </a:r>
            <a:r>
              <a:rPr lang="zh-CN" altLang="en-US" sz="1600" dirty="0">
                <a:sym typeface="Huawei Sans" panose="020C0503030203020204" pitchFamily="34" charset="0"/>
              </a:rPr>
              <a:t>，标签分发协议）和</a:t>
            </a:r>
            <a:r>
              <a:rPr lang="en-US" altLang="zh-CN" sz="1600" dirty="0">
                <a:sym typeface="Huawei Sans" panose="020C0503030203020204" pitchFamily="34" charset="0"/>
              </a:rPr>
              <a:t>RSVP-TE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Resource Reservation Protocol-Traffic Engineering</a:t>
            </a:r>
            <a:r>
              <a:rPr lang="zh-CN" altLang="en-US" sz="1600" dirty="0">
                <a:sym typeface="Huawei Sans" panose="020C0503030203020204" pitchFamily="34" charset="0"/>
              </a:rPr>
              <a:t>，资源预留协议）。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sp>
        <p:nvSpPr>
          <p:cNvPr id="69" name="圆角矩形 75">
            <a:extLst>
              <a:ext uri="{FF2B5EF4-FFF2-40B4-BE49-F238E27FC236}">
                <a16:creationId xmlns="" xmlns:a16="http://schemas.microsoft.com/office/drawing/2014/main" id="{0AA018DE-FCB3-48C1-A4BB-DA8505E1C1FC}"/>
              </a:ext>
            </a:extLst>
          </p:cNvPr>
          <p:cNvSpPr/>
          <p:nvPr/>
        </p:nvSpPr>
        <p:spPr bwMode="gray">
          <a:xfrm>
            <a:off x="574674" y="2337291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建立普通</a:t>
            </a:r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圆角矩形 75">
            <a:extLst>
              <a:ext uri="{FF2B5EF4-FFF2-40B4-BE49-F238E27FC236}">
                <a16:creationId xmlns="" xmlns:a16="http://schemas.microsoft.com/office/drawing/2014/main" id="{F7CF0C75-2014-47B3-A81A-A9E81B38B886}"/>
              </a:ext>
            </a:extLst>
          </p:cNvPr>
          <p:cNvSpPr/>
          <p:nvPr/>
        </p:nvSpPr>
        <p:spPr bwMode="gray">
          <a:xfrm>
            <a:off x="578630" y="2731310"/>
            <a:ext cx="5419725" cy="3329499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="" xmlns:a16="http://schemas.microsoft.com/office/drawing/2014/main" id="{B158CEB7-414F-44F7-BC09-0D962445D0E7}"/>
              </a:ext>
            </a:extLst>
          </p:cNvPr>
          <p:cNvSpPr txBox="1"/>
          <p:nvPr/>
        </p:nvSpPr>
        <p:spPr bwMode="gray">
          <a:xfrm>
            <a:off x="591330" y="2770764"/>
            <a:ext cx="5407025" cy="135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ym typeface="Huawei Sans" panose="020C0503030203020204" pitchFamily="34" charset="0"/>
              </a:rPr>
              <a:t>基于路由表从下游向上游路由器分配标签，建立普通</a:t>
            </a:r>
            <a:r>
              <a:rPr lang="en-US" altLang="zh-CN" sz="1400" dirty="0"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普通</a:t>
            </a:r>
            <a:r>
              <a:rPr lang="en-US" altLang="zh-CN" sz="1400" dirty="0"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ym typeface="Huawei Sans" panose="020C0503030203020204" pitchFamily="34" charset="0"/>
              </a:rPr>
              <a:t>通常是</a:t>
            </a:r>
            <a:r>
              <a:rPr lang="en-US" altLang="zh-CN" sz="1400" dirty="0"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ym typeface="Huawei Sans" panose="020C0503030203020204" pitchFamily="34" charset="0"/>
              </a:rPr>
              <a:t>计算的最短路径，不考虑带宽等因素，也缺少对隧道保护、流量优化的考虑。</a:t>
            </a:r>
          </a:p>
        </p:txBody>
      </p:sp>
      <p:sp>
        <p:nvSpPr>
          <p:cNvPr id="72" name="圆角矩形 75">
            <a:extLst>
              <a:ext uri="{FF2B5EF4-FFF2-40B4-BE49-F238E27FC236}">
                <a16:creationId xmlns="" xmlns:a16="http://schemas.microsoft.com/office/drawing/2014/main" id="{93556F8F-A7B9-4190-BC58-A960C08575FD}"/>
              </a:ext>
            </a:extLst>
          </p:cNvPr>
          <p:cNvSpPr/>
          <p:nvPr/>
        </p:nvSpPr>
        <p:spPr bwMode="gray">
          <a:xfrm>
            <a:off x="6223001" y="2337291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CR-LSP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圆角矩形 75">
            <a:extLst>
              <a:ext uri="{FF2B5EF4-FFF2-40B4-BE49-F238E27FC236}">
                <a16:creationId xmlns="" xmlns:a16="http://schemas.microsoft.com/office/drawing/2014/main" id="{875D4F59-B833-4649-9024-4F844923B289}"/>
              </a:ext>
            </a:extLst>
          </p:cNvPr>
          <p:cNvSpPr/>
          <p:nvPr/>
        </p:nvSpPr>
        <p:spPr bwMode="gray">
          <a:xfrm>
            <a:off x="6226957" y="2731310"/>
            <a:ext cx="5419725" cy="3329499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="" xmlns:a16="http://schemas.microsoft.com/office/drawing/2014/main" id="{7EC3BDAC-5ABB-4FC5-BCE2-E3D8DD033590}"/>
              </a:ext>
            </a:extLst>
          </p:cNvPr>
          <p:cNvSpPr txBox="1"/>
          <p:nvPr/>
        </p:nvSpPr>
        <p:spPr bwMode="gray">
          <a:xfrm>
            <a:off x="6239657" y="2770765"/>
            <a:ext cx="5407025" cy="1140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sym typeface="Huawei Sans" panose="020C0503030203020204" pitchFamily="34" charset="0"/>
              </a:rPr>
              <a:t>通过端到端隧道资源申请和预留的方式建立。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基于带宽约束或路径约束建立</a:t>
            </a:r>
            <a:r>
              <a:rPr lang="en-US" altLang="zh-CN" sz="1400" dirty="0"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ym typeface="Huawei Sans" panose="020C0503030203020204" pitchFamily="34" charset="0"/>
              </a:rPr>
              <a:t>，被称为</a:t>
            </a:r>
            <a:r>
              <a:rPr lang="en-US" altLang="zh-CN" sz="1400" dirty="0">
                <a:sym typeface="Huawei Sans" panose="020C0503030203020204" pitchFamily="34" charset="0"/>
              </a:rPr>
              <a:t>CR-LSP</a:t>
            </a:r>
            <a:r>
              <a:rPr lang="zh-CN" altLang="en-US" sz="1400" dirty="0"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ym typeface="Huawei Sans" panose="020C0503030203020204" pitchFamily="34" charset="0"/>
              </a:rPr>
              <a:t>Constraint-based Routed Label Switched Path</a:t>
            </a:r>
            <a:r>
              <a:rPr lang="zh-CN" altLang="en-US" sz="1400" dirty="0">
                <a:sym typeface="Huawei Sans" panose="020C0503030203020204" pitchFamily="34" charset="0"/>
              </a:rPr>
              <a:t>）。</a:t>
            </a:r>
          </a:p>
        </p:txBody>
      </p:sp>
      <p:pic>
        <p:nvPicPr>
          <p:cNvPr id="104" name="图片 103">
            <a:extLst>
              <a:ext uri="{FF2B5EF4-FFF2-40B4-BE49-F238E27FC236}">
                <a16:creationId xmlns="" xmlns:a16="http://schemas.microsoft.com/office/drawing/2014/main" id="{C837033A-5815-46EB-9CCC-C32242E79B4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22434" y="4640815"/>
            <a:ext cx="483096" cy="396139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="" xmlns:a16="http://schemas.microsoft.com/office/drawing/2014/main" id="{6B601532-046A-4547-9AAD-D44531F8718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24989" y="4640815"/>
            <a:ext cx="483096" cy="396139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="" xmlns:a16="http://schemas.microsoft.com/office/drawing/2014/main" id="{3F00B322-18B3-44A9-A56E-4FFA685FC2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27544" y="4640815"/>
            <a:ext cx="483096" cy="396139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="" xmlns:a16="http://schemas.microsoft.com/office/drawing/2014/main" id="{F671F6C3-7E62-4A6C-9E73-720E7C8A01A3}"/>
              </a:ext>
            </a:extLst>
          </p:cNvPr>
          <p:cNvCxnSpPr>
            <a:stCxn id="105" idx="1"/>
            <a:endCxn id="104" idx="3"/>
          </p:cNvCxnSpPr>
          <p:nvPr/>
        </p:nvCxnSpPr>
        <p:spPr bwMode="gray">
          <a:xfrm flipH="1">
            <a:off x="7305530" y="4838884"/>
            <a:ext cx="131945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接连接符 107">
            <a:extLst>
              <a:ext uri="{FF2B5EF4-FFF2-40B4-BE49-F238E27FC236}">
                <a16:creationId xmlns="" xmlns:a16="http://schemas.microsoft.com/office/drawing/2014/main" id="{6084543B-D67F-453B-AD0B-6A17B28BC5A9}"/>
              </a:ext>
            </a:extLst>
          </p:cNvPr>
          <p:cNvCxnSpPr>
            <a:stCxn id="106" idx="1"/>
            <a:endCxn id="105" idx="3"/>
          </p:cNvCxnSpPr>
          <p:nvPr/>
        </p:nvCxnSpPr>
        <p:spPr bwMode="gray">
          <a:xfrm flipH="1">
            <a:off x="9108085" y="4838884"/>
            <a:ext cx="131945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9" name="文本框 108">
            <a:extLst>
              <a:ext uri="{FF2B5EF4-FFF2-40B4-BE49-F238E27FC236}">
                <a16:creationId xmlns="" xmlns:a16="http://schemas.microsoft.com/office/drawing/2014/main" id="{1D3B55C3-9D8C-4C02-A3D9-96AE592A6DAD}"/>
              </a:ext>
            </a:extLst>
          </p:cNvPr>
          <p:cNvSpPr txBox="1"/>
          <p:nvPr/>
        </p:nvSpPr>
        <p:spPr bwMode="gray">
          <a:xfrm>
            <a:off x="6849326" y="4364925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="" xmlns:a16="http://schemas.microsoft.com/office/drawing/2014/main" id="{B37EF32C-FAF3-4577-B8C7-CB9EF6E92557}"/>
              </a:ext>
            </a:extLst>
          </p:cNvPr>
          <p:cNvSpPr txBox="1"/>
          <p:nvPr/>
        </p:nvSpPr>
        <p:spPr bwMode="gray">
          <a:xfrm>
            <a:off x="8651881" y="4364925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="" xmlns:a16="http://schemas.microsoft.com/office/drawing/2014/main" id="{3D9436F7-CF44-4455-9DF5-256F48EC4221}"/>
              </a:ext>
            </a:extLst>
          </p:cNvPr>
          <p:cNvSpPr txBox="1"/>
          <p:nvPr/>
        </p:nvSpPr>
        <p:spPr bwMode="gray">
          <a:xfrm>
            <a:off x="10454436" y="4374322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="" xmlns:a16="http://schemas.microsoft.com/office/drawing/2014/main" id="{E97D8532-B7BC-469B-8C02-DF7CA713EA24}"/>
              </a:ext>
            </a:extLst>
          </p:cNvPr>
          <p:cNvCxnSpPr/>
          <p:nvPr/>
        </p:nvCxnSpPr>
        <p:spPr bwMode="gray">
          <a:xfrm>
            <a:off x="7379898" y="5090078"/>
            <a:ext cx="1191638" cy="0"/>
          </a:xfrm>
          <a:prstGeom prst="straightConnector1">
            <a:avLst/>
          </a:prstGeom>
          <a:ln w="25400">
            <a:solidFill>
              <a:srgbClr val="EC706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="" xmlns:a16="http://schemas.microsoft.com/office/drawing/2014/main" id="{8AD6F834-377E-429B-A00E-A1CFBF5BC277}"/>
              </a:ext>
            </a:extLst>
          </p:cNvPr>
          <p:cNvCxnSpPr/>
          <p:nvPr/>
        </p:nvCxnSpPr>
        <p:spPr bwMode="gray">
          <a:xfrm>
            <a:off x="9171996" y="5156350"/>
            <a:ext cx="1191638" cy="0"/>
          </a:xfrm>
          <a:prstGeom prst="straightConnector1">
            <a:avLst/>
          </a:prstGeom>
          <a:ln w="25400">
            <a:solidFill>
              <a:srgbClr val="EC706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="" xmlns:a16="http://schemas.microsoft.com/office/drawing/2014/main" id="{DE6A2F53-1EDE-4723-BF88-2DF57F9E9568}"/>
              </a:ext>
            </a:extLst>
          </p:cNvPr>
          <p:cNvCxnSpPr>
            <a:cxnSpLocks/>
          </p:cNvCxnSpPr>
          <p:nvPr/>
        </p:nvCxnSpPr>
        <p:spPr bwMode="gray">
          <a:xfrm rot="10800000" flipV="1">
            <a:off x="9171996" y="5615347"/>
            <a:ext cx="1191638" cy="3204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="" xmlns:a16="http://schemas.microsoft.com/office/drawing/2014/main" id="{6EE1DB81-F2DB-4104-B961-B38CD66E1A7D}"/>
              </a:ext>
            </a:extLst>
          </p:cNvPr>
          <p:cNvCxnSpPr>
            <a:cxnSpLocks/>
          </p:cNvCxnSpPr>
          <p:nvPr/>
        </p:nvCxnSpPr>
        <p:spPr bwMode="gray">
          <a:xfrm rot="10800000" flipV="1">
            <a:off x="7379897" y="5622071"/>
            <a:ext cx="1191638" cy="3204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="" xmlns:a16="http://schemas.microsoft.com/office/drawing/2014/main" id="{FCF3D75C-32F6-4F0C-885B-87109F0E370B}"/>
              </a:ext>
            </a:extLst>
          </p:cNvPr>
          <p:cNvSpPr txBox="1"/>
          <p:nvPr/>
        </p:nvSpPr>
        <p:spPr bwMode="gray">
          <a:xfrm>
            <a:off x="7765074" y="5735623"/>
            <a:ext cx="23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逐跳保留资源、分配标签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右箭头 29">
            <a:extLst>
              <a:ext uri="{FF2B5EF4-FFF2-40B4-BE49-F238E27FC236}">
                <a16:creationId xmlns="" xmlns:a16="http://schemas.microsoft.com/office/drawing/2014/main" id="{3910232C-C8CF-481F-AFD5-06948F3CF6F6}"/>
              </a:ext>
            </a:extLst>
          </p:cNvPr>
          <p:cNvSpPr/>
          <p:nvPr/>
        </p:nvSpPr>
        <p:spPr bwMode="gray">
          <a:xfrm>
            <a:off x="7646724" y="4204956"/>
            <a:ext cx="2451113" cy="151439"/>
          </a:xfrm>
          <a:prstGeom prst="rightArrow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="" xmlns:a16="http://schemas.microsoft.com/office/drawing/2014/main" id="{1F63EAB3-F308-49C7-B009-3C8398FA982C}"/>
              </a:ext>
            </a:extLst>
          </p:cNvPr>
          <p:cNvSpPr txBox="1"/>
          <p:nvPr/>
        </p:nvSpPr>
        <p:spPr bwMode="gray">
          <a:xfrm>
            <a:off x="7705537" y="3911528"/>
            <a:ext cx="23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TE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CR-LSP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F0659D7E-B499-45D8-BDCD-BEDCC1170900}"/>
              </a:ext>
            </a:extLst>
          </p:cNvPr>
          <p:cNvGrpSpPr/>
          <p:nvPr/>
        </p:nvGrpSpPr>
        <p:grpSpPr bwMode="gray">
          <a:xfrm>
            <a:off x="7328277" y="5222622"/>
            <a:ext cx="3218122" cy="307777"/>
            <a:chOff x="7328277" y="5173547"/>
            <a:chExt cx="3218122" cy="307777"/>
          </a:xfrm>
        </p:grpSpPr>
        <p:sp>
          <p:nvSpPr>
            <p:cNvPr id="113" name="文本框 112">
              <a:extLst>
                <a:ext uri="{FF2B5EF4-FFF2-40B4-BE49-F238E27FC236}">
                  <a16:creationId xmlns="" xmlns:a16="http://schemas.microsoft.com/office/drawing/2014/main" id="{B4704F44-83F6-4DD6-802C-F552F9BB3DB0}"/>
                </a:ext>
              </a:extLst>
            </p:cNvPr>
            <p:cNvSpPr txBox="1"/>
            <p:nvPr/>
          </p:nvSpPr>
          <p:spPr bwMode="gray">
            <a:xfrm>
              <a:off x="7328277" y="5173547"/>
              <a:ext cx="139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隧道资源预留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="" xmlns:a16="http://schemas.microsoft.com/office/drawing/2014/main" id="{D39A6EAA-1975-46A8-9FF8-C763D208B379}"/>
                </a:ext>
              </a:extLst>
            </p:cNvPr>
            <p:cNvSpPr txBox="1"/>
            <p:nvPr/>
          </p:nvSpPr>
          <p:spPr bwMode="gray">
            <a:xfrm>
              <a:off x="9146595" y="5173547"/>
              <a:ext cx="13998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隧道资源预留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125" name="图片 124">
            <a:extLst>
              <a:ext uri="{FF2B5EF4-FFF2-40B4-BE49-F238E27FC236}">
                <a16:creationId xmlns="" xmlns:a16="http://schemas.microsoft.com/office/drawing/2014/main" id="{8E29CE3B-B627-47E0-9E0A-F4545AC7C20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70676" y="4818615"/>
            <a:ext cx="483096" cy="396139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="" xmlns:a16="http://schemas.microsoft.com/office/drawing/2014/main" id="{4C6E365D-7233-46DB-8CE1-FB36DD2149D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73231" y="4818615"/>
            <a:ext cx="483096" cy="396139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="" xmlns:a16="http://schemas.microsoft.com/office/drawing/2014/main" id="{9206555E-13B7-4E38-91CE-A1021F09D71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75786" y="4818615"/>
            <a:ext cx="483096" cy="396139"/>
          </a:xfrm>
          <a:prstGeom prst="rect">
            <a:avLst/>
          </a:prstGeom>
        </p:spPr>
      </p:pic>
      <p:cxnSp>
        <p:nvCxnSpPr>
          <p:cNvPr id="128" name="直接连接符 127">
            <a:extLst>
              <a:ext uri="{FF2B5EF4-FFF2-40B4-BE49-F238E27FC236}">
                <a16:creationId xmlns="" xmlns:a16="http://schemas.microsoft.com/office/drawing/2014/main" id="{C797D5A5-E423-4C0A-9B8C-2A0A6496DDAB}"/>
              </a:ext>
            </a:extLst>
          </p:cNvPr>
          <p:cNvCxnSpPr>
            <a:stCxn id="126" idx="1"/>
            <a:endCxn id="125" idx="3"/>
          </p:cNvCxnSpPr>
          <p:nvPr/>
        </p:nvCxnSpPr>
        <p:spPr bwMode="gray">
          <a:xfrm flipH="1">
            <a:off x="1653772" y="5016684"/>
            <a:ext cx="131945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9" name="直接连接符 128">
            <a:extLst>
              <a:ext uri="{FF2B5EF4-FFF2-40B4-BE49-F238E27FC236}">
                <a16:creationId xmlns="" xmlns:a16="http://schemas.microsoft.com/office/drawing/2014/main" id="{561AC405-55C1-4C2F-B174-B17384533C7A}"/>
              </a:ext>
            </a:extLst>
          </p:cNvPr>
          <p:cNvCxnSpPr>
            <a:stCxn id="127" idx="1"/>
            <a:endCxn id="126" idx="3"/>
          </p:cNvCxnSpPr>
          <p:nvPr/>
        </p:nvCxnSpPr>
        <p:spPr bwMode="gray">
          <a:xfrm flipH="1">
            <a:off x="3456327" y="5016684"/>
            <a:ext cx="131945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0" name="文本框 129">
            <a:extLst>
              <a:ext uri="{FF2B5EF4-FFF2-40B4-BE49-F238E27FC236}">
                <a16:creationId xmlns="" xmlns:a16="http://schemas.microsoft.com/office/drawing/2014/main" id="{2503F4D3-857C-4AF2-B7ED-D0DDE2359BCA}"/>
              </a:ext>
            </a:extLst>
          </p:cNvPr>
          <p:cNvSpPr txBox="1"/>
          <p:nvPr/>
        </p:nvSpPr>
        <p:spPr bwMode="gray">
          <a:xfrm>
            <a:off x="1197568" y="4542725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="" xmlns:a16="http://schemas.microsoft.com/office/drawing/2014/main" id="{EB42B42A-F40C-4938-B79D-4577AC17D374}"/>
              </a:ext>
            </a:extLst>
          </p:cNvPr>
          <p:cNvSpPr txBox="1"/>
          <p:nvPr/>
        </p:nvSpPr>
        <p:spPr bwMode="gray">
          <a:xfrm>
            <a:off x="3000123" y="4542725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="" xmlns:a16="http://schemas.microsoft.com/office/drawing/2014/main" id="{FED5FFEA-17AD-44AB-A673-28587A651D3C}"/>
              </a:ext>
            </a:extLst>
          </p:cNvPr>
          <p:cNvSpPr txBox="1"/>
          <p:nvPr/>
        </p:nvSpPr>
        <p:spPr bwMode="gray">
          <a:xfrm>
            <a:off x="4802678" y="4552122"/>
            <a:ext cx="494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右箭头 29">
            <a:extLst>
              <a:ext uri="{FF2B5EF4-FFF2-40B4-BE49-F238E27FC236}">
                <a16:creationId xmlns="" xmlns:a16="http://schemas.microsoft.com/office/drawing/2014/main" id="{8F5BF81C-E6F5-4A8A-8FF8-F49B8E0A6A04}"/>
              </a:ext>
            </a:extLst>
          </p:cNvPr>
          <p:cNvSpPr/>
          <p:nvPr/>
        </p:nvSpPr>
        <p:spPr bwMode="gray">
          <a:xfrm>
            <a:off x="1994966" y="4319256"/>
            <a:ext cx="2451113" cy="151439"/>
          </a:xfrm>
          <a:prstGeom prst="rightArrow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="" xmlns:a16="http://schemas.microsoft.com/office/drawing/2014/main" id="{CED5D75F-DFC2-470E-BCC1-9CF816DD6724}"/>
              </a:ext>
            </a:extLst>
          </p:cNvPr>
          <p:cNvSpPr txBox="1"/>
          <p:nvPr/>
        </p:nvSpPr>
        <p:spPr bwMode="gray">
          <a:xfrm>
            <a:off x="2692424" y="4024585"/>
            <a:ext cx="109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LSP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="" xmlns:a16="http://schemas.microsoft.com/office/drawing/2014/main" id="{31AAC06D-2209-4068-8EA0-AA45F2B4E309}"/>
              </a:ext>
            </a:extLst>
          </p:cNvPr>
          <p:cNvCxnSpPr>
            <a:cxnSpLocks/>
          </p:cNvCxnSpPr>
          <p:nvPr/>
        </p:nvCxnSpPr>
        <p:spPr bwMode="gray">
          <a:xfrm rot="10800000" flipV="1">
            <a:off x="3500431" y="5412731"/>
            <a:ext cx="1191638" cy="3204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="" xmlns:a16="http://schemas.microsoft.com/office/drawing/2014/main" id="{0D19C6DB-26D7-4DE5-96FE-B83623F94B26}"/>
              </a:ext>
            </a:extLst>
          </p:cNvPr>
          <p:cNvCxnSpPr>
            <a:cxnSpLocks/>
          </p:cNvCxnSpPr>
          <p:nvPr/>
        </p:nvCxnSpPr>
        <p:spPr bwMode="gray">
          <a:xfrm rot="10800000" flipV="1">
            <a:off x="1708332" y="5419455"/>
            <a:ext cx="1191638" cy="3204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="" xmlns:a16="http://schemas.microsoft.com/office/drawing/2014/main" id="{50FCFD0F-F80A-499E-8D09-5053188E4490}"/>
              </a:ext>
            </a:extLst>
          </p:cNvPr>
          <p:cNvSpPr txBox="1"/>
          <p:nvPr/>
        </p:nvSpPr>
        <p:spPr bwMode="gray">
          <a:xfrm>
            <a:off x="2345349" y="5609207"/>
            <a:ext cx="1993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下游向上游分配标签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五边形 40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41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42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4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E62E201E-27FC-40F5-93C5-EC1AA95FB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 LDP</a:t>
            </a:r>
            <a:r>
              <a:rPr lang="zh-CN" altLang="en-US" dirty="0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4AE73E94-DECF-4608-912E-DEBB7C8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LDP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的一种控制协议，负责</a:t>
            </a:r>
            <a:r>
              <a:rPr lang="en-US" altLang="zh-CN" sz="1800" dirty="0">
                <a:sym typeface="Huawei Sans" panose="020C0503030203020204" pitchFamily="34" charset="0"/>
              </a:rPr>
              <a:t>FEC</a:t>
            </a:r>
            <a:r>
              <a:rPr lang="zh-CN" altLang="en-US" sz="1800" dirty="0">
                <a:sym typeface="Huawei Sans" panose="020C0503030203020204" pitchFamily="34" charset="0"/>
              </a:rPr>
              <a:t>的分类、标签的分配以及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的建立和维护等操作。</a:t>
            </a:r>
            <a:r>
              <a:rPr lang="en-US" altLang="zh-CN" sz="1800" dirty="0">
                <a:sym typeface="Huawei Sans" panose="020C0503030203020204" pitchFamily="34" charset="0"/>
              </a:rPr>
              <a:t>LDP</a:t>
            </a:r>
            <a:r>
              <a:rPr lang="zh-CN" altLang="en-US" sz="1800" dirty="0">
                <a:sym typeface="Huawei Sans" panose="020C0503030203020204" pitchFamily="34" charset="0"/>
              </a:rPr>
              <a:t>规定了标签分发过程中的各种消息以及相关处理过程。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LDP</a:t>
            </a:r>
            <a:r>
              <a:rPr lang="zh-CN" altLang="en-US" sz="1800" dirty="0">
                <a:sym typeface="Huawei Sans" panose="020C0503030203020204" pitchFamily="34" charset="0"/>
              </a:rPr>
              <a:t>配置和维护相对简单，广泛应用于</a:t>
            </a:r>
            <a:r>
              <a:rPr lang="en-US" altLang="zh-CN" sz="1800" dirty="0">
                <a:sym typeface="Huawei Sans" panose="020C0503030203020204" pitchFamily="34" charset="0"/>
              </a:rPr>
              <a:t>BGP/MPLS IP VPN</a:t>
            </a:r>
            <a:r>
              <a:rPr lang="zh-CN" altLang="en-US" sz="1800" dirty="0">
                <a:sym typeface="Huawei Sans" panose="020C0503030203020204" pitchFamily="34" charset="0"/>
              </a:rPr>
              <a:t>场景下的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的创建。例如本图中运营商建设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广域承载网为客户提供跨省的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业务。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MPLS LDP</a:t>
            </a:r>
            <a:r>
              <a:rPr lang="zh-CN" altLang="en-US" sz="1800" dirty="0">
                <a:sym typeface="Huawei Sans" panose="020C0503030203020204" pitchFamily="34" charset="0"/>
              </a:rPr>
              <a:t> 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基于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最短路径建立，无法进行隧道转发路径规划。</a:t>
            </a:r>
          </a:p>
        </p:txBody>
      </p:sp>
      <p:sp>
        <p:nvSpPr>
          <p:cNvPr id="5" name="矩形: 圆角 59">
            <a:extLst>
              <a:ext uri="{FF2B5EF4-FFF2-40B4-BE49-F238E27FC236}">
                <a16:creationId xmlns="" xmlns:a16="http://schemas.microsoft.com/office/drawing/2014/main" id="{DF95138F-70A5-43A0-9DFB-B155A902CC18}"/>
              </a:ext>
            </a:extLst>
          </p:cNvPr>
          <p:cNvSpPr/>
          <p:nvPr/>
        </p:nvSpPr>
        <p:spPr bwMode="gray">
          <a:xfrm>
            <a:off x="7954440" y="4971656"/>
            <a:ext cx="1520157" cy="112775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: 圆角 59">
            <a:extLst>
              <a:ext uri="{FF2B5EF4-FFF2-40B4-BE49-F238E27FC236}">
                <a16:creationId xmlns="" xmlns:a16="http://schemas.microsoft.com/office/drawing/2014/main" id="{593013DC-37C3-4339-94FB-A0F8EC0D4857}"/>
              </a:ext>
            </a:extLst>
          </p:cNvPr>
          <p:cNvSpPr/>
          <p:nvPr/>
        </p:nvSpPr>
        <p:spPr bwMode="gray">
          <a:xfrm>
            <a:off x="2087942" y="4913635"/>
            <a:ext cx="1524099" cy="112775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: 圆角 59">
            <a:extLst>
              <a:ext uri="{FF2B5EF4-FFF2-40B4-BE49-F238E27FC236}">
                <a16:creationId xmlns="" xmlns:a16="http://schemas.microsoft.com/office/drawing/2014/main" id="{2FE4A727-6491-40F2-B695-62FC9F0857A3}"/>
              </a:ext>
            </a:extLst>
          </p:cNvPr>
          <p:cNvSpPr/>
          <p:nvPr/>
        </p:nvSpPr>
        <p:spPr bwMode="gray">
          <a:xfrm>
            <a:off x="2087942" y="3565939"/>
            <a:ext cx="1520157" cy="112775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: 圆角 59">
            <a:extLst>
              <a:ext uri="{FF2B5EF4-FFF2-40B4-BE49-F238E27FC236}">
                <a16:creationId xmlns="" xmlns:a16="http://schemas.microsoft.com/office/drawing/2014/main" id="{A42E1898-3134-4325-A294-AFE1B8E83326}"/>
              </a:ext>
            </a:extLst>
          </p:cNvPr>
          <p:cNvSpPr/>
          <p:nvPr/>
        </p:nvSpPr>
        <p:spPr bwMode="gray">
          <a:xfrm>
            <a:off x="7954440" y="3548374"/>
            <a:ext cx="1520157" cy="112775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100">
            <a:extLst>
              <a:ext uri="{FF2B5EF4-FFF2-40B4-BE49-F238E27FC236}">
                <a16:creationId xmlns="" xmlns:a16="http://schemas.microsoft.com/office/drawing/2014/main" id="{2B2AE2B7-C1AC-4529-84A0-035C79D6B347}"/>
              </a:ext>
            </a:extLst>
          </p:cNvPr>
          <p:cNvSpPr/>
          <p:nvPr/>
        </p:nvSpPr>
        <p:spPr bwMode="gray">
          <a:xfrm>
            <a:off x="4175647" y="3542966"/>
            <a:ext cx="3597722" cy="2496913"/>
          </a:xfrm>
          <a:prstGeom prst="roundRect">
            <a:avLst/>
          </a:prstGeom>
          <a:solidFill>
            <a:srgbClr val="F3FBFE"/>
          </a:solidFill>
          <a:ln w="28575" cap="flat" cmpd="sng" algn="ctr">
            <a:solidFill>
              <a:srgbClr val="99DFF9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8E8CC797-5CD2-4A25-9419-ED98DC2EC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933528" y="5324147"/>
            <a:ext cx="429179" cy="351146"/>
          </a:xfrm>
          <a:prstGeom prst="rect">
            <a:avLst/>
          </a:prstGeom>
          <a:noFill/>
        </p:spPr>
      </p:pic>
      <p:pic>
        <p:nvPicPr>
          <p:cNvPr id="11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81713ABD-A8ED-4D69-B830-B29E0A2D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933528" y="3695274"/>
            <a:ext cx="429179" cy="351146"/>
          </a:xfrm>
          <a:prstGeom prst="rect">
            <a:avLst/>
          </a:prstGeom>
          <a:noFill/>
        </p:spPr>
      </p:pic>
      <p:pic>
        <p:nvPicPr>
          <p:cNvPr id="12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58B12362-D742-4341-8AC8-D3FBE9521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59298" y="4536200"/>
            <a:ext cx="429179" cy="351146"/>
          </a:xfrm>
          <a:prstGeom prst="rect">
            <a:avLst/>
          </a:prstGeom>
          <a:noFill/>
        </p:spPr>
      </p:pic>
      <p:pic>
        <p:nvPicPr>
          <p:cNvPr id="13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CAE25D04-F174-4311-B50C-64A183542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61261" y="5324147"/>
            <a:ext cx="429179" cy="351146"/>
          </a:xfrm>
          <a:prstGeom prst="rect">
            <a:avLst/>
          </a:prstGeom>
          <a:noFill/>
        </p:spPr>
      </p:pic>
      <p:pic>
        <p:nvPicPr>
          <p:cNvPr id="14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E5419EF5-F44E-47C8-8120-466E2FBB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61261" y="3695274"/>
            <a:ext cx="429179" cy="351146"/>
          </a:xfrm>
          <a:prstGeom prst="rect">
            <a:avLst/>
          </a:prstGeom>
          <a:noFill/>
        </p:spPr>
      </p:pic>
      <p:pic>
        <p:nvPicPr>
          <p:cNvPr id="15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E69F2C00-BC6A-4272-B9D2-0B6E1695C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100549" y="4067348"/>
            <a:ext cx="429179" cy="351146"/>
          </a:xfrm>
          <a:prstGeom prst="rect">
            <a:avLst/>
          </a:prstGeom>
          <a:noFill/>
        </p:spPr>
      </p:pic>
      <p:pic>
        <p:nvPicPr>
          <p:cNvPr id="16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95F93D47-904C-4773-8C0D-B006BCFAF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44553" y="4067348"/>
            <a:ext cx="429179" cy="351146"/>
          </a:xfrm>
          <a:prstGeom prst="rect">
            <a:avLst/>
          </a:prstGeom>
          <a:noFill/>
        </p:spPr>
      </p:pic>
      <p:pic>
        <p:nvPicPr>
          <p:cNvPr id="17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071AE1A5-477E-4251-B31E-C87B02AF1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022551" y="4067348"/>
            <a:ext cx="429179" cy="351146"/>
          </a:xfrm>
          <a:prstGeom prst="rect">
            <a:avLst/>
          </a:prstGeom>
          <a:noFill/>
        </p:spPr>
      </p:pic>
      <p:pic>
        <p:nvPicPr>
          <p:cNvPr id="18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745A7CB3-2013-4998-863A-4504F15C1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129601" y="4941417"/>
            <a:ext cx="429179" cy="351146"/>
          </a:xfrm>
          <a:prstGeom prst="rect">
            <a:avLst/>
          </a:prstGeom>
          <a:noFill/>
        </p:spPr>
      </p:pic>
      <p:pic>
        <p:nvPicPr>
          <p:cNvPr id="19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E5413D28-8B2B-44F5-A88C-9CFAE9C4B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44553" y="4941417"/>
            <a:ext cx="429179" cy="351146"/>
          </a:xfrm>
          <a:prstGeom prst="rect">
            <a:avLst/>
          </a:prstGeom>
          <a:noFill/>
        </p:spPr>
      </p:pic>
      <p:pic>
        <p:nvPicPr>
          <p:cNvPr id="20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6ACFF3F8-FF7F-45B6-9972-23511FBF9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022551" y="4941417"/>
            <a:ext cx="429179" cy="351146"/>
          </a:xfrm>
          <a:prstGeom prst="rect">
            <a:avLst/>
          </a:prstGeom>
          <a:noFill/>
        </p:spPr>
      </p:pic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8D08326E-0263-4DEC-A529-45FE45D81A98}"/>
              </a:ext>
            </a:extLst>
          </p:cNvPr>
          <p:cNvCxnSpPr>
            <a:stCxn id="16" idx="1"/>
            <a:endCxn id="12" idx="3"/>
          </p:cNvCxnSpPr>
          <p:nvPr/>
        </p:nvCxnSpPr>
        <p:spPr bwMode="gray">
          <a:xfrm flipH="1">
            <a:off x="4388477" y="4242921"/>
            <a:ext cx="556076" cy="4688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="" xmlns:a16="http://schemas.microsoft.com/office/drawing/2014/main" id="{22EC0F13-D8C3-4769-938B-B3CFFA001DE9}"/>
              </a:ext>
            </a:extLst>
          </p:cNvPr>
          <p:cNvCxnSpPr>
            <a:stCxn id="17" idx="1"/>
            <a:endCxn id="16" idx="3"/>
          </p:cNvCxnSpPr>
          <p:nvPr/>
        </p:nvCxnSpPr>
        <p:spPr bwMode="gray">
          <a:xfrm flipH="1">
            <a:off x="5373731" y="4242921"/>
            <a:ext cx="6488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="" xmlns:a16="http://schemas.microsoft.com/office/drawing/2014/main" id="{5FDDBD90-6ACD-4107-B8EE-80F3EBE68819}"/>
              </a:ext>
            </a:extLst>
          </p:cNvPr>
          <p:cNvCxnSpPr>
            <a:stCxn id="16" idx="2"/>
            <a:endCxn id="19" idx="0"/>
          </p:cNvCxnSpPr>
          <p:nvPr/>
        </p:nvCxnSpPr>
        <p:spPr bwMode="gray">
          <a:xfrm>
            <a:off x="5159142" y="4418494"/>
            <a:ext cx="0" cy="5229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AA59D636-1E40-470D-81E8-A58A4C3422F8}"/>
              </a:ext>
            </a:extLst>
          </p:cNvPr>
          <p:cNvCxnSpPr>
            <a:stCxn id="19" idx="3"/>
            <a:endCxn id="20" idx="1"/>
          </p:cNvCxnSpPr>
          <p:nvPr/>
        </p:nvCxnSpPr>
        <p:spPr bwMode="gray">
          <a:xfrm>
            <a:off x="5373731" y="5116990"/>
            <a:ext cx="6488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B0C2FEB3-000E-4808-8B72-8D6B766BC93C}"/>
              </a:ext>
            </a:extLst>
          </p:cNvPr>
          <p:cNvCxnSpPr>
            <a:stCxn id="20" idx="0"/>
            <a:endCxn id="17" idx="2"/>
          </p:cNvCxnSpPr>
          <p:nvPr/>
        </p:nvCxnSpPr>
        <p:spPr bwMode="gray">
          <a:xfrm flipV="1">
            <a:off x="6237141" y="4418494"/>
            <a:ext cx="0" cy="5229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C31A9AC3-EE7C-4200-BF70-D8523C191E98}"/>
              </a:ext>
            </a:extLst>
          </p:cNvPr>
          <p:cNvCxnSpPr>
            <a:stCxn id="17" idx="3"/>
            <a:endCxn id="15" idx="1"/>
          </p:cNvCxnSpPr>
          <p:nvPr/>
        </p:nvCxnSpPr>
        <p:spPr bwMode="gray">
          <a:xfrm>
            <a:off x="6451730" y="4242921"/>
            <a:ext cx="6488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="" xmlns:a16="http://schemas.microsoft.com/office/drawing/2014/main" id="{14D80613-A6A1-486A-8F47-C7176CF426C7}"/>
              </a:ext>
            </a:extLst>
          </p:cNvPr>
          <p:cNvCxnSpPr>
            <a:stCxn id="20" idx="3"/>
            <a:endCxn id="18" idx="1"/>
          </p:cNvCxnSpPr>
          <p:nvPr/>
        </p:nvCxnSpPr>
        <p:spPr bwMode="gray">
          <a:xfrm>
            <a:off x="6451730" y="5116990"/>
            <a:ext cx="6778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="" xmlns:a16="http://schemas.microsoft.com/office/drawing/2014/main" id="{A4276E03-9E39-492E-A552-A6F129783619}"/>
              </a:ext>
            </a:extLst>
          </p:cNvPr>
          <p:cNvCxnSpPr>
            <a:stCxn id="15" idx="3"/>
            <a:endCxn id="14" idx="1"/>
          </p:cNvCxnSpPr>
          <p:nvPr/>
        </p:nvCxnSpPr>
        <p:spPr bwMode="gray">
          <a:xfrm flipV="1">
            <a:off x="7529728" y="3870847"/>
            <a:ext cx="731533" cy="3720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="" xmlns:a16="http://schemas.microsoft.com/office/drawing/2014/main" id="{E5ADB72F-DB7C-4D67-9270-C171724879CF}"/>
              </a:ext>
            </a:extLst>
          </p:cNvPr>
          <p:cNvCxnSpPr>
            <a:stCxn id="18" idx="3"/>
            <a:endCxn id="13" idx="1"/>
          </p:cNvCxnSpPr>
          <p:nvPr/>
        </p:nvCxnSpPr>
        <p:spPr bwMode="gray">
          <a:xfrm>
            <a:off x="7558780" y="5116990"/>
            <a:ext cx="702481" cy="3827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94F72F6D-7716-4B2B-8A31-B3DF02DF903C}"/>
              </a:ext>
            </a:extLst>
          </p:cNvPr>
          <p:cNvCxnSpPr>
            <a:stCxn id="12" idx="0"/>
            <a:endCxn id="11" idx="3"/>
          </p:cNvCxnSpPr>
          <p:nvPr/>
        </p:nvCxnSpPr>
        <p:spPr bwMode="gray">
          <a:xfrm flipH="1" flipV="1">
            <a:off x="3362707" y="3870847"/>
            <a:ext cx="811181" cy="6653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8906AEC2-DCBE-4F5A-BF45-DF15CF5DFDF1}"/>
              </a:ext>
            </a:extLst>
          </p:cNvPr>
          <p:cNvCxnSpPr>
            <a:stCxn id="12" idx="2"/>
            <a:endCxn id="10" idx="3"/>
          </p:cNvCxnSpPr>
          <p:nvPr/>
        </p:nvCxnSpPr>
        <p:spPr bwMode="gray">
          <a:xfrm flipH="1">
            <a:off x="3362707" y="4887346"/>
            <a:ext cx="811181" cy="6123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0EB6F7C0-9356-45A1-B4B8-3AAEB7966A2F}"/>
              </a:ext>
            </a:extLst>
          </p:cNvPr>
          <p:cNvSpPr txBox="1"/>
          <p:nvPr/>
        </p:nvSpPr>
        <p:spPr bwMode="gray">
          <a:xfrm>
            <a:off x="4844899" y="5627241"/>
            <a:ext cx="1949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VPN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广域承载网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1C3AB970-C3F6-4414-BFAD-E2097031DBAC}"/>
              </a:ext>
            </a:extLst>
          </p:cNvPr>
          <p:cNvSpPr txBox="1"/>
          <p:nvPr/>
        </p:nvSpPr>
        <p:spPr bwMode="gray">
          <a:xfrm>
            <a:off x="2097817" y="4125455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公司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省网络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3FF970AC-CAC2-4C18-8AAE-26832BEDEB0F}"/>
              </a:ext>
            </a:extLst>
          </p:cNvPr>
          <p:cNvSpPr txBox="1"/>
          <p:nvPr/>
        </p:nvSpPr>
        <p:spPr bwMode="gray">
          <a:xfrm>
            <a:off x="2095888" y="5471637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公司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省网络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B1C6116E-6452-442E-B1F8-134F3AA869E7}"/>
              </a:ext>
            </a:extLst>
          </p:cNvPr>
          <p:cNvSpPr txBox="1"/>
          <p:nvPr/>
        </p:nvSpPr>
        <p:spPr bwMode="gray">
          <a:xfrm>
            <a:off x="8657262" y="5525348"/>
            <a:ext cx="825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公司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Z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省网络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B0C21D77-0144-4390-B5C5-0440CE1059AE}"/>
              </a:ext>
            </a:extLst>
          </p:cNvPr>
          <p:cNvSpPr txBox="1"/>
          <p:nvPr/>
        </p:nvSpPr>
        <p:spPr bwMode="gray">
          <a:xfrm>
            <a:off x="8611084" y="4090521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公司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省网络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9902C8D6-5BA2-4653-A80E-D449CC997859}"/>
              </a:ext>
            </a:extLst>
          </p:cNvPr>
          <p:cNvCxnSpPr/>
          <p:nvPr/>
        </p:nvCxnSpPr>
        <p:spPr bwMode="gray">
          <a:xfrm>
            <a:off x="5373731" y="4242921"/>
            <a:ext cx="648820" cy="8740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D0E1C94D-5B9F-4E28-AF7F-D4F646F6943B}"/>
              </a:ext>
            </a:extLst>
          </p:cNvPr>
          <p:cNvCxnSpPr/>
          <p:nvPr/>
        </p:nvCxnSpPr>
        <p:spPr bwMode="gray">
          <a:xfrm flipV="1">
            <a:off x="5373731" y="4250725"/>
            <a:ext cx="648820" cy="8662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="" xmlns:a16="http://schemas.microsoft.com/office/drawing/2014/main" id="{AF97E80C-09EC-484F-836D-15A44B9F32F7}"/>
              </a:ext>
            </a:extLst>
          </p:cNvPr>
          <p:cNvCxnSpPr/>
          <p:nvPr/>
        </p:nvCxnSpPr>
        <p:spPr bwMode="gray">
          <a:xfrm>
            <a:off x="6451730" y="4242921"/>
            <a:ext cx="677871" cy="8740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="" xmlns:a16="http://schemas.microsoft.com/office/drawing/2014/main" id="{3F1BFB2F-60DC-4A8E-BF0D-BCBBA971B42A}"/>
              </a:ext>
            </a:extLst>
          </p:cNvPr>
          <p:cNvCxnSpPr>
            <a:cxnSpLocks/>
            <a:stCxn id="19" idx="1"/>
          </p:cNvCxnSpPr>
          <p:nvPr/>
        </p:nvCxnSpPr>
        <p:spPr bwMode="gray">
          <a:xfrm flipH="1" flipV="1">
            <a:off x="4414622" y="4717617"/>
            <a:ext cx="529931" cy="399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1">
            <a:extLst>
              <a:ext uri="{FF2B5EF4-FFF2-40B4-BE49-F238E27FC236}">
                <a16:creationId xmlns="" xmlns:a16="http://schemas.microsoft.com/office/drawing/2014/main" id="{B4193C4E-BB5E-4C2E-A382-8CAFFC31EB67}"/>
              </a:ext>
            </a:extLst>
          </p:cNvPr>
          <p:cNvSpPr/>
          <p:nvPr/>
        </p:nvSpPr>
        <p:spPr bwMode="gray">
          <a:xfrm rot="5400000">
            <a:off x="5021239" y="3082959"/>
            <a:ext cx="1660319" cy="3201401"/>
          </a:xfrm>
          <a:prstGeom prst="can">
            <a:avLst>
              <a:gd name="adj" fmla="val 55435"/>
            </a:avLst>
          </a:prstGeom>
          <a:solidFill>
            <a:schemeClr val="accent6">
              <a:lumMod val="20000"/>
              <a:lumOff val="80000"/>
              <a:alpha val="44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 bwMode="gray">
          <a:xfrm flipV="1">
            <a:off x="4490916" y="4520843"/>
            <a:ext cx="2742797" cy="14134"/>
          </a:xfrm>
          <a:prstGeom prst="straightConnector1">
            <a:avLst/>
          </a:prstGeom>
          <a:ln w="28575">
            <a:solidFill>
              <a:srgbClr val="F4B1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 bwMode="gray">
          <a:xfrm flipV="1">
            <a:off x="4490916" y="5361900"/>
            <a:ext cx="2742797" cy="14134"/>
          </a:xfrm>
          <a:prstGeom prst="straightConnector1">
            <a:avLst/>
          </a:prstGeom>
          <a:ln w="28575">
            <a:solidFill>
              <a:srgbClr val="8BC9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五边形 42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44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45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64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E62E201E-27FC-40F5-93C5-EC1AA95FB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MPLS TE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4AE73E94-DECF-4608-912E-DEBB7C8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技术和流量</a:t>
            </a:r>
            <a:r>
              <a:rPr lang="zh-CN" altLang="en-US" sz="1800">
                <a:sym typeface="Huawei Sans" panose="020C0503030203020204" pitchFamily="34" charset="0"/>
              </a:rPr>
              <a:t>工程</a:t>
            </a:r>
            <a:r>
              <a:rPr lang="zh-CN" altLang="en-US" sz="1800" smtClean="0">
                <a:sym typeface="Huawei Sans" panose="020C0503030203020204" pitchFamily="34" charset="0"/>
              </a:rPr>
              <a:t>的结合</a:t>
            </a:r>
            <a:r>
              <a:rPr lang="zh-CN" altLang="en-US" sz="1800" dirty="0">
                <a:sym typeface="Huawei Sans" panose="020C0503030203020204" pitchFamily="34" charset="0"/>
              </a:rPr>
              <a:t>。它支持对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业务进行路径规划、流量调优和故障保护等特性。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相比于</a:t>
            </a:r>
            <a:r>
              <a:rPr lang="en-US" altLang="zh-CN" sz="1800" dirty="0">
                <a:sym typeface="Huawei Sans" panose="020C0503030203020204" pitchFamily="34" charset="0"/>
              </a:rPr>
              <a:t>MPLS LDP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增强了对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流量的控制和保护。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sp>
        <p:nvSpPr>
          <p:cNvPr id="18" name="圆角矩形 75">
            <a:extLst>
              <a:ext uri="{FF2B5EF4-FFF2-40B4-BE49-F238E27FC236}">
                <a16:creationId xmlns="" xmlns:a16="http://schemas.microsoft.com/office/drawing/2014/main" id="{62DAF8B5-ACA8-42C7-9A6D-02173D2977E4}"/>
              </a:ext>
            </a:extLst>
          </p:cNvPr>
          <p:cNvSpPr/>
          <p:nvPr/>
        </p:nvSpPr>
        <p:spPr bwMode="gray">
          <a:xfrm>
            <a:off x="566451" y="2529399"/>
            <a:ext cx="3373815" cy="334504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路径规划</a:t>
            </a:r>
          </a:p>
        </p:txBody>
      </p:sp>
      <p:sp>
        <p:nvSpPr>
          <p:cNvPr id="19" name="圆角矩形 75">
            <a:extLst>
              <a:ext uri="{FF2B5EF4-FFF2-40B4-BE49-F238E27FC236}">
                <a16:creationId xmlns="" xmlns:a16="http://schemas.microsoft.com/office/drawing/2014/main" id="{38A7EB97-183D-4425-84C7-1133DBED7414}"/>
              </a:ext>
            </a:extLst>
          </p:cNvPr>
          <p:cNvSpPr/>
          <p:nvPr/>
        </p:nvSpPr>
        <p:spPr bwMode="gray">
          <a:xfrm>
            <a:off x="566450" y="2914508"/>
            <a:ext cx="3373815" cy="3082058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82D47089-50D7-47F2-8BCB-F787C63215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2146" y="3362059"/>
            <a:ext cx="462889" cy="374037"/>
          </a:xfrm>
          <a:prstGeom prst="rect">
            <a:avLst/>
          </a:prstGeom>
        </p:spPr>
      </p:pic>
      <p:sp>
        <p:nvSpPr>
          <p:cNvPr id="21" name="圆角矩形 75">
            <a:extLst>
              <a:ext uri="{FF2B5EF4-FFF2-40B4-BE49-F238E27FC236}">
                <a16:creationId xmlns="" xmlns:a16="http://schemas.microsoft.com/office/drawing/2014/main" id="{0EAF3E94-7AB8-44DE-B70C-3FC74AAD00CE}"/>
              </a:ext>
            </a:extLst>
          </p:cNvPr>
          <p:cNvSpPr/>
          <p:nvPr/>
        </p:nvSpPr>
        <p:spPr bwMode="gray">
          <a:xfrm>
            <a:off x="4110930" y="2529399"/>
            <a:ext cx="3614096" cy="334504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流量调优</a:t>
            </a:r>
          </a:p>
        </p:txBody>
      </p:sp>
      <p:sp>
        <p:nvSpPr>
          <p:cNvPr id="22" name="圆角矩形 75">
            <a:extLst>
              <a:ext uri="{FF2B5EF4-FFF2-40B4-BE49-F238E27FC236}">
                <a16:creationId xmlns="" xmlns:a16="http://schemas.microsoft.com/office/drawing/2014/main" id="{523101EF-F7DD-4E89-ADDE-F577B08C647D}"/>
              </a:ext>
            </a:extLst>
          </p:cNvPr>
          <p:cNvSpPr/>
          <p:nvPr/>
        </p:nvSpPr>
        <p:spPr bwMode="gray">
          <a:xfrm>
            <a:off x="4110929" y="2914508"/>
            <a:ext cx="3614096" cy="3082058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3" name="圆角矩形 75">
            <a:extLst>
              <a:ext uri="{FF2B5EF4-FFF2-40B4-BE49-F238E27FC236}">
                <a16:creationId xmlns="" xmlns:a16="http://schemas.microsoft.com/office/drawing/2014/main" id="{9D1523F8-3ED6-4C42-83B0-B0E7096DDC37}"/>
              </a:ext>
            </a:extLst>
          </p:cNvPr>
          <p:cNvSpPr/>
          <p:nvPr/>
        </p:nvSpPr>
        <p:spPr bwMode="gray">
          <a:xfrm>
            <a:off x="7917623" y="2529398"/>
            <a:ext cx="3373814" cy="334504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故障保护</a:t>
            </a:r>
          </a:p>
        </p:txBody>
      </p:sp>
      <p:sp>
        <p:nvSpPr>
          <p:cNvPr id="24" name="圆角矩形 75">
            <a:extLst>
              <a:ext uri="{FF2B5EF4-FFF2-40B4-BE49-F238E27FC236}">
                <a16:creationId xmlns="" xmlns:a16="http://schemas.microsoft.com/office/drawing/2014/main" id="{33AA64A4-0FD1-4319-BB4D-5EB54953B286}"/>
              </a:ext>
            </a:extLst>
          </p:cNvPr>
          <p:cNvSpPr/>
          <p:nvPr/>
        </p:nvSpPr>
        <p:spPr bwMode="gray">
          <a:xfrm>
            <a:off x="7917622" y="2914507"/>
            <a:ext cx="3373815" cy="3082057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="" xmlns:a16="http://schemas.microsoft.com/office/drawing/2014/main" id="{B2D01DA9-3338-4A05-B279-5794849A2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42414" y="3362058"/>
            <a:ext cx="462889" cy="37403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="" xmlns:a16="http://schemas.microsoft.com/office/drawing/2014/main" id="{5FCE6BED-35ED-4514-90C8-C4EA9E97DA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47191" y="4520654"/>
            <a:ext cx="462889" cy="374037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="" xmlns:a16="http://schemas.microsoft.com/office/drawing/2014/main" id="{BFE2FA7D-C32F-4528-8BC3-81B195730F3A}"/>
              </a:ext>
            </a:extLst>
          </p:cNvPr>
          <p:cNvCxnSpPr>
            <a:stCxn id="20" idx="3"/>
            <a:endCxn id="25" idx="1"/>
          </p:cNvCxnSpPr>
          <p:nvPr/>
        </p:nvCxnSpPr>
        <p:spPr bwMode="gray">
          <a:xfrm>
            <a:off x="1405036" y="3549076"/>
            <a:ext cx="153737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="" xmlns:a16="http://schemas.microsoft.com/office/drawing/2014/main" id="{8E20BAD8-D4DE-43F2-8C03-1CD5FF57FC00}"/>
              </a:ext>
            </a:extLst>
          </p:cNvPr>
          <p:cNvCxnSpPr>
            <a:stCxn id="20" idx="2"/>
            <a:endCxn id="26" idx="0"/>
          </p:cNvCxnSpPr>
          <p:nvPr/>
        </p:nvCxnSpPr>
        <p:spPr bwMode="gray">
          <a:xfrm>
            <a:off x="1173591" y="3736095"/>
            <a:ext cx="1005044" cy="7845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="" xmlns:a16="http://schemas.microsoft.com/office/drawing/2014/main" id="{A94F9288-6649-423D-A133-C99F23DC2604}"/>
              </a:ext>
            </a:extLst>
          </p:cNvPr>
          <p:cNvCxnSpPr>
            <a:stCxn id="26" idx="0"/>
            <a:endCxn id="25" idx="2"/>
          </p:cNvCxnSpPr>
          <p:nvPr/>
        </p:nvCxnSpPr>
        <p:spPr bwMode="gray">
          <a:xfrm flipV="1">
            <a:off x="2178635" y="3736095"/>
            <a:ext cx="995224" cy="7845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0" name="图片 29">
            <a:extLst>
              <a:ext uri="{FF2B5EF4-FFF2-40B4-BE49-F238E27FC236}">
                <a16:creationId xmlns="" xmlns:a16="http://schemas.microsoft.com/office/drawing/2014/main" id="{F84B5A74-54A8-4E77-948F-9681FD995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38504" y="3260458"/>
            <a:ext cx="462889" cy="37403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="" xmlns:a16="http://schemas.microsoft.com/office/drawing/2014/main" id="{8459CD5A-C270-480D-852A-D8CF7E8981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867372" y="3260458"/>
            <a:ext cx="462889" cy="374037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="" xmlns:a16="http://schemas.microsoft.com/office/drawing/2014/main" id="{049B548B-F80F-4FE7-B4A1-6A126AC367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70548" y="4533354"/>
            <a:ext cx="462889" cy="374037"/>
          </a:xfrm>
          <a:prstGeom prst="rect">
            <a:avLst/>
          </a:prstGeom>
        </p:spPr>
      </p:pic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15DB885C-EE18-4A30-AAC6-1F3836903305}"/>
              </a:ext>
            </a:extLst>
          </p:cNvPr>
          <p:cNvCxnSpPr>
            <a:stCxn id="30" idx="2"/>
            <a:endCxn id="32" idx="0"/>
          </p:cNvCxnSpPr>
          <p:nvPr/>
        </p:nvCxnSpPr>
        <p:spPr bwMode="gray">
          <a:xfrm>
            <a:off x="4869949" y="3634495"/>
            <a:ext cx="1132044" cy="8988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="" xmlns:a16="http://schemas.microsoft.com/office/drawing/2014/main" id="{45B0F45F-30A3-4C7B-A4D4-98FB99A905C0}"/>
              </a:ext>
            </a:extLst>
          </p:cNvPr>
          <p:cNvCxnSpPr>
            <a:stCxn id="32" idx="0"/>
            <a:endCxn id="31" idx="2"/>
          </p:cNvCxnSpPr>
          <p:nvPr/>
        </p:nvCxnSpPr>
        <p:spPr bwMode="gray">
          <a:xfrm flipV="1">
            <a:off x="6001993" y="3634495"/>
            <a:ext cx="1096824" cy="8988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="" xmlns:a16="http://schemas.microsoft.com/office/drawing/2014/main" id="{0B631D9C-AB30-442D-821A-2DE137F08877}"/>
              </a:ext>
            </a:extLst>
          </p:cNvPr>
          <p:cNvCxnSpPr/>
          <p:nvPr/>
        </p:nvCxnSpPr>
        <p:spPr bwMode="gray">
          <a:xfrm>
            <a:off x="1540890" y="3362058"/>
            <a:ext cx="1255850" cy="3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115B73CA-8851-446F-B7D6-D1D91F383D74}"/>
              </a:ext>
            </a:extLst>
          </p:cNvPr>
          <p:cNvSpPr txBox="1"/>
          <p:nvPr/>
        </p:nvSpPr>
        <p:spPr bwMode="gray">
          <a:xfrm>
            <a:off x="736467" y="4956629"/>
            <a:ext cx="2782659" cy="709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不同业务规划不同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="" xmlns:a16="http://schemas.microsoft.com/office/drawing/2014/main" id="{D08D9D63-5118-4847-B103-229EAFE69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60728" y="3263926"/>
            <a:ext cx="462889" cy="374037"/>
          </a:xfrm>
          <a:prstGeom prst="rect">
            <a:avLst/>
          </a:prstGeom>
        </p:spPr>
      </p:pic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DCA5815D-A03B-4B8C-ADB4-A7FB56EED388}"/>
              </a:ext>
            </a:extLst>
          </p:cNvPr>
          <p:cNvCxnSpPr>
            <a:stCxn id="30" idx="3"/>
            <a:endCxn id="37" idx="1"/>
          </p:cNvCxnSpPr>
          <p:nvPr/>
        </p:nvCxnSpPr>
        <p:spPr bwMode="gray">
          <a:xfrm>
            <a:off x="5101393" y="3447477"/>
            <a:ext cx="659335" cy="34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="" xmlns:a16="http://schemas.microsoft.com/office/drawing/2014/main" id="{26FC7665-5887-4E54-A85E-344C93915776}"/>
              </a:ext>
            </a:extLst>
          </p:cNvPr>
          <p:cNvCxnSpPr>
            <a:stCxn id="37" idx="3"/>
            <a:endCxn id="31" idx="1"/>
          </p:cNvCxnSpPr>
          <p:nvPr/>
        </p:nvCxnSpPr>
        <p:spPr bwMode="gray">
          <a:xfrm flipV="1">
            <a:off x="6223617" y="3447477"/>
            <a:ext cx="643755" cy="34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0" name="图片 39">
            <a:extLst>
              <a:ext uri="{FF2B5EF4-FFF2-40B4-BE49-F238E27FC236}">
                <a16:creationId xmlns="" xmlns:a16="http://schemas.microsoft.com/office/drawing/2014/main" id="{63A2260F-946F-45D4-A7F6-01DD1FCAF0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26377" y="3265295"/>
            <a:ext cx="462889" cy="37403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="" xmlns:a16="http://schemas.microsoft.com/office/drawing/2014/main" id="{4E22FAAC-561B-48E6-803B-EA8FB3502D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326645" y="3265295"/>
            <a:ext cx="462889" cy="37403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="" xmlns:a16="http://schemas.microsoft.com/office/drawing/2014/main" id="{9B096C9C-F9E9-4E8C-9DF9-6337B8B19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31421" y="4525491"/>
            <a:ext cx="462889" cy="374037"/>
          </a:xfrm>
          <a:prstGeom prst="rect">
            <a:avLst/>
          </a:prstGeom>
        </p:spPr>
      </p:pic>
      <p:cxnSp>
        <p:nvCxnSpPr>
          <p:cNvPr id="43" name="直接连接符 42">
            <a:extLst>
              <a:ext uri="{FF2B5EF4-FFF2-40B4-BE49-F238E27FC236}">
                <a16:creationId xmlns="" xmlns:a16="http://schemas.microsoft.com/office/drawing/2014/main" id="{1234AA26-480D-40B6-947A-2F8F54C99B6A}"/>
              </a:ext>
            </a:extLst>
          </p:cNvPr>
          <p:cNvCxnSpPr>
            <a:stCxn id="40" idx="2"/>
            <a:endCxn id="42" idx="0"/>
          </p:cNvCxnSpPr>
          <p:nvPr/>
        </p:nvCxnSpPr>
        <p:spPr bwMode="gray">
          <a:xfrm>
            <a:off x="8557822" y="3639332"/>
            <a:ext cx="1005044" cy="8861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直接连接符 43">
            <a:extLst>
              <a:ext uri="{FF2B5EF4-FFF2-40B4-BE49-F238E27FC236}">
                <a16:creationId xmlns="" xmlns:a16="http://schemas.microsoft.com/office/drawing/2014/main" id="{419400C4-FACE-4E46-89B1-56659083BBC8}"/>
              </a:ext>
            </a:extLst>
          </p:cNvPr>
          <p:cNvCxnSpPr>
            <a:stCxn id="42" idx="0"/>
            <a:endCxn id="41" idx="2"/>
          </p:cNvCxnSpPr>
          <p:nvPr/>
        </p:nvCxnSpPr>
        <p:spPr bwMode="gray">
          <a:xfrm flipV="1">
            <a:off x="9562866" y="3639332"/>
            <a:ext cx="995224" cy="88615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5" name="图片 44">
            <a:extLst>
              <a:ext uri="{FF2B5EF4-FFF2-40B4-BE49-F238E27FC236}">
                <a16:creationId xmlns="" xmlns:a16="http://schemas.microsoft.com/office/drawing/2014/main" id="{7E6C1925-0CBC-405D-92DF-180A19E38A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21601" y="3268762"/>
            <a:ext cx="462889" cy="374037"/>
          </a:xfrm>
          <a:prstGeom prst="rect">
            <a:avLst/>
          </a:prstGeom>
        </p:spPr>
      </p:pic>
      <p:cxnSp>
        <p:nvCxnSpPr>
          <p:cNvPr id="46" name="直接连接符 45">
            <a:extLst>
              <a:ext uri="{FF2B5EF4-FFF2-40B4-BE49-F238E27FC236}">
                <a16:creationId xmlns="" xmlns:a16="http://schemas.microsoft.com/office/drawing/2014/main" id="{B79C4AFA-26A5-4734-965D-B93A9DF5DF07}"/>
              </a:ext>
            </a:extLst>
          </p:cNvPr>
          <p:cNvCxnSpPr>
            <a:stCxn id="40" idx="3"/>
            <a:endCxn id="45" idx="1"/>
          </p:cNvCxnSpPr>
          <p:nvPr/>
        </p:nvCxnSpPr>
        <p:spPr bwMode="gray">
          <a:xfrm>
            <a:off x="8789266" y="3452313"/>
            <a:ext cx="532335" cy="34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3FFD7A52-0B07-4DFF-9F83-A3212D215DF7}"/>
              </a:ext>
            </a:extLst>
          </p:cNvPr>
          <p:cNvCxnSpPr>
            <a:stCxn id="45" idx="3"/>
            <a:endCxn id="41" idx="1"/>
          </p:cNvCxnSpPr>
          <p:nvPr/>
        </p:nvCxnSpPr>
        <p:spPr bwMode="gray">
          <a:xfrm flipV="1">
            <a:off x="9784490" y="3452313"/>
            <a:ext cx="542155" cy="34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352">
            <a:extLst>
              <a:ext uri="{FF2B5EF4-FFF2-40B4-BE49-F238E27FC236}">
                <a16:creationId xmlns="" xmlns:a16="http://schemas.microsoft.com/office/drawing/2014/main" id="{401E2C65-22B0-4CAD-8C06-2378FD0BBF84}"/>
              </a:ext>
            </a:extLst>
          </p:cNvPr>
          <p:cNvCxnSpPr/>
          <p:nvPr/>
        </p:nvCxnSpPr>
        <p:spPr bwMode="gray">
          <a:xfrm>
            <a:off x="5283993" y="3447477"/>
            <a:ext cx="395548" cy="0"/>
          </a:xfrm>
          <a:prstGeom prst="line">
            <a:avLst/>
          </a:prstGeom>
          <a:noFill/>
          <a:ln w="142875"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Connector 352">
            <a:extLst>
              <a:ext uri="{FF2B5EF4-FFF2-40B4-BE49-F238E27FC236}">
                <a16:creationId xmlns="" xmlns:a16="http://schemas.microsoft.com/office/drawing/2014/main" id="{3C1AA485-231E-4EFC-8A7D-E7DF178E639C}"/>
              </a:ext>
            </a:extLst>
          </p:cNvPr>
          <p:cNvCxnSpPr/>
          <p:nvPr/>
        </p:nvCxnSpPr>
        <p:spPr bwMode="gray">
          <a:xfrm>
            <a:off x="6295841" y="3455780"/>
            <a:ext cx="395548" cy="0"/>
          </a:xfrm>
          <a:prstGeom prst="line">
            <a:avLst/>
          </a:prstGeom>
          <a:noFill/>
          <a:ln w="142875"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997D37DB-241E-4599-80DE-355049B74A9E}"/>
              </a:ext>
            </a:extLst>
          </p:cNvPr>
          <p:cNvCxnSpPr/>
          <p:nvPr/>
        </p:nvCxnSpPr>
        <p:spPr bwMode="gray">
          <a:xfrm rot="2340000">
            <a:off x="1005388" y="4204395"/>
            <a:ext cx="925777" cy="3467"/>
          </a:xfrm>
          <a:prstGeom prst="straightConnector1">
            <a:avLst/>
          </a:prstGeom>
          <a:ln w="3810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="" xmlns:a16="http://schemas.microsoft.com/office/drawing/2014/main" id="{949BD2E9-C81D-4DED-8345-629E4FA1BCCC}"/>
              </a:ext>
            </a:extLst>
          </p:cNvPr>
          <p:cNvCxnSpPr/>
          <p:nvPr/>
        </p:nvCxnSpPr>
        <p:spPr bwMode="gray">
          <a:xfrm rot="19200000">
            <a:off x="2362105" y="4204589"/>
            <a:ext cx="925777" cy="3467"/>
          </a:xfrm>
          <a:prstGeom prst="straightConnector1">
            <a:avLst/>
          </a:prstGeom>
          <a:ln w="3810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="" xmlns:a16="http://schemas.microsoft.com/office/drawing/2014/main" id="{2DF64DD5-37A4-4866-8959-62EA260801E2}"/>
              </a:ext>
            </a:extLst>
          </p:cNvPr>
          <p:cNvCxnSpPr>
            <a:cxnSpLocks/>
          </p:cNvCxnSpPr>
          <p:nvPr/>
        </p:nvCxnSpPr>
        <p:spPr bwMode="gray">
          <a:xfrm>
            <a:off x="4882649" y="3913476"/>
            <a:ext cx="724067" cy="556459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="" xmlns:a16="http://schemas.microsoft.com/office/drawing/2014/main" id="{E02C5949-EDA9-4073-ABB0-85110F953BF7}"/>
              </a:ext>
            </a:extLst>
          </p:cNvPr>
          <p:cNvCxnSpPr>
            <a:cxnSpLocks/>
          </p:cNvCxnSpPr>
          <p:nvPr/>
        </p:nvCxnSpPr>
        <p:spPr bwMode="gray">
          <a:xfrm flipV="1">
            <a:off x="6371870" y="3861314"/>
            <a:ext cx="740130" cy="599367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="" xmlns:a16="http://schemas.microsoft.com/office/drawing/2014/main" id="{CCBFB7B4-2247-440A-A7BD-70DC797ED1CE}"/>
              </a:ext>
            </a:extLst>
          </p:cNvPr>
          <p:cNvSpPr txBox="1"/>
          <p:nvPr/>
        </p:nvSpPr>
        <p:spPr bwMode="gray">
          <a:xfrm>
            <a:off x="4186483" y="4804230"/>
            <a:ext cx="34623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当重大事件，直播等导致流量不均衡时，将流量均衡分配至空载链路。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="" xmlns:a16="http://schemas.microsoft.com/office/drawing/2014/main" id="{94A3FD83-2046-4C40-B3AF-4E77910A3E34}"/>
              </a:ext>
            </a:extLst>
          </p:cNvPr>
          <p:cNvSpPr txBox="1"/>
          <p:nvPr/>
        </p:nvSpPr>
        <p:spPr bwMode="gray">
          <a:xfrm>
            <a:off x="7927360" y="4931229"/>
            <a:ext cx="33738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设备或链路故障后的快速切换保护。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6" name="组合 28">
            <a:extLst>
              <a:ext uri="{FF2B5EF4-FFF2-40B4-BE49-F238E27FC236}">
                <a16:creationId xmlns="" xmlns:a16="http://schemas.microsoft.com/office/drawing/2014/main" id="{05A7202E-4BA5-4FF8-A66D-39807194D25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927345" y="3330266"/>
            <a:ext cx="247705" cy="244094"/>
            <a:chOff x="5076056" y="3356992"/>
            <a:chExt cx="436268" cy="436268"/>
          </a:xfrm>
        </p:grpSpPr>
        <p:sp>
          <p:nvSpPr>
            <p:cNvPr id="57" name="椭圆 27">
              <a:extLst>
                <a:ext uri="{FF2B5EF4-FFF2-40B4-BE49-F238E27FC236}">
                  <a16:creationId xmlns="" xmlns:a16="http://schemas.microsoft.com/office/drawing/2014/main" id="{CA18F8DA-0024-40DE-A47D-7F735A4C6F8D}"/>
                </a:ext>
              </a:extLst>
            </p:cNvPr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禁止符 23">
              <a:extLst>
                <a:ext uri="{FF2B5EF4-FFF2-40B4-BE49-F238E27FC236}">
                  <a16:creationId xmlns="" xmlns:a16="http://schemas.microsoft.com/office/drawing/2014/main" id="{06F80448-6F8E-4298-B675-9CA1EE907142}"/>
                </a:ext>
              </a:extLst>
            </p:cNvPr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9" name="禁止符 23">
            <a:extLst>
              <a:ext uri="{FF2B5EF4-FFF2-40B4-BE49-F238E27FC236}">
                <a16:creationId xmlns="" xmlns:a16="http://schemas.microsoft.com/office/drawing/2014/main" id="{70B0FCC8-5474-4EEF-B2E3-6941DF3C925A}"/>
              </a:ext>
            </a:extLst>
          </p:cNvPr>
          <p:cNvSpPr/>
          <p:nvPr/>
        </p:nvSpPr>
        <p:spPr bwMode="gray">
          <a:xfrm>
            <a:off x="9435601" y="3327163"/>
            <a:ext cx="247705" cy="244094"/>
          </a:xfrm>
          <a:prstGeom prst="noSmoking">
            <a:avLst>
              <a:gd name="adj" fmla="val 15475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0" name="组合 28">
            <a:extLst>
              <a:ext uri="{FF2B5EF4-FFF2-40B4-BE49-F238E27FC236}">
                <a16:creationId xmlns="" xmlns:a16="http://schemas.microsoft.com/office/drawing/2014/main" id="{549B5BEE-69DD-4B34-8107-1F88593E548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26287" y="3322602"/>
            <a:ext cx="247705" cy="244094"/>
            <a:chOff x="5076056" y="3356992"/>
            <a:chExt cx="436268" cy="436268"/>
          </a:xfrm>
        </p:grpSpPr>
        <p:sp>
          <p:nvSpPr>
            <p:cNvPr id="61" name="椭圆 27">
              <a:extLst>
                <a:ext uri="{FF2B5EF4-FFF2-40B4-BE49-F238E27FC236}">
                  <a16:creationId xmlns="" xmlns:a16="http://schemas.microsoft.com/office/drawing/2014/main" id="{5A43CE82-779B-4995-973B-81B0A0B966CB}"/>
                </a:ext>
              </a:extLst>
            </p:cNvPr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" name="禁止符 23">
              <a:extLst>
                <a:ext uri="{FF2B5EF4-FFF2-40B4-BE49-F238E27FC236}">
                  <a16:creationId xmlns="" xmlns:a16="http://schemas.microsoft.com/office/drawing/2014/main" id="{9531EF40-6E62-46AE-B54B-278E9B74CBD3}"/>
                </a:ext>
              </a:extLst>
            </p:cNvPr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63" name="直接箭头连接符 62">
            <a:extLst>
              <a:ext uri="{FF2B5EF4-FFF2-40B4-BE49-F238E27FC236}">
                <a16:creationId xmlns="" xmlns:a16="http://schemas.microsoft.com/office/drawing/2014/main" id="{64B3310F-7E8C-4612-A3A3-B61053020CDD}"/>
              </a:ext>
            </a:extLst>
          </p:cNvPr>
          <p:cNvCxnSpPr>
            <a:cxnSpLocks/>
          </p:cNvCxnSpPr>
          <p:nvPr/>
        </p:nvCxnSpPr>
        <p:spPr bwMode="gray">
          <a:xfrm>
            <a:off x="8557822" y="3884630"/>
            <a:ext cx="690975" cy="585305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="" xmlns:a16="http://schemas.microsoft.com/office/drawing/2014/main" id="{D0E58469-14B0-48EE-9DCF-F3AC70150125}"/>
              </a:ext>
            </a:extLst>
          </p:cNvPr>
          <p:cNvCxnSpPr>
            <a:cxnSpLocks/>
          </p:cNvCxnSpPr>
          <p:nvPr/>
        </p:nvCxnSpPr>
        <p:spPr bwMode="gray">
          <a:xfrm flipV="1">
            <a:off x="9891162" y="3861314"/>
            <a:ext cx="666928" cy="612671"/>
          </a:xfrm>
          <a:prstGeom prst="straightConnector1">
            <a:avLst/>
          </a:prstGeom>
          <a:ln w="3810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五边形 64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65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燕尾形 66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5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E62E201E-27FC-40F5-93C5-EC1AA95FB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MPLS TE</a:t>
            </a:r>
            <a:r>
              <a:rPr lang="zh-CN" altLang="en-US">
                <a:sym typeface="Huawei Sans" panose="020C0503030203020204" pitchFamily="34" charset="0"/>
              </a:rPr>
              <a:t>隧道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4AE73E94-DECF-4608-912E-DEBB7C8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中经常会把多条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联合起来使用，并将这些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与一个虚拟隧道接口关联起来，这样的一组</a:t>
            </a:r>
            <a:r>
              <a:rPr lang="en-US" altLang="zh-CN" sz="1800" dirty="0">
                <a:sym typeface="Huawei Sans" panose="020C0503030203020204" pitchFamily="34" charset="0"/>
              </a:rPr>
              <a:t>LSP</a:t>
            </a:r>
            <a:r>
              <a:rPr lang="zh-CN" altLang="en-US" sz="1800" dirty="0">
                <a:sym typeface="Huawei Sans" panose="020C0503030203020204" pitchFamily="34" charset="0"/>
              </a:rPr>
              <a:t>隧道称为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隧道。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隧道能够保证</a:t>
            </a:r>
            <a:r>
              <a:rPr lang="en-US" altLang="zh-CN" sz="1800" dirty="0">
                <a:sym typeface="Huawei Sans" panose="020C0503030203020204" pitchFamily="34" charset="0"/>
              </a:rPr>
              <a:t>SLA</a:t>
            </a:r>
            <a:r>
              <a:rPr lang="zh-CN" altLang="en-US" sz="1800" dirty="0">
                <a:sym typeface="Huawei Sans" panose="020C0503030203020204" pitchFamily="34" charset="0"/>
              </a:rPr>
              <a:t>，但是配置也更为复杂，同时也需要人工规划。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="" xmlns:a16="http://schemas.microsoft.com/office/drawing/2014/main" id="{F334E9A4-F87B-4229-9963-121FCBEFB75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656592" y="4312113"/>
            <a:ext cx="540000" cy="4428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="" xmlns:a16="http://schemas.microsoft.com/office/drawing/2014/main" id="{A0A2428F-E00B-47F4-9A43-8457F1FDF30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24514" y="3587584"/>
            <a:ext cx="540000" cy="44280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="" xmlns:a16="http://schemas.microsoft.com/office/drawing/2014/main" id="{E25667F6-5D67-4084-A300-EBE63B9E26C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92436" y="4306380"/>
            <a:ext cx="540000" cy="4428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="" xmlns:a16="http://schemas.microsoft.com/office/drawing/2014/main" id="{A15908E0-DBC8-4C8E-B517-F41D9D7940B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24514" y="5253900"/>
            <a:ext cx="540000" cy="442800"/>
          </a:xfrm>
          <a:prstGeom prst="rect">
            <a:avLst/>
          </a:prstGeom>
        </p:spPr>
      </p:pic>
      <p:cxnSp>
        <p:nvCxnSpPr>
          <p:cNvPr id="69" name="直接连接符 68">
            <a:extLst>
              <a:ext uri="{FF2B5EF4-FFF2-40B4-BE49-F238E27FC236}">
                <a16:creationId xmlns="" xmlns:a16="http://schemas.microsoft.com/office/drawing/2014/main" id="{FBD71605-522A-477E-9469-725C42D10532}"/>
              </a:ext>
            </a:extLst>
          </p:cNvPr>
          <p:cNvCxnSpPr>
            <a:stCxn id="66" idx="1"/>
            <a:endCxn id="65" idx="3"/>
          </p:cNvCxnSpPr>
          <p:nvPr/>
        </p:nvCxnSpPr>
        <p:spPr bwMode="gray">
          <a:xfrm flipH="1">
            <a:off x="4196592" y="3808984"/>
            <a:ext cx="1427922" cy="72452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直接连接符 69">
            <a:extLst>
              <a:ext uri="{FF2B5EF4-FFF2-40B4-BE49-F238E27FC236}">
                <a16:creationId xmlns="" xmlns:a16="http://schemas.microsoft.com/office/drawing/2014/main" id="{FDF49746-C1FA-4D41-A7CA-D1F106A6D364}"/>
              </a:ext>
            </a:extLst>
          </p:cNvPr>
          <p:cNvCxnSpPr>
            <a:stCxn id="68" idx="1"/>
            <a:endCxn id="65" idx="3"/>
          </p:cNvCxnSpPr>
          <p:nvPr/>
        </p:nvCxnSpPr>
        <p:spPr bwMode="gray">
          <a:xfrm flipH="1" flipV="1">
            <a:off x="4196592" y="4533513"/>
            <a:ext cx="1427922" cy="94178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直接连接符 70">
            <a:extLst>
              <a:ext uri="{FF2B5EF4-FFF2-40B4-BE49-F238E27FC236}">
                <a16:creationId xmlns="" xmlns:a16="http://schemas.microsoft.com/office/drawing/2014/main" id="{1C26F0BF-4065-4B3F-A668-C224E553FCFE}"/>
              </a:ext>
            </a:extLst>
          </p:cNvPr>
          <p:cNvCxnSpPr>
            <a:stCxn id="67" idx="1"/>
            <a:endCxn id="66" idx="3"/>
          </p:cNvCxnSpPr>
          <p:nvPr/>
        </p:nvCxnSpPr>
        <p:spPr bwMode="gray">
          <a:xfrm flipH="1" flipV="1">
            <a:off x="6164514" y="3808984"/>
            <a:ext cx="1427922" cy="71879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直接连接符 71">
            <a:extLst>
              <a:ext uri="{FF2B5EF4-FFF2-40B4-BE49-F238E27FC236}">
                <a16:creationId xmlns="" xmlns:a16="http://schemas.microsoft.com/office/drawing/2014/main" id="{5D47EA0C-085A-45B8-9EF0-4B1CD542F814}"/>
              </a:ext>
            </a:extLst>
          </p:cNvPr>
          <p:cNvCxnSpPr>
            <a:stCxn id="67" idx="1"/>
            <a:endCxn id="68" idx="3"/>
          </p:cNvCxnSpPr>
          <p:nvPr/>
        </p:nvCxnSpPr>
        <p:spPr bwMode="gray">
          <a:xfrm flipH="1">
            <a:off x="6164514" y="4527780"/>
            <a:ext cx="1427922" cy="94752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>
            <a:extLst>
              <a:ext uri="{FF2B5EF4-FFF2-40B4-BE49-F238E27FC236}">
                <a16:creationId xmlns="" xmlns:a16="http://schemas.microsoft.com/office/drawing/2014/main" id="{29CAD405-3573-43C3-BFE0-84435E9AE46B}"/>
              </a:ext>
            </a:extLst>
          </p:cNvPr>
          <p:cNvCxnSpPr>
            <a:stCxn id="68" idx="0"/>
            <a:endCxn id="66" idx="2"/>
          </p:cNvCxnSpPr>
          <p:nvPr/>
        </p:nvCxnSpPr>
        <p:spPr bwMode="gray">
          <a:xfrm flipV="1">
            <a:off x="5894514" y="4030384"/>
            <a:ext cx="0" cy="12235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直接箭头连接符 73">
            <a:extLst>
              <a:ext uri="{FF2B5EF4-FFF2-40B4-BE49-F238E27FC236}">
                <a16:creationId xmlns="" xmlns:a16="http://schemas.microsoft.com/office/drawing/2014/main" id="{F9812EA2-8EED-4FCA-AF65-C84343751B45}"/>
              </a:ext>
            </a:extLst>
          </p:cNvPr>
          <p:cNvCxnSpPr>
            <a:cxnSpLocks/>
          </p:cNvCxnSpPr>
          <p:nvPr/>
        </p:nvCxnSpPr>
        <p:spPr bwMode="gray">
          <a:xfrm rot="-1620000" flipV="1">
            <a:off x="4307471" y="3976216"/>
            <a:ext cx="1080000" cy="3581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="" xmlns:a16="http://schemas.microsoft.com/office/drawing/2014/main" id="{4382A7E2-5348-4D0A-829B-5B29313BA2CA}"/>
              </a:ext>
            </a:extLst>
          </p:cNvPr>
          <p:cNvCxnSpPr>
            <a:cxnSpLocks/>
          </p:cNvCxnSpPr>
          <p:nvPr/>
        </p:nvCxnSpPr>
        <p:spPr bwMode="gray">
          <a:xfrm rot="1620000" flipV="1">
            <a:off x="6457201" y="3970346"/>
            <a:ext cx="1080000" cy="3581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="" xmlns:a16="http://schemas.microsoft.com/office/drawing/2014/main" id="{674707CD-2295-456E-98AB-638E28B40DCB}"/>
              </a:ext>
            </a:extLst>
          </p:cNvPr>
          <p:cNvSpPr txBox="1"/>
          <p:nvPr/>
        </p:nvSpPr>
        <p:spPr bwMode="gray">
          <a:xfrm>
            <a:off x="3713984" y="4038854"/>
            <a:ext cx="423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="" xmlns:a16="http://schemas.microsoft.com/office/drawing/2014/main" id="{037BFBA5-C9C0-4B32-9387-F68FDB35797C}"/>
              </a:ext>
            </a:extLst>
          </p:cNvPr>
          <p:cNvSpPr txBox="1"/>
          <p:nvPr/>
        </p:nvSpPr>
        <p:spPr bwMode="gray">
          <a:xfrm>
            <a:off x="5682966" y="3312320"/>
            <a:ext cx="423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="" xmlns:a16="http://schemas.microsoft.com/office/drawing/2014/main" id="{BA5BAB41-7CE0-497F-B64D-531F53FB64F1}"/>
              </a:ext>
            </a:extLst>
          </p:cNvPr>
          <p:cNvSpPr txBox="1"/>
          <p:nvPr/>
        </p:nvSpPr>
        <p:spPr bwMode="gray">
          <a:xfrm>
            <a:off x="5682965" y="5650036"/>
            <a:ext cx="423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="" xmlns:a16="http://schemas.microsoft.com/office/drawing/2014/main" id="{1EA76F49-1356-4107-932E-7E591C8B821B}"/>
              </a:ext>
            </a:extLst>
          </p:cNvPr>
          <p:cNvSpPr txBox="1"/>
          <p:nvPr/>
        </p:nvSpPr>
        <p:spPr bwMode="gray">
          <a:xfrm>
            <a:off x="7647280" y="4022228"/>
            <a:ext cx="423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="" xmlns:a16="http://schemas.microsoft.com/office/drawing/2014/main" id="{89A6C13C-8E0B-48D9-9C7A-808B85309E10}"/>
              </a:ext>
            </a:extLst>
          </p:cNvPr>
          <p:cNvCxnSpPr>
            <a:cxnSpLocks/>
          </p:cNvCxnSpPr>
          <p:nvPr/>
        </p:nvCxnSpPr>
        <p:spPr bwMode="gray">
          <a:xfrm rot="-2100000" flipV="1">
            <a:off x="6418857" y="5224268"/>
            <a:ext cx="1080000" cy="3581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="" xmlns:a16="http://schemas.microsoft.com/office/drawing/2014/main" id="{F9011615-2565-4B98-823F-700CDA00F1AB}"/>
              </a:ext>
            </a:extLst>
          </p:cNvPr>
          <p:cNvCxnSpPr>
            <a:cxnSpLocks/>
          </p:cNvCxnSpPr>
          <p:nvPr/>
        </p:nvCxnSpPr>
        <p:spPr bwMode="gray">
          <a:xfrm rot="2100000" flipV="1">
            <a:off x="4155215" y="5184848"/>
            <a:ext cx="1080000" cy="3581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="" xmlns:a16="http://schemas.microsoft.com/office/drawing/2014/main" id="{97C1723D-1627-4638-81D2-C5ABFBE53289}"/>
              </a:ext>
            </a:extLst>
          </p:cNvPr>
          <p:cNvSpPr txBox="1"/>
          <p:nvPr/>
        </p:nvSpPr>
        <p:spPr bwMode="gray">
          <a:xfrm>
            <a:off x="8708867" y="5449514"/>
            <a:ext cx="1420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Primary Path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="" xmlns:a16="http://schemas.microsoft.com/office/drawing/2014/main" id="{A55BC17C-694B-4F60-9081-56CC5CC08394}"/>
              </a:ext>
            </a:extLst>
          </p:cNvPr>
          <p:cNvSpPr txBox="1"/>
          <p:nvPr/>
        </p:nvSpPr>
        <p:spPr bwMode="gray">
          <a:xfrm>
            <a:off x="8710257" y="5810249"/>
            <a:ext cx="1420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Backup Path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="" xmlns:a16="http://schemas.microsoft.com/office/drawing/2014/main" id="{6838E51C-6768-4E1D-B548-24589020855B}"/>
              </a:ext>
            </a:extLst>
          </p:cNvPr>
          <p:cNvCxnSpPr>
            <a:cxnSpLocks/>
          </p:cNvCxnSpPr>
          <p:nvPr/>
        </p:nvCxnSpPr>
        <p:spPr bwMode="gray">
          <a:xfrm flipV="1">
            <a:off x="7933233" y="5972072"/>
            <a:ext cx="720000" cy="3581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="" xmlns:a16="http://schemas.microsoft.com/office/drawing/2014/main" id="{A22963BF-0387-4223-8882-FB7121C53E9D}"/>
              </a:ext>
            </a:extLst>
          </p:cNvPr>
          <p:cNvCxnSpPr>
            <a:cxnSpLocks/>
          </p:cNvCxnSpPr>
          <p:nvPr/>
        </p:nvCxnSpPr>
        <p:spPr bwMode="gray">
          <a:xfrm flipV="1">
            <a:off x="7933233" y="5615210"/>
            <a:ext cx="720000" cy="3581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="" xmlns:a16="http://schemas.microsoft.com/office/drawing/2014/main" id="{AAD46EC1-5A51-48CF-A5C2-4F7D8A1D17B1}"/>
              </a:ext>
            </a:extLst>
          </p:cNvPr>
          <p:cNvSpPr txBox="1"/>
          <p:nvPr/>
        </p:nvSpPr>
        <p:spPr bwMode="gray">
          <a:xfrm>
            <a:off x="637430" y="2676005"/>
            <a:ext cx="3402754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[R1] interface tunnel1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…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tunnel-protocol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destination R4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[R1-Tunnel1]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bandwidth 50M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</a:p>
        </p:txBody>
      </p:sp>
      <p:sp>
        <p:nvSpPr>
          <p:cNvPr id="92" name="Can 41">
            <a:extLst>
              <a:ext uri="{FF2B5EF4-FFF2-40B4-BE49-F238E27FC236}">
                <a16:creationId xmlns="" xmlns:a16="http://schemas.microsoft.com/office/drawing/2014/main" id="{E8299BF2-E19D-419B-88BC-989DE0CB37AB}"/>
              </a:ext>
            </a:extLst>
          </p:cNvPr>
          <p:cNvSpPr/>
          <p:nvPr/>
        </p:nvSpPr>
        <p:spPr bwMode="gray">
          <a:xfrm rot="5400000">
            <a:off x="5757965" y="2886518"/>
            <a:ext cx="307777" cy="3276876"/>
          </a:xfrm>
          <a:prstGeom prst="can">
            <a:avLst>
              <a:gd name="adj" fmla="val 55435"/>
            </a:avLst>
          </a:prstGeom>
          <a:solidFill>
            <a:srgbClr val="94DAE2"/>
          </a:solidFill>
          <a:ln w="12700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="" xmlns:a16="http://schemas.microsoft.com/office/drawing/2014/main" id="{433A1A97-D70E-47C3-B74F-8E971B5E7407}"/>
              </a:ext>
            </a:extLst>
          </p:cNvPr>
          <p:cNvSpPr txBox="1"/>
          <p:nvPr/>
        </p:nvSpPr>
        <p:spPr bwMode="gray">
          <a:xfrm>
            <a:off x="5395959" y="4386953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TE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五边形 27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燕尾形 28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29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2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直接连接符 95"/>
          <p:cNvCxnSpPr/>
          <p:nvPr/>
        </p:nvCxnSpPr>
        <p:spPr bwMode="gray">
          <a:xfrm rot="5400000">
            <a:off x="3842653" y="3112501"/>
            <a:ext cx="662814" cy="1266975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 bwMode="gray">
          <a:xfrm rot="16200000" flipH="1">
            <a:off x="3769315" y="2088511"/>
            <a:ext cx="662814" cy="1266974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gray">
          <a:xfrm rot="5400000">
            <a:off x="3777364" y="2855836"/>
            <a:ext cx="602558" cy="1151795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 bwMode="gray">
          <a:xfrm rot="16200000" flipH="1">
            <a:off x="1957058" y="2758144"/>
            <a:ext cx="662814" cy="1266974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 bwMode="gray">
          <a:xfrm rot="16200000">
            <a:off x="1852143" y="1717631"/>
            <a:ext cx="662814" cy="1266974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MPLS LDP</a:t>
            </a:r>
            <a:r>
              <a:rPr lang="zh-CN" altLang="en-US" dirty="0">
                <a:sym typeface="Huawei Sans" panose="020C0503030203020204" pitchFamily="34" charset="0"/>
              </a:rPr>
              <a:t>与</a:t>
            </a:r>
            <a:r>
              <a:rPr lang="en-US" altLang="zh-CN" dirty="0">
                <a:sym typeface="Huawei Sans" panose="020C0503030203020204" pitchFamily="34" charset="0"/>
              </a:rPr>
              <a:t>RSVP-TE</a:t>
            </a:r>
            <a:r>
              <a:rPr lang="zh-CN" altLang="en-US" dirty="0">
                <a:sym typeface="Huawei Sans" panose="020C0503030203020204" pitchFamily="34" charset="0"/>
              </a:rPr>
              <a:t>存在的问题</a:t>
            </a:r>
          </a:p>
        </p:txBody>
      </p:sp>
      <p:grpSp>
        <p:nvGrpSpPr>
          <p:cNvPr id="11" name="组合 10"/>
          <p:cNvGrpSpPr/>
          <p:nvPr/>
        </p:nvGrpSpPr>
        <p:grpSpPr bwMode="gray">
          <a:xfrm rot="5400000">
            <a:off x="5250027" y="2884268"/>
            <a:ext cx="438911" cy="301085"/>
            <a:chOff x="674588" y="6196215"/>
            <a:chExt cx="399010" cy="226210"/>
          </a:xfrm>
        </p:grpSpPr>
        <p:cxnSp>
          <p:nvCxnSpPr>
            <p:cNvPr id="12" name="直接连接符 11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 bwMode="gray">
          <a:xfrm rot="16200000">
            <a:off x="1231463" y="2196963"/>
            <a:ext cx="1764410" cy="1686342"/>
            <a:chOff x="6600056" y="4353447"/>
            <a:chExt cx="1296144" cy="833967"/>
          </a:xfrm>
        </p:grpSpPr>
        <p:cxnSp>
          <p:nvCxnSpPr>
            <p:cNvPr id="15" name="直接连接符 14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 bwMode="gray">
          <a:xfrm rot="5400000">
            <a:off x="3388642" y="2196963"/>
            <a:ext cx="1764410" cy="1686342"/>
            <a:chOff x="6600056" y="4353447"/>
            <a:chExt cx="1296144" cy="833967"/>
          </a:xfrm>
        </p:grpSpPr>
        <p:cxnSp>
          <p:nvCxnSpPr>
            <p:cNvPr id="18" name="直接连接符 17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圆角矩形 19"/>
          <p:cNvSpPr/>
          <p:nvPr/>
        </p:nvSpPr>
        <p:spPr bwMode="gray">
          <a:xfrm>
            <a:off x="587041" y="1085605"/>
            <a:ext cx="5297710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圆角矩形 20"/>
          <p:cNvSpPr/>
          <p:nvPr/>
        </p:nvSpPr>
        <p:spPr bwMode="gray">
          <a:xfrm>
            <a:off x="587041" y="1594646"/>
            <a:ext cx="5297710" cy="419198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圆角矩形 21"/>
          <p:cNvSpPr/>
          <p:nvPr/>
        </p:nvSpPr>
        <p:spPr bwMode="gray">
          <a:xfrm>
            <a:off x="6325031" y="1085605"/>
            <a:ext cx="5299200" cy="400674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圆角矩形 22"/>
          <p:cNvSpPr/>
          <p:nvPr/>
        </p:nvSpPr>
        <p:spPr bwMode="gray">
          <a:xfrm>
            <a:off x="6325030" y="1594646"/>
            <a:ext cx="5299201" cy="419198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4" name="图片 2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71961" y="2813411"/>
            <a:ext cx="540000" cy="4428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 bwMode="gray">
          <a:xfrm>
            <a:off x="2944169" y="1913311"/>
            <a:ext cx="540000" cy="2243000"/>
            <a:chOff x="3071664" y="2780928"/>
            <a:chExt cx="540000" cy="2243000"/>
          </a:xfrm>
        </p:grpSpPr>
        <p:pic>
          <p:nvPicPr>
            <p:cNvPr id="26" name="图片 25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6377" y="2813411"/>
            <a:ext cx="540000" cy="4428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 bwMode="gray">
          <a:xfrm>
            <a:off x="678801" y="288092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3007221" y="2366758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3007221" y="3374320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4878021" y="325621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 rot="19912812">
            <a:off x="1899831" y="2276703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628001" y="4262674"/>
            <a:ext cx="5205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本身并无算路能力，需依赖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进行路径计算。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控制面需要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，设备之间需要发送大量的消息来维持邻居关系及路径状态，浪费了链路带宽及设备资源。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若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未同步，则可能出现数据转发问题。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6325030" y="4173774"/>
            <a:ext cx="52992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的配置复杂，不支持负载分担。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为了实现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，设备之间需要发送大量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报文来维持邻居关系及路径状态，浪费了链路带宽及设备资源。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RSVP-TE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本质上是分布式架构，每台设备只知道自己的状态，设备之间需要交互信令报文。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 rot="1670758">
            <a:off x="3834576" y="2615406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 rot="1660865">
            <a:off x="2026513" y="3304079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 rot="19997381">
            <a:off x="3815854" y="3363248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85"/>
          <p:cNvCxnSpPr/>
          <p:nvPr/>
        </p:nvCxnSpPr>
        <p:spPr bwMode="gray">
          <a:xfrm rot="16200000">
            <a:off x="1986665" y="2092129"/>
            <a:ext cx="602558" cy="1151795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 bwMode="gray">
          <a:xfrm rot="19912812">
            <a:off x="2016948" y="2616358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8" name="直接连接符 87"/>
          <p:cNvCxnSpPr/>
          <p:nvPr/>
        </p:nvCxnSpPr>
        <p:spPr bwMode="gray">
          <a:xfrm rot="16200000" flipH="1">
            <a:off x="1797603" y="2994078"/>
            <a:ext cx="729095" cy="1393671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 bwMode="gray">
          <a:xfrm rot="1679142">
            <a:off x="1863224" y="3617148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 rot="19882353">
            <a:off x="3939709" y="3654105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rgbClr val="C00000"/>
                </a:solidFill>
              </a:defRPr>
            </a:lvl1pPr>
          </a:lstStyle>
          <a:p>
            <a:r>
              <a:rPr lang="en-US" altLang="zh-CN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8" name="直接连接符 97"/>
          <p:cNvCxnSpPr/>
          <p:nvPr/>
        </p:nvCxnSpPr>
        <p:spPr bwMode="gray">
          <a:xfrm rot="16200000" flipH="1">
            <a:off x="3871776" y="1726594"/>
            <a:ext cx="662814" cy="1266974"/>
          </a:xfrm>
          <a:prstGeom prst="line">
            <a:avLst/>
          </a:prstGeom>
          <a:ln w="19050">
            <a:solidFill>
              <a:srgbClr val="33CC33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 bwMode="gray">
          <a:xfrm rot="1670758">
            <a:off x="3940472" y="2301253"/>
            <a:ext cx="537807" cy="161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3" name="组合 112"/>
          <p:cNvGrpSpPr/>
          <p:nvPr/>
        </p:nvGrpSpPr>
        <p:grpSpPr bwMode="gray">
          <a:xfrm rot="5400000">
            <a:off x="11149168" y="2884268"/>
            <a:ext cx="438911" cy="301085"/>
            <a:chOff x="674588" y="6196215"/>
            <a:chExt cx="399010" cy="226210"/>
          </a:xfrm>
        </p:grpSpPr>
        <p:cxnSp>
          <p:nvCxnSpPr>
            <p:cNvPr id="114" name="直接连接符 113"/>
            <p:cNvCxnSpPr/>
            <p:nvPr/>
          </p:nvCxnSpPr>
          <p:spPr bwMode="gray">
            <a:xfrm>
              <a:off x="874093" y="6196215"/>
              <a:ext cx="0" cy="226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 bwMode="gray">
            <a:xfrm>
              <a:off x="674588" y="6196215"/>
              <a:ext cx="3990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组合 115"/>
          <p:cNvGrpSpPr/>
          <p:nvPr/>
        </p:nvGrpSpPr>
        <p:grpSpPr bwMode="gray">
          <a:xfrm rot="16200000">
            <a:off x="7130604" y="2196963"/>
            <a:ext cx="1764410" cy="1686342"/>
            <a:chOff x="6600056" y="4353447"/>
            <a:chExt cx="1296144" cy="833967"/>
          </a:xfrm>
        </p:grpSpPr>
        <p:cxnSp>
          <p:nvCxnSpPr>
            <p:cNvPr id="117" name="直接连接符 116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/>
        </p:nvGrpSpPr>
        <p:grpSpPr bwMode="gray">
          <a:xfrm rot="5400000">
            <a:off x="9287783" y="2196963"/>
            <a:ext cx="1764410" cy="1686342"/>
            <a:chOff x="6600056" y="4353447"/>
            <a:chExt cx="1296144" cy="833967"/>
          </a:xfrm>
        </p:grpSpPr>
        <p:cxnSp>
          <p:nvCxnSpPr>
            <p:cNvPr id="120" name="直接连接符 119"/>
            <p:cNvCxnSpPr/>
            <p:nvPr/>
          </p:nvCxnSpPr>
          <p:spPr bwMode="gray">
            <a:xfrm flipH="1">
              <a:off x="6600056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 bwMode="gray">
            <a:xfrm>
              <a:off x="7248128" y="4353447"/>
              <a:ext cx="648072" cy="833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2" name="图片 12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1102" y="2813411"/>
            <a:ext cx="540000" cy="442800"/>
          </a:xfrm>
          <a:prstGeom prst="rect">
            <a:avLst/>
          </a:prstGeom>
        </p:spPr>
      </p:pic>
      <p:grpSp>
        <p:nvGrpSpPr>
          <p:cNvPr id="123" name="组合 122"/>
          <p:cNvGrpSpPr/>
          <p:nvPr/>
        </p:nvGrpSpPr>
        <p:grpSpPr bwMode="gray">
          <a:xfrm>
            <a:off x="8843310" y="1913311"/>
            <a:ext cx="540000" cy="2243000"/>
            <a:chOff x="3071664" y="2780928"/>
            <a:chExt cx="540000" cy="2243000"/>
          </a:xfrm>
        </p:grpSpPr>
        <p:pic>
          <p:nvPicPr>
            <p:cNvPr id="124" name="图片 123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2780928"/>
              <a:ext cx="540000" cy="442800"/>
            </a:xfrm>
            <a:prstGeom prst="rect">
              <a:avLst/>
            </a:prstGeom>
          </p:spPr>
        </p:pic>
        <p:pic>
          <p:nvPicPr>
            <p:cNvPr id="125" name="图片 124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71664" y="4581128"/>
              <a:ext cx="540000" cy="442800"/>
            </a:xfrm>
            <a:prstGeom prst="rect">
              <a:avLst/>
            </a:prstGeom>
          </p:spPr>
        </p:pic>
      </p:grpSp>
      <p:pic>
        <p:nvPicPr>
          <p:cNvPr id="126" name="图片 12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715518" y="2813411"/>
            <a:ext cx="540000" cy="442800"/>
          </a:xfrm>
          <a:prstGeom prst="rect">
            <a:avLst/>
          </a:prstGeom>
        </p:spPr>
      </p:pic>
      <p:sp>
        <p:nvSpPr>
          <p:cNvPr id="127" name="文本框 126"/>
          <p:cNvSpPr txBox="1"/>
          <p:nvPr/>
        </p:nvSpPr>
        <p:spPr bwMode="gray">
          <a:xfrm>
            <a:off x="6577942" y="288092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8906362" y="2366758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8906362" y="3374320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文本框 129"/>
          <p:cNvSpPr txBox="1"/>
          <p:nvPr/>
        </p:nvSpPr>
        <p:spPr bwMode="gray">
          <a:xfrm>
            <a:off x="10777162" y="325621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2" name="直接箭头连接符 141"/>
          <p:cNvCxnSpPr/>
          <p:nvPr/>
        </p:nvCxnSpPr>
        <p:spPr bwMode="gray">
          <a:xfrm>
            <a:off x="9447513" y="2008137"/>
            <a:ext cx="1382295" cy="719113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/>
        </p:nvCxnSpPr>
        <p:spPr bwMode="gray">
          <a:xfrm flipV="1">
            <a:off x="7384441" y="2010465"/>
            <a:ext cx="1369969" cy="722993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/>
        </p:nvSpPr>
        <p:spPr bwMode="gray">
          <a:xfrm rot="1670758">
            <a:off x="10157743" y="2250311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</a:p>
        </p:txBody>
      </p:sp>
      <p:sp>
        <p:nvSpPr>
          <p:cNvPr id="147" name="文本框 146"/>
          <p:cNvSpPr txBox="1"/>
          <p:nvPr/>
        </p:nvSpPr>
        <p:spPr bwMode="gray">
          <a:xfrm rot="20055180">
            <a:off x="7899850" y="1941841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</a:p>
        </p:txBody>
      </p:sp>
      <p:cxnSp>
        <p:nvCxnSpPr>
          <p:cNvPr id="74" name="直接箭头连接符 73"/>
          <p:cNvCxnSpPr/>
          <p:nvPr/>
        </p:nvCxnSpPr>
        <p:spPr bwMode="gray">
          <a:xfrm flipV="1">
            <a:off x="7560771" y="2409197"/>
            <a:ext cx="1245426" cy="657267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 bwMode="gray">
          <a:xfrm>
            <a:off x="9324537" y="2372344"/>
            <a:ext cx="1256632" cy="653739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 bwMode="gray">
          <a:xfrm rot="20055180">
            <a:off x="7679496" y="2880779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</a:p>
        </p:txBody>
      </p:sp>
      <p:sp>
        <p:nvSpPr>
          <p:cNvPr id="77" name="文本框 76"/>
          <p:cNvSpPr txBox="1"/>
          <p:nvPr/>
        </p:nvSpPr>
        <p:spPr bwMode="gray">
          <a:xfrm rot="1672281">
            <a:off x="9389738" y="2644357"/>
            <a:ext cx="780663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>
                <a:solidFill>
                  <a:srgbClr val="C7000B"/>
                </a:solidFill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</a:p>
        </p:txBody>
      </p:sp>
      <p:sp>
        <p:nvSpPr>
          <p:cNvPr id="78" name="五边形 77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燕尾形 78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燕尾形 82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7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BDCC6A-CFB0-41C0-8EA9-C73A2FB3A6B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Segment Routing MPLS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E6C8487-D220-4FDC-B3DE-616175594E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段路由（</a:t>
            </a:r>
            <a:r>
              <a:rPr lang="en-US" altLang="zh-CN" sz="1600" dirty="0">
                <a:sym typeface="Huawei Sans" panose="020C0503030203020204" pitchFamily="34" charset="0"/>
              </a:rPr>
              <a:t>Segment Routing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）是基于源路由理念而设计的在网络上转发数据包的一种技术架构。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Segment Routing MPLS</a:t>
            </a:r>
            <a:r>
              <a:rPr lang="zh-CN" altLang="en-US" sz="1600" dirty="0">
                <a:sym typeface="Huawei Sans" panose="020C0503030203020204" pitchFamily="34" charset="0"/>
              </a:rPr>
              <a:t>是指基于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标签转发的</a:t>
            </a:r>
            <a:r>
              <a:rPr lang="en-US" altLang="zh-CN" sz="1600" dirty="0">
                <a:sym typeface="Huawei Sans" panose="020C0503030203020204" pitchFamily="34" charset="0"/>
              </a:rPr>
              <a:t>Segment Routing</a:t>
            </a:r>
            <a:r>
              <a:rPr lang="zh-CN" altLang="en-US" sz="1600" dirty="0">
                <a:sym typeface="Huawei Sans" panose="020C0503030203020204" pitchFamily="34" charset="0"/>
              </a:rPr>
              <a:t>，下文简称为</a:t>
            </a:r>
            <a:r>
              <a:rPr lang="en-US" altLang="zh-CN" sz="1600" dirty="0">
                <a:sym typeface="Huawei Sans" panose="020C0503030203020204" pitchFamily="34" charset="0"/>
              </a:rPr>
              <a:t>SR-MPLS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="" xmlns:a16="http://schemas.microsoft.com/office/drawing/2014/main" id="{92B16F6B-600E-4701-9128-631F992DB3FA}"/>
              </a:ext>
            </a:extLst>
          </p:cNvPr>
          <p:cNvGrpSpPr/>
          <p:nvPr/>
        </p:nvGrpSpPr>
        <p:grpSpPr bwMode="gray">
          <a:xfrm rot="10800000">
            <a:off x="5265072" y="2813954"/>
            <a:ext cx="1032830" cy="1941018"/>
            <a:chOff x="4518703" y="2205748"/>
            <a:chExt cx="1512166" cy="2521312"/>
          </a:xfrm>
        </p:grpSpPr>
        <p:cxnSp>
          <p:nvCxnSpPr>
            <p:cNvPr id="50" name="直接连接符 49">
              <a:extLst>
                <a:ext uri="{FF2B5EF4-FFF2-40B4-BE49-F238E27FC236}">
                  <a16:creationId xmlns="" xmlns:a16="http://schemas.microsoft.com/office/drawing/2014/main" id="{19699045-CCF1-4924-8AF3-1D2AB7C564F3}"/>
                </a:ext>
              </a:extLst>
            </p:cNvPr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  <p:cxnSp>
          <p:nvCxnSpPr>
            <p:cNvPr id="51" name="直接连接符 50">
              <a:extLst>
                <a:ext uri="{FF2B5EF4-FFF2-40B4-BE49-F238E27FC236}">
                  <a16:creationId xmlns="" xmlns:a16="http://schemas.microsoft.com/office/drawing/2014/main" id="{98B7CA5A-8942-4730-A59D-2BF27E8FD7C6}"/>
                </a:ext>
              </a:extLst>
            </p:cNvPr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</p:grpSp>
      <p:grpSp>
        <p:nvGrpSpPr>
          <p:cNvPr id="52" name="组合 51">
            <a:extLst>
              <a:ext uri="{FF2B5EF4-FFF2-40B4-BE49-F238E27FC236}">
                <a16:creationId xmlns="" xmlns:a16="http://schemas.microsoft.com/office/drawing/2014/main" id="{F39F2FD1-78D4-469C-BD8A-625351B8F21D}"/>
              </a:ext>
            </a:extLst>
          </p:cNvPr>
          <p:cNvGrpSpPr/>
          <p:nvPr/>
        </p:nvGrpSpPr>
        <p:grpSpPr bwMode="gray">
          <a:xfrm>
            <a:off x="910442" y="2808458"/>
            <a:ext cx="4358915" cy="1954367"/>
            <a:chOff x="1055163" y="3291162"/>
            <a:chExt cx="4358915" cy="1954367"/>
          </a:xfrm>
        </p:grpSpPr>
        <p:cxnSp>
          <p:nvCxnSpPr>
            <p:cNvPr id="53" name="直接连接符 52">
              <a:extLst>
                <a:ext uri="{FF2B5EF4-FFF2-40B4-BE49-F238E27FC236}">
                  <a16:creationId xmlns="" xmlns:a16="http://schemas.microsoft.com/office/drawing/2014/main" id="{A6700298-5710-4AC0-9F5B-4142B87F3F34}"/>
                </a:ext>
              </a:extLst>
            </p:cNvPr>
            <p:cNvCxnSpPr/>
            <p:nvPr/>
          </p:nvCxnSpPr>
          <p:spPr bwMode="gray">
            <a:xfrm flipH="1">
              <a:off x="2119315" y="3304511"/>
              <a:ext cx="1760319" cy="19331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="" xmlns:a16="http://schemas.microsoft.com/office/drawing/2014/main" id="{25AE25C8-0261-47AB-94F5-5AAB7F346D07}"/>
                </a:ext>
              </a:extLst>
            </p:cNvPr>
            <p:cNvCxnSpPr/>
            <p:nvPr/>
          </p:nvCxnSpPr>
          <p:spPr bwMode="gray">
            <a:xfrm flipH="1" flipV="1">
              <a:off x="2117370" y="3291162"/>
              <a:ext cx="1748548" cy="19543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54">
              <a:extLst>
                <a:ext uri="{FF2B5EF4-FFF2-40B4-BE49-F238E27FC236}">
                  <a16:creationId xmlns="" xmlns:a16="http://schemas.microsoft.com/office/drawing/2014/main" id="{D39AED63-5E0B-44D0-9643-B00EC1A5873C}"/>
                </a:ext>
              </a:extLst>
            </p:cNvPr>
            <p:cNvGrpSpPr/>
            <p:nvPr/>
          </p:nvGrpSpPr>
          <p:grpSpPr bwMode="gray">
            <a:xfrm>
              <a:off x="1055163" y="3296658"/>
              <a:ext cx="1032830" cy="1941018"/>
              <a:chOff x="4518703" y="2205748"/>
              <a:chExt cx="1512166" cy="2521312"/>
            </a:xfrm>
          </p:grpSpPr>
          <p:cxnSp>
            <p:nvCxnSpPr>
              <p:cNvPr id="58" name="直接连接符 57">
                <a:extLst>
                  <a:ext uri="{FF2B5EF4-FFF2-40B4-BE49-F238E27FC236}">
                    <a16:creationId xmlns="" xmlns:a16="http://schemas.microsoft.com/office/drawing/2014/main" id="{4F034CF5-AD3D-434A-A3E5-DAEBC8869D1B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="" xmlns:a16="http://schemas.microsoft.com/office/drawing/2014/main" id="{352FFBE8-FBA6-41DD-9AF5-2D89E11A79CE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接连接符 55">
              <a:extLst>
                <a:ext uri="{FF2B5EF4-FFF2-40B4-BE49-F238E27FC236}">
                  <a16:creationId xmlns="" xmlns:a16="http://schemas.microsoft.com/office/drawing/2014/main" id="{A43C0605-73A0-423C-8210-12419E5FA77D}"/>
                </a:ext>
              </a:extLst>
            </p:cNvPr>
            <p:cNvCxnSpPr/>
            <p:nvPr/>
          </p:nvCxnSpPr>
          <p:spPr bwMode="gray">
            <a:xfrm flipH="1">
              <a:off x="2101710" y="3296658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="" xmlns:a16="http://schemas.microsoft.com/office/drawing/2014/main" id="{B22578F3-5726-4BA1-B531-6BC211D04EBA}"/>
                </a:ext>
              </a:extLst>
            </p:cNvPr>
            <p:cNvCxnSpPr/>
            <p:nvPr/>
          </p:nvCxnSpPr>
          <p:spPr bwMode="gray">
            <a:xfrm flipH="1">
              <a:off x="2101710" y="5245529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直接连接符 59">
            <a:extLst>
              <a:ext uri="{FF2B5EF4-FFF2-40B4-BE49-F238E27FC236}">
                <a16:creationId xmlns="" xmlns:a16="http://schemas.microsoft.com/office/drawing/2014/main" id="{C38F77F6-2B53-4C9C-91A8-68CC5D124BF3}"/>
              </a:ext>
            </a:extLst>
          </p:cNvPr>
          <p:cNvCxnSpPr/>
          <p:nvPr/>
        </p:nvCxnSpPr>
        <p:spPr bwMode="gray">
          <a:xfrm flipV="1">
            <a:off x="3734913" y="2813954"/>
            <a:ext cx="0" cy="1948871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cxnSp>
      <p:pic>
        <p:nvPicPr>
          <p:cNvPr id="61" name="图片 60">
            <a:extLst>
              <a:ext uri="{FF2B5EF4-FFF2-40B4-BE49-F238E27FC236}">
                <a16:creationId xmlns="" xmlns:a16="http://schemas.microsoft.com/office/drawing/2014/main" id="{48E12264-6690-4FA3-8BF9-1242D7A357F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2687" y="3535282"/>
            <a:ext cx="540000" cy="44280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="" xmlns:a16="http://schemas.microsoft.com/office/drawing/2014/main" id="{B64DAFD3-0E80-44FC-8908-4DF96CAE804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6894" y="2586256"/>
            <a:ext cx="540000" cy="4428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="" xmlns:a16="http://schemas.microsoft.com/office/drawing/2014/main" id="{922B5278-8B44-438F-978B-E7A86D1BEE7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6894" y="4484308"/>
            <a:ext cx="540000" cy="44280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="" xmlns:a16="http://schemas.microsoft.com/office/drawing/2014/main" id="{9E7A7629-57C5-4A5C-B68E-BC15E6DA58B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73431" y="2586256"/>
            <a:ext cx="540000" cy="4428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="" xmlns:a16="http://schemas.microsoft.com/office/drawing/2014/main" id="{915B961A-8D40-4C32-A067-31941C7145B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73431" y="4484308"/>
            <a:ext cx="540000" cy="4428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="" xmlns:a16="http://schemas.microsoft.com/office/drawing/2014/main" id="{46C52A25-6C4F-4E01-B7FE-F461284C8B5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64946" y="2586256"/>
            <a:ext cx="540000" cy="44280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="" xmlns:a16="http://schemas.microsoft.com/office/drawing/2014/main" id="{FD9F7E4B-B0C6-42B4-8380-8FEC0CCE357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64946" y="4484308"/>
            <a:ext cx="540000" cy="4428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="" xmlns:a16="http://schemas.microsoft.com/office/drawing/2014/main" id="{8E3B3961-8AD5-4D49-ABA4-86D13A2A4D5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16684" y="3535282"/>
            <a:ext cx="540000" cy="442800"/>
          </a:xfrm>
          <a:prstGeom prst="rect">
            <a:avLst/>
          </a:prstGeom>
        </p:spPr>
      </p:pic>
      <p:sp>
        <p:nvSpPr>
          <p:cNvPr id="69" name="任意多边形 22">
            <a:extLst>
              <a:ext uri="{FF2B5EF4-FFF2-40B4-BE49-F238E27FC236}">
                <a16:creationId xmlns="" xmlns:a16="http://schemas.microsoft.com/office/drawing/2014/main" id="{A5EEC781-3132-4D07-8721-AC8D60EE61F6}"/>
              </a:ext>
            </a:extLst>
          </p:cNvPr>
          <p:cNvSpPr/>
          <p:nvPr/>
        </p:nvSpPr>
        <p:spPr bwMode="gray">
          <a:xfrm>
            <a:off x="1284858" y="2766709"/>
            <a:ext cx="2231260" cy="97615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" fmla="*/ 0 w 3287214"/>
              <a:gd name="connsiteY0" fmla="*/ 0 h 1669002"/>
              <a:gd name="connsiteX1" fmla="*/ 2938508 w 3287214"/>
              <a:gd name="connsiteY1" fmla="*/ 26633 h 1669002"/>
              <a:gd name="connsiteX2" fmla="*/ 3204838 w 3287214"/>
              <a:gd name="connsiteY2" fmla="*/ 1669002 h 1669002"/>
              <a:gd name="connsiteX0" fmla="*/ 0 w 3310312"/>
              <a:gd name="connsiteY0" fmla="*/ 102151 h 1771153"/>
              <a:gd name="connsiteX1" fmla="*/ 2938508 w 3310312"/>
              <a:gd name="connsiteY1" fmla="*/ 128784 h 1771153"/>
              <a:gd name="connsiteX2" fmla="*/ 3204838 w 3310312"/>
              <a:gd name="connsiteY2" fmla="*/ 1771153 h 1771153"/>
              <a:gd name="connsiteX0" fmla="*/ 0 w 3268527"/>
              <a:gd name="connsiteY0" fmla="*/ 449497 h 2118499"/>
              <a:gd name="connsiteX1" fmla="*/ 2823098 w 3268527"/>
              <a:gd name="connsiteY1" fmla="*/ 67757 h 2118499"/>
              <a:gd name="connsiteX2" fmla="*/ 3204838 w 3268527"/>
              <a:gd name="connsiteY2" fmla="*/ 2118499 h 2118499"/>
              <a:gd name="connsiteX0" fmla="*/ 0 w 3245185"/>
              <a:gd name="connsiteY0" fmla="*/ 400710 h 2069712"/>
              <a:gd name="connsiteX1" fmla="*/ 2716566 w 3245185"/>
              <a:gd name="connsiteY1" fmla="*/ 72236 h 2069712"/>
              <a:gd name="connsiteX2" fmla="*/ 3204838 w 3245185"/>
              <a:gd name="connsiteY2" fmla="*/ 2069712 h 2069712"/>
              <a:gd name="connsiteX0" fmla="*/ 0 w 3207623"/>
              <a:gd name="connsiteY0" fmla="*/ 408402 h 2201692"/>
              <a:gd name="connsiteX1" fmla="*/ 2716566 w 3207623"/>
              <a:gd name="connsiteY1" fmla="*/ 79928 h 2201692"/>
              <a:gd name="connsiteX2" fmla="*/ 3160450 w 3207623"/>
              <a:gd name="connsiteY2" fmla="*/ 2201692 h 2201692"/>
              <a:gd name="connsiteX0" fmla="*/ 0 w 3180591"/>
              <a:gd name="connsiteY0" fmla="*/ 408402 h 2201692"/>
              <a:gd name="connsiteX1" fmla="*/ 2716566 w 3180591"/>
              <a:gd name="connsiteY1" fmla="*/ 79928 h 2201692"/>
              <a:gd name="connsiteX2" fmla="*/ 3160450 w 3180591"/>
              <a:gd name="connsiteY2" fmla="*/ 2201692 h 2201692"/>
              <a:gd name="connsiteX0" fmla="*/ 0 w 3598264"/>
              <a:gd name="connsiteY0" fmla="*/ 412296 h 2267729"/>
              <a:gd name="connsiteX1" fmla="*/ 2716566 w 3598264"/>
              <a:gd name="connsiteY1" fmla="*/ 83822 h 2267729"/>
              <a:gd name="connsiteX2" fmla="*/ 3595456 w 3598264"/>
              <a:gd name="connsiteY2" fmla="*/ 2267729 h 2267729"/>
              <a:gd name="connsiteX0" fmla="*/ 0 w 3621154"/>
              <a:gd name="connsiteY0" fmla="*/ 62433 h 1917866"/>
              <a:gd name="connsiteX1" fmla="*/ 3116061 w 3621154"/>
              <a:gd name="connsiteY1" fmla="*/ 168965 h 1917866"/>
              <a:gd name="connsiteX2" fmla="*/ 3595456 w 3621154"/>
              <a:gd name="connsiteY2" fmla="*/ 1917866 h 1917866"/>
              <a:gd name="connsiteX0" fmla="*/ 0 w 3666945"/>
              <a:gd name="connsiteY0" fmla="*/ 0 h 2121763"/>
              <a:gd name="connsiteX1" fmla="*/ 3160450 w 3666945"/>
              <a:gd name="connsiteY1" fmla="*/ 372862 h 2121763"/>
              <a:gd name="connsiteX2" fmla="*/ 3639845 w 3666945"/>
              <a:gd name="connsiteY2" fmla="*/ 2121763 h 2121763"/>
              <a:gd name="connsiteX0" fmla="*/ 0 w 3666945"/>
              <a:gd name="connsiteY0" fmla="*/ 40339 h 2162102"/>
              <a:gd name="connsiteX1" fmla="*/ 3160450 w 3666945"/>
              <a:gd name="connsiteY1" fmla="*/ 413201 h 2162102"/>
              <a:gd name="connsiteX2" fmla="*/ 3639845 w 3666945"/>
              <a:gd name="connsiteY2" fmla="*/ 2162102 h 2162102"/>
              <a:gd name="connsiteX0" fmla="*/ 0 w 3666945"/>
              <a:gd name="connsiteY0" fmla="*/ 47544 h 2116041"/>
              <a:gd name="connsiteX1" fmla="*/ 3160450 w 3666945"/>
              <a:gd name="connsiteY1" fmla="*/ 367140 h 2116041"/>
              <a:gd name="connsiteX2" fmla="*/ 3639845 w 3666945"/>
              <a:gd name="connsiteY2" fmla="*/ 2116041 h 2116041"/>
              <a:gd name="connsiteX0" fmla="*/ 0 w 3666945"/>
              <a:gd name="connsiteY0" fmla="*/ 86260 h 2154757"/>
              <a:gd name="connsiteX1" fmla="*/ 3160450 w 3666945"/>
              <a:gd name="connsiteY1" fmla="*/ 405856 h 2154757"/>
              <a:gd name="connsiteX2" fmla="*/ 3639845 w 3666945"/>
              <a:gd name="connsiteY2" fmla="*/ 2154757 h 2154757"/>
              <a:gd name="connsiteX0" fmla="*/ 0 w 3639845"/>
              <a:gd name="connsiteY0" fmla="*/ 0 h 2068497"/>
              <a:gd name="connsiteX1" fmla="*/ 3639845 w 3639845"/>
              <a:gd name="connsiteY1" fmla="*/ 2068497 h 206849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78831"/>
              <a:gd name="connsiteY0" fmla="*/ 0 h 1971977"/>
              <a:gd name="connsiteX1" fmla="*/ 3650005 w 3678831"/>
              <a:gd name="connsiteY1" fmla="*/ 1971977 h 1971977"/>
              <a:gd name="connsiteX0" fmla="*/ 0 w 3391741"/>
              <a:gd name="connsiteY0" fmla="*/ 0 h 1977057"/>
              <a:gd name="connsiteX1" fmla="*/ 3294405 w 3391741"/>
              <a:gd name="connsiteY1" fmla="*/ 1977057 h 1977057"/>
              <a:gd name="connsiteX0" fmla="*/ 0 w 3389485"/>
              <a:gd name="connsiteY0" fmla="*/ 0 h 1977057"/>
              <a:gd name="connsiteX1" fmla="*/ 3294405 w 3389485"/>
              <a:gd name="connsiteY1" fmla="*/ 1977057 h 1977057"/>
              <a:gd name="connsiteX0" fmla="*/ 0 w 3393324"/>
              <a:gd name="connsiteY0" fmla="*/ 0 h 1916097"/>
              <a:gd name="connsiteX1" fmla="*/ 3299485 w 3393324"/>
              <a:gd name="connsiteY1" fmla="*/ 1916097 h 1916097"/>
              <a:gd name="connsiteX0" fmla="*/ 0 w 3299485"/>
              <a:gd name="connsiteY0" fmla="*/ 0 h 1916097"/>
              <a:gd name="connsiteX1" fmla="*/ 3299485 w 3299485"/>
              <a:gd name="connsiteY1" fmla="*/ 1916097 h 1916097"/>
              <a:gd name="connsiteX0" fmla="*/ 0 w 2088762"/>
              <a:gd name="connsiteY0" fmla="*/ 1341877 h 1341930"/>
              <a:gd name="connsiteX1" fmla="*/ 2083245 w 2088762"/>
              <a:gd name="connsiteY1" fmla="*/ 275077 h 1341930"/>
              <a:gd name="connsiteX0" fmla="*/ 0 w 2083245"/>
              <a:gd name="connsiteY0" fmla="*/ 1089993 h 1090078"/>
              <a:gd name="connsiteX1" fmla="*/ 2083245 w 2083245"/>
              <a:gd name="connsiteY1" fmla="*/ 23193 h 1090078"/>
              <a:gd name="connsiteX0" fmla="*/ 0 w 2083245"/>
              <a:gd name="connsiteY0" fmla="*/ 1098866 h 1098866"/>
              <a:gd name="connsiteX1" fmla="*/ 2083245 w 2083245"/>
              <a:gd name="connsiteY1" fmla="*/ 32066 h 1098866"/>
              <a:gd name="connsiteX0" fmla="*/ 0 w 2200085"/>
              <a:gd name="connsiteY0" fmla="*/ 1158069 h 1158069"/>
              <a:gd name="connsiteX1" fmla="*/ 2200085 w 2200085"/>
              <a:gd name="connsiteY1" fmla="*/ 30309 h 1158069"/>
              <a:gd name="connsiteX0" fmla="*/ 0 w 2200085"/>
              <a:gd name="connsiteY0" fmla="*/ 1157543 h 1157543"/>
              <a:gd name="connsiteX1" fmla="*/ 2200085 w 2200085"/>
              <a:gd name="connsiteY1" fmla="*/ 29783 h 1157543"/>
              <a:gd name="connsiteX0" fmla="*/ 0 w 2454085"/>
              <a:gd name="connsiteY0" fmla="*/ 990184 h 990184"/>
              <a:gd name="connsiteX1" fmla="*/ 2454085 w 2454085"/>
              <a:gd name="connsiteY1" fmla="*/ 35144 h 990184"/>
              <a:gd name="connsiteX0" fmla="*/ 0 w 2454085"/>
              <a:gd name="connsiteY0" fmla="*/ 976155 h 976155"/>
              <a:gd name="connsiteX1" fmla="*/ 2454085 w 2454085"/>
              <a:gd name="connsiteY1" fmla="*/ 21115 h 9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54085" h="976155">
                <a:moveTo>
                  <a:pt x="0" y="976155"/>
                </a:moveTo>
                <a:cubicBezTo>
                  <a:pt x="373388" y="597161"/>
                  <a:pt x="1156137" y="-133291"/>
                  <a:pt x="2454085" y="21115"/>
                </a:cubicBezTo>
              </a:path>
            </a:pathLst>
          </a:cu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任意多边形 24">
            <a:extLst>
              <a:ext uri="{FF2B5EF4-FFF2-40B4-BE49-F238E27FC236}">
                <a16:creationId xmlns="" xmlns:a16="http://schemas.microsoft.com/office/drawing/2014/main" id="{38459C5D-B98F-4F25-9270-7BBDE1B2A3BF}"/>
              </a:ext>
            </a:extLst>
          </p:cNvPr>
          <p:cNvSpPr/>
          <p:nvPr/>
        </p:nvSpPr>
        <p:spPr bwMode="gray">
          <a:xfrm>
            <a:off x="4034624" y="2679608"/>
            <a:ext cx="1982060" cy="103568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" fmla="*/ 0 w 3287214"/>
              <a:gd name="connsiteY0" fmla="*/ 0 h 1669002"/>
              <a:gd name="connsiteX1" fmla="*/ 2938508 w 3287214"/>
              <a:gd name="connsiteY1" fmla="*/ 26633 h 1669002"/>
              <a:gd name="connsiteX2" fmla="*/ 3204838 w 3287214"/>
              <a:gd name="connsiteY2" fmla="*/ 1669002 h 1669002"/>
              <a:gd name="connsiteX0" fmla="*/ 0 w 3310312"/>
              <a:gd name="connsiteY0" fmla="*/ 102151 h 1771153"/>
              <a:gd name="connsiteX1" fmla="*/ 2938508 w 3310312"/>
              <a:gd name="connsiteY1" fmla="*/ 128784 h 1771153"/>
              <a:gd name="connsiteX2" fmla="*/ 3204838 w 3310312"/>
              <a:gd name="connsiteY2" fmla="*/ 1771153 h 1771153"/>
              <a:gd name="connsiteX0" fmla="*/ 0 w 3268527"/>
              <a:gd name="connsiteY0" fmla="*/ 449497 h 2118499"/>
              <a:gd name="connsiteX1" fmla="*/ 2823098 w 3268527"/>
              <a:gd name="connsiteY1" fmla="*/ 67757 h 2118499"/>
              <a:gd name="connsiteX2" fmla="*/ 3204838 w 3268527"/>
              <a:gd name="connsiteY2" fmla="*/ 2118499 h 2118499"/>
              <a:gd name="connsiteX0" fmla="*/ 0 w 3245185"/>
              <a:gd name="connsiteY0" fmla="*/ 400710 h 2069712"/>
              <a:gd name="connsiteX1" fmla="*/ 2716566 w 3245185"/>
              <a:gd name="connsiteY1" fmla="*/ 72236 h 2069712"/>
              <a:gd name="connsiteX2" fmla="*/ 3204838 w 3245185"/>
              <a:gd name="connsiteY2" fmla="*/ 2069712 h 2069712"/>
              <a:gd name="connsiteX0" fmla="*/ 0 w 3207623"/>
              <a:gd name="connsiteY0" fmla="*/ 408402 h 2201692"/>
              <a:gd name="connsiteX1" fmla="*/ 2716566 w 3207623"/>
              <a:gd name="connsiteY1" fmla="*/ 79928 h 2201692"/>
              <a:gd name="connsiteX2" fmla="*/ 3160450 w 3207623"/>
              <a:gd name="connsiteY2" fmla="*/ 2201692 h 2201692"/>
              <a:gd name="connsiteX0" fmla="*/ 0 w 3180591"/>
              <a:gd name="connsiteY0" fmla="*/ 408402 h 2201692"/>
              <a:gd name="connsiteX1" fmla="*/ 2716566 w 3180591"/>
              <a:gd name="connsiteY1" fmla="*/ 79928 h 2201692"/>
              <a:gd name="connsiteX2" fmla="*/ 3160450 w 3180591"/>
              <a:gd name="connsiteY2" fmla="*/ 2201692 h 2201692"/>
              <a:gd name="connsiteX0" fmla="*/ 0 w 3598264"/>
              <a:gd name="connsiteY0" fmla="*/ 412296 h 2267729"/>
              <a:gd name="connsiteX1" fmla="*/ 2716566 w 3598264"/>
              <a:gd name="connsiteY1" fmla="*/ 83822 h 2267729"/>
              <a:gd name="connsiteX2" fmla="*/ 3595456 w 3598264"/>
              <a:gd name="connsiteY2" fmla="*/ 2267729 h 2267729"/>
              <a:gd name="connsiteX0" fmla="*/ 0 w 3621154"/>
              <a:gd name="connsiteY0" fmla="*/ 62433 h 1917866"/>
              <a:gd name="connsiteX1" fmla="*/ 3116061 w 3621154"/>
              <a:gd name="connsiteY1" fmla="*/ 168965 h 1917866"/>
              <a:gd name="connsiteX2" fmla="*/ 3595456 w 3621154"/>
              <a:gd name="connsiteY2" fmla="*/ 1917866 h 1917866"/>
              <a:gd name="connsiteX0" fmla="*/ 0 w 3666945"/>
              <a:gd name="connsiteY0" fmla="*/ 0 h 2121763"/>
              <a:gd name="connsiteX1" fmla="*/ 3160450 w 3666945"/>
              <a:gd name="connsiteY1" fmla="*/ 372862 h 2121763"/>
              <a:gd name="connsiteX2" fmla="*/ 3639845 w 3666945"/>
              <a:gd name="connsiteY2" fmla="*/ 2121763 h 2121763"/>
              <a:gd name="connsiteX0" fmla="*/ 0 w 3666945"/>
              <a:gd name="connsiteY0" fmla="*/ 40339 h 2162102"/>
              <a:gd name="connsiteX1" fmla="*/ 3160450 w 3666945"/>
              <a:gd name="connsiteY1" fmla="*/ 413201 h 2162102"/>
              <a:gd name="connsiteX2" fmla="*/ 3639845 w 3666945"/>
              <a:gd name="connsiteY2" fmla="*/ 2162102 h 2162102"/>
              <a:gd name="connsiteX0" fmla="*/ 0 w 3666945"/>
              <a:gd name="connsiteY0" fmla="*/ 47544 h 2116041"/>
              <a:gd name="connsiteX1" fmla="*/ 3160450 w 3666945"/>
              <a:gd name="connsiteY1" fmla="*/ 367140 h 2116041"/>
              <a:gd name="connsiteX2" fmla="*/ 3639845 w 3666945"/>
              <a:gd name="connsiteY2" fmla="*/ 2116041 h 2116041"/>
              <a:gd name="connsiteX0" fmla="*/ 0 w 3666945"/>
              <a:gd name="connsiteY0" fmla="*/ 86260 h 2154757"/>
              <a:gd name="connsiteX1" fmla="*/ 3160450 w 3666945"/>
              <a:gd name="connsiteY1" fmla="*/ 405856 h 2154757"/>
              <a:gd name="connsiteX2" fmla="*/ 3639845 w 3666945"/>
              <a:gd name="connsiteY2" fmla="*/ 2154757 h 2154757"/>
              <a:gd name="connsiteX0" fmla="*/ 0 w 3639845"/>
              <a:gd name="connsiteY0" fmla="*/ 0 h 2068497"/>
              <a:gd name="connsiteX1" fmla="*/ 3639845 w 3639845"/>
              <a:gd name="connsiteY1" fmla="*/ 2068497 h 206849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78831"/>
              <a:gd name="connsiteY0" fmla="*/ 0 h 1971977"/>
              <a:gd name="connsiteX1" fmla="*/ 3650005 w 3678831"/>
              <a:gd name="connsiteY1" fmla="*/ 1971977 h 1971977"/>
              <a:gd name="connsiteX0" fmla="*/ 0 w 3391741"/>
              <a:gd name="connsiteY0" fmla="*/ 0 h 1977057"/>
              <a:gd name="connsiteX1" fmla="*/ 3294405 w 3391741"/>
              <a:gd name="connsiteY1" fmla="*/ 1977057 h 1977057"/>
              <a:gd name="connsiteX0" fmla="*/ 0 w 3389485"/>
              <a:gd name="connsiteY0" fmla="*/ 0 h 1977057"/>
              <a:gd name="connsiteX1" fmla="*/ 3294405 w 3389485"/>
              <a:gd name="connsiteY1" fmla="*/ 1977057 h 1977057"/>
              <a:gd name="connsiteX0" fmla="*/ 0 w 3393324"/>
              <a:gd name="connsiteY0" fmla="*/ 0 h 1916097"/>
              <a:gd name="connsiteX1" fmla="*/ 3299485 w 3393324"/>
              <a:gd name="connsiteY1" fmla="*/ 1916097 h 1916097"/>
              <a:gd name="connsiteX0" fmla="*/ 0 w 3299485"/>
              <a:gd name="connsiteY0" fmla="*/ 0 h 1916097"/>
              <a:gd name="connsiteX1" fmla="*/ 3299485 w 3299485"/>
              <a:gd name="connsiteY1" fmla="*/ 1916097 h 1916097"/>
              <a:gd name="connsiteX0" fmla="*/ 0 w 2088762"/>
              <a:gd name="connsiteY0" fmla="*/ 1341877 h 1341930"/>
              <a:gd name="connsiteX1" fmla="*/ 2083245 w 2088762"/>
              <a:gd name="connsiteY1" fmla="*/ 275077 h 1341930"/>
              <a:gd name="connsiteX0" fmla="*/ 0 w 2083245"/>
              <a:gd name="connsiteY0" fmla="*/ 1089993 h 1090078"/>
              <a:gd name="connsiteX1" fmla="*/ 2083245 w 2083245"/>
              <a:gd name="connsiteY1" fmla="*/ 23193 h 1090078"/>
              <a:gd name="connsiteX0" fmla="*/ 0 w 2083245"/>
              <a:gd name="connsiteY0" fmla="*/ 1098866 h 1098866"/>
              <a:gd name="connsiteX1" fmla="*/ 2083245 w 2083245"/>
              <a:gd name="connsiteY1" fmla="*/ 32066 h 1098866"/>
              <a:gd name="connsiteX0" fmla="*/ 0 w 2200085"/>
              <a:gd name="connsiteY0" fmla="*/ 1158069 h 1158069"/>
              <a:gd name="connsiteX1" fmla="*/ 2200085 w 2200085"/>
              <a:gd name="connsiteY1" fmla="*/ 30309 h 1158069"/>
              <a:gd name="connsiteX0" fmla="*/ 0 w 2200085"/>
              <a:gd name="connsiteY0" fmla="*/ 1157543 h 1157543"/>
              <a:gd name="connsiteX1" fmla="*/ 2200085 w 2200085"/>
              <a:gd name="connsiteY1" fmla="*/ 29783 h 1157543"/>
              <a:gd name="connsiteX0" fmla="*/ 0 w 2454085"/>
              <a:gd name="connsiteY0" fmla="*/ 990184 h 990184"/>
              <a:gd name="connsiteX1" fmla="*/ 2454085 w 2454085"/>
              <a:gd name="connsiteY1" fmla="*/ 35144 h 990184"/>
              <a:gd name="connsiteX0" fmla="*/ 0 w 2454085"/>
              <a:gd name="connsiteY0" fmla="*/ 976155 h 976155"/>
              <a:gd name="connsiteX1" fmla="*/ 2454085 w 2454085"/>
              <a:gd name="connsiteY1" fmla="*/ 21115 h 976155"/>
              <a:gd name="connsiteX0" fmla="*/ 0 w 1927035"/>
              <a:gd name="connsiteY0" fmla="*/ 230395 h 230395"/>
              <a:gd name="connsiteX1" fmla="*/ 1927035 w 1927035"/>
              <a:gd name="connsiteY1" fmla="*/ 173880 h 230395"/>
              <a:gd name="connsiteX0" fmla="*/ 0 w 2165160"/>
              <a:gd name="connsiteY0" fmla="*/ 75406 h 1015841"/>
              <a:gd name="connsiteX1" fmla="*/ 2165160 w 2165160"/>
              <a:gd name="connsiteY1" fmla="*/ 1015841 h 1015841"/>
              <a:gd name="connsiteX0" fmla="*/ 0 w 2165160"/>
              <a:gd name="connsiteY0" fmla="*/ 117592 h 1058027"/>
              <a:gd name="connsiteX1" fmla="*/ 2165160 w 2165160"/>
              <a:gd name="connsiteY1" fmla="*/ 1058027 h 1058027"/>
              <a:gd name="connsiteX0" fmla="*/ 0 w 2165160"/>
              <a:gd name="connsiteY0" fmla="*/ 356 h 940791"/>
              <a:gd name="connsiteX1" fmla="*/ 2165160 w 2165160"/>
              <a:gd name="connsiteY1" fmla="*/ 940791 h 940791"/>
              <a:gd name="connsiteX0" fmla="*/ 0 w 2152460"/>
              <a:gd name="connsiteY0" fmla="*/ 256 h 1035941"/>
              <a:gd name="connsiteX1" fmla="*/ 2152460 w 2152460"/>
              <a:gd name="connsiteY1" fmla="*/ 1035941 h 1035941"/>
              <a:gd name="connsiteX0" fmla="*/ 0 w 2152460"/>
              <a:gd name="connsiteY0" fmla="*/ 0 h 1035685"/>
              <a:gd name="connsiteX1" fmla="*/ 2152460 w 2152460"/>
              <a:gd name="connsiteY1" fmla="*/ 1035685 h 1035685"/>
              <a:gd name="connsiteX0" fmla="*/ 0 w 2152460"/>
              <a:gd name="connsiteY0" fmla="*/ 0 h 1035685"/>
              <a:gd name="connsiteX1" fmla="*/ 2152460 w 2152460"/>
              <a:gd name="connsiteY1" fmla="*/ 1035685 h 103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52460" h="1035685">
                <a:moveTo>
                  <a:pt x="0" y="0"/>
                </a:moveTo>
                <a:cubicBezTo>
                  <a:pt x="1226228" y="40105"/>
                  <a:pt x="1533962" y="312954"/>
                  <a:pt x="2152460" y="1035685"/>
                </a:cubicBezTo>
              </a:path>
            </a:pathLst>
          </a:cu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="" xmlns:a16="http://schemas.microsoft.com/office/drawing/2014/main" id="{8915940D-1AEB-48C9-9ABB-A57009DCC016}"/>
              </a:ext>
            </a:extLst>
          </p:cNvPr>
          <p:cNvSpPr>
            <a:spLocks noChangeAspect="1"/>
          </p:cNvSpPr>
          <p:nvPr/>
        </p:nvSpPr>
        <p:spPr bwMode="gray">
          <a:xfrm>
            <a:off x="1610443" y="3251345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="" xmlns:a16="http://schemas.microsoft.com/office/drawing/2014/main" id="{0BEDFDED-991D-4A47-84E9-7249E9EC4117}"/>
              </a:ext>
            </a:extLst>
          </p:cNvPr>
          <p:cNvSpPr>
            <a:spLocks noChangeAspect="1"/>
          </p:cNvSpPr>
          <p:nvPr/>
        </p:nvSpPr>
        <p:spPr bwMode="gray">
          <a:xfrm>
            <a:off x="4202900" y="2534229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="" xmlns:a16="http://schemas.microsoft.com/office/drawing/2014/main" id="{5BEE3D42-071B-4E77-A8A3-5DEC46D42727}"/>
              </a:ext>
            </a:extLst>
          </p:cNvPr>
          <p:cNvSpPr/>
          <p:nvPr/>
        </p:nvSpPr>
        <p:spPr bwMode="gray">
          <a:xfrm>
            <a:off x="3428265" y="1938146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600" b="1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="" xmlns:a16="http://schemas.microsoft.com/office/drawing/2014/main" id="{475E7CC2-E7CE-4AA1-AE70-F488A1361FB7}"/>
              </a:ext>
            </a:extLst>
          </p:cNvPr>
          <p:cNvSpPr/>
          <p:nvPr/>
        </p:nvSpPr>
        <p:spPr bwMode="gray">
          <a:xfrm>
            <a:off x="6013851" y="4267344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endParaRPr lang="zh-CN" altLang="en-US" sz="16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="" xmlns:a16="http://schemas.microsoft.com/office/drawing/2014/main" id="{57745347-39E9-4A8A-8ABA-2A6F5F174F47}"/>
              </a:ext>
            </a:extLst>
          </p:cNvPr>
          <p:cNvSpPr>
            <a:spLocks noChangeAspect="1"/>
          </p:cNvSpPr>
          <p:nvPr/>
        </p:nvSpPr>
        <p:spPr bwMode="gray">
          <a:xfrm>
            <a:off x="5636363" y="3295734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="" xmlns:a16="http://schemas.microsoft.com/office/drawing/2014/main" id="{540CF04D-96CA-402E-A3CA-9EAC155D10DF}"/>
              </a:ext>
            </a:extLst>
          </p:cNvPr>
          <p:cNvSpPr txBox="1"/>
          <p:nvPr/>
        </p:nvSpPr>
        <p:spPr bwMode="gray">
          <a:xfrm>
            <a:off x="3527965" y="225485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="" xmlns:a16="http://schemas.microsoft.com/office/drawing/2014/main" id="{F5DA316A-C4C0-4F6A-93F5-E501E7B00FE3}"/>
              </a:ext>
            </a:extLst>
          </p:cNvPr>
          <p:cNvSpPr txBox="1"/>
          <p:nvPr/>
        </p:nvSpPr>
        <p:spPr bwMode="gray">
          <a:xfrm>
            <a:off x="5025654" y="225485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="" xmlns:a16="http://schemas.microsoft.com/office/drawing/2014/main" id="{4CBE0C83-A20B-4006-A445-BFD0C9D7E946}"/>
              </a:ext>
            </a:extLst>
          </p:cNvPr>
          <p:cNvSpPr txBox="1"/>
          <p:nvPr/>
        </p:nvSpPr>
        <p:spPr bwMode="gray">
          <a:xfrm>
            <a:off x="6081839" y="4019021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="" xmlns:a16="http://schemas.microsoft.com/office/drawing/2014/main" id="{98304C23-E33A-404A-856E-8B33FAE2AC5D}"/>
              </a:ext>
            </a:extLst>
          </p:cNvPr>
          <p:cNvSpPr txBox="1"/>
          <p:nvPr/>
        </p:nvSpPr>
        <p:spPr bwMode="gray">
          <a:xfrm>
            <a:off x="671854" y="4015889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="" xmlns:a16="http://schemas.microsoft.com/office/drawing/2014/main" id="{668E0887-A683-40F0-A97D-41301B76C11B}"/>
              </a:ext>
            </a:extLst>
          </p:cNvPr>
          <p:cNvSpPr txBox="1"/>
          <p:nvPr/>
        </p:nvSpPr>
        <p:spPr bwMode="gray">
          <a:xfrm>
            <a:off x="1704646" y="2254856"/>
            <a:ext cx="405880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="" xmlns:a16="http://schemas.microsoft.com/office/drawing/2014/main" id="{C242258A-C9D1-4BAA-B851-9AA745789774}"/>
              </a:ext>
            </a:extLst>
          </p:cNvPr>
          <p:cNvSpPr txBox="1"/>
          <p:nvPr/>
        </p:nvSpPr>
        <p:spPr bwMode="gray">
          <a:xfrm>
            <a:off x="1704646" y="492316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="" xmlns:a16="http://schemas.microsoft.com/office/drawing/2014/main" id="{C434CECA-3ADB-4E31-B7EC-4E17E5534124}"/>
              </a:ext>
            </a:extLst>
          </p:cNvPr>
          <p:cNvSpPr txBox="1"/>
          <p:nvPr/>
        </p:nvSpPr>
        <p:spPr bwMode="gray">
          <a:xfrm>
            <a:off x="3526673" y="492316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="" xmlns:a16="http://schemas.microsoft.com/office/drawing/2014/main" id="{EC61D3DF-CB02-452D-A291-458469EA05D5}"/>
              </a:ext>
            </a:extLst>
          </p:cNvPr>
          <p:cNvSpPr txBox="1"/>
          <p:nvPr/>
        </p:nvSpPr>
        <p:spPr bwMode="gray">
          <a:xfrm>
            <a:off x="5025654" y="4923167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="" xmlns:a16="http://schemas.microsoft.com/office/drawing/2014/main" id="{461AE33A-4577-4A64-91A3-3CF0425A69A9}"/>
              </a:ext>
            </a:extLst>
          </p:cNvPr>
          <p:cNvSpPr/>
          <p:nvPr/>
        </p:nvSpPr>
        <p:spPr bwMode="gray">
          <a:xfrm>
            <a:off x="599836" y="2333989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="" xmlns:a16="http://schemas.microsoft.com/office/drawing/2014/main" id="{31338A67-7DB7-4CFD-9AF7-9A07B09E30A9}"/>
              </a:ext>
            </a:extLst>
          </p:cNvPr>
          <p:cNvSpPr/>
          <p:nvPr/>
        </p:nvSpPr>
        <p:spPr bwMode="gray">
          <a:xfrm>
            <a:off x="599836" y="2550349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="" xmlns:a16="http://schemas.microsoft.com/office/drawing/2014/main" id="{92046328-CC98-4DAD-8918-D5C86B0FD7E9}"/>
              </a:ext>
            </a:extLst>
          </p:cNvPr>
          <p:cNvSpPr/>
          <p:nvPr/>
        </p:nvSpPr>
        <p:spPr bwMode="gray">
          <a:xfrm>
            <a:off x="599836" y="2766709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="" xmlns:a16="http://schemas.microsoft.com/office/drawing/2014/main" id="{482149F0-9382-48E1-94A6-72ED46CF4A00}"/>
              </a:ext>
            </a:extLst>
          </p:cNvPr>
          <p:cNvCxnSpPr/>
          <p:nvPr/>
        </p:nvCxnSpPr>
        <p:spPr bwMode="gray">
          <a:xfrm>
            <a:off x="868108" y="3029056"/>
            <a:ext cx="0" cy="508634"/>
          </a:xfrm>
          <a:prstGeom prst="straightConnector1">
            <a:avLst/>
          </a:pr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="" xmlns:a16="http://schemas.microsoft.com/office/drawing/2014/main" id="{E27BAC0C-0BC9-4689-9996-9FFFBA35FC0D}"/>
              </a:ext>
            </a:extLst>
          </p:cNvPr>
          <p:cNvSpPr/>
          <p:nvPr/>
        </p:nvSpPr>
        <p:spPr bwMode="gray">
          <a:xfrm>
            <a:off x="6685504" y="1854423"/>
            <a:ext cx="49230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源路由（</a:t>
            </a:r>
            <a:r>
              <a:rPr lang="en-US" altLang="zh-CN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Source Routing</a:t>
            </a:r>
            <a:r>
              <a:rPr lang="zh-CN" altLang="en-US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）：</a:t>
            </a:r>
            <a:endParaRPr lang="en-US" altLang="zh-CN" sz="1600" kern="100" dirty="0"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  <a:p>
            <a:pPr marL="742990" lvl="1" indent="-285750" algn="just">
              <a:lnSpc>
                <a:spcPts val="2400"/>
              </a:lnSpc>
              <a:spcAft>
                <a:spcPts val="600"/>
              </a:spcAft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在源节点选择一条路径并在报文中压入一个有序的标签栈。</a:t>
            </a:r>
            <a:endParaRPr lang="en-US" altLang="zh-CN" sz="1400" kern="100" dirty="0"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  <a:p>
            <a:pPr marL="742990" lvl="1" indent="-285750" algn="just">
              <a:lnSpc>
                <a:spcPts val="2400"/>
              </a:lnSpc>
              <a:spcAft>
                <a:spcPts val="600"/>
              </a:spcAft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网络中的其他节点按照报文封装的标签栈进行转发。</a:t>
            </a:r>
            <a:endParaRPr lang="en-US" altLang="zh-CN" sz="1400" kern="100" dirty="0"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SR</a:t>
            </a:r>
            <a:r>
              <a:rPr lang="zh-CN" altLang="en-US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具有如下特点：</a:t>
            </a:r>
          </a:p>
          <a:p>
            <a:pPr marL="742990" lvl="1" indent="-285750" algn="just">
              <a:lnSpc>
                <a:spcPts val="2400"/>
              </a:lnSpc>
              <a:spcAft>
                <a:spcPts val="600"/>
              </a:spcAft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通过对现有协议（例如</a:t>
            </a:r>
            <a:r>
              <a:rPr lang="en-US" altLang="zh-CN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IGP</a:t>
            </a: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）进行扩展，能使现有网络更好的平滑演进。</a:t>
            </a:r>
          </a:p>
          <a:p>
            <a:pPr marL="742990" lvl="1" indent="-285750" algn="just">
              <a:lnSpc>
                <a:spcPts val="2400"/>
              </a:lnSpc>
              <a:spcAft>
                <a:spcPts val="600"/>
              </a:spcAft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同时支持控制器的集中控制模式和转发器的分布控制模式，提供集中控制和分布控制之间的平衡。</a:t>
            </a:r>
          </a:p>
          <a:p>
            <a:pPr marL="742990" lvl="1" indent="-285750" algn="just">
              <a:lnSpc>
                <a:spcPts val="2400"/>
              </a:lnSpc>
              <a:spcAft>
                <a:spcPts val="600"/>
              </a:spcAft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采用源路由技术，提供网络和上层应用快速交互的能力。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="" xmlns:a16="http://schemas.microsoft.com/office/drawing/2014/main" id="{7F81AFA9-C176-426A-A265-D058F6BB91ED}"/>
              </a:ext>
            </a:extLst>
          </p:cNvPr>
          <p:cNvSpPr/>
          <p:nvPr/>
        </p:nvSpPr>
        <p:spPr bwMode="gray">
          <a:xfrm>
            <a:off x="4955792" y="1938146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6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="" xmlns:a16="http://schemas.microsoft.com/office/drawing/2014/main" id="{20F4FEC5-0DB2-476E-AC7C-DB93FF9B4005}"/>
              </a:ext>
            </a:extLst>
          </p:cNvPr>
          <p:cNvSpPr/>
          <p:nvPr/>
        </p:nvSpPr>
        <p:spPr bwMode="gray">
          <a:xfrm>
            <a:off x="3428265" y="5230944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</a:t>
            </a:r>
            <a:endParaRPr lang="zh-CN" altLang="en-US" sz="16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="" xmlns:a16="http://schemas.microsoft.com/office/drawing/2014/main" id="{333C1513-954C-4F73-BBD3-98616A951DD4}"/>
              </a:ext>
            </a:extLst>
          </p:cNvPr>
          <p:cNvSpPr/>
          <p:nvPr/>
        </p:nvSpPr>
        <p:spPr bwMode="gray">
          <a:xfrm>
            <a:off x="4999090" y="5230944"/>
            <a:ext cx="540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700</a:t>
            </a:r>
            <a:endParaRPr lang="zh-CN" altLang="en-US" sz="16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="" xmlns:a16="http://schemas.microsoft.com/office/drawing/2014/main" id="{D35D6D91-943A-40FE-980D-3673313D3264}"/>
              </a:ext>
            </a:extLst>
          </p:cNvPr>
          <p:cNvSpPr txBox="1"/>
          <p:nvPr/>
        </p:nvSpPr>
        <p:spPr bwMode="gray">
          <a:xfrm>
            <a:off x="536143" y="2022320"/>
            <a:ext cx="72327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</a:t>
            </a:r>
          </a:p>
        </p:txBody>
      </p:sp>
      <p:sp>
        <p:nvSpPr>
          <p:cNvPr id="70" name="五边形 69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燕尾形 71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燕尾形 75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4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3A84F4B-DBEA-4D27-B8ED-94D64F126A7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BE</a:t>
            </a:r>
            <a:r>
              <a:rPr lang="zh-CN" altLang="en-US">
                <a:sym typeface="Huawei Sans" panose="020C0503030203020204" pitchFamily="34" charset="0"/>
              </a:rPr>
              <a:t>与</a:t>
            </a:r>
            <a:r>
              <a:rPr lang="en-US" altLang="zh-CN">
                <a:sym typeface="Huawei Sans" panose="020C0503030203020204" pitchFamily="34" charset="0"/>
              </a:rPr>
              <a:t>SR-MPLS TE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F1B6F2D-51E0-46DC-8E25-8E28E0553F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SR-MPLS</a:t>
            </a:r>
            <a:r>
              <a:rPr lang="zh-CN" altLang="en-US" sz="1600" dirty="0">
                <a:sym typeface="Huawei Sans" panose="020C0503030203020204" pitchFamily="34" charset="0"/>
              </a:rPr>
              <a:t>的隧道技术有两种实现方式，</a:t>
            </a:r>
            <a:r>
              <a:rPr lang="en-US" altLang="zh-CN" sz="1600" dirty="0">
                <a:sym typeface="Huawei Sans" panose="020C0503030203020204" pitchFamily="34" charset="0"/>
              </a:rPr>
              <a:t>SR-MPLS BE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Best Effort</a:t>
            </a:r>
            <a:r>
              <a:rPr lang="zh-CN" altLang="en-US" sz="1600" dirty="0">
                <a:sym typeface="Huawei Sans" panose="020C0503030203020204" pitchFamily="34" charset="0"/>
              </a:rPr>
              <a:t>）和</a:t>
            </a:r>
            <a:r>
              <a:rPr lang="en-US" altLang="zh-CN" sz="1600" dirty="0">
                <a:sym typeface="Huawei Sans" panose="020C0503030203020204" pitchFamily="34" charset="0"/>
              </a:rPr>
              <a:t>SR-MPLS TE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Traffic Engineering</a:t>
            </a:r>
            <a:r>
              <a:rPr lang="zh-CN" altLang="en-US" sz="1600" dirty="0">
                <a:sym typeface="Huawei Sans" panose="020C0503030203020204" pitchFamily="34" charset="0"/>
              </a:rPr>
              <a:t>）。</a:t>
            </a:r>
          </a:p>
        </p:txBody>
      </p:sp>
      <p:sp>
        <p:nvSpPr>
          <p:cNvPr id="4" name="圆角矩形 75">
            <a:extLst>
              <a:ext uri="{FF2B5EF4-FFF2-40B4-BE49-F238E27FC236}">
                <a16:creationId xmlns="" xmlns:a16="http://schemas.microsoft.com/office/drawing/2014/main" id="{D6D25D31-C7DD-4A66-A41D-FB6EB00231FC}"/>
              </a:ext>
            </a:extLst>
          </p:cNvPr>
          <p:cNvSpPr/>
          <p:nvPr/>
        </p:nvSpPr>
        <p:spPr bwMode="gray">
          <a:xfrm>
            <a:off x="508518" y="1699893"/>
            <a:ext cx="5269978" cy="39402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75">
            <a:extLst>
              <a:ext uri="{FF2B5EF4-FFF2-40B4-BE49-F238E27FC236}">
                <a16:creationId xmlns="" xmlns:a16="http://schemas.microsoft.com/office/drawing/2014/main" id="{A60A9D72-25F7-4C3D-BA2B-DB660DC63EA4}"/>
              </a:ext>
            </a:extLst>
          </p:cNvPr>
          <p:cNvSpPr/>
          <p:nvPr/>
        </p:nvSpPr>
        <p:spPr bwMode="gray">
          <a:xfrm>
            <a:off x="508518" y="2184400"/>
            <a:ext cx="5269978" cy="3936890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转发路径：与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类似，由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最短路径算法计算生成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只有一层标签（目的节点）。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BE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在生产环境中一般作为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的容灾方案。例如控制器故障导致下发隧道失效时，可依靠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生成转发隧道。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75">
            <a:extLst>
              <a:ext uri="{FF2B5EF4-FFF2-40B4-BE49-F238E27FC236}">
                <a16:creationId xmlns="" xmlns:a16="http://schemas.microsoft.com/office/drawing/2014/main" id="{C953866C-9EB5-443F-B1F9-5DE16BAEB184}"/>
              </a:ext>
            </a:extLst>
          </p:cNvPr>
          <p:cNvSpPr/>
          <p:nvPr/>
        </p:nvSpPr>
        <p:spPr bwMode="gray">
          <a:xfrm>
            <a:off x="6129086" y="1702014"/>
            <a:ext cx="5379212" cy="39402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endParaRPr lang="en-US" altLang="zh-CN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75">
            <a:extLst>
              <a:ext uri="{FF2B5EF4-FFF2-40B4-BE49-F238E27FC236}">
                <a16:creationId xmlns="" xmlns:a16="http://schemas.microsoft.com/office/drawing/2014/main" id="{A5C093EC-5074-4DC0-972A-5E4E109BEB4A}"/>
              </a:ext>
            </a:extLst>
          </p:cNvPr>
          <p:cNvSpPr/>
          <p:nvPr/>
        </p:nvSpPr>
        <p:spPr bwMode="gray">
          <a:xfrm>
            <a:off x="6129086" y="2186705"/>
            <a:ext cx="5379212" cy="3934696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转发路径：基于</a:t>
            </a: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的约束属性，利用</a:t>
            </a: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创建的隧道。</a:t>
            </a: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一般有多层标签，以实现路径控制，同时也支持主备多路径。</a:t>
            </a:r>
            <a:endParaRPr lang="en-US" altLang="zh-CN" sz="14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 TE</a:t>
            </a:r>
            <a:r>
              <a: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一般与控制器结合。由控制器全局计算路径后，在头节点下发标签栈。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" name="图片 3">
            <a:extLst>
              <a:ext uri="{FF2B5EF4-FFF2-40B4-BE49-F238E27FC236}">
                <a16:creationId xmlns="" xmlns:a16="http://schemas.microsoft.com/office/drawing/2014/main" id="{8355034F-C623-4F64-A8EB-E511185CFF6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60970" y="4183424"/>
            <a:ext cx="475610" cy="390000"/>
          </a:xfrm>
          <a:prstGeom prst="rect">
            <a:avLst/>
          </a:prstGeom>
        </p:spPr>
      </p:pic>
      <p:pic>
        <p:nvPicPr>
          <p:cNvPr id="9" name="图片 3">
            <a:extLst>
              <a:ext uri="{FF2B5EF4-FFF2-40B4-BE49-F238E27FC236}">
                <a16:creationId xmlns="" xmlns:a16="http://schemas.microsoft.com/office/drawing/2014/main" id="{111A7492-7391-4EC1-AE49-8C57326B43A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60970" y="5643971"/>
            <a:ext cx="475610" cy="390000"/>
          </a:xfrm>
          <a:prstGeom prst="rect">
            <a:avLst/>
          </a:prstGeom>
        </p:spPr>
      </p:pic>
      <p:pic>
        <p:nvPicPr>
          <p:cNvPr id="10" name="图片 3">
            <a:extLst>
              <a:ext uri="{FF2B5EF4-FFF2-40B4-BE49-F238E27FC236}">
                <a16:creationId xmlns="" xmlns:a16="http://schemas.microsoft.com/office/drawing/2014/main" id="{FCC348CB-C17C-46C5-BD7D-947B0ECB508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46138" y="4896919"/>
            <a:ext cx="475610" cy="390000"/>
          </a:xfrm>
          <a:prstGeom prst="rect">
            <a:avLst/>
          </a:prstGeom>
        </p:spPr>
      </p:pic>
      <p:pic>
        <p:nvPicPr>
          <p:cNvPr id="11" name="图片 3">
            <a:extLst>
              <a:ext uri="{FF2B5EF4-FFF2-40B4-BE49-F238E27FC236}">
                <a16:creationId xmlns="" xmlns:a16="http://schemas.microsoft.com/office/drawing/2014/main" id="{C13ED58C-862B-4353-861E-9BC6AE10989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71013" y="4898873"/>
            <a:ext cx="475610" cy="390000"/>
          </a:xfrm>
          <a:prstGeom prst="rect">
            <a:avLst/>
          </a:prstGeom>
        </p:spPr>
      </p:pic>
      <p:pic>
        <p:nvPicPr>
          <p:cNvPr id="12" name="图片 3">
            <a:extLst>
              <a:ext uri="{FF2B5EF4-FFF2-40B4-BE49-F238E27FC236}">
                <a16:creationId xmlns="" xmlns:a16="http://schemas.microsoft.com/office/drawing/2014/main" id="{B309ABAE-6284-47F3-B0B6-E9B4C1C2AE3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24746" y="4906771"/>
            <a:ext cx="475610" cy="390000"/>
          </a:xfrm>
          <a:prstGeom prst="rect">
            <a:avLst/>
          </a:prstGeom>
        </p:spPr>
      </p:pic>
      <p:cxnSp>
        <p:nvCxnSpPr>
          <p:cNvPr id="13" name="Straight Connector 50">
            <a:extLst>
              <a:ext uri="{FF2B5EF4-FFF2-40B4-BE49-F238E27FC236}">
                <a16:creationId xmlns="" xmlns:a16="http://schemas.microsoft.com/office/drawing/2014/main" id="{BF144903-12A9-444E-BF0D-36EA7261FCC4}"/>
              </a:ext>
            </a:extLst>
          </p:cNvPr>
          <p:cNvCxnSpPr>
            <a:stCxn id="8" idx="1"/>
            <a:endCxn id="10" idx="0"/>
          </p:cNvCxnSpPr>
          <p:nvPr/>
        </p:nvCxnSpPr>
        <p:spPr bwMode="gray">
          <a:xfrm flipH="1">
            <a:off x="2483943" y="4378424"/>
            <a:ext cx="977027" cy="51849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52">
            <a:extLst>
              <a:ext uri="{FF2B5EF4-FFF2-40B4-BE49-F238E27FC236}">
                <a16:creationId xmlns="" xmlns:a16="http://schemas.microsoft.com/office/drawing/2014/main" id="{F8993FA5-0ED9-41B2-A6DA-2944B2F830AC}"/>
              </a:ext>
            </a:extLst>
          </p:cNvPr>
          <p:cNvCxnSpPr>
            <a:stCxn id="9" idx="1"/>
            <a:endCxn id="10" idx="2"/>
          </p:cNvCxnSpPr>
          <p:nvPr/>
        </p:nvCxnSpPr>
        <p:spPr bwMode="gray">
          <a:xfrm flipH="1" flipV="1">
            <a:off x="2483943" y="5286919"/>
            <a:ext cx="977027" cy="5520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55">
            <a:extLst>
              <a:ext uri="{FF2B5EF4-FFF2-40B4-BE49-F238E27FC236}">
                <a16:creationId xmlns="" xmlns:a16="http://schemas.microsoft.com/office/drawing/2014/main" id="{1106FACA-8C54-4F36-A887-24A0009700F9}"/>
              </a:ext>
            </a:extLst>
          </p:cNvPr>
          <p:cNvCxnSpPr>
            <a:stCxn id="11" idx="0"/>
            <a:endCxn id="8" idx="3"/>
          </p:cNvCxnSpPr>
          <p:nvPr/>
        </p:nvCxnSpPr>
        <p:spPr bwMode="gray">
          <a:xfrm flipH="1" flipV="1">
            <a:off x="3936580" y="4378424"/>
            <a:ext cx="1072238" cy="52044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58">
            <a:extLst>
              <a:ext uri="{FF2B5EF4-FFF2-40B4-BE49-F238E27FC236}">
                <a16:creationId xmlns="" xmlns:a16="http://schemas.microsoft.com/office/drawing/2014/main" id="{98B11814-A970-4A00-A837-5DD58F622A1C}"/>
              </a:ext>
            </a:extLst>
          </p:cNvPr>
          <p:cNvCxnSpPr>
            <a:stCxn id="11" idx="2"/>
            <a:endCxn id="9" idx="3"/>
          </p:cNvCxnSpPr>
          <p:nvPr/>
        </p:nvCxnSpPr>
        <p:spPr bwMode="gray">
          <a:xfrm flipH="1">
            <a:off x="3936580" y="5288873"/>
            <a:ext cx="1072238" cy="5500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61">
            <a:extLst>
              <a:ext uri="{FF2B5EF4-FFF2-40B4-BE49-F238E27FC236}">
                <a16:creationId xmlns="" xmlns:a16="http://schemas.microsoft.com/office/drawing/2014/main" id="{A7B47222-13FD-4894-8075-CFAC8BA82C06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 bwMode="gray">
          <a:xfrm flipV="1">
            <a:off x="1500356" y="5091919"/>
            <a:ext cx="745782" cy="98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30">
            <a:extLst>
              <a:ext uri="{FF2B5EF4-FFF2-40B4-BE49-F238E27FC236}">
                <a16:creationId xmlns="" xmlns:a16="http://schemas.microsoft.com/office/drawing/2014/main" id="{A0210897-59E6-4246-B9BD-A4E52C935E9B}"/>
              </a:ext>
            </a:extLst>
          </p:cNvPr>
          <p:cNvSpPr txBox="1"/>
          <p:nvPr/>
        </p:nvSpPr>
        <p:spPr bwMode="gray">
          <a:xfrm>
            <a:off x="1866013" y="4340476"/>
            <a:ext cx="998056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auto"/>
            <a:r>
              <a:rPr lang="zh-CN" altLang="en-US" sz="1600">
                <a:solidFill>
                  <a:srgbClr val="10B55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最短路径</a:t>
            </a:r>
            <a:endParaRPr lang="zh-CN" altLang="en-US" sz="1600" dirty="0">
              <a:solidFill>
                <a:srgbClr val="10B55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Freeform 80">
            <a:extLst>
              <a:ext uri="{FF2B5EF4-FFF2-40B4-BE49-F238E27FC236}">
                <a16:creationId xmlns="" xmlns:a16="http://schemas.microsoft.com/office/drawing/2014/main" id="{EAC6F9D4-00AE-4AD6-8172-42052A03BA4B}"/>
              </a:ext>
            </a:extLst>
          </p:cNvPr>
          <p:cNvSpPr/>
          <p:nvPr/>
        </p:nvSpPr>
        <p:spPr bwMode="gray">
          <a:xfrm rot="5400000">
            <a:off x="2928708" y="3111816"/>
            <a:ext cx="499760" cy="3082852"/>
          </a:xfrm>
          <a:custGeom>
            <a:avLst/>
            <a:gdLst>
              <a:gd name="connsiteX0" fmla="*/ 523903 w 638203"/>
              <a:gd name="connsiteY0" fmla="*/ 0 h 2114550"/>
              <a:gd name="connsiteX1" fmla="*/ 28 w 638203"/>
              <a:gd name="connsiteY1" fmla="*/ 504825 h 2114550"/>
              <a:gd name="connsiteX2" fmla="*/ 542953 w 638203"/>
              <a:gd name="connsiteY2" fmla="*/ 1304925 h 2114550"/>
              <a:gd name="connsiteX3" fmla="*/ 638203 w 638203"/>
              <a:gd name="connsiteY3" fmla="*/ 2114550 h 211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203" h="2114550">
                <a:moveTo>
                  <a:pt x="523903" y="0"/>
                </a:moveTo>
                <a:cubicBezTo>
                  <a:pt x="260378" y="143669"/>
                  <a:pt x="-3147" y="287338"/>
                  <a:pt x="28" y="504825"/>
                </a:cubicBezTo>
                <a:cubicBezTo>
                  <a:pt x="3203" y="722312"/>
                  <a:pt x="436591" y="1036638"/>
                  <a:pt x="542953" y="1304925"/>
                </a:cubicBezTo>
                <a:cubicBezTo>
                  <a:pt x="649315" y="1573212"/>
                  <a:pt x="612803" y="1990725"/>
                  <a:pt x="638203" y="2114550"/>
                </a:cubicBezTo>
              </a:path>
            </a:pathLst>
          </a:custGeom>
          <a:noFill/>
          <a:ln w="38100">
            <a:solidFill>
              <a:srgbClr val="10B55B"/>
            </a:solidFill>
            <a:headEnd type="triangl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TextBox 34">
            <a:extLst>
              <a:ext uri="{FF2B5EF4-FFF2-40B4-BE49-F238E27FC236}">
                <a16:creationId xmlns="" xmlns:a16="http://schemas.microsoft.com/office/drawing/2014/main" id="{E12B550B-592C-4394-B66E-EF145536E6F1}"/>
              </a:ext>
            </a:extLst>
          </p:cNvPr>
          <p:cNvSpPr txBox="1"/>
          <p:nvPr/>
        </p:nvSpPr>
        <p:spPr bwMode="gray">
          <a:xfrm>
            <a:off x="10159647" y="5657381"/>
            <a:ext cx="715928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auto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5" name="图片 3">
            <a:extLst>
              <a:ext uri="{FF2B5EF4-FFF2-40B4-BE49-F238E27FC236}">
                <a16:creationId xmlns="" xmlns:a16="http://schemas.microsoft.com/office/drawing/2014/main" id="{FE3648E6-D526-415D-BC5B-D0AEA994C79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20316" y="4183424"/>
            <a:ext cx="475610" cy="390000"/>
          </a:xfrm>
          <a:prstGeom prst="rect">
            <a:avLst/>
          </a:prstGeom>
        </p:spPr>
      </p:pic>
      <p:pic>
        <p:nvPicPr>
          <p:cNvPr id="26" name="图片 3">
            <a:extLst>
              <a:ext uri="{FF2B5EF4-FFF2-40B4-BE49-F238E27FC236}">
                <a16:creationId xmlns="" xmlns:a16="http://schemas.microsoft.com/office/drawing/2014/main" id="{582DFF41-B864-4E1C-A061-548283F451F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20316" y="5643971"/>
            <a:ext cx="475610" cy="390000"/>
          </a:xfrm>
          <a:prstGeom prst="rect">
            <a:avLst/>
          </a:prstGeom>
        </p:spPr>
      </p:pic>
      <p:pic>
        <p:nvPicPr>
          <p:cNvPr id="27" name="图片 3">
            <a:extLst>
              <a:ext uri="{FF2B5EF4-FFF2-40B4-BE49-F238E27FC236}">
                <a16:creationId xmlns="" xmlns:a16="http://schemas.microsoft.com/office/drawing/2014/main" id="{7C29DC46-D042-41F2-980C-95263B063EB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05484" y="4896919"/>
            <a:ext cx="475610" cy="390000"/>
          </a:xfrm>
          <a:prstGeom prst="rect">
            <a:avLst/>
          </a:prstGeom>
        </p:spPr>
      </p:pic>
      <p:pic>
        <p:nvPicPr>
          <p:cNvPr id="28" name="图片 3">
            <a:extLst>
              <a:ext uri="{FF2B5EF4-FFF2-40B4-BE49-F238E27FC236}">
                <a16:creationId xmlns="" xmlns:a16="http://schemas.microsoft.com/office/drawing/2014/main" id="{FCCE5647-BED1-4015-BD83-D97CA14F3F1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355759" y="4898873"/>
            <a:ext cx="475610" cy="390000"/>
          </a:xfrm>
          <a:prstGeom prst="rect">
            <a:avLst/>
          </a:prstGeom>
        </p:spPr>
      </p:pic>
      <p:pic>
        <p:nvPicPr>
          <p:cNvPr id="29" name="图片 3">
            <a:extLst>
              <a:ext uri="{FF2B5EF4-FFF2-40B4-BE49-F238E27FC236}">
                <a16:creationId xmlns="" xmlns:a16="http://schemas.microsoft.com/office/drawing/2014/main" id="{E53C5D68-3E31-4FF3-9CE0-053C3121853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584092" y="4906771"/>
            <a:ext cx="475610" cy="390000"/>
          </a:xfrm>
          <a:prstGeom prst="rect">
            <a:avLst/>
          </a:prstGeom>
        </p:spPr>
      </p:pic>
      <p:cxnSp>
        <p:nvCxnSpPr>
          <p:cNvPr id="30" name="Straight Connector 50">
            <a:extLst>
              <a:ext uri="{FF2B5EF4-FFF2-40B4-BE49-F238E27FC236}">
                <a16:creationId xmlns="" xmlns:a16="http://schemas.microsoft.com/office/drawing/2014/main" id="{B7706EEB-2D04-47D2-9EE1-ABD05E6F563E}"/>
              </a:ext>
            </a:extLst>
          </p:cNvPr>
          <p:cNvCxnSpPr>
            <a:stCxn id="25" idx="1"/>
            <a:endCxn id="27" idx="0"/>
          </p:cNvCxnSpPr>
          <p:nvPr/>
        </p:nvCxnSpPr>
        <p:spPr bwMode="gray">
          <a:xfrm flipH="1">
            <a:off x="8043289" y="4378424"/>
            <a:ext cx="977027" cy="51849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52">
            <a:extLst>
              <a:ext uri="{FF2B5EF4-FFF2-40B4-BE49-F238E27FC236}">
                <a16:creationId xmlns="" xmlns:a16="http://schemas.microsoft.com/office/drawing/2014/main" id="{90F69243-D9E3-4A2F-95B1-FB35CA50A89E}"/>
              </a:ext>
            </a:extLst>
          </p:cNvPr>
          <p:cNvCxnSpPr>
            <a:stCxn id="26" idx="1"/>
            <a:endCxn id="27" idx="2"/>
          </p:cNvCxnSpPr>
          <p:nvPr/>
        </p:nvCxnSpPr>
        <p:spPr bwMode="gray">
          <a:xfrm flipH="1" flipV="1">
            <a:off x="8043289" y="5286919"/>
            <a:ext cx="977027" cy="5520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55">
            <a:extLst>
              <a:ext uri="{FF2B5EF4-FFF2-40B4-BE49-F238E27FC236}">
                <a16:creationId xmlns="" xmlns:a16="http://schemas.microsoft.com/office/drawing/2014/main" id="{E71A26BB-0201-45B2-9D3D-968EC5393231}"/>
              </a:ext>
            </a:extLst>
          </p:cNvPr>
          <p:cNvCxnSpPr>
            <a:stCxn id="28" idx="0"/>
            <a:endCxn id="25" idx="3"/>
          </p:cNvCxnSpPr>
          <p:nvPr/>
        </p:nvCxnSpPr>
        <p:spPr bwMode="gray">
          <a:xfrm flipH="1" flipV="1">
            <a:off x="9495926" y="4378424"/>
            <a:ext cx="1097638" cy="52044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58">
            <a:extLst>
              <a:ext uri="{FF2B5EF4-FFF2-40B4-BE49-F238E27FC236}">
                <a16:creationId xmlns="" xmlns:a16="http://schemas.microsoft.com/office/drawing/2014/main" id="{CA92930E-4714-41CE-B2D2-0A9A627B4259}"/>
              </a:ext>
            </a:extLst>
          </p:cNvPr>
          <p:cNvCxnSpPr>
            <a:stCxn id="28" idx="2"/>
            <a:endCxn id="26" idx="3"/>
          </p:cNvCxnSpPr>
          <p:nvPr/>
        </p:nvCxnSpPr>
        <p:spPr bwMode="gray">
          <a:xfrm flipH="1">
            <a:off x="9495926" y="5288873"/>
            <a:ext cx="1097638" cy="5500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61">
            <a:extLst>
              <a:ext uri="{FF2B5EF4-FFF2-40B4-BE49-F238E27FC236}">
                <a16:creationId xmlns="" xmlns:a16="http://schemas.microsoft.com/office/drawing/2014/main" id="{DBBB8D5E-E04E-4A9B-BEC1-21D909C8AA76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 bwMode="gray">
          <a:xfrm flipV="1">
            <a:off x="7059702" y="5091919"/>
            <a:ext cx="745782" cy="98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5092C1EF-F847-49FA-B945-DCADAA4045CA}"/>
              </a:ext>
            </a:extLst>
          </p:cNvPr>
          <p:cNvSpPr/>
          <p:nvPr/>
        </p:nvSpPr>
        <p:spPr bwMode="gray">
          <a:xfrm>
            <a:off x="3424406" y="3892765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="" xmlns:a16="http://schemas.microsoft.com/office/drawing/2014/main" id="{2A36DE20-8E52-4B73-86F4-575EA9BDF573}"/>
              </a:ext>
            </a:extLst>
          </p:cNvPr>
          <p:cNvSpPr/>
          <p:nvPr/>
        </p:nvSpPr>
        <p:spPr bwMode="gray">
          <a:xfrm>
            <a:off x="973946" y="4285823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682B41BE-4234-46E1-A68E-F6418C1F67FE}"/>
              </a:ext>
            </a:extLst>
          </p:cNvPr>
          <p:cNvSpPr/>
          <p:nvPr/>
        </p:nvSpPr>
        <p:spPr bwMode="gray">
          <a:xfrm>
            <a:off x="973946" y="4502183"/>
            <a:ext cx="582046" cy="215444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2E204DB7-46F9-4BF4-9995-7318F8F81F36}"/>
              </a:ext>
            </a:extLst>
          </p:cNvPr>
          <p:cNvSpPr/>
          <p:nvPr/>
        </p:nvSpPr>
        <p:spPr bwMode="gray">
          <a:xfrm>
            <a:off x="4808915" y="4527403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B9EE170F-D2E2-4D0B-8821-026ACC4E772A}"/>
              </a:ext>
            </a:extLst>
          </p:cNvPr>
          <p:cNvSpPr/>
          <p:nvPr/>
        </p:nvSpPr>
        <p:spPr bwMode="gray">
          <a:xfrm>
            <a:off x="3434147" y="5361774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Freeform 32">
            <a:extLst>
              <a:ext uri="{FF2B5EF4-FFF2-40B4-BE49-F238E27FC236}">
                <a16:creationId xmlns="" xmlns:a16="http://schemas.microsoft.com/office/drawing/2014/main" id="{04CD0C20-1599-4F9C-806E-F0736023FF06}"/>
              </a:ext>
            </a:extLst>
          </p:cNvPr>
          <p:cNvSpPr/>
          <p:nvPr/>
        </p:nvSpPr>
        <p:spPr bwMode="gray">
          <a:xfrm rot="5400000" flipH="1">
            <a:off x="8457921" y="3945465"/>
            <a:ext cx="499760" cy="3143514"/>
          </a:xfrm>
          <a:custGeom>
            <a:avLst/>
            <a:gdLst>
              <a:gd name="connsiteX0" fmla="*/ 523903 w 638203"/>
              <a:gd name="connsiteY0" fmla="*/ 0 h 2114550"/>
              <a:gd name="connsiteX1" fmla="*/ 28 w 638203"/>
              <a:gd name="connsiteY1" fmla="*/ 504825 h 2114550"/>
              <a:gd name="connsiteX2" fmla="*/ 542953 w 638203"/>
              <a:gd name="connsiteY2" fmla="*/ 1304925 h 2114550"/>
              <a:gd name="connsiteX3" fmla="*/ 638203 w 638203"/>
              <a:gd name="connsiteY3" fmla="*/ 2114550 h 211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203" h="2114550">
                <a:moveTo>
                  <a:pt x="523903" y="0"/>
                </a:moveTo>
                <a:cubicBezTo>
                  <a:pt x="260378" y="143669"/>
                  <a:pt x="-3147" y="287338"/>
                  <a:pt x="28" y="504825"/>
                </a:cubicBezTo>
                <a:cubicBezTo>
                  <a:pt x="3203" y="722312"/>
                  <a:pt x="436591" y="1036638"/>
                  <a:pt x="542953" y="1304925"/>
                </a:cubicBezTo>
                <a:cubicBezTo>
                  <a:pt x="649315" y="1573212"/>
                  <a:pt x="612803" y="1990725"/>
                  <a:pt x="638203" y="2114550"/>
                </a:cubicBezTo>
              </a:path>
            </a:pathLst>
          </a:custGeom>
          <a:noFill/>
          <a:ln w="38100">
            <a:solidFill>
              <a:srgbClr val="10B55B"/>
            </a:solidFill>
            <a:headEnd type="triangl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43003694-A88E-4F06-B324-8573D332A6CC}"/>
              </a:ext>
            </a:extLst>
          </p:cNvPr>
          <p:cNvSpPr/>
          <p:nvPr/>
        </p:nvSpPr>
        <p:spPr bwMode="gray">
          <a:xfrm>
            <a:off x="9018622" y="3892765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="" xmlns:a16="http://schemas.microsoft.com/office/drawing/2014/main" id="{FF665F57-1383-4177-B176-214998F51EFF}"/>
              </a:ext>
            </a:extLst>
          </p:cNvPr>
          <p:cNvSpPr/>
          <p:nvPr/>
        </p:nvSpPr>
        <p:spPr bwMode="gray">
          <a:xfrm>
            <a:off x="10428531" y="4527403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="" xmlns:a16="http://schemas.microsoft.com/office/drawing/2014/main" id="{DCB77884-DE59-4F1D-915D-49D1F9A484A0}"/>
              </a:ext>
            </a:extLst>
          </p:cNvPr>
          <p:cNvSpPr/>
          <p:nvPr/>
        </p:nvSpPr>
        <p:spPr bwMode="gray">
          <a:xfrm>
            <a:off x="9028363" y="5361774"/>
            <a:ext cx="4972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="" xmlns:a16="http://schemas.microsoft.com/office/drawing/2014/main" id="{4F2BC6BF-22A3-4268-8DDE-EF706FFCFF2A}"/>
              </a:ext>
            </a:extLst>
          </p:cNvPr>
          <p:cNvSpPr/>
          <p:nvPr/>
        </p:nvSpPr>
        <p:spPr bwMode="gray">
          <a:xfrm>
            <a:off x="6541298" y="4209623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3E3CD2DA-ADCD-4BC0-B654-87A18BA04B15}"/>
              </a:ext>
            </a:extLst>
          </p:cNvPr>
          <p:cNvSpPr/>
          <p:nvPr/>
        </p:nvSpPr>
        <p:spPr bwMode="gray">
          <a:xfrm>
            <a:off x="6541298" y="4425983"/>
            <a:ext cx="58204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600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A74FA6E3-6AEB-4F2D-9DBF-A86512BB4A0F}"/>
              </a:ext>
            </a:extLst>
          </p:cNvPr>
          <p:cNvSpPr/>
          <p:nvPr/>
        </p:nvSpPr>
        <p:spPr bwMode="gray">
          <a:xfrm>
            <a:off x="6543574" y="4629183"/>
            <a:ext cx="582046" cy="215444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</a:p>
        </p:txBody>
      </p:sp>
      <p:sp>
        <p:nvSpPr>
          <p:cNvPr id="50" name="TextBox 30">
            <a:extLst>
              <a:ext uri="{FF2B5EF4-FFF2-40B4-BE49-F238E27FC236}">
                <a16:creationId xmlns="" xmlns:a16="http://schemas.microsoft.com/office/drawing/2014/main" id="{7D722284-01BF-474D-835A-49B8175E94F3}"/>
              </a:ext>
            </a:extLst>
          </p:cNvPr>
          <p:cNvSpPr txBox="1"/>
          <p:nvPr/>
        </p:nvSpPr>
        <p:spPr bwMode="gray">
          <a:xfrm>
            <a:off x="7506090" y="5559305"/>
            <a:ext cx="998056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auto"/>
            <a:r>
              <a:rPr lang="zh-CN" altLang="en-US" sz="1600">
                <a:solidFill>
                  <a:srgbClr val="10B55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约束路径</a:t>
            </a:r>
            <a:endParaRPr lang="zh-CN" altLang="en-US" sz="1600" dirty="0">
              <a:solidFill>
                <a:srgbClr val="10B55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Freeform 80">
            <a:extLst>
              <a:ext uri="{FF2B5EF4-FFF2-40B4-BE49-F238E27FC236}">
                <a16:creationId xmlns="" xmlns:a16="http://schemas.microsoft.com/office/drawing/2014/main" id="{A96794B7-5D17-4C62-81F9-81B919F85C06}"/>
              </a:ext>
            </a:extLst>
          </p:cNvPr>
          <p:cNvSpPr/>
          <p:nvPr/>
        </p:nvSpPr>
        <p:spPr bwMode="gray">
          <a:xfrm rot="5400000">
            <a:off x="8457921" y="3048316"/>
            <a:ext cx="499760" cy="3082852"/>
          </a:xfrm>
          <a:custGeom>
            <a:avLst/>
            <a:gdLst>
              <a:gd name="connsiteX0" fmla="*/ 523903 w 638203"/>
              <a:gd name="connsiteY0" fmla="*/ 0 h 2114550"/>
              <a:gd name="connsiteX1" fmla="*/ 28 w 638203"/>
              <a:gd name="connsiteY1" fmla="*/ 504825 h 2114550"/>
              <a:gd name="connsiteX2" fmla="*/ 542953 w 638203"/>
              <a:gd name="connsiteY2" fmla="*/ 1304925 h 2114550"/>
              <a:gd name="connsiteX3" fmla="*/ 638203 w 638203"/>
              <a:gd name="connsiteY3" fmla="*/ 2114550 h 211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203" h="2114550">
                <a:moveTo>
                  <a:pt x="523903" y="0"/>
                </a:moveTo>
                <a:cubicBezTo>
                  <a:pt x="260378" y="143669"/>
                  <a:pt x="-3147" y="287338"/>
                  <a:pt x="28" y="504825"/>
                </a:cubicBezTo>
                <a:cubicBezTo>
                  <a:pt x="3203" y="722312"/>
                  <a:pt x="436591" y="1036638"/>
                  <a:pt x="542953" y="1304925"/>
                </a:cubicBezTo>
                <a:cubicBezTo>
                  <a:pt x="649315" y="1573212"/>
                  <a:pt x="612803" y="1990725"/>
                  <a:pt x="638203" y="2114550"/>
                </a:cubicBezTo>
              </a:path>
            </a:pathLst>
          </a:custGeom>
          <a:noFill/>
          <a:ln w="38100">
            <a:solidFill>
              <a:srgbClr val="10B55B"/>
            </a:solidFill>
            <a:prstDash val="dash"/>
            <a:headEnd type="triangl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TextBox 34">
            <a:extLst>
              <a:ext uri="{FF2B5EF4-FFF2-40B4-BE49-F238E27FC236}">
                <a16:creationId xmlns="" xmlns:a16="http://schemas.microsoft.com/office/drawing/2014/main" id="{17BCFE6C-640E-4D7C-8314-DA58510B35BF}"/>
              </a:ext>
            </a:extLst>
          </p:cNvPr>
          <p:cNvSpPr txBox="1"/>
          <p:nvPr/>
        </p:nvSpPr>
        <p:spPr bwMode="gray">
          <a:xfrm>
            <a:off x="10112273" y="4188424"/>
            <a:ext cx="715928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auto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="" xmlns:a16="http://schemas.microsoft.com/office/drawing/2014/main" id="{C59B7743-3342-4D59-9CB1-D721AE8927AA}"/>
              </a:ext>
            </a:extLst>
          </p:cNvPr>
          <p:cNvGrpSpPr/>
          <p:nvPr/>
        </p:nvGrpSpPr>
        <p:grpSpPr bwMode="gray">
          <a:xfrm>
            <a:off x="7237312" y="4931073"/>
            <a:ext cx="2993247" cy="307777"/>
            <a:chOff x="3420259" y="3557204"/>
            <a:chExt cx="4166846" cy="428450"/>
          </a:xfrm>
        </p:grpSpPr>
        <p:sp>
          <p:nvSpPr>
            <p:cNvPr id="54" name="Can 9">
              <a:extLst>
                <a:ext uri="{FF2B5EF4-FFF2-40B4-BE49-F238E27FC236}">
                  <a16:creationId xmlns="" xmlns:a16="http://schemas.microsoft.com/office/drawing/2014/main" id="{2D78B326-88F8-4585-B105-645276A0DF1F}"/>
                </a:ext>
              </a:extLst>
            </p:cNvPr>
            <p:cNvSpPr/>
            <p:nvPr/>
          </p:nvSpPr>
          <p:spPr bwMode="gray">
            <a:xfrm rot="5400000">
              <a:off x="5321910" y="1665211"/>
              <a:ext cx="363544" cy="4166846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="" xmlns:a16="http://schemas.microsoft.com/office/drawing/2014/main" id="{E27402DE-EF49-481F-AABF-9C6C43ECF5D3}"/>
                </a:ext>
              </a:extLst>
            </p:cNvPr>
            <p:cNvSpPr/>
            <p:nvPr/>
          </p:nvSpPr>
          <p:spPr bwMode="gray">
            <a:xfrm>
              <a:off x="4404383" y="3557204"/>
              <a:ext cx="2446184" cy="4284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SR-MPLS TE Tunel</a:t>
              </a:r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="" xmlns:a16="http://schemas.microsoft.com/office/drawing/2014/main" id="{33CBB9EB-E01D-41A1-A786-808147643459}"/>
              </a:ext>
            </a:extLst>
          </p:cNvPr>
          <p:cNvSpPr/>
          <p:nvPr/>
        </p:nvSpPr>
        <p:spPr bwMode="gray">
          <a:xfrm>
            <a:off x="7173292" y="4209623"/>
            <a:ext cx="582046" cy="215444"/>
          </a:xfrm>
          <a:prstGeom prst="rect">
            <a:avLst/>
          </a:prstGeom>
          <a:noFill/>
          <a:ln w="19050">
            <a:solidFill>
              <a:srgbClr val="30B5C5"/>
            </a:solidFill>
            <a:prstDash val="dash"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400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="" xmlns:a16="http://schemas.microsoft.com/office/drawing/2014/main" id="{3BBDEB63-7C28-4B4C-838B-CB22AF100AD0}"/>
              </a:ext>
            </a:extLst>
          </p:cNvPr>
          <p:cNvSpPr txBox="1"/>
          <p:nvPr/>
        </p:nvSpPr>
        <p:spPr bwMode="gray">
          <a:xfrm>
            <a:off x="930441" y="3941238"/>
            <a:ext cx="72327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="" xmlns:a16="http://schemas.microsoft.com/office/drawing/2014/main" id="{196B8D92-2ABD-4957-BD44-8EC9EC71C368}"/>
              </a:ext>
            </a:extLst>
          </p:cNvPr>
          <p:cNvSpPr txBox="1"/>
          <p:nvPr/>
        </p:nvSpPr>
        <p:spPr bwMode="gray">
          <a:xfrm>
            <a:off x="6433364" y="3861863"/>
            <a:ext cx="72327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</a:t>
            </a:r>
          </a:p>
        </p:txBody>
      </p:sp>
      <p:sp>
        <p:nvSpPr>
          <p:cNvPr id="53" name="五边形 52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燕尾形 5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燕尾形 60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36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7BE5807-93C8-4836-9B1C-AD6F0D2B039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SR-MPLS Policy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D9A5CDE-E65A-4DB3-8B19-83106C2DA1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全称</a:t>
            </a:r>
            <a:r>
              <a:rPr lang="en-US" altLang="zh-CN" sz="1600" dirty="0">
                <a:sym typeface="Huawei Sans" panose="020C0503030203020204" pitchFamily="34" charset="0"/>
              </a:rPr>
              <a:t>SR-MPLS TE Policy</a:t>
            </a:r>
            <a:r>
              <a:rPr lang="zh-CN" altLang="en-US" sz="1600" dirty="0">
                <a:sym typeface="Huawei Sans" panose="020C0503030203020204" pitchFamily="34" charset="0"/>
              </a:rPr>
              <a:t>，是当前最主流的实现</a:t>
            </a:r>
            <a:r>
              <a:rPr lang="en-US" altLang="zh-CN" sz="1600" dirty="0">
                <a:sym typeface="Huawei Sans" panose="020C0503030203020204" pitchFamily="34" charset="0"/>
              </a:rPr>
              <a:t>SR-MPLS</a:t>
            </a:r>
            <a:r>
              <a:rPr lang="zh-CN" altLang="en-US" sz="1600" dirty="0">
                <a:sym typeface="Huawei Sans" panose="020C0503030203020204" pitchFamily="34" charset="0"/>
              </a:rPr>
              <a:t>的方式之一。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RFC</a:t>
            </a:r>
            <a:r>
              <a:rPr lang="zh-CN" altLang="en-US" sz="1600" dirty="0">
                <a:sym typeface="Huawei Sans" panose="020C0503030203020204" pitchFamily="34" charset="0"/>
              </a:rPr>
              <a:t>定义一个</a:t>
            </a:r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由三元组标识</a:t>
            </a:r>
            <a:r>
              <a:rPr lang="en-US" altLang="zh-CN" sz="1600" dirty="0">
                <a:sym typeface="Huawei Sans" panose="020C0503030203020204" pitchFamily="34" charset="0"/>
              </a:rPr>
              <a:t>&lt;Headend, Color, Endpoint&gt;</a:t>
            </a:r>
            <a:r>
              <a:rPr lang="zh-CN" altLang="en-US" sz="1600" dirty="0">
                <a:sym typeface="Huawei Sans" panose="020C0503030203020204" pitchFamily="34" charset="0"/>
              </a:rPr>
              <a:t>，包含多条候选路径。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1F9F40EE-7EE6-4D24-9371-AEA9023C3427}"/>
              </a:ext>
            </a:extLst>
          </p:cNvPr>
          <p:cNvSpPr/>
          <p:nvPr/>
        </p:nvSpPr>
        <p:spPr bwMode="gray">
          <a:xfrm>
            <a:off x="756373" y="3901601"/>
            <a:ext cx="1004283" cy="352920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6347D82-5782-4E56-9577-100F216D1105}"/>
              </a:ext>
            </a:extLst>
          </p:cNvPr>
          <p:cNvSpPr/>
          <p:nvPr/>
        </p:nvSpPr>
        <p:spPr bwMode="gray">
          <a:xfrm>
            <a:off x="2349537" y="3931330"/>
            <a:ext cx="1277907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451362B4-3A36-40C6-A429-E80D34F9731E}"/>
              </a:ext>
            </a:extLst>
          </p:cNvPr>
          <p:cNvSpPr/>
          <p:nvPr/>
        </p:nvSpPr>
        <p:spPr bwMode="gray">
          <a:xfrm>
            <a:off x="2349537" y="4251232"/>
            <a:ext cx="1277907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48AAA48-44D5-4A4E-9841-2E4D61E34EBD}"/>
              </a:ext>
            </a:extLst>
          </p:cNvPr>
          <p:cNvSpPr/>
          <p:nvPr/>
        </p:nvSpPr>
        <p:spPr bwMode="gray">
          <a:xfrm>
            <a:off x="2349537" y="4886372"/>
            <a:ext cx="1277907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候选路径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2552AD2-5B1D-425A-8FEF-C2469317297A}"/>
              </a:ext>
            </a:extLst>
          </p:cNvPr>
          <p:cNvSpPr/>
          <p:nvPr/>
        </p:nvSpPr>
        <p:spPr bwMode="gray">
          <a:xfrm>
            <a:off x="2349537" y="5206274"/>
            <a:ext cx="1277907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A0273D6-F742-4976-97FB-BE62BBF47423}"/>
              </a:ext>
            </a:extLst>
          </p:cNvPr>
          <p:cNvSpPr/>
          <p:nvPr/>
        </p:nvSpPr>
        <p:spPr bwMode="gray">
          <a:xfrm>
            <a:off x="4253036" y="3154718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4E55884-7EAA-4E75-B201-A9F0859FAE53}"/>
              </a:ext>
            </a:extLst>
          </p:cNvPr>
          <p:cNvSpPr/>
          <p:nvPr/>
        </p:nvSpPr>
        <p:spPr bwMode="gray">
          <a:xfrm>
            <a:off x="4253036" y="3474620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D0AB17D3-4957-4705-9C89-8CE1E72E4B9D}"/>
              </a:ext>
            </a:extLst>
          </p:cNvPr>
          <p:cNvSpPr/>
          <p:nvPr/>
        </p:nvSpPr>
        <p:spPr bwMode="gray">
          <a:xfrm>
            <a:off x="4253036" y="3939017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E954BF7-545C-4CD4-A4E6-BBA1522C82A7}"/>
              </a:ext>
            </a:extLst>
          </p:cNvPr>
          <p:cNvSpPr/>
          <p:nvPr/>
        </p:nvSpPr>
        <p:spPr bwMode="gray">
          <a:xfrm>
            <a:off x="4253036" y="4270235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="" xmlns:a16="http://schemas.microsoft.com/office/drawing/2014/main" id="{2BA03EB7-0318-47F0-AAE7-DD8A71A249F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 bwMode="gray">
          <a:xfrm>
            <a:off x="1760656" y="4078061"/>
            <a:ext cx="588881" cy="47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="" xmlns:a16="http://schemas.microsoft.com/office/drawing/2014/main" id="{C249151F-7E18-408D-A341-C1CF4812185E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 bwMode="gray">
          <a:xfrm flipH="1">
            <a:off x="3627444" y="3306167"/>
            <a:ext cx="625592" cy="7766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="" xmlns:a16="http://schemas.microsoft.com/office/drawing/2014/main" id="{23B385D8-4EA6-4CE8-A230-BB30BBBF4F2E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 bwMode="gray">
          <a:xfrm flipH="1" flipV="1">
            <a:off x="3627444" y="4082779"/>
            <a:ext cx="625592" cy="768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="" xmlns:a16="http://schemas.microsoft.com/office/drawing/2014/main" id="{687E323A-8620-4F49-A5EB-3300057A6B2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 bwMode="gray">
          <a:xfrm>
            <a:off x="1760656" y="4078061"/>
            <a:ext cx="588881" cy="9597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="" xmlns:a16="http://schemas.microsoft.com/office/drawing/2014/main" id="{9F8D1F39-A441-42D4-92E6-EC834D99B4CF}"/>
              </a:ext>
            </a:extLst>
          </p:cNvPr>
          <p:cNvCxnSpPr>
            <a:cxnSpLocks/>
            <a:stCxn id="18" idx="1"/>
            <a:endCxn id="7" idx="3"/>
          </p:cNvCxnSpPr>
          <p:nvPr/>
        </p:nvCxnSpPr>
        <p:spPr bwMode="gray">
          <a:xfrm flipH="1" flipV="1">
            <a:off x="3627444" y="5037821"/>
            <a:ext cx="625592" cy="113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58802918-C824-4866-AF8B-1FB58BDEA282}"/>
              </a:ext>
            </a:extLst>
          </p:cNvPr>
          <p:cNvSpPr/>
          <p:nvPr/>
        </p:nvSpPr>
        <p:spPr bwMode="gray">
          <a:xfrm>
            <a:off x="4253036" y="4897687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Segment List 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BB3073B8-DABA-4BEF-837F-379B2446A597}"/>
              </a:ext>
            </a:extLst>
          </p:cNvPr>
          <p:cNvSpPr/>
          <p:nvPr/>
        </p:nvSpPr>
        <p:spPr bwMode="gray">
          <a:xfrm>
            <a:off x="4253036" y="5217590"/>
            <a:ext cx="1547689" cy="30289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权重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789F719A-F345-498A-9654-759031766B12}"/>
              </a:ext>
            </a:extLst>
          </p:cNvPr>
          <p:cNvGrpSpPr/>
          <p:nvPr/>
        </p:nvGrpSpPr>
        <p:grpSpPr bwMode="gray">
          <a:xfrm>
            <a:off x="2874256" y="4716847"/>
            <a:ext cx="209079" cy="40737"/>
            <a:chOff x="3989546" y="4479875"/>
            <a:chExt cx="236219" cy="45719"/>
          </a:xfrm>
          <a:solidFill>
            <a:srgbClr val="56C4D2"/>
          </a:solidFill>
        </p:grpSpPr>
        <p:sp>
          <p:nvSpPr>
            <p:cNvPr id="21" name="椭圆 20">
              <a:extLst>
                <a:ext uri="{FF2B5EF4-FFF2-40B4-BE49-F238E27FC236}">
                  <a16:creationId xmlns="" xmlns:a16="http://schemas.microsoft.com/office/drawing/2014/main" id="{A824D721-6669-4386-8696-AB18ED0FC280}"/>
                </a:ext>
              </a:extLst>
            </p:cNvPr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="" xmlns:a16="http://schemas.microsoft.com/office/drawing/2014/main" id="{43D1E974-2D22-423D-ACC9-1C20A73C9393}"/>
                </a:ext>
              </a:extLst>
            </p:cNvPr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="" xmlns:a16="http://schemas.microsoft.com/office/drawing/2014/main" id="{869FE034-3E5E-4ADD-B418-B3FB37816672}"/>
                </a:ext>
              </a:extLst>
            </p:cNvPr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="" xmlns:a16="http://schemas.microsoft.com/office/drawing/2014/main" id="{6560E354-D4BA-4015-BDED-C1BB7078956A}"/>
              </a:ext>
            </a:extLst>
          </p:cNvPr>
          <p:cNvGrpSpPr/>
          <p:nvPr/>
        </p:nvGrpSpPr>
        <p:grpSpPr bwMode="gray">
          <a:xfrm>
            <a:off x="4922341" y="4706471"/>
            <a:ext cx="209079" cy="40737"/>
            <a:chOff x="3989546" y="4479875"/>
            <a:chExt cx="236219" cy="45719"/>
          </a:xfrm>
          <a:solidFill>
            <a:srgbClr val="56C4D2"/>
          </a:solidFill>
        </p:grpSpPr>
        <p:sp>
          <p:nvSpPr>
            <p:cNvPr id="25" name="椭圆 24">
              <a:extLst>
                <a:ext uri="{FF2B5EF4-FFF2-40B4-BE49-F238E27FC236}">
                  <a16:creationId xmlns="" xmlns:a16="http://schemas.microsoft.com/office/drawing/2014/main" id="{AD086216-363C-426A-8021-FA52FC3981AC}"/>
                </a:ext>
              </a:extLst>
            </p:cNvPr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="" xmlns:a16="http://schemas.microsoft.com/office/drawing/2014/main" id="{76885769-8504-4A9F-87D3-C7B81C052A58}"/>
                </a:ext>
              </a:extLst>
            </p:cNvPr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="" xmlns:a16="http://schemas.microsoft.com/office/drawing/2014/main" id="{DB3465B9-F220-495A-B392-7C55BB4CE66A}"/>
                </a:ext>
              </a:extLst>
            </p:cNvPr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="" xmlns:a16="http://schemas.microsoft.com/office/drawing/2014/main" id="{0B29424A-8156-4825-BB68-DF62D69F6506}"/>
              </a:ext>
            </a:extLst>
          </p:cNvPr>
          <p:cNvGrpSpPr/>
          <p:nvPr/>
        </p:nvGrpSpPr>
        <p:grpSpPr bwMode="gray">
          <a:xfrm>
            <a:off x="4922341" y="5649617"/>
            <a:ext cx="209079" cy="40737"/>
            <a:chOff x="3989546" y="4479875"/>
            <a:chExt cx="236219" cy="45719"/>
          </a:xfrm>
          <a:solidFill>
            <a:srgbClr val="56C4D2"/>
          </a:solidFill>
        </p:grpSpPr>
        <p:sp>
          <p:nvSpPr>
            <p:cNvPr id="29" name="椭圆 28">
              <a:extLst>
                <a:ext uri="{FF2B5EF4-FFF2-40B4-BE49-F238E27FC236}">
                  <a16:creationId xmlns="" xmlns:a16="http://schemas.microsoft.com/office/drawing/2014/main" id="{624077EE-C152-4181-A4AB-F558741202F7}"/>
                </a:ext>
              </a:extLst>
            </p:cNvPr>
            <p:cNvSpPr/>
            <p:nvPr/>
          </p:nvSpPr>
          <p:spPr bwMode="gray">
            <a:xfrm>
              <a:off x="39895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="" xmlns:a16="http://schemas.microsoft.com/office/drawing/2014/main" id="{076CE1CA-42A8-4B1A-98C0-71354D989D40}"/>
                </a:ext>
              </a:extLst>
            </p:cNvPr>
            <p:cNvSpPr/>
            <p:nvPr/>
          </p:nvSpPr>
          <p:spPr bwMode="gray">
            <a:xfrm>
              <a:off x="408479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="" xmlns:a16="http://schemas.microsoft.com/office/drawing/2014/main" id="{1717217D-E2A2-41E2-8808-40709C80B40B}"/>
                </a:ext>
              </a:extLst>
            </p:cNvPr>
            <p:cNvSpPr/>
            <p:nvPr/>
          </p:nvSpPr>
          <p:spPr bwMode="gray">
            <a:xfrm>
              <a:off x="4180046" y="4479875"/>
              <a:ext cx="45719" cy="45719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9817FB66-341D-4718-BEF4-C26AC8073096}"/>
              </a:ext>
            </a:extLst>
          </p:cNvPr>
          <p:cNvSpPr txBox="1"/>
          <p:nvPr/>
        </p:nvSpPr>
        <p:spPr bwMode="gray">
          <a:xfrm>
            <a:off x="2602294" y="34891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AFC2FD3C-A3B0-464C-8E94-87350968B8C8}"/>
              </a:ext>
            </a:extLst>
          </p:cNvPr>
          <p:cNvSpPr txBox="1"/>
          <p:nvPr/>
        </p:nvSpPr>
        <p:spPr bwMode="gray">
          <a:xfrm>
            <a:off x="2579271" y="562854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备路径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8921970B-040C-4497-9491-F598430D51E0}"/>
              </a:ext>
            </a:extLst>
          </p:cNvPr>
          <p:cNvSpPr txBox="1"/>
          <p:nvPr/>
        </p:nvSpPr>
        <p:spPr bwMode="gray">
          <a:xfrm>
            <a:off x="719982" y="4357577"/>
            <a:ext cx="1132472" cy="738664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70C0"/>
                </a:solidFill>
              </a:defRPr>
            </a:lvl1pPr>
          </a:lstStyle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&lt;Headend, Color, Endpoint&gt;</a:t>
            </a:r>
          </a:p>
        </p:txBody>
      </p:sp>
      <p:sp>
        <p:nvSpPr>
          <p:cNvPr id="36" name="圆角矩形 75">
            <a:extLst>
              <a:ext uri="{FF2B5EF4-FFF2-40B4-BE49-F238E27FC236}">
                <a16:creationId xmlns="" xmlns:a16="http://schemas.microsoft.com/office/drawing/2014/main" id="{23EA0F72-EF1A-43AD-9E1D-F60A1018BA72}"/>
              </a:ext>
            </a:extLst>
          </p:cNvPr>
          <p:cNvSpPr/>
          <p:nvPr/>
        </p:nvSpPr>
        <p:spPr bwMode="gray">
          <a:xfrm>
            <a:off x="508518" y="2043647"/>
            <a:ext cx="5587482" cy="302929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="" xmlns:a16="http://schemas.microsoft.com/office/drawing/2014/main" id="{73E6C616-B2E1-4224-A945-0AB46F89E616}"/>
              </a:ext>
            </a:extLst>
          </p:cNvPr>
          <p:cNvGrpSpPr/>
          <p:nvPr/>
        </p:nvGrpSpPr>
        <p:grpSpPr bwMode="gray">
          <a:xfrm>
            <a:off x="6513833" y="3425530"/>
            <a:ext cx="4494010" cy="2431482"/>
            <a:chOff x="5993133" y="3449777"/>
            <a:chExt cx="4494010" cy="2431482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78C1925-5663-4089-BEB1-0C62881D1D08}"/>
                </a:ext>
              </a:extLst>
            </p:cNvPr>
            <p:cNvGrpSpPr/>
            <p:nvPr/>
          </p:nvGrpSpPr>
          <p:grpSpPr bwMode="gray">
            <a:xfrm rot="10800000">
              <a:off x="9556514" y="4495561"/>
              <a:ext cx="747483" cy="1229007"/>
              <a:chOff x="4518701" y="2362981"/>
              <a:chExt cx="1546339" cy="2255715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="" xmlns:a16="http://schemas.microsoft.com/office/drawing/2014/main" id="{13A8C71C-8522-4C7D-B0F7-869265BDDD51}"/>
                  </a:ext>
                </a:extLst>
              </p:cNvPr>
              <p:cNvCxnSpPr>
                <a:cxnSpLocks/>
                <a:endCxn id="51" idx="3"/>
              </p:cNvCxnSpPr>
              <p:nvPr/>
            </p:nvCxnSpPr>
            <p:spPr bwMode="gray">
              <a:xfrm rot="10800000" flipH="1" flipV="1">
                <a:off x="4518701" y="3349861"/>
                <a:ext cx="1546337" cy="12688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="" xmlns:a16="http://schemas.microsoft.com/office/drawing/2014/main" id="{E9C2402F-1E29-44AF-85FC-192D2115CA2F}"/>
                  </a:ext>
                </a:extLst>
              </p:cNvPr>
              <p:cNvCxnSpPr>
                <a:cxnSpLocks/>
                <a:endCxn id="52" idx="3"/>
              </p:cNvCxnSpPr>
              <p:nvPr/>
            </p:nvCxnSpPr>
            <p:spPr bwMode="gray">
              <a:xfrm rot="10800000" flipH="1">
                <a:off x="4518703" y="2362981"/>
                <a:ext cx="1546337" cy="11034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连接符 39">
              <a:extLst>
                <a:ext uri="{FF2B5EF4-FFF2-40B4-BE49-F238E27FC236}">
                  <a16:creationId xmlns="" xmlns:a16="http://schemas.microsoft.com/office/drawing/2014/main" id="{30EE80B8-F978-4057-B2A1-ADCB7E0BA97A}"/>
                </a:ext>
              </a:extLst>
            </p:cNvPr>
            <p:cNvCxnSpPr/>
            <p:nvPr/>
          </p:nvCxnSpPr>
          <p:spPr bwMode="gray">
            <a:xfrm flipH="1">
              <a:off x="8113569" y="4442075"/>
              <a:ext cx="1245829" cy="13681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="" xmlns:a16="http://schemas.microsoft.com/office/drawing/2014/main" id="{A42347CB-8E74-40A0-9172-D83DFDC9C400}"/>
                </a:ext>
              </a:extLst>
            </p:cNvPr>
            <p:cNvCxnSpPr/>
            <p:nvPr/>
          </p:nvCxnSpPr>
          <p:spPr bwMode="gray">
            <a:xfrm flipH="1" flipV="1">
              <a:off x="8112193" y="4432628"/>
              <a:ext cx="1237499" cy="13831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>
              <a:extLst>
                <a:ext uri="{FF2B5EF4-FFF2-40B4-BE49-F238E27FC236}">
                  <a16:creationId xmlns="" xmlns:a16="http://schemas.microsoft.com/office/drawing/2014/main" id="{8060F60A-A928-402C-92EB-99BE743C9696}"/>
                </a:ext>
              </a:extLst>
            </p:cNvPr>
            <p:cNvGrpSpPr/>
            <p:nvPr/>
          </p:nvGrpSpPr>
          <p:grpSpPr bwMode="gray">
            <a:xfrm>
              <a:off x="7360438" y="4436518"/>
              <a:ext cx="730964" cy="1373716"/>
              <a:chOff x="4518703" y="2205748"/>
              <a:chExt cx="1512166" cy="2521312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="" xmlns:a16="http://schemas.microsoft.com/office/drawing/2014/main" id="{3B6D00E5-BE22-441F-B178-9C2D69059FB9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="" xmlns:a16="http://schemas.microsoft.com/office/drawing/2014/main" id="{10D052C1-E8E6-49D8-8642-65048C81FBC8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接连接符 44">
              <a:extLst>
                <a:ext uri="{FF2B5EF4-FFF2-40B4-BE49-F238E27FC236}">
                  <a16:creationId xmlns="" xmlns:a16="http://schemas.microsoft.com/office/drawing/2014/main" id="{AE52F651-5A0D-427E-895F-B0069D61BD2A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4500018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="" xmlns:a16="http://schemas.microsoft.com/office/drawing/2014/main" id="{80E006A5-4C28-47E3-A99B-BCDFECD7EEFD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5764991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="" xmlns:a16="http://schemas.microsoft.com/office/drawing/2014/main" id="{43FA4BD3-DE1D-4193-8FBC-BB639B879D94}"/>
                </a:ext>
              </a:extLst>
            </p:cNvPr>
            <p:cNvCxnSpPr/>
            <p:nvPr/>
          </p:nvCxnSpPr>
          <p:spPr bwMode="gray">
            <a:xfrm flipV="1">
              <a:off x="9359398" y="4436518"/>
              <a:ext cx="0" cy="1379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图片 47">
              <a:extLst>
                <a:ext uri="{FF2B5EF4-FFF2-40B4-BE49-F238E27FC236}">
                  <a16:creationId xmlns="" xmlns:a16="http://schemas.microsoft.com/office/drawing/2014/main" id="{65AD5A0C-3726-4B4B-AFD4-4ACB52BCEFED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156785" y="4947023"/>
              <a:ext cx="382174" cy="313383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="" xmlns:a16="http://schemas.microsoft.com/office/drawing/2014/main" id="{C579248D-AB41-4785-9FBC-96BF475A58CB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4338869"/>
              <a:ext cx="382174" cy="313383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="" xmlns:a16="http://schemas.microsoft.com/office/drawing/2014/main" id="{4364AEDB-0B28-49BF-B9D1-44E8C6B93F30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5567876"/>
              <a:ext cx="382174" cy="313383"/>
            </a:xfrm>
            <a:prstGeom prst="rect">
              <a:avLst/>
            </a:prstGeom>
          </p:spPr>
        </p:pic>
        <p:pic>
          <p:nvPicPr>
            <p:cNvPr id="51" name="图片 50">
              <a:extLst>
                <a:ext uri="{FF2B5EF4-FFF2-40B4-BE49-F238E27FC236}">
                  <a16:creationId xmlns="" xmlns:a16="http://schemas.microsoft.com/office/drawing/2014/main" id="{A95F7C14-8A04-4F11-B784-FAD5401002F9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4338869"/>
              <a:ext cx="382174" cy="313383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="" xmlns:a16="http://schemas.microsoft.com/office/drawing/2014/main" id="{25889696-5CB0-47AA-997C-F7FBFB64F317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5567876"/>
              <a:ext cx="382174" cy="313383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="" xmlns:a16="http://schemas.microsoft.com/office/drawing/2014/main" id="{7F077307-62B9-4866-BE18-93578BC830D0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104969" y="4947023"/>
              <a:ext cx="382174" cy="313383"/>
            </a:xfrm>
            <a:prstGeom prst="rect">
              <a:avLst/>
            </a:prstGeom>
          </p:spPr>
        </p:pic>
        <p:sp>
          <p:nvSpPr>
            <p:cNvPr id="54" name="文本框 53">
              <a:extLst>
                <a:ext uri="{FF2B5EF4-FFF2-40B4-BE49-F238E27FC236}">
                  <a16:creationId xmlns="" xmlns:a16="http://schemas.microsoft.com/office/drawing/2014/main" id="{7020B3FB-743F-4908-B742-717F60487EC5}"/>
                </a:ext>
              </a:extLst>
            </p:cNvPr>
            <p:cNvSpPr txBox="1"/>
            <p:nvPr/>
          </p:nvSpPr>
          <p:spPr bwMode="gray">
            <a:xfrm>
              <a:off x="8868439" y="4960221"/>
              <a:ext cx="745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00B05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Green</a:t>
              </a:r>
              <a:endParaRPr lang="zh-CN" altLang="en-US" sz="16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任意多边形 33">
              <a:extLst>
                <a:ext uri="{FF2B5EF4-FFF2-40B4-BE49-F238E27FC236}">
                  <a16:creationId xmlns="" xmlns:a16="http://schemas.microsoft.com/office/drawing/2014/main" id="{713983B3-664F-421A-ABEE-3C58691B88EB}"/>
                </a:ext>
              </a:extLst>
            </p:cNvPr>
            <p:cNvSpPr/>
            <p:nvPr/>
          </p:nvSpPr>
          <p:spPr bwMode="gray">
            <a:xfrm>
              <a:off x="7621240" y="4582014"/>
              <a:ext cx="1395282" cy="966340"/>
            </a:xfrm>
            <a:custGeom>
              <a:avLst/>
              <a:gdLst>
                <a:gd name="connsiteX0" fmla="*/ 0 w 4491318"/>
                <a:gd name="connsiteY0" fmla="*/ 753035 h 1304365"/>
                <a:gd name="connsiteX1" fmla="*/ 605118 w 4491318"/>
                <a:gd name="connsiteY1" fmla="*/ 1304365 h 1304365"/>
                <a:gd name="connsiteX2" fmla="*/ 1627094 w 4491318"/>
                <a:gd name="connsiteY2" fmla="*/ 0 h 1304365"/>
                <a:gd name="connsiteX3" fmla="*/ 3859306 w 4491318"/>
                <a:gd name="connsiteY3" fmla="*/ 0 h 1304365"/>
                <a:gd name="connsiteX4" fmla="*/ 4491318 w 4491318"/>
                <a:gd name="connsiteY4" fmla="*/ 578223 h 1304365"/>
                <a:gd name="connsiteX0" fmla="*/ 0 w 4491318"/>
                <a:gd name="connsiteY0" fmla="*/ 757268 h 1308598"/>
                <a:gd name="connsiteX1" fmla="*/ 605118 w 4491318"/>
                <a:gd name="connsiteY1" fmla="*/ 1308598 h 1308598"/>
                <a:gd name="connsiteX2" fmla="*/ 1732928 w 4491318"/>
                <a:gd name="connsiteY2" fmla="*/ 0 h 1308598"/>
                <a:gd name="connsiteX3" fmla="*/ 3859306 w 4491318"/>
                <a:gd name="connsiteY3" fmla="*/ 4233 h 1308598"/>
                <a:gd name="connsiteX4" fmla="*/ 4491318 w 4491318"/>
                <a:gd name="connsiteY4" fmla="*/ 582456 h 1308598"/>
                <a:gd name="connsiteX0" fmla="*/ 0 w 4491318"/>
                <a:gd name="connsiteY0" fmla="*/ 757268 h 1308598"/>
                <a:gd name="connsiteX1" fmla="*/ 605118 w 4491318"/>
                <a:gd name="connsiteY1" fmla="*/ 1308598 h 1308598"/>
                <a:gd name="connsiteX2" fmla="*/ 1762561 w 4491318"/>
                <a:gd name="connsiteY2" fmla="*/ 0 h 1308598"/>
                <a:gd name="connsiteX3" fmla="*/ 3859306 w 4491318"/>
                <a:gd name="connsiteY3" fmla="*/ 4233 h 1308598"/>
                <a:gd name="connsiteX4" fmla="*/ 4491318 w 4491318"/>
                <a:gd name="connsiteY4" fmla="*/ 582456 h 1308598"/>
                <a:gd name="connsiteX0" fmla="*/ 0 w 3859306"/>
                <a:gd name="connsiteY0" fmla="*/ 757268 h 1308598"/>
                <a:gd name="connsiteX1" fmla="*/ 605118 w 3859306"/>
                <a:gd name="connsiteY1" fmla="*/ 1308598 h 1308598"/>
                <a:gd name="connsiteX2" fmla="*/ 1762561 w 3859306"/>
                <a:gd name="connsiteY2" fmla="*/ 0 h 1308598"/>
                <a:gd name="connsiteX3" fmla="*/ 3859306 w 3859306"/>
                <a:gd name="connsiteY3" fmla="*/ 4233 h 1308598"/>
                <a:gd name="connsiteX0" fmla="*/ 0 w 2315390"/>
                <a:gd name="connsiteY0" fmla="*/ 757268 h 1308598"/>
                <a:gd name="connsiteX1" fmla="*/ 605118 w 2315390"/>
                <a:gd name="connsiteY1" fmla="*/ 1308598 h 1308598"/>
                <a:gd name="connsiteX2" fmla="*/ 1762561 w 2315390"/>
                <a:gd name="connsiteY2" fmla="*/ 0 h 1308598"/>
                <a:gd name="connsiteX3" fmla="*/ 2315390 w 2315390"/>
                <a:gd name="connsiteY3" fmla="*/ 22635 h 1308598"/>
                <a:gd name="connsiteX0" fmla="*/ 0 w 2388045"/>
                <a:gd name="connsiteY0" fmla="*/ 771437 h 1322767"/>
                <a:gd name="connsiteX1" fmla="*/ 605118 w 2388045"/>
                <a:gd name="connsiteY1" fmla="*/ 1322767 h 1322767"/>
                <a:gd name="connsiteX2" fmla="*/ 1762561 w 2388045"/>
                <a:gd name="connsiteY2" fmla="*/ 14169 h 1322767"/>
                <a:gd name="connsiteX3" fmla="*/ 2388045 w 2388045"/>
                <a:gd name="connsiteY3" fmla="*/ 0 h 1322767"/>
                <a:gd name="connsiteX0" fmla="*/ 0 w 1762561"/>
                <a:gd name="connsiteY0" fmla="*/ 757268 h 1308598"/>
                <a:gd name="connsiteX1" fmla="*/ 605118 w 1762561"/>
                <a:gd name="connsiteY1" fmla="*/ 1308598 h 1308598"/>
                <a:gd name="connsiteX2" fmla="*/ 1762561 w 1762561"/>
                <a:gd name="connsiteY2" fmla="*/ 0 h 1308598"/>
                <a:gd name="connsiteX0" fmla="*/ 0 w 1762561"/>
                <a:gd name="connsiteY0" fmla="*/ 757268 h 1496527"/>
                <a:gd name="connsiteX1" fmla="*/ 798109 w 1762561"/>
                <a:gd name="connsiteY1" fmla="*/ 1496527 h 1496527"/>
                <a:gd name="connsiteX2" fmla="*/ 1762561 w 1762561"/>
                <a:gd name="connsiteY2" fmla="*/ 0 h 1496527"/>
                <a:gd name="connsiteX0" fmla="*/ 0 w 2258824"/>
                <a:gd name="connsiteY0" fmla="*/ 784115 h 1523374"/>
                <a:gd name="connsiteX1" fmla="*/ 798109 w 2258824"/>
                <a:gd name="connsiteY1" fmla="*/ 1523374 h 1523374"/>
                <a:gd name="connsiteX2" fmla="*/ 2258824 w 2258824"/>
                <a:gd name="connsiteY2" fmla="*/ 0 h 152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8824" h="1523374">
                  <a:moveTo>
                    <a:pt x="0" y="784115"/>
                  </a:moveTo>
                  <a:lnTo>
                    <a:pt x="798109" y="1523374"/>
                  </a:lnTo>
                  <a:lnTo>
                    <a:pt x="2258824" y="0"/>
                  </a:lnTo>
                </a:path>
              </a:pathLst>
            </a:custGeom>
            <a:noFill/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="" xmlns:a16="http://schemas.microsoft.com/office/drawing/2014/main" id="{82E6A23A-3A58-4AE5-B291-9D20BA76C35B}"/>
                </a:ext>
              </a:extLst>
            </p:cNvPr>
            <p:cNvSpPr txBox="1"/>
            <p:nvPr/>
          </p:nvSpPr>
          <p:spPr bwMode="gray">
            <a:xfrm>
              <a:off x="6343855" y="3449777"/>
              <a:ext cx="12259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控制器</a:t>
              </a:r>
            </a:p>
          </p:txBody>
        </p:sp>
        <p:pic>
          <p:nvPicPr>
            <p:cNvPr id="62" name="图片 61" descr="通用网管-蓝.png">
              <a:extLst>
                <a:ext uri="{FF2B5EF4-FFF2-40B4-BE49-F238E27FC236}">
                  <a16:creationId xmlns="" xmlns:a16="http://schemas.microsoft.com/office/drawing/2014/main" id="{F3B74953-D84E-4053-A678-AED81BB4C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7166611" y="3472277"/>
              <a:ext cx="389099" cy="318353"/>
            </a:xfrm>
            <a:prstGeom prst="rect">
              <a:avLst/>
            </a:prstGeom>
          </p:spPr>
        </p:pic>
        <p:cxnSp>
          <p:nvCxnSpPr>
            <p:cNvPr id="64" name="直接箭头连接符 63">
              <a:extLst>
                <a:ext uri="{FF2B5EF4-FFF2-40B4-BE49-F238E27FC236}">
                  <a16:creationId xmlns="" xmlns:a16="http://schemas.microsoft.com/office/drawing/2014/main" id="{05BAB071-2F02-484B-9ADE-9DFAE573AA00}"/>
                </a:ext>
              </a:extLst>
            </p:cNvPr>
            <p:cNvCxnSpPr>
              <a:stCxn id="62" idx="2"/>
              <a:endCxn id="48" idx="0"/>
            </p:cNvCxnSpPr>
            <p:nvPr/>
          </p:nvCxnSpPr>
          <p:spPr bwMode="gray">
            <a:xfrm flipH="1">
              <a:off x="7347872" y="3790630"/>
              <a:ext cx="13289" cy="115639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="" xmlns:a16="http://schemas.microsoft.com/office/drawing/2014/main" id="{3BD6054D-38F5-4C8A-9811-AD18FBA7564F}"/>
                </a:ext>
              </a:extLst>
            </p:cNvPr>
            <p:cNvSpPr txBox="1"/>
            <p:nvPr/>
          </p:nvSpPr>
          <p:spPr bwMode="gray">
            <a:xfrm>
              <a:off x="5993133" y="4237003"/>
              <a:ext cx="25534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 SR Policy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8" name="圆角矩形 75">
            <a:extLst>
              <a:ext uri="{FF2B5EF4-FFF2-40B4-BE49-F238E27FC236}">
                <a16:creationId xmlns="" xmlns:a16="http://schemas.microsoft.com/office/drawing/2014/main" id="{D4D4B5E0-4A04-4250-A826-7FB7000F3FBA}"/>
              </a:ext>
            </a:extLst>
          </p:cNvPr>
          <p:cNvSpPr/>
          <p:nvPr/>
        </p:nvSpPr>
        <p:spPr bwMode="gray">
          <a:xfrm>
            <a:off x="508518" y="2406533"/>
            <a:ext cx="5587482" cy="3563510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圆角矩形 75">
            <a:extLst>
              <a:ext uri="{FF2B5EF4-FFF2-40B4-BE49-F238E27FC236}">
                <a16:creationId xmlns="" xmlns:a16="http://schemas.microsoft.com/office/drawing/2014/main" id="{F5345011-D5A9-4A1A-9DB6-19676EDD64B4}"/>
              </a:ext>
            </a:extLst>
          </p:cNvPr>
          <p:cNvSpPr/>
          <p:nvPr/>
        </p:nvSpPr>
        <p:spPr bwMode="gray">
          <a:xfrm>
            <a:off x="6222555" y="2043647"/>
            <a:ext cx="5460927" cy="302929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 Policy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应用场景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圆角矩形 75">
            <a:extLst>
              <a:ext uri="{FF2B5EF4-FFF2-40B4-BE49-F238E27FC236}">
                <a16:creationId xmlns="" xmlns:a16="http://schemas.microsoft.com/office/drawing/2014/main" id="{971FA3A3-64BB-4C02-94F1-E67FC3E07C36}"/>
              </a:ext>
            </a:extLst>
          </p:cNvPr>
          <p:cNvSpPr/>
          <p:nvPr/>
        </p:nvSpPr>
        <p:spPr bwMode="gray">
          <a:xfrm>
            <a:off x="6222555" y="2406533"/>
            <a:ext cx="5460927" cy="3563510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="" xmlns:a16="http://schemas.microsoft.com/office/drawing/2014/main" id="{D18678F2-30E5-443E-BF5D-EE2C928F7B55}"/>
              </a:ext>
            </a:extLst>
          </p:cNvPr>
          <p:cNvSpPr txBox="1"/>
          <p:nvPr/>
        </p:nvSpPr>
        <p:spPr bwMode="gray">
          <a:xfrm flipH="1">
            <a:off x="6276010" y="2421533"/>
            <a:ext cx="5154696" cy="766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控制器收集全局拓扑、网络带宽、链路时延等信息。根据业务需求计算出</a:t>
            </a:r>
            <a:r>
              <a:rPr lang="en-US" altLang="zh-CN" sz="1400" dirty="0"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sym typeface="Huawei Sans" panose="020C0503030203020204" pitchFamily="34" charset="0"/>
              </a:rPr>
              <a:t>隧道，使用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下发到头节点。</a:t>
            </a:r>
            <a:r>
              <a:rPr lang="en-US" altLang="zh-CN" sz="1400" dirty="0">
                <a:sym typeface="Huawei Sans" panose="020C0503030203020204" pitchFamily="34" charset="0"/>
              </a:rPr>
              <a:t> 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="" xmlns:a16="http://schemas.microsoft.com/office/drawing/2014/main" id="{037607FD-333F-4712-B0E0-A7E925CAE737}"/>
              </a:ext>
            </a:extLst>
          </p:cNvPr>
          <p:cNvSpPr txBox="1"/>
          <p:nvPr/>
        </p:nvSpPr>
        <p:spPr bwMode="gray">
          <a:xfrm flipH="1">
            <a:off x="582529" y="2421533"/>
            <a:ext cx="5387250" cy="766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一条候选路径可包含多条转发列表，基于权重进行负载分担。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候选路径之间根据优先级形成主备关系。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65" name="五边形 64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燕尾形 66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燕尾形 68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7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867CFBD-2C63-4FFA-B26D-E576085AF97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Segment Routing IPv6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85EDA31-F253-4407-BF0A-D4AB73F70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SRv6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Segment Routing IPv6</a:t>
            </a:r>
            <a:r>
              <a:rPr lang="zh-CN" altLang="en-US" sz="1600" dirty="0">
                <a:sym typeface="Huawei Sans" panose="020C0503030203020204" pitchFamily="34" charset="0"/>
              </a:rPr>
              <a:t>）是基于源路由理念而设计的在</a:t>
            </a:r>
            <a:r>
              <a:rPr lang="en-US" altLang="zh-CN" sz="1600" dirty="0"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ym typeface="Huawei Sans" panose="020C0503030203020204" pitchFamily="34" charset="0"/>
              </a:rPr>
              <a:t>网络上转发数据包的一种技术架构。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SRv6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SR-MPLS</a:t>
            </a:r>
            <a:r>
              <a:rPr lang="zh-CN" altLang="en-US" sz="1600" dirty="0">
                <a:sym typeface="Huawei Sans" panose="020C0503030203020204" pitchFamily="34" charset="0"/>
              </a:rPr>
              <a:t>都遵循</a:t>
            </a:r>
            <a:r>
              <a:rPr lang="en-US" altLang="zh-CN" sz="1600" dirty="0">
                <a:sym typeface="Huawei Sans" panose="020C0503030203020204" pitchFamily="34" charset="0"/>
              </a:rPr>
              <a:t>Segment Routing</a:t>
            </a:r>
            <a:r>
              <a:rPr lang="zh-CN" altLang="en-US" sz="1600" dirty="0">
                <a:sym typeface="Huawei Sans" panose="020C0503030203020204" pitchFamily="34" charset="0"/>
              </a:rPr>
              <a:t>架构，主要区别在于数据平面的指令不同。前者基于</a:t>
            </a:r>
            <a:r>
              <a:rPr lang="en-US" altLang="zh-CN" sz="1600" dirty="0"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ym typeface="Huawei Sans" panose="020C0503030203020204" pitchFamily="34" charset="0"/>
              </a:rPr>
              <a:t>网络，所以指令为</a:t>
            </a:r>
            <a:r>
              <a:rPr lang="en-US" altLang="zh-CN" sz="1600" dirty="0"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ym typeface="Huawei Sans" panose="020C0503030203020204" pitchFamily="34" charset="0"/>
              </a:rPr>
              <a:t>地址；后者基于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网络，指令为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标签。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523E1E26-3134-4F60-A6D2-32B5A20C8C96}"/>
              </a:ext>
            </a:extLst>
          </p:cNvPr>
          <p:cNvGrpSpPr/>
          <p:nvPr/>
        </p:nvGrpSpPr>
        <p:grpSpPr bwMode="gray">
          <a:xfrm rot="10800000">
            <a:off x="5687352" y="3458483"/>
            <a:ext cx="1032830" cy="1941018"/>
            <a:chOff x="4518703" y="2205748"/>
            <a:chExt cx="1512166" cy="2521312"/>
          </a:xfrm>
        </p:grpSpPr>
        <p:cxnSp>
          <p:nvCxnSpPr>
            <p:cNvPr id="5" name="直接连接符 4">
              <a:extLst>
                <a:ext uri="{FF2B5EF4-FFF2-40B4-BE49-F238E27FC236}">
                  <a16:creationId xmlns="" xmlns:a16="http://schemas.microsoft.com/office/drawing/2014/main" id="{989B50A6-26D1-4AB4-88D8-3ACB489C05EA}"/>
                </a:ext>
              </a:extLst>
            </p:cNvPr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  <p:cxnSp>
          <p:nvCxnSpPr>
            <p:cNvPr id="6" name="直接连接符 5">
              <a:extLst>
                <a:ext uri="{FF2B5EF4-FFF2-40B4-BE49-F238E27FC236}">
                  <a16:creationId xmlns="" xmlns:a16="http://schemas.microsoft.com/office/drawing/2014/main" id="{EB3CB8CD-FD14-490C-85C0-0D144A2223D3}"/>
                </a:ext>
              </a:extLst>
            </p:cNvPr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</p:cxnSp>
      </p:grp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7A9EA0D2-3567-49ED-A15A-02A023B96FE7}"/>
              </a:ext>
            </a:extLst>
          </p:cNvPr>
          <p:cNvGrpSpPr/>
          <p:nvPr/>
        </p:nvGrpSpPr>
        <p:grpSpPr bwMode="gray">
          <a:xfrm>
            <a:off x="1332722" y="3452987"/>
            <a:ext cx="4358915" cy="1954367"/>
            <a:chOff x="1055163" y="3291162"/>
            <a:chExt cx="4358915" cy="1954367"/>
          </a:xfrm>
        </p:grpSpPr>
        <p:cxnSp>
          <p:nvCxnSpPr>
            <p:cNvPr id="8" name="直接连接符 7">
              <a:extLst>
                <a:ext uri="{FF2B5EF4-FFF2-40B4-BE49-F238E27FC236}">
                  <a16:creationId xmlns="" xmlns:a16="http://schemas.microsoft.com/office/drawing/2014/main" id="{66968E65-A9B6-405C-BE42-F69453C7709D}"/>
                </a:ext>
              </a:extLst>
            </p:cNvPr>
            <p:cNvCxnSpPr/>
            <p:nvPr/>
          </p:nvCxnSpPr>
          <p:spPr bwMode="gray">
            <a:xfrm flipH="1">
              <a:off x="2119315" y="3304511"/>
              <a:ext cx="1760319" cy="19331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="" xmlns:a16="http://schemas.microsoft.com/office/drawing/2014/main" id="{5748974E-452E-4DDD-A98A-778F0FB3DA67}"/>
                </a:ext>
              </a:extLst>
            </p:cNvPr>
            <p:cNvCxnSpPr/>
            <p:nvPr/>
          </p:nvCxnSpPr>
          <p:spPr bwMode="gray">
            <a:xfrm flipH="1" flipV="1">
              <a:off x="2117370" y="3291162"/>
              <a:ext cx="1748548" cy="195436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>
              <a:extLst>
                <a:ext uri="{FF2B5EF4-FFF2-40B4-BE49-F238E27FC236}">
                  <a16:creationId xmlns="" xmlns:a16="http://schemas.microsoft.com/office/drawing/2014/main" id="{961D794E-1349-46A1-B43A-BCE098C9300B}"/>
                </a:ext>
              </a:extLst>
            </p:cNvPr>
            <p:cNvGrpSpPr/>
            <p:nvPr/>
          </p:nvGrpSpPr>
          <p:grpSpPr bwMode="gray">
            <a:xfrm>
              <a:off x="1055163" y="3296658"/>
              <a:ext cx="1032830" cy="1941018"/>
              <a:chOff x="4518703" y="2205748"/>
              <a:chExt cx="1512166" cy="2521312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="" xmlns:a16="http://schemas.microsoft.com/office/drawing/2014/main" id="{CDED6A2C-C12D-4D52-B207-8FA110A3AFB5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="" xmlns:a16="http://schemas.microsoft.com/office/drawing/2014/main" id="{39796278-5DB9-43CE-A521-F119942A855C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直接连接符 10">
              <a:extLst>
                <a:ext uri="{FF2B5EF4-FFF2-40B4-BE49-F238E27FC236}">
                  <a16:creationId xmlns="" xmlns:a16="http://schemas.microsoft.com/office/drawing/2014/main" id="{3C2C9171-FDA7-4C58-9CDF-81CCFEDDDECB}"/>
                </a:ext>
              </a:extLst>
            </p:cNvPr>
            <p:cNvCxnSpPr/>
            <p:nvPr/>
          </p:nvCxnSpPr>
          <p:spPr bwMode="gray">
            <a:xfrm flipH="1">
              <a:off x="2101710" y="3296658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="" xmlns:a16="http://schemas.microsoft.com/office/drawing/2014/main" id="{7E238A58-89AC-4C32-976A-C44F973C7F10}"/>
                </a:ext>
              </a:extLst>
            </p:cNvPr>
            <p:cNvCxnSpPr/>
            <p:nvPr/>
          </p:nvCxnSpPr>
          <p:spPr bwMode="gray">
            <a:xfrm flipH="1">
              <a:off x="2101710" y="5245529"/>
              <a:ext cx="331236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="" xmlns:a16="http://schemas.microsoft.com/office/drawing/2014/main" id="{8DBFF01A-F077-4B41-A3D2-57684830A57A}"/>
              </a:ext>
            </a:extLst>
          </p:cNvPr>
          <p:cNvCxnSpPr/>
          <p:nvPr/>
        </p:nvCxnSpPr>
        <p:spPr bwMode="gray">
          <a:xfrm flipV="1">
            <a:off x="4157193" y="3458483"/>
            <a:ext cx="0" cy="1948871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cxn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07E60B93-8DAA-4E3A-9456-E2B2B9C4406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3367" y="4179811"/>
            <a:ext cx="540000" cy="442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D0C39728-7269-47BE-A7A8-799420E1D1C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69174" y="3230785"/>
            <a:ext cx="540000" cy="442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73D7954B-3600-4E95-BE7D-4708ECA051D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69174" y="5128837"/>
            <a:ext cx="540000" cy="442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AC488AD1-B524-44BF-83B3-B0CBE7AAA22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95711" y="3230785"/>
            <a:ext cx="540000" cy="4428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6B63CCBC-566D-4305-9164-908D1774096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95711" y="5128837"/>
            <a:ext cx="540000" cy="4428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749F3F5F-79B1-484E-9A50-1F9E88172F9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87226" y="3230785"/>
            <a:ext cx="540000" cy="4428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="" xmlns:a16="http://schemas.microsoft.com/office/drawing/2014/main" id="{C9F43873-E308-4F90-B2E8-CD4437B1AF6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87226" y="5128837"/>
            <a:ext cx="540000" cy="4428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="" xmlns:a16="http://schemas.microsoft.com/office/drawing/2014/main" id="{8141BF2F-F5EC-4862-91EC-219D136D3CC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38964" y="4179811"/>
            <a:ext cx="540000" cy="442800"/>
          </a:xfrm>
          <a:prstGeom prst="rect">
            <a:avLst/>
          </a:prstGeom>
        </p:spPr>
      </p:pic>
      <p:sp>
        <p:nvSpPr>
          <p:cNvPr id="24" name="任意多边形 22">
            <a:extLst>
              <a:ext uri="{FF2B5EF4-FFF2-40B4-BE49-F238E27FC236}">
                <a16:creationId xmlns="" xmlns:a16="http://schemas.microsoft.com/office/drawing/2014/main" id="{D482771A-6C06-45C6-B5C0-E51A6F63E01A}"/>
              </a:ext>
            </a:extLst>
          </p:cNvPr>
          <p:cNvSpPr/>
          <p:nvPr/>
        </p:nvSpPr>
        <p:spPr bwMode="gray">
          <a:xfrm>
            <a:off x="1707138" y="3411238"/>
            <a:ext cx="2231260" cy="97615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" fmla="*/ 0 w 3287214"/>
              <a:gd name="connsiteY0" fmla="*/ 0 h 1669002"/>
              <a:gd name="connsiteX1" fmla="*/ 2938508 w 3287214"/>
              <a:gd name="connsiteY1" fmla="*/ 26633 h 1669002"/>
              <a:gd name="connsiteX2" fmla="*/ 3204838 w 3287214"/>
              <a:gd name="connsiteY2" fmla="*/ 1669002 h 1669002"/>
              <a:gd name="connsiteX0" fmla="*/ 0 w 3310312"/>
              <a:gd name="connsiteY0" fmla="*/ 102151 h 1771153"/>
              <a:gd name="connsiteX1" fmla="*/ 2938508 w 3310312"/>
              <a:gd name="connsiteY1" fmla="*/ 128784 h 1771153"/>
              <a:gd name="connsiteX2" fmla="*/ 3204838 w 3310312"/>
              <a:gd name="connsiteY2" fmla="*/ 1771153 h 1771153"/>
              <a:gd name="connsiteX0" fmla="*/ 0 w 3268527"/>
              <a:gd name="connsiteY0" fmla="*/ 449497 h 2118499"/>
              <a:gd name="connsiteX1" fmla="*/ 2823098 w 3268527"/>
              <a:gd name="connsiteY1" fmla="*/ 67757 h 2118499"/>
              <a:gd name="connsiteX2" fmla="*/ 3204838 w 3268527"/>
              <a:gd name="connsiteY2" fmla="*/ 2118499 h 2118499"/>
              <a:gd name="connsiteX0" fmla="*/ 0 w 3245185"/>
              <a:gd name="connsiteY0" fmla="*/ 400710 h 2069712"/>
              <a:gd name="connsiteX1" fmla="*/ 2716566 w 3245185"/>
              <a:gd name="connsiteY1" fmla="*/ 72236 h 2069712"/>
              <a:gd name="connsiteX2" fmla="*/ 3204838 w 3245185"/>
              <a:gd name="connsiteY2" fmla="*/ 2069712 h 2069712"/>
              <a:gd name="connsiteX0" fmla="*/ 0 w 3207623"/>
              <a:gd name="connsiteY0" fmla="*/ 408402 h 2201692"/>
              <a:gd name="connsiteX1" fmla="*/ 2716566 w 3207623"/>
              <a:gd name="connsiteY1" fmla="*/ 79928 h 2201692"/>
              <a:gd name="connsiteX2" fmla="*/ 3160450 w 3207623"/>
              <a:gd name="connsiteY2" fmla="*/ 2201692 h 2201692"/>
              <a:gd name="connsiteX0" fmla="*/ 0 w 3180591"/>
              <a:gd name="connsiteY0" fmla="*/ 408402 h 2201692"/>
              <a:gd name="connsiteX1" fmla="*/ 2716566 w 3180591"/>
              <a:gd name="connsiteY1" fmla="*/ 79928 h 2201692"/>
              <a:gd name="connsiteX2" fmla="*/ 3160450 w 3180591"/>
              <a:gd name="connsiteY2" fmla="*/ 2201692 h 2201692"/>
              <a:gd name="connsiteX0" fmla="*/ 0 w 3598264"/>
              <a:gd name="connsiteY0" fmla="*/ 412296 h 2267729"/>
              <a:gd name="connsiteX1" fmla="*/ 2716566 w 3598264"/>
              <a:gd name="connsiteY1" fmla="*/ 83822 h 2267729"/>
              <a:gd name="connsiteX2" fmla="*/ 3595456 w 3598264"/>
              <a:gd name="connsiteY2" fmla="*/ 2267729 h 2267729"/>
              <a:gd name="connsiteX0" fmla="*/ 0 w 3621154"/>
              <a:gd name="connsiteY0" fmla="*/ 62433 h 1917866"/>
              <a:gd name="connsiteX1" fmla="*/ 3116061 w 3621154"/>
              <a:gd name="connsiteY1" fmla="*/ 168965 h 1917866"/>
              <a:gd name="connsiteX2" fmla="*/ 3595456 w 3621154"/>
              <a:gd name="connsiteY2" fmla="*/ 1917866 h 1917866"/>
              <a:gd name="connsiteX0" fmla="*/ 0 w 3666945"/>
              <a:gd name="connsiteY0" fmla="*/ 0 h 2121763"/>
              <a:gd name="connsiteX1" fmla="*/ 3160450 w 3666945"/>
              <a:gd name="connsiteY1" fmla="*/ 372862 h 2121763"/>
              <a:gd name="connsiteX2" fmla="*/ 3639845 w 3666945"/>
              <a:gd name="connsiteY2" fmla="*/ 2121763 h 2121763"/>
              <a:gd name="connsiteX0" fmla="*/ 0 w 3666945"/>
              <a:gd name="connsiteY0" fmla="*/ 40339 h 2162102"/>
              <a:gd name="connsiteX1" fmla="*/ 3160450 w 3666945"/>
              <a:gd name="connsiteY1" fmla="*/ 413201 h 2162102"/>
              <a:gd name="connsiteX2" fmla="*/ 3639845 w 3666945"/>
              <a:gd name="connsiteY2" fmla="*/ 2162102 h 2162102"/>
              <a:gd name="connsiteX0" fmla="*/ 0 w 3666945"/>
              <a:gd name="connsiteY0" fmla="*/ 47544 h 2116041"/>
              <a:gd name="connsiteX1" fmla="*/ 3160450 w 3666945"/>
              <a:gd name="connsiteY1" fmla="*/ 367140 h 2116041"/>
              <a:gd name="connsiteX2" fmla="*/ 3639845 w 3666945"/>
              <a:gd name="connsiteY2" fmla="*/ 2116041 h 2116041"/>
              <a:gd name="connsiteX0" fmla="*/ 0 w 3666945"/>
              <a:gd name="connsiteY0" fmla="*/ 86260 h 2154757"/>
              <a:gd name="connsiteX1" fmla="*/ 3160450 w 3666945"/>
              <a:gd name="connsiteY1" fmla="*/ 405856 h 2154757"/>
              <a:gd name="connsiteX2" fmla="*/ 3639845 w 3666945"/>
              <a:gd name="connsiteY2" fmla="*/ 2154757 h 2154757"/>
              <a:gd name="connsiteX0" fmla="*/ 0 w 3639845"/>
              <a:gd name="connsiteY0" fmla="*/ 0 h 2068497"/>
              <a:gd name="connsiteX1" fmla="*/ 3639845 w 3639845"/>
              <a:gd name="connsiteY1" fmla="*/ 2068497 h 206849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78831"/>
              <a:gd name="connsiteY0" fmla="*/ 0 h 1971977"/>
              <a:gd name="connsiteX1" fmla="*/ 3650005 w 3678831"/>
              <a:gd name="connsiteY1" fmla="*/ 1971977 h 1971977"/>
              <a:gd name="connsiteX0" fmla="*/ 0 w 3391741"/>
              <a:gd name="connsiteY0" fmla="*/ 0 h 1977057"/>
              <a:gd name="connsiteX1" fmla="*/ 3294405 w 3391741"/>
              <a:gd name="connsiteY1" fmla="*/ 1977057 h 1977057"/>
              <a:gd name="connsiteX0" fmla="*/ 0 w 3389485"/>
              <a:gd name="connsiteY0" fmla="*/ 0 h 1977057"/>
              <a:gd name="connsiteX1" fmla="*/ 3294405 w 3389485"/>
              <a:gd name="connsiteY1" fmla="*/ 1977057 h 1977057"/>
              <a:gd name="connsiteX0" fmla="*/ 0 w 3393324"/>
              <a:gd name="connsiteY0" fmla="*/ 0 h 1916097"/>
              <a:gd name="connsiteX1" fmla="*/ 3299485 w 3393324"/>
              <a:gd name="connsiteY1" fmla="*/ 1916097 h 1916097"/>
              <a:gd name="connsiteX0" fmla="*/ 0 w 3299485"/>
              <a:gd name="connsiteY0" fmla="*/ 0 h 1916097"/>
              <a:gd name="connsiteX1" fmla="*/ 3299485 w 3299485"/>
              <a:gd name="connsiteY1" fmla="*/ 1916097 h 1916097"/>
              <a:gd name="connsiteX0" fmla="*/ 0 w 2088762"/>
              <a:gd name="connsiteY0" fmla="*/ 1341877 h 1341930"/>
              <a:gd name="connsiteX1" fmla="*/ 2083245 w 2088762"/>
              <a:gd name="connsiteY1" fmla="*/ 275077 h 1341930"/>
              <a:gd name="connsiteX0" fmla="*/ 0 w 2083245"/>
              <a:gd name="connsiteY0" fmla="*/ 1089993 h 1090078"/>
              <a:gd name="connsiteX1" fmla="*/ 2083245 w 2083245"/>
              <a:gd name="connsiteY1" fmla="*/ 23193 h 1090078"/>
              <a:gd name="connsiteX0" fmla="*/ 0 w 2083245"/>
              <a:gd name="connsiteY0" fmla="*/ 1098866 h 1098866"/>
              <a:gd name="connsiteX1" fmla="*/ 2083245 w 2083245"/>
              <a:gd name="connsiteY1" fmla="*/ 32066 h 1098866"/>
              <a:gd name="connsiteX0" fmla="*/ 0 w 2200085"/>
              <a:gd name="connsiteY0" fmla="*/ 1158069 h 1158069"/>
              <a:gd name="connsiteX1" fmla="*/ 2200085 w 2200085"/>
              <a:gd name="connsiteY1" fmla="*/ 30309 h 1158069"/>
              <a:gd name="connsiteX0" fmla="*/ 0 w 2200085"/>
              <a:gd name="connsiteY0" fmla="*/ 1157543 h 1157543"/>
              <a:gd name="connsiteX1" fmla="*/ 2200085 w 2200085"/>
              <a:gd name="connsiteY1" fmla="*/ 29783 h 1157543"/>
              <a:gd name="connsiteX0" fmla="*/ 0 w 2454085"/>
              <a:gd name="connsiteY0" fmla="*/ 990184 h 990184"/>
              <a:gd name="connsiteX1" fmla="*/ 2454085 w 2454085"/>
              <a:gd name="connsiteY1" fmla="*/ 35144 h 990184"/>
              <a:gd name="connsiteX0" fmla="*/ 0 w 2454085"/>
              <a:gd name="connsiteY0" fmla="*/ 976155 h 976155"/>
              <a:gd name="connsiteX1" fmla="*/ 2454085 w 2454085"/>
              <a:gd name="connsiteY1" fmla="*/ 21115 h 9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54085" h="976155">
                <a:moveTo>
                  <a:pt x="0" y="976155"/>
                </a:moveTo>
                <a:cubicBezTo>
                  <a:pt x="373388" y="597161"/>
                  <a:pt x="1156137" y="-133291"/>
                  <a:pt x="2454085" y="21115"/>
                </a:cubicBezTo>
              </a:path>
            </a:pathLst>
          </a:cu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任意多边形 24">
            <a:extLst>
              <a:ext uri="{FF2B5EF4-FFF2-40B4-BE49-F238E27FC236}">
                <a16:creationId xmlns="" xmlns:a16="http://schemas.microsoft.com/office/drawing/2014/main" id="{3AE5A0D7-7B69-4A11-9C9A-34EF58ABDD0E}"/>
              </a:ext>
            </a:extLst>
          </p:cNvPr>
          <p:cNvSpPr/>
          <p:nvPr/>
        </p:nvSpPr>
        <p:spPr bwMode="gray">
          <a:xfrm>
            <a:off x="4456904" y="3324137"/>
            <a:ext cx="1982060" cy="1035685"/>
          </a:xfrm>
          <a:custGeom>
            <a:avLst/>
            <a:gdLst>
              <a:gd name="connsiteX0" fmla="*/ 0 w 3287214"/>
              <a:gd name="connsiteY0" fmla="*/ 103219 h 1772221"/>
              <a:gd name="connsiteX1" fmla="*/ 426128 w 3287214"/>
              <a:gd name="connsiteY1" fmla="*/ 103219 h 1772221"/>
              <a:gd name="connsiteX2" fmla="*/ 2938508 w 3287214"/>
              <a:gd name="connsiteY2" fmla="*/ 129852 h 1772221"/>
              <a:gd name="connsiteX3" fmla="*/ 3204838 w 3287214"/>
              <a:gd name="connsiteY3" fmla="*/ 1772221 h 1772221"/>
              <a:gd name="connsiteX0" fmla="*/ 0 w 3287214"/>
              <a:gd name="connsiteY0" fmla="*/ 0 h 1669002"/>
              <a:gd name="connsiteX1" fmla="*/ 2938508 w 3287214"/>
              <a:gd name="connsiteY1" fmla="*/ 26633 h 1669002"/>
              <a:gd name="connsiteX2" fmla="*/ 3204838 w 3287214"/>
              <a:gd name="connsiteY2" fmla="*/ 1669002 h 1669002"/>
              <a:gd name="connsiteX0" fmla="*/ 0 w 3310312"/>
              <a:gd name="connsiteY0" fmla="*/ 102151 h 1771153"/>
              <a:gd name="connsiteX1" fmla="*/ 2938508 w 3310312"/>
              <a:gd name="connsiteY1" fmla="*/ 128784 h 1771153"/>
              <a:gd name="connsiteX2" fmla="*/ 3204838 w 3310312"/>
              <a:gd name="connsiteY2" fmla="*/ 1771153 h 1771153"/>
              <a:gd name="connsiteX0" fmla="*/ 0 w 3268527"/>
              <a:gd name="connsiteY0" fmla="*/ 449497 h 2118499"/>
              <a:gd name="connsiteX1" fmla="*/ 2823098 w 3268527"/>
              <a:gd name="connsiteY1" fmla="*/ 67757 h 2118499"/>
              <a:gd name="connsiteX2" fmla="*/ 3204838 w 3268527"/>
              <a:gd name="connsiteY2" fmla="*/ 2118499 h 2118499"/>
              <a:gd name="connsiteX0" fmla="*/ 0 w 3245185"/>
              <a:gd name="connsiteY0" fmla="*/ 400710 h 2069712"/>
              <a:gd name="connsiteX1" fmla="*/ 2716566 w 3245185"/>
              <a:gd name="connsiteY1" fmla="*/ 72236 h 2069712"/>
              <a:gd name="connsiteX2" fmla="*/ 3204838 w 3245185"/>
              <a:gd name="connsiteY2" fmla="*/ 2069712 h 2069712"/>
              <a:gd name="connsiteX0" fmla="*/ 0 w 3207623"/>
              <a:gd name="connsiteY0" fmla="*/ 408402 h 2201692"/>
              <a:gd name="connsiteX1" fmla="*/ 2716566 w 3207623"/>
              <a:gd name="connsiteY1" fmla="*/ 79928 h 2201692"/>
              <a:gd name="connsiteX2" fmla="*/ 3160450 w 3207623"/>
              <a:gd name="connsiteY2" fmla="*/ 2201692 h 2201692"/>
              <a:gd name="connsiteX0" fmla="*/ 0 w 3180591"/>
              <a:gd name="connsiteY0" fmla="*/ 408402 h 2201692"/>
              <a:gd name="connsiteX1" fmla="*/ 2716566 w 3180591"/>
              <a:gd name="connsiteY1" fmla="*/ 79928 h 2201692"/>
              <a:gd name="connsiteX2" fmla="*/ 3160450 w 3180591"/>
              <a:gd name="connsiteY2" fmla="*/ 2201692 h 2201692"/>
              <a:gd name="connsiteX0" fmla="*/ 0 w 3598264"/>
              <a:gd name="connsiteY0" fmla="*/ 412296 h 2267729"/>
              <a:gd name="connsiteX1" fmla="*/ 2716566 w 3598264"/>
              <a:gd name="connsiteY1" fmla="*/ 83822 h 2267729"/>
              <a:gd name="connsiteX2" fmla="*/ 3595456 w 3598264"/>
              <a:gd name="connsiteY2" fmla="*/ 2267729 h 2267729"/>
              <a:gd name="connsiteX0" fmla="*/ 0 w 3621154"/>
              <a:gd name="connsiteY0" fmla="*/ 62433 h 1917866"/>
              <a:gd name="connsiteX1" fmla="*/ 3116061 w 3621154"/>
              <a:gd name="connsiteY1" fmla="*/ 168965 h 1917866"/>
              <a:gd name="connsiteX2" fmla="*/ 3595456 w 3621154"/>
              <a:gd name="connsiteY2" fmla="*/ 1917866 h 1917866"/>
              <a:gd name="connsiteX0" fmla="*/ 0 w 3666945"/>
              <a:gd name="connsiteY0" fmla="*/ 0 h 2121763"/>
              <a:gd name="connsiteX1" fmla="*/ 3160450 w 3666945"/>
              <a:gd name="connsiteY1" fmla="*/ 372862 h 2121763"/>
              <a:gd name="connsiteX2" fmla="*/ 3639845 w 3666945"/>
              <a:gd name="connsiteY2" fmla="*/ 2121763 h 2121763"/>
              <a:gd name="connsiteX0" fmla="*/ 0 w 3666945"/>
              <a:gd name="connsiteY0" fmla="*/ 40339 h 2162102"/>
              <a:gd name="connsiteX1" fmla="*/ 3160450 w 3666945"/>
              <a:gd name="connsiteY1" fmla="*/ 413201 h 2162102"/>
              <a:gd name="connsiteX2" fmla="*/ 3639845 w 3666945"/>
              <a:gd name="connsiteY2" fmla="*/ 2162102 h 2162102"/>
              <a:gd name="connsiteX0" fmla="*/ 0 w 3666945"/>
              <a:gd name="connsiteY0" fmla="*/ 47544 h 2116041"/>
              <a:gd name="connsiteX1" fmla="*/ 3160450 w 3666945"/>
              <a:gd name="connsiteY1" fmla="*/ 367140 h 2116041"/>
              <a:gd name="connsiteX2" fmla="*/ 3639845 w 3666945"/>
              <a:gd name="connsiteY2" fmla="*/ 2116041 h 2116041"/>
              <a:gd name="connsiteX0" fmla="*/ 0 w 3666945"/>
              <a:gd name="connsiteY0" fmla="*/ 86260 h 2154757"/>
              <a:gd name="connsiteX1" fmla="*/ 3160450 w 3666945"/>
              <a:gd name="connsiteY1" fmla="*/ 405856 h 2154757"/>
              <a:gd name="connsiteX2" fmla="*/ 3639845 w 3666945"/>
              <a:gd name="connsiteY2" fmla="*/ 2154757 h 2154757"/>
              <a:gd name="connsiteX0" fmla="*/ 0 w 3639845"/>
              <a:gd name="connsiteY0" fmla="*/ 0 h 2068497"/>
              <a:gd name="connsiteX1" fmla="*/ 3639845 w 3639845"/>
              <a:gd name="connsiteY1" fmla="*/ 2068497 h 206849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50005"/>
              <a:gd name="connsiteY0" fmla="*/ 0 h 1971977"/>
              <a:gd name="connsiteX1" fmla="*/ 3650005 w 3650005"/>
              <a:gd name="connsiteY1" fmla="*/ 1971977 h 1971977"/>
              <a:gd name="connsiteX0" fmla="*/ 0 w 3678831"/>
              <a:gd name="connsiteY0" fmla="*/ 0 h 1971977"/>
              <a:gd name="connsiteX1" fmla="*/ 3650005 w 3678831"/>
              <a:gd name="connsiteY1" fmla="*/ 1971977 h 1971977"/>
              <a:gd name="connsiteX0" fmla="*/ 0 w 3391741"/>
              <a:gd name="connsiteY0" fmla="*/ 0 h 1977057"/>
              <a:gd name="connsiteX1" fmla="*/ 3294405 w 3391741"/>
              <a:gd name="connsiteY1" fmla="*/ 1977057 h 1977057"/>
              <a:gd name="connsiteX0" fmla="*/ 0 w 3389485"/>
              <a:gd name="connsiteY0" fmla="*/ 0 h 1977057"/>
              <a:gd name="connsiteX1" fmla="*/ 3294405 w 3389485"/>
              <a:gd name="connsiteY1" fmla="*/ 1977057 h 1977057"/>
              <a:gd name="connsiteX0" fmla="*/ 0 w 3393324"/>
              <a:gd name="connsiteY0" fmla="*/ 0 h 1916097"/>
              <a:gd name="connsiteX1" fmla="*/ 3299485 w 3393324"/>
              <a:gd name="connsiteY1" fmla="*/ 1916097 h 1916097"/>
              <a:gd name="connsiteX0" fmla="*/ 0 w 3299485"/>
              <a:gd name="connsiteY0" fmla="*/ 0 h 1916097"/>
              <a:gd name="connsiteX1" fmla="*/ 3299485 w 3299485"/>
              <a:gd name="connsiteY1" fmla="*/ 1916097 h 1916097"/>
              <a:gd name="connsiteX0" fmla="*/ 0 w 2088762"/>
              <a:gd name="connsiteY0" fmla="*/ 1341877 h 1341930"/>
              <a:gd name="connsiteX1" fmla="*/ 2083245 w 2088762"/>
              <a:gd name="connsiteY1" fmla="*/ 275077 h 1341930"/>
              <a:gd name="connsiteX0" fmla="*/ 0 w 2083245"/>
              <a:gd name="connsiteY0" fmla="*/ 1089993 h 1090078"/>
              <a:gd name="connsiteX1" fmla="*/ 2083245 w 2083245"/>
              <a:gd name="connsiteY1" fmla="*/ 23193 h 1090078"/>
              <a:gd name="connsiteX0" fmla="*/ 0 w 2083245"/>
              <a:gd name="connsiteY0" fmla="*/ 1098866 h 1098866"/>
              <a:gd name="connsiteX1" fmla="*/ 2083245 w 2083245"/>
              <a:gd name="connsiteY1" fmla="*/ 32066 h 1098866"/>
              <a:gd name="connsiteX0" fmla="*/ 0 w 2200085"/>
              <a:gd name="connsiteY0" fmla="*/ 1158069 h 1158069"/>
              <a:gd name="connsiteX1" fmla="*/ 2200085 w 2200085"/>
              <a:gd name="connsiteY1" fmla="*/ 30309 h 1158069"/>
              <a:gd name="connsiteX0" fmla="*/ 0 w 2200085"/>
              <a:gd name="connsiteY0" fmla="*/ 1157543 h 1157543"/>
              <a:gd name="connsiteX1" fmla="*/ 2200085 w 2200085"/>
              <a:gd name="connsiteY1" fmla="*/ 29783 h 1157543"/>
              <a:gd name="connsiteX0" fmla="*/ 0 w 2454085"/>
              <a:gd name="connsiteY0" fmla="*/ 990184 h 990184"/>
              <a:gd name="connsiteX1" fmla="*/ 2454085 w 2454085"/>
              <a:gd name="connsiteY1" fmla="*/ 35144 h 990184"/>
              <a:gd name="connsiteX0" fmla="*/ 0 w 2454085"/>
              <a:gd name="connsiteY0" fmla="*/ 976155 h 976155"/>
              <a:gd name="connsiteX1" fmla="*/ 2454085 w 2454085"/>
              <a:gd name="connsiteY1" fmla="*/ 21115 h 976155"/>
              <a:gd name="connsiteX0" fmla="*/ 0 w 1927035"/>
              <a:gd name="connsiteY0" fmla="*/ 230395 h 230395"/>
              <a:gd name="connsiteX1" fmla="*/ 1927035 w 1927035"/>
              <a:gd name="connsiteY1" fmla="*/ 173880 h 230395"/>
              <a:gd name="connsiteX0" fmla="*/ 0 w 2165160"/>
              <a:gd name="connsiteY0" fmla="*/ 75406 h 1015841"/>
              <a:gd name="connsiteX1" fmla="*/ 2165160 w 2165160"/>
              <a:gd name="connsiteY1" fmla="*/ 1015841 h 1015841"/>
              <a:gd name="connsiteX0" fmla="*/ 0 w 2165160"/>
              <a:gd name="connsiteY0" fmla="*/ 117592 h 1058027"/>
              <a:gd name="connsiteX1" fmla="*/ 2165160 w 2165160"/>
              <a:gd name="connsiteY1" fmla="*/ 1058027 h 1058027"/>
              <a:gd name="connsiteX0" fmla="*/ 0 w 2165160"/>
              <a:gd name="connsiteY0" fmla="*/ 356 h 940791"/>
              <a:gd name="connsiteX1" fmla="*/ 2165160 w 2165160"/>
              <a:gd name="connsiteY1" fmla="*/ 940791 h 940791"/>
              <a:gd name="connsiteX0" fmla="*/ 0 w 2152460"/>
              <a:gd name="connsiteY0" fmla="*/ 256 h 1035941"/>
              <a:gd name="connsiteX1" fmla="*/ 2152460 w 2152460"/>
              <a:gd name="connsiteY1" fmla="*/ 1035941 h 1035941"/>
              <a:gd name="connsiteX0" fmla="*/ 0 w 2152460"/>
              <a:gd name="connsiteY0" fmla="*/ 0 h 1035685"/>
              <a:gd name="connsiteX1" fmla="*/ 2152460 w 2152460"/>
              <a:gd name="connsiteY1" fmla="*/ 1035685 h 1035685"/>
              <a:gd name="connsiteX0" fmla="*/ 0 w 2152460"/>
              <a:gd name="connsiteY0" fmla="*/ 0 h 1035685"/>
              <a:gd name="connsiteX1" fmla="*/ 2152460 w 2152460"/>
              <a:gd name="connsiteY1" fmla="*/ 1035685 h 103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52460" h="1035685">
                <a:moveTo>
                  <a:pt x="0" y="0"/>
                </a:moveTo>
                <a:cubicBezTo>
                  <a:pt x="1226228" y="40105"/>
                  <a:pt x="1533962" y="312954"/>
                  <a:pt x="2152460" y="1035685"/>
                </a:cubicBezTo>
              </a:path>
            </a:pathLst>
          </a:cu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="" xmlns:a16="http://schemas.microsoft.com/office/drawing/2014/main" id="{9C338ACD-086B-4ADA-9BB4-09A140AECA79}"/>
              </a:ext>
            </a:extLst>
          </p:cNvPr>
          <p:cNvSpPr>
            <a:spLocks noChangeAspect="1"/>
          </p:cNvSpPr>
          <p:nvPr/>
        </p:nvSpPr>
        <p:spPr bwMode="gray">
          <a:xfrm>
            <a:off x="2032723" y="3895874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="" xmlns:a16="http://schemas.microsoft.com/office/drawing/2014/main" id="{9C8357B2-6901-42BF-829C-3F5BF0D787A7}"/>
              </a:ext>
            </a:extLst>
          </p:cNvPr>
          <p:cNvSpPr>
            <a:spLocks noChangeAspect="1"/>
          </p:cNvSpPr>
          <p:nvPr/>
        </p:nvSpPr>
        <p:spPr bwMode="gray">
          <a:xfrm>
            <a:off x="4625180" y="3178758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17D34B51-980F-49EE-81A1-D6B8CD644311}"/>
              </a:ext>
            </a:extLst>
          </p:cNvPr>
          <p:cNvSpPr/>
          <p:nvPr/>
        </p:nvSpPr>
        <p:spPr bwMode="gray">
          <a:xfrm>
            <a:off x="3723545" y="2608075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FC00::4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="" xmlns:a16="http://schemas.microsoft.com/office/drawing/2014/main" id="{30D63C13-D816-4DAB-90DD-FFE1BD39A2FE}"/>
              </a:ext>
            </a:extLst>
          </p:cNvPr>
          <p:cNvSpPr>
            <a:spLocks noChangeAspect="1"/>
          </p:cNvSpPr>
          <p:nvPr/>
        </p:nvSpPr>
        <p:spPr bwMode="gray">
          <a:xfrm>
            <a:off x="6058643" y="3940263"/>
            <a:ext cx="232480" cy="2324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18F1C5CD-6F53-4CD1-B4AA-14DC0E209D6E}"/>
              </a:ext>
            </a:extLst>
          </p:cNvPr>
          <p:cNvSpPr txBox="1"/>
          <p:nvPr/>
        </p:nvSpPr>
        <p:spPr bwMode="gray">
          <a:xfrm>
            <a:off x="3950245" y="289938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E04DC9B0-F5B2-4472-B704-48AEA43A842C}"/>
              </a:ext>
            </a:extLst>
          </p:cNvPr>
          <p:cNvSpPr txBox="1"/>
          <p:nvPr/>
        </p:nvSpPr>
        <p:spPr bwMode="gray">
          <a:xfrm>
            <a:off x="5447934" y="2899385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0338914D-3504-4E1D-9A38-CB8905120BAD}"/>
              </a:ext>
            </a:extLst>
          </p:cNvPr>
          <p:cNvSpPr txBox="1"/>
          <p:nvPr/>
        </p:nvSpPr>
        <p:spPr bwMode="gray">
          <a:xfrm>
            <a:off x="6504119" y="4663550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R8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962A1134-4F90-439B-A77B-0BC4EB5A4461}"/>
              </a:ext>
            </a:extLst>
          </p:cNvPr>
          <p:cNvSpPr txBox="1"/>
          <p:nvPr/>
        </p:nvSpPr>
        <p:spPr bwMode="gray">
          <a:xfrm>
            <a:off x="1094134" y="4660418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4947F80C-BA43-42B1-83A6-AE7E0CD5336D}"/>
              </a:ext>
            </a:extLst>
          </p:cNvPr>
          <p:cNvSpPr txBox="1"/>
          <p:nvPr/>
        </p:nvSpPr>
        <p:spPr bwMode="gray">
          <a:xfrm>
            <a:off x="2126926" y="2899385"/>
            <a:ext cx="405880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C3AFF049-38CF-4A2B-8B70-409C375F7C41}"/>
              </a:ext>
            </a:extLst>
          </p:cNvPr>
          <p:cNvSpPr txBox="1"/>
          <p:nvPr/>
        </p:nvSpPr>
        <p:spPr bwMode="gray">
          <a:xfrm>
            <a:off x="2126926" y="55676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F3764052-78F4-408F-9D79-B99E254EBAB2}"/>
              </a:ext>
            </a:extLst>
          </p:cNvPr>
          <p:cNvSpPr txBox="1"/>
          <p:nvPr/>
        </p:nvSpPr>
        <p:spPr bwMode="gray">
          <a:xfrm>
            <a:off x="3948953" y="55676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50D2E0C4-38D8-4DAF-A095-927083472FCA}"/>
              </a:ext>
            </a:extLst>
          </p:cNvPr>
          <p:cNvSpPr txBox="1"/>
          <p:nvPr/>
        </p:nvSpPr>
        <p:spPr bwMode="gray">
          <a:xfrm>
            <a:off x="5447934" y="5567696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R7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31A37E87-3439-40B7-88C2-E73035DF4F1A}"/>
              </a:ext>
            </a:extLst>
          </p:cNvPr>
          <p:cNvSpPr/>
          <p:nvPr/>
        </p:nvSpPr>
        <p:spPr bwMode="gray">
          <a:xfrm>
            <a:off x="882416" y="3388378"/>
            <a:ext cx="73480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FC00::8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="" xmlns:a16="http://schemas.microsoft.com/office/drawing/2014/main" id="{01C9A7D5-B772-4A35-8679-0FC13821FA67}"/>
              </a:ext>
            </a:extLst>
          </p:cNvPr>
          <p:cNvCxnSpPr/>
          <p:nvPr/>
        </p:nvCxnSpPr>
        <p:spPr bwMode="gray">
          <a:xfrm>
            <a:off x="1226888" y="3673585"/>
            <a:ext cx="0" cy="508634"/>
          </a:xfrm>
          <a:prstGeom prst="straightConnector1">
            <a:avLst/>
          </a:prstGeom>
          <a:ln w="76200">
            <a:solidFill>
              <a:schemeClr val="bg1">
                <a:lumMod val="50000"/>
                <a:alpha val="4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6A2A40BC-31F3-4ED2-9595-51C9D1B2F212}"/>
              </a:ext>
            </a:extLst>
          </p:cNvPr>
          <p:cNvSpPr/>
          <p:nvPr/>
        </p:nvSpPr>
        <p:spPr bwMode="gray">
          <a:xfrm>
            <a:off x="7254987" y="3184529"/>
            <a:ext cx="4413478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spcAft>
                <a:spcPts val="600"/>
              </a:spcAft>
            </a:pPr>
            <a:r>
              <a:rPr lang="zh-CN" altLang="en-US" sz="14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源路由（</a:t>
            </a:r>
            <a:r>
              <a:rPr lang="en-US" altLang="zh-CN" sz="14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Source Routing</a:t>
            </a:r>
            <a:r>
              <a:rPr lang="zh-CN" altLang="en-US" sz="1400" b="1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）：</a:t>
            </a:r>
            <a:endParaRPr lang="en-US" altLang="zh-CN" sz="1400" b="1" kern="100" dirty="0"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在源节点选择一条路径并在报文中压入一个有序的标签栈。</a:t>
            </a:r>
            <a:endParaRPr lang="en-US" altLang="zh-CN" sz="1400" kern="100" dirty="0"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  <a:p>
            <a:pPr marL="285750" indent="-285750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anose="02020603050405020304" pitchFamily="18" charset="0"/>
                <a:sym typeface="Huawei Sans" panose="020C0503030203020204" pitchFamily="34" charset="0"/>
              </a:rPr>
              <a:t>网络中的其他节点按照报文封装的标签栈进行转发。</a:t>
            </a:r>
            <a:endParaRPr lang="zh-CN" altLang="zh-CN" sz="1400" kern="100" dirty="0"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Times New Roman" panose="02020603050405020304" pitchFamily="18" charset="0"/>
              <a:sym typeface="Huawei Sans" panose="020C0503030203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38BF2266-7000-4323-9924-A7805F8CCA32}"/>
              </a:ext>
            </a:extLst>
          </p:cNvPr>
          <p:cNvSpPr txBox="1"/>
          <p:nvPr/>
        </p:nvSpPr>
        <p:spPr bwMode="gray">
          <a:xfrm>
            <a:off x="865250" y="2624168"/>
            <a:ext cx="72327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标签栈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B1BB2525-B550-410B-B2C8-52C2CC79614C}"/>
              </a:ext>
            </a:extLst>
          </p:cNvPr>
          <p:cNvSpPr/>
          <p:nvPr/>
        </p:nvSpPr>
        <p:spPr bwMode="gray">
          <a:xfrm>
            <a:off x="5257186" y="2608075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FC00::6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5AA23B0E-0377-4B57-B5E0-C4AF7DCAF08F}"/>
              </a:ext>
            </a:extLst>
          </p:cNvPr>
          <p:cNvSpPr/>
          <p:nvPr/>
        </p:nvSpPr>
        <p:spPr bwMode="gray">
          <a:xfrm>
            <a:off x="3723545" y="5812512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FC00::5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="" xmlns:a16="http://schemas.microsoft.com/office/drawing/2014/main" id="{643C3853-3D10-49D8-899A-F1D91CB6468D}"/>
              </a:ext>
            </a:extLst>
          </p:cNvPr>
          <p:cNvSpPr/>
          <p:nvPr/>
        </p:nvSpPr>
        <p:spPr bwMode="gray">
          <a:xfrm>
            <a:off x="5257186" y="5812512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FC00::7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="" xmlns:a16="http://schemas.microsoft.com/office/drawing/2014/main" id="{A9DBFA19-53FE-465A-8E34-A7CF008E2477}"/>
              </a:ext>
            </a:extLst>
          </p:cNvPr>
          <p:cNvSpPr/>
          <p:nvPr/>
        </p:nvSpPr>
        <p:spPr bwMode="gray">
          <a:xfrm>
            <a:off x="6320073" y="4998643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FC00::8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="" xmlns:a16="http://schemas.microsoft.com/office/drawing/2014/main" id="{E7356980-D236-4257-9C6B-4125DD1B91BE}"/>
              </a:ext>
            </a:extLst>
          </p:cNvPr>
          <p:cNvSpPr/>
          <p:nvPr/>
        </p:nvSpPr>
        <p:spPr bwMode="gray">
          <a:xfrm>
            <a:off x="882416" y="3170515"/>
            <a:ext cx="73480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FC00::6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="" xmlns:a16="http://schemas.microsoft.com/office/drawing/2014/main" id="{AE39F044-D618-49A8-9972-0184559B543C}"/>
              </a:ext>
            </a:extLst>
          </p:cNvPr>
          <p:cNvSpPr/>
          <p:nvPr/>
        </p:nvSpPr>
        <p:spPr bwMode="gray">
          <a:xfrm>
            <a:off x="882416" y="2942368"/>
            <a:ext cx="734806" cy="215444"/>
          </a:xfrm>
          <a:prstGeom prst="rect">
            <a:avLst/>
          </a:prstGeom>
          <a:solidFill>
            <a:srgbClr val="30B5C5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FC00::4</a:t>
            </a:r>
          </a:p>
        </p:txBody>
      </p:sp>
      <p:sp>
        <p:nvSpPr>
          <p:cNvPr id="54" name="五边形 53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54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55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37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AC07D97-6798-474C-97E1-3255C3C7C78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SRv6</a:t>
            </a:r>
            <a:r>
              <a:rPr lang="zh-CN" altLang="en-US">
                <a:sym typeface="Huawei Sans" panose="020C0503030203020204" pitchFamily="34" charset="0"/>
              </a:rPr>
              <a:t>扩展头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AA9C8C0-9281-4C90-90CF-C3AABC0F4D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SRv6</a:t>
            </a:r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IPv6</a:t>
            </a:r>
            <a:r>
              <a:rPr lang="zh-CN" altLang="en-US" sz="1800" dirty="0">
                <a:sym typeface="Huawei Sans" panose="020C0503030203020204" pitchFamily="34" charset="0"/>
              </a:rPr>
              <a:t>报文中插入一个路由扩展头</a:t>
            </a:r>
            <a:r>
              <a:rPr lang="en-US" altLang="zh-CN" sz="1800" dirty="0">
                <a:sym typeface="Huawei Sans" panose="020C0503030203020204" pitchFamily="34" charset="0"/>
              </a:rPr>
              <a:t>SRH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Segment Routing Header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r>
              <a:rPr lang="en-US" altLang="zh-CN" sz="1800" dirty="0">
                <a:sym typeface="Huawei Sans" panose="020C0503030203020204" pitchFamily="34" charset="0"/>
              </a:rPr>
              <a:t>SRH</a:t>
            </a:r>
            <a:r>
              <a:rPr lang="zh-CN" altLang="en-US" sz="1800" dirty="0">
                <a:sym typeface="Huawei Sans" panose="020C0503030203020204" pitchFamily="34" charset="0"/>
              </a:rPr>
              <a:t>中包含一个显式的</a:t>
            </a:r>
            <a:r>
              <a:rPr lang="en-US" altLang="zh-CN" sz="1800" dirty="0">
                <a:sym typeface="Huawei Sans" panose="020C0503030203020204" pitchFamily="34" charset="0"/>
              </a:rPr>
              <a:t>IPv6</a:t>
            </a:r>
            <a:r>
              <a:rPr lang="zh-CN" altLang="en-US" sz="1800" dirty="0">
                <a:sym typeface="Huawei Sans" panose="020C0503030203020204" pitchFamily="34" charset="0"/>
              </a:rPr>
              <a:t>地址栈。在转发过程中</a:t>
            </a:r>
            <a:r>
              <a:rPr lang="en-US" altLang="zh-CN" sz="1800" dirty="0">
                <a:sym typeface="Huawei Sans" panose="020C0503030203020204" pitchFamily="34" charset="0"/>
              </a:rPr>
              <a:t>SRv6</a:t>
            </a:r>
            <a:r>
              <a:rPr lang="zh-CN" altLang="en-US" sz="1800" dirty="0">
                <a:sym typeface="Huawei Sans" panose="020C0503030203020204" pitchFamily="34" charset="0"/>
              </a:rPr>
              <a:t>节点不断地进行更新目的地址和偏移地址栈的操作来完成逐跳转发。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="" xmlns:a16="http://schemas.microsoft.com/office/drawing/2014/main" id="{2EA7C745-0818-4D00-A2EF-0D2E878A5D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68473" y="2887846"/>
          <a:ext cx="4497284" cy="3127361"/>
        </p:xfrm>
        <a:graphic>
          <a:graphicData uri="http://schemas.openxmlformats.org/drawingml/2006/table">
            <a:tbl>
              <a:tblPr/>
              <a:tblGrid>
                <a:gridCol w="112432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243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10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324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2432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67826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Version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Traffic Class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Flow Label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7826">
                <a:tc gridSpan="3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r>
                        <a:rPr lang="en-US" altLang="zh-CN" sz="14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 Length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Next=43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Hop Limit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Source Address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Destination Address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49101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Next 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Header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Hdr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 Ext Len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Routing Type=4 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Segments Left</a:t>
                      </a:r>
                      <a:endParaRPr lang="zh-CN" alt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7826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Last Entry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Flags 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Tag 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algn="l" defTabSz="911273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Segment List[0]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128 bits IPv6 address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）</a:t>
                      </a: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marR="0" lvl="0" indent="0" algn="l" defTabSz="91127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Segment List[1]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 （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128 bits IPv6 address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）</a:t>
                      </a: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marR="0" lvl="0" indent="0" algn="l" defTabSz="91127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Segment List[2]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 （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128 bits IPv6 address</a:t>
                      </a:r>
                      <a:r>
                        <a:rPr lang="zh-CN" alt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）</a:t>
                      </a: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marL="0" marR="0" lvl="0" indent="0" algn="l" defTabSz="91127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Optional TLV objects (variable)</a:t>
                      </a:r>
                      <a:endParaRPr lang="zh-CN" altLang="en-US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89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7826">
                <a:tc gridSpan="5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FrutigerNext LT Medium"/>
                          <a:ea typeface="微软雅黑"/>
                          <a:cs typeface="宋体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en-US" altLang="zh-CN" sz="14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v6  </a:t>
                      </a:r>
                      <a:r>
                        <a:rPr lang="en-US" altLang="zh-C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3" marR="9523" marT="9523" marB="0" anchor="ctr" anchorCtr="1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C4D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anchorCtr="1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="" xmlns:a16="http://schemas.microsoft.com/office/drawing/2014/main" id="{89E77516-A9F6-4F72-A379-95DC4A587E19}"/>
              </a:ext>
            </a:extLst>
          </p:cNvPr>
          <p:cNvSpPr/>
          <p:nvPr/>
        </p:nvSpPr>
        <p:spPr bwMode="gray">
          <a:xfrm>
            <a:off x="7029545" y="5067612"/>
            <a:ext cx="1700322" cy="307777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defRPr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地址标签栈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D6AAD938-F8E9-47D7-94F0-9837D8A4EB12}"/>
              </a:ext>
            </a:extLst>
          </p:cNvPr>
          <p:cNvGrpSpPr/>
          <p:nvPr/>
        </p:nvGrpSpPr>
        <p:grpSpPr bwMode="gray">
          <a:xfrm>
            <a:off x="1449120" y="2263301"/>
            <a:ext cx="5098851" cy="415499"/>
            <a:chOff x="1209352" y="2089356"/>
            <a:chExt cx="5098851" cy="486631"/>
          </a:xfrm>
        </p:grpSpPr>
        <p:sp>
          <p:nvSpPr>
            <p:cNvPr id="14" name="Rectangle 2">
              <a:extLst>
                <a:ext uri="{FF2B5EF4-FFF2-40B4-BE49-F238E27FC236}">
                  <a16:creationId xmlns="" xmlns:a16="http://schemas.microsoft.com/office/drawing/2014/main" id="{D7FB5A4D-9802-4667-B8A4-50D248722258}"/>
                </a:ext>
              </a:extLst>
            </p:cNvPr>
            <p:cNvSpPr/>
            <p:nvPr/>
          </p:nvSpPr>
          <p:spPr bwMode="gray">
            <a:xfrm>
              <a:off x="5163082" y="2089356"/>
              <a:ext cx="1145121" cy="486631"/>
            </a:xfrm>
            <a:prstGeom prst="rect">
              <a:avLst/>
            </a:prstGeom>
            <a:solidFill>
              <a:srgbClr val="56C4D2"/>
            </a:solidFill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v6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Payload</a:t>
              </a:r>
              <a:endPara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="" xmlns:a16="http://schemas.microsoft.com/office/drawing/2014/main" id="{65527381-B6F4-41D8-AD42-1AD2E2586D77}"/>
                </a:ext>
              </a:extLst>
            </p:cNvPr>
            <p:cNvSpPr/>
            <p:nvPr/>
          </p:nvSpPr>
          <p:spPr bwMode="gray">
            <a:xfrm>
              <a:off x="1209352" y="2089357"/>
              <a:ext cx="1464400" cy="486630"/>
            </a:xfrm>
            <a:prstGeom prst="rect">
              <a:avLst/>
            </a:prstGeom>
            <a:solidFill>
              <a:srgbClr val="81C15F"/>
            </a:solidFill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v6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Header</a:t>
              </a:r>
              <a:endPara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Rectangle 2">
              <a:extLst>
                <a:ext uri="{FF2B5EF4-FFF2-40B4-BE49-F238E27FC236}">
                  <a16:creationId xmlns="" xmlns:a16="http://schemas.microsoft.com/office/drawing/2014/main" id="{235E732F-75E5-4ACD-B162-B14D23BDC971}"/>
                </a:ext>
              </a:extLst>
            </p:cNvPr>
            <p:cNvSpPr/>
            <p:nvPr/>
          </p:nvSpPr>
          <p:spPr bwMode="gray">
            <a:xfrm>
              <a:off x="2694876" y="2089357"/>
              <a:ext cx="2456064" cy="486630"/>
            </a:xfrm>
            <a:prstGeom prst="rect">
              <a:avLst/>
            </a:prstGeom>
            <a:solidFill>
              <a:srgbClr val="F28944"/>
            </a:solidFill>
            <a:ln w="25400" cap="flat" cmpd="sng" algn="ctr">
              <a:noFill/>
              <a:prstDash val="solid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IPv6 SRH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IPv6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扩展头）</a:t>
              </a:r>
              <a:endPara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A110ED5-5C4F-4956-8E0E-A470A7AF8841}"/>
              </a:ext>
            </a:extLst>
          </p:cNvPr>
          <p:cNvSpPr/>
          <p:nvPr/>
        </p:nvSpPr>
        <p:spPr bwMode="gray">
          <a:xfrm>
            <a:off x="1511300" y="4714555"/>
            <a:ext cx="4921157" cy="101389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1DFB830E-B1BD-45A6-9421-2A4BE246540E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 bwMode="gray">
          <a:xfrm>
            <a:off x="6432457" y="5221501"/>
            <a:ext cx="597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81B7A9F9-50DF-47DF-A9E0-24C9C3B06145}"/>
              </a:ext>
            </a:extLst>
          </p:cNvPr>
          <p:cNvSpPr/>
          <p:nvPr/>
        </p:nvSpPr>
        <p:spPr bwMode="gray">
          <a:xfrm>
            <a:off x="7029545" y="4130654"/>
            <a:ext cx="2800255" cy="307777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defRPr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偏移指针：从下至上，逐跳减一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="" xmlns:a16="http://schemas.microsoft.com/office/drawing/2014/main" id="{069ABB1C-A48D-4DBB-9345-464D144870FA}"/>
              </a:ext>
            </a:extLst>
          </p:cNvPr>
          <p:cNvCxnSpPr>
            <a:cxnSpLocks/>
            <a:endCxn id="23" idx="1"/>
          </p:cNvCxnSpPr>
          <p:nvPr/>
        </p:nvCxnSpPr>
        <p:spPr bwMode="gray">
          <a:xfrm>
            <a:off x="6165757" y="4284543"/>
            <a:ext cx="863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EF00176A-FCF9-4197-AFAD-95FD4D58532E}"/>
              </a:ext>
            </a:extLst>
          </p:cNvPr>
          <p:cNvSpPr/>
          <p:nvPr/>
        </p:nvSpPr>
        <p:spPr bwMode="gray">
          <a:xfrm>
            <a:off x="1511300" y="3716338"/>
            <a:ext cx="4921157" cy="26066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841F49B5-4D0B-450D-AB57-64D0EE4463F1}"/>
              </a:ext>
            </a:extLst>
          </p:cNvPr>
          <p:cNvSpPr/>
          <p:nvPr/>
        </p:nvSpPr>
        <p:spPr bwMode="gray">
          <a:xfrm>
            <a:off x="7029545" y="3692780"/>
            <a:ext cx="2685955" cy="307777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defRPr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根据指针修改下一跳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="" xmlns:a16="http://schemas.microsoft.com/office/drawing/2014/main" id="{8F1A07B8-0CC3-447A-80CE-EBE712A585BE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 bwMode="gray">
          <a:xfrm flipV="1">
            <a:off x="6432457" y="3846669"/>
            <a:ext cx="5970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五边形 17"/>
          <p:cNvSpPr/>
          <p:nvPr/>
        </p:nvSpPr>
        <p:spPr bwMode="gray">
          <a:xfrm>
            <a:off x="9429717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燕尾形 1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燕尾形 20"/>
          <p:cNvSpPr/>
          <p:nvPr/>
        </p:nvSpPr>
        <p:spPr bwMode="gray">
          <a:xfrm>
            <a:off x="10102621" y="102013"/>
            <a:ext cx="945252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72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>
            <a:extLst>
              <a:ext uri="{FF2B5EF4-FFF2-40B4-BE49-F238E27FC236}">
                <a16:creationId xmlns="" xmlns:a16="http://schemas.microsoft.com/office/drawing/2014/main" id="{AF6849CF-A251-468D-9BD6-508E5BB46F1E}"/>
              </a:ext>
            </a:extLst>
          </p:cNvPr>
          <p:cNvSpPr/>
          <p:nvPr/>
        </p:nvSpPr>
        <p:spPr bwMode="gray">
          <a:xfrm>
            <a:off x="1777302" y="1678518"/>
            <a:ext cx="5294662" cy="3536489"/>
          </a:xfrm>
          <a:prstGeom prst="rect">
            <a:avLst/>
          </a:prstGeom>
          <a:solidFill>
            <a:srgbClr val="BEE9EE"/>
          </a:solidFill>
          <a:ln w="19050">
            <a:solidFill>
              <a:srgbClr val="94DAE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584E6BE-870C-43C1-AC43-F04EB0BC1CA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小结：广域承载技术</a:t>
            </a:r>
          </a:p>
        </p:txBody>
      </p:sp>
      <p:pic>
        <p:nvPicPr>
          <p:cNvPr id="5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34E21181-8E51-4144-B881-CD9A89B1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699233" y="3063650"/>
            <a:ext cx="353331" cy="289089"/>
          </a:xfrm>
          <a:prstGeom prst="rect">
            <a:avLst/>
          </a:prstGeom>
          <a:noFill/>
        </p:spPr>
      </p:pic>
      <p:pic>
        <p:nvPicPr>
          <p:cNvPr id="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E137A0E-DC53-485D-969D-A2446FAD9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69018" y="3063650"/>
            <a:ext cx="353331" cy="289089"/>
          </a:xfrm>
          <a:prstGeom prst="rect">
            <a:avLst/>
          </a:prstGeom>
          <a:noFill/>
        </p:spPr>
      </p:pic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E7FA941-DED3-4314-9B5F-90F0576DB194}"/>
              </a:ext>
            </a:extLst>
          </p:cNvPr>
          <p:cNvCxnSpPr>
            <a:stCxn id="5" idx="3"/>
            <a:endCxn id="6" idx="1"/>
          </p:cNvCxnSpPr>
          <p:nvPr/>
        </p:nvCxnSpPr>
        <p:spPr bwMode="gray">
          <a:xfrm>
            <a:off x="2052564" y="3208195"/>
            <a:ext cx="4164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C65EEE6-0181-4850-97F0-F0BEEA871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699233" y="3601701"/>
            <a:ext cx="353331" cy="289089"/>
          </a:xfrm>
          <a:prstGeom prst="rect">
            <a:avLst/>
          </a:prstGeom>
          <a:noFill/>
        </p:spPr>
      </p:pic>
      <p:pic>
        <p:nvPicPr>
          <p:cNvPr id="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6DCB18A2-614D-4E04-840B-A42FD92B4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69018" y="3601701"/>
            <a:ext cx="353331" cy="289089"/>
          </a:xfrm>
          <a:prstGeom prst="rect">
            <a:avLst/>
          </a:prstGeom>
          <a:noFill/>
        </p:spPr>
      </p:pic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1257516F-F5E3-43D0-854B-A64A384B30C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gray">
          <a:xfrm>
            <a:off x="2052564" y="3746246"/>
            <a:ext cx="4164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E51C3A51-A24A-48AD-9CDC-91F5FE93BAD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 bwMode="gray">
          <a:xfrm>
            <a:off x="1875899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F0783128-8E6D-4E56-94C1-69A992CFE297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 bwMode="gray">
          <a:xfrm>
            <a:off x="2645684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E7BEE26-5298-4751-8D46-9DABCA04C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78061" y="3068815"/>
            <a:ext cx="353331" cy="289089"/>
          </a:xfrm>
          <a:prstGeom prst="rect">
            <a:avLst/>
          </a:prstGeom>
          <a:noFill/>
        </p:spPr>
      </p:pic>
      <p:pic>
        <p:nvPicPr>
          <p:cNvPr id="1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EB008A0-DFDE-4325-ADCE-0B114FBA7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785945" y="3068815"/>
            <a:ext cx="353331" cy="289089"/>
          </a:xfrm>
          <a:prstGeom prst="rect">
            <a:avLst/>
          </a:prstGeom>
          <a:noFill/>
        </p:spPr>
      </p:pic>
      <p:cxnSp>
        <p:nvCxnSpPr>
          <p:cNvPr id="15" name="直接连接符 14">
            <a:extLst>
              <a:ext uri="{FF2B5EF4-FFF2-40B4-BE49-F238E27FC236}">
                <a16:creationId xmlns="" xmlns:a16="http://schemas.microsoft.com/office/drawing/2014/main" id="{FBC56AC0-AB69-42F8-8118-E549862D0DB4}"/>
              </a:ext>
            </a:extLst>
          </p:cNvPr>
          <p:cNvCxnSpPr>
            <a:stCxn id="13" idx="3"/>
            <a:endCxn id="14" idx="1"/>
          </p:cNvCxnSpPr>
          <p:nvPr/>
        </p:nvCxnSpPr>
        <p:spPr bwMode="gray">
          <a:xfrm>
            <a:off x="6331392" y="3213360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0D687B6F-3E2D-406F-BB73-FD80AA746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78061" y="3606866"/>
            <a:ext cx="353331" cy="289089"/>
          </a:xfrm>
          <a:prstGeom prst="rect">
            <a:avLst/>
          </a:prstGeom>
          <a:noFill/>
        </p:spPr>
      </p:pic>
      <p:pic>
        <p:nvPicPr>
          <p:cNvPr id="1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237FC93-0A0E-47C1-8BE1-079699B21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785945" y="3606866"/>
            <a:ext cx="353331" cy="289089"/>
          </a:xfrm>
          <a:prstGeom prst="rect">
            <a:avLst/>
          </a:prstGeom>
          <a:noFill/>
        </p:spPr>
      </p:pic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59C06CFB-51B6-43D9-8AE0-982B3C4488C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 bwMode="gray">
          <a:xfrm>
            <a:off x="6331392" y="3751411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EE5460EA-32DE-4250-8364-7982FB1844CD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 bwMode="gray">
          <a:xfrm>
            <a:off x="6154727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2810EC14-90C0-41FE-94F1-B1F177B298F5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 bwMode="gray">
          <a:xfrm>
            <a:off x="6962611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652C1FD4-9196-4BF8-81E8-44C24AA60EE5}"/>
              </a:ext>
            </a:extLst>
          </p:cNvPr>
          <p:cNvCxnSpPr>
            <a:stCxn id="110" idx="3"/>
            <a:endCxn id="111" idx="1"/>
          </p:cNvCxnSpPr>
          <p:nvPr/>
        </p:nvCxnSpPr>
        <p:spPr bwMode="gray">
          <a:xfrm>
            <a:off x="4174835" y="1761643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690C0C0-8895-4CA0-9BB3-3FD5C128F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821504" y="2186899"/>
            <a:ext cx="353331" cy="289089"/>
          </a:xfrm>
          <a:prstGeom prst="rect">
            <a:avLst/>
          </a:prstGeom>
          <a:noFill/>
        </p:spPr>
      </p:pic>
      <p:pic>
        <p:nvPicPr>
          <p:cNvPr id="2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B66B504-F0B9-4898-BE84-E52C0CB5B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696064" y="2186899"/>
            <a:ext cx="353331" cy="289089"/>
          </a:xfrm>
          <a:prstGeom prst="rect">
            <a:avLst/>
          </a:prstGeom>
          <a:noFill/>
        </p:spPr>
      </p:pic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BDD1E5BC-D9F7-49B8-B344-89D34F821DC4}"/>
              </a:ext>
            </a:extLst>
          </p:cNvPr>
          <p:cNvCxnSpPr>
            <a:stCxn id="22" idx="3"/>
            <a:endCxn id="23" idx="1"/>
          </p:cNvCxnSpPr>
          <p:nvPr/>
        </p:nvCxnSpPr>
        <p:spPr bwMode="gray">
          <a:xfrm>
            <a:off x="4174835" y="2331444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B3AED025-F253-4217-85A1-7822D4F69567}"/>
              </a:ext>
            </a:extLst>
          </p:cNvPr>
          <p:cNvCxnSpPr>
            <a:cxnSpLocks/>
            <a:stCxn id="106" idx="2"/>
            <a:endCxn id="22" idx="0"/>
          </p:cNvCxnSpPr>
          <p:nvPr/>
        </p:nvCxnSpPr>
        <p:spPr bwMode="gray">
          <a:xfrm>
            <a:off x="3998170" y="1443905"/>
            <a:ext cx="0" cy="742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30664754-B6E4-4B2A-A78C-B04B2C18CADA}"/>
              </a:ext>
            </a:extLst>
          </p:cNvPr>
          <p:cNvCxnSpPr>
            <a:cxnSpLocks/>
            <a:stCxn id="107" idx="2"/>
            <a:endCxn id="23" idx="0"/>
          </p:cNvCxnSpPr>
          <p:nvPr/>
        </p:nvCxnSpPr>
        <p:spPr bwMode="gray">
          <a:xfrm>
            <a:off x="4872730" y="1443905"/>
            <a:ext cx="0" cy="742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DE24FAE3-1EBE-4381-86E6-383AA690D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398034" y="5011642"/>
            <a:ext cx="353331" cy="289089"/>
          </a:xfrm>
          <a:prstGeom prst="rect">
            <a:avLst/>
          </a:prstGeom>
          <a:noFill/>
        </p:spPr>
      </p:pic>
      <p:pic>
        <p:nvPicPr>
          <p:cNvPr id="2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8F15158-37D4-4C6D-BBB7-07AFEDB9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23967" y="5011642"/>
            <a:ext cx="353331" cy="289089"/>
          </a:xfrm>
          <a:prstGeom prst="rect">
            <a:avLst/>
          </a:prstGeom>
          <a:noFill/>
        </p:spPr>
      </p:pic>
      <p:pic>
        <p:nvPicPr>
          <p:cNvPr id="2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7E6690D-7638-4992-85BF-7BC21BBA2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055726" y="5011642"/>
            <a:ext cx="353331" cy="289089"/>
          </a:xfrm>
          <a:prstGeom prst="rect">
            <a:avLst/>
          </a:prstGeom>
          <a:noFill/>
        </p:spPr>
      </p:pic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7AB8DE7E-9900-4539-941D-8BF4FC4D6743}"/>
              </a:ext>
            </a:extLst>
          </p:cNvPr>
          <p:cNvCxnSpPr>
            <a:stCxn id="28" idx="3"/>
            <a:endCxn id="29" idx="1"/>
          </p:cNvCxnSpPr>
          <p:nvPr/>
        </p:nvCxnSpPr>
        <p:spPr bwMode="gray">
          <a:xfrm>
            <a:off x="5077298" y="5156187"/>
            <a:ext cx="9784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0243F00B-455A-473D-8D3D-F13D4EC87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19477" y="4162008"/>
            <a:ext cx="353331" cy="289089"/>
          </a:xfrm>
          <a:prstGeom prst="rect">
            <a:avLst/>
          </a:prstGeom>
          <a:noFill/>
        </p:spPr>
      </p:pic>
      <p:pic>
        <p:nvPicPr>
          <p:cNvPr id="3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E4AAFBBB-AE82-44F7-BF4B-B0065F9A7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743209" y="4161218"/>
            <a:ext cx="353331" cy="289089"/>
          </a:xfrm>
          <a:prstGeom prst="rect">
            <a:avLst/>
          </a:prstGeom>
          <a:noFill/>
        </p:spPr>
      </p:pic>
      <p:pic>
        <p:nvPicPr>
          <p:cNvPr id="3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4987DA7-E5B4-4ECE-8DFE-FB49A3674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117433" y="4285948"/>
            <a:ext cx="353331" cy="289089"/>
          </a:xfrm>
          <a:prstGeom prst="rect">
            <a:avLst/>
          </a:prstGeom>
          <a:noFill/>
        </p:spPr>
      </p:pic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122BD8EE-06E7-43D6-86AB-326C113B0452}"/>
              </a:ext>
            </a:extLst>
          </p:cNvPr>
          <p:cNvCxnSpPr>
            <a:cxnSpLocks/>
            <a:stCxn id="28" idx="0"/>
            <a:endCxn id="37" idx="2"/>
          </p:cNvCxnSpPr>
          <p:nvPr/>
        </p:nvCxnSpPr>
        <p:spPr bwMode="gray">
          <a:xfrm flipH="1" flipV="1">
            <a:off x="3294099" y="4575037"/>
            <a:ext cx="1606534" cy="4366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BD455E57-8244-495B-88EE-E35A4A24F9EC}"/>
              </a:ext>
            </a:extLst>
          </p:cNvPr>
          <p:cNvSpPr txBox="1"/>
          <p:nvPr/>
        </p:nvSpPr>
        <p:spPr bwMode="gray">
          <a:xfrm>
            <a:off x="2189716" y="4347515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55B5E09-89F5-4EF2-9DA1-E5DDD766A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02390" y="4282936"/>
            <a:ext cx="353331" cy="289089"/>
          </a:xfrm>
          <a:prstGeom prst="rect">
            <a:avLst/>
          </a:prstGeom>
          <a:noFill/>
        </p:spPr>
      </p:pic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7F2A37CF-5314-49AE-A042-DD53D1231620}"/>
              </a:ext>
            </a:extLst>
          </p:cNvPr>
          <p:cNvCxnSpPr>
            <a:cxnSpLocks/>
            <a:stCxn id="40" idx="2"/>
            <a:endCxn id="64" idx="0"/>
          </p:cNvCxnSpPr>
          <p:nvPr/>
        </p:nvCxnSpPr>
        <p:spPr bwMode="gray">
          <a:xfrm flipH="1">
            <a:off x="3915631" y="4572025"/>
            <a:ext cx="1563425" cy="439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A7E902FB-91BD-42C7-A682-DB19D663DB58}"/>
              </a:ext>
            </a:extLst>
          </p:cNvPr>
          <p:cNvSpPr txBox="1"/>
          <p:nvPr/>
        </p:nvSpPr>
        <p:spPr bwMode="gray">
          <a:xfrm>
            <a:off x="5754522" y="4289461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="" xmlns:a16="http://schemas.microsoft.com/office/drawing/2014/main" id="{365E4680-DA61-4DD9-85BE-25DB6A080353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 bwMode="gray">
          <a:xfrm flipV="1">
            <a:off x="2574700" y="4575037"/>
            <a:ext cx="719399" cy="4366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="" xmlns:a16="http://schemas.microsoft.com/office/drawing/2014/main" id="{116CD2DB-E910-445B-A7BB-44CC9B93F4CD}"/>
              </a:ext>
            </a:extLst>
          </p:cNvPr>
          <p:cNvCxnSpPr>
            <a:cxnSpLocks/>
            <a:stCxn id="40" idx="2"/>
            <a:endCxn id="29" idx="0"/>
          </p:cNvCxnSpPr>
          <p:nvPr/>
        </p:nvCxnSpPr>
        <p:spPr bwMode="gray">
          <a:xfrm>
            <a:off x="5479056" y="4572025"/>
            <a:ext cx="753336" cy="439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F247C961-DEDA-4CFD-895D-9C90F59FECAF}"/>
              </a:ext>
            </a:extLst>
          </p:cNvPr>
          <p:cNvSpPr txBox="1"/>
          <p:nvPr/>
        </p:nvSpPr>
        <p:spPr bwMode="gray">
          <a:xfrm>
            <a:off x="2346828" y="276349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="" xmlns:a16="http://schemas.microsoft.com/office/drawing/2014/main" id="{F906CB67-4581-4901-8C8D-F056A1C61E1F}"/>
              </a:ext>
            </a:extLst>
          </p:cNvPr>
          <p:cNvCxnSpPr>
            <a:cxnSpLocks/>
            <a:stCxn id="6" idx="3"/>
            <a:endCxn id="37" idx="0"/>
          </p:cNvCxnSpPr>
          <p:nvPr/>
        </p:nvCxnSpPr>
        <p:spPr bwMode="gray">
          <a:xfrm>
            <a:off x="2822349" y="3208195"/>
            <a:ext cx="471750" cy="10777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C190E812-67BE-4CA2-B02C-87E0C465E600}"/>
              </a:ext>
            </a:extLst>
          </p:cNvPr>
          <p:cNvCxnSpPr>
            <a:cxnSpLocks/>
            <a:stCxn id="9" idx="3"/>
            <a:endCxn id="37" idx="0"/>
          </p:cNvCxnSpPr>
          <p:nvPr/>
        </p:nvCxnSpPr>
        <p:spPr bwMode="gray">
          <a:xfrm>
            <a:off x="2822349" y="3746246"/>
            <a:ext cx="471750" cy="5397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="" xmlns:a16="http://schemas.microsoft.com/office/drawing/2014/main" id="{B1FABD9F-EDFE-46A8-B8BE-AE41069C0BB2}"/>
              </a:ext>
            </a:extLst>
          </p:cNvPr>
          <p:cNvCxnSpPr>
            <a:cxnSpLocks/>
            <a:stCxn id="6" idx="1"/>
            <a:endCxn id="33" idx="0"/>
          </p:cNvCxnSpPr>
          <p:nvPr/>
        </p:nvCxnSpPr>
        <p:spPr bwMode="gray">
          <a:xfrm flipH="1">
            <a:off x="1896143" y="3208195"/>
            <a:ext cx="572875" cy="9538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="" xmlns:a16="http://schemas.microsoft.com/office/drawing/2014/main" id="{D0C15FA0-A735-4456-9E7E-108E9DA2676F}"/>
              </a:ext>
            </a:extLst>
          </p:cNvPr>
          <p:cNvCxnSpPr>
            <a:cxnSpLocks/>
            <a:stCxn id="9" idx="1"/>
            <a:endCxn id="33" idx="0"/>
          </p:cNvCxnSpPr>
          <p:nvPr/>
        </p:nvCxnSpPr>
        <p:spPr bwMode="gray">
          <a:xfrm flipH="1">
            <a:off x="1896143" y="3746246"/>
            <a:ext cx="572875" cy="415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D1124D2C-FA82-4209-B81D-E95C4E764AA1}"/>
              </a:ext>
            </a:extLst>
          </p:cNvPr>
          <p:cNvSpPr txBox="1"/>
          <p:nvPr/>
        </p:nvSpPr>
        <p:spPr bwMode="gray">
          <a:xfrm>
            <a:off x="1349661" y="416200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="" xmlns:a16="http://schemas.microsoft.com/office/drawing/2014/main" id="{03BEACBF-DC76-43BF-A174-25E031CF9897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 bwMode="gray">
          <a:xfrm flipV="1">
            <a:off x="2822349" y="2475988"/>
            <a:ext cx="2050381" cy="12702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="" xmlns:a16="http://schemas.microsoft.com/office/drawing/2014/main" id="{FE682176-2127-407E-A943-98CC393B1BDE}"/>
              </a:ext>
            </a:extLst>
          </p:cNvPr>
          <p:cNvCxnSpPr>
            <a:cxnSpLocks/>
            <a:stCxn id="34" idx="0"/>
            <a:endCxn id="13" idx="3"/>
          </p:cNvCxnSpPr>
          <p:nvPr/>
        </p:nvCxnSpPr>
        <p:spPr bwMode="gray">
          <a:xfrm flipH="1" flipV="1">
            <a:off x="6331392" y="3213360"/>
            <a:ext cx="588483" cy="947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="" xmlns:a16="http://schemas.microsoft.com/office/drawing/2014/main" id="{67E6411A-0671-4D57-8FFD-9CA9CD7304C3}"/>
              </a:ext>
            </a:extLst>
          </p:cNvPr>
          <p:cNvCxnSpPr>
            <a:cxnSpLocks/>
            <a:stCxn id="6" idx="3"/>
            <a:endCxn id="22" idx="2"/>
          </p:cNvCxnSpPr>
          <p:nvPr/>
        </p:nvCxnSpPr>
        <p:spPr bwMode="gray">
          <a:xfrm flipV="1">
            <a:off x="2822349" y="2475988"/>
            <a:ext cx="1175821" cy="7322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="" xmlns:a16="http://schemas.microsoft.com/office/drawing/2014/main" id="{98494845-C0F3-4109-BD06-7238122CEDAB}"/>
              </a:ext>
            </a:extLst>
          </p:cNvPr>
          <p:cNvCxnSpPr>
            <a:cxnSpLocks/>
            <a:stCxn id="13" idx="1"/>
            <a:endCxn id="23" idx="2"/>
          </p:cNvCxnSpPr>
          <p:nvPr/>
        </p:nvCxnSpPr>
        <p:spPr bwMode="gray">
          <a:xfrm flipH="1" flipV="1">
            <a:off x="4872730" y="2475988"/>
            <a:ext cx="1105331" cy="7373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="" xmlns:a16="http://schemas.microsoft.com/office/drawing/2014/main" id="{6D323D7E-7018-4534-9618-64CB565BA3AD}"/>
              </a:ext>
            </a:extLst>
          </p:cNvPr>
          <p:cNvCxnSpPr>
            <a:cxnSpLocks/>
            <a:stCxn id="16" idx="1"/>
            <a:endCxn id="22" idx="2"/>
          </p:cNvCxnSpPr>
          <p:nvPr/>
        </p:nvCxnSpPr>
        <p:spPr bwMode="gray">
          <a:xfrm flipH="1" flipV="1">
            <a:off x="3998170" y="2475988"/>
            <a:ext cx="1979891" cy="12754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="" xmlns:a16="http://schemas.microsoft.com/office/drawing/2014/main" id="{6B93D166-92D6-435F-8E31-F3E56CB6002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 bwMode="gray">
          <a:xfrm>
            <a:off x="2822349" y="3208195"/>
            <a:ext cx="3155712" cy="5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="" xmlns:a16="http://schemas.microsoft.com/office/drawing/2014/main" id="{CC29DCA4-1E71-49C1-B40F-4CC79242DEC8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 bwMode="gray">
          <a:xfrm>
            <a:off x="2822349" y="3746246"/>
            <a:ext cx="3155712" cy="5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="" xmlns:a16="http://schemas.microsoft.com/office/drawing/2014/main" id="{C4C8B152-8D08-44D7-96C9-26E106AAFD24}"/>
              </a:ext>
            </a:extLst>
          </p:cNvPr>
          <p:cNvCxnSpPr>
            <a:cxnSpLocks/>
            <a:stCxn id="34" idx="0"/>
            <a:endCxn id="16" idx="3"/>
          </p:cNvCxnSpPr>
          <p:nvPr/>
        </p:nvCxnSpPr>
        <p:spPr bwMode="gray">
          <a:xfrm flipH="1" flipV="1">
            <a:off x="6331392" y="3751411"/>
            <a:ext cx="588483" cy="409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="" xmlns:a16="http://schemas.microsoft.com/office/drawing/2014/main" id="{D06B79EC-C230-4C49-8C79-50D56473225C}"/>
              </a:ext>
            </a:extLst>
          </p:cNvPr>
          <p:cNvSpPr txBox="1"/>
          <p:nvPr/>
        </p:nvSpPr>
        <p:spPr bwMode="gray">
          <a:xfrm>
            <a:off x="5838057" y="276349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="" xmlns:a16="http://schemas.microsoft.com/office/drawing/2014/main" id="{1B49F796-2D27-4063-838D-CD883310EBD5}"/>
              </a:ext>
            </a:extLst>
          </p:cNvPr>
          <p:cNvSpPr txBox="1"/>
          <p:nvPr/>
        </p:nvSpPr>
        <p:spPr bwMode="gray">
          <a:xfrm>
            <a:off x="3174583" y="2188414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="" xmlns:a16="http://schemas.microsoft.com/office/drawing/2014/main" id="{1A08E23F-5053-4668-A48C-8A8D31F84225}"/>
              </a:ext>
            </a:extLst>
          </p:cNvPr>
          <p:cNvSpPr txBox="1"/>
          <p:nvPr/>
        </p:nvSpPr>
        <p:spPr bwMode="gray">
          <a:xfrm>
            <a:off x="7088602" y="4142530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CAAB11E-E47F-4FF7-BB62-BBC9F45F3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157122" y="3838374"/>
            <a:ext cx="353331" cy="289089"/>
          </a:xfrm>
          <a:prstGeom prst="rect">
            <a:avLst/>
          </a:prstGeom>
          <a:noFill/>
        </p:spPr>
      </p:pic>
      <p:cxnSp>
        <p:nvCxnSpPr>
          <p:cNvPr id="63" name="直接连接符 62">
            <a:extLst>
              <a:ext uri="{FF2B5EF4-FFF2-40B4-BE49-F238E27FC236}">
                <a16:creationId xmlns="" xmlns:a16="http://schemas.microsoft.com/office/drawing/2014/main" id="{C1C535B8-1ECA-40E1-97AF-22BEB3E1B27B}"/>
              </a:ext>
            </a:extLst>
          </p:cNvPr>
          <p:cNvCxnSpPr>
            <a:cxnSpLocks/>
            <a:stCxn id="81" idx="0"/>
            <a:endCxn id="62" idx="2"/>
          </p:cNvCxnSpPr>
          <p:nvPr/>
        </p:nvCxnSpPr>
        <p:spPr bwMode="gray">
          <a:xfrm flipV="1">
            <a:off x="3221353" y="4127463"/>
            <a:ext cx="1112435" cy="884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DF893D2-540A-4FC7-BB0F-F60FBAE61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738965" y="5011642"/>
            <a:ext cx="353331" cy="289089"/>
          </a:xfrm>
          <a:prstGeom prst="rect">
            <a:avLst/>
          </a:prstGeom>
          <a:noFill/>
        </p:spPr>
      </p:pic>
      <p:cxnSp>
        <p:nvCxnSpPr>
          <p:cNvPr id="65" name="直接连接符 64">
            <a:extLst>
              <a:ext uri="{FF2B5EF4-FFF2-40B4-BE49-F238E27FC236}">
                <a16:creationId xmlns="" xmlns:a16="http://schemas.microsoft.com/office/drawing/2014/main" id="{EE4ECC8E-E317-4EB7-9D02-1F34FBFCD841}"/>
              </a:ext>
            </a:extLst>
          </p:cNvPr>
          <p:cNvCxnSpPr>
            <a:cxnSpLocks/>
            <a:stCxn id="27" idx="3"/>
            <a:endCxn id="64" idx="1"/>
          </p:cNvCxnSpPr>
          <p:nvPr/>
        </p:nvCxnSpPr>
        <p:spPr bwMode="gray">
          <a:xfrm>
            <a:off x="2751365" y="5156187"/>
            <a:ext cx="9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4C7C7E0-E6D5-4A3A-B5A1-4ABE8781C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89847" y="5011642"/>
            <a:ext cx="353331" cy="289089"/>
          </a:xfrm>
          <a:prstGeom prst="rect">
            <a:avLst/>
          </a:prstGeom>
          <a:noFill/>
        </p:spPr>
      </p:pic>
      <p:cxnSp>
        <p:nvCxnSpPr>
          <p:cNvPr id="67" name="直接连接符 66">
            <a:extLst>
              <a:ext uri="{FF2B5EF4-FFF2-40B4-BE49-F238E27FC236}">
                <a16:creationId xmlns="" xmlns:a16="http://schemas.microsoft.com/office/drawing/2014/main" id="{D81CA8BD-CE69-4735-BB9C-E25B8EDDD1ED}"/>
              </a:ext>
            </a:extLst>
          </p:cNvPr>
          <p:cNvCxnSpPr>
            <a:cxnSpLocks/>
            <a:stCxn id="28" idx="2"/>
            <a:endCxn id="73" idx="0"/>
          </p:cNvCxnSpPr>
          <p:nvPr/>
        </p:nvCxnSpPr>
        <p:spPr bwMode="gray">
          <a:xfrm>
            <a:off x="4900633" y="5300731"/>
            <a:ext cx="25875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="" xmlns:a16="http://schemas.microsoft.com/office/drawing/2014/main" id="{DB2D3DE1-F323-4073-809C-CD9EB3F1AC17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 bwMode="gray">
          <a:xfrm flipH="1">
            <a:off x="5159386" y="5300731"/>
            <a:ext cx="407127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="" xmlns:a16="http://schemas.microsoft.com/office/drawing/2014/main" id="{4FAE7F7F-8203-48DC-A630-D8FFEFAD1406}"/>
              </a:ext>
            </a:extLst>
          </p:cNvPr>
          <p:cNvCxnSpPr>
            <a:cxnSpLocks/>
            <a:stCxn id="66" idx="0"/>
            <a:endCxn id="62" idx="2"/>
          </p:cNvCxnSpPr>
          <p:nvPr/>
        </p:nvCxnSpPr>
        <p:spPr bwMode="gray">
          <a:xfrm flipH="1" flipV="1">
            <a:off x="4333788" y="4127463"/>
            <a:ext cx="1232725" cy="884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CF82FCA-AF66-4AB2-9923-BFC55E041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605424" y="5812810"/>
            <a:ext cx="353331" cy="289089"/>
          </a:xfrm>
          <a:prstGeom prst="rect">
            <a:avLst/>
          </a:prstGeom>
          <a:noFill/>
        </p:spPr>
      </p:pic>
      <p:pic>
        <p:nvPicPr>
          <p:cNvPr id="7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6C680A39-A6B8-48BB-92D4-0B5485DC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3479984" y="5812810"/>
            <a:ext cx="353331" cy="289089"/>
          </a:xfrm>
          <a:prstGeom prst="rect">
            <a:avLst/>
          </a:prstGeom>
          <a:noFill/>
        </p:spPr>
      </p:pic>
      <p:cxnSp>
        <p:nvCxnSpPr>
          <p:cNvPr id="72" name="直接连接符 71">
            <a:extLst>
              <a:ext uri="{FF2B5EF4-FFF2-40B4-BE49-F238E27FC236}">
                <a16:creationId xmlns="" xmlns:a16="http://schemas.microsoft.com/office/drawing/2014/main" id="{CBE6F0B2-80D8-40C5-B51D-68384FE94C60}"/>
              </a:ext>
            </a:extLst>
          </p:cNvPr>
          <p:cNvCxnSpPr>
            <a:stCxn id="70" idx="3"/>
            <a:endCxn id="71" idx="1"/>
          </p:cNvCxnSpPr>
          <p:nvPr/>
        </p:nvCxnSpPr>
        <p:spPr bwMode="gray">
          <a:xfrm>
            <a:off x="2958755" y="5957355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67F1ECAF-6481-4D18-8502-D4CD0D106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982720" y="5812810"/>
            <a:ext cx="353331" cy="289089"/>
          </a:xfrm>
          <a:prstGeom prst="rect">
            <a:avLst/>
          </a:prstGeom>
          <a:noFill/>
        </p:spPr>
      </p:pic>
      <p:pic>
        <p:nvPicPr>
          <p:cNvPr id="7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54F62C3-C3C4-40EE-93BF-279A60134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857280" y="5812810"/>
            <a:ext cx="353331" cy="289089"/>
          </a:xfrm>
          <a:prstGeom prst="rect">
            <a:avLst/>
          </a:prstGeom>
          <a:noFill/>
        </p:spPr>
      </p:pic>
      <p:cxnSp>
        <p:nvCxnSpPr>
          <p:cNvPr id="75" name="直接连接符 74">
            <a:extLst>
              <a:ext uri="{FF2B5EF4-FFF2-40B4-BE49-F238E27FC236}">
                <a16:creationId xmlns="" xmlns:a16="http://schemas.microsoft.com/office/drawing/2014/main" id="{03D4CB03-6015-42ED-91F9-1905446A6D1F}"/>
              </a:ext>
            </a:extLst>
          </p:cNvPr>
          <p:cNvCxnSpPr>
            <a:stCxn id="73" idx="3"/>
            <a:endCxn id="74" idx="1"/>
          </p:cNvCxnSpPr>
          <p:nvPr/>
        </p:nvCxnSpPr>
        <p:spPr bwMode="gray">
          <a:xfrm>
            <a:off x="5336051" y="5957355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="" xmlns:a16="http://schemas.microsoft.com/office/drawing/2014/main" id="{4A65F1A3-9C06-43B6-9728-75974EFBEA66}"/>
              </a:ext>
            </a:extLst>
          </p:cNvPr>
          <p:cNvCxnSpPr>
            <a:cxnSpLocks/>
            <a:stCxn id="27" idx="2"/>
            <a:endCxn id="70" idx="0"/>
          </p:cNvCxnSpPr>
          <p:nvPr/>
        </p:nvCxnSpPr>
        <p:spPr bwMode="gray">
          <a:xfrm>
            <a:off x="2574700" y="5300731"/>
            <a:ext cx="207390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="" xmlns:a16="http://schemas.microsoft.com/office/drawing/2014/main" id="{02A1AC85-E4EB-4A52-9AB3-1802CE41C96F}"/>
              </a:ext>
            </a:extLst>
          </p:cNvPr>
          <p:cNvCxnSpPr>
            <a:cxnSpLocks/>
            <a:stCxn id="64" idx="2"/>
            <a:endCxn id="71" idx="0"/>
          </p:cNvCxnSpPr>
          <p:nvPr/>
        </p:nvCxnSpPr>
        <p:spPr bwMode="gray">
          <a:xfrm flipH="1">
            <a:off x="3656650" y="5300731"/>
            <a:ext cx="258981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="" xmlns:a16="http://schemas.microsoft.com/office/drawing/2014/main" id="{654E7051-6558-48A6-88CA-429053338333}"/>
              </a:ext>
            </a:extLst>
          </p:cNvPr>
          <p:cNvCxnSpPr>
            <a:cxnSpLocks/>
            <a:stCxn id="81" idx="2"/>
            <a:endCxn id="70" idx="0"/>
          </p:cNvCxnSpPr>
          <p:nvPr/>
        </p:nvCxnSpPr>
        <p:spPr bwMode="gray">
          <a:xfrm flipH="1">
            <a:off x="2782090" y="5300731"/>
            <a:ext cx="43926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="" xmlns:a16="http://schemas.microsoft.com/office/drawing/2014/main" id="{B517DFD7-7C80-4BC9-9318-90C33622534F}"/>
              </a:ext>
            </a:extLst>
          </p:cNvPr>
          <p:cNvCxnSpPr>
            <a:cxnSpLocks/>
            <a:stCxn id="64" idx="2"/>
            <a:endCxn id="70" idx="0"/>
          </p:cNvCxnSpPr>
          <p:nvPr/>
        </p:nvCxnSpPr>
        <p:spPr bwMode="gray">
          <a:xfrm flipH="1">
            <a:off x="2782090" y="5300731"/>
            <a:ext cx="1133541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="" xmlns:a16="http://schemas.microsoft.com/office/drawing/2014/main" id="{1305578A-15F7-4284-80D9-D1E389C240E1}"/>
              </a:ext>
            </a:extLst>
          </p:cNvPr>
          <p:cNvCxnSpPr>
            <a:cxnSpLocks/>
            <a:stCxn id="71" idx="0"/>
            <a:endCxn id="81" idx="2"/>
          </p:cNvCxnSpPr>
          <p:nvPr/>
        </p:nvCxnSpPr>
        <p:spPr bwMode="gray">
          <a:xfrm flipH="1" flipV="1">
            <a:off x="3221353" y="5300731"/>
            <a:ext cx="435297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D1D30AEA-5FC6-4238-AC65-476476780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044687" y="5011642"/>
            <a:ext cx="353331" cy="289089"/>
          </a:xfrm>
          <a:prstGeom prst="rect">
            <a:avLst/>
          </a:prstGeom>
          <a:noFill/>
        </p:spPr>
      </p:pic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1B003AF7-BCC8-4621-879E-DFCF819D66C5}"/>
              </a:ext>
            </a:extLst>
          </p:cNvPr>
          <p:cNvCxnSpPr>
            <a:cxnSpLocks/>
            <a:stCxn id="66" idx="2"/>
            <a:endCxn id="74" idx="0"/>
          </p:cNvCxnSpPr>
          <p:nvPr/>
        </p:nvCxnSpPr>
        <p:spPr bwMode="gray">
          <a:xfrm>
            <a:off x="5566513" y="5300731"/>
            <a:ext cx="46743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="" xmlns:a16="http://schemas.microsoft.com/office/drawing/2014/main" id="{579D9776-49B2-470C-AA6F-9B7FD8EEF8EC}"/>
              </a:ext>
            </a:extLst>
          </p:cNvPr>
          <p:cNvCxnSpPr>
            <a:cxnSpLocks/>
            <a:stCxn id="29" idx="2"/>
            <a:endCxn id="73" idx="0"/>
          </p:cNvCxnSpPr>
          <p:nvPr/>
        </p:nvCxnSpPr>
        <p:spPr bwMode="gray">
          <a:xfrm flipH="1">
            <a:off x="5159386" y="5300731"/>
            <a:ext cx="1073006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="" xmlns:a16="http://schemas.microsoft.com/office/drawing/2014/main" id="{3ADD0B52-0977-4FC5-833A-8798DB144B12}"/>
              </a:ext>
            </a:extLst>
          </p:cNvPr>
          <p:cNvCxnSpPr>
            <a:cxnSpLocks/>
            <a:stCxn id="29" idx="2"/>
            <a:endCxn id="74" idx="0"/>
          </p:cNvCxnSpPr>
          <p:nvPr/>
        </p:nvCxnSpPr>
        <p:spPr bwMode="gray">
          <a:xfrm flipH="1">
            <a:off x="6033946" y="5300731"/>
            <a:ext cx="198446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="" xmlns:a16="http://schemas.microsoft.com/office/drawing/2014/main" id="{DAFE5DFA-719F-4335-A888-317F8BFC0D5D}"/>
              </a:ext>
            </a:extLst>
          </p:cNvPr>
          <p:cNvCxnSpPr>
            <a:cxnSpLocks/>
            <a:stCxn id="28" idx="2"/>
            <a:endCxn id="74" idx="0"/>
          </p:cNvCxnSpPr>
          <p:nvPr/>
        </p:nvCxnSpPr>
        <p:spPr bwMode="gray">
          <a:xfrm>
            <a:off x="4900633" y="5300731"/>
            <a:ext cx="1133313" cy="5120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="" xmlns:a16="http://schemas.microsoft.com/office/drawing/2014/main" id="{06B0FC3A-78BF-4B3E-B4CC-0501D6E45CE4}"/>
              </a:ext>
            </a:extLst>
          </p:cNvPr>
          <p:cNvCxnSpPr>
            <a:cxnSpLocks/>
            <a:stCxn id="22" idx="2"/>
            <a:endCxn id="62" idx="0"/>
          </p:cNvCxnSpPr>
          <p:nvPr/>
        </p:nvCxnSpPr>
        <p:spPr bwMode="gray">
          <a:xfrm>
            <a:off x="3998170" y="2475988"/>
            <a:ext cx="335618" cy="1362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="" xmlns:a16="http://schemas.microsoft.com/office/drawing/2014/main" id="{F4B20C6F-81C4-437A-A323-BC4131D935D8}"/>
              </a:ext>
            </a:extLst>
          </p:cNvPr>
          <p:cNvCxnSpPr>
            <a:cxnSpLocks/>
            <a:stCxn id="23" idx="2"/>
            <a:endCxn id="62" idx="0"/>
          </p:cNvCxnSpPr>
          <p:nvPr/>
        </p:nvCxnSpPr>
        <p:spPr bwMode="gray">
          <a:xfrm flipH="1">
            <a:off x="4333788" y="2475988"/>
            <a:ext cx="538942" cy="1362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="" xmlns:a16="http://schemas.microsoft.com/office/drawing/2014/main" id="{3B466DEC-9B77-48ED-A7F7-F4B90CD98808}"/>
              </a:ext>
            </a:extLst>
          </p:cNvPr>
          <p:cNvSpPr txBox="1"/>
          <p:nvPr/>
        </p:nvSpPr>
        <p:spPr bwMode="gray">
          <a:xfrm>
            <a:off x="3149183" y="164299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="" xmlns:a16="http://schemas.microsoft.com/office/drawing/2014/main" id="{66B723ED-8C67-4114-ADD8-D4955F09A31C}"/>
              </a:ext>
            </a:extLst>
          </p:cNvPr>
          <p:cNvSpPr txBox="1"/>
          <p:nvPr/>
        </p:nvSpPr>
        <p:spPr bwMode="gray">
          <a:xfrm>
            <a:off x="1497551" y="27731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="" xmlns:a16="http://schemas.microsoft.com/office/drawing/2014/main" id="{7212B44B-29CE-4D6E-91B9-7FDA0A125636}"/>
              </a:ext>
            </a:extLst>
          </p:cNvPr>
          <p:cNvSpPr txBox="1"/>
          <p:nvPr/>
        </p:nvSpPr>
        <p:spPr bwMode="gray">
          <a:xfrm>
            <a:off x="6610051" y="27731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="" xmlns:a16="http://schemas.microsoft.com/office/drawing/2014/main" id="{2DD5F683-5587-4245-910D-2A7A0BD2D891}"/>
              </a:ext>
            </a:extLst>
          </p:cNvPr>
          <p:cNvSpPr txBox="1"/>
          <p:nvPr/>
        </p:nvSpPr>
        <p:spPr bwMode="gray">
          <a:xfrm>
            <a:off x="3977233" y="4305161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C6DFFF7B-965C-4828-BCFB-3108AFF3E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931057" y="3063650"/>
            <a:ext cx="353331" cy="289089"/>
          </a:xfrm>
          <a:prstGeom prst="rect">
            <a:avLst/>
          </a:prstGeom>
          <a:noFill/>
        </p:spPr>
      </p:pic>
      <p:cxnSp>
        <p:nvCxnSpPr>
          <p:cNvPr id="93" name="直接连接符 92">
            <a:extLst>
              <a:ext uri="{FF2B5EF4-FFF2-40B4-BE49-F238E27FC236}">
                <a16:creationId xmlns="" xmlns:a16="http://schemas.microsoft.com/office/drawing/2014/main" id="{87151D2E-55D8-4658-96AA-F576EF99B6E3}"/>
              </a:ext>
            </a:extLst>
          </p:cNvPr>
          <p:cNvCxnSpPr>
            <a:cxnSpLocks/>
            <a:stCxn id="92" idx="3"/>
            <a:endCxn id="5" idx="1"/>
          </p:cNvCxnSpPr>
          <p:nvPr/>
        </p:nvCxnSpPr>
        <p:spPr bwMode="gray">
          <a:xfrm>
            <a:off x="1284388" y="3208195"/>
            <a:ext cx="4148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38668748-519D-4DF0-AE68-2744D280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931057" y="3601701"/>
            <a:ext cx="353331" cy="289089"/>
          </a:xfrm>
          <a:prstGeom prst="rect">
            <a:avLst/>
          </a:prstGeom>
          <a:noFill/>
        </p:spPr>
      </p:pic>
      <p:cxnSp>
        <p:nvCxnSpPr>
          <p:cNvPr id="95" name="直接连接符 94">
            <a:extLst>
              <a:ext uri="{FF2B5EF4-FFF2-40B4-BE49-F238E27FC236}">
                <a16:creationId xmlns="" xmlns:a16="http://schemas.microsoft.com/office/drawing/2014/main" id="{BAF29116-711F-4F00-8617-9945B27A188C}"/>
              </a:ext>
            </a:extLst>
          </p:cNvPr>
          <p:cNvCxnSpPr>
            <a:cxnSpLocks/>
            <a:stCxn id="94" idx="3"/>
            <a:endCxn id="8" idx="1"/>
          </p:cNvCxnSpPr>
          <p:nvPr/>
        </p:nvCxnSpPr>
        <p:spPr bwMode="gray">
          <a:xfrm>
            <a:off x="1284388" y="3746246"/>
            <a:ext cx="4148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="" xmlns:a16="http://schemas.microsoft.com/office/drawing/2014/main" id="{5DF266B2-2618-4890-922E-FF1A59EE7673}"/>
              </a:ext>
            </a:extLst>
          </p:cNvPr>
          <p:cNvCxnSpPr>
            <a:cxnSpLocks/>
            <a:stCxn id="92" idx="2"/>
            <a:endCxn id="94" idx="0"/>
          </p:cNvCxnSpPr>
          <p:nvPr/>
        </p:nvCxnSpPr>
        <p:spPr bwMode="gray">
          <a:xfrm>
            <a:off x="1107723" y="3352739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="" xmlns:a16="http://schemas.microsoft.com/office/drawing/2014/main" id="{619FF27F-010B-4938-8E69-F93EA5E9F510}"/>
              </a:ext>
            </a:extLst>
          </p:cNvPr>
          <p:cNvSpPr txBox="1"/>
          <p:nvPr/>
        </p:nvSpPr>
        <p:spPr bwMode="gray">
          <a:xfrm>
            <a:off x="743411" y="277319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1120524C-2F9C-4707-85E8-7B32F5ED4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7551484" y="3068815"/>
            <a:ext cx="353331" cy="289089"/>
          </a:xfrm>
          <a:prstGeom prst="rect">
            <a:avLst/>
          </a:prstGeom>
          <a:noFill/>
        </p:spPr>
      </p:pic>
      <p:cxnSp>
        <p:nvCxnSpPr>
          <p:cNvPr id="99" name="直接连接符 98">
            <a:extLst>
              <a:ext uri="{FF2B5EF4-FFF2-40B4-BE49-F238E27FC236}">
                <a16:creationId xmlns="" xmlns:a16="http://schemas.microsoft.com/office/drawing/2014/main" id="{D60BE450-A424-454E-8349-4B02AC050B1D}"/>
              </a:ext>
            </a:extLst>
          </p:cNvPr>
          <p:cNvCxnSpPr>
            <a:endCxn id="98" idx="1"/>
          </p:cNvCxnSpPr>
          <p:nvPr/>
        </p:nvCxnSpPr>
        <p:spPr bwMode="gray">
          <a:xfrm>
            <a:off x="7096931" y="3213360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DD73A20-0429-419F-A4FE-C30649E88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7551484" y="3606866"/>
            <a:ext cx="353331" cy="289089"/>
          </a:xfrm>
          <a:prstGeom prst="rect">
            <a:avLst/>
          </a:prstGeom>
          <a:noFill/>
        </p:spPr>
      </p:pic>
      <p:cxnSp>
        <p:nvCxnSpPr>
          <p:cNvPr id="101" name="直接连接符 100">
            <a:extLst>
              <a:ext uri="{FF2B5EF4-FFF2-40B4-BE49-F238E27FC236}">
                <a16:creationId xmlns="" xmlns:a16="http://schemas.microsoft.com/office/drawing/2014/main" id="{74B6B098-7D10-43F7-A374-B44BD15B94CC}"/>
              </a:ext>
            </a:extLst>
          </p:cNvPr>
          <p:cNvCxnSpPr>
            <a:cxnSpLocks/>
            <a:endCxn id="100" idx="1"/>
          </p:cNvCxnSpPr>
          <p:nvPr/>
        </p:nvCxnSpPr>
        <p:spPr bwMode="gray">
          <a:xfrm>
            <a:off x="7096931" y="3751411"/>
            <a:ext cx="4545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="" xmlns:a16="http://schemas.microsoft.com/office/drawing/2014/main" id="{452C4B89-4E9D-4567-96F1-74291E9184C6}"/>
              </a:ext>
            </a:extLst>
          </p:cNvPr>
          <p:cNvCxnSpPr>
            <a:cxnSpLocks/>
            <a:stCxn id="98" idx="2"/>
            <a:endCxn id="100" idx="0"/>
          </p:cNvCxnSpPr>
          <p:nvPr/>
        </p:nvCxnSpPr>
        <p:spPr bwMode="gray">
          <a:xfrm>
            <a:off x="7728150" y="3357904"/>
            <a:ext cx="0" cy="2489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="" xmlns:a16="http://schemas.microsoft.com/office/drawing/2014/main" id="{CF990F55-9632-481C-A4A0-CBD3062F0A6F}"/>
              </a:ext>
            </a:extLst>
          </p:cNvPr>
          <p:cNvSpPr txBox="1"/>
          <p:nvPr/>
        </p:nvSpPr>
        <p:spPr bwMode="gray">
          <a:xfrm>
            <a:off x="7354386" y="277319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Freeform 159">
            <a:extLst>
              <a:ext uri="{FF2B5EF4-FFF2-40B4-BE49-F238E27FC236}">
                <a16:creationId xmlns="" xmlns:a16="http://schemas.microsoft.com/office/drawing/2014/main" id="{908B054C-7724-493E-A99D-AE3B5C82C40A}"/>
              </a:ext>
            </a:extLst>
          </p:cNvPr>
          <p:cNvSpPr/>
          <p:nvPr/>
        </p:nvSpPr>
        <p:spPr bwMode="gray">
          <a:xfrm flipH="1">
            <a:off x="469329" y="315718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Freeform 159">
            <a:extLst>
              <a:ext uri="{FF2B5EF4-FFF2-40B4-BE49-F238E27FC236}">
                <a16:creationId xmlns="" xmlns:a16="http://schemas.microsoft.com/office/drawing/2014/main" id="{E85B056C-11AD-485F-AA1B-A4204BEF4CCE}"/>
              </a:ext>
            </a:extLst>
          </p:cNvPr>
          <p:cNvSpPr/>
          <p:nvPr/>
        </p:nvSpPr>
        <p:spPr bwMode="gray">
          <a:xfrm flipH="1">
            <a:off x="7455303" y="315718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EAF27B7D-488E-4DFB-94FD-8C77EE5D5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3821504" y="1154816"/>
            <a:ext cx="353331" cy="289089"/>
          </a:xfrm>
          <a:prstGeom prst="rect">
            <a:avLst/>
          </a:prstGeom>
          <a:noFill/>
        </p:spPr>
      </p:pic>
      <p:pic>
        <p:nvPicPr>
          <p:cNvPr id="107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1F9108AB-1412-4F14-8685-F4A063844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696064" y="1154816"/>
            <a:ext cx="353331" cy="289089"/>
          </a:xfrm>
          <a:prstGeom prst="rect">
            <a:avLst/>
          </a:prstGeom>
          <a:noFill/>
        </p:spPr>
      </p:pic>
      <p:cxnSp>
        <p:nvCxnSpPr>
          <p:cNvPr id="108" name="直接连接符 107">
            <a:extLst>
              <a:ext uri="{FF2B5EF4-FFF2-40B4-BE49-F238E27FC236}">
                <a16:creationId xmlns="" xmlns:a16="http://schemas.microsoft.com/office/drawing/2014/main" id="{6A313B85-7F81-4CF9-A35F-84EEFCAB2EF1}"/>
              </a:ext>
            </a:extLst>
          </p:cNvPr>
          <p:cNvCxnSpPr>
            <a:stCxn id="106" idx="3"/>
            <a:endCxn id="107" idx="1"/>
          </p:cNvCxnSpPr>
          <p:nvPr/>
        </p:nvCxnSpPr>
        <p:spPr bwMode="gray">
          <a:xfrm>
            <a:off x="4174835" y="1299361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reeform 159">
            <a:extLst>
              <a:ext uri="{FF2B5EF4-FFF2-40B4-BE49-F238E27FC236}">
                <a16:creationId xmlns="" xmlns:a16="http://schemas.microsoft.com/office/drawing/2014/main" id="{BFF4543A-7126-456A-8501-C0DA281B676C}"/>
              </a:ext>
            </a:extLst>
          </p:cNvPr>
          <p:cNvSpPr/>
          <p:nvPr/>
        </p:nvSpPr>
        <p:spPr bwMode="gray">
          <a:xfrm flipH="1">
            <a:off x="3948103" y="1022868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A5C8100E-725C-4E33-A3CE-B3CB23EA4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821504" y="1617098"/>
            <a:ext cx="353331" cy="289089"/>
          </a:xfrm>
          <a:prstGeom prst="rect">
            <a:avLst/>
          </a:prstGeom>
          <a:noFill/>
        </p:spPr>
      </p:pic>
      <p:pic>
        <p:nvPicPr>
          <p:cNvPr id="11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6B1E1F7-69DB-4470-B741-EF0380347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696064" y="1617098"/>
            <a:ext cx="353331" cy="289089"/>
          </a:xfrm>
          <a:prstGeom prst="rect">
            <a:avLst/>
          </a:prstGeom>
          <a:noFill/>
        </p:spPr>
      </p:pic>
      <p:sp>
        <p:nvSpPr>
          <p:cNvPr id="112" name="文本框 111">
            <a:extLst>
              <a:ext uri="{FF2B5EF4-FFF2-40B4-BE49-F238E27FC236}">
                <a16:creationId xmlns="" xmlns:a16="http://schemas.microsoft.com/office/drawing/2014/main" id="{8E2B621E-A0D5-462A-B9E6-89E24ED12AEB}"/>
              </a:ext>
            </a:extLst>
          </p:cNvPr>
          <p:cNvSpPr txBox="1"/>
          <p:nvPr/>
        </p:nvSpPr>
        <p:spPr bwMode="gray">
          <a:xfrm>
            <a:off x="3149183" y="1165534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Freeform 159">
            <a:extLst>
              <a:ext uri="{FF2B5EF4-FFF2-40B4-BE49-F238E27FC236}">
                <a16:creationId xmlns="" xmlns:a16="http://schemas.microsoft.com/office/drawing/2014/main" id="{6A90DE45-D585-41B5-AA51-132D49A02CD2}"/>
              </a:ext>
            </a:extLst>
          </p:cNvPr>
          <p:cNvSpPr/>
          <p:nvPr/>
        </p:nvSpPr>
        <p:spPr bwMode="gray">
          <a:xfrm flipH="1">
            <a:off x="2748954" y="5688566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Freeform 159">
            <a:extLst>
              <a:ext uri="{FF2B5EF4-FFF2-40B4-BE49-F238E27FC236}">
                <a16:creationId xmlns="" xmlns:a16="http://schemas.microsoft.com/office/drawing/2014/main" id="{8B0E7D91-565B-43F8-9103-511E4F1ACFD1}"/>
              </a:ext>
            </a:extLst>
          </p:cNvPr>
          <p:cNvSpPr/>
          <p:nvPr/>
        </p:nvSpPr>
        <p:spPr bwMode="gray">
          <a:xfrm flipH="1">
            <a:off x="5111993" y="5676691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="" xmlns:a16="http://schemas.microsoft.com/office/drawing/2014/main" id="{47B125BC-849F-46DB-8BC7-0BA26A89B2C0}"/>
              </a:ext>
            </a:extLst>
          </p:cNvPr>
          <p:cNvSpPr txBox="1"/>
          <p:nvPr/>
        </p:nvSpPr>
        <p:spPr bwMode="gray">
          <a:xfrm>
            <a:off x="1690616" y="501593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="" xmlns:a16="http://schemas.microsoft.com/office/drawing/2014/main" id="{969A9908-8119-4BCD-AADA-56A8BC7F75A2}"/>
              </a:ext>
            </a:extLst>
          </p:cNvPr>
          <p:cNvSpPr txBox="1"/>
          <p:nvPr/>
        </p:nvSpPr>
        <p:spPr bwMode="gray">
          <a:xfrm>
            <a:off x="1738117" y="581343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="" xmlns:a16="http://schemas.microsoft.com/office/drawing/2014/main" id="{C4D5B10F-4B9D-4490-816D-85AA70580FB4}"/>
              </a:ext>
            </a:extLst>
          </p:cNvPr>
          <p:cNvSpPr txBox="1"/>
          <p:nvPr/>
        </p:nvSpPr>
        <p:spPr bwMode="gray">
          <a:xfrm>
            <a:off x="6417322" y="501593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="" xmlns:a16="http://schemas.microsoft.com/office/drawing/2014/main" id="{3998D2D9-E0B5-4D23-BCB4-CC168A19FBB2}"/>
              </a:ext>
            </a:extLst>
          </p:cNvPr>
          <p:cNvSpPr txBox="1"/>
          <p:nvPr/>
        </p:nvSpPr>
        <p:spPr bwMode="gray">
          <a:xfrm>
            <a:off x="6393573" y="581343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="" xmlns:a16="http://schemas.microsoft.com/office/drawing/2014/main" id="{BF8A903B-4885-4A9F-8B8E-FCE06067AB28}"/>
              </a:ext>
            </a:extLst>
          </p:cNvPr>
          <p:cNvSpPr txBox="1"/>
          <p:nvPr/>
        </p:nvSpPr>
        <p:spPr bwMode="gray">
          <a:xfrm>
            <a:off x="8545880" y="1740257"/>
            <a:ext cx="3115958" cy="272074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企业广域承载技术的选择可以简单分为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网络，其中：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</a:p>
          <a:p>
            <a:pPr marL="742990" lvl="1" indent="-285750">
              <a:lnSpc>
                <a:spcPct val="14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TE</a:t>
            </a:r>
          </a:p>
          <a:p>
            <a:pPr marL="742990" lvl="1" indent="-285750">
              <a:lnSpc>
                <a:spcPct val="14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SR-MPLS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39AF0EEB-D6BB-43B0-B972-5E54B05E9F9C}"/>
              </a:ext>
            </a:extLst>
          </p:cNvPr>
          <p:cNvSpPr/>
          <p:nvPr/>
        </p:nvSpPr>
        <p:spPr bwMode="gray">
          <a:xfrm>
            <a:off x="8454727" y="1679707"/>
            <a:ext cx="3295403" cy="2954927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="" xmlns:a16="http://schemas.microsoft.com/office/drawing/2014/main" id="{EB1E084D-947B-4F70-AED9-4CE72531B9C2}"/>
              </a:ext>
            </a:extLst>
          </p:cNvPr>
          <p:cNvSpPr txBox="1"/>
          <p:nvPr/>
        </p:nvSpPr>
        <p:spPr bwMode="gray">
          <a:xfrm>
            <a:off x="5754522" y="202692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广域承载网</a:t>
            </a:r>
          </a:p>
        </p:txBody>
      </p:sp>
    </p:spTree>
    <p:extLst>
      <p:ext uri="{BB962C8B-B14F-4D97-AF65-F5344CB8AC3E}">
        <p14:creationId xmlns:p14="http://schemas.microsoft.com/office/powerpoint/2010/main" val="158117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z="1800" b="1" dirty="0">
                <a:sym typeface="Huawei Sans" panose="020C0503030203020204" pitchFamily="34" charset="0"/>
              </a:rPr>
              <a:t>VPN</a:t>
            </a:r>
            <a:r>
              <a:rPr lang="zh-CN" altLang="en-US" sz="1800" b="1" dirty="0">
                <a:sym typeface="Huawei Sans" panose="020C0503030203020204" pitchFamily="34" charset="0"/>
              </a:rPr>
              <a:t>业务</a:t>
            </a:r>
            <a:endParaRPr lang="en-US" altLang="zh-CN" sz="1800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zh-CN" altLang="en-US" sz="1600" dirty="0">
                <a:sym typeface="Huawei Sans" panose="020C0503030203020204" pitchFamily="34" charset="0"/>
              </a:rPr>
              <a:t>广域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介绍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隧道管理介绍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47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B9339E8-8835-4F06-9551-C34F96DF3C2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VPN</a:t>
            </a:r>
            <a:r>
              <a:rPr lang="zh-CN" altLang="en-US">
                <a:sym typeface="Huawei Sans" panose="020C0503030203020204" pitchFamily="34" charset="0"/>
              </a:rPr>
              <a:t>分类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8F7F2B-9DB2-4C12-A2DC-A92576BD3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技术作为虚拟专用的隧道技术被广泛应用。按照不同的角度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可以分为多种类型，如按照实现层次的不同，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可以分为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Layer 3 VPN</a:t>
            </a:r>
            <a:r>
              <a:rPr lang="zh-CN" altLang="en-US" sz="1800" dirty="0">
                <a:sym typeface="Huawei Sans" panose="020C0503030203020204" pitchFamily="34" charset="0"/>
              </a:rPr>
              <a:t>），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Layer 2 VPN</a:t>
            </a:r>
            <a:r>
              <a:rPr lang="zh-CN" altLang="en-US" sz="1800" dirty="0">
                <a:sym typeface="Huawei Sans" panose="020C0503030203020204" pitchFamily="34" charset="0"/>
              </a:rPr>
              <a:t>）和</a:t>
            </a:r>
            <a:r>
              <a:rPr lang="en-US" altLang="zh-CN" sz="1800" dirty="0">
                <a:sym typeface="Huawei Sans" panose="020C0503030203020204" pitchFamily="34" charset="0"/>
              </a:rPr>
              <a:t>VPDN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Virtual Private Dial-up Network</a:t>
            </a:r>
            <a:r>
              <a:rPr lang="zh-CN" altLang="en-US" sz="1800" dirty="0">
                <a:sym typeface="Huawei Sans" panose="020C0503030203020204" pitchFamily="34" charset="0"/>
              </a:rPr>
              <a:t>，虚拟私有拨号网）。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在广域承载网络中，</a:t>
            </a:r>
            <a:r>
              <a:rPr lang="en-US" altLang="zh-CN" sz="1800" dirty="0">
                <a:sym typeface="Huawei Sans" panose="020C0503030203020204" pitchFamily="34" charset="0"/>
              </a:rPr>
              <a:t>VPWS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BGP/MPLS IP VPN</a:t>
            </a:r>
            <a:r>
              <a:rPr lang="zh-CN" altLang="en-US" sz="1800" dirty="0">
                <a:sym typeface="Huawei Sans" panose="020C0503030203020204" pitchFamily="34" charset="0"/>
              </a:rPr>
              <a:t>被更多地应用。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GRE VPN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IPsec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更多地在</a:t>
            </a:r>
            <a:r>
              <a:rPr lang="en-US" altLang="zh-CN" sz="1800" dirty="0">
                <a:sym typeface="Huawei Sans" panose="020C0503030203020204" pitchFamily="34" charset="0"/>
              </a:rPr>
              <a:t>Internet</a:t>
            </a:r>
            <a:r>
              <a:rPr lang="zh-CN" altLang="en-US" sz="1800" dirty="0">
                <a:sym typeface="Huawei Sans" panose="020C0503030203020204" pitchFamily="34" charset="0"/>
              </a:rPr>
              <a:t>应用，不在此课程介绍。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="" xmlns:a16="http://schemas.microsoft.com/office/drawing/2014/main" id="{1409E26E-9EC6-422C-B649-1A2E75737CB5}"/>
              </a:ext>
            </a:extLst>
          </p:cNvPr>
          <p:cNvSpPr/>
          <p:nvPr/>
        </p:nvSpPr>
        <p:spPr bwMode="gray">
          <a:xfrm>
            <a:off x="2235862" y="4449230"/>
            <a:ext cx="1175344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分类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="" xmlns:a16="http://schemas.microsoft.com/office/drawing/2014/main" id="{A6B5D15D-EDBE-4AF1-89BB-E0285A5453D5}"/>
              </a:ext>
            </a:extLst>
          </p:cNvPr>
          <p:cNvSpPr/>
          <p:nvPr/>
        </p:nvSpPr>
        <p:spPr bwMode="gray">
          <a:xfrm>
            <a:off x="3881345" y="3792560"/>
            <a:ext cx="1175344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L2 VPN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="" xmlns:a16="http://schemas.microsoft.com/office/drawing/2014/main" id="{3BB6D244-E265-428E-AD3D-33223918C761}"/>
              </a:ext>
            </a:extLst>
          </p:cNvPr>
          <p:cNvSpPr/>
          <p:nvPr/>
        </p:nvSpPr>
        <p:spPr bwMode="gray">
          <a:xfrm>
            <a:off x="5526827" y="3420164"/>
            <a:ext cx="1532341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VPWS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="" xmlns:a16="http://schemas.microsoft.com/office/drawing/2014/main" id="{7B290576-5D60-4AB4-8668-3C407700857A}"/>
              </a:ext>
            </a:extLst>
          </p:cNvPr>
          <p:cNvSpPr/>
          <p:nvPr/>
        </p:nvSpPr>
        <p:spPr bwMode="gray">
          <a:xfrm>
            <a:off x="5526827" y="3985124"/>
            <a:ext cx="1532341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VPLS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="" xmlns:a16="http://schemas.microsoft.com/office/drawing/2014/main" id="{58122697-2154-4588-BC5A-A49A8C153821}"/>
              </a:ext>
            </a:extLst>
          </p:cNvPr>
          <p:cNvSpPr/>
          <p:nvPr/>
        </p:nvSpPr>
        <p:spPr bwMode="gray">
          <a:xfrm>
            <a:off x="3881345" y="4452899"/>
            <a:ext cx="1175344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VPDN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="" xmlns:a16="http://schemas.microsoft.com/office/drawing/2014/main" id="{6F537EB8-6F5D-44C5-AF51-7E7D1070C02D}"/>
              </a:ext>
            </a:extLst>
          </p:cNvPr>
          <p:cNvSpPr/>
          <p:nvPr/>
        </p:nvSpPr>
        <p:spPr bwMode="gray">
          <a:xfrm>
            <a:off x="3881345" y="5105900"/>
            <a:ext cx="1175344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="" xmlns:a16="http://schemas.microsoft.com/office/drawing/2014/main" id="{EE7C1091-9773-415A-8A66-BA7059534B5F}"/>
              </a:ext>
            </a:extLst>
          </p:cNvPr>
          <p:cNvSpPr/>
          <p:nvPr/>
        </p:nvSpPr>
        <p:spPr bwMode="gray">
          <a:xfrm>
            <a:off x="5526827" y="4550084"/>
            <a:ext cx="1532341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400" b="1" kern="1200" baseline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b="1" kern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IP</a:t>
            </a:r>
            <a:r>
              <a:rPr lang="en-US" altLang="zh-CN" sz="1400" b="1" kern="1200" baseline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="" xmlns:a16="http://schemas.microsoft.com/office/drawing/2014/main" id="{B00EFCFD-BD86-46D6-8913-4F3D3E809D6D}"/>
              </a:ext>
            </a:extLst>
          </p:cNvPr>
          <p:cNvSpPr/>
          <p:nvPr/>
        </p:nvSpPr>
        <p:spPr bwMode="gray">
          <a:xfrm>
            <a:off x="5056690" y="5321822"/>
            <a:ext cx="470137" cy="24971"/>
          </a:xfrm>
          <a:custGeom>
            <a:avLst/>
            <a:gdLst>
              <a:gd name="connsiteX0" fmla="*/ 0 w 470137"/>
              <a:gd name="connsiteY0" fmla="*/ 16062 h 32124"/>
              <a:gd name="connsiteX1" fmla="*/ 470137 w 470137"/>
              <a:gd name="connsiteY1" fmla="*/ 16062 h 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137" h="32124">
                <a:moveTo>
                  <a:pt x="0" y="16062"/>
                </a:moveTo>
                <a:lnTo>
                  <a:pt x="470137" y="16062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6015" tIns="4309" rIns="236016" bIns="4309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 baseline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="" xmlns:a16="http://schemas.microsoft.com/office/drawing/2014/main" id="{49C36AFB-B228-47DC-B971-6A562174DDBB}"/>
              </a:ext>
            </a:extLst>
          </p:cNvPr>
          <p:cNvSpPr/>
          <p:nvPr/>
        </p:nvSpPr>
        <p:spPr bwMode="gray">
          <a:xfrm>
            <a:off x="5526827" y="5115044"/>
            <a:ext cx="1532341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GRE VPN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="" xmlns:a16="http://schemas.microsoft.com/office/drawing/2014/main" id="{DAD9E81C-8EEC-4367-ACF2-13071CFD6640}"/>
              </a:ext>
            </a:extLst>
          </p:cNvPr>
          <p:cNvSpPr/>
          <p:nvPr/>
        </p:nvSpPr>
        <p:spPr bwMode="gray">
          <a:xfrm>
            <a:off x="5526827" y="5680004"/>
            <a:ext cx="1532341" cy="456814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1400" b="1" kern="1200" baseline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IPsec </a:t>
            </a:r>
            <a:r>
              <a:rPr lang="en-US" altLang="zh-CN" sz="1400" b="1" kern="1200" baseline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="" xmlns:a16="http://schemas.microsoft.com/office/drawing/2014/main" id="{383DAB74-0BA8-40B4-B96C-D912D6467E39}"/>
              </a:ext>
            </a:extLst>
          </p:cNvPr>
          <p:cNvCxnSpPr>
            <a:cxnSpLocks/>
          </p:cNvCxnSpPr>
          <p:nvPr/>
        </p:nvCxnSpPr>
        <p:spPr bwMode="gray">
          <a:xfrm>
            <a:off x="3411207" y="4677637"/>
            <a:ext cx="470138" cy="6072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8F82E2B3-92BF-4242-9905-DABA75C858EB}"/>
              </a:ext>
            </a:extLst>
          </p:cNvPr>
          <p:cNvCxnSpPr>
            <a:cxnSpLocks/>
            <a:endCxn id="19" idx="0"/>
          </p:cNvCxnSpPr>
          <p:nvPr/>
        </p:nvCxnSpPr>
        <p:spPr bwMode="gray">
          <a:xfrm>
            <a:off x="3411207" y="4677637"/>
            <a:ext cx="470138" cy="473944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4DA9F138-84F4-442D-ACA6-5FB2DD9A0E17}"/>
              </a:ext>
            </a:extLst>
          </p:cNvPr>
          <p:cNvCxnSpPr>
            <a:cxnSpLocks/>
            <a:endCxn id="11" idx="7"/>
          </p:cNvCxnSpPr>
          <p:nvPr/>
        </p:nvCxnSpPr>
        <p:spPr bwMode="gray">
          <a:xfrm flipV="1">
            <a:off x="3411207" y="4203693"/>
            <a:ext cx="470138" cy="488832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="" xmlns:a16="http://schemas.microsoft.com/office/drawing/2014/main" id="{6C14827D-A92D-4CA2-8828-36DDE9BB966B}"/>
              </a:ext>
            </a:extLst>
          </p:cNvPr>
          <p:cNvCxnSpPr>
            <a:cxnSpLocks/>
          </p:cNvCxnSpPr>
          <p:nvPr/>
        </p:nvCxnSpPr>
        <p:spPr bwMode="gray">
          <a:xfrm>
            <a:off x="5056690" y="4022088"/>
            <a:ext cx="470137" cy="262107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="" xmlns:a16="http://schemas.microsoft.com/office/drawing/2014/main" id="{98C38282-E331-4BAB-847D-3B3865D6F414}"/>
              </a:ext>
            </a:extLst>
          </p:cNvPr>
          <p:cNvCxnSpPr>
            <a:cxnSpLocks/>
          </p:cNvCxnSpPr>
          <p:nvPr/>
        </p:nvCxnSpPr>
        <p:spPr bwMode="gray">
          <a:xfrm flipV="1">
            <a:off x="5056690" y="3737645"/>
            <a:ext cx="470137" cy="290515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45663003-F736-4F3E-8658-482AB076CC6F}"/>
              </a:ext>
            </a:extLst>
          </p:cNvPr>
          <p:cNvCxnSpPr>
            <a:cxnSpLocks/>
            <a:stCxn id="22" idx="0"/>
            <a:endCxn id="25" idx="0"/>
          </p:cNvCxnSpPr>
          <p:nvPr/>
        </p:nvCxnSpPr>
        <p:spPr bwMode="gray">
          <a:xfrm>
            <a:off x="5056690" y="5334308"/>
            <a:ext cx="470137" cy="391377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="" xmlns:a16="http://schemas.microsoft.com/office/drawing/2014/main" id="{2DF3EC22-73C7-4F3A-8BD0-2F76952193D4}"/>
              </a:ext>
            </a:extLst>
          </p:cNvPr>
          <p:cNvCxnSpPr>
            <a:cxnSpLocks/>
            <a:stCxn id="22" idx="0"/>
          </p:cNvCxnSpPr>
          <p:nvPr/>
        </p:nvCxnSpPr>
        <p:spPr bwMode="gray">
          <a:xfrm flipV="1">
            <a:off x="5056690" y="4847100"/>
            <a:ext cx="470137" cy="487208"/>
          </a:xfrm>
          <a:prstGeom prst="line">
            <a:avLst/>
          </a:pr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2928CB7A-9716-4DAB-98E2-A2C0B4305731}"/>
              </a:ext>
            </a:extLst>
          </p:cNvPr>
          <p:cNvSpPr txBox="1"/>
          <p:nvPr/>
        </p:nvSpPr>
        <p:spPr bwMode="gray">
          <a:xfrm>
            <a:off x="9161179" y="5745473"/>
            <a:ext cx="1171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本课程介绍</a:t>
            </a:r>
          </a:p>
        </p:txBody>
      </p:sp>
      <p:sp>
        <p:nvSpPr>
          <p:cNvPr id="57" name="任意多边形: 形状 56">
            <a:extLst>
              <a:ext uri="{FF2B5EF4-FFF2-40B4-BE49-F238E27FC236}">
                <a16:creationId xmlns="" xmlns:a16="http://schemas.microsoft.com/office/drawing/2014/main" id="{DDA76E02-CCC0-48AB-B379-D340869A0264}"/>
              </a:ext>
            </a:extLst>
          </p:cNvPr>
          <p:cNvSpPr/>
          <p:nvPr/>
        </p:nvSpPr>
        <p:spPr bwMode="gray">
          <a:xfrm>
            <a:off x="8329926" y="5753193"/>
            <a:ext cx="766701" cy="304481"/>
          </a:xfrm>
          <a:custGeom>
            <a:avLst/>
            <a:gdLst>
              <a:gd name="connsiteX0" fmla="*/ 0 w 1175344"/>
              <a:gd name="connsiteY0" fmla="*/ 58767 h 587672"/>
              <a:gd name="connsiteX1" fmla="*/ 58767 w 1175344"/>
              <a:gd name="connsiteY1" fmla="*/ 0 h 587672"/>
              <a:gd name="connsiteX2" fmla="*/ 1116577 w 1175344"/>
              <a:gd name="connsiteY2" fmla="*/ 0 h 587672"/>
              <a:gd name="connsiteX3" fmla="*/ 1175344 w 1175344"/>
              <a:gd name="connsiteY3" fmla="*/ 58767 h 587672"/>
              <a:gd name="connsiteX4" fmla="*/ 1175344 w 1175344"/>
              <a:gd name="connsiteY4" fmla="*/ 528905 h 587672"/>
              <a:gd name="connsiteX5" fmla="*/ 1116577 w 1175344"/>
              <a:gd name="connsiteY5" fmla="*/ 587672 h 587672"/>
              <a:gd name="connsiteX6" fmla="*/ 58767 w 1175344"/>
              <a:gd name="connsiteY6" fmla="*/ 587672 h 587672"/>
              <a:gd name="connsiteX7" fmla="*/ 0 w 1175344"/>
              <a:gd name="connsiteY7" fmla="*/ 528905 h 587672"/>
              <a:gd name="connsiteX8" fmla="*/ 0 w 1175344"/>
              <a:gd name="connsiteY8" fmla="*/ 58767 h 58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5344" h="587672">
                <a:moveTo>
                  <a:pt x="0" y="58767"/>
                </a:moveTo>
                <a:cubicBezTo>
                  <a:pt x="0" y="26311"/>
                  <a:pt x="26311" y="0"/>
                  <a:pt x="58767" y="0"/>
                </a:cubicBezTo>
                <a:lnTo>
                  <a:pt x="1116577" y="0"/>
                </a:lnTo>
                <a:cubicBezTo>
                  <a:pt x="1149033" y="0"/>
                  <a:pt x="1175344" y="26311"/>
                  <a:pt x="1175344" y="58767"/>
                </a:cubicBezTo>
                <a:lnTo>
                  <a:pt x="1175344" y="528905"/>
                </a:lnTo>
                <a:cubicBezTo>
                  <a:pt x="1175344" y="561361"/>
                  <a:pt x="1149033" y="587672"/>
                  <a:pt x="1116577" y="587672"/>
                </a:cubicBezTo>
                <a:lnTo>
                  <a:pt x="58767" y="587672"/>
                </a:lnTo>
                <a:cubicBezTo>
                  <a:pt x="26311" y="587672"/>
                  <a:pt x="0" y="561361"/>
                  <a:pt x="0" y="528905"/>
                </a:cubicBezTo>
                <a:lnTo>
                  <a:pt x="0" y="58767"/>
                </a:lnTo>
                <a:close/>
              </a:path>
            </a:pathLst>
          </a:custGeom>
          <a:solidFill>
            <a:srgbClr val="BEE9EE"/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832" tIns="24832" rIns="24832" bIns="24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 baseline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24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E482113D-C533-4A05-AECA-804C31CB2F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</a:t>
            </a:r>
            <a:r>
              <a:rPr lang="en-US" altLang="zh-CN">
                <a:sym typeface="Huawei Sans" panose="020C0503030203020204" pitchFamily="34" charset="0"/>
              </a:rPr>
              <a:t>VPN</a:t>
            </a:r>
            <a:r>
              <a:rPr lang="zh-CN" altLang="en-US">
                <a:sym typeface="Huawei Sans" panose="020C0503030203020204" pitchFamily="34" charset="0"/>
              </a:rPr>
              <a:t>业务简介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F3CD701C-6CA7-4419-A1CB-FE25CEE3AC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企业建立广域承载网络为企业内外不同的业务提供广域互联服务，例如企业生产、办公、外联和测试业务等。各业务之间逻辑隔离，共用物理网络资源，因此各业务以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方式承载，称为广域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广域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可分为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="" xmlns:a16="http://schemas.microsoft.com/office/drawing/2014/main" id="{8363FC3B-0BEB-411D-AB18-2237E726F727}"/>
              </a:ext>
            </a:extLst>
          </p:cNvPr>
          <p:cNvSpPr/>
          <p:nvPr/>
        </p:nvSpPr>
        <p:spPr bwMode="gray">
          <a:xfrm>
            <a:off x="574674" y="2492086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传统的</a:t>
            </a:r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L2VPN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圆角矩形 75">
            <a:extLst>
              <a:ext uri="{FF2B5EF4-FFF2-40B4-BE49-F238E27FC236}">
                <a16:creationId xmlns="" xmlns:a16="http://schemas.microsoft.com/office/drawing/2014/main" id="{8B245E9B-D420-415E-BC8A-6291B49A84FC}"/>
              </a:ext>
            </a:extLst>
          </p:cNvPr>
          <p:cNvSpPr/>
          <p:nvPr/>
        </p:nvSpPr>
        <p:spPr bwMode="gray">
          <a:xfrm>
            <a:off x="578630" y="2886106"/>
            <a:ext cx="5419725" cy="3244516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="" xmlns:a16="http://schemas.microsoft.com/office/drawing/2014/main" id="{3BC4D8A7-755E-4746-9425-86EDA2F199FA}"/>
              </a:ext>
            </a:extLst>
          </p:cNvPr>
          <p:cNvSpPr txBox="1"/>
          <p:nvPr/>
        </p:nvSpPr>
        <p:spPr bwMode="gray">
          <a:xfrm>
            <a:off x="591330" y="2925559"/>
            <a:ext cx="5407025" cy="135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传统的</a:t>
            </a:r>
            <a:r>
              <a:rPr lang="en-US" altLang="zh-CN" sz="1400" dirty="0">
                <a:sym typeface="Huawei Sans" panose="020C0503030203020204" pitchFamily="34" charset="0"/>
              </a:rPr>
              <a:t>L2VPN</a:t>
            </a:r>
            <a:r>
              <a:rPr lang="zh-CN" altLang="en-US" sz="1400" dirty="0">
                <a:sym typeface="Huawei Sans" panose="020C0503030203020204" pitchFamily="34" charset="0"/>
              </a:rPr>
              <a:t>主要包含</a:t>
            </a:r>
            <a:r>
              <a:rPr lang="en-US" altLang="zh-CN" sz="1400" dirty="0">
                <a:sym typeface="Huawei Sans" panose="020C0503030203020204" pitchFamily="34" charset="0"/>
              </a:rPr>
              <a:t>VPLS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VPWS</a:t>
            </a:r>
            <a:r>
              <a:rPr lang="zh-CN" altLang="en-US" sz="1400" dirty="0">
                <a:sym typeface="Huawei Sans" panose="020C0503030203020204" pitchFamily="34" charset="0"/>
              </a:rPr>
              <a:t>两种，可使用</a:t>
            </a:r>
            <a:r>
              <a:rPr lang="en-US" altLang="zh-CN" sz="1400" dirty="0"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ym typeface="Huawei Sans" panose="020C0503030203020204" pitchFamily="34" charset="0"/>
              </a:rPr>
              <a:t>或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等方式建立虚链路。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传统</a:t>
            </a:r>
            <a:r>
              <a:rPr lang="en-US" altLang="zh-CN" sz="1400" dirty="0"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实例隔离业务，使用</a:t>
            </a:r>
            <a:r>
              <a:rPr lang="en-US" altLang="zh-CN" sz="1400" dirty="0">
                <a:sym typeface="Huawei Sans" panose="020C0503030203020204" pitchFamily="34" charset="0"/>
              </a:rPr>
              <a:t>BGP VPNv4/v6</a:t>
            </a:r>
            <a:r>
              <a:rPr lang="zh-CN" altLang="en-US" sz="1400" dirty="0">
                <a:sym typeface="Huawei Sans" panose="020C0503030203020204" pitchFamily="34" charset="0"/>
              </a:rPr>
              <a:t>传递三层信息。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87" name="圆角矩形 75">
            <a:extLst>
              <a:ext uri="{FF2B5EF4-FFF2-40B4-BE49-F238E27FC236}">
                <a16:creationId xmlns="" xmlns:a16="http://schemas.microsoft.com/office/drawing/2014/main" id="{3705798D-A29D-4AD2-BD19-97A243843547}"/>
              </a:ext>
            </a:extLst>
          </p:cNvPr>
          <p:cNvSpPr/>
          <p:nvPr/>
        </p:nvSpPr>
        <p:spPr bwMode="gray">
          <a:xfrm>
            <a:off x="6223001" y="2492086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圆角矩形 75">
            <a:extLst>
              <a:ext uri="{FF2B5EF4-FFF2-40B4-BE49-F238E27FC236}">
                <a16:creationId xmlns="" xmlns:a16="http://schemas.microsoft.com/office/drawing/2014/main" id="{6C666772-8020-4C86-9DEA-221EB138C9FC}"/>
              </a:ext>
            </a:extLst>
          </p:cNvPr>
          <p:cNvSpPr/>
          <p:nvPr/>
        </p:nvSpPr>
        <p:spPr bwMode="gray">
          <a:xfrm>
            <a:off x="6226957" y="2886106"/>
            <a:ext cx="5419725" cy="3244516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="" xmlns:a16="http://schemas.microsoft.com/office/drawing/2014/main" id="{380897AB-FFF8-4E68-B572-BD850C8411CF}"/>
              </a:ext>
            </a:extLst>
          </p:cNvPr>
          <p:cNvSpPr txBox="1"/>
          <p:nvPr/>
        </p:nvSpPr>
        <p:spPr bwMode="gray">
          <a:xfrm>
            <a:off x="6239657" y="2925559"/>
            <a:ext cx="5407025" cy="135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>
                <a:sym typeface="Huawei Sans" panose="020C0503030203020204" pitchFamily="34" charset="0"/>
              </a:rPr>
              <a:t>EVPN</a:t>
            </a:r>
            <a:r>
              <a:rPr lang="zh-CN" altLang="en-US" sz="1400">
                <a:sym typeface="Huawei Sans" panose="020C0503030203020204" pitchFamily="34" charset="0"/>
              </a:rPr>
              <a:t>同时支持</a:t>
            </a:r>
            <a:r>
              <a:rPr lang="en-US" altLang="zh-CN" sz="1400">
                <a:sym typeface="Huawei Sans" panose="020C0503030203020204" pitchFamily="34" charset="0"/>
              </a:rPr>
              <a:t>L2</a:t>
            </a:r>
            <a:r>
              <a:rPr lang="zh-CN" altLang="en-US" sz="1400">
                <a:sym typeface="Huawei Sans" panose="020C0503030203020204" pitchFamily="34" charset="0"/>
              </a:rPr>
              <a:t>和</a:t>
            </a:r>
            <a:r>
              <a:rPr lang="en-US" altLang="zh-CN" sz="1400">
                <a:sym typeface="Huawei Sans" panose="020C0503030203020204" pitchFamily="34" charset="0"/>
              </a:rPr>
              <a:t>L3</a:t>
            </a:r>
            <a:r>
              <a:rPr lang="zh-CN" altLang="en-US" sz="1400">
                <a:sym typeface="Huawei Sans" panose="020C0503030203020204" pitchFamily="34" charset="0"/>
              </a:rPr>
              <a:t>能力，作为控制平面协议传递二层和三层信息（</a:t>
            </a:r>
            <a:r>
              <a:rPr lang="en-US" altLang="zh-CN" sz="1400">
                <a:sym typeface="Huawei Sans" panose="020C0503030203020204" pitchFamily="34" charset="0"/>
              </a:rPr>
              <a:t>MAC/IP</a:t>
            </a:r>
            <a:r>
              <a:rPr lang="zh-CN" altLang="en-US" sz="1400">
                <a:sym typeface="Huawei Sans" panose="020C0503030203020204" pitchFamily="34" charset="0"/>
              </a:rPr>
              <a:t>地址），可与传统</a:t>
            </a:r>
            <a:r>
              <a:rPr lang="en-US" altLang="zh-CN" sz="1400">
                <a:sym typeface="Huawei Sans" panose="020C0503030203020204" pitchFamily="34" charset="0"/>
              </a:rPr>
              <a:t>VPN</a:t>
            </a:r>
            <a:r>
              <a:rPr lang="zh-CN" altLang="en-US" sz="1400">
                <a:sym typeface="Huawei Sans" panose="020C0503030203020204" pitchFamily="34" charset="0"/>
              </a:rPr>
              <a:t>技术结合。</a:t>
            </a:r>
            <a:endParaRPr lang="en-US" altLang="zh-CN" sz="1400">
              <a:sym typeface="Huawei Sans" panose="020C0503030203020204" pitchFamily="34" charset="0"/>
            </a:endParaRPr>
          </a:p>
          <a:p>
            <a:r>
              <a:rPr lang="en-US" altLang="zh-CN" sz="1400">
                <a:sym typeface="Huawei Sans" panose="020C0503030203020204" pitchFamily="34" charset="0"/>
              </a:rPr>
              <a:t>EVPN</a:t>
            </a:r>
            <a:r>
              <a:rPr lang="zh-CN" altLang="en-US" sz="1400">
                <a:sym typeface="Huawei Sans" panose="020C0503030203020204" pitchFamily="34" charset="0"/>
              </a:rPr>
              <a:t>支持包括</a:t>
            </a:r>
            <a:r>
              <a:rPr lang="en-US" altLang="zh-CN" sz="1400">
                <a:sym typeface="Huawei Sans" panose="020C0503030203020204" pitchFamily="34" charset="0"/>
              </a:rPr>
              <a:t>EVPN VPLS</a:t>
            </a:r>
            <a:r>
              <a:rPr lang="zh-CN" altLang="en-US" sz="1400">
                <a:sym typeface="Huawei Sans" panose="020C0503030203020204" pitchFamily="34" charset="0"/>
              </a:rPr>
              <a:t>、</a:t>
            </a:r>
            <a:r>
              <a:rPr lang="en-US" altLang="zh-CN" sz="1400">
                <a:sym typeface="Huawei Sans" panose="020C0503030203020204" pitchFamily="34" charset="0"/>
              </a:rPr>
              <a:t>EVPN VPWS</a:t>
            </a:r>
            <a:r>
              <a:rPr lang="zh-CN" altLang="en-US" sz="1400">
                <a:sym typeface="Huawei Sans" panose="020C0503030203020204" pitchFamily="34" charset="0"/>
              </a:rPr>
              <a:t>、</a:t>
            </a:r>
            <a:r>
              <a:rPr lang="en-US" altLang="zh-CN" sz="1400">
                <a:sym typeface="Huawei Sans" panose="020C0503030203020204" pitchFamily="34" charset="0"/>
              </a:rPr>
              <a:t>EVPN L3VPN</a:t>
            </a:r>
            <a:r>
              <a:rPr lang="zh-CN" altLang="en-US" sz="1400">
                <a:sym typeface="Huawei Sans" panose="020C0503030203020204" pitchFamily="34" charset="0"/>
              </a:rPr>
              <a:t>等。</a:t>
            </a:r>
            <a:endParaRPr lang="en-US" altLang="zh-CN" sz="1400">
              <a:sym typeface="Huawei Sans" panose="020C0503030203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0C0F14EF-15DB-42E3-943D-667353CC1126}"/>
              </a:ext>
            </a:extLst>
          </p:cNvPr>
          <p:cNvGrpSpPr/>
          <p:nvPr/>
        </p:nvGrpSpPr>
        <p:grpSpPr bwMode="gray">
          <a:xfrm>
            <a:off x="1188208" y="4637907"/>
            <a:ext cx="4062708" cy="916595"/>
            <a:chOff x="913053" y="4457266"/>
            <a:chExt cx="5312931" cy="1198660"/>
          </a:xfrm>
        </p:grpSpPr>
        <p:cxnSp>
          <p:nvCxnSpPr>
            <p:cNvPr id="90" name="直接连接符 89">
              <a:extLst>
                <a:ext uri="{FF2B5EF4-FFF2-40B4-BE49-F238E27FC236}">
                  <a16:creationId xmlns="" xmlns:a16="http://schemas.microsoft.com/office/drawing/2014/main" id="{4DF76064-9CAB-40F2-9216-37E0358EFA12}"/>
                </a:ext>
              </a:extLst>
            </p:cNvPr>
            <p:cNvCxnSpPr/>
            <p:nvPr/>
          </p:nvCxnSpPr>
          <p:spPr bwMode="gray">
            <a:xfrm>
              <a:off x="6225984" y="4994057"/>
              <a:ext cx="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Text Box 26">
              <a:extLst>
                <a:ext uri="{FF2B5EF4-FFF2-40B4-BE49-F238E27FC236}">
                  <a16:creationId xmlns="" xmlns:a16="http://schemas.microsoft.com/office/drawing/2014/main" id="{03622BC7-BE33-420F-8381-B080482A7CB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937869" y="5229770"/>
              <a:ext cx="503371" cy="402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</a:t>
              </a:r>
              <a:endParaRPr kumimoji="1"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93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7F2BF1BC-934C-4168-BA86-C15320F26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913053" y="4724086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4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44A60EF8-EF55-48F9-AE63-D1F986328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587979" y="4747836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95" name="Can 41">
              <a:extLst>
                <a:ext uri="{FF2B5EF4-FFF2-40B4-BE49-F238E27FC236}">
                  <a16:creationId xmlns="" xmlns:a16="http://schemas.microsoft.com/office/drawing/2014/main" id="{2527B17E-3BA9-4D7B-A5C0-AA44AC740245}"/>
                </a:ext>
              </a:extLst>
            </p:cNvPr>
            <p:cNvSpPr/>
            <p:nvPr/>
          </p:nvSpPr>
          <p:spPr bwMode="gray">
            <a:xfrm rot="5400000">
              <a:off x="3283643" y="3360439"/>
              <a:ext cx="369376" cy="3843511"/>
            </a:xfrm>
            <a:prstGeom prst="can">
              <a:avLst>
                <a:gd name="adj" fmla="val 554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FFD1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96" name="Straight Arrow Connector 11">
              <a:extLst>
                <a:ext uri="{FF2B5EF4-FFF2-40B4-BE49-F238E27FC236}">
                  <a16:creationId xmlns="" xmlns:a16="http://schemas.microsoft.com/office/drawing/2014/main" id="{8C7F2ABE-5ACB-4EFF-A4A4-D65ECEE6ED3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503656" y="5256691"/>
              <a:ext cx="4055784" cy="0"/>
            </a:xfrm>
            <a:prstGeom prst="straightConnector1">
              <a:avLst/>
            </a:prstGeom>
            <a:ln w="28575">
              <a:solidFill>
                <a:srgbClr val="8BC9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 Box 26">
              <a:extLst>
                <a:ext uri="{FF2B5EF4-FFF2-40B4-BE49-F238E27FC236}">
                  <a16:creationId xmlns="" xmlns:a16="http://schemas.microsoft.com/office/drawing/2014/main" id="{D82CA1F7-13D8-43B4-B294-2B4FF89AE91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31055" y="5253521"/>
              <a:ext cx="503371" cy="402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</a:t>
              </a:r>
              <a:endParaRPr kumimoji="1"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8" name="Can 41">
              <a:extLst>
                <a:ext uri="{FF2B5EF4-FFF2-40B4-BE49-F238E27FC236}">
                  <a16:creationId xmlns="" xmlns:a16="http://schemas.microsoft.com/office/drawing/2014/main" id="{F5DA7B6C-3E8C-4030-9D2F-B73F5C07D096}"/>
                </a:ext>
              </a:extLst>
            </p:cNvPr>
            <p:cNvSpPr/>
            <p:nvPr/>
          </p:nvSpPr>
          <p:spPr bwMode="gray">
            <a:xfrm rot="5400000">
              <a:off x="3283643" y="2753499"/>
              <a:ext cx="369375" cy="3843511"/>
            </a:xfrm>
            <a:prstGeom prst="can">
              <a:avLst>
                <a:gd name="adj" fmla="val 55435"/>
              </a:avLst>
            </a:prstGeom>
            <a:solidFill>
              <a:srgbClr val="FFF2CC"/>
            </a:solidFill>
            <a:ln w="12700">
              <a:solidFill>
                <a:srgbClr val="FFD1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99" name="Straight Arrow Connector 11">
              <a:extLst>
                <a:ext uri="{FF2B5EF4-FFF2-40B4-BE49-F238E27FC236}">
                  <a16:creationId xmlns="" xmlns:a16="http://schemas.microsoft.com/office/drawing/2014/main" id="{91E2F6E8-974C-4F65-B67B-106283FD298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496036" y="4690266"/>
              <a:ext cx="4055784" cy="0"/>
            </a:xfrm>
            <a:prstGeom prst="straightConnector1">
              <a:avLst/>
            </a:prstGeom>
            <a:ln w="28575">
              <a:solidFill>
                <a:srgbClr val="8BC9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 Box 26">
              <a:extLst>
                <a:ext uri="{FF2B5EF4-FFF2-40B4-BE49-F238E27FC236}">
                  <a16:creationId xmlns="" xmlns:a16="http://schemas.microsoft.com/office/drawing/2014/main" id="{D671B656-5B13-4B5F-8E18-4F3F6942AC7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65104" y="4457266"/>
              <a:ext cx="989711" cy="402405"/>
            </a:xfrm>
            <a:prstGeom prst="rect">
              <a:avLst/>
            </a:prstGeom>
            <a:solidFill>
              <a:srgbClr val="FFF2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L3VPN</a:t>
              </a:r>
              <a:endParaRPr kumimoji="1"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1" name="Text Box 26">
              <a:extLst>
                <a:ext uri="{FF2B5EF4-FFF2-40B4-BE49-F238E27FC236}">
                  <a16:creationId xmlns="" xmlns:a16="http://schemas.microsoft.com/office/drawing/2014/main" id="{F875AA79-460C-4AF6-B72C-67725854A33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65104" y="5122232"/>
              <a:ext cx="989711" cy="402405"/>
            </a:xfrm>
            <a:prstGeom prst="rect">
              <a:avLst/>
            </a:prstGeom>
            <a:solidFill>
              <a:srgbClr val="FBE5D6"/>
            </a:solidFill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L2VPN</a:t>
              </a:r>
              <a:endParaRPr kumimoji="1"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="" xmlns:a16="http://schemas.microsoft.com/office/drawing/2014/main" id="{031E0CE1-7020-45AA-88AC-8696E4211720}"/>
              </a:ext>
            </a:extLst>
          </p:cNvPr>
          <p:cNvSpPr txBox="1"/>
          <p:nvPr/>
        </p:nvSpPr>
        <p:spPr bwMode="gray">
          <a:xfrm>
            <a:off x="2113970" y="4433490"/>
            <a:ext cx="1024639" cy="276999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VPNv4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="" xmlns:a16="http://schemas.microsoft.com/office/drawing/2014/main" id="{76492AE3-BDBF-4F14-A14E-3F5A3BF4DD7C}"/>
              </a:ext>
            </a:extLst>
          </p:cNvPr>
          <p:cNvSpPr txBox="1"/>
          <p:nvPr/>
        </p:nvSpPr>
        <p:spPr bwMode="gray">
          <a:xfrm>
            <a:off x="2626290" y="5428850"/>
            <a:ext cx="1186543" cy="276999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l2vpn-ad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="" xmlns:a16="http://schemas.microsoft.com/office/drawing/2014/main" id="{D036FFC9-CA67-4335-8CB9-0CC00B446847}"/>
              </a:ext>
            </a:extLst>
          </p:cNvPr>
          <p:cNvSpPr txBox="1"/>
          <p:nvPr/>
        </p:nvSpPr>
        <p:spPr bwMode="gray">
          <a:xfrm>
            <a:off x="3277475" y="4433490"/>
            <a:ext cx="1024639" cy="276999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VPNv6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="" xmlns:a16="http://schemas.microsoft.com/office/drawing/2014/main" id="{F025F028-0A53-4B43-B9BF-C45D255BC843}"/>
              </a:ext>
            </a:extLst>
          </p:cNvPr>
          <p:cNvGrpSpPr/>
          <p:nvPr/>
        </p:nvGrpSpPr>
        <p:grpSpPr bwMode="gray">
          <a:xfrm>
            <a:off x="6828987" y="4629198"/>
            <a:ext cx="4062708" cy="925303"/>
            <a:chOff x="913053" y="4445878"/>
            <a:chExt cx="5312931" cy="1210048"/>
          </a:xfrm>
        </p:grpSpPr>
        <p:cxnSp>
          <p:nvCxnSpPr>
            <p:cNvPr id="106" name="直接连接符 105">
              <a:extLst>
                <a:ext uri="{FF2B5EF4-FFF2-40B4-BE49-F238E27FC236}">
                  <a16:creationId xmlns="" xmlns:a16="http://schemas.microsoft.com/office/drawing/2014/main" id="{AFD71A9F-702B-4FC8-B365-214786F86C39}"/>
                </a:ext>
              </a:extLst>
            </p:cNvPr>
            <p:cNvCxnSpPr/>
            <p:nvPr/>
          </p:nvCxnSpPr>
          <p:spPr bwMode="gray">
            <a:xfrm>
              <a:off x="6225984" y="4994057"/>
              <a:ext cx="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7" name="Text Box 26">
              <a:extLst>
                <a:ext uri="{FF2B5EF4-FFF2-40B4-BE49-F238E27FC236}">
                  <a16:creationId xmlns="" xmlns:a16="http://schemas.microsoft.com/office/drawing/2014/main" id="{B0E7CC5C-328A-4DC8-914A-6E663E2A6A0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937869" y="5229770"/>
              <a:ext cx="503371" cy="402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</a:t>
              </a:r>
              <a:endParaRPr kumimoji="1"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08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BA466510-181B-4526-AEFF-148B84A074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913053" y="4724086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109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31D802A2-CA44-4498-9BCF-A195B7880B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587979" y="4747836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10" name="Can 41">
              <a:extLst>
                <a:ext uri="{FF2B5EF4-FFF2-40B4-BE49-F238E27FC236}">
                  <a16:creationId xmlns="" xmlns:a16="http://schemas.microsoft.com/office/drawing/2014/main" id="{06B27992-D41B-4DA1-9136-281CC00A838E}"/>
                </a:ext>
              </a:extLst>
            </p:cNvPr>
            <p:cNvSpPr/>
            <p:nvPr/>
          </p:nvSpPr>
          <p:spPr bwMode="gray">
            <a:xfrm rot="5400000">
              <a:off x="3283643" y="3360439"/>
              <a:ext cx="369376" cy="3843511"/>
            </a:xfrm>
            <a:prstGeom prst="can">
              <a:avLst>
                <a:gd name="adj" fmla="val 554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FFD1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11" name="Straight Arrow Connector 11">
              <a:extLst>
                <a:ext uri="{FF2B5EF4-FFF2-40B4-BE49-F238E27FC236}">
                  <a16:creationId xmlns="" xmlns:a16="http://schemas.microsoft.com/office/drawing/2014/main" id="{F2BB6E09-A7EF-425C-A419-E58B02B8637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503656" y="5256691"/>
              <a:ext cx="4055784" cy="0"/>
            </a:xfrm>
            <a:prstGeom prst="straightConnector1">
              <a:avLst/>
            </a:prstGeom>
            <a:ln w="28575">
              <a:solidFill>
                <a:srgbClr val="8BC9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Box 26">
              <a:extLst>
                <a:ext uri="{FF2B5EF4-FFF2-40B4-BE49-F238E27FC236}">
                  <a16:creationId xmlns="" xmlns:a16="http://schemas.microsoft.com/office/drawing/2014/main" id="{BB3D2788-09C3-4AB4-9607-68113502239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631055" y="5253521"/>
              <a:ext cx="503371" cy="402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</a:t>
              </a:r>
              <a:endParaRPr kumimoji="1"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3" name="Can 41">
              <a:extLst>
                <a:ext uri="{FF2B5EF4-FFF2-40B4-BE49-F238E27FC236}">
                  <a16:creationId xmlns="" xmlns:a16="http://schemas.microsoft.com/office/drawing/2014/main" id="{C3739F2C-1A69-43A4-A9FB-F969FC6DDD9F}"/>
                </a:ext>
              </a:extLst>
            </p:cNvPr>
            <p:cNvSpPr/>
            <p:nvPr/>
          </p:nvSpPr>
          <p:spPr bwMode="gray">
            <a:xfrm rot="5400000">
              <a:off x="3283643" y="2753499"/>
              <a:ext cx="369375" cy="3843511"/>
            </a:xfrm>
            <a:prstGeom prst="can">
              <a:avLst>
                <a:gd name="adj" fmla="val 55435"/>
              </a:avLst>
            </a:prstGeom>
            <a:solidFill>
              <a:srgbClr val="FFF2CC"/>
            </a:solidFill>
            <a:ln w="12700">
              <a:solidFill>
                <a:srgbClr val="FFD1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lt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14" name="Straight Arrow Connector 11">
              <a:extLst>
                <a:ext uri="{FF2B5EF4-FFF2-40B4-BE49-F238E27FC236}">
                  <a16:creationId xmlns="" xmlns:a16="http://schemas.microsoft.com/office/drawing/2014/main" id="{978B1A8E-70B7-4916-8953-927423595D4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496036" y="4690266"/>
              <a:ext cx="4055784" cy="0"/>
            </a:xfrm>
            <a:prstGeom prst="straightConnector1">
              <a:avLst/>
            </a:prstGeom>
            <a:ln w="28575">
              <a:solidFill>
                <a:srgbClr val="8BC9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 Box 26">
              <a:extLst>
                <a:ext uri="{FF2B5EF4-FFF2-40B4-BE49-F238E27FC236}">
                  <a16:creationId xmlns="" xmlns:a16="http://schemas.microsoft.com/office/drawing/2014/main" id="{90F647D4-F5DE-4745-A3F2-31EFBC89FA8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65104" y="4445878"/>
              <a:ext cx="989711" cy="402405"/>
            </a:xfrm>
            <a:prstGeom prst="rect">
              <a:avLst/>
            </a:prstGeom>
            <a:solidFill>
              <a:srgbClr val="FFF2CC"/>
            </a:solidFill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L3VPN</a:t>
              </a:r>
              <a:endParaRPr kumimoji="1"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6" name="Text Box 26">
              <a:extLst>
                <a:ext uri="{FF2B5EF4-FFF2-40B4-BE49-F238E27FC236}">
                  <a16:creationId xmlns="" xmlns:a16="http://schemas.microsoft.com/office/drawing/2014/main" id="{AA065F68-FC61-49FE-A470-1D5DAFBC3F6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165104" y="5122232"/>
              <a:ext cx="989711" cy="402405"/>
            </a:xfrm>
            <a:prstGeom prst="rect">
              <a:avLst/>
            </a:prstGeom>
            <a:solidFill>
              <a:srgbClr val="FBE5D6"/>
            </a:solidFill>
            <a:ln w="9525">
              <a:noFill/>
              <a:miter lim="800000"/>
              <a:headEnd/>
              <a:tailEnd/>
            </a:ln>
          </p:spPr>
          <p:txBody>
            <a:bodyPr wrap="none" lIns="91379" tIns="45688" rIns="91379" bIns="45688">
              <a:spAutoFit/>
            </a:bodyPr>
            <a:lstStyle/>
            <a:p>
              <a:pPr eaLnBrk="1" fontAlgn="t" hangingPunct="1"/>
              <a:r>
                <a:rPr kumimoji="1" lang="en-US" altLang="zh-CN" sz="1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L2VPN</a:t>
              </a:r>
              <a:endParaRPr kumimoji="1"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9" name="文本框 118">
            <a:extLst>
              <a:ext uri="{FF2B5EF4-FFF2-40B4-BE49-F238E27FC236}">
                <a16:creationId xmlns="" xmlns:a16="http://schemas.microsoft.com/office/drawing/2014/main" id="{C1202BD0-B21E-48AA-86B4-911CE3CF047B}"/>
              </a:ext>
            </a:extLst>
          </p:cNvPr>
          <p:cNvSpPr txBox="1"/>
          <p:nvPr/>
        </p:nvSpPr>
        <p:spPr bwMode="gray">
          <a:xfrm>
            <a:off x="8406786" y="4421870"/>
            <a:ext cx="941283" cy="276999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EVPN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="" xmlns:a16="http://schemas.microsoft.com/office/drawing/2014/main" id="{0BCDC88C-1B9E-447E-8EC4-CAA54005D57D}"/>
              </a:ext>
            </a:extLst>
          </p:cNvPr>
          <p:cNvSpPr txBox="1"/>
          <p:nvPr/>
        </p:nvSpPr>
        <p:spPr bwMode="gray">
          <a:xfrm>
            <a:off x="8406786" y="5430145"/>
            <a:ext cx="941283" cy="276999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EVPN</a:t>
            </a:r>
          </a:p>
        </p:txBody>
      </p:sp>
    </p:spTree>
    <p:extLst>
      <p:ext uri="{BB962C8B-B14F-4D97-AF65-F5344CB8AC3E}">
        <p14:creationId xmlns:p14="http://schemas.microsoft.com/office/powerpoint/2010/main" val="40727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DAA1D7E-CE57-459B-8718-17A0096127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传统广域</a:t>
            </a:r>
            <a:r>
              <a:rPr lang="en-US" altLang="zh-CN">
                <a:sym typeface="Huawei Sans" panose="020C0503030203020204" pitchFamily="34" charset="0"/>
              </a:rPr>
              <a:t>L2VPN</a:t>
            </a:r>
            <a:r>
              <a:rPr lang="zh-CN" altLang="en-US">
                <a:sym typeface="Huawei Sans" panose="020C0503030203020204" pitchFamily="34" charset="0"/>
              </a:rPr>
              <a:t>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B23FEDF-6825-46EA-915D-497D5221C3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传统广域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基于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网络。</a:t>
            </a:r>
            <a:r>
              <a:rPr lang="en-US" altLang="zh-CN" sz="1800" dirty="0">
                <a:sym typeface="Huawei Sans" panose="020C0503030203020204" pitchFamily="34" charset="0"/>
              </a:rPr>
              <a:t>VPWS</a:t>
            </a:r>
            <a:r>
              <a:rPr lang="zh-CN" altLang="en-US" sz="1800" dirty="0">
                <a:sym typeface="Huawei Sans" panose="020C0503030203020204" pitchFamily="34" charset="0"/>
              </a:rPr>
              <a:t>提供点到点的二层网络，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提供点到多点的二层网络。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MPLS L2VPN</a:t>
            </a:r>
            <a:r>
              <a:rPr lang="zh-CN" altLang="en-US" sz="1800" dirty="0">
                <a:sym typeface="Huawei Sans" panose="020C0503030203020204" pitchFamily="34" charset="0"/>
              </a:rPr>
              <a:t>基本架构可以分为</a:t>
            </a:r>
            <a:r>
              <a:rPr lang="en-US" altLang="zh-CN" sz="1800" dirty="0">
                <a:sym typeface="Huawei Sans" panose="020C0503030203020204" pitchFamily="34" charset="0"/>
              </a:rPr>
              <a:t>AC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VC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Tunnel</a:t>
            </a:r>
            <a:r>
              <a:rPr lang="zh-CN" altLang="en-US" sz="1800" dirty="0">
                <a:sym typeface="Huawei Sans" panose="020C0503030203020204" pitchFamily="34" charset="0"/>
              </a:rPr>
              <a:t>三个部分：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Attachment Circuit</a:t>
            </a:r>
            <a:r>
              <a:rPr lang="zh-CN" altLang="en-US" sz="1600" dirty="0">
                <a:sym typeface="Huawei Sans" panose="020C0503030203020204" pitchFamily="34" charset="0"/>
              </a:rPr>
              <a:t>，接入电路）：</a:t>
            </a:r>
            <a:r>
              <a:rPr lang="en-US" altLang="zh-CN" sz="1600" dirty="0"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sym typeface="Huawei Sans" panose="020C0503030203020204" pitchFamily="34" charset="0"/>
              </a:rPr>
              <a:t>是一条连接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的独立的链路。</a:t>
            </a:r>
            <a:r>
              <a:rPr lang="en-US" altLang="zh-CN" sz="1600" dirty="0"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sym typeface="Huawei Sans" panose="020C0503030203020204" pitchFamily="34" charset="0"/>
              </a:rPr>
              <a:t>接口可以是物理接口或逻辑接口。</a:t>
            </a: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VC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Virtual Circuit</a:t>
            </a:r>
            <a:r>
              <a:rPr lang="zh-CN" altLang="en-US" sz="1600" dirty="0">
                <a:sym typeface="Huawei Sans" panose="020C0503030203020204" pitchFamily="34" charset="0"/>
              </a:rPr>
              <a:t>，虚链路）：这里指在两个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节点之间的一种逻辑连接，使用信令协议建立，例如</a:t>
            </a:r>
            <a:r>
              <a:rPr lang="en-US" altLang="zh-CN" sz="1600" dirty="0">
                <a:sym typeface="Huawei Sans" panose="020C0503030203020204" pitchFamily="34" charset="0"/>
              </a:rPr>
              <a:t>BGP AD</a:t>
            </a:r>
            <a:r>
              <a:rPr lang="zh-CN" altLang="en-US" sz="1600" dirty="0">
                <a:sym typeface="Huawei Sans" panose="020C0503030203020204" pitchFamily="34" charset="0"/>
              </a:rPr>
              <a:t>路由。</a:t>
            </a: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Tunnel</a:t>
            </a:r>
            <a:r>
              <a:rPr lang="zh-CN" altLang="en-US" sz="1600" dirty="0">
                <a:sym typeface="Huawei Sans" panose="020C0503030203020204" pitchFamily="34" charset="0"/>
              </a:rPr>
              <a:t>：用于透明传送业务数据，例如</a:t>
            </a:r>
            <a:r>
              <a:rPr lang="en-US" altLang="zh-CN" sz="1600" dirty="0">
                <a:sym typeface="Huawei Sans" panose="020C0503030203020204" pitchFamily="34" charset="0"/>
              </a:rPr>
              <a:t>MPLS LDP</a:t>
            </a:r>
            <a:r>
              <a:rPr lang="zh-CN" altLang="en-US" sz="1600" dirty="0">
                <a:sym typeface="Huawei Sans" panose="020C0503030203020204" pitchFamily="34" charset="0"/>
              </a:rPr>
              <a:t>隧道或</a:t>
            </a:r>
            <a:r>
              <a:rPr lang="en-US" altLang="zh-CN" sz="1600" dirty="0">
                <a:sym typeface="Huawei Sans" panose="020C0503030203020204" pitchFamily="34" charset="0"/>
              </a:rPr>
              <a:t>MPLS TE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</a:p>
          <a:p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VPWS</a:t>
            </a:r>
            <a:r>
              <a:rPr lang="zh-CN" altLang="en-US" sz="1800" dirty="0">
                <a:sym typeface="Huawei Sans" panose="020C0503030203020204" pitchFamily="34" charset="0"/>
              </a:rPr>
              <a:t>被广泛用于运营商网络，为企业提供</a:t>
            </a:r>
            <a:r>
              <a:rPr lang="en-US" altLang="zh-CN" sz="1800" dirty="0">
                <a:sym typeface="Huawei Sans" panose="020C0503030203020204" pitchFamily="34" charset="0"/>
              </a:rPr>
              <a:t>MPLS L2</a:t>
            </a:r>
            <a:r>
              <a:rPr lang="zh-CN" altLang="en-US" sz="1800" dirty="0">
                <a:sym typeface="Huawei Sans" panose="020C0503030203020204" pitchFamily="34" charset="0"/>
              </a:rPr>
              <a:t>专线业务。</a:t>
            </a:r>
          </a:p>
        </p:txBody>
      </p:sp>
      <p:sp>
        <p:nvSpPr>
          <p:cNvPr id="6" name="Can 9">
            <a:extLst>
              <a:ext uri="{FF2B5EF4-FFF2-40B4-BE49-F238E27FC236}">
                <a16:creationId xmlns="" xmlns:a16="http://schemas.microsoft.com/office/drawing/2014/main" id="{F9B25529-4895-4921-AB9D-786E77A16063}"/>
              </a:ext>
            </a:extLst>
          </p:cNvPr>
          <p:cNvSpPr/>
          <p:nvPr/>
        </p:nvSpPr>
        <p:spPr bwMode="gray">
          <a:xfrm rot="5400000">
            <a:off x="4930856" y="5008725"/>
            <a:ext cx="166151" cy="434592"/>
          </a:xfrm>
          <a:prstGeom prst="can">
            <a:avLst/>
          </a:prstGeom>
          <a:gradFill flip="none" rotWithShape="1">
            <a:gsLst>
              <a:gs pos="0">
                <a:srgbClr val="FFFFCC"/>
              </a:gs>
              <a:gs pos="61000">
                <a:srgbClr val="FF6600"/>
              </a:gs>
              <a:gs pos="100000">
                <a:srgbClr val="FF9966"/>
              </a:gs>
            </a:gsLst>
            <a:lin ang="0" scaled="1"/>
            <a:tileRect/>
          </a:gradFill>
          <a:ln w="952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Freeform 159">
            <a:extLst>
              <a:ext uri="{FF2B5EF4-FFF2-40B4-BE49-F238E27FC236}">
                <a16:creationId xmlns="" xmlns:a16="http://schemas.microsoft.com/office/drawing/2014/main" id="{DDFF07EF-239B-4373-8AC2-67E5D46CCACB}"/>
              </a:ext>
            </a:extLst>
          </p:cNvPr>
          <p:cNvSpPr/>
          <p:nvPr/>
        </p:nvSpPr>
        <p:spPr bwMode="gray">
          <a:xfrm flipH="1">
            <a:off x="9013933" y="4797238"/>
            <a:ext cx="1274333" cy="666131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Freeform 159">
            <a:extLst>
              <a:ext uri="{FF2B5EF4-FFF2-40B4-BE49-F238E27FC236}">
                <a16:creationId xmlns="" xmlns:a16="http://schemas.microsoft.com/office/drawing/2014/main" id="{EF465F6F-C05E-41C4-8EAA-F8A4AD74D77A}"/>
              </a:ext>
            </a:extLst>
          </p:cNvPr>
          <p:cNvSpPr/>
          <p:nvPr/>
        </p:nvSpPr>
        <p:spPr bwMode="gray">
          <a:xfrm flipH="1">
            <a:off x="1916434" y="4802158"/>
            <a:ext cx="1274333" cy="666131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="" xmlns:a16="http://schemas.microsoft.com/office/drawing/2014/main" id="{A456EEBA-7D24-4AA3-8B9D-3BA8DD7180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59715" y="3938558"/>
            <a:ext cx="3240088" cy="2058988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="" xmlns:a16="http://schemas.microsoft.com/office/drawing/2014/main" id="{392AE13B-E27E-4806-ACC0-7448C1D698B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27915" y="5449858"/>
            <a:ext cx="5020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PEA</a:t>
            </a:r>
          </a:p>
        </p:txBody>
      </p:sp>
      <p:sp>
        <p:nvSpPr>
          <p:cNvPr id="11" name="Text Box 23">
            <a:extLst>
              <a:ext uri="{FF2B5EF4-FFF2-40B4-BE49-F238E27FC236}">
                <a16:creationId xmlns="" xmlns:a16="http://schemas.microsoft.com/office/drawing/2014/main" id="{3CD47B4B-6FA6-46D4-AE06-BEBE37C4705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761704" y="5449858"/>
            <a:ext cx="4924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PEB</a:t>
            </a:r>
          </a:p>
        </p:txBody>
      </p:sp>
      <p:sp>
        <p:nvSpPr>
          <p:cNvPr id="12" name="Line 36">
            <a:extLst>
              <a:ext uri="{FF2B5EF4-FFF2-40B4-BE49-F238E27FC236}">
                <a16:creationId xmlns="" xmlns:a16="http://schemas.microsoft.com/office/drawing/2014/main" id="{B35FED07-1A1C-48AF-9290-3D92BB8B572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3335754" y="4873596"/>
            <a:ext cx="1150937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37">
            <a:extLst>
              <a:ext uri="{FF2B5EF4-FFF2-40B4-BE49-F238E27FC236}">
                <a16:creationId xmlns="" xmlns:a16="http://schemas.microsoft.com/office/drawing/2014/main" id="{69C0B673-4631-45CB-A6E7-1B6713D9BD6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67779" y="4009996"/>
            <a:ext cx="1692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14" name="Text Box 50">
            <a:extLst>
              <a:ext uri="{FF2B5EF4-FFF2-40B4-BE49-F238E27FC236}">
                <a16:creationId xmlns="" xmlns:a16="http://schemas.microsoft.com/office/drawing/2014/main" id="{D10543D2-7BE7-437E-8D71-C6FC8330FC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42003" y="5449858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CEB</a:t>
            </a:r>
          </a:p>
        </p:txBody>
      </p:sp>
      <p:sp>
        <p:nvSpPr>
          <p:cNvPr id="15" name="Text Box 62">
            <a:extLst>
              <a:ext uri="{FF2B5EF4-FFF2-40B4-BE49-F238E27FC236}">
                <a16:creationId xmlns="" xmlns:a16="http://schemas.microsoft.com/office/drawing/2014/main" id="{98EE887C-6279-4E5C-A365-FD8024396FA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771146" y="5449858"/>
            <a:ext cx="5084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CEA</a:t>
            </a:r>
          </a:p>
        </p:txBody>
      </p:sp>
      <p:sp>
        <p:nvSpPr>
          <p:cNvPr id="16" name="Text Box 63">
            <a:extLst>
              <a:ext uri="{FF2B5EF4-FFF2-40B4-BE49-F238E27FC236}">
                <a16:creationId xmlns="" xmlns:a16="http://schemas.microsoft.com/office/drawing/2014/main" id="{BCDFF5DA-A0E2-4419-92B4-92D321EB09F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606100" y="4514821"/>
            <a:ext cx="4106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</a:p>
        </p:txBody>
      </p:sp>
      <p:sp>
        <p:nvSpPr>
          <p:cNvPr id="17" name="Line 65">
            <a:extLst>
              <a:ext uri="{FF2B5EF4-FFF2-40B4-BE49-F238E27FC236}">
                <a16:creationId xmlns="" xmlns:a16="http://schemas.microsoft.com/office/drawing/2014/main" id="{00A5080F-FF39-4FEB-BBA6-AF727D97C26A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871241" y="4873596"/>
            <a:ext cx="1008063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 Box 66">
            <a:extLst>
              <a:ext uri="{FF2B5EF4-FFF2-40B4-BE49-F238E27FC236}">
                <a16:creationId xmlns="" xmlns:a16="http://schemas.microsoft.com/office/drawing/2014/main" id="{6B6866D1-1C3A-497A-8105-68256FE9F71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269703" y="4514821"/>
            <a:ext cx="4106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</a:p>
        </p:txBody>
      </p:sp>
      <p:sp>
        <p:nvSpPr>
          <p:cNvPr id="19" name="Line 67">
            <a:extLst>
              <a:ext uri="{FF2B5EF4-FFF2-40B4-BE49-F238E27FC236}">
                <a16:creationId xmlns="" xmlns:a16="http://schemas.microsoft.com/office/drawing/2014/main" id="{9CE21694-98B6-4027-AEC7-CB00D46F44EF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4486690" y="4702908"/>
            <a:ext cx="338455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Text Box 68">
            <a:extLst>
              <a:ext uri="{FF2B5EF4-FFF2-40B4-BE49-F238E27FC236}">
                <a16:creationId xmlns="" xmlns:a16="http://schemas.microsoft.com/office/drawing/2014/main" id="{0B90E0E9-0061-40AD-9805-C4538EC000B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928140" y="4344133"/>
            <a:ext cx="4074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VC</a:t>
            </a:r>
          </a:p>
        </p:txBody>
      </p:sp>
      <p:sp>
        <p:nvSpPr>
          <p:cNvPr id="21" name="Line 69">
            <a:extLst>
              <a:ext uri="{FF2B5EF4-FFF2-40B4-BE49-F238E27FC236}">
                <a16:creationId xmlns="" xmlns:a16="http://schemas.microsoft.com/office/drawing/2014/main" id="{48053847-5C66-48D0-825D-9AD1F7C8276F}"/>
              </a:ext>
            </a:extLst>
          </p:cNvPr>
          <p:cNvSpPr>
            <a:spLocks noChangeShapeType="1"/>
          </p:cNvSpPr>
          <p:nvPr/>
        </p:nvSpPr>
        <p:spPr bwMode="gray">
          <a:xfrm>
            <a:off x="3335753" y="4586258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Line 70">
            <a:extLst>
              <a:ext uri="{FF2B5EF4-FFF2-40B4-BE49-F238E27FC236}">
                <a16:creationId xmlns="" xmlns:a16="http://schemas.microsoft.com/office/drawing/2014/main" id="{83288C75-9890-4A31-81E1-534007504687}"/>
              </a:ext>
            </a:extLst>
          </p:cNvPr>
          <p:cNvSpPr>
            <a:spLocks noChangeShapeType="1"/>
          </p:cNvSpPr>
          <p:nvPr/>
        </p:nvSpPr>
        <p:spPr bwMode="gray">
          <a:xfrm>
            <a:off x="4486690" y="4586258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Line 71">
            <a:extLst>
              <a:ext uri="{FF2B5EF4-FFF2-40B4-BE49-F238E27FC236}">
                <a16:creationId xmlns="" xmlns:a16="http://schemas.microsoft.com/office/drawing/2014/main" id="{54183C2A-0348-495F-9B56-B04FF7E2CB51}"/>
              </a:ext>
            </a:extLst>
          </p:cNvPr>
          <p:cNvSpPr>
            <a:spLocks noChangeShapeType="1"/>
          </p:cNvSpPr>
          <p:nvPr/>
        </p:nvSpPr>
        <p:spPr bwMode="gray">
          <a:xfrm>
            <a:off x="7871240" y="4586258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Line 72">
            <a:extLst>
              <a:ext uri="{FF2B5EF4-FFF2-40B4-BE49-F238E27FC236}">
                <a16:creationId xmlns="" xmlns:a16="http://schemas.microsoft.com/office/drawing/2014/main" id="{5A83AD1D-5F43-4B52-A196-DE119D43D6B8}"/>
              </a:ext>
            </a:extLst>
          </p:cNvPr>
          <p:cNvSpPr>
            <a:spLocks noChangeShapeType="1"/>
          </p:cNvSpPr>
          <p:nvPr/>
        </p:nvSpPr>
        <p:spPr bwMode="gray">
          <a:xfrm>
            <a:off x="8952328" y="4586258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Text Box 103">
            <a:extLst>
              <a:ext uri="{FF2B5EF4-FFF2-40B4-BE49-F238E27FC236}">
                <a16:creationId xmlns="" xmlns:a16="http://schemas.microsoft.com/office/drawing/2014/main" id="{3C3CD208-4941-4EA1-8B7C-8ECA96259B6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361528" y="5692746"/>
            <a:ext cx="2872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</a:p>
        </p:txBody>
      </p:sp>
      <p:pic>
        <p:nvPicPr>
          <p:cNvPr id="26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38E841B8-CAFA-406A-BF22-9CEB65E7C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12170" y="5010202"/>
            <a:ext cx="527556" cy="431636"/>
          </a:xfrm>
          <a:prstGeom prst="rect">
            <a:avLst/>
          </a:prstGeom>
          <a:noFill/>
        </p:spPr>
      </p:pic>
      <p:pic>
        <p:nvPicPr>
          <p:cNvPr id="27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BABDEB1B-C0BF-46E9-A486-F8718F7A6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246357" y="5010202"/>
            <a:ext cx="527556" cy="431636"/>
          </a:xfrm>
          <a:prstGeom prst="rect">
            <a:avLst/>
          </a:prstGeom>
          <a:noFill/>
        </p:spPr>
      </p:pic>
      <p:pic>
        <p:nvPicPr>
          <p:cNvPr id="28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84E390D9-BA39-4301-8474-9BB1DCC56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568029" y="5010202"/>
            <a:ext cx="527556" cy="431636"/>
          </a:xfrm>
          <a:prstGeom prst="rect">
            <a:avLst/>
          </a:prstGeom>
          <a:noFill/>
        </p:spPr>
      </p:pic>
      <p:pic>
        <p:nvPicPr>
          <p:cNvPr id="29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05812BDA-AD84-4E50-A166-54BE0DC1D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940909" y="5010202"/>
            <a:ext cx="527556" cy="431636"/>
          </a:xfrm>
          <a:prstGeom prst="rect">
            <a:avLst/>
          </a:prstGeom>
          <a:noFill/>
        </p:spPr>
      </p:pic>
      <p:pic>
        <p:nvPicPr>
          <p:cNvPr id="30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B352BB65-9CDE-42A5-8CEF-959A7B415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77630" y="5492804"/>
            <a:ext cx="527556" cy="431636"/>
          </a:xfrm>
          <a:prstGeom prst="rect">
            <a:avLst/>
          </a:prstGeom>
          <a:noFill/>
        </p:spPr>
      </p:pic>
      <p:cxnSp>
        <p:nvCxnSpPr>
          <p:cNvPr id="31" name="Straight Connector 93">
            <a:extLst>
              <a:ext uri="{FF2B5EF4-FFF2-40B4-BE49-F238E27FC236}">
                <a16:creationId xmlns="" xmlns:a16="http://schemas.microsoft.com/office/drawing/2014/main" id="{EF78C856-58B7-491F-9BC6-86F765499FA9}"/>
              </a:ext>
            </a:extLst>
          </p:cNvPr>
          <p:cNvCxnSpPr>
            <a:stCxn id="26" idx="3"/>
            <a:endCxn id="27" idx="1"/>
          </p:cNvCxnSpPr>
          <p:nvPr/>
        </p:nvCxnSpPr>
        <p:spPr bwMode="gray">
          <a:xfrm>
            <a:off x="3339726" y="5226020"/>
            <a:ext cx="90663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96">
            <a:extLst>
              <a:ext uri="{FF2B5EF4-FFF2-40B4-BE49-F238E27FC236}">
                <a16:creationId xmlns="" xmlns:a16="http://schemas.microsoft.com/office/drawing/2014/main" id="{29638150-59AC-44DC-AFBF-5658C634A3AA}"/>
              </a:ext>
            </a:extLst>
          </p:cNvPr>
          <p:cNvCxnSpPr>
            <a:stCxn id="27" idx="2"/>
            <a:endCxn id="30" idx="1"/>
          </p:cNvCxnSpPr>
          <p:nvPr/>
        </p:nvCxnSpPr>
        <p:spPr bwMode="gray">
          <a:xfrm>
            <a:off x="4510135" y="5441838"/>
            <a:ext cx="1367495" cy="26678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99">
            <a:extLst>
              <a:ext uri="{FF2B5EF4-FFF2-40B4-BE49-F238E27FC236}">
                <a16:creationId xmlns="" xmlns:a16="http://schemas.microsoft.com/office/drawing/2014/main" id="{91E3AA11-AC94-4F87-A84A-6F8975C35105}"/>
              </a:ext>
            </a:extLst>
          </p:cNvPr>
          <p:cNvCxnSpPr>
            <a:stCxn id="28" idx="2"/>
            <a:endCxn id="30" idx="3"/>
          </p:cNvCxnSpPr>
          <p:nvPr/>
        </p:nvCxnSpPr>
        <p:spPr bwMode="gray">
          <a:xfrm flipH="1">
            <a:off x="6405186" y="5441838"/>
            <a:ext cx="1426621" cy="26678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102">
            <a:extLst>
              <a:ext uri="{FF2B5EF4-FFF2-40B4-BE49-F238E27FC236}">
                <a16:creationId xmlns="" xmlns:a16="http://schemas.microsoft.com/office/drawing/2014/main" id="{46DF3CAD-2B56-41A9-8404-BD4034D4196E}"/>
              </a:ext>
            </a:extLst>
          </p:cNvPr>
          <p:cNvCxnSpPr>
            <a:stCxn id="29" idx="1"/>
            <a:endCxn id="28" idx="3"/>
          </p:cNvCxnSpPr>
          <p:nvPr/>
        </p:nvCxnSpPr>
        <p:spPr bwMode="gray">
          <a:xfrm flipH="1">
            <a:off x="8095585" y="5226020"/>
            <a:ext cx="84532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Can 225">
            <a:extLst>
              <a:ext uri="{FF2B5EF4-FFF2-40B4-BE49-F238E27FC236}">
                <a16:creationId xmlns="" xmlns:a16="http://schemas.microsoft.com/office/drawing/2014/main" id="{25EE25C9-5C2E-431A-A816-B7EF881840BF}"/>
              </a:ext>
            </a:extLst>
          </p:cNvPr>
          <p:cNvSpPr/>
          <p:nvPr/>
        </p:nvSpPr>
        <p:spPr bwMode="gray">
          <a:xfrm rot="5400000">
            <a:off x="6044372" y="4142794"/>
            <a:ext cx="253196" cy="2177651"/>
          </a:xfrm>
          <a:prstGeom prst="can">
            <a:avLst/>
          </a:prstGeom>
          <a:gradFill flip="none" rotWithShape="1">
            <a:gsLst>
              <a:gs pos="0">
                <a:srgbClr val="66CCFF"/>
              </a:gs>
              <a:gs pos="61000">
                <a:srgbClr val="0066CC"/>
              </a:gs>
              <a:gs pos="100000">
                <a:srgbClr val="33CCFF"/>
              </a:gs>
            </a:gsLst>
            <a:lin ang="0" scaled="1"/>
            <a:tileRect/>
          </a:gradFill>
          <a:ln w="9525"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Text Box 7">
            <a:extLst>
              <a:ext uri="{FF2B5EF4-FFF2-40B4-BE49-F238E27FC236}">
                <a16:creationId xmlns="" xmlns:a16="http://schemas.microsoft.com/office/drawing/2014/main" id="{1C3AB591-4BB9-4E3E-BC8D-BEFF007CB4E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734466" y="5060921"/>
            <a:ext cx="1058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Regular" panose="020B0503040504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</a:t>
            </a:r>
          </a:p>
        </p:txBody>
      </p:sp>
      <p:sp>
        <p:nvSpPr>
          <p:cNvPr id="37" name="Can 9">
            <a:extLst>
              <a:ext uri="{FF2B5EF4-FFF2-40B4-BE49-F238E27FC236}">
                <a16:creationId xmlns="" xmlns:a16="http://schemas.microsoft.com/office/drawing/2014/main" id="{7D03D54C-CF51-4613-8E67-6B1FEE3EE11B}"/>
              </a:ext>
            </a:extLst>
          </p:cNvPr>
          <p:cNvSpPr/>
          <p:nvPr/>
        </p:nvSpPr>
        <p:spPr bwMode="gray">
          <a:xfrm rot="5400000">
            <a:off x="7285510" y="5090422"/>
            <a:ext cx="166151" cy="286914"/>
          </a:xfrm>
          <a:prstGeom prst="can">
            <a:avLst/>
          </a:prstGeom>
          <a:gradFill flip="none" rotWithShape="1">
            <a:gsLst>
              <a:gs pos="0">
                <a:srgbClr val="FFFFCC"/>
              </a:gs>
              <a:gs pos="61000">
                <a:srgbClr val="FF6600"/>
              </a:gs>
              <a:gs pos="100000">
                <a:srgbClr val="FF9966"/>
              </a:gs>
            </a:gsLst>
            <a:lin ang="0" scaled="1"/>
            <a:tileRect/>
          </a:gradFill>
          <a:ln w="952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4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DAA1D7E-CE57-459B-8718-17A0096127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传统广域</a:t>
            </a:r>
            <a:r>
              <a:rPr lang="en-US" altLang="zh-CN">
                <a:sym typeface="Huawei Sans" panose="020C0503030203020204" pitchFamily="34" charset="0"/>
              </a:rPr>
              <a:t>L3VPN</a:t>
            </a:r>
            <a:r>
              <a:rPr lang="zh-CN" altLang="en-US">
                <a:sym typeface="Huawei Sans" panose="020C0503030203020204" pitchFamily="34" charset="0"/>
              </a:rPr>
              <a:t>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B23FEDF-6825-46EA-915D-497D5221C3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传统广域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一般特指</a:t>
            </a:r>
            <a:r>
              <a:rPr lang="en-US" altLang="zh-CN" sz="1800" dirty="0">
                <a:sym typeface="Huawei Sans" panose="020C0503030203020204" pitchFamily="34" charset="0"/>
              </a:rPr>
              <a:t>BGP/MPLS L3 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它区分控制平面和数据平面。控制平面使用</a:t>
            </a:r>
            <a:r>
              <a:rPr lang="en-US" altLang="zh-CN" sz="1800" dirty="0">
                <a:sym typeface="Huawei Sans" panose="020C0503030203020204" pitchFamily="34" charset="0"/>
              </a:rPr>
              <a:t>MP-BGP</a:t>
            </a:r>
            <a:r>
              <a:rPr lang="zh-CN" altLang="en-US" sz="1800" dirty="0">
                <a:sym typeface="Huawei Sans" panose="020C0503030203020204" pitchFamily="34" charset="0"/>
              </a:rPr>
              <a:t>发布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路由，数据平面使用</a:t>
            </a:r>
            <a:r>
              <a:rPr lang="en-US" altLang="zh-CN" sz="1800" dirty="0">
                <a:sym typeface="Huawei Sans" panose="020C0503030203020204" pitchFamily="34" charset="0"/>
              </a:rPr>
              <a:t>MPLS LSP</a:t>
            </a:r>
            <a:r>
              <a:rPr lang="zh-CN" altLang="en-US" sz="1800" dirty="0">
                <a:sym typeface="Huawei Sans" panose="020C0503030203020204" pitchFamily="34" charset="0"/>
              </a:rPr>
              <a:t>转发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报文。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BGP/MPLS L3 VPN</a:t>
            </a:r>
            <a:r>
              <a:rPr lang="zh-CN" altLang="en-US" sz="1800" dirty="0">
                <a:sym typeface="Huawei Sans" panose="020C0503030203020204" pitchFamily="34" charset="0"/>
              </a:rPr>
              <a:t>被广泛用于运营商网络，为企业提供</a:t>
            </a:r>
            <a:r>
              <a:rPr lang="en-US" altLang="zh-CN" sz="1800" dirty="0">
                <a:sym typeface="Huawei Sans" panose="020C0503030203020204" pitchFamily="34" charset="0"/>
              </a:rPr>
              <a:t>MPLS L3</a:t>
            </a:r>
            <a:r>
              <a:rPr lang="zh-CN" altLang="en-US" sz="1800" dirty="0">
                <a:sym typeface="Huawei Sans" panose="020C0503030203020204" pitchFamily="34" charset="0"/>
              </a:rPr>
              <a:t>专线业务。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="" xmlns:a16="http://schemas.microsoft.com/office/drawing/2014/main" id="{A6FC5BD2-EB9D-41EC-B298-36D8CBC63876}"/>
              </a:ext>
            </a:extLst>
          </p:cNvPr>
          <p:cNvSpPr/>
          <p:nvPr/>
        </p:nvSpPr>
        <p:spPr bwMode="gray">
          <a:xfrm>
            <a:off x="3660552" y="4347726"/>
            <a:ext cx="4651316" cy="1420622"/>
          </a:xfrm>
          <a:prstGeom prst="roundRect">
            <a:avLst/>
          </a:prstGeom>
          <a:solidFill>
            <a:srgbClr val="F3FBFE"/>
          </a:solidFill>
          <a:ln w="28575" cap="flat" cmpd="sng" algn="ctr">
            <a:solidFill>
              <a:srgbClr val="99DFF9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112BF95E-C9F9-4A40-8039-62B883B8D4C2}"/>
              </a:ext>
            </a:extLst>
          </p:cNvPr>
          <p:cNvSpPr txBox="1"/>
          <p:nvPr/>
        </p:nvSpPr>
        <p:spPr bwMode="gray">
          <a:xfrm>
            <a:off x="5449350" y="4438707"/>
            <a:ext cx="910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0BB3CEE0-34FA-42C2-B5BF-7A5FF8925C4D}"/>
              </a:ext>
            </a:extLst>
          </p:cNvPr>
          <p:cNvCxnSpPr>
            <a:stCxn id="14" idx="3"/>
            <a:endCxn id="11" idx="1"/>
          </p:cNvCxnSpPr>
          <p:nvPr/>
        </p:nvCxnSpPr>
        <p:spPr bwMode="gray">
          <a:xfrm>
            <a:off x="4426183" y="5085894"/>
            <a:ext cx="31217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4221E480-0A06-4057-A92E-0689BB72E6FD}"/>
              </a:ext>
            </a:extLst>
          </p:cNvPr>
          <p:cNvGrpSpPr/>
          <p:nvPr/>
        </p:nvGrpSpPr>
        <p:grpSpPr bwMode="gray">
          <a:xfrm>
            <a:off x="5717077" y="4864985"/>
            <a:ext cx="540000" cy="787426"/>
            <a:chOff x="5312873" y="4947622"/>
            <a:chExt cx="540000" cy="787426"/>
          </a:xfrm>
        </p:grpSpPr>
        <p:pic>
          <p:nvPicPr>
            <p:cNvPr id="8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CCA3B82C-C914-47DA-B14C-794C83333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312873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9" name="文本框 8">
              <a:extLst>
                <a:ext uri="{FF2B5EF4-FFF2-40B4-BE49-F238E27FC236}">
                  <a16:creationId xmlns="" xmlns:a16="http://schemas.microsoft.com/office/drawing/2014/main" id="{4EBF082E-B7CF-45E7-9D14-66C73975AFAE}"/>
                </a:ext>
              </a:extLst>
            </p:cNvPr>
            <p:cNvSpPr txBox="1"/>
            <p:nvPr/>
          </p:nvSpPr>
          <p:spPr bwMode="gray">
            <a:xfrm>
              <a:off x="5436839" y="5427271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="" xmlns:a16="http://schemas.microsoft.com/office/drawing/2014/main" id="{A2E61B80-F9D0-40D7-88C0-735F3A98659B}"/>
              </a:ext>
            </a:extLst>
          </p:cNvPr>
          <p:cNvGrpSpPr/>
          <p:nvPr/>
        </p:nvGrpSpPr>
        <p:grpSpPr bwMode="gray">
          <a:xfrm>
            <a:off x="7547971" y="4864985"/>
            <a:ext cx="540000" cy="791004"/>
            <a:chOff x="8062138" y="4947622"/>
            <a:chExt cx="540000" cy="791004"/>
          </a:xfrm>
        </p:grpSpPr>
        <p:pic>
          <p:nvPicPr>
            <p:cNvPr id="11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0BEF6827-7E7C-477F-AC0B-F3ED1A6827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8062138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2" name="文本框 11">
              <a:extLst>
                <a:ext uri="{FF2B5EF4-FFF2-40B4-BE49-F238E27FC236}">
                  <a16:creationId xmlns="" xmlns:a16="http://schemas.microsoft.com/office/drawing/2014/main" id="{1227438F-A779-428E-996D-790EDC0D7B0C}"/>
                </a:ext>
              </a:extLst>
            </p:cNvPr>
            <p:cNvSpPr txBox="1"/>
            <p:nvPr/>
          </p:nvSpPr>
          <p:spPr bwMode="gray">
            <a:xfrm>
              <a:off x="8084306" y="5430849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16425229-8AC8-4FAB-87C2-081C1A6E250B}"/>
              </a:ext>
            </a:extLst>
          </p:cNvPr>
          <p:cNvGrpSpPr/>
          <p:nvPr/>
        </p:nvGrpSpPr>
        <p:grpSpPr bwMode="gray">
          <a:xfrm>
            <a:off x="3886183" y="4864985"/>
            <a:ext cx="540000" cy="787426"/>
            <a:chOff x="4088571" y="4947622"/>
            <a:chExt cx="540000" cy="787426"/>
          </a:xfrm>
        </p:grpSpPr>
        <p:pic>
          <p:nvPicPr>
            <p:cNvPr id="14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923156E3-A48B-4D04-86AA-A8D6B072D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88571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5" name="文本框 14">
              <a:extLst>
                <a:ext uri="{FF2B5EF4-FFF2-40B4-BE49-F238E27FC236}">
                  <a16:creationId xmlns="" xmlns:a16="http://schemas.microsoft.com/office/drawing/2014/main" id="{43C092C2-30F0-46A3-829F-357C312B8419}"/>
                </a:ext>
              </a:extLst>
            </p:cNvPr>
            <p:cNvSpPr txBox="1"/>
            <p:nvPr/>
          </p:nvSpPr>
          <p:spPr bwMode="gray">
            <a:xfrm>
              <a:off x="4109945" y="5427271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="" xmlns:a16="http://schemas.microsoft.com/office/drawing/2014/main" id="{AE897EBB-57B4-469B-BB29-811755DA2D91}"/>
              </a:ext>
            </a:extLst>
          </p:cNvPr>
          <p:cNvGrpSpPr/>
          <p:nvPr/>
        </p:nvGrpSpPr>
        <p:grpSpPr bwMode="gray">
          <a:xfrm>
            <a:off x="2044602" y="4862001"/>
            <a:ext cx="550687" cy="788775"/>
            <a:chOff x="4073209" y="4947622"/>
            <a:chExt cx="550687" cy="788775"/>
          </a:xfrm>
        </p:grpSpPr>
        <p:pic>
          <p:nvPicPr>
            <p:cNvPr id="17" name="Picture 12" descr="E:\2016.01\1.12 扁平化图标\蓝色\AR-蓝色最新-40.png">
              <a:extLst>
                <a:ext uri="{FF2B5EF4-FFF2-40B4-BE49-F238E27FC236}">
                  <a16:creationId xmlns="" xmlns:a16="http://schemas.microsoft.com/office/drawing/2014/main" id="{2555A4EE-F44A-4C06-8874-6C5DCC2D4F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73209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8" name="文本框 17">
              <a:extLst>
                <a:ext uri="{FF2B5EF4-FFF2-40B4-BE49-F238E27FC236}">
                  <a16:creationId xmlns="" xmlns:a16="http://schemas.microsoft.com/office/drawing/2014/main" id="{BD68AEF6-477A-4170-AC64-C0E7163E8FF9}"/>
                </a:ext>
              </a:extLst>
            </p:cNvPr>
            <p:cNvSpPr txBox="1"/>
            <p:nvPr/>
          </p:nvSpPr>
          <p:spPr bwMode="gray">
            <a:xfrm>
              <a:off x="4121835" y="5428620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9" name="圆角矩形 19">
            <a:extLst>
              <a:ext uri="{FF2B5EF4-FFF2-40B4-BE49-F238E27FC236}">
                <a16:creationId xmlns="" xmlns:a16="http://schemas.microsoft.com/office/drawing/2014/main" id="{AF07A716-48C4-4C96-BAA9-8EDDDB9BD3F3}"/>
              </a:ext>
            </a:extLst>
          </p:cNvPr>
          <p:cNvSpPr/>
          <p:nvPr/>
        </p:nvSpPr>
        <p:spPr bwMode="gray">
          <a:xfrm>
            <a:off x="736633" y="4360426"/>
            <a:ext cx="2150922" cy="1369823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3DCD6AF0-7369-4E60-938A-D10A3EF4E6A7}"/>
              </a:ext>
            </a:extLst>
          </p:cNvPr>
          <p:cNvCxnSpPr>
            <a:stCxn id="17" idx="3"/>
            <a:endCxn id="14" idx="1"/>
          </p:cNvCxnSpPr>
          <p:nvPr/>
        </p:nvCxnSpPr>
        <p:spPr bwMode="gray">
          <a:xfrm>
            <a:off x="2584602" y="5082910"/>
            <a:ext cx="1301581" cy="2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BDCED825-CE81-47BB-85E3-3D55735ECA55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 bwMode="gray">
          <a:xfrm flipV="1">
            <a:off x="8087971" y="5082910"/>
            <a:ext cx="1290893" cy="2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96BE55C0-3A5A-464E-9F66-29C8C7B5185D}"/>
              </a:ext>
            </a:extLst>
          </p:cNvPr>
          <p:cNvSpPr txBox="1"/>
          <p:nvPr/>
        </p:nvSpPr>
        <p:spPr bwMode="gray">
          <a:xfrm>
            <a:off x="1031936" y="4473251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EB24641C-61D3-4EC8-B03A-0A8B1CCC2DEE}"/>
              </a:ext>
            </a:extLst>
          </p:cNvPr>
          <p:cNvSpPr txBox="1"/>
          <p:nvPr/>
        </p:nvSpPr>
        <p:spPr bwMode="gray">
          <a:xfrm>
            <a:off x="895101" y="4933352"/>
            <a:ext cx="1124026" cy="35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用户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="" xmlns:a16="http://schemas.microsoft.com/office/drawing/2014/main" id="{A482CAA0-17B3-4EF4-9910-3DF2D698A2A3}"/>
              </a:ext>
            </a:extLst>
          </p:cNvPr>
          <p:cNvCxnSpPr>
            <a:cxnSpLocks/>
          </p:cNvCxnSpPr>
          <p:nvPr/>
        </p:nvCxnSpPr>
        <p:spPr bwMode="gray">
          <a:xfrm>
            <a:off x="3686217" y="3415086"/>
            <a:ext cx="4406839" cy="0"/>
          </a:xfrm>
          <a:prstGeom prst="straightConnector1">
            <a:avLst/>
          </a:prstGeom>
          <a:ln w="31750">
            <a:solidFill>
              <a:srgbClr val="8BC9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629B28C6-677E-4762-ACA3-22A39078A1E7}"/>
              </a:ext>
            </a:extLst>
          </p:cNvPr>
          <p:cNvSpPr txBox="1"/>
          <p:nvPr/>
        </p:nvSpPr>
        <p:spPr bwMode="gray">
          <a:xfrm rot="21593967">
            <a:off x="3757588" y="2875034"/>
            <a:ext cx="1388522" cy="307777"/>
          </a:xfrm>
          <a:prstGeom prst="rect">
            <a:avLst/>
          </a:prstGeom>
          <a:noFill/>
          <a:ln w="31750">
            <a:solidFill>
              <a:srgbClr val="8BC9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6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ACDD6261-107C-485D-B673-5684FD596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378864" y="4862001"/>
            <a:ext cx="540000" cy="441818"/>
          </a:xfrm>
          <a:prstGeom prst="rect">
            <a:avLst/>
          </a:prstGeom>
          <a:noFill/>
        </p:spPr>
      </p:pic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CF325099-8A94-4947-8B45-A3FF3A130077}"/>
              </a:ext>
            </a:extLst>
          </p:cNvPr>
          <p:cNvSpPr txBox="1"/>
          <p:nvPr/>
        </p:nvSpPr>
        <p:spPr bwMode="gray">
          <a:xfrm>
            <a:off x="9391917" y="5341650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圆角矩形 19">
            <a:extLst>
              <a:ext uri="{FF2B5EF4-FFF2-40B4-BE49-F238E27FC236}">
                <a16:creationId xmlns="" xmlns:a16="http://schemas.microsoft.com/office/drawing/2014/main" id="{782AFD0B-2233-485C-999F-1B4D8ED8F4EB}"/>
              </a:ext>
            </a:extLst>
          </p:cNvPr>
          <p:cNvSpPr/>
          <p:nvPr/>
        </p:nvSpPr>
        <p:spPr bwMode="gray">
          <a:xfrm>
            <a:off x="9092069" y="4360426"/>
            <a:ext cx="2046988" cy="1369823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60C44D0A-28DD-47AD-ACD9-DE14D8A8E586}"/>
              </a:ext>
            </a:extLst>
          </p:cNvPr>
          <p:cNvSpPr txBox="1"/>
          <p:nvPr/>
        </p:nvSpPr>
        <p:spPr bwMode="gray">
          <a:xfrm>
            <a:off x="9459710" y="4473251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D233C381-AFC0-4E08-8470-3757AAA8251D}"/>
              </a:ext>
            </a:extLst>
          </p:cNvPr>
          <p:cNvSpPr txBox="1"/>
          <p:nvPr/>
        </p:nvSpPr>
        <p:spPr bwMode="gray">
          <a:xfrm>
            <a:off x="9932475" y="4933352"/>
            <a:ext cx="1114408" cy="35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用户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BC14C651-61A9-4BED-A34D-B43107C7A79C}"/>
              </a:ext>
            </a:extLst>
          </p:cNvPr>
          <p:cNvSpPr txBox="1"/>
          <p:nvPr/>
        </p:nvSpPr>
        <p:spPr bwMode="gray">
          <a:xfrm rot="21593967">
            <a:off x="6807501" y="2875035"/>
            <a:ext cx="1388522" cy="307777"/>
          </a:xfrm>
          <a:prstGeom prst="rect">
            <a:avLst/>
          </a:prstGeom>
          <a:noFill/>
          <a:ln w="31750">
            <a:solidFill>
              <a:srgbClr val="8BC9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Oval 4">
            <a:extLst>
              <a:ext uri="{FF2B5EF4-FFF2-40B4-BE49-F238E27FC236}">
                <a16:creationId xmlns="" xmlns:a16="http://schemas.microsoft.com/office/drawing/2014/main" id="{62A8FB2A-9C9F-4190-9B13-DCF7AEE4242F}"/>
              </a:ext>
            </a:extLst>
          </p:cNvPr>
          <p:cNvSpPr>
            <a:spLocks noChangeAspect="1"/>
          </p:cNvSpPr>
          <p:nvPr/>
        </p:nvSpPr>
        <p:spPr bwMode="gray">
          <a:xfrm>
            <a:off x="3031986" y="2938840"/>
            <a:ext cx="252000" cy="252000"/>
          </a:xfrm>
          <a:prstGeom prst="ellipse">
            <a:avLst/>
          </a:prstGeom>
          <a:solidFill>
            <a:srgbClr val="81C15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Oval 4">
            <a:extLst>
              <a:ext uri="{FF2B5EF4-FFF2-40B4-BE49-F238E27FC236}">
                <a16:creationId xmlns="" xmlns:a16="http://schemas.microsoft.com/office/drawing/2014/main" id="{494E6D5C-7F4B-4276-9312-88A69D4A00F6}"/>
              </a:ext>
            </a:extLst>
          </p:cNvPr>
          <p:cNvSpPr>
            <a:spLocks noChangeAspect="1"/>
          </p:cNvSpPr>
          <p:nvPr/>
        </p:nvSpPr>
        <p:spPr bwMode="gray">
          <a:xfrm>
            <a:off x="3031986" y="3716011"/>
            <a:ext cx="252000" cy="252000"/>
          </a:xfrm>
          <a:prstGeom prst="ellipse">
            <a:avLst/>
          </a:prstGeom>
          <a:solidFill>
            <a:srgbClr val="81C15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="" xmlns:a16="http://schemas.microsoft.com/office/drawing/2014/main" id="{0FB1F7DB-9644-450B-BFDB-029586C37678}"/>
              </a:ext>
            </a:extLst>
          </p:cNvPr>
          <p:cNvCxnSpPr>
            <a:cxnSpLocks/>
          </p:cNvCxnSpPr>
          <p:nvPr/>
        </p:nvCxnSpPr>
        <p:spPr bwMode="gray">
          <a:xfrm>
            <a:off x="3675594" y="4058024"/>
            <a:ext cx="4406839" cy="0"/>
          </a:xfrm>
          <a:prstGeom prst="straightConnector1">
            <a:avLst/>
          </a:prstGeom>
          <a:ln w="31750">
            <a:solidFill>
              <a:srgbClr val="8BC9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27C95CD5-8849-4061-A3A2-677EA89D1677}"/>
              </a:ext>
            </a:extLst>
          </p:cNvPr>
          <p:cNvSpPr txBox="1"/>
          <p:nvPr/>
        </p:nvSpPr>
        <p:spPr bwMode="gray">
          <a:xfrm>
            <a:off x="5216312" y="2879140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传递路由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CDD84B49-99AF-4E69-A23E-33C7F3A926EC}"/>
              </a:ext>
            </a:extLst>
          </p:cNvPr>
          <p:cNvSpPr txBox="1"/>
          <p:nvPr/>
        </p:nvSpPr>
        <p:spPr bwMode="gray">
          <a:xfrm>
            <a:off x="5252181" y="3619147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报文转发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64599D1C-AF5D-4F00-888D-CD1A8B879360}"/>
              </a:ext>
            </a:extLst>
          </p:cNvPr>
          <p:cNvSpPr txBox="1"/>
          <p:nvPr/>
        </p:nvSpPr>
        <p:spPr bwMode="gray">
          <a:xfrm>
            <a:off x="1720939" y="2939419"/>
            <a:ext cx="902811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控制平面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6ECBFB07-232C-4FAE-BCE5-4D7DD81E212F}"/>
              </a:ext>
            </a:extLst>
          </p:cNvPr>
          <p:cNvSpPr txBox="1"/>
          <p:nvPr/>
        </p:nvSpPr>
        <p:spPr bwMode="gray">
          <a:xfrm>
            <a:off x="1720939" y="3663243"/>
            <a:ext cx="902811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数据平面</a:t>
            </a:r>
          </a:p>
        </p:txBody>
      </p:sp>
    </p:spTree>
    <p:extLst>
      <p:ext uri="{BB962C8B-B14F-4D97-AF65-F5344CB8AC3E}">
        <p14:creationId xmlns:p14="http://schemas.microsoft.com/office/powerpoint/2010/main" val="147612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DAA1D7E-CE57-459B-8718-17A0096127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B23FEDF-6825-46EA-915D-497D5221C3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最初被设计为一个基于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扩展的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技术，但是随着协议的扩展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同时还能支持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能够很好地作为广域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控制平面，可以与传统的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技术结合，例如</a:t>
            </a:r>
            <a:r>
              <a:rPr lang="en-US" altLang="zh-CN" sz="1800" dirty="0">
                <a:sym typeface="Huawei Sans" panose="020C0503030203020204" pitchFamily="34" charset="0"/>
              </a:rPr>
              <a:t>EVPN VPLS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EVPN VPWS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EVPN L3VPN</a:t>
            </a:r>
            <a:r>
              <a:rPr lang="zh-CN" altLang="en-US" sz="1800" dirty="0">
                <a:sym typeface="Huawei Sans" panose="020C0503030203020204" pitchFamily="34" charset="0"/>
              </a:rPr>
              <a:t>等。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="" xmlns:a16="http://schemas.microsoft.com/office/drawing/2014/main" id="{E4488863-F014-4A71-965D-76ABAAF91702}"/>
              </a:ext>
            </a:extLst>
          </p:cNvPr>
          <p:cNvSpPr/>
          <p:nvPr/>
        </p:nvSpPr>
        <p:spPr bwMode="gray">
          <a:xfrm>
            <a:off x="3802837" y="2511943"/>
            <a:ext cx="1267968" cy="5159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VPLS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A848CDCF-835E-434C-BD27-2535F2EBA076}"/>
              </a:ext>
            </a:extLst>
          </p:cNvPr>
          <p:cNvSpPr/>
          <p:nvPr/>
        </p:nvSpPr>
        <p:spPr bwMode="gray">
          <a:xfrm>
            <a:off x="6079820" y="2511943"/>
            <a:ext cx="1267968" cy="5159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VPWS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="" xmlns:a16="http://schemas.microsoft.com/office/drawing/2014/main" id="{981B85C6-A362-40C0-AE16-B0818BBA9FCD}"/>
              </a:ext>
            </a:extLst>
          </p:cNvPr>
          <p:cNvSpPr/>
          <p:nvPr/>
        </p:nvSpPr>
        <p:spPr bwMode="gray">
          <a:xfrm>
            <a:off x="8356803" y="2511943"/>
            <a:ext cx="1267968" cy="5159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427ACC16-3F0F-4D50-AFD0-D48B24EBEBD8}"/>
              </a:ext>
            </a:extLst>
          </p:cNvPr>
          <p:cNvSpPr txBox="1"/>
          <p:nvPr/>
        </p:nvSpPr>
        <p:spPr bwMode="gray">
          <a:xfrm>
            <a:off x="1463992" y="2599909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传统广域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圆角矩形 33">
            <a:extLst>
              <a:ext uri="{FF2B5EF4-FFF2-40B4-BE49-F238E27FC236}">
                <a16:creationId xmlns="" xmlns:a16="http://schemas.microsoft.com/office/drawing/2014/main" id="{15121319-EA3E-43F7-9345-14FCCBF98ADE}"/>
              </a:ext>
            </a:extLst>
          </p:cNvPr>
          <p:cNvSpPr/>
          <p:nvPr/>
        </p:nvSpPr>
        <p:spPr bwMode="gray">
          <a:xfrm>
            <a:off x="1094690" y="3267759"/>
            <a:ext cx="9423400" cy="2633822"/>
          </a:xfrm>
          <a:prstGeom prst="roundRect">
            <a:avLst/>
          </a:prstGeom>
          <a:solidFill>
            <a:srgbClr val="FEEEC1"/>
          </a:solidFill>
          <a:ln w="19050" algn="ctr">
            <a:solidFill>
              <a:schemeClr val="bg1">
                <a:lumMod val="65000"/>
              </a:schemeClr>
            </a:solidFill>
            <a:prstDash val="dash"/>
            <a:round/>
            <a:headEnd/>
            <a:tailEnd/>
          </a:ln>
        </p:spPr>
        <p:txBody>
          <a:bodyPr wrap="none" lIns="75083" tIns="39042" rIns="75083" bIns="39042"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="" xmlns:a16="http://schemas.microsoft.com/office/drawing/2014/main" id="{4E55B52C-6687-4A2E-A3DA-A423373CEC8A}"/>
              </a:ext>
            </a:extLst>
          </p:cNvPr>
          <p:cNvSpPr/>
          <p:nvPr/>
        </p:nvSpPr>
        <p:spPr bwMode="gray">
          <a:xfrm>
            <a:off x="3924423" y="3428585"/>
            <a:ext cx="939382" cy="525651"/>
          </a:xfrm>
          <a:prstGeom prst="ellipse">
            <a:avLst/>
          </a:prstGeom>
          <a:solidFill>
            <a:srgbClr val="81C15F"/>
          </a:soli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</a:p>
          <a:p>
            <a:pPr algn="ctr"/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VPLS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="" xmlns:a16="http://schemas.microsoft.com/office/drawing/2014/main" id="{D6826F61-72E5-419E-A220-55E3041E7E12}"/>
              </a:ext>
            </a:extLst>
          </p:cNvPr>
          <p:cNvSpPr/>
          <p:nvPr/>
        </p:nvSpPr>
        <p:spPr bwMode="gray">
          <a:xfrm>
            <a:off x="6205000" y="3425735"/>
            <a:ext cx="1007950" cy="525651"/>
          </a:xfrm>
          <a:prstGeom prst="ellipse">
            <a:avLst/>
          </a:prstGeom>
          <a:solidFill>
            <a:srgbClr val="81C15F"/>
          </a:soli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</a:p>
          <a:p>
            <a:pPr algn="ctr"/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VPWS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="" xmlns:a16="http://schemas.microsoft.com/office/drawing/2014/main" id="{43E93759-F2C7-467B-9FD5-94A8AA4F3801}"/>
              </a:ext>
            </a:extLst>
          </p:cNvPr>
          <p:cNvSpPr/>
          <p:nvPr/>
        </p:nvSpPr>
        <p:spPr bwMode="gray">
          <a:xfrm>
            <a:off x="8435283" y="3398524"/>
            <a:ext cx="1043419" cy="525651"/>
          </a:xfrm>
          <a:prstGeom prst="ellipse">
            <a:avLst/>
          </a:prstGeom>
          <a:solidFill>
            <a:srgbClr val="81C15F"/>
          </a:soli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</a:p>
          <a:p>
            <a:pPr algn="ctr"/>
            <a:r>
              <a:rPr lang="en-US" altLang="zh-CN" sz="140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L3VPN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="" xmlns:a16="http://schemas.microsoft.com/office/drawing/2014/main" id="{4DEE0C37-C1B2-41BC-AFED-655BAA69BA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714819" y="4022061"/>
            <a:ext cx="1388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400" b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RFC7432</a:t>
            </a:r>
          </a:p>
          <a:p>
            <a:pPr algn="ctr"/>
            <a:r>
              <a:rPr lang="en-US" altLang="zh-CN" sz="1400" b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Basic Standard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="" xmlns:a16="http://schemas.microsoft.com/office/drawing/2014/main" id="{6EF57E4C-81A4-484D-BDB8-7325F2E166AE}"/>
              </a:ext>
            </a:extLst>
          </p:cNvPr>
          <p:cNvSpPr/>
          <p:nvPr/>
        </p:nvSpPr>
        <p:spPr bwMode="gray">
          <a:xfrm>
            <a:off x="6067786" y="4113829"/>
            <a:ext cx="13014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RFC8214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24B263C9-4D78-4B0C-806E-7BB3652CDDB9}"/>
              </a:ext>
            </a:extLst>
          </p:cNvPr>
          <p:cNvSpPr/>
          <p:nvPr/>
        </p:nvSpPr>
        <p:spPr bwMode="gray">
          <a:xfrm>
            <a:off x="7774904" y="4066689"/>
            <a:ext cx="24215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draft-ietf-bess-evpn-prefix-advertisement-05 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="" xmlns:a16="http://schemas.microsoft.com/office/drawing/2014/main" id="{8CD9BF34-A6F5-4E7D-9D54-80FDE939DD06}"/>
              </a:ext>
            </a:extLst>
          </p:cNvPr>
          <p:cNvSpPr/>
          <p:nvPr/>
        </p:nvSpPr>
        <p:spPr bwMode="gray">
          <a:xfrm>
            <a:off x="6248814" y="5148622"/>
            <a:ext cx="939382" cy="525651"/>
          </a:xfrm>
          <a:prstGeom prst="ellipse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400" b="1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754964DD-92C3-42B6-8392-8550217F8F77}"/>
              </a:ext>
            </a:extLst>
          </p:cNvPr>
          <p:cNvCxnSpPr>
            <a:cxnSpLocks/>
            <a:stCxn id="49" idx="1"/>
          </p:cNvCxnSpPr>
          <p:nvPr/>
        </p:nvCxnSpPr>
        <p:spPr bwMode="gray">
          <a:xfrm flipH="1" flipV="1">
            <a:off x="4409080" y="4691585"/>
            <a:ext cx="1977303" cy="534017"/>
          </a:xfrm>
          <a:prstGeom prst="straightConnector1">
            <a:avLst/>
          </a:prstGeom>
          <a:ln w="1905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="" xmlns:a16="http://schemas.microsoft.com/office/drawing/2014/main" id="{AA20F33A-F9C5-40B3-A629-4FBC2A1CB19F}"/>
              </a:ext>
            </a:extLst>
          </p:cNvPr>
          <p:cNvCxnSpPr>
            <a:cxnSpLocks/>
            <a:stCxn id="49" idx="0"/>
          </p:cNvCxnSpPr>
          <p:nvPr/>
        </p:nvCxnSpPr>
        <p:spPr bwMode="gray">
          <a:xfrm flipV="1">
            <a:off x="6718505" y="4567910"/>
            <a:ext cx="0" cy="580712"/>
          </a:xfrm>
          <a:prstGeom prst="straightConnector1">
            <a:avLst/>
          </a:prstGeom>
          <a:ln w="1905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="" xmlns:a16="http://schemas.microsoft.com/office/drawing/2014/main" id="{AA620800-9D82-4D7B-B23E-DEEB358D1753}"/>
              </a:ext>
            </a:extLst>
          </p:cNvPr>
          <p:cNvCxnSpPr>
            <a:cxnSpLocks/>
            <a:stCxn id="49" idx="7"/>
          </p:cNvCxnSpPr>
          <p:nvPr/>
        </p:nvCxnSpPr>
        <p:spPr bwMode="gray">
          <a:xfrm flipV="1">
            <a:off x="7050627" y="4736213"/>
            <a:ext cx="1935044" cy="489389"/>
          </a:xfrm>
          <a:prstGeom prst="straightConnector1">
            <a:avLst/>
          </a:prstGeom>
          <a:ln w="1905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="" xmlns:a16="http://schemas.microsoft.com/office/drawing/2014/main" id="{E1390316-C898-4FF9-8D24-729130936EB2}"/>
              </a:ext>
            </a:extLst>
          </p:cNvPr>
          <p:cNvSpPr/>
          <p:nvPr/>
        </p:nvSpPr>
        <p:spPr bwMode="gray">
          <a:xfrm>
            <a:off x="1213972" y="5242996"/>
            <a:ext cx="4915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EVPN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标准逐渐成熟和完善控制面，统一所有业务。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6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BF29D88-E404-4371-8804-17765B64877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应用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F03A1AE-858C-4E22-9CC1-A6D5C4C6BF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在广域网可以与多种隧道技术结合，支持多种应用场景。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如图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作为控制平面协议，可以与</a:t>
            </a:r>
            <a:r>
              <a:rPr lang="en-US" altLang="zh-CN" sz="1800" dirty="0">
                <a:sym typeface="Huawei Sans" panose="020C0503030203020204" pitchFamily="34" charset="0"/>
              </a:rPr>
              <a:t>MPLS LDP</a:t>
            </a:r>
            <a:r>
              <a:rPr lang="zh-CN" altLang="en-US" sz="1800" dirty="0">
                <a:sym typeface="Huawei Sans" panose="020C0503030203020204" pitchFamily="34" charset="0"/>
              </a:rPr>
              <a:t>隧道、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隧道、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隧道和</a:t>
            </a:r>
            <a:r>
              <a:rPr lang="en-US" altLang="zh-CN" sz="1800" dirty="0">
                <a:sym typeface="Huawei Sans" panose="020C0503030203020204" pitchFamily="34" charset="0"/>
              </a:rPr>
              <a:t>SRv6</a:t>
            </a:r>
            <a:r>
              <a:rPr lang="zh-CN" altLang="en-US" sz="1800" dirty="0">
                <a:sym typeface="Huawei Sans" panose="020C0503030203020204" pitchFamily="34" charset="0"/>
              </a:rPr>
              <a:t>隧道结合。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在华为设备上，无论是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还是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业务，都使用一个地址族。</a:t>
            </a:r>
          </a:p>
        </p:txBody>
      </p:sp>
      <p:sp>
        <p:nvSpPr>
          <p:cNvPr id="4" name="圆角矩形 7">
            <a:extLst>
              <a:ext uri="{FF2B5EF4-FFF2-40B4-BE49-F238E27FC236}">
                <a16:creationId xmlns="" xmlns:a16="http://schemas.microsoft.com/office/drawing/2014/main" id="{49A88863-97D7-4D93-AE45-333A94AB9B1C}"/>
              </a:ext>
            </a:extLst>
          </p:cNvPr>
          <p:cNvSpPr/>
          <p:nvPr/>
        </p:nvSpPr>
        <p:spPr bwMode="gray">
          <a:xfrm>
            <a:off x="3428824" y="4186710"/>
            <a:ext cx="5142005" cy="1775071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16D3C7F-2E51-4688-8E17-ABBCA5A86EAE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 bwMode="gray">
          <a:xfrm flipV="1">
            <a:off x="2188129" y="4814297"/>
            <a:ext cx="7502798" cy="9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75BFD560-10F2-45C7-BE75-66922C060760}"/>
              </a:ext>
            </a:extLst>
          </p:cNvPr>
          <p:cNvSpPr txBox="1"/>
          <p:nvPr/>
        </p:nvSpPr>
        <p:spPr bwMode="gray">
          <a:xfrm>
            <a:off x="5584600" y="564097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F897448E-81AE-4F8C-86F7-392071C7F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355352" y="4593388"/>
            <a:ext cx="540000" cy="441818"/>
          </a:xfrm>
          <a:prstGeom prst="rect">
            <a:avLst/>
          </a:prstGeom>
          <a:noFill/>
        </p:spPr>
      </p:pic>
      <p:pic>
        <p:nvPicPr>
          <p:cNvPr id="8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1E55670B-00CC-456E-8EDC-A7021EE8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107034" y="4593388"/>
            <a:ext cx="540000" cy="441818"/>
          </a:xfrm>
          <a:prstGeom prst="rect">
            <a:avLst/>
          </a:prstGeom>
          <a:noFill/>
        </p:spPr>
      </p:pic>
      <p:pic>
        <p:nvPicPr>
          <p:cNvPr id="9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78CCC99F-E62D-4B27-A3F8-061194B8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39246" y="4593388"/>
            <a:ext cx="540000" cy="441818"/>
          </a:xfrm>
          <a:prstGeom prst="rect">
            <a:avLst/>
          </a:prstGeom>
          <a:noFill/>
        </p:spPr>
      </p:pic>
      <p:pic>
        <p:nvPicPr>
          <p:cNvPr id="10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57AD7717-6A80-4822-88C9-F61C3F0C5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523140" y="4593388"/>
            <a:ext cx="540000" cy="441818"/>
          </a:xfrm>
          <a:prstGeom prst="rect">
            <a:avLst/>
          </a:prstGeom>
          <a:noFill/>
        </p:spPr>
      </p:pic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6A7C73AB-8A71-4344-9784-D9D394DE7600}"/>
              </a:ext>
            </a:extLst>
          </p:cNvPr>
          <p:cNvSpPr txBox="1"/>
          <p:nvPr/>
        </p:nvSpPr>
        <p:spPr bwMode="gray">
          <a:xfrm>
            <a:off x="5051490" y="508573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0FEB062A-62EE-4A1D-8548-D1B74F28100B}"/>
              </a:ext>
            </a:extLst>
          </p:cNvPr>
          <p:cNvSpPr txBox="1"/>
          <p:nvPr/>
        </p:nvSpPr>
        <p:spPr bwMode="gray">
          <a:xfrm>
            <a:off x="6704730" y="5085737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AFF96BAF-5053-4A43-9726-6C7930F72902}"/>
              </a:ext>
            </a:extLst>
          </p:cNvPr>
          <p:cNvSpPr txBox="1"/>
          <p:nvPr/>
        </p:nvSpPr>
        <p:spPr bwMode="gray">
          <a:xfrm>
            <a:off x="8177773" y="508573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8676FF0-3F9B-4FE9-9CDA-89DD5978C000}"/>
              </a:ext>
            </a:extLst>
          </p:cNvPr>
          <p:cNvSpPr txBox="1"/>
          <p:nvPr/>
        </p:nvSpPr>
        <p:spPr bwMode="gray">
          <a:xfrm>
            <a:off x="3428824" y="5085737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88930ACF-49F1-4F5C-A752-B798481F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648129" y="4594309"/>
            <a:ext cx="540000" cy="441818"/>
          </a:xfrm>
          <a:prstGeom prst="rect">
            <a:avLst/>
          </a:prstGeom>
          <a:noFill/>
        </p:spPr>
      </p:pic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C99D0CB5-E4B9-4E0D-A24E-F75D26E3C63D}"/>
              </a:ext>
            </a:extLst>
          </p:cNvPr>
          <p:cNvSpPr txBox="1"/>
          <p:nvPr/>
        </p:nvSpPr>
        <p:spPr bwMode="gray">
          <a:xfrm>
            <a:off x="1719196" y="5004986"/>
            <a:ext cx="397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7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E5B6F761-79C6-403D-A410-9D9E560AB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690927" y="4593388"/>
            <a:ext cx="540000" cy="441818"/>
          </a:xfrm>
          <a:prstGeom prst="rect">
            <a:avLst/>
          </a:prstGeom>
          <a:noFill/>
        </p:spPr>
      </p:pic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756E4F81-9BA0-4E4C-A3B2-0C4FCBC8A442}"/>
              </a:ext>
            </a:extLst>
          </p:cNvPr>
          <p:cNvSpPr txBox="1"/>
          <p:nvPr/>
        </p:nvSpPr>
        <p:spPr bwMode="gray">
          <a:xfrm>
            <a:off x="9800025" y="5085737"/>
            <a:ext cx="397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3" name="表格 13">
            <a:extLst>
              <a:ext uri="{FF2B5EF4-FFF2-40B4-BE49-F238E27FC236}">
                <a16:creationId xmlns="" xmlns:a16="http://schemas.microsoft.com/office/drawing/2014/main" id="{7A059255-24B7-4E92-852D-495C4FD63B2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82727" y="2856903"/>
          <a:ext cx="1532736" cy="11582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32736">
                  <a:extLst>
                    <a:ext uri="{9D8B030D-6E8A-4147-A177-3AD203B41FA5}">
                      <a16:colId xmlns="" xmlns:a16="http://schemas.microsoft.com/office/drawing/2014/main" val="1201483477"/>
                    </a:ext>
                  </a:extLst>
                </a:gridCol>
              </a:tblGrid>
              <a:tr h="243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L3VPNv4</a:t>
                      </a:r>
                      <a:endParaRPr lang="zh-CN" altLang="en-US" sz="1300" b="1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706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76972496"/>
                  </a:ext>
                </a:extLst>
              </a:tr>
              <a:tr h="243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L3VPNv6</a:t>
                      </a:r>
                      <a:endParaRPr lang="zh-CN" altLang="en-US" sz="1300" b="1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88294078"/>
                  </a:ext>
                </a:extLst>
              </a:tr>
              <a:tr h="243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VPLS</a:t>
                      </a:r>
                      <a:endParaRPr lang="zh-CN" altLang="en-US" sz="1300" b="1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93790808"/>
                  </a:ext>
                </a:extLst>
              </a:tr>
              <a:tr h="2434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VPWS</a:t>
                      </a:r>
                      <a:endParaRPr lang="zh-CN" altLang="en-US" sz="1300" b="1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05341"/>
                  </a:ext>
                </a:extLst>
              </a:tr>
            </a:tbl>
          </a:graphicData>
        </a:graphic>
      </p:graphicFrame>
      <p:sp>
        <p:nvSpPr>
          <p:cNvPr id="29" name="任意多边形: 形状 28">
            <a:extLst>
              <a:ext uri="{FF2B5EF4-FFF2-40B4-BE49-F238E27FC236}">
                <a16:creationId xmlns="" xmlns:a16="http://schemas.microsoft.com/office/drawing/2014/main" id="{C89BE629-8F66-4923-97EC-82EFA888D4AA}"/>
              </a:ext>
            </a:extLst>
          </p:cNvPr>
          <p:cNvSpPr/>
          <p:nvPr/>
        </p:nvSpPr>
        <p:spPr bwMode="gray">
          <a:xfrm rot="20527292">
            <a:off x="3682463" y="3783076"/>
            <a:ext cx="1312219" cy="296686"/>
          </a:xfrm>
          <a:custGeom>
            <a:avLst/>
            <a:gdLst>
              <a:gd name="connsiteX0" fmla="*/ 1092200 w 1092200"/>
              <a:gd name="connsiteY0" fmla="*/ 0 h 279400"/>
              <a:gd name="connsiteX1" fmla="*/ 368300 w 1092200"/>
              <a:gd name="connsiteY1" fmla="*/ 88900 h 279400"/>
              <a:gd name="connsiteX2" fmla="*/ 0 w 1092200"/>
              <a:gd name="connsiteY2" fmla="*/ 279400 h 279400"/>
              <a:gd name="connsiteX0" fmla="*/ 1092200 w 1092200"/>
              <a:gd name="connsiteY0" fmla="*/ 6619 h 286019"/>
              <a:gd name="connsiteX1" fmla="*/ 495300 w 1092200"/>
              <a:gd name="connsiteY1" fmla="*/ 19319 h 286019"/>
              <a:gd name="connsiteX2" fmla="*/ 0 w 1092200"/>
              <a:gd name="connsiteY2" fmla="*/ 286019 h 286019"/>
              <a:gd name="connsiteX0" fmla="*/ 1092200 w 1092200"/>
              <a:gd name="connsiteY0" fmla="*/ 0 h 279400"/>
              <a:gd name="connsiteX1" fmla="*/ 469900 w 1092200"/>
              <a:gd name="connsiteY1" fmla="*/ 25400 h 279400"/>
              <a:gd name="connsiteX2" fmla="*/ 0 w 1092200"/>
              <a:gd name="connsiteY2" fmla="*/ 279400 h 279400"/>
              <a:gd name="connsiteX0" fmla="*/ 1092200 w 1092200"/>
              <a:gd name="connsiteY0" fmla="*/ 17286 h 296686"/>
              <a:gd name="connsiteX1" fmla="*/ 469900 w 1092200"/>
              <a:gd name="connsiteY1" fmla="*/ 42686 h 296686"/>
              <a:gd name="connsiteX2" fmla="*/ 0 w 1092200"/>
              <a:gd name="connsiteY2" fmla="*/ 296686 h 2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2200" h="296686">
                <a:moveTo>
                  <a:pt x="1092200" y="17286"/>
                </a:moveTo>
                <a:cubicBezTo>
                  <a:pt x="745066" y="-12348"/>
                  <a:pt x="651933" y="-3881"/>
                  <a:pt x="469900" y="42686"/>
                </a:cubicBezTo>
                <a:cubicBezTo>
                  <a:pt x="287867" y="89253"/>
                  <a:pt x="6350" y="271286"/>
                  <a:pt x="0" y="296686"/>
                </a:cubicBezTo>
              </a:path>
            </a:pathLst>
          </a:custGeom>
          <a:noFill/>
          <a:ln w="38100">
            <a:solidFill>
              <a:srgbClr val="30B5C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="" xmlns:a16="http://schemas.microsoft.com/office/drawing/2014/main" id="{A2694E42-FFC6-4D80-8576-C83D278E367C}"/>
              </a:ext>
            </a:extLst>
          </p:cNvPr>
          <p:cNvGrpSpPr/>
          <p:nvPr/>
        </p:nvGrpSpPr>
        <p:grpSpPr bwMode="gray">
          <a:xfrm>
            <a:off x="3927269" y="4321169"/>
            <a:ext cx="4179765" cy="1294897"/>
            <a:chOff x="3822300" y="4292636"/>
            <a:chExt cx="4533715" cy="1571754"/>
          </a:xfrm>
        </p:grpSpPr>
        <p:sp>
          <p:nvSpPr>
            <p:cNvPr id="32" name="Can 9">
              <a:extLst>
                <a:ext uri="{FF2B5EF4-FFF2-40B4-BE49-F238E27FC236}">
                  <a16:creationId xmlns="" xmlns:a16="http://schemas.microsoft.com/office/drawing/2014/main" id="{96B24D84-EC90-4D74-8BD0-B3C7BBAA3B2E}"/>
                </a:ext>
              </a:extLst>
            </p:cNvPr>
            <p:cNvSpPr/>
            <p:nvPr/>
          </p:nvSpPr>
          <p:spPr bwMode="gray">
            <a:xfrm rot="5400000">
              <a:off x="5935269" y="3414681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>
                <a:alpha val="4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Can 9">
              <a:extLst>
                <a:ext uri="{FF2B5EF4-FFF2-40B4-BE49-F238E27FC236}">
                  <a16:creationId xmlns="" xmlns:a16="http://schemas.microsoft.com/office/drawing/2014/main" id="{C4C8A2E9-04BD-4714-8441-583D5CEE0008}"/>
                </a:ext>
              </a:extLst>
            </p:cNvPr>
            <p:cNvSpPr/>
            <p:nvPr/>
          </p:nvSpPr>
          <p:spPr bwMode="gray">
            <a:xfrm rot="5400000">
              <a:off x="5935269" y="3003009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>
                <a:alpha val="4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Can 9">
              <a:extLst>
                <a:ext uri="{FF2B5EF4-FFF2-40B4-BE49-F238E27FC236}">
                  <a16:creationId xmlns="" xmlns:a16="http://schemas.microsoft.com/office/drawing/2014/main" id="{8078BF11-EFD6-422D-9CA5-F254AEFCDF45}"/>
                </a:ext>
              </a:extLst>
            </p:cNvPr>
            <p:cNvSpPr/>
            <p:nvPr/>
          </p:nvSpPr>
          <p:spPr bwMode="gray">
            <a:xfrm rot="5400000">
              <a:off x="5935269" y="2591338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>
                <a:alpha val="4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="" xmlns:a16="http://schemas.microsoft.com/office/drawing/2014/main" id="{AD7802A4-3621-4EA2-A0F1-F699DDB7ED94}"/>
                </a:ext>
              </a:extLst>
            </p:cNvPr>
            <p:cNvSpPr txBox="1"/>
            <p:nvPr/>
          </p:nvSpPr>
          <p:spPr bwMode="gray">
            <a:xfrm>
              <a:off x="4827425" y="5528167"/>
              <a:ext cx="2523605" cy="336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endParaRPr lang="zh-CN" altLang="en-US" sz="12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Can 9">
              <a:extLst>
                <a:ext uri="{FF2B5EF4-FFF2-40B4-BE49-F238E27FC236}">
                  <a16:creationId xmlns="" xmlns:a16="http://schemas.microsoft.com/office/drawing/2014/main" id="{B4EF9153-D8BC-4AAC-88F2-63CE9BBD1F71}"/>
                </a:ext>
              </a:extLst>
            </p:cNvPr>
            <p:cNvSpPr/>
            <p:nvPr/>
          </p:nvSpPr>
          <p:spPr bwMode="gray">
            <a:xfrm rot="5400000">
              <a:off x="5935269" y="2179667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>
                <a:alpha val="40000"/>
              </a:srgb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="" xmlns:a16="http://schemas.microsoft.com/office/drawing/2014/main" id="{6B49A648-4EF0-427D-ACA2-6AD5A0484877}"/>
                </a:ext>
              </a:extLst>
            </p:cNvPr>
            <p:cNvSpPr txBox="1"/>
            <p:nvPr/>
          </p:nvSpPr>
          <p:spPr bwMode="gray">
            <a:xfrm>
              <a:off x="4768050" y="5132234"/>
              <a:ext cx="2523605" cy="336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TE</a:t>
              </a:r>
              <a:endParaRPr lang="zh-CN" altLang="en-US" sz="12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="" xmlns:a16="http://schemas.microsoft.com/office/drawing/2014/main" id="{0A698C2E-416B-453F-8A60-72E76DDF1F21}"/>
                </a:ext>
              </a:extLst>
            </p:cNvPr>
            <p:cNvSpPr txBox="1"/>
            <p:nvPr/>
          </p:nvSpPr>
          <p:spPr bwMode="gray">
            <a:xfrm>
              <a:off x="4807724" y="4702309"/>
              <a:ext cx="2523605" cy="336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SR-MPLS</a:t>
              </a:r>
              <a:endParaRPr lang="zh-CN" altLang="en-US" sz="12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="" xmlns:a16="http://schemas.microsoft.com/office/drawing/2014/main" id="{3779C087-AAF0-4FDC-A84F-94795F629182}"/>
                </a:ext>
              </a:extLst>
            </p:cNvPr>
            <p:cNvSpPr txBox="1"/>
            <p:nvPr/>
          </p:nvSpPr>
          <p:spPr bwMode="gray">
            <a:xfrm>
              <a:off x="4733774" y="4305196"/>
              <a:ext cx="2523605" cy="336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SRv6</a:t>
              </a:r>
              <a:endParaRPr lang="zh-CN" altLang="en-US" sz="12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="" xmlns:a16="http://schemas.microsoft.com/office/drawing/2014/main" id="{998416A8-96C4-44E9-9592-B9E814954978}"/>
              </a:ext>
            </a:extLst>
          </p:cNvPr>
          <p:cNvSpPr/>
          <p:nvPr/>
        </p:nvSpPr>
        <p:spPr bwMode="gray">
          <a:xfrm rot="666928" flipH="1">
            <a:off x="6865698" y="3697857"/>
            <a:ext cx="1446577" cy="321091"/>
          </a:xfrm>
          <a:custGeom>
            <a:avLst/>
            <a:gdLst>
              <a:gd name="connsiteX0" fmla="*/ 1092200 w 1092200"/>
              <a:gd name="connsiteY0" fmla="*/ 0 h 279400"/>
              <a:gd name="connsiteX1" fmla="*/ 368300 w 1092200"/>
              <a:gd name="connsiteY1" fmla="*/ 88900 h 279400"/>
              <a:gd name="connsiteX2" fmla="*/ 0 w 1092200"/>
              <a:gd name="connsiteY2" fmla="*/ 279400 h 279400"/>
              <a:gd name="connsiteX0" fmla="*/ 1092200 w 1092200"/>
              <a:gd name="connsiteY0" fmla="*/ 6619 h 286019"/>
              <a:gd name="connsiteX1" fmla="*/ 495300 w 1092200"/>
              <a:gd name="connsiteY1" fmla="*/ 19319 h 286019"/>
              <a:gd name="connsiteX2" fmla="*/ 0 w 1092200"/>
              <a:gd name="connsiteY2" fmla="*/ 286019 h 286019"/>
              <a:gd name="connsiteX0" fmla="*/ 1092200 w 1092200"/>
              <a:gd name="connsiteY0" fmla="*/ 0 h 279400"/>
              <a:gd name="connsiteX1" fmla="*/ 469900 w 1092200"/>
              <a:gd name="connsiteY1" fmla="*/ 25400 h 279400"/>
              <a:gd name="connsiteX2" fmla="*/ 0 w 1092200"/>
              <a:gd name="connsiteY2" fmla="*/ 279400 h 279400"/>
              <a:gd name="connsiteX0" fmla="*/ 1092200 w 1092200"/>
              <a:gd name="connsiteY0" fmla="*/ 17286 h 296686"/>
              <a:gd name="connsiteX1" fmla="*/ 469900 w 1092200"/>
              <a:gd name="connsiteY1" fmla="*/ 42686 h 296686"/>
              <a:gd name="connsiteX2" fmla="*/ 0 w 1092200"/>
              <a:gd name="connsiteY2" fmla="*/ 296686 h 2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2200" h="296686">
                <a:moveTo>
                  <a:pt x="1092200" y="17286"/>
                </a:moveTo>
                <a:cubicBezTo>
                  <a:pt x="745066" y="-12348"/>
                  <a:pt x="651933" y="-3881"/>
                  <a:pt x="469900" y="42686"/>
                </a:cubicBezTo>
                <a:cubicBezTo>
                  <a:pt x="287867" y="89253"/>
                  <a:pt x="6350" y="271286"/>
                  <a:pt x="0" y="296686"/>
                </a:cubicBezTo>
              </a:path>
            </a:pathLst>
          </a:custGeom>
          <a:noFill/>
          <a:ln w="38100">
            <a:solidFill>
              <a:srgbClr val="30B5C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83AAB6CB-9CB7-4F91-B650-98B6D0309D78}"/>
              </a:ext>
            </a:extLst>
          </p:cNvPr>
          <p:cNvSpPr txBox="1"/>
          <p:nvPr/>
        </p:nvSpPr>
        <p:spPr bwMode="gray">
          <a:xfrm>
            <a:off x="1111948" y="2837506"/>
            <a:ext cx="289102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[Router-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l2vpn-family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="" xmlns:a16="http://schemas.microsoft.com/office/drawing/2014/main" id="{A379E86B-AF58-45CD-873E-4FFD06F851FD}"/>
              </a:ext>
            </a:extLst>
          </p:cNvPr>
          <p:cNvCxnSpPr>
            <a:cxnSpLocks/>
            <a:stCxn id="43" idx="2"/>
            <a:endCxn id="7" idx="0"/>
          </p:cNvCxnSpPr>
          <p:nvPr/>
        </p:nvCxnSpPr>
        <p:spPr bwMode="gray">
          <a:xfrm>
            <a:off x="2557461" y="3576170"/>
            <a:ext cx="1067891" cy="101721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25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49E6D26-A7A7-4175-A35C-F7F5643E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小结：广域</a:t>
            </a:r>
            <a:r>
              <a:rPr lang="en-US" altLang="zh-CN">
                <a:sym typeface="Huawei Sans" panose="020C0503030203020204" pitchFamily="34" charset="0"/>
              </a:rPr>
              <a:t>VPN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3E567BC-C990-40A6-8D1A-2418F2B7C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技术被广泛用于企业各场景，可以基于</a:t>
            </a:r>
            <a:r>
              <a:rPr lang="en-US" altLang="zh-CN" sz="1800" dirty="0">
                <a:sym typeface="Huawei Sans" panose="020C0503030203020204" pitchFamily="34" charset="0"/>
              </a:rPr>
              <a:t>Internet</a:t>
            </a:r>
            <a:r>
              <a:rPr lang="zh-CN" altLang="en-US" sz="1800" dirty="0">
                <a:sym typeface="Huawei Sans" panose="020C0503030203020204" pitchFamily="34" charset="0"/>
              </a:rPr>
              <a:t>搭建，也可以基于专网搭建。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部署在企业自建的广域承载网上的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技术有传统的</a:t>
            </a:r>
            <a:r>
              <a:rPr lang="en-US" altLang="zh-CN" sz="1800" dirty="0">
                <a:sym typeface="Huawei Sans" panose="020C0503030203020204" pitchFamily="34" charset="0"/>
              </a:rPr>
              <a:t>L2VPN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VPWS</a:t>
            </a:r>
            <a:r>
              <a:rPr lang="zh-CN" altLang="en-US" sz="1800" dirty="0">
                <a:sym typeface="Huawei Sans" panose="020C0503030203020204" pitchFamily="34" charset="0"/>
              </a:rPr>
              <a:t>）、</a:t>
            </a:r>
            <a:r>
              <a:rPr lang="en-US" altLang="zh-CN" sz="1800" dirty="0">
                <a:sym typeface="Huawei Sans" panose="020C0503030203020204" pitchFamily="34" charset="0"/>
              </a:rPr>
              <a:t>L3VPN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BGP/MPLS IP VPN</a:t>
            </a:r>
            <a:r>
              <a:rPr lang="zh-CN" altLang="en-US" sz="1800" dirty="0">
                <a:sym typeface="Huawei Sans" panose="020C0503030203020204" pitchFamily="34" charset="0"/>
              </a:rPr>
              <a:t>）和融合</a:t>
            </a:r>
            <a:r>
              <a:rPr lang="en-US" altLang="zh-CN" sz="1800" dirty="0">
                <a:sym typeface="Huawei Sans" panose="020C0503030203020204" pitchFamily="34" charset="0"/>
              </a:rPr>
              <a:t>L2/L3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作为控制平面可以与不同承载技术（</a:t>
            </a:r>
            <a:r>
              <a:rPr lang="en-US" altLang="zh-CN" sz="1800" dirty="0">
                <a:sym typeface="Huawei Sans" panose="020C0503030203020204" pitchFamily="34" charset="0"/>
              </a:rPr>
              <a:t>MPLS LDP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SR-MPLS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SRv6</a:t>
            </a:r>
            <a:r>
              <a:rPr lang="zh-CN" altLang="en-US" sz="1800" dirty="0">
                <a:sym typeface="Huawei Sans" panose="020C0503030203020204" pitchFamily="34" charset="0"/>
              </a:rPr>
              <a:t>）结合，为企业提供融合、统一的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服务。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当企业广域承载网同时部署多种隧道技术时，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选择迭代隧道需要遵循一定的策略，即隧道策略。</a:t>
            </a:r>
          </a:p>
        </p:txBody>
      </p:sp>
    </p:spTree>
    <p:extLst>
      <p:ext uri="{BB962C8B-B14F-4D97-AF65-F5344CB8AC3E}">
        <p14:creationId xmlns:p14="http://schemas.microsoft.com/office/powerpoint/2010/main" val="865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z="1800" b="1" dirty="0">
                <a:sym typeface="Huawei Sans" panose="020C0503030203020204" pitchFamily="34" charset="0"/>
              </a:rPr>
              <a:t>VPN</a:t>
            </a:r>
            <a:r>
              <a:rPr lang="zh-CN" altLang="en-US" sz="1800" b="1" dirty="0">
                <a:sym typeface="Huawei Sans" panose="020C0503030203020204" pitchFamily="34" charset="0"/>
              </a:rPr>
              <a:t>业务</a:t>
            </a:r>
            <a:endParaRPr lang="en-US" altLang="zh-CN" sz="1800" b="1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介绍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zh-CN" altLang="en-US" sz="1600" dirty="0">
                <a:sym typeface="Huawei Sans" panose="020C0503030203020204" pitchFamily="34" charset="0"/>
              </a:rPr>
              <a:t>隧道管理介绍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</a:p>
          <a:p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73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21B593C-0B81-4BA6-B96F-592ACABCFDD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隧道管理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FCA8A910-17C9-4878-BD4C-D4DD291FC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隧道管理（</a:t>
            </a:r>
            <a:r>
              <a:rPr lang="en-US" altLang="zh-CN" sz="1600" dirty="0">
                <a:sym typeface="Huawei Sans" panose="020C0503030203020204" pitchFamily="34" charset="0"/>
              </a:rPr>
              <a:t>Tunnel Management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TNLM</a:t>
            </a:r>
            <a:r>
              <a:rPr lang="zh-CN" altLang="en-US" sz="1600" dirty="0">
                <a:sym typeface="Huawei Sans" panose="020C0503030203020204" pitchFamily="34" charset="0"/>
              </a:rPr>
              <a:t>）是华为设备为管理隧道而设立的一个模块。它将隧道的状态通报给使用隧道的应用程序，并根据相关的配置选择可用的隧道。</a:t>
            </a:r>
          </a:p>
          <a:p>
            <a:r>
              <a:rPr lang="zh-CN" altLang="en-US" sz="1600" dirty="0">
                <a:sym typeface="Huawei Sans" panose="020C0503030203020204" pitchFamily="34" charset="0"/>
              </a:rPr>
              <a:t>常用的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隧道有：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MPLS LDP</a:t>
            </a:r>
            <a:r>
              <a:rPr lang="zh-CN" altLang="en-US" sz="1600" dirty="0">
                <a:sym typeface="Huawei Sans" panose="020C0503030203020204" pitchFamily="34" charset="0"/>
              </a:rPr>
              <a:t>）、</a:t>
            </a:r>
            <a:r>
              <a:rPr lang="en-US" altLang="zh-CN" sz="1600" dirty="0">
                <a:sym typeface="Huawei Sans" panose="020C0503030203020204" pitchFamily="34" charset="0"/>
              </a:rPr>
              <a:t>MPLS TE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GRE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SR-MPLS Policy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SRv6 Policy</a:t>
            </a:r>
            <a:r>
              <a:rPr lang="zh-CN" altLang="en-US" sz="1600" dirty="0">
                <a:sym typeface="Huawei Sans" panose="020C0503030203020204" pitchFamily="34" charset="0"/>
              </a:rPr>
              <a:t>等。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隧道管理配置分为两个部分，配置隧道策略和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应用隧道策略。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9EA9C39B-5489-48F7-BA91-C5B6A9385C3E}"/>
              </a:ext>
            </a:extLst>
          </p:cNvPr>
          <p:cNvGrpSpPr/>
          <p:nvPr/>
        </p:nvGrpSpPr>
        <p:grpSpPr bwMode="gray">
          <a:xfrm>
            <a:off x="5968665" y="3514190"/>
            <a:ext cx="2753947" cy="1654238"/>
            <a:chOff x="3822300" y="4292636"/>
            <a:chExt cx="4533715" cy="1542791"/>
          </a:xfrm>
        </p:grpSpPr>
        <p:sp>
          <p:nvSpPr>
            <p:cNvPr id="5" name="Can 9">
              <a:extLst>
                <a:ext uri="{FF2B5EF4-FFF2-40B4-BE49-F238E27FC236}">
                  <a16:creationId xmlns="" xmlns:a16="http://schemas.microsoft.com/office/drawing/2014/main" id="{1D8AE603-9326-4F0E-A321-C1BCF6E0DC0E}"/>
                </a:ext>
              </a:extLst>
            </p:cNvPr>
            <p:cNvSpPr/>
            <p:nvPr/>
          </p:nvSpPr>
          <p:spPr bwMode="gray">
            <a:xfrm rot="5400000">
              <a:off x="5935269" y="3414681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Can 9">
              <a:extLst>
                <a:ext uri="{FF2B5EF4-FFF2-40B4-BE49-F238E27FC236}">
                  <a16:creationId xmlns="" xmlns:a16="http://schemas.microsoft.com/office/drawing/2014/main" id="{36D64334-F1DE-4078-A548-7A037E2DCB20}"/>
                </a:ext>
              </a:extLst>
            </p:cNvPr>
            <p:cNvSpPr/>
            <p:nvPr/>
          </p:nvSpPr>
          <p:spPr bwMode="gray">
            <a:xfrm rot="5400000">
              <a:off x="5935269" y="3003009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Can 9">
              <a:extLst>
                <a:ext uri="{FF2B5EF4-FFF2-40B4-BE49-F238E27FC236}">
                  <a16:creationId xmlns="" xmlns:a16="http://schemas.microsoft.com/office/drawing/2014/main" id="{C87A67C8-F43C-4629-AE9D-5379B8CDD9EB}"/>
                </a:ext>
              </a:extLst>
            </p:cNvPr>
            <p:cNvSpPr/>
            <p:nvPr/>
          </p:nvSpPr>
          <p:spPr bwMode="gray">
            <a:xfrm rot="5400000">
              <a:off x="5935269" y="2591338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E780059A-338B-42E8-B9BE-E5E9462DCD9A}"/>
                </a:ext>
              </a:extLst>
            </p:cNvPr>
            <p:cNvSpPr txBox="1"/>
            <p:nvPr/>
          </p:nvSpPr>
          <p:spPr bwMode="gray">
            <a:xfrm>
              <a:off x="4827425" y="5528167"/>
              <a:ext cx="2523606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Can 9">
              <a:extLst>
                <a:ext uri="{FF2B5EF4-FFF2-40B4-BE49-F238E27FC236}">
                  <a16:creationId xmlns="" xmlns:a16="http://schemas.microsoft.com/office/drawing/2014/main" id="{11FEE6E5-0297-42CB-8DC9-41C412D48B07}"/>
                </a:ext>
              </a:extLst>
            </p:cNvPr>
            <p:cNvSpPr/>
            <p:nvPr/>
          </p:nvSpPr>
          <p:spPr bwMode="gray">
            <a:xfrm rot="5400000">
              <a:off x="5935269" y="2179667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="" xmlns:a16="http://schemas.microsoft.com/office/drawing/2014/main" id="{20736A0F-64DB-417F-814F-80D0828EBEC9}"/>
                </a:ext>
              </a:extLst>
            </p:cNvPr>
            <p:cNvSpPr txBox="1"/>
            <p:nvPr/>
          </p:nvSpPr>
          <p:spPr bwMode="gray">
            <a:xfrm>
              <a:off x="4768050" y="5132234"/>
              <a:ext cx="2523606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TE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="" xmlns:a16="http://schemas.microsoft.com/office/drawing/2014/main" id="{77D9FB69-B5DA-4CFF-8E1B-411A5DCAE8BA}"/>
                </a:ext>
              </a:extLst>
            </p:cNvPr>
            <p:cNvSpPr txBox="1"/>
            <p:nvPr/>
          </p:nvSpPr>
          <p:spPr bwMode="gray">
            <a:xfrm>
              <a:off x="4807724" y="4702309"/>
              <a:ext cx="2523606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SR-MPLS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="" xmlns:a16="http://schemas.microsoft.com/office/drawing/2014/main" id="{D7AA6CC7-6303-4810-ACF8-BFD38BE4C584}"/>
                </a:ext>
              </a:extLst>
            </p:cNvPr>
            <p:cNvSpPr txBox="1"/>
            <p:nvPr/>
          </p:nvSpPr>
          <p:spPr bwMode="gray">
            <a:xfrm>
              <a:off x="4733774" y="4305196"/>
              <a:ext cx="2523606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SRv6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="" xmlns:a16="http://schemas.microsoft.com/office/drawing/2014/main" id="{B6027370-9850-41F0-9F2C-E03721CD54B3}"/>
              </a:ext>
            </a:extLst>
          </p:cNvPr>
          <p:cNvGrpSpPr/>
          <p:nvPr/>
        </p:nvGrpSpPr>
        <p:grpSpPr bwMode="gray">
          <a:xfrm>
            <a:off x="3673018" y="3293588"/>
            <a:ext cx="1008921" cy="2378261"/>
            <a:chOff x="3498883" y="3338494"/>
            <a:chExt cx="1153295" cy="2723563"/>
          </a:xfrm>
        </p:grpSpPr>
        <p:grpSp>
          <p:nvGrpSpPr>
            <p:cNvPr id="13" name="组合 12">
              <a:extLst>
                <a:ext uri="{FF2B5EF4-FFF2-40B4-BE49-F238E27FC236}">
                  <a16:creationId xmlns="" xmlns:a16="http://schemas.microsoft.com/office/drawing/2014/main" id="{95DE6BED-8B87-49D3-95AE-28CB9B20F43A}"/>
                </a:ext>
              </a:extLst>
            </p:cNvPr>
            <p:cNvGrpSpPr/>
            <p:nvPr/>
          </p:nvGrpSpPr>
          <p:grpSpPr bwMode="gray">
            <a:xfrm>
              <a:off x="3498883" y="3338494"/>
              <a:ext cx="1147441" cy="1044135"/>
              <a:chOff x="2941080" y="3489671"/>
              <a:chExt cx="1147441" cy="1044135"/>
            </a:xfrm>
          </p:grpSpPr>
          <p:sp>
            <p:nvSpPr>
              <p:cNvPr id="14" name="forms_324103">
                <a:extLst>
                  <a:ext uri="{FF2B5EF4-FFF2-40B4-BE49-F238E27FC236}">
                    <a16:creationId xmlns="" xmlns:a16="http://schemas.microsoft.com/office/drawing/2014/main" id="{0B340390-2ABF-4D45-BFDA-127487EC6D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27222" y="3489671"/>
                <a:ext cx="503319" cy="609685"/>
              </a:xfrm>
              <a:custGeom>
                <a:avLst/>
                <a:gdLst>
                  <a:gd name="connsiteX0" fmla="*/ 162114 w 500873"/>
                  <a:gd name="connsiteY0" fmla="*/ 359955 h 606722"/>
                  <a:gd name="connsiteX1" fmla="*/ 384486 w 500873"/>
                  <a:gd name="connsiteY1" fmla="*/ 359955 h 606722"/>
                  <a:gd name="connsiteX2" fmla="*/ 396860 w 500873"/>
                  <a:gd name="connsiteY2" fmla="*/ 372295 h 606722"/>
                  <a:gd name="connsiteX3" fmla="*/ 384486 w 500873"/>
                  <a:gd name="connsiteY3" fmla="*/ 384723 h 606722"/>
                  <a:gd name="connsiteX4" fmla="*/ 162114 w 500873"/>
                  <a:gd name="connsiteY4" fmla="*/ 384723 h 606722"/>
                  <a:gd name="connsiteX5" fmla="*/ 149740 w 500873"/>
                  <a:gd name="connsiteY5" fmla="*/ 372295 h 606722"/>
                  <a:gd name="connsiteX6" fmla="*/ 162114 w 500873"/>
                  <a:gd name="connsiteY6" fmla="*/ 359955 h 606722"/>
                  <a:gd name="connsiteX7" fmla="*/ 116452 w 500873"/>
                  <a:gd name="connsiteY7" fmla="*/ 359955 h 606722"/>
                  <a:gd name="connsiteX8" fmla="*/ 122058 w 500873"/>
                  <a:gd name="connsiteY8" fmla="*/ 359955 h 606722"/>
                  <a:gd name="connsiteX9" fmla="*/ 134427 w 500873"/>
                  <a:gd name="connsiteY9" fmla="*/ 372295 h 606722"/>
                  <a:gd name="connsiteX10" fmla="*/ 122058 w 500873"/>
                  <a:gd name="connsiteY10" fmla="*/ 384723 h 606722"/>
                  <a:gd name="connsiteX11" fmla="*/ 116452 w 500873"/>
                  <a:gd name="connsiteY11" fmla="*/ 384723 h 606722"/>
                  <a:gd name="connsiteX12" fmla="*/ 104084 w 500873"/>
                  <a:gd name="connsiteY12" fmla="*/ 372295 h 606722"/>
                  <a:gd name="connsiteX13" fmla="*/ 116452 w 500873"/>
                  <a:gd name="connsiteY13" fmla="*/ 359955 h 606722"/>
                  <a:gd name="connsiteX14" fmla="*/ 162114 w 500873"/>
                  <a:gd name="connsiteY14" fmla="*/ 303290 h 606722"/>
                  <a:gd name="connsiteX15" fmla="*/ 384486 w 500873"/>
                  <a:gd name="connsiteY15" fmla="*/ 303290 h 606722"/>
                  <a:gd name="connsiteX16" fmla="*/ 396860 w 500873"/>
                  <a:gd name="connsiteY16" fmla="*/ 315754 h 606722"/>
                  <a:gd name="connsiteX17" fmla="*/ 384486 w 500873"/>
                  <a:gd name="connsiteY17" fmla="*/ 328129 h 606722"/>
                  <a:gd name="connsiteX18" fmla="*/ 162114 w 500873"/>
                  <a:gd name="connsiteY18" fmla="*/ 328129 h 606722"/>
                  <a:gd name="connsiteX19" fmla="*/ 149740 w 500873"/>
                  <a:gd name="connsiteY19" fmla="*/ 315754 h 606722"/>
                  <a:gd name="connsiteX20" fmla="*/ 162114 w 500873"/>
                  <a:gd name="connsiteY20" fmla="*/ 303290 h 606722"/>
                  <a:gd name="connsiteX21" fmla="*/ 116452 w 500873"/>
                  <a:gd name="connsiteY21" fmla="*/ 303290 h 606722"/>
                  <a:gd name="connsiteX22" fmla="*/ 122058 w 500873"/>
                  <a:gd name="connsiteY22" fmla="*/ 303290 h 606722"/>
                  <a:gd name="connsiteX23" fmla="*/ 134427 w 500873"/>
                  <a:gd name="connsiteY23" fmla="*/ 315754 h 606722"/>
                  <a:gd name="connsiteX24" fmla="*/ 122058 w 500873"/>
                  <a:gd name="connsiteY24" fmla="*/ 328129 h 606722"/>
                  <a:gd name="connsiteX25" fmla="*/ 116452 w 500873"/>
                  <a:gd name="connsiteY25" fmla="*/ 328129 h 606722"/>
                  <a:gd name="connsiteX26" fmla="*/ 104084 w 500873"/>
                  <a:gd name="connsiteY26" fmla="*/ 315754 h 606722"/>
                  <a:gd name="connsiteX27" fmla="*/ 116452 w 500873"/>
                  <a:gd name="connsiteY27" fmla="*/ 303290 h 606722"/>
                  <a:gd name="connsiteX28" fmla="*/ 162114 w 500873"/>
                  <a:gd name="connsiteY28" fmla="*/ 246767 h 606722"/>
                  <a:gd name="connsiteX29" fmla="*/ 384486 w 500873"/>
                  <a:gd name="connsiteY29" fmla="*/ 246767 h 606722"/>
                  <a:gd name="connsiteX30" fmla="*/ 396860 w 500873"/>
                  <a:gd name="connsiteY30" fmla="*/ 259151 h 606722"/>
                  <a:gd name="connsiteX31" fmla="*/ 384486 w 500873"/>
                  <a:gd name="connsiteY31" fmla="*/ 271535 h 606722"/>
                  <a:gd name="connsiteX32" fmla="*/ 162114 w 500873"/>
                  <a:gd name="connsiteY32" fmla="*/ 271535 h 606722"/>
                  <a:gd name="connsiteX33" fmla="*/ 149740 w 500873"/>
                  <a:gd name="connsiteY33" fmla="*/ 259151 h 606722"/>
                  <a:gd name="connsiteX34" fmla="*/ 162114 w 500873"/>
                  <a:gd name="connsiteY34" fmla="*/ 246767 h 606722"/>
                  <a:gd name="connsiteX35" fmla="*/ 116452 w 500873"/>
                  <a:gd name="connsiteY35" fmla="*/ 246767 h 606722"/>
                  <a:gd name="connsiteX36" fmla="*/ 122058 w 500873"/>
                  <a:gd name="connsiteY36" fmla="*/ 246767 h 606722"/>
                  <a:gd name="connsiteX37" fmla="*/ 134427 w 500873"/>
                  <a:gd name="connsiteY37" fmla="*/ 259151 h 606722"/>
                  <a:gd name="connsiteX38" fmla="*/ 122058 w 500873"/>
                  <a:gd name="connsiteY38" fmla="*/ 271535 h 606722"/>
                  <a:gd name="connsiteX39" fmla="*/ 116452 w 500873"/>
                  <a:gd name="connsiteY39" fmla="*/ 271535 h 606722"/>
                  <a:gd name="connsiteX40" fmla="*/ 104084 w 500873"/>
                  <a:gd name="connsiteY40" fmla="*/ 259151 h 606722"/>
                  <a:gd name="connsiteX41" fmla="*/ 116452 w 500873"/>
                  <a:gd name="connsiteY41" fmla="*/ 246767 h 606722"/>
                  <a:gd name="connsiteX42" fmla="*/ 354029 w 500873"/>
                  <a:gd name="connsiteY42" fmla="*/ 42302 h 606722"/>
                  <a:gd name="connsiteX43" fmla="*/ 354029 w 500873"/>
                  <a:gd name="connsiteY43" fmla="*/ 111266 h 606722"/>
                  <a:gd name="connsiteX44" fmla="*/ 364352 w 500873"/>
                  <a:gd name="connsiteY44" fmla="*/ 136328 h 606722"/>
                  <a:gd name="connsiteX45" fmla="*/ 389449 w 500873"/>
                  <a:gd name="connsiteY45" fmla="*/ 146726 h 606722"/>
                  <a:gd name="connsiteX46" fmla="*/ 458600 w 500873"/>
                  <a:gd name="connsiteY46" fmla="*/ 146726 h 606722"/>
                  <a:gd name="connsiteX47" fmla="*/ 60250 w 500873"/>
                  <a:gd name="connsiteY47" fmla="*/ 24795 h 606722"/>
                  <a:gd name="connsiteX48" fmla="*/ 24830 w 500873"/>
                  <a:gd name="connsiteY48" fmla="*/ 60165 h 606722"/>
                  <a:gd name="connsiteX49" fmla="*/ 24830 w 500873"/>
                  <a:gd name="connsiteY49" fmla="*/ 546557 h 606722"/>
                  <a:gd name="connsiteX50" fmla="*/ 60250 w 500873"/>
                  <a:gd name="connsiteY50" fmla="*/ 581927 h 606722"/>
                  <a:gd name="connsiteX51" fmla="*/ 440623 w 500873"/>
                  <a:gd name="connsiteY51" fmla="*/ 581927 h 606722"/>
                  <a:gd name="connsiteX52" fmla="*/ 476132 w 500873"/>
                  <a:gd name="connsiteY52" fmla="*/ 546557 h 606722"/>
                  <a:gd name="connsiteX53" fmla="*/ 476132 w 500873"/>
                  <a:gd name="connsiteY53" fmla="*/ 171432 h 606722"/>
                  <a:gd name="connsiteX54" fmla="*/ 389449 w 500873"/>
                  <a:gd name="connsiteY54" fmla="*/ 171432 h 606722"/>
                  <a:gd name="connsiteX55" fmla="*/ 346820 w 500873"/>
                  <a:gd name="connsiteY55" fmla="*/ 153835 h 606722"/>
                  <a:gd name="connsiteX56" fmla="*/ 329199 w 500873"/>
                  <a:gd name="connsiteY56" fmla="*/ 111266 h 606722"/>
                  <a:gd name="connsiteX57" fmla="*/ 329199 w 500873"/>
                  <a:gd name="connsiteY57" fmla="*/ 24795 h 606722"/>
                  <a:gd name="connsiteX58" fmla="*/ 60250 w 500873"/>
                  <a:gd name="connsiteY58" fmla="*/ 0 h 606722"/>
                  <a:gd name="connsiteX59" fmla="*/ 341569 w 500873"/>
                  <a:gd name="connsiteY59" fmla="*/ 0 h 606722"/>
                  <a:gd name="connsiteX60" fmla="*/ 350380 w 500873"/>
                  <a:gd name="connsiteY60" fmla="*/ 3643 h 606722"/>
                  <a:gd name="connsiteX61" fmla="*/ 497313 w 500873"/>
                  <a:gd name="connsiteY61" fmla="*/ 150369 h 606722"/>
                  <a:gd name="connsiteX62" fmla="*/ 500873 w 500873"/>
                  <a:gd name="connsiteY62" fmla="*/ 159079 h 606722"/>
                  <a:gd name="connsiteX63" fmla="*/ 500873 w 500873"/>
                  <a:gd name="connsiteY63" fmla="*/ 546557 h 606722"/>
                  <a:gd name="connsiteX64" fmla="*/ 440623 w 500873"/>
                  <a:gd name="connsiteY64" fmla="*/ 606722 h 606722"/>
                  <a:gd name="connsiteX65" fmla="*/ 60250 w 500873"/>
                  <a:gd name="connsiteY65" fmla="*/ 606722 h 606722"/>
                  <a:gd name="connsiteX66" fmla="*/ 0 w 500873"/>
                  <a:gd name="connsiteY66" fmla="*/ 546557 h 606722"/>
                  <a:gd name="connsiteX67" fmla="*/ 0 w 500873"/>
                  <a:gd name="connsiteY67" fmla="*/ 60165 h 606722"/>
                  <a:gd name="connsiteX68" fmla="*/ 60250 w 500873"/>
                  <a:gd name="connsiteY68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00873" h="606722">
                    <a:moveTo>
                      <a:pt x="162114" y="359955"/>
                    </a:moveTo>
                    <a:lnTo>
                      <a:pt x="384486" y="359955"/>
                    </a:lnTo>
                    <a:cubicBezTo>
                      <a:pt x="391252" y="359955"/>
                      <a:pt x="396860" y="365459"/>
                      <a:pt x="396860" y="372295"/>
                    </a:cubicBezTo>
                    <a:cubicBezTo>
                      <a:pt x="396860" y="379130"/>
                      <a:pt x="391252" y="384723"/>
                      <a:pt x="384486" y="384723"/>
                    </a:cubicBezTo>
                    <a:lnTo>
                      <a:pt x="162114" y="384723"/>
                    </a:lnTo>
                    <a:cubicBezTo>
                      <a:pt x="155260" y="384723"/>
                      <a:pt x="149740" y="379130"/>
                      <a:pt x="149740" y="372295"/>
                    </a:cubicBezTo>
                    <a:cubicBezTo>
                      <a:pt x="149740" y="365459"/>
                      <a:pt x="155260" y="359955"/>
                      <a:pt x="162114" y="359955"/>
                    </a:cubicBezTo>
                    <a:close/>
                    <a:moveTo>
                      <a:pt x="116452" y="359955"/>
                    </a:moveTo>
                    <a:lnTo>
                      <a:pt x="122058" y="359955"/>
                    </a:lnTo>
                    <a:cubicBezTo>
                      <a:pt x="128821" y="359955"/>
                      <a:pt x="134427" y="365459"/>
                      <a:pt x="134427" y="372295"/>
                    </a:cubicBezTo>
                    <a:cubicBezTo>
                      <a:pt x="134427" y="379130"/>
                      <a:pt x="128821" y="384723"/>
                      <a:pt x="122058" y="384723"/>
                    </a:cubicBezTo>
                    <a:lnTo>
                      <a:pt x="116452" y="384723"/>
                    </a:lnTo>
                    <a:cubicBezTo>
                      <a:pt x="109601" y="384723"/>
                      <a:pt x="104084" y="379130"/>
                      <a:pt x="104084" y="372295"/>
                    </a:cubicBezTo>
                    <a:cubicBezTo>
                      <a:pt x="104084" y="365459"/>
                      <a:pt x="109601" y="359955"/>
                      <a:pt x="116452" y="359955"/>
                    </a:cubicBezTo>
                    <a:close/>
                    <a:moveTo>
                      <a:pt x="162114" y="303290"/>
                    </a:moveTo>
                    <a:lnTo>
                      <a:pt x="384486" y="303290"/>
                    </a:lnTo>
                    <a:cubicBezTo>
                      <a:pt x="391252" y="303290"/>
                      <a:pt x="396860" y="308899"/>
                      <a:pt x="396860" y="315754"/>
                    </a:cubicBezTo>
                    <a:cubicBezTo>
                      <a:pt x="396860" y="322609"/>
                      <a:pt x="391252" y="328129"/>
                      <a:pt x="384486" y="328129"/>
                    </a:cubicBezTo>
                    <a:lnTo>
                      <a:pt x="162114" y="328129"/>
                    </a:lnTo>
                    <a:cubicBezTo>
                      <a:pt x="155260" y="328129"/>
                      <a:pt x="149740" y="322609"/>
                      <a:pt x="149740" y="315754"/>
                    </a:cubicBezTo>
                    <a:cubicBezTo>
                      <a:pt x="149740" y="308899"/>
                      <a:pt x="155260" y="303290"/>
                      <a:pt x="162114" y="303290"/>
                    </a:cubicBezTo>
                    <a:close/>
                    <a:moveTo>
                      <a:pt x="116452" y="303290"/>
                    </a:moveTo>
                    <a:lnTo>
                      <a:pt x="122058" y="303290"/>
                    </a:lnTo>
                    <a:cubicBezTo>
                      <a:pt x="128821" y="303290"/>
                      <a:pt x="134427" y="308899"/>
                      <a:pt x="134427" y="315754"/>
                    </a:cubicBezTo>
                    <a:cubicBezTo>
                      <a:pt x="134427" y="322609"/>
                      <a:pt x="128821" y="328129"/>
                      <a:pt x="122058" y="328129"/>
                    </a:cubicBezTo>
                    <a:lnTo>
                      <a:pt x="116452" y="328129"/>
                    </a:lnTo>
                    <a:cubicBezTo>
                      <a:pt x="109601" y="328129"/>
                      <a:pt x="104084" y="322609"/>
                      <a:pt x="104084" y="315754"/>
                    </a:cubicBezTo>
                    <a:cubicBezTo>
                      <a:pt x="104084" y="308899"/>
                      <a:pt x="109601" y="303290"/>
                      <a:pt x="116452" y="303290"/>
                    </a:cubicBezTo>
                    <a:close/>
                    <a:moveTo>
                      <a:pt x="162114" y="246767"/>
                    </a:moveTo>
                    <a:lnTo>
                      <a:pt x="384486" y="246767"/>
                    </a:lnTo>
                    <a:cubicBezTo>
                      <a:pt x="391252" y="246767"/>
                      <a:pt x="396860" y="252291"/>
                      <a:pt x="396860" y="259151"/>
                    </a:cubicBezTo>
                    <a:cubicBezTo>
                      <a:pt x="396860" y="266011"/>
                      <a:pt x="391252" y="271535"/>
                      <a:pt x="384486" y="271535"/>
                    </a:cubicBezTo>
                    <a:lnTo>
                      <a:pt x="162114" y="271535"/>
                    </a:lnTo>
                    <a:cubicBezTo>
                      <a:pt x="155260" y="271535"/>
                      <a:pt x="149740" y="266011"/>
                      <a:pt x="149740" y="259151"/>
                    </a:cubicBezTo>
                    <a:cubicBezTo>
                      <a:pt x="149740" y="252291"/>
                      <a:pt x="155260" y="246767"/>
                      <a:pt x="162114" y="246767"/>
                    </a:cubicBezTo>
                    <a:close/>
                    <a:moveTo>
                      <a:pt x="116452" y="246767"/>
                    </a:moveTo>
                    <a:lnTo>
                      <a:pt x="122058" y="246767"/>
                    </a:lnTo>
                    <a:cubicBezTo>
                      <a:pt x="128821" y="246767"/>
                      <a:pt x="134427" y="252291"/>
                      <a:pt x="134427" y="259151"/>
                    </a:cubicBezTo>
                    <a:cubicBezTo>
                      <a:pt x="134427" y="266011"/>
                      <a:pt x="128821" y="271535"/>
                      <a:pt x="122058" y="271535"/>
                    </a:cubicBezTo>
                    <a:lnTo>
                      <a:pt x="116452" y="271535"/>
                    </a:lnTo>
                    <a:cubicBezTo>
                      <a:pt x="109601" y="271535"/>
                      <a:pt x="104084" y="266011"/>
                      <a:pt x="104084" y="259151"/>
                    </a:cubicBezTo>
                    <a:cubicBezTo>
                      <a:pt x="104084" y="252291"/>
                      <a:pt x="109601" y="246767"/>
                      <a:pt x="116452" y="246767"/>
                    </a:cubicBezTo>
                    <a:close/>
                    <a:moveTo>
                      <a:pt x="354029" y="42302"/>
                    </a:moveTo>
                    <a:lnTo>
                      <a:pt x="354029" y="111266"/>
                    </a:lnTo>
                    <a:cubicBezTo>
                      <a:pt x="354029" y="120775"/>
                      <a:pt x="357678" y="129662"/>
                      <a:pt x="364352" y="136328"/>
                    </a:cubicBezTo>
                    <a:cubicBezTo>
                      <a:pt x="371116" y="142993"/>
                      <a:pt x="380016" y="146726"/>
                      <a:pt x="389449" y="146726"/>
                    </a:cubicBezTo>
                    <a:lnTo>
                      <a:pt x="458600" y="146726"/>
                    </a:lnTo>
                    <a:close/>
                    <a:moveTo>
                      <a:pt x="60250" y="24795"/>
                    </a:moveTo>
                    <a:cubicBezTo>
                      <a:pt x="40760" y="24795"/>
                      <a:pt x="24830" y="40614"/>
                      <a:pt x="24830" y="60165"/>
                    </a:cubicBezTo>
                    <a:lnTo>
                      <a:pt x="24830" y="546557"/>
                    </a:lnTo>
                    <a:cubicBezTo>
                      <a:pt x="24830" y="566019"/>
                      <a:pt x="40760" y="581927"/>
                      <a:pt x="60250" y="581927"/>
                    </a:cubicBezTo>
                    <a:lnTo>
                      <a:pt x="440623" y="581927"/>
                    </a:lnTo>
                    <a:cubicBezTo>
                      <a:pt x="460202" y="581927"/>
                      <a:pt x="476132" y="566019"/>
                      <a:pt x="476132" y="546557"/>
                    </a:cubicBezTo>
                    <a:lnTo>
                      <a:pt x="476132" y="171432"/>
                    </a:lnTo>
                    <a:lnTo>
                      <a:pt x="389449" y="171432"/>
                    </a:lnTo>
                    <a:cubicBezTo>
                      <a:pt x="373341" y="171432"/>
                      <a:pt x="358212" y="165211"/>
                      <a:pt x="346820" y="153835"/>
                    </a:cubicBezTo>
                    <a:cubicBezTo>
                      <a:pt x="335429" y="142460"/>
                      <a:pt x="329199" y="127352"/>
                      <a:pt x="329199" y="111266"/>
                    </a:cubicBezTo>
                    <a:lnTo>
                      <a:pt x="329199" y="24795"/>
                    </a:lnTo>
                    <a:close/>
                    <a:moveTo>
                      <a:pt x="60250" y="0"/>
                    </a:moveTo>
                    <a:lnTo>
                      <a:pt x="341569" y="0"/>
                    </a:lnTo>
                    <a:cubicBezTo>
                      <a:pt x="344862" y="0"/>
                      <a:pt x="348066" y="1333"/>
                      <a:pt x="350380" y="3643"/>
                    </a:cubicBezTo>
                    <a:lnTo>
                      <a:pt x="497313" y="150369"/>
                    </a:lnTo>
                    <a:cubicBezTo>
                      <a:pt x="499627" y="152680"/>
                      <a:pt x="500873" y="155791"/>
                      <a:pt x="500873" y="159079"/>
                    </a:cubicBezTo>
                    <a:lnTo>
                      <a:pt x="500873" y="546557"/>
                    </a:lnTo>
                    <a:cubicBezTo>
                      <a:pt x="500873" y="579705"/>
                      <a:pt x="473907" y="606722"/>
                      <a:pt x="440623" y="606722"/>
                    </a:cubicBezTo>
                    <a:lnTo>
                      <a:pt x="60250" y="606722"/>
                    </a:lnTo>
                    <a:cubicBezTo>
                      <a:pt x="27055" y="606722"/>
                      <a:pt x="0" y="579705"/>
                      <a:pt x="0" y="546557"/>
                    </a:cubicBezTo>
                    <a:lnTo>
                      <a:pt x="0" y="60165"/>
                    </a:lnTo>
                    <a:cubicBezTo>
                      <a:pt x="0" y="27017"/>
                      <a:pt x="27055" y="0"/>
                      <a:pt x="60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="" xmlns:a16="http://schemas.microsoft.com/office/drawing/2014/main" id="{D8CEF0C6-86D9-4A6C-B44B-188781D4C05D}"/>
                  </a:ext>
                </a:extLst>
              </p:cNvPr>
              <p:cNvSpPr txBox="1"/>
              <p:nvPr/>
            </p:nvSpPr>
            <p:spPr bwMode="gray">
              <a:xfrm>
                <a:off x="2941080" y="4181343"/>
                <a:ext cx="1147441" cy="352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隧道策略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="" xmlns:a16="http://schemas.microsoft.com/office/drawing/2014/main" id="{A01C282B-75F8-4C38-96BF-076E5E40DFC9}"/>
                </a:ext>
              </a:extLst>
            </p:cNvPr>
            <p:cNvGrpSpPr/>
            <p:nvPr/>
          </p:nvGrpSpPr>
          <p:grpSpPr bwMode="gray">
            <a:xfrm>
              <a:off x="3504735" y="5039796"/>
              <a:ext cx="1147443" cy="1022261"/>
              <a:chOff x="2946932" y="3740981"/>
              <a:chExt cx="1147443" cy="1022261"/>
            </a:xfrm>
          </p:grpSpPr>
          <p:sp>
            <p:nvSpPr>
              <p:cNvPr id="19" name="forms_324103">
                <a:extLst>
                  <a:ext uri="{FF2B5EF4-FFF2-40B4-BE49-F238E27FC236}">
                    <a16:creationId xmlns="" xmlns:a16="http://schemas.microsoft.com/office/drawing/2014/main" id="{8469FD74-EE2C-4981-8ABB-A330B1E838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41159" y="3740981"/>
                <a:ext cx="503319" cy="609684"/>
              </a:xfrm>
              <a:custGeom>
                <a:avLst/>
                <a:gdLst>
                  <a:gd name="connsiteX0" fmla="*/ 162114 w 500873"/>
                  <a:gd name="connsiteY0" fmla="*/ 359955 h 606722"/>
                  <a:gd name="connsiteX1" fmla="*/ 384486 w 500873"/>
                  <a:gd name="connsiteY1" fmla="*/ 359955 h 606722"/>
                  <a:gd name="connsiteX2" fmla="*/ 396860 w 500873"/>
                  <a:gd name="connsiteY2" fmla="*/ 372295 h 606722"/>
                  <a:gd name="connsiteX3" fmla="*/ 384486 w 500873"/>
                  <a:gd name="connsiteY3" fmla="*/ 384723 h 606722"/>
                  <a:gd name="connsiteX4" fmla="*/ 162114 w 500873"/>
                  <a:gd name="connsiteY4" fmla="*/ 384723 h 606722"/>
                  <a:gd name="connsiteX5" fmla="*/ 149740 w 500873"/>
                  <a:gd name="connsiteY5" fmla="*/ 372295 h 606722"/>
                  <a:gd name="connsiteX6" fmla="*/ 162114 w 500873"/>
                  <a:gd name="connsiteY6" fmla="*/ 359955 h 606722"/>
                  <a:gd name="connsiteX7" fmla="*/ 116452 w 500873"/>
                  <a:gd name="connsiteY7" fmla="*/ 359955 h 606722"/>
                  <a:gd name="connsiteX8" fmla="*/ 122058 w 500873"/>
                  <a:gd name="connsiteY8" fmla="*/ 359955 h 606722"/>
                  <a:gd name="connsiteX9" fmla="*/ 134427 w 500873"/>
                  <a:gd name="connsiteY9" fmla="*/ 372295 h 606722"/>
                  <a:gd name="connsiteX10" fmla="*/ 122058 w 500873"/>
                  <a:gd name="connsiteY10" fmla="*/ 384723 h 606722"/>
                  <a:gd name="connsiteX11" fmla="*/ 116452 w 500873"/>
                  <a:gd name="connsiteY11" fmla="*/ 384723 h 606722"/>
                  <a:gd name="connsiteX12" fmla="*/ 104084 w 500873"/>
                  <a:gd name="connsiteY12" fmla="*/ 372295 h 606722"/>
                  <a:gd name="connsiteX13" fmla="*/ 116452 w 500873"/>
                  <a:gd name="connsiteY13" fmla="*/ 359955 h 606722"/>
                  <a:gd name="connsiteX14" fmla="*/ 162114 w 500873"/>
                  <a:gd name="connsiteY14" fmla="*/ 303290 h 606722"/>
                  <a:gd name="connsiteX15" fmla="*/ 384486 w 500873"/>
                  <a:gd name="connsiteY15" fmla="*/ 303290 h 606722"/>
                  <a:gd name="connsiteX16" fmla="*/ 396860 w 500873"/>
                  <a:gd name="connsiteY16" fmla="*/ 315754 h 606722"/>
                  <a:gd name="connsiteX17" fmla="*/ 384486 w 500873"/>
                  <a:gd name="connsiteY17" fmla="*/ 328129 h 606722"/>
                  <a:gd name="connsiteX18" fmla="*/ 162114 w 500873"/>
                  <a:gd name="connsiteY18" fmla="*/ 328129 h 606722"/>
                  <a:gd name="connsiteX19" fmla="*/ 149740 w 500873"/>
                  <a:gd name="connsiteY19" fmla="*/ 315754 h 606722"/>
                  <a:gd name="connsiteX20" fmla="*/ 162114 w 500873"/>
                  <a:gd name="connsiteY20" fmla="*/ 303290 h 606722"/>
                  <a:gd name="connsiteX21" fmla="*/ 116452 w 500873"/>
                  <a:gd name="connsiteY21" fmla="*/ 303290 h 606722"/>
                  <a:gd name="connsiteX22" fmla="*/ 122058 w 500873"/>
                  <a:gd name="connsiteY22" fmla="*/ 303290 h 606722"/>
                  <a:gd name="connsiteX23" fmla="*/ 134427 w 500873"/>
                  <a:gd name="connsiteY23" fmla="*/ 315754 h 606722"/>
                  <a:gd name="connsiteX24" fmla="*/ 122058 w 500873"/>
                  <a:gd name="connsiteY24" fmla="*/ 328129 h 606722"/>
                  <a:gd name="connsiteX25" fmla="*/ 116452 w 500873"/>
                  <a:gd name="connsiteY25" fmla="*/ 328129 h 606722"/>
                  <a:gd name="connsiteX26" fmla="*/ 104084 w 500873"/>
                  <a:gd name="connsiteY26" fmla="*/ 315754 h 606722"/>
                  <a:gd name="connsiteX27" fmla="*/ 116452 w 500873"/>
                  <a:gd name="connsiteY27" fmla="*/ 303290 h 606722"/>
                  <a:gd name="connsiteX28" fmla="*/ 162114 w 500873"/>
                  <a:gd name="connsiteY28" fmla="*/ 246767 h 606722"/>
                  <a:gd name="connsiteX29" fmla="*/ 384486 w 500873"/>
                  <a:gd name="connsiteY29" fmla="*/ 246767 h 606722"/>
                  <a:gd name="connsiteX30" fmla="*/ 396860 w 500873"/>
                  <a:gd name="connsiteY30" fmla="*/ 259151 h 606722"/>
                  <a:gd name="connsiteX31" fmla="*/ 384486 w 500873"/>
                  <a:gd name="connsiteY31" fmla="*/ 271535 h 606722"/>
                  <a:gd name="connsiteX32" fmla="*/ 162114 w 500873"/>
                  <a:gd name="connsiteY32" fmla="*/ 271535 h 606722"/>
                  <a:gd name="connsiteX33" fmla="*/ 149740 w 500873"/>
                  <a:gd name="connsiteY33" fmla="*/ 259151 h 606722"/>
                  <a:gd name="connsiteX34" fmla="*/ 162114 w 500873"/>
                  <a:gd name="connsiteY34" fmla="*/ 246767 h 606722"/>
                  <a:gd name="connsiteX35" fmla="*/ 116452 w 500873"/>
                  <a:gd name="connsiteY35" fmla="*/ 246767 h 606722"/>
                  <a:gd name="connsiteX36" fmla="*/ 122058 w 500873"/>
                  <a:gd name="connsiteY36" fmla="*/ 246767 h 606722"/>
                  <a:gd name="connsiteX37" fmla="*/ 134427 w 500873"/>
                  <a:gd name="connsiteY37" fmla="*/ 259151 h 606722"/>
                  <a:gd name="connsiteX38" fmla="*/ 122058 w 500873"/>
                  <a:gd name="connsiteY38" fmla="*/ 271535 h 606722"/>
                  <a:gd name="connsiteX39" fmla="*/ 116452 w 500873"/>
                  <a:gd name="connsiteY39" fmla="*/ 271535 h 606722"/>
                  <a:gd name="connsiteX40" fmla="*/ 104084 w 500873"/>
                  <a:gd name="connsiteY40" fmla="*/ 259151 h 606722"/>
                  <a:gd name="connsiteX41" fmla="*/ 116452 w 500873"/>
                  <a:gd name="connsiteY41" fmla="*/ 246767 h 606722"/>
                  <a:gd name="connsiteX42" fmla="*/ 354029 w 500873"/>
                  <a:gd name="connsiteY42" fmla="*/ 42302 h 606722"/>
                  <a:gd name="connsiteX43" fmla="*/ 354029 w 500873"/>
                  <a:gd name="connsiteY43" fmla="*/ 111266 h 606722"/>
                  <a:gd name="connsiteX44" fmla="*/ 364352 w 500873"/>
                  <a:gd name="connsiteY44" fmla="*/ 136328 h 606722"/>
                  <a:gd name="connsiteX45" fmla="*/ 389449 w 500873"/>
                  <a:gd name="connsiteY45" fmla="*/ 146726 h 606722"/>
                  <a:gd name="connsiteX46" fmla="*/ 458600 w 500873"/>
                  <a:gd name="connsiteY46" fmla="*/ 146726 h 606722"/>
                  <a:gd name="connsiteX47" fmla="*/ 60250 w 500873"/>
                  <a:gd name="connsiteY47" fmla="*/ 24795 h 606722"/>
                  <a:gd name="connsiteX48" fmla="*/ 24830 w 500873"/>
                  <a:gd name="connsiteY48" fmla="*/ 60165 h 606722"/>
                  <a:gd name="connsiteX49" fmla="*/ 24830 w 500873"/>
                  <a:gd name="connsiteY49" fmla="*/ 546557 h 606722"/>
                  <a:gd name="connsiteX50" fmla="*/ 60250 w 500873"/>
                  <a:gd name="connsiteY50" fmla="*/ 581927 h 606722"/>
                  <a:gd name="connsiteX51" fmla="*/ 440623 w 500873"/>
                  <a:gd name="connsiteY51" fmla="*/ 581927 h 606722"/>
                  <a:gd name="connsiteX52" fmla="*/ 476132 w 500873"/>
                  <a:gd name="connsiteY52" fmla="*/ 546557 h 606722"/>
                  <a:gd name="connsiteX53" fmla="*/ 476132 w 500873"/>
                  <a:gd name="connsiteY53" fmla="*/ 171432 h 606722"/>
                  <a:gd name="connsiteX54" fmla="*/ 389449 w 500873"/>
                  <a:gd name="connsiteY54" fmla="*/ 171432 h 606722"/>
                  <a:gd name="connsiteX55" fmla="*/ 346820 w 500873"/>
                  <a:gd name="connsiteY55" fmla="*/ 153835 h 606722"/>
                  <a:gd name="connsiteX56" fmla="*/ 329199 w 500873"/>
                  <a:gd name="connsiteY56" fmla="*/ 111266 h 606722"/>
                  <a:gd name="connsiteX57" fmla="*/ 329199 w 500873"/>
                  <a:gd name="connsiteY57" fmla="*/ 24795 h 606722"/>
                  <a:gd name="connsiteX58" fmla="*/ 60250 w 500873"/>
                  <a:gd name="connsiteY58" fmla="*/ 0 h 606722"/>
                  <a:gd name="connsiteX59" fmla="*/ 341569 w 500873"/>
                  <a:gd name="connsiteY59" fmla="*/ 0 h 606722"/>
                  <a:gd name="connsiteX60" fmla="*/ 350380 w 500873"/>
                  <a:gd name="connsiteY60" fmla="*/ 3643 h 606722"/>
                  <a:gd name="connsiteX61" fmla="*/ 497313 w 500873"/>
                  <a:gd name="connsiteY61" fmla="*/ 150369 h 606722"/>
                  <a:gd name="connsiteX62" fmla="*/ 500873 w 500873"/>
                  <a:gd name="connsiteY62" fmla="*/ 159079 h 606722"/>
                  <a:gd name="connsiteX63" fmla="*/ 500873 w 500873"/>
                  <a:gd name="connsiteY63" fmla="*/ 546557 h 606722"/>
                  <a:gd name="connsiteX64" fmla="*/ 440623 w 500873"/>
                  <a:gd name="connsiteY64" fmla="*/ 606722 h 606722"/>
                  <a:gd name="connsiteX65" fmla="*/ 60250 w 500873"/>
                  <a:gd name="connsiteY65" fmla="*/ 606722 h 606722"/>
                  <a:gd name="connsiteX66" fmla="*/ 0 w 500873"/>
                  <a:gd name="connsiteY66" fmla="*/ 546557 h 606722"/>
                  <a:gd name="connsiteX67" fmla="*/ 0 w 500873"/>
                  <a:gd name="connsiteY67" fmla="*/ 60165 h 606722"/>
                  <a:gd name="connsiteX68" fmla="*/ 60250 w 500873"/>
                  <a:gd name="connsiteY68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00873" h="606722">
                    <a:moveTo>
                      <a:pt x="162114" y="359955"/>
                    </a:moveTo>
                    <a:lnTo>
                      <a:pt x="384486" y="359955"/>
                    </a:lnTo>
                    <a:cubicBezTo>
                      <a:pt x="391252" y="359955"/>
                      <a:pt x="396860" y="365459"/>
                      <a:pt x="396860" y="372295"/>
                    </a:cubicBezTo>
                    <a:cubicBezTo>
                      <a:pt x="396860" y="379130"/>
                      <a:pt x="391252" y="384723"/>
                      <a:pt x="384486" y="384723"/>
                    </a:cubicBezTo>
                    <a:lnTo>
                      <a:pt x="162114" y="384723"/>
                    </a:lnTo>
                    <a:cubicBezTo>
                      <a:pt x="155260" y="384723"/>
                      <a:pt x="149740" y="379130"/>
                      <a:pt x="149740" y="372295"/>
                    </a:cubicBezTo>
                    <a:cubicBezTo>
                      <a:pt x="149740" y="365459"/>
                      <a:pt x="155260" y="359955"/>
                      <a:pt x="162114" y="359955"/>
                    </a:cubicBezTo>
                    <a:close/>
                    <a:moveTo>
                      <a:pt x="116452" y="359955"/>
                    </a:moveTo>
                    <a:lnTo>
                      <a:pt x="122058" y="359955"/>
                    </a:lnTo>
                    <a:cubicBezTo>
                      <a:pt x="128821" y="359955"/>
                      <a:pt x="134427" y="365459"/>
                      <a:pt x="134427" y="372295"/>
                    </a:cubicBezTo>
                    <a:cubicBezTo>
                      <a:pt x="134427" y="379130"/>
                      <a:pt x="128821" y="384723"/>
                      <a:pt x="122058" y="384723"/>
                    </a:cubicBezTo>
                    <a:lnTo>
                      <a:pt x="116452" y="384723"/>
                    </a:lnTo>
                    <a:cubicBezTo>
                      <a:pt x="109601" y="384723"/>
                      <a:pt x="104084" y="379130"/>
                      <a:pt x="104084" y="372295"/>
                    </a:cubicBezTo>
                    <a:cubicBezTo>
                      <a:pt x="104084" y="365459"/>
                      <a:pt x="109601" y="359955"/>
                      <a:pt x="116452" y="359955"/>
                    </a:cubicBezTo>
                    <a:close/>
                    <a:moveTo>
                      <a:pt x="162114" y="303290"/>
                    </a:moveTo>
                    <a:lnTo>
                      <a:pt x="384486" y="303290"/>
                    </a:lnTo>
                    <a:cubicBezTo>
                      <a:pt x="391252" y="303290"/>
                      <a:pt x="396860" y="308899"/>
                      <a:pt x="396860" y="315754"/>
                    </a:cubicBezTo>
                    <a:cubicBezTo>
                      <a:pt x="396860" y="322609"/>
                      <a:pt x="391252" y="328129"/>
                      <a:pt x="384486" y="328129"/>
                    </a:cubicBezTo>
                    <a:lnTo>
                      <a:pt x="162114" y="328129"/>
                    </a:lnTo>
                    <a:cubicBezTo>
                      <a:pt x="155260" y="328129"/>
                      <a:pt x="149740" y="322609"/>
                      <a:pt x="149740" y="315754"/>
                    </a:cubicBezTo>
                    <a:cubicBezTo>
                      <a:pt x="149740" y="308899"/>
                      <a:pt x="155260" y="303290"/>
                      <a:pt x="162114" y="303290"/>
                    </a:cubicBezTo>
                    <a:close/>
                    <a:moveTo>
                      <a:pt x="116452" y="303290"/>
                    </a:moveTo>
                    <a:lnTo>
                      <a:pt x="122058" y="303290"/>
                    </a:lnTo>
                    <a:cubicBezTo>
                      <a:pt x="128821" y="303290"/>
                      <a:pt x="134427" y="308899"/>
                      <a:pt x="134427" y="315754"/>
                    </a:cubicBezTo>
                    <a:cubicBezTo>
                      <a:pt x="134427" y="322609"/>
                      <a:pt x="128821" y="328129"/>
                      <a:pt x="122058" y="328129"/>
                    </a:cubicBezTo>
                    <a:lnTo>
                      <a:pt x="116452" y="328129"/>
                    </a:lnTo>
                    <a:cubicBezTo>
                      <a:pt x="109601" y="328129"/>
                      <a:pt x="104084" y="322609"/>
                      <a:pt x="104084" y="315754"/>
                    </a:cubicBezTo>
                    <a:cubicBezTo>
                      <a:pt x="104084" y="308899"/>
                      <a:pt x="109601" y="303290"/>
                      <a:pt x="116452" y="303290"/>
                    </a:cubicBezTo>
                    <a:close/>
                    <a:moveTo>
                      <a:pt x="162114" y="246767"/>
                    </a:moveTo>
                    <a:lnTo>
                      <a:pt x="384486" y="246767"/>
                    </a:lnTo>
                    <a:cubicBezTo>
                      <a:pt x="391252" y="246767"/>
                      <a:pt x="396860" y="252291"/>
                      <a:pt x="396860" y="259151"/>
                    </a:cubicBezTo>
                    <a:cubicBezTo>
                      <a:pt x="396860" y="266011"/>
                      <a:pt x="391252" y="271535"/>
                      <a:pt x="384486" y="271535"/>
                    </a:cubicBezTo>
                    <a:lnTo>
                      <a:pt x="162114" y="271535"/>
                    </a:lnTo>
                    <a:cubicBezTo>
                      <a:pt x="155260" y="271535"/>
                      <a:pt x="149740" y="266011"/>
                      <a:pt x="149740" y="259151"/>
                    </a:cubicBezTo>
                    <a:cubicBezTo>
                      <a:pt x="149740" y="252291"/>
                      <a:pt x="155260" y="246767"/>
                      <a:pt x="162114" y="246767"/>
                    </a:cubicBezTo>
                    <a:close/>
                    <a:moveTo>
                      <a:pt x="116452" y="246767"/>
                    </a:moveTo>
                    <a:lnTo>
                      <a:pt x="122058" y="246767"/>
                    </a:lnTo>
                    <a:cubicBezTo>
                      <a:pt x="128821" y="246767"/>
                      <a:pt x="134427" y="252291"/>
                      <a:pt x="134427" y="259151"/>
                    </a:cubicBezTo>
                    <a:cubicBezTo>
                      <a:pt x="134427" y="266011"/>
                      <a:pt x="128821" y="271535"/>
                      <a:pt x="122058" y="271535"/>
                    </a:cubicBezTo>
                    <a:lnTo>
                      <a:pt x="116452" y="271535"/>
                    </a:lnTo>
                    <a:cubicBezTo>
                      <a:pt x="109601" y="271535"/>
                      <a:pt x="104084" y="266011"/>
                      <a:pt x="104084" y="259151"/>
                    </a:cubicBezTo>
                    <a:cubicBezTo>
                      <a:pt x="104084" y="252291"/>
                      <a:pt x="109601" y="246767"/>
                      <a:pt x="116452" y="246767"/>
                    </a:cubicBezTo>
                    <a:close/>
                    <a:moveTo>
                      <a:pt x="354029" y="42302"/>
                    </a:moveTo>
                    <a:lnTo>
                      <a:pt x="354029" y="111266"/>
                    </a:lnTo>
                    <a:cubicBezTo>
                      <a:pt x="354029" y="120775"/>
                      <a:pt x="357678" y="129662"/>
                      <a:pt x="364352" y="136328"/>
                    </a:cubicBezTo>
                    <a:cubicBezTo>
                      <a:pt x="371116" y="142993"/>
                      <a:pt x="380016" y="146726"/>
                      <a:pt x="389449" y="146726"/>
                    </a:cubicBezTo>
                    <a:lnTo>
                      <a:pt x="458600" y="146726"/>
                    </a:lnTo>
                    <a:close/>
                    <a:moveTo>
                      <a:pt x="60250" y="24795"/>
                    </a:moveTo>
                    <a:cubicBezTo>
                      <a:pt x="40760" y="24795"/>
                      <a:pt x="24830" y="40614"/>
                      <a:pt x="24830" y="60165"/>
                    </a:cubicBezTo>
                    <a:lnTo>
                      <a:pt x="24830" y="546557"/>
                    </a:lnTo>
                    <a:cubicBezTo>
                      <a:pt x="24830" y="566019"/>
                      <a:pt x="40760" y="581927"/>
                      <a:pt x="60250" y="581927"/>
                    </a:cubicBezTo>
                    <a:lnTo>
                      <a:pt x="440623" y="581927"/>
                    </a:lnTo>
                    <a:cubicBezTo>
                      <a:pt x="460202" y="581927"/>
                      <a:pt x="476132" y="566019"/>
                      <a:pt x="476132" y="546557"/>
                    </a:cubicBezTo>
                    <a:lnTo>
                      <a:pt x="476132" y="171432"/>
                    </a:lnTo>
                    <a:lnTo>
                      <a:pt x="389449" y="171432"/>
                    </a:lnTo>
                    <a:cubicBezTo>
                      <a:pt x="373341" y="171432"/>
                      <a:pt x="358212" y="165211"/>
                      <a:pt x="346820" y="153835"/>
                    </a:cubicBezTo>
                    <a:cubicBezTo>
                      <a:pt x="335429" y="142460"/>
                      <a:pt x="329199" y="127352"/>
                      <a:pt x="329199" y="111266"/>
                    </a:cubicBezTo>
                    <a:lnTo>
                      <a:pt x="329199" y="24795"/>
                    </a:lnTo>
                    <a:close/>
                    <a:moveTo>
                      <a:pt x="60250" y="0"/>
                    </a:moveTo>
                    <a:lnTo>
                      <a:pt x="341569" y="0"/>
                    </a:lnTo>
                    <a:cubicBezTo>
                      <a:pt x="344862" y="0"/>
                      <a:pt x="348066" y="1333"/>
                      <a:pt x="350380" y="3643"/>
                    </a:cubicBezTo>
                    <a:lnTo>
                      <a:pt x="497313" y="150369"/>
                    </a:lnTo>
                    <a:cubicBezTo>
                      <a:pt x="499627" y="152680"/>
                      <a:pt x="500873" y="155791"/>
                      <a:pt x="500873" y="159079"/>
                    </a:cubicBezTo>
                    <a:lnTo>
                      <a:pt x="500873" y="546557"/>
                    </a:lnTo>
                    <a:cubicBezTo>
                      <a:pt x="500873" y="579705"/>
                      <a:pt x="473907" y="606722"/>
                      <a:pt x="440623" y="606722"/>
                    </a:cubicBezTo>
                    <a:lnTo>
                      <a:pt x="60250" y="606722"/>
                    </a:lnTo>
                    <a:cubicBezTo>
                      <a:pt x="27055" y="606722"/>
                      <a:pt x="0" y="579705"/>
                      <a:pt x="0" y="546557"/>
                    </a:cubicBezTo>
                    <a:lnTo>
                      <a:pt x="0" y="60165"/>
                    </a:lnTo>
                    <a:cubicBezTo>
                      <a:pt x="0" y="27017"/>
                      <a:pt x="27055" y="0"/>
                      <a:pt x="60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="" xmlns:a16="http://schemas.microsoft.com/office/drawing/2014/main" id="{247B2180-47D1-4FD4-A61D-D7122E2803F6}"/>
                  </a:ext>
                </a:extLst>
              </p:cNvPr>
              <p:cNvSpPr txBox="1"/>
              <p:nvPr/>
            </p:nvSpPr>
            <p:spPr bwMode="gray">
              <a:xfrm>
                <a:off x="2946932" y="4410779"/>
                <a:ext cx="1147443" cy="352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隧道策略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="" xmlns:a16="http://schemas.microsoft.com/office/drawing/2014/main" id="{10E9A3F1-FF32-469A-99B9-DBEE8D9E9E6F}"/>
              </a:ext>
            </a:extLst>
          </p:cNvPr>
          <p:cNvSpPr/>
          <p:nvPr/>
        </p:nvSpPr>
        <p:spPr bwMode="gray">
          <a:xfrm rot="1912053">
            <a:off x="4692287" y="3274537"/>
            <a:ext cx="1017465" cy="683913"/>
          </a:xfrm>
          <a:custGeom>
            <a:avLst/>
            <a:gdLst>
              <a:gd name="connsiteX0" fmla="*/ 0 w 973777"/>
              <a:gd name="connsiteY0" fmla="*/ 558140 h 558140"/>
              <a:gd name="connsiteX1" fmla="*/ 498764 w 973777"/>
              <a:gd name="connsiteY1" fmla="*/ 166254 h 558140"/>
              <a:gd name="connsiteX2" fmla="*/ 973777 w 973777"/>
              <a:gd name="connsiteY2" fmla="*/ 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777" h="558140">
                <a:moveTo>
                  <a:pt x="0" y="558140"/>
                </a:moveTo>
                <a:cubicBezTo>
                  <a:pt x="168234" y="408708"/>
                  <a:pt x="336468" y="259277"/>
                  <a:pt x="498764" y="166254"/>
                </a:cubicBezTo>
                <a:cubicBezTo>
                  <a:pt x="661060" y="73231"/>
                  <a:pt x="833252" y="37605"/>
                  <a:pt x="973777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="" xmlns:a16="http://schemas.microsoft.com/office/drawing/2014/main" id="{A10A1F1D-48BE-4BB8-B801-5E069DC21108}"/>
              </a:ext>
            </a:extLst>
          </p:cNvPr>
          <p:cNvSpPr/>
          <p:nvPr/>
        </p:nvSpPr>
        <p:spPr bwMode="gray">
          <a:xfrm rot="1912053">
            <a:off x="4629590" y="3642599"/>
            <a:ext cx="1137620" cy="330003"/>
          </a:xfrm>
          <a:custGeom>
            <a:avLst/>
            <a:gdLst>
              <a:gd name="connsiteX0" fmla="*/ 0 w 926275"/>
              <a:gd name="connsiteY0" fmla="*/ 225631 h 225631"/>
              <a:gd name="connsiteX1" fmla="*/ 486888 w 926275"/>
              <a:gd name="connsiteY1" fmla="*/ 47501 h 225631"/>
              <a:gd name="connsiteX2" fmla="*/ 926275 w 926275"/>
              <a:gd name="connsiteY2" fmla="*/ 0 h 22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6275" h="225631">
                <a:moveTo>
                  <a:pt x="0" y="225631"/>
                </a:moveTo>
                <a:cubicBezTo>
                  <a:pt x="166254" y="155368"/>
                  <a:pt x="332509" y="85106"/>
                  <a:pt x="486888" y="47501"/>
                </a:cubicBezTo>
                <a:cubicBezTo>
                  <a:pt x="641267" y="9896"/>
                  <a:pt x="783771" y="4948"/>
                  <a:pt x="926275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="" xmlns:a16="http://schemas.microsoft.com/office/drawing/2014/main" id="{E7834407-73B3-4EAE-A449-EC263C8E0E96}"/>
              </a:ext>
            </a:extLst>
          </p:cNvPr>
          <p:cNvSpPr/>
          <p:nvPr/>
        </p:nvSpPr>
        <p:spPr bwMode="gray">
          <a:xfrm rot="554198">
            <a:off x="4631000" y="4435804"/>
            <a:ext cx="1069875" cy="623725"/>
          </a:xfrm>
          <a:custGeom>
            <a:avLst/>
            <a:gdLst>
              <a:gd name="connsiteX0" fmla="*/ 0 w 973777"/>
              <a:gd name="connsiteY0" fmla="*/ 558140 h 558140"/>
              <a:gd name="connsiteX1" fmla="*/ 498764 w 973777"/>
              <a:gd name="connsiteY1" fmla="*/ 166254 h 558140"/>
              <a:gd name="connsiteX2" fmla="*/ 973777 w 973777"/>
              <a:gd name="connsiteY2" fmla="*/ 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777" h="558140">
                <a:moveTo>
                  <a:pt x="0" y="558140"/>
                </a:moveTo>
                <a:cubicBezTo>
                  <a:pt x="168234" y="408708"/>
                  <a:pt x="336468" y="259277"/>
                  <a:pt x="498764" y="166254"/>
                </a:cubicBezTo>
                <a:cubicBezTo>
                  <a:pt x="661060" y="73231"/>
                  <a:pt x="833252" y="37605"/>
                  <a:pt x="973777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="" xmlns:a16="http://schemas.microsoft.com/office/drawing/2014/main" id="{604957FA-1F8D-4BB3-987A-A7FF235E0085}"/>
              </a:ext>
            </a:extLst>
          </p:cNvPr>
          <p:cNvSpPr/>
          <p:nvPr/>
        </p:nvSpPr>
        <p:spPr bwMode="gray">
          <a:xfrm rot="554198">
            <a:off x="4641657" y="4801695"/>
            <a:ext cx="1113916" cy="252144"/>
          </a:xfrm>
          <a:custGeom>
            <a:avLst/>
            <a:gdLst>
              <a:gd name="connsiteX0" fmla="*/ 0 w 926275"/>
              <a:gd name="connsiteY0" fmla="*/ 225631 h 225631"/>
              <a:gd name="connsiteX1" fmla="*/ 486888 w 926275"/>
              <a:gd name="connsiteY1" fmla="*/ 47501 h 225631"/>
              <a:gd name="connsiteX2" fmla="*/ 926275 w 926275"/>
              <a:gd name="connsiteY2" fmla="*/ 0 h 22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6275" h="225631">
                <a:moveTo>
                  <a:pt x="0" y="225631"/>
                </a:moveTo>
                <a:cubicBezTo>
                  <a:pt x="166254" y="155368"/>
                  <a:pt x="332509" y="85106"/>
                  <a:pt x="486888" y="47501"/>
                </a:cubicBezTo>
                <a:cubicBezTo>
                  <a:pt x="641267" y="9896"/>
                  <a:pt x="783771" y="4948"/>
                  <a:pt x="926275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62C50960-ED3F-4C9B-A6E6-001BDE04DD79}"/>
              </a:ext>
            </a:extLst>
          </p:cNvPr>
          <p:cNvSpPr txBox="1"/>
          <p:nvPr/>
        </p:nvSpPr>
        <p:spPr bwMode="gray">
          <a:xfrm>
            <a:off x="1702300" y="3508203"/>
            <a:ext cx="660758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810679D5-F853-4AD3-81C2-AD18CF4BB063}"/>
              </a:ext>
            </a:extLst>
          </p:cNvPr>
          <p:cNvSpPr txBox="1"/>
          <p:nvPr/>
        </p:nvSpPr>
        <p:spPr bwMode="gray">
          <a:xfrm>
            <a:off x="1702300" y="4953954"/>
            <a:ext cx="660758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FAD0EAB4-9CFB-4CAD-A2E6-F5DFE3E1398B}"/>
              </a:ext>
            </a:extLst>
          </p:cNvPr>
          <p:cNvCxnSpPr>
            <a:cxnSpLocks/>
          </p:cNvCxnSpPr>
          <p:nvPr/>
        </p:nvCxnSpPr>
        <p:spPr bwMode="gray">
          <a:xfrm>
            <a:off x="2680050" y="3639231"/>
            <a:ext cx="922335" cy="0"/>
          </a:xfrm>
          <a:prstGeom prst="straightConnector1">
            <a:avLst/>
          </a:prstGeom>
          <a:ln w="127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="" xmlns:a16="http://schemas.microsoft.com/office/drawing/2014/main" id="{BBD84FBF-FF07-4E8A-B968-DD2ABAB720A7}"/>
              </a:ext>
            </a:extLst>
          </p:cNvPr>
          <p:cNvCxnSpPr>
            <a:cxnSpLocks/>
          </p:cNvCxnSpPr>
          <p:nvPr/>
        </p:nvCxnSpPr>
        <p:spPr bwMode="gray">
          <a:xfrm>
            <a:off x="2680050" y="5107842"/>
            <a:ext cx="922335" cy="0"/>
          </a:xfrm>
          <a:prstGeom prst="straightConnector1">
            <a:avLst/>
          </a:prstGeom>
          <a:ln w="127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8EFA4018-7C84-4693-9623-4EE4293319F6}"/>
              </a:ext>
            </a:extLst>
          </p:cNvPr>
          <p:cNvSpPr txBox="1"/>
          <p:nvPr/>
        </p:nvSpPr>
        <p:spPr bwMode="gray">
          <a:xfrm>
            <a:off x="2869347" y="325899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025DC1B3-7009-4615-8B28-6FF44597A637}"/>
              </a:ext>
            </a:extLst>
          </p:cNvPr>
          <p:cNvSpPr txBox="1"/>
          <p:nvPr/>
        </p:nvSpPr>
        <p:spPr bwMode="gray">
          <a:xfrm>
            <a:off x="2869347" y="474742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EC0736-999F-4164-B707-799B3866606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配置隧道策略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1D8927D-59DA-4B9D-94B6-C0D74E62B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隧道策略（</a:t>
            </a:r>
            <a:r>
              <a:rPr lang="en-US" altLang="zh-CN" sz="1600" dirty="0">
                <a:sym typeface="Huawei Sans" panose="020C0503030203020204" pitchFamily="34" charset="0"/>
              </a:rPr>
              <a:t>Tunnel Policy</a:t>
            </a:r>
            <a:r>
              <a:rPr lang="zh-CN" altLang="en-US" sz="1600" dirty="0">
                <a:sym typeface="Huawei Sans" panose="020C0503030203020204" pitchFamily="34" charset="0"/>
              </a:rPr>
              <a:t>）是应用决定选择隧道类型和顺序的一种策略。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业务在选择隧道时，默认情况下只会迭代到一条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。如果有多条可用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，使用隧道策略可以实现负载分担。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例如本例中想要在</a:t>
            </a:r>
            <a:r>
              <a:rPr lang="en-US" altLang="zh-CN" sz="1600" dirty="0">
                <a:sym typeface="Huawei Sans" panose="020C0503030203020204" pitchFamily="34" charset="0"/>
              </a:rPr>
              <a:t>MPLS LDP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TE</a:t>
            </a:r>
            <a:r>
              <a:rPr lang="zh-CN" altLang="en-US" sz="1600" dirty="0">
                <a:sym typeface="Huawei Sans" panose="020C0503030203020204" pitchFamily="34" charset="0"/>
              </a:rPr>
              <a:t>两个隧道进行负载分担，需要对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配置并应用隧道策略。隧道策略</a:t>
            </a:r>
            <a:r>
              <a:rPr lang="en-US" altLang="zh-CN" sz="1600" dirty="0">
                <a:sym typeface="Huawei Sans" panose="020C0503030203020204" pitchFamily="34" charset="0"/>
              </a:rPr>
              <a:t>policy1</a:t>
            </a:r>
            <a:r>
              <a:rPr lang="zh-CN" altLang="en-US" sz="1600" dirty="0">
                <a:sym typeface="Huawei Sans" panose="020C0503030203020204" pitchFamily="34" charset="0"/>
              </a:rPr>
              <a:t>表示，将按照隧道类型</a:t>
            </a:r>
            <a:r>
              <a:rPr lang="en-US" altLang="zh-CN" sz="1600" dirty="0">
                <a:sym typeface="Huawei Sans" panose="020C0503030203020204" pitchFamily="34" charset="0"/>
              </a:rPr>
              <a:t>CR-LSP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的顺序选择隧道，负载分担条数为</a:t>
            </a:r>
            <a:r>
              <a:rPr lang="en-US" altLang="zh-CN" sz="1600" dirty="0">
                <a:sym typeface="Huawei Sans" panose="020C0503030203020204" pitchFamily="34" charset="0"/>
              </a:rPr>
              <a:t>2</a:t>
            </a:r>
            <a:r>
              <a:rPr lang="zh-CN" altLang="en-US" sz="1600" dirty="0">
                <a:sym typeface="Huawei Sans" panose="020C0503030203020204" pitchFamily="34" charset="0"/>
              </a:rPr>
              <a:t>条。系统会优先选择</a:t>
            </a:r>
            <a:r>
              <a:rPr lang="en-US" altLang="zh-CN" sz="1600" dirty="0">
                <a:sym typeface="Huawei Sans" panose="020C0503030203020204" pitchFamily="34" charset="0"/>
              </a:rPr>
              <a:t>2</a:t>
            </a:r>
            <a:r>
              <a:rPr lang="zh-CN" altLang="en-US" sz="1600" dirty="0">
                <a:sym typeface="Huawei Sans" panose="020C0503030203020204" pitchFamily="34" charset="0"/>
              </a:rPr>
              <a:t>条</a:t>
            </a:r>
            <a:r>
              <a:rPr lang="en-US" altLang="zh-CN" sz="1600" dirty="0">
                <a:sym typeface="Huawei Sans" panose="020C0503030203020204" pitchFamily="34" charset="0"/>
              </a:rPr>
              <a:t>CR-LSP</a:t>
            </a:r>
            <a:r>
              <a:rPr lang="zh-CN" altLang="en-US" sz="1600" dirty="0">
                <a:sym typeface="Huawei Sans" panose="020C0503030203020204" pitchFamily="34" charset="0"/>
              </a:rPr>
              <a:t>隧道。如果</a:t>
            </a:r>
            <a:r>
              <a:rPr lang="en-US" altLang="zh-CN" sz="1600" dirty="0">
                <a:sym typeface="Huawei Sans" panose="020C0503030203020204" pitchFamily="34" charset="0"/>
              </a:rPr>
              <a:t>CR-LSP</a:t>
            </a:r>
            <a:r>
              <a:rPr lang="zh-CN" altLang="en-US" sz="1600" dirty="0">
                <a:sym typeface="Huawei Sans" panose="020C0503030203020204" pitchFamily="34" charset="0"/>
              </a:rPr>
              <a:t>不足两条，则不足的数量由</a:t>
            </a:r>
            <a:r>
              <a:rPr lang="en-US" altLang="zh-CN" sz="1600" dirty="0">
                <a:sym typeface="Huawei Sans" panose="020C0503030203020204" pitchFamily="34" charset="0"/>
              </a:rPr>
              <a:t>LSP</a:t>
            </a:r>
            <a:r>
              <a:rPr lang="zh-CN" altLang="en-US" sz="1600" dirty="0">
                <a:sym typeface="Huawei Sans" panose="020C0503030203020204" pitchFamily="34" charset="0"/>
              </a:rPr>
              <a:t>补充。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903E1161-5028-4B81-870D-1251D0C30156}"/>
              </a:ext>
            </a:extLst>
          </p:cNvPr>
          <p:cNvGrpSpPr/>
          <p:nvPr/>
        </p:nvGrpSpPr>
        <p:grpSpPr bwMode="gray">
          <a:xfrm>
            <a:off x="4138945" y="4260945"/>
            <a:ext cx="2706058" cy="771420"/>
            <a:chOff x="3822300" y="5115978"/>
            <a:chExt cx="4533715" cy="719449"/>
          </a:xfrm>
        </p:grpSpPr>
        <p:sp>
          <p:nvSpPr>
            <p:cNvPr id="5" name="Can 9">
              <a:extLst>
                <a:ext uri="{FF2B5EF4-FFF2-40B4-BE49-F238E27FC236}">
                  <a16:creationId xmlns="" xmlns:a16="http://schemas.microsoft.com/office/drawing/2014/main" id="{938EC89C-4E55-434A-9ADA-68DF6166C3FE}"/>
                </a:ext>
              </a:extLst>
            </p:cNvPr>
            <p:cNvSpPr/>
            <p:nvPr/>
          </p:nvSpPr>
          <p:spPr bwMode="gray">
            <a:xfrm rot="5400000">
              <a:off x="5935269" y="3414681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Can 9">
              <a:extLst>
                <a:ext uri="{FF2B5EF4-FFF2-40B4-BE49-F238E27FC236}">
                  <a16:creationId xmlns="" xmlns:a16="http://schemas.microsoft.com/office/drawing/2014/main" id="{E104C257-275A-4B9E-8574-4CE3CA6E0FF2}"/>
                </a:ext>
              </a:extLst>
            </p:cNvPr>
            <p:cNvSpPr/>
            <p:nvPr/>
          </p:nvSpPr>
          <p:spPr bwMode="gray">
            <a:xfrm rot="5400000">
              <a:off x="5935269" y="3003009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8603B8BE-9565-4AE3-A8DE-13BFF65180BE}"/>
                </a:ext>
              </a:extLst>
            </p:cNvPr>
            <p:cNvSpPr txBox="1"/>
            <p:nvPr/>
          </p:nvSpPr>
          <p:spPr bwMode="gray">
            <a:xfrm>
              <a:off x="4827425" y="5528167"/>
              <a:ext cx="2523607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="" xmlns:a16="http://schemas.microsoft.com/office/drawing/2014/main" id="{487AFF60-415D-4BE4-87C8-7E30D9E2BF58}"/>
                </a:ext>
              </a:extLst>
            </p:cNvPr>
            <p:cNvSpPr txBox="1"/>
            <p:nvPr/>
          </p:nvSpPr>
          <p:spPr bwMode="gray">
            <a:xfrm>
              <a:off x="4768050" y="5132234"/>
              <a:ext cx="2523607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TE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13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1BD89193-C29A-4BEF-A83C-80ECF5984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010725" y="4938349"/>
            <a:ext cx="540000" cy="441818"/>
          </a:xfrm>
          <a:prstGeom prst="rect">
            <a:avLst/>
          </a:prstGeom>
          <a:noFill/>
        </p:spPr>
      </p:pic>
      <p:pic>
        <p:nvPicPr>
          <p:cNvPr id="14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BF547838-DAAB-4BA6-8FCF-A9900F8E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567335" y="4938349"/>
            <a:ext cx="540000" cy="441818"/>
          </a:xfrm>
          <a:prstGeom prst="rect">
            <a:avLst/>
          </a:prstGeom>
          <a:noFill/>
        </p:spPr>
      </p:pic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48139D15-FF41-4311-972E-FFD67F3D3B97}"/>
              </a:ext>
            </a:extLst>
          </p:cNvPr>
          <p:cNvSpPr txBox="1"/>
          <p:nvPr/>
        </p:nvSpPr>
        <p:spPr bwMode="gray">
          <a:xfrm>
            <a:off x="7638074" y="543069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B8722423-26F1-4F38-A889-ECF278FDB723}"/>
              </a:ext>
            </a:extLst>
          </p:cNvPr>
          <p:cNvSpPr txBox="1"/>
          <p:nvPr/>
        </p:nvSpPr>
        <p:spPr bwMode="gray">
          <a:xfrm>
            <a:off x="3035429" y="543069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2B9B974A-83E9-4660-8ADC-A5EDA4ED3379}"/>
              </a:ext>
            </a:extLst>
          </p:cNvPr>
          <p:cNvCxnSpPr>
            <a:stCxn id="13" idx="3"/>
            <a:endCxn id="14" idx="1"/>
          </p:cNvCxnSpPr>
          <p:nvPr/>
        </p:nvCxnSpPr>
        <p:spPr bwMode="gray">
          <a:xfrm>
            <a:off x="3550725" y="5159258"/>
            <a:ext cx="4016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7CC1C287-B70D-450B-A6AC-25B337E5152D}"/>
              </a:ext>
            </a:extLst>
          </p:cNvPr>
          <p:cNvSpPr txBox="1"/>
          <p:nvPr/>
        </p:nvSpPr>
        <p:spPr bwMode="gray">
          <a:xfrm>
            <a:off x="851049" y="3448964"/>
            <a:ext cx="7138416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tunnel-policy policy1</a:t>
            </a: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[PE1-tunnel-policy-policy1] tunnel select-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seq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cr-lsp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load-balance-number 2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2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EC0736-999F-4164-B707-799B3866606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VPN</a:t>
            </a:r>
            <a:r>
              <a:rPr lang="zh-CN" altLang="en-US">
                <a:sym typeface="Huawei Sans" panose="020C0503030203020204" pitchFamily="34" charset="0"/>
              </a:rPr>
              <a:t>应用隧道策略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1D8927D-59DA-4B9D-94B6-C0D74E62B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配置隧道策略后，需要对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应用该策略。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的类型不同，其应用隧道策略的方式也不同。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本例为对</a:t>
            </a:r>
            <a:r>
              <a:rPr lang="en-US" altLang="zh-CN" sz="1600" dirty="0">
                <a:sym typeface="Huawei Sans" panose="020C0503030203020204" pitchFamily="34" charset="0"/>
              </a:rPr>
              <a:t>L3VPNv4</a:t>
            </a:r>
            <a:r>
              <a:rPr lang="zh-CN" altLang="en-US" sz="1600" dirty="0">
                <a:sym typeface="Huawei Sans" panose="020C0503030203020204" pitchFamily="34" charset="0"/>
              </a:rPr>
              <a:t>应用隧道策略示例。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903E1161-5028-4B81-870D-1251D0C30156}"/>
              </a:ext>
            </a:extLst>
          </p:cNvPr>
          <p:cNvGrpSpPr/>
          <p:nvPr/>
        </p:nvGrpSpPr>
        <p:grpSpPr bwMode="gray">
          <a:xfrm>
            <a:off x="4138945" y="4204306"/>
            <a:ext cx="2706058" cy="771420"/>
            <a:chOff x="3822300" y="5115978"/>
            <a:chExt cx="4533715" cy="719449"/>
          </a:xfrm>
        </p:grpSpPr>
        <p:sp>
          <p:nvSpPr>
            <p:cNvPr id="5" name="Can 9">
              <a:extLst>
                <a:ext uri="{FF2B5EF4-FFF2-40B4-BE49-F238E27FC236}">
                  <a16:creationId xmlns="" xmlns:a16="http://schemas.microsoft.com/office/drawing/2014/main" id="{938EC89C-4E55-434A-9ADA-68DF6166C3FE}"/>
                </a:ext>
              </a:extLst>
            </p:cNvPr>
            <p:cNvSpPr/>
            <p:nvPr/>
          </p:nvSpPr>
          <p:spPr bwMode="gray">
            <a:xfrm rot="5400000">
              <a:off x="5935269" y="3414681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Can 9">
              <a:extLst>
                <a:ext uri="{FF2B5EF4-FFF2-40B4-BE49-F238E27FC236}">
                  <a16:creationId xmlns="" xmlns:a16="http://schemas.microsoft.com/office/drawing/2014/main" id="{E104C257-275A-4B9E-8574-4CE3CA6E0FF2}"/>
                </a:ext>
              </a:extLst>
            </p:cNvPr>
            <p:cNvSpPr/>
            <p:nvPr/>
          </p:nvSpPr>
          <p:spPr bwMode="gray">
            <a:xfrm rot="5400000">
              <a:off x="5935269" y="3003009"/>
              <a:ext cx="307777" cy="4533715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8603B8BE-9565-4AE3-A8DE-13BFF65180BE}"/>
                </a:ext>
              </a:extLst>
            </p:cNvPr>
            <p:cNvSpPr txBox="1"/>
            <p:nvPr/>
          </p:nvSpPr>
          <p:spPr bwMode="gray">
            <a:xfrm>
              <a:off x="4827425" y="5528167"/>
              <a:ext cx="2523607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zh-CN" altLang="en-US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="" xmlns:a16="http://schemas.microsoft.com/office/drawing/2014/main" id="{487AFF60-415D-4BE4-87C8-7E30D9E2BF58}"/>
                </a:ext>
              </a:extLst>
            </p:cNvPr>
            <p:cNvSpPr txBox="1"/>
            <p:nvPr/>
          </p:nvSpPr>
          <p:spPr bwMode="gray">
            <a:xfrm>
              <a:off x="4768050" y="5132234"/>
              <a:ext cx="2523607" cy="287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TE</a:t>
              </a:r>
              <a:endParaRPr lang="zh-CN" altLang="en-US" sz="1400" b="1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13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1BD89193-C29A-4BEF-A83C-80ECF5984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010725" y="4881710"/>
            <a:ext cx="540000" cy="441818"/>
          </a:xfrm>
          <a:prstGeom prst="rect">
            <a:avLst/>
          </a:prstGeom>
          <a:noFill/>
        </p:spPr>
      </p:pic>
      <p:pic>
        <p:nvPicPr>
          <p:cNvPr id="14" name="Picture 12" descr="E:\2016.01\1.12 扁平化图标\蓝色\AR-蓝色最新-40.png">
            <a:extLst>
              <a:ext uri="{FF2B5EF4-FFF2-40B4-BE49-F238E27FC236}">
                <a16:creationId xmlns="" xmlns:a16="http://schemas.microsoft.com/office/drawing/2014/main" id="{BF547838-DAAB-4BA6-8FCF-A9900F8E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567335" y="4881710"/>
            <a:ext cx="540000" cy="441818"/>
          </a:xfrm>
          <a:prstGeom prst="rect">
            <a:avLst/>
          </a:prstGeom>
          <a:noFill/>
        </p:spPr>
      </p:pic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48139D15-FF41-4311-972E-FFD67F3D3B97}"/>
              </a:ext>
            </a:extLst>
          </p:cNvPr>
          <p:cNvSpPr txBox="1"/>
          <p:nvPr/>
        </p:nvSpPr>
        <p:spPr bwMode="gray">
          <a:xfrm>
            <a:off x="7638074" y="537405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B8722423-26F1-4F38-A889-ECF278FDB723}"/>
              </a:ext>
            </a:extLst>
          </p:cNvPr>
          <p:cNvSpPr txBox="1"/>
          <p:nvPr/>
        </p:nvSpPr>
        <p:spPr bwMode="gray">
          <a:xfrm>
            <a:off x="3035429" y="537405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2B9B974A-83E9-4660-8ADC-A5EDA4ED3379}"/>
              </a:ext>
            </a:extLst>
          </p:cNvPr>
          <p:cNvCxnSpPr>
            <a:stCxn id="13" idx="3"/>
            <a:endCxn id="14" idx="1"/>
          </p:cNvCxnSpPr>
          <p:nvPr/>
        </p:nvCxnSpPr>
        <p:spPr bwMode="gray">
          <a:xfrm>
            <a:off x="3550725" y="5102619"/>
            <a:ext cx="4016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7CC1C287-B70D-450B-A6AC-25B337E5152D}"/>
              </a:ext>
            </a:extLst>
          </p:cNvPr>
          <p:cNvSpPr txBox="1"/>
          <p:nvPr/>
        </p:nvSpPr>
        <p:spPr bwMode="gray">
          <a:xfrm>
            <a:off x="823016" y="3059668"/>
            <a:ext cx="442482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vpn1</a:t>
            </a: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[PE1-vpn-instance-vpnb] ipv4-family</a:t>
            </a: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[PE1-vpn-instance-vpnb-af-ipv4]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tnl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-policy policy1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29CB506-DCA1-4F23-9432-3BA11650121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扩展：</a:t>
            </a:r>
            <a:r>
              <a:rPr lang="en-US" altLang="zh-CN">
                <a:sym typeface="Huawei Sans" panose="020C0503030203020204" pitchFamily="34" charset="0"/>
              </a:rPr>
              <a:t>SR Policy</a:t>
            </a:r>
            <a:r>
              <a:rPr lang="zh-CN" altLang="en-US">
                <a:sym typeface="Huawei Sans" panose="020C0503030203020204" pitchFamily="34" charset="0"/>
              </a:rPr>
              <a:t>引流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8AA5275-E180-4AF6-9E75-462AB4FDA6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隧道策略是华为在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时代对于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业务迭代的设计。它</a:t>
            </a:r>
            <a:r>
              <a:rPr lang="zh-CN" altLang="en-US" sz="1600" dirty="0" smtClean="0">
                <a:sym typeface="Huawei Sans" panose="020C0503030203020204" pitchFamily="34" charset="0"/>
              </a:rPr>
              <a:t>有效地将</a:t>
            </a:r>
            <a:r>
              <a:rPr lang="zh-CN" altLang="en-US" sz="1600" dirty="0">
                <a:sym typeface="Huawei Sans" panose="020C0503030203020204" pitchFamily="34" charset="0"/>
              </a:rPr>
              <a:t>隧道建立和隧道选择解耦，这样可以灵活地将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指定到多个隧道进行负载分担。引入</a:t>
            </a:r>
            <a:r>
              <a:rPr lang="en-US" altLang="zh-CN" sz="1600" dirty="0">
                <a:sym typeface="Huawei Sans" panose="020C0503030203020204" pitchFamily="34" charset="0"/>
              </a:rPr>
              <a:t>Segment Routing</a:t>
            </a:r>
            <a:r>
              <a:rPr lang="zh-CN" altLang="en-US" sz="1600" dirty="0">
                <a:sym typeface="Huawei Sans" panose="020C0503030203020204" pitchFamily="34" charset="0"/>
              </a:rPr>
              <a:t>技术后，这个方式有了变化。</a:t>
            </a:r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将隧道建立（</a:t>
            </a:r>
            <a:r>
              <a:rPr lang="en-US" altLang="zh-CN" sz="1600" dirty="0">
                <a:sym typeface="Huawei Sans" panose="020C0503030203020204" pitchFamily="34" charset="0"/>
              </a:rPr>
              <a:t>SR</a:t>
            </a:r>
            <a:r>
              <a:rPr lang="zh-CN" altLang="en-US" sz="1600" dirty="0">
                <a:sym typeface="Huawei Sans" panose="020C0503030203020204" pitchFamily="34" charset="0"/>
              </a:rPr>
              <a:t>转发路径）和隧道策略（默认基于</a:t>
            </a:r>
            <a:r>
              <a:rPr lang="en-US" altLang="zh-CN" sz="1600" dirty="0"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sym typeface="Huawei Sans" panose="020C0503030203020204" pitchFamily="34" charset="0"/>
              </a:rPr>
              <a:t>引流）融合在一起。</a:t>
            </a:r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隧道不支持与其他隧道混合选择。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一个</a:t>
            </a:r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隧道由三元组</a:t>
            </a:r>
            <a:r>
              <a:rPr lang="en-US" altLang="zh-CN" sz="1600" dirty="0">
                <a:sym typeface="Huawei Sans" panose="020C0503030203020204" pitchFamily="34" charset="0"/>
              </a:rPr>
              <a:t>&lt;Headend, Color, </a:t>
            </a:r>
            <a:r>
              <a:rPr lang="en-US" altLang="zh-CN" sz="1600" dirty="0" err="1">
                <a:sym typeface="Huawei Sans" panose="020C0503030203020204" pitchFamily="34" charset="0"/>
              </a:rPr>
              <a:t>EndPoint</a:t>
            </a:r>
            <a:r>
              <a:rPr lang="en-US" altLang="zh-CN" sz="1600" dirty="0"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sym typeface="Huawei Sans" panose="020C0503030203020204" pitchFamily="34" charset="0"/>
              </a:rPr>
              <a:t>组成，可包含多条转发路径。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业务则基于此</a:t>
            </a:r>
            <a:r>
              <a:rPr lang="en-US" altLang="zh-CN" sz="1600" dirty="0">
                <a:sym typeface="Huawei Sans" panose="020C0503030203020204" pitchFamily="34" charset="0"/>
              </a:rPr>
              <a:t>Color</a:t>
            </a:r>
            <a:r>
              <a:rPr lang="zh-CN" altLang="en-US" sz="1600" dirty="0">
                <a:sym typeface="Huawei Sans" panose="020C0503030203020204" pitchFamily="34" charset="0"/>
              </a:rPr>
              <a:t>选择匹配的</a:t>
            </a:r>
            <a:r>
              <a:rPr lang="en-US" altLang="zh-CN" sz="1600" dirty="0">
                <a:sym typeface="Huawei Sans" panose="020C0503030203020204" pitchFamily="34" charset="0"/>
              </a:rPr>
              <a:t>SR Policy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en-US" altLang="zh-CN" sz="1600" dirty="0">
              <a:sym typeface="Huawei Sans" panose="020C0503030203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AC5EE917-81CD-4CA2-A0E3-198762915B4D}"/>
              </a:ext>
            </a:extLst>
          </p:cNvPr>
          <p:cNvSpPr txBox="1"/>
          <p:nvPr/>
        </p:nvSpPr>
        <p:spPr bwMode="gray">
          <a:xfrm>
            <a:off x="3945706" y="5754701"/>
            <a:ext cx="1500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&lt;R1, Green, R4&gt;</a:t>
            </a:r>
            <a:endParaRPr lang="zh-CN" altLang="en-US" sz="1400">
              <a:solidFill>
                <a:srgbClr val="00B05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53689D34-0728-4E5B-A763-20DE9DDAA9B5}"/>
              </a:ext>
            </a:extLst>
          </p:cNvPr>
          <p:cNvSpPr txBox="1"/>
          <p:nvPr/>
        </p:nvSpPr>
        <p:spPr bwMode="gray">
          <a:xfrm>
            <a:off x="7309848" y="3486791"/>
            <a:ext cx="4040384" cy="157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R1</a:t>
            </a:r>
            <a:r>
              <a:rPr lang="zh-CN" altLang="en-US" sz="1400" dirty="0"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ym typeface="Huawei Sans" panose="020C0503030203020204" pitchFamily="34" charset="0"/>
              </a:rPr>
              <a:t>R4</a:t>
            </a:r>
            <a:r>
              <a:rPr lang="zh-CN" altLang="en-US" sz="1400" dirty="0">
                <a:sym typeface="Huawei Sans" panose="020C0503030203020204" pitchFamily="34" charset="0"/>
              </a:rPr>
              <a:t>有两条</a:t>
            </a:r>
            <a:r>
              <a:rPr lang="en-US" altLang="zh-CN" sz="1400" dirty="0"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sym typeface="Huawei Sans" panose="020C0503030203020204" pitchFamily="34" charset="0"/>
              </a:rPr>
              <a:t>隧道，颜色分别为</a:t>
            </a:r>
            <a:r>
              <a:rPr lang="en-US" altLang="zh-CN" sz="1400" dirty="0">
                <a:sym typeface="Huawei Sans" panose="020C0503030203020204" pitchFamily="34" charset="0"/>
              </a:rPr>
              <a:t>Blue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Green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en-US" altLang="zh-CN" sz="1400" dirty="0"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ym typeface="Huawei Sans" panose="020C0503030203020204" pitchFamily="34" charset="0"/>
              </a:rPr>
              <a:t>接入流量到达头端</a:t>
            </a:r>
            <a:r>
              <a:rPr lang="en-US" altLang="zh-CN" sz="1400" dirty="0">
                <a:sym typeface="Huawei Sans" panose="020C0503030203020204" pitchFamily="34" charset="0"/>
              </a:rPr>
              <a:t>R1</a:t>
            </a:r>
            <a:r>
              <a:rPr lang="zh-CN" altLang="en-US" sz="1400" dirty="0">
                <a:sym typeface="Huawei Sans" panose="020C0503030203020204" pitchFamily="34" charset="0"/>
              </a:rPr>
              <a:t>查询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路由表。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路由颜色为</a:t>
            </a:r>
            <a:r>
              <a:rPr lang="en-US" altLang="zh-CN" sz="1400" dirty="0">
                <a:sym typeface="Huawei Sans" panose="020C0503030203020204" pitchFamily="34" charset="0"/>
              </a:rPr>
              <a:t>Blue</a:t>
            </a:r>
            <a:r>
              <a:rPr lang="zh-CN" altLang="en-US" sz="1400" dirty="0">
                <a:sym typeface="Huawei Sans" panose="020C0503030203020204" pitchFamily="34" charset="0"/>
              </a:rPr>
              <a:t>，则选择相同颜色的</a:t>
            </a:r>
            <a:r>
              <a:rPr lang="en-US" altLang="zh-CN" sz="1400" dirty="0">
                <a:sym typeface="Huawei Sans" panose="020C0503030203020204" pitchFamily="34" charset="0"/>
              </a:rPr>
              <a:t>SR Policy</a:t>
            </a:r>
            <a:r>
              <a:rPr lang="zh-CN" altLang="en-US" sz="1400" dirty="0">
                <a:sym typeface="Huawei Sans" panose="020C0503030203020204" pitchFamily="34" charset="0"/>
              </a:rPr>
              <a:t>隧道迭代转发。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3FD58611-8CEF-46B5-B28B-7A32B5A1D850}"/>
              </a:ext>
            </a:extLst>
          </p:cNvPr>
          <p:cNvCxnSpPr>
            <a:cxnSpLocks/>
            <a:endCxn id="15" idx="3"/>
          </p:cNvCxnSpPr>
          <p:nvPr/>
        </p:nvCxnSpPr>
        <p:spPr bwMode="gray">
          <a:xfrm flipH="1" flipV="1">
            <a:off x="5773029" y="3962646"/>
            <a:ext cx="879792" cy="813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="" xmlns:a16="http://schemas.microsoft.com/office/drawing/2014/main" id="{CB304A60-CEED-40E3-B63E-4B36C6D691E7}"/>
              </a:ext>
            </a:extLst>
          </p:cNvPr>
          <p:cNvCxnSpPr>
            <a:cxnSpLocks/>
            <a:endCxn id="16" idx="3"/>
          </p:cNvCxnSpPr>
          <p:nvPr/>
        </p:nvCxnSpPr>
        <p:spPr bwMode="gray">
          <a:xfrm flipH="1">
            <a:off x="5773029" y="4701588"/>
            <a:ext cx="879791" cy="707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2B6D33B5-10AE-4407-A4A6-B7E79E77B653}"/>
              </a:ext>
            </a:extLst>
          </p:cNvPr>
          <p:cNvCxnSpPr/>
          <p:nvPr/>
        </p:nvCxnSpPr>
        <p:spPr bwMode="gray">
          <a:xfrm flipH="1">
            <a:off x="4074673" y="3899693"/>
            <a:ext cx="1466349" cy="16103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D5C550ED-440D-42A3-B420-E88E869EC584}"/>
              </a:ext>
            </a:extLst>
          </p:cNvPr>
          <p:cNvCxnSpPr/>
          <p:nvPr/>
        </p:nvCxnSpPr>
        <p:spPr bwMode="gray">
          <a:xfrm flipH="1" flipV="1">
            <a:off x="4073053" y="3888574"/>
            <a:ext cx="1456544" cy="16279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DCE2C720-534D-4BCB-B036-18AD008B7A18}"/>
              </a:ext>
            </a:extLst>
          </p:cNvPr>
          <p:cNvCxnSpPr>
            <a:cxnSpLocks/>
            <a:endCxn id="13" idx="1"/>
          </p:cNvCxnSpPr>
          <p:nvPr/>
        </p:nvCxnSpPr>
        <p:spPr bwMode="gray">
          <a:xfrm flipV="1">
            <a:off x="3021602" y="3962646"/>
            <a:ext cx="780096" cy="7389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14E37740-FF7E-4C8A-9848-4407368E6F93}"/>
              </a:ext>
            </a:extLst>
          </p:cNvPr>
          <p:cNvCxnSpPr>
            <a:cxnSpLocks/>
          </p:cNvCxnSpPr>
          <p:nvPr/>
        </p:nvCxnSpPr>
        <p:spPr bwMode="gray">
          <a:xfrm flipH="1">
            <a:off x="4060009" y="3967892"/>
            <a:ext cx="14810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2A67E32E-06A8-4B77-83CF-49FC7C408398}"/>
              </a:ext>
            </a:extLst>
          </p:cNvPr>
          <p:cNvCxnSpPr>
            <a:cxnSpLocks/>
          </p:cNvCxnSpPr>
          <p:nvPr/>
        </p:nvCxnSpPr>
        <p:spPr bwMode="gray">
          <a:xfrm flipH="1">
            <a:off x="4026609" y="5458775"/>
            <a:ext cx="14810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39B36E83-FBA3-463A-95F9-27B399CAC7F1}"/>
              </a:ext>
            </a:extLst>
          </p:cNvPr>
          <p:cNvCxnSpPr/>
          <p:nvPr/>
        </p:nvCxnSpPr>
        <p:spPr bwMode="gray">
          <a:xfrm flipV="1">
            <a:off x="5541022" y="3893153"/>
            <a:ext cx="0" cy="16234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2AFCDDE6-E5B1-48DC-B588-F9DB96D86C2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01698" y="3778219"/>
            <a:ext cx="449821" cy="3688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B551F05C-BE84-4B5F-BE66-C22F40CFADB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01698" y="5224768"/>
            <a:ext cx="449821" cy="3688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5ACC8815-B27B-45DF-A464-295CDF836C2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23207" y="3778219"/>
            <a:ext cx="449821" cy="36885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FBC6DAF2-7549-4E00-B82D-CD8903B60F2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23207" y="5224768"/>
            <a:ext cx="449821" cy="3688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D0DA5706-E0A0-4C4F-8DA8-81BED21DB42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18564" y="4494020"/>
            <a:ext cx="449821" cy="368854"/>
          </a:xfrm>
          <a:prstGeom prst="rect">
            <a:avLst/>
          </a:prstGeom>
        </p:spPr>
      </p:pic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40E430A2-857F-40EA-B133-110D02CD276B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 bwMode="gray">
          <a:xfrm flipV="1">
            <a:off x="4026609" y="4147073"/>
            <a:ext cx="0" cy="10776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7C8A9601-7FF2-4B68-A604-F7B3C39FECCD}"/>
              </a:ext>
            </a:extLst>
          </p:cNvPr>
          <p:cNvCxnSpPr>
            <a:cxnSpLocks/>
            <a:endCxn id="14" idx="1"/>
          </p:cNvCxnSpPr>
          <p:nvPr/>
        </p:nvCxnSpPr>
        <p:spPr bwMode="gray">
          <a:xfrm>
            <a:off x="3021602" y="4701588"/>
            <a:ext cx="780096" cy="7076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A5B76193-9C36-4865-9E1F-2DF84419C24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08832" y="4494020"/>
            <a:ext cx="449821" cy="368854"/>
          </a:xfrm>
          <a:prstGeom prst="rect">
            <a:avLst/>
          </a:prstGeom>
        </p:spPr>
      </p:pic>
      <p:sp>
        <p:nvSpPr>
          <p:cNvPr id="46" name="任意多边形: 形状 45">
            <a:extLst>
              <a:ext uri="{FF2B5EF4-FFF2-40B4-BE49-F238E27FC236}">
                <a16:creationId xmlns="" xmlns:a16="http://schemas.microsoft.com/office/drawing/2014/main" id="{52296493-1BE2-4A59-97DA-E43B350E8ACC}"/>
              </a:ext>
            </a:extLst>
          </p:cNvPr>
          <p:cNvSpPr/>
          <p:nvPr/>
        </p:nvSpPr>
        <p:spPr bwMode="gray">
          <a:xfrm>
            <a:off x="3165851" y="3689473"/>
            <a:ext cx="3378200" cy="520700"/>
          </a:xfrm>
          <a:custGeom>
            <a:avLst/>
            <a:gdLst>
              <a:gd name="connsiteX0" fmla="*/ 0 w 3378200"/>
              <a:gd name="connsiteY0" fmla="*/ 520700 h 520700"/>
              <a:gd name="connsiteX1" fmla="*/ 558800 w 3378200"/>
              <a:gd name="connsiteY1" fmla="*/ 0 h 520700"/>
              <a:gd name="connsiteX2" fmla="*/ 2870200 w 3378200"/>
              <a:gd name="connsiteY2" fmla="*/ 0 h 520700"/>
              <a:gd name="connsiteX3" fmla="*/ 3378200 w 3378200"/>
              <a:gd name="connsiteY3" fmla="*/ 4318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00" h="520700">
                <a:moveTo>
                  <a:pt x="0" y="520700"/>
                </a:moveTo>
                <a:lnTo>
                  <a:pt x="558800" y="0"/>
                </a:lnTo>
                <a:lnTo>
                  <a:pt x="2870200" y="0"/>
                </a:lnTo>
                <a:lnTo>
                  <a:pt x="3378200" y="431800"/>
                </a:lnTo>
              </a:path>
            </a:pathLst>
          </a:custGeom>
          <a:noFill/>
          <a:ln w="28575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任意多边形: 形状 46">
            <a:extLst>
              <a:ext uri="{FF2B5EF4-FFF2-40B4-BE49-F238E27FC236}">
                <a16:creationId xmlns="" xmlns:a16="http://schemas.microsoft.com/office/drawing/2014/main" id="{87B87A52-0431-46A9-B7E6-5CDA72E02F46}"/>
              </a:ext>
            </a:extLst>
          </p:cNvPr>
          <p:cNvSpPr/>
          <p:nvPr/>
        </p:nvSpPr>
        <p:spPr bwMode="gray">
          <a:xfrm>
            <a:off x="3091573" y="5036240"/>
            <a:ext cx="3284838" cy="635000"/>
          </a:xfrm>
          <a:custGeom>
            <a:avLst/>
            <a:gdLst>
              <a:gd name="connsiteX0" fmla="*/ 0 w 3467100"/>
              <a:gd name="connsiteY0" fmla="*/ 0 h 635000"/>
              <a:gd name="connsiteX1" fmla="*/ 698500 w 3467100"/>
              <a:gd name="connsiteY1" fmla="*/ 635000 h 635000"/>
              <a:gd name="connsiteX2" fmla="*/ 2946400 w 3467100"/>
              <a:gd name="connsiteY2" fmla="*/ 635000 h 635000"/>
              <a:gd name="connsiteX3" fmla="*/ 3467100 w 3467100"/>
              <a:gd name="connsiteY3" fmla="*/ 17780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00" h="635000">
                <a:moveTo>
                  <a:pt x="0" y="0"/>
                </a:moveTo>
                <a:lnTo>
                  <a:pt x="698500" y="635000"/>
                </a:lnTo>
                <a:lnTo>
                  <a:pt x="2946400" y="635000"/>
                </a:lnTo>
                <a:lnTo>
                  <a:pt x="3467100" y="177800"/>
                </a:lnTo>
              </a:path>
            </a:pathLst>
          </a:custGeom>
          <a:noFill/>
          <a:ln w="28575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501D369C-503A-4265-A3CB-BA7A0517E70A}"/>
              </a:ext>
            </a:extLst>
          </p:cNvPr>
          <p:cNvSpPr txBox="1"/>
          <p:nvPr/>
        </p:nvSpPr>
        <p:spPr bwMode="gray">
          <a:xfrm>
            <a:off x="4009149" y="3262401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&lt;R1, Blue, R4&gt;</a:t>
            </a:r>
            <a:endParaRPr lang="zh-CN" altLang="en-US" sz="140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50816A88-5D84-413D-BDFD-80E90F9EE804}"/>
              </a:ext>
            </a:extLst>
          </p:cNvPr>
          <p:cNvSpPr txBox="1"/>
          <p:nvPr/>
        </p:nvSpPr>
        <p:spPr bwMode="gray">
          <a:xfrm>
            <a:off x="2788573" y="4961228"/>
            <a:ext cx="897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C6A82781-0626-41AC-AF77-E6D216E183D9}"/>
              </a:ext>
            </a:extLst>
          </p:cNvPr>
          <p:cNvSpPr txBox="1"/>
          <p:nvPr/>
        </p:nvSpPr>
        <p:spPr bwMode="gray">
          <a:xfrm>
            <a:off x="6462563" y="4938873"/>
            <a:ext cx="40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="" xmlns:a16="http://schemas.microsoft.com/office/drawing/2014/main" id="{1C0B23B6-43C4-46D1-90A2-D31B75BF3EB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1768" y="4494020"/>
            <a:ext cx="449821" cy="368854"/>
          </a:xfrm>
          <a:prstGeom prst="rect">
            <a:avLst/>
          </a:prstGeom>
        </p:spPr>
      </p:pic>
      <p:cxnSp>
        <p:nvCxnSpPr>
          <p:cNvPr id="54" name="直接连接符 53">
            <a:extLst>
              <a:ext uri="{FF2B5EF4-FFF2-40B4-BE49-F238E27FC236}">
                <a16:creationId xmlns="" xmlns:a16="http://schemas.microsoft.com/office/drawing/2014/main" id="{5D4F78B9-612D-4518-9D00-9F9A0503FC3E}"/>
              </a:ext>
            </a:extLst>
          </p:cNvPr>
          <p:cNvCxnSpPr>
            <a:cxnSpLocks/>
            <a:stCxn id="51" idx="3"/>
            <a:endCxn id="12" idx="1"/>
          </p:cNvCxnSpPr>
          <p:nvPr/>
        </p:nvCxnSpPr>
        <p:spPr bwMode="gray">
          <a:xfrm>
            <a:off x="1291589" y="4678447"/>
            <a:ext cx="15172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49F328A9-6506-4579-B5A8-298B71DBF692}"/>
              </a:ext>
            </a:extLst>
          </p:cNvPr>
          <p:cNvSpPr txBox="1"/>
          <p:nvPr/>
        </p:nvSpPr>
        <p:spPr bwMode="gray">
          <a:xfrm>
            <a:off x="857008" y="4961228"/>
            <a:ext cx="897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="" xmlns:a16="http://schemas.microsoft.com/office/drawing/2014/main" id="{B67C0AF3-4C8C-43FE-923A-9CEFB6C380CE}"/>
              </a:ext>
            </a:extLst>
          </p:cNvPr>
          <p:cNvGrpSpPr/>
          <p:nvPr/>
        </p:nvGrpSpPr>
        <p:grpSpPr bwMode="gray">
          <a:xfrm>
            <a:off x="1504359" y="3254018"/>
            <a:ext cx="910143" cy="1179072"/>
            <a:chOff x="2790705" y="3455181"/>
            <a:chExt cx="1102005" cy="1427630"/>
          </a:xfrm>
        </p:grpSpPr>
        <p:sp>
          <p:nvSpPr>
            <p:cNvPr id="59" name="forms_324103">
              <a:extLst>
                <a:ext uri="{FF2B5EF4-FFF2-40B4-BE49-F238E27FC236}">
                  <a16:creationId xmlns="" xmlns:a16="http://schemas.microsoft.com/office/drawing/2014/main" id="{0E10D421-23C5-4599-AA33-3395933FE71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078524" y="3547393"/>
              <a:ext cx="503319" cy="609686"/>
            </a:xfrm>
            <a:custGeom>
              <a:avLst/>
              <a:gdLst>
                <a:gd name="connsiteX0" fmla="*/ 162114 w 500873"/>
                <a:gd name="connsiteY0" fmla="*/ 359955 h 606722"/>
                <a:gd name="connsiteX1" fmla="*/ 384486 w 500873"/>
                <a:gd name="connsiteY1" fmla="*/ 359955 h 606722"/>
                <a:gd name="connsiteX2" fmla="*/ 396860 w 500873"/>
                <a:gd name="connsiteY2" fmla="*/ 372295 h 606722"/>
                <a:gd name="connsiteX3" fmla="*/ 384486 w 500873"/>
                <a:gd name="connsiteY3" fmla="*/ 384723 h 606722"/>
                <a:gd name="connsiteX4" fmla="*/ 162114 w 500873"/>
                <a:gd name="connsiteY4" fmla="*/ 384723 h 606722"/>
                <a:gd name="connsiteX5" fmla="*/ 149740 w 500873"/>
                <a:gd name="connsiteY5" fmla="*/ 372295 h 606722"/>
                <a:gd name="connsiteX6" fmla="*/ 162114 w 500873"/>
                <a:gd name="connsiteY6" fmla="*/ 359955 h 606722"/>
                <a:gd name="connsiteX7" fmla="*/ 116452 w 500873"/>
                <a:gd name="connsiteY7" fmla="*/ 359955 h 606722"/>
                <a:gd name="connsiteX8" fmla="*/ 122058 w 500873"/>
                <a:gd name="connsiteY8" fmla="*/ 359955 h 606722"/>
                <a:gd name="connsiteX9" fmla="*/ 134427 w 500873"/>
                <a:gd name="connsiteY9" fmla="*/ 372295 h 606722"/>
                <a:gd name="connsiteX10" fmla="*/ 122058 w 500873"/>
                <a:gd name="connsiteY10" fmla="*/ 384723 h 606722"/>
                <a:gd name="connsiteX11" fmla="*/ 116452 w 500873"/>
                <a:gd name="connsiteY11" fmla="*/ 384723 h 606722"/>
                <a:gd name="connsiteX12" fmla="*/ 104084 w 500873"/>
                <a:gd name="connsiteY12" fmla="*/ 372295 h 606722"/>
                <a:gd name="connsiteX13" fmla="*/ 116452 w 500873"/>
                <a:gd name="connsiteY13" fmla="*/ 359955 h 606722"/>
                <a:gd name="connsiteX14" fmla="*/ 162114 w 500873"/>
                <a:gd name="connsiteY14" fmla="*/ 303290 h 606722"/>
                <a:gd name="connsiteX15" fmla="*/ 384486 w 500873"/>
                <a:gd name="connsiteY15" fmla="*/ 303290 h 606722"/>
                <a:gd name="connsiteX16" fmla="*/ 396860 w 500873"/>
                <a:gd name="connsiteY16" fmla="*/ 315754 h 606722"/>
                <a:gd name="connsiteX17" fmla="*/ 384486 w 500873"/>
                <a:gd name="connsiteY17" fmla="*/ 328129 h 606722"/>
                <a:gd name="connsiteX18" fmla="*/ 162114 w 500873"/>
                <a:gd name="connsiteY18" fmla="*/ 328129 h 606722"/>
                <a:gd name="connsiteX19" fmla="*/ 149740 w 500873"/>
                <a:gd name="connsiteY19" fmla="*/ 315754 h 606722"/>
                <a:gd name="connsiteX20" fmla="*/ 162114 w 500873"/>
                <a:gd name="connsiteY20" fmla="*/ 303290 h 606722"/>
                <a:gd name="connsiteX21" fmla="*/ 116452 w 500873"/>
                <a:gd name="connsiteY21" fmla="*/ 303290 h 606722"/>
                <a:gd name="connsiteX22" fmla="*/ 122058 w 500873"/>
                <a:gd name="connsiteY22" fmla="*/ 303290 h 606722"/>
                <a:gd name="connsiteX23" fmla="*/ 134427 w 500873"/>
                <a:gd name="connsiteY23" fmla="*/ 315754 h 606722"/>
                <a:gd name="connsiteX24" fmla="*/ 122058 w 500873"/>
                <a:gd name="connsiteY24" fmla="*/ 328129 h 606722"/>
                <a:gd name="connsiteX25" fmla="*/ 116452 w 500873"/>
                <a:gd name="connsiteY25" fmla="*/ 328129 h 606722"/>
                <a:gd name="connsiteX26" fmla="*/ 104084 w 500873"/>
                <a:gd name="connsiteY26" fmla="*/ 315754 h 606722"/>
                <a:gd name="connsiteX27" fmla="*/ 116452 w 500873"/>
                <a:gd name="connsiteY27" fmla="*/ 303290 h 606722"/>
                <a:gd name="connsiteX28" fmla="*/ 162114 w 500873"/>
                <a:gd name="connsiteY28" fmla="*/ 246767 h 606722"/>
                <a:gd name="connsiteX29" fmla="*/ 384486 w 500873"/>
                <a:gd name="connsiteY29" fmla="*/ 246767 h 606722"/>
                <a:gd name="connsiteX30" fmla="*/ 396860 w 500873"/>
                <a:gd name="connsiteY30" fmla="*/ 259151 h 606722"/>
                <a:gd name="connsiteX31" fmla="*/ 384486 w 500873"/>
                <a:gd name="connsiteY31" fmla="*/ 271535 h 606722"/>
                <a:gd name="connsiteX32" fmla="*/ 162114 w 500873"/>
                <a:gd name="connsiteY32" fmla="*/ 271535 h 606722"/>
                <a:gd name="connsiteX33" fmla="*/ 149740 w 500873"/>
                <a:gd name="connsiteY33" fmla="*/ 259151 h 606722"/>
                <a:gd name="connsiteX34" fmla="*/ 162114 w 500873"/>
                <a:gd name="connsiteY34" fmla="*/ 246767 h 606722"/>
                <a:gd name="connsiteX35" fmla="*/ 116452 w 500873"/>
                <a:gd name="connsiteY35" fmla="*/ 246767 h 606722"/>
                <a:gd name="connsiteX36" fmla="*/ 122058 w 500873"/>
                <a:gd name="connsiteY36" fmla="*/ 246767 h 606722"/>
                <a:gd name="connsiteX37" fmla="*/ 134427 w 500873"/>
                <a:gd name="connsiteY37" fmla="*/ 259151 h 606722"/>
                <a:gd name="connsiteX38" fmla="*/ 122058 w 500873"/>
                <a:gd name="connsiteY38" fmla="*/ 271535 h 606722"/>
                <a:gd name="connsiteX39" fmla="*/ 116452 w 500873"/>
                <a:gd name="connsiteY39" fmla="*/ 271535 h 606722"/>
                <a:gd name="connsiteX40" fmla="*/ 104084 w 500873"/>
                <a:gd name="connsiteY40" fmla="*/ 259151 h 606722"/>
                <a:gd name="connsiteX41" fmla="*/ 116452 w 500873"/>
                <a:gd name="connsiteY41" fmla="*/ 246767 h 606722"/>
                <a:gd name="connsiteX42" fmla="*/ 354029 w 500873"/>
                <a:gd name="connsiteY42" fmla="*/ 42302 h 606722"/>
                <a:gd name="connsiteX43" fmla="*/ 354029 w 500873"/>
                <a:gd name="connsiteY43" fmla="*/ 111266 h 606722"/>
                <a:gd name="connsiteX44" fmla="*/ 364352 w 500873"/>
                <a:gd name="connsiteY44" fmla="*/ 136328 h 606722"/>
                <a:gd name="connsiteX45" fmla="*/ 389449 w 500873"/>
                <a:gd name="connsiteY45" fmla="*/ 146726 h 606722"/>
                <a:gd name="connsiteX46" fmla="*/ 458600 w 500873"/>
                <a:gd name="connsiteY46" fmla="*/ 146726 h 606722"/>
                <a:gd name="connsiteX47" fmla="*/ 60250 w 500873"/>
                <a:gd name="connsiteY47" fmla="*/ 24795 h 606722"/>
                <a:gd name="connsiteX48" fmla="*/ 24830 w 500873"/>
                <a:gd name="connsiteY48" fmla="*/ 60165 h 606722"/>
                <a:gd name="connsiteX49" fmla="*/ 24830 w 500873"/>
                <a:gd name="connsiteY49" fmla="*/ 546557 h 606722"/>
                <a:gd name="connsiteX50" fmla="*/ 60250 w 500873"/>
                <a:gd name="connsiteY50" fmla="*/ 581927 h 606722"/>
                <a:gd name="connsiteX51" fmla="*/ 440623 w 500873"/>
                <a:gd name="connsiteY51" fmla="*/ 581927 h 606722"/>
                <a:gd name="connsiteX52" fmla="*/ 476132 w 500873"/>
                <a:gd name="connsiteY52" fmla="*/ 546557 h 606722"/>
                <a:gd name="connsiteX53" fmla="*/ 476132 w 500873"/>
                <a:gd name="connsiteY53" fmla="*/ 171432 h 606722"/>
                <a:gd name="connsiteX54" fmla="*/ 389449 w 500873"/>
                <a:gd name="connsiteY54" fmla="*/ 171432 h 606722"/>
                <a:gd name="connsiteX55" fmla="*/ 346820 w 500873"/>
                <a:gd name="connsiteY55" fmla="*/ 153835 h 606722"/>
                <a:gd name="connsiteX56" fmla="*/ 329199 w 500873"/>
                <a:gd name="connsiteY56" fmla="*/ 111266 h 606722"/>
                <a:gd name="connsiteX57" fmla="*/ 329199 w 500873"/>
                <a:gd name="connsiteY57" fmla="*/ 24795 h 606722"/>
                <a:gd name="connsiteX58" fmla="*/ 60250 w 500873"/>
                <a:gd name="connsiteY58" fmla="*/ 0 h 606722"/>
                <a:gd name="connsiteX59" fmla="*/ 341569 w 500873"/>
                <a:gd name="connsiteY59" fmla="*/ 0 h 606722"/>
                <a:gd name="connsiteX60" fmla="*/ 350380 w 500873"/>
                <a:gd name="connsiteY60" fmla="*/ 3643 h 606722"/>
                <a:gd name="connsiteX61" fmla="*/ 497313 w 500873"/>
                <a:gd name="connsiteY61" fmla="*/ 150369 h 606722"/>
                <a:gd name="connsiteX62" fmla="*/ 500873 w 500873"/>
                <a:gd name="connsiteY62" fmla="*/ 159079 h 606722"/>
                <a:gd name="connsiteX63" fmla="*/ 500873 w 500873"/>
                <a:gd name="connsiteY63" fmla="*/ 546557 h 606722"/>
                <a:gd name="connsiteX64" fmla="*/ 440623 w 500873"/>
                <a:gd name="connsiteY64" fmla="*/ 606722 h 606722"/>
                <a:gd name="connsiteX65" fmla="*/ 60250 w 500873"/>
                <a:gd name="connsiteY65" fmla="*/ 606722 h 606722"/>
                <a:gd name="connsiteX66" fmla="*/ 0 w 500873"/>
                <a:gd name="connsiteY66" fmla="*/ 546557 h 606722"/>
                <a:gd name="connsiteX67" fmla="*/ 0 w 500873"/>
                <a:gd name="connsiteY67" fmla="*/ 60165 h 606722"/>
                <a:gd name="connsiteX68" fmla="*/ 60250 w 500873"/>
                <a:gd name="connsiteY6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00873" h="606722">
                  <a:moveTo>
                    <a:pt x="162114" y="359955"/>
                  </a:moveTo>
                  <a:lnTo>
                    <a:pt x="384486" y="359955"/>
                  </a:lnTo>
                  <a:cubicBezTo>
                    <a:pt x="391252" y="359955"/>
                    <a:pt x="396860" y="365459"/>
                    <a:pt x="396860" y="372295"/>
                  </a:cubicBezTo>
                  <a:cubicBezTo>
                    <a:pt x="396860" y="379130"/>
                    <a:pt x="391252" y="384723"/>
                    <a:pt x="384486" y="384723"/>
                  </a:cubicBezTo>
                  <a:lnTo>
                    <a:pt x="162114" y="384723"/>
                  </a:lnTo>
                  <a:cubicBezTo>
                    <a:pt x="155260" y="384723"/>
                    <a:pt x="149740" y="379130"/>
                    <a:pt x="149740" y="372295"/>
                  </a:cubicBezTo>
                  <a:cubicBezTo>
                    <a:pt x="149740" y="365459"/>
                    <a:pt x="155260" y="359955"/>
                    <a:pt x="162114" y="359955"/>
                  </a:cubicBezTo>
                  <a:close/>
                  <a:moveTo>
                    <a:pt x="116452" y="359955"/>
                  </a:moveTo>
                  <a:lnTo>
                    <a:pt x="122058" y="359955"/>
                  </a:lnTo>
                  <a:cubicBezTo>
                    <a:pt x="128821" y="359955"/>
                    <a:pt x="134427" y="365459"/>
                    <a:pt x="134427" y="372295"/>
                  </a:cubicBezTo>
                  <a:cubicBezTo>
                    <a:pt x="134427" y="379130"/>
                    <a:pt x="128821" y="384723"/>
                    <a:pt x="122058" y="384723"/>
                  </a:cubicBezTo>
                  <a:lnTo>
                    <a:pt x="116452" y="384723"/>
                  </a:lnTo>
                  <a:cubicBezTo>
                    <a:pt x="109601" y="384723"/>
                    <a:pt x="104084" y="379130"/>
                    <a:pt x="104084" y="372295"/>
                  </a:cubicBezTo>
                  <a:cubicBezTo>
                    <a:pt x="104084" y="365459"/>
                    <a:pt x="109601" y="359955"/>
                    <a:pt x="116452" y="359955"/>
                  </a:cubicBezTo>
                  <a:close/>
                  <a:moveTo>
                    <a:pt x="162114" y="303290"/>
                  </a:moveTo>
                  <a:lnTo>
                    <a:pt x="384486" y="303290"/>
                  </a:lnTo>
                  <a:cubicBezTo>
                    <a:pt x="391252" y="303290"/>
                    <a:pt x="396860" y="308899"/>
                    <a:pt x="396860" y="315754"/>
                  </a:cubicBezTo>
                  <a:cubicBezTo>
                    <a:pt x="396860" y="322609"/>
                    <a:pt x="391252" y="328129"/>
                    <a:pt x="384486" y="328129"/>
                  </a:cubicBezTo>
                  <a:lnTo>
                    <a:pt x="162114" y="328129"/>
                  </a:lnTo>
                  <a:cubicBezTo>
                    <a:pt x="155260" y="328129"/>
                    <a:pt x="149740" y="322609"/>
                    <a:pt x="149740" y="315754"/>
                  </a:cubicBezTo>
                  <a:cubicBezTo>
                    <a:pt x="149740" y="308899"/>
                    <a:pt x="155260" y="303290"/>
                    <a:pt x="162114" y="303290"/>
                  </a:cubicBezTo>
                  <a:close/>
                  <a:moveTo>
                    <a:pt x="116452" y="303290"/>
                  </a:moveTo>
                  <a:lnTo>
                    <a:pt x="122058" y="303290"/>
                  </a:lnTo>
                  <a:cubicBezTo>
                    <a:pt x="128821" y="303290"/>
                    <a:pt x="134427" y="308899"/>
                    <a:pt x="134427" y="315754"/>
                  </a:cubicBezTo>
                  <a:cubicBezTo>
                    <a:pt x="134427" y="322609"/>
                    <a:pt x="128821" y="328129"/>
                    <a:pt x="122058" y="328129"/>
                  </a:cubicBezTo>
                  <a:lnTo>
                    <a:pt x="116452" y="328129"/>
                  </a:lnTo>
                  <a:cubicBezTo>
                    <a:pt x="109601" y="328129"/>
                    <a:pt x="104084" y="322609"/>
                    <a:pt x="104084" y="315754"/>
                  </a:cubicBezTo>
                  <a:cubicBezTo>
                    <a:pt x="104084" y="308899"/>
                    <a:pt x="109601" y="303290"/>
                    <a:pt x="116452" y="303290"/>
                  </a:cubicBezTo>
                  <a:close/>
                  <a:moveTo>
                    <a:pt x="162114" y="246767"/>
                  </a:moveTo>
                  <a:lnTo>
                    <a:pt x="384486" y="246767"/>
                  </a:lnTo>
                  <a:cubicBezTo>
                    <a:pt x="391252" y="246767"/>
                    <a:pt x="396860" y="252291"/>
                    <a:pt x="396860" y="259151"/>
                  </a:cubicBezTo>
                  <a:cubicBezTo>
                    <a:pt x="396860" y="266011"/>
                    <a:pt x="391252" y="271535"/>
                    <a:pt x="384486" y="271535"/>
                  </a:cubicBezTo>
                  <a:lnTo>
                    <a:pt x="162114" y="271535"/>
                  </a:lnTo>
                  <a:cubicBezTo>
                    <a:pt x="155260" y="271535"/>
                    <a:pt x="149740" y="266011"/>
                    <a:pt x="149740" y="259151"/>
                  </a:cubicBezTo>
                  <a:cubicBezTo>
                    <a:pt x="149740" y="252291"/>
                    <a:pt x="155260" y="246767"/>
                    <a:pt x="162114" y="246767"/>
                  </a:cubicBezTo>
                  <a:close/>
                  <a:moveTo>
                    <a:pt x="116452" y="246767"/>
                  </a:moveTo>
                  <a:lnTo>
                    <a:pt x="122058" y="246767"/>
                  </a:lnTo>
                  <a:cubicBezTo>
                    <a:pt x="128821" y="246767"/>
                    <a:pt x="134427" y="252291"/>
                    <a:pt x="134427" y="259151"/>
                  </a:cubicBezTo>
                  <a:cubicBezTo>
                    <a:pt x="134427" y="266011"/>
                    <a:pt x="128821" y="271535"/>
                    <a:pt x="122058" y="271535"/>
                  </a:cubicBezTo>
                  <a:lnTo>
                    <a:pt x="116452" y="271535"/>
                  </a:lnTo>
                  <a:cubicBezTo>
                    <a:pt x="109601" y="271535"/>
                    <a:pt x="104084" y="266011"/>
                    <a:pt x="104084" y="259151"/>
                  </a:cubicBezTo>
                  <a:cubicBezTo>
                    <a:pt x="104084" y="252291"/>
                    <a:pt x="109601" y="246767"/>
                    <a:pt x="116452" y="246767"/>
                  </a:cubicBezTo>
                  <a:close/>
                  <a:moveTo>
                    <a:pt x="354029" y="42302"/>
                  </a:moveTo>
                  <a:lnTo>
                    <a:pt x="354029" y="111266"/>
                  </a:lnTo>
                  <a:cubicBezTo>
                    <a:pt x="354029" y="120775"/>
                    <a:pt x="357678" y="129662"/>
                    <a:pt x="364352" y="136328"/>
                  </a:cubicBezTo>
                  <a:cubicBezTo>
                    <a:pt x="371116" y="142993"/>
                    <a:pt x="380016" y="146726"/>
                    <a:pt x="389449" y="146726"/>
                  </a:cubicBezTo>
                  <a:lnTo>
                    <a:pt x="458600" y="146726"/>
                  </a:lnTo>
                  <a:close/>
                  <a:moveTo>
                    <a:pt x="60250" y="24795"/>
                  </a:moveTo>
                  <a:cubicBezTo>
                    <a:pt x="40760" y="24795"/>
                    <a:pt x="24830" y="40614"/>
                    <a:pt x="24830" y="60165"/>
                  </a:cubicBezTo>
                  <a:lnTo>
                    <a:pt x="24830" y="546557"/>
                  </a:lnTo>
                  <a:cubicBezTo>
                    <a:pt x="24830" y="566019"/>
                    <a:pt x="40760" y="581927"/>
                    <a:pt x="60250" y="581927"/>
                  </a:cubicBezTo>
                  <a:lnTo>
                    <a:pt x="440623" y="581927"/>
                  </a:lnTo>
                  <a:cubicBezTo>
                    <a:pt x="460202" y="581927"/>
                    <a:pt x="476132" y="566019"/>
                    <a:pt x="476132" y="546557"/>
                  </a:cubicBezTo>
                  <a:lnTo>
                    <a:pt x="476132" y="171432"/>
                  </a:lnTo>
                  <a:lnTo>
                    <a:pt x="389449" y="171432"/>
                  </a:lnTo>
                  <a:cubicBezTo>
                    <a:pt x="373341" y="171432"/>
                    <a:pt x="358212" y="165211"/>
                    <a:pt x="346820" y="153835"/>
                  </a:cubicBezTo>
                  <a:cubicBezTo>
                    <a:pt x="335429" y="142460"/>
                    <a:pt x="329199" y="127352"/>
                    <a:pt x="329199" y="111266"/>
                  </a:cubicBezTo>
                  <a:lnTo>
                    <a:pt x="329199" y="24795"/>
                  </a:lnTo>
                  <a:close/>
                  <a:moveTo>
                    <a:pt x="60250" y="0"/>
                  </a:moveTo>
                  <a:lnTo>
                    <a:pt x="341569" y="0"/>
                  </a:lnTo>
                  <a:cubicBezTo>
                    <a:pt x="344862" y="0"/>
                    <a:pt x="348066" y="1333"/>
                    <a:pt x="350380" y="3643"/>
                  </a:cubicBezTo>
                  <a:lnTo>
                    <a:pt x="497313" y="150369"/>
                  </a:lnTo>
                  <a:cubicBezTo>
                    <a:pt x="499627" y="152680"/>
                    <a:pt x="500873" y="155791"/>
                    <a:pt x="500873" y="159079"/>
                  </a:cubicBezTo>
                  <a:lnTo>
                    <a:pt x="500873" y="546557"/>
                  </a:lnTo>
                  <a:cubicBezTo>
                    <a:pt x="500873" y="579705"/>
                    <a:pt x="473907" y="606722"/>
                    <a:pt x="440623" y="606722"/>
                  </a:cubicBezTo>
                  <a:lnTo>
                    <a:pt x="60250" y="606722"/>
                  </a:lnTo>
                  <a:cubicBezTo>
                    <a:pt x="27055" y="606722"/>
                    <a:pt x="0" y="579705"/>
                    <a:pt x="0" y="546557"/>
                  </a:cubicBezTo>
                  <a:lnTo>
                    <a:pt x="0" y="60165"/>
                  </a:lnTo>
                  <a:cubicBezTo>
                    <a:pt x="0" y="27017"/>
                    <a:pt x="27055" y="0"/>
                    <a:pt x="60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="" xmlns:a16="http://schemas.microsoft.com/office/drawing/2014/main" id="{3B5F7F81-44DC-4FD5-873A-DA0DCEEC9213}"/>
                </a:ext>
              </a:extLst>
            </p:cNvPr>
            <p:cNvGrpSpPr/>
            <p:nvPr/>
          </p:nvGrpSpPr>
          <p:grpSpPr bwMode="gray">
            <a:xfrm>
              <a:off x="2790705" y="3455181"/>
              <a:ext cx="1102005" cy="1427630"/>
              <a:chOff x="2790705" y="3455181"/>
              <a:chExt cx="1102005" cy="1427630"/>
            </a:xfrm>
          </p:grpSpPr>
          <p:sp>
            <p:nvSpPr>
              <p:cNvPr id="61" name="圆角矩形标注 102">
                <a:extLst>
                  <a:ext uri="{FF2B5EF4-FFF2-40B4-BE49-F238E27FC236}">
                    <a16:creationId xmlns="" xmlns:a16="http://schemas.microsoft.com/office/drawing/2014/main" id="{3792AE90-F0BB-44C4-BFEE-76390917F959}"/>
                  </a:ext>
                </a:extLst>
              </p:cNvPr>
              <p:cNvSpPr/>
              <p:nvPr/>
            </p:nvSpPr>
            <p:spPr bwMode="gray">
              <a:xfrm>
                <a:off x="2790705" y="3455181"/>
                <a:ext cx="1101230" cy="1427630"/>
              </a:xfrm>
              <a:prstGeom prst="wedgeRoundRectCallout">
                <a:avLst>
                  <a:gd name="adj1" fmla="val 42754"/>
                  <a:gd name="adj2" fmla="val 62684"/>
                  <a:gd name="adj3" fmla="val 16667"/>
                </a:avLst>
              </a:prstGeom>
              <a:noFill/>
              <a:ln>
                <a:solidFill>
                  <a:srgbClr val="99DF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="" xmlns:a16="http://schemas.microsoft.com/office/drawing/2014/main" id="{1993A784-7B7D-4F33-9BCD-69F52FD2AF90}"/>
                  </a:ext>
                </a:extLst>
              </p:cNvPr>
              <p:cNvSpPr txBox="1"/>
              <p:nvPr/>
            </p:nvSpPr>
            <p:spPr bwMode="gray">
              <a:xfrm>
                <a:off x="2805404" y="4203159"/>
                <a:ext cx="1087306" cy="633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VPN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路由</a:t>
                </a:r>
                <a:endPara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r>
                  <a:rPr lang="zh-CN" altLang="en-US" sz="1400">
                    <a:solidFill>
                      <a:srgbClr val="0070C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（</a:t>
                </a:r>
                <a:r>
                  <a:rPr lang="en-US" altLang="zh-CN" sz="1400">
                    <a:solidFill>
                      <a:srgbClr val="0070C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Blue</a:t>
                </a:r>
                <a:r>
                  <a:rPr lang="zh-CN" altLang="en-US" sz="1400">
                    <a:solidFill>
                      <a:srgbClr val="0070C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）</a:t>
                </a:r>
                <a:endParaRPr lang="en-US" altLang="zh-CN" sz="1400">
                  <a:solidFill>
                    <a:srgbClr val="0070C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64" name="任意多边形: 形状 63">
            <a:extLst>
              <a:ext uri="{FF2B5EF4-FFF2-40B4-BE49-F238E27FC236}">
                <a16:creationId xmlns="" xmlns:a16="http://schemas.microsoft.com/office/drawing/2014/main" id="{5D91017C-8DE3-479E-B5C5-119CCF12FDD2}"/>
              </a:ext>
            </a:extLst>
          </p:cNvPr>
          <p:cNvSpPr/>
          <p:nvPr/>
        </p:nvSpPr>
        <p:spPr bwMode="gray">
          <a:xfrm>
            <a:off x="2354321" y="4203823"/>
            <a:ext cx="723900" cy="147097"/>
          </a:xfrm>
          <a:custGeom>
            <a:avLst/>
            <a:gdLst>
              <a:gd name="connsiteX0" fmla="*/ 0 w 723900"/>
              <a:gd name="connsiteY0" fmla="*/ 95250 h 147097"/>
              <a:gd name="connsiteX1" fmla="*/ 304800 w 723900"/>
              <a:gd name="connsiteY1" fmla="*/ 142875 h 147097"/>
              <a:gd name="connsiteX2" fmla="*/ 723900 w 723900"/>
              <a:gd name="connsiteY2" fmla="*/ 0 h 14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147097">
                <a:moveTo>
                  <a:pt x="0" y="95250"/>
                </a:moveTo>
                <a:cubicBezTo>
                  <a:pt x="92075" y="127000"/>
                  <a:pt x="184150" y="158750"/>
                  <a:pt x="304800" y="142875"/>
                </a:cubicBezTo>
                <a:cubicBezTo>
                  <a:pt x="425450" y="127000"/>
                  <a:pt x="619125" y="46037"/>
                  <a:pt x="723900" y="0"/>
                </a:cubicBezTo>
              </a:path>
            </a:pathLst>
          </a:custGeom>
          <a:noFill/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="" xmlns:a16="http://schemas.microsoft.com/office/drawing/2014/main" id="{1787682F-1214-464F-B47B-9330EF151F1B}"/>
              </a:ext>
            </a:extLst>
          </p:cNvPr>
          <p:cNvSpPr/>
          <p:nvPr/>
        </p:nvSpPr>
        <p:spPr bwMode="gray">
          <a:xfrm>
            <a:off x="7223508" y="3398248"/>
            <a:ext cx="4244592" cy="2060527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35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b="1" dirty="0">
                <a:sym typeface="Huawei Sans" panose="020C0503030203020204" pitchFamily="34" charset="0"/>
              </a:rPr>
              <a:t>网络流量优化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90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33229A1-8659-4DE4-BD3E-FE1FC256AEF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网络拥塞背景</a:t>
            </a:r>
          </a:p>
        </p:txBody>
      </p:sp>
      <p:sp>
        <p:nvSpPr>
          <p:cNvPr id="4" name="TextBox 193">
            <a:extLst>
              <a:ext uri="{FF2B5EF4-FFF2-40B4-BE49-F238E27FC236}">
                <a16:creationId xmlns="" xmlns:a16="http://schemas.microsoft.com/office/drawing/2014/main" id="{285476BB-03F5-488A-9A03-EB06BA344D66}"/>
              </a:ext>
            </a:extLst>
          </p:cNvPr>
          <p:cNvSpPr txBox="1"/>
          <p:nvPr/>
        </p:nvSpPr>
        <p:spPr bwMode="gray">
          <a:xfrm>
            <a:off x="555797" y="4263891"/>
            <a:ext cx="4830660" cy="18235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indent="-257106">
              <a:lnSpc>
                <a:spcPct val="150000"/>
              </a:lnSpc>
              <a:defRPr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网络基于带宽计算转发路径。路由器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C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到路由器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D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的链路为最短转发路径。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C-D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的业务流量开始超过带宽出现丢包现象。虽然其他链路空闲，但是算法依然选择最短路径转发。如果可以全局考虑，此时最优的流量转发路径为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C-A-D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TextBox 307">
            <a:extLst>
              <a:ext uri="{FF2B5EF4-FFF2-40B4-BE49-F238E27FC236}">
                <a16:creationId xmlns="" xmlns:a16="http://schemas.microsoft.com/office/drawing/2014/main" id="{A39AE121-70BF-47FE-8149-42ADBE4D1F88}"/>
              </a:ext>
            </a:extLst>
          </p:cNvPr>
          <p:cNvSpPr txBox="1"/>
          <p:nvPr/>
        </p:nvSpPr>
        <p:spPr bwMode="gray">
          <a:xfrm>
            <a:off x="690445" y="3697373"/>
            <a:ext cx="16049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已用带宽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总带宽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TextBox 315">
            <a:extLst>
              <a:ext uri="{FF2B5EF4-FFF2-40B4-BE49-F238E27FC236}">
                <a16:creationId xmlns="" xmlns:a16="http://schemas.microsoft.com/office/drawing/2014/main" id="{38CBA1F3-A9A6-40A1-A6AB-182FC732497A}"/>
              </a:ext>
            </a:extLst>
          </p:cNvPr>
          <p:cNvSpPr txBox="1"/>
          <p:nvPr/>
        </p:nvSpPr>
        <p:spPr bwMode="gray">
          <a:xfrm>
            <a:off x="5531002" y="3860646"/>
            <a:ext cx="41694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全局计算，最优调整隧道路径：</a:t>
            </a:r>
            <a:endParaRPr 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Straight Connector 526">
            <a:extLst>
              <a:ext uri="{FF2B5EF4-FFF2-40B4-BE49-F238E27FC236}">
                <a16:creationId xmlns="" xmlns:a16="http://schemas.microsoft.com/office/drawing/2014/main" id="{6A1CE9BA-8268-4D31-98FC-9C3DCBBB81E9}"/>
              </a:ext>
            </a:extLst>
          </p:cNvPr>
          <p:cNvCxnSpPr>
            <a:cxnSpLocks/>
            <a:stCxn id="16" idx="1"/>
            <a:endCxn id="9" idx="1"/>
          </p:cNvCxnSpPr>
          <p:nvPr/>
        </p:nvCxnSpPr>
        <p:spPr bwMode="gray">
          <a:xfrm flipH="1">
            <a:off x="1094477" y="2051139"/>
            <a:ext cx="1497568" cy="68593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526">
            <a:extLst>
              <a:ext uri="{FF2B5EF4-FFF2-40B4-BE49-F238E27FC236}">
                <a16:creationId xmlns="" xmlns:a16="http://schemas.microsoft.com/office/drawing/2014/main" id="{2ABEFCD2-5E93-4E82-A55A-3848B247759B}"/>
              </a:ext>
            </a:extLst>
          </p:cNvPr>
          <p:cNvCxnSpPr>
            <a:cxnSpLocks/>
            <a:stCxn id="9" idx="1"/>
            <a:endCxn id="17" idx="1"/>
          </p:cNvCxnSpPr>
          <p:nvPr/>
        </p:nvCxnSpPr>
        <p:spPr bwMode="gray">
          <a:xfrm>
            <a:off x="1094477" y="2737071"/>
            <a:ext cx="1502606" cy="68593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4A137116-50E7-4EC3-9479-21D67DA2043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94477" y="2542574"/>
            <a:ext cx="474383" cy="388994"/>
          </a:xfrm>
          <a:prstGeom prst="rect">
            <a:avLst/>
          </a:prstGeom>
        </p:spPr>
      </p:pic>
      <p:cxnSp>
        <p:nvCxnSpPr>
          <p:cNvPr id="10" name="Straight Connector 526">
            <a:extLst>
              <a:ext uri="{FF2B5EF4-FFF2-40B4-BE49-F238E27FC236}">
                <a16:creationId xmlns="" xmlns:a16="http://schemas.microsoft.com/office/drawing/2014/main" id="{56D68C67-A702-417C-BE62-19CF29669D6E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 bwMode="gray">
          <a:xfrm flipV="1">
            <a:off x="4331842" y="2245636"/>
            <a:ext cx="0" cy="98286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组合 10">
            <a:extLst>
              <a:ext uri="{FF2B5EF4-FFF2-40B4-BE49-F238E27FC236}">
                <a16:creationId xmlns="" xmlns:a16="http://schemas.microsoft.com/office/drawing/2014/main" id="{61C65042-FFAB-49C9-8CE0-6804F58C6B58}"/>
              </a:ext>
            </a:extLst>
          </p:cNvPr>
          <p:cNvGrpSpPr/>
          <p:nvPr/>
        </p:nvGrpSpPr>
        <p:grpSpPr bwMode="gray">
          <a:xfrm>
            <a:off x="4094650" y="1856642"/>
            <a:ext cx="474383" cy="1760857"/>
            <a:chOff x="4207470" y="2170372"/>
            <a:chExt cx="474383" cy="1760857"/>
          </a:xfrm>
        </p:grpSpPr>
        <p:pic>
          <p:nvPicPr>
            <p:cNvPr id="12" name="图片 11">
              <a:extLst>
                <a:ext uri="{FF2B5EF4-FFF2-40B4-BE49-F238E27FC236}">
                  <a16:creationId xmlns="" xmlns:a16="http://schemas.microsoft.com/office/drawing/2014/main" id="{0B4DE8BB-15E1-45E9-9395-093730F21778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07470" y="2170372"/>
              <a:ext cx="474383" cy="38899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="" xmlns:a16="http://schemas.microsoft.com/office/drawing/2014/main" id="{E94B27F9-BA1D-46EB-92AF-58EB0F3A97D0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07470" y="3542235"/>
              <a:ext cx="474383" cy="388994"/>
            </a:xfrm>
            <a:prstGeom prst="rect">
              <a:avLst/>
            </a:prstGeom>
          </p:spPr>
        </p:pic>
      </p:grpSp>
      <p:cxnSp>
        <p:nvCxnSpPr>
          <p:cNvPr id="14" name="Straight Connector 526">
            <a:extLst>
              <a:ext uri="{FF2B5EF4-FFF2-40B4-BE49-F238E27FC236}">
                <a16:creationId xmlns="" xmlns:a16="http://schemas.microsoft.com/office/drawing/2014/main" id="{A58A1606-ADB6-4BD0-AF73-C5B668E4EE50}"/>
              </a:ext>
            </a:extLst>
          </p:cNvPr>
          <p:cNvCxnSpPr>
            <a:cxnSpLocks/>
          </p:cNvCxnSpPr>
          <p:nvPr/>
        </p:nvCxnSpPr>
        <p:spPr bwMode="gray">
          <a:xfrm flipV="1">
            <a:off x="2738672" y="3421332"/>
            <a:ext cx="1355978" cy="334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" name="组合 14">
            <a:extLst>
              <a:ext uri="{FF2B5EF4-FFF2-40B4-BE49-F238E27FC236}">
                <a16:creationId xmlns="" xmlns:a16="http://schemas.microsoft.com/office/drawing/2014/main" id="{39BD63C2-2550-4913-B6D3-0CC56702C4AB}"/>
              </a:ext>
            </a:extLst>
          </p:cNvPr>
          <p:cNvGrpSpPr/>
          <p:nvPr/>
        </p:nvGrpSpPr>
        <p:grpSpPr bwMode="gray">
          <a:xfrm>
            <a:off x="2592045" y="1856642"/>
            <a:ext cx="479421" cy="1760857"/>
            <a:chOff x="2561736" y="2170372"/>
            <a:chExt cx="479421" cy="1760857"/>
          </a:xfrm>
        </p:grpSpPr>
        <p:pic>
          <p:nvPicPr>
            <p:cNvPr id="16" name="图片 15">
              <a:extLst>
                <a:ext uri="{FF2B5EF4-FFF2-40B4-BE49-F238E27FC236}">
                  <a16:creationId xmlns="" xmlns:a16="http://schemas.microsoft.com/office/drawing/2014/main" id="{925F51CB-649C-4003-B6EE-6D843056C2A9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61736" y="2170372"/>
              <a:ext cx="474383" cy="388994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="" xmlns:a16="http://schemas.microsoft.com/office/drawing/2014/main" id="{264C8013-C3BE-4624-9AB8-7266EC383F20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66774" y="3542235"/>
              <a:ext cx="474383" cy="388994"/>
            </a:xfrm>
            <a:prstGeom prst="rect">
              <a:avLst/>
            </a:prstGeom>
          </p:spPr>
        </p:pic>
      </p:grpSp>
      <p:cxnSp>
        <p:nvCxnSpPr>
          <p:cNvPr id="18" name="Straight Connector 526">
            <a:extLst>
              <a:ext uri="{FF2B5EF4-FFF2-40B4-BE49-F238E27FC236}">
                <a16:creationId xmlns="" xmlns:a16="http://schemas.microsoft.com/office/drawing/2014/main" id="{8A0FFA55-9D7C-423D-A452-A26E9966B922}"/>
              </a:ext>
            </a:extLst>
          </p:cNvPr>
          <p:cNvCxnSpPr>
            <a:cxnSpLocks/>
            <a:stCxn id="12" idx="1"/>
            <a:endCxn id="16" idx="3"/>
          </p:cNvCxnSpPr>
          <p:nvPr/>
        </p:nvCxnSpPr>
        <p:spPr bwMode="gray">
          <a:xfrm flipH="1">
            <a:off x="3066428" y="2051139"/>
            <a:ext cx="102822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526">
            <a:extLst>
              <a:ext uri="{FF2B5EF4-FFF2-40B4-BE49-F238E27FC236}">
                <a16:creationId xmlns="" xmlns:a16="http://schemas.microsoft.com/office/drawing/2014/main" id="{F8C140F0-1A59-435F-960A-2C7C22D5A1A3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 bwMode="gray">
          <a:xfrm flipH="1" flipV="1">
            <a:off x="2829237" y="2245636"/>
            <a:ext cx="5038" cy="98286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285">
            <a:extLst>
              <a:ext uri="{FF2B5EF4-FFF2-40B4-BE49-F238E27FC236}">
                <a16:creationId xmlns="" xmlns:a16="http://schemas.microsoft.com/office/drawing/2014/main" id="{81B7F83D-B078-4A52-A9E7-529C74A5F6C3}"/>
              </a:ext>
            </a:extLst>
          </p:cNvPr>
          <p:cNvSpPr txBox="1"/>
          <p:nvPr/>
        </p:nvSpPr>
        <p:spPr bwMode="gray">
          <a:xfrm>
            <a:off x="2661874" y="1567967"/>
            <a:ext cx="3113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TextBox 285">
            <a:extLst>
              <a:ext uri="{FF2B5EF4-FFF2-40B4-BE49-F238E27FC236}">
                <a16:creationId xmlns="" xmlns:a16="http://schemas.microsoft.com/office/drawing/2014/main" id="{41CF8C74-57EF-4EDF-B673-0E0745CB0944}"/>
              </a:ext>
            </a:extLst>
          </p:cNvPr>
          <p:cNvSpPr txBox="1"/>
          <p:nvPr/>
        </p:nvSpPr>
        <p:spPr bwMode="gray">
          <a:xfrm>
            <a:off x="2676835" y="3663195"/>
            <a:ext cx="270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  <a:endParaRPr 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Box 285">
            <a:extLst>
              <a:ext uri="{FF2B5EF4-FFF2-40B4-BE49-F238E27FC236}">
                <a16:creationId xmlns="" xmlns:a16="http://schemas.microsoft.com/office/drawing/2014/main" id="{B158BC8B-44A2-4078-B393-0F18792D1311}"/>
              </a:ext>
            </a:extLst>
          </p:cNvPr>
          <p:cNvSpPr txBox="1"/>
          <p:nvPr/>
        </p:nvSpPr>
        <p:spPr bwMode="gray">
          <a:xfrm>
            <a:off x="1043599" y="2981143"/>
            <a:ext cx="3016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TextBox 285">
            <a:extLst>
              <a:ext uri="{FF2B5EF4-FFF2-40B4-BE49-F238E27FC236}">
                <a16:creationId xmlns="" xmlns:a16="http://schemas.microsoft.com/office/drawing/2014/main" id="{C38F6903-D7D6-48C9-A6A6-0574A548283F}"/>
              </a:ext>
            </a:extLst>
          </p:cNvPr>
          <p:cNvSpPr txBox="1"/>
          <p:nvPr/>
        </p:nvSpPr>
        <p:spPr bwMode="gray">
          <a:xfrm>
            <a:off x="4164691" y="3669084"/>
            <a:ext cx="2904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67414831-75E9-483C-AEBC-3822B0742BA2}"/>
              </a:ext>
            </a:extLst>
          </p:cNvPr>
          <p:cNvSpPr txBox="1"/>
          <p:nvPr/>
        </p:nvSpPr>
        <p:spPr bwMode="gray">
          <a:xfrm>
            <a:off x="4211174" y="1567967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TextBox 287">
            <a:extLst>
              <a:ext uri="{FF2B5EF4-FFF2-40B4-BE49-F238E27FC236}">
                <a16:creationId xmlns="" xmlns:a16="http://schemas.microsoft.com/office/drawing/2014/main" id="{65CA8EBE-FF09-49D5-9C65-73323A80D7D2}"/>
              </a:ext>
            </a:extLst>
          </p:cNvPr>
          <p:cNvSpPr txBox="1"/>
          <p:nvPr/>
        </p:nvSpPr>
        <p:spPr bwMode="gray">
          <a:xfrm>
            <a:off x="1261444" y="3249491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 G</a:t>
            </a:r>
            <a:r>
              <a:rPr 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/5 G</a:t>
            </a:r>
          </a:p>
        </p:txBody>
      </p:sp>
      <p:sp>
        <p:nvSpPr>
          <p:cNvPr id="26" name="TextBox 288">
            <a:extLst>
              <a:ext uri="{FF2B5EF4-FFF2-40B4-BE49-F238E27FC236}">
                <a16:creationId xmlns="" xmlns:a16="http://schemas.microsoft.com/office/drawing/2014/main" id="{B71BFFAA-47FA-42E9-8F0D-96183AE6C84C}"/>
              </a:ext>
            </a:extLst>
          </p:cNvPr>
          <p:cNvSpPr txBox="1"/>
          <p:nvPr/>
        </p:nvSpPr>
        <p:spPr bwMode="gray">
          <a:xfrm>
            <a:off x="1397851" y="1855562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G</a:t>
            </a:r>
            <a:r>
              <a:rPr 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/5 G</a:t>
            </a:r>
          </a:p>
        </p:txBody>
      </p:sp>
      <p:sp>
        <p:nvSpPr>
          <p:cNvPr id="27" name="TextBox 289">
            <a:extLst>
              <a:ext uri="{FF2B5EF4-FFF2-40B4-BE49-F238E27FC236}">
                <a16:creationId xmlns="" xmlns:a16="http://schemas.microsoft.com/office/drawing/2014/main" id="{55B74464-4E45-45C1-9A7A-BBB4ECDC8590}"/>
              </a:ext>
            </a:extLst>
          </p:cNvPr>
          <p:cNvSpPr txBox="1"/>
          <p:nvPr/>
        </p:nvSpPr>
        <p:spPr bwMode="gray">
          <a:xfrm>
            <a:off x="2852927" y="2570249"/>
            <a:ext cx="9749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 G</a:t>
            </a:r>
            <a:r>
              <a:rPr 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/10 G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="" xmlns:a16="http://schemas.microsoft.com/office/drawing/2014/main" id="{4579BAC1-7359-49F9-AC2B-C5B853EC8588}"/>
              </a:ext>
            </a:extLst>
          </p:cNvPr>
          <p:cNvCxnSpPr>
            <a:cxnSpLocks/>
          </p:cNvCxnSpPr>
          <p:nvPr/>
        </p:nvCxnSpPr>
        <p:spPr bwMode="gray">
          <a:xfrm>
            <a:off x="1408939" y="3000451"/>
            <a:ext cx="1056103" cy="495416"/>
          </a:xfrm>
          <a:prstGeom prst="straightConnector1">
            <a:avLst/>
          </a:prstGeom>
          <a:ln w="57150">
            <a:solidFill>
              <a:srgbClr val="EC706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任意多边形: 形状 28">
            <a:extLst>
              <a:ext uri="{FF2B5EF4-FFF2-40B4-BE49-F238E27FC236}">
                <a16:creationId xmlns="" xmlns:a16="http://schemas.microsoft.com/office/drawing/2014/main" id="{E2A47003-59FE-40C7-844C-84D126D9BAE8}"/>
              </a:ext>
            </a:extLst>
          </p:cNvPr>
          <p:cNvSpPr/>
          <p:nvPr/>
        </p:nvSpPr>
        <p:spPr bwMode="gray">
          <a:xfrm>
            <a:off x="1358132" y="2030481"/>
            <a:ext cx="1550964" cy="1192971"/>
          </a:xfrm>
          <a:custGeom>
            <a:avLst/>
            <a:gdLst>
              <a:gd name="connsiteX0" fmla="*/ 0 w 1460500"/>
              <a:gd name="connsiteY0" fmla="*/ 522682 h 1030682"/>
              <a:gd name="connsiteX1" fmla="*/ 1155700 w 1460500"/>
              <a:gd name="connsiteY1" fmla="*/ 14682 h 1030682"/>
              <a:gd name="connsiteX2" fmla="*/ 1460500 w 1460500"/>
              <a:gd name="connsiteY2" fmla="*/ 1030682 h 1030682"/>
              <a:gd name="connsiteX0" fmla="*/ 0 w 1460500"/>
              <a:gd name="connsiteY0" fmla="*/ 720726 h 1228726"/>
              <a:gd name="connsiteX1" fmla="*/ 1219200 w 1460500"/>
              <a:gd name="connsiteY1" fmla="*/ 9526 h 1228726"/>
              <a:gd name="connsiteX2" fmla="*/ 1460500 w 1460500"/>
              <a:gd name="connsiteY2" fmla="*/ 1228726 h 1228726"/>
              <a:gd name="connsiteX0" fmla="*/ 0 w 1560444"/>
              <a:gd name="connsiteY0" fmla="*/ 746322 h 1254322"/>
              <a:gd name="connsiteX1" fmla="*/ 1219200 w 1560444"/>
              <a:gd name="connsiteY1" fmla="*/ 35122 h 1254322"/>
              <a:gd name="connsiteX2" fmla="*/ 1460500 w 1560444"/>
              <a:gd name="connsiteY2" fmla="*/ 1254322 h 1254322"/>
              <a:gd name="connsiteX0" fmla="*/ 0 w 1560444"/>
              <a:gd name="connsiteY0" fmla="*/ 749343 h 1257343"/>
              <a:gd name="connsiteX1" fmla="*/ 1219200 w 1560444"/>
              <a:gd name="connsiteY1" fmla="*/ 38143 h 1257343"/>
              <a:gd name="connsiteX2" fmla="*/ 1460500 w 1560444"/>
              <a:gd name="connsiteY2" fmla="*/ 1257343 h 1257343"/>
              <a:gd name="connsiteX0" fmla="*/ 0 w 1560444"/>
              <a:gd name="connsiteY0" fmla="*/ 716945 h 1224945"/>
              <a:gd name="connsiteX1" fmla="*/ 1219200 w 1560444"/>
              <a:gd name="connsiteY1" fmla="*/ 5745 h 1224945"/>
              <a:gd name="connsiteX2" fmla="*/ 1460500 w 1560444"/>
              <a:gd name="connsiteY2" fmla="*/ 1224945 h 1224945"/>
              <a:gd name="connsiteX0" fmla="*/ 0 w 1509180"/>
              <a:gd name="connsiteY0" fmla="*/ 716945 h 1224945"/>
              <a:gd name="connsiteX1" fmla="*/ 1219200 w 1509180"/>
              <a:gd name="connsiteY1" fmla="*/ 5745 h 1224945"/>
              <a:gd name="connsiteX2" fmla="*/ 1460500 w 1509180"/>
              <a:gd name="connsiteY2" fmla="*/ 1224945 h 1224945"/>
              <a:gd name="connsiteX0" fmla="*/ 0 w 1643885"/>
              <a:gd name="connsiteY0" fmla="*/ 703241 h 1211241"/>
              <a:gd name="connsiteX1" fmla="*/ 1427376 w 1643885"/>
              <a:gd name="connsiteY1" fmla="*/ 5920 h 1211241"/>
              <a:gd name="connsiteX2" fmla="*/ 1460500 w 1643885"/>
              <a:gd name="connsiteY2" fmla="*/ 1211241 h 1211241"/>
              <a:gd name="connsiteX0" fmla="*/ 0 w 1682748"/>
              <a:gd name="connsiteY0" fmla="*/ 703241 h 1336147"/>
              <a:gd name="connsiteX1" fmla="*/ 1427376 w 1682748"/>
              <a:gd name="connsiteY1" fmla="*/ 5920 h 1336147"/>
              <a:gd name="connsiteX2" fmla="*/ 1585406 w 1682748"/>
              <a:gd name="connsiteY2" fmla="*/ 1336147 h 1336147"/>
              <a:gd name="connsiteX0" fmla="*/ 0 w 1728997"/>
              <a:gd name="connsiteY0" fmla="*/ 771846 h 1404752"/>
              <a:gd name="connsiteX1" fmla="*/ 1496768 w 1728997"/>
              <a:gd name="connsiteY1" fmla="*/ 5133 h 1404752"/>
              <a:gd name="connsiteX2" fmla="*/ 1585406 w 1728997"/>
              <a:gd name="connsiteY2" fmla="*/ 1404752 h 1404752"/>
              <a:gd name="connsiteX0" fmla="*/ 0 w 1728997"/>
              <a:gd name="connsiteY0" fmla="*/ 766713 h 1399619"/>
              <a:gd name="connsiteX1" fmla="*/ 1496768 w 1728997"/>
              <a:gd name="connsiteY1" fmla="*/ 0 h 1399619"/>
              <a:gd name="connsiteX2" fmla="*/ 1585406 w 1728997"/>
              <a:gd name="connsiteY2" fmla="*/ 1399619 h 1399619"/>
              <a:gd name="connsiteX0" fmla="*/ 0 w 1728997"/>
              <a:gd name="connsiteY0" fmla="*/ 766713 h 1399619"/>
              <a:gd name="connsiteX1" fmla="*/ 1496768 w 1728997"/>
              <a:gd name="connsiteY1" fmla="*/ 0 h 1399619"/>
              <a:gd name="connsiteX2" fmla="*/ 1585406 w 1728997"/>
              <a:gd name="connsiteY2" fmla="*/ 1399619 h 1399619"/>
              <a:gd name="connsiteX0" fmla="*/ 0 w 1748622"/>
              <a:gd name="connsiteY0" fmla="*/ 669564 h 1302470"/>
              <a:gd name="connsiteX1" fmla="*/ 1524525 w 1748622"/>
              <a:gd name="connsiteY1" fmla="*/ 0 h 1302470"/>
              <a:gd name="connsiteX2" fmla="*/ 1585406 w 1748622"/>
              <a:gd name="connsiteY2" fmla="*/ 1302470 h 1302470"/>
              <a:gd name="connsiteX0" fmla="*/ 0 w 1765494"/>
              <a:gd name="connsiteY0" fmla="*/ 669564 h 1357984"/>
              <a:gd name="connsiteX1" fmla="*/ 1524525 w 1765494"/>
              <a:gd name="connsiteY1" fmla="*/ 0 h 1357984"/>
              <a:gd name="connsiteX2" fmla="*/ 1640920 w 1765494"/>
              <a:gd name="connsiteY2" fmla="*/ 1357984 h 1357984"/>
              <a:gd name="connsiteX0" fmla="*/ 0 w 1765494"/>
              <a:gd name="connsiteY0" fmla="*/ 669564 h 1357984"/>
              <a:gd name="connsiteX1" fmla="*/ 1524525 w 1765494"/>
              <a:gd name="connsiteY1" fmla="*/ 0 h 1357984"/>
              <a:gd name="connsiteX2" fmla="*/ 1640920 w 1765494"/>
              <a:gd name="connsiteY2" fmla="*/ 1357984 h 1357984"/>
              <a:gd name="connsiteX0" fmla="*/ 0 w 1765494"/>
              <a:gd name="connsiteY0" fmla="*/ 669564 h 1357984"/>
              <a:gd name="connsiteX1" fmla="*/ 1524525 w 1765494"/>
              <a:gd name="connsiteY1" fmla="*/ 0 h 1357984"/>
              <a:gd name="connsiteX2" fmla="*/ 1640920 w 1765494"/>
              <a:gd name="connsiteY2" fmla="*/ 1357984 h 13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5494" h="1357984">
                <a:moveTo>
                  <a:pt x="0" y="669564"/>
                </a:moveTo>
                <a:cubicBezTo>
                  <a:pt x="377846" y="351366"/>
                  <a:pt x="803875" y="79517"/>
                  <a:pt x="1524525" y="0"/>
                </a:cubicBezTo>
                <a:cubicBezTo>
                  <a:pt x="2009243" y="156416"/>
                  <a:pt x="1607053" y="1209817"/>
                  <a:pt x="1640920" y="1357984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圆角矩形 75">
            <a:extLst>
              <a:ext uri="{FF2B5EF4-FFF2-40B4-BE49-F238E27FC236}">
                <a16:creationId xmlns="" xmlns:a16="http://schemas.microsoft.com/office/drawing/2014/main" id="{1A60D3FB-9EFF-4293-BDAE-6982F002EEC8}"/>
              </a:ext>
            </a:extLst>
          </p:cNvPr>
          <p:cNvSpPr/>
          <p:nvPr/>
        </p:nvSpPr>
        <p:spPr bwMode="gray">
          <a:xfrm>
            <a:off x="466704" y="980369"/>
            <a:ext cx="4943919" cy="340929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基于固定带宽选路的问题和解决思路</a:t>
            </a:r>
          </a:p>
        </p:txBody>
      </p:sp>
      <p:sp>
        <p:nvSpPr>
          <p:cNvPr id="31" name="圆角矩形 75">
            <a:extLst>
              <a:ext uri="{FF2B5EF4-FFF2-40B4-BE49-F238E27FC236}">
                <a16:creationId xmlns="" xmlns:a16="http://schemas.microsoft.com/office/drawing/2014/main" id="{D6DCB826-E610-493D-8783-877BAB178F6B}"/>
              </a:ext>
            </a:extLst>
          </p:cNvPr>
          <p:cNvSpPr/>
          <p:nvPr/>
        </p:nvSpPr>
        <p:spPr bwMode="gray">
          <a:xfrm>
            <a:off x="469838" y="1370013"/>
            <a:ext cx="4940785" cy="4799206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圆角矩形 75">
            <a:extLst>
              <a:ext uri="{FF2B5EF4-FFF2-40B4-BE49-F238E27FC236}">
                <a16:creationId xmlns="" xmlns:a16="http://schemas.microsoft.com/office/drawing/2014/main" id="{3997C2A4-CAEB-4896-8616-4CC5F3001DF4}"/>
              </a:ext>
            </a:extLst>
          </p:cNvPr>
          <p:cNvSpPr/>
          <p:nvPr/>
        </p:nvSpPr>
        <p:spPr bwMode="gray">
          <a:xfrm>
            <a:off x="5504176" y="974019"/>
            <a:ext cx="6217986" cy="340929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基于固定顺序建立隧道的问题和解决思路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圆角矩形 75">
            <a:extLst>
              <a:ext uri="{FF2B5EF4-FFF2-40B4-BE49-F238E27FC236}">
                <a16:creationId xmlns="" xmlns:a16="http://schemas.microsoft.com/office/drawing/2014/main" id="{3C10B647-5B51-437D-9A37-FC14A9E5EA3B}"/>
              </a:ext>
            </a:extLst>
          </p:cNvPr>
          <p:cNvSpPr/>
          <p:nvPr/>
        </p:nvSpPr>
        <p:spPr bwMode="gray">
          <a:xfrm>
            <a:off x="5504176" y="1357612"/>
            <a:ext cx="6217986" cy="4811607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Oval 4">
            <a:extLst>
              <a:ext uri="{FF2B5EF4-FFF2-40B4-BE49-F238E27FC236}">
                <a16:creationId xmlns="" xmlns:a16="http://schemas.microsoft.com/office/drawing/2014/main" id="{79F56AFB-C71E-440E-87FF-F6DE9F674114}"/>
              </a:ext>
            </a:extLst>
          </p:cNvPr>
          <p:cNvSpPr>
            <a:spLocks noChangeAspect="1"/>
          </p:cNvSpPr>
          <p:nvPr/>
        </p:nvSpPr>
        <p:spPr bwMode="gray">
          <a:xfrm>
            <a:off x="8004980" y="4572544"/>
            <a:ext cx="282142" cy="282142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2336204-66A6-43F0-9473-0FD09111A348}"/>
              </a:ext>
            </a:extLst>
          </p:cNvPr>
          <p:cNvGrpSpPr/>
          <p:nvPr/>
        </p:nvGrpSpPr>
        <p:grpSpPr bwMode="gray">
          <a:xfrm>
            <a:off x="6291953" y="4293476"/>
            <a:ext cx="4943919" cy="1767754"/>
            <a:chOff x="6291953" y="4290213"/>
            <a:chExt cx="4943919" cy="1767754"/>
          </a:xfrm>
        </p:grpSpPr>
        <p:grpSp>
          <p:nvGrpSpPr>
            <p:cNvPr id="36" name="组合 35">
              <a:extLst>
                <a:ext uri="{FF2B5EF4-FFF2-40B4-BE49-F238E27FC236}">
                  <a16:creationId xmlns="" xmlns:a16="http://schemas.microsoft.com/office/drawing/2014/main" id="{0BBCF265-B414-4D4D-8741-56AE6D34C60A}"/>
                </a:ext>
              </a:extLst>
            </p:cNvPr>
            <p:cNvGrpSpPr/>
            <p:nvPr/>
          </p:nvGrpSpPr>
          <p:grpSpPr bwMode="gray">
            <a:xfrm>
              <a:off x="6291953" y="4290213"/>
              <a:ext cx="4943919" cy="1767754"/>
              <a:chOff x="5917150" y="1649531"/>
              <a:chExt cx="5605808" cy="2004421"/>
            </a:xfrm>
          </p:grpSpPr>
          <p:pic>
            <p:nvPicPr>
              <p:cNvPr id="42" name="图片 41">
                <a:extLst>
                  <a:ext uri="{FF2B5EF4-FFF2-40B4-BE49-F238E27FC236}">
                    <a16:creationId xmlns="" xmlns:a16="http://schemas.microsoft.com/office/drawing/2014/main" id="{95890DDD-3E0A-4C1E-9E09-011D5F2EF75D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8457610" y="1649531"/>
                <a:ext cx="524889" cy="442800"/>
              </a:xfrm>
              <a:prstGeom prst="rect">
                <a:avLst/>
              </a:prstGeom>
            </p:spPr>
          </p:pic>
          <p:pic>
            <p:nvPicPr>
              <p:cNvPr id="43" name="图片 42">
                <a:extLst>
                  <a:ext uri="{FF2B5EF4-FFF2-40B4-BE49-F238E27FC236}">
                    <a16:creationId xmlns="" xmlns:a16="http://schemas.microsoft.com/office/drawing/2014/main" id="{6B845FC4-317E-4548-AEAE-65C8671B8F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207707" y="1649531"/>
                <a:ext cx="524889" cy="442800"/>
              </a:xfrm>
              <a:prstGeom prst="rect">
                <a:avLst/>
              </a:prstGeom>
            </p:spPr>
          </p:pic>
          <p:pic>
            <p:nvPicPr>
              <p:cNvPr id="44" name="图片 43">
                <a:extLst>
                  <a:ext uri="{FF2B5EF4-FFF2-40B4-BE49-F238E27FC236}">
                    <a16:creationId xmlns="" xmlns:a16="http://schemas.microsoft.com/office/drawing/2014/main" id="{668564C1-C292-4C88-8ED5-07D0B509EC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734614" y="1649531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45" name="Straight Connector 526">
                <a:extLst>
                  <a:ext uri="{FF2B5EF4-FFF2-40B4-BE49-F238E27FC236}">
                    <a16:creationId xmlns="" xmlns:a16="http://schemas.microsoft.com/office/drawing/2014/main" id="{C15DA738-3F03-4C87-9D33-53ED9B6585EF}"/>
                  </a:ext>
                </a:extLst>
              </p:cNvPr>
              <p:cNvCxnSpPr>
                <a:cxnSpLocks/>
                <a:stCxn id="43" idx="1"/>
                <a:endCxn id="47" idx="1"/>
              </p:cNvCxnSpPr>
              <p:nvPr/>
            </p:nvCxnSpPr>
            <p:spPr bwMode="gray">
              <a:xfrm flipH="1">
                <a:off x="5917150" y="1870931"/>
                <a:ext cx="1290557" cy="78081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Straight Connector 526">
                <a:extLst>
                  <a:ext uri="{FF2B5EF4-FFF2-40B4-BE49-F238E27FC236}">
                    <a16:creationId xmlns="" xmlns:a16="http://schemas.microsoft.com/office/drawing/2014/main" id="{C7929F48-96C5-4161-9195-FA6C9DCE9F59}"/>
                  </a:ext>
                </a:extLst>
              </p:cNvPr>
              <p:cNvCxnSpPr>
                <a:cxnSpLocks/>
                <a:stCxn id="47" idx="1"/>
                <a:endCxn id="51" idx="1"/>
              </p:cNvCxnSpPr>
              <p:nvPr/>
            </p:nvCxnSpPr>
            <p:spPr bwMode="gray">
              <a:xfrm>
                <a:off x="5917150" y="2651742"/>
                <a:ext cx="1270230" cy="78081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47" name="图片 46">
                <a:extLst>
                  <a:ext uri="{FF2B5EF4-FFF2-40B4-BE49-F238E27FC236}">
                    <a16:creationId xmlns="" xmlns:a16="http://schemas.microsoft.com/office/drawing/2014/main" id="{B9832DFC-9BEE-4852-8ACD-2C4D976661C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5917150" y="243034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48" name="Straight Connector 526">
                <a:extLst>
                  <a:ext uri="{FF2B5EF4-FFF2-40B4-BE49-F238E27FC236}">
                    <a16:creationId xmlns="" xmlns:a16="http://schemas.microsoft.com/office/drawing/2014/main" id="{7CD40D81-2188-4EE1-8B73-013F68EB8CC1}"/>
                  </a:ext>
                </a:extLst>
              </p:cNvPr>
              <p:cNvCxnSpPr>
                <a:cxnSpLocks/>
                <a:stCxn id="49" idx="0"/>
                <a:endCxn id="42" idx="2"/>
              </p:cNvCxnSpPr>
              <p:nvPr/>
            </p:nvCxnSpPr>
            <p:spPr bwMode="gray">
              <a:xfrm flipV="1">
                <a:off x="8720054" y="2092331"/>
                <a:ext cx="0" cy="11188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49" name="图片 48">
                <a:extLst>
                  <a:ext uri="{FF2B5EF4-FFF2-40B4-BE49-F238E27FC236}">
                    <a16:creationId xmlns="" xmlns:a16="http://schemas.microsoft.com/office/drawing/2014/main" id="{DB4F162B-B293-4003-B6D6-2EC8012732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8457610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50" name="Straight Connector 526">
                <a:extLst>
                  <a:ext uri="{FF2B5EF4-FFF2-40B4-BE49-F238E27FC236}">
                    <a16:creationId xmlns="" xmlns:a16="http://schemas.microsoft.com/office/drawing/2014/main" id="{663EB428-BF9D-4C65-BC8F-A0105213071C}"/>
                  </a:ext>
                </a:extLst>
              </p:cNvPr>
              <p:cNvCxnSpPr>
                <a:cxnSpLocks/>
                <a:endCxn id="49" idx="1"/>
              </p:cNvCxnSpPr>
              <p:nvPr/>
            </p:nvCxnSpPr>
            <p:spPr bwMode="gray">
              <a:xfrm flipV="1">
                <a:off x="7329024" y="3432552"/>
                <a:ext cx="1128586" cy="190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51" name="图片 50">
                <a:extLst>
                  <a:ext uri="{FF2B5EF4-FFF2-40B4-BE49-F238E27FC236}">
                    <a16:creationId xmlns="" xmlns:a16="http://schemas.microsoft.com/office/drawing/2014/main" id="{753C1136-9ED6-4CE1-BD5F-29BBC2E6E7D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187380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52" name="Straight Connector 526">
                <a:extLst>
                  <a:ext uri="{FF2B5EF4-FFF2-40B4-BE49-F238E27FC236}">
                    <a16:creationId xmlns="" xmlns:a16="http://schemas.microsoft.com/office/drawing/2014/main" id="{A4BCED31-AB9D-4FEC-8B6F-2BC8B17F9AC6}"/>
                  </a:ext>
                </a:extLst>
              </p:cNvPr>
              <p:cNvCxnSpPr>
                <a:cxnSpLocks/>
                <a:stCxn id="42" idx="1"/>
                <a:endCxn id="43" idx="3"/>
              </p:cNvCxnSpPr>
              <p:nvPr/>
            </p:nvCxnSpPr>
            <p:spPr bwMode="gray">
              <a:xfrm flipH="1">
                <a:off x="7732595" y="1870931"/>
                <a:ext cx="725014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" name="Straight Connector 526">
                <a:extLst>
                  <a:ext uri="{FF2B5EF4-FFF2-40B4-BE49-F238E27FC236}">
                    <a16:creationId xmlns="" xmlns:a16="http://schemas.microsoft.com/office/drawing/2014/main" id="{82F30C9D-BF97-4245-ABF2-53C35EEFAD46}"/>
                  </a:ext>
                </a:extLst>
              </p:cNvPr>
              <p:cNvCxnSpPr>
                <a:cxnSpLocks/>
                <a:stCxn id="42" idx="3"/>
                <a:endCxn id="44" idx="1"/>
              </p:cNvCxnSpPr>
              <p:nvPr/>
            </p:nvCxnSpPr>
            <p:spPr bwMode="gray">
              <a:xfrm>
                <a:off x="8982498" y="1870931"/>
                <a:ext cx="752116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TextBox 285">
                <a:extLst>
                  <a:ext uri="{FF2B5EF4-FFF2-40B4-BE49-F238E27FC236}">
                    <a16:creationId xmlns="" xmlns:a16="http://schemas.microsoft.com/office/drawing/2014/main" id="{634CB244-0CCB-4A4A-8CBD-EF95CC3BE64F}"/>
                  </a:ext>
                </a:extLst>
              </p:cNvPr>
              <p:cNvSpPr txBox="1"/>
              <p:nvPr/>
            </p:nvSpPr>
            <p:spPr bwMode="gray">
              <a:xfrm>
                <a:off x="6006340" y="2876715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55" name="Straight Connector 526">
                <a:extLst>
                  <a:ext uri="{FF2B5EF4-FFF2-40B4-BE49-F238E27FC236}">
                    <a16:creationId xmlns="" xmlns:a16="http://schemas.microsoft.com/office/drawing/2014/main" id="{9F566E81-2394-4075-A140-05AAD76C93FD}"/>
                  </a:ext>
                </a:extLst>
              </p:cNvPr>
              <p:cNvCxnSpPr>
                <a:cxnSpLocks/>
                <a:stCxn id="56" idx="1"/>
                <a:endCxn id="49" idx="3"/>
              </p:cNvCxnSpPr>
              <p:nvPr/>
            </p:nvCxnSpPr>
            <p:spPr bwMode="gray">
              <a:xfrm flipH="1">
                <a:off x="8982498" y="3432552"/>
                <a:ext cx="745341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56" name="图片 55">
                <a:extLst>
                  <a:ext uri="{FF2B5EF4-FFF2-40B4-BE49-F238E27FC236}">
                    <a16:creationId xmlns="" xmlns:a16="http://schemas.microsoft.com/office/drawing/2014/main" id="{5B40C188-36CB-44C7-B802-91A233E660B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727839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57" name="Straight Connector 526">
                <a:extLst>
                  <a:ext uri="{FF2B5EF4-FFF2-40B4-BE49-F238E27FC236}">
                    <a16:creationId xmlns="" xmlns:a16="http://schemas.microsoft.com/office/drawing/2014/main" id="{CB1410D6-8B92-4B1F-A26D-47991426C7D4}"/>
                  </a:ext>
                </a:extLst>
              </p:cNvPr>
              <p:cNvCxnSpPr>
                <a:cxnSpLocks/>
                <a:stCxn id="59" idx="3"/>
                <a:endCxn id="44" idx="3"/>
              </p:cNvCxnSpPr>
              <p:nvPr/>
            </p:nvCxnSpPr>
            <p:spPr bwMode="gray">
              <a:xfrm flipH="1" flipV="1">
                <a:off x="10259503" y="1870931"/>
                <a:ext cx="1263455" cy="78081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Straight Connector 526">
                <a:extLst>
                  <a:ext uri="{FF2B5EF4-FFF2-40B4-BE49-F238E27FC236}">
                    <a16:creationId xmlns="" xmlns:a16="http://schemas.microsoft.com/office/drawing/2014/main" id="{C7485D8C-0194-4888-9BD5-ACAAE2A5331B}"/>
                  </a:ext>
                </a:extLst>
              </p:cNvPr>
              <p:cNvCxnSpPr>
                <a:cxnSpLocks/>
                <a:stCxn id="59" idx="3"/>
                <a:endCxn id="56" idx="3"/>
              </p:cNvCxnSpPr>
              <p:nvPr/>
            </p:nvCxnSpPr>
            <p:spPr bwMode="gray">
              <a:xfrm flipH="1">
                <a:off x="10252728" y="2651742"/>
                <a:ext cx="1270230" cy="78081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59" name="图片 58">
                <a:extLst>
                  <a:ext uri="{FF2B5EF4-FFF2-40B4-BE49-F238E27FC236}">
                    <a16:creationId xmlns="" xmlns:a16="http://schemas.microsoft.com/office/drawing/2014/main" id="{2285AE0F-260A-47C4-9767-78C431CB498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0998069" y="2430342"/>
                <a:ext cx="524889" cy="442800"/>
              </a:xfrm>
              <a:prstGeom prst="rect">
                <a:avLst/>
              </a:prstGeom>
            </p:spPr>
          </p:pic>
          <p:sp>
            <p:nvSpPr>
              <p:cNvPr id="60" name="TextBox 285">
                <a:extLst>
                  <a:ext uri="{FF2B5EF4-FFF2-40B4-BE49-F238E27FC236}">
                    <a16:creationId xmlns="" xmlns:a16="http://schemas.microsoft.com/office/drawing/2014/main" id="{88AB4622-1973-4954-AEBD-C74077B27939}"/>
                  </a:ext>
                </a:extLst>
              </p:cNvPr>
              <p:cNvSpPr txBox="1"/>
              <p:nvPr/>
            </p:nvSpPr>
            <p:spPr bwMode="gray">
              <a:xfrm>
                <a:off x="7295211" y="2053908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1" name="TextBox 285">
                <a:extLst>
                  <a:ext uri="{FF2B5EF4-FFF2-40B4-BE49-F238E27FC236}">
                    <a16:creationId xmlns="" xmlns:a16="http://schemas.microsoft.com/office/drawing/2014/main" id="{19F75D14-500A-4409-AE2F-66775EA4CF0B}"/>
                  </a:ext>
                </a:extLst>
              </p:cNvPr>
              <p:cNvSpPr txBox="1"/>
              <p:nvPr/>
            </p:nvSpPr>
            <p:spPr bwMode="gray">
              <a:xfrm>
                <a:off x="8682648" y="2041479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2" name="TextBox 285">
                <a:extLst>
                  <a:ext uri="{FF2B5EF4-FFF2-40B4-BE49-F238E27FC236}">
                    <a16:creationId xmlns="" xmlns:a16="http://schemas.microsoft.com/office/drawing/2014/main" id="{B9694353-A481-449F-9145-922EEB9831FD}"/>
                  </a:ext>
                </a:extLst>
              </p:cNvPr>
              <p:cNvSpPr txBox="1"/>
              <p:nvPr/>
            </p:nvSpPr>
            <p:spPr bwMode="gray">
              <a:xfrm>
                <a:off x="11111782" y="2925265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E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3" name="TextBox 285">
                <a:extLst>
                  <a:ext uri="{FF2B5EF4-FFF2-40B4-BE49-F238E27FC236}">
                    <a16:creationId xmlns="" xmlns:a16="http://schemas.microsoft.com/office/drawing/2014/main" id="{83926B8D-79A0-4EB9-9F06-2085371A5076}"/>
                  </a:ext>
                </a:extLst>
              </p:cNvPr>
              <p:cNvSpPr txBox="1"/>
              <p:nvPr/>
            </p:nvSpPr>
            <p:spPr bwMode="gray">
              <a:xfrm>
                <a:off x="9888288" y="2053906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4" name="TextBox 285">
                <a:extLst>
                  <a:ext uri="{FF2B5EF4-FFF2-40B4-BE49-F238E27FC236}">
                    <a16:creationId xmlns="" xmlns:a16="http://schemas.microsoft.com/office/drawing/2014/main" id="{CADA6A87-9B53-4004-B910-EB6F35C3BE2E}"/>
                  </a:ext>
                </a:extLst>
              </p:cNvPr>
              <p:cNvSpPr txBox="1"/>
              <p:nvPr/>
            </p:nvSpPr>
            <p:spPr bwMode="gray">
              <a:xfrm>
                <a:off x="7293675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5" name="TextBox 285">
                <a:extLst>
                  <a:ext uri="{FF2B5EF4-FFF2-40B4-BE49-F238E27FC236}">
                    <a16:creationId xmlns="" xmlns:a16="http://schemas.microsoft.com/office/drawing/2014/main" id="{822CD11C-E4A6-4328-BD36-DFF0AFABB332}"/>
                  </a:ext>
                </a:extLst>
              </p:cNvPr>
              <p:cNvSpPr txBox="1"/>
              <p:nvPr/>
            </p:nvSpPr>
            <p:spPr bwMode="gray">
              <a:xfrm>
                <a:off x="8718551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G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6" name="TextBox 285">
                <a:extLst>
                  <a:ext uri="{FF2B5EF4-FFF2-40B4-BE49-F238E27FC236}">
                    <a16:creationId xmlns="" xmlns:a16="http://schemas.microsoft.com/office/drawing/2014/main" id="{BA08BF5A-8975-4320-8EA5-67A9104175DD}"/>
                  </a:ext>
                </a:extLst>
              </p:cNvPr>
              <p:cNvSpPr txBox="1"/>
              <p:nvPr/>
            </p:nvSpPr>
            <p:spPr bwMode="gray">
              <a:xfrm>
                <a:off x="9837984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H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7" name="任意多边形: 形状 36">
              <a:extLst>
                <a:ext uri="{FF2B5EF4-FFF2-40B4-BE49-F238E27FC236}">
                  <a16:creationId xmlns="" xmlns:a16="http://schemas.microsoft.com/office/drawing/2014/main" id="{2C08BC10-5A07-4291-84A5-0C1C93651380}"/>
                </a:ext>
              </a:extLst>
            </p:cNvPr>
            <p:cNvSpPr/>
            <p:nvPr/>
          </p:nvSpPr>
          <p:spPr bwMode="gray">
            <a:xfrm>
              <a:off x="6547104" y="4372511"/>
              <a:ext cx="4425696" cy="772512"/>
            </a:xfrm>
            <a:custGeom>
              <a:avLst/>
              <a:gdLst>
                <a:gd name="connsiteX0" fmla="*/ 0 w 4425696"/>
                <a:gd name="connsiteY0" fmla="*/ 683754 h 683754"/>
                <a:gd name="connsiteX1" fmla="*/ 987552 w 4425696"/>
                <a:gd name="connsiteY1" fmla="*/ 147306 h 683754"/>
                <a:gd name="connsiteX2" fmla="*/ 2487168 w 4425696"/>
                <a:gd name="connsiteY2" fmla="*/ 1002 h 683754"/>
                <a:gd name="connsiteX3" fmla="*/ 3791712 w 4425696"/>
                <a:gd name="connsiteY3" fmla="*/ 196074 h 683754"/>
                <a:gd name="connsiteX4" fmla="*/ 4425696 w 4425696"/>
                <a:gd name="connsiteY4" fmla="*/ 671562 h 683754"/>
                <a:gd name="connsiteX0" fmla="*/ 0 w 4425696"/>
                <a:gd name="connsiteY0" fmla="*/ 703995 h 703995"/>
                <a:gd name="connsiteX1" fmla="*/ 926592 w 4425696"/>
                <a:gd name="connsiteY1" fmla="*/ 82203 h 703995"/>
                <a:gd name="connsiteX2" fmla="*/ 2487168 w 4425696"/>
                <a:gd name="connsiteY2" fmla="*/ 21243 h 703995"/>
                <a:gd name="connsiteX3" fmla="*/ 3791712 w 4425696"/>
                <a:gd name="connsiteY3" fmla="*/ 216315 h 703995"/>
                <a:gd name="connsiteX4" fmla="*/ 4425696 w 4425696"/>
                <a:gd name="connsiteY4" fmla="*/ 691803 h 703995"/>
                <a:gd name="connsiteX0" fmla="*/ 0 w 4425696"/>
                <a:gd name="connsiteY0" fmla="*/ 773914 h 773914"/>
                <a:gd name="connsiteX1" fmla="*/ 926592 w 4425696"/>
                <a:gd name="connsiteY1" fmla="*/ 152122 h 773914"/>
                <a:gd name="connsiteX2" fmla="*/ 2548128 w 4425696"/>
                <a:gd name="connsiteY2" fmla="*/ 5818 h 773914"/>
                <a:gd name="connsiteX3" fmla="*/ 3791712 w 4425696"/>
                <a:gd name="connsiteY3" fmla="*/ 286234 h 773914"/>
                <a:gd name="connsiteX4" fmla="*/ 4425696 w 4425696"/>
                <a:gd name="connsiteY4" fmla="*/ 761722 h 773914"/>
                <a:gd name="connsiteX0" fmla="*/ 0 w 4425696"/>
                <a:gd name="connsiteY0" fmla="*/ 770390 h 770390"/>
                <a:gd name="connsiteX1" fmla="*/ 987552 w 4425696"/>
                <a:gd name="connsiteY1" fmla="*/ 185174 h 770390"/>
                <a:gd name="connsiteX2" fmla="*/ 2548128 w 4425696"/>
                <a:gd name="connsiteY2" fmla="*/ 2294 h 770390"/>
                <a:gd name="connsiteX3" fmla="*/ 3791712 w 4425696"/>
                <a:gd name="connsiteY3" fmla="*/ 282710 h 770390"/>
                <a:gd name="connsiteX4" fmla="*/ 4425696 w 4425696"/>
                <a:gd name="connsiteY4" fmla="*/ 758198 h 770390"/>
                <a:gd name="connsiteX0" fmla="*/ 0 w 4425696"/>
                <a:gd name="connsiteY0" fmla="*/ 773914 h 773914"/>
                <a:gd name="connsiteX1" fmla="*/ 987552 w 4425696"/>
                <a:gd name="connsiteY1" fmla="*/ 152122 h 773914"/>
                <a:gd name="connsiteX2" fmla="*/ 2548128 w 4425696"/>
                <a:gd name="connsiteY2" fmla="*/ 5818 h 773914"/>
                <a:gd name="connsiteX3" fmla="*/ 3791712 w 4425696"/>
                <a:gd name="connsiteY3" fmla="*/ 286234 h 773914"/>
                <a:gd name="connsiteX4" fmla="*/ 4425696 w 4425696"/>
                <a:gd name="connsiteY4" fmla="*/ 761722 h 773914"/>
                <a:gd name="connsiteX0" fmla="*/ 0 w 4425696"/>
                <a:gd name="connsiteY0" fmla="*/ 772512 h 772512"/>
                <a:gd name="connsiteX1" fmla="*/ 987552 w 4425696"/>
                <a:gd name="connsiteY1" fmla="*/ 150720 h 772512"/>
                <a:gd name="connsiteX2" fmla="*/ 2548128 w 4425696"/>
                <a:gd name="connsiteY2" fmla="*/ 4416 h 772512"/>
                <a:gd name="connsiteX3" fmla="*/ 3779520 w 4425696"/>
                <a:gd name="connsiteY3" fmla="*/ 260448 h 772512"/>
                <a:gd name="connsiteX4" fmla="*/ 4425696 w 4425696"/>
                <a:gd name="connsiteY4" fmla="*/ 760320 h 772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5696" h="772512">
                  <a:moveTo>
                    <a:pt x="0" y="772512"/>
                  </a:moveTo>
                  <a:cubicBezTo>
                    <a:pt x="286512" y="561184"/>
                    <a:pt x="562864" y="278736"/>
                    <a:pt x="987552" y="150720"/>
                  </a:cubicBezTo>
                  <a:cubicBezTo>
                    <a:pt x="1412240" y="22704"/>
                    <a:pt x="2082800" y="-13872"/>
                    <a:pt x="2548128" y="4416"/>
                  </a:cubicBezTo>
                  <a:cubicBezTo>
                    <a:pt x="3013456" y="22704"/>
                    <a:pt x="3466592" y="134464"/>
                    <a:pt x="3779520" y="260448"/>
                  </a:cubicBezTo>
                  <a:cubicBezTo>
                    <a:pt x="4092448" y="386432"/>
                    <a:pt x="4270248" y="578456"/>
                    <a:pt x="4425696" y="760320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="" xmlns:a16="http://schemas.microsoft.com/office/drawing/2014/main" id="{0B885140-A6D9-4F9F-BAFE-6461D9667174}"/>
                </a:ext>
              </a:extLst>
            </p:cNvPr>
            <p:cNvSpPr/>
            <p:nvPr/>
          </p:nvSpPr>
          <p:spPr bwMode="gray">
            <a:xfrm>
              <a:off x="6620256" y="5254752"/>
              <a:ext cx="2060448" cy="654888"/>
            </a:xfrm>
            <a:custGeom>
              <a:avLst/>
              <a:gdLst>
                <a:gd name="connsiteX0" fmla="*/ 0 w 2060448"/>
                <a:gd name="connsiteY0" fmla="*/ 0 h 654888"/>
                <a:gd name="connsiteX1" fmla="*/ 999744 w 2060448"/>
                <a:gd name="connsiteY1" fmla="*/ 597408 h 654888"/>
                <a:gd name="connsiteX2" fmla="*/ 2060448 w 2060448"/>
                <a:gd name="connsiteY2" fmla="*/ 633984 h 654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60448" h="654888">
                  <a:moveTo>
                    <a:pt x="0" y="0"/>
                  </a:moveTo>
                  <a:cubicBezTo>
                    <a:pt x="328168" y="245872"/>
                    <a:pt x="656336" y="491744"/>
                    <a:pt x="999744" y="597408"/>
                  </a:cubicBezTo>
                  <a:cubicBezTo>
                    <a:pt x="1343152" y="703072"/>
                    <a:pt x="1889760" y="629920"/>
                    <a:pt x="2060448" y="633984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="" xmlns:a16="http://schemas.microsoft.com/office/drawing/2014/main" id="{A4E688DD-11D1-4067-B61F-0D3AF56A9EC5}"/>
                </a:ext>
              </a:extLst>
            </p:cNvPr>
            <p:cNvSpPr/>
            <p:nvPr/>
          </p:nvSpPr>
          <p:spPr bwMode="gray">
            <a:xfrm>
              <a:off x="8702608" y="4584193"/>
              <a:ext cx="1026608" cy="1273780"/>
            </a:xfrm>
            <a:custGeom>
              <a:avLst/>
              <a:gdLst>
                <a:gd name="connsiteX0" fmla="*/ 105940 w 1008148"/>
                <a:gd name="connsiteY0" fmla="*/ 0 h 1245535"/>
                <a:gd name="connsiteX1" fmla="*/ 81556 w 1008148"/>
                <a:gd name="connsiteY1" fmla="*/ 1085088 h 1245535"/>
                <a:gd name="connsiteX2" fmla="*/ 1008148 w 1008148"/>
                <a:gd name="connsiteY2" fmla="*/ 1219200 h 1245535"/>
                <a:gd name="connsiteX0" fmla="*/ 70907 w 973115"/>
                <a:gd name="connsiteY0" fmla="*/ 0 h 1245535"/>
                <a:gd name="connsiteX1" fmla="*/ 107483 w 973115"/>
                <a:gd name="connsiteY1" fmla="*/ 1085088 h 1245535"/>
                <a:gd name="connsiteX2" fmla="*/ 973115 w 973115"/>
                <a:gd name="connsiteY2" fmla="*/ 1219200 h 1245535"/>
                <a:gd name="connsiteX0" fmla="*/ 98112 w 1000320"/>
                <a:gd name="connsiteY0" fmla="*/ 0 h 1278694"/>
                <a:gd name="connsiteX1" fmla="*/ 85920 w 1000320"/>
                <a:gd name="connsiteY1" fmla="*/ 1158240 h 1278694"/>
                <a:gd name="connsiteX2" fmla="*/ 1000320 w 1000320"/>
                <a:gd name="connsiteY2" fmla="*/ 1219200 h 1278694"/>
                <a:gd name="connsiteX0" fmla="*/ 82712 w 984920"/>
                <a:gd name="connsiteY0" fmla="*/ 0 h 1319621"/>
                <a:gd name="connsiteX1" fmla="*/ 70520 w 984920"/>
                <a:gd name="connsiteY1" fmla="*/ 1158240 h 1319621"/>
                <a:gd name="connsiteX2" fmla="*/ 984920 w 984920"/>
                <a:gd name="connsiteY2" fmla="*/ 1219200 h 1319621"/>
                <a:gd name="connsiteX0" fmla="*/ 124400 w 1026608"/>
                <a:gd name="connsiteY0" fmla="*/ 0 h 1273780"/>
                <a:gd name="connsiteX1" fmla="*/ 112208 w 1026608"/>
                <a:gd name="connsiteY1" fmla="*/ 1158240 h 1273780"/>
                <a:gd name="connsiteX2" fmla="*/ 1026608 w 1026608"/>
                <a:gd name="connsiteY2" fmla="*/ 1219200 h 127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608" h="1273780">
                  <a:moveTo>
                    <a:pt x="124400" y="0"/>
                  </a:moveTo>
                  <a:cubicBezTo>
                    <a:pt x="37024" y="440944"/>
                    <a:pt x="-99120" y="967232"/>
                    <a:pt x="112208" y="1158240"/>
                  </a:cubicBezTo>
                  <a:cubicBezTo>
                    <a:pt x="323536" y="1349248"/>
                    <a:pt x="638496" y="1253744"/>
                    <a:pt x="1026608" y="1219200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Oval 4">
              <a:extLst>
                <a:ext uri="{FF2B5EF4-FFF2-40B4-BE49-F238E27FC236}">
                  <a16:creationId xmlns="" xmlns:a16="http://schemas.microsoft.com/office/drawing/2014/main" id="{F6BB7372-4C7A-4696-8B23-40120CCA54A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56666" y="5431756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Oval 4">
              <a:extLst>
                <a:ext uri="{FF2B5EF4-FFF2-40B4-BE49-F238E27FC236}">
                  <a16:creationId xmlns="" xmlns:a16="http://schemas.microsoft.com/office/drawing/2014/main" id="{CBBE8463-E2F8-4835-AC20-44DC1078209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653713" y="5095069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="" xmlns:a16="http://schemas.microsoft.com/office/drawing/2014/main" id="{42E74F1C-4BD3-4B72-9703-40180E4038D0}"/>
              </a:ext>
            </a:extLst>
          </p:cNvPr>
          <p:cNvGrpSpPr/>
          <p:nvPr/>
        </p:nvGrpSpPr>
        <p:grpSpPr bwMode="gray">
          <a:xfrm>
            <a:off x="6279761" y="1952050"/>
            <a:ext cx="4943919" cy="1780744"/>
            <a:chOff x="6291953" y="2191318"/>
            <a:chExt cx="4943919" cy="1780744"/>
          </a:xfrm>
        </p:grpSpPr>
        <p:grpSp>
          <p:nvGrpSpPr>
            <p:cNvPr id="68" name="组合 67">
              <a:extLst>
                <a:ext uri="{FF2B5EF4-FFF2-40B4-BE49-F238E27FC236}">
                  <a16:creationId xmlns="" xmlns:a16="http://schemas.microsoft.com/office/drawing/2014/main" id="{0DE2C7AE-A1E0-4712-B0D0-F03C2B818966}"/>
                </a:ext>
              </a:extLst>
            </p:cNvPr>
            <p:cNvGrpSpPr/>
            <p:nvPr/>
          </p:nvGrpSpPr>
          <p:grpSpPr bwMode="gray">
            <a:xfrm>
              <a:off x="6291953" y="2204308"/>
              <a:ext cx="4943919" cy="1767754"/>
              <a:chOff x="5917150" y="1649531"/>
              <a:chExt cx="5605808" cy="2004421"/>
            </a:xfrm>
          </p:grpSpPr>
          <p:pic>
            <p:nvPicPr>
              <p:cNvPr id="76" name="图片 75">
                <a:extLst>
                  <a:ext uri="{FF2B5EF4-FFF2-40B4-BE49-F238E27FC236}">
                    <a16:creationId xmlns="" xmlns:a16="http://schemas.microsoft.com/office/drawing/2014/main" id="{F562CBF1-7754-4712-A560-88CEC35CAA1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8457610" y="1649531"/>
                <a:ext cx="524889" cy="442800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="" xmlns:a16="http://schemas.microsoft.com/office/drawing/2014/main" id="{9DD3E580-E203-4CF8-B9E0-93DC7E4CD86E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207707" y="1649531"/>
                <a:ext cx="524889" cy="442800"/>
              </a:xfrm>
              <a:prstGeom prst="rect">
                <a:avLst/>
              </a:prstGeom>
            </p:spPr>
          </p:pic>
          <p:pic>
            <p:nvPicPr>
              <p:cNvPr id="78" name="图片 77">
                <a:extLst>
                  <a:ext uri="{FF2B5EF4-FFF2-40B4-BE49-F238E27FC236}">
                    <a16:creationId xmlns="" xmlns:a16="http://schemas.microsoft.com/office/drawing/2014/main" id="{D1AC6B58-6E12-4F83-B062-08673DC9E1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734614" y="1649531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79" name="Straight Connector 526">
                <a:extLst>
                  <a:ext uri="{FF2B5EF4-FFF2-40B4-BE49-F238E27FC236}">
                    <a16:creationId xmlns="" xmlns:a16="http://schemas.microsoft.com/office/drawing/2014/main" id="{91B544A0-03A4-4396-9C40-DA06E71BE916}"/>
                  </a:ext>
                </a:extLst>
              </p:cNvPr>
              <p:cNvCxnSpPr>
                <a:cxnSpLocks/>
                <a:stCxn id="77" idx="1"/>
                <a:endCxn id="81" idx="1"/>
              </p:cNvCxnSpPr>
              <p:nvPr/>
            </p:nvCxnSpPr>
            <p:spPr bwMode="gray">
              <a:xfrm flipH="1">
                <a:off x="5917150" y="1870931"/>
                <a:ext cx="1290557" cy="78081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Straight Connector 526">
                <a:extLst>
                  <a:ext uri="{FF2B5EF4-FFF2-40B4-BE49-F238E27FC236}">
                    <a16:creationId xmlns="" xmlns:a16="http://schemas.microsoft.com/office/drawing/2014/main" id="{DF1D1F0E-14B5-4FD2-B3C2-4B7F2C8F0728}"/>
                  </a:ext>
                </a:extLst>
              </p:cNvPr>
              <p:cNvCxnSpPr>
                <a:cxnSpLocks/>
                <a:stCxn id="81" idx="1"/>
                <a:endCxn id="85" idx="1"/>
              </p:cNvCxnSpPr>
              <p:nvPr/>
            </p:nvCxnSpPr>
            <p:spPr bwMode="gray">
              <a:xfrm>
                <a:off x="5917150" y="2651742"/>
                <a:ext cx="1270230" cy="78081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81" name="图片 80">
                <a:extLst>
                  <a:ext uri="{FF2B5EF4-FFF2-40B4-BE49-F238E27FC236}">
                    <a16:creationId xmlns="" xmlns:a16="http://schemas.microsoft.com/office/drawing/2014/main" id="{4A7BB8ED-CC85-4907-BD3A-C9CC5A69189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5917150" y="243034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82" name="Straight Connector 526">
                <a:extLst>
                  <a:ext uri="{FF2B5EF4-FFF2-40B4-BE49-F238E27FC236}">
                    <a16:creationId xmlns="" xmlns:a16="http://schemas.microsoft.com/office/drawing/2014/main" id="{669AF930-6FD6-48D3-9CB0-420A4A2A1015}"/>
                  </a:ext>
                </a:extLst>
              </p:cNvPr>
              <p:cNvCxnSpPr>
                <a:cxnSpLocks/>
                <a:stCxn id="83" idx="0"/>
                <a:endCxn id="76" idx="2"/>
              </p:cNvCxnSpPr>
              <p:nvPr/>
            </p:nvCxnSpPr>
            <p:spPr bwMode="gray">
              <a:xfrm flipV="1">
                <a:off x="8720054" y="2092331"/>
                <a:ext cx="0" cy="11188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83" name="图片 82">
                <a:extLst>
                  <a:ext uri="{FF2B5EF4-FFF2-40B4-BE49-F238E27FC236}">
                    <a16:creationId xmlns="" xmlns:a16="http://schemas.microsoft.com/office/drawing/2014/main" id="{11911520-FE3A-4913-9DB0-737A0D31FC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8457610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84" name="Straight Connector 526">
                <a:extLst>
                  <a:ext uri="{FF2B5EF4-FFF2-40B4-BE49-F238E27FC236}">
                    <a16:creationId xmlns="" xmlns:a16="http://schemas.microsoft.com/office/drawing/2014/main" id="{E0A2934C-E306-488F-BA13-DFA77A75F46B}"/>
                  </a:ext>
                </a:extLst>
              </p:cNvPr>
              <p:cNvCxnSpPr>
                <a:cxnSpLocks/>
                <a:endCxn id="83" idx="1"/>
              </p:cNvCxnSpPr>
              <p:nvPr/>
            </p:nvCxnSpPr>
            <p:spPr bwMode="gray">
              <a:xfrm flipV="1">
                <a:off x="7329024" y="3432552"/>
                <a:ext cx="1128586" cy="190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85" name="图片 84">
                <a:extLst>
                  <a:ext uri="{FF2B5EF4-FFF2-40B4-BE49-F238E27FC236}">
                    <a16:creationId xmlns="" xmlns:a16="http://schemas.microsoft.com/office/drawing/2014/main" id="{3414413E-B87C-4BD9-9C8F-BB2F3C8AD218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187380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86" name="Straight Connector 526">
                <a:extLst>
                  <a:ext uri="{FF2B5EF4-FFF2-40B4-BE49-F238E27FC236}">
                    <a16:creationId xmlns="" xmlns:a16="http://schemas.microsoft.com/office/drawing/2014/main" id="{6349D8DE-923F-424E-B368-E353BA94F8EF}"/>
                  </a:ext>
                </a:extLst>
              </p:cNvPr>
              <p:cNvCxnSpPr>
                <a:cxnSpLocks/>
                <a:stCxn id="76" idx="1"/>
                <a:endCxn id="77" idx="3"/>
              </p:cNvCxnSpPr>
              <p:nvPr/>
            </p:nvCxnSpPr>
            <p:spPr bwMode="gray">
              <a:xfrm flipH="1">
                <a:off x="7732595" y="1870931"/>
                <a:ext cx="725014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Straight Connector 526">
                <a:extLst>
                  <a:ext uri="{FF2B5EF4-FFF2-40B4-BE49-F238E27FC236}">
                    <a16:creationId xmlns="" xmlns:a16="http://schemas.microsoft.com/office/drawing/2014/main" id="{8F3867A4-E20D-4D7B-BACB-6EE43E16CCF8}"/>
                  </a:ext>
                </a:extLst>
              </p:cNvPr>
              <p:cNvCxnSpPr>
                <a:cxnSpLocks/>
                <a:stCxn id="76" idx="3"/>
                <a:endCxn id="78" idx="1"/>
              </p:cNvCxnSpPr>
              <p:nvPr/>
            </p:nvCxnSpPr>
            <p:spPr bwMode="gray">
              <a:xfrm>
                <a:off x="8982498" y="1870931"/>
                <a:ext cx="752116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8" name="TextBox 285">
                <a:extLst>
                  <a:ext uri="{FF2B5EF4-FFF2-40B4-BE49-F238E27FC236}">
                    <a16:creationId xmlns="" xmlns:a16="http://schemas.microsoft.com/office/drawing/2014/main" id="{A34A2487-C6C0-49CD-856A-6475219FC918}"/>
                  </a:ext>
                </a:extLst>
              </p:cNvPr>
              <p:cNvSpPr txBox="1"/>
              <p:nvPr/>
            </p:nvSpPr>
            <p:spPr bwMode="gray">
              <a:xfrm>
                <a:off x="6006340" y="2876715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89" name="Straight Connector 526">
                <a:extLst>
                  <a:ext uri="{FF2B5EF4-FFF2-40B4-BE49-F238E27FC236}">
                    <a16:creationId xmlns="" xmlns:a16="http://schemas.microsoft.com/office/drawing/2014/main" id="{DCBD1FA8-77F1-44CF-A32F-9B95AF3863AA}"/>
                  </a:ext>
                </a:extLst>
              </p:cNvPr>
              <p:cNvCxnSpPr>
                <a:cxnSpLocks/>
                <a:stCxn id="90" idx="1"/>
                <a:endCxn id="83" idx="3"/>
              </p:cNvCxnSpPr>
              <p:nvPr/>
            </p:nvCxnSpPr>
            <p:spPr bwMode="gray">
              <a:xfrm flipH="1">
                <a:off x="8982498" y="3432552"/>
                <a:ext cx="745341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90" name="图片 89">
                <a:extLst>
                  <a:ext uri="{FF2B5EF4-FFF2-40B4-BE49-F238E27FC236}">
                    <a16:creationId xmlns="" xmlns:a16="http://schemas.microsoft.com/office/drawing/2014/main" id="{0764738B-9143-4A8F-90C5-841A755475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727839" y="3211152"/>
                <a:ext cx="524889" cy="442800"/>
              </a:xfrm>
              <a:prstGeom prst="rect">
                <a:avLst/>
              </a:prstGeom>
            </p:spPr>
          </p:pic>
          <p:cxnSp>
            <p:nvCxnSpPr>
              <p:cNvPr id="91" name="Straight Connector 526">
                <a:extLst>
                  <a:ext uri="{FF2B5EF4-FFF2-40B4-BE49-F238E27FC236}">
                    <a16:creationId xmlns="" xmlns:a16="http://schemas.microsoft.com/office/drawing/2014/main" id="{BE305066-CF49-4CF8-90A9-CA0F640292D9}"/>
                  </a:ext>
                </a:extLst>
              </p:cNvPr>
              <p:cNvCxnSpPr>
                <a:cxnSpLocks/>
                <a:stCxn id="93" idx="3"/>
                <a:endCxn id="78" idx="3"/>
              </p:cNvCxnSpPr>
              <p:nvPr/>
            </p:nvCxnSpPr>
            <p:spPr bwMode="gray">
              <a:xfrm flipH="1" flipV="1">
                <a:off x="10259503" y="1870931"/>
                <a:ext cx="1263455" cy="78081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Straight Connector 526">
                <a:extLst>
                  <a:ext uri="{FF2B5EF4-FFF2-40B4-BE49-F238E27FC236}">
                    <a16:creationId xmlns="" xmlns:a16="http://schemas.microsoft.com/office/drawing/2014/main" id="{E0C89034-161C-4B25-9215-445084298608}"/>
                  </a:ext>
                </a:extLst>
              </p:cNvPr>
              <p:cNvCxnSpPr>
                <a:cxnSpLocks/>
                <a:stCxn id="93" idx="3"/>
                <a:endCxn id="90" idx="3"/>
              </p:cNvCxnSpPr>
              <p:nvPr/>
            </p:nvCxnSpPr>
            <p:spPr bwMode="gray">
              <a:xfrm flipH="1">
                <a:off x="10252728" y="2651742"/>
                <a:ext cx="1270230" cy="78081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93" name="图片 92">
                <a:extLst>
                  <a:ext uri="{FF2B5EF4-FFF2-40B4-BE49-F238E27FC236}">
                    <a16:creationId xmlns="" xmlns:a16="http://schemas.microsoft.com/office/drawing/2014/main" id="{B1BCC56F-3A9E-44C0-8880-8460039011A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0998069" y="2430342"/>
                <a:ext cx="524889" cy="442800"/>
              </a:xfrm>
              <a:prstGeom prst="rect">
                <a:avLst/>
              </a:prstGeom>
            </p:spPr>
          </p:pic>
          <p:sp>
            <p:nvSpPr>
              <p:cNvPr id="94" name="TextBox 285">
                <a:extLst>
                  <a:ext uri="{FF2B5EF4-FFF2-40B4-BE49-F238E27FC236}">
                    <a16:creationId xmlns="" xmlns:a16="http://schemas.microsoft.com/office/drawing/2014/main" id="{75C34C91-5E29-4D0B-A69D-2F9423742AD1}"/>
                  </a:ext>
                </a:extLst>
              </p:cNvPr>
              <p:cNvSpPr txBox="1"/>
              <p:nvPr/>
            </p:nvSpPr>
            <p:spPr bwMode="gray">
              <a:xfrm>
                <a:off x="7295211" y="2053908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5" name="TextBox 285">
                <a:extLst>
                  <a:ext uri="{FF2B5EF4-FFF2-40B4-BE49-F238E27FC236}">
                    <a16:creationId xmlns="" xmlns:a16="http://schemas.microsoft.com/office/drawing/2014/main" id="{801FC975-63EA-4CBB-9597-BF2F5E428EBF}"/>
                  </a:ext>
                </a:extLst>
              </p:cNvPr>
              <p:cNvSpPr txBox="1"/>
              <p:nvPr/>
            </p:nvSpPr>
            <p:spPr bwMode="gray">
              <a:xfrm>
                <a:off x="8682648" y="2041479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6" name="TextBox 285">
                <a:extLst>
                  <a:ext uri="{FF2B5EF4-FFF2-40B4-BE49-F238E27FC236}">
                    <a16:creationId xmlns="" xmlns:a16="http://schemas.microsoft.com/office/drawing/2014/main" id="{784A1189-AF50-4A06-9413-0886EC0B2D0E}"/>
                  </a:ext>
                </a:extLst>
              </p:cNvPr>
              <p:cNvSpPr txBox="1"/>
              <p:nvPr/>
            </p:nvSpPr>
            <p:spPr bwMode="gray">
              <a:xfrm>
                <a:off x="11111782" y="2925265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E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TextBox 285">
                <a:extLst>
                  <a:ext uri="{FF2B5EF4-FFF2-40B4-BE49-F238E27FC236}">
                    <a16:creationId xmlns="" xmlns:a16="http://schemas.microsoft.com/office/drawing/2014/main" id="{569D705A-694C-42B7-A848-F9F9222DDED3}"/>
                  </a:ext>
                </a:extLst>
              </p:cNvPr>
              <p:cNvSpPr txBox="1"/>
              <p:nvPr/>
            </p:nvSpPr>
            <p:spPr bwMode="gray">
              <a:xfrm>
                <a:off x="9888288" y="2053906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8" name="TextBox 285">
                <a:extLst>
                  <a:ext uri="{FF2B5EF4-FFF2-40B4-BE49-F238E27FC236}">
                    <a16:creationId xmlns="" xmlns:a16="http://schemas.microsoft.com/office/drawing/2014/main" id="{9C731BD7-92E0-4B63-8B99-8937B80E151F}"/>
                  </a:ext>
                </a:extLst>
              </p:cNvPr>
              <p:cNvSpPr txBox="1"/>
              <p:nvPr/>
            </p:nvSpPr>
            <p:spPr bwMode="gray">
              <a:xfrm>
                <a:off x="7293675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9" name="TextBox 285">
                <a:extLst>
                  <a:ext uri="{FF2B5EF4-FFF2-40B4-BE49-F238E27FC236}">
                    <a16:creationId xmlns="" xmlns:a16="http://schemas.microsoft.com/office/drawing/2014/main" id="{40653F09-427E-46BC-8B27-467AFE5EF8CA}"/>
                  </a:ext>
                </a:extLst>
              </p:cNvPr>
              <p:cNvSpPr txBox="1"/>
              <p:nvPr/>
            </p:nvSpPr>
            <p:spPr bwMode="gray">
              <a:xfrm>
                <a:off x="8718551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G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0" name="TextBox 285">
                <a:extLst>
                  <a:ext uri="{FF2B5EF4-FFF2-40B4-BE49-F238E27FC236}">
                    <a16:creationId xmlns="" xmlns:a16="http://schemas.microsoft.com/office/drawing/2014/main" id="{4EDBCC79-9A70-499D-BA05-172B859D0CD5}"/>
                  </a:ext>
                </a:extLst>
              </p:cNvPr>
              <p:cNvSpPr txBox="1"/>
              <p:nvPr/>
            </p:nvSpPr>
            <p:spPr bwMode="gray">
              <a:xfrm>
                <a:off x="9837984" y="2867754"/>
                <a:ext cx="254305" cy="36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H</a:t>
                </a:r>
                <a:endParaRPr lang="en-US" sz="15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69" name="任意多边形: 形状 68">
              <a:extLst>
                <a:ext uri="{FF2B5EF4-FFF2-40B4-BE49-F238E27FC236}">
                  <a16:creationId xmlns="" xmlns:a16="http://schemas.microsoft.com/office/drawing/2014/main" id="{C6DB6B77-915B-4F9C-BBC7-5A884C530A84}"/>
                </a:ext>
              </a:extLst>
            </p:cNvPr>
            <p:cNvSpPr/>
            <p:nvPr/>
          </p:nvSpPr>
          <p:spPr bwMode="gray">
            <a:xfrm>
              <a:off x="6559296" y="3084576"/>
              <a:ext cx="4437888" cy="722047"/>
            </a:xfrm>
            <a:custGeom>
              <a:avLst/>
              <a:gdLst>
                <a:gd name="connsiteX0" fmla="*/ 0 w 4437888"/>
                <a:gd name="connsiteY0" fmla="*/ 0 h 722047"/>
                <a:gd name="connsiteX1" fmla="*/ 1243584 w 4437888"/>
                <a:gd name="connsiteY1" fmla="*/ 633984 h 722047"/>
                <a:gd name="connsiteX2" fmla="*/ 3572256 w 4437888"/>
                <a:gd name="connsiteY2" fmla="*/ 658368 h 722047"/>
                <a:gd name="connsiteX3" fmla="*/ 4437888 w 4437888"/>
                <a:gd name="connsiteY3" fmla="*/ 85344 h 72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7888" h="722047">
                  <a:moveTo>
                    <a:pt x="0" y="0"/>
                  </a:moveTo>
                  <a:cubicBezTo>
                    <a:pt x="324104" y="262128"/>
                    <a:pt x="648208" y="524256"/>
                    <a:pt x="1243584" y="633984"/>
                  </a:cubicBezTo>
                  <a:cubicBezTo>
                    <a:pt x="1838960" y="743712"/>
                    <a:pt x="3039872" y="749808"/>
                    <a:pt x="3572256" y="658368"/>
                  </a:cubicBezTo>
                  <a:cubicBezTo>
                    <a:pt x="4104640" y="566928"/>
                    <a:pt x="4271264" y="326136"/>
                    <a:pt x="4437888" y="85344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="" xmlns:a16="http://schemas.microsoft.com/office/drawing/2014/main" id="{491F5EC5-B147-4C4F-8271-BFA9345F6733}"/>
                </a:ext>
              </a:extLst>
            </p:cNvPr>
            <p:cNvSpPr/>
            <p:nvPr/>
          </p:nvSpPr>
          <p:spPr bwMode="gray">
            <a:xfrm>
              <a:off x="6548397" y="2354945"/>
              <a:ext cx="2220383" cy="1119948"/>
            </a:xfrm>
            <a:custGeom>
              <a:avLst/>
              <a:gdLst>
                <a:gd name="connsiteX0" fmla="*/ 0 w 2197214"/>
                <a:gd name="connsiteY0" fmla="*/ 583918 h 1022830"/>
                <a:gd name="connsiteX1" fmla="*/ 1011936 w 2197214"/>
                <a:gd name="connsiteY1" fmla="*/ 84046 h 1022830"/>
                <a:gd name="connsiteX2" fmla="*/ 2011680 w 2197214"/>
                <a:gd name="connsiteY2" fmla="*/ 96238 h 1022830"/>
                <a:gd name="connsiteX3" fmla="*/ 2194560 w 2197214"/>
                <a:gd name="connsiteY3" fmla="*/ 1022830 h 1022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7214" h="1022830">
                  <a:moveTo>
                    <a:pt x="0" y="583918"/>
                  </a:moveTo>
                  <a:cubicBezTo>
                    <a:pt x="338328" y="374622"/>
                    <a:pt x="676656" y="165326"/>
                    <a:pt x="1011936" y="84046"/>
                  </a:cubicBezTo>
                  <a:cubicBezTo>
                    <a:pt x="1347216" y="2766"/>
                    <a:pt x="1814576" y="-60226"/>
                    <a:pt x="2011680" y="96238"/>
                  </a:cubicBezTo>
                  <a:cubicBezTo>
                    <a:pt x="2208784" y="252702"/>
                    <a:pt x="2201672" y="637766"/>
                    <a:pt x="2194560" y="1022830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="" xmlns:a16="http://schemas.microsoft.com/office/drawing/2014/main" id="{4DA05993-86CD-4136-A455-FE87798F4DA2}"/>
                </a:ext>
              </a:extLst>
            </p:cNvPr>
            <p:cNvSpPr/>
            <p:nvPr/>
          </p:nvSpPr>
          <p:spPr bwMode="gray">
            <a:xfrm>
              <a:off x="8950838" y="2391407"/>
              <a:ext cx="1878355" cy="1120954"/>
            </a:xfrm>
            <a:custGeom>
              <a:avLst/>
              <a:gdLst>
                <a:gd name="connsiteX0" fmla="*/ 0 w 1672214"/>
                <a:gd name="connsiteY0" fmla="*/ 46750 h 1058686"/>
                <a:gd name="connsiteX1" fmla="*/ 950976 w 1672214"/>
                <a:gd name="connsiteY1" fmla="*/ 22366 h 1058686"/>
                <a:gd name="connsiteX2" fmla="*/ 1621536 w 1672214"/>
                <a:gd name="connsiteY2" fmla="*/ 327166 h 1058686"/>
                <a:gd name="connsiteX3" fmla="*/ 1572768 w 1672214"/>
                <a:gd name="connsiteY3" fmla="*/ 936766 h 1058686"/>
                <a:gd name="connsiteX4" fmla="*/ 1158240 w 1672214"/>
                <a:gd name="connsiteY4" fmla="*/ 1058686 h 1058686"/>
                <a:gd name="connsiteX0" fmla="*/ 0 w 1638173"/>
                <a:gd name="connsiteY0" fmla="*/ 46750 h 1058686"/>
                <a:gd name="connsiteX1" fmla="*/ 950976 w 1638173"/>
                <a:gd name="connsiteY1" fmla="*/ 22366 h 1058686"/>
                <a:gd name="connsiteX2" fmla="*/ 1572768 w 1638173"/>
                <a:gd name="connsiteY2" fmla="*/ 327166 h 1058686"/>
                <a:gd name="connsiteX3" fmla="*/ 1572768 w 1638173"/>
                <a:gd name="connsiteY3" fmla="*/ 936766 h 1058686"/>
                <a:gd name="connsiteX4" fmla="*/ 1158240 w 1638173"/>
                <a:gd name="connsiteY4" fmla="*/ 1058686 h 1058686"/>
                <a:gd name="connsiteX0" fmla="*/ 0 w 1684886"/>
                <a:gd name="connsiteY0" fmla="*/ 46750 h 1058686"/>
                <a:gd name="connsiteX1" fmla="*/ 950976 w 1684886"/>
                <a:gd name="connsiteY1" fmla="*/ 22366 h 1058686"/>
                <a:gd name="connsiteX2" fmla="*/ 1572768 w 1684886"/>
                <a:gd name="connsiteY2" fmla="*/ 327166 h 1058686"/>
                <a:gd name="connsiteX3" fmla="*/ 1572768 w 1684886"/>
                <a:gd name="connsiteY3" fmla="*/ 936766 h 1058686"/>
                <a:gd name="connsiteX4" fmla="*/ 1158240 w 1684886"/>
                <a:gd name="connsiteY4" fmla="*/ 1058686 h 1058686"/>
                <a:gd name="connsiteX0" fmla="*/ 0 w 1695520"/>
                <a:gd name="connsiteY0" fmla="*/ 46750 h 1058686"/>
                <a:gd name="connsiteX1" fmla="*/ 950976 w 1695520"/>
                <a:gd name="connsiteY1" fmla="*/ 22366 h 1058686"/>
                <a:gd name="connsiteX2" fmla="*/ 1572768 w 1695520"/>
                <a:gd name="connsiteY2" fmla="*/ 327166 h 1058686"/>
                <a:gd name="connsiteX3" fmla="*/ 1572768 w 1695520"/>
                <a:gd name="connsiteY3" fmla="*/ 936766 h 1058686"/>
                <a:gd name="connsiteX4" fmla="*/ 1158240 w 1695520"/>
                <a:gd name="connsiteY4" fmla="*/ 1058686 h 1058686"/>
                <a:gd name="connsiteX0" fmla="*/ 0 w 1633255"/>
                <a:gd name="connsiteY0" fmla="*/ 97870 h 1109806"/>
                <a:gd name="connsiteX1" fmla="*/ 1024128 w 1633255"/>
                <a:gd name="connsiteY1" fmla="*/ 12526 h 1109806"/>
                <a:gd name="connsiteX2" fmla="*/ 1572768 w 1633255"/>
                <a:gd name="connsiteY2" fmla="*/ 378286 h 1109806"/>
                <a:gd name="connsiteX3" fmla="*/ 1572768 w 1633255"/>
                <a:gd name="connsiteY3" fmla="*/ 987886 h 1109806"/>
                <a:gd name="connsiteX4" fmla="*/ 1158240 w 1633255"/>
                <a:gd name="connsiteY4" fmla="*/ 1109806 h 1109806"/>
                <a:gd name="connsiteX0" fmla="*/ 0 w 1748258"/>
                <a:gd name="connsiteY0" fmla="*/ 95637 h 1107573"/>
                <a:gd name="connsiteX1" fmla="*/ 1024128 w 1748258"/>
                <a:gd name="connsiteY1" fmla="*/ 10293 h 1107573"/>
                <a:gd name="connsiteX2" fmla="*/ 1719072 w 1748258"/>
                <a:gd name="connsiteY2" fmla="*/ 339477 h 1107573"/>
                <a:gd name="connsiteX3" fmla="*/ 1572768 w 1748258"/>
                <a:gd name="connsiteY3" fmla="*/ 985653 h 1107573"/>
                <a:gd name="connsiteX4" fmla="*/ 1158240 w 1748258"/>
                <a:gd name="connsiteY4" fmla="*/ 1107573 h 1107573"/>
                <a:gd name="connsiteX0" fmla="*/ 0 w 1771099"/>
                <a:gd name="connsiteY0" fmla="*/ 95637 h 1107573"/>
                <a:gd name="connsiteX1" fmla="*/ 1024128 w 1771099"/>
                <a:gd name="connsiteY1" fmla="*/ 10293 h 1107573"/>
                <a:gd name="connsiteX2" fmla="*/ 1719072 w 1771099"/>
                <a:gd name="connsiteY2" fmla="*/ 339477 h 1107573"/>
                <a:gd name="connsiteX3" fmla="*/ 1658112 w 1771099"/>
                <a:gd name="connsiteY3" fmla="*/ 936885 h 1107573"/>
                <a:gd name="connsiteX4" fmla="*/ 1158240 w 1771099"/>
                <a:gd name="connsiteY4" fmla="*/ 1107573 h 1107573"/>
                <a:gd name="connsiteX0" fmla="*/ 0 w 1830733"/>
                <a:gd name="connsiteY0" fmla="*/ 96372 h 1108308"/>
                <a:gd name="connsiteX1" fmla="*/ 1024128 w 1830733"/>
                <a:gd name="connsiteY1" fmla="*/ 11028 h 1108308"/>
                <a:gd name="connsiteX2" fmla="*/ 1792224 w 1830733"/>
                <a:gd name="connsiteY2" fmla="*/ 352404 h 1108308"/>
                <a:gd name="connsiteX3" fmla="*/ 1658112 w 1830733"/>
                <a:gd name="connsiteY3" fmla="*/ 937620 h 1108308"/>
                <a:gd name="connsiteX4" fmla="*/ 1158240 w 1830733"/>
                <a:gd name="connsiteY4" fmla="*/ 1108308 h 1108308"/>
                <a:gd name="connsiteX0" fmla="*/ 0 w 1872983"/>
                <a:gd name="connsiteY0" fmla="*/ 96372 h 1108308"/>
                <a:gd name="connsiteX1" fmla="*/ 1024128 w 1872983"/>
                <a:gd name="connsiteY1" fmla="*/ 11028 h 1108308"/>
                <a:gd name="connsiteX2" fmla="*/ 1792224 w 1872983"/>
                <a:gd name="connsiteY2" fmla="*/ 352404 h 1108308"/>
                <a:gd name="connsiteX3" fmla="*/ 1658112 w 1872983"/>
                <a:gd name="connsiteY3" fmla="*/ 937620 h 1108308"/>
                <a:gd name="connsiteX4" fmla="*/ 1158240 w 1872983"/>
                <a:gd name="connsiteY4" fmla="*/ 1108308 h 1108308"/>
                <a:gd name="connsiteX0" fmla="*/ 0 w 1823848"/>
                <a:gd name="connsiteY0" fmla="*/ 107598 h 1119534"/>
                <a:gd name="connsiteX1" fmla="*/ 1121664 w 1823848"/>
                <a:gd name="connsiteY1" fmla="*/ 10062 h 1119534"/>
                <a:gd name="connsiteX2" fmla="*/ 1792224 w 1823848"/>
                <a:gd name="connsiteY2" fmla="*/ 363630 h 1119534"/>
                <a:gd name="connsiteX3" fmla="*/ 1658112 w 1823848"/>
                <a:gd name="connsiteY3" fmla="*/ 948846 h 1119534"/>
                <a:gd name="connsiteX4" fmla="*/ 1158240 w 1823848"/>
                <a:gd name="connsiteY4" fmla="*/ 1119534 h 1119534"/>
                <a:gd name="connsiteX0" fmla="*/ 0 w 1878355"/>
                <a:gd name="connsiteY0" fmla="*/ 109018 h 1120954"/>
                <a:gd name="connsiteX1" fmla="*/ 1121664 w 1878355"/>
                <a:gd name="connsiteY1" fmla="*/ 11482 h 1120954"/>
                <a:gd name="connsiteX2" fmla="*/ 1853184 w 1878355"/>
                <a:gd name="connsiteY2" fmla="*/ 389434 h 1120954"/>
                <a:gd name="connsiteX3" fmla="*/ 1658112 w 1878355"/>
                <a:gd name="connsiteY3" fmla="*/ 950266 h 1120954"/>
                <a:gd name="connsiteX4" fmla="*/ 1158240 w 1878355"/>
                <a:gd name="connsiteY4" fmla="*/ 1120954 h 11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8355" h="1120954">
                  <a:moveTo>
                    <a:pt x="0" y="109018"/>
                  </a:moveTo>
                  <a:cubicBezTo>
                    <a:pt x="340360" y="73458"/>
                    <a:pt x="812800" y="-35254"/>
                    <a:pt x="1121664" y="11482"/>
                  </a:cubicBezTo>
                  <a:cubicBezTo>
                    <a:pt x="1430528" y="58218"/>
                    <a:pt x="1763776" y="232970"/>
                    <a:pt x="1853184" y="389434"/>
                  </a:cubicBezTo>
                  <a:cubicBezTo>
                    <a:pt x="1942592" y="545898"/>
                    <a:pt x="1773936" y="828346"/>
                    <a:pt x="1658112" y="950266"/>
                  </a:cubicBezTo>
                  <a:cubicBezTo>
                    <a:pt x="1542288" y="1072186"/>
                    <a:pt x="1062736" y="1108762"/>
                    <a:pt x="1158240" y="1120954"/>
                  </a:cubicBezTo>
                </a:path>
              </a:pathLst>
            </a:custGeom>
            <a:noFill/>
            <a:ln w="57150">
              <a:solidFill>
                <a:srgbClr val="EC706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Oval 4">
              <a:extLst>
                <a:ext uri="{FF2B5EF4-FFF2-40B4-BE49-F238E27FC236}">
                  <a16:creationId xmlns="" xmlns:a16="http://schemas.microsoft.com/office/drawing/2014/main" id="{73647A8D-DDC8-4FC5-9A36-81375A560DD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41822" y="3592692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Oval 4">
              <a:extLst>
                <a:ext uri="{FF2B5EF4-FFF2-40B4-BE49-F238E27FC236}">
                  <a16:creationId xmlns="" xmlns:a16="http://schemas.microsoft.com/office/drawing/2014/main" id="{78984433-8E94-4D22-9341-34C309C4559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089343" y="2191318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4" name="Oval 4">
              <a:extLst>
                <a:ext uri="{FF2B5EF4-FFF2-40B4-BE49-F238E27FC236}">
                  <a16:creationId xmlns="" xmlns:a16="http://schemas.microsoft.com/office/drawing/2014/main" id="{F8688B7B-87D1-42F7-9714-1F1964328CD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393604" y="2241795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5" name="十字形 74">
              <a:extLst>
                <a:ext uri="{FF2B5EF4-FFF2-40B4-BE49-F238E27FC236}">
                  <a16:creationId xmlns="" xmlns:a16="http://schemas.microsoft.com/office/drawing/2014/main" id="{0EA8160D-D0C5-407B-ACBD-C11F14B89ADF}"/>
                </a:ext>
              </a:extLst>
            </p:cNvPr>
            <p:cNvSpPr/>
            <p:nvPr/>
          </p:nvSpPr>
          <p:spPr bwMode="gray">
            <a:xfrm rot="2785165">
              <a:off x="10690338" y="2230792"/>
              <a:ext cx="345945" cy="345945"/>
            </a:xfrm>
            <a:prstGeom prst="plus">
              <a:avLst>
                <a:gd name="adj" fmla="val 39697"/>
              </a:avLst>
            </a:prstGeom>
            <a:solidFill>
              <a:srgbClr val="EC7061"/>
            </a:solidFill>
            <a:ln>
              <a:solidFill>
                <a:srgbClr val="EC70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50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1" name="TextBox 314">
            <a:extLst>
              <a:ext uri="{FF2B5EF4-FFF2-40B4-BE49-F238E27FC236}">
                <a16:creationId xmlns="" xmlns:a16="http://schemas.microsoft.com/office/drawing/2014/main" id="{59ABE5AF-458F-4A5A-81E9-EDC31F80B975}"/>
              </a:ext>
            </a:extLst>
          </p:cNvPr>
          <p:cNvSpPr txBox="1"/>
          <p:nvPr/>
        </p:nvSpPr>
        <p:spPr bwMode="gray">
          <a:xfrm>
            <a:off x="5548754" y="1468049"/>
            <a:ext cx="61734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顺序建立隧道：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 A-E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A-G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 C-H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。带宽不足隧道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建立失败。</a:t>
            </a:r>
            <a:endParaRPr 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3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8209495-E1A6-46F9-89A8-89BBFBF6582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网络流量优化介绍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86269C8-184D-4AB8-8908-7B1F84802D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网络流量优化即针对网络拥塞情况进行全局分析，按照合理的优化策略（保障关键业务</a:t>
            </a:r>
            <a:r>
              <a:rPr lang="en-US" altLang="zh-CN" sz="1600" dirty="0">
                <a:sym typeface="Huawei Sans" panose="020C0503030203020204" pitchFamily="34" charset="0"/>
              </a:rPr>
              <a:t>SLA</a:t>
            </a:r>
            <a:r>
              <a:rPr lang="zh-CN" altLang="en-US" sz="1600" dirty="0">
                <a:sym typeface="Huawei Sans" panose="020C0503030203020204" pitchFamily="34" charset="0"/>
              </a:rPr>
              <a:t>）得到计算结果，最后将计算结果应用到网络解决拥塞的一系列行为。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网络流量优化可以分为三个阶段：网络信息采集、网络流量调优计算、调优结果下发。</a:t>
            </a:r>
          </a:p>
        </p:txBody>
      </p:sp>
      <p:sp>
        <p:nvSpPr>
          <p:cNvPr id="61" name="圆角矩形 75">
            <a:extLst>
              <a:ext uri="{FF2B5EF4-FFF2-40B4-BE49-F238E27FC236}">
                <a16:creationId xmlns="" xmlns:a16="http://schemas.microsoft.com/office/drawing/2014/main" id="{89CD5D50-9A79-4B63-A7D9-CBF87B989E7E}"/>
              </a:ext>
            </a:extLst>
          </p:cNvPr>
          <p:cNvSpPr/>
          <p:nvPr/>
        </p:nvSpPr>
        <p:spPr bwMode="gray">
          <a:xfrm>
            <a:off x="816860" y="2368009"/>
            <a:ext cx="2876580" cy="302929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、网络信息采集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="" xmlns:a16="http://schemas.microsoft.com/office/drawing/2014/main" id="{87EA56F7-BF09-48BA-83B9-3665315B3B5D}"/>
              </a:ext>
            </a:extLst>
          </p:cNvPr>
          <p:cNvSpPr txBox="1"/>
          <p:nvPr/>
        </p:nvSpPr>
        <p:spPr bwMode="gray">
          <a:xfrm flipH="1">
            <a:off x="843358" y="2778401"/>
            <a:ext cx="2876580" cy="1594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>
                <a:sym typeface="Huawei Sans" panose="020C0503030203020204" pitchFamily="34" charset="0"/>
              </a:rPr>
              <a:t>控制器收集全局网络信息，包括：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>
                <a:sym typeface="Huawei Sans" panose="020C0503030203020204" pitchFamily="34" charset="0"/>
              </a:rPr>
              <a:t>网络拓扑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>
                <a:sym typeface="Huawei Sans" panose="020C0503030203020204" pitchFamily="34" charset="0"/>
              </a:rPr>
              <a:t>网络带宽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>
                <a:sym typeface="Huawei Sans" panose="020C0503030203020204" pitchFamily="34" charset="0"/>
              </a:rPr>
              <a:t>链路时延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>
                <a:sym typeface="Huawei Sans" panose="020C0503030203020204" pitchFamily="34" charset="0"/>
              </a:rPr>
              <a:t>网络流量等信息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400">
              <a:sym typeface="Huawei Sans" panose="020C0503030203020204" pitchFamily="34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="" xmlns:a16="http://schemas.microsoft.com/office/drawing/2014/main" id="{0CEC5CB6-05C7-41C2-A781-5378D594F3E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25172" y="4696225"/>
            <a:ext cx="358581" cy="302501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="" xmlns:a16="http://schemas.microsoft.com/office/drawing/2014/main" id="{56CC8CAA-F44C-431F-AE2D-DE81B4649D0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71293" y="4696225"/>
            <a:ext cx="358581" cy="302501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="" xmlns:a16="http://schemas.microsoft.com/office/drawing/2014/main" id="{CAF66C16-4DE8-4CC8-BF71-A4BC77B74C1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97566" y="4696225"/>
            <a:ext cx="358581" cy="302501"/>
          </a:xfrm>
          <a:prstGeom prst="rect">
            <a:avLst/>
          </a:prstGeom>
        </p:spPr>
      </p:pic>
      <p:cxnSp>
        <p:nvCxnSpPr>
          <p:cNvPr id="80" name="Straight Connector 526">
            <a:extLst>
              <a:ext uri="{FF2B5EF4-FFF2-40B4-BE49-F238E27FC236}">
                <a16:creationId xmlns="" xmlns:a16="http://schemas.microsoft.com/office/drawing/2014/main" id="{97B7FF16-67D5-4D4E-984B-DE376EC6017B}"/>
              </a:ext>
            </a:extLst>
          </p:cNvPr>
          <p:cNvCxnSpPr>
            <a:cxnSpLocks/>
            <a:stCxn id="78" idx="1"/>
            <a:endCxn id="82" idx="1"/>
          </p:cNvCxnSpPr>
          <p:nvPr/>
        </p:nvCxnSpPr>
        <p:spPr bwMode="gray">
          <a:xfrm flipH="1">
            <a:off x="3889641" y="4847476"/>
            <a:ext cx="881652" cy="533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526">
            <a:extLst>
              <a:ext uri="{FF2B5EF4-FFF2-40B4-BE49-F238E27FC236}">
                <a16:creationId xmlns="" xmlns:a16="http://schemas.microsoft.com/office/drawing/2014/main" id="{407E3C12-6C55-4AD4-9D00-DB36C2D8F551}"/>
              </a:ext>
            </a:extLst>
          </p:cNvPr>
          <p:cNvCxnSpPr>
            <a:cxnSpLocks/>
            <a:stCxn id="82" idx="1"/>
            <a:endCxn id="86" idx="1"/>
          </p:cNvCxnSpPr>
          <p:nvPr/>
        </p:nvCxnSpPr>
        <p:spPr bwMode="gray">
          <a:xfrm>
            <a:off x="3889641" y="5380891"/>
            <a:ext cx="867766" cy="53341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2" name="图片 81">
            <a:extLst>
              <a:ext uri="{FF2B5EF4-FFF2-40B4-BE49-F238E27FC236}">
                <a16:creationId xmlns="" xmlns:a16="http://schemas.microsoft.com/office/drawing/2014/main" id="{57FA91D6-358E-42C9-AFB6-A020FD26FC9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89641" y="5229641"/>
            <a:ext cx="358581" cy="302501"/>
          </a:xfrm>
          <a:prstGeom prst="rect">
            <a:avLst/>
          </a:prstGeom>
        </p:spPr>
      </p:pic>
      <p:cxnSp>
        <p:nvCxnSpPr>
          <p:cNvPr id="83" name="Straight Connector 526">
            <a:extLst>
              <a:ext uri="{FF2B5EF4-FFF2-40B4-BE49-F238E27FC236}">
                <a16:creationId xmlns="" xmlns:a16="http://schemas.microsoft.com/office/drawing/2014/main" id="{222A4A14-59C8-4F4C-A8DB-CA1FD9E18E2B}"/>
              </a:ext>
            </a:extLst>
          </p:cNvPr>
          <p:cNvCxnSpPr>
            <a:cxnSpLocks/>
            <a:stCxn id="84" idx="0"/>
            <a:endCxn id="77" idx="2"/>
          </p:cNvCxnSpPr>
          <p:nvPr/>
        </p:nvCxnSpPr>
        <p:spPr bwMode="gray">
          <a:xfrm flipV="1">
            <a:off x="5804463" y="4998726"/>
            <a:ext cx="0" cy="76432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4" name="图片 83">
            <a:extLst>
              <a:ext uri="{FF2B5EF4-FFF2-40B4-BE49-F238E27FC236}">
                <a16:creationId xmlns="" xmlns:a16="http://schemas.microsoft.com/office/drawing/2014/main" id="{39E5459D-57F5-4F15-8088-2E44FB2C9D5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25172" y="5763056"/>
            <a:ext cx="358581" cy="302501"/>
          </a:xfrm>
          <a:prstGeom prst="rect">
            <a:avLst/>
          </a:prstGeom>
        </p:spPr>
      </p:pic>
      <p:cxnSp>
        <p:nvCxnSpPr>
          <p:cNvPr id="85" name="Straight Connector 526">
            <a:extLst>
              <a:ext uri="{FF2B5EF4-FFF2-40B4-BE49-F238E27FC236}">
                <a16:creationId xmlns="" xmlns:a16="http://schemas.microsoft.com/office/drawing/2014/main" id="{B8D2CF3B-3900-48E6-81F5-1764C970852E}"/>
              </a:ext>
            </a:extLst>
          </p:cNvPr>
          <p:cNvCxnSpPr>
            <a:cxnSpLocks/>
            <a:endCxn id="84" idx="1"/>
          </p:cNvCxnSpPr>
          <p:nvPr/>
        </p:nvCxnSpPr>
        <p:spPr bwMode="gray">
          <a:xfrm flipV="1">
            <a:off x="4854172" y="5914306"/>
            <a:ext cx="771001" cy="129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6" name="图片 85">
            <a:extLst>
              <a:ext uri="{FF2B5EF4-FFF2-40B4-BE49-F238E27FC236}">
                <a16:creationId xmlns="" xmlns:a16="http://schemas.microsoft.com/office/drawing/2014/main" id="{C848392F-9620-4E70-9358-40AD1EBA17D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57407" y="5763056"/>
            <a:ext cx="358581" cy="302501"/>
          </a:xfrm>
          <a:prstGeom prst="rect">
            <a:avLst/>
          </a:prstGeom>
        </p:spPr>
      </p:pic>
      <p:cxnSp>
        <p:nvCxnSpPr>
          <p:cNvPr id="87" name="Straight Connector 526">
            <a:extLst>
              <a:ext uri="{FF2B5EF4-FFF2-40B4-BE49-F238E27FC236}">
                <a16:creationId xmlns="" xmlns:a16="http://schemas.microsoft.com/office/drawing/2014/main" id="{100EDC4F-49F0-40F1-BB8B-6784274233B0}"/>
              </a:ext>
            </a:extLst>
          </p:cNvPr>
          <p:cNvCxnSpPr>
            <a:cxnSpLocks/>
            <a:stCxn id="77" idx="1"/>
            <a:endCxn id="78" idx="3"/>
          </p:cNvCxnSpPr>
          <p:nvPr/>
        </p:nvCxnSpPr>
        <p:spPr bwMode="gray">
          <a:xfrm flipH="1">
            <a:off x="5129874" y="4847476"/>
            <a:ext cx="49529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526">
            <a:extLst>
              <a:ext uri="{FF2B5EF4-FFF2-40B4-BE49-F238E27FC236}">
                <a16:creationId xmlns="" xmlns:a16="http://schemas.microsoft.com/office/drawing/2014/main" id="{05A24A06-D035-4265-8A1B-CAFC8EEF83D6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 bwMode="gray">
          <a:xfrm>
            <a:off x="5983753" y="4847476"/>
            <a:ext cx="51381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526">
            <a:extLst>
              <a:ext uri="{FF2B5EF4-FFF2-40B4-BE49-F238E27FC236}">
                <a16:creationId xmlns="" xmlns:a16="http://schemas.microsoft.com/office/drawing/2014/main" id="{0D223A17-35F8-46AE-9F00-AC5578C6274D}"/>
              </a:ext>
            </a:extLst>
          </p:cNvPr>
          <p:cNvCxnSpPr>
            <a:cxnSpLocks/>
            <a:stCxn id="91" idx="1"/>
            <a:endCxn id="84" idx="3"/>
          </p:cNvCxnSpPr>
          <p:nvPr/>
        </p:nvCxnSpPr>
        <p:spPr bwMode="gray">
          <a:xfrm flipH="1">
            <a:off x="5983753" y="5914306"/>
            <a:ext cx="50918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1" name="图片 90">
            <a:extLst>
              <a:ext uri="{FF2B5EF4-FFF2-40B4-BE49-F238E27FC236}">
                <a16:creationId xmlns="" xmlns:a16="http://schemas.microsoft.com/office/drawing/2014/main" id="{5CD97943-623D-4DF3-A0EF-F4A2B3D5ABF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92937" y="5763056"/>
            <a:ext cx="358581" cy="302501"/>
          </a:xfrm>
          <a:prstGeom prst="rect">
            <a:avLst/>
          </a:prstGeom>
        </p:spPr>
      </p:pic>
      <p:cxnSp>
        <p:nvCxnSpPr>
          <p:cNvPr id="92" name="Straight Connector 526">
            <a:extLst>
              <a:ext uri="{FF2B5EF4-FFF2-40B4-BE49-F238E27FC236}">
                <a16:creationId xmlns="" xmlns:a16="http://schemas.microsoft.com/office/drawing/2014/main" id="{790B51A0-92BA-477D-810B-1CFC570A1E89}"/>
              </a:ext>
            </a:extLst>
          </p:cNvPr>
          <p:cNvCxnSpPr>
            <a:cxnSpLocks/>
            <a:stCxn id="94" idx="3"/>
            <a:endCxn id="79" idx="3"/>
          </p:cNvCxnSpPr>
          <p:nvPr/>
        </p:nvCxnSpPr>
        <p:spPr bwMode="gray">
          <a:xfrm flipH="1" flipV="1">
            <a:off x="6856147" y="4847476"/>
            <a:ext cx="863137" cy="533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526">
            <a:extLst>
              <a:ext uri="{FF2B5EF4-FFF2-40B4-BE49-F238E27FC236}">
                <a16:creationId xmlns="" xmlns:a16="http://schemas.microsoft.com/office/drawing/2014/main" id="{FF509E57-BE0C-44EF-AA93-814A99DD287D}"/>
              </a:ext>
            </a:extLst>
          </p:cNvPr>
          <p:cNvCxnSpPr>
            <a:cxnSpLocks/>
            <a:stCxn id="94" idx="3"/>
            <a:endCxn id="91" idx="3"/>
          </p:cNvCxnSpPr>
          <p:nvPr/>
        </p:nvCxnSpPr>
        <p:spPr bwMode="gray">
          <a:xfrm flipH="1">
            <a:off x="6851518" y="5380891"/>
            <a:ext cx="867766" cy="53341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4" name="图片 93">
            <a:extLst>
              <a:ext uri="{FF2B5EF4-FFF2-40B4-BE49-F238E27FC236}">
                <a16:creationId xmlns="" xmlns:a16="http://schemas.microsoft.com/office/drawing/2014/main" id="{FCA43EB1-D9A3-4949-8ECE-2003F7D79E0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60703" y="5229641"/>
            <a:ext cx="358581" cy="302501"/>
          </a:xfrm>
          <a:prstGeom prst="rect">
            <a:avLst/>
          </a:prstGeom>
        </p:spPr>
      </p:pic>
      <p:sp>
        <p:nvSpPr>
          <p:cNvPr id="72" name="任意多边形: 形状 71">
            <a:extLst>
              <a:ext uri="{FF2B5EF4-FFF2-40B4-BE49-F238E27FC236}">
                <a16:creationId xmlns="" xmlns:a16="http://schemas.microsoft.com/office/drawing/2014/main" id="{75FF1865-2AD1-4AD0-9ECC-710D5A496E93}"/>
              </a:ext>
            </a:extLst>
          </p:cNvPr>
          <p:cNvSpPr/>
          <p:nvPr/>
        </p:nvSpPr>
        <p:spPr bwMode="gray">
          <a:xfrm>
            <a:off x="4087285" y="4759974"/>
            <a:ext cx="3428219" cy="598401"/>
          </a:xfrm>
          <a:custGeom>
            <a:avLst/>
            <a:gdLst>
              <a:gd name="connsiteX0" fmla="*/ 0 w 4425696"/>
              <a:gd name="connsiteY0" fmla="*/ 683754 h 683754"/>
              <a:gd name="connsiteX1" fmla="*/ 987552 w 4425696"/>
              <a:gd name="connsiteY1" fmla="*/ 147306 h 683754"/>
              <a:gd name="connsiteX2" fmla="*/ 2487168 w 4425696"/>
              <a:gd name="connsiteY2" fmla="*/ 1002 h 683754"/>
              <a:gd name="connsiteX3" fmla="*/ 3791712 w 4425696"/>
              <a:gd name="connsiteY3" fmla="*/ 196074 h 683754"/>
              <a:gd name="connsiteX4" fmla="*/ 4425696 w 4425696"/>
              <a:gd name="connsiteY4" fmla="*/ 671562 h 683754"/>
              <a:gd name="connsiteX0" fmla="*/ 0 w 4425696"/>
              <a:gd name="connsiteY0" fmla="*/ 703995 h 703995"/>
              <a:gd name="connsiteX1" fmla="*/ 926592 w 4425696"/>
              <a:gd name="connsiteY1" fmla="*/ 82203 h 703995"/>
              <a:gd name="connsiteX2" fmla="*/ 2487168 w 4425696"/>
              <a:gd name="connsiteY2" fmla="*/ 21243 h 703995"/>
              <a:gd name="connsiteX3" fmla="*/ 3791712 w 4425696"/>
              <a:gd name="connsiteY3" fmla="*/ 216315 h 703995"/>
              <a:gd name="connsiteX4" fmla="*/ 4425696 w 4425696"/>
              <a:gd name="connsiteY4" fmla="*/ 691803 h 703995"/>
              <a:gd name="connsiteX0" fmla="*/ 0 w 4425696"/>
              <a:gd name="connsiteY0" fmla="*/ 773914 h 773914"/>
              <a:gd name="connsiteX1" fmla="*/ 926592 w 4425696"/>
              <a:gd name="connsiteY1" fmla="*/ 152122 h 773914"/>
              <a:gd name="connsiteX2" fmla="*/ 2548128 w 4425696"/>
              <a:gd name="connsiteY2" fmla="*/ 5818 h 773914"/>
              <a:gd name="connsiteX3" fmla="*/ 3791712 w 4425696"/>
              <a:gd name="connsiteY3" fmla="*/ 286234 h 773914"/>
              <a:gd name="connsiteX4" fmla="*/ 4425696 w 4425696"/>
              <a:gd name="connsiteY4" fmla="*/ 761722 h 773914"/>
              <a:gd name="connsiteX0" fmla="*/ 0 w 4425696"/>
              <a:gd name="connsiteY0" fmla="*/ 770390 h 770390"/>
              <a:gd name="connsiteX1" fmla="*/ 987552 w 4425696"/>
              <a:gd name="connsiteY1" fmla="*/ 185174 h 770390"/>
              <a:gd name="connsiteX2" fmla="*/ 2548128 w 4425696"/>
              <a:gd name="connsiteY2" fmla="*/ 2294 h 770390"/>
              <a:gd name="connsiteX3" fmla="*/ 3791712 w 4425696"/>
              <a:gd name="connsiteY3" fmla="*/ 282710 h 770390"/>
              <a:gd name="connsiteX4" fmla="*/ 4425696 w 4425696"/>
              <a:gd name="connsiteY4" fmla="*/ 758198 h 770390"/>
              <a:gd name="connsiteX0" fmla="*/ 0 w 4425696"/>
              <a:gd name="connsiteY0" fmla="*/ 773914 h 773914"/>
              <a:gd name="connsiteX1" fmla="*/ 987552 w 4425696"/>
              <a:gd name="connsiteY1" fmla="*/ 152122 h 773914"/>
              <a:gd name="connsiteX2" fmla="*/ 2548128 w 4425696"/>
              <a:gd name="connsiteY2" fmla="*/ 5818 h 773914"/>
              <a:gd name="connsiteX3" fmla="*/ 3791712 w 4425696"/>
              <a:gd name="connsiteY3" fmla="*/ 286234 h 773914"/>
              <a:gd name="connsiteX4" fmla="*/ 4425696 w 4425696"/>
              <a:gd name="connsiteY4" fmla="*/ 761722 h 773914"/>
              <a:gd name="connsiteX0" fmla="*/ 0 w 4425696"/>
              <a:gd name="connsiteY0" fmla="*/ 772512 h 772512"/>
              <a:gd name="connsiteX1" fmla="*/ 987552 w 4425696"/>
              <a:gd name="connsiteY1" fmla="*/ 150720 h 772512"/>
              <a:gd name="connsiteX2" fmla="*/ 2548128 w 4425696"/>
              <a:gd name="connsiteY2" fmla="*/ 4416 h 772512"/>
              <a:gd name="connsiteX3" fmla="*/ 3779520 w 4425696"/>
              <a:gd name="connsiteY3" fmla="*/ 260448 h 772512"/>
              <a:gd name="connsiteX4" fmla="*/ 4425696 w 4425696"/>
              <a:gd name="connsiteY4" fmla="*/ 760320 h 77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5696" h="772512">
                <a:moveTo>
                  <a:pt x="0" y="772512"/>
                </a:moveTo>
                <a:cubicBezTo>
                  <a:pt x="286512" y="561184"/>
                  <a:pt x="562864" y="278736"/>
                  <a:pt x="987552" y="150720"/>
                </a:cubicBezTo>
                <a:cubicBezTo>
                  <a:pt x="1412240" y="22704"/>
                  <a:pt x="2082800" y="-13872"/>
                  <a:pt x="2548128" y="4416"/>
                </a:cubicBezTo>
                <a:cubicBezTo>
                  <a:pt x="3013456" y="22704"/>
                  <a:pt x="3466592" y="134464"/>
                  <a:pt x="3779520" y="260448"/>
                </a:cubicBezTo>
                <a:cubicBezTo>
                  <a:pt x="4092448" y="386432"/>
                  <a:pt x="4270248" y="578456"/>
                  <a:pt x="4425696" y="76032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="" xmlns:a16="http://schemas.microsoft.com/office/drawing/2014/main" id="{0E70F250-C674-47F5-BEF3-A55301611E9E}"/>
              </a:ext>
            </a:extLst>
          </p:cNvPr>
          <p:cNvSpPr/>
          <p:nvPr/>
        </p:nvSpPr>
        <p:spPr bwMode="gray">
          <a:xfrm>
            <a:off x="4143950" y="5443373"/>
            <a:ext cx="1596058" cy="507287"/>
          </a:xfrm>
          <a:custGeom>
            <a:avLst/>
            <a:gdLst>
              <a:gd name="connsiteX0" fmla="*/ 0 w 2060448"/>
              <a:gd name="connsiteY0" fmla="*/ 0 h 654888"/>
              <a:gd name="connsiteX1" fmla="*/ 999744 w 2060448"/>
              <a:gd name="connsiteY1" fmla="*/ 597408 h 654888"/>
              <a:gd name="connsiteX2" fmla="*/ 2060448 w 2060448"/>
              <a:gd name="connsiteY2" fmla="*/ 633984 h 65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0448" h="654888">
                <a:moveTo>
                  <a:pt x="0" y="0"/>
                </a:moveTo>
                <a:cubicBezTo>
                  <a:pt x="328168" y="245872"/>
                  <a:pt x="656336" y="491744"/>
                  <a:pt x="999744" y="597408"/>
                </a:cubicBezTo>
                <a:cubicBezTo>
                  <a:pt x="1343152" y="703072"/>
                  <a:pt x="1889760" y="629920"/>
                  <a:pt x="2060448" y="633984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="" xmlns:a16="http://schemas.microsoft.com/office/drawing/2014/main" id="{C22FB50D-DB47-4ECB-AC1F-E469AF08D1B1}"/>
              </a:ext>
            </a:extLst>
          </p:cNvPr>
          <p:cNvSpPr/>
          <p:nvPr/>
        </p:nvSpPr>
        <p:spPr bwMode="gray">
          <a:xfrm>
            <a:off x="5756975" y="4923947"/>
            <a:ext cx="795228" cy="986691"/>
          </a:xfrm>
          <a:custGeom>
            <a:avLst/>
            <a:gdLst>
              <a:gd name="connsiteX0" fmla="*/ 105940 w 1008148"/>
              <a:gd name="connsiteY0" fmla="*/ 0 h 1245535"/>
              <a:gd name="connsiteX1" fmla="*/ 81556 w 1008148"/>
              <a:gd name="connsiteY1" fmla="*/ 1085088 h 1245535"/>
              <a:gd name="connsiteX2" fmla="*/ 1008148 w 1008148"/>
              <a:gd name="connsiteY2" fmla="*/ 1219200 h 1245535"/>
              <a:gd name="connsiteX0" fmla="*/ 70907 w 973115"/>
              <a:gd name="connsiteY0" fmla="*/ 0 h 1245535"/>
              <a:gd name="connsiteX1" fmla="*/ 107483 w 973115"/>
              <a:gd name="connsiteY1" fmla="*/ 1085088 h 1245535"/>
              <a:gd name="connsiteX2" fmla="*/ 973115 w 973115"/>
              <a:gd name="connsiteY2" fmla="*/ 1219200 h 1245535"/>
              <a:gd name="connsiteX0" fmla="*/ 98112 w 1000320"/>
              <a:gd name="connsiteY0" fmla="*/ 0 h 1278694"/>
              <a:gd name="connsiteX1" fmla="*/ 85920 w 1000320"/>
              <a:gd name="connsiteY1" fmla="*/ 1158240 h 1278694"/>
              <a:gd name="connsiteX2" fmla="*/ 1000320 w 1000320"/>
              <a:gd name="connsiteY2" fmla="*/ 1219200 h 1278694"/>
              <a:gd name="connsiteX0" fmla="*/ 82712 w 984920"/>
              <a:gd name="connsiteY0" fmla="*/ 0 h 1319621"/>
              <a:gd name="connsiteX1" fmla="*/ 70520 w 984920"/>
              <a:gd name="connsiteY1" fmla="*/ 1158240 h 1319621"/>
              <a:gd name="connsiteX2" fmla="*/ 984920 w 984920"/>
              <a:gd name="connsiteY2" fmla="*/ 1219200 h 1319621"/>
              <a:gd name="connsiteX0" fmla="*/ 124400 w 1026608"/>
              <a:gd name="connsiteY0" fmla="*/ 0 h 1273780"/>
              <a:gd name="connsiteX1" fmla="*/ 112208 w 1026608"/>
              <a:gd name="connsiteY1" fmla="*/ 1158240 h 1273780"/>
              <a:gd name="connsiteX2" fmla="*/ 1026608 w 1026608"/>
              <a:gd name="connsiteY2" fmla="*/ 1219200 h 1273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608" h="1273780">
                <a:moveTo>
                  <a:pt x="124400" y="0"/>
                </a:moveTo>
                <a:cubicBezTo>
                  <a:pt x="37024" y="440944"/>
                  <a:pt x="-99120" y="967232"/>
                  <a:pt x="112208" y="1158240"/>
                </a:cubicBezTo>
                <a:cubicBezTo>
                  <a:pt x="323536" y="1349248"/>
                  <a:pt x="638496" y="1253744"/>
                  <a:pt x="1026608" y="121920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2" name="Straight Connector 526">
            <a:extLst>
              <a:ext uri="{FF2B5EF4-FFF2-40B4-BE49-F238E27FC236}">
                <a16:creationId xmlns="" xmlns:a16="http://schemas.microsoft.com/office/drawing/2014/main" id="{97C06E32-AFD2-443A-B82D-93B86F524D42}"/>
              </a:ext>
            </a:extLst>
          </p:cNvPr>
          <p:cNvCxnSpPr>
            <a:cxnSpLocks/>
            <a:stCxn id="78" idx="2"/>
            <a:endCxn id="86" idx="0"/>
          </p:cNvCxnSpPr>
          <p:nvPr/>
        </p:nvCxnSpPr>
        <p:spPr bwMode="gray">
          <a:xfrm flipH="1">
            <a:off x="4936698" y="4998726"/>
            <a:ext cx="13886" cy="7643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526">
            <a:extLst>
              <a:ext uri="{FF2B5EF4-FFF2-40B4-BE49-F238E27FC236}">
                <a16:creationId xmlns="" xmlns:a16="http://schemas.microsoft.com/office/drawing/2014/main" id="{9E3FAC16-7E17-4329-A984-B2E573267EFE}"/>
              </a:ext>
            </a:extLst>
          </p:cNvPr>
          <p:cNvCxnSpPr>
            <a:cxnSpLocks/>
            <a:stCxn id="79" idx="2"/>
            <a:endCxn id="91" idx="0"/>
          </p:cNvCxnSpPr>
          <p:nvPr/>
        </p:nvCxnSpPr>
        <p:spPr bwMode="gray">
          <a:xfrm flipH="1">
            <a:off x="6672228" y="4998726"/>
            <a:ext cx="4629" cy="7643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8" name="圆角矩形 75">
            <a:extLst>
              <a:ext uri="{FF2B5EF4-FFF2-40B4-BE49-F238E27FC236}">
                <a16:creationId xmlns="" xmlns:a16="http://schemas.microsoft.com/office/drawing/2014/main" id="{E3AF3C39-ADED-4300-B82D-2AB2D2B6A94B}"/>
              </a:ext>
            </a:extLst>
          </p:cNvPr>
          <p:cNvSpPr/>
          <p:nvPr/>
        </p:nvSpPr>
        <p:spPr bwMode="gray">
          <a:xfrm>
            <a:off x="804160" y="2720494"/>
            <a:ext cx="2876580" cy="1850467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圆角矩形 75">
            <a:extLst>
              <a:ext uri="{FF2B5EF4-FFF2-40B4-BE49-F238E27FC236}">
                <a16:creationId xmlns="" xmlns:a16="http://schemas.microsoft.com/office/drawing/2014/main" id="{02EA40CC-E06F-4A80-A706-E7C4E233681A}"/>
              </a:ext>
            </a:extLst>
          </p:cNvPr>
          <p:cNvSpPr/>
          <p:nvPr/>
        </p:nvSpPr>
        <p:spPr bwMode="gray">
          <a:xfrm>
            <a:off x="3956697" y="2378146"/>
            <a:ext cx="3930668" cy="302704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、网络流量调优计算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="" xmlns:a16="http://schemas.microsoft.com/office/drawing/2014/main" id="{074EA41C-46A3-4F52-AF09-0DB6F0D084F9}"/>
              </a:ext>
            </a:extLst>
          </p:cNvPr>
          <p:cNvSpPr txBox="1"/>
          <p:nvPr/>
        </p:nvSpPr>
        <p:spPr bwMode="gray">
          <a:xfrm flipH="1">
            <a:off x="4012846" y="2775837"/>
            <a:ext cx="3809113" cy="1594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控制器根据调优目标计算路径。调优目标例如：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ym typeface="Huawei Sans" panose="020C0503030203020204" pitchFamily="34" charset="0"/>
              </a:rPr>
              <a:t>路径</a:t>
            </a:r>
            <a:r>
              <a:rPr lang="en-US" altLang="zh-CN" sz="1400" dirty="0">
                <a:sym typeface="Huawei Sans" panose="020C0503030203020204" pitchFamily="34" charset="0"/>
              </a:rPr>
              <a:t>COST</a:t>
            </a:r>
            <a:r>
              <a:rPr lang="zh-CN" altLang="en-US" sz="1400" dirty="0">
                <a:sym typeface="Huawei Sans" panose="020C0503030203020204" pitchFamily="34" charset="0"/>
              </a:rPr>
              <a:t>最优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ym typeface="Huawei Sans" panose="020C0503030203020204" pitchFamily="34" charset="0"/>
              </a:rPr>
              <a:t>路径时延最小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ym typeface="Huawei Sans" panose="020C0503030203020204" pitchFamily="34" charset="0"/>
              </a:rPr>
              <a:t>链路带宽利用率最大化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ym typeface="Huawei Sans" panose="020C0503030203020204" pitchFamily="34" charset="0"/>
              </a:rPr>
              <a:t>……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11" name="圆角矩形 75">
            <a:extLst>
              <a:ext uri="{FF2B5EF4-FFF2-40B4-BE49-F238E27FC236}">
                <a16:creationId xmlns="" xmlns:a16="http://schemas.microsoft.com/office/drawing/2014/main" id="{FC5E4370-2C1E-4746-A3BB-B05DCDFBA953}"/>
              </a:ext>
            </a:extLst>
          </p:cNvPr>
          <p:cNvSpPr/>
          <p:nvPr/>
        </p:nvSpPr>
        <p:spPr bwMode="gray">
          <a:xfrm>
            <a:off x="3948250" y="2743329"/>
            <a:ext cx="3939115" cy="1827631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圆角矩形 75">
            <a:extLst>
              <a:ext uri="{FF2B5EF4-FFF2-40B4-BE49-F238E27FC236}">
                <a16:creationId xmlns="" xmlns:a16="http://schemas.microsoft.com/office/drawing/2014/main" id="{47F422E2-2D75-472E-843F-C4D85C868EE3}"/>
              </a:ext>
            </a:extLst>
          </p:cNvPr>
          <p:cNvSpPr/>
          <p:nvPr/>
        </p:nvSpPr>
        <p:spPr bwMode="gray">
          <a:xfrm>
            <a:off x="8146270" y="2342609"/>
            <a:ext cx="2906942" cy="321142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、调优结果下发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="" xmlns:a16="http://schemas.microsoft.com/office/drawing/2014/main" id="{D3A0107D-E966-4230-8A13-6B3979C81940}"/>
              </a:ext>
            </a:extLst>
          </p:cNvPr>
          <p:cNvSpPr txBox="1"/>
          <p:nvPr/>
        </p:nvSpPr>
        <p:spPr bwMode="gray">
          <a:xfrm flipH="1">
            <a:off x="8276757" y="2793573"/>
            <a:ext cx="2658455" cy="1594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400">
                <a:sym typeface="Huawei Sans" panose="020C0503030203020204" pitchFamily="34" charset="0"/>
              </a:rPr>
              <a:t>控制器将计算结果下发到网络设备，有多种实现方式：</a:t>
            </a:r>
            <a:endParaRPr lang="en-US" altLang="zh-CN" sz="1400"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>
                <a:sym typeface="Huawei Sans" panose="020C0503030203020204" pitchFamily="34" charset="0"/>
              </a:rPr>
              <a:t>NETCONF</a:t>
            </a:r>
          </a:p>
          <a:p>
            <a:pPr>
              <a:lnSpc>
                <a:spcPct val="120000"/>
              </a:lnSpc>
            </a:pPr>
            <a:r>
              <a:rPr lang="en-US" altLang="zh-CN" sz="1400">
                <a:sym typeface="Huawei Sans" panose="020C0503030203020204" pitchFamily="34" charset="0"/>
              </a:rPr>
              <a:t>PCEP</a:t>
            </a:r>
          </a:p>
          <a:p>
            <a:pPr>
              <a:lnSpc>
                <a:spcPct val="120000"/>
              </a:lnSpc>
            </a:pPr>
            <a:r>
              <a:rPr lang="en-US" altLang="zh-CN" sz="1400">
                <a:sym typeface="Huawei Sans" panose="020C0503030203020204" pitchFamily="34" charset="0"/>
              </a:rPr>
              <a:t>BGP SR Policy</a:t>
            </a:r>
            <a:r>
              <a:rPr lang="zh-CN" altLang="en-US" sz="1400">
                <a:sym typeface="Huawei Sans" panose="020C0503030203020204" pitchFamily="34" charset="0"/>
              </a:rPr>
              <a:t>等</a:t>
            </a:r>
            <a:endParaRPr lang="en-US" altLang="zh-CN" sz="1400">
              <a:sym typeface="Huawei Sans" panose="020C0503030203020204" pitchFamily="34" charset="0"/>
            </a:endParaRPr>
          </a:p>
        </p:txBody>
      </p:sp>
      <p:sp>
        <p:nvSpPr>
          <p:cNvPr id="114" name="圆角矩形 75">
            <a:extLst>
              <a:ext uri="{FF2B5EF4-FFF2-40B4-BE49-F238E27FC236}">
                <a16:creationId xmlns="" xmlns:a16="http://schemas.microsoft.com/office/drawing/2014/main" id="{3B1045B8-9B2E-4A6B-ACCB-673FB3161255}"/>
              </a:ext>
            </a:extLst>
          </p:cNvPr>
          <p:cNvSpPr/>
          <p:nvPr/>
        </p:nvSpPr>
        <p:spPr bwMode="gray">
          <a:xfrm>
            <a:off x="8139264" y="2720494"/>
            <a:ext cx="2906942" cy="1850467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任意多边形: 形状 114">
            <a:extLst>
              <a:ext uri="{FF2B5EF4-FFF2-40B4-BE49-F238E27FC236}">
                <a16:creationId xmlns="" xmlns:a16="http://schemas.microsoft.com/office/drawing/2014/main" id="{52EE071D-8E9C-44A0-A283-E5D22F99A94F}"/>
              </a:ext>
            </a:extLst>
          </p:cNvPr>
          <p:cNvSpPr/>
          <p:nvPr/>
        </p:nvSpPr>
        <p:spPr bwMode="gray">
          <a:xfrm>
            <a:off x="2145903" y="4745547"/>
            <a:ext cx="1549400" cy="612828"/>
          </a:xfrm>
          <a:custGeom>
            <a:avLst/>
            <a:gdLst>
              <a:gd name="connsiteX0" fmla="*/ 1549400 w 1549400"/>
              <a:gd name="connsiteY0" fmla="*/ 584200 h 612828"/>
              <a:gd name="connsiteX1" fmla="*/ 330200 w 1549400"/>
              <a:gd name="connsiteY1" fmla="*/ 546100 h 612828"/>
              <a:gd name="connsiteX2" fmla="*/ 0 w 1549400"/>
              <a:gd name="connsiteY2" fmla="*/ 0 h 612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9400" h="612828">
                <a:moveTo>
                  <a:pt x="1549400" y="584200"/>
                </a:moveTo>
                <a:cubicBezTo>
                  <a:pt x="1068916" y="613833"/>
                  <a:pt x="588433" y="643467"/>
                  <a:pt x="330200" y="546100"/>
                </a:cubicBezTo>
                <a:cubicBezTo>
                  <a:pt x="71967" y="448733"/>
                  <a:pt x="50800" y="165100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任意多边形: 形状 115">
            <a:extLst>
              <a:ext uri="{FF2B5EF4-FFF2-40B4-BE49-F238E27FC236}">
                <a16:creationId xmlns="" xmlns:a16="http://schemas.microsoft.com/office/drawing/2014/main" id="{9826AB36-C98A-4312-AAEF-69D2DAF20968}"/>
              </a:ext>
            </a:extLst>
          </p:cNvPr>
          <p:cNvSpPr/>
          <p:nvPr/>
        </p:nvSpPr>
        <p:spPr bwMode="gray">
          <a:xfrm>
            <a:off x="8101164" y="4716604"/>
            <a:ext cx="1322815" cy="664288"/>
          </a:xfrm>
          <a:custGeom>
            <a:avLst/>
            <a:gdLst>
              <a:gd name="connsiteX0" fmla="*/ 1257300 w 1322815"/>
              <a:gd name="connsiteY0" fmla="*/ 0 h 774700"/>
              <a:gd name="connsiteX1" fmla="*/ 1181100 w 1322815"/>
              <a:gd name="connsiteY1" fmla="*/ 622300 h 774700"/>
              <a:gd name="connsiteX2" fmla="*/ 0 w 1322815"/>
              <a:gd name="connsiteY2" fmla="*/ 77470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2815" h="774700">
                <a:moveTo>
                  <a:pt x="1257300" y="0"/>
                </a:moveTo>
                <a:cubicBezTo>
                  <a:pt x="1323975" y="246591"/>
                  <a:pt x="1390650" y="493183"/>
                  <a:pt x="1181100" y="622300"/>
                </a:cubicBezTo>
                <a:cubicBezTo>
                  <a:pt x="971550" y="751417"/>
                  <a:pt x="485775" y="763058"/>
                  <a:pt x="0" y="77470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2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584592B-6F3B-4E94-A821-68C7DFF9E9F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网络信息采集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A8FB20F-6B54-410A-9EDB-BF8A3B737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>
                <a:sym typeface="Huawei Sans" panose="020C0503030203020204" pitchFamily="34" charset="0"/>
              </a:rPr>
              <a:t>网络信息采集是网络调优的前提，包括网络拓扑与接口带宽采集、链路时延采集和流量统计采集等。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="" xmlns:a16="http://schemas.microsoft.com/office/drawing/2014/main" id="{AB7F3887-175C-4498-A0D6-9A39BE02CC4D}"/>
              </a:ext>
            </a:extLst>
          </p:cNvPr>
          <p:cNvGrpSpPr/>
          <p:nvPr/>
        </p:nvGrpSpPr>
        <p:grpSpPr bwMode="gray">
          <a:xfrm>
            <a:off x="987353" y="4063432"/>
            <a:ext cx="4146213" cy="1358304"/>
            <a:chOff x="3927741" y="4875064"/>
            <a:chExt cx="3753443" cy="1229632"/>
          </a:xfrm>
        </p:grpSpPr>
        <p:pic>
          <p:nvPicPr>
            <p:cNvPr id="4" name="图片 3">
              <a:extLst>
                <a:ext uri="{FF2B5EF4-FFF2-40B4-BE49-F238E27FC236}">
                  <a16:creationId xmlns="" xmlns:a16="http://schemas.microsoft.com/office/drawing/2014/main" id="{72468D9F-C7C6-4CE1-AF8E-AEC1DF44B5FF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625172" y="4875064"/>
              <a:ext cx="358581" cy="30250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="" xmlns:a16="http://schemas.microsoft.com/office/drawing/2014/main" id="{3360ED9A-0E65-48E6-9D37-F13E01ED9181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771293" y="4875064"/>
              <a:ext cx="358581" cy="302501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="" xmlns:a16="http://schemas.microsoft.com/office/drawing/2014/main" id="{D698B71F-5DEF-431B-8AFE-B3D04B0763F5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6497566" y="4875064"/>
              <a:ext cx="358581" cy="302501"/>
            </a:xfrm>
            <a:prstGeom prst="rect">
              <a:avLst/>
            </a:prstGeom>
          </p:spPr>
        </p:pic>
        <p:cxnSp>
          <p:nvCxnSpPr>
            <p:cNvPr id="7" name="Straight Connector 526">
              <a:extLst>
                <a:ext uri="{FF2B5EF4-FFF2-40B4-BE49-F238E27FC236}">
                  <a16:creationId xmlns="" xmlns:a16="http://schemas.microsoft.com/office/drawing/2014/main" id="{47E0F2A2-916B-420A-B216-199E657137C2}"/>
                </a:ext>
              </a:extLst>
            </p:cNvPr>
            <p:cNvCxnSpPr>
              <a:cxnSpLocks/>
              <a:stCxn id="5" idx="1"/>
              <a:endCxn id="9" idx="1"/>
            </p:cNvCxnSpPr>
            <p:nvPr/>
          </p:nvCxnSpPr>
          <p:spPr bwMode="gray">
            <a:xfrm flipH="1">
              <a:off x="3927741" y="5026315"/>
              <a:ext cx="843552" cy="4572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526">
              <a:extLst>
                <a:ext uri="{FF2B5EF4-FFF2-40B4-BE49-F238E27FC236}">
                  <a16:creationId xmlns="" xmlns:a16="http://schemas.microsoft.com/office/drawing/2014/main" id="{50211C27-B260-41A5-82DE-4F7460DD6407}"/>
                </a:ext>
              </a:extLst>
            </p:cNvPr>
            <p:cNvCxnSpPr>
              <a:cxnSpLocks/>
              <a:stCxn id="9" idx="1"/>
              <a:endCxn id="13" idx="1"/>
            </p:cNvCxnSpPr>
            <p:nvPr/>
          </p:nvCxnSpPr>
          <p:spPr bwMode="gray">
            <a:xfrm>
              <a:off x="3927741" y="5483531"/>
              <a:ext cx="829666" cy="4699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F3997274-B156-450B-B918-42240429FA0A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741" y="5332280"/>
              <a:ext cx="358581" cy="302501"/>
            </a:xfrm>
            <a:prstGeom prst="rect">
              <a:avLst/>
            </a:prstGeom>
          </p:spPr>
        </p:pic>
        <p:cxnSp>
          <p:nvCxnSpPr>
            <p:cNvPr id="10" name="Straight Connector 526">
              <a:extLst>
                <a:ext uri="{FF2B5EF4-FFF2-40B4-BE49-F238E27FC236}">
                  <a16:creationId xmlns="" xmlns:a16="http://schemas.microsoft.com/office/drawing/2014/main" id="{B94D19FF-8F4C-4E04-885D-F161739D884E}"/>
                </a:ext>
              </a:extLst>
            </p:cNvPr>
            <p:cNvCxnSpPr>
              <a:cxnSpLocks/>
              <a:stCxn id="11" idx="0"/>
              <a:endCxn id="4" idx="2"/>
            </p:cNvCxnSpPr>
            <p:nvPr/>
          </p:nvCxnSpPr>
          <p:spPr bwMode="gray">
            <a:xfrm flipV="1">
              <a:off x="5804463" y="5177565"/>
              <a:ext cx="0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1" name="图片 10">
              <a:extLst>
                <a:ext uri="{FF2B5EF4-FFF2-40B4-BE49-F238E27FC236}">
                  <a16:creationId xmlns="" xmlns:a16="http://schemas.microsoft.com/office/drawing/2014/main" id="{62A76293-3318-42DE-B930-89B4F5CD050D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625172" y="5802195"/>
              <a:ext cx="358581" cy="302501"/>
            </a:xfrm>
            <a:prstGeom prst="rect">
              <a:avLst/>
            </a:prstGeom>
          </p:spPr>
        </p:pic>
        <p:cxnSp>
          <p:nvCxnSpPr>
            <p:cNvPr id="12" name="Straight Connector 526">
              <a:extLst>
                <a:ext uri="{FF2B5EF4-FFF2-40B4-BE49-F238E27FC236}">
                  <a16:creationId xmlns="" xmlns:a16="http://schemas.microsoft.com/office/drawing/2014/main" id="{34DB0F85-78FB-441B-B4FB-DDB2CF9D5B1C}"/>
                </a:ext>
              </a:extLst>
            </p:cNvPr>
            <p:cNvCxnSpPr>
              <a:cxnSpLocks/>
              <a:endCxn id="11" idx="1"/>
            </p:cNvCxnSpPr>
            <p:nvPr/>
          </p:nvCxnSpPr>
          <p:spPr bwMode="gray">
            <a:xfrm flipV="1">
              <a:off x="4854172" y="5953445"/>
              <a:ext cx="771001" cy="12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3" name="图片 12">
              <a:extLst>
                <a:ext uri="{FF2B5EF4-FFF2-40B4-BE49-F238E27FC236}">
                  <a16:creationId xmlns="" xmlns:a16="http://schemas.microsoft.com/office/drawing/2014/main" id="{FCE0679B-74A2-4C2A-90D1-A4C452CDFEE0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757407" y="5802195"/>
              <a:ext cx="358581" cy="302501"/>
            </a:xfrm>
            <a:prstGeom prst="rect">
              <a:avLst/>
            </a:prstGeom>
          </p:spPr>
        </p:pic>
        <p:cxnSp>
          <p:nvCxnSpPr>
            <p:cNvPr id="14" name="Straight Connector 526">
              <a:extLst>
                <a:ext uri="{FF2B5EF4-FFF2-40B4-BE49-F238E27FC236}">
                  <a16:creationId xmlns="" xmlns:a16="http://schemas.microsoft.com/office/drawing/2014/main" id="{2AA83E1B-D662-47A0-A08F-210B9538510A}"/>
                </a:ext>
              </a:extLst>
            </p:cNvPr>
            <p:cNvCxnSpPr>
              <a:cxnSpLocks/>
              <a:stCxn id="4" idx="1"/>
              <a:endCxn id="5" idx="3"/>
            </p:cNvCxnSpPr>
            <p:nvPr/>
          </p:nvCxnSpPr>
          <p:spPr bwMode="gray">
            <a:xfrm flipH="1">
              <a:off x="5129874" y="5026315"/>
              <a:ext cx="49529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526">
              <a:extLst>
                <a:ext uri="{FF2B5EF4-FFF2-40B4-BE49-F238E27FC236}">
                  <a16:creationId xmlns="" xmlns:a16="http://schemas.microsoft.com/office/drawing/2014/main" id="{BE1C6A10-9D68-4376-AED0-2C2F0FE66221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 bwMode="gray">
            <a:xfrm>
              <a:off x="5983753" y="5026315"/>
              <a:ext cx="51381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526">
              <a:extLst>
                <a:ext uri="{FF2B5EF4-FFF2-40B4-BE49-F238E27FC236}">
                  <a16:creationId xmlns="" xmlns:a16="http://schemas.microsoft.com/office/drawing/2014/main" id="{7F7FE255-D015-435E-A2E3-715B717A3C25}"/>
                </a:ext>
              </a:extLst>
            </p:cNvPr>
            <p:cNvCxnSpPr>
              <a:cxnSpLocks/>
              <a:stCxn id="17" idx="1"/>
              <a:endCxn id="11" idx="3"/>
            </p:cNvCxnSpPr>
            <p:nvPr/>
          </p:nvCxnSpPr>
          <p:spPr bwMode="gray">
            <a:xfrm flipH="1">
              <a:off x="5983753" y="5953445"/>
              <a:ext cx="50918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7" name="图片 16">
              <a:extLst>
                <a:ext uri="{FF2B5EF4-FFF2-40B4-BE49-F238E27FC236}">
                  <a16:creationId xmlns="" xmlns:a16="http://schemas.microsoft.com/office/drawing/2014/main" id="{BCFDDDFB-8E19-407F-A157-EBF2CD1F67B5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6492937" y="5802195"/>
              <a:ext cx="358581" cy="302501"/>
            </a:xfrm>
            <a:prstGeom prst="rect">
              <a:avLst/>
            </a:prstGeom>
          </p:spPr>
        </p:pic>
        <p:cxnSp>
          <p:nvCxnSpPr>
            <p:cNvPr id="18" name="Straight Connector 526">
              <a:extLst>
                <a:ext uri="{FF2B5EF4-FFF2-40B4-BE49-F238E27FC236}">
                  <a16:creationId xmlns="" xmlns:a16="http://schemas.microsoft.com/office/drawing/2014/main" id="{FAEFCA67-88C1-46ED-9A43-0E1BEA6F7E1A}"/>
                </a:ext>
              </a:extLst>
            </p:cNvPr>
            <p:cNvCxnSpPr>
              <a:cxnSpLocks/>
              <a:stCxn id="20" idx="3"/>
              <a:endCxn id="6" idx="3"/>
            </p:cNvCxnSpPr>
            <p:nvPr/>
          </p:nvCxnSpPr>
          <p:spPr bwMode="gray">
            <a:xfrm flipH="1" flipV="1">
              <a:off x="6856147" y="5026315"/>
              <a:ext cx="825037" cy="4572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526">
              <a:extLst>
                <a:ext uri="{FF2B5EF4-FFF2-40B4-BE49-F238E27FC236}">
                  <a16:creationId xmlns="" xmlns:a16="http://schemas.microsoft.com/office/drawing/2014/main" id="{F6FA6E59-5E64-4C37-B488-E99DABAFD4C3}"/>
                </a:ext>
              </a:extLst>
            </p:cNvPr>
            <p:cNvCxnSpPr>
              <a:cxnSpLocks/>
              <a:stCxn id="20" idx="3"/>
              <a:endCxn id="17" idx="3"/>
            </p:cNvCxnSpPr>
            <p:nvPr/>
          </p:nvCxnSpPr>
          <p:spPr bwMode="gray">
            <a:xfrm flipH="1">
              <a:off x="6851518" y="5483531"/>
              <a:ext cx="829666" cy="4699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0" name="图片 19">
              <a:extLst>
                <a:ext uri="{FF2B5EF4-FFF2-40B4-BE49-F238E27FC236}">
                  <a16:creationId xmlns="" xmlns:a16="http://schemas.microsoft.com/office/drawing/2014/main" id="{E31886C4-6CD0-4373-A4AB-AFAD2D9A3DE7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322603" y="5332280"/>
              <a:ext cx="358581" cy="302501"/>
            </a:xfrm>
            <a:prstGeom prst="rect">
              <a:avLst/>
            </a:prstGeom>
          </p:spPr>
        </p:pic>
        <p:cxnSp>
          <p:nvCxnSpPr>
            <p:cNvPr id="24" name="Straight Connector 526">
              <a:extLst>
                <a:ext uri="{FF2B5EF4-FFF2-40B4-BE49-F238E27FC236}">
                  <a16:creationId xmlns="" xmlns:a16="http://schemas.microsoft.com/office/drawing/2014/main" id="{D0D8C4A1-A1DC-4F8C-A9BD-7EA3877E6091}"/>
                </a:ext>
              </a:extLst>
            </p:cNvPr>
            <p:cNvCxnSpPr>
              <a:cxnSpLocks/>
              <a:stCxn id="5" idx="2"/>
              <a:endCxn id="13" idx="0"/>
            </p:cNvCxnSpPr>
            <p:nvPr/>
          </p:nvCxnSpPr>
          <p:spPr bwMode="gray">
            <a:xfrm flipH="1">
              <a:off x="4936698" y="5177565"/>
              <a:ext cx="13886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526">
              <a:extLst>
                <a:ext uri="{FF2B5EF4-FFF2-40B4-BE49-F238E27FC236}">
                  <a16:creationId xmlns="" xmlns:a16="http://schemas.microsoft.com/office/drawing/2014/main" id="{68CE9247-CAC8-4B62-B4FA-A9E134C8367D}"/>
                </a:ext>
              </a:extLst>
            </p:cNvPr>
            <p:cNvCxnSpPr>
              <a:cxnSpLocks/>
              <a:stCxn id="6" idx="2"/>
              <a:endCxn id="17" idx="0"/>
            </p:cNvCxnSpPr>
            <p:nvPr/>
          </p:nvCxnSpPr>
          <p:spPr bwMode="gray">
            <a:xfrm flipH="1">
              <a:off x="6672228" y="5177565"/>
              <a:ext cx="4629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BDF0F014-0E8E-41C5-A796-30571055C2E2}"/>
              </a:ext>
            </a:extLst>
          </p:cNvPr>
          <p:cNvSpPr txBox="1"/>
          <p:nvPr/>
        </p:nvSpPr>
        <p:spPr bwMode="gray">
          <a:xfrm>
            <a:off x="987353" y="2124269"/>
            <a:ext cx="4146211" cy="338554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采集器、控制器、分析器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="" xmlns:a16="http://schemas.microsoft.com/office/drawing/2014/main" id="{C0232805-DBF5-43AE-A6F2-E9BE3FB250B1}"/>
              </a:ext>
            </a:extLst>
          </p:cNvPr>
          <p:cNvCxnSpPr/>
          <p:nvPr/>
        </p:nvCxnSpPr>
        <p:spPr bwMode="gray">
          <a:xfrm flipV="1">
            <a:off x="2931016" y="3001317"/>
            <a:ext cx="0" cy="736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="" xmlns:a16="http://schemas.microsoft.com/office/drawing/2014/main" id="{DDF5B1F2-A450-4E2B-B58B-8E6D24FDC9FF}"/>
              </a:ext>
            </a:extLst>
          </p:cNvPr>
          <p:cNvCxnSpPr/>
          <p:nvPr/>
        </p:nvCxnSpPr>
        <p:spPr bwMode="gray">
          <a:xfrm flipV="1">
            <a:off x="3378554" y="3001317"/>
            <a:ext cx="0" cy="736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="" xmlns:a16="http://schemas.microsoft.com/office/drawing/2014/main" id="{AA9777C3-18BA-4D73-B40F-CF1CD64E9FAE}"/>
              </a:ext>
            </a:extLst>
          </p:cNvPr>
          <p:cNvCxnSpPr/>
          <p:nvPr/>
        </p:nvCxnSpPr>
        <p:spPr bwMode="gray">
          <a:xfrm flipV="1">
            <a:off x="3826091" y="3001317"/>
            <a:ext cx="0" cy="736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77CB4FAF-9C9D-46B9-87B8-40A832BEF415}"/>
              </a:ext>
            </a:extLst>
          </p:cNvPr>
          <p:cNvSpPr txBox="1"/>
          <p:nvPr/>
        </p:nvSpPr>
        <p:spPr bwMode="gray">
          <a:xfrm>
            <a:off x="1050053" y="2699838"/>
            <a:ext cx="143342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</a:p>
          <a:p>
            <a:pPr>
              <a:lnSpc>
                <a:spcPct val="120000"/>
              </a:lnSpc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…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A6213904-A981-438B-9955-31F34B6218AA}"/>
              </a:ext>
            </a:extLst>
          </p:cNvPr>
          <p:cNvSpPr txBox="1"/>
          <p:nvPr/>
        </p:nvSpPr>
        <p:spPr bwMode="gray">
          <a:xfrm>
            <a:off x="6171248" y="1744473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网络拓扑与接口带宽采集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C73934AD-BDF2-4653-84FE-E1CF1738CAA1}"/>
              </a:ext>
            </a:extLst>
          </p:cNvPr>
          <p:cNvSpPr txBox="1"/>
          <p:nvPr/>
        </p:nvSpPr>
        <p:spPr bwMode="gray">
          <a:xfrm>
            <a:off x="6489718" y="2142343"/>
            <a:ext cx="4756973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业界通常使用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收集基础网络拓扑和设备信息。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拓扑（包括接口带宽）。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隧道信息。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="" xmlns:a16="http://schemas.microsoft.com/office/drawing/2014/main" id="{B2E29D47-F379-42CA-A1B6-D2DEF9C78901}"/>
              </a:ext>
            </a:extLst>
          </p:cNvPr>
          <p:cNvSpPr txBox="1"/>
          <p:nvPr/>
        </p:nvSpPr>
        <p:spPr bwMode="gray">
          <a:xfrm>
            <a:off x="6171248" y="319044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链路时延采集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="" xmlns:a16="http://schemas.microsoft.com/office/drawing/2014/main" id="{59FDF5CD-C408-44D2-BF1C-382EC87B4963}"/>
              </a:ext>
            </a:extLst>
          </p:cNvPr>
          <p:cNvSpPr txBox="1"/>
          <p:nvPr/>
        </p:nvSpPr>
        <p:spPr bwMode="gray">
          <a:xfrm>
            <a:off x="6489718" y="3588316"/>
            <a:ext cx="475697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链路时延通过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进行收集，然后在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中泛洪，最后通过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上报给控制器。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="" xmlns:a16="http://schemas.microsoft.com/office/drawing/2014/main" id="{99232BFB-8372-4434-8CA5-48D637A76373}"/>
              </a:ext>
            </a:extLst>
          </p:cNvPr>
          <p:cNvSpPr txBox="1"/>
          <p:nvPr/>
        </p:nvSpPr>
        <p:spPr bwMode="gray">
          <a:xfrm>
            <a:off x="6171248" y="437116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流量统计采集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="" xmlns:a16="http://schemas.microsoft.com/office/drawing/2014/main" id="{ED65F262-40BD-46FF-9F8D-DE6CB490119C}"/>
              </a:ext>
            </a:extLst>
          </p:cNvPr>
          <p:cNvSpPr txBox="1"/>
          <p:nvPr/>
        </p:nvSpPr>
        <p:spPr bwMode="gray">
          <a:xfrm>
            <a:off x="6489718" y="4769031"/>
            <a:ext cx="4756973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为了计算带宽满足度和进行流量调优，控制器需要实时采集接口和隧道流量。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业界主流的流量统计采集包括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NetStream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108866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786652E-6129-4280-AC26-7AF9C6FE686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网络调优计算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15A4D1A-12A4-4131-B40A-E9E8AD939D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网络调优计算即根据业务需求，应用相应的算法，全局或局部地计算优化路径。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控制器在计算路径时，需要满足相关约束。如果无法满足，控制器则会保留原有路径。部分约束条件如下表：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="" xmlns:a16="http://schemas.microsoft.com/office/drawing/2014/main" id="{FF84BD90-24F6-4316-89A9-2CCBF0834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99814"/>
              </p:ext>
            </p:extLst>
          </p:nvPr>
        </p:nvGraphicFramePr>
        <p:xfrm>
          <a:off x="759516" y="2491979"/>
          <a:ext cx="6413500" cy="2951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12974">
                  <a:extLst>
                    <a:ext uri="{9D8B030D-6E8A-4147-A177-3AD203B41FA5}">
                      <a16:colId xmlns="" xmlns:a16="http://schemas.microsoft.com/office/drawing/2014/main" val="940669524"/>
                    </a:ext>
                  </a:extLst>
                </a:gridCol>
                <a:gridCol w="5000526">
                  <a:extLst>
                    <a:ext uri="{9D8B030D-6E8A-4147-A177-3AD203B41FA5}">
                      <a16:colId xmlns="" xmlns:a16="http://schemas.microsoft.com/office/drawing/2014/main" val="1813286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约束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6078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优先级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指定不同隧道之间的优先顺序，高优先级隧道可以抢占低优先级隧道的带宽资源。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1029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带宽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根据隧道带宽要求约束算路。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828951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跳数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根据跳数约束来算路，例如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SR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隧道受到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Ingress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节点的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MSD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maximal-stack-depth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）能力限制路径长度。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3796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显式路径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支持严格和松散模式，可以指定包含和排除的链路或节点。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0830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时延门限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算路选择路径时延在门限范围内的路径。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1212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亲和属性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include-all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include-any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和</a:t>
                      </a:r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exclude</a:t>
                      </a:r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模式。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340273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F9780B7A-4458-4475-BDA9-5545FC2D7923}"/>
              </a:ext>
            </a:extLst>
          </p:cNvPr>
          <p:cNvSpPr txBox="1"/>
          <p:nvPr/>
        </p:nvSpPr>
        <p:spPr bwMode="gray">
          <a:xfrm>
            <a:off x="8818768" y="3207120"/>
            <a:ext cx="2039732" cy="32316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最小开销路径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E0EC7A53-9155-4D76-97F1-0D9548765A61}"/>
              </a:ext>
            </a:extLst>
          </p:cNvPr>
          <p:cNvSpPr txBox="1"/>
          <p:nvPr/>
        </p:nvSpPr>
        <p:spPr bwMode="gray">
          <a:xfrm>
            <a:off x="8818768" y="3706109"/>
            <a:ext cx="2039732" cy="32316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最小时延路径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9227BCE-A9C4-444F-A560-349587296E4A}"/>
              </a:ext>
            </a:extLst>
          </p:cNvPr>
          <p:cNvSpPr txBox="1"/>
          <p:nvPr/>
        </p:nvSpPr>
        <p:spPr bwMode="gray">
          <a:xfrm>
            <a:off x="8818768" y="4205098"/>
            <a:ext cx="2039732" cy="32316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带宽均衡路径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B6544254-C75D-4115-8052-AF5B639680CC}"/>
              </a:ext>
            </a:extLst>
          </p:cNvPr>
          <p:cNvSpPr txBox="1"/>
          <p:nvPr/>
        </p:nvSpPr>
        <p:spPr bwMode="gray">
          <a:xfrm>
            <a:off x="8818768" y="4704086"/>
            <a:ext cx="2039732" cy="323165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最优可用度路径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="" xmlns:a16="http://schemas.microsoft.com/office/drawing/2014/main" id="{690B48D9-29AC-439D-B569-1D627548B3E7}"/>
              </a:ext>
            </a:extLst>
          </p:cNvPr>
          <p:cNvSpPr/>
          <p:nvPr/>
        </p:nvSpPr>
        <p:spPr bwMode="gray">
          <a:xfrm>
            <a:off x="7543800" y="3942319"/>
            <a:ext cx="762000" cy="377439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4700ADE1-9ED5-405E-B3F3-E7AF92D7BD16}"/>
              </a:ext>
            </a:extLst>
          </p:cNvPr>
          <p:cNvSpPr txBox="1"/>
          <p:nvPr/>
        </p:nvSpPr>
        <p:spPr bwMode="gray">
          <a:xfrm>
            <a:off x="8758912" y="271465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计算结果：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8365E3D8-5A0D-4E46-8BEE-3338121D9D3F}"/>
              </a:ext>
            </a:extLst>
          </p:cNvPr>
          <p:cNvSpPr txBox="1"/>
          <p:nvPr/>
        </p:nvSpPr>
        <p:spPr bwMode="gray">
          <a:xfrm>
            <a:off x="7436668" y="350605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满足约束</a:t>
            </a:r>
          </a:p>
        </p:txBody>
      </p:sp>
    </p:spTree>
    <p:extLst>
      <p:ext uri="{BB962C8B-B14F-4D97-AF65-F5344CB8AC3E}">
        <p14:creationId xmlns:p14="http://schemas.microsoft.com/office/powerpoint/2010/main" val="1350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F56E323-69BE-4612-822B-3DA1EF737D9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调优结果下发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0552C41-7AE7-4B9F-82ED-3660CA0B05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>
                <a:sym typeface="Huawei Sans" panose="020C0503030203020204" pitchFamily="34" charset="0"/>
              </a:rPr>
              <a:t>控制器计算网络路径后，可选择是否将计算结果应用到网络。有多种实现方式：</a:t>
            </a:r>
          </a:p>
          <a:p>
            <a:endParaRPr lang="zh-CN" altLang="en-US" sz="1800">
              <a:sym typeface="Huawei Sans" panose="020C0503030203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1949E4BE-6B31-45A7-B11F-F989BD11C4F6}"/>
              </a:ext>
            </a:extLst>
          </p:cNvPr>
          <p:cNvGrpSpPr/>
          <p:nvPr/>
        </p:nvGrpSpPr>
        <p:grpSpPr bwMode="gray">
          <a:xfrm>
            <a:off x="987353" y="4401145"/>
            <a:ext cx="4146213" cy="1358304"/>
            <a:chOff x="3927741" y="4875064"/>
            <a:chExt cx="3753443" cy="1229632"/>
          </a:xfrm>
        </p:grpSpPr>
        <p:pic>
          <p:nvPicPr>
            <p:cNvPr id="8" name="图片 7">
              <a:extLst>
                <a:ext uri="{FF2B5EF4-FFF2-40B4-BE49-F238E27FC236}">
                  <a16:creationId xmlns="" xmlns:a16="http://schemas.microsoft.com/office/drawing/2014/main" id="{4FEBEA08-1FC4-4297-9E14-C57FFFD2398A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625172" y="4875064"/>
              <a:ext cx="358581" cy="30250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="" xmlns:a16="http://schemas.microsoft.com/office/drawing/2014/main" id="{195E9098-152E-4910-9879-683B53964EC6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771293" y="4875064"/>
              <a:ext cx="358581" cy="302501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="" xmlns:a16="http://schemas.microsoft.com/office/drawing/2014/main" id="{DB0C641C-1E5B-448C-8D51-CCC56FAACFCC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6497566" y="4875064"/>
              <a:ext cx="358581" cy="302501"/>
            </a:xfrm>
            <a:prstGeom prst="rect">
              <a:avLst/>
            </a:prstGeom>
          </p:spPr>
        </p:pic>
        <p:cxnSp>
          <p:nvCxnSpPr>
            <p:cNvPr id="11" name="Straight Connector 526">
              <a:extLst>
                <a:ext uri="{FF2B5EF4-FFF2-40B4-BE49-F238E27FC236}">
                  <a16:creationId xmlns="" xmlns:a16="http://schemas.microsoft.com/office/drawing/2014/main" id="{D267091C-D950-4C37-9280-5980CCFFF3EB}"/>
                </a:ext>
              </a:extLst>
            </p:cNvPr>
            <p:cNvCxnSpPr>
              <a:cxnSpLocks/>
              <a:stCxn id="9" idx="1"/>
              <a:endCxn id="13" idx="1"/>
            </p:cNvCxnSpPr>
            <p:nvPr/>
          </p:nvCxnSpPr>
          <p:spPr bwMode="gray">
            <a:xfrm flipH="1">
              <a:off x="3927741" y="5026315"/>
              <a:ext cx="843552" cy="4572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526">
              <a:extLst>
                <a:ext uri="{FF2B5EF4-FFF2-40B4-BE49-F238E27FC236}">
                  <a16:creationId xmlns="" xmlns:a16="http://schemas.microsoft.com/office/drawing/2014/main" id="{F4668B4D-58E1-466F-8B6D-76F8B8FFA721}"/>
                </a:ext>
              </a:extLst>
            </p:cNvPr>
            <p:cNvCxnSpPr>
              <a:cxnSpLocks/>
              <a:stCxn id="13" idx="1"/>
              <a:endCxn id="17" idx="1"/>
            </p:cNvCxnSpPr>
            <p:nvPr/>
          </p:nvCxnSpPr>
          <p:spPr bwMode="gray">
            <a:xfrm>
              <a:off x="3927741" y="5483531"/>
              <a:ext cx="829666" cy="4699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3" name="图片 12">
              <a:extLst>
                <a:ext uri="{FF2B5EF4-FFF2-40B4-BE49-F238E27FC236}">
                  <a16:creationId xmlns="" xmlns:a16="http://schemas.microsoft.com/office/drawing/2014/main" id="{539116A1-59C7-4C23-8E11-514C1A379CFD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741" y="5332280"/>
              <a:ext cx="358581" cy="302501"/>
            </a:xfrm>
            <a:prstGeom prst="rect">
              <a:avLst/>
            </a:prstGeom>
          </p:spPr>
        </p:pic>
        <p:cxnSp>
          <p:nvCxnSpPr>
            <p:cNvPr id="14" name="Straight Connector 526">
              <a:extLst>
                <a:ext uri="{FF2B5EF4-FFF2-40B4-BE49-F238E27FC236}">
                  <a16:creationId xmlns="" xmlns:a16="http://schemas.microsoft.com/office/drawing/2014/main" id="{FF7A158E-A05E-44AC-B34D-7F4C4A83E6A0}"/>
                </a:ext>
              </a:extLst>
            </p:cNvPr>
            <p:cNvCxnSpPr>
              <a:cxnSpLocks/>
              <a:stCxn id="15" idx="0"/>
              <a:endCxn id="8" idx="2"/>
            </p:cNvCxnSpPr>
            <p:nvPr/>
          </p:nvCxnSpPr>
          <p:spPr bwMode="gray">
            <a:xfrm flipV="1">
              <a:off x="5804463" y="5177565"/>
              <a:ext cx="0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5" name="图片 14">
              <a:extLst>
                <a:ext uri="{FF2B5EF4-FFF2-40B4-BE49-F238E27FC236}">
                  <a16:creationId xmlns="" xmlns:a16="http://schemas.microsoft.com/office/drawing/2014/main" id="{AFDC66FE-0A51-4D68-B3A2-802A5762B147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625172" y="5802195"/>
              <a:ext cx="358581" cy="302501"/>
            </a:xfrm>
            <a:prstGeom prst="rect">
              <a:avLst/>
            </a:prstGeom>
          </p:spPr>
        </p:pic>
        <p:cxnSp>
          <p:nvCxnSpPr>
            <p:cNvPr id="16" name="Straight Connector 526">
              <a:extLst>
                <a:ext uri="{FF2B5EF4-FFF2-40B4-BE49-F238E27FC236}">
                  <a16:creationId xmlns="" xmlns:a16="http://schemas.microsoft.com/office/drawing/2014/main" id="{B67F06EA-186D-47D2-9BB1-55268B775AA7}"/>
                </a:ext>
              </a:extLst>
            </p:cNvPr>
            <p:cNvCxnSpPr>
              <a:cxnSpLocks/>
              <a:endCxn id="15" idx="1"/>
            </p:cNvCxnSpPr>
            <p:nvPr/>
          </p:nvCxnSpPr>
          <p:spPr bwMode="gray">
            <a:xfrm flipV="1">
              <a:off x="4854172" y="5953445"/>
              <a:ext cx="771001" cy="12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17" name="图片 16">
              <a:extLst>
                <a:ext uri="{FF2B5EF4-FFF2-40B4-BE49-F238E27FC236}">
                  <a16:creationId xmlns="" xmlns:a16="http://schemas.microsoft.com/office/drawing/2014/main" id="{43654A90-3F74-468B-A3D3-A484159E19E1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757407" y="5802195"/>
              <a:ext cx="358581" cy="302501"/>
            </a:xfrm>
            <a:prstGeom prst="rect">
              <a:avLst/>
            </a:prstGeom>
          </p:spPr>
        </p:pic>
        <p:cxnSp>
          <p:nvCxnSpPr>
            <p:cNvPr id="18" name="Straight Connector 526">
              <a:extLst>
                <a:ext uri="{FF2B5EF4-FFF2-40B4-BE49-F238E27FC236}">
                  <a16:creationId xmlns="" xmlns:a16="http://schemas.microsoft.com/office/drawing/2014/main" id="{10FAA0A6-F477-49FC-A05A-1F577F307F67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 bwMode="gray">
            <a:xfrm flipH="1">
              <a:off x="5129874" y="5026315"/>
              <a:ext cx="49529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526">
              <a:extLst>
                <a:ext uri="{FF2B5EF4-FFF2-40B4-BE49-F238E27FC236}">
                  <a16:creationId xmlns="" xmlns:a16="http://schemas.microsoft.com/office/drawing/2014/main" id="{C3504D04-5726-4872-8F69-47B2F49F4850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 bwMode="gray">
            <a:xfrm>
              <a:off x="5983753" y="5026315"/>
              <a:ext cx="51381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526">
              <a:extLst>
                <a:ext uri="{FF2B5EF4-FFF2-40B4-BE49-F238E27FC236}">
                  <a16:creationId xmlns="" xmlns:a16="http://schemas.microsoft.com/office/drawing/2014/main" id="{315E9774-D8D4-4563-A796-DD4CBBACC16D}"/>
                </a:ext>
              </a:extLst>
            </p:cNvPr>
            <p:cNvCxnSpPr>
              <a:cxnSpLocks/>
              <a:stCxn id="21" idx="1"/>
              <a:endCxn id="15" idx="3"/>
            </p:cNvCxnSpPr>
            <p:nvPr/>
          </p:nvCxnSpPr>
          <p:spPr bwMode="gray">
            <a:xfrm flipH="1">
              <a:off x="5983753" y="5953445"/>
              <a:ext cx="50918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1" name="图片 20">
              <a:extLst>
                <a:ext uri="{FF2B5EF4-FFF2-40B4-BE49-F238E27FC236}">
                  <a16:creationId xmlns="" xmlns:a16="http://schemas.microsoft.com/office/drawing/2014/main" id="{44FD077A-CAD5-4BE5-8273-9530AC910656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6492937" y="5802195"/>
              <a:ext cx="358581" cy="302501"/>
            </a:xfrm>
            <a:prstGeom prst="rect">
              <a:avLst/>
            </a:prstGeom>
          </p:spPr>
        </p:pic>
        <p:cxnSp>
          <p:nvCxnSpPr>
            <p:cNvPr id="22" name="Straight Connector 526">
              <a:extLst>
                <a:ext uri="{FF2B5EF4-FFF2-40B4-BE49-F238E27FC236}">
                  <a16:creationId xmlns="" xmlns:a16="http://schemas.microsoft.com/office/drawing/2014/main" id="{6222AF71-BE18-4935-BCF2-8769A960B016}"/>
                </a:ext>
              </a:extLst>
            </p:cNvPr>
            <p:cNvCxnSpPr>
              <a:cxnSpLocks/>
              <a:stCxn id="24" idx="3"/>
              <a:endCxn id="10" idx="3"/>
            </p:cNvCxnSpPr>
            <p:nvPr/>
          </p:nvCxnSpPr>
          <p:spPr bwMode="gray">
            <a:xfrm flipH="1" flipV="1">
              <a:off x="6856147" y="5026315"/>
              <a:ext cx="825037" cy="4572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526">
              <a:extLst>
                <a:ext uri="{FF2B5EF4-FFF2-40B4-BE49-F238E27FC236}">
                  <a16:creationId xmlns="" xmlns:a16="http://schemas.microsoft.com/office/drawing/2014/main" id="{8736C8EE-9C5B-49CB-9F65-9D81981B064B}"/>
                </a:ext>
              </a:extLst>
            </p:cNvPr>
            <p:cNvCxnSpPr>
              <a:cxnSpLocks/>
              <a:stCxn id="24" idx="3"/>
              <a:endCxn id="21" idx="3"/>
            </p:cNvCxnSpPr>
            <p:nvPr/>
          </p:nvCxnSpPr>
          <p:spPr bwMode="gray">
            <a:xfrm flipH="1">
              <a:off x="6851518" y="5483531"/>
              <a:ext cx="829666" cy="4699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4" name="图片 23">
              <a:extLst>
                <a:ext uri="{FF2B5EF4-FFF2-40B4-BE49-F238E27FC236}">
                  <a16:creationId xmlns="" xmlns:a16="http://schemas.microsoft.com/office/drawing/2014/main" id="{8D484ADF-CCBE-44B2-9C74-0826CBF235CD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322603" y="5332280"/>
              <a:ext cx="358581" cy="302501"/>
            </a:xfrm>
            <a:prstGeom prst="rect">
              <a:avLst/>
            </a:prstGeom>
          </p:spPr>
        </p:pic>
        <p:cxnSp>
          <p:nvCxnSpPr>
            <p:cNvPr id="25" name="Straight Connector 526">
              <a:extLst>
                <a:ext uri="{FF2B5EF4-FFF2-40B4-BE49-F238E27FC236}">
                  <a16:creationId xmlns="" xmlns:a16="http://schemas.microsoft.com/office/drawing/2014/main" id="{F748C7CD-03D2-4AEE-B7D0-69E776D47018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 bwMode="gray">
            <a:xfrm flipH="1">
              <a:off x="4936698" y="5177565"/>
              <a:ext cx="13886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526">
              <a:extLst>
                <a:ext uri="{FF2B5EF4-FFF2-40B4-BE49-F238E27FC236}">
                  <a16:creationId xmlns="" xmlns:a16="http://schemas.microsoft.com/office/drawing/2014/main" id="{517656F6-B21A-4D61-AEA1-7DD1FBA5D47D}"/>
                </a:ext>
              </a:extLst>
            </p:cNvPr>
            <p:cNvCxnSpPr>
              <a:cxnSpLocks/>
              <a:stCxn id="10" idx="2"/>
              <a:endCxn id="21" idx="0"/>
            </p:cNvCxnSpPr>
            <p:nvPr/>
          </p:nvCxnSpPr>
          <p:spPr bwMode="gray">
            <a:xfrm flipH="1">
              <a:off x="6672228" y="5177565"/>
              <a:ext cx="4629" cy="6246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DD3C4291-0493-474D-9F34-0EB1CCDA8BAA}"/>
              </a:ext>
            </a:extLst>
          </p:cNvPr>
          <p:cNvSpPr txBox="1"/>
          <p:nvPr/>
        </p:nvSpPr>
        <p:spPr bwMode="gray">
          <a:xfrm>
            <a:off x="987353" y="2365569"/>
            <a:ext cx="4146211" cy="338554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03F8A46D-3FE5-4D00-BC09-43FAD39F4856}"/>
              </a:ext>
            </a:extLst>
          </p:cNvPr>
          <p:cNvSpPr txBox="1"/>
          <p:nvPr/>
        </p:nvSpPr>
        <p:spPr bwMode="gray">
          <a:xfrm>
            <a:off x="987353" y="3085385"/>
            <a:ext cx="190776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NETCONF/YANG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="" xmlns:a16="http://schemas.microsoft.com/office/drawing/2014/main" id="{2023FEC3-A60C-43BE-9856-0523DA6BBE47}"/>
              </a:ext>
            </a:extLst>
          </p:cNvPr>
          <p:cNvSpPr/>
          <p:nvPr/>
        </p:nvSpPr>
        <p:spPr bwMode="gray">
          <a:xfrm>
            <a:off x="2945918" y="3212015"/>
            <a:ext cx="305040" cy="551499"/>
          </a:xfrm>
          <a:prstGeom prst="downArrow">
            <a:avLst/>
          </a:prstGeom>
          <a:solidFill>
            <a:schemeClr val="bg1"/>
          </a:solidFill>
          <a:ln w="19050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398D7902-2CF6-4D5A-A66C-4E767DF7AB7F}"/>
              </a:ext>
            </a:extLst>
          </p:cNvPr>
          <p:cNvSpPr txBox="1"/>
          <p:nvPr/>
        </p:nvSpPr>
        <p:spPr bwMode="gray">
          <a:xfrm>
            <a:off x="3399816" y="3289085"/>
            <a:ext cx="1591725" cy="334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下发计算结果</a:t>
            </a:r>
          </a:p>
        </p:txBody>
      </p:sp>
      <p:sp>
        <p:nvSpPr>
          <p:cNvPr id="34" name="Oval 4">
            <a:extLst>
              <a:ext uri="{FF2B5EF4-FFF2-40B4-BE49-F238E27FC236}">
                <a16:creationId xmlns="" xmlns:a16="http://schemas.microsoft.com/office/drawing/2014/main" id="{E37FA248-F9BB-4CCF-8CFF-2F43C3867241}"/>
              </a:ext>
            </a:extLst>
          </p:cNvPr>
          <p:cNvSpPr>
            <a:spLocks noChangeAspect="1"/>
          </p:cNvSpPr>
          <p:nvPr/>
        </p:nvSpPr>
        <p:spPr bwMode="gray">
          <a:xfrm>
            <a:off x="6102043" y="1820673"/>
            <a:ext cx="282142" cy="282142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45DC7BFA-8CE5-4676-A590-7F5DDE4718E0}"/>
              </a:ext>
            </a:extLst>
          </p:cNvPr>
          <p:cNvSpPr txBox="1"/>
          <p:nvPr/>
        </p:nvSpPr>
        <p:spPr bwMode="gray">
          <a:xfrm>
            <a:off x="6361381" y="1795273"/>
            <a:ext cx="18149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NETCONF/YANG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B7588D22-08AB-46A1-8CFE-F7A6391B0CC3}"/>
              </a:ext>
            </a:extLst>
          </p:cNvPr>
          <p:cNvSpPr txBox="1"/>
          <p:nvPr/>
        </p:nvSpPr>
        <p:spPr bwMode="gray">
          <a:xfrm>
            <a:off x="6776541" y="2142343"/>
            <a:ext cx="475697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控制器将计算结果作为配置下发网络设备。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模型标准化，厂家兼容性好。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Oval 4">
            <a:extLst>
              <a:ext uri="{FF2B5EF4-FFF2-40B4-BE49-F238E27FC236}">
                <a16:creationId xmlns="" xmlns:a16="http://schemas.microsoft.com/office/drawing/2014/main" id="{5EC1BC7E-8CC1-4885-B72B-6AA8B356EDD5}"/>
              </a:ext>
            </a:extLst>
          </p:cNvPr>
          <p:cNvSpPr>
            <a:spLocks noChangeAspect="1"/>
          </p:cNvSpPr>
          <p:nvPr/>
        </p:nvSpPr>
        <p:spPr bwMode="gray">
          <a:xfrm>
            <a:off x="6102043" y="3066347"/>
            <a:ext cx="282142" cy="282142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C9C660B7-7AD5-4792-BFB4-6BF3943779CA}"/>
              </a:ext>
            </a:extLst>
          </p:cNvPr>
          <p:cNvSpPr txBox="1"/>
          <p:nvPr/>
        </p:nvSpPr>
        <p:spPr bwMode="gray">
          <a:xfrm>
            <a:off x="6361381" y="3040947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38A8B7D0-1E36-4BBF-9047-F4B73384C193}"/>
              </a:ext>
            </a:extLst>
          </p:cNvPr>
          <p:cNvSpPr txBox="1"/>
          <p:nvPr/>
        </p:nvSpPr>
        <p:spPr bwMode="gray">
          <a:xfrm>
            <a:off x="6776541" y="3388017"/>
            <a:ext cx="497059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控制器下发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消息，创建或更新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标准未定义隧道模型，各厂家私有实现无法互通。</a:t>
            </a:r>
          </a:p>
        </p:txBody>
      </p:sp>
      <p:sp>
        <p:nvSpPr>
          <p:cNvPr id="40" name="Oval 4">
            <a:extLst>
              <a:ext uri="{FF2B5EF4-FFF2-40B4-BE49-F238E27FC236}">
                <a16:creationId xmlns="" xmlns:a16="http://schemas.microsoft.com/office/drawing/2014/main" id="{BC8C264E-F78E-48E4-AC27-9C54B43C7F51}"/>
              </a:ext>
            </a:extLst>
          </p:cNvPr>
          <p:cNvSpPr>
            <a:spLocks noChangeAspect="1"/>
          </p:cNvSpPr>
          <p:nvPr/>
        </p:nvSpPr>
        <p:spPr bwMode="gray">
          <a:xfrm>
            <a:off x="6102043" y="4447361"/>
            <a:ext cx="282142" cy="282142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41A6914F-C289-4C18-9F36-C45E09FF0A77}"/>
              </a:ext>
            </a:extLst>
          </p:cNvPr>
          <p:cNvSpPr txBox="1"/>
          <p:nvPr/>
        </p:nvSpPr>
        <p:spPr bwMode="gray">
          <a:xfrm>
            <a:off x="6361381" y="4421961"/>
            <a:ext cx="1537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SR Policy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0045A265-1B6D-40BB-869B-D73C21C1BCA0}"/>
              </a:ext>
            </a:extLst>
          </p:cNvPr>
          <p:cNvSpPr txBox="1"/>
          <p:nvPr/>
        </p:nvSpPr>
        <p:spPr bwMode="gray">
          <a:xfrm>
            <a:off x="6776541" y="4769031"/>
            <a:ext cx="4756973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扩展下发隧道。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统一定义隧道模型和数据报文结构，厂家互通容易实现。</a:t>
            </a:r>
          </a:p>
        </p:txBody>
      </p:sp>
    </p:spTree>
    <p:extLst>
      <p:ext uri="{BB962C8B-B14F-4D97-AF65-F5344CB8AC3E}">
        <p14:creationId xmlns:p14="http://schemas.microsoft.com/office/powerpoint/2010/main" val="5738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79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承载网</a:t>
            </a:r>
            <a:r>
              <a:rPr lang="en-US" altLang="zh-CN" smtClean="0">
                <a:sym typeface="Huawei Sans" panose="020C0503030203020204" pitchFamily="34" charset="0"/>
              </a:rPr>
              <a:t>SLA</a:t>
            </a:r>
            <a:r>
              <a:rPr lang="zh-CN" altLang="en-US" smtClean="0">
                <a:sym typeface="Huawei Sans" panose="020C0503030203020204" pitchFamily="34" charset="0"/>
              </a:rPr>
              <a:t>保障新诉求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600" dirty="0" smtClean="0">
                <a:sym typeface="Huawei Sans" panose="020C0503030203020204" pitchFamily="34" charset="0"/>
              </a:rPr>
              <a:t>SLA</a:t>
            </a:r>
            <a:r>
              <a:rPr lang="zh-CN" altLang="en-US" sz="1600" dirty="0" smtClean="0">
                <a:sym typeface="Huawei Sans" panose="020C0503030203020204" pitchFamily="34" charset="0"/>
              </a:rPr>
              <a:t>（</a:t>
            </a:r>
            <a:r>
              <a:rPr lang="en-US" altLang="zh-CN" sz="1600" dirty="0" smtClean="0">
                <a:sym typeface="Huawei Sans" panose="020C0503030203020204" pitchFamily="34" charset="0"/>
              </a:rPr>
              <a:t>Service Level Agreement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，服务等级协议），是服务提供商与客户之间定义的正式承诺。在广域网服务领域，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SLA</a:t>
            </a:r>
            <a:r>
              <a:rPr lang="zh-CN" altLang="en-US" sz="1600" dirty="0" smtClean="0">
                <a:sym typeface="Huawei Sans" panose="020C0503030203020204" pitchFamily="34" charset="0"/>
              </a:rPr>
              <a:t>除了包含最基本的连通性需求外，还需要重点关注确定性时延、带宽、可靠性，隔离（安全性）等需求。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r>
              <a:rPr lang="zh-CN" altLang="en-US" sz="1600" dirty="0" smtClean="0">
                <a:sym typeface="Huawei Sans" panose="020C0503030203020204" pitchFamily="34" charset="0"/>
              </a:rPr>
              <a:t>通常情况下一条承载路径会承载多种不同类型业务的流量，在相同路径上传输不同业务时，需要根据业务</a:t>
            </a:r>
            <a:r>
              <a:rPr lang="en-US" altLang="zh-CN" sz="1600" dirty="0" smtClean="0">
                <a:sym typeface="Huawei Sans" panose="020C0503030203020204" pitchFamily="34" charset="0"/>
              </a:rPr>
              <a:t>SLA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的要求提供差分服务。传统的</a:t>
            </a:r>
            <a:r>
              <a:rPr lang="en-US" altLang="zh-CN" sz="1600" dirty="0" err="1" smtClean="0">
                <a:sym typeface="Huawei Sans" panose="020C0503030203020204" pitchFamily="34" charset="0"/>
              </a:rPr>
              <a:t>QoS</a:t>
            </a:r>
            <a:r>
              <a:rPr lang="zh-CN" altLang="en-US" sz="1600" dirty="0" smtClean="0">
                <a:sym typeface="Huawei Sans" panose="020C0503030203020204" pitchFamily="34" charset="0"/>
              </a:rPr>
              <a:t>通过统计复用的方式，针对业务设置不同的优先级从而保证高优先级业务的流畅体验。但针对隔离、确定性时延需求时，</a:t>
            </a:r>
            <a:r>
              <a:rPr lang="en-US" altLang="zh-CN" sz="1600" dirty="0" err="1" smtClean="0">
                <a:sym typeface="Huawei Sans" panose="020C0503030203020204" pitchFamily="34" charset="0"/>
              </a:rPr>
              <a:t>QoS</a:t>
            </a:r>
            <a:r>
              <a:rPr lang="zh-CN" altLang="en-US" sz="1600" dirty="0" smtClean="0">
                <a:sym typeface="Huawei Sans" panose="020C0503030203020204" pitchFamily="34" charset="0"/>
              </a:rPr>
              <a:t>能力不足。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r>
              <a:rPr lang="zh-CN" altLang="en-US" sz="1600" dirty="0" smtClean="0">
                <a:sym typeface="Huawei Sans" panose="020C0503030203020204" pitchFamily="34" charset="0"/>
              </a:rPr>
              <a:t>网络切片能够将承载网络分割成不同服务等级的虚拟网络，针对高质量、高安全需求的业务，提供专用的逻辑通道。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8" name="圆角矩形 27"/>
          <p:cNvSpPr/>
          <p:nvPr/>
        </p:nvSpPr>
        <p:spPr bwMode="gray">
          <a:xfrm>
            <a:off x="2905325" y="3923918"/>
            <a:ext cx="1404000" cy="324000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QoS</a:t>
            </a:r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诉求</a:t>
            </a:r>
          </a:p>
        </p:txBody>
      </p:sp>
      <p:sp>
        <p:nvSpPr>
          <p:cNvPr id="30" name="圆角矩形 29"/>
          <p:cNvSpPr/>
          <p:nvPr/>
        </p:nvSpPr>
        <p:spPr bwMode="gray">
          <a:xfrm>
            <a:off x="2878090" y="5255324"/>
            <a:ext cx="1404000" cy="324000"/>
          </a:xfrm>
          <a:prstGeom prst="roundRect">
            <a:avLst>
              <a:gd name="adj" fmla="val 50000"/>
            </a:avLst>
          </a:prstGeom>
          <a:solidFill>
            <a:srgbClr val="8BC9A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业务诉求</a:t>
            </a:r>
          </a:p>
        </p:txBody>
      </p:sp>
      <p:sp>
        <p:nvSpPr>
          <p:cNvPr id="32" name="左大括号 31"/>
          <p:cNvSpPr/>
          <p:nvPr/>
        </p:nvSpPr>
        <p:spPr bwMode="gray">
          <a:xfrm>
            <a:off x="4370721" y="3487652"/>
            <a:ext cx="443031" cy="1332438"/>
          </a:xfrm>
          <a:prstGeom prst="leftBrace">
            <a:avLst>
              <a:gd name="adj1" fmla="val 61244"/>
              <a:gd name="adj2" fmla="val 48643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3" name="左大括号 32"/>
          <p:cNvSpPr/>
          <p:nvPr/>
        </p:nvSpPr>
        <p:spPr bwMode="gray">
          <a:xfrm>
            <a:off x="4336383" y="5131994"/>
            <a:ext cx="443031" cy="570661"/>
          </a:xfrm>
          <a:prstGeom prst="leftBrace">
            <a:avLst>
              <a:gd name="adj1" fmla="val 34788"/>
              <a:gd name="adj2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4833707" y="3398667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时延</a:t>
            </a:r>
          </a:p>
        </p:txBody>
      </p:sp>
      <p:sp>
        <p:nvSpPr>
          <p:cNvPr id="35" name="矩形 34"/>
          <p:cNvSpPr/>
          <p:nvPr/>
        </p:nvSpPr>
        <p:spPr bwMode="gray">
          <a:xfrm>
            <a:off x="4833707" y="3819299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带宽</a:t>
            </a:r>
          </a:p>
        </p:txBody>
      </p:sp>
      <p:sp>
        <p:nvSpPr>
          <p:cNvPr id="36" name="矩形 35"/>
          <p:cNvSpPr/>
          <p:nvPr/>
        </p:nvSpPr>
        <p:spPr bwMode="gray">
          <a:xfrm>
            <a:off x="4833707" y="4239931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抖动</a:t>
            </a:r>
          </a:p>
        </p:txBody>
      </p:sp>
      <p:sp>
        <p:nvSpPr>
          <p:cNvPr id="37" name="矩形 36"/>
          <p:cNvSpPr/>
          <p:nvPr/>
        </p:nvSpPr>
        <p:spPr bwMode="gray">
          <a:xfrm>
            <a:off x="4833707" y="4660563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丢包率</a:t>
            </a:r>
          </a:p>
        </p:txBody>
      </p:sp>
      <p:sp>
        <p:nvSpPr>
          <p:cNvPr id="38" name="矩形 37"/>
          <p:cNvSpPr/>
          <p:nvPr/>
        </p:nvSpPr>
        <p:spPr bwMode="gray">
          <a:xfrm>
            <a:off x="4833707" y="5081195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确定性时延</a:t>
            </a:r>
          </a:p>
        </p:txBody>
      </p:sp>
      <p:sp>
        <p:nvSpPr>
          <p:cNvPr id="39" name="矩形 38"/>
          <p:cNvSpPr/>
          <p:nvPr/>
        </p:nvSpPr>
        <p:spPr bwMode="gray">
          <a:xfrm>
            <a:off x="4833707" y="5501829"/>
            <a:ext cx="1260000" cy="252000"/>
          </a:xfrm>
          <a:prstGeom prst="rect">
            <a:avLst/>
          </a:prstGeom>
          <a:solidFill>
            <a:srgbClr val="1AABE2">
              <a:alpha val="5000"/>
            </a:srgbClr>
          </a:solidFill>
          <a:ln w="0">
            <a:solidFill>
              <a:srgbClr val="1AABE2">
                <a:alpha val="30000"/>
              </a:srgbClr>
            </a:solidFill>
            <a:tailEnd type="triangle"/>
          </a:ln>
          <a:effectLst/>
          <a:extLst/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隔离</a:t>
            </a:r>
          </a:p>
        </p:txBody>
      </p:sp>
      <p:sp>
        <p:nvSpPr>
          <p:cNvPr id="27" name="文本占位符 5"/>
          <p:cNvSpPr txBox="1">
            <a:spLocks/>
          </p:cNvSpPr>
          <p:nvPr/>
        </p:nvSpPr>
        <p:spPr bwMode="gray">
          <a:xfrm>
            <a:off x="6148000" y="3570732"/>
            <a:ext cx="4431101" cy="2271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例如金融企业之间资金结算的业务需要保障高度安全性、时延要足够稳定；而企业内部文件传输业务要求高带宽；企业语音业务要求低抖动。</a:t>
            </a:r>
          </a:p>
        </p:txBody>
      </p:sp>
    </p:spTree>
    <p:extLst>
      <p:ext uri="{BB962C8B-B14F-4D97-AF65-F5344CB8AC3E}">
        <p14:creationId xmlns:p14="http://schemas.microsoft.com/office/powerpoint/2010/main" val="104753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柱形 44"/>
          <p:cNvSpPr/>
          <p:nvPr/>
        </p:nvSpPr>
        <p:spPr bwMode="gray">
          <a:xfrm rot="5400000">
            <a:off x="5370315" y="-496719"/>
            <a:ext cx="1041766" cy="8740804"/>
          </a:xfrm>
          <a:prstGeom prst="can">
            <a:avLst>
              <a:gd name="adj" fmla="val 13829"/>
            </a:avLst>
          </a:prstGeom>
          <a:solidFill>
            <a:srgbClr val="8CD5F0">
              <a:alpha val="5000"/>
            </a:srgbClr>
          </a:solidFill>
          <a:ln w="6350">
            <a:solidFill>
              <a:srgbClr val="8CD5F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AutoShape 2"/>
          <p:cNvSpPr>
            <a:spLocks noChangeArrowheads="1"/>
          </p:cNvSpPr>
          <p:nvPr/>
        </p:nvSpPr>
        <p:spPr bwMode="gray">
          <a:xfrm rot="5400000">
            <a:off x="5772613" y="-186457"/>
            <a:ext cx="133200" cy="7994720"/>
          </a:xfrm>
          <a:prstGeom prst="can">
            <a:avLst>
              <a:gd name="adj" fmla="val 34000"/>
            </a:avLst>
          </a:prstGeom>
          <a:solidFill>
            <a:srgbClr val="DAE3F3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black">
                  <a:lumMod val="85000"/>
                  <a:lumOff val="15000"/>
                </a:prst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44" name="直接连接符 43"/>
          <p:cNvCxnSpPr>
            <a:stCxn id="17" idx="3"/>
            <a:endCxn id="41" idx="1"/>
          </p:cNvCxnSpPr>
          <p:nvPr/>
        </p:nvCxnSpPr>
        <p:spPr bwMode="gray">
          <a:xfrm>
            <a:off x="1853553" y="4120267"/>
            <a:ext cx="7959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smtClean="0">
                <a:sym typeface="Huawei Sans" panose="020C0503030203020204" pitchFamily="34" charset="0"/>
              </a:rPr>
              <a:t>基于切片的承载网：一网多用，承载多业务，降低成本</a:t>
            </a:r>
            <a:endParaRPr lang="zh-CN" altLang="en-US" sz="3600" dirty="0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smtClean="0">
                <a:sym typeface="Huawei Sans" panose="020C0503030203020204" pitchFamily="34" charset="0"/>
              </a:rPr>
              <a:t>IP</a:t>
            </a:r>
            <a:r>
              <a:rPr lang="zh-CN" altLang="zh-CN" sz="1600" smtClean="0">
                <a:sym typeface="Huawei Sans" panose="020C0503030203020204" pitchFamily="34" charset="0"/>
              </a:rPr>
              <a:t>网络通过统计复用技术大大提升网络利用率，降低单</a:t>
            </a:r>
            <a:r>
              <a:rPr lang="en-US" altLang="zh-CN" sz="1600" smtClean="0">
                <a:sym typeface="Huawei Sans" panose="020C0503030203020204" pitchFamily="34" charset="0"/>
              </a:rPr>
              <a:t>bit</a:t>
            </a:r>
            <a:r>
              <a:rPr lang="zh-CN" altLang="zh-CN" sz="1600" smtClean="0">
                <a:sym typeface="Huawei Sans" panose="020C0503030203020204" pitchFamily="34" charset="0"/>
              </a:rPr>
              <a:t>传输成本，但同时，统计复用带来网络对不同业务的质量保障等级具有不确定性，按照最高</a:t>
            </a:r>
            <a:r>
              <a:rPr lang="en-US" altLang="zh-CN" sz="1600" smtClean="0">
                <a:sym typeface="Huawei Sans" panose="020C0503030203020204" pitchFamily="34" charset="0"/>
              </a:rPr>
              <a:t>SLA</a:t>
            </a:r>
            <a:r>
              <a:rPr lang="zh-CN" altLang="zh-CN" sz="1600" smtClean="0">
                <a:sym typeface="Huawei Sans" panose="020C0503030203020204" pitchFamily="34" charset="0"/>
              </a:rPr>
              <a:t>要求来准备资源、以满足所有类型的专线及客户是不合适的。综合承载网络</a:t>
            </a:r>
            <a:r>
              <a:rPr lang="zh-CN" altLang="en-US" sz="1600" smtClean="0">
                <a:sym typeface="Huawei Sans" panose="020C0503030203020204" pitchFamily="34" charset="0"/>
              </a:rPr>
              <a:t>需要</a:t>
            </a:r>
            <a:r>
              <a:rPr lang="zh-CN" altLang="zh-CN" sz="1600" smtClean="0">
                <a:sym typeface="Huawei Sans" panose="020C0503030203020204" pitchFamily="34" charset="0"/>
              </a:rPr>
              <a:t>在多种业务隔离保障与统计复用进行平衡，保证各个业务的</a:t>
            </a:r>
            <a:r>
              <a:rPr lang="en-US" altLang="zh-CN" sz="1600" smtClean="0">
                <a:sym typeface="Huawei Sans" panose="020C0503030203020204" pitchFamily="34" charset="0"/>
              </a:rPr>
              <a:t>SLA</a:t>
            </a:r>
            <a:r>
              <a:rPr lang="zh-CN" altLang="zh-CN" sz="1600" smtClean="0">
                <a:sym typeface="Huawei Sans" panose="020C0503030203020204" pitchFamily="34" charset="0"/>
              </a:rPr>
              <a:t>诉求。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r>
              <a:rPr lang="zh-CN" altLang="zh-CN" sz="1600" smtClean="0">
                <a:sym typeface="Huawei Sans" panose="020C0503030203020204" pitchFamily="34" charset="0"/>
              </a:rPr>
              <a:t>利用</a:t>
            </a:r>
            <a:r>
              <a:rPr lang="en-US" altLang="zh-CN" sz="1600" smtClean="0">
                <a:sym typeface="Huawei Sans" panose="020C0503030203020204" pitchFamily="34" charset="0"/>
              </a:rPr>
              <a:t>FlexE</a:t>
            </a:r>
            <a:r>
              <a:rPr lang="zh-CN" altLang="en-US" sz="1600" smtClean="0">
                <a:sym typeface="Huawei Sans" panose="020C0503030203020204" pitchFamily="34" charset="0"/>
              </a:rPr>
              <a:t>、</a:t>
            </a:r>
            <a:r>
              <a:rPr lang="zh-CN" altLang="zh-CN" sz="1600" smtClean="0">
                <a:sym typeface="Huawei Sans" panose="020C0503030203020204" pitchFamily="34" charset="0"/>
              </a:rPr>
              <a:t>信道化子接口</a:t>
            </a:r>
            <a:r>
              <a:rPr lang="zh-CN" altLang="en-US" sz="1600" smtClean="0">
                <a:sym typeface="Huawei Sans" panose="020C0503030203020204" pitchFamily="34" charset="0"/>
              </a:rPr>
              <a:t>、</a:t>
            </a:r>
            <a:r>
              <a:rPr lang="en-US" altLang="zh-CN" sz="1600" smtClean="0">
                <a:sym typeface="Huawei Sans" panose="020C0503030203020204" pitchFamily="34" charset="0"/>
              </a:rPr>
              <a:t>QoS</a:t>
            </a:r>
            <a:r>
              <a:rPr lang="zh-CN" altLang="zh-CN" sz="1600" smtClean="0">
                <a:sym typeface="Huawei Sans" panose="020C0503030203020204" pitchFamily="34" charset="0"/>
              </a:rPr>
              <a:t>队列等分片资源保留技术，可以将</a:t>
            </a:r>
            <a:r>
              <a:rPr lang="zh-CN" altLang="en-US" sz="1600" smtClean="0">
                <a:sym typeface="Huawei Sans" panose="020C0503030203020204" pitchFamily="34" charset="0"/>
              </a:rPr>
              <a:t>业务划分</a:t>
            </a:r>
            <a:r>
              <a:rPr lang="zh-CN" altLang="zh-CN" sz="1600" smtClean="0">
                <a:sym typeface="Huawei Sans" panose="020C0503030203020204" pitchFamily="34" charset="0"/>
              </a:rPr>
              <a:t>到各自的业务片中，分片间实现隔离、业务不相互影响，提供不同的</a:t>
            </a:r>
            <a:r>
              <a:rPr lang="en-US" altLang="zh-CN" sz="1600" smtClean="0">
                <a:sym typeface="Huawei Sans" panose="020C0503030203020204" pitchFamily="34" charset="0"/>
              </a:rPr>
              <a:t>SLA</a:t>
            </a:r>
            <a:r>
              <a:rPr lang="zh-CN" altLang="zh-CN" sz="1600" smtClean="0">
                <a:sym typeface="Huawei Sans" panose="020C0503030203020204" pitchFamily="34" charset="0"/>
              </a:rPr>
              <a:t>保障等级。</a:t>
            </a:r>
            <a:endParaRPr lang="zh-CN" altLang="zh-CN" sz="1600" dirty="0">
              <a:sym typeface="Huawei Sans" panose="020C0503030203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13553" y="3898867"/>
            <a:ext cx="540000" cy="4428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46761" y="3898867"/>
            <a:ext cx="540000" cy="4428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30157" y="3898867"/>
            <a:ext cx="540000" cy="4428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9969" y="3898867"/>
            <a:ext cx="540000" cy="4428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3365" y="3898867"/>
            <a:ext cx="540000" cy="4428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13178" y="3898867"/>
            <a:ext cx="540000" cy="4428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96573" y="3898867"/>
            <a:ext cx="540000" cy="442800"/>
          </a:xfrm>
          <a:prstGeom prst="rect">
            <a:avLst/>
          </a:prstGeom>
        </p:spPr>
      </p:pic>
      <p:sp>
        <p:nvSpPr>
          <p:cNvPr id="49" name="AutoShape 2"/>
          <p:cNvSpPr>
            <a:spLocks noChangeArrowheads="1"/>
          </p:cNvSpPr>
          <p:nvPr/>
        </p:nvSpPr>
        <p:spPr bwMode="gray">
          <a:xfrm rot="5400000">
            <a:off x="2223280" y="3057228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0" name="AutoShape 2"/>
          <p:cNvSpPr>
            <a:spLocks noChangeArrowheads="1"/>
          </p:cNvSpPr>
          <p:nvPr/>
        </p:nvSpPr>
        <p:spPr bwMode="gray">
          <a:xfrm rot="5400000">
            <a:off x="2226193" y="3210053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="" xmlns:a16="http://schemas.microsoft.com/office/drawing/2014/main" id="{BDF0F014-0E8E-41C5-A796-30571055C2E2}"/>
              </a:ext>
            </a:extLst>
          </p:cNvPr>
          <p:cNvSpPr txBox="1"/>
          <p:nvPr/>
        </p:nvSpPr>
        <p:spPr bwMode="gray">
          <a:xfrm>
            <a:off x="1612900" y="2948414"/>
            <a:ext cx="8648699" cy="338554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</a:p>
        </p:txBody>
      </p:sp>
      <p:sp>
        <p:nvSpPr>
          <p:cNvPr id="68" name="平行四边形 67"/>
          <p:cNvSpPr/>
          <p:nvPr/>
        </p:nvSpPr>
        <p:spPr bwMode="gray">
          <a:xfrm>
            <a:off x="1313553" y="4543759"/>
            <a:ext cx="8192147" cy="456139"/>
          </a:xfrm>
          <a:prstGeom prst="parallelogram">
            <a:avLst>
              <a:gd name="adj" fmla="val 125000"/>
            </a:avLst>
          </a:prstGeom>
          <a:solidFill>
            <a:srgbClr val="1AABE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390" tIns="34195" rIns="68390" bIns="34195" numCol="1" rtlCol="0" anchor="t" anchorCtr="0" compatLnSpc="1">
            <a:prstTxWarp prst="textNoShape">
              <a:avLst/>
            </a:prstTxWarp>
          </a:bodyPr>
          <a:lstStyle/>
          <a:p>
            <a:pPr defTabSz="683847">
              <a:defRPr/>
            </a:pPr>
            <a:endParaRPr lang="zh-CN" altLang="en-US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平行四边形 68"/>
          <p:cNvSpPr/>
          <p:nvPr/>
        </p:nvSpPr>
        <p:spPr bwMode="gray">
          <a:xfrm>
            <a:off x="1313553" y="5132926"/>
            <a:ext cx="8192147" cy="427696"/>
          </a:xfrm>
          <a:prstGeom prst="parallelogram">
            <a:avLst>
              <a:gd name="adj" fmla="val 104466"/>
            </a:avLst>
          </a:prstGeom>
          <a:solidFill>
            <a:srgbClr val="8BC9A0"/>
          </a:solidFill>
        </p:spPr>
        <p:txBody>
          <a:bodyPr wrap="square" rtlCol="0" anchor="ctr">
            <a:noAutofit/>
          </a:bodyPr>
          <a:lstStyle/>
          <a:p>
            <a:pPr algn="ctr" defTabSz="914400"/>
            <a:endParaRPr lang="zh-CN" altLang="en-US" sz="8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平行四边形 69"/>
          <p:cNvSpPr/>
          <p:nvPr/>
        </p:nvSpPr>
        <p:spPr bwMode="gray">
          <a:xfrm>
            <a:off x="1241913" y="5712111"/>
            <a:ext cx="8192147" cy="455146"/>
          </a:xfrm>
          <a:prstGeom prst="parallelogram">
            <a:avLst>
              <a:gd name="adj" fmla="val 104466"/>
            </a:avLst>
          </a:prstGeom>
          <a:solidFill>
            <a:srgbClr val="DAE3F3"/>
          </a:solidFill>
        </p:spPr>
        <p:txBody>
          <a:bodyPr wrap="square" rtlCol="0" anchor="ctr">
            <a:noAutofit/>
          </a:bodyPr>
          <a:lstStyle/>
          <a:p>
            <a:pPr algn="ctr" defTabSz="914400"/>
            <a:endParaRPr lang="zh-CN" altLang="en-US" sz="8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9434060" y="4567913"/>
            <a:ext cx="1463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Mbit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9434060" y="510913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9434060" y="5819934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普通业务，不做切片</a:t>
            </a:r>
          </a:p>
        </p:txBody>
      </p:sp>
      <p:sp>
        <p:nvSpPr>
          <p:cNvPr id="74" name="AutoShape 2"/>
          <p:cNvSpPr>
            <a:spLocks noChangeArrowheads="1"/>
          </p:cNvSpPr>
          <p:nvPr/>
        </p:nvSpPr>
        <p:spPr bwMode="gray">
          <a:xfrm rot="5400000">
            <a:off x="3628185" y="3057229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5" name="AutoShape 2"/>
          <p:cNvSpPr>
            <a:spLocks noChangeArrowheads="1"/>
          </p:cNvSpPr>
          <p:nvPr/>
        </p:nvSpPr>
        <p:spPr bwMode="gray">
          <a:xfrm rot="5400000">
            <a:off x="3631098" y="3210054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6" name="AutoShape 2"/>
          <p:cNvSpPr>
            <a:spLocks noChangeArrowheads="1"/>
          </p:cNvSpPr>
          <p:nvPr/>
        </p:nvSpPr>
        <p:spPr bwMode="gray">
          <a:xfrm rot="5400000">
            <a:off x="5068185" y="3057230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7" name="AutoShape 2"/>
          <p:cNvSpPr>
            <a:spLocks noChangeArrowheads="1"/>
          </p:cNvSpPr>
          <p:nvPr/>
        </p:nvSpPr>
        <p:spPr bwMode="gray">
          <a:xfrm rot="5400000">
            <a:off x="5071098" y="3210055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8" name="AutoShape 2"/>
          <p:cNvSpPr>
            <a:spLocks noChangeArrowheads="1"/>
          </p:cNvSpPr>
          <p:nvPr/>
        </p:nvSpPr>
        <p:spPr bwMode="gray">
          <a:xfrm rot="5400000">
            <a:off x="6461393" y="3057231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9" name="AutoShape 2"/>
          <p:cNvSpPr>
            <a:spLocks noChangeArrowheads="1"/>
          </p:cNvSpPr>
          <p:nvPr/>
        </p:nvSpPr>
        <p:spPr bwMode="gray">
          <a:xfrm rot="5400000">
            <a:off x="6464306" y="3210056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0" name="AutoShape 2"/>
          <p:cNvSpPr>
            <a:spLocks noChangeArrowheads="1"/>
          </p:cNvSpPr>
          <p:nvPr/>
        </p:nvSpPr>
        <p:spPr bwMode="gray">
          <a:xfrm rot="5400000">
            <a:off x="7852379" y="3057232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1" name="AutoShape 2"/>
          <p:cNvSpPr>
            <a:spLocks noChangeArrowheads="1"/>
          </p:cNvSpPr>
          <p:nvPr/>
        </p:nvSpPr>
        <p:spPr bwMode="gray">
          <a:xfrm rot="5400000">
            <a:off x="7855292" y="3210057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2" name="AutoShape 2"/>
          <p:cNvSpPr>
            <a:spLocks noChangeArrowheads="1"/>
          </p:cNvSpPr>
          <p:nvPr/>
        </p:nvSpPr>
        <p:spPr bwMode="gray">
          <a:xfrm rot="5400000">
            <a:off x="9317997" y="3057233"/>
            <a:ext cx="137150" cy="900000"/>
          </a:xfrm>
          <a:prstGeom prst="can">
            <a:avLst>
              <a:gd name="adj" fmla="val 34000"/>
            </a:avLst>
          </a:prstGeom>
          <a:solidFill>
            <a:srgbClr val="1AABE2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3" name="AutoShape 2"/>
          <p:cNvSpPr>
            <a:spLocks noChangeArrowheads="1"/>
          </p:cNvSpPr>
          <p:nvPr/>
        </p:nvSpPr>
        <p:spPr bwMode="gray">
          <a:xfrm rot="5400000">
            <a:off x="9320910" y="3210058"/>
            <a:ext cx="131325" cy="900000"/>
          </a:xfrm>
          <a:prstGeom prst="can">
            <a:avLst>
              <a:gd name="adj" fmla="val 34000"/>
            </a:avLst>
          </a:prstGeom>
          <a:solidFill>
            <a:srgbClr val="8BC9A0"/>
          </a:solidFill>
          <a:ln w="12700">
            <a:noFill/>
            <a:round/>
            <a:headEnd/>
            <a:tailEnd/>
          </a:ln>
        </p:spPr>
        <p:txBody>
          <a:bodyPr rot="10800000" vert="vert" lIns="0" tIns="0" rIns="0" bIns="0" anchor="ctr"/>
          <a:lstStyle/>
          <a:p>
            <a:pPr algn="ctr" defTabSz="912375" fontAlgn="b">
              <a:spcBef>
                <a:spcPct val="0"/>
              </a:spcBef>
              <a:spcAft>
                <a:spcPct val="0"/>
              </a:spcAft>
            </a:pPr>
            <a:endParaRPr lang="zh-CN" altLang="zh-CN" sz="8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91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801F1E2-F583-49CD-9A19-CA549FBB4C6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QoS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F76E45D-CA98-4433-8D95-ABE3B81B2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en-US" altLang="zh-CN" sz="1600" dirty="0">
                <a:sym typeface="Huawei Sans" panose="020C0503030203020204" pitchFamily="34" charset="0"/>
              </a:rPr>
              <a:t> (Quality of Service</a:t>
            </a:r>
            <a:r>
              <a:rPr lang="zh-CN" altLang="en-US" sz="1600" dirty="0">
                <a:sym typeface="Huawei Sans" panose="020C0503030203020204" pitchFamily="34" charset="0"/>
              </a:rPr>
              <a:t>，服务质量</a:t>
            </a:r>
            <a:r>
              <a:rPr lang="en-US" altLang="zh-CN" sz="1600" dirty="0">
                <a:sym typeface="Huawei Sans" panose="020C0503030203020204" pitchFamily="34" charset="0"/>
              </a:rPr>
              <a:t>)</a:t>
            </a:r>
            <a:r>
              <a:rPr lang="zh-CN" altLang="en-US" sz="1600" dirty="0">
                <a:sym typeface="Huawei Sans" panose="020C0503030203020204" pitchFamily="34" charset="0"/>
              </a:rPr>
              <a:t>：针对各种应用的不同需求，为其提供不同的服务质量。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通常</a:t>
            </a:r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提供以下三种服务模型：</a:t>
            </a:r>
            <a:r>
              <a:rPr lang="en-US" altLang="zh-CN" sz="1600" dirty="0">
                <a:sym typeface="Huawei Sans" panose="020C0503030203020204" pitchFamily="34" charset="0"/>
              </a:rPr>
              <a:t>Best-Effort Service</a:t>
            </a:r>
            <a:r>
              <a:rPr lang="zh-CN" altLang="en-US" sz="1600" dirty="0">
                <a:sym typeface="Huawei Sans" panose="020C0503030203020204" pitchFamily="34" charset="0"/>
              </a:rPr>
              <a:t>（尽力而为服务模型）、</a:t>
            </a:r>
            <a:r>
              <a:rPr lang="en-US" altLang="zh-CN" sz="1600" dirty="0">
                <a:sym typeface="Huawei Sans" panose="020C0503030203020204" pitchFamily="34" charset="0"/>
              </a:rPr>
              <a:t>Integrated Service</a:t>
            </a:r>
            <a:r>
              <a:rPr lang="zh-CN" altLang="en-US" sz="1600" dirty="0">
                <a:sym typeface="Huawei Sans" panose="020C0503030203020204" pitchFamily="34" charset="0"/>
              </a:rPr>
              <a:t>（综合服务模型）和</a:t>
            </a:r>
            <a:r>
              <a:rPr lang="en-US" altLang="zh-CN" sz="1600" dirty="0">
                <a:sym typeface="Huawei Sans" panose="020C0503030203020204" pitchFamily="34" charset="0"/>
              </a:rPr>
              <a:t>Differentiated Service</a:t>
            </a:r>
            <a:r>
              <a:rPr lang="zh-CN" altLang="en-US" sz="1600" dirty="0">
                <a:sym typeface="Huawei Sans" panose="020C0503030203020204" pitchFamily="34" charset="0"/>
              </a:rPr>
              <a:t>（区分服务模型）。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 err="1">
                <a:sym typeface="Huawei Sans" panose="020C0503030203020204" pitchFamily="34" charset="0"/>
              </a:rPr>
              <a:t>DiffServ</a:t>
            </a:r>
            <a:r>
              <a:rPr lang="zh-CN" altLang="en-US" sz="1600" dirty="0">
                <a:sym typeface="Huawei Sans" panose="020C0503030203020204" pitchFamily="34" charset="0"/>
              </a:rPr>
              <a:t>是在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网络中被最广泛应用的</a:t>
            </a:r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模型。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3EEAD2B2-463E-4796-9E3F-CA5E07BC9EBE}"/>
              </a:ext>
            </a:extLst>
          </p:cNvPr>
          <p:cNvCxnSpPr/>
          <p:nvPr/>
        </p:nvCxnSpPr>
        <p:spPr bwMode="gray">
          <a:xfrm>
            <a:off x="3623053" y="3866997"/>
            <a:ext cx="41786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793543DA-3B40-4DFB-A4C1-1E55DBF9F241}"/>
              </a:ext>
            </a:extLst>
          </p:cNvPr>
          <p:cNvCxnSpPr/>
          <p:nvPr/>
        </p:nvCxnSpPr>
        <p:spPr bwMode="gray">
          <a:xfrm>
            <a:off x="3658302" y="5000540"/>
            <a:ext cx="3724306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C8D4077C-B1DF-4C76-8FFF-391B5BF44B3D}"/>
              </a:ext>
            </a:extLst>
          </p:cNvPr>
          <p:cNvCxnSpPr/>
          <p:nvPr/>
        </p:nvCxnSpPr>
        <p:spPr bwMode="gray">
          <a:xfrm>
            <a:off x="3623053" y="6172184"/>
            <a:ext cx="41786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="" xmlns:a16="http://schemas.microsoft.com/office/drawing/2014/main" id="{8E6C31FD-4823-461A-994B-7EBF9A510431}"/>
              </a:ext>
            </a:extLst>
          </p:cNvPr>
          <p:cNvGrpSpPr/>
          <p:nvPr/>
        </p:nvGrpSpPr>
        <p:grpSpPr bwMode="gray">
          <a:xfrm>
            <a:off x="717249" y="3042708"/>
            <a:ext cx="2584751" cy="2728995"/>
            <a:chOff x="1212549" y="2776008"/>
            <a:chExt cx="3633797" cy="2728995"/>
          </a:xfrm>
        </p:grpSpPr>
        <p:sp>
          <p:nvSpPr>
            <p:cNvPr id="5" name="ïşľïdè">
              <a:extLst>
                <a:ext uri="{FF2B5EF4-FFF2-40B4-BE49-F238E27FC236}">
                  <a16:creationId xmlns="" xmlns:a16="http://schemas.microsoft.com/office/drawing/2014/main" id="{74C16205-8DAA-42C7-8D57-0D2D996012C9}"/>
                </a:ext>
              </a:extLst>
            </p:cNvPr>
            <p:cNvSpPr/>
            <p:nvPr/>
          </p:nvSpPr>
          <p:spPr bwMode="gray">
            <a:xfrm>
              <a:off x="1212549" y="3712111"/>
              <a:ext cx="2135419" cy="864097"/>
            </a:xfrm>
            <a:prstGeom prst="roundRect">
              <a:avLst/>
            </a:prstGeom>
            <a:solidFill>
              <a:srgbClr val="56C4D2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 fontAlgn="auto"/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QoS</a:t>
              </a:r>
              <a:r>
                <a:rPr lang="zh-CN" altLang="en-US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提供三种</a:t>
              </a:r>
              <a:endPara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914354" fontAlgn="auto"/>
              <a:r>
                <a:rPr lang="zh-CN" altLang="en-US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服务模型</a:t>
              </a:r>
            </a:p>
          </p:txBody>
        </p:sp>
        <p:sp>
          <p:nvSpPr>
            <p:cNvPr id="9" name="iSlíďe">
              <a:extLst>
                <a:ext uri="{FF2B5EF4-FFF2-40B4-BE49-F238E27FC236}">
                  <a16:creationId xmlns="" xmlns:a16="http://schemas.microsoft.com/office/drawing/2014/main" id="{C7C524CB-085D-4232-B4FE-CB7811E68514}"/>
                </a:ext>
              </a:extLst>
            </p:cNvPr>
            <p:cNvSpPr/>
            <p:nvPr/>
          </p:nvSpPr>
          <p:spPr bwMode="gray">
            <a:xfrm rot="16200000">
              <a:off x="2673808" y="3332466"/>
              <a:ext cx="2728995" cy="1616080"/>
            </a:xfrm>
            <a:custGeom>
              <a:avLst/>
              <a:gdLst>
                <a:gd name="connsiteX0" fmla="*/ 2728995 w 2728995"/>
                <a:gd name="connsiteY0" fmla="*/ 1616080 h 1616080"/>
                <a:gd name="connsiteX1" fmla="*/ 0 w 2728995"/>
                <a:gd name="connsiteY1" fmla="*/ 1616080 h 1616080"/>
                <a:gd name="connsiteX2" fmla="*/ 937327 w 2728995"/>
                <a:gd name="connsiteY2" fmla="*/ 0 h 1616080"/>
                <a:gd name="connsiteX3" fmla="*/ 1791669 w 2728995"/>
                <a:gd name="connsiteY3" fmla="*/ 0 h 161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8995" h="1616080">
                  <a:moveTo>
                    <a:pt x="2728995" y="1616080"/>
                  </a:moveTo>
                  <a:lnTo>
                    <a:pt x="0" y="1616080"/>
                  </a:lnTo>
                  <a:lnTo>
                    <a:pt x="937327" y="0"/>
                  </a:lnTo>
                  <a:lnTo>
                    <a:pt x="1791669" y="0"/>
                  </a:lnTo>
                  <a:close/>
                </a:path>
              </a:pathLst>
            </a:custGeom>
            <a:gradFill>
              <a:gsLst>
                <a:gs pos="0">
                  <a:srgbClr val="56C4D2"/>
                </a:gs>
                <a:gs pos="100000">
                  <a:schemeClr val="bg1"/>
                </a:gs>
              </a:gsLst>
              <a:lin ang="5400000" scaled="1"/>
            </a:gra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b="1" i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0" name="í$ḷîḍe">
            <a:extLst>
              <a:ext uri="{FF2B5EF4-FFF2-40B4-BE49-F238E27FC236}">
                <a16:creationId xmlns="" xmlns:a16="http://schemas.microsoft.com/office/drawing/2014/main" id="{6482E110-E6B9-4EFB-B808-2832F3F2710A}"/>
              </a:ext>
            </a:extLst>
          </p:cNvPr>
          <p:cNvGrpSpPr/>
          <p:nvPr/>
        </p:nvGrpSpPr>
        <p:grpSpPr bwMode="gray">
          <a:xfrm>
            <a:off x="2912289" y="2921627"/>
            <a:ext cx="4458729" cy="841772"/>
            <a:chOff x="6629481" y="2323991"/>
            <a:chExt cx="4458729" cy="841772"/>
          </a:xfrm>
        </p:grpSpPr>
        <p:grpSp>
          <p:nvGrpSpPr>
            <p:cNvPr id="21" name="iṩḻïďè">
              <a:extLst>
                <a:ext uri="{FF2B5EF4-FFF2-40B4-BE49-F238E27FC236}">
                  <a16:creationId xmlns="" xmlns:a16="http://schemas.microsoft.com/office/drawing/2014/main" id="{BAD05E5F-6A13-4232-97BD-722A3FC88847}"/>
                </a:ext>
              </a:extLst>
            </p:cNvPr>
            <p:cNvGrpSpPr/>
            <p:nvPr/>
          </p:nvGrpSpPr>
          <p:grpSpPr bwMode="gray">
            <a:xfrm>
              <a:off x="6629481" y="2483157"/>
              <a:ext cx="515058" cy="515058"/>
              <a:chOff x="6629481" y="2483157"/>
              <a:chExt cx="515058" cy="515058"/>
            </a:xfrm>
          </p:grpSpPr>
          <p:sp>
            <p:nvSpPr>
              <p:cNvPr id="23" name="îṡḻïḓé">
                <a:extLst>
                  <a:ext uri="{FF2B5EF4-FFF2-40B4-BE49-F238E27FC236}">
                    <a16:creationId xmlns="" xmlns:a16="http://schemas.microsoft.com/office/drawing/2014/main" id="{36DDB1FC-DC94-498D-AABE-370423690433}"/>
                  </a:ext>
                </a:extLst>
              </p:cNvPr>
              <p:cNvSpPr/>
              <p:nvPr/>
            </p:nvSpPr>
            <p:spPr bwMode="gray">
              <a:xfrm>
                <a:off x="6629481" y="2483157"/>
                <a:ext cx="515058" cy="515058"/>
              </a:xfrm>
              <a:prstGeom prst="ellipse">
                <a:avLst/>
              </a:prstGeom>
              <a:solidFill>
                <a:srgbClr val="56C4D2"/>
              </a:solidFill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endParaRPr lang="zh-CN" altLang="en-US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" name="îṩļíḋê">
                <a:extLst>
                  <a:ext uri="{FF2B5EF4-FFF2-40B4-BE49-F238E27FC236}">
                    <a16:creationId xmlns="" xmlns:a16="http://schemas.microsoft.com/office/drawing/2014/main" id="{2F9363EC-56E3-4B5A-8477-F722F85F729F}"/>
                  </a:ext>
                </a:extLst>
              </p:cNvPr>
              <p:cNvSpPr/>
              <p:nvPr/>
            </p:nvSpPr>
            <p:spPr bwMode="gray">
              <a:xfrm>
                <a:off x="6751783" y="2605663"/>
                <a:ext cx="270454" cy="270048"/>
              </a:xfrm>
              <a:custGeom>
                <a:avLst/>
                <a:gdLst>
                  <a:gd name="T0" fmla="*/ 5847 w 6130"/>
                  <a:gd name="T1" fmla="*/ 4531 h 6130"/>
                  <a:gd name="T2" fmla="*/ 5530 w 6130"/>
                  <a:gd name="T3" fmla="*/ 4531 h 6130"/>
                  <a:gd name="T4" fmla="*/ 5530 w 6130"/>
                  <a:gd name="T5" fmla="*/ 4463 h 6130"/>
                  <a:gd name="T6" fmla="*/ 4132 w 6130"/>
                  <a:gd name="T7" fmla="*/ 3065 h 6130"/>
                  <a:gd name="T8" fmla="*/ 3265 w 6130"/>
                  <a:gd name="T9" fmla="*/ 3065 h 6130"/>
                  <a:gd name="T10" fmla="*/ 3265 w 6130"/>
                  <a:gd name="T11" fmla="*/ 1599 h 6130"/>
                  <a:gd name="T12" fmla="*/ 3581 w 6130"/>
                  <a:gd name="T13" fmla="*/ 1599 h 6130"/>
                  <a:gd name="T14" fmla="*/ 3864 w 6130"/>
                  <a:gd name="T15" fmla="*/ 1316 h 6130"/>
                  <a:gd name="T16" fmla="*/ 3864 w 6130"/>
                  <a:gd name="T17" fmla="*/ 283 h 6130"/>
                  <a:gd name="T18" fmla="*/ 3581 w 6130"/>
                  <a:gd name="T19" fmla="*/ 0 h 6130"/>
                  <a:gd name="T20" fmla="*/ 2549 w 6130"/>
                  <a:gd name="T21" fmla="*/ 0 h 6130"/>
                  <a:gd name="T22" fmla="*/ 2265 w 6130"/>
                  <a:gd name="T23" fmla="*/ 283 h 6130"/>
                  <a:gd name="T24" fmla="*/ 2265 w 6130"/>
                  <a:gd name="T25" fmla="*/ 1316 h 6130"/>
                  <a:gd name="T26" fmla="*/ 2549 w 6130"/>
                  <a:gd name="T27" fmla="*/ 1599 h 6130"/>
                  <a:gd name="T28" fmla="*/ 2865 w 6130"/>
                  <a:gd name="T29" fmla="*/ 1599 h 6130"/>
                  <a:gd name="T30" fmla="*/ 2865 w 6130"/>
                  <a:gd name="T31" fmla="*/ 3065 h 6130"/>
                  <a:gd name="T32" fmla="*/ 1998 w 6130"/>
                  <a:gd name="T33" fmla="*/ 3065 h 6130"/>
                  <a:gd name="T34" fmla="*/ 600 w 6130"/>
                  <a:gd name="T35" fmla="*/ 4463 h 6130"/>
                  <a:gd name="T36" fmla="*/ 600 w 6130"/>
                  <a:gd name="T37" fmla="*/ 4531 h 6130"/>
                  <a:gd name="T38" fmla="*/ 283 w 6130"/>
                  <a:gd name="T39" fmla="*/ 4531 h 6130"/>
                  <a:gd name="T40" fmla="*/ 0 w 6130"/>
                  <a:gd name="T41" fmla="*/ 4814 h 6130"/>
                  <a:gd name="T42" fmla="*/ 0 w 6130"/>
                  <a:gd name="T43" fmla="*/ 5847 h 6130"/>
                  <a:gd name="T44" fmla="*/ 283 w 6130"/>
                  <a:gd name="T45" fmla="*/ 6130 h 6130"/>
                  <a:gd name="T46" fmla="*/ 1316 w 6130"/>
                  <a:gd name="T47" fmla="*/ 6130 h 6130"/>
                  <a:gd name="T48" fmla="*/ 1599 w 6130"/>
                  <a:gd name="T49" fmla="*/ 5847 h 6130"/>
                  <a:gd name="T50" fmla="*/ 1599 w 6130"/>
                  <a:gd name="T51" fmla="*/ 4814 h 6130"/>
                  <a:gd name="T52" fmla="*/ 1316 w 6130"/>
                  <a:gd name="T53" fmla="*/ 4531 h 6130"/>
                  <a:gd name="T54" fmla="*/ 999 w 6130"/>
                  <a:gd name="T55" fmla="*/ 4531 h 6130"/>
                  <a:gd name="T56" fmla="*/ 999 w 6130"/>
                  <a:gd name="T57" fmla="*/ 4463 h 6130"/>
                  <a:gd name="T58" fmla="*/ 1998 w 6130"/>
                  <a:gd name="T59" fmla="*/ 3465 h 6130"/>
                  <a:gd name="T60" fmla="*/ 2865 w 6130"/>
                  <a:gd name="T61" fmla="*/ 3465 h 6130"/>
                  <a:gd name="T62" fmla="*/ 2865 w 6130"/>
                  <a:gd name="T63" fmla="*/ 4531 h 6130"/>
                  <a:gd name="T64" fmla="*/ 2549 w 6130"/>
                  <a:gd name="T65" fmla="*/ 4531 h 6130"/>
                  <a:gd name="T66" fmla="*/ 2265 w 6130"/>
                  <a:gd name="T67" fmla="*/ 4814 h 6130"/>
                  <a:gd name="T68" fmla="*/ 2265 w 6130"/>
                  <a:gd name="T69" fmla="*/ 5847 h 6130"/>
                  <a:gd name="T70" fmla="*/ 2549 w 6130"/>
                  <a:gd name="T71" fmla="*/ 6130 h 6130"/>
                  <a:gd name="T72" fmla="*/ 3581 w 6130"/>
                  <a:gd name="T73" fmla="*/ 6130 h 6130"/>
                  <a:gd name="T74" fmla="*/ 3864 w 6130"/>
                  <a:gd name="T75" fmla="*/ 5847 h 6130"/>
                  <a:gd name="T76" fmla="*/ 3864 w 6130"/>
                  <a:gd name="T77" fmla="*/ 4814 h 6130"/>
                  <a:gd name="T78" fmla="*/ 3581 w 6130"/>
                  <a:gd name="T79" fmla="*/ 4531 h 6130"/>
                  <a:gd name="T80" fmla="*/ 3265 w 6130"/>
                  <a:gd name="T81" fmla="*/ 4531 h 6130"/>
                  <a:gd name="T82" fmla="*/ 3265 w 6130"/>
                  <a:gd name="T83" fmla="*/ 3465 h 6130"/>
                  <a:gd name="T84" fmla="*/ 4132 w 6130"/>
                  <a:gd name="T85" fmla="*/ 3465 h 6130"/>
                  <a:gd name="T86" fmla="*/ 5130 w 6130"/>
                  <a:gd name="T87" fmla="*/ 4463 h 6130"/>
                  <a:gd name="T88" fmla="*/ 5130 w 6130"/>
                  <a:gd name="T89" fmla="*/ 4531 h 6130"/>
                  <a:gd name="T90" fmla="*/ 4814 w 6130"/>
                  <a:gd name="T91" fmla="*/ 4531 h 6130"/>
                  <a:gd name="T92" fmla="*/ 4531 w 6130"/>
                  <a:gd name="T93" fmla="*/ 4814 h 6130"/>
                  <a:gd name="T94" fmla="*/ 4531 w 6130"/>
                  <a:gd name="T95" fmla="*/ 5847 h 6130"/>
                  <a:gd name="T96" fmla="*/ 4814 w 6130"/>
                  <a:gd name="T97" fmla="*/ 6130 h 6130"/>
                  <a:gd name="T98" fmla="*/ 5847 w 6130"/>
                  <a:gd name="T99" fmla="*/ 6130 h 6130"/>
                  <a:gd name="T100" fmla="*/ 6130 w 6130"/>
                  <a:gd name="T101" fmla="*/ 5847 h 6130"/>
                  <a:gd name="T102" fmla="*/ 6130 w 6130"/>
                  <a:gd name="T103" fmla="*/ 4814 h 6130"/>
                  <a:gd name="T104" fmla="*/ 5847 w 6130"/>
                  <a:gd name="T105" fmla="*/ 4531 h 6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130" h="6130">
                    <a:moveTo>
                      <a:pt x="5847" y="4531"/>
                    </a:moveTo>
                    <a:lnTo>
                      <a:pt x="5530" y="4531"/>
                    </a:lnTo>
                    <a:lnTo>
                      <a:pt x="5530" y="4463"/>
                    </a:lnTo>
                    <a:cubicBezTo>
                      <a:pt x="5530" y="3692"/>
                      <a:pt x="4903" y="3065"/>
                      <a:pt x="4132" y="3065"/>
                    </a:cubicBezTo>
                    <a:lnTo>
                      <a:pt x="3265" y="3065"/>
                    </a:lnTo>
                    <a:lnTo>
                      <a:pt x="3265" y="1599"/>
                    </a:lnTo>
                    <a:lnTo>
                      <a:pt x="3581" y="1599"/>
                    </a:lnTo>
                    <a:cubicBezTo>
                      <a:pt x="3738" y="1599"/>
                      <a:pt x="3864" y="1472"/>
                      <a:pt x="3864" y="1316"/>
                    </a:cubicBezTo>
                    <a:lnTo>
                      <a:pt x="3864" y="283"/>
                    </a:lnTo>
                    <a:cubicBezTo>
                      <a:pt x="3864" y="127"/>
                      <a:pt x="3738" y="0"/>
                      <a:pt x="3581" y="0"/>
                    </a:cubicBezTo>
                    <a:lnTo>
                      <a:pt x="2549" y="0"/>
                    </a:lnTo>
                    <a:cubicBezTo>
                      <a:pt x="2392" y="0"/>
                      <a:pt x="2265" y="127"/>
                      <a:pt x="2265" y="283"/>
                    </a:cubicBezTo>
                    <a:lnTo>
                      <a:pt x="2265" y="1316"/>
                    </a:lnTo>
                    <a:cubicBezTo>
                      <a:pt x="2265" y="1472"/>
                      <a:pt x="2392" y="1599"/>
                      <a:pt x="2549" y="1599"/>
                    </a:cubicBezTo>
                    <a:lnTo>
                      <a:pt x="2865" y="1599"/>
                    </a:lnTo>
                    <a:lnTo>
                      <a:pt x="2865" y="3065"/>
                    </a:lnTo>
                    <a:lnTo>
                      <a:pt x="1998" y="3065"/>
                    </a:lnTo>
                    <a:cubicBezTo>
                      <a:pt x="1227" y="3065"/>
                      <a:pt x="600" y="3692"/>
                      <a:pt x="600" y="4463"/>
                    </a:cubicBezTo>
                    <a:lnTo>
                      <a:pt x="600" y="4531"/>
                    </a:lnTo>
                    <a:lnTo>
                      <a:pt x="283" y="4531"/>
                    </a:lnTo>
                    <a:cubicBezTo>
                      <a:pt x="127" y="4531"/>
                      <a:pt x="0" y="4658"/>
                      <a:pt x="0" y="4814"/>
                    </a:cubicBezTo>
                    <a:lnTo>
                      <a:pt x="0" y="5847"/>
                    </a:lnTo>
                    <a:cubicBezTo>
                      <a:pt x="0" y="6003"/>
                      <a:pt x="127" y="6130"/>
                      <a:pt x="283" y="6130"/>
                    </a:cubicBezTo>
                    <a:lnTo>
                      <a:pt x="1316" y="6130"/>
                    </a:lnTo>
                    <a:cubicBezTo>
                      <a:pt x="1472" y="6130"/>
                      <a:pt x="1599" y="6003"/>
                      <a:pt x="1599" y="5847"/>
                    </a:cubicBezTo>
                    <a:lnTo>
                      <a:pt x="1599" y="4814"/>
                    </a:lnTo>
                    <a:cubicBezTo>
                      <a:pt x="1599" y="4658"/>
                      <a:pt x="1472" y="4531"/>
                      <a:pt x="1316" y="4531"/>
                    </a:cubicBezTo>
                    <a:lnTo>
                      <a:pt x="999" y="4531"/>
                    </a:lnTo>
                    <a:lnTo>
                      <a:pt x="999" y="4463"/>
                    </a:lnTo>
                    <a:cubicBezTo>
                      <a:pt x="999" y="3913"/>
                      <a:pt x="1447" y="3465"/>
                      <a:pt x="1998" y="3465"/>
                    </a:cubicBezTo>
                    <a:lnTo>
                      <a:pt x="2865" y="3465"/>
                    </a:lnTo>
                    <a:lnTo>
                      <a:pt x="2865" y="4531"/>
                    </a:lnTo>
                    <a:lnTo>
                      <a:pt x="2549" y="4531"/>
                    </a:lnTo>
                    <a:cubicBezTo>
                      <a:pt x="2392" y="4531"/>
                      <a:pt x="2265" y="4658"/>
                      <a:pt x="2265" y="4814"/>
                    </a:cubicBezTo>
                    <a:lnTo>
                      <a:pt x="2265" y="5847"/>
                    </a:lnTo>
                    <a:cubicBezTo>
                      <a:pt x="2265" y="6003"/>
                      <a:pt x="2392" y="6130"/>
                      <a:pt x="2549" y="6130"/>
                    </a:cubicBezTo>
                    <a:lnTo>
                      <a:pt x="3581" y="6130"/>
                    </a:lnTo>
                    <a:cubicBezTo>
                      <a:pt x="3738" y="6130"/>
                      <a:pt x="3864" y="6003"/>
                      <a:pt x="3864" y="5847"/>
                    </a:cubicBezTo>
                    <a:lnTo>
                      <a:pt x="3864" y="4814"/>
                    </a:lnTo>
                    <a:cubicBezTo>
                      <a:pt x="3864" y="4658"/>
                      <a:pt x="3738" y="4531"/>
                      <a:pt x="3581" y="4531"/>
                    </a:cubicBezTo>
                    <a:lnTo>
                      <a:pt x="3265" y="4531"/>
                    </a:lnTo>
                    <a:lnTo>
                      <a:pt x="3265" y="3465"/>
                    </a:lnTo>
                    <a:lnTo>
                      <a:pt x="4132" y="3465"/>
                    </a:lnTo>
                    <a:cubicBezTo>
                      <a:pt x="4683" y="3465"/>
                      <a:pt x="5130" y="3913"/>
                      <a:pt x="5130" y="4463"/>
                    </a:cubicBezTo>
                    <a:lnTo>
                      <a:pt x="5130" y="4531"/>
                    </a:lnTo>
                    <a:lnTo>
                      <a:pt x="4814" y="4531"/>
                    </a:lnTo>
                    <a:cubicBezTo>
                      <a:pt x="4657" y="4531"/>
                      <a:pt x="4531" y="4658"/>
                      <a:pt x="4531" y="4814"/>
                    </a:cubicBezTo>
                    <a:lnTo>
                      <a:pt x="4531" y="5847"/>
                    </a:lnTo>
                    <a:cubicBezTo>
                      <a:pt x="4531" y="6003"/>
                      <a:pt x="4657" y="6130"/>
                      <a:pt x="4814" y="6130"/>
                    </a:cubicBezTo>
                    <a:lnTo>
                      <a:pt x="5847" y="6130"/>
                    </a:lnTo>
                    <a:cubicBezTo>
                      <a:pt x="6003" y="6130"/>
                      <a:pt x="6130" y="6003"/>
                      <a:pt x="6130" y="5847"/>
                    </a:cubicBezTo>
                    <a:lnTo>
                      <a:pt x="6130" y="4814"/>
                    </a:lnTo>
                    <a:cubicBezTo>
                      <a:pt x="6130" y="4658"/>
                      <a:pt x="6003" y="4531"/>
                      <a:pt x="5847" y="4531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1200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22" name="íṥliḑe">
              <a:extLst>
                <a:ext uri="{FF2B5EF4-FFF2-40B4-BE49-F238E27FC236}">
                  <a16:creationId xmlns="" xmlns:a16="http://schemas.microsoft.com/office/drawing/2014/main" id="{EBABBA0F-3972-442D-9AD5-C635BA93F8B0}"/>
                </a:ext>
              </a:extLst>
            </p:cNvPr>
            <p:cNvSpPr txBox="1"/>
            <p:nvPr/>
          </p:nvSpPr>
          <p:spPr bwMode="gray">
            <a:xfrm>
              <a:off x="7260277" y="2323991"/>
              <a:ext cx="3827933" cy="84177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fontAlgn="auto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Best-Effort Service</a:t>
              </a:r>
            </a:p>
            <a:p>
              <a:pPr fontAlgn="auto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尽力而为服务模型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1" name="iŝļîďé">
            <a:extLst>
              <a:ext uri="{FF2B5EF4-FFF2-40B4-BE49-F238E27FC236}">
                <a16:creationId xmlns="" xmlns:a16="http://schemas.microsoft.com/office/drawing/2014/main" id="{4F3D845B-42C9-4140-8034-1E5F6E14E62C}"/>
              </a:ext>
            </a:extLst>
          </p:cNvPr>
          <p:cNvGrpSpPr/>
          <p:nvPr/>
        </p:nvGrpSpPr>
        <p:grpSpPr bwMode="gray">
          <a:xfrm>
            <a:off x="2911180" y="4086824"/>
            <a:ext cx="4458729" cy="756084"/>
            <a:chOff x="7060172" y="3266204"/>
            <a:chExt cx="4458729" cy="756084"/>
          </a:xfrm>
        </p:grpSpPr>
        <p:grpSp>
          <p:nvGrpSpPr>
            <p:cNvPr id="17" name="î$ḻiḑè">
              <a:extLst>
                <a:ext uri="{FF2B5EF4-FFF2-40B4-BE49-F238E27FC236}">
                  <a16:creationId xmlns="" xmlns:a16="http://schemas.microsoft.com/office/drawing/2014/main" id="{8460FEBA-C9D6-4613-AB66-E77169E9BF4A}"/>
                </a:ext>
              </a:extLst>
            </p:cNvPr>
            <p:cNvGrpSpPr/>
            <p:nvPr/>
          </p:nvGrpSpPr>
          <p:grpSpPr bwMode="gray">
            <a:xfrm>
              <a:off x="7060172" y="3381020"/>
              <a:ext cx="515058" cy="515058"/>
              <a:chOff x="7060172" y="3381020"/>
              <a:chExt cx="515058" cy="515058"/>
            </a:xfrm>
          </p:grpSpPr>
          <p:sp>
            <p:nvSpPr>
              <p:cNvPr id="19" name="ï$ļíḍé">
                <a:extLst>
                  <a:ext uri="{FF2B5EF4-FFF2-40B4-BE49-F238E27FC236}">
                    <a16:creationId xmlns="" xmlns:a16="http://schemas.microsoft.com/office/drawing/2014/main" id="{CCCA4C61-CC4F-4750-B324-31F55A7D3F8B}"/>
                  </a:ext>
                </a:extLst>
              </p:cNvPr>
              <p:cNvSpPr/>
              <p:nvPr/>
            </p:nvSpPr>
            <p:spPr bwMode="gray">
              <a:xfrm>
                <a:off x="7060172" y="3381020"/>
                <a:ext cx="515058" cy="515058"/>
              </a:xfrm>
              <a:prstGeom prst="ellipse">
                <a:avLst/>
              </a:prstGeom>
              <a:solidFill>
                <a:srgbClr val="56C4D2"/>
              </a:solidFill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endParaRPr lang="zh-CN" altLang="en-US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îslîďê">
                <a:extLst>
                  <a:ext uri="{FF2B5EF4-FFF2-40B4-BE49-F238E27FC236}">
                    <a16:creationId xmlns="" xmlns:a16="http://schemas.microsoft.com/office/drawing/2014/main" id="{4CDEF5AE-A9F2-4FCC-B031-95A3108D3BD7}"/>
                  </a:ext>
                </a:extLst>
              </p:cNvPr>
              <p:cNvSpPr/>
              <p:nvPr/>
            </p:nvSpPr>
            <p:spPr bwMode="gray">
              <a:xfrm>
                <a:off x="7204860" y="3503322"/>
                <a:ext cx="225680" cy="270454"/>
              </a:xfrm>
              <a:custGeom>
                <a:avLst/>
                <a:gdLst>
                  <a:gd name="T0" fmla="*/ 4643 w 4692"/>
                  <a:gd name="T1" fmla="*/ 1902 h 5631"/>
                  <a:gd name="T2" fmla="*/ 4148 w 4692"/>
                  <a:gd name="T3" fmla="*/ 111 h 5631"/>
                  <a:gd name="T4" fmla="*/ 3925 w 4692"/>
                  <a:gd name="T5" fmla="*/ 83 h 5631"/>
                  <a:gd name="T6" fmla="*/ 3855 w 4692"/>
                  <a:gd name="T7" fmla="*/ 120 h 5631"/>
                  <a:gd name="T8" fmla="*/ 2357 w 4692"/>
                  <a:gd name="T9" fmla="*/ 152 h 5631"/>
                  <a:gd name="T10" fmla="*/ 1484 w 4692"/>
                  <a:gd name="T11" fmla="*/ 310 h 5631"/>
                  <a:gd name="T12" fmla="*/ 593 w 4692"/>
                  <a:gd name="T13" fmla="*/ 1058 h 5631"/>
                  <a:gd name="T14" fmla="*/ 450 w 4692"/>
                  <a:gd name="T15" fmla="*/ 693 h 5631"/>
                  <a:gd name="T16" fmla="*/ 33 w 4692"/>
                  <a:gd name="T17" fmla="*/ 869 h 5631"/>
                  <a:gd name="T18" fmla="*/ 672 w 4692"/>
                  <a:gd name="T19" fmla="*/ 3296 h 5631"/>
                  <a:gd name="T20" fmla="*/ 1329 w 4692"/>
                  <a:gd name="T21" fmla="*/ 5431 h 5631"/>
                  <a:gd name="T22" fmla="*/ 1752 w 4692"/>
                  <a:gd name="T23" fmla="*/ 5316 h 5631"/>
                  <a:gd name="T24" fmla="*/ 1232 w 4692"/>
                  <a:gd name="T25" fmla="*/ 3221 h 5631"/>
                  <a:gd name="T26" fmla="*/ 2324 w 4692"/>
                  <a:gd name="T27" fmla="*/ 2452 h 5631"/>
                  <a:gd name="T28" fmla="*/ 3595 w 4692"/>
                  <a:gd name="T29" fmla="*/ 2496 h 5631"/>
                  <a:gd name="T30" fmla="*/ 4630 w 4692"/>
                  <a:gd name="T31" fmla="*/ 2062 h 5631"/>
                  <a:gd name="T32" fmla="*/ 4643 w 4692"/>
                  <a:gd name="T33" fmla="*/ 1902 h 5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92" h="5631">
                    <a:moveTo>
                      <a:pt x="4643" y="1902"/>
                    </a:moveTo>
                    <a:cubicBezTo>
                      <a:pt x="4692" y="1287"/>
                      <a:pt x="4371" y="664"/>
                      <a:pt x="4148" y="111"/>
                    </a:cubicBezTo>
                    <a:cubicBezTo>
                      <a:pt x="4109" y="15"/>
                      <a:pt x="3967" y="0"/>
                      <a:pt x="3925" y="83"/>
                    </a:cubicBezTo>
                    <a:cubicBezTo>
                      <a:pt x="3900" y="87"/>
                      <a:pt x="3876" y="99"/>
                      <a:pt x="3855" y="120"/>
                    </a:cubicBezTo>
                    <a:cubicBezTo>
                      <a:pt x="3434" y="537"/>
                      <a:pt x="2826" y="168"/>
                      <a:pt x="2357" y="152"/>
                    </a:cubicBezTo>
                    <a:cubicBezTo>
                      <a:pt x="2058" y="141"/>
                      <a:pt x="1762" y="197"/>
                      <a:pt x="1484" y="310"/>
                    </a:cubicBezTo>
                    <a:cubicBezTo>
                      <a:pt x="1102" y="465"/>
                      <a:pt x="793" y="716"/>
                      <a:pt x="593" y="1058"/>
                    </a:cubicBezTo>
                    <a:cubicBezTo>
                      <a:pt x="547" y="936"/>
                      <a:pt x="503" y="812"/>
                      <a:pt x="450" y="693"/>
                    </a:cubicBezTo>
                    <a:cubicBezTo>
                      <a:pt x="335" y="435"/>
                      <a:pt x="0" y="638"/>
                      <a:pt x="33" y="869"/>
                    </a:cubicBezTo>
                    <a:cubicBezTo>
                      <a:pt x="149" y="1690"/>
                      <a:pt x="447" y="2498"/>
                      <a:pt x="672" y="3296"/>
                    </a:cubicBezTo>
                    <a:cubicBezTo>
                      <a:pt x="873" y="4010"/>
                      <a:pt x="1024" y="4753"/>
                      <a:pt x="1329" y="5431"/>
                    </a:cubicBezTo>
                    <a:cubicBezTo>
                      <a:pt x="1419" y="5631"/>
                      <a:pt x="1778" y="5537"/>
                      <a:pt x="1752" y="5316"/>
                    </a:cubicBezTo>
                    <a:cubicBezTo>
                      <a:pt x="1668" y="4605"/>
                      <a:pt x="1436" y="3910"/>
                      <a:pt x="1232" y="3221"/>
                    </a:cubicBezTo>
                    <a:cubicBezTo>
                      <a:pt x="1511" y="2867"/>
                      <a:pt x="1886" y="2574"/>
                      <a:pt x="2324" y="2452"/>
                    </a:cubicBezTo>
                    <a:cubicBezTo>
                      <a:pt x="2767" y="2329"/>
                      <a:pt x="3157" y="2451"/>
                      <a:pt x="3595" y="2496"/>
                    </a:cubicBezTo>
                    <a:cubicBezTo>
                      <a:pt x="4021" y="2540"/>
                      <a:pt x="4409" y="2452"/>
                      <a:pt x="4630" y="2062"/>
                    </a:cubicBezTo>
                    <a:cubicBezTo>
                      <a:pt x="4663" y="2003"/>
                      <a:pt x="4663" y="1947"/>
                      <a:pt x="4643" y="1902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1200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8" name="îṡḷîḍê">
              <a:extLst>
                <a:ext uri="{FF2B5EF4-FFF2-40B4-BE49-F238E27FC236}">
                  <a16:creationId xmlns="" xmlns:a16="http://schemas.microsoft.com/office/drawing/2014/main" id="{DDE81FB3-9DD7-438E-A2AE-6D50B44C6678}"/>
                </a:ext>
              </a:extLst>
            </p:cNvPr>
            <p:cNvSpPr txBox="1"/>
            <p:nvPr/>
          </p:nvSpPr>
          <p:spPr bwMode="gray">
            <a:xfrm>
              <a:off x="7690968" y="3266204"/>
              <a:ext cx="3827933" cy="75608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fontAlgn="auto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Intergrate Service</a:t>
              </a:r>
            </a:p>
            <a:p>
              <a:pPr fontAlgn="auto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综合服务模型，简称</a:t>
              </a:r>
              <a:r>
                <a:rPr lang="en-US" altLang="zh-CN" sz="16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IntServ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2" name="ïś1ïḓè">
            <a:extLst>
              <a:ext uri="{FF2B5EF4-FFF2-40B4-BE49-F238E27FC236}">
                <a16:creationId xmlns="" xmlns:a16="http://schemas.microsoft.com/office/drawing/2014/main" id="{7DE51A1D-153C-48D8-A8B8-A8D099A7AE4F}"/>
              </a:ext>
            </a:extLst>
          </p:cNvPr>
          <p:cNvGrpSpPr/>
          <p:nvPr/>
        </p:nvGrpSpPr>
        <p:grpSpPr bwMode="gray">
          <a:xfrm>
            <a:off x="2912289" y="5226816"/>
            <a:ext cx="4458729" cy="846391"/>
            <a:chOff x="6629481" y="4145117"/>
            <a:chExt cx="4458729" cy="846391"/>
          </a:xfrm>
        </p:grpSpPr>
        <p:grpSp>
          <p:nvGrpSpPr>
            <p:cNvPr id="13" name="íŝḻïḍê">
              <a:extLst>
                <a:ext uri="{FF2B5EF4-FFF2-40B4-BE49-F238E27FC236}">
                  <a16:creationId xmlns="" xmlns:a16="http://schemas.microsoft.com/office/drawing/2014/main" id="{024D55D2-C551-423A-A128-60C004EAAEB2}"/>
                </a:ext>
              </a:extLst>
            </p:cNvPr>
            <p:cNvGrpSpPr/>
            <p:nvPr/>
          </p:nvGrpSpPr>
          <p:grpSpPr bwMode="gray">
            <a:xfrm>
              <a:off x="6629481" y="4278884"/>
              <a:ext cx="515058" cy="515058"/>
              <a:chOff x="6629481" y="4278884"/>
              <a:chExt cx="515058" cy="515058"/>
            </a:xfrm>
          </p:grpSpPr>
          <p:sp>
            <p:nvSpPr>
              <p:cNvPr id="15" name="ïśļiḋè">
                <a:extLst>
                  <a:ext uri="{FF2B5EF4-FFF2-40B4-BE49-F238E27FC236}">
                    <a16:creationId xmlns="" xmlns:a16="http://schemas.microsoft.com/office/drawing/2014/main" id="{914692B1-DCC1-4939-84A2-265CA61BBD1A}"/>
                  </a:ext>
                </a:extLst>
              </p:cNvPr>
              <p:cNvSpPr/>
              <p:nvPr/>
            </p:nvSpPr>
            <p:spPr bwMode="gray">
              <a:xfrm>
                <a:off x="6629481" y="4278884"/>
                <a:ext cx="515058" cy="515058"/>
              </a:xfrm>
              <a:prstGeom prst="ellipse">
                <a:avLst/>
              </a:prstGeom>
              <a:solidFill>
                <a:srgbClr val="56C4D2"/>
              </a:solidFill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endParaRPr lang="zh-CN" altLang="en-US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îṥḷïdé">
                <a:extLst>
                  <a:ext uri="{FF2B5EF4-FFF2-40B4-BE49-F238E27FC236}">
                    <a16:creationId xmlns="" xmlns:a16="http://schemas.microsoft.com/office/drawing/2014/main" id="{25CE2B23-E161-439E-B9AA-78D959A9C954}"/>
                  </a:ext>
                </a:extLst>
              </p:cNvPr>
              <p:cNvSpPr/>
              <p:nvPr/>
            </p:nvSpPr>
            <p:spPr bwMode="gray">
              <a:xfrm>
                <a:off x="6755464" y="4394296"/>
                <a:ext cx="263092" cy="284236"/>
              </a:xfrm>
              <a:custGeom>
                <a:avLst/>
                <a:gdLst>
                  <a:gd name="T0" fmla="*/ 371 w 437"/>
                  <a:gd name="T1" fmla="*/ 239 h 473"/>
                  <a:gd name="T2" fmla="*/ 354 w 437"/>
                  <a:gd name="T3" fmla="*/ 222 h 473"/>
                  <a:gd name="T4" fmla="*/ 354 w 437"/>
                  <a:gd name="T5" fmla="*/ 17 h 473"/>
                  <a:gd name="T6" fmla="*/ 371 w 437"/>
                  <a:gd name="T7" fmla="*/ 0 h 473"/>
                  <a:gd name="T8" fmla="*/ 371 w 437"/>
                  <a:gd name="T9" fmla="*/ 239 h 473"/>
                  <a:gd name="T10" fmla="*/ 324 w 437"/>
                  <a:gd name="T11" fmla="*/ 192 h 473"/>
                  <a:gd name="T12" fmla="*/ 341 w 437"/>
                  <a:gd name="T13" fmla="*/ 209 h 473"/>
                  <a:gd name="T14" fmla="*/ 341 w 437"/>
                  <a:gd name="T15" fmla="*/ 30 h 473"/>
                  <a:gd name="T16" fmla="*/ 324 w 437"/>
                  <a:gd name="T17" fmla="*/ 47 h 473"/>
                  <a:gd name="T18" fmla="*/ 324 w 437"/>
                  <a:gd name="T19" fmla="*/ 192 h 473"/>
                  <a:gd name="T20" fmla="*/ 310 w 437"/>
                  <a:gd name="T21" fmla="*/ 178 h 473"/>
                  <a:gd name="T22" fmla="*/ 310 w 437"/>
                  <a:gd name="T23" fmla="*/ 61 h 473"/>
                  <a:gd name="T24" fmla="*/ 293 w 437"/>
                  <a:gd name="T25" fmla="*/ 78 h 473"/>
                  <a:gd name="T26" fmla="*/ 293 w 437"/>
                  <a:gd name="T27" fmla="*/ 161 h 473"/>
                  <a:gd name="T28" fmla="*/ 310 w 437"/>
                  <a:gd name="T29" fmla="*/ 178 h 473"/>
                  <a:gd name="T30" fmla="*/ 83 w 437"/>
                  <a:gd name="T31" fmla="*/ 17 h 473"/>
                  <a:gd name="T32" fmla="*/ 66 w 437"/>
                  <a:gd name="T33" fmla="*/ 0 h 473"/>
                  <a:gd name="T34" fmla="*/ 66 w 437"/>
                  <a:gd name="T35" fmla="*/ 239 h 473"/>
                  <a:gd name="T36" fmla="*/ 83 w 437"/>
                  <a:gd name="T37" fmla="*/ 222 h 473"/>
                  <a:gd name="T38" fmla="*/ 83 w 437"/>
                  <a:gd name="T39" fmla="*/ 17 h 473"/>
                  <a:gd name="T40" fmla="*/ 96 w 437"/>
                  <a:gd name="T41" fmla="*/ 209 h 473"/>
                  <a:gd name="T42" fmla="*/ 113 w 437"/>
                  <a:gd name="T43" fmla="*/ 192 h 473"/>
                  <a:gd name="T44" fmla="*/ 113 w 437"/>
                  <a:gd name="T45" fmla="*/ 47 h 473"/>
                  <a:gd name="T46" fmla="*/ 96 w 437"/>
                  <a:gd name="T47" fmla="*/ 30 h 473"/>
                  <a:gd name="T48" fmla="*/ 96 w 437"/>
                  <a:gd name="T49" fmla="*/ 209 h 473"/>
                  <a:gd name="T50" fmla="*/ 127 w 437"/>
                  <a:gd name="T51" fmla="*/ 178 h 473"/>
                  <a:gd name="T52" fmla="*/ 144 w 437"/>
                  <a:gd name="T53" fmla="*/ 161 h 473"/>
                  <a:gd name="T54" fmla="*/ 144 w 437"/>
                  <a:gd name="T55" fmla="*/ 78 h 473"/>
                  <a:gd name="T56" fmla="*/ 127 w 437"/>
                  <a:gd name="T57" fmla="*/ 61 h 473"/>
                  <a:gd name="T58" fmla="*/ 127 w 437"/>
                  <a:gd name="T59" fmla="*/ 178 h 473"/>
                  <a:gd name="T60" fmla="*/ 318 w 437"/>
                  <a:gd name="T61" fmla="*/ 422 h 473"/>
                  <a:gd name="T62" fmla="*/ 258 w 437"/>
                  <a:gd name="T63" fmla="*/ 422 h 473"/>
                  <a:gd name="T64" fmla="*/ 223 w 437"/>
                  <a:gd name="T65" fmla="*/ 165 h 473"/>
                  <a:gd name="T66" fmla="*/ 252 w 437"/>
                  <a:gd name="T67" fmla="*/ 132 h 473"/>
                  <a:gd name="T68" fmla="*/ 218 w 437"/>
                  <a:gd name="T69" fmla="*/ 98 h 473"/>
                  <a:gd name="T70" fmla="*/ 185 w 437"/>
                  <a:gd name="T71" fmla="*/ 132 h 473"/>
                  <a:gd name="T72" fmla="*/ 214 w 437"/>
                  <a:gd name="T73" fmla="*/ 165 h 473"/>
                  <a:gd name="T74" fmla="*/ 179 w 437"/>
                  <a:gd name="T75" fmla="*/ 422 h 473"/>
                  <a:gd name="T76" fmla="*/ 119 w 437"/>
                  <a:gd name="T77" fmla="*/ 422 h 473"/>
                  <a:gd name="T78" fmla="*/ 94 w 437"/>
                  <a:gd name="T79" fmla="*/ 447 h 473"/>
                  <a:gd name="T80" fmla="*/ 119 w 437"/>
                  <a:gd name="T81" fmla="*/ 473 h 473"/>
                  <a:gd name="T82" fmla="*/ 318 w 437"/>
                  <a:gd name="T83" fmla="*/ 473 h 473"/>
                  <a:gd name="T84" fmla="*/ 343 w 437"/>
                  <a:gd name="T85" fmla="*/ 447 h 473"/>
                  <a:gd name="T86" fmla="*/ 318 w 437"/>
                  <a:gd name="T87" fmla="*/ 422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37" h="473">
                    <a:moveTo>
                      <a:pt x="371" y="239"/>
                    </a:moveTo>
                    <a:lnTo>
                      <a:pt x="354" y="222"/>
                    </a:lnTo>
                    <a:cubicBezTo>
                      <a:pt x="410" y="165"/>
                      <a:pt x="410" y="74"/>
                      <a:pt x="354" y="17"/>
                    </a:cubicBezTo>
                    <a:lnTo>
                      <a:pt x="371" y="0"/>
                    </a:lnTo>
                    <a:cubicBezTo>
                      <a:pt x="437" y="66"/>
                      <a:pt x="437" y="173"/>
                      <a:pt x="371" y="239"/>
                    </a:cubicBezTo>
                    <a:close/>
                    <a:moveTo>
                      <a:pt x="324" y="192"/>
                    </a:moveTo>
                    <a:lnTo>
                      <a:pt x="341" y="209"/>
                    </a:lnTo>
                    <a:cubicBezTo>
                      <a:pt x="390" y="160"/>
                      <a:pt x="390" y="79"/>
                      <a:pt x="341" y="30"/>
                    </a:cubicBezTo>
                    <a:lnTo>
                      <a:pt x="324" y="47"/>
                    </a:lnTo>
                    <a:cubicBezTo>
                      <a:pt x="364" y="87"/>
                      <a:pt x="364" y="152"/>
                      <a:pt x="324" y="192"/>
                    </a:cubicBezTo>
                    <a:close/>
                    <a:moveTo>
                      <a:pt x="310" y="178"/>
                    </a:moveTo>
                    <a:cubicBezTo>
                      <a:pt x="343" y="146"/>
                      <a:pt x="343" y="93"/>
                      <a:pt x="310" y="61"/>
                    </a:cubicBezTo>
                    <a:lnTo>
                      <a:pt x="293" y="78"/>
                    </a:lnTo>
                    <a:cubicBezTo>
                      <a:pt x="316" y="101"/>
                      <a:pt x="316" y="138"/>
                      <a:pt x="293" y="161"/>
                    </a:cubicBezTo>
                    <a:lnTo>
                      <a:pt x="310" y="178"/>
                    </a:lnTo>
                    <a:close/>
                    <a:moveTo>
                      <a:pt x="83" y="17"/>
                    </a:moveTo>
                    <a:lnTo>
                      <a:pt x="66" y="0"/>
                    </a:lnTo>
                    <a:cubicBezTo>
                      <a:pt x="0" y="66"/>
                      <a:pt x="0" y="173"/>
                      <a:pt x="66" y="239"/>
                    </a:cubicBezTo>
                    <a:lnTo>
                      <a:pt x="83" y="222"/>
                    </a:lnTo>
                    <a:cubicBezTo>
                      <a:pt x="27" y="165"/>
                      <a:pt x="27" y="74"/>
                      <a:pt x="83" y="17"/>
                    </a:cubicBezTo>
                    <a:close/>
                    <a:moveTo>
                      <a:pt x="96" y="209"/>
                    </a:moveTo>
                    <a:lnTo>
                      <a:pt x="113" y="192"/>
                    </a:lnTo>
                    <a:cubicBezTo>
                      <a:pt x="73" y="152"/>
                      <a:pt x="73" y="87"/>
                      <a:pt x="113" y="47"/>
                    </a:cubicBezTo>
                    <a:lnTo>
                      <a:pt x="96" y="30"/>
                    </a:lnTo>
                    <a:cubicBezTo>
                      <a:pt x="46" y="79"/>
                      <a:pt x="46" y="160"/>
                      <a:pt x="96" y="209"/>
                    </a:cubicBezTo>
                    <a:close/>
                    <a:moveTo>
                      <a:pt x="127" y="178"/>
                    </a:moveTo>
                    <a:lnTo>
                      <a:pt x="144" y="161"/>
                    </a:lnTo>
                    <a:cubicBezTo>
                      <a:pt x="121" y="138"/>
                      <a:pt x="121" y="101"/>
                      <a:pt x="144" y="78"/>
                    </a:cubicBezTo>
                    <a:lnTo>
                      <a:pt x="127" y="61"/>
                    </a:lnTo>
                    <a:cubicBezTo>
                      <a:pt x="94" y="93"/>
                      <a:pt x="94" y="146"/>
                      <a:pt x="127" y="178"/>
                    </a:cubicBezTo>
                    <a:close/>
                    <a:moveTo>
                      <a:pt x="318" y="422"/>
                    </a:moveTo>
                    <a:lnTo>
                      <a:pt x="258" y="422"/>
                    </a:lnTo>
                    <a:lnTo>
                      <a:pt x="223" y="165"/>
                    </a:lnTo>
                    <a:cubicBezTo>
                      <a:pt x="239" y="163"/>
                      <a:pt x="252" y="149"/>
                      <a:pt x="252" y="132"/>
                    </a:cubicBezTo>
                    <a:cubicBezTo>
                      <a:pt x="252" y="113"/>
                      <a:pt x="237" y="98"/>
                      <a:pt x="218" y="98"/>
                    </a:cubicBezTo>
                    <a:cubicBezTo>
                      <a:pt x="200" y="98"/>
                      <a:pt x="185" y="113"/>
                      <a:pt x="185" y="132"/>
                    </a:cubicBezTo>
                    <a:cubicBezTo>
                      <a:pt x="185" y="149"/>
                      <a:pt x="198" y="163"/>
                      <a:pt x="214" y="165"/>
                    </a:cubicBezTo>
                    <a:lnTo>
                      <a:pt x="179" y="422"/>
                    </a:lnTo>
                    <a:lnTo>
                      <a:pt x="119" y="422"/>
                    </a:lnTo>
                    <a:cubicBezTo>
                      <a:pt x="105" y="422"/>
                      <a:pt x="94" y="433"/>
                      <a:pt x="94" y="447"/>
                    </a:cubicBezTo>
                    <a:cubicBezTo>
                      <a:pt x="94" y="461"/>
                      <a:pt x="105" y="473"/>
                      <a:pt x="119" y="473"/>
                    </a:cubicBezTo>
                    <a:lnTo>
                      <a:pt x="318" y="473"/>
                    </a:lnTo>
                    <a:cubicBezTo>
                      <a:pt x="332" y="473"/>
                      <a:pt x="343" y="461"/>
                      <a:pt x="343" y="447"/>
                    </a:cubicBezTo>
                    <a:cubicBezTo>
                      <a:pt x="343" y="433"/>
                      <a:pt x="332" y="422"/>
                      <a:pt x="318" y="422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1200" b="1" i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4" name="îṧlîḋè">
              <a:extLst>
                <a:ext uri="{FF2B5EF4-FFF2-40B4-BE49-F238E27FC236}">
                  <a16:creationId xmlns="" xmlns:a16="http://schemas.microsoft.com/office/drawing/2014/main" id="{D12B9F63-3367-4C6D-82DC-5FA79C66AE90}"/>
                </a:ext>
              </a:extLst>
            </p:cNvPr>
            <p:cNvSpPr txBox="1"/>
            <p:nvPr/>
          </p:nvSpPr>
          <p:spPr bwMode="gray">
            <a:xfrm>
              <a:off x="7260277" y="4145117"/>
              <a:ext cx="3827933" cy="84639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fontAlgn="auto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Differentiated Service</a:t>
              </a:r>
            </a:p>
            <a:p>
              <a:pPr fontAlgn="auto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区分服务模型，简称</a:t>
              </a:r>
              <a:r>
                <a:rPr lang="en-US" altLang="zh-CN" sz="16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DiffServ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1A0CFE79-E356-4F21-A695-0EC9F3E8C574}"/>
              </a:ext>
            </a:extLst>
          </p:cNvPr>
          <p:cNvSpPr txBox="1"/>
          <p:nvPr/>
        </p:nvSpPr>
        <p:spPr bwMode="gray">
          <a:xfrm>
            <a:off x="6510210" y="2995173"/>
            <a:ext cx="496453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应用程序可以在任何时候，发出任意数量的报文。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网络尽最大可能发送报文，不承诺时延、可靠性。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A7A400C4-4896-41EE-BCA8-C410341817C6}"/>
              </a:ext>
            </a:extLst>
          </p:cNvPr>
          <p:cNvSpPr txBox="1"/>
          <p:nvPr/>
        </p:nvSpPr>
        <p:spPr bwMode="gray">
          <a:xfrm>
            <a:off x="6510211" y="4087595"/>
            <a:ext cx="496454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应用程序在发送报文前，需要向网络申请特定的服务。</a:t>
            </a:r>
          </a:p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网络为应用预留网络资源，例如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RSVP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5EE81D04-237E-4354-8AB0-8F3477336081}"/>
              </a:ext>
            </a:extLst>
          </p:cNvPr>
          <p:cNvSpPr txBox="1"/>
          <p:nvPr/>
        </p:nvSpPr>
        <p:spPr bwMode="gray">
          <a:xfrm>
            <a:off x="6510210" y="5117618"/>
            <a:ext cx="5059489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/>
            </a:lvl1pPr>
          </a:lstStyle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将网络中的流量分成多个类。为每个类定义相应的处理行为，使其拥有不同的优先转发、丢包率、时延等。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网络中被最为广泛地应用。</a:t>
            </a:r>
          </a:p>
        </p:txBody>
      </p:sp>
      <p:sp>
        <p:nvSpPr>
          <p:cNvPr id="32" name="五边形 31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燕尾形 32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燕尾形 33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353339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ACB95F0-AD7B-48E1-AFE8-033EE2929B1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基于</a:t>
            </a:r>
            <a:r>
              <a:rPr lang="en-US" altLang="zh-CN">
                <a:sym typeface="Huawei Sans" panose="020C0503030203020204" pitchFamily="34" charset="0"/>
              </a:rPr>
              <a:t>DiffServ</a:t>
            </a:r>
            <a:r>
              <a:rPr lang="zh-CN" altLang="en-US">
                <a:sym typeface="Huawei Sans" panose="020C0503030203020204" pitchFamily="34" charset="0"/>
              </a:rPr>
              <a:t>模型的</a:t>
            </a:r>
            <a:r>
              <a:rPr lang="en-US" altLang="zh-CN">
                <a:sym typeface="Huawei Sans" panose="020C0503030203020204" pitchFamily="34" charset="0"/>
              </a:rPr>
              <a:t>QoS</a:t>
            </a:r>
            <a:r>
              <a:rPr lang="zh-CN" altLang="en-US">
                <a:sym typeface="Huawei Sans" panose="020C0503030203020204" pitchFamily="34" charset="0"/>
              </a:rPr>
              <a:t>组件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32CF292-571A-4B5F-8013-0DBEE3898C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基于</a:t>
            </a:r>
            <a:r>
              <a:rPr lang="en-US" altLang="zh-CN" sz="1800" dirty="0" err="1">
                <a:sym typeface="Huawei Sans" panose="020C0503030203020204" pitchFamily="34" charset="0"/>
              </a:rPr>
              <a:t>DiffServ</a:t>
            </a:r>
            <a:r>
              <a:rPr lang="zh-CN" altLang="en-US" sz="1800" dirty="0">
                <a:sym typeface="Huawei Sans" panose="020C0503030203020204" pitchFamily="34" charset="0"/>
              </a:rPr>
              <a:t>模型的</a:t>
            </a:r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有四大组件：流分类和标记（</a:t>
            </a:r>
            <a:r>
              <a:rPr lang="en-US" altLang="zh-CN" sz="1800" dirty="0">
                <a:sym typeface="Huawei Sans" panose="020C0503030203020204" pitchFamily="34" charset="0"/>
              </a:rPr>
              <a:t>Classification and Marking</a:t>
            </a:r>
            <a:r>
              <a:rPr lang="zh-CN" altLang="en-US" sz="1800" dirty="0">
                <a:sym typeface="Huawei Sans" panose="020C0503030203020204" pitchFamily="34" charset="0"/>
              </a:rPr>
              <a:t>）、流量监管和整形（</a:t>
            </a:r>
            <a:r>
              <a:rPr lang="en-US" altLang="zh-CN" sz="1800" dirty="0">
                <a:sym typeface="Huawei Sans" panose="020C0503030203020204" pitchFamily="34" charset="0"/>
              </a:rPr>
              <a:t>Policing and Shaping</a:t>
            </a:r>
            <a:r>
              <a:rPr lang="zh-CN" altLang="en-US" sz="1800" dirty="0">
                <a:sym typeface="Huawei Sans" panose="020C0503030203020204" pitchFamily="34" charset="0"/>
              </a:rPr>
              <a:t>）、拥塞管理（</a:t>
            </a:r>
            <a:r>
              <a:rPr lang="en-US" altLang="zh-CN" sz="1800" dirty="0">
                <a:sym typeface="Huawei Sans" panose="020C0503030203020204" pitchFamily="34" charset="0"/>
              </a:rPr>
              <a:t>Congestion management</a:t>
            </a:r>
            <a:r>
              <a:rPr lang="zh-CN" altLang="en-US" sz="1800" dirty="0">
                <a:sym typeface="Huawei Sans" panose="020C0503030203020204" pitchFamily="34" charset="0"/>
              </a:rPr>
              <a:t>）和拥塞避免（</a:t>
            </a:r>
            <a:r>
              <a:rPr lang="en-US" altLang="zh-CN" sz="1800" dirty="0">
                <a:sym typeface="Huawei Sans" panose="020C0503030203020204" pitchFamily="34" charset="0"/>
              </a:rPr>
              <a:t>Congestion avoidance</a:t>
            </a:r>
            <a:r>
              <a:rPr lang="zh-CN" altLang="en-US" sz="1800" dirty="0">
                <a:sym typeface="Huawei Sans" panose="020C0503030203020204" pitchFamily="34" charset="0"/>
              </a:rPr>
              <a:t>）：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流分类和标记：要实现差分服务，需要将数据包分为不同的类别或者设置为不同的优先级。将数据包分为不同的类别，称为流分类。流分类并不修改原来的数据包。将数据包设置为不同的优先级称为标记，而标记会修改原来的数据包。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流量限速（流量监管和整形）：是指将业务流量限制在特定的速率。当业务流量超过额定速率时，超过的流量将被丢弃或缓存。其中，控制流量接收速率的技术称为流量监管，控制流量发出速率的技术称为流量整形。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拥塞管理：在网络发生拥塞时，将报文放入队列中缓存，并采取某种调度算法安排报文的转发次序。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拥塞避免：监督网络资源的使用情况，当发现拥塞有加剧的趋势时采取主动丢弃报文的策略，从而避免网络过载。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流分类和标记是实现差分服务的前提和基础。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流量监管、流量整形、拥塞管理和拥塞避免是从不同方面对网络流量实施控制。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" name="五边形 6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7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燕尾形 8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393091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2833BF2-41AB-492A-84C4-749F361D1C8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华为设备</a:t>
            </a:r>
            <a:r>
              <a:rPr lang="en-US" altLang="zh-CN">
                <a:sym typeface="Huawei Sans" panose="020C0503030203020204" pitchFamily="34" charset="0"/>
              </a:rPr>
              <a:t>QoS</a:t>
            </a:r>
            <a:r>
              <a:rPr lang="zh-CN" altLang="en-US">
                <a:sym typeface="Huawei Sans" panose="020C0503030203020204" pitchFamily="34" charset="0"/>
              </a:rPr>
              <a:t>的处理顺序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E697186-FC56-450D-9922-3C01308DF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涉及四大组件：流分类和标记（简单流分类、复杂流分类）、流量限速（</a:t>
            </a:r>
            <a:r>
              <a:rPr lang="en-US" altLang="zh-CN" sz="1600" dirty="0">
                <a:sym typeface="Huawei Sans" panose="020C0503030203020204" pitchFamily="34" charset="0"/>
              </a:rPr>
              <a:t>CAR</a:t>
            </a:r>
            <a:r>
              <a:rPr lang="zh-CN" altLang="en-US" sz="1600" dirty="0">
                <a:sym typeface="Huawei Sans" panose="020C0503030203020204" pitchFamily="34" charset="0"/>
              </a:rPr>
              <a:t>和流量整形）、拥塞管理（队列调度）、拥塞避免（丢弃策略）。这四大组件在华为设备上是按一定的顺序进行处理的。</a:t>
            </a:r>
          </a:p>
        </p:txBody>
      </p:sp>
      <p:sp>
        <p:nvSpPr>
          <p:cNvPr id="6" name="圆角矩形 38">
            <a:extLst>
              <a:ext uri="{FF2B5EF4-FFF2-40B4-BE49-F238E27FC236}">
                <a16:creationId xmlns="" xmlns:a16="http://schemas.microsoft.com/office/drawing/2014/main" id="{4ED3F40D-39F5-4C11-9B46-E6D09776B2AC}"/>
              </a:ext>
            </a:extLst>
          </p:cNvPr>
          <p:cNvSpPr>
            <a:spLocks/>
          </p:cNvSpPr>
          <p:nvPr/>
        </p:nvSpPr>
        <p:spPr bwMode="gray">
          <a:xfrm>
            <a:off x="1482765" y="1916007"/>
            <a:ext cx="8961635" cy="2081134"/>
          </a:xfrm>
          <a:prstGeom prst="roundRect">
            <a:avLst>
              <a:gd name="adj" fmla="val 4839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19">
            <a:extLst>
              <a:ext uri="{FF2B5EF4-FFF2-40B4-BE49-F238E27FC236}">
                <a16:creationId xmlns="" xmlns:a16="http://schemas.microsoft.com/office/drawing/2014/main" id="{1FBE85F0-85BB-42A9-BAF5-9F556CCD2707}"/>
              </a:ext>
            </a:extLst>
          </p:cNvPr>
          <p:cNvSpPr/>
          <p:nvPr/>
        </p:nvSpPr>
        <p:spPr bwMode="gray">
          <a:xfrm>
            <a:off x="1900043" y="2577915"/>
            <a:ext cx="809473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光电信号接收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20">
            <a:extLst>
              <a:ext uri="{FF2B5EF4-FFF2-40B4-BE49-F238E27FC236}">
                <a16:creationId xmlns="" xmlns:a16="http://schemas.microsoft.com/office/drawing/2014/main" id="{7ED9CFBB-E756-46D2-B316-676E4FE1F64C}"/>
              </a:ext>
            </a:extLst>
          </p:cNvPr>
          <p:cNvSpPr/>
          <p:nvPr/>
        </p:nvSpPr>
        <p:spPr bwMode="gray">
          <a:xfrm>
            <a:off x="4202417" y="2588159"/>
            <a:ext cx="791853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简单流分类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圆角矩形 75">
            <a:extLst>
              <a:ext uri="{FF2B5EF4-FFF2-40B4-BE49-F238E27FC236}">
                <a16:creationId xmlns="" xmlns:a16="http://schemas.microsoft.com/office/drawing/2014/main" id="{115F1608-CABE-4DF1-86A4-FDB3CDD33D7B}"/>
              </a:ext>
            </a:extLst>
          </p:cNvPr>
          <p:cNvSpPr/>
          <p:nvPr/>
        </p:nvSpPr>
        <p:spPr bwMode="gray">
          <a:xfrm>
            <a:off x="1714786" y="2356318"/>
            <a:ext cx="1176477" cy="1438266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75">
            <a:extLst>
              <a:ext uri="{FF2B5EF4-FFF2-40B4-BE49-F238E27FC236}">
                <a16:creationId xmlns="" xmlns:a16="http://schemas.microsoft.com/office/drawing/2014/main" id="{1DD120C9-C08E-4BD7-B12B-352E045EFCAD}"/>
              </a:ext>
            </a:extLst>
          </p:cNvPr>
          <p:cNvSpPr/>
          <p:nvPr/>
        </p:nvSpPr>
        <p:spPr bwMode="gray">
          <a:xfrm>
            <a:off x="3209941" y="2354225"/>
            <a:ext cx="4972034" cy="1422917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Rectangle 85">
            <a:extLst>
              <a:ext uri="{FF2B5EF4-FFF2-40B4-BE49-F238E27FC236}">
                <a16:creationId xmlns="" xmlns:a16="http://schemas.microsoft.com/office/drawing/2014/main" id="{7764372F-0C2D-45E3-8A63-7B1CF305D8F5}"/>
              </a:ext>
            </a:extLst>
          </p:cNvPr>
          <p:cNvSpPr/>
          <p:nvPr/>
        </p:nvSpPr>
        <p:spPr bwMode="gray">
          <a:xfrm>
            <a:off x="1812633" y="3349688"/>
            <a:ext cx="953580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599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接口卡</a:t>
            </a:r>
            <a:endParaRPr lang="en-US" altLang="zh-CN" sz="1599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Rectangle 85">
            <a:extLst>
              <a:ext uri="{FF2B5EF4-FFF2-40B4-BE49-F238E27FC236}">
                <a16:creationId xmlns="" xmlns:a16="http://schemas.microsoft.com/office/drawing/2014/main" id="{D3302CF5-D675-4D9F-85E4-B77BCA7571C8}"/>
              </a:ext>
            </a:extLst>
          </p:cNvPr>
          <p:cNvSpPr/>
          <p:nvPr/>
        </p:nvSpPr>
        <p:spPr bwMode="gray">
          <a:xfrm>
            <a:off x="3848403" y="3362388"/>
            <a:ext cx="36046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600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PFE</a:t>
            </a:r>
            <a:r>
              <a:rPr lang="zh-CN" altLang="en-US" sz="1600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（包转发引擎）</a:t>
            </a:r>
            <a:endParaRPr lang="en-US" altLang="zh-CN" sz="16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圆角矩形 36">
            <a:extLst>
              <a:ext uri="{FF2B5EF4-FFF2-40B4-BE49-F238E27FC236}">
                <a16:creationId xmlns="" xmlns:a16="http://schemas.microsoft.com/office/drawing/2014/main" id="{751FFE5A-E511-4FE6-AA73-242A60526C83}"/>
              </a:ext>
            </a:extLst>
          </p:cNvPr>
          <p:cNvSpPr/>
          <p:nvPr/>
        </p:nvSpPr>
        <p:spPr bwMode="gray">
          <a:xfrm>
            <a:off x="10606759" y="1916008"/>
            <a:ext cx="1011873" cy="3919094"/>
          </a:xfrm>
          <a:prstGeom prst="roundRect">
            <a:avLst>
              <a:gd name="adj" fmla="val 8413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1C49C52C-820E-4D43-B9F7-A0489A899905}"/>
              </a:ext>
            </a:extLst>
          </p:cNvPr>
          <p:cNvSpPr/>
          <p:nvPr/>
        </p:nvSpPr>
        <p:spPr bwMode="gray">
          <a:xfrm>
            <a:off x="10626060" y="3725682"/>
            <a:ext cx="1005011" cy="338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1599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交换网板</a:t>
            </a:r>
          </a:p>
        </p:txBody>
      </p:sp>
      <p:sp>
        <p:nvSpPr>
          <p:cNvPr id="24" name="Rectangle 85">
            <a:extLst>
              <a:ext uri="{FF2B5EF4-FFF2-40B4-BE49-F238E27FC236}">
                <a16:creationId xmlns="" xmlns:a16="http://schemas.microsoft.com/office/drawing/2014/main" id="{9CAF7003-EEA0-479E-B088-E373D0A66AC5}"/>
              </a:ext>
            </a:extLst>
          </p:cNvPr>
          <p:cNvSpPr/>
          <p:nvPr/>
        </p:nvSpPr>
        <p:spPr bwMode="gray">
          <a:xfrm>
            <a:off x="1470326" y="1969554"/>
            <a:ext cx="8514943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599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上行接口板</a:t>
            </a:r>
            <a:endParaRPr lang="en-US" altLang="zh-CN" sz="1599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26C086E8-A7CC-43A8-AB6E-93178655F2DA}"/>
              </a:ext>
            </a:extLst>
          </p:cNvPr>
          <p:cNvCxnSpPr/>
          <p:nvPr/>
        </p:nvCxnSpPr>
        <p:spPr bwMode="gray">
          <a:xfrm>
            <a:off x="859378" y="2907926"/>
            <a:ext cx="791853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C868D424-D11A-4FB7-BB0C-0B0580526355}"/>
              </a:ext>
            </a:extLst>
          </p:cNvPr>
          <p:cNvCxnSpPr>
            <a:cxnSpLocks/>
          </p:cNvCxnSpPr>
          <p:nvPr/>
        </p:nvCxnSpPr>
        <p:spPr bwMode="gray">
          <a:xfrm>
            <a:off x="2943438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="" xmlns:a16="http://schemas.microsoft.com/office/drawing/2014/main" id="{7EAB7C45-CD21-437D-A376-56DDDB03388B}"/>
              </a:ext>
            </a:extLst>
          </p:cNvPr>
          <p:cNvCxnSpPr>
            <a:cxnSpLocks/>
          </p:cNvCxnSpPr>
          <p:nvPr/>
        </p:nvCxnSpPr>
        <p:spPr bwMode="gray">
          <a:xfrm>
            <a:off x="10252564" y="2898361"/>
            <a:ext cx="339061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85">
            <a:extLst>
              <a:ext uri="{FF2B5EF4-FFF2-40B4-BE49-F238E27FC236}">
                <a16:creationId xmlns="" xmlns:a16="http://schemas.microsoft.com/office/drawing/2014/main" id="{96716952-91A6-4B0F-BCAE-B379B544DF10}"/>
              </a:ext>
            </a:extLst>
          </p:cNvPr>
          <p:cNvSpPr/>
          <p:nvPr/>
        </p:nvSpPr>
        <p:spPr bwMode="gray">
          <a:xfrm>
            <a:off x="484014" y="2537359"/>
            <a:ext cx="1013596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zh-CN" altLang="en-US" sz="1599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业务报文</a:t>
            </a:r>
            <a:endParaRPr lang="en-US" altLang="zh-CN" sz="1599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圆角矩形 19">
            <a:extLst>
              <a:ext uri="{FF2B5EF4-FFF2-40B4-BE49-F238E27FC236}">
                <a16:creationId xmlns="" xmlns:a16="http://schemas.microsoft.com/office/drawing/2014/main" id="{D9C4B4FB-C479-44A8-83BF-A4F620562188}"/>
              </a:ext>
            </a:extLst>
          </p:cNvPr>
          <p:cNvSpPr/>
          <p:nvPr/>
        </p:nvSpPr>
        <p:spPr bwMode="gray">
          <a:xfrm>
            <a:off x="3281984" y="2577915"/>
            <a:ext cx="621491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报文解析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圆角矩形 20">
            <a:extLst>
              <a:ext uri="{FF2B5EF4-FFF2-40B4-BE49-F238E27FC236}">
                <a16:creationId xmlns="" xmlns:a16="http://schemas.microsoft.com/office/drawing/2014/main" id="{5C1F76B6-B1D0-4EA0-991B-378DB863EFD9}"/>
              </a:ext>
            </a:extLst>
          </p:cNvPr>
          <p:cNvSpPr/>
          <p:nvPr/>
        </p:nvSpPr>
        <p:spPr bwMode="gray">
          <a:xfrm>
            <a:off x="5293212" y="2588159"/>
            <a:ext cx="791853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复杂流分类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圆角矩形 19">
            <a:extLst>
              <a:ext uri="{FF2B5EF4-FFF2-40B4-BE49-F238E27FC236}">
                <a16:creationId xmlns="" xmlns:a16="http://schemas.microsoft.com/office/drawing/2014/main" id="{B50177EE-866D-4AB6-8F3C-E8CB094D2704}"/>
              </a:ext>
            </a:extLst>
          </p:cNvPr>
          <p:cNvSpPr/>
          <p:nvPr/>
        </p:nvSpPr>
        <p:spPr bwMode="gray">
          <a:xfrm>
            <a:off x="6384007" y="2577915"/>
            <a:ext cx="621491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查表转发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圆角矩形 20">
            <a:extLst>
              <a:ext uri="{FF2B5EF4-FFF2-40B4-BE49-F238E27FC236}">
                <a16:creationId xmlns="" xmlns:a16="http://schemas.microsoft.com/office/drawing/2014/main" id="{3E6DDAF1-696B-43F2-A582-A79DB4CEAE91}"/>
              </a:ext>
            </a:extLst>
          </p:cNvPr>
          <p:cNvSpPr/>
          <p:nvPr/>
        </p:nvSpPr>
        <p:spPr bwMode="gray">
          <a:xfrm>
            <a:off x="7304439" y="2588159"/>
            <a:ext cx="791853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CAR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="" xmlns:a16="http://schemas.microsoft.com/office/drawing/2014/main" id="{1C6E6BC8-9BE3-4DD3-8E75-7DF9CE1108B9}"/>
              </a:ext>
            </a:extLst>
          </p:cNvPr>
          <p:cNvCxnSpPr>
            <a:cxnSpLocks/>
          </p:cNvCxnSpPr>
          <p:nvPr/>
        </p:nvCxnSpPr>
        <p:spPr bwMode="gray">
          <a:xfrm>
            <a:off x="3948229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="" xmlns:a16="http://schemas.microsoft.com/office/drawing/2014/main" id="{0DA778EA-1A68-479A-A565-0722DD081D61}"/>
              </a:ext>
            </a:extLst>
          </p:cNvPr>
          <p:cNvCxnSpPr>
            <a:cxnSpLocks/>
          </p:cNvCxnSpPr>
          <p:nvPr/>
        </p:nvCxnSpPr>
        <p:spPr bwMode="gray">
          <a:xfrm>
            <a:off x="5043566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="" xmlns:a16="http://schemas.microsoft.com/office/drawing/2014/main" id="{1D8273DD-DFCB-4E90-B0C2-372D6F3FF1BB}"/>
              </a:ext>
            </a:extLst>
          </p:cNvPr>
          <p:cNvCxnSpPr>
            <a:cxnSpLocks/>
          </p:cNvCxnSpPr>
          <p:nvPr/>
        </p:nvCxnSpPr>
        <p:spPr bwMode="gray">
          <a:xfrm>
            <a:off x="6102350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6D2E8E3A-AE7D-4321-9732-9E1D8C3F927C}"/>
              </a:ext>
            </a:extLst>
          </p:cNvPr>
          <p:cNvCxnSpPr>
            <a:cxnSpLocks/>
          </p:cNvCxnSpPr>
          <p:nvPr/>
        </p:nvCxnSpPr>
        <p:spPr bwMode="gray">
          <a:xfrm>
            <a:off x="7054793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="" xmlns:a16="http://schemas.microsoft.com/office/drawing/2014/main" id="{0A8089B8-11D5-4D82-A24A-F76469EEC800}"/>
              </a:ext>
            </a:extLst>
          </p:cNvPr>
          <p:cNvCxnSpPr>
            <a:cxnSpLocks/>
          </p:cNvCxnSpPr>
          <p:nvPr/>
        </p:nvCxnSpPr>
        <p:spPr bwMode="gray">
          <a:xfrm>
            <a:off x="8181975" y="2907926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圆角矩形 75">
            <a:extLst>
              <a:ext uri="{FF2B5EF4-FFF2-40B4-BE49-F238E27FC236}">
                <a16:creationId xmlns="" xmlns:a16="http://schemas.microsoft.com/office/drawing/2014/main" id="{28DF0BA8-42CA-4367-84F1-FF6D623BACB5}"/>
              </a:ext>
            </a:extLst>
          </p:cNvPr>
          <p:cNvSpPr/>
          <p:nvPr/>
        </p:nvSpPr>
        <p:spPr bwMode="gray">
          <a:xfrm>
            <a:off x="8440599" y="2292070"/>
            <a:ext cx="1863348" cy="1593205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Rectangle 85">
            <a:extLst>
              <a:ext uri="{FF2B5EF4-FFF2-40B4-BE49-F238E27FC236}">
                <a16:creationId xmlns="" xmlns:a16="http://schemas.microsoft.com/office/drawing/2014/main" id="{0C0852F8-86F9-47A4-A8B6-7984B22B8550}"/>
              </a:ext>
            </a:extLst>
          </p:cNvPr>
          <p:cNvSpPr/>
          <p:nvPr/>
        </p:nvSpPr>
        <p:spPr bwMode="gray">
          <a:xfrm>
            <a:off x="8831719" y="3549138"/>
            <a:ext cx="953580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599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TM</a:t>
            </a:r>
            <a:endParaRPr lang="en-US" altLang="zh-CN" sz="1599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Rectangle 85">
            <a:extLst>
              <a:ext uri="{FF2B5EF4-FFF2-40B4-BE49-F238E27FC236}">
                <a16:creationId xmlns="" xmlns:a16="http://schemas.microsoft.com/office/drawing/2014/main" id="{60B2EAFC-7C2E-427D-9B1C-CA432C64A45A}"/>
              </a:ext>
            </a:extLst>
          </p:cNvPr>
          <p:cNvSpPr/>
          <p:nvPr/>
        </p:nvSpPr>
        <p:spPr bwMode="gray">
          <a:xfrm>
            <a:off x="8299607" y="3243977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入队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Rectangle 85">
            <a:extLst>
              <a:ext uri="{FF2B5EF4-FFF2-40B4-BE49-F238E27FC236}">
                <a16:creationId xmlns="" xmlns:a16="http://schemas.microsoft.com/office/drawing/2014/main" id="{D2719F60-0A44-4DC9-B58B-105FFB3BF2DD}"/>
              </a:ext>
            </a:extLst>
          </p:cNvPr>
          <p:cNvSpPr/>
          <p:nvPr/>
        </p:nvSpPr>
        <p:spPr bwMode="gray">
          <a:xfrm>
            <a:off x="9435509" y="3240499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出队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="" xmlns:a16="http://schemas.microsoft.com/office/drawing/2014/main" id="{E5571859-8C12-4C84-AA45-EC90AE65717B}"/>
              </a:ext>
            </a:extLst>
          </p:cNvPr>
          <p:cNvGrpSpPr/>
          <p:nvPr/>
        </p:nvGrpSpPr>
        <p:grpSpPr bwMode="gray">
          <a:xfrm>
            <a:off x="8523812" y="2444856"/>
            <a:ext cx="1699593" cy="791250"/>
            <a:chOff x="7515498" y="4087959"/>
            <a:chExt cx="2530335" cy="1800201"/>
          </a:xfrm>
        </p:grpSpPr>
        <p:sp>
          <p:nvSpPr>
            <p:cNvPr id="63" name="椭圆 62">
              <a:extLst>
                <a:ext uri="{FF2B5EF4-FFF2-40B4-BE49-F238E27FC236}">
                  <a16:creationId xmlns="" xmlns:a16="http://schemas.microsoft.com/office/drawing/2014/main" id="{49602D75-6C5C-4347-82A4-8D906EABB7E6}"/>
                </a:ext>
              </a:extLst>
            </p:cNvPr>
            <p:cNvSpPr/>
            <p:nvPr/>
          </p:nvSpPr>
          <p:spPr bwMode="gray">
            <a:xfrm>
              <a:off x="7515498" y="4771341"/>
              <a:ext cx="247784" cy="36004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" name="圆角矩形 39">
              <a:extLst>
                <a:ext uri="{FF2B5EF4-FFF2-40B4-BE49-F238E27FC236}">
                  <a16:creationId xmlns="" xmlns:a16="http://schemas.microsoft.com/office/drawing/2014/main" id="{71F8728B-3ACB-4EAD-A6CB-1635D7EDC950}"/>
                </a:ext>
              </a:extLst>
            </p:cNvPr>
            <p:cNvSpPr/>
            <p:nvPr/>
          </p:nvSpPr>
          <p:spPr bwMode="gray">
            <a:xfrm>
              <a:off x="8235578" y="4114288"/>
              <a:ext cx="720000" cy="288000"/>
            </a:xfrm>
            <a:prstGeom prst="roundRect">
              <a:avLst/>
            </a:prstGeom>
            <a:solidFill>
              <a:srgbClr val="E28189"/>
            </a:solidFill>
            <a:ln w="9525" cap="flat" cmpd="sng" algn="ctr">
              <a:solidFill>
                <a:srgbClr val="E2818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圆角矩形 40">
              <a:extLst>
                <a:ext uri="{FF2B5EF4-FFF2-40B4-BE49-F238E27FC236}">
                  <a16:creationId xmlns="" xmlns:a16="http://schemas.microsoft.com/office/drawing/2014/main" id="{786A5AB0-C6ED-4F56-92C1-6290BD262A04}"/>
                </a:ext>
              </a:extLst>
            </p:cNvPr>
            <p:cNvSpPr/>
            <p:nvPr/>
          </p:nvSpPr>
          <p:spPr bwMode="gray">
            <a:xfrm>
              <a:off x="8235578" y="4484003"/>
              <a:ext cx="720000" cy="288000"/>
            </a:xfrm>
            <a:prstGeom prst="roundRect">
              <a:avLst/>
            </a:prstGeom>
            <a:solidFill>
              <a:srgbClr val="AFD89C"/>
            </a:solidFill>
            <a:ln w="9525" cap="flat" cmpd="sng" algn="ctr">
              <a:solidFill>
                <a:srgbClr val="AFD89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圆角矩形 41">
              <a:extLst>
                <a:ext uri="{FF2B5EF4-FFF2-40B4-BE49-F238E27FC236}">
                  <a16:creationId xmlns="" xmlns:a16="http://schemas.microsoft.com/office/drawing/2014/main" id="{4C0865A0-7731-4CFD-B8BB-3209864D0E42}"/>
                </a:ext>
              </a:extLst>
            </p:cNvPr>
            <p:cNvSpPr/>
            <p:nvPr/>
          </p:nvSpPr>
          <p:spPr bwMode="gray">
            <a:xfrm>
              <a:off x="8235578" y="4906376"/>
              <a:ext cx="720000" cy="288000"/>
            </a:xfrm>
            <a:prstGeom prst="roundRect">
              <a:avLst/>
            </a:prstGeom>
            <a:solidFill>
              <a:srgbClr val="FDE397"/>
            </a:solidFill>
            <a:ln w="9525" cap="flat" cmpd="sng" algn="ctr">
              <a:solidFill>
                <a:srgbClr val="FDE39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" name="圆角矩形 42">
              <a:extLst>
                <a:ext uri="{FF2B5EF4-FFF2-40B4-BE49-F238E27FC236}">
                  <a16:creationId xmlns="" xmlns:a16="http://schemas.microsoft.com/office/drawing/2014/main" id="{92CFEB06-5828-409F-AB11-8AC645E5CD9A}"/>
                </a:ext>
              </a:extLst>
            </p:cNvPr>
            <p:cNvSpPr/>
            <p:nvPr/>
          </p:nvSpPr>
          <p:spPr bwMode="gray">
            <a:xfrm>
              <a:off x="8235578" y="5600128"/>
              <a:ext cx="720080" cy="288032"/>
            </a:xfrm>
            <a:prstGeom prst="roundRect">
              <a:avLst/>
            </a:prstGeom>
            <a:solidFill>
              <a:srgbClr val="94DAE2"/>
            </a:solidFill>
            <a:ln w="9525" cap="flat" cmpd="sng" algn="ctr">
              <a:solidFill>
                <a:srgbClr val="94DAE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="" xmlns:a16="http://schemas.microsoft.com/office/drawing/2014/main" id="{C0121682-40BC-4A41-BF62-03D03BDA987C}"/>
                </a:ext>
              </a:extLst>
            </p:cNvPr>
            <p:cNvSpPr txBox="1"/>
            <p:nvPr/>
          </p:nvSpPr>
          <p:spPr bwMode="gray">
            <a:xfrm>
              <a:off x="8284816" y="5024594"/>
              <a:ext cx="617197" cy="6218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……</a:t>
              </a:r>
              <a:endPara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="" xmlns:a16="http://schemas.microsoft.com/office/drawing/2014/main" id="{F2897714-4B46-40F1-8701-DB5C4EE7CA25}"/>
                </a:ext>
              </a:extLst>
            </p:cNvPr>
            <p:cNvCxnSpPr>
              <a:cxnSpLocks/>
              <a:stCxn id="63" idx="0"/>
              <a:endCxn id="64" idx="1"/>
            </p:cNvCxnSpPr>
            <p:nvPr/>
          </p:nvCxnSpPr>
          <p:spPr bwMode="gray">
            <a:xfrm flipV="1">
              <a:off x="7639391" y="4258287"/>
              <a:ext cx="596187" cy="5130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>
              <a:extLst>
                <a:ext uri="{FF2B5EF4-FFF2-40B4-BE49-F238E27FC236}">
                  <a16:creationId xmlns="" xmlns:a16="http://schemas.microsoft.com/office/drawing/2014/main" id="{C5BA18E6-A77F-4332-AADA-CE979652DDCD}"/>
                </a:ext>
              </a:extLst>
            </p:cNvPr>
            <p:cNvCxnSpPr>
              <a:cxnSpLocks/>
              <a:stCxn id="63" idx="7"/>
              <a:endCxn id="65" idx="1"/>
            </p:cNvCxnSpPr>
            <p:nvPr/>
          </p:nvCxnSpPr>
          <p:spPr bwMode="gray">
            <a:xfrm flipV="1">
              <a:off x="7726994" y="4628003"/>
              <a:ext cx="508584" cy="1960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>
              <a:extLst>
                <a:ext uri="{FF2B5EF4-FFF2-40B4-BE49-F238E27FC236}">
                  <a16:creationId xmlns="" xmlns:a16="http://schemas.microsoft.com/office/drawing/2014/main" id="{418BB14F-AB86-4BFC-B235-9F4EF0F0F82B}"/>
                </a:ext>
              </a:extLst>
            </p:cNvPr>
            <p:cNvCxnSpPr>
              <a:cxnSpLocks/>
              <a:stCxn id="63" idx="6"/>
              <a:endCxn id="66" idx="1"/>
            </p:cNvCxnSpPr>
            <p:nvPr/>
          </p:nvCxnSpPr>
          <p:spPr bwMode="gray">
            <a:xfrm>
              <a:off x="7763282" y="4951362"/>
              <a:ext cx="472296" cy="990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="" xmlns:a16="http://schemas.microsoft.com/office/drawing/2014/main" id="{EDC8A341-CB11-496A-B6C9-9B58C603B549}"/>
                </a:ext>
              </a:extLst>
            </p:cNvPr>
            <p:cNvCxnSpPr>
              <a:cxnSpLocks/>
              <a:stCxn id="63" idx="5"/>
            </p:cNvCxnSpPr>
            <p:nvPr/>
          </p:nvCxnSpPr>
          <p:spPr bwMode="gray">
            <a:xfrm>
              <a:off x="7726994" y="5078655"/>
              <a:ext cx="472580" cy="3414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="" xmlns:a16="http://schemas.microsoft.com/office/drawing/2014/main" id="{81DF152A-8243-49B2-8B04-CFD1E27F17D6}"/>
                </a:ext>
              </a:extLst>
            </p:cNvPr>
            <p:cNvCxnSpPr>
              <a:cxnSpLocks/>
              <a:stCxn id="63" idx="4"/>
              <a:endCxn id="67" idx="1"/>
            </p:cNvCxnSpPr>
            <p:nvPr/>
          </p:nvCxnSpPr>
          <p:spPr bwMode="gray">
            <a:xfrm>
              <a:off x="7639391" y="5131382"/>
              <a:ext cx="596187" cy="6127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75" name="组合 74">
              <a:extLst>
                <a:ext uri="{FF2B5EF4-FFF2-40B4-BE49-F238E27FC236}">
                  <a16:creationId xmlns="" xmlns:a16="http://schemas.microsoft.com/office/drawing/2014/main" id="{981EFF52-327D-48CF-9F20-A1C917D1FB68}"/>
                </a:ext>
              </a:extLst>
            </p:cNvPr>
            <p:cNvGrpSpPr/>
            <p:nvPr/>
          </p:nvGrpSpPr>
          <p:grpSpPr bwMode="gray">
            <a:xfrm>
              <a:off x="9207686" y="4087959"/>
              <a:ext cx="540060" cy="1800200"/>
              <a:chOff x="9804412" y="2852936"/>
              <a:chExt cx="540060" cy="1800200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="" xmlns:a16="http://schemas.microsoft.com/office/drawing/2014/main" id="{42FD2495-00AB-47C1-AC6E-1B9BCE50407F}"/>
                  </a:ext>
                </a:extLst>
              </p:cNvPr>
              <p:cNvGrpSpPr/>
              <p:nvPr/>
            </p:nvGrpSpPr>
            <p:grpSpPr bwMode="gray">
              <a:xfrm>
                <a:off x="9804412" y="2852936"/>
                <a:ext cx="540060" cy="1800200"/>
                <a:chOff x="7032104" y="2852936"/>
                <a:chExt cx="540060" cy="1800200"/>
              </a:xfrm>
            </p:grpSpPr>
            <p:sp>
              <p:nvSpPr>
                <p:cNvPr id="78" name="圆角矩形 78">
                  <a:extLst>
                    <a:ext uri="{FF2B5EF4-FFF2-40B4-BE49-F238E27FC236}">
                      <a16:creationId xmlns="" xmlns:a16="http://schemas.microsoft.com/office/drawing/2014/main" id="{4F832AD3-A0FA-4BEF-B149-B73B1DE9D7E3}"/>
                    </a:ext>
                  </a:extLst>
                </p:cNvPr>
                <p:cNvSpPr/>
                <p:nvPr/>
              </p:nvSpPr>
              <p:spPr bwMode="gray">
                <a:xfrm>
                  <a:off x="7032104" y="2852936"/>
                  <a:ext cx="540060" cy="1800200"/>
                </a:xfrm>
                <a:prstGeom prst="round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t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79" name="文本框 78">
                  <a:extLst>
                    <a:ext uri="{FF2B5EF4-FFF2-40B4-BE49-F238E27FC236}">
                      <a16:creationId xmlns="" xmlns:a16="http://schemas.microsoft.com/office/drawing/2014/main" id="{83340310-7852-4A49-8821-CDB174FF047B}"/>
                    </a:ext>
                  </a:extLst>
                </p:cNvPr>
                <p:cNvSpPr txBox="1"/>
                <p:nvPr/>
              </p:nvSpPr>
              <p:spPr bwMode="gray">
                <a:xfrm>
                  <a:off x="7163320" y="3195344"/>
                  <a:ext cx="264087" cy="10419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87802" tIns="43901" rIns="87802" bIns="43901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altLang="zh-CN" sz="12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  <a:p>
                  <a:pPr algn="ctr"/>
                  <a:endParaRPr lang="zh-CN" altLang="en-US" sz="12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77" name="任意多边形 81">
                <a:extLst>
                  <a:ext uri="{FF2B5EF4-FFF2-40B4-BE49-F238E27FC236}">
                    <a16:creationId xmlns="" xmlns:a16="http://schemas.microsoft.com/office/drawing/2014/main" id="{73038912-0682-47CB-B131-4779706BDD20}"/>
                  </a:ext>
                </a:extLst>
              </p:cNvPr>
              <p:cNvSpPr/>
              <p:nvPr/>
            </p:nvSpPr>
            <p:spPr bwMode="gray">
              <a:xfrm>
                <a:off x="9884086" y="2987318"/>
                <a:ext cx="363000" cy="1528585"/>
              </a:xfrm>
              <a:custGeom>
                <a:avLst/>
                <a:gdLst>
                  <a:gd name="connsiteX0" fmla="*/ 363394 w 363394"/>
                  <a:gd name="connsiteY0" fmla="*/ 539772 h 1543059"/>
                  <a:gd name="connsiteX1" fmla="*/ 232765 w 363394"/>
                  <a:gd name="connsiteY1" fmla="*/ 2743 h 1543059"/>
                  <a:gd name="connsiteX2" fmla="*/ 537 w 363394"/>
                  <a:gd name="connsiteY2" fmla="*/ 742972 h 1543059"/>
                  <a:gd name="connsiteX3" fmla="*/ 174708 w 363394"/>
                  <a:gd name="connsiteY3" fmla="*/ 1541257 h 1543059"/>
                  <a:gd name="connsiteX4" fmla="*/ 363394 w 363394"/>
                  <a:gd name="connsiteY4" fmla="*/ 917143 h 1543059"/>
                  <a:gd name="connsiteX0" fmla="*/ 362857 w 362857"/>
                  <a:gd name="connsiteY0" fmla="*/ 554167 h 1557454"/>
                  <a:gd name="connsiteX1" fmla="*/ 174171 w 362857"/>
                  <a:gd name="connsiteY1" fmla="*/ 2624 h 1557454"/>
                  <a:gd name="connsiteX2" fmla="*/ 0 w 362857"/>
                  <a:gd name="connsiteY2" fmla="*/ 757367 h 1557454"/>
                  <a:gd name="connsiteX3" fmla="*/ 174171 w 362857"/>
                  <a:gd name="connsiteY3" fmla="*/ 1555652 h 1557454"/>
                  <a:gd name="connsiteX4" fmla="*/ 362857 w 362857"/>
                  <a:gd name="connsiteY4" fmla="*/ 931538 h 1557454"/>
                  <a:gd name="connsiteX0" fmla="*/ 363000 w 363000"/>
                  <a:gd name="connsiteY0" fmla="*/ 554167 h 1528585"/>
                  <a:gd name="connsiteX1" fmla="*/ 174314 w 363000"/>
                  <a:gd name="connsiteY1" fmla="*/ 2624 h 1528585"/>
                  <a:gd name="connsiteX2" fmla="*/ 143 w 363000"/>
                  <a:gd name="connsiteY2" fmla="*/ 757367 h 1528585"/>
                  <a:gd name="connsiteX3" fmla="*/ 203343 w 363000"/>
                  <a:gd name="connsiteY3" fmla="*/ 1526623 h 1528585"/>
                  <a:gd name="connsiteX4" fmla="*/ 363000 w 363000"/>
                  <a:gd name="connsiteY4" fmla="*/ 931538 h 152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000" h="1528585">
                    <a:moveTo>
                      <a:pt x="363000" y="554167"/>
                    </a:moveTo>
                    <a:cubicBezTo>
                      <a:pt x="327923" y="268719"/>
                      <a:pt x="234790" y="-31243"/>
                      <a:pt x="174314" y="2624"/>
                    </a:cubicBezTo>
                    <a:cubicBezTo>
                      <a:pt x="113838" y="36491"/>
                      <a:pt x="-4695" y="503367"/>
                      <a:pt x="143" y="757367"/>
                    </a:cubicBezTo>
                    <a:cubicBezTo>
                      <a:pt x="4981" y="1011367"/>
                      <a:pt x="142867" y="1497595"/>
                      <a:pt x="203343" y="1526623"/>
                    </a:cubicBezTo>
                    <a:cubicBezTo>
                      <a:pt x="263819" y="1555651"/>
                      <a:pt x="298895" y="1258109"/>
                      <a:pt x="363000" y="931538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80" name="直接箭头连接符 79">
              <a:extLst>
                <a:ext uri="{FF2B5EF4-FFF2-40B4-BE49-F238E27FC236}">
                  <a16:creationId xmlns="" xmlns:a16="http://schemas.microsoft.com/office/drawing/2014/main" id="{93DF4FE8-D439-44F0-8A78-FD40E68397B4}"/>
                </a:ext>
              </a:extLst>
            </p:cNvPr>
            <p:cNvCxnSpPr/>
            <p:nvPr/>
          </p:nvCxnSpPr>
          <p:spPr bwMode="gray">
            <a:xfrm>
              <a:off x="8955658" y="4267979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>
              <a:extLst>
                <a:ext uri="{FF2B5EF4-FFF2-40B4-BE49-F238E27FC236}">
                  <a16:creationId xmlns="" xmlns:a16="http://schemas.microsoft.com/office/drawing/2014/main" id="{10AE419A-DF5E-40F1-A414-7D085DAA49D3}"/>
                </a:ext>
              </a:extLst>
            </p:cNvPr>
            <p:cNvCxnSpPr/>
            <p:nvPr/>
          </p:nvCxnSpPr>
          <p:spPr bwMode="gray">
            <a:xfrm>
              <a:off x="8955658" y="4628019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>
              <a:extLst>
                <a:ext uri="{FF2B5EF4-FFF2-40B4-BE49-F238E27FC236}">
                  <a16:creationId xmlns="" xmlns:a16="http://schemas.microsoft.com/office/drawing/2014/main" id="{B3602A3D-270E-4135-8220-3B9D8D152AD4}"/>
                </a:ext>
              </a:extLst>
            </p:cNvPr>
            <p:cNvCxnSpPr/>
            <p:nvPr/>
          </p:nvCxnSpPr>
          <p:spPr bwMode="gray">
            <a:xfrm>
              <a:off x="8955658" y="5060067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>
              <a:extLst>
                <a:ext uri="{FF2B5EF4-FFF2-40B4-BE49-F238E27FC236}">
                  <a16:creationId xmlns="" xmlns:a16="http://schemas.microsoft.com/office/drawing/2014/main" id="{8850BF2A-F0BC-4FF8-9BD5-94FDD6ABFB8C}"/>
                </a:ext>
              </a:extLst>
            </p:cNvPr>
            <p:cNvCxnSpPr/>
            <p:nvPr/>
          </p:nvCxnSpPr>
          <p:spPr bwMode="gray">
            <a:xfrm>
              <a:off x="8955658" y="5744143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>
              <a:extLst>
                <a:ext uri="{FF2B5EF4-FFF2-40B4-BE49-F238E27FC236}">
                  <a16:creationId xmlns="" xmlns:a16="http://schemas.microsoft.com/office/drawing/2014/main" id="{5053AF8C-FC97-4C34-9E74-A7C6CD6B5983}"/>
                </a:ext>
              </a:extLst>
            </p:cNvPr>
            <p:cNvCxnSpPr/>
            <p:nvPr/>
          </p:nvCxnSpPr>
          <p:spPr bwMode="gray">
            <a:xfrm>
              <a:off x="9747746" y="4303984"/>
              <a:ext cx="288032" cy="39604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>
              <a:extLst>
                <a:ext uri="{FF2B5EF4-FFF2-40B4-BE49-F238E27FC236}">
                  <a16:creationId xmlns="" xmlns:a16="http://schemas.microsoft.com/office/drawing/2014/main" id="{17D4CF8E-8F5C-4E1C-A99C-CA5EEE738665}"/>
                </a:ext>
              </a:extLst>
            </p:cNvPr>
            <p:cNvCxnSpPr/>
            <p:nvPr/>
          </p:nvCxnSpPr>
          <p:spPr bwMode="gray">
            <a:xfrm>
              <a:off x="9747746" y="4664023"/>
              <a:ext cx="288032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="" xmlns:a16="http://schemas.microsoft.com/office/drawing/2014/main" id="{7176BE15-CDA3-49D3-834D-9977F8EED263}"/>
                </a:ext>
              </a:extLst>
            </p:cNvPr>
            <p:cNvCxnSpPr/>
            <p:nvPr/>
          </p:nvCxnSpPr>
          <p:spPr bwMode="gray">
            <a:xfrm flipV="1">
              <a:off x="9747746" y="4951361"/>
              <a:ext cx="298087" cy="1087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>
              <a:extLst>
                <a:ext uri="{FF2B5EF4-FFF2-40B4-BE49-F238E27FC236}">
                  <a16:creationId xmlns="" xmlns:a16="http://schemas.microsoft.com/office/drawing/2014/main" id="{15E39565-4EAD-4F45-AE26-5CEF63D49BE2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9747746" y="5122279"/>
              <a:ext cx="298087" cy="5865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9" name="Rectangle 85">
            <a:extLst>
              <a:ext uri="{FF2B5EF4-FFF2-40B4-BE49-F238E27FC236}">
                <a16:creationId xmlns="" xmlns:a16="http://schemas.microsoft.com/office/drawing/2014/main" id="{5DE624D3-CE2D-475B-9180-22CBC03A9FBE}"/>
              </a:ext>
            </a:extLst>
          </p:cNvPr>
          <p:cNvSpPr/>
          <p:nvPr/>
        </p:nvSpPr>
        <p:spPr bwMode="gray">
          <a:xfrm>
            <a:off x="8856008" y="3243977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调度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对话气泡: 矩形 90">
            <a:extLst>
              <a:ext uri="{FF2B5EF4-FFF2-40B4-BE49-F238E27FC236}">
                <a16:creationId xmlns="" xmlns:a16="http://schemas.microsoft.com/office/drawing/2014/main" id="{9D1FEF60-A0D1-4499-924D-AA912FA0DE97}"/>
              </a:ext>
            </a:extLst>
          </p:cNvPr>
          <p:cNvSpPr/>
          <p:nvPr/>
        </p:nvSpPr>
        <p:spPr bwMode="gray">
          <a:xfrm>
            <a:off x="8454790" y="1561996"/>
            <a:ext cx="1797774" cy="612648"/>
          </a:xfrm>
          <a:prstGeom prst="wedgeRectCallout">
            <a:avLst>
              <a:gd name="adj1" fmla="val -22528"/>
              <a:gd name="adj2" fmla="val 77425"/>
            </a:avLst>
          </a:prstGeom>
          <a:solidFill>
            <a:schemeClr val="bg1"/>
          </a:solidFill>
          <a:ln w="19050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入队时：拥塞避免</a:t>
            </a:r>
            <a:endParaRPr lang="en-US" altLang="zh-CN" sz="14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出队时：流量整形</a:t>
            </a:r>
          </a:p>
        </p:txBody>
      </p:sp>
      <p:sp>
        <p:nvSpPr>
          <p:cNvPr id="97" name="圆角矩形 38">
            <a:extLst>
              <a:ext uri="{FF2B5EF4-FFF2-40B4-BE49-F238E27FC236}">
                <a16:creationId xmlns="" xmlns:a16="http://schemas.microsoft.com/office/drawing/2014/main" id="{DDB9A4A7-B16A-4970-93A9-6B4B5D88F780}"/>
              </a:ext>
            </a:extLst>
          </p:cNvPr>
          <p:cNvSpPr>
            <a:spLocks/>
          </p:cNvSpPr>
          <p:nvPr/>
        </p:nvSpPr>
        <p:spPr bwMode="gray">
          <a:xfrm>
            <a:off x="1482765" y="4086951"/>
            <a:ext cx="8961635" cy="2068662"/>
          </a:xfrm>
          <a:prstGeom prst="roundRect">
            <a:avLst>
              <a:gd name="adj" fmla="val 4839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圆角矩形 19">
            <a:extLst>
              <a:ext uri="{FF2B5EF4-FFF2-40B4-BE49-F238E27FC236}">
                <a16:creationId xmlns="" xmlns:a16="http://schemas.microsoft.com/office/drawing/2014/main" id="{0845357B-812C-4DE4-B773-FEC8243CC39C}"/>
              </a:ext>
            </a:extLst>
          </p:cNvPr>
          <p:cNvSpPr/>
          <p:nvPr/>
        </p:nvSpPr>
        <p:spPr bwMode="gray">
          <a:xfrm>
            <a:off x="1900043" y="4494859"/>
            <a:ext cx="809473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光电信号接收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圆角矩形 20">
            <a:extLst>
              <a:ext uri="{FF2B5EF4-FFF2-40B4-BE49-F238E27FC236}">
                <a16:creationId xmlns="" xmlns:a16="http://schemas.microsoft.com/office/drawing/2014/main" id="{B0ED7688-2BB8-48F5-96B4-22D1C0F0F61E}"/>
              </a:ext>
            </a:extLst>
          </p:cNvPr>
          <p:cNvSpPr/>
          <p:nvPr/>
        </p:nvSpPr>
        <p:spPr bwMode="gray">
          <a:xfrm>
            <a:off x="4202417" y="4505103"/>
            <a:ext cx="791853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简单流分类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圆角矩形 75">
            <a:extLst>
              <a:ext uri="{FF2B5EF4-FFF2-40B4-BE49-F238E27FC236}">
                <a16:creationId xmlns="" xmlns:a16="http://schemas.microsoft.com/office/drawing/2014/main" id="{0F182897-2AF9-4860-8B70-8D2B951621FC}"/>
              </a:ext>
            </a:extLst>
          </p:cNvPr>
          <p:cNvSpPr/>
          <p:nvPr/>
        </p:nvSpPr>
        <p:spPr bwMode="gray">
          <a:xfrm>
            <a:off x="1714786" y="4273262"/>
            <a:ext cx="1176477" cy="1438266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圆角矩形 75">
            <a:extLst>
              <a:ext uri="{FF2B5EF4-FFF2-40B4-BE49-F238E27FC236}">
                <a16:creationId xmlns="" xmlns:a16="http://schemas.microsoft.com/office/drawing/2014/main" id="{C01CB709-790D-4A71-BF16-025F7CFB1613}"/>
              </a:ext>
            </a:extLst>
          </p:cNvPr>
          <p:cNvSpPr/>
          <p:nvPr/>
        </p:nvSpPr>
        <p:spPr bwMode="gray">
          <a:xfrm>
            <a:off x="3209941" y="4271169"/>
            <a:ext cx="4972034" cy="1422917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Rectangle 85">
            <a:extLst>
              <a:ext uri="{FF2B5EF4-FFF2-40B4-BE49-F238E27FC236}">
                <a16:creationId xmlns="" xmlns:a16="http://schemas.microsoft.com/office/drawing/2014/main" id="{6B4B2835-CEDA-4292-BDEF-BA2A91C3C43E}"/>
              </a:ext>
            </a:extLst>
          </p:cNvPr>
          <p:cNvSpPr/>
          <p:nvPr/>
        </p:nvSpPr>
        <p:spPr bwMode="gray">
          <a:xfrm>
            <a:off x="1812633" y="5266632"/>
            <a:ext cx="953580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599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接口卡</a:t>
            </a:r>
            <a:endParaRPr lang="en-US" altLang="zh-CN" sz="1599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Rectangle 85">
            <a:extLst>
              <a:ext uri="{FF2B5EF4-FFF2-40B4-BE49-F238E27FC236}">
                <a16:creationId xmlns="" xmlns:a16="http://schemas.microsoft.com/office/drawing/2014/main" id="{38F53C9A-E130-475C-8712-25F43BEAAF5D}"/>
              </a:ext>
            </a:extLst>
          </p:cNvPr>
          <p:cNvSpPr/>
          <p:nvPr/>
        </p:nvSpPr>
        <p:spPr bwMode="gray">
          <a:xfrm>
            <a:off x="3848403" y="5279332"/>
            <a:ext cx="36046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600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PFE</a:t>
            </a:r>
            <a:r>
              <a:rPr lang="zh-CN" altLang="en-US" sz="1600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（包转发引擎）</a:t>
            </a:r>
            <a:endParaRPr lang="en-US" altLang="zh-CN" sz="16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Rectangle 85">
            <a:extLst>
              <a:ext uri="{FF2B5EF4-FFF2-40B4-BE49-F238E27FC236}">
                <a16:creationId xmlns="" xmlns:a16="http://schemas.microsoft.com/office/drawing/2014/main" id="{39EC6A68-1B15-467E-A67D-BCB22F9AA07E}"/>
              </a:ext>
            </a:extLst>
          </p:cNvPr>
          <p:cNvSpPr/>
          <p:nvPr/>
        </p:nvSpPr>
        <p:spPr bwMode="gray">
          <a:xfrm>
            <a:off x="1508241" y="5766391"/>
            <a:ext cx="8514943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599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下行接口板</a:t>
            </a:r>
            <a:endParaRPr lang="en-US" altLang="zh-CN" sz="1599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="" xmlns:a16="http://schemas.microsoft.com/office/drawing/2014/main" id="{A4900723-C81B-4FE7-ADCA-6EAF22C08726}"/>
              </a:ext>
            </a:extLst>
          </p:cNvPr>
          <p:cNvCxnSpPr>
            <a:cxnSpLocks/>
          </p:cNvCxnSpPr>
          <p:nvPr/>
        </p:nvCxnSpPr>
        <p:spPr bwMode="gray">
          <a:xfrm>
            <a:off x="2930738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="" xmlns:a16="http://schemas.microsoft.com/office/drawing/2014/main" id="{5C4B6DCD-26B3-4872-948F-0A74B8016E64}"/>
              </a:ext>
            </a:extLst>
          </p:cNvPr>
          <p:cNvCxnSpPr>
            <a:cxnSpLocks/>
          </p:cNvCxnSpPr>
          <p:nvPr/>
        </p:nvCxnSpPr>
        <p:spPr bwMode="gray">
          <a:xfrm>
            <a:off x="10252564" y="4815305"/>
            <a:ext cx="339061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圆角矩形 19">
            <a:extLst>
              <a:ext uri="{FF2B5EF4-FFF2-40B4-BE49-F238E27FC236}">
                <a16:creationId xmlns="" xmlns:a16="http://schemas.microsoft.com/office/drawing/2014/main" id="{B929002E-FB7D-40FC-AD64-C76EEE107DBA}"/>
              </a:ext>
            </a:extLst>
          </p:cNvPr>
          <p:cNvSpPr/>
          <p:nvPr/>
        </p:nvSpPr>
        <p:spPr bwMode="gray">
          <a:xfrm>
            <a:off x="3281984" y="4494859"/>
            <a:ext cx="621491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报文封装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圆角矩形 20">
            <a:extLst>
              <a:ext uri="{FF2B5EF4-FFF2-40B4-BE49-F238E27FC236}">
                <a16:creationId xmlns="" xmlns:a16="http://schemas.microsoft.com/office/drawing/2014/main" id="{6640E693-E675-4E49-80A7-DCE0E6B7D555}"/>
              </a:ext>
            </a:extLst>
          </p:cNvPr>
          <p:cNvSpPr/>
          <p:nvPr/>
        </p:nvSpPr>
        <p:spPr bwMode="gray">
          <a:xfrm>
            <a:off x="5293212" y="4505103"/>
            <a:ext cx="678683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CAR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圆角矩形 19">
            <a:extLst>
              <a:ext uri="{FF2B5EF4-FFF2-40B4-BE49-F238E27FC236}">
                <a16:creationId xmlns="" xmlns:a16="http://schemas.microsoft.com/office/drawing/2014/main" id="{627C7E8D-9C95-4FAD-98B4-F54299F7ADCD}"/>
              </a:ext>
            </a:extLst>
          </p:cNvPr>
          <p:cNvSpPr/>
          <p:nvPr/>
        </p:nvSpPr>
        <p:spPr bwMode="gray">
          <a:xfrm>
            <a:off x="6287279" y="4494859"/>
            <a:ext cx="718219" cy="667869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复杂流分类</a:t>
            </a:r>
            <a:endParaRPr lang="zh-CN" altLang="en-US" sz="1599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圆角矩形 20">
            <a:extLst>
              <a:ext uri="{FF2B5EF4-FFF2-40B4-BE49-F238E27FC236}">
                <a16:creationId xmlns="" xmlns:a16="http://schemas.microsoft.com/office/drawing/2014/main" id="{CE395B7B-047B-488C-91A7-9D563695E0A5}"/>
              </a:ext>
            </a:extLst>
          </p:cNvPr>
          <p:cNvSpPr/>
          <p:nvPr/>
        </p:nvSpPr>
        <p:spPr bwMode="gray">
          <a:xfrm>
            <a:off x="7304439" y="4505103"/>
            <a:ext cx="791853" cy="667869"/>
          </a:xfrm>
          <a:prstGeom prst="roundRect">
            <a:avLst>
              <a:gd name="adj" fmla="val 15000"/>
            </a:avLst>
          </a:prstGeom>
          <a:noFill/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599" kern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获取封装信息</a:t>
            </a:r>
            <a:endParaRPr lang="zh-CN" altLang="en-US" sz="1599" kern="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="" xmlns:a16="http://schemas.microsoft.com/office/drawing/2014/main" id="{8E618C2B-4133-4436-877E-01CA0C5417D2}"/>
              </a:ext>
            </a:extLst>
          </p:cNvPr>
          <p:cNvCxnSpPr>
            <a:cxnSpLocks/>
          </p:cNvCxnSpPr>
          <p:nvPr/>
        </p:nvCxnSpPr>
        <p:spPr bwMode="gray">
          <a:xfrm>
            <a:off x="3935529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="" xmlns:a16="http://schemas.microsoft.com/office/drawing/2014/main" id="{BB3DC258-FB74-460A-B742-35DDA0D8420B}"/>
              </a:ext>
            </a:extLst>
          </p:cNvPr>
          <p:cNvCxnSpPr>
            <a:cxnSpLocks/>
          </p:cNvCxnSpPr>
          <p:nvPr/>
        </p:nvCxnSpPr>
        <p:spPr bwMode="gray">
          <a:xfrm>
            <a:off x="5030866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="" xmlns:a16="http://schemas.microsoft.com/office/drawing/2014/main" id="{73CC0203-FB41-4C15-8CC2-252B5F0B8145}"/>
              </a:ext>
            </a:extLst>
          </p:cNvPr>
          <p:cNvCxnSpPr>
            <a:cxnSpLocks/>
          </p:cNvCxnSpPr>
          <p:nvPr/>
        </p:nvCxnSpPr>
        <p:spPr bwMode="gray">
          <a:xfrm>
            <a:off x="5988050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="" xmlns:a16="http://schemas.microsoft.com/office/drawing/2014/main" id="{6AB14152-D510-40C0-87FC-2FADCE806D27}"/>
              </a:ext>
            </a:extLst>
          </p:cNvPr>
          <p:cNvCxnSpPr>
            <a:cxnSpLocks/>
          </p:cNvCxnSpPr>
          <p:nvPr/>
        </p:nvCxnSpPr>
        <p:spPr bwMode="gray">
          <a:xfrm>
            <a:off x="7054793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="" xmlns:a16="http://schemas.microsoft.com/office/drawing/2014/main" id="{3F42A9C2-734E-494F-8AB0-A5E1CFBA90EA}"/>
              </a:ext>
            </a:extLst>
          </p:cNvPr>
          <p:cNvCxnSpPr>
            <a:cxnSpLocks/>
          </p:cNvCxnSpPr>
          <p:nvPr/>
        </p:nvCxnSpPr>
        <p:spPr bwMode="gray">
          <a:xfrm>
            <a:off x="8181975" y="4824870"/>
            <a:ext cx="24964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圆角矩形 75">
            <a:extLst>
              <a:ext uri="{FF2B5EF4-FFF2-40B4-BE49-F238E27FC236}">
                <a16:creationId xmlns="" xmlns:a16="http://schemas.microsoft.com/office/drawing/2014/main" id="{574A32E5-1685-4A13-B78B-1D1861B386B8}"/>
              </a:ext>
            </a:extLst>
          </p:cNvPr>
          <p:cNvSpPr/>
          <p:nvPr/>
        </p:nvSpPr>
        <p:spPr bwMode="gray">
          <a:xfrm>
            <a:off x="8440599" y="4209014"/>
            <a:ext cx="1863348" cy="1593205"/>
          </a:xfrm>
          <a:prstGeom prst="roundRect">
            <a:avLst>
              <a:gd name="adj" fmla="val 874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599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Rectangle 85">
            <a:extLst>
              <a:ext uri="{FF2B5EF4-FFF2-40B4-BE49-F238E27FC236}">
                <a16:creationId xmlns="" xmlns:a16="http://schemas.microsoft.com/office/drawing/2014/main" id="{E3F7684E-94E6-4048-AE77-6600C9329D79}"/>
              </a:ext>
            </a:extLst>
          </p:cNvPr>
          <p:cNvSpPr/>
          <p:nvPr/>
        </p:nvSpPr>
        <p:spPr bwMode="gray">
          <a:xfrm>
            <a:off x="8831719" y="5466082"/>
            <a:ext cx="953580" cy="3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599" b="1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TM</a:t>
            </a:r>
            <a:endParaRPr lang="en-US" altLang="zh-CN" sz="1599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Rectangle 85">
            <a:extLst>
              <a:ext uri="{FF2B5EF4-FFF2-40B4-BE49-F238E27FC236}">
                <a16:creationId xmlns="" xmlns:a16="http://schemas.microsoft.com/office/drawing/2014/main" id="{E265F5E2-3D55-4BE4-9A1F-E60A8EE1C753}"/>
              </a:ext>
            </a:extLst>
          </p:cNvPr>
          <p:cNvSpPr/>
          <p:nvPr/>
        </p:nvSpPr>
        <p:spPr bwMode="gray">
          <a:xfrm>
            <a:off x="8299607" y="5160921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出队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Rectangle 85">
            <a:extLst>
              <a:ext uri="{FF2B5EF4-FFF2-40B4-BE49-F238E27FC236}">
                <a16:creationId xmlns="" xmlns:a16="http://schemas.microsoft.com/office/drawing/2014/main" id="{FEBCABB8-9FBD-472E-AA82-789F164D1D4E}"/>
              </a:ext>
            </a:extLst>
          </p:cNvPr>
          <p:cNvSpPr/>
          <p:nvPr/>
        </p:nvSpPr>
        <p:spPr bwMode="gray">
          <a:xfrm>
            <a:off x="9435509" y="5157443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入队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="" xmlns:a16="http://schemas.microsoft.com/office/drawing/2014/main" id="{5EA8A4B2-1FDB-4AF7-B2B7-885834E9EFE3}"/>
              </a:ext>
            </a:extLst>
          </p:cNvPr>
          <p:cNvGrpSpPr/>
          <p:nvPr/>
        </p:nvGrpSpPr>
        <p:grpSpPr bwMode="gray">
          <a:xfrm>
            <a:off x="8523812" y="4361800"/>
            <a:ext cx="1699593" cy="791250"/>
            <a:chOff x="7515498" y="4087959"/>
            <a:chExt cx="2530335" cy="1800201"/>
          </a:xfrm>
        </p:grpSpPr>
        <p:sp>
          <p:nvSpPr>
            <p:cNvPr id="121" name="椭圆 120">
              <a:extLst>
                <a:ext uri="{FF2B5EF4-FFF2-40B4-BE49-F238E27FC236}">
                  <a16:creationId xmlns="" xmlns:a16="http://schemas.microsoft.com/office/drawing/2014/main" id="{0B318438-92F3-402A-A565-0490C84707D4}"/>
                </a:ext>
              </a:extLst>
            </p:cNvPr>
            <p:cNvSpPr/>
            <p:nvPr/>
          </p:nvSpPr>
          <p:spPr bwMode="gray">
            <a:xfrm>
              <a:off x="7515498" y="4771341"/>
              <a:ext cx="247784" cy="36004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2" name="圆角矩形 39">
              <a:extLst>
                <a:ext uri="{FF2B5EF4-FFF2-40B4-BE49-F238E27FC236}">
                  <a16:creationId xmlns="" xmlns:a16="http://schemas.microsoft.com/office/drawing/2014/main" id="{3D15880B-09F2-41C9-B98F-9BA310228C2B}"/>
                </a:ext>
              </a:extLst>
            </p:cNvPr>
            <p:cNvSpPr/>
            <p:nvPr/>
          </p:nvSpPr>
          <p:spPr bwMode="gray">
            <a:xfrm>
              <a:off x="8235578" y="4114288"/>
              <a:ext cx="720000" cy="288000"/>
            </a:xfrm>
            <a:prstGeom prst="roundRect">
              <a:avLst/>
            </a:prstGeom>
            <a:solidFill>
              <a:srgbClr val="E28189"/>
            </a:solidFill>
            <a:ln w="9525" cap="flat" cmpd="sng" algn="ctr">
              <a:solidFill>
                <a:srgbClr val="E2818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圆角矩形 40">
              <a:extLst>
                <a:ext uri="{FF2B5EF4-FFF2-40B4-BE49-F238E27FC236}">
                  <a16:creationId xmlns="" xmlns:a16="http://schemas.microsoft.com/office/drawing/2014/main" id="{44C72271-6716-4B10-AA15-856614B92081}"/>
                </a:ext>
              </a:extLst>
            </p:cNvPr>
            <p:cNvSpPr/>
            <p:nvPr/>
          </p:nvSpPr>
          <p:spPr bwMode="gray">
            <a:xfrm>
              <a:off x="8235578" y="4484003"/>
              <a:ext cx="720000" cy="288000"/>
            </a:xfrm>
            <a:prstGeom prst="roundRect">
              <a:avLst/>
            </a:prstGeom>
            <a:solidFill>
              <a:srgbClr val="AFD89C"/>
            </a:solidFill>
            <a:ln w="9525" cap="flat" cmpd="sng" algn="ctr">
              <a:solidFill>
                <a:srgbClr val="AFD89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圆角矩形 41">
              <a:extLst>
                <a:ext uri="{FF2B5EF4-FFF2-40B4-BE49-F238E27FC236}">
                  <a16:creationId xmlns="" xmlns:a16="http://schemas.microsoft.com/office/drawing/2014/main" id="{DC4B83D9-4BC3-48B5-B4AD-14800D815F21}"/>
                </a:ext>
              </a:extLst>
            </p:cNvPr>
            <p:cNvSpPr/>
            <p:nvPr/>
          </p:nvSpPr>
          <p:spPr bwMode="gray">
            <a:xfrm>
              <a:off x="8235578" y="4906376"/>
              <a:ext cx="720000" cy="288000"/>
            </a:xfrm>
            <a:prstGeom prst="roundRect">
              <a:avLst/>
            </a:prstGeom>
            <a:solidFill>
              <a:srgbClr val="FDE397"/>
            </a:solidFill>
            <a:ln w="9525" cap="flat" cmpd="sng" algn="ctr">
              <a:solidFill>
                <a:srgbClr val="FDE39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5" name="圆角矩形 42">
              <a:extLst>
                <a:ext uri="{FF2B5EF4-FFF2-40B4-BE49-F238E27FC236}">
                  <a16:creationId xmlns="" xmlns:a16="http://schemas.microsoft.com/office/drawing/2014/main" id="{5F5E5CB0-F131-4BCF-B88C-ADF1DC19C466}"/>
                </a:ext>
              </a:extLst>
            </p:cNvPr>
            <p:cNvSpPr/>
            <p:nvPr/>
          </p:nvSpPr>
          <p:spPr bwMode="gray">
            <a:xfrm>
              <a:off x="8235578" y="5600128"/>
              <a:ext cx="720080" cy="288032"/>
            </a:xfrm>
            <a:prstGeom prst="roundRect">
              <a:avLst/>
            </a:prstGeom>
            <a:solidFill>
              <a:srgbClr val="94DAE2"/>
            </a:solidFill>
            <a:ln w="9525" cap="flat" cmpd="sng" algn="ctr">
              <a:solidFill>
                <a:srgbClr val="94DAE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="" xmlns:a16="http://schemas.microsoft.com/office/drawing/2014/main" id="{1778009C-8C86-4FA9-A72A-86F828B54D3C}"/>
                </a:ext>
              </a:extLst>
            </p:cNvPr>
            <p:cNvSpPr txBox="1"/>
            <p:nvPr/>
          </p:nvSpPr>
          <p:spPr bwMode="gray">
            <a:xfrm>
              <a:off x="8284816" y="5024594"/>
              <a:ext cx="617197" cy="6218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……</a:t>
              </a:r>
              <a:endPara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="" xmlns:a16="http://schemas.microsoft.com/office/drawing/2014/main" id="{D4EFCD72-776C-48A0-9882-A7DCB64B7D69}"/>
                </a:ext>
              </a:extLst>
            </p:cNvPr>
            <p:cNvCxnSpPr>
              <a:cxnSpLocks/>
              <a:stCxn id="121" idx="0"/>
              <a:endCxn id="122" idx="1"/>
            </p:cNvCxnSpPr>
            <p:nvPr/>
          </p:nvCxnSpPr>
          <p:spPr bwMode="gray">
            <a:xfrm flipV="1">
              <a:off x="7639391" y="4258287"/>
              <a:ext cx="596187" cy="5130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="" xmlns:a16="http://schemas.microsoft.com/office/drawing/2014/main" id="{D6F33CCB-75D2-42B8-AED9-0C6C4266C8FE}"/>
                </a:ext>
              </a:extLst>
            </p:cNvPr>
            <p:cNvCxnSpPr>
              <a:cxnSpLocks/>
              <a:stCxn id="121" idx="7"/>
              <a:endCxn id="123" idx="1"/>
            </p:cNvCxnSpPr>
            <p:nvPr/>
          </p:nvCxnSpPr>
          <p:spPr bwMode="gray">
            <a:xfrm flipV="1">
              <a:off x="7726994" y="4628003"/>
              <a:ext cx="508584" cy="1960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="" xmlns:a16="http://schemas.microsoft.com/office/drawing/2014/main" id="{317131C3-2E11-4CB8-AEDB-BE41D133D457}"/>
                </a:ext>
              </a:extLst>
            </p:cNvPr>
            <p:cNvCxnSpPr>
              <a:cxnSpLocks/>
              <a:stCxn id="121" idx="6"/>
              <a:endCxn id="124" idx="1"/>
            </p:cNvCxnSpPr>
            <p:nvPr/>
          </p:nvCxnSpPr>
          <p:spPr bwMode="gray">
            <a:xfrm>
              <a:off x="7763282" y="4951362"/>
              <a:ext cx="472296" cy="990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="" xmlns:a16="http://schemas.microsoft.com/office/drawing/2014/main" id="{9C3D4FFF-430D-499F-A5FE-C128F0A76B96}"/>
                </a:ext>
              </a:extLst>
            </p:cNvPr>
            <p:cNvCxnSpPr>
              <a:cxnSpLocks/>
              <a:stCxn id="121" idx="5"/>
            </p:cNvCxnSpPr>
            <p:nvPr/>
          </p:nvCxnSpPr>
          <p:spPr bwMode="gray">
            <a:xfrm>
              <a:off x="7726994" y="5078655"/>
              <a:ext cx="472580" cy="3414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="" xmlns:a16="http://schemas.microsoft.com/office/drawing/2014/main" id="{B9BE0CF2-3BEE-4366-9618-514FB1CE00A9}"/>
                </a:ext>
              </a:extLst>
            </p:cNvPr>
            <p:cNvCxnSpPr>
              <a:cxnSpLocks/>
              <a:stCxn id="121" idx="4"/>
              <a:endCxn id="125" idx="1"/>
            </p:cNvCxnSpPr>
            <p:nvPr/>
          </p:nvCxnSpPr>
          <p:spPr bwMode="gray">
            <a:xfrm>
              <a:off x="7639391" y="5131382"/>
              <a:ext cx="596187" cy="6127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grpSp>
          <p:nvGrpSpPr>
            <p:cNvPr id="132" name="组合 131">
              <a:extLst>
                <a:ext uri="{FF2B5EF4-FFF2-40B4-BE49-F238E27FC236}">
                  <a16:creationId xmlns="" xmlns:a16="http://schemas.microsoft.com/office/drawing/2014/main" id="{721336C6-14F0-464F-A1A1-4C3908A11EE2}"/>
                </a:ext>
              </a:extLst>
            </p:cNvPr>
            <p:cNvGrpSpPr/>
            <p:nvPr/>
          </p:nvGrpSpPr>
          <p:grpSpPr bwMode="gray">
            <a:xfrm>
              <a:off x="9207686" y="4087959"/>
              <a:ext cx="540060" cy="1800200"/>
              <a:chOff x="9804412" y="2852936"/>
              <a:chExt cx="540060" cy="1800200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="" xmlns:a16="http://schemas.microsoft.com/office/drawing/2014/main" id="{B0C05B8B-854A-432D-AE02-05C3338D9B8C}"/>
                  </a:ext>
                </a:extLst>
              </p:cNvPr>
              <p:cNvGrpSpPr/>
              <p:nvPr/>
            </p:nvGrpSpPr>
            <p:grpSpPr bwMode="gray">
              <a:xfrm>
                <a:off x="9804412" y="2852936"/>
                <a:ext cx="540060" cy="1800200"/>
                <a:chOff x="7032104" y="2852936"/>
                <a:chExt cx="540060" cy="1800200"/>
              </a:xfrm>
            </p:grpSpPr>
            <p:sp>
              <p:nvSpPr>
                <p:cNvPr id="143" name="圆角矩形 78">
                  <a:extLst>
                    <a:ext uri="{FF2B5EF4-FFF2-40B4-BE49-F238E27FC236}">
                      <a16:creationId xmlns="" xmlns:a16="http://schemas.microsoft.com/office/drawing/2014/main" id="{51882321-6AA6-4651-A766-86442A014ABA}"/>
                    </a:ext>
                  </a:extLst>
                </p:cNvPr>
                <p:cNvSpPr/>
                <p:nvPr/>
              </p:nvSpPr>
              <p:spPr bwMode="gray">
                <a:xfrm>
                  <a:off x="7032104" y="2852936"/>
                  <a:ext cx="540060" cy="1800200"/>
                </a:xfrm>
                <a:prstGeom prst="round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t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44" name="文本框 143">
                  <a:extLst>
                    <a:ext uri="{FF2B5EF4-FFF2-40B4-BE49-F238E27FC236}">
                      <a16:creationId xmlns="" xmlns:a16="http://schemas.microsoft.com/office/drawing/2014/main" id="{447E96A5-9ADB-4B43-AFDB-063E6FAC0795}"/>
                    </a:ext>
                  </a:extLst>
                </p:cNvPr>
                <p:cNvSpPr txBox="1"/>
                <p:nvPr/>
              </p:nvSpPr>
              <p:spPr bwMode="gray">
                <a:xfrm>
                  <a:off x="7163320" y="3195344"/>
                  <a:ext cx="264087" cy="104199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87802" tIns="43901" rIns="87802" bIns="43901" numCol="1" rtlCol="0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endParaRPr lang="en-US" altLang="zh-CN" sz="12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  <a:p>
                  <a:pPr algn="ctr"/>
                  <a:endParaRPr lang="zh-CN" altLang="en-US" sz="12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142" name="任意多边形 81">
                <a:extLst>
                  <a:ext uri="{FF2B5EF4-FFF2-40B4-BE49-F238E27FC236}">
                    <a16:creationId xmlns="" xmlns:a16="http://schemas.microsoft.com/office/drawing/2014/main" id="{D02F10E2-FB99-4F56-9701-A2C541427FB7}"/>
                  </a:ext>
                </a:extLst>
              </p:cNvPr>
              <p:cNvSpPr/>
              <p:nvPr/>
            </p:nvSpPr>
            <p:spPr bwMode="gray">
              <a:xfrm rot="10800000">
                <a:off x="9884086" y="2987319"/>
                <a:ext cx="363000" cy="1528585"/>
              </a:xfrm>
              <a:custGeom>
                <a:avLst/>
                <a:gdLst>
                  <a:gd name="connsiteX0" fmla="*/ 363394 w 363394"/>
                  <a:gd name="connsiteY0" fmla="*/ 539772 h 1543059"/>
                  <a:gd name="connsiteX1" fmla="*/ 232765 w 363394"/>
                  <a:gd name="connsiteY1" fmla="*/ 2743 h 1543059"/>
                  <a:gd name="connsiteX2" fmla="*/ 537 w 363394"/>
                  <a:gd name="connsiteY2" fmla="*/ 742972 h 1543059"/>
                  <a:gd name="connsiteX3" fmla="*/ 174708 w 363394"/>
                  <a:gd name="connsiteY3" fmla="*/ 1541257 h 1543059"/>
                  <a:gd name="connsiteX4" fmla="*/ 363394 w 363394"/>
                  <a:gd name="connsiteY4" fmla="*/ 917143 h 1543059"/>
                  <a:gd name="connsiteX0" fmla="*/ 362857 w 362857"/>
                  <a:gd name="connsiteY0" fmla="*/ 554167 h 1557454"/>
                  <a:gd name="connsiteX1" fmla="*/ 174171 w 362857"/>
                  <a:gd name="connsiteY1" fmla="*/ 2624 h 1557454"/>
                  <a:gd name="connsiteX2" fmla="*/ 0 w 362857"/>
                  <a:gd name="connsiteY2" fmla="*/ 757367 h 1557454"/>
                  <a:gd name="connsiteX3" fmla="*/ 174171 w 362857"/>
                  <a:gd name="connsiteY3" fmla="*/ 1555652 h 1557454"/>
                  <a:gd name="connsiteX4" fmla="*/ 362857 w 362857"/>
                  <a:gd name="connsiteY4" fmla="*/ 931538 h 1557454"/>
                  <a:gd name="connsiteX0" fmla="*/ 363000 w 363000"/>
                  <a:gd name="connsiteY0" fmla="*/ 554167 h 1528585"/>
                  <a:gd name="connsiteX1" fmla="*/ 174314 w 363000"/>
                  <a:gd name="connsiteY1" fmla="*/ 2624 h 1528585"/>
                  <a:gd name="connsiteX2" fmla="*/ 143 w 363000"/>
                  <a:gd name="connsiteY2" fmla="*/ 757367 h 1528585"/>
                  <a:gd name="connsiteX3" fmla="*/ 203343 w 363000"/>
                  <a:gd name="connsiteY3" fmla="*/ 1526623 h 1528585"/>
                  <a:gd name="connsiteX4" fmla="*/ 363000 w 363000"/>
                  <a:gd name="connsiteY4" fmla="*/ 931538 h 152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000" h="1528585">
                    <a:moveTo>
                      <a:pt x="363000" y="554167"/>
                    </a:moveTo>
                    <a:cubicBezTo>
                      <a:pt x="327923" y="268719"/>
                      <a:pt x="234790" y="-31243"/>
                      <a:pt x="174314" y="2624"/>
                    </a:cubicBezTo>
                    <a:cubicBezTo>
                      <a:pt x="113838" y="36491"/>
                      <a:pt x="-4695" y="503367"/>
                      <a:pt x="143" y="757367"/>
                    </a:cubicBezTo>
                    <a:cubicBezTo>
                      <a:pt x="4981" y="1011367"/>
                      <a:pt x="142867" y="1497595"/>
                      <a:pt x="203343" y="1526623"/>
                    </a:cubicBezTo>
                    <a:cubicBezTo>
                      <a:pt x="263819" y="1555651"/>
                      <a:pt x="298895" y="1258109"/>
                      <a:pt x="363000" y="931538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33" name="直接箭头连接符 132">
              <a:extLst>
                <a:ext uri="{FF2B5EF4-FFF2-40B4-BE49-F238E27FC236}">
                  <a16:creationId xmlns="" xmlns:a16="http://schemas.microsoft.com/office/drawing/2014/main" id="{027690EE-D581-4DC1-A7B4-6527791BEEED}"/>
                </a:ext>
              </a:extLst>
            </p:cNvPr>
            <p:cNvCxnSpPr/>
            <p:nvPr/>
          </p:nvCxnSpPr>
          <p:spPr bwMode="gray">
            <a:xfrm>
              <a:off x="8955658" y="4267979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="" xmlns:a16="http://schemas.microsoft.com/office/drawing/2014/main" id="{85FAC560-CD22-400A-9452-CAC2D1531B63}"/>
                </a:ext>
              </a:extLst>
            </p:cNvPr>
            <p:cNvCxnSpPr/>
            <p:nvPr/>
          </p:nvCxnSpPr>
          <p:spPr bwMode="gray">
            <a:xfrm>
              <a:off x="8955658" y="4628019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="" xmlns:a16="http://schemas.microsoft.com/office/drawing/2014/main" id="{F71AFA5E-E0C8-4FFE-A805-371378F30928}"/>
                </a:ext>
              </a:extLst>
            </p:cNvPr>
            <p:cNvCxnSpPr/>
            <p:nvPr/>
          </p:nvCxnSpPr>
          <p:spPr bwMode="gray">
            <a:xfrm>
              <a:off x="8955658" y="5060067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="" xmlns:a16="http://schemas.microsoft.com/office/drawing/2014/main" id="{12A7E5CC-2676-406F-A8E5-1878769DA5EF}"/>
                </a:ext>
              </a:extLst>
            </p:cNvPr>
            <p:cNvCxnSpPr/>
            <p:nvPr/>
          </p:nvCxnSpPr>
          <p:spPr bwMode="gray">
            <a:xfrm>
              <a:off x="8955658" y="5744143"/>
              <a:ext cx="2520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="" xmlns:a16="http://schemas.microsoft.com/office/drawing/2014/main" id="{DE24F5BC-004A-4621-B7C0-5066D5404A05}"/>
                </a:ext>
              </a:extLst>
            </p:cNvPr>
            <p:cNvCxnSpPr/>
            <p:nvPr/>
          </p:nvCxnSpPr>
          <p:spPr bwMode="gray">
            <a:xfrm>
              <a:off x="9747746" y="4303984"/>
              <a:ext cx="288032" cy="39604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="" xmlns:a16="http://schemas.microsoft.com/office/drawing/2014/main" id="{22EAE74B-A926-445F-9E4B-5A1792E1CCB7}"/>
                </a:ext>
              </a:extLst>
            </p:cNvPr>
            <p:cNvCxnSpPr/>
            <p:nvPr/>
          </p:nvCxnSpPr>
          <p:spPr bwMode="gray">
            <a:xfrm>
              <a:off x="9747746" y="4664023"/>
              <a:ext cx="288032" cy="2160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39" name="直接箭头连接符 138">
              <a:extLst>
                <a:ext uri="{FF2B5EF4-FFF2-40B4-BE49-F238E27FC236}">
                  <a16:creationId xmlns="" xmlns:a16="http://schemas.microsoft.com/office/drawing/2014/main" id="{8068D1CA-729F-4654-B684-3324278835F6}"/>
                </a:ext>
              </a:extLst>
            </p:cNvPr>
            <p:cNvCxnSpPr/>
            <p:nvPr/>
          </p:nvCxnSpPr>
          <p:spPr bwMode="gray">
            <a:xfrm flipV="1">
              <a:off x="9747746" y="4951361"/>
              <a:ext cx="298087" cy="1087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40" name="直接箭头连接符 139">
              <a:extLst>
                <a:ext uri="{FF2B5EF4-FFF2-40B4-BE49-F238E27FC236}">
                  <a16:creationId xmlns="" xmlns:a16="http://schemas.microsoft.com/office/drawing/2014/main" id="{86023765-13ED-4F21-9786-9B606056D824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9747746" y="5122279"/>
              <a:ext cx="298087" cy="5865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145" name="Rectangle 85">
            <a:extLst>
              <a:ext uri="{FF2B5EF4-FFF2-40B4-BE49-F238E27FC236}">
                <a16:creationId xmlns="" xmlns:a16="http://schemas.microsoft.com/office/drawing/2014/main" id="{772089F5-C6C9-421E-A36A-39A9325624B8}"/>
              </a:ext>
            </a:extLst>
          </p:cNvPr>
          <p:cNvSpPr/>
          <p:nvPr/>
        </p:nvSpPr>
        <p:spPr bwMode="gray">
          <a:xfrm>
            <a:off x="8856008" y="5160921"/>
            <a:ext cx="953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调度</a:t>
            </a:r>
            <a:endParaRPr lang="en-US" altLang="zh-CN" sz="1400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五边形 148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燕尾形 14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1" name="燕尾形 150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159183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9D9039E-C1CB-4617-9AEB-A1248BC8FD0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简单流分类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3E042DA-045B-4702-8F26-091A311BD2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简单流分类是指采用简单的规则，如只根据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报文的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优先级或</a:t>
            </a:r>
            <a:r>
              <a:rPr lang="en-US" altLang="zh-CN" sz="1600" dirty="0">
                <a:sym typeface="Huawei Sans" panose="020C0503030203020204" pitchFamily="34" charset="0"/>
              </a:rPr>
              <a:t>DSCP</a:t>
            </a:r>
            <a:r>
              <a:rPr lang="zh-CN" altLang="en-US" sz="1600" dirty="0">
                <a:sym typeface="Huawei Sans" panose="020C0503030203020204" pitchFamily="34" charset="0"/>
              </a:rPr>
              <a:t>值、</a:t>
            </a:r>
            <a:r>
              <a:rPr lang="en-US" altLang="zh-CN" sz="1600" dirty="0"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ym typeface="Huawei Sans" panose="020C0503030203020204" pitchFamily="34" charset="0"/>
              </a:rPr>
              <a:t>报文的</a:t>
            </a:r>
            <a:r>
              <a:rPr lang="en-US" altLang="zh-CN" sz="1600" dirty="0">
                <a:sym typeface="Huawei Sans" panose="020C0503030203020204" pitchFamily="34" charset="0"/>
              </a:rPr>
              <a:t>TC</a:t>
            </a:r>
            <a:r>
              <a:rPr lang="zh-CN" altLang="en-US" sz="1600" dirty="0">
                <a:sym typeface="Huawei Sans" panose="020C0503030203020204" pitchFamily="34" charset="0"/>
              </a:rPr>
              <a:t>值、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报文的</a:t>
            </a:r>
            <a:r>
              <a:rPr lang="en-US" altLang="zh-CN" sz="1600" dirty="0">
                <a:sym typeface="Huawei Sans" panose="020C0503030203020204" pitchFamily="34" charset="0"/>
              </a:rPr>
              <a:t>EXP</a:t>
            </a:r>
            <a:r>
              <a:rPr lang="zh-CN" altLang="en-US" sz="1600" dirty="0">
                <a:sym typeface="Huawei Sans" panose="020C0503030203020204" pitchFamily="34" charset="0"/>
              </a:rPr>
              <a:t>域值、</a:t>
            </a:r>
            <a:r>
              <a:rPr lang="en-US" altLang="zh-CN" sz="1600" dirty="0">
                <a:sym typeface="Huawei Sans" panose="020C0503030203020204" pitchFamily="34" charset="0"/>
              </a:rPr>
              <a:t>VLAN</a:t>
            </a:r>
            <a:r>
              <a:rPr lang="zh-CN" altLang="en-US" sz="1600" dirty="0">
                <a:sym typeface="Huawei Sans" panose="020C0503030203020204" pitchFamily="34" charset="0"/>
              </a:rPr>
              <a:t>报文的</a:t>
            </a:r>
            <a:r>
              <a:rPr lang="en-US" altLang="zh-CN" sz="1600" dirty="0">
                <a:sym typeface="Huawei Sans" panose="020C0503030203020204" pitchFamily="34" charset="0"/>
              </a:rPr>
              <a:t>802.1P</a:t>
            </a:r>
            <a:r>
              <a:rPr lang="zh-CN" altLang="en-US" sz="1600" dirty="0">
                <a:sym typeface="Huawei Sans" panose="020C0503030203020204" pitchFamily="34" charset="0"/>
              </a:rPr>
              <a:t>值，对报文进行粗略的分类，以识别出具有不同优先级或服务等级特征的流量，实现外部优先级和内部优先级之间的映射。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9AA93A7E-D42E-4207-84AE-1C0D9B842E9D}"/>
              </a:ext>
            </a:extLst>
          </p:cNvPr>
          <p:cNvSpPr/>
          <p:nvPr/>
        </p:nvSpPr>
        <p:spPr bwMode="gray">
          <a:xfrm>
            <a:off x="1820590" y="2627400"/>
            <a:ext cx="1286958" cy="3139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802.1P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63617318-F992-49B5-BE3E-B16CD47705E7}"/>
              </a:ext>
            </a:extLst>
          </p:cNvPr>
          <p:cNvSpPr/>
          <p:nvPr/>
        </p:nvSpPr>
        <p:spPr bwMode="gray">
          <a:xfrm>
            <a:off x="1820590" y="2993053"/>
            <a:ext cx="1286958" cy="31387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EXP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28D3A677-88AF-4F99-9CCD-C56A746A02D1}"/>
              </a:ext>
            </a:extLst>
          </p:cNvPr>
          <p:cNvSpPr/>
          <p:nvPr/>
        </p:nvSpPr>
        <p:spPr bwMode="gray">
          <a:xfrm>
            <a:off x="1820590" y="3724289"/>
            <a:ext cx="1286958" cy="31387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DSCP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="" xmlns:a16="http://schemas.microsoft.com/office/drawing/2014/main" id="{3BDECD64-DD6D-4B85-B19A-8FCDA71D8319}"/>
              </a:ext>
            </a:extLst>
          </p:cNvPr>
          <p:cNvSpPr/>
          <p:nvPr/>
        </p:nvSpPr>
        <p:spPr bwMode="gray">
          <a:xfrm>
            <a:off x="3467588" y="3220233"/>
            <a:ext cx="540000" cy="540000"/>
          </a:xfrm>
          <a:prstGeom prst="ellipse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="" xmlns:a16="http://schemas.microsoft.com/office/drawing/2014/main" id="{E9C2A833-FCBD-49A4-9FE7-CC3D824E7F3F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 bwMode="gray">
          <a:xfrm>
            <a:off x="3107548" y="2784355"/>
            <a:ext cx="439121" cy="5149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>
            <a:extLst>
              <a:ext uri="{FF2B5EF4-FFF2-40B4-BE49-F238E27FC236}">
                <a16:creationId xmlns="" xmlns:a16="http://schemas.microsoft.com/office/drawing/2014/main" id="{3632DCEE-D511-4FB6-BE98-2C0D6D2099FF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 bwMode="gray">
          <a:xfrm>
            <a:off x="3107548" y="3149990"/>
            <a:ext cx="360040" cy="3402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>
            <a:extLst>
              <a:ext uri="{FF2B5EF4-FFF2-40B4-BE49-F238E27FC236}">
                <a16:creationId xmlns="" xmlns:a16="http://schemas.microsoft.com/office/drawing/2014/main" id="{886E67C1-F08D-493E-9A8C-C4A0AD6B4188}"/>
              </a:ext>
            </a:extLst>
          </p:cNvPr>
          <p:cNvCxnSpPr>
            <a:cxnSpLocks/>
            <a:stCxn id="9" idx="3"/>
            <a:endCxn id="10" idx="3"/>
          </p:cNvCxnSpPr>
          <p:nvPr/>
        </p:nvCxnSpPr>
        <p:spPr bwMode="gray">
          <a:xfrm flipV="1">
            <a:off x="3107548" y="3681152"/>
            <a:ext cx="439121" cy="2000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65D126EC-327E-4322-B712-D15B86B496E9}"/>
              </a:ext>
            </a:extLst>
          </p:cNvPr>
          <p:cNvSpPr txBox="1"/>
          <p:nvPr/>
        </p:nvSpPr>
        <p:spPr bwMode="gray">
          <a:xfrm>
            <a:off x="3455963" y="3317400"/>
            <a:ext cx="58768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映射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="" xmlns:a16="http://schemas.microsoft.com/office/drawing/2014/main" id="{C6D8E365-55FF-47F6-B84B-157628534E8A}"/>
              </a:ext>
            </a:extLst>
          </p:cNvPr>
          <p:cNvCxnSpPr>
            <a:stCxn id="14" idx="3"/>
          </p:cNvCxnSpPr>
          <p:nvPr/>
        </p:nvCxnSpPr>
        <p:spPr bwMode="gray">
          <a:xfrm>
            <a:off x="4043652" y="3484841"/>
            <a:ext cx="32403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16" name="表格 15">
            <a:extLst>
              <a:ext uri="{FF2B5EF4-FFF2-40B4-BE49-F238E27FC236}">
                <a16:creationId xmlns="" xmlns:a16="http://schemas.microsoft.com/office/drawing/2014/main" id="{0C6EBA02-213E-41BD-AFF3-9C1F1978A6B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39696" y="3004209"/>
          <a:ext cx="1188132" cy="889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881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Service Class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Color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右箭头 30">
            <a:extLst>
              <a:ext uri="{FF2B5EF4-FFF2-40B4-BE49-F238E27FC236}">
                <a16:creationId xmlns="" xmlns:a16="http://schemas.microsoft.com/office/drawing/2014/main" id="{7E186260-D31C-4D88-9723-EEFE657C84F5}"/>
              </a:ext>
            </a:extLst>
          </p:cNvPr>
          <p:cNvSpPr/>
          <p:nvPr/>
        </p:nvSpPr>
        <p:spPr bwMode="gray">
          <a:xfrm>
            <a:off x="5699836" y="3220233"/>
            <a:ext cx="540000" cy="540000"/>
          </a:xfrm>
          <a:prstGeom prst="rightArrow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16F9A387-D061-4DB7-A90A-DD9410AE3770}"/>
              </a:ext>
            </a:extLst>
          </p:cNvPr>
          <p:cNvSpPr/>
          <p:nvPr/>
        </p:nvSpPr>
        <p:spPr bwMode="gray">
          <a:xfrm>
            <a:off x="6311904" y="2821160"/>
            <a:ext cx="432048" cy="14761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右箭头 33">
            <a:extLst>
              <a:ext uri="{FF2B5EF4-FFF2-40B4-BE49-F238E27FC236}">
                <a16:creationId xmlns="" xmlns:a16="http://schemas.microsoft.com/office/drawing/2014/main" id="{6D178290-59A6-4854-BEA1-CBF4872D9BF5}"/>
              </a:ext>
            </a:extLst>
          </p:cNvPr>
          <p:cNvSpPr/>
          <p:nvPr/>
        </p:nvSpPr>
        <p:spPr bwMode="gray">
          <a:xfrm>
            <a:off x="6851964" y="3613248"/>
            <a:ext cx="540000" cy="540000"/>
          </a:xfrm>
          <a:prstGeom prst="rightArrow">
            <a:avLst/>
          </a:prstGeom>
          <a:solidFill>
            <a:srgbClr val="E28189"/>
          </a:solidFill>
          <a:ln w="9525" cap="flat" cmpd="sng" algn="ctr">
            <a:solidFill>
              <a:srgbClr val="E281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="" xmlns:a16="http://schemas.microsoft.com/office/drawing/2014/main" id="{65E05A0C-0095-4E29-8604-62D43F9B0C9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464032" y="3433228"/>
          <a:ext cx="1188132" cy="889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881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Service Class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Color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椭圆 20">
            <a:extLst>
              <a:ext uri="{FF2B5EF4-FFF2-40B4-BE49-F238E27FC236}">
                <a16:creationId xmlns="" xmlns:a16="http://schemas.microsoft.com/office/drawing/2014/main" id="{5439384C-3F33-4850-900C-DC2353B1EA0B}"/>
              </a:ext>
            </a:extLst>
          </p:cNvPr>
          <p:cNvSpPr/>
          <p:nvPr/>
        </p:nvSpPr>
        <p:spPr bwMode="gray">
          <a:xfrm>
            <a:off x="9048208" y="3577244"/>
            <a:ext cx="540000" cy="540000"/>
          </a:xfrm>
          <a:prstGeom prst="ellipse">
            <a:avLst/>
          </a:prstGeom>
          <a:solidFill>
            <a:srgbClr val="E28189"/>
          </a:solidFill>
          <a:ln w="9525" cap="flat" cmpd="sng" algn="ctr">
            <a:solidFill>
              <a:srgbClr val="E281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="" xmlns:a16="http://schemas.microsoft.com/office/drawing/2014/main" id="{6BEA7A2D-63F2-4AAB-9354-E5BCF2D4F308}"/>
              </a:ext>
            </a:extLst>
          </p:cNvPr>
          <p:cNvCxnSpPr>
            <a:stCxn id="21" idx="7"/>
            <a:endCxn id="26" idx="1"/>
          </p:cNvCxnSpPr>
          <p:nvPr/>
        </p:nvCxnSpPr>
        <p:spPr bwMode="gray">
          <a:xfrm flipV="1">
            <a:off x="9509127" y="3451212"/>
            <a:ext cx="439181" cy="2051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接箭头连接符 22">
            <a:extLst>
              <a:ext uri="{FF2B5EF4-FFF2-40B4-BE49-F238E27FC236}">
                <a16:creationId xmlns="" xmlns:a16="http://schemas.microsoft.com/office/drawing/2014/main" id="{73AED72F-5A71-4756-B3AE-98EA2F5392B0}"/>
              </a:ext>
            </a:extLst>
          </p:cNvPr>
          <p:cNvCxnSpPr>
            <a:endCxn id="21" idx="2"/>
          </p:cNvCxnSpPr>
          <p:nvPr/>
        </p:nvCxnSpPr>
        <p:spPr bwMode="gray">
          <a:xfrm flipV="1">
            <a:off x="8688168" y="3847244"/>
            <a:ext cx="360040" cy="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接箭头连接符 23">
            <a:extLst>
              <a:ext uri="{FF2B5EF4-FFF2-40B4-BE49-F238E27FC236}">
                <a16:creationId xmlns="" xmlns:a16="http://schemas.microsoft.com/office/drawing/2014/main" id="{83F6358F-A8D6-4BEB-A868-81847F70781F}"/>
              </a:ext>
            </a:extLst>
          </p:cNvPr>
          <p:cNvCxnSpPr>
            <a:stCxn id="21" idx="5"/>
            <a:endCxn id="28" idx="1"/>
          </p:cNvCxnSpPr>
          <p:nvPr/>
        </p:nvCxnSpPr>
        <p:spPr bwMode="gray">
          <a:xfrm>
            <a:off x="9509127" y="4038163"/>
            <a:ext cx="439181" cy="2051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接箭头连接符 24">
            <a:extLst>
              <a:ext uri="{FF2B5EF4-FFF2-40B4-BE49-F238E27FC236}">
                <a16:creationId xmlns="" xmlns:a16="http://schemas.microsoft.com/office/drawing/2014/main" id="{1535743B-30F6-47EF-B312-2437B2AB087A}"/>
              </a:ext>
            </a:extLst>
          </p:cNvPr>
          <p:cNvCxnSpPr>
            <a:stCxn id="21" idx="6"/>
            <a:endCxn id="27" idx="1"/>
          </p:cNvCxnSpPr>
          <p:nvPr/>
        </p:nvCxnSpPr>
        <p:spPr bwMode="gray">
          <a:xfrm>
            <a:off x="9588208" y="3847244"/>
            <a:ext cx="3601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ABD63D7C-3AF0-46A7-8404-1CD798C94995}"/>
              </a:ext>
            </a:extLst>
          </p:cNvPr>
          <p:cNvSpPr/>
          <p:nvPr/>
        </p:nvSpPr>
        <p:spPr bwMode="gray">
          <a:xfrm>
            <a:off x="9948308" y="3289194"/>
            <a:ext cx="1080120" cy="3240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802.1P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DBC63E47-4213-48C8-8C9D-8FB8FB1742A7}"/>
              </a:ext>
            </a:extLst>
          </p:cNvPr>
          <p:cNvSpPr/>
          <p:nvPr/>
        </p:nvSpPr>
        <p:spPr bwMode="gray">
          <a:xfrm>
            <a:off x="9948308" y="3685244"/>
            <a:ext cx="1080120" cy="324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EXP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828F5AA1-7F8F-4D71-8CE1-D0990B424B46}"/>
              </a:ext>
            </a:extLst>
          </p:cNvPr>
          <p:cNvSpPr/>
          <p:nvPr/>
        </p:nvSpPr>
        <p:spPr bwMode="gray">
          <a:xfrm>
            <a:off x="9948308" y="4081282"/>
            <a:ext cx="1080120" cy="324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DSCP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5DF6CABF-D4C1-4C2B-B3B8-3762B217F499}"/>
              </a:ext>
            </a:extLst>
          </p:cNvPr>
          <p:cNvSpPr txBox="1"/>
          <p:nvPr/>
        </p:nvSpPr>
        <p:spPr bwMode="gray">
          <a:xfrm>
            <a:off x="9029879" y="3688822"/>
            <a:ext cx="58768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映射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05E3B8B1-4206-4E0C-9897-CDA751FF169C}"/>
              </a:ext>
            </a:extLst>
          </p:cNvPr>
          <p:cNvCxnSpPr/>
          <p:nvPr/>
        </p:nvCxnSpPr>
        <p:spPr bwMode="gray">
          <a:xfrm>
            <a:off x="6311904" y="2821160"/>
            <a:ext cx="432048" cy="14761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="" xmlns:a16="http://schemas.microsoft.com/office/drawing/2014/main" id="{97FA7489-481B-492B-8EEA-E13BA02A4A9F}"/>
              </a:ext>
            </a:extLst>
          </p:cNvPr>
          <p:cNvCxnSpPr/>
          <p:nvPr/>
        </p:nvCxnSpPr>
        <p:spPr bwMode="gray">
          <a:xfrm flipH="1">
            <a:off x="6311904" y="2821160"/>
            <a:ext cx="432048" cy="14761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B9FB9A15-F8B8-4382-852D-749F152AE11E}"/>
              </a:ext>
            </a:extLst>
          </p:cNvPr>
          <p:cNvSpPr txBox="1"/>
          <p:nvPr/>
        </p:nvSpPr>
        <p:spPr bwMode="gray">
          <a:xfrm>
            <a:off x="6075168" y="2465664"/>
            <a:ext cx="895464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交换网板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38AA698F-A77C-4973-817B-C17B8194908E}"/>
              </a:ext>
            </a:extLst>
          </p:cNvPr>
          <p:cNvSpPr txBox="1"/>
          <p:nvPr/>
        </p:nvSpPr>
        <p:spPr bwMode="gray">
          <a:xfrm>
            <a:off x="3356369" y="2464095"/>
            <a:ext cx="100446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上行方向</a:t>
            </a:r>
            <a:endParaRPr lang="zh-CN" altLang="en-US" sz="1600" b="1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下箭头 70">
            <a:extLst>
              <a:ext uri="{FF2B5EF4-FFF2-40B4-BE49-F238E27FC236}">
                <a16:creationId xmlns="" xmlns:a16="http://schemas.microsoft.com/office/drawing/2014/main" id="{7D35B3CE-58C8-49E2-B1E1-E7ED27644804}"/>
              </a:ext>
            </a:extLst>
          </p:cNvPr>
          <p:cNvSpPr/>
          <p:nvPr/>
        </p:nvSpPr>
        <p:spPr bwMode="gray">
          <a:xfrm>
            <a:off x="2459476" y="4115467"/>
            <a:ext cx="252028" cy="361260"/>
          </a:xfrm>
          <a:prstGeom prst="downArrow">
            <a:avLst/>
          </a:prstGeom>
          <a:solidFill>
            <a:srgbClr val="BEE9E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下箭头 85">
            <a:extLst>
              <a:ext uri="{FF2B5EF4-FFF2-40B4-BE49-F238E27FC236}">
                <a16:creationId xmlns="" xmlns:a16="http://schemas.microsoft.com/office/drawing/2014/main" id="{624E8C9B-D9D9-4BCB-9F29-064EE906B67C}"/>
              </a:ext>
            </a:extLst>
          </p:cNvPr>
          <p:cNvSpPr/>
          <p:nvPr/>
        </p:nvSpPr>
        <p:spPr bwMode="gray">
          <a:xfrm>
            <a:off x="4907748" y="3991513"/>
            <a:ext cx="252028" cy="432024"/>
          </a:xfrm>
          <a:prstGeom prst="downArrow">
            <a:avLst/>
          </a:prstGeom>
          <a:solidFill>
            <a:srgbClr val="BEE9E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7340EC21-F307-40FE-A9DA-B217AF9A6052}"/>
              </a:ext>
            </a:extLst>
          </p:cNvPr>
          <p:cNvSpPr/>
          <p:nvPr/>
        </p:nvSpPr>
        <p:spPr bwMode="gray">
          <a:xfrm>
            <a:off x="718708" y="2627401"/>
            <a:ext cx="1080120" cy="3240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A433D82A-A482-4C27-88EE-48398EB92EAF}"/>
              </a:ext>
            </a:extLst>
          </p:cNvPr>
          <p:cNvSpPr/>
          <p:nvPr/>
        </p:nvSpPr>
        <p:spPr bwMode="gray">
          <a:xfrm>
            <a:off x="718708" y="3023463"/>
            <a:ext cx="1080120" cy="32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="" xmlns:a16="http://schemas.microsoft.com/office/drawing/2014/main" id="{A3B83B7B-D79E-4F70-A1EE-4FA10B02FAF6}"/>
              </a:ext>
            </a:extLst>
          </p:cNvPr>
          <p:cNvSpPr/>
          <p:nvPr/>
        </p:nvSpPr>
        <p:spPr bwMode="gray">
          <a:xfrm>
            <a:off x="1912092" y="2183577"/>
            <a:ext cx="1080120" cy="324000"/>
          </a:xfrm>
          <a:prstGeom prst="rect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简单流分类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3AB73A18-1EC0-4499-9782-18B7E25CA9F5}"/>
              </a:ext>
            </a:extLst>
          </p:cNvPr>
          <p:cNvSpPr txBox="1"/>
          <p:nvPr/>
        </p:nvSpPr>
        <p:spPr bwMode="gray">
          <a:xfrm>
            <a:off x="8292124" y="4434998"/>
            <a:ext cx="998056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下行方向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B6F957F-515D-452B-96AC-76616E81DFAD}"/>
              </a:ext>
            </a:extLst>
          </p:cNvPr>
          <p:cNvSpPr/>
          <p:nvPr/>
        </p:nvSpPr>
        <p:spPr bwMode="gray">
          <a:xfrm>
            <a:off x="1937492" y="4906314"/>
            <a:ext cx="1332000" cy="939513"/>
          </a:xfrm>
          <a:prstGeom prst="rect">
            <a:avLst/>
          </a:prstGeom>
          <a:solidFill>
            <a:srgbClr val="F4FBF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A674EA07-91A1-4E35-89C0-06BF337E9A4C}"/>
              </a:ext>
            </a:extLst>
          </p:cNvPr>
          <p:cNvSpPr/>
          <p:nvPr/>
        </p:nvSpPr>
        <p:spPr bwMode="gray">
          <a:xfrm>
            <a:off x="3647608" y="4906314"/>
            <a:ext cx="1332000" cy="939513"/>
          </a:xfrm>
          <a:prstGeom prst="rect">
            <a:avLst/>
          </a:prstGeom>
          <a:solidFill>
            <a:srgbClr val="F4FBF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C979AF11-B40B-4DD3-8D7C-44137B4183D9}"/>
              </a:ext>
            </a:extLst>
          </p:cNvPr>
          <p:cNvSpPr/>
          <p:nvPr/>
        </p:nvSpPr>
        <p:spPr bwMode="gray">
          <a:xfrm>
            <a:off x="5159776" y="4906315"/>
            <a:ext cx="1332000" cy="939512"/>
          </a:xfrm>
          <a:prstGeom prst="rect">
            <a:avLst/>
          </a:prstGeom>
          <a:solidFill>
            <a:srgbClr val="F4FBF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D63F4F5F-0E0B-4F7C-A7AD-3645D7BA683C}"/>
              </a:ext>
            </a:extLst>
          </p:cNvPr>
          <p:cNvSpPr txBox="1"/>
          <p:nvPr/>
        </p:nvSpPr>
        <p:spPr bwMode="gray">
          <a:xfrm>
            <a:off x="1983021" y="4900781"/>
            <a:ext cx="1224136" cy="8965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不同的报文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使用不同的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EA7764C8-3274-4A01-9746-6079C6C04712}"/>
              </a:ext>
            </a:extLst>
          </p:cNvPr>
          <p:cNvSpPr/>
          <p:nvPr/>
        </p:nvSpPr>
        <p:spPr bwMode="gray">
          <a:xfrm>
            <a:off x="1937492" y="4611913"/>
            <a:ext cx="1332000" cy="271810"/>
          </a:xfrm>
          <a:prstGeom prst="rect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报文头优先级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EB89103F-4AB7-4952-90B9-A5F4A269277F}"/>
              </a:ext>
            </a:extLst>
          </p:cNvPr>
          <p:cNvSpPr txBox="1"/>
          <p:nvPr/>
        </p:nvSpPr>
        <p:spPr bwMode="gray">
          <a:xfrm>
            <a:off x="3693137" y="4900781"/>
            <a:ext cx="1224136" cy="8965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设备内部的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服务等级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="" xmlns:a16="http://schemas.microsoft.com/office/drawing/2014/main" id="{07C08310-37D6-49FD-8593-E7388FBAAF05}"/>
              </a:ext>
            </a:extLst>
          </p:cNvPr>
          <p:cNvSpPr/>
          <p:nvPr/>
        </p:nvSpPr>
        <p:spPr bwMode="gray">
          <a:xfrm>
            <a:off x="3647608" y="4611913"/>
            <a:ext cx="1332148" cy="271810"/>
          </a:xfrm>
          <a:prstGeom prst="rect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t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Service Class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="" xmlns:a16="http://schemas.microsoft.com/office/drawing/2014/main" id="{83CB1182-2E33-4A94-B1D6-6298BE848DCD}"/>
              </a:ext>
            </a:extLst>
          </p:cNvPr>
          <p:cNvSpPr txBox="1"/>
          <p:nvPr/>
        </p:nvSpPr>
        <p:spPr bwMode="gray">
          <a:xfrm>
            <a:off x="5205305" y="4900781"/>
            <a:ext cx="1224136" cy="8965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设备内部的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丢弃优先级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273C50AB-2AE9-4B46-BD05-35B79BB06839}"/>
              </a:ext>
            </a:extLst>
          </p:cNvPr>
          <p:cNvSpPr/>
          <p:nvPr/>
        </p:nvSpPr>
        <p:spPr bwMode="gray">
          <a:xfrm>
            <a:off x="5159776" y="4611913"/>
            <a:ext cx="1332148" cy="271810"/>
          </a:xfrm>
          <a:prstGeom prst="rect">
            <a:avLst/>
          </a:prstGeom>
          <a:solidFill>
            <a:srgbClr val="56C4D2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t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Color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="" xmlns:a16="http://schemas.microsoft.com/office/drawing/2014/main" id="{FF27C56A-84A9-4889-B620-BA195ABE018B}"/>
              </a:ext>
            </a:extLst>
          </p:cNvPr>
          <p:cNvSpPr/>
          <p:nvPr/>
        </p:nvSpPr>
        <p:spPr bwMode="gray">
          <a:xfrm>
            <a:off x="2081508" y="5888650"/>
            <a:ext cx="1080120" cy="2718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外部优先级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DE97CF05-FE31-4464-BCC5-F44749C17BAA}"/>
              </a:ext>
            </a:extLst>
          </p:cNvPr>
          <p:cNvSpPr/>
          <p:nvPr/>
        </p:nvSpPr>
        <p:spPr bwMode="gray">
          <a:xfrm>
            <a:off x="3755620" y="5888650"/>
            <a:ext cx="1080120" cy="2718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部优先级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="" xmlns:a16="http://schemas.microsoft.com/office/drawing/2014/main" id="{2C393877-9104-4366-B019-09378721B666}"/>
              </a:ext>
            </a:extLst>
          </p:cNvPr>
          <p:cNvSpPr/>
          <p:nvPr/>
        </p:nvSpPr>
        <p:spPr bwMode="gray">
          <a:xfrm>
            <a:off x="5303792" y="5888650"/>
            <a:ext cx="1080120" cy="2718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丢弃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优先级</a:t>
            </a:r>
          </a:p>
        </p:txBody>
      </p:sp>
      <p:sp>
        <p:nvSpPr>
          <p:cNvPr id="51" name="Rectangle: Rounded Corners 2">
            <a:extLst>
              <a:ext uri="{FF2B5EF4-FFF2-40B4-BE49-F238E27FC236}">
                <a16:creationId xmlns="" xmlns:a16="http://schemas.microsoft.com/office/drawing/2014/main" id="{1C5D410A-87C3-42FD-901B-00EF560F0771}"/>
              </a:ext>
            </a:extLst>
          </p:cNvPr>
          <p:cNvSpPr/>
          <p:nvPr/>
        </p:nvSpPr>
        <p:spPr bwMode="gray">
          <a:xfrm>
            <a:off x="1820590" y="4520350"/>
            <a:ext cx="1529948" cy="1666266"/>
          </a:xfrm>
          <a:prstGeom prst="roundRect">
            <a:avLst>
              <a:gd name="adj" fmla="val 3025"/>
            </a:avLst>
          </a:prstGeom>
          <a:noFill/>
          <a:ln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Rectangle: Rounded Corners 3">
            <a:extLst>
              <a:ext uri="{FF2B5EF4-FFF2-40B4-BE49-F238E27FC236}">
                <a16:creationId xmlns="" xmlns:a16="http://schemas.microsoft.com/office/drawing/2014/main" id="{47111DA6-D583-4BA6-9B9A-F2D6FC3741D4}"/>
              </a:ext>
            </a:extLst>
          </p:cNvPr>
          <p:cNvSpPr/>
          <p:nvPr/>
        </p:nvSpPr>
        <p:spPr bwMode="gray">
          <a:xfrm>
            <a:off x="3573098" y="4520349"/>
            <a:ext cx="3008761" cy="1677247"/>
          </a:xfrm>
          <a:prstGeom prst="roundRect">
            <a:avLst>
              <a:gd name="adj" fmla="val 3025"/>
            </a:avLst>
          </a:prstGeom>
          <a:noFill/>
          <a:ln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="" xmlns:a16="http://schemas.microsoft.com/office/drawing/2014/main" id="{C5043D8F-8E76-4754-B79E-F50EC8C52E5B}"/>
              </a:ext>
            </a:extLst>
          </p:cNvPr>
          <p:cNvSpPr/>
          <p:nvPr/>
        </p:nvSpPr>
        <p:spPr bwMode="gray">
          <a:xfrm>
            <a:off x="1820590" y="3358671"/>
            <a:ext cx="1286958" cy="31387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IP-Precedence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="" xmlns:a16="http://schemas.microsoft.com/office/drawing/2014/main" id="{6B303CBC-29F4-4883-8ECE-C218ADB00EAF}"/>
              </a:ext>
            </a:extLst>
          </p:cNvPr>
          <p:cNvSpPr/>
          <p:nvPr/>
        </p:nvSpPr>
        <p:spPr bwMode="gray">
          <a:xfrm>
            <a:off x="718708" y="3497011"/>
            <a:ext cx="1080120" cy="32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</a:p>
        </p:txBody>
      </p:sp>
      <p:sp>
        <p:nvSpPr>
          <p:cNvPr id="58" name="五边形 57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燕尾形 58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燕尾形 59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1816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4FB45F6-2FCA-48F6-86F3-7B22077C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DSCP/IP-Precedence/802.1p/EXP</a:t>
            </a:r>
            <a:r>
              <a:rPr lang="zh-CN" altLang="en-US" dirty="0">
                <a:sym typeface="Huawei Sans" panose="020C0503030203020204" pitchFamily="34" charset="0"/>
              </a:rPr>
              <a:t>的对应关系</a:t>
            </a:r>
          </a:p>
        </p:txBody>
      </p:sp>
      <p:sp>
        <p:nvSpPr>
          <p:cNvPr id="34" name="任意多边形 7">
            <a:extLst>
              <a:ext uri="{FF2B5EF4-FFF2-40B4-BE49-F238E27FC236}">
                <a16:creationId xmlns="" xmlns:a16="http://schemas.microsoft.com/office/drawing/2014/main" id="{AEDDBBA0-C004-401B-9E1B-00B46B70B45B}"/>
              </a:ext>
            </a:extLst>
          </p:cNvPr>
          <p:cNvSpPr/>
          <p:nvPr/>
        </p:nvSpPr>
        <p:spPr>
          <a:xfrm flipV="1">
            <a:off x="943557" y="2055233"/>
            <a:ext cx="330200" cy="2840236"/>
          </a:xfrm>
          <a:custGeom>
            <a:avLst/>
            <a:gdLst>
              <a:gd name="connsiteX0" fmla="*/ 330200 w 330200"/>
              <a:gd name="connsiteY0" fmla="*/ 3416300 h 3416300"/>
              <a:gd name="connsiteX1" fmla="*/ 330200 w 330200"/>
              <a:gd name="connsiteY1" fmla="*/ 0 h 3416300"/>
              <a:gd name="connsiteX2" fmla="*/ 0 w 330200"/>
              <a:gd name="connsiteY2" fmla="*/ 330200 h 3416300"/>
              <a:gd name="connsiteX3" fmla="*/ 139700 w 330200"/>
              <a:gd name="connsiteY3" fmla="*/ 330200 h 3416300"/>
              <a:gd name="connsiteX4" fmla="*/ 139700 w 330200"/>
              <a:gd name="connsiteY4" fmla="*/ 3403600 h 3416300"/>
              <a:gd name="connsiteX5" fmla="*/ 330200 w 330200"/>
              <a:gd name="connsiteY5" fmla="*/ 3416300 h 341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200" h="3416300">
                <a:moveTo>
                  <a:pt x="330200" y="3416300"/>
                </a:moveTo>
                <a:lnTo>
                  <a:pt x="330200" y="0"/>
                </a:lnTo>
                <a:lnTo>
                  <a:pt x="0" y="330200"/>
                </a:lnTo>
                <a:lnTo>
                  <a:pt x="139700" y="330200"/>
                </a:lnTo>
                <a:lnTo>
                  <a:pt x="139700" y="3403600"/>
                </a:lnTo>
                <a:lnTo>
                  <a:pt x="330200" y="3416300"/>
                </a:lnTo>
                <a:close/>
              </a:path>
            </a:pathLst>
          </a:custGeom>
          <a:gradFill>
            <a:gsLst>
              <a:gs pos="0">
                <a:srgbClr val="56C4D2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F42E1AFC-E612-4B87-A163-37E7923CC768}"/>
              </a:ext>
            </a:extLst>
          </p:cNvPr>
          <p:cNvSpPr txBox="1"/>
          <p:nvPr/>
        </p:nvSpPr>
        <p:spPr bwMode="auto">
          <a:xfrm>
            <a:off x="619521" y="2163245"/>
            <a:ext cx="509689" cy="265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zh-CN" altLang="en-US" sz="20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优先级由高到低</a:t>
            </a:r>
          </a:p>
        </p:txBody>
      </p:sp>
      <p:sp>
        <p:nvSpPr>
          <p:cNvPr id="9" name="五边形 8"/>
          <p:cNvSpPr/>
          <p:nvPr/>
        </p:nvSpPr>
        <p:spPr bwMode="auto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auto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  <p:graphicFrame>
        <p:nvGraphicFramePr>
          <p:cNvPr id="12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366470"/>
              </p:ext>
            </p:extLst>
          </p:nvPr>
        </p:nvGraphicFramePr>
        <p:xfrm>
          <a:off x="1356734" y="2038654"/>
          <a:ext cx="9837046" cy="28465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8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4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04898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4050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4081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802.1P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MPLS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 </a:t>
                      </a:r>
                      <a:r>
                        <a:rPr lang="en-US" altLang="zh-CN" sz="1600" b="1" baseline="0" dirty="0" err="1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Exp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IP-Precedence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DSCP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DSCP Name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9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7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7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7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56-63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CS</a:t>
                      </a:r>
                      <a:endParaRPr lang="zh-CN" altLang="en-US" sz="1400" b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CS7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56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6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6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6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48-55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CS6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48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5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5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5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40-47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EF</a:t>
                      </a:r>
                      <a:endParaRPr lang="en-US" altLang="zh-CN" sz="1400" b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EF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46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4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32-39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</a:t>
                      </a:r>
                      <a:endParaRPr lang="zh-CN" altLang="en-US" sz="1400" b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AF4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AF41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34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  <a:endParaRPr lang="zh-CN" altLang="en-US" sz="1400" b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AF42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36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AF43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38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24-31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AF31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26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AF32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28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AF33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30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16-23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AF2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AF21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18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AF22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20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AF23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22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8-15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AF1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AF11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10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AF12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12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AF13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14</a:t>
                      </a:r>
                      <a:r>
                        <a:rPr lang="zh-CN" altLang="en-US" sz="1400" b="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2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0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0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0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0-7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BE</a:t>
                      </a:r>
                      <a:endParaRPr lang="zh-CN" altLang="en-US" sz="1400" b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BE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（</a:t>
                      </a:r>
                      <a:r>
                        <a:rPr lang="en-US" altLang="zh-CN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0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32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FE3A9EA-32C6-4B9B-9271-21E878F8040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流量监管与流量整形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4D35349-B4C8-4A90-B182-1D936275D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流量监管与流量整形都属于流量限速技术。前者对进入设备的流量进行监控，限制流量在一个允许的流入速率范围。如果流量过大就丢弃报文或重新设置报文优先级。后者是对输出报文的速率进行控制，使报文以均匀速率发出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流量监管与流量整形都使用令牌桶算法评估流量速率。</a:t>
            </a:r>
          </a:p>
        </p:txBody>
      </p:sp>
      <p:sp>
        <p:nvSpPr>
          <p:cNvPr id="4" name="五边形 63">
            <a:extLst>
              <a:ext uri="{FF2B5EF4-FFF2-40B4-BE49-F238E27FC236}">
                <a16:creationId xmlns="" xmlns:a16="http://schemas.microsoft.com/office/drawing/2014/main" id="{AACE6A16-8CD1-44E5-B480-B679561641DC}"/>
              </a:ext>
            </a:extLst>
          </p:cNvPr>
          <p:cNvSpPr/>
          <p:nvPr/>
        </p:nvSpPr>
        <p:spPr bwMode="gray">
          <a:xfrm>
            <a:off x="5841169" y="4293243"/>
            <a:ext cx="3947841" cy="1782309"/>
          </a:xfrm>
          <a:prstGeom prst="homePlate">
            <a:avLst>
              <a:gd name="adj" fmla="val 12894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右箭头标注 23">
            <a:extLst>
              <a:ext uri="{FF2B5EF4-FFF2-40B4-BE49-F238E27FC236}">
                <a16:creationId xmlns="" xmlns:a16="http://schemas.microsoft.com/office/drawing/2014/main" id="{54CDE838-8C59-44A5-97C5-5DC1615CF247}"/>
              </a:ext>
            </a:extLst>
          </p:cNvPr>
          <p:cNvSpPr/>
          <p:nvPr/>
        </p:nvSpPr>
        <p:spPr bwMode="gray">
          <a:xfrm>
            <a:off x="1990639" y="4957945"/>
            <a:ext cx="1303176" cy="506464"/>
          </a:xfrm>
          <a:prstGeom prst="rightArrowCallout">
            <a:avLst>
              <a:gd name="adj1" fmla="val 23271"/>
              <a:gd name="adj2" fmla="val 25000"/>
              <a:gd name="adj3" fmla="val 19073"/>
              <a:gd name="adj4" fmla="val 75831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流分类和标记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3537BE26-4433-43CF-BB7B-C660AEE19EED}"/>
              </a:ext>
            </a:extLst>
          </p:cNvPr>
          <p:cNvSpPr/>
          <p:nvPr/>
        </p:nvSpPr>
        <p:spPr bwMode="gray">
          <a:xfrm>
            <a:off x="6119000" y="5087067"/>
            <a:ext cx="360283" cy="24822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39">
            <a:extLst>
              <a:ext uri="{FF2B5EF4-FFF2-40B4-BE49-F238E27FC236}">
                <a16:creationId xmlns="" xmlns:a16="http://schemas.microsoft.com/office/drawing/2014/main" id="{5C8A7560-92F9-4BE6-A6D1-2A1E93F62699}"/>
              </a:ext>
            </a:extLst>
          </p:cNvPr>
          <p:cNvSpPr/>
          <p:nvPr/>
        </p:nvSpPr>
        <p:spPr bwMode="gray">
          <a:xfrm>
            <a:off x="6919632" y="4634080"/>
            <a:ext cx="800542" cy="198553"/>
          </a:xfrm>
          <a:prstGeom prst="roundRect">
            <a:avLst/>
          </a:prstGeom>
          <a:noFill/>
          <a:ln w="9525" cap="flat" cmpd="sng" algn="ctr">
            <a:solidFill>
              <a:srgbClr val="E281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40">
            <a:extLst>
              <a:ext uri="{FF2B5EF4-FFF2-40B4-BE49-F238E27FC236}">
                <a16:creationId xmlns="" xmlns:a16="http://schemas.microsoft.com/office/drawing/2014/main" id="{C4A3D8BA-5000-4C94-8B59-3FCCF0D4B58C}"/>
              </a:ext>
            </a:extLst>
          </p:cNvPr>
          <p:cNvSpPr/>
          <p:nvPr/>
        </p:nvSpPr>
        <p:spPr bwMode="gray">
          <a:xfrm>
            <a:off x="6919632" y="4888970"/>
            <a:ext cx="800542" cy="198553"/>
          </a:xfrm>
          <a:prstGeom prst="roundRect">
            <a:avLst/>
          </a:prstGeom>
          <a:noFill/>
          <a:ln w="9525" cap="flat" cmpd="sng" algn="ctr">
            <a:solidFill>
              <a:srgbClr val="AFD89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41">
            <a:extLst>
              <a:ext uri="{FF2B5EF4-FFF2-40B4-BE49-F238E27FC236}">
                <a16:creationId xmlns="" xmlns:a16="http://schemas.microsoft.com/office/drawing/2014/main" id="{2D6ED310-E38C-4BF5-99F4-E934D117A216}"/>
              </a:ext>
            </a:extLst>
          </p:cNvPr>
          <p:cNvSpPr/>
          <p:nvPr/>
        </p:nvSpPr>
        <p:spPr bwMode="gray">
          <a:xfrm>
            <a:off x="6919632" y="5180163"/>
            <a:ext cx="800542" cy="198553"/>
          </a:xfrm>
          <a:prstGeom prst="roundRect">
            <a:avLst/>
          </a:prstGeom>
          <a:noFill/>
          <a:ln w="9525" cap="flat" cmpd="sng" algn="ctr">
            <a:solidFill>
              <a:srgbClr val="FDE39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42">
            <a:extLst>
              <a:ext uri="{FF2B5EF4-FFF2-40B4-BE49-F238E27FC236}">
                <a16:creationId xmlns="" xmlns:a16="http://schemas.microsoft.com/office/drawing/2014/main" id="{07ACDDC2-CCE4-4254-BB6D-F73F8D0E109F}"/>
              </a:ext>
            </a:extLst>
          </p:cNvPr>
          <p:cNvSpPr/>
          <p:nvPr/>
        </p:nvSpPr>
        <p:spPr bwMode="gray">
          <a:xfrm>
            <a:off x="6919632" y="5658452"/>
            <a:ext cx="800631" cy="198576"/>
          </a:xfrm>
          <a:prstGeom prst="roundRect">
            <a:avLst/>
          </a:prstGeom>
          <a:noFill/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003889C6-44C1-460F-BA5B-14A2F23BD08B}"/>
              </a:ext>
            </a:extLst>
          </p:cNvPr>
          <p:cNvSpPr txBox="1"/>
          <p:nvPr/>
        </p:nvSpPr>
        <p:spPr bwMode="gray">
          <a:xfrm>
            <a:off x="7089377" y="5323974"/>
            <a:ext cx="456241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……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="" xmlns:a16="http://schemas.microsoft.com/office/drawing/2014/main" id="{40FAFD10-CA14-49B5-A119-63A7A2B6B7E3}"/>
              </a:ext>
            </a:extLst>
          </p:cNvPr>
          <p:cNvCxnSpPr>
            <a:stCxn id="6" idx="0"/>
            <a:endCxn id="7" idx="1"/>
          </p:cNvCxnSpPr>
          <p:nvPr/>
        </p:nvCxnSpPr>
        <p:spPr bwMode="gray">
          <a:xfrm flipV="1">
            <a:off x="6299143" y="4733357"/>
            <a:ext cx="620489" cy="3537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>
            <a:extLst>
              <a:ext uri="{FF2B5EF4-FFF2-40B4-BE49-F238E27FC236}">
                <a16:creationId xmlns="" xmlns:a16="http://schemas.microsoft.com/office/drawing/2014/main" id="{C7BB7A43-2047-427C-A5DD-2AF90B8E17E8}"/>
              </a:ext>
            </a:extLst>
          </p:cNvPr>
          <p:cNvCxnSpPr>
            <a:stCxn id="6" idx="7"/>
            <a:endCxn id="8" idx="1"/>
          </p:cNvCxnSpPr>
          <p:nvPr/>
        </p:nvCxnSpPr>
        <p:spPr bwMode="gray">
          <a:xfrm flipV="1">
            <a:off x="6426522" y="4988247"/>
            <a:ext cx="493110" cy="1351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="" xmlns:a16="http://schemas.microsoft.com/office/drawing/2014/main" id="{44C853CA-1AA2-4C6C-A6F2-BA84040580CC}"/>
              </a:ext>
            </a:extLst>
          </p:cNvPr>
          <p:cNvCxnSpPr>
            <a:stCxn id="6" idx="6"/>
            <a:endCxn id="9" idx="1"/>
          </p:cNvCxnSpPr>
          <p:nvPr/>
        </p:nvCxnSpPr>
        <p:spPr bwMode="gray">
          <a:xfrm>
            <a:off x="6479285" y="5211177"/>
            <a:ext cx="440347" cy="682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="" xmlns:a16="http://schemas.microsoft.com/office/drawing/2014/main" id="{CAF15AF5-8A19-4BDA-8A62-89C6C07B0BE0}"/>
              </a:ext>
            </a:extLst>
          </p:cNvPr>
          <p:cNvCxnSpPr>
            <a:stCxn id="6" idx="5"/>
          </p:cNvCxnSpPr>
          <p:nvPr/>
        </p:nvCxnSpPr>
        <p:spPr bwMode="gray">
          <a:xfrm>
            <a:off x="6426522" y="5298935"/>
            <a:ext cx="453078" cy="2354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="" xmlns:a16="http://schemas.microsoft.com/office/drawing/2014/main" id="{A9383000-D28F-45ED-954C-E50B52D87E3A}"/>
              </a:ext>
            </a:extLst>
          </p:cNvPr>
          <p:cNvCxnSpPr>
            <a:stCxn id="6" idx="4"/>
            <a:endCxn id="10" idx="1"/>
          </p:cNvCxnSpPr>
          <p:nvPr/>
        </p:nvCxnSpPr>
        <p:spPr bwMode="gray">
          <a:xfrm>
            <a:off x="6299143" y="5335287"/>
            <a:ext cx="620489" cy="422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右箭头标注 71">
            <a:extLst>
              <a:ext uri="{FF2B5EF4-FFF2-40B4-BE49-F238E27FC236}">
                <a16:creationId xmlns="" xmlns:a16="http://schemas.microsoft.com/office/drawing/2014/main" id="{37A50B5B-7D8D-4136-94C3-00F02C5E6EE6}"/>
              </a:ext>
            </a:extLst>
          </p:cNvPr>
          <p:cNvSpPr/>
          <p:nvPr/>
        </p:nvSpPr>
        <p:spPr bwMode="gray">
          <a:xfrm>
            <a:off x="9097834" y="4931678"/>
            <a:ext cx="415937" cy="506464"/>
          </a:xfrm>
          <a:prstGeom prst="rightArrowCallout">
            <a:avLst>
              <a:gd name="adj1" fmla="val 23271"/>
              <a:gd name="adj2" fmla="val 25000"/>
              <a:gd name="adj3" fmla="val 25000"/>
              <a:gd name="adj4" fmla="val 71696"/>
            </a:avLst>
          </a:prstGeom>
          <a:solidFill>
            <a:srgbClr val="BEE9E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右箭头标注 74">
            <a:extLst>
              <a:ext uri="{FF2B5EF4-FFF2-40B4-BE49-F238E27FC236}">
                <a16:creationId xmlns="" xmlns:a16="http://schemas.microsoft.com/office/drawing/2014/main" id="{F205723C-6C2B-4FF2-A8BE-2CCB3DC15B10}"/>
              </a:ext>
            </a:extLst>
          </p:cNvPr>
          <p:cNvSpPr/>
          <p:nvPr/>
        </p:nvSpPr>
        <p:spPr bwMode="gray">
          <a:xfrm>
            <a:off x="4746026" y="4957945"/>
            <a:ext cx="1288381" cy="506464"/>
          </a:xfrm>
          <a:prstGeom prst="rightArrowCallout">
            <a:avLst>
              <a:gd name="adj1" fmla="val 23271"/>
              <a:gd name="adj2" fmla="val 19073"/>
              <a:gd name="adj3" fmla="val 28952"/>
              <a:gd name="adj4" fmla="val 77359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其它处理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...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8DC02A51-D58B-430D-AE62-63B5609A8808}"/>
              </a:ext>
            </a:extLst>
          </p:cNvPr>
          <p:cNvSpPr txBox="1"/>
          <p:nvPr/>
        </p:nvSpPr>
        <p:spPr bwMode="gray">
          <a:xfrm>
            <a:off x="5893935" y="5630402"/>
            <a:ext cx="89546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拥塞避免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23339970-3C86-4FBF-9B10-18D4D0D9E841}"/>
              </a:ext>
            </a:extLst>
          </p:cNvPr>
          <p:cNvSpPr txBox="1"/>
          <p:nvPr/>
        </p:nvSpPr>
        <p:spPr bwMode="gray">
          <a:xfrm rot="19047356">
            <a:off x="6055662" y="4574633"/>
            <a:ext cx="715928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入队列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="" xmlns:a16="http://schemas.microsoft.com/office/drawing/2014/main" id="{9FEAE1CC-2780-433E-8706-08244B36987D}"/>
              </a:ext>
            </a:extLst>
          </p:cNvPr>
          <p:cNvGrpSpPr/>
          <p:nvPr/>
        </p:nvGrpSpPr>
        <p:grpSpPr bwMode="gray">
          <a:xfrm>
            <a:off x="8000484" y="4615928"/>
            <a:ext cx="600473" cy="1241098"/>
            <a:chOff x="9804412" y="2852936"/>
            <a:chExt cx="540060" cy="1800200"/>
          </a:xfrm>
          <a:solidFill>
            <a:schemeClr val="bg1"/>
          </a:solidFill>
        </p:grpSpPr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56618D23-003E-4CBE-9B5F-D7BB2BF7A0AD}"/>
                </a:ext>
              </a:extLst>
            </p:cNvPr>
            <p:cNvGrpSpPr/>
            <p:nvPr/>
          </p:nvGrpSpPr>
          <p:grpSpPr bwMode="gray">
            <a:xfrm>
              <a:off x="9804412" y="2852936"/>
              <a:ext cx="540060" cy="1800200"/>
              <a:chOff x="7032104" y="2852936"/>
              <a:chExt cx="540060" cy="1800200"/>
            </a:xfrm>
            <a:grpFill/>
          </p:grpSpPr>
          <p:sp>
            <p:nvSpPr>
              <p:cNvPr id="24" name="圆角矩形 78">
                <a:extLst>
                  <a:ext uri="{FF2B5EF4-FFF2-40B4-BE49-F238E27FC236}">
                    <a16:creationId xmlns="" xmlns:a16="http://schemas.microsoft.com/office/drawing/2014/main" id="{A68F3FF0-5F82-4793-A213-3A5CA95BE2F0}"/>
                  </a:ext>
                </a:extLst>
              </p:cNvPr>
              <p:cNvSpPr/>
              <p:nvPr/>
            </p:nvSpPr>
            <p:spPr bwMode="gray">
              <a:xfrm>
                <a:off x="7032104" y="2852936"/>
                <a:ext cx="540060" cy="1800200"/>
              </a:xfrm>
              <a:prstGeom prst="round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="" xmlns:a16="http://schemas.microsoft.com/office/drawing/2014/main" id="{19B217A3-0157-4A40-8BF9-FB5586166ACC}"/>
                  </a:ext>
                </a:extLst>
              </p:cNvPr>
              <p:cNvSpPr txBox="1"/>
              <p:nvPr/>
            </p:nvSpPr>
            <p:spPr bwMode="gray">
              <a:xfrm>
                <a:off x="7134886" y="3339539"/>
                <a:ext cx="320953" cy="753598"/>
              </a:xfrm>
              <a:prstGeom prst="rect">
                <a:avLst/>
              </a:prstGeom>
              <a:grp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</a:t>
                </a:r>
                <a:endPara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度</a:t>
                </a:r>
              </a:p>
            </p:txBody>
          </p:sp>
        </p:grpSp>
        <p:sp>
          <p:nvSpPr>
            <p:cNvPr id="23" name="任意多边形 81">
              <a:extLst>
                <a:ext uri="{FF2B5EF4-FFF2-40B4-BE49-F238E27FC236}">
                  <a16:creationId xmlns="" xmlns:a16="http://schemas.microsoft.com/office/drawing/2014/main" id="{61762940-0B0D-4AF0-9E52-193502B2A815}"/>
                </a:ext>
              </a:extLst>
            </p:cNvPr>
            <p:cNvSpPr/>
            <p:nvPr/>
          </p:nvSpPr>
          <p:spPr bwMode="gray">
            <a:xfrm>
              <a:off x="9884086" y="2987318"/>
              <a:ext cx="363000" cy="1528585"/>
            </a:xfrm>
            <a:custGeom>
              <a:avLst/>
              <a:gdLst>
                <a:gd name="connsiteX0" fmla="*/ 363394 w 363394"/>
                <a:gd name="connsiteY0" fmla="*/ 539772 h 1543059"/>
                <a:gd name="connsiteX1" fmla="*/ 232765 w 363394"/>
                <a:gd name="connsiteY1" fmla="*/ 2743 h 1543059"/>
                <a:gd name="connsiteX2" fmla="*/ 537 w 363394"/>
                <a:gd name="connsiteY2" fmla="*/ 742972 h 1543059"/>
                <a:gd name="connsiteX3" fmla="*/ 174708 w 363394"/>
                <a:gd name="connsiteY3" fmla="*/ 1541257 h 1543059"/>
                <a:gd name="connsiteX4" fmla="*/ 363394 w 363394"/>
                <a:gd name="connsiteY4" fmla="*/ 917143 h 1543059"/>
                <a:gd name="connsiteX0" fmla="*/ 362857 w 362857"/>
                <a:gd name="connsiteY0" fmla="*/ 554167 h 1557454"/>
                <a:gd name="connsiteX1" fmla="*/ 174171 w 362857"/>
                <a:gd name="connsiteY1" fmla="*/ 2624 h 1557454"/>
                <a:gd name="connsiteX2" fmla="*/ 0 w 362857"/>
                <a:gd name="connsiteY2" fmla="*/ 757367 h 1557454"/>
                <a:gd name="connsiteX3" fmla="*/ 174171 w 362857"/>
                <a:gd name="connsiteY3" fmla="*/ 1555652 h 1557454"/>
                <a:gd name="connsiteX4" fmla="*/ 362857 w 362857"/>
                <a:gd name="connsiteY4" fmla="*/ 931538 h 1557454"/>
                <a:gd name="connsiteX0" fmla="*/ 363000 w 363000"/>
                <a:gd name="connsiteY0" fmla="*/ 554167 h 1528585"/>
                <a:gd name="connsiteX1" fmla="*/ 174314 w 363000"/>
                <a:gd name="connsiteY1" fmla="*/ 2624 h 1528585"/>
                <a:gd name="connsiteX2" fmla="*/ 143 w 363000"/>
                <a:gd name="connsiteY2" fmla="*/ 757367 h 1528585"/>
                <a:gd name="connsiteX3" fmla="*/ 203343 w 363000"/>
                <a:gd name="connsiteY3" fmla="*/ 1526623 h 1528585"/>
                <a:gd name="connsiteX4" fmla="*/ 363000 w 363000"/>
                <a:gd name="connsiteY4" fmla="*/ 931538 h 152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000" h="1528585">
                  <a:moveTo>
                    <a:pt x="363000" y="554167"/>
                  </a:moveTo>
                  <a:cubicBezTo>
                    <a:pt x="327923" y="268719"/>
                    <a:pt x="234790" y="-31243"/>
                    <a:pt x="174314" y="2624"/>
                  </a:cubicBezTo>
                  <a:cubicBezTo>
                    <a:pt x="113838" y="36491"/>
                    <a:pt x="-4695" y="503367"/>
                    <a:pt x="143" y="757367"/>
                  </a:cubicBezTo>
                  <a:cubicBezTo>
                    <a:pt x="4981" y="1011367"/>
                    <a:pt x="142867" y="1497595"/>
                    <a:pt x="203343" y="1526623"/>
                  </a:cubicBezTo>
                  <a:cubicBezTo>
                    <a:pt x="263819" y="1555651"/>
                    <a:pt x="298895" y="1258109"/>
                    <a:pt x="363000" y="931538"/>
                  </a:cubicBezTo>
                </a:path>
              </a:pathLst>
            </a:cu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="" xmlns:a16="http://schemas.microsoft.com/office/drawing/2014/main" id="{7A815091-AD8E-44EE-BA56-6218FA5604A9}"/>
              </a:ext>
            </a:extLst>
          </p:cNvPr>
          <p:cNvCxnSpPr/>
          <p:nvPr/>
        </p:nvCxnSpPr>
        <p:spPr bwMode="gray">
          <a:xfrm>
            <a:off x="7720263" y="4740038"/>
            <a:ext cx="280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接箭头连接符 26">
            <a:extLst>
              <a:ext uri="{FF2B5EF4-FFF2-40B4-BE49-F238E27FC236}">
                <a16:creationId xmlns="" xmlns:a16="http://schemas.microsoft.com/office/drawing/2014/main" id="{3A2BABB5-6E94-468E-8B80-2924F7549CAD}"/>
              </a:ext>
            </a:extLst>
          </p:cNvPr>
          <p:cNvCxnSpPr/>
          <p:nvPr/>
        </p:nvCxnSpPr>
        <p:spPr bwMode="gray">
          <a:xfrm>
            <a:off x="7720263" y="4988258"/>
            <a:ext cx="280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接箭头连接符 27">
            <a:extLst>
              <a:ext uri="{FF2B5EF4-FFF2-40B4-BE49-F238E27FC236}">
                <a16:creationId xmlns="" xmlns:a16="http://schemas.microsoft.com/office/drawing/2014/main" id="{95A1F913-93D0-41C2-8F5C-814058A253CE}"/>
              </a:ext>
            </a:extLst>
          </p:cNvPr>
          <p:cNvCxnSpPr/>
          <p:nvPr/>
        </p:nvCxnSpPr>
        <p:spPr bwMode="gray">
          <a:xfrm>
            <a:off x="7720263" y="5286121"/>
            <a:ext cx="280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直接箭头连接符 28">
            <a:extLst>
              <a:ext uri="{FF2B5EF4-FFF2-40B4-BE49-F238E27FC236}">
                <a16:creationId xmlns="" xmlns:a16="http://schemas.microsoft.com/office/drawing/2014/main" id="{D0EC7898-934F-4C65-A282-137EF60AAAAE}"/>
              </a:ext>
            </a:extLst>
          </p:cNvPr>
          <p:cNvCxnSpPr/>
          <p:nvPr/>
        </p:nvCxnSpPr>
        <p:spPr bwMode="gray">
          <a:xfrm>
            <a:off x="7720263" y="5757738"/>
            <a:ext cx="2802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4D5B36A5-7BDD-451D-94C8-E186548DCE90}"/>
              </a:ext>
            </a:extLst>
          </p:cNvPr>
          <p:cNvSpPr txBox="1"/>
          <p:nvPr/>
        </p:nvSpPr>
        <p:spPr bwMode="gray">
          <a:xfrm>
            <a:off x="7193564" y="4260761"/>
            <a:ext cx="89546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拥塞管理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B03FA2BA-D523-4B5C-BC5A-B4AEC722EBAE}"/>
              </a:ext>
            </a:extLst>
          </p:cNvPr>
          <p:cNvSpPr txBox="1"/>
          <p:nvPr/>
        </p:nvSpPr>
        <p:spPr bwMode="gray">
          <a:xfrm>
            <a:off x="8765891" y="5613785"/>
            <a:ext cx="895465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流量整形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="" xmlns:a16="http://schemas.microsoft.com/office/drawing/2014/main" id="{EC732B04-4C8D-41B7-93A8-BC284EA08AF5}"/>
              </a:ext>
            </a:extLst>
          </p:cNvPr>
          <p:cNvCxnSpPr>
            <a:cxnSpLocks/>
          </p:cNvCxnSpPr>
          <p:nvPr/>
        </p:nvCxnSpPr>
        <p:spPr bwMode="gray">
          <a:xfrm>
            <a:off x="8600957" y="4764861"/>
            <a:ext cx="496878" cy="249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接箭头连接符 32">
            <a:extLst>
              <a:ext uri="{FF2B5EF4-FFF2-40B4-BE49-F238E27FC236}">
                <a16:creationId xmlns="" xmlns:a16="http://schemas.microsoft.com/office/drawing/2014/main" id="{1C9F79D6-2C3B-4D3A-8C07-0A704A81A312}"/>
              </a:ext>
            </a:extLst>
          </p:cNvPr>
          <p:cNvCxnSpPr>
            <a:cxnSpLocks/>
          </p:cNvCxnSpPr>
          <p:nvPr/>
        </p:nvCxnSpPr>
        <p:spPr bwMode="gray">
          <a:xfrm>
            <a:off x="8600957" y="5013080"/>
            <a:ext cx="496878" cy="1103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接箭头连接符 33">
            <a:extLst>
              <a:ext uri="{FF2B5EF4-FFF2-40B4-BE49-F238E27FC236}">
                <a16:creationId xmlns="" xmlns:a16="http://schemas.microsoft.com/office/drawing/2014/main" id="{B8BEEA8B-4104-489B-8AEA-6688358EBA7E}"/>
              </a:ext>
            </a:extLst>
          </p:cNvPr>
          <p:cNvCxnSpPr>
            <a:cxnSpLocks/>
          </p:cNvCxnSpPr>
          <p:nvPr/>
        </p:nvCxnSpPr>
        <p:spPr bwMode="gray">
          <a:xfrm flipV="1">
            <a:off x="8606692" y="5216431"/>
            <a:ext cx="491143" cy="1241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="" xmlns:a16="http://schemas.microsoft.com/office/drawing/2014/main" id="{66232A72-0F0D-4387-933A-4773335F66C5}"/>
              </a:ext>
            </a:extLst>
          </p:cNvPr>
          <p:cNvCxnSpPr>
            <a:cxnSpLocks/>
          </p:cNvCxnSpPr>
          <p:nvPr/>
        </p:nvCxnSpPr>
        <p:spPr bwMode="gray">
          <a:xfrm flipV="1">
            <a:off x="8600957" y="5335287"/>
            <a:ext cx="491143" cy="398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2822A077-3DE0-41AE-A08F-B9BE4B3B1FEE}"/>
              </a:ext>
            </a:extLst>
          </p:cNvPr>
          <p:cNvSpPr txBox="1"/>
          <p:nvPr/>
        </p:nvSpPr>
        <p:spPr bwMode="gray">
          <a:xfrm rot="2577842">
            <a:off x="8582523" y="4547802"/>
            <a:ext cx="715928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出队列</a:t>
            </a:r>
          </a:p>
        </p:txBody>
      </p:sp>
      <p:sp>
        <p:nvSpPr>
          <p:cNvPr id="37" name="右箭头标注 61">
            <a:extLst>
              <a:ext uri="{FF2B5EF4-FFF2-40B4-BE49-F238E27FC236}">
                <a16:creationId xmlns="" xmlns:a16="http://schemas.microsoft.com/office/drawing/2014/main" id="{E03DA51F-F079-4552-A029-F68407A25BFB}"/>
              </a:ext>
            </a:extLst>
          </p:cNvPr>
          <p:cNvSpPr/>
          <p:nvPr/>
        </p:nvSpPr>
        <p:spPr bwMode="gray">
          <a:xfrm>
            <a:off x="3293815" y="4957945"/>
            <a:ext cx="1413388" cy="506464"/>
          </a:xfrm>
          <a:prstGeom prst="rightArrowCallout">
            <a:avLst>
              <a:gd name="adj1" fmla="val 23271"/>
              <a:gd name="adj2" fmla="val 25000"/>
              <a:gd name="adj3" fmla="val 25000"/>
              <a:gd name="adj4" fmla="val 71696"/>
            </a:avLst>
          </a:prstGeom>
          <a:solidFill>
            <a:srgbClr val="BEE9E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流量监管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CAR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="" xmlns:a16="http://schemas.microsoft.com/office/drawing/2014/main" id="{0C98996B-EE01-4205-87F4-CF027064DB31}"/>
              </a:ext>
            </a:extLst>
          </p:cNvPr>
          <p:cNvCxnSpPr/>
          <p:nvPr/>
        </p:nvCxnSpPr>
        <p:spPr bwMode="gray">
          <a:xfrm>
            <a:off x="1180293" y="5216431"/>
            <a:ext cx="810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469B251D-4D84-4A41-AD55-A255D61BD51E}"/>
              </a:ext>
            </a:extLst>
          </p:cNvPr>
          <p:cNvSpPr txBox="1"/>
          <p:nvPr/>
        </p:nvSpPr>
        <p:spPr bwMode="gray">
          <a:xfrm>
            <a:off x="1217831" y="49538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流量入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="" xmlns:a16="http://schemas.microsoft.com/office/drawing/2014/main" id="{623E433D-7107-4888-BC68-BF4E8C9B8FE9}"/>
              </a:ext>
            </a:extLst>
          </p:cNvPr>
          <p:cNvCxnSpPr/>
          <p:nvPr/>
        </p:nvCxnSpPr>
        <p:spPr bwMode="gray">
          <a:xfrm>
            <a:off x="9789010" y="5216431"/>
            <a:ext cx="810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CAB532ED-6A8B-4C40-BF1E-727D9C3F88D7}"/>
              </a:ext>
            </a:extLst>
          </p:cNvPr>
          <p:cNvSpPr txBox="1"/>
          <p:nvPr/>
        </p:nvSpPr>
        <p:spPr bwMode="gray">
          <a:xfrm>
            <a:off x="9826548" y="49538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流量出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="" xmlns:a16="http://schemas.microsoft.com/office/drawing/2014/main" id="{EC2842D3-4CDD-4C88-B802-7F7F1FF3041E}"/>
              </a:ext>
            </a:extLst>
          </p:cNvPr>
          <p:cNvGrpSpPr/>
          <p:nvPr/>
        </p:nvGrpSpPr>
        <p:grpSpPr bwMode="gray">
          <a:xfrm>
            <a:off x="5893935" y="2459306"/>
            <a:ext cx="1330504" cy="1596605"/>
            <a:chOff x="5555940" y="4329100"/>
            <a:chExt cx="1800200" cy="2160240"/>
          </a:xfrm>
        </p:grpSpPr>
        <p:sp>
          <p:nvSpPr>
            <p:cNvPr id="47" name="矩形 46">
              <a:extLst>
                <a:ext uri="{FF2B5EF4-FFF2-40B4-BE49-F238E27FC236}">
                  <a16:creationId xmlns="" xmlns:a16="http://schemas.microsoft.com/office/drawing/2014/main" id="{78B50A2D-ED90-449B-B4C7-737C818325D7}"/>
                </a:ext>
              </a:extLst>
            </p:cNvPr>
            <p:cNvSpPr/>
            <p:nvPr/>
          </p:nvSpPr>
          <p:spPr bwMode="gray">
            <a:xfrm>
              <a:off x="5555940" y="4367729"/>
              <a:ext cx="1800200" cy="2121611"/>
            </a:xfrm>
            <a:prstGeom prst="rect">
              <a:avLst/>
            </a:prstGeom>
            <a:solidFill>
              <a:srgbClr val="F4FBFE"/>
            </a:solidFill>
            <a:ln w="9525" cap="flat" cmpd="sng" algn="ctr">
              <a:solidFill>
                <a:srgbClr val="56C4D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t">
                <a:spcBef>
                  <a:spcPct val="0"/>
                </a:spcBef>
                <a:spcAft>
                  <a:spcPct val="0"/>
                </a:spcAft>
              </a:pPr>
              <a:endPara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" name="流程图: 磁盘 47">
              <a:extLst>
                <a:ext uri="{FF2B5EF4-FFF2-40B4-BE49-F238E27FC236}">
                  <a16:creationId xmlns="" xmlns:a16="http://schemas.microsoft.com/office/drawing/2014/main" id="{04492D11-0B08-48D5-9C55-80936BDC40D0}"/>
                </a:ext>
              </a:extLst>
            </p:cNvPr>
            <p:cNvSpPr/>
            <p:nvPr/>
          </p:nvSpPr>
          <p:spPr bwMode="gray">
            <a:xfrm>
              <a:off x="5863832" y="5595269"/>
              <a:ext cx="1309566" cy="828092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="" xmlns:a16="http://schemas.microsoft.com/office/drawing/2014/main" id="{527ED9F7-39CB-4DF3-A5B0-48079F658087}"/>
                </a:ext>
              </a:extLst>
            </p:cNvPr>
            <p:cNvCxnSpPr/>
            <p:nvPr/>
          </p:nvCxnSpPr>
          <p:spPr bwMode="gray">
            <a:xfrm>
              <a:off x="6466487" y="5389367"/>
              <a:ext cx="0" cy="720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矩形 49">
              <a:extLst>
                <a:ext uri="{FF2B5EF4-FFF2-40B4-BE49-F238E27FC236}">
                  <a16:creationId xmlns="" xmlns:a16="http://schemas.microsoft.com/office/drawing/2014/main" id="{DD2ECF4E-F92B-46F4-BB4C-AC0D52DE90E5}"/>
                </a:ext>
              </a:extLst>
            </p:cNvPr>
            <p:cNvSpPr/>
            <p:nvPr/>
          </p:nvSpPr>
          <p:spPr bwMode="gray">
            <a:xfrm>
              <a:off x="6358475" y="5173263"/>
              <a:ext cx="216024" cy="144016"/>
            </a:xfrm>
            <a:prstGeom prst="rect">
              <a:avLst/>
            </a:prstGeom>
            <a:solidFill>
              <a:srgbClr val="94DAE2"/>
            </a:solidFill>
            <a:ln w="9525" cap="flat" cmpd="sng" algn="ctr">
              <a:solidFill>
                <a:srgbClr val="94DAE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="" xmlns:a16="http://schemas.microsoft.com/office/drawing/2014/main" id="{BBC0CDA6-0599-49C7-B5CA-F8BFA8FFEDCA}"/>
                </a:ext>
              </a:extLst>
            </p:cNvPr>
            <p:cNvSpPr/>
            <p:nvPr/>
          </p:nvSpPr>
          <p:spPr bwMode="gray">
            <a:xfrm>
              <a:off x="6358475" y="4957239"/>
              <a:ext cx="216024" cy="144016"/>
            </a:xfrm>
            <a:prstGeom prst="rect">
              <a:avLst/>
            </a:prstGeom>
            <a:solidFill>
              <a:srgbClr val="94DAE2"/>
            </a:solidFill>
            <a:ln w="9525" cap="flat" cmpd="sng" algn="ctr">
              <a:solidFill>
                <a:srgbClr val="94DAE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="" xmlns:a16="http://schemas.microsoft.com/office/drawing/2014/main" id="{449CA3FD-21D1-4A5B-98E0-D864E657D9F2}"/>
                </a:ext>
              </a:extLst>
            </p:cNvPr>
            <p:cNvSpPr txBox="1"/>
            <p:nvPr/>
          </p:nvSpPr>
          <p:spPr bwMode="gray">
            <a:xfrm>
              <a:off x="6103612" y="4599459"/>
              <a:ext cx="725750" cy="4114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>
                <a:defRPr sz="1400" b="1">
                  <a:latin typeface="+mn-ea"/>
                  <a:ea typeface="+mn-ea"/>
                </a:defRPr>
              </a:lvl1pPr>
            </a:lstStyle>
            <a:p>
              <a:r>
                <a:rPr lang="zh-CN" alt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令牌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="" xmlns:a16="http://schemas.microsoft.com/office/drawing/2014/main" id="{FB3DB7AB-9A9C-4FE9-943F-5834C69B7AA5}"/>
                </a:ext>
              </a:extLst>
            </p:cNvPr>
            <p:cNvSpPr txBox="1"/>
            <p:nvPr/>
          </p:nvSpPr>
          <p:spPr bwMode="gray">
            <a:xfrm>
              <a:off x="5982154" y="6019004"/>
              <a:ext cx="968667" cy="4114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non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令牌桶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="" xmlns:a16="http://schemas.microsoft.com/office/drawing/2014/main" id="{E1DD6E36-E09E-48A3-ACE0-DBD5EB38B66B}"/>
                </a:ext>
              </a:extLst>
            </p:cNvPr>
            <p:cNvSpPr/>
            <p:nvPr/>
          </p:nvSpPr>
          <p:spPr bwMode="gray">
            <a:xfrm>
              <a:off x="5555940" y="4329100"/>
              <a:ext cx="1800200" cy="324000"/>
            </a:xfrm>
            <a:prstGeom prst="rect">
              <a:avLst/>
            </a:prstGeom>
            <a:solidFill>
              <a:srgbClr val="56C4D2"/>
            </a:solidFill>
            <a:ln w="9525" cap="flat" cmpd="sng" algn="ctr">
              <a:solidFill>
                <a:srgbClr val="56C4D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t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rgbClr val="FFFFFF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令牌桶技术</a:t>
              </a:r>
            </a:p>
          </p:txBody>
        </p:sp>
      </p:grpSp>
      <p:sp>
        <p:nvSpPr>
          <p:cNvPr id="55" name="下箭头 82">
            <a:extLst>
              <a:ext uri="{FF2B5EF4-FFF2-40B4-BE49-F238E27FC236}">
                <a16:creationId xmlns="" xmlns:a16="http://schemas.microsoft.com/office/drawing/2014/main" id="{0BFDD920-1E9C-426C-B6D5-950DF9880ABF}"/>
              </a:ext>
            </a:extLst>
          </p:cNvPr>
          <p:cNvSpPr/>
          <p:nvPr/>
        </p:nvSpPr>
        <p:spPr bwMode="gray">
          <a:xfrm rot="13798075">
            <a:off x="4891521" y="3694361"/>
            <a:ext cx="285630" cy="854529"/>
          </a:xfrm>
          <a:prstGeom prst="downArrow">
            <a:avLst/>
          </a:prstGeom>
          <a:solidFill>
            <a:srgbClr val="BEE9E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下箭头 82">
            <a:extLst>
              <a:ext uri="{FF2B5EF4-FFF2-40B4-BE49-F238E27FC236}">
                <a16:creationId xmlns="" xmlns:a16="http://schemas.microsoft.com/office/drawing/2014/main" id="{E2C2E693-27AB-452B-B5B7-A29258E2677B}"/>
              </a:ext>
            </a:extLst>
          </p:cNvPr>
          <p:cNvSpPr/>
          <p:nvPr/>
        </p:nvSpPr>
        <p:spPr bwMode="gray">
          <a:xfrm rot="7482830">
            <a:off x="7837801" y="3518068"/>
            <a:ext cx="231440" cy="825205"/>
          </a:xfrm>
          <a:prstGeom prst="downArrow">
            <a:avLst/>
          </a:prstGeom>
          <a:solidFill>
            <a:srgbClr val="BEE9EE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="" xmlns:a16="http://schemas.microsoft.com/office/drawing/2014/main" id="{797FE292-EB7F-4BF5-B7E9-FC949D6538AB}"/>
              </a:ext>
            </a:extLst>
          </p:cNvPr>
          <p:cNvSpPr txBox="1"/>
          <p:nvPr/>
        </p:nvSpPr>
        <p:spPr bwMode="gray">
          <a:xfrm>
            <a:off x="7317497" y="2798857"/>
            <a:ext cx="2591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使用令牌桶对流量进行评估，确定报文是否满足转发的条件。</a:t>
            </a:r>
          </a:p>
        </p:txBody>
      </p:sp>
      <p:sp>
        <p:nvSpPr>
          <p:cNvPr id="61" name="五边形 60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燕尾形 61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燕尾形 62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77373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五边形 63">
            <a:extLst>
              <a:ext uri="{FF2B5EF4-FFF2-40B4-BE49-F238E27FC236}">
                <a16:creationId xmlns="" xmlns:a16="http://schemas.microsoft.com/office/drawing/2014/main" id="{057E4F3C-4C3A-4A8A-B412-39FA6D08F111}"/>
              </a:ext>
            </a:extLst>
          </p:cNvPr>
          <p:cNvSpPr/>
          <p:nvPr/>
        </p:nvSpPr>
        <p:spPr bwMode="gray">
          <a:xfrm>
            <a:off x="5807243" y="4251546"/>
            <a:ext cx="4349622" cy="1901262"/>
          </a:xfrm>
          <a:prstGeom prst="homePlate">
            <a:avLst>
              <a:gd name="adj" fmla="val 12894"/>
            </a:avLst>
          </a:prstGeom>
          <a:solidFill>
            <a:srgbClr val="F4FBFE"/>
          </a:solidFill>
          <a:ln w="9525" cap="flat" cmpd="sng" algn="ctr">
            <a:solidFill>
              <a:srgbClr val="56C4D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="" xmlns:a16="http://schemas.microsoft.com/office/drawing/2014/main" id="{9EADA8CF-0FB6-41D5-A545-90CC64940382}"/>
              </a:ext>
            </a:extLst>
          </p:cNvPr>
          <p:cNvSpPr/>
          <p:nvPr/>
        </p:nvSpPr>
        <p:spPr bwMode="gray">
          <a:xfrm>
            <a:off x="6113350" y="5161851"/>
            <a:ext cx="396950" cy="264786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圆角矩形 39">
            <a:extLst>
              <a:ext uri="{FF2B5EF4-FFF2-40B4-BE49-F238E27FC236}">
                <a16:creationId xmlns="" xmlns:a16="http://schemas.microsoft.com/office/drawing/2014/main" id="{B465C6C8-CDA0-42B3-B8CC-CA91655B081C}"/>
              </a:ext>
            </a:extLst>
          </p:cNvPr>
          <p:cNvSpPr/>
          <p:nvPr/>
        </p:nvSpPr>
        <p:spPr bwMode="gray">
          <a:xfrm>
            <a:off x="6995464" y="4678631"/>
            <a:ext cx="882015" cy="211805"/>
          </a:xfrm>
          <a:prstGeom prst="roundRect">
            <a:avLst/>
          </a:prstGeom>
          <a:solidFill>
            <a:srgbClr val="E28189"/>
          </a:solidFill>
          <a:ln w="9525" cap="flat" cmpd="sng" algn="ctr">
            <a:solidFill>
              <a:srgbClr val="E281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圆角矩形 40">
            <a:extLst>
              <a:ext uri="{FF2B5EF4-FFF2-40B4-BE49-F238E27FC236}">
                <a16:creationId xmlns="" xmlns:a16="http://schemas.microsoft.com/office/drawing/2014/main" id="{B08AC057-7411-471A-A9E4-A06057B1754C}"/>
              </a:ext>
            </a:extLst>
          </p:cNvPr>
          <p:cNvSpPr/>
          <p:nvPr/>
        </p:nvSpPr>
        <p:spPr bwMode="gray">
          <a:xfrm>
            <a:off x="6995464" y="4950533"/>
            <a:ext cx="882015" cy="211805"/>
          </a:xfrm>
          <a:prstGeom prst="roundRect">
            <a:avLst/>
          </a:prstGeom>
          <a:solidFill>
            <a:srgbClr val="AFD89C"/>
          </a:solidFill>
          <a:ln w="9525" cap="flat" cmpd="sng" algn="ctr">
            <a:solidFill>
              <a:srgbClr val="AFD89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圆角矩形 41">
            <a:extLst>
              <a:ext uri="{FF2B5EF4-FFF2-40B4-BE49-F238E27FC236}">
                <a16:creationId xmlns="" xmlns:a16="http://schemas.microsoft.com/office/drawing/2014/main" id="{021CEAD1-3BD2-4D2A-8969-BEC5501BA6DC}"/>
              </a:ext>
            </a:extLst>
          </p:cNvPr>
          <p:cNvSpPr/>
          <p:nvPr/>
        </p:nvSpPr>
        <p:spPr bwMode="gray">
          <a:xfrm>
            <a:off x="6995464" y="5261160"/>
            <a:ext cx="882015" cy="211805"/>
          </a:xfrm>
          <a:prstGeom prst="roundRect">
            <a:avLst/>
          </a:prstGeom>
          <a:solidFill>
            <a:srgbClr val="FDE397"/>
          </a:solidFill>
          <a:ln w="9525" cap="flat" cmpd="sng" algn="ctr">
            <a:solidFill>
              <a:srgbClr val="FDE39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圆角矩形 42">
            <a:extLst>
              <a:ext uri="{FF2B5EF4-FFF2-40B4-BE49-F238E27FC236}">
                <a16:creationId xmlns="" xmlns:a16="http://schemas.microsoft.com/office/drawing/2014/main" id="{8723EFFD-7EA3-419D-83E7-0B1713B52284}"/>
              </a:ext>
            </a:extLst>
          </p:cNvPr>
          <p:cNvSpPr/>
          <p:nvPr/>
        </p:nvSpPr>
        <p:spPr bwMode="gray">
          <a:xfrm>
            <a:off x="6995464" y="5771370"/>
            <a:ext cx="882113" cy="211829"/>
          </a:xfrm>
          <a:prstGeom prst="roundRect">
            <a:avLst/>
          </a:prstGeom>
          <a:solidFill>
            <a:srgbClr val="94DAE2"/>
          </a:solidFill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ADE9EE95-6585-4FEE-A2D7-40E920D0C4F1}"/>
              </a:ext>
            </a:extLst>
          </p:cNvPr>
          <p:cNvSpPr txBox="1"/>
          <p:nvPr/>
        </p:nvSpPr>
        <p:spPr bwMode="gray">
          <a:xfrm>
            <a:off x="7186464" y="5409327"/>
            <a:ext cx="494714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……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="" xmlns:a16="http://schemas.microsoft.com/office/drawing/2014/main" id="{90327F87-5084-475F-A496-F969015F5D0C}"/>
              </a:ext>
            </a:extLst>
          </p:cNvPr>
          <p:cNvCxnSpPr>
            <a:stCxn id="43" idx="0"/>
            <a:endCxn id="44" idx="1"/>
          </p:cNvCxnSpPr>
          <p:nvPr/>
        </p:nvCxnSpPr>
        <p:spPr bwMode="gray">
          <a:xfrm flipV="1">
            <a:off x="6311827" y="4784534"/>
            <a:ext cx="683638" cy="3773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6D6C03AD-A818-4534-8079-5AC4B3182DE6}"/>
              </a:ext>
            </a:extLst>
          </p:cNvPr>
          <p:cNvCxnSpPr>
            <a:stCxn id="43" idx="7"/>
            <a:endCxn id="45" idx="1"/>
          </p:cNvCxnSpPr>
          <p:nvPr/>
        </p:nvCxnSpPr>
        <p:spPr bwMode="gray">
          <a:xfrm flipV="1">
            <a:off x="6452169" y="5056435"/>
            <a:ext cx="543294" cy="1441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直接箭头连接符 50">
            <a:extLst>
              <a:ext uri="{FF2B5EF4-FFF2-40B4-BE49-F238E27FC236}">
                <a16:creationId xmlns="" xmlns:a16="http://schemas.microsoft.com/office/drawing/2014/main" id="{1060E72B-9980-4FB7-8FA4-605AE5F77C2C}"/>
              </a:ext>
            </a:extLst>
          </p:cNvPr>
          <p:cNvCxnSpPr>
            <a:stCxn id="43" idx="6"/>
            <a:endCxn id="46" idx="1"/>
          </p:cNvCxnSpPr>
          <p:nvPr/>
        </p:nvCxnSpPr>
        <p:spPr bwMode="gray">
          <a:xfrm>
            <a:off x="6510302" y="5294244"/>
            <a:ext cx="485162" cy="728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接箭头连接符 51">
            <a:extLst>
              <a:ext uri="{FF2B5EF4-FFF2-40B4-BE49-F238E27FC236}">
                <a16:creationId xmlns="" xmlns:a16="http://schemas.microsoft.com/office/drawing/2014/main" id="{77788597-D0F1-41CA-80CE-94E529D7FAC7}"/>
              </a:ext>
            </a:extLst>
          </p:cNvPr>
          <p:cNvCxnSpPr>
            <a:stCxn id="43" idx="5"/>
          </p:cNvCxnSpPr>
          <p:nvPr/>
        </p:nvCxnSpPr>
        <p:spPr bwMode="gray">
          <a:xfrm>
            <a:off x="6452169" y="5387860"/>
            <a:ext cx="499189" cy="251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接箭头连接符 52">
            <a:extLst>
              <a:ext uri="{FF2B5EF4-FFF2-40B4-BE49-F238E27FC236}">
                <a16:creationId xmlns="" xmlns:a16="http://schemas.microsoft.com/office/drawing/2014/main" id="{ED0BB949-316B-4200-AB40-B90CA2948025}"/>
              </a:ext>
            </a:extLst>
          </p:cNvPr>
          <p:cNvCxnSpPr>
            <a:stCxn id="43" idx="4"/>
            <a:endCxn id="47" idx="1"/>
          </p:cNvCxnSpPr>
          <p:nvPr/>
        </p:nvCxnSpPr>
        <p:spPr bwMode="gray">
          <a:xfrm>
            <a:off x="6311827" y="5426637"/>
            <a:ext cx="683638" cy="4506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右箭头标注 71">
            <a:extLst>
              <a:ext uri="{FF2B5EF4-FFF2-40B4-BE49-F238E27FC236}">
                <a16:creationId xmlns="" xmlns:a16="http://schemas.microsoft.com/office/drawing/2014/main" id="{4DB4E242-B881-4C00-AABB-FA0FF607C45D}"/>
              </a:ext>
            </a:extLst>
          </p:cNvPr>
          <p:cNvSpPr/>
          <p:nvPr/>
        </p:nvSpPr>
        <p:spPr bwMode="gray">
          <a:xfrm>
            <a:off x="9395347" y="4996091"/>
            <a:ext cx="458268" cy="540266"/>
          </a:xfrm>
          <a:prstGeom prst="rightArrowCallout">
            <a:avLst>
              <a:gd name="adj1" fmla="val 23271"/>
              <a:gd name="adj2" fmla="val 25000"/>
              <a:gd name="adj3" fmla="val 25000"/>
              <a:gd name="adj4" fmla="val 7169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="" xmlns:a16="http://schemas.microsoft.com/office/drawing/2014/main" id="{21C08855-A3EC-4C6B-903C-FC8A47E4F213}"/>
              </a:ext>
            </a:extLst>
          </p:cNvPr>
          <p:cNvSpPr txBox="1"/>
          <p:nvPr/>
        </p:nvSpPr>
        <p:spPr bwMode="gray">
          <a:xfrm>
            <a:off x="5856444" y="5736207"/>
            <a:ext cx="100446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拥塞避免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BE2F4752-1552-431C-82A2-63EFC09A138F}"/>
              </a:ext>
            </a:extLst>
          </p:cNvPr>
          <p:cNvSpPr txBox="1"/>
          <p:nvPr/>
        </p:nvSpPr>
        <p:spPr bwMode="gray">
          <a:xfrm rot="19945129">
            <a:off x="6051820" y="4656589"/>
            <a:ext cx="797682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入队列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6837F763-FBE1-45FC-9D30-06FDFF026831}"/>
              </a:ext>
            </a:extLst>
          </p:cNvPr>
          <p:cNvGrpSpPr/>
          <p:nvPr/>
        </p:nvGrpSpPr>
        <p:grpSpPr bwMode="gray">
          <a:xfrm>
            <a:off x="8186316" y="4659268"/>
            <a:ext cx="661584" cy="1323930"/>
            <a:chOff x="9804412" y="2852936"/>
            <a:chExt cx="540060" cy="1800200"/>
          </a:xfrm>
        </p:grpSpPr>
        <p:grpSp>
          <p:nvGrpSpPr>
            <p:cNvPr id="58" name="组合 57">
              <a:extLst>
                <a:ext uri="{FF2B5EF4-FFF2-40B4-BE49-F238E27FC236}">
                  <a16:creationId xmlns="" xmlns:a16="http://schemas.microsoft.com/office/drawing/2014/main" id="{995EAA24-02A3-4B7B-8DAF-CCA3CE40AB31}"/>
                </a:ext>
              </a:extLst>
            </p:cNvPr>
            <p:cNvGrpSpPr/>
            <p:nvPr/>
          </p:nvGrpSpPr>
          <p:grpSpPr bwMode="gray">
            <a:xfrm>
              <a:off x="9804412" y="2852936"/>
              <a:ext cx="540060" cy="1800200"/>
              <a:chOff x="7032104" y="2852936"/>
              <a:chExt cx="540060" cy="1800200"/>
            </a:xfrm>
          </p:grpSpPr>
          <p:sp>
            <p:nvSpPr>
              <p:cNvPr id="60" name="圆角矩形 78">
                <a:extLst>
                  <a:ext uri="{FF2B5EF4-FFF2-40B4-BE49-F238E27FC236}">
                    <a16:creationId xmlns="" xmlns:a16="http://schemas.microsoft.com/office/drawing/2014/main" id="{D8AEE3E1-68EF-4EB1-97B7-46D68AF83158}"/>
                  </a:ext>
                </a:extLst>
              </p:cNvPr>
              <p:cNvSpPr/>
              <p:nvPr/>
            </p:nvSpPr>
            <p:spPr bwMode="gray">
              <a:xfrm>
                <a:off x="7032104" y="2852936"/>
                <a:ext cx="540060" cy="180020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="" xmlns:a16="http://schemas.microsoft.com/office/drawing/2014/main" id="{E021DA7C-944A-4F95-AB6B-B82D9DDE4BDE}"/>
                  </a:ext>
                </a:extLst>
              </p:cNvPr>
              <p:cNvSpPr txBox="1"/>
              <p:nvPr/>
            </p:nvSpPr>
            <p:spPr bwMode="gray">
              <a:xfrm>
                <a:off x="7138587" y="3321266"/>
                <a:ext cx="313552" cy="79014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</a:t>
                </a:r>
                <a:endPara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/>
                <a:r>
                  <a:rPr lang="zh-CN" altLang="en-US" sz="16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度</a:t>
                </a:r>
              </a:p>
            </p:txBody>
          </p:sp>
        </p:grpSp>
        <p:sp>
          <p:nvSpPr>
            <p:cNvPr id="59" name="任意多边形 81">
              <a:extLst>
                <a:ext uri="{FF2B5EF4-FFF2-40B4-BE49-F238E27FC236}">
                  <a16:creationId xmlns="" xmlns:a16="http://schemas.microsoft.com/office/drawing/2014/main" id="{89EB2023-75FD-4E89-B6A7-39CD9AB63FEF}"/>
                </a:ext>
              </a:extLst>
            </p:cNvPr>
            <p:cNvSpPr/>
            <p:nvPr/>
          </p:nvSpPr>
          <p:spPr bwMode="gray">
            <a:xfrm>
              <a:off x="9884086" y="2987318"/>
              <a:ext cx="363000" cy="1528585"/>
            </a:xfrm>
            <a:custGeom>
              <a:avLst/>
              <a:gdLst>
                <a:gd name="connsiteX0" fmla="*/ 363394 w 363394"/>
                <a:gd name="connsiteY0" fmla="*/ 539772 h 1543059"/>
                <a:gd name="connsiteX1" fmla="*/ 232765 w 363394"/>
                <a:gd name="connsiteY1" fmla="*/ 2743 h 1543059"/>
                <a:gd name="connsiteX2" fmla="*/ 537 w 363394"/>
                <a:gd name="connsiteY2" fmla="*/ 742972 h 1543059"/>
                <a:gd name="connsiteX3" fmla="*/ 174708 w 363394"/>
                <a:gd name="connsiteY3" fmla="*/ 1541257 h 1543059"/>
                <a:gd name="connsiteX4" fmla="*/ 363394 w 363394"/>
                <a:gd name="connsiteY4" fmla="*/ 917143 h 1543059"/>
                <a:gd name="connsiteX0" fmla="*/ 362857 w 362857"/>
                <a:gd name="connsiteY0" fmla="*/ 554167 h 1557454"/>
                <a:gd name="connsiteX1" fmla="*/ 174171 w 362857"/>
                <a:gd name="connsiteY1" fmla="*/ 2624 h 1557454"/>
                <a:gd name="connsiteX2" fmla="*/ 0 w 362857"/>
                <a:gd name="connsiteY2" fmla="*/ 757367 h 1557454"/>
                <a:gd name="connsiteX3" fmla="*/ 174171 w 362857"/>
                <a:gd name="connsiteY3" fmla="*/ 1555652 h 1557454"/>
                <a:gd name="connsiteX4" fmla="*/ 362857 w 362857"/>
                <a:gd name="connsiteY4" fmla="*/ 931538 h 1557454"/>
                <a:gd name="connsiteX0" fmla="*/ 363000 w 363000"/>
                <a:gd name="connsiteY0" fmla="*/ 554167 h 1528585"/>
                <a:gd name="connsiteX1" fmla="*/ 174314 w 363000"/>
                <a:gd name="connsiteY1" fmla="*/ 2624 h 1528585"/>
                <a:gd name="connsiteX2" fmla="*/ 143 w 363000"/>
                <a:gd name="connsiteY2" fmla="*/ 757367 h 1528585"/>
                <a:gd name="connsiteX3" fmla="*/ 203343 w 363000"/>
                <a:gd name="connsiteY3" fmla="*/ 1526623 h 1528585"/>
                <a:gd name="connsiteX4" fmla="*/ 363000 w 363000"/>
                <a:gd name="connsiteY4" fmla="*/ 931538 h 152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000" h="1528585">
                  <a:moveTo>
                    <a:pt x="363000" y="554167"/>
                  </a:moveTo>
                  <a:cubicBezTo>
                    <a:pt x="327923" y="268719"/>
                    <a:pt x="234790" y="-31243"/>
                    <a:pt x="174314" y="2624"/>
                  </a:cubicBezTo>
                  <a:cubicBezTo>
                    <a:pt x="113838" y="36491"/>
                    <a:pt x="-4695" y="503367"/>
                    <a:pt x="143" y="757367"/>
                  </a:cubicBezTo>
                  <a:cubicBezTo>
                    <a:pt x="4981" y="1011367"/>
                    <a:pt x="142867" y="1497595"/>
                    <a:pt x="203343" y="1526623"/>
                  </a:cubicBezTo>
                  <a:cubicBezTo>
                    <a:pt x="263819" y="1555651"/>
                    <a:pt x="298895" y="1258109"/>
                    <a:pt x="363000" y="931538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62" name="直接箭头连接符 61">
            <a:extLst>
              <a:ext uri="{FF2B5EF4-FFF2-40B4-BE49-F238E27FC236}">
                <a16:creationId xmlns="" xmlns:a16="http://schemas.microsoft.com/office/drawing/2014/main" id="{2B546FD8-31D6-4A73-8D28-F085569A1A71}"/>
              </a:ext>
            </a:extLst>
          </p:cNvPr>
          <p:cNvCxnSpPr/>
          <p:nvPr/>
        </p:nvCxnSpPr>
        <p:spPr bwMode="gray">
          <a:xfrm>
            <a:off x="7877576" y="4791661"/>
            <a:ext cx="3087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直接箭头连接符 62">
            <a:extLst>
              <a:ext uri="{FF2B5EF4-FFF2-40B4-BE49-F238E27FC236}">
                <a16:creationId xmlns="" xmlns:a16="http://schemas.microsoft.com/office/drawing/2014/main" id="{4C207A32-0A65-473B-8D6F-C3EFC325F43E}"/>
              </a:ext>
            </a:extLst>
          </p:cNvPr>
          <p:cNvCxnSpPr/>
          <p:nvPr/>
        </p:nvCxnSpPr>
        <p:spPr bwMode="gray">
          <a:xfrm>
            <a:off x="7877576" y="5056447"/>
            <a:ext cx="3087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="" xmlns:a16="http://schemas.microsoft.com/office/drawing/2014/main" id="{C4346DC3-FA74-4FEF-A1C1-8E4EB2831457}"/>
              </a:ext>
            </a:extLst>
          </p:cNvPr>
          <p:cNvCxnSpPr/>
          <p:nvPr/>
        </p:nvCxnSpPr>
        <p:spPr bwMode="gray">
          <a:xfrm>
            <a:off x="7877576" y="5374190"/>
            <a:ext cx="3087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直接箭头连接符 64">
            <a:extLst>
              <a:ext uri="{FF2B5EF4-FFF2-40B4-BE49-F238E27FC236}">
                <a16:creationId xmlns="" xmlns:a16="http://schemas.microsoft.com/office/drawing/2014/main" id="{FFEE0297-7FE7-4A25-87B8-816841636F5C}"/>
              </a:ext>
            </a:extLst>
          </p:cNvPr>
          <p:cNvCxnSpPr/>
          <p:nvPr/>
        </p:nvCxnSpPr>
        <p:spPr bwMode="gray">
          <a:xfrm>
            <a:off x="7877576" y="5877283"/>
            <a:ext cx="3087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文本框 65">
            <a:extLst>
              <a:ext uri="{FF2B5EF4-FFF2-40B4-BE49-F238E27FC236}">
                <a16:creationId xmlns="" xmlns:a16="http://schemas.microsoft.com/office/drawing/2014/main" id="{959E011E-9F9D-4CB2-B617-521B19875434}"/>
              </a:ext>
            </a:extLst>
          </p:cNvPr>
          <p:cNvSpPr txBox="1"/>
          <p:nvPr/>
        </p:nvSpPr>
        <p:spPr bwMode="gray">
          <a:xfrm>
            <a:off x="7288340" y="4263207"/>
            <a:ext cx="100446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拥塞管理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="" xmlns:a16="http://schemas.microsoft.com/office/drawing/2014/main" id="{16C998D3-911D-4C07-BF29-70B5FD46A405}"/>
              </a:ext>
            </a:extLst>
          </p:cNvPr>
          <p:cNvSpPr txBox="1"/>
          <p:nvPr/>
        </p:nvSpPr>
        <p:spPr bwMode="gray">
          <a:xfrm>
            <a:off x="9020685" y="5718481"/>
            <a:ext cx="1004469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流量整形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="" xmlns:a16="http://schemas.microsoft.com/office/drawing/2014/main" id="{1557D75A-54E2-48CD-94EB-F7995396AEDA}"/>
              </a:ext>
            </a:extLst>
          </p:cNvPr>
          <p:cNvCxnSpPr>
            <a:cxnSpLocks/>
          </p:cNvCxnSpPr>
          <p:nvPr/>
        </p:nvCxnSpPr>
        <p:spPr bwMode="gray">
          <a:xfrm>
            <a:off x="8847902" y="4818140"/>
            <a:ext cx="547446" cy="2662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="" xmlns:a16="http://schemas.microsoft.com/office/drawing/2014/main" id="{0EE8B5CD-579B-48CE-959D-49EACA073D21}"/>
              </a:ext>
            </a:extLst>
          </p:cNvPr>
          <p:cNvCxnSpPr>
            <a:cxnSpLocks/>
          </p:cNvCxnSpPr>
          <p:nvPr/>
        </p:nvCxnSpPr>
        <p:spPr bwMode="gray">
          <a:xfrm>
            <a:off x="8847902" y="5082925"/>
            <a:ext cx="547446" cy="1177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直接箭头连接符 69">
            <a:extLst>
              <a:ext uri="{FF2B5EF4-FFF2-40B4-BE49-F238E27FC236}">
                <a16:creationId xmlns="" xmlns:a16="http://schemas.microsoft.com/office/drawing/2014/main" id="{B7333DC9-08DD-463E-B830-FF3234033526}"/>
              </a:ext>
            </a:extLst>
          </p:cNvPr>
          <p:cNvCxnSpPr>
            <a:cxnSpLocks/>
          </p:cNvCxnSpPr>
          <p:nvPr/>
        </p:nvCxnSpPr>
        <p:spPr bwMode="gray">
          <a:xfrm flipV="1">
            <a:off x="8854220" y="5299848"/>
            <a:ext cx="541128" cy="1323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直接箭头连接符 70">
            <a:extLst>
              <a:ext uri="{FF2B5EF4-FFF2-40B4-BE49-F238E27FC236}">
                <a16:creationId xmlns="" xmlns:a16="http://schemas.microsoft.com/office/drawing/2014/main" id="{3DA2D6E6-BF2A-4E6C-8A04-D3A36A38810B}"/>
              </a:ext>
            </a:extLst>
          </p:cNvPr>
          <p:cNvCxnSpPr>
            <a:cxnSpLocks/>
          </p:cNvCxnSpPr>
          <p:nvPr/>
        </p:nvCxnSpPr>
        <p:spPr bwMode="gray">
          <a:xfrm flipV="1">
            <a:off x="8847902" y="5426637"/>
            <a:ext cx="541128" cy="4246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文本框 71">
            <a:extLst>
              <a:ext uri="{FF2B5EF4-FFF2-40B4-BE49-F238E27FC236}">
                <a16:creationId xmlns="" xmlns:a16="http://schemas.microsoft.com/office/drawing/2014/main" id="{101E882C-2723-44E3-8385-EF3A7163B94B}"/>
              </a:ext>
            </a:extLst>
          </p:cNvPr>
          <p:cNvSpPr txBox="1"/>
          <p:nvPr/>
        </p:nvSpPr>
        <p:spPr bwMode="gray">
          <a:xfrm rot="2091138">
            <a:off x="8839776" y="4545833"/>
            <a:ext cx="797682" cy="3348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出队列</a:t>
            </a: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BAD4F4B-5F70-4467-9E19-7F3187A7D0A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拥塞管理与拥塞避免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F5D7A1C-1860-4CCB-8F97-0D421C05FF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>
                <a:sym typeface="Huawei Sans" panose="020C0503030203020204" pitchFamily="34" charset="0"/>
              </a:rPr>
              <a:t>拥塞管理就是使用队列技术处理网络拥塞问题。将报文缓存于不同队列中，对不同的队列分组和应用调度算法，以实现对不同优先级报文的处理。</a:t>
            </a:r>
          </a:p>
          <a:p>
            <a:r>
              <a:rPr lang="zh-CN" altLang="en-US" sz="1600">
                <a:sym typeface="Huawei Sans" panose="020C0503030203020204" pitchFamily="34" charset="0"/>
              </a:rPr>
              <a:t>拥塞避免是一种避免队列拥塞的流控机制。通过监控队列或内存缓冲区的使用情况，在拥塞发生或有加剧趋势时主动丢弃入队列的报文，通过调整流入速率来解除网络过载。</a:t>
            </a:r>
          </a:p>
          <a:p>
            <a:endParaRPr lang="zh-CN" altLang="en-US" sz="1600">
              <a:sym typeface="Huawei Sans" panose="020C0503030203020204" pitchFamily="34" charset="0"/>
            </a:endParaRPr>
          </a:p>
        </p:txBody>
      </p:sp>
      <p:sp>
        <p:nvSpPr>
          <p:cNvPr id="5" name="右箭头标注 23">
            <a:extLst>
              <a:ext uri="{FF2B5EF4-FFF2-40B4-BE49-F238E27FC236}">
                <a16:creationId xmlns="" xmlns:a16="http://schemas.microsoft.com/office/drawing/2014/main" id="{3AFC8B94-2785-4AA3-A413-8AB5EAC41608}"/>
              </a:ext>
            </a:extLst>
          </p:cNvPr>
          <p:cNvSpPr/>
          <p:nvPr/>
        </p:nvSpPr>
        <p:spPr bwMode="gray">
          <a:xfrm>
            <a:off x="2077726" y="5032591"/>
            <a:ext cx="1303176" cy="506464"/>
          </a:xfrm>
          <a:prstGeom prst="rightArrowCallout">
            <a:avLst>
              <a:gd name="adj1" fmla="val 23271"/>
              <a:gd name="adj2" fmla="val 25000"/>
              <a:gd name="adj3" fmla="val 19073"/>
              <a:gd name="adj4" fmla="val 75831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流分类和标记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右箭头标注 74">
            <a:extLst>
              <a:ext uri="{FF2B5EF4-FFF2-40B4-BE49-F238E27FC236}">
                <a16:creationId xmlns="" xmlns:a16="http://schemas.microsoft.com/office/drawing/2014/main" id="{6917C7AA-D1AD-44C4-838E-B02FC22DF354}"/>
              </a:ext>
            </a:extLst>
          </p:cNvPr>
          <p:cNvSpPr/>
          <p:nvPr/>
        </p:nvSpPr>
        <p:spPr bwMode="gray">
          <a:xfrm>
            <a:off x="4833113" y="5032591"/>
            <a:ext cx="1288381" cy="506464"/>
          </a:xfrm>
          <a:prstGeom prst="rightArrowCallout">
            <a:avLst>
              <a:gd name="adj1" fmla="val 23271"/>
              <a:gd name="adj2" fmla="val 19073"/>
              <a:gd name="adj3" fmla="val 28952"/>
              <a:gd name="adj4" fmla="val 71276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其它处理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...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右箭头标注 61">
            <a:extLst>
              <a:ext uri="{FF2B5EF4-FFF2-40B4-BE49-F238E27FC236}">
                <a16:creationId xmlns="" xmlns:a16="http://schemas.microsoft.com/office/drawing/2014/main" id="{7E950682-EFDB-4EF8-BDC1-96E7FA2392A5}"/>
              </a:ext>
            </a:extLst>
          </p:cNvPr>
          <p:cNvSpPr/>
          <p:nvPr/>
        </p:nvSpPr>
        <p:spPr bwMode="gray">
          <a:xfrm>
            <a:off x="3380902" y="5032591"/>
            <a:ext cx="1413388" cy="506464"/>
          </a:xfrm>
          <a:prstGeom prst="rightArrowCallout">
            <a:avLst>
              <a:gd name="adj1" fmla="val 23271"/>
              <a:gd name="adj2" fmla="val 25000"/>
              <a:gd name="adj3" fmla="val 25000"/>
              <a:gd name="adj4" fmla="val 71696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流量监管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CAR</a:t>
            </a: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kumimoji="0" lang="zh-CN" altLang="en-US" sz="1400" b="1" i="0" u="none" strike="noStrike" cap="none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="" xmlns:a16="http://schemas.microsoft.com/office/drawing/2014/main" id="{78A0FBE6-B17C-478F-A3B4-E4FD055E157D}"/>
              </a:ext>
            </a:extLst>
          </p:cNvPr>
          <p:cNvCxnSpPr/>
          <p:nvPr/>
        </p:nvCxnSpPr>
        <p:spPr bwMode="gray">
          <a:xfrm>
            <a:off x="1267380" y="5291077"/>
            <a:ext cx="810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516ED675-7ABA-4B7E-8440-FEA6A9B4C737}"/>
              </a:ext>
            </a:extLst>
          </p:cNvPr>
          <p:cNvSpPr txBox="1"/>
          <p:nvPr/>
        </p:nvSpPr>
        <p:spPr bwMode="gray">
          <a:xfrm>
            <a:off x="1304918" y="50285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流量入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="" xmlns:a16="http://schemas.microsoft.com/office/drawing/2014/main" id="{EDEB2806-5984-438A-AEBC-4AC35AABEDB3}"/>
              </a:ext>
            </a:extLst>
          </p:cNvPr>
          <p:cNvCxnSpPr/>
          <p:nvPr/>
        </p:nvCxnSpPr>
        <p:spPr bwMode="gray">
          <a:xfrm>
            <a:off x="9789010" y="5291077"/>
            <a:ext cx="810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0B079124-8F49-4E87-B1B2-B58526621FF5}"/>
              </a:ext>
            </a:extLst>
          </p:cNvPr>
          <p:cNvSpPr txBox="1"/>
          <p:nvPr/>
        </p:nvSpPr>
        <p:spPr bwMode="gray">
          <a:xfrm>
            <a:off x="9826548" y="50285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流量出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="" xmlns:a16="http://schemas.microsoft.com/office/drawing/2014/main" id="{BE99C935-3FC7-4416-950F-442911077678}"/>
              </a:ext>
            </a:extLst>
          </p:cNvPr>
          <p:cNvSpPr/>
          <p:nvPr/>
        </p:nvSpPr>
        <p:spPr bwMode="gray">
          <a:xfrm>
            <a:off x="4795736" y="4143590"/>
            <a:ext cx="934438" cy="614507"/>
          </a:xfrm>
          <a:custGeom>
            <a:avLst/>
            <a:gdLst>
              <a:gd name="connsiteX0" fmla="*/ 1257300 w 1257300"/>
              <a:gd name="connsiteY0" fmla="*/ 685800 h 685800"/>
              <a:gd name="connsiteX1" fmla="*/ 368300 w 1257300"/>
              <a:gd name="connsiteY1" fmla="*/ 469900 h 685800"/>
              <a:gd name="connsiteX2" fmla="*/ 0 w 1257300"/>
              <a:gd name="connsiteY2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0" h="685800">
                <a:moveTo>
                  <a:pt x="1257300" y="685800"/>
                </a:moveTo>
                <a:cubicBezTo>
                  <a:pt x="917575" y="635000"/>
                  <a:pt x="577850" y="584200"/>
                  <a:pt x="368300" y="469900"/>
                </a:cubicBezTo>
                <a:cubicBezTo>
                  <a:pt x="158750" y="355600"/>
                  <a:pt x="57150" y="65617"/>
                  <a:pt x="0" y="0"/>
                </a:cubicBezTo>
              </a:path>
            </a:pathLst>
          </a:custGeom>
          <a:noFill/>
          <a:ln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="" xmlns:a16="http://schemas.microsoft.com/office/drawing/2014/main" id="{8A5DC5DA-116A-45D3-8948-B20982FAE39A}"/>
              </a:ext>
            </a:extLst>
          </p:cNvPr>
          <p:cNvCxnSpPr>
            <a:cxnSpLocks/>
            <a:stCxn id="42" idx="0"/>
            <a:endCxn id="78" idx="2"/>
          </p:cNvCxnSpPr>
          <p:nvPr/>
        </p:nvCxnSpPr>
        <p:spPr bwMode="gray">
          <a:xfrm flipV="1">
            <a:off x="7859480" y="3795266"/>
            <a:ext cx="813420" cy="45628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="" xmlns:a16="http://schemas.microsoft.com/office/drawing/2014/main" id="{C56038B7-1447-4623-AA94-B4CBEBB92ABF}"/>
              </a:ext>
            </a:extLst>
          </p:cNvPr>
          <p:cNvSpPr txBox="1"/>
          <p:nvPr/>
        </p:nvSpPr>
        <p:spPr bwMode="gray">
          <a:xfrm>
            <a:off x="4087596" y="3382345"/>
            <a:ext cx="1606317" cy="738664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流入报文丢弃策略：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尾部丢弃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WRED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="" xmlns:a16="http://schemas.microsoft.com/office/drawing/2014/main" id="{52ADF9CB-0B8E-4B93-9F38-C9FD460DE9D6}"/>
              </a:ext>
            </a:extLst>
          </p:cNvPr>
          <p:cNvSpPr txBox="1"/>
          <p:nvPr/>
        </p:nvSpPr>
        <p:spPr bwMode="gray">
          <a:xfrm>
            <a:off x="6498089" y="2625715"/>
            <a:ext cx="4349622" cy="1169551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队列调度算法：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FIFO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First In First Out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，先进先出）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Strict Priority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，严格优先级）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WFQ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Weighted Fair Queuing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，加权公平队列）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五边形 79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80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燕尾形 81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42328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9BAB564-B2CC-470D-903A-87ED0175048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队列分组调度顺序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4B06FEFC-03A7-4340-9A75-F6A4C67C8B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每个接口有</a:t>
            </a:r>
            <a:r>
              <a:rPr lang="en-US" altLang="zh-CN" sz="1600" dirty="0">
                <a:sym typeface="Huawei Sans" panose="020C0503030203020204" pitchFamily="34" charset="0"/>
              </a:rPr>
              <a:t>8</a:t>
            </a:r>
            <a:r>
              <a:rPr lang="zh-CN" altLang="en-US" sz="1600" dirty="0">
                <a:sym typeface="Huawei Sans" panose="020C0503030203020204" pitchFamily="34" charset="0"/>
              </a:rPr>
              <a:t>个端口队列，将</a:t>
            </a:r>
            <a:r>
              <a:rPr lang="en-US" altLang="zh-CN" sz="1600" dirty="0">
                <a:sym typeface="Huawei Sans" panose="020C0503030203020204" pitchFamily="34" charset="0"/>
              </a:rPr>
              <a:t>8</a:t>
            </a:r>
            <a:r>
              <a:rPr lang="zh-CN" altLang="en-US" sz="1600" dirty="0">
                <a:sym typeface="Huawei Sans" panose="020C0503030203020204" pitchFamily="34" charset="0"/>
              </a:rPr>
              <a:t>个端口队列可以分为三组队列（</a:t>
            </a:r>
            <a:r>
              <a:rPr lang="en-US" altLang="zh-CN" sz="1600" dirty="0">
                <a:sym typeface="Huawei Sans" panose="020C0503030203020204" pitchFamily="34" charset="0"/>
              </a:rPr>
              <a:t>PQ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WFQ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LPQ</a:t>
            </a:r>
            <a:r>
              <a:rPr lang="zh-CN" altLang="en-US" sz="1600" dirty="0">
                <a:sym typeface="Huawei Sans" panose="020C0503030203020204" pitchFamily="34" charset="0"/>
              </a:rPr>
              <a:t>队列）分别应用调度算法。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PQ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WFQ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LPQ</a:t>
            </a:r>
            <a:r>
              <a:rPr lang="zh-CN" altLang="en-US" sz="1600" dirty="0">
                <a:sym typeface="Huawei Sans" panose="020C0503030203020204" pitchFamily="34" charset="0"/>
              </a:rPr>
              <a:t>之间采用</a:t>
            </a:r>
            <a:r>
              <a:rPr lang="en-US" altLang="zh-CN" sz="1600" dirty="0">
                <a:sym typeface="Huawei Sans" panose="020C0503030203020204" pitchFamily="34" charset="0"/>
              </a:rPr>
              <a:t>SP</a:t>
            </a:r>
            <a:r>
              <a:rPr lang="zh-CN" altLang="en-US" sz="1600" dirty="0">
                <a:sym typeface="Huawei Sans" panose="020C0503030203020204" pitchFamily="34" charset="0"/>
              </a:rPr>
              <a:t>调度算法，优先调度</a:t>
            </a:r>
            <a:r>
              <a:rPr lang="en-US" altLang="zh-CN" sz="1600" dirty="0">
                <a:sym typeface="Huawei Sans" panose="020C0503030203020204" pitchFamily="34" charset="0"/>
              </a:rPr>
              <a:t>PQ</a:t>
            </a:r>
            <a:r>
              <a:rPr lang="zh-CN" altLang="en-US" sz="1600" dirty="0">
                <a:sym typeface="Huawei Sans" panose="020C0503030203020204" pitchFamily="34" charset="0"/>
              </a:rPr>
              <a:t>队列，再调度</a:t>
            </a:r>
            <a:r>
              <a:rPr lang="en-US" altLang="zh-CN" sz="1600" dirty="0">
                <a:sym typeface="Huawei Sans" panose="020C0503030203020204" pitchFamily="34" charset="0"/>
              </a:rPr>
              <a:t>WFQ</a:t>
            </a:r>
            <a:r>
              <a:rPr lang="zh-CN" altLang="en-US" sz="1600" dirty="0">
                <a:sym typeface="Huawei Sans" panose="020C0503030203020204" pitchFamily="34" charset="0"/>
              </a:rPr>
              <a:t>队列，最后调度</a:t>
            </a:r>
            <a:r>
              <a:rPr lang="en-US" altLang="zh-CN" sz="1600" dirty="0">
                <a:sym typeface="Huawei Sans" panose="020C0503030203020204" pitchFamily="34" charset="0"/>
              </a:rPr>
              <a:t>LPQ</a:t>
            </a:r>
            <a:r>
              <a:rPr lang="zh-CN" altLang="en-US" sz="1600" dirty="0">
                <a:sym typeface="Huawei Sans" panose="020C0503030203020204" pitchFamily="34" charset="0"/>
              </a:rPr>
              <a:t>队列。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="" xmlns:a16="http://schemas.microsoft.com/office/drawing/2014/main" id="{AE1D0D90-2AE9-4B17-976E-8BA24C551361}"/>
              </a:ext>
            </a:extLst>
          </p:cNvPr>
          <p:cNvSpPr/>
          <p:nvPr/>
        </p:nvSpPr>
        <p:spPr bwMode="gray">
          <a:xfrm>
            <a:off x="6281353" y="2156055"/>
            <a:ext cx="4673284" cy="397855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6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="" xmlns:a16="http://schemas.microsoft.com/office/drawing/2014/main" id="{A2A10B27-1F32-409C-8D93-6CBD3A9EA2BF}"/>
              </a:ext>
            </a:extLst>
          </p:cNvPr>
          <p:cNvGrpSpPr/>
          <p:nvPr/>
        </p:nvGrpSpPr>
        <p:grpSpPr bwMode="gray">
          <a:xfrm>
            <a:off x="6753951" y="2584889"/>
            <a:ext cx="3990249" cy="3227059"/>
            <a:chOff x="6906140" y="2213256"/>
            <a:chExt cx="3978392" cy="3854842"/>
          </a:xfrm>
        </p:grpSpPr>
        <p:grpSp>
          <p:nvGrpSpPr>
            <p:cNvPr id="89" name="组合 88">
              <a:extLst>
                <a:ext uri="{FF2B5EF4-FFF2-40B4-BE49-F238E27FC236}">
                  <a16:creationId xmlns="" xmlns:a16="http://schemas.microsoft.com/office/drawing/2014/main" id="{C08A6DA9-8305-4205-9932-18F9637FF303}"/>
                </a:ext>
              </a:extLst>
            </p:cNvPr>
            <p:cNvGrpSpPr/>
            <p:nvPr/>
          </p:nvGrpSpPr>
          <p:grpSpPr bwMode="gray">
            <a:xfrm>
              <a:off x="7176170" y="2213256"/>
              <a:ext cx="1224136" cy="488115"/>
              <a:chOff x="6708068" y="1492754"/>
              <a:chExt cx="1224136" cy="488115"/>
            </a:xfrm>
          </p:grpSpPr>
          <p:sp>
            <p:nvSpPr>
              <p:cNvPr id="124" name="圆角矩形 90">
                <a:extLst>
                  <a:ext uri="{FF2B5EF4-FFF2-40B4-BE49-F238E27FC236}">
                    <a16:creationId xmlns="" xmlns:a16="http://schemas.microsoft.com/office/drawing/2014/main" id="{643A000F-19CF-475F-BCBD-8D56E59B1EDE}"/>
                  </a:ext>
                </a:extLst>
              </p:cNvPr>
              <p:cNvSpPr/>
              <p:nvPr/>
            </p:nvSpPr>
            <p:spPr bwMode="gray">
              <a:xfrm>
                <a:off x="6708068" y="1492754"/>
                <a:ext cx="1224136" cy="488115"/>
              </a:xfrm>
              <a:prstGeom prst="roundRect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5" name="iṥ1iďe">
                <a:extLst>
                  <a:ext uri="{FF2B5EF4-FFF2-40B4-BE49-F238E27FC236}">
                    <a16:creationId xmlns="" xmlns:a16="http://schemas.microsoft.com/office/drawing/2014/main" id="{3642FAA6-1251-4EF2-BC14-5A5DBCBDCCDD}"/>
                  </a:ext>
                </a:extLst>
              </p:cNvPr>
              <p:cNvSpPr txBox="1"/>
              <p:nvPr/>
            </p:nvSpPr>
            <p:spPr bwMode="gray">
              <a:xfrm>
                <a:off x="7014102" y="1574794"/>
                <a:ext cx="612068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开始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0" name="组合 89">
              <a:extLst>
                <a:ext uri="{FF2B5EF4-FFF2-40B4-BE49-F238E27FC236}">
                  <a16:creationId xmlns="" xmlns:a16="http://schemas.microsoft.com/office/drawing/2014/main" id="{B10D23B5-9E0E-46A8-966A-D334AB9C51ED}"/>
                </a:ext>
              </a:extLst>
            </p:cNvPr>
            <p:cNvGrpSpPr/>
            <p:nvPr/>
          </p:nvGrpSpPr>
          <p:grpSpPr bwMode="gray">
            <a:xfrm>
              <a:off x="6906140" y="2901220"/>
              <a:ext cx="1764196" cy="876388"/>
              <a:chOff x="6708068" y="2212134"/>
              <a:chExt cx="1548172" cy="633532"/>
            </a:xfrm>
          </p:grpSpPr>
          <p:sp>
            <p:nvSpPr>
              <p:cNvPr id="122" name="流程图: 决策 121">
                <a:extLst>
                  <a:ext uri="{FF2B5EF4-FFF2-40B4-BE49-F238E27FC236}">
                    <a16:creationId xmlns="" xmlns:a16="http://schemas.microsoft.com/office/drawing/2014/main" id="{F831373C-331D-424D-BF7B-F0EAEEB38ED6}"/>
                  </a:ext>
                </a:extLst>
              </p:cNvPr>
              <p:cNvSpPr/>
              <p:nvPr/>
            </p:nvSpPr>
            <p:spPr bwMode="gray">
              <a:xfrm>
                <a:off x="6708068" y="2212134"/>
                <a:ext cx="1548172" cy="633532"/>
              </a:xfrm>
              <a:prstGeom prst="flowChartDecision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iṥ1iďe">
                <a:extLst>
                  <a:ext uri="{FF2B5EF4-FFF2-40B4-BE49-F238E27FC236}">
                    <a16:creationId xmlns="" xmlns:a16="http://schemas.microsoft.com/office/drawing/2014/main" id="{FE04F923-7CB7-4071-8F4E-29BDCAF5A342}"/>
                  </a:ext>
                </a:extLst>
              </p:cNvPr>
              <p:cNvSpPr txBox="1"/>
              <p:nvPr/>
            </p:nvSpPr>
            <p:spPr bwMode="gray">
              <a:xfrm>
                <a:off x="7014102" y="2366882"/>
                <a:ext cx="1098122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PQ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队列空？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="" xmlns:a16="http://schemas.microsoft.com/office/drawing/2014/main" id="{CD76B903-2FF5-4500-B0C4-E6F59A6ADB4A}"/>
                </a:ext>
              </a:extLst>
            </p:cNvPr>
            <p:cNvGrpSpPr/>
            <p:nvPr/>
          </p:nvGrpSpPr>
          <p:grpSpPr bwMode="gray">
            <a:xfrm>
              <a:off x="6906140" y="3911200"/>
              <a:ext cx="1764196" cy="876388"/>
              <a:chOff x="6708068" y="2212134"/>
              <a:chExt cx="1548172" cy="633532"/>
            </a:xfrm>
          </p:grpSpPr>
          <p:sp>
            <p:nvSpPr>
              <p:cNvPr id="120" name="流程图: 决策 119">
                <a:extLst>
                  <a:ext uri="{FF2B5EF4-FFF2-40B4-BE49-F238E27FC236}">
                    <a16:creationId xmlns="" xmlns:a16="http://schemas.microsoft.com/office/drawing/2014/main" id="{BF02F34E-43A9-4028-8166-FD4851D4A6C3}"/>
                  </a:ext>
                </a:extLst>
              </p:cNvPr>
              <p:cNvSpPr/>
              <p:nvPr/>
            </p:nvSpPr>
            <p:spPr bwMode="gray">
              <a:xfrm>
                <a:off x="6708068" y="2212134"/>
                <a:ext cx="1548172" cy="633532"/>
              </a:xfrm>
              <a:prstGeom prst="flowChartDecision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1" name="iṥ1iďe">
                <a:extLst>
                  <a:ext uri="{FF2B5EF4-FFF2-40B4-BE49-F238E27FC236}">
                    <a16:creationId xmlns="" xmlns:a16="http://schemas.microsoft.com/office/drawing/2014/main" id="{A9549B36-2FE8-4674-932D-6649629DA8EF}"/>
                  </a:ext>
                </a:extLst>
              </p:cNvPr>
              <p:cNvSpPr txBox="1"/>
              <p:nvPr/>
            </p:nvSpPr>
            <p:spPr bwMode="gray">
              <a:xfrm>
                <a:off x="7014102" y="2366882"/>
                <a:ext cx="1098122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WFQ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队列空？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="" xmlns:a16="http://schemas.microsoft.com/office/drawing/2014/main" id="{8348D03D-A37D-4C6B-9896-CCD330380AD7}"/>
                </a:ext>
              </a:extLst>
            </p:cNvPr>
            <p:cNvGrpSpPr/>
            <p:nvPr/>
          </p:nvGrpSpPr>
          <p:grpSpPr bwMode="gray">
            <a:xfrm>
              <a:off x="6906140" y="4921180"/>
              <a:ext cx="1764196" cy="876388"/>
              <a:chOff x="6708068" y="2212134"/>
              <a:chExt cx="1548172" cy="633532"/>
            </a:xfrm>
          </p:grpSpPr>
          <p:sp>
            <p:nvSpPr>
              <p:cNvPr id="118" name="流程图: 决策 117">
                <a:extLst>
                  <a:ext uri="{FF2B5EF4-FFF2-40B4-BE49-F238E27FC236}">
                    <a16:creationId xmlns="" xmlns:a16="http://schemas.microsoft.com/office/drawing/2014/main" id="{D2F34A8F-410D-4EFB-B109-B697831718F6}"/>
                  </a:ext>
                </a:extLst>
              </p:cNvPr>
              <p:cNvSpPr/>
              <p:nvPr/>
            </p:nvSpPr>
            <p:spPr bwMode="gray">
              <a:xfrm>
                <a:off x="6708068" y="2212134"/>
                <a:ext cx="1548172" cy="633532"/>
              </a:xfrm>
              <a:prstGeom prst="flowChartDecision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9" name="iṥ1iďe">
                <a:extLst>
                  <a:ext uri="{FF2B5EF4-FFF2-40B4-BE49-F238E27FC236}">
                    <a16:creationId xmlns="" xmlns:a16="http://schemas.microsoft.com/office/drawing/2014/main" id="{56793510-D94D-4C28-871E-49149DB629E0}"/>
                  </a:ext>
                </a:extLst>
              </p:cNvPr>
              <p:cNvSpPr txBox="1"/>
              <p:nvPr/>
            </p:nvSpPr>
            <p:spPr bwMode="gray">
              <a:xfrm>
                <a:off x="7014102" y="2366882"/>
                <a:ext cx="1098122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kern="0" noProof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LPQ</a:t>
                </a: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队列空？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="" xmlns:a16="http://schemas.microsoft.com/office/drawing/2014/main" id="{57ABF8E2-A876-4378-B5F3-B2618E905CC2}"/>
                </a:ext>
              </a:extLst>
            </p:cNvPr>
            <p:cNvGrpSpPr/>
            <p:nvPr/>
          </p:nvGrpSpPr>
          <p:grpSpPr bwMode="gray">
            <a:xfrm>
              <a:off x="9138388" y="3051381"/>
              <a:ext cx="1296144" cy="576064"/>
              <a:chOff x="6708068" y="2278939"/>
              <a:chExt cx="1548172" cy="416430"/>
            </a:xfrm>
          </p:grpSpPr>
          <p:sp>
            <p:nvSpPr>
              <p:cNvPr id="116" name="矩形 115">
                <a:extLst>
                  <a:ext uri="{FF2B5EF4-FFF2-40B4-BE49-F238E27FC236}">
                    <a16:creationId xmlns="" xmlns:a16="http://schemas.microsoft.com/office/drawing/2014/main" id="{AB77830B-8C40-4AFA-BDE0-2DE90EBFD693}"/>
                  </a:ext>
                </a:extLst>
              </p:cNvPr>
              <p:cNvSpPr/>
              <p:nvPr/>
            </p:nvSpPr>
            <p:spPr bwMode="gray">
              <a:xfrm>
                <a:off x="6708068" y="2278939"/>
                <a:ext cx="1548172" cy="416430"/>
              </a:xfrm>
              <a:prstGeom prst="rect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7" name="iṥ1iďe">
                <a:extLst>
                  <a:ext uri="{FF2B5EF4-FFF2-40B4-BE49-F238E27FC236}">
                    <a16:creationId xmlns="" xmlns:a16="http://schemas.microsoft.com/office/drawing/2014/main" id="{B95C7B6B-3A1C-4B05-BA66-9EE750B1A43E}"/>
                  </a:ext>
                </a:extLst>
              </p:cNvPr>
              <p:cNvSpPr txBox="1"/>
              <p:nvPr/>
            </p:nvSpPr>
            <p:spPr bwMode="gray">
              <a:xfrm>
                <a:off x="6919071" y="2347127"/>
                <a:ext cx="1098122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执行一轮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PQ</a:t>
                </a:r>
                <a:r>
                  <a:rPr lang="zh-CN" altLang="en-US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="" xmlns:a16="http://schemas.microsoft.com/office/drawing/2014/main" id="{8C8EF113-62E7-4423-96A4-A0E244D0E6EF}"/>
                </a:ext>
              </a:extLst>
            </p:cNvPr>
            <p:cNvGrpSpPr/>
            <p:nvPr/>
          </p:nvGrpSpPr>
          <p:grpSpPr bwMode="gray">
            <a:xfrm>
              <a:off x="9138388" y="4061361"/>
              <a:ext cx="1296144" cy="576064"/>
              <a:chOff x="6708068" y="2278939"/>
              <a:chExt cx="1548172" cy="416430"/>
            </a:xfrm>
          </p:grpSpPr>
          <p:sp>
            <p:nvSpPr>
              <p:cNvPr id="114" name="矩形 113">
                <a:extLst>
                  <a:ext uri="{FF2B5EF4-FFF2-40B4-BE49-F238E27FC236}">
                    <a16:creationId xmlns="" xmlns:a16="http://schemas.microsoft.com/office/drawing/2014/main" id="{7D5514B2-863C-4D79-97AF-7ADE1CFABD95}"/>
                  </a:ext>
                </a:extLst>
              </p:cNvPr>
              <p:cNvSpPr/>
              <p:nvPr/>
            </p:nvSpPr>
            <p:spPr bwMode="gray">
              <a:xfrm>
                <a:off x="6708068" y="2278939"/>
                <a:ext cx="1548172" cy="416430"/>
              </a:xfrm>
              <a:prstGeom prst="rect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5" name="iṥ1iďe">
                <a:extLst>
                  <a:ext uri="{FF2B5EF4-FFF2-40B4-BE49-F238E27FC236}">
                    <a16:creationId xmlns="" xmlns:a16="http://schemas.microsoft.com/office/drawing/2014/main" id="{29AC7A5F-8499-4529-B9AA-F9B92360F6C2}"/>
                  </a:ext>
                </a:extLst>
              </p:cNvPr>
              <p:cNvSpPr txBox="1"/>
              <p:nvPr/>
            </p:nvSpPr>
            <p:spPr bwMode="gray">
              <a:xfrm>
                <a:off x="6906591" y="2325136"/>
                <a:ext cx="1151128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执行一轮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WFQ</a:t>
                </a:r>
                <a:r>
                  <a:rPr lang="zh-CN" altLang="en-US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="" xmlns:a16="http://schemas.microsoft.com/office/drawing/2014/main" id="{7D27867B-3E3A-4B5A-A06B-500D51ACD00A}"/>
                </a:ext>
              </a:extLst>
            </p:cNvPr>
            <p:cNvGrpSpPr/>
            <p:nvPr/>
          </p:nvGrpSpPr>
          <p:grpSpPr bwMode="gray">
            <a:xfrm>
              <a:off x="9138388" y="5071341"/>
              <a:ext cx="1296144" cy="576064"/>
              <a:chOff x="6708068" y="2278939"/>
              <a:chExt cx="1548172" cy="416430"/>
            </a:xfrm>
          </p:grpSpPr>
          <p:sp>
            <p:nvSpPr>
              <p:cNvPr id="112" name="矩形 111">
                <a:extLst>
                  <a:ext uri="{FF2B5EF4-FFF2-40B4-BE49-F238E27FC236}">
                    <a16:creationId xmlns="" xmlns:a16="http://schemas.microsoft.com/office/drawing/2014/main" id="{0DD274DF-644D-48E4-B859-C6BD033B4C06}"/>
                  </a:ext>
                </a:extLst>
              </p:cNvPr>
              <p:cNvSpPr/>
              <p:nvPr/>
            </p:nvSpPr>
            <p:spPr bwMode="gray">
              <a:xfrm>
                <a:off x="6708068" y="2278939"/>
                <a:ext cx="1548172" cy="416430"/>
              </a:xfrm>
              <a:prstGeom prst="rect">
                <a:avLst/>
              </a:prstGeom>
              <a:solidFill>
                <a:srgbClr val="F4FBFE"/>
              </a:solidFill>
              <a:ln w="12700">
                <a:solidFill>
                  <a:srgbClr val="94DAE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3" name="iṥ1iďe">
                <a:extLst>
                  <a:ext uri="{FF2B5EF4-FFF2-40B4-BE49-F238E27FC236}">
                    <a16:creationId xmlns="" xmlns:a16="http://schemas.microsoft.com/office/drawing/2014/main" id="{B180FE4D-6AA5-40D6-AE5F-387FFC906E07}"/>
                  </a:ext>
                </a:extLst>
              </p:cNvPr>
              <p:cNvSpPr txBox="1"/>
              <p:nvPr/>
            </p:nvSpPr>
            <p:spPr bwMode="gray">
              <a:xfrm>
                <a:off x="6906591" y="2325136"/>
                <a:ext cx="1151128" cy="3240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执行一轮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LPQ</a:t>
                </a:r>
                <a:r>
                  <a:rPr lang="zh-CN" altLang="en-US" sz="1400" kern="0" dirty="0">
                    <a:solidFill>
                      <a:srgbClr val="00000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  <a:endPara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96" name="直接箭头连接符 95">
              <a:extLst>
                <a:ext uri="{FF2B5EF4-FFF2-40B4-BE49-F238E27FC236}">
                  <a16:creationId xmlns="" xmlns:a16="http://schemas.microsoft.com/office/drawing/2014/main" id="{F4C3A5C8-EEFA-496D-8003-E25FEBD32931}"/>
                </a:ext>
              </a:extLst>
            </p:cNvPr>
            <p:cNvCxnSpPr>
              <a:stCxn id="124" idx="2"/>
              <a:endCxn id="122" idx="0"/>
            </p:cNvCxnSpPr>
            <p:nvPr/>
          </p:nvCxnSpPr>
          <p:spPr bwMode="gray">
            <a:xfrm>
              <a:off x="7788238" y="2701371"/>
              <a:ext cx="0" cy="19984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>
              <a:extLst>
                <a:ext uri="{FF2B5EF4-FFF2-40B4-BE49-F238E27FC236}">
                  <a16:creationId xmlns="" xmlns:a16="http://schemas.microsoft.com/office/drawing/2014/main" id="{3F08B36A-162E-450A-BAE2-15404A8A8364}"/>
                </a:ext>
              </a:extLst>
            </p:cNvPr>
            <p:cNvCxnSpPr>
              <a:stCxn id="122" idx="2"/>
              <a:endCxn id="120" idx="0"/>
            </p:cNvCxnSpPr>
            <p:nvPr/>
          </p:nvCxnSpPr>
          <p:spPr bwMode="gray">
            <a:xfrm>
              <a:off x="7788238" y="3777608"/>
              <a:ext cx="0" cy="13359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8" name="直接箭头连接符 97">
              <a:extLst>
                <a:ext uri="{FF2B5EF4-FFF2-40B4-BE49-F238E27FC236}">
                  <a16:creationId xmlns="" xmlns:a16="http://schemas.microsoft.com/office/drawing/2014/main" id="{AE4233C9-2F03-4CF1-B7FB-692D482DEE44}"/>
                </a:ext>
              </a:extLst>
            </p:cNvPr>
            <p:cNvCxnSpPr>
              <a:stCxn id="120" idx="2"/>
              <a:endCxn id="118" idx="0"/>
            </p:cNvCxnSpPr>
            <p:nvPr/>
          </p:nvCxnSpPr>
          <p:spPr bwMode="gray">
            <a:xfrm>
              <a:off x="7788238" y="4787588"/>
              <a:ext cx="0" cy="13359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="" xmlns:a16="http://schemas.microsoft.com/office/drawing/2014/main" id="{784BE21E-108C-4A25-B73B-4663151A55EA}"/>
                </a:ext>
              </a:extLst>
            </p:cNvPr>
            <p:cNvCxnSpPr>
              <a:stCxn id="122" idx="3"/>
              <a:endCxn id="116" idx="1"/>
            </p:cNvCxnSpPr>
            <p:nvPr/>
          </p:nvCxnSpPr>
          <p:spPr bwMode="gray">
            <a:xfrm>
              <a:off x="8670336" y="3339414"/>
              <a:ext cx="46805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="" xmlns:a16="http://schemas.microsoft.com/office/drawing/2014/main" id="{B6A86DBF-6C14-4FAC-AA48-C9B347C584A3}"/>
                </a:ext>
              </a:extLst>
            </p:cNvPr>
            <p:cNvCxnSpPr>
              <a:stCxn id="120" idx="3"/>
              <a:endCxn id="114" idx="1"/>
            </p:cNvCxnSpPr>
            <p:nvPr/>
          </p:nvCxnSpPr>
          <p:spPr bwMode="gray">
            <a:xfrm flipV="1">
              <a:off x="8670336" y="4349393"/>
              <a:ext cx="4680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="" xmlns:a16="http://schemas.microsoft.com/office/drawing/2014/main" id="{B747E4A7-1641-40EF-9E83-98FD44E77DB7}"/>
                </a:ext>
              </a:extLst>
            </p:cNvPr>
            <p:cNvCxnSpPr>
              <a:stCxn id="118" idx="3"/>
              <a:endCxn id="112" idx="1"/>
            </p:cNvCxnSpPr>
            <p:nvPr/>
          </p:nvCxnSpPr>
          <p:spPr bwMode="gray">
            <a:xfrm flipV="1">
              <a:off x="8670336" y="5359373"/>
              <a:ext cx="4680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2" name="肘形连接符 131">
              <a:extLst>
                <a:ext uri="{FF2B5EF4-FFF2-40B4-BE49-F238E27FC236}">
                  <a16:creationId xmlns="" xmlns:a16="http://schemas.microsoft.com/office/drawing/2014/main" id="{95E96B69-888E-4AE2-9B5A-016B8DCFFE83}"/>
                </a:ext>
              </a:extLst>
            </p:cNvPr>
            <p:cNvCxnSpPr>
              <a:stCxn id="118" idx="2"/>
              <a:endCxn id="122" idx="1"/>
            </p:cNvCxnSpPr>
            <p:nvPr/>
          </p:nvCxnSpPr>
          <p:spPr bwMode="gray">
            <a:xfrm rot="5400000" flipH="1">
              <a:off x="6118112" y="4127443"/>
              <a:ext cx="2458153" cy="882098"/>
            </a:xfrm>
            <a:prstGeom prst="bentConnector4">
              <a:avLst>
                <a:gd name="adj1" fmla="val -11109"/>
                <a:gd name="adj2" fmla="val 125838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="" xmlns:a16="http://schemas.microsoft.com/office/drawing/2014/main" id="{2E77F76E-4CC9-4281-B3CD-6A84AA236D0A}"/>
                </a:ext>
              </a:extLst>
            </p:cNvPr>
            <p:cNvCxnSpPr>
              <a:stCxn id="116" idx="3"/>
            </p:cNvCxnSpPr>
            <p:nvPr/>
          </p:nvCxnSpPr>
          <p:spPr bwMode="gray">
            <a:xfrm>
              <a:off x="10434532" y="3339413"/>
              <a:ext cx="45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="" xmlns:a16="http://schemas.microsoft.com/office/drawing/2014/main" id="{6666D2B7-FB41-435D-956E-A3FBACF991FE}"/>
                </a:ext>
              </a:extLst>
            </p:cNvPr>
            <p:cNvCxnSpPr>
              <a:stCxn id="114" idx="3"/>
            </p:cNvCxnSpPr>
            <p:nvPr/>
          </p:nvCxnSpPr>
          <p:spPr bwMode="gray">
            <a:xfrm>
              <a:off x="10434532" y="4349393"/>
              <a:ext cx="45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="" xmlns:a16="http://schemas.microsoft.com/office/drawing/2014/main" id="{664D2CFC-660D-47C6-AEF5-81C6738E30C2}"/>
                </a:ext>
              </a:extLst>
            </p:cNvPr>
            <p:cNvCxnSpPr>
              <a:stCxn id="112" idx="3"/>
            </p:cNvCxnSpPr>
            <p:nvPr/>
          </p:nvCxnSpPr>
          <p:spPr bwMode="gray">
            <a:xfrm>
              <a:off x="10434532" y="5359373"/>
              <a:ext cx="45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6" name="iṥ1iďe">
              <a:extLst>
                <a:ext uri="{FF2B5EF4-FFF2-40B4-BE49-F238E27FC236}">
                  <a16:creationId xmlns="" xmlns:a16="http://schemas.microsoft.com/office/drawing/2014/main" id="{B1703927-69AF-4DD6-97E5-669CE61FA57D}"/>
                </a:ext>
              </a:extLst>
            </p:cNvPr>
            <p:cNvSpPr txBox="1"/>
            <p:nvPr/>
          </p:nvSpPr>
          <p:spPr bwMode="gray">
            <a:xfrm>
              <a:off x="7662224" y="3656253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是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7" name="iṥ1iďe">
              <a:extLst>
                <a:ext uri="{FF2B5EF4-FFF2-40B4-BE49-F238E27FC236}">
                  <a16:creationId xmlns="" xmlns:a16="http://schemas.microsoft.com/office/drawing/2014/main" id="{C9F485D4-35CB-4ACD-B5E5-02B2A4DAFEF0}"/>
                </a:ext>
              </a:extLst>
            </p:cNvPr>
            <p:cNvSpPr txBox="1"/>
            <p:nvPr/>
          </p:nvSpPr>
          <p:spPr bwMode="gray">
            <a:xfrm>
              <a:off x="7662224" y="4664366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是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8" name="iṥ1iďe">
              <a:extLst>
                <a:ext uri="{FF2B5EF4-FFF2-40B4-BE49-F238E27FC236}">
                  <a16:creationId xmlns="" xmlns:a16="http://schemas.microsoft.com/office/drawing/2014/main" id="{4A6ED8B1-FD91-4CBB-A853-5E81F9FD0A5E}"/>
                </a:ext>
              </a:extLst>
            </p:cNvPr>
            <p:cNvSpPr txBox="1"/>
            <p:nvPr/>
          </p:nvSpPr>
          <p:spPr bwMode="gray">
            <a:xfrm>
              <a:off x="7662224" y="5672476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是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9" name="iṥ1iďe">
              <a:extLst>
                <a:ext uri="{FF2B5EF4-FFF2-40B4-BE49-F238E27FC236}">
                  <a16:creationId xmlns="" xmlns:a16="http://schemas.microsoft.com/office/drawing/2014/main" id="{976B8362-41EA-4A15-A835-6D4C1981E69F}"/>
                </a:ext>
              </a:extLst>
            </p:cNvPr>
            <p:cNvSpPr txBox="1"/>
            <p:nvPr/>
          </p:nvSpPr>
          <p:spPr bwMode="gray">
            <a:xfrm>
              <a:off x="8598328" y="2997796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否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0" name="iṥ1iďe">
              <a:extLst>
                <a:ext uri="{FF2B5EF4-FFF2-40B4-BE49-F238E27FC236}">
                  <a16:creationId xmlns="" xmlns:a16="http://schemas.microsoft.com/office/drawing/2014/main" id="{A0552559-9A2F-4AC2-A1CA-5AF9276512E3}"/>
                </a:ext>
              </a:extLst>
            </p:cNvPr>
            <p:cNvSpPr txBox="1"/>
            <p:nvPr/>
          </p:nvSpPr>
          <p:spPr bwMode="gray">
            <a:xfrm>
              <a:off x="8598328" y="5050024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否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1" name="iṥ1iďe">
              <a:extLst>
                <a:ext uri="{FF2B5EF4-FFF2-40B4-BE49-F238E27FC236}">
                  <a16:creationId xmlns="" xmlns:a16="http://schemas.microsoft.com/office/drawing/2014/main" id="{2C2EC648-FA1A-48A5-B510-379F58BF2F2B}"/>
                </a:ext>
              </a:extLst>
            </p:cNvPr>
            <p:cNvSpPr txBox="1"/>
            <p:nvPr/>
          </p:nvSpPr>
          <p:spPr bwMode="gray">
            <a:xfrm>
              <a:off x="8598328" y="4008727"/>
              <a:ext cx="576064" cy="395622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否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="" xmlns:a16="http://schemas.microsoft.com/office/drawing/2014/main" id="{4D6CB423-69E4-4165-AC21-F98DC887ABFC}"/>
              </a:ext>
            </a:extLst>
          </p:cNvPr>
          <p:cNvGrpSpPr/>
          <p:nvPr/>
        </p:nvGrpSpPr>
        <p:grpSpPr bwMode="gray">
          <a:xfrm>
            <a:off x="609056" y="2007257"/>
            <a:ext cx="5302998" cy="4148122"/>
            <a:chOff x="942244" y="2033140"/>
            <a:chExt cx="4811787" cy="4148122"/>
          </a:xfrm>
        </p:grpSpPr>
        <p:sp>
          <p:nvSpPr>
            <p:cNvPr id="37" name="矩形 36">
              <a:extLst>
                <a:ext uri="{FF2B5EF4-FFF2-40B4-BE49-F238E27FC236}">
                  <a16:creationId xmlns="" xmlns:a16="http://schemas.microsoft.com/office/drawing/2014/main" id="{2DF5732C-9B74-4E82-B048-4482E9841165}"/>
                </a:ext>
              </a:extLst>
            </p:cNvPr>
            <p:cNvSpPr/>
            <p:nvPr/>
          </p:nvSpPr>
          <p:spPr bwMode="gray">
            <a:xfrm>
              <a:off x="942244" y="2202710"/>
              <a:ext cx="4811787" cy="39785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>
                    <a:lumMod val="6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圆角矩形 6">
              <a:extLst>
                <a:ext uri="{FF2B5EF4-FFF2-40B4-BE49-F238E27FC236}">
                  <a16:creationId xmlns="" xmlns:a16="http://schemas.microsoft.com/office/drawing/2014/main" id="{1BF9DC78-F944-44CE-8A5C-1EDBF5A7C20A}"/>
                </a:ext>
              </a:extLst>
            </p:cNvPr>
            <p:cNvSpPr/>
            <p:nvPr/>
          </p:nvSpPr>
          <p:spPr bwMode="gray">
            <a:xfrm>
              <a:off x="1173863" y="2472453"/>
              <a:ext cx="1787235" cy="1115200"/>
            </a:xfrm>
            <a:prstGeom prst="roundRect">
              <a:avLst/>
            </a:prstGeom>
            <a:solidFill>
              <a:srgbClr val="FFFEEF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iṥ1iďe">
              <a:extLst>
                <a:ext uri="{FF2B5EF4-FFF2-40B4-BE49-F238E27FC236}">
                  <a16:creationId xmlns="" xmlns:a16="http://schemas.microsoft.com/office/drawing/2014/main" id="{DA2EFFF1-53EB-4C48-AF2D-8521916FCCD9}"/>
                </a:ext>
              </a:extLst>
            </p:cNvPr>
            <p:cNvSpPr txBox="1"/>
            <p:nvPr/>
          </p:nvSpPr>
          <p:spPr bwMode="gray">
            <a:xfrm>
              <a:off x="1173863" y="2803999"/>
              <a:ext cx="58428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PQ</a:t>
              </a:r>
            </a:p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 kern="0" dirty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圆角矩形 9">
              <a:extLst>
                <a:ext uri="{FF2B5EF4-FFF2-40B4-BE49-F238E27FC236}">
                  <a16:creationId xmlns="" xmlns:a16="http://schemas.microsoft.com/office/drawing/2014/main" id="{1A5A2797-DFD6-46ED-A644-8FC80629FF69}"/>
                </a:ext>
              </a:extLst>
            </p:cNvPr>
            <p:cNvSpPr/>
            <p:nvPr/>
          </p:nvSpPr>
          <p:spPr bwMode="gray">
            <a:xfrm>
              <a:off x="1964371" y="2593015"/>
              <a:ext cx="790508" cy="271265"/>
            </a:xfrm>
            <a:prstGeom prst="roundRect">
              <a:avLst/>
            </a:prstGeom>
            <a:solidFill>
              <a:srgbClr val="EC7061">
                <a:alpha val="62000"/>
              </a:srgbClr>
            </a:solidFill>
            <a:ln w="9525" cap="flat" cmpd="sng" algn="ctr">
              <a:solidFill>
                <a:srgbClr val="EC706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圆角矩形 10">
              <a:extLst>
                <a:ext uri="{FF2B5EF4-FFF2-40B4-BE49-F238E27FC236}">
                  <a16:creationId xmlns="" xmlns:a16="http://schemas.microsoft.com/office/drawing/2014/main" id="{A2971333-55E0-4FA6-A38E-DC1C5FAE3BF5}"/>
                </a:ext>
              </a:extLst>
            </p:cNvPr>
            <p:cNvSpPr/>
            <p:nvPr/>
          </p:nvSpPr>
          <p:spPr bwMode="gray">
            <a:xfrm>
              <a:off x="1964371" y="3165686"/>
              <a:ext cx="790508" cy="271265"/>
            </a:xfrm>
            <a:prstGeom prst="roundRect">
              <a:avLst/>
            </a:prstGeom>
            <a:solidFill>
              <a:srgbClr val="FFD17D">
                <a:alpha val="62000"/>
              </a:srgbClr>
            </a:solidFill>
            <a:ln w="9525" cap="flat" cmpd="sng" algn="ctr">
              <a:solidFill>
                <a:srgbClr val="FFD1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iṥ1iďe">
              <a:extLst>
                <a:ext uri="{FF2B5EF4-FFF2-40B4-BE49-F238E27FC236}">
                  <a16:creationId xmlns="" xmlns:a16="http://schemas.microsoft.com/office/drawing/2014/main" id="{9BDFCE6D-4BD0-4851-A121-AF106EA37183}"/>
                </a:ext>
              </a:extLst>
            </p:cNvPr>
            <p:cNvSpPr txBox="1"/>
            <p:nvPr/>
          </p:nvSpPr>
          <p:spPr bwMode="gray">
            <a:xfrm>
              <a:off x="1998741" y="2623156"/>
              <a:ext cx="687398" cy="180843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 </a:t>
              </a: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3" name="iṥ1iďe">
              <a:extLst>
                <a:ext uri="{FF2B5EF4-FFF2-40B4-BE49-F238E27FC236}">
                  <a16:creationId xmlns="" xmlns:a16="http://schemas.microsoft.com/office/drawing/2014/main" id="{0B1FA7C7-F6F9-47FC-908C-6832493F22B0}"/>
                </a:ext>
              </a:extLst>
            </p:cNvPr>
            <p:cNvSpPr txBox="1"/>
            <p:nvPr/>
          </p:nvSpPr>
          <p:spPr bwMode="gray">
            <a:xfrm>
              <a:off x="1964371" y="3195826"/>
              <a:ext cx="756138" cy="24112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 </a:t>
              </a: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</a:t>
              </a:r>
            </a:p>
          </p:txBody>
        </p:sp>
        <p:sp>
          <p:nvSpPr>
            <p:cNvPr id="44" name="iṥ1iďe">
              <a:extLst>
                <a:ext uri="{FF2B5EF4-FFF2-40B4-BE49-F238E27FC236}">
                  <a16:creationId xmlns="" xmlns:a16="http://schemas.microsoft.com/office/drawing/2014/main" id="{FCF6C7BF-B749-4964-BF89-385922EE9077}"/>
                </a:ext>
              </a:extLst>
            </p:cNvPr>
            <p:cNvSpPr txBox="1"/>
            <p:nvPr/>
          </p:nvSpPr>
          <p:spPr bwMode="gray">
            <a:xfrm>
              <a:off x="2067481" y="2743718"/>
              <a:ext cx="58428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 …</a:t>
              </a:r>
            </a:p>
          </p:txBody>
        </p:sp>
        <p:sp>
          <p:nvSpPr>
            <p:cNvPr id="45" name="圆角矩形 16">
              <a:extLst>
                <a:ext uri="{FF2B5EF4-FFF2-40B4-BE49-F238E27FC236}">
                  <a16:creationId xmlns="" xmlns:a16="http://schemas.microsoft.com/office/drawing/2014/main" id="{7C5DC72E-A67D-43DC-8918-5739E52DA9C6}"/>
                </a:ext>
              </a:extLst>
            </p:cNvPr>
            <p:cNvSpPr/>
            <p:nvPr/>
          </p:nvSpPr>
          <p:spPr bwMode="gray">
            <a:xfrm>
              <a:off x="1173863" y="3722705"/>
              <a:ext cx="1787235" cy="1115200"/>
            </a:xfrm>
            <a:prstGeom prst="roundRect">
              <a:avLst/>
            </a:prstGeom>
            <a:solidFill>
              <a:srgbClr val="FFFEEF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iṥ1iďe">
              <a:extLst>
                <a:ext uri="{FF2B5EF4-FFF2-40B4-BE49-F238E27FC236}">
                  <a16:creationId xmlns="" xmlns:a16="http://schemas.microsoft.com/office/drawing/2014/main" id="{27186125-2D07-4883-8951-534A16B5EB83}"/>
                </a:ext>
              </a:extLst>
            </p:cNvPr>
            <p:cNvSpPr txBox="1"/>
            <p:nvPr/>
          </p:nvSpPr>
          <p:spPr bwMode="gray">
            <a:xfrm>
              <a:off x="1173863" y="4054251"/>
              <a:ext cx="65302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WFQ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 kern="0" dirty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" name="圆角矩形 18">
              <a:extLst>
                <a:ext uri="{FF2B5EF4-FFF2-40B4-BE49-F238E27FC236}">
                  <a16:creationId xmlns="" xmlns:a16="http://schemas.microsoft.com/office/drawing/2014/main" id="{E039CA53-7657-4748-B2F4-B13FB1E852B6}"/>
                </a:ext>
              </a:extLst>
            </p:cNvPr>
            <p:cNvSpPr/>
            <p:nvPr/>
          </p:nvSpPr>
          <p:spPr bwMode="gray">
            <a:xfrm>
              <a:off x="1964371" y="3843267"/>
              <a:ext cx="790508" cy="271265"/>
            </a:xfrm>
            <a:prstGeom prst="roundRect">
              <a:avLst/>
            </a:prstGeom>
            <a:solidFill>
              <a:srgbClr val="D9D9D9">
                <a:alpha val="62000"/>
              </a:srgbClr>
            </a:solidFill>
            <a:ln w="9525" cap="flat" cmpd="sng" algn="ctr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" name="圆角矩形 19">
              <a:extLst>
                <a:ext uri="{FF2B5EF4-FFF2-40B4-BE49-F238E27FC236}">
                  <a16:creationId xmlns="" xmlns:a16="http://schemas.microsoft.com/office/drawing/2014/main" id="{DE701F2A-58DF-484A-A237-35908A7EAC13}"/>
                </a:ext>
              </a:extLst>
            </p:cNvPr>
            <p:cNvSpPr/>
            <p:nvPr/>
          </p:nvSpPr>
          <p:spPr bwMode="gray">
            <a:xfrm>
              <a:off x="1964371" y="4415937"/>
              <a:ext cx="790508" cy="271265"/>
            </a:xfrm>
            <a:prstGeom prst="roundRect">
              <a:avLst/>
            </a:prstGeom>
            <a:solidFill>
              <a:srgbClr val="99DFF9">
                <a:alpha val="62000"/>
              </a:srgbClr>
            </a:solidFill>
            <a:ln w="9525" cap="flat" cmpd="sng" algn="ctr">
              <a:solidFill>
                <a:srgbClr val="99DFF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" name="iṥ1iďe">
              <a:extLst>
                <a:ext uri="{FF2B5EF4-FFF2-40B4-BE49-F238E27FC236}">
                  <a16:creationId xmlns="" xmlns:a16="http://schemas.microsoft.com/office/drawing/2014/main" id="{200B459F-9FA8-4EAA-B025-0A467DFA2F3F}"/>
                </a:ext>
              </a:extLst>
            </p:cNvPr>
            <p:cNvSpPr txBox="1"/>
            <p:nvPr/>
          </p:nvSpPr>
          <p:spPr bwMode="gray">
            <a:xfrm>
              <a:off x="1998741" y="3873408"/>
              <a:ext cx="687398" cy="226635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 </a:t>
              </a: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0" name="iṥ1iďe">
              <a:extLst>
                <a:ext uri="{FF2B5EF4-FFF2-40B4-BE49-F238E27FC236}">
                  <a16:creationId xmlns="" xmlns:a16="http://schemas.microsoft.com/office/drawing/2014/main" id="{A14A9367-4C44-4647-814D-0CA97B49F550}"/>
                </a:ext>
              </a:extLst>
            </p:cNvPr>
            <p:cNvSpPr txBox="1"/>
            <p:nvPr/>
          </p:nvSpPr>
          <p:spPr bwMode="gray">
            <a:xfrm>
              <a:off x="1998741" y="4446078"/>
              <a:ext cx="721768" cy="21098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</a:t>
              </a:r>
              <a:r>
                <a:rPr lang="en-US" altLang="zh-CN" sz="1400" kern="0" noProof="0" dirty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kern="0" noProof="0" dirty="0" err="1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iṥ1iďe">
              <a:extLst>
                <a:ext uri="{FF2B5EF4-FFF2-40B4-BE49-F238E27FC236}">
                  <a16:creationId xmlns="" xmlns:a16="http://schemas.microsoft.com/office/drawing/2014/main" id="{1AEFE839-FDC3-4620-BC10-CEA141DA122A}"/>
                </a:ext>
              </a:extLst>
            </p:cNvPr>
            <p:cNvSpPr txBox="1"/>
            <p:nvPr/>
          </p:nvSpPr>
          <p:spPr bwMode="gray">
            <a:xfrm>
              <a:off x="2067481" y="3993970"/>
              <a:ext cx="58428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 …</a:t>
              </a:r>
            </a:p>
          </p:txBody>
        </p:sp>
        <p:sp>
          <p:nvSpPr>
            <p:cNvPr id="52" name="圆角矩形 24">
              <a:extLst>
                <a:ext uri="{FF2B5EF4-FFF2-40B4-BE49-F238E27FC236}">
                  <a16:creationId xmlns="" xmlns:a16="http://schemas.microsoft.com/office/drawing/2014/main" id="{39BA161C-D0CF-4F34-8AED-1D56CF0B7664}"/>
                </a:ext>
              </a:extLst>
            </p:cNvPr>
            <p:cNvSpPr/>
            <p:nvPr/>
          </p:nvSpPr>
          <p:spPr bwMode="gray">
            <a:xfrm>
              <a:off x="1173863" y="5004259"/>
              <a:ext cx="1787235" cy="1115200"/>
            </a:xfrm>
            <a:prstGeom prst="roundRect">
              <a:avLst/>
            </a:prstGeom>
            <a:solidFill>
              <a:srgbClr val="FFFEEF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" name="iṥ1iďe">
              <a:extLst>
                <a:ext uri="{FF2B5EF4-FFF2-40B4-BE49-F238E27FC236}">
                  <a16:creationId xmlns="" xmlns:a16="http://schemas.microsoft.com/office/drawing/2014/main" id="{079C732D-BA8B-409C-B69E-91DF56C3EFAF}"/>
                </a:ext>
              </a:extLst>
            </p:cNvPr>
            <p:cNvSpPr txBox="1"/>
            <p:nvPr/>
          </p:nvSpPr>
          <p:spPr bwMode="gray">
            <a:xfrm>
              <a:off x="1173863" y="5335805"/>
              <a:ext cx="58428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LPQ</a:t>
              </a:r>
            </a:p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 kern="0" dirty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4" name="圆角矩形 26">
              <a:extLst>
                <a:ext uri="{FF2B5EF4-FFF2-40B4-BE49-F238E27FC236}">
                  <a16:creationId xmlns="" xmlns:a16="http://schemas.microsoft.com/office/drawing/2014/main" id="{AFE91E7B-BB94-4A4B-954F-52D85B54255C}"/>
                </a:ext>
              </a:extLst>
            </p:cNvPr>
            <p:cNvSpPr/>
            <p:nvPr/>
          </p:nvSpPr>
          <p:spPr bwMode="gray">
            <a:xfrm>
              <a:off x="2033111" y="5124821"/>
              <a:ext cx="721768" cy="271265"/>
            </a:xfrm>
            <a:prstGeom prst="roundRect">
              <a:avLst/>
            </a:prstGeom>
            <a:solidFill>
              <a:srgbClr val="00B0F0">
                <a:alpha val="62000"/>
              </a:srgb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圆角矩形 27">
              <a:extLst>
                <a:ext uri="{FF2B5EF4-FFF2-40B4-BE49-F238E27FC236}">
                  <a16:creationId xmlns="" xmlns:a16="http://schemas.microsoft.com/office/drawing/2014/main" id="{07791477-BA04-46BA-923F-CD2E451C7BF0}"/>
                </a:ext>
              </a:extLst>
            </p:cNvPr>
            <p:cNvSpPr/>
            <p:nvPr/>
          </p:nvSpPr>
          <p:spPr bwMode="gray">
            <a:xfrm>
              <a:off x="2033111" y="5697492"/>
              <a:ext cx="721768" cy="271265"/>
            </a:xfrm>
            <a:prstGeom prst="roundRect">
              <a:avLst/>
            </a:prstGeom>
            <a:solidFill>
              <a:srgbClr val="8BC9A0">
                <a:alpha val="62000"/>
              </a:srgbClr>
            </a:solidFill>
            <a:ln w="9525" cap="flat" cmpd="sng" algn="ctr">
              <a:solidFill>
                <a:srgbClr val="8BC9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iṥ1iďe">
              <a:extLst>
                <a:ext uri="{FF2B5EF4-FFF2-40B4-BE49-F238E27FC236}">
                  <a16:creationId xmlns="" xmlns:a16="http://schemas.microsoft.com/office/drawing/2014/main" id="{C3E8159D-F07C-4F94-9C0B-E86D7DEDFE22}"/>
                </a:ext>
              </a:extLst>
            </p:cNvPr>
            <p:cNvSpPr txBox="1"/>
            <p:nvPr/>
          </p:nvSpPr>
          <p:spPr bwMode="gray">
            <a:xfrm>
              <a:off x="2033111" y="5154962"/>
              <a:ext cx="721768" cy="21098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 </a:t>
              </a: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7" name="iṥ1iďe">
              <a:extLst>
                <a:ext uri="{FF2B5EF4-FFF2-40B4-BE49-F238E27FC236}">
                  <a16:creationId xmlns="" xmlns:a16="http://schemas.microsoft.com/office/drawing/2014/main" id="{A1ADB34D-908E-4F46-8E9A-08D70DC5D472}"/>
                </a:ext>
              </a:extLst>
            </p:cNvPr>
            <p:cNvSpPr txBox="1"/>
            <p:nvPr/>
          </p:nvSpPr>
          <p:spPr bwMode="gray">
            <a:xfrm>
              <a:off x="2033111" y="5727632"/>
              <a:ext cx="721768" cy="21098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 </a:t>
              </a: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k</a:t>
              </a:r>
            </a:p>
          </p:txBody>
        </p:sp>
        <p:sp>
          <p:nvSpPr>
            <p:cNvPr id="58" name="iṥ1iďe">
              <a:extLst>
                <a:ext uri="{FF2B5EF4-FFF2-40B4-BE49-F238E27FC236}">
                  <a16:creationId xmlns="" xmlns:a16="http://schemas.microsoft.com/office/drawing/2014/main" id="{AB9BCC0F-FBA4-49F7-8906-4C4CFFCB6F2B}"/>
                </a:ext>
              </a:extLst>
            </p:cNvPr>
            <p:cNvSpPr txBox="1"/>
            <p:nvPr/>
          </p:nvSpPr>
          <p:spPr bwMode="gray">
            <a:xfrm>
              <a:off x="2067481" y="5275524"/>
              <a:ext cx="584288" cy="452108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Autofit/>
            </a:bodyPr>
            <a:lstStyle/>
            <a:p>
              <a:pPr marL="0" marR="0" lvl="0" indent="0" algn="ctr" defTabSz="91440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 …</a:t>
              </a: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="" xmlns:a16="http://schemas.microsoft.com/office/drawing/2014/main" id="{6C4B000A-3493-483A-B1A5-6E8ED91BCB61}"/>
                </a:ext>
              </a:extLst>
            </p:cNvPr>
            <p:cNvGrpSpPr/>
            <p:nvPr/>
          </p:nvGrpSpPr>
          <p:grpSpPr bwMode="gray">
            <a:xfrm>
              <a:off x="3153401" y="3990940"/>
              <a:ext cx="550705" cy="519547"/>
              <a:chOff x="6923679" y="3014860"/>
              <a:chExt cx="576888" cy="620618"/>
            </a:xfrm>
          </p:grpSpPr>
          <p:sp>
            <p:nvSpPr>
              <p:cNvPr id="85" name="流程图: 联系 32">
                <a:extLst>
                  <a:ext uri="{FF2B5EF4-FFF2-40B4-BE49-F238E27FC236}">
                    <a16:creationId xmlns="" xmlns:a16="http://schemas.microsoft.com/office/drawing/2014/main" id="{6FA252E6-2119-4315-AE4E-3ECA803EE9FA}"/>
                  </a:ext>
                </a:extLst>
              </p:cNvPr>
              <p:cNvSpPr/>
              <p:nvPr/>
            </p:nvSpPr>
            <p:spPr bwMode="gray">
              <a:xfrm>
                <a:off x="6924124" y="3037168"/>
                <a:ext cx="576000" cy="576000"/>
              </a:xfrm>
              <a:prstGeom prst="flowChartConnector">
                <a:avLst/>
              </a:prstGeom>
              <a:solidFill>
                <a:srgbClr val="F4FBFE"/>
              </a:solidFill>
              <a:ln w="952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="" xmlns:a16="http://schemas.microsoft.com/office/drawing/2014/main" id="{ACB37B7D-99F7-456E-8F65-831C158A0739}"/>
                  </a:ext>
                </a:extLst>
              </p:cNvPr>
              <p:cNvSpPr txBox="1"/>
              <p:nvPr/>
            </p:nvSpPr>
            <p:spPr bwMode="gray">
              <a:xfrm>
                <a:off x="6923679" y="3014860"/>
                <a:ext cx="576888" cy="62061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WFQ</a:t>
                </a: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="" xmlns:a16="http://schemas.microsoft.com/office/drawing/2014/main" id="{2DFC5DE4-8DC3-4D77-A1B2-72F66AF7E96A}"/>
                </a:ext>
              </a:extLst>
            </p:cNvPr>
            <p:cNvGrpSpPr/>
            <p:nvPr/>
          </p:nvGrpSpPr>
          <p:grpSpPr bwMode="gray">
            <a:xfrm>
              <a:off x="3153829" y="2755185"/>
              <a:ext cx="549857" cy="519547"/>
              <a:chOff x="6924156" y="3046716"/>
              <a:chExt cx="576000" cy="620618"/>
            </a:xfrm>
          </p:grpSpPr>
          <p:sp>
            <p:nvSpPr>
              <p:cNvPr id="83" name="流程图: 联系 36">
                <a:extLst>
                  <a:ext uri="{FF2B5EF4-FFF2-40B4-BE49-F238E27FC236}">
                    <a16:creationId xmlns="" xmlns:a16="http://schemas.microsoft.com/office/drawing/2014/main" id="{195FD546-4940-48DB-9C2F-F4CFBEB1C732}"/>
                  </a:ext>
                </a:extLst>
              </p:cNvPr>
              <p:cNvSpPr/>
              <p:nvPr/>
            </p:nvSpPr>
            <p:spPr bwMode="gray">
              <a:xfrm>
                <a:off x="6924156" y="3069024"/>
                <a:ext cx="576000" cy="576000"/>
              </a:xfrm>
              <a:prstGeom prst="flowChartConnector">
                <a:avLst/>
              </a:prstGeom>
              <a:solidFill>
                <a:srgbClr val="F4FBF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="" xmlns:a16="http://schemas.microsoft.com/office/drawing/2014/main" id="{CEE3BD47-8CB3-4A4C-91AC-9E1F290705FA}"/>
                  </a:ext>
                </a:extLst>
              </p:cNvPr>
              <p:cNvSpPr txBox="1"/>
              <p:nvPr/>
            </p:nvSpPr>
            <p:spPr bwMode="gray">
              <a:xfrm>
                <a:off x="6957232" y="3046716"/>
                <a:ext cx="509847" cy="62061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SP</a:t>
                </a: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="" xmlns:a16="http://schemas.microsoft.com/office/drawing/2014/main" id="{74AB2AAA-2FBD-477B-9BA8-9F7B79F8FF00}"/>
                </a:ext>
              </a:extLst>
            </p:cNvPr>
            <p:cNvGrpSpPr/>
            <p:nvPr/>
          </p:nvGrpSpPr>
          <p:grpSpPr bwMode="gray">
            <a:xfrm>
              <a:off x="3153829" y="5317131"/>
              <a:ext cx="549857" cy="519547"/>
              <a:chOff x="6924124" y="3014860"/>
              <a:chExt cx="576000" cy="620618"/>
            </a:xfrm>
          </p:grpSpPr>
          <p:sp>
            <p:nvSpPr>
              <p:cNvPr id="81" name="流程图: 联系 57">
                <a:extLst>
                  <a:ext uri="{FF2B5EF4-FFF2-40B4-BE49-F238E27FC236}">
                    <a16:creationId xmlns="" xmlns:a16="http://schemas.microsoft.com/office/drawing/2014/main" id="{F0858542-06C5-43C3-A16B-DAD4A8F50485}"/>
                  </a:ext>
                </a:extLst>
              </p:cNvPr>
              <p:cNvSpPr/>
              <p:nvPr/>
            </p:nvSpPr>
            <p:spPr bwMode="gray">
              <a:xfrm>
                <a:off x="6924124" y="3037168"/>
                <a:ext cx="576000" cy="576000"/>
              </a:xfrm>
              <a:prstGeom prst="flowChartConnector">
                <a:avLst/>
              </a:prstGeom>
              <a:solidFill>
                <a:srgbClr val="F4FBF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="" xmlns:a16="http://schemas.microsoft.com/office/drawing/2014/main" id="{3F7E744A-EFF4-4D2B-BD8B-BEEA3F49E00F}"/>
                  </a:ext>
                </a:extLst>
              </p:cNvPr>
              <p:cNvSpPr txBox="1"/>
              <p:nvPr/>
            </p:nvSpPr>
            <p:spPr bwMode="gray">
              <a:xfrm>
                <a:off x="6957200" y="3014860"/>
                <a:ext cx="509847" cy="62061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SP</a:t>
                </a: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</a:p>
            </p:txBody>
          </p:sp>
        </p:grpSp>
        <p:sp>
          <p:nvSpPr>
            <p:cNvPr id="62" name="任意多边形 59">
              <a:extLst>
                <a:ext uri="{FF2B5EF4-FFF2-40B4-BE49-F238E27FC236}">
                  <a16:creationId xmlns="" xmlns:a16="http://schemas.microsoft.com/office/drawing/2014/main" id="{E705693B-BCD5-4594-877E-8779F67B0670}"/>
                </a:ext>
              </a:extLst>
            </p:cNvPr>
            <p:cNvSpPr/>
            <p:nvPr/>
          </p:nvSpPr>
          <p:spPr bwMode="gray">
            <a:xfrm>
              <a:off x="2788482" y="2683437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" name="任意多边形 60">
              <a:extLst>
                <a:ext uri="{FF2B5EF4-FFF2-40B4-BE49-F238E27FC236}">
                  <a16:creationId xmlns="" xmlns:a16="http://schemas.microsoft.com/office/drawing/2014/main" id="{175F1CEE-7B07-4A00-B756-A9E83EE4D207}"/>
                </a:ext>
              </a:extLst>
            </p:cNvPr>
            <p:cNvSpPr/>
            <p:nvPr/>
          </p:nvSpPr>
          <p:spPr bwMode="gray">
            <a:xfrm flipV="1">
              <a:off x="2788482" y="3183085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="" xmlns:a16="http://schemas.microsoft.com/office/drawing/2014/main" id="{78AF347C-143D-42B6-BCF8-047B42DF17AA}"/>
                </a:ext>
              </a:extLst>
            </p:cNvPr>
            <p:cNvCxnSpPr>
              <a:endCxn id="83" idx="2"/>
            </p:cNvCxnSpPr>
            <p:nvPr/>
          </p:nvCxnSpPr>
          <p:spPr bwMode="gray">
            <a:xfrm>
              <a:off x="2789249" y="3014930"/>
              <a:ext cx="364580" cy="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5" name="任意多边形 65">
              <a:extLst>
                <a:ext uri="{FF2B5EF4-FFF2-40B4-BE49-F238E27FC236}">
                  <a16:creationId xmlns="" xmlns:a16="http://schemas.microsoft.com/office/drawing/2014/main" id="{2453284C-605B-4514-BDAB-32C47327F3D1}"/>
                </a:ext>
              </a:extLst>
            </p:cNvPr>
            <p:cNvSpPr/>
            <p:nvPr/>
          </p:nvSpPr>
          <p:spPr bwMode="gray">
            <a:xfrm>
              <a:off x="2788482" y="3949340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任意多边形 66">
              <a:extLst>
                <a:ext uri="{FF2B5EF4-FFF2-40B4-BE49-F238E27FC236}">
                  <a16:creationId xmlns="" xmlns:a16="http://schemas.microsoft.com/office/drawing/2014/main" id="{F6E57991-309D-4D02-8F77-F51362F9A147}"/>
                </a:ext>
              </a:extLst>
            </p:cNvPr>
            <p:cNvSpPr/>
            <p:nvPr/>
          </p:nvSpPr>
          <p:spPr bwMode="gray">
            <a:xfrm flipV="1">
              <a:off x="2788482" y="4448988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="" xmlns:a16="http://schemas.microsoft.com/office/drawing/2014/main" id="{C55FD6EB-96CF-4ECC-95FE-D39DE937AFF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789249" y="4280832"/>
              <a:ext cx="364580" cy="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任意多边形 68">
              <a:extLst>
                <a:ext uri="{FF2B5EF4-FFF2-40B4-BE49-F238E27FC236}">
                  <a16:creationId xmlns="" xmlns:a16="http://schemas.microsoft.com/office/drawing/2014/main" id="{A3A69C3E-9FED-4222-9C1A-694F52791C42}"/>
                </a:ext>
              </a:extLst>
            </p:cNvPr>
            <p:cNvSpPr/>
            <p:nvPr/>
          </p:nvSpPr>
          <p:spPr bwMode="gray">
            <a:xfrm>
              <a:off x="2788482" y="5258125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任意多边形 69">
              <a:extLst>
                <a:ext uri="{FF2B5EF4-FFF2-40B4-BE49-F238E27FC236}">
                  <a16:creationId xmlns="" xmlns:a16="http://schemas.microsoft.com/office/drawing/2014/main" id="{1EC729B9-000B-4874-8DCB-4853272B313E}"/>
                </a:ext>
              </a:extLst>
            </p:cNvPr>
            <p:cNvSpPr/>
            <p:nvPr/>
          </p:nvSpPr>
          <p:spPr bwMode="gray">
            <a:xfrm flipV="1">
              <a:off x="2788482" y="5757773"/>
              <a:ext cx="429175" cy="127581"/>
            </a:xfrm>
            <a:custGeom>
              <a:avLst/>
              <a:gdLst>
                <a:gd name="connsiteX0" fmla="*/ 0 w 449580"/>
                <a:gd name="connsiteY0" fmla="*/ 0 h 152400"/>
                <a:gd name="connsiteX1" fmla="*/ 297180 w 449580"/>
                <a:gd name="connsiteY1" fmla="*/ 0 h 152400"/>
                <a:gd name="connsiteX2" fmla="*/ 449580 w 449580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9580" h="152400">
                  <a:moveTo>
                    <a:pt x="0" y="0"/>
                  </a:moveTo>
                  <a:lnTo>
                    <a:pt x="297180" y="0"/>
                  </a:lnTo>
                  <a:lnTo>
                    <a:pt x="449580" y="1524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="" xmlns:a16="http://schemas.microsoft.com/office/drawing/2014/main" id="{A9D04E62-D4E3-4B57-A128-07E52A1C146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789249" y="5589617"/>
              <a:ext cx="364580" cy="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71" name="组合 70">
              <a:extLst>
                <a:ext uri="{FF2B5EF4-FFF2-40B4-BE49-F238E27FC236}">
                  <a16:creationId xmlns="" xmlns:a16="http://schemas.microsoft.com/office/drawing/2014/main" id="{2459FE83-9A69-4FBB-AF89-5608CFB4A2AE}"/>
                </a:ext>
              </a:extLst>
            </p:cNvPr>
            <p:cNvGrpSpPr/>
            <p:nvPr/>
          </p:nvGrpSpPr>
          <p:grpSpPr bwMode="gray">
            <a:xfrm>
              <a:off x="4198415" y="3949340"/>
              <a:ext cx="687322" cy="602744"/>
              <a:chOff x="6866326" y="2997686"/>
              <a:chExt cx="720000" cy="720000"/>
            </a:xfrm>
          </p:grpSpPr>
          <p:sp>
            <p:nvSpPr>
              <p:cNvPr id="79" name="流程图: 联系 72">
                <a:extLst>
                  <a:ext uri="{FF2B5EF4-FFF2-40B4-BE49-F238E27FC236}">
                    <a16:creationId xmlns="" xmlns:a16="http://schemas.microsoft.com/office/drawing/2014/main" id="{47DDB567-3CB2-435C-A969-85D4446EBC1A}"/>
                  </a:ext>
                </a:extLst>
              </p:cNvPr>
              <p:cNvSpPr/>
              <p:nvPr/>
            </p:nvSpPr>
            <p:spPr bwMode="gray">
              <a:xfrm>
                <a:off x="6866326" y="2997686"/>
                <a:ext cx="720000" cy="720000"/>
              </a:xfrm>
              <a:prstGeom prst="flowChartConnector">
                <a:avLst/>
              </a:prstGeom>
              <a:solidFill>
                <a:srgbClr val="F4FBF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="" xmlns:a16="http://schemas.microsoft.com/office/drawing/2014/main" id="{BDC9BDAD-8A83-4565-8BA4-CA7EB1C84AE2}"/>
                  </a:ext>
                </a:extLst>
              </p:cNvPr>
              <p:cNvSpPr txBox="1"/>
              <p:nvPr/>
            </p:nvSpPr>
            <p:spPr bwMode="gray">
              <a:xfrm>
                <a:off x="6971402" y="3047378"/>
                <a:ext cx="509847" cy="62061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SP</a:t>
                </a: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调度</a:t>
                </a:r>
              </a:p>
            </p:txBody>
          </p:sp>
        </p:grpSp>
        <p:cxnSp>
          <p:nvCxnSpPr>
            <p:cNvPr id="72" name="直接箭头连接符 71">
              <a:extLst>
                <a:ext uri="{FF2B5EF4-FFF2-40B4-BE49-F238E27FC236}">
                  <a16:creationId xmlns="" xmlns:a16="http://schemas.microsoft.com/office/drawing/2014/main" id="{3EAB2E49-FAE9-4028-B270-CF96051D2536}"/>
                </a:ext>
              </a:extLst>
            </p:cNvPr>
            <p:cNvCxnSpPr>
              <a:stCxn id="84" idx="3"/>
              <a:endCxn id="79" idx="1"/>
            </p:cNvCxnSpPr>
            <p:nvPr/>
          </p:nvCxnSpPr>
          <p:spPr bwMode="gray">
            <a:xfrm>
              <a:off x="3672111" y="3014959"/>
              <a:ext cx="626960" cy="10226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="" xmlns:a16="http://schemas.microsoft.com/office/drawing/2014/main" id="{55131F04-96E2-4E1C-85EE-21A6076F3660}"/>
                </a:ext>
              </a:extLst>
            </p:cNvPr>
            <p:cNvCxnSpPr>
              <a:stCxn id="86" idx="3"/>
              <a:endCxn id="79" idx="2"/>
            </p:cNvCxnSpPr>
            <p:nvPr/>
          </p:nvCxnSpPr>
          <p:spPr bwMode="gray">
            <a:xfrm flipV="1">
              <a:off x="3704106" y="4250712"/>
              <a:ext cx="494309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>
              <a:extLst>
                <a:ext uri="{FF2B5EF4-FFF2-40B4-BE49-F238E27FC236}">
                  <a16:creationId xmlns="" xmlns:a16="http://schemas.microsoft.com/office/drawing/2014/main" id="{A89E7164-6F45-4369-A03F-A83E0C2ECA2E}"/>
                </a:ext>
              </a:extLst>
            </p:cNvPr>
            <p:cNvCxnSpPr>
              <a:stCxn id="81" idx="6"/>
              <a:endCxn id="79" idx="3"/>
            </p:cNvCxnSpPr>
            <p:nvPr/>
          </p:nvCxnSpPr>
          <p:spPr bwMode="gray">
            <a:xfrm flipV="1">
              <a:off x="3703687" y="4463814"/>
              <a:ext cx="595385" cy="111308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75" name="组合 74">
              <a:extLst>
                <a:ext uri="{FF2B5EF4-FFF2-40B4-BE49-F238E27FC236}">
                  <a16:creationId xmlns="" xmlns:a16="http://schemas.microsoft.com/office/drawing/2014/main" id="{317A34C7-D0EB-41E5-AD95-43641F4A5DE8}"/>
                </a:ext>
              </a:extLst>
            </p:cNvPr>
            <p:cNvGrpSpPr/>
            <p:nvPr/>
          </p:nvGrpSpPr>
          <p:grpSpPr bwMode="gray">
            <a:xfrm>
              <a:off x="5307433" y="3775528"/>
              <a:ext cx="323801" cy="950434"/>
              <a:chOff x="7055952" y="2970081"/>
              <a:chExt cx="339195" cy="1135329"/>
            </a:xfrm>
          </p:grpSpPr>
          <p:sp>
            <p:nvSpPr>
              <p:cNvPr id="77" name="矩形 76">
                <a:extLst>
                  <a:ext uri="{FF2B5EF4-FFF2-40B4-BE49-F238E27FC236}">
                    <a16:creationId xmlns="" xmlns:a16="http://schemas.microsoft.com/office/drawing/2014/main" id="{BCBC7349-F8E4-4488-A3F2-93E1EB1AB692}"/>
                  </a:ext>
                </a:extLst>
              </p:cNvPr>
              <p:cNvSpPr/>
              <p:nvPr/>
            </p:nvSpPr>
            <p:spPr bwMode="gray">
              <a:xfrm>
                <a:off x="7063531" y="2997686"/>
                <a:ext cx="324036" cy="1080120"/>
              </a:xfrm>
              <a:prstGeom prst="rect">
                <a:avLst/>
              </a:prstGeom>
              <a:solidFill>
                <a:srgbClr val="F4FBF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="" xmlns:a16="http://schemas.microsoft.com/office/drawing/2014/main" id="{DF8011B3-26A3-422E-8C0B-9165131655CF}"/>
                  </a:ext>
                </a:extLst>
              </p:cNvPr>
              <p:cNvSpPr txBox="1"/>
              <p:nvPr/>
            </p:nvSpPr>
            <p:spPr bwMode="gray">
              <a:xfrm>
                <a:off x="7055952" y="2970081"/>
                <a:ext cx="339195" cy="113532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目</a:t>
                </a:r>
                <a:endPara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的</a:t>
                </a:r>
                <a:endPara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端</a:t>
                </a:r>
                <a:endPara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/>
                <a:r>
                  <a: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口</a:t>
                </a:r>
              </a:p>
            </p:txBody>
          </p:sp>
        </p:grpSp>
        <p:cxnSp>
          <p:nvCxnSpPr>
            <p:cNvPr id="76" name="直接箭头连接符 75">
              <a:extLst>
                <a:ext uri="{FF2B5EF4-FFF2-40B4-BE49-F238E27FC236}">
                  <a16:creationId xmlns="" xmlns:a16="http://schemas.microsoft.com/office/drawing/2014/main" id="{7ADD8DA5-BE5E-46D5-AD64-248BB6B4BB0E}"/>
                </a:ext>
              </a:extLst>
            </p:cNvPr>
            <p:cNvCxnSpPr>
              <a:stCxn id="79" idx="6"/>
              <a:endCxn id="77" idx="1"/>
            </p:cNvCxnSpPr>
            <p:nvPr/>
          </p:nvCxnSpPr>
          <p:spPr bwMode="gray">
            <a:xfrm>
              <a:off x="4885737" y="4250712"/>
              <a:ext cx="428920" cy="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26" name="组合 125">
              <a:extLst>
                <a:ext uri="{FF2B5EF4-FFF2-40B4-BE49-F238E27FC236}">
                  <a16:creationId xmlns="" xmlns:a16="http://schemas.microsoft.com/office/drawing/2014/main" id="{CAA1B717-F348-4E47-AAF2-A29F02C413CF}"/>
                </a:ext>
              </a:extLst>
            </p:cNvPr>
            <p:cNvGrpSpPr/>
            <p:nvPr/>
          </p:nvGrpSpPr>
          <p:grpSpPr bwMode="gray">
            <a:xfrm>
              <a:off x="991961" y="2033140"/>
              <a:ext cx="2326287" cy="369332"/>
              <a:chOff x="1188084" y="1350573"/>
              <a:chExt cx="2099604" cy="388669"/>
            </a:xfrm>
          </p:grpSpPr>
          <p:sp>
            <p:nvSpPr>
              <p:cNvPr id="127" name="流程图: 过程 126">
                <a:extLst>
                  <a:ext uri="{FF2B5EF4-FFF2-40B4-BE49-F238E27FC236}">
                    <a16:creationId xmlns="" xmlns:a16="http://schemas.microsoft.com/office/drawing/2014/main" id="{5F721B2F-8590-4B28-B987-2DB3AA2962DA}"/>
                  </a:ext>
                </a:extLst>
              </p:cNvPr>
              <p:cNvSpPr/>
              <p:nvPr/>
            </p:nvSpPr>
            <p:spPr bwMode="gray">
              <a:xfrm>
                <a:off x="1188084" y="1350573"/>
                <a:ext cx="2099604" cy="388669"/>
              </a:xfrm>
              <a:prstGeom prst="flowChartProcess">
                <a:avLst/>
              </a:prstGeom>
              <a:gradFill flip="none" rotWithShape="1">
                <a:gsLst>
                  <a:gs pos="0">
                    <a:srgbClr val="56C4D2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 w="28575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="" xmlns:a16="http://schemas.microsoft.com/office/drawing/2014/main" id="{3FAAA003-3EE3-4CE2-8C11-D1B77270CB18}"/>
                  </a:ext>
                </a:extLst>
              </p:cNvPr>
              <p:cNvSpPr txBox="1"/>
              <p:nvPr/>
            </p:nvSpPr>
            <p:spPr bwMode="gray">
              <a:xfrm>
                <a:off x="1415478" y="1368006"/>
                <a:ext cx="1872209" cy="35241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square" lIns="87802" tIns="43901" rIns="87802" bIns="43901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latin typeface="+mn-ea"/>
                    <a:ea typeface="+mn-ea"/>
                  </a:defRPr>
                </a:lvl1pPr>
              </a:lstStyle>
              <a:p>
                <a:pPr algn="l"/>
                <a:r>
                  <a:rPr lang="zh-CN" altLang="en-US" sz="16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端口队列调度顺序</a:t>
                </a:r>
              </a:p>
            </p:txBody>
          </p:sp>
        </p:grpSp>
      </p:grpSp>
      <p:grpSp>
        <p:nvGrpSpPr>
          <p:cNvPr id="129" name="组合 128">
            <a:extLst>
              <a:ext uri="{FF2B5EF4-FFF2-40B4-BE49-F238E27FC236}">
                <a16:creationId xmlns="" xmlns:a16="http://schemas.microsoft.com/office/drawing/2014/main" id="{09641480-9C0E-480F-9990-CE52215BB7BE}"/>
              </a:ext>
            </a:extLst>
          </p:cNvPr>
          <p:cNvGrpSpPr/>
          <p:nvPr/>
        </p:nvGrpSpPr>
        <p:grpSpPr bwMode="gray">
          <a:xfrm>
            <a:off x="6405796" y="1967469"/>
            <a:ext cx="2038679" cy="369332"/>
            <a:chOff x="1188084" y="1324318"/>
            <a:chExt cx="2135607" cy="441180"/>
          </a:xfrm>
        </p:grpSpPr>
        <p:sp>
          <p:nvSpPr>
            <p:cNvPr id="130" name="流程图: 过程 129">
              <a:extLst>
                <a:ext uri="{FF2B5EF4-FFF2-40B4-BE49-F238E27FC236}">
                  <a16:creationId xmlns="" xmlns:a16="http://schemas.microsoft.com/office/drawing/2014/main" id="{23F8C99E-77F1-4694-B815-3BECF1DAB210}"/>
                </a:ext>
              </a:extLst>
            </p:cNvPr>
            <p:cNvSpPr/>
            <p:nvPr/>
          </p:nvSpPr>
          <p:spPr bwMode="gray">
            <a:xfrm>
              <a:off x="1188084" y="1324318"/>
              <a:ext cx="2099604" cy="441180"/>
            </a:xfrm>
            <a:prstGeom prst="flowChartProcess">
              <a:avLst/>
            </a:prstGeom>
            <a:gradFill flip="none" rotWithShape="1">
              <a:gsLst>
                <a:gs pos="0">
                  <a:srgbClr val="56C4D2"/>
                </a:gs>
                <a:gs pos="100000">
                  <a:schemeClr val="bg1"/>
                </a:gs>
              </a:gsLst>
              <a:lin ang="10800000" scaled="1"/>
              <a:tileRect/>
            </a:gradFill>
            <a:ln w="2857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="" xmlns:a16="http://schemas.microsoft.com/office/drawing/2014/main" id="{7081E1C3-A989-4843-951E-8BE4F942879C}"/>
                </a:ext>
              </a:extLst>
            </p:cNvPr>
            <p:cNvSpPr txBox="1"/>
            <p:nvPr/>
          </p:nvSpPr>
          <p:spPr bwMode="gray">
            <a:xfrm>
              <a:off x="1415478" y="1344200"/>
              <a:ext cx="1908213" cy="4000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87802" tIns="43901" rIns="87802" bIns="43901" numCol="1" rtlCol="0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>
                <a:defRPr sz="1400" b="1">
                  <a:latin typeface="+mn-ea"/>
                  <a:ea typeface="+mn-ea"/>
                </a:defRPr>
              </a:lvl1pPr>
            </a:lstStyle>
            <a:p>
              <a:pPr algn="l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队列间的调度流程</a:t>
              </a:r>
            </a:p>
          </p:txBody>
        </p:sp>
      </p:grpSp>
      <p:sp>
        <p:nvSpPr>
          <p:cNvPr id="136" name="五边形 135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7" name="燕尾形 136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燕尾形 137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5526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云形 126">
            <a:extLst>
              <a:ext uri="{FF2B5EF4-FFF2-40B4-BE49-F238E27FC236}">
                <a16:creationId xmlns="" xmlns:a16="http://schemas.microsoft.com/office/drawing/2014/main" id="{40FB58C8-5946-4A26-9CA9-2F0FEDDED3F6}"/>
              </a:ext>
            </a:extLst>
          </p:cNvPr>
          <p:cNvSpPr/>
          <p:nvPr/>
        </p:nvSpPr>
        <p:spPr bwMode="gray">
          <a:xfrm>
            <a:off x="2512472" y="2640905"/>
            <a:ext cx="2802293" cy="1270663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62300C0-EA58-49F8-B9C4-64A637C330D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广域网</a:t>
            </a:r>
            <a:r>
              <a:rPr lang="en-US" altLang="zh-CN" dirty="0" err="1">
                <a:sym typeface="Huawei Sans" panose="020C0503030203020204" pitchFamily="34" charset="0"/>
              </a:rPr>
              <a:t>QoS</a:t>
            </a:r>
            <a:r>
              <a:rPr lang="zh-CN" altLang="en-US" dirty="0">
                <a:sym typeface="Huawei Sans" panose="020C0503030203020204" pitchFamily="34" charset="0"/>
              </a:rPr>
              <a:t>应用：流标记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1154D85-32A2-40D5-87E9-F83C9277CD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>
                <a:sym typeface="Huawei Sans" panose="020C0503030203020204" pitchFamily="34" charset="0"/>
              </a:rPr>
              <a:t>广域网络的</a:t>
            </a:r>
            <a:r>
              <a:rPr lang="en-US" altLang="zh-CN" sz="1600">
                <a:sym typeface="Huawei Sans" panose="020C0503030203020204" pitchFamily="34" charset="0"/>
              </a:rPr>
              <a:t>QoS</a:t>
            </a:r>
            <a:r>
              <a:rPr lang="zh-CN" altLang="en-US" sz="1600">
                <a:sym typeface="Huawei Sans" panose="020C0503030203020204" pitchFamily="34" charset="0"/>
              </a:rPr>
              <a:t>主要应用在广域链路上。广域链路由于带宽相对于本地链路低很多，常常成为转发的拥塞点。在广域网部署</a:t>
            </a:r>
            <a:r>
              <a:rPr lang="en-US" altLang="zh-CN" sz="1600">
                <a:sym typeface="Huawei Sans" panose="020C0503030203020204" pitchFamily="34" charset="0"/>
              </a:rPr>
              <a:t>QoS</a:t>
            </a:r>
            <a:r>
              <a:rPr lang="zh-CN" altLang="en-US" sz="1600">
                <a:sym typeface="Huawei Sans" panose="020C0503030203020204" pitchFamily="34" charset="0"/>
              </a:rPr>
              <a:t>的目的是保障承载的不同业务能够得到应有的</a:t>
            </a:r>
            <a:r>
              <a:rPr lang="en-US" altLang="zh-CN" sz="1600">
                <a:sym typeface="Huawei Sans" panose="020C0503030203020204" pitchFamily="34" charset="0"/>
              </a:rPr>
              <a:t>SLA</a:t>
            </a:r>
            <a:r>
              <a:rPr lang="zh-CN" altLang="en-US" sz="1600">
                <a:sym typeface="Huawei Sans" panose="020C0503030203020204" pitchFamily="34" charset="0"/>
              </a:rPr>
              <a:t>。</a:t>
            </a:r>
            <a:endParaRPr lang="en-US" altLang="zh-CN" sz="1600">
              <a:sym typeface="Huawei Sans" panose="020C0503030203020204" pitchFamily="34" charset="0"/>
            </a:endParaRPr>
          </a:p>
          <a:p>
            <a:r>
              <a:rPr lang="zh-CN" altLang="en-US" sz="1600">
                <a:sym typeface="Huawei Sans" panose="020C0503030203020204" pitchFamily="34" charset="0"/>
              </a:rPr>
              <a:t>广域网流标记建议由</a:t>
            </a:r>
            <a:r>
              <a:rPr lang="en-US" altLang="zh-CN" sz="1600">
                <a:sym typeface="Huawei Sans" panose="020C0503030203020204" pitchFamily="34" charset="0"/>
              </a:rPr>
              <a:t>CE</a:t>
            </a:r>
            <a:r>
              <a:rPr lang="zh-CN" altLang="en-US" sz="1600">
                <a:sym typeface="Huawei Sans" panose="020C0503030203020204" pitchFamily="34" charset="0"/>
              </a:rPr>
              <a:t>或者</a:t>
            </a:r>
            <a:r>
              <a:rPr lang="en-US" altLang="zh-CN" sz="1600">
                <a:sym typeface="Huawei Sans" panose="020C0503030203020204" pitchFamily="34" charset="0"/>
              </a:rPr>
              <a:t>CE</a:t>
            </a:r>
            <a:r>
              <a:rPr lang="zh-CN" altLang="en-US" sz="1600">
                <a:sym typeface="Huawei Sans" panose="020C0503030203020204" pitchFamily="34" charset="0"/>
              </a:rPr>
              <a:t>下游设备完成业务流的</a:t>
            </a:r>
            <a:r>
              <a:rPr lang="en-US" altLang="zh-CN" sz="1600">
                <a:sym typeface="Huawei Sans" panose="020C0503030203020204" pitchFamily="34" charset="0"/>
              </a:rPr>
              <a:t>DSCP</a:t>
            </a:r>
            <a:r>
              <a:rPr lang="zh-CN" altLang="en-US" sz="1600">
                <a:sym typeface="Huawei Sans" panose="020C0503030203020204" pitchFamily="34" charset="0"/>
              </a:rPr>
              <a:t>优先级标记。</a:t>
            </a:r>
            <a:r>
              <a:rPr lang="en-US" altLang="zh-CN" sz="1600">
                <a:sym typeface="Huawei Sans" panose="020C0503030203020204" pitchFamily="34" charset="0"/>
              </a:rPr>
              <a:t>PE</a:t>
            </a:r>
            <a:r>
              <a:rPr lang="zh-CN" altLang="en-US" sz="1600">
                <a:sym typeface="Huawei Sans" panose="020C0503030203020204" pitchFamily="34" charset="0"/>
              </a:rPr>
              <a:t>设备在</a:t>
            </a:r>
            <a:r>
              <a:rPr lang="en-US" altLang="zh-CN" sz="1600">
                <a:sym typeface="Huawei Sans" panose="020C0503030203020204" pitchFamily="34" charset="0"/>
              </a:rPr>
              <a:t>VPN</a:t>
            </a:r>
            <a:r>
              <a:rPr lang="zh-CN" altLang="en-US" sz="1600">
                <a:sym typeface="Huawei Sans" panose="020C0503030203020204" pitchFamily="34" charset="0"/>
              </a:rPr>
              <a:t>接口部署简单流分类即可。</a:t>
            </a:r>
            <a:endParaRPr lang="en-US" altLang="zh-CN" sz="1600">
              <a:sym typeface="Huawei Sans" panose="020C0503030203020204" pitchFamily="34" charset="0"/>
            </a:endParaRPr>
          </a:p>
        </p:txBody>
      </p:sp>
      <p:pic>
        <p:nvPicPr>
          <p:cNvPr id="2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E0E2A1AF-1DFA-4F98-BC85-F79054A0D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857880" y="4465966"/>
            <a:ext cx="353331" cy="289089"/>
          </a:xfrm>
          <a:prstGeom prst="rect">
            <a:avLst/>
          </a:prstGeom>
          <a:noFill/>
        </p:spPr>
      </p:pic>
      <p:pic>
        <p:nvPicPr>
          <p:cNvPr id="30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53F1CEC5-3FA9-4085-89A5-005C4A9F3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183813" y="4465966"/>
            <a:ext cx="353331" cy="289089"/>
          </a:xfrm>
          <a:prstGeom prst="rect">
            <a:avLst/>
          </a:prstGeom>
          <a:noFill/>
        </p:spPr>
      </p:pic>
      <p:pic>
        <p:nvPicPr>
          <p:cNvPr id="31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452918F-2E2C-4B52-BF52-05BBCBC3E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515572" y="4465966"/>
            <a:ext cx="353331" cy="289089"/>
          </a:xfrm>
          <a:prstGeom prst="rect">
            <a:avLst/>
          </a:prstGeom>
          <a:noFill/>
        </p:spPr>
      </p:pic>
      <p:cxnSp>
        <p:nvCxnSpPr>
          <p:cNvPr id="32" name="直接连接符 31">
            <a:extLst>
              <a:ext uri="{FF2B5EF4-FFF2-40B4-BE49-F238E27FC236}">
                <a16:creationId xmlns="" xmlns:a16="http://schemas.microsoft.com/office/drawing/2014/main" id="{9C14C2AC-651A-4A9A-811C-11FC8C8F92D3}"/>
              </a:ext>
            </a:extLst>
          </p:cNvPr>
          <p:cNvCxnSpPr>
            <a:stCxn id="30" idx="3"/>
            <a:endCxn id="31" idx="1"/>
          </p:cNvCxnSpPr>
          <p:nvPr/>
        </p:nvCxnSpPr>
        <p:spPr bwMode="gray">
          <a:xfrm>
            <a:off x="4537144" y="4610511"/>
            <a:ext cx="9784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281C83D7-9FDF-4B76-BA68-69C8A1870D4D}"/>
              </a:ext>
            </a:extLst>
          </p:cNvPr>
          <p:cNvSpPr/>
          <p:nvPr/>
        </p:nvSpPr>
        <p:spPr bwMode="gray">
          <a:xfrm>
            <a:off x="742833" y="4222332"/>
            <a:ext cx="2895826" cy="197526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DC73CCA4-61CE-46BF-8371-506AC9607275}"/>
              </a:ext>
            </a:extLst>
          </p:cNvPr>
          <p:cNvSpPr/>
          <p:nvPr/>
        </p:nvSpPr>
        <p:spPr bwMode="gray">
          <a:xfrm>
            <a:off x="3998345" y="4222332"/>
            <a:ext cx="3203515" cy="197526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7FA67E0-5686-4F09-979F-4C9627966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577279" y="3664072"/>
            <a:ext cx="353331" cy="289089"/>
          </a:xfrm>
          <a:prstGeom prst="rect">
            <a:avLst/>
          </a:prstGeom>
          <a:noFill/>
        </p:spPr>
      </p:pic>
      <p:cxnSp>
        <p:nvCxnSpPr>
          <p:cNvPr id="40" name="直接连接符 39">
            <a:extLst>
              <a:ext uri="{FF2B5EF4-FFF2-40B4-BE49-F238E27FC236}">
                <a16:creationId xmlns="" xmlns:a16="http://schemas.microsoft.com/office/drawing/2014/main" id="{450C4B81-371A-4885-81CE-DA61E005C29F}"/>
              </a:ext>
            </a:extLst>
          </p:cNvPr>
          <p:cNvCxnSpPr>
            <a:cxnSpLocks/>
            <a:stCxn id="30" idx="0"/>
            <a:endCxn id="39" idx="2"/>
          </p:cNvCxnSpPr>
          <p:nvPr/>
        </p:nvCxnSpPr>
        <p:spPr bwMode="gray">
          <a:xfrm flipH="1" flipV="1">
            <a:off x="2753945" y="3953161"/>
            <a:ext cx="1606534" cy="5128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CF1D89CF-25B2-473A-98E5-EB2A52DF6A3B}"/>
              </a:ext>
            </a:extLst>
          </p:cNvPr>
          <p:cNvSpPr txBox="1"/>
          <p:nvPr/>
        </p:nvSpPr>
        <p:spPr bwMode="gray">
          <a:xfrm>
            <a:off x="1841230" y="3673238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1D7EC131-B49E-4587-92CA-2BEF1F6BB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62236" y="3661060"/>
            <a:ext cx="353331" cy="289089"/>
          </a:xfrm>
          <a:prstGeom prst="rect">
            <a:avLst/>
          </a:prstGeom>
          <a:noFill/>
        </p:spPr>
      </p:pic>
      <p:cxnSp>
        <p:nvCxnSpPr>
          <p:cNvPr id="43" name="直接连接符 42">
            <a:extLst>
              <a:ext uri="{FF2B5EF4-FFF2-40B4-BE49-F238E27FC236}">
                <a16:creationId xmlns="" xmlns:a16="http://schemas.microsoft.com/office/drawing/2014/main" id="{9BA622D7-011A-4CAE-AE3F-4E10FDFBBE8E}"/>
              </a:ext>
            </a:extLst>
          </p:cNvPr>
          <p:cNvCxnSpPr>
            <a:cxnSpLocks/>
            <a:stCxn id="42" idx="2"/>
            <a:endCxn id="66" idx="0"/>
          </p:cNvCxnSpPr>
          <p:nvPr/>
        </p:nvCxnSpPr>
        <p:spPr bwMode="gray">
          <a:xfrm flipH="1">
            <a:off x="3375477" y="3950149"/>
            <a:ext cx="1563425" cy="515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02A16EBD-E8B3-4E12-AF98-63EB8ADD401D}"/>
              </a:ext>
            </a:extLst>
          </p:cNvPr>
          <p:cNvSpPr txBox="1"/>
          <p:nvPr/>
        </p:nvSpPr>
        <p:spPr bwMode="gray">
          <a:xfrm>
            <a:off x="5092278" y="3667585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="" xmlns:a16="http://schemas.microsoft.com/office/drawing/2014/main" id="{0A89C183-2BB9-4ADC-878B-0467D469EF8F}"/>
              </a:ext>
            </a:extLst>
          </p:cNvPr>
          <p:cNvCxnSpPr>
            <a:cxnSpLocks/>
            <a:stCxn id="29" idx="0"/>
            <a:endCxn id="39" idx="2"/>
          </p:cNvCxnSpPr>
          <p:nvPr/>
        </p:nvCxnSpPr>
        <p:spPr bwMode="gray">
          <a:xfrm flipV="1">
            <a:off x="2034546" y="3953161"/>
            <a:ext cx="719399" cy="5128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="" xmlns:a16="http://schemas.microsoft.com/office/drawing/2014/main" id="{76CA651E-4D6C-4BDC-A96E-68E7A232DA1D}"/>
              </a:ext>
            </a:extLst>
          </p:cNvPr>
          <p:cNvCxnSpPr>
            <a:cxnSpLocks/>
            <a:stCxn id="42" idx="2"/>
            <a:endCxn id="31" idx="0"/>
          </p:cNvCxnSpPr>
          <p:nvPr/>
        </p:nvCxnSpPr>
        <p:spPr bwMode="gray">
          <a:xfrm>
            <a:off x="4938902" y="3950149"/>
            <a:ext cx="753336" cy="515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9A15C91D-2060-43E0-8632-766761D02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616968" y="3216498"/>
            <a:ext cx="353331" cy="289089"/>
          </a:xfrm>
          <a:prstGeom prst="rect">
            <a:avLst/>
          </a:prstGeom>
          <a:noFill/>
        </p:spPr>
      </p:pic>
      <p:cxnSp>
        <p:nvCxnSpPr>
          <p:cNvPr id="65" name="直接连接符 64">
            <a:extLst>
              <a:ext uri="{FF2B5EF4-FFF2-40B4-BE49-F238E27FC236}">
                <a16:creationId xmlns="" xmlns:a16="http://schemas.microsoft.com/office/drawing/2014/main" id="{539FCE6C-6D83-4D07-B1E0-A4A8BCAC650F}"/>
              </a:ext>
            </a:extLst>
          </p:cNvPr>
          <p:cNvCxnSpPr>
            <a:cxnSpLocks/>
            <a:stCxn id="83" idx="0"/>
            <a:endCxn id="64" idx="2"/>
          </p:cNvCxnSpPr>
          <p:nvPr/>
        </p:nvCxnSpPr>
        <p:spPr bwMode="gray">
          <a:xfrm flipV="1">
            <a:off x="2681199" y="3505587"/>
            <a:ext cx="1112435" cy="9603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1C2DA8C5-65EC-4651-B0D5-7131555A4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198811" y="4465966"/>
            <a:ext cx="353331" cy="289089"/>
          </a:xfrm>
          <a:prstGeom prst="rect">
            <a:avLst/>
          </a:prstGeom>
          <a:noFill/>
        </p:spPr>
      </p:pic>
      <p:cxnSp>
        <p:nvCxnSpPr>
          <p:cNvPr id="67" name="直接连接符 66">
            <a:extLst>
              <a:ext uri="{FF2B5EF4-FFF2-40B4-BE49-F238E27FC236}">
                <a16:creationId xmlns="" xmlns:a16="http://schemas.microsoft.com/office/drawing/2014/main" id="{E21D4859-6FD9-46CA-9E5F-4FFF09A2F9E1}"/>
              </a:ext>
            </a:extLst>
          </p:cNvPr>
          <p:cNvCxnSpPr>
            <a:cxnSpLocks/>
            <a:stCxn id="29" idx="3"/>
            <a:endCxn id="66" idx="1"/>
          </p:cNvCxnSpPr>
          <p:nvPr/>
        </p:nvCxnSpPr>
        <p:spPr bwMode="gray">
          <a:xfrm>
            <a:off x="2211211" y="4610511"/>
            <a:ext cx="9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27348575-6F0D-4BC3-9925-65944A111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849693" y="4465966"/>
            <a:ext cx="353331" cy="289089"/>
          </a:xfrm>
          <a:prstGeom prst="rect">
            <a:avLst/>
          </a:prstGeom>
          <a:noFill/>
        </p:spPr>
      </p:pic>
      <p:cxnSp>
        <p:nvCxnSpPr>
          <p:cNvPr id="69" name="直接连接符 68">
            <a:extLst>
              <a:ext uri="{FF2B5EF4-FFF2-40B4-BE49-F238E27FC236}">
                <a16:creationId xmlns="" xmlns:a16="http://schemas.microsoft.com/office/drawing/2014/main" id="{92BB1F58-FF7A-4443-9676-6679BFDF160D}"/>
              </a:ext>
            </a:extLst>
          </p:cNvPr>
          <p:cNvCxnSpPr>
            <a:cxnSpLocks/>
            <a:stCxn id="30" idx="2"/>
            <a:endCxn id="75" idx="0"/>
          </p:cNvCxnSpPr>
          <p:nvPr/>
        </p:nvCxnSpPr>
        <p:spPr bwMode="gray">
          <a:xfrm>
            <a:off x="4360479" y="4755055"/>
            <a:ext cx="258753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="" xmlns:a16="http://schemas.microsoft.com/office/drawing/2014/main" id="{7D7560AB-BAC2-4E78-AE03-F712E905F179}"/>
              </a:ext>
            </a:extLst>
          </p:cNvPr>
          <p:cNvCxnSpPr>
            <a:cxnSpLocks/>
            <a:stCxn id="68" idx="2"/>
            <a:endCxn id="75" idx="0"/>
          </p:cNvCxnSpPr>
          <p:nvPr/>
        </p:nvCxnSpPr>
        <p:spPr bwMode="gray">
          <a:xfrm flipH="1">
            <a:off x="4619232" y="4755055"/>
            <a:ext cx="407127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="" xmlns:a16="http://schemas.microsoft.com/office/drawing/2014/main" id="{E6F15B78-BAC9-44BF-A710-270F1D9B3BB6}"/>
              </a:ext>
            </a:extLst>
          </p:cNvPr>
          <p:cNvCxnSpPr>
            <a:cxnSpLocks/>
            <a:stCxn id="68" idx="0"/>
            <a:endCxn id="64" idx="2"/>
          </p:cNvCxnSpPr>
          <p:nvPr/>
        </p:nvCxnSpPr>
        <p:spPr bwMode="gray">
          <a:xfrm flipH="1" flipV="1">
            <a:off x="3793634" y="3505587"/>
            <a:ext cx="1232725" cy="9603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AF69147-CE62-4734-9C8A-79DA6CBF0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065270" y="5724334"/>
            <a:ext cx="353331" cy="289089"/>
          </a:xfrm>
          <a:prstGeom prst="rect">
            <a:avLst/>
          </a:prstGeom>
          <a:noFill/>
        </p:spPr>
      </p:pic>
      <p:pic>
        <p:nvPicPr>
          <p:cNvPr id="7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F83AD6F8-60F6-4DF2-8F3F-483834469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939830" y="5724334"/>
            <a:ext cx="353331" cy="289089"/>
          </a:xfrm>
          <a:prstGeom prst="rect">
            <a:avLst/>
          </a:prstGeom>
          <a:noFill/>
        </p:spPr>
      </p:pic>
      <p:cxnSp>
        <p:nvCxnSpPr>
          <p:cNvPr id="74" name="直接连接符 73">
            <a:extLst>
              <a:ext uri="{FF2B5EF4-FFF2-40B4-BE49-F238E27FC236}">
                <a16:creationId xmlns="" xmlns:a16="http://schemas.microsoft.com/office/drawing/2014/main" id="{99BA2A72-293C-4818-A915-D02E0CE1632D}"/>
              </a:ext>
            </a:extLst>
          </p:cNvPr>
          <p:cNvCxnSpPr>
            <a:stCxn id="72" idx="3"/>
            <a:endCxn id="73" idx="1"/>
          </p:cNvCxnSpPr>
          <p:nvPr/>
        </p:nvCxnSpPr>
        <p:spPr bwMode="gray">
          <a:xfrm>
            <a:off x="2418601" y="5868879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260BAD2C-64F2-4A83-A4E8-570B79630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442566" y="5724334"/>
            <a:ext cx="353331" cy="289089"/>
          </a:xfrm>
          <a:prstGeom prst="rect">
            <a:avLst/>
          </a:prstGeom>
          <a:noFill/>
        </p:spPr>
      </p:pic>
      <p:pic>
        <p:nvPicPr>
          <p:cNvPr id="76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7405FDEB-F910-4E0E-8B73-FFEC722F2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317126" y="5724334"/>
            <a:ext cx="353331" cy="289089"/>
          </a:xfrm>
          <a:prstGeom prst="rect">
            <a:avLst/>
          </a:prstGeom>
          <a:noFill/>
        </p:spPr>
      </p:pic>
      <p:cxnSp>
        <p:nvCxnSpPr>
          <p:cNvPr id="77" name="直接连接符 76">
            <a:extLst>
              <a:ext uri="{FF2B5EF4-FFF2-40B4-BE49-F238E27FC236}">
                <a16:creationId xmlns="" xmlns:a16="http://schemas.microsoft.com/office/drawing/2014/main" id="{9178CF3C-AD5C-4B98-8157-D7F05EEE3889}"/>
              </a:ext>
            </a:extLst>
          </p:cNvPr>
          <p:cNvCxnSpPr>
            <a:stCxn id="75" idx="3"/>
            <a:endCxn id="76" idx="1"/>
          </p:cNvCxnSpPr>
          <p:nvPr/>
        </p:nvCxnSpPr>
        <p:spPr bwMode="gray">
          <a:xfrm>
            <a:off x="4795897" y="5868879"/>
            <a:ext cx="521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="" xmlns:a16="http://schemas.microsoft.com/office/drawing/2014/main" id="{C71866BC-CCC7-464E-84EE-4BC0B0494E36}"/>
              </a:ext>
            </a:extLst>
          </p:cNvPr>
          <p:cNvCxnSpPr>
            <a:cxnSpLocks/>
            <a:stCxn id="29" idx="2"/>
            <a:endCxn id="72" idx="0"/>
          </p:cNvCxnSpPr>
          <p:nvPr/>
        </p:nvCxnSpPr>
        <p:spPr bwMode="gray">
          <a:xfrm>
            <a:off x="2034546" y="4755055"/>
            <a:ext cx="207390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="" xmlns:a16="http://schemas.microsoft.com/office/drawing/2014/main" id="{EEE94B8B-DF35-40AA-9B57-32370B020478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 bwMode="gray">
          <a:xfrm flipH="1">
            <a:off x="3116496" y="4755055"/>
            <a:ext cx="258981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="" xmlns:a16="http://schemas.microsoft.com/office/drawing/2014/main" id="{D33ED479-1394-4B57-88D3-B63B71A95698}"/>
              </a:ext>
            </a:extLst>
          </p:cNvPr>
          <p:cNvCxnSpPr>
            <a:cxnSpLocks/>
            <a:stCxn id="83" idx="2"/>
            <a:endCxn id="72" idx="0"/>
          </p:cNvCxnSpPr>
          <p:nvPr/>
        </p:nvCxnSpPr>
        <p:spPr bwMode="gray">
          <a:xfrm flipH="1">
            <a:off x="2241936" y="4755055"/>
            <a:ext cx="439263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="" xmlns:a16="http://schemas.microsoft.com/office/drawing/2014/main" id="{67BFE750-C8AF-4D6F-938F-A3264F30B762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 bwMode="gray">
          <a:xfrm flipH="1">
            <a:off x="2241936" y="4755055"/>
            <a:ext cx="1133541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2F6832FD-1CE3-4B63-9A5C-EA5C48ECC27B}"/>
              </a:ext>
            </a:extLst>
          </p:cNvPr>
          <p:cNvCxnSpPr>
            <a:cxnSpLocks/>
            <a:stCxn id="73" idx="0"/>
            <a:endCxn id="83" idx="2"/>
          </p:cNvCxnSpPr>
          <p:nvPr/>
        </p:nvCxnSpPr>
        <p:spPr bwMode="gray">
          <a:xfrm flipH="1" flipV="1">
            <a:off x="2681199" y="4755055"/>
            <a:ext cx="435297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2" descr="G:\做的项目\公共\扁平图标切换\更新2015_01_21\oss扁平图标库2015_01_21更新-04.png">
            <a:extLst>
              <a:ext uri="{FF2B5EF4-FFF2-40B4-BE49-F238E27FC236}">
                <a16:creationId xmlns="" xmlns:a16="http://schemas.microsoft.com/office/drawing/2014/main" id="{845351D3-3701-4C93-9A7B-82A717E12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504533" y="4465966"/>
            <a:ext cx="353331" cy="289089"/>
          </a:xfrm>
          <a:prstGeom prst="rect">
            <a:avLst/>
          </a:prstGeom>
          <a:noFill/>
        </p:spPr>
      </p:pic>
      <p:cxnSp>
        <p:nvCxnSpPr>
          <p:cNvPr id="84" name="直接连接符 83">
            <a:extLst>
              <a:ext uri="{FF2B5EF4-FFF2-40B4-BE49-F238E27FC236}">
                <a16:creationId xmlns="" xmlns:a16="http://schemas.microsoft.com/office/drawing/2014/main" id="{1776252E-C30B-4501-A451-07B32E776835}"/>
              </a:ext>
            </a:extLst>
          </p:cNvPr>
          <p:cNvCxnSpPr>
            <a:cxnSpLocks/>
            <a:stCxn id="68" idx="2"/>
            <a:endCxn id="76" idx="0"/>
          </p:cNvCxnSpPr>
          <p:nvPr/>
        </p:nvCxnSpPr>
        <p:spPr bwMode="gray">
          <a:xfrm>
            <a:off x="5026359" y="4755055"/>
            <a:ext cx="467433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="" xmlns:a16="http://schemas.microsoft.com/office/drawing/2014/main" id="{5B8B868F-F1A2-4B72-8112-C39954DE113F}"/>
              </a:ext>
            </a:extLst>
          </p:cNvPr>
          <p:cNvCxnSpPr>
            <a:cxnSpLocks/>
            <a:stCxn id="31" idx="2"/>
            <a:endCxn id="75" idx="0"/>
          </p:cNvCxnSpPr>
          <p:nvPr/>
        </p:nvCxnSpPr>
        <p:spPr bwMode="gray">
          <a:xfrm flipH="1">
            <a:off x="4619232" y="4755055"/>
            <a:ext cx="1073006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="" xmlns:a16="http://schemas.microsoft.com/office/drawing/2014/main" id="{B48BB56F-C13A-4788-B946-9D099D4003C7}"/>
              </a:ext>
            </a:extLst>
          </p:cNvPr>
          <p:cNvCxnSpPr>
            <a:cxnSpLocks/>
            <a:stCxn id="31" idx="2"/>
            <a:endCxn id="76" idx="0"/>
          </p:cNvCxnSpPr>
          <p:nvPr/>
        </p:nvCxnSpPr>
        <p:spPr bwMode="gray">
          <a:xfrm flipH="1">
            <a:off x="5493792" y="4755055"/>
            <a:ext cx="198446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="" xmlns:a16="http://schemas.microsoft.com/office/drawing/2014/main" id="{66AA5455-E47F-48D9-B8DF-A5D0B0CA9CCC}"/>
              </a:ext>
            </a:extLst>
          </p:cNvPr>
          <p:cNvCxnSpPr>
            <a:cxnSpLocks/>
            <a:stCxn id="30" idx="2"/>
            <a:endCxn id="76" idx="0"/>
          </p:cNvCxnSpPr>
          <p:nvPr/>
        </p:nvCxnSpPr>
        <p:spPr bwMode="gray">
          <a:xfrm>
            <a:off x="4360479" y="4755055"/>
            <a:ext cx="1133313" cy="969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="" xmlns:a16="http://schemas.microsoft.com/office/drawing/2014/main" id="{25F1C782-AEE3-4F30-8A79-EE94D6D5EBE1}"/>
              </a:ext>
            </a:extLst>
          </p:cNvPr>
          <p:cNvSpPr txBox="1"/>
          <p:nvPr/>
        </p:nvSpPr>
        <p:spPr bwMode="gray">
          <a:xfrm>
            <a:off x="3403819" y="2959487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WAN-P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Freeform 159">
            <a:extLst>
              <a:ext uri="{FF2B5EF4-FFF2-40B4-BE49-F238E27FC236}">
                <a16:creationId xmlns="" xmlns:a16="http://schemas.microsoft.com/office/drawing/2014/main" id="{F484777E-FD35-47FF-BA05-E6D5D1B824EA}"/>
              </a:ext>
            </a:extLst>
          </p:cNvPr>
          <p:cNvSpPr/>
          <p:nvPr/>
        </p:nvSpPr>
        <p:spPr bwMode="gray">
          <a:xfrm flipH="1">
            <a:off x="1902182" y="2788565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Freeform 159">
            <a:extLst>
              <a:ext uri="{FF2B5EF4-FFF2-40B4-BE49-F238E27FC236}">
                <a16:creationId xmlns="" xmlns:a16="http://schemas.microsoft.com/office/drawing/2014/main" id="{25F23ED5-5090-477D-A962-7A75506BD864}"/>
              </a:ext>
            </a:extLst>
          </p:cNvPr>
          <p:cNvSpPr/>
          <p:nvPr/>
        </p:nvSpPr>
        <p:spPr bwMode="gray">
          <a:xfrm flipH="1">
            <a:off x="2208800" y="5600090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Freeform 159">
            <a:extLst>
              <a:ext uri="{FF2B5EF4-FFF2-40B4-BE49-F238E27FC236}">
                <a16:creationId xmlns="" xmlns:a16="http://schemas.microsoft.com/office/drawing/2014/main" id="{3D973375-4FA0-4EAC-BD4E-6157EB30B24A}"/>
              </a:ext>
            </a:extLst>
          </p:cNvPr>
          <p:cNvSpPr/>
          <p:nvPr/>
        </p:nvSpPr>
        <p:spPr bwMode="gray">
          <a:xfrm flipH="1">
            <a:off x="4571839" y="5588215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="" xmlns:a16="http://schemas.microsoft.com/office/drawing/2014/main" id="{6EC86C21-7C7F-4D98-BA33-B84028A0DB17}"/>
              </a:ext>
            </a:extLst>
          </p:cNvPr>
          <p:cNvSpPr txBox="1"/>
          <p:nvPr/>
        </p:nvSpPr>
        <p:spPr bwMode="gray">
          <a:xfrm>
            <a:off x="1150462" y="4470254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="" xmlns:a16="http://schemas.microsoft.com/office/drawing/2014/main" id="{8B74FCFF-2518-4225-8D88-0533C7F53EC7}"/>
              </a:ext>
            </a:extLst>
          </p:cNvPr>
          <p:cNvSpPr txBox="1"/>
          <p:nvPr/>
        </p:nvSpPr>
        <p:spPr bwMode="gray">
          <a:xfrm>
            <a:off x="1197963" y="5724957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="" xmlns:a16="http://schemas.microsoft.com/office/drawing/2014/main" id="{3BF3B19E-EA60-4857-AE17-B54826E78002}"/>
              </a:ext>
            </a:extLst>
          </p:cNvPr>
          <p:cNvSpPr txBox="1"/>
          <p:nvPr/>
        </p:nvSpPr>
        <p:spPr bwMode="gray">
          <a:xfrm>
            <a:off x="6001763" y="4421878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="" xmlns:a16="http://schemas.microsoft.com/office/drawing/2014/main" id="{65E63A2B-B021-43E8-82E3-C880D9BAA11D}"/>
              </a:ext>
            </a:extLst>
          </p:cNvPr>
          <p:cNvSpPr txBox="1"/>
          <p:nvPr/>
        </p:nvSpPr>
        <p:spPr bwMode="gray">
          <a:xfrm>
            <a:off x="5853419" y="5724957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BR-CE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="" xmlns:a16="http://schemas.microsoft.com/office/drawing/2014/main" id="{AE5846EA-FED1-4C33-A2A5-C29B9560466E}"/>
              </a:ext>
            </a:extLst>
          </p:cNvPr>
          <p:cNvSpPr txBox="1"/>
          <p:nvPr/>
        </p:nvSpPr>
        <p:spPr bwMode="gray">
          <a:xfrm>
            <a:off x="1192274" y="2919923"/>
            <a:ext cx="660758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="" xmlns:a16="http://schemas.microsoft.com/office/drawing/2014/main" id="{78FB0F1C-28A7-4A6C-B74B-C88F70804AC3}"/>
              </a:ext>
            </a:extLst>
          </p:cNvPr>
          <p:cNvSpPr txBox="1"/>
          <p:nvPr/>
        </p:nvSpPr>
        <p:spPr bwMode="gray">
          <a:xfrm>
            <a:off x="973075" y="4857045"/>
            <a:ext cx="652743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="" xmlns:a16="http://schemas.microsoft.com/office/drawing/2014/main" id="{BE87FCB3-7693-40DF-98B9-9C4F818FCD4D}"/>
              </a:ext>
            </a:extLst>
          </p:cNvPr>
          <p:cNvSpPr txBox="1"/>
          <p:nvPr/>
        </p:nvSpPr>
        <p:spPr bwMode="gray">
          <a:xfrm>
            <a:off x="6044495" y="4768145"/>
            <a:ext cx="673582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Freeform 159">
            <a:extLst>
              <a:ext uri="{FF2B5EF4-FFF2-40B4-BE49-F238E27FC236}">
                <a16:creationId xmlns="" xmlns:a16="http://schemas.microsoft.com/office/drawing/2014/main" id="{3769580D-4333-4D1C-921C-F54565C60CAC}"/>
              </a:ext>
            </a:extLst>
          </p:cNvPr>
          <p:cNvSpPr/>
          <p:nvPr/>
        </p:nvSpPr>
        <p:spPr bwMode="gray">
          <a:xfrm flipH="1">
            <a:off x="3198811" y="2382795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Freeform 159">
            <a:extLst>
              <a:ext uri="{FF2B5EF4-FFF2-40B4-BE49-F238E27FC236}">
                <a16:creationId xmlns="" xmlns:a16="http://schemas.microsoft.com/office/drawing/2014/main" id="{8464A9F2-E736-422A-8E31-51B1D694FCB1}"/>
              </a:ext>
            </a:extLst>
          </p:cNvPr>
          <p:cNvSpPr/>
          <p:nvPr/>
        </p:nvSpPr>
        <p:spPr bwMode="gray">
          <a:xfrm flipH="1">
            <a:off x="5097754" y="2875670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285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tIns="180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>
                <a:solidFill>
                  <a:prstClr val="white">
                    <a:lumMod val="50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="" xmlns:a16="http://schemas.microsoft.com/office/drawing/2014/main" id="{878C3D35-CE2F-4D68-8032-4840EA22EF83}"/>
              </a:ext>
            </a:extLst>
          </p:cNvPr>
          <p:cNvSpPr txBox="1"/>
          <p:nvPr/>
        </p:nvSpPr>
        <p:spPr bwMode="gray">
          <a:xfrm>
            <a:off x="6120069" y="2973489"/>
            <a:ext cx="651140" cy="307777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城市</a:t>
            </a:r>
            <a:r>
              <a:rPr lang="en-US" altLang="zh-CN"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对话气泡: 圆角矩形 130">
            <a:extLst>
              <a:ext uri="{FF2B5EF4-FFF2-40B4-BE49-F238E27FC236}">
                <a16:creationId xmlns="" xmlns:a16="http://schemas.microsoft.com/office/drawing/2014/main" id="{3ACDA940-9DED-4828-A3D7-797D660B99A2}"/>
              </a:ext>
            </a:extLst>
          </p:cNvPr>
          <p:cNvSpPr/>
          <p:nvPr/>
        </p:nvSpPr>
        <p:spPr bwMode="gray">
          <a:xfrm>
            <a:off x="7331133" y="5409604"/>
            <a:ext cx="3158137" cy="654023"/>
          </a:xfrm>
          <a:prstGeom prst="wedgeRoundRectCallout">
            <a:avLst>
              <a:gd name="adj1" fmla="val -56221"/>
              <a:gd name="adj2" fmla="val 23663"/>
              <a:gd name="adj3" fmla="val 166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设备修改不同业务流的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DSCP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值，完成业务流分类。</a:t>
            </a:r>
          </a:p>
        </p:txBody>
      </p:sp>
      <p:sp>
        <p:nvSpPr>
          <p:cNvPr id="132" name="对话气泡: 圆角矩形 131">
            <a:extLst>
              <a:ext uri="{FF2B5EF4-FFF2-40B4-BE49-F238E27FC236}">
                <a16:creationId xmlns="" xmlns:a16="http://schemas.microsoft.com/office/drawing/2014/main" id="{5EE32CCE-B85C-4F45-AAC3-B91D20A23676}"/>
              </a:ext>
            </a:extLst>
          </p:cNvPr>
          <p:cNvSpPr/>
          <p:nvPr/>
        </p:nvSpPr>
        <p:spPr bwMode="gray">
          <a:xfrm>
            <a:off x="7603618" y="3505588"/>
            <a:ext cx="3203515" cy="1043756"/>
          </a:xfrm>
          <a:prstGeom prst="wedgeRoundRectCallout">
            <a:avLst>
              <a:gd name="adj1" fmla="val -55020"/>
              <a:gd name="adj2" fmla="val 23664"/>
              <a:gd name="adj3" fmla="val 166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在不同业务的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接入接口部署简单流分类：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DSCP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映射到队列，然后迭代广域网不同的隧道。</a:t>
            </a:r>
            <a:endParaRPr lang="en-US" altLang="zh-CN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五边形 61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燕尾形 62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燕尾形 87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195546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62300C0-EA58-49F8-B9C4-64A637C330D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广域网</a:t>
            </a:r>
            <a:r>
              <a:rPr lang="en-US" altLang="zh-CN" dirty="0" err="1">
                <a:sym typeface="Huawei Sans" panose="020C0503030203020204" pitchFamily="34" charset="0"/>
              </a:rPr>
              <a:t>QoS</a:t>
            </a:r>
            <a:r>
              <a:rPr lang="zh-CN" altLang="en-US" dirty="0">
                <a:sym typeface="Huawei Sans" panose="020C0503030203020204" pitchFamily="34" charset="0"/>
              </a:rPr>
              <a:t>应用：流调度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1154D85-32A2-40D5-87E9-F83C9277CD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>
                <a:sym typeface="Huawei Sans" panose="020C0503030203020204" pitchFamily="34" charset="0"/>
              </a:rPr>
              <a:t>由于广域网转发瓶颈在各个地区的出口广域链路上。例如异地之间互联采用运营商的</a:t>
            </a:r>
            <a:r>
              <a:rPr lang="en-US" altLang="zh-CN" sz="1600">
                <a:sym typeface="Huawei Sans" panose="020C0503030203020204" pitchFamily="34" charset="0"/>
              </a:rPr>
              <a:t>MSTP</a:t>
            </a:r>
            <a:r>
              <a:rPr lang="zh-CN" altLang="en-US" sz="1600">
                <a:sym typeface="Huawei Sans" panose="020C0503030203020204" pitchFamily="34" charset="0"/>
              </a:rPr>
              <a:t>专线，带宽受限。为了防止业务流进入广域链路在运营商网络被限速丢弃，需要在广域链路的出口上部署流量整形，保障进入运营商</a:t>
            </a:r>
            <a:r>
              <a:rPr lang="en-US" altLang="zh-CN" sz="1600">
                <a:sym typeface="Huawei Sans" panose="020C0503030203020204" pitchFamily="34" charset="0"/>
              </a:rPr>
              <a:t>MSTP</a:t>
            </a:r>
            <a:r>
              <a:rPr lang="zh-CN" altLang="en-US" sz="1600">
                <a:sym typeface="Huawei Sans" panose="020C0503030203020204" pitchFamily="34" charset="0"/>
              </a:rPr>
              <a:t>专线的流量不要超过限速值。</a:t>
            </a:r>
            <a:endParaRPr lang="en-US" altLang="zh-CN" sz="1600">
              <a:sym typeface="Huawei Sans" panose="020C0503030203020204" pitchFamily="34" charset="0"/>
            </a:endParaRPr>
          </a:p>
          <a:p>
            <a:r>
              <a:rPr lang="zh-CN" altLang="en-US" sz="1600">
                <a:sym typeface="Huawei Sans" panose="020C0503030203020204" pitchFamily="34" charset="0"/>
              </a:rPr>
              <a:t>对于企业内部业务需要合理设计</a:t>
            </a:r>
            <a:r>
              <a:rPr lang="en-US" altLang="zh-CN" sz="1600">
                <a:sym typeface="Huawei Sans" panose="020C0503030203020204" pitchFamily="34" charset="0"/>
              </a:rPr>
              <a:t>QoS</a:t>
            </a:r>
            <a:r>
              <a:rPr lang="zh-CN" altLang="en-US" sz="1600">
                <a:sym typeface="Huawei Sans" panose="020C0503030203020204" pitchFamily="34" charset="0"/>
              </a:rPr>
              <a:t>策略。比如将核心的生产业务或对</a:t>
            </a:r>
            <a:r>
              <a:rPr lang="en-US" altLang="zh-CN" sz="1600">
                <a:sym typeface="Huawei Sans" panose="020C0503030203020204" pitchFamily="34" charset="0"/>
              </a:rPr>
              <a:t>QoS</a:t>
            </a:r>
            <a:r>
              <a:rPr lang="zh-CN" altLang="en-US" sz="1600">
                <a:sym typeface="Huawei Sans" panose="020C0503030203020204" pitchFamily="34" charset="0"/>
              </a:rPr>
              <a:t>要求高的业务部署</a:t>
            </a:r>
            <a:r>
              <a:rPr lang="en-US" altLang="zh-CN" sz="1600">
                <a:sym typeface="Huawei Sans" panose="020C0503030203020204" pitchFamily="34" charset="0"/>
              </a:rPr>
              <a:t>PQ</a:t>
            </a:r>
            <a:r>
              <a:rPr lang="zh-CN" altLang="en-US" sz="1600">
                <a:sym typeface="Huawei Sans" panose="020C0503030203020204" pitchFamily="34" charset="0"/>
              </a:rPr>
              <a:t>高优先级调度；将对丢包、时延不敏感的业务配置</a:t>
            </a:r>
            <a:r>
              <a:rPr lang="en-US" altLang="zh-CN" sz="1600">
                <a:sym typeface="Huawei Sans" panose="020C0503030203020204" pitchFamily="34" charset="0"/>
              </a:rPr>
              <a:t>WFQ</a:t>
            </a:r>
            <a:r>
              <a:rPr lang="zh-CN" altLang="en-US" sz="1600">
                <a:sym typeface="Huawei Sans" panose="020C0503030203020204" pitchFamily="34" charset="0"/>
              </a:rPr>
              <a:t>调度，分配最基本的带宽保障业务不中断即可。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="" xmlns:a16="http://schemas.microsoft.com/office/drawing/2014/main" id="{3E74CA3C-F183-44D0-9F8F-40A33A219B9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11300" y="3482975"/>
          <a:ext cx="8128000" cy="2595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2000">
                  <a:extLst>
                    <a:ext uri="{9D8B030D-6E8A-4147-A177-3AD203B41FA5}">
                      <a16:colId xmlns="" xmlns:a16="http://schemas.microsoft.com/office/drawing/2014/main" val="317143853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2180133231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488548307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80477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业务类型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重要性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优先级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调度方式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2621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协议报文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CS7/CS6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PQ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37015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核心业务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EF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PQ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4272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视频业务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AF4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PQ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1347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外联业务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AF3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WFQ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4049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办公、测试业务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AF2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WFQ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7030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其他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BE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WFQ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396130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9D63E4C5-9E3E-413D-852E-5104319C3FCC}"/>
              </a:ext>
            </a:extLst>
          </p:cNvPr>
          <p:cNvSpPr txBox="1"/>
          <p:nvPr/>
        </p:nvSpPr>
        <p:spPr bwMode="gray">
          <a:xfrm>
            <a:off x="4672649" y="3096528"/>
            <a:ext cx="1600118" cy="338554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某企业</a:t>
            </a:r>
            <a:r>
              <a:rPr lang="en-US" altLang="zh-CN" sz="160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设计</a:t>
            </a:r>
          </a:p>
        </p:txBody>
      </p:sp>
      <p:sp>
        <p:nvSpPr>
          <p:cNvPr id="10" name="五边形 9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191957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pPr defTabSz="912386" eaLnBrk="0" hangingPunct="0">
              <a:defRPr/>
            </a:pPr>
            <a:r>
              <a:rPr lang="en-US" altLang="zh-CN" kern="0" dirty="0" err="1">
                <a:cs typeface="+mn-ea"/>
                <a:sym typeface="Huawei Sans" panose="020C0503030203020204" pitchFamily="34" charset="0"/>
              </a:rPr>
              <a:t>QoS</a:t>
            </a:r>
            <a:r>
              <a:rPr lang="zh-CN" altLang="en-US" kern="0" dirty="0">
                <a:cs typeface="+mn-ea"/>
                <a:sym typeface="Huawei Sans" panose="020C0503030203020204" pitchFamily="34" charset="0"/>
              </a:rPr>
              <a:t>的不足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本身不能解决拥塞问题，无法为业务提供隔离和确定性保障：</a:t>
            </a: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是单跳行为，没有改变网络拓扑架构。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不改变业务行为，单条流如果突发流量过大，依然会存在拥塞。</a:t>
            </a: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队列少，无法针对特定用户做</a:t>
            </a:r>
            <a:r>
              <a:rPr lang="en-US" altLang="zh-CN" sz="1600" dirty="0">
                <a:sym typeface="Huawei Sans" panose="020C0503030203020204" pitchFamily="34" charset="0"/>
              </a:rPr>
              <a:t>SLA</a:t>
            </a:r>
            <a:r>
              <a:rPr lang="zh-CN" altLang="en-US" sz="1600" dirty="0">
                <a:sym typeface="Huawei Sans" panose="020C0503030203020204" pitchFamily="34" charset="0"/>
              </a:rPr>
              <a:t>保障，无法提供确定性的时延保障。</a:t>
            </a: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QoS</a:t>
            </a:r>
            <a:r>
              <a:rPr lang="zh-CN" altLang="en-US" sz="1600" dirty="0">
                <a:sym typeface="Huawei Sans" panose="020C0503030203020204" pitchFamily="34" charset="0"/>
              </a:rPr>
              <a:t>机制是一个资源管理的经验体系，无法为用户提供独立的资源。</a:t>
            </a: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247" name="圆柱形 246"/>
          <p:cNvSpPr/>
          <p:nvPr/>
        </p:nvSpPr>
        <p:spPr bwMode="gray">
          <a:xfrm rot="5400000">
            <a:off x="5323668" y="-86532"/>
            <a:ext cx="1135059" cy="8740804"/>
          </a:xfrm>
          <a:prstGeom prst="can">
            <a:avLst>
              <a:gd name="adj" fmla="val 13829"/>
            </a:avLst>
          </a:prstGeom>
          <a:solidFill>
            <a:srgbClr val="8CD5F0">
              <a:alpha val="5000"/>
            </a:srgbClr>
          </a:solidFill>
          <a:ln w="6350">
            <a:solidFill>
              <a:srgbClr val="8CD5F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9" name="直接连接符 248"/>
          <p:cNvCxnSpPr>
            <a:stCxn id="250" idx="3"/>
            <a:endCxn id="255" idx="1"/>
          </p:cNvCxnSpPr>
          <p:nvPr/>
        </p:nvCxnSpPr>
        <p:spPr bwMode="gray">
          <a:xfrm>
            <a:off x="1853553" y="4361567"/>
            <a:ext cx="7959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0" name="图片 249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13553" y="4140167"/>
            <a:ext cx="540000" cy="442800"/>
          </a:xfrm>
          <a:prstGeom prst="rect">
            <a:avLst/>
          </a:prstGeom>
        </p:spPr>
      </p:pic>
      <p:pic>
        <p:nvPicPr>
          <p:cNvPr id="251" name="图片 250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46761" y="4140167"/>
            <a:ext cx="540000" cy="442800"/>
          </a:xfrm>
          <a:prstGeom prst="rect">
            <a:avLst/>
          </a:prstGeom>
        </p:spPr>
      </p:pic>
      <p:pic>
        <p:nvPicPr>
          <p:cNvPr id="252" name="图片 251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30157" y="4140167"/>
            <a:ext cx="540000" cy="442800"/>
          </a:xfrm>
          <a:prstGeom prst="rect">
            <a:avLst/>
          </a:prstGeom>
        </p:spPr>
      </p:pic>
      <p:pic>
        <p:nvPicPr>
          <p:cNvPr id="253" name="图片 252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79969" y="4140167"/>
            <a:ext cx="540000" cy="442800"/>
          </a:xfrm>
          <a:prstGeom prst="rect">
            <a:avLst/>
          </a:prstGeom>
        </p:spPr>
      </p:pic>
      <p:pic>
        <p:nvPicPr>
          <p:cNvPr id="254" name="图片 253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63365" y="4140167"/>
            <a:ext cx="540000" cy="442800"/>
          </a:xfrm>
          <a:prstGeom prst="rect">
            <a:avLst/>
          </a:prstGeom>
        </p:spPr>
      </p:pic>
      <p:pic>
        <p:nvPicPr>
          <p:cNvPr id="255" name="图片 254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13178" y="4140167"/>
            <a:ext cx="540000" cy="442800"/>
          </a:xfrm>
          <a:prstGeom prst="rect">
            <a:avLst/>
          </a:prstGeom>
        </p:spPr>
      </p:pic>
      <p:pic>
        <p:nvPicPr>
          <p:cNvPr id="256" name="图片 255">
            <a:extLst>
              <a:ext uri="{FF2B5EF4-FFF2-40B4-BE49-F238E27FC236}">
                <a16:creationId xmlns="" xmlns:a16="http://schemas.microsoft.com/office/drawing/2014/main" id="{B9832DFC-9BEE-4852-8ACD-2C4D976661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96573" y="4140167"/>
            <a:ext cx="540000" cy="44280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 bwMode="gray">
          <a:xfrm flipV="1">
            <a:off x="1798369" y="4749800"/>
            <a:ext cx="8204200" cy="0"/>
          </a:xfrm>
          <a:prstGeom prst="straightConnector1">
            <a:avLst/>
          </a:prstGeom>
          <a:ln w="57150">
            <a:solidFill>
              <a:srgbClr val="D3394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标注 6"/>
          <p:cNvSpPr/>
          <p:nvPr/>
        </p:nvSpPr>
        <p:spPr bwMode="gray">
          <a:xfrm>
            <a:off x="3270156" y="5173188"/>
            <a:ext cx="3105243" cy="549773"/>
          </a:xfrm>
          <a:prstGeom prst="wedgeRectCallout">
            <a:avLst>
              <a:gd name="adj1" fmla="val -1223"/>
              <a:gd name="adj2" fmla="val -117683"/>
            </a:avLst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3270157" y="5251901"/>
            <a:ext cx="3105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逐跳配置，不改变转发路径，无法区分用户，无法提供独立资源。</a:t>
            </a:r>
          </a:p>
          <a:p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3" name="五边形 272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 err="1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4" name="燕尾形 273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5" name="燕尾形 274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184058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HQoS</a:t>
            </a:r>
            <a:r>
              <a:rPr lang="zh-CN" altLang="en-US" dirty="0">
                <a:sym typeface="Huawei Sans" panose="020C0503030203020204" pitchFamily="34" charset="0"/>
              </a:rPr>
              <a:t>为用户提供调度和带宽保障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>
                <a:sym typeface="Huawei Sans" panose="020C0503030203020204" pitchFamily="34" charset="0"/>
              </a:rPr>
              <a:t>HQoS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Hierarchical Quality of Service</a:t>
            </a:r>
            <a:r>
              <a:rPr lang="zh-CN" altLang="en-US" sz="1800" dirty="0">
                <a:sym typeface="Huawei Sans" panose="020C0503030203020204" pitchFamily="34" charset="0"/>
              </a:rPr>
              <a:t>，层次化</a:t>
            </a:r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）在</a:t>
            </a:r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基础上提供对接口资源更细粒度、更多层级化的调度管理，实现对接口资源的精细化分配和管理，每个调度队列可以提供带宽保障，但整个机制都是基于</a:t>
            </a:r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，也无法满足确定性时延和隔离诉求。</a:t>
            </a:r>
          </a:p>
          <a:p>
            <a:endParaRPr lang="zh-CN" altLang="en-US" sz="1800" b="1" dirty="0">
              <a:sym typeface="Huawei Sans" panose="020C0503030203020204" pitchFamily="34" charset="0"/>
            </a:endParaRPr>
          </a:p>
        </p:txBody>
      </p:sp>
      <p:sp>
        <p:nvSpPr>
          <p:cNvPr id="86" name="标题 1"/>
          <p:cNvSpPr txBox="1">
            <a:spLocks/>
          </p:cNvSpPr>
          <p:nvPr/>
        </p:nvSpPr>
        <p:spPr bwMode="gray">
          <a:xfrm>
            <a:off x="124329" y="217936"/>
            <a:ext cx="10452175" cy="480107"/>
          </a:xfrm>
          <a:prstGeom prst="rect">
            <a:avLst/>
          </a:prstGeom>
          <a:noFill/>
          <a:extLst/>
        </p:spPr>
        <p:txBody>
          <a:bodyPr wrap="square" lIns="91213" tIns="45606" rIns="91213" bIns="45606" rtlCol="0" anchor="ctr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baseline="0">
                <a:solidFill>
                  <a:srgbClr val="990000"/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endParaRPr lang="zh-CN" altLang="en-US" kern="0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4" name="文本框 113"/>
          <p:cNvSpPr txBox="1"/>
          <p:nvPr/>
        </p:nvSpPr>
        <p:spPr bwMode="gray">
          <a:xfrm>
            <a:off x="2083450" y="2415981"/>
            <a:ext cx="1283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444">
              <a:defRPr/>
            </a:pPr>
            <a:r>
              <a:rPr lang="en-US" altLang="zh-CN" sz="1400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QoS</a:t>
            </a:r>
            <a:endParaRPr lang="zh-CN" altLang="en-US" sz="14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5" name="椭圆 114"/>
          <p:cNvSpPr/>
          <p:nvPr/>
        </p:nvSpPr>
        <p:spPr bwMode="gray">
          <a:xfrm>
            <a:off x="1554848" y="2710941"/>
            <a:ext cx="1789285" cy="709106"/>
          </a:xfrm>
          <a:prstGeom prst="ellipse">
            <a:avLst/>
          </a:prstGeom>
          <a:solidFill>
            <a:srgbClr val="D1EEF9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/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业务调度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22" name="椭圆 121"/>
          <p:cNvSpPr/>
          <p:nvPr/>
        </p:nvSpPr>
        <p:spPr bwMode="gray">
          <a:xfrm>
            <a:off x="8119465" y="2668803"/>
            <a:ext cx="1923092" cy="756221"/>
          </a:xfrm>
          <a:prstGeom prst="ellipse">
            <a:avLst/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/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   用户调度  </a:t>
            </a:r>
          </a:p>
        </p:txBody>
      </p:sp>
      <p:sp>
        <p:nvSpPr>
          <p:cNvPr id="123" name="椭圆 122"/>
          <p:cNvSpPr/>
          <p:nvPr/>
        </p:nvSpPr>
        <p:spPr bwMode="gray">
          <a:xfrm>
            <a:off x="5547272" y="2668361"/>
            <a:ext cx="1926026" cy="756221"/>
          </a:xfrm>
          <a:prstGeom prst="ellipse">
            <a:avLst/>
          </a:prstGeom>
          <a:solidFill>
            <a:srgbClr val="D1EEF9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/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业务调度</a:t>
            </a:r>
          </a:p>
        </p:txBody>
      </p:sp>
      <p:sp>
        <p:nvSpPr>
          <p:cNvPr id="124" name="文本框 123"/>
          <p:cNvSpPr txBox="1"/>
          <p:nvPr/>
        </p:nvSpPr>
        <p:spPr bwMode="gray">
          <a:xfrm>
            <a:off x="7551567" y="2387632"/>
            <a:ext cx="78397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1219444" fontAlgn="auto">
              <a:spcBef>
                <a:spcPts val="0"/>
              </a:spcBef>
              <a:spcAft>
                <a:spcPts val="0"/>
              </a:spcAft>
              <a:defRPr sz="1400" kern="0">
                <a:solidFill>
                  <a:prstClr val="black"/>
                </a:solidFill>
                <a:latin typeface="Calibri"/>
                <a:ea typeface="微软雅黑"/>
              </a:defRPr>
            </a:lvl1pPr>
          </a:lstStyle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HQoS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7618906" y="2943203"/>
            <a:ext cx="351892" cy="233555"/>
            <a:chOff x="3108650" y="530745"/>
            <a:chExt cx="636882" cy="636882"/>
          </a:xfrm>
          <a:solidFill>
            <a:srgbClr val="FFC000"/>
          </a:solidFill>
        </p:grpSpPr>
        <p:sp>
          <p:nvSpPr>
            <p:cNvPr id="120" name="加号 119"/>
            <p:cNvSpPr/>
            <p:nvPr/>
          </p:nvSpPr>
          <p:spPr bwMode="gray">
            <a:xfrm>
              <a:off x="3108650" y="530745"/>
              <a:ext cx="636882" cy="636882"/>
            </a:xfrm>
            <a:prstGeom prst="mathPlus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21" name="加号 4"/>
            <p:cNvSpPr/>
            <p:nvPr/>
          </p:nvSpPr>
          <p:spPr bwMode="gray">
            <a:xfrm>
              <a:off x="3193069" y="774289"/>
              <a:ext cx="468044" cy="149794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 bwMode="gray">
          <a:xfrm>
            <a:off x="1787373" y="3931958"/>
            <a:ext cx="628784" cy="1379164"/>
            <a:chOff x="1183544" y="1977994"/>
            <a:chExt cx="720000" cy="1179064"/>
          </a:xfrm>
        </p:grpSpPr>
        <p:sp>
          <p:nvSpPr>
            <p:cNvPr id="80" name="Rectangle 18"/>
            <p:cNvSpPr>
              <a:spLocks noChangeArrowheads="1"/>
            </p:cNvSpPr>
            <p:nvPr/>
          </p:nvSpPr>
          <p:spPr bwMode="gray">
            <a:xfrm>
              <a:off x="1183544" y="1977994"/>
              <a:ext cx="720000" cy="108000"/>
            </a:xfrm>
            <a:prstGeom prst="rect">
              <a:avLst/>
            </a:prstGeom>
            <a:solidFill>
              <a:srgbClr val="EC7061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1" name="Rectangle 19"/>
            <p:cNvSpPr>
              <a:spLocks noChangeArrowheads="1"/>
            </p:cNvSpPr>
            <p:nvPr/>
          </p:nvSpPr>
          <p:spPr bwMode="gray">
            <a:xfrm>
              <a:off x="1183544" y="2131003"/>
              <a:ext cx="720000" cy="108000"/>
            </a:xfrm>
            <a:prstGeom prst="rect">
              <a:avLst/>
            </a:prstGeom>
            <a:solidFill>
              <a:srgbClr val="FFD17D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2" name="Rectangle 20"/>
            <p:cNvSpPr>
              <a:spLocks noChangeArrowheads="1"/>
            </p:cNvSpPr>
            <p:nvPr/>
          </p:nvSpPr>
          <p:spPr bwMode="gray">
            <a:xfrm>
              <a:off x="1183544" y="2284012"/>
              <a:ext cx="720000" cy="108000"/>
            </a:xfrm>
            <a:prstGeom prst="rect">
              <a:avLst/>
            </a:prstGeom>
            <a:solidFill>
              <a:srgbClr val="FFF2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3" name="Rectangle 21"/>
            <p:cNvSpPr>
              <a:spLocks noChangeArrowheads="1"/>
            </p:cNvSpPr>
            <p:nvPr/>
          </p:nvSpPr>
          <p:spPr bwMode="gray">
            <a:xfrm>
              <a:off x="1183544" y="2437021"/>
              <a:ext cx="720000" cy="108000"/>
            </a:xfrm>
            <a:prstGeom prst="rect">
              <a:avLst/>
            </a:prstGeom>
            <a:solidFill>
              <a:srgbClr val="8BC9A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4" name="Rectangle 22"/>
            <p:cNvSpPr>
              <a:spLocks noChangeArrowheads="1"/>
            </p:cNvSpPr>
            <p:nvPr/>
          </p:nvSpPr>
          <p:spPr bwMode="gray">
            <a:xfrm>
              <a:off x="1183544" y="2590030"/>
              <a:ext cx="720000" cy="108000"/>
            </a:xfrm>
            <a:prstGeom prst="rect">
              <a:avLst/>
            </a:prstGeom>
            <a:solidFill>
              <a:srgbClr val="8BC9A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5" name="Rectangle 23"/>
            <p:cNvSpPr>
              <a:spLocks noChangeArrowheads="1"/>
            </p:cNvSpPr>
            <p:nvPr/>
          </p:nvSpPr>
          <p:spPr bwMode="gray">
            <a:xfrm>
              <a:off x="1183544" y="2743039"/>
              <a:ext cx="720000" cy="108000"/>
            </a:xfrm>
            <a:prstGeom prst="rect">
              <a:avLst/>
            </a:prstGeom>
            <a:solidFill>
              <a:srgbClr val="1AABE2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7" name="Rectangle 24"/>
            <p:cNvSpPr>
              <a:spLocks noChangeArrowheads="1"/>
            </p:cNvSpPr>
            <p:nvPr/>
          </p:nvSpPr>
          <p:spPr bwMode="gray">
            <a:xfrm>
              <a:off x="1183544" y="3049058"/>
              <a:ext cx="720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88" name="Rectangle 25"/>
            <p:cNvSpPr>
              <a:spLocks noChangeArrowheads="1"/>
            </p:cNvSpPr>
            <p:nvPr/>
          </p:nvSpPr>
          <p:spPr bwMode="gray">
            <a:xfrm>
              <a:off x="1183544" y="2896048"/>
              <a:ext cx="720000" cy="108000"/>
            </a:xfrm>
            <a:prstGeom prst="rect">
              <a:avLst/>
            </a:prstGeom>
            <a:solidFill>
              <a:srgbClr val="1AAB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89" name="AutoShape 163"/>
          <p:cNvSpPr>
            <a:spLocks noChangeArrowheads="1"/>
          </p:cNvSpPr>
          <p:nvPr/>
        </p:nvSpPr>
        <p:spPr bwMode="gray">
          <a:xfrm rot="5400000">
            <a:off x="1926165" y="4097554"/>
            <a:ext cx="1684384" cy="1047973"/>
          </a:xfrm>
          <a:prstGeom prst="can">
            <a:avLst>
              <a:gd name="adj" fmla="val 35134"/>
            </a:avLst>
          </a:prstGeom>
          <a:solidFill>
            <a:srgbClr val="D1EEF9"/>
          </a:solidFill>
          <a:ln w="12700">
            <a:noFill/>
            <a:round/>
            <a:headEnd/>
            <a:tailEnd/>
          </a:ln>
        </p:spPr>
        <p:txBody>
          <a:bodyPr rot="10800000" vert="eaVert" lIns="0" tIns="72000" rIns="36000" bIns="45714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681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36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043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724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4060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087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19768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4493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0" name="右箭头 89"/>
          <p:cNvSpPr/>
          <p:nvPr/>
        </p:nvSpPr>
        <p:spPr bwMode="gray">
          <a:xfrm>
            <a:off x="3842721" y="4014526"/>
            <a:ext cx="1494150" cy="616421"/>
          </a:xfrm>
          <a:prstGeom prst="rightArrow">
            <a:avLst/>
          </a:prstGeom>
          <a:solidFill>
            <a:srgbClr val="D1EEF9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3600" kern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1" name="TextBox 54"/>
          <p:cNvSpPr txBox="1"/>
          <p:nvPr/>
        </p:nvSpPr>
        <p:spPr bwMode="gray">
          <a:xfrm>
            <a:off x="1744745" y="5745117"/>
            <a:ext cx="12618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1219444">
              <a:defRPr/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业务级别调度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2375687" y="4207530"/>
            <a:ext cx="525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012" fontAlgn="b"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物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4012" fontAlgn="b"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理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4012" fontAlgn="b"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端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4012" fontAlgn="b">
              <a:defRPr/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口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3" name="AutoShape 163"/>
          <p:cNvSpPr>
            <a:spLocks noChangeArrowheads="1"/>
          </p:cNvSpPr>
          <p:nvPr/>
        </p:nvSpPr>
        <p:spPr bwMode="gray">
          <a:xfrm rot="5400000">
            <a:off x="5432159" y="4223322"/>
            <a:ext cx="1684384" cy="785980"/>
          </a:xfrm>
          <a:prstGeom prst="can">
            <a:avLst>
              <a:gd name="adj" fmla="val 50000"/>
            </a:avLst>
          </a:prstGeom>
          <a:solidFill>
            <a:srgbClr val="D1EEF9"/>
          </a:solidFill>
          <a:ln w="12700">
            <a:noFill/>
            <a:round/>
            <a:headEnd/>
            <a:tailEnd/>
          </a:ln>
        </p:spPr>
        <p:txBody>
          <a:bodyPr rot="10800000" vert="eaVert" lIns="0" tIns="72000" rIns="36000" bIns="45714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681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36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043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724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4060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087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19768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4493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4" name="AutoShape 163"/>
          <p:cNvSpPr>
            <a:spLocks noChangeArrowheads="1"/>
          </p:cNvSpPr>
          <p:nvPr/>
        </p:nvSpPr>
        <p:spPr bwMode="gray">
          <a:xfrm rot="5400000">
            <a:off x="5947670" y="4354319"/>
            <a:ext cx="1383066" cy="523986"/>
          </a:xfrm>
          <a:prstGeom prst="can">
            <a:avLst>
              <a:gd name="adj" fmla="val 50000"/>
            </a:avLst>
          </a:prstGeom>
          <a:solidFill>
            <a:srgbClr val="C5E4CF"/>
          </a:solidFill>
          <a:ln w="12700">
            <a:noFill/>
            <a:round/>
            <a:headEnd/>
            <a:tailEnd/>
          </a:ln>
        </p:spPr>
        <p:txBody>
          <a:bodyPr rot="10800000" vert="eaVert" lIns="0" tIns="72000" rIns="36000" bIns="45714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1pPr>
            <a:lvl2pPr marL="45681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2pPr>
            <a:lvl3pPr marL="91362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3pPr>
            <a:lvl4pPr marL="137043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4pPr>
            <a:lvl5pPr marL="182724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5pPr>
            <a:lvl6pPr marL="2284060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6pPr>
            <a:lvl7pPr marL="274087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7pPr>
            <a:lvl8pPr marL="3197684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8pPr>
            <a:lvl9pPr marL="3654493" algn="l" defTabSz="913625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charset="-122"/>
                <a:cs typeface="+mn-cs"/>
              </a:defRPr>
            </a:lvl9pPr>
          </a:lstStyle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 defTabSz="914012" fontAlgn="b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5" name="AutoShape 13"/>
          <p:cNvSpPr>
            <a:spLocks noChangeArrowheads="1"/>
          </p:cNvSpPr>
          <p:nvPr/>
        </p:nvSpPr>
        <p:spPr bwMode="gray">
          <a:xfrm rot="5400000">
            <a:off x="6595829" y="4174539"/>
            <a:ext cx="504952" cy="261993"/>
          </a:xfrm>
          <a:prstGeom prst="can">
            <a:avLst>
              <a:gd name="adj" fmla="val 35183"/>
            </a:avLst>
          </a:prstGeom>
          <a:solidFill>
            <a:srgbClr val="8CD5F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6" name="AutoShape 14"/>
          <p:cNvSpPr>
            <a:spLocks noChangeArrowheads="1"/>
          </p:cNvSpPr>
          <p:nvPr/>
        </p:nvSpPr>
        <p:spPr bwMode="gray">
          <a:xfrm rot="5400000">
            <a:off x="7016611" y="4223077"/>
            <a:ext cx="160016" cy="209595"/>
          </a:xfrm>
          <a:prstGeom prst="can">
            <a:avLst>
              <a:gd name="adj" fmla="val 41625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7" name="AutoShape 15"/>
          <p:cNvSpPr>
            <a:spLocks noChangeArrowheads="1"/>
          </p:cNvSpPr>
          <p:nvPr/>
        </p:nvSpPr>
        <p:spPr bwMode="gray">
          <a:xfrm rot="5400000">
            <a:off x="6944857" y="4131857"/>
            <a:ext cx="161531" cy="209595"/>
          </a:xfrm>
          <a:prstGeom prst="can">
            <a:avLst>
              <a:gd name="adj" fmla="val 44422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8" name="AutoShape 16"/>
          <p:cNvSpPr>
            <a:spLocks noChangeArrowheads="1"/>
          </p:cNvSpPr>
          <p:nvPr/>
        </p:nvSpPr>
        <p:spPr bwMode="gray">
          <a:xfrm rot="5400000">
            <a:off x="6945613" y="4291092"/>
            <a:ext cx="160016" cy="209595"/>
          </a:xfrm>
          <a:prstGeom prst="can">
            <a:avLst>
              <a:gd name="adj" fmla="val 44644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99" name="组合 98"/>
          <p:cNvGrpSpPr/>
          <p:nvPr/>
        </p:nvGrpSpPr>
        <p:grpSpPr bwMode="gray">
          <a:xfrm>
            <a:off x="7077207" y="4173161"/>
            <a:ext cx="314392" cy="105274"/>
            <a:chOff x="4208621" y="2927831"/>
            <a:chExt cx="576000" cy="858184"/>
          </a:xfrm>
        </p:grpSpPr>
        <p:sp>
          <p:nvSpPr>
            <p:cNvPr id="100" name="Rectangle 18"/>
            <p:cNvSpPr>
              <a:spLocks noChangeArrowheads="1"/>
            </p:cNvSpPr>
            <p:nvPr/>
          </p:nvSpPr>
          <p:spPr bwMode="gray">
            <a:xfrm>
              <a:off x="4208621" y="2927831"/>
              <a:ext cx="576000" cy="108000"/>
            </a:xfrm>
            <a:prstGeom prst="rect">
              <a:avLst/>
            </a:prstGeom>
            <a:solidFill>
              <a:srgbClr val="EC7061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01" name="Rectangle 19"/>
            <p:cNvSpPr>
              <a:spLocks noChangeArrowheads="1"/>
            </p:cNvSpPr>
            <p:nvPr/>
          </p:nvSpPr>
          <p:spPr bwMode="gray">
            <a:xfrm>
              <a:off x="4208621" y="3036390"/>
              <a:ext cx="576000" cy="108000"/>
            </a:xfrm>
            <a:prstGeom prst="rect">
              <a:avLst/>
            </a:prstGeom>
            <a:solidFill>
              <a:srgbClr val="FFD17D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gray">
            <a:xfrm>
              <a:off x="4208621" y="3141774"/>
              <a:ext cx="576000" cy="108000"/>
            </a:xfrm>
            <a:prstGeom prst="rect">
              <a:avLst/>
            </a:prstGeom>
            <a:solidFill>
              <a:srgbClr val="FFF2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03" name="Rectangle 21"/>
            <p:cNvSpPr>
              <a:spLocks noChangeArrowheads="1"/>
            </p:cNvSpPr>
            <p:nvPr/>
          </p:nvSpPr>
          <p:spPr bwMode="gray">
            <a:xfrm>
              <a:off x="4208621" y="3252319"/>
              <a:ext cx="576000" cy="108000"/>
            </a:xfrm>
            <a:prstGeom prst="rect">
              <a:avLst/>
            </a:prstGeom>
            <a:solidFill>
              <a:srgbClr val="8BC9A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04" name="Rectangle 22"/>
            <p:cNvSpPr>
              <a:spLocks noChangeArrowheads="1"/>
            </p:cNvSpPr>
            <p:nvPr/>
          </p:nvSpPr>
          <p:spPr bwMode="gray">
            <a:xfrm>
              <a:off x="4208621" y="3355158"/>
              <a:ext cx="576000" cy="108000"/>
            </a:xfrm>
            <a:prstGeom prst="rect">
              <a:avLst/>
            </a:prstGeom>
            <a:solidFill>
              <a:srgbClr val="8BC9A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4" name="Rectangle 23"/>
            <p:cNvSpPr>
              <a:spLocks noChangeArrowheads="1"/>
            </p:cNvSpPr>
            <p:nvPr/>
          </p:nvSpPr>
          <p:spPr bwMode="gray">
            <a:xfrm>
              <a:off x="4208621" y="3465167"/>
              <a:ext cx="576000" cy="108000"/>
            </a:xfrm>
            <a:prstGeom prst="rect">
              <a:avLst/>
            </a:prstGeom>
            <a:solidFill>
              <a:srgbClr val="1AABE2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5" name="Rectangle 24"/>
            <p:cNvSpPr>
              <a:spLocks noChangeArrowheads="1"/>
            </p:cNvSpPr>
            <p:nvPr/>
          </p:nvSpPr>
          <p:spPr bwMode="gray">
            <a:xfrm>
              <a:off x="4208621" y="3678015"/>
              <a:ext cx="57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6" name="Rectangle 25"/>
            <p:cNvSpPr>
              <a:spLocks noChangeArrowheads="1"/>
            </p:cNvSpPr>
            <p:nvPr/>
          </p:nvSpPr>
          <p:spPr bwMode="gray">
            <a:xfrm>
              <a:off x="4208621" y="3570118"/>
              <a:ext cx="576000" cy="108000"/>
            </a:xfrm>
            <a:prstGeom prst="rect">
              <a:avLst/>
            </a:prstGeom>
            <a:solidFill>
              <a:srgbClr val="1AAB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177" name="AutoShape 13"/>
          <p:cNvSpPr>
            <a:spLocks noChangeArrowheads="1"/>
          </p:cNvSpPr>
          <p:nvPr/>
        </p:nvSpPr>
        <p:spPr bwMode="gray">
          <a:xfrm rot="5400000">
            <a:off x="6618832" y="4758180"/>
            <a:ext cx="504952" cy="261993"/>
          </a:xfrm>
          <a:prstGeom prst="can">
            <a:avLst>
              <a:gd name="adj" fmla="val 35183"/>
            </a:avLst>
          </a:prstGeom>
          <a:solidFill>
            <a:srgbClr val="8CD5F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78" name="AutoShape 14"/>
          <p:cNvSpPr>
            <a:spLocks noChangeArrowheads="1"/>
          </p:cNvSpPr>
          <p:nvPr/>
        </p:nvSpPr>
        <p:spPr bwMode="gray">
          <a:xfrm rot="5400000">
            <a:off x="7039614" y="4806718"/>
            <a:ext cx="160016" cy="209595"/>
          </a:xfrm>
          <a:prstGeom prst="can">
            <a:avLst>
              <a:gd name="adj" fmla="val 41625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79" name="AutoShape 15"/>
          <p:cNvSpPr>
            <a:spLocks noChangeArrowheads="1"/>
          </p:cNvSpPr>
          <p:nvPr/>
        </p:nvSpPr>
        <p:spPr bwMode="gray">
          <a:xfrm rot="5400000">
            <a:off x="6968616" y="4714741"/>
            <a:ext cx="160016" cy="209595"/>
          </a:xfrm>
          <a:prstGeom prst="can">
            <a:avLst>
              <a:gd name="adj" fmla="val 44422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0" name="AutoShape 16"/>
          <p:cNvSpPr>
            <a:spLocks noChangeArrowheads="1"/>
          </p:cNvSpPr>
          <p:nvPr/>
        </p:nvSpPr>
        <p:spPr bwMode="gray">
          <a:xfrm rot="5400000">
            <a:off x="6968616" y="4874733"/>
            <a:ext cx="160016" cy="209595"/>
          </a:xfrm>
          <a:prstGeom prst="can">
            <a:avLst>
              <a:gd name="adj" fmla="val 44644"/>
            </a:avLst>
          </a:prstGeom>
          <a:solidFill>
            <a:srgbClr val="F5B7B0"/>
          </a:solidFill>
          <a:ln w="9525">
            <a:noFill/>
            <a:round/>
            <a:headEnd/>
            <a:tailEnd/>
          </a:ln>
        </p:spPr>
        <p:txBody>
          <a:bodyPr wrap="none" lIns="91433" tIns="45717" rIns="91433" bIns="45717" anchor="ctr"/>
          <a:lstStyle/>
          <a:p>
            <a:pPr defTabSz="914329">
              <a:defRPr/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81" name="组合 180"/>
          <p:cNvGrpSpPr/>
          <p:nvPr/>
        </p:nvGrpSpPr>
        <p:grpSpPr bwMode="gray">
          <a:xfrm>
            <a:off x="7100210" y="4764230"/>
            <a:ext cx="314392" cy="105274"/>
            <a:chOff x="4208621" y="2927831"/>
            <a:chExt cx="576000" cy="858184"/>
          </a:xfrm>
        </p:grpSpPr>
        <p:sp>
          <p:nvSpPr>
            <p:cNvPr id="182" name="Rectangle 18"/>
            <p:cNvSpPr>
              <a:spLocks noChangeArrowheads="1"/>
            </p:cNvSpPr>
            <p:nvPr/>
          </p:nvSpPr>
          <p:spPr bwMode="gray">
            <a:xfrm>
              <a:off x="4208621" y="2927831"/>
              <a:ext cx="576000" cy="108000"/>
            </a:xfrm>
            <a:prstGeom prst="rect">
              <a:avLst/>
            </a:prstGeom>
            <a:solidFill>
              <a:srgbClr val="EC7061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3" name="Rectangle 19"/>
            <p:cNvSpPr>
              <a:spLocks noChangeArrowheads="1"/>
            </p:cNvSpPr>
            <p:nvPr/>
          </p:nvSpPr>
          <p:spPr bwMode="gray">
            <a:xfrm>
              <a:off x="4208621" y="3036390"/>
              <a:ext cx="576000" cy="108000"/>
            </a:xfrm>
            <a:prstGeom prst="rect">
              <a:avLst/>
            </a:prstGeom>
            <a:solidFill>
              <a:srgbClr val="FFD17D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4" name="Rectangle 20"/>
            <p:cNvSpPr>
              <a:spLocks noChangeArrowheads="1"/>
            </p:cNvSpPr>
            <p:nvPr/>
          </p:nvSpPr>
          <p:spPr bwMode="gray">
            <a:xfrm>
              <a:off x="4208621" y="3141774"/>
              <a:ext cx="576000" cy="108000"/>
            </a:xfrm>
            <a:prstGeom prst="rect">
              <a:avLst/>
            </a:prstGeom>
            <a:solidFill>
              <a:srgbClr val="FFF2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5" name="Rectangle 21"/>
            <p:cNvSpPr>
              <a:spLocks noChangeArrowheads="1"/>
            </p:cNvSpPr>
            <p:nvPr/>
          </p:nvSpPr>
          <p:spPr bwMode="gray">
            <a:xfrm>
              <a:off x="4208621" y="3252319"/>
              <a:ext cx="576000" cy="108000"/>
            </a:xfrm>
            <a:prstGeom prst="rect">
              <a:avLst/>
            </a:prstGeom>
            <a:solidFill>
              <a:srgbClr val="8BC9A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6" name="Rectangle 22"/>
            <p:cNvSpPr>
              <a:spLocks noChangeArrowheads="1"/>
            </p:cNvSpPr>
            <p:nvPr/>
          </p:nvSpPr>
          <p:spPr bwMode="gray">
            <a:xfrm>
              <a:off x="4208621" y="3355158"/>
              <a:ext cx="576000" cy="108000"/>
            </a:xfrm>
            <a:prstGeom prst="rect">
              <a:avLst/>
            </a:prstGeom>
            <a:solidFill>
              <a:srgbClr val="8BC9A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7" name="Rectangle 23"/>
            <p:cNvSpPr>
              <a:spLocks noChangeArrowheads="1"/>
            </p:cNvSpPr>
            <p:nvPr/>
          </p:nvSpPr>
          <p:spPr bwMode="gray">
            <a:xfrm>
              <a:off x="4208621" y="3465167"/>
              <a:ext cx="576000" cy="108000"/>
            </a:xfrm>
            <a:prstGeom prst="rect">
              <a:avLst/>
            </a:prstGeom>
            <a:solidFill>
              <a:srgbClr val="1AABE2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8" name="Rectangle 24"/>
            <p:cNvSpPr>
              <a:spLocks noChangeArrowheads="1"/>
            </p:cNvSpPr>
            <p:nvPr/>
          </p:nvSpPr>
          <p:spPr bwMode="gray">
            <a:xfrm>
              <a:off x="4208621" y="3678015"/>
              <a:ext cx="57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9" name="Rectangle 25"/>
            <p:cNvSpPr>
              <a:spLocks noChangeArrowheads="1"/>
            </p:cNvSpPr>
            <p:nvPr/>
          </p:nvSpPr>
          <p:spPr bwMode="gray">
            <a:xfrm>
              <a:off x="4208621" y="3570118"/>
              <a:ext cx="576000" cy="108000"/>
            </a:xfrm>
            <a:prstGeom prst="rect">
              <a:avLst/>
            </a:prstGeom>
            <a:solidFill>
              <a:srgbClr val="1AAB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329">
                <a:defRPr/>
              </a:pP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190" name="TextBox 54"/>
          <p:cNvSpPr txBox="1"/>
          <p:nvPr/>
        </p:nvSpPr>
        <p:spPr bwMode="gray">
          <a:xfrm>
            <a:off x="7868417" y="5796278"/>
            <a:ext cx="2715487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1219444">
              <a:buClr>
                <a:srgbClr val="000000">
                  <a:lumMod val="50000"/>
                  <a:lumOff val="50000"/>
                </a:srgbClr>
              </a:buClr>
              <a:buSzPct val="60000"/>
              <a:defRPr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DQ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Dummy Port Queue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端口队列）</a:t>
            </a:r>
          </a:p>
        </p:txBody>
      </p:sp>
      <p:sp>
        <p:nvSpPr>
          <p:cNvPr id="191" name="TextBox 55"/>
          <p:cNvSpPr txBox="1"/>
          <p:nvPr/>
        </p:nvSpPr>
        <p:spPr bwMode="gray">
          <a:xfrm>
            <a:off x="7868416" y="5476855"/>
            <a:ext cx="301845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Virtual Interface Queue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，虚拟口队列）</a:t>
            </a:r>
          </a:p>
        </p:txBody>
      </p:sp>
      <p:sp>
        <p:nvSpPr>
          <p:cNvPr id="192" name="TextBox 56"/>
          <p:cNvSpPr txBox="1"/>
          <p:nvPr/>
        </p:nvSpPr>
        <p:spPr bwMode="gray">
          <a:xfrm>
            <a:off x="7868417" y="5157432"/>
            <a:ext cx="24045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1219444">
              <a:buClr>
                <a:srgbClr val="000000">
                  <a:lumMod val="50000"/>
                  <a:lumOff val="50000"/>
                </a:srgbClr>
              </a:buClr>
              <a:buSzPct val="60000"/>
              <a:defRPr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Group Queue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用户组队列）</a:t>
            </a:r>
          </a:p>
        </p:txBody>
      </p:sp>
      <p:sp>
        <p:nvSpPr>
          <p:cNvPr id="193" name="TextBox 57"/>
          <p:cNvSpPr txBox="1"/>
          <p:nvPr/>
        </p:nvSpPr>
        <p:spPr bwMode="gray">
          <a:xfrm>
            <a:off x="7868417" y="4475322"/>
            <a:ext cx="251030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1219444">
              <a:buClr>
                <a:srgbClr val="000000">
                  <a:lumMod val="50000"/>
                  <a:lumOff val="50000"/>
                </a:srgbClr>
              </a:buClr>
              <a:buSzPct val="60000"/>
              <a:defRPr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Subscriber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，用户队列）</a:t>
            </a:r>
          </a:p>
        </p:txBody>
      </p:sp>
      <p:sp>
        <p:nvSpPr>
          <p:cNvPr id="194" name="TextBox 58"/>
          <p:cNvSpPr txBox="1"/>
          <p:nvPr/>
        </p:nvSpPr>
        <p:spPr bwMode="gray">
          <a:xfrm>
            <a:off x="7868416" y="4167768"/>
            <a:ext cx="212237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1219444">
              <a:buClr>
                <a:srgbClr val="000000">
                  <a:lumMod val="50000"/>
                  <a:lumOff val="50000"/>
                </a:srgbClr>
              </a:buClr>
              <a:buSzPct val="60000"/>
              <a:defRPr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FQ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Flow Queue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业务队列）</a:t>
            </a:r>
          </a:p>
        </p:txBody>
      </p:sp>
      <p:cxnSp>
        <p:nvCxnSpPr>
          <p:cNvPr id="195" name="直接连接符 194"/>
          <p:cNvCxnSpPr>
            <a:stCxn id="174" idx="3"/>
            <a:endCxn id="194" idx="1"/>
          </p:cNvCxnSpPr>
          <p:nvPr/>
        </p:nvCxnSpPr>
        <p:spPr bwMode="gray">
          <a:xfrm>
            <a:off x="7391599" y="4245700"/>
            <a:ext cx="476817" cy="14401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肘形连接符 195"/>
          <p:cNvCxnSpPr>
            <a:stCxn id="98" idx="4"/>
            <a:endCxn id="193" idx="1"/>
          </p:cNvCxnSpPr>
          <p:nvPr/>
        </p:nvCxnSpPr>
        <p:spPr bwMode="gray">
          <a:xfrm rot="16200000" flipH="1">
            <a:off x="7401141" y="4100378"/>
            <a:ext cx="91757" cy="842796"/>
          </a:xfrm>
          <a:prstGeom prst="bentConnector2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肘形连接符 196"/>
          <p:cNvCxnSpPr>
            <a:stCxn id="177" idx="4"/>
            <a:endCxn id="192" idx="1"/>
          </p:cNvCxnSpPr>
          <p:nvPr/>
        </p:nvCxnSpPr>
        <p:spPr bwMode="gray">
          <a:xfrm rot="16200000" flipH="1">
            <a:off x="7315806" y="4697154"/>
            <a:ext cx="108112" cy="997109"/>
          </a:xfrm>
          <a:prstGeom prst="bentConnector2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肘形连接符 197"/>
          <p:cNvCxnSpPr>
            <a:stCxn id="94" idx="4"/>
            <a:endCxn id="191" idx="1"/>
          </p:cNvCxnSpPr>
          <p:nvPr/>
        </p:nvCxnSpPr>
        <p:spPr bwMode="gray">
          <a:xfrm rot="16200000" flipH="1">
            <a:off x="7123138" y="4823909"/>
            <a:ext cx="261343" cy="1229213"/>
          </a:xfrm>
          <a:prstGeom prst="bentConnector2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肘形连接符 198"/>
          <p:cNvCxnSpPr>
            <a:stCxn id="93" idx="4"/>
            <a:endCxn id="190" idx="1"/>
          </p:cNvCxnSpPr>
          <p:nvPr/>
        </p:nvCxnSpPr>
        <p:spPr bwMode="gray">
          <a:xfrm rot="16200000" flipH="1">
            <a:off x="6856331" y="4876524"/>
            <a:ext cx="430107" cy="1594066"/>
          </a:xfrm>
          <a:prstGeom prst="bentConnector2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椭圆 199"/>
          <p:cNvSpPr>
            <a:spLocks noChangeAspect="1"/>
          </p:cNvSpPr>
          <p:nvPr/>
        </p:nvSpPr>
        <p:spPr bwMode="gray">
          <a:xfrm>
            <a:off x="7531988" y="4155887"/>
            <a:ext cx="261993" cy="210548"/>
          </a:xfrm>
          <a:prstGeom prst="ellipse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1" name="椭圆 200"/>
          <p:cNvSpPr>
            <a:spLocks noChangeAspect="1"/>
          </p:cNvSpPr>
          <p:nvPr/>
        </p:nvSpPr>
        <p:spPr bwMode="gray">
          <a:xfrm>
            <a:off x="7531988" y="4444183"/>
            <a:ext cx="261993" cy="210548"/>
          </a:xfrm>
          <a:prstGeom prst="ellipse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2" name="椭圆 201"/>
          <p:cNvSpPr>
            <a:spLocks noChangeAspect="1"/>
          </p:cNvSpPr>
          <p:nvPr/>
        </p:nvSpPr>
        <p:spPr bwMode="gray">
          <a:xfrm>
            <a:off x="7531988" y="5094092"/>
            <a:ext cx="261993" cy="210548"/>
          </a:xfrm>
          <a:prstGeom prst="ellipse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3" name="椭圆 202"/>
          <p:cNvSpPr>
            <a:spLocks noChangeAspect="1"/>
          </p:cNvSpPr>
          <p:nvPr/>
        </p:nvSpPr>
        <p:spPr bwMode="gray">
          <a:xfrm>
            <a:off x="7531988" y="5432019"/>
            <a:ext cx="261993" cy="210548"/>
          </a:xfrm>
          <a:prstGeom prst="ellipse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4" name="椭圆 203"/>
          <p:cNvSpPr>
            <a:spLocks noChangeAspect="1"/>
          </p:cNvSpPr>
          <p:nvPr/>
        </p:nvSpPr>
        <p:spPr bwMode="gray">
          <a:xfrm>
            <a:off x="7531988" y="5766742"/>
            <a:ext cx="261993" cy="210548"/>
          </a:xfrm>
          <a:prstGeom prst="ellipse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1308100" y="2349500"/>
            <a:ext cx="2311400" cy="3794834"/>
          </a:xfrm>
          <a:prstGeom prst="rect">
            <a:avLst/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5530890" y="2349500"/>
            <a:ext cx="5443046" cy="3794834"/>
          </a:xfrm>
          <a:prstGeom prst="rect">
            <a:avLst/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五边形 108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燕尾形 10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燕尾形 110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35516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en-US" altLang="zh-CN" kern="0" dirty="0" err="1">
                <a:cs typeface="+mn-ea"/>
                <a:sym typeface="Huawei Sans" panose="020C0503030203020204" pitchFamily="34" charset="0"/>
              </a:rPr>
              <a:t>HQoS</a:t>
            </a:r>
            <a:r>
              <a:rPr lang="zh-CN" altLang="en-US" kern="0" dirty="0">
                <a:cs typeface="+mn-ea"/>
                <a:sym typeface="Huawei Sans" panose="020C0503030203020204" pitchFamily="34" charset="0"/>
              </a:rPr>
              <a:t>各调度器</a:t>
            </a:r>
            <a:r>
              <a:rPr lang="en-US" altLang="zh-CN" kern="0" dirty="0">
                <a:cs typeface="+mn-ea"/>
                <a:sym typeface="Huawei Sans" panose="020C0503030203020204" pitchFamily="34" charset="0"/>
              </a:rPr>
              <a:t>CIR</a:t>
            </a:r>
            <a:r>
              <a:rPr lang="zh-CN" altLang="en-US" kern="0" dirty="0">
                <a:cs typeface="+mn-ea"/>
                <a:sym typeface="Huawei Sans" panose="020C0503030203020204" pitchFamily="34" charset="0"/>
              </a:rPr>
              <a:t>不超配，提供用户级带宽保障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>
                <a:sym typeface="Huawei Sans" panose="020C0503030203020204" pitchFamily="34" charset="0"/>
              </a:rPr>
              <a:t>HQoS</a:t>
            </a:r>
            <a:r>
              <a:rPr lang="zh-CN" altLang="en-US" sz="1800" dirty="0">
                <a:sym typeface="Huawei Sans" panose="020C0503030203020204" pitchFamily="34" charset="0"/>
              </a:rPr>
              <a:t>增加了</a:t>
            </a:r>
            <a:r>
              <a:rPr lang="en-US" altLang="zh-CN" sz="1800" dirty="0">
                <a:sym typeface="Huawei Sans" panose="020C0503030203020204" pitchFamily="34" charset="0"/>
              </a:rPr>
              <a:t>SQ/GP/VI</a:t>
            </a:r>
            <a:r>
              <a:rPr lang="zh-CN" altLang="en-US" sz="1800" dirty="0">
                <a:sym typeface="Huawei Sans" panose="020C0503030203020204" pitchFamily="34" charset="0"/>
              </a:rPr>
              <a:t>等层次化调度器，每个调度器都有</a:t>
            </a:r>
            <a:r>
              <a:rPr lang="en-US" altLang="zh-CN" sz="1800" dirty="0">
                <a:sym typeface="Huawei Sans" panose="020C0503030203020204" pitchFamily="34" charset="0"/>
              </a:rPr>
              <a:t>CIR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PIR</a:t>
            </a:r>
            <a:r>
              <a:rPr lang="zh-CN" altLang="en-US" sz="1800" dirty="0">
                <a:sym typeface="Huawei Sans" panose="020C0503030203020204" pitchFamily="34" charset="0"/>
              </a:rPr>
              <a:t>两个属性，</a:t>
            </a:r>
            <a:r>
              <a:rPr lang="en-US" altLang="zh-CN" sz="1800" dirty="0">
                <a:sym typeface="Huawei Sans" panose="020C0503030203020204" pitchFamily="34" charset="0"/>
              </a:rPr>
              <a:t>CIR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PIR</a:t>
            </a:r>
            <a:r>
              <a:rPr lang="zh-CN" altLang="en-US" sz="1800" dirty="0">
                <a:sym typeface="Huawei Sans" panose="020C0503030203020204" pitchFamily="34" charset="0"/>
              </a:rPr>
              <a:t>间采用</a:t>
            </a:r>
            <a:r>
              <a:rPr lang="en-US" altLang="zh-CN" sz="1800" dirty="0">
                <a:sym typeface="Huawei Sans" panose="020C0503030203020204" pitchFamily="34" charset="0"/>
              </a:rPr>
              <a:t>SP</a:t>
            </a:r>
            <a:r>
              <a:rPr lang="zh-CN" altLang="en-US" sz="1800" dirty="0">
                <a:sym typeface="Huawei Sans" panose="020C0503030203020204" pitchFamily="34" charset="0"/>
              </a:rPr>
              <a:t>调度，优先保障</a:t>
            </a:r>
            <a:r>
              <a:rPr lang="en-US" altLang="zh-CN" sz="1800" dirty="0">
                <a:sym typeface="Huawei Sans" panose="020C0503030203020204" pitchFamily="34" charset="0"/>
              </a:rPr>
              <a:t>CIR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</a:p>
          <a:p>
            <a:r>
              <a:rPr lang="en-US" altLang="zh-CN" sz="1800" dirty="0" err="1">
                <a:sym typeface="Huawei Sans" panose="020C0503030203020204" pitchFamily="34" charset="0"/>
              </a:rPr>
              <a:t>HQoS</a:t>
            </a:r>
            <a:r>
              <a:rPr lang="zh-CN" altLang="en-US" sz="1800" dirty="0">
                <a:sym typeface="Huawei Sans" panose="020C0503030203020204" pitchFamily="34" charset="0"/>
              </a:rPr>
              <a:t>的带宽保障通过</a:t>
            </a:r>
            <a:r>
              <a:rPr lang="en-US" altLang="zh-CN" sz="1800" dirty="0">
                <a:sym typeface="Huawei Sans" panose="020C0503030203020204" pitchFamily="34" charset="0"/>
              </a:rPr>
              <a:t>CIR</a:t>
            </a:r>
            <a:r>
              <a:rPr lang="zh-CN" altLang="en-US" sz="1800" dirty="0">
                <a:sym typeface="Huawei Sans" panose="020C0503030203020204" pitchFamily="34" charset="0"/>
              </a:rPr>
              <a:t>严格扣减和</a:t>
            </a:r>
            <a:r>
              <a:rPr lang="en-US" altLang="zh-CN" sz="1800" dirty="0">
                <a:sym typeface="Huawei Sans" panose="020C0503030203020204" pitchFamily="34" charset="0"/>
              </a:rPr>
              <a:t>Shaping</a:t>
            </a:r>
            <a:r>
              <a:rPr lang="zh-CN" altLang="en-US" sz="1800" dirty="0">
                <a:sym typeface="Huawei Sans" panose="020C0503030203020204" pitchFamily="34" charset="0"/>
              </a:rPr>
              <a:t>进行保障，所有调度器的</a:t>
            </a:r>
            <a:r>
              <a:rPr lang="en-US" altLang="zh-CN" sz="1800" dirty="0">
                <a:sym typeface="Huawei Sans" panose="020C0503030203020204" pitchFamily="34" charset="0"/>
              </a:rPr>
              <a:t>CIR</a:t>
            </a:r>
            <a:r>
              <a:rPr lang="zh-CN" altLang="en-US" sz="1800" dirty="0">
                <a:sym typeface="Huawei Sans" panose="020C0503030203020204" pitchFamily="34" charset="0"/>
              </a:rPr>
              <a:t>之和小于端口带宽。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56" name="Rectangle 8"/>
          <p:cNvSpPr>
            <a:spLocks noChangeArrowheads="1"/>
          </p:cNvSpPr>
          <p:nvPr/>
        </p:nvSpPr>
        <p:spPr bwMode="gray">
          <a:xfrm>
            <a:off x="1041400" y="2628617"/>
            <a:ext cx="1889343" cy="2287187"/>
          </a:xfrm>
          <a:prstGeom prst="rect">
            <a:avLst/>
          </a:prstGeom>
          <a:noFill/>
          <a:ln w="12700" algn="ctr">
            <a:solidFill>
              <a:srgbClr val="1AABE2">
                <a:alpha val="20000"/>
              </a:srgbClr>
            </a:solidFill>
            <a:miter lim="800000"/>
            <a:headEnd/>
            <a:tailEnd/>
          </a:ln>
        </p:spPr>
        <p:txBody>
          <a:bodyPr lIns="68495" tIns="34247" rIns="68495" bIns="34247" anchor="t">
            <a:no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7" name="Rectangle 8"/>
          <p:cNvSpPr>
            <a:spLocks noChangeArrowheads="1"/>
          </p:cNvSpPr>
          <p:nvPr/>
        </p:nvSpPr>
        <p:spPr bwMode="gray">
          <a:xfrm>
            <a:off x="9801140" y="2557177"/>
            <a:ext cx="1108160" cy="2287187"/>
          </a:xfrm>
          <a:prstGeom prst="rect">
            <a:avLst/>
          </a:prstGeom>
          <a:noFill/>
          <a:ln w="12700" algn="ctr">
            <a:solidFill>
              <a:srgbClr val="1AABE2">
                <a:alpha val="20000"/>
              </a:srgbClr>
            </a:solidFill>
            <a:miter lim="800000"/>
            <a:headEnd/>
            <a:tailEnd/>
          </a:ln>
        </p:spPr>
        <p:txBody>
          <a:bodyPr lIns="68495" tIns="34247" rIns="68495" bIns="34247" anchor="t">
            <a:no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8" name="Rectangle 8"/>
          <p:cNvSpPr>
            <a:spLocks noChangeArrowheads="1"/>
          </p:cNvSpPr>
          <p:nvPr/>
        </p:nvSpPr>
        <p:spPr bwMode="gray">
          <a:xfrm>
            <a:off x="8458250" y="2557177"/>
            <a:ext cx="949931" cy="2287187"/>
          </a:xfrm>
          <a:prstGeom prst="rect">
            <a:avLst/>
          </a:prstGeom>
          <a:noFill/>
          <a:ln w="12700" algn="ctr">
            <a:solidFill>
              <a:srgbClr val="1AABE2">
                <a:alpha val="20000"/>
              </a:srgbClr>
            </a:solidFill>
            <a:miter lim="800000"/>
            <a:headEnd/>
            <a:tailEnd/>
          </a:ln>
        </p:spPr>
        <p:txBody>
          <a:bodyPr lIns="68495" tIns="34247" rIns="68495" bIns="34247" anchor="t">
            <a:no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59" name="Rectangle 8"/>
          <p:cNvSpPr>
            <a:spLocks noChangeArrowheads="1"/>
          </p:cNvSpPr>
          <p:nvPr/>
        </p:nvSpPr>
        <p:spPr bwMode="gray">
          <a:xfrm>
            <a:off x="7123343" y="2422509"/>
            <a:ext cx="910351" cy="2987958"/>
          </a:xfrm>
          <a:prstGeom prst="rect">
            <a:avLst/>
          </a:prstGeom>
          <a:noFill/>
          <a:ln w="12700" algn="ctr">
            <a:solidFill>
              <a:srgbClr val="1AABE2">
                <a:alpha val="20000"/>
              </a:srgbClr>
            </a:solidFill>
            <a:miter lim="800000"/>
            <a:headEnd/>
            <a:tailEnd/>
          </a:ln>
        </p:spPr>
        <p:txBody>
          <a:bodyPr lIns="68495" tIns="34247" rIns="68495" bIns="34247" anchor="t">
            <a:no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60" name="Rectangle 8"/>
          <p:cNvSpPr>
            <a:spLocks noChangeArrowheads="1"/>
          </p:cNvSpPr>
          <p:nvPr/>
        </p:nvSpPr>
        <p:spPr bwMode="gray">
          <a:xfrm>
            <a:off x="6162840" y="2422509"/>
            <a:ext cx="688346" cy="2991546"/>
          </a:xfrm>
          <a:prstGeom prst="rect">
            <a:avLst/>
          </a:prstGeom>
          <a:noFill/>
          <a:ln w="12700" algn="ctr">
            <a:solidFill>
              <a:srgbClr val="1AABE2">
                <a:alpha val="20000"/>
              </a:srgbClr>
            </a:solidFill>
            <a:miter lim="800000"/>
            <a:headEnd/>
            <a:tailEnd/>
          </a:ln>
        </p:spPr>
        <p:txBody>
          <a:bodyPr lIns="68495" tIns="34247" rIns="68495" bIns="34247" anchor="t">
            <a:noAutofit/>
          </a:bodyPr>
          <a:lstStyle/>
          <a:p>
            <a:pPr algn="ctr"/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61" name="矩形 1"/>
          <p:cNvSpPr/>
          <p:nvPr/>
        </p:nvSpPr>
        <p:spPr bwMode="gray">
          <a:xfrm>
            <a:off x="1551969" y="2862463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802.1P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63" name="矩形 107"/>
          <p:cNvSpPr/>
          <p:nvPr/>
        </p:nvSpPr>
        <p:spPr bwMode="gray">
          <a:xfrm>
            <a:off x="1551969" y="3169655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DSCP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65" name="Text Box 26"/>
          <p:cNvSpPr txBox="1">
            <a:spLocks noChangeArrowheads="1"/>
          </p:cNvSpPr>
          <p:nvPr/>
        </p:nvSpPr>
        <p:spPr bwMode="gray">
          <a:xfrm>
            <a:off x="4736667" y="2422508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CS7</a:t>
            </a:r>
          </a:p>
        </p:txBody>
      </p:sp>
      <p:sp>
        <p:nvSpPr>
          <p:cNvPr id="166" name="Text Box 26"/>
          <p:cNvSpPr txBox="1">
            <a:spLocks noChangeArrowheads="1"/>
          </p:cNvSpPr>
          <p:nvPr/>
        </p:nvSpPr>
        <p:spPr bwMode="gray">
          <a:xfrm>
            <a:off x="4736667" y="260248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CS6</a:t>
            </a:r>
          </a:p>
        </p:txBody>
      </p:sp>
      <p:sp>
        <p:nvSpPr>
          <p:cNvPr id="167" name="Text Box 26"/>
          <p:cNvSpPr txBox="1">
            <a:spLocks noChangeArrowheads="1"/>
          </p:cNvSpPr>
          <p:nvPr/>
        </p:nvSpPr>
        <p:spPr bwMode="gray">
          <a:xfrm>
            <a:off x="4736667" y="282418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EF</a:t>
            </a:r>
          </a:p>
        </p:txBody>
      </p:sp>
      <p:sp>
        <p:nvSpPr>
          <p:cNvPr id="168" name="Text Box 26"/>
          <p:cNvSpPr txBox="1">
            <a:spLocks noChangeArrowheads="1"/>
          </p:cNvSpPr>
          <p:nvPr/>
        </p:nvSpPr>
        <p:spPr bwMode="gray">
          <a:xfrm>
            <a:off x="4736667" y="304587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AF4</a:t>
            </a:r>
          </a:p>
        </p:txBody>
      </p:sp>
      <p:sp>
        <p:nvSpPr>
          <p:cNvPr id="169" name="Text Box 26"/>
          <p:cNvSpPr txBox="1">
            <a:spLocks noChangeArrowheads="1"/>
          </p:cNvSpPr>
          <p:nvPr/>
        </p:nvSpPr>
        <p:spPr bwMode="gray">
          <a:xfrm>
            <a:off x="4736667" y="326757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AF3</a:t>
            </a:r>
          </a:p>
        </p:txBody>
      </p:sp>
      <p:sp>
        <p:nvSpPr>
          <p:cNvPr id="170" name="Text Box 26"/>
          <p:cNvSpPr txBox="1">
            <a:spLocks noChangeArrowheads="1"/>
          </p:cNvSpPr>
          <p:nvPr/>
        </p:nvSpPr>
        <p:spPr bwMode="gray">
          <a:xfrm>
            <a:off x="4736667" y="348926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AF2</a:t>
            </a:r>
          </a:p>
        </p:txBody>
      </p:sp>
      <p:sp>
        <p:nvSpPr>
          <p:cNvPr id="171" name="Text Box 26"/>
          <p:cNvSpPr txBox="1">
            <a:spLocks noChangeArrowheads="1"/>
          </p:cNvSpPr>
          <p:nvPr/>
        </p:nvSpPr>
        <p:spPr bwMode="gray">
          <a:xfrm>
            <a:off x="4736667" y="371096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AF1</a:t>
            </a:r>
          </a:p>
        </p:txBody>
      </p:sp>
      <p:sp>
        <p:nvSpPr>
          <p:cNvPr id="172" name="Text Box 26"/>
          <p:cNvSpPr txBox="1">
            <a:spLocks noChangeArrowheads="1"/>
          </p:cNvSpPr>
          <p:nvPr/>
        </p:nvSpPr>
        <p:spPr bwMode="gray">
          <a:xfrm>
            <a:off x="4736667" y="393265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BE</a:t>
            </a:r>
          </a:p>
        </p:txBody>
      </p:sp>
      <p:sp>
        <p:nvSpPr>
          <p:cNvPr id="173" name="Text Box 26"/>
          <p:cNvSpPr txBox="1">
            <a:spLocks noChangeArrowheads="1"/>
          </p:cNvSpPr>
          <p:nvPr/>
        </p:nvSpPr>
        <p:spPr bwMode="gray">
          <a:xfrm>
            <a:off x="4736667" y="415435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CS7</a:t>
            </a:r>
          </a:p>
        </p:txBody>
      </p:sp>
      <p:sp>
        <p:nvSpPr>
          <p:cNvPr id="174" name="Text Box 26"/>
          <p:cNvSpPr txBox="1">
            <a:spLocks noChangeArrowheads="1"/>
          </p:cNvSpPr>
          <p:nvPr/>
        </p:nvSpPr>
        <p:spPr bwMode="gray">
          <a:xfrm>
            <a:off x="4736667" y="437604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AF4</a:t>
            </a:r>
          </a:p>
        </p:txBody>
      </p:sp>
      <p:sp>
        <p:nvSpPr>
          <p:cNvPr id="175" name="Text Box 26"/>
          <p:cNvSpPr txBox="1">
            <a:spLocks noChangeArrowheads="1"/>
          </p:cNvSpPr>
          <p:nvPr/>
        </p:nvSpPr>
        <p:spPr bwMode="gray">
          <a:xfrm>
            <a:off x="4736667" y="459774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BE</a:t>
            </a:r>
          </a:p>
        </p:txBody>
      </p:sp>
      <p:sp>
        <p:nvSpPr>
          <p:cNvPr id="176" name="Text Box 26"/>
          <p:cNvSpPr txBox="1">
            <a:spLocks noChangeArrowheads="1"/>
          </p:cNvSpPr>
          <p:nvPr/>
        </p:nvSpPr>
        <p:spPr bwMode="gray">
          <a:xfrm>
            <a:off x="4736667" y="4819439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CS7</a:t>
            </a:r>
          </a:p>
        </p:txBody>
      </p:sp>
      <p:sp>
        <p:nvSpPr>
          <p:cNvPr id="177" name="Text Box 26"/>
          <p:cNvSpPr txBox="1">
            <a:spLocks noChangeArrowheads="1"/>
          </p:cNvSpPr>
          <p:nvPr/>
        </p:nvSpPr>
        <p:spPr bwMode="gray">
          <a:xfrm>
            <a:off x="4736667" y="5041134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AF4</a:t>
            </a:r>
          </a:p>
        </p:txBody>
      </p:sp>
      <p:sp>
        <p:nvSpPr>
          <p:cNvPr id="178" name="Text Box 26"/>
          <p:cNvSpPr txBox="1">
            <a:spLocks noChangeArrowheads="1"/>
          </p:cNvSpPr>
          <p:nvPr/>
        </p:nvSpPr>
        <p:spPr bwMode="gray">
          <a:xfrm>
            <a:off x="4736667" y="5262823"/>
            <a:ext cx="1065600" cy="18466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Queue BE</a:t>
            </a:r>
          </a:p>
        </p:txBody>
      </p:sp>
      <p:sp>
        <p:nvSpPr>
          <p:cNvPr id="179" name="AutoShape 28"/>
          <p:cNvSpPr>
            <a:spLocks noChangeArrowheads="1"/>
          </p:cNvSpPr>
          <p:nvPr/>
        </p:nvSpPr>
        <p:spPr bwMode="gray">
          <a:xfrm rot="5400000">
            <a:off x="4057395" y="3806035"/>
            <a:ext cx="162000" cy="792000"/>
          </a:xfrm>
          <a:prstGeom prst="can">
            <a:avLst>
              <a:gd name="adj" fmla="val 24043"/>
            </a:avLst>
          </a:prstGeom>
          <a:solidFill>
            <a:srgbClr val="8BC9A0"/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0" name="AutoShape 29"/>
          <p:cNvSpPr>
            <a:spLocks noChangeArrowheads="1"/>
          </p:cNvSpPr>
          <p:nvPr/>
        </p:nvSpPr>
        <p:spPr bwMode="gray">
          <a:xfrm rot="5400000">
            <a:off x="4057395" y="4012882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1" name="AutoShape 30"/>
          <p:cNvSpPr>
            <a:spLocks noChangeArrowheads="1"/>
          </p:cNvSpPr>
          <p:nvPr/>
        </p:nvSpPr>
        <p:spPr bwMode="gray">
          <a:xfrm rot="5400000">
            <a:off x="4057395" y="4219729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3" name="矩形 110"/>
          <p:cNvSpPr/>
          <p:nvPr/>
        </p:nvSpPr>
        <p:spPr bwMode="gray">
          <a:xfrm>
            <a:off x="1551969" y="3721727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802.1P</a:t>
            </a:r>
          </a:p>
        </p:txBody>
      </p:sp>
      <p:sp>
        <p:nvSpPr>
          <p:cNvPr id="185" name="矩形 112"/>
          <p:cNvSpPr/>
          <p:nvPr/>
        </p:nvSpPr>
        <p:spPr bwMode="gray">
          <a:xfrm>
            <a:off x="1551969" y="4043476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DSCP</a:t>
            </a:r>
          </a:p>
        </p:txBody>
      </p:sp>
      <p:sp>
        <p:nvSpPr>
          <p:cNvPr id="187" name="AutoShape 9"/>
          <p:cNvSpPr>
            <a:spLocks noChangeArrowheads="1"/>
          </p:cNvSpPr>
          <p:nvPr/>
        </p:nvSpPr>
        <p:spPr bwMode="gray">
          <a:xfrm rot="5400000">
            <a:off x="4065892" y="2151259"/>
            <a:ext cx="162000" cy="792000"/>
          </a:xfrm>
          <a:prstGeom prst="can">
            <a:avLst>
              <a:gd name="adj" fmla="val 24043"/>
            </a:avLst>
          </a:prstGeom>
          <a:solidFill>
            <a:srgbClr val="8BC9A0"/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sp>
        <p:nvSpPr>
          <p:cNvPr id="188" name="AutoShape 10"/>
          <p:cNvSpPr>
            <a:spLocks noChangeArrowheads="1"/>
          </p:cNvSpPr>
          <p:nvPr/>
        </p:nvSpPr>
        <p:spPr bwMode="gray">
          <a:xfrm rot="5400000">
            <a:off x="4057395" y="2358106"/>
            <a:ext cx="162000" cy="792000"/>
          </a:xfrm>
          <a:prstGeom prst="can">
            <a:avLst>
              <a:gd name="adj" fmla="val 24043"/>
            </a:avLst>
          </a:prstGeom>
          <a:solidFill>
            <a:srgbClr val="8BC9A0"/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89" name="AutoShape 10"/>
          <p:cNvSpPr>
            <a:spLocks noChangeArrowheads="1"/>
          </p:cNvSpPr>
          <p:nvPr/>
        </p:nvSpPr>
        <p:spPr bwMode="gray">
          <a:xfrm rot="5400000">
            <a:off x="4057395" y="2564953"/>
            <a:ext cx="162000" cy="792000"/>
          </a:xfrm>
          <a:prstGeom prst="can">
            <a:avLst>
              <a:gd name="adj" fmla="val 24043"/>
            </a:avLst>
          </a:prstGeom>
          <a:solidFill>
            <a:srgbClr val="8BC9A0"/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90" name="AutoShape 11"/>
          <p:cNvSpPr>
            <a:spLocks noChangeArrowheads="1"/>
          </p:cNvSpPr>
          <p:nvPr/>
        </p:nvSpPr>
        <p:spPr bwMode="gray">
          <a:xfrm rot="5400000">
            <a:off x="4057395" y="3185494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sp>
        <p:nvSpPr>
          <p:cNvPr id="191" name="AutoShape 11"/>
          <p:cNvSpPr>
            <a:spLocks noChangeArrowheads="1"/>
          </p:cNvSpPr>
          <p:nvPr/>
        </p:nvSpPr>
        <p:spPr bwMode="gray">
          <a:xfrm rot="5400000">
            <a:off x="4057395" y="3392341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sp>
        <p:nvSpPr>
          <p:cNvPr id="192" name="AutoShape 11"/>
          <p:cNvSpPr>
            <a:spLocks noChangeArrowheads="1"/>
          </p:cNvSpPr>
          <p:nvPr/>
        </p:nvSpPr>
        <p:spPr bwMode="gray">
          <a:xfrm rot="5400000">
            <a:off x="4057395" y="3599188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sp>
        <p:nvSpPr>
          <p:cNvPr id="193" name="AutoShape 11"/>
          <p:cNvSpPr>
            <a:spLocks noChangeArrowheads="1"/>
          </p:cNvSpPr>
          <p:nvPr/>
        </p:nvSpPr>
        <p:spPr bwMode="gray">
          <a:xfrm rot="5400000">
            <a:off x="4057395" y="2771800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sp>
        <p:nvSpPr>
          <p:cNvPr id="194" name="AutoShape 11"/>
          <p:cNvSpPr>
            <a:spLocks noChangeArrowheads="1"/>
          </p:cNvSpPr>
          <p:nvPr/>
        </p:nvSpPr>
        <p:spPr bwMode="gray">
          <a:xfrm rot="5400000">
            <a:off x="4057395" y="2978647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</a:p>
        </p:txBody>
      </p:sp>
      <p:cxnSp>
        <p:nvCxnSpPr>
          <p:cNvPr id="195" name="直接连接符 194"/>
          <p:cNvCxnSpPr>
            <a:stCxn id="161" idx="3"/>
            <a:endCxn id="187" idx="3"/>
          </p:cNvCxnSpPr>
          <p:nvPr/>
        </p:nvCxnSpPr>
        <p:spPr bwMode="gray">
          <a:xfrm flipV="1">
            <a:off x="2408769" y="2547259"/>
            <a:ext cx="1342123" cy="408213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>
            <a:stCxn id="161" idx="3"/>
            <a:endCxn id="188" idx="3"/>
          </p:cNvCxnSpPr>
          <p:nvPr/>
        </p:nvCxnSpPr>
        <p:spPr bwMode="gray">
          <a:xfrm flipV="1">
            <a:off x="2408769" y="2754106"/>
            <a:ext cx="1333626" cy="201366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161" idx="3"/>
            <a:endCxn id="189" idx="3"/>
          </p:cNvCxnSpPr>
          <p:nvPr/>
        </p:nvCxnSpPr>
        <p:spPr bwMode="gray">
          <a:xfrm>
            <a:off x="2408769" y="2955472"/>
            <a:ext cx="1333626" cy="5481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>
            <a:stCxn id="161" idx="3"/>
            <a:endCxn id="193" idx="3"/>
          </p:cNvCxnSpPr>
          <p:nvPr/>
        </p:nvCxnSpPr>
        <p:spPr bwMode="gray">
          <a:xfrm>
            <a:off x="2408769" y="2955472"/>
            <a:ext cx="1333626" cy="212328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161" idx="3"/>
            <a:endCxn id="194" idx="3"/>
          </p:cNvCxnSpPr>
          <p:nvPr/>
        </p:nvCxnSpPr>
        <p:spPr bwMode="gray">
          <a:xfrm>
            <a:off x="2408769" y="2955472"/>
            <a:ext cx="1333626" cy="419175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161" idx="3"/>
            <a:endCxn id="190" idx="3"/>
          </p:cNvCxnSpPr>
          <p:nvPr/>
        </p:nvCxnSpPr>
        <p:spPr bwMode="gray">
          <a:xfrm>
            <a:off x="2408769" y="2955472"/>
            <a:ext cx="1333626" cy="626022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>
            <a:stCxn id="161" idx="3"/>
            <a:endCxn id="191" idx="3"/>
          </p:cNvCxnSpPr>
          <p:nvPr/>
        </p:nvCxnSpPr>
        <p:spPr bwMode="gray">
          <a:xfrm>
            <a:off x="2408769" y="2955472"/>
            <a:ext cx="1333626" cy="832869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stCxn id="161" idx="3"/>
            <a:endCxn id="192" idx="3"/>
          </p:cNvCxnSpPr>
          <p:nvPr/>
        </p:nvCxnSpPr>
        <p:spPr bwMode="gray">
          <a:xfrm>
            <a:off x="2408769" y="2955472"/>
            <a:ext cx="1333626" cy="1039716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>
            <a:stCxn id="163" idx="3"/>
            <a:endCxn id="187" idx="3"/>
          </p:cNvCxnSpPr>
          <p:nvPr/>
        </p:nvCxnSpPr>
        <p:spPr bwMode="gray">
          <a:xfrm flipV="1">
            <a:off x="2408769" y="2547259"/>
            <a:ext cx="1342123" cy="715405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>
            <a:stCxn id="163" idx="3"/>
            <a:endCxn id="188" idx="3"/>
          </p:cNvCxnSpPr>
          <p:nvPr/>
        </p:nvCxnSpPr>
        <p:spPr bwMode="gray">
          <a:xfrm flipV="1">
            <a:off x="2408769" y="2754106"/>
            <a:ext cx="1333626" cy="508558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>
            <a:stCxn id="163" idx="3"/>
            <a:endCxn id="193" idx="3"/>
          </p:cNvCxnSpPr>
          <p:nvPr/>
        </p:nvCxnSpPr>
        <p:spPr bwMode="gray">
          <a:xfrm flipV="1">
            <a:off x="2408769" y="3167800"/>
            <a:ext cx="1333626" cy="94864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>
            <a:stCxn id="163" idx="3"/>
            <a:endCxn id="194" idx="3"/>
          </p:cNvCxnSpPr>
          <p:nvPr/>
        </p:nvCxnSpPr>
        <p:spPr bwMode="gray">
          <a:xfrm>
            <a:off x="2408769" y="3262664"/>
            <a:ext cx="1333626" cy="111983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>
            <a:stCxn id="163" idx="3"/>
            <a:endCxn id="190" idx="3"/>
          </p:cNvCxnSpPr>
          <p:nvPr/>
        </p:nvCxnSpPr>
        <p:spPr bwMode="gray">
          <a:xfrm>
            <a:off x="2408769" y="3262664"/>
            <a:ext cx="1333626" cy="318830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>
            <a:stCxn id="163" idx="3"/>
            <a:endCxn id="191" idx="3"/>
          </p:cNvCxnSpPr>
          <p:nvPr/>
        </p:nvCxnSpPr>
        <p:spPr bwMode="gray">
          <a:xfrm>
            <a:off x="2408769" y="3262664"/>
            <a:ext cx="1333626" cy="525677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>
            <a:stCxn id="163" idx="3"/>
            <a:endCxn id="192" idx="3"/>
          </p:cNvCxnSpPr>
          <p:nvPr/>
        </p:nvCxnSpPr>
        <p:spPr bwMode="gray">
          <a:xfrm>
            <a:off x="2408769" y="3262664"/>
            <a:ext cx="1333626" cy="732524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>
            <a:stCxn id="183" idx="3"/>
            <a:endCxn id="179" idx="3"/>
          </p:cNvCxnSpPr>
          <p:nvPr/>
        </p:nvCxnSpPr>
        <p:spPr bwMode="gray">
          <a:xfrm>
            <a:off x="2408769" y="3814736"/>
            <a:ext cx="1333626" cy="387299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>
            <a:stCxn id="183" idx="3"/>
            <a:endCxn id="180" idx="3"/>
          </p:cNvCxnSpPr>
          <p:nvPr/>
        </p:nvCxnSpPr>
        <p:spPr bwMode="gray">
          <a:xfrm>
            <a:off x="2408769" y="3814736"/>
            <a:ext cx="1333626" cy="594146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>
            <a:stCxn id="183" idx="3"/>
            <a:endCxn id="181" idx="3"/>
          </p:cNvCxnSpPr>
          <p:nvPr/>
        </p:nvCxnSpPr>
        <p:spPr bwMode="gray">
          <a:xfrm>
            <a:off x="2408769" y="3814736"/>
            <a:ext cx="1333626" cy="800993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>
            <a:stCxn id="185" idx="3"/>
            <a:endCxn id="179" idx="3"/>
          </p:cNvCxnSpPr>
          <p:nvPr/>
        </p:nvCxnSpPr>
        <p:spPr bwMode="gray">
          <a:xfrm>
            <a:off x="2408769" y="4136485"/>
            <a:ext cx="1333626" cy="65550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>
            <a:stCxn id="185" idx="3"/>
            <a:endCxn id="180" idx="3"/>
          </p:cNvCxnSpPr>
          <p:nvPr/>
        </p:nvCxnSpPr>
        <p:spPr bwMode="gray">
          <a:xfrm>
            <a:off x="2408769" y="4136485"/>
            <a:ext cx="1333626" cy="272397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>
            <a:stCxn id="185" idx="3"/>
            <a:endCxn id="181" idx="3"/>
          </p:cNvCxnSpPr>
          <p:nvPr/>
        </p:nvCxnSpPr>
        <p:spPr bwMode="gray">
          <a:xfrm>
            <a:off x="2408769" y="4136485"/>
            <a:ext cx="1333626" cy="479244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AutoShape 28"/>
          <p:cNvSpPr>
            <a:spLocks noChangeArrowheads="1"/>
          </p:cNvSpPr>
          <p:nvPr/>
        </p:nvSpPr>
        <p:spPr bwMode="gray">
          <a:xfrm rot="5400000">
            <a:off x="4057395" y="4426576"/>
            <a:ext cx="162000" cy="792000"/>
          </a:xfrm>
          <a:prstGeom prst="can">
            <a:avLst>
              <a:gd name="adj" fmla="val 24043"/>
            </a:avLst>
          </a:prstGeom>
          <a:solidFill>
            <a:srgbClr val="8BC9A0"/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3" name="AutoShape 29"/>
          <p:cNvSpPr>
            <a:spLocks noChangeArrowheads="1"/>
          </p:cNvSpPr>
          <p:nvPr/>
        </p:nvSpPr>
        <p:spPr bwMode="gray">
          <a:xfrm rot="5400000">
            <a:off x="4057395" y="4633423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6" name="AutoShape 30"/>
          <p:cNvSpPr>
            <a:spLocks noChangeArrowheads="1"/>
          </p:cNvSpPr>
          <p:nvPr/>
        </p:nvSpPr>
        <p:spPr bwMode="gray">
          <a:xfrm rot="5400000">
            <a:off x="4065892" y="4840275"/>
            <a:ext cx="162000" cy="792000"/>
          </a:xfrm>
          <a:prstGeom prst="can">
            <a:avLst>
              <a:gd name="adj" fmla="val 24043"/>
            </a:avLst>
          </a:prstGeom>
          <a:solidFill>
            <a:srgbClr val="FFD17D">
              <a:alpha val="80000"/>
            </a:srgbClr>
          </a:solidFill>
          <a:ln w="0">
            <a:noFill/>
            <a:round/>
            <a:headEnd/>
            <a:tailEnd/>
          </a:ln>
        </p:spPr>
        <p:txBody>
          <a:bodyPr rot="10800000" vert="eaVert" wrap="none" lIns="105629" tIns="52815" rIns="105629" bIns="52815" anchor="ctr"/>
          <a:lstStyle/>
          <a:p>
            <a:pPr algn="ctr" defTabSz="926194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shaping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8" name="矩形 110"/>
          <p:cNvSpPr/>
          <p:nvPr/>
        </p:nvSpPr>
        <p:spPr bwMode="gray">
          <a:xfrm>
            <a:off x="1551969" y="4283035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802.1P</a:t>
            </a:r>
          </a:p>
        </p:txBody>
      </p:sp>
      <p:sp>
        <p:nvSpPr>
          <p:cNvPr id="242" name="矩形 112"/>
          <p:cNvSpPr/>
          <p:nvPr/>
        </p:nvSpPr>
        <p:spPr bwMode="gray">
          <a:xfrm>
            <a:off x="1551969" y="4604783"/>
            <a:ext cx="856800" cy="186018"/>
          </a:xfrm>
          <a:prstGeom prst="roundRect">
            <a:avLst>
              <a:gd name="adj" fmla="val 50000"/>
            </a:avLst>
          </a:prstGeom>
          <a:solidFill>
            <a:srgbClr val="D1EEF9">
              <a:alpha val="50000"/>
            </a:srgbClr>
          </a:solidFill>
          <a:ln w="0">
            <a:solidFill>
              <a:srgbClr val="8C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DSCP</a:t>
            </a:r>
          </a:p>
        </p:txBody>
      </p:sp>
      <p:cxnSp>
        <p:nvCxnSpPr>
          <p:cNvPr id="244" name="直接连接符 243"/>
          <p:cNvCxnSpPr>
            <a:stCxn id="238" idx="3"/>
            <a:endCxn id="232" idx="3"/>
          </p:cNvCxnSpPr>
          <p:nvPr/>
        </p:nvCxnSpPr>
        <p:spPr bwMode="gray">
          <a:xfrm>
            <a:off x="2408769" y="4376044"/>
            <a:ext cx="1333626" cy="446532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>
            <a:stCxn id="238" idx="3"/>
            <a:endCxn id="233" idx="3"/>
          </p:cNvCxnSpPr>
          <p:nvPr/>
        </p:nvCxnSpPr>
        <p:spPr bwMode="gray">
          <a:xfrm>
            <a:off x="2408769" y="4376044"/>
            <a:ext cx="1333626" cy="653379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>
            <a:stCxn id="238" idx="3"/>
            <a:endCxn id="236" idx="3"/>
          </p:cNvCxnSpPr>
          <p:nvPr/>
        </p:nvCxnSpPr>
        <p:spPr bwMode="gray">
          <a:xfrm>
            <a:off x="2408769" y="4376044"/>
            <a:ext cx="1342123" cy="860231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>
            <a:stCxn id="242" idx="3"/>
            <a:endCxn id="232" idx="3"/>
          </p:cNvCxnSpPr>
          <p:nvPr/>
        </p:nvCxnSpPr>
        <p:spPr bwMode="gray">
          <a:xfrm>
            <a:off x="2408769" y="4697792"/>
            <a:ext cx="1333626" cy="124784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>
            <a:stCxn id="242" idx="3"/>
            <a:endCxn id="233" idx="3"/>
          </p:cNvCxnSpPr>
          <p:nvPr/>
        </p:nvCxnSpPr>
        <p:spPr bwMode="gray">
          <a:xfrm>
            <a:off x="2408769" y="4697792"/>
            <a:ext cx="1333626" cy="331631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>
            <a:stCxn id="242" idx="3"/>
            <a:endCxn id="236" idx="3"/>
          </p:cNvCxnSpPr>
          <p:nvPr/>
        </p:nvCxnSpPr>
        <p:spPr bwMode="gray">
          <a:xfrm>
            <a:off x="2408769" y="4697792"/>
            <a:ext cx="1342123" cy="538483"/>
          </a:xfrm>
          <a:prstGeom prst="line">
            <a:avLst/>
          </a:prstGeom>
          <a:ln w="9525">
            <a:solidFill>
              <a:srgbClr val="1AAB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AutoShape 23"/>
          <p:cNvSpPr>
            <a:spLocks/>
          </p:cNvSpPr>
          <p:nvPr/>
        </p:nvSpPr>
        <p:spPr bwMode="gray">
          <a:xfrm>
            <a:off x="5676900" y="2433420"/>
            <a:ext cx="208115" cy="511975"/>
          </a:xfrm>
          <a:prstGeom prst="rightBrace">
            <a:avLst>
              <a:gd name="adj1" fmla="val 54896"/>
              <a:gd name="adj2" fmla="val 46477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1" name="AutoShape 33"/>
          <p:cNvSpPr>
            <a:spLocks/>
          </p:cNvSpPr>
          <p:nvPr/>
        </p:nvSpPr>
        <p:spPr bwMode="gray">
          <a:xfrm>
            <a:off x="5698954" y="4146961"/>
            <a:ext cx="193746" cy="594615"/>
          </a:xfrm>
          <a:prstGeom prst="rightBrace">
            <a:avLst>
              <a:gd name="adj1" fmla="val 54896"/>
              <a:gd name="adj2" fmla="val 50000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3" name="Text Box 26"/>
          <p:cNvSpPr txBox="1">
            <a:spLocks noChangeArrowheads="1"/>
          </p:cNvSpPr>
          <p:nvPr/>
        </p:nvSpPr>
        <p:spPr bwMode="gray">
          <a:xfrm>
            <a:off x="6322742" y="2607195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SQ1</a:t>
            </a:r>
          </a:p>
        </p:txBody>
      </p:sp>
      <p:sp>
        <p:nvSpPr>
          <p:cNvPr id="264" name="Text Box 26"/>
          <p:cNvSpPr txBox="1">
            <a:spLocks noChangeArrowheads="1"/>
          </p:cNvSpPr>
          <p:nvPr/>
        </p:nvSpPr>
        <p:spPr bwMode="gray">
          <a:xfrm>
            <a:off x="6339951" y="3377128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SQ2</a:t>
            </a:r>
          </a:p>
        </p:txBody>
      </p:sp>
      <p:sp>
        <p:nvSpPr>
          <p:cNvPr id="265" name="Text Box 26"/>
          <p:cNvSpPr txBox="1">
            <a:spLocks noChangeArrowheads="1"/>
          </p:cNvSpPr>
          <p:nvPr/>
        </p:nvSpPr>
        <p:spPr bwMode="gray">
          <a:xfrm>
            <a:off x="6322742" y="4355190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SQ3</a:t>
            </a:r>
          </a:p>
        </p:txBody>
      </p:sp>
      <p:sp>
        <p:nvSpPr>
          <p:cNvPr id="266" name="Text Box 26"/>
          <p:cNvSpPr txBox="1">
            <a:spLocks noChangeArrowheads="1"/>
          </p:cNvSpPr>
          <p:nvPr/>
        </p:nvSpPr>
        <p:spPr bwMode="gray">
          <a:xfrm>
            <a:off x="6322742" y="5012304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SQ4</a:t>
            </a:r>
          </a:p>
        </p:txBody>
      </p:sp>
      <p:cxnSp>
        <p:nvCxnSpPr>
          <p:cNvPr id="267" name="直接连接符 266"/>
          <p:cNvCxnSpPr/>
          <p:nvPr/>
        </p:nvCxnSpPr>
        <p:spPr bwMode="gray">
          <a:xfrm>
            <a:off x="6480278" y="2982611"/>
            <a:ext cx="786" cy="147560"/>
          </a:xfrm>
          <a:prstGeom prst="line">
            <a:avLst/>
          </a:prstGeom>
          <a:noFill/>
          <a:ln w="19050" cap="rnd">
            <a:solidFill>
              <a:schemeClr val="tx1">
                <a:lumMod val="85000"/>
                <a:lumOff val="15000"/>
              </a:schemeClr>
            </a:solidFill>
            <a:prstDash val="sysDot"/>
            <a:round/>
            <a:headEnd/>
            <a:tailEnd/>
          </a:ln>
          <a:extLst/>
        </p:spPr>
      </p:cxnSp>
      <p:sp>
        <p:nvSpPr>
          <p:cNvPr id="268" name="AutoShape 33"/>
          <p:cNvSpPr>
            <a:spLocks/>
          </p:cNvSpPr>
          <p:nvPr/>
        </p:nvSpPr>
        <p:spPr bwMode="gray">
          <a:xfrm>
            <a:off x="6788042" y="2656062"/>
            <a:ext cx="396404" cy="833207"/>
          </a:xfrm>
          <a:prstGeom prst="rightBrace">
            <a:avLst>
              <a:gd name="adj1" fmla="val 54896"/>
              <a:gd name="adj2" fmla="val 50000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0" name="Text Box 26"/>
          <p:cNvSpPr txBox="1">
            <a:spLocks noChangeArrowheads="1"/>
          </p:cNvSpPr>
          <p:nvPr/>
        </p:nvSpPr>
        <p:spPr bwMode="gray">
          <a:xfrm>
            <a:off x="7225859" y="2799754"/>
            <a:ext cx="435385" cy="494348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 w="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DWRR</a:t>
            </a:r>
          </a:p>
        </p:txBody>
      </p:sp>
      <p:sp>
        <p:nvSpPr>
          <p:cNvPr id="271" name="Text Box 26"/>
          <p:cNvSpPr txBox="1">
            <a:spLocks noChangeArrowheads="1"/>
          </p:cNvSpPr>
          <p:nvPr/>
        </p:nvSpPr>
        <p:spPr bwMode="gray">
          <a:xfrm>
            <a:off x="7225859" y="4458122"/>
            <a:ext cx="435385" cy="494348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 w="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DWRR</a:t>
            </a:r>
          </a:p>
        </p:txBody>
      </p:sp>
      <p:sp>
        <p:nvSpPr>
          <p:cNvPr id="272" name="Text Box 26"/>
          <p:cNvSpPr txBox="1">
            <a:spLocks noChangeArrowheads="1"/>
          </p:cNvSpPr>
          <p:nvPr/>
        </p:nvSpPr>
        <p:spPr bwMode="gray">
          <a:xfrm>
            <a:off x="7673743" y="2954595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GQ1</a:t>
            </a:r>
          </a:p>
        </p:txBody>
      </p:sp>
      <p:sp>
        <p:nvSpPr>
          <p:cNvPr id="273" name="Text Box 26"/>
          <p:cNvSpPr txBox="1">
            <a:spLocks noChangeArrowheads="1"/>
          </p:cNvSpPr>
          <p:nvPr/>
        </p:nvSpPr>
        <p:spPr bwMode="gray">
          <a:xfrm>
            <a:off x="7673743" y="4612964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GQ2</a:t>
            </a:r>
          </a:p>
        </p:txBody>
      </p:sp>
      <p:sp>
        <p:nvSpPr>
          <p:cNvPr id="275" name="Line 34"/>
          <p:cNvSpPr>
            <a:spLocks noChangeShapeType="1"/>
          </p:cNvSpPr>
          <p:nvPr/>
        </p:nvSpPr>
        <p:spPr bwMode="gray">
          <a:xfrm flipH="1">
            <a:off x="7832065" y="3901942"/>
            <a:ext cx="0" cy="110670"/>
          </a:xfrm>
          <a:prstGeom prst="line">
            <a:avLst/>
          </a:prstGeom>
          <a:noFill/>
          <a:ln w="19050" cap="rnd">
            <a:solidFill>
              <a:schemeClr val="tx1">
                <a:lumMod val="85000"/>
                <a:lumOff val="15000"/>
              </a:schemeClr>
            </a:solidFill>
            <a:prstDash val="sysDot"/>
            <a:round/>
            <a:headEnd/>
            <a:tailEnd/>
          </a:ln>
        </p:spPr>
        <p:txBody>
          <a:bodyPr lIns="105629" tIns="52815" rIns="105629" bIns="52815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6" name="AutoShape 23"/>
          <p:cNvSpPr>
            <a:spLocks/>
          </p:cNvSpPr>
          <p:nvPr/>
        </p:nvSpPr>
        <p:spPr bwMode="gray">
          <a:xfrm>
            <a:off x="8147090" y="3008065"/>
            <a:ext cx="313577" cy="1613342"/>
          </a:xfrm>
          <a:prstGeom prst="rightBrace">
            <a:avLst>
              <a:gd name="adj1" fmla="val 54896"/>
              <a:gd name="adj2" fmla="val 48958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7" name="Text Box 26"/>
          <p:cNvSpPr txBox="1">
            <a:spLocks noChangeArrowheads="1"/>
          </p:cNvSpPr>
          <p:nvPr/>
        </p:nvSpPr>
        <p:spPr bwMode="gray">
          <a:xfrm>
            <a:off x="8589249" y="3568902"/>
            <a:ext cx="435385" cy="494348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 w="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DWRR</a:t>
            </a:r>
          </a:p>
        </p:txBody>
      </p:sp>
      <p:sp>
        <p:nvSpPr>
          <p:cNvPr id="278" name="Text Box 26"/>
          <p:cNvSpPr txBox="1">
            <a:spLocks noChangeArrowheads="1"/>
          </p:cNvSpPr>
          <p:nvPr/>
        </p:nvSpPr>
        <p:spPr bwMode="gray">
          <a:xfrm>
            <a:off x="9035982" y="3003141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</a:p>
        </p:txBody>
      </p:sp>
      <p:sp>
        <p:nvSpPr>
          <p:cNvPr id="279" name="Text Box 26"/>
          <p:cNvSpPr txBox="1">
            <a:spLocks noChangeArrowheads="1"/>
          </p:cNvSpPr>
          <p:nvPr/>
        </p:nvSpPr>
        <p:spPr bwMode="gray">
          <a:xfrm>
            <a:off x="9035982" y="3723744"/>
            <a:ext cx="316644" cy="184666"/>
          </a:xfrm>
          <a:prstGeom prst="rect">
            <a:avLst/>
          </a:prstGeom>
          <a:noFill/>
          <a:ln w="12700" algn="ctr">
            <a:solidFill>
              <a:srgbClr val="1AABE2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</a:p>
        </p:txBody>
      </p:sp>
      <p:sp>
        <p:nvSpPr>
          <p:cNvPr id="280" name="Line 34"/>
          <p:cNvSpPr>
            <a:spLocks noChangeShapeType="1"/>
          </p:cNvSpPr>
          <p:nvPr/>
        </p:nvSpPr>
        <p:spPr bwMode="gray">
          <a:xfrm flipH="1">
            <a:off x="9194304" y="3442114"/>
            <a:ext cx="0" cy="147560"/>
          </a:xfrm>
          <a:prstGeom prst="line">
            <a:avLst/>
          </a:prstGeom>
          <a:noFill/>
          <a:ln w="19050" cap="rnd">
            <a:solidFill>
              <a:schemeClr val="tx1">
                <a:lumMod val="85000"/>
                <a:lumOff val="15000"/>
              </a:schemeClr>
            </a:solidFill>
            <a:prstDash val="sysDot"/>
            <a:round/>
            <a:headEnd/>
            <a:tailEnd/>
          </a:ln>
        </p:spPr>
        <p:txBody>
          <a:bodyPr lIns="105629" tIns="52815" rIns="105629" bIns="52815"/>
          <a:lstStyle/>
          <a:p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1" name="AutoShape 23"/>
          <p:cNvSpPr>
            <a:spLocks/>
          </p:cNvSpPr>
          <p:nvPr/>
        </p:nvSpPr>
        <p:spPr bwMode="gray">
          <a:xfrm>
            <a:off x="9534046" y="2947669"/>
            <a:ext cx="298691" cy="848473"/>
          </a:xfrm>
          <a:prstGeom prst="rightBrace">
            <a:avLst>
              <a:gd name="adj1" fmla="val 54896"/>
              <a:gd name="adj2" fmla="val 48958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2" name="Text Box 26"/>
          <p:cNvSpPr txBox="1">
            <a:spLocks noChangeArrowheads="1"/>
          </p:cNvSpPr>
          <p:nvPr/>
        </p:nvSpPr>
        <p:spPr bwMode="gray">
          <a:xfrm>
            <a:off x="9937187" y="3263950"/>
            <a:ext cx="435385" cy="494348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 w="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DWRR</a:t>
            </a:r>
          </a:p>
        </p:txBody>
      </p:sp>
      <p:sp>
        <p:nvSpPr>
          <p:cNvPr id="283" name="Text Box 26"/>
          <p:cNvSpPr txBox="1">
            <a:spLocks noChangeArrowheads="1"/>
          </p:cNvSpPr>
          <p:nvPr/>
        </p:nvSpPr>
        <p:spPr bwMode="gray">
          <a:xfrm>
            <a:off x="10463681" y="3418792"/>
            <a:ext cx="316644" cy="184666"/>
          </a:xfrm>
          <a:prstGeom prst="rect">
            <a:avLst/>
          </a:prstGeom>
          <a:noFill/>
          <a:ln w="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</a:p>
        </p:txBody>
      </p:sp>
      <p:sp>
        <p:nvSpPr>
          <p:cNvPr id="248" name="AutoShape 23"/>
          <p:cNvSpPr>
            <a:spLocks/>
          </p:cNvSpPr>
          <p:nvPr/>
        </p:nvSpPr>
        <p:spPr bwMode="gray">
          <a:xfrm>
            <a:off x="5676901" y="3041953"/>
            <a:ext cx="162725" cy="993457"/>
          </a:xfrm>
          <a:prstGeom prst="rightBrace">
            <a:avLst>
              <a:gd name="adj1" fmla="val 54896"/>
              <a:gd name="adj2" fmla="val 46477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9" name="AutoShape 33"/>
          <p:cNvSpPr>
            <a:spLocks/>
          </p:cNvSpPr>
          <p:nvPr/>
        </p:nvSpPr>
        <p:spPr bwMode="gray">
          <a:xfrm>
            <a:off x="5698954" y="4819439"/>
            <a:ext cx="193746" cy="594615"/>
          </a:xfrm>
          <a:prstGeom prst="rightBrace">
            <a:avLst>
              <a:gd name="adj1" fmla="val 54896"/>
              <a:gd name="adj2" fmla="val 50000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0" name="AutoShape 33"/>
          <p:cNvSpPr>
            <a:spLocks/>
          </p:cNvSpPr>
          <p:nvPr/>
        </p:nvSpPr>
        <p:spPr bwMode="gray">
          <a:xfrm>
            <a:off x="6788042" y="4304123"/>
            <a:ext cx="396404" cy="833207"/>
          </a:xfrm>
          <a:prstGeom prst="rightBrace">
            <a:avLst>
              <a:gd name="adj1" fmla="val 54896"/>
              <a:gd name="adj2" fmla="val 50000"/>
            </a:avLst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lIns="105629" tIns="52815" rIns="105629" bIns="52815" anchor="ctr"/>
          <a:lstStyle/>
          <a:p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6" name="五边形 255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4" name="燕尾形 283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5" name="燕尾形 284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61500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信道化子接口在</a:t>
            </a:r>
            <a:r>
              <a:rPr lang="en-US" altLang="zh-CN" dirty="0" err="1">
                <a:sym typeface="Huawei Sans" panose="020C0503030203020204" pitchFamily="34" charset="0"/>
              </a:rPr>
              <a:t>HQoS</a:t>
            </a:r>
            <a:r>
              <a:rPr lang="zh-CN" altLang="en-US" dirty="0">
                <a:sym typeface="Huawei Sans" panose="020C0503030203020204" pitchFamily="34" charset="0"/>
              </a:rPr>
              <a:t>上增加管理实体，提供</a:t>
            </a:r>
            <a:r>
              <a:rPr lang="en-US" altLang="zh-CN" dirty="0">
                <a:sym typeface="Huawei Sans" panose="020C0503030203020204" pitchFamily="34" charset="0"/>
              </a:rPr>
              <a:t>SLA</a:t>
            </a:r>
            <a:r>
              <a:rPr lang="zh-CN" altLang="en-US" dirty="0">
                <a:sym typeface="Huawei Sans" panose="020C0503030203020204" pitchFamily="34" charset="0"/>
              </a:rPr>
              <a:t>保障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带宽保障：信道化子接口采用</a:t>
            </a:r>
            <a:r>
              <a:rPr lang="en-US" altLang="zh-CN" sz="1800" dirty="0" err="1">
                <a:sym typeface="Huawei Sans" panose="020C0503030203020204" pitchFamily="34" charset="0"/>
              </a:rPr>
              <a:t>HQoS</a:t>
            </a:r>
            <a:r>
              <a:rPr lang="zh-CN" altLang="en-US" sz="1800" dirty="0">
                <a:sym typeface="Huawei Sans" panose="020C0503030203020204" pitchFamily="34" charset="0"/>
              </a:rPr>
              <a:t>多层次调度实现资源灵活、精细化管理，每个信道化调度树都有独立的缓存资源和带宽资源，可以提供带宽保障；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时延保障：由于信道化子接口间资源严格保障，可以提供一定范围的时延保障。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64" name="矩形 263"/>
          <p:cNvSpPr/>
          <p:nvPr/>
        </p:nvSpPr>
        <p:spPr bwMode="gray">
          <a:xfrm>
            <a:off x="6071308" y="3210788"/>
            <a:ext cx="5677779" cy="2281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信道化子接口采用子接口模型，结合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HQoS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机制，独占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HQoS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VI/GQ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调度树和带宽，实现严格的调度隔离。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主接口剩余带宽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=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接口带宽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-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所有信道化子接口带宽之和，带宽扣减过程在信道化子接口使能过程自动实现，简化了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HQoS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的应用模型。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信道化子接口提供了管理实体，能够结合控制器实现资源的管理，提供端到端资源预留，满足点到多点业务保障诉求。</a:t>
            </a:r>
          </a:p>
        </p:txBody>
      </p:sp>
      <p:sp>
        <p:nvSpPr>
          <p:cNvPr id="64" name="矩形 87052"/>
          <p:cNvSpPr/>
          <p:nvPr/>
        </p:nvSpPr>
        <p:spPr bwMode="gray">
          <a:xfrm>
            <a:off x="521131" y="2761211"/>
            <a:ext cx="4480912" cy="1356887"/>
          </a:xfrm>
          <a:prstGeom prst="rect">
            <a:avLst/>
          </a:prstGeom>
          <a:solidFill>
            <a:srgbClr val="1AABE2">
              <a:alpha val="1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5" name="圆角矩形 143"/>
          <p:cNvSpPr>
            <a:spLocks/>
          </p:cNvSpPr>
          <p:nvPr/>
        </p:nvSpPr>
        <p:spPr bwMode="gray">
          <a:xfrm>
            <a:off x="3777847" y="3006678"/>
            <a:ext cx="1071522" cy="904591"/>
          </a:xfrm>
          <a:prstGeom prst="roundRect">
            <a:avLst/>
          </a:prstGeom>
          <a:noFill/>
          <a:ln w="19050" cap="rnd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6" name="圆角矩形 162"/>
          <p:cNvSpPr/>
          <p:nvPr/>
        </p:nvSpPr>
        <p:spPr bwMode="gray">
          <a:xfrm>
            <a:off x="665032" y="3138805"/>
            <a:ext cx="779289" cy="84750"/>
          </a:xfrm>
          <a:prstGeom prst="roundRect">
            <a:avLst/>
          </a:prstGeom>
          <a:solidFill>
            <a:srgbClr val="8BC9A0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7" name="圆角矩形 163"/>
          <p:cNvSpPr/>
          <p:nvPr/>
        </p:nvSpPr>
        <p:spPr bwMode="gray">
          <a:xfrm>
            <a:off x="665032" y="3246855"/>
            <a:ext cx="779289" cy="84750"/>
          </a:xfrm>
          <a:prstGeom prst="roundRect">
            <a:avLst/>
          </a:prstGeom>
          <a:solidFill>
            <a:srgbClr val="8BC9A0">
              <a:alpha val="5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8" name="圆角矩形 164"/>
          <p:cNvSpPr/>
          <p:nvPr/>
        </p:nvSpPr>
        <p:spPr bwMode="gray">
          <a:xfrm>
            <a:off x="665032" y="3354904"/>
            <a:ext cx="779289" cy="84750"/>
          </a:xfrm>
          <a:prstGeom prst="roundRect">
            <a:avLst/>
          </a:prstGeom>
          <a:solidFill>
            <a:srgbClr val="EC7061">
              <a:alpha val="8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9" name="圆角矩形 165"/>
          <p:cNvSpPr/>
          <p:nvPr/>
        </p:nvSpPr>
        <p:spPr bwMode="gray">
          <a:xfrm>
            <a:off x="665032" y="3462954"/>
            <a:ext cx="779289" cy="84750"/>
          </a:xfrm>
          <a:prstGeom prst="roundRect">
            <a:avLst/>
          </a:prstGeom>
          <a:solidFill>
            <a:srgbClr val="FFD17D">
              <a:alpha val="5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0" name="圆角矩形 166"/>
          <p:cNvSpPr/>
          <p:nvPr/>
        </p:nvSpPr>
        <p:spPr bwMode="gray">
          <a:xfrm>
            <a:off x="665032" y="3571004"/>
            <a:ext cx="779289" cy="84750"/>
          </a:xfrm>
          <a:prstGeom prst="roundRect">
            <a:avLst/>
          </a:prstGeom>
          <a:solidFill>
            <a:srgbClr val="1AABE2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1" name="圆角矩形 167"/>
          <p:cNvSpPr/>
          <p:nvPr/>
        </p:nvSpPr>
        <p:spPr bwMode="gray">
          <a:xfrm>
            <a:off x="665032" y="3679053"/>
            <a:ext cx="779289" cy="84750"/>
          </a:xfrm>
          <a:prstGeom prst="roundRect">
            <a:avLst/>
          </a:prstGeom>
          <a:solidFill>
            <a:srgbClr val="1AABE2">
              <a:alpha val="7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2" name="圆角矩形 168"/>
          <p:cNvSpPr/>
          <p:nvPr/>
        </p:nvSpPr>
        <p:spPr bwMode="gray">
          <a:xfrm>
            <a:off x="665032" y="3787103"/>
            <a:ext cx="779289" cy="84750"/>
          </a:xfrm>
          <a:prstGeom prst="roundRect">
            <a:avLst/>
          </a:prstGeom>
          <a:solidFill>
            <a:srgbClr val="EC7061">
              <a:alpha val="6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3" name="圆角矩形 169"/>
          <p:cNvSpPr/>
          <p:nvPr/>
        </p:nvSpPr>
        <p:spPr bwMode="gray">
          <a:xfrm>
            <a:off x="665032" y="3895152"/>
            <a:ext cx="779289" cy="847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4" name="文本框 303"/>
          <p:cNvSpPr txBox="1"/>
          <p:nvPr/>
        </p:nvSpPr>
        <p:spPr bwMode="gray">
          <a:xfrm>
            <a:off x="667284" y="2853762"/>
            <a:ext cx="779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FQ 1-8</a:t>
            </a:r>
            <a:endParaRPr lang="zh-CN" altLang="en-US" sz="12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5" name="圆角矩形 121"/>
          <p:cNvSpPr/>
          <p:nvPr/>
        </p:nvSpPr>
        <p:spPr bwMode="gray">
          <a:xfrm>
            <a:off x="1817044" y="3351625"/>
            <a:ext cx="584467" cy="309271"/>
          </a:xfrm>
          <a:prstGeom prst="roundRect">
            <a:avLst>
              <a:gd name="adj" fmla="val 50000"/>
            </a:avLst>
          </a:prstGeom>
          <a:solidFill>
            <a:srgbClr val="8BC9A0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2298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1915954" y="3367762"/>
            <a:ext cx="38664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2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77" name="直接箭头连接符 76"/>
          <p:cNvCxnSpPr>
            <a:stCxn id="66" idx="3"/>
          </p:cNvCxnSpPr>
          <p:nvPr/>
        </p:nvCxnSpPr>
        <p:spPr bwMode="gray">
          <a:xfrm>
            <a:off x="1444321" y="3181180"/>
            <a:ext cx="565509" cy="123014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67" idx="3"/>
          </p:cNvCxnSpPr>
          <p:nvPr/>
        </p:nvCxnSpPr>
        <p:spPr bwMode="gray">
          <a:xfrm>
            <a:off x="1444321" y="3289230"/>
            <a:ext cx="458120" cy="6235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68" idx="3"/>
          </p:cNvCxnSpPr>
          <p:nvPr/>
        </p:nvCxnSpPr>
        <p:spPr bwMode="gray">
          <a:xfrm>
            <a:off x="1444321" y="3397279"/>
            <a:ext cx="372723" cy="17096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69" idx="3"/>
          </p:cNvCxnSpPr>
          <p:nvPr/>
        </p:nvCxnSpPr>
        <p:spPr bwMode="gray">
          <a:xfrm>
            <a:off x="1444321" y="3505329"/>
            <a:ext cx="337845" cy="93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70" idx="3"/>
          </p:cNvCxnSpPr>
          <p:nvPr/>
        </p:nvCxnSpPr>
        <p:spPr bwMode="gray">
          <a:xfrm flipV="1">
            <a:off x="1444321" y="3571004"/>
            <a:ext cx="337845" cy="4237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71" idx="3"/>
          </p:cNvCxnSpPr>
          <p:nvPr/>
        </p:nvCxnSpPr>
        <p:spPr bwMode="gray">
          <a:xfrm flipV="1">
            <a:off x="1444321" y="3613379"/>
            <a:ext cx="372723" cy="10805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72" idx="3"/>
          </p:cNvCxnSpPr>
          <p:nvPr/>
        </p:nvCxnSpPr>
        <p:spPr bwMode="gray">
          <a:xfrm flipV="1">
            <a:off x="1444321" y="3679053"/>
            <a:ext cx="458120" cy="15042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73" idx="3"/>
          </p:cNvCxnSpPr>
          <p:nvPr/>
        </p:nvCxnSpPr>
        <p:spPr bwMode="gray">
          <a:xfrm flipV="1">
            <a:off x="1444321" y="3721428"/>
            <a:ext cx="565509" cy="216099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圆角矩形 121"/>
          <p:cNvSpPr/>
          <p:nvPr/>
        </p:nvSpPr>
        <p:spPr bwMode="gray">
          <a:xfrm>
            <a:off x="3965465" y="3351625"/>
            <a:ext cx="779289" cy="309271"/>
          </a:xfrm>
          <a:prstGeom prst="roundRect">
            <a:avLst>
              <a:gd name="adj" fmla="val 50000"/>
            </a:avLst>
          </a:prstGeom>
          <a:solidFill>
            <a:srgbClr val="8BC9A0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2298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4047975" y="3367762"/>
            <a:ext cx="614271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2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GQ/VI</a:t>
            </a:r>
            <a:endParaRPr lang="zh-CN" altLang="en-US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7" name="文本框 87066"/>
          <p:cNvSpPr txBox="1"/>
          <p:nvPr/>
        </p:nvSpPr>
        <p:spPr bwMode="gray">
          <a:xfrm>
            <a:off x="1623870" y="3033516"/>
            <a:ext cx="1558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信道化子接口调度树</a:t>
            </a:r>
            <a:endParaRPr lang="en-US" altLang="zh-CN" sz="12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>
            <a:stCxn id="75" idx="3"/>
            <a:endCxn id="85" idx="1"/>
          </p:cNvCxnSpPr>
          <p:nvPr/>
        </p:nvCxnSpPr>
        <p:spPr bwMode="gray">
          <a:xfrm>
            <a:off x="2401511" y="3506261"/>
            <a:ext cx="156395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291"/>
          <p:cNvSpPr txBox="1"/>
          <p:nvPr/>
        </p:nvSpPr>
        <p:spPr bwMode="gray">
          <a:xfrm>
            <a:off x="4004366" y="3068893"/>
            <a:ext cx="7014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200 M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0" name="圆角矩形 121"/>
          <p:cNvSpPr/>
          <p:nvPr/>
        </p:nvSpPr>
        <p:spPr bwMode="gray">
          <a:xfrm>
            <a:off x="5515521" y="4037971"/>
            <a:ext cx="584467" cy="542755"/>
          </a:xfrm>
          <a:prstGeom prst="roundRect">
            <a:avLst>
              <a:gd name="adj" fmla="val 50000"/>
            </a:avLst>
          </a:prstGeom>
          <a:solidFill>
            <a:srgbClr val="FFD17D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2298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612026" y="4170850"/>
            <a:ext cx="391453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2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  <a:endParaRPr lang="zh-CN" altLang="en-US" sz="12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2" name="矩形 87052"/>
          <p:cNvSpPr/>
          <p:nvPr/>
        </p:nvSpPr>
        <p:spPr bwMode="gray">
          <a:xfrm>
            <a:off x="521131" y="4502658"/>
            <a:ext cx="4480912" cy="1356887"/>
          </a:xfrm>
          <a:prstGeom prst="rect">
            <a:avLst/>
          </a:prstGeom>
          <a:solidFill>
            <a:srgbClr val="1AABE2">
              <a:alpha val="1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3" name="圆角矩形 162"/>
          <p:cNvSpPr/>
          <p:nvPr/>
        </p:nvSpPr>
        <p:spPr bwMode="gray">
          <a:xfrm>
            <a:off x="665032" y="4882311"/>
            <a:ext cx="779289" cy="84750"/>
          </a:xfrm>
          <a:prstGeom prst="roundRect">
            <a:avLst/>
          </a:prstGeom>
          <a:solidFill>
            <a:srgbClr val="8BC9A0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4" name="圆角矩形 163"/>
          <p:cNvSpPr/>
          <p:nvPr/>
        </p:nvSpPr>
        <p:spPr bwMode="gray">
          <a:xfrm>
            <a:off x="665032" y="4990361"/>
            <a:ext cx="779289" cy="84750"/>
          </a:xfrm>
          <a:prstGeom prst="roundRect">
            <a:avLst/>
          </a:prstGeom>
          <a:solidFill>
            <a:srgbClr val="8BC9A0">
              <a:alpha val="5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5" name="圆角矩形 164"/>
          <p:cNvSpPr/>
          <p:nvPr/>
        </p:nvSpPr>
        <p:spPr bwMode="gray">
          <a:xfrm>
            <a:off x="665032" y="5098411"/>
            <a:ext cx="779289" cy="84750"/>
          </a:xfrm>
          <a:prstGeom prst="roundRect">
            <a:avLst/>
          </a:prstGeom>
          <a:solidFill>
            <a:srgbClr val="EC7061">
              <a:alpha val="8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6" name="圆角矩形 165"/>
          <p:cNvSpPr/>
          <p:nvPr/>
        </p:nvSpPr>
        <p:spPr bwMode="gray">
          <a:xfrm>
            <a:off x="665032" y="5206460"/>
            <a:ext cx="779289" cy="84750"/>
          </a:xfrm>
          <a:prstGeom prst="roundRect">
            <a:avLst/>
          </a:prstGeom>
          <a:solidFill>
            <a:srgbClr val="FFD17D">
              <a:alpha val="5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7" name="圆角矩形 166"/>
          <p:cNvSpPr/>
          <p:nvPr/>
        </p:nvSpPr>
        <p:spPr bwMode="gray">
          <a:xfrm>
            <a:off x="665032" y="5314510"/>
            <a:ext cx="779289" cy="84750"/>
          </a:xfrm>
          <a:prstGeom prst="roundRect">
            <a:avLst/>
          </a:prstGeom>
          <a:solidFill>
            <a:srgbClr val="1AABE2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8" name="圆角矩形 167"/>
          <p:cNvSpPr/>
          <p:nvPr/>
        </p:nvSpPr>
        <p:spPr bwMode="gray">
          <a:xfrm>
            <a:off x="665032" y="5422560"/>
            <a:ext cx="779289" cy="84750"/>
          </a:xfrm>
          <a:prstGeom prst="roundRect">
            <a:avLst/>
          </a:prstGeom>
          <a:solidFill>
            <a:srgbClr val="1AABE2">
              <a:alpha val="7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9" name="圆角矩形 168"/>
          <p:cNvSpPr/>
          <p:nvPr/>
        </p:nvSpPr>
        <p:spPr bwMode="gray">
          <a:xfrm>
            <a:off x="665032" y="5530609"/>
            <a:ext cx="779289" cy="84750"/>
          </a:xfrm>
          <a:prstGeom prst="roundRect">
            <a:avLst/>
          </a:prstGeom>
          <a:solidFill>
            <a:srgbClr val="EC7061">
              <a:alpha val="60000"/>
            </a:srgbClr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0" name="圆角矩形 169"/>
          <p:cNvSpPr/>
          <p:nvPr/>
        </p:nvSpPr>
        <p:spPr bwMode="gray">
          <a:xfrm>
            <a:off x="665032" y="5638659"/>
            <a:ext cx="779289" cy="847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0472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1" name="文本框 303"/>
          <p:cNvSpPr txBox="1"/>
          <p:nvPr/>
        </p:nvSpPr>
        <p:spPr bwMode="gray">
          <a:xfrm>
            <a:off x="667284" y="4597268"/>
            <a:ext cx="779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FQ 1-8</a:t>
            </a:r>
            <a:endParaRPr lang="zh-CN" altLang="en-US" sz="12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2" name="圆角矩形 121"/>
          <p:cNvSpPr/>
          <p:nvPr/>
        </p:nvSpPr>
        <p:spPr bwMode="gray">
          <a:xfrm>
            <a:off x="1817044" y="5095132"/>
            <a:ext cx="584467" cy="309271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2298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915954" y="5111267"/>
            <a:ext cx="38664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2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4" name="圆角矩形 121"/>
          <p:cNvSpPr/>
          <p:nvPr/>
        </p:nvSpPr>
        <p:spPr bwMode="gray">
          <a:xfrm>
            <a:off x="3965465" y="5095132"/>
            <a:ext cx="779289" cy="309271"/>
          </a:xfrm>
          <a:prstGeom prst="roundRect">
            <a:avLst>
              <a:gd name="adj" fmla="val 50000"/>
            </a:avLst>
          </a:prstGeom>
          <a:solidFill>
            <a:srgbClr val="1AABE2"/>
          </a:solidFill>
          <a:ln>
            <a:noFill/>
          </a:ln>
          <a:effectLst/>
          <a:extLst/>
        </p:spPr>
        <p:txBody>
          <a:bodyPr vert="horz" wrap="square" lIns="91035" tIns="45518" rIns="91035" bIns="45518" numCol="1" rtlCol="0" anchor="t" anchorCtr="0" compatLnSpc="1">
            <a:prstTxWarp prst="textNoShape">
              <a:avLst/>
            </a:prstTxWarp>
          </a:bodyPr>
          <a:lstStyle/>
          <a:p>
            <a:pPr defTabSz="912298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gray">
          <a:xfrm>
            <a:off x="4047975" y="5111267"/>
            <a:ext cx="614271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12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GQ/VI</a:t>
            </a:r>
            <a:endParaRPr lang="zh-CN" altLang="en-US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6" name="文本框 87066"/>
          <p:cNvSpPr txBox="1"/>
          <p:nvPr/>
        </p:nvSpPr>
        <p:spPr bwMode="gray">
          <a:xfrm>
            <a:off x="1623870" y="4777471"/>
            <a:ext cx="1558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主接口默认调度树</a:t>
            </a:r>
            <a:endParaRPr lang="en-US" altLang="zh-CN" sz="12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107" name="直接箭头连接符 106"/>
          <p:cNvCxnSpPr>
            <a:stCxn id="102" idx="3"/>
            <a:endCxn id="104" idx="1"/>
          </p:cNvCxnSpPr>
          <p:nvPr/>
        </p:nvCxnSpPr>
        <p:spPr bwMode="gray">
          <a:xfrm>
            <a:off x="2401511" y="5249768"/>
            <a:ext cx="156395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291"/>
          <p:cNvSpPr txBox="1"/>
          <p:nvPr/>
        </p:nvSpPr>
        <p:spPr bwMode="gray">
          <a:xfrm>
            <a:off x="2800213" y="5579421"/>
            <a:ext cx="215654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1000 M – 200 M =   800 M</a:t>
            </a:r>
          </a:p>
        </p:txBody>
      </p:sp>
      <p:cxnSp>
        <p:nvCxnSpPr>
          <p:cNvPr id="109" name="直接箭头连接符 108"/>
          <p:cNvCxnSpPr>
            <a:stCxn id="96" idx="3"/>
            <a:endCxn id="102" idx="1"/>
          </p:cNvCxnSpPr>
          <p:nvPr/>
        </p:nvCxnSpPr>
        <p:spPr bwMode="gray">
          <a:xfrm>
            <a:off x="1444321" y="5248835"/>
            <a:ext cx="372723" cy="93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87066"/>
          <p:cNvSpPr txBox="1"/>
          <p:nvPr/>
        </p:nvSpPr>
        <p:spPr bwMode="gray">
          <a:xfrm>
            <a:off x="1509840" y="3789812"/>
            <a:ext cx="2421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信道化子接口独占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VI/GQ</a:t>
            </a:r>
          </a:p>
        </p:txBody>
      </p:sp>
      <p:cxnSp>
        <p:nvCxnSpPr>
          <p:cNvPr id="111" name="直接箭头连接符 110"/>
          <p:cNvCxnSpPr>
            <a:stCxn id="85" idx="3"/>
            <a:endCxn id="90" idx="1"/>
          </p:cNvCxnSpPr>
          <p:nvPr/>
        </p:nvCxnSpPr>
        <p:spPr bwMode="gray">
          <a:xfrm>
            <a:off x="4744754" y="3506261"/>
            <a:ext cx="770767" cy="803087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104" idx="3"/>
            <a:endCxn id="90" idx="1"/>
          </p:cNvCxnSpPr>
          <p:nvPr/>
        </p:nvCxnSpPr>
        <p:spPr bwMode="gray">
          <a:xfrm flipV="1">
            <a:off x="4744754" y="4309348"/>
            <a:ext cx="770767" cy="940419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弧形 87082"/>
          <p:cNvSpPr/>
          <p:nvPr/>
        </p:nvSpPr>
        <p:spPr bwMode="gray">
          <a:xfrm rot="10800000">
            <a:off x="5074782" y="3696660"/>
            <a:ext cx="340095" cy="1254976"/>
          </a:xfrm>
          <a:prstGeom prst="arc">
            <a:avLst>
              <a:gd name="adj1" fmla="val 2426651"/>
              <a:gd name="adj2" fmla="val 0"/>
            </a:avLst>
          </a:prstGeom>
          <a:noFill/>
          <a:ln w="9525">
            <a:solidFill>
              <a:srgbClr val="EC7061"/>
            </a:solidFill>
            <a:prstDash val="dash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12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4" name="文本框 308"/>
          <p:cNvSpPr txBox="1"/>
          <p:nvPr/>
        </p:nvSpPr>
        <p:spPr bwMode="gray">
          <a:xfrm>
            <a:off x="4993644" y="4162920"/>
            <a:ext cx="58446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WRR</a:t>
            </a:r>
            <a:endParaRPr lang="zh-CN" altLang="en-US" sz="12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5" name="文本框 291"/>
          <p:cNvSpPr txBox="1"/>
          <p:nvPr/>
        </p:nvSpPr>
        <p:spPr bwMode="gray">
          <a:xfrm>
            <a:off x="5477753" y="4666065"/>
            <a:ext cx="660002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1000 M</a:t>
            </a:r>
          </a:p>
        </p:txBody>
      </p:sp>
      <p:sp>
        <p:nvSpPr>
          <p:cNvPr id="119" name="五边形 118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燕尾形 11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燕尾形 120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65307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FlexE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技术兼容以太网，提供独立资源，提供隔离和确定性保障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FlexE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Flexible Ethernet</a:t>
            </a:r>
            <a:r>
              <a:rPr lang="zh-CN" altLang="en-US" sz="1800" dirty="0">
                <a:sym typeface="Huawei Sans" panose="020C0503030203020204" pitchFamily="34" charset="0"/>
              </a:rPr>
              <a:t>，灵活以太）是在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PHY</a:t>
            </a:r>
            <a:r>
              <a:rPr lang="zh-CN" altLang="en-US" sz="1800" dirty="0">
                <a:sym typeface="Huawei Sans" panose="020C0503030203020204" pitchFamily="34" charset="0"/>
              </a:rPr>
              <a:t>间引入新的技术，是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网络的轻量级增强技术，继承已有的以太标准和</a:t>
            </a:r>
            <a:r>
              <a:rPr lang="en-US" altLang="zh-CN" sz="1800" dirty="0" err="1">
                <a:sym typeface="Huawei Sans" panose="020C0503030203020204" pitchFamily="34" charset="0"/>
              </a:rPr>
              <a:t>QoS</a:t>
            </a:r>
            <a:r>
              <a:rPr lang="zh-CN" altLang="en-US" sz="1800" dirty="0">
                <a:sym typeface="Huawei Sans" panose="020C0503030203020204" pitchFamily="34" charset="0"/>
              </a:rPr>
              <a:t>能力。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通过提供隔离的</a:t>
            </a:r>
            <a:r>
              <a:rPr lang="en-US" altLang="zh-CN" sz="1800" dirty="0">
                <a:sym typeface="Huawei Sans" panose="020C0503030203020204" pitchFamily="34" charset="0"/>
              </a:rPr>
              <a:t>FlexE</a:t>
            </a:r>
            <a:r>
              <a:rPr lang="zh-CN" altLang="en-US" sz="1800" dirty="0">
                <a:sym typeface="Huawei Sans" panose="020C0503030203020204" pitchFamily="34" charset="0"/>
              </a:rPr>
              <a:t>接口链路，可以一张网络实现业务综合承载。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通过提供</a:t>
            </a:r>
            <a:r>
              <a:rPr lang="en-US" altLang="zh-CN" sz="1800" dirty="0">
                <a:sym typeface="Huawei Sans" panose="020C0503030203020204" pitchFamily="34" charset="0"/>
              </a:rPr>
              <a:t>P2P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TDM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Time Division Multiplexing</a:t>
            </a:r>
            <a:r>
              <a:rPr lang="zh-CN" altLang="en-US" sz="1800" dirty="0">
                <a:sym typeface="Huawei Sans" panose="020C0503030203020204" pitchFamily="34" charset="0"/>
              </a:rPr>
              <a:t>，时分复用）隧道，给每个业务提供独立的资源，满足隔离和确定性时延诉求。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29" name="圆柱形 228"/>
          <p:cNvSpPr/>
          <p:nvPr/>
        </p:nvSpPr>
        <p:spPr bwMode="gray">
          <a:xfrm rot="16200000">
            <a:off x="7606438" y="2611365"/>
            <a:ext cx="2063499" cy="3757525"/>
          </a:xfrm>
          <a:prstGeom prst="can">
            <a:avLst>
              <a:gd name="adj" fmla="val 17508"/>
            </a:avLst>
          </a:prstGeom>
          <a:solidFill>
            <a:srgbClr val="4BB2FF">
              <a:alpha val="8000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8" tIns="48384" rIns="96768" bIns="48384" numCol="1" rtlCol="0" anchor="t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0" name="矩形 229"/>
          <p:cNvSpPr/>
          <p:nvPr/>
        </p:nvSpPr>
        <p:spPr bwMode="gray">
          <a:xfrm>
            <a:off x="9883906" y="4368885"/>
            <a:ext cx="461665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低时延</a:t>
            </a:r>
          </a:p>
        </p:txBody>
      </p:sp>
      <p:sp>
        <p:nvSpPr>
          <p:cNvPr id="231" name="圆柱形 230"/>
          <p:cNvSpPr/>
          <p:nvPr/>
        </p:nvSpPr>
        <p:spPr bwMode="gray">
          <a:xfrm rot="16200000">
            <a:off x="8196911" y="2453452"/>
            <a:ext cx="579718" cy="2719048"/>
          </a:xfrm>
          <a:prstGeom prst="can">
            <a:avLst/>
          </a:prstGeom>
          <a:solidFill>
            <a:srgbClr val="4BB2FF">
              <a:alpha val="8000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8" tIns="48384" rIns="96768" bIns="48384" numCol="1" rtlCol="0" anchor="t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2" name="圆柱形 231"/>
          <p:cNvSpPr/>
          <p:nvPr/>
        </p:nvSpPr>
        <p:spPr bwMode="gray">
          <a:xfrm rot="16200000">
            <a:off x="8202670" y="3793152"/>
            <a:ext cx="579718" cy="2719048"/>
          </a:xfrm>
          <a:prstGeom prst="can">
            <a:avLst/>
          </a:prstGeom>
          <a:solidFill>
            <a:srgbClr val="4BB2FF">
              <a:alpha val="8000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8" tIns="48384" rIns="96768" bIns="48384" numCol="1" rtlCol="0" anchor="t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3" name="TextBox 212"/>
          <p:cNvSpPr txBox="1"/>
          <p:nvPr/>
        </p:nvSpPr>
        <p:spPr bwMode="gray">
          <a:xfrm>
            <a:off x="9428916" y="4950688"/>
            <a:ext cx="34144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TDM</a:t>
            </a:r>
          </a:p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</a:t>
            </a:r>
          </a:p>
        </p:txBody>
      </p:sp>
      <p:grpSp>
        <p:nvGrpSpPr>
          <p:cNvPr id="239" name="组合 226"/>
          <p:cNvGrpSpPr/>
          <p:nvPr/>
        </p:nvGrpSpPr>
        <p:grpSpPr bwMode="gray">
          <a:xfrm>
            <a:off x="7367069" y="3595581"/>
            <a:ext cx="1957442" cy="434789"/>
            <a:chOff x="7917165" y="1798329"/>
            <a:chExt cx="2062918" cy="477902"/>
          </a:xfrm>
        </p:grpSpPr>
        <p:sp>
          <p:nvSpPr>
            <p:cNvPr id="240" name="Freeform 152" descr="Dark vertical"/>
            <p:cNvSpPr>
              <a:spLocks/>
            </p:cNvSpPr>
            <p:nvPr/>
          </p:nvSpPr>
          <p:spPr bwMode="gray">
            <a:xfrm flipV="1">
              <a:off x="7917166" y="1798329"/>
              <a:ext cx="2062917" cy="324801"/>
            </a:xfrm>
            <a:custGeom>
              <a:avLst/>
              <a:gdLst>
                <a:gd name="T0" fmla="*/ 5 w 1042"/>
                <a:gd name="T1" fmla="*/ 152 h 152"/>
                <a:gd name="T2" fmla="*/ 0 w 1042"/>
                <a:gd name="T3" fmla="*/ 118 h 152"/>
                <a:gd name="T4" fmla="*/ 57 w 1042"/>
                <a:gd name="T5" fmla="*/ 79 h 152"/>
                <a:gd name="T6" fmla="*/ 137 w 1042"/>
                <a:gd name="T7" fmla="*/ 84 h 152"/>
                <a:gd name="T8" fmla="*/ 142 w 1042"/>
                <a:gd name="T9" fmla="*/ 14 h 152"/>
                <a:gd name="T10" fmla="*/ 186 w 1042"/>
                <a:gd name="T11" fmla="*/ 18 h 152"/>
                <a:gd name="T12" fmla="*/ 198 w 1042"/>
                <a:gd name="T13" fmla="*/ 68 h 152"/>
                <a:gd name="T14" fmla="*/ 246 w 1042"/>
                <a:gd name="T15" fmla="*/ 54 h 152"/>
                <a:gd name="T16" fmla="*/ 268 w 1042"/>
                <a:gd name="T17" fmla="*/ 86 h 152"/>
                <a:gd name="T18" fmla="*/ 298 w 1042"/>
                <a:gd name="T19" fmla="*/ 90 h 152"/>
                <a:gd name="T20" fmla="*/ 382 w 1042"/>
                <a:gd name="T21" fmla="*/ 78 h 152"/>
                <a:gd name="T22" fmla="*/ 398 w 1042"/>
                <a:gd name="T23" fmla="*/ 50 h 152"/>
                <a:gd name="T24" fmla="*/ 422 w 1042"/>
                <a:gd name="T25" fmla="*/ 12 h 152"/>
                <a:gd name="T26" fmla="*/ 484 w 1042"/>
                <a:gd name="T27" fmla="*/ 12 h 152"/>
                <a:gd name="T28" fmla="*/ 562 w 1042"/>
                <a:gd name="T29" fmla="*/ 72 h 152"/>
                <a:gd name="T30" fmla="*/ 584 w 1042"/>
                <a:gd name="T31" fmla="*/ 62 h 152"/>
                <a:gd name="T32" fmla="*/ 598 w 1042"/>
                <a:gd name="T33" fmla="*/ 18 h 152"/>
                <a:gd name="T34" fmla="*/ 682 w 1042"/>
                <a:gd name="T35" fmla="*/ 12 h 152"/>
                <a:gd name="T36" fmla="*/ 716 w 1042"/>
                <a:gd name="T37" fmla="*/ 66 h 152"/>
                <a:gd name="T38" fmla="*/ 758 w 1042"/>
                <a:gd name="T39" fmla="*/ 92 h 152"/>
                <a:gd name="T40" fmla="*/ 820 w 1042"/>
                <a:gd name="T41" fmla="*/ 66 h 152"/>
                <a:gd name="T42" fmla="*/ 862 w 1042"/>
                <a:gd name="T43" fmla="*/ 10 h 152"/>
                <a:gd name="T44" fmla="*/ 922 w 1042"/>
                <a:gd name="T45" fmla="*/ 10 h 152"/>
                <a:gd name="T46" fmla="*/ 956 w 1042"/>
                <a:gd name="T47" fmla="*/ 34 h 152"/>
                <a:gd name="T48" fmla="*/ 1004 w 1042"/>
                <a:gd name="T49" fmla="*/ 7 h 152"/>
                <a:gd name="T50" fmla="*/ 1042 w 1042"/>
                <a:gd name="T51" fmla="*/ 36 h 152"/>
                <a:gd name="T52" fmla="*/ 1038 w 1042"/>
                <a:gd name="T53" fmla="*/ 116 h 152"/>
                <a:gd name="T54" fmla="*/ 1039 w 1042"/>
                <a:gd name="T55" fmla="*/ 150 h 152"/>
                <a:gd name="T56" fmla="*/ 5 w 1042"/>
                <a:gd name="T57" fmla="*/ 152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042"/>
                <a:gd name="T88" fmla="*/ 0 h 152"/>
                <a:gd name="T89" fmla="*/ 1042 w 1042"/>
                <a:gd name="T90" fmla="*/ 152 h 152"/>
                <a:gd name="connsiteX0" fmla="*/ 16 w 9968"/>
                <a:gd name="connsiteY0" fmla="*/ 11513 h 11513"/>
                <a:gd name="connsiteX1" fmla="*/ 611 w 9968"/>
                <a:gd name="connsiteY1" fmla="*/ 1513 h 11513"/>
                <a:gd name="connsiteX2" fmla="*/ 515 w 9968"/>
                <a:gd name="connsiteY2" fmla="*/ 6710 h 11513"/>
                <a:gd name="connsiteX3" fmla="*/ 1283 w 9968"/>
                <a:gd name="connsiteY3" fmla="*/ 7039 h 11513"/>
                <a:gd name="connsiteX4" fmla="*/ 1331 w 9968"/>
                <a:gd name="connsiteY4" fmla="*/ 2434 h 11513"/>
                <a:gd name="connsiteX5" fmla="*/ 1753 w 9968"/>
                <a:gd name="connsiteY5" fmla="*/ 2697 h 11513"/>
                <a:gd name="connsiteX6" fmla="*/ 1868 w 9968"/>
                <a:gd name="connsiteY6" fmla="*/ 5987 h 11513"/>
                <a:gd name="connsiteX7" fmla="*/ 2329 w 9968"/>
                <a:gd name="connsiteY7" fmla="*/ 5066 h 11513"/>
                <a:gd name="connsiteX8" fmla="*/ 2540 w 9968"/>
                <a:gd name="connsiteY8" fmla="*/ 7171 h 11513"/>
                <a:gd name="connsiteX9" fmla="*/ 2828 w 9968"/>
                <a:gd name="connsiteY9" fmla="*/ 7434 h 11513"/>
                <a:gd name="connsiteX10" fmla="*/ 3634 w 9968"/>
                <a:gd name="connsiteY10" fmla="*/ 6645 h 11513"/>
                <a:gd name="connsiteX11" fmla="*/ 3788 w 9968"/>
                <a:gd name="connsiteY11" fmla="*/ 4802 h 11513"/>
                <a:gd name="connsiteX12" fmla="*/ 4018 w 9968"/>
                <a:gd name="connsiteY12" fmla="*/ 2302 h 11513"/>
                <a:gd name="connsiteX13" fmla="*/ 4613 w 9968"/>
                <a:gd name="connsiteY13" fmla="*/ 2302 h 11513"/>
                <a:gd name="connsiteX14" fmla="*/ 5361 w 9968"/>
                <a:gd name="connsiteY14" fmla="*/ 6250 h 11513"/>
                <a:gd name="connsiteX15" fmla="*/ 5573 w 9968"/>
                <a:gd name="connsiteY15" fmla="*/ 5592 h 11513"/>
                <a:gd name="connsiteX16" fmla="*/ 5707 w 9968"/>
                <a:gd name="connsiteY16" fmla="*/ 2697 h 11513"/>
                <a:gd name="connsiteX17" fmla="*/ 6513 w 9968"/>
                <a:gd name="connsiteY17" fmla="*/ 2302 h 11513"/>
                <a:gd name="connsiteX18" fmla="*/ 6839 w 9968"/>
                <a:gd name="connsiteY18" fmla="*/ 5855 h 11513"/>
                <a:gd name="connsiteX19" fmla="*/ 7242 w 9968"/>
                <a:gd name="connsiteY19" fmla="*/ 7566 h 11513"/>
                <a:gd name="connsiteX20" fmla="*/ 7837 w 9968"/>
                <a:gd name="connsiteY20" fmla="*/ 5855 h 11513"/>
                <a:gd name="connsiteX21" fmla="*/ 8241 w 9968"/>
                <a:gd name="connsiteY21" fmla="*/ 2171 h 11513"/>
                <a:gd name="connsiteX22" fmla="*/ 8816 w 9968"/>
                <a:gd name="connsiteY22" fmla="*/ 2171 h 11513"/>
                <a:gd name="connsiteX23" fmla="*/ 9143 w 9968"/>
                <a:gd name="connsiteY23" fmla="*/ 3750 h 11513"/>
                <a:gd name="connsiteX24" fmla="*/ 9603 w 9968"/>
                <a:gd name="connsiteY24" fmla="*/ 1974 h 11513"/>
                <a:gd name="connsiteX25" fmla="*/ 9968 w 9968"/>
                <a:gd name="connsiteY25" fmla="*/ 3881 h 11513"/>
                <a:gd name="connsiteX26" fmla="*/ 9930 w 9968"/>
                <a:gd name="connsiteY26" fmla="*/ 9145 h 11513"/>
                <a:gd name="connsiteX27" fmla="*/ 9939 w 9968"/>
                <a:gd name="connsiteY27" fmla="*/ 11381 h 11513"/>
                <a:gd name="connsiteX28" fmla="*/ 16 w 9968"/>
                <a:gd name="connsiteY28" fmla="*/ 11513 h 11513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756 w 10239"/>
                <a:gd name="connsiteY2" fmla="*/ 5828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74 w 10239"/>
                <a:gd name="connsiteY3" fmla="*/ 2114 h 10000"/>
                <a:gd name="connsiteX4" fmla="*/ 1998 w 10239"/>
                <a:gd name="connsiteY4" fmla="*/ 2343 h 10000"/>
                <a:gd name="connsiteX5" fmla="*/ 2113 w 10239"/>
                <a:gd name="connsiteY5" fmla="*/ 5200 h 10000"/>
                <a:gd name="connsiteX6" fmla="*/ 2575 w 10239"/>
                <a:gd name="connsiteY6" fmla="*/ 4400 h 10000"/>
                <a:gd name="connsiteX7" fmla="*/ 2787 w 10239"/>
                <a:gd name="connsiteY7" fmla="*/ 6229 h 10000"/>
                <a:gd name="connsiteX8" fmla="*/ 3076 w 10239"/>
                <a:gd name="connsiteY8" fmla="*/ 6457 h 10000"/>
                <a:gd name="connsiteX9" fmla="*/ 3885 w 10239"/>
                <a:gd name="connsiteY9" fmla="*/ 5772 h 10000"/>
                <a:gd name="connsiteX10" fmla="*/ 4039 w 10239"/>
                <a:gd name="connsiteY10" fmla="*/ 4171 h 10000"/>
                <a:gd name="connsiteX11" fmla="*/ 4270 w 10239"/>
                <a:gd name="connsiteY11" fmla="*/ 1999 h 10000"/>
                <a:gd name="connsiteX12" fmla="*/ 4867 w 10239"/>
                <a:gd name="connsiteY12" fmla="*/ 1999 h 10000"/>
                <a:gd name="connsiteX13" fmla="*/ 5617 w 10239"/>
                <a:gd name="connsiteY13" fmla="*/ 5429 h 10000"/>
                <a:gd name="connsiteX14" fmla="*/ 5830 w 10239"/>
                <a:gd name="connsiteY14" fmla="*/ 4857 h 10000"/>
                <a:gd name="connsiteX15" fmla="*/ 5964 w 10239"/>
                <a:gd name="connsiteY15" fmla="*/ 2343 h 10000"/>
                <a:gd name="connsiteX16" fmla="*/ 6773 w 10239"/>
                <a:gd name="connsiteY16" fmla="*/ 1999 h 10000"/>
                <a:gd name="connsiteX17" fmla="*/ 7100 w 10239"/>
                <a:gd name="connsiteY17" fmla="*/ 5086 h 10000"/>
                <a:gd name="connsiteX18" fmla="*/ 7504 w 10239"/>
                <a:gd name="connsiteY18" fmla="*/ 6572 h 10000"/>
                <a:gd name="connsiteX19" fmla="*/ 8101 w 10239"/>
                <a:gd name="connsiteY19" fmla="*/ 5086 h 10000"/>
                <a:gd name="connsiteX20" fmla="*/ 8506 w 10239"/>
                <a:gd name="connsiteY20" fmla="*/ 1886 h 10000"/>
                <a:gd name="connsiteX21" fmla="*/ 9083 w 10239"/>
                <a:gd name="connsiteY21" fmla="*/ 1886 h 10000"/>
                <a:gd name="connsiteX22" fmla="*/ 9411 w 10239"/>
                <a:gd name="connsiteY22" fmla="*/ 3257 h 10000"/>
                <a:gd name="connsiteX23" fmla="*/ 9873 w 10239"/>
                <a:gd name="connsiteY23" fmla="*/ 1715 h 10000"/>
                <a:gd name="connsiteX24" fmla="*/ 10239 w 10239"/>
                <a:gd name="connsiteY24" fmla="*/ 3371 h 10000"/>
                <a:gd name="connsiteX25" fmla="*/ 10201 w 10239"/>
                <a:gd name="connsiteY25" fmla="*/ 7943 h 10000"/>
                <a:gd name="connsiteX26" fmla="*/ 10210 w 10239"/>
                <a:gd name="connsiteY26" fmla="*/ 9885 h 10000"/>
                <a:gd name="connsiteX27" fmla="*/ 16 w 10239"/>
                <a:gd name="connsiteY27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998 w 10239"/>
                <a:gd name="connsiteY3" fmla="*/ 2343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317 w 10239"/>
                <a:gd name="connsiteY6" fmla="*/ 5657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39" h="10000">
                  <a:moveTo>
                    <a:pt x="16" y="10000"/>
                  </a:moveTo>
                  <a:cubicBezTo>
                    <a:pt x="0" y="9352"/>
                    <a:pt x="32" y="1962"/>
                    <a:pt x="16" y="1314"/>
                  </a:cubicBezTo>
                  <a:cubicBezTo>
                    <a:pt x="64" y="0"/>
                    <a:pt x="1288" y="2229"/>
                    <a:pt x="1481" y="1314"/>
                  </a:cubicBezTo>
                  <a:cubicBezTo>
                    <a:pt x="1811" y="1485"/>
                    <a:pt x="2178" y="1314"/>
                    <a:pt x="2317" y="1314"/>
                  </a:cubicBezTo>
                  <a:lnTo>
                    <a:pt x="2317" y="1314"/>
                  </a:lnTo>
                  <a:lnTo>
                    <a:pt x="2317" y="1314"/>
                  </a:lnTo>
                  <a:cubicBezTo>
                    <a:pt x="2443" y="2171"/>
                    <a:pt x="2935" y="5428"/>
                    <a:pt x="3153" y="5657"/>
                  </a:cubicBezTo>
                  <a:lnTo>
                    <a:pt x="3153" y="5657"/>
                  </a:lnTo>
                  <a:cubicBezTo>
                    <a:pt x="3316" y="5256"/>
                    <a:pt x="3921" y="1943"/>
                    <a:pt x="3989" y="1314"/>
                  </a:cubicBezTo>
                  <a:cubicBezTo>
                    <a:pt x="4182" y="514"/>
                    <a:pt x="4048" y="1600"/>
                    <a:pt x="4270" y="1999"/>
                  </a:cubicBezTo>
                  <a:cubicBezTo>
                    <a:pt x="4568" y="1314"/>
                    <a:pt x="4492" y="2171"/>
                    <a:pt x="4867" y="1999"/>
                  </a:cubicBezTo>
                  <a:cubicBezTo>
                    <a:pt x="5416" y="2686"/>
                    <a:pt x="4684" y="5200"/>
                    <a:pt x="5617" y="5429"/>
                  </a:cubicBezTo>
                  <a:cubicBezTo>
                    <a:pt x="5801" y="5886"/>
                    <a:pt x="5560" y="3714"/>
                    <a:pt x="5830" y="4857"/>
                  </a:cubicBezTo>
                  <a:cubicBezTo>
                    <a:pt x="5875" y="4019"/>
                    <a:pt x="5919" y="3181"/>
                    <a:pt x="5964" y="2343"/>
                  </a:cubicBezTo>
                  <a:cubicBezTo>
                    <a:pt x="6157" y="2343"/>
                    <a:pt x="6580" y="1543"/>
                    <a:pt x="6773" y="1999"/>
                  </a:cubicBezTo>
                  <a:cubicBezTo>
                    <a:pt x="6966" y="2457"/>
                    <a:pt x="6976" y="4343"/>
                    <a:pt x="7100" y="5086"/>
                  </a:cubicBezTo>
                  <a:cubicBezTo>
                    <a:pt x="7225" y="5828"/>
                    <a:pt x="7341" y="6572"/>
                    <a:pt x="7504" y="6572"/>
                  </a:cubicBezTo>
                  <a:cubicBezTo>
                    <a:pt x="7581" y="6229"/>
                    <a:pt x="7938" y="5886"/>
                    <a:pt x="8101" y="5086"/>
                  </a:cubicBezTo>
                  <a:cubicBezTo>
                    <a:pt x="8266" y="4286"/>
                    <a:pt x="8342" y="2400"/>
                    <a:pt x="8506" y="1886"/>
                  </a:cubicBezTo>
                  <a:cubicBezTo>
                    <a:pt x="8603" y="2114"/>
                    <a:pt x="8939" y="1543"/>
                    <a:pt x="9083" y="1886"/>
                  </a:cubicBezTo>
                  <a:cubicBezTo>
                    <a:pt x="9192" y="2343"/>
                    <a:pt x="9302" y="2800"/>
                    <a:pt x="9411" y="3257"/>
                  </a:cubicBezTo>
                  <a:lnTo>
                    <a:pt x="9873" y="1715"/>
                  </a:lnTo>
                  <a:lnTo>
                    <a:pt x="10239" y="3371"/>
                  </a:lnTo>
                  <a:cubicBezTo>
                    <a:pt x="10226" y="4895"/>
                    <a:pt x="10214" y="6419"/>
                    <a:pt x="10201" y="7943"/>
                  </a:cubicBezTo>
                  <a:cubicBezTo>
                    <a:pt x="10204" y="8590"/>
                    <a:pt x="10207" y="9238"/>
                    <a:pt x="10210" y="9885"/>
                  </a:cubicBezTo>
                  <a:lnTo>
                    <a:pt x="16" y="10000"/>
                  </a:lnTo>
                  <a:close/>
                </a:path>
              </a:pathLst>
            </a:custGeom>
            <a:pattFill prst="dkVert">
              <a:fgClr>
                <a:srgbClr val="33CCCC"/>
              </a:fgClr>
              <a:bgClr>
                <a:schemeClr val="bg1"/>
              </a:bgClr>
            </a:pattFill>
            <a:ln w="3175" cap="flat" cmpd="sng">
              <a:solidFill>
                <a:srgbClr val="33CCCC"/>
              </a:solidFill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41" name="Freeform 151" descr="Dark vertical"/>
            <p:cNvSpPr>
              <a:spLocks/>
            </p:cNvSpPr>
            <p:nvPr/>
          </p:nvSpPr>
          <p:spPr bwMode="gray">
            <a:xfrm>
              <a:off x="7917165" y="1973895"/>
              <a:ext cx="2062917" cy="302336"/>
            </a:xfrm>
            <a:custGeom>
              <a:avLst/>
              <a:gdLst>
                <a:gd name="T0" fmla="*/ 94 w 1031"/>
                <a:gd name="T1" fmla="*/ 169 h 172"/>
                <a:gd name="T2" fmla="*/ 1 w 1031"/>
                <a:gd name="T3" fmla="*/ 171 h 172"/>
                <a:gd name="T4" fmla="*/ 0 w 1031"/>
                <a:gd name="T5" fmla="*/ 86 h 172"/>
                <a:gd name="T6" fmla="*/ 66 w 1031"/>
                <a:gd name="T7" fmla="*/ 79 h 172"/>
                <a:gd name="T8" fmla="*/ 125 w 1031"/>
                <a:gd name="T9" fmla="*/ 67 h 172"/>
                <a:gd name="T10" fmla="*/ 182 w 1031"/>
                <a:gd name="T11" fmla="*/ 66 h 172"/>
                <a:gd name="T12" fmla="*/ 224 w 1031"/>
                <a:gd name="T13" fmla="*/ 79 h 172"/>
                <a:gd name="T14" fmla="*/ 270 w 1031"/>
                <a:gd name="T15" fmla="*/ 10 h 172"/>
                <a:gd name="T16" fmla="*/ 314 w 1031"/>
                <a:gd name="T17" fmla="*/ 6 h 172"/>
                <a:gd name="T18" fmla="*/ 353 w 1031"/>
                <a:gd name="T19" fmla="*/ 74 h 172"/>
                <a:gd name="T20" fmla="*/ 378 w 1031"/>
                <a:gd name="T21" fmla="*/ 102 h 172"/>
                <a:gd name="T22" fmla="*/ 417 w 1031"/>
                <a:gd name="T23" fmla="*/ 77 h 172"/>
                <a:gd name="T24" fmla="*/ 530 w 1031"/>
                <a:gd name="T25" fmla="*/ 19 h 172"/>
                <a:gd name="T26" fmla="*/ 590 w 1031"/>
                <a:gd name="T27" fmla="*/ 19 h 172"/>
                <a:gd name="T28" fmla="*/ 618 w 1031"/>
                <a:gd name="T29" fmla="*/ 100 h 172"/>
                <a:gd name="T30" fmla="*/ 695 w 1031"/>
                <a:gd name="T31" fmla="*/ 86 h 172"/>
                <a:gd name="T32" fmla="*/ 758 w 1031"/>
                <a:gd name="T33" fmla="*/ 110 h 172"/>
                <a:gd name="T34" fmla="*/ 794 w 1031"/>
                <a:gd name="T35" fmla="*/ 54 h 172"/>
                <a:gd name="T36" fmla="*/ 854 w 1031"/>
                <a:gd name="T37" fmla="*/ 110 h 172"/>
                <a:gd name="T38" fmla="*/ 942 w 1031"/>
                <a:gd name="T39" fmla="*/ 46 h 172"/>
                <a:gd name="T40" fmla="*/ 1018 w 1031"/>
                <a:gd name="T41" fmla="*/ 90 h 172"/>
                <a:gd name="T42" fmla="*/ 1031 w 1031"/>
                <a:gd name="T43" fmla="*/ 170 h 172"/>
                <a:gd name="T44" fmla="*/ 338 w 1031"/>
                <a:gd name="T45" fmla="*/ 172 h 172"/>
                <a:gd name="T46" fmla="*/ 94 w 1031"/>
                <a:gd name="T47" fmla="*/ 169 h 17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31"/>
                <a:gd name="T73" fmla="*/ 0 h 172"/>
                <a:gd name="T74" fmla="*/ 1031 w 1031"/>
                <a:gd name="T75" fmla="*/ 172 h 17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31" h="172">
                  <a:moveTo>
                    <a:pt x="94" y="169"/>
                  </a:moveTo>
                  <a:lnTo>
                    <a:pt x="1" y="171"/>
                  </a:lnTo>
                  <a:lnTo>
                    <a:pt x="0" y="86"/>
                  </a:lnTo>
                  <a:cubicBezTo>
                    <a:pt x="11" y="70"/>
                    <a:pt x="46" y="82"/>
                    <a:pt x="66" y="79"/>
                  </a:cubicBezTo>
                  <a:cubicBezTo>
                    <a:pt x="120" y="49"/>
                    <a:pt x="87" y="72"/>
                    <a:pt x="125" y="67"/>
                  </a:cubicBezTo>
                  <a:cubicBezTo>
                    <a:pt x="137" y="61"/>
                    <a:pt x="172" y="71"/>
                    <a:pt x="182" y="66"/>
                  </a:cubicBezTo>
                  <a:cubicBezTo>
                    <a:pt x="202" y="35"/>
                    <a:pt x="198" y="76"/>
                    <a:pt x="224" y="79"/>
                  </a:cubicBezTo>
                  <a:cubicBezTo>
                    <a:pt x="230" y="117"/>
                    <a:pt x="239" y="0"/>
                    <a:pt x="270" y="10"/>
                  </a:cubicBezTo>
                  <a:cubicBezTo>
                    <a:pt x="297" y="26"/>
                    <a:pt x="290" y="17"/>
                    <a:pt x="314" y="6"/>
                  </a:cubicBezTo>
                  <a:cubicBezTo>
                    <a:pt x="333" y="19"/>
                    <a:pt x="341" y="58"/>
                    <a:pt x="353" y="74"/>
                  </a:cubicBezTo>
                  <a:cubicBezTo>
                    <a:pt x="364" y="90"/>
                    <a:pt x="375" y="116"/>
                    <a:pt x="378" y="102"/>
                  </a:cubicBezTo>
                  <a:cubicBezTo>
                    <a:pt x="411" y="82"/>
                    <a:pt x="375" y="82"/>
                    <a:pt x="417" y="77"/>
                  </a:cubicBezTo>
                  <a:cubicBezTo>
                    <a:pt x="442" y="65"/>
                    <a:pt x="501" y="29"/>
                    <a:pt x="530" y="19"/>
                  </a:cubicBezTo>
                  <a:cubicBezTo>
                    <a:pt x="559" y="9"/>
                    <a:pt x="575" y="6"/>
                    <a:pt x="590" y="19"/>
                  </a:cubicBezTo>
                  <a:cubicBezTo>
                    <a:pt x="612" y="30"/>
                    <a:pt x="592" y="73"/>
                    <a:pt x="618" y="100"/>
                  </a:cubicBezTo>
                  <a:cubicBezTo>
                    <a:pt x="671" y="98"/>
                    <a:pt x="642" y="89"/>
                    <a:pt x="695" y="86"/>
                  </a:cubicBezTo>
                  <a:cubicBezTo>
                    <a:pt x="709" y="49"/>
                    <a:pt x="737" y="88"/>
                    <a:pt x="758" y="110"/>
                  </a:cubicBezTo>
                  <a:cubicBezTo>
                    <a:pt x="769" y="121"/>
                    <a:pt x="794" y="54"/>
                    <a:pt x="794" y="54"/>
                  </a:cubicBezTo>
                  <a:cubicBezTo>
                    <a:pt x="802" y="95"/>
                    <a:pt x="832" y="101"/>
                    <a:pt x="854" y="110"/>
                  </a:cubicBezTo>
                  <a:cubicBezTo>
                    <a:pt x="863" y="115"/>
                    <a:pt x="912" y="57"/>
                    <a:pt x="942" y="46"/>
                  </a:cubicBezTo>
                  <a:lnTo>
                    <a:pt x="1018" y="90"/>
                  </a:lnTo>
                  <a:lnTo>
                    <a:pt x="1031" y="170"/>
                  </a:lnTo>
                  <a:lnTo>
                    <a:pt x="338" y="172"/>
                  </a:lnTo>
                  <a:lnTo>
                    <a:pt x="94" y="169"/>
                  </a:lnTo>
                  <a:close/>
                </a:path>
              </a:pathLst>
            </a:custGeom>
            <a:pattFill prst="dkVert">
              <a:fgClr>
                <a:srgbClr val="00B0F0"/>
              </a:fgClr>
              <a:bgClr>
                <a:srgbClr val="CCECFF"/>
              </a:bgClr>
            </a:pattFill>
            <a:ln w="3175" cap="flat" cmpd="sng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242" name="矩形 241"/>
          <p:cNvSpPr/>
          <p:nvPr/>
        </p:nvSpPr>
        <p:spPr bwMode="gray">
          <a:xfrm>
            <a:off x="9883906" y="3706414"/>
            <a:ext cx="461665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大带宽</a:t>
            </a:r>
          </a:p>
        </p:txBody>
      </p:sp>
      <p:sp>
        <p:nvSpPr>
          <p:cNvPr id="243" name="TextBox 229"/>
          <p:cNvSpPr txBox="1"/>
          <p:nvPr/>
        </p:nvSpPr>
        <p:spPr bwMode="gray">
          <a:xfrm>
            <a:off x="9423158" y="3610987"/>
            <a:ext cx="30777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统计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复用</a:t>
            </a:r>
          </a:p>
        </p:txBody>
      </p:sp>
      <p:sp>
        <p:nvSpPr>
          <p:cNvPr id="245" name="矩形 244"/>
          <p:cNvSpPr/>
          <p:nvPr/>
        </p:nvSpPr>
        <p:spPr bwMode="gray">
          <a:xfrm>
            <a:off x="6842476" y="4972394"/>
            <a:ext cx="589284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 G</a:t>
            </a:r>
          </a:p>
        </p:txBody>
      </p:sp>
      <p:sp>
        <p:nvSpPr>
          <p:cNvPr id="246" name="矩形 245"/>
          <p:cNvSpPr/>
          <p:nvPr/>
        </p:nvSpPr>
        <p:spPr bwMode="gray">
          <a:xfrm>
            <a:off x="6839906" y="3614047"/>
            <a:ext cx="589284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80 G</a:t>
            </a:r>
          </a:p>
        </p:txBody>
      </p:sp>
      <p:sp>
        <p:nvSpPr>
          <p:cNvPr id="247" name="矩形 246"/>
          <p:cNvSpPr/>
          <p:nvPr/>
        </p:nvSpPr>
        <p:spPr bwMode="gray">
          <a:xfrm>
            <a:off x="9911749" y="4996505"/>
            <a:ext cx="461665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确定性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时延</a:t>
            </a:r>
          </a:p>
        </p:txBody>
      </p:sp>
      <p:sp>
        <p:nvSpPr>
          <p:cNvPr id="248" name="圆柱形 247"/>
          <p:cNvSpPr/>
          <p:nvPr/>
        </p:nvSpPr>
        <p:spPr bwMode="gray">
          <a:xfrm rot="16200000">
            <a:off x="8202670" y="3142167"/>
            <a:ext cx="579718" cy="2719048"/>
          </a:xfrm>
          <a:prstGeom prst="can">
            <a:avLst/>
          </a:prstGeom>
          <a:solidFill>
            <a:srgbClr val="4BB2FF">
              <a:alpha val="8000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8" tIns="48384" rIns="96768" bIns="48384" numCol="1" rtlCol="0" anchor="t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9" name="TextBox 212"/>
          <p:cNvSpPr txBox="1"/>
          <p:nvPr/>
        </p:nvSpPr>
        <p:spPr bwMode="gray">
          <a:xfrm>
            <a:off x="9428917" y="4299703"/>
            <a:ext cx="30777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统计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复用</a:t>
            </a:r>
          </a:p>
        </p:txBody>
      </p:sp>
      <p:grpSp>
        <p:nvGrpSpPr>
          <p:cNvPr id="250" name="组合 223"/>
          <p:cNvGrpSpPr/>
          <p:nvPr/>
        </p:nvGrpSpPr>
        <p:grpSpPr bwMode="gray">
          <a:xfrm>
            <a:off x="7372828" y="4284296"/>
            <a:ext cx="1957442" cy="434788"/>
            <a:chOff x="7917164" y="2931791"/>
            <a:chExt cx="1957442" cy="463752"/>
          </a:xfrm>
        </p:grpSpPr>
        <p:sp>
          <p:nvSpPr>
            <p:cNvPr id="251" name="Freeform 152" descr="Dark vertical"/>
            <p:cNvSpPr>
              <a:spLocks/>
            </p:cNvSpPr>
            <p:nvPr/>
          </p:nvSpPr>
          <p:spPr bwMode="gray">
            <a:xfrm flipV="1">
              <a:off x="7917165" y="2931791"/>
              <a:ext cx="1957441" cy="315185"/>
            </a:xfrm>
            <a:custGeom>
              <a:avLst/>
              <a:gdLst>
                <a:gd name="T0" fmla="*/ 5 w 1042"/>
                <a:gd name="T1" fmla="*/ 152 h 152"/>
                <a:gd name="T2" fmla="*/ 0 w 1042"/>
                <a:gd name="T3" fmla="*/ 118 h 152"/>
                <a:gd name="T4" fmla="*/ 57 w 1042"/>
                <a:gd name="T5" fmla="*/ 79 h 152"/>
                <a:gd name="T6" fmla="*/ 137 w 1042"/>
                <a:gd name="T7" fmla="*/ 84 h 152"/>
                <a:gd name="T8" fmla="*/ 142 w 1042"/>
                <a:gd name="T9" fmla="*/ 14 h 152"/>
                <a:gd name="T10" fmla="*/ 186 w 1042"/>
                <a:gd name="T11" fmla="*/ 18 h 152"/>
                <a:gd name="T12" fmla="*/ 198 w 1042"/>
                <a:gd name="T13" fmla="*/ 68 h 152"/>
                <a:gd name="T14" fmla="*/ 246 w 1042"/>
                <a:gd name="T15" fmla="*/ 54 h 152"/>
                <a:gd name="T16" fmla="*/ 268 w 1042"/>
                <a:gd name="T17" fmla="*/ 86 h 152"/>
                <a:gd name="T18" fmla="*/ 298 w 1042"/>
                <a:gd name="T19" fmla="*/ 90 h 152"/>
                <a:gd name="T20" fmla="*/ 382 w 1042"/>
                <a:gd name="T21" fmla="*/ 78 h 152"/>
                <a:gd name="T22" fmla="*/ 398 w 1042"/>
                <a:gd name="T23" fmla="*/ 50 h 152"/>
                <a:gd name="T24" fmla="*/ 422 w 1042"/>
                <a:gd name="T25" fmla="*/ 12 h 152"/>
                <a:gd name="T26" fmla="*/ 484 w 1042"/>
                <a:gd name="T27" fmla="*/ 12 h 152"/>
                <a:gd name="T28" fmla="*/ 562 w 1042"/>
                <a:gd name="T29" fmla="*/ 72 h 152"/>
                <a:gd name="T30" fmla="*/ 584 w 1042"/>
                <a:gd name="T31" fmla="*/ 62 h 152"/>
                <a:gd name="T32" fmla="*/ 598 w 1042"/>
                <a:gd name="T33" fmla="*/ 18 h 152"/>
                <a:gd name="T34" fmla="*/ 682 w 1042"/>
                <a:gd name="T35" fmla="*/ 12 h 152"/>
                <a:gd name="T36" fmla="*/ 716 w 1042"/>
                <a:gd name="T37" fmla="*/ 66 h 152"/>
                <a:gd name="T38" fmla="*/ 758 w 1042"/>
                <a:gd name="T39" fmla="*/ 92 h 152"/>
                <a:gd name="T40" fmla="*/ 820 w 1042"/>
                <a:gd name="T41" fmla="*/ 66 h 152"/>
                <a:gd name="T42" fmla="*/ 862 w 1042"/>
                <a:gd name="T43" fmla="*/ 10 h 152"/>
                <a:gd name="T44" fmla="*/ 922 w 1042"/>
                <a:gd name="T45" fmla="*/ 10 h 152"/>
                <a:gd name="T46" fmla="*/ 956 w 1042"/>
                <a:gd name="T47" fmla="*/ 34 h 152"/>
                <a:gd name="T48" fmla="*/ 1004 w 1042"/>
                <a:gd name="T49" fmla="*/ 7 h 152"/>
                <a:gd name="T50" fmla="*/ 1042 w 1042"/>
                <a:gd name="T51" fmla="*/ 36 h 152"/>
                <a:gd name="T52" fmla="*/ 1038 w 1042"/>
                <a:gd name="T53" fmla="*/ 116 h 152"/>
                <a:gd name="T54" fmla="*/ 1039 w 1042"/>
                <a:gd name="T55" fmla="*/ 150 h 152"/>
                <a:gd name="T56" fmla="*/ 5 w 1042"/>
                <a:gd name="T57" fmla="*/ 152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042"/>
                <a:gd name="T88" fmla="*/ 0 h 152"/>
                <a:gd name="T89" fmla="*/ 1042 w 1042"/>
                <a:gd name="T90" fmla="*/ 152 h 152"/>
                <a:gd name="connsiteX0" fmla="*/ 16 w 9968"/>
                <a:gd name="connsiteY0" fmla="*/ 11513 h 11513"/>
                <a:gd name="connsiteX1" fmla="*/ 611 w 9968"/>
                <a:gd name="connsiteY1" fmla="*/ 1513 h 11513"/>
                <a:gd name="connsiteX2" fmla="*/ 515 w 9968"/>
                <a:gd name="connsiteY2" fmla="*/ 6710 h 11513"/>
                <a:gd name="connsiteX3" fmla="*/ 1283 w 9968"/>
                <a:gd name="connsiteY3" fmla="*/ 7039 h 11513"/>
                <a:gd name="connsiteX4" fmla="*/ 1331 w 9968"/>
                <a:gd name="connsiteY4" fmla="*/ 2434 h 11513"/>
                <a:gd name="connsiteX5" fmla="*/ 1753 w 9968"/>
                <a:gd name="connsiteY5" fmla="*/ 2697 h 11513"/>
                <a:gd name="connsiteX6" fmla="*/ 1868 w 9968"/>
                <a:gd name="connsiteY6" fmla="*/ 5987 h 11513"/>
                <a:gd name="connsiteX7" fmla="*/ 2329 w 9968"/>
                <a:gd name="connsiteY7" fmla="*/ 5066 h 11513"/>
                <a:gd name="connsiteX8" fmla="*/ 2540 w 9968"/>
                <a:gd name="connsiteY8" fmla="*/ 7171 h 11513"/>
                <a:gd name="connsiteX9" fmla="*/ 2828 w 9968"/>
                <a:gd name="connsiteY9" fmla="*/ 7434 h 11513"/>
                <a:gd name="connsiteX10" fmla="*/ 3634 w 9968"/>
                <a:gd name="connsiteY10" fmla="*/ 6645 h 11513"/>
                <a:gd name="connsiteX11" fmla="*/ 3788 w 9968"/>
                <a:gd name="connsiteY11" fmla="*/ 4802 h 11513"/>
                <a:gd name="connsiteX12" fmla="*/ 4018 w 9968"/>
                <a:gd name="connsiteY12" fmla="*/ 2302 h 11513"/>
                <a:gd name="connsiteX13" fmla="*/ 4613 w 9968"/>
                <a:gd name="connsiteY13" fmla="*/ 2302 h 11513"/>
                <a:gd name="connsiteX14" fmla="*/ 5361 w 9968"/>
                <a:gd name="connsiteY14" fmla="*/ 6250 h 11513"/>
                <a:gd name="connsiteX15" fmla="*/ 5573 w 9968"/>
                <a:gd name="connsiteY15" fmla="*/ 5592 h 11513"/>
                <a:gd name="connsiteX16" fmla="*/ 5707 w 9968"/>
                <a:gd name="connsiteY16" fmla="*/ 2697 h 11513"/>
                <a:gd name="connsiteX17" fmla="*/ 6513 w 9968"/>
                <a:gd name="connsiteY17" fmla="*/ 2302 h 11513"/>
                <a:gd name="connsiteX18" fmla="*/ 6839 w 9968"/>
                <a:gd name="connsiteY18" fmla="*/ 5855 h 11513"/>
                <a:gd name="connsiteX19" fmla="*/ 7242 w 9968"/>
                <a:gd name="connsiteY19" fmla="*/ 7566 h 11513"/>
                <a:gd name="connsiteX20" fmla="*/ 7837 w 9968"/>
                <a:gd name="connsiteY20" fmla="*/ 5855 h 11513"/>
                <a:gd name="connsiteX21" fmla="*/ 8241 w 9968"/>
                <a:gd name="connsiteY21" fmla="*/ 2171 h 11513"/>
                <a:gd name="connsiteX22" fmla="*/ 8816 w 9968"/>
                <a:gd name="connsiteY22" fmla="*/ 2171 h 11513"/>
                <a:gd name="connsiteX23" fmla="*/ 9143 w 9968"/>
                <a:gd name="connsiteY23" fmla="*/ 3750 h 11513"/>
                <a:gd name="connsiteX24" fmla="*/ 9603 w 9968"/>
                <a:gd name="connsiteY24" fmla="*/ 1974 h 11513"/>
                <a:gd name="connsiteX25" fmla="*/ 9968 w 9968"/>
                <a:gd name="connsiteY25" fmla="*/ 3881 h 11513"/>
                <a:gd name="connsiteX26" fmla="*/ 9930 w 9968"/>
                <a:gd name="connsiteY26" fmla="*/ 9145 h 11513"/>
                <a:gd name="connsiteX27" fmla="*/ 9939 w 9968"/>
                <a:gd name="connsiteY27" fmla="*/ 11381 h 11513"/>
                <a:gd name="connsiteX28" fmla="*/ 16 w 9968"/>
                <a:gd name="connsiteY28" fmla="*/ 11513 h 11513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756 w 10239"/>
                <a:gd name="connsiteY2" fmla="*/ 5828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74 w 10239"/>
                <a:gd name="connsiteY3" fmla="*/ 2114 h 10000"/>
                <a:gd name="connsiteX4" fmla="*/ 1998 w 10239"/>
                <a:gd name="connsiteY4" fmla="*/ 2343 h 10000"/>
                <a:gd name="connsiteX5" fmla="*/ 2113 w 10239"/>
                <a:gd name="connsiteY5" fmla="*/ 5200 h 10000"/>
                <a:gd name="connsiteX6" fmla="*/ 2575 w 10239"/>
                <a:gd name="connsiteY6" fmla="*/ 4400 h 10000"/>
                <a:gd name="connsiteX7" fmla="*/ 2787 w 10239"/>
                <a:gd name="connsiteY7" fmla="*/ 6229 h 10000"/>
                <a:gd name="connsiteX8" fmla="*/ 3076 w 10239"/>
                <a:gd name="connsiteY8" fmla="*/ 6457 h 10000"/>
                <a:gd name="connsiteX9" fmla="*/ 3885 w 10239"/>
                <a:gd name="connsiteY9" fmla="*/ 5772 h 10000"/>
                <a:gd name="connsiteX10" fmla="*/ 4039 w 10239"/>
                <a:gd name="connsiteY10" fmla="*/ 4171 h 10000"/>
                <a:gd name="connsiteX11" fmla="*/ 4270 w 10239"/>
                <a:gd name="connsiteY11" fmla="*/ 1999 h 10000"/>
                <a:gd name="connsiteX12" fmla="*/ 4867 w 10239"/>
                <a:gd name="connsiteY12" fmla="*/ 1999 h 10000"/>
                <a:gd name="connsiteX13" fmla="*/ 5617 w 10239"/>
                <a:gd name="connsiteY13" fmla="*/ 5429 h 10000"/>
                <a:gd name="connsiteX14" fmla="*/ 5830 w 10239"/>
                <a:gd name="connsiteY14" fmla="*/ 4857 h 10000"/>
                <a:gd name="connsiteX15" fmla="*/ 5964 w 10239"/>
                <a:gd name="connsiteY15" fmla="*/ 2343 h 10000"/>
                <a:gd name="connsiteX16" fmla="*/ 6773 w 10239"/>
                <a:gd name="connsiteY16" fmla="*/ 1999 h 10000"/>
                <a:gd name="connsiteX17" fmla="*/ 7100 w 10239"/>
                <a:gd name="connsiteY17" fmla="*/ 5086 h 10000"/>
                <a:gd name="connsiteX18" fmla="*/ 7504 w 10239"/>
                <a:gd name="connsiteY18" fmla="*/ 6572 h 10000"/>
                <a:gd name="connsiteX19" fmla="*/ 8101 w 10239"/>
                <a:gd name="connsiteY19" fmla="*/ 5086 h 10000"/>
                <a:gd name="connsiteX20" fmla="*/ 8506 w 10239"/>
                <a:gd name="connsiteY20" fmla="*/ 1886 h 10000"/>
                <a:gd name="connsiteX21" fmla="*/ 9083 w 10239"/>
                <a:gd name="connsiteY21" fmla="*/ 1886 h 10000"/>
                <a:gd name="connsiteX22" fmla="*/ 9411 w 10239"/>
                <a:gd name="connsiteY22" fmla="*/ 3257 h 10000"/>
                <a:gd name="connsiteX23" fmla="*/ 9873 w 10239"/>
                <a:gd name="connsiteY23" fmla="*/ 1715 h 10000"/>
                <a:gd name="connsiteX24" fmla="*/ 10239 w 10239"/>
                <a:gd name="connsiteY24" fmla="*/ 3371 h 10000"/>
                <a:gd name="connsiteX25" fmla="*/ 10201 w 10239"/>
                <a:gd name="connsiteY25" fmla="*/ 7943 h 10000"/>
                <a:gd name="connsiteX26" fmla="*/ 10210 w 10239"/>
                <a:gd name="connsiteY26" fmla="*/ 9885 h 10000"/>
                <a:gd name="connsiteX27" fmla="*/ 16 w 10239"/>
                <a:gd name="connsiteY27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998 w 10239"/>
                <a:gd name="connsiteY3" fmla="*/ 2343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317 w 10239"/>
                <a:gd name="connsiteY6" fmla="*/ 5657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39" h="10000">
                  <a:moveTo>
                    <a:pt x="16" y="10000"/>
                  </a:moveTo>
                  <a:cubicBezTo>
                    <a:pt x="0" y="9352"/>
                    <a:pt x="32" y="1962"/>
                    <a:pt x="16" y="1314"/>
                  </a:cubicBezTo>
                  <a:cubicBezTo>
                    <a:pt x="64" y="0"/>
                    <a:pt x="1288" y="2229"/>
                    <a:pt x="1481" y="1314"/>
                  </a:cubicBezTo>
                  <a:cubicBezTo>
                    <a:pt x="1811" y="1485"/>
                    <a:pt x="2178" y="1314"/>
                    <a:pt x="2317" y="1314"/>
                  </a:cubicBezTo>
                  <a:lnTo>
                    <a:pt x="2317" y="1314"/>
                  </a:lnTo>
                  <a:lnTo>
                    <a:pt x="2317" y="1314"/>
                  </a:lnTo>
                  <a:cubicBezTo>
                    <a:pt x="2443" y="2171"/>
                    <a:pt x="2935" y="5428"/>
                    <a:pt x="3153" y="5657"/>
                  </a:cubicBezTo>
                  <a:lnTo>
                    <a:pt x="3153" y="5657"/>
                  </a:lnTo>
                  <a:cubicBezTo>
                    <a:pt x="3316" y="5256"/>
                    <a:pt x="3921" y="1943"/>
                    <a:pt x="3989" y="1314"/>
                  </a:cubicBezTo>
                  <a:cubicBezTo>
                    <a:pt x="4182" y="514"/>
                    <a:pt x="4048" y="1600"/>
                    <a:pt x="4270" y="1999"/>
                  </a:cubicBezTo>
                  <a:cubicBezTo>
                    <a:pt x="4568" y="1314"/>
                    <a:pt x="4492" y="2171"/>
                    <a:pt x="4867" y="1999"/>
                  </a:cubicBezTo>
                  <a:cubicBezTo>
                    <a:pt x="5416" y="2686"/>
                    <a:pt x="4684" y="5200"/>
                    <a:pt x="5617" y="5429"/>
                  </a:cubicBezTo>
                  <a:cubicBezTo>
                    <a:pt x="5801" y="5886"/>
                    <a:pt x="5560" y="3714"/>
                    <a:pt x="5830" y="4857"/>
                  </a:cubicBezTo>
                  <a:cubicBezTo>
                    <a:pt x="5875" y="4019"/>
                    <a:pt x="5919" y="3181"/>
                    <a:pt x="5964" y="2343"/>
                  </a:cubicBezTo>
                  <a:cubicBezTo>
                    <a:pt x="6157" y="2343"/>
                    <a:pt x="6580" y="1543"/>
                    <a:pt x="6773" y="1999"/>
                  </a:cubicBezTo>
                  <a:cubicBezTo>
                    <a:pt x="6966" y="2457"/>
                    <a:pt x="6976" y="4343"/>
                    <a:pt x="7100" y="5086"/>
                  </a:cubicBezTo>
                  <a:cubicBezTo>
                    <a:pt x="7225" y="5828"/>
                    <a:pt x="7341" y="6572"/>
                    <a:pt x="7504" y="6572"/>
                  </a:cubicBezTo>
                  <a:cubicBezTo>
                    <a:pt x="7581" y="6229"/>
                    <a:pt x="7938" y="5886"/>
                    <a:pt x="8101" y="5086"/>
                  </a:cubicBezTo>
                  <a:cubicBezTo>
                    <a:pt x="8266" y="4286"/>
                    <a:pt x="8342" y="2400"/>
                    <a:pt x="8506" y="1886"/>
                  </a:cubicBezTo>
                  <a:cubicBezTo>
                    <a:pt x="8603" y="2114"/>
                    <a:pt x="8939" y="1543"/>
                    <a:pt x="9083" y="1886"/>
                  </a:cubicBezTo>
                  <a:cubicBezTo>
                    <a:pt x="9192" y="2343"/>
                    <a:pt x="9302" y="2800"/>
                    <a:pt x="9411" y="3257"/>
                  </a:cubicBezTo>
                  <a:lnTo>
                    <a:pt x="9873" y="1715"/>
                  </a:lnTo>
                  <a:lnTo>
                    <a:pt x="10239" y="3371"/>
                  </a:lnTo>
                  <a:cubicBezTo>
                    <a:pt x="10226" y="4895"/>
                    <a:pt x="10214" y="6419"/>
                    <a:pt x="10201" y="7943"/>
                  </a:cubicBezTo>
                  <a:cubicBezTo>
                    <a:pt x="10204" y="8590"/>
                    <a:pt x="10207" y="9238"/>
                    <a:pt x="10210" y="9885"/>
                  </a:cubicBezTo>
                  <a:lnTo>
                    <a:pt x="16" y="10000"/>
                  </a:lnTo>
                  <a:close/>
                </a:path>
              </a:pathLst>
            </a:custGeom>
            <a:solidFill>
              <a:srgbClr val="33CCCC"/>
            </a:solidFill>
            <a:ln w="3175" cap="flat" cmpd="sng">
              <a:noFill/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52" name="Freeform 151" descr="Dark vertical"/>
            <p:cNvSpPr>
              <a:spLocks/>
            </p:cNvSpPr>
            <p:nvPr/>
          </p:nvSpPr>
          <p:spPr bwMode="gray">
            <a:xfrm>
              <a:off x="7917164" y="3102158"/>
              <a:ext cx="1957441" cy="293385"/>
            </a:xfrm>
            <a:custGeom>
              <a:avLst/>
              <a:gdLst>
                <a:gd name="T0" fmla="*/ 94 w 1031"/>
                <a:gd name="T1" fmla="*/ 169 h 172"/>
                <a:gd name="T2" fmla="*/ 1 w 1031"/>
                <a:gd name="T3" fmla="*/ 171 h 172"/>
                <a:gd name="T4" fmla="*/ 0 w 1031"/>
                <a:gd name="T5" fmla="*/ 86 h 172"/>
                <a:gd name="T6" fmla="*/ 66 w 1031"/>
                <a:gd name="T7" fmla="*/ 79 h 172"/>
                <a:gd name="T8" fmla="*/ 125 w 1031"/>
                <a:gd name="T9" fmla="*/ 67 h 172"/>
                <a:gd name="T10" fmla="*/ 182 w 1031"/>
                <a:gd name="T11" fmla="*/ 66 h 172"/>
                <a:gd name="T12" fmla="*/ 224 w 1031"/>
                <a:gd name="T13" fmla="*/ 79 h 172"/>
                <a:gd name="T14" fmla="*/ 270 w 1031"/>
                <a:gd name="T15" fmla="*/ 10 h 172"/>
                <a:gd name="T16" fmla="*/ 314 w 1031"/>
                <a:gd name="T17" fmla="*/ 6 h 172"/>
                <a:gd name="T18" fmla="*/ 353 w 1031"/>
                <a:gd name="T19" fmla="*/ 74 h 172"/>
                <a:gd name="T20" fmla="*/ 378 w 1031"/>
                <a:gd name="T21" fmla="*/ 102 h 172"/>
                <a:gd name="T22" fmla="*/ 417 w 1031"/>
                <a:gd name="T23" fmla="*/ 77 h 172"/>
                <a:gd name="T24" fmla="*/ 530 w 1031"/>
                <a:gd name="T25" fmla="*/ 19 h 172"/>
                <a:gd name="T26" fmla="*/ 590 w 1031"/>
                <a:gd name="T27" fmla="*/ 19 h 172"/>
                <a:gd name="T28" fmla="*/ 618 w 1031"/>
                <a:gd name="T29" fmla="*/ 100 h 172"/>
                <a:gd name="T30" fmla="*/ 695 w 1031"/>
                <a:gd name="T31" fmla="*/ 86 h 172"/>
                <a:gd name="T32" fmla="*/ 758 w 1031"/>
                <a:gd name="T33" fmla="*/ 110 h 172"/>
                <a:gd name="T34" fmla="*/ 794 w 1031"/>
                <a:gd name="T35" fmla="*/ 54 h 172"/>
                <a:gd name="T36" fmla="*/ 854 w 1031"/>
                <a:gd name="T37" fmla="*/ 110 h 172"/>
                <a:gd name="T38" fmla="*/ 942 w 1031"/>
                <a:gd name="T39" fmla="*/ 46 h 172"/>
                <a:gd name="T40" fmla="*/ 1018 w 1031"/>
                <a:gd name="T41" fmla="*/ 90 h 172"/>
                <a:gd name="T42" fmla="*/ 1031 w 1031"/>
                <a:gd name="T43" fmla="*/ 170 h 172"/>
                <a:gd name="T44" fmla="*/ 338 w 1031"/>
                <a:gd name="T45" fmla="*/ 172 h 172"/>
                <a:gd name="T46" fmla="*/ 94 w 1031"/>
                <a:gd name="T47" fmla="*/ 169 h 17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31"/>
                <a:gd name="T73" fmla="*/ 0 h 172"/>
                <a:gd name="T74" fmla="*/ 1031 w 1031"/>
                <a:gd name="T75" fmla="*/ 172 h 17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31" h="172">
                  <a:moveTo>
                    <a:pt x="94" y="169"/>
                  </a:moveTo>
                  <a:lnTo>
                    <a:pt x="1" y="171"/>
                  </a:lnTo>
                  <a:lnTo>
                    <a:pt x="0" y="86"/>
                  </a:lnTo>
                  <a:cubicBezTo>
                    <a:pt x="11" y="70"/>
                    <a:pt x="46" y="82"/>
                    <a:pt x="66" y="79"/>
                  </a:cubicBezTo>
                  <a:cubicBezTo>
                    <a:pt x="120" y="49"/>
                    <a:pt x="87" y="72"/>
                    <a:pt x="125" y="67"/>
                  </a:cubicBezTo>
                  <a:cubicBezTo>
                    <a:pt x="137" y="61"/>
                    <a:pt x="172" y="71"/>
                    <a:pt x="182" y="66"/>
                  </a:cubicBezTo>
                  <a:cubicBezTo>
                    <a:pt x="202" y="35"/>
                    <a:pt x="198" y="76"/>
                    <a:pt x="224" y="79"/>
                  </a:cubicBezTo>
                  <a:cubicBezTo>
                    <a:pt x="230" y="117"/>
                    <a:pt x="239" y="0"/>
                    <a:pt x="270" y="10"/>
                  </a:cubicBezTo>
                  <a:cubicBezTo>
                    <a:pt x="297" y="26"/>
                    <a:pt x="290" y="17"/>
                    <a:pt x="314" y="6"/>
                  </a:cubicBezTo>
                  <a:cubicBezTo>
                    <a:pt x="333" y="19"/>
                    <a:pt x="341" y="58"/>
                    <a:pt x="353" y="74"/>
                  </a:cubicBezTo>
                  <a:cubicBezTo>
                    <a:pt x="364" y="90"/>
                    <a:pt x="375" y="116"/>
                    <a:pt x="378" y="102"/>
                  </a:cubicBezTo>
                  <a:cubicBezTo>
                    <a:pt x="411" y="82"/>
                    <a:pt x="375" y="82"/>
                    <a:pt x="417" y="77"/>
                  </a:cubicBezTo>
                  <a:cubicBezTo>
                    <a:pt x="442" y="65"/>
                    <a:pt x="501" y="29"/>
                    <a:pt x="530" y="19"/>
                  </a:cubicBezTo>
                  <a:cubicBezTo>
                    <a:pt x="559" y="9"/>
                    <a:pt x="575" y="6"/>
                    <a:pt x="590" y="19"/>
                  </a:cubicBezTo>
                  <a:cubicBezTo>
                    <a:pt x="612" y="30"/>
                    <a:pt x="592" y="73"/>
                    <a:pt x="618" y="100"/>
                  </a:cubicBezTo>
                  <a:cubicBezTo>
                    <a:pt x="671" y="98"/>
                    <a:pt x="642" y="89"/>
                    <a:pt x="695" y="86"/>
                  </a:cubicBezTo>
                  <a:cubicBezTo>
                    <a:pt x="709" y="49"/>
                    <a:pt x="737" y="88"/>
                    <a:pt x="758" y="110"/>
                  </a:cubicBezTo>
                  <a:cubicBezTo>
                    <a:pt x="769" y="121"/>
                    <a:pt x="794" y="54"/>
                    <a:pt x="794" y="54"/>
                  </a:cubicBezTo>
                  <a:cubicBezTo>
                    <a:pt x="802" y="95"/>
                    <a:pt x="832" y="101"/>
                    <a:pt x="854" y="110"/>
                  </a:cubicBezTo>
                  <a:cubicBezTo>
                    <a:pt x="863" y="115"/>
                    <a:pt x="912" y="57"/>
                    <a:pt x="942" y="46"/>
                  </a:cubicBezTo>
                  <a:lnTo>
                    <a:pt x="1018" y="90"/>
                  </a:lnTo>
                  <a:lnTo>
                    <a:pt x="1031" y="170"/>
                  </a:lnTo>
                  <a:lnTo>
                    <a:pt x="338" y="172"/>
                  </a:lnTo>
                  <a:lnTo>
                    <a:pt x="94" y="169"/>
                  </a:lnTo>
                  <a:close/>
                </a:path>
              </a:pathLst>
            </a:custGeom>
            <a:solidFill>
              <a:srgbClr val="00B0F0"/>
            </a:solidFill>
            <a:ln w="3175" cap="flat" cmpd="sng">
              <a:noFill/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253" name="矩形 252"/>
          <p:cNvSpPr/>
          <p:nvPr/>
        </p:nvSpPr>
        <p:spPr bwMode="gray">
          <a:xfrm>
            <a:off x="6828089" y="4321409"/>
            <a:ext cx="589284" cy="337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 G</a:t>
            </a:r>
          </a:p>
        </p:txBody>
      </p:sp>
      <p:sp>
        <p:nvSpPr>
          <p:cNvPr id="254" name="矩形 253"/>
          <p:cNvSpPr/>
          <p:nvPr/>
        </p:nvSpPr>
        <p:spPr bwMode="gray">
          <a:xfrm>
            <a:off x="7458440" y="4923552"/>
            <a:ext cx="1866071" cy="488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tailEnd type="triangle"/>
          </a:ln>
          <a:effectLst/>
          <a:extLst/>
        </p:spPr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5" name="矩形 254"/>
          <p:cNvSpPr/>
          <p:nvPr/>
        </p:nvSpPr>
        <p:spPr bwMode="gray">
          <a:xfrm>
            <a:off x="7458440" y="5043661"/>
            <a:ext cx="1866071" cy="488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tailEnd type="triangle"/>
          </a:ln>
          <a:effectLst/>
          <a:extLst/>
        </p:spPr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6" name="矩形 255"/>
          <p:cNvSpPr/>
          <p:nvPr/>
        </p:nvSpPr>
        <p:spPr bwMode="gray">
          <a:xfrm>
            <a:off x="7473497" y="5300787"/>
            <a:ext cx="1866071" cy="488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tailEnd type="triangle"/>
          </a:ln>
          <a:effectLst/>
          <a:extLst/>
        </p:spPr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7" name="矩形 256"/>
          <p:cNvSpPr/>
          <p:nvPr/>
        </p:nvSpPr>
        <p:spPr bwMode="gray">
          <a:xfrm>
            <a:off x="7458440" y="5168040"/>
            <a:ext cx="1866071" cy="4884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tailEnd type="triangle"/>
          </a:ln>
          <a:effectLst/>
          <a:extLst/>
        </p:spPr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729979" y="3748255"/>
            <a:ext cx="906502" cy="1018243"/>
            <a:chOff x="1198672" y="3624157"/>
            <a:chExt cx="906502" cy="1018243"/>
          </a:xfrm>
        </p:grpSpPr>
        <p:sp>
          <p:nvSpPr>
            <p:cNvPr id="269" name="圆角矩形 268"/>
            <p:cNvSpPr/>
            <p:nvPr/>
          </p:nvSpPr>
          <p:spPr bwMode="gray">
            <a:xfrm>
              <a:off x="1198672" y="4143720"/>
              <a:ext cx="906502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0" name="圆角矩形 269"/>
            <p:cNvSpPr/>
            <p:nvPr/>
          </p:nvSpPr>
          <p:spPr bwMode="gray">
            <a:xfrm>
              <a:off x="1198672" y="4390400"/>
              <a:ext cx="906502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PHY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4" name="圆角矩形 273"/>
            <p:cNvSpPr/>
            <p:nvPr/>
          </p:nvSpPr>
          <p:spPr bwMode="gray">
            <a:xfrm>
              <a:off x="1198672" y="3624157"/>
              <a:ext cx="906502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7" name="圆角矩形 276"/>
            <p:cNvSpPr/>
            <p:nvPr/>
          </p:nvSpPr>
          <p:spPr bwMode="gray">
            <a:xfrm>
              <a:off x="1198672" y="3888748"/>
              <a:ext cx="906502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QoS</a:t>
              </a:r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调度</a:t>
              </a:r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10615597" y="3587386"/>
            <a:ext cx="912630" cy="1256197"/>
            <a:chOff x="3148678" y="3724331"/>
            <a:chExt cx="912630" cy="1256197"/>
          </a:xfrm>
        </p:grpSpPr>
        <p:sp>
          <p:nvSpPr>
            <p:cNvPr id="271" name="圆角矩形 270"/>
            <p:cNvSpPr/>
            <p:nvPr/>
          </p:nvSpPr>
          <p:spPr bwMode="gray">
            <a:xfrm>
              <a:off x="3148678" y="4228120"/>
              <a:ext cx="912630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FlexE</a:t>
              </a:r>
              <a:endPara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2" name="圆角矩形 271"/>
            <p:cNvSpPr/>
            <p:nvPr/>
          </p:nvSpPr>
          <p:spPr bwMode="gray">
            <a:xfrm>
              <a:off x="3148678" y="4470190"/>
              <a:ext cx="912630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PHY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3" name="圆角矩形 272"/>
            <p:cNvSpPr/>
            <p:nvPr/>
          </p:nvSpPr>
          <p:spPr bwMode="gray">
            <a:xfrm>
              <a:off x="3148678" y="4728528"/>
              <a:ext cx="912630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8" name="圆角矩形 277"/>
            <p:cNvSpPr/>
            <p:nvPr/>
          </p:nvSpPr>
          <p:spPr bwMode="gray">
            <a:xfrm>
              <a:off x="3148678" y="3724331"/>
              <a:ext cx="912630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1" name="圆角矩形 280"/>
            <p:cNvSpPr/>
            <p:nvPr/>
          </p:nvSpPr>
          <p:spPr bwMode="gray">
            <a:xfrm>
              <a:off x="3148678" y="3972951"/>
              <a:ext cx="912630" cy="252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>
              <a:noAutofit/>
            </a:bodyPr>
            <a:lstStyle/>
            <a:p>
              <a:pPr algn="ctr"/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QoS</a:t>
              </a:r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调度</a:t>
              </a:r>
            </a:p>
          </p:txBody>
        </p:sp>
      </p:grpSp>
      <p:sp>
        <p:nvSpPr>
          <p:cNvPr id="64" name="圆柱形 63"/>
          <p:cNvSpPr/>
          <p:nvPr/>
        </p:nvSpPr>
        <p:spPr bwMode="gray">
          <a:xfrm rot="16200000">
            <a:off x="2819447" y="2611305"/>
            <a:ext cx="1133087" cy="3383778"/>
          </a:xfrm>
          <a:prstGeom prst="can">
            <a:avLst>
              <a:gd name="adj" fmla="val 25914"/>
            </a:avLst>
          </a:prstGeom>
          <a:solidFill>
            <a:srgbClr val="4BB2FF">
              <a:alpha val="8000"/>
            </a:srgb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68" tIns="48384" rIns="96768" bIns="48384" numCol="1" rtlCol="0" anchor="t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5" name="组合 226"/>
          <p:cNvGrpSpPr/>
          <p:nvPr/>
        </p:nvGrpSpPr>
        <p:grpSpPr bwMode="gray">
          <a:xfrm>
            <a:off x="2153252" y="3887248"/>
            <a:ext cx="2215135" cy="709771"/>
            <a:chOff x="7917165" y="1798329"/>
            <a:chExt cx="2062918" cy="477902"/>
          </a:xfrm>
        </p:grpSpPr>
        <p:sp>
          <p:nvSpPr>
            <p:cNvPr id="66" name="Freeform 152" descr="Dark vertical"/>
            <p:cNvSpPr>
              <a:spLocks/>
            </p:cNvSpPr>
            <p:nvPr/>
          </p:nvSpPr>
          <p:spPr bwMode="gray">
            <a:xfrm flipV="1">
              <a:off x="7917166" y="1798329"/>
              <a:ext cx="2062917" cy="324801"/>
            </a:xfrm>
            <a:custGeom>
              <a:avLst/>
              <a:gdLst>
                <a:gd name="T0" fmla="*/ 5 w 1042"/>
                <a:gd name="T1" fmla="*/ 152 h 152"/>
                <a:gd name="T2" fmla="*/ 0 w 1042"/>
                <a:gd name="T3" fmla="*/ 118 h 152"/>
                <a:gd name="T4" fmla="*/ 57 w 1042"/>
                <a:gd name="T5" fmla="*/ 79 h 152"/>
                <a:gd name="T6" fmla="*/ 137 w 1042"/>
                <a:gd name="T7" fmla="*/ 84 h 152"/>
                <a:gd name="T8" fmla="*/ 142 w 1042"/>
                <a:gd name="T9" fmla="*/ 14 h 152"/>
                <a:gd name="T10" fmla="*/ 186 w 1042"/>
                <a:gd name="T11" fmla="*/ 18 h 152"/>
                <a:gd name="T12" fmla="*/ 198 w 1042"/>
                <a:gd name="T13" fmla="*/ 68 h 152"/>
                <a:gd name="T14" fmla="*/ 246 w 1042"/>
                <a:gd name="T15" fmla="*/ 54 h 152"/>
                <a:gd name="T16" fmla="*/ 268 w 1042"/>
                <a:gd name="T17" fmla="*/ 86 h 152"/>
                <a:gd name="T18" fmla="*/ 298 w 1042"/>
                <a:gd name="T19" fmla="*/ 90 h 152"/>
                <a:gd name="T20" fmla="*/ 382 w 1042"/>
                <a:gd name="T21" fmla="*/ 78 h 152"/>
                <a:gd name="T22" fmla="*/ 398 w 1042"/>
                <a:gd name="T23" fmla="*/ 50 h 152"/>
                <a:gd name="T24" fmla="*/ 422 w 1042"/>
                <a:gd name="T25" fmla="*/ 12 h 152"/>
                <a:gd name="T26" fmla="*/ 484 w 1042"/>
                <a:gd name="T27" fmla="*/ 12 h 152"/>
                <a:gd name="T28" fmla="*/ 562 w 1042"/>
                <a:gd name="T29" fmla="*/ 72 h 152"/>
                <a:gd name="T30" fmla="*/ 584 w 1042"/>
                <a:gd name="T31" fmla="*/ 62 h 152"/>
                <a:gd name="T32" fmla="*/ 598 w 1042"/>
                <a:gd name="T33" fmla="*/ 18 h 152"/>
                <a:gd name="T34" fmla="*/ 682 w 1042"/>
                <a:gd name="T35" fmla="*/ 12 h 152"/>
                <a:gd name="T36" fmla="*/ 716 w 1042"/>
                <a:gd name="T37" fmla="*/ 66 h 152"/>
                <a:gd name="T38" fmla="*/ 758 w 1042"/>
                <a:gd name="T39" fmla="*/ 92 h 152"/>
                <a:gd name="T40" fmla="*/ 820 w 1042"/>
                <a:gd name="T41" fmla="*/ 66 h 152"/>
                <a:gd name="T42" fmla="*/ 862 w 1042"/>
                <a:gd name="T43" fmla="*/ 10 h 152"/>
                <a:gd name="T44" fmla="*/ 922 w 1042"/>
                <a:gd name="T45" fmla="*/ 10 h 152"/>
                <a:gd name="T46" fmla="*/ 956 w 1042"/>
                <a:gd name="T47" fmla="*/ 34 h 152"/>
                <a:gd name="T48" fmla="*/ 1004 w 1042"/>
                <a:gd name="T49" fmla="*/ 7 h 152"/>
                <a:gd name="T50" fmla="*/ 1042 w 1042"/>
                <a:gd name="T51" fmla="*/ 36 h 152"/>
                <a:gd name="T52" fmla="*/ 1038 w 1042"/>
                <a:gd name="T53" fmla="*/ 116 h 152"/>
                <a:gd name="T54" fmla="*/ 1039 w 1042"/>
                <a:gd name="T55" fmla="*/ 150 h 152"/>
                <a:gd name="T56" fmla="*/ 5 w 1042"/>
                <a:gd name="T57" fmla="*/ 152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042"/>
                <a:gd name="T88" fmla="*/ 0 h 152"/>
                <a:gd name="T89" fmla="*/ 1042 w 1042"/>
                <a:gd name="T90" fmla="*/ 152 h 152"/>
                <a:gd name="connsiteX0" fmla="*/ 16 w 9968"/>
                <a:gd name="connsiteY0" fmla="*/ 11513 h 11513"/>
                <a:gd name="connsiteX1" fmla="*/ 611 w 9968"/>
                <a:gd name="connsiteY1" fmla="*/ 1513 h 11513"/>
                <a:gd name="connsiteX2" fmla="*/ 515 w 9968"/>
                <a:gd name="connsiteY2" fmla="*/ 6710 h 11513"/>
                <a:gd name="connsiteX3" fmla="*/ 1283 w 9968"/>
                <a:gd name="connsiteY3" fmla="*/ 7039 h 11513"/>
                <a:gd name="connsiteX4" fmla="*/ 1331 w 9968"/>
                <a:gd name="connsiteY4" fmla="*/ 2434 h 11513"/>
                <a:gd name="connsiteX5" fmla="*/ 1753 w 9968"/>
                <a:gd name="connsiteY5" fmla="*/ 2697 h 11513"/>
                <a:gd name="connsiteX6" fmla="*/ 1868 w 9968"/>
                <a:gd name="connsiteY6" fmla="*/ 5987 h 11513"/>
                <a:gd name="connsiteX7" fmla="*/ 2329 w 9968"/>
                <a:gd name="connsiteY7" fmla="*/ 5066 h 11513"/>
                <a:gd name="connsiteX8" fmla="*/ 2540 w 9968"/>
                <a:gd name="connsiteY8" fmla="*/ 7171 h 11513"/>
                <a:gd name="connsiteX9" fmla="*/ 2828 w 9968"/>
                <a:gd name="connsiteY9" fmla="*/ 7434 h 11513"/>
                <a:gd name="connsiteX10" fmla="*/ 3634 w 9968"/>
                <a:gd name="connsiteY10" fmla="*/ 6645 h 11513"/>
                <a:gd name="connsiteX11" fmla="*/ 3788 w 9968"/>
                <a:gd name="connsiteY11" fmla="*/ 4802 h 11513"/>
                <a:gd name="connsiteX12" fmla="*/ 4018 w 9968"/>
                <a:gd name="connsiteY12" fmla="*/ 2302 h 11513"/>
                <a:gd name="connsiteX13" fmla="*/ 4613 w 9968"/>
                <a:gd name="connsiteY13" fmla="*/ 2302 h 11513"/>
                <a:gd name="connsiteX14" fmla="*/ 5361 w 9968"/>
                <a:gd name="connsiteY14" fmla="*/ 6250 h 11513"/>
                <a:gd name="connsiteX15" fmla="*/ 5573 w 9968"/>
                <a:gd name="connsiteY15" fmla="*/ 5592 h 11513"/>
                <a:gd name="connsiteX16" fmla="*/ 5707 w 9968"/>
                <a:gd name="connsiteY16" fmla="*/ 2697 h 11513"/>
                <a:gd name="connsiteX17" fmla="*/ 6513 w 9968"/>
                <a:gd name="connsiteY17" fmla="*/ 2302 h 11513"/>
                <a:gd name="connsiteX18" fmla="*/ 6839 w 9968"/>
                <a:gd name="connsiteY18" fmla="*/ 5855 h 11513"/>
                <a:gd name="connsiteX19" fmla="*/ 7242 w 9968"/>
                <a:gd name="connsiteY19" fmla="*/ 7566 h 11513"/>
                <a:gd name="connsiteX20" fmla="*/ 7837 w 9968"/>
                <a:gd name="connsiteY20" fmla="*/ 5855 h 11513"/>
                <a:gd name="connsiteX21" fmla="*/ 8241 w 9968"/>
                <a:gd name="connsiteY21" fmla="*/ 2171 h 11513"/>
                <a:gd name="connsiteX22" fmla="*/ 8816 w 9968"/>
                <a:gd name="connsiteY22" fmla="*/ 2171 h 11513"/>
                <a:gd name="connsiteX23" fmla="*/ 9143 w 9968"/>
                <a:gd name="connsiteY23" fmla="*/ 3750 h 11513"/>
                <a:gd name="connsiteX24" fmla="*/ 9603 w 9968"/>
                <a:gd name="connsiteY24" fmla="*/ 1974 h 11513"/>
                <a:gd name="connsiteX25" fmla="*/ 9968 w 9968"/>
                <a:gd name="connsiteY25" fmla="*/ 3881 h 11513"/>
                <a:gd name="connsiteX26" fmla="*/ 9930 w 9968"/>
                <a:gd name="connsiteY26" fmla="*/ 9145 h 11513"/>
                <a:gd name="connsiteX27" fmla="*/ 9939 w 9968"/>
                <a:gd name="connsiteY27" fmla="*/ 11381 h 11513"/>
                <a:gd name="connsiteX28" fmla="*/ 16 w 9968"/>
                <a:gd name="connsiteY28" fmla="*/ 11513 h 11513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239 w 10223"/>
                <a:gd name="connsiteY0" fmla="*/ 10000 h 10000"/>
                <a:gd name="connsiteX1" fmla="*/ 0 w 10223"/>
                <a:gd name="connsiteY1" fmla="*/ 1314 h 10000"/>
                <a:gd name="connsiteX2" fmla="*/ 740 w 10223"/>
                <a:gd name="connsiteY2" fmla="*/ 5828 h 10000"/>
                <a:gd name="connsiteX3" fmla="*/ 1510 w 10223"/>
                <a:gd name="connsiteY3" fmla="*/ 6114 h 10000"/>
                <a:gd name="connsiteX4" fmla="*/ 1558 w 10223"/>
                <a:gd name="connsiteY4" fmla="*/ 2114 h 10000"/>
                <a:gd name="connsiteX5" fmla="*/ 1982 w 10223"/>
                <a:gd name="connsiteY5" fmla="*/ 2343 h 10000"/>
                <a:gd name="connsiteX6" fmla="*/ 2097 w 10223"/>
                <a:gd name="connsiteY6" fmla="*/ 5200 h 10000"/>
                <a:gd name="connsiteX7" fmla="*/ 2559 w 10223"/>
                <a:gd name="connsiteY7" fmla="*/ 4400 h 10000"/>
                <a:gd name="connsiteX8" fmla="*/ 2771 w 10223"/>
                <a:gd name="connsiteY8" fmla="*/ 6229 h 10000"/>
                <a:gd name="connsiteX9" fmla="*/ 3060 w 10223"/>
                <a:gd name="connsiteY9" fmla="*/ 6457 h 10000"/>
                <a:gd name="connsiteX10" fmla="*/ 3869 w 10223"/>
                <a:gd name="connsiteY10" fmla="*/ 5772 h 10000"/>
                <a:gd name="connsiteX11" fmla="*/ 4023 w 10223"/>
                <a:gd name="connsiteY11" fmla="*/ 4171 h 10000"/>
                <a:gd name="connsiteX12" fmla="*/ 4254 w 10223"/>
                <a:gd name="connsiteY12" fmla="*/ 1999 h 10000"/>
                <a:gd name="connsiteX13" fmla="*/ 4851 w 10223"/>
                <a:gd name="connsiteY13" fmla="*/ 1999 h 10000"/>
                <a:gd name="connsiteX14" fmla="*/ 5601 w 10223"/>
                <a:gd name="connsiteY14" fmla="*/ 5429 h 10000"/>
                <a:gd name="connsiteX15" fmla="*/ 5814 w 10223"/>
                <a:gd name="connsiteY15" fmla="*/ 4857 h 10000"/>
                <a:gd name="connsiteX16" fmla="*/ 5948 w 10223"/>
                <a:gd name="connsiteY16" fmla="*/ 2343 h 10000"/>
                <a:gd name="connsiteX17" fmla="*/ 6757 w 10223"/>
                <a:gd name="connsiteY17" fmla="*/ 1999 h 10000"/>
                <a:gd name="connsiteX18" fmla="*/ 7084 w 10223"/>
                <a:gd name="connsiteY18" fmla="*/ 5086 h 10000"/>
                <a:gd name="connsiteX19" fmla="*/ 7488 w 10223"/>
                <a:gd name="connsiteY19" fmla="*/ 6572 h 10000"/>
                <a:gd name="connsiteX20" fmla="*/ 8085 w 10223"/>
                <a:gd name="connsiteY20" fmla="*/ 5086 h 10000"/>
                <a:gd name="connsiteX21" fmla="*/ 8490 w 10223"/>
                <a:gd name="connsiteY21" fmla="*/ 1886 h 10000"/>
                <a:gd name="connsiteX22" fmla="*/ 9067 w 10223"/>
                <a:gd name="connsiteY22" fmla="*/ 1886 h 10000"/>
                <a:gd name="connsiteX23" fmla="*/ 9395 w 10223"/>
                <a:gd name="connsiteY23" fmla="*/ 3257 h 10000"/>
                <a:gd name="connsiteX24" fmla="*/ 9857 w 10223"/>
                <a:gd name="connsiteY24" fmla="*/ 1715 h 10000"/>
                <a:gd name="connsiteX25" fmla="*/ 10223 w 10223"/>
                <a:gd name="connsiteY25" fmla="*/ 3371 h 10000"/>
                <a:gd name="connsiteX26" fmla="*/ 10185 w 10223"/>
                <a:gd name="connsiteY26" fmla="*/ 7943 h 10000"/>
                <a:gd name="connsiteX27" fmla="*/ 10194 w 10223"/>
                <a:gd name="connsiteY27" fmla="*/ 9885 h 10000"/>
                <a:gd name="connsiteX28" fmla="*/ 239 w 10223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756 w 10239"/>
                <a:gd name="connsiteY2" fmla="*/ 5828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26 w 10239"/>
                <a:gd name="connsiteY3" fmla="*/ 6114 h 10000"/>
                <a:gd name="connsiteX4" fmla="*/ 1574 w 10239"/>
                <a:gd name="connsiteY4" fmla="*/ 2114 h 10000"/>
                <a:gd name="connsiteX5" fmla="*/ 1998 w 10239"/>
                <a:gd name="connsiteY5" fmla="*/ 2343 h 10000"/>
                <a:gd name="connsiteX6" fmla="*/ 2113 w 10239"/>
                <a:gd name="connsiteY6" fmla="*/ 5200 h 10000"/>
                <a:gd name="connsiteX7" fmla="*/ 2575 w 10239"/>
                <a:gd name="connsiteY7" fmla="*/ 4400 h 10000"/>
                <a:gd name="connsiteX8" fmla="*/ 2787 w 10239"/>
                <a:gd name="connsiteY8" fmla="*/ 6229 h 10000"/>
                <a:gd name="connsiteX9" fmla="*/ 3076 w 10239"/>
                <a:gd name="connsiteY9" fmla="*/ 6457 h 10000"/>
                <a:gd name="connsiteX10" fmla="*/ 3885 w 10239"/>
                <a:gd name="connsiteY10" fmla="*/ 5772 h 10000"/>
                <a:gd name="connsiteX11" fmla="*/ 4039 w 10239"/>
                <a:gd name="connsiteY11" fmla="*/ 4171 h 10000"/>
                <a:gd name="connsiteX12" fmla="*/ 4270 w 10239"/>
                <a:gd name="connsiteY12" fmla="*/ 1999 h 10000"/>
                <a:gd name="connsiteX13" fmla="*/ 4867 w 10239"/>
                <a:gd name="connsiteY13" fmla="*/ 1999 h 10000"/>
                <a:gd name="connsiteX14" fmla="*/ 5617 w 10239"/>
                <a:gd name="connsiteY14" fmla="*/ 5429 h 10000"/>
                <a:gd name="connsiteX15" fmla="*/ 5830 w 10239"/>
                <a:gd name="connsiteY15" fmla="*/ 4857 h 10000"/>
                <a:gd name="connsiteX16" fmla="*/ 5964 w 10239"/>
                <a:gd name="connsiteY16" fmla="*/ 2343 h 10000"/>
                <a:gd name="connsiteX17" fmla="*/ 6773 w 10239"/>
                <a:gd name="connsiteY17" fmla="*/ 1999 h 10000"/>
                <a:gd name="connsiteX18" fmla="*/ 7100 w 10239"/>
                <a:gd name="connsiteY18" fmla="*/ 5086 h 10000"/>
                <a:gd name="connsiteX19" fmla="*/ 7504 w 10239"/>
                <a:gd name="connsiteY19" fmla="*/ 6572 h 10000"/>
                <a:gd name="connsiteX20" fmla="*/ 8101 w 10239"/>
                <a:gd name="connsiteY20" fmla="*/ 5086 h 10000"/>
                <a:gd name="connsiteX21" fmla="*/ 8506 w 10239"/>
                <a:gd name="connsiteY21" fmla="*/ 1886 h 10000"/>
                <a:gd name="connsiteX22" fmla="*/ 9083 w 10239"/>
                <a:gd name="connsiteY22" fmla="*/ 1886 h 10000"/>
                <a:gd name="connsiteX23" fmla="*/ 9411 w 10239"/>
                <a:gd name="connsiteY23" fmla="*/ 3257 h 10000"/>
                <a:gd name="connsiteX24" fmla="*/ 9873 w 10239"/>
                <a:gd name="connsiteY24" fmla="*/ 1715 h 10000"/>
                <a:gd name="connsiteX25" fmla="*/ 10239 w 10239"/>
                <a:gd name="connsiteY25" fmla="*/ 3371 h 10000"/>
                <a:gd name="connsiteX26" fmla="*/ 10201 w 10239"/>
                <a:gd name="connsiteY26" fmla="*/ 7943 h 10000"/>
                <a:gd name="connsiteX27" fmla="*/ 10210 w 10239"/>
                <a:gd name="connsiteY27" fmla="*/ 9885 h 10000"/>
                <a:gd name="connsiteX28" fmla="*/ 16 w 10239"/>
                <a:gd name="connsiteY28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574 w 10239"/>
                <a:gd name="connsiteY3" fmla="*/ 2114 h 10000"/>
                <a:gd name="connsiteX4" fmla="*/ 1998 w 10239"/>
                <a:gd name="connsiteY4" fmla="*/ 2343 h 10000"/>
                <a:gd name="connsiteX5" fmla="*/ 2113 w 10239"/>
                <a:gd name="connsiteY5" fmla="*/ 5200 h 10000"/>
                <a:gd name="connsiteX6" fmla="*/ 2575 w 10239"/>
                <a:gd name="connsiteY6" fmla="*/ 4400 h 10000"/>
                <a:gd name="connsiteX7" fmla="*/ 2787 w 10239"/>
                <a:gd name="connsiteY7" fmla="*/ 6229 h 10000"/>
                <a:gd name="connsiteX8" fmla="*/ 3076 w 10239"/>
                <a:gd name="connsiteY8" fmla="*/ 6457 h 10000"/>
                <a:gd name="connsiteX9" fmla="*/ 3885 w 10239"/>
                <a:gd name="connsiteY9" fmla="*/ 5772 h 10000"/>
                <a:gd name="connsiteX10" fmla="*/ 4039 w 10239"/>
                <a:gd name="connsiteY10" fmla="*/ 4171 h 10000"/>
                <a:gd name="connsiteX11" fmla="*/ 4270 w 10239"/>
                <a:gd name="connsiteY11" fmla="*/ 1999 h 10000"/>
                <a:gd name="connsiteX12" fmla="*/ 4867 w 10239"/>
                <a:gd name="connsiteY12" fmla="*/ 1999 h 10000"/>
                <a:gd name="connsiteX13" fmla="*/ 5617 w 10239"/>
                <a:gd name="connsiteY13" fmla="*/ 5429 h 10000"/>
                <a:gd name="connsiteX14" fmla="*/ 5830 w 10239"/>
                <a:gd name="connsiteY14" fmla="*/ 4857 h 10000"/>
                <a:gd name="connsiteX15" fmla="*/ 5964 w 10239"/>
                <a:gd name="connsiteY15" fmla="*/ 2343 h 10000"/>
                <a:gd name="connsiteX16" fmla="*/ 6773 w 10239"/>
                <a:gd name="connsiteY16" fmla="*/ 1999 h 10000"/>
                <a:gd name="connsiteX17" fmla="*/ 7100 w 10239"/>
                <a:gd name="connsiteY17" fmla="*/ 5086 h 10000"/>
                <a:gd name="connsiteX18" fmla="*/ 7504 w 10239"/>
                <a:gd name="connsiteY18" fmla="*/ 6572 h 10000"/>
                <a:gd name="connsiteX19" fmla="*/ 8101 w 10239"/>
                <a:gd name="connsiteY19" fmla="*/ 5086 h 10000"/>
                <a:gd name="connsiteX20" fmla="*/ 8506 w 10239"/>
                <a:gd name="connsiteY20" fmla="*/ 1886 h 10000"/>
                <a:gd name="connsiteX21" fmla="*/ 9083 w 10239"/>
                <a:gd name="connsiteY21" fmla="*/ 1886 h 10000"/>
                <a:gd name="connsiteX22" fmla="*/ 9411 w 10239"/>
                <a:gd name="connsiteY22" fmla="*/ 3257 h 10000"/>
                <a:gd name="connsiteX23" fmla="*/ 9873 w 10239"/>
                <a:gd name="connsiteY23" fmla="*/ 1715 h 10000"/>
                <a:gd name="connsiteX24" fmla="*/ 10239 w 10239"/>
                <a:gd name="connsiteY24" fmla="*/ 3371 h 10000"/>
                <a:gd name="connsiteX25" fmla="*/ 10201 w 10239"/>
                <a:gd name="connsiteY25" fmla="*/ 7943 h 10000"/>
                <a:gd name="connsiteX26" fmla="*/ 10210 w 10239"/>
                <a:gd name="connsiteY26" fmla="*/ 9885 h 10000"/>
                <a:gd name="connsiteX27" fmla="*/ 16 w 10239"/>
                <a:gd name="connsiteY27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1998 w 10239"/>
                <a:gd name="connsiteY3" fmla="*/ 2343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113 w 10239"/>
                <a:gd name="connsiteY4" fmla="*/ 5200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787 w 10239"/>
                <a:gd name="connsiteY6" fmla="*/ 6229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2317 w 10239"/>
                <a:gd name="connsiteY6" fmla="*/ 5657 h 10000"/>
                <a:gd name="connsiteX7" fmla="*/ 3076 w 10239"/>
                <a:gd name="connsiteY7" fmla="*/ 6457 h 10000"/>
                <a:gd name="connsiteX8" fmla="*/ 3885 w 10239"/>
                <a:gd name="connsiteY8" fmla="*/ 5772 h 10000"/>
                <a:gd name="connsiteX9" fmla="*/ 4039 w 10239"/>
                <a:gd name="connsiteY9" fmla="*/ 4171 h 10000"/>
                <a:gd name="connsiteX10" fmla="*/ 4270 w 10239"/>
                <a:gd name="connsiteY10" fmla="*/ 1999 h 10000"/>
                <a:gd name="connsiteX11" fmla="*/ 4867 w 10239"/>
                <a:gd name="connsiteY11" fmla="*/ 1999 h 10000"/>
                <a:gd name="connsiteX12" fmla="*/ 5617 w 10239"/>
                <a:gd name="connsiteY12" fmla="*/ 5429 h 10000"/>
                <a:gd name="connsiteX13" fmla="*/ 5830 w 10239"/>
                <a:gd name="connsiteY13" fmla="*/ 4857 h 10000"/>
                <a:gd name="connsiteX14" fmla="*/ 5964 w 10239"/>
                <a:gd name="connsiteY14" fmla="*/ 2343 h 10000"/>
                <a:gd name="connsiteX15" fmla="*/ 6773 w 10239"/>
                <a:gd name="connsiteY15" fmla="*/ 1999 h 10000"/>
                <a:gd name="connsiteX16" fmla="*/ 7100 w 10239"/>
                <a:gd name="connsiteY16" fmla="*/ 5086 h 10000"/>
                <a:gd name="connsiteX17" fmla="*/ 7504 w 10239"/>
                <a:gd name="connsiteY17" fmla="*/ 6572 h 10000"/>
                <a:gd name="connsiteX18" fmla="*/ 8101 w 10239"/>
                <a:gd name="connsiteY18" fmla="*/ 5086 h 10000"/>
                <a:gd name="connsiteX19" fmla="*/ 8506 w 10239"/>
                <a:gd name="connsiteY19" fmla="*/ 1886 h 10000"/>
                <a:gd name="connsiteX20" fmla="*/ 9083 w 10239"/>
                <a:gd name="connsiteY20" fmla="*/ 1886 h 10000"/>
                <a:gd name="connsiteX21" fmla="*/ 9411 w 10239"/>
                <a:gd name="connsiteY21" fmla="*/ 3257 h 10000"/>
                <a:gd name="connsiteX22" fmla="*/ 9873 w 10239"/>
                <a:gd name="connsiteY22" fmla="*/ 1715 h 10000"/>
                <a:gd name="connsiteX23" fmla="*/ 10239 w 10239"/>
                <a:gd name="connsiteY23" fmla="*/ 3371 h 10000"/>
                <a:gd name="connsiteX24" fmla="*/ 10201 w 10239"/>
                <a:gd name="connsiteY24" fmla="*/ 7943 h 10000"/>
                <a:gd name="connsiteX25" fmla="*/ 10210 w 10239"/>
                <a:gd name="connsiteY25" fmla="*/ 9885 h 10000"/>
                <a:gd name="connsiteX26" fmla="*/ 16 w 10239"/>
                <a:gd name="connsiteY26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575 w 10239"/>
                <a:gd name="connsiteY5" fmla="*/ 4400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076 w 10239"/>
                <a:gd name="connsiteY6" fmla="*/ 64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2317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885 w 10239"/>
                <a:gd name="connsiteY7" fmla="*/ 5772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4039 w 10239"/>
                <a:gd name="connsiteY8" fmla="*/ 4171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  <a:gd name="connsiteX0" fmla="*/ 16 w 10239"/>
                <a:gd name="connsiteY0" fmla="*/ 10000 h 10000"/>
                <a:gd name="connsiteX1" fmla="*/ 16 w 10239"/>
                <a:gd name="connsiteY1" fmla="*/ 1314 h 10000"/>
                <a:gd name="connsiteX2" fmla="*/ 1481 w 10239"/>
                <a:gd name="connsiteY2" fmla="*/ 1314 h 10000"/>
                <a:gd name="connsiteX3" fmla="*/ 2317 w 10239"/>
                <a:gd name="connsiteY3" fmla="*/ 1314 h 10000"/>
                <a:gd name="connsiteX4" fmla="*/ 2317 w 10239"/>
                <a:gd name="connsiteY4" fmla="*/ 1314 h 10000"/>
                <a:gd name="connsiteX5" fmla="*/ 2317 w 10239"/>
                <a:gd name="connsiteY5" fmla="*/ 1314 h 10000"/>
                <a:gd name="connsiteX6" fmla="*/ 3153 w 10239"/>
                <a:gd name="connsiteY6" fmla="*/ 5657 h 10000"/>
                <a:gd name="connsiteX7" fmla="*/ 3153 w 10239"/>
                <a:gd name="connsiteY7" fmla="*/ 5657 h 10000"/>
                <a:gd name="connsiteX8" fmla="*/ 3989 w 10239"/>
                <a:gd name="connsiteY8" fmla="*/ 1314 h 10000"/>
                <a:gd name="connsiteX9" fmla="*/ 4270 w 10239"/>
                <a:gd name="connsiteY9" fmla="*/ 1999 h 10000"/>
                <a:gd name="connsiteX10" fmla="*/ 4867 w 10239"/>
                <a:gd name="connsiteY10" fmla="*/ 1999 h 10000"/>
                <a:gd name="connsiteX11" fmla="*/ 5617 w 10239"/>
                <a:gd name="connsiteY11" fmla="*/ 5429 h 10000"/>
                <a:gd name="connsiteX12" fmla="*/ 5830 w 10239"/>
                <a:gd name="connsiteY12" fmla="*/ 4857 h 10000"/>
                <a:gd name="connsiteX13" fmla="*/ 5964 w 10239"/>
                <a:gd name="connsiteY13" fmla="*/ 2343 h 10000"/>
                <a:gd name="connsiteX14" fmla="*/ 6773 w 10239"/>
                <a:gd name="connsiteY14" fmla="*/ 1999 h 10000"/>
                <a:gd name="connsiteX15" fmla="*/ 7100 w 10239"/>
                <a:gd name="connsiteY15" fmla="*/ 5086 h 10000"/>
                <a:gd name="connsiteX16" fmla="*/ 7504 w 10239"/>
                <a:gd name="connsiteY16" fmla="*/ 6572 h 10000"/>
                <a:gd name="connsiteX17" fmla="*/ 8101 w 10239"/>
                <a:gd name="connsiteY17" fmla="*/ 5086 h 10000"/>
                <a:gd name="connsiteX18" fmla="*/ 8506 w 10239"/>
                <a:gd name="connsiteY18" fmla="*/ 1886 h 10000"/>
                <a:gd name="connsiteX19" fmla="*/ 9083 w 10239"/>
                <a:gd name="connsiteY19" fmla="*/ 1886 h 10000"/>
                <a:gd name="connsiteX20" fmla="*/ 9411 w 10239"/>
                <a:gd name="connsiteY20" fmla="*/ 3257 h 10000"/>
                <a:gd name="connsiteX21" fmla="*/ 9873 w 10239"/>
                <a:gd name="connsiteY21" fmla="*/ 1715 h 10000"/>
                <a:gd name="connsiteX22" fmla="*/ 10239 w 10239"/>
                <a:gd name="connsiteY22" fmla="*/ 3371 h 10000"/>
                <a:gd name="connsiteX23" fmla="*/ 10201 w 10239"/>
                <a:gd name="connsiteY23" fmla="*/ 7943 h 10000"/>
                <a:gd name="connsiteX24" fmla="*/ 10210 w 10239"/>
                <a:gd name="connsiteY24" fmla="*/ 9885 h 10000"/>
                <a:gd name="connsiteX25" fmla="*/ 16 w 10239"/>
                <a:gd name="connsiteY2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39" h="10000">
                  <a:moveTo>
                    <a:pt x="16" y="10000"/>
                  </a:moveTo>
                  <a:cubicBezTo>
                    <a:pt x="0" y="9352"/>
                    <a:pt x="32" y="1962"/>
                    <a:pt x="16" y="1314"/>
                  </a:cubicBezTo>
                  <a:cubicBezTo>
                    <a:pt x="64" y="0"/>
                    <a:pt x="1288" y="2229"/>
                    <a:pt x="1481" y="1314"/>
                  </a:cubicBezTo>
                  <a:cubicBezTo>
                    <a:pt x="1811" y="1485"/>
                    <a:pt x="2178" y="1314"/>
                    <a:pt x="2317" y="1314"/>
                  </a:cubicBezTo>
                  <a:lnTo>
                    <a:pt x="2317" y="1314"/>
                  </a:lnTo>
                  <a:lnTo>
                    <a:pt x="2317" y="1314"/>
                  </a:lnTo>
                  <a:cubicBezTo>
                    <a:pt x="2443" y="2171"/>
                    <a:pt x="2935" y="5428"/>
                    <a:pt x="3153" y="5657"/>
                  </a:cubicBezTo>
                  <a:lnTo>
                    <a:pt x="3153" y="5657"/>
                  </a:lnTo>
                  <a:cubicBezTo>
                    <a:pt x="3316" y="5256"/>
                    <a:pt x="3921" y="1943"/>
                    <a:pt x="3989" y="1314"/>
                  </a:cubicBezTo>
                  <a:cubicBezTo>
                    <a:pt x="4182" y="514"/>
                    <a:pt x="4048" y="1600"/>
                    <a:pt x="4270" y="1999"/>
                  </a:cubicBezTo>
                  <a:cubicBezTo>
                    <a:pt x="4568" y="1314"/>
                    <a:pt x="4492" y="2171"/>
                    <a:pt x="4867" y="1999"/>
                  </a:cubicBezTo>
                  <a:cubicBezTo>
                    <a:pt x="5416" y="2686"/>
                    <a:pt x="4684" y="5200"/>
                    <a:pt x="5617" y="5429"/>
                  </a:cubicBezTo>
                  <a:cubicBezTo>
                    <a:pt x="5801" y="5886"/>
                    <a:pt x="5560" y="3714"/>
                    <a:pt x="5830" y="4857"/>
                  </a:cubicBezTo>
                  <a:cubicBezTo>
                    <a:pt x="5875" y="4019"/>
                    <a:pt x="5919" y="3181"/>
                    <a:pt x="5964" y="2343"/>
                  </a:cubicBezTo>
                  <a:cubicBezTo>
                    <a:pt x="6157" y="2343"/>
                    <a:pt x="6580" y="1543"/>
                    <a:pt x="6773" y="1999"/>
                  </a:cubicBezTo>
                  <a:cubicBezTo>
                    <a:pt x="6966" y="2457"/>
                    <a:pt x="6976" y="4343"/>
                    <a:pt x="7100" y="5086"/>
                  </a:cubicBezTo>
                  <a:cubicBezTo>
                    <a:pt x="7225" y="5828"/>
                    <a:pt x="7341" y="6572"/>
                    <a:pt x="7504" y="6572"/>
                  </a:cubicBezTo>
                  <a:cubicBezTo>
                    <a:pt x="7581" y="6229"/>
                    <a:pt x="7938" y="5886"/>
                    <a:pt x="8101" y="5086"/>
                  </a:cubicBezTo>
                  <a:cubicBezTo>
                    <a:pt x="8266" y="4286"/>
                    <a:pt x="8342" y="2400"/>
                    <a:pt x="8506" y="1886"/>
                  </a:cubicBezTo>
                  <a:cubicBezTo>
                    <a:pt x="8603" y="2114"/>
                    <a:pt x="8939" y="1543"/>
                    <a:pt x="9083" y="1886"/>
                  </a:cubicBezTo>
                  <a:cubicBezTo>
                    <a:pt x="9192" y="2343"/>
                    <a:pt x="9302" y="2800"/>
                    <a:pt x="9411" y="3257"/>
                  </a:cubicBezTo>
                  <a:lnTo>
                    <a:pt x="9873" y="1715"/>
                  </a:lnTo>
                  <a:lnTo>
                    <a:pt x="10239" y="3371"/>
                  </a:lnTo>
                  <a:cubicBezTo>
                    <a:pt x="10226" y="4895"/>
                    <a:pt x="10214" y="6419"/>
                    <a:pt x="10201" y="7943"/>
                  </a:cubicBezTo>
                  <a:cubicBezTo>
                    <a:pt x="10204" y="8590"/>
                    <a:pt x="10207" y="9238"/>
                    <a:pt x="10210" y="9885"/>
                  </a:cubicBezTo>
                  <a:lnTo>
                    <a:pt x="16" y="10000"/>
                  </a:lnTo>
                  <a:close/>
                </a:path>
              </a:pathLst>
            </a:custGeom>
            <a:pattFill prst="dkVert">
              <a:fgClr>
                <a:srgbClr val="33CCCC"/>
              </a:fgClr>
              <a:bgClr>
                <a:schemeClr val="bg1"/>
              </a:bgClr>
            </a:pattFill>
            <a:ln w="3175" cap="flat" cmpd="sng">
              <a:solidFill>
                <a:srgbClr val="33CCCC"/>
              </a:solidFill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7" name="Freeform 151" descr="Dark vertical"/>
            <p:cNvSpPr>
              <a:spLocks/>
            </p:cNvSpPr>
            <p:nvPr/>
          </p:nvSpPr>
          <p:spPr bwMode="gray">
            <a:xfrm>
              <a:off x="7917165" y="1973895"/>
              <a:ext cx="2062917" cy="302336"/>
            </a:xfrm>
            <a:custGeom>
              <a:avLst/>
              <a:gdLst>
                <a:gd name="T0" fmla="*/ 94 w 1031"/>
                <a:gd name="T1" fmla="*/ 169 h 172"/>
                <a:gd name="T2" fmla="*/ 1 w 1031"/>
                <a:gd name="T3" fmla="*/ 171 h 172"/>
                <a:gd name="T4" fmla="*/ 0 w 1031"/>
                <a:gd name="T5" fmla="*/ 86 h 172"/>
                <a:gd name="T6" fmla="*/ 66 w 1031"/>
                <a:gd name="T7" fmla="*/ 79 h 172"/>
                <a:gd name="T8" fmla="*/ 125 w 1031"/>
                <a:gd name="T9" fmla="*/ 67 h 172"/>
                <a:gd name="T10" fmla="*/ 182 w 1031"/>
                <a:gd name="T11" fmla="*/ 66 h 172"/>
                <a:gd name="T12" fmla="*/ 224 w 1031"/>
                <a:gd name="T13" fmla="*/ 79 h 172"/>
                <a:gd name="T14" fmla="*/ 270 w 1031"/>
                <a:gd name="T15" fmla="*/ 10 h 172"/>
                <a:gd name="T16" fmla="*/ 314 w 1031"/>
                <a:gd name="T17" fmla="*/ 6 h 172"/>
                <a:gd name="T18" fmla="*/ 353 w 1031"/>
                <a:gd name="T19" fmla="*/ 74 h 172"/>
                <a:gd name="T20" fmla="*/ 378 w 1031"/>
                <a:gd name="T21" fmla="*/ 102 h 172"/>
                <a:gd name="T22" fmla="*/ 417 w 1031"/>
                <a:gd name="T23" fmla="*/ 77 h 172"/>
                <a:gd name="T24" fmla="*/ 530 w 1031"/>
                <a:gd name="T25" fmla="*/ 19 h 172"/>
                <a:gd name="T26" fmla="*/ 590 w 1031"/>
                <a:gd name="T27" fmla="*/ 19 h 172"/>
                <a:gd name="T28" fmla="*/ 618 w 1031"/>
                <a:gd name="T29" fmla="*/ 100 h 172"/>
                <a:gd name="T30" fmla="*/ 695 w 1031"/>
                <a:gd name="T31" fmla="*/ 86 h 172"/>
                <a:gd name="T32" fmla="*/ 758 w 1031"/>
                <a:gd name="T33" fmla="*/ 110 h 172"/>
                <a:gd name="T34" fmla="*/ 794 w 1031"/>
                <a:gd name="T35" fmla="*/ 54 h 172"/>
                <a:gd name="T36" fmla="*/ 854 w 1031"/>
                <a:gd name="T37" fmla="*/ 110 h 172"/>
                <a:gd name="T38" fmla="*/ 942 w 1031"/>
                <a:gd name="T39" fmla="*/ 46 h 172"/>
                <a:gd name="T40" fmla="*/ 1018 w 1031"/>
                <a:gd name="T41" fmla="*/ 90 h 172"/>
                <a:gd name="T42" fmla="*/ 1031 w 1031"/>
                <a:gd name="T43" fmla="*/ 170 h 172"/>
                <a:gd name="T44" fmla="*/ 338 w 1031"/>
                <a:gd name="T45" fmla="*/ 172 h 172"/>
                <a:gd name="T46" fmla="*/ 94 w 1031"/>
                <a:gd name="T47" fmla="*/ 169 h 17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31"/>
                <a:gd name="T73" fmla="*/ 0 h 172"/>
                <a:gd name="T74" fmla="*/ 1031 w 1031"/>
                <a:gd name="T75" fmla="*/ 172 h 17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31" h="172">
                  <a:moveTo>
                    <a:pt x="94" y="169"/>
                  </a:moveTo>
                  <a:lnTo>
                    <a:pt x="1" y="171"/>
                  </a:lnTo>
                  <a:lnTo>
                    <a:pt x="0" y="86"/>
                  </a:lnTo>
                  <a:cubicBezTo>
                    <a:pt x="11" y="70"/>
                    <a:pt x="46" y="82"/>
                    <a:pt x="66" y="79"/>
                  </a:cubicBezTo>
                  <a:cubicBezTo>
                    <a:pt x="120" y="49"/>
                    <a:pt x="87" y="72"/>
                    <a:pt x="125" y="67"/>
                  </a:cubicBezTo>
                  <a:cubicBezTo>
                    <a:pt x="137" y="61"/>
                    <a:pt x="172" y="71"/>
                    <a:pt x="182" y="66"/>
                  </a:cubicBezTo>
                  <a:cubicBezTo>
                    <a:pt x="202" y="35"/>
                    <a:pt x="198" y="76"/>
                    <a:pt x="224" y="79"/>
                  </a:cubicBezTo>
                  <a:cubicBezTo>
                    <a:pt x="230" y="117"/>
                    <a:pt x="239" y="0"/>
                    <a:pt x="270" y="10"/>
                  </a:cubicBezTo>
                  <a:cubicBezTo>
                    <a:pt x="297" y="26"/>
                    <a:pt x="290" y="17"/>
                    <a:pt x="314" y="6"/>
                  </a:cubicBezTo>
                  <a:cubicBezTo>
                    <a:pt x="333" y="19"/>
                    <a:pt x="341" y="58"/>
                    <a:pt x="353" y="74"/>
                  </a:cubicBezTo>
                  <a:cubicBezTo>
                    <a:pt x="364" y="90"/>
                    <a:pt x="375" y="116"/>
                    <a:pt x="378" y="102"/>
                  </a:cubicBezTo>
                  <a:cubicBezTo>
                    <a:pt x="411" y="82"/>
                    <a:pt x="375" y="82"/>
                    <a:pt x="417" y="77"/>
                  </a:cubicBezTo>
                  <a:cubicBezTo>
                    <a:pt x="442" y="65"/>
                    <a:pt x="501" y="29"/>
                    <a:pt x="530" y="19"/>
                  </a:cubicBezTo>
                  <a:cubicBezTo>
                    <a:pt x="559" y="9"/>
                    <a:pt x="575" y="6"/>
                    <a:pt x="590" y="19"/>
                  </a:cubicBezTo>
                  <a:cubicBezTo>
                    <a:pt x="612" y="30"/>
                    <a:pt x="592" y="73"/>
                    <a:pt x="618" y="100"/>
                  </a:cubicBezTo>
                  <a:cubicBezTo>
                    <a:pt x="671" y="98"/>
                    <a:pt x="642" y="89"/>
                    <a:pt x="695" y="86"/>
                  </a:cubicBezTo>
                  <a:cubicBezTo>
                    <a:pt x="709" y="49"/>
                    <a:pt x="737" y="88"/>
                    <a:pt x="758" y="110"/>
                  </a:cubicBezTo>
                  <a:cubicBezTo>
                    <a:pt x="769" y="121"/>
                    <a:pt x="794" y="54"/>
                    <a:pt x="794" y="54"/>
                  </a:cubicBezTo>
                  <a:cubicBezTo>
                    <a:pt x="802" y="95"/>
                    <a:pt x="832" y="101"/>
                    <a:pt x="854" y="110"/>
                  </a:cubicBezTo>
                  <a:cubicBezTo>
                    <a:pt x="863" y="115"/>
                    <a:pt x="912" y="57"/>
                    <a:pt x="942" y="46"/>
                  </a:cubicBezTo>
                  <a:lnTo>
                    <a:pt x="1018" y="90"/>
                  </a:lnTo>
                  <a:lnTo>
                    <a:pt x="1031" y="170"/>
                  </a:lnTo>
                  <a:lnTo>
                    <a:pt x="338" y="172"/>
                  </a:lnTo>
                  <a:lnTo>
                    <a:pt x="94" y="169"/>
                  </a:lnTo>
                  <a:close/>
                </a:path>
              </a:pathLst>
            </a:custGeom>
            <a:pattFill prst="dkVert">
              <a:fgClr>
                <a:srgbClr val="00B0F0"/>
              </a:fgClr>
              <a:bgClr>
                <a:srgbClr val="CCECFF"/>
              </a:bgClr>
            </a:pattFill>
            <a:ln w="3175" cap="flat" cmpd="sng">
              <a:solidFill>
                <a:srgbClr val="00B0F0"/>
              </a:solidFill>
              <a:prstDash val="solid"/>
              <a:round/>
              <a:headEnd/>
              <a:tailEnd/>
            </a:ln>
          </p:spPr>
          <p:txBody>
            <a:bodyPr wrap="none" lIns="36000" tIns="36000" rIns="36000" bIns="36000"/>
            <a:lstStyle/>
            <a:p>
              <a:pPr>
                <a:buNone/>
                <a:defRPr/>
              </a:pPr>
              <a:endPara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Calibri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68" name="TextBox 229"/>
          <p:cNvSpPr txBox="1"/>
          <p:nvPr/>
        </p:nvSpPr>
        <p:spPr bwMode="gray">
          <a:xfrm>
            <a:off x="4636519" y="4064208"/>
            <a:ext cx="30777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统计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buNone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复用</a:t>
            </a:r>
          </a:p>
        </p:txBody>
      </p:sp>
      <p:sp>
        <p:nvSpPr>
          <p:cNvPr id="69" name="矩形 68"/>
          <p:cNvSpPr/>
          <p:nvPr/>
        </p:nvSpPr>
        <p:spPr bwMode="gray">
          <a:xfrm>
            <a:off x="5092679" y="3540835"/>
            <a:ext cx="571183" cy="1644636"/>
          </a:xfrm>
          <a:prstGeom prst="rect">
            <a:avLst/>
          </a:prstGeom>
          <a:solidFill>
            <a:srgbClr val="4BB2FF">
              <a:alpha val="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PHY</a:t>
            </a:r>
          </a:p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 G</a:t>
            </a:r>
            <a:endParaRPr lang="zh-CN" altLang="en-US" sz="12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6179051" y="3540446"/>
            <a:ext cx="571183" cy="1644636"/>
          </a:xfrm>
          <a:prstGeom prst="rect">
            <a:avLst/>
          </a:prstGeom>
          <a:solidFill>
            <a:srgbClr val="4BB2FF">
              <a:alpha val="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PHY</a:t>
            </a:r>
          </a:p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6780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 G</a:t>
            </a:r>
            <a:endParaRPr lang="zh-CN" altLang="en-US" sz="12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512214" y="3297368"/>
            <a:ext cx="5359400" cy="2456824"/>
          </a:xfrm>
          <a:prstGeom prst="rect">
            <a:avLst/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6089379" y="3297368"/>
            <a:ext cx="5659708" cy="2456824"/>
          </a:xfrm>
          <a:prstGeom prst="rect">
            <a:avLst/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="" xmlns:a16="http://schemas.microsoft.com/office/drawing/2014/main" id="{9D63E4C5-9E3E-413D-852E-5104319C3FCC}"/>
              </a:ext>
            </a:extLst>
          </p:cNvPr>
          <p:cNvSpPr txBox="1"/>
          <p:nvPr/>
        </p:nvSpPr>
        <p:spPr bwMode="gray">
          <a:xfrm>
            <a:off x="2509218" y="5418869"/>
            <a:ext cx="1249982" cy="338554"/>
          </a:xfrm>
          <a:prstGeom prst="rect">
            <a:avLst/>
          </a:prstGeom>
          <a:solidFill>
            <a:srgbClr val="30B5C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="" xmlns:a16="http://schemas.microsoft.com/office/drawing/2014/main" id="{9D63E4C5-9E3E-413D-852E-5104319C3FCC}"/>
              </a:ext>
            </a:extLst>
          </p:cNvPr>
          <p:cNvSpPr txBox="1"/>
          <p:nvPr/>
        </p:nvSpPr>
        <p:spPr bwMode="gray">
          <a:xfrm>
            <a:off x="8006928" y="5418869"/>
            <a:ext cx="1249982" cy="338554"/>
          </a:xfrm>
          <a:prstGeom prst="rect">
            <a:avLst/>
          </a:prstGeom>
          <a:solidFill>
            <a:srgbClr val="30B5C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五边形 78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燕尾形 79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燕尾形 80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7701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gray">
          <a:xfrm>
            <a:off x="2434350" y="3130304"/>
            <a:ext cx="2137474" cy="209417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2434350" y="3599239"/>
            <a:ext cx="2137474" cy="209417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2434350" y="4093482"/>
            <a:ext cx="2137474" cy="209417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2434350" y="4483016"/>
            <a:ext cx="2137474" cy="209417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FlexE</a:t>
            </a:r>
            <a:r>
              <a:rPr lang="zh-CN" altLang="en-US" dirty="0">
                <a:sym typeface="Huawei Sans" panose="020C0503030203020204" pitchFamily="34" charset="0"/>
              </a:rPr>
              <a:t>基本结构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FlexE</a:t>
            </a:r>
            <a:r>
              <a:rPr lang="zh-CN" altLang="en-US" sz="1800" dirty="0">
                <a:sym typeface="Huawei Sans" panose="020C0503030203020204" pitchFamily="34" charset="0"/>
              </a:rPr>
              <a:t>技术通过在</a:t>
            </a:r>
            <a:r>
              <a:rPr lang="en-US" altLang="zh-CN" sz="1800" dirty="0">
                <a:sym typeface="Huawei Sans" panose="020C0503030203020204" pitchFamily="34" charset="0"/>
              </a:rPr>
              <a:t>IEEE802.3</a:t>
            </a:r>
            <a:r>
              <a:rPr lang="zh-CN" altLang="en-US" sz="1800" dirty="0">
                <a:sym typeface="Huawei Sans" panose="020C0503030203020204" pitchFamily="34" charset="0"/>
              </a:rPr>
              <a:t>基础上引入</a:t>
            </a:r>
            <a:r>
              <a:rPr lang="en-US" altLang="zh-CN" sz="1800" dirty="0">
                <a:sym typeface="Huawei Sans" panose="020C0503030203020204" pitchFamily="34" charset="0"/>
              </a:rPr>
              <a:t>FlexE Shim</a:t>
            </a:r>
            <a:r>
              <a:rPr lang="zh-CN" altLang="en-US" sz="1800" dirty="0">
                <a:sym typeface="Huawei Sans" panose="020C0503030203020204" pitchFamily="34" charset="0"/>
              </a:rPr>
              <a:t>层实现了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PHY</a:t>
            </a:r>
            <a:r>
              <a:rPr lang="zh-CN" altLang="en-US" sz="1800" dirty="0">
                <a:sym typeface="Huawei Sans" panose="020C0503030203020204" pitchFamily="34" charset="0"/>
              </a:rPr>
              <a:t>层解耦，实现了灵活的速率匹配。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FlexE</a:t>
            </a:r>
            <a:r>
              <a:rPr lang="zh-CN" altLang="en-US" sz="1800" dirty="0">
                <a:sym typeface="Huawei Sans" panose="020C0503030203020204" pitchFamily="34" charset="0"/>
              </a:rPr>
              <a:t>基于</a:t>
            </a:r>
            <a:r>
              <a:rPr lang="en-US" altLang="zh-CN" sz="1800" dirty="0">
                <a:sym typeface="Huawei Sans" panose="020C0503030203020204" pitchFamily="34" charset="0"/>
              </a:rPr>
              <a:t>Client/Group</a:t>
            </a:r>
            <a:r>
              <a:rPr lang="zh-CN" altLang="en-US" sz="1800" dirty="0">
                <a:sym typeface="Huawei Sans" panose="020C0503030203020204" pitchFamily="34" charset="0"/>
              </a:rPr>
              <a:t>架构，可以支持多个不同</a:t>
            </a:r>
            <a:r>
              <a:rPr lang="en-US" altLang="zh-CN" sz="1800" dirty="0">
                <a:sym typeface="Huawei Sans" panose="020C0503030203020204" pitchFamily="34" charset="0"/>
              </a:rPr>
              <a:t>Client</a:t>
            </a:r>
            <a:r>
              <a:rPr lang="zh-CN" altLang="en-US" sz="1800" dirty="0">
                <a:sym typeface="Huawei Sans" panose="020C0503030203020204" pitchFamily="34" charset="0"/>
              </a:rPr>
              <a:t>接口速率在</a:t>
            </a:r>
            <a:r>
              <a:rPr lang="en-US" altLang="zh-CN" sz="1800" dirty="0">
                <a:sym typeface="Huawei Sans" panose="020C0503030203020204" pitchFamily="34" charset="0"/>
              </a:rPr>
              <a:t>PHY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Group</a:t>
            </a:r>
            <a:r>
              <a:rPr lang="zh-CN" altLang="en-US" sz="1800" dirty="0">
                <a:sym typeface="Huawei Sans" panose="020C0503030203020204" pitchFamily="34" charset="0"/>
              </a:rPr>
              <a:t>）上映射和传输。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6895414" y="2216914"/>
            <a:ext cx="4853673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SzPct val="60000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Client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对应于网络的各种用户接口，每个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接口可以灵活地从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Group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资源池分配带宽，同时可以进行带宽调整，并通过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64b/66b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的编码的方式将数据流传递至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 Shim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层。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  <a:buSzPct val="60000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Group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本质上就是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IEEE 802.3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标准定义的各种以太网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层，把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的带宽池化为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5 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 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（华为设备支持）粒度的资源。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  <a:buSzPct val="60000"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Shim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作为插入传统以太网架构的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中间的一个额外逻辑层，通过基于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Calendar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Slot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分发机制实现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技术的核心架构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1942924" y="2895221"/>
            <a:ext cx="508000" cy="196737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 Shim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4571824" y="2895221"/>
            <a:ext cx="508000" cy="196737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 Shim</a:t>
            </a:r>
          </a:p>
        </p:txBody>
      </p:sp>
      <p:cxnSp>
        <p:nvCxnSpPr>
          <p:cNvPr id="24" name="直接箭头连接符 23"/>
          <p:cNvCxnSpPr/>
          <p:nvPr/>
        </p:nvCxnSpPr>
        <p:spPr bwMode="gray">
          <a:xfrm flipH="1">
            <a:off x="1222924" y="3235012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gray">
          <a:xfrm flipH="1">
            <a:off x="1222924" y="3703947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 bwMode="gray">
          <a:xfrm flipH="1">
            <a:off x="1222924" y="4140208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 bwMode="gray">
          <a:xfrm flipH="1">
            <a:off x="1222924" y="4613511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gray">
          <a:xfrm flipH="1">
            <a:off x="5079824" y="3235012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 bwMode="gray">
          <a:xfrm flipH="1">
            <a:off x="5079824" y="3703947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 bwMode="gray">
          <a:xfrm flipH="1">
            <a:off x="5079824" y="4140208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gray">
          <a:xfrm flipH="1">
            <a:off x="5079824" y="4613511"/>
            <a:ext cx="7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左大括号 31"/>
          <p:cNvSpPr/>
          <p:nvPr/>
        </p:nvSpPr>
        <p:spPr bwMode="gray">
          <a:xfrm>
            <a:off x="864367" y="3007186"/>
            <a:ext cx="419100" cy="19874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大括号 32"/>
          <p:cNvSpPr/>
          <p:nvPr/>
        </p:nvSpPr>
        <p:spPr bwMode="gray">
          <a:xfrm rot="10800000">
            <a:off x="5839889" y="3007186"/>
            <a:ext cx="419100" cy="19874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左大括号 33"/>
          <p:cNvSpPr/>
          <p:nvPr/>
        </p:nvSpPr>
        <p:spPr bwMode="gray">
          <a:xfrm rot="5400000">
            <a:off x="3301823" y="1784633"/>
            <a:ext cx="419100" cy="19874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 bwMode="gray">
          <a:xfrm>
            <a:off x="479646" y="3327514"/>
            <a:ext cx="400110" cy="151744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30B5C5"/>
                </a:solidFill>
              </a:rPr>
              <a:t>FlexE Client</a:t>
            </a:r>
            <a:endParaRPr lang="zh-CN" altLang="en-US" sz="1400" dirty="0">
              <a:solidFill>
                <a:srgbClr val="30B5C5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338116" y="3327514"/>
            <a:ext cx="400110" cy="151744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30B5C5"/>
                </a:solidFill>
              </a:rPr>
              <a:t>FlexE Client</a:t>
            </a:r>
            <a:endParaRPr lang="zh-CN" altLang="en-US" sz="1400" dirty="0">
              <a:solidFill>
                <a:srgbClr val="30B5C5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 rot="5400000">
            <a:off x="3337869" y="1629951"/>
            <a:ext cx="400110" cy="151744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30B5C5"/>
                </a:solidFill>
              </a:rPr>
              <a:t>FlexE Group</a:t>
            </a:r>
            <a:endParaRPr lang="zh-CN" altLang="en-US" sz="1400" dirty="0">
              <a:solidFill>
                <a:srgbClr val="30B5C5"/>
              </a:solidFill>
            </a:endParaRPr>
          </a:p>
        </p:txBody>
      </p:sp>
      <p:sp>
        <p:nvSpPr>
          <p:cNvPr id="38" name="五边形 37"/>
          <p:cNvSpPr/>
          <p:nvPr/>
        </p:nvSpPr>
        <p:spPr bwMode="gray">
          <a:xfrm>
            <a:off x="9058229" y="102013"/>
            <a:ext cx="746837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燕尾形 38"/>
          <p:cNvSpPr/>
          <p:nvPr/>
        </p:nvSpPr>
        <p:spPr bwMode="gray">
          <a:xfrm>
            <a:off x="10973936" y="102013"/>
            <a:ext cx="746841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FlexE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燕尾形 39"/>
          <p:cNvSpPr/>
          <p:nvPr/>
        </p:nvSpPr>
        <p:spPr bwMode="gray">
          <a:xfrm>
            <a:off x="9734084" y="102012"/>
            <a:ext cx="1310834" cy="225399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信道化子接口</a:t>
            </a:r>
          </a:p>
        </p:txBody>
      </p:sp>
    </p:spTree>
    <p:extLst>
      <p:ext uri="{BB962C8B-B14F-4D97-AF65-F5344CB8AC3E}">
        <p14:creationId xmlns:p14="http://schemas.microsoft.com/office/powerpoint/2010/main" val="232865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切片技术比较</a:t>
            </a:r>
          </a:p>
        </p:txBody>
      </p:sp>
      <p:sp>
        <p:nvSpPr>
          <p:cNvPr id="510" name="文本框 509"/>
          <p:cNvSpPr txBox="1"/>
          <p:nvPr/>
        </p:nvSpPr>
        <p:spPr bwMode="gray">
          <a:xfrm>
            <a:off x="5919023" y="1743432"/>
            <a:ext cx="5080768" cy="719016"/>
          </a:xfrm>
          <a:prstGeom prst="rect">
            <a:avLst/>
          </a:prstGeom>
          <a:noFill/>
        </p:spPr>
        <p:txBody>
          <a:bodyPr wrap="square" lIns="35991" tIns="35991" rIns="35991" bIns="35991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FF"/>
              </a:buClr>
              <a:buSzPct val="75000"/>
            </a:pPr>
            <a:r>
              <a:rPr lang="en-US" altLang="zh-CN" sz="140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QoS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：所有流量共享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8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个队列，对资源统一调度，最大化利用统计复用能力，无法区分用户，无法提供独立的资源预留。</a:t>
            </a:r>
          </a:p>
        </p:txBody>
      </p:sp>
      <p:sp>
        <p:nvSpPr>
          <p:cNvPr id="547" name="文本框 546"/>
          <p:cNvSpPr txBox="1"/>
          <p:nvPr/>
        </p:nvSpPr>
        <p:spPr bwMode="gray">
          <a:xfrm>
            <a:off x="5919023" y="4445901"/>
            <a:ext cx="5010144" cy="1042181"/>
          </a:xfrm>
          <a:prstGeom prst="rect">
            <a:avLst/>
          </a:prstGeom>
          <a:noFill/>
        </p:spPr>
        <p:txBody>
          <a:bodyPr wrap="square" lIns="35991" tIns="35991" rIns="35991" bIns="35991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FF"/>
              </a:buClr>
              <a:buSzPct val="75000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：队列和接口资源隔离，</a:t>
            </a:r>
            <a:r>
              <a:rPr lang="zh-CN" altLang="en-US" sz="1400" dirty="0">
                <a:solidFill>
                  <a:srgbClr val="44414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各个资源是按照</a:t>
            </a:r>
            <a:r>
              <a:rPr lang="en-US" altLang="zh-CN" sz="1400" dirty="0">
                <a:solidFill>
                  <a:srgbClr val="44414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TDM</a:t>
            </a:r>
            <a:r>
              <a:rPr lang="zh-CN" altLang="en-US" sz="1400" dirty="0">
                <a:solidFill>
                  <a:srgbClr val="44414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时隙划分，严格隔离，满足了资源独享与隔离的要求，实现对接口资源进行灵活、精细化的管理。</a:t>
            </a: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48" name="文本框 547"/>
          <p:cNvSpPr txBox="1"/>
          <p:nvPr/>
        </p:nvSpPr>
        <p:spPr bwMode="gray">
          <a:xfrm>
            <a:off x="5919023" y="3117210"/>
            <a:ext cx="4779886" cy="1042181"/>
          </a:xfrm>
          <a:prstGeom prst="rect">
            <a:avLst/>
          </a:prstGeom>
          <a:noFill/>
        </p:spPr>
        <p:txBody>
          <a:bodyPr wrap="square" lIns="35991" tIns="35991" rIns="35991" bIns="35991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FFFFFF"/>
              </a:buClr>
              <a:buSzPct val="75000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信道化子接口：队列资源隔离，采用多层次调度实现接口资源灵活、精细化管理，提供带宽保障，并且结合控制器提供端到端资源预留。</a:t>
            </a:r>
          </a:p>
        </p:txBody>
      </p:sp>
      <p:sp>
        <p:nvSpPr>
          <p:cNvPr id="201" name="矩形 200"/>
          <p:cNvSpPr/>
          <p:nvPr/>
        </p:nvSpPr>
        <p:spPr bwMode="gray">
          <a:xfrm>
            <a:off x="4066010" y="1978914"/>
            <a:ext cx="1224000" cy="276999"/>
          </a:xfrm>
          <a:prstGeom prst="rect">
            <a:avLst/>
          </a:prstGeom>
          <a:solidFill>
            <a:schemeClr val="bg1"/>
          </a:solidFill>
          <a:ln>
            <a:solidFill>
              <a:srgbClr val="8CD5F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2" name="流程图: 汇总连接 201"/>
          <p:cNvSpPr/>
          <p:nvPr/>
        </p:nvSpPr>
        <p:spPr bwMode="gray">
          <a:xfrm>
            <a:off x="3445939" y="2027413"/>
            <a:ext cx="180000" cy="180000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3" name="流程图: 汇总连接 202"/>
          <p:cNvSpPr/>
          <p:nvPr/>
        </p:nvSpPr>
        <p:spPr bwMode="gray">
          <a:xfrm>
            <a:off x="1964093" y="2027413"/>
            <a:ext cx="180000" cy="180000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4" name="流程图: 汇总连接 203"/>
          <p:cNvSpPr/>
          <p:nvPr/>
        </p:nvSpPr>
        <p:spPr bwMode="gray">
          <a:xfrm>
            <a:off x="2458042" y="2027413"/>
            <a:ext cx="180000" cy="180000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05" name="流程图: 汇总连接 204"/>
          <p:cNvSpPr/>
          <p:nvPr/>
        </p:nvSpPr>
        <p:spPr bwMode="gray">
          <a:xfrm>
            <a:off x="2951991" y="2027413"/>
            <a:ext cx="180000" cy="180000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06" name="直接连接符 205"/>
          <p:cNvCxnSpPr>
            <a:stCxn id="203" idx="6"/>
            <a:endCxn id="204" idx="2"/>
          </p:cNvCxnSpPr>
          <p:nvPr/>
        </p:nvCxnSpPr>
        <p:spPr bwMode="gray">
          <a:xfrm>
            <a:off x="2144094" y="2117413"/>
            <a:ext cx="313949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>
            <a:stCxn id="204" idx="6"/>
            <a:endCxn id="205" idx="2"/>
          </p:cNvCxnSpPr>
          <p:nvPr/>
        </p:nvCxnSpPr>
        <p:spPr bwMode="gray">
          <a:xfrm>
            <a:off x="2638043" y="2117413"/>
            <a:ext cx="313949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8" name="直接连接符 207"/>
          <p:cNvCxnSpPr>
            <a:stCxn id="205" idx="6"/>
            <a:endCxn id="202" idx="2"/>
          </p:cNvCxnSpPr>
          <p:nvPr/>
        </p:nvCxnSpPr>
        <p:spPr bwMode="gray">
          <a:xfrm>
            <a:off x="3131991" y="2117413"/>
            <a:ext cx="313948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" name="矩形 208"/>
          <p:cNvSpPr/>
          <p:nvPr/>
        </p:nvSpPr>
        <p:spPr bwMode="gray">
          <a:xfrm>
            <a:off x="3319895" y="1772567"/>
            <a:ext cx="385042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0" name="矩形 209"/>
          <p:cNvSpPr/>
          <p:nvPr/>
        </p:nvSpPr>
        <p:spPr bwMode="gray">
          <a:xfrm>
            <a:off x="955755" y="1829413"/>
            <a:ext cx="2376000" cy="576000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1" name="矩形 210"/>
          <p:cNvSpPr/>
          <p:nvPr/>
        </p:nvSpPr>
        <p:spPr bwMode="gray">
          <a:xfrm>
            <a:off x="1849703" y="1772567"/>
            <a:ext cx="386644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2" name="矩形 211"/>
          <p:cNvSpPr/>
          <p:nvPr/>
        </p:nvSpPr>
        <p:spPr bwMode="gray">
          <a:xfrm>
            <a:off x="2331592" y="1772567"/>
            <a:ext cx="413896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3" name="矩形 212"/>
          <p:cNvSpPr/>
          <p:nvPr/>
        </p:nvSpPr>
        <p:spPr bwMode="gray">
          <a:xfrm>
            <a:off x="2871324" y="1772567"/>
            <a:ext cx="325730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4" name="圆角矩形 213"/>
          <p:cNvSpPr/>
          <p:nvPr/>
        </p:nvSpPr>
        <p:spPr bwMode="gray">
          <a:xfrm>
            <a:off x="4029241" y="1922657"/>
            <a:ext cx="634155" cy="389513"/>
          </a:xfrm>
          <a:prstGeom prst="roundRect">
            <a:avLst>
              <a:gd name="adj" fmla="val 50000"/>
            </a:avLst>
          </a:prstGeom>
          <a:ln>
            <a:solidFill>
              <a:srgbClr val="1AABE2"/>
            </a:solidFill>
          </a:ln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MAC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5" name="圆角矩形 214"/>
          <p:cNvSpPr/>
          <p:nvPr/>
        </p:nvSpPr>
        <p:spPr bwMode="gray">
          <a:xfrm>
            <a:off x="4682639" y="1922657"/>
            <a:ext cx="586993" cy="389513"/>
          </a:xfrm>
          <a:prstGeom prst="roundRect">
            <a:avLst>
              <a:gd name="adj" fmla="val 50000"/>
            </a:avLst>
          </a:prstGeom>
          <a:ln>
            <a:solidFill>
              <a:srgbClr val="1AABE2"/>
            </a:solidFill>
          </a:ln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16" name="直接箭头连接符 215"/>
          <p:cNvCxnSpPr>
            <a:stCxn id="214" idx="3"/>
            <a:endCxn id="215" idx="1"/>
          </p:cNvCxnSpPr>
          <p:nvPr/>
        </p:nvCxnSpPr>
        <p:spPr bwMode="gray">
          <a:xfrm>
            <a:off x="4663396" y="2117414"/>
            <a:ext cx="19243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tailEnd type="triangle" w="med" len="lg"/>
          </a:ln>
          <a:effectLst/>
        </p:spPr>
      </p:cxnSp>
      <p:cxnSp>
        <p:nvCxnSpPr>
          <p:cNvPr id="217" name="直接箭头连接符 216"/>
          <p:cNvCxnSpPr>
            <a:stCxn id="215" idx="3"/>
          </p:cNvCxnSpPr>
          <p:nvPr/>
        </p:nvCxnSpPr>
        <p:spPr bwMode="gray">
          <a:xfrm>
            <a:off x="5269632" y="2117414"/>
            <a:ext cx="174501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tailEnd type="triangle" w="med" len="lg"/>
          </a:ln>
          <a:effectLst/>
        </p:spPr>
      </p:cxnSp>
      <p:sp>
        <p:nvSpPr>
          <p:cNvPr id="218" name="文本框 217"/>
          <p:cNvSpPr txBox="1"/>
          <p:nvPr/>
        </p:nvSpPr>
        <p:spPr bwMode="gray">
          <a:xfrm>
            <a:off x="3689172" y="1787694"/>
            <a:ext cx="240450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TM</a:t>
            </a:r>
            <a:endParaRPr lang="zh-CN" altLang="en-US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19" name="文本框 218"/>
          <p:cNvSpPr txBox="1"/>
          <p:nvPr/>
        </p:nvSpPr>
        <p:spPr bwMode="gray">
          <a:xfrm>
            <a:off x="4103428" y="1769524"/>
            <a:ext cx="237244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PIC</a:t>
            </a:r>
            <a:endParaRPr lang="zh-CN" altLang="en-US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20" name="直接连接符 219"/>
          <p:cNvCxnSpPr>
            <a:stCxn id="202" idx="6"/>
            <a:endCxn id="201" idx="1"/>
          </p:cNvCxnSpPr>
          <p:nvPr/>
        </p:nvCxnSpPr>
        <p:spPr bwMode="gray">
          <a:xfrm>
            <a:off x="3625939" y="2117413"/>
            <a:ext cx="440071" cy="1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1" name="任意多边形 220"/>
          <p:cNvSpPr/>
          <p:nvPr/>
        </p:nvSpPr>
        <p:spPr bwMode="gray">
          <a:xfrm>
            <a:off x="664218" y="2027383"/>
            <a:ext cx="461498" cy="87024"/>
          </a:xfrm>
          <a:custGeom>
            <a:avLst/>
            <a:gdLst>
              <a:gd name="connsiteX0" fmla="*/ 0 w 590550"/>
              <a:gd name="connsiteY0" fmla="*/ 104775 h 112183"/>
              <a:gd name="connsiteX1" fmla="*/ 171450 w 590550"/>
              <a:gd name="connsiteY1" fmla="*/ 0 h 112183"/>
              <a:gd name="connsiteX2" fmla="*/ 409575 w 590550"/>
              <a:gd name="connsiteY2" fmla="*/ 104775 h 112183"/>
              <a:gd name="connsiteX3" fmla="*/ 590550 w 590550"/>
              <a:gd name="connsiteY3" fmla="*/ 95250 h 11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" h="112183">
                <a:moveTo>
                  <a:pt x="0" y="104775"/>
                </a:moveTo>
                <a:cubicBezTo>
                  <a:pt x="51594" y="52387"/>
                  <a:pt x="103188" y="0"/>
                  <a:pt x="171450" y="0"/>
                </a:cubicBezTo>
                <a:cubicBezTo>
                  <a:pt x="239712" y="0"/>
                  <a:pt x="339725" y="88900"/>
                  <a:pt x="409575" y="104775"/>
                </a:cubicBezTo>
                <a:cubicBezTo>
                  <a:pt x="479425" y="120650"/>
                  <a:pt x="534987" y="107950"/>
                  <a:pt x="590550" y="95250"/>
                </a:cubicBezTo>
              </a:path>
            </a:pathLst>
          </a:custGeom>
          <a:noFill/>
          <a:ln w="9525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22" name="矩形 221"/>
          <p:cNvSpPr/>
          <p:nvPr/>
        </p:nvSpPr>
        <p:spPr bwMode="gray">
          <a:xfrm>
            <a:off x="1228942" y="1913833"/>
            <a:ext cx="262892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CS7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23" name="组合 222"/>
          <p:cNvGrpSpPr/>
          <p:nvPr/>
        </p:nvGrpSpPr>
        <p:grpSpPr bwMode="gray">
          <a:xfrm>
            <a:off x="1543525" y="1944146"/>
            <a:ext cx="395076" cy="360000"/>
            <a:chOff x="6938956" y="1710171"/>
            <a:chExt cx="395076" cy="277615"/>
          </a:xfrm>
        </p:grpSpPr>
        <p:sp>
          <p:nvSpPr>
            <p:cNvPr id="224" name="圆角矩形 199"/>
            <p:cNvSpPr/>
            <p:nvPr/>
          </p:nvSpPr>
          <p:spPr bwMode="gray">
            <a:xfrm>
              <a:off x="6938956" y="171017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5" name="圆角矩形 200"/>
            <p:cNvSpPr/>
            <p:nvPr/>
          </p:nvSpPr>
          <p:spPr bwMode="gray">
            <a:xfrm>
              <a:off x="6938956" y="1746745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6" name="圆角矩形 201"/>
            <p:cNvSpPr/>
            <p:nvPr/>
          </p:nvSpPr>
          <p:spPr bwMode="gray">
            <a:xfrm>
              <a:off x="6938956" y="1783319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7" name="圆角矩形 202"/>
            <p:cNvSpPr/>
            <p:nvPr/>
          </p:nvSpPr>
          <p:spPr bwMode="gray">
            <a:xfrm>
              <a:off x="6938956" y="1819893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8" name="圆角矩形 203"/>
            <p:cNvSpPr/>
            <p:nvPr/>
          </p:nvSpPr>
          <p:spPr bwMode="gray">
            <a:xfrm>
              <a:off x="6938956" y="1856467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9" name="圆角矩形 204"/>
            <p:cNvSpPr/>
            <p:nvPr/>
          </p:nvSpPr>
          <p:spPr bwMode="gray">
            <a:xfrm>
              <a:off x="6938956" y="189304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0" name="圆角矩形 205"/>
            <p:cNvSpPr/>
            <p:nvPr/>
          </p:nvSpPr>
          <p:spPr bwMode="gray">
            <a:xfrm>
              <a:off x="6938956" y="1929615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1" name="圆角矩形 206"/>
            <p:cNvSpPr/>
            <p:nvPr/>
          </p:nvSpPr>
          <p:spPr bwMode="gray">
            <a:xfrm>
              <a:off x="6938956" y="196618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32" name="矩形 231"/>
          <p:cNvSpPr/>
          <p:nvPr/>
        </p:nvSpPr>
        <p:spPr bwMode="gray">
          <a:xfrm>
            <a:off x="1286650" y="2136648"/>
            <a:ext cx="1779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BE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3" name="矩形 242"/>
          <p:cNvSpPr/>
          <p:nvPr/>
        </p:nvSpPr>
        <p:spPr bwMode="gray">
          <a:xfrm>
            <a:off x="1925089" y="2695259"/>
            <a:ext cx="386644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4" name="矩形 243"/>
          <p:cNvSpPr/>
          <p:nvPr/>
        </p:nvSpPr>
        <p:spPr bwMode="gray">
          <a:xfrm>
            <a:off x="2406978" y="2695259"/>
            <a:ext cx="413896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5" name="矩形 244"/>
          <p:cNvSpPr/>
          <p:nvPr/>
        </p:nvSpPr>
        <p:spPr bwMode="gray">
          <a:xfrm>
            <a:off x="2946710" y="2695259"/>
            <a:ext cx="325730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0" name="文本框 249"/>
          <p:cNvSpPr txBox="1"/>
          <p:nvPr/>
        </p:nvSpPr>
        <p:spPr bwMode="gray">
          <a:xfrm>
            <a:off x="3460891" y="2697414"/>
            <a:ext cx="240450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TM</a:t>
            </a:r>
            <a:endParaRPr lang="zh-CN" altLang="en-US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1" name="文本框 250"/>
          <p:cNvSpPr txBox="1"/>
          <p:nvPr/>
        </p:nvSpPr>
        <p:spPr bwMode="gray">
          <a:xfrm>
            <a:off x="4072670" y="2706939"/>
            <a:ext cx="237244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PIC</a:t>
            </a:r>
            <a:endParaRPr lang="zh-CN" altLang="en-US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5" name="文本框 264"/>
          <p:cNvSpPr txBox="1"/>
          <p:nvPr/>
        </p:nvSpPr>
        <p:spPr bwMode="gray">
          <a:xfrm>
            <a:off x="1880613" y="2561340"/>
            <a:ext cx="923330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信道化子接口</a:t>
            </a:r>
          </a:p>
        </p:txBody>
      </p:sp>
      <p:sp>
        <p:nvSpPr>
          <p:cNvPr id="233" name="矩形 232"/>
          <p:cNvSpPr/>
          <p:nvPr/>
        </p:nvSpPr>
        <p:spPr bwMode="gray">
          <a:xfrm>
            <a:off x="4087863" y="3303922"/>
            <a:ext cx="1224356" cy="276999"/>
          </a:xfrm>
          <a:prstGeom prst="rect">
            <a:avLst/>
          </a:prstGeom>
          <a:solidFill>
            <a:schemeClr val="bg1"/>
          </a:solidFill>
          <a:ln>
            <a:solidFill>
              <a:srgbClr val="8CD5F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4" name="流程图: 汇总连接 233"/>
          <p:cNvSpPr/>
          <p:nvPr/>
        </p:nvSpPr>
        <p:spPr bwMode="gray">
          <a:xfrm>
            <a:off x="3481287" y="3362029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5" name="流程图: 汇总连接 234"/>
          <p:cNvSpPr/>
          <p:nvPr/>
        </p:nvSpPr>
        <p:spPr bwMode="gray">
          <a:xfrm>
            <a:off x="2004391" y="2902586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6" name="流程图: 汇总连接 235"/>
          <p:cNvSpPr/>
          <p:nvPr/>
        </p:nvSpPr>
        <p:spPr bwMode="gray">
          <a:xfrm>
            <a:off x="2498483" y="2902586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7" name="流程图: 汇总连接 236"/>
          <p:cNvSpPr/>
          <p:nvPr/>
        </p:nvSpPr>
        <p:spPr bwMode="gray">
          <a:xfrm>
            <a:off x="2992576" y="2902586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38" name="直接连接符 237"/>
          <p:cNvCxnSpPr>
            <a:stCxn id="235" idx="6"/>
            <a:endCxn id="236" idx="2"/>
          </p:cNvCxnSpPr>
          <p:nvPr/>
        </p:nvCxnSpPr>
        <p:spPr bwMode="gray">
          <a:xfrm>
            <a:off x="2184443" y="2982978"/>
            <a:ext cx="31404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>
            <a:stCxn id="236" idx="6"/>
            <a:endCxn id="237" idx="2"/>
          </p:cNvCxnSpPr>
          <p:nvPr/>
        </p:nvCxnSpPr>
        <p:spPr bwMode="gray">
          <a:xfrm>
            <a:off x="2678536" y="2982978"/>
            <a:ext cx="31404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0" name="直接连接符 239"/>
          <p:cNvCxnSpPr>
            <a:stCxn id="237" idx="6"/>
            <a:endCxn id="234" idx="2"/>
          </p:cNvCxnSpPr>
          <p:nvPr/>
        </p:nvCxnSpPr>
        <p:spPr bwMode="gray">
          <a:xfrm>
            <a:off x="3172629" y="2982979"/>
            <a:ext cx="308659" cy="459443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1" name="矩形 240"/>
          <p:cNvSpPr/>
          <p:nvPr/>
        </p:nvSpPr>
        <p:spPr bwMode="gray">
          <a:xfrm>
            <a:off x="3471124" y="3165770"/>
            <a:ext cx="200376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2" name="矩形 241"/>
          <p:cNvSpPr/>
          <p:nvPr/>
        </p:nvSpPr>
        <p:spPr bwMode="gray">
          <a:xfrm>
            <a:off x="976803" y="2725722"/>
            <a:ext cx="1944565" cy="514512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6" name="圆角矩形 245"/>
          <p:cNvSpPr/>
          <p:nvPr/>
        </p:nvSpPr>
        <p:spPr bwMode="gray">
          <a:xfrm>
            <a:off x="4060703" y="3247665"/>
            <a:ext cx="634155" cy="389513"/>
          </a:xfrm>
          <a:prstGeom prst="roundRect">
            <a:avLst>
              <a:gd name="adj" fmla="val 50000"/>
            </a:avLst>
          </a:prstGeom>
          <a:ln>
            <a:solidFill>
              <a:srgbClr val="1AABE2"/>
            </a:solidFill>
          </a:ln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MAC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47" name="圆角矩形 246"/>
          <p:cNvSpPr/>
          <p:nvPr/>
        </p:nvSpPr>
        <p:spPr bwMode="gray">
          <a:xfrm>
            <a:off x="4723812" y="3247665"/>
            <a:ext cx="586993" cy="389513"/>
          </a:xfrm>
          <a:prstGeom prst="roundRect">
            <a:avLst>
              <a:gd name="adj" fmla="val 50000"/>
            </a:avLst>
          </a:prstGeom>
          <a:ln>
            <a:solidFill>
              <a:srgbClr val="1AABE2"/>
            </a:solidFill>
          </a:ln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48" name="直接箭头连接符 247"/>
          <p:cNvCxnSpPr>
            <a:endCxn id="247" idx="1"/>
          </p:cNvCxnSpPr>
          <p:nvPr/>
        </p:nvCxnSpPr>
        <p:spPr bwMode="gray">
          <a:xfrm>
            <a:off x="4603371" y="3442421"/>
            <a:ext cx="120441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tailEnd type="triangle" w="med" len="lg"/>
          </a:ln>
          <a:effectLst/>
        </p:spPr>
      </p:cxnSp>
      <p:cxnSp>
        <p:nvCxnSpPr>
          <p:cNvPr id="249" name="直接箭头连接符 248"/>
          <p:cNvCxnSpPr/>
          <p:nvPr/>
        </p:nvCxnSpPr>
        <p:spPr bwMode="gray">
          <a:xfrm>
            <a:off x="5233370" y="3442422"/>
            <a:ext cx="252073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tailEnd type="triangle" w="med" len="lg"/>
          </a:ln>
          <a:effectLst/>
        </p:spPr>
      </p:cxnSp>
      <p:cxnSp>
        <p:nvCxnSpPr>
          <p:cNvPr id="252" name="直接连接符 251"/>
          <p:cNvCxnSpPr>
            <a:endCxn id="233" idx="1"/>
          </p:cNvCxnSpPr>
          <p:nvPr/>
        </p:nvCxnSpPr>
        <p:spPr bwMode="gray">
          <a:xfrm>
            <a:off x="3661339" y="3442421"/>
            <a:ext cx="426524" cy="1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3" name="任意多边形 252"/>
          <p:cNvSpPr/>
          <p:nvPr/>
        </p:nvSpPr>
        <p:spPr bwMode="gray">
          <a:xfrm>
            <a:off x="704236" y="2902559"/>
            <a:ext cx="461632" cy="77734"/>
          </a:xfrm>
          <a:custGeom>
            <a:avLst/>
            <a:gdLst>
              <a:gd name="connsiteX0" fmla="*/ 0 w 590550"/>
              <a:gd name="connsiteY0" fmla="*/ 104775 h 112183"/>
              <a:gd name="connsiteX1" fmla="*/ 171450 w 590550"/>
              <a:gd name="connsiteY1" fmla="*/ 0 h 112183"/>
              <a:gd name="connsiteX2" fmla="*/ 409575 w 590550"/>
              <a:gd name="connsiteY2" fmla="*/ 104775 h 112183"/>
              <a:gd name="connsiteX3" fmla="*/ 590550 w 590550"/>
              <a:gd name="connsiteY3" fmla="*/ 95250 h 11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" h="112183">
                <a:moveTo>
                  <a:pt x="0" y="104775"/>
                </a:moveTo>
                <a:cubicBezTo>
                  <a:pt x="51594" y="52387"/>
                  <a:pt x="103188" y="0"/>
                  <a:pt x="171450" y="0"/>
                </a:cubicBezTo>
                <a:cubicBezTo>
                  <a:pt x="239712" y="0"/>
                  <a:pt x="339725" y="88900"/>
                  <a:pt x="409575" y="104775"/>
                </a:cubicBezTo>
                <a:cubicBezTo>
                  <a:pt x="479425" y="120650"/>
                  <a:pt x="534987" y="107950"/>
                  <a:pt x="590550" y="95250"/>
                </a:cubicBezTo>
              </a:path>
            </a:pathLst>
          </a:custGeom>
          <a:noFill/>
          <a:ln w="9525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4" name="矩形 253"/>
          <p:cNvSpPr/>
          <p:nvPr/>
        </p:nvSpPr>
        <p:spPr bwMode="gray">
          <a:xfrm>
            <a:off x="1269051" y="2791274"/>
            <a:ext cx="262892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CS7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55" name="组合 254"/>
          <p:cNvGrpSpPr/>
          <p:nvPr/>
        </p:nvGrpSpPr>
        <p:grpSpPr bwMode="gray">
          <a:xfrm>
            <a:off x="1583702" y="2827378"/>
            <a:ext cx="395191" cy="321570"/>
            <a:chOff x="6796081" y="1776846"/>
            <a:chExt cx="395076" cy="345115"/>
          </a:xfrm>
        </p:grpSpPr>
        <p:sp>
          <p:nvSpPr>
            <p:cNvPr id="256" name="圆角矩形 199"/>
            <p:cNvSpPr/>
            <p:nvPr/>
          </p:nvSpPr>
          <p:spPr bwMode="gray">
            <a:xfrm>
              <a:off x="6796081" y="177684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57" name="圆角矩形 200"/>
            <p:cNvSpPr/>
            <p:nvPr/>
          </p:nvSpPr>
          <p:spPr bwMode="gray">
            <a:xfrm>
              <a:off x="6796081" y="182306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58" name="圆角矩形 201"/>
            <p:cNvSpPr/>
            <p:nvPr/>
          </p:nvSpPr>
          <p:spPr bwMode="gray">
            <a:xfrm>
              <a:off x="6796081" y="1869278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59" name="圆角矩形 202"/>
            <p:cNvSpPr/>
            <p:nvPr/>
          </p:nvSpPr>
          <p:spPr bwMode="gray">
            <a:xfrm>
              <a:off x="6796081" y="1915494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0" name="圆角矩形 203"/>
            <p:cNvSpPr/>
            <p:nvPr/>
          </p:nvSpPr>
          <p:spPr bwMode="gray">
            <a:xfrm>
              <a:off x="6796081" y="1961710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1" name="圆角矩形 204"/>
            <p:cNvSpPr/>
            <p:nvPr/>
          </p:nvSpPr>
          <p:spPr bwMode="gray">
            <a:xfrm>
              <a:off x="6796081" y="200792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2" name="圆角矩形 205"/>
            <p:cNvSpPr/>
            <p:nvPr/>
          </p:nvSpPr>
          <p:spPr bwMode="gray">
            <a:xfrm>
              <a:off x="6796081" y="205414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3" name="圆角矩形 206"/>
            <p:cNvSpPr/>
            <p:nvPr/>
          </p:nvSpPr>
          <p:spPr bwMode="gray">
            <a:xfrm>
              <a:off x="6796081" y="210036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64" name="矩形 263"/>
          <p:cNvSpPr/>
          <p:nvPr/>
        </p:nvSpPr>
        <p:spPr bwMode="gray">
          <a:xfrm>
            <a:off x="1326775" y="2990303"/>
            <a:ext cx="1779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BE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6" name="流程图: 汇总连接 265"/>
          <p:cNvSpPr/>
          <p:nvPr/>
        </p:nvSpPr>
        <p:spPr bwMode="gray">
          <a:xfrm>
            <a:off x="2004391" y="3772983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7" name="流程图: 汇总连接 266"/>
          <p:cNvSpPr/>
          <p:nvPr/>
        </p:nvSpPr>
        <p:spPr bwMode="gray">
          <a:xfrm>
            <a:off x="2498483" y="3772983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8" name="流程图: 汇总连接 267"/>
          <p:cNvSpPr/>
          <p:nvPr/>
        </p:nvSpPr>
        <p:spPr bwMode="gray">
          <a:xfrm>
            <a:off x="2992576" y="3772983"/>
            <a:ext cx="180052" cy="160785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69" name="直接连接符 268"/>
          <p:cNvCxnSpPr>
            <a:stCxn id="266" idx="6"/>
            <a:endCxn id="267" idx="2"/>
          </p:cNvCxnSpPr>
          <p:nvPr/>
        </p:nvCxnSpPr>
        <p:spPr bwMode="gray">
          <a:xfrm>
            <a:off x="2184443" y="3853374"/>
            <a:ext cx="31404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0" name="直接连接符 269"/>
          <p:cNvCxnSpPr>
            <a:stCxn id="267" idx="6"/>
            <a:endCxn id="268" idx="2"/>
          </p:cNvCxnSpPr>
          <p:nvPr/>
        </p:nvCxnSpPr>
        <p:spPr bwMode="gray">
          <a:xfrm>
            <a:off x="2678536" y="3853374"/>
            <a:ext cx="31404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1" name="矩形 270"/>
          <p:cNvSpPr/>
          <p:nvPr/>
        </p:nvSpPr>
        <p:spPr bwMode="gray">
          <a:xfrm>
            <a:off x="976803" y="3596118"/>
            <a:ext cx="1944565" cy="514512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2" name="矩形 271"/>
          <p:cNvSpPr/>
          <p:nvPr/>
        </p:nvSpPr>
        <p:spPr bwMode="gray">
          <a:xfrm>
            <a:off x="1890024" y="3530557"/>
            <a:ext cx="386644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3" name="矩形 272"/>
          <p:cNvSpPr/>
          <p:nvPr/>
        </p:nvSpPr>
        <p:spPr bwMode="gray">
          <a:xfrm>
            <a:off x="2372057" y="3530557"/>
            <a:ext cx="413896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4" name="矩形 273"/>
          <p:cNvSpPr/>
          <p:nvPr/>
        </p:nvSpPr>
        <p:spPr bwMode="gray">
          <a:xfrm>
            <a:off x="2911933" y="3530557"/>
            <a:ext cx="325730" cy="276999"/>
          </a:xfrm>
          <a:prstGeom prst="rect">
            <a:avLst/>
          </a:prstGeom>
          <a:ln>
            <a:noFill/>
          </a:ln>
        </p:spPr>
        <p:txBody>
          <a:bodyPr wrap="none" rtlCol="0" anchor="ctr">
            <a:spAutoFit/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VI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5" name="任意多边形 274"/>
          <p:cNvSpPr/>
          <p:nvPr/>
        </p:nvSpPr>
        <p:spPr bwMode="gray">
          <a:xfrm>
            <a:off x="704236" y="3772955"/>
            <a:ext cx="461632" cy="77734"/>
          </a:xfrm>
          <a:custGeom>
            <a:avLst/>
            <a:gdLst>
              <a:gd name="connsiteX0" fmla="*/ 0 w 590550"/>
              <a:gd name="connsiteY0" fmla="*/ 104775 h 112183"/>
              <a:gd name="connsiteX1" fmla="*/ 171450 w 590550"/>
              <a:gd name="connsiteY1" fmla="*/ 0 h 112183"/>
              <a:gd name="connsiteX2" fmla="*/ 409575 w 590550"/>
              <a:gd name="connsiteY2" fmla="*/ 104775 h 112183"/>
              <a:gd name="connsiteX3" fmla="*/ 590550 w 590550"/>
              <a:gd name="connsiteY3" fmla="*/ 95250 h 11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" h="112183">
                <a:moveTo>
                  <a:pt x="0" y="104775"/>
                </a:moveTo>
                <a:cubicBezTo>
                  <a:pt x="51594" y="52387"/>
                  <a:pt x="103188" y="0"/>
                  <a:pt x="171450" y="0"/>
                </a:cubicBezTo>
                <a:cubicBezTo>
                  <a:pt x="239712" y="0"/>
                  <a:pt x="339725" y="88900"/>
                  <a:pt x="409575" y="104775"/>
                </a:cubicBezTo>
                <a:cubicBezTo>
                  <a:pt x="479425" y="120650"/>
                  <a:pt x="534987" y="107950"/>
                  <a:pt x="590550" y="95250"/>
                </a:cubicBezTo>
              </a:path>
            </a:pathLst>
          </a:custGeom>
          <a:noFill/>
          <a:ln w="9525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6" name="矩形 275"/>
          <p:cNvSpPr/>
          <p:nvPr/>
        </p:nvSpPr>
        <p:spPr bwMode="gray">
          <a:xfrm>
            <a:off x="1269051" y="3661670"/>
            <a:ext cx="262892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CS7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77" name="组合 276"/>
          <p:cNvGrpSpPr/>
          <p:nvPr/>
        </p:nvGrpSpPr>
        <p:grpSpPr bwMode="gray">
          <a:xfrm>
            <a:off x="1583702" y="3697775"/>
            <a:ext cx="395191" cy="321570"/>
            <a:chOff x="6796081" y="2838617"/>
            <a:chExt cx="395076" cy="345115"/>
          </a:xfrm>
        </p:grpSpPr>
        <p:sp>
          <p:nvSpPr>
            <p:cNvPr id="278" name="圆角矩形 199"/>
            <p:cNvSpPr/>
            <p:nvPr/>
          </p:nvSpPr>
          <p:spPr bwMode="gray">
            <a:xfrm>
              <a:off x="6796081" y="2838617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79" name="圆角矩形 200"/>
            <p:cNvSpPr/>
            <p:nvPr/>
          </p:nvSpPr>
          <p:spPr bwMode="gray">
            <a:xfrm>
              <a:off x="6796081" y="2884833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0" name="圆角矩形 201"/>
            <p:cNvSpPr/>
            <p:nvPr/>
          </p:nvSpPr>
          <p:spPr bwMode="gray">
            <a:xfrm>
              <a:off x="6796081" y="2931049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1" name="圆角矩形 202"/>
            <p:cNvSpPr/>
            <p:nvPr/>
          </p:nvSpPr>
          <p:spPr bwMode="gray">
            <a:xfrm>
              <a:off x="6796081" y="2977265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2" name="圆角矩形 203"/>
            <p:cNvSpPr/>
            <p:nvPr/>
          </p:nvSpPr>
          <p:spPr bwMode="gray">
            <a:xfrm>
              <a:off x="6796081" y="302348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3" name="圆角矩形 204"/>
            <p:cNvSpPr/>
            <p:nvPr/>
          </p:nvSpPr>
          <p:spPr bwMode="gray">
            <a:xfrm>
              <a:off x="6796081" y="3069697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4" name="圆角矩形 205"/>
            <p:cNvSpPr/>
            <p:nvPr/>
          </p:nvSpPr>
          <p:spPr bwMode="gray">
            <a:xfrm>
              <a:off x="6796081" y="3115913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5" name="圆角矩形 206"/>
            <p:cNvSpPr/>
            <p:nvPr/>
          </p:nvSpPr>
          <p:spPr bwMode="gray">
            <a:xfrm>
              <a:off x="6796081" y="316213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86" name="矩形 285"/>
          <p:cNvSpPr/>
          <p:nvPr/>
        </p:nvSpPr>
        <p:spPr bwMode="gray">
          <a:xfrm>
            <a:off x="1326775" y="3860699"/>
            <a:ext cx="1779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BE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87" name="文本框 286"/>
          <p:cNvSpPr txBox="1"/>
          <p:nvPr/>
        </p:nvSpPr>
        <p:spPr bwMode="gray">
          <a:xfrm>
            <a:off x="1932598" y="3407579"/>
            <a:ext cx="923330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defTabSz="991093" eaLnBrk="0" hangingPunct="0"/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信道化子接口</a:t>
            </a:r>
          </a:p>
        </p:txBody>
      </p:sp>
      <p:sp>
        <p:nvSpPr>
          <p:cNvPr id="288" name="文本框 287"/>
          <p:cNvSpPr txBox="1"/>
          <p:nvPr/>
        </p:nvSpPr>
        <p:spPr bwMode="gray">
          <a:xfrm>
            <a:off x="1755067" y="3311411"/>
            <a:ext cx="184666" cy="118622"/>
          </a:xfrm>
          <a:prstGeom prst="rect">
            <a:avLst/>
          </a:prstGeom>
          <a:noFill/>
        </p:spPr>
        <p:txBody>
          <a:bodyPr vert="eaVert" wrap="none" lIns="0" tIns="0" rIns="0" bIns="0" rtlCol="0" anchor="ctr">
            <a:spAutoFit/>
          </a:bodyPr>
          <a:lstStyle/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89" name="直接箭头连接符 288"/>
          <p:cNvCxnSpPr>
            <a:stCxn id="268" idx="6"/>
            <a:endCxn id="234" idx="2"/>
          </p:cNvCxnSpPr>
          <p:nvPr/>
        </p:nvCxnSpPr>
        <p:spPr bwMode="gray">
          <a:xfrm flipV="1">
            <a:off x="3172629" y="3442421"/>
            <a:ext cx="308659" cy="410954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2" name="文本框 291"/>
          <p:cNvSpPr txBox="1"/>
          <p:nvPr/>
        </p:nvSpPr>
        <p:spPr bwMode="gray">
          <a:xfrm>
            <a:off x="1750468" y="4249982"/>
            <a:ext cx="240450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defTabSz="991093" eaLnBrk="0" fontAlgn="auto" hangingPunct="0">
              <a:spcBef>
                <a:spcPts val="0"/>
              </a:spcBef>
              <a:spcAft>
                <a:spcPts val="0"/>
              </a:spcAft>
              <a:defRPr sz="1000" b="1">
                <a:solidFill>
                  <a:prstClr val="black"/>
                </a:solidFill>
                <a:latin typeface="Huawei Sans" panose="020C0503030203020204" pitchFamily="34" charset="0"/>
                <a:ea typeface="宋体"/>
                <a:cs typeface="Huawei Sans" panose="020C0503030203020204" pitchFamily="34" charset="0"/>
              </a:defRPr>
            </a:lvl1pPr>
          </a:lstStyle>
          <a:p>
            <a:r>
              <a:rPr lang="en-US" altLang="zh-CN" sz="1200" dirty="0"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TM</a:t>
            </a:r>
            <a:endParaRPr lang="zh-CN" altLang="en-US" sz="1200" dirty="0"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3" name="文本框 292"/>
          <p:cNvSpPr txBox="1"/>
          <p:nvPr/>
        </p:nvSpPr>
        <p:spPr bwMode="gray">
          <a:xfrm>
            <a:off x="3467892" y="4249982"/>
            <a:ext cx="237244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defTabSz="991093" eaLnBrk="0" fontAlgn="auto" hangingPunct="0">
              <a:spcBef>
                <a:spcPts val="0"/>
              </a:spcBef>
              <a:spcAft>
                <a:spcPts val="0"/>
              </a:spcAft>
              <a:defRPr sz="1000" b="1">
                <a:solidFill>
                  <a:prstClr val="black"/>
                </a:solidFill>
                <a:latin typeface="Huawei Sans" panose="020C0503030203020204" pitchFamily="34" charset="0"/>
                <a:ea typeface="宋体"/>
                <a:cs typeface="Huawei Sans" panose="020C0503030203020204" pitchFamily="34" charset="0"/>
              </a:defRPr>
            </a:lvl1pPr>
          </a:lstStyle>
          <a:p>
            <a:r>
              <a:rPr lang="en-US" altLang="zh-CN" sz="1200" dirty="0"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PIC</a:t>
            </a:r>
            <a:endParaRPr lang="zh-CN" altLang="en-US" sz="1200" dirty="0"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0" name="矩形 289"/>
          <p:cNvSpPr/>
          <p:nvPr/>
        </p:nvSpPr>
        <p:spPr bwMode="gray">
          <a:xfrm>
            <a:off x="4609156" y="4452507"/>
            <a:ext cx="507922" cy="1187868"/>
          </a:xfrm>
          <a:prstGeom prst="rect">
            <a:avLst/>
          </a:prstGeom>
          <a:solidFill>
            <a:srgbClr val="1AABE2">
              <a:alpha val="2000"/>
            </a:srgbClr>
          </a:solidFill>
          <a:ln w="9525" cap="flat" cmpd="sng" algn="ctr">
            <a:solidFill>
              <a:srgbClr val="8CD5F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1" name="矩形 290"/>
          <p:cNvSpPr/>
          <p:nvPr/>
        </p:nvSpPr>
        <p:spPr bwMode="gray">
          <a:xfrm>
            <a:off x="3610823" y="4452507"/>
            <a:ext cx="953627" cy="1187868"/>
          </a:xfrm>
          <a:prstGeom prst="rect">
            <a:avLst/>
          </a:prstGeom>
          <a:solidFill>
            <a:srgbClr val="1AABE2">
              <a:alpha val="2000"/>
            </a:srgbClr>
          </a:solidFill>
          <a:ln w="9525" cap="flat" cmpd="sng" algn="ctr">
            <a:solidFill>
              <a:srgbClr val="8CD5F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4" name="文本框 293"/>
          <p:cNvSpPr txBox="1"/>
          <p:nvPr/>
        </p:nvSpPr>
        <p:spPr bwMode="gray">
          <a:xfrm>
            <a:off x="2017881" y="4969929"/>
            <a:ext cx="369332" cy="2109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buClr>
                <a:srgbClr val="CC9900"/>
              </a:buClr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…</a:t>
            </a:r>
            <a:endParaRPr lang="zh-CN" altLang="en-US" sz="12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5" name="流程图: 汇总连接 294"/>
          <p:cNvSpPr/>
          <p:nvPr/>
        </p:nvSpPr>
        <p:spPr bwMode="gray">
          <a:xfrm>
            <a:off x="2082422" y="4575633"/>
            <a:ext cx="183390" cy="158382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6" name="流程图: 汇总连接 295"/>
          <p:cNvSpPr/>
          <p:nvPr/>
        </p:nvSpPr>
        <p:spPr bwMode="gray">
          <a:xfrm>
            <a:off x="2575899" y="4575633"/>
            <a:ext cx="183390" cy="158382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97" name="矩形 296"/>
          <p:cNvSpPr/>
          <p:nvPr/>
        </p:nvSpPr>
        <p:spPr bwMode="gray">
          <a:xfrm>
            <a:off x="2108392" y="4391389"/>
            <a:ext cx="201979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98" name="直接连接符 297"/>
          <p:cNvCxnSpPr>
            <a:stCxn id="295" idx="6"/>
            <a:endCxn id="296" idx="2"/>
          </p:cNvCxnSpPr>
          <p:nvPr/>
        </p:nvCxnSpPr>
        <p:spPr bwMode="gray">
          <a:xfrm>
            <a:off x="2265811" y="4654824"/>
            <a:ext cx="310088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9" name="矩形 298"/>
          <p:cNvSpPr/>
          <p:nvPr/>
        </p:nvSpPr>
        <p:spPr bwMode="gray">
          <a:xfrm>
            <a:off x="2567406" y="4391389"/>
            <a:ext cx="200376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0" name="矩形 299"/>
          <p:cNvSpPr/>
          <p:nvPr/>
        </p:nvSpPr>
        <p:spPr bwMode="gray">
          <a:xfrm>
            <a:off x="983804" y="4399671"/>
            <a:ext cx="1540475" cy="506821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301" name="直接连接符 300"/>
          <p:cNvCxnSpPr>
            <a:stCxn id="296" idx="6"/>
            <a:endCxn id="303" idx="1"/>
          </p:cNvCxnSpPr>
          <p:nvPr/>
        </p:nvCxnSpPr>
        <p:spPr bwMode="gray">
          <a:xfrm>
            <a:off x="2759289" y="4654824"/>
            <a:ext cx="462704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2" name="直接连接符 301"/>
          <p:cNvCxnSpPr>
            <a:stCxn id="312" idx="6"/>
            <a:endCxn id="310" idx="1"/>
          </p:cNvCxnSpPr>
          <p:nvPr/>
        </p:nvCxnSpPr>
        <p:spPr bwMode="gray">
          <a:xfrm flipV="1">
            <a:off x="2759289" y="5432654"/>
            <a:ext cx="525622" cy="6119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3" name="圆角矩形 302"/>
          <p:cNvSpPr/>
          <p:nvPr/>
        </p:nvSpPr>
        <p:spPr bwMode="gray">
          <a:xfrm>
            <a:off x="3221993" y="4528118"/>
            <a:ext cx="1249970" cy="25341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 Client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4" name="矩形 303"/>
          <p:cNvSpPr/>
          <p:nvPr/>
        </p:nvSpPr>
        <p:spPr bwMode="gray">
          <a:xfrm>
            <a:off x="3069450" y="4399670"/>
            <a:ext cx="2102116" cy="1295820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5" name="任意多边形 304"/>
          <p:cNvSpPr/>
          <p:nvPr/>
        </p:nvSpPr>
        <p:spPr bwMode="gray">
          <a:xfrm>
            <a:off x="696825" y="4579338"/>
            <a:ext cx="476814" cy="97201"/>
          </a:xfrm>
          <a:custGeom>
            <a:avLst/>
            <a:gdLst>
              <a:gd name="connsiteX0" fmla="*/ 0 w 590550"/>
              <a:gd name="connsiteY0" fmla="*/ 104775 h 112183"/>
              <a:gd name="connsiteX1" fmla="*/ 171450 w 590550"/>
              <a:gd name="connsiteY1" fmla="*/ 0 h 112183"/>
              <a:gd name="connsiteX2" fmla="*/ 409575 w 590550"/>
              <a:gd name="connsiteY2" fmla="*/ 104775 h 112183"/>
              <a:gd name="connsiteX3" fmla="*/ 590550 w 590550"/>
              <a:gd name="connsiteY3" fmla="*/ 95250 h 11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" h="112183">
                <a:moveTo>
                  <a:pt x="0" y="104775"/>
                </a:moveTo>
                <a:cubicBezTo>
                  <a:pt x="51594" y="52387"/>
                  <a:pt x="103188" y="0"/>
                  <a:pt x="171450" y="0"/>
                </a:cubicBezTo>
                <a:cubicBezTo>
                  <a:pt x="239712" y="0"/>
                  <a:pt x="339725" y="88900"/>
                  <a:pt x="409575" y="104775"/>
                </a:cubicBezTo>
                <a:cubicBezTo>
                  <a:pt x="479425" y="120650"/>
                  <a:pt x="534987" y="107950"/>
                  <a:pt x="590550" y="95250"/>
                </a:cubicBezTo>
              </a:path>
            </a:pathLst>
          </a:custGeom>
          <a:noFill/>
          <a:ln w="9525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6" name="矩形 305"/>
          <p:cNvSpPr/>
          <p:nvPr/>
        </p:nvSpPr>
        <p:spPr bwMode="gray">
          <a:xfrm>
            <a:off x="3723669" y="5034052"/>
            <a:ext cx="763029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 Shim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7" name="矩形 306"/>
          <p:cNvSpPr/>
          <p:nvPr/>
        </p:nvSpPr>
        <p:spPr bwMode="gray">
          <a:xfrm>
            <a:off x="4717244" y="5046411"/>
            <a:ext cx="291747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PHY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8" name="矩形 307"/>
          <p:cNvSpPr/>
          <p:nvPr/>
        </p:nvSpPr>
        <p:spPr bwMode="gray">
          <a:xfrm>
            <a:off x="1257039" y="4481631"/>
            <a:ext cx="262893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CS7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9" name="矩形 308"/>
          <p:cNvSpPr/>
          <p:nvPr/>
        </p:nvSpPr>
        <p:spPr bwMode="gray">
          <a:xfrm>
            <a:off x="1328915" y="4709931"/>
            <a:ext cx="1779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BE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0" name="圆角矩形 309"/>
          <p:cNvSpPr/>
          <p:nvPr/>
        </p:nvSpPr>
        <p:spPr bwMode="gray">
          <a:xfrm>
            <a:off x="3284911" y="5312067"/>
            <a:ext cx="1187053" cy="241173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FlexE Client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1" name="流程图: 汇总连接 310"/>
          <p:cNvSpPr/>
          <p:nvPr/>
        </p:nvSpPr>
        <p:spPr bwMode="gray">
          <a:xfrm>
            <a:off x="2082422" y="5359582"/>
            <a:ext cx="183390" cy="158382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2" name="流程图: 汇总连接 311"/>
          <p:cNvSpPr/>
          <p:nvPr/>
        </p:nvSpPr>
        <p:spPr bwMode="gray">
          <a:xfrm>
            <a:off x="2575899" y="5359582"/>
            <a:ext cx="183390" cy="158382"/>
          </a:xfrm>
          <a:prstGeom prst="flowChartSummingJunction">
            <a:avLst/>
          </a:prstGeom>
          <a:noFill/>
          <a:ln w="9525" cap="flat" cmpd="sng" algn="ctr">
            <a:solidFill>
              <a:srgbClr val="1AABE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3" name="矩形 312"/>
          <p:cNvSpPr/>
          <p:nvPr/>
        </p:nvSpPr>
        <p:spPr bwMode="gray">
          <a:xfrm>
            <a:off x="2108392" y="5175338"/>
            <a:ext cx="201979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SQ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314" name="直接连接符 313"/>
          <p:cNvCxnSpPr>
            <a:stCxn id="311" idx="6"/>
            <a:endCxn id="312" idx="2"/>
          </p:cNvCxnSpPr>
          <p:nvPr/>
        </p:nvCxnSpPr>
        <p:spPr bwMode="gray">
          <a:xfrm>
            <a:off x="2265811" y="5438773"/>
            <a:ext cx="310088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5" name="矩形 314"/>
          <p:cNvSpPr/>
          <p:nvPr/>
        </p:nvSpPr>
        <p:spPr bwMode="gray">
          <a:xfrm>
            <a:off x="2567406" y="5175338"/>
            <a:ext cx="200376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DP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6" name="矩形 315"/>
          <p:cNvSpPr/>
          <p:nvPr/>
        </p:nvSpPr>
        <p:spPr bwMode="gray">
          <a:xfrm>
            <a:off x="983804" y="5183620"/>
            <a:ext cx="1540475" cy="506821"/>
          </a:xfrm>
          <a:prstGeom prst="rect">
            <a:avLst/>
          </a:prstGeom>
          <a:noFill/>
          <a:ln w="9525" cap="flat" cmpd="sng" algn="ctr">
            <a:solidFill>
              <a:srgbClr val="8CD5F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7" name="任意多边形 316"/>
          <p:cNvSpPr/>
          <p:nvPr/>
        </p:nvSpPr>
        <p:spPr bwMode="gray">
          <a:xfrm>
            <a:off x="696825" y="5363287"/>
            <a:ext cx="476814" cy="97201"/>
          </a:xfrm>
          <a:custGeom>
            <a:avLst/>
            <a:gdLst>
              <a:gd name="connsiteX0" fmla="*/ 0 w 590550"/>
              <a:gd name="connsiteY0" fmla="*/ 104775 h 112183"/>
              <a:gd name="connsiteX1" fmla="*/ 171450 w 590550"/>
              <a:gd name="connsiteY1" fmla="*/ 0 h 112183"/>
              <a:gd name="connsiteX2" fmla="*/ 409575 w 590550"/>
              <a:gd name="connsiteY2" fmla="*/ 104775 h 112183"/>
              <a:gd name="connsiteX3" fmla="*/ 590550 w 590550"/>
              <a:gd name="connsiteY3" fmla="*/ 95250 h 11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" h="112183">
                <a:moveTo>
                  <a:pt x="0" y="104775"/>
                </a:moveTo>
                <a:cubicBezTo>
                  <a:pt x="51594" y="52387"/>
                  <a:pt x="103188" y="0"/>
                  <a:pt x="171450" y="0"/>
                </a:cubicBezTo>
                <a:cubicBezTo>
                  <a:pt x="239712" y="0"/>
                  <a:pt x="339725" y="88900"/>
                  <a:pt x="409575" y="104775"/>
                </a:cubicBezTo>
                <a:cubicBezTo>
                  <a:pt x="479425" y="120650"/>
                  <a:pt x="534987" y="107950"/>
                  <a:pt x="590550" y="95250"/>
                </a:cubicBezTo>
              </a:path>
            </a:pathLst>
          </a:custGeom>
          <a:noFill/>
          <a:ln w="9525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8" name="矩形 317"/>
          <p:cNvSpPr/>
          <p:nvPr/>
        </p:nvSpPr>
        <p:spPr bwMode="gray">
          <a:xfrm>
            <a:off x="1257039" y="5282342"/>
            <a:ext cx="262893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CS7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19" name="矩形 318"/>
          <p:cNvSpPr/>
          <p:nvPr/>
        </p:nvSpPr>
        <p:spPr bwMode="gray">
          <a:xfrm>
            <a:off x="1328915" y="5493880"/>
            <a:ext cx="1779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BE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320" name="组合 319"/>
          <p:cNvGrpSpPr/>
          <p:nvPr/>
        </p:nvGrpSpPr>
        <p:grpSpPr bwMode="gray">
          <a:xfrm>
            <a:off x="1614815" y="4500078"/>
            <a:ext cx="402516" cy="316763"/>
            <a:chOff x="6796081" y="1776846"/>
            <a:chExt cx="395076" cy="345115"/>
          </a:xfrm>
        </p:grpSpPr>
        <p:sp>
          <p:nvSpPr>
            <p:cNvPr id="321" name="圆角矩形 199"/>
            <p:cNvSpPr/>
            <p:nvPr/>
          </p:nvSpPr>
          <p:spPr bwMode="gray">
            <a:xfrm>
              <a:off x="6796081" y="177684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2" name="圆角矩形 200"/>
            <p:cNvSpPr/>
            <p:nvPr/>
          </p:nvSpPr>
          <p:spPr bwMode="gray">
            <a:xfrm>
              <a:off x="6796081" y="182306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3" name="圆角矩形 201"/>
            <p:cNvSpPr/>
            <p:nvPr/>
          </p:nvSpPr>
          <p:spPr bwMode="gray">
            <a:xfrm>
              <a:off x="6796081" y="1869278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4" name="圆角矩形 202"/>
            <p:cNvSpPr/>
            <p:nvPr/>
          </p:nvSpPr>
          <p:spPr bwMode="gray">
            <a:xfrm>
              <a:off x="6796081" y="1915494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5" name="圆角矩形 203"/>
            <p:cNvSpPr/>
            <p:nvPr/>
          </p:nvSpPr>
          <p:spPr bwMode="gray">
            <a:xfrm>
              <a:off x="6796081" y="1961710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6" name="圆角矩形 204"/>
            <p:cNvSpPr/>
            <p:nvPr/>
          </p:nvSpPr>
          <p:spPr bwMode="gray">
            <a:xfrm>
              <a:off x="6796081" y="200792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7" name="圆角矩形 205"/>
            <p:cNvSpPr/>
            <p:nvPr/>
          </p:nvSpPr>
          <p:spPr bwMode="gray">
            <a:xfrm>
              <a:off x="6796081" y="205414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8" name="圆角矩形 206"/>
            <p:cNvSpPr/>
            <p:nvPr/>
          </p:nvSpPr>
          <p:spPr bwMode="gray">
            <a:xfrm>
              <a:off x="6796081" y="210036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329" name="组合 328"/>
          <p:cNvGrpSpPr/>
          <p:nvPr/>
        </p:nvGrpSpPr>
        <p:grpSpPr bwMode="gray">
          <a:xfrm>
            <a:off x="1604913" y="5284509"/>
            <a:ext cx="402516" cy="316763"/>
            <a:chOff x="6796081" y="1776846"/>
            <a:chExt cx="395076" cy="345115"/>
          </a:xfrm>
        </p:grpSpPr>
        <p:sp>
          <p:nvSpPr>
            <p:cNvPr id="330" name="圆角矩形 199"/>
            <p:cNvSpPr/>
            <p:nvPr/>
          </p:nvSpPr>
          <p:spPr bwMode="gray">
            <a:xfrm>
              <a:off x="6796081" y="177684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1" name="圆角矩形 200"/>
            <p:cNvSpPr/>
            <p:nvPr/>
          </p:nvSpPr>
          <p:spPr bwMode="gray">
            <a:xfrm>
              <a:off x="6796081" y="182306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2" name="圆角矩形 201"/>
            <p:cNvSpPr/>
            <p:nvPr/>
          </p:nvSpPr>
          <p:spPr bwMode="gray">
            <a:xfrm>
              <a:off x="6796081" y="1869278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3" name="圆角矩形 202"/>
            <p:cNvSpPr/>
            <p:nvPr/>
          </p:nvSpPr>
          <p:spPr bwMode="gray">
            <a:xfrm>
              <a:off x="6796081" y="1915494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4" name="圆角矩形 203"/>
            <p:cNvSpPr/>
            <p:nvPr/>
          </p:nvSpPr>
          <p:spPr bwMode="gray">
            <a:xfrm>
              <a:off x="6796081" y="1961710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5" name="圆角矩形 204"/>
            <p:cNvSpPr/>
            <p:nvPr/>
          </p:nvSpPr>
          <p:spPr bwMode="gray">
            <a:xfrm>
              <a:off x="6796081" y="2007926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2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6" name="圆角矩形 205"/>
            <p:cNvSpPr/>
            <p:nvPr/>
          </p:nvSpPr>
          <p:spPr bwMode="gray">
            <a:xfrm>
              <a:off x="6796081" y="2054142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37" name="圆角矩形 206"/>
            <p:cNvSpPr/>
            <p:nvPr/>
          </p:nvSpPr>
          <p:spPr bwMode="gray">
            <a:xfrm>
              <a:off x="6796081" y="2100361"/>
              <a:ext cx="395076" cy="21600"/>
            </a:xfrm>
            <a:prstGeom prst="roundRect">
              <a:avLst/>
            </a:prstGeom>
            <a:solidFill>
              <a:srgbClr val="D1EEF9"/>
            </a:solidFill>
            <a:ln>
              <a:noFill/>
            </a:ln>
            <a:effectLst/>
            <a:extLst/>
          </p:spPr>
          <p:txBody>
            <a:bodyPr vert="horz" wrap="square" lIns="91035" tIns="45518" rIns="91035" bIns="45518" numCol="1" rtlCol="0" anchor="t" anchorCtr="0" compatLnSpc="1">
              <a:prstTxWarp prst="textNoShape">
                <a:avLst/>
              </a:prstTxWarp>
            </a:bodyPr>
            <a:lstStyle/>
            <a:p>
              <a:pPr defTabSz="910472"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2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338" name="矩形 337"/>
          <p:cNvSpPr/>
          <p:nvPr/>
        </p:nvSpPr>
        <p:spPr bwMode="gray">
          <a:xfrm>
            <a:off x="3152343" y="4429017"/>
            <a:ext cx="414134" cy="1211358"/>
          </a:xfrm>
          <a:prstGeom prst="rect">
            <a:avLst/>
          </a:prstGeom>
          <a:solidFill>
            <a:srgbClr val="1AABE2">
              <a:alpha val="2000"/>
            </a:srgbClr>
          </a:solidFill>
          <a:ln w="9525" cap="flat" cmpd="sng" algn="ctr">
            <a:solidFill>
              <a:srgbClr val="8CD5F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39" name="矩形 338"/>
          <p:cNvSpPr/>
          <p:nvPr/>
        </p:nvSpPr>
        <p:spPr bwMode="gray">
          <a:xfrm>
            <a:off x="3174290" y="5046411"/>
            <a:ext cx="338234" cy="184666"/>
          </a:xfrm>
          <a:prstGeom prst="rect">
            <a:avLst/>
          </a:prstGeom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>
              <a:buClr>
                <a:srgbClr val="CC9900"/>
              </a:buClr>
            </a:pP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MAC</a:t>
            </a:r>
            <a:endParaRPr lang="zh-CN" altLang="en-US" sz="12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2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切片技术的实现方式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47062"/>
              </p:ext>
            </p:extLst>
          </p:nvPr>
        </p:nvGraphicFramePr>
        <p:xfrm>
          <a:off x="498180" y="1153097"/>
          <a:ext cx="11205164" cy="444651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0602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9913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866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接口名称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应用场景及特性简介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39930"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接口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标准以太模式下的物理口，带宽是固定的，但通过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技术可以将一个或多个物理口使能为灵活以太模式，加入到一个组中，这个组内的总带宽可以按需灵活分配给组内的逻辑口。 以上描述中，物理口加入的组称为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组（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 Group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），可共享组内物理口带宽的逻辑口称为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接口（即灵活以太接口，也称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业务接口）。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接口通过接口带宽隔离，即可以实现业务隔离。相比传统技术，在端口捆绑方面，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能够实现比特级别的捆绑，解决传统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Trunk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捆绑逐流或逐包哈希不均匀问题；另外，每个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接口都具备独立的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地址，不同接口之间的转发资源隔离，可以避免传统逻辑接口如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子接口转发的头阻塞问题。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接口技术可以满足移动承载、家庭宽带、专线接入等使用大端口综合承载的场景需求，不同类型的业务承载在不同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接口上，并基于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FlexE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接口配置带宽，达到基于业务控制带宽的目的，满足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5G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场景网络分片的需求。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39971"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信道化子接口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信道化接口可以通过信道化功能对带宽进行严格隔离。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信道化子接口是指使能了信道化功能的以太物理端口的子接口，不同类型的业务承载在不同信道化子接口上，并基于信道化子接口配置带宽，实现同一物理接口上不同信道化子接口之间的带宽严格隔离，达到基于业务控制带宽的目的，解决不同子接口间业务的带宽抢占的问题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79963"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以太网子接口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以太网子接口是在一个主接口上配置出来的虚拟接口，具有三层特性，可在以太网子接口上配置</a:t>
                      </a:r>
                      <a:r>
                        <a:rPr lang="en-US" altLang="zh-C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地址，实现</a:t>
                      </a:r>
                      <a:r>
                        <a:rPr lang="en-US" altLang="zh-CN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间互通。以太网子接口是在一个主接口上配置出来的虚拟接口，这个主接口可以是物理接口也可以是逻辑接口。子接口共用主接口的物理层参数，又可以分别配置各自的链路层和网络层参数。用户可以禁用或者激活子接口，这不会对主接口产生影响。但主接口状态的变化会对子接口产生影响，特别是只有主接口处于连通状态时子接口才能正常工作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89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 237"/>
          <p:cNvSpPr/>
          <p:nvPr/>
        </p:nvSpPr>
        <p:spPr bwMode="gray">
          <a:xfrm>
            <a:off x="6307172" y="3457263"/>
            <a:ext cx="770927" cy="28462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 defTabSz="1219028"/>
            <a:r>
              <a:rPr lang="zh-CN" altLang="en-US" sz="12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控制面</a:t>
            </a: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7292991" y="3784902"/>
            <a:ext cx="4456098" cy="221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base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dirty="0">
                <a:sym typeface="Huawei Sans" panose="020C0503030203020204" pitchFamily="34" charset="0"/>
              </a:rPr>
              <a:t>配置极简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基于存量</a:t>
            </a:r>
            <a:r>
              <a:rPr lang="en-US" altLang="zh-CN" sz="1200" dirty="0">
                <a:sym typeface="Huawei Sans" panose="020C0503030203020204" pitchFamily="34" charset="0"/>
              </a:rPr>
              <a:t>SRv6</a:t>
            </a:r>
            <a:r>
              <a:rPr lang="zh-CN" altLang="en-US" sz="1200" dirty="0">
                <a:sym typeface="Huawei Sans" panose="020C0503030203020204" pitchFamily="34" charset="0"/>
              </a:rPr>
              <a:t>网络，分片无需配置</a:t>
            </a:r>
            <a:r>
              <a:rPr lang="en-US" altLang="zh-CN" sz="1200" dirty="0"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sym typeface="Huawei Sans" panose="020C0503030203020204" pitchFamily="34" charset="0"/>
              </a:rPr>
              <a:t>地址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部署分片时</a:t>
            </a:r>
            <a:r>
              <a:rPr lang="en-US" altLang="zh-CN" sz="1200" dirty="0">
                <a:sym typeface="Huawei Sans" panose="020C0503030203020204" pitchFamily="34" charset="0"/>
              </a:rPr>
              <a:t>IGP\BGP</a:t>
            </a:r>
            <a:r>
              <a:rPr lang="zh-CN" altLang="en-US" sz="1200" dirty="0">
                <a:sym typeface="Huawei Sans" panose="020C0503030203020204" pitchFamily="34" charset="0"/>
              </a:rPr>
              <a:t>无改动，现网影响小</a:t>
            </a:r>
            <a:r>
              <a:rPr lang="en-US" altLang="zh-CN" sz="1200" dirty="0">
                <a:sym typeface="Huawei Sans" panose="020C0503030203020204" pitchFamily="34" charset="0"/>
              </a:rPr>
              <a:t>  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弹性扩展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支持</a:t>
            </a:r>
            <a:r>
              <a:rPr lang="en-US" altLang="zh-CN" sz="1200" dirty="0">
                <a:sym typeface="Huawei Sans" panose="020C0503030203020204" pitchFamily="34" charset="0"/>
              </a:rPr>
              <a:t>K</a:t>
            </a:r>
            <a:r>
              <a:rPr lang="zh-CN" altLang="en-US" sz="1200" dirty="0">
                <a:sym typeface="Huawei Sans" panose="020C0503030203020204" pitchFamily="34" charset="0"/>
              </a:rPr>
              <a:t>数量级网络分片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支持松散</a:t>
            </a:r>
            <a:r>
              <a:rPr lang="en-US" altLang="zh-CN" sz="1200" dirty="0">
                <a:sym typeface="Huawei Sans" panose="020C0503030203020204" pitchFamily="34" charset="0"/>
              </a:rPr>
              <a:t>SRv6 Policy</a:t>
            </a:r>
            <a:r>
              <a:rPr lang="zh-CN" altLang="en-US" sz="1200" dirty="0">
                <a:sym typeface="Huawei Sans" panose="020C0503030203020204" pitchFamily="34" charset="0"/>
              </a:rPr>
              <a:t>隧道承载分片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endParaRPr lang="en-US" altLang="zh-CN" sz="1200" dirty="0">
              <a:sym typeface="Huawei Sans" panose="020C0503030203020204" pitchFamily="34" charset="0"/>
            </a:endParaRPr>
          </a:p>
        </p:txBody>
      </p:sp>
      <p:sp>
        <p:nvSpPr>
          <p:cNvPr id="339" name="矩形 338"/>
          <p:cNvSpPr/>
          <p:nvPr/>
        </p:nvSpPr>
        <p:spPr bwMode="gray">
          <a:xfrm>
            <a:off x="5380645" y="1294654"/>
            <a:ext cx="593328" cy="134737"/>
          </a:xfrm>
          <a:prstGeom prst="rect">
            <a:avLst/>
          </a:prstGeom>
          <a:solidFill>
            <a:srgbClr val="1AABE2"/>
          </a:solidFill>
          <a:ln w="9525">
            <a:solidFill>
              <a:srgbClr val="1AAB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sp>
        <p:nvSpPr>
          <p:cNvPr id="340" name="矩形 339"/>
          <p:cNvSpPr/>
          <p:nvPr/>
        </p:nvSpPr>
        <p:spPr bwMode="gray">
          <a:xfrm>
            <a:off x="5373412" y="1777165"/>
            <a:ext cx="593328" cy="134737"/>
          </a:xfrm>
          <a:prstGeom prst="rect">
            <a:avLst/>
          </a:prstGeom>
          <a:solidFill>
            <a:srgbClr val="DAE3F3"/>
          </a:solidFill>
          <a:ln w="9525">
            <a:solidFill>
              <a:srgbClr val="DAE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sp>
        <p:nvSpPr>
          <p:cNvPr id="341" name="矩形 340"/>
          <p:cNvSpPr/>
          <p:nvPr/>
        </p:nvSpPr>
        <p:spPr bwMode="gray">
          <a:xfrm>
            <a:off x="5381636" y="2309050"/>
            <a:ext cx="593328" cy="134737"/>
          </a:xfrm>
          <a:prstGeom prst="rect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sp>
        <p:nvSpPr>
          <p:cNvPr id="342" name="圆柱形 341"/>
          <p:cNvSpPr/>
          <p:nvPr/>
        </p:nvSpPr>
        <p:spPr bwMode="gray">
          <a:xfrm rot="5400000">
            <a:off x="1052728" y="2407507"/>
            <a:ext cx="134737" cy="547688"/>
          </a:xfrm>
          <a:prstGeom prst="can">
            <a:avLst>
              <a:gd name="adj" fmla="val 40434"/>
            </a:avLst>
          </a:prstGeom>
          <a:noFill/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3" name="矩形 342"/>
          <p:cNvSpPr/>
          <p:nvPr/>
        </p:nvSpPr>
        <p:spPr bwMode="gray">
          <a:xfrm rot="5400000">
            <a:off x="1053207" y="2697676"/>
            <a:ext cx="134737" cy="547688"/>
          </a:xfrm>
          <a:prstGeom prst="rect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4" name="矩形 343"/>
          <p:cNvSpPr/>
          <p:nvPr/>
        </p:nvSpPr>
        <p:spPr bwMode="gray">
          <a:xfrm rot="5400000">
            <a:off x="1052728" y="2978726"/>
            <a:ext cx="134737" cy="547688"/>
          </a:xfrm>
          <a:prstGeom prst="rect">
            <a:avLst/>
          </a:prstGeom>
          <a:solidFill>
            <a:srgbClr val="DAE3F3"/>
          </a:solidFill>
          <a:ln w="9525">
            <a:solidFill>
              <a:srgbClr val="DAE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45" name="矩形 344"/>
          <p:cNvSpPr/>
          <p:nvPr/>
        </p:nvSpPr>
        <p:spPr bwMode="gray">
          <a:xfrm rot="5400000">
            <a:off x="1053207" y="3278296"/>
            <a:ext cx="134737" cy="547688"/>
          </a:xfrm>
          <a:prstGeom prst="rect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46" name="文本框 345"/>
          <p:cNvSpPr txBox="1"/>
          <p:nvPr/>
        </p:nvSpPr>
        <p:spPr bwMode="gray">
          <a:xfrm>
            <a:off x="1462954" y="2595130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物理主接口</a:t>
            </a:r>
          </a:p>
        </p:txBody>
      </p:sp>
      <p:sp>
        <p:nvSpPr>
          <p:cNvPr id="347" name="文本框 346"/>
          <p:cNvSpPr txBox="1"/>
          <p:nvPr/>
        </p:nvSpPr>
        <p:spPr bwMode="gray">
          <a:xfrm>
            <a:off x="1463433" y="288529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默认分片</a:t>
            </a:r>
          </a:p>
        </p:txBody>
      </p:sp>
      <p:sp>
        <p:nvSpPr>
          <p:cNvPr id="348" name="文本框 347"/>
          <p:cNvSpPr txBox="1"/>
          <p:nvPr/>
        </p:nvSpPr>
        <p:spPr bwMode="gray">
          <a:xfrm>
            <a:off x="1462954" y="316634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业务分片</a:t>
            </a:r>
          </a:p>
        </p:txBody>
      </p:sp>
      <p:sp>
        <p:nvSpPr>
          <p:cNvPr id="349" name="文本框 348"/>
          <p:cNvSpPr txBox="1"/>
          <p:nvPr/>
        </p:nvSpPr>
        <p:spPr bwMode="gray">
          <a:xfrm>
            <a:off x="1463433" y="3465919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业务分片</a:t>
            </a:r>
          </a:p>
        </p:txBody>
      </p:sp>
      <p:sp>
        <p:nvSpPr>
          <p:cNvPr id="351" name="文本框 350"/>
          <p:cNvSpPr txBox="1"/>
          <p:nvPr/>
        </p:nvSpPr>
        <p:spPr bwMode="gray">
          <a:xfrm>
            <a:off x="848017" y="1194176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2" name="文本框 351"/>
          <p:cNvSpPr txBox="1"/>
          <p:nvPr/>
        </p:nvSpPr>
        <p:spPr bwMode="gray">
          <a:xfrm>
            <a:off x="848017" y="1652339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3" name="文本框 352"/>
          <p:cNvSpPr txBox="1"/>
          <p:nvPr/>
        </p:nvSpPr>
        <p:spPr bwMode="gray">
          <a:xfrm>
            <a:off x="848017" y="2121165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54" name="直接箭头连接符 353"/>
          <p:cNvCxnSpPr/>
          <p:nvPr/>
        </p:nvCxnSpPr>
        <p:spPr bwMode="gray">
          <a:xfrm>
            <a:off x="837598" y="1391870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/>
          <p:cNvCxnSpPr/>
          <p:nvPr/>
        </p:nvCxnSpPr>
        <p:spPr bwMode="gray">
          <a:xfrm>
            <a:off x="837598" y="1864541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箭头连接符 355"/>
          <p:cNvCxnSpPr/>
          <p:nvPr/>
        </p:nvCxnSpPr>
        <p:spPr bwMode="gray">
          <a:xfrm>
            <a:off x="849630" y="2375237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矩形 358"/>
          <p:cNvSpPr/>
          <p:nvPr/>
        </p:nvSpPr>
        <p:spPr bwMode="gray">
          <a:xfrm>
            <a:off x="1844998" y="1300761"/>
            <a:ext cx="593328" cy="134737"/>
          </a:xfrm>
          <a:prstGeom prst="rect">
            <a:avLst/>
          </a:prstGeom>
          <a:solidFill>
            <a:srgbClr val="1AABE2"/>
          </a:solidFill>
          <a:ln w="9525">
            <a:solidFill>
              <a:srgbClr val="1AAB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sp>
        <p:nvSpPr>
          <p:cNvPr id="360" name="圆柱形 359"/>
          <p:cNvSpPr>
            <a:spLocks/>
          </p:cNvSpPr>
          <p:nvPr/>
        </p:nvSpPr>
        <p:spPr bwMode="gray">
          <a:xfrm>
            <a:off x="2482238" y="1183056"/>
            <a:ext cx="365125" cy="314386"/>
          </a:xfrm>
          <a:prstGeom prst="can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62" name="矩形 361"/>
          <p:cNvSpPr/>
          <p:nvPr/>
        </p:nvSpPr>
        <p:spPr bwMode="gray">
          <a:xfrm>
            <a:off x="1837765" y="1783271"/>
            <a:ext cx="593328" cy="134737"/>
          </a:xfrm>
          <a:prstGeom prst="rect">
            <a:avLst/>
          </a:prstGeom>
          <a:solidFill>
            <a:srgbClr val="DAE3F3"/>
          </a:solidFill>
          <a:ln w="9525">
            <a:solidFill>
              <a:srgbClr val="DAE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sp>
        <p:nvSpPr>
          <p:cNvPr id="365" name="矩形 364"/>
          <p:cNvSpPr/>
          <p:nvPr/>
        </p:nvSpPr>
        <p:spPr bwMode="gray">
          <a:xfrm>
            <a:off x="1845989" y="2315157"/>
            <a:ext cx="593328" cy="134737"/>
          </a:xfrm>
          <a:prstGeom prst="rect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</a:t>
            </a:r>
          </a:p>
        </p:txBody>
      </p:sp>
      <p:grpSp>
        <p:nvGrpSpPr>
          <p:cNvPr id="2" name="组合 1"/>
          <p:cNvGrpSpPr/>
          <p:nvPr/>
        </p:nvGrpSpPr>
        <p:grpSpPr bwMode="gray">
          <a:xfrm>
            <a:off x="2858317" y="1302910"/>
            <a:ext cx="927871" cy="1077896"/>
            <a:chOff x="3163085" y="1180503"/>
            <a:chExt cx="1995945" cy="1077896"/>
          </a:xfrm>
        </p:grpSpPr>
        <p:sp>
          <p:nvSpPr>
            <p:cNvPr id="368" name="圆柱形 367"/>
            <p:cNvSpPr/>
            <p:nvPr/>
          </p:nvSpPr>
          <p:spPr bwMode="gray">
            <a:xfrm rot="5400000">
              <a:off x="3622110" y="721478"/>
              <a:ext cx="1077896" cy="1995945"/>
            </a:xfrm>
            <a:prstGeom prst="can">
              <a:avLst/>
            </a:prstGeom>
            <a:noFill/>
            <a:ln w="9525">
              <a:solidFill>
                <a:srgbClr val="1AABE2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69" name="矩形 368"/>
            <p:cNvSpPr/>
            <p:nvPr/>
          </p:nvSpPr>
          <p:spPr bwMode="gray">
            <a:xfrm>
              <a:off x="3185906" y="1267272"/>
              <a:ext cx="1839838" cy="112281"/>
            </a:xfrm>
            <a:prstGeom prst="rect">
              <a:avLst/>
            </a:prstGeom>
            <a:solidFill>
              <a:srgbClr val="1AABE2"/>
            </a:solidFill>
            <a:ln w="9525">
              <a:solidFill>
                <a:srgbClr val="1AAB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70" name="矩形 369"/>
            <p:cNvSpPr/>
            <p:nvPr/>
          </p:nvSpPr>
          <p:spPr bwMode="gray">
            <a:xfrm>
              <a:off x="3185906" y="1644744"/>
              <a:ext cx="1839838" cy="112281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DAE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71" name="矩形 370"/>
            <p:cNvSpPr/>
            <p:nvPr/>
          </p:nvSpPr>
          <p:spPr bwMode="gray">
            <a:xfrm>
              <a:off x="3185906" y="2064553"/>
              <a:ext cx="1839838" cy="112281"/>
            </a:xfrm>
            <a:prstGeom prst="rect">
              <a:avLst/>
            </a:prstGeom>
            <a:solidFill>
              <a:srgbClr val="1AABE2">
                <a:alpha val="5000"/>
              </a:srgbClr>
            </a:solidFill>
            <a:ln w="9525">
              <a:solidFill>
                <a:srgbClr val="1AABE2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372" name="圆柱形 371"/>
          <p:cNvSpPr>
            <a:spLocks/>
          </p:cNvSpPr>
          <p:nvPr/>
        </p:nvSpPr>
        <p:spPr bwMode="gray">
          <a:xfrm>
            <a:off x="3774142" y="1183056"/>
            <a:ext cx="365125" cy="314386"/>
          </a:xfrm>
          <a:prstGeom prst="can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73" name="圆柱形 372"/>
          <p:cNvSpPr>
            <a:spLocks/>
          </p:cNvSpPr>
          <p:nvPr/>
        </p:nvSpPr>
        <p:spPr bwMode="gray">
          <a:xfrm>
            <a:off x="3766909" y="1665566"/>
            <a:ext cx="365125" cy="314386"/>
          </a:xfrm>
          <a:prstGeom prst="can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74" name="圆柱形 373"/>
          <p:cNvSpPr>
            <a:spLocks/>
          </p:cNvSpPr>
          <p:nvPr/>
        </p:nvSpPr>
        <p:spPr bwMode="gray">
          <a:xfrm>
            <a:off x="3763101" y="2197452"/>
            <a:ext cx="365125" cy="314386"/>
          </a:xfrm>
          <a:prstGeom prst="can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4123141" y="1308024"/>
            <a:ext cx="938113" cy="1077896"/>
            <a:chOff x="5528854" y="1185617"/>
            <a:chExt cx="1662339" cy="1077896"/>
          </a:xfrm>
        </p:grpSpPr>
        <p:sp>
          <p:nvSpPr>
            <p:cNvPr id="375" name="圆柱形 374"/>
            <p:cNvSpPr/>
            <p:nvPr/>
          </p:nvSpPr>
          <p:spPr bwMode="gray">
            <a:xfrm rot="5400000">
              <a:off x="5821076" y="893395"/>
              <a:ext cx="1077896" cy="1662339"/>
            </a:xfrm>
            <a:prstGeom prst="can">
              <a:avLst/>
            </a:prstGeom>
            <a:noFill/>
            <a:ln w="9525">
              <a:solidFill>
                <a:srgbClr val="1AABE2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76" name="矩形 375"/>
            <p:cNvSpPr/>
            <p:nvPr/>
          </p:nvSpPr>
          <p:spPr bwMode="gray">
            <a:xfrm>
              <a:off x="5551674" y="1272386"/>
              <a:ext cx="1496107" cy="112281"/>
            </a:xfrm>
            <a:prstGeom prst="rect">
              <a:avLst/>
            </a:prstGeom>
            <a:solidFill>
              <a:srgbClr val="1AABE2"/>
            </a:solidFill>
            <a:ln w="9525">
              <a:solidFill>
                <a:srgbClr val="1AAB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77" name="矩形 376"/>
            <p:cNvSpPr/>
            <p:nvPr/>
          </p:nvSpPr>
          <p:spPr bwMode="gray">
            <a:xfrm>
              <a:off x="5551674" y="1649857"/>
              <a:ext cx="1496107" cy="112281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DAE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78" name="矩形 377"/>
            <p:cNvSpPr/>
            <p:nvPr/>
          </p:nvSpPr>
          <p:spPr bwMode="gray">
            <a:xfrm>
              <a:off x="5551674" y="2069667"/>
              <a:ext cx="1496107" cy="112281"/>
            </a:xfrm>
            <a:prstGeom prst="rect">
              <a:avLst/>
            </a:prstGeom>
            <a:solidFill>
              <a:srgbClr val="1AABE2">
                <a:alpha val="5000"/>
              </a:srgbClr>
            </a:solidFill>
            <a:ln w="9525">
              <a:solidFill>
                <a:srgbClr val="1AABE2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379" name="圆柱形 378"/>
          <p:cNvSpPr>
            <a:spLocks/>
          </p:cNvSpPr>
          <p:nvPr/>
        </p:nvSpPr>
        <p:spPr bwMode="gray">
          <a:xfrm>
            <a:off x="4998278" y="1183056"/>
            <a:ext cx="365125" cy="314386"/>
          </a:xfrm>
          <a:prstGeom prst="can">
            <a:avLst/>
          </a:prstGeom>
          <a:solidFill>
            <a:srgbClr val="1AA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81" name="圆柱形 380"/>
          <p:cNvSpPr>
            <a:spLocks/>
          </p:cNvSpPr>
          <p:nvPr/>
        </p:nvSpPr>
        <p:spPr bwMode="gray">
          <a:xfrm>
            <a:off x="4991045" y="1665566"/>
            <a:ext cx="365125" cy="314386"/>
          </a:xfrm>
          <a:prstGeom prst="can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83" name="圆柱形 382"/>
          <p:cNvSpPr>
            <a:spLocks/>
          </p:cNvSpPr>
          <p:nvPr/>
        </p:nvSpPr>
        <p:spPr bwMode="gray">
          <a:xfrm>
            <a:off x="4987237" y="2197452"/>
            <a:ext cx="365125" cy="314386"/>
          </a:xfrm>
          <a:prstGeom prst="can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95" name="矩形 394"/>
          <p:cNvSpPr/>
          <p:nvPr/>
        </p:nvSpPr>
        <p:spPr bwMode="gray">
          <a:xfrm>
            <a:off x="2438542" y="2635709"/>
            <a:ext cx="720000" cy="193801"/>
          </a:xfrm>
          <a:prstGeom prst="rect">
            <a:avLst/>
          </a:prstGeom>
          <a:solidFill>
            <a:srgbClr val="1AABE2"/>
          </a:solidFill>
          <a:ln w="9525">
            <a:solidFill>
              <a:srgbClr val="1AAB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SliceID1</a:t>
            </a:r>
          </a:p>
        </p:txBody>
      </p:sp>
      <p:sp>
        <p:nvSpPr>
          <p:cNvPr id="396" name="矩形 395"/>
          <p:cNvSpPr/>
          <p:nvPr/>
        </p:nvSpPr>
        <p:spPr bwMode="gray">
          <a:xfrm>
            <a:off x="2426918" y="3025335"/>
            <a:ext cx="720000" cy="179649"/>
          </a:xfrm>
          <a:prstGeom prst="rect">
            <a:avLst/>
          </a:prstGeom>
          <a:solidFill>
            <a:srgbClr val="DAE3F3"/>
          </a:solidFill>
          <a:ln w="9525">
            <a:solidFill>
              <a:srgbClr val="DAE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SliceID2</a:t>
            </a:r>
          </a:p>
        </p:txBody>
      </p:sp>
      <p:sp>
        <p:nvSpPr>
          <p:cNvPr id="397" name="矩形 396"/>
          <p:cNvSpPr/>
          <p:nvPr/>
        </p:nvSpPr>
        <p:spPr bwMode="gray">
          <a:xfrm>
            <a:off x="2426918" y="3432990"/>
            <a:ext cx="720000" cy="179649"/>
          </a:xfrm>
          <a:prstGeom prst="rect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SliceID3</a:t>
            </a:r>
          </a:p>
        </p:txBody>
      </p:sp>
      <p:sp>
        <p:nvSpPr>
          <p:cNvPr id="398" name="文本框 397"/>
          <p:cNvSpPr txBox="1"/>
          <p:nvPr/>
        </p:nvSpPr>
        <p:spPr bwMode="gray">
          <a:xfrm>
            <a:off x="3370691" y="2923360"/>
            <a:ext cx="8816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+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99" name="矩形 398"/>
          <p:cNvSpPr/>
          <p:nvPr/>
        </p:nvSpPr>
        <p:spPr bwMode="gray">
          <a:xfrm>
            <a:off x="3693961" y="2868142"/>
            <a:ext cx="182563" cy="494035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SRH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00" name="矩形 399"/>
          <p:cNvSpPr/>
          <p:nvPr/>
        </p:nvSpPr>
        <p:spPr bwMode="gray">
          <a:xfrm>
            <a:off x="3904186" y="3003178"/>
            <a:ext cx="861249" cy="22396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IPv6 Header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01" name="文本框 400"/>
          <p:cNvSpPr txBox="1"/>
          <p:nvPr/>
        </p:nvSpPr>
        <p:spPr bwMode="gray">
          <a:xfrm>
            <a:off x="4872434" y="2965563"/>
            <a:ext cx="8816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=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02" name="矩形 401"/>
          <p:cNvSpPr/>
          <p:nvPr/>
        </p:nvSpPr>
        <p:spPr bwMode="gray">
          <a:xfrm>
            <a:off x="5049220" y="2642771"/>
            <a:ext cx="682813" cy="179649"/>
          </a:xfrm>
          <a:prstGeom prst="rect">
            <a:avLst/>
          </a:prstGeom>
          <a:solidFill>
            <a:srgbClr val="1AABE2"/>
          </a:solidFill>
          <a:ln w="9525">
            <a:solidFill>
              <a:srgbClr val="1AAB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分片隧道</a:t>
            </a:r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1</a:t>
            </a:r>
          </a:p>
        </p:txBody>
      </p:sp>
      <p:sp>
        <p:nvSpPr>
          <p:cNvPr id="403" name="矩形 402"/>
          <p:cNvSpPr/>
          <p:nvPr/>
        </p:nvSpPr>
        <p:spPr bwMode="gray">
          <a:xfrm>
            <a:off x="5049220" y="3025335"/>
            <a:ext cx="682813" cy="179649"/>
          </a:xfrm>
          <a:prstGeom prst="rect">
            <a:avLst/>
          </a:prstGeom>
          <a:solidFill>
            <a:srgbClr val="DAE3F3"/>
          </a:solidFill>
          <a:ln w="9525">
            <a:solidFill>
              <a:srgbClr val="DAE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分片隧道</a:t>
            </a:r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2</a:t>
            </a:r>
          </a:p>
        </p:txBody>
      </p:sp>
      <p:sp>
        <p:nvSpPr>
          <p:cNvPr id="404" name="矩形 403"/>
          <p:cNvSpPr/>
          <p:nvPr/>
        </p:nvSpPr>
        <p:spPr bwMode="gray">
          <a:xfrm>
            <a:off x="5049220" y="3440051"/>
            <a:ext cx="682813" cy="179649"/>
          </a:xfrm>
          <a:prstGeom prst="rect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分片隧道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3</a:t>
            </a:r>
          </a:p>
        </p:txBody>
      </p:sp>
      <p:graphicFrame>
        <p:nvGraphicFramePr>
          <p:cNvPr id="497" name="表格 496"/>
          <p:cNvGraphicFramePr>
            <a:graphicFrameLocks noGrp="1"/>
          </p:cNvGraphicFramePr>
          <p:nvPr>
            <p:extLst/>
          </p:nvPr>
        </p:nvGraphicFramePr>
        <p:xfrm>
          <a:off x="948856" y="4650304"/>
          <a:ext cx="6948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8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VLAN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7" name="右箭头 506"/>
          <p:cNvSpPr/>
          <p:nvPr/>
        </p:nvSpPr>
        <p:spPr bwMode="gray">
          <a:xfrm rot="19807964">
            <a:off x="1817299" y="4523907"/>
            <a:ext cx="512065" cy="153611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08" name="右箭头 507"/>
          <p:cNvSpPr/>
          <p:nvPr/>
        </p:nvSpPr>
        <p:spPr bwMode="gray">
          <a:xfrm rot="1612451" flipV="1">
            <a:off x="1816644" y="5072485"/>
            <a:ext cx="537972" cy="144867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09" name="右箭头 508"/>
          <p:cNvSpPr/>
          <p:nvPr/>
        </p:nvSpPr>
        <p:spPr bwMode="gray">
          <a:xfrm>
            <a:off x="3928361" y="4428451"/>
            <a:ext cx="360000" cy="144867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1" name="右箭头 510"/>
          <p:cNvSpPr/>
          <p:nvPr/>
        </p:nvSpPr>
        <p:spPr bwMode="gray">
          <a:xfrm rot="20207625">
            <a:off x="5577281" y="5033003"/>
            <a:ext cx="466767" cy="157953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2" name="右箭头 511"/>
          <p:cNvSpPr/>
          <p:nvPr/>
        </p:nvSpPr>
        <p:spPr bwMode="gray">
          <a:xfrm rot="1328813" flipV="1">
            <a:off x="5585011" y="4548975"/>
            <a:ext cx="459968" cy="157953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5" name="矩形 514"/>
          <p:cNvSpPr/>
          <p:nvPr/>
        </p:nvSpPr>
        <p:spPr bwMode="gray">
          <a:xfrm>
            <a:off x="1572038" y="4252308"/>
            <a:ext cx="1002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SRv6 BE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6" name="矩形 515"/>
          <p:cNvSpPr/>
          <p:nvPr/>
        </p:nvSpPr>
        <p:spPr bwMode="gray">
          <a:xfrm>
            <a:off x="1661193" y="5207894"/>
            <a:ext cx="880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SRv6 Policy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aphicFrame>
        <p:nvGraphicFramePr>
          <p:cNvPr id="190" name="表格 189"/>
          <p:cNvGraphicFramePr>
            <a:graphicFrameLocks noGrp="1"/>
          </p:cNvGraphicFramePr>
          <p:nvPr>
            <p:extLst/>
          </p:nvPr>
        </p:nvGraphicFramePr>
        <p:xfrm>
          <a:off x="6120515" y="4669954"/>
          <a:ext cx="68085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8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VLAN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1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5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GTP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2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1" name="表格 190"/>
          <p:cNvGraphicFramePr>
            <a:graphicFrameLocks noGrp="1"/>
          </p:cNvGraphicFramePr>
          <p:nvPr>
            <p:extLst/>
          </p:nvPr>
        </p:nvGraphicFramePr>
        <p:xfrm>
          <a:off x="2402858" y="3873195"/>
          <a:ext cx="147366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6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IPv6 Head(VPN SID</a:t>
                      </a:r>
                      <a:r>
                        <a:rPr lang="en-US" altLang="zh-CN" sz="1200" b="0" baseline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)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HBH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SliceID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3" name="表格 192"/>
          <p:cNvGraphicFramePr>
            <a:graphicFrameLocks noGrp="1"/>
          </p:cNvGraphicFramePr>
          <p:nvPr>
            <p:extLst/>
          </p:nvPr>
        </p:nvGraphicFramePr>
        <p:xfrm>
          <a:off x="2402858" y="4903055"/>
          <a:ext cx="145368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6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82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IPv6 Head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HBH </a:t>
                      </a:r>
                      <a:r>
                        <a:rPr lang="en-US" altLang="zh-CN" sz="1200" b="0" dirty="0" err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SliceID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8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SRH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" name="文本框 194"/>
          <p:cNvSpPr txBox="1"/>
          <p:nvPr/>
        </p:nvSpPr>
        <p:spPr bwMode="gray">
          <a:xfrm>
            <a:off x="7346838" y="1397789"/>
            <a:ext cx="4402249" cy="2312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base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dirty="0" err="1">
                <a:sym typeface="Huawei Sans" panose="020C0503030203020204" pitchFamily="34" charset="0"/>
              </a:rPr>
              <a:t>SliceID</a:t>
            </a:r>
            <a:r>
              <a:rPr lang="zh-CN" altLang="en-US" dirty="0">
                <a:sym typeface="Huawei Sans" panose="020C0503030203020204" pitchFamily="34" charset="0"/>
              </a:rPr>
              <a:t>说明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全局唯一网络分片标识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对应分片平面内所有转发资源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转发面报文端到端携带</a:t>
            </a:r>
            <a:r>
              <a:rPr lang="en-US" altLang="zh-CN" sz="1200" dirty="0" err="1">
                <a:sym typeface="Huawei Sans" panose="020C0503030203020204" pitchFamily="34" charset="0"/>
              </a:rPr>
              <a:t>SliceID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各转发节点逐跳根据</a:t>
            </a:r>
            <a:r>
              <a:rPr lang="en-US" altLang="zh-CN" sz="1200" dirty="0" err="1">
                <a:sym typeface="Huawei Sans" panose="020C0503030203020204" pitchFamily="34" charset="0"/>
              </a:rPr>
              <a:t>SliceID</a:t>
            </a:r>
            <a:r>
              <a:rPr lang="zh-CN" altLang="en-US" sz="1200" dirty="0">
                <a:sym typeface="Huawei Sans" panose="020C0503030203020204" pitchFamily="34" charset="0"/>
              </a:rPr>
              <a:t>匹配对应的分片转发资源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  <p:graphicFrame>
        <p:nvGraphicFramePr>
          <p:cNvPr id="196" name="表格 195"/>
          <p:cNvGraphicFramePr>
            <a:graphicFrameLocks noGrp="1"/>
          </p:cNvGraphicFramePr>
          <p:nvPr>
            <p:extLst/>
          </p:nvPr>
        </p:nvGraphicFramePr>
        <p:xfrm>
          <a:off x="4323993" y="3939159"/>
          <a:ext cx="14863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3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IPv6 Head(VPN SID</a:t>
                      </a:r>
                      <a:r>
                        <a:rPr lang="en-US" altLang="zh-CN" sz="1200" b="0" baseline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)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HBH 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SliceID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7" name="表格 196"/>
          <p:cNvGraphicFramePr>
            <a:graphicFrameLocks noGrp="1"/>
          </p:cNvGraphicFramePr>
          <p:nvPr>
            <p:extLst/>
          </p:nvPr>
        </p:nvGraphicFramePr>
        <p:xfrm>
          <a:off x="4323993" y="5044551"/>
          <a:ext cx="14863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3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82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IPv6 Head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HBH </a:t>
                      </a:r>
                      <a:r>
                        <a:rPr lang="en-US" altLang="zh-CN" sz="1200" b="0" dirty="0" err="1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SliceID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8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SRH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B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4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IP Head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2305">
                <a:tc>
                  <a:txBody>
                    <a:bodyPr/>
                    <a:lstStyle/>
                    <a:p>
                      <a:pPr marL="0" marR="0" lvl="0" indent="0" algn="ctr" defTabSz="6856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Huawei Sans" panose="020C0503030203020204" pitchFamily="34" charset="0"/>
                          <a:sym typeface="Huawei Sans" panose="020C0503030203020204" pitchFamily="34" charset="0"/>
                        </a:rPr>
                        <a:t>Payload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Huawei Sans" panose="020C0503030203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zh-CN" altLang="en-US" dirty="0"/>
              <a:t>网络分片方案举例：</a:t>
            </a:r>
            <a:r>
              <a:rPr lang="en-US" altLang="zh-CN" dirty="0" smtClean="0"/>
              <a:t>SRv6 &amp; </a:t>
            </a:r>
            <a:r>
              <a:rPr lang="en-US" altLang="zh-CN" dirty="0" err="1" smtClean="0"/>
              <a:t>SliceID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92" name="圆柱形 191"/>
          <p:cNvSpPr>
            <a:spLocks/>
          </p:cNvSpPr>
          <p:nvPr/>
        </p:nvSpPr>
        <p:spPr bwMode="gray">
          <a:xfrm>
            <a:off x="2479870" y="1665566"/>
            <a:ext cx="365125" cy="314386"/>
          </a:xfrm>
          <a:prstGeom prst="can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4" name="圆柱形 193"/>
          <p:cNvSpPr>
            <a:spLocks/>
          </p:cNvSpPr>
          <p:nvPr/>
        </p:nvSpPr>
        <p:spPr bwMode="gray">
          <a:xfrm>
            <a:off x="2499881" y="2197452"/>
            <a:ext cx="365125" cy="314386"/>
          </a:xfrm>
          <a:prstGeom prst="can">
            <a:avLst/>
          </a:pr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8" name="文本框 197"/>
          <p:cNvSpPr txBox="1"/>
          <p:nvPr/>
        </p:nvSpPr>
        <p:spPr bwMode="gray">
          <a:xfrm>
            <a:off x="6070560" y="1194176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9" name="文本框 198"/>
          <p:cNvSpPr txBox="1"/>
          <p:nvPr/>
        </p:nvSpPr>
        <p:spPr bwMode="gray">
          <a:xfrm>
            <a:off x="6070560" y="1652339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0" name="文本框 199"/>
          <p:cNvSpPr txBox="1"/>
          <p:nvPr/>
        </p:nvSpPr>
        <p:spPr bwMode="gray">
          <a:xfrm>
            <a:off x="6070560" y="2121165"/>
            <a:ext cx="7021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分片业务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 bwMode="gray">
          <a:xfrm>
            <a:off x="6060141" y="1391870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 bwMode="gray">
          <a:xfrm>
            <a:off x="6060141" y="1864541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 bwMode="gray">
          <a:xfrm>
            <a:off x="6072173" y="2375237"/>
            <a:ext cx="54768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矩形 203"/>
          <p:cNvSpPr/>
          <p:nvPr/>
        </p:nvSpPr>
        <p:spPr bwMode="gray">
          <a:xfrm>
            <a:off x="469040" y="1052513"/>
            <a:ext cx="6609059" cy="269801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4" rIns="91387" bIns="45694" rtlCol="0" anchor="ctr"/>
          <a:lstStyle/>
          <a:p>
            <a:pPr algn="ctr"/>
            <a:endParaRPr lang="zh-CN" altLang="en-US" sz="11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5" name="矩形 204"/>
          <p:cNvSpPr/>
          <p:nvPr/>
        </p:nvSpPr>
        <p:spPr bwMode="gray">
          <a:xfrm>
            <a:off x="469040" y="3844397"/>
            <a:ext cx="6609059" cy="230224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7" tIns="45694" rIns="91387" bIns="45694" rtlCol="0" anchor="ctr"/>
          <a:lstStyle/>
          <a:p>
            <a:pPr algn="ctr"/>
            <a:endParaRPr lang="zh-CN" altLang="en-US" sz="11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6" name="矩形 205"/>
          <p:cNvSpPr/>
          <p:nvPr/>
        </p:nvSpPr>
        <p:spPr bwMode="gray">
          <a:xfrm>
            <a:off x="6307172" y="5858022"/>
            <a:ext cx="770927" cy="28462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 defTabSz="1219028"/>
            <a:r>
              <a:rPr lang="zh-CN" altLang="en-US" sz="12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转发面</a:t>
            </a:r>
          </a:p>
        </p:txBody>
      </p:sp>
      <p:sp>
        <p:nvSpPr>
          <p:cNvPr id="207" name="右箭头 206"/>
          <p:cNvSpPr/>
          <p:nvPr/>
        </p:nvSpPr>
        <p:spPr bwMode="gray">
          <a:xfrm>
            <a:off x="3928361" y="5419942"/>
            <a:ext cx="360000" cy="144867"/>
          </a:xfrm>
          <a:prstGeom prst="rightArrow">
            <a:avLst/>
          </a:prstGeom>
          <a:solidFill>
            <a:srgbClr val="1AABE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444">
              <a:defRPr/>
            </a:pPr>
            <a:endParaRPr lang="zh-CN" altLang="en-US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2393107" y="1203864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VRF1</a:t>
            </a:r>
            <a:endParaRPr lang="zh-CN" altLang="en-US" sz="1200" dirty="0"/>
          </a:p>
        </p:txBody>
      </p:sp>
      <p:sp>
        <p:nvSpPr>
          <p:cNvPr id="208" name="文本框 207"/>
          <p:cNvSpPr txBox="1"/>
          <p:nvPr/>
        </p:nvSpPr>
        <p:spPr bwMode="gray">
          <a:xfrm>
            <a:off x="2393107" y="1696920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VRF2</a:t>
            </a:r>
            <a:endParaRPr lang="zh-CN" altLang="en-US" sz="1200" dirty="0"/>
          </a:p>
        </p:txBody>
      </p:sp>
      <p:sp>
        <p:nvSpPr>
          <p:cNvPr id="209" name="文本框 208"/>
          <p:cNvSpPr txBox="1"/>
          <p:nvPr/>
        </p:nvSpPr>
        <p:spPr bwMode="gray">
          <a:xfrm>
            <a:off x="2417171" y="2250248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VRF3</a:t>
            </a:r>
            <a:endParaRPr lang="zh-CN" altLang="en-US" sz="1200" dirty="0"/>
          </a:p>
        </p:txBody>
      </p:sp>
      <p:sp>
        <p:nvSpPr>
          <p:cNvPr id="210" name="文本框 209"/>
          <p:cNvSpPr txBox="1"/>
          <p:nvPr/>
        </p:nvSpPr>
        <p:spPr bwMode="gray">
          <a:xfrm>
            <a:off x="4910375" y="1203864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VRF1</a:t>
            </a:r>
            <a:endParaRPr lang="zh-CN" altLang="en-US" sz="1200" dirty="0"/>
          </a:p>
        </p:txBody>
      </p:sp>
      <p:sp>
        <p:nvSpPr>
          <p:cNvPr id="211" name="文本框 210"/>
          <p:cNvSpPr txBox="1"/>
          <p:nvPr/>
        </p:nvSpPr>
        <p:spPr bwMode="gray">
          <a:xfrm>
            <a:off x="4910375" y="1696920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VRF2</a:t>
            </a:r>
            <a:endParaRPr lang="zh-CN" altLang="en-US" sz="1200" dirty="0"/>
          </a:p>
        </p:txBody>
      </p:sp>
      <p:sp>
        <p:nvSpPr>
          <p:cNvPr id="212" name="文本框 211"/>
          <p:cNvSpPr txBox="1"/>
          <p:nvPr/>
        </p:nvSpPr>
        <p:spPr bwMode="gray">
          <a:xfrm>
            <a:off x="4910375" y="2250248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VRF3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495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b="1" dirty="0">
                <a:sym typeface="Huawei Sans" panose="020C0503030203020204" pitchFamily="34" charset="0"/>
              </a:rPr>
              <a:t>网络可靠性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网络管理与运维</a:t>
            </a: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3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E482113D-C533-4A05-AECA-804C31CB2F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广域网可靠性简介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F3CD701C-6CA7-4419-A1CB-FE25CEE3AC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广域网可靠性包含设备可靠性和网络可靠性两部分。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设备可靠性：可细分为路由器可靠性和控制器可靠性。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控制器可靠性通过集群化部署以及部署异地容灾系统来实现。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路由器可靠性可以通过</a:t>
            </a:r>
            <a:r>
              <a:rPr lang="en-US" altLang="zh-CN" sz="1600" dirty="0">
                <a:sym typeface="Huawei Sans" panose="020C0503030203020204" pitchFamily="34" charset="0"/>
              </a:rPr>
              <a:t>NSR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Non-Stop Routing</a:t>
            </a:r>
            <a:r>
              <a:rPr lang="zh-CN" altLang="en-US" sz="1600" dirty="0">
                <a:sym typeface="Huawei Sans" panose="020C0503030203020204" pitchFamily="34" charset="0"/>
              </a:rPr>
              <a:t>，不间断路由）等设备特性实现，相关特性本课程不做单独描述。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网络可靠性：通过部署各层次的快速检测和收敛机制来减少链路故障、节点故障对业务影响。</a:t>
            </a:r>
          </a:p>
          <a:p>
            <a:endParaRPr lang="en-US" altLang="zh-CN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8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>
            <a:extLst>
              <a:ext uri="{FF2B5EF4-FFF2-40B4-BE49-F238E27FC236}">
                <a16:creationId xmlns="" xmlns:a16="http://schemas.microsoft.com/office/drawing/2014/main" id="{CE3D0F07-B66F-4A30-A7E9-8437FAFCA765}"/>
              </a:ext>
            </a:extLst>
          </p:cNvPr>
          <p:cNvGrpSpPr/>
          <p:nvPr/>
        </p:nvGrpSpPr>
        <p:grpSpPr bwMode="gray">
          <a:xfrm>
            <a:off x="1023019" y="4380515"/>
            <a:ext cx="737151" cy="1411290"/>
            <a:chOff x="4518703" y="2205748"/>
            <a:chExt cx="1512166" cy="2521312"/>
          </a:xfrm>
        </p:grpSpPr>
        <p:cxnSp>
          <p:nvCxnSpPr>
            <p:cNvPr id="121" name="直接连接符 120">
              <a:extLst>
                <a:ext uri="{FF2B5EF4-FFF2-40B4-BE49-F238E27FC236}">
                  <a16:creationId xmlns="" xmlns:a16="http://schemas.microsoft.com/office/drawing/2014/main" id="{E1F082ED-3A96-4706-8D18-012728A8B477}"/>
                </a:ext>
              </a:extLst>
            </p:cNvPr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="" xmlns:a16="http://schemas.microsoft.com/office/drawing/2014/main" id="{5D984FDE-0BBC-4681-B218-CFAF6FC760F3}"/>
                </a:ext>
              </a:extLst>
            </p:cNvPr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C2676CB-8EF1-4791-B33C-B9EF3C99399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TE</a:t>
            </a:r>
            <a:r>
              <a:rPr lang="zh-CN" altLang="en-US" dirty="0">
                <a:sym typeface="Huawei Sans" panose="020C0503030203020204" pitchFamily="34" charset="0"/>
              </a:rPr>
              <a:t>隧道故障保护技术基础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731C102-2CC4-4FE8-8C3D-8B6746F62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隧道故障保护有两种思路，局部保护与端到端保护。对于</a:t>
            </a:r>
            <a:r>
              <a:rPr lang="en-US" altLang="zh-CN" sz="1800" dirty="0">
                <a:sym typeface="Huawei Sans" panose="020C0503030203020204" pitchFamily="34" charset="0"/>
              </a:rPr>
              <a:t>TE</a:t>
            </a:r>
            <a:r>
              <a:rPr lang="zh-CN" altLang="en-US" sz="1800" dirty="0">
                <a:sym typeface="Huawei Sans" panose="020C0503030203020204" pitchFamily="34" charset="0"/>
              </a:rPr>
              <a:t>隧道，无论是</a:t>
            </a:r>
            <a:r>
              <a:rPr lang="en-US" altLang="zh-CN" sz="1800" dirty="0">
                <a:sym typeface="Huawei Sans" panose="020C0503030203020204" pitchFamily="34" charset="0"/>
              </a:rPr>
              <a:t>MPLS TE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SR-MPLS TE</a:t>
            </a:r>
            <a:r>
              <a:rPr lang="zh-CN" altLang="en-US" sz="1800" dirty="0">
                <a:sym typeface="Huawei Sans" panose="020C0503030203020204" pitchFamily="34" charset="0"/>
              </a:rPr>
              <a:t>还是</a:t>
            </a:r>
            <a:r>
              <a:rPr lang="en-US" altLang="zh-CN" sz="1800" dirty="0">
                <a:sym typeface="Huawei Sans" panose="020C0503030203020204" pitchFamily="34" charset="0"/>
              </a:rPr>
              <a:t>SR-MPLS Policy</a:t>
            </a:r>
            <a:r>
              <a:rPr lang="zh-CN" altLang="en-US" sz="1800" dirty="0">
                <a:sym typeface="Huawei Sans" panose="020C0503030203020204" pitchFamily="34" charset="0"/>
              </a:rPr>
              <a:t>都可以沿用此思想，但是具体的技术实现略有不同。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7" name="圆角矩形 75">
            <a:extLst>
              <a:ext uri="{FF2B5EF4-FFF2-40B4-BE49-F238E27FC236}">
                <a16:creationId xmlns="" xmlns:a16="http://schemas.microsoft.com/office/drawing/2014/main" id="{AA9B2A56-05F1-411A-9296-C0880052292F}"/>
              </a:ext>
            </a:extLst>
          </p:cNvPr>
          <p:cNvSpPr/>
          <p:nvPr/>
        </p:nvSpPr>
        <p:spPr bwMode="gray">
          <a:xfrm>
            <a:off x="574674" y="1956556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端到端保护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圆角矩形 75">
            <a:extLst>
              <a:ext uri="{FF2B5EF4-FFF2-40B4-BE49-F238E27FC236}">
                <a16:creationId xmlns="" xmlns:a16="http://schemas.microsoft.com/office/drawing/2014/main" id="{96A65EAD-F926-4D5E-8D73-429979D9971D}"/>
              </a:ext>
            </a:extLst>
          </p:cNvPr>
          <p:cNvSpPr/>
          <p:nvPr/>
        </p:nvSpPr>
        <p:spPr bwMode="gray">
          <a:xfrm>
            <a:off x="578630" y="2377891"/>
            <a:ext cx="5419725" cy="3737901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="" xmlns:a16="http://schemas.microsoft.com/office/drawing/2014/main" id="{6310F373-7CE2-4DBD-9D9C-A9791EA9120A}"/>
              </a:ext>
            </a:extLst>
          </p:cNvPr>
          <p:cNvSpPr txBox="1"/>
          <p:nvPr/>
        </p:nvSpPr>
        <p:spPr bwMode="gray">
          <a:xfrm>
            <a:off x="591330" y="2428129"/>
            <a:ext cx="5407025" cy="135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sz="1400">
                <a:sym typeface="Huawei Sans" panose="020C0503030203020204" pitchFamily="34" charset="0"/>
              </a:rPr>
              <a:t>端到端保护：是在同一个隧道的起点和终点间建立多条</a:t>
            </a:r>
            <a:r>
              <a:rPr lang="en-US" altLang="zh-CN" sz="1400">
                <a:sym typeface="Huawei Sans" panose="020C0503030203020204" pitchFamily="34" charset="0"/>
              </a:rPr>
              <a:t>CR-LSP</a:t>
            </a:r>
            <a:r>
              <a:rPr lang="zh-CN" altLang="en-US" sz="1400">
                <a:sym typeface="Huawei Sans" panose="020C0503030203020204" pitchFamily="34" charset="0"/>
              </a:rPr>
              <a:t>，每条</a:t>
            </a:r>
            <a:r>
              <a:rPr lang="en-US" altLang="zh-CN" sz="1400">
                <a:sym typeface="Huawei Sans" panose="020C0503030203020204" pitchFamily="34" charset="0"/>
              </a:rPr>
              <a:t>CR-LSP</a:t>
            </a:r>
            <a:r>
              <a:rPr lang="zh-CN" altLang="en-US" sz="1400">
                <a:sym typeface="Huawei Sans" panose="020C0503030203020204" pitchFamily="34" charset="0"/>
              </a:rPr>
              <a:t>穿越不同的路径。当入节点感知到主</a:t>
            </a:r>
            <a:r>
              <a:rPr lang="en-US" altLang="zh-CN" sz="1400">
                <a:sym typeface="Huawei Sans" panose="020C0503030203020204" pitchFamily="34" charset="0"/>
              </a:rPr>
              <a:t>CR-LSP</a:t>
            </a:r>
            <a:r>
              <a:rPr lang="zh-CN" altLang="en-US" sz="1400">
                <a:sym typeface="Huawei Sans" panose="020C0503030203020204" pitchFamily="34" charset="0"/>
              </a:rPr>
              <a:t>不可用时，将流量切换到备份路径上。</a:t>
            </a:r>
            <a:endParaRPr lang="en-US" altLang="zh-CN" sz="1400">
              <a:sym typeface="Huawei Sans" panose="020C0503030203020204" pitchFamily="34" charset="0"/>
            </a:endParaRPr>
          </a:p>
          <a:p>
            <a:r>
              <a:rPr lang="zh-CN" altLang="en-US" sz="1400">
                <a:sym typeface="Huawei Sans" panose="020C0503030203020204" pitchFamily="34" charset="0"/>
              </a:rPr>
              <a:t>端到端保护路径自然切换较慢，需要结合检测机制快速切换。</a:t>
            </a:r>
          </a:p>
        </p:txBody>
      </p:sp>
      <p:sp>
        <p:nvSpPr>
          <p:cNvPr id="80" name="圆角矩形 75">
            <a:extLst>
              <a:ext uri="{FF2B5EF4-FFF2-40B4-BE49-F238E27FC236}">
                <a16:creationId xmlns="" xmlns:a16="http://schemas.microsoft.com/office/drawing/2014/main" id="{B13A2131-8CD8-4652-9BFB-50EE37964391}"/>
              </a:ext>
            </a:extLst>
          </p:cNvPr>
          <p:cNvSpPr/>
          <p:nvPr/>
        </p:nvSpPr>
        <p:spPr bwMode="gray">
          <a:xfrm>
            <a:off x="6223001" y="1956556"/>
            <a:ext cx="5428933" cy="35708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局部保护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圆角矩形 75">
            <a:extLst>
              <a:ext uri="{FF2B5EF4-FFF2-40B4-BE49-F238E27FC236}">
                <a16:creationId xmlns="" xmlns:a16="http://schemas.microsoft.com/office/drawing/2014/main" id="{5903AC03-DA4F-4074-9EF2-8CB9CEE27E6F}"/>
              </a:ext>
            </a:extLst>
          </p:cNvPr>
          <p:cNvSpPr/>
          <p:nvPr/>
        </p:nvSpPr>
        <p:spPr bwMode="gray">
          <a:xfrm>
            <a:off x="6226957" y="2377891"/>
            <a:ext cx="5419725" cy="3737901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="" xmlns:a16="http://schemas.microsoft.com/office/drawing/2014/main" id="{77FA6435-370D-41D7-8193-6F9BC657B0DB}"/>
              </a:ext>
            </a:extLst>
          </p:cNvPr>
          <p:cNvSpPr txBox="1"/>
          <p:nvPr/>
        </p:nvSpPr>
        <p:spPr bwMode="gray">
          <a:xfrm>
            <a:off x="6239657" y="2428129"/>
            <a:ext cx="5407025" cy="135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>
                <a:sym typeface="Huawei Sans" panose="020C0503030203020204" pitchFamily="34" charset="0"/>
              </a:rPr>
              <a:t>FRR</a:t>
            </a:r>
            <a:r>
              <a:rPr lang="zh-CN" altLang="en-US" sz="1400">
                <a:sym typeface="Huawei Sans" panose="020C0503030203020204" pitchFamily="34" charset="0"/>
              </a:rPr>
              <a:t>（</a:t>
            </a:r>
            <a:r>
              <a:rPr lang="en-US" altLang="zh-CN" sz="1400">
                <a:sym typeface="Huawei Sans" panose="020C0503030203020204" pitchFamily="34" charset="0"/>
              </a:rPr>
              <a:t>Fast ReRoute</a:t>
            </a:r>
            <a:r>
              <a:rPr lang="zh-CN" altLang="en-US" sz="1400">
                <a:sym typeface="Huawei Sans" panose="020C0503030203020204" pitchFamily="34" charset="0"/>
              </a:rPr>
              <a:t>，快速重路由），也称为局部保护，这是一种临时性的保护措施。中间节点</a:t>
            </a:r>
            <a:r>
              <a:rPr lang="en-US" altLang="zh-CN" sz="1400">
                <a:sym typeface="Huawei Sans" panose="020C0503030203020204" pitchFamily="34" charset="0"/>
              </a:rPr>
              <a:t>/</a:t>
            </a:r>
            <a:r>
              <a:rPr lang="zh-CN" altLang="en-US" sz="1400">
                <a:sym typeface="Huawei Sans" panose="020C0503030203020204" pitchFamily="34" charset="0"/>
              </a:rPr>
              <a:t>链路故障后，触发局部保护，在局部建立备份</a:t>
            </a:r>
            <a:r>
              <a:rPr lang="en-US" altLang="zh-CN" sz="1400">
                <a:sym typeface="Huawei Sans" panose="020C0503030203020204" pitchFamily="34" charset="0"/>
              </a:rPr>
              <a:t>CR-LSP</a:t>
            </a:r>
            <a:r>
              <a:rPr lang="zh-CN" altLang="en-US" sz="1400">
                <a:sym typeface="Huawei Sans" panose="020C0503030203020204" pitchFamily="34" charset="0"/>
              </a:rPr>
              <a:t>，从而进行流量的切换，同时通告隧道首端进行路径的重新计算和备份路径的及时切换。</a:t>
            </a:r>
          </a:p>
        </p:txBody>
      </p:sp>
      <p:pic>
        <p:nvPicPr>
          <p:cNvPr id="112" name="图片 111">
            <a:extLst>
              <a:ext uri="{FF2B5EF4-FFF2-40B4-BE49-F238E27FC236}">
                <a16:creationId xmlns="" xmlns:a16="http://schemas.microsoft.com/office/drawing/2014/main" id="{88A0890C-FF7B-4FFC-A01F-06B75D8608E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4101" y="4918736"/>
            <a:ext cx="385409" cy="321954"/>
          </a:xfrm>
          <a:prstGeom prst="rect">
            <a:avLst/>
          </a:prstGeom>
        </p:spPr>
      </p:pic>
      <p:grpSp>
        <p:nvGrpSpPr>
          <p:cNvPr id="113" name="组合 112">
            <a:extLst>
              <a:ext uri="{FF2B5EF4-FFF2-40B4-BE49-F238E27FC236}">
                <a16:creationId xmlns="" xmlns:a16="http://schemas.microsoft.com/office/drawing/2014/main" id="{2AD62FCC-6FAF-4DB2-8B04-864C8C76F373}"/>
              </a:ext>
            </a:extLst>
          </p:cNvPr>
          <p:cNvGrpSpPr/>
          <p:nvPr/>
        </p:nvGrpSpPr>
        <p:grpSpPr bwMode="gray">
          <a:xfrm rot="5400000">
            <a:off x="5021375" y="4812823"/>
            <a:ext cx="357991" cy="546675"/>
            <a:chOff x="3769575" y="2816233"/>
            <a:chExt cx="959475" cy="2029316"/>
          </a:xfrm>
        </p:grpSpPr>
        <p:cxnSp>
          <p:nvCxnSpPr>
            <p:cNvPr id="114" name="直接连接符 113">
              <a:extLst>
                <a:ext uri="{FF2B5EF4-FFF2-40B4-BE49-F238E27FC236}">
                  <a16:creationId xmlns="" xmlns:a16="http://schemas.microsoft.com/office/drawing/2014/main" id="{F0E20EA4-3290-46A4-BEF3-68028260CA08}"/>
                </a:ext>
              </a:extLst>
            </p:cNvPr>
            <p:cNvCxnSpPr/>
            <p:nvPr/>
          </p:nvCxnSpPr>
          <p:spPr bwMode="gray">
            <a:xfrm flipH="1">
              <a:off x="3769575" y="2816233"/>
              <a:ext cx="959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="" xmlns:a16="http://schemas.microsoft.com/office/drawing/2014/main" id="{7CA0F5B5-AFF0-4B89-B215-A23132112A29}"/>
                </a:ext>
              </a:extLst>
            </p:cNvPr>
            <p:cNvCxnSpPr/>
            <p:nvPr/>
          </p:nvCxnSpPr>
          <p:spPr bwMode="gray">
            <a:xfrm flipV="1">
              <a:off x="4249312" y="2816233"/>
              <a:ext cx="0" cy="20293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组合 115">
            <a:extLst>
              <a:ext uri="{FF2B5EF4-FFF2-40B4-BE49-F238E27FC236}">
                <a16:creationId xmlns="" xmlns:a16="http://schemas.microsoft.com/office/drawing/2014/main" id="{2B57213A-37D5-4D75-867F-A4B27151D044}"/>
              </a:ext>
            </a:extLst>
          </p:cNvPr>
          <p:cNvGrpSpPr/>
          <p:nvPr/>
        </p:nvGrpSpPr>
        <p:grpSpPr bwMode="gray">
          <a:xfrm rot="10800000">
            <a:off x="4131004" y="4380515"/>
            <a:ext cx="737151" cy="1411290"/>
            <a:chOff x="4518703" y="2205748"/>
            <a:chExt cx="1512166" cy="2521312"/>
          </a:xfrm>
        </p:grpSpPr>
        <p:cxnSp>
          <p:nvCxnSpPr>
            <p:cNvPr id="117" name="直接连接符 116">
              <a:extLst>
                <a:ext uri="{FF2B5EF4-FFF2-40B4-BE49-F238E27FC236}">
                  <a16:creationId xmlns="" xmlns:a16="http://schemas.microsoft.com/office/drawing/2014/main" id="{3E1F6E15-E252-4E2F-9779-E0B5E67D6401}"/>
                </a:ext>
              </a:extLst>
            </p:cNvPr>
            <p:cNvCxnSpPr/>
            <p:nvPr/>
          </p:nvCxnSpPr>
          <p:spPr bwMode="gray">
            <a:xfrm rot="16200000" flipH="1">
              <a:off x="4644458" y="3340649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="" xmlns:a16="http://schemas.microsoft.com/office/drawing/2014/main" id="{2D4475FE-41D7-4802-A26C-225F2CACC029}"/>
                </a:ext>
              </a:extLst>
            </p:cNvPr>
            <p:cNvCxnSpPr/>
            <p:nvPr/>
          </p:nvCxnSpPr>
          <p:spPr bwMode="gray">
            <a:xfrm rot="16200000">
              <a:off x="4644458" y="2079993"/>
              <a:ext cx="1260656" cy="15121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直接连接符 121">
            <a:extLst>
              <a:ext uri="{FF2B5EF4-FFF2-40B4-BE49-F238E27FC236}">
                <a16:creationId xmlns="" xmlns:a16="http://schemas.microsoft.com/office/drawing/2014/main" id="{EF1AF51D-77A4-4372-A3A7-F40D0F2BC949}"/>
              </a:ext>
            </a:extLst>
          </p:cNvPr>
          <p:cNvCxnSpPr/>
          <p:nvPr/>
        </p:nvCxnSpPr>
        <p:spPr bwMode="gray">
          <a:xfrm flipH="1">
            <a:off x="1769961" y="4322024"/>
            <a:ext cx="23641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="" xmlns:a16="http://schemas.microsoft.com/office/drawing/2014/main" id="{CCF65CC0-298B-47D0-A667-D8C2BE99C25A}"/>
              </a:ext>
            </a:extLst>
          </p:cNvPr>
          <p:cNvCxnSpPr/>
          <p:nvPr/>
        </p:nvCxnSpPr>
        <p:spPr bwMode="gray">
          <a:xfrm flipH="1">
            <a:off x="1769961" y="5797515"/>
            <a:ext cx="23641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="" xmlns:a16="http://schemas.microsoft.com/office/drawing/2014/main" id="{C9DF7C11-C39F-4B47-AD6A-C75008C9BDFA}"/>
              </a:ext>
            </a:extLst>
          </p:cNvPr>
          <p:cNvSpPr/>
          <p:nvPr/>
        </p:nvSpPr>
        <p:spPr bwMode="gray">
          <a:xfrm>
            <a:off x="4708811" y="5290557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="" xmlns:a16="http://schemas.microsoft.com/office/drawing/2014/main" id="{0B11DF5C-6441-42FF-9507-5AFB7C527401}"/>
              </a:ext>
            </a:extLst>
          </p:cNvPr>
          <p:cNvSpPr/>
          <p:nvPr/>
        </p:nvSpPr>
        <p:spPr bwMode="gray">
          <a:xfrm>
            <a:off x="762700" y="5326169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任意多边形 39">
            <a:extLst>
              <a:ext uri="{FF2B5EF4-FFF2-40B4-BE49-F238E27FC236}">
                <a16:creationId xmlns="" xmlns:a16="http://schemas.microsoft.com/office/drawing/2014/main" id="{F4A7F305-BFFC-4DE3-B1B7-14CD612B71A3}"/>
              </a:ext>
            </a:extLst>
          </p:cNvPr>
          <p:cNvSpPr/>
          <p:nvPr/>
        </p:nvSpPr>
        <p:spPr bwMode="gray">
          <a:xfrm>
            <a:off x="804907" y="4537913"/>
            <a:ext cx="4174881" cy="430197"/>
          </a:xfrm>
          <a:custGeom>
            <a:avLst/>
            <a:gdLst>
              <a:gd name="connsiteX0" fmla="*/ 0 w 5849470"/>
              <a:gd name="connsiteY0" fmla="*/ 591671 h 591671"/>
              <a:gd name="connsiteX1" fmla="*/ 793376 w 5849470"/>
              <a:gd name="connsiteY1" fmla="*/ 591671 h 591671"/>
              <a:gd name="connsiteX2" fmla="*/ 1385047 w 5849470"/>
              <a:gd name="connsiteY2" fmla="*/ 0 h 591671"/>
              <a:gd name="connsiteX3" fmla="*/ 4652682 w 5849470"/>
              <a:gd name="connsiteY3" fmla="*/ 0 h 591671"/>
              <a:gd name="connsiteX4" fmla="*/ 5109882 w 5849470"/>
              <a:gd name="connsiteY4" fmla="*/ 416859 h 591671"/>
              <a:gd name="connsiteX5" fmla="*/ 5849470 w 5849470"/>
              <a:gd name="connsiteY5" fmla="*/ 416859 h 59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9470" h="591671">
                <a:moveTo>
                  <a:pt x="0" y="591671"/>
                </a:moveTo>
                <a:lnTo>
                  <a:pt x="793376" y="591671"/>
                </a:lnTo>
                <a:lnTo>
                  <a:pt x="1385047" y="0"/>
                </a:lnTo>
                <a:lnTo>
                  <a:pt x="4652682" y="0"/>
                </a:lnTo>
                <a:lnTo>
                  <a:pt x="5109882" y="416859"/>
                </a:lnTo>
                <a:lnTo>
                  <a:pt x="5849470" y="416859"/>
                </a:lnTo>
              </a:path>
            </a:pathLst>
          </a:custGeom>
          <a:noFill/>
          <a:ln w="38100">
            <a:solidFill>
              <a:srgbClr val="FF993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任意多边形 40">
            <a:extLst>
              <a:ext uri="{FF2B5EF4-FFF2-40B4-BE49-F238E27FC236}">
                <a16:creationId xmlns="" xmlns:a16="http://schemas.microsoft.com/office/drawing/2014/main" id="{A3B13474-8E73-4C01-8AE4-B6A7C6BF4FAA}"/>
              </a:ext>
            </a:extLst>
          </p:cNvPr>
          <p:cNvSpPr/>
          <p:nvPr/>
        </p:nvSpPr>
        <p:spPr bwMode="gray">
          <a:xfrm flipV="1">
            <a:off x="804907" y="5212264"/>
            <a:ext cx="4174881" cy="384368"/>
          </a:xfrm>
          <a:custGeom>
            <a:avLst/>
            <a:gdLst>
              <a:gd name="connsiteX0" fmla="*/ 0 w 5849470"/>
              <a:gd name="connsiteY0" fmla="*/ 591671 h 591671"/>
              <a:gd name="connsiteX1" fmla="*/ 793376 w 5849470"/>
              <a:gd name="connsiteY1" fmla="*/ 591671 h 591671"/>
              <a:gd name="connsiteX2" fmla="*/ 1385047 w 5849470"/>
              <a:gd name="connsiteY2" fmla="*/ 0 h 591671"/>
              <a:gd name="connsiteX3" fmla="*/ 4652682 w 5849470"/>
              <a:gd name="connsiteY3" fmla="*/ 0 h 591671"/>
              <a:gd name="connsiteX4" fmla="*/ 5109882 w 5849470"/>
              <a:gd name="connsiteY4" fmla="*/ 416859 h 591671"/>
              <a:gd name="connsiteX5" fmla="*/ 5849470 w 5849470"/>
              <a:gd name="connsiteY5" fmla="*/ 416859 h 59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49470" h="591671">
                <a:moveTo>
                  <a:pt x="0" y="591671"/>
                </a:moveTo>
                <a:lnTo>
                  <a:pt x="793376" y="591671"/>
                </a:lnTo>
                <a:lnTo>
                  <a:pt x="1385047" y="0"/>
                </a:lnTo>
                <a:lnTo>
                  <a:pt x="4652682" y="0"/>
                </a:lnTo>
                <a:lnTo>
                  <a:pt x="5109882" y="416859"/>
                </a:lnTo>
                <a:lnTo>
                  <a:pt x="5849470" y="416859"/>
                </a:lnTo>
              </a:path>
            </a:pathLst>
          </a:custGeom>
          <a:noFill/>
          <a:ln w="28575">
            <a:solidFill>
              <a:srgbClr val="FF9933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="" xmlns:a16="http://schemas.microsoft.com/office/drawing/2014/main" id="{70347719-8D41-4FF4-BF87-7336F54EFF8E}"/>
              </a:ext>
            </a:extLst>
          </p:cNvPr>
          <p:cNvSpPr/>
          <p:nvPr/>
        </p:nvSpPr>
        <p:spPr bwMode="auto">
          <a:xfrm>
            <a:off x="4354761" y="4170860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r>
              <a:rPr lang="en-US" altLang="zh-CN" sz="140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：主用路径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="" xmlns:a16="http://schemas.microsoft.com/office/drawing/2014/main" id="{8D16630D-BEE7-4385-837B-1AD4410B5656}"/>
              </a:ext>
            </a:extLst>
          </p:cNvPr>
          <p:cNvSpPr/>
          <p:nvPr/>
        </p:nvSpPr>
        <p:spPr bwMode="auto">
          <a:xfrm>
            <a:off x="4372085" y="5705802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r>
              <a:rPr lang="en-US" altLang="zh-CN" sz="1400" dirty="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：备用路径</a:t>
            </a:r>
          </a:p>
        </p:txBody>
      </p:sp>
      <p:pic>
        <p:nvPicPr>
          <p:cNvPr id="130" name="图片 129">
            <a:extLst>
              <a:ext uri="{FF2B5EF4-FFF2-40B4-BE49-F238E27FC236}">
                <a16:creationId xmlns="" xmlns:a16="http://schemas.microsoft.com/office/drawing/2014/main" id="{CD484EC4-0F79-4148-A455-9FD61779151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582619" y="5654961"/>
            <a:ext cx="385409" cy="321954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="" xmlns:a16="http://schemas.microsoft.com/office/drawing/2014/main" id="{DE54ED15-8015-469E-BFE7-4F1C2EAC8D4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58723" y="5654961"/>
            <a:ext cx="385409" cy="321954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="" xmlns:a16="http://schemas.microsoft.com/office/drawing/2014/main" id="{146546F6-E777-4886-B6D1-232A1BBBF06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34827" y="5654961"/>
            <a:ext cx="385409" cy="321954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="" xmlns:a16="http://schemas.microsoft.com/office/drawing/2014/main" id="{6F28D9FC-43F8-4C63-8518-491519E78CF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23941" y="4918736"/>
            <a:ext cx="385409" cy="321954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="" xmlns:a16="http://schemas.microsoft.com/office/drawing/2014/main" id="{713C98B5-0B8A-457D-BE08-2D92DD10611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582619" y="4182513"/>
            <a:ext cx="385409" cy="321954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="" xmlns:a16="http://schemas.microsoft.com/office/drawing/2014/main" id="{BFE9C819-1643-4EA1-89EA-BA13C97013F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58723" y="4182513"/>
            <a:ext cx="385409" cy="321954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="" xmlns:a16="http://schemas.microsoft.com/office/drawing/2014/main" id="{FE69EB99-5124-4BE6-BC50-3EF53A45EC9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34827" y="4182513"/>
            <a:ext cx="385409" cy="321954"/>
          </a:xfrm>
          <a:prstGeom prst="rect">
            <a:avLst/>
          </a:prstGeom>
        </p:spPr>
      </p:pic>
      <p:sp>
        <p:nvSpPr>
          <p:cNvPr id="137" name="Can 9">
            <a:extLst>
              <a:ext uri="{FF2B5EF4-FFF2-40B4-BE49-F238E27FC236}">
                <a16:creationId xmlns="" xmlns:a16="http://schemas.microsoft.com/office/drawing/2014/main" id="{8E4889F6-1A43-412E-B8BB-E3947C0B101B}"/>
              </a:ext>
            </a:extLst>
          </p:cNvPr>
          <p:cNvSpPr/>
          <p:nvPr/>
        </p:nvSpPr>
        <p:spPr bwMode="gray">
          <a:xfrm rot="5400000">
            <a:off x="2816319" y="3590591"/>
            <a:ext cx="248347" cy="2973959"/>
          </a:xfrm>
          <a:prstGeom prst="can">
            <a:avLst>
              <a:gd name="adj" fmla="val 40000"/>
            </a:avLst>
          </a:prstGeom>
          <a:solidFill>
            <a:srgbClr val="F4FBFE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="" xmlns:a16="http://schemas.microsoft.com/office/drawing/2014/main" id="{65F6411B-25CC-4D5E-AF77-A62904FF938C}"/>
              </a:ext>
            </a:extLst>
          </p:cNvPr>
          <p:cNvSpPr/>
          <p:nvPr/>
        </p:nvSpPr>
        <p:spPr bwMode="gray">
          <a:xfrm>
            <a:off x="2205966" y="4932231"/>
            <a:ext cx="14702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TE Tunel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40" name="图片 139">
            <a:extLst>
              <a:ext uri="{FF2B5EF4-FFF2-40B4-BE49-F238E27FC236}">
                <a16:creationId xmlns="" xmlns:a16="http://schemas.microsoft.com/office/drawing/2014/main" id="{F4AB148A-22E3-499B-A18B-01467DD4338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741939" y="4579060"/>
            <a:ext cx="394908" cy="323825"/>
          </a:xfrm>
          <a:prstGeom prst="rect">
            <a:avLst/>
          </a:prstGeom>
        </p:spPr>
      </p:pic>
      <p:pic>
        <p:nvPicPr>
          <p:cNvPr id="141" name="图片 140">
            <a:extLst>
              <a:ext uri="{FF2B5EF4-FFF2-40B4-BE49-F238E27FC236}">
                <a16:creationId xmlns="" xmlns:a16="http://schemas.microsoft.com/office/drawing/2014/main" id="{85574F71-59BF-4D17-9380-FEE3B8CAE1B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25427" y="4579060"/>
            <a:ext cx="394908" cy="323825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="" xmlns:a16="http://schemas.microsoft.com/office/drawing/2014/main" id="{AAFDD32B-03C4-47E4-949E-6DDEECBCA3B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09083" y="5530871"/>
            <a:ext cx="394908" cy="323825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="" xmlns:a16="http://schemas.microsoft.com/office/drawing/2014/main" id="{DD6E35A2-D92B-4529-B05C-5443D9F21C3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38571" y="4579060"/>
            <a:ext cx="394908" cy="323825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="" xmlns:a16="http://schemas.microsoft.com/office/drawing/2014/main" id="{A8290A5A-6EA6-4485-ABAD-5120265E016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979595" y="4579060"/>
            <a:ext cx="394908" cy="323825"/>
          </a:xfrm>
          <a:prstGeom prst="rect">
            <a:avLst/>
          </a:prstGeom>
        </p:spPr>
      </p:pic>
      <p:cxnSp>
        <p:nvCxnSpPr>
          <p:cNvPr id="145" name="直接连接符 144">
            <a:extLst>
              <a:ext uri="{FF2B5EF4-FFF2-40B4-BE49-F238E27FC236}">
                <a16:creationId xmlns="" xmlns:a16="http://schemas.microsoft.com/office/drawing/2014/main" id="{721D18F7-DD06-450F-BADF-0E931F86719A}"/>
              </a:ext>
            </a:extLst>
          </p:cNvPr>
          <p:cNvCxnSpPr>
            <a:stCxn id="141" idx="1"/>
            <a:endCxn id="143" idx="3"/>
          </p:cNvCxnSpPr>
          <p:nvPr/>
        </p:nvCxnSpPr>
        <p:spPr bwMode="gray">
          <a:xfrm flipH="1">
            <a:off x="7033479" y="4740973"/>
            <a:ext cx="79194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直接连接符 145">
            <a:extLst>
              <a:ext uri="{FF2B5EF4-FFF2-40B4-BE49-F238E27FC236}">
                <a16:creationId xmlns="" xmlns:a16="http://schemas.microsoft.com/office/drawing/2014/main" id="{04EFD641-DB4E-4694-9D87-6EE3BF6533B9}"/>
              </a:ext>
            </a:extLst>
          </p:cNvPr>
          <p:cNvCxnSpPr>
            <a:stCxn id="140" idx="1"/>
            <a:endCxn id="141" idx="3"/>
          </p:cNvCxnSpPr>
          <p:nvPr/>
        </p:nvCxnSpPr>
        <p:spPr bwMode="gray">
          <a:xfrm flipH="1">
            <a:off x="8220335" y="4740973"/>
            <a:ext cx="152160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直接连接符 146">
            <a:extLst>
              <a:ext uri="{FF2B5EF4-FFF2-40B4-BE49-F238E27FC236}">
                <a16:creationId xmlns="" xmlns:a16="http://schemas.microsoft.com/office/drawing/2014/main" id="{CA010811-2402-4E31-B98F-91906A7FF364}"/>
              </a:ext>
            </a:extLst>
          </p:cNvPr>
          <p:cNvCxnSpPr>
            <a:stCxn id="144" idx="1"/>
            <a:endCxn id="140" idx="3"/>
          </p:cNvCxnSpPr>
          <p:nvPr/>
        </p:nvCxnSpPr>
        <p:spPr bwMode="gray">
          <a:xfrm flipH="1">
            <a:off x="10136847" y="4740973"/>
            <a:ext cx="84274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8" name="直接连接符 147">
            <a:extLst>
              <a:ext uri="{FF2B5EF4-FFF2-40B4-BE49-F238E27FC236}">
                <a16:creationId xmlns="" xmlns:a16="http://schemas.microsoft.com/office/drawing/2014/main" id="{04BC7BB3-606B-48FF-9850-F8BFC7E58A02}"/>
              </a:ext>
            </a:extLst>
          </p:cNvPr>
          <p:cNvCxnSpPr>
            <a:stCxn id="142" idx="1"/>
            <a:endCxn id="141" idx="2"/>
          </p:cNvCxnSpPr>
          <p:nvPr/>
        </p:nvCxnSpPr>
        <p:spPr bwMode="gray">
          <a:xfrm flipH="1" flipV="1">
            <a:off x="8022881" y="4902885"/>
            <a:ext cx="786202" cy="78989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9" name="直接连接符 148">
            <a:extLst>
              <a:ext uri="{FF2B5EF4-FFF2-40B4-BE49-F238E27FC236}">
                <a16:creationId xmlns="" xmlns:a16="http://schemas.microsoft.com/office/drawing/2014/main" id="{DF11B3F1-6A96-4DE3-8D28-7C0A69DE6A98}"/>
              </a:ext>
            </a:extLst>
          </p:cNvPr>
          <p:cNvCxnSpPr>
            <a:stCxn id="140" idx="2"/>
            <a:endCxn id="142" idx="3"/>
          </p:cNvCxnSpPr>
          <p:nvPr/>
        </p:nvCxnSpPr>
        <p:spPr bwMode="gray">
          <a:xfrm flipH="1">
            <a:off x="9203991" y="4902885"/>
            <a:ext cx="735402" cy="78989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0" name="直接箭头连接符 149">
            <a:extLst>
              <a:ext uri="{FF2B5EF4-FFF2-40B4-BE49-F238E27FC236}">
                <a16:creationId xmlns="" xmlns:a16="http://schemas.microsoft.com/office/drawing/2014/main" id="{7581CF1F-F05B-4952-89CA-AB1C411EEF5C}"/>
              </a:ext>
            </a:extLst>
          </p:cNvPr>
          <p:cNvCxnSpPr>
            <a:cxnSpLocks/>
          </p:cNvCxnSpPr>
          <p:nvPr/>
        </p:nvCxnSpPr>
        <p:spPr bwMode="gray">
          <a:xfrm flipV="1">
            <a:off x="7037842" y="4442647"/>
            <a:ext cx="3949084" cy="2619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="" xmlns:a16="http://schemas.microsoft.com/office/drawing/2014/main" id="{698197FA-3321-420D-9E27-1FA918D1E5EB}"/>
              </a:ext>
            </a:extLst>
          </p:cNvPr>
          <p:cNvSpPr txBox="1"/>
          <p:nvPr/>
        </p:nvSpPr>
        <p:spPr bwMode="gray">
          <a:xfrm>
            <a:off x="6958363" y="4026492"/>
            <a:ext cx="1920990" cy="304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auto"/>
            <a:r>
              <a:rPr lang="en-US" altLang="zh-CN" sz="140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Primary CR-LSP</a:t>
            </a:r>
            <a:endParaRPr lang="zh-CN" altLang="en-US" sz="14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="" xmlns:a16="http://schemas.microsoft.com/office/drawing/2014/main" id="{D5F33625-6481-4081-8C4F-FE9CE88E5784}"/>
              </a:ext>
            </a:extLst>
          </p:cNvPr>
          <p:cNvCxnSpPr>
            <a:cxnSpLocks/>
          </p:cNvCxnSpPr>
          <p:nvPr/>
        </p:nvCxnSpPr>
        <p:spPr bwMode="gray">
          <a:xfrm flipV="1">
            <a:off x="7098555" y="4902885"/>
            <a:ext cx="526545" cy="2619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="" xmlns:a16="http://schemas.microsoft.com/office/drawing/2014/main" id="{B7888041-CC2E-4B23-8C8F-ACA8687E80A2}"/>
              </a:ext>
            </a:extLst>
          </p:cNvPr>
          <p:cNvCxnSpPr>
            <a:cxnSpLocks/>
          </p:cNvCxnSpPr>
          <p:nvPr/>
        </p:nvCxnSpPr>
        <p:spPr bwMode="gray">
          <a:xfrm>
            <a:off x="7971960" y="5062808"/>
            <a:ext cx="534414" cy="571195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="" xmlns:a16="http://schemas.microsoft.com/office/drawing/2014/main" id="{EF2F2E8D-12FD-4947-AE3A-2D936ACF1F55}"/>
              </a:ext>
            </a:extLst>
          </p:cNvPr>
          <p:cNvCxnSpPr>
            <a:cxnSpLocks/>
          </p:cNvCxnSpPr>
          <p:nvPr/>
        </p:nvCxnSpPr>
        <p:spPr bwMode="gray">
          <a:xfrm flipV="1">
            <a:off x="9503134" y="5090270"/>
            <a:ext cx="474358" cy="541700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="" xmlns:a16="http://schemas.microsoft.com/office/drawing/2014/main" id="{E509ABE0-3701-454E-89B8-AE5E071692C9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71148" y="4895742"/>
            <a:ext cx="526545" cy="2619"/>
          </a:xfrm>
          <a:prstGeom prst="straightConnector1">
            <a:avLst/>
          </a:prstGeom>
          <a:ln w="2540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组合 28">
            <a:extLst>
              <a:ext uri="{FF2B5EF4-FFF2-40B4-BE49-F238E27FC236}">
                <a16:creationId xmlns="" xmlns:a16="http://schemas.microsoft.com/office/drawing/2014/main" id="{86781882-A648-4BEF-8722-E9C0B382CA3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876292" y="4602351"/>
            <a:ext cx="289599" cy="289599"/>
            <a:chOff x="5076056" y="3356992"/>
            <a:chExt cx="436269" cy="436268"/>
          </a:xfrm>
        </p:grpSpPr>
        <p:sp>
          <p:nvSpPr>
            <p:cNvPr id="158" name="椭圆 27">
              <a:extLst>
                <a:ext uri="{FF2B5EF4-FFF2-40B4-BE49-F238E27FC236}">
                  <a16:creationId xmlns="" xmlns:a16="http://schemas.microsoft.com/office/drawing/2014/main" id="{88D4446F-9F7C-4E45-82AA-FAE4E57FBAF3}"/>
                </a:ext>
              </a:extLst>
            </p:cNvPr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9" name="禁止符 23">
              <a:extLst>
                <a:ext uri="{FF2B5EF4-FFF2-40B4-BE49-F238E27FC236}">
                  <a16:creationId xmlns="" xmlns:a16="http://schemas.microsoft.com/office/drawing/2014/main" id="{04EA1F4A-A5E7-4E85-ACAD-D3FC1C4B8CB5}"/>
                </a:ext>
              </a:extLst>
            </p:cNvPr>
            <p:cNvSpPr/>
            <p:nvPr/>
          </p:nvSpPr>
          <p:spPr bwMode="gray">
            <a:xfrm>
              <a:off x="5076057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60" name="圆角矩形标注 42">
            <a:extLst>
              <a:ext uri="{FF2B5EF4-FFF2-40B4-BE49-F238E27FC236}">
                <a16:creationId xmlns="" xmlns:a16="http://schemas.microsoft.com/office/drawing/2014/main" id="{DCDB0ECE-1C28-4ACE-8846-D9F51D9F7E36}"/>
              </a:ext>
            </a:extLst>
          </p:cNvPr>
          <p:cNvSpPr/>
          <p:nvPr/>
        </p:nvSpPr>
        <p:spPr bwMode="gray">
          <a:xfrm>
            <a:off x="6831529" y="5123734"/>
            <a:ext cx="1032173" cy="680161"/>
          </a:xfrm>
          <a:prstGeom prst="wedgeRoundRectCallout">
            <a:avLst>
              <a:gd name="adj1" fmla="val 37359"/>
              <a:gd name="adj2" fmla="val -75219"/>
              <a:gd name="adj3" fmla="val 16667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127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121944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noProof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</a:t>
            </a:r>
            <a:r>
              <a:rPr lang="en-US" altLang="zh-CN" sz="1400" kern="0" noProof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FRR</a:t>
            </a:r>
          </a:p>
          <a:p>
            <a:pPr marL="0" marR="0" lvl="0" indent="0" algn="ctr" defTabSz="121944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触发</a:t>
            </a:r>
            <a:r>
              <a:rPr lang="zh-CN" altLang="en-US" sz="1400" kern="0" noProof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局部保护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="" xmlns:a16="http://schemas.microsoft.com/office/drawing/2014/main" id="{75063557-D60F-4F50-86FE-70E6EA5D61F9}"/>
              </a:ext>
            </a:extLst>
          </p:cNvPr>
          <p:cNvSpPr/>
          <p:nvPr/>
        </p:nvSpPr>
        <p:spPr bwMode="auto">
          <a:xfrm>
            <a:off x="9664847" y="5544925"/>
            <a:ext cx="1481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局部备份</a:t>
            </a:r>
            <a:r>
              <a:rPr lang="en-US" altLang="zh-CN" sz="1400">
                <a:solidFill>
                  <a:srgbClr val="FF9933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CR-LSP</a:t>
            </a:r>
            <a:endParaRPr lang="zh-CN" altLang="en-US" sz="1400">
              <a:solidFill>
                <a:srgbClr val="FF99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81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C1A8356-EED7-4C44-A754-92C41880D7C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TI-LFA FRR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BBEC8B02-2091-4F0D-99D8-5098524F7C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TI-LFA FRR</a:t>
            </a:r>
            <a:r>
              <a:rPr lang="zh-CN" altLang="en-US" sz="1800" dirty="0">
                <a:sym typeface="Huawei Sans" panose="020C0503030203020204" pitchFamily="34" charset="0"/>
              </a:rPr>
              <a:t>能为</a:t>
            </a:r>
            <a:r>
              <a:rPr lang="en-US" altLang="zh-CN" sz="1800" dirty="0">
                <a:sym typeface="Huawei Sans" panose="020C0503030203020204" pitchFamily="34" charset="0"/>
              </a:rPr>
              <a:t>Segment Routing</a:t>
            </a:r>
            <a:r>
              <a:rPr lang="zh-CN" altLang="en-US" sz="1800" dirty="0">
                <a:sym typeface="Huawei Sans" panose="020C0503030203020204" pitchFamily="34" charset="0"/>
              </a:rPr>
              <a:t>隧道提供链路及节点的保护。当某处链路或节点故障时，流量会快速切换到备份路径继续转发。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97CA7C79-4DEE-4A03-AA29-8EBAED4A91B9}"/>
              </a:ext>
            </a:extLst>
          </p:cNvPr>
          <p:cNvSpPr txBox="1"/>
          <p:nvPr/>
        </p:nvSpPr>
        <p:spPr bwMode="gray">
          <a:xfrm>
            <a:off x="2402429" y="2035051"/>
            <a:ext cx="1763624" cy="338554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LFA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算法局限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C6448F96-29CD-4D38-9D6A-464F1936D77D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 bwMode="gray">
          <a:xfrm flipV="1">
            <a:off x="4781931" y="4403373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4F1453B9-8F8B-461E-A3E2-EF0143C6A1D9}"/>
              </a:ext>
            </a:extLst>
          </p:cNvPr>
          <p:cNvCxnSpPr>
            <a:cxnSpLocks/>
          </p:cNvCxnSpPr>
          <p:nvPr/>
        </p:nvCxnSpPr>
        <p:spPr bwMode="gray">
          <a:xfrm flipH="1">
            <a:off x="1666145" y="4217295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63C646C7-0043-4FAC-9DAC-C75CE10ECFDC}"/>
              </a:ext>
            </a:extLst>
          </p:cNvPr>
          <p:cNvCxnSpPr>
            <a:cxnSpLocks/>
          </p:cNvCxnSpPr>
          <p:nvPr/>
        </p:nvCxnSpPr>
        <p:spPr bwMode="gray">
          <a:xfrm flipH="1">
            <a:off x="1666145" y="5684827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7CDDB54B-9289-42C6-BDFB-9FF65FB648BA}"/>
              </a:ext>
            </a:extLst>
          </p:cNvPr>
          <p:cNvCxnSpPr>
            <a:cxnSpLocks/>
          </p:cNvCxnSpPr>
          <p:nvPr/>
        </p:nvCxnSpPr>
        <p:spPr bwMode="gray">
          <a:xfrm flipV="1">
            <a:off x="3208059" y="4217296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72DA8AC5-2ADF-4FBA-8FC5-A149F30EE31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2874" y="4020322"/>
            <a:ext cx="468318" cy="3830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CAA2718A-559D-4651-9B84-393656F2C47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642874" y="5443891"/>
            <a:ext cx="468318" cy="38305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8452E73B-F7B2-41CC-806A-C11A5B3D75F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81288" y="4020322"/>
            <a:ext cx="468318" cy="3830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E6D4FE39-655F-4B7B-A87E-364BC4BA24A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81288" y="5443891"/>
            <a:ext cx="468318" cy="3830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016DAA7A-DC17-4B35-88C8-6B80492C668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47772" y="4020322"/>
            <a:ext cx="468318" cy="38305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686E799A-7157-4A29-A056-A9F397CEAFA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47772" y="5443891"/>
            <a:ext cx="468318" cy="38305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DCE57DDE-44CD-4B26-A1CC-01C021E80F6D}"/>
              </a:ext>
            </a:extLst>
          </p:cNvPr>
          <p:cNvSpPr txBox="1"/>
          <p:nvPr/>
        </p:nvSpPr>
        <p:spPr bwMode="gray">
          <a:xfrm>
            <a:off x="2997194" y="364220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F94B9444-5E3D-41EC-8A5B-CC8E7F910F56}"/>
              </a:ext>
            </a:extLst>
          </p:cNvPr>
          <p:cNvSpPr txBox="1"/>
          <p:nvPr/>
        </p:nvSpPr>
        <p:spPr bwMode="gray">
          <a:xfrm>
            <a:off x="4552462" y="364220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1D4014A0-0E2B-473F-9150-59DC9E860C3F}"/>
              </a:ext>
            </a:extLst>
          </p:cNvPr>
          <p:cNvSpPr txBox="1"/>
          <p:nvPr/>
        </p:nvSpPr>
        <p:spPr bwMode="gray">
          <a:xfrm>
            <a:off x="2997194" y="586651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9D2E4459-2D28-40D4-896A-B1F49C9FFFCA}"/>
              </a:ext>
            </a:extLst>
          </p:cNvPr>
          <p:cNvSpPr txBox="1"/>
          <p:nvPr/>
        </p:nvSpPr>
        <p:spPr bwMode="gray">
          <a:xfrm>
            <a:off x="4552462" y="586651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C8CF6050-EA53-4A22-8864-8BA84D03ACB6}"/>
              </a:ext>
            </a:extLst>
          </p:cNvPr>
          <p:cNvSpPr txBox="1"/>
          <p:nvPr/>
        </p:nvSpPr>
        <p:spPr bwMode="gray">
          <a:xfrm>
            <a:off x="1269337" y="3551612"/>
            <a:ext cx="118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C26DAD33-87A8-40F5-8A9B-821674D72ADF}"/>
              </a:ext>
            </a:extLst>
          </p:cNvPr>
          <p:cNvSpPr txBox="1"/>
          <p:nvPr/>
        </p:nvSpPr>
        <p:spPr bwMode="gray">
          <a:xfrm>
            <a:off x="1196306" y="5061706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75ED7C2F-C41B-4211-98A5-52FA7ED1419A}"/>
              </a:ext>
            </a:extLst>
          </p:cNvPr>
          <p:cNvSpPr txBox="1"/>
          <p:nvPr/>
        </p:nvSpPr>
        <p:spPr bwMode="gray">
          <a:xfrm>
            <a:off x="3544841" y="3890166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441EA7B2-D2C7-4915-837D-3386181E4358}"/>
              </a:ext>
            </a:extLst>
          </p:cNvPr>
          <p:cNvSpPr txBox="1"/>
          <p:nvPr/>
        </p:nvSpPr>
        <p:spPr bwMode="gray">
          <a:xfrm>
            <a:off x="3544841" y="5755594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64C8936B-EA46-483E-B534-D893F1D801C0}"/>
              </a:ext>
            </a:extLst>
          </p:cNvPr>
          <p:cNvSpPr txBox="1"/>
          <p:nvPr/>
        </p:nvSpPr>
        <p:spPr bwMode="gray">
          <a:xfrm>
            <a:off x="2706158" y="486777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86624553-21CC-42C2-AEA1-52F75ABF0028}"/>
              </a:ext>
            </a:extLst>
          </p:cNvPr>
          <p:cNvSpPr txBox="1"/>
          <p:nvPr/>
        </p:nvSpPr>
        <p:spPr bwMode="gray">
          <a:xfrm>
            <a:off x="4250335" y="4748922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=100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="" xmlns:a16="http://schemas.microsoft.com/office/drawing/2014/main" id="{748775F2-DC09-4424-9238-057D665FECD4}"/>
              </a:ext>
            </a:extLst>
          </p:cNvPr>
          <p:cNvSpPr/>
          <p:nvPr/>
        </p:nvSpPr>
        <p:spPr bwMode="gray">
          <a:xfrm>
            <a:off x="1936350" y="4299917"/>
            <a:ext cx="1275310" cy="1231522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214A4B96-6456-45CC-9FE8-51FC985CCC17}"/>
              </a:ext>
            </a:extLst>
          </p:cNvPr>
          <p:cNvGrpSpPr/>
          <p:nvPr/>
        </p:nvGrpSpPr>
        <p:grpSpPr bwMode="gray">
          <a:xfrm>
            <a:off x="3087727" y="4501626"/>
            <a:ext cx="288000" cy="288000"/>
            <a:chOff x="856677" y="2615810"/>
            <a:chExt cx="288000" cy="288000"/>
          </a:xfrm>
        </p:grpSpPr>
        <p:sp>
          <p:nvSpPr>
            <p:cNvPr id="18" name="椭圆 17">
              <a:extLst>
                <a:ext uri="{FF2B5EF4-FFF2-40B4-BE49-F238E27FC236}">
                  <a16:creationId xmlns="" xmlns:a16="http://schemas.microsoft.com/office/drawing/2014/main" id="{94A4A3B3-B6CE-416D-8369-7ABBD659C8E0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="" xmlns:a16="http://schemas.microsoft.com/office/drawing/2014/main" id="{04F3BEE7-E248-40FF-B7A7-95D1D4CB0295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="" xmlns:a16="http://schemas.microsoft.com/office/drawing/2014/main" id="{B0F5E282-C1BC-4776-82C7-4B0E8592F850}"/>
                  </a:ext>
                </a:extLst>
              </p:cNvPr>
              <p:cNvCxnSpPr>
                <a:stCxn id="18" idx="3"/>
                <a:endCxn id="1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="" xmlns:a16="http://schemas.microsoft.com/office/drawing/2014/main" id="{9800E42D-C985-4230-9F5E-5F976CFD1D78}"/>
                  </a:ext>
                </a:extLst>
              </p:cNvPr>
              <p:cNvCxnSpPr>
                <a:stCxn id="18" idx="1"/>
                <a:endCxn id="1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直接连接符 33">
            <a:extLst>
              <a:ext uri="{FF2B5EF4-FFF2-40B4-BE49-F238E27FC236}">
                <a16:creationId xmlns="" xmlns:a16="http://schemas.microsoft.com/office/drawing/2014/main" id="{C0A6AD6A-8741-4508-BA91-AF9DAABA59A4}"/>
              </a:ext>
            </a:extLst>
          </p:cNvPr>
          <p:cNvCxnSpPr/>
          <p:nvPr/>
        </p:nvCxnSpPr>
        <p:spPr bwMode="gray">
          <a:xfrm flipH="1">
            <a:off x="3588337" y="4362429"/>
            <a:ext cx="705494" cy="0"/>
          </a:xfrm>
          <a:prstGeom prst="line">
            <a:avLst/>
          </a:pr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55CAB5FD-C538-4554-A0E8-171AA2FC353A}"/>
              </a:ext>
            </a:extLst>
          </p:cNvPr>
          <p:cNvSpPr txBox="1"/>
          <p:nvPr/>
        </p:nvSpPr>
        <p:spPr bwMode="gray">
          <a:xfrm>
            <a:off x="608268" y="2487285"/>
            <a:ext cx="5364162" cy="95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LFA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算法依赖拓扑存在局限。如图所示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转发到达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。此时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链路故障，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将流量转发给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。但是在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感知到故障前无法形成备份路径。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B93815A0-6A26-44EF-8856-670FB67D2794}"/>
              </a:ext>
            </a:extLst>
          </p:cNvPr>
          <p:cNvSpPr txBox="1"/>
          <p:nvPr/>
        </p:nvSpPr>
        <p:spPr bwMode="gray">
          <a:xfrm>
            <a:off x="8045208" y="2035051"/>
            <a:ext cx="1196161" cy="338554"/>
          </a:xfrm>
          <a:prstGeom prst="rect">
            <a:avLst/>
          </a:prstGeom>
          <a:solidFill>
            <a:srgbClr val="30B5C5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TI-LFA</a:t>
            </a:r>
            <a:r>
              <a:rPr lang="zh-CN" altLang="en-US" dirty="0">
                <a:sym typeface="Huawei Sans" panose="020C0503030203020204" pitchFamily="34" charset="0"/>
              </a:rPr>
              <a:t>算法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13279E3B-9BAE-41CC-ABE7-AF449335F0D1}"/>
              </a:ext>
            </a:extLst>
          </p:cNvPr>
          <p:cNvCxnSpPr>
            <a:cxnSpLocks/>
            <a:stCxn id="46" idx="0"/>
            <a:endCxn id="45" idx="2"/>
          </p:cNvCxnSpPr>
          <p:nvPr/>
        </p:nvCxnSpPr>
        <p:spPr bwMode="gray">
          <a:xfrm flipV="1">
            <a:off x="10282208" y="4512557"/>
            <a:ext cx="0" cy="10405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F3E4D254-E3DF-4BD9-8EAF-578B8645175D}"/>
              </a:ext>
            </a:extLst>
          </p:cNvPr>
          <p:cNvCxnSpPr>
            <a:cxnSpLocks/>
          </p:cNvCxnSpPr>
          <p:nvPr/>
        </p:nvCxnSpPr>
        <p:spPr bwMode="gray">
          <a:xfrm flipH="1">
            <a:off x="7166422" y="4326479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="" xmlns:a16="http://schemas.microsoft.com/office/drawing/2014/main" id="{7E3D8E75-14E9-4B08-9D82-8F428B4674E5}"/>
              </a:ext>
            </a:extLst>
          </p:cNvPr>
          <p:cNvCxnSpPr>
            <a:cxnSpLocks/>
          </p:cNvCxnSpPr>
          <p:nvPr/>
        </p:nvCxnSpPr>
        <p:spPr bwMode="gray">
          <a:xfrm flipH="1">
            <a:off x="7166422" y="5794011"/>
            <a:ext cx="28726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="" xmlns:a16="http://schemas.microsoft.com/office/drawing/2014/main" id="{7A65D2BF-721A-4F97-9481-98618C0E56B5}"/>
              </a:ext>
            </a:extLst>
          </p:cNvPr>
          <p:cNvCxnSpPr>
            <a:cxnSpLocks/>
          </p:cNvCxnSpPr>
          <p:nvPr/>
        </p:nvCxnSpPr>
        <p:spPr bwMode="gray">
          <a:xfrm flipV="1">
            <a:off x="8708336" y="4326480"/>
            <a:ext cx="0" cy="1396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="" xmlns:a16="http://schemas.microsoft.com/office/drawing/2014/main" id="{0B424C81-8D39-48A9-A49E-A107FB82DF9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43151" y="4129506"/>
            <a:ext cx="468318" cy="38305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="" xmlns:a16="http://schemas.microsoft.com/office/drawing/2014/main" id="{9AC7FAD0-D7FF-41F3-8F0F-B011BAC85C8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143151" y="5553075"/>
            <a:ext cx="468318" cy="38305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="" xmlns:a16="http://schemas.microsoft.com/office/drawing/2014/main" id="{AF57B655-69AA-43D4-9E34-24AF3352258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1565" y="4129506"/>
            <a:ext cx="468318" cy="383051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="" xmlns:a16="http://schemas.microsoft.com/office/drawing/2014/main" id="{4531A4BF-C4A0-47A7-8858-C0A59E272AD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1565" y="5553075"/>
            <a:ext cx="468318" cy="383051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="" xmlns:a16="http://schemas.microsoft.com/office/drawing/2014/main" id="{9419FEF3-E127-44AC-8439-EE2231BFF2E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48049" y="4129506"/>
            <a:ext cx="468318" cy="383051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="" xmlns:a16="http://schemas.microsoft.com/office/drawing/2014/main" id="{1B00B8A1-9093-4579-850B-DFABBABD7AA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48049" y="5553075"/>
            <a:ext cx="468318" cy="383051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96F4E65A-F69A-4777-B0FC-7E3C91539460}"/>
              </a:ext>
            </a:extLst>
          </p:cNvPr>
          <p:cNvSpPr txBox="1"/>
          <p:nvPr/>
        </p:nvSpPr>
        <p:spPr bwMode="gray">
          <a:xfrm>
            <a:off x="8497471" y="3751384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FB246E07-3A90-4000-82FF-0B81987C5599}"/>
              </a:ext>
            </a:extLst>
          </p:cNvPr>
          <p:cNvSpPr txBox="1"/>
          <p:nvPr/>
        </p:nvSpPr>
        <p:spPr bwMode="gray">
          <a:xfrm>
            <a:off x="10052739" y="37513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C929E8D8-05D4-42F0-8620-76BD7F36F25B}"/>
              </a:ext>
            </a:extLst>
          </p:cNvPr>
          <p:cNvSpPr txBox="1"/>
          <p:nvPr/>
        </p:nvSpPr>
        <p:spPr bwMode="gray">
          <a:xfrm>
            <a:off x="8497471" y="597569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5F06953D-D387-4C94-9D26-762BEA4AB89E}"/>
              </a:ext>
            </a:extLst>
          </p:cNvPr>
          <p:cNvSpPr txBox="1"/>
          <p:nvPr/>
        </p:nvSpPr>
        <p:spPr bwMode="gray">
          <a:xfrm>
            <a:off x="10052739" y="597569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="" xmlns:a16="http://schemas.microsoft.com/office/drawing/2014/main" id="{82629F19-2295-4270-80B9-77E6FBA0D4F4}"/>
              </a:ext>
            </a:extLst>
          </p:cNvPr>
          <p:cNvSpPr txBox="1"/>
          <p:nvPr/>
        </p:nvSpPr>
        <p:spPr bwMode="gray">
          <a:xfrm>
            <a:off x="6295219" y="3648838"/>
            <a:ext cx="118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SIP: 1.1.1.1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="" xmlns:a16="http://schemas.microsoft.com/office/drawing/2014/main" id="{7EE6ACC3-3F13-4509-8F34-270A195CE4B5}"/>
              </a:ext>
            </a:extLst>
          </p:cNvPr>
          <p:cNvSpPr txBox="1"/>
          <p:nvPr/>
        </p:nvSpPr>
        <p:spPr bwMode="gray">
          <a:xfrm>
            <a:off x="6312131" y="5102812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DIP: 4.4.4.4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="" xmlns:a16="http://schemas.microsoft.com/office/drawing/2014/main" id="{677E20E2-783F-4CD2-BA83-BC8AE6BEF031}"/>
              </a:ext>
            </a:extLst>
          </p:cNvPr>
          <p:cNvSpPr txBox="1"/>
          <p:nvPr/>
        </p:nvSpPr>
        <p:spPr bwMode="gray">
          <a:xfrm>
            <a:off x="9045118" y="3999350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="" xmlns:a16="http://schemas.microsoft.com/office/drawing/2014/main" id="{B93E54F5-E408-4BEA-8919-366CB754451D}"/>
              </a:ext>
            </a:extLst>
          </p:cNvPr>
          <p:cNvSpPr txBox="1"/>
          <p:nvPr/>
        </p:nvSpPr>
        <p:spPr bwMode="gray">
          <a:xfrm>
            <a:off x="9045118" y="5864778"/>
            <a:ext cx="845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="" xmlns:a16="http://schemas.microsoft.com/office/drawing/2014/main" id="{BFD421A9-57DA-449F-88AF-861EC198912B}"/>
              </a:ext>
            </a:extLst>
          </p:cNvPr>
          <p:cNvSpPr txBox="1"/>
          <p:nvPr/>
        </p:nvSpPr>
        <p:spPr bwMode="gray">
          <a:xfrm>
            <a:off x="8206435" y="497696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025AEA89-D16F-406A-856A-7B5EECA81B67}"/>
              </a:ext>
            </a:extLst>
          </p:cNvPr>
          <p:cNvSpPr txBox="1"/>
          <p:nvPr/>
        </p:nvSpPr>
        <p:spPr bwMode="gray">
          <a:xfrm>
            <a:off x="9750612" y="4858106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=100</a:t>
            </a:r>
            <a:endParaRPr lang="zh-CN" altLang="en-US" sz="14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="" xmlns:a16="http://schemas.microsoft.com/office/drawing/2014/main" id="{84551043-85C0-445D-9258-AD08F6F2EFF0}"/>
              </a:ext>
            </a:extLst>
          </p:cNvPr>
          <p:cNvSpPr/>
          <p:nvPr/>
        </p:nvSpPr>
        <p:spPr bwMode="gray">
          <a:xfrm>
            <a:off x="7436627" y="4409101"/>
            <a:ext cx="1275310" cy="1231522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rgbClr val="FCC8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="" xmlns:a16="http://schemas.microsoft.com/office/drawing/2014/main" id="{BF6826EA-E1C1-4A12-B1A7-CC487C6A73BF}"/>
              </a:ext>
            </a:extLst>
          </p:cNvPr>
          <p:cNvGrpSpPr/>
          <p:nvPr/>
        </p:nvGrpSpPr>
        <p:grpSpPr bwMode="gray">
          <a:xfrm>
            <a:off x="8588004" y="4610810"/>
            <a:ext cx="288000" cy="288000"/>
            <a:chOff x="856677" y="2615810"/>
            <a:chExt cx="288000" cy="288000"/>
          </a:xfrm>
        </p:grpSpPr>
        <p:sp>
          <p:nvSpPr>
            <p:cNvPr id="59" name="椭圆 58">
              <a:extLst>
                <a:ext uri="{FF2B5EF4-FFF2-40B4-BE49-F238E27FC236}">
                  <a16:creationId xmlns="" xmlns:a16="http://schemas.microsoft.com/office/drawing/2014/main" id="{A3CB56F4-2165-4A3F-9376-75E7CA56CE9B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="" xmlns:a16="http://schemas.microsoft.com/office/drawing/2014/main" id="{E58B7162-33B7-48FA-94D0-A384839A76EF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="" xmlns:a16="http://schemas.microsoft.com/office/drawing/2014/main" id="{F7DEC6A2-C8EC-4A41-A472-239163EC19C6}"/>
                  </a:ext>
                </a:extLst>
              </p:cNvPr>
              <p:cNvCxnSpPr>
                <a:stCxn id="59" idx="3"/>
                <a:endCxn id="59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="" xmlns:a16="http://schemas.microsoft.com/office/drawing/2014/main" id="{1BAE2369-9D83-447C-B70C-3DC67F5754B7}"/>
                  </a:ext>
                </a:extLst>
              </p:cNvPr>
              <p:cNvCxnSpPr>
                <a:stCxn id="59" idx="1"/>
                <a:endCxn id="59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文本框 63">
            <a:extLst>
              <a:ext uri="{FF2B5EF4-FFF2-40B4-BE49-F238E27FC236}">
                <a16:creationId xmlns="" xmlns:a16="http://schemas.microsoft.com/office/drawing/2014/main" id="{EAA7D5B3-0FFD-4676-9DC4-86E3F8F397C1}"/>
              </a:ext>
            </a:extLst>
          </p:cNvPr>
          <p:cNvSpPr txBox="1"/>
          <p:nvPr/>
        </p:nvSpPr>
        <p:spPr bwMode="gray">
          <a:xfrm>
            <a:off x="6039846" y="2487285"/>
            <a:ext cx="546727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TI-LFA</a:t>
            </a:r>
            <a:r>
              <a:rPr lang="zh-CN" altLang="en-US" dirty="0">
                <a:sym typeface="Huawei Sans" panose="020C0503030203020204" pitchFamily="34" charset="0"/>
              </a:rPr>
              <a:t>借助</a:t>
            </a:r>
            <a:r>
              <a:rPr lang="en-US" altLang="zh-CN" dirty="0">
                <a:sym typeface="Huawei Sans" panose="020C0503030203020204" pitchFamily="34" charset="0"/>
              </a:rPr>
              <a:t>SR</a:t>
            </a:r>
            <a:r>
              <a:rPr lang="zh-CN" altLang="en-US" dirty="0">
                <a:sym typeface="Huawei Sans" panose="020C0503030203020204" pitchFamily="34" charset="0"/>
              </a:rPr>
              <a:t>源路由规划能力，在每个节点都会计算备份路径保护故障点。当节点检测到故障时，快速切换到备份路径。</a:t>
            </a:r>
          </a:p>
        </p:txBody>
      </p:sp>
      <p:sp>
        <p:nvSpPr>
          <p:cNvPr id="74" name="任意多边形: 形状 73">
            <a:extLst>
              <a:ext uri="{FF2B5EF4-FFF2-40B4-BE49-F238E27FC236}">
                <a16:creationId xmlns="" xmlns:a16="http://schemas.microsoft.com/office/drawing/2014/main" id="{E9F09AF9-D5F9-431E-AA8E-3C87A6126229}"/>
              </a:ext>
            </a:extLst>
          </p:cNvPr>
          <p:cNvSpPr/>
          <p:nvPr/>
        </p:nvSpPr>
        <p:spPr bwMode="gray">
          <a:xfrm>
            <a:off x="7655678" y="4310608"/>
            <a:ext cx="3051785" cy="1456107"/>
          </a:xfrm>
          <a:custGeom>
            <a:avLst/>
            <a:gdLst>
              <a:gd name="connsiteX0" fmla="*/ 0 w 1275310"/>
              <a:gd name="connsiteY0" fmla="*/ 30651 h 1231522"/>
              <a:gd name="connsiteX1" fmla="*/ 996286 w 1275310"/>
              <a:gd name="connsiteY1" fmla="*/ 17003 h 1231522"/>
              <a:gd name="connsiteX2" fmla="*/ 1173707 w 1275310"/>
              <a:gd name="connsiteY2" fmla="*/ 235367 h 1231522"/>
              <a:gd name="connsiteX3" fmla="*/ 1201003 w 1275310"/>
              <a:gd name="connsiteY3" fmla="*/ 1108824 h 1231522"/>
              <a:gd name="connsiteX4" fmla="*/ 177420 w 1275310"/>
              <a:gd name="connsiteY4" fmla="*/ 1204358 h 123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5310" h="1231522">
                <a:moveTo>
                  <a:pt x="0" y="30651"/>
                </a:moveTo>
                <a:cubicBezTo>
                  <a:pt x="400334" y="6767"/>
                  <a:pt x="800668" y="-17116"/>
                  <a:pt x="996286" y="17003"/>
                </a:cubicBezTo>
                <a:cubicBezTo>
                  <a:pt x="1191904" y="51122"/>
                  <a:pt x="1139588" y="53397"/>
                  <a:pt x="1173707" y="235367"/>
                </a:cubicBezTo>
                <a:cubicBezTo>
                  <a:pt x="1207827" y="417337"/>
                  <a:pt x="1367051" y="947326"/>
                  <a:pt x="1201003" y="1108824"/>
                </a:cubicBezTo>
                <a:cubicBezTo>
                  <a:pt x="1034955" y="1270322"/>
                  <a:pt x="606187" y="1237340"/>
                  <a:pt x="177420" y="1204358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="" xmlns:a16="http://schemas.microsoft.com/office/drawing/2014/main" id="{8F4C81F7-E6C1-429C-A0E2-B0A6109F8DFA}"/>
              </a:ext>
            </a:extLst>
          </p:cNvPr>
          <p:cNvSpPr txBox="1"/>
          <p:nvPr/>
        </p:nvSpPr>
        <p:spPr bwMode="gray">
          <a:xfrm>
            <a:off x="7468114" y="3157619"/>
            <a:ext cx="4039007" cy="523220"/>
          </a:xfrm>
          <a:prstGeom prst="rect">
            <a:avLst/>
          </a:prstGeom>
          <a:solidFill>
            <a:srgbClr val="56C4D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 Seg-List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R1,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R1-R3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备路径：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4.4.4.4  Seg-List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R1, R2, R4, 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="" xmlns:a16="http://schemas.microsoft.com/office/drawing/2014/main" id="{591D385B-1504-486E-BADC-3C4A4FEF6AFC}"/>
              </a:ext>
            </a:extLst>
          </p:cNvPr>
          <p:cNvCxnSpPr>
            <a:cxnSpLocks/>
          </p:cNvCxnSpPr>
          <p:nvPr/>
        </p:nvCxnSpPr>
        <p:spPr bwMode="gray">
          <a:xfrm>
            <a:off x="3570819" y="3859389"/>
            <a:ext cx="747726" cy="0"/>
          </a:xfrm>
          <a:prstGeom prst="line">
            <a:avLst/>
          </a:pr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1094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E66D761-6BCC-4A19-AC66-E448AD72E27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端到端保护的局限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A3F2A1A-BD63-4438-AF4A-3EC4B5C67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>
                <a:sym typeface="Huawei Sans" panose="020C0503030203020204" pitchFamily="34" charset="0"/>
              </a:rPr>
              <a:t>以</a:t>
            </a:r>
            <a:r>
              <a:rPr lang="en-US" altLang="zh-CN" sz="1800">
                <a:sym typeface="Huawei Sans" panose="020C0503030203020204" pitchFamily="34" charset="0"/>
              </a:rPr>
              <a:t>Hot-Standby</a:t>
            </a:r>
            <a:r>
              <a:rPr lang="zh-CN" altLang="en-US" sz="1800">
                <a:sym typeface="Huawei Sans" panose="020C0503030203020204" pitchFamily="34" charset="0"/>
              </a:rPr>
              <a:t>为例的技术能够保护端到端路径，但是不能解决隧道端点</a:t>
            </a:r>
            <a:r>
              <a:rPr lang="en-US" altLang="zh-CN" sz="1800">
                <a:sym typeface="Huawei Sans" panose="020C0503030203020204" pitchFamily="34" charset="0"/>
              </a:rPr>
              <a:t>PE</a:t>
            </a:r>
            <a:r>
              <a:rPr lang="zh-CN" altLang="en-US" sz="1800">
                <a:sym typeface="Huawei Sans" panose="020C0503030203020204" pitchFamily="34" charset="0"/>
              </a:rPr>
              <a:t>的故障。</a:t>
            </a:r>
            <a:endParaRPr lang="en-US" altLang="zh-CN" sz="1800">
              <a:sym typeface="Huawei Sans" panose="020C0503030203020204" pitchFamily="34" charset="0"/>
            </a:endParaRPr>
          </a:p>
          <a:p>
            <a:r>
              <a:rPr lang="zh-CN" altLang="en-US" sz="1800">
                <a:sym typeface="Huawei Sans" panose="020C0503030203020204" pitchFamily="34" charset="0"/>
              </a:rPr>
              <a:t>例如本例中</a:t>
            </a:r>
            <a:r>
              <a:rPr lang="en-US" altLang="zh-CN" sz="1800">
                <a:sym typeface="Huawei Sans" panose="020C0503030203020204" pitchFamily="34" charset="0"/>
              </a:rPr>
              <a:t>PE1</a:t>
            </a:r>
            <a:r>
              <a:rPr lang="zh-CN" altLang="en-US" sz="1800">
                <a:sym typeface="Huawei Sans" panose="020C0503030203020204" pitchFamily="34" charset="0"/>
              </a:rPr>
              <a:t>和</a:t>
            </a:r>
            <a:r>
              <a:rPr lang="en-US" altLang="zh-CN" sz="1800">
                <a:sym typeface="Huawei Sans" panose="020C0503030203020204" pitchFamily="34" charset="0"/>
              </a:rPr>
              <a:t>PE2</a:t>
            </a:r>
            <a:r>
              <a:rPr lang="zh-CN" altLang="en-US" sz="1800">
                <a:sym typeface="Huawei Sans" panose="020C0503030203020204" pitchFamily="34" charset="0"/>
              </a:rPr>
              <a:t>建立</a:t>
            </a:r>
            <a:r>
              <a:rPr lang="en-US" altLang="zh-CN" sz="1800">
                <a:sym typeface="Huawei Sans" panose="020C0503030203020204" pitchFamily="34" charset="0"/>
              </a:rPr>
              <a:t>TE</a:t>
            </a:r>
            <a:r>
              <a:rPr lang="zh-CN" altLang="en-US" sz="1800">
                <a:sym typeface="Huawei Sans" panose="020C0503030203020204" pitchFamily="34" charset="0"/>
              </a:rPr>
              <a:t>隧道，且拥有主备路径。如果</a:t>
            </a:r>
            <a:r>
              <a:rPr lang="en-US" altLang="zh-CN" sz="1800">
                <a:sym typeface="Huawei Sans" panose="020C0503030203020204" pitchFamily="34" charset="0"/>
              </a:rPr>
              <a:t>PE2</a:t>
            </a:r>
            <a:r>
              <a:rPr lang="zh-CN" altLang="en-US" sz="1800">
                <a:sym typeface="Huawei Sans" panose="020C0503030203020204" pitchFamily="34" charset="0"/>
              </a:rPr>
              <a:t>发生故障，备份路径无法解决此问题。</a:t>
            </a:r>
          </a:p>
          <a:p>
            <a:endParaRPr lang="zh-CN" altLang="en-US" sz="1800">
              <a:sym typeface="Huawei Sans" panose="020C0503030203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EF920F4A-7F06-4B96-AD0D-05C7FA9D24B3}"/>
              </a:ext>
            </a:extLst>
          </p:cNvPr>
          <p:cNvCxnSpPr>
            <a:cxnSpLocks/>
            <a:stCxn id="14" idx="3"/>
          </p:cNvCxnSpPr>
          <p:nvPr/>
        </p:nvCxnSpPr>
        <p:spPr bwMode="gray">
          <a:xfrm>
            <a:off x="8524938" y="3783323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8C1F6891-C902-4780-BF73-AAAAFBFC013F}"/>
              </a:ext>
            </a:extLst>
          </p:cNvPr>
          <p:cNvCxnSpPr>
            <a:cxnSpLocks/>
            <a:stCxn id="15" idx="3"/>
          </p:cNvCxnSpPr>
          <p:nvPr/>
        </p:nvCxnSpPr>
        <p:spPr bwMode="gray">
          <a:xfrm flipV="1">
            <a:off x="8524938" y="4520864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B566FA83-C63A-438E-B1F6-9B6C605862E4}"/>
              </a:ext>
            </a:extLst>
          </p:cNvPr>
          <p:cNvCxnSpPr>
            <a:cxnSpLocks/>
            <a:stCxn id="10" idx="1"/>
            <a:endCxn id="14" idx="1"/>
          </p:cNvCxnSpPr>
          <p:nvPr/>
        </p:nvCxnSpPr>
        <p:spPr bwMode="gray">
          <a:xfrm>
            <a:off x="4095844" y="3783323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E5663B21-3818-4679-80A3-E37310D1DFFE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 bwMode="gray">
          <a:xfrm>
            <a:off x="4095844" y="5258405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5FD685FB-713D-449D-9365-6EF6018AD8DE}"/>
              </a:ext>
            </a:extLst>
          </p:cNvPr>
          <p:cNvCxnSpPr>
            <a:cxnSpLocks/>
            <a:endCxn id="11" idx="1"/>
          </p:cNvCxnSpPr>
          <p:nvPr/>
        </p:nvCxnSpPr>
        <p:spPr bwMode="gray">
          <a:xfrm>
            <a:off x="2753318" y="4520864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E3335F56-1AE6-4473-ABD4-A5AB3278F6A5}"/>
              </a:ext>
            </a:extLst>
          </p:cNvPr>
          <p:cNvCxnSpPr>
            <a:cxnSpLocks/>
            <a:endCxn id="10" idx="1"/>
          </p:cNvCxnSpPr>
          <p:nvPr/>
        </p:nvCxnSpPr>
        <p:spPr bwMode="gray">
          <a:xfrm flipV="1">
            <a:off x="2753318" y="3783323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59D5D5FA-48C1-48E0-B1A3-F0787FFE2AF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561923"/>
            <a:ext cx="540000" cy="442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1BB085CB-066B-44C5-A597-B6B8A8BC998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037005"/>
            <a:ext cx="540000" cy="442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64B26423-EAE1-449C-A0EC-1C672FD7893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561923"/>
            <a:ext cx="540000" cy="442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FADD67C1-A4A8-4501-92F0-6C422BBED784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037005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8C3110A4-D8F8-42D4-8FBD-1A8ADC10970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561923"/>
            <a:ext cx="540000" cy="442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6099AFAC-8744-4157-83A2-0570A45B157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037005"/>
            <a:ext cx="540000" cy="44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FA69395B-3B4A-4E9D-963F-DE41DFCDDB0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299464"/>
            <a:ext cx="540000" cy="442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4C62E723-95AB-46CC-B9C1-A3298C0AD2B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199" y="4299464"/>
            <a:ext cx="540000" cy="442800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1F446DC8-C030-45BD-852D-6CBA4A28FE1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gray">
          <a:xfrm>
            <a:off x="4365844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E0B45F0B-7BDA-45BA-B6F2-6CFAA42B2109}"/>
              </a:ext>
            </a:extLst>
          </p:cNvPr>
          <p:cNvCxnSpPr>
            <a:cxnSpLocks/>
          </p:cNvCxnSpPr>
          <p:nvPr/>
        </p:nvCxnSpPr>
        <p:spPr bwMode="gray">
          <a:xfrm>
            <a:off x="6310391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98AC636B-A6A0-4EF6-BD5D-87F3E24D66A6}"/>
              </a:ext>
            </a:extLst>
          </p:cNvPr>
          <p:cNvCxnSpPr>
            <a:cxnSpLocks/>
          </p:cNvCxnSpPr>
          <p:nvPr/>
        </p:nvCxnSpPr>
        <p:spPr bwMode="gray">
          <a:xfrm>
            <a:off x="8254938" y="4004723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F7115507-4C76-4402-BD68-DDED104EF972}"/>
              </a:ext>
            </a:extLst>
          </p:cNvPr>
          <p:cNvSpPr txBox="1"/>
          <p:nvPr/>
        </p:nvSpPr>
        <p:spPr bwMode="gray">
          <a:xfrm>
            <a:off x="2518032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A4589395-83C7-4DBD-AB74-116F47AFD970}"/>
              </a:ext>
            </a:extLst>
          </p:cNvPr>
          <p:cNvSpPr txBox="1"/>
          <p:nvPr/>
        </p:nvSpPr>
        <p:spPr bwMode="gray">
          <a:xfrm>
            <a:off x="4424470" y="400902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533A3239-DFEA-4C44-AD6A-CCD31274983D}"/>
              </a:ext>
            </a:extLst>
          </p:cNvPr>
          <p:cNvSpPr txBox="1"/>
          <p:nvPr/>
        </p:nvSpPr>
        <p:spPr bwMode="gray">
          <a:xfrm>
            <a:off x="4150679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1654462D-4B61-418A-9207-6058789266F4}"/>
              </a:ext>
            </a:extLst>
          </p:cNvPr>
          <p:cNvSpPr txBox="1"/>
          <p:nvPr/>
        </p:nvSpPr>
        <p:spPr bwMode="gray">
          <a:xfrm>
            <a:off x="6080485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AE44C32A-C16F-42D7-9026-6057159C14A1}"/>
              </a:ext>
            </a:extLst>
          </p:cNvPr>
          <p:cNvSpPr txBox="1"/>
          <p:nvPr/>
        </p:nvSpPr>
        <p:spPr bwMode="gray">
          <a:xfrm>
            <a:off x="6355250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71A14434-CC13-45BE-9603-D350C0AF4E9A}"/>
              </a:ext>
            </a:extLst>
          </p:cNvPr>
          <p:cNvSpPr txBox="1"/>
          <p:nvPr/>
        </p:nvSpPr>
        <p:spPr bwMode="gray">
          <a:xfrm>
            <a:off x="8230138" y="39875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="" xmlns:a16="http://schemas.microsoft.com/office/drawing/2014/main" id="{699B83DC-D571-4403-865D-74D8B7B5C153}"/>
              </a:ext>
            </a:extLst>
          </p:cNvPr>
          <p:cNvSpPr/>
          <p:nvPr/>
        </p:nvSpPr>
        <p:spPr bwMode="gray">
          <a:xfrm>
            <a:off x="2861139" y="3537131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D025F4DB-2537-4852-B596-6013973FFA2C}"/>
              </a:ext>
            </a:extLst>
          </p:cNvPr>
          <p:cNvSpPr txBox="1"/>
          <p:nvPr/>
        </p:nvSpPr>
        <p:spPr bwMode="gray">
          <a:xfrm>
            <a:off x="8080156" y="548638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="" xmlns:a16="http://schemas.microsoft.com/office/drawing/2014/main" id="{B8B568AE-21F9-4FB7-BE83-446FDADE555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299464"/>
            <a:ext cx="540000" cy="442800"/>
          </a:xfrm>
          <a:prstGeom prst="rect">
            <a:avLst/>
          </a:prstGeom>
        </p:spPr>
      </p:pic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D1E99988-27EE-498D-A1C9-660CD056D656}"/>
              </a:ext>
            </a:extLst>
          </p:cNvPr>
          <p:cNvCxnSpPr>
            <a:cxnSpLocks/>
            <a:stCxn id="36" idx="3"/>
            <a:endCxn id="16" idx="1"/>
          </p:cNvCxnSpPr>
          <p:nvPr/>
        </p:nvCxnSpPr>
        <p:spPr bwMode="gray">
          <a:xfrm>
            <a:off x="1690820" y="4520864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606855A1-8BFA-4004-9712-418638863224}"/>
              </a:ext>
            </a:extLst>
          </p:cNvPr>
          <p:cNvSpPr txBox="1"/>
          <p:nvPr/>
        </p:nvSpPr>
        <p:spPr bwMode="gray">
          <a:xfrm>
            <a:off x="1176050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8A13712A-A47E-4D4A-B7F1-5A6F6D61DAE0}"/>
              </a:ext>
            </a:extLst>
          </p:cNvPr>
          <p:cNvSpPr txBox="1"/>
          <p:nvPr/>
        </p:nvSpPr>
        <p:spPr bwMode="gray">
          <a:xfrm>
            <a:off x="9641856" y="474226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="" xmlns:a16="http://schemas.microsoft.com/office/drawing/2014/main" id="{458E2F14-2908-4BF9-A4F7-F84645727EE2}"/>
              </a:ext>
            </a:extLst>
          </p:cNvPr>
          <p:cNvSpPr txBox="1"/>
          <p:nvPr/>
        </p:nvSpPr>
        <p:spPr bwMode="gray">
          <a:xfrm>
            <a:off x="4921699" y="3091094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="" xmlns:a16="http://schemas.microsoft.com/office/drawing/2014/main" id="{B6A22CE0-DC50-4458-9AAA-732BECEC56DE}"/>
              </a:ext>
            </a:extLst>
          </p:cNvPr>
          <p:cNvGrpSpPr/>
          <p:nvPr/>
        </p:nvGrpSpPr>
        <p:grpSpPr bwMode="gray">
          <a:xfrm>
            <a:off x="8142296" y="3714369"/>
            <a:ext cx="288000" cy="288000"/>
            <a:chOff x="856677" y="2615810"/>
            <a:chExt cx="288000" cy="288000"/>
          </a:xfrm>
        </p:grpSpPr>
        <p:sp>
          <p:nvSpPr>
            <p:cNvPr id="47" name="椭圆 46">
              <a:extLst>
                <a:ext uri="{FF2B5EF4-FFF2-40B4-BE49-F238E27FC236}">
                  <a16:creationId xmlns="" xmlns:a16="http://schemas.microsoft.com/office/drawing/2014/main" id="{940CD2ED-A9A1-4D59-B482-69D764793694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="" xmlns:a16="http://schemas.microsoft.com/office/drawing/2014/main" id="{A9EA8FFD-B11E-445F-BCBA-1548800122D6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="" xmlns:a16="http://schemas.microsoft.com/office/drawing/2014/main" id="{B64D3D03-27AD-44C6-B949-BDB9BACE1238}"/>
                  </a:ext>
                </a:extLst>
              </p:cNvPr>
              <p:cNvCxnSpPr>
                <a:stCxn id="47" idx="3"/>
                <a:endCxn id="47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="" xmlns:a16="http://schemas.microsoft.com/office/drawing/2014/main" id="{5C0480EB-65D8-4F09-9EDD-8E648DA5E7F8}"/>
                  </a:ext>
                </a:extLst>
              </p:cNvPr>
              <p:cNvCxnSpPr>
                <a:stCxn id="47" idx="1"/>
                <a:endCxn id="47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文本框 50">
            <a:extLst>
              <a:ext uri="{FF2B5EF4-FFF2-40B4-BE49-F238E27FC236}">
                <a16:creationId xmlns="" xmlns:a16="http://schemas.microsoft.com/office/drawing/2014/main" id="{6B7A38AD-DABD-431E-8107-E9D929B00C25}"/>
              </a:ext>
            </a:extLst>
          </p:cNvPr>
          <p:cNvSpPr txBox="1"/>
          <p:nvPr/>
        </p:nvSpPr>
        <p:spPr bwMode="gray">
          <a:xfrm>
            <a:off x="4860042" y="5501776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备份路径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="" xmlns:a16="http://schemas.microsoft.com/office/drawing/2014/main" id="{AB3CDC6C-6D1F-4851-B75C-5288B9AB09CB}"/>
              </a:ext>
            </a:extLst>
          </p:cNvPr>
          <p:cNvSpPr/>
          <p:nvPr/>
        </p:nvSpPr>
        <p:spPr bwMode="gray">
          <a:xfrm>
            <a:off x="2955992" y="4045314"/>
            <a:ext cx="5306278" cy="1124219"/>
          </a:xfrm>
          <a:custGeom>
            <a:avLst/>
            <a:gdLst>
              <a:gd name="connsiteX0" fmla="*/ 0 w 5462650"/>
              <a:gd name="connsiteY0" fmla="*/ 736270 h 1343247"/>
              <a:gd name="connsiteX1" fmla="*/ 1448790 w 5462650"/>
              <a:gd name="connsiteY1" fmla="*/ 1199408 h 1343247"/>
              <a:gd name="connsiteX2" fmla="*/ 3491346 w 5462650"/>
              <a:gd name="connsiteY2" fmla="*/ 1270660 h 1343247"/>
              <a:gd name="connsiteX3" fmla="*/ 4001985 w 5462650"/>
              <a:gd name="connsiteY3" fmla="*/ 237507 h 1343247"/>
              <a:gd name="connsiteX4" fmla="*/ 5462650 w 5462650"/>
              <a:gd name="connsiteY4" fmla="*/ 0 h 1343247"/>
              <a:gd name="connsiteX0" fmla="*/ 0 w 5462650"/>
              <a:gd name="connsiteY0" fmla="*/ 736270 h 1306159"/>
              <a:gd name="connsiteX1" fmla="*/ 1448790 w 5462650"/>
              <a:gd name="connsiteY1" fmla="*/ 1199408 h 1306159"/>
              <a:gd name="connsiteX2" fmla="*/ 3530141 w 5462650"/>
              <a:gd name="connsiteY2" fmla="*/ 1221233 h 1306159"/>
              <a:gd name="connsiteX3" fmla="*/ 4001985 w 5462650"/>
              <a:gd name="connsiteY3" fmla="*/ 237507 h 1306159"/>
              <a:gd name="connsiteX4" fmla="*/ 5462650 w 5462650"/>
              <a:gd name="connsiteY4" fmla="*/ 0 h 1306159"/>
              <a:gd name="connsiteX0" fmla="*/ 0 w 5462650"/>
              <a:gd name="connsiteY0" fmla="*/ 736270 h 1248489"/>
              <a:gd name="connsiteX1" fmla="*/ 1448790 w 5462650"/>
              <a:gd name="connsiteY1" fmla="*/ 1199408 h 1248489"/>
              <a:gd name="connsiteX2" fmla="*/ 3530141 w 5462650"/>
              <a:gd name="connsiteY2" fmla="*/ 1221233 h 1248489"/>
              <a:gd name="connsiteX3" fmla="*/ 5152907 w 5462650"/>
              <a:gd name="connsiteY3" fmla="*/ 1077766 h 1248489"/>
              <a:gd name="connsiteX4" fmla="*/ 5462650 w 5462650"/>
              <a:gd name="connsiteY4" fmla="*/ 0 h 1248489"/>
              <a:gd name="connsiteX0" fmla="*/ 0 w 5462650"/>
              <a:gd name="connsiteY0" fmla="*/ 736270 h 1247786"/>
              <a:gd name="connsiteX1" fmla="*/ 1448790 w 5462650"/>
              <a:gd name="connsiteY1" fmla="*/ 1199408 h 1247786"/>
              <a:gd name="connsiteX2" fmla="*/ 3530141 w 5462650"/>
              <a:gd name="connsiteY2" fmla="*/ 1221233 h 1247786"/>
              <a:gd name="connsiteX3" fmla="*/ 5230496 w 5462650"/>
              <a:gd name="connsiteY3" fmla="*/ 1090123 h 1247786"/>
              <a:gd name="connsiteX4" fmla="*/ 5462650 w 5462650"/>
              <a:gd name="connsiteY4" fmla="*/ 0 h 1247786"/>
              <a:gd name="connsiteX0" fmla="*/ 0 w 5553172"/>
              <a:gd name="connsiteY0" fmla="*/ 612703 h 1124219"/>
              <a:gd name="connsiteX1" fmla="*/ 1448790 w 5553172"/>
              <a:gd name="connsiteY1" fmla="*/ 1075841 h 1124219"/>
              <a:gd name="connsiteX2" fmla="*/ 3530141 w 5553172"/>
              <a:gd name="connsiteY2" fmla="*/ 1097666 h 1124219"/>
              <a:gd name="connsiteX3" fmla="*/ 5230496 w 5553172"/>
              <a:gd name="connsiteY3" fmla="*/ 966556 h 1124219"/>
              <a:gd name="connsiteX4" fmla="*/ 5553172 w 5553172"/>
              <a:gd name="connsiteY4" fmla="*/ 0 h 1124219"/>
              <a:gd name="connsiteX0" fmla="*/ 0 w 5553172"/>
              <a:gd name="connsiteY0" fmla="*/ 612703 h 1124219"/>
              <a:gd name="connsiteX1" fmla="*/ 1448790 w 5553172"/>
              <a:gd name="connsiteY1" fmla="*/ 1075841 h 1124219"/>
              <a:gd name="connsiteX2" fmla="*/ 3530141 w 5553172"/>
              <a:gd name="connsiteY2" fmla="*/ 1097666 h 1124219"/>
              <a:gd name="connsiteX3" fmla="*/ 5230496 w 5553172"/>
              <a:gd name="connsiteY3" fmla="*/ 966556 h 1124219"/>
              <a:gd name="connsiteX4" fmla="*/ 5553172 w 5553172"/>
              <a:gd name="connsiteY4" fmla="*/ 0 h 112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3172" h="1124219">
                <a:moveTo>
                  <a:pt x="0" y="612703"/>
                </a:moveTo>
                <a:cubicBezTo>
                  <a:pt x="433449" y="799739"/>
                  <a:pt x="860433" y="995014"/>
                  <a:pt x="1448790" y="1075841"/>
                </a:cubicBezTo>
                <a:cubicBezTo>
                  <a:pt x="2037147" y="1156668"/>
                  <a:pt x="2899857" y="1115880"/>
                  <a:pt x="3530141" y="1097666"/>
                </a:cubicBezTo>
                <a:cubicBezTo>
                  <a:pt x="4160425" y="1079452"/>
                  <a:pt x="4901945" y="1178333"/>
                  <a:pt x="5230496" y="966556"/>
                </a:cubicBezTo>
                <a:cubicBezTo>
                  <a:pt x="5559047" y="754779"/>
                  <a:pt x="5491451" y="581276"/>
                  <a:pt x="555317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="" xmlns:a16="http://schemas.microsoft.com/office/drawing/2014/main" id="{6D6D48C1-1A33-4805-984C-FF92C60C4F44}"/>
              </a:ext>
            </a:extLst>
          </p:cNvPr>
          <p:cNvGrpSpPr/>
          <p:nvPr/>
        </p:nvGrpSpPr>
        <p:grpSpPr bwMode="gray">
          <a:xfrm>
            <a:off x="3287746" y="4272984"/>
            <a:ext cx="4788268" cy="307777"/>
            <a:chOff x="3276654" y="4326410"/>
            <a:chExt cx="4788268" cy="307777"/>
          </a:xfrm>
        </p:grpSpPr>
        <p:sp>
          <p:nvSpPr>
            <p:cNvPr id="53" name="Can 9">
              <a:extLst>
                <a:ext uri="{FF2B5EF4-FFF2-40B4-BE49-F238E27FC236}">
                  <a16:creationId xmlns="" xmlns:a16="http://schemas.microsoft.com/office/drawing/2014/main" id="{61231283-F3E3-4CAF-B91D-2833CB85ACA0}"/>
                </a:ext>
              </a:extLst>
            </p:cNvPr>
            <p:cNvSpPr/>
            <p:nvPr/>
          </p:nvSpPr>
          <p:spPr bwMode="gray">
            <a:xfrm rot="5400000">
              <a:off x="5545331" y="2078900"/>
              <a:ext cx="250914" cy="4788268"/>
            </a:xfrm>
            <a:prstGeom prst="can">
              <a:avLst>
                <a:gd name="adj" fmla="val 40000"/>
              </a:avLst>
            </a:prstGeom>
            <a:solidFill>
              <a:srgbClr val="F4FBFE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="" xmlns:a16="http://schemas.microsoft.com/office/drawing/2014/main" id="{26DC773D-0950-4ED5-8888-24E4D21638D9}"/>
                </a:ext>
              </a:extLst>
            </p:cNvPr>
            <p:cNvSpPr/>
            <p:nvPr/>
          </p:nvSpPr>
          <p:spPr bwMode="gray">
            <a:xfrm>
              <a:off x="4765196" y="4326410"/>
              <a:ext cx="236723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TE Tunel</a:t>
              </a:r>
              <a:endPara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47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8A28554-B594-40CA-B173-9E4BFD6B784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VPN FRR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9F4F9B-44D0-4681-B1BF-CCA2B2187F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VPN FRR</a:t>
            </a:r>
            <a:r>
              <a:rPr lang="zh-CN" altLang="en-US" sz="1800" dirty="0">
                <a:sym typeface="Huawei Sans" panose="020C0503030203020204" pitchFamily="34" charset="0"/>
              </a:rPr>
              <a:t>利用基于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的私网路由快速切换技术，通过预先在远端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中设置指向主用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和备用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的主备用转发路径，并结合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故障快速探测，旨在解决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双归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时，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节点故障导致的端到端业务收敛时间长的问题。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A168B75F-2C09-46F0-A331-BF5B5B40AA52}"/>
              </a:ext>
            </a:extLst>
          </p:cNvPr>
          <p:cNvCxnSpPr>
            <a:cxnSpLocks/>
            <a:stCxn id="14" idx="3"/>
          </p:cNvCxnSpPr>
          <p:nvPr/>
        </p:nvCxnSpPr>
        <p:spPr bwMode="gray">
          <a:xfrm>
            <a:off x="8524938" y="3866448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317EC2B5-18A1-4862-A5FE-1DC665DBEC7B}"/>
              </a:ext>
            </a:extLst>
          </p:cNvPr>
          <p:cNvCxnSpPr>
            <a:cxnSpLocks/>
            <a:stCxn id="15" idx="3"/>
          </p:cNvCxnSpPr>
          <p:nvPr/>
        </p:nvCxnSpPr>
        <p:spPr bwMode="gray">
          <a:xfrm flipV="1">
            <a:off x="8524938" y="4603989"/>
            <a:ext cx="140454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954A6281-81F1-49EF-B426-DCEC79426344}"/>
              </a:ext>
            </a:extLst>
          </p:cNvPr>
          <p:cNvCxnSpPr>
            <a:cxnSpLocks/>
            <a:stCxn id="10" idx="1"/>
            <a:endCxn id="14" idx="1"/>
          </p:cNvCxnSpPr>
          <p:nvPr/>
        </p:nvCxnSpPr>
        <p:spPr bwMode="gray">
          <a:xfrm>
            <a:off x="4095844" y="38664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F9BA8B59-ACF7-4D9E-B863-8064D75A4D49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 bwMode="gray">
          <a:xfrm>
            <a:off x="4095844" y="53415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D2ED4D7C-E0F2-44E8-BD9E-71C520F73B8F}"/>
              </a:ext>
            </a:extLst>
          </p:cNvPr>
          <p:cNvCxnSpPr>
            <a:cxnSpLocks/>
            <a:endCxn id="11" idx="1"/>
          </p:cNvCxnSpPr>
          <p:nvPr/>
        </p:nvCxnSpPr>
        <p:spPr bwMode="gray">
          <a:xfrm>
            <a:off x="2753318" y="46039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C666C24D-8F9C-4E0A-8F5E-6708F759A2DF}"/>
              </a:ext>
            </a:extLst>
          </p:cNvPr>
          <p:cNvCxnSpPr>
            <a:cxnSpLocks/>
            <a:endCxn id="10" idx="1"/>
          </p:cNvCxnSpPr>
          <p:nvPr/>
        </p:nvCxnSpPr>
        <p:spPr bwMode="gray">
          <a:xfrm flipV="1">
            <a:off x="2753318" y="38664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ACA0F52A-C70E-42D9-937B-77A5F15B7DC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645048"/>
            <a:ext cx="540000" cy="442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D5CD9061-57EE-4096-94D2-7AD7DFDA78F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120130"/>
            <a:ext cx="540000" cy="442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7F556BCD-44C1-4E4A-AF52-40A5F2513B9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645048"/>
            <a:ext cx="540000" cy="442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A5CB8673-A8F3-466B-925D-FAC0E7BAF7D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120130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A1FACC77-819C-4415-8CD7-F1D8B7E8606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645048"/>
            <a:ext cx="540000" cy="442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3DFC2ED1-D330-44A5-A9EE-832C37D2857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120130"/>
            <a:ext cx="540000" cy="44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A19D6AC0-EA14-411B-923E-3B2827AFFE9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382589"/>
            <a:ext cx="540000" cy="442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78EFF3B6-6573-46A0-9C55-A43CE3F5F15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38199" y="4382589"/>
            <a:ext cx="540000" cy="442800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4C560D71-7611-4826-A927-DA58108A442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gray">
          <a:xfrm>
            <a:off x="4365844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010D15F8-99A4-4546-8A38-F9865D11B81B}"/>
              </a:ext>
            </a:extLst>
          </p:cNvPr>
          <p:cNvCxnSpPr>
            <a:cxnSpLocks/>
          </p:cNvCxnSpPr>
          <p:nvPr/>
        </p:nvCxnSpPr>
        <p:spPr bwMode="gray">
          <a:xfrm>
            <a:off x="6310391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14C002CD-0C12-4810-8430-16E7E2C4EA0E}"/>
              </a:ext>
            </a:extLst>
          </p:cNvPr>
          <p:cNvCxnSpPr>
            <a:cxnSpLocks/>
          </p:cNvCxnSpPr>
          <p:nvPr/>
        </p:nvCxnSpPr>
        <p:spPr bwMode="gray">
          <a:xfrm>
            <a:off x="8254938" y="40878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9B661089-EABC-4F40-8CD2-1187EE706A8A}"/>
              </a:ext>
            </a:extLst>
          </p:cNvPr>
          <p:cNvSpPr txBox="1"/>
          <p:nvPr/>
        </p:nvSpPr>
        <p:spPr bwMode="gray">
          <a:xfrm>
            <a:off x="2518032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3565128C-6B19-427E-AEFE-41595DB04DB7}"/>
              </a:ext>
            </a:extLst>
          </p:cNvPr>
          <p:cNvSpPr txBox="1"/>
          <p:nvPr/>
        </p:nvSpPr>
        <p:spPr bwMode="gray">
          <a:xfrm>
            <a:off x="4424470" y="40921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09B82546-E9BF-4575-946C-89AA2D59CAF2}"/>
              </a:ext>
            </a:extLst>
          </p:cNvPr>
          <p:cNvSpPr txBox="1"/>
          <p:nvPr/>
        </p:nvSpPr>
        <p:spPr bwMode="gray">
          <a:xfrm>
            <a:off x="4150679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1CE1CF13-5141-46DD-BC51-D79F7B6C4016}"/>
              </a:ext>
            </a:extLst>
          </p:cNvPr>
          <p:cNvSpPr txBox="1"/>
          <p:nvPr/>
        </p:nvSpPr>
        <p:spPr bwMode="gray">
          <a:xfrm>
            <a:off x="6080485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3862806D-41B1-4793-BD0D-6EBEBE9D07CE}"/>
              </a:ext>
            </a:extLst>
          </p:cNvPr>
          <p:cNvSpPr txBox="1"/>
          <p:nvPr/>
        </p:nvSpPr>
        <p:spPr bwMode="gray">
          <a:xfrm>
            <a:off x="6355250" y="40706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643AC35C-6E15-4746-9176-EEA8FEF83748}"/>
              </a:ext>
            </a:extLst>
          </p:cNvPr>
          <p:cNvSpPr txBox="1"/>
          <p:nvPr/>
        </p:nvSpPr>
        <p:spPr bwMode="gray">
          <a:xfrm>
            <a:off x="8230138" y="40706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="" xmlns:a16="http://schemas.microsoft.com/office/drawing/2014/main" id="{921EF7A9-5AC5-4D4E-BAB1-2C0A11C3A223}"/>
              </a:ext>
            </a:extLst>
          </p:cNvPr>
          <p:cNvSpPr/>
          <p:nvPr/>
        </p:nvSpPr>
        <p:spPr bwMode="gray">
          <a:xfrm>
            <a:off x="2861139" y="3467856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B3486884-866B-4446-93A1-032774F5939B}"/>
              </a:ext>
            </a:extLst>
          </p:cNvPr>
          <p:cNvSpPr txBox="1"/>
          <p:nvPr/>
        </p:nvSpPr>
        <p:spPr bwMode="gray">
          <a:xfrm>
            <a:off x="8080156" y="55695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="" xmlns:a16="http://schemas.microsoft.com/office/drawing/2014/main" id="{4F2CF5D1-F7C4-46A5-B8E5-4BB1AB6DD34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382589"/>
            <a:ext cx="540000" cy="442800"/>
          </a:xfrm>
          <a:prstGeom prst="rect">
            <a:avLst/>
          </a:prstGeom>
        </p:spPr>
      </p:pic>
      <p:cxnSp>
        <p:nvCxnSpPr>
          <p:cNvPr id="37" name="直接连接符 36">
            <a:extLst>
              <a:ext uri="{FF2B5EF4-FFF2-40B4-BE49-F238E27FC236}">
                <a16:creationId xmlns="" xmlns:a16="http://schemas.microsoft.com/office/drawing/2014/main" id="{AEAC485E-C7CA-442D-AD7D-85DBEF7A3B65}"/>
              </a:ext>
            </a:extLst>
          </p:cNvPr>
          <p:cNvCxnSpPr>
            <a:cxnSpLocks/>
            <a:stCxn id="36" idx="3"/>
            <a:endCxn id="16" idx="1"/>
          </p:cNvCxnSpPr>
          <p:nvPr/>
        </p:nvCxnSpPr>
        <p:spPr bwMode="gray">
          <a:xfrm>
            <a:off x="1690820" y="4603989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76227B29-9C7E-4CDB-B861-21A549624407}"/>
              </a:ext>
            </a:extLst>
          </p:cNvPr>
          <p:cNvSpPr txBox="1"/>
          <p:nvPr/>
        </p:nvSpPr>
        <p:spPr bwMode="gray">
          <a:xfrm>
            <a:off x="1176050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F5470C79-818F-40F7-BAC0-A4CB00298BB0}"/>
              </a:ext>
            </a:extLst>
          </p:cNvPr>
          <p:cNvSpPr txBox="1"/>
          <p:nvPr/>
        </p:nvSpPr>
        <p:spPr bwMode="gray">
          <a:xfrm>
            <a:off x="9641856" y="48253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="" xmlns:a16="http://schemas.microsoft.com/office/drawing/2014/main" id="{BBD39845-27AB-4FD1-99B3-1BC7C6186CC9}"/>
              </a:ext>
            </a:extLst>
          </p:cNvPr>
          <p:cNvSpPr txBox="1"/>
          <p:nvPr/>
        </p:nvSpPr>
        <p:spPr bwMode="gray">
          <a:xfrm>
            <a:off x="4841506" y="4504795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b="1">
                <a:solidFill>
                  <a:schemeClr val="accent6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备路径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27B1C70C-AECF-416C-A7CB-F9D96270E40F}"/>
              </a:ext>
            </a:extLst>
          </p:cNvPr>
          <p:cNvSpPr txBox="1"/>
          <p:nvPr/>
        </p:nvSpPr>
        <p:spPr bwMode="gray">
          <a:xfrm>
            <a:off x="4808949" y="3009619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DF75BF7D-7D00-42BC-9AD8-2DEBF860866A}"/>
              </a:ext>
            </a:extLst>
          </p:cNvPr>
          <p:cNvGrpSpPr/>
          <p:nvPr/>
        </p:nvGrpSpPr>
        <p:grpSpPr bwMode="gray">
          <a:xfrm>
            <a:off x="8142296" y="3797494"/>
            <a:ext cx="288000" cy="288000"/>
            <a:chOff x="856677" y="2615810"/>
            <a:chExt cx="288000" cy="288000"/>
          </a:xfrm>
        </p:grpSpPr>
        <p:sp>
          <p:nvSpPr>
            <p:cNvPr id="43" name="椭圆 42">
              <a:extLst>
                <a:ext uri="{FF2B5EF4-FFF2-40B4-BE49-F238E27FC236}">
                  <a16:creationId xmlns="" xmlns:a16="http://schemas.microsoft.com/office/drawing/2014/main" id="{60065F17-D500-40FC-8ABA-B8E8089D6B82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="" xmlns:a16="http://schemas.microsoft.com/office/drawing/2014/main" id="{D70D8439-F608-4D83-8DF8-42E0A9072F38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="" xmlns:a16="http://schemas.microsoft.com/office/drawing/2014/main" id="{FBACA858-CAD9-4C0F-B994-8F688827C47A}"/>
                  </a:ext>
                </a:extLst>
              </p:cNvPr>
              <p:cNvCxnSpPr>
                <a:stCxn id="43" idx="3"/>
                <a:endCxn id="4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="" xmlns:a16="http://schemas.microsoft.com/office/drawing/2014/main" id="{4C060A62-99F8-46DA-AB9D-91270A85CAA2}"/>
                  </a:ext>
                </a:extLst>
              </p:cNvPr>
              <p:cNvCxnSpPr>
                <a:stCxn id="43" idx="1"/>
                <a:endCxn id="4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任意多边形: 形状 46">
            <a:extLst>
              <a:ext uri="{FF2B5EF4-FFF2-40B4-BE49-F238E27FC236}">
                <a16:creationId xmlns="" xmlns:a16="http://schemas.microsoft.com/office/drawing/2014/main" id="{2C472459-F254-46C0-A373-CA73BA42B7D0}"/>
              </a:ext>
            </a:extLst>
          </p:cNvPr>
          <p:cNvSpPr/>
          <p:nvPr/>
        </p:nvSpPr>
        <p:spPr bwMode="gray">
          <a:xfrm>
            <a:off x="2885705" y="4902527"/>
            <a:ext cx="5939934" cy="785579"/>
          </a:xfrm>
          <a:custGeom>
            <a:avLst/>
            <a:gdLst>
              <a:gd name="connsiteX0" fmla="*/ 0 w 5320145"/>
              <a:gd name="connsiteY0" fmla="*/ 0 h 785578"/>
              <a:gd name="connsiteX1" fmla="*/ 1484415 w 5320145"/>
              <a:gd name="connsiteY1" fmla="*/ 688769 h 785578"/>
              <a:gd name="connsiteX2" fmla="*/ 3443844 w 5320145"/>
              <a:gd name="connsiteY2" fmla="*/ 783772 h 785578"/>
              <a:gd name="connsiteX3" fmla="*/ 5320145 w 5320145"/>
              <a:gd name="connsiteY3" fmla="*/ 724395 h 785578"/>
              <a:gd name="connsiteX0" fmla="*/ 0 w 5394599"/>
              <a:gd name="connsiteY0" fmla="*/ 0 h 785578"/>
              <a:gd name="connsiteX1" fmla="*/ 1484415 w 5394599"/>
              <a:gd name="connsiteY1" fmla="*/ 688769 h 785578"/>
              <a:gd name="connsiteX2" fmla="*/ 3443844 w 5394599"/>
              <a:gd name="connsiteY2" fmla="*/ 783772 h 785578"/>
              <a:gd name="connsiteX3" fmla="*/ 5394599 w 5394599"/>
              <a:gd name="connsiteY3" fmla="*/ 593767 h 785578"/>
              <a:gd name="connsiteX0" fmla="*/ 0 w 5394599"/>
              <a:gd name="connsiteY0" fmla="*/ 0 h 785579"/>
              <a:gd name="connsiteX1" fmla="*/ 1484415 w 5394599"/>
              <a:gd name="connsiteY1" fmla="*/ 688769 h 785579"/>
              <a:gd name="connsiteX2" fmla="*/ 3443844 w 5394599"/>
              <a:gd name="connsiteY2" fmla="*/ 783772 h 785579"/>
              <a:gd name="connsiteX3" fmla="*/ 5394599 w 5394599"/>
              <a:gd name="connsiteY3" fmla="*/ 593767 h 785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4599" h="785579">
                <a:moveTo>
                  <a:pt x="0" y="0"/>
                </a:moveTo>
                <a:cubicBezTo>
                  <a:pt x="455220" y="279070"/>
                  <a:pt x="910441" y="558140"/>
                  <a:pt x="1484415" y="688769"/>
                </a:cubicBezTo>
                <a:cubicBezTo>
                  <a:pt x="2058389" y="819398"/>
                  <a:pt x="2804556" y="777834"/>
                  <a:pt x="3443844" y="783772"/>
                </a:cubicBezTo>
                <a:cubicBezTo>
                  <a:pt x="4083132" y="789710"/>
                  <a:pt x="4776092" y="792679"/>
                  <a:pt x="5394599" y="593767"/>
                </a:cubicBezTo>
              </a:path>
            </a:pathLst>
          </a:custGeom>
          <a:noFill/>
          <a:ln w="38100">
            <a:solidFill>
              <a:srgbClr val="7030A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22AD7404-6BB2-42EC-B19A-89FFC2AD53FA}"/>
              </a:ext>
            </a:extLst>
          </p:cNvPr>
          <p:cNvSpPr txBox="1"/>
          <p:nvPr/>
        </p:nvSpPr>
        <p:spPr bwMode="gray">
          <a:xfrm>
            <a:off x="4781619" y="5896175"/>
            <a:ext cx="3571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FRR</a:t>
            </a:r>
            <a:r>
              <a:rPr lang="zh-CN" altLang="en-US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备份路径（隧道</a:t>
            </a:r>
            <a:r>
              <a:rPr lang="en-US" altLang="zh-CN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b="1" dirty="0">
                <a:solidFill>
                  <a:srgbClr val="7030A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主路径）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="" xmlns:a16="http://schemas.microsoft.com/office/drawing/2014/main" id="{3B569DD3-2FC1-4042-B038-EF816152EBA6}"/>
              </a:ext>
            </a:extLst>
          </p:cNvPr>
          <p:cNvGrpSpPr/>
          <p:nvPr/>
        </p:nvGrpSpPr>
        <p:grpSpPr bwMode="gray">
          <a:xfrm>
            <a:off x="1141313" y="2328826"/>
            <a:ext cx="3171137" cy="1292510"/>
            <a:chOff x="1035926" y="2455826"/>
            <a:chExt cx="3171137" cy="1292510"/>
          </a:xfrm>
        </p:grpSpPr>
        <p:sp>
          <p:nvSpPr>
            <p:cNvPr id="58" name="矩形 57">
              <a:extLst>
                <a:ext uri="{FF2B5EF4-FFF2-40B4-BE49-F238E27FC236}">
                  <a16:creationId xmlns="" xmlns:a16="http://schemas.microsoft.com/office/drawing/2014/main" id="{C9950275-761B-4D90-B376-E51066BBEC4B}"/>
                </a:ext>
              </a:extLst>
            </p:cNvPr>
            <p:cNvSpPr/>
            <p:nvPr/>
          </p:nvSpPr>
          <p:spPr bwMode="gray">
            <a:xfrm>
              <a:off x="1035926" y="2455826"/>
              <a:ext cx="2441999" cy="12925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="" xmlns:a16="http://schemas.microsoft.com/office/drawing/2014/main" id="{58DF3B24-E52D-442D-9AFF-1A677AE61FC7}"/>
                </a:ext>
              </a:extLst>
            </p:cNvPr>
            <p:cNvGrpSpPr/>
            <p:nvPr/>
          </p:nvGrpSpPr>
          <p:grpSpPr bwMode="gray">
            <a:xfrm>
              <a:off x="1150820" y="2529004"/>
              <a:ext cx="3056243" cy="1106052"/>
              <a:chOff x="1755519" y="2342523"/>
              <a:chExt cx="2692605" cy="937317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="" xmlns:a16="http://schemas.microsoft.com/office/drawing/2014/main" id="{B7B3348E-B6EE-46CF-A8C8-A9136D5CAEA7}"/>
                  </a:ext>
                </a:extLst>
              </p:cNvPr>
              <p:cNvSpPr txBox="1"/>
              <p:nvPr/>
            </p:nvSpPr>
            <p:spPr bwMode="gray">
              <a:xfrm>
                <a:off x="1755519" y="2516994"/>
                <a:ext cx="644625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左大括号 50">
                <a:extLst>
                  <a:ext uri="{FF2B5EF4-FFF2-40B4-BE49-F238E27FC236}">
                    <a16:creationId xmlns="" xmlns:a16="http://schemas.microsoft.com/office/drawing/2014/main" id="{163519D1-A61B-4032-B933-31CCC9ABC256}"/>
                  </a:ext>
                </a:extLst>
              </p:cNvPr>
              <p:cNvSpPr/>
              <p:nvPr/>
            </p:nvSpPr>
            <p:spPr bwMode="gray">
              <a:xfrm>
                <a:off x="2463023" y="2458940"/>
                <a:ext cx="119566" cy="425633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="" xmlns:a16="http://schemas.microsoft.com/office/drawing/2014/main" id="{3985D063-95B0-488B-B3E2-D905D188787D}"/>
                  </a:ext>
                </a:extLst>
              </p:cNvPr>
              <p:cNvSpPr txBox="1"/>
              <p:nvPr/>
            </p:nvSpPr>
            <p:spPr bwMode="gray">
              <a:xfrm>
                <a:off x="2637162" y="2342523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主路径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="" xmlns:a16="http://schemas.microsoft.com/office/drawing/2014/main" id="{6BE3F205-A8A7-4A59-868E-F191644B7539}"/>
                  </a:ext>
                </a:extLst>
              </p:cNvPr>
              <p:cNvSpPr txBox="1"/>
              <p:nvPr/>
            </p:nvSpPr>
            <p:spPr bwMode="gray">
              <a:xfrm>
                <a:off x="2637162" y="2687162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备路径</a:t>
                </a: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="" xmlns:a16="http://schemas.microsoft.com/office/drawing/2014/main" id="{D6937849-9FEE-4031-9482-D8BBF1F76BB8}"/>
                  </a:ext>
                </a:extLst>
              </p:cNvPr>
              <p:cNvSpPr txBox="1"/>
              <p:nvPr/>
            </p:nvSpPr>
            <p:spPr bwMode="gray">
              <a:xfrm>
                <a:off x="1755520" y="3012689"/>
                <a:ext cx="880970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rgbClr val="7030A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 b="1">
                    <a:solidFill>
                      <a:srgbClr val="7030A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>
                  <a:solidFill>
                    <a:srgbClr val="7030A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="" xmlns:a16="http://schemas.microsoft.com/office/drawing/2014/main" id="{9CA9892A-103E-429C-B73D-49905970A208}"/>
                  </a:ext>
                </a:extLst>
              </p:cNvPr>
              <p:cNvSpPr txBox="1"/>
              <p:nvPr/>
            </p:nvSpPr>
            <p:spPr bwMode="gray">
              <a:xfrm>
                <a:off x="2625287" y="3019016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rgbClr val="7030A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 b="1">
                    <a:solidFill>
                      <a:srgbClr val="7030A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r>
                  <a:rPr lang="zh-CN" altLang="en-US" sz="1400" b="1">
                    <a:solidFill>
                      <a:srgbClr val="7030A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主路径</a:t>
                </a:r>
              </a:p>
            </p:txBody>
          </p:sp>
        </p:grpSp>
      </p:grpSp>
      <p:sp>
        <p:nvSpPr>
          <p:cNvPr id="56" name="任意多边形: 形状 55">
            <a:extLst>
              <a:ext uri="{FF2B5EF4-FFF2-40B4-BE49-F238E27FC236}">
                <a16:creationId xmlns="" xmlns:a16="http://schemas.microsoft.com/office/drawing/2014/main" id="{61A5EA00-54EE-4E0D-99E2-73DF92499179}"/>
              </a:ext>
            </a:extLst>
          </p:cNvPr>
          <p:cNvSpPr/>
          <p:nvPr/>
        </p:nvSpPr>
        <p:spPr bwMode="gray">
          <a:xfrm>
            <a:off x="2955992" y="4045315"/>
            <a:ext cx="5306278" cy="1072786"/>
          </a:xfrm>
          <a:custGeom>
            <a:avLst/>
            <a:gdLst>
              <a:gd name="connsiteX0" fmla="*/ 0 w 5462650"/>
              <a:gd name="connsiteY0" fmla="*/ 736270 h 1343247"/>
              <a:gd name="connsiteX1" fmla="*/ 1448790 w 5462650"/>
              <a:gd name="connsiteY1" fmla="*/ 1199408 h 1343247"/>
              <a:gd name="connsiteX2" fmla="*/ 3491346 w 5462650"/>
              <a:gd name="connsiteY2" fmla="*/ 1270660 h 1343247"/>
              <a:gd name="connsiteX3" fmla="*/ 4001985 w 5462650"/>
              <a:gd name="connsiteY3" fmla="*/ 237507 h 1343247"/>
              <a:gd name="connsiteX4" fmla="*/ 5462650 w 5462650"/>
              <a:gd name="connsiteY4" fmla="*/ 0 h 1343247"/>
              <a:gd name="connsiteX0" fmla="*/ 0 w 5462650"/>
              <a:gd name="connsiteY0" fmla="*/ 736270 h 1306159"/>
              <a:gd name="connsiteX1" fmla="*/ 1448790 w 5462650"/>
              <a:gd name="connsiteY1" fmla="*/ 1199408 h 1306159"/>
              <a:gd name="connsiteX2" fmla="*/ 3530141 w 5462650"/>
              <a:gd name="connsiteY2" fmla="*/ 1221233 h 1306159"/>
              <a:gd name="connsiteX3" fmla="*/ 4001985 w 5462650"/>
              <a:gd name="connsiteY3" fmla="*/ 237507 h 1306159"/>
              <a:gd name="connsiteX4" fmla="*/ 5462650 w 5462650"/>
              <a:gd name="connsiteY4" fmla="*/ 0 h 1306159"/>
              <a:gd name="connsiteX0" fmla="*/ 0 w 5462650"/>
              <a:gd name="connsiteY0" fmla="*/ 736270 h 1248489"/>
              <a:gd name="connsiteX1" fmla="*/ 1448790 w 5462650"/>
              <a:gd name="connsiteY1" fmla="*/ 1199408 h 1248489"/>
              <a:gd name="connsiteX2" fmla="*/ 3530141 w 5462650"/>
              <a:gd name="connsiteY2" fmla="*/ 1221233 h 1248489"/>
              <a:gd name="connsiteX3" fmla="*/ 5152907 w 5462650"/>
              <a:gd name="connsiteY3" fmla="*/ 1077766 h 1248489"/>
              <a:gd name="connsiteX4" fmla="*/ 5462650 w 5462650"/>
              <a:gd name="connsiteY4" fmla="*/ 0 h 1248489"/>
              <a:gd name="connsiteX0" fmla="*/ 0 w 5462650"/>
              <a:gd name="connsiteY0" fmla="*/ 736270 h 1247786"/>
              <a:gd name="connsiteX1" fmla="*/ 1448790 w 5462650"/>
              <a:gd name="connsiteY1" fmla="*/ 1199408 h 1247786"/>
              <a:gd name="connsiteX2" fmla="*/ 3530141 w 5462650"/>
              <a:gd name="connsiteY2" fmla="*/ 1221233 h 1247786"/>
              <a:gd name="connsiteX3" fmla="*/ 5230496 w 5462650"/>
              <a:gd name="connsiteY3" fmla="*/ 1090123 h 1247786"/>
              <a:gd name="connsiteX4" fmla="*/ 5462650 w 5462650"/>
              <a:gd name="connsiteY4" fmla="*/ 0 h 1247786"/>
              <a:gd name="connsiteX0" fmla="*/ 0 w 5553172"/>
              <a:gd name="connsiteY0" fmla="*/ 612703 h 1124219"/>
              <a:gd name="connsiteX1" fmla="*/ 1448790 w 5553172"/>
              <a:gd name="connsiteY1" fmla="*/ 1075841 h 1124219"/>
              <a:gd name="connsiteX2" fmla="*/ 3530141 w 5553172"/>
              <a:gd name="connsiteY2" fmla="*/ 1097666 h 1124219"/>
              <a:gd name="connsiteX3" fmla="*/ 5230496 w 5553172"/>
              <a:gd name="connsiteY3" fmla="*/ 966556 h 1124219"/>
              <a:gd name="connsiteX4" fmla="*/ 5553172 w 5553172"/>
              <a:gd name="connsiteY4" fmla="*/ 0 h 1124219"/>
              <a:gd name="connsiteX0" fmla="*/ 0 w 5553172"/>
              <a:gd name="connsiteY0" fmla="*/ 612703 h 1124219"/>
              <a:gd name="connsiteX1" fmla="*/ 1448790 w 5553172"/>
              <a:gd name="connsiteY1" fmla="*/ 1075841 h 1124219"/>
              <a:gd name="connsiteX2" fmla="*/ 3530141 w 5553172"/>
              <a:gd name="connsiteY2" fmla="*/ 1097666 h 1124219"/>
              <a:gd name="connsiteX3" fmla="*/ 5230496 w 5553172"/>
              <a:gd name="connsiteY3" fmla="*/ 966556 h 1124219"/>
              <a:gd name="connsiteX4" fmla="*/ 5553172 w 5553172"/>
              <a:gd name="connsiteY4" fmla="*/ 0 h 1124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3172" h="1124219">
                <a:moveTo>
                  <a:pt x="0" y="612703"/>
                </a:moveTo>
                <a:cubicBezTo>
                  <a:pt x="433449" y="799739"/>
                  <a:pt x="860433" y="995014"/>
                  <a:pt x="1448790" y="1075841"/>
                </a:cubicBezTo>
                <a:cubicBezTo>
                  <a:pt x="2037147" y="1156668"/>
                  <a:pt x="2899857" y="1115880"/>
                  <a:pt x="3530141" y="1097666"/>
                </a:cubicBezTo>
                <a:cubicBezTo>
                  <a:pt x="4160425" y="1079452"/>
                  <a:pt x="4901945" y="1178333"/>
                  <a:pt x="5230496" y="966556"/>
                </a:cubicBezTo>
                <a:cubicBezTo>
                  <a:pt x="5559047" y="754779"/>
                  <a:pt x="5491451" y="581276"/>
                  <a:pt x="5553172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5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732E5EC-2E50-4D2E-BE34-A38BAACEBD3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IP FRR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0A60EA32-C050-450A-9B5C-1272AC7885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如果</a:t>
            </a:r>
            <a:r>
              <a:rPr lang="en-US" altLang="zh-CN" sz="1600" dirty="0">
                <a:sym typeface="Huawei Sans" panose="020C0503030203020204" pitchFamily="34" charset="0"/>
              </a:rPr>
              <a:t>PE2-CE2</a:t>
            </a:r>
            <a:r>
              <a:rPr lang="zh-CN" altLang="en-US" sz="1600" dirty="0">
                <a:sym typeface="Huawei Sans" panose="020C0503030203020204" pitchFamily="34" charset="0"/>
              </a:rPr>
              <a:t>链路故障，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节点正常。此时</a:t>
            </a:r>
            <a:r>
              <a:rPr lang="en-US" altLang="zh-CN" sz="1600" dirty="0">
                <a:sym typeface="Huawei Sans" panose="020C0503030203020204" pitchFamily="34" charset="0"/>
              </a:rPr>
              <a:t>PE1-PE2</a:t>
            </a:r>
            <a:r>
              <a:rPr lang="zh-CN" altLang="en-US" sz="1600" dirty="0">
                <a:sym typeface="Huawei Sans" panose="020C0503030203020204" pitchFamily="34" charset="0"/>
              </a:rPr>
              <a:t>的隧道依然可用，因此不需要端到端的隧道切换。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选择</a:t>
            </a:r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的路由作为备份下一跳，当</a:t>
            </a:r>
            <a:r>
              <a:rPr lang="en-US" altLang="zh-CN" sz="1600" dirty="0">
                <a:sym typeface="Huawei Sans" panose="020C0503030203020204" pitchFamily="34" charset="0"/>
              </a:rPr>
              <a:t>PE2-CE2</a:t>
            </a:r>
            <a:r>
              <a:rPr lang="zh-CN" altLang="en-US" sz="1600" dirty="0">
                <a:sym typeface="Huawei Sans" panose="020C0503030203020204" pitchFamily="34" charset="0"/>
              </a:rPr>
              <a:t>链路或</a:t>
            </a:r>
            <a:r>
              <a:rPr lang="en-US" altLang="zh-CN" sz="1600" dirty="0"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sym typeface="Huawei Sans" panose="020C0503030203020204" pitchFamily="34" charset="0"/>
              </a:rPr>
              <a:t>故障时，快速切换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流量，即</a:t>
            </a:r>
            <a:r>
              <a:rPr lang="en-US" altLang="zh-CN" sz="1600" dirty="0">
                <a:sym typeface="Huawei Sans" panose="020C0503030203020204" pitchFamily="34" charset="0"/>
              </a:rPr>
              <a:t>IP FRR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IP FRR</a:t>
            </a:r>
            <a:r>
              <a:rPr lang="zh-CN" altLang="en-US" sz="1600" dirty="0">
                <a:sym typeface="Huawei Sans" panose="020C0503030203020204" pitchFamily="34" charset="0"/>
              </a:rPr>
              <a:t>适用于</a:t>
            </a:r>
            <a:r>
              <a:rPr lang="en-US" altLang="zh-CN" sz="1600" dirty="0">
                <a:sym typeface="Huawei Sans" panose="020C0503030203020204" pitchFamily="34" charset="0"/>
              </a:rPr>
              <a:t>CE-PE</a:t>
            </a:r>
            <a:r>
              <a:rPr lang="zh-CN" altLang="en-US" sz="1600" dirty="0">
                <a:sym typeface="Huawei Sans" panose="020C0503030203020204" pitchFamily="34" charset="0"/>
              </a:rPr>
              <a:t>间的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网络。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="" xmlns:a16="http://schemas.microsoft.com/office/drawing/2014/main" id="{6DE72168-E05B-45E3-9354-3AFC7D18A0E4}"/>
              </a:ext>
            </a:extLst>
          </p:cNvPr>
          <p:cNvCxnSpPr>
            <a:cxnSpLocks/>
            <a:stCxn id="14" idx="3"/>
            <a:endCxn id="54" idx="1"/>
          </p:cNvCxnSpPr>
          <p:nvPr/>
        </p:nvCxnSpPr>
        <p:spPr bwMode="gray">
          <a:xfrm>
            <a:off x="8524938" y="4095048"/>
            <a:ext cx="11988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5A020539-DF85-492A-8702-0CEC661B4734}"/>
              </a:ext>
            </a:extLst>
          </p:cNvPr>
          <p:cNvCxnSpPr>
            <a:cxnSpLocks/>
            <a:stCxn id="15" idx="3"/>
            <a:endCxn id="55" idx="1"/>
          </p:cNvCxnSpPr>
          <p:nvPr/>
        </p:nvCxnSpPr>
        <p:spPr bwMode="gray">
          <a:xfrm>
            <a:off x="8524938" y="5570130"/>
            <a:ext cx="11988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9261D8F3-389A-43D9-94C5-A60D182E8C80}"/>
              </a:ext>
            </a:extLst>
          </p:cNvPr>
          <p:cNvCxnSpPr>
            <a:cxnSpLocks/>
            <a:stCxn id="10" idx="1"/>
            <a:endCxn id="14" idx="1"/>
          </p:cNvCxnSpPr>
          <p:nvPr/>
        </p:nvCxnSpPr>
        <p:spPr bwMode="gray">
          <a:xfrm>
            <a:off x="4095844" y="4095048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7D436D4F-8F14-43F6-9169-AEDA296EA5AA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 bwMode="gray">
          <a:xfrm>
            <a:off x="4095844" y="5570130"/>
            <a:ext cx="38890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69B900BC-13C3-4B3D-AAD7-AD25E58D7CFB}"/>
              </a:ext>
            </a:extLst>
          </p:cNvPr>
          <p:cNvCxnSpPr>
            <a:cxnSpLocks/>
            <a:endCxn id="11" idx="1"/>
          </p:cNvCxnSpPr>
          <p:nvPr/>
        </p:nvCxnSpPr>
        <p:spPr bwMode="gray">
          <a:xfrm>
            <a:off x="2753318" y="4832589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D1BC758D-ECDF-4DEB-BB44-88C009378E75}"/>
              </a:ext>
            </a:extLst>
          </p:cNvPr>
          <p:cNvCxnSpPr>
            <a:cxnSpLocks/>
            <a:endCxn id="10" idx="1"/>
          </p:cNvCxnSpPr>
          <p:nvPr/>
        </p:nvCxnSpPr>
        <p:spPr bwMode="gray">
          <a:xfrm flipV="1">
            <a:off x="2753318" y="4095048"/>
            <a:ext cx="1342526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C8F1E779-C92D-4F87-916A-3235E63ECA4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3873648"/>
            <a:ext cx="540000" cy="442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33E6DCDF-F8B7-480A-96AF-CFBD563AC68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348730"/>
            <a:ext cx="540000" cy="442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575E1214-B4BD-4315-A35D-976554EA3A0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3873648"/>
            <a:ext cx="540000" cy="442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CC0B58CB-40B6-40E6-9B3B-0253741B2BC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40391" y="5348730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3D0EDD41-883D-4FF2-B829-60C7B17473B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3873648"/>
            <a:ext cx="540000" cy="442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1D337B5F-094C-45AB-A25F-451B387960F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84938" y="5348730"/>
            <a:ext cx="540000" cy="44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404C0371-FB95-462D-A64D-48862523039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02546" y="4611189"/>
            <a:ext cx="540000" cy="442800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2D02FD16-5208-422C-B14B-45CEA87B26D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gray">
          <a:xfrm>
            <a:off x="4365844" y="43164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FCE3F4D5-AEA8-4C70-9A52-33678DECFD5F}"/>
              </a:ext>
            </a:extLst>
          </p:cNvPr>
          <p:cNvCxnSpPr>
            <a:cxnSpLocks/>
          </p:cNvCxnSpPr>
          <p:nvPr/>
        </p:nvCxnSpPr>
        <p:spPr bwMode="gray">
          <a:xfrm>
            <a:off x="6310391" y="43164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B2DEF249-4452-4125-88A4-16B0863213F8}"/>
              </a:ext>
            </a:extLst>
          </p:cNvPr>
          <p:cNvCxnSpPr>
            <a:cxnSpLocks/>
          </p:cNvCxnSpPr>
          <p:nvPr/>
        </p:nvCxnSpPr>
        <p:spPr bwMode="gray">
          <a:xfrm>
            <a:off x="8254938" y="43164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8D28F7E0-02C7-4832-9481-3DD6E4051391}"/>
              </a:ext>
            </a:extLst>
          </p:cNvPr>
          <p:cNvSpPr txBox="1"/>
          <p:nvPr/>
        </p:nvSpPr>
        <p:spPr bwMode="gray">
          <a:xfrm>
            <a:off x="2518032" y="50539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603DEFD7-CC88-44A9-8348-44F98DC0CDBA}"/>
              </a:ext>
            </a:extLst>
          </p:cNvPr>
          <p:cNvSpPr txBox="1"/>
          <p:nvPr/>
        </p:nvSpPr>
        <p:spPr bwMode="gray">
          <a:xfrm>
            <a:off x="4424470" y="432074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29EF99B7-1585-421B-91A8-8D49D0FA5347}"/>
              </a:ext>
            </a:extLst>
          </p:cNvPr>
          <p:cNvSpPr txBox="1"/>
          <p:nvPr/>
        </p:nvSpPr>
        <p:spPr bwMode="gray">
          <a:xfrm>
            <a:off x="4150679" y="57981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7E56EA15-7E5D-4565-9996-668367FAB7C1}"/>
              </a:ext>
            </a:extLst>
          </p:cNvPr>
          <p:cNvSpPr txBox="1"/>
          <p:nvPr/>
        </p:nvSpPr>
        <p:spPr bwMode="gray">
          <a:xfrm>
            <a:off x="6080485" y="57981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3B5DE3A5-FFB6-42F4-AC8B-5E1FCAA9E76E}"/>
              </a:ext>
            </a:extLst>
          </p:cNvPr>
          <p:cNvSpPr txBox="1"/>
          <p:nvPr/>
        </p:nvSpPr>
        <p:spPr bwMode="gray">
          <a:xfrm>
            <a:off x="6355250" y="42992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86EED6B4-44D4-4BA4-AC25-E5B52E19F0F2}"/>
              </a:ext>
            </a:extLst>
          </p:cNvPr>
          <p:cNvSpPr txBox="1"/>
          <p:nvPr/>
        </p:nvSpPr>
        <p:spPr bwMode="gray">
          <a:xfrm>
            <a:off x="8230138" y="429928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="" xmlns:a16="http://schemas.microsoft.com/office/drawing/2014/main" id="{6CBC2676-E2BA-4155-80F9-AFDBEEAF3A93}"/>
              </a:ext>
            </a:extLst>
          </p:cNvPr>
          <p:cNvSpPr/>
          <p:nvPr/>
        </p:nvSpPr>
        <p:spPr bwMode="gray">
          <a:xfrm>
            <a:off x="2861139" y="3696456"/>
            <a:ext cx="5393799" cy="965902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562" h="810255">
                <a:moveTo>
                  <a:pt x="0" y="810255"/>
                </a:moveTo>
                <a:lnTo>
                  <a:pt x="787079" y="405141"/>
                </a:lnTo>
                <a:cubicBezTo>
                  <a:pt x="1030147" y="283607"/>
                  <a:pt x="1228846" y="129278"/>
                  <a:pt x="1458410" y="81050"/>
                </a:cubicBezTo>
                <a:cubicBezTo>
                  <a:pt x="1687974" y="32822"/>
                  <a:pt x="1886674" y="109987"/>
                  <a:pt x="2164466" y="115774"/>
                </a:cubicBezTo>
                <a:cubicBezTo>
                  <a:pt x="2442258" y="121561"/>
                  <a:pt x="2870522" y="135065"/>
                  <a:pt x="3125165" y="115774"/>
                </a:cubicBezTo>
                <a:cubicBezTo>
                  <a:pt x="3379808" y="96483"/>
                  <a:pt x="3372091" y="1956"/>
                  <a:pt x="3692324" y="27"/>
                </a:cubicBezTo>
                <a:cubicBezTo>
                  <a:pt x="4012557" y="-1902"/>
                  <a:pt x="4732116" y="96482"/>
                  <a:pt x="5046562" y="104199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118E0A41-4FEC-46B8-BE34-2F4CD11CA444}"/>
              </a:ext>
            </a:extLst>
          </p:cNvPr>
          <p:cNvSpPr txBox="1"/>
          <p:nvPr/>
        </p:nvSpPr>
        <p:spPr bwMode="gray">
          <a:xfrm>
            <a:off x="8080156" y="57981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="" xmlns:a16="http://schemas.microsoft.com/office/drawing/2014/main" id="{6271F233-E1D9-4E46-94C3-C562738ACE0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50820" y="4611189"/>
            <a:ext cx="540000" cy="442800"/>
          </a:xfrm>
          <a:prstGeom prst="rect">
            <a:avLst/>
          </a:prstGeom>
        </p:spPr>
      </p:pic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3C134C74-BDCE-4D7A-9C58-83A0A3CC280F}"/>
              </a:ext>
            </a:extLst>
          </p:cNvPr>
          <p:cNvCxnSpPr>
            <a:cxnSpLocks/>
            <a:stCxn id="29" idx="3"/>
            <a:endCxn id="16" idx="1"/>
          </p:cNvCxnSpPr>
          <p:nvPr/>
        </p:nvCxnSpPr>
        <p:spPr bwMode="gray">
          <a:xfrm>
            <a:off x="1690820" y="4832589"/>
            <a:ext cx="811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="" xmlns:a16="http://schemas.microsoft.com/office/drawing/2014/main" id="{7200F541-CC16-4BBB-821E-B88213B72A33}"/>
              </a:ext>
            </a:extLst>
          </p:cNvPr>
          <p:cNvSpPr txBox="1"/>
          <p:nvPr/>
        </p:nvSpPr>
        <p:spPr bwMode="gray">
          <a:xfrm>
            <a:off x="1176050" y="505398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BB1C05F0-0F7D-49DF-BC76-8968F175A260}"/>
              </a:ext>
            </a:extLst>
          </p:cNvPr>
          <p:cNvSpPr txBox="1"/>
          <p:nvPr/>
        </p:nvSpPr>
        <p:spPr bwMode="gray">
          <a:xfrm>
            <a:off x="10144147" y="429840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96FA62C1-0B69-4636-A9E9-1AD31B3D32BE}"/>
              </a:ext>
            </a:extLst>
          </p:cNvPr>
          <p:cNvSpPr txBox="1"/>
          <p:nvPr/>
        </p:nvSpPr>
        <p:spPr bwMode="gray">
          <a:xfrm>
            <a:off x="4808949" y="3238219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400" b="1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b="1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主路径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61B26183-64DF-412B-AD6A-EE6B2501CEC5}"/>
              </a:ext>
            </a:extLst>
          </p:cNvPr>
          <p:cNvGrpSpPr/>
          <p:nvPr/>
        </p:nvGrpSpPr>
        <p:grpSpPr bwMode="gray">
          <a:xfrm>
            <a:off x="8948211" y="3965370"/>
            <a:ext cx="288000" cy="288000"/>
            <a:chOff x="856677" y="2615810"/>
            <a:chExt cx="288000" cy="288000"/>
          </a:xfrm>
        </p:grpSpPr>
        <p:sp>
          <p:nvSpPr>
            <p:cNvPr id="36" name="椭圆 35">
              <a:extLst>
                <a:ext uri="{FF2B5EF4-FFF2-40B4-BE49-F238E27FC236}">
                  <a16:creationId xmlns="" xmlns:a16="http://schemas.microsoft.com/office/drawing/2014/main" id="{357A368B-50D6-4032-9B50-E96A4B1F1080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98144A58-7724-4DDF-B940-EB7A37A47805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="" xmlns:a16="http://schemas.microsoft.com/office/drawing/2014/main" id="{3E5A9BFC-6326-4196-A6A8-8E59F1FEE91D}"/>
                  </a:ext>
                </a:extLst>
              </p:cNvPr>
              <p:cNvCxnSpPr>
                <a:stCxn id="36" idx="3"/>
                <a:endCxn id="3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="" xmlns:a16="http://schemas.microsoft.com/office/drawing/2014/main" id="{ADAD1264-B683-4C30-8CBE-05A8100C5DF6}"/>
                  </a:ext>
                </a:extLst>
              </p:cNvPr>
              <p:cNvCxnSpPr>
                <a:stCxn id="36" idx="1"/>
                <a:endCxn id="3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1F33B6C0-F157-4CD9-86DD-4CFFAB65E20C}"/>
              </a:ext>
            </a:extLst>
          </p:cNvPr>
          <p:cNvGrpSpPr/>
          <p:nvPr/>
        </p:nvGrpSpPr>
        <p:grpSpPr bwMode="gray">
          <a:xfrm>
            <a:off x="1141313" y="2557426"/>
            <a:ext cx="3171137" cy="1292510"/>
            <a:chOff x="1035926" y="2455826"/>
            <a:chExt cx="3171137" cy="1292510"/>
          </a:xfrm>
        </p:grpSpPr>
        <p:sp>
          <p:nvSpPr>
            <p:cNvPr id="43" name="矩形 42">
              <a:extLst>
                <a:ext uri="{FF2B5EF4-FFF2-40B4-BE49-F238E27FC236}">
                  <a16:creationId xmlns="" xmlns:a16="http://schemas.microsoft.com/office/drawing/2014/main" id="{0010A09C-2FA6-4D55-BF16-4A2637ABBC5C}"/>
                </a:ext>
              </a:extLst>
            </p:cNvPr>
            <p:cNvSpPr/>
            <p:nvPr/>
          </p:nvSpPr>
          <p:spPr bwMode="gray">
            <a:xfrm>
              <a:off x="1035926" y="2455826"/>
              <a:ext cx="2441999" cy="12925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="" xmlns:a16="http://schemas.microsoft.com/office/drawing/2014/main" id="{1AABD93E-7254-435C-80CE-DA22369DA959}"/>
                </a:ext>
              </a:extLst>
            </p:cNvPr>
            <p:cNvGrpSpPr/>
            <p:nvPr/>
          </p:nvGrpSpPr>
          <p:grpSpPr bwMode="gray">
            <a:xfrm>
              <a:off x="1150820" y="2529004"/>
              <a:ext cx="3056243" cy="1106052"/>
              <a:chOff x="1755519" y="2342523"/>
              <a:chExt cx="2692605" cy="937317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="" xmlns:a16="http://schemas.microsoft.com/office/drawing/2014/main" id="{FF43437D-6DC9-451D-B150-E5F184249933}"/>
                  </a:ext>
                </a:extLst>
              </p:cNvPr>
              <p:cNvSpPr txBox="1"/>
              <p:nvPr/>
            </p:nvSpPr>
            <p:spPr bwMode="gray">
              <a:xfrm>
                <a:off x="1755519" y="2516994"/>
                <a:ext cx="644625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7000B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 b="1" dirty="0">
                    <a:solidFill>
                      <a:srgbClr val="C7000B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6" name="左大括号 45">
                <a:extLst>
                  <a:ext uri="{FF2B5EF4-FFF2-40B4-BE49-F238E27FC236}">
                    <a16:creationId xmlns="" xmlns:a16="http://schemas.microsoft.com/office/drawing/2014/main" id="{49CF28BA-1E9E-4335-8F00-7CBC5927DEB7}"/>
                  </a:ext>
                </a:extLst>
              </p:cNvPr>
              <p:cNvSpPr/>
              <p:nvPr/>
            </p:nvSpPr>
            <p:spPr bwMode="gray">
              <a:xfrm>
                <a:off x="2463023" y="2458940"/>
                <a:ext cx="119566" cy="425633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="" xmlns:a16="http://schemas.microsoft.com/office/drawing/2014/main" id="{AFE93671-1F21-435E-92C4-CB9EAB595E12}"/>
                  </a:ext>
                </a:extLst>
              </p:cNvPr>
              <p:cNvSpPr txBox="1"/>
              <p:nvPr/>
            </p:nvSpPr>
            <p:spPr bwMode="gray">
              <a:xfrm>
                <a:off x="2637162" y="2342523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7000B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 b="1" dirty="0">
                    <a:solidFill>
                      <a:srgbClr val="C7000B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r>
                  <a:rPr lang="zh-CN" altLang="en-US" sz="1400" b="1" dirty="0">
                    <a:solidFill>
                      <a:srgbClr val="C7000B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主路径</a:t>
                </a: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="" xmlns:a16="http://schemas.microsoft.com/office/drawing/2014/main" id="{0C8F05B6-E847-4A13-BA24-447962F2A1D1}"/>
                  </a:ext>
                </a:extLst>
              </p:cNvPr>
              <p:cNvSpPr txBox="1"/>
              <p:nvPr/>
            </p:nvSpPr>
            <p:spPr bwMode="gray">
              <a:xfrm>
                <a:off x="2637162" y="2687162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备路径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="" xmlns:a16="http://schemas.microsoft.com/office/drawing/2014/main" id="{E1F6C25F-0A4F-43A5-A898-2640B4290135}"/>
                  </a:ext>
                </a:extLst>
              </p:cNvPr>
              <p:cNvSpPr txBox="1"/>
              <p:nvPr/>
            </p:nvSpPr>
            <p:spPr bwMode="gray">
              <a:xfrm>
                <a:off x="1755520" y="3012689"/>
                <a:ext cx="880970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="" xmlns:a16="http://schemas.microsoft.com/office/drawing/2014/main" id="{0A4305B0-47E1-456A-B7F6-708DD5E746B5}"/>
                  </a:ext>
                </a:extLst>
              </p:cNvPr>
              <p:cNvSpPr txBox="1"/>
              <p:nvPr/>
            </p:nvSpPr>
            <p:spPr bwMode="gray">
              <a:xfrm>
                <a:off x="2625287" y="3019016"/>
                <a:ext cx="1810962" cy="260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隧道</a:t>
                </a: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主路径</a:t>
                </a:r>
              </a:p>
            </p:txBody>
          </p:sp>
        </p:grpSp>
      </p:grpSp>
      <p:pic>
        <p:nvPicPr>
          <p:cNvPr id="54" name="图片 53">
            <a:extLst>
              <a:ext uri="{FF2B5EF4-FFF2-40B4-BE49-F238E27FC236}">
                <a16:creationId xmlns="" xmlns:a16="http://schemas.microsoft.com/office/drawing/2014/main" id="{F8CE6FB5-3C57-4C98-A3CC-0FE6DEC4FAC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723823" y="3873648"/>
            <a:ext cx="540000" cy="4428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="" xmlns:a16="http://schemas.microsoft.com/office/drawing/2014/main" id="{90E87B29-F05E-4BAC-8395-B75BDDB551A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723823" y="5348730"/>
            <a:ext cx="540000" cy="44280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="" xmlns:a16="http://schemas.microsoft.com/office/drawing/2014/main" id="{5D533089-614D-4A2F-B7BD-E7DF08A8062E}"/>
              </a:ext>
            </a:extLst>
          </p:cNvPr>
          <p:cNvSpPr txBox="1"/>
          <p:nvPr/>
        </p:nvSpPr>
        <p:spPr bwMode="gray">
          <a:xfrm>
            <a:off x="9750447" y="579811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="" xmlns:a16="http://schemas.microsoft.com/office/drawing/2014/main" id="{2D02C101-F3E1-493A-83E1-16222F1F8C2F}"/>
              </a:ext>
            </a:extLst>
          </p:cNvPr>
          <p:cNvCxnSpPr>
            <a:cxnSpLocks/>
          </p:cNvCxnSpPr>
          <p:nvPr/>
        </p:nvCxnSpPr>
        <p:spPr bwMode="gray">
          <a:xfrm>
            <a:off x="9993823" y="431644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="" xmlns:a16="http://schemas.microsoft.com/office/drawing/2014/main" id="{CEBD16BF-B273-4C95-8ADC-56659BB12F94}"/>
              </a:ext>
            </a:extLst>
          </p:cNvPr>
          <p:cNvGrpSpPr/>
          <p:nvPr/>
        </p:nvGrpSpPr>
        <p:grpSpPr bwMode="gray">
          <a:xfrm>
            <a:off x="9825042" y="3951048"/>
            <a:ext cx="288000" cy="288000"/>
            <a:chOff x="856677" y="2615810"/>
            <a:chExt cx="288000" cy="288000"/>
          </a:xfrm>
        </p:grpSpPr>
        <p:sp>
          <p:nvSpPr>
            <p:cNvPr id="61" name="椭圆 60">
              <a:extLst>
                <a:ext uri="{FF2B5EF4-FFF2-40B4-BE49-F238E27FC236}">
                  <a16:creationId xmlns="" xmlns:a16="http://schemas.microsoft.com/office/drawing/2014/main" id="{FAEEA788-150B-4152-8D14-567D79C89D47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="" xmlns:a16="http://schemas.microsoft.com/office/drawing/2014/main" id="{66E8BFAF-630D-4949-BFBF-C4865783B3DE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="" xmlns:a16="http://schemas.microsoft.com/office/drawing/2014/main" id="{4F5DDECC-08DD-47BB-8D32-30AA6D9AAE13}"/>
                  </a:ext>
                </a:extLst>
              </p:cNvPr>
              <p:cNvCxnSpPr>
                <a:stCxn id="61" idx="3"/>
                <a:endCxn id="61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="" xmlns:a16="http://schemas.microsoft.com/office/drawing/2014/main" id="{AA43D222-F600-4900-A920-B6DDBC36E215}"/>
                  </a:ext>
                </a:extLst>
              </p:cNvPr>
              <p:cNvCxnSpPr>
                <a:stCxn id="61" idx="1"/>
                <a:endCxn id="61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任意多边形: 形状 64">
            <a:extLst>
              <a:ext uri="{FF2B5EF4-FFF2-40B4-BE49-F238E27FC236}">
                <a16:creationId xmlns="" xmlns:a16="http://schemas.microsoft.com/office/drawing/2014/main" id="{A6DC26FA-CE8B-49C6-AC9B-94008151F2E4}"/>
              </a:ext>
            </a:extLst>
          </p:cNvPr>
          <p:cNvSpPr/>
          <p:nvPr/>
        </p:nvSpPr>
        <p:spPr bwMode="gray">
          <a:xfrm>
            <a:off x="8241017" y="4277748"/>
            <a:ext cx="2128681" cy="1109682"/>
          </a:xfrm>
          <a:custGeom>
            <a:avLst/>
            <a:gdLst>
              <a:gd name="connsiteX0" fmla="*/ 109381 w 2128681"/>
              <a:gd name="connsiteY0" fmla="*/ 0 h 1310452"/>
              <a:gd name="connsiteX1" fmla="*/ 172881 w 2128681"/>
              <a:gd name="connsiteY1" fmla="*/ 723900 h 1310452"/>
              <a:gd name="connsiteX2" fmla="*/ 134781 w 2128681"/>
              <a:gd name="connsiteY2" fmla="*/ 1270000 h 1310452"/>
              <a:gd name="connsiteX3" fmla="*/ 2128681 w 2128681"/>
              <a:gd name="connsiteY3" fmla="*/ 1270000 h 131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681" h="1310452">
                <a:moveTo>
                  <a:pt x="109381" y="0"/>
                </a:moveTo>
                <a:cubicBezTo>
                  <a:pt x="139014" y="256116"/>
                  <a:pt x="168648" y="512233"/>
                  <a:pt x="172881" y="723900"/>
                </a:cubicBezTo>
                <a:cubicBezTo>
                  <a:pt x="177114" y="935567"/>
                  <a:pt x="-191186" y="1178983"/>
                  <a:pt x="134781" y="1270000"/>
                </a:cubicBezTo>
                <a:cubicBezTo>
                  <a:pt x="460748" y="1361017"/>
                  <a:pt x="2128681" y="1270000"/>
                  <a:pt x="2128681" y="1270000"/>
                </a:cubicBezTo>
              </a:path>
            </a:pathLst>
          </a:custGeom>
          <a:noFill/>
          <a:ln w="38100">
            <a:solidFill>
              <a:srgbClr val="30B5C5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="" xmlns:a16="http://schemas.microsoft.com/office/drawing/2014/main" id="{117D13E1-1805-4276-921D-6A315A5F3C7F}"/>
              </a:ext>
            </a:extLst>
          </p:cNvPr>
          <p:cNvSpPr txBox="1"/>
          <p:nvPr/>
        </p:nvSpPr>
        <p:spPr bwMode="gray">
          <a:xfrm>
            <a:off x="8761486" y="4637835"/>
            <a:ext cx="149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FRR</a:t>
            </a:r>
            <a:endParaRPr lang="zh-CN" altLang="en-US" sz="1400" b="1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3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="" xmlns:a16="http://schemas.microsoft.com/office/drawing/2014/main" id="{AEB07498-1321-43C0-8D83-B053E529A6DF}"/>
              </a:ext>
            </a:extLst>
          </p:cNvPr>
          <p:cNvSpPr/>
          <p:nvPr/>
        </p:nvSpPr>
        <p:spPr bwMode="gray">
          <a:xfrm>
            <a:off x="2403644" y="3335050"/>
            <a:ext cx="5716960" cy="2650737"/>
          </a:xfrm>
          <a:prstGeom prst="rect">
            <a:avLst/>
          </a:prstGeom>
          <a:solidFill>
            <a:srgbClr val="BEE9EE"/>
          </a:solidFill>
          <a:ln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224D1A2-D7DD-45A0-9249-3607F1F60E5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小结：网络多级保护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AED4461-9E35-4760-9A64-1B9D52310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综上，隧道的可靠性根据端到端路径的故障位置有不同的保护措施。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从端到端转发路径看，建议综合采用多级保护：</a:t>
            </a:r>
          </a:p>
        </p:txBody>
      </p:sp>
      <p:sp>
        <p:nvSpPr>
          <p:cNvPr id="4" name="圆角矩形 75">
            <a:extLst>
              <a:ext uri="{FF2B5EF4-FFF2-40B4-BE49-F238E27FC236}">
                <a16:creationId xmlns="" xmlns:a16="http://schemas.microsoft.com/office/drawing/2014/main" id="{0214E76F-68A1-4076-A1CD-1019129A926A}"/>
              </a:ext>
            </a:extLst>
          </p:cNvPr>
          <p:cNvSpPr/>
          <p:nvPr/>
        </p:nvSpPr>
        <p:spPr bwMode="gray">
          <a:xfrm>
            <a:off x="3143241" y="2566847"/>
            <a:ext cx="2578586" cy="35708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隧道中间链路、节点保护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75">
            <a:extLst>
              <a:ext uri="{FF2B5EF4-FFF2-40B4-BE49-F238E27FC236}">
                <a16:creationId xmlns="" xmlns:a16="http://schemas.microsoft.com/office/drawing/2014/main" id="{1C7CF7FE-E662-4B3D-B969-BC5E36BC82B9}"/>
              </a:ext>
            </a:extLst>
          </p:cNvPr>
          <p:cNvSpPr/>
          <p:nvPr/>
        </p:nvSpPr>
        <p:spPr bwMode="gray">
          <a:xfrm>
            <a:off x="6320592" y="2566847"/>
            <a:ext cx="1736726" cy="35708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隧道尾节点保护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153DF33-82B3-4577-9734-522B5EB6D2F1}"/>
              </a:ext>
            </a:extLst>
          </p:cNvPr>
          <p:cNvCxnSpPr>
            <a:cxnSpLocks/>
            <a:stCxn id="17" idx="3"/>
            <a:endCxn id="40" idx="1"/>
          </p:cNvCxnSpPr>
          <p:nvPr/>
        </p:nvCxnSpPr>
        <p:spPr bwMode="gray">
          <a:xfrm>
            <a:off x="8220138" y="3912198"/>
            <a:ext cx="11099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="" xmlns:a16="http://schemas.microsoft.com/office/drawing/2014/main" id="{BD8C4D14-565C-46D3-8CCF-B3F14543007E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 bwMode="gray">
          <a:xfrm>
            <a:off x="8220138" y="5387280"/>
            <a:ext cx="11099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="" xmlns:a16="http://schemas.microsoft.com/office/drawing/2014/main" id="{3D2E776F-0544-448A-9777-0407E21AC9B6}"/>
              </a:ext>
            </a:extLst>
          </p:cNvPr>
          <p:cNvCxnSpPr>
            <a:cxnSpLocks/>
            <a:stCxn id="13" idx="1"/>
            <a:endCxn id="17" idx="1"/>
          </p:cNvCxnSpPr>
          <p:nvPr/>
        </p:nvCxnSpPr>
        <p:spPr bwMode="gray">
          <a:xfrm>
            <a:off x="4098636" y="3912198"/>
            <a:ext cx="358150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96C696BD-F664-4618-9759-99231D53E51F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 bwMode="gray">
          <a:xfrm>
            <a:off x="4095844" y="5387280"/>
            <a:ext cx="35842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B57D1388-D428-47A9-9D00-B1D506ED75DD}"/>
              </a:ext>
            </a:extLst>
          </p:cNvPr>
          <p:cNvCxnSpPr>
            <a:cxnSpLocks/>
            <a:stCxn id="100" idx="3"/>
            <a:endCxn id="14" idx="1"/>
          </p:cNvCxnSpPr>
          <p:nvPr/>
        </p:nvCxnSpPr>
        <p:spPr bwMode="gray">
          <a:xfrm>
            <a:off x="2847885" y="5387280"/>
            <a:ext cx="124795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D7FB8FCE-C702-4B49-97F9-1F5CE6F57EA8}"/>
              </a:ext>
            </a:extLst>
          </p:cNvPr>
          <p:cNvCxnSpPr>
            <a:cxnSpLocks/>
            <a:stCxn id="99" idx="3"/>
            <a:endCxn id="13" idx="1"/>
          </p:cNvCxnSpPr>
          <p:nvPr/>
        </p:nvCxnSpPr>
        <p:spPr bwMode="gray">
          <a:xfrm>
            <a:off x="2847885" y="3912198"/>
            <a:ext cx="125075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9D64A4A1-447F-4146-A6DA-D67C43A9A21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8636" y="3690798"/>
            <a:ext cx="540000" cy="4428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EA0E3851-FDDE-4067-889C-E5101568C3A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5844" y="5165880"/>
            <a:ext cx="540000" cy="442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42D62385-C9D2-4B4D-B2E3-2BEADB51383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89387" y="3690798"/>
            <a:ext cx="540000" cy="4428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A6C08570-14C8-4EDF-9114-F380D635594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87991" y="5165880"/>
            <a:ext cx="540000" cy="442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AEC21757-0F17-4FCB-A2F3-FD20F917B33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80138" y="3690798"/>
            <a:ext cx="540000" cy="442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80917C1F-A20D-4D82-A699-A0D48EBB45D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80138" y="5165880"/>
            <a:ext cx="540000" cy="442800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1247804C-CD8E-49B7-BAD3-68118C80488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 bwMode="gray">
          <a:xfrm flipH="1">
            <a:off x="4365844" y="4133598"/>
            <a:ext cx="2792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76981A59-1CB1-4812-AD6A-A12D96AD45E5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 bwMode="gray">
          <a:xfrm flipH="1">
            <a:off x="6157991" y="4133598"/>
            <a:ext cx="1396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="" xmlns:a16="http://schemas.microsoft.com/office/drawing/2014/main" id="{E2195A25-737C-4065-B266-B8D87857A1E4}"/>
              </a:ext>
            </a:extLst>
          </p:cNvPr>
          <p:cNvCxnSpPr>
            <a:cxnSpLocks/>
          </p:cNvCxnSpPr>
          <p:nvPr/>
        </p:nvCxnSpPr>
        <p:spPr bwMode="gray">
          <a:xfrm>
            <a:off x="7950138" y="413359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109C12EA-9C12-494E-9259-AA585681240C}"/>
              </a:ext>
            </a:extLst>
          </p:cNvPr>
          <p:cNvSpPr txBox="1"/>
          <p:nvPr/>
        </p:nvSpPr>
        <p:spPr bwMode="gray">
          <a:xfrm>
            <a:off x="2307885" y="5627956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10CB2897-7120-4131-A9AE-AD2098DC5058}"/>
              </a:ext>
            </a:extLst>
          </p:cNvPr>
          <p:cNvSpPr txBox="1"/>
          <p:nvPr/>
        </p:nvSpPr>
        <p:spPr bwMode="gray">
          <a:xfrm>
            <a:off x="4360970" y="413789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4CB1DA05-017B-4073-BDBF-2549C322C919}"/>
              </a:ext>
            </a:extLst>
          </p:cNvPr>
          <p:cNvSpPr txBox="1"/>
          <p:nvPr/>
        </p:nvSpPr>
        <p:spPr bwMode="gray">
          <a:xfrm>
            <a:off x="3845879" y="561526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02167190-DB02-4C33-88AE-A9B149AC1C84}"/>
              </a:ext>
            </a:extLst>
          </p:cNvPr>
          <p:cNvSpPr txBox="1"/>
          <p:nvPr/>
        </p:nvSpPr>
        <p:spPr bwMode="gray">
          <a:xfrm>
            <a:off x="5775685" y="561526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27DFF317-7AA8-42B4-8853-73CACE264AAD}"/>
              </a:ext>
            </a:extLst>
          </p:cNvPr>
          <p:cNvSpPr txBox="1"/>
          <p:nvPr/>
        </p:nvSpPr>
        <p:spPr bwMode="gray">
          <a:xfrm>
            <a:off x="6139350" y="411643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C26DDDBD-A16C-4773-B07F-37825F233E33}"/>
              </a:ext>
            </a:extLst>
          </p:cNvPr>
          <p:cNvSpPr txBox="1"/>
          <p:nvPr/>
        </p:nvSpPr>
        <p:spPr bwMode="gray">
          <a:xfrm>
            <a:off x="7925338" y="4116431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7A4661E6-AEAD-4342-9948-F27FA8787C70}"/>
              </a:ext>
            </a:extLst>
          </p:cNvPr>
          <p:cNvSpPr txBox="1"/>
          <p:nvPr/>
        </p:nvSpPr>
        <p:spPr bwMode="gray">
          <a:xfrm>
            <a:off x="7775356" y="561526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="" xmlns:a16="http://schemas.microsoft.com/office/drawing/2014/main" id="{4225A485-9F7A-458C-850F-9D5AE4145C0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7120" y="4428339"/>
            <a:ext cx="540000" cy="442800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="" xmlns:a16="http://schemas.microsoft.com/office/drawing/2014/main" id="{0E8BAE5E-7EBD-4CCC-8211-5E39C29823CA}"/>
              </a:ext>
            </a:extLst>
          </p:cNvPr>
          <p:cNvCxnSpPr>
            <a:cxnSpLocks/>
            <a:stCxn id="31" idx="3"/>
            <a:endCxn id="99" idx="1"/>
          </p:cNvCxnSpPr>
          <p:nvPr/>
        </p:nvCxnSpPr>
        <p:spPr bwMode="gray">
          <a:xfrm flipV="1">
            <a:off x="1297120" y="3912198"/>
            <a:ext cx="1010765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="" xmlns:a16="http://schemas.microsoft.com/office/drawing/2014/main" id="{C8399180-C752-48F7-9926-B4573E0A872E}"/>
              </a:ext>
            </a:extLst>
          </p:cNvPr>
          <p:cNvSpPr txBox="1"/>
          <p:nvPr/>
        </p:nvSpPr>
        <p:spPr bwMode="gray">
          <a:xfrm>
            <a:off x="782350" y="4871139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32B185D6-4E74-4B36-8A48-F4CCD6A0E930}"/>
              </a:ext>
            </a:extLst>
          </p:cNvPr>
          <p:cNvSpPr txBox="1"/>
          <p:nvPr/>
        </p:nvSpPr>
        <p:spPr bwMode="gray">
          <a:xfrm>
            <a:off x="9699647" y="4115554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="" xmlns:a16="http://schemas.microsoft.com/office/drawing/2014/main" id="{3C31BA84-9528-4069-9FCE-A75F8541799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30123" y="3690798"/>
            <a:ext cx="540000" cy="4428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="" xmlns:a16="http://schemas.microsoft.com/office/drawing/2014/main" id="{9EA5142D-D829-4A2B-ACCE-CAF65CD137D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30123" y="5165880"/>
            <a:ext cx="540000" cy="44280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847F58BC-4451-4920-B497-75FABF06EFFA}"/>
              </a:ext>
            </a:extLst>
          </p:cNvPr>
          <p:cNvSpPr txBox="1"/>
          <p:nvPr/>
        </p:nvSpPr>
        <p:spPr bwMode="gray">
          <a:xfrm>
            <a:off x="9356747" y="5615263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="" xmlns:a16="http://schemas.microsoft.com/office/drawing/2014/main" id="{FF7A76CD-B86B-4429-A810-24ADA0EC61F6}"/>
              </a:ext>
            </a:extLst>
          </p:cNvPr>
          <p:cNvCxnSpPr>
            <a:cxnSpLocks/>
          </p:cNvCxnSpPr>
          <p:nvPr/>
        </p:nvCxnSpPr>
        <p:spPr bwMode="gray">
          <a:xfrm>
            <a:off x="9600123" y="413359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D8AED125-A07F-43F7-9AD8-59652C0448BB}"/>
              </a:ext>
            </a:extLst>
          </p:cNvPr>
          <p:cNvGrpSpPr/>
          <p:nvPr/>
        </p:nvGrpSpPr>
        <p:grpSpPr bwMode="gray">
          <a:xfrm>
            <a:off x="5057072" y="3752365"/>
            <a:ext cx="288000" cy="288000"/>
            <a:chOff x="856677" y="2615810"/>
            <a:chExt cx="288000" cy="288000"/>
          </a:xfrm>
        </p:grpSpPr>
        <p:sp>
          <p:nvSpPr>
            <p:cNvPr id="58" name="椭圆 57">
              <a:extLst>
                <a:ext uri="{FF2B5EF4-FFF2-40B4-BE49-F238E27FC236}">
                  <a16:creationId xmlns="" xmlns:a16="http://schemas.microsoft.com/office/drawing/2014/main" id="{0CD962DF-6314-47C3-892C-6CE236AB7D01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="" xmlns:a16="http://schemas.microsoft.com/office/drawing/2014/main" id="{BE50B857-D787-464E-83B5-1DBCE17CE0D4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0" name="直接连接符 59">
                <a:extLst>
                  <a:ext uri="{FF2B5EF4-FFF2-40B4-BE49-F238E27FC236}">
                    <a16:creationId xmlns="" xmlns:a16="http://schemas.microsoft.com/office/drawing/2014/main" id="{FC18BF92-7BF6-48E5-AABD-62926A1655A9}"/>
                  </a:ext>
                </a:extLst>
              </p:cNvPr>
              <p:cNvCxnSpPr>
                <a:stCxn id="58" idx="3"/>
                <a:endCxn id="5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="" xmlns:a16="http://schemas.microsoft.com/office/drawing/2014/main" id="{2E57C195-EAEA-4F25-B770-F1802D6AE39F}"/>
                  </a:ext>
                </a:extLst>
              </p:cNvPr>
              <p:cNvCxnSpPr>
                <a:stCxn id="58" idx="1"/>
                <a:endCxn id="5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>
            <a:extLst>
              <a:ext uri="{FF2B5EF4-FFF2-40B4-BE49-F238E27FC236}">
                <a16:creationId xmlns="" xmlns:a16="http://schemas.microsoft.com/office/drawing/2014/main" id="{71076DB8-0080-4BE7-8CD3-A6B68A38015C}"/>
              </a:ext>
            </a:extLst>
          </p:cNvPr>
          <p:cNvGrpSpPr/>
          <p:nvPr/>
        </p:nvGrpSpPr>
        <p:grpSpPr bwMode="gray">
          <a:xfrm>
            <a:off x="6912133" y="3756832"/>
            <a:ext cx="288000" cy="288000"/>
            <a:chOff x="856677" y="2615810"/>
            <a:chExt cx="288000" cy="288000"/>
          </a:xfrm>
        </p:grpSpPr>
        <p:sp>
          <p:nvSpPr>
            <p:cNvPr id="68" name="椭圆 67">
              <a:extLst>
                <a:ext uri="{FF2B5EF4-FFF2-40B4-BE49-F238E27FC236}">
                  <a16:creationId xmlns="" xmlns:a16="http://schemas.microsoft.com/office/drawing/2014/main" id="{8ED0908A-23D5-4627-A94A-860B0D11F7F5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="" xmlns:a16="http://schemas.microsoft.com/office/drawing/2014/main" id="{D499D176-1CAE-455F-A217-AF8D119167EB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="" xmlns:a16="http://schemas.microsoft.com/office/drawing/2014/main" id="{E2DB3F53-D5C0-4A39-8460-0E4ABD510B95}"/>
                  </a:ext>
                </a:extLst>
              </p:cNvPr>
              <p:cNvCxnSpPr>
                <a:stCxn id="68" idx="3"/>
                <a:endCxn id="6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="" xmlns:a16="http://schemas.microsoft.com/office/drawing/2014/main" id="{BB9ACBB1-C107-4C9B-8A57-1EF3D83DEC9D}"/>
                  </a:ext>
                </a:extLst>
              </p:cNvPr>
              <p:cNvCxnSpPr>
                <a:stCxn id="68" idx="1"/>
                <a:endCxn id="6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7" name="组合 76">
            <a:extLst>
              <a:ext uri="{FF2B5EF4-FFF2-40B4-BE49-F238E27FC236}">
                <a16:creationId xmlns="" xmlns:a16="http://schemas.microsoft.com/office/drawing/2014/main" id="{9E02AF2E-EDA8-4152-9F11-32F17DB5C0AE}"/>
              </a:ext>
            </a:extLst>
          </p:cNvPr>
          <p:cNvGrpSpPr/>
          <p:nvPr/>
        </p:nvGrpSpPr>
        <p:grpSpPr bwMode="gray">
          <a:xfrm>
            <a:off x="8508978" y="3769698"/>
            <a:ext cx="288000" cy="288000"/>
            <a:chOff x="856677" y="2615810"/>
            <a:chExt cx="288000" cy="288000"/>
          </a:xfrm>
        </p:grpSpPr>
        <p:sp>
          <p:nvSpPr>
            <p:cNvPr id="78" name="椭圆 77">
              <a:extLst>
                <a:ext uri="{FF2B5EF4-FFF2-40B4-BE49-F238E27FC236}">
                  <a16:creationId xmlns="" xmlns:a16="http://schemas.microsoft.com/office/drawing/2014/main" id="{02060796-5A36-42EA-A396-8E9C09E5CDCE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="" xmlns:a16="http://schemas.microsoft.com/office/drawing/2014/main" id="{2AC65621-08A7-4B74-A434-5C11AD950FCE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80" name="直接连接符 79">
                <a:extLst>
                  <a:ext uri="{FF2B5EF4-FFF2-40B4-BE49-F238E27FC236}">
                    <a16:creationId xmlns="" xmlns:a16="http://schemas.microsoft.com/office/drawing/2014/main" id="{B7B78309-C35B-4A1E-AE9B-F11DC6124BD4}"/>
                  </a:ext>
                </a:extLst>
              </p:cNvPr>
              <p:cNvCxnSpPr>
                <a:stCxn id="78" idx="3"/>
                <a:endCxn id="78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="" xmlns:a16="http://schemas.microsoft.com/office/drawing/2014/main" id="{9D66E68B-639C-4B95-B621-B77C82A3D949}"/>
                  </a:ext>
                </a:extLst>
              </p:cNvPr>
              <p:cNvCxnSpPr>
                <a:stCxn id="78" idx="1"/>
                <a:endCxn id="78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任意多边形: 形状 86">
            <a:extLst>
              <a:ext uri="{FF2B5EF4-FFF2-40B4-BE49-F238E27FC236}">
                <a16:creationId xmlns="" xmlns:a16="http://schemas.microsoft.com/office/drawing/2014/main" id="{7069E751-CA6C-4090-AAA0-437826A43535}"/>
              </a:ext>
            </a:extLst>
          </p:cNvPr>
          <p:cNvSpPr/>
          <p:nvPr/>
        </p:nvSpPr>
        <p:spPr bwMode="gray">
          <a:xfrm>
            <a:off x="1154422" y="3578379"/>
            <a:ext cx="8348597" cy="940529"/>
          </a:xfrm>
          <a:custGeom>
            <a:avLst/>
            <a:gdLst>
              <a:gd name="connsiteX0" fmla="*/ 0 w 5046562"/>
              <a:gd name="connsiteY0" fmla="*/ 810255 h 810255"/>
              <a:gd name="connsiteX1" fmla="*/ 787079 w 5046562"/>
              <a:gd name="connsiteY1" fmla="*/ 405141 h 810255"/>
              <a:gd name="connsiteX2" fmla="*/ 1458410 w 5046562"/>
              <a:gd name="connsiteY2" fmla="*/ 81050 h 810255"/>
              <a:gd name="connsiteX3" fmla="*/ 2164466 w 5046562"/>
              <a:gd name="connsiteY3" fmla="*/ 115774 h 810255"/>
              <a:gd name="connsiteX4" fmla="*/ 3125165 w 5046562"/>
              <a:gd name="connsiteY4" fmla="*/ 115774 h 810255"/>
              <a:gd name="connsiteX5" fmla="*/ 3692324 w 5046562"/>
              <a:gd name="connsiteY5" fmla="*/ 27 h 810255"/>
              <a:gd name="connsiteX6" fmla="*/ 5046562 w 5046562"/>
              <a:gd name="connsiteY6" fmla="*/ 104199 h 810255"/>
              <a:gd name="connsiteX0" fmla="*/ 0 w 6805159"/>
              <a:gd name="connsiteY0" fmla="*/ 810244 h 810244"/>
              <a:gd name="connsiteX1" fmla="*/ 787079 w 6805159"/>
              <a:gd name="connsiteY1" fmla="*/ 405130 h 810244"/>
              <a:gd name="connsiteX2" fmla="*/ 1458410 w 6805159"/>
              <a:gd name="connsiteY2" fmla="*/ 81039 h 810244"/>
              <a:gd name="connsiteX3" fmla="*/ 2164466 w 6805159"/>
              <a:gd name="connsiteY3" fmla="*/ 115763 h 810244"/>
              <a:gd name="connsiteX4" fmla="*/ 3125165 w 6805159"/>
              <a:gd name="connsiteY4" fmla="*/ 115763 h 810244"/>
              <a:gd name="connsiteX5" fmla="*/ 3692324 w 6805159"/>
              <a:gd name="connsiteY5" fmla="*/ 16 h 810244"/>
              <a:gd name="connsiteX6" fmla="*/ 6805159 w 6805159"/>
              <a:gd name="connsiteY6" fmla="*/ 189416 h 810244"/>
              <a:gd name="connsiteX0" fmla="*/ 0 w 6805159"/>
              <a:gd name="connsiteY0" fmla="*/ 810354 h 810354"/>
              <a:gd name="connsiteX1" fmla="*/ 787079 w 6805159"/>
              <a:gd name="connsiteY1" fmla="*/ 405240 h 810354"/>
              <a:gd name="connsiteX2" fmla="*/ 1458410 w 6805159"/>
              <a:gd name="connsiteY2" fmla="*/ 81149 h 810354"/>
              <a:gd name="connsiteX3" fmla="*/ 2164466 w 6805159"/>
              <a:gd name="connsiteY3" fmla="*/ 115873 h 810354"/>
              <a:gd name="connsiteX4" fmla="*/ 3125165 w 6805159"/>
              <a:gd name="connsiteY4" fmla="*/ 115873 h 810354"/>
              <a:gd name="connsiteX5" fmla="*/ 3692324 w 6805159"/>
              <a:gd name="connsiteY5" fmla="*/ 126 h 810354"/>
              <a:gd name="connsiteX6" fmla="*/ 5165444 w 6805159"/>
              <a:gd name="connsiteY6" fmla="*/ 95346 h 810354"/>
              <a:gd name="connsiteX7" fmla="*/ 6805159 w 6805159"/>
              <a:gd name="connsiteY7" fmla="*/ 189526 h 810354"/>
              <a:gd name="connsiteX0" fmla="*/ 0 w 6805159"/>
              <a:gd name="connsiteY0" fmla="*/ 810278 h 810278"/>
              <a:gd name="connsiteX1" fmla="*/ 787079 w 6805159"/>
              <a:gd name="connsiteY1" fmla="*/ 405164 h 810278"/>
              <a:gd name="connsiteX2" fmla="*/ 1458410 w 6805159"/>
              <a:gd name="connsiteY2" fmla="*/ 81073 h 810278"/>
              <a:gd name="connsiteX3" fmla="*/ 2164466 w 6805159"/>
              <a:gd name="connsiteY3" fmla="*/ 115797 h 810278"/>
              <a:gd name="connsiteX4" fmla="*/ 3125165 w 6805159"/>
              <a:gd name="connsiteY4" fmla="*/ 115797 h 810278"/>
              <a:gd name="connsiteX5" fmla="*/ 3692324 w 6805159"/>
              <a:gd name="connsiteY5" fmla="*/ 50 h 810278"/>
              <a:gd name="connsiteX6" fmla="*/ 5106032 w 6805159"/>
              <a:gd name="connsiteY6" fmla="*/ 201805 h 810278"/>
              <a:gd name="connsiteX7" fmla="*/ 6805159 w 6805159"/>
              <a:gd name="connsiteY7" fmla="*/ 189450 h 810278"/>
              <a:gd name="connsiteX0" fmla="*/ 0 w 7945870"/>
              <a:gd name="connsiteY0" fmla="*/ 788971 h 788971"/>
              <a:gd name="connsiteX1" fmla="*/ 1927790 w 7945870"/>
              <a:gd name="connsiteY1" fmla="*/ 405164 h 788971"/>
              <a:gd name="connsiteX2" fmla="*/ 2599121 w 7945870"/>
              <a:gd name="connsiteY2" fmla="*/ 81073 h 788971"/>
              <a:gd name="connsiteX3" fmla="*/ 3305177 w 7945870"/>
              <a:gd name="connsiteY3" fmla="*/ 115797 h 788971"/>
              <a:gd name="connsiteX4" fmla="*/ 4265876 w 7945870"/>
              <a:gd name="connsiteY4" fmla="*/ 115797 h 788971"/>
              <a:gd name="connsiteX5" fmla="*/ 4833035 w 7945870"/>
              <a:gd name="connsiteY5" fmla="*/ 50 h 788971"/>
              <a:gd name="connsiteX6" fmla="*/ 6246743 w 7945870"/>
              <a:gd name="connsiteY6" fmla="*/ 201805 h 788971"/>
              <a:gd name="connsiteX7" fmla="*/ 7945870 w 7945870"/>
              <a:gd name="connsiteY7" fmla="*/ 189450 h 788971"/>
              <a:gd name="connsiteX0" fmla="*/ 0 w 7945870"/>
              <a:gd name="connsiteY0" fmla="*/ 788971 h 788971"/>
              <a:gd name="connsiteX1" fmla="*/ 1106663 w 7945870"/>
              <a:gd name="connsiteY1" fmla="*/ 574678 h 788971"/>
              <a:gd name="connsiteX2" fmla="*/ 1927790 w 7945870"/>
              <a:gd name="connsiteY2" fmla="*/ 405164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1106663 w 7945870"/>
              <a:gd name="connsiteY1" fmla="*/ 723827 h 788971"/>
              <a:gd name="connsiteX2" fmla="*/ 1927790 w 7945870"/>
              <a:gd name="connsiteY2" fmla="*/ 405164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964074 w 7945870"/>
              <a:gd name="connsiteY1" fmla="*/ 297687 h 788971"/>
              <a:gd name="connsiteX2" fmla="*/ 1927790 w 7945870"/>
              <a:gd name="connsiteY2" fmla="*/ 405164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964074 w 7945870"/>
              <a:gd name="connsiteY1" fmla="*/ 297687 h 788971"/>
              <a:gd name="connsiteX2" fmla="*/ 1535671 w 7945870"/>
              <a:gd name="connsiteY2" fmla="*/ 128173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535671 w 7945870"/>
              <a:gd name="connsiteY2" fmla="*/ 128173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464376 w 7945870"/>
              <a:gd name="connsiteY2" fmla="*/ 85559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464376 w 7945870"/>
              <a:gd name="connsiteY2" fmla="*/ 85559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464376 w 7945870"/>
              <a:gd name="connsiteY2" fmla="*/ 85559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464376 w 7945870"/>
              <a:gd name="connsiteY2" fmla="*/ 85559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  <a:gd name="connsiteX0" fmla="*/ 0 w 7945870"/>
              <a:gd name="connsiteY0" fmla="*/ 788971 h 788971"/>
              <a:gd name="connsiteX1" fmla="*/ 880897 w 7945870"/>
              <a:gd name="connsiteY1" fmla="*/ 191152 h 788971"/>
              <a:gd name="connsiteX2" fmla="*/ 1404964 w 7945870"/>
              <a:gd name="connsiteY2" fmla="*/ 53599 h 788971"/>
              <a:gd name="connsiteX3" fmla="*/ 2599121 w 7945870"/>
              <a:gd name="connsiteY3" fmla="*/ 81073 h 788971"/>
              <a:gd name="connsiteX4" fmla="*/ 3305177 w 7945870"/>
              <a:gd name="connsiteY4" fmla="*/ 115797 h 788971"/>
              <a:gd name="connsiteX5" fmla="*/ 4265876 w 7945870"/>
              <a:gd name="connsiteY5" fmla="*/ 115797 h 788971"/>
              <a:gd name="connsiteX6" fmla="*/ 4833035 w 7945870"/>
              <a:gd name="connsiteY6" fmla="*/ 50 h 788971"/>
              <a:gd name="connsiteX7" fmla="*/ 6246743 w 7945870"/>
              <a:gd name="connsiteY7" fmla="*/ 201805 h 788971"/>
              <a:gd name="connsiteX8" fmla="*/ 7945870 w 7945870"/>
              <a:gd name="connsiteY8" fmla="*/ 189450 h 788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45870" h="788971">
                <a:moveTo>
                  <a:pt x="0" y="788971"/>
                </a:moveTo>
                <a:lnTo>
                  <a:pt x="880897" y="191152"/>
                </a:lnTo>
                <a:cubicBezTo>
                  <a:pt x="1075390" y="155954"/>
                  <a:pt x="1044117" y="88798"/>
                  <a:pt x="1404964" y="53599"/>
                </a:cubicBezTo>
                <a:cubicBezTo>
                  <a:pt x="1766856" y="6639"/>
                  <a:pt x="2282419" y="70707"/>
                  <a:pt x="2599121" y="81073"/>
                </a:cubicBezTo>
                <a:cubicBezTo>
                  <a:pt x="2915823" y="91439"/>
                  <a:pt x="3027385" y="110010"/>
                  <a:pt x="3305177" y="115797"/>
                </a:cubicBezTo>
                <a:cubicBezTo>
                  <a:pt x="3582969" y="121584"/>
                  <a:pt x="4011233" y="135088"/>
                  <a:pt x="4265876" y="115797"/>
                </a:cubicBezTo>
                <a:cubicBezTo>
                  <a:pt x="4520519" y="96506"/>
                  <a:pt x="4492989" y="3471"/>
                  <a:pt x="4833035" y="50"/>
                </a:cubicBezTo>
                <a:cubicBezTo>
                  <a:pt x="5173081" y="-3371"/>
                  <a:pt x="5727937" y="170238"/>
                  <a:pt x="6246743" y="201805"/>
                </a:cubicBezTo>
                <a:lnTo>
                  <a:pt x="7945870" y="189450"/>
                </a:ln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="" xmlns:a16="http://schemas.microsoft.com/office/drawing/2014/main" id="{6B2715C4-9C4A-4123-9EB3-3FBFE9BACE80}"/>
              </a:ext>
            </a:extLst>
          </p:cNvPr>
          <p:cNvGrpSpPr/>
          <p:nvPr/>
        </p:nvGrpSpPr>
        <p:grpSpPr bwMode="gray">
          <a:xfrm>
            <a:off x="3926438" y="3523451"/>
            <a:ext cx="288000" cy="288000"/>
            <a:chOff x="856677" y="2615810"/>
            <a:chExt cx="288000" cy="288000"/>
          </a:xfrm>
        </p:grpSpPr>
        <p:sp>
          <p:nvSpPr>
            <p:cNvPr id="53" name="椭圆 52">
              <a:extLst>
                <a:ext uri="{FF2B5EF4-FFF2-40B4-BE49-F238E27FC236}">
                  <a16:creationId xmlns="" xmlns:a16="http://schemas.microsoft.com/office/drawing/2014/main" id="{F2EE4AC6-DF2F-495B-AC7C-62D1EDD422E7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="" xmlns:a16="http://schemas.microsoft.com/office/drawing/2014/main" id="{48A30D2E-8AE1-45A6-8F2D-D23BB4394922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55" name="直接连接符 54">
                <a:extLst>
                  <a:ext uri="{FF2B5EF4-FFF2-40B4-BE49-F238E27FC236}">
                    <a16:creationId xmlns="" xmlns:a16="http://schemas.microsoft.com/office/drawing/2014/main" id="{E4BE4929-450F-463C-8F2C-28757BB71983}"/>
                  </a:ext>
                </a:extLst>
              </p:cNvPr>
              <p:cNvCxnSpPr>
                <a:stCxn id="53" idx="3"/>
                <a:endCxn id="5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="" xmlns:a16="http://schemas.microsoft.com/office/drawing/2014/main" id="{75DB0A17-47A9-4068-B530-D5A3D47AB2D3}"/>
                  </a:ext>
                </a:extLst>
              </p:cNvPr>
              <p:cNvCxnSpPr>
                <a:stCxn id="53" idx="1"/>
                <a:endCxn id="5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5E0D3977-DB06-429A-BF28-7F93A08E0AEC}"/>
              </a:ext>
            </a:extLst>
          </p:cNvPr>
          <p:cNvGrpSpPr/>
          <p:nvPr/>
        </p:nvGrpSpPr>
        <p:grpSpPr bwMode="gray">
          <a:xfrm>
            <a:off x="5861590" y="3523451"/>
            <a:ext cx="288000" cy="288000"/>
            <a:chOff x="856677" y="2615810"/>
            <a:chExt cx="288000" cy="288000"/>
          </a:xfrm>
        </p:grpSpPr>
        <p:sp>
          <p:nvSpPr>
            <p:cNvPr id="63" name="椭圆 62">
              <a:extLst>
                <a:ext uri="{FF2B5EF4-FFF2-40B4-BE49-F238E27FC236}">
                  <a16:creationId xmlns="" xmlns:a16="http://schemas.microsoft.com/office/drawing/2014/main" id="{B9AA01A1-2339-47F0-867B-D9D235904F3E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755A258D-9793-4292-B487-695534336291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65" name="直接连接符 64">
                <a:extLst>
                  <a:ext uri="{FF2B5EF4-FFF2-40B4-BE49-F238E27FC236}">
                    <a16:creationId xmlns="" xmlns:a16="http://schemas.microsoft.com/office/drawing/2014/main" id="{CA89852B-4607-47BB-89B9-03C74232A7AD}"/>
                  </a:ext>
                </a:extLst>
              </p:cNvPr>
              <p:cNvCxnSpPr>
                <a:stCxn id="63" idx="3"/>
                <a:endCxn id="6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="" xmlns:a16="http://schemas.microsoft.com/office/drawing/2014/main" id="{330259AD-5762-402D-ADF9-00088A3993E9}"/>
                  </a:ext>
                </a:extLst>
              </p:cNvPr>
              <p:cNvCxnSpPr>
                <a:stCxn id="63" idx="1"/>
                <a:endCxn id="6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" name="组合 71">
            <a:extLst>
              <a:ext uri="{FF2B5EF4-FFF2-40B4-BE49-F238E27FC236}">
                <a16:creationId xmlns="" xmlns:a16="http://schemas.microsoft.com/office/drawing/2014/main" id="{4DC294E8-8878-4C44-AD12-687F71FF967A}"/>
              </a:ext>
            </a:extLst>
          </p:cNvPr>
          <p:cNvGrpSpPr/>
          <p:nvPr/>
        </p:nvGrpSpPr>
        <p:grpSpPr bwMode="gray">
          <a:xfrm>
            <a:off x="7796981" y="3478116"/>
            <a:ext cx="288000" cy="288000"/>
            <a:chOff x="856677" y="2615810"/>
            <a:chExt cx="288000" cy="288000"/>
          </a:xfrm>
        </p:grpSpPr>
        <p:sp>
          <p:nvSpPr>
            <p:cNvPr id="73" name="椭圆 72">
              <a:extLst>
                <a:ext uri="{FF2B5EF4-FFF2-40B4-BE49-F238E27FC236}">
                  <a16:creationId xmlns="" xmlns:a16="http://schemas.microsoft.com/office/drawing/2014/main" id="{8251C534-8645-4F06-BEE0-B54A3EC30E84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="" xmlns:a16="http://schemas.microsoft.com/office/drawing/2014/main" id="{CCA24E49-3F8D-4FD8-B06C-544112D525EC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="" xmlns:a16="http://schemas.microsoft.com/office/drawing/2014/main" id="{3B81C3BC-D845-4609-83D2-A9B8B71E7C33}"/>
                  </a:ext>
                </a:extLst>
              </p:cNvPr>
              <p:cNvCxnSpPr>
                <a:stCxn id="73" idx="3"/>
                <a:endCxn id="7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="" xmlns:a16="http://schemas.microsoft.com/office/drawing/2014/main" id="{22F9CC7C-A1E7-4E88-BDCF-4B48B3308418}"/>
                  </a:ext>
                </a:extLst>
              </p:cNvPr>
              <p:cNvCxnSpPr>
                <a:stCxn id="73" idx="1"/>
                <a:endCxn id="7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组合 81">
            <a:extLst>
              <a:ext uri="{FF2B5EF4-FFF2-40B4-BE49-F238E27FC236}">
                <a16:creationId xmlns="" xmlns:a16="http://schemas.microsoft.com/office/drawing/2014/main" id="{E0339263-98EF-4DB7-A7B3-EA65D9FF3D28}"/>
              </a:ext>
            </a:extLst>
          </p:cNvPr>
          <p:cNvGrpSpPr/>
          <p:nvPr/>
        </p:nvGrpSpPr>
        <p:grpSpPr bwMode="gray">
          <a:xfrm>
            <a:off x="9436251" y="3489712"/>
            <a:ext cx="288000" cy="288000"/>
            <a:chOff x="856677" y="2615810"/>
            <a:chExt cx="288000" cy="288000"/>
          </a:xfrm>
        </p:grpSpPr>
        <p:sp>
          <p:nvSpPr>
            <p:cNvPr id="83" name="椭圆 82">
              <a:extLst>
                <a:ext uri="{FF2B5EF4-FFF2-40B4-BE49-F238E27FC236}">
                  <a16:creationId xmlns="" xmlns:a16="http://schemas.microsoft.com/office/drawing/2014/main" id="{9D0ED5ED-8F0E-4D10-BB70-334D7B8D25ED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="" xmlns:a16="http://schemas.microsoft.com/office/drawing/2014/main" id="{72E4E71B-1ECC-4775-92D9-ED064E73F4CF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="" xmlns:a16="http://schemas.microsoft.com/office/drawing/2014/main" id="{B01D0499-286F-404B-8132-E243D90EA1B4}"/>
                  </a:ext>
                </a:extLst>
              </p:cNvPr>
              <p:cNvCxnSpPr>
                <a:stCxn id="83" idx="3"/>
                <a:endCxn id="8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="" xmlns:a16="http://schemas.microsoft.com/office/drawing/2014/main" id="{826FD628-E368-4303-ACEF-61DE81F96003}"/>
                  </a:ext>
                </a:extLst>
              </p:cNvPr>
              <p:cNvCxnSpPr>
                <a:stCxn id="83" idx="1"/>
                <a:endCxn id="8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9" name="文本框 88">
            <a:extLst>
              <a:ext uri="{FF2B5EF4-FFF2-40B4-BE49-F238E27FC236}">
                <a16:creationId xmlns="" xmlns:a16="http://schemas.microsoft.com/office/drawing/2014/main" id="{62468160-69DF-4055-AEFD-3A9B89961F84}"/>
              </a:ext>
            </a:extLst>
          </p:cNvPr>
          <p:cNvSpPr txBox="1"/>
          <p:nvPr/>
        </p:nvSpPr>
        <p:spPr bwMode="gray">
          <a:xfrm>
            <a:off x="827728" y="3357653"/>
            <a:ext cx="1718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端到端路径</a:t>
            </a:r>
          </a:p>
        </p:txBody>
      </p:sp>
      <p:sp>
        <p:nvSpPr>
          <p:cNvPr id="90" name="圆角矩形 75">
            <a:extLst>
              <a:ext uri="{FF2B5EF4-FFF2-40B4-BE49-F238E27FC236}">
                <a16:creationId xmlns="" xmlns:a16="http://schemas.microsoft.com/office/drawing/2014/main" id="{95EF3550-49E9-460D-96FB-137E27970FA0}"/>
              </a:ext>
            </a:extLst>
          </p:cNvPr>
          <p:cNvSpPr/>
          <p:nvPr/>
        </p:nvSpPr>
        <p:spPr bwMode="gray">
          <a:xfrm>
            <a:off x="8656082" y="2566847"/>
            <a:ext cx="1736726" cy="35708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远端</a:t>
            </a:r>
            <a:r>
              <a:rPr lang="en-US" altLang="zh-CN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故障保护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圆角矩形 75">
            <a:extLst>
              <a:ext uri="{FF2B5EF4-FFF2-40B4-BE49-F238E27FC236}">
                <a16:creationId xmlns="" xmlns:a16="http://schemas.microsoft.com/office/drawing/2014/main" id="{4EDC8BA1-8075-45B3-8A6B-378CEAFFFEFD}"/>
              </a:ext>
            </a:extLst>
          </p:cNvPr>
          <p:cNvSpPr/>
          <p:nvPr/>
        </p:nvSpPr>
        <p:spPr bwMode="gray">
          <a:xfrm>
            <a:off x="807750" y="2566847"/>
            <a:ext cx="1736726" cy="35708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接入故障保护</a:t>
            </a:r>
          </a:p>
        </p:txBody>
      </p:sp>
      <p:pic>
        <p:nvPicPr>
          <p:cNvPr id="99" name="图片 98">
            <a:extLst>
              <a:ext uri="{FF2B5EF4-FFF2-40B4-BE49-F238E27FC236}">
                <a16:creationId xmlns="" xmlns:a16="http://schemas.microsoft.com/office/drawing/2014/main" id="{05CC4AFC-0166-468C-A9A4-834E01DB140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07885" y="3690798"/>
            <a:ext cx="540000" cy="442800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="" xmlns:a16="http://schemas.microsoft.com/office/drawing/2014/main" id="{80E292A5-3380-4216-9F46-FDFA87D502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07885" y="5165880"/>
            <a:ext cx="540000" cy="442800"/>
          </a:xfrm>
          <a:prstGeom prst="rect">
            <a:avLst/>
          </a:prstGeom>
        </p:spPr>
      </p:pic>
      <p:cxnSp>
        <p:nvCxnSpPr>
          <p:cNvPr id="101" name="直接连接符 100">
            <a:extLst>
              <a:ext uri="{FF2B5EF4-FFF2-40B4-BE49-F238E27FC236}">
                <a16:creationId xmlns="" xmlns:a16="http://schemas.microsoft.com/office/drawing/2014/main" id="{0AAB4DF8-303F-480D-999C-464445F42E9E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 bwMode="gray">
          <a:xfrm>
            <a:off x="2577885" y="4133598"/>
            <a:ext cx="0" cy="1032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="" xmlns:a16="http://schemas.microsoft.com/office/drawing/2014/main" id="{74571EEA-95E1-4FE5-AEAB-480A8366E218}"/>
              </a:ext>
            </a:extLst>
          </p:cNvPr>
          <p:cNvCxnSpPr>
            <a:cxnSpLocks/>
            <a:stCxn id="31" idx="3"/>
            <a:endCxn id="100" idx="1"/>
          </p:cNvCxnSpPr>
          <p:nvPr/>
        </p:nvCxnSpPr>
        <p:spPr bwMode="gray">
          <a:xfrm>
            <a:off x="1297120" y="4649739"/>
            <a:ext cx="1010765" cy="7375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="" xmlns:a16="http://schemas.microsoft.com/office/drawing/2014/main" id="{9F85C760-C7AD-464B-8EB7-C21CB7FE8FAC}"/>
              </a:ext>
            </a:extLst>
          </p:cNvPr>
          <p:cNvGrpSpPr/>
          <p:nvPr/>
        </p:nvGrpSpPr>
        <p:grpSpPr bwMode="gray">
          <a:xfrm>
            <a:off x="2444660" y="3561845"/>
            <a:ext cx="288000" cy="288000"/>
            <a:chOff x="856677" y="2615810"/>
            <a:chExt cx="288000" cy="288000"/>
          </a:xfrm>
        </p:grpSpPr>
        <p:sp>
          <p:nvSpPr>
            <p:cNvPr id="93" name="椭圆 92">
              <a:extLst>
                <a:ext uri="{FF2B5EF4-FFF2-40B4-BE49-F238E27FC236}">
                  <a16:creationId xmlns="" xmlns:a16="http://schemas.microsoft.com/office/drawing/2014/main" id="{9B83C642-C1D5-468F-BA67-F90B86C8CC2F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94" name="组合 93">
              <a:extLst>
                <a:ext uri="{FF2B5EF4-FFF2-40B4-BE49-F238E27FC236}">
                  <a16:creationId xmlns="" xmlns:a16="http://schemas.microsoft.com/office/drawing/2014/main" id="{48434BE2-B70C-413C-BD1D-EFA87A4408FC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="" xmlns:a16="http://schemas.microsoft.com/office/drawing/2014/main" id="{FE5F1FD0-1D33-4E11-88D2-EEC83DBE3944}"/>
                  </a:ext>
                </a:extLst>
              </p:cNvPr>
              <p:cNvCxnSpPr>
                <a:stCxn id="93" idx="3"/>
                <a:endCxn id="93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="" xmlns:a16="http://schemas.microsoft.com/office/drawing/2014/main" id="{61DEC13A-157F-449B-B154-06F79CD4069D}"/>
                  </a:ext>
                </a:extLst>
              </p:cNvPr>
              <p:cNvCxnSpPr>
                <a:stCxn id="93" idx="1"/>
                <a:endCxn id="93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" name="组合 107">
            <a:extLst>
              <a:ext uri="{FF2B5EF4-FFF2-40B4-BE49-F238E27FC236}">
                <a16:creationId xmlns="" xmlns:a16="http://schemas.microsoft.com/office/drawing/2014/main" id="{60AF5B74-605A-4476-AB93-847E76CA421E}"/>
              </a:ext>
            </a:extLst>
          </p:cNvPr>
          <p:cNvGrpSpPr/>
          <p:nvPr/>
        </p:nvGrpSpPr>
        <p:grpSpPr bwMode="gray">
          <a:xfrm>
            <a:off x="3256179" y="3769217"/>
            <a:ext cx="288000" cy="288000"/>
            <a:chOff x="856677" y="2615810"/>
            <a:chExt cx="288000" cy="288000"/>
          </a:xfrm>
        </p:grpSpPr>
        <p:sp>
          <p:nvSpPr>
            <p:cNvPr id="109" name="椭圆 108">
              <a:extLst>
                <a:ext uri="{FF2B5EF4-FFF2-40B4-BE49-F238E27FC236}">
                  <a16:creationId xmlns="" xmlns:a16="http://schemas.microsoft.com/office/drawing/2014/main" id="{13B9846C-5E2F-4BAA-BB55-453FCDED1DC6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="" xmlns:a16="http://schemas.microsoft.com/office/drawing/2014/main" id="{5AD636E1-7953-4A8A-A4A8-A47E5012FCDB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111" name="直接连接符 110">
                <a:extLst>
                  <a:ext uri="{FF2B5EF4-FFF2-40B4-BE49-F238E27FC236}">
                    <a16:creationId xmlns="" xmlns:a16="http://schemas.microsoft.com/office/drawing/2014/main" id="{E30A3214-4EBF-4DA0-89DC-92B30BAC22E5}"/>
                  </a:ext>
                </a:extLst>
              </p:cNvPr>
              <p:cNvCxnSpPr>
                <a:stCxn id="109" idx="3"/>
                <a:endCxn id="109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="" xmlns:a16="http://schemas.microsoft.com/office/drawing/2014/main" id="{A3369FBF-57D1-473B-B3F9-AAE7A7C4CEA8}"/>
                  </a:ext>
                </a:extLst>
              </p:cNvPr>
              <p:cNvCxnSpPr>
                <a:stCxn id="109" idx="1"/>
                <a:endCxn id="109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3" name="组合 112">
            <a:extLst>
              <a:ext uri="{FF2B5EF4-FFF2-40B4-BE49-F238E27FC236}">
                <a16:creationId xmlns="" xmlns:a16="http://schemas.microsoft.com/office/drawing/2014/main" id="{2F671BD2-B2DE-44D4-9861-1D37B574954B}"/>
              </a:ext>
            </a:extLst>
          </p:cNvPr>
          <p:cNvGrpSpPr/>
          <p:nvPr/>
        </p:nvGrpSpPr>
        <p:grpSpPr bwMode="gray">
          <a:xfrm>
            <a:off x="1795572" y="4115554"/>
            <a:ext cx="288000" cy="288000"/>
            <a:chOff x="856677" y="2615810"/>
            <a:chExt cx="288000" cy="288000"/>
          </a:xfrm>
        </p:grpSpPr>
        <p:sp>
          <p:nvSpPr>
            <p:cNvPr id="114" name="椭圆 113">
              <a:extLst>
                <a:ext uri="{FF2B5EF4-FFF2-40B4-BE49-F238E27FC236}">
                  <a16:creationId xmlns="" xmlns:a16="http://schemas.microsoft.com/office/drawing/2014/main" id="{2CD0DE63-2520-4AB5-8F3D-19FF6D66DBC6}"/>
                </a:ext>
              </a:extLst>
            </p:cNvPr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15" name="组合 114">
              <a:extLst>
                <a:ext uri="{FF2B5EF4-FFF2-40B4-BE49-F238E27FC236}">
                  <a16:creationId xmlns="" xmlns:a16="http://schemas.microsoft.com/office/drawing/2014/main" id="{11A0ED69-B3CE-420F-8F96-8460C7114D29}"/>
                </a:ext>
              </a:extLst>
            </p:cNvPr>
            <p:cNvGrpSpPr/>
            <p:nvPr/>
          </p:nvGrpSpPr>
          <p:grpSpPr bwMode="gray">
            <a:xfrm>
              <a:off x="923444" y="2692175"/>
              <a:ext cx="144003" cy="144001"/>
              <a:chOff x="898850" y="2657984"/>
              <a:chExt cx="203651" cy="203650"/>
            </a:xfrm>
          </p:grpSpPr>
          <p:cxnSp>
            <p:nvCxnSpPr>
              <p:cNvPr id="116" name="直接连接符 115">
                <a:extLst>
                  <a:ext uri="{FF2B5EF4-FFF2-40B4-BE49-F238E27FC236}">
                    <a16:creationId xmlns="" xmlns:a16="http://schemas.microsoft.com/office/drawing/2014/main" id="{0DFC80FC-FB58-4003-82EA-19C481F4C7E5}"/>
                  </a:ext>
                </a:extLst>
              </p:cNvPr>
              <p:cNvCxnSpPr>
                <a:stCxn id="114" idx="3"/>
                <a:endCxn id="114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="" xmlns:a16="http://schemas.microsoft.com/office/drawing/2014/main" id="{953D9781-D5FD-4D97-A005-2E4A81B3AEA3}"/>
                  </a:ext>
                </a:extLst>
              </p:cNvPr>
              <p:cNvCxnSpPr>
                <a:stCxn id="114" idx="1"/>
                <a:endCxn id="114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1" name="文本框 120">
            <a:extLst>
              <a:ext uri="{FF2B5EF4-FFF2-40B4-BE49-F238E27FC236}">
                <a16:creationId xmlns="" xmlns:a16="http://schemas.microsoft.com/office/drawing/2014/main" id="{7FB1602C-1692-46D6-BA34-DAE7E7542A0E}"/>
              </a:ext>
            </a:extLst>
          </p:cNvPr>
          <p:cNvSpPr txBox="1"/>
          <p:nvPr/>
        </p:nvSpPr>
        <p:spPr bwMode="gray">
          <a:xfrm>
            <a:off x="2556900" y="4137898"/>
            <a:ext cx="619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3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广域承载网络架构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广域承载网络基础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网络流量优化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SLA</a:t>
            </a: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网络可靠性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b="1" dirty="0">
                <a:sym typeface="Huawei Sans" panose="020C0503030203020204" pitchFamily="34" charset="0"/>
              </a:rPr>
              <a:t>网络管理与运维</a:t>
            </a:r>
          </a:p>
        </p:txBody>
      </p:sp>
    </p:spTree>
    <p:extLst>
      <p:ext uri="{BB962C8B-B14F-4D97-AF65-F5344CB8AC3E}">
        <p14:creationId xmlns:p14="http://schemas.microsoft.com/office/powerpoint/2010/main" val="144041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4C93D5D-B7C5-44D0-83DA-06AA9C9D967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广域网网络管理与运维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5FBAE81-7E41-400F-A077-226F97071F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在当前各厂家主流广域网解决方案中，推荐采用</a:t>
            </a:r>
            <a:r>
              <a:rPr lang="en-US" altLang="zh-CN" sz="1600" dirty="0">
                <a:sym typeface="Huawei Sans" panose="020C0503030203020204" pitchFamily="34" charset="0"/>
              </a:rPr>
              <a:t>SDN</a:t>
            </a:r>
            <a:r>
              <a:rPr lang="zh-CN" altLang="en-US" sz="1600" dirty="0">
                <a:sym typeface="Huawei Sans" panose="020C0503030203020204" pitchFamily="34" charset="0"/>
              </a:rPr>
              <a:t>解决方案。由</a:t>
            </a:r>
            <a:r>
              <a:rPr lang="en-US" altLang="zh-CN" sz="1600" dirty="0">
                <a:sym typeface="Huawei Sans" panose="020C0503030203020204" pitchFamily="34" charset="0"/>
              </a:rPr>
              <a:t>SDN</a:t>
            </a:r>
            <a:r>
              <a:rPr lang="zh-CN" altLang="en-US" sz="1600" dirty="0">
                <a:sym typeface="Huawei Sans" panose="020C0503030203020204" pitchFamily="34" charset="0"/>
              </a:rPr>
              <a:t>控制器集中管理，向转发器下发广域业务。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在华为解决方案中，控制器不仅限于“控制”，更融合了“管理”和“分析”。</a:t>
            </a:r>
          </a:p>
        </p:txBody>
      </p:sp>
      <p:grpSp>
        <p:nvGrpSpPr>
          <p:cNvPr id="94" name="组合 50">
            <a:extLst>
              <a:ext uri="{FF2B5EF4-FFF2-40B4-BE49-F238E27FC236}">
                <a16:creationId xmlns="" xmlns:a16="http://schemas.microsoft.com/office/drawing/2014/main" id="{F75610CB-ABDB-4EC9-82C0-CA642BD2AC4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456272" y="2324872"/>
            <a:ext cx="1219166" cy="792542"/>
            <a:chOff x="4137025" y="950913"/>
            <a:chExt cx="1982788" cy="1244599"/>
          </a:xfrm>
          <a:solidFill>
            <a:srgbClr val="1AABE1"/>
          </a:solidFill>
        </p:grpSpPr>
        <p:sp>
          <p:nvSpPr>
            <p:cNvPr id="95" name="Freeform 9">
              <a:extLst>
                <a:ext uri="{FF2B5EF4-FFF2-40B4-BE49-F238E27FC236}">
                  <a16:creationId xmlns="" xmlns:a16="http://schemas.microsoft.com/office/drawing/2014/main" id="{F7AC801F-DB3C-4479-9E23-653C0CF50F1D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7025" y="950913"/>
              <a:ext cx="1982788" cy="1203325"/>
            </a:xfrm>
            <a:custGeom>
              <a:avLst/>
              <a:gdLst>
                <a:gd name="T0" fmla="*/ 1688762 w 526"/>
                <a:gd name="T1" fmla="*/ 1203325 h 320"/>
                <a:gd name="T2" fmla="*/ 1568137 w 526"/>
                <a:gd name="T3" fmla="*/ 1203325 h 320"/>
                <a:gd name="T4" fmla="*/ 1568137 w 526"/>
                <a:gd name="T5" fmla="*/ 1128117 h 320"/>
                <a:gd name="T6" fmla="*/ 1688762 w 526"/>
                <a:gd name="T7" fmla="*/ 1128117 h 320"/>
                <a:gd name="T8" fmla="*/ 1756614 w 526"/>
                <a:gd name="T9" fmla="*/ 1109315 h 320"/>
                <a:gd name="T10" fmla="*/ 1907397 w 526"/>
                <a:gd name="T11" fmla="*/ 800963 h 320"/>
                <a:gd name="T12" fmla="*/ 1522902 w 526"/>
                <a:gd name="T13" fmla="*/ 413643 h 320"/>
                <a:gd name="T14" fmla="*/ 1488976 w 526"/>
                <a:gd name="T15" fmla="*/ 394841 h 320"/>
                <a:gd name="T16" fmla="*/ 946159 w 526"/>
                <a:gd name="T17" fmla="*/ 75208 h 320"/>
                <a:gd name="T18" fmla="*/ 346799 w 526"/>
                <a:gd name="T19" fmla="*/ 541496 h 320"/>
                <a:gd name="T20" fmla="*/ 316643 w 526"/>
                <a:gd name="T21" fmla="*/ 567819 h 320"/>
                <a:gd name="T22" fmla="*/ 75391 w 526"/>
                <a:gd name="T23" fmla="*/ 846088 h 320"/>
                <a:gd name="T24" fmla="*/ 358108 w 526"/>
                <a:gd name="T25" fmla="*/ 1128117 h 320"/>
                <a:gd name="T26" fmla="*/ 1338193 w 526"/>
                <a:gd name="T27" fmla="*/ 1128117 h 320"/>
                <a:gd name="T28" fmla="*/ 1338193 w 526"/>
                <a:gd name="T29" fmla="*/ 1203325 h 320"/>
                <a:gd name="T30" fmla="*/ 358108 w 526"/>
                <a:gd name="T31" fmla="*/ 1203325 h 320"/>
                <a:gd name="T32" fmla="*/ 0 w 526"/>
                <a:gd name="T33" fmla="*/ 846088 h 320"/>
                <a:gd name="T34" fmla="*/ 278947 w 526"/>
                <a:gd name="T35" fmla="*/ 496372 h 320"/>
                <a:gd name="T36" fmla="*/ 946159 w 526"/>
                <a:gd name="T37" fmla="*/ 0 h 320"/>
                <a:gd name="T38" fmla="*/ 1545519 w 526"/>
                <a:gd name="T39" fmla="*/ 338435 h 320"/>
                <a:gd name="T40" fmla="*/ 1982788 w 526"/>
                <a:gd name="T41" fmla="*/ 800963 h 320"/>
                <a:gd name="T42" fmla="*/ 1805619 w 526"/>
                <a:gd name="T43" fmla="*/ 1165721 h 320"/>
                <a:gd name="T44" fmla="*/ 1688762 w 526"/>
                <a:gd name="T45" fmla="*/ 1203325 h 32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26" h="320">
                  <a:moveTo>
                    <a:pt x="448" y="320"/>
                  </a:moveTo>
                  <a:cubicBezTo>
                    <a:pt x="416" y="320"/>
                    <a:pt x="416" y="320"/>
                    <a:pt x="416" y="320"/>
                  </a:cubicBezTo>
                  <a:cubicBezTo>
                    <a:pt x="416" y="300"/>
                    <a:pt x="416" y="300"/>
                    <a:pt x="416" y="300"/>
                  </a:cubicBezTo>
                  <a:cubicBezTo>
                    <a:pt x="448" y="300"/>
                    <a:pt x="448" y="300"/>
                    <a:pt x="448" y="300"/>
                  </a:cubicBezTo>
                  <a:cubicBezTo>
                    <a:pt x="456" y="300"/>
                    <a:pt x="462" y="298"/>
                    <a:pt x="466" y="295"/>
                  </a:cubicBezTo>
                  <a:cubicBezTo>
                    <a:pt x="492" y="274"/>
                    <a:pt x="506" y="244"/>
                    <a:pt x="506" y="213"/>
                  </a:cubicBezTo>
                  <a:cubicBezTo>
                    <a:pt x="506" y="157"/>
                    <a:pt x="460" y="111"/>
                    <a:pt x="404" y="110"/>
                  </a:cubicBezTo>
                  <a:cubicBezTo>
                    <a:pt x="400" y="110"/>
                    <a:pt x="397" y="108"/>
                    <a:pt x="395" y="105"/>
                  </a:cubicBezTo>
                  <a:cubicBezTo>
                    <a:pt x="366" y="53"/>
                    <a:pt x="311" y="20"/>
                    <a:pt x="251" y="20"/>
                  </a:cubicBezTo>
                  <a:cubicBezTo>
                    <a:pt x="176" y="20"/>
                    <a:pt x="111" y="71"/>
                    <a:pt x="92" y="144"/>
                  </a:cubicBezTo>
                  <a:cubicBezTo>
                    <a:pt x="91" y="148"/>
                    <a:pt x="88" y="150"/>
                    <a:pt x="84" y="151"/>
                  </a:cubicBezTo>
                  <a:cubicBezTo>
                    <a:pt x="47" y="156"/>
                    <a:pt x="20" y="188"/>
                    <a:pt x="20" y="225"/>
                  </a:cubicBezTo>
                  <a:cubicBezTo>
                    <a:pt x="20" y="266"/>
                    <a:pt x="53" y="300"/>
                    <a:pt x="95" y="300"/>
                  </a:cubicBezTo>
                  <a:cubicBezTo>
                    <a:pt x="355" y="300"/>
                    <a:pt x="355" y="300"/>
                    <a:pt x="355" y="30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95" y="320"/>
                    <a:pt x="95" y="320"/>
                    <a:pt x="95" y="320"/>
                  </a:cubicBezTo>
                  <a:cubicBezTo>
                    <a:pt x="42" y="320"/>
                    <a:pt x="0" y="277"/>
                    <a:pt x="0" y="225"/>
                  </a:cubicBezTo>
                  <a:cubicBezTo>
                    <a:pt x="0" y="181"/>
                    <a:pt x="31" y="142"/>
                    <a:pt x="74" y="132"/>
                  </a:cubicBezTo>
                  <a:cubicBezTo>
                    <a:pt x="97" y="54"/>
                    <a:pt x="169" y="0"/>
                    <a:pt x="251" y="0"/>
                  </a:cubicBezTo>
                  <a:cubicBezTo>
                    <a:pt x="316" y="0"/>
                    <a:pt x="377" y="35"/>
                    <a:pt x="410" y="90"/>
                  </a:cubicBezTo>
                  <a:cubicBezTo>
                    <a:pt x="475" y="94"/>
                    <a:pt x="526" y="148"/>
                    <a:pt x="526" y="213"/>
                  </a:cubicBezTo>
                  <a:cubicBezTo>
                    <a:pt x="526" y="250"/>
                    <a:pt x="509" y="286"/>
                    <a:pt x="479" y="310"/>
                  </a:cubicBezTo>
                  <a:cubicBezTo>
                    <a:pt x="471" y="317"/>
                    <a:pt x="460" y="320"/>
                    <a:pt x="448" y="32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6" name="Oval 10">
              <a:extLst>
                <a:ext uri="{FF2B5EF4-FFF2-40B4-BE49-F238E27FC236}">
                  <a16:creationId xmlns="" xmlns:a16="http://schemas.microsoft.com/office/drawing/2014/main" id="{EB46F075-845D-4D1B-B564-8C883ADF44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422900" y="2038350"/>
              <a:ext cx="153988" cy="157162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7" name="Oval 11">
              <a:extLst>
                <a:ext uri="{FF2B5EF4-FFF2-40B4-BE49-F238E27FC236}">
                  <a16:creationId xmlns="" xmlns:a16="http://schemas.microsoft.com/office/drawing/2014/main" id="{3B93A1BF-0C50-4CF4-B57B-D0538312DC5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664200" y="2038350"/>
              <a:ext cx="153988" cy="157162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8" name="Freeform 12">
              <a:extLst>
                <a:ext uri="{FF2B5EF4-FFF2-40B4-BE49-F238E27FC236}">
                  <a16:creationId xmlns="" xmlns:a16="http://schemas.microsoft.com/office/drawing/2014/main" id="{277488EE-27E4-4FC0-87D8-FF01F24FEEA1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2225" y="1211263"/>
              <a:ext cx="406400" cy="750887"/>
            </a:xfrm>
            <a:custGeom>
              <a:avLst/>
              <a:gdLst>
                <a:gd name="T0" fmla="*/ 316089 w 108"/>
                <a:gd name="T1" fmla="*/ 289091 h 200"/>
                <a:gd name="T2" fmla="*/ 312326 w 108"/>
                <a:gd name="T3" fmla="*/ 285337 h 200"/>
                <a:gd name="T4" fmla="*/ 289748 w 108"/>
                <a:gd name="T5" fmla="*/ 236529 h 200"/>
                <a:gd name="T6" fmla="*/ 316089 w 108"/>
                <a:gd name="T7" fmla="*/ 206494 h 200"/>
                <a:gd name="T8" fmla="*/ 316089 w 108"/>
                <a:gd name="T9" fmla="*/ 127651 h 200"/>
                <a:gd name="T10" fmla="*/ 237067 w 108"/>
                <a:gd name="T11" fmla="*/ 71334 h 200"/>
                <a:gd name="T12" fmla="*/ 173096 w 108"/>
                <a:gd name="T13" fmla="*/ 112633 h 200"/>
                <a:gd name="T14" fmla="*/ 169333 w 108"/>
                <a:gd name="T15" fmla="*/ 112633 h 200"/>
                <a:gd name="T16" fmla="*/ 120415 w 108"/>
                <a:gd name="T17" fmla="*/ 93861 h 200"/>
                <a:gd name="T18" fmla="*/ 112889 w 108"/>
                <a:gd name="T19" fmla="*/ 86352 h 200"/>
                <a:gd name="T20" fmla="*/ 56444 w 108"/>
                <a:gd name="T21" fmla="*/ 0 h 200"/>
                <a:gd name="T22" fmla="*/ 0 w 108"/>
                <a:gd name="T23" fmla="*/ 30035 h 200"/>
                <a:gd name="T24" fmla="*/ 52681 w 108"/>
                <a:gd name="T25" fmla="*/ 60071 h 200"/>
                <a:gd name="T26" fmla="*/ 97837 w 108"/>
                <a:gd name="T27" fmla="*/ 150177 h 200"/>
                <a:gd name="T28" fmla="*/ 169333 w 108"/>
                <a:gd name="T29" fmla="*/ 172704 h 200"/>
                <a:gd name="T30" fmla="*/ 237067 w 108"/>
                <a:gd name="T31" fmla="*/ 135160 h 200"/>
                <a:gd name="T32" fmla="*/ 248356 w 108"/>
                <a:gd name="T33" fmla="*/ 187722 h 200"/>
                <a:gd name="T34" fmla="*/ 252119 w 108"/>
                <a:gd name="T35" fmla="*/ 304109 h 200"/>
                <a:gd name="T36" fmla="*/ 346193 w 108"/>
                <a:gd name="T37" fmla="*/ 352917 h 200"/>
                <a:gd name="T38" fmla="*/ 316089 w 108"/>
                <a:gd name="T39" fmla="*/ 397970 h 200"/>
                <a:gd name="T40" fmla="*/ 237067 w 108"/>
                <a:gd name="T41" fmla="*/ 484322 h 200"/>
                <a:gd name="T42" fmla="*/ 267170 w 108"/>
                <a:gd name="T43" fmla="*/ 578183 h 200"/>
                <a:gd name="T44" fmla="*/ 218252 w 108"/>
                <a:gd name="T45" fmla="*/ 593201 h 200"/>
                <a:gd name="T46" fmla="*/ 139230 w 108"/>
                <a:gd name="T47" fmla="*/ 578183 h 200"/>
                <a:gd name="T48" fmla="*/ 52681 w 108"/>
                <a:gd name="T49" fmla="*/ 660781 h 200"/>
                <a:gd name="T50" fmla="*/ 30104 w 108"/>
                <a:gd name="T51" fmla="*/ 687062 h 200"/>
                <a:gd name="T52" fmla="*/ 30104 w 108"/>
                <a:gd name="T53" fmla="*/ 750887 h 200"/>
                <a:gd name="T54" fmla="*/ 112889 w 108"/>
                <a:gd name="T55" fmla="*/ 690816 h 200"/>
                <a:gd name="T56" fmla="*/ 116652 w 108"/>
                <a:gd name="T57" fmla="*/ 657026 h 200"/>
                <a:gd name="T58" fmla="*/ 165570 w 108"/>
                <a:gd name="T59" fmla="*/ 634500 h 200"/>
                <a:gd name="T60" fmla="*/ 169333 w 108"/>
                <a:gd name="T61" fmla="*/ 634500 h 200"/>
                <a:gd name="T62" fmla="*/ 195674 w 108"/>
                <a:gd name="T63" fmla="*/ 657026 h 200"/>
                <a:gd name="T64" fmla="*/ 278459 w 108"/>
                <a:gd name="T65" fmla="*/ 657026 h 200"/>
                <a:gd name="T66" fmla="*/ 331141 w 108"/>
                <a:gd name="T67" fmla="*/ 578183 h 200"/>
                <a:gd name="T68" fmla="*/ 293511 w 108"/>
                <a:gd name="T69" fmla="*/ 518112 h 200"/>
                <a:gd name="T70" fmla="*/ 293511 w 108"/>
                <a:gd name="T71" fmla="*/ 506849 h 200"/>
                <a:gd name="T72" fmla="*/ 312326 w 108"/>
                <a:gd name="T73" fmla="*/ 461796 h 200"/>
                <a:gd name="T74" fmla="*/ 349956 w 108"/>
                <a:gd name="T75" fmla="*/ 458041 h 200"/>
                <a:gd name="T76" fmla="*/ 406400 w 108"/>
                <a:gd name="T77" fmla="*/ 345408 h 20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08" h="200">
                  <a:moveTo>
                    <a:pt x="93" y="77"/>
                  </a:moveTo>
                  <a:cubicBezTo>
                    <a:pt x="84" y="77"/>
                    <a:pt x="84" y="77"/>
                    <a:pt x="84" y="77"/>
                  </a:cubicBezTo>
                  <a:cubicBezTo>
                    <a:pt x="84" y="77"/>
                    <a:pt x="83" y="77"/>
                    <a:pt x="83" y="76"/>
                  </a:cubicBezTo>
                  <a:cubicBezTo>
                    <a:pt x="83" y="76"/>
                    <a:pt x="83" y="76"/>
                    <a:pt x="83" y="76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78" y="63"/>
                    <a:pt x="78" y="63"/>
                    <a:pt x="77" y="63"/>
                  </a:cubicBezTo>
                  <a:cubicBezTo>
                    <a:pt x="77" y="63"/>
                    <a:pt x="77" y="62"/>
                    <a:pt x="78" y="61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7" y="53"/>
                    <a:pt x="88" y="49"/>
                    <a:pt x="88" y="45"/>
                  </a:cubicBezTo>
                  <a:cubicBezTo>
                    <a:pt x="88" y="41"/>
                    <a:pt x="87" y="37"/>
                    <a:pt x="84" y="3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1" y="21"/>
                    <a:pt x="67" y="19"/>
                    <a:pt x="63" y="19"/>
                  </a:cubicBezTo>
                  <a:cubicBezTo>
                    <a:pt x="59" y="19"/>
                    <a:pt x="55" y="21"/>
                    <a:pt x="52" y="2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1" y="25"/>
                  </a:cubicBezTo>
                  <a:cubicBezTo>
                    <a:pt x="31" y="24"/>
                    <a:pt x="30" y="24"/>
                    <a:pt x="30" y="23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6"/>
                    <a:pt x="23" y="0"/>
                    <a:pt x="1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3"/>
                    <a:pt x="0" y="8"/>
                  </a:cubicBezTo>
                  <a:cubicBezTo>
                    <a:pt x="0" y="12"/>
                    <a:pt x="3" y="16"/>
                    <a:pt x="8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31"/>
                    <a:pt x="19" y="38"/>
                    <a:pt x="26" y="40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9" y="46"/>
                    <a:pt x="42" y="46"/>
                    <a:pt x="45" y="46"/>
                  </a:cubicBezTo>
                  <a:cubicBezTo>
                    <a:pt x="50" y="46"/>
                    <a:pt x="54" y="45"/>
                    <a:pt x="58" y="41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1" y="55"/>
                    <a:pt x="60" y="64"/>
                    <a:pt x="63" y="70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70" y="88"/>
                    <a:pt x="77" y="94"/>
                    <a:pt x="84" y="94"/>
                  </a:cubicBezTo>
                  <a:cubicBezTo>
                    <a:pt x="92" y="94"/>
                    <a:pt x="92" y="94"/>
                    <a:pt x="92" y="94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77" y="106"/>
                    <a:pt x="70" y="111"/>
                    <a:pt x="67" y="118"/>
                  </a:cubicBezTo>
                  <a:cubicBezTo>
                    <a:pt x="63" y="129"/>
                    <a:pt x="63" y="129"/>
                    <a:pt x="63" y="129"/>
                  </a:cubicBezTo>
                  <a:cubicBezTo>
                    <a:pt x="60" y="135"/>
                    <a:pt x="61" y="144"/>
                    <a:pt x="66" y="149"/>
                  </a:cubicBezTo>
                  <a:cubicBezTo>
                    <a:pt x="71" y="154"/>
                    <a:pt x="71" y="154"/>
                    <a:pt x="71" y="154"/>
                  </a:cubicBezTo>
                  <a:cubicBezTo>
                    <a:pt x="63" y="163"/>
                    <a:pt x="63" y="163"/>
                    <a:pt x="63" y="163"/>
                  </a:cubicBezTo>
                  <a:cubicBezTo>
                    <a:pt x="58" y="158"/>
                    <a:pt x="58" y="158"/>
                    <a:pt x="58" y="158"/>
                  </a:cubicBezTo>
                  <a:cubicBezTo>
                    <a:pt x="54" y="155"/>
                    <a:pt x="50" y="153"/>
                    <a:pt x="45" y="153"/>
                  </a:cubicBezTo>
                  <a:cubicBezTo>
                    <a:pt x="42" y="153"/>
                    <a:pt x="39" y="153"/>
                    <a:pt x="37" y="154"/>
                  </a:cubicBezTo>
                  <a:cubicBezTo>
                    <a:pt x="26" y="159"/>
                    <a:pt x="26" y="159"/>
                    <a:pt x="26" y="159"/>
                  </a:cubicBezTo>
                  <a:cubicBezTo>
                    <a:pt x="19" y="161"/>
                    <a:pt x="14" y="169"/>
                    <a:pt x="14" y="176"/>
                  </a:cubicBezTo>
                  <a:cubicBezTo>
                    <a:pt x="14" y="183"/>
                    <a:pt x="14" y="183"/>
                    <a:pt x="14" y="183"/>
                  </a:cubicBezTo>
                  <a:cubicBezTo>
                    <a:pt x="8" y="183"/>
                    <a:pt x="8" y="183"/>
                    <a:pt x="8" y="183"/>
                  </a:cubicBezTo>
                  <a:cubicBezTo>
                    <a:pt x="3" y="183"/>
                    <a:pt x="0" y="187"/>
                    <a:pt x="0" y="191"/>
                  </a:cubicBezTo>
                  <a:cubicBezTo>
                    <a:pt x="0" y="196"/>
                    <a:pt x="3" y="200"/>
                    <a:pt x="8" y="200"/>
                  </a:cubicBezTo>
                  <a:cubicBezTo>
                    <a:pt x="15" y="200"/>
                    <a:pt x="15" y="200"/>
                    <a:pt x="15" y="200"/>
                  </a:cubicBezTo>
                  <a:cubicBezTo>
                    <a:pt x="23" y="200"/>
                    <a:pt x="30" y="193"/>
                    <a:pt x="30" y="184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5"/>
                    <a:pt x="31" y="175"/>
                    <a:pt x="31" y="175"/>
                  </a:cubicBezTo>
                  <a:cubicBezTo>
                    <a:pt x="31" y="174"/>
                    <a:pt x="32" y="174"/>
                    <a:pt x="32" y="174"/>
                  </a:cubicBezTo>
                  <a:cubicBezTo>
                    <a:pt x="44" y="169"/>
                    <a:pt x="44" y="169"/>
                    <a:pt x="44" y="169"/>
                  </a:cubicBezTo>
                  <a:cubicBezTo>
                    <a:pt x="44" y="169"/>
                    <a:pt x="44" y="169"/>
                    <a:pt x="45" y="169"/>
                  </a:cubicBezTo>
                  <a:cubicBezTo>
                    <a:pt x="45" y="169"/>
                    <a:pt x="45" y="169"/>
                    <a:pt x="45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52" y="175"/>
                    <a:pt x="52" y="175"/>
                    <a:pt x="52" y="175"/>
                  </a:cubicBezTo>
                  <a:cubicBezTo>
                    <a:pt x="55" y="178"/>
                    <a:pt x="59" y="180"/>
                    <a:pt x="63" y="180"/>
                  </a:cubicBezTo>
                  <a:cubicBezTo>
                    <a:pt x="67" y="180"/>
                    <a:pt x="71" y="178"/>
                    <a:pt x="74" y="175"/>
                  </a:cubicBezTo>
                  <a:cubicBezTo>
                    <a:pt x="84" y="165"/>
                    <a:pt x="84" y="165"/>
                    <a:pt x="84" y="165"/>
                  </a:cubicBezTo>
                  <a:cubicBezTo>
                    <a:pt x="87" y="162"/>
                    <a:pt x="88" y="159"/>
                    <a:pt x="88" y="154"/>
                  </a:cubicBezTo>
                  <a:cubicBezTo>
                    <a:pt x="88" y="150"/>
                    <a:pt x="87" y="147"/>
                    <a:pt x="84" y="144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7"/>
                    <a:pt x="77" y="136"/>
                    <a:pt x="77" y="136"/>
                  </a:cubicBezTo>
                  <a:cubicBezTo>
                    <a:pt x="78" y="136"/>
                    <a:pt x="78" y="136"/>
                    <a:pt x="78" y="135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83" y="123"/>
                    <a:pt x="83" y="123"/>
                    <a:pt x="83" y="123"/>
                  </a:cubicBezTo>
                  <a:cubicBezTo>
                    <a:pt x="83" y="123"/>
                    <a:pt x="84" y="122"/>
                    <a:pt x="84" y="122"/>
                  </a:cubicBezTo>
                  <a:cubicBezTo>
                    <a:pt x="93" y="122"/>
                    <a:pt x="93" y="122"/>
                    <a:pt x="93" y="122"/>
                  </a:cubicBezTo>
                  <a:cubicBezTo>
                    <a:pt x="101" y="122"/>
                    <a:pt x="108" y="115"/>
                    <a:pt x="108" y="107"/>
                  </a:cubicBezTo>
                  <a:cubicBezTo>
                    <a:pt x="108" y="92"/>
                    <a:pt x="108" y="92"/>
                    <a:pt x="108" y="92"/>
                  </a:cubicBezTo>
                  <a:cubicBezTo>
                    <a:pt x="108" y="84"/>
                    <a:pt x="101" y="77"/>
                    <a:pt x="93" y="7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9" name="Freeform 13">
              <a:extLst>
                <a:ext uri="{FF2B5EF4-FFF2-40B4-BE49-F238E27FC236}">
                  <a16:creationId xmlns="" xmlns:a16="http://schemas.microsoft.com/office/drawing/2014/main" id="{91F1531B-3327-40EB-A8A9-FDA48803331A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2225" y="1420813"/>
              <a:ext cx="192088" cy="327025"/>
            </a:xfrm>
            <a:custGeom>
              <a:avLst/>
              <a:gdLst>
                <a:gd name="T0" fmla="*/ 30131 w 51"/>
                <a:gd name="T1" fmla="*/ 266882 h 87"/>
                <a:gd name="T2" fmla="*/ 0 w 51"/>
                <a:gd name="T3" fmla="*/ 296954 h 87"/>
                <a:gd name="T4" fmla="*/ 30131 w 51"/>
                <a:gd name="T5" fmla="*/ 327025 h 87"/>
                <a:gd name="T6" fmla="*/ 192088 w 51"/>
                <a:gd name="T7" fmla="*/ 165392 h 87"/>
                <a:gd name="T8" fmla="*/ 30131 w 51"/>
                <a:gd name="T9" fmla="*/ 0 h 87"/>
                <a:gd name="T10" fmla="*/ 0 w 51"/>
                <a:gd name="T11" fmla="*/ 30071 h 87"/>
                <a:gd name="T12" fmla="*/ 30131 w 51"/>
                <a:gd name="T13" fmla="*/ 60143 h 87"/>
                <a:gd name="T14" fmla="*/ 131825 w 51"/>
                <a:gd name="T15" fmla="*/ 165392 h 87"/>
                <a:gd name="T16" fmla="*/ 30131 w 51"/>
                <a:gd name="T17" fmla="*/ 266882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87">
                  <a:moveTo>
                    <a:pt x="8" y="71"/>
                  </a:moveTo>
                  <a:cubicBezTo>
                    <a:pt x="4" y="71"/>
                    <a:pt x="0" y="74"/>
                    <a:pt x="0" y="79"/>
                  </a:cubicBezTo>
                  <a:cubicBezTo>
                    <a:pt x="0" y="83"/>
                    <a:pt x="4" y="87"/>
                    <a:pt x="8" y="87"/>
                  </a:cubicBezTo>
                  <a:cubicBezTo>
                    <a:pt x="32" y="87"/>
                    <a:pt x="51" y="68"/>
                    <a:pt x="51" y="44"/>
                  </a:cubicBezTo>
                  <a:cubicBezTo>
                    <a:pt x="51" y="20"/>
                    <a:pt x="3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6"/>
                    <a:pt x="8" y="16"/>
                  </a:cubicBezTo>
                  <a:cubicBezTo>
                    <a:pt x="23" y="16"/>
                    <a:pt x="35" y="29"/>
                    <a:pt x="35" y="44"/>
                  </a:cubicBezTo>
                  <a:cubicBezTo>
                    <a:pt x="35" y="59"/>
                    <a:pt x="23" y="71"/>
                    <a:pt x="8" y="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0" name="Freeform 14">
              <a:extLst>
                <a:ext uri="{FF2B5EF4-FFF2-40B4-BE49-F238E27FC236}">
                  <a16:creationId xmlns="" xmlns:a16="http://schemas.microsoft.com/office/drawing/2014/main" id="{82D80EDC-4CDA-45CC-BE72-3EF5BA1A3D3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4656138" y="1211263"/>
              <a:ext cx="415925" cy="750887"/>
            </a:xfrm>
            <a:custGeom>
              <a:avLst/>
              <a:gdLst>
                <a:gd name="T0" fmla="*/ 317615 w 110"/>
                <a:gd name="T1" fmla="*/ 0 h 200"/>
                <a:gd name="T2" fmla="*/ 196619 w 110"/>
                <a:gd name="T3" fmla="*/ 75089 h 200"/>
                <a:gd name="T4" fmla="*/ 86966 w 110"/>
                <a:gd name="T5" fmla="*/ 221512 h 200"/>
                <a:gd name="T6" fmla="*/ 68060 w 110"/>
                <a:gd name="T7" fmla="*/ 458041 h 200"/>
                <a:gd name="T8" fmla="*/ 196619 w 110"/>
                <a:gd name="T9" fmla="*/ 679553 h 200"/>
                <a:gd name="T10" fmla="*/ 302491 w 110"/>
                <a:gd name="T11" fmla="*/ 750887 h 200"/>
                <a:gd name="T12" fmla="*/ 381895 w 110"/>
                <a:gd name="T13" fmla="*/ 717097 h 200"/>
                <a:gd name="T14" fmla="*/ 415925 w 110"/>
                <a:gd name="T15" fmla="*/ 638254 h 200"/>
                <a:gd name="T16" fmla="*/ 415925 w 110"/>
                <a:gd name="T17" fmla="*/ 93861 h 200"/>
                <a:gd name="T18" fmla="*/ 415925 w 110"/>
                <a:gd name="T19" fmla="*/ 93861 h 200"/>
                <a:gd name="T20" fmla="*/ 302491 w 110"/>
                <a:gd name="T21" fmla="*/ 322881 h 200"/>
                <a:gd name="T22" fmla="*/ 336521 w 110"/>
                <a:gd name="T23" fmla="*/ 529375 h 200"/>
                <a:gd name="T24" fmla="*/ 336521 w 110"/>
                <a:gd name="T25" fmla="*/ 529375 h 200"/>
                <a:gd name="T26" fmla="*/ 196619 w 110"/>
                <a:gd name="T27" fmla="*/ 300355 h 200"/>
                <a:gd name="T28" fmla="*/ 223087 w 110"/>
                <a:gd name="T29" fmla="*/ 274074 h 200"/>
                <a:gd name="T30" fmla="*/ 196619 w 110"/>
                <a:gd name="T31" fmla="*/ 247793 h 200"/>
                <a:gd name="T32" fmla="*/ 147464 w 110"/>
                <a:gd name="T33" fmla="*/ 221512 h 200"/>
                <a:gd name="T34" fmla="*/ 196619 w 110"/>
                <a:gd name="T35" fmla="*/ 127651 h 200"/>
                <a:gd name="T36" fmla="*/ 317615 w 110"/>
                <a:gd name="T37" fmla="*/ 191476 h 200"/>
                <a:gd name="T38" fmla="*/ 340302 w 110"/>
                <a:gd name="T39" fmla="*/ 183967 h 200"/>
                <a:gd name="T40" fmla="*/ 340302 w 110"/>
                <a:gd name="T41" fmla="*/ 146423 h 200"/>
                <a:gd name="T42" fmla="*/ 276023 w 110"/>
                <a:gd name="T43" fmla="*/ 93861 h 200"/>
                <a:gd name="T44" fmla="*/ 362989 w 110"/>
                <a:gd name="T45" fmla="*/ 93861 h 200"/>
                <a:gd name="T46" fmla="*/ 362989 w 110"/>
                <a:gd name="T47" fmla="*/ 232775 h 200"/>
                <a:gd name="T48" fmla="*/ 302491 w 110"/>
                <a:gd name="T49" fmla="*/ 277828 h 200"/>
                <a:gd name="T50" fmla="*/ 276023 w 110"/>
                <a:gd name="T51" fmla="*/ 304109 h 200"/>
                <a:gd name="T52" fmla="*/ 302491 w 110"/>
                <a:gd name="T53" fmla="*/ 330390 h 200"/>
                <a:gd name="T54" fmla="*/ 362989 w 110"/>
                <a:gd name="T55" fmla="*/ 319127 h 200"/>
                <a:gd name="T56" fmla="*/ 336521 w 110"/>
                <a:gd name="T57" fmla="*/ 488077 h 200"/>
                <a:gd name="T58" fmla="*/ 310053 w 110"/>
                <a:gd name="T59" fmla="*/ 514358 h 200"/>
                <a:gd name="T60" fmla="*/ 336521 w 110"/>
                <a:gd name="T61" fmla="*/ 540639 h 200"/>
                <a:gd name="T62" fmla="*/ 362989 w 110"/>
                <a:gd name="T63" fmla="*/ 536884 h 200"/>
                <a:gd name="T64" fmla="*/ 344083 w 110"/>
                <a:gd name="T65" fmla="*/ 679553 h 200"/>
                <a:gd name="T66" fmla="*/ 257117 w 110"/>
                <a:gd name="T67" fmla="*/ 679553 h 200"/>
                <a:gd name="T68" fmla="*/ 268461 w 110"/>
                <a:gd name="T69" fmla="*/ 574429 h 200"/>
                <a:gd name="T70" fmla="*/ 219306 w 110"/>
                <a:gd name="T71" fmla="*/ 555656 h 200"/>
                <a:gd name="T72" fmla="*/ 128559 w 110"/>
                <a:gd name="T73" fmla="*/ 596955 h 200"/>
                <a:gd name="T74" fmla="*/ 128559 w 110"/>
                <a:gd name="T75" fmla="*/ 461796 h 200"/>
                <a:gd name="T76" fmla="*/ 264680 w 110"/>
                <a:gd name="T77" fmla="*/ 461796 h 200"/>
                <a:gd name="T78" fmla="*/ 302491 w 110"/>
                <a:gd name="T79" fmla="*/ 461796 h 200"/>
                <a:gd name="T80" fmla="*/ 302491 w 110"/>
                <a:gd name="T81" fmla="*/ 424251 h 200"/>
                <a:gd name="T82" fmla="*/ 102091 w 110"/>
                <a:gd name="T83" fmla="*/ 416742 h 200"/>
                <a:gd name="T84" fmla="*/ 113434 w 110"/>
                <a:gd name="T85" fmla="*/ 266565 h 200"/>
                <a:gd name="T86" fmla="*/ 302491 w 110"/>
                <a:gd name="T87" fmla="*/ 739624 h 2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0" h="200">
                  <a:moveTo>
                    <a:pt x="110" y="25"/>
                  </a:moveTo>
                  <a:cubicBezTo>
                    <a:pt x="110" y="11"/>
                    <a:pt x="99" y="0"/>
                    <a:pt x="84" y="0"/>
                  </a:cubicBezTo>
                  <a:cubicBezTo>
                    <a:pt x="72" y="0"/>
                    <a:pt x="61" y="9"/>
                    <a:pt x="59" y="20"/>
                  </a:cubicBezTo>
                  <a:cubicBezTo>
                    <a:pt x="57" y="20"/>
                    <a:pt x="54" y="20"/>
                    <a:pt x="52" y="20"/>
                  </a:cubicBezTo>
                  <a:cubicBezTo>
                    <a:pt x="35" y="20"/>
                    <a:pt x="22" y="33"/>
                    <a:pt x="22" y="50"/>
                  </a:cubicBezTo>
                  <a:cubicBezTo>
                    <a:pt x="22" y="53"/>
                    <a:pt x="22" y="56"/>
                    <a:pt x="23" y="59"/>
                  </a:cubicBezTo>
                  <a:cubicBezTo>
                    <a:pt x="10" y="64"/>
                    <a:pt x="0" y="76"/>
                    <a:pt x="0" y="91"/>
                  </a:cubicBezTo>
                  <a:cubicBezTo>
                    <a:pt x="0" y="104"/>
                    <a:pt x="7" y="116"/>
                    <a:pt x="18" y="122"/>
                  </a:cubicBezTo>
                  <a:cubicBezTo>
                    <a:pt x="9" y="137"/>
                    <a:pt x="11" y="156"/>
                    <a:pt x="24" y="169"/>
                  </a:cubicBezTo>
                  <a:cubicBezTo>
                    <a:pt x="31" y="177"/>
                    <a:pt x="41" y="181"/>
                    <a:pt x="52" y="181"/>
                  </a:cubicBezTo>
                  <a:cubicBezTo>
                    <a:pt x="53" y="185"/>
                    <a:pt x="56" y="188"/>
                    <a:pt x="58" y="191"/>
                  </a:cubicBezTo>
                  <a:cubicBezTo>
                    <a:pt x="64" y="196"/>
                    <a:pt x="72" y="200"/>
                    <a:pt x="80" y="200"/>
                  </a:cubicBezTo>
                  <a:cubicBezTo>
                    <a:pt x="80" y="200"/>
                    <a:pt x="80" y="200"/>
                    <a:pt x="80" y="200"/>
                  </a:cubicBezTo>
                  <a:cubicBezTo>
                    <a:pt x="88" y="200"/>
                    <a:pt x="96" y="196"/>
                    <a:pt x="101" y="191"/>
                  </a:cubicBezTo>
                  <a:cubicBezTo>
                    <a:pt x="107" y="185"/>
                    <a:pt x="110" y="178"/>
                    <a:pt x="110" y="170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lose/>
                  <a:moveTo>
                    <a:pt x="80" y="86"/>
                  </a:moveTo>
                  <a:cubicBezTo>
                    <a:pt x="80" y="86"/>
                    <a:pt x="80" y="86"/>
                    <a:pt x="80" y="86"/>
                  </a:cubicBezTo>
                  <a:cubicBezTo>
                    <a:pt x="80" y="86"/>
                    <a:pt x="80" y="86"/>
                    <a:pt x="80" y="86"/>
                  </a:cubicBezTo>
                  <a:close/>
                  <a:moveTo>
                    <a:pt x="89" y="141"/>
                  </a:moveTo>
                  <a:cubicBezTo>
                    <a:pt x="89" y="141"/>
                    <a:pt x="89" y="141"/>
                    <a:pt x="89" y="141"/>
                  </a:cubicBezTo>
                  <a:cubicBezTo>
                    <a:pt x="89" y="141"/>
                    <a:pt x="89" y="141"/>
                    <a:pt x="89" y="141"/>
                  </a:cubicBezTo>
                  <a:close/>
                  <a:moveTo>
                    <a:pt x="30" y="71"/>
                  </a:moveTo>
                  <a:cubicBezTo>
                    <a:pt x="36" y="77"/>
                    <a:pt x="43" y="80"/>
                    <a:pt x="52" y="80"/>
                  </a:cubicBezTo>
                  <a:cubicBezTo>
                    <a:pt x="54" y="80"/>
                    <a:pt x="56" y="80"/>
                    <a:pt x="57" y="78"/>
                  </a:cubicBezTo>
                  <a:cubicBezTo>
                    <a:pt x="58" y="77"/>
                    <a:pt x="59" y="75"/>
                    <a:pt x="59" y="73"/>
                  </a:cubicBezTo>
                  <a:cubicBezTo>
                    <a:pt x="59" y="71"/>
                    <a:pt x="58" y="69"/>
                    <a:pt x="57" y="68"/>
                  </a:cubicBezTo>
                  <a:cubicBezTo>
                    <a:pt x="56" y="67"/>
                    <a:pt x="54" y="66"/>
                    <a:pt x="52" y="66"/>
                  </a:cubicBezTo>
                  <a:cubicBezTo>
                    <a:pt x="48" y="66"/>
                    <a:pt x="44" y="64"/>
                    <a:pt x="41" y="62"/>
                  </a:cubicBezTo>
                  <a:cubicBezTo>
                    <a:pt x="40" y="61"/>
                    <a:pt x="40" y="60"/>
                    <a:pt x="39" y="59"/>
                  </a:cubicBezTo>
                  <a:cubicBezTo>
                    <a:pt x="37" y="57"/>
                    <a:pt x="36" y="53"/>
                    <a:pt x="36" y="50"/>
                  </a:cubicBezTo>
                  <a:cubicBezTo>
                    <a:pt x="36" y="41"/>
                    <a:pt x="43" y="34"/>
                    <a:pt x="52" y="34"/>
                  </a:cubicBezTo>
                  <a:cubicBezTo>
                    <a:pt x="55" y="34"/>
                    <a:pt x="59" y="35"/>
                    <a:pt x="62" y="37"/>
                  </a:cubicBezTo>
                  <a:cubicBezTo>
                    <a:pt x="66" y="45"/>
                    <a:pt x="75" y="51"/>
                    <a:pt x="84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6" y="51"/>
                    <a:pt x="88" y="50"/>
                    <a:pt x="90" y="49"/>
                  </a:cubicBezTo>
                  <a:cubicBezTo>
                    <a:pt x="91" y="48"/>
                    <a:pt x="92" y="46"/>
                    <a:pt x="92" y="44"/>
                  </a:cubicBezTo>
                  <a:cubicBezTo>
                    <a:pt x="92" y="42"/>
                    <a:pt x="91" y="40"/>
                    <a:pt x="90" y="39"/>
                  </a:cubicBezTo>
                  <a:cubicBezTo>
                    <a:pt x="88" y="37"/>
                    <a:pt x="86" y="37"/>
                    <a:pt x="84" y="37"/>
                  </a:cubicBezTo>
                  <a:cubicBezTo>
                    <a:pt x="78" y="37"/>
                    <a:pt x="73" y="32"/>
                    <a:pt x="73" y="25"/>
                  </a:cubicBezTo>
                  <a:cubicBezTo>
                    <a:pt x="73" y="19"/>
                    <a:pt x="78" y="14"/>
                    <a:pt x="84" y="14"/>
                  </a:cubicBezTo>
                  <a:cubicBezTo>
                    <a:pt x="91" y="14"/>
                    <a:pt x="96" y="19"/>
                    <a:pt x="96" y="25"/>
                  </a:cubicBezTo>
                  <a:cubicBezTo>
                    <a:pt x="96" y="25"/>
                    <a:pt x="96" y="25"/>
                    <a:pt x="96" y="25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6" y="64"/>
                    <a:pt x="95" y="74"/>
                    <a:pt x="80" y="74"/>
                  </a:cubicBezTo>
                  <a:cubicBezTo>
                    <a:pt x="78" y="74"/>
                    <a:pt x="76" y="75"/>
                    <a:pt x="75" y="76"/>
                  </a:cubicBezTo>
                  <a:cubicBezTo>
                    <a:pt x="73" y="77"/>
                    <a:pt x="73" y="79"/>
                    <a:pt x="73" y="81"/>
                  </a:cubicBezTo>
                  <a:cubicBezTo>
                    <a:pt x="73" y="83"/>
                    <a:pt x="73" y="85"/>
                    <a:pt x="75" y="86"/>
                  </a:cubicBezTo>
                  <a:cubicBezTo>
                    <a:pt x="76" y="87"/>
                    <a:pt x="78" y="88"/>
                    <a:pt x="80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6" y="88"/>
                    <a:pt x="92" y="87"/>
                    <a:pt x="96" y="85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95" y="127"/>
                    <a:pt x="92" y="130"/>
                    <a:pt x="89" y="130"/>
                  </a:cubicBezTo>
                  <a:cubicBezTo>
                    <a:pt x="87" y="130"/>
                    <a:pt x="85" y="130"/>
                    <a:pt x="84" y="132"/>
                  </a:cubicBezTo>
                  <a:cubicBezTo>
                    <a:pt x="83" y="133"/>
                    <a:pt x="82" y="135"/>
                    <a:pt x="82" y="137"/>
                  </a:cubicBezTo>
                  <a:cubicBezTo>
                    <a:pt x="82" y="139"/>
                    <a:pt x="83" y="140"/>
                    <a:pt x="84" y="142"/>
                  </a:cubicBezTo>
                  <a:cubicBezTo>
                    <a:pt x="85" y="143"/>
                    <a:pt x="87" y="144"/>
                    <a:pt x="89" y="144"/>
                  </a:cubicBezTo>
                  <a:cubicBezTo>
                    <a:pt x="89" y="144"/>
                    <a:pt x="89" y="144"/>
                    <a:pt x="89" y="144"/>
                  </a:cubicBezTo>
                  <a:cubicBezTo>
                    <a:pt x="92" y="144"/>
                    <a:pt x="94" y="143"/>
                    <a:pt x="96" y="143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6" y="174"/>
                    <a:pt x="94" y="178"/>
                    <a:pt x="91" y="181"/>
                  </a:cubicBezTo>
                  <a:cubicBezTo>
                    <a:pt x="88" y="184"/>
                    <a:pt x="84" y="185"/>
                    <a:pt x="80" y="185"/>
                  </a:cubicBezTo>
                  <a:cubicBezTo>
                    <a:pt x="76" y="185"/>
                    <a:pt x="71" y="184"/>
                    <a:pt x="68" y="181"/>
                  </a:cubicBezTo>
                  <a:cubicBezTo>
                    <a:pt x="62" y="174"/>
                    <a:pt x="62" y="164"/>
                    <a:pt x="68" y="158"/>
                  </a:cubicBezTo>
                  <a:cubicBezTo>
                    <a:pt x="70" y="156"/>
                    <a:pt x="71" y="155"/>
                    <a:pt x="71" y="153"/>
                  </a:cubicBezTo>
                  <a:cubicBezTo>
                    <a:pt x="71" y="151"/>
                    <a:pt x="70" y="149"/>
                    <a:pt x="68" y="148"/>
                  </a:cubicBezTo>
                  <a:cubicBezTo>
                    <a:pt x="66" y="145"/>
                    <a:pt x="61" y="145"/>
                    <a:pt x="58" y="148"/>
                  </a:cubicBezTo>
                  <a:cubicBezTo>
                    <a:pt x="53" y="153"/>
                    <a:pt x="50" y="159"/>
                    <a:pt x="50" y="167"/>
                  </a:cubicBezTo>
                  <a:cubicBezTo>
                    <a:pt x="44" y="166"/>
                    <a:pt x="38" y="163"/>
                    <a:pt x="34" y="159"/>
                  </a:cubicBezTo>
                  <a:cubicBezTo>
                    <a:pt x="29" y="154"/>
                    <a:pt x="27" y="148"/>
                    <a:pt x="27" y="141"/>
                  </a:cubicBezTo>
                  <a:cubicBezTo>
                    <a:pt x="27" y="135"/>
                    <a:pt x="29" y="128"/>
                    <a:pt x="34" y="123"/>
                  </a:cubicBezTo>
                  <a:cubicBezTo>
                    <a:pt x="39" y="119"/>
                    <a:pt x="45" y="116"/>
                    <a:pt x="52" y="116"/>
                  </a:cubicBezTo>
                  <a:cubicBezTo>
                    <a:pt x="59" y="116"/>
                    <a:pt x="65" y="119"/>
                    <a:pt x="70" y="123"/>
                  </a:cubicBezTo>
                  <a:cubicBezTo>
                    <a:pt x="71" y="125"/>
                    <a:pt x="73" y="126"/>
                    <a:pt x="75" y="126"/>
                  </a:cubicBezTo>
                  <a:cubicBezTo>
                    <a:pt x="77" y="126"/>
                    <a:pt x="79" y="125"/>
                    <a:pt x="80" y="123"/>
                  </a:cubicBezTo>
                  <a:cubicBezTo>
                    <a:pt x="81" y="122"/>
                    <a:pt x="82" y="120"/>
                    <a:pt x="82" y="118"/>
                  </a:cubicBezTo>
                  <a:cubicBezTo>
                    <a:pt x="82" y="116"/>
                    <a:pt x="81" y="115"/>
                    <a:pt x="80" y="113"/>
                  </a:cubicBezTo>
                  <a:cubicBezTo>
                    <a:pt x="73" y="106"/>
                    <a:pt x="63" y="102"/>
                    <a:pt x="52" y="102"/>
                  </a:cubicBezTo>
                  <a:cubicBezTo>
                    <a:pt x="43" y="102"/>
                    <a:pt x="34" y="105"/>
                    <a:pt x="27" y="111"/>
                  </a:cubicBezTo>
                  <a:cubicBezTo>
                    <a:pt x="20" y="107"/>
                    <a:pt x="14" y="100"/>
                    <a:pt x="14" y="91"/>
                  </a:cubicBezTo>
                  <a:cubicBezTo>
                    <a:pt x="14" y="82"/>
                    <a:pt x="21" y="74"/>
                    <a:pt x="30" y="71"/>
                  </a:cubicBezTo>
                  <a:close/>
                  <a:moveTo>
                    <a:pt x="80" y="197"/>
                  </a:moveTo>
                  <a:cubicBezTo>
                    <a:pt x="80" y="197"/>
                    <a:pt x="80" y="197"/>
                    <a:pt x="80" y="197"/>
                  </a:cubicBezTo>
                  <a:cubicBezTo>
                    <a:pt x="80" y="197"/>
                    <a:pt x="80" y="197"/>
                    <a:pt x="80" y="19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494158"/>
              <a:endParaRPr lang="zh-CN" altLang="en-US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2" name="云形 3">
            <a:extLst>
              <a:ext uri="{FF2B5EF4-FFF2-40B4-BE49-F238E27FC236}">
                <a16:creationId xmlns="" xmlns:a16="http://schemas.microsoft.com/office/drawing/2014/main" id="{A5E55DF5-513A-4AD6-BE94-7F8524A29D78}"/>
              </a:ext>
            </a:extLst>
          </p:cNvPr>
          <p:cNvSpPr/>
          <p:nvPr/>
        </p:nvSpPr>
        <p:spPr bwMode="gray">
          <a:xfrm>
            <a:off x="701355" y="3816845"/>
            <a:ext cx="4814898" cy="1401750"/>
          </a:xfrm>
          <a:custGeom>
            <a:avLst/>
            <a:gdLst>
              <a:gd name="connsiteX0" fmla="*/ 3900 w 43200"/>
              <a:gd name="connsiteY0" fmla="*/ 14370 h 43200"/>
              <a:gd name="connsiteX1" fmla="*/ 5623 w 43200"/>
              <a:gd name="connsiteY1" fmla="*/ 6907 h 43200"/>
              <a:gd name="connsiteX2" fmla="*/ 14005 w 43200"/>
              <a:gd name="connsiteY2" fmla="*/ 5202 h 43200"/>
              <a:gd name="connsiteX3" fmla="*/ 22456 w 43200"/>
              <a:gd name="connsiteY3" fmla="*/ 3432 h 43200"/>
              <a:gd name="connsiteX4" fmla="*/ 25749 w 43200"/>
              <a:gd name="connsiteY4" fmla="*/ 200 h 43200"/>
              <a:gd name="connsiteX5" fmla="*/ 29833 w 43200"/>
              <a:gd name="connsiteY5" fmla="*/ 2481 h 43200"/>
              <a:gd name="connsiteX6" fmla="*/ 35463 w 43200"/>
              <a:gd name="connsiteY6" fmla="*/ 690 h 43200"/>
              <a:gd name="connsiteX7" fmla="*/ 38318 w 43200"/>
              <a:gd name="connsiteY7" fmla="*/ 5576 h 43200"/>
              <a:gd name="connsiteX8" fmla="*/ 41982 w 43200"/>
              <a:gd name="connsiteY8" fmla="*/ 10318 h 43200"/>
              <a:gd name="connsiteX9" fmla="*/ 41818 w 43200"/>
              <a:gd name="connsiteY9" fmla="*/ 15460 h 43200"/>
              <a:gd name="connsiteX10" fmla="*/ 43016 w 43200"/>
              <a:gd name="connsiteY10" fmla="*/ 23322 h 43200"/>
              <a:gd name="connsiteX11" fmla="*/ 37404 w 43200"/>
              <a:gd name="connsiteY11" fmla="*/ 30204 h 43200"/>
              <a:gd name="connsiteX12" fmla="*/ 35395 w 43200"/>
              <a:gd name="connsiteY12" fmla="*/ 36101 h 43200"/>
              <a:gd name="connsiteX13" fmla="*/ 28555 w 43200"/>
              <a:gd name="connsiteY13" fmla="*/ 36815 h 43200"/>
              <a:gd name="connsiteX14" fmla="*/ 23667 w 43200"/>
              <a:gd name="connsiteY14" fmla="*/ 43106 h 43200"/>
              <a:gd name="connsiteX15" fmla="*/ 16480 w 43200"/>
              <a:gd name="connsiteY15" fmla="*/ 39266 h 43200"/>
              <a:gd name="connsiteX16" fmla="*/ 5804 w 43200"/>
              <a:gd name="connsiteY16" fmla="*/ 35472 h 43200"/>
              <a:gd name="connsiteX17" fmla="*/ 1110 w 43200"/>
              <a:gd name="connsiteY17" fmla="*/ 31250 h 43200"/>
              <a:gd name="connsiteX18" fmla="*/ 2113 w 43200"/>
              <a:gd name="connsiteY18" fmla="*/ 25551 h 43200"/>
              <a:gd name="connsiteX19" fmla="*/ -5 w 43200"/>
              <a:gd name="connsiteY19" fmla="*/ 19704 h 43200"/>
              <a:gd name="connsiteX20" fmla="*/ 3863 w 43200"/>
              <a:gd name="connsiteY20" fmla="*/ 14507 h 43200"/>
              <a:gd name="connsiteX21" fmla="*/ 3900 w 43200"/>
              <a:gd name="connsiteY21" fmla="*/ 14370 h 43200"/>
              <a:gd name="connsiteX0" fmla="*/ 4693 w 43200"/>
              <a:gd name="connsiteY0" fmla="*/ 26177 h 43200"/>
              <a:gd name="connsiteX1" fmla="*/ 2160 w 43200"/>
              <a:gd name="connsiteY1" fmla="*/ 25380 h 43200"/>
              <a:gd name="connsiteX2" fmla="*/ 6928 w 43200"/>
              <a:gd name="connsiteY2" fmla="*/ 34899 h 43200"/>
              <a:gd name="connsiteX3" fmla="*/ 5820 w 43200"/>
              <a:gd name="connsiteY3" fmla="*/ 35280 h 43200"/>
              <a:gd name="connsiteX4" fmla="*/ 16478 w 43200"/>
              <a:gd name="connsiteY4" fmla="*/ 39090 h 43200"/>
              <a:gd name="connsiteX5" fmla="*/ 15810 w 43200"/>
              <a:gd name="connsiteY5" fmla="*/ 37350 h 43200"/>
              <a:gd name="connsiteX6" fmla="*/ 28827 w 43200"/>
              <a:gd name="connsiteY6" fmla="*/ 34751 h 43200"/>
              <a:gd name="connsiteX7" fmla="*/ 28560 w 43200"/>
              <a:gd name="connsiteY7" fmla="*/ 36660 h 43200"/>
              <a:gd name="connsiteX8" fmla="*/ 34129 w 43200"/>
              <a:gd name="connsiteY8" fmla="*/ 22954 h 43200"/>
              <a:gd name="connsiteX9" fmla="*/ 37380 w 43200"/>
              <a:gd name="connsiteY9" fmla="*/ 30090 h 43200"/>
              <a:gd name="connsiteX10" fmla="*/ 41798 w 43200"/>
              <a:gd name="connsiteY10" fmla="*/ 15354 h 43200"/>
              <a:gd name="connsiteX11" fmla="*/ 40350 w 43200"/>
              <a:gd name="connsiteY11" fmla="*/ 18030 h 43200"/>
              <a:gd name="connsiteX12" fmla="*/ 38324 w 43200"/>
              <a:gd name="connsiteY12" fmla="*/ 5426 h 43200"/>
              <a:gd name="connsiteX13" fmla="*/ 38400 w 43200"/>
              <a:gd name="connsiteY13" fmla="*/ 6690 h 43200"/>
              <a:gd name="connsiteX14" fmla="*/ 29078 w 43200"/>
              <a:gd name="connsiteY14" fmla="*/ 3952 h 43200"/>
              <a:gd name="connsiteX15" fmla="*/ 29820 w 43200"/>
              <a:gd name="connsiteY15" fmla="*/ 2340 h 43200"/>
              <a:gd name="connsiteX16" fmla="*/ 22141 w 43200"/>
              <a:gd name="connsiteY16" fmla="*/ 4720 h 43200"/>
              <a:gd name="connsiteX17" fmla="*/ 22500 w 43200"/>
              <a:gd name="connsiteY17" fmla="*/ 3330 h 43200"/>
              <a:gd name="connsiteX18" fmla="*/ 14000 w 43200"/>
              <a:gd name="connsiteY18" fmla="*/ 5192 h 43200"/>
              <a:gd name="connsiteX19" fmla="*/ 15300 w 43200"/>
              <a:gd name="connsiteY19" fmla="*/ 6540 h 43200"/>
              <a:gd name="connsiteX20" fmla="*/ 4127 w 43200"/>
              <a:gd name="connsiteY20" fmla="*/ 15789 h 43200"/>
              <a:gd name="connsiteX21" fmla="*/ 3900 w 43200"/>
              <a:gd name="connsiteY21" fmla="*/ 14370 h 43200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4165 w 43256"/>
              <a:gd name="connsiteY8" fmla="*/ 22813 h 43219"/>
              <a:gd name="connsiteX9" fmla="*/ 37416 w 43256"/>
              <a:gd name="connsiteY9" fmla="*/ 29949 h 43219"/>
              <a:gd name="connsiteX10" fmla="*/ 41834 w 43256"/>
              <a:gd name="connsiteY10" fmla="*/ 15213 h 43219"/>
              <a:gd name="connsiteX11" fmla="*/ 40386 w 43256"/>
              <a:gd name="connsiteY11" fmla="*/ 17889 h 43219"/>
              <a:gd name="connsiteX12" fmla="*/ 38360 w 43256"/>
              <a:gd name="connsiteY12" fmla="*/ 5285 h 43219"/>
              <a:gd name="connsiteX13" fmla="*/ 38436 w 43256"/>
              <a:gd name="connsiteY13" fmla="*/ 6549 h 43219"/>
              <a:gd name="connsiteX14" fmla="*/ 22177 w 43256"/>
              <a:gd name="connsiteY14" fmla="*/ 4579 h 43219"/>
              <a:gd name="connsiteX15" fmla="*/ 22536 w 43256"/>
              <a:gd name="connsiteY15" fmla="*/ 3189 h 43219"/>
              <a:gd name="connsiteX16" fmla="*/ 14036 w 43256"/>
              <a:gd name="connsiteY16" fmla="*/ 5051 h 43219"/>
              <a:gd name="connsiteX17" fmla="*/ 15336 w 43256"/>
              <a:gd name="connsiteY17" fmla="*/ 6399 h 43219"/>
              <a:gd name="connsiteX18" fmla="*/ 4163 w 43256"/>
              <a:gd name="connsiteY18" fmla="*/ 15648 h 43219"/>
              <a:gd name="connsiteX19" fmla="*/ 3936 w 43256"/>
              <a:gd name="connsiteY19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4165 w 43256"/>
              <a:gd name="connsiteY8" fmla="*/ 22813 h 43219"/>
              <a:gd name="connsiteX9" fmla="*/ 37416 w 43256"/>
              <a:gd name="connsiteY9" fmla="*/ 29949 h 43219"/>
              <a:gd name="connsiteX10" fmla="*/ 41834 w 43256"/>
              <a:gd name="connsiteY10" fmla="*/ 15213 h 43219"/>
              <a:gd name="connsiteX11" fmla="*/ 40386 w 43256"/>
              <a:gd name="connsiteY11" fmla="*/ 17889 h 43219"/>
              <a:gd name="connsiteX12" fmla="*/ 38360 w 43256"/>
              <a:gd name="connsiteY12" fmla="*/ 5285 h 43219"/>
              <a:gd name="connsiteX13" fmla="*/ 38436 w 43256"/>
              <a:gd name="connsiteY13" fmla="*/ 6549 h 43219"/>
              <a:gd name="connsiteX14" fmla="*/ 14036 w 43256"/>
              <a:gd name="connsiteY14" fmla="*/ 5051 h 43219"/>
              <a:gd name="connsiteX15" fmla="*/ 15336 w 43256"/>
              <a:gd name="connsiteY15" fmla="*/ 6399 h 43219"/>
              <a:gd name="connsiteX16" fmla="*/ 4163 w 43256"/>
              <a:gd name="connsiteY16" fmla="*/ 15648 h 43219"/>
              <a:gd name="connsiteX17" fmla="*/ 3936 w 43256"/>
              <a:gd name="connsiteY17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4165 w 43256"/>
              <a:gd name="connsiteY8" fmla="*/ 22813 h 43219"/>
              <a:gd name="connsiteX9" fmla="*/ 37416 w 43256"/>
              <a:gd name="connsiteY9" fmla="*/ 29949 h 43219"/>
              <a:gd name="connsiteX10" fmla="*/ 41834 w 43256"/>
              <a:gd name="connsiteY10" fmla="*/ 15213 h 43219"/>
              <a:gd name="connsiteX11" fmla="*/ 40386 w 43256"/>
              <a:gd name="connsiteY11" fmla="*/ 17889 h 43219"/>
              <a:gd name="connsiteX12" fmla="*/ 38360 w 43256"/>
              <a:gd name="connsiteY12" fmla="*/ 5285 h 43219"/>
              <a:gd name="connsiteX13" fmla="*/ 38436 w 43256"/>
              <a:gd name="connsiteY13" fmla="*/ 6549 h 43219"/>
              <a:gd name="connsiteX14" fmla="*/ 4163 w 43256"/>
              <a:gd name="connsiteY14" fmla="*/ 15648 h 43219"/>
              <a:gd name="connsiteX15" fmla="*/ 3936 w 43256"/>
              <a:gd name="connsiteY15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41834 w 43256"/>
              <a:gd name="connsiteY8" fmla="*/ 15213 h 43219"/>
              <a:gd name="connsiteX9" fmla="*/ 40386 w 43256"/>
              <a:gd name="connsiteY9" fmla="*/ 17889 h 43219"/>
              <a:gd name="connsiteX10" fmla="*/ 38360 w 43256"/>
              <a:gd name="connsiteY10" fmla="*/ 5285 h 43219"/>
              <a:gd name="connsiteX11" fmla="*/ 38436 w 43256"/>
              <a:gd name="connsiteY11" fmla="*/ 6549 h 43219"/>
              <a:gd name="connsiteX12" fmla="*/ 4163 w 43256"/>
              <a:gd name="connsiteY12" fmla="*/ 15648 h 43219"/>
              <a:gd name="connsiteX13" fmla="*/ 3936 w 43256"/>
              <a:gd name="connsiteY1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16514 w 43256"/>
              <a:gd name="connsiteY4" fmla="*/ 38949 h 43219"/>
              <a:gd name="connsiteX5" fmla="*/ 15846 w 43256"/>
              <a:gd name="connsiteY5" fmla="*/ 37209 h 43219"/>
              <a:gd name="connsiteX6" fmla="*/ 28863 w 43256"/>
              <a:gd name="connsiteY6" fmla="*/ 34610 h 43219"/>
              <a:gd name="connsiteX7" fmla="*/ 28596 w 43256"/>
              <a:gd name="connsiteY7" fmla="*/ 36519 h 43219"/>
              <a:gd name="connsiteX8" fmla="*/ 38360 w 43256"/>
              <a:gd name="connsiteY8" fmla="*/ 5285 h 43219"/>
              <a:gd name="connsiteX9" fmla="*/ 38436 w 43256"/>
              <a:gd name="connsiteY9" fmla="*/ 6549 h 43219"/>
              <a:gd name="connsiteX10" fmla="*/ 4163 w 43256"/>
              <a:gd name="connsiteY10" fmla="*/ 15648 h 43219"/>
              <a:gd name="connsiteX11" fmla="*/ 3936 w 43256"/>
              <a:gd name="connsiteY11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4729 w 43256"/>
              <a:gd name="connsiteY0" fmla="*/ 26036 h 43219"/>
              <a:gd name="connsiteX1" fmla="*/ 2196 w 43256"/>
              <a:gd name="connsiteY1" fmla="*/ 25239 h 43219"/>
              <a:gd name="connsiteX2" fmla="*/ 6964 w 43256"/>
              <a:gd name="connsiteY2" fmla="*/ 34758 h 43219"/>
              <a:gd name="connsiteX3" fmla="*/ 5856 w 43256"/>
              <a:gd name="connsiteY3" fmla="*/ 35139 h 43219"/>
              <a:gd name="connsiteX4" fmla="*/ 28863 w 43256"/>
              <a:gd name="connsiteY4" fmla="*/ 34610 h 43219"/>
              <a:gd name="connsiteX5" fmla="*/ 28596 w 43256"/>
              <a:gd name="connsiteY5" fmla="*/ 36519 h 43219"/>
              <a:gd name="connsiteX6" fmla="*/ 38360 w 43256"/>
              <a:gd name="connsiteY6" fmla="*/ 5285 h 43219"/>
              <a:gd name="connsiteX7" fmla="*/ 38436 w 43256"/>
              <a:gd name="connsiteY7" fmla="*/ 6549 h 43219"/>
              <a:gd name="connsiteX8" fmla="*/ 4163 w 43256"/>
              <a:gd name="connsiteY8" fmla="*/ 15648 h 43219"/>
              <a:gd name="connsiteX9" fmla="*/ 3936 w 43256"/>
              <a:gd name="connsiteY9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28863 w 43256"/>
              <a:gd name="connsiteY2" fmla="*/ 34610 h 43219"/>
              <a:gd name="connsiteX3" fmla="*/ 28596 w 43256"/>
              <a:gd name="connsiteY3" fmla="*/ 36519 h 43219"/>
              <a:gd name="connsiteX4" fmla="*/ 38360 w 43256"/>
              <a:gd name="connsiteY4" fmla="*/ 5285 h 43219"/>
              <a:gd name="connsiteX5" fmla="*/ 38436 w 43256"/>
              <a:gd name="connsiteY5" fmla="*/ 6549 h 43219"/>
              <a:gd name="connsiteX6" fmla="*/ 4163 w 43256"/>
              <a:gd name="connsiteY6" fmla="*/ 15648 h 43219"/>
              <a:gd name="connsiteX7" fmla="*/ 3936 w 43256"/>
              <a:gd name="connsiteY7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38360 w 43256"/>
              <a:gd name="connsiteY2" fmla="*/ 5285 h 43219"/>
              <a:gd name="connsiteX3" fmla="*/ 38436 w 43256"/>
              <a:gd name="connsiteY3" fmla="*/ 6549 h 43219"/>
              <a:gd name="connsiteX4" fmla="*/ 4163 w 43256"/>
              <a:gd name="connsiteY4" fmla="*/ 15648 h 43219"/>
              <a:gd name="connsiteX5" fmla="*/ 3936 w 43256"/>
              <a:gd name="connsiteY5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4163 w 43256"/>
              <a:gd name="connsiteY2" fmla="*/ 15648 h 43219"/>
              <a:gd name="connsiteX3" fmla="*/ 3936 w 43256"/>
              <a:gd name="connsiteY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4488 w 43256"/>
              <a:gd name="connsiteY2" fmla="*/ 14575 h 43219"/>
              <a:gd name="connsiteX3" fmla="*/ 3936 w 43256"/>
              <a:gd name="connsiteY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4488 w 43256"/>
              <a:gd name="connsiteY2" fmla="*/ 14575 h 43219"/>
              <a:gd name="connsiteX3" fmla="*/ 3936 w 43256"/>
              <a:gd name="connsiteY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4800 w 43256"/>
              <a:gd name="connsiteY2" fmla="*/ 15024 h 43219"/>
              <a:gd name="connsiteX3" fmla="*/ 3936 w 43256"/>
              <a:gd name="connsiteY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6964 w 43256"/>
              <a:gd name="connsiteY0" fmla="*/ 34758 h 43219"/>
              <a:gd name="connsiteX1" fmla="*/ 5856 w 43256"/>
              <a:gd name="connsiteY1" fmla="*/ 35139 h 43219"/>
              <a:gd name="connsiteX2" fmla="*/ 3889 w 43256"/>
              <a:gd name="connsiteY2" fmla="*/ 13963 h 43219"/>
              <a:gd name="connsiteX3" fmla="*/ 3936 w 43256"/>
              <a:gd name="connsiteY3" fmla="*/ 14229 h 43219"/>
              <a:gd name="connsiteX0" fmla="*/ 3936 w 43256"/>
              <a:gd name="connsiteY0" fmla="*/ 14229 h 43219"/>
              <a:gd name="connsiteX1" fmla="*/ 5659 w 43256"/>
              <a:gd name="connsiteY1" fmla="*/ 6766 h 43219"/>
              <a:gd name="connsiteX2" fmla="*/ 14041 w 43256"/>
              <a:gd name="connsiteY2" fmla="*/ 5061 h 43219"/>
              <a:gd name="connsiteX3" fmla="*/ 22492 w 43256"/>
              <a:gd name="connsiteY3" fmla="*/ 3291 h 43219"/>
              <a:gd name="connsiteX4" fmla="*/ 25785 w 43256"/>
              <a:gd name="connsiteY4" fmla="*/ 59 h 43219"/>
              <a:gd name="connsiteX5" fmla="*/ 29869 w 43256"/>
              <a:gd name="connsiteY5" fmla="*/ 2340 h 43219"/>
              <a:gd name="connsiteX6" fmla="*/ 35499 w 43256"/>
              <a:gd name="connsiteY6" fmla="*/ 549 h 43219"/>
              <a:gd name="connsiteX7" fmla="*/ 38354 w 43256"/>
              <a:gd name="connsiteY7" fmla="*/ 5435 h 43219"/>
              <a:gd name="connsiteX8" fmla="*/ 42018 w 43256"/>
              <a:gd name="connsiteY8" fmla="*/ 10177 h 43219"/>
              <a:gd name="connsiteX9" fmla="*/ 41854 w 43256"/>
              <a:gd name="connsiteY9" fmla="*/ 15319 h 43219"/>
              <a:gd name="connsiteX10" fmla="*/ 43052 w 43256"/>
              <a:gd name="connsiteY10" fmla="*/ 23181 h 43219"/>
              <a:gd name="connsiteX11" fmla="*/ 37440 w 43256"/>
              <a:gd name="connsiteY11" fmla="*/ 30063 h 43219"/>
              <a:gd name="connsiteX12" fmla="*/ 35431 w 43256"/>
              <a:gd name="connsiteY12" fmla="*/ 35960 h 43219"/>
              <a:gd name="connsiteX13" fmla="*/ 28591 w 43256"/>
              <a:gd name="connsiteY13" fmla="*/ 36674 h 43219"/>
              <a:gd name="connsiteX14" fmla="*/ 23703 w 43256"/>
              <a:gd name="connsiteY14" fmla="*/ 42965 h 43219"/>
              <a:gd name="connsiteX15" fmla="*/ 16516 w 43256"/>
              <a:gd name="connsiteY15" fmla="*/ 39125 h 43219"/>
              <a:gd name="connsiteX16" fmla="*/ 5840 w 43256"/>
              <a:gd name="connsiteY16" fmla="*/ 35331 h 43219"/>
              <a:gd name="connsiteX17" fmla="*/ 1146 w 43256"/>
              <a:gd name="connsiteY17" fmla="*/ 31109 h 43219"/>
              <a:gd name="connsiteX18" fmla="*/ 2149 w 43256"/>
              <a:gd name="connsiteY18" fmla="*/ 25410 h 43219"/>
              <a:gd name="connsiteX19" fmla="*/ 31 w 43256"/>
              <a:gd name="connsiteY19" fmla="*/ 19563 h 43219"/>
              <a:gd name="connsiteX20" fmla="*/ 3899 w 43256"/>
              <a:gd name="connsiteY20" fmla="*/ 14366 h 43219"/>
              <a:gd name="connsiteX21" fmla="*/ 3936 w 43256"/>
              <a:gd name="connsiteY21" fmla="*/ 14229 h 43219"/>
              <a:gd name="connsiteX0" fmla="*/ 3889 w 43256"/>
              <a:gd name="connsiteY0" fmla="*/ 13963 h 43219"/>
              <a:gd name="connsiteX1" fmla="*/ 3936 w 43256"/>
              <a:gd name="connsiteY1" fmla="*/ 14229 h 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" h="43219">
                <a:moveTo>
                  <a:pt x="3936" y="14229"/>
                </a:moveTo>
                <a:cubicBezTo>
                  <a:pt x="3665" y="11516"/>
                  <a:pt x="4297" y="8780"/>
                  <a:pt x="5659" y="6766"/>
                </a:cubicBezTo>
                <a:cubicBezTo>
                  <a:pt x="7811" y="3585"/>
                  <a:pt x="11300" y="2876"/>
                  <a:pt x="14041" y="5061"/>
                </a:cubicBezTo>
                <a:cubicBezTo>
                  <a:pt x="15714" y="768"/>
                  <a:pt x="19950" y="-119"/>
                  <a:pt x="22492" y="3291"/>
                </a:cubicBezTo>
                <a:cubicBezTo>
                  <a:pt x="23133" y="1542"/>
                  <a:pt x="24364" y="333"/>
                  <a:pt x="25785" y="59"/>
                </a:cubicBezTo>
                <a:cubicBezTo>
                  <a:pt x="27349" y="-243"/>
                  <a:pt x="28911" y="629"/>
                  <a:pt x="29869" y="2340"/>
                </a:cubicBezTo>
                <a:cubicBezTo>
                  <a:pt x="31251" y="126"/>
                  <a:pt x="33537" y="-601"/>
                  <a:pt x="35499" y="549"/>
                </a:cubicBezTo>
                <a:cubicBezTo>
                  <a:pt x="36994" y="1425"/>
                  <a:pt x="38066" y="3259"/>
                  <a:pt x="38354" y="5435"/>
                </a:cubicBezTo>
                <a:cubicBezTo>
                  <a:pt x="40082" y="6077"/>
                  <a:pt x="41458" y="7857"/>
                  <a:pt x="42018" y="10177"/>
                </a:cubicBezTo>
                <a:cubicBezTo>
                  <a:pt x="42425" y="11861"/>
                  <a:pt x="42367" y="13690"/>
                  <a:pt x="41854" y="15319"/>
                </a:cubicBezTo>
                <a:cubicBezTo>
                  <a:pt x="43115" y="17553"/>
                  <a:pt x="43556" y="20449"/>
                  <a:pt x="43052" y="23181"/>
                </a:cubicBezTo>
                <a:cubicBezTo>
                  <a:pt x="42382" y="26813"/>
                  <a:pt x="40164" y="29533"/>
                  <a:pt x="37440" y="30063"/>
                </a:cubicBezTo>
                <a:cubicBezTo>
                  <a:pt x="37427" y="32330"/>
                  <a:pt x="36694" y="34480"/>
                  <a:pt x="35431" y="35960"/>
                </a:cubicBezTo>
                <a:cubicBezTo>
                  <a:pt x="33512" y="38209"/>
                  <a:pt x="30740" y="38498"/>
                  <a:pt x="28591" y="36674"/>
                </a:cubicBezTo>
                <a:cubicBezTo>
                  <a:pt x="27896" y="39807"/>
                  <a:pt x="26035" y="42202"/>
                  <a:pt x="23703" y="42965"/>
                </a:cubicBezTo>
                <a:cubicBezTo>
                  <a:pt x="20955" y="43864"/>
                  <a:pt x="18087" y="42332"/>
                  <a:pt x="16516" y="39125"/>
                </a:cubicBezTo>
                <a:cubicBezTo>
                  <a:pt x="12808" y="42169"/>
                  <a:pt x="7992" y="40458"/>
                  <a:pt x="5840" y="35331"/>
                </a:cubicBezTo>
                <a:cubicBezTo>
                  <a:pt x="3726" y="35668"/>
                  <a:pt x="1741" y="33883"/>
                  <a:pt x="1146" y="31109"/>
                </a:cubicBezTo>
                <a:cubicBezTo>
                  <a:pt x="715" y="29102"/>
                  <a:pt x="1096" y="26936"/>
                  <a:pt x="2149" y="25410"/>
                </a:cubicBezTo>
                <a:cubicBezTo>
                  <a:pt x="655" y="24213"/>
                  <a:pt x="-177" y="21916"/>
                  <a:pt x="31" y="19563"/>
                </a:cubicBezTo>
                <a:cubicBezTo>
                  <a:pt x="275" y="16808"/>
                  <a:pt x="1881" y="14650"/>
                  <a:pt x="3899" y="14366"/>
                </a:cubicBezTo>
                <a:cubicBezTo>
                  <a:pt x="3911" y="14320"/>
                  <a:pt x="3924" y="14275"/>
                  <a:pt x="3936" y="14229"/>
                </a:cubicBezTo>
                <a:close/>
              </a:path>
              <a:path w="43256" h="43219" fill="none" extrusionOk="0">
                <a:moveTo>
                  <a:pt x="3889" y="13963"/>
                </a:moveTo>
                <a:cubicBezTo>
                  <a:pt x="3886" y="13986"/>
                  <a:pt x="3984" y="14710"/>
                  <a:pt x="3936" y="14229"/>
                </a:cubicBezTo>
              </a:path>
            </a:pathLst>
          </a:custGeom>
          <a:solidFill>
            <a:srgbClr val="1AABE2">
              <a:alpha val="5000"/>
            </a:srgbClr>
          </a:solidFill>
          <a:ln w="9525">
            <a:solidFill>
              <a:srgbClr val="1AABE2">
                <a:alpha val="30000"/>
              </a:srgb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914478"/>
            <a:endParaRPr lang="en-US" altLang="zh-CN" sz="14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7" name="直接连接符 106">
            <a:extLst>
              <a:ext uri="{FF2B5EF4-FFF2-40B4-BE49-F238E27FC236}">
                <a16:creationId xmlns="" xmlns:a16="http://schemas.microsoft.com/office/drawing/2014/main" id="{6DAD582D-56AB-41CF-B28A-284D34BA3F1B}"/>
              </a:ext>
            </a:extLst>
          </p:cNvPr>
          <p:cNvCxnSpPr/>
          <p:nvPr/>
        </p:nvCxnSpPr>
        <p:spPr bwMode="gray">
          <a:xfrm>
            <a:off x="1738657" y="4544556"/>
            <a:ext cx="661527" cy="99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>
            <a:extLst>
              <a:ext uri="{FF2B5EF4-FFF2-40B4-BE49-F238E27FC236}">
                <a16:creationId xmlns="" xmlns:a16="http://schemas.microsoft.com/office/drawing/2014/main" id="{696266B0-B362-4696-BA7E-389BE1110F7B}"/>
              </a:ext>
            </a:extLst>
          </p:cNvPr>
          <p:cNvCxnSpPr/>
          <p:nvPr/>
        </p:nvCxnSpPr>
        <p:spPr bwMode="gray">
          <a:xfrm>
            <a:off x="2790402" y="4544556"/>
            <a:ext cx="68348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>
            <a:extLst>
              <a:ext uri="{FF2B5EF4-FFF2-40B4-BE49-F238E27FC236}">
                <a16:creationId xmlns="" xmlns:a16="http://schemas.microsoft.com/office/drawing/2014/main" id="{4451FFB9-FD50-44D8-B0EF-C3A8B53D93FD}"/>
              </a:ext>
            </a:extLst>
          </p:cNvPr>
          <p:cNvCxnSpPr/>
          <p:nvPr/>
        </p:nvCxnSpPr>
        <p:spPr bwMode="gray">
          <a:xfrm>
            <a:off x="3842147" y="4544556"/>
            <a:ext cx="6263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>
            <a:extLst>
              <a:ext uri="{FF2B5EF4-FFF2-40B4-BE49-F238E27FC236}">
                <a16:creationId xmlns="" xmlns:a16="http://schemas.microsoft.com/office/drawing/2014/main" id="{D0ED6500-6D70-426C-91CE-8096DCC8548A}"/>
              </a:ext>
            </a:extLst>
          </p:cNvPr>
          <p:cNvCxnSpPr/>
          <p:nvPr/>
        </p:nvCxnSpPr>
        <p:spPr bwMode="gray">
          <a:xfrm>
            <a:off x="2744345" y="3117414"/>
            <a:ext cx="0" cy="7304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>
            <a:extLst>
              <a:ext uri="{FF2B5EF4-FFF2-40B4-BE49-F238E27FC236}">
                <a16:creationId xmlns="" xmlns:a16="http://schemas.microsoft.com/office/drawing/2014/main" id="{425ED543-BB42-48DC-9598-E6EF9C70A17D}"/>
              </a:ext>
            </a:extLst>
          </p:cNvPr>
          <p:cNvCxnSpPr/>
          <p:nvPr/>
        </p:nvCxnSpPr>
        <p:spPr bwMode="gray">
          <a:xfrm>
            <a:off x="3387071" y="3117414"/>
            <a:ext cx="0" cy="7304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>
            <a:extLst>
              <a:ext uri="{FF2B5EF4-FFF2-40B4-BE49-F238E27FC236}">
                <a16:creationId xmlns="" xmlns:a16="http://schemas.microsoft.com/office/drawing/2014/main" id="{49E72A90-FF65-4996-B666-D4C2BA338E5D}"/>
              </a:ext>
            </a:extLst>
          </p:cNvPr>
          <p:cNvCxnSpPr/>
          <p:nvPr/>
        </p:nvCxnSpPr>
        <p:spPr bwMode="gray">
          <a:xfrm>
            <a:off x="1240646" y="4930002"/>
            <a:ext cx="37376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" name="文本框 132">
            <a:extLst>
              <a:ext uri="{FF2B5EF4-FFF2-40B4-BE49-F238E27FC236}">
                <a16:creationId xmlns="" xmlns:a16="http://schemas.microsoft.com/office/drawing/2014/main" id="{E0F29ABE-7573-4D55-94F1-EAE36E52B130}"/>
              </a:ext>
            </a:extLst>
          </p:cNvPr>
          <p:cNvSpPr txBox="1"/>
          <p:nvPr/>
        </p:nvSpPr>
        <p:spPr bwMode="gray">
          <a:xfrm>
            <a:off x="1778930" y="3362523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="" xmlns:a16="http://schemas.microsoft.com/office/drawing/2014/main" id="{0C2E131A-501C-4B75-9E5A-D2DCB41461DF}"/>
              </a:ext>
            </a:extLst>
          </p:cNvPr>
          <p:cNvSpPr txBox="1"/>
          <p:nvPr/>
        </p:nvSpPr>
        <p:spPr bwMode="gray">
          <a:xfrm>
            <a:off x="3562869" y="3362523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="" xmlns:a16="http://schemas.microsoft.com/office/drawing/2014/main" id="{1FC49A86-4FE1-4186-891E-C5E05F20E999}"/>
              </a:ext>
            </a:extLst>
          </p:cNvPr>
          <p:cNvSpPr txBox="1"/>
          <p:nvPr/>
        </p:nvSpPr>
        <p:spPr bwMode="gray">
          <a:xfrm>
            <a:off x="1240646" y="4075239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="" xmlns:a16="http://schemas.microsoft.com/office/drawing/2014/main" id="{632C4194-A357-4405-85D5-FDB5004B3D51}"/>
              </a:ext>
            </a:extLst>
          </p:cNvPr>
          <p:cNvSpPr txBox="1"/>
          <p:nvPr/>
        </p:nvSpPr>
        <p:spPr bwMode="gray">
          <a:xfrm>
            <a:off x="4362292" y="4075239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="" xmlns:a16="http://schemas.microsoft.com/office/drawing/2014/main" id="{8A1F7B7A-6CA5-4B32-9A67-305032D30C7F}"/>
              </a:ext>
            </a:extLst>
          </p:cNvPr>
          <p:cNvSpPr txBox="1"/>
          <p:nvPr/>
        </p:nvSpPr>
        <p:spPr bwMode="gray">
          <a:xfrm>
            <a:off x="3341607" y="4075239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="" xmlns:a16="http://schemas.microsoft.com/office/drawing/2014/main" id="{9079B3D3-2455-42B7-9B82-E52F843C7C92}"/>
              </a:ext>
            </a:extLst>
          </p:cNvPr>
          <p:cNvSpPr txBox="1"/>
          <p:nvPr/>
        </p:nvSpPr>
        <p:spPr bwMode="gray">
          <a:xfrm>
            <a:off x="2377575" y="4075239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Transit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="" xmlns:a16="http://schemas.microsoft.com/office/drawing/2014/main" id="{5FD4681C-5938-4FA0-852B-B27083BFF690}"/>
              </a:ext>
            </a:extLst>
          </p:cNvPr>
          <p:cNvSpPr/>
          <p:nvPr/>
        </p:nvSpPr>
        <p:spPr bwMode="gray">
          <a:xfrm>
            <a:off x="1171770" y="4762647"/>
            <a:ext cx="182210" cy="130282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="" xmlns:a16="http://schemas.microsoft.com/office/drawing/2014/main" id="{26C671D9-C4FB-442D-992E-95FAF7462643}"/>
              </a:ext>
            </a:extLst>
          </p:cNvPr>
          <p:cNvSpPr/>
          <p:nvPr/>
        </p:nvSpPr>
        <p:spPr bwMode="gray">
          <a:xfrm>
            <a:off x="1931973" y="4751979"/>
            <a:ext cx="169134" cy="129789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="" xmlns:a16="http://schemas.microsoft.com/office/drawing/2014/main" id="{D99B1972-977F-489E-A311-9DE33DD7088E}"/>
              </a:ext>
            </a:extLst>
          </p:cNvPr>
          <p:cNvSpPr/>
          <p:nvPr/>
        </p:nvSpPr>
        <p:spPr bwMode="gray">
          <a:xfrm>
            <a:off x="2087286" y="4750575"/>
            <a:ext cx="171613" cy="131193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="" xmlns:a16="http://schemas.microsoft.com/office/drawing/2014/main" id="{49B61D6C-064F-4545-8E2F-301D65803DB8}"/>
              </a:ext>
            </a:extLst>
          </p:cNvPr>
          <p:cNvSpPr/>
          <p:nvPr/>
        </p:nvSpPr>
        <p:spPr bwMode="gray">
          <a:xfrm>
            <a:off x="2979671" y="4751979"/>
            <a:ext cx="169134" cy="129789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="" xmlns:a16="http://schemas.microsoft.com/office/drawing/2014/main" id="{15B81B5F-6DDF-42AB-921A-DD5FFF2388AB}"/>
              </a:ext>
            </a:extLst>
          </p:cNvPr>
          <p:cNvSpPr/>
          <p:nvPr/>
        </p:nvSpPr>
        <p:spPr bwMode="gray">
          <a:xfrm>
            <a:off x="3134984" y="4750575"/>
            <a:ext cx="171613" cy="131193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="" xmlns:a16="http://schemas.microsoft.com/office/drawing/2014/main" id="{FBCC545F-ED83-4D02-AAFE-DEBCEECDFB1A}"/>
              </a:ext>
            </a:extLst>
          </p:cNvPr>
          <p:cNvSpPr/>
          <p:nvPr/>
        </p:nvSpPr>
        <p:spPr bwMode="gray">
          <a:xfrm>
            <a:off x="4012246" y="4751979"/>
            <a:ext cx="169134" cy="129789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="" xmlns:a16="http://schemas.microsoft.com/office/drawing/2014/main" id="{62068541-D54A-481E-A7F9-249FEA2D2012}"/>
              </a:ext>
            </a:extLst>
          </p:cNvPr>
          <p:cNvSpPr/>
          <p:nvPr/>
        </p:nvSpPr>
        <p:spPr bwMode="gray">
          <a:xfrm>
            <a:off x="4167559" y="4750575"/>
            <a:ext cx="171613" cy="131193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="" xmlns:a16="http://schemas.microsoft.com/office/drawing/2014/main" id="{2302E1AD-6759-4947-9DB4-726E4E8FF701}"/>
              </a:ext>
            </a:extLst>
          </p:cNvPr>
          <p:cNvSpPr/>
          <p:nvPr/>
        </p:nvSpPr>
        <p:spPr bwMode="gray">
          <a:xfrm>
            <a:off x="4864921" y="4762647"/>
            <a:ext cx="182210" cy="130282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067" tIns="71840" rIns="72067" bIns="71840" rtlCol="0" anchor="ctr" anchorCtr="0">
            <a:noAutofit/>
          </a:bodyPr>
          <a:lstStyle/>
          <a:p>
            <a:pPr algn="ctr" defTabSz="83310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cxnSp>
        <p:nvCxnSpPr>
          <p:cNvPr id="153" name="直接连接符 152">
            <a:extLst>
              <a:ext uri="{FF2B5EF4-FFF2-40B4-BE49-F238E27FC236}">
                <a16:creationId xmlns="" xmlns:a16="http://schemas.microsoft.com/office/drawing/2014/main" id="{23806BDF-1B61-4040-A110-D825A5FC28D4}"/>
              </a:ext>
            </a:extLst>
          </p:cNvPr>
          <p:cNvCxnSpPr/>
          <p:nvPr/>
        </p:nvCxnSpPr>
        <p:spPr bwMode="gray">
          <a:xfrm>
            <a:off x="1474115" y="5212831"/>
            <a:ext cx="0" cy="994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4" name="直接连接符 153">
            <a:extLst>
              <a:ext uri="{FF2B5EF4-FFF2-40B4-BE49-F238E27FC236}">
                <a16:creationId xmlns="" xmlns:a16="http://schemas.microsoft.com/office/drawing/2014/main" id="{83845F15-C84D-43FF-A8B0-20E2CF3C5192}"/>
              </a:ext>
            </a:extLst>
          </p:cNvPr>
          <p:cNvCxnSpPr/>
          <p:nvPr/>
        </p:nvCxnSpPr>
        <p:spPr bwMode="gray">
          <a:xfrm>
            <a:off x="4654209" y="5212831"/>
            <a:ext cx="0" cy="994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9" name="直接连接符 158">
            <a:extLst>
              <a:ext uri="{FF2B5EF4-FFF2-40B4-BE49-F238E27FC236}">
                <a16:creationId xmlns="" xmlns:a16="http://schemas.microsoft.com/office/drawing/2014/main" id="{2297C867-E6D1-4898-BA45-E0C1D8CF96C0}"/>
              </a:ext>
            </a:extLst>
          </p:cNvPr>
          <p:cNvCxnSpPr/>
          <p:nvPr/>
        </p:nvCxnSpPr>
        <p:spPr bwMode="gray">
          <a:xfrm>
            <a:off x="1521740" y="5599876"/>
            <a:ext cx="307128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0" name="文本框 159">
            <a:extLst>
              <a:ext uri="{FF2B5EF4-FFF2-40B4-BE49-F238E27FC236}">
                <a16:creationId xmlns="" xmlns:a16="http://schemas.microsoft.com/office/drawing/2014/main" id="{B0FB2189-9C0C-452F-AEC1-4961E0E7F659}"/>
              </a:ext>
            </a:extLst>
          </p:cNvPr>
          <p:cNvSpPr txBox="1"/>
          <p:nvPr/>
        </p:nvSpPr>
        <p:spPr bwMode="gray">
          <a:xfrm>
            <a:off x="2671346" y="5318573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1" name="直接连接符 160">
            <a:extLst>
              <a:ext uri="{FF2B5EF4-FFF2-40B4-BE49-F238E27FC236}">
                <a16:creationId xmlns="" xmlns:a16="http://schemas.microsoft.com/office/drawing/2014/main" id="{38492C7D-20EC-45FC-B29A-5BE4B551EF0A}"/>
              </a:ext>
            </a:extLst>
          </p:cNvPr>
          <p:cNvCxnSpPr/>
          <p:nvPr/>
        </p:nvCxnSpPr>
        <p:spPr bwMode="gray">
          <a:xfrm>
            <a:off x="1521740" y="5981706"/>
            <a:ext cx="307128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2" name="文本框 161">
            <a:extLst>
              <a:ext uri="{FF2B5EF4-FFF2-40B4-BE49-F238E27FC236}">
                <a16:creationId xmlns="" xmlns:a16="http://schemas.microsoft.com/office/drawing/2014/main" id="{0AD3BBF9-4779-46C9-8239-FFD3C59FDD00}"/>
              </a:ext>
            </a:extLst>
          </p:cNvPr>
          <p:cNvSpPr txBox="1"/>
          <p:nvPr/>
        </p:nvSpPr>
        <p:spPr bwMode="gray">
          <a:xfrm>
            <a:off x="2843669" y="568770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iFIT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="" xmlns:a16="http://schemas.microsoft.com/office/drawing/2014/main" id="{A6A0A558-D00C-4602-ACC6-12E7EC5B246B}"/>
              </a:ext>
            </a:extLst>
          </p:cNvPr>
          <p:cNvSpPr txBox="1"/>
          <p:nvPr/>
        </p:nvSpPr>
        <p:spPr bwMode="gray">
          <a:xfrm>
            <a:off x="3741781" y="2609914"/>
            <a:ext cx="1666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（管、控、析）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="" xmlns:a16="http://schemas.microsoft.com/office/drawing/2014/main" id="{CDA07D07-B03C-41F1-942D-CFEFAC05D1EF}"/>
              </a:ext>
            </a:extLst>
          </p:cNvPr>
          <p:cNvSpPr txBox="1"/>
          <p:nvPr/>
        </p:nvSpPr>
        <p:spPr bwMode="gray">
          <a:xfrm>
            <a:off x="6176335" y="5039522"/>
            <a:ext cx="1545249" cy="342551"/>
          </a:xfrm>
          <a:prstGeom prst="roundRect">
            <a:avLst/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网络测量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="" xmlns:a16="http://schemas.microsoft.com/office/drawing/2014/main" id="{0CC96946-2801-4251-A9F2-0B4D31483105}"/>
              </a:ext>
            </a:extLst>
          </p:cNvPr>
          <p:cNvSpPr txBox="1"/>
          <p:nvPr/>
        </p:nvSpPr>
        <p:spPr bwMode="gray">
          <a:xfrm>
            <a:off x="6176335" y="3458607"/>
            <a:ext cx="1545261" cy="342551"/>
          </a:xfrm>
          <a:prstGeom prst="roundRect">
            <a:avLst/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>
                <a:sym typeface="Huawei Sans" panose="020C0503030203020204" pitchFamily="34" charset="0"/>
              </a:rPr>
              <a:t>网络采集</a:t>
            </a:r>
            <a:r>
              <a:rPr lang="en-US" altLang="zh-CN">
                <a:sym typeface="Huawei Sans" panose="020C0503030203020204" pitchFamily="34" charset="0"/>
              </a:rPr>
              <a:t>/</a:t>
            </a:r>
            <a:r>
              <a:rPr lang="zh-CN" altLang="en-US">
                <a:sym typeface="Huawei Sans" panose="020C0503030203020204" pitchFamily="34" charset="0"/>
              </a:rPr>
              <a:t>管理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="" xmlns:a16="http://schemas.microsoft.com/office/drawing/2014/main" id="{C10D7EE8-C41D-4259-8ACF-B0B9058213B8}"/>
              </a:ext>
            </a:extLst>
          </p:cNvPr>
          <p:cNvSpPr txBox="1"/>
          <p:nvPr/>
        </p:nvSpPr>
        <p:spPr bwMode="gray">
          <a:xfrm>
            <a:off x="6176336" y="2264088"/>
            <a:ext cx="1545260" cy="342551"/>
          </a:xfrm>
          <a:prstGeom prst="roundRect">
            <a:avLst/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网络分析</a:t>
            </a:r>
          </a:p>
        </p:txBody>
      </p:sp>
      <p:sp>
        <p:nvSpPr>
          <p:cNvPr id="168" name="文本框 167">
            <a:extLst>
              <a:ext uri="{FF2B5EF4-FFF2-40B4-BE49-F238E27FC236}">
                <a16:creationId xmlns="" xmlns:a16="http://schemas.microsoft.com/office/drawing/2014/main" id="{99C1CD47-5AB2-4E89-90EF-152E69A7F71F}"/>
              </a:ext>
            </a:extLst>
          </p:cNvPr>
          <p:cNvSpPr txBox="1"/>
          <p:nvPr/>
        </p:nvSpPr>
        <p:spPr bwMode="gray">
          <a:xfrm>
            <a:off x="6450978" y="5494099"/>
            <a:ext cx="4243469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测量网络性能指标（时延、抖动和丢包率等）。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="" xmlns:a16="http://schemas.microsoft.com/office/drawing/2014/main" id="{F66E4526-B916-405E-87B4-B60E6B075DF2}"/>
              </a:ext>
            </a:extLst>
          </p:cNvPr>
          <p:cNvSpPr txBox="1"/>
          <p:nvPr/>
        </p:nvSpPr>
        <p:spPr bwMode="gray">
          <a:xfrm>
            <a:off x="6450979" y="2675083"/>
            <a:ext cx="4839322" cy="66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基于海量网络性能和监控数据，应用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AI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算法获得网络分析结果。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="" xmlns:a16="http://schemas.microsoft.com/office/drawing/2014/main" id="{E98193FD-BAB2-4292-A8A7-8E2925E6D95C}"/>
              </a:ext>
            </a:extLst>
          </p:cNvPr>
          <p:cNvSpPr txBox="1"/>
          <p:nvPr/>
        </p:nvSpPr>
        <p:spPr bwMode="gray">
          <a:xfrm>
            <a:off x="6450978" y="3880452"/>
            <a:ext cx="4814897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多种协议和通道全面采集网络配置数据、性能数据和监控数据。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高效的网络配置管理。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="" xmlns:a16="http://schemas.microsoft.com/office/drawing/2014/main" id="{80E292A5-3380-4216-9F46-FDFA87D502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20049" y="4401264"/>
            <a:ext cx="318608" cy="261258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="" xmlns:a16="http://schemas.microsoft.com/office/drawing/2014/main" id="{80E292A5-3380-4216-9F46-FDFA87D502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58414" y="4401264"/>
            <a:ext cx="318608" cy="261258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="" xmlns:a16="http://schemas.microsoft.com/office/drawing/2014/main" id="{80E292A5-3380-4216-9F46-FDFA87D502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46569" y="4401264"/>
            <a:ext cx="318608" cy="261258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="" xmlns:a16="http://schemas.microsoft.com/office/drawing/2014/main" id="{80E292A5-3380-4216-9F46-FDFA87D502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94905" y="4401264"/>
            <a:ext cx="318608" cy="2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2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AE3D456-236B-4E86-A28D-E01996B9E47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SNMP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任意多边形 2">
            <a:extLst>
              <a:ext uri="{FF2B5EF4-FFF2-40B4-BE49-F238E27FC236}">
                <a16:creationId xmlns="" xmlns:a16="http://schemas.microsoft.com/office/drawing/2014/main" id="{902F1F1D-1C43-4CF1-BFDC-EF35422ADC0E}"/>
              </a:ext>
            </a:extLst>
          </p:cNvPr>
          <p:cNvSpPr/>
          <p:nvPr/>
        </p:nvSpPr>
        <p:spPr bwMode="gray">
          <a:xfrm>
            <a:off x="3347334" y="2973867"/>
            <a:ext cx="1136129" cy="1953003"/>
          </a:xfrm>
          <a:custGeom>
            <a:avLst/>
            <a:gdLst>
              <a:gd name="connsiteX0" fmla="*/ 406400 w 1219200"/>
              <a:gd name="connsiteY0" fmla="*/ 4233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425450 w 1219200"/>
              <a:gd name="connsiteY0" fmla="*/ 1566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433070 w 1219200"/>
              <a:gd name="connsiteY0" fmla="*/ 42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1985125 w 2771255"/>
              <a:gd name="connsiteY0" fmla="*/ 423 h 629991"/>
              <a:gd name="connsiteX1" fmla="*/ 0 w 2771255"/>
              <a:gd name="connsiteY1" fmla="*/ 629991 h 629991"/>
              <a:gd name="connsiteX2" fmla="*/ 2771255 w 2771255"/>
              <a:gd name="connsiteY2" fmla="*/ 618066 h 629991"/>
              <a:gd name="connsiteX3" fmla="*/ 2364855 w 2771255"/>
              <a:gd name="connsiteY3" fmla="*/ 0 h 629991"/>
              <a:gd name="connsiteX0" fmla="*/ 1985125 w 2432547"/>
              <a:gd name="connsiteY0" fmla="*/ 423 h 693588"/>
              <a:gd name="connsiteX1" fmla="*/ 0 w 2432547"/>
              <a:gd name="connsiteY1" fmla="*/ 629991 h 693588"/>
              <a:gd name="connsiteX2" fmla="*/ 2432547 w 2432547"/>
              <a:gd name="connsiteY2" fmla="*/ 693588 h 693588"/>
              <a:gd name="connsiteX3" fmla="*/ 2364855 w 2432547"/>
              <a:gd name="connsiteY3" fmla="*/ 0 h 693588"/>
              <a:gd name="connsiteX0" fmla="*/ 441645 w 2432547"/>
              <a:gd name="connsiteY0" fmla="*/ 100913 h 693588"/>
              <a:gd name="connsiteX1" fmla="*/ 0 w 2432547"/>
              <a:gd name="connsiteY1" fmla="*/ 629991 h 693588"/>
              <a:gd name="connsiteX2" fmla="*/ 2432547 w 2432547"/>
              <a:gd name="connsiteY2" fmla="*/ 693588 h 693588"/>
              <a:gd name="connsiteX3" fmla="*/ 2364855 w 2432547"/>
              <a:gd name="connsiteY3" fmla="*/ 0 h 693588"/>
              <a:gd name="connsiteX0" fmla="*/ 441645 w 2432547"/>
              <a:gd name="connsiteY0" fmla="*/ 18695 h 611370"/>
              <a:gd name="connsiteX1" fmla="*/ 0 w 2432547"/>
              <a:gd name="connsiteY1" fmla="*/ 547773 h 611370"/>
              <a:gd name="connsiteX2" fmla="*/ 2432547 w 2432547"/>
              <a:gd name="connsiteY2" fmla="*/ 611370 h 611370"/>
              <a:gd name="connsiteX3" fmla="*/ 849957 w 2432547"/>
              <a:gd name="connsiteY3" fmla="*/ 0 h 611370"/>
              <a:gd name="connsiteX0" fmla="*/ 441645 w 2346798"/>
              <a:gd name="connsiteY0" fmla="*/ 18695 h 547773"/>
              <a:gd name="connsiteX1" fmla="*/ 0 w 2346798"/>
              <a:gd name="connsiteY1" fmla="*/ 547773 h 547773"/>
              <a:gd name="connsiteX2" fmla="*/ 2346798 w 2346798"/>
              <a:gd name="connsiteY2" fmla="*/ 483475 h 547773"/>
              <a:gd name="connsiteX3" fmla="*/ 849957 w 2346798"/>
              <a:gd name="connsiteY3" fmla="*/ 0 h 547773"/>
              <a:gd name="connsiteX0" fmla="*/ 489283 w 2394436"/>
              <a:gd name="connsiteY0" fmla="*/ 18695 h 492961"/>
              <a:gd name="connsiteX1" fmla="*/ 0 w 2394436"/>
              <a:gd name="connsiteY1" fmla="*/ 492961 h 492961"/>
              <a:gd name="connsiteX2" fmla="*/ 2394436 w 2394436"/>
              <a:gd name="connsiteY2" fmla="*/ 483475 h 492961"/>
              <a:gd name="connsiteX3" fmla="*/ 897595 w 2394436"/>
              <a:gd name="connsiteY3" fmla="*/ 0 h 492961"/>
              <a:gd name="connsiteX0" fmla="*/ 0 w 3243834"/>
              <a:gd name="connsiteY0" fmla="*/ 535952 h 535952"/>
              <a:gd name="connsiteX1" fmla="*/ 849398 w 3243834"/>
              <a:gd name="connsiteY1" fmla="*/ 492961 h 535952"/>
              <a:gd name="connsiteX2" fmla="*/ 3243834 w 3243834"/>
              <a:gd name="connsiteY2" fmla="*/ 483475 h 535952"/>
              <a:gd name="connsiteX3" fmla="*/ 1746993 w 3243834"/>
              <a:gd name="connsiteY3" fmla="*/ 0 h 535952"/>
              <a:gd name="connsiteX0" fmla="*/ 0 w 3243834"/>
              <a:gd name="connsiteY0" fmla="*/ 363533 h 363533"/>
              <a:gd name="connsiteX1" fmla="*/ 849398 w 3243834"/>
              <a:gd name="connsiteY1" fmla="*/ 320542 h 363533"/>
              <a:gd name="connsiteX2" fmla="*/ 3243834 w 3243834"/>
              <a:gd name="connsiteY2" fmla="*/ 311056 h 363533"/>
              <a:gd name="connsiteX3" fmla="*/ 68645 w 3243834"/>
              <a:gd name="connsiteY3" fmla="*/ 0 h 363533"/>
              <a:gd name="connsiteX0" fmla="*/ 0 w 956087"/>
              <a:gd name="connsiteY0" fmla="*/ 1086991 h 1086991"/>
              <a:gd name="connsiteX1" fmla="*/ 849398 w 956087"/>
              <a:gd name="connsiteY1" fmla="*/ 1044000 h 1086991"/>
              <a:gd name="connsiteX2" fmla="*/ 956087 w 956087"/>
              <a:gd name="connsiteY2" fmla="*/ 0 h 1086991"/>
              <a:gd name="connsiteX3" fmla="*/ 68645 w 956087"/>
              <a:gd name="connsiteY3" fmla="*/ 723458 h 1086991"/>
              <a:gd name="connsiteX0" fmla="*/ 0 w 1428828"/>
              <a:gd name="connsiteY0" fmla="*/ 1086991 h 1158946"/>
              <a:gd name="connsiteX1" fmla="*/ 1428828 w 1428828"/>
              <a:gd name="connsiteY1" fmla="*/ 1158946 h 1158946"/>
              <a:gd name="connsiteX2" fmla="*/ 956087 w 1428828"/>
              <a:gd name="connsiteY2" fmla="*/ 0 h 1158946"/>
              <a:gd name="connsiteX3" fmla="*/ 68645 w 1428828"/>
              <a:gd name="connsiteY3" fmla="*/ 723458 h 1158946"/>
              <a:gd name="connsiteX0" fmla="*/ 0 w 1226590"/>
              <a:gd name="connsiteY0" fmla="*/ 1086991 h 1254735"/>
              <a:gd name="connsiteX1" fmla="*/ 1226590 w 1226590"/>
              <a:gd name="connsiteY1" fmla="*/ 1254735 h 1254735"/>
              <a:gd name="connsiteX2" fmla="*/ 956087 w 1226590"/>
              <a:gd name="connsiteY2" fmla="*/ 0 h 1254735"/>
              <a:gd name="connsiteX3" fmla="*/ 68645 w 1226590"/>
              <a:gd name="connsiteY3" fmla="*/ 723458 h 1254735"/>
              <a:gd name="connsiteX0" fmla="*/ 0 w 1226590"/>
              <a:gd name="connsiteY0" fmla="*/ 1240253 h 1407997"/>
              <a:gd name="connsiteX1" fmla="*/ 1226590 w 1226590"/>
              <a:gd name="connsiteY1" fmla="*/ 1407997 h 1407997"/>
              <a:gd name="connsiteX2" fmla="*/ 1171809 w 1226590"/>
              <a:gd name="connsiteY2" fmla="*/ 0 h 1407997"/>
              <a:gd name="connsiteX3" fmla="*/ 68645 w 1226590"/>
              <a:gd name="connsiteY3" fmla="*/ 876720 h 1407997"/>
              <a:gd name="connsiteX0" fmla="*/ 0 w 1725445"/>
              <a:gd name="connsiteY0" fmla="*/ 1240253 h 2107252"/>
              <a:gd name="connsiteX1" fmla="*/ 1725445 w 1725445"/>
              <a:gd name="connsiteY1" fmla="*/ 2107252 h 2107252"/>
              <a:gd name="connsiteX2" fmla="*/ 1171809 w 1725445"/>
              <a:gd name="connsiteY2" fmla="*/ 0 h 2107252"/>
              <a:gd name="connsiteX3" fmla="*/ 68645 w 1725445"/>
              <a:gd name="connsiteY3" fmla="*/ 876720 h 2107252"/>
              <a:gd name="connsiteX0" fmla="*/ 0 w 1725445"/>
              <a:gd name="connsiteY0" fmla="*/ 1240253 h 2107252"/>
              <a:gd name="connsiteX1" fmla="*/ 1725445 w 1725445"/>
              <a:gd name="connsiteY1" fmla="*/ 2107252 h 2107252"/>
              <a:gd name="connsiteX2" fmla="*/ 1643699 w 1725445"/>
              <a:gd name="connsiteY2" fmla="*/ 0 h 2107252"/>
              <a:gd name="connsiteX3" fmla="*/ 68645 w 1725445"/>
              <a:gd name="connsiteY3" fmla="*/ 876720 h 2107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5445" h="2107252">
                <a:moveTo>
                  <a:pt x="0" y="1240253"/>
                </a:moveTo>
                <a:lnTo>
                  <a:pt x="1725445" y="2107252"/>
                </a:lnTo>
                <a:lnTo>
                  <a:pt x="1643699" y="0"/>
                </a:lnTo>
                <a:lnTo>
                  <a:pt x="68645" y="876720"/>
                </a:lnTo>
              </a:path>
            </a:pathLst>
          </a:cu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14">
            <a:extLst>
              <a:ext uri="{FF2B5EF4-FFF2-40B4-BE49-F238E27FC236}">
                <a16:creationId xmlns="" xmlns:a16="http://schemas.microsoft.com/office/drawing/2014/main" id="{D1B69C16-668F-429F-B284-4F9F43F5E3A9}"/>
              </a:ext>
            </a:extLst>
          </p:cNvPr>
          <p:cNvSpPr/>
          <p:nvPr/>
        </p:nvSpPr>
        <p:spPr bwMode="gray">
          <a:xfrm>
            <a:off x="7099691" y="2064913"/>
            <a:ext cx="4384989" cy="3465054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Simple Network Management Protocol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，简单网络管理协议）是广泛应用于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TCP/IP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网络的网络管理标准协议。</a:t>
            </a:r>
            <a:endParaRPr lang="en-US" altLang="zh-CN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提供了一种通过运行网络管理软件的中心计算机（即网络管理工作站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NMS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）来管理设备的方法。</a:t>
            </a:r>
            <a:endParaRPr lang="en-US" altLang="zh-CN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fontAlgn="auto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通过“利用网络管理网络”的方式，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实现了对网络设备的高效和批量的管理；同时，</a:t>
            </a:r>
            <a:r>
              <a:rPr lang="en-US" altLang="zh-CN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协议也屏蔽了不同产品之间的差异，实现了不同种类和厂商的网络设备之间的统一管理。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A0002784-ED2E-497C-A596-2D40A380C2D2}"/>
              </a:ext>
            </a:extLst>
          </p:cNvPr>
          <p:cNvSpPr txBox="1"/>
          <p:nvPr/>
        </p:nvSpPr>
        <p:spPr bwMode="gray">
          <a:xfrm>
            <a:off x="7099693" y="1642300"/>
            <a:ext cx="4384988" cy="373577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SNMP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</a:p>
        </p:txBody>
      </p:sp>
      <p:pic>
        <p:nvPicPr>
          <p:cNvPr id="18" name="图片 72" descr="交换机.png">
            <a:extLst>
              <a:ext uri="{FF2B5EF4-FFF2-40B4-BE49-F238E27FC236}">
                <a16:creationId xmlns="" xmlns:a16="http://schemas.microsoft.com/office/drawing/2014/main" id="{47E43495-7821-46D0-BA38-F5FE920DA5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937004" y="1740341"/>
            <a:ext cx="489286" cy="401651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8ECB0C24-4767-4DA0-B14A-27C1F0F3DF75}"/>
              </a:ext>
            </a:extLst>
          </p:cNvPr>
          <p:cNvCxnSpPr>
            <a:cxnSpLocks/>
            <a:stCxn id="18" idx="2"/>
            <a:endCxn id="58" idx="0"/>
          </p:cNvCxnSpPr>
          <p:nvPr/>
        </p:nvCxnSpPr>
        <p:spPr bwMode="gray">
          <a:xfrm flipH="1">
            <a:off x="3176294" y="2141992"/>
            <a:ext cx="5353" cy="1640500"/>
          </a:xfrm>
          <a:prstGeom prst="line">
            <a:avLst/>
          </a:prstGeom>
          <a:noFill/>
          <a:ln w="19050" algn="ctr">
            <a:solidFill>
              <a:srgbClr val="C7000B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555A4CDE-F15B-4A33-9F88-7B35810E0DA2}"/>
              </a:ext>
            </a:extLst>
          </p:cNvPr>
          <p:cNvSpPr txBox="1"/>
          <p:nvPr/>
        </p:nvSpPr>
        <p:spPr bwMode="gray">
          <a:xfrm>
            <a:off x="1873170" y="2848220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2AF16265-236B-4112-B29D-C639C68E56EE}"/>
              </a:ext>
            </a:extLst>
          </p:cNvPr>
          <p:cNvSpPr txBox="1"/>
          <p:nvPr/>
        </p:nvSpPr>
        <p:spPr bwMode="gray">
          <a:xfrm>
            <a:off x="841655" y="1731209"/>
            <a:ext cx="201689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NMS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服务端）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例如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iMaster NCE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233E722F-3FE7-4314-8E68-43EB8CADAB29}"/>
              </a:ext>
            </a:extLst>
          </p:cNvPr>
          <p:cNvSpPr/>
          <p:nvPr/>
        </p:nvSpPr>
        <p:spPr bwMode="gray">
          <a:xfrm>
            <a:off x="4576402" y="2559464"/>
            <a:ext cx="2277722" cy="23306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34040B52-6C80-4F00-8B44-D0FC6987DBB2}"/>
              </a:ext>
            </a:extLst>
          </p:cNvPr>
          <p:cNvSpPr txBox="1"/>
          <p:nvPr/>
        </p:nvSpPr>
        <p:spPr bwMode="gray">
          <a:xfrm>
            <a:off x="4284141" y="5102115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被网管设备（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客户端）</a:t>
            </a:r>
            <a:endParaRPr lang="en-US" altLang="zh-CN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例如路由器、交换机等</a:t>
            </a:r>
          </a:p>
        </p:txBody>
      </p:sp>
      <p:sp>
        <p:nvSpPr>
          <p:cNvPr id="24" name="TextBox 179">
            <a:extLst>
              <a:ext uri="{FF2B5EF4-FFF2-40B4-BE49-F238E27FC236}">
                <a16:creationId xmlns="" xmlns:a16="http://schemas.microsoft.com/office/drawing/2014/main" id="{06E9AACC-F6E7-4DC2-B86C-BFDF5590F622}"/>
              </a:ext>
            </a:extLst>
          </p:cNvPr>
          <p:cNvSpPr txBox="1"/>
          <p:nvPr/>
        </p:nvSpPr>
        <p:spPr bwMode="gray">
          <a:xfrm>
            <a:off x="5067585" y="2920572"/>
            <a:ext cx="1295356" cy="267630"/>
          </a:xfrm>
          <a:prstGeom prst="roundRect">
            <a:avLst>
              <a:gd name="adj" fmla="val 29642"/>
            </a:avLst>
          </a:prstGeom>
          <a:solidFill>
            <a:srgbClr val="EC7061"/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algn="ctr" defTabSz="914478">
              <a:defRPr sz="1200">
                <a:solidFill>
                  <a:schemeClr val="bg1"/>
                </a:solidFill>
              </a:defRPr>
            </a:lvl1pPr>
            <a:lvl2pPr marL="457240" defTabSz="914478"/>
            <a:lvl3pPr marL="914478" defTabSz="914478"/>
            <a:lvl4pPr marL="1371718" defTabSz="914478"/>
            <a:lvl5pPr marL="1828957" defTabSz="914478"/>
            <a:lvl6pPr marL="2286196" defTabSz="914478"/>
            <a:lvl7pPr marL="2743435" defTabSz="914478"/>
            <a:lvl8pPr marL="3200675" defTabSz="914478"/>
            <a:lvl9pPr marL="3657913" defTabSz="914478"/>
          </a:lstStyle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代理进程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="" xmlns:a16="http://schemas.microsoft.com/office/drawing/2014/main" id="{A9D6EB12-01A9-498A-9782-A83594320917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 bwMode="gray">
          <a:xfrm>
            <a:off x="3426290" y="1941167"/>
            <a:ext cx="1641295" cy="1113220"/>
          </a:xfrm>
          <a:prstGeom prst="line">
            <a:avLst/>
          </a:prstGeom>
          <a:noFill/>
          <a:ln w="19050" algn="ctr">
            <a:solidFill>
              <a:srgbClr val="EC706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9518FB1C-8282-44C6-ADBB-B2A16F68E067}"/>
              </a:ext>
            </a:extLst>
          </p:cNvPr>
          <p:cNvCxnSpPr/>
          <p:nvPr/>
        </p:nvCxnSpPr>
        <p:spPr bwMode="gray">
          <a:xfrm>
            <a:off x="5715263" y="3210373"/>
            <a:ext cx="0" cy="288200"/>
          </a:xfrm>
          <a:prstGeom prst="line">
            <a:avLst/>
          </a:prstGeom>
          <a:noFill/>
          <a:ln w="19050" algn="ctr">
            <a:solidFill>
              <a:srgbClr val="EC706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" name="Rounded Rectangle 30">
            <a:extLst>
              <a:ext uri="{FF2B5EF4-FFF2-40B4-BE49-F238E27FC236}">
                <a16:creationId xmlns="" xmlns:a16="http://schemas.microsoft.com/office/drawing/2014/main" id="{14CC4736-7788-438E-8190-E94FABA4E501}"/>
              </a:ext>
            </a:extLst>
          </p:cNvPr>
          <p:cNvSpPr/>
          <p:nvPr/>
        </p:nvSpPr>
        <p:spPr bwMode="gray">
          <a:xfrm>
            <a:off x="4762279" y="3522206"/>
            <a:ext cx="1905968" cy="1212735"/>
          </a:xfrm>
          <a:prstGeom prst="roundRect">
            <a:avLst>
              <a:gd name="adj" fmla="val 7261"/>
            </a:avLst>
          </a:prstGeom>
          <a:solidFill>
            <a:srgbClr val="FFFFCC"/>
          </a:solidFill>
          <a:ln w="19050" cap="flat" cmpd="sng" algn="ctr">
            <a:solidFill>
              <a:srgbClr val="FFC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Oval 33">
            <a:extLst>
              <a:ext uri="{FF2B5EF4-FFF2-40B4-BE49-F238E27FC236}">
                <a16:creationId xmlns="" xmlns:a16="http://schemas.microsoft.com/office/drawing/2014/main" id="{9E26C960-F011-4E5A-A674-31A1A8B85CCB}"/>
              </a:ext>
            </a:extLst>
          </p:cNvPr>
          <p:cNvSpPr/>
          <p:nvPr/>
        </p:nvSpPr>
        <p:spPr bwMode="gray">
          <a:xfrm>
            <a:off x="5616965" y="3749852"/>
            <a:ext cx="144016" cy="144016"/>
          </a:xfrm>
          <a:prstGeom prst="ellipse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Oval 67">
            <a:extLst>
              <a:ext uri="{FF2B5EF4-FFF2-40B4-BE49-F238E27FC236}">
                <a16:creationId xmlns="" xmlns:a16="http://schemas.microsoft.com/office/drawing/2014/main" id="{AAF10A05-4002-4ACC-9BAD-321787039BAA}"/>
              </a:ext>
            </a:extLst>
          </p:cNvPr>
          <p:cNvSpPr/>
          <p:nvPr/>
        </p:nvSpPr>
        <p:spPr bwMode="gray">
          <a:xfrm>
            <a:off x="5308307" y="4061126"/>
            <a:ext cx="144016" cy="144016"/>
          </a:xfrm>
          <a:prstGeom prst="ellipse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Oval 68">
            <a:extLst>
              <a:ext uri="{FF2B5EF4-FFF2-40B4-BE49-F238E27FC236}">
                <a16:creationId xmlns="" xmlns:a16="http://schemas.microsoft.com/office/drawing/2014/main" id="{78D49884-FD68-497A-B678-C8F9C50F7191}"/>
              </a:ext>
            </a:extLst>
          </p:cNvPr>
          <p:cNvSpPr/>
          <p:nvPr/>
        </p:nvSpPr>
        <p:spPr bwMode="gray">
          <a:xfrm>
            <a:off x="5941000" y="4061126"/>
            <a:ext cx="144016" cy="144016"/>
          </a:xfrm>
          <a:prstGeom prst="ellipse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Oval 70">
            <a:extLst>
              <a:ext uri="{FF2B5EF4-FFF2-40B4-BE49-F238E27FC236}">
                <a16:creationId xmlns="" xmlns:a16="http://schemas.microsoft.com/office/drawing/2014/main" id="{09D4682C-4A98-42DB-B00D-AC84AF3E954F}"/>
              </a:ext>
            </a:extLst>
          </p:cNvPr>
          <p:cNvSpPr/>
          <p:nvPr/>
        </p:nvSpPr>
        <p:spPr bwMode="gray">
          <a:xfrm>
            <a:off x="5688973" y="4397924"/>
            <a:ext cx="144016" cy="144016"/>
          </a:xfrm>
          <a:prstGeom prst="ellipse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Oval 71">
            <a:extLst>
              <a:ext uri="{FF2B5EF4-FFF2-40B4-BE49-F238E27FC236}">
                <a16:creationId xmlns="" xmlns:a16="http://schemas.microsoft.com/office/drawing/2014/main" id="{830E435C-6295-4F68-8E8A-188F0F2EE6B2}"/>
              </a:ext>
            </a:extLst>
          </p:cNvPr>
          <p:cNvSpPr/>
          <p:nvPr/>
        </p:nvSpPr>
        <p:spPr bwMode="gray">
          <a:xfrm>
            <a:off x="6212372" y="4397924"/>
            <a:ext cx="144016" cy="144016"/>
          </a:xfrm>
          <a:prstGeom prst="ellipse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842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3" name="Straight Connector 35">
            <a:extLst>
              <a:ext uri="{FF2B5EF4-FFF2-40B4-BE49-F238E27FC236}">
                <a16:creationId xmlns="" xmlns:a16="http://schemas.microsoft.com/office/drawing/2014/main" id="{7E205B27-F271-4790-8386-BEE5873112B4}"/>
              </a:ext>
            </a:extLst>
          </p:cNvPr>
          <p:cNvCxnSpPr>
            <a:stCxn id="28" idx="3"/>
            <a:endCxn id="29" idx="7"/>
          </p:cNvCxnSpPr>
          <p:nvPr/>
        </p:nvCxnSpPr>
        <p:spPr bwMode="gray">
          <a:xfrm flipH="1">
            <a:off x="5431232" y="3872777"/>
            <a:ext cx="206824" cy="2094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72">
            <a:extLst>
              <a:ext uri="{FF2B5EF4-FFF2-40B4-BE49-F238E27FC236}">
                <a16:creationId xmlns="" xmlns:a16="http://schemas.microsoft.com/office/drawing/2014/main" id="{D67F52BD-1639-46D8-846B-7190AE894EB0}"/>
              </a:ext>
            </a:extLst>
          </p:cNvPr>
          <p:cNvCxnSpPr>
            <a:stCxn id="28" idx="5"/>
            <a:endCxn id="30" idx="1"/>
          </p:cNvCxnSpPr>
          <p:nvPr/>
        </p:nvCxnSpPr>
        <p:spPr bwMode="gray">
          <a:xfrm>
            <a:off x="5739890" y="3872777"/>
            <a:ext cx="222201" cy="2094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79">
            <a:extLst>
              <a:ext uri="{FF2B5EF4-FFF2-40B4-BE49-F238E27FC236}">
                <a16:creationId xmlns="" xmlns:a16="http://schemas.microsoft.com/office/drawing/2014/main" id="{12D151A3-0347-4FB0-8C76-A95BCCA0909E}"/>
              </a:ext>
            </a:extLst>
          </p:cNvPr>
          <p:cNvCxnSpPr>
            <a:stCxn id="30" idx="3"/>
            <a:endCxn id="31" idx="7"/>
          </p:cNvCxnSpPr>
          <p:nvPr/>
        </p:nvCxnSpPr>
        <p:spPr bwMode="gray">
          <a:xfrm flipH="1">
            <a:off x="5811898" y="4184051"/>
            <a:ext cx="150193" cy="23496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80">
            <a:extLst>
              <a:ext uri="{FF2B5EF4-FFF2-40B4-BE49-F238E27FC236}">
                <a16:creationId xmlns="" xmlns:a16="http://schemas.microsoft.com/office/drawing/2014/main" id="{BFABEB77-91BA-4299-B5FB-F684281A8883}"/>
              </a:ext>
            </a:extLst>
          </p:cNvPr>
          <p:cNvCxnSpPr>
            <a:stCxn id="30" idx="5"/>
            <a:endCxn id="32" idx="0"/>
          </p:cNvCxnSpPr>
          <p:nvPr/>
        </p:nvCxnSpPr>
        <p:spPr bwMode="gray">
          <a:xfrm>
            <a:off x="6063925" y="4184051"/>
            <a:ext cx="220455" cy="21387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52">
            <a:extLst>
              <a:ext uri="{FF2B5EF4-FFF2-40B4-BE49-F238E27FC236}">
                <a16:creationId xmlns="" xmlns:a16="http://schemas.microsoft.com/office/drawing/2014/main" id="{7B54A894-024A-49A5-9D6E-AAAC0682FCEB}"/>
              </a:ext>
            </a:extLst>
          </p:cNvPr>
          <p:cNvSpPr/>
          <p:nvPr/>
        </p:nvSpPr>
        <p:spPr bwMode="gray">
          <a:xfrm>
            <a:off x="6040728" y="3577408"/>
            <a:ext cx="55015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MIB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8" name="Group 3">
            <a:extLst>
              <a:ext uri="{FF2B5EF4-FFF2-40B4-BE49-F238E27FC236}">
                <a16:creationId xmlns="" xmlns:a16="http://schemas.microsoft.com/office/drawing/2014/main" id="{17A6B57B-070D-47C8-93D6-232EADBC8124}"/>
              </a:ext>
            </a:extLst>
          </p:cNvPr>
          <p:cNvGrpSpPr/>
          <p:nvPr/>
        </p:nvGrpSpPr>
        <p:grpSpPr bwMode="gray">
          <a:xfrm>
            <a:off x="4927043" y="4127949"/>
            <a:ext cx="261965" cy="61979"/>
            <a:chOff x="559282" y="6488261"/>
            <a:chExt cx="261965" cy="61979"/>
          </a:xfrm>
          <a:solidFill>
            <a:schemeClr val="bg1">
              <a:lumMod val="50000"/>
            </a:schemeClr>
          </a:solidFill>
        </p:grpSpPr>
        <p:sp>
          <p:nvSpPr>
            <p:cNvPr id="39" name="Oval 1">
              <a:extLst>
                <a:ext uri="{FF2B5EF4-FFF2-40B4-BE49-F238E27FC236}">
                  <a16:creationId xmlns="" xmlns:a16="http://schemas.microsoft.com/office/drawing/2014/main" id="{1F97F170-16AA-4C38-99C5-062B72E2C0F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9268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Oval 174">
              <a:extLst>
                <a:ext uri="{FF2B5EF4-FFF2-40B4-BE49-F238E27FC236}">
                  <a16:creationId xmlns="" xmlns:a16="http://schemas.microsoft.com/office/drawing/2014/main" id="{326D2148-2232-400D-A7A5-E6B92747051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9282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Oval 175">
              <a:extLst>
                <a:ext uri="{FF2B5EF4-FFF2-40B4-BE49-F238E27FC236}">
                  <a16:creationId xmlns="" xmlns:a16="http://schemas.microsoft.com/office/drawing/2014/main" id="{9E009DC2-D9A2-4901-856D-A3363B86F60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9275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2" name="Group 3">
            <a:extLst>
              <a:ext uri="{FF2B5EF4-FFF2-40B4-BE49-F238E27FC236}">
                <a16:creationId xmlns="" xmlns:a16="http://schemas.microsoft.com/office/drawing/2014/main" id="{9996C40A-32CB-4456-AEBF-9AE8B258E9A2}"/>
              </a:ext>
            </a:extLst>
          </p:cNvPr>
          <p:cNvGrpSpPr/>
          <p:nvPr/>
        </p:nvGrpSpPr>
        <p:grpSpPr bwMode="gray">
          <a:xfrm>
            <a:off x="5352742" y="4455635"/>
            <a:ext cx="261965" cy="61979"/>
            <a:chOff x="559282" y="6488261"/>
            <a:chExt cx="261965" cy="61979"/>
          </a:xfrm>
          <a:solidFill>
            <a:schemeClr val="bg1">
              <a:lumMod val="50000"/>
            </a:schemeClr>
          </a:solidFill>
        </p:grpSpPr>
        <p:sp>
          <p:nvSpPr>
            <p:cNvPr id="43" name="Oval 1">
              <a:extLst>
                <a:ext uri="{FF2B5EF4-FFF2-40B4-BE49-F238E27FC236}">
                  <a16:creationId xmlns="" xmlns:a16="http://schemas.microsoft.com/office/drawing/2014/main" id="{3F1A3184-B97C-42E6-ADA5-1D39CBFF15B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9268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Oval 174">
              <a:extLst>
                <a:ext uri="{FF2B5EF4-FFF2-40B4-BE49-F238E27FC236}">
                  <a16:creationId xmlns="" xmlns:a16="http://schemas.microsoft.com/office/drawing/2014/main" id="{7F7283AE-1699-43E4-8D0D-6396D09FFC8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9282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Oval 175">
              <a:extLst>
                <a:ext uri="{FF2B5EF4-FFF2-40B4-BE49-F238E27FC236}">
                  <a16:creationId xmlns="" xmlns:a16="http://schemas.microsoft.com/office/drawing/2014/main" id="{BD466902-558A-4D2E-99F7-52541A251C2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9275" y="6488261"/>
              <a:ext cx="61979" cy="619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="" xmlns:a16="http://schemas.microsoft.com/office/drawing/2014/main" id="{5074D7EB-77D7-4327-9364-C382A05BE1A2}"/>
              </a:ext>
            </a:extLst>
          </p:cNvPr>
          <p:cNvGrpSpPr/>
          <p:nvPr/>
        </p:nvGrpSpPr>
        <p:grpSpPr bwMode="gray">
          <a:xfrm>
            <a:off x="521559" y="3782492"/>
            <a:ext cx="4003011" cy="1853917"/>
            <a:chOff x="7156785" y="4338869"/>
            <a:chExt cx="3330358" cy="1542390"/>
          </a:xfrm>
        </p:grpSpPr>
        <p:grpSp>
          <p:nvGrpSpPr>
            <p:cNvPr id="48" name="组合 47">
              <a:extLst>
                <a:ext uri="{FF2B5EF4-FFF2-40B4-BE49-F238E27FC236}">
                  <a16:creationId xmlns="" xmlns:a16="http://schemas.microsoft.com/office/drawing/2014/main" id="{D06F9061-274D-481A-A434-6B4F6424F5FB}"/>
                </a:ext>
              </a:extLst>
            </p:cNvPr>
            <p:cNvGrpSpPr/>
            <p:nvPr/>
          </p:nvGrpSpPr>
          <p:grpSpPr bwMode="gray">
            <a:xfrm rot="10800000">
              <a:off x="9556514" y="4495561"/>
              <a:ext cx="747483" cy="1229007"/>
              <a:chOff x="4518701" y="2362981"/>
              <a:chExt cx="1546339" cy="2255715"/>
            </a:xfrm>
          </p:grpSpPr>
          <p:cxnSp>
            <p:nvCxnSpPr>
              <p:cNvPr id="69" name="直接连接符 68">
                <a:extLst>
                  <a:ext uri="{FF2B5EF4-FFF2-40B4-BE49-F238E27FC236}">
                    <a16:creationId xmlns="" xmlns:a16="http://schemas.microsoft.com/office/drawing/2014/main" id="{1DB50DB3-DB1B-4D41-BC62-022180B8EEFF}"/>
                  </a:ext>
                </a:extLst>
              </p:cNvPr>
              <p:cNvCxnSpPr>
                <a:cxnSpLocks/>
                <a:endCxn id="58" idx="3"/>
              </p:cNvCxnSpPr>
              <p:nvPr/>
            </p:nvCxnSpPr>
            <p:spPr bwMode="gray">
              <a:xfrm rot="10800000" flipH="1" flipV="1">
                <a:off x="4518701" y="3349861"/>
                <a:ext cx="1546337" cy="12688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="" xmlns:a16="http://schemas.microsoft.com/office/drawing/2014/main" id="{5210FD5C-4CE5-4B0E-AAC9-550D0DB20BE0}"/>
                  </a:ext>
                </a:extLst>
              </p:cNvPr>
              <p:cNvCxnSpPr>
                <a:cxnSpLocks/>
                <a:endCxn id="59" idx="3"/>
              </p:cNvCxnSpPr>
              <p:nvPr/>
            </p:nvCxnSpPr>
            <p:spPr bwMode="gray">
              <a:xfrm rot="10800000" flipH="1">
                <a:off x="4518703" y="2362981"/>
                <a:ext cx="1546337" cy="11034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直接连接符 48">
              <a:extLst>
                <a:ext uri="{FF2B5EF4-FFF2-40B4-BE49-F238E27FC236}">
                  <a16:creationId xmlns="" xmlns:a16="http://schemas.microsoft.com/office/drawing/2014/main" id="{6064C876-BC72-437C-8B57-D159154051CE}"/>
                </a:ext>
              </a:extLst>
            </p:cNvPr>
            <p:cNvCxnSpPr/>
            <p:nvPr/>
          </p:nvCxnSpPr>
          <p:spPr bwMode="gray">
            <a:xfrm flipH="1">
              <a:off x="8113569" y="4442075"/>
              <a:ext cx="1245829" cy="13681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="" xmlns:a16="http://schemas.microsoft.com/office/drawing/2014/main" id="{A71A70FB-5F38-4A24-A1E6-CD770140D0B2}"/>
                </a:ext>
              </a:extLst>
            </p:cNvPr>
            <p:cNvCxnSpPr/>
            <p:nvPr/>
          </p:nvCxnSpPr>
          <p:spPr bwMode="gray">
            <a:xfrm flipH="1" flipV="1">
              <a:off x="8112193" y="4432628"/>
              <a:ext cx="1237499" cy="13831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组合 50">
              <a:extLst>
                <a:ext uri="{FF2B5EF4-FFF2-40B4-BE49-F238E27FC236}">
                  <a16:creationId xmlns="" xmlns:a16="http://schemas.microsoft.com/office/drawing/2014/main" id="{B6F5CD1B-7948-4B83-B6B8-A4958B40C23E}"/>
                </a:ext>
              </a:extLst>
            </p:cNvPr>
            <p:cNvGrpSpPr/>
            <p:nvPr/>
          </p:nvGrpSpPr>
          <p:grpSpPr bwMode="gray">
            <a:xfrm>
              <a:off x="7360438" y="4436518"/>
              <a:ext cx="730964" cy="1373716"/>
              <a:chOff x="4518703" y="2205748"/>
              <a:chExt cx="1512166" cy="2521312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="" xmlns:a16="http://schemas.microsoft.com/office/drawing/2014/main" id="{935C5D3E-2147-4FDB-B2C6-4A9D8D489992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="" xmlns:a16="http://schemas.microsoft.com/office/drawing/2014/main" id="{8CDD0874-8E31-4660-978A-001C8412A374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直接连接符 51">
              <a:extLst>
                <a:ext uri="{FF2B5EF4-FFF2-40B4-BE49-F238E27FC236}">
                  <a16:creationId xmlns="" xmlns:a16="http://schemas.microsoft.com/office/drawing/2014/main" id="{6073106D-F853-4EC8-B4EB-E18169991D49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4500018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="" xmlns:a16="http://schemas.microsoft.com/office/drawing/2014/main" id="{D3D067A9-2E05-43D0-A9B6-B094850EC1D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5764991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="" xmlns:a16="http://schemas.microsoft.com/office/drawing/2014/main" id="{EC843B51-3764-46A6-A40D-737C470D6D3C}"/>
                </a:ext>
              </a:extLst>
            </p:cNvPr>
            <p:cNvCxnSpPr/>
            <p:nvPr/>
          </p:nvCxnSpPr>
          <p:spPr bwMode="gray">
            <a:xfrm flipV="1">
              <a:off x="9359398" y="4436518"/>
              <a:ext cx="0" cy="1379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图片 54">
              <a:extLst>
                <a:ext uri="{FF2B5EF4-FFF2-40B4-BE49-F238E27FC236}">
                  <a16:creationId xmlns="" xmlns:a16="http://schemas.microsoft.com/office/drawing/2014/main" id="{1DEA0159-68B5-4C51-9F0F-E57C7F3AFCD2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156785" y="4947023"/>
              <a:ext cx="382174" cy="313383"/>
            </a:xfrm>
            <a:prstGeom prst="rect">
              <a:avLst/>
            </a:prstGeom>
          </p:spPr>
        </p:pic>
        <p:pic>
          <p:nvPicPr>
            <p:cNvPr id="56" name="图片 55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4338869"/>
              <a:ext cx="382174" cy="313383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="" xmlns:a16="http://schemas.microsoft.com/office/drawing/2014/main" id="{548DE8DA-42DF-49F6-B49A-95E62D6A9BD6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5567876"/>
              <a:ext cx="382174" cy="313383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="" xmlns:a16="http://schemas.microsoft.com/office/drawing/2014/main" id="{8B44D1A2-66E4-4C1A-9918-0B4BC469B66A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4338869"/>
              <a:ext cx="382174" cy="313383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="" xmlns:a16="http://schemas.microsoft.com/office/drawing/2014/main" id="{20FB09DD-A6E6-4CC7-9E76-436B599EA5EF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5567876"/>
              <a:ext cx="382174" cy="313383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="" xmlns:a16="http://schemas.microsoft.com/office/drawing/2014/main" id="{67F07163-2A10-445C-B3A5-FC1175FA6AA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104969" y="4947023"/>
              <a:ext cx="382174" cy="313383"/>
            </a:xfrm>
            <a:prstGeom prst="rect">
              <a:avLst/>
            </a:prstGeom>
          </p:spPr>
        </p:pic>
        <p:cxnSp>
          <p:nvCxnSpPr>
            <p:cNvPr id="74" name="直接连接符 73">
              <a:extLst>
                <a:ext uri="{FF2B5EF4-FFF2-40B4-BE49-F238E27FC236}">
                  <a16:creationId xmlns="" xmlns:a16="http://schemas.microsoft.com/office/drawing/2014/main" id="{1BA6A26C-D9B9-425C-A07E-41F71828D50F}"/>
                </a:ext>
              </a:extLst>
            </p:cNvPr>
            <p:cNvCxnSpPr>
              <a:cxnSpLocks/>
              <a:stCxn id="57" idx="0"/>
              <a:endCxn id="56" idx="2"/>
            </p:cNvCxnSpPr>
            <p:nvPr/>
          </p:nvCxnSpPr>
          <p:spPr bwMode="gray">
            <a:xfrm flipV="1">
              <a:off x="8072733" y="4652252"/>
              <a:ext cx="0" cy="9156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196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任意多边形 2">
            <a:extLst>
              <a:ext uri="{FF2B5EF4-FFF2-40B4-BE49-F238E27FC236}">
                <a16:creationId xmlns="" xmlns:a16="http://schemas.microsoft.com/office/drawing/2014/main" id="{EBC4538E-312F-467B-ABA3-B0274884E782}"/>
              </a:ext>
            </a:extLst>
          </p:cNvPr>
          <p:cNvSpPr/>
          <p:nvPr/>
        </p:nvSpPr>
        <p:spPr bwMode="gray">
          <a:xfrm>
            <a:off x="3347334" y="2973867"/>
            <a:ext cx="1136129" cy="1953003"/>
          </a:xfrm>
          <a:custGeom>
            <a:avLst/>
            <a:gdLst>
              <a:gd name="connsiteX0" fmla="*/ 406400 w 1219200"/>
              <a:gd name="connsiteY0" fmla="*/ 4233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425450 w 1219200"/>
              <a:gd name="connsiteY0" fmla="*/ 1566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433070 w 1219200"/>
              <a:gd name="connsiteY0" fmla="*/ 423 h 618066"/>
              <a:gd name="connsiteX1" fmla="*/ 0 w 1219200"/>
              <a:gd name="connsiteY1" fmla="*/ 618066 h 618066"/>
              <a:gd name="connsiteX2" fmla="*/ 1219200 w 1219200"/>
              <a:gd name="connsiteY2" fmla="*/ 618066 h 618066"/>
              <a:gd name="connsiteX3" fmla="*/ 812800 w 1219200"/>
              <a:gd name="connsiteY3" fmla="*/ 0 h 618066"/>
              <a:gd name="connsiteX0" fmla="*/ 1985125 w 2771255"/>
              <a:gd name="connsiteY0" fmla="*/ 423 h 629991"/>
              <a:gd name="connsiteX1" fmla="*/ 0 w 2771255"/>
              <a:gd name="connsiteY1" fmla="*/ 629991 h 629991"/>
              <a:gd name="connsiteX2" fmla="*/ 2771255 w 2771255"/>
              <a:gd name="connsiteY2" fmla="*/ 618066 h 629991"/>
              <a:gd name="connsiteX3" fmla="*/ 2364855 w 2771255"/>
              <a:gd name="connsiteY3" fmla="*/ 0 h 629991"/>
              <a:gd name="connsiteX0" fmla="*/ 1985125 w 2432547"/>
              <a:gd name="connsiteY0" fmla="*/ 423 h 693588"/>
              <a:gd name="connsiteX1" fmla="*/ 0 w 2432547"/>
              <a:gd name="connsiteY1" fmla="*/ 629991 h 693588"/>
              <a:gd name="connsiteX2" fmla="*/ 2432547 w 2432547"/>
              <a:gd name="connsiteY2" fmla="*/ 693588 h 693588"/>
              <a:gd name="connsiteX3" fmla="*/ 2364855 w 2432547"/>
              <a:gd name="connsiteY3" fmla="*/ 0 h 693588"/>
              <a:gd name="connsiteX0" fmla="*/ 441645 w 2432547"/>
              <a:gd name="connsiteY0" fmla="*/ 100913 h 693588"/>
              <a:gd name="connsiteX1" fmla="*/ 0 w 2432547"/>
              <a:gd name="connsiteY1" fmla="*/ 629991 h 693588"/>
              <a:gd name="connsiteX2" fmla="*/ 2432547 w 2432547"/>
              <a:gd name="connsiteY2" fmla="*/ 693588 h 693588"/>
              <a:gd name="connsiteX3" fmla="*/ 2364855 w 2432547"/>
              <a:gd name="connsiteY3" fmla="*/ 0 h 693588"/>
              <a:gd name="connsiteX0" fmla="*/ 441645 w 2432547"/>
              <a:gd name="connsiteY0" fmla="*/ 18695 h 611370"/>
              <a:gd name="connsiteX1" fmla="*/ 0 w 2432547"/>
              <a:gd name="connsiteY1" fmla="*/ 547773 h 611370"/>
              <a:gd name="connsiteX2" fmla="*/ 2432547 w 2432547"/>
              <a:gd name="connsiteY2" fmla="*/ 611370 h 611370"/>
              <a:gd name="connsiteX3" fmla="*/ 849957 w 2432547"/>
              <a:gd name="connsiteY3" fmla="*/ 0 h 611370"/>
              <a:gd name="connsiteX0" fmla="*/ 441645 w 2346798"/>
              <a:gd name="connsiteY0" fmla="*/ 18695 h 547773"/>
              <a:gd name="connsiteX1" fmla="*/ 0 w 2346798"/>
              <a:gd name="connsiteY1" fmla="*/ 547773 h 547773"/>
              <a:gd name="connsiteX2" fmla="*/ 2346798 w 2346798"/>
              <a:gd name="connsiteY2" fmla="*/ 483475 h 547773"/>
              <a:gd name="connsiteX3" fmla="*/ 849957 w 2346798"/>
              <a:gd name="connsiteY3" fmla="*/ 0 h 547773"/>
              <a:gd name="connsiteX0" fmla="*/ 489283 w 2394436"/>
              <a:gd name="connsiteY0" fmla="*/ 18695 h 492961"/>
              <a:gd name="connsiteX1" fmla="*/ 0 w 2394436"/>
              <a:gd name="connsiteY1" fmla="*/ 492961 h 492961"/>
              <a:gd name="connsiteX2" fmla="*/ 2394436 w 2394436"/>
              <a:gd name="connsiteY2" fmla="*/ 483475 h 492961"/>
              <a:gd name="connsiteX3" fmla="*/ 897595 w 2394436"/>
              <a:gd name="connsiteY3" fmla="*/ 0 h 492961"/>
              <a:gd name="connsiteX0" fmla="*/ 0 w 3243834"/>
              <a:gd name="connsiteY0" fmla="*/ 535952 h 535952"/>
              <a:gd name="connsiteX1" fmla="*/ 849398 w 3243834"/>
              <a:gd name="connsiteY1" fmla="*/ 492961 h 535952"/>
              <a:gd name="connsiteX2" fmla="*/ 3243834 w 3243834"/>
              <a:gd name="connsiteY2" fmla="*/ 483475 h 535952"/>
              <a:gd name="connsiteX3" fmla="*/ 1746993 w 3243834"/>
              <a:gd name="connsiteY3" fmla="*/ 0 h 535952"/>
              <a:gd name="connsiteX0" fmla="*/ 0 w 3243834"/>
              <a:gd name="connsiteY0" fmla="*/ 363533 h 363533"/>
              <a:gd name="connsiteX1" fmla="*/ 849398 w 3243834"/>
              <a:gd name="connsiteY1" fmla="*/ 320542 h 363533"/>
              <a:gd name="connsiteX2" fmla="*/ 3243834 w 3243834"/>
              <a:gd name="connsiteY2" fmla="*/ 311056 h 363533"/>
              <a:gd name="connsiteX3" fmla="*/ 68645 w 3243834"/>
              <a:gd name="connsiteY3" fmla="*/ 0 h 363533"/>
              <a:gd name="connsiteX0" fmla="*/ 0 w 956087"/>
              <a:gd name="connsiteY0" fmla="*/ 1086991 h 1086991"/>
              <a:gd name="connsiteX1" fmla="*/ 849398 w 956087"/>
              <a:gd name="connsiteY1" fmla="*/ 1044000 h 1086991"/>
              <a:gd name="connsiteX2" fmla="*/ 956087 w 956087"/>
              <a:gd name="connsiteY2" fmla="*/ 0 h 1086991"/>
              <a:gd name="connsiteX3" fmla="*/ 68645 w 956087"/>
              <a:gd name="connsiteY3" fmla="*/ 723458 h 1086991"/>
              <a:gd name="connsiteX0" fmla="*/ 0 w 1428828"/>
              <a:gd name="connsiteY0" fmla="*/ 1086991 h 1158946"/>
              <a:gd name="connsiteX1" fmla="*/ 1428828 w 1428828"/>
              <a:gd name="connsiteY1" fmla="*/ 1158946 h 1158946"/>
              <a:gd name="connsiteX2" fmla="*/ 956087 w 1428828"/>
              <a:gd name="connsiteY2" fmla="*/ 0 h 1158946"/>
              <a:gd name="connsiteX3" fmla="*/ 68645 w 1428828"/>
              <a:gd name="connsiteY3" fmla="*/ 723458 h 1158946"/>
              <a:gd name="connsiteX0" fmla="*/ 0 w 1226590"/>
              <a:gd name="connsiteY0" fmla="*/ 1086991 h 1254735"/>
              <a:gd name="connsiteX1" fmla="*/ 1226590 w 1226590"/>
              <a:gd name="connsiteY1" fmla="*/ 1254735 h 1254735"/>
              <a:gd name="connsiteX2" fmla="*/ 956087 w 1226590"/>
              <a:gd name="connsiteY2" fmla="*/ 0 h 1254735"/>
              <a:gd name="connsiteX3" fmla="*/ 68645 w 1226590"/>
              <a:gd name="connsiteY3" fmla="*/ 723458 h 1254735"/>
              <a:gd name="connsiteX0" fmla="*/ 0 w 1226590"/>
              <a:gd name="connsiteY0" fmla="*/ 1240253 h 1407997"/>
              <a:gd name="connsiteX1" fmla="*/ 1226590 w 1226590"/>
              <a:gd name="connsiteY1" fmla="*/ 1407997 h 1407997"/>
              <a:gd name="connsiteX2" fmla="*/ 1171809 w 1226590"/>
              <a:gd name="connsiteY2" fmla="*/ 0 h 1407997"/>
              <a:gd name="connsiteX3" fmla="*/ 68645 w 1226590"/>
              <a:gd name="connsiteY3" fmla="*/ 876720 h 1407997"/>
              <a:gd name="connsiteX0" fmla="*/ 0 w 1725445"/>
              <a:gd name="connsiteY0" fmla="*/ 1240253 h 2107252"/>
              <a:gd name="connsiteX1" fmla="*/ 1725445 w 1725445"/>
              <a:gd name="connsiteY1" fmla="*/ 2107252 h 2107252"/>
              <a:gd name="connsiteX2" fmla="*/ 1171809 w 1725445"/>
              <a:gd name="connsiteY2" fmla="*/ 0 h 2107252"/>
              <a:gd name="connsiteX3" fmla="*/ 68645 w 1725445"/>
              <a:gd name="connsiteY3" fmla="*/ 876720 h 2107252"/>
              <a:gd name="connsiteX0" fmla="*/ 0 w 1725445"/>
              <a:gd name="connsiteY0" fmla="*/ 1240253 h 2107252"/>
              <a:gd name="connsiteX1" fmla="*/ 1725445 w 1725445"/>
              <a:gd name="connsiteY1" fmla="*/ 2107252 h 2107252"/>
              <a:gd name="connsiteX2" fmla="*/ 1643699 w 1725445"/>
              <a:gd name="connsiteY2" fmla="*/ 0 h 2107252"/>
              <a:gd name="connsiteX3" fmla="*/ 68645 w 1725445"/>
              <a:gd name="connsiteY3" fmla="*/ 876720 h 2107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5445" h="2107252">
                <a:moveTo>
                  <a:pt x="0" y="1240253"/>
                </a:moveTo>
                <a:lnTo>
                  <a:pt x="1725445" y="2107252"/>
                </a:lnTo>
                <a:lnTo>
                  <a:pt x="1643699" y="0"/>
                </a:lnTo>
                <a:lnTo>
                  <a:pt x="68645" y="876720"/>
                </a:lnTo>
              </a:path>
            </a:pathLst>
          </a:cu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chemeClr val="accent2">
                  <a:lumMod val="40000"/>
                  <a:lumOff val="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39AE995-96F7-40BA-819D-029271802C1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NETCONF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="" xmlns:a16="http://schemas.microsoft.com/office/drawing/2014/main" id="{77B6FDAE-4538-4A9C-8B28-676E172B7CD8}"/>
              </a:ext>
            </a:extLst>
          </p:cNvPr>
          <p:cNvSpPr/>
          <p:nvPr/>
        </p:nvSpPr>
        <p:spPr bwMode="gray">
          <a:xfrm>
            <a:off x="6694801" y="1474069"/>
            <a:ext cx="5039999" cy="1172388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并不是面向配置的协议，随着网络规模的增大、复杂性的增加，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已经不能适应当前复杂网络的管理，特别是不能满足配置管理的需求。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8B873974-ED8F-41B4-9699-250CF48766B0}"/>
              </a:ext>
            </a:extLst>
          </p:cNvPr>
          <p:cNvSpPr txBox="1"/>
          <p:nvPr/>
        </p:nvSpPr>
        <p:spPr bwMode="gray">
          <a:xfrm>
            <a:off x="6694800" y="1051456"/>
            <a:ext cx="5039999" cy="3735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b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SNMP</a:t>
            </a:r>
            <a:r>
              <a:rPr lang="zh-CN" altLang="en-US" b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的短板</a:t>
            </a:r>
          </a:p>
        </p:txBody>
      </p:sp>
      <p:pic>
        <p:nvPicPr>
          <p:cNvPr id="16" name="图片 72" descr="交换机.png">
            <a:extLst>
              <a:ext uri="{FF2B5EF4-FFF2-40B4-BE49-F238E27FC236}">
                <a16:creationId xmlns="" xmlns:a16="http://schemas.microsoft.com/office/drawing/2014/main" id="{563D8AE8-B9F0-46CC-ADB1-DB7197C1DC8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931203" y="1725416"/>
            <a:ext cx="489286" cy="401651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="" xmlns:a16="http://schemas.microsoft.com/office/drawing/2014/main" id="{CD225A4C-7FAF-49EC-9659-E2C785353369}"/>
              </a:ext>
            </a:extLst>
          </p:cNvPr>
          <p:cNvCxnSpPr>
            <a:cxnSpLocks/>
            <a:stCxn id="16" idx="2"/>
            <a:endCxn id="34" idx="0"/>
          </p:cNvCxnSpPr>
          <p:nvPr/>
        </p:nvCxnSpPr>
        <p:spPr bwMode="gray">
          <a:xfrm>
            <a:off x="3175846" y="2127067"/>
            <a:ext cx="448" cy="1655425"/>
          </a:xfrm>
          <a:prstGeom prst="line">
            <a:avLst/>
          </a:prstGeom>
          <a:noFill/>
          <a:ln w="19050" algn="ctr">
            <a:solidFill>
              <a:srgbClr val="C7000B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A8305B06-1529-4882-B558-BB980E5E6BC6}"/>
              </a:ext>
            </a:extLst>
          </p:cNvPr>
          <p:cNvSpPr txBox="1"/>
          <p:nvPr/>
        </p:nvSpPr>
        <p:spPr bwMode="gray">
          <a:xfrm>
            <a:off x="1671591" y="2761399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25A7A174-9CCC-4168-9D98-530A846B3A62}"/>
              </a:ext>
            </a:extLst>
          </p:cNvPr>
          <p:cNvSpPr txBox="1"/>
          <p:nvPr/>
        </p:nvSpPr>
        <p:spPr bwMode="gray">
          <a:xfrm>
            <a:off x="602701" y="1725416"/>
            <a:ext cx="2343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NMS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客户端）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例如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iMaster NCE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="" xmlns:a16="http://schemas.microsoft.com/office/drawing/2014/main" id="{5613176F-B790-49A4-A3A6-EF58E3976C8A}"/>
              </a:ext>
            </a:extLst>
          </p:cNvPr>
          <p:cNvSpPr/>
          <p:nvPr/>
        </p:nvSpPr>
        <p:spPr bwMode="gray">
          <a:xfrm>
            <a:off x="6694800" y="3228109"/>
            <a:ext cx="5040000" cy="2909165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 Configuration Protocol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，网络配置协议）提供了一种网管和网络设备之间通信的机制。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网络管理员可以利用这套机制在网管上增加、修改、删除网络设备的配置，获取网络设备的配置和状态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信息。</a:t>
            </a:r>
            <a:endParaRPr lang="en-US" altLang="zh-CN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文件来描述设备的数据模型。</a:t>
            </a:r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文件比起</a:t>
            </a:r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MIB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更具层次化结构。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14C5AD01-8C52-4ABE-B424-0D588AA0A139}"/>
              </a:ext>
            </a:extLst>
          </p:cNvPr>
          <p:cNvSpPr txBox="1"/>
          <p:nvPr/>
        </p:nvSpPr>
        <p:spPr bwMode="gray">
          <a:xfrm>
            <a:off x="6694801" y="2805498"/>
            <a:ext cx="5039999" cy="3744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NETCONF</a:t>
            </a:r>
            <a:r>
              <a:rPr lang="zh-CN" altLang="en-US" dirty="0">
                <a:sym typeface="Huawei Sans" panose="020C0503030203020204" pitchFamily="34" charset="0"/>
              </a:rPr>
              <a:t>简介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="" xmlns:a16="http://schemas.microsoft.com/office/drawing/2014/main" id="{94A4D45C-90A9-4A70-8153-06321CFC7C10}"/>
              </a:ext>
            </a:extLst>
          </p:cNvPr>
          <p:cNvGrpSpPr/>
          <p:nvPr/>
        </p:nvGrpSpPr>
        <p:grpSpPr bwMode="gray">
          <a:xfrm>
            <a:off x="521559" y="3782492"/>
            <a:ext cx="4003011" cy="1853917"/>
            <a:chOff x="7156785" y="4338869"/>
            <a:chExt cx="3330358" cy="1542390"/>
          </a:xfrm>
        </p:grpSpPr>
        <p:grpSp>
          <p:nvGrpSpPr>
            <p:cNvPr id="24" name="组合 23">
              <a:extLst>
                <a:ext uri="{FF2B5EF4-FFF2-40B4-BE49-F238E27FC236}">
                  <a16:creationId xmlns="" xmlns:a16="http://schemas.microsoft.com/office/drawing/2014/main" id="{074ED72A-ACAE-4E83-A442-9241D9B8B407}"/>
                </a:ext>
              </a:extLst>
            </p:cNvPr>
            <p:cNvGrpSpPr/>
            <p:nvPr/>
          </p:nvGrpSpPr>
          <p:grpSpPr bwMode="gray">
            <a:xfrm rot="10800000">
              <a:off x="9556514" y="4495561"/>
              <a:ext cx="747483" cy="1229007"/>
              <a:chOff x="4518701" y="2362981"/>
              <a:chExt cx="1546339" cy="2255715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="" xmlns:a16="http://schemas.microsoft.com/office/drawing/2014/main" id="{E7E69D5B-8F62-4CEB-8CD5-9F2E3A7F48CA}"/>
                  </a:ext>
                </a:extLst>
              </p:cNvPr>
              <p:cNvCxnSpPr>
                <a:cxnSpLocks/>
                <a:endCxn id="34" idx="3"/>
              </p:cNvCxnSpPr>
              <p:nvPr/>
            </p:nvCxnSpPr>
            <p:spPr bwMode="gray">
              <a:xfrm rot="10800000" flipH="1" flipV="1">
                <a:off x="4518701" y="3349861"/>
                <a:ext cx="1546337" cy="12688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="" xmlns:a16="http://schemas.microsoft.com/office/drawing/2014/main" id="{8EAC2D58-9EB7-440B-9864-6F8739D29AC3}"/>
                  </a:ext>
                </a:extLst>
              </p:cNvPr>
              <p:cNvCxnSpPr>
                <a:cxnSpLocks/>
                <a:endCxn id="35" idx="3"/>
              </p:cNvCxnSpPr>
              <p:nvPr/>
            </p:nvCxnSpPr>
            <p:spPr bwMode="gray">
              <a:xfrm rot="10800000" flipH="1">
                <a:off x="4518703" y="2362981"/>
                <a:ext cx="1546337" cy="11034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直接连接符 24">
              <a:extLst>
                <a:ext uri="{FF2B5EF4-FFF2-40B4-BE49-F238E27FC236}">
                  <a16:creationId xmlns="" xmlns:a16="http://schemas.microsoft.com/office/drawing/2014/main" id="{1997C025-09E8-4985-8DCA-54C9245A3631}"/>
                </a:ext>
              </a:extLst>
            </p:cNvPr>
            <p:cNvCxnSpPr/>
            <p:nvPr/>
          </p:nvCxnSpPr>
          <p:spPr bwMode="gray">
            <a:xfrm flipH="1">
              <a:off x="8113569" y="4442075"/>
              <a:ext cx="1245829" cy="13681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="" xmlns:a16="http://schemas.microsoft.com/office/drawing/2014/main" id="{930FEF12-46B8-4258-AAA8-E3E2C7DC9892}"/>
                </a:ext>
              </a:extLst>
            </p:cNvPr>
            <p:cNvCxnSpPr/>
            <p:nvPr/>
          </p:nvCxnSpPr>
          <p:spPr bwMode="gray">
            <a:xfrm flipH="1" flipV="1">
              <a:off x="8112193" y="4432628"/>
              <a:ext cx="1237499" cy="13831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="" xmlns:a16="http://schemas.microsoft.com/office/drawing/2014/main" id="{EECA607B-63DD-4713-88E9-62C914F04475}"/>
                </a:ext>
              </a:extLst>
            </p:cNvPr>
            <p:cNvGrpSpPr/>
            <p:nvPr/>
          </p:nvGrpSpPr>
          <p:grpSpPr bwMode="gray">
            <a:xfrm>
              <a:off x="7360438" y="4436518"/>
              <a:ext cx="730964" cy="1373716"/>
              <a:chOff x="4518703" y="2205748"/>
              <a:chExt cx="1512166" cy="2521312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="" xmlns:a16="http://schemas.microsoft.com/office/drawing/2014/main" id="{84B90B18-D367-485B-B0BE-9D0AFE2AA814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="" xmlns:a16="http://schemas.microsoft.com/office/drawing/2014/main" id="{2021C9F2-AB14-4E6F-A8B8-DE157B0A2E48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直接连接符 27">
              <a:extLst>
                <a:ext uri="{FF2B5EF4-FFF2-40B4-BE49-F238E27FC236}">
                  <a16:creationId xmlns="" xmlns:a16="http://schemas.microsoft.com/office/drawing/2014/main" id="{869C2B29-2DDB-49C5-856B-8AE50ABF9473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4500018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="" xmlns:a16="http://schemas.microsoft.com/office/drawing/2014/main" id="{328D8EB5-EDE0-4759-BF4C-98A1252EBF12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5764991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="" xmlns:a16="http://schemas.microsoft.com/office/drawing/2014/main" id="{91C750D0-9EBA-489D-BE79-79806538962A}"/>
                </a:ext>
              </a:extLst>
            </p:cNvPr>
            <p:cNvCxnSpPr/>
            <p:nvPr/>
          </p:nvCxnSpPr>
          <p:spPr bwMode="gray">
            <a:xfrm flipV="1">
              <a:off x="9359398" y="4436518"/>
              <a:ext cx="0" cy="1379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图片 30">
              <a:extLst>
                <a:ext uri="{FF2B5EF4-FFF2-40B4-BE49-F238E27FC236}">
                  <a16:creationId xmlns="" xmlns:a16="http://schemas.microsoft.com/office/drawing/2014/main" id="{27868FC2-B6FB-4E2A-AB60-AD6B576999EE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156785" y="4947023"/>
              <a:ext cx="382174" cy="313383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="" xmlns:a16="http://schemas.microsoft.com/office/drawing/2014/main" id="{A1D61472-2375-4F7F-B140-F56F4FD98588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4338869"/>
              <a:ext cx="382174" cy="313383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="" xmlns:a16="http://schemas.microsoft.com/office/drawing/2014/main" id="{8C2BD37A-D44A-4BFA-9F40-97D9DD223D6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5567876"/>
              <a:ext cx="382174" cy="313383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="" xmlns:a16="http://schemas.microsoft.com/office/drawing/2014/main" id="{9F8A3F92-B0DB-40B6-B0F6-85352190F7AD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4338869"/>
              <a:ext cx="382174" cy="313383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="" xmlns:a16="http://schemas.microsoft.com/office/drawing/2014/main" id="{BCABDE1F-9C48-450C-B46C-40F9B1D321BE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5567876"/>
              <a:ext cx="382174" cy="313383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="" xmlns:a16="http://schemas.microsoft.com/office/drawing/2014/main" id="{FEB3ACA1-CEF0-450D-874C-88DCA78C9C4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104969" y="4947023"/>
              <a:ext cx="382174" cy="313383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="" xmlns:a16="http://schemas.microsoft.com/office/drawing/2014/main" id="{2A464510-EB80-4D15-98B9-E71C95B3CA7E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 bwMode="gray">
            <a:xfrm flipV="1">
              <a:off x="8072733" y="4652252"/>
              <a:ext cx="0" cy="9156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>
            <a:extLst>
              <a:ext uri="{FF2B5EF4-FFF2-40B4-BE49-F238E27FC236}">
                <a16:creationId xmlns="" xmlns:a16="http://schemas.microsoft.com/office/drawing/2014/main" id="{AEC890EA-54F4-46BF-A6EE-B4E41C74F753}"/>
              </a:ext>
            </a:extLst>
          </p:cNvPr>
          <p:cNvGrpSpPr/>
          <p:nvPr/>
        </p:nvGrpSpPr>
        <p:grpSpPr bwMode="gray">
          <a:xfrm>
            <a:off x="4536207" y="2761398"/>
            <a:ext cx="1939367" cy="1994273"/>
            <a:chOff x="4576402" y="2718909"/>
            <a:chExt cx="2277722" cy="2171234"/>
          </a:xfrm>
        </p:grpSpPr>
        <p:sp>
          <p:nvSpPr>
            <p:cNvPr id="47" name="矩形 46">
              <a:extLst>
                <a:ext uri="{FF2B5EF4-FFF2-40B4-BE49-F238E27FC236}">
                  <a16:creationId xmlns="" xmlns:a16="http://schemas.microsoft.com/office/drawing/2014/main" id="{99ABAB37-8B53-4613-9893-BADEE80CAA87}"/>
                </a:ext>
              </a:extLst>
            </p:cNvPr>
            <p:cNvSpPr/>
            <p:nvPr/>
          </p:nvSpPr>
          <p:spPr bwMode="gray">
            <a:xfrm>
              <a:off x="4576402" y="2718909"/>
              <a:ext cx="2277722" cy="21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" name="Rounded Rectangle 30">
              <a:extLst>
                <a:ext uri="{FF2B5EF4-FFF2-40B4-BE49-F238E27FC236}">
                  <a16:creationId xmlns="" xmlns:a16="http://schemas.microsoft.com/office/drawing/2014/main" id="{13C24F4F-F74D-46A6-8BBB-6B46992860B0}"/>
                </a:ext>
              </a:extLst>
            </p:cNvPr>
            <p:cNvSpPr/>
            <p:nvPr/>
          </p:nvSpPr>
          <p:spPr bwMode="gray">
            <a:xfrm>
              <a:off x="4762279" y="3522206"/>
              <a:ext cx="1905968" cy="1212735"/>
            </a:xfrm>
            <a:prstGeom prst="roundRect">
              <a:avLst>
                <a:gd name="adj" fmla="val 7261"/>
              </a:avLst>
            </a:prstGeom>
            <a:solidFill>
              <a:srgbClr val="FFFFCC"/>
            </a:solidFill>
            <a:ln w="19050" cap="flat" cmpd="sng" algn="ctr">
              <a:solidFill>
                <a:srgbClr val="FFC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0" name="Rectangle 52">
            <a:extLst>
              <a:ext uri="{FF2B5EF4-FFF2-40B4-BE49-F238E27FC236}">
                <a16:creationId xmlns="" xmlns:a16="http://schemas.microsoft.com/office/drawing/2014/main" id="{15D0DFBC-B549-483E-96DB-2E6E1329E721}"/>
              </a:ext>
            </a:extLst>
          </p:cNvPr>
          <p:cNvSpPr/>
          <p:nvPr/>
        </p:nvSpPr>
        <p:spPr bwMode="gray">
          <a:xfrm>
            <a:off x="5009843" y="35890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数据模型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5E3ECB62-DC27-4BA0-B3EB-0D411CFF8B87}"/>
              </a:ext>
            </a:extLst>
          </p:cNvPr>
          <p:cNvSpPr txBox="1"/>
          <p:nvPr/>
        </p:nvSpPr>
        <p:spPr bwMode="gray">
          <a:xfrm>
            <a:off x="4362226" y="2872557"/>
            <a:ext cx="232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被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管理设备</a:t>
            </a:r>
            <a:endParaRPr lang="en-US" altLang="zh-CN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端）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竖卷形 127">
            <a:extLst>
              <a:ext uri="{FF2B5EF4-FFF2-40B4-BE49-F238E27FC236}">
                <a16:creationId xmlns="" xmlns:a16="http://schemas.microsoft.com/office/drawing/2014/main" id="{0B6AD5F5-F34E-4D34-84B1-E35F9DC1D840}"/>
              </a:ext>
            </a:extLst>
          </p:cNvPr>
          <p:cNvSpPr/>
          <p:nvPr/>
        </p:nvSpPr>
        <p:spPr bwMode="gray">
          <a:xfrm>
            <a:off x="4897529" y="3907934"/>
            <a:ext cx="859767" cy="564026"/>
          </a:xfrm>
          <a:prstGeom prst="verticalScroll">
            <a:avLst/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竖卷形 127">
            <a:extLst>
              <a:ext uri="{FF2B5EF4-FFF2-40B4-BE49-F238E27FC236}">
                <a16:creationId xmlns="" xmlns:a16="http://schemas.microsoft.com/office/drawing/2014/main" id="{80E0237A-9ACB-42D6-BCC0-67CD70B91479}"/>
              </a:ext>
            </a:extLst>
          </p:cNvPr>
          <p:cNvSpPr/>
          <p:nvPr/>
        </p:nvSpPr>
        <p:spPr bwMode="gray">
          <a:xfrm>
            <a:off x="5126276" y="3999182"/>
            <a:ext cx="859767" cy="564026"/>
          </a:xfrm>
          <a:prstGeom prst="verticalScroll">
            <a:avLst/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0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BFE888-2689-45C6-85EE-D23B607F3C0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BC2C32B-16B2-4B07-8A7C-0228482874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>
                <a:sym typeface="Huawei Sans" panose="020C0503030203020204" pitchFamily="34" charset="0"/>
              </a:rPr>
              <a:t>Telemetry</a:t>
            </a:r>
            <a:r>
              <a:rPr lang="zh-CN" altLang="en-US" sz="1800">
                <a:sym typeface="Huawei Sans" panose="020C0503030203020204" pitchFamily="34" charset="0"/>
              </a:rPr>
              <a:t>，也称为</a:t>
            </a:r>
            <a:r>
              <a:rPr lang="en-US" altLang="zh-CN" sz="1800">
                <a:sym typeface="Huawei Sans" panose="020C0503030203020204" pitchFamily="34" charset="0"/>
              </a:rPr>
              <a:t>Network Telemetry</a:t>
            </a:r>
            <a:r>
              <a:rPr lang="zh-CN" altLang="en-US" sz="1800">
                <a:sym typeface="Huawei Sans" panose="020C0503030203020204" pitchFamily="34" charset="0"/>
              </a:rPr>
              <a:t>，即网络遥测技术。主要用于监控网络，包括报文检查和分析，安全侵入和攻击检测，智能收集数据，应用的性能管理等。一般配合</a:t>
            </a:r>
            <a:r>
              <a:rPr lang="en-US" altLang="zh-CN" sz="1800">
                <a:sym typeface="Huawei Sans" panose="020C0503030203020204" pitchFamily="34" charset="0"/>
              </a:rPr>
              <a:t>NETCONF</a:t>
            </a:r>
            <a:r>
              <a:rPr lang="zh-CN" altLang="en-US" sz="1800">
                <a:sym typeface="Huawei Sans" panose="020C0503030203020204" pitchFamily="34" charset="0"/>
              </a:rPr>
              <a:t>使用，通过分析器分析</a:t>
            </a:r>
            <a:r>
              <a:rPr lang="en-US" altLang="zh-CN" sz="1800">
                <a:sym typeface="Huawei Sans" panose="020C0503030203020204" pitchFamily="34" charset="0"/>
              </a:rPr>
              <a:t>Telemetry</a:t>
            </a:r>
            <a:r>
              <a:rPr lang="zh-CN" altLang="en-US" sz="1800">
                <a:sym typeface="Huawei Sans" panose="020C0503030203020204" pitchFamily="34" charset="0"/>
              </a:rPr>
              <a:t>收集来的数据，分析器与控制器联动，根据分析结果自动修改设备配置等。</a:t>
            </a:r>
          </a:p>
          <a:p>
            <a:r>
              <a:rPr lang="en-US" altLang="zh-CN" sz="1800">
                <a:sym typeface="Huawei Sans" panose="020C0503030203020204" pitchFamily="34" charset="0"/>
              </a:rPr>
              <a:t>Telemetry</a:t>
            </a:r>
            <a:r>
              <a:rPr lang="zh-CN" altLang="en-US" sz="1800">
                <a:sym typeface="Huawei Sans" panose="020C0503030203020204" pitchFamily="34" charset="0"/>
              </a:rPr>
              <a:t>优势：</a:t>
            </a:r>
          </a:p>
          <a:p>
            <a:pPr lvl="1"/>
            <a:r>
              <a:rPr lang="zh-CN" altLang="en-US" sz="1600">
                <a:sym typeface="Huawei Sans" panose="020C0503030203020204" pitchFamily="34" charset="0"/>
              </a:rPr>
              <a:t>基于</a:t>
            </a:r>
            <a:r>
              <a:rPr lang="en-US" altLang="zh-CN" sz="1600">
                <a:sym typeface="Huawei Sans" panose="020C0503030203020204" pitchFamily="34" charset="0"/>
              </a:rPr>
              <a:t>YANG</a:t>
            </a:r>
            <a:r>
              <a:rPr lang="zh-CN" altLang="en-US" sz="1600">
                <a:sym typeface="Huawei Sans" panose="020C0503030203020204" pitchFamily="34" charset="0"/>
              </a:rPr>
              <a:t>标准模型。</a:t>
            </a:r>
          </a:p>
          <a:p>
            <a:pPr lvl="1"/>
            <a:r>
              <a:rPr lang="zh-CN" altLang="en-US" sz="1600">
                <a:sym typeface="Huawei Sans" panose="020C0503030203020204" pitchFamily="34" charset="0"/>
              </a:rPr>
              <a:t>采集数据的精度高，且类型十分丰富，充分反映网络状况。</a:t>
            </a:r>
          </a:p>
          <a:p>
            <a:pPr lvl="1"/>
            <a:r>
              <a:rPr lang="zh-CN" altLang="en-US" sz="1600">
                <a:sym typeface="Huawei Sans" panose="020C0503030203020204" pitchFamily="34" charset="0"/>
              </a:rPr>
              <a:t>一次订阅，持续上报。</a:t>
            </a:r>
          </a:p>
          <a:p>
            <a:pPr lvl="1"/>
            <a:r>
              <a:rPr lang="zh-CN" altLang="en-US" sz="1600">
                <a:sym typeface="Huawei Sans" panose="020C0503030203020204" pitchFamily="34" charset="0"/>
              </a:rPr>
              <a:t>故障定位更快速、精准。</a:t>
            </a:r>
            <a:endParaRPr lang="en-US" altLang="zh-CN" sz="1600">
              <a:sym typeface="Huawei Sans" panose="020C0503030203020204" pitchFamily="34" charset="0"/>
            </a:endParaRPr>
          </a:p>
          <a:p>
            <a:endParaRPr lang="zh-CN" altLang="en-US" sz="1800">
              <a:sym typeface="Huawei Sans" panose="020C0503030203020204" pitchFamily="34" charset="0"/>
            </a:endParaRPr>
          </a:p>
        </p:txBody>
      </p:sp>
      <p:sp>
        <p:nvSpPr>
          <p:cNvPr id="4" name="圆角矩形 75">
            <a:extLst>
              <a:ext uri="{FF2B5EF4-FFF2-40B4-BE49-F238E27FC236}">
                <a16:creationId xmlns="" xmlns:a16="http://schemas.microsoft.com/office/drawing/2014/main" id="{445A0BEF-C3C3-4B2F-BAB7-B4558099A847}"/>
              </a:ext>
            </a:extLst>
          </p:cNvPr>
          <p:cNvSpPr/>
          <p:nvPr/>
        </p:nvSpPr>
        <p:spPr bwMode="gray">
          <a:xfrm>
            <a:off x="7250205" y="2677098"/>
            <a:ext cx="3933835" cy="3425252"/>
          </a:xfrm>
          <a:prstGeom prst="roundRect">
            <a:avLst>
              <a:gd name="adj" fmla="val 8077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75">
            <a:extLst>
              <a:ext uri="{FF2B5EF4-FFF2-40B4-BE49-F238E27FC236}">
                <a16:creationId xmlns="" xmlns:a16="http://schemas.microsoft.com/office/drawing/2014/main" id="{EA3FACB6-79E5-4120-8FDC-274D534D5ABC}"/>
              </a:ext>
            </a:extLst>
          </p:cNvPr>
          <p:cNvSpPr/>
          <p:nvPr/>
        </p:nvSpPr>
        <p:spPr bwMode="gray">
          <a:xfrm>
            <a:off x="7356672" y="2798283"/>
            <a:ext cx="3744000" cy="1395781"/>
          </a:xfrm>
          <a:prstGeom prst="roundRect">
            <a:avLst>
              <a:gd name="adj" fmla="val 10604"/>
            </a:avLst>
          </a:prstGeom>
          <a:solidFill>
            <a:srgbClr val="F2FBFC"/>
          </a:solidFill>
          <a:ln w="1270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lnSpc>
                <a:spcPts val="2000"/>
              </a:lnSpc>
            </a:pP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19846B16-DB81-4326-A3D9-3DB089423D55}"/>
              </a:ext>
            </a:extLst>
          </p:cNvPr>
          <p:cNvGrpSpPr/>
          <p:nvPr/>
        </p:nvGrpSpPr>
        <p:grpSpPr bwMode="gray">
          <a:xfrm>
            <a:off x="7440887" y="3643662"/>
            <a:ext cx="1008000" cy="438005"/>
            <a:chOff x="663534" y="5605483"/>
            <a:chExt cx="1008000" cy="438005"/>
          </a:xfrm>
        </p:grpSpPr>
        <p:sp>
          <p:nvSpPr>
            <p:cNvPr id="7" name="圆角矩形 6">
              <a:extLst>
                <a:ext uri="{FF2B5EF4-FFF2-40B4-BE49-F238E27FC236}">
                  <a16:creationId xmlns="" xmlns:a16="http://schemas.microsoft.com/office/drawing/2014/main" id="{F8BCF379-3C65-4106-9F3E-DC9D2E293C31}"/>
                </a:ext>
              </a:extLst>
            </p:cNvPr>
            <p:cNvSpPr/>
            <p:nvPr/>
          </p:nvSpPr>
          <p:spPr bwMode="gray">
            <a:xfrm>
              <a:off x="663534" y="5605483"/>
              <a:ext cx="1008000" cy="438005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="" xmlns:a16="http://schemas.microsoft.com/office/drawing/2014/main" id="{E634A322-4CC5-43D1-8315-C49A7D7C3701}"/>
                </a:ext>
              </a:extLst>
            </p:cNvPr>
            <p:cNvSpPr txBox="1"/>
            <p:nvPr/>
          </p:nvSpPr>
          <p:spPr bwMode="gray">
            <a:xfrm>
              <a:off x="805896" y="567071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采集器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9F1BE0FD-A783-44E8-92FA-5BBE74183070}"/>
              </a:ext>
            </a:extLst>
          </p:cNvPr>
          <p:cNvGrpSpPr/>
          <p:nvPr/>
        </p:nvGrpSpPr>
        <p:grpSpPr bwMode="gray">
          <a:xfrm>
            <a:off x="9976611" y="3643663"/>
            <a:ext cx="1008000" cy="433114"/>
            <a:chOff x="1971217" y="5605485"/>
            <a:chExt cx="1008000" cy="433114"/>
          </a:xfrm>
        </p:grpSpPr>
        <p:sp>
          <p:nvSpPr>
            <p:cNvPr id="10" name="圆角矩形 9">
              <a:extLst>
                <a:ext uri="{FF2B5EF4-FFF2-40B4-BE49-F238E27FC236}">
                  <a16:creationId xmlns="" xmlns:a16="http://schemas.microsoft.com/office/drawing/2014/main" id="{14239C38-B53F-4DC8-94DF-D14AF6211D0B}"/>
                </a:ext>
              </a:extLst>
            </p:cNvPr>
            <p:cNvSpPr/>
            <p:nvPr/>
          </p:nvSpPr>
          <p:spPr bwMode="gray">
            <a:xfrm>
              <a:off x="1971217" y="5605485"/>
              <a:ext cx="1008000" cy="433114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="" xmlns:a16="http://schemas.microsoft.com/office/drawing/2014/main" id="{ACCB137A-3130-4620-B264-97B2F04C7AC6}"/>
                </a:ext>
              </a:extLst>
            </p:cNvPr>
            <p:cNvSpPr txBox="1"/>
            <p:nvPr/>
          </p:nvSpPr>
          <p:spPr bwMode="gray">
            <a:xfrm>
              <a:off x="2122680" y="567071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控制器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A8BA73EF-4014-4B4D-863D-4B140D80B89B}"/>
              </a:ext>
            </a:extLst>
          </p:cNvPr>
          <p:cNvGrpSpPr/>
          <p:nvPr/>
        </p:nvGrpSpPr>
        <p:grpSpPr bwMode="gray">
          <a:xfrm>
            <a:off x="8672563" y="2923952"/>
            <a:ext cx="1008000" cy="433781"/>
            <a:chOff x="3278900" y="5630905"/>
            <a:chExt cx="1008000" cy="433781"/>
          </a:xfrm>
        </p:grpSpPr>
        <p:sp>
          <p:nvSpPr>
            <p:cNvPr id="13" name="圆角矩形 12">
              <a:extLst>
                <a:ext uri="{FF2B5EF4-FFF2-40B4-BE49-F238E27FC236}">
                  <a16:creationId xmlns="" xmlns:a16="http://schemas.microsoft.com/office/drawing/2014/main" id="{26800E71-6CDA-4EDD-AC43-595A02E7912B}"/>
                </a:ext>
              </a:extLst>
            </p:cNvPr>
            <p:cNvSpPr/>
            <p:nvPr/>
          </p:nvSpPr>
          <p:spPr bwMode="gray">
            <a:xfrm>
              <a:off x="3278900" y="5630905"/>
              <a:ext cx="1008000" cy="433781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="" xmlns:a16="http://schemas.microsoft.com/office/drawing/2014/main" id="{097C179B-7C9E-4D3A-8015-ACEED25C4A8F}"/>
                </a:ext>
              </a:extLst>
            </p:cNvPr>
            <p:cNvSpPr txBox="1"/>
            <p:nvPr/>
          </p:nvSpPr>
          <p:spPr bwMode="gray">
            <a:xfrm>
              <a:off x="3440130" y="567071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分析器</a:t>
              </a:r>
            </a:p>
          </p:txBody>
        </p:sp>
      </p:grpSp>
      <p:cxnSp>
        <p:nvCxnSpPr>
          <p:cNvPr id="15" name="直接箭头连接符 14">
            <a:extLst>
              <a:ext uri="{FF2B5EF4-FFF2-40B4-BE49-F238E27FC236}">
                <a16:creationId xmlns="" xmlns:a16="http://schemas.microsoft.com/office/drawing/2014/main" id="{CB25FEB5-446D-4322-B59A-47599704251A}"/>
              </a:ext>
            </a:extLst>
          </p:cNvPr>
          <p:cNvCxnSpPr>
            <a:stCxn id="7" idx="0"/>
            <a:endCxn id="13" idx="1"/>
          </p:cNvCxnSpPr>
          <p:nvPr/>
        </p:nvCxnSpPr>
        <p:spPr bwMode="gray">
          <a:xfrm flipV="1">
            <a:off x="7944887" y="3140843"/>
            <a:ext cx="727676" cy="50281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="" xmlns:a16="http://schemas.microsoft.com/office/drawing/2014/main" id="{3601687C-395B-46DC-AE9F-F911B84A9382}"/>
              </a:ext>
            </a:extLst>
          </p:cNvPr>
          <p:cNvCxnSpPr>
            <a:stCxn id="13" idx="3"/>
            <a:endCxn id="10" idx="0"/>
          </p:cNvCxnSpPr>
          <p:nvPr/>
        </p:nvCxnSpPr>
        <p:spPr bwMode="gray">
          <a:xfrm>
            <a:off x="9680563" y="3140843"/>
            <a:ext cx="800048" cy="50282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0AC75EE2-62E3-436A-BABA-087A95A639B9}"/>
              </a:ext>
            </a:extLst>
          </p:cNvPr>
          <p:cNvCxnSpPr/>
          <p:nvPr/>
        </p:nvCxnSpPr>
        <p:spPr bwMode="gray">
          <a:xfrm flipV="1">
            <a:off x="8076671" y="4221887"/>
            <a:ext cx="0" cy="8928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0D8E197C-FABA-4788-BB18-AB7DCE359D7B}"/>
              </a:ext>
            </a:extLst>
          </p:cNvPr>
          <p:cNvSpPr txBox="1"/>
          <p:nvPr/>
        </p:nvSpPr>
        <p:spPr bwMode="gray">
          <a:xfrm>
            <a:off x="8064160" y="4437307"/>
            <a:ext cx="100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</a:p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上传数据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7D07DF50-04F4-4DEA-9379-77B00BDF135B}"/>
              </a:ext>
            </a:extLst>
          </p:cNvPr>
          <p:cNvCxnSpPr/>
          <p:nvPr/>
        </p:nvCxnSpPr>
        <p:spPr bwMode="gray">
          <a:xfrm>
            <a:off x="10489711" y="4259065"/>
            <a:ext cx="0" cy="8557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FAA2714F-1849-45C1-B299-5C9D6E534D6F}"/>
              </a:ext>
            </a:extLst>
          </p:cNvPr>
          <p:cNvSpPr txBox="1"/>
          <p:nvPr/>
        </p:nvSpPr>
        <p:spPr bwMode="gray">
          <a:xfrm>
            <a:off x="9522260" y="4432255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</a:p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下发配置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="" xmlns:a16="http://schemas.microsoft.com/office/drawing/2014/main" id="{42AADC1B-B104-4654-BAD3-838105A8A4C7}"/>
              </a:ext>
            </a:extLst>
          </p:cNvPr>
          <p:cNvGrpSpPr/>
          <p:nvPr/>
        </p:nvGrpSpPr>
        <p:grpSpPr bwMode="gray">
          <a:xfrm>
            <a:off x="7440887" y="5141140"/>
            <a:ext cx="3543724" cy="826219"/>
            <a:chOff x="663534" y="5605483"/>
            <a:chExt cx="1008000" cy="812608"/>
          </a:xfrm>
        </p:grpSpPr>
        <p:sp>
          <p:nvSpPr>
            <p:cNvPr id="22" name="圆角矩形 27">
              <a:extLst>
                <a:ext uri="{FF2B5EF4-FFF2-40B4-BE49-F238E27FC236}">
                  <a16:creationId xmlns="" xmlns:a16="http://schemas.microsoft.com/office/drawing/2014/main" id="{BDCBEA54-DFFB-4FF4-AD02-7E8FA4B1AD25}"/>
                </a:ext>
              </a:extLst>
            </p:cNvPr>
            <p:cNvSpPr/>
            <p:nvPr/>
          </p:nvSpPr>
          <p:spPr bwMode="gray">
            <a:xfrm>
              <a:off x="663534" y="5605483"/>
              <a:ext cx="1008000" cy="812608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="" xmlns:a16="http://schemas.microsoft.com/office/drawing/2014/main" id="{7EEDD6C6-C703-4029-9CFF-CB2768EFF879}"/>
                </a:ext>
              </a:extLst>
            </p:cNvPr>
            <p:cNvSpPr txBox="1"/>
            <p:nvPr/>
          </p:nvSpPr>
          <p:spPr bwMode="gray">
            <a:xfrm>
              <a:off x="1039133" y="5670711"/>
              <a:ext cx="256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网络设备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B6F625B6-3A25-4533-8E72-FCAA2B8B7FDF}"/>
              </a:ext>
            </a:extLst>
          </p:cNvPr>
          <p:cNvSpPr txBox="1"/>
          <p:nvPr/>
        </p:nvSpPr>
        <p:spPr bwMode="gray">
          <a:xfrm>
            <a:off x="7345875" y="4539976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亚秒级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BCAE049E-BC11-42D4-BB95-625A446561FE}"/>
              </a:ext>
            </a:extLst>
          </p:cNvPr>
          <p:cNvSpPr txBox="1"/>
          <p:nvPr/>
        </p:nvSpPr>
        <p:spPr bwMode="gray">
          <a:xfrm>
            <a:off x="8680036" y="5557133"/>
            <a:ext cx="1027845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349186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3EAFBB1-6897-4C72-8770-4F69363BD67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BGP-LS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EAB26C3-C7BA-49B3-8F7C-9C1FF6D2BE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BGP Link State</a:t>
            </a:r>
            <a:r>
              <a:rPr lang="zh-CN" altLang="en-US" sz="1600" dirty="0">
                <a:sym typeface="Huawei Sans" panose="020C0503030203020204" pitchFamily="34" charset="0"/>
              </a:rPr>
              <a:t>）在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基础扩展新的</a:t>
            </a:r>
            <a:r>
              <a:rPr lang="en-US" altLang="zh-CN" sz="1600" dirty="0">
                <a:sym typeface="Huawei Sans" panose="020C0503030203020204" pitchFamily="34" charset="0"/>
              </a:rPr>
              <a:t>NLRI</a:t>
            </a:r>
            <a:r>
              <a:rPr lang="zh-CN" altLang="en-US" sz="1600" dirty="0">
                <a:sym typeface="Huawei Sans" panose="020C0503030203020204" pitchFamily="34" charset="0"/>
              </a:rPr>
              <a:t>。此</a:t>
            </a:r>
            <a:r>
              <a:rPr lang="en-US" altLang="zh-CN" sz="1600" dirty="0">
                <a:sym typeface="Huawei Sans" panose="020C0503030203020204" pitchFamily="34" charset="0"/>
              </a:rPr>
              <a:t>NLRI</a:t>
            </a:r>
            <a:r>
              <a:rPr lang="zh-CN" altLang="en-US" sz="1600" dirty="0">
                <a:sym typeface="Huawei Sans" panose="020C0503030203020204" pitchFamily="34" charset="0"/>
              </a:rPr>
              <a:t>携带链路、节点和拓扑前缀等信息，又称为</a:t>
            </a:r>
            <a:r>
              <a:rPr lang="zh-CN" altLang="en-US" sz="1600" b="1" dirty="0">
                <a:sym typeface="Huawei Sans" panose="020C0503030203020204" pitchFamily="34" charset="0"/>
              </a:rPr>
              <a:t>链路状态</a:t>
            </a:r>
            <a:r>
              <a:rPr lang="en-US" altLang="zh-CN" sz="1600" b="1" dirty="0">
                <a:sym typeface="Huawei Sans" panose="020C0503030203020204" pitchFamily="34" charset="0"/>
              </a:rPr>
              <a:t>NLRI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sym typeface="Huawei Sans" panose="020C0503030203020204" pitchFamily="34" charset="0"/>
              </a:rPr>
              <a:t>支持汇总网络层拓扑、带宽、时延等信息，统一上送控制器用于路径计算。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pic>
        <p:nvPicPr>
          <p:cNvPr id="5" name="图片 72" descr="交换机.png">
            <a:extLst>
              <a:ext uri="{FF2B5EF4-FFF2-40B4-BE49-F238E27FC236}">
                <a16:creationId xmlns="" xmlns:a16="http://schemas.microsoft.com/office/drawing/2014/main" id="{404BE3CA-DD6D-4EF0-A2CD-54F1BC5FFA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061573" y="2332949"/>
            <a:ext cx="489286" cy="401651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B9E2FDA9-6CCA-48CA-99C5-F7D7F8B1B6AA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 bwMode="gray">
          <a:xfrm>
            <a:off x="3306216" y="2734600"/>
            <a:ext cx="448" cy="1363325"/>
          </a:xfrm>
          <a:prstGeom prst="line">
            <a:avLst/>
          </a:prstGeom>
          <a:noFill/>
          <a:ln w="19050" algn="ctr">
            <a:solidFill>
              <a:srgbClr val="BEE9EE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E766A5DE-B01D-4A60-881D-75A5A224FE40}"/>
              </a:ext>
            </a:extLst>
          </p:cNvPr>
          <p:cNvSpPr txBox="1"/>
          <p:nvPr/>
        </p:nvSpPr>
        <p:spPr bwMode="gray">
          <a:xfrm>
            <a:off x="1243848" y="3048508"/>
            <a:ext cx="1980029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   </a:t>
            </a:r>
          </a:p>
          <a:p>
            <a:pPr algn="r">
              <a:lnSpc>
                <a:spcPct val="130000"/>
              </a:lnSpc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（拓扑、带宽、时延）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485FBBE8-9E63-4483-8B0C-FC0E73D3140C}"/>
              </a:ext>
            </a:extLst>
          </p:cNvPr>
          <p:cNvSpPr txBox="1"/>
          <p:nvPr/>
        </p:nvSpPr>
        <p:spPr bwMode="gray">
          <a:xfrm>
            <a:off x="2181563" y="240720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4CCE2C2D-8441-4CDE-8F3A-CEEFF90848C4}"/>
              </a:ext>
            </a:extLst>
          </p:cNvPr>
          <p:cNvGrpSpPr/>
          <p:nvPr/>
        </p:nvGrpSpPr>
        <p:grpSpPr bwMode="gray">
          <a:xfrm>
            <a:off x="651929" y="4097925"/>
            <a:ext cx="4003011" cy="1853917"/>
            <a:chOff x="7156785" y="4338869"/>
            <a:chExt cx="3330358" cy="1542390"/>
          </a:xfrm>
        </p:grpSpPr>
        <p:grpSp>
          <p:nvGrpSpPr>
            <p:cNvPr id="10" name="组合 9">
              <a:extLst>
                <a:ext uri="{FF2B5EF4-FFF2-40B4-BE49-F238E27FC236}">
                  <a16:creationId xmlns="" xmlns:a16="http://schemas.microsoft.com/office/drawing/2014/main" id="{C16E092B-2836-458E-86DA-0CF8BA1C04B2}"/>
                </a:ext>
              </a:extLst>
            </p:cNvPr>
            <p:cNvGrpSpPr/>
            <p:nvPr/>
          </p:nvGrpSpPr>
          <p:grpSpPr bwMode="gray">
            <a:xfrm rot="10800000">
              <a:off x="9556514" y="4495561"/>
              <a:ext cx="747483" cy="1229007"/>
              <a:chOff x="4518701" y="2362981"/>
              <a:chExt cx="1546339" cy="2255715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="" xmlns:a16="http://schemas.microsoft.com/office/drawing/2014/main" id="{A8B20E1F-35D0-49E4-A416-4918383640D1}"/>
                  </a:ext>
                </a:extLst>
              </p:cNvPr>
              <p:cNvCxnSpPr>
                <a:cxnSpLocks/>
                <a:endCxn id="20" idx="3"/>
              </p:cNvCxnSpPr>
              <p:nvPr/>
            </p:nvCxnSpPr>
            <p:spPr bwMode="gray">
              <a:xfrm rot="10800000" flipH="1" flipV="1">
                <a:off x="4518701" y="3349861"/>
                <a:ext cx="1546337" cy="12688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="" xmlns:a16="http://schemas.microsoft.com/office/drawing/2014/main" id="{2E7CBAD6-D236-466F-A0A6-62EC895F1D6C}"/>
                  </a:ext>
                </a:extLst>
              </p:cNvPr>
              <p:cNvCxnSpPr>
                <a:cxnSpLocks/>
                <a:endCxn id="21" idx="3"/>
              </p:cNvCxnSpPr>
              <p:nvPr/>
            </p:nvCxnSpPr>
            <p:spPr bwMode="gray">
              <a:xfrm rot="10800000" flipH="1">
                <a:off x="4518703" y="2362981"/>
                <a:ext cx="1546337" cy="11034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直接连接符 10">
              <a:extLst>
                <a:ext uri="{FF2B5EF4-FFF2-40B4-BE49-F238E27FC236}">
                  <a16:creationId xmlns="" xmlns:a16="http://schemas.microsoft.com/office/drawing/2014/main" id="{1BC6203E-177B-4D57-820B-687B954A3639}"/>
                </a:ext>
              </a:extLst>
            </p:cNvPr>
            <p:cNvCxnSpPr/>
            <p:nvPr/>
          </p:nvCxnSpPr>
          <p:spPr bwMode="gray">
            <a:xfrm flipH="1">
              <a:off x="8113569" y="4442075"/>
              <a:ext cx="1245829" cy="13681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="" xmlns:a16="http://schemas.microsoft.com/office/drawing/2014/main" id="{F1B7E577-AA9C-478F-AEDE-811488175FFE}"/>
                </a:ext>
              </a:extLst>
            </p:cNvPr>
            <p:cNvCxnSpPr/>
            <p:nvPr/>
          </p:nvCxnSpPr>
          <p:spPr bwMode="gray">
            <a:xfrm flipH="1" flipV="1">
              <a:off x="8112193" y="4432628"/>
              <a:ext cx="1237499" cy="13831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="" xmlns:a16="http://schemas.microsoft.com/office/drawing/2014/main" id="{74822A84-7DFA-4BE9-A6EE-96FF15B9B2A9}"/>
                </a:ext>
              </a:extLst>
            </p:cNvPr>
            <p:cNvGrpSpPr/>
            <p:nvPr/>
          </p:nvGrpSpPr>
          <p:grpSpPr bwMode="gray">
            <a:xfrm>
              <a:off x="7360438" y="4436518"/>
              <a:ext cx="730964" cy="1373716"/>
              <a:chOff x="4518703" y="2205748"/>
              <a:chExt cx="1512166" cy="2521312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="" xmlns:a16="http://schemas.microsoft.com/office/drawing/2014/main" id="{D906EEEE-831D-4643-8922-2E6AE05E1E00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="" xmlns:a16="http://schemas.microsoft.com/office/drawing/2014/main" id="{68D32096-30FD-46C6-8F9C-43CA6D375B07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接连接符 13">
              <a:extLst>
                <a:ext uri="{FF2B5EF4-FFF2-40B4-BE49-F238E27FC236}">
                  <a16:creationId xmlns="" xmlns:a16="http://schemas.microsoft.com/office/drawing/2014/main" id="{697C9F43-37BB-402F-A4B6-E133015C58A2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4500018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="" xmlns:a16="http://schemas.microsoft.com/office/drawing/2014/main" id="{DA6F3311-1361-4FA1-BFB0-D07CE38531E9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5764991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="" xmlns:a16="http://schemas.microsoft.com/office/drawing/2014/main" id="{8BB8417A-3D2D-4A13-B350-CEDC064F1A5B}"/>
                </a:ext>
              </a:extLst>
            </p:cNvPr>
            <p:cNvCxnSpPr/>
            <p:nvPr/>
          </p:nvCxnSpPr>
          <p:spPr bwMode="gray">
            <a:xfrm flipV="1">
              <a:off x="9359398" y="4436518"/>
              <a:ext cx="0" cy="1379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>
              <a:extLst>
                <a:ext uri="{FF2B5EF4-FFF2-40B4-BE49-F238E27FC236}">
                  <a16:creationId xmlns="" xmlns:a16="http://schemas.microsoft.com/office/drawing/2014/main" id="{CC7B59FB-1938-4F84-B32F-4F25BD3DDD66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156785" y="4947023"/>
              <a:ext cx="382174" cy="313383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="" xmlns:a16="http://schemas.microsoft.com/office/drawing/2014/main" id="{5C3A18D1-1EC6-46AE-8A33-A34679D199D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4338869"/>
              <a:ext cx="382174" cy="313383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="" xmlns:a16="http://schemas.microsoft.com/office/drawing/2014/main" id="{E829C70E-AD52-427F-A1C1-0F49CE664804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5567876"/>
              <a:ext cx="382174" cy="313383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="" xmlns:a16="http://schemas.microsoft.com/office/drawing/2014/main" id="{09DC89D4-9CB2-43D0-AFD9-0114C59A447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4338869"/>
              <a:ext cx="382174" cy="313383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="" xmlns:a16="http://schemas.microsoft.com/office/drawing/2014/main" id="{8027CEAE-E790-43D0-8A02-482866BE9643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5567876"/>
              <a:ext cx="382174" cy="313383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="" xmlns:a16="http://schemas.microsoft.com/office/drawing/2014/main" id="{46AA0C28-8628-431B-A407-D7469A0B57EE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104969" y="4947023"/>
              <a:ext cx="382174" cy="313383"/>
            </a:xfrm>
            <a:prstGeom prst="rect">
              <a:avLst/>
            </a:prstGeom>
          </p:spPr>
        </p:pic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49EB3DA8-752E-43FD-81FF-1807DCE74084}"/>
                </a:ext>
              </a:extLst>
            </p:cNvPr>
            <p:cNvCxnSpPr>
              <a:cxnSpLocks/>
              <a:stCxn id="19" idx="0"/>
              <a:endCxn id="18" idx="2"/>
            </p:cNvCxnSpPr>
            <p:nvPr/>
          </p:nvCxnSpPr>
          <p:spPr bwMode="gray">
            <a:xfrm flipV="1">
              <a:off x="8072733" y="4652252"/>
              <a:ext cx="0" cy="9156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="" xmlns:a16="http://schemas.microsoft.com/office/drawing/2014/main" id="{8943B104-FCC5-41B2-83B6-0DE81634D570}"/>
              </a:ext>
            </a:extLst>
          </p:cNvPr>
          <p:cNvGrpSpPr/>
          <p:nvPr/>
        </p:nvGrpSpPr>
        <p:grpSpPr bwMode="gray">
          <a:xfrm>
            <a:off x="4839469" y="3324940"/>
            <a:ext cx="2532751" cy="1641730"/>
            <a:chOff x="4943730" y="3431708"/>
            <a:chExt cx="2985129" cy="1698767"/>
          </a:xfrm>
          <a:solidFill>
            <a:srgbClr val="BEE9EE"/>
          </a:solidFill>
        </p:grpSpPr>
        <p:sp>
          <p:nvSpPr>
            <p:cNvPr id="28" name="矩形 27">
              <a:extLst>
                <a:ext uri="{FF2B5EF4-FFF2-40B4-BE49-F238E27FC236}">
                  <a16:creationId xmlns="" xmlns:a16="http://schemas.microsoft.com/office/drawing/2014/main" id="{DF47F89A-AC89-478A-AEE1-4642653AD5DA}"/>
                </a:ext>
              </a:extLst>
            </p:cNvPr>
            <p:cNvSpPr/>
            <p:nvPr/>
          </p:nvSpPr>
          <p:spPr bwMode="gray">
            <a:xfrm>
              <a:off x="5402474" y="3431708"/>
              <a:ext cx="2024743" cy="40277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BGP-LS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="" xmlns:a16="http://schemas.microsoft.com/office/drawing/2014/main" id="{DE5C66D2-EED8-470C-9CDE-2AF9B86700E2}"/>
                </a:ext>
              </a:extLst>
            </p:cNvPr>
            <p:cNvSpPr/>
            <p:nvPr/>
          </p:nvSpPr>
          <p:spPr bwMode="gray">
            <a:xfrm>
              <a:off x="5278526" y="4027512"/>
              <a:ext cx="290286" cy="551543"/>
            </a:xfrm>
            <a:custGeom>
              <a:avLst/>
              <a:gdLst>
                <a:gd name="connsiteX0" fmla="*/ 0 w 290286"/>
                <a:gd name="connsiteY0" fmla="*/ 551543 h 551543"/>
                <a:gd name="connsiteX1" fmla="*/ 101600 w 290286"/>
                <a:gd name="connsiteY1" fmla="*/ 232229 h 551543"/>
                <a:gd name="connsiteX2" fmla="*/ 290286 w 290286"/>
                <a:gd name="connsiteY2" fmla="*/ 0 h 55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286" h="551543">
                  <a:moveTo>
                    <a:pt x="0" y="551543"/>
                  </a:moveTo>
                  <a:cubicBezTo>
                    <a:pt x="26609" y="437848"/>
                    <a:pt x="53219" y="324153"/>
                    <a:pt x="101600" y="232229"/>
                  </a:cubicBezTo>
                  <a:cubicBezTo>
                    <a:pt x="149981" y="140305"/>
                    <a:pt x="220133" y="70152"/>
                    <a:pt x="290286" y="0"/>
                  </a:cubicBezTo>
                </a:path>
              </a:pathLst>
            </a:custGeom>
            <a:solidFill>
              <a:srgbClr val="BEE9EE"/>
            </a:solidFill>
            <a:ln w="76200">
              <a:solidFill>
                <a:srgbClr val="BEE9EE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="" xmlns:a16="http://schemas.microsoft.com/office/drawing/2014/main" id="{4E2F0049-7C3D-48FF-9C07-8758D74DE057}"/>
                </a:ext>
              </a:extLst>
            </p:cNvPr>
            <p:cNvSpPr/>
            <p:nvPr/>
          </p:nvSpPr>
          <p:spPr bwMode="gray">
            <a:xfrm>
              <a:off x="4943730" y="4797317"/>
              <a:ext cx="553647" cy="333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IGP</a:t>
              </a:r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="" xmlns:a16="http://schemas.microsoft.com/office/drawing/2014/main" id="{EC8CAC9B-9F3B-4F10-8A83-A584B1B4575D}"/>
                </a:ext>
              </a:extLst>
            </p:cNvPr>
            <p:cNvSpPr/>
            <p:nvPr/>
          </p:nvSpPr>
          <p:spPr bwMode="gray">
            <a:xfrm>
              <a:off x="5580154" y="4797317"/>
              <a:ext cx="1038789" cy="333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TWAMP</a:t>
              </a:r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="" xmlns:a16="http://schemas.microsoft.com/office/drawing/2014/main" id="{C4ECC9F9-81F4-4FB8-8B3C-722FAE416B40}"/>
                </a:ext>
              </a:extLst>
            </p:cNvPr>
            <p:cNvSpPr/>
            <p:nvPr/>
          </p:nvSpPr>
          <p:spPr bwMode="gray">
            <a:xfrm>
              <a:off x="6716959" y="4797317"/>
              <a:ext cx="564562" cy="333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TE</a:t>
              </a:r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="" xmlns:a16="http://schemas.microsoft.com/office/drawing/2014/main" id="{C3E2DFC2-79F6-4935-BB9B-AFAB2284132C}"/>
                </a:ext>
              </a:extLst>
            </p:cNvPr>
            <p:cNvSpPr/>
            <p:nvPr/>
          </p:nvSpPr>
          <p:spPr bwMode="gray">
            <a:xfrm>
              <a:off x="7364297" y="4797317"/>
              <a:ext cx="564562" cy="3331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</a:t>
              </a:r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="" xmlns:a16="http://schemas.microsoft.com/office/drawing/2014/main" id="{59873421-0D6F-47A0-9F78-6A0FB72CD57E}"/>
                </a:ext>
              </a:extLst>
            </p:cNvPr>
            <p:cNvSpPr/>
            <p:nvPr/>
          </p:nvSpPr>
          <p:spPr bwMode="gray">
            <a:xfrm>
              <a:off x="6067429" y="4027513"/>
              <a:ext cx="45719" cy="597760"/>
            </a:xfrm>
            <a:custGeom>
              <a:avLst/>
              <a:gdLst>
                <a:gd name="connsiteX0" fmla="*/ 0 w 43543"/>
                <a:gd name="connsiteY0" fmla="*/ 493485 h 493485"/>
                <a:gd name="connsiteX1" fmla="*/ 43543 w 43543"/>
                <a:gd name="connsiteY1" fmla="*/ 0 h 49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543" h="493485">
                  <a:moveTo>
                    <a:pt x="0" y="493485"/>
                  </a:moveTo>
                  <a:lnTo>
                    <a:pt x="43543" y="0"/>
                  </a:lnTo>
                </a:path>
              </a:pathLst>
            </a:custGeom>
            <a:solidFill>
              <a:srgbClr val="BEE9EE"/>
            </a:solidFill>
            <a:ln w="76200">
              <a:solidFill>
                <a:srgbClr val="BEE9EE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="" xmlns:a16="http://schemas.microsoft.com/office/drawing/2014/main" id="{BC20FF53-B840-4A88-8306-6608380606DF}"/>
                </a:ext>
              </a:extLst>
            </p:cNvPr>
            <p:cNvSpPr/>
            <p:nvPr/>
          </p:nvSpPr>
          <p:spPr bwMode="gray">
            <a:xfrm>
              <a:off x="6754173" y="4017018"/>
              <a:ext cx="121447" cy="597759"/>
            </a:xfrm>
            <a:custGeom>
              <a:avLst/>
              <a:gdLst>
                <a:gd name="connsiteX0" fmla="*/ 29028 w 31821"/>
                <a:gd name="connsiteY0" fmla="*/ 551543 h 551543"/>
                <a:gd name="connsiteX1" fmla="*/ 29028 w 31821"/>
                <a:gd name="connsiteY1" fmla="*/ 130629 h 551543"/>
                <a:gd name="connsiteX2" fmla="*/ 0 w 31821"/>
                <a:gd name="connsiteY2" fmla="*/ 0 h 55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21" h="551543">
                  <a:moveTo>
                    <a:pt x="29028" y="551543"/>
                  </a:moveTo>
                  <a:cubicBezTo>
                    <a:pt x="31447" y="387048"/>
                    <a:pt x="33866" y="222553"/>
                    <a:pt x="29028" y="130629"/>
                  </a:cubicBezTo>
                  <a:cubicBezTo>
                    <a:pt x="24190" y="38705"/>
                    <a:pt x="12095" y="19352"/>
                    <a:pt x="0" y="0"/>
                  </a:cubicBezTo>
                </a:path>
              </a:pathLst>
            </a:custGeom>
            <a:solidFill>
              <a:srgbClr val="BEE9EE"/>
            </a:solidFill>
            <a:ln w="76200">
              <a:solidFill>
                <a:srgbClr val="BEE9EE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="" xmlns:a16="http://schemas.microsoft.com/office/drawing/2014/main" id="{BCF78C64-C477-45A2-A955-70760FB0AE33}"/>
                </a:ext>
              </a:extLst>
            </p:cNvPr>
            <p:cNvSpPr/>
            <p:nvPr/>
          </p:nvSpPr>
          <p:spPr bwMode="gray">
            <a:xfrm>
              <a:off x="7317252" y="4033772"/>
              <a:ext cx="253934" cy="555061"/>
            </a:xfrm>
            <a:custGeom>
              <a:avLst/>
              <a:gdLst>
                <a:gd name="connsiteX0" fmla="*/ 253934 w 253934"/>
                <a:gd name="connsiteY0" fmla="*/ 638628 h 638628"/>
                <a:gd name="connsiteX1" fmla="*/ 137820 w 253934"/>
                <a:gd name="connsiteY1" fmla="*/ 145143 h 638628"/>
                <a:gd name="connsiteX2" fmla="*/ 7191 w 253934"/>
                <a:gd name="connsiteY2" fmla="*/ 0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934" h="638628">
                  <a:moveTo>
                    <a:pt x="253934" y="638628"/>
                  </a:moveTo>
                  <a:cubicBezTo>
                    <a:pt x="216439" y="445104"/>
                    <a:pt x="178944" y="251581"/>
                    <a:pt x="137820" y="145143"/>
                  </a:cubicBezTo>
                  <a:cubicBezTo>
                    <a:pt x="96696" y="38705"/>
                    <a:pt x="-31514" y="16933"/>
                    <a:pt x="7191" y="0"/>
                  </a:cubicBezTo>
                </a:path>
              </a:pathLst>
            </a:custGeom>
            <a:solidFill>
              <a:srgbClr val="BEE9EE"/>
            </a:solidFill>
            <a:ln w="76200">
              <a:solidFill>
                <a:srgbClr val="BEE9EE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E5B9E726-F1AA-4123-9ACB-89FD7DA6BF01}"/>
              </a:ext>
            </a:extLst>
          </p:cNvPr>
          <p:cNvSpPr txBox="1"/>
          <p:nvPr/>
        </p:nvSpPr>
        <p:spPr bwMode="gray">
          <a:xfrm>
            <a:off x="7503689" y="3268820"/>
            <a:ext cx="4027238" cy="164352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将网络层各种协议汇总，包括：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6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：汇总各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IGP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6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：测量信息，例如接口时延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6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信息，例如带宽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90" lvl="1" indent="-285750">
              <a:lnSpc>
                <a:spcPct val="140000"/>
              </a:lnSpc>
              <a:buSzPct val="60000"/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信息，例如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</a:t>
            </a:r>
          </a:p>
        </p:txBody>
      </p:sp>
    </p:spTree>
    <p:extLst>
      <p:ext uri="{BB962C8B-B14F-4D97-AF65-F5344CB8AC3E}">
        <p14:creationId xmlns:p14="http://schemas.microsoft.com/office/powerpoint/2010/main" val="267772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 bwMode="gray">
          <a:xfrm>
            <a:off x="550209" y="4533722"/>
            <a:ext cx="5456456" cy="779636"/>
          </a:xfrm>
          <a:prstGeom prst="rect">
            <a:avLst/>
          </a:prstGeom>
          <a:solidFill>
            <a:srgbClr val="AFD8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550209" y="2924049"/>
            <a:ext cx="5456456" cy="779636"/>
          </a:xfrm>
          <a:prstGeom prst="rect">
            <a:avLst/>
          </a:prstGeom>
          <a:solidFill>
            <a:srgbClr val="BEE9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83251A6-B33A-42DE-B2A0-84C0034D97E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TWAMP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BA888FB-7F39-450E-9651-82B4AD086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TWAMP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Two-Way Active Measurement Protocol</a:t>
            </a:r>
            <a:r>
              <a:rPr lang="zh-CN" altLang="en-US" sz="1600" dirty="0">
                <a:sym typeface="Huawei Sans" panose="020C0503030203020204" pitchFamily="34" charset="0"/>
              </a:rPr>
              <a:t>，双向主动测量协议）用于测量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网络中两台设备之间的双向延迟、抖动以及丢包率等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性能。它基于</a:t>
            </a:r>
            <a:r>
              <a:rPr lang="en-US" altLang="zh-CN" sz="1600" dirty="0">
                <a:sym typeface="Huawei Sans" panose="020C0503030203020204" pitchFamily="34" charset="0"/>
              </a:rPr>
              <a:t>TCP</a:t>
            </a:r>
            <a:r>
              <a:rPr lang="zh-CN" altLang="en-US" sz="1600" dirty="0">
                <a:sym typeface="Huawei Sans" panose="020C0503030203020204" pitchFamily="34" charset="0"/>
              </a:rPr>
              <a:t>连接进行协商，并利用</a:t>
            </a:r>
            <a:r>
              <a:rPr lang="en-US" altLang="zh-CN" sz="1600" dirty="0">
                <a:sym typeface="Huawei Sans" panose="020C0503030203020204" pitchFamily="34" charset="0"/>
              </a:rPr>
              <a:t>UDP</a:t>
            </a:r>
            <a:r>
              <a:rPr lang="zh-CN" altLang="en-US" sz="1600" dirty="0">
                <a:sym typeface="Huawei Sans" panose="020C0503030203020204" pitchFamily="34" charset="0"/>
              </a:rPr>
              <a:t>数据包作为测量探帧。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772513" y="3203517"/>
            <a:ext cx="14504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Session-Sender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718313" y="3203517"/>
            <a:ext cx="201323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Session-Reflector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772513" y="4808570"/>
            <a:ext cx="14504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Control-Client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3718313" y="4808570"/>
            <a:ext cx="201323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箭头连接符 27"/>
          <p:cNvCxnSpPr>
            <a:stCxn id="26" idx="3"/>
            <a:endCxn id="35" idx="1"/>
          </p:cNvCxnSpPr>
          <p:nvPr/>
        </p:nvCxnSpPr>
        <p:spPr bwMode="gray">
          <a:xfrm>
            <a:off x="2222941" y="3357406"/>
            <a:ext cx="149537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6" idx="3"/>
            <a:endCxn id="38" idx="1"/>
          </p:cNvCxnSpPr>
          <p:nvPr/>
        </p:nvCxnSpPr>
        <p:spPr bwMode="gray">
          <a:xfrm>
            <a:off x="2222941" y="4962459"/>
            <a:ext cx="149537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6" idx="2"/>
            <a:endCxn id="36" idx="0"/>
          </p:cNvCxnSpPr>
          <p:nvPr/>
        </p:nvCxnSpPr>
        <p:spPr bwMode="gray">
          <a:xfrm>
            <a:off x="1497727" y="3511294"/>
            <a:ext cx="0" cy="129727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5" idx="2"/>
            <a:endCxn id="38" idx="0"/>
          </p:cNvCxnSpPr>
          <p:nvPr/>
        </p:nvCxnSpPr>
        <p:spPr bwMode="gray">
          <a:xfrm>
            <a:off x="4724932" y="3511294"/>
            <a:ext cx="0" cy="129727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 bwMode="gray">
          <a:xfrm>
            <a:off x="2409474" y="4654683"/>
            <a:ext cx="141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2409474" y="3365131"/>
            <a:ext cx="141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Test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圆角矩形 75">
            <a:extLst>
              <a:ext uri="{FF2B5EF4-FFF2-40B4-BE49-F238E27FC236}">
                <a16:creationId xmlns="" xmlns:a16="http://schemas.microsoft.com/office/drawing/2014/main" id="{4EDC8BA1-8075-45B3-8A6B-378CEAFFFEFD}"/>
              </a:ext>
            </a:extLst>
          </p:cNvPr>
          <p:cNvSpPr/>
          <p:nvPr/>
        </p:nvSpPr>
        <p:spPr bwMode="gray">
          <a:xfrm>
            <a:off x="550209" y="2250586"/>
            <a:ext cx="5456455" cy="476452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</a:t>
            </a:r>
            <a:r>
              <a: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通信模型</a:t>
            </a:r>
          </a:p>
        </p:txBody>
      </p:sp>
      <p:sp>
        <p:nvSpPr>
          <p:cNvPr id="6" name="文本框 5"/>
          <p:cNvSpPr txBox="1"/>
          <p:nvPr/>
        </p:nvSpPr>
        <p:spPr bwMode="gray">
          <a:xfrm>
            <a:off x="6096001" y="2250586"/>
            <a:ext cx="5653088" cy="255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Control-Client</a:t>
            </a:r>
            <a:r>
              <a:rPr lang="zh-CN" altLang="en-US" sz="1400" dirty="0">
                <a:sym typeface="Huawei Sans" panose="020C0503030203020204" pitchFamily="34" charset="0"/>
              </a:rPr>
              <a:t>：负责建立、启动和停止</a:t>
            </a:r>
            <a:r>
              <a:rPr lang="en-US" altLang="zh-CN" sz="1400" dirty="0">
                <a:sym typeface="Huawei Sans" panose="020C0503030203020204" pitchFamily="34" charset="0"/>
              </a:rPr>
              <a:t>TWAMP</a:t>
            </a:r>
            <a:r>
              <a:rPr lang="zh-CN" altLang="en-US" sz="1400" dirty="0">
                <a:sym typeface="Huawei Sans" panose="020C0503030203020204" pitchFamily="34" charset="0"/>
              </a:rPr>
              <a:t>会话，并收集统计结果。</a:t>
            </a:r>
          </a:p>
          <a:p>
            <a:r>
              <a:rPr lang="en-US" altLang="zh-CN" sz="1400" dirty="0">
                <a:sym typeface="Huawei Sans" panose="020C0503030203020204" pitchFamily="34" charset="0"/>
              </a:rPr>
              <a:t>Server</a:t>
            </a:r>
            <a:r>
              <a:rPr lang="zh-CN" altLang="en-US" sz="1400" dirty="0">
                <a:sym typeface="Huawei Sans" panose="020C0503030203020204" pitchFamily="34" charset="0"/>
              </a:rPr>
              <a:t>：负责响应</a:t>
            </a:r>
            <a:r>
              <a:rPr lang="en-US" altLang="zh-CN" sz="1400" dirty="0">
                <a:sym typeface="Huawei Sans" panose="020C0503030203020204" pitchFamily="34" charset="0"/>
              </a:rPr>
              <a:t>Client</a:t>
            </a:r>
            <a:r>
              <a:rPr lang="zh-CN" altLang="en-US" sz="1400" dirty="0">
                <a:sym typeface="Huawei Sans" panose="020C0503030203020204" pitchFamily="34" charset="0"/>
              </a:rPr>
              <a:t>发起的建立、启动和停止</a:t>
            </a:r>
            <a:r>
              <a:rPr lang="en-US" altLang="zh-CN" sz="1400" dirty="0">
                <a:sym typeface="Huawei Sans" panose="020C0503030203020204" pitchFamily="34" charset="0"/>
              </a:rPr>
              <a:t>TWAMP</a:t>
            </a:r>
            <a:r>
              <a:rPr lang="zh-CN" altLang="en-US" sz="1400" dirty="0">
                <a:sym typeface="Huawei Sans" panose="020C0503030203020204" pitchFamily="34" charset="0"/>
              </a:rPr>
              <a:t>会话的请求。</a:t>
            </a:r>
          </a:p>
          <a:p>
            <a:r>
              <a:rPr lang="en-US" altLang="zh-CN" sz="1400" dirty="0">
                <a:sym typeface="Huawei Sans" panose="020C0503030203020204" pitchFamily="34" charset="0"/>
              </a:rPr>
              <a:t>Session-Sender</a:t>
            </a:r>
            <a:r>
              <a:rPr lang="zh-CN" altLang="en-US" sz="1400" dirty="0">
                <a:sym typeface="Huawei Sans" panose="020C0503030203020204" pitchFamily="34" charset="0"/>
              </a:rPr>
              <a:t>：由</a:t>
            </a:r>
            <a:r>
              <a:rPr lang="en-US" altLang="zh-CN" sz="1400" dirty="0">
                <a:sym typeface="Huawei Sans" panose="020C0503030203020204" pitchFamily="34" charset="0"/>
              </a:rPr>
              <a:t>Client</a:t>
            </a:r>
            <a:r>
              <a:rPr lang="zh-CN" altLang="en-US" sz="1400" dirty="0">
                <a:sym typeface="Huawei Sans" panose="020C0503030203020204" pitchFamily="34" charset="0"/>
              </a:rPr>
              <a:t>调度，主动向外发送用于性能统计的探帧。</a:t>
            </a:r>
          </a:p>
          <a:p>
            <a:r>
              <a:rPr lang="en-US" altLang="zh-CN" sz="1400" dirty="0">
                <a:sym typeface="Huawei Sans" panose="020C0503030203020204" pitchFamily="34" charset="0"/>
              </a:rPr>
              <a:t>Session-Reflector</a:t>
            </a:r>
            <a:r>
              <a:rPr lang="zh-CN" altLang="en-US" sz="1400" dirty="0">
                <a:sym typeface="Huawei Sans" panose="020C0503030203020204" pitchFamily="34" charset="0"/>
              </a:rPr>
              <a:t>：由</a:t>
            </a:r>
            <a:r>
              <a:rPr lang="en-US" altLang="zh-CN" sz="1400" dirty="0">
                <a:sym typeface="Huawei Sans" panose="020C0503030203020204" pitchFamily="34" charset="0"/>
              </a:rPr>
              <a:t>Server</a:t>
            </a:r>
            <a:r>
              <a:rPr lang="zh-CN" altLang="en-US" sz="1400" dirty="0">
                <a:sym typeface="Huawei Sans" panose="020C0503030203020204" pitchFamily="34" charset="0"/>
              </a:rPr>
              <a:t>调度，应答</a:t>
            </a:r>
            <a:r>
              <a:rPr lang="en-US" altLang="zh-CN" sz="1400" dirty="0">
                <a:sym typeface="Huawei Sans" panose="020C0503030203020204" pitchFamily="34" charset="0"/>
              </a:rPr>
              <a:t>Sender</a:t>
            </a:r>
            <a:r>
              <a:rPr lang="zh-CN" altLang="en-US" sz="1400" dirty="0">
                <a:sym typeface="Huawei Sans" panose="020C0503030203020204" pitchFamily="34" charset="0"/>
              </a:rPr>
              <a:t>发送过来的探帧。</a:t>
            </a: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2409474" y="3018419"/>
            <a:ext cx="141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测试面</a:t>
            </a: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2409474" y="5005472"/>
            <a:ext cx="141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控制面</a:t>
            </a:r>
          </a:p>
        </p:txBody>
      </p:sp>
    </p:spTree>
    <p:extLst>
      <p:ext uri="{BB962C8B-B14F-4D97-AF65-F5344CB8AC3E}">
        <p14:creationId xmlns:p14="http://schemas.microsoft.com/office/powerpoint/2010/main" val="19219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83251A6-B33A-42DE-B2A0-84C0034D97E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TWAMP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Light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TWAMP Light</a:t>
            </a:r>
            <a:r>
              <a:rPr lang="zh-CN" altLang="en-US" sz="1600" dirty="0">
                <a:sym typeface="Huawei Sans" panose="020C0503030203020204" pitchFamily="34" charset="0"/>
              </a:rPr>
              <a:t>提供了一种简化的</a:t>
            </a:r>
            <a:r>
              <a:rPr lang="en-US" altLang="zh-CN" sz="1600" dirty="0">
                <a:sym typeface="Huawei Sans" panose="020C0503030203020204" pitchFamily="34" charset="0"/>
              </a:rPr>
              <a:t>TWAMP</a:t>
            </a:r>
            <a:r>
              <a:rPr lang="zh-CN" altLang="en-US" sz="1600" dirty="0">
                <a:sym typeface="Huawei Sans" panose="020C0503030203020204" pitchFamily="34" charset="0"/>
              </a:rPr>
              <a:t>架构，消除了</a:t>
            </a:r>
            <a:r>
              <a:rPr lang="en-US" altLang="zh-CN" sz="1600" dirty="0">
                <a:sym typeface="Huawei Sans" panose="020C0503030203020204" pitchFamily="34" charset="0"/>
              </a:rPr>
              <a:t>TWAMP-Control</a:t>
            </a:r>
            <a:r>
              <a:rPr lang="zh-CN" altLang="en-US" sz="1600" dirty="0">
                <a:sym typeface="Huawei Sans" panose="020C0503030203020204" pitchFamily="34" charset="0"/>
              </a:rPr>
              <a:t>协议的必要性，将反射端的控制层移至发射端，保证</a:t>
            </a:r>
            <a:r>
              <a:rPr lang="en-US" altLang="zh-CN" sz="1600" dirty="0">
                <a:sym typeface="Huawei Sans" panose="020C0503030203020204" pitchFamily="34" charset="0"/>
              </a:rPr>
              <a:t>TWAMP</a:t>
            </a:r>
            <a:r>
              <a:rPr lang="zh-CN" altLang="en-US" sz="1600" dirty="0">
                <a:sym typeface="Huawei Sans" panose="020C0503030203020204" pitchFamily="34" charset="0"/>
              </a:rPr>
              <a:t>的控制模块集中部署，反射端的能力要求被大大降低，可以简单地在网络中部署</a:t>
            </a:r>
            <a:r>
              <a:rPr lang="en-US" altLang="zh-CN" sz="1600" dirty="0">
                <a:sym typeface="Huawei Sans" panose="020C0503030203020204" pitchFamily="34" charset="0"/>
              </a:rPr>
              <a:t>Light</a:t>
            </a:r>
            <a:r>
              <a:rPr lang="zh-CN" altLang="en-US" sz="1600" dirty="0">
                <a:sym typeface="Huawei Sans" panose="020C0503030203020204" pitchFamily="34" charset="0"/>
              </a:rPr>
              <a:t>测试点。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Control-Client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Server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Session-Sender</a:t>
            </a:r>
            <a:r>
              <a:rPr lang="zh-CN" altLang="en-US" sz="1600" dirty="0">
                <a:sym typeface="Huawei Sans" panose="020C0503030203020204" pitchFamily="34" charset="0"/>
              </a:rPr>
              <a:t>部署于同一主机，作为控制端（</a:t>
            </a:r>
            <a:r>
              <a:rPr lang="en-US" altLang="zh-CN" sz="1600" dirty="0">
                <a:sym typeface="Huawei Sans" panose="020C0503030203020204" pitchFamily="34" charset="0"/>
              </a:rPr>
              <a:t>Controller</a:t>
            </a:r>
            <a:r>
              <a:rPr lang="zh-CN" altLang="en-US" sz="1600" dirty="0">
                <a:sym typeface="Huawei Sans" panose="020C0503030203020204" pitchFamily="34" charset="0"/>
              </a:rPr>
              <a:t>），因此，在完成性能检测过程中可以省略标准架构中控制会话的建立过程。</a:t>
            </a:r>
            <a:r>
              <a:rPr lang="en-US" altLang="zh-CN" sz="1600" dirty="0">
                <a:sym typeface="Huawei Sans" panose="020C0503030203020204" pitchFamily="34" charset="0"/>
              </a:rPr>
              <a:t>Session-Reflector</a:t>
            </a:r>
            <a:r>
              <a:rPr lang="zh-CN" altLang="en-US" sz="1600" dirty="0">
                <a:sym typeface="Huawei Sans" panose="020C0503030203020204" pitchFamily="34" charset="0"/>
              </a:rPr>
              <a:t>部署于另一主机作为响应端（</a:t>
            </a:r>
            <a:r>
              <a:rPr lang="en-US" altLang="zh-CN" sz="1600" dirty="0">
                <a:sym typeface="Huawei Sans" panose="020C0503030203020204" pitchFamily="34" charset="0"/>
              </a:rPr>
              <a:t>Responder</a:t>
            </a:r>
            <a:r>
              <a:rPr lang="zh-CN" altLang="en-US" sz="1600" dirty="0">
                <a:sym typeface="Huawei Sans" panose="020C0503030203020204" pitchFamily="34" charset="0"/>
              </a:rPr>
              <a:t>）。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39084" y="3434173"/>
            <a:ext cx="1620780" cy="1061829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Control-Client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Session-Sender</a:t>
            </a: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4312821" y="3434173"/>
            <a:ext cx="1620780" cy="1061829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400"/>
            </a:lvl1pPr>
          </a:lstStyle>
          <a:p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Session-Reflector</a:t>
            </a: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02350" y="2601218"/>
            <a:ext cx="564673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ctr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ctr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ctr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ctr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Controller</a:t>
            </a:r>
            <a:r>
              <a:rPr lang="zh-CN" altLang="en-US" sz="1400" dirty="0">
                <a:sym typeface="Huawei Sans" panose="020C0503030203020204" pitchFamily="34" charset="0"/>
              </a:rPr>
              <a:t>向</a:t>
            </a:r>
            <a:r>
              <a:rPr lang="en-US" altLang="zh-CN" sz="1400" dirty="0">
                <a:sym typeface="Huawei Sans" panose="020C0503030203020204" pitchFamily="34" charset="0"/>
              </a:rPr>
              <a:t>Responder</a:t>
            </a:r>
            <a:r>
              <a:rPr lang="zh-CN" altLang="en-US" sz="1400" dirty="0">
                <a:sym typeface="Huawei Sans" panose="020C0503030203020204" pitchFamily="34" charset="0"/>
              </a:rPr>
              <a:t>发送测试报文，</a:t>
            </a:r>
            <a:r>
              <a:rPr lang="en-US" altLang="zh-CN" sz="1400" dirty="0">
                <a:sym typeface="Huawei Sans" panose="020C0503030203020204" pitchFamily="34" charset="0"/>
              </a:rPr>
              <a:t>Responder</a:t>
            </a:r>
            <a:r>
              <a:rPr lang="zh-CN" altLang="en-US" sz="1400" dirty="0">
                <a:sym typeface="Huawei Sans" panose="020C0503030203020204" pitchFamily="34" charset="0"/>
              </a:rPr>
              <a:t>作为反射端反射测试报文。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反射端无需了解会话状态，</a:t>
            </a:r>
            <a:r>
              <a:rPr lang="en-US" altLang="zh-CN" sz="1400" dirty="0">
                <a:sym typeface="Huawei Sans" panose="020C0503030203020204" pitchFamily="34" charset="0"/>
              </a:rPr>
              <a:t>Session-Reflector</a:t>
            </a:r>
            <a:r>
              <a:rPr lang="zh-CN" altLang="en-US" sz="1400" dirty="0">
                <a:sym typeface="Huawei Sans" panose="020C0503030203020204" pitchFamily="34" charset="0"/>
              </a:rPr>
              <a:t>在接收到测试报文之后，复制必要的信息，构建测试报文的</a:t>
            </a:r>
            <a:r>
              <a:rPr lang="en-US" altLang="zh-CN" sz="1400" dirty="0">
                <a:sym typeface="Huawei Sans" panose="020C0503030203020204" pitchFamily="34" charset="0"/>
              </a:rPr>
              <a:t>sequence number</a:t>
            </a:r>
            <a:r>
              <a:rPr lang="zh-CN" altLang="en-US" sz="1400" dirty="0">
                <a:sym typeface="Huawei Sans" panose="020C0503030203020204" pitchFamily="34" charset="0"/>
              </a:rPr>
              <a:t>以及时间戳，最后返回给控制端。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控制端接收到反射回的测试报文后，搜集双向路径指标。</a:t>
            </a:r>
          </a:p>
        </p:txBody>
      </p:sp>
      <p:sp>
        <p:nvSpPr>
          <p:cNvPr id="50" name="圆角矩形 75">
            <a:extLst>
              <a:ext uri="{FF2B5EF4-FFF2-40B4-BE49-F238E27FC236}">
                <a16:creationId xmlns="" xmlns:a16="http://schemas.microsoft.com/office/drawing/2014/main" id="{4EDC8BA1-8075-45B3-8A6B-378CEAFFFEFD}"/>
              </a:ext>
            </a:extLst>
          </p:cNvPr>
          <p:cNvSpPr/>
          <p:nvPr/>
        </p:nvSpPr>
        <p:spPr bwMode="gray">
          <a:xfrm>
            <a:off x="639084" y="2990247"/>
            <a:ext cx="1620780" cy="3600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Controller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圆角矩形 75">
            <a:extLst>
              <a:ext uri="{FF2B5EF4-FFF2-40B4-BE49-F238E27FC236}">
                <a16:creationId xmlns="" xmlns:a16="http://schemas.microsoft.com/office/drawing/2014/main" id="{4EDC8BA1-8075-45B3-8A6B-378CEAFFFEFD}"/>
              </a:ext>
            </a:extLst>
          </p:cNvPr>
          <p:cNvSpPr/>
          <p:nvPr/>
        </p:nvSpPr>
        <p:spPr bwMode="gray">
          <a:xfrm>
            <a:off x="4312821" y="2990247"/>
            <a:ext cx="1620780" cy="36000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 w="952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Responder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 bwMode="gray">
          <a:xfrm>
            <a:off x="2286463" y="3699808"/>
            <a:ext cx="2026358" cy="0"/>
          </a:xfrm>
          <a:prstGeom prst="straightConnector1">
            <a:avLst/>
          </a:prstGeom>
          <a:ln w="19050">
            <a:solidFill>
              <a:srgbClr val="7F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 bwMode="gray">
          <a:xfrm>
            <a:off x="2286463" y="4289566"/>
            <a:ext cx="2026358" cy="0"/>
          </a:xfrm>
          <a:prstGeom prst="straightConnector1">
            <a:avLst/>
          </a:prstGeom>
          <a:ln w="19050">
            <a:solidFill>
              <a:srgbClr val="62B23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 bwMode="gray">
          <a:xfrm>
            <a:off x="2645968" y="4182519"/>
            <a:ext cx="129422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 Test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2645968" y="3434173"/>
            <a:ext cx="129422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无控制面协商</a:t>
            </a:r>
          </a:p>
        </p:txBody>
      </p:sp>
    </p:spTree>
    <p:extLst>
      <p:ext uri="{BB962C8B-B14F-4D97-AF65-F5344CB8AC3E}">
        <p14:creationId xmlns:p14="http://schemas.microsoft.com/office/powerpoint/2010/main" val="405195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gray">
          <a:xfrm>
            <a:off x="2227401" y="3228987"/>
            <a:ext cx="3142188" cy="1973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83251A6-B33A-42DE-B2A0-84C0034D97E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TWAMP</a:t>
            </a:r>
            <a:r>
              <a:rPr lang="zh-CN" altLang="en-US" dirty="0">
                <a:sym typeface="Huawei Sans" panose="020C0503030203020204" pitchFamily="34" charset="0"/>
              </a:rPr>
              <a:t>应用场景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TWAMP</a:t>
            </a:r>
            <a:r>
              <a:rPr lang="zh-CN" altLang="en-US" sz="1800" dirty="0">
                <a:sym typeface="Huawei Sans" panose="020C0503030203020204" pitchFamily="34" charset="0"/>
              </a:rPr>
              <a:t>统计方式中，网元设备无需生成和维护统计数据，性能管理系统只需管理网络内性能统计发起节点（即</a:t>
            </a:r>
            <a:r>
              <a:rPr lang="en-US" altLang="zh-CN" sz="1800" dirty="0">
                <a:sym typeface="Huawei Sans" panose="020C0503030203020204" pitchFamily="34" charset="0"/>
              </a:rPr>
              <a:t>TWAMP</a:t>
            </a:r>
            <a:r>
              <a:rPr lang="zh-CN" altLang="en-US" sz="1800" dirty="0">
                <a:sym typeface="Huawei Sans" panose="020C0503030203020204" pitchFamily="34" charset="0"/>
              </a:rPr>
              <a:t>客户端）即可获取整网的性能统计数据，实现快速、灵活地部署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网络的性能统计。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TWAMP</a:t>
            </a:r>
            <a:r>
              <a:rPr lang="zh-CN" altLang="en-US" sz="1800" dirty="0">
                <a:sym typeface="Huawei Sans" panose="020C0503030203020204" pitchFamily="34" charset="0"/>
              </a:rPr>
              <a:t>应用在企业广域网中，可测量任意两个节点间时延、抖动、丢包率，从而为故障排除、流量优化等提供参考依据。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2" name="圆角矩形 20">
            <a:extLst>
              <a:ext uri="{FF2B5EF4-FFF2-40B4-BE49-F238E27FC236}">
                <a16:creationId xmlns="" xmlns:a16="http://schemas.microsoft.com/office/drawing/2014/main" id="{24BB5BE8-A1B5-4B11-A402-E49125CD7376}"/>
              </a:ext>
            </a:extLst>
          </p:cNvPr>
          <p:cNvSpPr/>
          <p:nvPr/>
        </p:nvSpPr>
        <p:spPr bwMode="gray">
          <a:xfrm>
            <a:off x="6102350" y="3362705"/>
            <a:ext cx="5415505" cy="1705746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控制器指示网络设备建立性能测量会话。例如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 Client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，主动发起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性能统计。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发起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TWAMP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测量会话。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将测量结果上报给控制器。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7" name="图片 72" descr="交换机.png">
            <a:extLst>
              <a:ext uri="{FF2B5EF4-FFF2-40B4-BE49-F238E27FC236}">
                <a16:creationId xmlns="" xmlns:a16="http://schemas.microsoft.com/office/drawing/2014/main" id="{47E43495-7821-46D0-BA38-F5FE920DA5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3439" y="4039476"/>
            <a:ext cx="489286" cy="401651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="" xmlns:a16="http://schemas.microsoft.com/office/drawing/2014/main" id="{5074D7EB-77D7-4327-9364-C382A05BE1A2}"/>
              </a:ext>
            </a:extLst>
          </p:cNvPr>
          <p:cNvGrpSpPr/>
          <p:nvPr/>
        </p:nvGrpSpPr>
        <p:grpSpPr bwMode="gray">
          <a:xfrm>
            <a:off x="1082725" y="3305389"/>
            <a:ext cx="4741092" cy="1853917"/>
            <a:chOff x="6542728" y="4338869"/>
            <a:chExt cx="3944415" cy="1542390"/>
          </a:xfrm>
        </p:grpSpPr>
        <p:grpSp>
          <p:nvGrpSpPr>
            <p:cNvPr id="48" name="组合 47">
              <a:extLst>
                <a:ext uri="{FF2B5EF4-FFF2-40B4-BE49-F238E27FC236}">
                  <a16:creationId xmlns="" xmlns:a16="http://schemas.microsoft.com/office/drawing/2014/main" id="{D06F9061-274D-481A-A434-6B4F6424F5FB}"/>
                </a:ext>
              </a:extLst>
            </p:cNvPr>
            <p:cNvGrpSpPr/>
            <p:nvPr/>
          </p:nvGrpSpPr>
          <p:grpSpPr bwMode="gray">
            <a:xfrm rot="10800000">
              <a:off x="9556514" y="4495561"/>
              <a:ext cx="747483" cy="1229007"/>
              <a:chOff x="4518701" y="2362981"/>
              <a:chExt cx="1546339" cy="2255715"/>
            </a:xfrm>
          </p:grpSpPr>
          <p:cxnSp>
            <p:nvCxnSpPr>
              <p:cNvPr id="69" name="直接连接符 68">
                <a:extLst>
                  <a:ext uri="{FF2B5EF4-FFF2-40B4-BE49-F238E27FC236}">
                    <a16:creationId xmlns="" xmlns:a16="http://schemas.microsoft.com/office/drawing/2014/main" id="{1DB50DB3-DB1B-4D41-BC62-022180B8EEFF}"/>
                  </a:ext>
                </a:extLst>
              </p:cNvPr>
              <p:cNvCxnSpPr>
                <a:cxnSpLocks/>
                <a:endCxn id="63" idx="3"/>
              </p:cNvCxnSpPr>
              <p:nvPr/>
            </p:nvCxnSpPr>
            <p:spPr bwMode="gray">
              <a:xfrm rot="10800000" flipH="1" flipV="1">
                <a:off x="4518701" y="3349861"/>
                <a:ext cx="1546337" cy="12688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="" xmlns:a16="http://schemas.microsoft.com/office/drawing/2014/main" id="{5210FD5C-4CE5-4B0E-AAC9-550D0DB20BE0}"/>
                  </a:ext>
                </a:extLst>
              </p:cNvPr>
              <p:cNvCxnSpPr>
                <a:cxnSpLocks/>
                <a:endCxn id="64" idx="3"/>
              </p:cNvCxnSpPr>
              <p:nvPr/>
            </p:nvCxnSpPr>
            <p:spPr bwMode="gray">
              <a:xfrm rot="10800000" flipH="1">
                <a:off x="4518703" y="2362981"/>
                <a:ext cx="1546337" cy="11034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直接连接符 48">
              <a:extLst>
                <a:ext uri="{FF2B5EF4-FFF2-40B4-BE49-F238E27FC236}">
                  <a16:creationId xmlns="" xmlns:a16="http://schemas.microsoft.com/office/drawing/2014/main" id="{6064C876-BC72-437C-8B57-D159154051CE}"/>
                </a:ext>
              </a:extLst>
            </p:cNvPr>
            <p:cNvCxnSpPr/>
            <p:nvPr/>
          </p:nvCxnSpPr>
          <p:spPr bwMode="gray">
            <a:xfrm flipH="1">
              <a:off x="8113569" y="4442075"/>
              <a:ext cx="1245829" cy="13681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="" xmlns:a16="http://schemas.microsoft.com/office/drawing/2014/main" id="{A71A70FB-5F38-4A24-A1E6-CD770140D0B2}"/>
                </a:ext>
              </a:extLst>
            </p:cNvPr>
            <p:cNvCxnSpPr/>
            <p:nvPr/>
          </p:nvCxnSpPr>
          <p:spPr bwMode="gray">
            <a:xfrm flipH="1" flipV="1">
              <a:off x="8112193" y="4432628"/>
              <a:ext cx="1237499" cy="13831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6F5CD1B-7948-4B83-B6B8-A4958B40C23E}"/>
                </a:ext>
              </a:extLst>
            </p:cNvPr>
            <p:cNvGrpSpPr/>
            <p:nvPr/>
          </p:nvGrpSpPr>
          <p:grpSpPr bwMode="gray">
            <a:xfrm>
              <a:off x="6542728" y="4436518"/>
              <a:ext cx="1548671" cy="1373716"/>
              <a:chOff x="2827087" y="2205748"/>
              <a:chExt cx="3203782" cy="2521312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="" xmlns:a16="http://schemas.microsoft.com/office/drawing/2014/main" id="{935C5D3E-2147-4FDB-B2C6-4A9D8D489992}"/>
                  </a:ext>
                </a:extLst>
              </p:cNvPr>
              <p:cNvCxnSpPr/>
              <p:nvPr/>
            </p:nvCxnSpPr>
            <p:spPr bwMode="gray">
              <a:xfrm rot="16200000" flipH="1">
                <a:off x="4644458" y="3340649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="" xmlns:a16="http://schemas.microsoft.com/office/drawing/2014/main" id="{8CDD0874-8E31-4660-978A-001C8412A374}"/>
                  </a:ext>
                </a:extLst>
              </p:cNvPr>
              <p:cNvCxnSpPr/>
              <p:nvPr/>
            </p:nvCxnSpPr>
            <p:spPr bwMode="gray">
              <a:xfrm rot="16200000">
                <a:off x="4644458" y="2079993"/>
                <a:ext cx="1260656" cy="15121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="" xmlns:a16="http://schemas.microsoft.com/office/drawing/2014/main" id="{8CDD0874-8E31-4660-978A-001C8412A374}"/>
                  </a:ext>
                </a:extLst>
              </p:cNvPr>
              <p:cNvCxnSpPr>
                <a:stCxn id="37" idx="3"/>
                <a:endCxn id="60" idx="1"/>
              </p:cNvCxnSpPr>
              <p:nvPr/>
            </p:nvCxnSpPr>
            <p:spPr bwMode="gray">
              <a:xfrm flipV="1">
                <a:off x="2827087" y="3430318"/>
                <a:ext cx="1270319" cy="23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直接连接符 56">
              <a:extLst>
                <a:ext uri="{FF2B5EF4-FFF2-40B4-BE49-F238E27FC236}">
                  <a16:creationId xmlns="" xmlns:a16="http://schemas.microsoft.com/office/drawing/2014/main" id="{6073106D-F853-4EC8-B4EB-E18169991D49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4500018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="" xmlns:a16="http://schemas.microsoft.com/office/drawing/2014/main" id="{D3D067A9-2E05-43D0-A9B6-B094850EC1D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101110" y="5764991"/>
              <a:ext cx="12582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="" xmlns:a16="http://schemas.microsoft.com/office/drawing/2014/main" id="{EC843B51-3764-46A6-A40D-737C470D6D3C}"/>
                </a:ext>
              </a:extLst>
            </p:cNvPr>
            <p:cNvCxnSpPr/>
            <p:nvPr/>
          </p:nvCxnSpPr>
          <p:spPr bwMode="gray">
            <a:xfrm flipV="1">
              <a:off x="9359398" y="4436518"/>
              <a:ext cx="0" cy="1379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>
              <a:extLst>
                <a:ext uri="{FF2B5EF4-FFF2-40B4-BE49-F238E27FC236}">
                  <a16:creationId xmlns="" xmlns:a16="http://schemas.microsoft.com/office/drawing/2014/main" id="{1DEA0159-68B5-4C51-9F0F-E57C7F3AFCD2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156785" y="4947023"/>
              <a:ext cx="382174" cy="313383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4338869"/>
              <a:ext cx="382174" cy="313383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="" xmlns:a16="http://schemas.microsoft.com/office/drawing/2014/main" id="{548DE8DA-42DF-49F6-B49A-95E62D6A9BD6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881646" y="5567876"/>
              <a:ext cx="382174" cy="313383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="" xmlns:a16="http://schemas.microsoft.com/office/drawing/2014/main" id="{8B44D1A2-66E4-4C1A-9918-0B4BC469B66A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4338869"/>
              <a:ext cx="382174" cy="313383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="" xmlns:a16="http://schemas.microsoft.com/office/drawing/2014/main" id="{20FB09DD-A6E6-4CC7-9E76-436B599EA5EF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74340" y="5567876"/>
              <a:ext cx="382174" cy="313383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="" xmlns:a16="http://schemas.microsoft.com/office/drawing/2014/main" id="{67F07163-2A10-445C-B3A5-FC1175FA6AA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104969" y="4947023"/>
              <a:ext cx="382174" cy="313383"/>
            </a:xfrm>
            <a:prstGeom prst="rect">
              <a:avLst/>
            </a:prstGeom>
          </p:spPr>
        </p:pic>
        <p:cxnSp>
          <p:nvCxnSpPr>
            <p:cNvPr id="66" name="直接连接符 65">
              <a:extLst>
                <a:ext uri="{FF2B5EF4-FFF2-40B4-BE49-F238E27FC236}">
                  <a16:creationId xmlns="" xmlns:a16="http://schemas.microsoft.com/office/drawing/2014/main" id="{1BA6A26C-D9B9-425C-A07E-41F71828D50F}"/>
                </a:ext>
              </a:extLst>
            </p:cNvPr>
            <p:cNvCxnSpPr>
              <a:cxnSpLocks/>
              <a:stCxn id="62" idx="0"/>
              <a:endCxn id="61" idx="2"/>
            </p:cNvCxnSpPr>
            <p:nvPr/>
          </p:nvCxnSpPr>
          <p:spPr bwMode="gray">
            <a:xfrm flipV="1">
              <a:off x="8072733" y="4652252"/>
              <a:ext cx="0" cy="9156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 bwMode="gray">
          <a:xfrm>
            <a:off x="1809137" y="4392331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5398165" y="4392331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509720" y="444774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性能管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理系统</a:t>
            </a:r>
          </a:p>
        </p:txBody>
      </p:sp>
      <p:sp>
        <p:nvSpPr>
          <p:cNvPr id="12" name="椭圆 11"/>
          <p:cNvSpPr/>
          <p:nvPr/>
        </p:nvSpPr>
        <p:spPr bwMode="gray">
          <a:xfrm>
            <a:off x="1319653" y="3970917"/>
            <a:ext cx="228970" cy="228970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椭圆 73"/>
          <p:cNvSpPr/>
          <p:nvPr/>
        </p:nvSpPr>
        <p:spPr bwMode="gray">
          <a:xfrm>
            <a:off x="1319653" y="4267532"/>
            <a:ext cx="228970" cy="228970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箭头连接符 15"/>
          <p:cNvCxnSpPr/>
          <p:nvPr/>
        </p:nvCxnSpPr>
        <p:spPr bwMode="gray">
          <a:xfrm>
            <a:off x="2311674" y="4177300"/>
            <a:ext cx="3001824" cy="24723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 bwMode="gray">
          <a:xfrm>
            <a:off x="3638076" y="4104267"/>
            <a:ext cx="228970" cy="228970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FE24CB9-66DF-404E-B892-FDDA28D64B0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9" name="圆角矩形 20">
            <a:extLst>
              <a:ext uri="{FF2B5EF4-FFF2-40B4-BE49-F238E27FC236}">
                <a16:creationId xmlns="" xmlns:a16="http://schemas.microsoft.com/office/drawing/2014/main" id="{679F8A62-ABAE-41D2-A56B-FC66675BB7E5}"/>
              </a:ext>
            </a:extLst>
          </p:cNvPr>
          <p:cNvSpPr/>
          <p:nvPr/>
        </p:nvSpPr>
        <p:spPr bwMode="gray">
          <a:xfrm>
            <a:off x="442914" y="1295432"/>
            <a:ext cx="5653088" cy="2387570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C4E3DD27-B000-47D3-9191-D50007EC7937}"/>
              </a:ext>
            </a:extLst>
          </p:cNvPr>
          <p:cNvSpPr txBox="1"/>
          <p:nvPr/>
        </p:nvSpPr>
        <p:spPr bwMode="gray">
          <a:xfrm>
            <a:off x="442913" y="945497"/>
            <a:ext cx="5653087" cy="311085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传统带外测量原理（</a:t>
            </a:r>
            <a:r>
              <a:rPr lang="en-US" altLang="zh-CN" dirty="0">
                <a:sym typeface="Huawei Sans" panose="020C0503030203020204" pitchFamily="34" charset="0"/>
              </a:rPr>
              <a:t>Ping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 err="1">
                <a:sym typeface="Huawei Sans" panose="020C0503030203020204" pitchFamily="34" charset="0"/>
              </a:rPr>
              <a:t>TraceRoute</a:t>
            </a:r>
            <a:r>
              <a:rPr lang="zh-CN" altLang="en-US" dirty="0">
                <a:sym typeface="Huawei Sans" panose="020C0503030203020204" pitchFamily="34" charset="0"/>
              </a:rPr>
              <a:t>、</a:t>
            </a:r>
            <a:r>
              <a:rPr lang="en-US" altLang="zh-CN" dirty="0">
                <a:sym typeface="Huawei Sans" panose="020C0503030203020204" pitchFamily="34" charset="0"/>
              </a:rPr>
              <a:t>TWAMP…</a:t>
            </a:r>
            <a:r>
              <a:rPr lang="zh-CN" altLang="en-US" dirty="0">
                <a:sym typeface="Huawei Sans" panose="020C0503030203020204" pitchFamily="34" charset="0"/>
              </a:rPr>
              <a:t>）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A14F4A80-8106-4D45-A720-083BB4A64967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>
            <a:off x="3268952" y="1801938"/>
            <a:ext cx="1671790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="" xmlns:a16="http://schemas.microsoft.com/office/drawing/2014/main" id="{4453FD68-C2CC-43A0-990F-34264F418EEC}"/>
              </a:ext>
            </a:extLst>
          </p:cNvPr>
          <p:cNvCxnSpPr>
            <a:cxnSpLocks/>
            <a:stCxn id="38" idx="3"/>
            <a:endCxn id="35" idx="1"/>
          </p:cNvCxnSpPr>
          <p:nvPr/>
        </p:nvCxnSpPr>
        <p:spPr bwMode="gray">
          <a:xfrm flipV="1">
            <a:off x="1175701" y="1801938"/>
            <a:ext cx="1671791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="" xmlns:a16="http://schemas.microsoft.com/office/drawing/2014/main" id="{B9325B55-7B6C-46DB-922C-C493F2029688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0742" y="2096229"/>
            <a:ext cx="421459" cy="353369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="" xmlns:a16="http://schemas.microsoft.com/office/drawing/2014/main" id="{3995F164-B6A0-494A-BA69-28DD5FB679FD}"/>
              </a:ext>
            </a:extLst>
          </p:cNvPr>
          <p:cNvGrpSpPr/>
          <p:nvPr/>
        </p:nvGrpSpPr>
        <p:grpSpPr bwMode="gray">
          <a:xfrm>
            <a:off x="2847493" y="1625253"/>
            <a:ext cx="421459" cy="1295320"/>
            <a:chOff x="2772546" y="2038086"/>
            <a:chExt cx="540000" cy="1623141"/>
          </a:xfrm>
        </p:grpSpPr>
        <p:pic>
          <p:nvPicPr>
            <p:cNvPr id="35" name="图片 34">
              <a:extLst>
                <a:ext uri="{FF2B5EF4-FFF2-40B4-BE49-F238E27FC236}">
                  <a16:creationId xmlns="" xmlns:a16="http://schemas.microsoft.com/office/drawing/2014/main" id="{62AE88AC-5D09-43E6-B26C-6873472532F6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2546" y="2038086"/>
              <a:ext cx="540000" cy="442800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="" xmlns:a16="http://schemas.microsoft.com/office/drawing/2014/main" id="{D2F9FA32-603E-446A-B71C-2E86E6AF6793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2546" y="3218427"/>
              <a:ext cx="540000" cy="442800"/>
            </a:xfrm>
            <a:prstGeom prst="rect">
              <a:avLst/>
            </a:prstGeom>
          </p:spPr>
        </p:pic>
      </p:grpSp>
      <p:pic>
        <p:nvPicPr>
          <p:cNvPr id="38" name="图片 37">
            <a:extLst>
              <a:ext uri="{FF2B5EF4-FFF2-40B4-BE49-F238E27FC236}">
                <a16:creationId xmlns="" xmlns:a16="http://schemas.microsoft.com/office/drawing/2014/main" id="{E66B96F7-67E5-454D-A9C3-DCE92D3F7819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4242" y="2096229"/>
            <a:ext cx="421459" cy="353369"/>
          </a:xfrm>
          <a:prstGeom prst="rect">
            <a:avLst/>
          </a:prstGeom>
        </p:spPr>
      </p:pic>
      <p:cxnSp>
        <p:nvCxnSpPr>
          <p:cNvPr id="39" name="直接连接符 38">
            <a:extLst>
              <a:ext uri="{FF2B5EF4-FFF2-40B4-BE49-F238E27FC236}">
                <a16:creationId xmlns="" xmlns:a16="http://schemas.microsoft.com/office/drawing/2014/main" id="{F58BFD1B-E0B5-4DDF-9741-D1DCEA3DA720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 bwMode="gray">
          <a:xfrm>
            <a:off x="1175701" y="2272913"/>
            <a:ext cx="1671791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876DE874-C891-454E-9E30-F5B4B2CF3F89}"/>
              </a:ext>
            </a:extLst>
          </p:cNvPr>
          <p:cNvCxnSpPr>
            <a:cxnSpLocks/>
            <a:stCxn id="37" idx="3"/>
            <a:endCxn id="36" idx="1"/>
          </p:cNvCxnSpPr>
          <p:nvPr/>
        </p:nvCxnSpPr>
        <p:spPr bwMode="gray">
          <a:xfrm flipV="1">
            <a:off x="3268952" y="2272913"/>
            <a:ext cx="1671790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="" xmlns:a16="http://schemas.microsoft.com/office/drawing/2014/main" id="{74FE1E6D-B59C-477F-91B1-5F77528D3DD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 bwMode="gray">
          <a:xfrm>
            <a:off x="3058223" y="1978623"/>
            <a:ext cx="0" cy="5885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="" xmlns:a16="http://schemas.microsoft.com/office/drawing/2014/main" id="{F1378619-9B73-4A15-A3E1-478EF7EAB513}"/>
              </a:ext>
            </a:extLst>
          </p:cNvPr>
          <p:cNvSpPr txBox="1"/>
          <p:nvPr/>
        </p:nvSpPr>
        <p:spPr bwMode="gray">
          <a:xfrm>
            <a:off x="561934" y="1681275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="" xmlns:a16="http://schemas.microsoft.com/office/drawing/2014/main" id="{593BDDE7-A6BE-44F3-ADB3-15CD69E022F6}"/>
              </a:ext>
            </a:extLst>
          </p:cNvPr>
          <p:cNvSpPr txBox="1"/>
          <p:nvPr/>
        </p:nvSpPr>
        <p:spPr bwMode="gray">
          <a:xfrm>
            <a:off x="5086824" y="1694969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任意多边形: 形状 63">
            <a:extLst>
              <a:ext uri="{FF2B5EF4-FFF2-40B4-BE49-F238E27FC236}">
                <a16:creationId xmlns="" xmlns:a16="http://schemas.microsoft.com/office/drawing/2014/main" id="{8FFECF28-60AD-41B8-81E3-4CFFF86472EB}"/>
              </a:ext>
            </a:extLst>
          </p:cNvPr>
          <p:cNvSpPr/>
          <p:nvPr/>
        </p:nvSpPr>
        <p:spPr bwMode="gray">
          <a:xfrm>
            <a:off x="1136382" y="2566489"/>
            <a:ext cx="3843679" cy="565055"/>
          </a:xfrm>
          <a:custGeom>
            <a:avLst/>
            <a:gdLst>
              <a:gd name="connsiteX0" fmla="*/ 0 w 3829050"/>
              <a:gd name="connsiteY0" fmla="*/ 0 h 581025"/>
              <a:gd name="connsiteX1" fmla="*/ 1685925 w 3829050"/>
              <a:gd name="connsiteY1" fmla="*/ 561975 h 581025"/>
              <a:gd name="connsiteX2" fmla="*/ 2152650 w 3829050"/>
              <a:gd name="connsiteY2" fmla="*/ 581025 h 581025"/>
              <a:gd name="connsiteX3" fmla="*/ 3829050 w 3829050"/>
              <a:gd name="connsiteY3" fmla="*/ 19050 h 581025"/>
              <a:gd name="connsiteX0" fmla="*/ 0 w 3829050"/>
              <a:gd name="connsiteY0" fmla="*/ 0 h 561975"/>
              <a:gd name="connsiteX1" fmla="*/ 1685925 w 3829050"/>
              <a:gd name="connsiteY1" fmla="*/ 561975 h 561975"/>
              <a:gd name="connsiteX2" fmla="*/ 2114550 w 3829050"/>
              <a:gd name="connsiteY2" fmla="*/ 561975 h 561975"/>
              <a:gd name="connsiteX3" fmla="*/ 3829050 w 3829050"/>
              <a:gd name="connsiteY3" fmla="*/ 19050 h 561975"/>
              <a:gd name="connsiteX0" fmla="*/ 0 w 3829050"/>
              <a:gd name="connsiteY0" fmla="*/ 0 h 593019"/>
              <a:gd name="connsiteX1" fmla="*/ 1685925 w 3829050"/>
              <a:gd name="connsiteY1" fmla="*/ 561975 h 593019"/>
              <a:gd name="connsiteX2" fmla="*/ 2114550 w 3829050"/>
              <a:gd name="connsiteY2" fmla="*/ 561975 h 593019"/>
              <a:gd name="connsiteX3" fmla="*/ 3829050 w 3829050"/>
              <a:gd name="connsiteY3" fmla="*/ 19050 h 593019"/>
              <a:gd name="connsiteX0" fmla="*/ 0 w 3829050"/>
              <a:gd name="connsiteY0" fmla="*/ 0 h 567619"/>
              <a:gd name="connsiteX1" fmla="*/ 1685925 w 3829050"/>
              <a:gd name="connsiteY1" fmla="*/ 561975 h 567619"/>
              <a:gd name="connsiteX2" fmla="*/ 2114550 w 3829050"/>
              <a:gd name="connsiteY2" fmla="*/ 561975 h 567619"/>
              <a:gd name="connsiteX3" fmla="*/ 3829050 w 3829050"/>
              <a:gd name="connsiteY3" fmla="*/ 19050 h 567619"/>
              <a:gd name="connsiteX0" fmla="*/ 0 w 3829050"/>
              <a:gd name="connsiteY0" fmla="*/ 0 h 576086"/>
              <a:gd name="connsiteX1" fmla="*/ 1685925 w 3829050"/>
              <a:gd name="connsiteY1" fmla="*/ 561975 h 576086"/>
              <a:gd name="connsiteX2" fmla="*/ 2114550 w 3829050"/>
              <a:gd name="connsiteY2" fmla="*/ 561975 h 576086"/>
              <a:gd name="connsiteX3" fmla="*/ 3829050 w 3829050"/>
              <a:gd name="connsiteY3" fmla="*/ 19050 h 57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50" h="576086">
                <a:moveTo>
                  <a:pt x="0" y="0"/>
                </a:moveTo>
                <a:lnTo>
                  <a:pt x="1685925" y="561975"/>
                </a:lnTo>
                <a:cubicBezTo>
                  <a:pt x="1828800" y="561975"/>
                  <a:pt x="1806575" y="593725"/>
                  <a:pt x="2114550" y="561975"/>
                </a:cubicBezTo>
                <a:cubicBezTo>
                  <a:pt x="2673350" y="374650"/>
                  <a:pt x="3270250" y="206375"/>
                  <a:pt x="3829050" y="19050"/>
                </a:cubicBezTo>
              </a:path>
            </a:pathLst>
          </a:custGeom>
          <a:noFill/>
          <a:ln w="38100"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对话气泡: 圆角矩形 64">
            <a:extLst>
              <a:ext uri="{FF2B5EF4-FFF2-40B4-BE49-F238E27FC236}">
                <a16:creationId xmlns="" xmlns:a16="http://schemas.microsoft.com/office/drawing/2014/main" id="{4A8C2BD1-65B4-4490-BDB0-541DDA0F36EF}"/>
              </a:ext>
            </a:extLst>
          </p:cNvPr>
          <p:cNvSpPr/>
          <p:nvPr/>
        </p:nvSpPr>
        <p:spPr bwMode="gray">
          <a:xfrm>
            <a:off x="536814" y="2912098"/>
            <a:ext cx="1304685" cy="322089"/>
          </a:xfrm>
          <a:prstGeom prst="wedgeRoundRectCallout">
            <a:avLst>
              <a:gd name="adj1" fmla="val 31831"/>
              <a:gd name="adj2" fmla="val -89651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真实流量路径</a:t>
            </a:r>
          </a:p>
        </p:txBody>
      </p:sp>
      <p:sp>
        <p:nvSpPr>
          <p:cNvPr id="68" name="任意多边形: 形状 67">
            <a:extLst>
              <a:ext uri="{FF2B5EF4-FFF2-40B4-BE49-F238E27FC236}">
                <a16:creationId xmlns="" xmlns:a16="http://schemas.microsoft.com/office/drawing/2014/main" id="{EC0128F9-22AF-4484-BB8E-0D4AA52EB0F8}"/>
              </a:ext>
            </a:extLst>
          </p:cNvPr>
          <p:cNvSpPr/>
          <p:nvPr/>
        </p:nvSpPr>
        <p:spPr bwMode="gray">
          <a:xfrm>
            <a:off x="1279336" y="1625781"/>
            <a:ext cx="3603963" cy="847626"/>
          </a:xfrm>
          <a:custGeom>
            <a:avLst/>
            <a:gdLst>
              <a:gd name="connsiteX0" fmla="*/ 0 w 3710182"/>
              <a:gd name="connsiteY0" fmla="*/ 428024 h 859237"/>
              <a:gd name="connsiteX1" fmla="*/ 1524000 w 3710182"/>
              <a:gd name="connsiteY1" fmla="*/ 847124 h 859237"/>
              <a:gd name="connsiteX2" fmla="*/ 1781175 w 3710182"/>
              <a:gd name="connsiteY2" fmla="*/ 8924 h 859237"/>
              <a:gd name="connsiteX3" fmla="*/ 3409950 w 3710182"/>
              <a:gd name="connsiteY3" fmla="*/ 408974 h 859237"/>
              <a:gd name="connsiteX4" fmla="*/ 3705225 w 3710182"/>
              <a:gd name="connsiteY4" fmla="*/ 466124 h 859237"/>
              <a:gd name="connsiteX0" fmla="*/ 0 w 3710182"/>
              <a:gd name="connsiteY0" fmla="*/ 465428 h 898425"/>
              <a:gd name="connsiteX1" fmla="*/ 1524000 w 3710182"/>
              <a:gd name="connsiteY1" fmla="*/ 884528 h 898425"/>
              <a:gd name="connsiteX2" fmla="*/ 1762125 w 3710182"/>
              <a:gd name="connsiteY2" fmla="*/ 8228 h 898425"/>
              <a:gd name="connsiteX3" fmla="*/ 3409950 w 3710182"/>
              <a:gd name="connsiteY3" fmla="*/ 446378 h 898425"/>
              <a:gd name="connsiteX4" fmla="*/ 3705225 w 3710182"/>
              <a:gd name="connsiteY4" fmla="*/ 503528 h 898425"/>
              <a:gd name="connsiteX0" fmla="*/ 0 w 3710182"/>
              <a:gd name="connsiteY0" fmla="*/ 459372 h 892369"/>
              <a:gd name="connsiteX1" fmla="*/ 1524000 w 3710182"/>
              <a:gd name="connsiteY1" fmla="*/ 878472 h 892369"/>
              <a:gd name="connsiteX2" fmla="*/ 1762125 w 3710182"/>
              <a:gd name="connsiteY2" fmla="*/ 2172 h 892369"/>
              <a:gd name="connsiteX3" fmla="*/ 3409950 w 3710182"/>
              <a:gd name="connsiteY3" fmla="*/ 440322 h 892369"/>
              <a:gd name="connsiteX4" fmla="*/ 3705225 w 3710182"/>
              <a:gd name="connsiteY4" fmla="*/ 497472 h 892369"/>
              <a:gd name="connsiteX0" fmla="*/ 0 w 3729232"/>
              <a:gd name="connsiteY0" fmla="*/ 497472 h 896200"/>
              <a:gd name="connsiteX1" fmla="*/ 1543050 w 3729232"/>
              <a:gd name="connsiteY1" fmla="*/ 878472 h 896200"/>
              <a:gd name="connsiteX2" fmla="*/ 1781175 w 3729232"/>
              <a:gd name="connsiteY2" fmla="*/ 2172 h 896200"/>
              <a:gd name="connsiteX3" fmla="*/ 3429000 w 3729232"/>
              <a:gd name="connsiteY3" fmla="*/ 440322 h 896200"/>
              <a:gd name="connsiteX4" fmla="*/ 3724275 w 3729232"/>
              <a:gd name="connsiteY4" fmla="*/ 497472 h 896200"/>
              <a:gd name="connsiteX0" fmla="*/ 0 w 3748282"/>
              <a:gd name="connsiteY0" fmla="*/ 506997 h 897292"/>
              <a:gd name="connsiteX1" fmla="*/ 1562100 w 3748282"/>
              <a:gd name="connsiteY1" fmla="*/ 878472 h 897292"/>
              <a:gd name="connsiteX2" fmla="*/ 1800225 w 3748282"/>
              <a:gd name="connsiteY2" fmla="*/ 2172 h 897292"/>
              <a:gd name="connsiteX3" fmla="*/ 3448050 w 3748282"/>
              <a:gd name="connsiteY3" fmla="*/ 440322 h 897292"/>
              <a:gd name="connsiteX4" fmla="*/ 3743325 w 3748282"/>
              <a:gd name="connsiteY4" fmla="*/ 497472 h 897292"/>
              <a:gd name="connsiteX0" fmla="*/ 0 w 3748282"/>
              <a:gd name="connsiteY0" fmla="*/ 506997 h 895248"/>
              <a:gd name="connsiteX1" fmla="*/ 1562100 w 3748282"/>
              <a:gd name="connsiteY1" fmla="*/ 878472 h 895248"/>
              <a:gd name="connsiteX2" fmla="*/ 1800225 w 3748282"/>
              <a:gd name="connsiteY2" fmla="*/ 2172 h 895248"/>
              <a:gd name="connsiteX3" fmla="*/ 3448050 w 3748282"/>
              <a:gd name="connsiteY3" fmla="*/ 440322 h 895248"/>
              <a:gd name="connsiteX4" fmla="*/ 3743325 w 3748282"/>
              <a:gd name="connsiteY4" fmla="*/ 497472 h 895248"/>
              <a:gd name="connsiteX0" fmla="*/ 0 w 3748282"/>
              <a:gd name="connsiteY0" fmla="*/ 506997 h 895248"/>
              <a:gd name="connsiteX1" fmla="*/ 1562100 w 3748282"/>
              <a:gd name="connsiteY1" fmla="*/ 878472 h 895248"/>
              <a:gd name="connsiteX2" fmla="*/ 1800225 w 3748282"/>
              <a:gd name="connsiteY2" fmla="*/ 2172 h 895248"/>
              <a:gd name="connsiteX3" fmla="*/ 3448050 w 3748282"/>
              <a:gd name="connsiteY3" fmla="*/ 440322 h 895248"/>
              <a:gd name="connsiteX4" fmla="*/ 3743325 w 3748282"/>
              <a:gd name="connsiteY4" fmla="*/ 497472 h 895248"/>
              <a:gd name="connsiteX0" fmla="*/ 0 w 3748282"/>
              <a:gd name="connsiteY0" fmla="*/ 511840 h 864174"/>
              <a:gd name="connsiteX1" fmla="*/ 1524000 w 3748282"/>
              <a:gd name="connsiteY1" fmla="*/ 845215 h 864174"/>
              <a:gd name="connsiteX2" fmla="*/ 1800225 w 3748282"/>
              <a:gd name="connsiteY2" fmla="*/ 7015 h 864174"/>
              <a:gd name="connsiteX3" fmla="*/ 3448050 w 3748282"/>
              <a:gd name="connsiteY3" fmla="*/ 445165 h 864174"/>
              <a:gd name="connsiteX4" fmla="*/ 3743325 w 3748282"/>
              <a:gd name="connsiteY4" fmla="*/ 502315 h 864174"/>
              <a:gd name="connsiteX0" fmla="*/ 0 w 3756958"/>
              <a:gd name="connsiteY0" fmla="*/ 511840 h 864174"/>
              <a:gd name="connsiteX1" fmla="*/ 1524000 w 3756958"/>
              <a:gd name="connsiteY1" fmla="*/ 845215 h 864174"/>
              <a:gd name="connsiteX2" fmla="*/ 1800225 w 3756958"/>
              <a:gd name="connsiteY2" fmla="*/ 7015 h 864174"/>
              <a:gd name="connsiteX3" fmla="*/ 3448050 w 3756958"/>
              <a:gd name="connsiteY3" fmla="*/ 445165 h 864174"/>
              <a:gd name="connsiteX4" fmla="*/ 3752850 w 3756958"/>
              <a:gd name="connsiteY4" fmla="*/ 540415 h 864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6958" h="864174">
                <a:moveTo>
                  <a:pt x="0" y="511840"/>
                </a:moveTo>
                <a:cubicBezTo>
                  <a:pt x="651668" y="718215"/>
                  <a:pt x="1223963" y="929352"/>
                  <a:pt x="1524000" y="845215"/>
                </a:cubicBezTo>
                <a:cubicBezTo>
                  <a:pt x="1824037" y="761078"/>
                  <a:pt x="1479550" y="73690"/>
                  <a:pt x="1800225" y="7015"/>
                </a:cubicBezTo>
                <a:cubicBezTo>
                  <a:pt x="2120900" y="-59660"/>
                  <a:pt x="3127375" y="368965"/>
                  <a:pt x="3448050" y="445165"/>
                </a:cubicBezTo>
                <a:cubicBezTo>
                  <a:pt x="3768725" y="521365"/>
                  <a:pt x="3765550" y="549940"/>
                  <a:pt x="3752850" y="540415"/>
                </a:cubicBezTo>
              </a:path>
            </a:pathLst>
          </a:custGeom>
          <a:noFill/>
          <a:ln w="38100">
            <a:solidFill>
              <a:srgbClr val="C00000"/>
            </a:solidFill>
            <a:prstDash val="solid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对话气泡: 圆角矩形 68">
            <a:extLst>
              <a:ext uri="{FF2B5EF4-FFF2-40B4-BE49-F238E27FC236}">
                <a16:creationId xmlns="" xmlns:a16="http://schemas.microsoft.com/office/drawing/2014/main" id="{78B17619-F85E-4110-A160-1AAA8228E4D6}"/>
              </a:ext>
            </a:extLst>
          </p:cNvPr>
          <p:cNvSpPr/>
          <p:nvPr/>
        </p:nvSpPr>
        <p:spPr bwMode="gray">
          <a:xfrm>
            <a:off x="3792517" y="1354492"/>
            <a:ext cx="1294307" cy="322089"/>
          </a:xfrm>
          <a:prstGeom prst="wedgeRoundRectCallout">
            <a:avLst>
              <a:gd name="adj1" fmla="val 7783"/>
              <a:gd name="adj2" fmla="val 107290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检测报文路径</a:t>
            </a:r>
          </a:p>
        </p:txBody>
      </p:sp>
      <p:sp>
        <p:nvSpPr>
          <p:cNvPr id="70" name="圆角矩形 20">
            <a:extLst>
              <a:ext uri="{FF2B5EF4-FFF2-40B4-BE49-F238E27FC236}">
                <a16:creationId xmlns="" xmlns:a16="http://schemas.microsoft.com/office/drawing/2014/main" id="{F8DA915C-BDD2-40F8-A7BC-90873D387E2D}"/>
              </a:ext>
            </a:extLst>
          </p:cNvPr>
          <p:cNvSpPr/>
          <p:nvPr/>
        </p:nvSpPr>
        <p:spPr bwMode="gray">
          <a:xfrm>
            <a:off x="442914" y="4097184"/>
            <a:ext cx="5653088" cy="2103591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="" xmlns:a16="http://schemas.microsoft.com/office/drawing/2014/main" id="{9B95E604-BF14-40CF-81E1-CCD025EAA0E1}"/>
              </a:ext>
            </a:extLst>
          </p:cNvPr>
          <p:cNvSpPr txBox="1"/>
          <p:nvPr/>
        </p:nvSpPr>
        <p:spPr bwMode="gray">
          <a:xfrm>
            <a:off x="442913" y="3734550"/>
            <a:ext cx="5653087" cy="311085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>
                <a:sym typeface="Huawei Sans" panose="020C0503030203020204" pitchFamily="34" charset="0"/>
              </a:rPr>
              <a:t>传统带外测量原理（</a:t>
            </a:r>
            <a:r>
              <a:rPr lang="en-US" altLang="zh-CN">
                <a:sym typeface="Huawei Sans" panose="020C0503030203020204" pitchFamily="34" charset="0"/>
              </a:rPr>
              <a:t>Y.1731</a:t>
            </a:r>
            <a:r>
              <a:rPr lang="zh-CN" altLang="en-US">
                <a:sym typeface="Huawei Sans" panose="020C0503030203020204" pitchFamily="34" charset="0"/>
              </a:rPr>
              <a:t>、</a:t>
            </a:r>
            <a:r>
              <a:rPr lang="en-US" altLang="zh-CN">
                <a:sym typeface="Huawei Sans" panose="020C0503030203020204" pitchFamily="34" charset="0"/>
              </a:rPr>
              <a:t>Y.1711…</a:t>
            </a:r>
            <a:r>
              <a:rPr lang="zh-CN" altLang="en-US">
                <a:sym typeface="Huawei Sans" panose="020C0503030203020204" pitchFamily="34" charset="0"/>
              </a:rPr>
              <a:t>）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="" xmlns:a16="http://schemas.microsoft.com/office/drawing/2014/main" id="{4A27E0B2-BEF5-46B5-B60F-ECD6B19DFF82}"/>
              </a:ext>
            </a:extLst>
          </p:cNvPr>
          <p:cNvSpPr txBox="1"/>
          <p:nvPr/>
        </p:nvSpPr>
        <p:spPr bwMode="gray">
          <a:xfrm>
            <a:off x="1275085" y="3335987"/>
            <a:ext cx="4063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测试报文非真实业务数据，路径可能不一致。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="" xmlns:a16="http://schemas.microsoft.com/office/drawing/2014/main" id="{A8C2A0A9-5F9D-425F-9935-26EFD6961959}"/>
              </a:ext>
            </a:extLst>
          </p:cNvPr>
          <p:cNvCxnSpPr>
            <a:cxnSpLocks/>
            <a:stCxn id="91" idx="3"/>
            <a:endCxn id="77" idx="1"/>
          </p:cNvCxnSpPr>
          <p:nvPr/>
        </p:nvCxnSpPr>
        <p:spPr bwMode="gray">
          <a:xfrm>
            <a:off x="3283433" y="4334340"/>
            <a:ext cx="1671790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="" xmlns:a16="http://schemas.microsoft.com/office/drawing/2014/main" id="{C3B7E4B4-CE26-4ACF-85A8-FDDDA2C7442F}"/>
              </a:ext>
            </a:extLst>
          </p:cNvPr>
          <p:cNvCxnSpPr>
            <a:cxnSpLocks/>
            <a:stCxn id="79" idx="3"/>
            <a:endCxn id="91" idx="1"/>
          </p:cNvCxnSpPr>
          <p:nvPr/>
        </p:nvCxnSpPr>
        <p:spPr bwMode="gray">
          <a:xfrm flipV="1">
            <a:off x="1190182" y="4334340"/>
            <a:ext cx="1671791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>
            <a:extLst>
              <a:ext uri="{FF2B5EF4-FFF2-40B4-BE49-F238E27FC236}">
                <a16:creationId xmlns="" xmlns:a16="http://schemas.microsoft.com/office/drawing/2014/main" id="{6516F222-03D4-4775-B283-9DAA1A33242B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55223" y="4628631"/>
            <a:ext cx="421459" cy="353369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="" xmlns:a16="http://schemas.microsoft.com/office/drawing/2014/main" id="{EBA16912-87F9-4A5B-8F49-9A2EFC4082A1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61974" y="4157655"/>
            <a:ext cx="421459" cy="353369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="" xmlns:a16="http://schemas.microsoft.com/office/drawing/2014/main" id="{30CD5F97-83DC-48A4-91C8-37BBB71E0F28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61974" y="5099606"/>
            <a:ext cx="421459" cy="353369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="" xmlns:a16="http://schemas.microsoft.com/office/drawing/2014/main" id="{229C2D7E-B5C1-43F5-83C6-235D7467E31C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8723" y="4628631"/>
            <a:ext cx="421459" cy="353369"/>
          </a:xfrm>
          <a:prstGeom prst="rect">
            <a:avLst/>
          </a:prstGeom>
        </p:spPr>
      </p:pic>
      <p:cxnSp>
        <p:nvCxnSpPr>
          <p:cNvPr id="80" name="直接连接符 79">
            <a:extLst>
              <a:ext uri="{FF2B5EF4-FFF2-40B4-BE49-F238E27FC236}">
                <a16:creationId xmlns="" xmlns:a16="http://schemas.microsoft.com/office/drawing/2014/main" id="{B0E277C5-B3CD-46E7-8C54-63183B87F9AF}"/>
              </a:ext>
            </a:extLst>
          </p:cNvPr>
          <p:cNvCxnSpPr>
            <a:cxnSpLocks/>
            <a:stCxn id="79" idx="3"/>
            <a:endCxn id="92" idx="1"/>
          </p:cNvCxnSpPr>
          <p:nvPr/>
        </p:nvCxnSpPr>
        <p:spPr bwMode="gray">
          <a:xfrm>
            <a:off x="1190182" y="4805315"/>
            <a:ext cx="1671791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="" xmlns:a16="http://schemas.microsoft.com/office/drawing/2014/main" id="{DD986C91-EAA6-4263-AF7E-12E271EC4C4A}"/>
              </a:ext>
            </a:extLst>
          </p:cNvPr>
          <p:cNvCxnSpPr>
            <a:cxnSpLocks/>
            <a:stCxn id="92" idx="3"/>
            <a:endCxn id="77" idx="1"/>
          </p:cNvCxnSpPr>
          <p:nvPr/>
        </p:nvCxnSpPr>
        <p:spPr bwMode="gray">
          <a:xfrm flipV="1">
            <a:off x="3283433" y="4805315"/>
            <a:ext cx="1671790" cy="470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="" xmlns:a16="http://schemas.microsoft.com/office/drawing/2014/main" id="{7349C8DB-0B06-4EE4-8E96-8A86A59DAD48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 bwMode="gray">
          <a:xfrm>
            <a:off x="3072704" y="4511025"/>
            <a:ext cx="0" cy="5885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="" xmlns:a16="http://schemas.microsoft.com/office/drawing/2014/main" id="{96DD6DC2-4CB9-4EB5-84A2-D14C38AC6C05}"/>
              </a:ext>
            </a:extLst>
          </p:cNvPr>
          <p:cNvSpPr txBox="1"/>
          <p:nvPr/>
        </p:nvSpPr>
        <p:spPr bwMode="gray">
          <a:xfrm>
            <a:off x="576415" y="4213677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="" xmlns:a16="http://schemas.microsoft.com/office/drawing/2014/main" id="{6CEC1FAE-85F9-4315-9D5B-69F381734E43}"/>
              </a:ext>
            </a:extLst>
          </p:cNvPr>
          <p:cNvSpPr txBox="1"/>
          <p:nvPr/>
        </p:nvSpPr>
        <p:spPr bwMode="gray">
          <a:xfrm>
            <a:off x="5049789" y="4237757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Egress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对话气泡: 圆角矩形 85">
            <a:extLst>
              <a:ext uri="{FF2B5EF4-FFF2-40B4-BE49-F238E27FC236}">
                <a16:creationId xmlns="" xmlns:a16="http://schemas.microsoft.com/office/drawing/2014/main" id="{8F6D50BF-A076-4477-B3E9-F063B84D6A89}"/>
              </a:ext>
            </a:extLst>
          </p:cNvPr>
          <p:cNvSpPr/>
          <p:nvPr/>
        </p:nvSpPr>
        <p:spPr bwMode="gray">
          <a:xfrm>
            <a:off x="576415" y="5360223"/>
            <a:ext cx="982897" cy="224595"/>
          </a:xfrm>
          <a:prstGeom prst="wedgeRoundRectCallout">
            <a:avLst>
              <a:gd name="adj1" fmla="val 18264"/>
              <a:gd name="adj2" fmla="val -102374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采样报文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="" xmlns:a16="http://schemas.microsoft.com/office/drawing/2014/main" id="{02FAC12A-6A2B-4718-8B7D-6EDF3A20F890}"/>
              </a:ext>
            </a:extLst>
          </p:cNvPr>
          <p:cNvSpPr/>
          <p:nvPr/>
        </p:nvSpPr>
        <p:spPr bwMode="gray">
          <a:xfrm>
            <a:off x="1210366" y="4982000"/>
            <a:ext cx="95925" cy="139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="" xmlns:a16="http://schemas.microsoft.com/office/drawing/2014/main" id="{8F6CD1E2-BEE1-4EE0-9E71-326029E591C2}"/>
              </a:ext>
            </a:extLst>
          </p:cNvPr>
          <p:cNvSpPr/>
          <p:nvPr/>
        </p:nvSpPr>
        <p:spPr bwMode="gray">
          <a:xfrm>
            <a:off x="1463387" y="5052797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="" xmlns:a16="http://schemas.microsoft.com/office/drawing/2014/main" id="{90C985D6-DBE0-40A2-BC75-F16598BD7D08}"/>
              </a:ext>
            </a:extLst>
          </p:cNvPr>
          <p:cNvSpPr/>
          <p:nvPr/>
        </p:nvSpPr>
        <p:spPr bwMode="gray">
          <a:xfrm>
            <a:off x="1716408" y="5123594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="" xmlns:a16="http://schemas.microsoft.com/office/drawing/2014/main" id="{0582C8AA-940E-471E-B3C6-3F86E86FA32D}"/>
              </a:ext>
            </a:extLst>
          </p:cNvPr>
          <p:cNvSpPr/>
          <p:nvPr/>
        </p:nvSpPr>
        <p:spPr bwMode="gray">
          <a:xfrm>
            <a:off x="1969429" y="5194391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="" xmlns:a16="http://schemas.microsoft.com/office/drawing/2014/main" id="{82A0881C-23DF-40EB-A6B0-21EF31B4EAD3}"/>
              </a:ext>
            </a:extLst>
          </p:cNvPr>
          <p:cNvSpPr/>
          <p:nvPr/>
        </p:nvSpPr>
        <p:spPr bwMode="gray">
          <a:xfrm>
            <a:off x="2222450" y="5265188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="" xmlns:a16="http://schemas.microsoft.com/office/drawing/2014/main" id="{D3F03711-91FB-46B3-B504-BDE5D6000D85}"/>
              </a:ext>
            </a:extLst>
          </p:cNvPr>
          <p:cNvSpPr/>
          <p:nvPr/>
        </p:nvSpPr>
        <p:spPr bwMode="gray">
          <a:xfrm>
            <a:off x="2475472" y="5335985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="" xmlns:a16="http://schemas.microsoft.com/office/drawing/2014/main" id="{F5367239-8B3F-497E-A1C2-324EE2A04F7D}"/>
              </a:ext>
            </a:extLst>
          </p:cNvPr>
          <p:cNvSpPr/>
          <p:nvPr/>
        </p:nvSpPr>
        <p:spPr bwMode="gray">
          <a:xfrm>
            <a:off x="2728495" y="5406781"/>
            <a:ext cx="95925" cy="139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="" xmlns:a16="http://schemas.microsoft.com/office/drawing/2014/main" id="{CB23ACCE-2E67-4E3E-9A6A-A5AF7B6347FF}"/>
              </a:ext>
            </a:extLst>
          </p:cNvPr>
          <p:cNvSpPr/>
          <p:nvPr/>
        </p:nvSpPr>
        <p:spPr bwMode="gray">
          <a:xfrm>
            <a:off x="3330849" y="5399275"/>
            <a:ext cx="95925" cy="139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="" xmlns:a16="http://schemas.microsoft.com/office/drawing/2014/main" id="{72AB3033-CDA2-4440-A600-8B6C6ADC77AE}"/>
              </a:ext>
            </a:extLst>
          </p:cNvPr>
          <p:cNvSpPr/>
          <p:nvPr/>
        </p:nvSpPr>
        <p:spPr bwMode="gray">
          <a:xfrm>
            <a:off x="3581459" y="5322123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="" xmlns:a16="http://schemas.microsoft.com/office/drawing/2014/main" id="{81C2A2A8-DF44-44DD-8F6A-52E7E3540C91}"/>
              </a:ext>
            </a:extLst>
          </p:cNvPr>
          <p:cNvSpPr/>
          <p:nvPr/>
        </p:nvSpPr>
        <p:spPr bwMode="gray">
          <a:xfrm>
            <a:off x="3832069" y="5244973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="" xmlns:a16="http://schemas.microsoft.com/office/drawing/2014/main" id="{7665701B-E1A5-4E02-94EC-D5B4E8515706}"/>
              </a:ext>
            </a:extLst>
          </p:cNvPr>
          <p:cNvSpPr/>
          <p:nvPr/>
        </p:nvSpPr>
        <p:spPr bwMode="gray">
          <a:xfrm>
            <a:off x="4082679" y="5167823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="" xmlns:a16="http://schemas.microsoft.com/office/drawing/2014/main" id="{9C1D106E-9AF6-468C-85EC-68954D18C953}"/>
              </a:ext>
            </a:extLst>
          </p:cNvPr>
          <p:cNvSpPr/>
          <p:nvPr/>
        </p:nvSpPr>
        <p:spPr bwMode="gray">
          <a:xfrm>
            <a:off x="4333289" y="5090673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="" xmlns:a16="http://schemas.microsoft.com/office/drawing/2014/main" id="{0769DF89-9D43-475E-A95B-AAAC33A78385}"/>
              </a:ext>
            </a:extLst>
          </p:cNvPr>
          <p:cNvSpPr/>
          <p:nvPr/>
        </p:nvSpPr>
        <p:spPr bwMode="gray">
          <a:xfrm>
            <a:off x="4583899" y="5013523"/>
            <a:ext cx="95925" cy="139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="" xmlns:a16="http://schemas.microsoft.com/office/drawing/2014/main" id="{82826B1B-C70B-4F94-B0B5-080FA2A1423D}"/>
              </a:ext>
            </a:extLst>
          </p:cNvPr>
          <p:cNvSpPr/>
          <p:nvPr/>
        </p:nvSpPr>
        <p:spPr bwMode="gray">
          <a:xfrm>
            <a:off x="4834507" y="4936373"/>
            <a:ext cx="95925" cy="1399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="" xmlns:a16="http://schemas.microsoft.com/office/drawing/2014/main" id="{CD6AD062-9303-444A-8B5A-565DDE94D576}"/>
              </a:ext>
            </a:extLst>
          </p:cNvPr>
          <p:cNvSpPr txBox="1"/>
          <p:nvPr/>
        </p:nvSpPr>
        <p:spPr bwMode="gray">
          <a:xfrm>
            <a:off x="1514890" y="5685983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基于管道检测，而无业务级检测。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间隔发包，采样精度低。</a:t>
            </a:r>
          </a:p>
        </p:txBody>
      </p:sp>
      <p:sp>
        <p:nvSpPr>
          <p:cNvPr id="109" name="圆角矩形 20">
            <a:extLst>
              <a:ext uri="{FF2B5EF4-FFF2-40B4-BE49-F238E27FC236}">
                <a16:creationId xmlns="" xmlns:a16="http://schemas.microsoft.com/office/drawing/2014/main" id="{28A9AFC3-0217-4FE6-AC75-236152F18F7C}"/>
              </a:ext>
            </a:extLst>
          </p:cNvPr>
          <p:cNvSpPr/>
          <p:nvPr/>
        </p:nvSpPr>
        <p:spPr bwMode="gray">
          <a:xfrm>
            <a:off x="6242082" y="1295431"/>
            <a:ext cx="5507004" cy="4860097"/>
          </a:xfrm>
          <a:prstGeom prst="roundRect">
            <a:avLst>
              <a:gd name="adj" fmla="val 89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="" xmlns:a16="http://schemas.microsoft.com/office/drawing/2014/main" id="{C0473B8E-2200-48BF-B72D-F065D3D282B2}"/>
              </a:ext>
            </a:extLst>
          </p:cNvPr>
          <p:cNvSpPr txBox="1"/>
          <p:nvPr/>
        </p:nvSpPr>
        <p:spPr bwMode="gray">
          <a:xfrm>
            <a:off x="6242081" y="945497"/>
            <a:ext cx="5507003" cy="311085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r>
              <a:rPr lang="zh-CN" altLang="en-US" dirty="0">
                <a:sym typeface="Huawei Sans" panose="020C0503030203020204" pitchFamily="34" charset="0"/>
              </a:rPr>
              <a:t>（</a:t>
            </a:r>
            <a:r>
              <a:rPr lang="en-US" altLang="zh-CN" dirty="0">
                <a:sym typeface="Huawei Sans" panose="020C0503030203020204" pitchFamily="34" charset="0"/>
              </a:rPr>
              <a:t>in-situ Flow Information Telemetry</a:t>
            </a:r>
            <a:r>
              <a:rPr lang="zh-CN" altLang="en-US" dirty="0">
                <a:sym typeface="Huawei Sans" panose="020C0503030203020204" pitchFamily="34" charset="0"/>
              </a:rPr>
              <a:t>，随流检测）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="" xmlns:a16="http://schemas.microsoft.com/office/drawing/2014/main" id="{8A3D52D6-3B1B-48A7-9D55-B86EC579CE17}"/>
              </a:ext>
            </a:extLst>
          </p:cNvPr>
          <p:cNvSpPr txBox="1"/>
          <p:nvPr/>
        </p:nvSpPr>
        <p:spPr bwMode="gray">
          <a:xfrm>
            <a:off x="6581403" y="5406781"/>
            <a:ext cx="5348458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随流：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检测业务报文，真实反映业务路径及时延信息。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逐包：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对报文逐个检测，精确捕获业务丢包。</a:t>
            </a:r>
          </a:p>
        </p:txBody>
      </p:sp>
      <p:cxnSp>
        <p:nvCxnSpPr>
          <p:cNvPr id="113" name="直接连接符 8">
            <a:extLst>
              <a:ext uri="{FF2B5EF4-FFF2-40B4-BE49-F238E27FC236}">
                <a16:creationId xmlns="" xmlns:a16="http://schemas.microsoft.com/office/drawing/2014/main" id="{D8DC4073-19AA-4E97-826F-70CD1339EECA}"/>
              </a:ext>
            </a:extLst>
          </p:cNvPr>
          <p:cNvCxnSpPr>
            <a:cxnSpLocks/>
            <a:stCxn id="124" idx="2"/>
            <a:endCxn id="131" idx="0"/>
          </p:cNvCxnSpPr>
          <p:nvPr>
            <p:custDataLst>
              <p:tags r:id="rId1"/>
            </p:custDataLst>
          </p:nvPr>
        </p:nvCxnSpPr>
        <p:spPr bwMode="gray">
          <a:xfrm flipH="1">
            <a:off x="6997505" y="2803270"/>
            <a:ext cx="2010072" cy="1172477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114" name="直接连接符 9">
            <a:extLst>
              <a:ext uri="{FF2B5EF4-FFF2-40B4-BE49-F238E27FC236}">
                <a16:creationId xmlns="" xmlns:a16="http://schemas.microsoft.com/office/drawing/2014/main" id="{1CCB6EA3-F9E8-49C4-ACEB-B2058B897A3E}"/>
              </a:ext>
            </a:extLst>
          </p:cNvPr>
          <p:cNvCxnSpPr>
            <a:cxnSpLocks/>
            <a:stCxn id="131" idx="3"/>
            <a:endCxn id="134" idx="1"/>
          </p:cNvCxnSpPr>
          <p:nvPr>
            <p:custDataLst>
              <p:tags r:id="rId2"/>
            </p:custDataLst>
          </p:nvPr>
        </p:nvCxnSpPr>
        <p:spPr bwMode="gray">
          <a:xfrm>
            <a:off x="7208234" y="4152432"/>
            <a:ext cx="373792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直接连接符 12">
            <a:extLst>
              <a:ext uri="{FF2B5EF4-FFF2-40B4-BE49-F238E27FC236}">
                <a16:creationId xmlns="" xmlns:a16="http://schemas.microsoft.com/office/drawing/2014/main" id="{32F5FBB3-F248-42CE-B7D8-CD0497FFB0BD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gray">
          <a:xfrm>
            <a:off x="9215762" y="4152432"/>
            <a:ext cx="1934513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直接连接符 17">
            <a:extLst>
              <a:ext uri="{FF2B5EF4-FFF2-40B4-BE49-F238E27FC236}">
                <a16:creationId xmlns="" xmlns:a16="http://schemas.microsoft.com/office/drawing/2014/main" id="{1EE3D262-DA4C-4888-B67B-BDA8008DF290}"/>
              </a:ext>
            </a:extLst>
          </p:cNvPr>
          <p:cNvCxnSpPr>
            <a:cxnSpLocks/>
            <a:stCxn id="124" idx="2"/>
            <a:endCxn id="133" idx="0"/>
          </p:cNvCxnSpPr>
          <p:nvPr>
            <p:custDataLst>
              <p:tags r:id="rId4"/>
            </p:custDataLst>
          </p:nvPr>
        </p:nvCxnSpPr>
        <p:spPr bwMode="gray">
          <a:xfrm>
            <a:off x="9007577" y="2803270"/>
            <a:ext cx="762848" cy="1172477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117" name="直接连接符 18">
            <a:extLst>
              <a:ext uri="{FF2B5EF4-FFF2-40B4-BE49-F238E27FC236}">
                <a16:creationId xmlns="" xmlns:a16="http://schemas.microsoft.com/office/drawing/2014/main" id="{4C3DAB48-434F-4416-96EB-4AB1028B6077}"/>
              </a:ext>
            </a:extLst>
          </p:cNvPr>
          <p:cNvCxnSpPr>
            <a:cxnSpLocks/>
            <a:stCxn id="124" idx="2"/>
            <a:endCxn id="132" idx="0"/>
          </p:cNvCxnSpPr>
          <p:nvPr>
            <p:custDataLst>
              <p:tags r:id="rId5"/>
            </p:custDataLst>
          </p:nvPr>
        </p:nvCxnSpPr>
        <p:spPr bwMode="gray">
          <a:xfrm flipH="1">
            <a:off x="8383965" y="2803270"/>
            <a:ext cx="623612" cy="1172477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headEnd type="arrow"/>
            <a:tailEnd type="none"/>
          </a:ln>
          <a:effectLst/>
        </p:spPr>
      </p:cxnSp>
      <p:sp>
        <p:nvSpPr>
          <p:cNvPr id="124" name="圆角矩形 6">
            <a:extLst>
              <a:ext uri="{FF2B5EF4-FFF2-40B4-BE49-F238E27FC236}">
                <a16:creationId xmlns="" xmlns:a16="http://schemas.microsoft.com/office/drawing/2014/main" id="{A622B41B-B61A-48B9-AD27-ECE7C1AC01BF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8318972" y="2380561"/>
            <a:ext cx="1377210" cy="422709"/>
          </a:xfrm>
          <a:prstGeom prst="roundRect">
            <a:avLst/>
          </a:prstGeom>
          <a:solidFill>
            <a:srgbClr val="BEE9EE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Controller</a:t>
            </a:r>
          </a:p>
        </p:txBody>
      </p:sp>
      <p:sp>
        <p:nvSpPr>
          <p:cNvPr id="125" name="文本框 7">
            <a:extLst>
              <a:ext uri="{FF2B5EF4-FFF2-40B4-BE49-F238E27FC236}">
                <a16:creationId xmlns="" xmlns:a16="http://schemas.microsoft.com/office/drawing/2014/main" id="{A5DB24E8-35C7-40A2-AB70-A151541426CC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8583221" y="3579627"/>
            <a:ext cx="1028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</a:p>
        </p:txBody>
      </p:sp>
      <p:pic>
        <p:nvPicPr>
          <p:cNvPr id="131" name="图片 130">
            <a:extLst>
              <a:ext uri="{FF2B5EF4-FFF2-40B4-BE49-F238E27FC236}">
                <a16:creationId xmlns="" xmlns:a16="http://schemas.microsoft.com/office/drawing/2014/main" id="{AED59490-CFAB-46D8-95B7-7FF84D43C317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86775" y="3975747"/>
            <a:ext cx="421459" cy="353369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="" xmlns:a16="http://schemas.microsoft.com/office/drawing/2014/main" id="{233EF9EA-F5F7-4EFA-8B1D-9A9CA660E70D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73235" y="3975747"/>
            <a:ext cx="421459" cy="353369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="" xmlns:a16="http://schemas.microsoft.com/office/drawing/2014/main" id="{B05F8619-21DF-4BD5-926B-F648CF5503D3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559695" y="3975747"/>
            <a:ext cx="421459" cy="353369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="" xmlns:a16="http://schemas.microsoft.com/office/drawing/2014/main" id="{85342001-9C7F-49D7-928D-B0BF7A70D580}"/>
              </a:ext>
            </a:extLst>
          </p:cNvPr>
          <p:cNvPicPr>
            <a:picLocks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946155" y="3975747"/>
            <a:ext cx="421459" cy="353369"/>
          </a:xfrm>
          <a:prstGeom prst="rect">
            <a:avLst/>
          </a:prstGeom>
        </p:spPr>
      </p:pic>
      <p:cxnSp>
        <p:nvCxnSpPr>
          <p:cNvPr id="141" name="直接连接符 17">
            <a:extLst>
              <a:ext uri="{FF2B5EF4-FFF2-40B4-BE49-F238E27FC236}">
                <a16:creationId xmlns="" xmlns:a16="http://schemas.microsoft.com/office/drawing/2014/main" id="{5996B871-98C0-4322-A7FB-ADE430EEB144}"/>
              </a:ext>
            </a:extLst>
          </p:cNvPr>
          <p:cNvCxnSpPr>
            <a:cxnSpLocks/>
            <a:stCxn id="124" idx="2"/>
            <a:endCxn id="134" idx="0"/>
          </p:cNvCxnSpPr>
          <p:nvPr>
            <p:custDataLst>
              <p:tags r:id="rId8"/>
            </p:custDataLst>
          </p:nvPr>
        </p:nvCxnSpPr>
        <p:spPr bwMode="gray">
          <a:xfrm>
            <a:off x="9007577" y="2803270"/>
            <a:ext cx="2149308" cy="1172477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headEnd type="arrow"/>
            <a:tailEnd type="none"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="" xmlns:a16="http://schemas.microsoft.com/office/drawing/2014/main" id="{5DCF2DB1-DC37-498C-8F99-C99553C6D1FF}"/>
              </a:ext>
            </a:extLst>
          </p:cNvPr>
          <p:cNvSpPr/>
          <p:nvPr/>
        </p:nvSpPr>
        <p:spPr bwMode="gray">
          <a:xfrm>
            <a:off x="6577335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="" xmlns:a16="http://schemas.microsoft.com/office/drawing/2014/main" id="{F852B9A9-DBF4-41CF-9E11-9717D8E2E40A}"/>
              </a:ext>
            </a:extLst>
          </p:cNvPr>
          <p:cNvSpPr/>
          <p:nvPr/>
        </p:nvSpPr>
        <p:spPr bwMode="gray">
          <a:xfrm>
            <a:off x="6793036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="" xmlns:a16="http://schemas.microsoft.com/office/drawing/2014/main" id="{86171CE8-2D70-4A01-A545-1C27BFED67E6}"/>
              </a:ext>
            </a:extLst>
          </p:cNvPr>
          <p:cNvSpPr/>
          <p:nvPr/>
        </p:nvSpPr>
        <p:spPr bwMode="gray">
          <a:xfrm>
            <a:off x="7008737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="" xmlns:a16="http://schemas.microsoft.com/office/drawing/2014/main" id="{525CDE21-30A2-40BC-86EC-F34F119E78D7}"/>
              </a:ext>
            </a:extLst>
          </p:cNvPr>
          <p:cNvSpPr/>
          <p:nvPr/>
        </p:nvSpPr>
        <p:spPr bwMode="gray">
          <a:xfrm>
            <a:off x="7224438" y="2983564"/>
            <a:ext cx="186959" cy="2501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="" xmlns:a16="http://schemas.microsoft.com/office/drawing/2014/main" id="{767A06AA-4365-49DE-A9A7-275F050FECE0}"/>
              </a:ext>
            </a:extLst>
          </p:cNvPr>
          <p:cNvSpPr/>
          <p:nvPr/>
        </p:nvSpPr>
        <p:spPr bwMode="gray">
          <a:xfrm>
            <a:off x="7440139" y="2983564"/>
            <a:ext cx="186959" cy="2501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="" xmlns:a16="http://schemas.microsoft.com/office/drawing/2014/main" id="{FA1B87AD-CC58-4EB3-BF60-3424A480B521}"/>
              </a:ext>
            </a:extLst>
          </p:cNvPr>
          <p:cNvSpPr/>
          <p:nvPr/>
        </p:nvSpPr>
        <p:spPr bwMode="gray">
          <a:xfrm>
            <a:off x="7655841" y="2983564"/>
            <a:ext cx="186959" cy="2501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4" name="右大括号 153">
            <a:extLst>
              <a:ext uri="{FF2B5EF4-FFF2-40B4-BE49-F238E27FC236}">
                <a16:creationId xmlns="" xmlns:a16="http://schemas.microsoft.com/office/drawing/2014/main" id="{EF56DE26-D583-4A8B-869E-9CE51A6A16B6}"/>
              </a:ext>
            </a:extLst>
          </p:cNvPr>
          <p:cNvSpPr/>
          <p:nvPr/>
        </p:nvSpPr>
        <p:spPr bwMode="gray">
          <a:xfrm rot="16200000">
            <a:off x="6809265" y="2506406"/>
            <a:ext cx="143233" cy="5884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5" name="右大括号 154">
            <a:extLst>
              <a:ext uri="{FF2B5EF4-FFF2-40B4-BE49-F238E27FC236}">
                <a16:creationId xmlns="" xmlns:a16="http://schemas.microsoft.com/office/drawing/2014/main" id="{0DA65851-2776-4868-968E-94D0D2444CE0}"/>
              </a:ext>
            </a:extLst>
          </p:cNvPr>
          <p:cNvSpPr/>
          <p:nvPr/>
        </p:nvSpPr>
        <p:spPr bwMode="gray">
          <a:xfrm rot="16200000">
            <a:off x="7462001" y="2506406"/>
            <a:ext cx="143233" cy="5884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文本框 7">
            <a:extLst>
              <a:ext uri="{FF2B5EF4-FFF2-40B4-BE49-F238E27FC236}">
                <a16:creationId xmlns="" xmlns:a16="http://schemas.microsoft.com/office/drawing/2014/main" id="{4F5587F9-97CD-47DE-BAF5-11A13675863A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6366576" y="2357642"/>
            <a:ext cx="1123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染色周期</a:t>
            </a:r>
            <a:r>
              <a:rPr lang="en-US" altLang="zh-CN" sz="14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157" name="文本框 7">
            <a:extLst>
              <a:ext uri="{FF2B5EF4-FFF2-40B4-BE49-F238E27FC236}">
                <a16:creationId xmlns="" xmlns:a16="http://schemas.microsoft.com/office/drawing/2014/main" id="{AAEF0E8C-3454-4B73-82FB-22066EABFE69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7411616" y="2357642"/>
            <a:ext cx="453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158" name="文本框 7">
            <a:extLst>
              <a:ext uri="{FF2B5EF4-FFF2-40B4-BE49-F238E27FC236}">
                <a16:creationId xmlns="" xmlns:a16="http://schemas.microsoft.com/office/drawing/2014/main" id="{DFBB6C32-EC6F-44E8-9FDE-1F12FFB12509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503592" y="3501930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时间戳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="" xmlns:a16="http://schemas.microsoft.com/office/drawing/2014/main" id="{3CE113A1-030C-481E-97AA-5499EA6259F6}"/>
              </a:ext>
            </a:extLst>
          </p:cNvPr>
          <p:cNvCxnSpPr/>
          <p:nvPr/>
        </p:nvCxnSpPr>
        <p:spPr bwMode="gray">
          <a:xfrm>
            <a:off x="6880881" y="3252453"/>
            <a:ext cx="0" cy="25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="" xmlns:a16="http://schemas.microsoft.com/office/drawing/2014/main" id="{22774878-A9A1-4816-A506-295ADD6562FC}"/>
              </a:ext>
            </a:extLst>
          </p:cNvPr>
          <p:cNvSpPr/>
          <p:nvPr/>
        </p:nvSpPr>
        <p:spPr bwMode="gray">
          <a:xfrm>
            <a:off x="10095687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="" xmlns:a16="http://schemas.microsoft.com/office/drawing/2014/main" id="{FFBED541-97D4-47AC-83EE-3BECF29CAD50}"/>
              </a:ext>
            </a:extLst>
          </p:cNvPr>
          <p:cNvSpPr/>
          <p:nvPr/>
        </p:nvSpPr>
        <p:spPr bwMode="gray">
          <a:xfrm>
            <a:off x="10311388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="" xmlns:a16="http://schemas.microsoft.com/office/drawing/2014/main" id="{EEE9B638-86E8-4633-99E7-0C392D4972FC}"/>
              </a:ext>
            </a:extLst>
          </p:cNvPr>
          <p:cNvSpPr/>
          <p:nvPr/>
        </p:nvSpPr>
        <p:spPr bwMode="gray">
          <a:xfrm>
            <a:off x="10527089" y="2983564"/>
            <a:ext cx="186959" cy="25017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="" xmlns:a16="http://schemas.microsoft.com/office/drawing/2014/main" id="{58ED030C-A73A-4DA7-86B5-87E782E5E4BF}"/>
              </a:ext>
            </a:extLst>
          </p:cNvPr>
          <p:cNvSpPr/>
          <p:nvPr/>
        </p:nvSpPr>
        <p:spPr bwMode="gray">
          <a:xfrm>
            <a:off x="10742790" y="2983564"/>
            <a:ext cx="186959" cy="2501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="" xmlns:a16="http://schemas.microsoft.com/office/drawing/2014/main" id="{FE4063C4-F8E3-4A9B-BA83-E78CB03637A2}"/>
              </a:ext>
            </a:extLst>
          </p:cNvPr>
          <p:cNvSpPr/>
          <p:nvPr/>
        </p:nvSpPr>
        <p:spPr bwMode="gray">
          <a:xfrm>
            <a:off x="11174193" y="2983564"/>
            <a:ext cx="186959" cy="2501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右大括号 166">
            <a:extLst>
              <a:ext uri="{FF2B5EF4-FFF2-40B4-BE49-F238E27FC236}">
                <a16:creationId xmlns="" xmlns:a16="http://schemas.microsoft.com/office/drawing/2014/main" id="{F8721064-90FD-4114-AF19-67C60BFE1239}"/>
              </a:ext>
            </a:extLst>
          </p:cNvPr>
          <p:cNvSpPr/>
          <p:nvPr/>
        </p:nvSpPr>
        <p:spPr bwMode="gray">
          <a:xfrm rot="16200000">
            <a:off x="10327617" y="2506406"/>
            <a:ext cx="143233" cy="5884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右大括号 167">
            <a:extLst>
              <a:ext uri="{FF2B5EF4-FFF2-40B4-BE49-F238E27FC236}">
                <a16:creationId xmlns="" xmlns:a16="http://schemas.microsoft.com/office/drawing/2014/main" id="{F82D002E-47DE-44FE-913A-38EF94213318}"/>
              </a:ext>
            </a:extLst>
          </p:cNvPr>
          <p:cNvSpPr/>
          <p:nvPr/>
        </p:nvSpPr>
        <p:spPr bwMode="gray">
          <a:xfrm rot="16200000">
            <a:off x="10980353" y="2506406"/>
            <a:ext cx="143233" cy="5884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文本框 7">
            <a:extLst>
              <a:ext uri="{FF2B5EF4-FFF2-40B4-BE49-F238E27FC236}">
                <a16:creationId xmlns="" xmlns:a16="http://schemas.microsoft.com/office/drawing/2014/main" id="{12C044A9-2F49-4CE3-A1B3-0F9B5F5F3F69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9884928" y="2357642"/>
            <a:ext cx="1123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染色周期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170" name="文本框 7">
            <a:extLst>
              <a:ext uri="{FF2B5EF4-FFF2-40B4-BE49-F238E27FC236}">
                <a16:creationId xmlns="" xmlns:a16="http://schemas.microsoft.com/office/drawing/2014/main" id="{A8557E2A-EC4F-418E-B06A-541DD02BFE9F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10929968" y="2357642"/>
            <a:ext cx="453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171" name="文本框 7">
            <a:extLst>
              <a:ext uri="{FF2B5EF4-FFF2-40B4-BE49-F238E27FC236}">
                <a16:creationId xmlns="" xmlns:a16="http://schemas.microsoft.com/office/drawing/2014/main" id="{7E655D57-C2A5-4900-9A37-2528A54B7162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10021944" y="3501930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时间戳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cxnSp>
        <p:nvCxnSpPr>
          <p:cNvPr id="172" name="直接箭头连接符 171">
            <a:extLst>
              <a:ext uri="{FF2B5EF4-FFF2-40B4-BE49-F238E27FC236}">
                <a16:creationId xmlns="" xmlns:a16="http://schemas.microsoft.com/office/drawing/2014/main" id="{40FE587B-80F6-4644-AF95-9D94BFE5C2A1}"/>
              </a:ext>
            </a:extLst>
          </p:cNvPr>
          <p:cNvCxnSpPr/>
          <p:nvPr/>
        </p:nvCxnSpPr>
        <p:spPr bwMode="gray">
          <a:xfrm>
            <a:off x="10399233" y="3252453"/>
            <a:ext cx="0" cy="25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="" xmlns:a16="http://schemas.microsoft.com/office/drawing/2014/main" id="{A08C3A62-5B3D-4C97-A9DE-130C6C06787A}"/>
              </a:ext>
            </a:extLst>
          </p:cNvPr>
          <p:cNvSpPr txBox="1"/>
          <p:nvPr/>
        </p:nvSpPr>
        <p:spPr bwMode="gray">
          <a:xfrm>
            <a:off x="6361207" y="1571778"/>
            <a:ext cx="534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链路时延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本节点接收时间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–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上节点发送时间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丢包位置 ：每节点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上报信息，对比获得丢包位置。</a:t>
            </a:r>
          </a:p>
        </p:txBody>
      </p:sp>
      <p:cxnSp>
        <p:nvCxnSpPr>
          <p:cNvPr id="179" name="直接连接符 178">
            <a:extLst>
              <a:ext uri="{FF2B5EF4-FFF2-40B4-BE49-F238E27FC236}">
                <a16:creationId xmlns="" xmlns:a16="http://schemas.microsoft.com/office/drawing/2014/main" id="{2F6E6AF2-D816-44D2-AF39-4B69DB4A2295}"/>
              </a:ext>
            </a:extLst>
          </p:cNvPr>
          <p:cNvCxnSpPr/>
          <p:nvPr/>
        </p:nvCxnSpPr>
        <p:spPr bwMode="gray">
          <a:xfrm>
            <a:off x="6997505" y="4463531"/>
            <a:ext cx="0" cy="67912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="" xmlns:a16="http://schemas.microsoft.com/office/drawing/2014/main" id="{455E2E09-D2A4-4F31-8A1A-58296578E53B}"/>
              </a:ext>
            </a:extLst>
          </p:cNvPr>
          <p:cNvCxnSpPr/>
          <p:nvPr/>
        </p:nvCxnSpPr>
        <p:spPr bwMode="gray">
          <a:xfrm>
            <a:off x="11174193" y="4463531"/>
            <a:ext cx="0" cy="67912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="" xmlns:a16="http://schemas.microsoft.com/office/drawing/2014/main" id="{E31CE08F-5BAB-4C84-9A8C-D5E8D08B4B3F}"/>
              </a:ext>
            </a:extLst>
          </p:cNvPr>
          <p:cNvCxnSpPr>
            <a:cxnSpLocks/>
          </p:cNvCxnSpPr>
          <p:nvPr/>
        </p:nvCxnSpPr>
        <p:spPr bwMode="gray">
          <a:xfrm>
            <a:off x="8383964" y="4477335"/>
            <a:ext cx="0" cy="32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="" xmlns:a16="http://schemas.microsoft.com/office/drawing/2014/main" id="{38250D6D-AB5A-4B2B-AE6E-30EF91CD2C92}"/>
              </a:ext>
            </a:extLst>
          </p:cNvPr>
          <p:cNvCxnSpPr>
            <a:cxnSpLocks/>
          </p:cNvCxnSpPr>
          <p:nvPr/>
        </p:nvCxnSpPr>
        <p:spPr bwMode="gray">
          <a:xfrm>
            <a:off x="12560652" y="4642435"/>
            <a:ext cx="0" cy="67912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="" xmlns:a16="http://schemas.microsoft.com/office/drawing/2014/main" id="{45ED7A12-F0EB-4C51-AAC4-5D933928FC03}"/>
              </a:ext>
            </a:extLst>
          </p:cNvPr>
          <p:cNvCxnSpPr>
            <a:cxnSpLocks/>
          </p:cNvCxnSpPr>
          <p:nvPr/>
        </p:nvCxnSpPr>
        <p:spPr bwMode="gray">
          <a:xfrm>
            <a:off x="9759688" y="4477335"/>
            <a:ext cx="0" cy="32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="" xmlns:a16="http://schemas.microsoft.com/office/drawing/2014/main" id="{A6181089-91B4-49F6-8861-D2EE13B1E0EB}"/>
              </a:ext>
            </a:extLst>
          </p:cNvPr>
          <p:cNvCxnSpPr/>
          <p:nvPr/>
        </p:nvCxnSpPr>
        <p:spPr bwMode="gray">
          <a:xfrm>
            <a:off x="7102216" y="4627515"/>
            <a:ext cx="12067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="" xmlns:a16="http://schemas.microsoft.com/office/drawing/2014/main" id="{07DC79B2-252E-4D01-B891-DC5B90C697EF}"/>
              </a:ext>
            </a:extLst>
          </p:cNvPr>
          <p:cNvCxnSpPr/>
          <p:nvPr/>
        </p:nvCxnSpPr>
        <p:spPr bwMode="gray">
          <a:xfrm>
            <a:off x="8473807" y="4627515"/>
            <a:ext cx="12067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="" xmlns:a16="http://schemas.microsoft.com/office/drawing/2014/main" id="{22F1C060-85F6-4D54-A5C7-978FE0093282}"/>
              </a:ext>
            </a:extLst>
          </p:cNvPr>
          <p:cNvCxnSpPr/>
          <p:nvPr/>
        </p:nvCxnSpPr>
        <p:spPr bwMode="gray">
          <a:xfrm>
            <a:off x="9884928" y="4627515"/>
            <a:ext cx="12067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="" xmlns:a16="http://schemas.microsoft.com/office/drawing/2014/main" id="{3A9F8A35-807E-4C85-9F7F-CCC2D5F875B8}"/>
              </a:ext>
            </a:extLst>
          </p:cNvPr>
          <p:cNvCxnSpPr>
            <a:cxnSpLocks/>
          </p:cNvCxnSpPr>
          <p:nvPr/>
        </p:nvCxnSpPr>
        <p:spPr bwMode="gray">
          <a:xfrm>
            <a:off x="7102216" y="5002723"/>
            <a:ext cx="39331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7">
            <a:extLst>
              <a:ext uri="{FF2B5EF4-FFF2-40B4-BE49-F238E27FC236}">
                <a16:creationId xmlns="" xmlns:a16="http://schemas.microsoft.com/office/drawing/2014/main" id="{688DF900-5B64-424C-A2F6-86226ED509AC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7305537" y="4657177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分段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KPI</a:t>
            </a:r>
          </a:p>
        </p:txBody>
      </p:sp>
      <p:sp>
        <p:nvSpPr>
          <p:cNvPr id="193" name="文本框 7">
            <a:extLst>
              <a:ext uri="{FF2B5EF4-FFF2-40B4-BE49-F238E27FC236}">
                <a16:creationId xmlns="" xmlns:a16="http://schemas.microsoft.com/office/drawing/2014/main" id="{8CB33BE8-4F90-4D64-99F1-57A863819551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8678359" y="4657177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分段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KPI</a:t>
            </a:r>
          </a:p>
        </p:txBody>
      </p:sp>
      <p:sp>
        <p:nvSpPr>
          <p:cNvPr id="194" name="文本框 7">
            <a:extLst>
              <a:ext uri="{FF2B5EF4-FFF2-40B4-BE49-F238E27FC236}">
                <a16:creationId xmlns="" xmlns:a16="http://schemas.microsoft.com/office/drawing/2014/main" id="{275BB493-87FA-4B0B-BFAA-31F10A9663F6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10077240" y="4657177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分段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KPI</a:t>
            </a:r>
          </a:p>
        </p:txBody>
      </p:sp>
      <p:sp>
        <p:nvSpPr>
          <p:cNvPr id="195" name="文本框 7">
            <a:extLst>
              <a:ext uri="{FF2B5EF4-FFF2-40B4-BE49-F238E27FC236}">
                <a16:creationId xmlns="" xmlns:a16="http://schemas.microsoft.com/office/drawing/2014/main" id="{0C792D03-8442-4788-BBE0-5E9C7AA8341F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8625192" y="5050699"/>
            <a:ext cx="1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端到端</a:t>
            </a:r>
            <a:r>
              <a:rPr lang="en-US" altLang="zh-CN" sz="14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KPI</a:t>
            </a:r>
          </a:p>
        </p:txBody>
      </p:sp>
    </p:spTree>
    <p:extLst>
      <p:ext uri="{BB962C8B-B14F-4D97-AF65-F5344CB8AC3E}">
        <p14:creationId xmlns:p14="http://schemas.microsoft.com/office/powerpoint/2010/main" val="278264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8"/>
          <p:cNvCxnSpPr/>
          <p:nvPr>
            <p:custDataLst>
              <p:tags r:id="rId1"/>
            </p:custDataLst>
          </p:nvPr>
        </p:nvCxnSpPr>
        <p:spPr bwMode="gray">
          <a:xfrm flipH="1">
            <a:off x="2754800" y="2858353"/>
            <a:ext cx="2683705" cy="906548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r>
              <a:rPr lang="en-US" altLang="zh-CN" dirty="0">
                <a:sym typeface="Huawei Sans" panose="020C0503030203020204" pitchFamily="34" charset="0"/>
              </a:rPr>
              <a:t> for VPN over SRv6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SRv6</a:t>
            </a:r>
            <a:r>
              <a:rPr lang="zh-CN" altLang="en-US" sz="1600" dirty="0">
                <a:sym typeface="Huawei Sans" panose="020C0503030203020204" pitchFamily="34" charset="0"/>
              </a:rPr>
              <a:t>基本场景：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首节点，在</a:t>
            </a:r>
            <a:r>
              <a:rPr lang="en-US" altLang="zh-CN" sz="1400" dirty="0"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sym typeface="Huawei Sans" panose="020C0503030203020204" pitchFamily="34" charset="0"/>
              </a:rPr>
              <a:t>基本头和负载之间插入</a:t>
            </a:r>
            <a:r>
              <a:rPr lang="en-US" altLang="zh-CN" sz="1400" dirty="0">
                <a:sym typeface="Huawei Sans" panose="020C0503030203020204" pitchFamily="34" charset="0"/>
              </a:rPr>
              <a:t>SRH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SRH</a:t>
            </a:r>
            <a:r>
              <a:rPr lang="zh-CN" altLang="en-US" sz="1400" dirty="0">
                <a:sym typeface="Huawei Sans" panose="020C0503030203020204" pitchFamily="34" charset="0"/>
              </a:rPr>
              <a:t>携带</a:t>
            </a:r>
            <a:r>
              <a:rPr lang="en-US" altLang="zh-CN" sz="1400" dirty="0">
                <a:sym typeface="Huawei Sans" panose="020C0503030203020204" pitchFamily="34" charset="0"/>
              </a:rPr>
              <a:t>SRH</a:t>
            </a:r>
            <a:r>
              <a:rPr lang="zh-CN" altLang="en-US" sz="1400" dirty="0">
                <a:sym typeface="Huawei Sans" panose="020C0503030203020204" pitchFamily="34" charset="0"/>
              </a:rPr>
              <a:t>基本头</a:t>
            </a:r>
            <a:r>
              <a:rPr lang="en-US" altLang="zh-CN" sz="1400" dirty="0">
                <a:sym typeface="Huawei Sans" panose="020C0503030203020204" pitchFamily="34" charset="0"/>
              </a:rPr>
              <a:t>+</a:t>
            </a:r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扩展头。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sym typeface="Huawei Sans" panose="020C0503030203020204" pitchFamily="34" charset="0"/>
              </a:rPr>
              <a:t>的节点，能够支持</a:t>
            </a:r>
            <a:r>
              <a:rPr lang="en-US" altLang="zh-CN" sz="1400" dirty="0">
                <a:sym typeface="Huawei Sans" panose="020C0503030203020204" pitchFamily="34" charset="0"/>
              </a:rPr>
              <a:t>E2E/</a:t>
            </a:r>
            <a:r>
              <a:rPr lang="zh-CN" altLang="en-US" sz="1400" dirty="0">
                <a:sym typeface="Huawei Sans" panose="020C0503030203020204" pitchFamily="34" charset="0"/>
              </a:rPr>
              <a:t>逐跳上报</a:t>
            </a:r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统计信息。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不支持</a:t>
            </a:r>
            <a:r>
              <a:rPr lang="en-US" altLang="zh-CN" sz="1400" dirty="0"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sym typeface="Huawei Sans" panose="020C0503030203020204" pitchFamily="34" charset="0"/>
              </a:rPr>
              <a:t>，但支持</a:t>
            </a:r>
            <a:r>
              <a:rPr lang="en-US" altLang="zh-CN" sz="1400" dirty="0"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sym typeface="Huawei Sans" panose="020C0503030203020204" pitchFamily="34" charset="0"/>
              </a:rPr>
              <a:t>转发的节点，携带</a:t>
            </a:r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的业务报文正常转发。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cxnSp>
        <p:nvCxnSpPr>
          <p:cNvPr id="46" name="直接连接符 12"/>
          <p:cNvCxnSpPr>
            <a:stCxn id="100" idx="3"/>
            <a:endCxn id="103" idx="1"/>
          </p:cNvCxnSpPr>
          <p:nvPr>
            <p:custDataLst>
              <p:tags r:id="rId2"/>
            </p:custDataLst>
          </p:nvPr>
        </p:nvCxnSpPr>
        <p:spPr bwMode="gray">
          <a:xfrm>
            <a:off x="2901253" y="4042774"/>
            <a:ext cx="6227456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文本框 21"/>
          <p:cNvSpPr txBox="1"/>
          <p:nvPr>
            <p:custDataLst>
              <p:tags r:id="rId3"/>
            </p:custDataLst>
          </p:nvPr>
        </p:nvSpPr>
        <p:spPr bwMode="gray">
          <a:xfrm>
            <a:off x="2409725" y="4170720"/>
            <a:ext cx="404584" cy="3900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/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50" name="文本框 22"/>
          <p:cNvSpPr txBox="1"/>
          <p:nvPr>
            <p:custDataLst>
              <p:tags r:id="rId4"/>
            </p:custDataLst>
          </p:nvPr>
        </p:nvSpPr>
        <p:spPr bwMode="gray">
          <a:xfrm>
            <a:off x="4194290" y="4151778"/>
            <a:ext cx="319625" cy="3900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/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51" name="文本框 42"/>
          <p:cNvSpPr txBox="1"/>
          <p:nvPr>
            <p:custDataLst>
              <p:tags r:id="rId5"/>
            </p:custDataLst>
          </p:nvPr>
        </p:nvSpPr>
        <p:spPr bwMode="gray">
          <a:xfrm>
            <a:off x="7483587" y="4142552"/>
            <a:ext cx="319625" cy="3900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9pPr>
          </a:lstStyle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P3</a:t>
            </a:r>
          </a:p>
        </p:txBody>
      </p:sp>
      <p:sp>
        <p:nvSpPr>
          <p:cNvPr id="52" name="文本框 42"/>
          <p:cNvSpPr txBox="1"/>
          <p:nvPr>
            <p:custDataLst>
              <p:tags r:id="rId6"/>
            </p:custDataLst>
          </p:nvPr>
        </p:nvSpPr>
        <p:spPr bwMode="gray">
          <a:xfrm>
            <a:off x="9178215" y="4188053"/>
            <a:ext cx="404584" cy="42144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9pPr>
          </a:lstStyle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53" name="圆角矩形 29"/>
          <p:cNvSpPr/>
          <p:nvPr>
            <p:custDataLst>
              <p:tags r:id="rId7"/>
            </p:custDataLst>
          </p:nvPr>
        </p:nvSpPr>
        <p:spPr bwMode="gray">
          <a:xfrm>
            <a:off x="5438504" y="2711877"/>
            <a:ext cx="1326189" cy="318779"/>
          </a:xfrm>
          <a:prstGeom prst="roundRect">
            <a:avLst/>
          </a:prstGeom>
          <a:solidFill>
            <a:srgbClr val="30B5C5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>
              <a:lnSpc>
                <a:spcPct val="150000"/>
              </a:lnSpc>
            </a:pPr>
            <a:r>
              <a:rPr lang="en-US" altLang="zh-CN" sz="1200" b="1" kern="0" dirty="0" err="1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iMaster</a:t>
            </a:r>
            <a:r>
              <a:rPr lang="en-US" altLang="zh-CN" sz="1200" b="1" kern="0" dirty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NCE-IP</a:t>
            </a:r>
            <a:endParaRPr lang="en-US" altLang="zh-CN" sz="1200" b="1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cxnSp>
        <p:nvCxnSpPr>
          <p:cNvPr id="54" name="直接连接符 8"/>
          <p:cNvCxnSpPr>
            <a:stCxn id="53" idx="2"/>
          </p:cNvCxnSpPr>
          <p:nvPr>
            <p:custDataLst>
              <p:tags r:id="rId8"/>
            </p:custDataLst>
          </p:nvPr>
        </p:nvCxnSpPr>
        <p:spPr bwMode="gray">
          <a:xfrm flipH="1">
            <a:off x="4511685" y="3030656"/>
            <a:ext cx="1589914" cy="1176992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55" name="直接连接符 8"/>
          <p:cNvCxnSpPr>
            <a:stCxn id="53" idx="2"/>
          </p:cNvCxnSpPr>
          <p:nvPr>
            <p:custDataLst>
              <p:tags r:id="rId9"/>
            </p:custDataLst>
          </p:nvPr>
        </p:nvCxnSpPr>
        <p:spPr bwMode="gray">
          <a:xfrm>
            <a:off x="6101599" y="3030656"/>
            <a:ext cx="1580177" cy="1166865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56" name="直接连接符 8"/>
          <p:cNvCxnSpPr>
            <a:stCxn id="53" idx="3"/>
          </p:cNvCxnSpPr>
          <p:nvPr>
            <p:custDataLst>
              <p:tags r:id="rId10"/>
            </p:custDataLst>
          </p:nvPr>
        </p:nvCxnSpPr>
        <p:spPr bwMode="gray">
          <a:xfrm>
            <a:off x="6764693" y="2871267"/>
            <a:ext cx="2634016" cy="876860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grpSp>
        <p:nvGrpSpPr>
          <p:cNvPr id="16" name="组合 15"/>
          <p:cNvGrpSpPr/>
          <p:nvPr/>
        </p:nvGrpSpPr>
        <p:grpSpPr bwMode="gray">
          <a:xfrm>
            <a:off x="1029521" y="4428225"/>
            <a:ext cx="1120807" cy="489037"/>
            <a:chOff x="1029521" y="4508831"/>
            <a:chExt cx="1120807" cy="489037"/>
          </a:xfrm>
        </p:grpSpPr>
        <p:sp>
          <p:nvSpPr>
            <p:cNvPr id="57" name="矩形 20"/>
            <p:cNvSpPr/>
            <p:nvPr>
              <p:custDataLst>
                <p:tags r:id="rId29"/>
              </p:custDataLst>
            </p:nvPr>
          </p:nvSpPr>
          <p:spPr bwMode="gray">
            <a:xfrm>
              <a:off x="1029521" y="4508831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58" name="矩形 21"/>
            <p:cNvSpPr/>
            <p:nvPr>
              <p:custDataLst>
                <p:tags r:id="rId30"/>
              </p:custDataLst>
            </p:nvPr>
          </p:nvSpPr>
          <p:spPr bwMode="gray">
            <a:xfrm>
              <a:off x="1029521" y="4752192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74" name="Straight Connector 73"/>
          <p:cNvCxnSpPr/>
          <p:nvPr/>
        </p:nvCxnSpPr>
        <p:spPr bwMode="gray">
          <a:xfrm>
            <a:off x="1709012" y="3758255"/>
            <a:ext cx="8462473" cy="17305"/>
          </a:xfrm>
          <a:prstGeom prst="line">
            <a:avLst/>
          </a:prstGeom>
          <a:noFill/>
          <a:ln w="28575" cap="flat" cmpd="sng" algn="ctr">
            <a:solidFill>
              <a:srgbClr val="FCC8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/>
        </p:spPr>
      </p:cxnSp>
      <p:sp>
        <p:nvSpPr>
          <p:cNvPr id="75" name="文本框 7"/>
          <p:cNvSpPr txBox="1"/>
          <p:nvPr>
            <p:custDataLst>
              <p:tags r:id="rId11"/>
            </p:custDataLst>
          </p:nvPr>
        </p:nvSpPr>
        <p:spPr bwMode="gray">
          <a:xfrm>
            <a:off x="7260563" y="2799075"/>
            <a:ext cx="1885264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2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</a:p>
        </p:txBody>
      </p:sp>
      <p:sp>
        <p:nvSpPr>
          <p:cNvPr id="22" name="Rectangle 21"/>
          <p:cNvSpPr/>
          <p:nvPr/>
        </p:nvSpPr>
        <p:spPr bwMode="gray">
          <a:xfrm>
            <a:off x="8022886" y="3332839"/>
            <a:ext cx="25328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3816"/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 100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endParaRPr lang="en-US" altLang="zh-CN" sz="1200" b="1" kern="0" dirty="0">
              <a:solidFill>
                <a:srgbClr val="2D201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1213816"/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END.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DT4 SID</a:t>
            </a:r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B:</a:t>
            </a:r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:1:1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:D100</a:t>
            </a:r>
            <a:endParaRPr lang="en-US" altLang="zh-CN" sz="1200" b="1" kern="0" dirty="0">
              <a:solidFill>
                <a:srgbClr val="2D201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0" name="图片 99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61253" y="3821374"/>
            <a:ext cx="540000" cy="442800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7757" y="3821374"/>
            <a:ext cx="540000" cy="442800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86941" y="3821374"/>
            <a:ext cx="540000" cy="442800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28709" y="3821374"/>
            <a:ext cx="540000" cy="4428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 bwMode="gray">
          <a:xfrm>
            <a:off x="2998234" y="4428225"/>
            <a:ext cx="1195201" cy="1224795"/>
            <a:chOff x="2998234" y="4428225"/>
            <a:chExt cx="1195201" cy="1224795"/>
          </a:xfrm>
        </p:grpSpPr>
        <p:sp>
          <p:nvSpPr>
            <p:cNvPr id="104" name="矩形 20"/>
            <p:cNvSpPr/>
            <p:nvPr>
              <p:custDataLst>
                <p:tags r:id="rId24"/>
              </p:custDataLst>
            </p:nvPr>
          </p:nvSpPr>
          <p:spPr bwMode="gray">
            <a:xfrm>
              <a:off x="2998234" y="4655214"/>
              <a:ext cx="11952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</a:t>
              </a:r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::1:1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:D100</a:t>
              </a:r>
              <a:endPara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5" name="矩形 21"/>
            <p:cNvSpPr/>
            <p:nvPr>
              <p:custDataLst>
                <p:tags r:id="rId25"/>
              </p:custDataLst>
            </p:nvPr>
          </p:nvSpPr>
          <p:spPr bwMode="gray">
            <a:xfrm>
              <a:off x="2998234" y="4912745"/>
              <a:ext cx="11952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12" name="矩形 20"/>
            <p:cNvSpPr/>
            <p:nvPr>
              <p:custDataLst>
                <p:tags r:id="rId26"/>
              </p:custDataLst>
            </p:nvPr>
          </p:nvSpPr>
          <p:spPr bwMode="gray">
            <a:xfrm>
              <a:off x="2998235" y="5163710"/>
              <a:ext cx="11952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13" name="矩形 21"/>
            <p:cNvSpPr/>
            <p:nvPr>
              <p:custDataLst>
                <p:tags r:id="rId27"/>
              </p:custDataLst>
            </p:nvPr>
          </p:nvSpPr>
          <p:spPr bwMode="gray">
            <a:xfrm>
              <a:off x="2998234" y="5407344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4" name="矩形 20"/>
            <p:cNvSpPr/>
            <p:nvPr>
              <p:custDataLst>
                <p:tags r:id="rId28"/>
              </p:custDataLst>
            </p:nvPr>
          </p:nvSpPr>
          <p:spPr bwMode="gray">
            <a:xfrm>
              <a:off x="2998234" y="4428225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</p:grpSp>
      <p:grpSp>
        <p:nvGrpSpPr>
          <p:cNvPr id="115" name="组合 114"/>
          <p:cNvGrpSpPr/>
          <p:nvPr/>
        </p:nvGrpSpPr>
        <p:grpSpPr bwMode="gray">
          <a:xfrm>
            <a:off x="5425264" y="4428225"/>
            <a:ext cx="1195201" cy="1224795"/>
            <a:chOff x="2998234" y="4428225"/>
            <a:chExt cx="1195201" cy="1224795"/>
          </a:xfrm>
        </p:grpSpPr>
        <p:sp>
          <p:nvSpPr>
            <p:cNvPr id="116" name="矩形 20"/>
            <p:cNvSpPr/>
            <p:nvPr>
              <p:custDataLst>
                <p:tags r:id="rId19"/>
              </p:custDataLst>
            </p:nvPr>
          </p:nvSpPr>
          <p:spPr bwMode="gray">
            <a:xfrm>
              <a:off x="2998234" y="4655214"/>
              <a:ext cx="11952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</a:t>
              </a:r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::1:1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:D100</a:t>
              </a:r>
              <a:endPara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7" name="矩形 21"/>
            <p:cNvSpPr/>
            <p:nvPr>
              <p:custDataLst>
                <p:tags r:id="rId20"/>
              </p:custDataLst>
            </p:nvPr>
          </p:nvSpPr>
          <p:spPr bwMode="gray">
            <a:xfrm>
              <a:off x="2998234" y="4912745"/>
              <a:ext cx="11952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18" name="矩形 20"/>
            <p:cNvSpPr/>
            <p:nvPr>
              <p:custDataLst>
                <p:tags r:id="rId21"/>
              </p:custDataLst>
            </p:nvPr>
          </p:nvSpPr>
          <p:spPr bwMode="gray">
            <a:xfrm>
              <a:off x="2998235" y="5163710"/>
              <a:ext cx="11952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19" name="矩形 21"/>
            <p:cNvSpPr/>
            <p:nvPr>
              <p:custDataLst>
                <p:tags r:id="rId22"/>
              </p:custDataLst>
            </p:nvPr>
          </p:nvSpPr>
          <p:spPr bwMode="gray">
            <a:xfrm>
              <a:off x="2998234" y="5407344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0" name="矩形 20"/>
            <p:cNvSpPr/>
            <p:nvPr>
              <p:custDataLst>
                <p:tags r:id="rId23"/>
              </p:custDataLst>
            </p:nvPr>
          </p:nvSpPr>
          <p:spPr bwMode="gray">
            <a:xfrm>
              <a:off x="2998234" y="4428225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</p:grpSp>
      <p:grpSp>
        <p:nvGrpSpPr>
          <p:cNvPr id="121" name="组合 120"/>
          <p:cNvGrpSpPr/>
          <p:nvPr/>
        </p:nvGrpSpPr>
        <p:grpSpPr bwMode="gray">
          <a:xfrm>
            <a:off x="7903565" y="4428225"/>
            <a:ext cx="1195201" cy="1224795"/>
            <a:chOff x="2998234" y="4428225"/>
            <a:chExt cx="1195201" cy="1224795"/>
          </a:xfrm>
        </p:grpSpPr>
        <p:sp>
          <p:nvSpPr>
            <p:cNvPr id="122" name="矩形 20"/>
            <p:cNvSpPr/>
            <p:nvPr>
              <p:custDataLst>
                <p:tags r:id="rId14"/>
              </p:custDataLst>
            </p:nvPr>
          </p:nvSpPr>
          <p:spPr bwMode="gray">
            <a:xfrm>
              <a:off x="2998234" y="4655214"/>
              <a:ext cx="11952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</a:t>
              </a:r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::1:1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:D100</a:t>
              </a:r>
              <a:endPara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矩形 21"/>
            <p:cNvSpPr/>
            <p:nvPr>
              <p:custDataLst>
                <p:tags r:id="rId15"/>
              </p:custDataLst>
            </p:nvPr>
          </p:nvSpPr>
          <p:spPr bwMode="gray">
            <a:xfrm>
              <a:off x="2998234" y="4912745"/>
              <a:ext cx="11952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24" name="矩形 20"/>
            <p:cNvSpPr/>
            <p:nvPr>
              <p:custDataLst>
                <p:tags r:id="rId16"/>
              </p:custDataLst>
            </p:nvPr>
          </p:nvSpPr>
          <p:spPr bwMode="gray">
            <a:xfrm>
              <a:off x="2998235" y="5163710"/>
              <a:ext cx="11952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25" name="矩形 21"/>
            <p:cNvSpPr/>
            <p:nvPr>
              <p:custDataLst>
                <p:tags r:id="rId17"/>
              </p:custDataLst>
            </p:nvPr>
          </p:nvSpPr>
          <p:spPr bwMode="gray">
            <a:xfrm>
              <a:off x="2998234" y="5407344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矩形 20"/>
            <p:cNvSpPr/>
            <p:nvPr>
              <p:custDataLst>
                <p:tags r:id="rId18"/>
              </p:custDataLst>
            </p:nvPr>
          </p:nvSpPr>
          <p:spPr bwMode="gray">
            <a:xfrm>
              <a:off x="2998234" y="4428225"/>
              <a:ext cx="11952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</p:grpSp>
      <p:grpSp>
        <p:nvGrpSpPr>
          <p:cNvPr id="127" name="组合 126"/>
          <p:cNvGrpSpPr/>
          <p:nvPr/>
        </p:nvGrpSpPr>
        <p:grpSpPr bwMode="gray">
          <a:xfrm>
            <a:off x="9570429" y="4428225"/>
            <a:ext cx="1120807" cy="489037"/>
            <a:chOff x="1029521" y="4508831"/>
            <a:chExt cx="1120807" cy="489037"/>
          </a:xfrm>
        </p:grpSpPr>
        <p:sp>
          <p:nvSpPr>
            <p:cNvPr id="128" name="矩形 20"/>
            <p:cNvSpPr/>
            <p:nvPr>
              <p:custDataLst>
                <p:tags r:id="rId12"/>
              </p:custDataLst>
            </p:nvPr>
          </p:nvSpPr>
          <p:spPr bwMode="gray">
            <a:xfrm>
              <a:off x="1029521" y="4508831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29" name="矩形 21"/>
            <p:cNvSpPr/>
            <p:nvPr>
              <p:custDataLst>
                <p:tags r:id="rId13"/>
              </p:custDataLst>
            </p:nvPr>
          </p:nvSpPr>
          <p:spPr bwMode="gray">
            <a:xfrm>
              <a:off x="1029521" y="4752192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977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r>
              <a:rPr lang="en-US" altLang="zh-CN" dirty="0">
                <a:sym typeface="Huawei Sans" panose="020C0503030203020204" pitchFamily="34" charset="0"/>
              </a:rPr>
              <a:t> for SRv6 Policy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SRv6 Policy</a:t>
            </a:r>
            <a:r>
              <a:rPr lang="zh-CN" altLang="en-US" sz="1600" dirty="0">
                <a:sym typeface="Huawei Sans" panose="020C0503030203020204" pitchFamily="34" charset="0"/>
              </a:rPr>
              <a:t>场景：</a:t>
            </a:r>
          </a:p>
          <a:p>
            <a:pPr lvl="1"/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扩展头封装到</a:t>
            </a:r>
            <a:r>
              <a:rPr lang="en-US" altLang="zh-CN" sz="1400" dirty="0">
                <a:sym typeface="Huawei Sans" panose="020C0503030203020204" pitchFamily="34" charset="0"/>
              </a:rPr>
              <a:t>SRH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Option TLV</a:t>
            </a:r>
            <a:r>
              <a:rPr lang="zh-CN" altLang="en-US" sz="1400" dirty="0">
                <a:sym typeface="Huawei Sans" panose="020C0503030203020204" pitchFamily="34" charset="0"/>
              </a:rPr>
              <a:t>中。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sym typeface="Huawei Sans" panose="020C0503030203020204" pitchFamily="34" charset="0"/>
              </a:rPr>
              <a:t>的节点，能够支持</a:t>
            </a:r>
            <a:r>
              <a:rPr lang="en-US" altLang="zh-CN" sz="1400" dirty="0">
                <a:sym typeface="Huawei Sans" panose="020C0503030203020204" pitchFamily="34" charset="0"/>
              </a:rPr>
              <a:t>E2E/</a:t>
            </a:r>
            <a:r>
              <a:rPr lang="zh-CN" altLang="en-US" sz="1400" dirty="0">
                <a:sym typeface="Huawei Sans" panose="020C0503030203020204" pitchFamily="34" charset="0"/>
              </a:rPr>
              <a:t>逐跳上报</a:t>
            </a:r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统计信息。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不支持</a:t>
            </a:r>
            <a:r>
              <a:rPr lang="en-US" altLang="zh-CN" sz="1400" dirty="0"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sym typeface="Huawei Sans" panose="020C0503030203020204" pitchFamily="34" charset="0"/>
              </a:rPr>
              <a:t>，但支持</a:t>
            </a:r>
            <a:r>
              <a:rPr lang="en-US" altLang="zh-CN" sz="1400" dirty="0"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sym typeface="Huawei Sans" panose="020C0503030203020204" pitchFamily="34" charset="0"/>
              </a:rPr>
              <a:t>转发的节点，携带</a:t>
            </a:r>
            <a:r>
              <a:rPr lang="en-US" altLang="zh-CN" sz="1400" dirty="0" err="1">
                <a:sym typeface="Huawei Sans" panose="020C0503030203020204" pitchFamily="34" charset="0"/>
              </a:rPr>
              <a:t>iFIT</a:t>
            </a:r>
            <a:r>
              <a:rPr lang="zh-CN" altLang="en-US" sz="1400" dirty="0">
                <a:sym typeface="Huawei Sans" panose="020C0503030203020204" pitchFamily="34" charset="0"/>
              </a:rPr>
              <a:t>的业务报文正常转发。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2729497" y="4486239"/>
            <a:ext cx="1346402" cy="1457545"/>
            <a:chOff x="3805657" y="1792066"/>
            <a:chExt cx="1346402" cy="1457545"/>
          </a:xfrm>
        </p:grpSpPr>
        <p:sp>
          <p:nvSpPr>
            <p:cNvPr id="143" name="矩形 20"/>
            <p:cNvSpPr/>
            <p:nvPr>
              <p:custDataLst>
                <p:tags r:id="rId28"/>
              </p:custDataLst>
            </p:nvPr>
          </p:nvSpPr>
          <p:spPr bwMode="gray">
            <a:xfrm>
              <a:off x="3805658" y="2019055"/>
              <a:ext cx="13464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P1</a:t>
              </a:r>
            </a:p>
          </p:txBody>
        </p:sp>
        <p:sp>
          <p:nvSpPr>
            <p:cNvPr id="144" name="矩形 21"/>
            <p:cNvSpPr/>
            <p:nvPr>
              <p:custDataLst>
                <p:tags r:id="rId29"/>
              </p:custDataLst>
            </p:nvPr>
          </p:nvSpPr>
          <p:spPr bwMode="gray">
            <a:xfrm>
              <a:off x="3805658" y="2276586"/>
              <a:ext cx="13464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45" name="矩形 20"/>
            <p:cNvSpPr/>
            <p:nvPr>
              <p:custDataLst>
                <p:tags r:id="rId30"/>
              </p:custDataLst>
            </p:nvPr>
          </p:nvSpPr>
          <p:spPr bwMode="gray">
            <a:xfrm>
              <a:off x="3805659" y="2760301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46" name="矩形 21"/>
            <p:cNvSpPr/>
            <p:nvPr>
              <p:custDataLst>
                <p:tags r:id="rId31"/>
              </p:custDataLst>
            </p:nvPr>
          </p:nvSpPr>
          <p:spPr bwMode="gray">
            <a:xfrm>
              <a:off x="3805658" y="3003935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矩形 20"/>
            <p:cNvSpPr/>
            <p:nvPr>
              <p:custDataLst>
                <p:tags r:id="rId32"/>
              </p:custDataLst>
            </p:nvPr>
          </p:nvSpPr>
          <p:spPr bwMode="gray">
            <a:xfrm>
              <a:off x="3805658" y="1792066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48" name="矩形 21"/>
            <p:cNvSpPr/>
            <p:nvPr>
              <p:custDataLst>
                <p:tags r:id="rId33"/>
              </p:custDataLst>
            </p:nvPr>
          </p:nvSpPr>
          <p:spPr bwMode="gray">
            <a:xfrm>
              <a:off x="3805657" y="2523678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(PE2,P3,</a:t>
              </a:r>
              <a:r>
                <a:rPr lang="en-US" altLang="zh-CN" sz="1200" kern="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)SL=2</a:t>
              </a:r>
              <a:endPara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 bwMode="gray">
          <a:xfrm>
            <a:off x="5384767" y="4486239"/>
            <a:ext cx="1346402" cy="1457545"/>
            <a:chOff x="3805657" y="1792066"/>
            <a:chExt cx="1346402" cy="1457545"/>
          </a:xfrm>
        </p:grpSpPr>
        <p:sp>
          <p:nvSpPr>
            <p:cNvPr id="150" name="矩形 20"/>
            <p:cNvSpPr/>
            <p:nvPr>
              <p:custDataLst>
                <p:tags r:id="rId22"/>
              </p:custDataLst>
            </p:nvPr>
          </p:nvSpPr>
          <p:spPr bwMode="gray">
            <a:xfrm>
              <a:off x="3805658" y="2019055"/>
              <a:ext cx="13464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P3</a:t>
              </a:r>
            </a:p>
          </p:txBody>
        </p:sp>
        <p:sp>
          <p:nvSpPr>
            <p:cNvPr id="151" name="矩形 21"/>
            <p:cNvSpPr/>
            <p:nvPr>
              <p:custDataLst>
                <p:tags r:id="rId23"/>
              </p:custDataLst>
            </p:nvPr>
          </p:nvSpPr>
          <p:spPr bwMode="gray">
            <a:xfrm>
              <a:off x="3805658" y="2276586"/>
              <a:ext cx="13464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52" name="矩形 20"/>
            <p:cNvSpPr/>
            <p:nvPr>
              <p:custDataLst>
                <p:tags r:id="rId24"/>
              </p:custDataLst>
            </p:nvPr>
          </p:nvSpPr>
          <p:spPr bwMode="gray">
            <a:xfrm>
              <a:off x="3805659" y="2760301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53" name="矩形 21"/>
            <p:cNvSpPr/>
            <p:nvPr>
              <p:custDataLst>
                <p:tags r:id="rId25"/>
              </p:custDataLst>
            </p:nvPr>
          </p:nvSpPr>
          <p:spPr bwMode="gray">
            <a:xfrm>
              <a:off x="3805658" y="3003935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矩形 20"/>
            <p:cNvSpPr/>
            <p:nvPr>
              <p:custDataLst>
                <p:tags r:id="rId26"/>
              </p:custDataLst>
            </p:nvPr>
          </p:nvSpPr>
          <p:spPr bwMode="gray">
            <a:xfrm>
              <a:off x="3805658" y="1792066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55" name="矩形 21"/>
            <p:cNvSpPr/>
            <p:nvPr>
              <p:custDataLst>
                <p:tags r:id="rId27"/>
              </p:custDataLst>
            </p:nvPr>
          </p:nvSpPr>
          <p:spPr bwMode="gray">
            <a:xfrm>
              <a:off x="3805657" y="2523678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(PE2,</a:t>
              </a:r>
              <a:r>
                <a:rPr lang="en-US" altLang="zh-CN" sz="1200" kern="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P3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,P1)SL=1</a:t>
              </a:r>
              <a:endPara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 bwMode="gray">
          <a:xfrm>
            <a:off x="7898936" y="4486239"/>
            <a:ext cx="1346402" cy="1457545"/>
            <a:chOff x="3805657" y="1792066"/>
            <a:chExt cx="1346402" cy="1457545"/>
          </a:xfrm>
        </p:grpSpPr>
        <p:sp>
          <p:nvSpPr>
            <p:cNvPr id="157" name="矩形 20"/>
            <p:cNvSpPr/>
            <p:nvPr>
              <p:custDataLst>
                <p:tags r:id="rId16"/>
              </p:custDataLst>
            </p:nvPr>
          </p:nvSpPr>
          <p:spPr bwMode="gray">
            <a:xfrm>
              <a:off x="3805658" y="2019055"/>
              <a:ext cx="1346400" cy="276999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DA: PE2</a:t>
              </a:r>
            </a:p>
          </p:txBody>
        </p:sp>
        <p:sp>
          <p:nvSpPr>
            <p:cNvPr id="158" name="矩形 21"/>
            <p:cNvSpPr/>
            <p:nvPr>
              <p:custDataLst>
                <p:tags r:id="rId17"/>
              </p:custDataLst>
            </p:nvPr>
          </p:nvSpPr>
          <p:spPr bwMode="gray">
            <a:xfrm>
              <a:off x="3805658" y="2276586"/>
              <a:ext cx="1346400" cy="248658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SRH</a:t>
              </a:r>
              <a:r>
                <a:rPr lang="zh-CN" alt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基本头</a:t>
              </a:r>
            </a:p>
          </p:txBody>
        </p:sp>
        <p:sp>
          <p:nvSpPr>
            <p:cNvPr id="159" name="矩形 20"/>
            <p:cNvSpPr/>
            <p:nvPr>
              <p:custDataLst>
                <p:tags r:id="rId18"/>
              </p:custDataLst>
            </p:nvPr>
          </p:nvSpPr>
          <p:spPr bwMode="gray">
            <a:xfrm>
              <a:off x="3805659" y="2760301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 err="1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iFIT</a:t>
              </a: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(E2E/Trace)</a:t>
              </a:r>
            </a:p>
          </p:txBody>
        </p:sp>
        <p:sp>
          <p:nvSpPr>
            <p:cNvPr id="160" name="矩形 21"/>
            <p:cNvSpPr/>
            <p:nvPr>
              <p:custDataLst>
                <p:tags r:id="rId19"/>
              </p:custDataLst>
            </p:nvPr>
          </p:nvSpPr>
          <p:spPr bwMode="gray">
            <a:xfrm>
              <a:off x="3805658" y="3003935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1" name="矩形 20"/>
            <p:cNvSpPr/>
            <p:nvPr>
              <p:custDataLst>
                <p:tags r:id="rId20"/>
              </p:custDataLst>
            </p:nvPr>
          </p:nvSpPr>
          <p:spPr bwMode="gray">
            <a:xfrm>
              <a:off x="3805658" y="1792066"/>
              <a:ext cx="1346400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62" name="矩形 21"/>
            <p:cNvSpPr/>
            <p:nvPr>
              <p:custDataLst>
                <p:tags r:id="rId21"/>
              </p:custDataLst>
            </p:nvPr>
          </p:nvSpPr>
          <p:spPr bwMode="gray">
            <a:xfrm>
              <a:off x="3805657" y="2523678"/>
              <a:ext cx="1346400" cy="246221"/>
            </a:xfrm>
            <a:prstGeom prst="rect">
              <a:avLst/>
            </a:prstGeom>
            <a:solidFill>
              <a:srgbClr val="BEE9EE"/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</a:t>
              </a:r>
              <a:r>
                <a:rPr lang="en-US" altLang="zh-CN" sz="1200" kern="0" dirty="0">
                  <a:solidFill>
                    <a:srgbClr val="C7000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,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P3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,P1)SL=0</a:t>
              </a:r>
              <a:endPara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163" name="直接连接符 8"/>
          <p:cNvCxnSpPr/>
          <p:nvPr>
            <p:custDataLst>
              <p:tags r:id="rId1"/>
            </p:custDataLst>
          </p:nvPr>
        </p:nvCxnSpPr>
        <p:spPr bwMode="gray">
          <a:xfrm flipH="1">
            <a:off x="2754800" y="2858353"/>
            <a:ext cx="2683705" cy="906548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164" name="直接连接符 12"/>
          <p:cNvCxnSpPr>
            <a:stCxn id="176" idx="3"/>
            <a:endCxn id="179" idx="1"/>
          </p:cNvCxnSpPr>
          <p:nvPr>
            <p:custDataLst>
              <p:tags r:id="rId2"/>
            </p:custDataLst>
          </p:nvPr>
        </p:nvCxnSpPr>
        <p:spPr bwMode="gray">
          <a:xfrm>
            <a:off x="2901253" y="4042774"/>
            <a:ext cx="6227456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5" name="文本框 21"/>
          <p:cNvSpPr txBox="1"/>
          <p:nvPr>
            <p:custDataLst>
              <p:tags r:id="rId3"/>
            </p:custDataLst>
          </p:nvPr>
        </p:nvSpPr>
        <p:spPr bwMode="gray">
          <a:xfrm>
            <a:off x="2409725" y="4170720"/>
            <a:ext cx="404584" cy="42144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/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66" name="文本框 22"/>
          <p:cNvSpPr txBox="1"/>
          <p:nvPr>
            <p:custDataLst>
              <p:tags r:id="rId4"/>
            </p:custDataLst>
          </p:nvPr>
        </p:nvSpPr>
        <p:spPr bwMode="gray">
          <a:xfrm>
            <a:off x="4194290" y="4151778"/>
            <a:ext cx="319625" cy="42144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/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67" name="文本框 42"/>
          <p:cNvSpPr txBox="1"/>
          <p:nvPr>
            <p:custDataLst>
              <p:tags r:id="rId5"/>
            </p:custDataLst>
          </p:nvPr>
        </p:nvSpPr>
        <p:spPr bwMode="gray">
          <a:xfrm>
            <a:off x="7483587" y="4142552"/>
            <a:ext cx="319625" cy="3900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9pPr>
          </a:lstStyle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P3</a:t>
            </a:r>
          </a:p>
        </p:txBody>
      </p:sp>
      <p:sp>
        <p:nvSpPr>
          <p:cNvPr id="168" name="文本框 42"/>
          <p:cNvSpPr txBox="1"/>
          <p:nvPr>
            <p:custDataLst>
              <p:tags r:id="rId6"/>
            </p:custDataLst>
          </p:nvPr>
        </p:nvSpPr>
        <p:spPr bwMode="gray">
          <a:xfrm>
            <a:off x="9178215" y="4188053"/>
            <a:ext cx="404584" cy="3900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lIns="71748" tIns="71523" rIns="71748" bIns="71523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/>
                <a:cs typeface="+mn-cs"/>
              </a:defRPr>
            </a:lvl9pPr>
          </a:lstStyle>
          <a:p>
            <a:pPr defTabSz="829529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69" name="圆角矩形 29"/>
          <p:cNvSpPr/>
          <p:nvPr>
            <p:custDataLst>
              <p:tags r:id="rId7"/>
            </p:custDataLst>
          </p:nvPr>
        </p:nvSpPr>
        <p:spPr bwMode="gray">
          <a:xfrm>
            <a:off x="5438505" y="2711877"/>
            <a:ext cx="1292664" cy="318779"/>
          </a:xfrm>
          <a:prstGeom prst="roundRect">
            <a:avLst/>
          </a:prstGeom>
          <a:solidFill>
            <a:srgbClr val="30B5C5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>
              <a:lnSpc>
                <a:spcPct val="150000"/>
              </a:lnSpc>
            </a:pPr>
            <a:r>
              <a:rPr lang="en-US" altLang="zh-CN" sz="1200" b="1" kern="0" dirty="0" err="1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iMaster</a:t>
            </a:r>
            <a:r>
              <a:rPr lang="en-US" altLang="zh-CN" sz="1200" b="1" kern="0" dirty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NCE-IP</a:t>
            </a:r>
            <a:endParaRPr lang="en-US" altLang="zh-CN" sz="1200" b="1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cxnSp>
        <p:nvCxnSpPr>
          <p:cNvPr id="170" name="直接连接符 8"/>
          <p:cNvCxnSpPr>
            <a:stCxn id="169" idx="2"/>
          </p:cNvCxnSpPr>
          <p:nvPr>
            <p:custDataLst>
              <p:tags r:id="rId8"/>
            </p:custDataLst>
          </p:nvPr>
        </p:nvCxnSpPr>
        <p:spPr bwMode="gray">
          <a:xfrm flipH="1">
            <a:off x="4511685" y="3030656"/>
            <a:ext cx="1573152" cy="1176992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171" name="直接连接符 8"/>
          <p:cNvCxnSpPr>
            <a:stCxn id="169" idx="2"/>
          </p:cNvCxnSpPr>
          <p:nvPr>
            <p:custDataLst>
              <p:tags r:id="rId9"/>
            </p:custDataLst>
          </p:nvPr>
        </p:nvCxnSpPr>
        <p:spPr bwMode="gray">
          <a:xfrm>
            <a:off x="6084837" y="3030656"/>
            <a:ext cx="1596939" cy="1166865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172" name="直接连接符 8"/>
          <p:cNvCxnSpPr>
            <a:stCxn id="169" idx="3"/>
          </p:cNvCxnSpPr>
          <p:nvPr>
            <p:custDataLst>
              <p:tags r:id="rId10"/>
            </p:custDataLst>
          </p:nvPr>
        </p:nvCxnSpPr>
        <p:spPr bwMode="gray">
          <a:xfrm>
            <a:off x="6731169" y="2871267"/>
            <a:ext cx="2667540" cy="876860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173" name="Straight Connector 73"/>
          <p:cNvCxnSpPr/>
          <p:nvPr/>
        </p:nvCxnSpPr>
        <p:spPr bwMode="gray">
          <a:xfrm>
            <a:off x="1709012" y="3758255"/>
            <a:ext cx="8462473" cy="17305"/>
          </a:xfrm>
          <a:prstGeom prst="line">
            <a:avLst/>
          </a:prstGeom>
          <a:noFill/>
          <a:ln w="28575" cap="flat" cmpd="sng" algn="ctr">
            <a:solidFill>
              <a:srgbClr val="FCC8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/>
        </p:spPr>
      </p:cxnSp>
      <p:sp>
        <p:nvSpPr>
          <p:cNvPr id="174" name="文本框 7"/>
          <p:cNvSpPr txBox="1"/>
          <p:nvPr>
            <p:custDataLst>
              <p:tags r:id="rId11"/>
            </p:custDataLst>
          </p:nvPr>
        </p:nvSpPr>
        <p:spPr bwMode="gray">
          <a:xfrm>
            <a:off x="7260563" y="2799075"/>
            <a:ext cx="1885264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92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</a:p>
        </p:txBody>
      </p:sp>
      <p:sp>
        <p:nvSpPr>
          <p:cNvPr id="175" name="Rectangle 21"/>
          <p:cNvSpPr/>
          <p:nvPr/>
        </p:nvSpPr>
        <p:spPr bwMode="gray">
          <a:xfrm>
            <a:off x="8022886" y="3332839"/>
            <a:ext cx="25328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3816"/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 100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endParaRPr lang="en-US" altLang="zh-CN" sz="1200" b="1" kern="0" dirty="0">
              <a:solidFill>
                <a:srgbClr val="2D201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1213816"/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END.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DT4 SID</a:t>
            </a:r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B:</a:t>
            </a:r>
            <a:r>
              <a:rPr lang="en-US" altLang="zh-CN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:1:1</a:t>
            </a:r>
            <a:r>
              <a:rPr lang="zh-CN" altLang="en-US" sz="1200" b="1" kern="0" dirty="0">
                <a:solidFill>
                  <a:srgbClr val="2D201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:D100</a:t>
            </a:r>
            <a:endParaRPr lang="en-US" altLang="zh-CN" sz="1200" b="1" kern="0" dirty="0">
              <a:solidFill>
                <a:srgbClr val="2D201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61253" y="3821374"/>
            <a:ext cx="540000" cy="442800"/>
          </a:xfrm>
          <a:prstGeom prst="rect">
            <a:avLst/>
          </a:prstGeom>
        </p:spPr>
      </p:pic>
      <p:pic>
        <p:nvPicPr>
          <p:cNvPr id="177" name="图片 176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7757" y="3821374"/>
            <a:ext cx="540000" cy="442800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86941" y="3821374"/>
            <a:ext cx="540000" cy="442800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28709" y="3821374"/>
            <a:ext cx="540000" cy="442800"/>
          </a:xfrm>
          <a:prstGeom prst="rect">
            <a:avLst/>
          </a:prstGeom>
        </p:spPr>
      </p:pic>
      <p:grpSp>
        <p:nvGrpSpPr>
          <p:cNvPr id="180" name="组合 179"/>
          <p:cNvGrpSpPr/>
          <p:nvPr/>
        </p:nvGrpSpPr>
        <p:grpSpPr bwMode="gray">
          <a:xfrm>
            <a:off x="1029521" y="4428225"/>
            <a:ext cx="1120807" cy="489037"/>
            <a:chOff x="1029521" y="4508831"/>
            <a:chExt cx="1120807" cy="489037"/>
          </a:xfrm>
        </p:grpSpPr>
        <p:sp>
          <p:nvSpPr>
            <p:cNvPr id="181" name="矩形 20"/>
            <p:cNvSpPr/>
            <p:nvPr>
              <p:custDataLst>
                <p:tags r:id="rId14"/>
              </p:custDataLst>
            </p:nvPr>
          </p:nvSpPr>
          <p:spPr bwMode="gray">
            <a:xfrm>
              <a:off x="1029521" y="4508831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82" name="矩形 21"/>
            <p:cNvSpPr/>
            <p:nvPr>
              <p:custDataLst>
                <p:tags r:id="rId15"/>
              </p:custDataLst>
            </p:nvPr>
          </p:nvSpPr>
          <p:spPr bwMode="gray">
            <a:xfrm>
              <a:off x="1029521" y="4752192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 bwMode="gray">
          <a:xfrm>
            <a:off x="9570429" y="4428225"/>
            <a:ext cx="1120807" cy="489037"/>
            <a:chOff x="1029521" y="4508831"/>
            <a:chExt cx="1120807" cy="489037"/>
          </a:xfrm>
        </p:grpSpPr>
        <p:sp>
          <p:nvSpPr>
            <p:cNvPr id="184" name="矩形 20"/>
            <p:cNvSpPr/>
            <p:nvPr>
              <p:custDataLst>
                <p:tags r:id="rId12"/>
              </p:custDataLst>
            </p:nvPr>
          </p:nvSpPr>
          <p:spPr bwMode="gray">
            <a:xfrm>
              <a:off x="1029521" y="4508831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ETH</a:t>
              </a:r>
            </a:p>
          </p:txBody>
        </p:sp>
        <p:sp>
          <p:nvSpPr>
            <p:cNvPr id="185" name="矩形 21"/>
            <p:cNvSpPr/>
            <p:nvPr>
              <p:custDataLst>
                <p:tags r:id="rId13"/>
              </p:custDataLst>
            </p:nvPr>
          </p:nvSpPr>
          <p:spPr bwMode="gray">
            <a:xfrm>
              <a:off x="1029521" y="4752192"/>
              <a:ext cx="1120807" cy="245676"/>
            </a:xfrm>
            <a:prstGeom prst="rect">
              <a:avLst/>
            </a:prstGeom>
            <a:solidFill>
              <a:srgbClr val="FFFFFF">
                <a:lumMod val="20000"/>
                <a:lumOff val="80000"/>
              </a:srgbClr>
            </a:solidFill>
            <a:ln>
              <a:solidFill>
                <a:sysClr val="windowText" lastClr="000000"/>
              </a:solidFill>
            </a:ln>
          </p:spPr>
          <p:txBody>
            <a:bodyPr wrap="square" lIns="0" rtlCol="0" anchor="ctr">
              <a:spAutoFit/>
            </a:bodyPr>
            <a:lstStyle/>
            <a:p>
              <a:pPr algn="ctr">
                <a:lnSpc>
                  <a:spcPts val="1195"/>
                </a:lnSpc>
                <a:defRPr/>
              </a:pPr>
              <a:r>
                <a:rPr lang="en-US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r>
                <a:rPr lang="en-US" altLang="zh-CN" sz="1200" kern="0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ayload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7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2"/>
          <p:cNvSpPr/>
          <p:nvPr/>
        </p:nvSpPr>
        <p:spPr bwMode="gray">
          <a:xfrm>
            <a:off x="8540507" y="2903994"/>
            <a:ext cx="2120950" cy="827522"/>
          </a:xfrm>
          <a:prstGeom prst="rect">
            <a:avLst/>
          </a:prstGeom>
          <a:solidFill>
            <a:srgbClr val="DDDDDD"/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185367" indent="-185367" algn="ctr">
              <a:lnSpc>
                <a:spcPct val="120000"/>
              </a:lnSpc>
              <a:buFont typeface="Wingdings" pitchFamily="2" charset="2"/>
              <a:buChar char="ü"/>
              <a:defRPr/>
            </a:pPr>
            <a:endParaRPr lang="zh-CN" altLang="en-US" sz="12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基于</a:t>
            </a:r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r>
              <a:rPr lang="zh-CN" altLang="en-US" dirty="0">
                <a:sym typeface="Huawei Sans" panose="020C0503030203020204" pitchFamily="34" charset="0"/>
              </a:rPr>
              <a:t>呈现业务路</a:t>
            </a:r>
            <a:r>
              <a:rPr lang="zh-CN" altLang="en-US" dirty="0" smtClean="0">
                <a:sym typeface="Huawei Sans" panose="020C0503030203020204" pitchFamily="34" charset="0"/>
              </a:rPr>
              <a:t>径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每检测周期，设备上报报文统计计数时，同时上报流表方向、接口、</a:t>
            </a:r>
            <a:r>
              <a:rPr lang="en-US" altLang="zh-CN" sz="1800" dirty="0">
                <a:sym typeface="Huawei Sans" panose="020C0503030203020204" pitchFamily="34" charset="0"/>
              </a:rPr>
              <a:t>TTL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 err="1">
                <a:sym typeface="Huawei Sans" panose="020C0503030203020204" pitchFamily="34" charset="0"/>
              </a:rPr>
              <a:t>iMaster</a:t>
            </a:r>
            <a:r>
              <a:rPr lang="en-US" altLang="zh-CN" sz="1800" dirty="0">
                <a:sym typeface="Huawei Sans" panose="020C0503030203020204" pitchFamily="34" charset="0"/>
              </a:rPr>
              <a:t> NCE-IP</a:t>
            </a:r>
            <a:r>
              <a:rPr lang="zh-CN" altLang="en-US" sz="1800" dirty="0">
                <a:sym typeface="Huawei Sans" panose="020C0503030203020204" pitchFamily="34" charset="0"/>
              </a:rPr>
              <a:t>基于各节点的上报信息还原该条流的路径信息。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不依赖隧道类型（</a:t>
            </a:r>
            <a:r>
              <a:rPr lang="en-US" altLang="zh-CN" sz="1800" dirty="0">
                <a:sym typeface="Huawei Sans" panose="020C0503030203020204" pitchFamily="34" charset="0"/>
              </a:rPr>
              <a:t>SRv6/SRv6 Policy/SR-MPLS TE/SR-MPLS BE/MPLS</a:t>
            </a:r>
            <a:r>
              <a:rPr lang="en-US" altLang="zh-CN" sz="1800" dirty="0" smtClean="0">
                <a:sym typeface="Huawei Sans" panose="020C0503030203020204" pitchFamily="34" charset="0"/>
              </a:rPr>
              <a:t>…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不依赖中间节点是否支持</a:t>
            </a:r>
            <a:r>
              <a:rPr lang="en-US" altLang="zh-CN" sz="1800" dirty="0" err="1">
                <a:sym typeface="Huawei Sans" panose="020C0503030203020204" pitchFamily="34" charset="0"/>
              </a:rPr>
              <a:t>iFIT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127" name="文本框 56"/>
          <p:cNvSpPr txBox="1"/>
          <p:nvPr/>
        </p:nvSpPr>
        <p:spPr bwMode="gray">
          <a:xfrm>
            <a:off x="7021799" y="2990846"/>
            <a:ext cx="195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路径还原</a:t>
            </a:r>
          </a:p>
        </p:txBody>
      </p:sp>
      <p:cxnSp>
        <p:nvCxnSpPr>
          <p:cNvPr id="175" name="直接箭头连接符 28"/>
          <p:cNvCxnSpPr>
            <a:stCxn id="179" idx="0"/>
            <a:endCxn id="258" idx="1"/>
          </p:cNvCxnSpPr>
          <p:nvPr/>
        </p:nvCxnSpPr>
        <p:spPr bwMode="gray">
          <a:xfrm flipV="1">
            <a:off x="2075424" y="3242121"/>
            <a:ext cx="3773996" cy="1579919"/>
          </a:xfrm>
          <a:prstGeom prst="straightConnector1">
            <a:avLst/>
          </a:prstGeom>
          <a:noFill/>
          <a:ln w="19050" cap="flat" cmpd="sng" algn="ctr">
            <a:solidFill>
              <a:srgbClr val="C7000B"/>
            </a:solidFill>
            <a:prstDash val="dash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箭头连接符 28"/>
          <p:cNvCxnSpPr>
            <a:stCxn id="181" idx="0"/>
            <a:endCxn id="258" idx="2"/>
          </p:cNvCxnSpPr>
          <p:nvPr/>
        </p:nvCxnSpPr>
        <p:spPr bwMode="gray">
          <a:xfrm flipV="1">
            <a:off x="4086237" y="3401510"/>
            <a:ext cx="2520587" cy="878112"/>
          </a:xfrm>
          <a:prstGeom prst="straightConnector1">
            <a:avLst/>
          </a:prstGeom>
          <a:noFill/>
          <a:ln w="19050" cap="flat" cmpd="sng" algn="ctr">
            <a:solidFill>
              <a:srgbClr val="C7000B"/>
            </a:solidFill>
            <a:prstDash val="dash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箭头连接符 28"/>
          <p:cNvCxnSpPr>
            <a:stCxn id="238" idx="0"/>
            <a:endCxn id="258" idx="2"/>
          </p:cNvCxnSpPr>
          <p:nvPr/>
        </p:nvCxnSpPr>
        <p:spPr bwMode="gray">
          <a:xfrm flipH="1" flipV="1">
            <a:off x="6606824" y="3401510"/>
            <a:ext cx="1392242" cy="1318602"/>
          </a:xfrm>
          <a:prstGeom prst="straightConnector1">
            <a:avLst/>
          </a:prstGeom>
          <a:noFill/>
          <a:ln w="19050" cap="flat" cmpd="sng" algn="ctr">
            <a:solidFill>
              <a:srgbClr val="C7000B"/>
            </a:solidFill>
            <a:prstDash val="dash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箭头连接符 28"/>
          <p:cNvCxnSpPr>
            <a:stCxn id="186" idx="0"/>
            <a:endCxn id="258" idx="3"/>
          </p:cNvCxnSpPr>
          <p:nvPr/>
        </p:nvCxnSpPr>
        <p:spPr bwMode="gray">
          <a:xfrm flipH="1" flipV="1">
            <a:off x="7364227" y="3242121"/>
            <a:ext cx="2568096" cy="1579919"/>
          </a:xfrm>
          <a:prstGeom prst="straightConnector1">
            <a:avLst/>
          </a:prstGeom>
          <a:noFill/>
          <a:ln w="19050" cap="flat" cmpd="sng" algn="ctr">
            <a:solidFill>
              <a:srgbClr val="C7000B"/>
            </a:solidFill>
            <a:prstDash val="dash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9" name="图片 178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05424" y="4822040"/>
            <a:ext cx="540000" cy="442800"/>
          </a:xfrm>
          <a:prstGeom prst="rect">
            <a:avLst/>
          </a:prstGeom>
        </p:spPr>
      </p:pic>
      <p:grpSp>
        <p:nvGrpSpPr>
          <p:cNvPr id="180" name="组合 179"/>
          <p:cNvGrpSpPr/>
          <p:nvPr/>
        </p:nvGrpSpPr>
        <p:grpSpPr bwMode="gray">
          <a:xfrm>
            <a:off x="3816237" y="4279622"/>
            <a:ext cx="540000" cy="1415587"/>
            <a:chOff x="2578417" y="3344410"/>
            <a:chExt cx="540000" cy="1415587"/>
          </a:xfrm>
        </p:grpSpPr>
        <p:pic>
          <p:nvPicPr>
            <p:cNvPr id="181" name="图片 180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78417" y="3344410"/>
              <a:ext cx="540000" cy="442800"/>
            </a:xfrm>
            <a:prstGeom prst="rect">
              <a:avLst/>
            </a:prstGeom>
          </p:spPr>
        </p:pic>
        <p:pic>
          <p:nvPicPr>
            <p:cNvPr id="182" name="图片 181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78417" y="4317197"/>
              <a:ext cx="540000" cy="442800"/>
            </a:xfrm>
            <a:prstGeom prst="rect">
              <a:avLst/>
            </a:prstGeom>
          </p:spPr>
        </p:pic>
      </p:grpSp>
      <p:pic>
        <p:nvPicPr>
          <p:cNvPr id="184" name="图片 183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51510" y="4279622"/>
            <a:ext cx="540000" cy="4428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51510" y="5252409"/>
            <a:ext cx="540000" cy="442800"/>
          </a:xfrm>
          <a:prstGeom prst="rect">
            <a:avLst/>
          </a:prstGeom>
        </p:spPr>
      </p:pic>
      <p:pic>
        <p:nvPicPr>
          <p:cNvPr id="259" name="图片 258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605194" y="3262660"/>
            <a:ext cx="207170" cy="169879"/>
          </a:xfrm>
          <a:prstGeom prst="rect">
            <a:avLst/>
          </a:prstGeom>
        </p:spPr>
      </p:pic>
      <p:pic>
        <p:nvPicPr>
          <p:cNvPr id="186" name="图片 185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62323" y="4822040"/>
            <a:ext cx="540000" cy="442800"/>
          </a:xfrm>
          <a:prstGeom prst="rect">
            <a:avLst/>
          </a:prstGeom>
        </p:spPr>
      </p:pic>
      <p:cxnSp>
        <p:nvCxnSpPr>
          <p:cNvPr id="229" name="直接连接符 228"/>
          <p:cNvCxnSpPr>
            <a:stCxn id="179" idx="3"/>
            <a:endCxn id="181" idx="1"/>
          </p:cNvCxnSpPr>
          <p:nvPr/>
        </p:nvCxnSpPr>
        <p:spPr bwMode="gray">
          <a:xfrm flipV="1">
            <a:off x="2345424" y="4501022"/>
            <a:ext cx="1470813" cy="542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>
            <a:stCxn id="179" idx="3"/>
            <a:endCxn id="182" idx="1"/>
          </p:cNvCxnSpPr>
          <p:nvPr/>
        </p:nvCxnSpPr>
        <p:spPr bwMode="gray">
          <a:xfrm>
            <a:off x="2345424" y="5043440"/>
            <a:ext cx="1470813" cy="4303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>
            <a:stCxn id="181" idx="3"/>
            <a:endCxn id="184" idx="1"/>
          </p:cNvCxnSpPr>
          <p:nvPr/>
        </p:nvCxnSpPr>
        <p:spPr bwMode="gray">
          <a:xfrm>
            <a:off x="4356237" y="4501022"/>
            <a:ext cx="3295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>
            <a:stCxn id="182" idx="3"/>
            <a:endCxn id="185" idx="1"/>
          </p:cNvCxnSpPr>
          <p:nvPr/>
        </p:nvCxnSpPr>
        <p:spPr bwMode="gray">
          <a:xfrm>
            <a:off x="4356237" y="5473809"/>
            <a:ext cx="3295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>
            <a:stCxn id="184" idx="3"/>
            <a:endCxn id="186" idx="1"/>
          </p:cNvCxnSpPr>
          <p:nvPr/>
        </p:nvCxnSpPr>
        <p:spPr bwMode="gray">
          <a:xfrm>
            <a:off x="8191510" y="4501022"/>
            <a:ext cx="1470813" cy="542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stCxn id="185" idx="3"/>
            <a:endCxn id="186" idx="1"/>
          </p:cNvCxnSpPr>
          <p:nvPr/>
        </p:nvCxnSpPr>
        <p:spPr bwMode="gray">
          <a:xfrm flipV="1">
            <a:off x="8191510" y="5043440"/>
            <a:ext cx="1470813" cy="4303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/>
          <p:cNvSpPr txBox="1"/>
          <p:nvPr/>
        </p:nvSpPr>
        <p:spPr bwMode="gray">
          <a:xfrm>
            <a:off x="3194740" y="5371379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6" name="文本框 235"/>
          <p:cNvSpPr txBox="1"/>
          <p:nvPr/>
        </p:nvSpPr>
        <p:spPr bwMode="gray">
          <a:xfrm>
            <a:off x="3738681" y="4720112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7" name="文本框 236"/>
          <p:cNvSpPr txBox="1"/>
          <p:nvPr/>
        </p:nvSpPr>
        <p:spPr bwMode="gray">
          <a:xfrm>
            <a:off x="7154804" y="5430407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8" name="文本框 237"/>
          <p:cNvSpPr txBox="1"/>
          <p:nvPr/>
        </p:nvSpPr>
        <p:spPr bwMode="gray">
          <a:xfrm>
            <a:off x="7651510" y="4720112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9" name="文本框 238"/>
          <p:cNvSpPr txBox="1"/>
          <p:nvPr/>
        </p:nvSpPr>
        <p:spPr bwMode="gray">
          <a:xfrm>
            <a:off x="9587831" y="5276317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0" name="文本框 239"/>
          <p:cNvSpPr txBox="1"/>
          <p:nvPr/>
        </p:nvSpPr>
        <p:spPr bwMode="gray">
          <a:xfrm>
            <a:off x="1727868" y="5276317"/>
            <a:ext cx="69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1" name="任意多边形 240"/>
          <p:cNvSpPr/>
          <p:nvPr/>
        </p:nvSpPr>
        <p:spPr bwMode="gray">
          <a:xfrm>
            <a:off x="1157446" y="4348123"/>
            <a:ext cx="9618562" cy="629597"/>
          </a:xfrm>
          <a:custGeom>
            <a:avLst/>
            <a:gdLst>
              <a:gd name="connsiteX0" fmla="*/ 0 w 8750461"/>
              <a:gd name="connsiteY0" fmla="*/ 0 h 34724"/>
              <a:gd name="connsiteX1" fmla="*/ 2280212 w 8750461"/>
              <a:gd name="connsiteY1" fmla="*/ 0 h 34724"/>
              <a:gd name="connsiteX2" fmla="*/ 6690167 w 8750461"/>
              <a:gd name="connsiteY2" fmla="*/ 23149 h 34724"/>
              <a:gd name="connsiteX3" fmla="*/ 8750461 w 8750461"/>
              <a:gd name="connsiteY3" fmla="*/ 34724 h 34724"/>
              <a:gd name="connsiteX0" fmla="*/ 0 w 8750461"/>
              <a:gd name="connsiteY0" fmla="*/ 567160 h 637154"/>
              <a:gd name="connsiteX1" fmla="*/ 2222339 w 8750461"/>
              <a:gd name="connsiteY1" fmla="*/ 0 h 637154"/>
              <a:gd name="connsiteX2" fmla="*/ 6690167 w 8750461"/>
              <a:gd name="connsiteY2" fmla="*/ 590309 h 637154"/>
              <a:gd name="connsiteX3" fmla="*/ 8750461 w 8750461"/>
              <a:gd name="connsiteY3" fmla="*/ 601884 h 637154"/>
              <a:gd name="connsiteX0" fmla="*/ 0 w 8750461"/>
              <a:gd name="connsiteY0" fmla="*/ 859764 h 929758"/>
              <a:gd name="connsiteX1" fmla="*/ 2222339 w 8750461"/>
              <a:gd name="connsiteY1" fmla="*/ 292604 h 929758"/>
              <a:gd name="connsiteX2" fmla="*/ 6690167 w 8750461"/>
              <a:gd name="connsiteY2" fmla="*/ 882913 h 929758"/>
              <a:gd name="connsiteX3" fmla="*/ 8750461 w 8750461"/>
              <a:gd name="connsiteY3" fmla="*/ 894488 h 929758"/>
              <a:gd name="connsiteX0" fmla="*/ 0 w 8750461"/>
              <a:gd name="connsiteY0" fmla="*/ 900693 h 1158212"/>
              <a:gd name="connsiteX1" fmla="*/ 2222339 w 8750461"/>
              <a:gd name="connsiteY1" fmla="*/ 333533 h 1158212"/>
              <a:gd name="connsiteX2" fmla="*/ 6690167 w 8750461"/>
              <a:gd name="connsiteY2" fmla="*/ 923842 h 1158212"/>
              <a:gd name="connsiteX3" fmla="*/ 8750461 w 8750461"/>
              <a:gd name="connsiteY3" fmla="*/ 935417 h 1158212"/>
              <a:gd name="connsiteX0" fmla="*/ 0 w 8750461"/>
              <a:gd name="connsiteY0" fmla="*/ 524923 h 566036"/>
              <a:gd name="connsiteX1" fmla="*/ 2291787 w 8750461"/>
              <a:gd name="connsiteY1" fmla="*/ 351302 h 566036"/>
              <a:gd name="connsiteX2" fmla="*/ 6690167 w 8750461"/>
              <a:gd name="connsiteY2" fmla="*/ 548072 h 566036"/>
              <a:gd name="connsiteX3" fmla="*/ 8750461 w 8750461"/>
              <a:gd name="connsiteY3" fmla="*/ 559647 h 566036"/>
              <a:gd name="connsiteX0" fmla="*/ 0 w 8750461"/>
              <a:gd name="connsiteY0" fmla="*/ 577172 h 750314"/>
              <a:gd name="connsiteX1" fmla="*/ 2291787 w 8750461"/>
              <a:gd name="connsiteY1" fmla="*/ 403551 h 750314"/>
              <a:gd name="connsiteX2" fmla="*/ 6690167 w 8750461"/>
              <a:gd name="connsiteY2" fmla="*/ 600321 h 750314"/>
              <a:gd name="connsiteX3" fmla="*/ 8750461 w 8750461"/>
              <a:gd name="connsiteY3" fmla="*/ 611896 h 750314"/>
              <a:gd name="connsiteX0" fmla="*/ 0 w 8738886"/>
              <a:gd name="connsiteY0" fmla="*/ 527788 h 655110"/>
              <a:gd name="connsiteX1" fmla="*/ 2291787 w 8738886"/>
              <a:gd name="connsiteY1" fmla="*/ 354167 h 655110"/>
              <a:gd name="connsiteX2" fmla="*/ 6690167 w 8738886"/>
              <a:gd name="connsiteY2" fmla="*/ 550937 h 655110"/>
              <a:gd name="connsiteX3" fmla="*/ 8738886 w 8738886"/>
              <a:gd name="connsiteY3" fmla="*/ 655110 h 655110"/>
              <a:gd name="connsiteX0" fmla="*/ 0 w 8681012"/>
              <a:gd name="connsiteY0" fmla="*/ 337824 h 337824"/>
              <a:gd name="connsiteX1" fmla="*/ 2233913 w 8681012"/>
              <a:gd name="connsiteY1" fmla="*/ 2157 h 337824"/>
              <a:gd name="connsiteX2" fmla="*/ 6632293 w 8681012"/>
              <a:gd name="connsiteY2" fmla="*/ 198927 h 337824"/>
              <a:gd name="connsiteX3" fmla="*/ 8681012 w 8681012"/>
              <a:gd name="connsiteY3" fmla="*/ 303100 h 337824"/>
              <a:gd name="connsiteX0" fmla="*/ 0 w 8692587"/>
              <a:gd name="connsiteY0" fmla="*/ 373591 h 373591"/>
              <a:gd name="connsiteX1" fmla="*/ 2245488 w 8692587"/>
              <a:gd name="connsiteY1" fmla="*/ 3199 h 373591"/>
              <a:gd name="connsiteX2" fmla="*/ 6643868 w 8692587"/>
              <a:gd name="connsiteY2" fmla="*/ 199969 h 373591"/>
              <a:gd name="connsiteX3" fmla="*/ 8692587 w 8692587"/>
              <a:gd name="connsiteY3" fmla="*/ 304142 h 373591"/>
              <a:gd name="connsiteX0" fmla="*/ 0 w 8692587"/>
              <a:gd name="connsiteY0" fmla="*/ 383360 h 383360"/>
              <a:gd name="connsiteX1" fmla="*/ 2245488 w 8692587"/>
              <a:gd name="connsiteY1" fmla="*/ 12968 h 383360"/>
              <a:gd name="connsiteX2" fmla="*/ 6655442 w 8692587"/>
              <a:gd name="connsiteY2" fmla="*/ 105566 h 383360"/>
              <a:gd name="connsiteX3" fmla="*/ 8692587 w 8692587"/>
              <a:gd name="connsiteY3" fmla="*/ 313911 h 383360"/>
              <a:gd name="connsiteX0" fmla="*/ 0 w 8692587"/>
              <a:gd name="connsiteY0" fmla="*/ 406735 h 406735"/>
              <a:gd name="connsiteX1" fmla="*/ 2245488 w 8692587"/>
              <a:gd name="connsiteY1" fmla="*/ 36343 h 406735"/>
              <a:gd name="connsiteX2" fmla="*/ 6724890 w 8692587"/>
              <a:gd name="connsiteY2" fmla="*/ 47919 h 406735"/>
              <a:gd name="connsiteX3" fmla="*/ 8692587 w 8692587"/>
              <a:gd name="connsiteY3" fmla="*/ 337286 h 406735"/>
              <a:gd name="connsiteX0" fmla="*/ 0 w 8692587"/>
              <a:gd name="connsiteY0" fmla="*/ 491923 h 491923"/>
              <a:gd name="connsiteX1" fmla="*/ 2245488 w 8692587"/>
              <a:gd name="connsiteY1" fmla="*/ 121531 h 491923"/>
              <a:gd name="connsiteX2" fmla="*/ 6724890 w 8692587"/>
              <a:gd name="connsiteY2" fmla="*/ 133107 h 491923"/>
              <a:gd name="connsiteX3" fmla="*/ 8692587 w 8692587"/>
              <a:gd name="connsiteY3" fmla="*/ 422474 h 491923"/>
              <a:gd name="connsiteX0" fmla="*/ 0 w 8692587"/>
              <a:gd name="connsiteY0" fmla="*/ 539850 h 539850"/>
              <a:gd name="connsiteX1" fmla="*/ 2245488 w 8692587"/>
              <a:gd name="connsiteY1" fmla="*/ 169458 h 539850"/>
              <a:gd name="connsiteX2" fmla="*/ 6724890 w 8692587"/>
              <a:gd name="connsiteY2" fmla="*/ 181034 h 539850"/>
              <a:gd name="connsiteX3" fmla="*/ 8692587 w 8692587"/>
              <a:gd name="connsiteY3" fmla="*/ 470401 h 539850"/>
              <a:gd name="connsiteX0" fmla="*/ 0 w 8692587"/>
              <a:gd name="connsiteY0" fmla="*/ 539850 h 539850"/>
              <a:gd name="connsiteX1" fmla="*/ 2245488 w 8692587"/>
              <a:gd name="connsiteY1" fmla="*/ 169458 h 539850"/>
              <a:gd name="connsiteX2" fmla="*/ 6724890 w 8692587"/>
              <a:gd name="connsiteY2" fmla="*/ 181034 h 539850"/>
              <a:gd name="connsiteX3" fmla="*/ 8692587 w 8692587"/>
              <a:gd name="connsiteY3" fmla="*/ 470401 h 539850"/>
              <a:gd name="connsiteX0" fmla="*/ 0 w 8692587"/>
              <a:gd name="connsiteY0" fmla="*/ 539850 h 581455"/>
              <a:gd name="connsiteX1" fmla="*/ 2245488 w 8692587"/>
              <a:gd name="connsiteY1" fmla="*/ 169458 h 581455"/>
              <a:gd name="connsiteX2" fmla="*/ 6724890 w 8692587"/>
              <a:gd name="connsiteY2" fmla="*/ 181034 h 581455"/>
              <a:gd name="connsiteX3" fmla="*/ 8692587 w 8692587"/>
              <a:gd name="connsiteY3" fmla="*/ 470401 h 581455"/>
              <a:gd name="connsiteX0" fmla="*/ 0 w 8692587"/>
              <a:gd name="connsiteY0" fmla="*/ 539850 h 581455"/>
              <a:gd name="connsiteX1" fmla="*/ 2245488 w 8692587"/>
              <a:gd name="connsiteY1" fmla="*/ 169458 h 581455"/>
              <a:gd name="connsiteX2" fmla="*/ 6724890 w 8692587"/>
              <a:gd name="connsiteY2" fmla="*/ 181034 h 581455"/>
              <a:gd name="connsiteX3" fmla="*/ 8692587 w 8692587"/>
              <a:gd name="connsiteY3" fmla="*/ 470401 h 581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92587" h="581455">
                <a:moveTo>
                  <a:pt x="0" y="539850"/>
                </a:moveTo>
                <a:cubicBezTo>
                  <a:pt x="752355" y="698038"/>
                  <a:pt x="1194121" y="368157"/>
                  <a:pt x="2245488" y="169458"/>
                </a:cubicBezTo>
                <a:cubicBezTo>
                  <a:pt x="3348374" y="-38978"/>
                  <a:pt x="5823993" y="-77468"/>
                  <a:pt x="6724890" y="181034"/>
                </a:cubicBezTo>
                <a:cubicBezTo>
                  <a:pt x="7758854" y="477718"/>
                  <a:pt x="8098419" y="686462"/>
                  <a:pt x="8692587" y="470401"/>
                </a:cubicBezTo>
              </a:path>
            </a:pathLst>
          </a:custGeom>
          <a:noFill/>
          <a:ln w="38100">
            <a:solidFill>
              <a:srgbClr val="FC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2" name="文本框 241"/>
          <p:cNvSpPr txBox="1"/>
          <p:nvPr/>
        </p:nvSpPr>
        <p:spPr bwMode="gray">
          <a:xfrm>
            <a:off x="854215" y="4721717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3" name="文本框 242"/>
          <p:cNvSpPr txBox="1"/>
          <p:nvPr/>
        </p:nvSpPr>
        <p:spPr bwMode="gray">
          <a:xfrm rot="20398567">
            <a:off x="2083035" y="4732207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4" name="文本框 243"/>
          <p:cNvSpPr txBox="1"/>
          <p:nvPr/>
        </p:nvSpPr>
        <p:spPr bwMode="gray">
          <a:xfrm rot="20398567">
            <a:off x="2887517" y="4639436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1/0/0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5" name="文本框 244"/>
          <p:cNvSpPr txBox="1"/>
          <p:nvPr/>
        </p:nvSpPr>
        <p:spPr bwMode="gray">
          <a:xfrm>
            <a:off x="4139440" y="4468587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6" name="文本框 245"/>
          <p:cNvSpPr txBox="1"/>
          <p:nvPr/>
        </p:nvSpPr>
        <p:spPr bwMode="gray">
          <a:xfrm>
            <a:off x="6658144" y="4468587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1/0/0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7" name="文本框 246"/>
          <p:cNvSpPr txBox="1"/>
          <p:nvPr/>
        </p:nvSpPr>
        <p:spPr bwMode="gray">
          <a:xfrm rot="1250704">
            <a:off x="7945286" y="4581612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8" name="文本框 247"/>
          <p:cNvSpPr txBox="1"/>
          <p:nvPr/>
        </p:nvSpPr>
        <p:spPr bwMode="gray">
          <a:xfrm rot="1250704">
            <a:off x="8666971" y="4825433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1/0/0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9" name="文本框 248"/>
          <p:cNvSpPr txBox="1"/>
          <p:nvPr/>
        </p:nvSpPr>
        <p:spPr bwMode="gray">
          <a:xfrm>
            <a:off x="9953417" y="4676463"/>
            <a:ext cx="114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 1/0/2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0" name="文本框 249"/>
          <p:cNvSpPr txBox="1"/>
          <p:nvPr/>
        </p:nvSpPr>
        <p:spPr bwMode="gray">
          <a:xfrm>
            <a:off x="1004064" y="5264840"/>
            <a:ext cx="93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TTL=255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1" name="文本框 250"/>
          <p:cNvSpPr txBox="1"/>
          <p:nvPr/>
        </p:nvSpPr>
        <p:spPr bwMode="gray">
          <a:xfrm>
            <a:off x="3680206" y="4904940"/>
            <a:ext cx="93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TTL=254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2" name="文本框 251"/>
          <p:cNvSpPr txBox="1"/>
          <p:nvPr/>
        </p:nvSpPr>
        <p:spPr bwMode="gray">
          <a:xfrm>
            <a:off x="7387957" y="4904940"/>
            <a:ext cx="93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TTL=253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3" name="文本框 252"/>
          <p:cNvSpPr txBox="1"/>
          <p:nvPr/>
        </p:nvSpPr>
        <p:spPr bwMode="gray">
          <a:xfrm>
            <a:off x="9989841" y="5261891"/>
            <a:ext cx="93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TTL=252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8" name="圆角矩形 29"/>
          <p:cNvSpPr/>
          <p:nvPr>
            <p:custDataLst>
              <p:tags r:id="rId1"/>
            </p:custDataLst>
          </p:nvPr>
        </p:nvSpPr>
        <p:spPr bwMode="gray">
          <a:xfrm>
            <a:off x="5849420" y="3082731"/>
            <a:ext cx="1514807" cy="318779"/>
          </a:xfrm>
          <a:prstGeom prst="roundRect">
            <a:avLst/>
          </a:prstGeom>
          <a:solidFill>
            <a:srgbClr val="30B5C5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 fontAlgn="base">
              <a:lnSpc>
                <a:spcPct val="150000"/>
              </a:lnSpc>
            </a:pPr>
            <a:r>
              <a:rPr lang="en-US" altLang="zh-CN" sz="14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iMaster NCE-IP</a:t>
            </a:r>
          </a:p>
        </p:txBody>
      </p:sp>
      <p:pic>
        <p:nvPicPr>
          <p:cNvPr id="260" name="图片 259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345081" y="3262660"/>
            <a:ext cx="207170" cy="169879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70963" y="3018791"/>
            <a:ext cx="207170" cy="169879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70963" y="3460589"/>
            <a:ext cx="207170" cy="169879"/>
          </a:xfrm>
          <a:prstGeom prst="rect">
            <a:avLst/>
          </a:prstGeom>
        </p:spPr>
      </p:pic>
      <p:pic>
        <p:nvPicPr>
          <p:cNvPr id="263" name="图片 262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80601" y="3460589"/>
            <a:ext cx="207170" cy="169879"/>
          </a:xfrm>
          <a:prstGeom prst="rect">
            <a:avLst/>
          </a:prstGeom>
        </p:spPr>
      </p:pic>
      <p:pic>
        <p:nvPicPr>
          <p:cNvPr id="264" name="图片 263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80601" y="3018791"/>
            <a:ext cx="207170" cy="169879"/>
          </a:xfrm>
          <a:prstGeom prst="rect">
            <a:avLst/>
          </a:prstGeom>
        </p:spPr>
      </p:pic>
      <p:cxnSp>
        <p:nvCxnSpPr>
          <p:cNvPr id="35" name="直接连接符 34"/>
          <p:cNvCxnSpPr>
            <a:stCxn id="258" idx="3"/>
            <a:endCxn id="73" idx="1"/>
          </p:cNvCxnSpPr>
          <p:nvPr/>
        </p:nvCxnSpPr>
        <p:spPr bwMode="gray">
          <a:xfrm>
            <a:off x="7364227" y="3242121"/>
            <a:ext cx="1176280" cy="756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 flipV="1">
            <a:off x="8812364" y="3082731"/>
            <a:ext cx="258599" cy="215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>
            <a:endCxn id="262" idx="1"/>
          </p:cNvCxnSpPr>
          <p:nvPr/>
        </p:nvCxnSpPr>
        <p:spPr bwMode="gray">
          <a:xfrm>
            <a:off x="8812364" y="3344952"/>
            <a:ext cx="258599" cy="200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/>
          <p:cNvCxnSpPr>
            <a:stCxn id="261" idx="3"/>
            <a:endCxn id="264" idx="1"/>
          </p:cNvCxnSpPr>
          <p:nvPr/>
        </p:nvCxnSpPr>
        <p:spPr bwMode="gray">
          <a:xfrm>
            <a:off x="9278133" y="3103731"/>
            <a:ext cx="6024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>
            <a:stCxn id="262" idx="3"/>
            <a:endCxn id="263" idx="1"/>
          </p:cNvCxnSpPr>
          <p:nvPr/>
        </p:nvCxnSpPr>
        <p:spPr bwMode="gray">
          <a:xfrm>
            <a:off x="9278133" y="3545529"/>
            <a:ext cx="6024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/>
          <p:cNvCxnSpPr>
            <a:stCxn id="264" idx="3"/>
            <a:endCxn id="260" idx="1"/>
          </p:cNvCxnSpPr>
          <p:nvPr/>
        </p:nvCxnSpPr>
        <p:spPr bwMode="gray">
          <a:xfrm>
            <a:off x="10087771" y="3103731"/>
            <a:ext cx="257310" cy="243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/>
          <p:cNvCxnSpPr>
            <a:stCxn id="263" idx="3"/>
            <a:endCxn id="260" idx="1"/>
          </p:cNvCxnSpPr>
          <p:nvPr/>
        </p:nvCxnSpPr>
        <p:spPr bwMode="gray">
          <a:xfrm flipV="1">
            <a:off x="10087771" y="3347600"/>
            <a:ext cx="257310" cy="197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/>
          <p:cNvCxnSpPr>
            <a:stCxn id="261" idx="3"/>
            <a:endCxn id="263" idx="1"/>
          </p:cNvCxnSpPr>
          <p:nvPr/>
        </p:nvCxnSpPr>
        <p:spPr bwMode="gray">
          <a:xfrm>
            <a:off x="9278133" y="3103731"/>
            <a:ext cx="602468" cy="441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连接符 276"/>
          <p:cNvCxnSpPr>
            <a:stCxn id="262" idx="3"/>
            <a:endCxn id="264" idx="1"/>
          </p:cNvCxnSpPr>
          <p:nvPr/>
        </p:nvCxnSpPr>
        <p:spPr bwMode="gray">
          <a:xfrm flipV="1">
            <a:off x="9278133" y="3103731"/>
            <a:ext cx="602468" cy="441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连接符 277"/>
          <p:cNvCxnSpPr>
            <a:stCxn id="236" idx="0"/>
            <a:endCxn id="185" idx="1"/>
          </p:cNvCxnSpPr>
          <p:nvPr/>
        </p:nvCxnSpPr>
        <p:spPr bwMode="gray">
          <a:xfrm>
            <a:off x="4086237" y="4720112"/>
            <a:ext cx="3565273" cy="753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/>
          <p:cNvCxnSpPr>
            <a:stCxn id="182" idx="3"/>
            <a:endCxn id="184" idx="2"/>
          </p:cNvCxnSpPr>
          <p:nvPr/>
        </p:nvCxnSpPr>
        <p:spPr bwMode="gray">
          <a:xfrm flipV="1">
            <a:off x="4356237" y="4722422"/>
            <a:ext cx="3565273" cy="751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任意多边形 279"/>
          <p:cNvSpPr/>
          <p:nvPr/>
        </p:nvSpPr>
        <p:spPr bwMode="gray">
          <a:xfrm>
            <a:off x="8585103" y="3081647"/>
            <a:ext cx="1922515" cy="125841"/>
          </a:xfrm>
          <a:custGeom>
            <a:avLst/>
            <a:gdLst>
              <a:gd name="connsiteX0" fmla="*/ 0 w 8750461"/>
              <a:gd name="connsiteY0" fmla="*/ 0 h 34724"/>
              <a:gd name="connsiteX1" fmla="*/ 2280212 w 8750461"/>
              <a:gd name="connsiteY1" fmla="*/ 0 h 34724"/>
              <a:gd name="connsiteX2" fmla="*/ 6690167 w 8750461"/>
              <a:gd name="connsiteY2" fmla="*/ 23149 h 34724"/>
              <a:gd name="connsiteX3" fmla="*/ 8750461 w 8750461"/>
              <a:gd name="connsiteY3" fmla="*/ 34724 h 34724"/>
              <a:gd name="connsiteX0" fmla="*/ 0 w 8750461"/>
              <a:gd name="connsiteY0" fmla="*/ 567160 h 637154"/>
              <a:gd name="connsiteX1" fmla="*/ 2222339 w 8750461"/>
              <a:gd name="connsiteY1" fmla="*/ 0 h 637154"/>
              <a:gd name="connsiteX2" fmla="*/ 6690167 w 8750461"/>
              <a:gd name="connsiteY2" fmla="*/ 590309 h 637154"/>
              <a:gd name="connsiteX3" fmla="*/ 8750461 w 8750461"/>
              <a:gd name="connsiteY3" fmla="*/ 601884 h 637154"/>
              <a:gd name="connsiteX0" fmla="*/ 0 w 8750461"/>
              <a:gd name="connsiteY0" fmla="*/ 859764 h 929758"/>
              <a:gd name="connsiteX1" fmla="*/ 2222339 w 8750461"/>
              <a:gd name="connsiteY1" fmla="*/ 292604 h 929758"/>
              <a:gd name="connsiteX2" fmla="*/ 6690167 w 8750461"/>
              <a:gd name="connsiteY2" fmla="*/ 882913 h 929758"/>
              <a:gd name="connsiteX3" fmla="*/ 8750461 w 8750461"/>
              <a:gd name="connsiteY3" fmla="*/ 894488 h 929758"/>
              <a:gd name="connsiteX0" fmla="*/ 0 w 8750461"/>
              <a:gd name="connsiteY0" fmla="*/ 900693 h 1158212"/>
              <a:gd name="connsiteX1" fmla="*/ 2222339 w 8750461"/>
              <a:gd name="connsiteY1" fmla="*/ 333533 h 1158212"/>
              <a:gd name="connsiteX2" fmla="*/ 6690167 w 8750461"/>
              <a:gd name="connsiteY2" fmla="*/ 923842 h 1158212"/>
              <a:gd name="connsiteX3" fmla="*/ 8750461 w 8750461"/>
              <a:gd name="connsiteY3" fmla="*/ 935417 h 1158212"/>
              <a:gd name="connsiteX0" fmla="*/ 0 w 8750461"/>
              <a:gd name="connsiteY0" fmla="*/ 524923 h 566036"/>
              <a:gd name="connsiteX1" fmla="*/ 2291787 w 8750461"/>
              <a:gd name="connsiteY1" fmla="*/ 351302 h 566036"/>
              <a:gd name="connsiteX2" fmla="*/ 6690167 w 8750461"/>
              <a:gd name="connsiteY2" fmla="*/ 548072 h 566036"/>
              <a:gd name="connsiteX3" fmla="*/ 8750461 w 8750461"/>
              <a:gd name="connsiteY3" fmla="*/ 559647 h 566036"/>
              <a:gd name="connsiteX0" fmla="*/ 0 w 8750461"/>
              <a:gd name="connsiteY0" fmla="*/ 577172 h 750314"/>
              <a:gd name="connsiteX1" fmla="*/ 2291787 w 8750461"/>
              <a:gd name="connsiteY1" fmla="*/ 403551 h 750314"/>
              <a:gd name="connsiteX2" fmla="*/ 6690167 w 8750461"/>
              <a:gd name="connsiteY2" fmla="*/ 600321 h 750314"/>
              <a:gd name="connsiteX3" fmla="*/ 8750461 w 8750461"/>
              <a:gd name="connsiteY3" fmla="*/ 611896 h 750314"/>
              <a:gd name="connsiteX0" fmla="*/ 0 w 8738886"/>
              <a:gd name="connsiteY0" fmla="*/ 527788 h 655110"/>
              <a:gd name="connsiteX1" fmla="*/ 2291787 w 8738886"/>
              <a:gd name="connsiteY1" fmla="*/ 354167 h 655110"/>
              <a:gd name="connsiteX2" fmla="*/ 6690167 w 8738886"/>
              <a:gd name="connsiteY2" fmla="*/ 550937 h 655110"/>
              <a:gd name="connsiteX3" fmla="*/ 8738886 w 8738886"/>
              <a:gd name="connsiteY3" fmla="*/ 655110 h 655110"/>
              <a:gd name="connsiteX0" fmla="*/ 0 w 8681012"/>
              <a:gd name="connsiteY0" fmla="*/ 337824 h 337824"/>
              <a:gd name="connsiteX1" fmla="*/ 2233913 w 8681012"/>
              <a:gd name="connsiteY1" fmla="*/ 2157 h 337824"/>
              <a:gd name="connsiteX2" fmla="*/ 6632293 w 8681012"/>
              <a:gd name="connsiteY2" fmla="*/ 198927 h 337824"/>
              <a:gd name="connsiteX3" fmla="*/ 8681012 w 8681012"/>
              <a:gd name="connsiteY3" fmla="*/ 303100 h 337824"/>
              <a:gd name="connsiteX0" fmla="*/ 0 w 8692587"/>
              <a:gd name="connsiteY0" fmla="*/ 373591 h 373591"/>
              <a:gd name="connsiteX1" fmla="*/ 2245488 w 8692587"/>
              <a:gd name="connsiteY1" fmla="*/ 3199 h 373591"/>
              <a:gd name="connsiteX2" fmla="*/ 6643868 w 8692587"/>
              <a:gd name="connsiteY2" fmla="*/ 199969 h 373591"/>
              <a:gd name="connsiteX3" fmla="*/ 8692587 w 8692587"/>
              <a:gd name="connsiteY3" fmla="*/ 304142 h 373591"/>
              <a:gd name="connsiteX0" fmla="*/ 0 w 8692587"/>
              <a:gd name="connsiteY0" fmla="*/ 383360 h 383360"/>
              <a:gd name="connsiteX1" fmla="*/ 2245488 w 8692587"/>
              <a:gd name="connsiteY1" fmla="*/ 12968 h 383360"/>
              <a:gd name="connsiteX2" fmla="*/ 6655442 w 8692587"/>
              <a:gd name="connsiteY2" fmla="*/ 105566 h 383360"/>
              <a:gd name="connsiteX3" fmla="*/ 8692587 w 8692587"/>
              <a:gd name="connsiteY3" fmla="*/ 313911 h 383360"/>
              <a:gd name="connsiteX0" fmla="*/ 0 w 8692587"/>
              <a:gd name="connsiteY0" fmla="*/ 406735 h 406735"/>
              <a:gd name="connsiteX1" fmla="*/ 2245488 w 8692587"/>
              <a:gd name="connsiteY1" fmla="*/ 36343 h 406735"/>
              <a:gd name="connsiteX2" fmla="*/ 6724890 w 8692587"/>
              <a:gd name="connsiteY2" fmla="*/ 47919 h 406735"/>
              <a:gd name="connsiteX3" fmla="*/ 8692587 w 8692587"/>
              <a:gd name="connsiteY3" fmla="*/ 337286 h 406735"/>
              <a:gd name="connsiteX0" fmla="*/ 0 w 8692587"/>
              <a:gd name="connsiteY0" fmla="*/ 491923 h 491923"/>
              <a:gd name="connsiteX1" fmla="*/ 2245488 w 8692587"/>
              <a:gd name="connsiteY1" fmla="*/ 121531 h 491923"/>
              <a:gd name="connsiteX2" fmla="*/ 6724890 w 8692587"/>
              <a:gd name="connsiteY2" fmla="*/ 133107 h 491923"/>
              <a:gd name="connsiteX3" fmla="*/ 8692587 w 8692587"/>
              <a:gd name="connsiteY3" fmla="*/ 422474 h 491923"/>
              <a:gd name="connsiteX0" fmla="*/ 0 w 8692587"/>
              <a:gd name="connsiteY0" fmla="*/ 539850 h 539850"/>
              <a:gd name="connsiteX1" fmla="*/ 2245488 w 8692587"/>
              <a:gd name="connsiteY1" fmla="*/ 169458 h 539850"/>
              <a:gd name="connsiteX2" fmla="*/ 6724890 w 8692587"/>
              <a:gd name="connsiteY2" fmla="*/ 181034 h 539850"/>
              <a:gd name="connsiteX3" fmla="*/ 8692587 w 8692587"/>
              <a:gd name="connsiteY3" fmla="*/ 470401 h 539850"/>
              <a:gd name="connsiteX0" fmla="*/ 0 w 8692587"/>
              <a:gd name="connsiteY0" fmla="*/ 539850 h 539850"/>
              <a:gd name="connsiteX1" fmla="*/ 2245488 w 8692587"/>
              <a:gd name="connsiteY1" fmla="*/ 169458 h 539850"/>
              <a:gd name="connsiteX2" fmla="*/ 6724890 w 8692587"/>
              <a:gd name="connsiteY2" fmla="*/ 181034 h 539850"/>
              <a:gd name="connsiteX3" fmla="*/ 8692587 w 8692587"/>
              <a:gd name="connsiteY3" fmla="*/ 470401 h 539850"/>
              <a:gd name="connsiteX0" fmla="*/ 0 w 8692587"/>
              <a:gd name="connsiteY0" fmla="*/ 539850 h 581455"/>
              <a:gd name="connsiteX1" fmla="*/ 2245488 w 8692587"/>
              <a:gd name="connsiteY1" fmla="*/ 169458 h 581455"/>
              <a:gd name="connsiteX2" fmla="*/ 6724890 w 8692587"/>
              <a:gd name="connsiteY2" fmla="*/ 181034 h 581455"/>
              <a:gd name="connsiteX3" fmla="*/ 8692587 w 8692587"/>
              <a:gd name="connsiteY3" fmla="*/ 470401 h 581455"/>
              <a:gd name="connsiteX0" fmla="*/ 0 w 8692587"/>
              <a:gd name="connsiteY0" fmla="*/ 539850 h 581455"/>
              <a:gd name="connsiteX1" fmla="*/ 2245488 w 8692587"/>
              <a:gd name="connsiteY1" fmla="*/ 169458 h 581455"/>
              <a:gd name="connsiteX2" fmla="*/ 6724890 w 8692587"/>
              <a:gd name="connsiteY2" fmla="*/ 181034 h 581455"/>
              <a:gd name="connsiteX3" fmla="*/ 8692587 w 8692587"/>
              <a:gd name="connsiteY3" fmla="*/ 470401 h 581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92587" h="581455">
                <a:moveTo>
                  <a:pt x="0" y="539850"/>
                </a:moveTo>
                <a:cubicBezTo>
                  <a:pt x="752355" y="698038"/>
                  <a:pt x="1194121" y="368157"/>
                  <a:pt x="2245488" y="169458"/>
                </a:cubicBezTo>
                <a:cubicBezTo>
                  <a:pt x="3348374" y="-38978"/>
                  <a:pt x="5823993" y="-77468"/>
                  <a:pt x="6724890" y="181034"/>
                </a:cubicBezTo>
                <a:cubicBezTo>
                  <a:pt x="7758854" y="477718"/>
                  <a:pt x="8098419" y="686462"/>
                  <a:pt x="8692587" y="470401"/>
                </a:cubicBezTo>
              </a:path>
            </a:pathLst>
          </a:custGeom>
          <a:noFill/>
          <a:ln w="38100">
            <a:solidFill>
              <a:srgbClr val="FC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39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5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基于</a:t>
            </a:r>
            <a:r>
              <a:rPr lang="en-US" altLang="zh-CN" dirty="0" err="1">
                <a:sym typeface="Huawei Sans" panose="020C0503030203020204" pitchFamily="34" charset="0"/>
              </a:rPr>
              <a:t>iFIT</a:t>
            </a:r>
            <a:r>
              <a:rPr lang="zh-CN" altLang="en-US" dirty="0">
                <a:sym typeface="Huawei Sans" panose="020C0503030203020204" pitchFamily="34" charset="0"/>
              </a:rPr>
              <a:t>定位故障点</a:t>
            </a: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结合物理拓扑、质差业务的端节点，基于</a:t>
            </a:r>
            <a:r>
              <a:rPr lang="en-US" altLang="zh-CN" sz="1800" dirty="0">
                <a:sym typeface="Huawei Sans" panose="020C0503030203020204" pitchFamily="34" charset="0"/>
              </a:rPr>
              <a:t>iMaster NCE-IP</a:t>
            </a:r>
            <a:r>
              <a:rPr lang="zh-CN" altLang="en-US" sz="1800" dirty="0">
                <a:sym typeface="Huawei Sans" panose="020C0503030203020204" pitchFamily="34" charset="0"/>
              </a:rPr>
              <a:t>内置</a:t>
            </a:r>
            <a:r>
              <a:rPr lang="en-US" altLang="zh-CN" sz="1800" dirty="0">
                <a:sym typeface="Huawei Sans" panose="020C0503030203020204" pitchFamily="34" charset="0"/>
              </a:rPr>
              <a:t>AI</a:t>
            </a:r>
            <a:r>
              <a:rPr lang="zh-CN" altLang="en-US" sz="1800" dirty="0">
                <a:sym typeface="Huawei Sans" panose="020C0503030203020204" pitchFamily="34" charset="0"/>
              </a:rPr>
              <a:t>算法，进行路径聚合，寻找到导致业务质差的最小区域，辅助进一步定位定界。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6" name="圆角矩形 29"/>
          <p:cNvSpPr/>
          <p:nvPr>
            <p:custDataLst>
              <p:tags r:id="rId1"/>
            </p:custDataLst>
          </p:nvPr>
        </p:nvSpPr>
        <p:spPr bwMode="gray">
          <a:xfrm>
            <a:off x="6295664" y="4471509"/>
            <a:ext cx="5157976" cy="186806"/>
          </a:xfrm>
          <a:prstGeom prst="roundRect">
            <a:avLst/>
          </a:prstGeom>
          <a:solidFill>
            <a:srgbClr val="DDDDDD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>
              <a:lnSpc>
                <a:spcPct val="150000"/>
              </a:lnSpc>
            </a:pP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iFIT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cxnSp>
        <p:nvCxnSpPr>
          <p:cNvPr id="82" name="直接连接符 81"/>
          <p:cNvCxnSpPr/>
          <p:nvPr/>
        </p:nvCxnSpPr>
        <p:spPr bwMode="gray">
          <a:xfrm>
            <a:off x="5793577" y="4903000"/>
            <a:ext cx="5955510" cy="0"/>
          </a:xfrm>
          <a:prstGeom prst="line">
            <a:avLst/>
          </a:prstGeom>
          <a:noFill/>
          <a:ln w="38100">
            <a:solidFill>
              <a:srgbClr val="C7000B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8378" y="3446488"/>
            <a:ext cx="540000" cy="4428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 bwMode="gray">
          <a:xfrm>
            <a:off x="2137991" y="2904070"/>
            <a:ext cx="540000" cy="1415587"/>
            <a:chOff x="2578417" y="3344410"/>
            <a:chExt cx="540000" cy="1415587"/>
          </a:xfrm>
        </p:grpSpPr>
        <p:pic>
          <p:nvPicPr>
            <p:cNvPr id="6" name="图片 5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78417" y="3344410"/>
              <a:ext cx="540000" cy="4428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="" xmlns:a16="http://schemas.microsoft.com/office/drawing/2014/main" id="{A22C7BA6-F0FE-4732-908F-CC73D6C144B1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78417" y="4317197"/>
              <a:ext cx="540000" cy="442800"/>
            </a:xfrm>
            <a:prstGeom prst="rect">
              <a:avLst/>
            </a:prstGeom>
          </p:spPr>
        </p:pic>
      </p:grp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77764" y="2904070"/>
            <a:ext cx="540000" cy="442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77764" y="3876857"/>
            <a:ext cx="540000" cy="442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3577" y="3446488"/>
            <a:ext cx="540000" cy="442800"/>
          </a:xfrm>
          <a:prstGeom prst="rect">
            <a:avLst/>
          </a:prstGeom>
        </p:spPr>
      </p:pic>
      <p:cxnSp>
        <p:nvCxnSpPr>
          <p:cNvPr id="11" name="直接连接符 10"/>
          <p:cNvCxnSpPr>
            <a:stCxn id="4" idx="3"/>
            <a:endCxn id="6" idx="1"/>
          </p:cNvCxnSpPr>
          <p:nvPr/>
        </p:nvCxnSpPr>
        <p:spPr bwMode="gray">
          <a:xfrm flipV="1">
            <a:off x="1378378" y="3125470"/>
            <a:ext cx="759613" cy="542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4" idx="3"/>
            <a:endCxn id="7" idx="1"/>
          </p:cNvCxnSpPr>
          <p:nvPr/>
        </p:nvCxnSpPr>
        <p:spPr bwMode="gray">
          <a:xfrm>
            <a:off x="1378378" y="3667888"/>
            <a:ext cx="759613" cy="4303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6" idx="3"/>
            <a:endCxn id="8" idx="1"/>
          </p:cNvCxnSpPr>
          <p:nvPr/>
        </p:nvCxnSpPr>
        <p:spPr bwMode="gray">
          <a:xfrm>
            <a:off x="2677991" y="3125470"/>
            <a:ext cx="1199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7" idx="3"/>
            <a:endCxn id="9" idx="1"/>
          </p:cNvCxnSpPr>
          <p:nvPr/>
        </p:nvCxnSpPr>
        <p:spPr bwMode="gray">
          <a:xfrm>
            <a:off x="2677991" y="4098257"/>
            <a:ext cx="1199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8" idx="3"/>
            <a:endCxn id="10" idx="1"/>
          </p:cNvCxnSpPr>
          <p:nvPr/>
        </p:nvCxnSpPr>
        <p:spPr bwMode="gray">
          <a:xfrm>
            <a:off x="4417764" y="3125470"/>
            <a:ext cx="835813" cy="542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9" idx="3"/>
            <a:endCxn id="10" idx="1"/>
          </p:cNvCxnSpPr>
          <p:nvPr/>
        </p:nvCxnSpPr>
        <p:spPr bwMode="gray">
          <a:xfrm flipV="1">
            <a:off x="4417764" y="3667888"/>
            <a:ext cx="835813" cy="4303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2060435" y="3647293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2060435" y="3344560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3823788" y="3633753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3877764" y="3344560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4638750" y="3506075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735718" y="3912698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连接符 35"/>
          <p:cNvCxnSpPr>
            <a:stCxn id="18" idx="0"/>
            <a:endCxn id="9" idx="1"/>
          </p:cNvCxnSpPr>
          <p:nvPr/>
        </p:nvCxnSpPr>
        <p:spPr bwMode="gray">
          <a:xfrm>
            <a:off x="2407991" y="3344560"/>
            <a:ext cx="1469773" cy="753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7" idx="3"/>
            <a:endCxn id="8" idx="2"/>
          </p:cNvCxnSpPr>
          <p:nvPr/>
        </p:nvCxnSpPr>
        <p:spPr bwMode="gray">
          <a:xfrm flipV="1">
            <a:off x="2677991" y="3346870"/>
            <a:ext cx="1469773" cy="751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29"/>
          <p:cNvSpPr/>
          <p:nvPr>
            <p:custDataLst>
              <p:tags r:id="rId2"/>
            </p:custDataLst>
          </p:nvPr>
        </p:nvSpPr>
        <p:spPr bwMode="gray">
          <a:xfrm>
            <a:off x="2677990" y="2329993"/>
            <a:ext cx="1469773" cy="318779"/>
          </a:xfrm>
          <a:prstGeom prst="roundRect">
            <a:avLst/>
          </a:prstGeom>
          <a:solidFill>
            <a:srgbClr val="30B5C5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>
              <a:lnSpc>
                <a:spcPct val="150000"/>
              </a:lnSpc>
            </a:pPr>
            <a:r>
              <a:rPr lang="en-US" altLang="zh-CN" sz="1200" b="1" kern="0" dirty="0" err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iMaster</a:t>
            </a:r>
            <a:r>
              <a:rPr lang="en-US" altLang="zh-CN" sz="12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NCE-IP</a:t>
            </a:r>
          </a:p>
        </p:txBody>
      </p:sp>
      <p:cxnSp>
        <p:nvCxnSpPr>
          <p:cNvPr id="39" name="直接连接符 8"/>
          <p:cNvCxnSpPr>
            <a:stCxn id="38" idx="1"/>
            <a:endCxn id="4" idx="0"/>
          </p:cNvCxnSpPr>
          <p:nvPr>
            <p:custDataLst>
              <p:tags r:id="rId3"/>
            </p:custDataLst>
          </p:nvPr>
        </p:nvCxnSpPr>
        <p:spPr bwMode="gray">
          <a:xfrm flipH="1">
            <a:off x="1108378" y="2489383"/>
            <a:ext cx="1569612" cy="957105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cxnSp>
        <p:nvCxnSpPr>
          <p:cNvPr id="42" name="直接连接符 8"/>
          <p:cNvCxnSpPr>
            <a:stCxn id="38" idx="3"/>
            <a:endCxn id="10" idx="0"/>
          </p:cNvCxnSpPr>
          <p:nvPr>
            <p:custDataLst>
              <p:tags r:id="rId4"/>
            </p:custDataLst>
          </p:nvPr>
        </p:nvCxnSpPr>
        <p:spPr bwMode="gray">
          <a:xfrm>
            <a:off x="4147763" y="2489383"/>
            <a:ext cx="1375814" cy="957105"/>
          </a:xfrm>
          <a:prstGeom prst="line">
            <a:avLst/>
          </a:prstGeom>
          <a:noFill/>
          <a:ln w="9525" cap="flat" cmpd="sng" algn="ctr">
            <a:solidFill>
              <a:srgbClr val="C7000B"/>
            </a:solidFill>
            <a:prstDash val="dash"/>
            <a:headEnd type="arrow"/>
            <a:tailEnd type="none"/>
          </a:ln>
          <a:effectLst/>
        </p:spPr>
      </p:cxnSp>
      <p:sp>
        <p:nvSpPr>
          <p:cNvPr id="54" name="任意多边形 53"/>
          <p:cNvSpPr/>
          <p:nvPr/>
        </p:nvSpPr>
        <p:spPr bwMode="gray">
          <a:xfrm>
            <a:off x="638629" y="3672113"/>
            <a:ext cx="5413828" cy="411379"/>
          </a:xfrm>
          <a:custGeom>
            <a:avLst/>
            <a:gdLst>
              <a:gd name="connsiteX0" fmla="*/ 5413828 w 5413828"/>
              <a:gd name="connsiteY0" fmla="*/ 0 h 174172"/>
              <a:gd name="connsiteX1" fmla="*/ 4252685 w 5413828"/>
              <a:gd name="connsiteY1" fmla="*/ 72572 h 174172"/>
              <a:gd name="connsiteX2" fmla="*/ 1146628 w 5413828"/>
              <a:gd name="connsiteY2" fmla="*/ 145143 h 174172"/>
              <a:gd name="connsiteX3" fmla="*/ 0 w 5413828"/>
              <a:gd name="connsiteY3" fmla="*/ 174172 h 174172"/>
              <a:gd name="connsiteX0" fmla="*/ 5413828 w 5413828"/>
              <a:gd name="connsiteY0" fmla="*/ 0 h 207870"/>
              <a:gd name="connsiteX1" fmla="*/ 4281713 w 5413828"/>
              <a:gd name="connsiteY1" fmla="*/ 203200 h 207870"/>
              <a:gd name="connsiteX2" fmla="*/ 1146628 w 5413828"/>
              <a:gd name="connsiteY2" fmla="*/ 145143 h 207870"/>
              <a:gd name="connsiteX3" fmla="*/ 0 w 5413828"/>
              <a:gd name="connsiteY3" fmla="*/ 174172 h 207870"/>
              <a:gd name="connsiteX0" fmla="*/ 5413828 w 5413828"/>
              <a:gd name="connsiteY0" fmla="*/ 13634 h 350292"/>
              <a:gd name="connsiteX1" fmla="*/ 4281713 w 5413828"/>
              <a:gd name="connsiteY1" fmla="*/ 216834 h 350292"/>
              <a:gd name="connsiteX2" fmla="*/ 1146628 w 5413828"/>
              <a:gd name="connsiteY2" fmla="*/ 158777 h 350292"/>
              <a:gd name="connsiteX3" fmla="*/ 0 w 5413828"/>
              <a:gd name="connsiteY3" fmla="*/ 187806 h 350292"/>
              <a:gd name="connsiteX0" fmla="*/ 5413828 w 5413828"/>
              <a:gd name="connsiteY0" fmla="*/ 13634 h 411379"/>
              <a:gd name="connsiteX1" fmla="*/ 4281713 w 5413828"/>
              <a:gd name="connsiteY1" fmla="*/ 216834 h 411379"/>
              <a:gd name="connsiteX2" fmla="*/ 1146628 w 5413828"/>
              <a:gd name="connsiteY2" fmla="*/ 158777 h 411379"/>
              <a:gd name="connsiteX3" fmla="*/ 0 w 5413828"/>
              <a:gd name="connsiteY3" fmla="*/ 187806 h 41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3828" h="411379">
                <a:moveTo>
                  <a:pt x="5413828" y="13634"/>
                </a:moveTo>
                <a:cubicBezTo>
                  <a:pt x="5188856" y="37825"/>
                  <a:pt x="4949370" y="-112156"/>
                  <a:pt x="4281713" y="216834"/>
                </a:cubicBezTo>
                <a:cubicBezTo>
                  <a:pt x="3614056" y="545824"/>
                  <a:pt x="1831219" y="410358"/>
                  <a:pt x="1146628" y="158777"/>
                </a:cubicBezTo>
                <a:cubicBezTo>
                  <a:pt x="476791" y="-87382"/>
                  <a:pt x="159657" y="173292"/>
                  <a:pt x="0" y="187806"/>
                </a:cubicBezTo>
              </a:path>
            </a:pathLst>
          </a:custGeom>
          <a:noFill/>
          <a:ln w="38100">
            <a:solidFill>
              <a:srgbClr val="C7000B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任意多边形 55"/>
          <p:cNvSpPr/>
          <p:nvPr/>
        </p:nvSpPr>
        <p:spPr bwMode="gray">
          <a:xfrm>
            <a:off x="1802221" y="3920518"/>
            <a:ext cx="4151085" cy="579575"/>
          </a:xfrm>
          <a:custGeom>
            <a:avLst/>
            <a:gdLst>
              <a:gd name="connsiteX0" fmla="*/ 4078514 w 4078514"/>
              <a:gd name="connsiteY0" fmla="*/ 0 h 203200"/>
              <a:gd name="connsiteX1" fmla="*/ 3207657 w 4078514"/>
              <a:gd name="connsiteY1" fmla="*/ 58057 h 203200"/>
              <a:gd name="connsiteX2" fmla="*/ 856343 w 4078514"/>
              <a:gd name="connsiteY2" fmla="*/ 188685 h 203200"/>
              <a:gd name="connsiteX3" fmla="*/ 0 w 4078514"/>
              <a:gd name="connsiteY3" fmla="*/ 203200 h 203200"/>
              <a:gd name="connsiteX0" fmla="*/ 4078514 w 4078514"/>
              <a:gd name="connsiteY0" fmla="*/ 46731 h 335850"/>
              <a:gd name="connsiteX1" fmla="*/ 3207657 w 4078514"/>
              <a:gd name="connsiteY1" fmla="*/ 104788 h 335850"/>
              <a:gd name="connsiteX2" fmla="*/ 856343 w 4078514"/>
              <a:gd name="connsiteY2" fmla="*/ 235416 h 335850"/>
              <a:gd name="connsiteX3" fmla="*/ 0 w 4078514"/>
              <a:gd name="connsiteY3" fmla="*/ 249931 h 335850"/>
              <a:gd name="connsiteX0" fmla="*/ 4078514 w 4078514"/>
              <a:gd name="connsiteY0" fmla="*/ 46731 h 440107"/>
              <a:gd name="connsiteX1" fmla="*/ 3207657 w 4078514"/>
              <a:gd name="connsiteY1" fmla="*/ 104788 h 440107"/>
              <a:gd name="connsiteX2" fmla="*/ 856343 w 4078514"/>
              <a:gd name="connsiteY2" fmla="*/ 235416 h 440107"/>
              <a:gd name="connsiteX3" fmla="*/ 0 w 4078514"/>
              <a:gd name="connsiteY3" fmla="*/ 249931 h 440107"/>
              <a:gd name="connsiteX0" fmla="*/ 4078514 w 4078514"/>
              <a:gd name="connsiteY0" fmla="*/ 46731 h 315049"/>
              <a:gd name="connsiteX1" fmla="*/ 3207657 w 4078514"/>
              <a:gd name="connsiteY1" fmla="*/ 104788 h 315049"/>
              <a:gd name="connsiteX2" fmla="*/ 856343 w 4078514"/>
              <a:gd name="connsiteY2" fmla="*/ 235416 h 315049"/>
              <a:gd name="connsiteX3" fmla="*/ 0 w 4078514"/>
              <a:gd name="connsiteY3" fmla="*/ 249931 h 315049"/>
              <a:gd name="connsiteX0" fmla="*/ 4151085 w 4151085"/>
              <a:gd name="connsiteY0" fmla="*/ 0 h 442490"/>
              <a:gd name="connsiteX1" fmla="*/ 3207657 w 4151085"/>
              <a:gd name="connsiteY1" fmla="*/ 232229 h 442490"/>
              <a:gd name="connsiteX2" fmla="*/ 856343 w 4151085"/>
              <a:gd name="connsiteY2" fmla="*/ 362857 h 442490"/>
              <a:gd name="connsiteX3" fmla="*/ 0 w 4151085"/>
              <a:gd name="connsiteY3" fmla="*/ 377372 h 442490"/>
              <a:gd name="connsiteX0" fmla="*/ 4151085 w 4151085"/>
              <a:gd name="connsiteY0" fmla="*/ 0 h 380518"/>
              <a:gd name="connsiteX1" fmla="*/ 3207657 w 4151085"/>
              <a:gd name="connsiteY1" fmla="*/ 174172 h 380518"/>
              <a:gd name="connsiteX2" fmla="*/ 856343 w 4151085"/>
              <a:gd name="connsiteY2" fmla="*/ 362857 h 380518"/>
              <a:gd name="connsiteX3" fmla="*/ 0 w 4151085"/>
              <a:gd name="connsiteY3" fmla="*/ 377372 h 380518"/>
              <a:gd name="connsiteX0" fmla="*/ 4151085 w 4151085"/>
              <a:gd name="connsiteY0" fmla="*/ 31765 h 412283"/>
              <a:gd name="connsiteX1" fmla="*/ 3207657 w 4151085"/>
              <a:gd name="connsiteY1" fmla="*/ 205937 h 412283"/>
              <a:gd name="connsiteX2" fmla="*/ 856343 w 4151085"/>
              <a:gd name="connsiteY2" fmla="*/ 394622 h 412283"/>
              <a:gd name="connsiteX3" fmla="*/ 0 w 4151085"/>
              <a:gd name="connsiteY3" fmla="*/ 409137 h 412283"/>
              <a:gd name="connsiteX0" fmla="*/ 4151085 w 4151085"/>
              <a:gd name="connsiteY0" fmla="*/ 31765 h 579575"/>
              <a:gd name="connsiteX1" fmla="*/ 3207657 w 4151085"/>
              <a:gd name="connsiteY1" fmla="*/ 205937 h 579575"/>
              <a:gd name="connsiteX2" fmla="*/ 856343 w 4151085"/>
              <a:gd name="connsiteY2" fmla="*/ 394622 h 579575"/>
              <a:gd name="connsiteX3" fmla="*/ 0 w 4151085"/>
              <a:gd name="connsiteY3" fmla="*/ 409137 h 57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1085" h="579575">
                <a:moveTo>
                  <a:pt x="4151085" y="31765"/>
                </a:moveTo>
                <a:cubicBezTo>
                  <a:pt x="3860799" y="51117"/>
                  <a:pt x="3771294" y="-130311"/>
                  <a:pt x="3207657" y="205937"/>
                </a:cubicBezTo>
                <a:cubicBezTo>
                  <a:pt x="2733224" y="488969"/>
                  <a:pt x="1492552" y="-16616"/>
                  <a:pt x="856343" y="394622"/>
                </a:cubicBezTo>
                <a:cubicBezTo>
                  <a:pt x="220134" y="805860"/>
                  <a:pt x="91924" y="401880"/>
                  <a:pt x="0" y="409137"/>
                </a:cubicBezTo>
              </a:path>
            </a:pathLst>
          </a:custGeom>
          <a:noFill/>
          <a:ln w="38100">
            <a:solidFill>
              <a:srgbClr val="C7000B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任意多边形 56"/>
          <p:cNvSpPr/>
          <p:nvPr/>
        </p:nvSpPr>
        <p:spPr bwMode="gray">
          <a:xfrm>
            <a:off x="1802221" y="4109643"/>
            <a:ext cx="4151085" cy="579575"/>
          </a:xfrm>
          <a:custGeom>
            <a:avLst/>
            <a:gdLst>
              <a:gd name="connsiteX0" fmla="*/ 4078514 w 4078514"/>
              <a:gd name="connsiteY0" fmla="*/ 0 h 203200"/>
              <a:gd name="connsiteX1" fmla="*/ 3207657 w 4078514"/>
              <a:gd name="connsiteY1" fmla="*/ 58057 h 203200"/>
              <a:gd name="connsiteX2" fmla="*/ 856343 w 4078514"/>
              <a:gd name="connsiteY2" fmla="*/ 188685 h 203200"/>
              <a:gd name="connsiteX3" fmla="*/ 0 w 4078514"/>
              <a:gd name="connsiteY3" fmla="*/ 203200 h 203200"/>
              <a:gd name="connsiteX0" fmla="*/ 4078514 w 4078514"/>
              <a:gd name="connsiteY0" fmla="*/ 46731 h 335850"/>
              <a:gd name="connsiteX1" fmla="*/ 3207657 w 4078514"/>
              <a:gd name="connsiteY1" fmla="*/ 104788 h 335850"/>
              <a:gd name="connsiteX2" fmla="*/ 856343 w 4078514"/>
              <a:gd name="connsiteY2" fmla="*/ 235416 h 335850"/>
              <a:gd name="connsiteX3" fmla="*/ 0 w 4078514"/>
              <a:gd name="connsiteY3" fmla="*/ 249931 h 335850"/>
              <a:gd name="connsiteX0" fmla="*/ 4078514 w 4078514"/>
              <a:gd name="connsiteY0" fmla="*/ 46731 h 440107"/>
              <a:gd name="connsiteX1" fmla="*/ 3207657 w 4078514"/>
              <a:gd name="connsiteY1" fmla="*/ 104788 h 440107"/>
              <a:gd name="connsiteX2" fmla="*/ 856343 w 4078514"/>
              <a:gd name="connsiteY2" fmla="*/ 235416 h 440107"/>
              <a:gd name="connsiteX3" fmla="*/ 0 w 4078514"/>
              <a:gd name="connsiteY3" fmla="*/ 249931 h 440107"/>
              <a:gd name="connsiteX0" fmla="*/ 4078514 w 4078514"/>
              <a:gd name="connsiteY0" fmla="*/ 46731 h 315049"/>
              <a:gd name="connsiteX1" fmla="*/ 3207657 w 4078514"/>
              <a:gd name="connsiteY1" fmla="*/ 104788 h 315049"/>
              <a:gd name="connsiteX2" fmla="*/ 856343 w 4078514"/>
              <a:gd name="connsiteY2" fmla="*/ 235416 h 315049"/>
              <a:gd name="connsiteX3" fmla="*/ 0 w 4078514"/>
              <a:gd name="connsiteY3" fmla="*/ 249931 h 315049"/>
              <a:gd name="connsiteX0" fmla="*/ 4151085 w 4151085"/>
              <a:gd name="connsiteY0" fmla="*/ 0 h 442490"/>
              <a:gd name="connsiteX1" fmla="*/ 3207657 w 4151085"/>
              <a:gd name="connsiteY1" fmla="*/ 232229 h 442490"/>
              <a:gd name="connsiteX2" fmla="*/ 856343 w 4151085"/>
              <a:gd name="connsiteY2" fmla="*/ 362857 h 442490"/>
              <a:gd name="connsiteX3" fmla="*/ 0 w 4151085"/>
              <a:gd name="connsiteY3" fmla="*/ 377372 h 442490"/>
              <a:gd name="connsiteX0" fmla="*/ 4151085 w 4151085"/>
              <a:gd name="connsiteY0" fmla="*/ 0 h 380518"/>
              <a:gd name="connsiteX1" fmla="*/ 3207657 w 4151085"/>
              <a:gd name="connsiteY1" fmla="*/ 174172 h 380518"/>
              <a:gd name="connsiteX2" fmla="*/ 856343 w 4151085"/>
              <a:gd name="connsiteY2" fmla="*/ 362857 h 380518"/>
              <a:gd name="connsiteX3" fmla="*/ 0 w 4151085"/>
              <a:gd name="connsiteY3" fmla="*/ 377372 h 380518"/>
              <a:gd name="connsiteX0" fmla="*/ 4151085 w 4151085"/>
              <a:gd name="connsiteY0" fmla="*/ 31765 h 412283"/>
              <a:gd name="connsiteX1" fmla="*/ 3207657 w 4151085"/>
              <a:gd name="connsiteY1" fmla="*/ 205937 h 412283"/>
              <a:gd name="connsiteX2" fmla="*/ 856343 w 4151085"/>
              <a:gd name="connsiteY2" fmla="*/ 394622 h 412283"/>
              <a:gd name="connsiteX3" fmla="*/ 0 w 4151085"/>
              <a:gd name="connsiteY3" fmla="*/ 409137 h 412283"/>
              <a:gd name="connsiteX0" fmla="*/ 4151085 w 4151085"/>
              <a:gd name="connsiteY0" fmla="*/ 31765 h 579575"/>
              <a:gd name="connsiteX1" fmla="*/ 3207657 w 4151085"/>
              <a:gd name="connsiteY1" fmla="*/ 205937 h 579575"/>
              <a:gd name="connsiteX2" fmla="*/ 856343 w 4151085"/>
              <a:gd name="connsiteY2" fmla="*/ 394622 h 579575"/>
              <a:gd name="connsiteX3" fmla="*/ 0 w 4151085"/>
              <a:gd name="connsiteY3" fmla="*/ 409137 h 57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1085" h="579575">
                <a:moveTo>
                  <a:pt x="4151085" y="31765"/>
                </a:moveTo>
                <a:cubicBezTo>
                  <a:pt x="3860799" y="51117"/>
                  <a:pt x="3771294" y="-130311"/>
                  <a:pt x="3207657" y="205937"/>
                </a:cubicBezTo>
                <a:cubicBezTo>
                  <a:pt x="2733224" y="488969"/>
                  <a:pt x="1492552" y="-16616"/>
                  <a:pt x="856343" y="394622"/>
                </a:cubicBezTo>
                <a:cubicBezTo>
                  <a:pt x="220134" y="805860"/>
                  <a:pt x="91924" y="401880"/>
                  <a:pt x="0" y="409137"/>
                </a:cubicBezTo>
              </a:path>
            </a:pathLst>
          </a:custGeom>
          <a:noFill/>
          <a:ln w="38100">
            <a:solidFill>
              <a:srgbClr val="C7000B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1178759" y="3900673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1190549" y="4269611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1190549" y="4546714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文本占位符 52"/>
          <p:cNvSpPr txBox="1">
            <a:spLocks/>
          </p:cNvSpPr>
          <p:nvPr/>
        </p:nvSpPr>
        <p:spPr bwMode="gray">
          <a:xfrm>
            <a:off x="6138404" y="1964438"/>
            <a:ext cx="5642654" cy="1782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600" dirty="0">
                <a:sym typeface="Huawei Sans" panose="020C0503030203020204" pitchFamily="34" charset="0"/>
              </a:rPr>
              <a:t>筛选全网质量较差的业务，例如业务</a:t>
            </a:r>
            <a:r>
              <a:rPr lang="en-US" altLang="zh-CN" sz="1600" dirty="0"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sym typeface="Huawei Sans" panose="020C0503030203020204" pitchFamily="34" charset="0"/>
              </a:rPr>
              <a:t>、业务</a:t>
            </a:r>
            <a:r>
              <a:rPr lang="en-US" altLang="zh-CN" sz="1600" dirty="0">
                <a:sym typeface="Huawei Sans" panose="020C0503030203020204" pitchFamily="34" charset="0"/>
              </a:rPr>
              <a:t>2</a:t>
            </a:r>
            <a:r>
              <a:rPr lang="zh-CN" altLang="en-US" sz="1600" dirty="0">
                <a:sym typeface="Huawei Sans" panose="020C0503030203020204" pitchFamily="34" charset="0"/>
              </a:rPr>
              <a:t>、业务</a:t>
            </a:r>
            <a:r>
              <a:rPr lang="en-US" altLang="zh-CN" sz="1600" dirty="0">
                <a:sym typeface="Huawei Sans" panose="020C0503030203020204" pitchFamily="34" charset="0"/>
              </a:rPr>
              <a:t>3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600" dirty="0">
                <a:sym typeface="Huawei Sans" panose="020C0503030203020204" pitchFamily="34" charset="0"/>
              </a:rPr>
              <a:t>智能计算三个业务的公共路径。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600" dirty="0">
                <a:sym typeface="Huawei Sans" panose="020C0503030203020204" pitchFamily="34" charset="0"/>
              </a:rPr>
              <a:t>选择其中一个业务进行</a:t>
            </a:r>
            <a:r>
              <a:rPr lang="en-US" altLang="zh-CN" sz="1600" dirty="0" err="1">
                <a:sym typeface="Huawei Sans" panose="020C0503030203020204" pitchFamily="34" charset="0"/>
              </a:rPr>
              <a:t>iFIT</a:t>
            </a:r>
            <a:r>
              <a:rPr lang="zh-CN" altLang="en-US" sz="1600" dirty="0">
                <a:sym typeface="Huawei Sans" panose="020C0503030203020204" pitchFamily="34" charset="0"/>
              </a:rPr>
              <a:t>故障检测。以业务</a:t>
            </a:r>
            <a:r>
              <a:rPr lang="en-US" altLang="zh-CN" sz="1600" dirty="0"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sym typeface="Huawei Sans" panose="020C0503030203020204" pitchFamily="34" charset="0"/>
              </a:rPr>
              <a:t>为例。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600" dirty="0">
                <a:sym typeface="Huawei Sans" panose="020C0503030203020204" pitchFamily="34" charset="0"/>
              </a:rPr>
              <a:t>基于逐跳</a:t>
            </a:r>
            <a:r>
              <a:rPr lang="en-US" altLang="zh-CN" sz="1600" dirty="0" err="1">
                <a:sym typeface="Huawei Sans" panose="020C0503030203020204" pitchFamily="34" charset="0"/>
              </a:rPr>
              <a:t>iFIT</a:t>
            </a:r>
            <a:r>
              <a:rPr lang="zh-CN" altLang="en-US" sz="1600" dirty="0">
                <a:sym typeface="Huawei Sans" panose="020C0503030203020204" pitchFamily="34" charset="0"/>
              </a:rPr>
              <a:t>检测，定界到</a:t>
            </a:r>
            <a:r>
              <a:rPr lang="en-US" altLang="zh-CN" sz="1600" dirty="0">
                <a:sym typeface="Huawei Sans" panose="020C0503030203020204" pitchFamily="34" charset="0"/>
              </a:rPr>
              <a:t>R5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55655" y="4681600"/>
            <a:ext cx="540000" cy="44280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82465" y="4681600"/>
            <a:ext cx="540000" cy="4428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9275" y="4681600"/>
            <a:ext cx="540000" cy="442800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="" xmlns:a16="http://schemas.microsoft.com/office/drawing/2014/main" id="{A22C7BA6-F0FE-4732-908F-CC73D6C144B1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836085" y="4681600"/>
            <a:ext cx="540000" cy="44280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 bwMode="gray">
          <a:xfrm>
            <a:off x="6178099" y="5170969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7704909" y="5170969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9231719" y="5170969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10758529" y="5170969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R6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圆角矩形 29"/>
          <p:cNvSpPr/>
          <p:nvPr>
            <p:custDataLst>
              <p:tags r:id="rId5"/>
            </p:custDataLst>
          </p:nvPr>
        </p:nvSpPr>
        <p:spPr bwMode="gray">
          <a:xfrm>
            <a:off x="6295664" y="3990101"/>
            <a:ext cx="5157976" cy="318779"/>
          </a:xfrm>
          <a:prstGeom prst="roundRect">
            <a:avLst/>
          </a:prstGeom>
          <a:solidFill>
            <a:srgbClr val="30B5C5"/>
          </a:solidFill>
          <a:ln w="9525" algn="ctr">
            <a:noFill/>
            <a:miter lim="800000"/>
          </a:ln>
          <a:extLst/>
        </p:spPr>
        <p:txBody>
          <a:bodyPr wrap="square" lIns="71943" tIns="71717" rIns="71943" bIns="71717" rtlCol="0" anchor="ctr" anchorCtr="0">
            <a:noAutofit/>
          </a:bodyPr>
          <a:lstStyle/>
          <a:p>
            <a:pPr algn="ctr" defTabSz="831688">
              <a:lnSpc>
                <a:spcPct val="150000"/>
              </a:lnSpc>
            </a:pPr>
            <a:r>
              <a:rPr lang="en-US" altLang="zh-CN" sz="14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iMaster NCE-IP</a:t>
            </a:r>
          </a:p>
        </p:txBody>
      </p:sp>
      <p:sp>
        <p:nvSpPr>
          <p:cNvPr id="92" name="上箭头 91"/>
          <p:cNvSpPr/>
          <p:nvPr/>
        </p:nvSpPr>
        <p:spPr bwMode="gray">
          <a:xfrm>
            <a:off x="6410659" y="4329004"/>
            <a:ext cx="229990" cy="307777"/>
          </a:xfrm>
          <a:prstGeom prst="upArrow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上箭头 92"/>
          <p:cNvSpPr/>
          <p:nvPr/>
        </p:nvSpPr>
        <p:spPr bwMode="gray">
          <a:xfrm>
            <a:off x="7937469" y="4329004"/>
            <a:ext cx="229990" cy="307777"/>
          </a:xfrm>
          <a:prstGeom prst="upArrow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上箭头 93"/>
          <p:cNvSpPr/>
          <p:nvPr/>
        </p:nvSpPr>
        <p:spPr bwMode="gray">
          <a:xfrm>
            <a:off x="9464279" y="4329004"/>
            <a:ext cx="229990" cy="307777"/>
          </a:xfrm>
          <a:prstGeom prst="upArrow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上箭头 94"/>
          <p:cNvSpPr/>
          <p:nvPr/>
        </p:nvSpPr>
        <p:spPr bwMode="gray">
          <a:xfrm>
            <a:off x="10991089" y="4329004"/>
            <a:ext cx="229990" cy="307777"/>
          </a:xfrm>
          <a:prstGeom prst="upArrow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5135643" y="4770824"/>
            <a:ext cx="695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3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判断题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sym typeface="Huawei Sans" panose="020C0503030203020204" pitchFamily="34" charset="0"/>
              </a:rPr>
              <a:t>一个</a:t>
            </a:r>
            <a:r>
              <a:rPr lang="en-US" altLang="zh-CN" dirty="0" smtClean="0">
                <a:sym typeface="Huawei Sans" panose="020C0503030203020204" pitchFamily="34" charset="0"/>
              </a:rPr>
              <a:t>SR Policy</a:t>
            </a:r>
            <a:r>
              <a:rPr lang="zh-CN" altLang="en-US" dirty="0" smtClean="0">
                <a:sym typeface="Huawei Sans" panose="020C0503030203020204" pitchFamily="34" charset="0"/>
              </a:rPr>
              <a:t>隧道由三元组标识</a:t>
            </a:r>
            <a:r>
              <a:rPr lang="en-US" altLang="zh-CN" dirty="0" smtClean="0">
                <a:sym typeface="Huawei Sans" panose="020C0503030203020204" pitchFamily="34" charset="0"/>
              </a:rPr>
              <a:t>&lt;</a:t>
            </a:r>
            <a:r>
              <a:rPr lang="en-US" altLang="zh-CN" dirty="0" err="1" smtClean="0">
                <a:sym typeface="Huawei Sans" panose="020C0503030203020204" pitchFamily="34" charset="0"/>
              </a:rPr>
              <a:t>Headend</a:t>
            </a:r>
            <a:r>
              <a:rPr lang="en-US" altLang="zh-CN" dirty="0" smtClean="0">
                <a:sym typeface="Huawei Sans" panose="020C0503030203020204" pitchFamily="34" charset="0"/>
              </a:rPr>
              <a:t>, Color, Endpoint&gt;</a:t>
            </a:r>
            <a:r>
              <a:rPr lang="zh-CN" altLang="en-US" dirty="0" smtClean="0">
                <a:sym typeface="Huawei Sans" panose="020C0503030203020204" pitchFamily="34" charset="0"/>
              </a:rPr>
              <a:t>，包含多条候选路径。</a:t>
            </a:r>
            <a:r>
              <a:rPr lang="en-US" altLang="zh-CN" dirty="0" smtClean="0">
                <a:sym typeface="Wingdings" pitchFamily="2" charset="2"/>
              </a:rPr>
              <a:t>(     )</a:t>
            </a:r>
          </a:p>
          <a:p>
            <a:pPr lvl="1"/>
            <a:r>
              <a:rPr lang="zh-CN" altLang="en-US" dirty="0">
                <a:sym typeface="Wingdings" pitchFamily="2" charset="2"/>
              </a:rPr>
              <a:t>正</a:t>
            </a:r>
            <a:r>
              <a:rPr lang="zh-CN" altLang="en-US" dirty="0" smtClean="0">
                <a:sym typeface="Wingdings" pitchFamily="2" charset="2"/>
              </a:rPr>
              <a:t>确</a:t>
            </a:r>
            <a:endParaRPr lang="en-US" altLang="zh-CN" dirty="0" smtClean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错误</a:t>
            </a:r>
            <a:endParaRPr lang="en-US" altLang="zh-CN" dirty="0" smtClean="0">
              <a:sym typeface="Wingdings" pitchFamily="2" charset="2"/>
            </a:endParaRPr>
          </a:p>
          <a:p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多选题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sym typeface="Huawei Sans" panose="020C0503030203020204" pitchFamily="34" charset="0"/>
              </a:rPr>
              <a:t>以下属于广域网承载技术的有哪些选项？</a:t>
            </a:r>
            <a:r>
              <a:rPr lang="en-US" altLang="zh-CN" dirty="0" smtClean="0">
                <a:sym typeface="Wingdings" pitchFamily="2" charset="2"/>
              </a:rPr>
              <a:t>(     )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SR-MPLS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SRv6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MPLS LDP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MPLS TE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93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本章节以拥有“两地三中心”和各地分支机构的大型企业为例，完整介绍企业广域承载网典型架构、承载技术、</a:t>
            </a:r>
            <a:r>
              <a:rPr lang="en-US" altLang="zh-CN" dirty="0">
                <a:sym typeface="Huawei Sans" panose="020C0503030203020204" pitchFamily="34" charset="0"/>
              </a:rPr>
              <a:t>VPN</a:t>
            </a:r>
            <a:r>
              <a:rPr lang="zh-CN" altLang="en-US" dirty="0">
                <a:sym typeface="Huawei Sans" panose="020C0503030203020204" pitchFamily="34" charset="0"/>
              </a:rPr>
              <a:t>业务、网络流量优化、</a:t>
            </a:r>
            <a:r>
              <a:rPr lang="en-US" altLang="zh-CN" dirty="0">
                <a:sym typeface="Huawei Sans" panose="020C0503030203020204" pitchFamily="34" charset="0"/>
              </a:rPr>
              <a:t>SLA</a:t>
            </a:r>
            <a:r>
              <a:rPr lang="zh-CN" altLang="en-US" dirty="0">
                <a:sym typeface="Huawei Sans" panose="020C0503030203020204" pitchFamily="34" charset="0"/>
              </a:rPr>
              <a:t>、可靠性、网络管理与分析等概念和技术原理。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在真实的生产网络中，需要工程师综合考虑现网情况，根据企业自有业务确定网络架构和技术应用等。</a:t>
            </a:r>
          </a:p>
        </p:txBody>
      </p:sp>
    </p:spTree>
    <p:extLst>
      <p:ext uri="{BB962C8B-B14F-4D97-AF65-F5344CB8AC3E}">
        <p14:creationId xmlns:p14="http://schemas.microsoft.com/office/powerpoint/2010/main" val="288936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38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9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2"/>
</p:tagLst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960F2-6186-408B-A0DC-5CA5E58B604F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475f1e55-3009-46d8-9566-5d569a2b3a98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B58C63-B05A-4FCE-BE84-8D1C024D5FED}"/>
</file>

<file path=customXml/itemProps3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1487</TotalTime>
  <Words>19501</Words>
  <Application>Microsoft Office PowerPoint</Application>
  <PresentationFormat>Widescreen</PresentationFormat>
  <Paragraphs>1945</Paragraphs>
  <Slides>89</Slides>
  <Notes>89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89</vt:i4>
      </vt:variant>
    </vt:vector>
  </HeadingPairs>
  <TitlesOfParts>
    <vt:vector size="101" baseType="lpstr">
      <vt:lpstr>Microsoft YaHei</vt:lpstr>
      <vt:lpstr>Microsoft YaHei</vt:lpstr>
      <vt:lpstr>方正兰亭黑简体</vt:lpstr>
      <vt:lpstr>Arial</vt:lpstr>
      <vt:lpstr>Calibri</vt:lpstr>
      <vt:lpstr>Huawei Sans</vt:lpstr>
      <vt:lpstr>Times New Roman</vt:lpstr>
      <vt:lpstr>Wingdings</vt:lpstr>
      <vt:lpstr>2_标题页模板</vt:lpstr>
      <vt:lpstr>3_功能页模板</vt:lpstr>
      <vt:lpstr>4_内容页模板</vt:lpstr>
      <vt:lpstr>5_感谢页模板</vt:lpstr>
      <vt:lpstr>PowerPoint Presentation</vt:lpstr>
      <vt:lpstr>企业广域承载网络架构与典型技术应用</vt:lpstr>
      <vt:lpstr>PowerPoint Presentation</vt:lpstr>
      <vt:lpstr>PowerPoint Presentation</vt:lpstr>
      <vt:lpstr>PowerPoint Presentation</vt:lpstr>
      <vt:lpstr>企业广域承载网典型架构</vt:lpstr>
      <vt:lpstr>广域承载网典型架构分层</vt:lpstr>
      <vt:lpstr>广域承载网典型架构技术应用</vt:lpstr>
      <vt:lpstr>PowerPoint Presentation</vt:lpstr>
      <vt:lpstr>MPLS简介</vt:lpstr>
      <vt:lpstr>MPLS术语介绍 (1)</vt:lpstr>
      <vt:lpstr>MPLS术语介绍 (2)</vt:lpstr>
      <vt:lpstr>MPLS术语介绍 (3)</vt:lpstr>
      <vt:lpstr>MPLS LDP简介</vt:lpstr>
      <vt:lpstr>MPLS TE简介</vt:lpstr>
      <vt:lpstr>MPLS TE隧道</vt:lpstr>
      <vt:lpstr>MPLS LDP与RSVP-TE存在的问题</vt:lpstr>
      <vt:lpstr>Segment Routing MPLS简介</vt:lpstr>
      <vt:lpstr>SR-MPLS BE与SR-MPLS TE</vt:lpstr>
      <vt:lpstr>SR-MPLS Policy</vt:lpstr>
      <vt:lpstr>Segment Routing IPv6简介</vt:lpstr>
      <vt:lpstr>SRv6扩展头</vt:lpstr>
      <vt:lpstr>小结：广域承载技术</vt:lpstr>
      <vt:lpstr>PowerPoint Presentation</vt:lpstr>
      <vt:lpstr>VPN分类</vt:lpstr>
      <vt:lpstr>广域VPN业务简介</vt:lpstr>
      <vt:lpstr>传统广域L2VPN介绍</vt:lpstr>
      <vt:lpstr>传统广域L3VPN介绍</vt:lpstr>
      <vt:lpstr>广域EVPN介绍</vt:lpstr>
      <vt:lpstr>广域EVPN应用</vt:lpstr>
      <vt:lpstr>小结：广域VPN</vt:lpstr>
      <vt:lpstr>PowerPoint Presentation</vt:lpstr>
      <vt:lpstr>隧道管理</vt:lpstr>
      <vt:lpstr>配置隧道策略</vt:lpstr>
      <vt:lpstr>VPN应用隧道策略</vt:lpstr>
      <vt:lpstr>扩展：SR Policy引流</vt:lpstr>
      <vt:lpstr>PowerPoint Presentation</vt:lpstr>
      <vt:lpstr>网络拥塞背景</vt:lpstr>
      <vt:lpstr>网络流量优化介绍</vt:lpstr>
      <vt:lpstr>网络信息采集</vt:lpstr>
      <vt:lpstr>网络调优计算</vt:lpstr>
      <vt:lpstr>调优结果下发</vt:lpstr>
      <vt:lpstr>PowerPoint Presentation</vt:lpstr>
      <vt:lpstr>承载网SLA保障新诉求</vt:lpstr>
      <vt:lpstr>基于切片的承载网：一网多用，承载多业务，降低成本</vt:lpstr>
      <vt:lpstr>QoS简介</vt:lpstr>
      <vt:lpstr>基于DiffServ模型的QoS组件</vt:lpstr>
      <vt:lpstr>华为设备QoS的处理顺序</vt:lpstr>
      <vt:lpstr>简单流分类</vt:lpstr>
      <vt:lpstr>DSCP/IP-Precedence/802.1p/EXP的对应关系</vt:lpstr>
      <vt:lpstr>流量监管与流量整形</vt:lpstr>
      <vt:lpstr>拥塞管理与拥塞避免</vt:lpstr>
      <vt:lpstr>队列分组调度顺序</vt:lpstr>
      <vt:lpstr>广域网QoS应用：流标记</vt:lpstr>
      <vt:lpstr>广域网QoS应用：流调度</vt:lpstr>
      <vt:lpstr>QoS的不足</vt:lpstr>
      <vt:lpstr>HQoS为用户提供调度和带宽保障 </vt:lpstr>
      <vt:lpstr>HQoS各调度器CIR不超配，提供用户级带宽保障</vt:lpstr>
      <vt:lpstr>信道化子接口在HQoS上增加管理实体，提供SLA保障 </vt:lpstr>
      <vt:lpstr>FlexE技术兼容以太网，提供独立资源，提供隔离和确定性保障</vt:lpstr>
      <vt:lpstr>FlexE基本结构 </vt:lpstr>
      <vt:lpstr>切片技术比较</vt:lpstr>
      <vt:lpstr>切片技术的实现方式</vt:lpstr>
      <vt:lpstr>网络分片方案举例：SRv6 &amp; SliceID </vt:lpstr>
      <vt:lpstr>PowerPoint Presentation</vt:lpstr>
      <vt:lpstr>广域网可靠性简介</vt:lpstr>
      <vt:lpstr>TE隧道故障保护技术基础</vt:lpstr>
      <vt:lpstr>TI-LFA FRR</vt:lpstr>
      <vt:lpstr>端到端保护的局限</vt:lpstr>
      <vt:lpstr>VPN FRR</vt:lpstr>
      <vt:lpstr>IP FRR</vt:lpstr>
      <vt:lpstr>小结：网络多级保护</vt:lpstr>
      <vt:lpstr>PowerPoint Presentation</vt:lpstr>
      <vt:lpstr>广域网网络管理与运维</vt:lpstr>
      <vt:lpstr>SNMP</vt:lpstr>
      <vt:lpstr>NETCONF</vt:lpstr>
      <vt:lpstr>Telemetry</vt:lpstr>
      <vt:lpstr>BGP-LS</vt:lpstr>
      <vt:lpstr>TWAMP</vt:lpstr>
      <vt:lpstr>TWAMP Light</vt:lpstr>
      <vt:lpstr>TWAMP应用场景</vt:lpstr>
      <vt:lpstr>iFIT</vt:lpstr>
      <vt:lpstr>iFIT for VPN over SRv6场景 </vt:lpstr>
      <vt:lpstr>iFIT for SRv6 Policy场景 </vt:lpstr>
      <vt:lpstr>基于iFIT呈现业务路径</vt:lpstr>
      <vt:lpstr>基于iFIT定位故障点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Wuyuezjhw (Monk)</cp:lastModifiedBy>
  <cp:revision>191</cp:revision>
  <cp:lastPrinted>2020-07-31T09:33:18Z</cp:lastPrinted>
  <dcterms:created xsi:type="dcterms:W3CDTF">2018-11-29T10:16:29Z</dcterms:created>
  <dcterms:modified xsi:type="dcterms:W3CDTF">2021-10-14T06:48:17Z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(3)q5uuV/pEQRpuWF/pedf8LPDKXhT98ZWUYAEwYgF6/u4vYrRWSO+0Cf7M2shfS7y3vrIW2r0f
2W35on2yw8CBcTcnJ2gA7+ZZMiOkcA9aI796kYPgaWEiRp9XuZjIrMBAkiEY7SSIuQzGhV5Z
N1qsiHy2rTyUPxEUN6tTvOPoldqz+HPjN5fLWliSKxzKUtI8CX0TkPVmKkEWt4E0a0ISXV9Y
cPkLISg2ihB0rMKO2S</vt:lpwstr>
  </property>
  <property fmtid="{D5CDD505-2E9C-101B-9397-08002B2CF9AE}" pid="3" name="_2015_ms_pID_7253431">
    <vt:lpwstr>i/SOv5OnZXCo2NK3E2NxjRZQbLQOQSQWO5iohHuW//gCcmFeCD49d4
A1JGDWMXBI/qzLcEXkGAkPA719ZK6AzDWQCKqyzroO6lsyICYlQaJ4/MGEnOmDx0NAPCCofA
4CNBZdNC5momo3rK6XZwrDYAdyGpSIn4ND1AkCaamCudQZ+nwxOC8eGoFzNbHW7IKAnqHMZc
90l1Y0FeJxUX9bAQpVfM/p6GoGvJ/ToCSP5W</vt:lpwstr>
  </property>
  <property fmtid="{D5CDD505-2E9C-101B-9397-08002B2CF9AE}" pid="4" name="_2015_ms_pID_7253432">
    <vt:lpwstr>yee2kF/egWytUm7OyUmKtjc=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1633313247</vt:lpwstr>
  </property>
</Properties>
</file>