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41" r:id="rId4"/>
    <p:sldMasterId id="2147483825" r:id="rId5"/>
    <p:sldMasterId id="2147483848" r:id="rId6"/>
    <p:sldMasterId id="2147483867" r:id="rId7"/>
  </p:sldMasterIdLst>
  <p:notesMasterIdLst>
    <p:notesMasterId r:id="rId41"/>
  </p:notesMasterIdLst>
  <p:handoutMasterIdLst>
    <p:handoutMasterId r:id="rId42"/>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yueyuezjhw" initials="l" lastIdx="3" clrIdx="0">
    <p:extLst>
      <p:ext uri="{19B8F6BF-5375-455C-9EA6-DF929625EA0E}">
        <p15:presenceInfo xmlns:p15="http://schemas.microsoft.com/office/powerpoint/2012/main" userId="S-1-5-21-147214757-305610072-1517763936-4736116" providerId="AD"/>
      </p:ext>
    </p:extLst>
  </p:cmAuthor>
  <p:cmAuthor id="2" name="Wuyuezjhw (Monk)" initials="W(" lastIdx="5" clrIdx="1">
    <p:extLst>
      <p:ext uri="{19B8F6BF-5375-455C-9EA6-DF929625EA0E}">
        <p15:presenceInfo xmlns:p15="http://schemas.microsoft.com/office/powerpoint/2012/main" userId="S-1-5-21-147214757-305610072-1517763936-319361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6DE"/>
    <a:srgbClr val="FEEEC1"/>
    <a:srgbClr val="30B5C5"/>
    <a:srgbClr val="ED6D00"/>
    <a:srgbClr val="D0E8C4"/>
    <a:srgbClr val="56C4D2"/>
    <a:srgbClr val="94DAE2"/>
    <a:srgbClr val="C7000B"/>
    <a:srgbClr val="404040"/>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24" autoAdjust="0"/>
    <p:restoredTop sz="93724" autoAdjust="0"/>
  </p:normalViewPr>
  <p:slideViewPr>
    <p:cSldViewPr snapToGrid="0" snapToObjects="1">
      <p:cViewPr varScale="1">
        <p:scale>
          <a:sx n="85" d="100"/>
          <a:sy n="85" d="100"/>
        </p:scale>
        <p:origin x="40" y="64"/>
      </p:cViewPr>
      <p:guideLst/>
    </p:cSldViewPr>
  </p:slideViewPr>
  <p:outlineViewPr>
    <p:cViewPr>
      <p:scale>
        <a:sx n="33" d="100"/>
        <a:sy n="33" d="100"/>
      </p:scale>
      <p:origin x="0" y="-8898"/>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p:scale>
          <a:sx n="125" d="100"/>
          <a:sy n="125" d="100"/>
        </p:scale>
        <p:origin x="2868" y="-2274"/>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commentAuthors" Target="commentAuthor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4/16/2023</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16309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幻灯片图像占位符 16"/>
          <p:cNvSpPr>
            <a:spLocks noGrp="1" noRot="1" noChangeAspect="1"/>
          </p:cNvSpPr>
          <p:nvPr>
            <p:ph type="sldImg"/>
          </p:nvPr>
        </p:nvSpPr>
        <p:spPr>
          <a:xfrm>
            <a:off x="742950" y="717550"/>
            <a:ext cx="5557838" cy="3125788"/>
          </a:xfrm>
        </p:spPr>
      </p:sp>
      <p:sp>
        <p:nvSpPr>
          <p:cNvPr id="18" name="备注占位符 17"/>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23188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338345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05776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88759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随着无线网络的建设与推广，园区网络的边界在消失，企业员工的办公位置变得更加灵活。</a:t>
            </a:r>
            <a:endParaRPr lang="en-US" altLang="zh-CN" dirty="0"/>
          </a:p>
          <a:p>
            <a:r>
              <a:rPr lang="zh-CN" altLang="en-US" dirty="0"/>
              <a:t>员工接入位置的大范围移动，一方面提高了企业的生产效率，另外一方面也带来了企业网络管理和网络安全上的挑战。移动办公使得员工主机的</a:t>
            </a:r>
            <a:r>
              <a:rPr lang="en-US" altLang="zh-CN" dirty="0"/>
              <a:t>IP</a:t>
            </a:r>
            <a:r>
              <a:rPr lang="zh-CN" altLang="en-US" dirty="0"/>
              <a:t>地址经常发生变化，而传统园区中基于</a:t>
            </a:r>
            <a:r>
              <a:rPr lang="en-US" altLang="zh-CN" dirty="0"/>
              <a:t>IP</a:t>
            </a:r>
            <a:r>
              <a:rPr lang="zh-CN" altLang="en-US" dirty="0"/>
              <a:t>地址来进行员工权限控制的方法无法适应这种变化。</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66315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员工移动办公希望打破这一局限性，允许员工从网络中的任意位置、任意</a:t>
            </a:r>
            <a:r>
              <a:rPr lang="en-US" altLang="zh-CN" dirty="0"/>
              <a:t>VLAN</a:t>
            </a:r>
            <a:r>
              <a:rPr lang="zh-CN" altLang="en-US" dirty="0"/>
              <a:t>、任意</a:t>
            </a:r>
            <a:r>
              <a:rPr lang="en-US" altLang="zh-CN" dirty="0"/>
              <a:t>IP</a:t>
            </a:r>
            <a:r>
              <a:rPr lang="zh-CN" altLang="en-US" dirty="0"/>
              <a:t>网段接入时，享有一致的网络访问权限。同时管理员还希望有一种简单的，与网络拓扑和</a:t>
            </a:r>
            <a:r>
              <a:rPr lang="en-US" altLang="zh-CN" dirty="0"/>
              <a:t>IP</a:t>
            </a:r>
            <a:r>
              <a:rPr lang="zh-CN" altLang="en-US" dirty="0"/>
              <a:t>地址分配无关的策略管控方法。</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748008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业务策略与</a:t>
            </a:r>
            <a:r>
              <a:rPr lang="en-US" altLang="zh-CN" dirty="0"/>
              <a:t>IP</a:t>
            </a:r>
            <a:r>
              <a:rPr lang="zh-CN" altLang="en-US" dirty="0"/>
              <a:t>地址解耦：</a:t>
            </a:r>
          </a:p>
          <a:p>
            <a:pPr lvl="1"/>
            <a:r>
              <a:rPr lang="zh-CN" altLang="en-US" dirty="0"/>
              <a:t>管理员可以在</a:t>
            </a:r>
            <a:r>
              <a:rPr lang="en-US" altLang="zh-CN" dirty="0" err="1"/>
              <a:t>iMaster</a:t>
            </a:r>
            <a:r>
              <a:rPr lang="en-US" altLang="zh-CN" dirty="0"/>
              <a:t> NCE-Campus</a:t>
            </a:r>
            <a:r>
              <a:rPr lang="zh-CN" altLang="en-US" dirty="0"/>
              <a:t>控制器上从多种维度将全网用户及资源划分为不同的“安全组”。同时通过创新软硬件设计，设备在进行策略匹配时，可以先根据报文的源</a:t>
            </a:r>
            <a:r>
              <a:rPr lang="en-US" altLang="zh-CN" dirty="0"/>
              <a:t>/</a:t>
            </a:r>
            <a:r>
              <a:rPr lang="zh-CN" altLang="en-US" dirty="0"/>
              <a:t>目的</a:t>
            </a:r>
            <a:r>
              <a:rPr lang="en-US" altLang="zh-CN" dirty="0"/>
              <a:t>IP</a:t>
            </a:r>
            <a:r>
              <a:rPr lang="zh-CN" altLang="en-US" dirty="0"/>
              <a:t>地址去匹配源</a:t>
            </a:r>
            <a:r>
              <a:rPr lang="en-US" altLang="zh-CN" dirty="0"/>
              <a:t>/</a:t>
            </a:r>
            <a:r>
              <a:rPr lang="zh-CN" altLang="en-US" dirty="0"/>
              <a:t>目的安全组，再根据报文的源</a:t>
            </a:r>
            <a:r>
              <a:rPr lang="en-US" altLang="zh-CN" dirty="0"/>
              <a:t>/</a:t>
            </a:r>
            <a:r>
              <a:rPr lang="zh-CN" altLang="en-US" dirty="0"/>
              <a:t>目的安全组去匹配管理员预定义的组间策略。</a:t>
            </a:r>
          </a:p>
          <a:p>
            <a:pPr lvl="1"/>
            <a:r>
              <a:rPr lang="zh-CN" altLang="en-US" dirty="0"/>
              <a:t>通过这样的创新，可以将传统网络中基于用户和</a:t>
            </a:r>
            <a:r>
              <a:rPr lang="en-US" altLang="zh-CN" dirty="0"/>
              <a:t>IP</a:t>
            </a:r>
            <a:r>
              <a:rPr lang="zh-CN" altLang="en-US" dirty="0"/>
              <a:t>地址的业务策略全部迁移到基于安全组的策略上来。而管理员在预定义业务策略时可以无需考虑用户实际使用的</a:t>
            </a:r>
            <a:r>
              <a:rPr lang="en-US" altLang="zh-CN" dirty="0"/>
              <a:t>IP</a:t>
            </a:r>
            <a:r>
              <a:rPr lang="zh-CN" altLang="en-US" dirty="0"/>
              <a:t>地址，实现业务策略与</a:t>
            </a:r>
            <a:r>
              <a:rPr lang="en-US" altLang="zh-CN" dirty="0"/>
              <a:t>IP</a:t>
            </a:r>
            <a:r>
              <a:rPr lang="zh-CN" altLang="en-US" dirty="0"/>
              <a:t>地址的完全解耦。</a:t>
            </a:r>
          </a:p>
          <a:p>
            <a:r>
              <a:rPr lang="zh-CN" altLang="en-US" dirty="0"/>
              <a:t>用户信息集中管理：</a:t>
            </a:r>
          </a:p>
          <a:p>
            <a:pPr lvl="1"/>
            <a:r>
              <a:rPr lang="zh-CN" altLang="en-US" dirty="0"/>
              <a:t>管理员可以通过</a:t>
            </a:r>
            <a:r>
              <a:rPr lang="en-US" altLang="zh-CN" dirty="0" err="1"/>
              <a:t>iMaster</a:t>
            </a:r>
            <a:r>
              <a:rPr lang="en-US" altLang="zh-CN" dirty="0"/>
              <a:t> NCE-Campus</a:t>
            </a:r>
            <a:r>
              <a:rPr lang="zh-CN" altLang="en-US" dirty="0"/>
              <a:t>控制器实现用户认证与上线信息的集中管理，获取到全网用户和</a:t>
            </a:r>
            <a:r>
              <a:rPr lang="en-US" altLang="zh-CN" dirty="0"/>
              <a:t>IP</a:t>
            </a:r>
            <a:r>
              <a:rPr lang="zh-CN" altLang="en-US" dirty="0"/>
              <a:t>地址的对应关系。</a:t>
            </a:r>
            <a:endParaRPr lang="en-US" altLang="zh-CN" dirty="0"/>
          </a:p>
          <a:p>
            <a:r>
              <a:rPr lang="zh-CN" altLang="en-US" dirty="0"/>
              <a:t>策略集中管理：</a:t>
            </a:r>
          </a:p>
          <a:p>
            <a:pPr lvl="1"/>
            <a:r>
              <a:rPr lang="en-US" altLang="zh-CN" dirty="0" err="1"/>
              <a:t>iMaster</a:t>
            </a:r>
            <a:r>
              <a:rPr lang="en-US" altLang="zh-CN" dirty="0"/>
              <a:t> NCE-Campus</a:t>
            </a:r>
            <a:r>
              <a:rPr lang="zh-CN" altLang="en-US" dirty="0"/>
              <a:t>控制器不仅是园区的认证中心，同时也是业务策略的管理中心。管理员可以在控制器上统一管理全网策略执行设备上的业务策略。管理员只需要配置一次，就可以将这些业务策略自动下发到全网的执行设备上。这些策略包括权限策略（例如禁止</a:t>
            </a:r>
            <a:r>
              <a:rPr lang="en-US" altLang="zh-CN" dirty="0"/>
              <a:t>A</a:t>
            </a:r>
            <a:r>
              <a:rPr lang="zh-CN" altLang="en-US" dirty="0"/>
              <a:t>组访问</a:t>
            </a:r>
            <a:r>
              <a:rPr lang="en-US" altLang="zh-CN" dirty="0"/>
              <a:t>B</a:t>
            </a:r>
            <a:r>
              <a:rPr lang="zh-CN" altLang="en-US" dirty="0"/>
              <a:t>组）和体验保证策略（例如控制</a:t>
            </a:r>
            <a:r>
              <a:rPr lang="en-US" altLang="zh-CN" dirty="0"/>
              <a:t>A</a:t>
            </a:r>
            <a:r>
              <a:rPr lang="zh-CN" altLang="en-US" dirty="0"/>
              <a:t>组的转发带宽和转发优先级）。</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07369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业务随行提出了安全组的概念，安全组仅与用户身份有关，与用户</a:t>
            </a:r>
            <a:r>
              <a:rPr lang="en-US" altLang="zh-CN" dirty="0"/>
              <a:t>VLAN</a:t>
            </a:r>
            <a:r>
              <a:rPr lang="zh-CN" altLang="en-US" dirty="0"/>
              <a:t>、</a:t>
            </a:r>
            <a:r>
              <a:rPr lang="en-US" altLang="zh-CN" dirty="0"/>
              <a:t>IP</a:t>
            </a:r>
            <a:r>
              <a:rPr lang="zh-CN" altLang="en-US" dirty="0"/>
              <a:t>等网络信息完全解耦。</a:t>
            </a:r>
            <a:endParaRPr lang="en-US" altLang="zh-CN" dirty="0"/>
          </a:p>
          <a:p>
            <a:r>
              <a:rPr lang="zh-CN" altLang="en-US" dirty="0"/>
              <a:t>用户策略管理与权限控制都基于安全组执行。</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1027702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223125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关于策略执行点设备的补充说明：</a:t>
            </a:r>
          </a:p>
          <a:p>
            <a:pPr lvl="1"/>
            <a:r>
              <a:rPr lang="zh-CN" altLang="en-US" dirty="0"/>
              <a:t>执行点设备负责执行基于安全组的业务策略。执行业务策略的前提条件是执行点设备可以识别报文的源组</a:t>
            </a:r>
            <a:r>
              <a:rPr lang="en-US" altLang="zh-CN" dirty="0"/>
              <a:t>/</a:t>
            </a:r>
            <a:r>
              <a:rPr lang="zh-CN" altLang="en-US" dirty="0"/>
              <a:t>目的组信息，而</a:t>
            </a:r>
            <a:r>
              <a:rPr lang="en-US" altLang="zh-CN" dirty="0"/>
              <a:t>IP</a:t>
            </a:r>
            <a:r>
              <a:rPr lang="zh-CN" altLang="en-US" dirty="0"/>
              <a:t>地址与安全组的映射关系可以通过认证或由</a:t>
            </a:r>
            <a:r>
              <a:rPr lang="en-US" altLang="zh-CN" dirty="0" err="1"/>
              <a:t>iMaster</a:t>
            </a:r>
            <a:r>
              <a:rPr lang="en-US" altLang="zh-CN" dirty="0"/>
              <a:t> NCE-Campus</a:t>
            </a:r>
            <a:r>
              <a:rPr lang="zh-CN" altLang="en-US" dirty="0"/>
              <a:t>推送方式获取。</a:t>
            </a:r>
          </a:p>
          <a:p>
            <a:pPr lvl="1"/>
            <a:r>
              <a:rPr lang="zh-CN" altLang="en-US" dirty="0"/>
              <a:t>认证点设备和策略执行点设备是两种设备角色。根据管理员的配置和设备的能力，同一台物理设备既可以同时担任这两种角色，也可以只担任其中的一种角色。</a:t>
            </a:r>
            <a:endParaRPr lang="en-US" altLang="zh-CN" dirty="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7080724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安全组：</a:t>
            </a:r>
            <a:endParaRPr lang="en-US" altLang="zh-CN" dirty="0"/>
          </a:p>
          <a:p>
            <a:pPr lvl="1"/>
            <a:r>
              <a:rPr lang="zh-CN" altLang="en-US" dirty="0"/>
              <a:t>管理员通过定义安全组，可以将网络中流量的源端或目的端通过组的形式描述和组织起来。管理员要想控制它们之间的互访，就需要先把它们在控制器上定义出来。</a:t>
            </a:r>
          </a:p>
          <a:p>
            <a:pPr lvl="1"/>
            <a:r>
              <a:rPr lang="zh-CN" altLang="en-US" dirty="0"/>
              <a:t>网络对象因为其在网络访问上的“共通性”而被网络管理员划分为同一个安全组，基于安全组配置的策略而获得相同的权限。例如“研发组”（个人主机的集合）、“打印机组”（全网所有打印机的集合）、“数据库服务器组”（服务器</a:t>
            </a:r>
            <a:r>
              <a:rPr lang="en-US" altLang="zh-CN" dirty="0"/>
              <a:t>IP+</a:t>
            </a:r>
            <a:r>
              <a:rPr lang="zh-CN" altLang="en-US" dirty="0"/>
              <a:t>端口的集合）。相对于为每个用户部署网络访问策略，基于安全组的网络控制方案能够极大的减少管理员的工作量。</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7929686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安全组的划分：</a:t>
            </a:r>
            <a:endParaRPr lang="en-US" altLang="zh-CN" dirty="0"/>
          </a:p>
          <a:p>
            <a:pPr lvl="1"/>
            <a:r>
              <a:rPr lang="zh-CN" altLang="en-US" dirty="0"/>
              <a:t>同一个安全组既可以与多条授权规则绑定来表示动态用户，也可以与多个</a:t>
            </a:r>
            <a:r>
              <a:rPr lang="en-US" altLang="zh-CN" dirty="0"/>
              <a:t>IP</a:t>
            </a:r>
            <a:r>
              <a:rPr lang="zh-CN" altLang="en-US" dirty="0"/>
              <a:t>地址或</a:t>
            </a:r>
            <a:r>
              <a:rPr lang="en-US" altLang="zh-CN" dirty="0"/>
              <a:t>IP</a:t>
            </a:r>
            <a:r>
              <a:rPr lang="zh-CN" altLang="en-US" dirty="0"/>
              <a:t>网段绑定来表示静态资源，它们的区别在于：</a:t>
            </a:r>
          </a:p>
          <a:p>
            <a:pPr lvl="2"/>
            <a:r>
              <a:rPr lang="zh-CN" altLang="en-US" dirty="0"/>
              <a:t>动态安全组的用户</a:t>
            </a:r>
            <a:r>
              <a:rPr lang="en-US" altLang="zh-CN" dirty="0"/>
              <a:t>IP</a:t>
            </a:r>
            <a:r>
              <a:rPr lang="zh-CN" altLang="en-US" dirty="0"/>
              <a:t>地址是不固定的，是在用户认证之后动态地与安全组关联，在用户注销后，也会动态地解除关联。用户</a:t>
            </a:r>
            <a:r>
              <a:rPr lang="en-US" altLang="zh-CN" dirty="0"/>
              <a:t>IP</a:t>
            </a:r>
            <a:r>
              <a:rPr lang="zh-CN" altLang="en-US" dirty="0"/>
              <a:t>与安全组之间的映射关系只在用户在线期间有效。而网络设备需要通过作为用户的认证点设备，或者由控制器推送</a:t>
            </a:r>
            <a:r>
              <a:rPr lang="en-US" altLang="zh-CN" dirty="0"/>
              <a:t>IP</a:t>
            </a:r>
            <a:r>
              <a:rPr lang="zh-CN" altLang="en-US" dirty="0"/>
              <a:t>与安全组的映射关系，即</a:t>
            </a:r>
            <a:r>
              <a:rPr lang="en-US" altLang="zh-CN" dirty="0"/>
              <a:t>IP-</a:t>
            </a:r>
            <a:r>
              <a:rPr lang="zh-CN" altLang="en-US" dirty="0"/>
              <a:t>安全组（</a:t>
            </a:r>
            <a:r>
              <a:rPr lang="en-US" altLang="zh-CN" dirty="0"/>
              <a:t>IP-Group</a:t>
            </a:r>
            <a:r>
              <a:rPr lang="zh-CN" altLang="en-US" dirty="0"/>
              <a:t>）表项。</a:t>
            </a:r>
          </a:p>
          <a:p>
            <a:pPr lvl="2"/>
            <a:r>
              <a:rPr lang="zh-CN" altLang="en-US" dirty="0"/>
              <a:t>静态资源的</a:t>
            </a:r>
            <a:r>
              <a:rPr lang="en-US" altLang="zh-CN" dirty="0"/>
              <a:t>IP</a:t>
            </a:r>
            <a:r>
              <a:rPr lang="zh-CN" altLang="en-US" dirty="0"/>
              <a:t>地址是固定的，是由管理员通过配置绑定的，用户</a:t>
            </a:r>
            <a:r>
              <a:rPr lang="en-US" altLang="zh-CN" dirty="0"/>
              <a:t>IP</a:t>
            </a:r>
            <a:r>
              <a:rPr lang="zh-CN" altLang="en-US" dirty="0"/>
              <a:t>与安全组的映射关系由管理员在控制器上定义后同步给策略执行点。使用固定</a:t>
            </a:r>
            <a:r>
              <a:rPr lang="en-US" altLang="zh-CN" dirty="0"/>
              <a:t>IP</a:t>
            </a:r>
            <a:r>
              <a:rPr lang="zh-CN" altLang="en-US" dirty="0"/>
              <a:t>地址的终端可以配置为静态安全组，包括服务器，网络设备的接口，以及使用固定的</a:t>
            </a:r>
            <a:r>
              <a:rPr lang="en-US" altLang="zh-CN" dirty="0"/>
              <a:t>IP</a:t>
            </a:r>
            <a:r>
              <a:rPr lang="zh-CN" altLang="en-US" dirty="0"/>
              <a:t>地址免认证接入的特殊用户等所有可用</a:t>
            </a:r>
            <a:r>
              <a:rPr lang="en-US" altLang="zh-CN" dirty="0"/>
              <a:t>IP</a:t>
            </a:r>
            <a:r>
              <a:rPr lang="zh-CN" altLang="en-US" dirty="0"/>
              <a:t>地址描述的网络成员。</a:t>
            </a:r>
            <a:endParaRPr lang="en-US" altLang="zh-CN" dirty="0"/>
          </a:p>
          <a:p>
            <a:pPr lvl="1"/>
            <a:r>
              <a:rPr lang="zh-CN" altLang="en-US" dirty="0"/>
              <a:t>如果一个</a:t>
            </a:r>
            <a:r>
              <a:rPr lang="en-US" altLang="zh-CN" dirty="0"/>
              <a:t>IP</a:t>
            </a:r>
            <a:r>
              <a:rPr lang="zh-CN" altLang="en-US" dirty="0"/>
              <a:t>地址同时以认证方式和静态绑定方式分别加入了不同组，则以认证方式授权的动态组为优先。同一个</a:t>
            </a:r>
            <a:r>
              <a:rPr lang="en-US" altLang="zh-CN" dirty="0"/>
              <a:t>IP</a:t>
            </a:r>
            <a:r>
              <a:rPr lang="zh-CN" altLang="en-US" dirty="0"/>
              <a:t>地址，只能加入一个安全组中。</a:t>
            </a:r>
            <a:endParaRPr lang="en-US" altLang="zh-CN" dirty="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6322152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53166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对于哑终端、数据中心服务器资源、免认证用户，这些用户或资源接入网络的时候不需要经过认证，所以无法通过</a:t>
            </a:r>
            <a:r>
              <a:rPr lang="en-US" altLang="zh-CN"/>
              <a:t>AAA</a:t>
            </a:r>
            <a:r>
              <a:rPr lang="zh-CN" altLang="en-US"/>
              <a:t>授权，这种情况可以通过在资源组里绑定静态</a:t>
            </a:r>
            <a:r>
              <a:rPr lang="en-US" altLang="zh-CN"/>
              <a:t>IP</a:t>
            </a:r>
            <a:r>
              <a:rPr lang="zh-CN" altLang="en-US"/>
              <a:t>地址的方式指定成员。</a:t>
            </a:r>
          </a:p>
          <a:p>
            <a:r>
              <a:rPr lang="zh-CN" altLang="en-US"/>
              <a:t>注意：使用资源组时，在策略执行点设备上会根据每个</a:t>
            </a:r>
            <a:r>
              <a:rPr lang="en-US" altLang="zh-CN"/>
              <a:t>IP</a:t>
            </a:r>
            <a:r>
              <a:rPr lang="zh-CN" altLang="en-US"/>
              <a:t>地址生成一条策略，而不是一个资源组生成一条策略，可能会导致策略数过多。</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8690316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当一个源安全组存在到多个目的组的策略时，需要通过优先级区分对不同策略的匹配顺序，比如目的组为资源组的时候，由于目的地址可能存在重复，所以需要通过手动调整策略的优先级实现对某策略的优先匹配。</a:t>
            </a:r>
            <a:endParaRPr lang="en-US" altLang="zh-CN" dirty="0"/>
          </a:p>
          <a:p>
            <a:r>
              <a:rPr lang="zh-CN" altLang="en-US" dirty="0"/>
              <a:t>对于未知用户的处理：</a:t>
            </a:r>
            <a:endParaRPr lang="en-US" altLang="zh-CN" dirty="0"/>
          </a:p>
          <a:p>
            <a:pPr lvl="1"/>
            <a:r>
              <a:rPr lang="zh-CN" altLang="en-US" dirty="0"/>
              <a:t>在策略执行过程中，如果执行点设备没有查询到某</a:t>
            </a:r>
            <a:r>
              <a:rPr lang="en-US" altLang="zh-CN" dirty="0"/>
              <a:t>IP</a:t>
            </a:r>
            <a:r>
              <a:rPr lang="zh-CN" altLang="en-US" dirty="0"/>
              <a:t>地址对应的安全组，则执行点设备会认为该</a:t>
            </a:r>
            <a:r>
              <a:rPr lang="en-US" altLang="zh-CN" dirty="0"/>
              <a:t>IP</a:t>
            </a:r>
            <a:r>
              <a:rPr lang="zh-CN" altLang="en-US" dirty="0"/>
              <a:t>地址属于一个默认存在的安全组</a:t>
            </a:r>
            <a:r>
              <a:rPr lang="en-US" altLang="zh-CN" dirty="0"/>
              <a:t>unknown</a:t>
            </a:r>
            <a:r>
              <a:rPr lang="zh-CN" altLang="en-US" dirty="0"/>
              <a:t>组，并以此组来匹配安全组策略（缺省策略为</a:t>
            </a:r>
            <a:r>
              <a:rPr lang="en-US" altLang="zh-CN" dirty="0"/>
              <a:t>permit</a:t>
            </a:r>
            <a:r>
              <a:rPr lang="zh-CN" altLang="en-US" dirty="0"/>
              <a:t>）。</a:t>
            </a:r>
            <a:endParaRPr lang="en-US" altLang="zh-CN" dirty="0"/>
          </a:p>
          <a:p>
            <a:r>
              <a:rPr lang="zh-CN" altLang="en-US" dirty="0"/>
              <a:t>安全组在策略控制矩阵中的匹配顺序（以销售组访问服务器组的流量为例）：</a:t>
            </a:r>
            <a:endParaRPr lang="en-US" altLang="zh-CN" dirty="0"/>
          </a:p>
          <a:p>
            <a:pPr lvl="1"/>
            <a:r>
              <a:rPr lang="zh-CN" altLang="en-US" dirty="0"/>
              <a:t>首先精确匹配销售组到服务器组的策略。如果策略控制矩阵中没有配置这两个组间的动作，则继续向下匹配。</a:t>
            </a:r>
          </a:p>
          <a:p>
            <a:pPr lvl="1"/>
            <a:r>
              <a:rPr lang="zh-CN" altLang="en-US" dirty="0"/>
              <a:t>再匹配销售组到</a:t>
            </a:r>
            <a:r>
              <a:rPr lang="en-US" altLang="zh-CN" dirty="0"/>
              <a:t>any</a:t>
            </a:r>
            <a:r>
              <a:rPr lang="zh-CN" altLang="en-US" dirty="0"/>
              <a:t>组的策略。如果策略控制矩阵中没有配置这两个组间的动作，则继续向下匹配。</a:t>
            </a:r>
            <a:endParaRPr lang="en-US" altLang="zh-CN" dirty="0"/>
          </a:p>
          <a:p>
            <a:pPr lvl="1"/>
            <a:r>
              <a:rPr lang="zh-CN" altLang="en-US" dirty="0"/>
              <a:t>最后匹配</a:t>
            </a:r>
            <a:r>
              <a:rPr lang="en-US" altLang="zh-CN" dirty="0"/>
              <a:t>any</a:t>
            </a:r>
            <a:r>
              <a:rPr lang="zh-CN" altLang="en-US" dirty="0"/>
              <a:t>组到</a:t>
            </a:r>
            <a:r>
              <a:rPr lang="en-US" altLang="zh-CN" dirty="0"/>
              <a:t>any</a:t>
            </a:r>
            <a:r>
              <a:rPr lang="zh-CN" altLang="en-US" dirty="0"/>
              <a:t>组的策略。策略控制矩阵中缺省存在</a:t>
            </a:r>
            <a:r>
              <a:rPr lang="en-US" altLang="zh-CN" dirty="0"/>
              <a:t>any</a:t>
            </a:r>
            <a:r>
              <a:rPr lang="zh-CN" altLang="en-US" dirty="0"/>
              <a:t>组到</a:t>
            </a:r>
            <a:r>
              <a:rPr lang="en-US" altLang="zh-CN" dirty="0"/>
              <a:t>any</a:t>
            </a:r>
            <a:r>
              <a:rPr lang="zh-CN" altLang="en-US" dirty="0"/>
              <a:t>组的策略，且缺省动作为允许，即在没有任何策略匹配的情况下，缺省放行所有流量。</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390074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在策略执行点设备，</a:t>
            </a:r>
            <a:r>
              <a:rPr lang="en-US" altLang="zh-CN" dirty="0"/>
              <a:t>IP-Group</a:t>
            </a:r>
            <a:r>
              <a:rPr lang="zh-CN" altLang="en-US" dirty="0"/>
              <a:t>信息的来源有两种：</a:t>
            </a:r>
            <a:endParaRPr lang="en-US" altLang="zh-CN" dirty="0"/>
          </a:p>
          <a:p>
            <a:pPr lvl="1"/>
            <a:r>
              <a:rPr lang="zh-CN" altLang="en-US" dirty="0"/>
              <a:t>依赖终端用户接入认证时，认证点获取</a:t>
            </a:r>
            <a:r>
              <a:rPr lang="en-US" altLang="zh-CN" dirty="0"/>
              <a:t>IP-Group</a:t>
            </a:r>
            <a:r>
              <a:rPr lang="zh-CN" altLang="en-US" dirty="0"/>
              <a:t>信息：这种场景要求策略执行点与认证点设备合一。</a:t>
            </a:r>
          </a:p>
          <a:p>
            <a:pPr lvl="1"/>
            <a:r>
              <a:rPr lang="zh-CN" altLang="en-US" dirty="0"/>
              <a:t>依赖</a:t>
            </a:r>
            <a:r>
              <a:rPr lang="en-US" altLang="zh-CN" dirty="0" err="1"/>
              <a:t>iMaster</a:t>
            </a:r>
            <a:r>
              <a:rPr lang="en-US" altLang="zh-CN" dirty="0"/>
              <a:t> NCE-Campus</a:t>
            </a:r>
            <a:r>
              <a:rPr lang="zh-CN" altLang="en-US" dirty="0"/>
              <a:t>通过</a:t>
            </a:r>
            <a:r>
              <a:rPr lang="en-US" altLang="zh-CN" dirty="0"/>
              <a:t>HTTP2.0</a:t>
            </a:r>
            <a:r>
              <a:rPr lang="zh-CN" altLang="en-US" dirty="0"/>
              <a:t>协议通道推送至策略执行点设备上，这就是提供</a:t>
            </a:r>
            <a:r>
              <a:rPr lang="en-US" altLang="zh-CN" dirty="0"/>
              <a:t>IP-Group</a:t>
            </a:r>
            <a:r>
              <a:rPr lang="zh-CN" altLang="en-US" dirty="0"/>
              <a:t>表项订阅能力的使用场景。</a:t>
            </a:r>
          </a:p>
          <a:p>
            <a:r>
              <a:rPr lang="zh-CN" altLang="en-US" dirty="0"/>
              <a:t>由于</a:t>
            </a:r>
            <a:r>
              <a:rPr lang="en-US" altLang="zh-CN" dirty="0"/>
              <a:t>IP-Group</a:t>
            </a:r>
            <a:r>
              <a:rPr lang="zh-CN" altLang="en-US" dirty="0"/>
              <a:t>表项订阅的前提是</a:t>
            </a:r>
            <a:r>
              <a:rPr lang="en-US" altLang="zh-CN" dirty="0" err="1"/>
              <a:t>iMaster</a:t>
            </a:r>
            <a:r>
              <a:rPr lang="en-US" altLang="zh-CN" dirty="0"/>
              <a:t> NCE-Campus</a:t>
            </a:r>
            <a:r>
              <a:rPr lang="zh-CN" altLang="en-US" dirty="0"/>
              <a:t>上必须生成了</a:t>
            </a:r>
            <a:r>
              <a:rPr lang="en-US" altLang="zh-CN" dirty="0"/>
              <a:t>IP-Group</a:t>
            </a:r>
            <a:r>
              <a:rPr lang="zh-CN" altLang="en-US" dirty="0"/>
              <a:t>表项，并且该表项是在终端用户认证过程中产生的，因此</a:t>
            </a:r>
            <a:r>
              <a:rPr lang="en-US" altLang="zh-CN" dirty="0"/>
              <a:t>IP-Group</a:t>
            </a:r>
            <a:r>
              <a:rPr lang="zh-CN" altLang="en-US" dirty="0"/>
              <a:t>表项订阅有一些场景的限制，只支持下面两种场景：</a:t>
            </a:r>
          </a:p>
          <a:p>
            <a:pPr lvl="1"/>
            <a:r>
              <a:rPr lang="en-US" altLang="zh-CN" dirty="0" err="1"/>
              <a:t>iMaster</a:t>
            </a:r>
            <a:r>
              <a:rPr lang="en-US" altLang="zh-CN" dirty="0"/>
              <a:t> NCE-Campus</a:t>
            </a:r>
            <a:r>
              <a:rPr lang="zh-CN" altLang="en-US" dirty="0"/>
              <a:t>做认证服务器：终端准入认证的</a:t>
            </a:r>
            <a:r>
              <a:rPr lang="en-US" altLang="zh-CN" dirty="0"/>
              <a:t>RADIUS</a:t>
            </a:r>
            <a:r>
              <a:rPr lang="zh-CN" altLang="en-US" dirty="0"/>
              <a:t>服务器直接采用</a:t>
            </a:r>
            <a:r>
              <a:rPr lang="en-US" altLang="zh-CN" dirty="0" err="1"/>
              <a:t>iMaster</a:t>
            </a:r>
            <a:r>
              <a:rPr lang="en-US" altLang="zh-CN" dirty="0"/>
              <a:t> NCE-Campus</a:t>
            </a:r>
            <a:r>
              <a:rPr lang="zh-CN" altLang="en-US" dirty="0"/>
              <a:t>的</a:t>
            </a:r>
            <a:r>
              <a:rPr lang="en-US" altLang="zh-CN" dirty="0"/>
              <a:t>RADIUS</a:t>
            </a:r>
            <a:r>
              <a:rPr lang="zh-CN" altLang="en-US" dirty="0"/>
              <a:t>服务器能力，这样</a:t>
            </a:r>
            <a:r>
              <a:rPr lang="en-US" altLang="zh-CN" dirty="0" err="1"/>
              <a:t>iMaster</a:t>
            </a:r>
            <a:r>
              <a:rPr lang="en-US" altLang="zh-CN" dirty="0"/>
              <a:t> NCE-Campus</a:t>
            </a:r>
            <a:r>
              <a:rPr lang="zh-CN" altLang="en-US" dirty="0"/>
              <a:t>才能在认证过程中生成</a:t>
            </a:r>
            <a:r>
              <a:rPr lang="en-US" altLang="zh-CN" dirty="0"/>
              <a:t>IP-Group</a:t>
            </a:r>
            <a:r>
              <a:rPr lang="zh-CN" altLang="en-US" dirty="0"/>
              <a:t>表项，并同步至业务随行的组件。</a:t>
            </a:r>
          </a:p>
          <a:p>
            <a:pPr lvl="1"/>
            <a:r>
              <a:rPr lang="en-US" altLang="zh-CN" dirty="0" err="1"/>
              <a:t>iMaster</a:t>
            </a:r>
            <a:r>
              <a:rPr lang="en-US" altLang="zh-CN" dirty="0"/>
              <a:t> NCE-Campus</a:t>
            </a:r>
            <a:r>
              <a:rPr lang="zh-CN" altLang="en-US" dirty="0"/>
              <a:t>做</a:t>
            </a:r>
            <a:r>
              <a:rPr lang="en-US" altLang="zh-CN" dirty="0"/>
              <a:t>RADIUS</a:t>
            </a:r>
            <a:r>
              <a:rPr lang="zh-CN" altLang="en-US" dirty="0"/>
              <a:t>中继：终端准入认证的</a:t>
            </a:r>
            <a:r>
              <a:rPr lang="en-US" altLang="zh-CN" dirty="0"/>
              <a:t>RADIUS</a:t>
            </a:r>
            <a:r>
              <a:rPr lang="zh-CN" altLang="en-US" dirty="0"/>
              <a:t>服务器采用第三方的认证服务器，但要求</a:t>
            </a:r>
            <a:r>
              <a:rPr lang="en-US" altLang="zh-CN" dirty="0" err="1"/>
              <a:t>iMaster</a:t>
            </a:r>
            <a:r>
              <a:rPr lang="en-US" altLang="zh-CN" dirty="0"/>
              <a:t> NCE-Campus</a:t>
            </a:r>
            <a:r>
              <a:rPr lang="zh-CN" altLang="en-US" dirty="0"/>
              <a:t>作为</a:t>
            </a:r>
            <a:r>
              <a:rPr lang="en-US" altLang="zh-CN" dirty="0"/>
              <a:t>RADIUS</a:t>
            </a:r>
            <a:r>
              <a:rPr lang="zh-CN" altLang="en-US" dirty="0"/>
              <a:t>中继，这样</a:t>
            </a:r>
            <a:r>
              <a:rPr lang="en-US" altLang="zh-CN" dirty="0" err="1"/>
              <a:t>iMaster</a:t>
            </a:r>
            <a:r>
              <a:rPr lang="en-US" altLang="zh-CN" dirty="0"/>
              <a:t> NCE-Campus</a:t>
            </a:r>
            <a:r>
              <a:rPr lang="zh-CN" altLang="en-US" dirty="0"/>
              <a:t>就可以通过解析认证报文等方式获取终端授权报文中的安全组信息，从而生成</a:t>
            </a:r>
            <a:r>
              <a:rPr lang="en-US" altLang="zh-CN" dirty="0"/>
              <a:t>IP-Group</a:t>
            </a:r>
            <a:r>
              <a:rPr lang="zh-CN" altLang="en-US" dirty="0"/>
              <a:t>信息。</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093704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214551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a:lnSpc>
                <a:spcPct val="114000"/>
              </a:lnSpc>
            </a:pPr>
            <a:r>
              <a:rPr lang="zh-CN" altLang="en-US" dirty="0"/>
              <a:t>基于</a:t>
            </a:r>
            <a:r>
              <a:rPr lang="en-US" altLang="zh-CN" dirty="0" err="1"/>
              <a:t>iMaster</a:t>
            </a:r>
            <a:r>
              <a:rPr lang="en-US" altLang="zh-CN" dirty="0"/>
              <a:t> NCE-Campus</a:t>
            </a:r>
            <a:r>
              <a:rPr lang="zh-CN" altLang="en-US" dirty="0"/>
              <a:t>的业务随行部署：</a:t>
            </a:r>
            <a:endParaRPr lang="en-US" altLang="zh-CN" dirty="0"/>
          </a:p>
          <a:p>
            <a:pPr lvl="1">
              <a:lnSpc>
                <a:spcPct val="114000"/>
              </a:lnSpc>
            </a:pPr>
            <a:r>
              <a:rPr lang="zh-CN" altLang="en-US" dirty="0"/>
              <a:t>创建用户和安全组：</a:t>
            </a:r>
            <a:endParaRPr lang="en-US" altLang="zh-CN" dirty="0"/>
          </a:p>
          <a:p>
            <a:pPr lvl="2">
              <a:lnSpc>
                <a:spcPct val="114000"/>
              </a:lnSpc>
            </a:pPr>
            <a:r>
              <a:rPr lang="zh-CN" altLang="en-US" dirty="0"/>
              <a:t>管理员在</a:t>
            </a:r>
            <a:r>
              <a:rPr lang="en-US" altLang="zh-CN" dirty="0" err="1"/>
              <a:t>iMaster</a:t>
            </a:r>
            <a:r>
              <a:rPr lang="en-US" altLang="zh-CN" dirty="0"/>
              <a:t> NCE-Campus</a:t>
            </a:r>
            <a:r>
              <a:rPr lang="zh-CN" altLang="en-US" dirty="0"/>
              <a:t>中统一定义用户和安全组，可以基于网络业务定义安全组，为后续组间策略控制做好规划准备。</a:t>
            </a:r>
          </a:p>
          <a:p>
            <a:pPr lvl="1">
              <a:lnSpc>
                <a:spcPct val="114000"/>
              </a:lnSpc>
            </a:pPr>
            <a:r>
              <a:rPr lang="zh-CN" altLang="en-US" dirty="0"/>
              <a:t>定义并部署策略控制矩阵：</a:t>
            </a:r>
            <a:endParaRPr lang="en-US" altLang="zh-CN" dirty="0"/>
          </a:p>
          <a:p>
            <a:pPr lvl="2">
              <a:lnSpc>
                <a:spcPct val="114000"/>
              </a:lnSpc>
            </a:pPr>
            <a:r>
              <a:rPr lang="zh-CN" altLang="en-US" dirty="0"/>
              <a:t>管理员在</a:t>
            </a:r>
            <a:r>
              <a:rPr lang="en-US" altLang="zh-CN" dirty="0" err="1"/>
              <a:t>iMaster</a:t>
            </a:r>
            <a:r>
              <a:rPr lang="en-US" altLang="zh-CN" dirty="0"/>
              <a:t> NCE-Campus</a:t>
            </a:r>
            <a:r>
              <a:rPr lang="zh-CN" altLang="en-US" dirty="0"/>
              <a:t>中统一定义基于组的权限控制，并将该策略控制矩阵下发到所有关联的策略执行点设备上。</a:t>
            </a:r>
          </a:p>
          <a:p>
            <a:pPr lvl="1">
              <a:lnSpc>
                <a:spcPct val="114000"/>
              </a:lnSpc>
            </a:pPr>
            <a:r>
              <a:rPr lang="zh-CN" altLang="en-US" dirty="0"/>
              <a:t>用户启动认证：</a:t>
            </a:r>
            <a:endParaRPr lang="en-US" altLang="zh-CN" dirty="0"/>
          </a:p>
          <a:p>
            <a:pPr lvl="2">
              <a:lnSpc>
                <a:spcPct val="114000"/>
              </a:lnSpc>
            </a:pPr>
            <a:r>
              <a:rPr lang="zh-CN" altLang="en-US" dirty="0"/>
              <a:t>在认证过程中，</a:t>
            </a:r>
            <a:r>
              <a:rPr lang="en-US" altLang="zh-CN" dirty="0" err="1"/>
              <a:t>iMaster</a:t>
            </a:r>
            <a:r>
              <a:rPr lang="en-US" altLang="zh-CN" dirty="0"/>
              <a:t> NCE-Campus</a:t>
            </a:r>
            <a:r>
              <a:rPr lang="zh-CN" altLang="en-US" dirty="0"/>
              <a:t>根据用户的登录条件，将其与安全组关联。认证成功后，</a:t>
            </a:r>
            <a:r>
              <a:rPr lang="en-US" altLang="zh-CN" dirty="0" err="1"/>
              <a:t>iMaster</a:t>
            </a:r>
            <a:r>
              <a:rPr lang="en-US" altLang="zh-CN" dirty="0"/>
              <a:t> NCE-Campus</a:t>
            </a:r>
            <a:r>
              <a:rPr lang="zh-CN" altLang="en-US" dirty="0"/>
              <a:t>将该用户所属组作为授权结果下发给认证点。对于</a:t>
            </a:r>
            <a:r>
              <a:rPr lang="en-US" altLang="zh-CN" dirty="0"/>
              <a:t>802.1X</a:t>
            </a:r>
            <a:r>
              <a:rPr lang="zh-CN" altLang="en-US" dirty="0"/>
              <a:t>认证这种认证时终端尚未获取</a:t>
            </a:r>
            <a:r>
              <a:rPr lang="en-US" altLang="zh-CN" dirty="0"/>
              <a:t>IP</a:t>
            </a:r>
            <a:r>
              <a:rPr lang="zh-CN" altLang="en-US" dirty="0"/>
              <a:t>地址的场景，认证点会在用户认证成功获取</a:t>
            </a:r>
            <a:r>
              <a:rPr lang="en-US" altLang="zh-CN" dirty="0"/>
              <a:t>IP</a:t>
            </a:r>
            <a:r>
              <a:rPr lang="zh-CN" altLang="en-US" dirty="0"/>
              <a:t>地址之后，自动感知用户的真实</a:t>
            </a:r>
            <a:r>
              <a:rPr lang="en-US" altLang="zh-CN" dirty="0"/>
              <a:t>IP</a:t>
            </a:r>
            <a:r>
              <a:rPr lang="zh-CN" altLang="en-US" dirty="0"/>
              <a:t>地址，并将其上报给</a:t>
            </a:r>
            <a:r>
              <a:rPr lang="en-US" altLang="zh-CN" dirty="0" err="1"/>
              <a:t>iMaster</a:t>
            </a:r>
            <a:r>
              <a:rPr lang="en-US" altLang="zh-CN" dirty="0"/>
              <a:t> NCE-Campus</a:t>
            </a:r>
            <a:r>
              <a:rPr lang="zh-CN" altLang="en-US" dirty="0"/>
              <a:t>。</a:t>
            </a:r>
            <a:r>
              <a:rPr lang="en-US" altLang="zh-CN" dirty="0" err="1"/>
              <a:t>iMaster</a:t>
            </a:r>
            <a:r>
              <a:rPr lang="en-US" altLang="zh-CN" dirty="0"/>
              <a:t> NCE-Campus</a:t>
            </a:r>
            <a:r>
              <a:rPr lang="zh-CN" altLang="en-US" dirty="0"/>
              <a:t>收集所有上线用户的</a:t>
            </a:r>
            <a:r>
              <a:rPr lang="en-US" altLang="zh-CN" dirty="0"/>
              <a:t>IP</a:t>
            </a:r>
            <a:r>
              <a:rPr lang="zh-CN" altLang="en-US" dirty="0"/>
              <a:t>地址，并将所有用户信息同步给策略执行点设备。</a:t>
            </a:r>
            <a:endParaRPr lang="en-US" altLang="zh-CN" dirty="0"/>
          </a:p>
          <a:p>
            <a:pPr lvl="2">
              <a:lnSpc>
                <a:spcPct val="114000"/>
              </a:lnSpc>
            </a:pPr>
            <a:r>
              <a:rPr lang="zh-CN" altLang="en-US" dirty="0"/>
              <a:t>在认证点设备与策略执行点设备分离的场景，由于后续策略匹配时设备需要有终端</a:t>
            </a:r>
            <a:r>
              <a:rPr lang="en-US" altLang="zh-CN" dirty="0"/>
              <a:t>IP</a:t>
            </a:r>
            <a:r>
              <a:rPr lang="zh-CN" altLang="en-US" dirty="0"/>
              <a:t>地址与安全组的映射关系，以便在策略执行时，基于流量识别相关的源</a:t>
            </a:r>
            <a:r>
              <a:rPr lang="en-US" altLang="zh-CN" dirty="0"/>
              <a:t>/</a:t>
            </a:r>
            <a:r>
              <a:rPr lang="zh-CN" altLang="en-US" dirty="0"/>
              <a:t>目的安全组，因此需要用户操作订阅所需要的</a:t>
            </a:r>
            <a:r>
              <a:rPr lang="en-US" altLang="zh-CN" dirty="0"/>
              <a:t>IP-Group</a:t>
            </a:r>
            <a:r>
              <a:rPr lang="zh-CN" altLang="en-US" dirty="0"/>
              <a:t>表项。</a:t>
            </a:r>
          </a:p>
          <a:p>
            <a:pPr lvl="1">
              <a:lnSpc>
                <a:spcPct val="114000"/>
              </a:lnSpc>
            </a:pPr>
            <a:r>
              <a:rPr lang="zh-CN" altLang="en-US" dirty="0"/>
              <a:t>用户访问网络：</a:t>
            </a:r>
            <a:endParaRPr lang="en-US" altLang="zh-CN" dirty="0"/>
          </a:p>
          <a:p>
            <a:pPr lvl="2">
              <a:lnSpc>
                <a:spcPct val="114000"/>
              </a:lnSpc>
            </a:pPr>
            <a:r>
              <a:rPr lang="zh-CN" altLang="en-US" dirty="0"/>
              <a:t>用户发起业务流量，当流量到达策略执行点时，策略执行点设备会识别报文的源</a:t>
            </a:r>
            <a:r>
              <a:rPr lang="en-US" altLang="zh-CN" dirty="0"/>
              <a:t>/</a:t>
            </a:r>
            <a:r>
              <a:rPr lang="zh-CN" altLang="en-US" dirty="0"/>
              <a:t>目的</a:t>
            </a:r>
            <a:r>
              <a:rPr lang="en-US" altLang="zh-CN" dirty="0"/>
              <a:t>IP</a:t>
            </a:r>
            <a:r>
              <a:rPr lang="zh-CN" altLang="en-US" dirty="0"/>
              <a:t>对应的安全组，然后执行基于组的策略。</a:t>
            </a:r>
          </a:p>
          <a:p>
            <a:pPr lvl="1">
              <a:lnSpc>
                <a:spcPct val="114000"/>
              </a:lnSpc>
            </a:pP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3983657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350517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若手动指定设备为控制器管控的策略执行点，可通过以下配置实现：</a:t>
            </a:r>
            <a:endParaRPr lang="en-US" altLang="zh-CN" dirty="0"/>
          </a:p>
          <a:p>
            <a:pPr lvl="1"/>
            <a:r>
              <a:rPr lang="zh-CN" altLang="en-US" dirty="0"/>
              <a:t>使能业务随行功能（配置本设备为策略执行点）：</a:t>
            </a:r>
            <a:r>
              <a:rPr lang="en-US" altLang="zh-CN" dirty="0"/>
              <a:t>[HUAWEI] </a:t>
            </a:r>
            <a:r>
              <a:rPr lang="en-US" altLang="zh-CN" b="1" dirty="0"/>
              <a:t>group-policy controller </a:t>
            </a:r>
            <a:r>
              <a:rPr lang="en-US" altLang="zh-CN" i="1" dirty="0"/>
              <a:t>ip-address1</a:t>
            </a:r>
            <a:r>
              <a:rPr lang="en-US" altLang="zh-CN" dirty="0"/>
              <a:t> [ </a:t>
            </a:r>
            <a:r>
              <a:rPr lang="en-US" altLang="zh-CN" i="1" dirty="0"/>
              <a:t>port-number1</a:t>
            </a:r>
            <a:r>
              <a:rPr lang="en-US" altLang="zh-CN" dirty="0"/>
              <a:t> ] </a:t>
            </a:r>
            <a:r>
              <a:rPr lang="en-US" altLang="zh-CN" b="1" dirty="0"/>
              <a:t>password</a:t>
            </a:r>
            <a:r>
              <a:rPr lang="en-US" altLang="zh-CN" dirty="0"/>
              <a:t> </a:t>
            </a:r>
            <a:r>
              <a:rPr lang="en-US" altLang="zh-CN" i="1" dirty="0" err="1"/>
              <a:t>password</a:t>
            </a:r>
            <a:r>
              <a:rPr lang="en-US" altLang="zh-CN" dirty="0"/>
              <a:t> [ </a:t>
            </a:r>
            <a:r>
              <a:rPr lang="en-US" altLang="zh-CN" b="1" dirty="0" err="1"/>
              <a:t>src-ip</a:t>
            </a:r>
            <a:r>
              <a:rPr lang="en-US" altLang="zh-CN" dirty="0"/>
              <a:t> </a:t>
            </a:r>
            <a:r>
              <a:rPr lang="en-US" altLang="zh-CN" i="1" dirty="0"/>
              <a:t>ip-address2 </a:t>
            </a:r>
            <a:r>
              <a:rPr lang="en-US" altLang="zh-CN" i="0" dirty="0"/>
              <a:t>]</a:t>
            </a:r>
          </a:p>
          <a:p>
            <a:pPr lvl="2"/>
            <a:r>
              <a:rPr lang="en-US" altLang="zh-CN" i="1" dirty="0"/>
              <a:t>ip-address1</a:t>
            </a:r>
            <a:r>
              <a:rPr lang="en-US" altLang="zh-CN" dirty="0"/>
              <a:t> [ </a:t>
            </a:r>
            <a:r>
              <a:rPr lang="en-US" altLang="zh-CN" i="1" dirty="0"/>
              <a:t>port-number1</a:t>
            </a:r>
            <a:r>
              <a:rPr lang="en-US" altLang="zh-CN" dirty="0"/>
              <a:t> ]</a:t>
            </a:r>
            <a:r>
              <a:rPr lang="zh-CN" altLang="en-US" dirty="0"/>
              <a:t>：指定控制器的</a:t>
            </a:r>
            <a:r>
              <a:rPr lang="en-US" altLang="zh-CN" dirty="0"/>
              <a:t>IP</a:t>
            </a:r>
            <a:r>
              <a:rPr lang="zh-CN" altLang="en-US" dirty="0"/>
              <a:t>地址，以及设备与控制器报文交互时使用的端口号。若不配置端口号，则使用默认端口号</a:t>
            </a:r>
            <a:r>
              <a:rPr lang="en-US" altLang="zh-CN" dirty="0"/>
              <a:t>5222</a:t>
            </a:r>
            <a:r>
              <a:rPr lang="zh-CN" altLang="en-US" dirty="0"/>
              <a:t>。</a:t>
            </a:r>
            <a:endParaRPr lang="en-US" altLang="zh-CN" dirty="0"/>
          </a:p>
          <a:p>
            <a:pPr lvl="2"/>
            <a:r>
              <a:rPr lang="en-US" altLang="zh-CN" b="1" dirty="0"/>
              <a:t>password</a:t>
            </a:r>
            <a:r>
              <a:rPr lang="en-US" altLang="zh-CN" dirty="0"/>
              <a:t> </a:t>
            </a:r>
            <a:r>
              <a:rPr lang="en-US" altLang="zh-CN" i="1" dirty="0" err="1"/>
              <a:t>password</a:t>
            </a:r>
            <a:r>
              <a:rPr lang="zh-CN" altLang="en-US" dirty="0"/>
              <a:t>：指定设备与控制器建立连接时使用的对接密码。设备上配置的对接密码必须与控制器上配置的对接密码一致。</a:t>
            </a:r>
            <a:endParaRPr lang="en-US" altLang="zh-CN" dirty="0"/>
          </a:p>
          <a:p>
            <a:pPr lvl="2"/>
            <a:r>
              <a:rPr lang="en-US" altLang="zh-CN" b="1" dirty="0" err="1"/>
              <a:t>src-ip</a:t>
            </a:r>
            <a:r>
              <a:rPr lang="en-US" altLang="zh-CN" dirty="0"/>
              <a:t> </a:t>
            </a:r>
            <a:r>
              <a:rPr lang="en-US" altLang="zh-CN" i="1" dirty="0"/>
              <a:t>ip-address2</a:t>
            </a:r>
            <a:r>
              <a:rPr lang="zh-CN" altLang="en-US" dirty="0"/>
              <a:t>：指定设备与控制器通信的源</a:t>
            </a:r>
            <a:r>
              <a:rPr lang="en-US" altLang="zh-CN" dirty="0"/>
              <a:t>IP</a:t>
            </a:r>
            <a:r>
              <a:rPr lang="zh-CN" altLang="en-US" dirty="0"/>
              <a:t>地址。若不配置该参数，则设备随机选择自身的一个</a:t>
            </a:r>
            <a:r>
              <a:rPr lang="en-US" altLang="zh-CN" dirty="0"/>
              <a:t>IP</a:t>
            </a:r>
            <a:r>
              <a:rPr lang="zh-CN" altLang="en-US" dirty="0"/>
              <a:t>地址与控制器进行通信。</a:t>
            </a:r>
            <a:endParaRPr lang="en-US" altLang="zh-CN" dirty="0"/>
          </a:p>
        </p:txBody>
      </p:sp>
    </p:spTree>
    <p:extLst>
      <p:ext uri="{BB962C8B-B14F-4D97-AF65-F5344CB8AC3E}">
        <p14:creationId xmlns:p14="http://schemas.microsoft.com/office/powerpoint/2010/main" val="22392766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603847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960740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879988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421630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148977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安全组策略是安全组间互访关系的直观反映，规划安全组策略时通常只需要根据两个组是否可以互访，将两者之间的组间策略配置为允许或禁止。管理员在控制器上可以通过一个非常直观的“策略控制矩阵”来配置权限策略。未创建组间策略时，源安全组和目的组之间的缺省权限是允许。</a:t>
            </a:r>
          </a:p>
          <a:p>
            <a:r>
              <a:rPr lang="zh-CN" altLang="en-US" dirty="0"/>
              <a:t>在规划组间策略时，还需要注意策略的方向。通常来说，两台终端之间的通信都有来回两个方向的报文传输。</a:t>
            </a:r>
          </a:p>
          <a:p>
            <a:pPr lvl="1"/>
            <a:r>
              <a:rPr lang="zh-CN" altLang="en-US" dirty="0"/>
              <a:t>对于华为交换机设备，</a:t>
            </a:r>
            <a:r>
              <a:rPr lang="en-US" altLang="zh-CN" dirty="0"/>
              <a:t>A</a:t>
            </a:r>
            <a:r>
              <a:rPr lang="zh-CN" altLang="en-US" dirty="0"/>
              <a:t>至</a:t>
            </a:r>
            <a:r>
              <a:rPr lang="en-US" altLang="zh-CN" dirty="0"/>
              <a:t>B</a:t>
            </a:r>
            <a:r>
              <a:rPr lang="zh-CN" altLang="en-US" dirty="0"/>
              <a:t>和</a:t>
            </a:r>
            <a:r>
              <a:rPr lang="en-US" altLang="zh-CN" dirty="0"/>
              <a:t>B</a:t>
            </a:r>
            <a:r>
              <a:rPr lang="zh-CN" altLang="en-US" dirty="0"/>
              <a:t>至</a:t>
            </a:r>
            <a:r>
              <a:rPr lang="en-US" altLang="zh-CN" dirty="0"/>
              <a:t>A</a:t>
            </a:r>
            <a:r>
              <a:rPr lang="zh-CN" altLang="en-US" dirty="0"/>
              <a:t>两个方向的流量并没有关联关系，它们会分别匹配对应“</a:t>
            </a:r>
            <a:r>
              <a:rPr lang="en-US" altLang="zh-CN" dirty="0"/>
              <a:t>A</a:t>
            </a:r>
            <a:r>
              <a:rPr lang="zh-CN" altLang="en-US" dirty="0"/>
              <a:t>至</a:t>
            </a:r>
            <a:r>
              <a:rPr lang="en-US" altLang="zh-CN" dirty="0"/>
              <a:t>B</a:t>
            </a:r>
            <a:r>
              <a:rPr lang="zh-CN" altLang="en-US" dirty="0"/>
              <a:t>”的策略和“</a:t>
            </a:r>
            <a:r>
              <a:rPr lang="en-US" altLang="zh-CN" dirty="0"/>
              <a:t>B</a:t>
            </a:r>
            <a:r>
              <a:rPr lang="zh-CN" altLang="en-US" dirty="0"/>
              <a:t>至</a:t>
            </a:r>
            <a:r>
              <a:rPr lang="en-US" altLang="zh-CN" dirty="0"/>
              <a:t>A</a:t>
            </a:r>
            <a:r>
              <a:rPr lang="zh-CN" altLang="en-US" dirty="0"/>
              <a:t>”的策略来决定是否允许转发，因此策略执行只看报文的源</a:t>
            </a:r>
            <a:r>
              <a:rPr lang="en-US" altLang="zh-CN" dirty="0"/>
              <a:t>/</a:t>
            </a:r>
            <a:r>
              <a:rPr lang="zh-CN" altLang="en-US" dirty="0"/>
              <a:t>目的安全组。“</a:t>
            </a:r>
            <a:r>
              <a:rPr lang="en-US" altLang="zh-CN" dirty="0"/>
              <a:t>A-&gt;B</a:t>
            </a:r>
            <a:r>
              <a:rPr lang="zh-CN" altLang="en-US" dirty="0"/>
              <a:t>允许， </a:t>
            </a:r>
            <a:r>
              <a:rPr lang="en-US" altLang="zh-CN" dirty="0"/>
              <a:t>B-&gt;A</a:t>
            </a:r>
            <a:r>
              <a:rPr lang="zh-CN" altLang="en-US" dirty="0"/>
              <a:t>禁止”，意味着所有</a:t>
            </a:r>
            <a:r>
              <a:rPr lang="en-US" altLang="zh-CN" dirty="0"/>
              <a:t>A</a:t>
            </a:r>
            <a:r>
              <a:rPr lang="zh-CN" altLang="en-US" dirty="0"/>
              <a:t>发送给</a:t>
            </a:r>
            <a:r>
              <a:rPr lang="en-US" altLang="zh-CN" dirty="0"/>
              <a:t>B</a:t>
            </a:r>
            <a:r>
              <a:rPr lang="zh-CN" altLang="en-US" dirty="0"/>
              <a:t>的报文都会放行，而所有</a:t>
            </a:r>
            <a:r>
              <a:rPr lang="en-US" altLang="zh-CN" dirty="0"/>
              <a:t>B</a:t>
            </a:r>
            <a:r>
              <a:rPr lang="zh-CN" altLang="en-US" dirty="0"/>
              <a:t>发送给</a:t>
            </a:r>
            <a:r>
              <a:rPr lang="en-US" altLang="zh-CN" dirty="0"/>
              <a:t>A</a:t>
            </a:r>
            <a:r>
              <a:rPr lang="zh-CN" altLang="en-US" dirty="0"/>
              <a:t>的报文都会丢弃，不管本次访问是由谁主动发起的。</a:t>
            </a:r>
          </a:p>
          <a:p>
            <a:r>
              <a:rPr lang="zh-CN" altLang="en-US" dirty="0"/>
              <a:t>由于网络访问通常都需要双向通信才能完成，因此为了简化管理，在设计权限策略时，仅需考虑用户类安全组至其他用户与服务器的访问权限：</a:t>
            </a:r>
          </a:p>
          <a:p>
            <a:pPr lvl="1"/>
            <a:r>
              <a:rPr lang="zh-CN" altLang="en-US" dirty="0"/>
              <a:t>禁止用户访问某个安全组时，只需要配置单向的禁止规则。</a:t>
            </a:r>
          </a:p>
          <a:p>
            <a:pPr lvl="1"/>
            <a:r>
              <a:rPr lang="zh-CN" altLang="en-US" dirty="0"/>
              <a:t>允许用户访问某个安全组时，只需要配置单向的允许规则。</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3197210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560411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对于认证点设备和策略执行点设备不属于同一设备的场景，需要将认证用户的</a:t>
            </a:r>
            <a:r>
              <a:rPr lang="en-US" altLang="zh-CN"/>
              <a:t>IP-Group</a:t>
            </a:r>
            <a:r>
              <a:rPr lang="zh-CN" altLang="en-US"/>
              <a:t>信息表项推送到指定的策略执行点上。这就需要管理员进行订阅配置，即配置哪些网段或者哪些安全组的表项需要推送到哪些策略执行点设备上。</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5798430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067101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lvl="0" indent="-228600">
              <a:buFont typeface="+mj-lt"/>
              <a:buAutoNum type="arabicPeriod"/>
            </a:pPr>
            <a:r>
              <a:rPr lang="en-US" altLang="zh-CN" dirty="0"/>
              <a:t>B</a:t>
            </a:r>
          </a:p>
          <a:p>
            <a:pPr marL="228600" lvl="0" indent="-228600">
              <a:buFont typeface="+mj-lt"/>
              <a:buAutoNum type="arabicPeriod"/>
            </a:pPr>
            <a:r>
              <a:rPr lang="en-US" altLang="zh-CN" dirty="0"/>
              <a:t>B</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3802251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473521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071737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16561" y="1949372"/>
            <a:ext cx="8125840" cy="643926"/>
          </a:xfrm>
        </p:spPr>
        <p:txBody>
          <a:bodyPr vert="horz" lIns="0" tIns="0" rIns="0" bIns="0" rtlCol="0">
            <a:noAutofit/>
          </a:bodyPr>
          <a:lstStyle>
            <a:lvl1pPr marL="228600" indent="-228600">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1238390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ext uri="{D42A27DB-BD31-4B8C-83A1-F6EECF244321}">
                <p14:modId xmlns:p14="http://schemas.microsoft.com/office/powerpoint/2010/main" val="255470206"/>
              </p:ext>
            </p:extLst>
          </p:nvPr>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extLst>
              <p:ext uri="{D42A27DB-BD31-4B8C-83A1-F6EECF244321}">
                <p14:modId xmlns:p14="http://schemas.microsoft.com/office/powerpoint/2010/main" val="2782951008"/>
              </p:ext>
            </p:extLst>
          </p:nvPr>
        </p:nvGraphicFramePr>
        <p:xfrm>
          <a:off x="1007140" y="2920836"/>
          <a:ext cx="10177327" cy="303847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502996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502996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502996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5029964"/>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49801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49801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9" name="文本占位符 7"/>
          <p:cNvSpPr>
            <a:spLocks noGrp="1"/>
          </p:cNvSpPr>
          <p:nvPr>
            <p:ph type="body" sz="quarter" idx="35" hasCustomPrompt="1"/>
          </p:nvPr>
        </p:nvSpPr>
        <p:spPr>
          <a:xfrm>
            <a:off x="6093619" y="549801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498016"/>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3897983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auto">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前言</a:t>
            </a:r>
          </a:p>
        </p:txBody>
      </p:sp>
    </p:spTree>
    <p:extLst>
      <p:ext uri="{BB962C8B-B14F-4D97-AF65-F5344CB8AC3E}">
        <p14:creationId xmlns:p14="http://schemas.microsoft.com/office/powerpoint/2010/main" val="499053660"/>
      </p:ext>
    </p:extLst>
  </p:cSld>
  <p:clrMapOvr>
    <a:masterClrMapping/>
  </p:clrMapOvr>
  <p:extLst>
    <p:ext uri="{DCECCB84-F9BA-43D5-87BE-67443E8EF086}">
      <p15:sldGuideLst xmlns:p15="http://schemas.microsoft.com/office/powerpoint/2012/main">
        <p15:guide id="1" pos="642" userDrawn="1">
          <p15:clr>
            <a:srgbClr val="FBAE40"/>
          </p15:clr>
        </p15:guide>
        <p15:guide id="2" pos="7038" userDrawn="1">
          <p15:clr>
            <a:srgbClr val="FBAE40"/>
          </p15:clr>
        </p15:guide>
        <p15:guide id="3" orient="horz" pos="11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auto"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4511649"/>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auto">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455867" lvl="0"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solidFill>
                  <a:srgbClr val="404040"/>
                </a:solidFill>
              </a:rPr>
              <a:t>目录</a:t>
            </a:r>
          </a:p>
        </p:txBody>
      </p:sp>
    </p:spTree>
    <p:extLst>
      <p:ext uri="{BB962C8B-B14F-4D97-AF65-F5344CB8AC3E}">
        <p14:creationId xmlns:p14="http://schemas.microsoft.com/office/powerpoint/2010/main" val="959299838"/>
      </p:ext>
    </p:extLst>
  </p:cSld>
  <p:clrMapOvr>
    <a:masterClrMapping/>
  </p:clrMapOvr>
  <p:extLst>
    <p:ext uri="{DCECCB84-F9BA-43D5-87BE-67443E8EF086}">
      <p15:sldGuideLst xmlns:p15="http://schemas.microsoft.com/office/powerpoint/2012/main">
        <p15:guide id="1" pos="642" userDrawn="1">
          <p15:clr>
            <a:srgbClr val="FBAE40"/>
          </p15:clr>
        </p15:guide>
        <p15:guide id="2" pos="7038" userDrawn="1">
          <p15:clr>
            <a:srgbClr val="FBAE40"/>
          </p15:clr>
        </p15:guide>
        <p15:guide id="3" orient="horz" pos="11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2528024743"/>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auto"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auto">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a:p>
            <a:pPr lvl="1"/>
            <a:endParaRPr lang="en-US" altLang="zh-CN" dirty="0"/>
          </a:p>
        </p:txBody>
      </p:sp>
      <p:cxnSp>
        <p:nvCxnSpPr>
          <p:cNvPr id="2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思考题</a:t>
            </a:r>
          </a:p>
        </p:txBody>
      </p:sp>
    </p:spTree>
    <p:extLst>
      <p:ext uri="{BB962C8B-B14F-4D97-AF65-F5344CB8AC3E}">
        <p14:creationId xmlns:p14="http://schemas.microsoft.com/office/powerpoint/2010/main" val="963674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本节小结</a:t>
            </a:r>
          </a:p>
        </p:txBody>
      </p:sp>
    </p:spTree>
    <p:extLst>
      <p:ext uri="{BB962C8B-B14F-4D97-AF65-F5344CB8AC3E}">
        <p14:creationId xmlns:p14="http://schemas.microsoft.com/office/powerpoint/2010/main" val="405242044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本章总结</a:t>
            </a:r>
          </a:p>
        </p:txBody>
      </p:sp>
    </p:spTree>
    <p:extLst>
      <p:ext uri="{BB962C8B-B14F-4D97-AF65-F5344CB8AC3E}">
        <p14:creationId xmlns:p14="http://schemas.microsoft.com/office/powerpoint/2010/main" val="4102356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更多信息</a:t>
            </a:r>
          </a:p>
        </p:txBody>
      </p:sp>
    </p:spTree>
    <p:extLst>
      <p:ext uri="{BB962C8B-B14F-4D97-AF65-F5344CB8AC3E}">
        <p14:creationId xmlns:p14="http://schemas.microsoft.com/office/powerpoint/2010/main" val="2526385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学习推荐</a:t>
            </a:r>
          </a:p>
        </p:txBody>
      </p:sp>
    </p:spTree>
    <p:extLst>
      <p:ext uri="{BB962C8B-B14F-4D97-AF65-F5344CB8AC3E}">
        <p14:creationId xmlns:p14="http://schemas.microsoft.com/office/powerpoint/2010/main" val="2010191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1"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3" y="1484312"/>
            <a:ext cx="11256962" cy="4443243"/>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166991213"/>
      </p:ext>
    </p:extLst>
  </p:cSld>
  <p:clrMapOvr>
    <a:masterClrMapping/>
  </p:clrMapOvr>
  <p:extLst>
    <p:ext uri="{DCECCB84-F9BA-43D5-87BE-67443E8EF086}">
      <p15:sldGuideLst xmlns:p15="http://schemas.microsoft.com/office/powerpoint/2012/main">
        <p15:guide id="1" orient="horz" pos="93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1"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3" y="1047750"/>
            <a:ext cx="11256962" cy="4879805"/>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77827284"/>
      </p:ext>
    </p:extLst>
  </p:cSld>
  <p:clrMapOvr>
    <a:masterClrMapping/>
  </p:clrMapOvr>
  <p:extLst>
    <p:ext uri="{DCECCB84-F9BA-43D5-87BE-67443E8EF086}">
      <p15:sldGuideLst xmlns:p15="http://schemas.microsoft.com/office/powerpoint/2012/main">
        <p15:guide id="1" orient="horz" pos="595" userDrawn="1">
          <p15:clr>
            <a:srgbClr val="FBAE40"/>
          </p15:clr>
        </p15:guide>
        <p15:guide id="2" orient="horz" pos="663"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2"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5136438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2"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826084440"/>
      </p:ext>
    </p:extLst>
  </p:cSld>
  <p:clrMapOvr>
    <a:masterClrMapping/>
  </p:clrMapOvr>
  <p:extLst>
    <p:ext uri="{DCECCB84-F9BA-43D5-87BE-67443E8EF086}">
      <p15:sldGuideLst xmlns:p15="http://schemas.microsoft.com/office/powerpoint/2012/main">
        <p15:guide id="1" orient="horz" pos="59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343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p>
        </p:txBody>
      </p:sp>
    </p:spTree>
    <p:extLst>
      <p:ext uri="{BB962C8B-B14F-4D97-AF65-F5344CB8AC3E}">
        <p14:creationId xmlns:p14="http://schemas.microsoft.com/office/powerpoint/2010/main" val="21493366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F72FAD7-C8C3-754A-A498-D3A7EC29AB73}"/>
              </a:ext>
            </a:extLst>
          </p:cNvPr>
          <p:cNvSpPr>
            <a:spLocks noGrp="1"/>
          </p:cNvSpPr>
          <p:nvPr>
            <p:ph type="body" idx="1"/>
          </p:nvPr>
        </p:nvSpPr>
        <p:spPr>
          <a:xfrm>
            <a:off x="908954" y="6270652"/>
            <a:ext cx="1981542" cy="153611"/>
          </a:xfrm>
          <a:prstGeom prst="rect">
            <a:avLst/>
          </a:prstGeom>
        </p:spPr>
        <p:txBody>
          <a:bodyPr vert="horz" lIns="0" tIns="0" rIns="0" bIns="0" rtlCol="0">
            <a:noAutofit/>
          </a:bodyPr>
          <a:lstStyle/>
          <a:p>
            <a:pPr>
              <a:lnSpc>
                <a:spcPct val="100000"/>
              </a:lnSpc>
            </a:pPr>
            <a:r>
              <a:rPr kumimoji="1" lang="en-US" altLang="zh-CN" sz="1000" dirty="0"/>
              <a:t>Security Level:</a:t>
            </a:r>
            <a:endParaRPr lang="en-US" altLang="zh-CN" sz="1000"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2"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3"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4"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5"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6"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7"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8"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9"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40"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1"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2"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3"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4"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5"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6"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7"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8"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9"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50"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1"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2"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3"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4"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5"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6"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7"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8"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9"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60"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1"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2"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3"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4"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5"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6"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7"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8"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9"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70"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867226749"/>
      </p:ext>
    </p:extLst>
  </p:cSld>
  <p:clrMap bg1="lt1" tx1="dk1" bg2="lt2" tx2="dk2" accent1="accent1" accent2="accent2" accent3="accent3" accent4="accent4" accent5="accent5" accent6="accent6" hlink="hlink" folHlink="folHlink"/>
  <p:sldLayoutIdLst>
    <p:sldLayoutId id="214748384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48" userDrawn="1">
          <p15:clr>
            <a:srgbClr val="F26B43"/>
          </p15:clr>
        </p15:guide>
        <p15:guide id="2" pos="574" userDrawn="1">
          <p15:clr>
            <a:srgbClr val="F26B43"/>
          </p15:clr>
        </p15:guide>
        <p15:guide id="3" orient="horz" pos="572" userDrawn="1">
          <p15:clr>
            <a:srgbClr val="F26B43"/>
          </p15:clr>
        </p15:guide>
        <p15:guide id="4" orient="horz" pos="1230" userDrawn="1">
          <p15:clr>
            <a:srgbClr val="F26B43"/>
          </p15:clr>
        </p15:guide>
        <p15:guide id="5" orient="horz" pos="2160" userDrawn="1">
          <p15:clr>
            <a:srgbClr val="F26B43"/>
          </p15:clr>
        </p15:guide>
        <p15:guide id="6"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29"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0"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1"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2"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3"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4"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5"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6"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7"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38"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39"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0"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1"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2"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3"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4"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5"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6"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7"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68"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69"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0"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1"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2"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3"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4"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5"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6"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7"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78"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79"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0"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1"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2"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3"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4"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5"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6"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7"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730999807"/>
      </p:ext>
    </p:extLst>
  </p:cSld>
  <p:clrMap bg1="lt1" tx1="dk1" bg2="lt2" tx2="dk2" accent1="accent1" accent2="accent2" accent3="accent3" accent4="accent4" accent5="accent5" accent6="accent6" hlink="hlink" folHlink="folHlink"/>
  <p:sldLayoutIdLst>
    <p:sldLayoutId id="2147483843" r:id="rId1"/>
    <p:sldLayoutId id="2147483828" r:id="rId2"/>
    <p:sldLayoutId id="2147483844" r:id="rId3"/>
    <p:sldLayoutId id="2147483866" r:id="rId4"/>
    <p:sldLayoutId id="2147483846" r:id="rId5"/>
    <p:sldLayoutId id="2147483871" r:id="rId6"/>
    <p:sldLayoutId id="2147483836" r:id="rId7"/>
    <p:sldLayoutId id="2147483837" r:id="rId8"/>
    <p:sldLayoutId id="2147483838" r:id="rId9"/>
    <p:sldLayoutId id="2147483839" r:id="rId10"/>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642" userDrawn="1">
          <p15:clr>
            <a:srgbClr val="F26B43"/>
          </p15:clr>
        </p15:guide>
        <p15:guide id="4" pos="7038" userDrawn="1">
          <p15:clr>
            <a:srgbClr val="F26B43"/>
          </p15:clr>
        </p15:guide>
        <p15:guide id="5" orient="horz" pos="2341" userDrawn="1">
          <p15:clr>
            <a:srgbClr val="F26B43"/>
          </p15:clr>
        </p15:guide>
        <p15:guide id="6" orient="horz" pos="3906" userDrawn="1">
          <p15:clr>
            <a:srgbClr val="F26B43"/>
          </p15:clr>
        </p15:guide>
        <p15:guide id="7" orient="horz" pos="1162" userDrawn="1">
          <p15:clr>
            <a:srgbClr val="F26B43"/>
          </p15:clr>
        </p15:guide>
        <p15:guide id="8" pos="3840" userDrawn="1">
          <p15:clr>
            <a:srgbClr val="F26B43"/>
          </p15:clr>
        </p15:guide>
        <p15:guide id="9" orient="horz" pos="731" userDrawn="1">
          <p15:clr>
            <a:srgbClr val="F26B43"/>
          </p15:clr>
        </p15:guide>
        <p15:guide id="10" orient="horz" pos="86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54669"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570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930900574"/>
      </p:ext>
    </p:extLst>
  </p:cSld>
  <p:clrMap bg1="lt1" tx1="dk1" bg2="lt2" tx2="dk2" accent1="accent1" accent2="accent2" accent3="accent3" accent4="accent4" accent5="accent5" accent6="accent6" hlink="hlink" folHlink="folHlink"/>
  <p:sldLayoutIdLst>
    <p:sldLayoutId id="2147483853" r:id="rId1"/>
    <p:sldLayoutId id="2147483869" r:id="rId2"/>
    <p:sldLayoutId id="2147483862" r:id="rId3"/>
    <p:sldLayoutId id="2147483870" r:id="rId4"/>
    <p:sldLayoutId id="2147483863" r:id="rId5"/>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auto"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378" userDrawn="1">
          <p15:clr>
            <a:srgbClr val="F26B43"/>
          </p15:clr>
        </p15:guide>
        <p15:guide id="3" orient="horz" pos="278" userDrawn="1">
          <p15:clr>
            <a:srgbClr val="F26B43"/>
          </p15:clr>
        </p15:guide>
        <p15:guide id="4" orient="horz" pos="3906">
          <p15:clr>
            <a:srgbClr val="F26B43"/>
          </p15:clr>
        </p15:guide>
        <p15:guide id="6" pos="3840">
          <p15:clr>
            <a:srgbClr val="F26B43"/>
          </p15:clr>
        </p15:guide>
        <p15:guide id="7" pos="279" userDrawn="1">
          <p15:clr>
            <a:srgbClr val="F26B43"/>
          </p15:clr>
        </p15:guide>
        <p15:guide id="8" orient="horz" pos="216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a:solidFill>
                  <a:srgbClr val="1D1D1B"/>
                </a:solidFill>
                <a:latin typeface="+mj-lt"/>
              </a:rPr>
              <a:t>Copyright©2021 </a:t>
            </a:r>
            <a:r>
              <a:rPr kumimoji="1" lang="en-US" altLang="zh-CN" sz="850" b="1" baseline="0" dirty="0">
                <a:solidFill>
                  <a:srgbClr val="1D1D1B"/>
                </a:solidFill>
                <a:latin typeface="+mj-lt"/>
              </a:rPr>
              <a:t>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1722983275"/>
      </p:ext>
    </p:extLst>
  </p:cSld>
  <p:clrMap bg1="lt1" tx1="dk1" bg2="lt2" tx2="dk2" accent1="accent1" accent2="accent2" accent3="accent3" accent4="accent4" accent5="accent5" accent6="accent6" hlink="hlink" folHlink="folHlink"/>
  <p:sldLayoutIdLst>
    <p:sldLayoutId id="2147483868"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61" userDrawn="1">
          <p15:clr>
            <a:srgbClr val="F26B43"/>
          </p15:clr>
        </p15:guide>
        <p15:guide id="4" pos="719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7.png"/><Relationship Id="rId2" Type="http://schemas.openxmlformats.org/officeDocument/2006/relationships/slideLayout" Target="../slideLayouts/slideLayout15.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pn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14.png"/><Relationship Id="rId11" Type="http://schemas.openxmlformats.org/officeDocument/2006/relationships/image" Target="../media/image18.png"/><Relationship Id="rId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image" Target="../media/image6.png"/><Relationship Id="rId9"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14.png"/><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png"/><Relationship Id="rId7"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14.png"/><Relationship Id="rId11" Type="http://schemas.openxmlformats.org/officeDocument/2006/relationships/image" Target="../media/image18.png"/><Relationship Id="rId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image" Target="../media/image6.png"/><Relationship Id="rId9"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5.xml"/><Relationship Id="rId5" Type="http://schemas.openxmlformats.org/officeDocument/2006/relationships/image" Target="../media/image8.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5.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15.xml"/><Relationship Id="rId6" Type="http://schemas.openxmlformats.org/officeDocument/2006/relationships/image" Target="../media/image6.png"/><Relationship Id="rId11" Type="http://schemas.openxmlformats.org/officeDocument/2006/relationships/image" Target="../media/image21.png"/><Relationship Id="rId5" Type="http://schemas.openxmlformats.org/officeDocument/2006/relationships/image" Target="../media/image22.png"/><Relationship Id="rId10" Type="http://schemas.openxmlformats.org/officeDocument/2006/relationships/image" Target="../media/image12.png"/><Relationship Id="rId4" Type="http://schemas.openxmlformats.org/officeDocument/2006/relationships/image" Target="../media/image5.png"/><Relationship Id="rId9" Type="http://schemas.openxmlformats.org/officeDocument/2006/relationships/image" Target="../media/image1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 name="文本占位符 24"/>
          <p:cNvSpPr>
            <a:spLocks noGrp="1"/>
          </p:cNvSpPr>
          <p:nvPr>
            <p:ph type="body" sz="quarter" idx="17"/>
          </p:nvPr>
        </p:nvSpPr>
        <p:spPr/>
        <p:txBody>
          <a:bodyPr/>
          <a:lstStyle/>
          <a:p>
            <a:endParaRPr lang="zh-CN" altLang="en-US"/>
          </a:p>
        </p:txBody>
      </p:sp>
      <p:sp>
        <p:nvSpPr>
          <p:cNvPr id="11" name="文本占位符 10"/>
          <p:cNvSpPr>
            <a:spLocks noGrp="1"/>
          </p:cNvSpPr>
          <p:nvPr>
            <p:ph type="body" sz="quarter" idx="18"/>
          </p:nvPr>
        </p:nvSpPr>
        <p:spPr/>
        <p:txBody>
          <a:bodyPr/>
          <a:lstStyle/>
          <a:p>
            <a:r>
              <a:rPr lang="en-US" altLang="zh-CN">
                <a:sym typeface="Huawei Sans" panose="020C0503030203020204" pitchFamily="34" charset="0"/>
              </a:rPr>
              <a:t>Datacom</a:t>
            </a:r>
            <a:endParaRPr lang="zh-CN" altLang="en-US" dirty="0">
              <a:sym typeface="Huawei Sans" panose="020C0503030203020204" pitchFamily="34" charset="0"/>
            </a:endParaRPr>
          </a:p>
        </p:txBody>
      </p:sp>
      <p:sp>
        <p:nvSpPr>
          <p:cNvPr id="12" name="文本占位符 11"/>
          <p:cNvSpPr>
            <a:spLocks noGrp="1"/>
          </p:cNvSpPr>
          <p:nvPr>
            <p:ph type="body" sz="quarter" idx="19"/>
          </p:nvPr>
        </p:nvSpPr>
        <p:spPr/>
        <p:txBody>
          <a:bodyPr/>
          <a:lstStyle/>
          <a:p>
            <a:r>
              <a:rPr lang="zh-CN" altLang="en-US">
                <a:sym typeface="Huawei Sans" panose="020C0503030203020204" pitchFamily="34" charset="0"/>
              </a:rPr>
              <a:t>通用</a:t>
            </a:r>
            <a:endParaRPr lang="zh-CN" altLang="en-US" dirty="0">
              <a:sym typeface="Huawei Sans" panose="020C0503030203020204" pitchFamily="34" charset="0"/>
            </a:endParaRPr>
          </a:p>
        </p:txBody>
      </p:sp>
      <p:sp>
        <p:nvSpPr>
          <p:cNvPr id="13" name="文本占位符 12"/>
          <p:cNvSpPr>
            <a:spLocks noGrp="1"/>
          </p:cNvSpPr>
          <p:nvPr>
            <p:ph type="body" sz="quarter" idx="20"/>
          </p:nvPr>
        </p:nvSpPr>
        <p:spPr/>
        <p:txBody>
          <a:bodyPr/>
          <a:lstStyle/>
          <a:p>
            <a:r>
              <a:rPr lang="en-US" altLang="zh-CN">
                <a:sym typeface="Huawei Sans" panose="020C0503030203020204" pitchFamily="34" charset="0"/>
              </a:rPr>
              <a:t>V1.0</a:t>
            </a:r>
            <a:endParaRPr lang="zh-CN" altLang="en-US" dirty="0">
              <a:sym typeface="Huawei Sans" panose="020C0503030203020204" pitchFamily="34" charset="0"/>
            </a:endParaRPr>
          </a:p>
        </p:txBody>
      </p:sp>
      <p:sp>
        <p:nvSpPr>
          <p:cNvPr id="2" name="文本占位符 1"/>
          <p:cNvSpPr>
            <a:spLocks noGrp="1"/>
          </p:cNvSpPr>
          <p:nvPr>
            <p:ph type="body" sz="quarter" idx="13"/>
          </p:nvPr>
        </p:nvSpPr>
        <p:spPr/>
        <p:txBody>
          <a:bodyPr/>
          <a:lstStyle/>
          <a:p>
            <a:r>
              <a:rPr lang="zh-CN" altLang="en-US">
                <a:sym typeface="Huawei Sans" panose="020C0503030203020204" pitchFamily="34" charset="0"/>
              </a:rPr>
              <a:t>朱仕耿</a:t>
            </a:r>
            <a:r>
              <a:rPr lang="en-US" altLang="zh-CN">
                <a:sym typeface="Huawei Sans" panose="020C0503030203020204" pitchFamily="34" charset="0"/>
              </a:rPr>
              <a:t>/00261992</a:t>
            </a:r>
            <a:endParaRPr lang="en-US" altLang="zh-CN" dirty="0">
              <a:sym typeface="Huawei Sans" panose="020C0503030203020204" pitchFamily="34" charset="0"/>
            </a:endParaRPr>
          </a:p>
        </p:txBody>
      </p:sp>
      <p:sp>
        <p:nvSpPr>
          <p:cNvPr id="3" name="文本占位符 2"/>
          <p:cNvSpPr>
            <a:spLocks noGrp="1"/>
          </p:cNvSpPr>
          <p:nvPr>
            <p:ph type="body" sz="quarter" idx="14"/>
          </p:nvPr>
        </p:nvSpPr>
        <p:spPr/>
        <p:txBody>
          <a:bodyPr/>
          <a:lstStyle/>
          <a:p>
            <a:r>
              <a:rPr lang="en-US" altLang="zh-CN">
                <a:sym typeface="Huawei Sans" panose="020C0503030203020204" pitchFamily="34" charset="0"/>
              </a:rPr>
              <a:t>2019.11.25</a:t>
            </a:r>
            <a:endParaRPr lang="zh-CN" altLang="en-US" dirty="0">
              <a:sym typeface="Huawei Sans" panose="020C0503030203020204" pitchFamily="34" charset="0"/>
            </a:endParaRPr>
          </a:p>
        </p:txBody>
      </p:sp>
      <p:sp>
        <p:nvSpPr>
          <p:cNvPr id="4" name="文本占位符 3"/>
          <p:cNvSpPr>
            <a:spLocks noGrp="1"/>
          </p:cNvSpPr>
          <p:nvPr>
            <p:ph type="body" sz="quarter" idx="15"/>
          </p:nvPr>
        </p:nvSpPr>
        <p:spPr/>
        <p:txBody>
          <a:bodyPr/>
          <a:lstStyle/>
          <a:p>
            <a:r>
              <a:rPr lang="zh-CN" altLang="en-US" dirty="0">
                <a:sym typeface="Huawei Sans" panose="020C0503030203020204" pitchFamily="34" charset="0"/>
              </a:rPr>
              <a:t>姚宁</a:t>
            </a:r>
            <a:r>
              <a:rPr lang="en-US" altLang="zh-CN" dirty="0">
                <a:sym typeface="Huawei Sans" panose="020C0503030203020204" pitchFamily="34" charset="0"/>
              </a:rPr>
              <a:t>/00276205 &amp; </a:t>
            </a:r>
            <a:r>
              <a:rPr lang="zh-CN" altLang="en-US" dirty="0">
                <a:sym typeface="Huawei Sans" panose="020C0503030203020204" pitchFamily="34" charset="0"/>
              </a:rPr>
              <a:t>万云飞</a:t>
            </a:r>
            <a:r>
              <a:rPr lang="en-US" altLang="zh-CN" dirty="0">
                <a:sym typeface="Huawei Sans" panose="020C0503030203020204" pitchFamily="34" charset="0"/>
              </a:rPr>
              <a:t>/00364921</a:t>
            </a:r>
          </a:p>
        </p:txBody>
      </p:sp>
      <p:sp>
        <p:nvSpPr>
          <p:cNvPr id="5" name="文本占位符 4"/>
          <p:cNvSpPr>
            <a:spLocks noGrp="1"/>
          </p:cNvSpPr>
          <p:nvPr>
            <p:ph type="body" sz="quarter" idx="16"/>
          </p:nvPr>
        </p:nvSpPr>
        <p:spPr/>
        <p:txBody>
          <a:bodyPr/>
          <a:lstStyle/>
          <a:p>
            <a:r>
              <a:rPr lang="zh-CN" altLang="en-US">
                <a:sym typeface="Huawei Sans" panose="020C0503030203020204" pitchFamily="34" charset="0"/>
              </a:rPr>
              <a:t>新开发</a:t>
            </a:r>
            <a:endParaRPr lang="zh-CN" altLang="en-US" dirty="0">
              <a:sym typeface="Huawei Sans" panose="020C0503030203020204" pitchFamily="34" charset="0"/>
            </a:endParaRPr>
          </a:p>
        </p:txBody>
      </p:sp>
      <p:sp>
        <p:nvSpPr>
          <p:cNvPr id="26" name="文本占位符 25"/>
          <p:cNvSpPr>
            <a:spLocks noGrp="1"/>
          </p:cNvSpPr>
          <p:nvPr>
            <p:ph type="body" sz="quarter" idx="21"/>
          </p:nvPr>
        </p:nvSpPr>
        <p:spPr/>
        <p:txBody>
          <a:bodyPr/>
          <a:lstStyle/>
          <a:p>
            <a:r>
              <a:rPr lang="zh-CN" altLang="en-US"/>
              <a:t>卢玥玥</a:t>
            </a:r>
            <a:r>
              <a:rPr lang="en-US" altLang="zh-CN"/>
              <a:t>/WX445705</a:t>
            </a:r>
            <a:endParaRPr lang="en-US" altLang="zh-CN" dirty="0"/>
          </a:p>
        </p:txBody>
      </p:sp>
      <p:sp>
        <p:nvSpPr>
          <p:cNvPr id="27" name="文本占位符 26"/>
          <p:cNvSpPr>
            <a:spLocks noGrp="1"/>
          </p:cNvSpPr>
          <p:nvPr>
            <p:ph type="body" sz="quarter" idx="22"/>
          </p:nvPr>
        </p:nvSpPr>
        <p:spPr/>
        <p:txBody>
          <a:bodyPr/>
          <a:lstStyle/>
          <a:p>
            <a:r>
              <a:rPr lang="en-US" altLang="zh-CN"/>
              <a:t>2020.10.27</a:t>
            </a:r>
            <a:endParaRPr lang="en-US" altLang="zh-CN" dirty="0"/>
          </a:p>
        </p:txBody>
      </p:sp>
      <p:sp>
        <p:nvSpPr>
          <p:cNvPr id="28" name="文本占位符 27"/>
          <p:cNvSpPr>
            <a:spLocks noGrp="1"/>
          </p:cNvSpPr>
          <p:nvPr>
            <p:ph type="body" sz="quarter" idx="23"/>
          </p:nvPr>
        </p:nvSpPr>
        <p:spPr/>
        <p:txBody>
          <a:bodyPr/>
          <a:lstStyle/>
          <a:p>
            <a:r>
              <a:rPr lang="zh-CN" altLang="en-US"/>
              <a:t>姚宁</a:t>
            </a:r>
            <a:r>
              <a:rPr lang="en-US" altLang="zh-CN"/>
              <a:t>/00276205</a:t>
            </a:r>
            <a:endParaRPr lang="en-US" altLang="zh-CN" dirty="0"/>
          </a:p>
        </p:txBody>
      </p:sp>
      <p:sp>
        <p:nvSpPr>
          <p:cNvPr id="29" name="文本占位符 28"/>
          <p:cNvSpPr>
            <a:spLocks noGrp="1"/>
          </p:cNvSpPr>
          <p:nvPr>
            <p:ph type="body" sz="quarter" idx="24"/>
          </p:nvPr>
        </p:nvSpPr>
        <p:spPr/>
        <p:txBody>
          <a:bodyPr/>
          <a:lstStyle/>
          <a:p>
            <a:r>
              <a:rPr lang="zh-CN" altLang="en-US"/>
              <a:t>优化</a:t>
            </a:r>
            <a:endParaRPr lang="zh-CN" altLang="en-US" dirty="0"/>
          </a:p>
        </p:txBody>
      </p:sp>
      <p:sp>
        <p:nvSpPr>
          <p:cNvPr id="30" name="文本占位符 29"/>
          <p:cNvSpPr>
            <a:spLocks noGrp="1"/>
          </p:cNvSpPr>
          <p:nvPr>
            <p:ph type="body" sz="quarter" idx="25"/>
          </p:nvPr>
        </p:nvSpPr>
        <p:spPr/>
        <p:txBody>
          <a:bodyPr/>
          <a:lstStyle/>
          <a:p>
            <a:r>
              <a:rPr lang="zh-CN" altLang="en-US"/>
              <a:t>卢玥玥</a:t>
            </a:r>
            <a:r>
              <a:rPr lang="en-US" altLang="zh-CN"/>
              <a:t>/WX445705</a:t>
            </a:r>
            <a:endParaRPr lang="zh-CN" altLang="en-US" dirty="0"/>
          </a:p>
        </p:txBody>
      </p:sp>
      <p:sp>
        <p:nvSpPr>
          <p:cNvPr id="31" name="文本占位符 30"/>
          <p:cNvSpPr>
            <a:spLocks noGrp="1"/>
          </p:cNvSpPr>
          <p:nvPr>
            <p:ph type="body" sz="quarter" idx="26"/>
          </p:nvPr>
        </p:nvSpPr>
        <p:spPr/>
        <p:txBody>
          <a:bodyPr/>
          <a:lstStyle/>
          <a:p>
            <a:r>
              <a:rPr lang="en-US" altLang="zh-CN"/>
              <a:t>2021.07.15</a:t>
            </a:r>
            <a:endParaRPr lang="zh-CN" altLang="en-US" dirty="0"/>
          </a:p>
        </p:txBody>
      </p:sp>
      <p:sp>
        <p:nvSpPr>
          <p:cNvPr id="32" name="文本占位符 31"/>
          <p:cNvSpPr>
            <a:spLocks noGrp="1"/>
          </p:cNvSpPr>
          <p:nvPr>
            <p:ph type="body" sz="quarter" idx="27"/>
          </p:nvPr>
        </p:nvSpPr>
        <p:spPr/>
        <p:txBody>
          <a:bodyPr/>
          <a:lstStyle/>
          <a:p>
            <a:r>
              <a:rPr lang="zh-CN" altLang="en-US"/>
              <a:t>吴越</a:t>
            </a:r>
            <a:r>
              <a:rPr lang="en-US" altLang="zh-CN"/>
              <a:t>/WX291773</a:t>
            </a:r>
            <a:endParaRPr lang="zh-CN" altLang="en-US" dirty="0"/>
          </a:p>
        </p:txBody>
      </p:sp>
      <p:sp>
        <p:nvSpPr>
          <p:cNvPr id="33" name="文本占位符 32"/>
          <p:cNvSpPr>
            <a:spLocks noGrp="1"/>
          </p:cNvSpPr>
          <p:nvPr>
            <p:ph type="body" sz="quarter" idx="28"/>
          </p:nvPr>
        </p:nvSpPr>
        <p:spPr/>
        <p:txBody>
          <a:bodyPr/>
          <a:lstStyle/>
          <a:p>
            <a:r>
              <a:rPr lang="zh-CN" altLang="en-US"/>
              <a:t>优化</a:t>
            </a:r>
            <a:endParaRPr lang="zh-CN" altLang="en-US" dirty="0"/>
          </a:p>
        </p:txBody>
      </p:sp>
      <p:sp>
        <p:nvSpPr>
          <p:cNvPr id="42" name="文本占位符 41"/>
          <p:cNvSpPr>
            <a:spLocks noGrp="1"/>
          </p:cNvSpPr>
          <p:nvPr>
            <p:ph type="body" sz="quarter" idx="29"/>
          </p:nvPr>
        </p:nvSpPr>
        <p:spPr/>
        <p:txBody>
          <a:bodyPr/>
          <a:lstStyle/>
          <a:p>
            <a:endParaRPr lang="zh-CN" altLang="en-US"/>
          </a:p>
        </p:txBody>
      </p:sp>
      <p:sp>
        <p:nvSpPr>
          <p:cNvPr id="43" name="文本占位符 42"/>
          <p:cNvSpPr>
            <a:spLocks noGrp="1"/>
          </p:cNvSpPr>
          <p:nvPr>
            <p:ph type="body" sz="quarter" idx="30"/>
          </p:nvPr>
        </p:nvSpPr>
        <p:spPr/>
        <p:txBody>
          <a:bodyPr/>
          <a:lstStyle/>
          <a:p>
            <a:endParaRPr lang="zh-CN" altLang="en-US"/>
          </a:p>
        </p:txBody>
      </p:sp>
      <p:sp>
        <p:nvSpPr>
          <p:cNvPr id="44" name="文本占位符 43"/>
          <p:cNvSpPr>
            <a:spLocks noGrp="1"/>
          </p:cNvSpPr>
          <p:nvPr>
            <p:ph type="body" sz="quarter" idx="31"/>
          </p:nvPr>
        </p:nvSpPr>
        <p:spPr/>
        <p:txBody>
          <a:bodyPr/>
          <a:lstStyle/>
          <a:p>
            <a:endParaRPr lang="zh-CN" altLang="en-US"/>
          </a:p>
        </p:txBody>
      </p:sp>
      <p:sp>
        <p:nvSpPr>
          <p:cNvPr id="45" name="文本占位符 44"/>
          <p:cNvSpPr>
            <a:spLocks noGrp="1"/>
          </p:cNvSpPr>
          <p:nvPr>
            <p:ph type="body" sz="quarter" idx="32"/>
          </p:nvPr>
        </p:nvSpPr>
        <p:spPr/>
        <p:txBody>
          <a:bodyPr/>
          <a:lstStyle/>
          <a:p>
            <a:endParaRPr lang="zh-CN" altLang="en-US"/>
          </a:p>
        </p:txBody>
      </p:sp>
      <p:sp>
        <p:nvSpPr>
          <p:cNvPr id="46" name="文本占位符 45"/>
          <p:cNvSpPr>
            <a:spLocks noGrp="1"/>
          </p:cNvSpPr>
          <p:nvPr>
            <p:ph type="body" sz="quarter" idx="33"/>
          </p:nvPr>
        </p:nvSpPr>
        <p:spPr/>
        <p:txBody>
          <a:bodyPr/>
          <a:lstStyle/>
          <a:p>
            <a:endParaRPr lang="zh-CN" altLang="en-US"/>
          </a:p>
        </p:txBody>
      </p:sp>
      <p:sp>
        <p:nvSpPr>
          <p:cNvPr id="47" name="文本占位符 46"/>
          <p:cNvSpPr>
            <a:spLocks noGrp="1"/>
          </p:cNvSpPr>
          <p:nvPr>
            <p:ph type="body" sz="quarter" idx="34"/>
          </p:nvPr>
        </p:nvSpPr>
        <p:spPr/>
        <p:txBody>
          <a:bodyPr/>
          <a:lstStyle/>
          <a:p>
            <a:endParaRPr lang="zh-CN" altLang="en-US"/>
          </a:p>
        </p:txBody>
      </p:sp>
      <p:sp>
        <p:nvSpPr>
          <p:cNvPr id="48" name="文本占位符 47"/>
          <p:cNvSpPr>
            <a:spLocks noGrp="1"/>
          </p:cNvSpPr>
          <p:nvPr>
            <p:ph type="body" sz="quarter" idx="35"/>
          </p:nvPr>
        </p:nvSpPr>
        <p:spPr/>
        <p:txBody>
          <a:bodyPr/>
          <a:lstStyle/>
          <a:p>
            <a:endParaRPr lang="zh-CN" altLang="en-US"/>
          </a:p>
        </p:txBody>
      </p:sp>
      <p:sp>
        <p:nvSpPr>
          <p:cNvPr id="49" name="文本占位符 48"/>
          <p:cNvSpPr>
            <a:spLocks noGrp="1"/>
          </p:cNvSpPr>
          <p:nvPr>
            <p:ph type="body" sz="quarter" idx="36"/>
          </p:nvPr>
        </p:nvSpPr>
        <p:spPr/>
        <p:txBody>
          <a:bodyPr/>
          <a:lstStyle/>
          <a:p>
            <a:endParaRPr lang="zh-CN" altLang="en-US"/>
          </a:p>
        </p:txBody>
      </p:sp>
    </p:spTree>
    <p:extLst>
      <p:ext uri="{BB962C8B-B14F-4D97-AF65-F5344CB8AC3E}">
        <p14:creationId xmlns:p14="http://schemas.microsoft.com/office/powerpoint/2010/main" val="225578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sym typeface="Huawei Sans" panose="020C0503030203020204" pitchFamily="34" charset="0"/>
              </a:rPr>
              <a:t>业务随行</a:t>
            </a:r>
          </a:p>
        </p:txBody>
      </p:sp>
    </p:spTree>
    <p:extLst>
      <p:ext uri="{BB962C8B-B14F-4D97-AF65-F5344CB8AC3E}">
        <p14:creationId xmlns:p14="http://schemas.microsoft.com/office/powerpoint/2010/main" val="3978368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2000" dirty="0">
                <a:sym typeface="Huawei Sans" panose="020C0503030203020204" pitchFamily="34" charset="0"/>
              </a:rPr>
              <a:t>在园区网络中，为实现用户不同的网络访问需求，可以在接入设备上为用户部署不同的网络访问策略。</a:t>
            </a:r>
          </a:p>
          <a:p>
            <a:r>
              <a:rPr lang="zh-CN" altLang="en-US" sz="2000" dirty="0">
                <a:sym typeface="Huawei Sans" panose="020C0503030203020204" pitchFamily="34" charset="0"/>
              </a:rPr>
              <a:t>在传统园区网络中，控制用户网络访问权限主要是通过</a:t>
            </a:r>
            <a:r>
              <a:rPr lang="en-US" altLang="zh-CN" sz="2000" dirty="0">
                <a:sym typeface="Huawei Sans" panose="020C0503030203020204" pitchFamily="34" charset="0"/>
              </a:rPr>
              <a:t>NAC</a:t>
            </a:r>
            <a:r>
              <a:rPr lang="zh-CN" altLang="en-US" sz="2000" dirty="0">
                <a:sym typeface="Huawei Sans" panose="020C0503030203020204" pitchFamily="34" charset="0"/>
              </a:rPr>
              <a:t>技术结合</a:t>
            </a:r>
            <a:r>
              <a:rPr lang="en-US" altLang="zh-CN" sz="2000" dirty="0">
                <a:sym typeface="Huawei Sans" panose="020C0503030203020204" pitchFamily="34" charset="0"/>
              </a:rPr>
              <a:t>VLAN</a:t>
            </a:r>
            <a:r>
              <a:rPr lang="zh-CN" altLang="en-US" sz="2000" dirty="0">
                <a:sym typeface="Huawei Sans" panose="020C0503030203020204" pitchFamily="34" charset="0"/>
              </a:rPr>
              <a:t>和</a:t>
            </a:r>
            <a:r>
              <a:rPr lang="en-US" altLang="zh-CN" sz="2000" dirty="0">
                <a:sym typeface="Huawei Sans" panose="020C0503030203020204" pitchFamily="34" charset="0"/>
              </a:rPr>
              <a:t>ACL</a:t>
            </a:r>
            <a:r>
              <a:rPr lang="zh-CN" altLang="en-US" sz="2000" dirty="0">
                <a:sym typeface="Huawei Sans" panose="020C0503030203020204" pitchFamily="34" charset="0"/>
              </a:rPr>
              <a:t>技术来实现，该方案存在诸多缺陷。例如，</a:t>
            </a:r>
            <a:r>
              <a:rPr lang="en-US" altLang="zh-CN" sz="2000" dirty="0">
                <a:sym typeface="Huawei Sans" panose="020C0503030203020204" pitchFamily="34" charset="0"/>
              </a:rPr>
              <a:t>ACL</a:t>
            </a:r>
            <a:r>
              <a:rPr lang="zh-CN" altLang="en-US" sz="2000" dirty="0">
                <a:sym typeface="Huawei Sans" panose="020C0503030203020204" pitchFamily="34" charset="0"/>
              </a:rPr>
              <a:t>与用户的关联只在认证点设备上生效，灵活性差；</a:t>
            </a:r>
            <a:r>
              <a:rPr lang="en-US" altLang="zh-CN" sz="2000" dirty="0">
                <a:sym typeface="Huawei Sans" panose="020C0503030203020204" pitchFamily="34" charset="0"/>
              </a:rPr>
              <a:t>VLAN</a:t>
            </a:r>
            <a:r>
              <a:rPr lang="zh-CN" altLang="en-US" sz="2000" dirty="0">
                <a:sym typeface="Huawei Sans" panose="020C0503030203020204" pitchFamily="34" charset="0"/>
              </a:rPr>
              <a:t>和</a:t>
            </a:r>
            <a:r>
              <a:rPr lang="en-US" altLang="zh-CN" sz="2000" dirty="0">
                <a:sym typeface="Huawei Sans" panose="020C0503030203020204" pitchFamily="34" charset="0"/>
              </a:rPr>
              <a:t>ACL</a:t>
            </a:r>
            <a:r>
              <a:rPr lang="zh-CN" altLang="en-US" sz="2000" dirty="0">
                <a:sym typeface="Huawei Sans" panose="020C0503030203020204" pitchFamily="34" charset="0"/>
              </a:rPr>
              <a:t>需要在大量的认证点设备上提前配置，部署和维护工作量巨大等。</a:t>
            </a:r>
          </a:p>
          <a:p>
            <a:r>
              <a:rPr lang="zh-CN" altLang="en-US" sz="2000" dirty="0">
                <a:sym typeface="Huawei Sans" panose="020C0503030203020204" pitchFamily="34" charset="0"/>
              </a:rPr>
              <a:t>移动办公场景下，希望员工从网络中的任意位置、任意</a:t>
            </a:r>
            <a:r>
              <a:rPr lang="en-US" altLang="zh-CN" sz="2000" dirty="0">
                <a:sym typeface="Huawei Sans" panose="020C0503030203020204" pitchFamily="34" charset="0"/>
              </a:rPr>
              <a:t>VLAN</a:t>
            </a:r>
            <a:r>
              <a:rPr lang="zh-CN" altLang="en-US" sz="2000" dirty="0">
                <a:sym typeface="Huawei Sans" panose="020C0503030203020204" pitchFamily="34" charset="0"/>
              </a:rPr>
              <a:t>、任意</a:t>
            </a:r>
            <a:r>
              <a:rPr lang="en-US" altLang="zh-CN" sz="2000" dirty="0">
                <a:sym typeface="Huawei Sans" panose="020C0503030203020204" pitchFamily="34" charset="0"/>
              </a:rPr>
              <a:t>IP</a:t>
            </a:r>
            <a:r>
              <a:rPr lang="zh-CN" altLang="en-US" sz="2000" dirty="0">
                <a:sym typeface="Huawei Sans" panose="020C0503030203020204" pitchFamily="34" charset="0"/>
              </a:rPr>
              <a:t>网段接入的同时，还可以始终控制其网络访问权限。因此引入了业务随行，解决传统解决方案下移动办公体验糟糕的问题。</a:t>
            </a:r>
          </a:p>
        </p:txBody>
      </p:sp>
    </p:spTree>
    <p:extLst>
      <p:ext uri="{BB962C8B-B14F-4D97-AF65-F5344CB8AC3E}">
        <p14:creationId xmlns:p14="http://schemas.microsoft.com/office/powerpoint/2010/main" val="3676428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ym typeface="Huawei Sans" panose="020C0503030203020204" pitchFamily="34" charset="0"/>
              </a:rPr>
              <a:t>学完本课程后，您将能够：</a:t>
            </a:r>
          </a:p>
          <a:p>
            <a:pPr lvl="1"/>
            <a:r>
              <a:rPr lang="zh-CN" altLang="en-US" dirty="0">
                <a:sym typeface="Huawei Sans" panose="020C0503030203020204" pitchFamily="34" charset="0"/>
              </a:rPr>
              <a:t>描述大型园区网络对策略管控方面的诉求</a:t>
            </a:r>
          </a:p>
          <a:p>
            <a:pPr lvl="1"/>
            <a:r>
              <a:rPr lang="zh-CN" altLang="en-US" dirty="0">
                <a:sym typeface="Huawei Sans" panose="020C0503030203020204" pitchFamily="34" charset="0"/>
              </a:rPr>
              <a:t>描述业务随行与传统技术或方案的差异</a:t>
            </a:r>
          </a:p>
          <a:p>
            <a:pPr lvl="1"/>
            <a:r>
              <a:rPr lang="zh-CN" altLang="en-US" dirty="0">
                <a:sym typeface="Huawei Sans" panose="020C0503030203020204" pitchFamily="34" charset="0"/>
              </a:rPr>
              <a:t>描述业务随行的基本功能与工作机制</a:t>
            </a:r>
          </a:p>
          <a:p>
            <a:pPr lvl="1"/>
            <a:r>
              <a:rPr lang="zh-CN" altLang="en-US" dirty="0">
                <a:sym typeface="Huawei Sans" panose="020C0503030203020204" pitchFamily="34" charset="0"/>
              </a:rPr>
              <a:t>理解业务随行与园区网络准入认证的关系</a:t>
            </a:r>
          </a:p>
          <a:p>
            <a:pPr lvl="1"/>
            <a:r>
              <a:rPr lang="zh-CN" altLang="en-US" dirty="0">
                <a:sym typeface="Huawei Sans" panose="020C0503030203020204" pitchFamily="34" charset="0"/>
              </a:rPr>
              <a:t>描述业务随行的典型应用方案</a:t>
            </a: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1995606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b="1">
                <a:sym typeface="Huawei Sans" panose="020C0503030203020204" pitchFamily="34" charset="0"/>
              </a:rPr>
              <a:t>业务随行技术背景与基本概念</a:t>
            </a:r>
          </a:p>
          <a:p>
            <a:r>
              <a:rPr lang="zh-CN" altLang="en-US">
                <a:solidFill>
                  <a:schemeClr val="bg1">
                    <a:lumMod val="50000"/>
                  </a:schemeClr>
                </a:solidFill>
                <a:sym typeface="Huawei Sans" panose="020C0503030203020204" pitchFamily="34" charset="0"/>
              </a:rPr>
              <a:t>业务随行基本原理</a:t>
            </a:r>
          </a:p>
          <a:p>
            <a:r>
              <a:rPr lang="zh-CN" altLang="en-US">
                <a:solidFill>
                  <a:schemeClr val="bg1">
                    <a:lumMod val="50000"/>
                  </a:schemeClr>
                </a:solidFill>
                <a:sym typeface="Huawei Sans" panose="020C0503030203020204" pitchFamily="34" charset="0"/>
              </a:rPr>
              <a:t>业务随行方案设计</a:t>
            </a:r>
          </a:p>
          <a:p>
            <a:pPr marL="0" indent="0">
              <a:buNone/>
            </a:pPr>
            <a:endParaRPr lang="zh-CN" altLang="en-US" dirty="0">
              <a:sym typeface="Huawei Sans" panose="020C0503030203020204" pitchFamily="34" charset="0"/>
            </a:endParaRPr>
          </a:p>
        </p:txBody>
      </p:sp>
    </p:spTree>
    <p:extLst>
      <p:ext uri="{BB962C8B-B14F-4D97-AF65-F5344CB8AC3E}">
        <p14:creationId xmlns:p14="http://schemas.microsoft.com/office/powerpoint/2010/main" val="887941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用户在网络中的移动性需求</a:t>
            </a:r>
          </a:p>
        </p:txBody>
      </p:sp>
      <p:cxnSp>
        <p:nvCxnSpPr>
          <p:cNvPr id="4" name="Straight Connector 167"/>
          <p:cNvCxnSpPr>
            <a:stCxn id="10" idx="2"/>
            <a:endCxn id="11" idx="0"/>
          </p:cNvCxnSpPr>
          <p:nvPr/>
        </p:nvCxnSpPr>
        <p:spPr bwMode="gray">
          <a:xfrm>
            <a:off x="1668360" y="3002136"/>
            <a:ext cx="0" cy="679017"/>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167"/>
          <p:cNvCxnSpPr>
            <a:stCxn id="13" idx="2"/>
            <a:endCxn id="14" idx="0"/>
          </p:cNvCxnSpPr>
          <p:nvPr/>
        </p:nvCxnSpPr>
        <p:spPr bwMode="gray">
          <a:xfrm>
            <a:off x="4838860" y="3025286"/>
            <a:ext cx="0" cy="679017"/>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166"/>
          <p:cNvCxnSpPr>
            <a:endCxn id="13" idx="0"/>
          </p:cNvCxnSpPr>
          <p:nvPr/>
        </p:nvCxnSpPr>
        <p:spPr bwMode="gray">
          <a:xfrm>
            <a:off x="3276758" y="1720261"/>
            <a:ext cx="1562102" cy="9033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167"/>
          <p:cNvCxnSpPr>
            <a:endCxn id="10" idx="0"/>
          </p:cNvCxnSpPr>
          <p:nvPr/>
        </p:nvCxnSpPr>
        <p:spPr bwMode="gray">
          <a:xfrm flipH="1">
            <a:off x="1668360" y="1727785"/>
            <a:ext cx="1562098" cy="872698"/>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9" name="图片 86" descr="核心交换机.png"/>
          <p:cNvPicPr>
            <a:picLocks noChangeAspect="1"/>
          </p:cNvPicPr>
          <p:nvPr/>
        </p:nvPicPr>
        <p:blipFill>
          <a:blip r:embed="rId4" cstate="print"/>
          <a:stretch>
            <a:fillRect/>
          </a:stretch>
        </p:blipFill>
        <p:spPr bwMode="gray">
          <a:xfrm>
            <a:off x="2985005" y="1533683"/>
            <a:ext cx="490909" cy="401653"/>
          </a:xfrm>
          <a:prstGeom prst="rect">
            <a:avLst/>
          </a:prstGeom>
        </p:spPr>
      </p:pic>
      <p:pic>
        <p:nvPicPr>
          <p:cNvPr id="10" name="图片 87" descr="汇聚交换机.png"/>
          <p:cNvPicPr>
            <a:picLocks noChangeAspect="1"/>
          </p:cNvPicPr>
          <p:nvPr/>
        </p:nvPicPr>
        <p:blipFill>
          <a:blip r:embed="rId5" cstate="print"/>
          <a:stretch>
            <a:fillRect/>
          </a:stretch>
        </p:blipFill>
        <p:spPr bwMode="gray">
          <a:xfrm>
            <a:off x="1422905" y="2600483"/>
            <a:ext cx="490909" cy="401653"/>
          </a:xfrm>
          <a:prstGeom prst="rect">
            <a:avLst/>
          </a:prstGeom>
        </p:spPr>
      </p:pic>
      <p:pic>
        <p:nvPicPr>
          <p:cNvPr id="11" name="图片 76" descr="接入交换机.png"/>
          <p:cNvPicPr>
            <a:picLocks noChangeAspect="1"/>
          </p:cNvPicPr>
          <p:nvPr/>
        </p:nvPicPr>
        <p:blipFill>
          <a:blip r:embed="rId6" cstate="print"/>
          <a:stretch>
            <a:fillRect/>
          </a:stretch>
        </p:blipFill>
        <p:spPr bwMode="gray">
          <a:xfrm>
            <a:off x="1422905" y="3681153"/>
            <a:ext cx="490909" cy="401653"/>
          </a:xfrm>
          <a:prstGeom prst="rect">
            <a:avLst/>
          </a:prstGeom>
        </p:spPr>
      </p:pic>
      <p:pic>
        <p:nvPicPr>
          <p:cNvPr id="12" name="图片 11" descr="开放网络-蓝.png"/>
          <p:cNvPicPr>
            <a:picLocks noChangeAspect="1"/>
          </p:cNvPicPr>
          <p:nvPr/>
        </p:nvPicPr>
        <p:blipFill>
          <a:blip r:embed="rId7" cstate="print"/>
          <a:stretch>
            <a:fillRect/>
          </a:stretch>
        </p:blipFill>
        <p:spPr bwMode="gray">
          <a:xfrm>
            <a:off x="1445381" y="4533676"/>
            <a:ext cx="445956" cy="343290"/>
          </a:xfrm>
          <a:prstGeom prst="rect">
            <a:avLst/>
          </a:prstGeom>
        </p:spPr>
      </p:pic>
      <p:pic>
        <p:nvPicPr>
          <p:cNvPr id="13" name="图片 87" descr="汇聚交换机.png"/>
          <p:cNvPicPr>
            <a:picLocks noChangeAspect="1"/>
          </p:cNvPicPr>
          <p:nvPr/>
        </p:nvPicPr>
        <p:blipFill>
          <a:blip r:embed="rId5" cstate="print"/>
          <a:stretch>
            <a:fillRect/>
          </a:stretch>
        </p:blipFill>
        <p:spPr bwMode="gray">
          <a:xfrm>
            <a:off x="4593405" y="2623633"/>
            <a:ext cx="490909" cy="401653"/>
          </a:xfrm>
          <a:prstGeom prst="rect">
            <a:avLst/>
          </a:prstGeom>
        </p:spPr>
      </p:pic>
      <p:pic>
        <p:nvPicPr>
          <p:cNvPr id="14" name="图片 76" descr="接入交换机.png"/>
          <p:cNvPicPr>
            <a:picLocks noChangeAspect="1"/>
          </p:cNvPicPr>
          <p:nvPr/>
        </p:nvPicPr>
        <p:blipFill>
          <a:blip r:embed="rId6" cstate="print"/>
          <a:stretch>
            <a:fillRect/>
          </a:stretch>
        </p:blipFill>
        <p:spPr bwMode="gray">
          <a:xfrm>
            <a:off x="4593405" y="3704303"/>
            <a:ext cx="490909" cy="401653"/>
          </a:xfrm>
          <a:prstGeom prst="rect">
            <a:avLst/>
          </a:prstGeom>
        </p:spPr>
      </p:pic>
      <p:pic>
        <p:nvPicPr>
          <p:cNvPr id="15" name="图片 11" descr="开放网络-蓝.png"/>
          <p:cNvPicPr>
            <a:picLocks noChangeAspect="1"/>
          </p:cNvPicPr>
          <p:nvPr/>
        </p:nvPicPr>
        <p:blipFill>
          <a:blip r:embed="rId7" cstate="print">
            <a:duotone>
              <a:schemeClr val="accent5">
                <a:shade val="45000"/>
                <a:satMod val="135000"/>
              </a:schemeClr>
              <a:prstClr val="white"/>
            </a:duotone>
          </a:blip>
          <a:stretch>
            <a:fillRect/>
          </a:stretch>
        </p:blipFill>
        <p:spPr bwMode="gray">
          <a:xfrm>
            <a:off x="4615881" y="4556826"/>
            <a:ext cx="445956" cy="343290"/>
          </a:xfrm>
          <a:prstGeom prst="rect">
            <a:avLst/>
          </a:prstGeom>
        </p:spPr>
      </p:pic>
      <p:sp>
        <p:nvSpPr>
          <p:cNvPr id="16" name="任意多边形 15"/>
          <p:cNvSpPr/>
          <p:nvPr/>
        </p:nvSpPr>
        <p:spPr bwMode="gray">
          <a:xfrm>
            <a:off x="1954937" y="4546045"/>
            <a:ext cx="2551043" cy="311457"/>
          </a:xfrm>
          <a:custGeom>
            <a:avLst/>
            <a:gdLst>
              <a:gd name="connsiteX0" fmla="*/ 0 w 2491740"/>
              <a:gd name="connsiteY0" fmla="*/ 7620 h 7620"/>
              <a:gd name="connsiteX1" fmla="*/ 2491740 w 2491740"/>
              <a:gd name="connsiteY1" fmla="*/ 0 h 7620"/>
              <a:gd name="connsiteX0" fmla="*/ 0 w 10000"/>
              <a:gd name="connsiteY0" fmla="*/ 10000 h 202241"/>
              <a:gd name="connsiteX1" fmla="*/ 10000 w 10000"/>
              <a:gd name="connsiteY1" fmla="*/ 0 h 202241"/>
              <a:gd name="connsiteX0" fmla="*/ 0 w 10000"/>
              <a:gd name="connsiteY0" fmla="*/ 134914 h 259829"/>
              <a:gd name="connsiteX1" fmla="*/ 10000 w 10000"/>
              <a:gd name="connsiteY1" fmla="*/ 124914 h 259829"/>
              <a:gd name="connsiteX0" fmla="*/ 0 w 10000"/>
              <a:gd name="connsiteY0" fmla="*/ 134914 h 259828"/>
              <a:gd name="connsiteX1" fmla="*/ 10000 w 10000"/>
              <a:gd name="connsiteY1" fmla="*/ 124914 h 259828"/>
              <a:gd name="connsiteX0" fmla="*/ 0 w 10000"/>
              <a:gd name="connsiteY0" fmla="*/ 113640 h 338135"/>
              <a:gd name="connsiteX1" fmla="*/ 10000 w 10000"/>
              <a:gd name="connsiteY1" fmla="*/ 103640 h 338135"/>
              <a:gd name="connsiteX0" fmla="*/ 0 w 10238"/>
              <a:gd name="connsiteY0" fmla="*/ 103401 h 329565"/>
              <a:gd name="connsiteX1" fmla="*/ 10238 w 10238"/>
              <a:gd name="connsiteY1" fmla="*/ 104511 h 329565"/>
              <a:gd name="connsiteX0" fmla="*/ 0 w 10238"/>
              <a:gd name="connsiteY0" fmla="*/ 103401 h 329565"/>
              <a:gd name="connsiteX1" fmla="*/ 10238 w 10238"/>
              <a:gd name="connsiteY1" fmla="*/ 104511 h 329565"/>
              <a:gd name="connsiteX0" fmla="*/ 0 w 10238"/>
              <a:gd name="connsiteY0" fmla="*/ 217707 h 408735"/>
              <a:gd name="connsiteX1" fmla="*/ 10238 w 10238"/>
              <a:gd name="connsiteY1" fmla="*/ 218817 h 408735"/>
            </a:gdLst>
            <a:ahLst/>
            <a:cxnLst>
              <a:cxn ang="0">
                <a:pos x="connsiteX0" y="connsiteY0"/>
              </a:cxn>
              <a:cxn ang="0">
                <a:pos x="connsiteX1" y="connsiteY1"/>
              </a:cxn>
            </a:cxnLst>
            <a:rect l="l" t="t" r="r" b="b"/>
            <a:pathLst>
              <a:path w="10238" h="408735">
                <a:moveTo>
                  <a:pt x="0" y="217707"/>
                </a:moveTo>
                <a:cubicBezTo>
                  <a:pt x="5046" y="898818"/>
                  <a:pt x="5216" y="-517849"/>
                  <a:pt x="10238" y="218817"/>
                </a:cubicBezTo>
              </a:path>
            </a:pathLst>
          </a:custGeom>
          <a:noFill/>
          <a:ln w="28575">
            <a:solidFill>
              <a:srgbClr val="56C4D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7" name="组合 362"/>
          <p:cNvGrpSpPr>
            <a:grpSpLocks/>
          </p:cNvGrpSpPr>
          <p:nvPr/>
        </p:nvGrpSpPr>
        <p:grpSpPr bwMode="gray">
          <a:xfrm>
            <a:off x="1470331" y="5046813"/>
            <a:ext cx="390007" cy="390007"/>
            <a:chOff x="373063" y="2114551"/>
            <a:chExt cx="1114425" cy="1116013"/>
          </a:xfrm>
        </p:grpSpPr>
        <p:sp>
          <p:nvSpPr>
            <p:cNvPr id="18"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1D69AD"/>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9" name="组合 341"/>
            <p:cNvGrpSpPr>
              <a:grpSpLocks/>
            </p:cNvGrpSpPr>
            <p:nvPr/>
          </p:nvGrpSpPr>
          <p:grpSpPr bwMode="gray">
            <a:xfrm>
              <a:off x="649288" y="2289176"/>
              <a:ext cx="561975" cy="769938"/>
              <a:chOff x="649288" y="2289176"/>
              <a:chExt cx="561975" cy="769938"/>
            </a:xfrm>
          </p:grpSpPr>
          <p:sp>
            <p:nvSpPr>
              <p:cNvPr id="20"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26" name="文本框 25"/>
          <p:cNvSpPr txBox="1"/>
          <p:nvPr/>
        </p:nvSpPr>
        <p:spPr bwMode="gray">
          <a:xfrm>
            <a:off x="1337981" y="5474563"/>
            <a:ext cx="660758"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7" name="组合 362"/>
          <p:cNvGrpSpPr>
            <a:grpSpLocks/>
          </p:cNvGrpSpPr>
          <p:nvPr/>
        </p:nvGrpSpPr>
        <p:grpSpPr bwMode="gray">
          <a:xfrm>
            <a:off x="4651081" y="5069963"/>
            <a:ext cx="390007" cy="390007"/>
            <a:chOff x="373063" y="2114551"/>
            <a:chExt cx="1114425" cy="1116013"/>
          </a:xfrm>
        </p:grpSpPr>
        <p:sp>
          <p:nvSpPr>
            <p:cNvPr id="28"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组合 341"/>
            <p:cNvGrpSpPr>
              <a:grpSpLocks/>
            </p:cNvGrpSpPr>
            <p:nvPr/>
          </p:nvGrpSpPr>
          <p:grpSpPr bwMode="gray">
            <a:xfrm>
              <a:off x="649288" y="2289176"/>
              <a:ext cx="561975" cy="769938"/>
              <a:chOff x="649288" y="2289176"/>
              <a:chExt cx="561975" cy="769938"/>
            </a:xfrm>
          </p:grpSpPr>
          <p:sp>
            <p:nvSpPr>
              <p:cNvPr id="30"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36" name="文本框 35"/>
          <p:cNvSpPr txBox="1"/>
          <p:nvPr/>
        </p:nvSpPr>
        <p:spPr bwMode="gray">
          <a:xfrm>
            <a:off x="4515703" y="5497713"/>
            <a:ext cx="660758"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3007667" y="4755028"/>
            <a:ext cx="543739" cy="307777"/>
          </a:xfrm>
          <a:prstGeom prst="rect">
            <a:avLst/>
          </a:prstGeom>
          <a:noFill/>
        </p:spPr>
        <p:txBody>
          <a:bodyPr wrap="none" rtlCol="0">
            <a:spAutoFit/>
          </a:bodyPr>
          <a:lstStyle/>
          <a:p>
            <a:pPr algn="ct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移动</a:t>
            </a:r>
          </a:p>
        </p:txBody>
      </p:sp>
      <p:cxnSp>
        <p:nvCxnSpPr>
          <p:cNvPr id="41" name="Straight Connector 167"/>
          <p:cNvCxnSpPr>
            <a:stCxn id="11" idx="2"/>
            <a:endCxn id="12" idx="0"/>
          </p:cNvCxnSpPr>
          <p:nvPr/>
        </p:nvCxnSpPr>
        <p:spPr bwMode="gray">
          <a:xfrm flipH="1">
            <a:off x="1668359" y="4082806"/>
            <a:ext cx="1" cy="45087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2" name="Straight Connector 167"/>
          <p:cNvCxnSpPr>
            <a:stCxn id="14" idx="2"/>
            <a:endCxn id="15" idx="0"/>
          </p:cNvCxnSpPr>
          <p:nvPr/>
        </p:nvCxnSpPr>
        <p:spPr bwMode="gray">
          <a:xfrm flipH="1">
            <a:off x="4838859" y="4105956"/>
            <a:ext cx="1" cy="45087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55" name="圆角矩形 75"/>
          <p:cNvSpPr/>
          <p:nvPr/>
        </p:nvSpPr>
        <p:spPr bwMode="gray">
          <a:xfrm>
            <a:off x="6008491" y="1186117"/>
            <a:ext cx="5672675"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场景介绍</a:t>
            </a:r>
          </a:p>
        </p:txBody>
      </p:sp>
      <p:sp>
        <p:nvSpPr>
          <p:cNvPr id="56" name="圆角矩形 75"/>
          <p:cNvSpPr/>
          <p:nvPr/>
        </p:nvSpPr>
        <p:spPr bwMode="gray">
          <a:xfrm>
            <a:off x="6008491" y="1632411"/>
            <a:ext cx="5672675" cy="1284409"/>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302279" indent="-302279" algn="just" defTabSz="914034">
              <a:lnSpc>
                <a:spcPct val="140000"/>
              </a:lnSpc>
              <a:spcBef>
                <a:spcPts val="792"/>
              </a:spcBef>
              <a:spcAft>
                <a:spcPts val="600"/>
              </a:spcAft>
              <a:buSzPct val="50000"/>
              <a:buFont typeface="Wingdings" panose="05000000000000000000" pitchFamily="2" charset="2"/>
              <a:buChar char="l"/>
            </a:pPr>
            <a:r>
              <a:rPr lang="zh-CN" altLang="en-US"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在大型园区中普遍存在用户移动性需求，例如：移动办公。</a:t>
            </a:r>
            <a:endParaRPr lang="en-US" altLang="zh-CN"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02279" indent="-302279" algn="just" defTabSz="914034">
              <a:lnSpc>
                <a:spcPct val="140000"/>
              </a:lnSpc>
              <a:spcBef>
                <a:spcPts val="792"/>
              </a:spcBef>
              <a:spcAft>
                <a:spcPts val="600"/>
              </a:spcAft>
              <a:buSzPct val="50000"/>
              <a:buFont typeface="Wingdings" panose="05000000000000000000" pitchFamily="2" charset="2"/>
              <a:buChar char="l"/>
            </a:pPr>
            <a:r>
              <a:rPr lang="zh-CN" altLang="en-US"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从园区网络管理角度要求：不管用户身处何地、使用哪个</a:t>
            </a:r>
            <a:r>
              <a:rPr lang="en-US" altLang="zh-CN"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IP</a:t>
            </a:r>
            <a:r>
              <a:rPr lang="zh-CN" altLang="en-US"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地址，都可以保证该用户获得相同的网络访问策略。</a:t>
            </a:r>
            <a:endParaRPr lang="en-US" altLang="zh-CN"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57" name="圆角矩形 75"/>
          <p:cNvSpPr/>
          <p:nvPr/>
        </p:nvSpPr>
        <p:spPr bwMode="gray">
          <a:xfrm>
            <a:off x="6008491" y="3132049"/>
            <a:ext cx="5672675"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方案挑战</a:t>
            </a:r>
          </a:p>
        </p:txBody>
      </p:sp>
      <p:sp>
        <p:nvSpPr>
          <p:cNvPr id="58" name="圆角矩形 75"/>
          <p:cNvSpPr/>
          <p:nvPr/>
        </p:nvSpPr>
        <p:spPr bwMode="gray">
          <a:xfrm>
            <a:off x="6008491" y="3578342"/>
            <a:ext cx="5672675" cy="2506684"/>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302279" indent="-302279" algn="just" defTabSz="914034">
              <a:lnSpc>
                <a:spcPct val="140000"/>
              </a:lnSpc>
              <a:spcBef>
                <a:spcPts val="792"/>
              </a:spcBef>
              <a:spcAft>
                <a:spcPts val="600"/>
              </a:spcAft>
              <a:buSzPct val="50000"/>
              <a:buFont typeface="Wingdings" panose="05000000000000000000" pitchFamily="2" charset="2"/>
              <a:buChar char="l"/>
            </a:pPr>
            <a:r>
              <a:rPr lang="zh-CN" altLang="en-US"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如何保证用户可以在园区网络中任意位置接入？</a:t>
            </a:r>
            <a:endParaRPr lang="en-US" altLang="zh-CN"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02279" indent="-302279" algn="just" defTabSz="914034">
              <a:lnSpc>
                <a:spcPct val="140000"/>
              </a:lnSpc>
              <a:spcBef>
                <a:spcPts val="792"/>
              </a:spcBef>
              <a:spcAft>
                <a:spcPts val="600"/>
              </a:spcAft>
              <a:buSzPct val="50000"/>
              <a:buFont typeface="Wingdings" panose="05000000000000000000" pitchFamily="2" charset="2"/>
              <a:buChar char="l"/>
            </a:pPr>
            <a:r>
              <a:rPr lang="zh-CN" altLang="en-US"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如何保证用户接入园区网络的安全性？</a:t>
            </a:r>
            <a:endParaRPr lang="en-US" altLang="zh-CN"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02279" indent="-302279" algn="just" defTabSz="914034">
              <a:lnSpc>
                <a:spcPct val="140000"/>
              </a:lnSpc>
              <a:spcBef>
                <a:spcPts val="792"/>
              </a:spcBef>
              <a:spcAft>
                <a:spcPts val="600"/>
              </a:spcAft>
              <a:buSzPct val="50000"/>
              <a:buFont typeface="Wingdings" panose="05000000000000000000" pitchFamily="2" charset="2"/>
              <a:buChar char="l"/>
            </a:pPr>
            <a:r>
              <a:rPr lang="zh-CN" altLang="en-US"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用户的信息是否能够集中管理？</a:t>
            </a:r>
            <a:endParaRPr lang="en-US" altLang="zh-CN"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02279" indent="-302279" algn="just" defTabSz="914034">
              <a:lnSpc>
                <a:spcPct val="140000"/>
              </a:lnSpc>
              <a:spcBef>
                <a:spcPts val="792"/>
              </a:spcBef>
              <a:spcAft>
                <a:spcPts val="600"/>
              </a:spcAft>
              <a:buSzPct val="50000"/>
              <a:buFont typeface="Wingdings" panose="05000000000000000000" pitchFamily="2" charset="2"/>
              <a:buChar char="l"/>
            </a:pPr>
            <a:r>
              <a:rPr lang="zh-CN" altLang="en-US"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网络配置及配置下发是否做到足够简单？</a:t>
            </a:r>
            <a:endParaRPr lang="en-US" altLang="zh-CN"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02279" indent="-302279" algn="just" defTabSz="914034">
              <a:lnSpc>
                <a:spcPct val="140000"/>
              </a:lnSpc>
              <a:spcBef>
                <a:spcPts val="792"/>
              </a:spcBef>
              <a:spcAft>
                <a:spcPts val="600"/>
              </a:spcAft>
              <a:buSzPct val="50000"/>
              <a:buFont typeface="Wingdings" panose="05000000000000000000" pitchFamily="2" charset="2"/>
              <a:buChar char="l"/>
            </a:pPr>
            <a:r>
              <a:rPr lang="zh-CN" altLang="en-US"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策略调整是否能够简化？</a:t>
            </a:r>
            <a:endParaRPr lang="en-US" altLang="zh-CN"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Tree>
    <p:custDataLst>
      <p:tags r:id="rId1"/>
    </p:custDataLst>
    <p:extLst>
      <p:ext uri="{BB962C8B-B14F-4D97-AF65-F5344CB8AC3E}">
        <p14:creationId xmlns:p14="http://schemas.microsoft.com/office/powerpoint/2010/main" val="1678079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Huawei Sans" panose="020C0503030203020204" pitchFamily="34" charset="0"/>
              </a:rPr>
              <a:t>传统方案：通过</a:t>
            </a:r>
            <a:r>
              <a:rPr lang="en-US" altLang="zh-CN" dirty="0">
                <a:sym typeface="Huawei Sans" panose="020C0503030203020204" pitchFamily="34" charset="0"/>
              </a:rPr>
              <a:t>NAC</a:t>
            </a:r>
            <a:r>
              <a:rPr lang="zh-CN" altLang="en-US" dirty="0">
                <a:sym typeface="Huawei Sans" panose="020C0503030203020204" pitchFamily="34" charset="0"/>
              </a:rPr>
              <a:t>技术结合</a:t>
            </a:r>
            <a:r>
              <a:rPr lang="en-US" altLang="zh-CN" dirty="0">
                <a:sym typeface="Huawei Sans" panose="020C0503030203020204" pitchFamily="34" charset="0"/>
              </a:rPr>
              <a:t>VLAN</a:t>
            </a:r>
            <a:r>
              <a:rPr lang="zh-CN" altLang="en-US" dirty="0">
                <a:sym typeface="Huawei Sans" panose="020C0503030203020204" pitchFamily="34" charset="0"/>
              </a:rPr>
              <a:t>和</a:t>
            </a:r>
            <a:r>
              <a:rPr lang="en-US" altLang="zh-CN" dirty="0">
                <a:sym typeface="Huawei Sans" panose="020C0503030203020204" pitchFamily="34" charset="0"/>
              </a:rPr>
              <a:t>ACL</a:t>
            </a:r>
            <a:r>
              <a:rPr lang="zh-CN" altLang="en-US" dirty="0">
                <a:sym typeface="Huawei Sans" panose="020C0503030203020204" pitchFamily="34" charset="0"/>
              </a:rPr>
              <a:t>实现</a:t>
            </a:r>
          </a:p>
        </p:txBody>
      </p:sp>
      <p:sp>
        <p:nvSpPr>
          <p:cNvPr id="72" name="文本占位符 71"/>
          <p:cNvSpPr>
            <a:spLocks noGrp="1"/>
          </p:cNvSpPr>
          <p:nvPr>
            <p:ph type="body" sz="quarter" idx="10"/>
          </p:nvPr>
        </p:nvSpPr>
        <p:spPr>
          <a:xfrm>
            <a:off x="455613" y="1047750"/>
            <a:ext cx="11256962" cy="960471"/>
          </a:xfrm>
        </p:spPr>
        <p:txBody>
          <a:bodyPr/>
          <a:lstStyle/>
          <a:p>
            <a:r>
              <a:rPr lang="zh-CN" altLang="en-US" sz="2000" dirty="0">
                <a:sym typeface="Huawei Sans" panose="020C0503030203020204" pitchFamily="34" charset="0"/>
              </a:rPr>
              <a:t>在传统园区网络中，控制用户网络访问权限主要是通过</a:t>
            </a:r>
            <a:r>
              <a:rPr lang="en-US" altLang="zh-CN" sz="2000" dirty="0">
                <a:sym typeface="Huawei Sans" panose="020C0503030203020204" pitchFamily="34" charset="0"/>
              </a:rPr>
              <a:t>NAC</a:t>
            </a:r>
            <a:r>
              <a:rPr lang="zh-CN" altLang="en-US" sz="2000" dirty="0">
                <a:sym typeface="Huawei Sans" panose="020C0503030203020204" pitchFamily="34" charset="0"/>
              </a:rPr>
              <a:t>技术结合</a:t>
            </a:r>
            <a:r>
              <a:rPr lang="en-US" altLang="zh-CN" sz="2000" dirty="0">
                <a:sym typeface="Huawei Sans" panose="020C0503030203020204" pitchFamily="34" charset="0"/>
              </a:rPr>
              <a:t>VLAN</a:t>
            </a:r>
            <a:r>
              <a:rPr lang="zh-CN" altLang="en-US" sz="2000" dirty="0">
                <a:sym typeface="Huawei Sans" panose="020C0503030203020204" pitchFamily="34" charset="0"/>
              </a:rPr>
              <a:t>和</a:t>
            </a:r>
            <a:r>
              <a:rPr lang="en-US" altLang="zh-CN" sz="2000" dirty="0">
                <a:sym typeface="Huawei Sans" panose="020C0503030203020204" pitchFamily="34" charset="0"/>
              </a:rPr>
              <a:t>ACL</a:t>
            </a:r>
            <a:r>
              <a:rPr lang="zh-CN" altLang="en-US" sz="2000" dirty="0">
                <a:sym typeface="Huawei Sans" panose="020C0503030203020204" pitchFamily="34" charset="0"/>
              </a:rPr>
              <a:t>技术来实现的。这带来如下问题：</a:t>
            </a:r>
          </a:p>
          <a:p>
            <a:endParaRPr lang="zh-CN" altLang="en-US" sz="2000" dirty="0">
              <a:sym typeface="Huawei Sans" panose="020C0503030203020204" pitchFamily="34" charset="0"/>
            </a:endParaRPr>
          </a:p>
        </p:txBody>
      </p:sp>
      <p:cxnSp>
        <p:nvCxnSpPr>
          <p:cNvPr id="42" name="Straight Arrow Connector 141"/>
          <p:cNvCxnSpPr>
            <a:stCxn id="44" idx="3"/>
          </p:cNvCxnSpPr>
          <p:nvPr/>
        </p:nvCxnSpPr>
        <p:spPr bwMode="gray">
          <a:xfrm flipV="1">
            <a:off x="3589889" y="4476818"/>
            <a:ext cx="654790" cy="605479"/>
          </a:xfrm>
          <a:prstGeom prst="straightConnector1">
            <a:avLst/>
          </a:prstGeom>
          <a:ln w="1270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141"/>
          <p:cNvCxnSpPr/>
          <p:nvPr/>
        </p:nvCxnSpPr>
        <p:spPr bwMode="gray">
          <a:xfrm>
            <a:off x="3206839" y="3170451"/>
            <a:ext cx="991557" cy="940198"/>
          </a:xfrm>
          <a:prstGeom prst="straightConnector1">
            <a:avLst/>
          </a:prstGeom>
          <a:ln w="1270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44" name="矩形 43"/>
          <p:cNvSpPr/>
          <p:nvPr/>
        </p:nvSpPr>
        <p:spPr bwMode="gray">
          <a:xfrm>
            <a:off x="820567" y="4612937"/>
            <a:ext cx="2769322" cy="938719"/>
          </a:xfrm>
          <a:prstGeom prst="rect">
            <a:avLst/>
          </a:prstGeom>
          <a:solidFill>
            <a:srgbClr val="F2FBFC"/>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a:lnSpc>
                <a:spcPts val="2000"/>
              </a:lnSpc>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部署和维护工作量巨大</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914400">
              <a:lnSpc>
                <a:spcPts val="2000"/>
              </a:lnSpc>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ACL</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需要在大量的认证点交换机上提前配置。</a:t>
            </a:r>
          </a:p>
        </p:txBody>
      </p:sp>
      <p:sp>
        <p:nvSpPr>
          <p:cNvPr id="45" name="矩形 44"/>
          <p:cNvSpPr/>
          <p:nvPr/>
        </p:nvSpPr>
        <p:spPr bwMode="gray">
          <a:xfrm>
            <a:off x="824742" y="2336849"/>
            <a:ext cx="2962130" cy="833602"/>
          </a:xfrm>
          <a:prstGeom prst="rect">
            <a:avLst/>
          </a:prstGeom>
          <a:solidFill>
            <a:srgbClr val="F2FBFC"/>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a:lnSpc>
                <a:spcPts val="2000"/>
              </a:lnSpc>
            </a:pP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ACL</a:t>
            </a: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与用户的关联只在认证点生效</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914400">
              <a:lnSpc>
                <a:spcPts val="20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对于非认证点设备，必须基于</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地址来配置策略。</a:t>
            </a:r>
          </a:p>
        </p:txBody>
      </p:sp>
      <p:cxnSp>
        <p:nvCxnSpPr>
          <p:cNvPr id="46" name="Straight Arrow Connector 141"/>
          <p:cNvCxnSpPr/>
          <p:nvPr/>
        </p:nvCxnSpPr>
        <p:spPr bwMode="gray">
          <a:xfrm flipH="1" flipV="1">
            <a:off x="7859788" y="4442584"/>
            <a:ext cx="654790" cy="805056"/>
          </a:xfrm>
          <a:prstGeom prst="straightConnector1">
            <a:avLst/>
          </a:prstGeom>
          <a:ln w="1270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141"/>
          <p:cNvCxnSpPr>
            <a:stCxn id="44" idx="3"/>
            <a:endCxn id="18" idx="1"/>
          </p:cNvCxnSpPr>
          <p:nvPr/>
        </p:nvCxnSpPr>
        <p:spPr bwMode="gray">
          <a:xfrm flipV="1">
            <a:off x="3589889" y="4275992"/>
            <a:ext cx="3778990" cy="806305"/>
          </a:xfrm>
          <a:prstGeom prst="straightConnector1">
            <a:avLst/>
          </a:prstGeom>
          <a:ln w="1270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141"/>
          <p:cNvCxnSpPr>
            <a:endCxn id="15" idx="3"/>
          </p:cNvCxnSpPr>
          <p:nvPr/>
        </p:nvCxnSpPr>
        <p:spPr bwMode="gray">
          <a:xfrm flipH="1" flipV="1">
            <a:off x="4735588" y="4275992"/>
            <a:ext cx="3778989" cy="971648"/>
          </a:xfrm>
          <a:prstGeom prst="straightConnector1">
            <a:avLst/>
          </a:prstGeom>
          <a:ln w="1270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49" name="矩形 48"/>
          <p:cNvSpPr/>
          <p:nvPr/>
        </p:nvSpPr>
        <p:spPr bwMode="gray">
          <a:xfrm>
            <a:off x="8514578" y="4612936"/>
            <a:ext cx="2945585" cy="1559873"/>
          </a:xfrm>
          <a:prstGeom prst="rect">
            <a:avLst/>
          </a:prstGeom>
          <a:solidFill>
            <a:srgbClr val="F2FBFC"/>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a:lnSpc>
                <a:spcPts val="2000"/>
              </a:lnSpc>
            </a:pP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ACL</a:t>
            </a: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需提前配置</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914400">
              <a:lnSpc>
                <a:spcPts val="20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其中至少需要配置禁止或允许访问的目的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地址范围。</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914400">
              <a:lnSpc>
                <a:spcPts val="20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因此，在用户使用的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地址不固定的前提下，</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ACL</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不能用于流量的源和目的都是用户主机时的控制。</a:t>
            </a:r>
          </a:p>
        </p:txBody>
      </p:sp>
      <p:sp>
        <p:nvSpPr>
          <p:cNvPr id="50" name="矩形 49"/>
          <p:cNvSpPr/>
          <p:nvPr/>
        </p:nvSpPr>
        <p:spPr bwMode="gray">
          <a:xfrm>
            <a:off x="8514579" y="2328173"/>
            <a:ext cx="2945585" cy="833603"/>
          </a:xfrm>
          <a:prstGeom prst="rect">
            <a:avLst/>
          </a:prstGeom>
          <a:solidFill>
            <a:srgbClr val="F2FBFC"/>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a:lnSpc>
                <a:spcPts val="2000"/>
              </a:lnSpc>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要求员工从指定的交换机、</a:t>
            </a: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或网段接入、上线</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4" name="组合 63"/>
          <p:cNvGrpSpPr/>
          <p:nvPr/>
        </p:nvGrpSpPr>
        <p:grpSpPr bwMode="gray">
          <a:xfrm>
            <a:off x="4244679" y="1927695"/>
            <a:ext cx="3615109" cy="3903137"/>
            <a:chOff x="4244679" y="1734510"/>
            <a:chExt cx="3615109" cy="3903137"/>
          </a:xfrm>
        </p:grpSpPr>
        <p:cxnSp>
          <p:nvCxnSpPr>
            <p:cNvPr id="8" name="Straight Connector 167"/>
            <p:cNvCxnSpPr>
              <a:stCxn id="14" idx="2"/>
              <a:endCxn id="15" idx="0"/>
            </p:cNvCxnSpPr>
            <p:nvPr/>
          </p:nvCxnSpPr>
          <p:spPr bwMode="gray">
            <a:xfrm>
              <a:off x="4490134" y="3202963"/>
              <a:ext cx="0" cy="679017"/>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 name="Straight Connector 167"/>
            <p:cNvCxnSpPr>
              <a:stCxn id="17" idx="2"/>
              <a:endCxn id="18" idx="0"/>
            </p:cNvCxnSpPr>
            <p:nvPr/>
          </p:nvCxnSpPr>
          <p:spPr bwMode="gray">
            <a:xfrm>
              <a:off x="7614334" y="3202963"/>
              <a:ext cx="0" cy="679017"/>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 name="Straight Connector 166"/>
            <p:cNvCxnSpPr>
              <a:endCxn id="17" idx="0"/>
            </p:cNvCxnSpPr>
            <p:nvPr/>
          </p:nvCxnSpPr>
          <p:spPr bwMode="gray">
            <a:xfrm>
              <a:off x="6052232" y="1897938"/>
              <a:ext cx="1562102" cy="9033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67"/>
            <p:cNvCxnSpPr>
              <a:endCxn id="14" idx="0"/>
            </p:cNvCxnSpPr>
            <p:nvPr/>
          </p:nvCxnSpPr>
          <p:spPr bwMode="gray">
            <a:xfrm flipH="1">
              <a:off x="4490134" y="1897938"/>
              <a:ext cx="1562098" cy="903372"/>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13" name="图片 86" descr="核心交换机.png"/>
            <p:cNvPicPr>
              <a:picLocks noChangeAspect="1"/>
            </p:cNvPicPr>
            <p:nvPr/>
          </p:nvPicPr>
          <p:blipFill>
            <a:blip r:embed="rId3" cstate="print"/>
            <a:stretch>
              <a:fillRect/>
            </a:stretch>
          </p:blipFill>
          <p:spPr bwMode="gray">
            <a:xfrm>
              <a:off x="5806779" y="1734510"/>
              <a:ext cx="490909" cy="401653"/>
            </a:xfrm>
            <a:prstGeom prst="rect">
              <a:avLst/>
            </a:prstGeom>
          </p:spPr>
        </p:pic>
        <p:pic>
          <p:nvPicPr>
            <p:cNvPr id="14" name="图片 87" descr="汇聚交换机.png"/>
            <p:cNvPicPr>
              <a:picLocks noChangeAspect="1"/>
            </p:cNvPicPr>
            <p:nvPr/>
          </p:nvPicPr>
          <p:blipFill>
            <a:blip r:embed="rId4" cstate="print"/>
            <a:stretch>
              <a:fillRect/>
            </a:stretch>
          </p:blipFill>
          <p:spPr bwMode="gray">
            <a:xfrm>
              <a:off x="4244679" y="2801310"/>
              <a:ext cx="490909" cy="401653"/>
            </a:xfrm>
            <a:prstGeom prst="rect">
              <a:avLst/>
            </a:prstGeom>
          </p:spPr>
        </p:pic>
        <p:pic>
          <p:nvPicPr>
            <p:cNvPr id="15" name="图片 76" descr="接入交换机.png"/>
            <p:cNvPicPr>
              <a:picLocks noChangeAspect="1"/>
            </p:cNvPicPr>
            <p:nvPr/>
          </p:nvPicPr>
          <p:blipFill>
            <a:blip r:embed="rId5" cstate="print"/>
            <a:stretch>
              <a:fillRect/>
            </a:stretch>
          </p:blipFill>
          <p:spPr bwMode="gray">
            <a:xfrm>
              <a:off x="4244679" y="3881980"/>
              <a:ext cx="490909" cy="401653"/>
            </a:xfrm>
            <a:prstGeom prst="rect">
              <a:avLst/>
            </a:prstGeom>
          </p:spPr>
        </p:pic>
        <p:pic>
          <p:nvPicPr>
            <p:cNvPr id="16" name="图片 11" descr="开放网络-蓝.png"/>
            <p:cNvPicPr>
              <a:picLocks noChangeAspect="1"/>
            </p:cNvPicPr>
            <p:nvPr/>
          </p:nvPicPr>
          <p:blipFill>
            <a:blip r:embed="rId6" cstate="print"/>
            <a:stretch>
              <a:fillRect/>
            </a:stretch>
          </p:blipFill>
          <p:spPr bwMode="gray">
            <a:xfrm>
              <a:off x="4267155" y="4734503"/>
              <a:ext cx="445956" cy="343290"/>
            </a:xfrm>
            <a:prstGeom prst="rect">
              <a:avLst/>
            </a:prstGeom>
          </p:spPr>
        </p:pic>
        <p:pic>
          <p:nvPicPr>
            <p:cNvPr id="17" name="图片 87" descr="汇聚交换机.png"/>
            <p:cNvPicPr>
              <a:picLocks noChangeAspect="1"/>
            </p:cNvPicPr>
            <p:nvPr/>
          </p:nvPicPr>
          <p:blipFill>
            <a:blip r:embed="rId4" cstate="print"/>
            <a:stretch>
              <a:fillRect/>
            </a:stretch>
          </p:blipFill>
          <p:spPr bwMode="gray">
            <a:xfrm>
              <a:off x="7368879" y="2801310"/>
              <a:ext cx="490909" cy="401653"/>
            </a:xfrm>
            <a:prstGeom prst="rect">
              <a:avLst/>
            </a:prstGeom>
          </p:spPr>
        </p:pic>
        <p:pic>
          <p:nvPicPr>
            <p:cNvPr id="18" name="图片 76" descr="接入交换机.png"/>
            <p:cNvPicPr>
              <a:picLocks noChangeAspect="1"/>
            </p:cNvPicPr>
            <p:nvPr/>
          </p:nvPicPr>
          <p:blipFill>
            <a:blip r:embed="rId5" cstate="print"/>
            <a:stretch>
              <a:fillRect/>
            </a:stretch>
          </p:blipFill>
          <p:spPr bwMode="gray">
            <a:xfrm>
              <a:off x="7368879" y="3881980"/>
              <a:ext cx="490909" cy="401653"/>
            </a:xfrm>
            <a:prstGeom prst="rect">
              <a:avLst/>
            </a:prstGeom>
          </p:spPr>
        </p:pic>
        <p:pic>
          <p:nvPicPr>
            <p:cNvPr id="19" name="图片 11" descr="开放网络-蓝.png"/>
            <p:cNvPicPr>
              <a:picLocks noChangeAspect="1"/>
            </p:cNvPicPr>
            <p:nvPr/>
          </p:nvPicPr>
          <p:blipFill>
            <a:blip r:embed="rId6" cstate="print"/>
            <a:stretch>
              <a:fillRect/>
            </a:stretch>
          </p:blipFill>
          <p:spPr bwMode="gray">
            <a:xfrm>
              <a:off x="7391355" y="4734503"/>
              <a:ext cx="445956" cy="343290"/>
            </a:xfrm>
            <a:prstGeom prst="rect">
              <a:avLst/>
            </a:prstGeom>
          </p:spPr>
        </p:pic>
        <p:grpSp>
          <p:nvGrpSpPr>
            <p:cNvPr id="20" name="组合 362"/>
            <p:cNvGrpSpPr>
              <a:grpSpLocks/>
            </p:cNvGrpSpPr>
            <p:nvPr/>
          </p:nvGrpSpPr>
          <p:grpSpPr bwMode="gray">
            <a:xfrm>
              <a:off x="4292105" y="5247640"/>
              <a:ext cx="390007" cy="390007"/>
              <a:chOff x="373063" y="2114551"/>
              <a:chExt cx="1114425" cy="1116013"/>
            </a:xfrm>
          </p:grpSpPr>
          <p:sp>
            <p:nvSpPr>
              <p:cNvPr id="21"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1D69AD"/>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2" name="组合 341"/>
              <p:cNvGrpSpPr>
                <a:grpSpLocks/>
              </p:cNvGrpSpPr>
              <p:nvPr/>
            </p:nvGrpSpPr>
            <p:grpSpPr bwMode="gray">
              <a:xfrm>
                <a:off x="649288" y="2289176"/>
                <a:ext cx="561975" cy="769938"/>
                <a:chOff x="649288" y="2289176"/>
                <a:chExt cx="561975" cy="769938"/>
              </a:xfrm>
            </p:grpSpPr>
            <p:sp>
              <p:nvSpPr>
                <p:cNvPr id="23"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29" name="组合 362"/>
            <p:cNvGrpSpPr>
              <a:grpSpLocks/>
            </p:cNvGrpSpPr>
            <p:nvPr/>
          </p:nvGrpSpPr>
          <p:grpSpPr bwMode="gray">
            <a:xfrm>
              <a:off x="7426555" y="5247640"/>
              <a:ext cx="390007" cy="390007"/>
              <a:chOff x="373063" y="2114551"/>
              <a:chExt cx="1114425" cy="1116013"/>
            </a:xfrm>
          </p:grpSpPr>
          <p:sp>
            <p:nvSpPr>
              <p:cNvPr id="30"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1D69AD"/>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组合 341"/>
              <p:cNvGrpSpPr>
                <a:grpSpLocks/>
              </p:cNvGrpSpPr>
              <p:nvPr/>
            </p:nvGrpSpPr>
            <p:grpSpPr bwMode="gray">
              <a:xfrm>
                <a:off x="649288" y="2289176"/>
                <a:ext cx="561975" cy="769938"/>
                <a:chOff x="649288" y="2289176"/>
                <a:chExt cx="561975" cy="769938"/>
              </a:xfrm>
            </p:grpSpPr>
            <p:sp>
              <p:nvSpPr>
                <p:cNvPr id="32"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38" name="Group 3"/>
            <p:cNvGrpSpPr/>
            <p:nvPr/>
          </p:nvGrpSpPr>
          <p:grpSpPr bwMode="gray">
            <a:xfrm>
              <a:off x="5924370" y="4098821"/>
              <a:ext cx="261965" cy="61979"/>
              <a:chOff x="559282" y="6488261"/>
              <a:chExt cx="261965" cy="61979"/>
            </a:xfrm>
            <a:solidFill>
              <a:schemeClr val="bg1">
                <a:lumMod val="50000"/>
              </a:schemeClr>
            </a:solidFill>
          </p:grpSpPr>
          <p:sp>
            <p:nvSpPr>
              <p:cNvPr id="39"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52" name="Straight Connector 167"/>
            <p:cNvCxnSpPr>
              <a:stCxn id="15" idx="2"/>
              <a:endCxn id="16" idx="0"/>
            </p:cNvCxnSpPr>
            <p:nvPr/>
          </p:nvCxnSpPr>
          <p:spPr bwMode="gray">
            <a:xfrm flipH="1">
              <a:off x="4490133" y="4283633"/>
              <a:ext cx="1" cy="45087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9" name="Straight Connector 167"/>
            <p:cNvCxnSpPr>
              <a:stCxn id="18" idx="2"/>
              <a:endCxn id="19" idx="0"/>
            </p:cNvCxnSpPr>
            <p:nvPr/>
          </p:nvCxnSpPr>
          <p:spPr bwMode="gray">
            <a:xfrm flipH="1">
              <a:off x="7614333" y="4283633"/>
              <a:ext cx="1" cy="45087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72226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业务随行概述</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a:xfrm>
            <a:off x="455613" y="1047750"/>
            <a:ext cx="11256962" cy="1316279"/>
          </a:xfrm>
        </p:spPr>
        <p:txBody>
          <a:bodyPr/>
          <a:lstStyle/>
          <a:p>
            <a:r>
              <a:rPr lang="zh-CN" altLang="en-US" sz="2000" dirty="0">
                <a:sym typeface="Huawei Sans" panose="020C0503030203020204" pitchFamily="34" charset="0"/>
              </a:rPr>
              <a:t>业务随行是园区网络中一种不管用户身处何地、使用哪个</a:t>
            </a:r>
            <a:r>
              <a:rPr lang="en-US" altLang="zh-CN" sz="2000" dirty="0">
                <a:sym typeface="Huawei Sans" panose="020C0503030203020204" pitchFamily="34" charset="0"/>
              </a:rPr>
              <a:t>IP</a:t>
            </a:r>
            <a:r>
              <a:rPr lang="zh-CN" altLang="en-US" sz="2000" dirty="0">
                <a:sym typeface="Huawei Sans" panose="020C0503030203020204" pitchFamily="34" charset="0"/>
              </a:rPr>
              <a:t>地址，都可以保证该用户获得相同的网络访问策略的解决方案。通过</a:t>
            </a:r>
            <a:r>
              <a:rPr lang="en-US" altLang="zh-CN" sz="2000" dirty="0" err="1">
                <a:sym typeface="Huawei Sans" panose="020C0503030203020204" pitchFamily="34" charset="0"/>
              </a:rPr>
              <a:t>iMaster</a:t>
            </a:r>
            <a:r>
              <a:rPr lang="en-US" altLang="zh-CN" sz="2000" dirty="0">
                <a:sym typeface="Huawei Sans" panose="020C0503030203020204" pitchFamily="34" charset="0"/>
              </a:rPr>
              <a:t> NCE-Campus</a:t>
            </a:r>
            <a:r>
              <a:rPr lang="zh-CN" altLang="en-US" sz="2000" dirty="0">
                <a:sym typeface="Huawei Sans" panose="020C0503030203020204" pitchFamily="34" charset="0"/>
              </a:rPr>
              <a:t>控制器和交换机，让网络权限自动跟随“人”移动，以此解决移动办公体验糟糕的问题。</a:t>
            </a:r>
          </a:p>
        </p:txBody>
      </p:sp>
      <p:cxnSp>
        <p:nvCxnSpPr>
          <p:cNvPr id="92" name="Straight Connector 167"/>
          <p:cNvCxnSpPr>
            <a:endCxn id="97" idx="3"/>
          </p:cNvCxnSpPr>
          <p:nvPr/>
        </p:nvCxnSpPr>
        <p:spPr bwMode="gray">
          <a:xfrm flipH="1">
            <a:off x="3440546" y="2746829"/>
            <a:ext cx="1100728"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Straight Connector 167"/>
          <p:cNvCxnSpPr>
            <a:stCxn id="98" idx="2"/>
            <a:endCxn id="99" idx="0"/>
          </p:cNvCxnSpPr>
          <p:nvPr/>
        </p:nvCxnSpPr>
        <p:spPr bwMode="gray">
          <a:xfrm>
            <a:off x="1632992" y="3705359"/>
            <a:ext cx="0" cy="38280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4" name="Straight Connector 167"/>
          <p:cNvCxnSpPr>
            <a:stCxn id="101" idx="2"/>
            <a:endCxn id="102" idx="0"/>
          </p:cNvCxnSpPr>
          <p:nvPr/>
        </p:nvCxnSpPr>
        <p:spPr bwMode="gray">
          <a:xfrm>
            <a:off x="4757192" y="3705359"/>
            <a:ext cx="0" cy="38280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5" name="Straight Connector 166"/>
          <p:cNvCxnSpPr>
            <a:endCxn id="101" idx="0"/>
          </p:cNvCxnSpPr>
          <p:nvPr/>
        </p:nvCxnSpPr>
        <p:spPr bwMode="gray">
          <a:xfrm>
            <a:off x="3209859" y="2765890"/>
            <a:ext cx="1547333" cy="5378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167"/>
          <p:cNvCxnSpPr>
            <a:endCxn id="98" idx="0"/>
          </p:cNvCxnSpPr>
          <p:nvPr/>
        </p:nvCxnSpPr>
        <p:spPr bwMode="gray">
          <a:xfrm flipH="1">
            <a:off x="1632992" y="2746829"/>
            <a:ext cx="1547332" cy="556877"/>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97" name="图片 86" descr="核心交换机.png"/>
          <p:cNvPicPr>
            <a:picLocks noChangeAspect="1"/>
          </p:cNvPicPr>
          <p:nvPr/>
        </p:nvPicPr>
        <p:blipFill>
          <a:blip r:embed="rId3" cstate="print"/>
          <a:stretch>
            <a:fillRect/>
          </a:stretch>
        </p:blipFill>
        <p:spPr bwMode="gray">
          <a:xfrm>
            <a:off x="2949637" y="2546002"/>
            <a:ext cx="490909" cy="401653"/>
          </a:xfrm>
          <a:prstGeom prst="rect">
            <a:avLst/>
          </a:prstGeom>
        </p:spPr>
      </p:pic>
      <p:pic>
        <p:nvPicPr>
          <p:cNvPr id="98" name="图片 87" descr="汇聚交换机.png"/>
          <p:cNvPicPr>
            <a:picLocks noChangeAspect="1"/>
          </p:cNvPicPr>
          <p:nvPr/>
        </p:nvPicPr>
        <p:blipFill>
          <a:blip r:embed="rId4" cstate="print"/>
          <a:stretch>
            <a:fillRect/>
          </a:stretch>
        </p:blipFill>
        <p:spPr bwMode="gray">
          <a:xfrm>
            <a:off x="1387537" y="3303706"/>
            <a:ext cx="490909" cy="401653"/>
          </a:xfrm>
          <a:prstGeom prst="rect">
            <a:avLst/>
          </a:prstGeom>
        </p:spPr>
      </p:pic>
      <p:pic>
        <p:nvPicPr>
          <p:cNvPr id="99" name="图片 76" descr="接入交换机.png"/>
          <p:cNvPicPr>
            <a:picLocks noChangeAspect="1"/>
          </p:cNvPicPr>
          <p:nvPr/>
        </p:nvPicPr>
        <p:blipFill>
          <a:blip r:embed="rId5" cstate="print"/>
          <a:stretch>
            <a:fillRect/>
          </a:stretch>
        </p:blipFill>
        <p:spPr bwMode="gray">
          <a:xfrm>
            <a:off x="1387537" y="4088159"/>
            <a:ext cx="490909" cy="401653"/>
          </a:xfrm>
          <a:prstGeom prst="rect">
            <a:avLst/>
          </a:prstGeom>
        </p:spPr>
      </p:pic>
      <p:pic>
        <p:nvPicPr>
          <p:cNvPr id="100" name="图片 99" descr="开放网络-蓝.png"/>
          <p:cNvPicPr>
            <a:picLocks noChangeAspect="1"/>
          </p:cNvPicPr>
          <p:nvPr/>
        </p:nvPicPr>
        <p:blipFill>
          <a:blip r:embed="rId6" cstate="print"/>
          <a:stretch>
            <a:fillRect/>
          </a:stretch>
        </p:blipFill>
        <p:spPr bwMode="gray">
          <a:xfrm>
            <a:off x="1410013" y="4902045"/>
            <a:ext cx="445956" cy="343290"/>
          </a:xfrm>
          <a:prstGeom prst="rect">
            <a:avLst/>
          </a:prstGeom>
        </p:spPr>
      </p:pic>
      <p:pic>
        <p:nvPicPr>
          <p:cNvPr id="101" name="图片 87" descr="汇聚交换机.png"/>
          <p:cNvPicPr>
            <a:picLocks noChangeAspect="1"/>
          </p:cNvPicPr>
          <p:nvPr/>
        </p:nvPicPr>
        <p:blipFill>
          <a:blip r:embed="rId4" cstate="print"/>
          <a:stretch>
            <a:fillRect/>
          </a:stretch>
        </p:blipFill>
        <p:spPr bwMode="gray">
          <a:xfrm>
            <a:off x="4511737" y="3303706"/>
            <a:ext cx="490909" cy="401653"/>
          </a:xfrm>
          <a:prstGeom prst="rect">
            <a:avLst/>
          </a:prstGeom>
        </p:spPr>
      </p:pic>
      <p:pic>
        <p:nvPicPr>
          <p:cNvPr id="102" name="图片 76" descr="接入交换机.png"/>
          <p:cNvPicPr>
            <a:picLocks noChangeAspect="1"/>
          </p:cNvPicPr>
          <p:nvPr/>
        </p:nvPicPr>
        <p:blipFill>
          <a:blip r:embed="rId5" cstate="print"/>
          <a:stretch>
            <a:fillRect/>
          </a:stretch>
        </p:blipFill>
        <p:spPr bwMode="gray">
          <a:xfrm>
            <a:off x="4511737" y="4088159"/>
            <a:ext cx="490909" cy="401653"/>
          </a:xfrm>
          <a:prstGeom prst="rect">
            <a:avLst/>
          </a:prstGeom>
        </p:spPr>
      </p:pic>
      <p:pic>
        <p:nvPicPr>
          <p:cNvPr id="103" name="图片 11" descr="开放网络-蓝.png"/>
          <p:cNvPicPr>
            <a:picLocks noChangeAspect="1"/>
          </p:cNvPicPr>
          <p:nvPr/>
        </p:nvPicPr>
        <p:blipFill>
          <a:blip r:embed="rId6" cstate="print">
            <a:duotone>
              <a:schemeClr val="accent5">
                <a:shade val="45000"/>
                <a:satMod val="135000"/>
              </a:schemeClr>
              <a:prstClr val="white"/>
            </a:duotone>
          </a:blip>
          <a:stretch>
            <a:fillRect/>
          </a:stretch>
        </p:blipFill>
        <p:spPr bwMode="gray">
          <a:xfrm>
            <a:off x="4534213" y="4902045"/>
            <a:ext cx="445956" cy="343290"/>
          </a:xfrm>
          <a:prstGeom prst="rect">
            <a:avLst/>
          </a:prstGeom>
        </p:spPr>
      </p:pic>
      <p:sp>
        <p:nvSpPr>
          <p:cNvPr id="104" name="任意多边形 103"/>
          <p:cNvSpPr/>
          <p:nvPr/>
        </p:nvSpPr>
        <p:spPr bwMode="gray">
          <a:xfrm>
            <a:off x="1919569" y="4914414"/>
            <a:ext cx="2551043" cy="311457"/>
          </a:xfrm>
          <a:custGeom>
            <a:avLst/>
            <a:gdLst>
              <a:gd name="connsiteX0" fmla="*/ 0 w 2491740"/>
              <a:gd name="connsiteY0" fmla="*/ 7620 h 7620"/>
              <a:gd name="connsiteX1" fmla="*/ 2491740 w 2491740"/>
              <a:gd name="connsiteY1" fmla="*/ 0 h 7620"/>
              <a:gd name="connsiteX0" fmla="*/ 0 w 10000"/>
              <a:gd name="connsiteY0" fmla="*/ 10000 h 202241"/>
              <a:gd name="connsiteX1" fmla="*/ 10000 w 10000"/>
              <a:gd name="connsiteY1" fmla="*/ 0 h 202241"/>
              <a:gd name="connsiteX0" fmla="*/ 0 w 10000"/>
              <a:gd name="connsiteY0" fmla="*/ 134914 h 259829"/>
              <a:gd name="connsiteX1" fmla="*/ 10000 w 10000"/>
              <a:gd name="connsiteY1" fmla="*/ 124914 h 259829"/>
              <a:gd name="connsiteX0" fmla="*/ 0 w 10000"/>
              <a:gd name="connsiteY0" fmla="*/ 134914 h 259828"/>
              <a:gd name="connsiteX1" fmla="*/ 10000 w 10000"/>
              <a:gd name="connsiteY1" fmla="*/ 124914 h 259828"/>
              <a:gd name="connsiteX0" fmla="*/ 0 w 10000"/>
              <a:gd name="connsiteY0" fmla="*/ 113640 h 338135"/>
              <a:gd name="connsiteX1" fmla="*/ 10000 w 10000"/>
              <a:gd name="connsiteY1" fmla="*/ 103640 h 338135"/>
              <a:gd name="connsiteX0" fmla="*/ 0 w 10238"/>
              <a:gd name="connsiteY0" fmla="*/ 103401 h 329565"/>
              <a:gd name="connsiteX1" fmla="*/ 10238 w 10238"/>
              <a:gd name="connsiteY1" fmla="*/ 104511 h 329565"/>
              <a:gd name="connsiteX0" fmla="*/ 0 w 10238"/>
              <a:gd name="connsiteY0" fmla="*/ 103401 h 329565"/>
              <a:gd name="connsiteX1" fmla="*/ 10238 w 10238"/>
              <a:gd name="connsiteY1" fmla="*/ 104511 h 329565"/>
              <a:gd name="connsiteX0" fmla="*/ 0 w 10238"/>
              <a:gd name="connsiteY0" fmla="*/ 217707 h 408735"/>
              <a:gd name="connsiteX1" fmla="*/ 10238 w 10238"/>
              <a:gd name="connsiteY1" fmla="*/ 218817 h 408735"/>
            </a:gdLst>
            <a:ahLst/>
            <a:cxnLst>
              <a:cxn ang="0">
                <a:pos x="connsiteX0" y="connsiteY0"/>
              </a:cxn>
              <a:cxn ang="0">
                <a:pos x="connsiteX1" y="connsiteY1"/>
              </a:cxn>
            </a:cxnLst>
            <a:rect l="l" t="t" r="r" b="b"/>
            <a:pathLst>
              <a:path w="10238" h="408735">
                <a:moveTo>
                  <a:pt x="0" y="217707"/>
                </a:moveTo>
                <a:cubicBezTo>
                  <a:pt x="5046" y="898818"/>
                  <a:pt x="5216" y="-517849"/>
                  <a:pt x="10238" y="218817"/>
                </a:cubicBezTo>
              </a:path>
            </a:pathLst>
          </a:custGeom>
          <a:noFill/>
          <a:ln w="28575">
            <a:solidFill>
              <a:srgbClr val="56C4D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05" name="组合 362"/>
          <p:cNvGrpSpPr>
            <a:grpSpLocks/>
          </p:cNvGrpSpPr>
          <p:nvPr/>
        </p:nvGrpSpPr>
        <p:grpSpPr bwMode="gray">
          <a:xfrm>
            <a:off x="1434963" y="5325029"/>
            <a:ext cx="390007" cy="390007"/>
            <a:chOff x="373063" y="2114551"/>
            <a:chExt cx="1114425" cy="1116013"/>
          </a:xfrm>
        </p:grpSpPr>
        <p:sp>
          <p:nvSpPr>
            <p:cNvPr id="106"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1D69AD"/>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07" name="组合 341"/>
            <p:cNvGrpSpPr>
              <a:grpSpLocks/>
            </p:cNvGrpSpPr>
            <p:nvPr/>
          </p:nvGrpSpPr>
          <p:grpSpPr bwMode="gray">
            <a:xfrm>
              <a:off x="649288" y="2289176"/>
              <a:ext cx="561975" cy="769938"/>
              <a:chOff x="649288" y="2289176"/>
              <a:chExt cx="561975" cy="769938"/>
            </a:xfrm>
          </p:grpSpPr>
          <p:sp>
            <p:nvSpPr>
              <p:cNvPr id="108"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14" name="文本框 113"/>
          <p:cNvSpPr txBox="1"/>
          <p:nvPr/>
        </p:nvSpPr>
        <p:spPr bwMode="gray">
          <a:xfrm>
            <a:off x="1302613" y="5752779"/>
            <a:ext cx="660758"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5" name="组合 362"/>
          <p:cNvGrpSpPr>
            <a:grpSpLocks/>
          </p:cNvGrpSpPr>
          <p:nvPr/>
        </p:nvGrpSpPr>
        <p:grpSpPr bwMode="gray">
          <a:xfrm>
            <a:off x="4569413" y="5325029"/>
            <a:ext cx="390007" cy="390007"/>
            <a:chOff x="373063" y="2114551"/>
            <a:chExt cx="1114425" cy="1116013"/>
          </a:xfrm>
        </p:grpSpPr>
        <p:sp>
          <p:nvSpPr>
            <p:cNvPr id="116"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7" name="组合 341"/>
            <p:cNvGrpSpPr>
              <a:grpSpLocks/>
            </p:cNvGrpSpPr>
            <p:nvPr/>
          </p:nvGrpSpPr>
          <p:grpSpPr bwMode="gray">
            <a:xfrm>
              <a:off x="649288" y="2289176"/>
              <a:ext cx="561975" cy="769938"/>
              <a:chOff x="649288" y="2289176"/>
              <a:chExt cx="561975" cy="769938"/>
            </a:xfrm>
          </p:grpSpPr>
          <p:sp>
            <p:nvSpPr>
              <p:cNvPr id="118"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24" name="文本框 123"/>
          <p:cNvSpPr txBox="1"/>
          <p:nvPr/>
        </p:nvSpPr>
        <p:spPr bwMode="gray">
          <a:xfrm>
            <a:off x="4434035" y="5752779"/>
            <a:ext cx="660758"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文本框 124"/>
          <p:cNvSpPr txBox="1"/>
          <p:nvPr/>
        </p:nvSpPr>
        <p:spPr bwMode="gray">
          <a:xfrm>
            <a:off x="2972299" y="4711272"/>
            <a:ext cx="543739" cy="307777"/>
          </a:xfrm>
          <a:prstGeom prst="rect">
            <a:avLst/>
          </a:prstGeom>
          <a:noFill/>
        </p:spPr>
        <p:txBody>
          <a:bodyPr wrap="none" rtlCol="0">
            <a:spAutoFit/>
          </a:bodyPr>
          <a:lstStyle/>
          <a:p>
            <a:pPr algn="ct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移动</a:t>
            </a:r>
          </a:p>
        </p:txBody>
      </p:sp>
      <p:cxnSp>
        <p:nvCxnSpPr>
          <p:cNvPr id="127" name="Straight Connector 167"/>
          <p:cNvCxnSpPr>
            <a:stCxn id="99" idx="2"/>
            <a:endCxn id="100" idx="0"/>
          </p:cNvCxnSpPr>
          <p:nvPr/>
        </p:nvCxnSpPr>
        <p:spPr bwMode="gray">
          <a:xfrm flipH="1">
            <a:off x="1632991" y="4489812"/>
            <a:ext cx="1" cy="41223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8" name="Straight Connector 167"/>
          <p:cNvCxnSpPr>
            <a:stCxn id="102" idx="2"/>
            <a:endCxn id="103" idx="0"/>
          </p:cNvCxnSpPr>
          <p:nvPr/>
        </p:nvCxnSpPr>
        <p:spPr bwMode="gray">
          <a:xfrm flipH="1">
            <a:off x="4757191" y="4489812"/>
            <a:ext cx="1" cy="41223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33" name="文本框 132"/>
          <p:cNvSpPr txBox="1"/>
          <p:nvPr/>
        </p:nvSpPr>
        <p:spPr bwMode="gray">
          <a:xfrm>
            <a:off x="2738262" y="5256552"/>
            <a:ext cx="1011816" cy="338554"/>
          </a:xfrm>
          <a:prstGeom prst="rect">
            <a:avLst/>
          </a:prstGeom>
          <a:noFill/>
        </p:spPr>
        <p:txBody>
          <a:bodyPr wrap="none" rtlCol="0">
            <a:spAutoFit/>
          </a:bodyPr>
          <a:lstStyle/>
          <a:p>
            <a:pPr algn="ctr"/>
            <a:r>
              <a:rPr lang="zh-CN" altLang="en-US"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策略随行</a:t>
            </a:r>
          </a:p>
        </p:txBody>
      </p:sp>
      <p:sp>
        <p:nvSpPr>
          <p:cNvPr id="135" name="圆角矩形 75"/>
          <p:cNvSpPr/>
          <p:nvPr/>
        </p:nvSpPr>
        <p:spPr bwMode="gray">
          <a:xfrm>
            <a:off x="6564745" y="2227386"/>
            <a:ext cx="4727758"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业务随行从三个方面解决传统园区问题</a:t>
            </a:r>
          </a:p>
        </p:txBody>
      </p:sp>
      <p:sp>
        <p:nvSpPr>
          <p:cNvPr id="136" name="圆角矩形 75"/>
          <p:cNvSpPr/>
          <p:nvPr/>
        </p:nvSpPr>
        <p:spPr bwMode="gray">
          <a:xfrm>
            <a:off x="6564745" y="2673680"/>
            <a:ext cx="4727758" cy="1199531"/>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342900" indent="-342900">
              <a:lnSpc>
                <a:spcPts val="2200"/>
              </a:lnSpc>
              <a:spcAft>
                <a:spcPts val="600"/>
              </a:spcAft>
              <a:buFont typeface="+mj-lt"/>
              <a:buAutoNum type="arabicPeriod"/>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业务策略与</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地址解耦</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42900" indent="-342900">
              <a:lnSpc>
                <a:spcPts val="2200"/>
              </a:lnSpc>
              <a:spcAft>
                <a:spcPts val="600"/>
              </a:spcAft>
              <a:buFont typeface="+mj-lt"/>
              <a:buAutoNum type="arabicPeriod"/>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用户信息集中管理</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42900" indent="-342900">
              <a:lnSpc>
                <a:spcPts val="2200"/>
              </a:lnSpc>
              <a:spcAft>
                <a:spcPts val="600"/>
              </a:spcAft>
              <a:buFont typeface="+mj-lt"/>
              <a:buAutoNum type="arabicPeriod"/>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策略集中管理</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7" name="圆角矩形 75"/>
          <p:cNvSpPr/>
          <p:nvPr/>
        </p:nvSpPr>
        <p:spPr bwMode="gray">
          <a:xfrm>
            <a:off x="6564745" y="4009260"/>
            <a:ext cx="4727758"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业务随行的优点</a:t>
            </a:r>
          </a:p>
        </p:txBody>
      </p:sp>
      <p:sp>
        <p:nvSpPr>
          <p:cNvPr id="138" name="圆角矩形 75"/>
          <p:cNvSpPr/>
          <p:nvPr/>
        </p:nvSpPr>
        <p:spPr bwMode="gray">
          <a:xfrm>
            <a:off x="6564745" y="4455554"/>
            <a:ext cx="4727758" cy="1682438"/>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342900" indent="-342900">
              <a:lnSpc>
                <a:spcPts val="2200"/>
              </a:lnSpc>
              <a:spcAft>
                <a:spcPts val="600"/>
              </a:spcAft>
              <a:buFont typeface="+mj-lt"/>
              <a:buAutoNum type="arabicPeriod"/>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简化网络规划：管理员配置策略时无需关注用户的</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a:t>
            </a:r>
          </a:p>
          <a:p>
            <a:pPr marL="342900" indent="-342900">
              <a:lnSpc>
                <a:spcPts val="2200"/>
              </a:lnSpc>
              <a:spcAft>
                <a:spcPts val="600"/>
              </a:spcAft>
              <a:buFont typeface="+mj-lt"/>
              <a:buAutoNum type="arabicPeriod"/>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增强控制能力：实现网络设备上认证用户信息的相互同步。</a:t>
            </a:r>
          </a:p>
          <a:p>
            <a:pPr marL="342900" indent="-342900">
              <a:lnSpc>
                <a:spcPts val="2200"/>
              </a:lnSpc>
              <a:spcAft>
                <a:spcPts val="600"/>
              </a:spcAft>
              <a:buFont typeface="+mj-lt"/>
              <a:buAutoNum type="arabicPeriod"/>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管理效率提升：管理员无需逐台设备重复配置。</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50" name="图片 4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4503436" y="2630126"/>
            <a:ext cx="1346845" cy="248394"/>
          </a:xfrm>
          <a:prstGeom prst="rect">
            <a:avLst/>
          </a:prstGeom>
        </p:spPr>
      </p:pic>
    </p:spTree>
    <p:extLst>
      <p:ext uri="{BB962C8B-B14F-4D97-AF65-F5344CB8AC3E}">
        <p14:creationId xmlns:p14="http://schemas.microsoft.com/office/powerpoint/2010/main" val="4247939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业务随行的基本流程</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a:xfrm>
            <a:off x="455613" y="1047750"/>
            <a:ext cx="11256962" cy="544201"/>
          </a:xfrm>
        </p:spPr>
        <p:txBody>
          <a:bodyPr/>
          <a:lstStyle/>
          <a:p>
            <a:r>
              <a:rPr lang="zh-CN" altLang="en-US" sz="2000" dirty="0">
                <a:sym typeface="Huawei Sans" panose="020C0503030203020204" pitchFamily="34" charset="0"/>
              </a:rPr>
              <a:t>业务随行基于安全组进行策略管理及权限控制。</a:t>
            </a:r>
            <a:endParaRPr lang="en-US" altLang="zh-CN" sz="2000" dirty="0">
              <a:sym typeface="Huawei Sans" panose="020C0503030203020204" pitchFamily="34" charset="0"/>
            </a:endParaRPr>
          </a:p>
        </p:txBody>
      </p:sp>
      <p:sp>
        <p:nvSpPr>
          <p:cNvPr id="4" name="Freeform 159"/>
          <p:cNvSpPr/>
          <p:nvPr/>
        </p:nvSpPr>
        <p:spPr bwMode="gray">
          <a:xfrm flipH="1">
            <a:off x="953925" y="2442718"/>
            <a:ext cx="6336264" cy="368781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Freeform 159"/>
          <p:cNvSpPr/>
          <p:nvPr/>
        </p:nvSpPr>
        <p:spPr bwMode="gray">
          <a:xfrm flipH="1">
            <a:off x="3495524" y="4062001"/>
            <a:ext cx="1253066" cy="72930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56C4D2"/>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3"/>
          <p:cNvSpPr txBox="1"/>
          <p:nvPr/>
        </p:nvSpPr>
        <p:spPr bwMode="gray">
          <a:xfrm>
            <a:off x="3619355" y="4301407"/>
            <a:ext cx="1005404" cy="338554"/>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zh-CN" altLang="en-US" sz="16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园区网络</a:t>
            </a:r>
          </a:p>
        </p:txBody>
      </p:sp>
      <p:grpSp>
        <p:nvGrpSpPr>
          <p:cNvPr id="15" name="组合 14"/>
          <p:cNvGrpSpPr>
            <a:grpSpLocks noChangeAspect="1"/>
          </p:cNvGrpSpPr>
          <p:nvPr/>
        </p:nvGrpSpPr>
        <p:grpSpPr bwMode="gray">
          <a:xfrm>
            <a:off x="2043476" y="5585310"/>
            <a:ext cx="416479" cy="416479"/>
            <a:chOff x="373063" y="2114551"/>
            <a:chExt cx="1114425" cy="1116013"/>
          </a:xfrm>
        </p:grpSpPr>
        <p:sp>
          <p:nvSpPr>
            <p:cNvPr id="46"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1D69AD"/>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7" name="组合 46"/>
            <p:cNvGrpSpPr>
              <a:grpSpLocks/>
            </p:cNvGrpSpPr>
            <p:nvPr/>
          </p:nvGrpSpPr>
          <p:grpSpPr bwMode="gray">
            <a:xfrm>
              <a:off x="649288" y="2289176"/>
              <a:ext cx="561975" cy="769938"/>
              <a:chOff x="649288" y="2289176"/>
              <a:chExt cx="561975" cy="769938"/>
            </a:xfrm>
          </p:grpSpPr>
          <p:sp>
            <p:nvSpPr>
              <p:cNvPr id="48"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6" name="组合 15"/>
          <p:cNvGrpSpPr>
            <a:grpSpLocks noChangeAspect="1"/>
          </p:cNvGrpSpPr>
          <p:nvPr/>
        </p:nvGrpSpPr>
        <p:grpSpPr bwMode="gray">
          <a:xfrm>
            <a:off x="3671073" y="5585310"/>
            <a:ext cx="416479" cy="416479"/>
            <a:chOff x="373063" y="2114551"/>
            <a:chExt cx="1114425" cy="1116013"/>
          </a:xfrm>
        </p:grpSpPr>
        <p:sp>
          <p:nvSpPr>
            <p:cNvPr id="38"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1D69AD"/>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9" name="组合 38"/>
            <p:cNvGrpSpPr>
              <a:grpSpLocks/>
            </p:cNvGrpSpPr>
            <p:nvPr/>
          </p:nvGrpSpPr>
          <p:grpSpPr bwMode="gray">
            <a:xfrm>
              <a:off x="649288" y="2289176"/>
              <a:ext cx="561975" cy="769938"/>
              <a:chOff x="649288" y="2289176"/>
              <a:chExt cx="561975" cy="769938"/>
            </a:xfrm>
          </p:grpSpPr>
          <p:sp>
            <p:nvSpPr>
              <p:cNvPr id="40"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7" name="组合 16"/>
          <p:cNvGrpSpPr>
            <a:grpSpLocks noChangeAspect="1"/>
          </p:cNvGrpSpPr>
          <p:nvPr/>
        </p:nvGrpSpPr>
        <p:grpSpPr bwMode="gray">
          <a:xfrm>
            <a:off x="5294943" y="5585310"/>
            <a:ext cx="416479" cy="416479"/>
            <a:chOff x="373063" y="2114551"/>
            <a:chExt cx="1114425" cy="1116013"/>
          </a:xfrm>
        </p:grpSpPr>
        <p:sp>
          <p:nvSpPr>
            <p:cNvPr id="30"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1D69AD"/>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组合 30"/>
            <p:cNvGrpSpPr>
              <a:grpSpLocks/>
            </p:cNvGrpSpPr>
            <p:nvPr/>
          </p:nvGrpSpPr>
          <p:grpSpPr bwMode="gray">
            <a:xfrm>
              <a:off x="649288" y="2289176"/>
              <a:ext cx="561975" cy="769938"/>
              <a:chOff x="649288" y="2289176"/>
              <a:chExt cx="561975" cy="769938"/>
            </a:xfrm>
          </p:grpSpPr>
          <p:sp>
            <p:nvSpPr>
              <p:cNvPr id="32"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8" name="Freeform 222"/>
          <p:cNvSpPr/>
          <p:nvPr/>
        </p:nvSpPr>
        <p:spPr bwMode="gray">
          <a:xfrm rot="16761088">
            <a:off x="2340071" y="4801252"/>
            <a:ext cx="936838" cy="796839"/>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0">
                  <a:schemeClr val="accent1">
                    <a:lumMod val="0"/>
                    <a:lumOff val="100000"/>
                    <a:alpha val="0"/>
                  </a:schemeClr>
                </a:gs>
                <a:gs pos="86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Freeform 222"/>
          <p:cNvSpPr/>
          <p:nvPr/>
        </p:nvSpPr>
        <p:spPr bwMode="gray">
          <a:xfrm rot="15742895" flipV="1">
            <a:off x="4879507" y="4827519"/>
            <a:ext cx="936838" cy="713614"/>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0">
                  <a:schemeClr val="accent1">
                    <a:lumMod val="0"/>
                    <a:lumOff val="100000"/>
                    <a:alpha val="0"/>
                  </a:schemeClr>
                </a:gs>
                <a:gs pos="86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Right Arrow 158"/>
          <p:cNvSpPr/>
          <p:nvPr/>
        </p:nvSpPr>
        <p:spPr bwMode="gray">
          <a:xfrm rot="16200000">
            <a:off x="3715044" y="4691006"/>
            <a:ext cx="845858" cy="1065456"/>
          </a:xfrm>
          <a:custGeom>
            <a:avLst/>
            <a:gdLst>
              <a:gd name="connsiteX0" fmla="*/ 0 w 633403"/>
              <a:gd name="connsiteY0" fmla="*/ 140615 h 494305"/>
              <a:gd name="connsiteX1" fmla="*/ 386251 w 633403"/>
              <a:gd name="connsiteY1" fmla="*/ 140615 h 494305"/>
              <a:gd name="connsiteX2" fmla="*/ 386251 w 633403"/>
              <a:gd name="connsiteY2" fmla="*/ 0 h 494305"/>
              <a:gd name="connsiteX3" fmla="*/ 633403 w 633403"/>
              <a:gd name="connsiteY3" fmla="*/ 247153 h 494305"/>
              <a:gd name="connsiteX4" fmla="*/ 386251 w 633403"/>
              <a:gd name="connsiteY4" fmla="*/ 494305 h 494305"/>
              <a:gd name="connsiteX5" fmla="*/ 386251 w 633403"/>
              <a:gd name="connsiteY5" fmla="*/ 353690 h 494305"/>
              <a:gd name="connsiteX6" fmla="*/ 0 w 633403"/>
              <a:gd name="connsiteY6" fmla="*/ 353690 h 494305"/>
              <a:gd name="connsiteX7" fmla="*/ 0 w 633403"/>
              <a:gd name="connsiteY7" fmla="*/ 140615 h 494305"/>
              <a:gd name="connsiteX0" fmla="*/ 0 w 637213"/>
              <a:gd name="connsiteY0" fmla="*/ 0 h 1016630"/>
              <a:gd name="connsiteX1" fmla="*/ 390061 w 637213"/>
              <a:gd name="connsiteY1" fmla="*/ 662940 h 1016630"/>
              <a:gd name="connsiteX2" fmla="*/ 390061 w 637213"/>
              <a:gd name="connsiteY2" fmla="*/ 522325 h 1016630"/>
              <a:gd name="connsiteX3" fmla="*/ 637213 w 637213"/>
              <a:gd name="connsiteY3" fmla="*/ 769478 h 1016630"/>
              <a:gd name="connsiteX4" fmla="*/ 390061 w 637213"/>
              <a:gd name="connsiteY4" fmla="*/ 1016630 h 1016630"/>
              <a:gd name="connsiteX5" fmla="*/ 390061 w 637213"/>
              <a:gd name="connsiteY5" fmla="*/ 876015 h 1016630"/>
              <a:gd name="connsiteX6" fmla="*/ 3810 w 637213"/>
              <a:gd name="connsiteY6" fmla="*/ 876015 h 1016630"/>
              <a:gd name="connsiteX7" fmla="*/ 0 w 637213"/>
              <a:gd name="connsiteY7" fmla="*/ 0 h 1016630"/>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1 w 1212477"/>
              <a:gd name="connsiteY0" fmla="*/ 0 h 1770281"/>
              <a:gd name="connsiteX1" fmla="*/ 965325 w 1212477"/>
              <a:gd name="connsiteY1" fmla="*/ 898073 h 1770281"/>
              <a:gd name="connsiteX2" fmla="*/ 965325 w 1212477"/>
              <a:gd name="connsiteY2" fmla="*/ 757458 h 1770281"/>
              <a:gd name="connsiteX3" fmla="*/ 1212477 w 1212477"/>
              <a:gd name="connsiteY3" fmla="*/ 1004611 h 1770281"/>
              <a:gd name="connsiteX4" fmla="*/ 965325 w 1212477"/>
              <a:gd name="connsiteY4" fmla="*/ 1251763 h 1770281"/>
              <a:gd name="connsiteX5" fmla="*/ 965325 w 1212477"/>
              <a:gd name="connsiteY5" fmla="*/ 1111148 h 1770281"/>
              <a:gd name="connsiteX6" fmla="*/ 582884 w 1212477"/>
              <a:gd name="connsiteY6" fmla="*/ 1770281 h 1770281"/>
              <a:gd name="connsiteX7" fmla="*/ -1 w 1212477"/>
              <a:gd name="connsiteY7" fmla="*/ 0 h 1770281"/>
              <a:gd name="connsiteX0" fmla="*/ 0 w 1212478"/>
              <a:gd name="connsiteY0" fmla="*/ 0 h 2112676"/>
              <a:gd name="connsiteX1" fmla="*/ 965326 w 1212478"/>
              <a:gd name="connsiteY1" fmla="*/ 898073 h 2112676"/>
              <a:gd name="connsiteX2" fmla="*/ 965326 w 1212478"/>
              <a:gd name="connsiteY2" fmla="*/ 757458 h 2112676"/>
              <a:gd name="connsiteX3" fmla="*/ 1212478 w 1212478"/>
              <a:gd name="connsiteY3" fmla="*/ 1004611 h 2112676"/>
              <a:gd name="connsiteX4" fmla="*/ 965326 w 1212478"/>
              <a:gd name="connsiteY4" fmla="*/ 1251763 h 2112676"/>
              <a:gd name="connsiteX5" fmla="*/ 965326 w 1212478"/>
              <a:gd name="connsiteY5" fmla="*/ 1111148 h 2112676"/>
              <a:gd name="connsiteX6" fmla="*/ 29466 w 1212478"/>
              <a:gd name="connsiteY6" fmla="*/ 2112677 h 2112676"/>
              <a:gd name="connsiteX7" fmla="*/ 0 w 1212478"/>
              <a:gd name="connsiteY7" fmla="*/ 0 h 2112676"/>
              <a:gd name="connsiteX0" fmla="*/ 0 w 1212478"/>
              <a:gd name="connsiteY0" fmla="*/ 0 h 2112678"/>
              <a:gd name="connsiteX1" fmla="*/ 965326 w 1212478"/>
              <a:gd name="connsiteY1" fmla="*/ 898073 h 2112678"/>
              <a:gd name="connsiteX2" fmla="*/ 965326 w 1212478"/>
              <a:gd name="connsiteY2" fmla="*/ 757458 h 2112678"/>
              <a:gd name="connsiteX3" fmla="*/ 1212478 w 1212478"/>
              <a:gd name="connsiteY3" fmla="*/ 1004611 h 2112678"/>
              <a:gd name="connsiteX4" fmla="*/ 965326 w 1212478"/>
              <a:gd name="connsiteY4" fmla="*/ 1251763 h 2112678"/>
              <a:gd name="connsiteX5" fmla="*/ 965326 w 1212478"/>
              <a:gd name="connsiteY5" fmla="*/ 1111148 h 2112678"/>
              <a:gd name="connsiteX6" fmla="*/ 29466 w 1212478"/>
              <a:gd name="connsiteY6" fmla="*/ 2112678 h 2112678"/>
              <a:gd name="connsiteX7" fmla="*/ 0 w 1212478"/>
              <a:gd name="connsiteY7" fmla="*/ 0 h 2112678"/>
              <a:gd name="connsiteX0" fmla="*/ 0 w 1212478"/>
              <a:gd name="connsiteY0" fmla="*/ 0 h 2112678"/>
              <a:gd name="connsiteX1" fmla="*/ 965326 w 1212478"/>
              <a:gd name="connsiteY1" fmla="*/ 898073 h 2112678"/>
              <a:gd name="connsiteX2" fmla="*/ 965326 w 1212478"/>
              <a:gd name="connsiteY2" fmla="*/ 757458 h 2112678"/>
              <a:gd name="connsiteX3" fmla="*/ 1212478 w 1212478"/>
              <a:gd name="connsiteY3" fmla="*/ 1004611 h 2112678"/>
              <a:gd name="connsiteX4" fmla="*/ 965326 w 1212478"/>
              <a:gd name="connsiteY4" fmla="*/ 1251763 h 2112678"/>
              <a:gd name="connsiteX5" fmla="*/ 965326 w 1212478"/>
              <a:gd name="connsiteY5" fmla="*/ 1111148 h 2112678"/>
              <a:gd name="connsiteX6" fmla="*/ 29466 w 1212478"/>
              <a:gd name="connsiteY6" fmla="*/ 2112678 h 2112678"/>
              <a:gd name="connsiteX7" fmla="*/ 0 w 1212478"/>
              <a:gd name="connsiteY7" fmla="*/ 0 h 211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2478" h="2112678">
                <a:moveTo>
                  <a:pt x="0" y="0"/>
                </a:moveTo>
                <a:cubicBezTo>
                  <a:pt x="76680" y="461013"/>
                  <a:pt x="698146" y="848546"/>
                  <a:pt x="965326" y="898073"/>
                </a:cubicBezTo>
                <a:lnTo>
                  <a:pt x="965326" y="757458"/>
                </a:lnTo>
                <a:lnTo>
                  <a:pt x="1212478" y="1004611"/>
                </a:lnTo>
                <a:lnTo>
                  <a:pt x="965326" y="1251763"/>
                </a:lnTo>
                <a:lnTo>
                  <a:pt x="965326" y="1111148"/>
                </a:lnTo>
                <a:cubicBezTo>
                  <a:pt x="693066" y="1208942"/>
                  <a:pt x="126972" y="1618078"/>
                  <a:pt x="29466" y="2112678"/>
                </a:cubicBezTo>
                <a:lnTo>
                  <a:pt x="0" y="0"/>
                </a:lnTo>
                <a:close/>
              </a:path>
            </a:pathLst>
          </a:custGeom>
          <a:gradFill flip="none" rotWithShape="1">
            <a:gsLst>
              <a:gs pos="15000">
                <a:schemeClr val="accent1">
                  <a:lumMod val="5000"/>
                  <a:lumOff val="95000"/>
                  <a:alpha val="0"/>
                </a:schemeClr>
              </a:gs>
              <a:gs pos="81000">
                <a:srgbClr val="FFCC66"/>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103"/>
          <p:cNvSpPr txBox="1"/>
          <p:nvPr/>
        </p:nvSpPr>
        <p:spPr bwMode="gray">
          <a:xfrm>
            <a:off x="2411473" y="5665430"/>
            <a:ext cx="66075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a:t>
            </a:r>
          </a:p>
        </p:txBody>
      </p:sp>
      <p:sp>
        <p:nvSpPr>
          <p:cNvPr id="22" name="文本框 104"/>
          <p:cNvSpPr txBox="1"/>
          <p:nvPr/>
        </p:nvSpPr>
        <p:spPr bwMode="gray">
          <a:xfrm>
            <a:off x="4065911" y="5665430"/>
            <a:ext cx="66075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B</a:t>
            </a:r>
          </a:p>
        </p:txBody>
      </p:sp>
      <p:sp>
        <p:nvSpPr>
          <p:cNvPr id="23" name="文本框 105"/>
          <p:cNvSpPr txBox="1"/>
          <p:nvPr/>
        </p:nvSpPr>
        <p:spPr bwMode="gray">
          <a:xfrm>
            <a:off x="5664614" y="5665430"/>
            <a:ext cx="660758"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C</a:t>
            </a:r>
          </a:p>
        </p:txBody>
      </p:sp>
      <p:sp>
        <p:nvSpPr>
          <p:cNvPr id="24" name="文本框 107"/>
          <p:cNvSpPr txBox="1"/>
          <p:nvPr/>
        </p:nvSpPr>
        <p:spPr bwMode="gray">
          <a:xfrm>
            <a:off x="2011735" y="5216939"/>
            <a:ext cx="902811"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40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准入认证</a:t>
            </a:r>
            <a:endParaRPr lang="en-US" altLang="zh-CN" sz="140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108"/>
          <p:cNvSpPr txBox="1"/>
          <p:nvPr/>
        </p:nvSpPr>
        <p:spPr bwMode="gray">
          <a:xfrm>
            <a:off x="3670650" y="5216939"/>
            <a:ext cx="902811"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40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准入认证</a:t>
            </a:r>
            <a:endParaRPr lang="en-US" altLang="zh-CN" sz="140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109"/>
          <p:cNvSpPr txBox="1"/>
          <p:nvPr/>
        </p:nvSpPr>
        <p:spPr bwMode="gray">
          <a:xfrm>
            <a:off x="5219203" y="5216939"/>
            <a:ext cx="902811" cy="307777"/>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40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准入认证</a:t>
            </a:r>
            <a:endParaRPr lang="en-US" altLang="zh-CN" sz="140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Right Arrow 158"/>
          <p:cNvSpPr/>
          <p:nvPr/>
        </p:nvSpPr>
        <p:spPr bwMode="gray">
          <a:xfrm rot="16200000" flipH="1">
            <a:off x="3763206" y="851570"/>
            <a:ext cx="724137" cy="5696725"/>
          </a:xfrm>
          <a:custGeom>
            <a:avLst/>
            <a:gdLst>
              <a:gd name="connsiteX0" fmla="*/ 0 w 633403"/>
              <a:gd name="connsiteY0" fmla="*/ 140615 h 494305"/>
              <a:gd name="connsiteX1" fmla="*/ 386251 w 633403"/>
              <a:gd name="connsiteY1" fmla="*/ 140615 h 494305"/>
              <a:gd name="connsiteX2" fmla="*/ 386251 w 633403"/>
              <a:gd name="connsiteY2" fmla="*/ 0 h 494305"/>
              <a:gd name="connsiteX3" fmla="*/ 633403 w 633403"/>
              <a:gd name="connsiteY3" fmla="*/ 247153 h 494305"/>
              <a:gd name="connsiteX4" fmla="*/ 386251 w 633403"/>
              <a:gd name="connsiteY4" fmla="*/ 494305 h 494305"/>
              <a:gd name="connsiteX5" fmla="*/ 386251 w 633403"/>
              <a:gd name="connsiteY5" fmla="*/ 353690 h 494305"/>
              <a:gd name="connsiteX6" fmla="*/ 0 w 633403"/>
              <a:gd name="connsiteY6" fmla="*/ 353690 h 494305"/>
              <a:gd name="connsiteX7" fmla="*/ 0 w 633403"/>
              <a:gd name="connsiteY7" fmla="*/ 140615 h 494305"/>
              <a:gd name="connsiteX0" fmla="*/ 0 w 637213"/>
              <a:gd name="connsiteY0" fmla="*/ 0 h 1016630"/>
              <a:gd name="connsiteX1" fmla="*/ 390061 w 637213"/>
              <a:gd name="connsiteY1" fmla="*/ 662940 h 1016630"/>
              <a:gd name="connsiteX2" fmla="*/ 390061 w 637213"/>
              <a:gd name="connsiteY2" fmla="*/ 522325 h 1016630"/>
              <a:gd name="connsiteX3" fmla="*/ 637213 w 637213"/>
              <a:gd name="connsiteY3" fmla="*/ 769478 h 1016630"/>
              <a:gd name="connsiteX4" fmla="*/ 390061 w 637213"/>
              <a:gd name="connsiteY4" fmla="*/ 1016630 h 1016630"/>
              <a:gd name="connsiteX5" fmla="*/ 390061 w 637213"/>
              <a:gd name="connsiteY5" fmla="*/ 876015 h 1016630"/>
              <a:gd name="connsiteX6" fmla="*/ 3810 w 637213"/>
              <a:gd name="connsiteY6" fmla="*/ 876015 h 1016630"/>
              <a:gd name="connsiteX7" fmla="*/ 0 w 637213"/>
              <a:gd name="connsiteY7" fmla="*/ 0 h 1016630"/>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1 w 1212477"/>
              <a:gd name="connsiteY0" fmla="*/ 0 h 1770281"/>
              <a:gd name="connsiteX1" fmla="*/ 965325 w 1212477"/>
              <a:gd name="connsiteY1" fmla="*/ 898073 h 1770281"/>
              <a:gd name="connsiteX2" fmla="*/ 965325 w 1212477"/>
              <a:gd name="connsiteY2" fmla="*/ 757458 h 1770281"/>
              <a:gd name="connsiteX3" fmla="*/ 1212477 w 1212477"/>
              <a:gd name="connsiteY3" fmla="*/ 1004611 h 1770281"/>
              <a:gd name="connsiteX4" fmla="*/ 965325 w 1212477"/>
              <a:gd name="connsiteY4" fmla="*/ 1251763 h 1770281"/>
              <a:gd name="connsiteX5" fmla="*/ 965325 w 1212477"/>
              <a:gd name="connsiteY5" fmla="*/ 1111148 h 1770281"/>
              <a:gd name="connsiteX6" fmla="*/ 582884 w 1212477"/>
              <a:gd name="connsiteY6" fmla="*/ 1770281 h 1770281"/>
              <a:gd name="connsiteX7" fmla="*/ -1 w 1212477"/>
              <a:gd name="connsiteY7" fmla="*/ 0 h 1770281"/>
              <a:gd name="connsiteX0" fmla="*/ 0 w 1212478"/>
              <a:gd name="connsiteY0" fmla="*/ 0 h 2112676"/>
              <a:gd name="connsiteX1" fmla="*/ 965326 w 1212478"/>
              <a:gd name="connsiteY1" fmla="*/ 898073 h 2112676"/>
              <a:gd name="connsiteX2" fmla="*/ 965326 w 1212478"/>
              <a:gd name="connsiteY2" fmla="*/ 757458 h 2112676"/>
              <a:gd name="connsiteX3" fmla="*/ 1212478 w 1212478"/>
              <a:gd name="connsiteY3" fmla="*/ 1004611 h 2112676"/>
              <a:gd name="connsiteX4" fmla="*/ 965326 w 1212478"/>
              <a:gd name="connsiteY4" fmla="*/ 1251763 h 2112676"/>
              <a:gd name="connsiteX5" fmla="*/ 965326 w 1212478"/>
              <a:gd name="connsiteY5" fmla="*/ 1111148 h 2112676"/>
              <a:gd name="connsiteX6" fmla="*/ 29466 w 1212478"/>
              <a:gd name="connsiteY6" fmla="*/ 2112677 h 2112676"/>
              <a:gd name="connsiteX7" fmla="*/ 0 w 1212478"/>
              <a:gd name="connsiteY7" fmla="*/ 0 h 2112676"/>
              <a:gd name="connsiteX0" fmla="*/ 0 w 1212478"/>
              <a:gd name="connsiteY0" fmla="*/ 0 h 2112678"/>
              <a:gd name="connsiteX1" fmla="*/ 965326 w 1212478"/>
              <a:gd name="connsiteY1" fmla="*/ 898073 h 2112678"/>
              <a:gd name="connsiteX2" fmla="*/ 965326 w 1212478"/>
              <a:gd name="connsiteY2" fmla="*/ 757458 h 2112678"/>
              <a:gd name="connsiteX3" fmla="*/ 1212478 w 1212478"/>
              <a:gd name="connsiteY3" fmla="*/ 1004611 h 2112678"/>
              <a:gd name="connsiteX4" fmla="*/ 965326 w 1212478"/>
              <a:gd name="connsiteY4" fmla="*/ 1251763 h 2112678"/>
              <a:gd name="connsiteX5" fmla="*/ 965326 w 1212478"/>
              <a:gd name="connsiteY5" fmla="*/ 1111148 h 2112678"/>
              <a:gd name="connsiteX6" fmla="*/ 29466 w 1212478"/>
              <a:gd name="connsiteY6" fmla="*/ 2112678 h 2112678"/>
              <a:gd name="connsiteX7" fmla="*/ 0 w 1212478"/>
              <a:gd name="connsiteY7" fmla="*/ 0 h 2112678"/>
              <a:gd name="connsiteX0" fmla="*/ 0 w 1212478"/>
              <a:gd name="connsiteY0" fmla="*/ 0 h 2112678"/>
              <a:gd name="connsiteX1" fmla="*/ 965326 w 1212478"/>
              <a:gd name="connsiteY1" fmla="*/ 898073 h 2112678"/>
              <a:gd name="connsiteX2" fmla="*/ 965326 w 1212478"/>
              <a:gd name="connsiteY2" fmla="*/ 757458 h 2112678"/>
              <a:gd name="connsiteX3" fmla="*/ 1212478 w 1212478"/>
              <a:gd name="connsiteY3" fmla="*/ 1004611 h 2112678"/>
              <a:gd name="connsiteX4" fmla="*/ 965326 w 1212478"/>
              <a:gd name="connsiteY4" fmla="*/ 1251763 h 2112678"/>
              <a:gd name="connsiteX5" fmla="*/ 965326 w 1212478"/>
              <a:gd name="connsiteY5" fmla="*/ 1111148 h 2112678"/>
              <a:gd name="connsiteX6" fmla="*/ 29466 w 1212478"/>
              <a:gd name="connsiteY6" fmla="*/ 2112678 h 2112678"/>
              <a:gd name="connsiteX7" fmla="*/ 0 w 1212478"/>
              <a:gd name="connsiteY7" fmla="*/ 0 h 2112678"/>
              <a:gd name="connsiteX0" fmla="*/ 316036 w 1183012"/>
              <a:gd name="connsiteY0" fmla="*/ 0 h 6729497"/>
              <a:gd name="connsiteX1" fmla="*/ 935860 w 1183012"/>
              <a:gd name="connsiteY1" fmla="*/ 5514892 h 6729497"/>
              <a:gd name="connsiteX2" fmla="*/ 935860 w 1183012"/>
              <a:gd name="connsiteY2" fmla="*/ 5374277 h 6729497"/>
              <a:gd name="connsiteX3" fmla="*/ 1183012 w 1183012"/>
              <a:gd name="connsiteY3" fmla="*/ 5621430 h 6729497"/>
              <a:gd name="connsiteX4" fmla="*/ 935860 w 1183012"/>
              <a:gd name="connsiteY4" fmla="*/ 5868582 h 6729497"/>
              <a:gd name="connsiteX5" fmla="*/ 935860 w 1183012"/>
              <a:gd name="connsiteY5" fmla="*/ 5727967 h 6729497"/>
              <a:gd name="connsiteX6" fmla="*/ 0 w 1183012"/>
              <a:gd name="connsiteY6" fmla="*/ 6729497 h 6729497"/>
              <a:gd name="connsiteX7" fmla="*/ 316036 w 1183012"/>
              <a:gd name="connsiteY7" fmla="*/ 0 h 6729497"/>
              <a:gd name="connsiteX0" fmla="*/ 45646 w 912622"/>
              <a:gd name="connsiteY0" fmla="*/ 0 h 11295957"/>
              <a:gd name="connsiteX1" fmla="*/ 665470 w 912622"/>
              <a:gd name="connsiteY1" fmla="*/ 5514892 h 11295957"/>
              <a:gd name="connsiteX2" fmla="*/ 665470 w 912622"/>
              <a:gd name="connsiteY2" fmla="*/ 5374277 h 11295957"/>
              <a:gd name="connsiteX3" fmla="*/ 912622 w 912622"/>
              <a:gd name="connsiteY3" fmla="*/ 5621430 h 11295957"/>
              <a:gd name="connsiteX4" fmla="*/ 665470 w 912622"/>
              <a:gd name="connsiteY4" fmla="*/ 5868582 h 11295957"/>
              <a:gd name="connsiteX5" fmla="*/ 665470 w 912622"/>
              <a:gd name="connsiteY5" fmla="*/ 5727967 h 11295957"/>
              <a:gd name="connsiteX6" fmla="*/ 1 w 912622"/>
              <a:gd name="connsiteY6" fmla="*/ 11295956 h 11295957"/>
              <a:gd name="connsiteX7" fmla="*/ 45646 w 912622"/>
              <a:gd name="connsiteY7" fmla="*/ 0 h 11295957"/>
              <a:gd name="connsiteX0" fmla="*/ 45644 w 912620"/>
              <a:gd name="connsiteY0" fmla="*/ 0 h 11295955"/>
              <a:gd name="connsiteX1" fmla="*/ 665468 w 912620"/>
              <a:gd name="connsiteY1" fmla="*/ 5514892 h 11295955"/>
              <a:gd name="connsiteX2" fmla="*/ 665468 w 912620"/>
              <a:gd name="connsiteY2" fmla="*/ 5374277 h 11295955"/>
              <a:gd name="connsiteX3" fmla="*/ 912620 w 912620"/>
              <a:gd name="connsiteY3" fmla="*/ 5621430 h 11295955"/>
              <a:gd name="connsiteX4" fmla="*/ 665468 w 912620"/>
              <a:gd name="connsiteY4" fmla="*/ 5868582 h 11295955"/>
              <a:gd name="connsiteX5" fmla="*/ 665468 w 912620"/>
              <a:gd name="connsiteY5" fmla="*/ 5727967 h 11295955"/>
              <a:gd name="connsiteX6" fmla="*/ -1 w 912620"/>
              <a:gd name="connsiteY6" fmla="*/ 11295956 h 11295955"/>
              <a:gd name="connsiteX7" fmla="*/ 45644 w 912620"/>
              <a:gd name="connsiteY7" fmla="*/ 0 h 11295955"/>
              <a:gd name="connsiteX0" fmla="*/ 45646 w 912622"/>
              <a:gd name="connsiteY0" fmla="*/ 0 h 11295957"/>
              <a:gd name="connsiteX1" fmla="*/ 665470 w 912622"/>
              <a:gd name="connsiteY1" fmla="*/ 5514892 h 11295957"/>
              <a:gd name="connsiteX2" fmla="*/ 665470 w 912622"/>
              <a:gd name="connsiteY2" fmla="*/ 5374277 h 11295957"/>
              <a:gd name="connsiteX3" fmla="*/ 912622 w 912622"/>
              <a:gd name="connsiteY3" fmla="*/ 5621430 h 11295957"/>
              <a:gd name="connsiteX4" fmla="*/ 665470 w 912622"/>
              <a:gd name="connsiteY4" fmla="*/ 5868582 h 11295957"/>
              <a:gd name="connsiteX5" fmla="*/ 665470 w 912622"/>
              <a:gd name="connsiteY5" fmla="*/ 5727967 h 11295957"/>
              <a:gd name="connsiteX6" fmla="*/ 1 w 912622"/>
              <a:gd name="connsiteY6" fmla="*/ 11295956 h 11295957"/>
              <a:gd name="connsiteX7" fmla="*/ 45646 w 912622"/>
              <a:gd name="connsiteY7" fmla="*/ 0 h 11295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2622" h="11295957">
                <a:moveTo>
                  <a:pt x="45646" y="0"/>
                </a:moveTo>
                <a:cubicBezTo>
                  <a:pt x="122326" y="461013"/>
                  <a:pt x="33260" y="5168210"/>
                  <a:pt x="665470" y="5514892"/>
                </a:cubicBezTo>
                <a:lnTo>
                  <a:pt x="665470" y="5374277"/>
                </a:lnTo>
                <a:lnTo>
                  <a:pt x="912622" y="5621430"/>
                </a:lnTo>
                <a:lnTo>
                  <a:pt x="665470" y="5868582"/>
                </a:lnTo>
                <a:lnTo>
                  <a:pt x="665470" y="5727967"/>
                </a:lnTo>
                <a:cubicBezTo>
                  <a:pt x="-48431" y="5855980"/>
                  <a:pt x="97507" y="10801356"/>
                  <a:pt x="1" y="11295956"/>
                </a:cubicBezTo>
                <a:lnTo>
                  <a:pt x="45646" y="0"/>
                </a:lnTo>
                <a:close/>
              </a:path>
            </a:pathLst>
          </a:custGeom>
          <a:gradFill flip="none" rotWithShape="1">
            <a:gsLst>
              <a:gs pos="15000">
                <a:schemeClr val="accent1">
                  <a:lumMod val="5000"/>
                  <a:lumOff val="95000"/>
                  <a:alpha val="0"/>
                </a:schemeClr>
              </a:gs>
              <a:gs pos="81000">
                <a:srgbClr val="FFCC66"/>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121"/>
          <p:cNvSpPr txBox="1"/>
          <p:nvPr/>
        </p:nvSpPr>
        <p:spPr bwMode="gray">
          <a:xfrm>
            <a:off x="3208984" y="3378792"/>
            <a:ext cx="1826141" cy="338554"/>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zh-CN" altLang="en-US" sz="16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安全组及策略下发</a:t>
            </a:r>
            <a:endParaRPr lang="en-US" altLang="zh-CN" sz="16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Oval 4"/>
          <p:cNvSpPr>
            <a:spLocks noChangeAspect="1"/>
          </p:cNvSpPr>
          <p:nvPr/>
        </p:nvSpPr>
        <p:spPr bwMode="gray">
          <a:xfrm>
            <a:off x="1729371" y="5239563"/>
            <a:ext cx="256186" cy="256186"/>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Oval 4"/>
          <p:cNvSpPr>
            <a:spLocks noChangeAspect="1"/>
          </p:cNvSpPr>
          <p:nvPr/>
        </p:nvSpPr>
        <p:spPr bwMode="gray">
          <a:xfrm>
            <a:off x="3165917" y="4298561"/>
            <a:ext cx="256186" cy="256186"/>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Oval 4"/>
          <p:cNvSpPr>
            <a:spLocks noChangeAspect="1"/>
          </p:cNvSpPr>
          <p:nvPr/>
        </p:nvSpPr>
        <p:spPr bwMode="gray">
          <a:xfrm>
            <a:off x="2997105" y="3403525"/>
            <a:ext cx="256186" cy="256186"/>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圆角矩形 91"/>
          <p:cNvSpPr/>
          <p:nvPr/>
        </p:nvSpPr>
        <p:spPr bwMode="gray">
          <a:xfrm>
            <a:off x="1096534" y="1769893"/>
            <a:ext cx="5892800" cy="1558883"/>
          </a:xfrm>
          <a:prstGeom prst="roundRect">
            <a:avLst>
              <a:gd name="adj" fmla="val 7334"/>
            </a:avLst>
          </a:prstGeom>
          <a:solidFill>
            <a:srgbClr val="F2FBFC"/>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a:lnSpc>
                <a:spcPts val="2000"/>
              </a:lnSpc>
            </a:pPr>
            <a:endParaRPr lang="zh-CN" altLang="en-US" sz="1400" b="1">
              <a:solidFill>
                <a:schemeClr val="tx1"/>
              </a:solidFill>
              <a:latin typeface="Huawei Sans" panose="020C0503030203020204" pitchFamily="34" charset="0"/>
              <a:ea typeface="方正兰亭黑简体" panose="02000000000000000000" pitchFamily="2" charset="-122"/>
            </a:endParaRPr>
          </a:p>
        </p:txBody>
      </p:sp>
      <p:grpSp>
        <p:nvGrpSpPr>
          <p:cNvPr id="93" name="组合 362"/>
          <p:cNvGrpSpPr>
            <a:grpSpLocks noChangeAspect="1"/>
          </p:cNvGrpSpPr>
          <p:nvPr/>
        </p:nvGrpSpPr>
        <p:grpSpPr bwMode="gray">
          <a:xfrm>
            <a:off x="1297931" y="1947077"/>
            <a:ext cx="416479" cy="416479"/>
            <a:chOff x="373063" y="2114551"/>
            <a:chExt cx="1114425" cy="1116013"/>
          </a:xfrm>
        </p:grpSpPr>
        <p:sp>
          <p:nvSpPr>
            <p:cNvPr id="94"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grpSp>
          <p:nvGrpSpPr>
            <p:cNvPr id="95" name="组合 341"/>
            <p:cNvGrpSpPr>
              <a:grpSpLocks/>
            </p:cNvGrpSpPr>
            <p:nvPr/>
          </p:nvGrpSpPr>
          <p:grpSpPr bwMode="gray">
            <a:xfrm>
              <a:off x="649288" y="2289176"/>
              <a:ext cx="561975" cy="769938"/>
              <a:chOff x="649288" y="2289176"/>
              <a:chExt cx="561975" cy="769938"/>
            </a:xfrm>
          </p:grpSpPr>
          <p:sp>
            <p:nvSpPr>
              <p:cNvPr id="96"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97"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98"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99"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00"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01"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grpSp>
      </p:grpSp>
      <p:grpSp>
        <p:nvGrpSpPr>
          <p:cNvPr id="102" name="组合 362"/>
          <p:cNvGrpSpPr>
            <a:grpSpLocks noChangeAspect="1"/>
          </p:cNvGrpSpPr>
          <p:nvPr/>
        </p:nvGrpSpPr>
        <p:grpSpPr bwMode="gray">
          <a:xfrm>
            <a:off x="3466697" y="1947077"/>
            <a:ext cx="416479" cy="416479"/>
            <a:chOff x="373063" y="2114551"/>
            <a:chExt cx="1114425" cy="1116013"/>
          </a:xfrm>
        </p:grpSpPr>
        <p:sp>
          <p:nvSpPr>
            <p:cNvPr id="103"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grpSp>
          <p:nvGrpSpPr>
            <p:cNvPr id="104" name="组合 341"/>
            <p:cNvGrpSpPr>
              <a:grpSpLocks/>
            </p:cNvGrpSpPr>
            <p:nvPr/>
          </p:nvGrpSpPr>
          <p:grpSpPr bwMode="gray">
            <a:xfrm>
              <a:off x="649288" y="2289176"/>
              <a:ext cx="561975" cy="769938"/>
              <a:chOff x="649288" y="2289176"/>
              <a:chExt cx="561975" cy="769938"/>
            </a:xfrm>
          </p:grpSpPr>
          <p:sp>
            <p:nvSpPr>
              <p:cNvPr id="105"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06"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07"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08"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09"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10"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grpSp>
      </p:grpSp>
      <p:grpSp>
        <p:nvGrpSpPr>
          <p:cNvPr id="111" name="组合 362"/>
          <p:cNvGrpSpPr>
            <a:grpSpLocks noChangeAspect="1"/>
          </p:cNvGrpSpPr>
          <p:nvPr/>
        </p:nvGrpSpPr>
        <p:grpSpPr bwMode="gray">
          <a:xfrm>
            <a:off x="5466958" y="1947077"/>
            <a:ext cx="416479" cy="416479"/>
            <a:chOff x="373063" y="2114551"/>
            <a:chExt cx="1114425" cy="1116013"/>
          </a:xfrm>
        </p:grpSpPr>
        <p:sp>
          <p:nvSpPr>
            <p:cNvPr id="112"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grpSp>
          <p:nvGrpSpPr>
            <p:cNvPr id="113" name="组合 341"/>
            <p:cNvGrpSpPr>
              <a:grpSpLocks/>
            </p:cNvGrpSpPr>
            <p:nvPr/>
          </p:nvGrpSpPr>
          <p:grpSpPr bwMode="gray">
            <a:xfrm>
              <a:off x="649288" y="2289176"/>
              <a:ext cx="561975" cy="769938"/>
              <a:chOff x="649288" y="2289176"/>
              <a:chExt cx="561975" cy="769938"/>
            </a:xfrm>
          </p:grpSpPr>
          <p:sp>
            <p:nvSpPr>
              <p:cNvPr id="114"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15"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16"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17"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18"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sp>
            <p:nvSpPr>
              <p:cNvPr id="119"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algn="ctr"/>
                <a:endParaRPr lang="zh-CN" altLang="en-US"/>
              </a:p>
            </p:txBody>
          </p:sp>
        </p:grpSp>
      </p:grpSp>
      <p:sp>
        <p:nvSpPr>
          <p:cNvPr id="120" name="文本框 119"/>
          <p:cNvSpPr txBox="1"/>
          <p:nvPr/>
        </p:nvSpPr>
        <p:spPr bwMode="gray">
          <a:xfrm>
            <a:off x="1671053" y="1911561"/>
            <a:ext cx="902811" cy="523220"/>
          </a:xfrm>
          <a:prstGeom prst="rect">
            <a:avLst/>
          </a:prstGeom>
          <a:noFill/>
        </p:spPr>
        <p:txBody>
          <a:bodyPr wrap="none" rtlCol="0">
            <a:spAutoFit/>
          </a:bodyPr>
          <a:lstStyle/>
          <a:p>
            <a:r>
              <a:rPr lang="zh-CN" altLang="en-US" sz="1400" dirty="0">
                <a:solidFill>
                  <a:srgbClr val="30B5C5"/>
                </a:solidFill>
              </a:rPr>
              <a:t>销售用户</a:t>
            </a:r>
            <a:endParaRPr lang="en-US" altLang="zh-CN" sz="1400" dirty="0">
              <a:solidFill>
                <a:srgbClr val="30B5C5"/>
              </a:solidFill>
            </a:endParaRPr>
          </a:p>
          <a:p>
            <a:r>
              <a:rPr lang="zh-CN" altLang="en-US" sz="1400" dirty="0">
                <a:solidFill>
                  <a:srgbClr val="30B5C5"/>
                </a:solidFill>
              </a:rPr>
              <a:t>安全组</a:t>
            </a:r>
          </a:p>
        </p:txBody>
      </p:sp>
      <p:sp>
        <p:nvSpPr>
          <p:cNvPr id="121" name="文本框 120"/>
          <p:cNvSpPr txBox="1"/>
          <p:nvPr/>
        </p:nvSpPr>
        <p:spPr bwMode="gray">
          <a:xfrm>
            <a:off x="3843909" y="1911561"/>
            <a:ext cx="902811" cy="523220"/>
          </a:xfrm>
          <a:prstGeom prst="rect">
            <a:avLst/>
          </a:prstGeom>
          <a:noFill/>
        </p:spPr>
        <p:txBody>
          <a:bodyPr wrap="none" rtlCol="0">
            <a:spAutoFit/>
          </a:bodyPr>
          <a:lstStyle/>
          <a:p>
            <a:r>
              <a:rPr lang="zh-CN" altLang="en-US" sz="1400">
                <a:solidFill>
                  <a:srgbClr val="30B5C5"/>
                </a:solidFill>
              </a:rPr>
              <a:t>研发用户</a:t>
            </a:r>
            <a:endParaRPr lang="en-US" altLang="zh-CN" sz="1400">
              <a:solidFill>
                <a:srgbClr val="30B5C5"/>
              </a:solidFill>
            </a:endParaRPr>
          </a:p>
          <a:p>
            <a:r>
              <a:rPr lang="zh-CN" altLang="en-US" sz="1400">
                <a:solidFill>
                  <a:srgbClr val="30B5C5"/>
                </a:solidFill>
              </a:rPr>
              <a:t>安全组</a:t>
            </a:r>
          </a:p>
        </p:txBody>
      </p:sp>
      <p:sp>
        <p:nvSpPr>
          <p:cNvPr id="122" name="文本框 121"/>
          <p:cNvSpPr txBox="1"/>
          <p:nvPr/>
        </p:nvSpPr>
        <p:spPr bwMode="gray">
          <a:xfrm>
            <a:off x="5871057" y="1911561"/>
            <a:ext cx="1082348" cy="523220"/>
          </a:xfrm>
          <a:prstGeom prst="rect">
            <a:avLst/>
          </a:prstGeom>
          <a:noFill/>
        </p:spPr>
        <p:txBody>
          <a:bodyPr wrap="none" rtlCol="0">
            <a:spAutoFit/>
          </a:bodyPr>
          <a:lstStyle/>
          <a:p>
            <a:r>
              <a:rPr lang="zh-CN" altLang="en-US" sz="1400" dirty="0">
                <a:solidFill>
                  <a:srgbClr val="30B5C5"/>
                </a:solidFill>
              </a:rPr>
              <a:t>服务器资源</a:t>
            </a:r>
            <a:endParaRPr lang="en-US" altLang="zh-CN" sz="1400" dirty="0">
              <a:solidFill>
                <a:srgbClr val="30B5C5"/>
              </a:solidFill>
            </a:endParaRPr>
          </a:p>
          <a:p>
            <a:r>
              <a:rPr lang="zh-CN" altLang="en-US" sz="1400" dirty="0">
                <a:solidFill>
                  <a:srgbClr val="30B5C5"/>
                </a:solidFill>
              </a:rPr>
              <a:t>安全组</a:t>
            </a:r>
          </a:p>
        </p:txBody>
      </p:sp>
      <p:cxnSp>
        <p:nvCxnSpPr>
          <p:cNvPr id="123" name="直接连接符 122"/>
          <p:cNvCxnSpPr>
            <a:stCxn id="92" idx="1"/>
            <a:endCxn id="92" idx="3"/>
          </p:cNvCxnSpPr>
          <p:nvPr/>
        </p:nvCxnSpPr>
        <p:spPr bwMode="gray">
          <a:xfrm>
            <a:off x="1096534" y="2549335"/>
            <a:ext cx="5892800" cy="0"/>
          </a:xfrm>
          <a:prstGeom prst="line">
            <a:avLst/>
          </a:prstGeom>
          <a:ln>
            <a:solidFill>
              <a:srgbClr val="30B5C5"/>
            </a:solidFill>
          </a:ln>
        </p:spPr>
        <p:style>
          <a:lnRef idx="1">
            <a:schemeClr val="accent1"/>
          </a:lnRef>
          <a:fillRef idx="0">
            <a:schemeClr val="accent1"/>
          </a:fillRef>
          <a:effectRef idx="0">
            <a:schemeClr val="accent1"/>
          </a:effectRef>
          <a:fontRef idx="minor">
            <a:schemeClr val="tx1"/>
          </a:fontRef>
        </p:style>
      </p:cxnSp>
      <p:sp>
        <p:nvSpPr>
          <p:cNvPr id="29" name="文本框 123"/>
          <p:cNvSpPr txBox="1"/>
          <p:nvPr/>
        </p:nvSpPr>
        <p:spPr bwMode="gray">
          <a:xfrm>
            <a:off x="3540232" y="2732047"/>
            <a:ext cx="1005403" cy="338554"/>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r>
              <a:rPr lang="zh-CN" altLang="en-US" sz="16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权限策略</a:t>
            </a:r>
          </a:p>
        </p:txBody>
      </p:sp>
      <p:sp>
        <p:nvSpPr>
          <p:cNvPr id="90" name="Oval 4"/>
          <p:cNvSpPr>
            <a:spLocks noChangeAspect="1"/>
          </p:cNvSpPr>
          <p:nvPr/>
        </p:nvSpPr>
        <p:spPr bwMode="gray">
          <a:xfrm>
            <a:off x="907750" y="2421241"/>
            <a:ext cx="256186" cy="256186"/>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圆角矩形 75"/>
          <p:cNvSpPr/>
          <p:nvPr/>
        </p:nvSpPr>
        <p:spPr bwMode="gray">
          <a:xfrm>
            <a:off x="7268776" y="2365904"/>
            <a:ext cx="4191387" cy="2873659"/>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342900" indent="-342900">
              <a:lnSpc>
                <a:spcPct val="150000"/>
              </a:lnSpc>
              <a:spcAft>
                <a:spcPts val="600"/>
              </a:spcAft>
              <a:buFont typeface="+mj-lt"/>
              <a:buAutoNum type="arabicPeriod"/>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划分安全组，安全组即拥有相同网络访问策略的一组用户。（</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UCL</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42900" indent="-342900">
              <a:lnSpc>
                <a:spcPct val="150000"/>
              </a:lnSpc>
              <a:spcAft>
                <a:spcPts val="600"/>
              </a:spcAft>
              <a:buFont typeface="+mj-lt"/>
              <a:buAutoNum type="arabicPeriod"/>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定义基于安全组的权限控制策略，将策略下发到网络设备。</a:t>
            </a:r>
          </a:p>
          <a:p>
            <a:pPr marL="342900" indent="-342900">
              <a:lnSpc>
                <a:spcPct val="150000"/>
              </a:lnSpc>
              <a:spcAft>
                <a:spcPts val="600"/>
              </a:spcAft>
              <a:buFont typeface="+mj-lt"/>
              <a:buAutoNum type="arabicPeriod"/>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用户执行准入认证后，获得授权的安全组。</a:t>
            </a:r>
          </a:p>
          <a:p>
            <a:pPr marL="342900" indent="-342900">
              <a:lnSpc>
                <a:spcPct val="150000"/>
              </a:lnSpc>
              <a:spcAft>
                <a:spcPts val="600"/>
              </a:spcAft>
              <a:buFont typeface="+mj-lt"/>
              <a:buAutoNum type="arabicPeriod"/>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用户的流量进入网络后，网络设备根据流量对应的源、目的安全组执行策略。</a:t>
            </a:r>
          </a:p>
        </p:txBody>
      </p:sp>
    </p:spTree>
    <p:extLst>
      <p:ext uri="{BB962C8B-B14F-4D97-AF65-F5344CB8AC3E}">
        <p14:creationId xmlns:p14="http://schemas.microsoft.com/office/powerpoint/2010/main" val="3841620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传统方案与业务随行方案的区别</a:t>
            </a:r>
          </a:p>
        </p:txBody>
      </p:sp>
      <p:graphicFrame>
        <p:nvGraphicFramePr>
          <p:cNvPr id="3" name="表格 2"/>
          <p:cNvGraphicFramePr>
            <a:graphicFrameLocks noGrp="1"/>
          </p:cNvGraphicFramePr>
          <p:nvPr>
            <p:extLst>
              <p:ext uri="{D42A27DB-BD31-4B8C-83A1-F6EECF244321}">
                <p14:modId xmlns:p14="http://schemas.microsoft.com/office/powerpoint/2010/main" val="825910724"/>
              </p:ext>
            </p:extLst>
          </p:nvPr>
        </p:nvGraphicFramePr>
        <p:xfrm>
          <a:off x="988398" y="1446708"/>
          <a:ext cx="10215206" cy="3311043"/>
        </p:xfrm>
        <a:graphic>
          <a:graphicData uri="http://schemas.openxmlformats.org/drawingml/2006/table">
            <a:tbl>
              <a:tblPr firstRow="1" bandRow="1"/>
              <a:tblGrid>
                <a:gridCol w="1846242">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071284">
                  <a:extLst>
                    <a:ext uri="{9D8B030D-6E8A-4147-A177-3AD203B41FA5}">
                      <a16:colId xmlns:a16="http://schemas.microsoft.com/office/drawing/2014/main" val="20002"/>
                    </a:ext>
                  </a:extLst>
                </a:gridCol>
              </a:tblGrid>
              <a:tr h="388494">
                <a:tc>
                  <a:txBody>
                    <a:bodyPr/>
                    <a:lstStyle>
                      <a:defPPr>
                        <a:defRPr lang="zh-CN"/>
                      </a:defPPr>
                      <a:lvl1pPr marL="0" algn="l" defTabSz="914156" rtl="0" eaLnBrk="1" latinLnBrk="0" hangingPunct="1">
                        <a:defRPr sz="1800" b="1" kern="1200">
                          <a:solidFill>
                            <a:schemeClr val="lt1"/>
                          </a:solidFill>
                          <a:latin typeface="FrutigerNext LT Medium"/>
                          <a:ea typeface="华文细黑"/>
                          <a:cs typeface="宋体"/>
                        </a:defRPr>
                      </a:lvl1pPr>
                      <a:lvl2pPr marL="457080" algn="l" defTabSz="914156" rtl="0" eaLnBrk="1" latinLnBrk="0" hangingPunct="1">
                        <a:defRPr sz="1800" b="1" kern="1200">
                          <a:solidFill>
                            <a:schemeClr val="lt1"/>
                          </a:solidFill>
                          <a:latin typeface="FrutigerNext LT Medium"/>
                          <a:ea typeface="华文细黑"/>
                          <a:cs typeface="宋体"/>
                        </a:defRPr>
                      </a:lvl2pPr>
                      <a:lvl3pPr marL="914156" algn="l" defTabSz="914156" rtl="0" eaLnBrk="1" latinLnBrk="0" hangingPunct="1">
                        <a:defRPr sz="1800" b="1" kern="1200">
                          <a:solidFill>
                            <a:schemeClr val="lt1"/>
                          </a:solidFill>
                          <a:latin typeface="FrutigerNext LT Medium"/>
                          <a:ea typeface="华文细黑"/>
                          <a:cs typeface="宋体"/>
                        </a:defRPr>
                      </a:lvl3pPr>
                      <a:lvl4pPr marL="1371234" algn="l" defTabSz="914156" rtl="0" eaLnBrk="1" latinLnBrk="0" hangingPunct="1">
                        <a:defRPr sz="1800" b="1" kern="1200">
                          <a:solidFill>
                            <a:schemeClr val="lt1"/>
                          </a:solidFill>
                          <a:latin typeface="FrutigerNext LT Medium"/>
                          <a:ea typeface="华文细黑"/>
                          <a:cs typeface="宋体"/>
                        </a:defRPr>
                      </a:lvl4pPr>
                      <a:lvl5pPr marL="1828312" algn="l" defTabSz="914156" rtl="0" eaLnBrk="1" latinLnBrk="0" hangingPunct="1">
                        <a:defRPr sz="1800" b="1" kern="1200">
                          <a:solidFill>
                            <a:schemeClr val="lt1"/>
                          </a:solidFill>
                          <a:latin typeface="FrutigerNext LT Medium"/>
                          <a:ea typeface="华文细黑"/>
                          <a:cs typeface="宋体"/>
                        </a:defRPr>
                      </a:lvl5pPr>
                      <a:lvl6pPr marL="2285390" algn="l" defTabSz="914156" rtl="0" eaLnBrk="1" latinLnBrk="0" hangingPunct="1">
                        <a:defRPr sz="1800" b="1" kern="1200">
                          <a:solidFill>
                            <a:schemeClr val="lt1"/>
                          </a:solidFill>
                          <a:latin typeface="FrutigerNext LT Medium"/>
                          <a:ea typeface="华文细黑"/>
                          <a:cs typeface="宋体"/>
                        </a:defRPr>
                      </a:lvl6pPr>
                      <a:lvl7pPr marL="2742468" algn="l" defTabSz="914156" rtl="0" eaLnBrk="1" latinLnBrk="0" hangingPunct="1">
                        <a:defRPr sz="1800" b="1" kern="1200">
                          <a:solidFill>
                            <a:schemeClr val="lt1"/>
                          </a:solidFill>
                          <a:latin typeface="FrutigerNext LT Medium"/>
                          <a:ea typeface="华文细黑"/>
                          <a:cs typeface="宋体"/>
                        </a:defRPr>
                      </a:lvl7pPr>
                      <a:lvl8pPr marL="3199546" algn="l" defTabSz="914156" rtl="0" eaLnBrk="1" latinLnBrk="0" hangingPunct="1">
                        <a:defRPr sz="1800" b="1" kern="1200">
                          <a:solidFill>
                            <a:schemeClr val="lt1"/>
                          </a:solidFill>
                          <a:latin typeface="FrutigerNext LT Medium"/>
                          <a:ea typeface="华文细黑"/>
                          <a:cs typeface="宋体"/>
                        </a:defRPr>
                      </a:lvl8pPr>
                      <a:lvl9pPr marL="3656624" algn="l" defTabSz="914156" rtl="0" eaLnBrk="1" latinLnBrk="0" hangingPunct="1">
                        <a:defRPr sz="1800" b="1" kern="1200">
                          <a:solidFill>
                            <a:schemeClr val="lt1"/>
                          </a:solidFill>
                          <a:latin typeface="FrutigerNext LT Medium"/>
                          <a:ea typeface="华文细黑"/>
                          <a:cs typeface="宋体"/>
                        </a:defRPr>
                      </a:lvl9pPr>
                    </a:lstStyle>
                    <a:p>
                      <a:pPr marL="0" algn="ctr" defTabSz="914209" rtl="0" eaLnBrk="1" latinLnBrk="0" hangingPunct="1">
                        <a:lnSpc>
                          <a:spcPct val="100000"/>
                        </a:lnSpc>
                        <a:spcAft>
                          <a:spcPts val="0"/>
                        </a:spcAft>
                      </a:pPr>
                      <a:r>
                        <a:rPr lang="zh-CN" altLang="en-US" sz="1400" kern="1200" dirty="0">
                          <a:solidFill>
                            <a:schemeClr val="tx1"/>
                          </a:solidFill>
                          <a:effectLst/>
                          <a:latin typeface="+mn-lt"/>
                          <a:ea typeface="+mn-ea"/>
                          <a:sym typeface="Huawei Sans" panose="020C0503030203020204" pitchFamily="34" charset="0"/>
                        </a:rPr>
                        <a:t>客户诉求</a:t>
                      </a:r>
                      <a:endParaRPr lang="zh-CN" altLang="en-US" sz="1400" kern="1200" dirty="0">
                        <a:solidFill>
                          <a:schemeClr val="tx1"/>
                        </a:solidFill>
                        <a:effectLst/>
                        <a:latin typeface="+mn-lt"/>
                        <a:ea typeface="+mn-ea"/>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defPPr>
                        <a:defRPr lang="zh-CN"/>
                      </a:defPPr>
                      <a:lvl1pPr marL="0" algn="l" defTabSz="914156" rtl="0" eaLnBrk="1" latinLnBrk="0" hangingPunct="1">
                        <a:defRPr sz="1800" b="1" kern="1200">
                          <a:solidFill>
                            <a:schemeClr val="lt1"/>
                          </a:solidFill>
                          <a:latin typeface="FrutigerNext LT Medium"/>
                          <a:ea typeface="华文细黑"/>
                          <a:cs typeface="宋体"/>
                        </a:defRPr>
                      </a:lvl1pPr>
                      <a:lvl2pPr marL="457080" algn="l" defTabSz="914156" rtl="0" eaLnBrk="1" latinLnBrk="0" hangingPunct="1">
                        <a:defRPr sz="1800" b="1" kern="1200">
                          <a:solidFill>
                            <a:schemeClr val="lt1"/>
                          </a:solidFill>
                          <a:latin typeface="FrutigerNext LT Medium"/>
                          <a:ea typeface="华文细黑"/>
                          <a:cs typeface="宋体"/>
                        </a:defRPr>
                      </a:lvl2pPr>
                      <a:lvl3pPr marL="914156" algn="l" defTabSz="914156" rtl="0" eaLnBrk="1" latinLnBrk="0" hangingPunct="1">
                        <a:defRPr sz="1800" b="1" kern="1200">
                          <a:solidFill>
                            <a:schemeClr val="lt1"/>
                          </a:solidFill>
                          <a:latin typeface="FrutigerNext LT Medium"/>
                          <a:ea typeface="华文细黑"/>
                          <a:cs typeface="宋体"/>
                        </a:defRPr>
                      </a:lvl3pPr>
                      <a:lvl4pPr marL="1371234" algn="l" defTabSz="914156" rtl="0" eaLnBrk="1" latinLnBrk="0" hangingPunct="1">
                        <a:defRPr sz="1800" b="1" kern="1200">
                          <a:solidFill>
                            <a:schemeClr val="lt1"/>
                          </a:solidFill>
                          <a:latin typeface="FrutigerNext LT Medium"/>
                          <a:ea typeface="华文细黑"/>
                          <a:cs typeface="宋体"/>
                        </a:defRPr>
                      </a:lvl4pPr>
                      <a:lvl5pPr marL="1828312" algn="l" defTabSz="914156" rtl="0" eaLnBrk="1" latinLnBrk="0" hangingPunct="1">
                        <a:defRPr sz="1800" b="1" kern="1200">
                          <a:solidFill>
                            <a:schemeClr val="lt1"/>
                          </a:solidFill>
                          <a:latin typeface="FrutigerNext LT Medium"/>
                          <a:ea typeface="华文细黑"/>
                          <a:cs typeface="宋体"/>
                        </a:defRPr>
                      </a:lvl5pPr>
                      <a:lvl6pPr marL="2285390" algn="l" defTabSz="914156" rtl="0" eaLnBrk="1" latinLnBrk="0" hangingPunct="1">
                        <a:defRPr sz="1800" b="1" kern="1200">
                          <a:solidFill>
                            <a:schemeClr val="lt1"/>
                          </a:solidFill>
                          <a:latin typeface="FrutigerNext LT Medium"/>
                          <a:ea typeface="华文细黑"/>
                          <a:cs typeface="宋体"/>
                        </a:defRPr>
                      </a:lvl6pPr>
                      <a:lvl7pPr marL="2742468" algn="l" defTabSz="914156" rtl="0" eaLnBrk="1" latinLnBrk="0" hangingPunct="1">
                        <a:defRPr sz="1800" b="1" kern="1200">
                          <a:solidFill>
                            <a:schemeClr val="lt1"/>
                          </a:solidFill>
                          <a:latin typeface="FrutigerNext LT Medium"/>
                          <a:ea typeface="华文细黑"/>
                          <a:cs typeface="宋体"/>
                        </a:defRPr>
                      </a:lvl7pPr>
                      <a:lvl8pPr marL="3199546" algn="l" defTabSz="914156" rtl="0" eaLnBrk="1" latinLnBrk="0" hangingPunct="1">
                        <a:defRPr sz="1800" b="1" kern="1200">
                          <a:solidFill>
                            <a:schemeClr val="lt1"/>
                          </a:solidFill>
                          <a:latin typeface="FrutigerNext LT Medium"/>
                          <a:ea typeface="华文细黑"/>
                          <a:cs typeface="宋体"/>
                        </a:defRPr>
                      </a:lvl8pPr>
                      <a:lvl9pPr marL="3656624" algn="l" defTabSz="914156" rtl="0" eaLnBrk="1" latinLnBrk="0" hangingPunct="1">
                        <a:defRPr sz="1800" b="1" kern="1200">
                          <a:solidFill>
                            <a:schemeClr val="lt1"/>
                          </a:solidFill>
                          <a:latin typeface="FrutigerNext LT Medium"/>
                          <a:ea typeface="华文细黑"/>
                          <a:cs typeface="宋体"/>
                        </a:defRPr>
                      </a:lvl9pPr>
                    </a:lstStyle>
                    <a:p>
                      <a:pPr marL="0" algn="ctr" defTabSz="914209" rtl="0" eaLnBrk="1" latinLnBrk="0" hangingPunct="1">
                        <a:lnSpc>
                          <a:spcPct val="100000"/>
                        </a:lnSpc>
                        <a:spcAft>
                          <a:spcPts val="0"/>
                        </a:spcAft>
                      </a:pPr>
                      <a:r>
                        <a:rPr lang="zh-CN" altLang="en-US" sz="1400" kern="1200" dirty="0">
                          <a:solidFill>
                            <a:schemeClr val="tx1"/>
                          </a:solidFill>
                          <a:effectLst/>
                          <a:latin typeface="+mn-lt"/>
                          <a:ea typeface="+mn-ea"/>
                          <a:sym typeface="Huawei Sans" panose="020C0503030203020204" pitchFamily="34" charset="0"/>
                        </a:rPr>
                        <a:t>传统方案</a:t>
                      </a:r>
                      <a:endParaRPr lang="zh-CN" altLang="en-US" sz="1400" kern="1200" dirty="0">
                        <a:solidFill>
                          <a:schemeClr val="tx1"/>
                        </a:solidFill>
                        <a:effectLst/>
                        <a:latin typeface="+mn-lt"/>
                        <a:ea typeface="+mn-ea"/>
                        <a:cs typeface="+mn-cs"/>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defPPr>
                        <a:defRPr lang="zh-CN"/>
                      </a:defPPr>
                      <a:lvl1pPr marL="0" algn="l" defTabSz="914156" rtl="0" eaLnBrk="1" latinLnBrk="0" hangingPunct="1">
                        <a:defRPr sz="1800" b="1" kern="1200">
                          <a:solidFill>
                            <a:schemeClr val="lt1"/>
                          </a:solidFill>
                          <a:latin typeface="FrutigerNext LT Medium"/>
                          <a:ea typeface="华文细黑"/>
                          <a:cs typeface="宋体"/>
                        </a:defRPr>
                      </a:lvl1pPr>
                      <a:lvl2pPr marL="457080" algn="l" defTabSz="914156" rtl="0" eaLnBrk="1" latinLnBrk="0" hangingPunct="1">
                        <a:defRPr sz="1800" b="1" kern="1200">
                          <a:solidFill>
                            <a:schemeClr val="lt1"/>
                          </a:solidFill>
                          <a:latin typeface="FrutigerNext LT Medium"/>
                          <a:ea typeface="华文细黑"/>
                          <a:cs typeface="宋体"/>
                        </a:defRPr>
                      </a:lvl2pPr>
                      <a:lvl3pPr marL="914156" algn="l" defTabSz="914156" rtl="0" eaLnBrk="1" latinLnBrk="0" hangingPunct="1">
                        <a:defRPr sz="1800" b="1" kern="1200">
                          <a:solidFill>
                            <a:schemeClr val="lt1"/>
                          </a:solidFill>
                          <a:latin typeface="FrutigerNext LT Medium"/>
                          <a:ea typeface="华文细黑"/>
                          <a:cs typeface="宋体"/>
                        </a:defRPr>
                      </a:lvl3pPr>
                      <a:lvl4pPr marL="1371234" algn="l" defTabSz="914156" rtl="0" eaLnBrk="1" latinLnBrk="0" hangingPunct="1">
                        <a:defRPr sz="1800" b="1" kern="1200">
                          <a:solidFill>
                            <a:schemeClr val="lt1"/>
                          </a:solidFill>
                          <a:latin typeface="FrutigerNext LT Medium"/>
                          <a:ea typeface="华文细黑"/>
                          <a:cs typeface="宋体"/>
                        </a:defRPr>
                      </a:lvl4pPr>
                      <a:lvl5pPr marL="1828312" algn="l" defTabSz="914156" rtl="0" eaLnBrk="1" latinLnBrk="0" hangingPunct="1">
                        <a:defRPr sz="1800" b="1" kern="1200">
                          <a:solidFill>
                            <a:schemeClr val="lt1"/>
                          </a:solidFill>
                          <a:latin typeface="FrutigerNext LT Medium"/>
                          <a:ea typeface="华文细黑"/>
                          <a:cs typeface="宋体"/>
                        </a:defRPr>
                      </a:lvl5pPr>
                      <a:lvl6pPr marL="2285390" algn="l" defTabSz="914156" rtl="0" eaLnBrk="1" latinLnBrk="0" hangingPunct="1">
                        <a:defRPr sz="1800" b="1" kern="1200">
                          <a:solidFill>
                            <a:schemeClr val="lt1"/>
                          </a:solidFill>
                          <a:latin typeface="FrutigerNext LT Medium"/>
                          <a:ea typeface="华文细黑"/>
                          <a:cs typeface="宋体"/>
                        </a:defRPr>
                      </a:lvl6pPr>
                      <a:lvl7pPr marL="2742468" algn="l" defTabSz="914156" rtl="0" eaLnBrk="1" latinLnBrk="0" hangingPunct="1">
                        <a:defRPr sz="1800" b="1" kern="1200">
                          <a:solidFill>
                            <a:schemeClr val="lt1"/>
                          </a:solidFill>
                          <a:latin typeface="FrutigerNext LT Medium"/>
                          <a:ea typeface="华文细黑"/>
                          <a:cs typeface="宋体"/>
                        </a:defRPr>
                      </a:lvl7pPr>
                      <a:lvl8pPr marL="3199546" algn="l" defTabSz="914156" rtl="0" eaLnBrk="1" latinLnBrk="0" hangingPunct="1">
                        <a:defRPr sz="1800" b="1" kern="1200">
                          <a:solidFill>
                            <a:schemeClr val="lt1"/>
                          </a:solidFill>
                          <a:latin typeface="FrutigerNext LT Medium"/>
                          <a:ea typeface="华文细黑"/>
                          <a:cs typeface="宋体"/>
                        </a:defRPr>
                      </a:lvl8pPr>
                      <a:lvl9pPr marL="3656624" algn="l" defTabSz="914156" rtl="0" eaLnBrk="1" latinLnBrk="0" hangingPunct="1">
                        <a:defRPr sz="1800" b="1" kern="1200">
                          <a:solidFill>
                            <a:schemeClr val="lt1"/>
                          </a:solidFill>
                          <a:latin typeface="FrutigerNext LT Medium"/>
                          <a:ea typeface="华文细黑"/>
                          <a:cs typeface="宋体"/>
                        </a:defRPr>
                      </a:lvl9pPr>
                    </a:lstStyle>
                    <a:p>
                      <a:pPr marL="0" algn="ctr" defTabSz="914209" rtl="0" eaLnBrk="1" latinLnBrk="0" hangingPunct="1">
                        <a:lnSpc>
                          <a:spcPct val="100000"/>
                        </a:lnSpc>
                        <a:spcAft>
                          <a:spcPts val="0"/>
                        </a:spcAft>
                      </a:pPr>
                      <a:r>
                        <a:rPr lang="zh-CN" altLang="en-US" sz="1400" kern="1200" dirty="0">
                          <a:solidFill>
                            <a:schemeClr val="tx1"/>
                          </a:solidFill>
                          <a:effectLst/>
                          <a:latin typeface="+mn-lt"/>
                          <a:ea typeface="+mn-ea"/>
                          <a:sym typeface="Huawei Sans" panose="020C0503030203020204" pitchFamily="34" charset="0"/>
                        </a:rPr>
                        <a:t>业务随行方案</a:t>
                      </a:r>
                      <a:endParaRPr lang="zh-CN" altLang="en-US" sz="1400" kern="1200" dirty="0">
                        <a:solidFill>
                          <a:schemeClr val="tx1"/>
                        </a:solidFill>
                        <a:effectLst/>
                        <a:latin typeface="+mn-lt"/>
                        <a:ea typeface="+mn-ea"/>
                        <a:cs typeface="+mn-cs"/>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974183">
                <a:tc>
                  <a:txBody>
                    <a:bodyPr/>
                    <a:lstStyle>
                      <a:defPPr>
                        <a:defRPr lang="zh-CN"/>
                      </a:defPPr>
                      <a:lvl1pPr marL="0" algn="l" defTabSz="914156" rtl="0" eaLnBrk="1" latinLnBrk="0" hangingPunct="1">
                        <a:defRPr sz="1800" kern="1200">
                          <a:solidFill>
                            <a:schemeClr val="dk1"/>
                          </a:solidFill>
                          <a:latin typeface="FrutigerNext LT Medium"/>
                          <a:ea typeface="华文细黑"/>
                          <a:cs typeface="宋体"/>
                        </a:defRPr>
                      </a:lvl1pPr>
                      <a:lvl2pPr marL="457080" algn="l" defTabSz="914156" rtl="0" eaLnBrk="1" latinLnBrk="0" hangingPunct="1">
                        <a:defRPr sz="1800" kern="1200">
                          <a:solidFill>
                            <a:schemeClr val="dk1"/>
                          </a:solidFill>
                          <a:latin typeface="FrutigerNext LT Medium"/>
                          <a:ea typeface="华文细黑"/>
                          <a:cs typeface="宋体"/>
                        </a:defRPr>
                      </a:lvl2pPr>
                      <a:lvl3pPr marL="914156" algn="l" defTabSz="914156" rtl="0" eaLnBrk="1" latinLnBrk="0" hangingPunct="1">
                        <a:defRPr sz="1800" kern="1200">
                          <a:solidFill>
                            <a:schemeClr val="dk1"/>
                          </a:solidFill>
                          <a:latin typeface="FrutigerNext LT Medium"/>
                          <a:ea typeface="华文细黑"/>
                          <a:cs typeface="宋体"/>
                        </a:defRPr>
                      </a:lvl3pPr>
                      <a:lvl4pPr marL="1371234" algn="l" defTabSz="914156" rtl="0" eaLnBrk="1" latinLnBrk="0" hangingPunct="1">
                        <a:defRPr sz="1800" kern="1200">
                          <a:solidFill>
                            <a:schemeClr val="dk1"/>
                          </a:solidFill>
                          <a:latin typeface="FrutigerNext LT Medium"/>
                          <a:ea typeface="华文细黑"/>
                          <a:cs typeface="宋体"/>
                        </a:defRPr>
                      </a:lvl4pPr>
                      <a:lvl5pPr marL="1828312" algn="l" defTabSz="914156" rtl="0" eaLnBrk="1" latinLnBrk="0" hangingPunct="1">
                        <a:defRPr sz="1800" kern="1200">
                          <a:solidFill>
                            <a:schemeClr val="dk1"/>
                          </a:solidFill>
                          <a:latin typeface="FrutigerNext LT Medium"/>
                          <a:ea typeface="华文细黑"/>
                          <a:cs typeface="宋体"/>
                        </a:defRPr>
                      </a:lvl5pPr>
                      <a:lvl6pPr marL="2285390" algn="l" defTabSz="914156" rtl="0" eaLnBrk="1" latinLnBrk="0" hangingPunct="1">
                        <a:defRPr sz="1800" kern="1200">
                          <a:solidFill>
                            <a:schemeClr val="dk1"/>
                          </a:solidFill>
                          <a:latin typeface="FrutigerNext LT Medium"/>
                          <a:ea typeface="华文细黑"/>
                          <a:cs typeface="宋体"/>
                        </a:defRPr>
                      </a:lvl6pPr>
                      <a:lvl7pPr marL="2742468" algn="l" defTabSz="914156" rtl="0" eaLnBrk="1" latinLnBrk="0" hangingPunct="1">
                        <a:defRPr sz="1800" kern="1200">
                          <a:solidFill>
                            <a:schemeClr val="dk1"/>
                          </a:solidFill>
                          <a:latin typeface="FrutigerNext LT Medium"/>
                          <a:ea typeface="华文细黑"/>
                          <a:cs typeface="宋体"/>
                        </a:defRPr>
                      </a:lvl7pPr>
                      <a:lvl8pPr marL="3199546" algn="l" defTabSz="914156" rtl="0" eaLnBrk="1" latinLnBrk="0" hangingPunct="1">
                        <a:defRPr sz="1800" kern="1200">
                          <a:solidFill>
                            <a:schemeClr val="dk1"/>
                          </a:solidFill>
                          <a:latin typeface="FrutigerNext LT Medium"/>
                          <a:ea typeface="华文细黑"/>
                          <a:cs typeface="宋体"/>
                        </a:defRPr>
                      </a:lvl8pPr>
                      <a:lvl9pPr marL="3656624" algn="l" defTabSz="914156" rtl="0" eaLnBrk="1" latinLnBrk="0" hangingPunct="1">
                        <a:defRPr sz="1800" kern="1200">
                          <a:solidFill>
                            <a:schemeClr val="dk1"/>
                          </a:solidFill>
                          <a:latin typeface="FrutigerNext LT Medium"/>
                          <a:ea typeface="华文细黑"/>
                          <a:cs typeface="宋体"/>
                        </a:defRPr>
                      </a:lvl9pPr>
                    </a:lstStyle>
                    <a:p>
                      <a:pPr marL="0" marR="0" lvl="0" indent="0" algn="l" defTabSz="914209"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effectLst/>
                          <a:latin typeface="+mn-lt"/>
                          <a:ea typeface="+mn-ea"/>
                          <a:cs typeface="宋体"/>
                          <a:sym typeface="Huawei Sans" panose="020C0503030203020204" pitchFamily="34" charset="0"/>
                        </a:rPr>
                        <a:t>满足移动化办公的权限一致性</a:t>
                      </a:r>
                    </a:p>
                  </a:txBody>
                  <a:tcPr anchor="ctr">
                    <a:lnL w="28575" cap="flat" cmpd="sng" algn="ctr">
                      <a:solidFill>
                        <a:schemeClr val="tx1"/>
                      </a:solidFill>
                      <a:prstDash val="solid"/>
                      <a:round/>
                      <a:headEnd type="none" w="med" len="med"/>
                      <a:tailEnd type="none" w="med" len="med"/>
                    </a:lnL>
                  </a:tcPr>
                </a:tc>
                <a:tc>
                  <a:txBody>
                    <a:bodyPr/>
                    <a:lstStyle>
                      <a:defPPr>
                        <a:defRPr lang="zh-CN"/>
                      </a:defPPr>
                      <a:lvl1pPr marL="0" algn="l" defTabSz="914156" rtl="0" eaLnBrk="1" latinLnBrk="0" hangingPunct="1">
                        <a:defRPr sz="1800" kern="1200">
                          <a:solidFill>
                            <a:schemeClr val="dk1"/>
                          </a:solidFill>
                          <a:latin typeface="FrutigerNext LT Medium"/>
                          <a:ea typeface="华文细黑"/>
                          <a:cs typeface="宋体"/>
                        </a:defRPr>
                      </a:lvl1pPr>
                      <a:lvl2pPr marL="457080" algn="l" defTabSz="914156" rtl="0" eaLnBrk="1" latinLnBrk="0" hangingPunct="1">
                        <a:defRPr sz="1800" kern="1200">
                          <a:solidFill>
                            <a:schemeClr val="dk1"/>
                          </a:solidFill>
                          <a:latin typeface="FrutigerNext LT Medium"/>
                          <a:ea typeface="华文细黑"/>
                          <a:cs typeface="宋体"/>
                        </a:defRPr>
                      </a:lvl2pPr>
                      <a:lvl3pPr marL="914156" algn="l" defTabSz="914156" rtl="0" eaLnBrk="1" latinLnBrk="0" hangingPunct="1">
                        <a:defRPr sz="1800" kern="1200">
                          <a:solidFill>
                            <a:schemeClr val="dk1"/>
                          </a:solidFill>
                          <a:latin typeface="FrutigerNext LT Medium"/>
                          <a:ea typeface="华文细黑"/>
                          <a:cs typeface="宋体"/>
                        </a:defRPr>
                      </a:lvl3pPr>
                      <a:lvl4pPr marL="1371234" algn="l" defTabSz="914156" rtl="0" eaLnBrk="1" latinLnBrk="0" hangingPunct="1">
                        <a:defRPr sz="1800" kern="1200">
                          <a:solidFill>
                            <a:schemeClr val="dk1"/>
                          </a:solidFill>
                          <a:latin typeface="FrutigerNext LT Medium"/>
                          <a:ea typeface="华文细黑"/>
                          <a:cs typeface="宋体"/>
                        </a:defRPr>
                      </a:lvl4pPr>
                      <a:lvl5pPr marL="1828312" algn="l" defTabSz="914156" rtl="0" eaLnBrk="1" latinLnBrk="0" hangingPunct="1">
                        <a:defRPr sz="1800" kern="1200">
                          <a:solidFill>
                            <a:schemeClr val="dk1"/>
                          </a:solidFill>
                          <a:latin typeface="FrutigerNext LT Medium"/>
                          <a:ea typeface="华文细黑"/>
                          <a:cs typeface="宋体"/>
                        </a:defRPr>
                      </a:lvl5pPr>
                      <a:lvl6pPr marL="2285390" algn="l" defTabSz="914156" rtl="0" eaLnBrk="1" latinLnBrk="0" hangingPunct="1">
                        <a:defRPr sz="1800" kern="1200">
                          <a:solidFill>
                            <a:schemeClr val="dk1"/>
                          </a:solidFill>
                          <a:latin typeface="FrutigerNext LT Medium"/>
                          <a:ea typeface="华文细黑"/>
                          <a:cs typeface="宋体"/>
                        </a:defRPr>
                      </a:lvl6pPr>
                      <a:lvl7pPr marL="2742468" algn="l" defTabSz="914156" rtl="0" eaLnBrk="1" latinLnBrk="0" hangingPunct="1">
                        <a:defRPr sz="1800" kern="1200">
                          <a:solidFill>
                            <a:schemeClr val="dk1"/>
                          </a:solidFill>
                          <a:latin typeface="FrutigerNext LT Medium"/>
                          <a:ea typeface="华文细黑"/>
                          <a:cs typeface="宋体"/>
                        </a:defRPr>
                      </a:lvl7pPr>
                      <a:lvl8pPr marL="3199546" algn="l" defTabSz="914156" rtl="0" eaLnBrk="1" latinLnBrk="0" hangingPunct="1">
                        <a:defRPr sz="1800" kern="1200">
                          <a:solidFill>
                            <a:schemeClr val="dk1"/>
                          </a:solidFill>
                          <a:latin typeface="FrutigerNext LT Medium"/>
                          <a:ea typeface="华文细黑"/>
                          <a:cs typeface="宋体"/>
                        </a:defRPr>
                      </a:lvl8pPr>
                      <a:lvl9pPr marL="3656624" algn="l" defTabSz="914156" rtl="0" eaLnBrk="1" latinLnBrk="0" hangingPunct="1">
                        <a:defRPr sz="1800" kern="1200">
                          <a:solidFill>
                            <a:schemeClr val="dk1"/>
                          </a:solidFill>
                          <a:latin typeface="FrutigerNext LT Medium"/>
                          <a:ea typeface="华文细黑"/>
                          <a:cs typeface="宋体"/>
                        </a:defRPr>
                      </a:lvl9pPr>
                    </a:lstStyle>
                    <a:p>
                      <a:pPr marL="0" marR="0" lvl="0" indent="0" algn="l" defTabSz="914209"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effectLst/>
                          <a:latin typeface="+mn-lt"/>
                          <a:ea typeface="+mn-ea"/>
                          <a:cs typeface="宋体"/>
                          <a:sym typeface="Huawei Sans" panose="020C0503030203020204" pitchFamily="34" charset="0"/>
                        </a:rPr>
                        <a:t>采用动态</a:t>
                      </a:r>
                      <a:r>
                        <a:rPr lang="en-US" altLang="zh-CN" sz="1400" kern="1200" dirty="0">
                          <a:solidFill>
                            <a:schemeClr val="dk1"/>
                          </a:solidFill>
                          <a:effectLst/>
                          <a:latin typeface="+mn-lt"/>
                          <a:ea typeface="+mn-ea"/>
                          <a:cs typeface="宋体"/>
                          <a:sym typeface="Huawei Sans" panose="020C0503030203020204" pitchFamily="34" charset="0"/>
                        </a:rPr>
                        <a:t>VLAN+</a:t>
                      </a:r>
                      <a:r>
                        <a:rPr lang="zh-CN" altLang="en-US" sz="1400" kern="1200" dirty="0">
                          <a:solidFill>
                            <a:schemeClr val="dk1"/>
                          </a:solidFill>
                          <a:effectLst/>
                          <a:latin typeface="+mn-lt"/>
                          <a:ea typeface="+mn-ea"/>
                          <a:cs typeface="宋体"/>
                          <a:sym typeface="Huawei Sans" panose="020C0503030203020204" pitchFamily="34" charset="0"/>
                        </a:rPr>
                        <a:t>静态</a:t>
                      </a:r>
                      <a:r>
                        <a:rPr lang="en-US" altLang="zh-CN" sz="1400" kern="1200" dirty="0">
                          <a:solidFill>
                            <a:schemeClr val="dk1"/>
                          </a:solidFill>
                          <a:effectLst/>
                          <a:latin typeface="+mn-lt"/>
                          <a:ea typeface="+mn-ea"/>
                          <a:cs typeface="宋体"/>
                          <a:sym typeface="Huawei Sans" panose="020C0503030203020204" pitchFamily="34" charset="0"/>
                        </a:rPr>
                        <a:t>ACL</a:t>
                      </a:r>
                      <a:r>
                        <a:rPr lang="zh-CN" altLang="en-US" sz="1400" kern="1200" dirty="0">
                          <a:solidFill>
                            <a:schemeClr val="dk1"/>
                          </a:solidFill>
                          <a:effectLst/>
                          <a:latin typeface="+mn-lt"/>
                          <a:ea typeface="+mn-ea"/>
                          <a:cs typeface="宋体"/>
                          <a:sym typeface="Huawei Sans" panose="020C0503030203020204" pitchFamily="34" charset="0"/>
                        </a:rPr>
                        <a:t>方案，配置规划复杂，预配置工作量大，</a:t>
                      </a:r>
                      <a:r>
                        <a:rPr lang="en-US" altLang="zh-CN" sz="1400" kern="1200" dirty="0">
                          <a:solidFill>
                            <a:schemeClr val="dk1"/>
                          </a:solidFill>
                          <a:effectLst/>
                          <a:latin typeface="+mn-lt"/>
                          <a:ea typeface="+mn-ea"/>
                          <a:cs typeface="宋体"/>
                          <a:sym typeface="Huawei Sans" panose="020C0503030203020204" pitchFamily="34" charset="0"/>
                        </a:rPr>
                        <a:t>ACL</a:t>
                      </a:r>
                      <a:r>
                        <a:rPr lang="zh-CN" altLang="en-US" sz="1400" kern="1200" dirty="0">
                          <a:solidFill>
                            <a:schemeClr val="dk1"/>
                          </a:solidFill>
                          <a:effectLst/>
                          <a:latin typeface="+mn-lt"/>
                          <a:ea typeface="+mn-ea"/>
                          <a:cs typeface="宋体"/>
                          <a:sym typeface="Huawei Sans" panose="020C0503030203020204" pitchFamily="34" charset="0"/>
                        </a:rPr>
                        <a:t>维护困难，难以保证用户网络权限一致。</a:t>
                      </a:r>
                    </a:p>
                  </a:txBody>
                  <a:tcPr anchor="ctr"/>
                </a:tc>
                <a:tc>
                  <a:txBody>
                    <a:bodyPr/>
                    <a:lstStyle>
                      <a:defPPr>
                        <a:defRPr lang="zh-CN"/>
                      </a:defPPr>
                      <a:lvl1pPr marL="0" algn="l" defTabSz="914156" rtl="0" eaLnBrk="1" latinLnBrk="0" hangingPunct="1">
                        <a:defRPr sz="1800" kern="1200">
                          <a:solidFill>
                            <a:schemeClr val="dk1"/>
                          </a:solidFill>
                          <a:latin typeface="FrutigerNext LT Medium"/>
                          <a:ea typeface="华文细黑"/>
                          <a:cs typeface="宋体"/>
                        </a:defRPr>
                      </a:lvl1pPr>
                      <a:lvl2pPr marL="457080" algn="l" defTabSz="914156" rtl="0" eaLnBrk="1" latinLnBrk="0" hangingPunct="1">
                        <a:defRPr sz="1800" kern="1200">
                          <a:solidFill>
                            <a:schemeClr val="dk1"/>
                          </a:solidFill>
                          <a:latin typeface="FrutigerNext LT Medium"/>
                          <a:ea typeface="华文细黑"/>
                          <a:cs typeface="宋体"/>
                        </a:defRPr>
                      </a:lvl2pPr>
                      <a:lvl3pPr marL="914156" algn="l" defTabSz="914156" rtl="0" eaLnBrk="1" latinLnBrk="0" hangingPunct="1">
                        <a:defRPr sz="1800" kern="1200">
                          <a:solidFill>
                            <a:schemeClr val="dk1"/>
                          </a:solidFill>
                          <a:latin typeface="FrutigerNext LT Medium"/>
                          <a:ea typeface="华文细黑"/>
                          <a:cs typeface="宋体"/>
                        </a:defRPr>
                      </a:lvl3pPr>
                      <a:lvl4pPr marL="1371234" algn="l" defTabSz="914156" rtl="0" eaLnBrk="1" latinLnBrk="0" hangingPunct="1">
                        <a:defRPr sz="1800" kern="1200">
                          <a:solidFill>
                            <a:schemeClr val="dk1"/>
                          </a:solidFill>
                          <a:latin typeface="FrutigerNext LT Medium"/>
                          <a:ea typeface="华文细黑"/>
                          <a:cs typeface="宋体"/>
                        </a:defRPr>
                      </a:lvl4pPr>
                      <a:lvl5pPr marL="1828312" algn="l" defTabSz="914156" rtl="0" eaLnBrk="1" latinLnBrk="0" hangingPunct="1">
                        <a:defRPr sz="1800" kern="1200">
                          <a:solidFill>
                            <a:schemeClr val="dk1"/>
                          </a:solidFill>
                          <a:latin typeface="FrutigerNext LT Medium"/>
                          <a:ea typeface="华文细黑"/>
                          <a:cs typeface="宋体"/>
                        </a:defRPr>
                      </a:lvl5pPr>
                      <a:lvl6pPr marL="2285390" algn="l" defTabSz="914156" rtl="0" eaLnBrk="1" latinLnBrk="0" hangingPunct="1">
                        <a:defRPr sz="1800" kern="1200">
                          <a:solidFill>
                            <a:schemeClr val="dk1"/>
                          </a:solidFill>
                          <a:latin typeface="FrutigerNext LT Medium"/>
                          <a:ea typeface="华文细黑"/>
                          <a:cs typeface="宋体"/>
                        </a:defRPr>
                      </a:lvl6pPr>
                      <a:lvl7pPr marL="2742468" algn="l" defTabSz="914156" rtl="0" eaLnBrk="1" latinLnBrk="0" hangingPunct="1">
                        <a:defRPr sz="1800" kern="1200">
                          <a:solidFill>
                            <a:schemeClr val="dk1"/>
                          </a:solidFill>
                          <a:latin typeface="FrutigerNext LT Medium"/>
                          <a:ea typeface="华文细黑"/>
                          <a:cs typeface="宋体"/>
                        </a:defRPr>
                      </a:lvl7pPr>
                      <a:lvl8pPr marL="3199546" algn="l" defTabSz="914156" rtl="0" eaLnBrk="1" latinLnBrk="0" hangingPunct="1">
                        <a:defRPr sz="1800" kern="1200">
                          <a:solidFill>
                            <a:schemeClr val="dk1"/>
                          </a:solidFill>
                          <a:latin typeface="FrutigerNext LT Medium"/>
                          <a:ea typeface="华文细黑"/>
                          <a:cs typeface="宋体"/>
                        </a:defRPr>
                      </a:lvl8pPr>
                      <a:lvl9pPr marL="3656624" algn="l" defTabSz="914156" rtl="0" eaLnBrk="1" latinLnBrk="0" hangingPunct="1">
                        <a:defRPr sz="1800" kern="1200">
                          <a:solidFill>
                            <a:schemeClr val="dk1"/>
                          </a:solidFill>
                          <a:latin typeface="FrutigerNext LT Medium"/>
                          <a:ea typeface="华文细黑"/>
                          <a:cs typeface="宋体"/>
                        </a:defRPr>
                      </a:lvl9pPr>
                    </a:lstStyle>
                    <a:p>
                      <a:pPr marL="0" marR="0" lvl="0" indent="0" algn="l" defTabSz="914209"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effectLst/>
                          <a:latin typeface="+mn-lt"/>
                          <a:ea typeface="+mn-ea"/>
                          <a:cs typeface="宋体"/>
                          <a:sym typeface="Huawei Sans" panose="020C0503030203020204" pitchFamily="34" charset="0"/>
                        </a:rPr>
                        <a:t>实现网络访问策略与</a:t>
                      </a:r>
                      <a:r>
                        <a:rPr lang="en-US" altLang="zh-CN" sz="1400" kern="1200" dirty="0">
                          <a:solidFill>
                            <a:schemeClr val="dk1"/>
                          </a:solidFill>
                          <a:effectLst/>
                          <a:latin typeface="+mn-lt"/>
                          <a:ea typeface="+mn-ea"/>
                          <a:cs typeface="宋体"/>
                          <a:sym typeface="Huawei Sans" panose="020C0503030203020204" pitchFamily="34" charset="0"/>
                        </a:rPr>
                        <a:t>IP</a:t>
                      </a:r>
                      <a:r>
                        <a:rPr lang="zh-CN" altLang="en-US" sz="1400" kern="1200" dirty="0">
                          <a:solidFill>
                            <a:schemeClr val="dk1"/>
                          </a:solidFill>
                          <a:effectLst/>
                          <a:latin typeface="+mn-lt"/>
                          <a:ea typeface="+mn-ea"/>
                          <a:cs typeface="宋体"/>
                          <a:sym typeface="Huawei Sans" panose="020C0503030203020204" pitchFamily="34" charset="0"/>
                        </a:rPr>
                        <a:t>解耦，管理员在</a:t>
                      </a:r>
                      <a:r>
                        <a:rPr lang="en-US" altLang="zh-CN" sz="1400" kern="1200" dirty="0" err="1">
                          <a:solidFill>
                            <a:schemeClr val="dk1"/>
                          </a:solidFill>
                          <a:effectLst/>
                          <a:latin typeface="+mn-lt"/>
                          <a:ea typeface="+mn-ea"/>
                          <a:cs typeface="宋体"/>
                          <a:sym typeface="Huawei Sans" panose="020C0503030203020204" pitchFamily="34" charset="0"/>
                        </a:rPr>
                        <a:t>iMaster</a:t>
                      </a:r>
                      <a:r>
                        <a:rPr lang="en-US" altLang="zh-CN" sz="1400" kern="1200" dirty="0">
                          <a:solidFill>
                            <a:schemeClr val="dk1"/>
                          </a:solidFill>
                          <a:effectLst/>
                          <a:latin typeface="+mn-lt"/>
                          <a:ea typeface="+mn-ea"/>
                          <a:cs typeface="宋体"/>
                          <a:sym typeface="Huawei Sans" panose="020C0503030203020204" pitchFamily="34" charset="0"/>
                        </a:rPr>
                        <a:t> NCE-Campus</a:t>
                      </a:r>
                      <a:r>
                        <a:rPr lang="zh-CN" altLang="en-US" sz="1400" kern="1200" dirty="0">
                          <a:solidFill>
                            <a:schemeClr val="dk1"/>
                          </a:solidFill>
                          <a:effectLst/>
                          <a:latin typeface="+mn-lt"/>
                          <a:ea typeface="+mn-ea"/>
                          <a:cs typeface="宋体"/>
                          <a:sym typeface="Huawei Sans" panose="020C0503030203020204" pitchFamily="34" charset="0"/>
                        </a:rPr>
                        <a:t>基于用户身份进行安全组统一划分，通过策略矩阵统一管理策略，配置简单，维护方便，能有效保障用户移动时网络访问权限一致。</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974183">
                <a:tc>
                  <a:txBody>
                    <a:bodyPr/>
                    <a:lstStyle>
                      <a:defPPr>
                        <a:defRPr lang="zh-CN"/>
                      </a:defPPr>
                      <a:lvl1pPr marL="0" algn="l" defTabSz="914156" rtl="0" eaLnBrk="1" latinLnBrk="0" hangingPunct="1">
                        <a:defRPr sz="1800" kern="1200">
                          <a:solidFill>
                            <a:schemeClr val="dk1"/>
                          </a:solidFill>
                          <a:latin typeface="FrutigerNext LT Medium"/>
                          <a:ea typeface="华文细黑"/>
                          <a:cs typeface="宋体"/>
                        </a:defRPr>
                      </a:lvl1pPr>
                      <a:lvl2pPr marL="457080" algn="l" defTabSz="914156" rtl="0" eaLnBrk="1" latinLnBrk="0" hangingPunct="1">
                        <a:defRPr sz="1800" kern="1200">
                          <a:solidFill>
                            <a:schemeClr val="dk1"/>
                          </a:solidFill>
                          <a:latin typeface="FrutigerNext LT Medium"/>
                          <a:ea typeface="华文细黑"/>
                          <a:cs typeface="宋体"/>
                        </a:defRPr>
                      </a:lvl2pPr>
                      <a:lvl3pPr marL="914156" algn="l" defTabSz="914156" rtl="0" eaLnBrk="1" latinLnBrk="0" hangingPunct="1">
                        <a:defRPr sz="1800" kern="1200">
                          <a:solidFill>
                            <a:schemeClr val="dk1"/>
                          </a:solidFill>
                          <a:latin typeface="FrutigerNext LT Medium"/>
                          <a:ea typeface="华文细黑"/>
                          <a:cs typeface="宋体"/>
                        </a:defRPr>
                      </a:lvl3pPr>
                      <a:lvl4pPr marL="1371234" algn="l" defTabSz="914156" rtl="0" eaLnBrk="1" latinLnBrk="0" hangingPunct="1">
                        <a:defRPr sz="1800" kern="1200">
                          <a:solidFill>
                            <a:schemeClr val="dk1"/>
                          </a:solidFill>
                          <a:latin typeface="FrutigerNext LT Medium"/>
                          <a:ea typeface="华文细黑"/>
                          <a:cs typeface="宋体"/>
                        </a:defRPr>
                      </a:lvl4pPr>
                      <a:lvl5pPr marL="1828312" algn="l" defTabSz="914156" rtl="0" eaLnBrk="1" latinLnBrk="0" hangingPunct="1">
                        <a:defRPr sz="1800" kern="1200">
                          <a:solidFill>
                            <a:schemeClr val="dk1"/>
                          </a:solidFill>
                          <a:latin typeface="FrutigerNext LT Medium"/>
                          <a:ea typeface="华文细黑"/>
                          <a:cs typeface="宋体"/>
                        </a:defRPr>
                      </a:lvl5pPr>
                      <a:lvl6pPr marL="2285390" algn="l" defTabSz="914156" rtl="0" eaLnBrk="1" latinLnBrk="0" hangingPunct="1">
                        <a:defRPr sz="1800" kern="1200">
                          <a:solidFill>
                            <a:schemeClr val="dk1"/>
                          </a:solidFill>
                          <a:latin typeface="FrutigerNext LT Medium"/>
                          <a:ea typeface="华文细黑"/>
                          <a:cs typeface="宋体"/>
                        </a:defRPr>
                      </a:lvl6pPr>
                      <a:lvl7pPr marL="2742468" algn="l" defTabSz="914156" rtl="0" eaLnBrk="1" latinLnBrk="0" hangingPunct="1">
                        <a:defRPr sz="1800" kern="1200">
                          <a:solidFill>
                            <a:schemeClr val="dk1"/>
                          </a:solidFill>
                          <a:latin typeface="FrutigerNext LT Medium"/>
                          <a:ea typeface="华文细黑"/>
                          <a:cs typeface="宋体"/>
                        </a:defRPr>
                      </a:lvl7pPr>
                      <a:lvl8pPr marL="3199546" algn="l" defTabSz="914156" rtl="0" eaLnBrk="1" latinLnBrk="0" hangingPunct="1">
                        <a:defRPr sz="1800" kern="1200">
                          <a:solidFill>
                            <a:schemeClr val="dk1"/>
                          </a:solidFill>
                          <a:latin typeface="FrutigerNext LT Medium"/>
                          <a:ea typeface="华文细黑"/>
                          <a:cs typeface="宋体"/>
                        </a:defRPr>
                      </a:lvl8pPr>
                      <a:lvl9pPr marL="3656624" algn="l" defTabSz="914156" rtl="0" eaLnBrk="1" latinLnBrk="0" hangingPunct="1">
                        <a:defRPr sz="1800" kern="1200">
                          <a:solidFill>
                            <a:schemeClr val="dk1"/>
                          </a:solidFill>
                          <a:latin typeface="FrutigerNext LT Medium"/>
                          <a:ea typeface="华文细黑"/>
                          <a:cs typeface="宋体"/>
                        </a:defRPr>
                      </a:lvl9pPr>
                    </a:lstStyle>
                    <a:p>
                      <a:pPr marL="0" marR="0" lvl="0" indent="0" algn="l" defTabSz="914209"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effectLst/>
                          <a:latin typeface="+mn-lt"/>
                          <a:ea typeface="+mn-ea"/>
                          <a:cs typeface="宋体"/>
                          <a:sym typeface="Huawei Sans" panose="020C0503030203020204" pitchFamily="34" charset="0"/>
                        </a:rPr>
                        <a:t>基于业务的用户隔离</a:t>
                      </a:r>
                    </a:p>
                  </a:txBody>
                  <a:tcPr anchor="ctr">
                    <a:lnL w="28575" cap="flat" cmpd="sng" algn="ctr">
                      <a:solidFill>
                        <a:schemeClr val="tx1"/>
                      </a:solidFill>
                      <a:prstDash val="solid"/>
                      <a:round/>
                      <a:headEnd type="none" w="med" len="med"/>
                      <a:tailEnd type="none" w="med" len="med"/>
                    </a:lnL>
                  </a:tcPr>
                </a:tc>
                <a:tc>
                  <a:txBody>
                    <a:bodyPr/>
                    <a:lstStyle>
                      <a:defPPr>
                        <a:defRPr lang="zh-CN"/>
                      </a:defPPr>
                      <a:lvl1pPr marL="0" algn="l" defTabSz="914156" rtl="0" eaLnBrk="1" latinLnBrk="0" hangingPunct="1">
                        <a:defRPr sz="1800" kern="1200">
                          <a:solidFill>
                            <a:schemeClr val="dk1"/>
                          </a:solidFill>
                          <a:latin typeface="FrutigerNext LT Medium"/>
                          <a:ea typeface="华文细黑"/>
                          <a:cs typeface="宋体"/>
                        </a:defRPr>
                      </a:lvl1pPr>
                      <a:lvl2pPr marL="457080" algn="l" defTabSz="914156" rtl="0" eaLnBrk="1" latinLnBrk="0" hangingPunct="1">
                        <a:defRPr sz="1800" kern="1200">
                          <a:solidFill>
                            <a:schemeClr val="dk1"/>
                          </a:solidFill>
                          <a:latin typeface="FrutigerNext LT Medium"/>
                          <a:ea typeface="华文细黑"/>
                          <a:cs typeface="宋体"/>
                        </a:defRPr>
                      </a:lvl2pPr>
                      <a:lvl3pPr marL="914156" algn="l" defTabSz="914156" rtl="0" eaLnBrk="1" latinLnBrk="0" hangingPunct="1">
                        <a:defRPr sz="1800" kern="1200">
                          <a:solidFill>
                            <a:schemeClr val="dk1"/>
                          </a:solidFill>
                          <a:latin typeface="FrutigerNext LT Medium"/>
                          <a:ea typeface="华文细黑"/>
                          <a:cs typeface="宋体"/>
                        </a:defRPr>
                      </a:lvl3pPr>
                      <a:lvl4pPr marL="1371234" algn="l" defTabSz="914156" rtl="0" eaLnBrk="1" latinLnBrk="0" hangingPunct="1">
                        <a:defRPr sz="1800" kern="1200">
                          <a:solidFill>
                            <a:schemeClr val="dk1"/>
                          </a:solidFill>
                          <a:latin typeface="FrutigerNext LT Medium"/>
                          <a:ea typeface="华文细黑"/>
                          <a:cs typeface="宋体"/>
                        </a:defRPr>
                      </a:lvl4pPr>
                      <a:lvl5pPr marL="1828312" algn="l" defTabSz="914156" rtl="0" eaLnBrk="1" latinLnBrk="0" hangingPunct="1">
                        <a:defRPr sz="1800" kern="1200">
                          <a:solidFill>
                            <a:schemeClr val="dk1"/>
                          </a:solidFill>
                          <a:latin typeface="FrutigerNext LT Medium"/>
                          <a:ea typeface="华文细黑"/>
                          <a:cs typeface="宋体"/>
                        </a:defRPr>
                      </a:lvl5pPr>
                      <a:lvl6pPr marL="2285390" algn="l" defTabSz="914156" rtl="0" eaLnBrk="1" latinLnBrk="0" hangingPunct="1">
                        <a:defRPr sz="1800" kern="1200">
                          <a:solidFill>
                            <a:schemeClr val="dk1"/>
                          </a:solidFill>
                          <a:latin typeface="FrutigerNext LT Medium"/>
                          <a:ea typeface="华文细黑"/>
                          <a:cs typeface="宋体"/>
                        </a:defRPr>
                      </a:lvl6pPr>
                      <a:lvl7pPr marL="2742468" algn="l" defTabSz="914156" rtl="0" eaLnBrk="1" latinLnBrk="0" hangingPunct="1">
                        <a:defRPr sz="1800" kern="1200">
                          <a:solidFill>
                            <a:schemeClr val="dk1"/>
                          </a:solidFill>
                          <a:latin typeface="FrutigerNext LT Medium"/>
                          <a:ea typeface="华文细黑"/>
                          <a:cs typeface="宋体"/>
                        </a:defRPr>
                      </a:lvl7pPr>
                      <a:lvl8pPr marL="3199546" algn="l" defTabSz="914156" rtl="0" eaLnBrk="1" latinLnBrk="0" hangingPunct="1">
                        <a:defRPr sz="1800" kern="1200">
                          <a:solidFill>
                            <a:schemeClr val="dk1"/>
                          </a:solidFill>
                          <a:latin typeface="FrutigerNext LT Medium"/>
                          <a:ea typeface="华文细黑"/>
                          <a:cs typeface="宋体"/>
                        </a:defRPr>
                      </a:lvl8pPr>
                      <a:lvl9pPr marL="3656624" algn="l" defTabSz="914156" rtl="0" eaLnBrk="1" latinLnBrk="0" hangingPunct="1">
                        <a:defRPr sz="1800" kern="1200">
                          <a:solidFill>
                            <a:schemeClr val="dk1"/>
                          </a:solidFill>
                          <a:latin typeface="FrutigerNext LT Medium"/>
                          <a:ea typeface="华文细黑"/>
                          <a:cs typeface="宋体"/>
                        </a:defRPr>
                      </a:lvl9pPr>
                    </a:lstStyle>
                    <a:p>
                      <a:pPr marL="0" marR="0" lvl="0" indent="0" algn="l" defTabSz="914209"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effectLst/>
                          <a:latin typeface="+mn-lt"/>
                          <a:ea typeface="+mn-ea"/>
                          <a:cs typeface="宋体"/>
                          <a:sym typeface="Huawei Sans" panose="020C0503030203020204" pitchFamily="34" charset="0"/>
                        </a:rPr>
                        <a:t>采用二层</a:t>
                      </a:r>
                      <a:r>
                        <a:rPr lang="en-US" altLang="zh-CN" sz="1400" kern="1200" dirty="0">
                          <a:solidFill>
                            <a:schemeClr val="dk1"/>
                          </a:solidFill>
                          <a:effectLst/>
                          <a:latin typeface="+mn-lt"/>
                          <a:ea typeface="+mn-ea"/>
                          <a:cs typeface="宋体"/>
                          <a:sym typeface="Huawei Sans" panose="020C0503030203020204" pitchFamily="34" charset="0"/>
                        </a:rPr>
                        <a:t>VLAN</a:t>
                      </a:r>
                      <a:r>
                        <a:rPr lang="zh-CN" altLang="en-US" sz="1400" kern="1200" dirty="0">
                          <a:solidFill>
                            <a:schemeClr val="dk1"/>
                          </a:solidFill>
                          <a:effectLst/>
                          <a:latin typeface="+mn-lt"/>
                          <a:ea typeface="+mn-ea"/>
                          <a:cs typeface="宋体"/>
                          <a:sym typeface="Huawei Sans" panose="020C0503030203020204" pitchFamily="34" charset="0"/>
                        </a:rPr>
                        <a:t>隔离</a:t>
                      </a:r>
                      <a:r>
                        <a:rPr lang="en-US" altLang="zh-CN" sz="1400" kern="1200" dirty="0">
                          <a:solidFill>
                            <a:schemeClr val="dk1"/>
                          </a:solidFill>
                          <a:effectLst/>
                          <a:latin typeface="+mn-lt"/>
                          <a:ea typeface="+mn-ea"/>
                          <a:cs typeface="宋体"/>
                          <a:sym typeface="Huawei Sans" panose="020C0503030203020204" pitchFamily="34" charset="0"/>
                        </a:rPr>
                        <a:t>+</a:t>
                      </a:r>
                      <a:r>
                        <a:rPr lang="zh-CN" altLang="en-US" sz="1400" kern="1200" dirty="0">
                          <a:solidFill>
                            <a:schemeClr val="dk1"/>
                          </a:solidFill>
                          <a:effectLst/>
                          <a:latin typeface="+mn-lt"/>
                          <a:ea typeface="+mn-ea"/>
                          <a:cs typeface="宋体"/>
                          <a:sym typeface="Huawei Sans" panose="020C0503030203020204" pitchFamily="34" charset="0"/>
                        </a:rPr>
                        <a:t>三层</a:t>
                      </a:r>
                      <a:r>
                        <a:rPr lang="en-US" altLang="zh-CN" sz="1400" kern="1200" dirty="0">
                          <a:solidFill>
                            <a:schemeClr val="dk1"/>
                          </a:solidFill>
                          <a:effectLst/>
                          <a:latin typeface="+mn-lt"/>
                          <a:ea typeface="+mn-ea"/>
                          <a:cs typeface="宋体"/>
                          <a:sym typeface="Huawei Sans" panose="020C0503030203020204" pitchFamily="34" charset="0"/>
                        </a:rPr>
                        <a:t>ACL</a:t>
                      </a:r>
                      <a:r>
                        <a:rPr lang="zh-CN" altLang="en-US" sz="1400" kern="1200" dirty="0">
                          <a:solidFill>
                            <a:schemeClr val="dk1"/>
                          </a:solidFill>
                          <a:effectLst/>
                          <a:latin typeface="+mn-lt"/>
                          <a:ea typeface="+mn-ea"/>
                          <a:cs typeface="宋体"/>
                          <a:sym typeface="Huawei Sans" panose="020C0503030203020204" pitchFamily="34" charset="0"/>
                        </a:rPr>
                        <a:t>隔离方案，在移动化办公背景下，配置规划复杂，预配置工作量大，</a:t>
                      </a:r>
                      <a:r>
                        <a:rPr lang="en-US" altLang="zh-CN" sz="1400" kern="1200" dirty="0">
                          <a:solidFill>
                            <a:schemeClr val="dk1"/>
                          </a:solidFill>
                          <a:effectLst/>
                          <a:latin typeface="+mn-lt"/>
                          <a:ea typeface="+mn-ea"/>
                          <a:cs typeface="宋体"/>
                          <a:sym typeface="Huawei Sans" panose="020C0503030203020204" pitchFamily="34" charset="0"/>
                        </a:rPr>
                        <a:t>ACL</a:t>
                      </a:r>
                      <a:r>
                        <a:rPr lang="zh-CN" altLang="en-US" sz="1400" kern="1200" dirty="0">
                          <a:solidFill>
                            <a:schemeClr val="dk1"/>
                          </a:solidFill>
                          <a:effectLst/>
                          <a:latin typeface="+mn-lt"/>
                          <a:ea typeface="+mn-ea"/>
                          <a:cs typeface="宋体"/>
                          <a:sym typeface="Huawei Sans" panose="020C0503030203020204" pitchFamily="34" charset="0"/>
                        </a:rPr>
                        <a:t>维护困难，难以有效实现用户隔离。</a:t>
                      </a:r>
                    </a:p>
                  </a:txBody>
                  <a:tcPr anchor="ctr"/>
                </a:tc>
                <a:tc>
                  <a:txBody>
                    <a:bodyPr/>
                    <a:lstStyle>
                      <a:defPPr>
                        <a:defRPr lang="zh-CN"/>
                      </a:defPPr>
                      <a:lvl1pPr marL="0" algn="l" defTabSz="914156" rtl="0" eaLnBrk="1" latinLnBrk="0" hangingPunct="1">
                        <a:defRPr sz="1800" kern="1200">
                          <a:solidFill>
                            <a:schemeClr val="dk1"/>
                          </a:solidFill>
                          <a:latin typeface="FrutigerNext LT Medium"/>
                          <a:ea typeface="华文细黑"/>
                          <a:cs typeface="宋体"/>
                        </a:defRPr>
                      </a:lvl1pPr>
                      <a:lvl2pPr marL="457080" algn="l" defTabSz="914156" rtl="0" eaLnBrk="1" latinLnBrk="0" hangingPunct="1">
                        <a:defRPr sz="1800" kern="1200">
                          <a:solidFill>
                            <a:schemeClr val="dk1"/>
                          </a:solidFill>
                          <a:latin typeface="FrutigerNext LT Medium"/>
                          <a:ea typeface="华文细黑"/>
                          <a:cs typeface="宋体"/>
                        </a:defRPr>
                      </a:lvl2pPr>
                      <a:lvl3pPr marL="914156" algn="l" defTabSz="914156" rtl="0" eaLnBrk="1" latinLnBrk="0" hangingPunct="1">
                        <a:defRPr sz="1800" kern="1200">
                          <a:solidFill>
                            <a:schemeClr val="dk1"/>
                          </a:solidFill>
                          <a:latin typeface="FrutigerNext LT Medium"/>
                          <a:ea typeface="华文细黑"/>
                          <a:cs typeface="宋体"/>
                        </a:defRPr>
                      </a:lvl3pPr>
                      <a:lvl4pPr marL="1371234" algn="l" defTabSz="914156" rtl="0" eaLnBrk="1" latinLnBrk="0" hangingPunct="1">
                        <a:defRPr sz="1800" kern="1200">
                          <a:solidFill>
                            <a:schemeClr val="dk1"/>
                          </a:solidFill>
                          <a:latin typeface="FrutigerNext LT Medium"/>
                          <a:ea typeface="华文细黑"/>
                          <a:cs typeface="宋体"/>
                        </a:defRPr>
                      </a:lvl4pPr>
                      <a:lvl5pPr marL="1828312" algn="l" defTabSz="914156" rtl="0" eaLnBrk="1" latinLnBrk="0" hangingPunct="1">
                        <a:defRPr sz="1800" kern="1200">
                          <a:solidFill>
                            <a:schemeClr val="dk1"/>
                          </a:solidFill>
                          <a:latin typeface="FrutigerNext LT Medium"/>
                          <a:ea typeface="华文细黑"/>
                          <a:cs typeface="宋体"/>
                        </a:defRPr>
                      </a:lvl5pPr>
                      <a:lvl6pPr marL="2285390" algn="l" defTabSz="914156" rtl="0" eaLnBrk="1" latinLnBrk="0" hangingPunct="1">
                        <a:defRPr sz="1800" kern="1200">
                          <a:solidFill>
                            <a:schemeClr val="dk1"/>
                          </a:solidFill>
                          <a:latin typeface="FrutigerNext LT Medium"/>
                          <a:ea typeface="华文细黑"/>
                          <a:cs typeface="宋体"/>
                        </a:defRPr>
                      </a:lvl6pPr>
                      <a:lvl7pPr marL="2742468" algn="l" defTabSz="914156" rtl="0" eaLnBrk="1" latinLnBrk="0" hangingPunct="1">
                        <a:defRPr sz="1800" kern="1200">
                          <a:solidFill>
                            <a:schemeClr val="dk1"/>
                          </a:solidFill>
                          <a:latin typeface="FrutigerNext LT Medium"/>
                          <a:ea typeface="华文细黑"/>
                          <a:cs typeface="宋体"/>
                        </a:defRPr>
                      </a:lvl7pPr>
                      <a:lvl8pPr marL="3199546" algn="l" defTabSz="914156" rtl="0" eaLnBrk="1" latinLnBrk="0" hangingPunct="1">
                        <a:defRPr sz="1800" kern="1200">
                          <a:solidFill>
                            <a:schemeClr val="dk1"/>
                          </a:solidFill>
                          <a:latin typeface="FrutigerNext LT Medium"/>
                          <a:ea typeface="华文细黑"/>
                          <a:cs typeface="宋体"/>
                        </a:defRPr>
                      </a:lvl8pPr>
                      <a:lvl9pPr marL="3656624" algn="l" defTabSz="914156" rtl="0" eaLnBrk="1" latinLnBrk="0" hangingPunct="1">
                        <a:defRPr sz="1800" kern="1200">
                          <a:solidFill>
                            <a:schemeClr val="dk1"/>
                          </a:solidFill>
                          <a:latin typeface="FrutigerNext LT Medium"/>
                          <a:ea typeface="华文细黑"/>
                          <a:cs typeface="宋体"/>
                        </a:defRPr>
                      </a:lvl9pPr>
                    </a:lstStyle>
                    <a:p>
                      <a:pPr marL="0" marR="0" lvl="0" indent="0" algn="l" defTabSz="914209"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effectLst/>
                          <a:latin typeface="+mn-lt"/>
                          <a:ea typeface="+mn-ea"/>
                          <a:cs typeface="宋体"/>
                          <a:sym typeface="Huawei Sans" panose="020C0503030203020204" pitchFamily="34" charset="0"/>
                        </a:rPr>
                        <a:t>二层端口隔离</a:t>
                      </a:r>
                      <a:r>
                        <a:rPr lang="en-US" altLang="zh-CN" sz="1400" kern="1200" dirty="0">
                          <a:solidFill>
                            <a:schemeClr val="dk1"/>
                          </a:solidFill>
                          <a:effectLst/>
                          <a:latin typeface="+mn-lt"/>
                          <a:ea typeface="+mn-ea"/>
                          <a:cs typeface="宋体"/>
                          <a:sym typeface="Huawei Sans" panose="020C0503030203020204" pitchFamily="34" charset="0"/>
                        </a:rPr>
                        <a:t>+</a:t>
                      </a:r>
                      <a:r>
                        <a:rPr lang="zh-CN" altLang="en-US" sz="1400" kern="1200" dirty="0">
                          <a:solidFill>
                            <a:schemeClr val="dk1"/>
                          </a:solidFill>
                          <a:effectLst/>
                          <a:latin typeface="+mn-lt"/>
                          <a:ea typeface="+mn-ea"/>
                          <a:cs typeface="宋体"/>
                          <a:sym typeface="Huawei Sans" panose="020C0503030203020204" pitchFamily="34" charset="0"/>
                        </a:rPr>
                        <a:t>基于安全组的组间隔离，组间隔离策略与</a:t>
                      </a:r>
                      <a:r>
                        <a:rPr lang="en-US" altLang="zh-CN" sz="1400" kern="1200" dirty="0">
                          <a:solidFill>
                            <a:schemeClr val="dk1"/>
                          </a:solidFill>
                          <a:effectLst/>
                          <a:latin typeface="+mn-lt"/>
                          <a:ea typeface="+mn-ea"/>
                          <a:cs typeface="宋体"/>
                          <a:sym typeface="Huawei Sans" panose="020C0503030203020204" pitchFamily="34" charset="0"/>
                        </a:rPr>
                        <a:t>IP</a:t>
                      </a:r>
                      <a:r>
                        <a:rPr lang="zh-CN" altLang="en-US" sz="1400" kern="1200" dirty="0">
                          <a:solidFill>
                            <a:schemeClr val="dk1"/>
                          </a:solidFill>
                          <a:effectLst/>
                          <a:latin typeface="+mn-lt"/>
                          <a:ea typeface="+mn-ea"/>
                          <a:cs typeface="宋体"/>
                          <a:sym typeface="Huawei Sans" panose="020C0503030203020204" pitchFamily="34" charset="0"/>
                        </a:rPr>
                        <a:t>解耦，配置简单，维护方便，能够有效实现用户隔离。</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974183">
                <a:tc>
                  <a:txBody>
                    <a:bodyPr/>
                    <a:lstStyle/>
                    <a:p>
                      <a:pPr marL="0" marR="0" lvl="0" indent="0" algn="l" defTabSz="914209"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effectLst/>
                          <a:latin typeface="+mn-lt"/>
                          <a:ea typeface="+mn-ea"/>
                          <a:cs typeface="宋体"/>
                          <a:sym typeface="Huawei Sans" panose="020C0503030203020204" pitchFamily="34" charset="0"/>
                        </a:rPr>
                        <a:t>简化配置和管理</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marR="0" lvl="0" indent="0" algn="l" defTabSz="914209" rtl="0" eaLnBrk="1" fontAlgn="auto" latinLnBrk="0" hangingPunct="1">
                        <a:lnSpc>
                          <a:spcPct val="100000"/>
                        </a:lnSpc>
                        <a:spcBef>
                          <a:spcPts val="0"/>
                        </a:spcBef>
                        <a:spcAft>
                          <a:spcPts val="0"/>
                        </a:spcAft>
                        <a:buClrTx/>
                        <a:buSzTx/>
                        <a:buFontTx/>
                        <a:buNone/>
                        <a:tabLst/>
                        <a:defRPr/>
                      </a:pPr>
                      <a:r>
                        <a:rPr lang="zh-CN" altLang="zh-CN" sz="1400" kern="1200" dirty="0">
                          <a:solidFill>
                            <a:schemeClr val="dk1"/>
                          </a:solidFill>
                          <a:effectLst/>
                          <a:latin typeface="+mn-lt"/>
                          <a:ea typeface="+mn-ea"/>
                          <a:cs typeface="宋体"/>
                          <a:sym typeface="Huawei Sans" panose="020C0503030203020204" pitchFamily="34" charset="0"/>
                        </a:rPr>
                        <a:t>以</a:t>
                      </a:r>
                      <a:r>
                        <a:rPr lang="en-US" altLang="zh-CN" sz="1400" kern="1200" dirty="0">
                          <a:solidFill>
                            <a:schemeClr val="dk1"/>
                          </a:solidFill>
                          <a:effectLst/>
                          <a:latin typeface="+mn-lt"/>
                          <a:ea typeface="+mn-ea"/>
                          <a:cs typeface="宋体"/>
                          <a:sym typeface="Huawei Sans" panose="020C0503030203020204" pitchFamily="34" charset="0"/>
                        </a:rPr>
                        <a:t>IP</a:t>
                      </a:r>
                      <a:r>
                        <a:rPr lang="zh-CN" altLang="zh-CN" sz="1400" kern="1200" dirty="0">
                          <a:solidFill>
                            <a:schemeClr val="dk1"/>
                          </a:solidFill>
                          <a:effectLst/>
                          <a:latin typeface="+mn-lt"/>
                          <a:ea typeface="+mn-ea"/>
                          <a:cs typeface="宋体"/>
                          <a:sym typeface="Huawei Sans" panose="020C0503030203020204" pitchFamily="34" charset="0"/>
                        </a:rPr>
                        <a:t>为基础，需要在网络设计前期规划大量</a:t>
                      </a:r>
                      <a:r>
                        <a:rPr lang="en-US" altLang="zh-CN" sz="1400" kern="1200" dirty="0">
                          <a:solidFill>
                            <a:schemeClr val="dk1"/>
                          </a:solidFill>
                          <a:effectLst/>
                          <a:latin typeface="+mn-lt"/>
                          <a:ea typeface="+mn-ea"/>
                          <a:cs typeface="宋体"/>
                          <a:sym typeface="Huawei Sans" panose="020C0503030203020204" pitchFamily="34" charset="0"/>
                        </a:rPr>
                        <a:t>VLAN</a:t>
                      </a:r>
                      <a:r>
                        <a:rPr lang="zh-CN" altLang="zh-CN" sz="1400" kern="1200" dirty="0">
                          <a:solidFill>
                            <a:schemeClr val="dk1"/>
                          </a:solidFill>
                          <a:effectLst/>
                          <a:latin typeface="+mn-lt"/>
                          <a:ea typeface="+mn-ea"/>
                          <a:cs typeface="宋体"/>
                          <a:sym typeface="Huawei Sans" panose="020C0503030203020204" pitchFamily="34" charset="0"/>
                        </a:rPr>
                        <a:t>、</a:t>
                      </a:r>
                      <a:r>
                        <a:rPr lang="en-US" altLang="zh-CN" sz="1400" kern="1200" dirty="0">
                          <a:solidFill>
                            <a:schemeClr val="dk1"/>
                          </a:solidFill>
                          <a:effectLst/>
                          <a:latin typeface="+mn-lt"/>
                          <a:ea typeface="+mn-ea"/>
                          <a:cs typeface="宋体"/>
                          <a:sym typeface="Huawei Sans" panose="020C0503030203020204" pitchFamily="34" charset="0"/>
                        </a:rPr>
                        <a:t>ACL</a:t>
                      </a:r>
                      <a:r>
                        <a:rPr lang="zh-CN" altLang="zh-CN" sz="1400" kern="1200" dirty="0">
                          <a:solidFill>
                            <a:schemeClr val="dk1"/>
                          </a:solidFill>
                          <a:effectLst/>
                          <a:latin typeface="+mn-lt"/>
                          <a:ea typeface="+mn-ea"/>
                          <a:cs typeface="宋体"/>
                          <a:sym typeface="Huawei Sans" panose="020C0503030203020204" pitchFamily="34" charset="0"/>
                        </a:rPr>
                        <a:t>等规则</a:t>
                      </a:r>
                      <a:r>
                        <a:rPr lang="zh-CN" altLang="en-US" sz="1400" kern="1200" dirty="0">
                          <a:solidFill>
                            <a:schemeClr val="dk1"/>
                          </a:solidFill>
                          <a:effectLst/>
                          <a:latin typeface="+mn-lt"/>
                          <a:ea typeface="+mn-ea"/>
                          <a:cs typeface="宋体"/>
                          <a:sym typeface="Huawei Sans" panose="020C0503030203020204" pitchFamily="34" charset="0"/>
                        </a:rPr>
                        <a:t>，配置复杂，难理解，且不利于后期维护。</a:t>
                      </a:r>
                      <a:r>
                        <a:rPr lang="zh-CN" altLang="zh-CN" sz="1400" kern="1200" dirty="0">
                          <a:solidFill>
                            <a:schemeClr val="dk1"/>
                          </a:solidFill>
                          <a:effectLst/>
                          <a:latin typeface="+mn-lt"/>
                          <a:ea typeface="+mn-ea"/>
                          <a:cs typeface="宋体"/>
                          <a:sym typeface="Huawei Sans" panose="020C0503030203020204" pitchFamily="34" charset="0"/>
                        </a:rPr>
                        <a:t> </a:t>
                      </a:r>
                      <a:endParaRPr lang="zh-CN" altLang="en-US" sz="1400" kern="1200" dirty="0">
                        <a:solidFill>
                          <a:schemeClr val="dk1"/>
                        </a:solidFill>
                        <a:effectLst/>
                        <a:latin typeface="+mn-lt"/>
                        <a:ea typeface="+mn-ea"/>
                        <a:cs typeface="宋体"/>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marL="0" marR="0" lvl="0" indent="0" algn="l" defTabSz="914209" rtl="0" eaLnBrk="1" fontAlgn="auto" latinLnBrk="0" hangingPunct="1">
                        <a:lnSpc>
                          <a:spcPct val="100000"/>
                        </a:lnSpc>
                        <a:spcBef>
                          <a:spcPts val="0"/>
                        </a:spcBef>
                        <a:spcAft>
                          <a:spcPts val="0"/>
                        </a:spcAft>
                        <a:buClrTx/>
                        <a:buSzTx/>
                        <a:buFontTx/>
                        <a:buNone/>
                        <a:tabLst/>
                        <a:defRPr/>
                      </a:pPr>
                      <a:r>
                        <a:rPr lang="zh-CN" altLang="zh-CN" sz="1400" kern="1200" dirty="0">
                          <a:solidFill>
                            <a:schemeClr val="dk1"/>
                          </a:solidFill>
                          <a:effectLst/>
                          <a:latin typeface="+mn-lt"/>
                          <a:ea typeface="+mn-ea"/>
                          <a:cs typeface="宋体"/>
                          <a:sym typeface="Huawei Sans" panose="020C0503030203020204" pitchFamily="34" charset="0"/>
                        </a:rPr>
                        <a:t>以</a:t>
                      </a:r>
                      <a:r>
                        <a:rPr lang="zh-CN" altLang="en-US" sz="1400" kern="1200" dirty="0">
                          <a:solidFill>
                            <a:schemeClr val="dk1"/>
                          </a:solidFill>
                          <a:effectLst/>
                          <a:latin typeface="+mn-lt"/>
                          <a:ea typeface="+mn-ea"/>
                          <a:cs typeface="宋体"/>
                          <a:sym typeface="Huawei Sans" panose="020C0503030203020204" pitchFamily="34" charset="0"/>
                        </a:rPr>
                        <a:t>安全组</a:t>
                      </a:r>
                      <a:r>
                        <a:rPr lang="zh-CN" altLang="zh-CN" sz="1400" kern="1200" dirty="0">
                          <a:solidFill>
                            <a:schemeClr val="dk1"/>
                          </a:solidFill>
                          <a:effectLst/>
                          <a:latin typeface="+mn-lt"/>
                          <a:ea typeface="+mn-ea"/>
                          <a:cs typeface="宋体"/>
                          <a:sym typeface="Huawei Sans" panose="020C0503030203020204" pitchFamily="34" charset="0"/>
                        </a:rPr>
                        <a:t>（</a:t>
                      </a:r>
                      <a:r>
                        <a:rPr lang="en-US" altLang="zh-CN" sz="1400" kern="1200" dirty="0">
                          <a:solidFill>
                            <a:schemeClr val="dk1"/>
                          </a:solidFill>
                          <a:effectLst/>
                          <a:latin typeface="+mn-lt"/>
                          <a:ea typeface="+mn-ea"/>
                          <a:cs typeface="宋体"/>
                          <a:sym typeface="Huawei Sans" panose="020C0503030203020204" pitchFamily="34" charset="0"/>
                        </a:rPr>
                        <a:t>UCL</a:t>
                      </a:r>
                      <a:r>
                        <a:rPr lang="zh-CN" altLang="en-US" sz="1400" kern="1200" dirty="0">
                          <a:solidFill>
                            <a:schemeClr val="dk1"/>
                          </a:solidFill>
                          <a:effectLst/>
                          <a:latin typeface="+mn-lt"/>
                          <a:ea typeface="+mn-ea"/>
                          <a:cs typeface="宋体"/>
                          <a:sym typeface="Huawei Sans" panose="020C0503030203020204" pitchFamily="34" charset="0"/>
                        </a:rPr>
                        <a:t>组</a:t>
                      </a:r>
                      <a:r>
                        <a:rPr lang="zh-CN" altLang="zh-CN" sz="1400" kern="1200" dirty="0">
                          <a:solidFill>
                            <a:schemeClr val="dk1"/>
                          </a:solidFill>
                          <a:effectLst/>
                          <a:latin typeface="+mn-lt"/>
                          <a:ea typeface="+mn-ea"/>
                          <a:cs typeface="宋体"/>
                          <a:sym typeface="Huawei Sans" panose="020C0503030203020204" pitchFamily="34" charset="0"/>
                        </a:rPr>
                        <a:t>）为基础，仅需定义几个</a:t>
                      </a:r>
                      <a:r>
                        <a:rPr lang="zh-CN" altLang="en-US" sz="1400" kern="1200" dirty="0">
                          <a:solidFill>
                            <a:schemeClr val="dk1"/>
                          </a:solidFill>
                          <a:effectLst/>
                          <a:latin typeface="+mn-lt"/>
                          <a:ea typeface="+mn-ea"/>
                          <a:cs typeface="宋体"/>
                          <a:sym typeface="Huawei Sans" panose="020C0503030203020204" pitchFamily="34" charset="0"/>
                        </a:rPr>
                        <a:t>用户组，</a:t>
                      </a:r>
                      <a:r>
                        <a:rPr lang="zh-CN" altLang="zh-CN" sz="1400" kern="1200" dirty="0">
                          <a:solidFill>
                            <a:schemeClr val="dk1"/>
                          </a:solidFill>
                          <a:effectLst/>
                          <a:latin typeface="+mn-lt"/>
                          <a:ea typeface="+mn-ea"/>
                          <a:cs typeface="宋体"/>
                          <a:sym typeface="Huawei Sans" panose="020C0503030203020204" pitchFamily="34" charset="0"/>
                        </a:rPr>
                        <a:t>组间策略，大大简化规划和配置工作量</a:t>
                      </a:r>
                      <a:r>
                        <a:rPr lang="zh-CN" altLang="en-US" sz="1400" kern="1200" dirty="0">
                          <a:solidFill>
                            <a:schemeClr val="dk1"/>
                          </a:solidFill>
                          <a:effectLst/>
                          <a:latin typeface="+mn-lt"/>
                          <a:ea typeface="+mn-ea"/>
                          <a:cs typeface="宋体"/>
                          <a:sym typeface="Huawei Sans" panose="020C0503030203020204" pitchFamily="34" charset="0"/>
                        </a:rPr>
                        <a:t>，且策略矩阵简单形象，容易理解，便于维护</a:t>
                      </a:r>
                      <a:r>
                        <a:rPr lang="zh-CN" altLang="zh-CN" sz="1400" kern="1200" dirty="0">
                          <a:solidFill>
                            <a:schemeClr val="dk1"/>
                          </a:solidFill>
                          <a:effectLst/>
                          <a:latin typeface="+mn-lt"/>
                          <a:ea typeface="+mn-ea"/>
                          <a:cs typeface="宋体"/>
                          <a:sym typeface="Huawei Sans" panose="020C0503030203020204" pitchFamily="34" charset="0"/>
                        </a:rPr>
                        <a:t> </a:t>
                      </a:r>
                      <a:r>
                        <a:rPr lang="zh-CN" altLang="en-US" sz="1400" kern="1200" dirty="0">
                          <a:solidFill>
                            <a:schemeClr val="dk1"/>
                          </a:solidFill>
                          <a:effectLst/>
                          <a:latin typeface="+mn-lt"/>
                          <a:ea typeface="+mn-ea"/>
                          <a:cs typeface="宋体"/>
                          <a:sym typeface="Huawei Sans" panose="020C0503030203020204" pitchFamily="34" charset="0"/>
                        </a:rPr>
                        <a:t>。</a:t>
                      </a:r>
                      <a:endParaRPr lang="en-US" altLang="zh-CN" sz="1400" kern="1200" dirty="0">
                        <a:solidFill>
                          <a:schemeClr val="dk1"/>
                        </a:solidFill>
                        <a:effectLst/>
                        <a:latin typeface="+mn-lt"/>
                        <a:ea typeface="+mn-ea"/>
                        <a:cs typeface="宋体"/>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51801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业务随行的基本概念：认证与策略执行</a:t>
            </a:r>
          </a:p>
        </p:txBody>
      </p:sp>
      <p:cxnSp>
        <p:nvCxnSpPr>
          <p:cNvPr id="5" name="Straight Connector 167"/>
          <p:cNvCxnSpPr/>
          <p:nvPr/>
        </p:nvCxnSpPr>
        <p:spPr bwMode="gray">
          <a:xfrm flipV="1">
            <a:off x="3104741" y="3688082"/>
            <a:ext cx="0" cy="569462"/>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6" name="图片 11" descr="开放网络-蓝.png"/>
          <p:cNvPicPr>
            <a:picLocks noChangeAspect="1"/>
          </p:cNvPicPr>
          <p:nvPr/>
        </p:nvPicPr>
        <p:blipFill>
          <a:blip r:embed="rId3" cstate="print"/>
          <a:stretch>
            <a:fillRect/>
          </a:stretch>
        </p:blipFill>
        <p:spPr bwMode="gray">
          <a:xfrm>
            <a:off x="2881763" y="4212450"/>
            <a:ext cx="445956" cy="343290"/>
          </a:xfrm>
          <a:prstGeom prst="rect">
            <a:avLst/>
          </a:prstGeom>
        </p:spPr>
      </p:pic>
      <p:cxnSp>
        <p:nvCxnSpPr>
          <p:cNvPr id="7" name="Straight Connector 167"/>
          <p:cNvCxnSpPr/>
          <p:nvPr/>
        </p:nvCxnSpPr>
        <p:spPr bwMode="gray">
          <a:xfrm flipV="1">
            <a:off x="4245628" y="3688082"/>
            <a:ext cx="0" cy="569462"/>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167"/>
          <p:cNvCxnSpPr/>
          <p:nvPr/>
        </p:nvCxnSpPr>
        <p:spPr bwMode="gray">
          <a:xfrm flipV="1">
            <a:off x="1975253" y="3688082"/>
            <a:ext cx="0" cy="569462"/>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 name="Straight Connector 167"/>
          <p:cNvCxnSpPr/>
          <p:nvPr/>
        </p:nvCxnSpPr>
        <p:spPr bwMode="gray">
          <a:xfrm flipV="1">
            <a:off x="3116136" y="1572331"/>
            <a:ext cx="0" cy="216253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nvGrpSpPr>
          <p:cNvPr id="10" name="Group 165"/>
          <p:cNvGrpSpPr/>
          <p:nvPr/>
        </p:nvGrpSpPr>
        <p:grpSpPr bwMode="gray">
          <a:xfrm rot="10800000">
            <a:off x="1967183" y="2567389"/>
            <a:ext cx="2297904" cy="919373"/>
            <a:chOff x="-1233037" y="914446"/>
            <a:chExt cx="1573823" cy="778776"/>
          </a:xfrm>
        </p:grpSpPr>
        <p:cxnSp>
          <p:nvCxnSpPr>
            <p:cNvPr id="11"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3" name="图片 76" descr="接入交换机.png"/>
          <p:cNvPicPr>
            <a:picLocks noChangeAspect="1"/>
          </p:cNvPicPr>
          <p:nvPr/>
        </p:nvPicPr>
        <p:blipFill>
          <a:blip r:embed="rId4" cstate="print"/>
          <a:stretch>
            <a:fillRect/>
          </a:stretch>
        </p:blipFill>
        <p:spPr bwMode="gray">
          <a:xfrm>
            <a:off x="1760580" y="3432098"/>
            <a:ext cx="446281" cy="365139"/>
          </a:xfrm>
          <a:prstGeom prst="rect">
            <a:avLst/>
          </a:prstGeom>
        </p:spPr>
      </p:pic>
      <p:pic>
        <p:nvPicPr>
          <p:cNvPr id="14" name="图片 76" descr="接入交换机.png"/>
          <p:cNvPicPr>
            <a:picLocks noChangeAspect="1"/>
          </p:cNvPicPr>
          <p:nvPr/>
        </p:nvPicPr>
        <p:blipFill>
          <a:blip r:embed="rId4" cstate="print"/>
          <a:stretch>
            <a:fillRect/>
          </a:stretch>
        </p:blipFill>
        <p:spPr bwMode="gray">
          <a:xfrm>
            <a:off x="2892996" y="3432098"/>
            <a:ext cx="446281" cy="365139"/>
          </a:xfrm>
          <a:prstGeom prst="rect">
            <a:avLst/>
          </a:prstGeom>
        </p:spPr>
      </p:pic>
      <p:pic>
        <p:nvPicPr>
          <p:cNvPr id="15" name="图片 76" descr="接入交换机.png"/>
          <p:cNvPicPr>
            <a:picLocks noChangeAspect="1"/>
          </p:cNvPicPr>
          <p:nvPr/>
        </p:nvPicPr>
        <p:blipFill>
          <a:blip r:embed="rId4" cstate="print"/>
          <a:stretch>
            <a:fillRect/>
          </a:stretch>
        </p:blipFill>
        <p:spPr bwMode="gray">
          <a:xfrm>
            <a:off x="4025412" y="3432098"/>
            <a:ext cx="446281" cy="365139"/>
          </a:xfrm>
          <a:prstGeom prst="rect">
            <a:avLst/>
          </a:prstGeom>
        </p:spPr>
      </p:pic>
      <p:cxnSp>
        <p:nvCxnSpPr>
          <p:cNvPr id="16" name="Straight Connector 167"/>
          <p:cNvCxnSpPr/>
          <p:nvPr/>
        </p:nvCxnSpPr>
        <p:spPr bwMode="gray">
          <a:xfrm flipH="1">
            <a:off x="3342077" y="2570097"/>
            <a:ext cx="854473"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17"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870678" y="1260234"/>
            <a:ext cx="490909" cy="401653"/>
          </a:xfrm>
          <a:prstGeom prst="rect">
            <a:avLst/>
          </a:prstGeom>
        </p:spPr>
      </p:pic>
      <p:sp>
        <p:nvSpPr>
          <p:cNvPr id="18" name="文本框 17"/>
          <p:cNvSpPr txBox="1"/>
          <p:nvPr/>
        </p:nvSpPr>
        <p:spPr bwMode="gray">
          <a:xfrm>
            <a:off x="2147401" y="2276422"/>
            <a:ext cx="723276" cy="523220"/>
          </a:xfrm>
          <a:prstGeom prst="rect">
            <a:avLst/>
          </a:prstGeom>
          <a:noFill/>
        </p:spPr>
        <p:txBody>
          <a:bodyPr wrap="none" rtlCol="0">
            <a:spAutoFit/>
          </a:bodyPr>
          <a:lstStyle/>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p>
          <a:p>
            <a:pPr algn="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认证点</a:t>
            </a:r>
          </a:p>
        </p:txBody>
      </p:sp>
      <p:sp>
        <p:nvSpPr>
          <p:cNvPr id="19" name="文本框 18"/>
          <p:cNvSpPr txBox="1"/>
          <p:nvPr/>
        </p:nvSpPr>
        <p:spPr bwMode="gray">
          <a:xfrm>
            <a:off x="1011275" y="3460778"/>
            <a:ext cx="710451" cy="307777"/>
          </a:xfrm>
          <a:prstGeom prst="rect">
            <a:avLst/>
          </a:prstGeom>
          <a:noFill/>
        </p:spPr>
        <p:txBody>
          <a:bodyPr wrap="none" rtlCol="0">
            <a:spAutoFit/>
          </a:bodyPr>
          <a:lstStyle/>
          <a:p>
            <a:pPr algn="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Access</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bwMode="gray">
          <a:xfrm>
            <a:off x="4337978" y="2727198"/>
            <a:ext cx="1261884" cy="307777"/>
          </a:xfrm>
          <a:prstGeom prst="rect">
            <a:avLst/>
          </a:prstGeom>
          <a:noFill/>
        </p:spPr>
        <p:txBody>
          <a:bodyPr wrap="none" rtlCol="0">
            <a:spAutoFit/>
          </a:bodyPr>
          <a:lstStyle/>
          <a:p>
            <a:pPr algn="ct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策略控制中心</a:t>
            </a:r>
          </a:p>
        </p:txBody>
      </p:sp>
      <p:pic>
        <p:nvPicPr>
          <p:cNvPr id="21" name="图片 11" descr="开放网络-蓝.png"/>
          <p:cNvPicPr>
            <a:picLocks noChangeAspect="1"/>
          </p:cNvPicPr>
          <p:nvPr/>
        </p:nvPicPr>
        <p:blipFill>
          <a:blip r:embed="rId3" cstate="print"/>
          <a:stretch>
            <a:fillRect/>
          </a:stretch>
        </p:blipFill>
        <p:spPr bwMode="gray">
          <a:xfrm>
            <a:off x="1752275" y="4212450"/>
            <a:ext cx="445956" cy="343290"/>
          </a:xfrm>
          <a:prstGeom prst="rect">
            <a:avLst/>
          </a:prstGeom>
        </p:spPr>
      </p:pic>
      <p:pic>
        <p:nvPicPr>
          <p:cNvPr id="22" name="图片 11" descr="开放网络-蓝.png"/>
          <p:cNvPicPr>
            <a:picLocks noChangeAspect="1"/>
          </p:cNvPicPr>
          <p:nvPr/>
        </p:nvPicPr>
        <p:blipFill>
          <a:blip r:embed="rId3" cstate="print"/>
          <a:stretch>
            <a:fillRect/>
          </a:stretch>
        </p:blipFill>
        <p:spPr bwMode="gray">
          <a:xfrm>
            <a:off x="4022650" y="4212450"/>
            <a:ext cx="445956" cy="343290"/>
          </a:xfrm>
          <a:prstGeom prst="rect">
            <a:avLst/>
          </a:prstGeom>
        </p:spPr>
      </p:pic>
      <p:pic>
        <p:nvPicPr>
          <p:cNvPr id="23" name="图片 103" descr="核心交换机.png"/>
          <p:cNvPicPr>
            <a:picLocks noChangeAspect="1"/>
          </p:cNvPicPr>
          <p:nvPr/>
        </p:nvPicPr>
        <p:blipFill>
          <a:blip r:embed="rId6" cstate="print"/>
          <a:stretch>
            <a:fillRect/>
          </a:stretch>
        </p:blipFill>
        <p:spPr bwMode="gray">
          <a:xfrm>
            <a:off x="2868688" y="2366563"/>
            <a:ext cx="490909" cy="401653"/>
          </a:xfrm>
          <a:prstGeom prst="rect">
            <a:avLst/>
          </a:prstGeom>
        </p:spPr>
      </p:pic>
      <p:sp>
        <p:nvSpPr>
          <p:cNvPr id="24" name="文本框 23"/>
          <p:cNvSpPr txBox="1"/>
          <p:nvPr/>
        </p:nvSpPr>
        <p:spPr bwMode="gray">
          <a:xfrm>
            <a:off x="442913" y="4955634"/>
            <a:ext cx="5632767" cy="1297791"/>
          </a:xfrm>
          <a:prstGeom prst="rect">
            <a:avLst/>
          </a:prstGeom>
          <a:noFill/>
        </p:spPr>
        <p:txBody>
          <a:bodyPr wrap="square" rtlCol="0">
            <a:spAutoFit/>
          </a:bodyPr>
          <a:lstStyle/>
          <a:p>
            <a:pPr marL="285750" indent="-285750">
              <a:lnSpc>
                <a:spcPts val="2200"/>
              </a:lnSpc>
              <a:spcAft>
                <a:spcPts val="600"/>
              </a:spcAft>
              <a:buFont typeface="Arial" panose="020B0604020202020204" pitchFamily="34" charset="0"/>
              <a:buChar cha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认证点：</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负责对终端进行身份认证，并通过认证过程从</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获得终端的授权结果，如终端所属的安全组等。</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200"/>
              </a:lnSpc>
              <a:spcAft>
                <a:spcPts val="600"/>
              </a:spcAft>
              <a:buFont typeface="Arial" panose="020B0604020202020204" pitchFamily="34" charset="0"/>
              <a:buChar char="•"/>
            </a:pPr>
            <a:r>
              <a:rPr lang="en-US" altLang="zh-CN" sz="1400" b="1"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充当认证服务器，同时也是业务随行的策略控制中心，维护全网的</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安全组</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之间的</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策略控制矩阵</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p:txBody>
      </p:sp>
      <p:cxnSp>
        <p:nvCxnSpPr>
          <p:cNvPr id="25" name="Straight Connector 167"/>
          <p:cNvCxnSpPr/>
          <p:nvPr/>
        </p:nvCxnSpPr>
        <p:spPr bwMode="gray">
          <a:xfrm flipV="1">
            <a:off x="8800147" y="3688082"/>
            <a:ext cx="0" cy="569462"/>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26" name="图片 11" descr="开放网络-蓝.png"/>
          <p:cNvPicPr>
            <a:picLocks noChangeAspect="1"/>
          </p:cNvPicPr>
          <p:nvPr/>
        </p:nvPicPr>
        <p:blipFill>
          <a:blip r:embed="rId3" cstate="print"/>
          <a:stretch>
            <a:fillRect/>
          </a:stretch>
        </p:blipFill>
        <p:spPr bwMode="gray">
          <a:xfrm>
            <a:off x="8577169" y="4212450"/>
            <a:ext cx="445956" cy="343290"/>
          </a:xfrm>
          <a:prstGeom prst="rect">
            <a:avLst/>
          </a:prstGeom>
        </p:spPr>
      </p:pic>
      <p:cxnSp>
        <p:nvCxnSpPr>
          <p:cNvPr id="27" name="Straight Connector 167"/>
          <p:cNvCxnSpPr/>
          <p:nvPr/>
        </p:nvCxnSpPr>
        <p:spPr bwMode="gray">
          <a:xfrm flipV="1">
            <a:off x="9941034" y="3688082"/>
            <a:ext cx="0" cy="569462"/>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8" name="Straight Connector 167"/>
          <p:cNvCxnSpPr/>
          <p:nvPr/>
        </p:nvCxnSpPr>
        <p:spPr bwMode="gray">
          <a:xfrm flipV="1">
            <a:off x="7670659" y="3688082"/>
            <a:ext cx="0" cy="569462"/>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9" name="Straight Connector 167"/>
          <p:cNvCxnSpPr/>
          <p:nvPr/>
        </p:nvCxnSpPr>
        <p:spPr bwMode="gray">
          <a:xfrm flipV="1">
            <a:off x="8811542" y="1572331"/>
            <a:ext cx="0" cy="216253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nvGrpSpPr>
          <p:cNvPr id="30" name="Group 165"/>
          <p:cNvGrpSpPr/>
          <p:nvPr/>
        </p:nvGrpSpPr>
        <p:grpSpPr bwMode="gray">
          <a:xfrm rot="10800000">
            <a:off x="7662589" y="2567389"/>
            <a:ext cx="2297904" cy="919373"/>
            <a:chOff x="-1233037" y="914446"/>
            <a:chExt cx="1573823" cy="778776"/>
          </a:xfrm>
        </p:grpSpPr>
        <p:cxnSp>
          <p:nvCxnSpPr>
            <p:cNvPr id="32"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34" name="图片 76" descr="接入交换机.png"/>
          <p:cNvPicPr>
            <a:picLocks noChangeAspect="1"/>
          </p:cNvPicPr>
          <p:nvPr/>
        </p:nvPicPr>
        <p:blipFill>
          <a:blip r:embed="rId4" cstate="print"/>
          <a:stretch>
            <a:fillRect/>
          </a:stretch>
        </p:blipFill>
        <p:spPr bwMode="gray">
          <a:xfrm>
            <a:off x="7455986" y="3432098"/>
            <a:ext cx="446281" cy="365139"/>
          </a:xfrm>
          <a:prstGeom prst="rect">
            <a:avLst/>
          </a:prstGeom>
        </p:spPr>
      </p:pic>
      <p:pic>
        <p:nvPicPr>
          <p:cNvPr id="35" name="图片 76" descr="接入交换机.png"/>
          <p:cNvPicPr>
            <a:picLocks noChangeAspect="1"/>
          </p:cNvPicPr>
          <p:nvPr/>
        </p:nvPicPr>
        <p:blipFill>
          <a:blip r:embed="rId4" cstate="print"/>
          <a:stretch>
            <a:fillRect/>
          </a:stretch>
        </p:blipFill>
        <p:spPr bwMode="gray">
          <a:xfrm>
            <a:off x="8588402" y="3432098"/>
            <a:ext cx="446281" cy="365139"/>
          </a:xfrm>
          <a:prstGeom prst="rect">
            <a:avLst/>
          </a:prstGeom>
        </p:spPr>
      </p:pic>
      <p:pic>
        <p:nvPicPr>
          <p:cNvPr id="36" name="图片 76" descr="接入交换机.png"/>
          <p:cNvPicPr>
            <a:picLocks noChangeAspect="1"/>
          </p:cNvPicPr>
          <p:nvPr/>
        </p:nvPicPr>
        <p:blipFill>
          <a:blip r:embed="rId4" cstate="print"/>
          <a:stretch>
            <a:fillRect/>
          </a:stretch>
        </p:blipFill>
        <p:spPr bwMode="gray">
          <a:xfrm>
            <a:off x="9720818" y="3432098"/>
            <a:ext cx="446281" cy="365139"/>
          </a:xfrm>
          <a:prstGeom prst="rect">
            <a:avLst/>
          </a:prstGeom>
        </p:spPr>
      </p:pic>
      <p:cxnSp>
        <p:nvCxnSpPr>
          <p:cNvPr id="37" name="Straight Connector 167"/>
          <p:cNvCxnSpPr/>
          <p:nvPr/>
        </p:nvCxnSpPr>
        <p:spPr bwMode="gray">
          <a:xfrm flipH="1">
            <a:off x="9037484" y="2570097"/>
            <a:ext cx="903550"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bwMode="gray">
          <a:xfrm>
            <a:off x="7483734" y="2276422"/>
            <a:ext cx="1082349" cy="523220"/>
          </a:xfrm>
          <a:prstGeom prst="rect">
            <a:avLst/>
          </a:prstGeom>
          <a:noFill/>
        </p:spPr>
        <p:txBody>
          <a:bodyPr wrap="none" rtlCol="0">
            <a:spAutoFit/>
          </a:bodyPr>
          <a:lstStyle/>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p>
          <a:p>
            <a:pPr algn="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策略执行点</a:t>
            </a:r>
          </a:p>
        </p:txBody>
      </p:sp>
      <p:sp>
        <p:nvSpPr>
          <p:cNvPr id="39" name="文本框 38"/>
          <p:cNvSpPr txBox="1"/>
          <p:nvPr/>
        </p:nvSpPr>
        <p:spPr bwMode="gray">
          <a:xfrm>
            <a:off x="6706681" y="3460778"/>
            <a:ext cx="710451" cy="307777"/>
          </a:xfrm>
          <a:prstGeom prst="rect">
            <a:avLst/>
          </a:prstGeom>
          <a:noFill/>
        </p:spPr>
        <p:txBody>
          <a:bodyPr wrap="none" rtlCol="0">
            <a:spAutoFit/>
          </a:bodyPr>
          <a:lstStyle/>
          <a:p>
            <a:pPr algn="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Access</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0" name="图片 11" descr="开放网络-蓝.png"/>
          <p:cNvPicPr>
            <a:picLocks noChangeAspect="1"/>
          </p:cNvPicPr>
          <p:nvPr/>
        </p:nvPicPr>
        <p:blipFill>
          <a:blip r:embed="rId3" cstate="print"/>
          <a:stretch>
            <a:fillRect/>
          </a:stretch>
        </p:blipFill>
        <p:spPr bwMode="gray">
          <a:xfrm>
            <a:off x="7447681" y="4212450"/>
            <a:ext cx="445956" cy="343290"/>
          </a:xfrm>
          <a:prstGeom prst="rect">
            <a:avLst/>
          </a:prstGeom>
        </p:spPr>
      </p:pic>
      <p:pic>
        <p:nvPicPr>
          <p:cNvPr id="41" name="图片 11" descr="开放网络-蓝.png"/>
          <p:cNvPicPr>
            <a:picLocks noChangeAspect="1"/>
          </p:cNvPicPr>
          <p:nvPr/>
        </p:nvPicPr>
        <p:blipFill>
          <a:blip r:embed="rId3" cstate="print"/>
          <a:stretch>
            <a:fillRect/>
          </a:stretch>
        </p:blipFill>
        <p:spPr bwMode="gray">
          <a:xfrm>
            <a:off x="9718056" y="4212450"/>
            <a:ext cx="445956" cy="343290"/>
          </a:xfrm>
          <a:prstGeom prst="rect">
            <a:avLst/>
          </a:prstGeom>
        </p:spPr>
      </p:pic>
      <p:pic>
        <p:nvPicPr>
          <p:cNvPr id="42" name="图片 103" descr="核心交换机.png"/>
          <p:cNvPicPr>
            <a:picLocks noChangeAspect="1"/>
          </p:cNvPicPr>
          <p:nvPr/>
        </p:nvPicPr>
        <p:blipFill>
          <a:blip r:embed="rId6" cstate="print"/>
          <a:stretch>
            <a:fillRect/>
          </a:stretch>
        </p:blipFill>
        <p:spPr bwMode="gray">
          <a:xfrm>
            <a:off x="8564094" y="2366563"/>
            <a:ext cx="490909" cy="401653"/>
          </a:xfrm>
          <a:prstGeom prst="rect">
            <a:avLst/>
          </a:prstGeom>
        </p:spPr>
      </p:pic>
      <p:sp>
        <p:nvSpPr>
          <p:cNvPr id="43" name="文本框 42"/>
          <p:cNvSpPr txBox="1"/>
          <p:nvPr/>
        </p:nvSpPr>
        <p:spPr bwMode="gray">
          <a:xfrm>
            <a:off x="6095999" y="4955634"/>
            <a:ext cx="5616576" cy="1220847"/>
          </a:xfrm>
          <a:prstGeom prst="rect">
            <a:avLst/>
          </a:prstGeom>
          <a:noFill/>
        </p:spPr>
        <p:txBody>
          <a:bodyPr wrap="square" rtlCol="0">
            <a:spAutoFit/>
          </a:bodyPr>
          <a:lstStyle/>
          <a:p>
            <a:pPr marL="285750" indent="-285750">
              <a:lnSpc>
                <a:spcPts val="2200"/>
              </a:lnSpc>
              <a:spcAft>
                <a:spcPts val="600"/>
              </a:spcAft>
              <a:buFont typeface="Arial" panose="020B0604020202020204" pitchFamily="34" charset="0"/>
              <a:buChar cha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策略执行点</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：先从</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获得安全组间策略控制矩阵，在收到流量后，根据流量的源、目的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地址对应的源、目的安全组执行策略，如果策略允许该流量，则进行转发，否则进行丢弃。</a:t>
            </a:r>
          </a:p>
        </p:txBody>
      </p:sp>
      <p:sp>
        <p:nvSpPr>
          <p:cNvPr id="44" name="文本框 43"/>
          <p:cNvSpPr txBox="1"/>
          <p:nvPr/>
        </p:nvSpPr>
        <p:spPr bwMode="gray">
          <a:xfrm>
            <a:off x="1653341" y="4588121"/>
            <a:ext cx="660758"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3934708" y="4588121"/>
            <a:ext cx="660758"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b="1">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45"/>
          <p:cNvSpPr txBox="1"/>
          <p:nvPr/>
        </p:nvSpPr>
        <p:spPr bwMode="gray">
          <a:xfrm>
            <a:off x="7360142" y="4588121"/>
            <a:ext cx="660758"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bwMode="gray">
          <a:xfrm>
            <a:off x="9641509" y="4588121"/>
            <a:ext cx="660758"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b="1">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任意多边形 47"/>
          <p:cNvSpPr/>
          <p:nvPr/>
        </p:nvSpPr>
        <p:spPr bwMode="gray">
          <a:xfrm>
            <a:off x="2198201" y="2792295"/>
            <a:ext cx="762529" cy="1420155"/>
          </a:xfrm>
          <a:custGeom>
            <a:avLst/>
            <a:gdLst>
              <a:gd name="connsiteX0" fmla="*/ 0 w 914400"/>
              <a:gd name="connsiteY0" fmla="*/ 550333 h 550333"/>
              <a:gd name="connsiteX1" fmla="*/ 914400 w 914400"/>
              <a:gd name="connsiteY1" fmla="*/ 0 h 550333"/>
              <a:gd name="connsiteX0" fmla="*/ 0 w 852099"/>
              <a:gd name="connsiteY0" fmla="*/ 550333 h 550333"/>
              <a:gd name="connsiteX1" fmla="*/ 852099 w 852099"/>
              <a:gd name="connsiteY1" fmla="*/ 0 h 550333"/>
              <a:gd name="connsiteX0" fmla="*/ 0 w 852099"/>
              <a:gd name="connsiteY0" fmla="*/ 550333 h 550333"/>
              <a:gd name="connsiteX1" fmla="*/ 852099 w 852099"/>
              <a:gd name="connsiteY1" fmla="*/ 0 h 550333"/>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Lst>
            <a:ahLst/>
            <a:cxnLst>
              <a:cxn ang="0">
                <a:pos x="connsiteX0" y="connsiteY0"/>
              </a:cxn>
              <a:cxn ang="0">
                <a:pos x="connsiteX1" y="connsiteY1"/>
              </a:cxn>
            </a:cxnLst>
            <a:rect l="l" t="t" r="r" b="b"/>
            <a:pathLst>
              <a:path w="935168" h="533618">
                <a:moveTo>
                  <a:pt x="0" y="533618"/>
                </a:moveTo>
                <a:cubicBezTo>
                  <a:pt x="149046" y="300031"/>
                  <a:pt x="308480" y="199189"/>
                  <a:pt x="935168" y="0"/>
                </a:cubicBezTo>
              </a:path>
            </a:pathLst>
          </a:custGeom>
          <a:noFill/>
          <a:ln w="50800">
            <a:solidFill>
              <a:srgbClr val="92D05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任意多边形 48"/>
          <p:cNvSpPr/>
          <p:nvPr/>
        </p:nvSpPr>
        <p:spPr bwMode="gray">
          <a:xfrm flipH="1">
            <a:off x="3251941" y="2792295"/>
            <a:ext cx="773471" cy="1420155"/>
          </a:xfrm>
          <a:custGeom>
            <a:avLst/>
            <a:gdLst>
              <a:gd name="connsiteX0" fmla="*/ 0 w 914400"/>
              <a:gd name="connsiteY0" fmla="*/ 550333 h 550333"/>
              <a:gd name="connsiteX1" fmla="*/ 914400 w 914400"/>
              <a:gd name="connsiteY1" fmla="*/ 0 h 550333"/>
              <a:gd name="connsiteX0" fmla="*/ 0 w 852099"/>
              <a:gd name="connsiteY0" fmla="*/ 550333 h 550333"/>
              <a:gd name="connsiteX1" fmla="*/ 852099 w 852099"/>
              <a:gd name="connsiteY1" fmla="*/ 0 h 550333"/>
              <a:gd name="connsiteX0" fmla="*/ 0 w 852099"/>
              <a:gd name="connsiteY0" fmla="*/ 550333 h 550333"/>
              <a:gd name="connsiteX1" fmla="*/ 852099 w 852099"/>
              <a:gd name="connsiteY1" fmla="*/ 0 h 550333"/>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Lst>
            <a:ahLst/>
            <a:cxnLst>
              <a:cxn ang="0">
                <a:pos x="connsiteX0" y="connsiteY0"/>
              </a:cxn>
              <a:cxn ang="0">
                <a:pos x="connsiteX1" y="connsiteY1"/>
              </a:cxn>
            </a:cxnLst>
            <a:rect l="l" t="t" r="r" b="b"/>
            <a:pathLst>
              <a:path w="935168" h="533618">
                <a:moveTo>
                  <a:pt x="0" y="533618"/>
                </a:moveTo>
                <a:cubicBezTo>
                  <a:pt x="149046" y="300031"/>
                  <a:pt x="308480" y="199189"/>
                  <a:pt x="935168" y="0"/>
                </a:cubicBezTo>
              </a:path>
            </a:pathLst>
          </a:custGeom>
          <a:noFill/>
          <a:ln w="50800">
            <a:solidFill>
              <a:srgbClr val="92D05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2430885" y="3124868"/>
            <a:ext cx="380480" cy="257369"/>
          </a:xfrm>
          <a:prstGeom prst="rect">
            <a:avLst/>
          </a:prstGeom>
          <a:solidFill>
            <a:schemeClr val="bg1"/>
          </a:solidFill>
        </p:spPr>
        <p:txBody>
          <a:bodyPr wrap="none" lIns="36000" tIns="36000" rIns="36000" bIns="36000" rtlCol="0">
            <a:spAutoFit/>
          </a:bodyPr>
          <a:lstStyle/>
          <a:p>
            <a:pPr algn="ctr"/>
            <a:r>
              <a:rPr lang="zh-CN" altLang="en-US" sz="1200" b="1">
                <a:solidFill>
                  <a:srgbClr val="92D050"/>
                </a:solidFill>
                <a:latin typeface="Huawei Sans" panose="020C0503030203020204" pitchFamily="34" charset="0"/>
                <a:ea typeface="方正兰亭黑简体" panose="02000000000000000000" pitchFamily="2" charset="-122"/>
                <a:sym typeface="Huawei Sans" panose="020C0503030203020204" pitchFamily="34" charset="0"/>
              </a:rPr>
              <a:t>认证</a:t>
            </a:r>
          </a:p>
        </p:txBody>
      </p:sp>
      <p:sp>
        <p:nvSpPr>
          <p:cNvPr id="51" name="文本框 50"/>
          <p:cNvSpPr txBox="1"/>
          <p:nvPr/>
        </p:nvSpPr>
        <p:spPr bwMode="gray">
          <a:xfrm>
            <a:off x="3342077" y="3124868"/>
            <a:ext cx="380480" cy="257369"/>
          </a:xfrm>
          <a:prstGeom prst="rect">
            <a:avLst/>
          </a:prstGeom>
          <a:solidFill>
            <a:schemeClr val="bg1"/>
          </a:solidFill>
        </p:spPr>
        <p:txBody>
          <a:bodyPr wrap="none" lIns="36000" tIns="36000" rIns="36000" bIns="36000" rtlCol="0">
            <a:spAutoFit/>
          </a:bodyPr>
          <a:lstStyle/>
          <a:p>
            <a:pPr algn="ctr"/>
            <a:r>
              <a:rPr lang="zh-CN" altLang="en-US" sz="1200" b="1">
                <a:solidFill>
                  <a:srgbClr val="92D050"/>
                </a:solidFill>
                <a:latin typeface="Huawei Sans" panose="020C0503030203020204" pitchFamily="34" charset="0"/>
                <a:ea typeface="方正兰亭黑简体" panose="02000000000000000000" pitchFamily="2" charset="-122"/>
                <a:sym typeface="Huawei Sans" panose="020C0503030203020204" pitchFamily="34" charset="0"/>
              </a:rPr>
              <a:t>认证</a:t>
            </a:r>
          </a:p>
        </p:txBody>
      </p:sp>
      <p:sp>
        <p:nvSpPr>
          <p:cNvPr id="52" name="任意多边形 51"/>
          <p:cNvSpPr/>
          <p:nvPr/>
        </p:nvSpPr>
        <p:spPr bwMode="gray">
          <a:xfrm>
            <a:off x="7871288" y="2561525"/>
            <a:ext cx="1981730" cy="1606051"/>
          </a:xfrm>
          <a:custGeom>
            <a:avLst/>
            <a:gdLst>
              <a:gd name="connsiteX0" fmla="*/ 0 w 914400"/>
              <a:gd name="connsiteY0" fmla="*/ 550333 h 550333"/>
              <a:gd name="connsiteX1" fmla="*/ 914400 w 914400"/>
              <a:gd name="connsiteY1" fmla="*/ 0 h 550333"/>
              <a:gd name="connsiteX0" fmla="*/ 0 w 852099"/>
              <a:gd name="connsiteY0" fmla="*/ 550333 h 550333"/>
              <a:gd name="connsiteX1" fmla="*/ 852099 w 852099"/>
              <a:gd name="connsiteY1" fmla="*/ 0 h 550333"/>
              <a:gd name="connsiteX0" fmla="*/ 0 w 852099"/>
              <a:gd name="connsiteY0" fmla="*/ 550333 h 550333"/>
              <a:gd name="connsiteX1" fmla="*/ 852099 w 852099"/>
              <a:gd name="connsiteY1" fmla="*/ 0 h 550333"/>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 name="connsiteX0" fmla="*/ 0 w 2513468"/>
              <a:gd name="connsiteY0" fmla="*/ 71559 h 123530"/>
              <a:gd name="connsiteX1" fmla="*/ 2513468 w 2513468"/>
              <a:gd name="connsiteY1" fmla="*/ 69221 h 123530"/>
              <a:gd name="connsiteX0" fmla="*/ 0 w 2513468"/>
              <a:gd name="connsiteY0" fmla="*/ 596636 h 596636"/>
              <a:gd name="connsiteX1" fmla="*/ 2513468 w 2513468"/>
              <a:gd name="connsiteY1" fmla="*/ 594298 h 596636"/>
              <a:gd name="connsiteX0" fmla="*/ 0 w 2430400"/>
              <a:gd name="connsiteY0" fmla="*/ 603291 h 603291"/>
              <a:gd name="connsiteX1" fmla="*/ 2430400 w 2430400"/>
              <a:gd name="connsiteY1" fmla="*/ 591409 h 603291"/>
              <a:gd name="connsiteX0" fmla="*/ 0 w 2430400"/>
              <a:gd name="connsiteY0" fmla="*/ 618856 h 618856"/>
              <a:gd name="connsiteX1" fmla="*/ 2430400 w 2430400"/>
              <a:gd name="connsiteY1" fmla="*/ 606974 h 618856"/>
              <a:gd name="connsiteX0" fmla="*/ 0 w 2430400"/>
              <a:gd name="connsiteY0" fmla="*/ 602071 h 602071"/>
              <a:gd name="connsiteX1" fmla="*/ 2430400 w 2430400"/>
              <a:gd name="connsiteY1" fmla="*/ 590189 h 602071"/>
              <a:gd name="connsiteX0" fmla="*/ 0 w 2430400"/>
              <a:gd name="connsiteY0" fmla="*/ 603468 h 603468"/>
              <a:gd name="connsiteX1" fmla="*/ 2430400 w 2430400"/>
              <a:gd name="connsiteY1" fmla="*/ 591586 h 603468"/>
              <a:gd name="connsiteX0" fmla="*/ 0 w 2430400"/>
              <a:gd name="connsiteY0" fmla="*/ 603468 h 603468"/>
              <a:gd name="connsiteX1" fmla="*/ 2430400 w 2430400"/>
              <a:gd name="connsiteY1" fmla="*/ 591586 h 603468"/>
            </a:gdLst>
            <a:ahLst/>
            <a:cxnLst>
              <a:cxn ang="0">
                <a:pos x="connsiteX0" y="connsiteY0"/>
              </a:cxn>
              <a:cxn ang="0">
                <a:pos x="connsiteX1" y="connsiteY1"/>
              </a:cxn>
            </a:cxnLst>
            <a:rect l="l" t="t" r="r" b="b"/>
            <a:pathLst>
              <a:path w="2430400" h="603468">
                <a:moveTo>
                  <a:pt x="0" y="603468"/>
                </a:moveTo>
                <a:cubicBezTo>
                  <a:pt x="273649" y="309436"/>
                  <a:pt x="1066480" y="-586736"/>
                  <a:pt x="2430400" y="591586"/>
                </a:cubicBezTo>
              </a:path>
            </a:pathLst>
          </a:custGeom>
          <a:noFill/>
          <a:ln w="50800">
            <a:solidFill>
              <a:srgbClr val="30B5C5"/>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bwMode="gray">
          <a:xfrm>
            <a:off x="9075465" y="2243510"/>
            <a:ext cx="790848" cy="288147"/>
          </a:xfrm>
          <a:prstGeom prst="rect">
            <a:avLst/>
          </a:prstGeom>
          <a:noFill/>
        </p:spPr>
        <p:txBody>
          <a:bodyPr wrap="none" lIns="36000" tIns="36000" rIns="36000" bIns="36000" rtlCol="0">
            <a:spAutoFit/>
          </a:bodyPr>
          <a:lstStyle/>
          <a:p>
            <a:pPr algn="ctr"/>
            <a:r>
              <a:rPr lang="zh-CN" altLang="en-US"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策略执行</a:t>
            </a:r>
          </a:p>
        </p:txBody>
      </p:sp>
      <p:pic>
        <p:nvPicPr>
          <p:cNvPr id="54" name="图片 5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4196550" y="2452480"/>
            <a:ext cx="1346845" cy="248394"/>
          </a:xfrm>
          <a:prstGeom prst="rect">
            <a:avLst/>
          </a:prstGeom>
        </p:spPr>
      </p:pic>
      <p:pic>
        <p:nvPicPr>
          <p:cNvPr id="55" name="图片 5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9910992" y="2452480"/>
            <a:ext cx="1346845" cy="248394"/>
          </a:xfrm>
          <a:prstGeom prst="rect">
            <a:avLst/>
          </a:prstGeom>
        </p:spPr>
      </p:pic>
      <p:pic>
        <p:nvPicPr>
          <p:cNvPr id="56"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8568491" y="1260234"/>
            <a:ext cx="490909" cy="401653"/>
          </a:xfrm>
          <a:prstGeom prst="rect">
            <a:avLst/>
          </a:prstGeom>
        </p:spPr>
      </p:pic>
    </p:spTree>
    <p:extLst>
      <p:ext uri="{BB962C8B-B14F-4D97-AF65-F5344CB8AC3E}">
        <p14:creationId xmlns:p14="http://schemas.microsoft.com/office/powerpoint/2010/main" val="1514970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业务随行的基本概念：安全组 </a:t>
            </a:r>
            <a:r>
              <a:rPr lang="en-US" altLang="zh-CN" dirty="0"/>
              <a:t>(1)</a:t>
            </a:r>
            <a:endParaRPr lang="zh-CN" altLang="en-US" dirty="0"/>
          </a:p>
        </p:txBody>
      </p:sp>
      <p:sp>
        <p:nvSpPr>
          <p:cNvPr id="4" name="文本占位符 3"/>
          <p:cNvSpPr>
            <a:spLocks noGrp="1"/>
          </p:cNvSpPr>
          <p:nvPr>
            <p:ph type="body" sz="quarter" idx="10"/>
          </p:nvPr>
        </p:nvSpPr>
        <p:spPr bwMode="gray">
          <a:xfrm>
            <a:off x="455613" y="1047750"/>
            <a:ext cx="11256961" cy="1457325"/>
          </a:xfrm>
        </p:spPr>
        <p:txBody>
          <a:bodyPr/>
          <a:lstStyle/>
          <a:p>
            <a:r>
              <a:rPr lang="zh-CN" altLang="en-US" sz="2000" dirty="0"/>
              <a:t>安全组是对“网络中进行通信的对象”进行抽象化、逻辑化而得到的一个集合。</a:t>
            </a:r>
            <a:endParaRPr lang="en-US" altLang="zh-CN" sz="2000" dirty="0"/>
          </a:p>
          <a:p>
            <a:r>
              <a:rPr lang="zh-CN" altLang="en-US" sz="2000" dirty="0"/>
              <a:t>借助安全组，管理员可以将具有相同网络访问策略的一类用户划分为同一个组，然后为其部署一组网络访问策略，能满足该类别所有用户的网络访问需求。</a:t>
            </a:r>
            <a:endParaRPr lang="en-US" altLang="zh-CN" sz="2000" dirty="0"/>
          </a:p>
        </p:txBody>
      </p:sp>
      <p:sp>
        <p:nvSpPr>
          <p:cNvPr id="29" name="圆角矩形 75"/>
          <p:cNvSpPr/>
          <p:nvPr/>
        </p:nvSpPr>
        <p:spPr bwMode="gray">
          <a:xfrm>
            <a:off x="559776" y="2622320"/>
            <a:ext cx="5420947"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安全组的划分</a:t>
            </a:r>
          </a:p>
        </p:txBody>
      </p:sp>
      <p:sp>
        <p:nvSpPr>
          <p:cNvPr id="30" name="圆角矩形 75"/>
          <p:cNvSpPr/>
          <p:nvPr/>
        </p:nvSpPr>
        <p:spPr bwMode="gray">
          <a:xfrm>
            <a:off x="559776" y="3068613"/>
            <a:ext cx="5420947" cy="3094837"/>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安全组里面的成员，可以是</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PC</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、手机等网络终端设备，既可通过管理员配置静态添加，也可通过认证动态添加。</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654938" lvl="1" indent="-251899" defTabSz="914034">
              <a:lnSpc>
                <a:spcPct val="120000"/>
              </a:lnSpc>
              <a:spcBef>
                <a:spcPts val="600"/>
              </a:spcBef>
              <a:spcAft>
                <a:spcPts val="600"/>
              </a:spcAft>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静态安全组：通过静态绑定</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地址的方式定义安全组。</a:t>
            </a:r>
          </a:p>
          <a:p>
            <a:pPr marL="654938" lvl="1" indent="-251899" defTabSz="914034">
              <a:lnSpc>
                <a:spcPct val="120000"/>
              </a:lnSpc>
              <a:spcBef>
                <a:spcPts val="600"/>
              </a:spcBef>
              <a:spcAft>
                <a:spcPts val="600"/>
              </a:spcAft>
              <a:buSzPct val="50000"/>
              <a:buFont typeface="Wingdings" panose="05000000000000000000" pitchFamily="2" charset="2"/>
              <a:buChar char="p"/>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动态安全组：根据特定条件授权给用户，符合条件的用户授权到指定安全组。</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动态授权加入的成员优先级高于静态绑定的成员，例如：静态的将</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IP1</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的用户绑定到安全组</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，同时通过</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RADIUS</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授权该用户到安全组</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2</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，最终设备将会将该用户归入安全组</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2</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p:txBody>
      </p:sp>
      <p:sp>
        <p:nvSpPr>
          <p:cNvPr id="35" name="圆角矩形 75"/>
          <p:cNvSpPr/>
          <p:nvPr/>
        </p:nvSpPr>
        <p:spPr bwMode="gray">
          <a:xfrm>
            <a:off x="6350318" y="2622320"/>
            <a:ext cx="5104764"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特殊的安全组</a:t>
            </a:r>
          </a:p>
        </p:txBody>
      </p:sp>
      <p:sp>
        <p:nvSpPr>
          <p:cNvPr id="36" name="圆角矩形 75"/>
          <p:cNvSpPr/>
          <p:nvPr/>
        </p:nvSpPr>
        <p:spPr bwMode="gray">
          <a:xfrm>
            <a:off x="6350318" y="3068613"/>
            <a:ext cx="5104764" cy="3012351"/>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400"/>
              </a:lnSpc>
              <a:spcAft>
                <a:spcPts val="600"/>
              </a:spcAft>
              <a:buFont typeface="Arial" panose="020B0604020202020204" pitchFamily="34" charset="0"/>
              <a:buChar char="•"/>
            </a:pP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unknown</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组（缺省）：未知用户，未通过动态方式也未通过静态方式加入任何安全组的用户或者资源均默认归于这个组。</a:t>
            </a:r>
          </a:p>
          <a:p>
            <a:pPr marL="285750" indent="-285750">
              <a:lnSpc>
                <a:spcPts val="2400"/>
              </a:lnSpc>
              <a:spcAft>
                <a:spcPts val="600"/>
              </a:spcAft>
              <a:buFont typeface="Arial" panose="020B0604020202020204" pitchFamily="34" charset="0"/>
              <a:buChar char="•"/>
            </a:pP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any</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组（缺省）：所有用户或资源，通常用来配置默认规则。</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any</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组只能做目的组，不支持配置为源组。</a:t>
            </a:r>
          </a:p>
          <a:p>
            <a:pPr marL="285750" indent="-285750">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逃生安全组（指定）：当策略执行点设备与控制器之间的</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IP-Group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通道故障时，对于未识别的流量，按照逃生组所配置的策略进行控制。只允许配置一个逃生组，且逃生组必须要配置静态成员。</a:t>
            </a:r>
          </a:p>
        </p:txBody>
      </p:sp>
    </p:spTree>
    <p:extLst>
      <p:ext uri="{BB962C8B-B14F-4D97-AF65-F5344CB8AC3E}">
        <p14:creationId xmlns:p14="http://schemas.microsoft.com/office/powerpoint/2010/main" val="1312021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业务随行的基本概念：安全组 </a:t>
            </a:r>
            <a:r>
              <a:rPr lang="en-US" altLang="zh-CN" dirty="0"/>
              <a:t>(2)</a:t>
            </a:r>
            <a:endParaRPr lang="zh-CN" altLang="en-US" dirty="0"/>
          </a:p>
        </p:txBody>
      </p:sp>
      <p:sp>
        <p:nvSpPr>
          <p:cNvPr id="4" name="梯形 3"/>
          <p:cNvSpPr/>
          <p:nvPr/>
        </p:nvSpPr>
        <p:spPr bwMode="gray">
          <a:xfrm>
            <a:off x="1061753" y="3807099"/>
            <a:ext cx="4560507" cy="627927"/>
          </a:xfrm>
          <a:prstGeom prst="trapezoid">
            <a:avLst>
              <a:gd name="adj" fmla="val 22668"/>
            </a:avLst>
          </a:prstGeom>
          <a:gradFill flip="none" rotWithShape="1">
            <a:gsLst>
              <a:gs pos="0">
                <a:schemeClr val="bg1">
                  <a:alpha val="0"/>
                </a:schemeClr>
              </a:gs>
              <a:gs pos="100000">
                <a:srgbClr val="BEE9EE"/>
              </a:gs>
            </a:gsLst>
            <a:lin ang="5400000" scaled="1"/>
            <a:tileRect/>
          </a:gradFill>
          <a:ln>
            <a:gradFill flip="none" rotWithShape="1">
              <a:gsLst>
                <a:gs pos="0">
                  <a:schemeClr val="accent1">
                    <a:lumMod val="5000"/>
                    <a:lumOff val="95000"/>
                    <a:alpha val="0"/>
                  </a:schemeClr>
                </a:gs>
                <a:gs pos="90000">
                  <a:srgbClr val="56C4D2"/>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solidFill>
                <a:prstClr val="white"/>
              </a:solidFill>
              <a:sym typeface="Huawei Sans" panose="020C0503030203020204" pitchFamily="34" charset="0"/>
            </a:endParaRPr>
          </a:p>
        </p:txBody>
      </p:sp>
      <p:sp>
        <p:nvSpPr>
          <p:cNvPr id="5" name="矩形 4"/>
          <p:cNvSpPr/>
          <p:nvPr/>
        </p:nvSpPr>
        <p:spPr bwMode="gray">
          <a:xfrm>
            <a:off x="2890601" y="4122613"/>
            <a:ext cx="902811" cy="307777"/>
          </a:xfrm>
          <a:prstGeom prst="rect">
            <a:avLst/>
          </a:prstGeom>
        </p:spPr>
        <p:txBody>
          <a:bodyPr wrap="none">
            <a:spAutoFit/>
          </a:bodyPr>
          <a:lstStyle/>
          <a:p>
            <a:pPr algn="ctr" fontAlgn="ctr"/>
            <a:r>
              <a:rPr lang="zh-CN" altLang="en-US" sz="1400" dirty="0">
                <a:sym typeface="Huawei Sans" panose="020C0503030203020204" pitchFamily="34" charset="0"/>
              </a:rPr>
              <a:t>园区网络</a:t>
            </a:r>
          </a:p>
        </p:txBody>
      </p:sp>
      <p:sp>
        <p:nvSpPr>
          <p:cNvPr id="6" name="圆角矩形 5"/>
          <p:cNvSpPr>
            <a:spLocks noChangeAspect="1"/>
          </p:cNvSpPr>
          <p:nvPr/>
        </p:nvSpPr>
        <p:spPr bwMode="gray">
          <a:xfrm>
            <a:off x="1348149" y="3096066"/>
            <a:ext cx="637560" cy="637560"/>
          </a:xfrm>
          <a:prstGeom prst="roundRect">
            <a:avLst>
              <a:gd name="adj" fmla="val 50000"/>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400" b="1" dirty="0">
                <a:sym typeface="Huawei Sans" panose="020C0503030203020204" pitchFamily="34" charset="0"/>
              </a:rPr>
              <a:t>Sale</a:t>
            </a:r>
          </a:p>
          <a:p>
            <a:pPr algn="ctr"/>
            <a:r>
              <a:rPr lang="zh-CN" altLang="en-US" sz="1200" dirty="0">
                <a:sym typeface="Huawei Sans" panose="020C0503030203020204" pitchFamily="34" charset="0"/>
              </a:rPr>
              <a:t>安全组</a:t>
            </a:r>
          </a:p>
        </p:txBody>
      </p:sp>
      <p:sp>
        <p:nvSpPr>
          <p:cNvPr id="7" name="圆角矩形 6"/>
          <p:cNvSpPr>
            <a:spLocks noChangeAspect="1"/>
          </p:cNvSpPr>
          <p:nvPr/>
        </p:nvSpPr>
        <p:spPr bwMode="gray">
          <a:xfrm>
            <a:off x="2570601" y="3096066"/>
            <a:ext cx="637560" cy="637560"/>
          </a:xfrm>
          <a:prstGeom prst="roundRect">
            <a:avLst>
              <a:gd name="adj" fmla="val 50000"/>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400" b="1" dirty="0">
                <a:sym typeface="Huawei Sans" panose="020C0503030203020204" pitchFamily="34" charset="0"/>
              </a:rPr>
              <a:t>Guest</a:t>
            </a:r>
          </a:p>
          <a:p>
            <a:pPr algn="ctr"/>
            <a:r>
              <a:rPr lang="zh-CN" altLang="en-US" sz="1200" dirty="0">
                <a:sym typeface="Huawei Sans" panose="020C0503030203020204" pitchFamily="34" charset="0"/>
              </a:rPr>
              <a:t>安全组</a:t>
            </a:r>
          </a:p>
        </p:txBody>
      </p:sp>
      <p:grpSp>
        <p:nvGrpSpPr>
          <p:cNvPr id="8" name="组合 7"/>
          <p:cNvGrpSpPr/>
          <p:nvPr/>
        </p:nvGrpSpPr>
        <p:grpSpPr bwMode="gray">
          <a:xfrm>
            <a:off x="1040212" y="4838768"/>
            <a:ext cx="615873" cy="1125986"/>
            <a:chOff x="806573" y="4499075"/>
            <a:chExt cx="615873" cy="1125986"/>
          </a:xfrm>
        </p:grpSpPr>
        <p:sp>
          <p:nvSpPr>
            <p:cNvPr id="9" name="文本框 8"/>
            <p:cNvSpPr txBox="1"/>
            <p:nvPr/>
          </p:nvSpPr>
          <p:spPr bwMode="gray">
            <a:xfrm>
              <a:off x="806573" y="5163396"/>
              <a:ext cx="615873" cy="461665"/>
            </a:xfrm>
            <a:prstGeom prst="rect">
              <a:avLst/>
            </a:prstGeom>
            <a:noFill/>
          </p:spPr>
          <p:txBody>
            <a:bodyPr wrap="none" rtlCol="0">
              <a:spAutoFit/>
            </a:bodyPr>
            <a:lstStyle/>
            <a:p>
              <a:pPr algn="ctr"/>
              <a:r>
                <a:rPr lang="en-US" altLang="zh-CN" sz="1200" b="1" dirty="0">
                  <a:solidFill>
                    <a:prstClr val="black"/>
                  </a:solidFill>
                  <a:sym typeface="Huawei Sans" panose="020C0503030203020204" pitchFamily="34" charset="0"/>
                </a:rPr>
                <a:t>Host1</a:t>
              </a:r>
            </a:p>
            <a:p>
              <a:pPr algn="ctr"/>
              <a:r>
                <a:rPr lang="zh-CN" altLang="en-US" sz="1200" b="1" dirty="0">
                  <a:solidFill>
                    <a:prstClr val="black"/>
                  </a:solidFill>
                  <a:sym typeface="Huawei Sans" panose="020C0503030203020204" pitchFamily="34" charset="0"/>
                </a:rPr>
                <a:t>销售</a:t>
              </a:r>
              <a:endParaRPr lang="en-US" altLang="zh-CN" sz="1200" b="1" dirty="0">
                <a:solidFill>
                  <a:prstClr val="black"/>
                </a:solidFill>
                <a:sym typeface="Huawei Sans" panose="020C0503030203020204" pitchFamily="34" charset="0"/>
              </a:endParaRPr>
            </a:p>
          </p:txBody>
        </p:sp>
        <p:pic>
          <p:nvPicPr>
            <p:cNvPr id="10" name="图片 11" descr="开放网络-蓝.png"/>
            <p:cNvPicPr>
              <a:picLocks noChangeAspect="1"/>
            </p:cNvPicPr>
            <p:nvPr/>
          </p:nvPicPr>
          <p:blipFill>
            <a:blip r:embed="rId3" cstate="print"/>
            <a:stretch>
              <a:fillRect/>
            </a:stretch>
          </p:blipFill>
          <p:spPr bwMode="gray">
            <a:xfrm>
              <a:off x="911802" y="4851314"/>
              <a:ext cx="405415" cy="312082"/>
            </a:xfrm>
            <a:prstGeom prst="rect">
              <a:avLst/>
            </a:prstGeom>
          </p:spPr>
        </p:pic>
        <p:sp>
          <p:nvSpPr>
            <p:cNvPr id="11" name="文本框 10"/>
            <p:cNvSpPr txBox="1"/>
            <p:nvPr/>
          </p:nvSpPr>
          <p:spPr bwMode="gray">
            <a:xfrm>
              <a:off x="814808" y="4499075"/>
              <a:ext cx="599405" cy="238363"/>
            </a:xfrm>
            <a:prstGeom prst="roundRect">
              <a:avLst/>
            </a:prstGeom>
            <a:solidFill>
              <a:schemeClr val="tx1"/>
            </a:solidFill>
          </p:spPr>
          <p:txBody>
            <a:bodyPr wrap="none" lIns="0" tIns="0" rIns="0" bIns="0" rtlCol="0">
              <a:spAutoFit/>
            </a:bodyPr>
            <a:lstStyle/>
            <a:p>
              <a:pPr algn="ctr"/>
              <a:r>
                <a:rPr lang="en-US" altLang="zh-CN" sz="1400" b="1" dirty="0">
                  <a:solidFill>
                    <a:schemeClr val="bg1"/>
                  </a:solidFill>
                  <a:sym typeface="Huawei Sans" panose="020C0503030203020204" pitchFamily="34" charset="0"/>
                </a:rPr>
                <a:t>802.1X</a:t>
              </a:r>
            </a:p>
          </p:txBody>
        </p:sp>
      </p:grpSp>
      <p:grpSp>
        <p:nvGrpSpPr>
          <p:cNvPr id="12" name="组合 11"/>
          <p:cNvGrpSpPr/>
          <p:nvPr/>
        </p:nvGrpSpPr>
        <p:grpSpPr bwMode="gray">
          <a:xfrm>
            <a:off x="3069787" y="4838768"/>
            <a:ext cx="615873" cy="1125986"/>
            <a:chOff x="3680669" y="4499075"/>
            <a:chExt cx="615873" cy="1125986"/>
          </a:xfrm>
        </p:grpSpPr>
        <p:sp>
          <p:nvSpPr>
            <p:cNvPr id="13" name="文本框 12"/>
            <p:cNvSpPr txBox="1"/>
            <p:nvPr/>
          </p:nvSpPr>
          <p:spPr bwMode="gray">
            <a:xfrm>
              <a:off x="3680669" y="5163396"/>
              <a:ext cx="615873" cy="461665"/>
            </a:xfrm>
            <a:prstGeom prst="rect">
              <a:avLst/>
            </a:prstGeom>
            <a:noFill/>
          </p:spPr>
          <p:txBody>
            <a:bodyPr wrap="none" rtlCol="0">
              <a:spAutoFit/>
            </a:bodyPr>
            <a:lstStyle/>
            <a:p>
              <a:pPr algn="ctr"/>
              <a:r>
                <a:rPr lang="en-US" altLang="zh-CN" sz="1200" b="1" dirty="0">
                  <a:solidFill>
                    <a:prstClr val="black"/>
                  </a:solidFill>
                  <a:sym typeface="Huawei Sans" panose="020C0503030203020204" pitchFamily="34" charset="0"/>
                </a:rPr>
                <a:t>Host2</a:t>
              </a:r>
            </a:p>
            <a:p>
              <a:pPr algn="ctr"/>
              <a:r>
                <a:rPr lang="zh-CN" altLang="en-US" sz="1200" b="1" dirty="0">
                  <a:solidFill>
                    <a:prstClr val="black"/>
                  </a:solidFill>
                  <a:sym typeface="Huawei Sans" panose="020C0503030203020204" pitchFamily="34" charset="0"/>
                </a:rPr>
                <a:t>销售</a:t>
              </a:r>
              <a:endParaRPr lang="en-US" altLang="zh-CN" sz="1200" b="1" dirty="0">
                <a:solidFill>
                  <a:prstClr val="black"/>
                </a:solidFill>
                <a:sym typeface="Huawei Sans" panose="020C0503030203020204" pitchFamily="34" charset="0"/>
              </a:endParaRPr>
            </a:p>
          </p:txBody>
        </p:sp>
        <p:pic>
          <p:nvPicPr>
            <p:cNvPr id="14" name="图片 11" descr="开放网络-蓝.png"/>
            <p:cNvPicPr>
              <a:picLocks noChangeAspect="1"/>
            </p:cNvPicPr>
            <p:nvPr/>
          </p:nvPicPr>
          <p:blipFill>
            <a:blip r:embed="rId3" cstate="print"/>
            <a:stretch>
              <a:fillRect/>
            </a:stretch>
          </p:blipFill>
          <p:spPr bwMode="gray">
            <a:xfrm>
              <a:off x="3785896" y="4851314"/>
              <a:ext cx="405415" cy="312082"/>
            </a:xfrm>
            <a:prstGeom prst="rect">
              <a:avLst/>
            </a:prstGeom>
          </p:spPr>
        </p:pic>
        <p:sp>
          <p:nvSpPr>
            <p:cNvPr id="15" name="文本框 14"/>
            <p:cNvSpPr txBox="1"/>
            <p:nvPr/>
          </p:nvSpPr>
          <p:spPr bwMode="gray">
            <a:xfrm>
              <a:off x="3790070" y="4499075"/>
              <a:ext cx="426851" cy="238363"/>
            </a:xfrm>
            <a:prstGeom prst="roundRect">
              <a:avLst/>
            </a:prstGeom>
            <a:solidFill>
              <a:schemeClr val="tx1"/>
            </a:solidFill>
          </p:spPr>
          <p:txBody>
            <a:bodyPr wrap="none" lIns="0" tIns="0" rIns="0" bIns="0" rtlCol="0">
              <a:spAutoFit/>
            </a:bodyPr>
            <a:lstStyle/>
            <a:p>
              <a:pPr algn="ctr"/>
              <a:r>
                <a:rPr lang="en-US" altLang="zh-CN" sz="1400" b="1" dirty="0">
                  <a:solidFill>
                    <a:schemeClr val="bg1"/>
                  </a:solidFill>
                  <a:sym typeface="Huawei Sans" panose="020C0503030203020204" pitchFamily="34" charset="0"/>
                </a:rPr>
                <a:t>MAC</a:t>
              </a:r>
            </a:p>
          </p:txBody>
        </p:sp>
      </p:grpSp>
      <p:grpSp>
        <p:nvGrpSpPr>
          <p:cNvPr id="16" name="组合 15"/>
          <p:cNvGrpSpPr/>
          <p:nvPr/>
        </p:nvGrpSpPr>
        <p:grpSpPr bwMode="gray">
          <a:xfrm>
            <a:off x="5099363" y="4547668"/>
            <a:ext cx="615873" cy="1417086"/>
            <a:chOff x="5158290" y="4207975"/>
            <a:chExt cx="615873" cy="1417086"/>
          </a:xfrm>
        </p:grpSpPr>
        <p:sp>
          <p:nvSpPr>
            <p:cNvPr id="17" name="文本框 16"/>
            <p:cNvSpPr txBox="1"/>
            <p:nvPr/>
          </p:nvSpPr>
          <p:spPr bwMode="gray">
            <a:xfrm>
              <a:off x="5158290" y="5163396"/>
              <a:ext cx="615873" cy="461665"/>
            </a:xfrm>
            <a:prstGeom prst="rect">
              <a:avLst/>
            </a:prstGeom>
            <a:noFill/>
          </p:spPr>
          <p:txBody>
            <a:bodyPr wrap="none" rtlCol="0">
              <a:spAutoFit/>
            </a:bodyPr>
            <a:lstStyle/>
            <a:p>
              <a:pPr algn="ctr"/>
              <a:r>
                <a:rPr lang="en-US" altLang="zh-CN" sz="1200" b="1" dirty="0">
                  <a:solidFill>
                    <a:prstClr val="black"/>
                  </a:solidFill>
                  <a:sym typeface="Huawei Sans" panose="020C0503030203020204" pitchFamily="34" charset="0"/>
                </a:rPr>
                <a:t>Host3</a:t>
              </a:r>
            </a:p>
            <a:p>
              <a:pPr algn="ctr"/>
              <a:r>
                <a:rPr lang="zh-CN" altLang="en-US" sz="1200" b="1" dirty="0">
                  <a:solidFill>
                    <a:prstClr val="black"/>
                  </a:solidFill>
                  <a:sym typeface="Huawei Sans" panose="020C0503030203020204" pitchFamily="34" charset="0"/>
                </a:rPr>
                <a:t>访客</a:t>
              </a:r>
              <a:endParaRPr lang="en-US" altLang="zh-CN" sz="1200" b="1" dirty="0">
                <a:solidFill>
                  <a:prstClr val="black"/>
                </a:solidFill>
                <a:sym typeface="Huawei Sans" panose="020C0503030203020204" pitchFamily="34" charset="0"/>
              </a:endParaRPr>
            </a:p>
          </p:txBody>
        </p:sp>
        <p:sp>
          <p:nvSpPr>
            <p:cNvPr id="19" name="文本框 18"/>
            <p:cNvSpPr txBox="1"/>
            <p:nvPr/>
          </p:nvSpPr>
          <p:spPr bwMode="gray">
            <a:xfrm>
              <a:off x="5208559" y="4499075"/>
              <a:ext cx="544460" cy="238363"/>
            </a:xfrm>
            <a:prstGeom prst="roundRect">
              <a:avLst/>
            </a:prstGeom>
            <a:solidFill>
              <a:schemeClr val="tx1"/>
            </a:solidFill>
          </p:spPr>
          <p:txBody>
            <a:bodyPr wrap="none" lIns="0" tIns="0" rIns="0" bIns="0" rtlCol="0">
              <a:spAutoFit/>
            </a:bodyPr>
            <a:lstStyle/>
            <a:p>
              <a:pPr algn="ctr"/>
              <a:r>
                <a:rPr lang="en-US" altLang="zh-CN" sz="1400" b="1" dirty="0">
                  <a:solidFill>
                    <a:schemeClr val="bg1"/>
                  </a:solidFill>
                  <a:sym typeface="Huawei Sans" panose="020C0503030203020204" pitchFamily="34" charset="0"/>
                </a:rPr>
                <a:t>Portal</a:t>
              </a:r>
            </a:p>
          </p:txBody>
        </p:sp>
        <p:grpSp>
          <p:nvGrpSpPr>
            <p:cNvPr id="20" name="组合 758"/>
            <p:cNvGrpSpPr/>
            <p:nvPr/>
          </p:nvGrpSpPr>
          <p:grpSpPr bwMode="gray">
            <a:xfrm flipV="1">
              <a:off x="5365037" y="4207975"/>
              <a:ext cx="256549" cy="217252"/>
              <a:chOff x="7440613" y="4868863"/>
              <a:chExt cx="1019175" cy="828675"/>
            </a:xfrm>
            <a:solidFill>
              <a:schemeClr val="bg1">
                <a:lumMod val="50000"/>
              </a:schemeClr>
            </a:solidFill>
          </p:grpSpPr>
          <p:sp>
            <p:nvSpPr>
              <p:cNvPr id="21"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sym typeface="Huawei Sans" panose="020C0503030203020204" pitchFamily="34" charset="0"/>
                </a:endParaRPr>
              </a:p>
            </p:txBody>
          </p:sp>
          <p:sp>
            <p:nvSpPr>
              <p:cNvPr id="22"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sym typeface="Huawei Sans" panose="020C0503030203020204" pitchFamily="34" charset="0"/>
                </a:endParaRPr>
              </a:p>
            </p:txBody>
          </p:sp>
        </p:grpSp>
      </p:grpSp>
      <p:grpSp>
        <p:nvGrpSpPr>
          <p:cNvPr id="23" name="Group 3"/>
          <p:cNvGrpSpPr/>
          <p:nvPr/>
        </p:nvGrpSpPr>
        <p:grpSpPr bwMode="gray">
          <a:xfrm>
            <a:off x="3793053" y="3382648"/>
            <a:ext cx="261965" cy="61979"/>
            <a:chOff x="559282" y="6488261"/>
            <a:chExt cx="261965" cy="61979"/>
          </a:xfrm>
          <a:solidFill>
            <a:schemeClr val="bg1">
              <a:lumMod val="50000"/>
            </a:schemeClr>
          </a:solidFill>
        </p:grpSpPr>
        <p:sp>
          <p:nvSpPr>
            <p:cNvPr id="24"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圆角矩形 26"/>
          <p:cNvSpPr>
            <a:spLocks noChangeAspect="1"/>
          </p:cNvSpPr>
          <p:nvPr/>
        </p:nvSpPr>
        <p:spPr bwMode="gray">
          <a:xfrm>
            <a:off x="4639909" y="3096066"/>
            <a:ext cx="637560" cy="637560"/>
          </a:xfrm>
          <a:prstGeom prst="roundRect">
            <a:avLst>
              <a:gd name="adj" fmla="val 50000"/>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400" b="1" dirty="0">
                <a:sym typeface="Huawei Sans" panose="020C0503030203020204" pitchFamily="34" charset="0"/>
              </a:rPr>
              <a:t>Server</a:t>
            </a:r>
          </a:p>
          <a:p>
            <a:pPr algn="ctr"/>
            <a:r>
              <a:rPr lang="zh-CN" altLang="en-US" sz="1200" dirty="0">
                <a:sym typeface="Huawei Sans" panose="020C0503030203020204" pitchFamily="34" charset="0"/>
              </a:rPr>
              <a:t>安全组</a:t>
            </a:r>
          </a:p>
        </p:txBody>
      </p:sp>
      <p:sp>
        <p:nvSpPr>
          <p:cNvPr id="28" name="右大括号 27"/>
          <p:cNvSpPr/>
          <p:nvPr/>
        </p:nvSpPr>
        <p:spPr bwMode="gray">
          <a:xfrm rot="16200000">
            <a:off x="2179992" y="2194638"/>
            <a:ext cx="251280" cy="1323824"/>
          </a:xfrm>
          <a:prstGeom prst="rightBrace">
            <a:avLst/>
          </a:prstGeom>
          <a:ln>
            <a:solidFill>
              <a:srgbClr val="56C4D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矩形 28"/>
          <p:cNvSpPr/>
          <p:nvPr/>
        </p:nvSpPr>
        <p:spPr bwMode="gray">
          <a:xfrm>
            <a:off x="1764457" y="2395785"/>
            <a:ext cx="1082349" cy="307777"/>
          </a:xfrm>
          <a:prstGeom prst="rect">
            <a:avLst/>
          </a:prstGeom>
        </p:spPr>
        <p:txBody>
          <a:bodyPr wrap="none">
            <a:spAutoFit/>
          </a:bodyPr>
          <a:lstStyle/>
          <a:p>
            <a:pPr algn="ctr" fontAlgn="ctr"/>
            <a:r>
              <a:rPr lang="zh-CN" altLang="en-US" sz="1400" b="1" dirty="0">
                <a:sym typeface="Huawei Sans" panose="020C0503030203020204" pitchFamily="34" charset="0"/>
              </a:rPr>
              <a:t>动态安全组</a:t>
            </a:r>
          </a:p>
        </p:txBody>
      </p:sp>
      <p:sp>
        <p:nvSpPr>
          <p:cNvPr id="30" name="矩形 29"/>
          <p:cNvSpPr/>
          <p:nvPr/>
        </p:nvSpPr>
        <p:spPr bwMode="gray">
          <a:xfrm>
            <a:off x="4417515" y="2395785"/>
            <a:ext cx="1082348" cy="307777"/>
          </a:xfrm>
          <a:prstGeom prst="rect">
            <a:avLst/>
          </a:prstGeom>
        </p:spPr>
        <p:txBody>
          <a:bodyPr wrap="none">
            <a:spAutoFit/>
          </a:bodyPr>
          <a:lstStyle/>
          <a:p>
            <a:pPr algn="ctr" fontAlgn="ctr"/>
            <a:r>
              <a:rPr lang="zh-CN" altLang="en-US" sz="1400" b="1" dirty="0">
                <a:sym typeface="Huawei Sans" panose="020C0503030203020204" pitchFamily="34" charset="0"/>
              </a:rPr>
              <a:t>静态安全组</a:t>
            </a:r>
          </a:p>
        </p:txBody>
      </p:sp>
      <p:cxnSp>
        <p:nvCxnSpPr>
          <p:cNvPr id="31" name="直接箭头连接符 30"/>
          <p:cNvCxnSpPr>
            <a:endCxn id="30" idx="2"/>
          </p:cNvCxnSpPr>
          <p:nvPr/>
        </p:nvCxnSpPr>
        <p:spPr bwMode="gray">
          <a:xfrm flipV="1">
            <a:off x="4958689" y="2703562"/>
            <a:ext cx="0" cy="278628"/>
          </a:xfrm>
          <a:prstGeom prst="straightConnector1">
            <a:avLst/>
          </a:prstGeom>
          <a:ln>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圆角矩形 75"/>
          <p:cNvSpPr/>
          <p:nvPr/>
        </p:nvSpPr>
        <p:spPr bwMode="gray">
          <a:xfrm>
            <a:off x="6382162" y="1207113"/>
            <a:ext cx="5041075"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动态安全组</a:t>
            </a:r>
          </a:p>
        </p:txBody>
      </p:sp>
      <p:sp>
        <p:nvSpPr>
          <p:cNvPr id="33" name="圆角矩形 75"/>
          <p:cNvSpPr/>
          <p:nvPr/>
        </p:nvSpPr>
        <p:spPr bwMode="gray">
          <a:xfrm>
            <a:off x="6382162" y="1653407"/>
            <a:ext cx="5041075" cy="2014933"/>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动态加入用户的</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地址是不固定的，是在用户认证之后动态地与安全组关联，在用户注销后，也会动态地解除关联。用户</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与安全组之间的映射关系只在用户在线期间有效。</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网络设备若要获得这种映射关系，需要自己成为认证点设备或由</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iMaster NCE-Campus</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推送。</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4" name="圆角矩形 75"/>
          <p:cNvSpPr/>
          <p:nvPr/>
        </p:nvSpPr>
        <p:spPr bwMode="gray">
          <a:xfrm>
            <a:off x="6382162" y="3883986"/>
            <a:ext cx="5041075"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静态安全组</a:t>
            </a:r>
          </a:p>
        </p:txBody>
      </p:sp>
      <p:sp>
        <p:nvSpPr>
          <p:cNvPr id="35" name="圆角矩形 75"/>
          <p:cNvSpPr/>
          <p:nvPr/>
        </p:nvSpPr>
        <p:spPr bwMode="gray">
          <a:xfrm>
            <a:off x="6382162" y="4330280"/>
            <a:ext cx="5041075" cy="1777731"/>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静态资源的</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地址是固定的，是由管理员通过配置绑定的。</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在预部署阶段，</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iMaster NCE-Campus</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与网络设备间通过</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NETCONF</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协议部署控制策略时，安全组与这种</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地址的绑定关系就会同步给所有执行点设备。</a:t>
            </a:r>
          </a:p>
        </p:txBody>
      </p:sp>
      <p:sp>
        <p:nvSpPr>
          <p:cNvPr id="36" name="任意多边形 35"/>
          <p:cNvSpPr/>
          <p:nvPr/>
        </p:nvSpPr>
        <p:spPr bwMode="gray">
          <a:xfrm>
            <a:off x="1338470" y="3775984"/>
            <a:ext cx="517464" cy="1060174"/>
          </a:xfrm>
          <a:custGeom>
            <a:avLst/>
            <a:gdLst>
              <a:gd name="connsiteX0" fmla="*/ 0 w 517464"/>
              <a:gd name="connsiteY0" fmla="*/ 1060174 h 1060174"/>
              <a:gd name="connsiteX1" fmla="*/ 490330 w 517464"/>
              <a:gd name="connsiteY1" fmla="*/ 371061 h 1060174"/>
              <a:gd name="connsiteX2" fmla="*/ 410817 w 517464"/>
              <a:gd name="connsiteY2" fmla="*/ 0 h 1060174"/>
            </a:gdLst>
            <a:ahLst/>
            <a:cxnLst>
              <a:cxn ang="0">
                <a:pos x="connsiteX0" y="connsiteY0"/>
              </a:cxn>
              <a:cxn ang="0">
                <a:pos x="connsiteX1" y="connsiteY1"/>
              </a:cxn>
              <a:cxn ang="0">
                <a:pos x="connsiteX2" y="connsiteY2"/>
              </a:cxn>
            </a:cxnLst>
            <a:rect l="l" t="t" r="r" b="b"/>
            <a:pathLst>
              <a:path w="517464" h="1060174">
                <a:moveTo>
                  <a:pt x="0" y="1060174"/>
                </a:moveTo>
                <a:cubicBezTo>
                  <a:pt x="210930" y="803965"/>
                  <a:pt x="421861" y="547757"/>
                  <a:pt x="490330" y="371061"/>
                </a:cubicBezTo>
                <a:cubicBezTo>
                  <a:pt x="558799" y="194365"/>
                  <a:pt x="484808" y="97182"/>
                  <a:pt x="410817" y="0"/>
                </a:cubicBezTo>
              </a:path>
            </a:pathLst>
          </a:custGeom>
          <a:noFill/>
          <a:ln w="19050" algn="ctr">
            <a:solidFill>
              <a:srgbClr val="30B5C5"/>
            </a:solidFill>
            <a:prstDash val="solid"/>
            <a:round/>
            <a:headEnd type="none" w="med" len="med"/>
            <a:tailEnd type="triangle" w="med" len="med"/>
          </a:ln>
        </p:spPr>
        <p:txBody>
          <a:bodyPr rtlCol="0" anchor="ctr"/>
          <a:lstStyle/>
          <a:p>
            <a:pPr algn="ctr"/>
            <a:endParaRPr lang="zh-CN" altLang="en-US">
              <a:solidFill>
                <a:schemeClr val="tx1"/>
              </a:solidFill>
            </a:endParaRPr>
          </a:p>
        </p:txBody>
      </p:sp>
      <p:sp>
        <p:nvSpPr>
          <p:cNvPr id="37" name="任意多边形 36"/>
          <p:cNvSpPr/>
          <p:nvPr/>
        </p:nvSpPr>
        <p:spPr bwMode="gray">
          <a:xfrm>
            <a:off x="1948070" y="3775984"/>
            <a:ext cx="1364973" cy="1046922"/>
          </a:xfrm>
          <a:custGeom>
            <a:avLst/>
            <a:gdLst>
              <a:gd name="connsiteX0" fmla="*/ 1364973 w 1364973"/>
              <a:gd name="connsiteY0" fmla="*/ 1046922 h 1046922"/>
              <a:gd name="connsiteX1" fmla="*/ 781878 w 1364973"/>
              <a:gd name="connsiteY1" fmla="*/ 357809 h 1046922"/>
              <a:gd name="connsiteX2" fmla="*/ 0 w 1364973"/>
              <a:gd name="connsiteY2" fmla="*/ 0 h 1046922"/>
            </a:gdLst>
            <a:ahLst/>
            <a:cxnLst>
              <a:cxn ang="0">
                <a:pos x="connsiteX0" y="connsiteY0"/>
              </a:cxn>
              <a:cxn ang="0">
                <a:pos x="connsiteX1" y="connsiteY1"/>
              </a:cxn>
              <a:cxn ang="0">
                <a:pos x="connsiteX2" y="connsiteY2"/>
              </a:cxn>
            </a:cxnLst>
            <a:rect l="l" t="t" r="r" b="b"/>
            <a:pathLst>
              <a:path w="1364973" h="1046922">
                <a:moveTo>
                  <a:pt x="1364973" y="1046922"/>
                </a:moveTo>
                <a:cubicBezTo>
                  <a:pt x="1187173" y="789609"/>
                  <a:pt x="1009373" y="532296"/>
                  <a:pt x="781878" y="357809"/>
                </a:cubicBezTo>
                <a:cubicBezTo>
                  <a:pt x="554383" y="183322"/>
                  <a:pt x="277191" y="91661"/>
                  <a:pt x="0" y="0"/>
                </a:cubicBezTo>
              </a:path>
            </a:pathLst>
          </a:custGeom>
          <a:noFill/>
          <a:ln w="19050" algn="ctr">
            <a:solidFill>
              <a:srgbClr val="30B5C5"/>
            </a:solidFill>
            <a:prstDash val="solid"/>
            <a:round/>
            <a:headEnd type="none" w="med" len="med"/>
            <a:tailEnd type="triangle" w="med" len="med"/>
          </a:ln>
        </p:spPr>
        <p:txBody>
          <a:bodyPr rtlCol="0" anchor="ctr"/>
          <a:lstStyle/>
          <a:p>
            <a:pPr algn="ctr"/>
            <a:endParaRPr lang="zh-CN" altLang="en-US">
              <a:solidFill>
                <a:schemeClr val="tx1"/>
              </a:solidFill>
            </a:endParaRPr>
          </a:p>
        </p:txBody>
      </p:sp>
      <p:sp>
        <p:nvSpPr>
          <p:cNvPr id="39" name="任意多边形 38"/>
          <p:cNvSpPr/>
          <p:nvPr/>
        </p:nvSpPr>
        <p:spPr bwMode="gray">
          <a:xfrm>
            <a:off x="3366052" y="3577202"/>
            <a:ext cx="1987826" cy="1007165"/>
          </a:xfrm>
          <a:custGeom>
            <a:avLst/>
            <a:gdLst>
              <a:gd name="connsiteX0" fmla="*/ 1987826 w 1987826"/>
              <a:gd name="connsiteY0" fmla="*/ 1007165 h 1007165"/>
              <a:gd name="connsiteX1" fmla="*/ 1166191 w 1987826"/>
              <a:gd name="connsiteY1" fmla="*/ 212035 h 1007165"/>
              <a:gd name="connsiteX2" fmla="*/ 0 w 1987826"/>
              <a:gd name="connsiteY2" fmla="*/ 0 h 1007165"/>
            </a:gdLst>
            <a:ahLst/>
            <a:cxnLst>
              <a:cxn ang="0">
                <a:pos x="connsiteX0" y="connsiteY0"/>
              </a:cxn>
              <a:cxn ang="0">
                <a:pos x="connsiteX1" y="connsiteY1"/>
              </a:cxn>
              <a:cxn ang="0">
                <a:pos x="connsiteX2" y="connsiteY2"/>
              </a:cxn>
            </a:cxnLst>
            <a:rect l="l" t="t" r="r" b="b"/>
            <a:pathLst>
              <a:path w="1987826" h="1007165">
                <a:moveTo>
                  <a:pt x="1987826" y="1007165"/>
                </a:moveTo>
                <a:cubicBezTo>
                  <a:pt x="1742660" y="693530"/>
                  <a:pt x="1497495" y="379896"/>
                  <a:pt x="1166191" y="212035"/>
                </a:cubicBezTo>
                <a:cubicBezTo>
                  <a:pt x="834887" y="44174"/>
                  <a:pt x="417443" y="22087"/>
                  <a:pt x="0" y="0"/>
                </a:cubicBezTo>
              </a:path>
            </a:pathLst>
          </a:custGeom>
          <a:noFill/>
          <a:ln w="19050" algn="ctr">
            <a:solidFill>
              <a:srgbClr val="30B5C5"/>
            </a:solidFill>
            <a:prstDash val="dash"/>
            <a:round/>
            <a:headEnd type="none" w="med" len="med"/>
            <a:tailEnd type="triangle" w="med" len="med"/>
          </a:ln>
        </p:spPr>
        <p:txBody>
          <a:bodyPr rtlCol="0" anchor="ctr"/>
          <a:lstStyle/>
          <a:p>
            <a:pPr algn="ctr"/>
            <a:endParaRPr lang="zh-CN" altLang="en-US">
              <a:solidFill>
                <a:schemeClr val="tx1"/>
              </a:solidFill>
            </a:endParaRPr>
          </a:p>
        </p:txBody>
      </p:sp>
      <p:graphicFrame>
        <p:nvGraphicFramePr>
          <p:cNvPr id="40" name="Table 68"/>
          <p:cNvGraphicFramePr>
            <a:graphicFrameLocks noGrp="1"/>
          </p:cNvGraphicFramePr>
          <p:nvPr>
            <p:extLst>
              <p:ext uri="{D42A27DB-BD31-4B8C-83A1-F6EECF244321}">
                <p14:modId xmlns:p14="http://schemas.microsoft.com/office/powerpoint/2010/main" val="983891145"/>
              </p:ext>
            </p:extLst>
          </p:nvPr>
        </p:nvGraphicFramePr>
        <p:xfrm>
          <a:off x="1855931" y="1138928"/>
          <a:ext cx="3548882" cy="1097280"/>
        </p:xfrm>
        <a:graphic>
          <a:graphicData uri="http://schemas.openxmlformats.org/drawingml/2006/table">
            <a:tbl>
              <a:tblPr firstRow="1" bandRow="1">
                <a:tableStyleId>{5940675A-B579-460E-94D1-54222C63F5DA}</a:tableStyleId>
              </a:tblPr>
              <a:tblGrid>
                <a:gridCol w="1363163">
                  <a:extLst>
                    <a:ext uri="{9D8B030D-6E8A-4147-A177-3AD203B41FA5}">
                      <a16:colId xmlns:a16="http://schemas.microsoft.com/office/drawing/2014/main" val="20000"/>
                    </a:ext>
                  </a:extLst>
                </a:gridCol>
                <a:gridCol w="1186048">
                  <a:extLst>
                    <a:ext uri="{9D8B030D-6E8A-4147-A177-3AD203B41FA5}">
                      <a16:colId xmlns:a16="http://schemas.microsoft.com/office/drawing/2014/main" val="20001"/>
                    </a:ext>
                  </a:extLst>
                </a:gridCol>
                <a:gridCol w="999671">
                  <a:extLst>
                    <a:ext uri="{9D8B030D-6E8A-4147-A177-3AD203B41FA5}">
                      <a16:colId xmlns:a16="http://schemas.microsoft.com/office/drawing/2014/main" val="20002"/>
                    </a:ext>
                  </a:extLst>
                </a:gridCol>
              </a:tblGrid>
              <a:tr h="0">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组类型</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组名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组</a:t>
                      </a: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动态</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Sale</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动态</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Guest</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静态</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41" name="图片 40" descr="笔记本电脑.png"/>
          <p:cNvPicPr>
            <a:picLocks noChangeAspect="1"/>
          </p:cNvPicPr>
          <p:nvPr/>
        </p:nvPicPr>
        <p:blipFill>
          <a:blip r:embed="rId4" cstate="print"/>
          <a:stretch>
            <a:fillRect/>
          </a:stretch>
        </p:blipFill>
        <p:spPr bwMode="gray">
          <a:xfrm>
            <a:off x="5216165" y="5219145"/>
            <a:ext cx="446879" cy="280159"/>
          </a:xfrm>
          <a:prstGeom prst="rect">
            <a:avLst/>
          </a:prstGeom>
        </p:spPr>
      </p:pic>
    </p:spTree>
    <p:extLst>
      <p:ext uri="{BB962C8B-B14F-4D97-AF65-F5344CB8AC3E}">
        <p14:creationId xmlns:p14="http://schemas.microsoft.com/office/powerpoint/2010/main" val="3430469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a:xfrm>
            <a:off x="455613" y="1047750"/>
            <a:ext cx="11256962" cy="4194169"/>
          </a:xfrm>
        </p:spPr>
        <p:txBody>
          <a:bodyPr/>
          <a:lstStyle/>
          <a:p>
            <a:r>
              <a:rPr lang="en-US" altLang="zh-CN" sz="1800" dirty="0"/>
              <a:t>UCL</a:t>
            </a:r>
            <a:r>
              <a:rPr lang="zh-CN" altLang="en-US" sz="1800" dirty="0"/>
              <a:t>（</a:t>
            </a:r>
            <a:r>
              <a:rPr lang="en-US" altLang="zh-CN" sz="1800" dirty="0"/>
              <a:t>User Control List</a:t>
            </a:r>
            <a:r>
              <a:rPr lang="zh-CN" altLang="en-US" sz="1800" dirty="0"/>
              <a:t>，用户控制列表）组</a:t>
            </a:r>
          </a:p>
          <a:p>
            <a:pPr lvl="1"/>
            <a:r>
              <a:rPr lang="en-US" altLang="zh-CN" sz="1600" dirty="0"/>
              <a:t>UCL</a:t>
            </a:r>
            <a:r>
              <a:rPr lang="zh-CN" altLang="en-US" sz="1600" dirty="0"/>
              <a:t>组是一种用户类别的标记。借助</a:t>
            </a:r>
            <a:r>
              <a:rPr lang="en-US" altLang="zh-CN" sz="1600" dirty="0"/>
              <a:t>UCL</a:t>
            </a:r>
            <a:r>
              <a:rPr lang="zh-CN" altLang="en-US" sz="1600" dirty="0"/>
              <a:t>组管理员可以将具有相同网络访问策略的一类用户划分为同一个组，然后为其部署一组网络访问策略，即能满足该类别所有用户的网络访问需求。相对于为每个用户部署网络访问策略，基于</a:t>
            </a:r>
            <a:r>
              <a:rPr lang="en-US" altLang="zh-CN" sz="1600" dirty="0"/>
              <a:t>UCL</a:t>
            </a:r>
            <a:r>
              <a:rPr lang="zh-CN" altLang="en-US" sz="1600" dirty="0"/>
              <a:t>组的网络控制方案能够极大的减少管理员的工作量。</a:t>
            </a:r>
          </a:p>
          <a:p>
            <a:pPr lvl="1"/>
            <a:r>
              <a:rPr lang="en-US" altLang="zh-CN" sz="1600" dirty="0">
                <a:solidFill>
                  <a:srgbClr val="C7000B"/>
                </a:solidFill>
              </a:rPr>
              <a:t>UCL</a:t>
            </a:r>
            <a:r>
              <a:rPr lang="zh-CN" altLang="en-US" sz="1600" dirty="0">
                <a:solidFill>
                  <a:srgbClr val="C7000B"/>
                </a:solidFill>
              </a:rPr>
              <a:t>组在</a:t>
            </a:r>
            <a:r>
              <a:rPr lang="en-US" altLang="zh-CN" sz="1600" dirty="0">
                <a:solidFill>
                  <a:srgbClr val="C7000B"/>
                </a:solidFill>
              </a:rPr>
              <a:t>iMaster NCE-Campus</a:t>
            </a:r>
            <a:r>
              <a:rPr lang="zh-CN" altLang="en-US" sz="1600" dirty="0">
                <a:solidFill>
                  <a:srgbClr val="C7000B"/>
                </a:solidFill>
              </a:rPr>
              <a:t>上被称为“安全组”。</a:t>
            </a:r>
            <a:endParaRPr lang="en-US" altLang="zh-CN" sz="1600" dirty="0">
              <a:solidFill>
                <a:srgbClr val="C7000B"/>
              </a:solidFill>
            </a:endParaRPr>
          </a:p>
          <a:p>
            <a:r>
              <a:rPr lang="en-US" altLang="zh-CN" sz="1800" dirty="0"/>
              <a:t>UCL</a:t>
            </a:r>
            <a:r>
              <a:rPr lang="zh-CN" altLang="en-US" sz="1800" dirty="0"/>
              <a:t>组的配置（交换机）</a:t>
            </a:r>
            <a:endParaRPr lang="en-US" altLang="zh-CN" sz="1800" dirty="0"/>
          </a:p>
          <a:p>
            <a:pPr lvl="1"/>
            <a:r>
              <a:rPr lang="zh-CN" altLang="en-US" sz="1600" dirty="0"/>
              <a:t>创建</a:t>
            </a:r>
            <a:r>
              <a:rPr lang="en-US" altLang="zh-CN" sz="1600" dirty="0"/>
              <a:t>UCL</a:t>
            </a:r>
            <a:r>
              <a:rPr lang="zh-CN" altLang="en-US" sz="1600" dirty="0"/>
              <a:t>组：</a:t>
            </a:r>
            <a:endParaRPr lang="en-US" altLang="zh-CN" sz="1600" dirty="0"/>
          </a:p>
          <a:p>
            <a:pPr lvl="1"/>
            <a:endParaRPr lang="en-US" altLang="zh-CN" sz="1600" dirty="0"/>
          </a:p>
          <a:p>
            <a:pPr lvl="1"/>
            <a:endParaRPr lang="en-US" altLang="zh-CN" sz="1600" dirty="0"/>
          </a:p>
          <a:p>
            <a:pPr lvl="1"/>
            <a:r>
              <a:rPr lang="zh-CN" altLang="en-US" sz="1600" dirty="0"/>
              <a:t>配置静态</a:t>
            </a:r>
            <a:r>
              <a:rPr lang="en-US" altLang="zh-CN" sz="1600" dirty="0"/>
              <a:t>UCL</a:t>
            </a:r>
            <a:r>
              <a:rPr lang="zh-CN" altLang="en-US" sz="1600" dirty="0"/>
              <a:t>组：</a:t>
            </a:r>
          </a:p>
          <a:p>
            <a:pPr lvl="1"/>
            <a:endParaRPr lang="zh-CN" altLang="en-US" sz="1600" dirty="0"/>
          </a:p>
          <a:p>
            <a:endParaRPr lang="zh-CN" altLang="en-US" sz="1800" dirty="0"/>
          </a:p>
        </p:txBody>
      </p:sp>
      <p:sp>
        <p:nvSpPr>
          <p:cNvPr id="2" name="标题 1"/>
          <p:cNvSpPr>
            <a:spLocks noGrp="1"/>
          </p:cNvSpPr>
          <p:nvPr>
            <p:ph type="title"/>
          </p:nvPr>
        </p:nvSpPr>
        <p:spPr bwMode="gray"/>
        <p:txBody>
          <a:bodyPr>
            <a:normAutofit/>
          </a:bodyPr>
          <a:lstStyle/>
          <a:p>
            <a:r>
              <a:rPr lang="zh-CN" altLang="en-US" dirty="0"/>
              <a:t>业务随行的基本概念：</a:t>
            </a:r>
            <a:r>
              <a:rPr lang="en-US" altLang="zh-CN" dirty="0"/>
              <a:t>UCL</a:t>
            </a:r>
            <a:r>
              <a:rPr lang="zh-CN" altLang="en-US" dirty="0"/>
              <a:t>组</a:t>
            </a:r>
          </a:p>
        </p:txBody>
      </p:sp>
      <p:sp>
        <p:nvSpPr>
          <p:cNvPr id="44" name="文本框 43"/>
          <p:cNvSpPr txBox="1"/>
          <p:nvPr/>
        </p:nvSpPr>
        <p:spPr bwMode="gray">
          <a:xfrm>
            <a:off x="1489185" y="5241919"/>
            <a:ext cx="4752589" cy="523220"/>
          </a:xfrm>
          <a:prstGeom prst="rect">
            <a:avLst/>
          </a:prstGeom>
          <a:solidFill>
            <a:schemeClr val="bg1">
              <a:lumMod val="85000"/>
            </a:schemeClr>
          </a:solidFill>
          <a:ln>
            <a:noFill/>
          </a:ln>
        </p:spPr>
        <p:txBody>
          <a:bodyPr wrap="square" rtlCol="0" anchor="ctr">
            <a:spAutoFit/>
          </a:bodyPr>
          <a:lstStyle/>
          <a:p>
            <a:r>
              <a:rPr lang="en-US" altLang="zh-CN" sz="1400" dirty="0"/>
              <a:t>[Huawei] </a:t>
            </a:r>
            <a:r>
              <a:rPr lang="en-US" altLang="zh-CN" sz="1400" b="1" dirty="0"/>
              <a:t>ucl-group ip</a:t>
            </a:r>
            <a:r>
              <a:rPr lang="en-US" altLang="zh-CN" sz="1400" dirty="0"/>
              <a:t> </a:t>
            </a:r>
            <a:r>
              <a:rPr lang="en-US" altLang="zh-CN" sz="1400" i="1" dirty="0"/>
              <a:t>ip-address</a:t>
            </a:r>
            <a:r>
              <a:rPr lang="en-US" altLang="zh-CN" sz="1400" dirty="0"/>
              <a:t> { </a:t>
            </a:r>
            <a:r>
              <a:rPr lang="en-US" altLang="zh-CN" sz="1400" i="1" dirty="0"/>
              <a:t>mask-length</a:t>
            </a:r>
            <a:r>
              <a:rPr lang="en-US" altLang="zh-CN" sz="1400" dirty="0"/>
              <a:t> | </a:t>
            </a:r>
            <a:r>
              <a:rPr lang="en-US" altLang="zh-CN" sz="1400" i="1" dirty="0"/>
              <a:t>ip-mask</a:t>
            </a:r>
            <a:r>
              <a:rPr lang="en-US" altLang="zh-CN" sz="1400" dirty="0"/>
              <a:t> } { </a:t>
            </a:r>
            <a:r>
              <a:rPr lang="en-US" altLang="zh-CN" sz="1400" i="1" dirty="0"/>
              <a:t>group-index</a:t>
            </a:r>
            <a:r>
              <a:rPr lang="en-US" altLang="zh-CN" sz="1400" dirty="0"/>
              <a:t> | </a:t>
            </a:r>
            <a:r>
              <a:rPr lang="en-US" altLang="zh-CN" sz="1400" b="1" dirty="0"/>
              <a:t>name</a:t>
            </a:r>
            <a:r>
              <a:rPr lang="en-US" altLang="zh-CN" sz="1400" dirty="0"/>
              <a:t> </a:t>
            </a:r>
            <a:r>
              <a:rPr lang="en-US" altLang="zh-CN" sz="1400" i="1" dirty="0"/>
              <a:t>group-name</a:t>
            </a:r>
            <a:r>
              <a:rPr lang="en-US" altLang="zh-CN" sz="1400" dirty="0"/>
              <a:t> }</a:t>
            </a:r>
            <a:endParaRPr lang="zh-CN" altLang="en-US" sz="1400" dirty="0"/>
          </a:p>
        </p:txBody>
      </p:sp>
      <p:sp>
        <p:nvSpPr>
          <p:cNvPr id="45" name="文本框 44"/>
          <p:cNvSpPr txBox="1"/>
          <p:nvPr/>
        </p:nvSpPr>
        <p:spPr bwMode="gray">
          <a:xfrm>
            <a:off x="1489185" y="4005639"/>
            <a:ext cx="4750567" cy="307777"/>
          </a:xfrm>
          <a:prstGeom prst="rect">
            <a:avLst/>
          </a:prstGeom>
          <a:solidFill>
            <a:schemeClr val="bg1">
              <a:lumMod val="85000"/>
            </a:schemeClr>
          </a:solidFill>
          <a:ln>
            <a:noFill/>
          </a:ln>
        </p:spPr>
        <p:txBody>
          <a:bodyPr wrap="square" rtlCol="0" anchor="ctr">
            <a:spAutoFit/>
          </a:bodyPr>
          <a:lstStyle/>
          <a:p>
            <a:r>
              <a:rPr lang="en-US" altLang="zh-CN" sz="1400" dirty="0"/>
              <a:t>[Huawei] </a:t>
            </a:r>
            <a:r>
              <a:rPr lang="en-US" altLang="zh-CN" sz="1400" b="1" dirty="0"/>
              <a:t>ucl-group</a:t>
            </a:r>
            <a:r>
              <a:rPr lang="en-US" altLang="zh-CN" sz="1400" dirty="0"/>
              <a:t> </a:t>
            </a:r>
            <a:r>
              <a:rPr lang="en-US" altLang="zh-CN" sz="1400" i="1" dirty="0"/>
              <a:t>group-index</a:t>
            </a:r>
            <a:r>
              <a:rPr lang="en-US" altLang="zh-CN" sz="1400" dirty="0"/>
              <a:t> [ </a:t>
            </a:r>
            <a:r>
              <a:rPr lang="en-US" altLang="zh-CN" sz="1400" b="1" dirty="0"/>
              <a:t>name</a:t>
            </a:r>
            <a:r>
              <a:rPr lang="en-US" altLang="zh-CN" sz="1400" dirty="0"/>
              <a:t> </a:t>
            </a:r>
            <a:r>
              <a:rPr lang="en-US" altLang="zh-CN" sz="1400" i="1" dirty="0"/>
              <a:t>group-name</a:t>
            </a:r>
            <a:r>
              <a:rPr lang="en-US" altLang="zh-CN" sz="1400" dirty="0"/>
              <a:t> ]</a:t>
            </a:r>
            <a:endParaRPr lang="zh-CN" altLang="en-US" sz="1400" dirty="0"/>
          </a:p>
        </p:txBody>
      </p:sp>
      <p:sp>
        <p:nvSpPr>
          <p:cNvPr id="46" name="Freeform 159"/>
          <p:cNvSpPr/>
          <p:nvPr/>
        </p:nvSpPr>
        <p:spPr bwMode="gray">
          <a:xfrm flipH="1">
            <a:off x="7858881" y="3542114"/>
            <a:ext cx="2362277" cy="123482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600" dirty="0">
                <a:solidFill>
                  <a:schemeClr val="bg1">
                    <a:lumMod val="50000"/>
                  </a:schemeClr>
                </a:solidFill>
              </a:rPr>
              <a:t>园区网络</a:t>
            </a:r>
            <a:endParaRPr lang="en-US" sz="1600" dirty="0">
              <a:solidFill>
                <a:schemeClr val="bg1">
                  <a:lumMod val="50000"/>
                </a:schemeClr>
              </a:solidFill>
            </a:endParaRPr>
          </a:p>
        </p:txBody>
      </p:sp>
      <p:pic>
        <p:nvPicPr>
          <p:cNvPr id="47" name="图片 72" descr="交换机.png"/>
          <p:cNvPicPr>
            <a:picLocks noChangeAspect="1"/>
          </p:cNvPicPr>
          <p:nvPr/>
        </p:nvPicPr>
        <p:blipFill>
          <a:blip r:embed="rId3" cstate="print"/>
          <a:stretch>
            <a:fillRect/>
          </a:stretch>
        </p:blipFill>
        <p:spPr bwMode="gray">
          <a:xfrm>
            <a:off x="7604093" y="2765608"/>
            <a:ext cx="489285" cy="401651"/>
          </a:xfrm>
          <a:prstGeom prst="rect">
            <a:avLst/>
          </a:prstGeom>
        </p:spPr>
      </p:pic>
      <p:pic>
        <p:nvPicPr>
          <p:cNvPr id="48" name="图片 72" descr="交换机.png"/>
          <p:cNvPicPr>
            <a:picLocks noChangeAspect="1"/>
          </p:cNvPicPr>
          <p:nvPr/>
        </p:nvPicPr>
        <p:blipFill>
          <a:blip r:embed="rId3" cstate="print"/>
          <a:stretch>
            <a:fillRect/>
          </a:stretch>
        </p:blipFill>
        <p:spPr bwMode="gray">
          <a:xfrm>
            <a:off x="8684301" y="2765608"/>
            <a:ext cx="489285" cy="401651"/>
          </a:xfrm>
          <a:prstGeom prst="rect">
            <a:avLst/>
          </a:prstGeom>
        </p:spPr>
      </p:pic>
      <p:pic>
        <p:nvPicPr>
          <p:cNvPr id="49" name="图片 72" descr="交换机.png"/>
          <p:cNvPicPr>
            <a:picLocks noChangeAspect="1"/>
          </p:cNvPicPr>
          <p:nvPr/>
        </p:nvPicPr>
        <p:blipFill>
          <a:blip r:embed="rId3" cstate="print"/>
          <a:stretch>
            <a:fillRect/>
          </a:stretch>
        </p:blipFill>
        <p:spPr bwMode="gray">
          <a:xfrm>
            <a:off x="9766848" y="2765608"/>
            <a:ext cx="489285" cy="401651"/>
          </a:xfrm>
          <a:prstGeom prst="rect">
            <a:avLst/>
          </a:prstGeom>
        </p:spPr>
      </p:pic>
      <p:sp>
        <p:nvSpPr>
          <p:cNvPr id="50" name="文本框 49"/>
          <p:cNvSpPr txBox="1"/>
          <p:nvPr/>
        </p:nvSpPr>
        <p:spPr bwMode="gray">
          <a:xfrm>
            <a:off x="7338018" y="2408094"/>
            <a:ext cx="1021433" cy="307777"/>
          </a:xfrm>
          <a:prstGeom prst="rect">
            <a:avLst/>
          </a:prstGeom>
          <a:noFill/>
        </p:spPr>
        <p:txBody>
          <a:bodyPr wrap="none" rtlCol="0">
            <a:spAutoFit/>
          </a:bodyPr>
          <a:lstStyle/>
          <a:p>
            <a:pPr algn="ctr"/>
            <a:r>
              <a:rPr lang="en-US" altLang="zh-CN" sz="1400"/>
              <a:t>FTP</a:t>
            </a:r>
            <a:r>
              <a:rPr lang="zh-CN" altLang="en-US" sz="1400"/>
              <a:t>服务器</a:t>
            </a:r>
            <a:endParaRPr lang="zh-CN" altLang="en-US" sz="1400" dirty="0"/>
          </a:p>
        </p:txBody>
      </p:sp>
      <p:sp>
        <p:nvSpPr>
          <p:cNvPr id="51" name="文本框 50"/>
          <p:cNvSpPr txBox="1"/>
          <p:nvPr/>
        </p:nvSpPr>
        <p:spPr bwMode="gray">
          <a:xfrm>
            <a:off x="8348805" y="2408094"/>
            <a:ext cx="1103187" cy="307777"/>
          </a:xfrm>
          <a:prstGeom prst="rect">
            <a:avLst/>
          </a:prstGeom>
          <a:noFill/>
        </p:spPr>
        <p:txBody>
          <a:bodyPr wrap="none" rtlCol="0">
            <a:spAutoFit/>
          </a:bodyPr>
          <a:lstStyle/>
          <a:p>
            <a:pPr algn="ctr"/>
            <a:r>
              <a:rPr lang="en-US" altLang="zh-CN" sz="1400" dirty="0"/>
              <a:t>WEB</a:t>
            </a:r>
            <a:r>
              <a:rPr lang="zh-CN" altLang="en-US" sz="1400" dirty="0"/>
              <a:t>服务器</a:t>
            </a:r>
          </a:p>
        </p:txBody>
      </p:sp>
      <p:sp>
        <p:nvSpPr>
          <p:cNvPr id="52" name="文本框 51"/>
          <p:cNvSpPr txBox="1"/>
          <p:nvPr/>
        </p:nvSpPr>
        <p:spPr bwMode="gray">
          <a:xfrm>
            <a:off x="9470317" y="2408094"/>
            <a:ext cx="1082348" cy="307777"/>
          </a:xfrm>
          <a:prstGeom prst="rect">
            <a:avLst/>
          </a:prstGeom>
          <a:noFill/>
        </p:spPr>
        <p:txBody>
          <a:bodyPr wrap="none" rtlCol="0">
            <a:spAutoFit/>
          </a:bodyPr>
          <a:lstStyle/>
          <a:p>
            <a:pPr algn="ctr"/>
            <a:r>
              <a:rPr lang="zh-CN" altLang="en-US" sz="1400" dirty="0"/>
              <a:t>邮件服务器</a:t>
            </a:r>
          </a:p>
        </p:txBody>
      </p:sp>
      <p:pic>
        <p:nvPicPr>
          <p:cNvPr id="53" name="图片 76" descr="接入交换机.png"/>
          <p:cNvPicPr>
            <a:picLocks noChangeAspect="1"/>
          </p:cNvPicPr>
          <p:nvPr/>
        </p:nvPicPr>
        <p:blipFill>
          <a:blip r:embed="rId4" cstate="print"/>
          <a:stretch>
            <a:fillRect/>
          </a:stretch>
        </p:blipFill>
        <p:spPr bwMode="gray">
          <a:xfrm>
            <a:off x="7685373" y="4726296"/>
            <a:ext cx="490909" cy="401653"/>
          </a:xfrm>
          <a:prstGeom prst="rect">
            <a:avLst/>
          </a:prstGeom>
        </p:spPr>
      </p:pic>
      <p:pic>
        <p:nvPicPr>
          <p:cNvPr id="54" name="图片 105" descr="AP.png"/>
          <p:cNvPicPr>
            <a:picLocks noChangeAspect="1"/>
          </p:cNvPicPr>
          <p:nvPr/>
        </p:nvPicPr>
        <p:blipFill>
          <a:blip r:embed="rId5" cstate="print"/>
          <a:stretch>
            <a:fillRect/>
          </a:stretch>
        </p:blipFill>
        <p:spPr bwMode="gray">
          <a:xfrm>
            <a:off x="9839215" y="4726295"/>
            <a:ext cx="490909" cy="401653"/>
          </a:xfrm>
          <a:prstGeom prst="rect">
            <a:avLst/>
          </a:prstGeom>
        </p:spPr>
      </p:pic>
      <p:grpSp>
        <p:nvGrpSpPr>
          <p:cNvPr id="55" name="组合 758"/>
          <p:cNvGrpSpPr/>
          <p:nvPr/>
        </p:nvGrpSpPr>
        <p:grpSpPr bwMode="gray">
          <a:xfrm flipV="1">
            <a:off x="9966562" y="5194140"/>
            <a:ext cx="236214" cy="200032"/>
            <a:chOff x="7440613" y="4868863"/>
            <a:chExt cx="1019175" cy="828675"/>
          </a:xfrm>
          <a:solidFill>
            <a:schemeClr val="bg1">
              <a:lumMod val="50000"/>
            </a:schemeClr>
          </a:solidFill>
        </p:grpSpPr>
        <p:sp>
          <p:nvSpPr>
            <p:cNvPr id="56"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微软雅黑" panose="020B0503020204020204" pitchFamily="34" charset="-122"/>
                <a:ea typeface="微软雅黑" panose="020B0503020204020204" pitchFamily="34" charset="-122"/>
              </a:endParaRPr>
            </a:p>
          </p:txBody>
        </p:sp>
        <p:sp>
          <p:nvSpPr>
            <p:cNvPr id="57"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微软雅黑" panose="020B0503020204020204" pitchFamily="34" charset="-122"/>
                <a:ea typeface="微软雅黑" panose="020B0503020204020204" pitchFamily="34" charset="-122"/>
              </a:endParaRPr>
            </a:p>
          </p:txBody>
        </p:sp>
      </p:grpSp>
      <p:pic>
        <p:nvPicPr>
          <p:cNvPr id="58" name="图片 57" descr="日志告警服务器-蓝.png"/>
          <p:cNvPicPr>
            <a:picLocks noChangeAspect="1"/>
          </p:cNvPicPr>
          <p:nvPr/>
        </p:nvPicPr>
        <p:blipFill>
          <a:blip r:embed="rId6" cstate="print"/>
          <a:stretch>
            <a:fillRect/>
          </a:stretch>
        </p:blipFill>
        <p:spPr bwMode="gray">
          <a:xfrm>
            <a:off x="7396672" y="5625907"/>
            <a:ext cx="445956" cy="278465"/>
          </a:xfrm>
          <a:prstGeom prst="rect">
            <a:avLst/>
          </a:prstGeom>
        </p:spPr>
      </p:pic>
      <p:pic>
        <p:nvPicPr>
          <p:cNvPr id="59" name="图片 11" descr="开放网络-蓝.png"/>
          <p:cNvPicPr>
            <a:picLocks noChangeAspect="1"/>
          </p:cNvPicPr>
          <p:nvPr/>
        </p:nvPicPr>
        <p:blipFill>
          <a:blip r:embed="rId7" cstate="print"/>
          <a:stretch>
            <a:fillRect/>
          </a:stretch>
        </p:blipFill>
        <p:spPr bwMode="gray">
          <a:xfrm>
            <a:off x="7953844" y="5593494"/>
            <a:ext cx="445956" cy="343290"/>
          </a:xfrm>
          <a:prstGeom prst="rect">
            <a:avLst/>
          </a:prstGeom>
        </p:spPr>
      </p:pic>
      <p:pic>
        <p:nvPicPr>
          <p:cNvPr id="60" name="图片 47" descr="打印机.png"/>
          <p:cNvPicPr>
            <a:picLocks noChangeAspect="1"/>
          </p:cNvPicPr>
          <p:nvPr/>
        </p:nvPicPr>
        <p:blipFill>
          <a:blip r:embed="rId8" cstate="print"/>
          <a:stretch>
            <a:fillRect/>
          </a:stretch>
        </p:blipFill>
        <p:spPr bwMode="gray">
          <a:xfrm>
            <a:off x="6881105" y="5604207"/>
            <a:ext cx="404351" cy="321864"/>
          </a:xfrm>
          <a:prstGeom prst="rect">
            <a:avLst/>
          </a:prstGeom>
        </p:spPr>
      </p:pic>
      <p:pic>
        <p:nvPicPr>
          <p:cNvPr id="61" name="图片 42" descr="IP电话.png"/>
          <p:cNvPicPr>
            <a:picLocks noChangeAspect="1"/>
          </p:cNvPicPr>
          <p:nvPr/>
        </p:nvPicPr>
        <p:blipFill>
          <a:blip r:embed="rId9" cstate="print"/>
          <a:stretch>
            <a:fillRect/>
          </a:stretch>
        </p:blipFill>
        <p:spPr bwMode="gray">
          <a:xfrm>
            <a:off x="8511015" y="5592941"/>
            <a:ext cx="368791" cy="346698"/>
          </a:xfrm>
          <a:prstGeom prst="rect">
            <a:avLst/>
          </a:prstGeom>
        </p:spPr>
      </p:pic>
      <p:pic>
        <p:nvPicPr>
          <p:cNvPr id="62" name="图片 158" descr="SAN网络-蓝.png"/>
          <p:cNvPicPr>
            <a:picLocks noChangeAspect="1"/>
          </p:cNvPicPr>
          <p:nvPr/>
        </p:nvPicPr>
        <p:blipFill>
          <a:blip r:embed="rId10" cstate="print"/>
          <a:stretch>
            <a:fillRect/>
          </a:stretch>
        </p:blipFill>
        <p:spPr bwMode="gray">
          <a:xfrm>
            <a:off x="10003115" y="5567058"/>
            <a:ext cx="243218" cy="398465"/>
          </a:xfrm>
          <a:prstGeom prst="rect">
            <a:avLst/>
          </a:prstGeom>
        </p:spPr>
      </p:pic>
      <p:pic>
        <p:nvPicPr>
          <p:cNvPr id="63" name="图片 157" descr="故障链路.png"/>
          <p:cNvPicPr>
            <a:picLocks noChangeAspect="1"/>
          </p:cNvPicPr>
          <p:nvPr/>
        </p:nvPicPr>
        <p:blipFill>
          <a:blip r:embed="rId11" cstate="print"/>
          <a:stretch>
            <a:fillRect/>
          </a:stretch>
        </p:blipFill>
        <p:spPr bwMode="gray">
          <a:xfrm>
            <a:off x="9451876" y="5599899"/>
            <a:ext cx="446281" cy="332783"/>
          </a:xfrm>
          <a:prstGeom prst="rect">
            <a:avLst/>
          </a:prstGeom>
        </p:spPr>
      </p:pic>
      <p:pic>
        <p:nvPicPr>
          <p:cNvPr id="64" name="图片 14" descr="日志告警服务器-蓝.png"/>
          <p:cNvPicPr>
            <a:picLocks noChangeAspect="1"/>
          </p:cNvPicPr>
          <p:nvPr/>
        </p:nvPicPr>
        <p:blipFill>
          <a:blip r:embed="rId6" cstate="print"/>
          <a:stretch>
            <a:fillRect/>
          </a:stretch>
        </p:blipFill>
        <p:spPr bwMode="gray">
          <a:xfrm>
            <a:off x="10351291" y="5625907"/>
            <a:ext cx="445956" cy="278465"/>
          </a:xfrm>
          <a:prstGeom prst="rect">
            <a:avLst/>
          </a:prstGeom>
        </p:spPr>
      </p:pic>
      <p:sp>
        <p:nvSpPr>
          <p:cNvPr id="73" name="文本框 72"/>
          <p:cNvSpPr txBox="1"/>
          <p:nvPr/>
        </p:nvSpPr>
        <p:spPr bwMode="gray">
          <a:xfrm>
            <a:off x="9377584" y="5917509"/>
            <a:ext cx="1414170" cy="307777"/>
          </a:xfrm>
          <a:prstGeom prst="rect">
            <a:avLst/>
          </a:prstGeom>
          <a:noFill/>
        </p:spPr>
        <p:txBody>
          <a:bodyPr wrap="none" rtlCol="0">
            <a:spAutoFit/>
          </a:bodyPr>
          <a:lstStyle/>
          <a:p>
            <a:pPr algn="ctr"/>
            <a:r>
              <a:rPr lang="zh-CN" altLang="en-US" sz="1400" dirty="0"/>
              <a:t>访客（</a:t>
            </a:r>
            <a:r>
              <a:rPr lang="en-US" altLang="zh-CN" sz="1400" dirty="0"/>
              <a:t>UCL</a:t>
            </a:r>
            <a:r>
              <a:rPr lang="zh-CN" altLang="en-US" sz="1400" dirty="0"/>
              <a:t>组）</a:t>
            </a:r>
          </a:p>
        </p:txBody>
      </p:sp>
      <p:sp>
        <p:nvSpPr>
          <p:cNvPr id="74" name="文本框 73"/>
          <p:cNvSpPr txBox="1"/>
          <p:nvPr/>
        </p:nvSpPr>
        <p:spPr bwMode="gray">
          <a:xfrm>
            <a:off x="7178362" y="5917509"/>
            <a:ext cx="1414170" cy="307777"/>
          </a:xfrm>
          <a:prstGeom prst="rect">
            <a:avLst/>
          </a:prstGeom>
          <a:noFill/>
        </p:spPr>
        <p:txBody>
          <a:bodyPr wrap="none" rtlCol="0">
            <a:spAutoFit/>
          </a:bodyPr>
          <a:lstStyle/>
          <a:p>
            <a:pPr algn="ctr"/>
            <a:r>
              <a:rPr lang="zh-CN" altLang="en-US" sz="1400" dirty="0"/>
              <a:t>销售（</a:t>
            </a:r>
            <a:r>
              <a:rPr lang="en-US" altLang="zh-CN" sz="1400" dirty="0"/>
              <a:t>UCL</a:t>
            </a:r>
            <a:r>
              <a:rPr lang="zh-CN" altLang="en-US" sz="1400" dirty="0"/>
              <a:t>组）</a:t>
            </a:r>
          </a:p>
        </p:txBody>
      </p:sp>
      <p:sp>
        <p:nvSpPr>
          <p:cNvPr id="75" name="任意多边形 74"/>
          <p:cNvSpPr/>
          <p:nvPr/>
        </p:nvSpPr>
        <p:spPr bwMode="gray">
          <a:xfrm>
            <a:off x="7954448" y="4300810"/>
            <a:ext cx="1870199" cy="1172711"/>
          </a:xfrm>
          <a:custGeom>
            <a:avLst/>
            <a:gdLst>
              <a:gd name="connsiteX0" fmla="*/ 59571 w 1870199"/>
              <a:gd name="connsiteY0" fmla="*/ 1159832 h 1172711"/>
              <a:gd name="connsiteX1" fmla="*/ 123966 w 1870199"/>
              <a:gd name="connsiteY1" fmla="*/ 464373 h 1172711"/>
              <a:gd name="connsiteX2" fmla="*/ 1167154 w 1870199"/>
              <a:gd name="connsiteY2" fmla="*/ 734 h 1172711"/>
              <a:gd name="connsiteX3" fmla="*/ 1836856 w 1870199"/>
              <a:gd name="connsiteY3" fmla="*/ 567404 h 1172711"/>
              <a:gd name="connsiteX4" fmla="*/ 1708067 w 1870199"/>
              <a:gd name="connsiteY4" fmla="*/ 1172711 h 1172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199" h="1172711">
                <a:moveTo>
                  <a:pt x="59571" y="1159832"/>
                </a:moveTo>
                <a:cubicBezTo>
                  <a:pt x="-530" y="908694"/>
                  <a:pt x="-60631" y="657556"/>
                  <a:pt x="123966" y="464373"/>
                </a:cubicBezTo>
                <a:cubicBezTo>
                  <a:pt x="308563" y="271190"/>
                  <a:pt x="881672" y="-16438"/>
                  <a:pt x="1167154" y="734"/>
                </a:cubicBezTo>
                <a:cubicBezTo>
                  <a:pt x="1452636" y="17906"/>
                  <a:pt x="1746704" y="372074"/>
                  <a:pt x="1836856" y="567404"/>
                </a:cubicBezTo>
                <a:cubicBezTo>
                  <a:pt x="1927008" y="762733"/>
                  <a:pt x="1817537" y="967722"/>
                  <a:pt x="1708067" y="1172711"/>
                </a:cubicBezTo>
              </a:path>
            </a:pathLst>
          </a:custGeom>
          <a:noFill/>
          <a:ln w="19050" algn="ctr">
            <a:solidFill>
              <a:srgbClr val="30B5C5"/>
            </a:solidFill>
            <a:prstDash val="solid"/>
            <a:round/>
            <a:headEnd type="triangle" w="med" len="med"/>
            <a:tailEnd type="triangle" w="med" len="med"/>
          </a:ln>
        </p:spPr>
        <p:txBody>
          <a:bodyPr rtlCol="0" anchor="ctr"/>
          <a:lstStyle/>
          <a:p>
            <a:pPr algn="ctr"/>
            <a:endParaRPr lang="zh-CN" altLang="en-US">
              <a:solidFill>
                <a:schemeClr val="tx1"/>
              </a:solidFill>
            </a:endParaRPr>
          </a:p>
        </p:txBody>
      </p:sp>
      <p:grpSp>
        <p:nvGrpSpPr>
          <p:cNvPr id="76" name="组合 28"/>
          <p:cNvGrpSpPr/>
          <p:nvPr/>
        </p:nvGrpSpPr>
        <p:grpSpPr bwMode="gray">
          <a:xfrm rot="5059603">
            <a:off x="8836876" y="4269260"/>
            <a:ext cx="273362" cy="273362"/>
            <a:chOff x="5076056" y="3356992"/>
            <a:chExt cx="436268" cy="436268"/>
          </a:xfrm>
        </p:grpSpPr>
        <p:sp>
          <p:nvSpPr>
            <p:cNvPr id="77"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Arial" charset="0"/>
                <a:ea typeface="ＭＳ Ｐゴシック" pitchFamily="34" charset="-128"/>
              </a:endParaRPr>
            </a:p>
          </p:txBody>
        </p:sp>
        <p:sp>
          <p:nvSpPr>
            <p:cNvPr id="78" name="禁止符 23"/>
            <p:cNvSpPr/>
            <p:nvPr/>
          </p:nvSpPr>
          <p:spPr bwMode="gray">
            <a:xfrm>
              <a:off x="5076056" y="3356992"/>
              <a:ext cx="436268" cy="436268"/>
            </a:xfrm>
            <a:prstGeom prst="noSmoking">
              <a:avLst>
                <a:gd name="adj" fmla="val 15475"/>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sp>
        <p:nvSpPr>
          <p:cNvPr id="79" name="任意多边形 78"/>
          <p:cNvSpPr/>
          <p:nvPr/>
        </p:nvSpPr>
        <p:spPr bwMode="gray">
          <a:xfrm>
            <a:off x="7646504" y="3220278"/>
            <a:ext cx="940905" cy="2146852"/>
          </a:xfrm>
          <a:custGeom>
            <a:avLst/>
            <a:gdLst>
              <a:gd name="connsiteX0" fmla="*/ 0 w 940905"/>
              <a:gd name="connsiteY0" fmla="*/ 2146852 h 2146852"/>
              <a:gd name="connsiteX1" fmla="*/ 265044 w 940905"/>
              <a:gd name="connsiteY1" fmla="*/ 834887 h 2146852"/>
              <a:gd name="connsiteX2" fmla="*/ 940905 w 940905"/>
              <a:gd name="connsiteY2" fmla="*/ 0 h 2146852"/>
            </a:gdLst>
            <a:ahLst/>
            <a:cxnLst>
              <a:cxn ang="0">
                <a:pos x="connsiteX0" y="connsiteY0"/>
              </a:cxn>
              <a:cxn ang="0">
                <a:pos x="connsiteX1" y="connsiteY1"/>
              </a:cxn>
              <a:cxn ang="0">
                <a:pos x="connsiteX2" y="connsiteY2"/>
              </a:cxn>
            </a:cxnLst>
            <a:rect l="l" t="t" r="r" b="b"/>
            <a:pathLst>
              <a:path w="940905" h="2146852">
                <a:moveTo>
                  <a:pt x="0" y="2146852"/>
                </a:moveTo>
                <a:cubicBezTo>
                  <a:pt x="54113" y="1669774"/>
                  <a:pt x="108227" y="1192696"/>
                  <a:pt x="265044" y="834887"/>
                </a:cubicBezTo>
                <a:cubicBezTo>
                  <a:pt x="421861" y="477078"/>
                  <a:pt x="681383" y="238539"/>
                  <a:pt x="940905" y="0"/>
                </a:cubicBezTo>
              </a:path>
            </a:pathLst>
          </a:custGeom>
          <a:noFill/>
          <a:ln w="19050" algn="ctr">
            <a:solidFill>
              <a:srgbClr val="30B5C5"/>
            </a:solidFill>
            <a:prstDash val="solid"/>
            <a:round/>
            <a:headEnd type="none" w="med" len="med"/>
            <a:tailEnd type="triangle" w="med" len="med"/>
          </a:ln>
        </p:spPr>
        <p:txBody>
          <a:bodyPr rtlCol="0" anchor="ctr"/>
          <a:lstStyle/>
          <a:p>
            <a:pPr algn="ctr"/>
            <a:endParaRPr lang="zh-CN" altLang="en-US">
              <a:solidFill>
                <a:schemeClr val="tx1"/>
              </a:solidFill>
            </a:endParaRPr>
          </a:p>
        </p:txBody>
      </p:sp>
      <p:grpSp>
        <p:nvGrpSpPr>
          <p:cNvPr id="70" name="组合 69"/>
          <p:cNvGrpSpPr>
            <a:grpSpLocks noChangeAspect="1"/>
          </p:cNvGrpSpPr>
          <p:nvPr/>
        </p:nvGrpSpPr>
        <p:grpSpPr bwMode="gray">
          <a:xfrm>
            <a:off x="7999265" y="3614299"/>
            <a:ext cx="243192" cy="243192"/>
            <a:chOff x="10441953" y="5633214"/>
            <a:chExt cx="264000" cy="264000"/>
          </a:xfrm>
          <a:solidFill>
            <a:srgbClr val="30B5C5"/>
          </a:solidFill>
        </p:grpSpPr>
        <p:sp>
          <p:nvSpPr>
            <p:cNvPr id="71" name="椭圆 70"/>
            <p:cNvSpPr>
              <a:spLocks noChangeAspect="1"/>
            </p:cNvSpPr>
            <p:nvPr/>
          </p:nvSpPr>
          <p:spPr bwMode="gray">
            <a:xfrm>
              <a:off x="10441953" y="5633214"/>
              <a:ext cx="264000" cy="26400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endParaRPr>
            </a:p>
          </p:txBody>
        </p:sp>
        <p:sp>
          <p:nvSpPr>
            <p:cNvPr id="72" name="任意多边形 71"/>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grp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endParaRPr>
            </a:p>
          </p:txBody>
        </p:sp>
      </p:grpSp>
      <p:sp>
        <p:nvSpPr>
          <p:cNvPr id="80" name="任意多边形 79"/>
          <p:cNvSpPr/>
          <p:nvPr/>
        </p:nvSpPr>
        <p:spPr bwMode="gray">
          <a:xfrm>
            <a:off x="9276522" y="3326296"/>
            <a:ext cx="1139687" cy="2199861"/>
          </a:xfrm>
          <a:custGeom>
            <a:avLst/>
            <a:gdLst>
              <a:gd name="connsiteX0" fmla="*/ 1139687 w 1139687"/>
              <a:gd name="connsiteY0" fmla="*/ 2199861 h 2199861"/>
              <a:gd name="connsiteX1" fmla="*/ 1020417 w 1139687"/>
              <a:gd name="connsiteY1" fmla="*/ 1444487 h 2199861"/>
              <a:gd name="connsiteX2" fmla="*/ 861391 w 1139687"/>
              <a:gd name="connsiteY2" fmla="*/ 715617 h 2199861"/>
              <a:gd name="connsiteX3" fmla="*/ 0 w 1139687"/>
              <a:gd name="connsiteY3" fmla="*/ 0 h 2199861"/>
            </a:gdLst>
            <a:ahLst/>
            <a:cxnLst>
              <a:cxn ang="0">
                <a:pos x="connsiteX0" y="connsiteY0"/>
              </a:cxn>
              <a:cxn ang="0">
                <a:pos x="connsiteX1" y="connsiteY1"/>
              </a:cxn>
              <a:cxn ang="0">
                <a:pos x="connsiteX2" y="connsiteY2"/>
              </a:cxn>
              <a:cxn ang="0">
                <a:pos x="connsiteX3" y="connsiteY3"/>
              </a:cxn>
            </a:cxnLst>
            <a:rect l="l" t="t" r="r" b="b"/>
            <a:pathLst>
              <a:path w="1139687" h="2199861">
                <a:moveTo>
                  <a:pt x="1139687" y="2199861"/>
                </a:moveTo>
                <a:cubicBezTo>
                  <a:pt x="1103243" y="1945861"/>
                  <a:pt x="1066800" y="1691861"/>
                  <a:pt x="1020417" y="1444487"/>
                </a:cubicBezTo>
                <a:cubicBezTo>
                  <a:pt x="974034" y="1197113"/>
                  <a:pt x="1031461" y="956365"/>
                  <a:pt x="861391" y="715617"/>
                </a:cubicBezTo>
                <a:cubicBezTo>
                  <a:pt x="691321" y="474869"/>
                  <a:pt x="0" y="0"/>
                  <a:pt x="0" y="0"/>
                </a:cubicBezTo>
              </a:path>
            </a:pathLst>
          </a:custGeom>
          <a:noFill/>
          <a:ln w="19050" algn="ctr">
            <a:solidFill>
              <a:srgbClr val="30B5C5"/>
            </a:solidFill>
            <a:prstDash val="solid"/>
            <a:round/>
            <a:headEnd type="none" w="med" len="med"/>
            <a:tailEnd type="triangle" w="med" len="med"/>
          </a:ln>
        </p:spPr>
        <p:txBody>
          <a:bodyPr rtlCol="0" anchor="ctr"/>
          <a:lstStyle/>
          <a:p>
            <a:pPr algn="ctr"/>
            <a:endParaRPr lang="zh-CN" altLang="en-US">
              <a:solidFill>
                <a:schemeClr val="tx1"/>
              </a:solidFill>
            </a:endParaRPr>
          </a:p>
        </p:txBody>
      </p:sp>
      <p:grpSp>
        <p:nvGrpSpPr>
          <p:cNvPr id="66" name="组合 28"/>
          <p:cNvGrpSpPr/>
          <p:nvPr/>
        </p:nvGrpSpPr>
        <p:grpSpPr bwMode="gray">
          <a:xfrm rot="5059603">
            <a:off x="9702534" y="3586927"/>
            <a:ext cx="273362" cy="273362"/>
            <a:chOff x="5076056" y="3356992"/>
            <a:chExt cx="436268" cy="436268"/>
          </a:xfrm>
        </p:grpSpPr>
        <p:sp>
          <p:nvSpPr>
            <p:cNvPr id="67"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Arial" charset="0"/>
                <a:ea typeface="ＭＳ Ｐゴシック" pitchFamily="34" charset="-128"/>
              </a:endParaRPr>
            </a:p>
          </p:txBody>
        </p:sp>
        <p:sp>
          <p:nvSpPr>
            <p:cNvPr id="68" name="禁止符 23"/>
            <p:cNvSpPr/>
            <p:nvPr/>
          </p:nvSpPr>
          <p:spPr bwMode="gray">
            <a:xfrm>
              <a:off x="5076056" y="3356992"/>
              <a:ext cx="436268" cy="436268"/>
            </a:xfrm>
            <a:prstGeom prst="noSmoking">
              <a:avLst>
                <a:gd name="adj" fmla="val 15475"/>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spTree>
    <p:extLst>
      <p:ext uri="{BB962C8B-B14F-4D97-AF65-F5344CB8AC3E}">
        <p14:creationId xmlns:p14="http://schemas.microsoft.com/office/powerpoint/2010/main" val="3547760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bwMode="gray">
          <a:xfrm>
            <a:off x="5869203" y="5383511"/>
            <a:ext cx="1491225" cy="583298"/>
          </a:xfrm>
          <a:prstGeom prst="round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bwMode="gray"/>
        <p:txBody>
          <a:bodyPr>
            <a:normAutofit/>
          </a:bodyPr>
          <a:lstStyle/>
          <a:p>
            <a:r>
              <a:rPr lang="zh-CN" altLang="en-US" dirty="0"/>
              <a:t>业务随行的基本概念：资源组</a:t>
            </a:r>
          </a:p>
        </p:txBody>
      </p:sp>
      <p:sp>
        <p:nvSpPr>
          <p:cNvPr id="4" name="圆角矩形 75"/>
          <p:cNvSpPr/>
          <p:nvPr/>
        </p:nvSpPr>
        <p:spPr bwMode="gray">
          <a:xfrm>
            <a:off x="837365" y="1047850"/>
            <a:ext cx="10491511" cy="395245"/>
          </a:xfrm>
          <a:prstGeom prst="roundRect">
            <a:avLst>
              <a:gd name="adj" fmla="val 10604"/>
            </a:avLst>
          </a:prstGeom>
          <a:gradFill>
            <a:gsLst>
              <a:gs pos="0">
                <a:schemeClr val="bg1"/>
              </a:gs>
              <a:gs pos="100000">
                <a:schemeClr val="bg1">
                  <a:lumMod val="95000"/>
                </a:schemeClr>
              </a:gs>
            </a:gsLst>
            <a:lin ang="5400000" scaled="1"/>
          </a:gra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安全组的不足</a:t>
            </a:r>
          </a:p>
        </p:txBody>
      </p:sp>
      <p:sp>
        <p:nvSpPr>
          <p:cNvPr id="5" name="圆角矩形 75"/>
          <p:cNvSpPr/>
          <p:nvPr/>
        </p:nvSpPr>
        <p:spPr bwMode="gray">
          <a:xfrm>
            <a:off x="837365" y="1494144"/>
            <a:ext cx="10491511" cy="1139874"/>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对于静态的服务器资源，可以通过在安全组中绑定</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地址段的方式呈现（静态安全组），安全组和</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地址的静态绑定关系最终会通过</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NETCONF</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协议下发到设备上。</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但是对于使用相同</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地址的不同服务资源，无法通过静态安全组进行区分。</a:t>
            </a:r>
          </a:p>
        </p:txBody>
      </p:sp>
      <p:sp>
        <p:nvSpPr>
          <p:cNvPr id="6" name="下箭头 63"/>
          <p:cNvSpPr/>
          <p:nvPr/>
        </p:nvSpPr>
        <p:spPr bwMode="gray">
          <a:xfrm rot="10800000" flipV="1">
            <a:off x="3373193" y="2669373"/>
            <a:ext cx="5445614" cy="854977"/>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BEE9EE"/>
              </a:gs>
              <a:gs pos="100000">
                <a:schemeClr val="bg1">
                  <a:alpha val="0"/>
                </a:schemeClr>
              </a:gs>
            </a:gsLst>
            <a:lin ang="16200000" scaled="1"/>
            <a:tileRect/>
          </a:gradFill>
          <a:ln w="19050">
            <a:gradFill flip="none" rotWithShape="1">
              <a:gsLst>
                <a:gs pos="100000">
                  <a:schemeClr val="bg1">
                    <a:lumMod val="100000"/>
                    <a:alpha val="0"/>
                  </a:schemeClr>
                </a:gs>
                <a:gs pos="31000">
                  <a:srgbClr val="56C4D2"/>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4977784" y="2683545"/>
            <a:ext cx="2236432" cy="553998"/>
          </a:xfrm>
          <a:prstGeom prst="rect">
            <a:avLst/>
          </a:prstGeom>
        </p:spPr>
        <p:txBody>
          <a:bodyPr wrap="square">
            <a:spAutoFit/>
          </a:bodyPr>
          <a:lstStyle/>
          <a:p>
            <a:pPr algn="ctr"/>
            <a:r>
              <a:rPr lang="zh-CN" altLang="en-US" sz="1600" dirty="0">
                <a:solidFill>
                  <a:srgbClr val="30B5C5"/>
                </a:solidFill>
              </a:rPr>
              <a:t>资源组</a:t>
            </a:r>
            <a:endParaRPr lang="en-US" altLang="zh-CN" sz="1600" dirty="0">
              <a:solidFill>
                <a:srgbClr val="30B5C5"/>
              </a:solidFill>
            </a:endParaRPr>
          </a:p>
          <a:p>
            <a:pPr algn="ctr"/>
            <a:r>
              <a:rPr lang="zh-CN" altLang="en-US" sz="1400" dirty="0">
                <a:solidFill>
                  <a:srgbClr val="30B5C5"/>
                </a:solidFill>
              </a:rPr>
              <a:t>可以解决这个问题</a:t>
            </a:r>
            <a:endParaRPr lang="en-US" altLang="zh-CN" sz="1400" dirty="0">
              <a:solidFill>
                <a:srgbClr val="30B5C5"/>
              </a:solidFill>
            </a:endParaRPr>
          </a:p>
        </p:txBody>
      </p:sp>
      <p:sp>
        <p:nvSpPr>
          <p:cNvPr id="8" name="圆角矩形 75"/>
          <p:cNvSpPr/>
          <p:nvPr/>
        </p:nvSpPr>
        <p:spPr bwMode="gray">
          <a:xfrm>
            <a:off x="850244" y="3575399"/>
            <a:ext cx="4500049"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资源组</a:t>
            </a:r>
          </a:p>
        </p:txBody>
      </p:sp>
      <p:sp>
        <p:nvSpPr>
          <p:cNvPr id="9" name="圆角矩形 75"/>
          <p:cNvSpPr/>
          <p:nvPr/>
        </p:nvSpPr>
        <p:spPr bwMode="gray">
          <a:xfrm>
            <a:off x="850244" y="4021693"/>
            <a:ext cx="4500049" cy="2179082"/>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资源组之间允许</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地址重复；</a:t>
            </a:r>
          </a:p>
          <a:p>
            <a:pPr marL="285750" indent="-285750">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在配置策略控制矩阵时，资源组只能作为策略的目的组（不支持作为源组）；</a:t>
            </a:r>
          </a:p>
          <a:p>
            <a:pPr marL="285750" indent="-285750">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策略下发的时候，针对交换机设备，需要分解成对应的</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地址下发，而不是使用安全组（</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UCL</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组）模型。</a:t>
            </a:r>
          </a:p>
        </p:txBody>
      </p:sp>
      <p:sp>
        <p:nvSpPr>
          <p:cNvPr id="19" name="Freeform 159"/>
          <p:cNvSpPr/>
          <p:nvPr/>
        </p:nvSpPr>
        <p:spPr bwMode="gray">
          <a:xfrm flipH="1">
            <a:off x="5989773" y="4280507"/>
            <a:ext cx="1406196" cy="735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dirty="0">
                <a:solidFill>
                  <a:schemeClr val="bg1">
                    <a:lumMod val="50000"/>
                  </a:schemeClr>
                </a:solidFill>
              </a:rPr>
              <a:t>园区网络</a:t>
            </a:r>
            <a:endParaRPr lang="en-US" sz="1400" dirty="0">
              <a:solidFill>
                <a:schemeClr val="bg1">
                  <a:lumMod val="50000"/>
                </a:schemeClr>
              </a:solidFill>
            </a:endParaRPr>
          </a:p>
        </p:txBody>
      </p:sp>
      <p:pic>
        <p:nvPicPr>
          <p:cNvPr id="20" name="图片 72" descr="交换机.png"/>
          <p:cNvPicPr>
            <a:picLocks noChangeAspect="1"/>
          </p:cNvPicPr>
          <p:nvPr/>
        </p:nvPicPr>
        <p:blipFill>
          <a:blip r:embed="rId3" cstate="print"/>
          <a:stretch>
            <a:fillRect/>
          </a:stretch>
        </p:blipFill>
        <p:spPr bwMode="gray">
          <a:xfrm>
            <a:off x="6897175" y="4020141"/>
            <a:ext cx="444855" cy="365179"/>
          </a:xfrm>
          <a:prstGeom prst="rect">
            <a:avLst/>
          </a:prstGeom>
        </p:spPr>
      </p:pic>
      <p:sp>
        <p:nvSpPr>
          <p:cNvPr id="23" name="文本框 22"/>
          <p:cNvSpPr txBox="1"/>
          <p:nvPr/>
        </p:nvSpPr>
        <p:spPr bwMode="gray">
          <a:xfrm>
            <a:off x="6549276" y="3717658"/>
            <a:ext cx="1117614" cy="307777"/>
          </a:xfrm>
          <a:prstGeom prst="rect">
            <a:avLst/>
          </a:prstGeom>
          <a:noFill/>
        </p:spPr>
        <p:txBody>
          <a:bodyPr wrap="none" rtlCol="0">
            <a:spAutoFit/>
          </a:bodyPr>
          <a:lstStyle/>
          <a:p>
            <a:pPr algn="ctr"/>
            <a:r>
              <a:rPr lang="en-US" altLang="zh-CN" sz="1400" dirty="0"/>
              <a:t>192.168.1.1</a:t>
            </a:r>
            <a:endParaRPr lang="zh-CN" altLang="en-US" sz="1400" dirty="0"/>
          </a:p>
        </p:txBody>
      </p:sp>
      <p:pic>
        <p:nvPicPr>
          <p:cNvPr id="26" name="图片 76" descr="接入交换机.png"/>
          <p:cNvPicPr>
            <a:picLocks noChangeAspect="1"/>
          </p:cNvPicPr>
          <p:nvPr/>
        </p:nvPicPr>
        <p:blipFill>
          <a:blip r:embed="rId4" cstate="print"/>
          <a:stretch>
            <a:fillRect/>
          </a:stretch>
        </p:blipFill>
        <p:spPr bwMode="gray">
          <a:xfrm>
            <a:off x="6456762" y="4854454"/>
            <a:ext cx="392562" cy="321187"/>
          </a:xfrm>
          <a:prstGeom prst="rect">
            <a:avLst/>
          </a:prstGeom>
        </p:spPr>
      </p:pic>
      <p:pic>
        <p:nvPicPr>
          <p:cNvPr id="32" name="图片 11" descr="开放网络-蓝.png"/>
          <p:cNvPicPr>
            <a:picLocks noChangeAspect="1"/>
          </p:cNvPicPr>
          <p:nvPr/>
        </p:nvPicPr>
        <p:blipFill>
          <a:blip r:embed="rId5" cstate="print"/>
          <a:stretch>
            <a:fillRect/>
          </a:stretch>
        </p:blipFill>
        <p:spPr bwMode="gray">
          <a:xfrm>
            <a:off x="6145736" y="5443004"/>
            <a:ext cx="365975" cy="281722"/>
          </a:xfrm>
          <a:prstGeom prst="rect">
            <a:avLst/>
          </a:prstGeom>
        </p:spPr>
      </p:pic>
      <p:sp>
        <p:nvSpPr>
          <p:cNvPr id="47" name="文本框 46"/>
          <p:cNvSpPr txBox="1"/>
          <p:nvPr/>
        </p:nvSpPr>
        <p:spPr bwMode="gray">
          <a:xfrm>
            <a:off x="6363798" y="5719762"/>
            <a:ext cx="492443" cy="276999"/>
          </a:xfrm>
          <a:prstGeom prst="rect">
            <a:avLst/>
          </a:prstGeom>
          <a:noFill/>
        </p:spPr>
        <p:txBody>
          <a:bodyPr wrap="none" rtlCol="0">
            <a:spAutoFit/>
          </a:bodyPr>
          <a:lstStyle/>
          <a:p>
            <a:pPr algn="ctr"/>
            <a:r>
              <a:rPr lang="zh-CN" altLang="en-US" sz="1200" dirty="0"/>
              <a:t>访客</a:t>
            </a:r>
          </a:p>
        </p:txBody>
      </p:sp>
      <p:sp>
        <p:nvSpPr>
          <p:cNvPr id="52" name="文本框 51"/>
          <p:cNvSpPr txBox="1"/>
          <p:nvPr/>
        </p:nvSpPr>
        <p:spPr bwMode="gray">
          <a:xfrm>
            <a:off x="7339235" y="3930651"/>
            <a:ext cx="1024639" cy="553998"/>
          </a:xfrm>
          <a:prstGeom prst="rect">
            <a:avLst/>
          </a:prstGeom>
          <a:noFill/>
        </p:spPr>
        <p:txBody>
          <a:bodyPr wrap="none" rtlCol="0">
            <a:spAutoFit/>
          </a:bodyPr>
          <a:lstStyle/>
          <a:p>
            <a:pPr>
              <a:lnSpc>
                <a:spcPct val="125000"/>
              </a:lnSpc>
            </a:pPr>
            <a:r>
              <a:rPr lang="en-US" altLang="zh-CN" sz="1200" dirty="0"/>
              <a:t>HTTP</a:t>
            </a:r>
            <a:r>
              <a:rPr lang="zh-CN" altLang="en-US" sz="1200" dirty="0"/>
              <a:t>服务器</a:t>
            </a:r>
            <a:endParaRPr lang="en-US" altLang="zh-CN" sz="1200" dirty="0"/>
          </a:p>
          <a:p>
            <a:pPr>
              <a:lnSpc>
                <a:spcPct val="125000"/>
              </a:lnSpc>
            </a:pPr>
            <a:r>
              <a:rPr lang="en-US" altLang="zh-CN" sz="1200" dirty="0"/>
              <a:t>DNS</a:t>
            </a:r>
            <a:r>
              <a:rPr lang="zh-CN" altLang="en-US" sz="1200" dirty="0"/>
              <a:t>服务器</a:t>
            </a:r>
          </a:p>
        </p:txBody>
      </p:sp>
      <p:graphicFrame>
        <p:nvGraphicFramePr>
          <p:cNvPr id="54" name="Table 68"/>
          <p:cNvGraphicFramePr>
            <a:graphicFrameLocks noGrp="1"/>
          </p:cNvGraphicFramePr>
          <p:nvPr>
            <p:extLst>
              <p:ext uri="{D42A27DB-BD31-4B8C-83A1-F6EECF244321}">
                <p14:modId xmlns:p14="http://schemas.microsoft.com/office/powerpoint/2010/main" val="1686207429"/>
              </p:ext>
            </p:extLst>
          </p:nvPr>
        </p:nvGraphicFramePr>
        <p:xfrm>
          <a:off x="8432292" y="5219733"/>
          <a:ext cx="2938150" cy="822960"/>
        </p:xfrm>
        <a:graphic>
          <a:graphicData uri="http://schemas.openxmlformats.org/drawingml/2006/table">
            <a:tbl>
              <a:tblPr firstRow="1" bandRow="1">
                <a:tableStyleId>{5940675A-B579-460E-94D1-54222C63F5DA}</a:tableStyleId>
              </a:tblPr>
              <a:tblGrid>
                <a:gridCol w="920059">
                  <a:extLst>
                    <a:ext uri="{9D8B030D-6E8A-4147-A177-3AD203B41FA5}">
                      <a16:colId xmlns:a16="http://schemas.microsoft.com/office/drawing/2014/main" val="20000"/>
                    </a:ext>
                  </a:extLst>
                </a:gridCol>
                <a:gridCol w="920059">
                  <a:extLst>
                    <a:ext uri="{9D8B030D-6E8A-4147-A177-3AD203B41FA5}">
                      <a16:colId xmlns:a16="http://schemas.microsoft.com/office/drawing/2014/main" val="20001"/>
                    </a:ext>
                  </a:extLst>
                </a:gridCol>
                <a:gridCol w="1098032">
                  <a:extLst>
                    <a:ext uri="{9D8B030D-6E8A-4147-A177-3AD203B41FA5}">
                      <a16:colId xmlns:a16="http://schemas.microsoft.com/office/drawing/2014/main" val="20002"/>
                    </a:ext>
                  </a:extLst>
                </a:gridCol>
              </a:tblGrid>
              <a:tr h="0">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组类型</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组名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资源组</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DNS</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192.168.1.1</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资源组</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HTTP</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192.168.1.1</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5" name="文本框 54"/>
          <p:cNvSpPr txBox="1"/>
          <p:nvPr/>
        </p:nvSpPr>
        <p:spPr bwMode="gray">
          <a:xfrm>
            <a:off x="8334005" y="4911956"/>
            <a:ext cx="902811" cy="307777"/>
          </a:xfrm>
          <a:prstGeom prst="rect">
            <a:avLst/>
          </a:prstGeom>
          <a:noFill/>
        </p:spPr>
        <p:txBody>
          <a:bodyPr wrap="none" rtlCol="0">
            <a:spAutoFit/>
          </a:bodyPr>
          <a:lstStyle/>
          <a:p>
            <a:pPr algn="ctr"/>
            <a:r>
              <a:rPr lang="zh-CN" altLang="en-US" sz="1400" b="1" dirty="0"/>
              <a:t>资源组：</a:t>
            </a:r>
          </a:p>
        </p:txBody>
      </p:sp>
      <p:pic>
        <p:nvPicPr>
          <p:cNvPr id="56" name="图片 55" descr="日志告警服务器-蓝.png"/>
          <p:cNvPicPr>
            <a:picLocks noChangeAspect="1"/>
          </p:cNvPicPr>
          <p:nvPr/>
        </p:nvPicPr>
        <p:blipFill>
          <a:blip r:embed="rId6" cstate="print"/>
          <a:stretch>
            <a:fillRect/>
          </a:stretch>
        </p:blipFill>
        <p:spPr bwMode="gray">
          <a:xfrm>
            <a:off x="6712176" y="5456449"/>
            <a:ext cx="429640" cy="268277"/>
          </a:xfrm>
          <a:prstGeom prst="rect">
            <a:avLst/>
          </a:prstGeom>
        </p:spPr>
      </p:pic>
      <p:sp>
        <p:nvSpPr>
          <p:cNvPr id="11" name="任意多边形 10"/>
          <p:cNvSpPr/>
          <p:nvPr/>
        </p:nvSpPr>
        <p:spPr bwMode="gray">
          <a:xfrm>
            <a:off x="6370443" y="4121218"/>
            <a:ext cx="970961" cy="1244338"/>
          </a:xfrm>
          <a:custGeom>
            <a:avLst/>
            <a:gdLst>
              <a:gd name="connsiteX0" fmla="*/ 0 w 970961"/>
              <a:gd name="connsiteY0" fmla="*/ 1244338 h 1244338"/>
              <a:gd name="connsiteX1" fmla="*/ 273378 w 970961"/>
              <a:gd name="connsiteY1" fmla="*/ 358218 h 1244338"/>
              <a:gd name="connsiteX2" fmla="*/ 970961 w 970961"/>
              <a:gd name="connsiteY2" fmla="*/ 0 h 1244338"/>
            </a:gdLst>
            <a:ahLst/>
            <a:cxnLst>
              <a:cxn ang="0">
                <a:pos x="connsiteX0" y="connsiteY0"/>
              </a:cxn>
              <a:cxn ang="0">
                <a:pos x="connsiteX1" y="connsiteY1"/>
              </a:cxn>
              <a:cxn ang="0">
                <a:pos x="connsiteX2" y="connsiteY2"/>
              </a:cxn>
            </a:cxnLst>
            <a:rect l="l" t="t" r="r" b="b"/>
            <a:pathLst>
              <a:path w="970961" h="1244338">
                <a:moveTo>
                  <a:pt x="0" y="1244338"/>
                </a:moveTo>
                <a:cubicBezTo>
                  <a:pt x="55775" y="904973"/>
                  <a:pt x="111551" y="565608"/>
                  <a:pt x="273378" y="358218"/>
                </a:cubicBezTo>
                <a:cubicBezTo>
                  <a:pt x="435205" y="150828"/>
                  <a:pt x="703083" y="75414"/>
                  <a:pt x="970961" y="0"/>
                </a:cubicBezTo>
              </a:path>
            </a:pathLst>
          </a:custGeom>
          <a:noFill/>
          <a:ln w="19050" algn="ctr">
            <a:solidFill>
              <a:srgbClr val="30B5C5"/>
            </a:solidFill>
            <a:prstDash val="solid"/>
            <a:round/>
            <a:headEnd type="none" w="med" len="med"/>
            <a:tailEnd type="triangle" w="med" len="med"/>
          </a:ln>
        </p:spPr>
        <p:txBody>
          <a:bodyPr rtlCol="0" anchor="ctr"/>
          <a:lstStyle/>
          <a:p>
            <a:pPr algn="ctr"/>
            <a:endParaRPr lang="zh-CN" altLang="en-US">
              <a:solidFill>
                <a:schemeClr val="tx1"/>
              </a:solidFill>
            </a:endParaRPr>
          </a:p>
        </p:txBody>
      </p:sp>
      <p:grpSp>
        <p:nvGrpSpPr>
          <p:cNvPr id="43" name="组合 42"/>
          <p:cNvGrpSpPr>
            <a:grpSpLocks noChangeAspect="1"/>
          </p:cNvGrpSpPr>
          <p:nvPr/>
        </p:nvGrpSpPr>
        <p:grpSpPr bwMode="gray">
          <a:xfrm>
            <a:off x="6574997" y="4297344"/>
            <a:ext cx="217128" cy="217128"/>
            <a:chOff x="10441953" y="5633214"/>
            <a:chExt cx="264000" cy="264000"/>
          </a:xfrm>
          <a:solidFill>
            <a:srgbClr val="30B5C5"/>
          </a:solidFill>
        </p:grpSpPr>
        <p:sp>
          <p:nvSpPr>
            <p:cNvPr id="44" name="椭圆 43"/>
            <p:cNvSpPr>
              <a:spLocks noChangeAspect="1"/>
            </p:cNvSpPr>
            <p:nvPr/>
          </p:nvSpPr>
          <p:spPr bwMode="gray">
            <a:xfrm>
              <a:off x="10441953" y="5633214"/>
              <a:ext cx="264000" cy="26400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endParaRPr>
            </a:p>
          </p:txBody>
        </p:sp>
        <p:sp>
          <p:nvSpPr>
            <p:cNvPr id="45" name="任意多边形 44"/>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grp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endParaRPr>
            </a:p>
          </p:txBody>
        </p:sp>
      </p:grpSp>
      <p:sp>
        <p:nvSpPr>
          <p:cNvPr id="61" name="圆角矩形 75"/>
          <p:cNvSpPr/>
          <p:nvPr/>
        </p:nvSpPr>
        <p:spPr bwMode="gray">
          <a:xfrm>
            <a:off x="8418398" y="3550956"/>
            <a:ext cx="2927876" cy="941886"/>
          </a:xfrm>
          <a:prstGeom prst="wedgeRoundRectCallout">
            <a:avLst>
              <a:gd name="adj1" fmla="val -55092"/>
              <a:gd name="adj2" fmla="val 21785"/>
              <a:gd name="adj3" fmla="val 16667"/>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lstStyle/>
          <a:p>
            <a:pPr marL="285750" indent="-285750">
              <a:lnSpc>
                <a:spcPct val="125000"/>
              </a:lnSpc>
              <a:spcAft>
                <a:spcPts val="600"/>
              </a:spcAft>
              <a:buFont typeface="Arial" panose="020B0604020202020204" pitchFamily="34" charset="0"/>
              <a:buChar char="•"/>
            </a:pP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地址为</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192.168.1.1</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的服务器，同时提供</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DNS</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a:t>
            </a: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HTTP</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两种服务。</a:t>
            </a:r>
            <a:endPar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a:lnSpc>
                <a:spcPct val="125000"/>
              </a:lnSpc>
              <a:spcAft>
                <a:spcPts val="600"/>
              </a:spcAft>
              <a:buFont typeface="Arial" panose="020B0604020202020204" pitchFamily="34" charset="0"/>
              <a:buChar char="•"/>
            </a:pP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可以通过部署资源组区分两种服务。</a:t>
            </a:r>
          </a:p>
        </p:txBody>
      </p:sp>
    </p:spTree>
    <p:extLst>
      <p:ext uri="{BB962C8B-B14F-4D97-AF65-F5344CB8AC3E}">
        <p14:creationId xmlns:p14="http://schemas.microsoft.com/office/powerpoint/2010/main" val="11081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业务随行的基本概念：策略控制矩阵</a:t>
            </a:r>
          </a:p>
        </p:txBody>
      </p:sp>
      <p:sp>
        <p:nvSpPr>
          <p:cNvPr id="4" name="文本占位符 3"/>
          <p:cNvSpPr>
            <a:spLocks noGrp="1"/>
          </p:cNvSpPr>
          <p:nvPr>
            <p:ph type="body" sz="quarter" idx="10"/>
          </p:nvPr>
        </p:nvSpPr>
        <p:spPr bwMode="gray">
          <a:xfrm>
            <a:off x="455613" y="1047751"/>
            <a:ext cx="11256962" cy="1063358"/>
          </a:xfrm>
        </p:spPr>
        <p:txBody>
          <a:bodyPr/>
          <a:lstStyle/>
          <a:p>
            <a:r>
              <a:rPr lang="zh-CN" altLang="en-US" sz="2000" dirty="0"/>
              <a:t>安全组定义完成之后，管理员就可以基于组来定义全网的组间策略。</a:t>
            </a:r>
          </a:p>
          <a:p>
            <a:r>
              <a:rPr lang="zh-CN" altLang="en-US" sz="2000" dirty="0"/>
              <a:t>策略控制矩阵是用于承载组间策略的配置，组间策略主要控制组到组之间的访问权限。</a:t>
            </a:r>
          </a:p>
        </p:txBody>
      </p:sp>
      <p:sp>
        <p:nvSpPr>
          <p:cNvPr id="32" name="Freeform 159"/>
          <p:cNvSpPr/>
          <p:nvPr/>
        </p:nvSpPr>
        <p:spPr bwMode="gray">
          <a:xfrm flipH="1">
            <a:off x="1929803" y="3361489"/>
            <a:ext cx="2808994" cy="14683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600">
                <a:solidFill>
                  <a:schemeClr val="bg1">
                    <a:lumMod val="50000"/>
                  </a:schemeClr>
                </a:solidFill>
              </a:rPr>
              <a:t>园区网络</a:t>
            </a:r>
            <a:endParaRPr lang="en-US" sz="1600">
              <a:solidFill>
                <a:schemeClr val="bg1">
                  <a:lumMod val="50000"/>
                </a:schemeClr>
              </a:solidFill>
            </a:endParaRPr>
          </a:p>
        </p:txBody>
      </p:sp>
      <p:pic>
        <p:nvPicPr>
          <p:cNvPr id="33" name="图片 72" descr="交换机.png"/>
          <p:cNvPicPr>
            <a:picLocks noChangeAspect="1"/>
          </p:cNvPicPr>
          <p:nvPr/>
        </p:nvPicPr>
        <p:blipFill>
          <a:blip r:embed="rId3" cstate="print"/>
          <a:stretch>
            <a:fillRect/>
          </a:stretch>
        </p:blipFill>
        <p:spPr bwMode="gray">
          <a:xfrm>
            <a:off x="2140050" y="2527071"/>
            <a:ext cx="489285" cy="401651"/>
          </a:xfrm>
          <a:prstGeom prst="rect">
            <a:avLst/>
          </a:prstGeom>
        </p:spPr>
      </p:pic>
      <p:pic>
        <p:nvPicPr>
          <p:cNvPr id="34" name="图片 72" descr="交换机.png"/>
          <p:cNvPicPr>
            <a:picLocks noChangeAspect="1"/>
          </p:cNvPicPr>
          <p:nvPr/>
        </p:nvPicPr>
        <p:blipFill>
          <a:blip r:embed="rId3" cstate="print"/>
          <a:stretch>
            <a:fillRect/>
          </a:stretch>
        </p:blipFill>
        <p:spPr bwMode="gray">
          <a:xfrm>
            <a:off x="3220258" y="2527071"/>
            <a:ext cx="489285" cy="401651"/>
          </a:xfrm>
          <a:prstGeom prst="rect">
            <a:avLst/>
          </a:prstGeom>
        </p:spPr>
      </p:pic>
      <p:pic>
        <p:nvPicPr>
          <p:cNvPr id="35" name="图片 72" descr="交换机.png"/>
          <p:cNvPicPr>
            <a:picLocks noChangeAspect="1"/>
          </p:cNvPicPr>
          <p:nvPr/>
        </p:nvPicPr>
        <p:blipFill>
          <a:blip r:embed="rId3" cstate="print"/>
          <a:stretch>
            <a:fillRect/>
          </a:stretch>
        </p:blipFill>
        <p:spPr bwMode="gray">
          <a:xfrm>
            <a:off x="4302805" y="2527071"/>
            <a:ext cx="489285" cy="401651"/>
          </a:xfrm>
          <a:prstGeom prst="rect">
            <a:avLst/>
          </a:prstGeom>
        </p:spPr>
      </p:pic>
      <p:sp>
        <p:nvSpPr>
          <p:cNvPr id="36" name="文本框 35"/>
          <p:cNvSpPr txBox="1"/>
          <p:nvPr/>
        </p:nvSpPr>
        <p:spPr bwMode="gray">
          <a:xfrm>
            <a:off x="1873975" y="2169557"/>
            <a:ext cx="1021433" cy="307777"/>
          </a:xfrm>
          <a:prstGeom prst="rect">
            <a:avLst/>
          </a:prstGeom>
          <a:noFill/>
        </p:spPr>
        <p:txBody>
          <a:bodyPr wrap="none" rtlCol="0">
            <a:spAutoFit/>
          </a:bodyPr>
          <a:lstStyle/>
          <a:p>
            <a:pPr algn="ctr"/>
            <a:r>
              <a:rPr lang="en-US" altLang="zh-CN" sz="1400"/>
              <a:t>FTP</a:t>
            </a:r>
            <a:r>
              <a:rPr lang="zh-CN" altLang="en-US" sz="1400"/>
              <a:t>服务器</a:t>
            </a:r>
            <a:endParaRPr lang="zh-CN" altLang="en-US" sz="1400" dirty="0"/>
          </a:p>
        </p:txBody>
      </p:sp>
      <p:sp>
        <p:nvSpPr>
          <p:cNvPr id="37" name="文本框 36"/>
          <p:cNvSpPr txBox="1"/>
          <p:nvPr/>
        </p:nvSpPr>
        <p:spPr bwMode="gray">
          <a:xfrm>
            <a:off x="2884762" y="2169557"/>
            <a:ext cx="1103187" cy="307777"/>
          </a:xfrm>
          <a:prstGeom prst="rect">
            <a:avLst/>
          </a:prstGeom>
          <a:noFill/>
        </p:spPr>
        <p:txBody>
          <a:bodyPr wrap="none" rtlCol="0">
            <a:spAutoFit/>
          </a:bodyPr>
          <a:lstStyle/>
          <a:p>
            <a:pPr algn="ctr"/>
            <a:r>
              <a:rPr lang="en-US" altLang="zh-CN" sz="1400"/>
              <a:t>WEB</a:t>
            </a:r>
            <a:r>
              <a:rPr lang="zh-CN" altLang="en-US" sz="1400"/>
              <a:t>服务器</a:t>
            </a:r>
            <a:endParaRPr lang="zh-CN" altLang="en-US" sz="1400" dirty="0"/>
          </a:p>
        </p:txBody>
      </p:sp>
      <p:sp>
        <p:nvSpPr>
          <p:cNvPr id="38" name="文本框 37"/>
          <p:cNvSpPr txBox="1"/>
          <p:nvPr/>
        </p:nvSpPr>
        <p:spPr bwMode="gray">
          <a:xfrm>
            <a:off x="4006274" y="2169557"/>
            <a:ext cx="1082348" cy="307777"/>
          </a:xfrm>
          <a:prstGeom prst="rect">
            <a:avLst/>
          </a:prstGeom>
          <a:noFill/>
        </p:spPr>
        <p:txBody>
          <a:bodyPr wrap="none" rtlCol="0">
            <a:spAutoFit/>
          </a:bodyPr>
          <a:lstStyle/>
          <a:p>
            <a:pPr algn="ctr"/>
            <a:r>
              <a:rPr lang="zh-CN" altLang="en-US" sz="1400" dirty="0"/>
              <a:t>邮件服务器</a:t>
            </a:r>
          </a:p>
        </p:txBody>
      </p:sp>
      <p:pic>
        <p:nvPicPr>
          <p:cNvPr id="39" name="图片 76" descr="接入交换机.png"/>
          <p:cNvPicPr>
            <a:picLocks noChangeAspect="1"/>
          </p:cNvPicPr>
          <p:nvPr/>
        </p:nvPicPr>
        <p:blipFill>
          <a:blip r:embed="rId4" cstate="print"/>
          <a:stretch>
            <a:fillRect/>
          </a:stretch>
        </p:blipFill>
        <p:spPr bwMode="gray">
          <a:xfrm>
            <a:off x="2079703" y="4726296"/>
            <a:ext cx="490909" cy="401653"/>
          </a:xfrm>
          <a:prstGeom prst="rect">
            <a:avLst/>
          </a:prstGeom>
        </p:spPr>
      </p:pic>
      <p:pic>
        <p:nvPicPr>
          <p:cNvPr id="40" name="图片 105" descr="AP.png"/>
          <p:cNvPicPr>
            <a:picLocks noChangeAspect="1"/>
          </p:cNvPicPr>
          <p:nvPr/>
        </p:nvPicPr>
        <p:blipFill>
          <a:blip r:embed="rId5" cstate="print"/>
          <a:stretch>
            <a:fillRect/>
          </a:stretch>
        </p:blipFill>
        <p:spPr bwMode="gray">
          <a:xfrm>
            <a:off x="4233545" y="4726295"/>
            <a:ext cx="490909" cy="401653"/>
          </a:xfrm>
          <a:prstGeom prst="rect">
            <a:avLst/>
          </a:prstGeom>
        </p:spPr>
      </p:pic>
      <p:grpSp>
        <p:nvGrpSpPr>
          <p:cNvPr id="41" name="组合 758"/>
          <p:cNvGrpSpPr/>
          <p:nvPr/>
        </p:nvGrpSpPr>
        <p:grpSpPr bwMode="gray">
          <a:xfrm flipV="1">
            <a:off x="4360892" y="5194140"/>
            <a:ext cx="236214" cy="200032"/>
            <a:chOff x="7440613" y="4868863"/>
            <a:chExt cx="1019175" cy="828675"/>
          </a:xfrm>
          <a:solidFill>
            <a:schemeClr val="bg1">
              <a:lumMod val="50000"/>
            </a:schemeClr>
          </a:solidFill>
        </p:grpSpPr>
        <p:sp>
          <p:nvSpPr>
            <p:cNvPr id="42"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微软雅黑" panose="020B0503020204020204" pitchFamily="34" charset="-122"/>
                <a:ea typeface="微软雅黑" panose="020B0503020204020204" pitchFamily="34" charset="-122"/>
              </a:endParaRPr>
            </a:p>
          </p:txBody>
        </p:sp>
        <p:sp>
          <p:nvSpPr>
            <p:cNvPr id="43"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微软雅黑" panose="020B0503020204020204" pitchFamily="34" charset="-122"/>
                <a:ea typeface="微软雅黑" panose="020B0503020204020204" pitchFamily="34" charset="-122"/>
              </a:endParaRPr>
            </a:p>
          </p:txBody>
        </p:sp>
      </p:grpSp>
      <p:pic>
        <p:nvPicPr>
          <p:cNvPr id="44" name="图片 43" descr="日志告警服务器-蓝.png"/>
          <p:cNvPicPr>
            <a:picLocks noChangeAspect="1"/>
          </p:cNvPicPr>
          <p:nvPr/>
        </p:nvPicPr>
        <p:blipFill>
          <a:blip r:embed="rId6" cstate="print"/>
          <a:stretch>
            <a:fillRect/>
          </a:stretch>
        </p:blipFill>
        <p:spPr bwMode="gray">
          <a:xfrm>
            <a:off x="1791002" y="5625907"/>
            <a:ext cx="445956" cy="278465"/>
          </a:xfrm>
          <a:prstGeom prst="rect">
            <a:avLst/>
          </a:prstGeom>
        </p:spPr>
      </p:pic>
      <p:pic>
        <p:nvPicPr>
          <p:cNvPr id="45" name="图片 11" descr="开放网络-蓝.png"/>
          <p:cNvPicPr>
            <a:picLocks noChangeAspect="1"/>
          </p:cNvPicPr>
          <p:nvPr/>
        </p:nvPicPr>
        <p:blipFill>
          <a:blip r:embed="rId7" cstate="print"/>
          <a:stretch>
            <a:fillRect/>
          </a:stretch>
        </p:blipFill>
        <p:spPr bwMode="gray">
          <a:xfrm>
            <a:off x="2348174" y="5593494"/>
            <a:ext cx="445956" cy="343290"/>
          </a:xfrm>
          <a:prstGeom prst="rect">
            <a:avLst/>
          </a:prstGeom>
        </p:spPr>
      </p:pic>
      <p:pic>
        <p:nvPicPr>
          <p:cNvPr id="46" name="图片 47" descr="打印机.png"/>
          <p:cNvPicPr>
            <a:picLocks noChangeAspect="1"/>
          </p:cNvPicPr>
          <p:nvPr/>
        </p:nvPicPr>
        <p:blipFill>
          <a:blip r:embed="rId8" cstate="print"/>
          <a:stretch>
            <a:fillRect/>
          </a:stretch>
        </p:blipFill>
        <p:spPr bwMode="gray">
          <a:xfrm>
            <a:off x="1275435" y="5604207"/>
            <a:ext cx="404351" cy="321864"/>
          </a:xfrm>
          <a:prstGeom prst="rect">
            <a:avLst/>
          </a:prstGeom>
        </p:spPr>
      </p:pic>
      <p:pic>
        <p:nvPicPr>
          <p:cNvPr id="47" name="图片 42" descr="IP电话.png"/>
          <p:cNvPicPr>
            <a:picLocks noChangeAspect="1"/>
          </p:cNvPicPr>
          <p:nvPr/>
        </p:nvPicPr>
        <p:blipFill>
          <a:blip r:embed="rId9" cstate="print"/>
          <a:stretch>
            <a:fillRect/>
          </a:stretch>
        </p:blipFill>
        <p:spPr bwMode="gray">
          <a:xfrm>
            <a:off x="2905345" y="5592941"/>
            <a:ext cx="368791" cy="346698"/>
          </a:xfrm>
          <a:prstGeom prst="rect">
            <a:avLst/>
          </a:prstGeom>
        </p:spPr>
      </p:pic>
      <p:pic>
        <p:nvPicPr>
          <p:cNvPr id="48" name="图片 158" descr="SAN网络-蓝.png"/>
          <p:cNvPicPr>
            <a:picLocks noChangeAspect="1"/>
          </p:cNvPicPr>
          <p:nvPr/>
        </p:nvPicPr>
        <p:blipFill>
          <a:blip r:embed="rId10" cstate="print"/>
          <a:stretch>
            <a:fillRect/>
          </a:stretch>
        </p:blipFill>
        <p:spPr bwMode="gray">
          <a:xfrm>
            <a:off x="4397445" y="5567058"/>
            <a:ext cx="243218" cy="398465"/>
          </a:xfrm>
          <a:prstGeom prst="rect">
            <a:avLst/>
          </a:prstGeom>
        </p:spPr>
      </p:pic>
      <p:pic>
        <p:nvPicPr>
          <p:cNvPr id="49" name="图片 157" descr="故障链路.png"/>
          <p:cNvPicPr>
            <a:picLocks noChangeAspect="1"/>
          </p:cNvPicPr>
          <p:nvPr/>
        </p:nvPicPr>
        <p:blipFill>
          <a:blip r:embed="rId11" cstate="print"/>
          <a:stretch>
            <a:fillRect/>
          </a:stretch>
        </p:blipFill>
        <p:spPr bwMode="gray">
          <a:xfrm>
            <a:off x="3846206" y="5599899"/>
            <a:ext cx="446281" cy="332783"/>
          </a:xfrm>
          <a:prstGeom prst="rect">
            <a:avLst/>
          </a:prstGeom>
        </p:spPr>
      </p:pic>
      <p:pic>
        <p:nvPicPr>
          <p:cNvPr id="50" name="图片 14" descr="日志告警服务器-蓝.png"/>
          <p:cNvPicPr>
            <a:picLocks noChangeAspect="1"/>
          </p:cNvPicPr>
          <p:nvPr/>
        </p:nvPicPr>
        <p:blipFill>
          <a:blip r:embed="rId6" cstate="print"/>
          <a:stretch>
            <a:fillRect/>
          </a:stretch>
        </p:blipFill>
        <p:spPr bwMode="gray">
          <a:xfrm>
            <a:off x="4745621" y="5625907"/>
            <a:ext cx="445956" cy="278465"/>
          </a:xfrm>
          <a:prstGeom prst="rect">
            <a:avLst/>
          </a:prstGeom>
        </p:spPr>
      </p:pic>
      <p:sp>
        <p:nvSpPr>
          <p:cNvPr id="55" name="任意多边形 54"/>
          <p:cNvSpPr/>
          <p:nvPr/>
        </p:nvSpPr>
        <p:spPr bwMode="gray">
          <a:xfrm>
            <a:off x="3395640" y="2949285"/>
            <a:ext cx="1375549" cy="2524236"/>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5099"/>
              <a:gd name="connsiteY0" fmla="*/ 1174755 h 1174755"/>
              <a:gd name="connsiteX1" fmla="*/ 15099 w 15099"/>
              <a:gd name="connsiteY1" fmla="*/ 87837 h 1174755"/>
              <a:gd name="connsiteX0" fmla="*/ 532 w 1610"/>
              <a:gd name="connsiteY0" fmla="*/ 7111280 h 7111280"/>
              <a:gd name="connsiteX1" fmla="*/ 634 w 1610"/>
              <a:gd name="connsiteY1" fmla="*/ 16243 h 7111280"/>
              <a:gd name="connsiteX0" fmla="*/ 22899 w 26347"/>
              <a:gd name="connsiteY0" fmla="*/ 9977 h 9977"/>
              <a:gd name="connsiteX1" fmla="*/ 23533 w 26347"/>
              <a:gd name="connsiteY1" fmla="*/ 0 h 9977"/>
              <a:gd name="connsiteX0" fmla="*/ 14376 w 14617"/>
              <a:gd name="connsiteY0" fmla="*/ 10000 h 10000"/>
              <a:gd name="connsiteX1" fmla="*/ 14617 w 14617"/>
              <a:gd name="connsiteY1" fmla="*/ 0 h 10000"/>
              <a:gd name="connsiteX0" fmla="*/ 16982 w 16982"/>
              <a:gd name="connsiteY0" fmla="*/ 9895 h 9895"/>
              <a:gd name="connsiteX1" fmla="*/ 12980 w 16982"/>
              <a:gd name="connsiteY1" fmla="*/ 0 h 9895"/>
              <a:gd name="connsiteX0" fmla="*/ 10000 w 10000"/>
              <a:gd name="connsiteY0" fmla="*/ 10000 h 10000"/>
              <a:gd name="connsiteX1" fmla="*/ 7643 w 10000"/>
              <a:gd name="connsiteY1" fmla="*/ 0 h 10000"/>
              <a:gd name="connsiteX0" fmla="*/ 19406 w 19406"/>
              <a:gd name="connsiteY0" fmla="*/ 10107 h 10107"/>
              <a:gd name="connsiteX1" fmla="*/ 4765 w 19406"/>
              <a:gd name="connsiteY1" fmla="*/ 0 h 10107"/>
              <a:gd name="connsiteX0" fmla="*/ 14641 w 14641"/>
              <a:gd name="connsiteY0" fmla="*/ 10107 h 10107"/>
              <a:gd name="connsiteX1" fmla="*/ 0 w 14641"/>
              <a:gd name="connsiteY1" fmla="*/ 0 h 10107"/>
              <a:gd name="connsiteX0" fmla="*/ 28590 w 28590"/>
              <a:gd name="connsiteY0" fmla="*/ 9858 h 9858"/>
              <a:gd name="connsiteX1" fmla="*/ 0 w 28590"/>
              <a:gd name="connsiteY1" fmla="*/ 0 h 9858"/>
              <a:gd name="connsiteX0" fmla="*/ 10073 w 10073"/>
              <a:gd name="connsiteY0" fmla="*/ 9604 h 9604"/>
              <a:gd name="connsiteX1" fmla="*/ 0 w 10073"/>
              <a:gd name="connsiteY1" fmla="*/ 0 h 9604"/>
              <a:gd name="connsiteX0" fmla="*/ 10000 w 10000"/>
              <a:gd name="connsiteY0" fmla="*/ 10000 h 10000"/>
              <a:gd name="connsiteX1" fmla="*/ 0 w 10000"/>
              <a:gd name="connsiteY1" fmla="*/ 0 h 10000"/>
              <a:gd name="connsiteX0" fmla="*/ 10000 w 10153"/>
              <a:gd name="connsiteY0" fmla="*/ 10000 h 10000"/>
              <a:gd name="connsiteX1" fmla="*/ 0 w 10153"/>
              <a:gd name="connsiteY1" fmla="*/ 0 h 10000"/>
              <a:gd name="connsiteX0" fmla="*/ 10000 w 10000"/>
              <a:gd name="connsiteY0" fmla="*/ 10000 h 10000"/>
              <a:gd name="connsiteX1" fmla="*/ 0 w 10000"/>
              <a:gd name="connsiteY1" fmla="*/ 0 h 10000"/>
              <a:gd name="connsiteX0" fmla="*/ 10000 w 10183"/>
              <a:gd name="connsiteY0" fmla="*/ 10000 h 10000"/>
              <a:gd name="connsiteX1" fmla="*/ 0 w 10183"/>
              <a:gd name="connsiteY1" fmla="*/ 0 h 10000"/>
              <a:gd name="connsiteX0" fmla="*/ 6530 w 7979"/>
              <a:gd name="connsiteY0" fmla="*/ 9812 h 9812"/>
              <a:gd name="connsiteX1" fmla="*/ 0 w 7979"/>
              <a:gd name="connsiteY1" fmla="*/ 0 h 9812"/>
              <a:gd name="connsiteX0" fmla="*/ 8184 w 13033"/>
              <a:gd name="connsiteY0" fmla="*/ 10000 h 10000"/>
              <a:gd name="connsiteX1" fmla="*/ 0 w 13033"/>
              <a:gd name="connsiteY1" fmla="*/ 0 h 10000"/>
              <a:gd name="connsiteX0" fmla="*/ 9724 w 14038"/>
              <a:gd name="connsiteY0" fmla="*/ 10382 h 10382"/>
              <a:gd name="connsiteX1" fmla="*/ 0 w 14038"/>
              <a:gd name="connsiteY1" fmla="*/ 0 h 10382"/>
              <a:gd name="connsiteX0" fmla="*/ 9724 w 12812"/>
              <a:gd name="connsiteY0" fmla="*/ 10382 h 10382"/>
              <a:gd name="connsiteX1" fmla="*/ 0 w 12812"/>
              <a:gd name="connsiteY1" fmla="*/ 0 h 10382"/>
            </a:gdLst>
            <a:ahLst/>
            <a:cxnLst>
              <a:cxn ang="0">
                <a:pos x="connsiteX0" y="connsiteY0"/>
              </a:cxn>
              <a:cxn ang="0">
                <a:pos x="connsiteX1" y="connsiteY1"/>
              </a:cxn>
            </a:cxnLst>
            <a:rect l="l" t="t" r="r" b="b"/>
            <a:pathLst>
              <a:path w="12812" h="10382">
                <a:moveTo>
                  <a:pt x="9724" y="10382"/>
                </a:moveTo>
                <a:cubicBezTo>
                  <a:pt x="14185" y="8894"/>
                  <a:pt x="15914" y="1873"/>
                  <a:pt x="0" y="0"/>
                </a:cubicBezTo>
              </a:path>
            </a:pathLst>
          </a:custGeom>
          <a:noFill/>
          <a:ln w="19050" algn="ctr">
            <a:solidFill>
              <a:srgbClr val="30B5C5"/>
            </a:solidFill>
            <a:prstDash val="solid"/>
            <a:round/>
            <a:headEnd type="none" w="med" len="med"/>
            <a:tailEnd type="triangle" w="med" len="med"/>
          </a:ln>
        </p:spPr>
        <p:txBody>
          <a:bodyPr rtlCol="0" anchor="ctr"/>
          <a:lstStyle/>
          <a:p>
            <a:pPr algn="ctr"/>
            <a:endParaRPr lang="zh-CN" altLang="en-US"/>
          </a:p>
        </p:txBody>
      </p:sp>
      <p:grpSp>
        <p:nvGrpSpPr>
          <p:cNvPr id="56" name="组合 28"/>
          <p:cNvGrpSpPr/>
          <p:nvPr/>
        </p:nvGrpSpPr>
        <p:grpSpPr bwMode="gray">
          <a:xfrm rot="5059603">
            <a:off x="4351658" y="3547368"/>
            <a:ext cx="273362" cy="273362"/>
            <a:chOff x="5076056" y="3356992"/>
            <a:chExt cx="436268" cy="436268"/>
          </a:xfrm>
        </p:grpSpPr>
        <p:sp>
          <p:nvSpPr>
            <p:cNvPr id="57"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Arial" charset="0"/>
                <a:ea typeface="ＭＳ Ｐゴシック" pitchFamily="34" charset="-128"/>
              </a:endParaRPr>
            </a:p>
          </p:txBody>
        </p:sp>
        <p:sp>
          <p:nvSpPr>
            <p:cNvPr id="58" name="禁止符 23"/>
            <p:cNvSpPr/>
            <p:nvPr/>
          </p:nvSpPr>
          <p:spPr bwMode="gray">
            <a:xfrm>
              <a:off x="5076056" y="3356992"/>
              <a:ext cx="436268" cy="436268"/>
            </a:xfrm>
            <a:prstGeom prst="noSmoking">
              <a:avLst>
                <a:gd name="adj" fmla="val 15475"/>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sp>
        <p:nvSpPr>
          <p:cNvPr id="62" name="任意多边形 61"/>
          <p:cNvSpPr/>
          <p:nvPr/>
        </p:nvSpPr>
        <p:spPr bwMode="gray">
          <a:xfrm flipH="1">
            <a:off x="2279067" y="2936982"/>
            <a:ext cx="437280" cy="2593530"/>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5099"/>
              <a:gd name="connsiteY0" fmla="*/ 1174755 h 1174755"/>
              <a:gd name="connsiteX1" fmla="*/ 15099 w 15099"/>
              <a:gd name="connsiteY1" fmla="*/ 87837 h 1174755"/>
              <a:gd name="connsiteX0" fmla="*/ 532 w 1610"/>
              <a:gd name="connsiteY0" fmla="*/ 7111280 h 7111280"/>
              <a:gd name="connsiteX1" fmla="*/ 634 w 1610"/>
              <a:gd name="connsiteY1" fmla="*/ 16243 h 7111280"/>
              <a:gd name="connsiteX0" fmla="*/ 22899 w 26347"/>
              <a:gd name="connsiteY0" fmla="*/ 9977 h 9977"/>
              <a:gd name="connsiteX1" fmla="*/ 23533 w 26347"/>
              <a:gd name="connsiteY1" fmla="*/ 0 h 9977"/>
              <a:gd name="connsiteX0" fmla="*/ 14376 w 14617"/>
              <a:gd name="connsiteY0" fmla="*/ 10000 h 10000"/>
              <a:gd name="connsiteX1" fmla="*/ 14617 w 14617"/>
              <a:gd name="connsiteY1" fmla="*/ 0 h 10000"/>
              <a:gd name="connsiteX0" fmla="*/ 16982 w 16982"/>
              <a:gd name="connsiteY0" fmla="*/ 9895 h 9895"/>
              <a:gd name="connsiteX1" fmla="*/ 12980 w 16982"/>
              <a:gd name="connsiteY1" fmla="*/ 0 h 9895"/>
              <a:gd name="connsiteX0" fmla="*/ 10000 w 10000"/>
              <a:gd name="connsiteY0" fmla="*/ 10000 h 10000"/>
              <a:gd name="connsiteX1" fmla="*/ 7643 w 10000"/>
              <a:gd name="connsiteY1" fmla="*/ 0 h 10000"/>
              <a:gd name="connsiteX0" fmla="*/ 19406 w 19406"/>
              <a:gd name="connsiteY0" fmla="*/ 10107 h 10107"/>
              <a:gd name="connsiteX1" fmla="*/ 4765 w 19406"/>
              <a:gd name="connsiteY1" fmla="*/ 0 h 10107"/>
              <a:gd name="connsiteX0" fmla="*/ 14641 w 14641"/>
              <a:gd name="connsiteY0" fmla="*/ 10107 h 10107"/>
              <a:gd name="connsiteX1" fmla="*/ 0 w 14641"/>
              <a:gd name="connsiteY1" fmla="*/ 0 h 10107"/>
              <a:gd name="connsiteX0" fmla="*/ 28590 w 28590"/>
              <a:gd name="connsiteY0" fmla="*/ 9858 h 9858"/>
              <a:gd name="connsiteX1" fmla="*/ 0 w 28590"/>
              <a:gd name="connsiteY1" fmla="*/ 0 h 9858"/>
              <a:gd name="connsiteX0" fmla="*/ 10073 w 10073"/>
              <a:gd name="connsiteY0" fmla="*/ 9604 h 9604"/>
              <a:gd name="connsiteX1" fmla="*/ 0 w 10073"/>
              <a:gd name="connsiteY1" fmla="*/ 0 h 9604"/>
              <a:gd name="connsiteX0" fmla="*/ 10000 w 10000"/>
              <a:gd name="connsiteY0" fmla="*/ 10000 h 10000"/>
              <a:gd name="connsiteX1" fmla="*/ 0 w 10000"/>
              <a:gd name="connsiteY1" fmla="*/ 0 h 10000"/>
              <a:gd name="connsiteX0" fmla="*/ 10000 w 10153"/>
              <a:gd name="connsiteY0" fmla="*/ 10000 h 10000"/>
              <a:gd name="connsiteX1" fmla="*/ 0 w 10153"/>
              <a:gd name="connsiteY1" fmla="*/ 0 h 10000"/>
              <a:gd name="connsiteX0" fmla="*/ 10000 w 10000"/>
              <a:gd name="connsiteY0" fmla="*/ 10000 h 10000"/>
              <a:gd name="connsiteX1" fmla="*/ 0 w 10000"/>
              <a:gd name="connsiteY1" fmla="*/ 0 h 10000"/>
              <a:gd name="connsiteX0" fmla="*/ 10000 w 10183"/>
              <a:gd name="connsiteY0" fmla="*/ 10000 h 10000"/>
              <a:gd name="connsiteX1" fmla="*/ 0 w 10183"/>
              <a:gd name="connsiteY1" fmla="*/ 0 h 10000"/>
            </a:gdLst>
            <a:ahLst/>
            <a:cxnLst>
              <a:cxn ang="0">
                <a:pos x="connsiteX0" y="connsiteY0"/>
              </a:cxn>
              <a:cxn ang="0">
                <a:pos x="connsiteX1" y="connsiteY1"/>
              </a:cxn>
            </a:cxnLst>
            <a:rect l="l" t="t" r="r" b="b"/>
            <a:pathLst>
              <a:path w="10183" h="10000">
                <a:moveTo>
                  <a:pt x="10000" y="10000"/>
                </a:moveTo>
                <a:cubicBezTo>
                  <a:pt x="9872" y="8428"/>
                  <a:pt x="12698" y="1838"/>
                  <a:pt x="0" y="0"/>
                </a:cubicBezTo>
              </a:path>
            </a:pathLst>
          </a:custGeom>
          <a:noFill/>
          <a:ln w="19050" algn="ctr">
            <a:solidFill>
              <a:srgbClr val="30B5C5"/>
            </a:solidFill>
            <a:prstDash val="solid"/>
            <a:round/>
            <a:headEnd type="none" w="med" len="med"/>
            <a:tailEnd type="triangle" w="med" len="med"/>
          </a:ln>
        </p:spPr>
        <p:txBody>
          <a:bodyPr rtlCol="0" anchor="ctr"/>
          <a:lstStyle/>
          <a:p>
            <a:pPr algn="ctr"/>
            <a:endParaRPr lang="zh-CN" altLang="en-US"/>
          </a:p>
        </p:txBody>
      </p:sp>
      <p:grpSp>
        <p:nvGrpSpPr>
          <p:cNvPr id="67" name="组合 66"/>
          <p:cNvGrpSpPr>
            <a:grpSpLocks noChangeAspect="1"/>
          </p:cNvGrpSpPr>
          <p:nvPr/>
        </p:nvGrpSpPr>
        <p:grpSpPr bwMode="gray">
          <a:xfrm>
            <a:off x="2235752" y="3562453"/>
            <a:ext cx="243192" cy="243192"/>
            <a:chOff x="10441953" y="5633214"/>
            <a:chExt cx="264000" cy="264000"/>
          </a:xfrm>
          <a:solidFill>
            <a:srgbClr val="30B5C5"/>
          </a:solidFill>
        </p:grpSpPr>
        <p:sp>
          <p:nvSpPr>
            <p:cNvPr id="68" name="椭圆 67"/>
            <p:cNvSpPr>
              <a:spLocks noChangeAspect="1"/>
            </p:cNvSpPr>
            <p:nvPr/>
          </p:nvSpPr>
          <p:spPr bwMode="gray">
            <a:xfrm>
              <a:off x="10441953" y="5633214"/>
              <a:ext cx="264000" cy="26400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endParaRPr>
            </a:p>
          </p:txBody>
        </p:sp>
        <p:sp>
          <p:nvSpPr>
            <p:cNvPr id="69" name="任意多边形 68"/>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grp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endParaRPr>
            </a:p>
          </p:txBody>
        </p:sp>
      </p:grpSp>
      <p:sp>
        <p:nvSpPr>
          <p:cNvPr id="70" name="文本框 69"/>
          <p:cNvSpPr txBox="1"/>
          <p:nvPr/>
        </p:nvSpPr>
        <p:spPr bwMode="gray">
          <a:xfrm>
            <a:off x="3758289" y="5917509"/>
            <a:ext cx="1441420" cy="307777"/>
          </a:xfrm>
          <a:prstGeom prst="rect">
            <a:avLst/>
          </a:prstGeom>
          <a:noFill/>
        </p:spPr>
        <p:txBody>
          <a:bodyPr wrap="none" rtlCol="0">
            <a:spAutoFit/>
          </a:bodyPr>
          <a:lstStyle/>
          <a:p>
            <a:pPr algn="ctr"/>
            <a:r>
              <a:rPr lang="zh-CN" altLang="en-US" sz="1400" dirty="0"/>
              <a:t>访客（安全组）</a:t>
            </a:r>
          </a:p>
        </p:txBody>
      </p:sp>
      <p:sp>
        <p:nvSpPr>
          <p:cNvPr id="71" name="文本框 70"/>
          <p:cNvSpPr txBox="1"/>
          <p:nvPr/>
        </p:nvSpPr>
        <p:spPr bwMode="gray">
          <a:xfrm>
            <a:off x="1559067" y="5917509"/>
            <a:ext cx="1441420" cy="307777"/>
          </a:xfrm>
          <a:prstGeom prst="rect">
            <a:avLst/>
          </a:prstGeom>
          <a:noFill/>
        </p:spPr>
        <p:txBody>
          <a:bodyPr wrap="none" rtlCol="0">
            <a:spAutoFit/>
          </a:bodyPr>
          <a:lstStyle/>
          <a:p>
            <a:pPr algn="ctr"/>
            <a:r>
              <a:rPr lang="zh-CN" altLang="en-US" sz="1400" dirty="0"/>
              <a:t>销售（安全组）</a:t>
            </a:r>
          </a:p>
        </p:txBody>
      </p:sp>
      <p:graphicFrame>
        <p:nvGraphicFramePr>
          <p:cNvPr id="72" name="Table 77"/>
          <p:cNvGraphicFramePr>
            <a:graphicFrameLocks noGrp="1"/>
          </p:cNvGraphicFramePr>
          <p:nvPr>
            <p:extLst>
              <p:ext uri="{D42A27DB-BD31-4B8C-83A1-F6EECF244321}">
                <p14:modId xmlns:p14="http://schemas.microsoft.com/office/powerpoint/2010/main" val="675526913"/>
              </p:ext>
            </p:extLst>
          </p:nvPr>
        </p:nvGraphicFramePr>
        <p:xfrm>
          <a:off x="6378090" y="3178998"/>
          <a:ext cx="4434853" cy="1670622"/>
        </p:xfrm>
        <a:graphic>
          <a:graphicData uri="http://schemas.openxmlformats.org/drawingml/2006/table">
            <a:tbl>
              <a:tblPr firstRow="1" bandRow="1">
                <a:tableStyleId>{5940675A-B579-460E-94D1-54222C63F5DA}</a:tableStyleId>
              </a:tblPr>
              <a:tblGrid>
                <a:gridCol w="1228420">
                  <a:extLst>
                    <a:ext uri="{9D8B030D-6E8A-4147-A177-3AD203B41FA5}">
                      <a16:colId xmlns:a16="http://schemas.microsoft.com/office/drawing/2014/main" val="20000"/>
                    </a:ext>
                  </a:extLst>
                </a:gridCol>
                <a:gridCol w="1068811">
                  <a:extLst>
                    <a:ext uri="{9D8B030D-6E8A-4147-A177-3AD203B41FA5}">
                      <a16:colId xmlns:a16="http://schemas.microsoft.com/office/drawing/2014/main" val="20001"/>
                    </a:ext>
                  </a:extLst>
                </a:gridCol>
                <a:gridCol w="1068811">
                  <a:extLst>
                    <a:ext uri="{9D8B030D-6E8A-4147-A177-3AD203B41FA5}">
                      <a16:colId xmlns:a16="http://schemas.microsoft.com/office/drawing/2014/main" val="20002"/>
                    </a:ext>
                  </a:extLst>
                </a:gridCol>
                <a:gridCol w="1068811">
                  <a:extLst>
                    <a:ext uri="{9D8B030D-6E8A-4147-A177-3AD203B41FA5}">
                      <a16:colId xmlns:a16="http://schemas.microsoft.com/office/drawing/2014/main" val="20003"/>
                    </a:ext>
                  </a:extLst>
                </a:gridCol>
              </a:tblGrid>
              <a:tr h="479598">
                <a:tc>
                  <a:txBody>
                    <a:bodyPr/>
                    <a:lstStyle/>
                    <a:p>
                      <a:pPr algn="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目的组</a:t>
                      </a:r>
                    </a:p>
                    <a:p>
                      <a:pPr algn="l"/>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源组</a:t>
                      </a:r>
                    </a:p>
                  </a:txBody>
                  <a:tcPr marL="36000" marR="36000" marT="36000" marB="360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销售</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访客</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服务器</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97008">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销售</a:t>
                      </a:r>
                    </a:p>
                  </a:txBody>
                  <a:tcPr marL="36000" marR="36000" marT="36000" marB="360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7008">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访客</a:t>
                      </a:r>
                    </a:p>
                  </a:txBody>
                  <a:tcPr marL="36000" marR="36000" marT="36000" marB="360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7008">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服务器</a:t>
                      </a:r>
                    </a:p>
                  </a:txBody>
                  <a:tcPr marL="36000" marR="36000" marT="36000" marB="360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73" name="直接连接符 72"/>
          <p:cNvCxnSpPr/>
          <p:nvPr/>
        </p:nvCxnSpPr>
        <p:spPr bwMode="gray">
          <a:xfrm>
            <a:off x="6377080" y="3192398"/>
            <a:ext cx="1242920" cy="4805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4" name="组合 73"/>
          <p:cNvGrpSpPr>
            <a:grpSpLocks noChangeAspect="1"/>
          </p:cNvGrpSpPr>
          <p:nvPr/>
        </p:nvGrpSpPr>
        <p:grpSpPr bwMode="gray">
          <a:xfrm>
            <a:off x="8004718" y="3766780"/>
            <a:ext cx="243192" cy="243192"/>
            <a:chOff x="10441953" y="5633214"/>
            <a:chExt cx="264000" cy="264000"/>
          </a:xfrm>
        </p:grpSpPr>
        <p:sp>
          <p:nvSpPr>
            <p:cNvPr id="75" name="椭圆 74"/>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任意多边形 75"/>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7" name="组合 76"/>
          <p:cNvGrpSpPr>
            <a:grpSpLocks noChangeAspect="1"/>
          </p:cNvGrpSpPr>
          <p:nvPr/>
        </p:nvGrpSpPr>
        <p:grpSpPr bwMode="gray">
          <a:xfrm>
            <a:off x="10126082" y="3766780"/>
            <a:ext cx="243192" cy="243192"/>
            <a:chOff x="10441953" y="5633214"/>
            <a:chExt cx="264000" cy="264000"/>
          </a:xfrm>
        </p:grpSpPr>
        <p:sp>
          <p:nvSpPr>
            <p:cNvPr id="78" name="椭圆 77"/>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任意多边形 78"/>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0" name="组合 79"/>
          <p:cNvGrpSpPr>
            <a:grpSpLocks noChangeAspect="1"/>
          </p:cNvGrpSpPr>
          <p:nvPr/>
        </p:nvGrpSpPr>
        <p:grpSpPr bwMode="gray">
          <a:xfrm>
            <a:off x="9063052" y="4144370"/>
            <a:ext cx="243192" cy="243192"/>
            <a:chOff x="10441953" y="5633214"/>
            <a:chExt cx="264000" cy="264000"/>
          </a:xfrm>
        </p:grpSpPr>
        <p:sp>
          <p:nvSpPr>
            <p:cNvPr id="81" name="椭圆 80"/>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任意多边形 81"/>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6" name="组合 85"/>
          <p:cNvGrpSpPr>
            <a:grpSpLocks noChangeAspect="1"/>
          </p:cNvGrpSpPr>
          <p:nvPr/>
        </p:nvGrpSpPr>
        <p:grpSpPr bwMode="gray">
          <a:xfrm>
            <a:off x="8004718" y="4538961"/>
            <a:ext cx="243192" cy="243192"/>
            <a:chOff x="10441953" y="5633214"/>
            <a:chExt cx="264000" cy="264000"/>
          </a:xfrm>
        </p:grpSpPr>
        <p:sp>
          <p:nvSpPr>
            <p:cNvPr id="87" name="椭圆 86"/>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任意多边形 87"/>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9" name="组合 88"/>
          <p:cNvGrpSpPr>
            <a:grpSpLocks noChangeAspect="1"/>
          </p:cNvGrpSpPr>
          <p:nvPr/>
        </p:nvGrpSpPr>
        <p:grpSpPr bwMode="gray">
          <a:xfrm>
            <a:off x="9063052" y="4538961"/>
            <a:ext cx="243192" cy="243192"/>
            <a:chOff x="10441953" y="5633214"/>
            <a:chExt cx="264000" cy="264000"/>
          </a:xfrm>
        </p:grpSpPr>
        <p:sp>
          <p:nvSpPr>
            <p:cNvPr id="90" name="椭圆 89"/>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任意多边形 90"/>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2" name="组合 91"/>
          <p:cNvGrpSpPr>
            <a:grpSpLocks noChangeAspect="1"/>
          </p:cNvGrpSpPr>
          <p:nvPr/>
        </p:nvGrpSpPr>
        <p:grpSpPr bwMode="gray">
          <a:xfrm>
            <a:off x="10126082" y="4538961"/>
            <a:ext cx="243192" cy="243192"/>
            <a:chOff x="10441953" y="5633214"/>
            <a:chExt cx="264000" cy="264000"/>
          </a:xfrm>
        </p:grpSpPr>
        <p:sp>
          <p:nvSpPr>
            <p:cNvPr id="93" name="椭圆 92"/>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任意多边形 93"/>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5" name="组合 28"/>
          <p:cNvGrpSpPr/>
          <p:nvPr/>
        </p:nvGrpSpPr>
        <p:grpSpPr bwMode="gray">
          <a:xfrm>
            <a:off x="9067145" y="3768968"/>
            <a:ext cx="238817" cy="238817"/>
            <a:chOff x="5076056" y="3356992"/>
            <a:chExt cx="436268" cy="436268"/>
          </a:xfrm>
        </p:grpSpPr>
        <p:sp>
          <p:nvSpPr>
            <p:cNvPr id="96"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禁止符 23"/>
            <p:cNvSpPr/>
            <p:nvPr/>
          </p:nvSpPr>
          <p:spPr bwMode="gray">
            <a:xfrm>
              <a:off x="5076056" y="3356992"/>
              <a:ext cx="436268" cy="436268"/>
            </a:xfrm>
            <a:prstGeom prst="noSmoking">
              <a:avLst>
                <a:gd name="adj" fmla="val 15475"/>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8" name="组合 28"/>
          <p:cNvGrpSpPr/>
          <p:nvPr/>
        </p:nvGrpSpPr>
        <p:grpSpPr bwMode="gray">
          <a:xfrm>
            <a:off x="8009093" y="4148745"/>
            <a:ext cx="238817" cy="238817"/>
            <a:chOff x="5076056" y="3356992"/>
            <a:chExt cx="436268" cy="436268"/>
          </a:xfrm>
        </p:grpSpPr>
        <p:sp>
          <p:nvSpPr>
            <p:cNvPr id="99"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禁止符 23"/>
            <p:cNvSpPr/>
            <p:nvPr/>
          </p:nvSpPr>
          <p:spPr bwMode="gray">
            <a:xfrm>
              <a:off x="5076056" y="3356992"/>
              <a:ext cx="436268" cy="436268"/>
            </a:xfrm>
            <a:prstGeom prst="noSmoking">
              <a:avLst>
                <a:gd name="adj" fmla="val 15475"/>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1" name="组合 28"/>
          <p:cNvGrpSpPr/>
          <p:nvPr/>
        </p:nvGrpSpPr>
        <p:grpSpPr bwMode="gray">
          <a:xfrm>
            <a:off x="10126082" y="4148745"/>
            <a:ext cx="238817" cy="238817"/>
            <a:chOff x="5076056" y="3356992"/>
            <a:chExt cx="436268" cy="436268"/>
          </a:xfrm>
        </p:grpSpPr>
        <p:sp>
          <p:nvSpPr>
            <p:cNvPr id="102"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禁止符 23"/>
            <p:cNvSpPr/>
            <p:nvPr/>
          </p:nvSpPr>
          <p:spPr bwMode="gray">
            <a:xfrm>
              <a:off x="5076056" y="3356992"/>
              <a:ext cx="436268" cy="436268"/>
            </a:xfrm>
            <a:prstGeom prst="noSmoking">
              <a:avLst>
                <a:gd name="adj" fmla="val 15475"/>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 name="任意多边形 2"/>
          <p:cNvSpPr/>
          <p:nvPr/>
        </p:nvSpPr>
        <p:spPr bwMode="gray">
          <a:xfrm>
            <a:off x="2348778" y="4300810"/>
            <a:ext cx="1870199" cy="1172711"/>
          </a:xfrm>
          <a:custGeom>
            <a:avLst/>
            <a:gdLst>
              <a:gd name="connsiteX0" fmla="*/ 59571 w 1870199"/>
              <a:gd name="connsiteY0" fmla="*/ 1159832 h 1172711"/>
              <a:gd name="connsiteX1" fmla="*/ 123966 w 1870199"/>
              <a:gd name="connsiteY1" fmla="*/ 464373 h 1172711"/>
              <a:gd name="connsiteX2" fmla="*/ 1167154 w 1870199"/>
              <a:gd name="connsiteY2" fmla="*/ 734 h 1172711"/>
              <a:gd name="connsiteX3" fmla="*/ 1836856 w 1870199"/>
              <a:gd name="connsiteY3" fmla="*/ 567404 h 1172711"/>
              <a:gd name="connsiteX4" fmla="*/ 1708067 w 1870199"/>
              <a:gd name="connsiteY4" fmla="*/ 1172711 h 1172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199" h="1172711">
                <a:moveTo>
                  <a:pt x="59571" y="1159832"/>
                </a:moveTo>
                <a:cubicBezTo>
                  <a:pt x="-530" y="908694"/>
                  <a:pt x="-60631" y="657556"/>
                  <a:pt x="123966" y="464373"/>
                </a:cubicBezTo>
                <a:cubicBezTo>
                  <a:pt x="308563" y="271190"/>
                  <a:pt x="881672" y="-16438"/>
                  <a:pt x="1167154" y="734"/>
                </a:cubicBezTo>
                <a:cubicBezTo>
                  <a:pt x="1452636" y="17906"/>
                  <a:pt x="1746704" y="372074"/>
                  <a:pt x="1836856" y="567404"/>
                </a:cubicBezTo>
                <a:cubicBezTo>
                  <a:pt x="1927008" y="762733"/>
                  <a:pt x="1817537" y="967722"/>
                  <a:pt x="1708067" y="1172711"/>
                </a:cubicBezTo>
              </a:path>
            </a:pathLst>
          </a:custGeom>
          <a:noFill/>
          <a:ln w="19050" algn="ctr">
            <a:solidFill>
              <a:srgbClr val="30B5C5"/>
            </a:solidFill>
            <a:prstDash val="solid"/>
            <a:round/>
            <a:headEnd type="triangle" w="med" len="med"/>
            <a:tailEnd type="triangle" w="med" len="med"/>
          </a:ln>
        </p:spPr>
        <p:txBody>
          <a:bodyPr rtlCol="0" anchor="ctr"/>
          <a:lstStyle/>
          <a:p>
            <a:pPr algn="ctr"/>
            <a:endParaRPr lang="zh-CN" altLang="en-US">
              <a:solidFill>
                <a:schemeClr val="tx1"/>
              </a:solidFill>
            </a:endParaRPr>
          </a:p>
        </p:txBody>
      </p:sp>
      <p:grpSp>
        <p:nvGrpSpPr>
          <p:cNvPr id="104" name="组合 28"/>
          <p:cNvGrpSpPr/>
          <p:nvPr/>
        </p:nvGrpSpPr>
        <p:grpSpPr bwMode="gray">
          <a:xfrm rot="5059603">
            <a:off x="3231206" y="4269260"/>
            <a:ext cx="273362" cy="273362"/>
            <a:chOff x="5076056" y="3356992"/>
            <a:chExt cx="436268" cy="436268"/>
          </a:xfrm>
        </p:grpSpPr>
        <p:sp>
          <p:nvSpPr>
            <p:cNvPr id="105"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Arial" charset="0"/>
                <a:ea typeface="ＭＳ Ｐゴシック" pitchFamily="34" charset="-128"/>
              </a:endParaRPr>
            </a:p>
          </p:txBody>
        </p:sp>
        <p:sp>
          <p:nvSpPr>
            <p:cNvPr id="106" name="禁止符 23"/>
            <p:cNvSpPr/>
            <p:nvPr/>
          </p:nvSpPr>
          <p:spPr bwMode="gray">
            <a:xfrm>
              <a:off x="5076056" y="3356992"/>
              <a:ext cx="436268" cy="436268"/>
            </a:xfrm>
            <a:prstGeom prst="noSmoking">
              <a:avLst>
                <a:gd name="adj" fmla="val 15475"/>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grpSp>
      <p:sp>
        <p:nvSpPr>
          <p:cNvPr id="66" name="文本框 65"/>
          <p:cNvSpPr txBox="1"/>
          <p:nvPr/>
        </p:nvSpPr>
        <p:spPr bwMode="gray">
          <a:xfrm>
            <a:off x="6266712" y="2795396"/>
            <a:ext cx="1632178" cy="338554"/>
          </a:xfrm>
          <a:prstGeom prst="rect">
            <a:avLst/>
          </a:prstGeom>
          <a:noFill/>
        </p:spPr>
        <p:txBody>
          <a:bodyPr wrap="none" rtlCol="0">
            <a:spAutoFit/>
          </a:bodyPr>
          <a:lstStyle/>
          <a:p>
            <a:pPr algn="ctr"/>
            <a:r>
              <a:rPr lang="zh-CN" altLang="en-US" sz="1600" b="1" dirty="0"/>
              <a:t>策略控制矩阵：</a:t>
            </a:r>
          </a:p>
        </p:txBody>
      </p:sp>
    </p:spTree>
    <p:extLst>
      <p:ext uri="{BB962C8B-B14F-4D97-AF65-F5344CB8AC3E}">
        <p14:creationId xmlns:p14="http://schemas.microsoft.com/office/powerpoint/2010/main" val="1903089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业务随行的基本概念：</a:t>
            </a:r>
            <a:r>
              <a:rPr lang="en-US" altLang="zh-CN" dirty="0"/>
              <a:t>IP-Group</a:t>
            </a:r>
            <a:r>
              <a:rPr lang="zh-CN" altLang="en-US" dirty="0"/>
              <a:t>表项订阅</a:t>
            </a:r>
          </a:p>
        </p:txBody>
      </p:sp>
      <p:cxnSp>
        <p:nvCxnSpPr>
          <p:cNvPr id="4" name="Straight Connector 167"/>
          <p:cNvCxnSpPr/>
          <p:nvPr/>
        </p:nvCxnSpPr>
        <p:spPr bwMode="gray">
          <a:xfrm flipV="1">
            <a:off x="8765471" y="3810914"/>
            <a:ext cx="0" cy="569462"/>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5" name="图片 11" descr="开放网络-蓝.png"/>
          <p:cNvPicPr>
            <a:picLocks noChangeAspect="1"/>
          </p:cNvPicPr>
          <p:nvPr/>
        </p:nvPicPr>
        <p:blipFill>
          <a:blip r:embed="rId3" cstate="print"/>
          <a:stretch>
            <a:fillRect/>
          </a:stretch>
        </p:blipFill>
        <p:spPr bwMode="gray">
          <a:xfrm>
            <a:off x="8542493" y="4335282"/>
            <a:ext cx="445956" cy="343290"/>
          </a:xfrm>
          <a:prstGeom prst="rect">
            <a:avLst/>
          </a:prstGeom>
        </p:spPr>
      </p:pic>
      <p:cxnSp>
        <p:nvCxnSpPr>
          <p:cNvPr id="6" name="Straight Connector 167"/>
          <p:cNvCxnSpPr/>
          <p:nvPr/>
        </p:nvCxnSpPr>
        <p:spPr bwMode="gray">
          <a:xfrm flipV="1">
            <a:off x="9906358" y="3810914"/>
            <a:ext cx="0" cy="569462"/>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167"/>
          <p:cNvCxnSpPr/>
          <p:nvPr/>
        </p:nvCxnSpPr>
        <p:spPr bwMode="gray">
          <a:xfrm flipV="1">
            <a:off x="7635984" y="3810914"/>
            <a:ext cx="0" cy="569462"/>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167"/>
          <p:cNvCxnSpPr/>
          <p:nvPr/>
        </p:nvCxnSpPr>
        <p:spPr bwMode="gray">
          <a:xfrm flipV="1">
            <a:off x="8776867" y="1695163"/>
            <a:ext cx="0" cy="216253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nvGrpSpPr>
          <p:cNvPr id="9" name="Group 165"/>
          <p:cNvGrpSpPr/>
          <p:nvPr/>
        </p:nvGrpSpPr>
        <p:grpSpPr bwMode="gray">
          <a:xfrm rot="10800000">
            <a:off x="7627913" y="2690221"/>
            <a:ext cx="2297904" cy="919373"/>
            <a:chOff x="-1233037" y="914446"/>
            <a:chExt cx="1573823" cy="778776"/>
          </a:xfrm>
        </p:grpSpPr>
        <p:cxnSp>
          <p:nvCxnSpPr>
            <p:cNvPr id="10"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2" name="图片 76" descr="接入交换机.png"/>
          <p:cNvPicPr>
            <a:picLocks noChangeAspect="1"/>
          </p:cNvPicPr>
          <p:nvPr/>
        </p:nvPicPr>
        <p:blipFill>
          <a:blip r:embed="rId4" cstate="print"/>
          <a:stretch>
            <a:fillRect/>
          </a:stretch>
        </p:blipFill>
        <p:spPr bwMode="gray">
          <a:xfrm>
            <a:off x="7421311" y="3554930"/>
            <a:ext cx="446281" cy="365139"/>
          </a:xfrm>
          <a:prstGeom prst="rect">
            <a:avLst/>
          </a:prstGeom>
        </p:spPr>
      </p:pic>
      <p:pic>
        <p:nvPicPr>
          <p:cNvPr id="13" name="图片 76" descr="接入交换机.png"/>
          <p:cNvPicPr>
            <a:picLocks noChangeAspect="1"/>
          </p:cNvPicPr>
          <p:nvPr/>
        </p:nvPicPr>
        <p:blipFill>
          <a:blip r:embed="rId4" cstate="print"/>
          <a:stretch>
            <a:fillRect/>
          </a:stretch>
        </p:blipFill>
        <p:spPr bwMode="gray">
          <a:xfrm>
            <a:off x="8553726" y="3554930"/>
            <a:ext cx="446281" cy="365139"/>
          </a:xfrm>
          <a:prstGeom prst="rect">
            <a:avLst/>
          </a:prstGeom>
        </p:spPr>
      </p:pic>
      <p:pic>
        <p:nvPicPr>
          <p:cNvPr id="14" name="图片 76" descr="接入交换机.png"/>
          <p:cNvPicPr>
            <a:picLocks noChangeAspect="1"/>
          </p:cNvPicPr>
          <p:nvPr/>
        </p:nvPicPr>
        <p:blipFill>
          <a:blip r:embed="rId4" cstate="print"/>
          <a:stretch>
            <a:fillRect/>
          </a:stretch>
        </p:blipFill>
        <p:spPr bwMode="gray">
          <a:xfrm>
            <a:off x="9686142" y="3554930"/>
            <a:ext cx="446281" cy="365139"/>
          </a:xfrm>
          <a:prstGeom prst="rect">
            <a:avLst/>
          </a:prstGeom>
        </p:spPr>
      </p:pic>
      <p:cxnSp>
        <p:nvCxnSpPr>
          <p:cNvPr id="15" name="Straight Connector 167"/>
          <p:cNvCxnSpPr/>
          <p:nvPr/>
        </p:nvCxnSpPr>
        <p:spPr bwMode="gray">
          <a:xfrm flipH="1">
            <a:off x="9020327" y="2690221"/>
            <a:ext cx="1081654" cy="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16"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8531408" y="1383066"/>
            <a:ext cx="490909" cy="401653"/>
          </a:xfrm>
          <a:prstGeom prst="rect">
            <a:avLst/>
          </a:prstGeom>
        </p:spPr>
      </p:pic>
      <p:sp>
        <p:nvSpPr>
          <p:cNvPr id="17" name="文本框 16"/>
          <p:cNvSpPr txBox="1"/>
          <p:nvPr/>
        </p:nvSpPr>
        <p:spPr bwMode="gray">
          <a:xfrm>
            <a:off x="8066098" y="2014611"/>
            <a:ext cx="723276" cy="523220"/>
          </a:xfrm>
          <a:prstGeom prst="rect">
            <a:avLst/>
          </a:prstGeom>
          <a:noFill/>
        </p:spPr>
        <p:txBody>
          <a:bodyPr wrap="none" rtlCol="0">
            <a:spAutoFit/>
          </a:bodyPr>
          <a:lstStyle/>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p>
          <a:p>
            <a:pPr algn="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认证点</a:t>
            </a:r>
          </a:p>
        </p:txBody>
      </p:sp>
      <p:sp>
        <p:nvSpPr>
          <p:cNvPr id="18" name="文本框 17"/>
          <p:cNvSpPr txBox="1"/>
          <p:nvPr/>
        </p:nvSpPr>
        <p:spPr bwMode="gray">
          <a:xfrm>
            <a:off x="6300107" y="3583610"/>
            <a:ext cx="1082349" cy="523220"/>
          </a:xfrm>
          <a:prstGeom prst="rect">
            <a:avLst/>
          </a:prstGeom>
          <a:noFill/>
        </p:spPr>
        <p:txBody>
          <a:bodyPr wrap="none" rtlCol="0">
            <a:spAutoFit/>
          </a:bodyPr>
          <a:lstStyle/>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Access</a:t>
            </a:r>
          </a:p>
          <a:p>
            <a:pPr algn="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策略执行点</a:t>
            </a:r>
          </a:p>
        </p:txBody>
      </p:sp>
      <p:sp>
        <p:nvSpPr>
          <p:cNvPr id="19" name="文本框 18"/>
          <p:cNvSpPr txBox="1"/>
          <p:nvPr/>
        </p:nvSpPr>
        <p:spPr bwMode="gray">
          <a:xfrm>
            <a:off x="10243409" y="2850030"/>
            <a:ext cx="1261884" cy="307777"/>
          </a:xfrm>
          <a:prstGeom prst="rect">
            <a:avLst/>
          </a:prstGeom>
          <a:noFill/>
        </p:spPr>
        <p:txBody>
          <a:bodyPr wrap="none" rtlCol="0">
            <a:spAutoFit/>
          </a:bodyPr>
          <a:lstStyle/>
          <a:p>
            <a:pPr algn="ct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策略控制中心</a:t>
            </a:r>
          </a:p>
        </p:txBody>
      </p:sp>
      <p:pic>
        <p:nvPicPr>
          <p:cNvPr id="20" name="图片 11" descr="开放网络-蓝.png"/>
          <p:cNvPicPr>
            <a:picLocks noChangeAspect="1"/>
          </p:cNvPicPr>
          <p:nvPr/>
        </p:nvPicPr>
        <p:blipFill>
          <a:blip r:embed="rId3" cstate="print"/>
          <a:stretch>
            <a:fillRect/>
          </a:stretch>
        </p:blipFill>
        <p:spPr bwMode="gray">
          <a:xfrm>
            <a:off x="7413005" y="4335282"/>
            <a:ext cx="445956" cy="343290"/>
          </a:xfrm>
          <a:prstGeom prst="rect">
            <a:avLst/>
          </a:prstGeom>
        </p:spPr>
      </p:pic>
      <p:pic>
        <p:nvPicPr>
          <p:cNvPr id="21" name="图片 11" descr="开放网络-蓝.png"/>
          <p:cNvPicPr>
            <a:picLocks noChangeAspect="1"/>
          </p:cNvPicPr>
          <p:nvPr/>
        </p:nvPicPr>
        <p:blipFill>
          <a:blip r:embed="rId3" cstate="print"/>
          <a:stretch>
            <a:fillRect/>
          </a:stretch>
        </p:blipFill>
        <p:spPr bwMode="gray">
          <a:xfrm>
            <a:off x="9683380" y="4335282"/>
            <a:ext cx="445956" cy="343290"/>
          </a:xfrm>
          <a:prstGeom prst="rect">
            <a:avLst/>
          </a:prstGeom>
        </p:spPr>
      </p:pic>
      <p:pic>
        <p:nvPicPr>
          <p:cNvPr id="22" name="图片 103" descr="核心交换机.png"/>
          <p:cNvPicPr>
            <a:picLocks noChangeAspect="1"/>
          </p:cNvPicPr>
          <p:nvPr/>
        </p:nvPicPr>
        <p:blipFill>
          <a:blip r:embed="rId6" cstate="print"/>
          <a:stretch>
            <a:fillRect/>
          </a:stretch>
        </p:blipFill>
        <p:spPr bwMode="gray">
          <a:xfrm>
            <a:off x="8529418" y="2489395"/>
            <a:ext cx="490909" cy="401653"/>
          </a:xfrm>
          <a:prstGeom prst="rect">
            <a:avLst/>
          </a:prstGeom>
        </p:spPr>
      </p:pic>
      <p:sp>
        <p:nvSpPr>
          <p:cNvPr id="23" name="文本框 22"/>
          <p:cNvSpPr txBox="1"/>
          <p:nvPr/>
        </p:nvSpPr>
        <p:spPr bwMode="gray">
          <a:xfrm>
            <a:off x="7065606" y="4710953"/>
            <a:ext cx="1157689" cy="523220"/>
          </a:xfrm>
          <a:prstGeom prst="rect">
            <a:avLst/>
          </a:prstGeom>
          <a:noFill/>
        </p:spPr>
        <p:txBody>
          <a:bodyPr wrap="none" rtlCol="0">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192.168.1.1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bwMode="gray">
          <a:xfrm>
            <a:off x="9346972" y="4710953"/>
            <a:ext cx="1157689" cy="523220"/>
          </a:xfrm>
          <a:prstGeom prst="rect">
            <a:avLst/>
          </a:prstGeom>
          <a:noFill/>
        </p:spPr>
        <p:txBody>
          <a:bodyPr wrap="none" rtlCol="0">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192.168.2.1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任意多边形 24"/>
          <p:cNvSpPr/>
          <p:nvPr/>
        </p:nvSpPr>
        <p:spPr bwMode="gray">
          <a:xfrm>
            <a:off x="7858931" y="2915127"/>
            <a:ext cx="762529" cy="1420155"/>
          </a:xfrm>
          <a:custGeom>
            <a:avLst/>
            <a:gdLst>
              <a:gd name="connsiteX0" fmla="*/ 0 w 914400"/>
              <a:gd name="connsiteY0" fmla="*/ 550333 h 550333"/>
              <a:gd name="connsiteX1" fmla="*/ 914400 w 914400"/>
              <a:gd name="connsiteY1" fmla="*/ 0 h 550333"/>
              <a:gd name="connsiteX0" fmla="*/ 0 w 852099"/>
              <a:gd name="connsiteY0" fmla="*/ 550333 h 550333"/>
              <a:gd name="connsiteX1" fmla="*/ 852099 w 852099"/>
              <a:gd name="connsiteY1" fmla="*/ 0 h 550333"/>
              <a:gd name="connsiteX0" fmla="*/ 0 w 852099"/>
              <a:gd name="connsiteY0" fmla="*/ 550333 h 550333"/>
              <a:gd name="connsiteX1" fmla="*/ 852099 w 852099"/>
              <a:gd name="connsiteY1" fmla="*/ 0 h 550333"/>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Lst>
            <a:ahLst/>
            <a:cxnLst>
              <a:cxn ang="0">
                <a:pos x="connsiteX0" y="connsiteY0"/>
              </a:cxn>
              <a:cxn ang="0">
                <a:pos x="connsiteX1" y="connsiteY1"/>
              </a:cxn>
            </a:cxnLst>
            <a:rect l="l" t="t" r="r" b="b"/>
            <a:pathLst>
              <a:path w="935168" h="533618">
                <a:moveTo>
                  <a:pt x="0" y="533618"/>
                </a:moveTo>
                <a:cubicBezTo>
                  <a:pt x="149046" y="300031"/>
                  <a:pt x="308480" y="199189"/>
                  <a:pt x="935168" y="0"/>
                </a:cubicBezTo>
              </a:path>
            </a:pathLst>
          </a:custGeom>
          <a:noFill/>
          <a:ln w="28575">
            <a:solidFill>
              <a:srgbClr val="92D05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10101981" y="2566024"/>
            <a:ext cx="1346845" cy="248394"/>
          </a:xfrm>
          <a:prstGeom prst="rect">
            <a:avLst/>
          </a:prstGeom>
        </p:spPr>
      </p:pic>
      <p:sp>
        <p:nvSpPr>
          <p:cNvPr id="30" name="椭圆 29"/>
          <p:cNvSpPr/>
          <p:nvPr/>
        </p:nvSpPr>
        <p:spPr bwMode="invGray">
          <a:xfrm>
            <a:off x="9945257" y="5377413"/>
            <a:ext cx="144000" cy="144000"/>
          </a:xfrm>
          <a:prstGeom prst="ellipse">
            <a:avLst/>
          </a:prstGeom>
          <a:solidFill>
            <a:srgbClr val="94DAE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bwMode="gray">
          <a:xfrm>
            <a:off x="9945257" y="5725721"/>
            <a:ext cx="144000" cy="144000"/>
          </a:xfrm>
          <a:prstGeom prst="ellipse">
            <a:avLst/>
          </a:prstGeom>
          <a:solidFill>
            <a:srgbClr val="F6B78C"/>
          </a:solidFill>
          <a:ln>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bwMode="gray">
          <a:xfrm>
            <a:off x="10220776" y="5295524"/>
            <a:ext cx="723275"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认证点</a:t>
            </a:r>
            <a:endParaRPr lang="zh-CN" altLang="en-US" sz="1400" b="1" dirty="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bwMode="gray">
          <a:xfrm>
            <a:off x="10220776" y="5643832"/>
            <a:ext cx="1082348"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策略执行点</a:t>
            </a:r>
            <a:endParaRPr lang="zh-CN" altLang="en-US" sz="1400" b="1" dirty="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椭圆 33"/>
          <p:cNvSpPr/>
          <p:nvPr/>
        </p:nvSpPr>
        <p:spPr bwMode="invGray">
          <a:xfrm>
            <a:off x="8694351" y="2816536"/>
            <a:ext cx="144000" cy="144000"/>
          </a:xfrm>
          <a:prstGeom prst="ellipse">
            <a:avLst/>
          </a:prstGeom>
          <a:solidFill>
            <a:srgbClr val="94DAE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bwMode="gray">
          <a:xfrm>
            <a:off x="7559525" y="3858580"/>
            <a:ext cx="144000" cy="144000"/>
          </a:xfrm>
          <a:prstGeom prst="ellipse">
            <a:avLst/>
          </a:prstGeom>
          <a:solidFill>
            <a:srgbClr val="F6B78C"/>
          </a:solidFill>
          <a:ln>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bwMode="gray">
          <a:xfrm>
            <a:off x="8693471" y="3858580"/>
            <a:ext cx="144000" cy="144000"/>
          </a:xfrm>
          <a:prstGeom prst="ellipse">
            <a:avLst/>
          </a:prstGeom>
          <a:solidFill>
            <a:srgbClr val="F6B78C"/>
          </a:solidFill>
          <a:ln>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bwMode="gray">
          <a:xfrm>
            <a:off x="9834358" y="3858580"/>
            <a:ext cx="144000" cy="144000"/>
          </a:xfrm>
          <a:prstGeom prst="ellipse">
            <a:avLst/>
          </a:prstGeom>
          <a:solidFill>
            <a:srgbClr val="F6B78C"/>
          </a:solidFill>
          <a:ln>
            <a:solidFill>
              <a:srgbClr val="ED6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圆角矩形 75"/>
          <p:cNvSpPr/>
          <p:nvPr/>
        </p:nvSpPr>
        <p:spPr bwMode="gray">
          <a:xfrm>
            <a:off x="574072" y="1125067"/>
            <a:ext cx="5392356"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表项订阅概念</a:t>
            </a:r>
          </a:p>
        </p:txBody>
      </p:sp>
      <p:sp>
        <p:nvSpPr>
          <p:cNvPr id="40" name="圆角矩形 75"/>
          <p:cNvSpPr/>
          <p:nvPr/>
        </p:nvSpPr>
        <p:spPr bwMode="gray">
          <a:xfrm>
            <a:off x="574072" y="1571360"/>
            <a:ext cx="5392356" cy="2089175"/>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网络中，对于认证点设备和策略执行点设备</a:t>
            </a:r>
            <a:r>
              <a:rPr lang="zh-CN" altLang="en-US" sz="1600" b="1" dirty="0">
                <a:solidFill>
                  <a:srgbClr val="C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不属于</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同一设备的场景，需要将认证用户的</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IP-Group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安全组）信息表项推送到指定的策略执行点设备上。</a:t>
            </a:r>
            <a:endPar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这需要管理员在控制器上进行订阅配置，即配置哪些网段或者哪些安全组的表项需要推送到哪些策略执行点设备上。</a:t>
            </a:r>
          </a:p>
        </p:txBody>
      </p:sp>
      <p:cxnSp>
        <p:nvCxnSpPr>
          <p:cNvPr id="49" name="直接箭头连接符 48"/>
          <p:cNvCxnSpPr/>
          <p:nvPr/>
        </p:nvCxnSpPr>
        <p:spPr bwMode="gray">
          <a:xfrm>
            <a:off x="9048076" y="2816536"/>
            <a:ext cx="1107019" cy="0"/>
          </a:xfrm>
          <a:prstGeom prst="straightConnector1">
            <a:avLst/>
          </a:prstGeom>
          <a:noFill/>
          <a:ln w="28575">
            <a:solidFill>
              <a:srgbClr val="92D05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46" name="文本框 45"/>
          <p:cNvSpPr txBox="1"/>
          <p:nvPr/>
        </p:nvSpPr>
        <p:spPr bwMode="gray">
          <a:xfrm>
            <a:off x="9165330" y="2731166"/>
            <a:ext cx="864588" cy="257369"/>
          </a:xfrm>
          <a:prstGeom prst="rect">
            <a:avLst/>
          </a:prstGeom>
          <a:solidFill>
            <a:schemeClr val="bg1"/>
          </a:solidFill>
        </p:spPr>
        <p:txBody>
          <a:bodyPr wrap="none" lIns="36000" tIns="36000" rIns="36000" bIns="36000" rtlCol="0">
            <a:spAutoFit/>
          </a:bodyPr>
          <a:lstStyle>
            <a:defPPr>
              <a:defRPr lang="en-US"/>
            </a:defPPr>
            <a:lvl1pPr algn="ctr">
              <a:defRPr sz="1200" b="1">
                <a:solidFill>
                  <a:srgbClr val="92D050"/>
                </a:solidFill>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1. </a:t>
            </a:r>
            <a:r>
              <a:rPr lang="zh-CN" altLang="en-US" dirty="0">
                <a:sym typeface="Huawei Sans" panose="020C0503030203020204" pitchFamily="34" charset="0"/>
              </a:rPr>
              <a:t>身份认证</a:t>
            </a:r>
          </a:p>
        </p:txBody>
      </p:sp>
      <p:sp>
        <p:nvSpPr>
          <p:cNvPr id="55" name="任意多边形 54"/>
          <p:cNvSpPr/>
          <p:nvPr/>
        </p:nvSpPr>
        <p:spPr bwMode="invGray">
          <a:xfrm>
            <a:off x="7631197" y="2456548"/>
            <a:ext cx="2640169" cy="1001912"/>
          </a:xfrm>
          <a:custGeom>
            <a:avLst/>
            <a:gdLst>
              <a:gd name="connsiteX0" fmla="*/ 2640169 w 2640169"/>
              <a:gd name="connsiteY0" fmla="*/ 61754 h 1001912"/>
              <a:gd name="connsiteX1" fmla="*/ 1081825 w 2640169"/>
              <a:gd name="connsiteY1" fmla="*/ 100391 h 1001912"/>
              <a:gd name="connsiteX2" fmla="*/ 0 w 2640169"/>
              <a:gd name="connsiteY2" fmla="*/ 1001912 h 1001912"/>
            </a:gdLst>
            <a:ahLst/>
            <a:cxnLst>
              <a:cxn ang="0">
                <a:pos x="connsiteX0" y="connsiteY0"/>
              </a:cxn>
              <a:cxn ang="0">
                <a:pos x="connsiteX1" y="connsiteY1"/>
              </a:cxn>
              <a:cxn ang="0">
                <a:pos x="connsiteX2" y="connsiteY2"/>
              </a:cxn>
            </a:cxnLst>
            <a:rect l="l" t="t" r="r" b="b"/>
            <a:pathLst>
              <a:path w="2640169" h="1001912">
                <a:moveTo>
                  <a:pt x="2640169" y="61754"/>
                </a:moveTo>
                <a:cubicBezTo>
                  <a:pt x="2081011" y="2726"/>
                  <a:pt x="1521853" y="-56302"/>
                  <a:pt x="1081825" y="100391"/>
                </a:cubicBezTo>
                <a:cubicBezTo>
                  <a:pt x="641797" y="257084"/>
                  <a:pt x="0" y="1001912"/>
                  <a:pt x="0" y="1001912"/>
                </a:cubicBezTo>
              </a:path>
            </a:pathLst>
          </a:custGeom>
          <a:noFill/>
          <a:ln w="28575">
            <a:solidFill>
              <a:srgbClr val="30B5C5"/>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bwMode="gray">
          <a:xfrm>
            <a:off x="7191773" y="2764407"/>
            <a:ext cx="906265" cy="442035"/>
          </a:xfrm>
          <a:prstGeom prst="rect">
            <a:avLst/>
          </a:prstGeom>
          <a:solidFill>
            <a:schemeClr val="bg1"/>
          </a:solidFill>
        </p:spPr>
        <p:txBody>
          <a:bodyPr wrap="none" lIns="36000" tIns="36000" rIns="36000" bIns="36000" rtlCol="0">
            <a:spAutoFit/>
          </a:bodyPr>
          <a:lstStyle/>
          <a:p>
            <a:pPr algn="ctr"/>
            <a:r>
              <a:rPr lang="en-US" altLang="zh-CN"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2. IP-Group</a:t>
            </a:r>
          </a:p>
          <a:p>
            <a:pPr algn="ctr"/>
            <a:r>
              <a:rPr lang="zh-CN" altLang="en-US"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表项推送</a:t>
            </a:r>
          </a:p>
        </p:txBody>
      </p:sp>
      <p:sp>
        <p:nvSpPr>
          <p:cNvPr id="58" name="圆角矩形 75"/>
          <p:cNvSpPr/>
          <p:nvPr/>
        </p:nvSpPr>
        <p:spPr bwMode="gray">
          <a:xfrm>
            <a:off x="574072" y="3868977"/>
            <a:ext cx="5392356"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表项订阅步骤</a:t>
            </a:r>
          </a:p>
        </p:txBody>
      </p:sp>
      <p:sp>
        <p:nvSpPr>
          <p:cNvPr id="59" name="圆角矩形 75"/>
          <p:cNvSpPr/>
          <p:nvPr/>
        </p:nvSpPr>
        <p:spPr bwMode="gray">
          <a:xfrm>
            <a:off x="574072" y="4315271"/>
            <a:ext cx="5392356" cy="1764268"/>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用户在认证点设备通过</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RADIUS</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协议到认证服务器进行身份认证，认证服务器完成安全组授权，同时记录用户的</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IP-Group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表项信息。</a:t>
            </a:r>
          </a:p>
          <a:p>
            <a:pPr marL="285750" indent="-285750">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认证服务器通过</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HTTP2.0</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通道向</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IP-Group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组件上报</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IP-Group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表项。</a:t>
            </a:r>
            <a:r>
              <a:rPr lang="en-US" altLang="zh-CN"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IP-Group</a:t>
            </a:r>
            <a:r>
              <a:rPr lang="zh-CN" altLang="en-US" sz="16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组件将表项信息推送到订阅设备。</a:t>
            </a:r>
          </a:p>
        </p:txBody>
      </p:sp>
      <p:graphicFrame>
        <p:nvGraphicFramePr>
          <p:cNvPr id="42" name="表格 41"/>
          <p:cNvGraphicFramePr>
            <a:graphicFrameLocks noGrp="1"/>
          </p:cNvGraphicFramePr>
          <p:nvPr>
            <p:extLst>
              <p:ext uri="{D42A27DB-BD31-4B8C-83A1-F6EECF244321}">
                <p14:modId xmlns:p14="http://schemas.microsoft.com/office/powerpoint/2010/main" val="398773689"/>
              </p:ext>
            </p:extLst>
          </p:nvPr>
        </p:nvGraphicFramePr>
        <p:xfrm>
          <a:off x="10129336" y="1476391"/>
          <a:ext cx="1778724" cy="822960"/>
        </p:xfrm>
        <a:graphic>
          <a:graphicData uri="http://schemas.openxmlformats.org/drawingml/2006/table">
            <a:tbl>
              <a:tblPr firstRow="1" bandRow="1">
                <a:tableStyleId>{72833802-FEF1-4C79-8D5D-14CF1EAF98D9}</a:tableStyleId>
              </a:tblPr>
              <a:tblGrid>
                <a:gridCol w="1016225">
                  <a:extLst>
                    <a:ext uri="{9D8B030D-6E8A-4147-A177-3AD203B41FA5}">
                      <a16:colId xmlns:a16="http://schemas.microsoft.com/office/drawing/2014/main" val="20000"/>
                    </a:ext>
                  </a:extLst>
                </a:gridCol>
                <a:gridCol w="762499">
                  <a:extLst>
                    <a:ext uri="{9D8B030D-6E8A-4147-A177-3AD203B41FA5}">
                      <a16:colId xmlns:a16="http://schemas.microsoft.com/office/drawing/2014/main" val="20001"/>
                    </a:ext>
                  </a:extLst>
                </a:gridCol>
              </a:tblGrid>
              <a:tr h="227221">
                <a:tc>
                  <a:txBody>
                    <a:bodyPr/>
                    <a:lstStyle/>
                    <a:p>
                      <a:pPr algn="ctr"/>
                      <a:r>
                        <a:rPr lang="en-US" altLang="zh-CN" sz="1200" b="1" dirty="0">
                          <a:solidFill>
                            <a:schemeClr val="tx1"/>
                          </a:solidFill>
                        </a:rPr>
                        <a:t>IP</a:t>
                      </a:r>
                      <a:endParaRPr lang="zh-CN" altLang="en-US" sz="1200" b="1" dirty="0">
                        <a:solidFill>
                          <a:schemeClr val="tx1"/>
                        </a:solidFill>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200" b="1" dirty="0">
                          <a:solidFill>
                            <a:schemeClr val="tx1"/>
                          </a:solidFill>
                        </a:rPr>
                        <a:t>安全组</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27221">
                <a:tc>
                  <a:txBody>
                    <a:bodyPr/>
                    <a:lstStyle/>
                    <a:p>
                      <a:pPr algn="ctr"/>
                      <a:r>
                        <a:rPr lang="en-US" altLang="zh-CN" sz="1200" b="0" dirty="0"/>
                        <a:t>192.168.1.1</a:t>
                      </a:r>
                      <a:endParaRPr lang="zh-CN" altLang="en-US" sz="1200" b="0" dirty="0"/>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b="0" dirty="0"/>
                        <a:t>Group</a:t>
                      </a:r>
                      <a:r>
                        <a:rPr lang="en-US" altLang="zh-CN" sz="1200" b="0" baseline="0" dirty="0"/>
                        <a:t>1</a:t>
                      </a:r>
                      <a:endParaRPr lang="zh-CN" altLang="en-US" sz="1200" b="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27221">
                <a:tc>
                  <a:txBody>
                    <a:bodyPr/>
                    <a:lstStyle/>
                    <a:p>
                      <a:pPr algn="ctr"/>
                      <a:r>
                        <a:rPr lang="en-US" altLang="zh-CN" sz="1200" b="0" dirty="0"/>
                        <a:t>192.168.2.1</a:t>
                      </a:r>
                      <a:endParaRPr lang="zh-CN" altLang="en-US" sz="1200" b="0" dirty="0"/>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b="0" dirty="0"/>
                        <a:t>Group2</a:t>
                      </a:r>
                      <a:endParaRPr lang="zh-CN" altLang="en-US" sz="1200" b="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3" name="文本框 42"/>
          <p:cNvSpPr txBox="1"/>
          <p:nvPr/>
        </p:nvSpPr>
        <p:spPr bwMode="gray">
          <a:xfrm>
            <a:off x="10207284" y="1090015"/>
            <a:ext cx="1455848"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IP-Group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表项：</a:t>
            </a:r>
            <a:endParaRPr lang="zh-CN" altLang="en-US" sz="1400" b="1" dirty="0">
              <a:solidFill>
                <a:srgbClr val="FF99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607933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sym typeface="Huawei Sans" panose="020C0503030203020204" pitchFamily="34" charset="0"/>
              </a:rPr>
              <a:t>业务随行技术背景与基本概念</a:t>
            </a:r>
          </a:p>
          <a:p>
            <a:r>
              <a:rPr lang="zh-CN" altLang="en-US" b="1" dirty="0">
                <a:sym typeface="Huawei Sans" panose="020C0503030203020204" pitchFamily="34" charset="0"/>
              </a:rPr>
              <a:t>业务随行基本原理</a:t>
            </a:r>
          </a:p>
          <a:p>
            <a:r>
              <a:rPr lang="zh-CN" altLang="en-US" dirty="0">
                <a:solidFill>
                  <a:schemeClr val="bg1">
                    <a:lumMod val="50000"/>
                  </a:schemeClr>
                </a:solidFill>
                <a:sym typeface="Huawei Sans" panose="020C0503030203020204" pitchFamily="34" charset="0"/>
              </a:rPr>
              <a:t>业务随行方案设计</a:t>
            </a:r>
          </a:p>
          <a:p>
            <a:pPr marL="0" indent="0">
              <a:buNone/>
            </a:pPr>
            <a:endParaRPr lang="zh-CN" altLang="en-US" dirty="0">
              <a:sym typeface="Huawei Sans" panose="020C0503030203020204" pitchFamily="34" charset="0"/>
            </a:endParaRPr>
          </a:p>
        </p:txBody>
      </p:sp>
    </p:spTree>
    <p:extLst>
      <p:ext uri="{BB962C8B-B14F-4D97-AF65-F5344CB8AC3E}">
        <p14:creationId xmlns:p14="http://schemas.microsoft.com/office/powerpoint/2010/main" val="3005464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bwMode="gray"/>
        <p:txBody>
          <a:bodyPr>
            <a:normAutofit/>
          </a:bodyPr>
          <a:lstStyle/>
          <a:p>
            <a:r>
              <a:rPr lang="zh-CN" altLang="en-US" dirty="0"/>
              <a:t>业务随行工作原理概述</a:t>
            </a:r>
          </a:p>
        </p:txBody>
      </p:sp>
      <p:sp>
        <p:nvSpPr>
          <p:cNvPr id="80" name="文本占位符 79"/>
          <p:cNvSpPr>
            <a:spLocks noGrp="1"/>
          </p:cNvSpPr>
          <p:nvPr>
            <p:ph type="body" sz="quarter" idx="4294967295"/>
          </p:nvPr>
        </p:nvSpPr>
        <p:spPr bwMode="gray">
          <a:xfrm>
            <a:off x="6096001" y="1271588"/>
            <a:ext cx="5616574" cy="4912463"/>
          </a:xfrm>
        </p:spPr>
        <p:txBody>
          <a:bodyPr/>
          <a:lstStyle/>
          <a:p>
            <a:pPr marL="342900" indent="-342900" algn="just" fontAlgn="auto">
              <a:buSzPct val="100000"/>
              <a:buFont typeface="+mj-lt"/>
              <a:buAutoNum type="arabicPeriod"/>
            </a:pPr>
            <a:r>
              <a:rPr lang="zh-CN" altLang="en-US" sz="1400" b="1" dirty="0">
                <a:cs typeface="Huawei Sans" panose="020C0503030203020204" pitchFamily="34" charset="0"/>
              </a:rPr>
              <a:t>创建用户及安全组。</a:t>
            </a:r>
            <a:endParaRPr lang="en-US" altLang="zh-CN" sz="1400" b="1" dirty="0">
              <a:cs typeface="Huawei Sans" panose="020C0503030203020204" pitchFamily="34" charset="0"/>
            </a:endParaRPr>
          </a:p>
          <a:p>
            <a:pPr marL="465750" indent="-285750">
              <a:lnSpc>
                <a:spcPct val="120000"/>
              </a:lnSpc>
              <a:buFont typeface="Wingdings" panose="05000000000000000000" pitchFamily="2" charset="2"/>
              <a:buChar char="p"/>
            </a:pPr>
            <a:r>
              <a:rPr lang="zh-CN" altLang="en-US" sz="1400" dirty="0">
                <a:solidFill>
                  <a:srgbClr val="FF0000"/>
                </a:solidFill>
              </a:rPr>
              <a:t>管理员在控制器中定义安全组。</a:t>
            </a:r>
            <a:endParaRPr lang="en-US" altLang="zh-CN" sz="1400" dirty="0">
              <a:solidFill>
                <a:srgbClr val="FF0000"/>
              </a:solidFill>
            </a:endParaRPr>
          </a:p>
          <a:p>
            <a:pPr marL="465750" indent="-285750">
              <a:lnSpc>
                <a:spcPct val="120000"/>
              </a:lnSpc>
              <a:buFont typeface="Wingdings" panose="05000000000000000000" pitchFamily="2" charset="2"/>
              <a:buChar char="p"/>
            </a:pPr>
            <a:r>
              <a:rPr lang="zh-CN" altLang="en-US" sz="1400" dirty="0"/>
              <a:t>管理员在控制器中</a:t>
            </a:r>
            <a:r>
              <a:rPr lang="zh-CN" altLang="en-US" sz="1400" dirty="0">
                <a:solidFill>
                  <a:srgbClr val="FF0000"/>
                </a:solidFill>
              </a:rPr>
              <a:t>创建用户账号</a:t>
            </a:r>
            <a:r>
              <a:rPr lang="zh-CN" altLang="en-US" sz="1400" dirty="0"/>
              <a:t>，并配置</a:t>
            </a:r>
            <a:r>
              <a:rPr lang="zh-CN" altLang="en-US" sz="1400" dirty="0">
                <a:solidFill>
                  <a:srgbClr val="FF0000"/>
                </a:solidFill>
              </a:rPr>
              <a:t>授权规则</a:t>
            </a:r>
            <a:r>
              <a:rPr lang="zh-CN" altLang="en-US" sz="1400" dirty="0"/>
              <a:t>、</a:t>
            </a:r>
            <a:r>
              <a:rPr lang="zh-CN" altLang="en-US" sz="1400" dirty="0">
                <a:solidFill>
                  <a:srgbClr val="FF0000"/>
                </a:solidFill>
              </a:rPr>
              <a:t>授权结果</a:t>
            </a:r>
            <a:r>
              <a:rPr lang="zh-CN" altLang="en-US" sz="1400" dirty="0"/>
              <a:t>，将用户授权到对应安全组。</a:t>
            </a:r>
            <a:endParaRPr lang="en-US" altLang="zh-CN" sz="1400" dirty="0"/>
          </a:p>
          <a:p>
            <a:pPr marL="342900" indent="-342900" algn="just" fontAlgn="auto">
              <a:buSzPct val="100000"/>
              <a:buFont typeface="+mj-lt"/>
              <a:buAutoNum type="arabicPeriod" startAt="2"/>
            </a:pPr>
            <a:r>
              <a:rPr lang="zh-CN" altLang="en-US" sz="1400" b="1" dirty="0">
                <a:cs typeface="Huawei Sans" panose="020C0503030203020204" pitchFamily="34" charset="0"/>
              </a:rPr>
              <a:t>定义并部署策略控制矩阵。</a:t>
            </a:r>
            <a:endParaRPr lang="en-US" altLang="zh-CN" sz="1400" b="1" dirty="0">
              <a:cs typeface="Huawei Sans" panose="020C0503030203020204" pitchFamily="34" charset="0"/>
            </a:endParaRPr>
          </a:p>
          <a:p>
            <a:pPr marL="465750" indent="-285750">
              <a:lnSpc>
                <a:spcPct val="120000"/>
              </a:lnSpc>
              <a:buFont typeface="Wingdings" panose="05000000000000000000" pitchFamily="2" charset="2"/>
              <a:buChar char="p"/>
            </a:pPr>
            <a:r>
              <a:rPr lang="zh-CN" altLang="en-US" sz="1400" dirty="0"/>
              <a:t>管理员在控制器中指定策略执行点设备，并定义</a:t>
            </a:r>
            <a:r>
              <a:rPr lang="zh-CN" altLang="en-US" sz="1400" dirty="0">
                <a:solidFill>
                  <a:srgbClr val="FF0000"/>
                </a:solidFill>
              </a:rPr>
              <a:t>策略控制矩阵</a:t>
            </a:r>
            <a:r>
              <a:rPr lang="zh-CN" altLang="en-US" sz="1400" dirty="0"/>
              <a:t>。</a:t>
            </a:r>
            <a:endParaRPr lang="en-US" altLang="zh-CN" sz="1400" dirty="0"/>
          </a:p>
          <a:p>
            <a:pPr marL="465750" indent="-285750">
              <a:lnSpc>
                <a:spcPct val="120000"/>
              </a:lnSpc>
              <a:buFont typeface="Wingdings" panose="05000000000000000000" pitchFamily="2" charset="2"/>
              <a:buChar char="p"/>
            </a:pPr>
            <a:r>
              <a:rPr lang="zh-CN" altLang="en-US" sz="1400" dirty="0"/>
              <a:t>控制器自动将组间策略下发至策略执行点设备。</a:t>
            </a:r>
            <a:endParaRPr lang="en-US" altLang="zh-CN" sz="1400" dirty="0"/>
          </a:p>
          <a:p>
            <a:pPr marL="342900" indent="-342900" algn="just" fontAlgn="auto">
              <a:buSzPct val="100000"/>
              <a:buFont typeface="+mj-lt"/>
              <a:buAutoNum type="arabicPeriod" startAt="3"/>
            </a:pPr>
            <a:r>
              <a:rPr lang="zh-CN" altLang="en-US" sz="1400" b="1" dirty="0">
                <a:cs typeface="Huawei Sans" panose="020C0503030203020204" pitchFamily="34" charset="0"/>
              </a:rPr>
              <a:t>用户启动认证。</a:t>
            </a:r>
            <a:endParaRPr lang="en-US" altLang="zh-CN" sz="1400" b="1" dirty="0">
              <a:cs typeface="Huawei Sans" panose="020C0503030203020204" pitchFamily="34" charset="0"/>
            </a:endParaRPr>
          </a:p>
          <a:p>
            <a:pPr marL="465750" indent="-285750">
              <a:lnSpc>
                <a:spcPct val="120000"/>
              </a:lnSpc>
              <a:buFont typeface="Wingdings" panose="05000000000000000000" pitchFamily="2" charset="2"/>
              <a:buChar char="p"/>
            </a:pPr>
            <a:r>
              <a:rPr lang="zh-CN" altLang="en-US" sz="1400" dirty="0"/>
              <a:t>用户接入网络，控制器校验用户身份。</a:t>
            </a:r>
            <a:endParaRPr lang="en-US" altLang="zh-CN" sz="1400" dirty="0"/>
          </a:p>
          <a:p>
            <a:pPr marL="465750" indent="-285750">
              <a:lnSpc>
                <a:spcPct val="120000"/>
              </a:lnSpc>
              <a:buFont typeface="Wingdings" panose="05000000000000000000" pitchFamily="2" charset="2"/>
              <a:buChar char="p"/>
            </a:pPr>
            <a:r>
              <a:rPr lang="zh-CN" altLang="en-US" sz="1400" dirty="0"/>
              <a:t>控制器根据用户的登录信息，将其与安全组关联，并将该用户所属安全组作为授权结果下发给认证点。</a:t>
            </a:r>
            <a:endParaRPr lang="en-US" altLang="zh-CN" sz="1400" dirty="0"/>
          </a:p>
          <a:p>
            <a:pPr marL="342900" indent="-342900" algn="just" fontAlgn="auto">
              <a:buSzPct val="100000"/>
              <a:buFont typeface="+mj-lt"/>
              <a:buAutoNum type="arabicPeriod" startAt="4"/>
            </a:pPr>
            <a:r>
              <a:rPr lang="zh-CN" altLang="en-US" sz="1400" b="1" dirty="0">
                <a:cs typeface="Huawei Sans" panose="020C0503030203020204" pitchFamily="34" charset="0"/>
              </a:rPr>
              <a:t>用户访问网络。</a:t>
            </a:r>
            <a:endParaRPr lang="en-US" altLang="zh-CN" sz="1400" b="1" dirty="0">
              <a:cs typeface="Huawei Sans" panose="020C0503030203020204" pitchFamily="34" charset="0"/>
            </a:endParaRPr>
          </a:p>
          <a:p>
            <a:pPr marL="465750" indent="-285750">
              <a:lnSpc>
                <a:spcPct val="120000"/>
              </a:lnSpc>
              <a:buFont typeface="Wingdings" panose="05000000000000000000" pitchFamily="2" charset="2"/>
              <a:buChar char="p"/>
            </a:pPr>
            <a:r>
              <a:rPr lang="zh-CN" altLang="en-US" sz="1400" dirty="0"/>
              <a:t>策略执行点根据</a:t>
            </a:r>
            <a:r>
              <a:rPr lang="en-US" altLang="zh-CN" sz="1400" dirty="0"/>
              <a:t>IP</a:t>
            </a:r>
            <a:r>
              <a:rPr lang="zh-CN" altLang="en-US" sz="1400" dirty="0"/>
              <a:t>地址与安全组的对应关系（</a:t>
            </a:r>
            <a:r>
              <a:rPr lang="en-US" altLang="zh-CN" sz="1400" dirty="0"/>
              <a:t>IP-Group</a:t>
            </a:r>
            <a:r>
              <a:rPr lang="zh-CN" altLang="en-US" sz="1400" dirty="0"/>
              <a:t>信息），识别报文的源、目的组信息，进而匹配和执行组间策略。</a:t>
            </a:r>
          </a:p>
        </p:txBody>
      </p:sp>
      <p:cxnSp>
        <p:nvCxnSpPr>
          <p:cNvPr id="8" name="直接连接符 7">
            <a:extLst>
              <a:ext uri="{FF2B5EF4-FFF2-40B4-BE49-F238E27FC236}">
                <a16:creationId xmlns:a16="http://schemas.microsoft.com/office/drawing/2014/main" id="{F1724512-3E18-441D-B606-98D8A14238A6}"/>
              </a:ext>
            </a:extLst>
          </p:cNvPr>
          <p:cNvCxnSpPr/>
          <p:nvPr/>
        </p:nvCxnSpPr>
        <p:spPr bwMode="gray">
          <a:xfrm>
            <a:off x="1223895" y="2125657"/>
            <a:ext cx="8128" cy="3600000"/>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9" name="直接连接符 8">
            <a:extLst>
              <a:ext uri="{FF2B5EF4-FFF2-40B4-BE49-F238E27FC236}">
                <a16:creationId xmlns:a16="http://schemas.microsoft.com/office/drawing/2014/main" id="{5AE54BDB-0A1C-4FB1-AED8-87927D01A5D1}"/>
              </a:ext>
            </a:extLst>
          </p:cNvPr>
          <p:cNvCxnSpPr/>
          <p:nvPr/>
        </p:nvCxnSpPr>
        <p:spPr bwMode="gray">
          <a:xfrm>
            <a:off x="2363398" y="2125657"/>
            <a:ext cx="1101" cy="3600000"/>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10" name="直接连接符 9">
            <a:extLst>
              <a:ext uri="{FF2B5EF4-FFF2-40B4-BE49-F238E27FC236}">
                <a16:creationId xmlns:a16="http://schemas.microsoft.com/office/drawing/2014/main" id="{DCCF7681-2AE3-4FF5-A42D-EB19F13249D0}"/>
              </a:ext>
            </a:extLst>
          </p:cNvPr>
          <p:cNvCxnSpPr/>
          <p:nvPr/>
        </p:nvCxnSpPr>
        <p:spPr bwMode="gray">
          <a:xfrm>
            <a:off x="4359295" y="2125656"/>
            <a:ext cx="5008" cy="3600000"/>
          </a:xfrm>
          <a:prstGeom prst="line">
            <a:avLst/>
          </a:prstGeom>
          <a:noFill/>
          <a:ln w="19050" cap="flat" cmpd="sng" algn="ctr">
            <a:solidFill>
              <a:schemeClr val="bg1">
                <a:lumMod val="75000"/>
              </a:schemeClr>
            </a:solidFill>
            <a:prstDash val="sysDot"/>
            <a:round/>
            <a:headEnd type="none" w="med" len="med"/>
            <a:tailEnd type="none" w="med" len="med"/>
          </a:ln>
          <a:effectLst/>
        </p:spPr>
      </p:cxnSp>
      <p:sp>
        <p:nvSpPr>
          <p:cNvPr id="11" name="TextBox 40">
            <a:extLst>
              <a:ext uri="{FF2B5EF4-FFF2-40B4-BE49-F238E27FC236}">
                <a16:creationId xmlns:a16="http://schemas.microsoft.com/office/drawing/2014/main" id="{E23A3C99-EE95-4759-84F4-6525B1F88D30}"/>
              </a:ext>
            </a:extLst>
          </p:cNvPr>
          <p:cNvSpPr txBox="1"/>
          <p:nvPr/>
        </p:nvSpPr>
        <p:spPr bwMode="gray">
          <a:xfrm>
            <a:off x="884573" y="1396875"/>
            <a:ext cx="824372" cy="281603"/>
          </a:xfrm>
          <a:prstGeom prst="rect">
            <a:avLst/>
          </a:prstGeom>
          <a:noFill/>
        </p:spPr>
        <p:txBody>
          <a:bodyPr wrap="square" lIns="48000" tIns="48000" rIns="48000" bIns="48000" rtlCol="0">
            <a:spAutoFit/>
          </a:bodyPr>
          <a:lstStyle/>
          <a:p>
            <a:pPr algn="ctr"/>
            <a:r>
              <a:rPr lang="zh-CN" altLang="en-US" sz="1200" b="1" dirty="0">
                <a:cs typeface="Arial" pitchFamily="34" charset="0"/>
              </a:rPr>
              <a:t>用户终端</a:t>
            </a:r>
          </a:p>
        </p:txBody>
      </p:sp>
      <p:sp>
        <p:nvSpPr>
          <p:cNvPr id="12" name="TextBox 41">
            <a:extLst>
              <a:ext uri="{FF2B5EF4-FFF2-40B4-BE49-F238E27FC236}">
                <a16:creationId xmlns:a16="http://schemas.microsoft.com/office/drawing/2014/main" id="{107FF330-60DF-4117-B4EF-26EB0211B8ED}"/>
              </a:ext>
            </a:extLst>
          </p:cNvPr>
          <p:cNvSpPr txBox="1"/>
          <p:nvPr/>
        </p:nvSpPr>
        <p:spPr bwMode="gray">
          <a:xfrm>
            <a:off x="1734272" y="1398155"/>
            <a:ext cx="1521348" cy="281603"/>
          </a:xfrm>
          <a:prstGeom prst="rect">
            <a:avLst/>
          </a:prstGeom>
          <a:noFill/>
        </p:spPr>
        <p:txBody>
          <a:bodyPr wrap="square" lIns="48000" tIns="48000" rIns="48000" bIns="48000" rtlCol="0">
            <a:spAutoFit/>
          </a:bodyPr>
          <a:lstStyle/>
          <a:p>
            <a:pPr algn="ctr"/>
            <a:r>
              <a:rPr lang="zh-CN" altLang="en-US" sz="1200" b="1" dirty="0">
                <a:cs typeface="Arial" pitchFamily="34" charset="0"/>
              </a:rPr>
              <a:t>认证点</a:t>
            </a:r>
            <a:r>
              <a:rPr lang="en-US" altLang="zh-CN" sz="1200" b="1" dirty="0">
                <a:cs typeface="Arial" pitchFamily="34" charset="0"/>
              </a:rPr>
              <a:t>&amp;</a:t>
            </a:r>
            <a:r>
              <a:rPr lang="zh-CN" altLang="en-US" sz="1200" b="1" dirty="0">
                <a:solidFill>
                  <a:srgbClr val="FF0000"/>
                </a:solidFill>
                <a:cs typeface="Arial" pitchFamily="34" charset="0"/>
              </a:rPr>
              <a:t>策略执行点</a:t>
            </a:r>
          </a:p>
        </p:txBody>
      </p:sp>
      <p:sp>
        <p:nvSpPr>
          <p:cNvPr id="13" name="TextBox 42">
            <a:extLst>
              <a:ext uri="{FF2B5EF4-FFF2-40B4-BE49-F238E27FC236}">
                <a16:creationId xmlns:a16="http://schemas.microsoft.com/office/drawing/2014/main" id="{10D25089-1E74-43A4-A230-304F09C4C5A5}"/>
              </a:ext>
            </a:extLst>
          </p:cNvPr>
          <p:cNvSpPr txBox="1"/>
          <p:nvPr/>
        </p:nvSpPr>
        <p:spPr bwMode="gray">
          <a:xfrm>
            <a:off x="3802631" y="1396875"/>
            <a:ext cx="1113327" cy="281603"/>
          </a:xfrm>
          <a:prstGeom prst="rect">
            <a:avLst/>
          </a:prstGeom>
          <a:noFill/>
        </p:spPr>
        <p:txBody>
          <a:bodyPr wrap="square" lIns="48000" tIns="48000" rIns="48000" bIns="48000" rtlCol="0">
            <a:spAutoFit/>
          </a:bodyPr>
          <a:lstStyle/>
          <a:p>
            <a:pPr algn="ctr"/>
            <a:r>
              <a:rPr lang="zh-CN" altLang="en-US" sz="1200" b="1" dirty="0">
                <a:cs typeface="Arial" pitchFamily="34" charset="0"/>
              </a:rPr>
              <a:t>控制器</a:t>
            </a:r>
          </a:p>
        </p:txBody>
      </p:sp>
      <p:pic>
        <p:nvPicPr>
          <p:cNvPr id="36" name="图片 35" descr="PC.png">
            <a:extLst>
              <a:ext uri="{FF2B5EF4-FFF2-40B4-BE49-F238E27FC236}">
                <a16:creationId xmlns:a16="http://schemas.microsoft.com/office/drawing/2014/main" id="{2EA9B862-B960-493C-AF31-1A65DB46F124}"/>
              </a:ext>
            </a:extLst>
          </p:cNvPr>
          <p:cNvPicPr>
            <a:picLocks noChangeAspect="1"/>
          </p:cNvPicPr>
          <p:nvPr/>
        </p:nvPicPr>
        <p:blipFill>
          <a:blip r:embed="rId3" cstate="print"/>
          <a:stretch>
            <a:fillRect/>
          </a:stretch>
        </p:blipFill>
        <p:spPr bwMode="gray">
          <a:xfrm>
            <a:off x="986127" y="1676389"/>
            <a:ext cx="566920" cy="402702"/>
          </a:xfrm>
          <a:prstGeom prst="rect">
            <a:avLst/>
          </a:prstGeom>
          <a:effectLst>
            <a:outerShdw blurRad="50800" dist="50800" dir="5400000" algn="ctr" rotWithShape="0">
              <a:schemeClr val="bg1"/>
            </a:outerShdw>
          </a:effectLst>
        </p:spPr>
      </p:pic>
      <p:pic>
        <p:nvPicPr>
          <p:cNvPr id="38" name="图片 37" descr="通用交换机.png"/>
          <p:cNvPicPr>
            <a:picLocks noChangeAspect="1"/>
          </p:cNvPicPr>
          <p:nvPr/>
        </p:nvPicPr>
        <p:blipFill>
          <a:blip r:embed="rId4" cstate="print"/>
          <a:stretch>
            <a:fillRect/>
          </a:stretch>
        </p:blipFill>
        <p:spPr bwMode="gray">
          <a:xfrm>
            <a:off x="2094499" y="1656831"/>
            <a:ext cx="540000" cy="441818"/>
          </a:xfrm>
          <a:prstGeom prst="rect">
            <a:avLst/>
          </a:prstGeom>
        </p:spPr>
      </p:pic>
      <p:pic>
        <p:nvPicPr>
          <p:cNvPr id="39" name="图片 3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3652469" y="1753543"/>
            <a:ext cx="1346845" cy="248394"/>
          </a:xfrm>
          <a:prstGeom prst="rect">
            <a:avLst/>
          </a:prstGeom>
        </p:spPr>
      </p:pic>
      <p:sp>
        <p:nvSpPr>
          <p:cNvPr id="46" name="TextBox 70">
            <a:extLst>
              <a:ext uri="{FF2B5EF4-FFF2-40B4-BE49-F238E27FC236}">
                <a16:creationId xmlns:a16="http://schemas.microsoft.com/office/drawing/2014/main" id="{E06C8464-DCA5-4947-AAAB-669C8670DC6D}"/>
              </a:ext>
            </a:extLst>
          </p:cNvPr>
          <p:cNvSpPr txBox="1">
            <a:spLocks noChangeArrowheads="1"/>
          </p:cNvSpPr>
          <p:nvPr/>
        </p:nvSpPr>
        <p:spPr bwMode="gray">
          <a:xfrm>
            <a:off x="2369248" y="2518617"/>
            <a:ext cx="1690405" cy="503590"/>
          </a:xfrm>
          <a:prstGeom prst="rect">
            <a:avLst/>
          </a:prstGeom>
          <a:noFill/>
          <a:ln w="9525">
            <a:noFill/>
            <a:miter lim="800000"/>
            <a:headEnd/>
            <a:tailEnd/>
          </a:ln>
        </p:spPr>
        <p:txBody>
          <a:bodyPr wrap="square" lIns="36000" tIns="36000" rIns="36000" bIns="36000">
            <a:spAutoFit/>
          </a:bodyPr>
          <a:lstStyle/>
          <a:p>
            <a:pPr marL="180000" indent="-180000">
              <a:buFont typeface="+mj-lt"/>
              <a:buAutoNum type="arabicPeriod"/>
            </a:pPr>
            <a:r>
              <a:rPr lang="zh-CN" altLang="en-US" sz="1400" dirty="0">
                <a:cs typeface="Arial" charset="0"/>
              </a:rPr>
              <a:t>管理员定义用户安全组与组间策略</a:t>
            </a:r>
            <a:endParaRPr lang="en-US" altLang="zh-CN" sz="1400" dirty="0">
              <a:cs typeface="Arial" charset="0"/>
            </a:endParaRPr>
          </a:p>
        </p:txBody>
      </p:sp>
      <p:cxnSp>
        <p:nvCxnSpPr>
          <p:cNvPr id="53" name="直接箭头连接符 52">
            <a:extLst>
              <a:ext uri="{FF2B5EF4-FFF2-40B4-BE49-F238E27FC236}">
                <a16:creationId xmlns:a16="http://schemas.microsoft.com/office/drawing/2014/main" id="{92E27AD2-F2F2-4191-86DF-AE0235D20586}"/>
              </a:ext>
            </a:extLst>
          </p:cNvPr>
          <p:cNvCxnSpPr/>
          <p:nvPr/>
        </p:nvCxnSpPr>
        <p:spPr bwMode="gray">
          <a:xfrm>
            <a:off x="2363398" y="3596595"/>
            <a:ext cx="1995896" cy="0"/>
          </a:xfrm>
          <a:prstGeom prst="straightConnector1">
            <a:avLst/>
          </a:prstGeom>
          <a:noFill/>
          <a:ln w="12700" cap="flat" cmpd="sng" algn="ctr">
            <a:solidFill>
              <a:schemeClr val="tx1"/>
            </a:solidFill>
            <a:prstDash val="solid"/>
            <a:round/>
            <a:headEnd type="triangle" w="med" len="med"/>
            <a:tailEnd type="none"/>
          </a:ln>
          <a:effectLst/>
        </p:spPr>
      </p:cxnSp>
      <p:sp>
        <p:nvSpPr>
          <p:cNvPr id="66" name="弧形 65">
            <a:extLst>
              <a:ext uri="{FF2B5EF4-FFF2-40B4-BE49-F238E27FC236}">
                <a16:creationId xmlns:a16="http://schemas.microsoft.com/office/drawing/2014/main" id="{3DA70471-7798-42CD-B717-EB45EDA46C09}"/>
              </a:ext>
            </a:extLst>
          </p:cNvPr>
          <p:cNvSpPr/>
          <p:nvPr/>
        </p:nvSpPr>
        <p:spPr bwMode="gray">
          <a:xfrm flipH="1">
            <a:off x="4030434" y="2529680"/>
            <a:ext cx="496061" cy="447207"/>
          </a:xfrm>
          <a:prstGeom prst="arc">
            <a:avLst>
              <a:gd name="adj1" fmla="val 15456015"/>
              <a:gd name="adj2" fmla="val 6243066"/>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00"/>
          </a:p>
        </p:txBody>
      </p:sp>
      <p:sp>
        <p:nvSpPr>
          <p:cNvPr id="68" name="TextBox 70">
            <a:extLst>
              <a:ext uri="{FF2B5EF4-FFF2-40B4-BE49-F238E27FC236}">
                <a16:creationId xmlns:a16="http://schemas.microsoft.com/office/drawing/2014/main" id="{E06C8464-DCA5-4947-AAAB-669C8670DC6D}"/>
              </a:ext>
            </a:extLst>
          </p:cNvPr>
          <p:cNvSpPr txBox="1">
            <a:spLocks noChangeArrowheads="1"/>
          </p:cNvSpPr>
          <p:nvPr/>
        </p:nvSpPr>
        <p:spPr bwMode="gray">
          <a:xfrm>
            <a:off x="2363398" y="3298957"/>
            <a:ext cx="2066733" cy="288147"/>
          </a:xfrm>
          <a:prstGeom prst="rect">
            <a:avLst/>
          </a:prstGeom>
          <a:noFill/>
          <a:ln w="9525">
            <a:noFill/>
            <a:miter lim="800000"/>
            <a:headEnd/>
            <a:tailEnd/>
          </a:ln>
        </p:spPr>
        <p:txBody>
          <a:bodyPr wrap="square" lIns="36000" tIns="36000" rIns="36000" bIns="36000">
            <a:spAutoFit/>
          </a:bodyPr>
          <a:lstStyle/>
          <a:p>
            <a:pPr marL="180000" indent="-180000">
              <a:buFont typeface="+mj-lt"/>
              <a:buAutoNum type="arabicPeriod" startAt="2"/>
            </a:pPr>
            <a:r>
              <a:rPr lang="zh-CN" altLang="en-US" sz="1400" dirty="0">
                <a:cs typeface="Arial" charset="0"/>
              </a:rPr>
              <a:t>下发安全组与组间策略</a:t>
            </a:r>
            <a:endParaRPr lang="en-US" altLang="zh-CN" sz="1400" dirty="0">
              <a:cs typeface="Arial" charset="0"/>
            </a:endParaRPr>
          </a:p>
        </p:txBody>
      </p:sp>
      <p:cxnSp>
        <p:nvCxnSpPr>
          <p:cNvPr id="69" name="直接箭头连接符 68">
            <a:extLst>
              <a:ext uri="{FF2B5EF4-FFF2-40B4-BE49-F238E27FC236}">
                <a16:creationId xmlns:a16="http://schemas.microsoft.com/office/drawing/2014/main" id="{92E27AD2-F2F2-4191-86DF-AE0235D20586}"/>
              </a:ext>
            </a:extLst>
          </p:cNvPr>
          <p:cNvCxnSpPr/>
          <p:nvPr/>
        </p:nvCxnSpPr>
        <p:spPr bwMode="gray">
          <a:xfrm>
            <a:off x="1232427" y="4137480"/>
            <a:ext cx="1130971" cy="0"/>
          </a:xfrm>
          <a:prstGeom prst="straightConnector1">
            <a:avLst/>
          </a:prstGeom>
          <a:noFill/>
          <a:ln w="12700" cap="flat" cmpd="sng" algn="ctr">
            <a:solidFill>
              <a:schemeClr val="tx1"/>
            </a:solidFill>
            <a:prstDash val="solid"/>
            <a:round/>
            <a:headEnd type="triangle" w="med" len="med"/>
            <a:tailEnd type="triangle" w="med" len="med"/>
          </a:ln>
          <a:effectLst/>
        </p:spPr>
      </p:cxnSp>
      <p:sp>
        <p:nvSpPr>
          <p:cNvPr id="71" name="TextBox 70">
            <a:extLst>
              <a:ext uri="{FF2B5EF4-FFF2-40B4-BE49-F238E27FC236}">
                <a16:creationId xmlns:a16="http://schemas.microsoft.com/office/drawing/2014/main" id="{E06C8464-DCA5-4947-AAAB-669C8670DC6D}"/>
              </a:ext>
            </a:extLst>
          </p:cNvPr>
          <p:cNvSpPr txBox="1">
            <a:spLocks noChangeArrowheads="1"/>
          </p:cNvSpPr>
          <p:nvPr/>
        </p:nvSpPr>
        <p:spPr bwMode="gray">
          <a:xfrm>
            <a:off x="1288693" y="3838533"/>
            <a:ext cx="1045865" cy="288147"/>
          </a:xfrm>
          <a:prstGeom prst="rect">
            <a:avLst/>
          </a:prstGeom>
          <a:noFill/>
          <a:ln w="9525">
            <a:noFill/>
            <a:miter lim="800000"/>
            <a:headEnd/>
            <a:tailEnd/>
          </a:ln>
        </p:spPr>
        <p:txBody>
          <a:bodyPr wrap="square" lIns="36000" tIns="36000" rIns="36000" bIns="36000">
            <a:spAutoFit/>
          </a:bodyPr>
          <a:lstStyle/>
          <a:p>
            <a:pPr marL="180000" indent="-180000" algn="ctr">
              <a:buFont typeface="+mj-lt"/>
              <a:buAutoNum type="arabicPeriod" startAt="3"/>
            </a:pPr>
            <a:r>
              <a:rPr lang="zh-CN" altLang="en-US" sz="1400" dirty="0">
                <a:cs typeface="Arial" charset="0"/>
              </a:rPr>
              <a:t>发起认证</a:t>
            </a:r>
            <a:endParaRPr lang="en-US" altLang="zh-CN" sz="1400" dirty="0">
              <a:cs typeface="Arial" charset="0"/>
            </a:endParaRPr>
          </a:p>
        </p:txBody>
      </p:sp>
      <p:cxnSp>
        <p:nvCxnSpPr>
          <p:cNvPr id="72" name="直接箭头连接符 71">
            <a:extLst>
              <a:ext uri="{FF2B5EF4-FFF2-40B4-BE49-F238E27FC236}">
                <a16:creationId xmlns:a16="http://schemas.microsoft.com/office/drawing/2014/main" id="{92E27AD2-F2F2-4191-86DF-AE0235D20586}"/>
              </a:ext>
            </a:extLst>
          </p:cNvPr>
          <p:cNvCxnSpPr/>
          <p:nvPr/>
        </p:nvCxnSpPr>
        <p:spPr bwMode="gray">
          <a:xfrm>
            <a:off x="2376867" y="4591739"/>
            <a:ext cx="1987436" cy="0"/>
          </a:xfrm>
          <a:prstGeom prst="straightConnector1">
            <a:avLst/>
          </a:prstGeom>
          <a:noFill/>
          <a:ln w="12700" cap="flat" cmpd="sng" algn="ctr">
            <a:solidFill>
              <a:schemeClr val="tx1"/>
            </a:solidFill>
            <a:prstDash val="solid"/>
            <a:round/>
            <a:headEnd type="triangle" w="med" len="med"/>
            <a:tailEnd type="triangle" w="med" len="med"/>
          </a:ln>
          <a:effectLst/>
        </p:spPr>
      </p:cxnSp>
      <p:sp>
        <p:nvSpPr>
          <p:cNvPr id="74" name="TextBox 70">
            <a:extLst>
              <a:ext uri="{FF2B5EF4-FFF2-40B4-BE49-F238E27FC236}">
                <a16:creationId xmlns:a16="http://schemas.microsoft.com/office/drawing/2014/main" id="{E06C8464-DCA5-4947-AAAB-669C8670DC6D}"/>
              </a:ext>
            </a:extLst>
          </p:cNvPr>
          <p:cNvSpPr txBox="1">
            <a:spLocks noChangeArrowheads="1"/>
          </p:cNvSpPr>
          <p:nvPr/>
        </p:nvSpPr>
        <p:spPr bwMode="gray">
          <a:xfrm>
            <a:off x="2459762" y="4089363"/>
            <a:ext cx="1873003" cy="503590"/>
          </a:xfrm>
          <a:prstGeom prst="rect">
            <a:avLst/>
          </a:prstGeom>
          <a:noFill/>
          <a:ln w="9525">
            <a:noFill/>
            <a:miter lim="800000"/>
            <a:headEnd/>
            <a:tailEnd/>
          </a:ln>
        </p:spPr>
        <p:txBody>
          <a:bodyPr wrap="square" lIns="36000" tIns="36000" rIns="36000" bIns="36000">
            <a:spAutoFit/>
          </a:bodyPr>
          <a:lstStyle/>
          <a:p>
            <a:pPr marL="180000" indent="-180000">
              <a:buFont typeface="+mj-lt"/>
              <a:buAutoNum type="arabicPeriod" startAt="3"/>
            </a:pPr>
            <a:r>
              <a:rPr lang="zh-CN" altLang="en-US" sz="1400" dirty="0">
                <a:cs typeface="Arial" charset="0"/>
              </a:rPr>
              <a:t>校验用户身份，并将其与安全组进行关联</a:t>
            </a:r>
            <a:endParaRPr lang="en-US" altLang="zh-CN" sz="1400" dirty="0">
              <a:cs typeface="Arial" charset="0"/>
            </a:endParaRPr>
          </a:p>
        </p:txBody>
      </p:sp>
      <p:sp>
        <p:nvSpPr>
          <p:cNvPr id="75" name="Freeform 159"/>
          <p:cNvSpPr/>
          <p:nvPr/>
        </p:nvSpPr>
        <p:spPr bwMode="gray">
          <a:xfrm flipH="1">
            <a:off x="5139212" y="1476550"/>
            <a:ext cx="920495" cy="4811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400" dirty="0">
                <a:solidFill>
                  <a:schemeClr val="bg1">
                    <a:lumMod val="50000"/>
                  </a:schemeClr>
                </a:solidFill>
              </a:rPr>
              <a:t>Intranet</a:t>
            </a:r>
            <a:endParaRPr lang="en-US" sz="1400" dirty="0">
              <a:solidFill>
                <a:schemeClr val="bg1">
                  <a:lumMod val="50000"/>
                </a:schemeClr>
              </a:solidFill>
            </a:endParaRPr>
          </a:p>
        </p:txBody>
      </p:sp>
      <p:cxnSp>
        <p:nvCxnSpPr>
          <p:cNvPr id="76" name="直接连接符 75">
            <a:extLst>
              <a:ext uri="{FF2B5EF4-FFF2-40B4-BE49-F238E27FC236}">
                <a16:creationId xmlns:a16="http://schemas.microsoft.com/office/drawing/2014/main" id="{DCCF7681-2AE3-4FF5-A42D-EB19F13249D0}"/>
              </a:ext>
            </a:extLst>
          </p:cNvPr>
          <p:cNvCxnSpPr/>
          <p:nvPr/>
        </p:nvCxnSpPr>
        <p:spPr bwMode="gray">
          <a:xfrm>
            <a:off x="5596955" y="2125656"/>
            <a:ext cx="5008" cy="3600000"/>
          </a:xfrm>
          <a:prstGeom prst="line">
            <a:avLst/>
          </a:prstGeom>
          <a:noFill/>
          <a:ln w="19050" cap="flat" cmpd="sng" algn="ctr">
            <a:solidFill>
              <a:schemeClr val="bg1">
                <a:lumMod val="75000"/>
              </a:schemeClr>
            </a:solidFill>
            <a:prstDash val="sysDot"/>
            <a:round/>
            <a:headEnd type="none" w="med" len="med"/>
            <a:tailEnd type="none" w="med" len="med"/>
          </a:ln>
          <a:effectLst/>
        </p:spPr>
      </p:cxnSp>
      <p:cxnSp>
        <p:nvCxnSpPr>
          <p:cNvPr id="77" name="直接箭头连接符 76">
            <a:extLst>
              <a:ext uri="{FF2B5EF4-FFF2-40B4-BE49-F238E27FC236}">
                <a16:creationId xmlns:a16="http://schemas.microsoft.com/office/drawing/2014/main" id="{92E27AD2-F2F2-4191-86DF-AE0235D20586}"/>
              </a:ext>
            </a:extLst>
          </p:cNvPr>
          <p:cNvCxnSpPr/>
          <p:nvPr/>
        </p:nvCxnSpPr>
        <p:spPr bwMode="gray">
          <a:xfrm>
            <a:off x="1232427" y="5442766"/>
            <a:ext cx="4369536" cy="0"/>
          </a:xfrm>
          <a:prstGeom prst="straightConnector1">
            <a:avLst/>
          </a:prstGeom>
          <a:noFill/>
          <a:ln w="12700" cap="flat" cmpd="sng" algn="ctr">
            <a:solidFill>
              <a:schemeClr val="tx1"/>
            </a:solidFill>
            <a:prstDash val="solid"/>
            <a:round/>
            <a:headEnd type="none" w="med" len="med"/>
            <a:tailEnd type="triangle" w="med" len="med"/>
          </a:ln>
          <a:effectLst/>
        </p:spPr>
      </p:cxnSp>
      <p:sp>
        <p:nvSpPr>
          <p:cNvPr id="79" name="TextBox 70">
            <a:extLst>
              <a:ext uri="{FF2B5EF4-FFF2-40B4-BE49-F238E27FC236}">
                <a16:creationId xmlns:a16="http://schemas.microsoft.com/office/drawing/2014/main" id="{E06C8464-DCA5-4947-AAAB-669C8670DC6D}"/>
              </a:ext>
            </a:extLst>
          </p:cNvPr>
          <p:cNvSpPr txBox="1">
            <a:spLocks noChangeArrowheads="1"/>
          </p:cNvSpPr>
          <p:nvPr/>
        </p:nvSpPr>
        <p:spPr bwMode="gray">
          <a:xfrm>
            <a:off x="1327286" y="4925672"/>
            <a:ext cx="1731698" cy="503590"/>
          </a:xfrm>
          <a:prstGeom prst="rect">
            <a:avLst/>
          </a:prstGeom>
          <a:noFill/>
          <a:ln w="9525">
            <a:noFill/>
            <a:miter lim="800000"/>
            <a:headEnd/>
            <a:tailEnd/>
          </a:ln>
        </p:spPr>
        <p:txBody>
          <a:bodyPr wrap="square" lIns="36000" tIns="36000" rIns="36000" bIns="36000">
            <a:spAutoFit/>
          </a:bodyPr>
          <a:lstStyle/>
          <a:p>
            <a:pPr marL="180000" indent="-180000">
              <a:buFont typeface="+mj-lt"/>
              <a:buAutoNum type="arabicPeriod" startAt="4"/>
            </a:pPr>
            <a:r>
              <a:rPr lang="zh-CN" altLang="en-US" sz="1400" dirty="0">
                <a:cs typeface="Arial" charset="0"/>
              </a:rPr>
              <a:t>访问网络，策略执行点执行组间策略</a:t>
            </a:r>
            <a:endParaRPr lang="en-US" altLang="zh-CN" sz="1400" dirty="0">
              <a:cs typeface="Arial" charset="0"/>
            </a:endParaRPr>
          </a:p>
        </p:txBody>
      </p:sp>
      <p:sp>
        <p:nvSpPr>
          <p:cNvPr id="25" name="TextBox 40">
            <a:extLst>
              <a:ext uri="{FF2B5EF4-FFF2-40B4-BE49-F238E27FC236}">
                <a16:creationId xmlns:a16="http://schemas.microsoft.com/office/drawing/2014/main" id="{E23A3C99-EE95-4759-84F4-6525B1F88D30}"/>
              </a:ext>
            </a:extLst>
          </p:cNvPr>
          <p:cNvSpPr txBox="1"/>
          <p:nvPr/>
        </p:nvSpPr>
        <p:spPr bwMode="gray">
          <a:xfrm>
            <a:off x="1515314" y="5778034"/>
            <a:ext cx="3692063" cy="281603"/>
          </a:xfrm>
          <a:prstGeom prst="rect">
            <a:avLst/>
          </a:prstGeom>
          <a:noFill/>
        </p:spPr>
        <p:txBody>
          <a:bodyPr wrap="square" lIns="48000" tIns="48000" rIns="48000" bIns="48000" rtlCol="0">
            <a:spAutoFit/>
          </a:bodyPr>
          <a:lstStyle/>
          <a:p>
            <a:pPr algn="ctr"/>
            <a:r>
              <a:rPr lang="zh-CN" altLang="en-US" sz="1200" b="1" dirty="0">
                <a:cs typeface="Arial" pitchFamily="34" charset="0"/>
              </a:rPr>
              <a:t>（以认证点与策略执行点是同一设备为例）</a:t>
            </a:r>
          </a:p>
        </p:txBody>
      </p:sp>
    </p:spTree>
    <p:extLst>
      <p:ext uri="{BB962C8B-B14F-4D97-AF65-F5344CB8AC3E}">
        <p14:creationId xmlns:p14="http://schemas.microsoft.com/office/powerpoint/2010/main" val="781194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normAutofit/>
          </a:bodyPr>
          <a:lstStyle/>
          <a:p>
            <a:r>
              <a:rPr lang="zh-CN" altLang="en-US" dirty="0"/>
              <a:t>业务随行工作原理详解 </a:t>
            </a:r>
            <a:r>
              <a:rPr lang="en-US" altLang="zh-CN" dirty="0"/>
              <a:t>(1)</a:t>
            </a:r>
            <a:endParaRPr lang="zh-CN" altLang="en-US" dirty="0"/>
          </a:p>
        </p:txBody>
      </p:sp>
      <p:grpSp>
        <p:nvGrpSpPr>
          <p:cNvPr id="51" name="组合 50"/>
          <p:cNvGrpSpPr/>
          <p:nvPr/>
        </p:nvGrpSpPr>
        <p:grpSpPr bwMode="gray">
          <a:xfrm>
            <a:off x="844116" y="1629434"/>
            <a:ext cx="4664221" cy="3919985"/>
            <a:chOff x="844116" y="1629434"/>
            <a:chExt cx="4664221" cy="3919985"/>
          </a:xfrm>
        </p:grpSpPr>
        <p:cxnSp>
          <p:nvCxnSpPr>
            <p:cNvPr id="5" name="Straight Connector 167"/>
            <p:cNvCxnSpPr>
              <a:stCxn id="15" idx="1"/>
              <a:endCxn id="22" idx="3"/>
            </p:cNvCxnSpPr>
            <p:nvPr/>
          </p:nvCxnSpPr>
          <p:spPr bwMode="gray">
            <a:xfrm flipH="1">
              <a:off x="2374475" y="1891045"/>
              <a:ext cx="662822"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167"/>
            <p:cNvCxnSpPr>
              <a:stCxn id="19" idx="0"/>
              <a:endCxn id="13" idx="2"/>
            </p:cNvCxnSpPr>
            <p:nvPr/>
          </p:nvCxnSpPr>
          <p:spPr bwMode="gray">
            <a:xfrm flipV="1">
              <a:off x="4414785" y="4235315"/>
              <a:ext cx="1" cy="41521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167"/>
            <p:cNvCxnSpPr>
              <a:stCxn id="18" idx="0"/>
              <a:endCxn id="12" idx="2"/>
            </p:cNvCxnSpPr>
            <p:nvPr/>
          </p:nvCxnSpPr>
          <p:spPr bwMode="gray">
            <a:xfrm flipV="1">
              <a:off x="2147182" y="4235315"/>
              <a:ext cx="1" cy="41521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167"/>
            <p:cNvCxnSpPr>
              <a:stCxn id="24" idx="0"/>
              <a:endCxn id="15" idx="2"/>
            </p:cNvCxnSpPr>
            <p:nvPr/>
          </p:nvCxnSpPr>
          <p:spPr bwMode="gray">
            <a:xfrm flipV="1">
              <a:off x="3282752" y="2091871"/>
              <a:ext cx="0" cy="715477"/>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0" name="Straight Connector 166"/>
            <p:cNvCxnSpPr>
              <a:endCxn id="13" idx="0"/>
            </p:cNvCxnSpPr>
            <p:nvPr/>
          </p:nvCxnSpPr>
          <p:spPr bwMode="gray">
            <a:xfrm>
              <a:off x="3283748" y="3005467"/>
              <a:ext cx="1131038" cy="8647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67"/>
            <p:cNvCxnSpPr>
              <a:endCxn id="12" idx="0"/>
            </p:cNvCxnSpPr>
            <p:nvPr/>
          </p:nvCxnSpPr>
          <p:spPr bwMode="gray">
            <a:xfrm flipH="1">
              <a:off x="2147183" y="3005467"/>
              <a:ext cx="1136566" cy="864709"/>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12" name="图片 76" descr="接入交换机.png"/>
            <p:cNvPicPr>
              <a:picLocks noChangeAspect="1"/>
            </p:cNvPicPr>
            <p:nvPr/>
          </p:nvPicPr>
          <p:blipFill>
            <a:blip r:embed="rId3" cstate="print"/>
            <a:stretch>
              <a:fillRect/>
            </a:stretch>
          </p:blipFill>
          <p:spPr bwMode="gray">
            <a:xfrm>
              <a:off x="1924042" y="3870176"/>
              <a:ext cx="446281" cy="365139"/>
            </a:xfrm>
            <a:prstGeom prst="rect">
              <a:avLst/>
            </a:prstGeom>
          </p:spPr>
        </p:pic>
        <p:pic>
          <p:nvPicPr>
            <p:cNvPr id="13" name="图片 76" descr="接入交换机.png"/>
            <p:cNvPicPr>
              <a:picLocks noChangeAspect="1"/>
            </p:cNvPicPr>
            <p:nvPr/>
          </p:nvPicPr>
          <p:blipFill>
            <a:blip r:embed="rId3" cstate="print"/>
            <a:stretch>
              <a:fillRect/>
            </a:stretch>
          </p:blipFill>
          <p:spPr bwMode="gray">
            <a:xfrm>
              <a:off x="4191645" y="3870176"/>
              <a:ext cx="446281" cy="365139"/>
            </a:xfrm>
            <a:prstGeom prst="rect">
              <a:avLst/>
            </a:prstGeom>
          </p:spPr>
        </p:pic>
        <p:cxnSp>
          <p:nvCxnSpPr>
            <p:cNvPr id="14" name="Straight Connector 167"/>
            <p:cNvCxnSpPr>
              <a:endCxn id="24" idx="3"/>
            </p:cNvCxnSpPr>
            <p:nvPr/>
          </p:nvCxnSpPr>
          <p:spPr bwMode="gray">
            <a:xfrm flipH="1">
              <a:off x="3528206" y="3008175"/>
              <a:ext cx="1345152"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15"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037297" y="1690218"/>
              <a:ext cx="490909" cy="401653"/>
            </a:xfrm>
            <a:prstGeom prst="rect">
              <a:avLst/>
            </a:prstGeom>
          </p:spPr>
        </p:pic>
        <p:sp>
          <p:nvSpPr>
            <p:cNvPr id="16" name="文本框 15"/>
            <p:cNvSpPr txBox="1"/>
            <p:nvPr/>
          </p:nvSpPr>
          <p:spPr bwMode="gray">
            <a:xfrm>
              <a:off x="2459285" y="2858437"/>
              <a:ext cx="579006" cy="307777"/>
            </a:xfrm>
            <a:prstGeom prst="rect">
              <a:avLst/>
            </a:prstGeom>
            <a:noFill/>
          </p:spPr>
          <p:txBody>
            <a:bodyPr wrap="none" rtlCol="0">
              <a:spAutoFit/>
            </a:bodyPr>
            <a:lstStyle/>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Core</a:t>
              </a:r>
            </a:p>
          </p:txBody>
        </p:sp>
        <p:sp>
          <p:nvSpPr>
            <p:cNvPr id="17" name="文本框 16"/>
            <p:cNvSpPr txBox="1"/>
            <p:nvPr/>
          </p:nvSpPr>
          <p:spPr bwMode="gray">
            <a:xfrm>
              <a:off x="3555417" y="1737156"/>
              <a:ext cx="470000" cy="307777"/>
            </a:xfrm>
            <a:prstGeom prst="rect">
              <a:avLst/>
            </a:prstGeom>
            <a:noFill/>
          </p:spPr>
          <p:txBody>
            <a:bodyPr wrap="none" rtlCol="0">
              <a:spAutoFit/>
            </a:bodyPr>
            <a:lstStyle/>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FW</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8" name="图片 11" descr="开放网络-蓝.png"/>
            <p:cNvPicPr>
              <a:picLocks noChangeAspect="1"/>
            </p:cNvPicPr>
            <p:nvPr/>
          </p:nvPicPr>
          <p:blipFill>
            <a:blip r:embed="rId5" cstate="print"/>
            <a:stretch>
              <a:fillRect/>
            </a:stretch>
          </p:blipFill>
          <p:spPr bwMode="gray">
            <a:xfrm>
              <a:off x="1924204" y="4650528"/>
              <a:ext cx="445956" cy="343290"/>
            </a:xfrm>
            <a:prstGeom prst="rect">
              <a:avLst/>
            </a:prstGeom>
          </p:spPr>
        </p:pic>
        <p:pic>
          <p:nvPicPr>
            <p:cNvPr id="19" name="图片 11" descr="开放网络-蓝.png"/>
            <p:cNvPicPr>
              <a:picLocks noChangeAspect="1"/>
            </p:cNvPicPr>
            <p:nvPr/>
          </p:nvPicPr>
          <p:blipFill>
            <a:blip r:embed="rId5" cstate="print"/>
            <a:stretch>
              <a:fillRect/>
            </a:stretch>
          </p:blipFill>
          <p:spPr bwMode="gray">
            <a:xfrm>
              <a:off x="4191807" y="4650528"/>
              <a:ext cx="445956" cy="343290"/>
            </a:xfrm>
            <a:prstGeom prst="rect">
              <a:avLst/>
            </a:prstGeom>
          </p:spPr>
        </p:pic>
        <p:sp>
          <p:nvSpPr>
            <p:cNvPr id="20" name="文本框 19"/>
            <p:cNvSpPr txBox="1"/>
            <p:nvPr/>
          </p:nvSpPr>
          <p:spPr bwMode="gray">
            <a:xfrm>
              <a:off x="1457076" y="5026199"/>
              <a:ext cx="1388522" cy="523220"/>
            </a:xfrm>
            <a:prstGeom prst="rect">
              <a:avLst/>
            </a:prstGeom>
            <a:noFill/>
          </p:spPr>
          <p:txBody>
            <a:bodyPr wrap="none" rtlCol="0">
              <a:spAutoFit/>
            </a:bodyPr>
            <a:lstStyle/>
            <a:p>
              <a:pPr algn="ctr"/>
              <a:r>
                <a:rPr lang="en-US" altLang="zh-CN" sz="1400" b="1">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User1</a:t>
              </a:r>
            </a:p>
            <a:p>
              <a:pPr algn="ctr"/>
              <a:r>
                <a:rPr lang="en-US" altLang="zh-CN"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192.168.1.1/24</a:t>
              </a:r>
              <a:endParaRPr lang="zh-CN" altLang="en-US"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bwMode="gray">
            <a:xfrm>
              <a:off x="3738442" y="5026199"/>
              <a:ext cx="1388522" cy="523220"/>
            </a:xfrm>
            <a:prstGeom prst="rect">
              <a:avLst/>
            </a:prstGeom>
            <a:noFill/>
          </p:spPr>
          <p:txBody>
            <a:bodyPr wrap="none" rtlCol="0">
              <a:spAutoFit/>
            </a:bodyPr>
            <a:lstStyle/>
            <a:p>
              <a:pPr algn="ctr"/>
              <a:r>
                <a:rPr lang="en-US" altLang="zh-CN" sz="1400" b="1">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User2</a:t>
              </a:r>
            </a:p>
            <a:p>
              <a:pPr algn="ctr"/>
              <a:r>
                <a:rPr lang="en-US" altLang="zh-CN"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192.168.2.1/24</a:t>
              </a:r>
              <a:endParaRPr lang="zh-CN" altLang="en-US"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2" name="图片 72" descr="交换机.png"/>
            <p:cNvPicPr>
              <a:picLocks noChangeAspect="1"/>
            </p:cNvPicPr>
            <p:nvPr/>
          </p:nvPicPr>
          <p:blipFill>
            <a:blip r:embed="rId6" cstate="print"/>
            <a:stretch>
              <a:fillRect/>
            </a:stretch>
          </p:blipFill>
          <p:spPr bwMode="gray">
            <a:xfrm>
              <a:off x="1929670" y="1708476"/>
              <a:ext cx="444805" cy="365137"/>
            </a:xfrm>
            <a:prstGeom prst="rect">
              <a:avLst/>
            </a:prstGeom>
          </p:spPr>
        </p:pic>
        <p:sp>
          <p:nvSpPr>
            <p:cNvPr id="23" name="文本框 22"/>
            <p:cNvSpPr txBox="1"/>
            <p:nvPr/>
          </p:nvSpPr>
          <p:spPr bwMode="gray">
            <a:xfrm>
              <a:off x="844116" y="1629434"/>
              <a:ext cx="1085554" cy="523220"/>
            </a:xfrm>
            <a:prstGeom prst="rect">
              <a:avLst/>
            </a:prstGeom>
            <a:noFill/>
          </p:spPr>
          <p:txBody>
            <a:bodyPr wrap="none" rtlCol="0">
              <a:spAutoFit/>
            </a:bodyPr>
            <a:lstStyle/>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Server</a:t>
              </a:r>
            </a:p>
            <a:p>
              <a:pPr algn="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10.1.1.1/24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4" name="图片 86" descr="核心交换机.png"/>
            <p:cNvPicPr>
              <a:picLocks noChangeAspect="1"/>
            </p:cNvPicPr>
            <p:nvPr/>
          </p:nvPicPr>
          <p:blipFill>
            <a:blip r:embed="rId7" cstate="print"/>
            <a:stretch>
              <a:fillRect/>
            </a:stretch>
          </p:blipFill>
          <p:spPr bwMode="gray">
            <a:xfrm>
              <a:off x="3037297" y="2807348"/>
              <a:ext cx="490909" cy="401653"/>
            </a:xfrm>
            <a:prstGeom prst="rect">
              <a:avLst/>
            </a:prstGeom>
          </p:spPr>
        </p:pic>
        <p:pic>
          <p:nvPicPr>
            <p:cNvPr id="25" name="图片 2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4556730" y="2811495"/>
              <a:ext cx="951607" cy="540946"/>
            </a:xfrm>
            <a:prstGeom prst="rect">
              <a:avLst/>
            </a:prstGeom>
          </p:spPr>
        </p:pic>
      </p:grpSp>
      <p:graphicFrame>
        <p:nvGraphicFramePr>
          <p:cNvPr id="26" name="Table 68"/>
          <p:cNvGraphicFramePr>
            <a:graphicFrameLocks noGrp="1"/>
          </p:cNvGraphicFramePr>
          <p:nvPr>
            <p:extLst>
              <p:ext uri="{D42A27DB-BD31-4B8C-83A1-F6EECF244321}">
                <p14:modId xmlns:p14="http://schemas.microsoft.com/office/powerpoint/2010/main" val="2881462542"/>
              </p:ext>
            </p:extLst>
          </p:nvPr>
        </p:nvGraphicFramePr>
        <p:xfrm>
          <a:off x="6438706" y="3786852"/>
          <a:ext cx="2078277" cy="1097280"/>
        </p:xfrm>
        <a:graphic>
          <a:graphicData uri="http://schemas.openxmlformats.org/drawingml/2006/table">
            <a:tbl>
              <a:tblPr firstRow="1" bandRow="1">
                <a:tableStyleId>{5940675A-B579-460E-94D1-54222C63F5DA}</a:tableStyleId>
              </a:tblPr>
              <a:tblGrid>
                <a:gridCol w="745865">
                  <a:extLst>
                    <a:ext uri="{9D8B030D-6E8A-4147-A177-3AD203B41FA5}">
                      <a16:colId xmlns:a16="http://schemas.microsoft.com/office/drawing/2014/main" val="20000"/>
                    </a:ext>
                  </a:extLst>
                </a:gridCol>
                <a:gridCol w="766355">
                  <a:extLst>
                    <a:ext uri="{9D8B030D-6E8A-4147-A177-3AD203B41FA5}">
                      <a16:colId xmlns:a16="http://schemas.microsoft.com/office/drawing/2014/main" val="20001"/>
                    </a:ext>
                  </a:extLst>
                </a:gridCol>
                <a:gridCol w="566057">
                  <a:extLst>
                    <a:ext uri="{9D8B030D-6E8A-4147-A177-3AD203B41FA5}">
                      <a16:colId xmlns:a16="http://schemas.microsoft.com/office/drawing/2014/main" val="20002"/>
                    </a:ext>
                  </a:extLst>
                </a:gridCol>
              </a:tblGrid>
              <a:tr h="0">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组类型</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组名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组</a:t>
                      </a: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动态</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Group1</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动态</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Group2</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静态</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27" name="Table 69"/>
          <p:cNvGraphicFramePr>
            <a:graphicFrameLocks noGrp="1"/>
          </p:cNvGraphicFramePr>
          <p:nvPr>
            <p:extLst>
              <p:ext uri="{D42A27DB-BD31-4B8C-83A1-F6EECF244321}">
                <p14:modId xmlns:p14="http://schemas.microsoft.com/office/powerpoint/2010/main" val="2415800946"/>
              </p:ext>
            </p:extLst>
          </p:nvPr>
        </p:nvGraphicFramePr>
        <p:xfrm>
          <a:off x="6438706" y="1667301"/>
          <a:ext cx="2016042" cy="822960"/>
        </p:xfrm>
        <a:graphic>
          <a:graphicData uri="http://schemas.openxmlformats.org/drawingml/2006/table">
            <a:tbl>
              <a:tblPr firstRow="1" bandRow="1">
                <a:tableStyleId>{5940675A-B579-460E-94D1-54222C63F5DA}</a:tableStyleId>
              </a:tblPr>
              <a:tblGrid>
                <a:gridCol w="1078057">
                  <a:extLst>
                    <a:ext uri="{9D8B030D-6E8A-4147-A177-3AD203B41FA5}">
                      <a16:colId xmlns:a16="http://schemas.microsoft.com/office/drawing/2014/main" val="20000"/>
                    </a:ext>
                  </a:extLst>
                </a:gridCol>
                <a:gridCol w="937985">
                  <a:extLst>
                    <a:ext uri="{9D8B030D-6E8A-4147-A177-3AD203B41FA5}">
                      <a16:colId xmlns:a16="http://schemas.microsoft.com/office/drawing/2014/main" val="20001"/>
                    </a:ext>
                  </a:extLst>
                </a:gridCol>
              </a:tblGrid>
              <a:tr h="0">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用户</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密码</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User1</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User2</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8" name="Freeform 72"/>
          <p:cNvSpPr/>
          <p:nvPr/>
        </p:nvSpPr>
        <p:spPr bwMode="gray">
          <a:xfrm rot="5400000" flipV="1">
            <a:off x="6698676" y="83970"/>
            <a:ext cx="3777150" cy="6042549"/>
          </a:xfrm>
          <a:custGeom>
            <a:avLst/>
            <a:gdLst>
              <a:gd name="connsiteX0" fmla="*/ 0 w 4235116"/>
              <a:gd name="connsiteY0" fmla="*/ 5549966 h 5549966"/>
              <a:gd name="connsiteX1" fmla="*/ 0 w 4235116"/>
              <a:gd name="connsiteY1" fmla="*/ 497363 h 5549966"/>
              <a:gd name="connsiteX2" fmla="*/ 1416665 w 4235116"/>
              <a:gd name="connsiteY2" fmla="*/ 497363 h 5549966"/>
              <a:gd name="connsiteX3" fmla="*/ 1572463 w 4235116"/>
              <a:gd name="connsiteY3" fmla="*/ 0 h 5549966"/>
              <a:gd name="connsiteX4" fmla="*/ 1728262 w 4235116"/>
              <a:gd name="connsiteY4" fmla="*/ 497363 h 5549966"/>
              <a:gd name="connsiteX5" fmla="*/ 4235116 w 4235116"/>
              <a:gd name="connsiteY5" fmla="*/ 497363 h 5549966"/>
              <a:gd name="connsiteX6" fmla="*/ 4235116 w 4235116"/>
              <a:gd name="connsiteY6" fmla="*/ 5549966 h 5549966"/>
              <a:gd name="connsiteX0" fmla="*/ 0 w 4235116"/>
              <a:gd name="connsiteY0" fmla="*/ 5430914 h 5430914"/>
              <a:gd name="connsiteX1" fmla="*/ 0 w 4235116"/>
              <a:gd name="connsiteY1" fmla="*/ 378311 h 5430914"/>
              <a:gd name="connsiteX2" fmla="*/ 1416665 w 4235116"/>
              <a:gd name="connsiteY2" fmla="*/ 378311 h 5430914"/>
              <a:gd name="connsiteX3" fmla="*/ 1562313 w 4235116"/>
              <a:gd name="connsiteY3" fmla="*/ 0 h 5430914"/>
              <a:gd name="connsiteX4" fmla="*/ 1728262 w 4235116"/>
              <a:gd name="connsiteY4" fmla="*/ 378311 h 5430914"/>
              <a:gd name="connsiteX5" fmla="*/ 4235116 w 4235116"/>
              <a:gd name="connsiteY5" fmla="*/ 378311 h 5430914"/>
              <a:gd name="connsiteX6" fmla="*/ 4235116 w 4235116"/>
              <a:gd name="connsiteY6" fmla="*/ 5430914 h 5430914"/>
              <a:gd name="connsiteX7" fmla="*/ 0 w 4235116"/>
              <a:gd name="connsiteY7" fmla="*/ 5430914 h 5430914"/>
              <a:gd name="connsiteX0" fmla="*/ 0 w 4235116"/>
              <a:gd name="connsiteY0" fmla="*/ 5471906 h 5471906"/>
              <a:gd name="connsiteX1" fmla="*/ 0 w 4235116"/>
              <a:gd name="connsiteY1" fmla="*/ 419303 h 5471906"/>
              <a:gd name="connsiteX2" fmla="*/ 1416665 w 4235116"/>
              <a:gd name="connsiteY2" fmla="*/ 419303 h 5471906"/>
              <a:gd name="connsiteX3" fmla="*/ 2073791 w 4235116"/>
              <a:gd name="connsiteY3" fmla="*/ 0 h 5471906"/>
              <a:gd name="connsiteX4" fmla="*/ 1728262 w 4235116"/>
              <a:gd name="connsiteY4" fmla="*/ 419303 h 5471906"/>
              <a:gd name="connsiteX5" fmla="*/ 4235116 w 4235116"/>
              <a:gd name="connsiteY5" fmla="*/ 419303 h 5471906"/>
              <a:gd name="connsiteX6" fmla="*/ 4235116 w 4235116"/>
              <a:gd name="connsiteY6" fmla="*/ 5471906 h 5471906"/>
              <a:gd name="connsiteX7" fmla="*/ 0 w 4235116"/>
              <a:gd name="connsiteY7" fmla="*/ 5471906 h 5471906"/>
              <a:gd name="connsiteX0" fmla="*/ 0 w 4235116"/>
              <a:gd name="connsiteY0" fmla="*/ 5572421 h 5572421"/>
              <a:gd name="connsiteX1" fmla="*/ 0 w 4235116"/>
              <a:gd name="connsiteY1" fmla="*/ 519818 h 5572421"/>
              <a:gd name="connsiteX2" fmla="*/ 1416665 w 4235116"/>
              <a:gd name="connsiteY2" fmla="*/ 519818 h 5572421"/>
              <a:gd name="connsiteX3" fmla="*/ 1854591 w 4235116"/>
              <a:gd name="connsiteY3" fmla="*/ 0 h 5572421"/>
              <a:gd name="connsiteX4" fmla="*/ 1728262 w 4235116"/>
              <a:gd name="connsiteY4" fmla="*/ 519818 h 5572421"/>
              <a:gd name="connsiteX5" fmla="*/ 4235116 w 4235116"/>
              <a:gd name="connsiteY5" fmla="*/ 519818 h 5572421"/>
              <a:gd name="connsiteX6" fmla="*/ 4235116 w 4235116"/>
              <a:gd name="connsiteY6" fmla="*/ 5572421 h 5572421"/>
              <a:gd name="connsiteX7" fmla="*/ 0 w 4235116"/>
              <a:gd name="connsiteY7" fmla="*/ 5572421 h 5572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35116" h="5572421">
                <a:moveTo>
                  <a:pt x="0" y="5572421"/>
                </a:moveTo>
                <a:lnTo>
                  <a:pt x="0" y="519818"/>
                </a:lnTo>
                <a:lnTo>
                  <a:pt x="1416665" y="519818"/>
                </a:lnTo>
                <a:lnTo>
                  <a:pt x="1854591" y="0"/>
                </a:lnTo>
                <a:lnTo>
                  <a:pt x="1728262" y="519818"/>
                </a:lnTo>
                <a:lnTo>
                  <a:pt x="4235116" y="519818"/>
                </a:lnTo>
                <a:lnTo>
                  <a:pt x="4235116" y="5572421"/>
                </a:lnTo>
                <a:lnTo>
                  <a:pt x="0" y="5572421"/>
                </a:lnTo>
                <a:close/>
              </a:path>
            </a:pathLst>
          </a:cu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TextBox 55"/>
          <p:cNvSpPr txBox="1"/>
          <p:nvPr/>
        </p:nvSpPr>
        <p:spPr bwMode="gray">
          <a:xfrm>
            <a:off x="6317444" y="1240670"/>
            <a:ext cx="3720890" cy="348813"/>
          </a:xfrm>
          <a:prstGeom prst="rect">
            <a:avLst/>
          </a:prstGeom>
          <a:noFill/>
        </p:spPr>
        <p:txBody>
          <a:bodyPr wrap="none" rtlCol="0">
            <a:spAutoFit/>
          </a:bodyPr>
          <a:lstStyle/>
          <a:p>
            <a:pPr>
              <a:lnSpc>
                <a:spcPts val="20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管理员在</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创建用户</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55"/>
          <p:cNvSpPr txBox="1"/>
          <p:nvPr/>
        </p:nvSpPr>
        <p:spPr bwMode="gray">
          <a:xfrm>
            <a:off x="6317444" y="2830909"/>
            <a:ext cx="4657582" cy="861774"/>
          </a:xfrm>
          <a:prstGeom prst="rect">
            <a:avLst/>
          </a:prstGeom>
          <a:noFill/>
        </p:spPr>
        <p:txBody>
          <a:bodyPr wrap="square" rtlCol="0">
            <a:spAutoFit/>
          </a:bodyPr>
          <a:lstStyle/>
          <a:p>
            <a:pPr>
              <a:lnSpc>
                <a:spcPts val="2000"/>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创建安全组</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Server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地址静态绑定到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Server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安全组，另外配置授权规则及授权结果，将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User1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User2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分别授权到安全组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Group1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Group2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Right Arrow 29"/>
          <p:cNvSpPr/>
          <p:nvPr/>
        </p:nvSpPr>
        <p:spPr bwMode="gray">
          <a:xfrm flipH="1">
            <a:off x="8454748" y="4092700"/>
            <a:ext cx="363393" cy="171801"/>
          </a:xfrm>
          <a:prstGeom prst="rightArrow">
            <a:avLst>
              <a:gd name="adj1" fmla="val 79333"/>
              <a:gd name="adj2" fmla="val 50000"/>
            </a:avLst>
          </a:prstGeom>
          <a:gradFill flip="none" rotWithShape="1">
            <a:gsLst>
              <a:gs pos="15000">
                <a:schemeClr val="accent1">
                  <a:lumMod val="5000"/>
                  <a:lumOff val="95000"/>
                  <a:alpha val="0"/>
                </a:schemeClr>
              </a:gs>
              <a:gs pos="81000">
                <a:srgbClr val="F6B78C"/>
              </a:gs>
            </a:gsLst>
            <a:lin ang="0" scaled="1"/>
            <a:tileRect/>
          </a:gradFill>
          <a:ln>
            <a:gradFill flip="none" rotWithShape="1">
              <a:gsLst>
                <a:gs pos="11000">
                  <a:schemeClr val="accent1">
                    <a:lumMod val="0"/>
                    <a:lumOff val="100000"/>
                    <a:alpha val="0"/>
                  </a:schemeClr>
                </a:gs>
                <a:gs pos="67000">
                  <a:srgbClr val="F2894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55"/>
          <p:cNvSpPr txBox="1"/>
          <p:nvPr/>
        </p:nvSpPr>
        <p:spPr bwMode="gray">
          <a:xfrm>
            <a:off x="8707058" y="4029454"/>
            <a:ext cx="2090637" cy="307777"/>
          </a:xfrm>
          <a:prstGeom prst="rect">
            <a:avLst/>
          </a:prstGeom>
          <a:noFill/>
        </p:spPr>
        <p:txBody>
          <a:bodyPr wrap="none" rtlCol="0">
            <a:spAutoFit/>
          </a:bodyPr>
          <a:lstStyle/>
          <a:p>
            <a:r>
              <a:rPr lang="zh-CN" altLang="en-US"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动态授权（用户</a:t>
            </a:r>
            <a:r>
              <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User1</a:t>
            </a:r>
            <a:r>
              <a:rPr lang="zh-CN" altLang="en-US"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Right Arrow 31"/>
          <p:cNvSpPr/>
          <p:nvPr/>
        </p:nvSpPr>
        <p:spPr bwMode="gray">
          <a:xfrm flipH="1">
            <a:off x="8454748" y="4380833"/>
            <a:ext cx="363393" cy="171801"/>
          </a:xfrm>
          <a:prstGeom prst="rightArrow">
            <a:avLst>
              <a:gd name="adj1" fmla="val 79333"/>
              <a:gd name="adj2" fmla="val 50000"/>
            </a:avLst>
          </a:prstGeom>
          <a:gradFill flip="none" rotWithShape="1">
            <a:gsLst>
              <a:gs pos="15000">
                <a:schemeClr val="accent1">
                  <a:lumMod val="5000"/>
                  <a:lumOff val="95000"/>
                  <a:alpha val="0"/>
                </a:schemeClr>
              </a:gs>
              <a:gs pos="81000">
                <a:srgbClr val="F6B78C"/>
              </a:gs>
            </a:gsLst>
            <a:lin ang="0" scaled="1"/>
            <a:tileRect/>
          </a:gradFill>
          <a:ln>
            <a:gradFill flip="none" rotWithShape="1">
              <a:gsLst>
                <a:gs pos="11000">
                  <a:schemeClr val="accent1">
                    <a:lumMod val="0"/>
                    <a:lumOff val="100000"/>
                    <a:alpha val="0"/>
                  </a:schemeClr>
                </a:gs>
                <a:gs pos="67000">
                  <a:srgbClr val="F2894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55"/>
          <p:cNvSpPr txBox="1"/>
          <p:nvPr/>
        </p:nvSpPr>
        <p:spPr bwMode="gray">
          <a:xfrm>
            <a:off x="8707058" y="4281435"/>
            <a:ext cx="2090637" cy="307777"/>
          </a:xfrm>
          <a:prstGeom prst="rect">
            <a:avLst/>
          </a:prstGeom>
          <a:noFill/>
        </p:spPr>
        <p:txBody>
          <a:bodyPr wrap="none" rtlCol="0">
            <a:spAutoFit/>
          </a:bodyPr>
          <a:lstStyle/>
          <a:p>
            <a:r>
              <a:rPr lang="zh-CN" altLang="en-US" sz="140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动态授权（用户</a:t>
            </a:r>
            <a:r>
              <a:rPr lang="en-US" altLang="zh-CN" sz="140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User2</a:t>
            </a:r>
            <a:r>
              <a:rPr lang="zh-CN" altLang="en-US" sz="140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Right Arrow 33"/>
          <p:cNvSpPr/>
          <p:nvPr/>
        </p:nvSpPr>
        <p:spPr bwMode="gray">
          <a:xfrm flipH="1">
            <a:off x="8454748" y="4656798"/>
            <a:ext cx="363393" cy="171801"/>
          </a:xfrm>
          <a:prstGeom prst="rightArrow">
            <a:avLst>
              <a:gd name="adj1" fmla="val 79333"/>
              <a:gd name="adj2" fmla="val 50000"/>
            </a:avLst>
          </a:prstGeom>
          <a:gradFill flip="none" rotWithShape="1">
            <a:gsLst>
              <a:gs pos="15000">
                <a:schemeClr val="accent1">
                  <a:lumMod val="5000"/>
                  <a:lumOff val="95000"/>
                  <a:alpha val="0"/>
                </a:schemeClr>
              </a:gs>
              <a:gs pos="81000">
                <a:srgbClr val="F6B78C"/>
              </a:gs>
            </a:gsLst>
            <a:lin ang="0" scaled="1"/>
            <a:tileRect/>
          </a:gradFill>
          <a:ln>
            <a:gradFill flip="none" rotWithShape="1">
              <a:gsLst>
                <a:gs pos="11000">
                  <a:schemeClr val="accent1">
                    <a:lumMod val="0"/>
                    <a:lumOff val="100000"/>
                    <a:alpha val="0"/>
                  </a:schemeClr>
                </a:gs>
                <a:gs pos="67000">
                  <a:srgbClr val="F2894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Box 55"/>
          <p:cNvSpPr txBox="1"/>
          <p:nvPr/>
        </p:nvSpPr>
        <p:spPr bwMode="gray">
          <a:xfrm>
            <a:off x="8707058" y="4569710"/>
            <a:ext cx="2988319" cy="307777"/>
          </a:xfrm>
          <a:prstGeom prst="rect">
            <a:avLst/>
          </a:prstGeom>
          <a:noFill/>
        </p:spPr>
        <p:txBody>
          <a:bodyPr wrap="none" rtlCol="0">
            <a:spAutoFit/>
          </a:bodyPr>
          <a:lstStyle/>
          <a:p>
            <a:r>
              <a:rPr lang="zh-CN" altLang="en-US"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静态绑定 </a:t>
            </a:r>
            <a:r>
              <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&lt;- 10.1.1.1/32</a:t>
            </a:r>
            <a:r>
              <a:rPr lang="zh-CN" altLang="en-US"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（服务器）</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3497406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normAutofit/>
          </a:bodyPr>
          <a:lstStyle/>
          <a:p>
            <a:r>
              <a:rPr lang="zh-CN" altLang="en-US"/>
              <a:t>业务随行工作原理详解 </a:t>
            </a:r>
            <a:r>
              <a:rPr lang="en-US" altLang="zh-CN"/>
              <a:t>(2)</a:t>
            </a:r>
            <a:endParaRPr lang="zh-CN" altLang="en-US" dirty="0"/>
          </a:p>
        </p:txBody>
      </p:sp>
      <p:sp>
        <p:nvSpPr>
          <p:cNvPr id="28" name="Freeform 72"/>
          <p:cNvSpPr/>
          <p:nvPr/>
        </p:nvSpPr>
        <p:spPr bwMode="gray">
          <a:xfrm rot="5400000" flipV="1">
            <a:off x="7123442" y="-340795"/>
            <a:ext cx="2779257" cy="5894188"/>
          </a:xfrm>
          <a:custGeom>
            <a:avLst/>
            <a:gdLst>
              <a:gd name="connsiteX0" fmla="*/ 0 w 4235116"/>
              <a:gd name="connsiteY0" fmla="*/ 5549966 h 5549966"/>
              <a:gd name="connsiteX1" fmla="*/ 0 w 4235116"/>
              <a:gd name="connsiteY1" fmla="*/ 497363 h 5549966"/>
              <a:gd name="connsiteX2" fmla="*/ 1416665 w 4235116"/>
              <a:gd name="connsiteY2" fmla="*/ 497363 h 5549966"/>
              <a:gd name="connsiteX3" fmla="*/ 1572463 w 4235116"/>
              <a:gd name="connsiteY3" fmla="*/ 0 h 5549966"/>
              <a:gd name="connsiteX4" fmla="*/ 1728262 w 4235116"/>
              <a:gd name="connsiteY4" fmla="*/ 497363 h 5549966"/>
              <a:gd name="connsiteX5" fmla="*/ 4235116 w 4235116"/>
              <a:gd name="connsiteY5" fmla="*/ 497363 h 5549966"/>
              <a:gd name="connsiteX6" fmla="*/ 4235116 w 4235116"/>
              <a:gd name="connsiteY6" fmla="*/ 5549966 h 5549966"/>
              <a:gd name="connsiteX0" fmla="*/ 0 w 4235116"/>
              <a:gd name="connsiteY0" fmla="*/ 5430914 h 5430914"/>
              <a:gd name="connsiteX1" fmla="*/ 0 w 4235116"/>
              <a:gd name="connsiteY1" fmla="*/ 378311 h 5430914"/>
              <a:gd name="connsiteX2" fmla="*/ 1416665 w 4235116"/>
              <a:gd name="connsiteY2" fmla="*/ 378311 h 5430914"/>
              <a:gd name="connsiteX3" fmla="*/ 1562313 w 4235116"/>
              <a:gd name="connsiteY3" fmla="*/ 0 h 5430914"/>
              <a:gd name="connsiteX4" fmla="*/ 1728262 w 4235116"/>
              <a:gd name="connsiteY4" fmla="*/ 378311 h 5430914"/>
              <a:gd name="connsiteX5" fmla="*/ 4235116 w 4235116"/>
              <a:gd name="connsiteY5" fmla="*/ 378311 h 5430914"/>
              <a:gd name="connsiteX6" fmla="*/ 4235116 w 4235116"/>
              <a:gd name="connsiteY6" fmla="*/ 5430914 h 5430914"/>
              <a:gd name="connsiteX7" fmla="*/ 0 w 4235116"/>
              <a:gd name="connsiteY7" fmla="*/ 5430914 h 5430914"/>
              <a:gd name="connsiteX0" fmla="*/ 0 w 4235116"/>
              <a:gd name="connsiteY0" fmla="*/ 5471906 h 5471906"/>
              <a:gd name="connsiteX1" fmla="*/ 0 w 4235116"/>
              <a:gd name="connsiteY1" fmla="*/ 419303 h 5471906"/>
              <a:gd name="connsiteX2" fmla="*/ 1416665 w 4235116"/>
              <a:gd name="connsiteY2" fmla="*/ 419303 h 5471906"/>
              <a:gd name="connsiteX3" fmla="*/ 2073791 w 4235116"/>
              <a:gd name="connsiteY3" fmla="*/ 0 h 5471906"/>
              <a:gd name="connsiteX4" fmla="*/ 1728262 w 4235116"/>
              <a:gd name="connsiteY4" fmla="*/ 419303 h 5471906"/>
              <a:gd name="connsiteX5" fmla="*/ 4235116 w 4235116"/>
              <a:gd name="connsiteY5" fmla="*/ 419303 h 5471906"/>
              <a:gd name="connsiteX6" fmla="*/ 4235116 w 4235116"/>
              <a:gd name="connsiteY6" fmla="*/ 5471906 h 5471906"/>
              <a:gd name="connsiteX7" fmla="*/ 0 w 4235116"/>
              <a:gd name="connsiteY7" fmla="*/ 5471906 h 5471906"/>
              <a:gd name="connsiteX0" fmla="*/ 0 w 4235116"/>
              <a:gd name="connsiteY0" fmla="*/ 5572421 h 5572421"/>
              <a:gd name="connsiteX1" fmla="*/ 0 w 4235116"/>
              <a:gd name="connsiteY1" fmla="*/ 519818 h 5572421"/>
              <a:gd name="connsiteX2" fmla="*/ 1416665 w 4235116"/>
              <a:gd name="connsiteY2" fmla="*/ 519818 h 5572421"/>
              <a:gd name="connsiteX3" fmla="*/ 1854591 w 4235116"/>
              <a:gd name="connsiteY3" fmla="*/ 0 h 5572421"/>
              <a:gd name="connsiteX4" fmla="*/ 1728262 w 4235116"/>
              <a:gd name="connsiteY4" fmla="*/ 519818 h 5572421"/>
              <a:gd name="connsiteX5" fmla="*/ 4235116 w 4235116"/>
              <a:gd name="connsiteY5" fmla="*/ 519818 h 5572421"/>
              <a:gd name="connsiteX6" fmla="*/ 4235116 w 4235116"/>
              <a:gd name="connsiteY6" fmla="*/ 5572421 h 5572421"/>
              <a:gd name="connsiteX7" fmla="*/ 0 w 4235116"/>
              <a:gd name="connsiteY7" fmla="*/ 5572421 h 5572421"/>
              <a:gd name="connsiteX0" fmla="*/ 0 w 4235116"/>
              <a:gd name="connsiteY0" fmla="*/ 5742882 h 5742882"/>
              <a:gd name="connsiteX1" fmla="*/ 0 w 4235116"/>
              <a:gd name="connsiteY1" fmla="*/ 690279 h 5742882"/>
              <a:gd name="connsiteX2" fmla="*/ 1416665 w 4235116"/>
              <a:gd name="connsiteY2" fmla="*/ 690279 h 5742882"/>
              <a:gd name="connsiteX3" fmla="*/ 2649257 w 4235116"/>
              <a:gd name="connsiteY3" fmla="*/ 0 h 5742882"/>
              <a:gd name="connsiteX4" fmla="*/ 1728262 w 4235116"/>
              <a:gd name="connsiteY4" fmla="*/ 690279 h 5742882"/>
              <a:gd name="connsiteX5" fmla="*/ 4235116 w 4235116"/>
              <a:gd name="connsiteY5" fmla="*/ 690279 h 5742882"/>
              <a:gd name="connsiteX6" fmla="*/ 4235116 w 4235116"/>
              <a:gd name="connsiteY6" fmla="*/ 5742882 h 5742882"/>
              <a:gd name="connsiteX7" fmla="*/ 0 w 4235116"/>
              <a:gd name="connsiteY7" fmla="*/ 5742882 h 5742882"/>
              <a:gd name="connsiteX0" fmla="*/ 0 w 4235116"/>
              <a:gd name="connsiteY0" fmla="*/ 5572421 h 5572421"/>
              <a:gd name="connsiteX1" fmla="*/ 0 w 4235116"/>
              <a:gd name="connsiteY1" fmla="*/ 519818 h 5572421"/>
              <a:gd name="connsiteX2" fmla="*/ 1416665 w 4235116"/>
              <a:gd name="connsiteY2" fmla="*/ 519818 h 5572421"/>
              <a:gd name="connsiteX3" fmla="*/ 2354096 w 4235116"/>
              <a:gd name="connsiteY3" fmla="*/ 0 h 5572421"/>
              <a:gd name="connsiteX4" fmla="*/ 1728262 w 4235116"/>
              <a:gd name="connsiteY4" fmla="*/ 519818 h 5572421"/>
              <a:gd name="connsiteX5" fmla="*/ 4235116 w 4235116"/>
              <a:gd name="connsiteY5" fmla="*/ 519818 h 5572421"/>
              <a:gd name="connsiteX6" fmla="*/ 4235116 w 4235116"/>
              <a:gd name="connsiteY6" fmla="*/ 5572421 h 5572421"/>
              <a:gd name="connsiteX7" fmla="*/ 0 w 4235116"/>
              <a:gd name="connsiteY7" fmla="*/ 5572421 h 5572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35116" h="5572421">
                <a:moveTo>
                  <a:pt x="0" y="5572421"/>
                </a:moveTo>
                <a:lnTo>
                  <a:pt x="0" y="519818"/>
                </a:lnTo>
                <a:lnTo>
                  <a:pt x="1416665" y="519818"/>
                </a:lnTo>
                <a:lnTo>
                  <a:pt x="2354096" y="0"/>
                </a:lnTo>
                <a:lnTo>
                  <a:pt x="1728262" y="519818"/>
                </a:lnTo>
                <a:lnTo>
                  <a:pt x="4235116" y="519818"/>
                </a:lnTo>
                <a:lnTo>
                  <a:pt x="4235116" y="5572421"/>
                </a:lnTo>
                <a:lnTo>
                  <a:pt x="0" y="5572421"/>
                </a:lnTo>
                <a:close/>
              </a:path>
            </a:pathLst>
          </a:cu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55"/>
          <p:cNvSpPr txBox="1"/>
          <p:nvPr/>
        </p:nvSpPr>
        <p:spPr bwMode="gray">
          <a:xfrm>
            <a:off x="6217509" y="1708476"/>
            <a:ext cx="3339216" cy="348813"/>
          </a:xfrm>
          <a:prstGeom prst="rect">
            <a:avLst/>
          </a:prstGeom>
          <a:noFill/>
        </p:spPr>
        <p:txBody>
          <a:bodyPr wrap="square" rtlCol="0">
            <a:spAutoFit/>
          </a:bodyPr>
          <a:lstStyle/>
          <a:p>
            <a:pPr>
              <a:lnSpc>
                <a:spcPts val="2000"/>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定义策略控制矩阵</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，即组间策略：</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39" name="Table 77"/>
          <p:cNvGraphicFramePr>
            <a:graphicFrameLocks noGrp="1"/>
          </p:cNvGraphicFramePr>
          <p:nvPr/>
        </p:nvGraphicFramePr>
        <p:xfrm>
          <a:off x="6354778" y="2144509"/>
          <a:ext cx="4434853" cy="1670622"/>
        </p:xfrm>
        <a:graphic>
          <a:graphicData uri="http://schemas.openxmlformats.org/drawingml/2006/table">
            <a:tbl>
              <a:tblPr firstRow="1" bandRow="1">
                <a:tableStyleId>{5940675A-B579-460E-94D1-54222C63F5DA}</a:tableStyleId>
              </a:tblPr>
              <a:tblGrid>
                <a:gridCol w="1228420">
                  <a:extLst>
                    <a:ext uri="{9D8B030D-6E8A-4147-A177-3AD203B41FA5}">
                      <a16:colId xmlns:a16="http://schemas.microsoft.com/office/drawing/2014/main" val="20000"/>
                    </a:ext>
                  </a:extLst>
                </a:gridCol>
                <a:gridCol w="1068811">
                  <a:extLst>
                    <a:ext uri="{9D8B030D-6E8A-4147-A177-3AD203B41FA5}">
                      <a16:colId xmlns:a16="http://schemas.microsoft.com/office/drawing/2014/main" val="20001"/>
                    </a:ext>
                  </a:extLst>
                </a:gridCol>
                <a:gridCol w="1068811">
                  <a:extLst>
                    <a:ext uri="{9D8B030D-6E8A-4147-A177-3AD203B41FA5}">
                      <a16:colId xmlns:a16="http://schemas.microsoft.com/office/drawing/2014/main" val="20002"/>
                    </a:ext>
                  </a:extLst>
                </a:gridCol>
                <a:gridCol w="1068811">
                  <a:extLst>
                    <a:ext uri="{9D8B030D-6E8A-4147-A177-3AD203B41FA5}">
                      <a16:colId xmlns:a16="http://schemas.microsoft.com/office/drawing/2014/main" val="20003"/>
                    </a:ext>
                  </a:extLst>
                </a:gridCol>
              </a:tblGrid>
              <a:tr h="479598">
                <a:tc>
                  <a:txBody>
                    <a:bodyPr/>
                    <a:lstStyle/>
                    <a:p>
                      <a:pPr algn="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目的组</a:t>
                      </a:r>
                    </a:p>
                    <a:p>
                      <a:pPr algn="l"/>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源组</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Group1</a:t>
                      </a:r>
                      <a:endParaRPr lang="zh-CN" altLang="en-US" sz="12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Group2</a:t>
                      </a:r>
                      <a:endParaRPr lang="zh-CN" altLang="en-US" sz="12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97008">
                <a:tc>
                  <a:txBody>
                    <a:bodyPr/>
                    <a:lstStyle/>
                    <a:p>
                      <a:pPr algn="ctr"/>
                      <a:r>
                        <a:rPr lang="en-US" altLang="zh-CN" sz="12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Group1</a:t>
                      </a:r>
                      <a:endParaRPr lang="zh-CN" altLang="en-US" sz="12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7008">
                <a:tc>
                  <a:txBody>
                    <a:bodyPr/>
                    <a:lstStyle/>
                    <a:p>
                      <a:pPr algn="ctr"/>
                      <a:r>
                        <a:rPr lang="en-US" altLang="zh-CN" sz="12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Group2</a:t>
                      </a:r>
                      <a:endParaRPr lang="zh-CN" altLang="en-US" sz="12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7008">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40" name="直接连接符 39"/>
          <p:cNvCxnSpPr/>
          <p:nvPr/>
        </p:nvCxnSpPr>
        <p:spPr bwMode="gray">
          <a:xfrm>
            <a:off x="6377080" y="2152606"/>
            <a:ext cx="1242920" cy="4805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1" name="组合 40"/>
          <p:cNvGrpSpPr>
            <a:grpSpLocks noChangeAspect="1"/>
          </p:cNvGrpSpPr>
          <p:nvPr/>
        </p:nvGrpSpPr>
        <p:grpSpPr bwMode="gray">
          <a:xfrm>
            <a:off x="8004718" y="2730256"/>
            <a:ext cx="243192" cy="243192"/>
            <a:chOff x="10441953" y="5633214"/>
            <a:chExt cx="264000" cy="264000"/>
          </a:xfrm>
        </p:grpSpPr>
        <p:sp>
          <p:nvSpPr>
            <p:cNvPr id="42" name="椭圆 41"/>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任意多边形 42"/>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4" name="组合 43"/>
          <p:cNvGrpSpPr>
            <a:grpSpLocks noChangeAspect="1"/>
          </p:cNvGrpSpPr>
          <p:nvPr/>
        </p:nvGrpSpPr>
        <p:grpSpPr bwMode="gray">
          <a:xfrm>
            <a:off x="10126082" y="2730256"/>
            <a:ext cx="243192" cy="243192"/>
            <a:chOff x="10441953" y="5633214"/>
            <a:chExt cx="264000" cy="264000"/>
          </a:xfrm>
        </p:grpSpPr>
        <p:sp>
          <p:nvSpPr>
            <p:cNvPr id="45" name="椭圆 44"/>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任意多边形 45"/>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7" name="组合 46"/>
          <p:cNvGrpSpPr>
            <a:grpSpLocks noChangeAspect="1"/>
          </p:cNvGrpSpPr>
          <p:nvPr/>
        </p:nvGrpSpPr>
        <p:grpSpPr bwMode="gray">
          <a:xfrm>
            <a:off x="9063052" y="3104578"/>
            <a:ext cx="243192" cy="243192"/>
            <a:chOff x="10441953" y="5633214"/>
            <a:chExt cx="264000" cy="264000"/>
          </a:xfrm>
        </p:grpSpPr>
        <p:sp>
          <p:nvSpPr>
            <p:cNvPr id="48" name="椭圆 47"/>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任意多边形 48"/>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0" name="组合 49"/>
          <p:cNvGrpSpPr>
            <a:grpSpLocks noChangeAspect="1"/>
          </p:cNvGrpSpPr>
          <p:nvPr/>
        </p:nvGrpSpPr>
        <p:grpSpPr bwMode="gray">
          <a:xfrm>
            <a:off x="10126082" y="3104578"/>
            <a:ext cx="243192" cy="243192"/>
            <a:chOff x="10441953" y="5633214"/>
            <a:chExt cx="264000" cy="264000"/>
          </a:xfrm>
        </p:grpSpPr>
        <p:sp>
          <p:nvSpPr>
            <p:cNvPr id="51" name="椭圆 50"/>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任意多边形 51"/>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3" name="组合 52"/>
          <p:cNvGrpSpPr>
            <a:grpSpLocks noChangeAspect="1"/>
          </p:cNvGrpSpPr>
          <p:nvPr/>
        </p:nvGrpSpPr>
        <p:grpSpPr bwMode="gray">
          <a:xfrm>
            <a:off x="8004718" y="3499169"/>
            <a:ext cx="243192" cy="243192"/>
            <a:chOff x="10441953" y="5633214"/>
            <a:chExt cx="264000" cy="264000"/>
          </a:xfrm>
        </p:grpSpPr>
        <p:sp>
          <p:nvSpPr>
            <p:cNvPr id="54" name="椭圆 53"/>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任意多边形 54"/>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6" name="组合 55"/>
          <p:cNvGrpSpPr>
            <a:grpSpLocks noChangeAspect="1"/>
          </p:cNvGrpSpPr>
          <p:nvPr/>
        </p:nvGrpSpPr>
        <p:grpSpPr bwMode="gray">
          <a:xfrm>
            <a:off x="9063052" y="3499169"/>
            <a:ext cx="243192" cy="243192"/>
            <a:chOff x="10441953" y="5633214"/>
            <a:chExt cx="264000" cy="264000"/>
          </a:xfrm>
        </p:grpSpPr>
        <p:sp>
          <p:nvSpPr>
            <p:cNvPr id="57" name="椭圆 56"/>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任意多边形 57"/>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9" name="组合 58"/>
          <p:cNvGrpSpPr>
            <a:grpSpLocks noChangeAspect="1"/>
          </p:cNvGrpSpPr>
          <p:nvPr/>
        </p:nvGrpSpPr>
        <p:grpSpPr bwMode="gray">
          <a:xfrm>
            <a:off x="10126082" y="3499169"/>
            <a:ext cx="243192" cy="243192"/>
            <a:chOff x="10441953" y="5633214"/>
            <a:chExt cx="264000" cy="264000"/>
          </a:xfrm>
        </p:grpSpPr>
        <p:sp>
          <p:nvSpPr>
            <p:cNvPr id="60" name="椭圆 59"/>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任意多边形 60"/>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5" name="组合 28"/>
          <p:cNvGrpSpPr/>
          <p:nvPr/>
        </p:nvGrpSpPr>
        <p:grpSpPr bwMode="gray">
          <a:xfrm>
            <a:off x="8009093" y="3108953"/>
            <a:ext cx="238817" cy="238817"/>
            <a:chOff x="5076056" y="3356992"/>
            <a:chExt cx="436268" cy="436268"/>
          </a:xfrm>
        </p:grpSpPr>
        <p:sp>
          <p:nvSpPr>
            <p:cNvPr id="66"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禁止符 23"/>
            <p:cNvSpPr/>
            <p:nvPr/>
          </p:nvSpPr>
          <p:spPr bwMode="gray">
            <a:xfrm>
              <a:off x="5076056" y="3356992"/>
              <a:ext cx="436268" cy="436268"/>
            </a:xfrm>
            <a:prstGeom prst="noSmoking">
              <a:avLst>
                <a:gd name="adj" fmla="val 15475"/>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8" name="组合 28"/>
          <p:cNvGrpSpPr/>
          <p:nvPr/>
        </p:nvGrpSpPr>
        <p:grpSpPr bwMode="gray">
          <a:xfrm>
            <a:off x="9065239" y="2732444"/>
            <a:ext cx="238817" cy="238817"/>
            <a:chOff x="5076056" y="3356992"/>
            <a:chExt cx="436268" cy="436268"/>
          </a:xfrm>
        </p:grpSpPr>
        <p:sp>
          <p:nvSpPr>
            <p:cNvPr id="69"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禁止符 23"/>
            <p:cNvSpPr/>
            <p:nvPr/>
          </p:nvSpPr>
          <p:spPr bwMode="gray">
            <a:xfrm>
              <a:off x="5076056" y="3356992"/>
              <a:ext cx="436268" cy="436268"/>
            </a:xfrm>
            <a:prstGeom prst="noSmoking">
              <a:avLst>
                <a:gd name="adj" fmla="val 15475"/>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1" name="组合 70"/>
          <p:cNvGrpSpPr/>
          <p:nvPr/>
        </p:nvGrpSpPr>
        <p:grpSpPr bwMode="gray">
          <a:xfrm>
            <a:off x="844116" y="1629434"/>
            <a:ext cx="4664221" cy="3919985"/>
            <a:chOff x="844116" y="1629434"/>
            <a:chExt cx="4664221" cy="3919985"/>
          </a:xfrm>
        </p:grpSpPr>
        <p:cxnSp>
          <p:nvCxnSpPr>
            <p:cNvPr id="72" name="Straight Connector 167"/>
            <p:cNvCxnSpPr>
              <a:stCxn id="81" idx="1"/>
              <a:endCxn id="88" idx="3"/>
            </p:cNvCxnSpPr>
            <p:nvPr/>
          </p:nvCxnSpPr>
          <p:spPr bwMode="gray">
            <a:xfrm flipH="1">
              <a:off x="2374475" y="1891045"/>
              <a:ext cx="662822"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3" name="Straight Connector 167"/>
            <p:cNvCxnSpPr>
              <a:stCxn id="85" idx="0"/>
              <a:endCxn id="79" idx="2"/>
            </p:cNvCxnSpPr>
            <p:nvPr/>
          </p:nvCxnSpPr>
          <p:spPr bwMode="gray">
            <a:xfrm flipV="1">
              <a:off x="4414785" y="4235315"/>
              <a:ext cx="1" cy="41521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Straight Connector 167"/>
            <p:cNvCxnSpPr>
              <a:stCxn id="84" idx="0"/>
              <a:endCxn id="78" idx="2"/>
            </p:cNvCxnSpPr>
            <p:nvPr/>
          </p:nvCxnSpPr>
          <p:spPr bwMode="gray">
            <a:xfrm flipV="1">
              <a:off x="2147182" y="4235315"/>
              <a:ext cx="1" cy="41521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5" name="Straight Connector 167"/>
            <p:cNvCxnSpPr>
              <a:stCxn id="90" idx="0"/>
              <a:endCxn id="81" idx="2"/>
            </p:cNvCxnSpPr>
            <p:nvPr/>
          </p:nvCxnSpPr>
          <p:spPr bwMode="gray">
            <a:xfrm flipV="1">
              <a:off x="3282752" y="2091871"/>
              <a:ext cx="0" cy="715477"/>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6" name="Straight Connector 166"/>
            <p:cNvCxnSpPr>
              <a:endCxn id="79" idx="0"/>
            </p:cNvCxnSpPr>
            <p:nvPr/>
          </p:nvCxnSpPr>
          <p:spPr bwMode="gray">
            <a:xfrm>
              <a:off x="3283748" y="3005467"/>
              <a:ext cx="1131038" cy="8647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167"/>
            <p:cNvCxnSpPr>
              <a:endCxn id="78" idx="0"/>
            </p:cNvCxnSpPr>
            <p:nvPr/>
          </p:nvCxnSpPr>
          <p:spPr bwMode="gray">
            <a:xfrm flipH="1">
              <a:off x="2147183" y="3005467"/>
              <a:ext cx="1136566" cy="864709"/>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78" name="图片 76" descr="接入交换机.png"/>
            <p:cNvPicPr>
              <a:picLocks noChangeAspect="1"/>
            </p:cNvPicPr>
            <p:nvPr/>
          </p:nvPicPr>
          <p:blipFill>
            <a:blip r:embed="rId3" cstate="print"/>
            <a:stretch>
              <a:fillRect/>
            </a:stretch>
          </p:blipFill>
          <p:spPr bwMode="gray">
            <a:xfrm>
              <a:off x="1924042" y="3870176"/>
              <a:ext cx="446281" cy="365139"/>
            </a:xfrm>
            <a:prstGeom prst="rect">
              <a:avLst/>
            </a:prstGeom>
          </p:spPr>
        </p:pic>
        <p:pic>
          <p:nvPicPr>
            <p:cNvPr id="79" name="图片 76" descr="接入交换机.png"/>
            <p:cNvPicPr>
              <a:picLocks noChangeAspect="1"/>
            </p:cNvPicPr>
            <p:nvPr/>
          </p:nvPicPr>
          <p:blipFill>
            <a:blip r:embed="rId3" cstate="print"/>
            <a:stretch>
              <a:fillRect/>
            </a:stretch>
          </p:blipFill>
          <p:spPr bwMode="gray">
            <a:xfrm>
              <a:off x="4191645" y="3870176"/>
              <a:ext cx="446281" cy="365139"/>
            </a:xfrm>
            <a:prstGeom prst="rect">
              <a:avLst/>
            </a:prstGeom>
          </p:spPr>
        </p:pic>
        <p:cxnSp>
          <p:nvCxnSpPr>
            <p:cNvPr id="80" name="Straight Connector 167"/>
            <p:cNvCxnSpPr>
              <a:endCxn id="90" idx="3"/>
            </p:cNvCxnSpPr>
            <p:nvPr/>
          </p:nvCxnSpPr>
          <p:spPr bwMode="gray">
            <a:xfrm flipH="1">
              <a:off x="3528206" y="3008175"/>
              <a:ext cx="1345152"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81"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037297" y="1690218"/>
              <a:ext cx="490909" cy="401653"/>
            </a:xfrm>
            <a:prstGeom prst="rect">
              <a:avLst/>
            </a:prstGeom>
          </p:spPr>
        </p:pic>
        <p:sp>
          <p:nvSpPr>
            <p:cNvPr id="82" name="文本框 81"/>
            <p:cNvSpPr txBox="1"/>
            <p:nvPr/>
          </p:nvSpPr>
          <p:spPr bwMode="gray">
            <a:xfrm>
              <a:off x="2459285" y="2858437"/>
              <a:ext cx="579006" cy="307777"/>
            </a:xfrm>
            <a:prstGeom prst="rect">
              <a:avLst/>
            </a:prstGeom>
            <a:noFill/>
          </p:spPr>
          <p:txBody>
            <a:bodyPr wrap="none" rtlCol="0">
              <a:spAutoFit/>
            </a:bodyPr>
            <a:lstStyle/>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Core</a:t>
              </a:r>
            </a:p>
          </p:txBody>
        </p:sp>
        <p:sp>
          <p:nvSpPr>
            <p:cNvPr id="83" name="文本框 82"/>
            <p:cNvSpPr txBox="1"/>
            <p:nvPr/>
          </p:nvSpPr>
          <p:spPr bwMode="gray">
            <a:xfrm>
              <a:off x="3555417" y="1737156"/>
              <a:ext cx="470000" cy="307777"/>
            </a:xfrm>
            <a:prstGeom prst="rect">
              <a:avLst/>
            </a:prstGeom>
            <a:noFill/>
          </p:spPr>
          <p:txBody>
            <a:bodyPr wrap="none" rtlCol="0">
              <a:spAutoFit/>
            </a:bodyPr>
            <a:lstStyle/>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FW</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4" name="图片 11" descr="开放网络-蓝.png"/>
            <p:cNvPicPr>
              <a:picLocks noChangeAspect="1"/>
            </p:cNvPicPr>
            <p:nvPr/>
          </p:nvPicPr>
          <p:blipFill>
            <a:blip r:embed="rId5" cstate="print"/>
            <a:stretch>
              <a:fillRect/>
            </a:stretch>
          </p:blipFill>
          <p:spPr bwMode="gray">
            <a:xfrm>
              <a:off x="1924204" y="4650528"/>
              <a:ext cx="445956" cy="343290"/>
            </a:xfrm>
            <a:prstGeom prst="rect">
              <a:avLst/>
            </a:prstGeom>
          </p:spPr>
        </p:pic>
        <p:pic>
          <p:nvPicPr>
            <p:cNvPr id="85" name="图片 11" descr="开放网络-蓝.png"/>
            <p:cNvPicPr>
              <a:picLocks noChangeAspect="1"/>
            </p:cNvPicPr>
            <p:nvPr/>
          </p:nvPicPr>
          <p:blipFill>
            <a:blip r:embed="rId5" cstate="print"/>
            <a:stretch>
              <a:fillRect/>
            </a:stretch>
          </p:blipFill>
          <p:spPr bwMode="gray">
            <a:xfrm>
              <a:off x="4191807" y="4650528"/>
              <a:ext cx="445956" cy="343290"/>
            </a:xfrm>
            <a:prstGeom prst="rect">
              <a:avLst/>
            </a:prstGeom>
          </p:spPr>
        </p:pic>
        <p:sp>
          <p:nvSpPr>
            <p:cNvPr id="86" name="文本框 85"/>
            <p:cNvSpPr txBox="1"/>
            <p:nvPr/>
          </p:nvSpPr>
          <p:spPr bwMode="gray">
            <a:xfrm>
              <a:off x="1457076" y="5026199"/>
              <a:ext cx="1388522" cy="523220"/>
            </a:xfrm>
            <a:prstGeom prst="rect">
              <a:avLst/>
            </a:prstGeom>
            <a:noFill/>
          </p:spPr>
          <p:txBody>
            <a:bodyPr wrap="none" rtlCol="0">
              <a:spAutoFit/>
            </a:bodyPr>
            <a:lstStyle/>
            <a:p>
              <a:pPr algn="ctr"/>
              <a:r>
                <a:rPr lang="en-US" altLang="zh-CN" sz="1400" b="1">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User1</a:t>
              </a:r>
            </a:p>
            <a:p>
              <a:pPr algn="ctr"/>
              <a:r>
                <a:rPr lang="en-US" altLang="zh-CN"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192.168.1.1/24</a:t>
              </a:r>
              <a:endParaRPr lang="zh-CN" altLang="en-US"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文本框 86"/>
            <p:cNvSpPr txBox="1"/>
            <p:nvPr/>
          </p:nvSpPr>
          <p:spPr bwMode="gray">
            <a:xfrm>
              <a:off x="3738442" y="5026199"/>
              <a:ext cx="1388522" cy="523220"/>
            </a:xfrm>
            <a:prstGeom prst="rect">
              <a:avLst/>
            </a:prstGeom>
            <a:noFill/>
          </p:spPr>
          <p:txBody>
            <a:bodyPr wrap="none" rtlCol="0">
              <a:spAutoFit/>
            </a:bodyPr>
            <a:lstStyle/>
            <a:p>
              <a:pPr algn="ctr"/>
              <a:r>
                <a:rPr lang="en-US" altLang="zh-CN" sz="1400" b="1">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User2</a:t>
              </a:r>
            </a:p>
            <a:p>
              <a:pPr algn="ctr"/>
              <a:r>
                <a:rPr lang="en-US" altLang="zh-CN"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192.168.2.1/24</a:t>
              </a:r>
              <a:endParaRPr lang="zh-CN" altLang="en-US"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8" name="图片 72" descr="交换机.png"/>
            <p:cNvPicPr>
              <a:picLocks noChangeAspect="1"/>
            </p:cNvPicPr>
            <p:nvPr/>
          </p:nvPicPr>
          <p:blipFill>
            <a:blip r:embed="rId6" cstate="print"/>
            <a:stretch>
              <a:fillRect/>
            </a:stretch>
          </p:blipFill>
          <p:spPr bwMode="gray">
            <a:xfrm>
              <a:off x="1929670" y="1708476"/>
              <a:ext cx="444805" cy="365137"/>
            </a:xfrm>
            <a:prstGeom prst="rect">
              <a:avLst/>
            </a:prstGeom>
          </p:spPr>
        </p:pic>
        <p:sp>
          <p:nvSpPr>
            <p:cNvPr id="89" name="文本框 88"/>
            <p:cNvSpPr txBox="1"/>
            <p:nvPr/>
          </p:nvSpPr>
          <p:spPr bwMode="gray">
            <a:xfrm>
              <a:off x="844116" y="1629434"/>
              <a:ext cx="1085554" cy="523220"/>
            </a:xfrm>
            <a:prstGeom prst="rect">
              <a:avLst/>
            </a:prstGeom>
            <a:noFill/>
          </p:spPr>
          <p:txBody>
            <a:bodyPr wrap="none" rtlCol="0">
              <a:spAutoFit/>
            </a:bodyPr>
            <a:lstStyle/>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Server</a:t>
              </a:r>
            </a:p>
            <a:p>
              <a:pPr algn="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10.1.1.1/24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0" name="图片 86" descr="核心交换机.png"/>
            <p:cNvPicPr>
              <a:picLocks noChangeAspect="1"/>
            </p:cNvPicPr>
            <p:nvPr/>
          </p:nvPicPr>
          <p:blipFill>
            <a:blip r:embed="rId7" cstate="print"/>
            <a:stretch>
              <a:fillRect/>
            </a:stretch>
          </p:blipFill>
          <p:spPr bwMode="gray">
            <a:xfrm>
              <a:off x="3037297" y="2807348"/>
              <a:ext cx="490909" cy="401653"/>
            </a:xfrm>
            <a:prstGeom prst="rect">
              <a:avLst/>
            </a:prstGeom>
          </p:spPr>
        </p:pic>
        <p:pic>
          <p:nvPicPr>
            <p:cNvPr id="91" name="图片 9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4556730" y="2811495"/>
              <a:ext cx="951607" cy="540946"/>
            </a:xfrm>
            <a:prstGeom prst="rect">
              <a:avLst/>
            </a:prstGeom>
          </p:spPr>
        </p:pic>
      </p:grpSp>
      <p:sp>
        <p:nvSpPr>
          <p:cNvPr id="62" name="TextBox 55"/>
          <p:cNvSpPr txBox="1"/>
          <p:nvPr/>
        </p:nvSpPr>
        <p:spPr bwMode="gray">
          <a:xfrm>
            <a:off x="6217509" y="1296318"/>
            <a:ext cx="5312854" cy="348813"/>
          </a:xfrm>
          <a:prstGeom prst="rect">
            <a:avLst/>
          </a:prstGeom>
          <a:noFill/>
        </p:spPr>
        <p:txBody>
          <a:bodyPr wrap="square" rtlCol="0">
            <a:spAutoFit/>
          </a:bodyPr>
          <a:lstStyle/>
          <a:p>
            <a:pPr>
              <a:lnSpc>
                <a:spcPts val="2000"/>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在控制器上创建策略控制矩阵，并指定策略执行点设备（</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TextBox 55"/>
          <p:cNvSpPr txBox="1"/>
          <p:nvPr/>
        </p:nvSpPr>
        <p:spPr bwMode="gray">
          <a:xfrm>
            <a:off x="4873357" y="5865558"/>
            <a:ext cx="954107"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策略执行点</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Oval 65"/>
          <p:cNvSpPr>
            <a:spLocks noChangeAspect="1"/>
          </p:cNvSpPr>
          <p:nvPr/>
        </p:nvSpPr>
        <p:spPr bwMode="gray">
          <a:xfrm>
            <a:off x="3204116" y="3115551"/>
            <a:ext cx="159261" cy="159261"/>
          </a:xfrm>
          <a:prstGeom prst="ellipse">
            <a:avLst/>
          </a:prstGeom>
          <a:solidFill>
            <a:srgbClr val="C7000B"/>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Oval 65"/>
          <p:cNvSpPr>
            <a:spLocks noChangeAspect="1"/>
          </p:cNvSpPr>
          <p:nvPr/>
        </p:nvSpPr>
        <p:spPr bwMode="gray">
          <a:xfrm>
            <a:off x="4695790" y="5924427"/>
            <a:ext cx="159261" cy="159261"/>
          </a:xfrm>
          <a:prstGeom prst="ellipse">
            <a:avLst/>
          </a:prstGeom>
          <a:solidFill>
            <a:srgbClr val="C7000B"/>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75756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组合 108"/>
          <p:cNvGrpSpPr/>
          <p:nvPr/>
        </p:nvGrpSpPr>
        <p:grpSpPr bwMode="gray">
          <a:xfrm>
            <a:off x="844116" y="1629434"/>
            <a:ext cx="4664221" cy="3919985"/>
            <a:chOff x="844116" y="1629434"/>
            <a:chExt cx="4664221" cy="3919985"/>
          </a:xfrm>
        </p:grpSpPr>
        <p:cxnSp>
          <p:nvCxnSpPr>
            <p:cNvPr id="110" name="Straight Connector 167"/>
            <p:cNvCxnSpPr>
              <a:stCxn id="119" idx="1"/>
              <a:endCxn id="126" idx="3"/>
            </p:cNvCxnSpPr>
            <p:nvPr/>
          </p:nvCxnSpPr>
          <p:spPr bwMode="gray">
            <a:xfrm flipH="1">
              <a:off x="2374475" y="1891045"/>
              <a:ext cx="662822"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1" name="Straight Connector 167"/>
            <p:cNvCxnSpPr>
              <a:stCxn id="123" idx="0"/>
              <a:endCxn id="117" idx="2"/>
            </p:cNvCxnSpPr>
            <p:nvPr/>
          </p:nvCxnSpPr>
          <p:spPr bwMode="gray">
            <a:xfrm flipV="1">
              <a:off x="4414785" y="4235315"/>
              <a:ext cx="1" cy="41521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2" name="Straight Connector 167"/>
            <p:cNvCxnSpPr>
              <a:stCxn id="122" idx="0"/>
              <a:endCxn id="116" idx="2"/>
            </p:cNvCxnSpPr>
            <p:nvPr/>
          </p:nvCxnSpPr>
          <p:spPr bwMode="gray">
            <a:xfrm flipV="1">
              <a:off x="2147182" y="4235315"/>
              <a:ext cx="1" cy="41521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3" name="Straight Connector 167"/>
            <p:cNvCxnSpPr>
              <a:stCxn id="128" idx="0"/>
              <a:endCxn id="119" idx="2"/>
            </p:cNvCxnSpPr>
            <p:nvPr/>
          </p:nvCxnSpPr>
          <p:spPr bwMode="gray">
            <a:xfrm flipV="1">
              <a:off x="3282752" y="2091871"/>
              <a:ext cx="0" cy="715477"/>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4" name="Straight Connector 166"/>
            <p:cNvCxnSpPr>
              <a:endCxn id="117" idx="0"/>
            </p:cNvCxnSpPr>
            <p:nvPr/>
          </p:nvCxnSpPr>
          <p:spPr bwMode="gray">
            <a:xfrm>
              <a:off x="3283748" y="3005467"/>
              <a:ext cx="1131038" cy="8647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67"/>
            <p:cNvCxnSpPr>
              <a:endCxn id="116" idx="0"/>
            </p:cNvCxnSpPr>
            <p:nvPr/>
          </p:nvCxnSpPr>
          <p:spPr bwMode="gray">
            <a:xfrm flipH="1">
              <a:off x="2147183" y="3005467"/>
              <a:ext cx="1136566" cy="864709"/>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116" name="图片 76" descr="接入交换机.png"/>
            <p:cNvPicPr>
              <a:picLocks noChangeAspect="1"/>
            </p:cNvPicPr>
            <p:nvPr/>
          </p:nvPicPr>
          <p:blipFill>
            <a:blip r:embed="rId3" cstate="print"/>
            <a:stretch>
              <a:fillRect/>
            </a:stretch>
          </p:blipFill>
          <p:spPr bwMode="gray">
            <a:xfrm>
              <a:off x="1924042" y="3870176"/>
              <a:ext cx="446281" cy="365139"/>
            </a:xfrm>
            <a:prstGeom prst="rect">
              <a:avLst/>
            </a:prstGeom>
          </p:spPr>
        </p:pic>
        <p:pic>
          <p:nvPicPr>
            <p:cNvPr id="117" name="图片 76" descr="接入交换机.png"/>
            <p:cNvPicPr>
              <a:picLocks noChangeAspect="1"/>
            </p:cNvPicPr>
            <p:nvPr/>
          </p:nvPicPr>
          <p:blipFill>
            <a:blip r:embed="rId3" cstate="print"/>
            <a:stretch>
              <a:fillRect/>
            </a:stretch>
          </p:blipFill>
          <p:spPr bwMode="gray">
            <a:xfrm>
              <a:off x="4191645" y="3870176"/>
              <a:ext cx="446281" cy="365139"/>
            </a:xfrm>
            <a:prstGeom prst="rect">
              <a:avLst/>
            </a:prstGeom>
          </p:spPr>
        </p:pic>
        <p:cxnSp>
          <p:nvCxnSpPr>
            <p:cNvPr id="118" name="Straight Connector 167"/>
            <p:cNvCxnSpPr>
              <a:endCxn id="128" idx="3"/>
            </p:cNvCxnSpPr>
            <p:nvPr/>
          </p:nvCxnSpPr>
          <p:spPr bwMode="gray">
            <a:xfrm flipH="1">
              <a:off x="3528206" y="3008175"/>
              <a:ext cx="1345152"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119"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037297" y="1690218"/>
              <a:ext cx="490909" cy="401653"/>
            </a:xfrm>
            <a:prstGeom prst="rect">
              <a:avLst/>
            </a:prstGeom>
          </p:spPr>
        </p:pic>
        <p:sp>
          <p:nvSpPr>
            <p:cNvPr id="120" name="文本框 119"/>
            <p:cNvSpPr txBox="1"/>
            <p:nvPr/>
          </p:nvSpPr>
          <p:spPr bwMode="gray">
            <a:xfrm>
              <a:off x="2459285" y="2858437"/>
              <a:ext cx="579006" cy="307777"/>
            </a:xfrm>
            <a:prstGeom prst="rect">
              <a:avLst/>
            </a:prstGeom>
            <a:noFill/>
          </p:spPr>
          <p:txBody>
            <a:bodyPr wrap="none" rtlCol="0">
              <a:spAutoFit/>
            </a:bodyPr>
            <a:lstStyle/>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Core</a:t>
              </a:r>
            </a:p>
          </p:txBody>
        </p:sp>
        <p:sp>
          <p:nvSpPr>
            <p:cNvPr id="121" name="文本框 120"/>
            <p:cNvSpPr txBox="1"/>
            <p:nvPr/>
          </p:nvSpPr>
          <p:spPr bwMode="gray">
            <a:xfrm>
              <a:off x="3555417" y="1737156"/>
              <a:ext cx="470000" cy="307777"/>
            </a:xfrm>
            <a:prstGeom prst="rect">
              <a:avLst/>
            </a:prstGeom>
            <a:noFill/>
          </p:spPr>
          <p:txBody>
            <a:bodyPr wrap="none" rtlCol="0">
              <a:spAutoFit/>
            </a:bodyPr>
            <a:lstStyle/>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FW</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2" name="图片 11" descr="开放网络-蓝.png"/>
            <p:cNvPicPr>
              <a:picLocks noChangeAspect="1"/>
            </p:cNvPicPr>
            <p:nvPr/>
          </p:nvPicPr>
          <p:blipFill>
            <a:blip r:embed="rId5" cstate="print"/>
            <a:stretch>
              <a:fillRect/>
            </a:stretch>
          </p:blipFill>
          <p:spPr bwMode="gray">
            <a:xfrm>
              <a:off x="1924204" y="4650528"/>
              <a:ext cx="445956" cy="343290"/>
            </a:xfrm>
            <a:prstGeom prst="rect">
              <a:avLst/>
            </a:prstGeom>
          </p:spPr>
        </p:pic>
        <p:pic>
          <p:nvPicPr>
            <p:cNvPr id="123" name="图片 11" descr="开放网络-蓝.png"/>
            <p:cNvPicPr>
              <a:picLocks noChangeAspect="1"/>
            </p:cNvPicPr>
            <p:nvPr/>
          </p:nvPicPr>
          <p:blipFill>
            <a:blip r:embed="rId5" cstate="print"/>
            <a:stretch>
              <a:fillRect/>
            </a:stretch>
          </p:blipFill>
          <p:spPr bwMode="gray">
            <a:xfrm>
              <a:off x="4191807" y="4650528"/>
              <a:ext cx="445956" cy="343290"/>
            </a:xfrm>
            <a:prstGeom prst="rect">
              <a:avLst/>
            </a:prstGeom>
          </p:spPr>
        </p:pic>
        <p:sp>
          <p:nvSpPr>
            <p:cNvPr id="124" name="文本框 123"/>
            <p:cNvSpPr txBox="1"/>
            <p:nvPr/>
          </p:nvSpPr>
          <p:spPr bwMode="gray">
            <a:xfrm>
              <a:off x="1457076" y="5026199"/>
              <a:ext cx="1388522" cy="523220"/>
            </a:xfrm>
            <a:prstGeom prst="rect">
              <a:avLst/>
            </a:prstGeom>
            <a:noFill/>
          </p:spPr>
          <p:txBody>
            <a:bodyPr wrap="none" rtlCol="0">
              <a:spAutoFit/>
            </a:bodyPr>
            <a:lstStyle/>
            <a:p>
              <a:pPr algn="ctr"/>
              <a:r>
                <a:rPr lang="en-US" altLang="zh-CN" sz="1400" b="1">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User1</a:t>
              </a:r>
            </a:p>
            <a:p>
              <a:pPr algn="ctr"/>
              <a:r>
                <a:rPr lang="en-US" altLang="zh-CN"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192.168.1.1/24</a:t>
              </a:r>
              <a:endParaRPr lang="zh-CN" altLang="en-US"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文本框 124"/>
            <p:cNvSpPr txBox="1"/>
            <p:nvPr/>
          </p:nvSpPr>
          <p:spPr bwMode="gray">
            <a:xfrm>
              <a:off x="3738442" y="5026199"/>
              <a:ext cx="1388522" cy="523220"/>
            </a:xfrm>
            <a:prstGeom prst="rect">
              <a:avLst/>
            </a:prstGeom>
            <a:noFill/>
          </p:spPr>
          <p:txBody>
            <a:bodyPr wrap="none" rtlCol="0">
              <a:spAutoFit/>
            </a:bodyPr>
            <a:lstStyle/>
            <a:p>
              <a:pPr algn="ctr"/>
              <a:r>
                <a:rPr lang="en-US" altLang="zh-CN" sz="1400" b="1">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User2</a:t>
              </a:r>
            </a:p>
            <a:p>
              <a:pPr algn="ctr"/>
              <a:r>
                <a:rPr lang="en-US" altLang="zh-CN"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192.168.2.1/24</a:t>
              </a:r>
              <a:endParaRPr lang="zh-CN" altLang="en-US"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6" name="图片 72" descr="交换机.png"/>
            <p:cNvPicPr>
              <a:picLocks noChangeAspect="1"/>
            </p:cNvPicPr>
            <p:nvPr/>
          </p:nvPicPr>
          <p:blipFill>
            <a:blip r:embed="rId6" cstate="print"/>
            <a:stretch>
              <a:fillRect/>
            </a:stretch>
          </p:blipFill>
          <p:spPr bwMode="gray">
            <a:xfrm>
              <a:off x="1929670" y="1708476"/>
              <a:ext cx="444805" cy="365137"/>
            </a:xfrm>
            <a:prstGeom prst="rect">
              <a:avLst/>
            </a:prstGeom>
          </p:spPr>
        </p:pic>
        <p:sp>
          <p:nvSpPr>
            <p:cNvPr id="127" name="文本框 126"/>
            <p:cNvSpPr txBox="1"/>
            <p:nvPr/>
          </p:nvSpPr>
          <p:spPr bwMode="gray">
            <a:xfrm>
              <a:off x="844116" y="1629434"/>
              <a:ext cx="1085554" cy="523220"/>
            </a:xfrm>
            <a:prstGeom prst="rect">
              <a:avLst/>
            </a:prstGeom>
            <a:noFill/>
          </p:spPr>
          <p:txBody>
            <a:bodyPr wrap="none" rtlCol="0">
              <a:spAutoFit/>
            </a:bodyPr>
            <a:lstStyle/>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Server</a:t>
              </a:r>
            </a:p>
            <a:p>
              <a:pPr algn="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10.1.1.1/24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8" name="图片 86" descr="核心交换机.png"/>
            <p:cNvPicPr>
              <a:picLocks noChangeAspect="1"/>
            </p:cNvPicPr>
            <p:nvPr/>
          </p:nvPicPr>
          <p:blipFill>
            <a:blip r:embed="rId7" cstate="print"/>
            <a:stretch>
              <a:fillRect/>
            </a:stretch>
          </p:blipFill>
          <p:spPr bwMode="gray">
            <a:xfrm>
              <a:off x="3037297" y="2807348"/>
              <a:ext cx="490909" cy="401653"/>
            </a:xfrm>
            <a:prstGeom prst="rect">
              <a:avLst/>
            </a:prstGeom>
          </p:spPr>
        </p:pic>
        <p:pic>
          <p:nvPicPr>
            <p:cNvPr id="129" name="图片 12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4556730" y="2811495"/>
              <a:ext cx="951607" cy="540946"/>
            </a:xfrm>
            <a:prstGeom prst="rect">
              <a:avLst/>
            </a:prstGeom>
          </p:spPr>
        </p:pic>
      </p:grpSp>
      <p:sp>
        <p:nvSpPr>
          <p:cNvPr id="4" name="标题 3"/>
          <p:cNvSpPr>
            <a:spLocks noGrp="1"/>
          </p:cNvSpPr>
          <p:nvPr>
            <p:ph type="title"/>
          </p:nvPr>
        </p:nvSpPr>
        <p:spPr bwMode="gray"/>
        <p:txBody>
          <a:bodyPr>
            <a:normAutofit/>
          </a:bodyPr>
          <a:lstStyle/>
          <a:p>
            <a:r>
              <a:rPr lang="zh-CN" altLang="en-US" dirty="0"/>
              <a:t>业务随行工作原理详解 </a:t>
            </a:r>
            <a:r>
              <a:rPr lang="en-US" altLang="zh-CN" dirty="0"/>
              <a:t>(3)</a:t>
            </a:r>
            <a:endParaRPr lang="zh-CN" altLang="en-US" dirty="0"/>
          </a:p>
        </p:txBody>
      </p:sp>
      <p:cxnSp>
        <p:nvCxnSpPr>
          <p:cNvPr id="62" name="Straight Arrow Connector 4"/>
          <p:cNvCxnSpPr/>
          <p:nvPr/>
        </p:nvCxnSpPr>
        <p:spPr bwMode="gray">
          <a:xfrm flipH="1">
            <a:off x="3555417" y="2907713"/>
            <a:ext cx="1232192" cy="0"/>
          </a:xfrm>
          <a:prstGeom prst="straightConnector1">
            <a:avLst/>
          </a:prstGeom>
          <a:ln w="38100">
            <a:solidFill>
              <a:srgbClr val="C7000B"/>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3" name="TextBox 55"/>
          <p:cNvSpPr txBox="1"/>
          <p:nvPr/>
        </p:nvSpPr>
        <p:spPr bwMode="gray">
          <a:xfrm>
            <a:off x="4873357" y="5865558"/>
            <a:ext cx="954107"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策略执行点</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Oval 65"/>
          <p:cNvSpPr>
            <a:spLocks noChangeAspect="1"/>
          </p:cNvSpPr>
          <p:nvPr/>
        </p:nvSpPr>
        <p:spPr bwMode="gray">
          <a:xfrm>
            <a:off x="3204116" y="3115551"/>
            <a:ext cx="159261" cy="159261"/>
          </a:xfrm>
          <a:prstGeom prst="ellipse">
            <a:avLst/>
          </a:prstGeom>
          <a:solidFill>
            <a:srgbClr val="C7000B"/>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Oval 65"/>
          <p:cNvSpPr>
            <a:spLocks noChangeAspect="1"/>
          </p:cNvSpPr>
          <p:nvPr/>
        </p:nvSpPr>
        <p:spPr bwMode="gray">
          <a:xfrm>
            <a:off x="4695790" y="5924427"/>
            <a:ext cx="159261" cy="159261"/>
          </a:xfrm>
          <a:prstGeom prst="ellipse">
            <a:avLst/>
          </a:prstGeom>
          <a:solidFill>
            <a:srgbClr val="C7000B"/>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2" name="组合 71"/>
          <p:cNvGrpSpPr/>
          <p:nvPr/>
        </p:nvGrpSpPr>
        <p:grpSpPr bwMode="gray">
          <a:xfrm flipH="1">
            <a:off x="4283679" y="1730822"/>
            <a:ext cx="1789136" cy="1189538"/>
            <a:chOff x="5355139" y="1925279"/>
            <a:chExt cx="1697823" cy="1189538"/>
          </a:xfrm>
        </p:grpSpPr>
        <p:cxnSp>
          <p:nvCxnSpPr>
            <p:cNvPr id="73" name="Straight Connector 10"/>
            <p:cNvCxnSpPr/>
            <p:nvPr/>
          </p:nvCxnSpPr>
          <p:spPr bwMode="gray">
            <a:xfrm>
              <a:off x="5355139" y="1925279"/>
              <a:ext cx="813178" cy="0"/>
            </a:xfrm>
            <a:prstGeom prst="line">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Straight Connector 43"/>
            <p:cNvCxnSpPr/>
            <p:nvPr/>
          </p:nvCxnSpPr>
          <p:spPr bwMode="gray">
            <a:xfrm>
              <a:off x="6168317" y="1925279"/>
              <a:ext cx="884645" cy="1189538"/>
            </a:xfrm>
            <a:prstGeom prst="line">
              <a:avLst/>
            </a:pr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cxnSp>
      </p:grpSp>
      <p:sp>
        <p:nvSpPr>
          <p:cNvPr id="75" name="矩形 74"/>
          <p:cNvSpPr/>
          <p:nvPr/>
        </p:nvSpPr>
        <p:spPr bwMode="gray">
          <a:xfrm>
            <a:off x="3894210" y="1214316"/>
            <a:ext cx="2229717" cy="523220"/>
          </a:xfrm>
          <a:prstGeom prst="rect">
            <a:avLst/>
          </a:prstGeom>
        </p:spPr>
        <p:txBody>
          <a:bodyPr wrap="square">
            <a:spAutoFit/>
          </a:bodyPr>
          <a:lstStyle/>
          <a:p>
            <a:pPr lvl="0" algn="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向策略执行点</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推送</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组间策略</a:t>
            </a:r>
          </a:p>
        </p:txBody>
      </p:sp>
      <p:sp>
        <p:nvSpPr>
          <p:cNvPr id="77" name="TextBox 55"/>
          <p:cNvSpPr txBox="1"/>
          <p:nvPr/>
        </p:nvSpPr>
        <p:spPr bwMode="gray">
          <a:xfrm>
            <a:off x="6224204" y="1526661"/>
            <a:ext cx="1347661" cy="332463"/>
          </a:xfrm>
          <a:prstGeom prst="rect">
            <a:avLst/>
          </a:prstGeom>
          <a:noFill/>
        </p:spPr>
        <p:txBody>
          <a:bodyPr wrap="square" rtlCol="0">
            <a:spAutoFit/>
          </a:bodyPr>
          <a:lstStyle/>
          <a:p>
            <a:pPr>
              <a:lnSpc>
                <a:spcPts val="2000"/>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策略控制矩阵：</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Rectangle 7"/>
          <p:cNvSpPr/>
          <p:nvPr/>
        </p:nvSpPr>
        <p:spPr bwMode="gray">
          <a:xfrm>
            <a:off x="6072815" y="1417080"/>
            <a:ext cx="4898036" cy="2341104"/>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80" name="Table 77"/>
          <p:cNvGraphicFramePr>
            <a:graphicFrameLocks noGrp="1"/>
          </p:cNvGraphicFramePr>
          <p:nvPr>
            <p:extLst>
              <p:ext uri="{D42A27DB-BD31-4B8C-83A1-F6EECF244321}">
                <p14:modId xmlns:p14="http://schemas.microsoft.com/office/powerpoint/2010/main" val="3235873978"/>
              </p:ext>
            </p:extLst>
          </p:nvPr>
        </p:nvGraphicFramePr>
        <p:xfrm>
          <a:off x="6312846" y="1891045"/>
          <a:ext cx="4434853" cy="1670622"/>
        </p:xfrm>
        <a:graphic>
          <a:graphicData uri="http://schemas.openxmlformats.org/drawingml/2006/table">
            <a:tbl>
              <a:tblPr firstRow="1" bandRow="1">
                <a:tableStyleId>{5940675A-B579-460E-94D1-54222C63F5DA}</a:tableStyleId>
              </a:tblPr>
              <a:tblGrid>
                <a:gridCol w="1228420">
                  <a:extLst>
                    <a:ext uri="{9D8B030D-6E8A-4147-A177-3AD203B41FA5}">
                      <a16:colId xmlns:a16="http://schemas.microsoft.com/office/drawing/2014/main" val="20000"/>
                    </a:ext>
                  </a:extLst>
                </a:gridCol>
                <a:gridCol w="1068811">
                  <a:extLst>
                    <a:ext uri="{9D8B030D-6E8A-4147-A177-3AD203B41FA5}">
                      <a16:colId xmlns:a16="http://schemas.microsoft.com/office/drawing/2014/main" val="20001"/>
                    </a:ext>
                  </a:extLst>
                </a:gridCol>
                <a:gridCol w="1068811">
                  <a:extLst>
                    <a:ext uri="{9D8B030D-6E8A-4147-A177-3AD203B41FA5}">
                      <a16:colId xmlns:a16="http://schemas.microsoft.com/office/drawing/2014/main" val="20002"/>
                    </a:ext>
                  </a:extLst>
                </a:gridCol>
                <a:gridCol w="1068811">
                  <a:extLst>
                    <a:ext uri="{9D8B030D-6E8A-4147-A177-3AD203B41FA5}">
                      <a16:colId xmlns:a16="http://schemas.microsoft.com/office/drawing/2014/main" val="20003"/>
                    </a:ext>
                  </a:extLst>
                </a:gridCol>
              </a:tblGrid>
              <a:tr h="479598">
                <a:tc>
                  <a:txBody>
                    <a:bodyPr/>
                    <a:lstStyle/>
                    <a:p>
                      <a:pPr algn="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目的组</a:t>
                      </a:r>
                    </a:p>
                    <a:p>
                      <a:pPr algn="l"/>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源组</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Group1</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Group2</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97008">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Group1</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endParaRPr lang="zh-CN" altLang="en-US" sz="1200" b="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200" b="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200" b="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7008">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Group2</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1200" b="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200" b="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200" b="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7008">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1200" b="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1200" b="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12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81" name="直接连接符 80"/>
          <p:cNvCxnSpPr/>
          <p:nvPr/>
        </p:nvCxnSpPr>
        <p:spPr bwMode="gray">
          <a:xfrm>
            <a:off x="6312846" y="1899142"/>
            <a:ext cx="1242920" cy="4805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2" name="组合 81"/>
          <p:cNvGrpSpPr>
            <a:grpSpLocks noChangeAspect="1"/>
          </p:cNvGrpSpPr>
          <p:nvPr/>
        </p:nvGrpSpPr>
        <p:grpSpPr bwMode="gray">
          <a:xfrm>
            <a:off x="7940484" y="2473524"/>
            <a:ext cx="243192" cy="243192"/>
            <a:chOff x="10441953" y="5633214"/>
            <a:chExt cx="264000" cy="264000"/>
          </a:xfrm>
        </p:grpSpPr>
        <p:sp>
          <p:nvSpPr>
            <p:cNvPr id="83" name="椭圆 82"/>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任意多边形 83"/>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5" name="组合 84"/>
          <p:cNvGrpSpPr>
            <a:grpSpLocks noChangeAspect="1"/>
          </p:cNvGrpSpPr>
          <p:nvPr/>
        </p:nvGrpSpPr>
        <p:grpSpPr bwMode="gray">
          <a:xfrm>
            <a:off x="10061848" y="2473524"/>
            <a:ext cx="243192" cy="243192"/>
            <a:chOff x="10441953" y="5633214"/>
            <a:chExt cx="264000" cy="264000"/>
          </a:xfrm>
        </p:grpSpPr>
        <p:sp>
          <p:nvSpPr>
            <p:cNvPr id="86" name="椭圆 85"/>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任意多边形 86"/>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8" name="组合 87"/>
          <p:cNvGrpSpPr>
            <a:grpSpLocks noChangeAspect="1"/>
          </p:cNvGrpSpPr>
          <p:nvPr/>
        </p:nvGrpSpPr>
        <p:grpSpPr bwMode="gray">
          <a:xfrm>
            <a:off x="8998818" y="2851114"/>
            <a:ext cx="243192" cy="243192"/>
            <a:chOff x="10441953" y="5633214"/>
            <a:chExt cx="264000" cy="264000"/>
          </a:xfrm>
        </p:grpSpPr>
        <p:sp>
          <p:nvSpPr>
            <p:cNvPr id="89" name="椭圆 88"/>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任意多边形 89"/>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1" name="组合 90"/>
          <p:cNvGrpSpPr>
            <a:grpSpLocks noChangeAspect="1"/>
          </p:cNvGrpSpPr>
          <p:nvPr/>
        </p:nvGrpSpPr>
        <p:grpSpPr bwMode="gray">
          <a:xfrm>
            <a:off x="10061848" y="2851114"/>
            <a:ext cx="243192" cy="243192"/>
            <a:chOff x="10441953" y="5633214"/>
            <a:chExt cx="264000" cy="264000"/>
          </a:xfrm>
        </p:grpSpPr>
        <p:sp>
          <p:nvSpPr>
            <p:cNvPr id="92" name="椭圆 91"/>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任意多边形 92"/>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4" name="组合 93"/>
          <p:cNvGrpSpPr>
            <a:grpSpLocks noChangeAspect="1"/>
          </p:cNvGrpSpPr>
          <p:nvPr/>
        </p:nvGrpSpPr>
        <p:grpSpPr bwMode="gray">
          <a:xfrm>
            <a:off x="8998818" y="3245705"/>
            <a:ext cx="243192" cy="243192"/>
            <a:chOff x="10441953" y="5633214"/>
            <a:chExt cx="264000" cy="264000"/>
          </a:xfrm>
        </p:grpSpPr>
        <p:sp>
          <p:nvSpPr>
            <p:cNvPr id="95" name="椭圆 94"/>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任意多边形 95"/>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7" name="组合 96"/>
          <p:cNvGrpSpPr>
            <a:grpSpLocks noChangeAspect="1"/>
          </p:cNvGrpSpPr>
          <p:nvPr/>
        </p:nvGrpSpPr>
        <p:grpSpPr bwMode="gray">
          <a:xfrm>
            <a:off x="10061848" y="3245705"/>
            <a:ext cx="243192" cy="243192"/>
            <a:chOff x="10441953" y="5633214"/>
            <a:chExt cx="264000" cy="264000"/>
          </a:xfrm>
        </p:grpSpPr>
        <p:sp>
          <p:nvSpPr>
            <p:cNvPr id="98" name="椭圆 97"/>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任意多边形 98"/>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0" name="组合 28"/>
          <p:cNvGrpSpPr/>
          <p:nvPr/>
        </p:nvGrpSpPr>
        <p:grpSpPr bwMode="gray">
          <a:xfrm>
            <a:off x="9002911" y="2475712"/>
            <a:ext cx="238817" cy="238817"/>
            <a:chOff x="5076056" y="3356992"/>
            <a:chExt cx="436268" cy="436268"/>
          </a:xfrm>
        </p:grpSpPr>
        <p:sp>
          <p:nvSpPr>
            <p:cNvPr id="101"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禁止符 23"/>
            <p:cNvSpPr/>
            <p:nvPr/>
          </p:nvSpPr>
          <p:spPr bwMode="gray">
            <a:xfrm>
              <a:off x="5076056" y="3356992"/>
              <a:ext cx="436268" cy="436268"/>
            </a:xfrm>
            <a:prstGeom prst="noSmoking">
              <a:avLst>
                <a:gd name="adj" fmla="val 15475"/>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3" name="组合 28"/>
          <p:cNvGrpSpPr/>
          <p:nvPr/>
        </p:nvGrpSpPr>
        <p:grpSpPr bwMode="gray">
          <a:xfrm>
            <a:off x="7944859" y="2855489"/>
            <a:ext cx="238817" cy="238817"/>
            <a:chOff x="5076056" y="3356992"/>
            <a:chExt cx="436268" cy="436268"/>
          </a:xfrm>
        </p:grpSpPr>
        <p:sp>
          <p:nvSpPr>
            <p:cNvPr id="104"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禁止符 23"/>
            <p:cNvSpPr/>
            <p:nvPr/>
          </p:nvSpPr>
          <p:spPr bwMode="gray">
            <a:xfrm>
              <a:off x="5076056" y="3356992"/>
              <a:ext cx="436268" cy="436268"/>
            </a:xfrm>
            <a:prstGeom prst="noSmoking">
              <a:avLst>
                <a:gd name="adj" fmla="val 15475"/>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6" name="组合 105"/>
          <p:cNvGrpSpPr>
            <a:grpSpLocks noChangeAspect="1"/>
          </p:cNvGrpSpPr>
          <p:nvPr/>
        </p:nvGrpSpPr>
        <p:grpSpPr bwMode="gray">
          <a:xfrm>
            <a:off x="7940484" y="3245705"/>
            <a:ext cx="243192" cy="243192"/>
            <a:chOff x="10441953" y="5633214"/>
            <a:chExt cx="264000" cy="264000"/>
          </a:xfrm>
        </p:grpSpPr>
        <p:sp>
          <p:nvSpPr>
            <p:cNvPr id="107" name="椭圆 106"/>
            <p:cNvSpPr>
              <a:spLocks noChangeAspect="1"/>
            </p:cNvSpPr>
            <p:nvPr/>
          </p:nvSpPr>
          <p:spPr bwMode="gray">
            <a:xfrm>
              <a:off x="10441953" y="5633214"/>
              <a:ext cx="264000" cy="264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任意多边形 107"/>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1438050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 name="组合 118"/>
          <p:cNvGrpSpPr/>
          <p:nvPr/>
        </p:nvGrpSpPr>
        <p:grpSpPr bwMode="gray">
          <a:xfrm>
            <a:off x="1457076" y="1629434"/>
            <a:ext cx="4664221" cy="4135429"/>
            <a:chOff x="844116" y="1629434"/>
            <a:chExt cx="4664221" cy="4135429"/>
          </a:xfrm>
        </p:grpSpPr>
        <p:cxnSp>
          <p:nvCxnSpPr>
            <p:cNvPr id="120" name="Straight Connector 167"/>
            <p:cNvCxnSpPr>
              <a:stCxn id="129" idx="1"/>
              <a:endCxn id="136" idx="3"/>
            </p:cNvCxnSpPr>
            <p:nvPr/>
          </p:nvCxnSpPr>
          <p:spPr bwMode="gray">
            <a:xfrm flipH="1">
              <a:off x="2374475" y="1891045"/>
              <a:ext cx="662822"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1" name="Straight Connector 167"/>
            <p:cNvCxnSpPr>
              <a:stCxn id="133" idx="0"/>
              <a:endCxn id="127" idx="2"/>
            </p:cNvCxnSpPr>
            <p:nvPr/>
          </p:nvCxnSpPr>
          <p:spPr bwMode="gray">
            <a:xfrm flipV="1">
              <a:off x="4414785" y="4235315"/>
              <a:ext cx="1" cy="41521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2" name="Straight Connector 167"/>
            <p:cNvCxnSpPr>
              <a:stCxn id="132" idx="0"/>
              <a:endCxn id="126" idx="2"/>
            </p:cNvCxnSpPr>
            <p:nvPr/>
          </p:nvCxnSpPr>
          <p:spPr bwMode="gray">
            <a:xfrm flipV="1">
              <a:off x="2147182" y="4235315"/>
              <a:ext cx="1" cy="41521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3" name="Straight Connector 167"/>
            <p:cNvCxnSpPr>
              <a:stCxn id="138" idx="0"/>
              <a:endCxn id="129" idx="2"/>
            </p:cNvCxnSpPr>
            <p:nvPr/>
          </p:nvCxnSpPr>
          <p:spPr bwMode="gray">
            <a:xfrm flipV="1">
              <a:off x="3282752" y="2091871"/>
              <a:ext cx="0" cy="715477"/>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4" name="Straight Connector 166"/>
            <p:cNvCxnSpPr>
              <a:endCxn id="127" idx="0"/>
            </p:cNvCxnSpPr>
            <p:nvPr/>
          </p:nvCxnSpPr>
          <p:spPr bwMode="gray">
            <a:xfrm>
              <a:off x="3283748" y="3005467"/>
              <a:ext cx="1131038" cy="8647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Straight Connector 167"/>
            <p:cNvCxnSpPr>
              <a:endCxn id="126" idx="0"/>
            </p:cNvCxnSpPr>
            <p:nvPr/>
          </p:nvCxnSpPr>
          <p:spPr bwMode="gray">
            <a:xfrm flipH="1">
              <a:off x="2147183" y="3005467"/>
              <a:ext cx="1136566" cy="864709"/>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126" name="图片 76" descr="接入交换机.png"/>
            <p:cNvPicPr>
              <a:picLocks noChangeAspect="1"/>
            </p:cNvPicPr>
            <p:nvPr/>
          </p:nvPicPr>
          <p:blipFill>
            <a:blip r:embed="rId3" cstate="print"/>
            <a:stretch>
              <a:fillRect/>
            </a:stretch>
          </p:blipFill>
          <p:spPr bwMode="gray">
            <a:xfrm>
              <a:off x="1924042" y="3870176"/>
              <a:ext cx="446281" cy="365139"/>
            </a:xfrm>
            <a:prstGeom prst="rect">
              <a:avLst/>
            </a:prstGeom>
          </p:spPr>
        </p:pic>
        <p:pic>
          <p:nvPicPr>
            <p:cNvPr id="127" name="图片 76" descr="接入交换机.png"/>
            <p:cNvPicPr>
              <a:picLocks noChangeAspect="1"/>
            </p:cNvPicPr>
            <p:nvPr/>
          </p:nvPicPr>
          <p:blipFill>
            <a:blip r:embed="rId3" cstate="print"/>
            <a:stretch>
              <a:fillRect/>
            </a:stretch>
          </p:blipFill>
          <p:spPr bwMode="gray">
            <a:xfrm>
              <a:off x="4191645" y="3870176"/>
              <a:ext cx="446281" cy="365139"/>
            </a:xfrm>
            <a:prstGeom prst="rect">
              <a:avLst/>
            </a:prstGeom>
          </p:spPr>
        </p:pic>
        <p:cxnSp>
          <p:nvCxnSpPr>
            <p:cNvPr id="128" name="Straight Connector 167"/>
            <p:cNvCxnSpPr>
              <a:endCxn id="138" idx="3"/>
            </p:cNvCxnSpPr>
            <p:nvPr/>
          </p:nvCxnSpPr>
          <p:spPr bwMode="gray">
            <a:xfrm flipH="1">
              <a:off x="3528206" y="3008175"/>
              <a:ext cx="1345152"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129"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037297" y="1690218"/>
              <a:ext cx="490909" cy="401653"/>
            </a:xfrm>
            <a:prstGeom prst="rect">
              <a:avLst/>
            </a:prstGeom>
          </p:spPr>
        </p:pic>
        <p:sp>
          <p:nvSpPr>
            <p:cNvPr id="130" name="文本框 129"/>
            <p:cNvSpPr txBox="1"/>
            <p:nvPr/>
          </p:nvSpPr>
          <p:spPr bwMode="gray">
            <a:xfrm>
              <a:off x="2755895" y="2548911"/>
              <a:ext cx="579006" cy="307777"/>
            </a:xfrm>
            <a:prstGeom prst="rect">
              <a:avLst/>
            </a:prstGeom>
            <a:noFill/>
          </p:spPr>
          <p:txBody>
            <a:bodyPr wrap="none" rtlCol="0">
              <a:spAutoFit/>
            </a:bodyPr>
            <a:lstStyle/>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Core</a:t>
              </a:r>
            </a:p>
          </p:txBody>
        </p:sp>
        <p:sp>
          <p:nvSpPr>
            <p:cNvPr id="131" name="文本框 130"/>
            <p:cNvSpPr txBox="1"/>
            <p:nvPr/>
          </p:nvSpPr>
          <p:spPr bwMode="gray">
            <a:xfrm>
              <a:off x="3555417" y="1737156"/>
              <a:ext cx="470000" cy="307777"/>
            </a:xfrm>
            <a:prstGeom prst="rect">
              <a:avLst/>
            </a:prstGeom>
            <a:noFill/>
          </p:spPr>
          <p:txBody>
            <a:bodyPr wrap="none" rtlCol="0">
              <a:spAutoFit/>
            </a:bodyPr>
            <a:lstStyle/>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FW</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2" name="图片 11" descr="开放网络-蓝.png"/>
            <p:cNvPicPr>
              <a:picLocks noChangeAspect="1"/>
            </p:cNvPicPr>
            <p:nvPr/>
          </p:nvPicPr>
          <p:blipFill>
            <a:blip r:embed="rId5" cstate="print"/>
            <a:stretch>
              <a:fillRect/>
            </a:stretch>
          </p:blipFill>
          <p:spPr bwMode="gray">
            <a:xfrm>
              <a:off x="1924204" y="4650528"/>
              <a:ext cx="445956" cy="343290"/>
            </a:xfrm>
            <a:prstGeom prst="rect">
              <a:avLst/>
            </a:prstGeom>
          </p:spPr>
        </p:pic>
        <p:pic>
          <p:nvPicPr>
            <p:cNvPr id="133" name="图片 11" descr="开放网络-蓝.png"/>
            <p:cNvPicPr>
              <a:picLocks noChangeAspect="1"/>
            </p:cNvPicPr>
            <p:nvPr/>
          </p:nvPicPr>
          <p:blipFill>
            <a:blip r:embed="rId5" cstate="print"/>
            <a:stretch>
              <a:fillRect/>
            </a:stretch>
          </p:blipFill>
          <p:spPr bwMode="gray">
            <a:xfrm>
              <a:off x="4191807" y="4650528"/>
              <a:ext cx="445956" cy="343290"/>
            </a:xfrm>
            <a:prstGeom prst="rect">
              <a:avLst/>
            </a:prstGeom>
          </p:spPr>
        </p:pic>
        <p:sp>
          <p:nvSpPr>
            <p:cNvPr id="134" name="文本框 133"/>
            <p:cNvSpPr txBox="1"/>
            <p:nvPr/>
          </p:nvSpPr>
          <p:spPr bwMode="gray">
            <a:xfrm>
              <a:off x="1457076" y="5026199"/>
              <a:ext cx="1388522" cy="738664"/>
            </a:xfrm>
            <a:prstGeom prst="rect">
              <a:avLst/>
            </a:prstGeom>
            <a:noFill/>
          </p:spPr>
          <p:txBody>
            <a:bodyPr wrap="none" rtlCol="0">
              <a:spAutoFit/>
            </a:bodyPr>
            <a:lstStyle/>
            <a:p>
              <a:pPr algn="ctr"/>
              <a:r>
                <a:rPr lang="en-US" altLang="zh-CN" sz="1400" b="1"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User1</a:t>
              </a:r>
            </a:p>
            <a:p>
              <a:pPr algn="ct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192.168.1.1/24</a:t>
              </a:r>
            </a:p>
            <a:p>
              <a:pPr algn="ct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MAC-X</a:t>
              </a:r>
              <a:endParaRPr lang="zh-CN" altLang="en-US"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文本框 134"/>
            <p:cNvSpPr txBox="1"/>
            <p:nvPr/>
          </p:nvSpPr>
          <p:spPr bwMode="gray">
            <a:xfrm>
              <a:off x="3738442" y="5026199"/>
              <a:ext cx="1388522" cy="738664"/>
            </a:xfrm>
            <a:prstGeom prst="rect">
              <a:avLst/>
            </a:prstGeom>
            <a:noFill/>
          </p:spPr>
          <p:txBody>
            <a:bodyPr wrap="none" rtlCol="0">
              <a:spAutoFit/>
            </a:bodyPr>
            <a:lstStyle/>
            <a:p>
              <a:pPr algn="ctr"/>
              <a:r>
                <a:rPr lang="en-US" altLang="zh-CN" sz="1400" b="1"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User2</a:t>
              </a:r>
            </a:p>
            <a:p>
              <a:pPr algn="ct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192.168.2.1/24</a:t>
              </a:r>
            </a:p>
            <a:p>
              <a:pPr algn="ct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MAC-Y</a:t>
              </a:r>
              <a:endParaRPr lang="zh-CN" altLang="en-US"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6" name="图片 72" descr="交换机.png"/>
            <p:cNvPicPr>
              <a:picLocks noChangeAspect="1"/>
            </p:cNvPicPr>
            <p:nvPr/>
          </p:nvPicPr>
          <p:blipFill>
            <a:blip r:embed="rId6" cstate="print"/>
            <a:stretch>
              <a:fillRect/>
            </a:stretch>
          </p:blipFill>
          <p:spPr bwMode="gray">
            <a:xfrm>
              <a:off x="1929670" y="1708476"/>
              <a:ext cx="444805" cy="365137"/>
            </a:xfrm>
            <a:prstGeom prst="rect">
              <a:avLst/>
            </a:prstGeom>
          </p:spPr>
        </p:pic>
        <p:sp>
          <p:nvSpPr>
            <p:cNvPr id="137" name="文本框 136"/>
            <p:cNvSpPr txBox="1"/>
            <p:nvPr/>
          </p:nvSpPr>
          <p:spPr bwMode="gray">
            <a:xfrm>
              <a:off x="844116" y="1629434"/>
              <a:ext cx="1085554" cy="523220"/>
            </a:xfrm>
            <a:prstGeom prst="rect">
              <a:avLst/>
            </a:prstGeom>
            <a:noFill/>
          </p:spPr>
          <p:txBody>
            <a:bodyPr wrap="none" rtlCol="0">
              <a:spAutoFit/>
            </a:bodyPr>
            <a:lstStyle/>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Server</a:t>
              </a:r>
            </a:p>
            <a:p>
              <a:pPr algn="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10.1.1.1/24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8" name="图片 86" descr="核心交换机.png"/>
            <p:cNvPicPr>
              <a:picLocks noChangeAspect="1"/>
            </p:cNvPicPr>
            <p:nvPr/>
          </p:nvPicPr>
          <p:blipFill>
            <a:blip r:embed="rId7" cstate="print"/>
            <a:stretch>
              <a:fillRect/>
            </a:stretch>
          </p:blipFill>
          <p:spPr bwMode="gray">
            <a:xfrm>
              <a:off x="3037297" y="2807348"/>
              <a:ext cx="490909" cy="401653"/>
            </a:xfrm>
            <a:prstGeom prst="rect">
              <a:avLst/>
            </a:prstGeom>
          </p:spPr>
        </p:pic>
        <p:pic>
          <p:nvPicPr>
            <p:cNvPr id="139" name="图片 13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4556730" y="2811495"/>
              <a:ext cx="951607" cy="540946"/>
            </a:xfrm>
            <a:prstGeom prst="rect">
              <a:avLst/>
            </a:prstGeom>
          </p:spPr>
        </p:pic>
      </p:grpSp>
      <p:sp>
        <p:nvSpPr>
          <p:cNvPr id="4" name="标题 3"/>
          <p:cNvSpPr>
            <a:spLocks noGrp="1"/>
          </p:cNvSpPr>
          <p:nvPr>
            <p:ph type="title"/>
          </p:nvPr>
        </p:nvSpPr>
        <p:spPr bwMode="gray"/>
        <p:txBody>
          <a:bodyPr>
            <a:normAutofit/>
          </a:bodyPr>
          <a:lstStyle/>
          <a:p>
            <a:r>
              <a:rPr lang="zh-CN" altLang="en-US" dirty="0"/>
              <a:t>业务随行工作原理详解 </a:t>
            </a:r>
            <a:r>
              <a:rPr lang="en-US" altLang="zh-CN" dirty="0"/>
              <a:t>(4)</a:t>
            </a:r>
            <a:endParaRPr lang="zh-CN" altLang="en-US" dirty="0"/>
          </a:p>
        </p:txBody>
      </p:sp>
      <p:sp>
        <p:nvSpPr>
          <p:cNvPr id="63" name="TextBox 55"/>
          <p:cNvSpPr txBox="1"/>
          <p:nvPr/>
        </p:nvSpPr>
        <p:spPr bwMode="gray">
          <a:xfrm>
            <a:off x="5471059" y="5930875"/>
            <a:ext cx="954107"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策略执行点</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Oval 65"/>
          <p:cNvSpPr>
            <a:spLocks noChangeAspect="1"/>
          </p:cNvSpPr>
          <p:nvPr/>
        </p:nvSpPr>
        <p:spPr bwMode="gray">
          <a:xfrm>
            <a:off x="3903033" y="3115551"/>
            <a:ext cx="159261" cy="159261"/>
          </a:xfrm>
          <a:prstGeom prst="ellipse">
            <a:avLst/>
          </a:prstGeom>
          <a:solidFill>
            <a:srgbClr val="C7000B"/>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Oval 65"/>
          <p:cNvSpPr>
            <a:spLocks noChangeAspect="1"/>
          </p:cNvSpPr>
          <p:nvPr/>
        </p:nvSpPr>
        <p:spPr bwMode="gray">
          <a:xfrm>
            <a:off x="5293492" y="5989744"/>
            <a:ext cx="159261" cy="159261"/>
          </a:xfrm>
          <a:prstGeom prst="ellipse">
            <a:avLst/>
          </a:prstGeom>
          <a:solidFill>
            <a:srgbClr val="C7000B"/>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Oval 65"/>
          <p:cNvSpPr>
            <a:spLocks noChangeAspect="1"/>
          </p:cNvSpPr>
          <p:nvPr/>
        </p:nvSpPr>
        <p:spPr bwMode="gray">
          <a:xfrm>
            <a:off x="3707515" y="3115551"/>
            <a:ext cx="159261" cy="159261"/>
          </a:xfrm>
          <a:prstGeom prst="ellipse">
            <a:avLst/>
          </a:prstGeom>
          <a:solidFill>
            <a:srgbClr val="FCC8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Oval 65"/>
          <p:cNvSpPr>
            <a:spLocks noChangeAspect="1"/>
          </p:cNvSpPr>
          <p:nvPr/>
        </p:nvSpPr>
        <p:spPr bwMode="gray">
          <a:xfrm>
            <a:off x="5293491" y="5732921"/>
            <a:ext cx="159261" cy="159261"/>
          </a:xfrm>
          <a:prstGeom prst="ellipse">
            <a:avLst/>
          </a:prstGeom>
          <a:solidFill>
            <a:srgbClr val="FCC8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TextBox 55"/>
          <p:cNvSpPr txBox="1"/>
          <p:nvPr/>
        </p:nvSpPr>
        <p:spPr bwMode="gray">
          <a:xfrm>
            <a:off x="5471059" y="5674051"/>
            <a:ext cx="646331"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认证点</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任意多边形 67"/>
          <p:cNvSpPr/>
          <p:nvPr/>
        </p:nvSpPr>
        <p:spPr bwMode="gray">
          <a:xfrm>
            <a:off x="2973993" y="3340032"/>
            <a:ext cx="762529" cy="1420155"/>
          </a:xfrm>
          <a:custGeom>
            <a:avLst/>
            <a:gdLst>
              <a:gd name="connsiteX0" fmla="*/ 0 w 914400"/>
              <a:gd name="connsiteY0" fmla="*/ 550333 h 550333"/>
              <a:gd name="connsiteX1" fmla="*/ 914400 w 914400"/>
              <a:gd name="connsiteY1" fmla="*/ 0 h 550333"/>
              <a:gd name="connsiteX0" fmla="*/ 0 w 852099"/>
              <a:gd name="connsiteY0" fmla="*/ 550333 h 550333"/>
              <a:gd name="connsiteX1" fmla="*/ 852099 w 852099"/>
              <a:gd name="connsiteY1" fmla="*/ 0 h 550333"/>
              <a:gd name="connsiteX0" fmla="*/ 0 w 852099"/>
              <a:gd name="connsiteY0" fmla="*/ 550333 h 550333"/>
              <a:gd name="connsiteX1" fmla="*/ 852099 w 852099"/>
              <a:gd name="connsiteY1" fmla="*/ 0 h 550333"/>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Lst>
            <a:ahLst/>
            <a:cxnLst>
              <a:cxn ang="0">
                <a:pos x="connsiteX0" y="connsiteY0"/>
              </a:cxn>
              <a:cxn ang="0">
                <a:pos x="connsiteX1" y="connsiteY1"/>
              </a:cxn>
            </a:cxnLst>
            <a:rect l="l" t="t" r="r" b="b"/>
            <a:pathLst>
              <a:path w="935168" h="533618">
                <a:moveTo>
                  <a:pt x="0" y="533618"/>
                </a:moveTo>
                <a:cubicBezTo>
                  <a:pt x="149046" y="300031"/>
                  <a:pt x="308480" y="199189"/>
                  <a:pt x="935168" y="0"/>
                </a:cubicBezTo>
              </a:path>
            </a:pathLst>
          </a:custGeom>
          <a:ln w="38100">
            <a:solidFill>
              <a:srgbClr val="30B5C5"/>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TextBox 55"/>
          <p:cNvSpPr txBox="1"/>
          <p:nvPr/>
        </p:nvSpPr>
        <p:spPr bwMode="gray">
          <a:xfrm>
            <a:off x="3245087" y="4032689"/>
            <a:ext cx="816489" cy="276999"/>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认证报文</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Oval 71"/>
          <p:cNvSpPr>
            <a:spLocks noChangeAspect="1"/>
          </p:cNvSpPr>
          <p:nvPr/>
        </p:nvSpPr>
        <p:spPr bwMode="gray">
          <a:xfrm>
            <a:off x="3069542" y="4044502"/>
            <a:ext cx="192706" cy="192706"/>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9" name="直接箭头连接符 108"/>
          <p:cNvCxnSpPr/>
          <p:nvPr/>
        </p:nvCxnSpPr>
        <p:spPr bwMode="gray">
          <a:xfrm>
            <a:off x="4267385" y="2879482"/>
            <a:ext cx="1083890" cy="0"/>
          </a:xfrm>
          <a:prstGeom prst="straightConnector1">
            <a:avLst/>
          </a:prstGeom>
          <a:ln w="38100">
            <a:solidFill>
              <a:srgbClr val="30B5C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Oval 71"/>
          <p:cNvSpPr>
            <a:spLocks noChangeAspect="1"/>
          </p:cNvSpPr>
          <p:nvPr/>
        </p:nvSpPr>
        <p:spPr bwMode="gray">
          <a:xfrm>
            <a:off x="4739163" y="2783129"/>
            <a:ext cx="192706" cy="192706"/>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en-US" altLang="zh-CN" sz="12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Freeform 81"/>
          <p:cNvSpPr/>
          <p:nvPr/>
        </p:nvSpPr>
        <p:spPr bwMode="gray">
          <a:xfrm flipH="1" flipV="1">
            <a:off x="4155055" y="2461652"/>
            <a:ext cx="1552166" cy="346818"/>
          </a:xfrm>
          <a:custGeom>
            <a:avLst/>
            <a:gdLst>
              <a:gd name="connsiteX0" fmla="*/ 0 w 888298"/>
              <a:gd name="connsiteY0" fmla="*/ 2596 h 796923"/>
              <a:gd name="connsiteX1" fmla="*/ 748145 w 888298"/>
              <a:gd name="connsiteY1" fmla="*/ 122669 h 796923"/>
              <a:gd name="connsiteX2" fmla="*/ 886691 w 888298"/>
              <a:gd name="connsiteY2" fmla="*/ 796923 h 796923"/>
              <a:gd name="connsiteX0" fmla="*/ 0 w 932214"/>
              <a:gd name="connsiteY0" fmla="*/ 270 h 150820"/>
              <a:gd name="connsiteX1" fmla="*/ 748145 w 932214"/>
              <a:gd name="connsiteY1" fmla="*/ 120343 h 150820"/>
              <a:gd name="connsiteX2" fmla="*/ 931807 w 932214"/>
              <a:gd name="connsiteY2" fmla="*/ 150821 h 150820"/>
              <a:gd name="connsiteX0" fmla="*/ 0 w 932166"/>
              <a:gd name="connsiteY0" fmla="*/ 36 h 810631"/>
              <a:gd name="connsiteX1" fmla="*/ 742506 w 932166"/>
              <a:gd name="connsiteY1" fmla="*/ 810145 h 810631"/>
              <a:gd name="connsiteX2" fmla="*/ 931807 w 932166"/>
              <a:gd name="connsiteY2" fmla="*/ 150587 h 810631"/>
              <a:gd name="connsiteX0" fmla="*/ 0 w 931807"/>
              <a:gd name="connsiteY0" fmla="*/ 36 h 811321"/>
              <a:gd name="connsiteX1" fmla="*/ 742506 w 931807"/>
              <a:gd name="connsiteY1" fmla="*/ 810145 h 811321"/>
              <a:gd name="connsiteX2" fmla="*/ 931807 w 931807"/>
              <a:gd name="connsiteY2" fmla="*/ 150587 h 811321"/>
              <a:gd name="connsiteX0" fmla="*/ 1310842 w 1353427"/>
              <a:gd name="connsiteY0" fmla="*/ 1406848 h 1406848"/>
              <a:gd name="connsiteX1" fmla="*/ 54168 w 1353427"/>
              <a:gd name="connsiteY1" fmla="*/ 659558 h 1406848"/>
              <a:gd name="connsiteX2" fmla="*/ 243469 w 1353427"/>
              <a:gd name="connsiteY2" fmla="*/ 0 h 1406848"/>
              <a:gd name="connsiteX0" fmla="*/ 1310842 w 1310842"/>
              <a:gd name="connsiteY0" fmla="*/ 1406848 h 1409726"/>
              <a:gd name="connsiteX1" fmla="*/ 54168 w 1310842"/>
              <a:gd name="connsiteY1" fmla="*/ 659558 h 1409726"/>
              <a:gd name="connsiteX2" fmla="*/ 243469 w 1310842"/>
              <a:gd name="connsiteY2" fmla="*/ 0 h 1409726"/>
              <a:gd name="connsiteX0" fmla="*/ 1554659 w 1554659"/>
              <a:gd name="connsiteY0" fmla="*/ 1291200 h 1294629"/>
              <a:gd name="connsiteX1" fmla="*/ 69588 w 1554659"/>
              <a:gd name="connsiteY1" fmla="*/ 659558 h 1294629"/>
              <a:gd name="connsiteX2" fmla="*/ 258889 w 1554659"/>
              <a:gd name="connsiteY2" fmla="*/ 0 h 1294629"/>
              <a:gd name="connsiteX0" fmla="*/ 1554659 w 1554659"/>
              <a:gd name="connsiteY0" fmla="*/ 1291200 h 1365672"/>
              <a:gd name="connsiteX1" fmla="*/ 69588 w 1554659"/>
              <a:gd name="connsiteY1" fmla="*/ 659558 h 1365672"/>
              <a:gd name="connsiteX2" fmla="*/ 258889 w 1554659"/>
              <a:gd name="connsiteY2" fmla="*/ 0 h 1365672"/>
              <a:gd name="connsiteX0" fmla="*/ 1409198 w 1409198"/>
              <a:gd name="connsiteY0" fmla="*/ 1291200 h 1466719"/>
              <a:gd name="connsiteX1" fmla="*/ 107409 w 1409198"/>
              <a:gd name="connsiteY1" fmla="*/ 1237801 h 1466719"/>
              <a:gd name="connsiteX2" fmla="*/ 113428 w 1409198"/>
              <a:gd name="connsiteY2" fmla="*/ 0 h 1466719"/>
              <a:gd name="connsiteX0" fmla="*/ 1387293 w 1387293"/>
              <a:gd name="connsiteY0" fmla="*/ 1349024 h 1527443"/>
              <a:gd name="connsiteX1" fmla="*/ 85504 w 1387293"/>
              <a:gd name="connsiteY1" fmla="*/ 1295625 h 1527443"/>
              <a:gd name="connsiteX2" fmla="*/ 156377 w 1387293"/>
              <a:gd name="connsiteY2" fmla="*/ 0 h 1527443"/>
              <a:gd name="connsiteX0" fmla="*/ 1413765 w 1413765"/>
              <a:gd name="connsiteY0" fmla="*/ 1349024 h 1527443"/>
              <a:gd name="connsiteX1" fmla="*/ 111976 w 1413765"/>
              <a:gd name="connsiteY1" fmla="*/ 1295625 h 1527443"/>
              <a:gd name="connsiteX2" fmla="*/ 182849 w 1413765"/>
              <a:gd name="connsiteY2" fmla="*/ 0 h 1527443"/>
              <a:gd name="connsiteX0" fmla="*/ 1372706 w 1372706"/>
              <a:gd name="connsiteY0" fmla="*/ 1349024 h 1506447"/>
              <a:gd name="connsiteX1" fmla="*/ 138590 w 1372706"/>
              <a:gd name="connsiteY1" fmla="*/ 1233946 h 1506447"/>
              <a:gd name="connsiteX2" fmla="*/ 141790 w 1372706"/>
              <a:gd name="connsiteY2" fmla="*/ 0 h 1506447"/>
              <a:gd name="connsiteX0" fmla="*/ 1292611 w 1292611"/>
              <a:gd name="connsiteY0" fmla="*/ 1349024 h 1468877"/>
              <a:gd name="connsiteX1" fmla="*/ 303810 w 1292611"/>
              <a:gd name="connsiteY1" fmla="*/ 1079748 h 1468877"/>
              <a:gd name="connsiteX2" fmla="*/ 61695 w 1292611"/>
              <a:gd name="connsiteY2" fmla="*/ 0 h 1468877"/>
              <a:gd name="connsiteX0" fmla="*/ 1292611 w 1292611"/>
              <a:gd name="connsiteY0" fmla="*/ 1349024 h 1349024"/>
              <a:gd name="connsiteX1" fmla="*/ 303810 w 1292611"/>
              <a:gd name="connsiteY1" fmla="*/ 1079748 h 1349024"/>
              <a:gd name="connsiteX2" fmla="*/ 61695 w 1292611"/>
              <a:gd name="connsiteY2" fmla="*/ 0 h 1349024"/>
              <a:gd name="connsiteX0" fmla="*/ 1255057 w 1255057"/>
              <a:gd name="connsiteY0" fmla="*/ 1206391 h 1206391"/>
              <a:gd name="connsiteX1" fmla="*/ 302912 w 1255057"/>
              <a:gd name="connsiteY1" fmla="*/ 1079748 h 1206391"/>
              <a:gd name="connsiteX2" fmla="*/ 60797 w 1255057"/>
              <a:gd name="connsiteY2" fmla="*/ 0 h 1206391"/>
              <a:gd name="connsiteX0" fmla="*/ 1255057 w 1255057"/>
              <a:gd name="connsiteY0" fmla="*/ 1206391 h 1245455"/>
              <a:gd name="connsiteX1" fmla="*/ 302912 w 1255057"/>
              <a:gd name="connsiteY1" fmla="*/ 1079748 h 1245455"/>
              <a:gd name="connsiteX2" fmla="*/ 60797 w 1255057"/>
              <a:gd name="connsiteY2" fmla="*/ 0 h 1245455"/>
              <a:gd name="connsiteX0" fmla="*/ 1244993 w 1244993"/>
              <a:gd name="connsiteY0" fmla="*/ 1206391 h 1241849"/>
              <a:gd name="connsiteX1" fmla="*/ 366161 w 1244993"/>
              <a:gd name="connsiteY1" fmla="*/ 1068183 h 1241849"/>
              <a:gd name="connsiteX2" fmla="*/ 50733 w 1244993"/>
              <a:gd name="connsiteY2" fmla="*/ 0 h 1241849"/>
              <a:gd name="connsiteX0" fmla="*/ 1232318 w 1232318"/>
              <a:gd name="connsiteY0" fmla="*/ 1194826 h 1229809"/>
              <a:gd name="connsiteX1" fmla="*/ 353486 w 1232318"/>
              <a:gd name="connsiteY1" fmla="*/ 1056618 h 1229809"/>
              <a:gd name="connsiteX2" fmla="*/ 52156 w 1232318"/>
              <a:gd name="connsiteY2" fmla="*/ 0 h 1229809"/>
              <a:gd name="connsiteX0" fmla="*/ 1180162 w 1180162"/>
              <a:gd name="connsiteY0" fmla="*/ 1194826 h 1229809"/>
              <a:gd name="connsiteX1" fmla="*/ 301330 w 1180162"/>
              <a:gd name="connsiteY1" fmla="*/ 1056618 h 1229809"/>
              <a:gd name="connsiteX2" fmla="*/ 0 w 1180162"/>
              <a:gd name="connsiteY2" fmla="*/ 0 h 1229809"/>
              <a:gd name="connsiteX0" fmla="*/ 1180162 w 1180162"/>
              <a:gd name="connsiteY0" fmla="*/ 1194826 h 1229809"/>
              <a:gd name="connsiteX1" fmla="*/ 323888 w 1180162"/>
              <a:gd name="connsiteY1" fmla="*/ 1056618 h 1229809"/>
              <a:gd name="connsiteX2" fmla="*/ 0 w 1180162"/>
              <a:gd name="connsiteY2" fmla="*/ 0 h 1229809"/>
              <a:gd name="connsiteX0" fmla="*/ 1137866 w 1137866"/>
              <a:gd name="connsiteY0" fmla="*/ 1167841 h 1201736"/>
              <a:gd name="connsiteX1" fmla="*/ 281592 w 1137866"/>
              <a:gd name="connsiteY1" fmla="*/ 1029633 h 1201736"/>
              <a:gd name="connsiteX2" fmla="*/ 0 w 1137866"/>
              <a:gd name="connsiteY2" fmla="*/ 0 h 1201736"/>
              <a:gd name="connsiteX0" fmla="*/ 1137866 w 1137866"/>
              <a:gd name="connsiteY0" fmla="*/ 1167841 h 1167842"/>
              <a:gd name="connsiteX1" fmla="*/ 0 w 1137866"/>
              <a:gd name="connsiteY1" fmla="*/ 0 h 1167842"/>
              <a:gd name="connsiteX0" fmla="*/ 2461253 w 2461253"/>
              <a:gd name="connsiteY0" fmla="*/ 304332 h 304332"/>
              <a:gd name="connsiteX1" fmla="*/ 0 w 2461253"/>
              <a:gd name="connsiteY1" fmla="*/ 0 h 304332"/>
              <a:gd name="connsiteX0" fmla="*/ 2461253 w 2461253"/>
              <a:gd name="connsiteY0" fmla="*/ 304332 h 304332"/>
              <a:gd name="connsiteX1" fmla="*/ 0 w 2461253"/>
              <a:gd name="connsiteY1" fmla="*/ 0 h 304332"/>
              <a:gd name="connsiteX0" fmla="*/ 1393520 w 1393520"/>
              <a:gd name="connsiteY0" fmla="*/ 14823 h 172753"/>
              <a:gd name="connsiteX1" fmla="*/ 0 w 1393520"/>
              <a:gd name="connsiteY1" fmla="*/ 60007 h 172753"/>
              <a:gd name="connsiteX0" fmla="*/ 1393520 w 1393520"/>
              <a:gd name="connsiteY0" fmla="*/ 1 h 340223"/>
              <a:gd name="connsiteX1" fmla="*/ 0 w 1393520"/>
              <a:gd name="connsiteY1" fmla="*/ 45185 h 340223"/>
              <a:gd name="connsiteX0" fmla="*/ 1295769 w 1295769"/>
              <a:gd name="connsiteY0" fmla="*/ 0 h 344879"/>
              <a:gd name="connsiteX1" fmla="*/ 0 w 1295769"/>
              <a:gd name="connsiteY1" fmla="*/ 55463 h 344879"/>
              <a:gd name="connsiteX0" fmla="*/ 1295769 w 1295769"/>
              <a:gd name="connsiteY0" fmla="*/ 0 h 390452"/>
              <a:gd name="connsiteX1" fmla="*/ 0 w 1295769"/>
              <a:gd name="connsiteY1" fmla="*/ 55463 h 390452"/>
              <a:gd name="connsiteX0" fmla="*/ 1378480 w 1378480"/>
              <a:gd name="connsiteY0" fmla="*/ 0 h 386158"/>
              <a:gd name="connsiteX1" fmla="*/ 0 w 1378480"/>
              <a:gd name="connsiteY1" fmla="*/ 45184 h 386158"/>
              <a:gd name="connsiteX0" fmla="*/ 1378480 w 1378480"/>
              <a:gd name="connsiteY0" fmla="*/ 0 h 421092"/>
              <a:gd name="connsiteX1" fmla="*/ 0 w 1378480"/>
              <a:gd name="connsiteY1" fmla="*/ 45184 h 421092"/>
            </a:gdLst>
            <a:ahLst/>
            <a:cxnLst>
              <a:cxn ang="0">
                <a:pos x="connsiteX0" y="connsiteY0"/>
              </a:cxn>
              <a:cxn ang="0">
                <a:pos x="connsiteX1" y="connsiteY1"/>
              </a:cxn>
            </a:cxnLst>
            <a:rect l="l" t="t" r="r" b="b"/>
            <a:pathLst>
              <a:path w="1378480" h="421092">
                <a:moveTo>
                  <a:pt x="1378480" y="0"/>
                </a:moveTo>
                <a:cubicBezTo>
                  <a:pt x="746043" y="638709"/>
                  <a:pt x="354224" y="465303"/>
                  <a:pt x="0" y="45184"/>
                </a:cubicBezTo>
              </a:path>
            </a:pathLst>
          </a:custGeom>
          <a:ln w="38100">
            <a:solidFill>
              <a:srgbClr val="30B5C5"/>
            </a:solidFill>
            <a:prstDash val="solid"/>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Oval 71"/>
          <p:cNvSpPr>
            <a:spLocks noChangeAspect="1"/>
          </p:cNvSpPr>
          <p:nvPr/>
        </p:nvSpPr>
        <p:spPr bwMode="gray">
          <a:xfrm>
            <a:off x="4739163" y="2361436"/>
            <a:ext cx="192706" cy="192706"/>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TextBox 55"/>
          <p:cNvSpPr txBox="1"/>
          <p:nvPr/>
        </p:nvSpPr>
        <p:spPr bwMode="gray">
          <a:xfrm>
            <a:off x="4901984" y="1999987"/>
            <a:ext cx="1165704" cy="461665"/>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授权结果：</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安全组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Group1</a:t>
            </a:r>
          </a:p>
        </p:txBody>
      </p:sp>
      <p:sp>
        <p:nvSpPr>
          <p:cNvPr id="114" name="TextBox 55"/>
          <p:cNvSpPr txBox="1"/>
          <p:nvPr/>
        </p:nvSpPr>
        <p:spPr bwMode="gray">
          <a:xfrm>
            <a:off x="731219" y="2506130"/>
            <a:ext cx="1261884"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在线用户表项：</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Rectangular Callout 4"/>
          <p:cNvSpPr/>
          <p:nvPr/>
        </p:nvSpPr>
        <p:spPr bwMode="gray">
          <a:xfrm flipV="1">
            <a:off x="737118" y="2461152"/>
            <a:ext cx="2843075" cy="986354"/>
          </a:xfrm>
          <a:custGeom>
            <a:avLst/>
            <a:gdLst>
              <a:gd name="connsiteX0" fmla="*/ 0 w 2307735"/>
              <a:gd name="connsiteY0" fmla="*/ 0 h 1476928"/>
              <a:gd name="connsiteX1" fmla="*/ 1346179 w 2307735"/>
              <a:gd name="connsiteY1" fmla="*/ 0 h 1476928"/>
              <a:gd name="connsiteX2" fmla="*/ 1346179 w 2307735"/>
              <a:gd name="connsiteY2" fmla="*/ 0 h 1476928"/>
              <a:gd name="connsiteX3" fmla="*/ 1923113 w 2307735"/>
              <a:gd name="connsiteY3" fmla="*/ 0 h 1476928"/>
              <a:gd name="connsiteX4" fmla="*/ 2307735 w 2307735"/>
              <a:gd name="connsiteY4" fmla="*/ 0 h 1476928"/>
              <a:gd name="connsiteX5" fmla="*/ 2307735 w 2307735"/>
              <a:gd name="connsiteY5" fmla="*/ 861541 h 1476928"/>
              <a:gd name="connsiteX6" fmla="*/ 2815944 w 2307735"/>
              <a:gd name="connsiteY6" fmla="*/ 1420613 h 1476928"/>
              <a:gd name="connsiteX7" fmla="*/ 2307735 w 2307735"/>
              <a:gd name="connsiteY7" fmla="*/ 1230773 h 1476928"/>
              <a:gd name="connsiteX8" fmla="*/ 2307735 w 2307735"/>
              <a:gd name="connsiteY8" fmla="*/ 1476928 h 1476928"/>
              <a:gd name="connsiteX9" fmla="*/ 1923113 w 2307735"/>
              <a:gd name="connsiteY9" fmla="*/ 1476928 h 1476928"/>
              <a:gd name="connsiteX10" fmla="*/ 1346179 w 2307735"/>
              <a:gd name="connsiteY10" fmla="*/ 1476928 h 1476928"/>
              <a:gd name="connsiteX11" fmla="*/ 1346179 w 2307735"/>
              <a:gd name="connsiteY11" fmla="*/ 1476928 h 1476928"/>
              <a:gd name="connsiteX12" fmla="*/ 0 w 2307735"/>
              <a:gd name="connsiteY12" fmla="*/ 1476928 h 1476928"/>
              <a:gd name="connsiteX13" fmla="*/ 0 w 2307735"/>
              <a:gd name="connsiteY13" fmla="*/ 1230773 h 1476928"/>
              <a:gd name="connsiteX14" fmla="*/ 0 w 2307735"/>
              <a:gd name="connsiteY14" fmla="*/ 861541 h 1476928"/>
              <a:gd name="connsiteX15" fmla="*/ 0 w 2307735"/>
              <a:gd name="connsiteY15" fmla="*/ 861541 h 1476928"/>
              <a:gd name="connsiteX16" fmla="*/ 0 w 2307735"/>
              <a:gd name="connsiteY16" fmla="*/ 0 h 1476928"/>
              <a:gd name="connsiteX0" fmla="*/ 0 w 2714344"/>
              <a:gd name="connsiteY0" fmla="*/ 0 h 1476928"/>
              <a:gd name="connsiteX1" fmla="*/ 1346179 w 2714344"/>
              <a:gd name="connsiteY1" fmla="*/ 0 h 1476928"/>
              <a:gd name="connsiteX2" fmla="*/ 1346179 w 2714344"/>
              <a:gd name="connsiteY2" fmla="*/ 0 h 1476928"/>
              <a:gd name="connsiteX3" fmla="*/ 1923113 w 2714344"/>
              <a:gd name="connsiteY3" fmla="*/ 0 h 1476928"/>
              <a:gd name="connsiteX4" fmla="*/ 2307735 w 2714344"/>
              <a:gd name="connsiteY4" fmla="*/ 0 h 1476928"/>
              <a:gd name="connsiteX5" fmla="*/ 2307735 w 2714344"/>
              <a:gd name="connsiteY5" fmla="*/ 861541 h 1476928"/>
              <a:gd name="connsiteX6" fmla="*/ 2714344 w 2714344"/>
              <a:gd name="connsiteY6" fmla="*/ 328413 h 1476928"/>
              <a:gd name="connsiteX7" fmla="*/ 2307735 w 2714344"/>
              <a:gd name="connsiteY7" fmla="*/ 1230773 h 1476928"/>
              <a:gd name="connsiteX8" fmla="*/ 2307735 w 2714344"/>
              <a:gd name="connsiteY8" fmla="*/ 1476928 h 1476928"/>
              <a:gd name="connsiteX9" fmla="*/ 1923113 w 2714344"/>
              <a:gd name="connsiteY9" fmla="*/ 1476928 h 1476928"/>
              <a:gd name="connsiteX10" fmla="*/ 1346179 w 2714344"/>
              <a:gd name="connsiteY10" fmla="*/ 1476928 h 1476928"/>
              <a:gd name="connsiteX11" fmla="*/ 1346179 w 2714344"/>
              <a:gd name="connsiteY11" fmla="*/ 1476928 h 1476928"/>
              <a:gd name="connsiteX12" fmla="*/ 0 w 2714344"/>
              <a:gd name="connsiteY12" fmla="*/ 1476928 h 1476928"/>
              <a:gd name="connsiteX13" fmla="*/ 0 w 2714344"/>
              <a:gd name="connsiteY13" fmla="*/ 1230773 h 1476928"/>
              <a:gd name="connsiteX14" fmla="*/ 0 w 2714344"/>
              <a:gd name="connsiteY14" fmla="*/ 861541 h 1476928"/>
              <a:gd name="connsiteX15" fmla="*/ 0 w 2714344"/>
              <a:gd name="connsiteY15" fmla="*/ 861541 h 1476928"/>
              <a:gd name="connsiteX16" fmla="*/ 0 w 2714344"/>
              <a:gd name="connsiteY16" fmla="*/ 0 h 1476928"/>
              <a:gd name="connsiteX0" fmla="*/ 0 w 2638144"/>
              <a:gd name="connsiteY0" fmla="*/ 0 h 1476928"/>
              <a:gd name="connsiteX1" fmla="*/ 1346179 w 2638144"/>
              <a:gd name="connsiteY1" fmla="*/ 0 h 1476928"/>
              <a:gd name="connsiteX2" fmla="*/ 1346179 w 2638144"/>
              <a:gd name="connsiteY2" fmla="*/ 0 h 1476928"/>
              <a:gd name="connsiteX3" fmla="*/ 1923113 w 2638144"/>
              <a:gd name="connsiteY3" fmla="*/ 0 h 1476928"/>
              <a:gd name="connsiteX4" fmla="*/ 2307735 w 2638144"/>
              <a:gd name="connsiteY4" fmla="*/ 0 h 1476928"/>
              <a:gd name="connsiteX5" fmla="*/ 2307735 w 2638144"/>
              <a:gd name="connsiteY5" fmla="*/ 861541 h 1476928"/>
              <a:gd name="connsiteX6" fmla="*/ 2638144 w 2638144"/>
              <a:gd name="connsiteY6" fmla="*/ 954946 h 1476928"/>
              <a:gd name="connsiteX7" fmla="*/ 2307735 w 2638144"/>
              <a:gd name="connsiteY7" fmla="*/ 1230773 h 1476928"/>
              <a:gd name="connsiteX8" fmla="*/ 2307735 w 2638144"/>
              <a:gd name="connsiteY8" fmla="*/ 1476928 h 1476928"/>
              <a:gd name="connsiteX9" fmla="*/ 1923113 w 2638144"/>
              <a:gd name="connsiteY9" fmla="*/ 1476928 h 1476928"/>
              <a:gd name="connsiteX10" fmla="*/ 1346179 w 2638144"/>
              <a:gd name="connsiteY10" fmla="*/ 1476928 h 1476928"/>
              <a:gd name="connsiteX11" fmla="*/ 1346179 w 2638144"/>
              <a:gd name="connsiteY11" fmla="*/ 1476928 h 1476928"/>
              <a:gd name="connsiteX12" fmla="*/ 0 w 2638144"/>
              <a:gd name="connsiteY12" fmla="*/ 1476928 h 1476928"/>
              <a:gd name="connsiteX13" fmla="*/ 0 w 2638144"/>
              <a:gd name="connsiteY13" fmla="*/ 1230773 h 1476928"/>
              <a:gd name="connsiteX14" fmla="*/ 0 w 2638144"/>
              <a:gd name="connsiteY14" fmla="*/ 861541 h 1476928"/>
              <a:gd name="connsiteX15" fmla="*/ 0 w 2638144"/>
              <a:gd name="connsiteY15" fmla="*/ 861541 h 1476928"/>
              <a:gd name="connsiteX16" fmla="*/ 0 w 2638144"/>
              <a:gd name="connsiteY16" fmla="*/ 0 h 1476928"/>
              <a:gd name="connsiteX0" fmla="*/ 0 w 2762172"/>
              <a:gd name="connsiteY0" fmla="*/ 0 h 1476928"/>
              <a:gd name="connsiteX1" fmla="*/ 1346179 w 2762172"/>
              <a:gd name="connsiteY1" fmla="*/ 0 h 1476928"/>
              <a:gd name="connsiteX2" fmla="*/ 1346179 w 2762172"/>
              <a:gd name="connsiteY2" fmla="*/ 0 h 1476928"/>
              <a:gd name="connsiteX3" fmla="*/ 1923113 w 2762172"/>
              <a:gd name="connsiteY3" fmla="*/ 0 h 1476928"/>
              <a:gd name="connsiteX4" fmla="*/ 2307735 w 2762172"/>
              <a:gd name="connsiteY4" fmla="*/ 0 h 1476928"/>
              <a:gd name="connsiteX5" fmla="*/ 2307735 w 2762172"/>
              <a:gd name="connsiteY5" fmla="*/ 861541 h 1476928"/>
              <a:gd name="connsiteX6" fmla="*/ 2762172 w 2762172"/>
              <a:gd name="connsiteY6" fmla="*/ 819479 h 1476928"/>
              <a:gd name="connsiteX7" fmla="*/ 2307735 w 2762172"/>
              <a:gd name="connsiteY7" fmla="*/ 1230773 h 1476928"/>
              <a:gd name="connsiteX8" fmla="*/ 2307735 w 2762172"/>
              <a:gd name="connsiteY8" fmla="*/ 1476928 h 1476928"/>
              <a:gd name="connsiteX9" fmla="*/ 1923113 w 2762172"/>
              <a:gd name="connsiteY9" fmla="*/ 1476928 h 1476928"/>
              <a:gd name="connsiteX10" fmla="*/ 1346179 w 2762172"/>
              <a:gd name="connsiteY10" fmla="*/ 1476928 h 1476928"/>
              <a:gd name="connsiteX11" fmla="*/ 1346179 w 2762172"/>
              <a:gd name="connsiteY11" fmla="*/ 1476928 h 1476928"/>
              <a:gd name="connsiteX12" fmla="*/ 0 w 2762172"/>
              <a:gd name="connsiteY12" fmla="*/ 1476928 h 1476928"/>
              <a:gd name="connsiteX13" fmla="*/ 0 w 2762172"/>
              <a:gd name="connsiteY13" fmla="*/ 1230773 h 1476928"/>
              <a:gd name="connsiteX14" fmla="*/ 0 w 2762172"/>
              <a:gd name="connsiteY14" fmla="*/ 861541 h 1476928"/>
              <a:gd name="connsiteX15" fmla="*/ 0 w 2762172"/>
              <a:gd name="connsiteY15" fmla="*/ 861541 h 1476928"/>
              <a:gd name="connsiteX16" fmla="*/ 0 w 2762172"/>
              <a:gd name="connsiteY16" fmla="*/ 0 h 1476928"/>
              <a:gd name="connsiteX0" fmla="*/ 0 w 2576130"/>
              <a:gd name="connsiteY0" fmla="*/ 0 h 1476928"/>
              <a:gd name="connsiteX1" fmla="*/ 1346179 w 2576130"/>
              <a:gd name="connsiteY1" fmla="*/ 0 h 1476928"/>
              <a:gd name="connsiteX2" fmla="*/ 1346179 w 2576130"/>
              <a:gd name="connsiteY2" fmla="*/ 0 h 1476928"/>
              <a:gd name="connsiteX3" fmla="*/ 1923113 w 2576130"/>
              <a:gd name="connsiteY3" fmla="*/ 0 h 1476928"/>
              <a:gd name="connsiteX4" fmla="*/ 2307735 w 2576130"/>
              <a:gd name="connsiteY4" fmla="*/ 0 h 1476928"/>
              <a:gd name="connsiteX5" fmla="*/ 2307735 w 2576130"/>
              <a:gd name="connsiteY5" fmla="*/ 861541 h 1476928"/>
              <a:gd name="connsiteX6" fmla="*/ 2576130 w 2576130"/>
              <a:gd name="connsiteY6" fmla="*/ 870636 h 1476928"/>
              <a:gd name="connsiteX7" fmla="*/ 2307735 w 2576130"/>
              <a:gd name="connsiteY7" fmla="*/ 1230773 h 1476928"/>
              <a:gd name="connsiteX8" fmla="*/ 2307735 w 2576130"/>
              <a:gd name="connsiteY8" fmla="*/ 1476928 h 1476928"/>
              <a:gd name="connsiteX9" fmla="*/ 1923113 w 2576130"/>
              <a:gd name="connsiteY9" fmla="*/ 1476928 h 1476928"/>
              <a:gd name="connsiteX10" fmla="*/ 1346179 w 2576130"/>
              <a:gd name="connsiteY10" fmla="*/ 1476928 h 1476928"/>
              <a:gd name="connsiteX11" fmla="*/ 1346179 w 2576130"/>
              <a:gd name="connsiteY11" fmla="*/ 1476928 h 1476928"/>
              <a:gd name="connsiteX12" fmla="*/ 0 w 2576130"/>
              <a:gd name="connsiteY12" fmla="*/ 1476928 h 1476928"/>
              <a:gd name="connsiteX13" fmla="*/ 0 w 2576130"/>
              <a:gd name="connsiteY13" fmla="*/ 1230773 h 1476928"/>
              <a:gd name="connsiteX14" fmla="*/ 0 w 2576130"/>
              <a:gd name="connsiteY14" fmla="*/ 861541 h 1476928"/>
              <a:gd name="connsiteX15" fmla="*/ 0 w 2576130"/>
              <a:gd name="connsiteY15" fmla="*/ 861541 h 1476928"/>
              <a:gd name="connsiteX16" fmla="*/ 0 w 2576130"/>
              <a:gd name="connsiteY16" fmla="*/ 0 h 147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6130" h="1476928">
                <a:moveTo>
                  <a:pt x="0" y="0"/>
                </a:moveTo>
                <a:lnTo>
                  <a:pt x="1346179" y="0"/>
                </a:lnTo>
                <a:lnTo>
                  <a:pt x="1346179" y="0"/>
                </a:lnTo>
                <a:lnTo>
                  <a:pt x="1923113" y="0"/>
                </a:lnTo>
                <a:lnTo>
                  <a:pt x="2307735" y="0"/>
                </a:lnTo>
                <a:lnTo>
                  <a:pt x="2307735" y="861541"/>
                </a:lnTo>
                <a:lnTo>
                  <a:pt x="2576130" y="870636"/>
                </a:lnTo>
                <a:lnTo>
                  <a:pt x="2307735" y="1230773"/>
                </a:lnTo>
                <a:lnTo>
                  <a:pt x="2307735" y="1476928"/>
                </a:lnTo>
                <a:lnTo>
                  <a:pt x="1923113" y="1476928"/>
                </a:lnTo>
                <a:lnTo>
                  <a:pt x="1346179" y="1476928"/>
                </a:lnTo>
                <a:lnTo>
                  <a:pt x="1346179" y="1476928"/>
                </a:lnTo>
                <a:lnTo>
                  <a:pt x="0" y="1476928"/>
                </a:lnTo>
                <a:lnTo>
                  <a:pt x="0" y="1230773"/>
                </a:lnTo>
                <a:lnTo>
                  <a:pt x="0" y="861541"/>
                </a:lnTo>
                <a:lnTo>
                  <a:pt x="0" y="861541"/>
                </a:lnTo>
                <a:lnTo>
                  <a:pt x="0" y="0"/>
                </a:lnTo>
                <a:close/>
              </a:path>
            </a:pathLst>
          </a:cu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3110347424"/>
              </p:ext>
            </p:extLst>
          </p:nvPr>
        </p:nvGraphicFramePr>
        <p:xfrm>
          <a:off x="829386" y="2803474"/>
          <a:ext cx="2389785" cy="548640"/>
        </p:xfrm>
        <a:graphic>
          <a:graphicData uri="http://schemas.openxmlformats.org/drawingml/2006/table">
            <a:tbl>
              <a:tblPr firstRow="1" bandRow="1">
                <a:tableStyleId>{72833802-FEF1-4C79-8D5D-14CF1EAF98D9}</a:tableStyleId>
              </a:tblPr>
              <a:tblGrid>
                <a:gridCol w="672952">
                  <a:extLst>
                    <a:ext uri="{9D8B030D-6E8A-4147-A177-3AD203B41FA5}">
                      <a16:colId xmlns:a16="http://schemas.microsoft.com/office/drawing/2014/main" val="20000"/>
                    </a:ext>
                  </a:extLst>
                </a:gridCol>
                <a:gridCol w="998375">
                  <a:extLst>
                    <a:ext uri="{9D8B030D-6E8A-4147-A177-3AD203B41FA5}">
                      <a16:colId xmlns:a16="http://schemas.microsoft.com/office/drawing/2014/main" val="20001"/>
                    </a:ext>
                  </a:extLst>
                </a:gridCol>
                <a:gridCol w="718458">
                  <a:extLst>
                    <a:ext uri="{9D8B030D-6E8A-4147-A177-3AD203B41FA5}">
                      <a16:colId xmlns:a16="http://schemas.microsoft.com/office/drawing/2014/main" val="20002"/>
                    </a:ext>
                  </a:extLst>
                </a:gridCol>
              </a:tblGrid>
              <a:tr h="227221">
                <a:tc>
                  <a:txBody>
                    <a:bodyPr/>
                    <a:lstStyle/>
                    <a:p>
                      <a:pPr algn="ctr"/>
                      <a:r>
                        <a:rPr lang="en-US" altLang="zh-CN" sz="1200" b="1" dirty="0">
                          <a:solidFill>
                            <a:schemeClr val="tx1"/>
                          </a:solidFill>
                        </a:rPr>
                        <a:t>MAC</a:t>
                      </a:r>
                      <a:endParaRPr lang="zh-CN" altLang="en-US" sz="1200" b="1" dirty="0">
                        <a:solidFill>
                          <a:schemeClr val="tx1"/>
                        </a:solidFill>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200" b="1" dirty="0">
                          <a:solidFill>
                            <a:schemeClr val="tx1"/>
                          </a:solidFill>
                        </a:rPr>
                        <a:t>IP</a:t>
                      </a:r>
                      <a:endParaRPr lang="zh-CN" altLang="en-US" sz="12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200" b="1" dirty="0">
                          <a:solidFill>
                            <a:schemeClr val="tx1"/>
                          </a:solidFill>
                        </a:rPr>
                        <a:t>安全组</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27221">
                <a:tc>
                  <a:txBody>
                    <a:bodyPr/>
                    <a:lstStyle/>
                    <a:p>
                      <a:pPr algn="ctr"/>
                      <a:r>
                        <a:rPr lang="en-US" altLang="zh-CN" sz="1200" b="0" dirty="0"/>
                        <a:t>MAC-X</a:t>
                      </a:r>
                      <a:endParaRPr lang="zh-CN" altLang="en-US" sz="1200" b="0" dirty="0"/>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b="0" dirty="0"/>
                        <a:t>192.168.1.1</a:t>
                      </a:r>
                      <a:endParaRPr lang="zh-CN" altLang="en-U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b="0" dirty="0"/>
                        <a:t>Group</a:t>
                      </a:r>
                      <a:r>
                        <a:rPr lang="en-US" altLang="zh-CN" sz="1200" b="0" baseline="0" dirty="0"/>
                        <a:t>1</a:t>
                      </a:r>
                      <a:endParaRPr lang="zh-CN" altLang="en-US" sz="1200" b="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16" name="Oval 43"/>
          <p:cNvSpPr>
            <a:spLocks noChangeAspect="1"/>
          </p:cNvSpPr>
          <p:nvPr/>
        </p:nvSpPr>
        <p:spPr bwMode="gray">
          <a:xfrm>
            <a:off x="710430" y="2382458"/>
            <a:ext cx="159261" cy="159261"/>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Rectangle 2"/>
          <p:cNvSpPr/>
          <p:nvPr/>
        </p:nvSpPr>
        <p:spPr bwMode="gray">
          <a:xfrm>
            <a:off x="6106040" y="1733941"/>
            <a:ext cx="5354124" cy="3785652"/>
          </a:xfrm>
          <a:prstGeom prst="rect">
            <a:avLst/>
          </a:prstGeom>
        </p:spPr>
        <p:txBody>
          <a:bodyPr wrap="square">
            <a:spAutoFit/>
          </a:bodyPr>
          <a:lstStyle/>
          <a:p>
            <a:pPr marL="342900" indent="-342900">
              <a:lnSpc>
                <a:spcPts val="2200"/>
              </a:lnSpc>
              <a:spcAft>
                <a:spcPts val="600"/>
              </a:spcAft>
              <a:buFont typeface="+mj-lt"/>
              <a:buAutoNum type="arabicPeriod"/>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用户接入（以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User1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为例），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作为认证点设备，它负责与</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交互用户认证信息。</a:t>
            </a:r>
          </a:p>
          <a:p>
            <a:pPr marL="342900" indent="-342900">
              <a:lnSpc>
                <a:spcPts val="2200"/>
              </a:lnSpc>
              <a:spcAft>
                <a:spcPts val="600"/>
              </a:spcAft>
              <a:buFont typeface="+mj-lt"/>
              <a:buAutoNum type="arabicPeriod"/>
            </a:pP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判断该用户的登录条件，将该用户与对应的授权策略中绑定的安全组（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Group1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）进行关联。</a:t>
            </a:r>
          </a:p>
          <a:p>
            <a:pPr marL="342900" indent="-342900">
              <a:lnSpc>
                <a:spcPts val="2200"/>
              </a:lnSpc>
              <a:spcAft>
                <a:spcPts val="600"/>
              </a:spcAft>
              <a:buFont typeface="+mj-lt"/>
              <a:buAutoNum type="arabicPeriod"/>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User1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认证通过，</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通知认证点该用户所属安全组。</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将终端的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地址与组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Group1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关联，并记录到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安全组表中。同时，认证点设备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也形成在线用户表项。</a:t>
            </a:r>
          </a:p>
          <a:p>
            <a:pPr marL="342900" indent="-342900">
              <a:lnSpc>
                <a:spcPts val="2200"/>
              </a:lnSpc>
              <a:spcAft>
                <a:spcPts val="600"/>
              </a:spcAft>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User2</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同理。</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nSpc>
                <a:spcPts val="2200"/>
              </a:lnSpc>
              <a:spcAft>
                <a:spcPts val="600"/>
              </a:spcAft>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作为策略执行点设备，收到终端发出的业务报文，根据报文的源、目的</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地址识别报文的源组和目的组，然后执行组间策略。</a:t>
            </a:r>
          </a:p>
        </p:txBody>
      </p:sp>
    </p:spTree>
    <p:extLst>
      <p:ext uri="{BB962C8B-B14F-4D97-AF65-F5344CB8AC3E}">
        <p14:creationId xmlns:p14="http://schemas.microsoft.com/office/powerpoint/2010/main" val="785464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49"/>
          <p:cNvGrpSpPr/>
          <p:nvPr/>
        </p:nvGrpSpPr>
        <p:grpSpPr bwMode="gray">
          <a:xfrm>
            <a:off x="2070036" y="1690218"/>
            <a:ext cx="4051261" cy="4074645"/>
            <a:chOff x="1457076" y="1690218"/>
            <a:chExt cx="4051261" cy="4074645"/>
          </a:xfrm>
        </p:grpSpPr>
        <p:cxnSp>
          <p:nvCxnSpPr>
            <p:cNvPr id="52" name="Straight Connector 167"/>
            <p:cNvCxnSpPr>
              <a:stCxn id="73" idx="0"/>
              <a:endCxn id="58" idx="2"/>
            </p:cNvCxnSpPr>
            <p:nvPr/>
          </p:nvCxnSpPr>
          <p:spPr bwMode="gray">
            <a:xfrm flipV="1">
              <a:off x="4414785" y="4235315"/>
              <a:ext cx="1" cy="41521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3" name="Straight Connector 167"/>
            <p:cNvCxnSpPr>
              <a:stCxn id="72" idx="0"/>
              <a:endCxn id="57" idx="2"/>
            </p:cNvCxnSpPr>
            <p:nvPr/>
          </p:nvCxnSpPr>
          <p:spPr bwMode="gray">
            <a:xfrm flipV="1">
              <a:off x="2147182" y="4235315"/>
              <a:ext cx="1" cy="41521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4" name="Straight Connector 167"/>
            <p:cNvCxnSpPr>
              <a:stCxn id="78" idx="0"/>
              <a:endCxn id="60" idx="2"/>
            </p:cNvCxnSpPr>
            <p:nvPr/>
          </p:nvCxnSpPr>
          <p:spPr bwMode="gray">
            <a:xfrm flipV="1">
              <a:off x="3282752" y="2091871"/>
              <a:ext cx="0" cy="715477"/>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5" name="Straight Connector 166"/>
            <p:cNvCxnSpPr>
              <a:endCxn id="58" idx="0"/>
            </p:cNvCxnSpPr>
            <p:nvPr/>
          </p:nvCxnSpPr>
          <p:spPr bwMode="gray">
            <a:xfrm>
              <a:off x="3283748" y="3005467"/>
              <a:ext cx="1131038" cy="8647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167"/>
            <p:cNvCxnSpPr>
              <a:endCxn id="57" idx="0"/>
            </p:cNvCxnSpPr>
            <p:nvPr/>
          </p:nvCxnSpPr>
          <p:spPr bwMode="gray">
            <a:xfrm flipH="1">
              <a:off x="2147183" y="3005467"/>
              <a:ext cx="1136566" cy="864709"/>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57" name="图片 76" descr="接入交换机.png"/>
            <p:cNvPicPr>
              <a:picLocks noChangeAspect="1"/>
            </p:cNvPicPr>
            <p:nvPr/>
          </p:nvPicPr>
          <p:blipFill>
            <a:blip r:embed="rId3" cstate="print"/>
            <a:stretch>
              <a:fillRect/>
            </a:stretch>
          </p:blipFill>
          <p:spPr bwMode="gray">
            <a:xfrm>
              <a:off x="1924042" y="3870176"/>
              <a:ext cx="446281" cy="365139"/>
            </a:xfrm>
            <a:prstGeom prst="rect">
              <a:avLst/>
            </a:prstGeom>
          </p:spPr>
        </p:pic>
        <p:pic>
          <p:nvPicPr>
            <p:cNvPr id="58" name="图片 76" descr="接入交换机.png"/>
            <p:cNvPicPr>
              <a:picLocks noChangeAspect="1"/>
            </p:cNvPicPr>
            <p:nvPr/>
          </p:nvPicPr>
          <p:blipFill>
            <a:blip r:embed="rId3" cstate="print"/>
            <a:stretch>
              <a:fillRect/>
            </a:stretch>
          </p:blipFill>
          <p:spPr bwMode="gray">
            <a:xfrm>
              <a:off x="4191645" y="3870176"/>
              <a:ext cx="446281" cy="365139"/>
            </a:xfrm>
            <a:prstGeom prst="rect">
              <a:avLst/>
            </a:prstGeom>
          </p:spPr>
        </p:pic>
        <p:cxnSp>
          <p:nvCxnSpPr>
            <p:cNvPr id="59" name="Straight Connector 167"/>
            <p:cNvCxnSpPr>
              <a:endCxn id="78" idx="3"/>
            </p:cNvCxnSpPr>
            <p:nvPr/>
          </p:nvCxnSpPr>
          <p:spPr bwMode="gray">
            <a:xfrm flipH="1">
              <a:off x="3528206" y="3008175"/>
              <a:ext cx="1345152"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6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037297" y="1690218"/>
              <a:ext cx="490909" cy="401653"/>
            </a:xfrm>
            <a:prstGeom prst="rect">
              <a:avLst/>
            </a:prstGeom>
          </p:spPr>
        </p:pic>
        <p:sp>
          <p:nvSpPr>
            <p:cNvPr id="61" name="文本框 60"/>
            <p:cNvSpPr txBox="1"/>
            <p:nvPr/>
          </p:nvSpPr>
          <p:spPr bwMode="gray">
            <a:xfrm>
              <a:off x="2755895" y="2548911"/>
              <a:ext cx="579006" cy="307777"/>
            </a:xfrm>
            <a:prstGeom prst="rect">
              <a:avLst/>
            </a:prstGeom>
            <a:noFill/>
          </p:spPr>
          <p:txBody>
            <a:bodyPr wrap="none" rtlCol="0">
              <a:spAutoFit/>
            </a:bodyPr>
            <a:lstStyle/>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Core</a:t>
              </a:r>
            </a:p>
          </p:txBody>
        </p:sp>
        <p:sp>
          <p:nvSpPr>
            <p:cNvPr id="62" name="文本框 61"/>
            <p:cNvSpPr txBox="1"/>
            <p:nvPr/>
          </p:nvSpPr>
          <p:spPr bwMode="gray">
            <a:xfrm>
              <a:off x="3555417" y="1737156"/>
              <a:ext cx="470000" cy="307777"/>
            </a:xfrm>
            <a:prstGeom prst="rect">
              <a:avLst/>
            </a:prstGeom>
            <a:noFill/>
          </p:spPr>
          <p:txBody>
            <a:bodyPr wrap="none" rtlCol="0">
              <a:spAutoFit/>
            </a:bodyPr>
            <a:lstStyle/>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FW</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2" name="图片 11" descr="开放网络-蓝.png"/>
            <p:cNvPicPr>
              <a:picLocks noChangeAspect="1"/>
            </p:cNvPicPr>
            <p:nvPr/>
          </p:nvPicPr>
          <p:blipFill>
            <a:blip r:embed="rId5" cstate="print"/>
            <a:stretch>
              <a:fillRect/>
            </a:stretch>
          </p:blipFill>
          <p:spPr bwMode="gray">
            <a:xfrm>
              <a:off x="1924204" y="4650528"/>
              <a:ext cx="445956" cy="343290"/>
            </a:xfrm>
            <a:prstGeom prst="rect">
              <a:avLst/>
            </a:prstGeom>
          </p:spPr>
        </p:pic>
        <p:pic>
          <p:nvPicPr>
            <p:cNvPr id="73" name="图片 11" descr="开放网络-蓝.png"/>
            <p:cNvPicPr>
              <a:picLocks noChangeAspect="1"/>
            </p:cNvPicPr>
            <p:nvPr/>
          </p:nvPicPr>
          <p:blipFill>
            <a:blip r:embed="rId5" cstate="print"/>
            <a:stretch>
              <a:fillRect/>
            </a:stretch>
          </p:blipFill>
          <p:spPr bwMode="gray">
            <a:xfrm>
              <a:off x="4191807" y="4650528"/>
              <a:ext cx="445956" cy="343290"/>
            </a:xfrm>
            <a:prstGeom prst="rect">
              <a:avLst/>
            </a:prstGeom>
          </p:spPr>
        </p:pic>
        <p:sp>
          <p:nvSpPr>
            <p:cNvPr id="74" name="文本框 73"/>
            <p:cNvSpPr txBox="1"/>
            <p:nvPr/>
          </p:nvSpPr>
          <p:spPr bwMode="gray">
            <a:xfrm>
              <a:off x="1457076" y="5026199"/>
              <a:ext cx="1388522" cy="738664"/>
            </a:xfrm>
            <a:prstGeom prst="rect">
              <a:avLst/>
            </a:prstGeom>
            <a:noFill/>
          </p:spPr>
          <p:txBody>
            <a:bodyPr wrap="none" rtlCol="0">
              <a:spAutoFit/>
            </a:bodyPr>
            <a:lstStyle/>
            <a:p>
              <a:pPr algn="ctr"/>
              <a:r>
                <a:rPr lang="en-US" altLang="zh-CN" sz="1400" b="1"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User1</a:t>
              </a:r>
            </a:p>
            <a:p>
              <a:pPr algn="ct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192.168.1.1/24</a:t>
              </a:r>
            </a:p>
            <a:p>
              <a:pPr algn="ct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MAC-X</a:t>
              </a:r>
              <a:endParaRPr lang="zh-CN" altLang="en-US"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文本框 74"/>
            <p:cNvSpPr txBox="1"/>
            <p:nvPr/>
          </p:nvSpPr>
          <p:spPr bwMode="gray">
            <a:xfrm>
              <a:off x="3738442" y="5026199"/>
              <a:ext cx="1388522" cy="738664"/>
            </a:xfrm>
            <a:prstGeom prst="rect">
              <a:avLst/>
            </a:prstGeom>
            <a:noFill/>
          </p:spPr>
          <p:txBody>
            <a:bodyPr wrap="none" rtlCol="0">
              <a:spAutoFit/>
            </a:bodyPr>
            <a:lstStyle/>
            <a:p>
              <a:pPr algn="ctr"/>
              <a:r>
                <a:rPr lang="en-US" altLang="zh-CN" sz="1400" b="1"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User2</a:t>
              </a:r>
            </a:p>
            <a:p>
              <a:pPr algn="ct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192.168.2.1/24</a:t>
              </a:r>
            </a:p>
            <a:p>
              <a:pPr algn="ctr"/>
              <a:r>
                <a:rPr lang="en-US" altLang="zh-CN"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MAC-Y</a:t>
              </a:r>
              <a:endParaRPr lang="zh-CN" altLang="en-US" sz="14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8" name="图片 86" descr="核心交换机.png"/>
            <p:cNvPicPr>
              <a:picLocks noChangeAspect="1"/>
            </p:cNvPicPr>
            <p:nvPr/>
          </p:nvPicPr>
          <p:blipFill>
            <a:blip r:embed="rId6" cstate="print"/>
            <a:stretch>
              <a:fillRect/>
            </a:stretch>
          </p:blipFill>
          <p:spPr bwMode="gray">
            <a:xfrm>
              <a:off x="3037297" y="2807348"/>
              <a:ext cx="490909" cy="401653"/>
            </a:xfrm>
            <a:prstGeom prst="rect">
              <a:avLst/>
            </a:prstGeom>
          </p:spPr>
        </p:pic>
        <p:pic>
          <p:nvPicPr>
            <p:cNvPr id="79" name="图片 7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4556730" y="2811495"/>
              <a:ext cx="951607" cy="540946"/>
            </a:xfrm>
            <a:prstGeom prst="rect">
              <a:avLst/>
            </a:prstGeom>
          </p:spPr>
        </p:pic>
      </p:grpSp>
      <p:sp>
        <p:nvSpPr>
          <p:cNvPr id="4" name="标题 3"/>
          <p:cNvSpPr>
            <a:spLocks noGrp="1"/>
          </p:cNvSpPr>
          <p:nvPr>
            <p:ph type="title"/>
          </p:nvPr>
        </p:nvSpPr>
        <p:spPr bwMode="gray"/>
        <p:txBody>
          <a:bodyPr>
            <a:normAutofit/>
          </a:bodyPr>
          <a:lstStyle/>
          <a:p>
            <a:r>
              <a:rPr lang="zh-CN" altLang="en-US" dirty="0"/>
              <a:t>业务随行工作原理详解 </a:t>
            </a:r>
            <a:r>
              <a:rPr lang="en-US" altLang="zh-CN" dirty="0"/>
              <a:t>(5)</a:t>
            </a:r>
            <a:endParaRPr lang="zh-CN" altLang="en-US" dirty="0"/>
          </a:p>
        </p:txBody>
      </p:sp>
      <p:sp>
        <p:nvSpPr>
          <p:cNvPr id="63" name="TextBox 55"/>
          <p:cNvSpPr txBox="1"/>
          <p:nvPr/>
        </p:nvSpPr>
        <p:spPr bwMode="gray">
          <a:xfrm>
            <a:off x="5471059" y="5930875"/>
            <a:ext cx="954107"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策略执行点</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Oval 65"/>
          <p:cNvSpPr>
            <a:spLocks noChangeAspect="1"/>
          </p:cNvSpPr>
          <p:nvPr/>
        </p:nvSpPr>
        <p:spPr bwMode="gray">
          <a:xfrm>
            <a:off x="3903033" y="3115551"/>
            <a:ext cx="159261" cy="159261"/>
          </a:xfrm>
          <a:prstGeom prst="ellipse">
            <a:avLst/>
          </a:prstGeom>
          <a:solidFill>
            <a:srgbClr val="C7000B"/>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Oval 65"/>
          <p:cNvSpPr>
            <a:spLocks noChangeAspect="1"/>
          </p:cNvSpPr>
          <p:nvPr/>
        </p:nvSpPr>
        <p:spPr bwMode="gray">
          <a:xfrm>
            <a:off x="5293492" y="5989744"/>
            <a:ext cx="159261" cy="159261"/>
          </a:xfrm>
          <a:prstGeom prst="ellipse">
            <a:avLst/>
          </a:prstGeom>
          <a:solidFill>
            <a:srgbClr val="C7000B"/>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Oval 65"/>
          <p:cNvSpPr>
            <a:spLocks noChangeAspect="1"/>
          </p:cNvSpPr>
          <p:nvPr/>
        </p:nvSpPr>
        <p:spPr bwMode="gray">
          <a:xfrm>
            <a:off x="3707515" y="3115551"/>
            <a:ext cx="159261" cy="159261"/>
          </a:xfrm>
          <a:prstGeom prst="ellipse">
            <a:avLst/>
          </a:prstGeom>
          <a:solidFill>
            <a:srgbClr val="FCC8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Oval 65"/>
          <p:cNvSpPr>
            <a:spLocks noChangeAspect="1"/>
          </p:cNvSpPr>
          <p:nvPr/>
        </p:nvSpPr>
        <p:spPr bwMode="gray">
          <a:xfrm>
            <a:off x="5293491" y="5732921"/>
            <a:ext cx="159261" cy="159261"/>
          </a:xfrm>
          <a:prstGeom prst="ellipse">
            <a:avLst/>
          </a:prstGeom>
          <a:solidFill>
            <a:srgbClr val="FCC8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TextBox 55"/>
          <p:cNvSpPr txBox="1"/>
          <p:nvPr/>
        </p:nvSpPr>
        <p:spPr bwMode="gray">
          <a:xfrm>
            <a:off x="5471059" y="5674051"/>
            <a:ext cx="646331"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认证点</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任意多边形 67"/>
          <p:cNvSpPr/>
          <p:nvPr/>
        </p:nvSpPr>
        <p:spPr bwMode="gray">
          <a:xfrm>
            <a:off x="2973993" y="3340032"/>
            <a:ext cx="762529" cy="1420155"/>
          </a:xfrm>
          <a:custGeom>
            <a:avLst/>
            <a:gdLst>
              <a:gd name="connsiteX0" fmla="*/ 0 w 914400"/>
              <a:gd name="connsiteY0" fmla="*/ 550333 h 550333"/>
              <a:gd name="connsiteX1" fmla="*/ 914400 w 914400"/>
              <a:gd name="connsiteY1" fmla="*/ 0 h 550333"/>
              <a:gd name="connsiteX0" fmla="*/ 0 w 852099"/>
              <a:gd name="connsiteY0" fmla="*/ 550333 h 550333"/>
              <a:gd name="connsiteX1" fmla="*/ 852099 w 852099"/>
              <a:gd name="connsiteY1" fmla="*/ 0 h 550333"/>
              <a:gd name="connsiteX0" fmla="*/ 0 w 852099"/>
              <a:gd name="connsiteY0" fmla="*/ 550333 h 550333"/>
              <a:gd name="connsiteX1" fmla="*/ 852099 w 852099"/>
              <a:gd name="connsiteY1" fmla="*/ 0 h 550333"/>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 name="connsiteX0" fmla="*/ 0 w 935168"/>
              <a:gd name="connsiteY0" fmla="*/ 533618 h 533618"/>
              <a:gd name="connsiteX1" fmla="*/ 935168 w 935168"/>
              <a:gd name="connsiteY1" fmla="*/ 0 h 533618"/>
            </a:gdLst>
            <a:ahLst/>
            <a:cxnLst>
              <a:cxn ang="0">
                <a:pos x="connsiteX0" y="connsiteY0"/>
              </a:cxn>
              <a:cxn ang="0">
                <a:pos x="connsiteX1" y="connsiteY1"/>
              </a:cxn>
            </a:cxnLst>
            <a:rect l="l" t="t" r="r" b="b"/>
            <a:pathLst>
              <a:path w="935168" h="533618">
                <a:moveTo>
                  <a:pt x="0" y="533618"/>
                </a:moveTo>
                <a:cubicBezTo>
                  <a:pt x="149046" y="300031"/>
                  <a:pt x="308480" y="199189"/>
                  <a:pt x="935168" y="0"/>
                </a:cubicBezTo>
              </a:path>
            </a:pathLst>
          </a:custGeom>
          <a:ln w="38100">
            <a:solidFill>
              <a:srgbClr val="30B5C5"/>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TextBox 55"/>
          <p:cNvSpPr txBox="1"/>
          <p:nvPr/>
        </p:nvSpPr>
        <p:spPr bwMode="gray">
          <a:xfrm>
            <a:off x="3188623" y="3990061"/>
            <a:ext cx="1752403" cy="646331"/>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报文</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源地址：</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192.168.1.1</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目的地址：</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192.168.2.1</a:t>
            </a:r>
          </a:p>
        </p:txBody>
      </p:sp>
      <p:sp>
        <p:nvSpPr>
          <p:cNvPr id="70" name="Oval 71"/>
          <p:cNvSpPr>
            <a:spLocks noChangeAspect="1"/>
          </p:cNvSpPr>
          <p:nvPr/>
        </p:nvSpPr>
        <p:spPr bwMode="gray">
          <a:xfrm>
            <a:off x="3069542" y="4044502"/>
            <a:ext cx="192706" cy="192706"/>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Rectangle 2"/>
          <p:cNvSpPr/>
          <p:nvPr/>
        </p:nvSpPr>
        <p:spPr bwMode="gray">
          <a:xfrm>
            <a:off x="6106040" y="1733941"/>
            <a:ext cx="5354124" cy="3785652"/>
          </a:xfrm>
          <a:prstGeom prst="rect">
            <a:avLst/>
          </a:prstGeom>
        </p:spPr>
        <p:txBody>
          <a:bodyPr wrap="square">
            <a:spAutoFit/>
          </a:bodyPr>
          <a:lstStyle/>
          <a:p>
            <a:pPr marL="342900" indent="-342900">
              <a:lnSpc>
                <a:spcPts val="2200"/>
              </a:lnSpc>
              <a:spcAft>
                <a:spcPts val="600"/>
              </a:spcAft>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用户接入（以</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User1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为例），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作为认证点设备，它负责与</a:t>
            </a:r>
            <a:r>
              <a:rPr lang="en-US" altLang="zh-CN" sz="1400" dirty="0" err="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交互用户认证信息。</a:t>
            </a:r>
          </a:p>
          <a:p>
            <a:pPr marL="342900" indent="-342900">
              <a:lnSpc>
                <a:spcPts val="2200"/>
              </a:lnSpc>
              <a:spcAft>
                <a:spcPts val="600"/>
              </a:spcAft>
              <a:buFont typeface="+mj-lt"/>
              <a:buAutoNum type="arabicPeriod"/>
            </a:pPr>
            <a:r>
              <a:rPr lang="en-US" altLang="zh-CN" sz="1400" dirty="0" err="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判断该用户的登录条件，将该用户与对应的授权策略中绑定的安全组（</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Group1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）进行关联。</a:t>
            </a:r>
          </a:p>
          <a:p>
            <a:pPr marL="342900" indent="-342900">
              <a:lnSpc>
                <a:spcPts val="2200"/>
              </a:lnSpc>
              <a:spcAft>
                <a:spcPts val="600"/>
              </a:spcAft>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User1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认证通过，</a:t>
            </a:r>
            <a:r>
              <a:rPr lang="en-US" altLang="zh-CN" sz="1400" dirty="0" err="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通知认证点该用户所属安全组。</a:t>
            </a:r>
            <a:r>
              <a:rPr lang="en-US" altLang="zh-CN" sz="1400" dirty="0" err="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NCE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将终端的</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地址与组</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Group1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关联，并记录到</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安全组表中。同时，认证点设备</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也形成在线用户表项。</a:t>
            </a:r>
          </a:p>
          <a:p>
            <a:pPr marL="342900" indent="-342900">
              <a:lnSpc>
                <a:spcPts val="2200"/>
              </a:lnSpc>
              <a:spcAft>
                <a:spcPts val="600"/>
              </a:spcAft>
              <a:buFont typeface="+mj-lt"/>
              <a:buAutoNum type="arabicPeriod"/>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User2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同理。</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nSpc>
                <a:spcPts val="2200"/>
              </a:lnSpc>
              <a:spcAft>
                <a:spcPts val="600"/>
              </a:spcAft>
              <a:buFont typeface="+mj-lt"/>
              <a:buAutoNum type="arabicPeriod"/>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作为策略执行点设备，收到终端发出的业务报文，根据报文的源、目的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地址识别报文的源组和目的组，然后执行组间策略。</a:t>
            </a:r>
          </a:p>
        </p:txBody>
      </p:sp>
      <p:sp>
        <p:nvSpPr>
          <p:cNvPr id="43" name="TextBox 55"/>
          <p:cNvSpPr txBox="1"/>
          <p:nvPr/>
        </p:nvSpPr>
        <p:spPr bwMode="gray">
          <a:xfrm>
            <a:off x="3672587" y="3353362"/>
            <a:ext cx="492443" cy="276999"/>
          </a:xfrm>
          <a:prstGeom prst="rect">
            <a:avLst/>
          </a:prstGeom>
          <a:noFill/>
        </p:spPr>
        <p:txBody>
          <a:bodyPr wrap="non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丢弃</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55"/>
          <p:cNvSpPr txBox="1"/>
          <p:nvPr/>
        </p:nvSpPr>
        <p:spPr bwMode="gray">
          <a:xfrm>
            <a:off x="546263" y="1000999"/>
            <a:ext cx="1261884" cy="276999"/>
          </a:xfrm>
          <a:prstGeom prst="rect">
            <a:avLst/>
          </a:prstGeom>
          <a:noFill/>
        </p:spPr>
        <p:txBody>
          <a:bodyPr wrap="none" rtlCol="0">
            <a:spAutoFit/>
          </a:bodyPr>
          <a:lstStyle/>
          <a:p>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在线用户表项：</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55"/>
          <p:cNvSpPr txBox="1"/>
          <p:nvPr/>
        </p:nvSpPr>
        <p:spPr bwMode="gray">
          <a:xfrm>
            <a:off x="523141" y="2079054"/>
            <a:ext cx="1347661" cy="325602"/>
          </a:xfrm>
          <a:prstGeom prst="rect">
            <a:avLst/>
          </a:prstGeom>
          <a:noFill/>
        </p:spPr>
        <p:txBody>
          <a:bodyPr wrap="square" rtlCol="0">
            <a:spAutoFit/>
          </a:bodyPr>
          <a:lstStyle/>
          <a:p>
            <a:pPr>
              <a:lnSpc>
                <a:spcPts val="2000"/>
              </a:lnSpc>
            </a:pP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策略（权限）：</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7" name="Table 32"/>
          <p:cNvGraphicFramePr>
            <a:graphicFrameLocks noGrp="1"/>
          </p:cNvGraphicFramePr>
          <p:nvPr>
            <p:extLst>
              <p:ext uri="{D42A27DB-BD31-4B8C-83A1-F6EECF244321}">
                <p14:modId xmlns:p14="http://schemas.microsoft.com/office/powerpoint/2010/main" val="2780998189"/>
              </p:ext>
            </p:extLst>
          </p:nvPr>
        </p:nvGraphicFramePr>
        <p:xfrm>
          <a:off x="575290" y="2434473"/>
          <a:ext cx="2385576" cy="1097280"/>
        </p:xfrm>
        <a:graphic>
          <a:graphicData uri="http://schemas.openxmlformats.org/drawingml/2006/table">
            <a:tbl>
              <a:tblPr firstRow="1" bandRow="1">
                <a:tableStyleId>{5940675A-B579-460E-94D1-54222C63F5DA}</a:tableStyleId>
              </a:tblPr>
              <a:tblGrid>
                <a:gridCol w="795192">
                  <a:extLst>
                    <a:ext uri="{9D8B030D-6E8A-4147-A177-3AD203B41FA5}">
                      <a16:colId xmlns:a16="http://schemas.microsoft.com/office/drawing/2014/main" val="20000"/>
                    </a:ext>
                  </a:extLst>
                </a:gridCol>
                <a:gridCol w="795192">
                  <a:extLst>
                    <a:ext uri="{9D8B030D-6E8A-4147-A177-3AD203B41FA5}">
                      <a16:colId xmlns:a16="http://schemas.microsoft.com/office/drawing/2014/main" val="20001"/>
                    </a:ext>
                  </a:extLst>
                </a:gridCol>
                <a:gridCol w="795192">
                  <a:extLst>
                    <a:ext uri="{9D8B030D-6E8A-4147-A177-3AD203B41FA5}">
                      <a16:colId xmlns:a16="http://schemas.microsoft.com/office/drawing/2014/main" val="20002"/>
                    </a:ext>
                  </a:extLst>
                </a:gridCol>
              </a:tblGrid>
              <a:tr h="0">
                <a:tc>
                  <a:txBody>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源组</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目的组</a:t>
                      </a: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动作</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Group1</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Group2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Deny</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0">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Group1</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Permit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0">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8" name="Rectangular Callout 4"/>
          <p:cNvSpPr/>
          <p:nvPr/>
        </p:nvSpPr>
        <p:spPr bwMode="gray">
          <a:xfrm>
            <a:off x="483441" y="951430"/>
            <a:ext cx="2984538" cy="2630310"/>
          </a:xfrm>
          <a:custGeom>
            <a:avLst/>
            <a:gdLst>
              <a:gd name="connsiteX0" fmla="*/ 0 w 2307735"/>
              <a:gd name="connsiteY0" fmla="*/ 0 h 2630310"/>
              <a:gd name="connsiteX1" fmla="*/ 1346179 w 2307735"/>
              <a:gd name="connsiteY1" fmla="*/ 0 h 2630310"/>
              <a:gd name="connsiteX2" fmla="*/ 1346179 w 2307735"/>
              <a:gd name="connsiteY2" fmla="*/ 0 h 2630310"/>
              <a:gd name="connsiteX3" fmla="*/ 1923113 w 2307735"/>
              <a:gd name="connsiteY3" fmla="*/ 0 h 2630310"/>
              <a:gd name="connsiteX4" fmla="*/ 2307735 w 2307735"/>
              <a:gd name="connsiteY4" fmla="*/ 0 h 2630310"/>
              <a:gd name="connsiteX5" fmla="*/ 2307735 w 2307735"/>
              <a:gd name="connsiteY5" fmla="*/ 1534348 h 2630310"/>
              <a:gd name="connsiteX6" fmla="*/ 2815944 w 2307735"/>
              <a:gd name="connsiteY6" fmla="*/ 2530016 h 2630310"/>
              <a:gd name="connsiteX7" fmla="*/ 2307735 w 2307735"/>
              <a:gd name="connsiteY7" fmla="*/ 2191925 h 2630310"/>
              <a:gd name="connsiteX8" fmla="*/ 2307735 w 2307735"/>
              <a:gd name="connsiteY8" fmla="*/ 2630310 h 2630310"/>
              <a:gd name="connsiteX9" fmla="*/ 1923113 w 2307735"/>
              <a:gd name="connsiteY9" fmla="*/ 2630310 h 2630310"/>
              <a:gd name="connsiteX10" fmla="*/ 1346179 w 2307735"/>
              <a:gd name="connsiteY10" fmla="*/ 2630310 h 2630310"/>
              <a:gd name="connsiteX11" fmla="*/ 1346179 w 2307735"/>
              <a:gd name="connsiteY11" fmla="*/ 2630310 h 2630310"/>
              <a:gd name="connsiteX12" fmla="*/ 0 w 2307735"/>
              <a:gd name="connsiteY12" fmla="*/ 2630310 h 2630310"/>
              <a:gd name="connsiteX13" fmla="*/ 0 w 2307735"/>
              <a:gd name="connsiteY13" fmla="*/ 2191925 h 2630310"/>
              <a:gd name="connsiteX14" fmla="*/ 0 w 2307735"/>
              <a:gd name="connsiteY14" fmla="*/ 1534348 h 2630310"/>
              <a:gd name="connsiteX15" fmla="*/ 0 w 2307735"/>
              <a:gd name="connsiteY15" fmla="*/ 1534348 h 2630310"/>
              <a:gd name="connsiteX16" fmla="*/ 0 w 2307735"/>
              <a:gd name="connsiteY16" fmla="*/ 0 h 2630310"/>
              <a:gd name="connsiteX0" fmla="*/ 0 w 2655077"/>
              <a:gd name="connsiteY0" fmla="*/ 0 h 2630310"/>
              <a:gd name="connsiteX1" fmla="*/ 1346179 w 2655077"/>
              <a:gd name="connsiteY1" fmla="*/ 0 h 2630310"/>
              <a:gd name="connsiteX2" fmla="*/ 1346179 w 2655077"/>
              <a:gd name="connsiteY2" fmla="*/ 0 h 2630310"/>
              <a:gd name="connsiteX3" fmla="*/ 1923113 w 2655077"/>
              <a:gd name="connsiteY3" fmla="*/ 0 h 2630310"/>
              <a:gd name="connsiteX4" fmla="*/ 2307735 w 2655077"/>
              <a:gd name="connsiteY4" fmla="*/ 0 h 2630310"/>
              <a:gd name="connsiteX5" fmla="*/ 2307735 w 2655077"/>
              <a:gd name="connsiteY5" fmla="*/ 1534348 h 2630310"/>
              <a:gd name="connsiteX6" fmla="*/ 2655077 w 2655077"/>
              <a:gd name="connsiteY6" fmla="*/ 1920416 h 2630310"/>
              <a:gd name="connsiteX7" fmla="*/ 2307735 w 2655077"/>
              <a:gd name="connsiteY7" fmla="*/ 2191925 h 2630310"/>
              <a:gd name="connsiteX8" fmla="*/ 2307735 w 2655077"/>
              <a:gd name="connsiteY8" fmla="*/ 2630310 h 2630310"/>
              <a:gd name="connsiteX9" fmla="*/ 1923113 w 2655077"/>
              <a:gd name="connsiteY9" fmla="*/ 2630310 h 2630310"/>
              <a:gd name="connsiteX10" fmla="*/ 1346179 w 2655077"/>
              <a:gd name="connsiteY10" fmla="*/ 2630310 h 2630310"/>
              <a:gd name="connsiteX11" fmla="*/ 1346179 w 2655077"/>
              <a:gd name="connsiteY11" fmla="*/ 2630310 h 2630310"/>
              <a:gd name="connsiteX12" fmla="*/ 0 w 2655077"/>
              <a:gd name="connsiteY12" fmla="*/ 2630310 h 2630310"/>
              <a:gd name="connsiteX13" fmla="*/ 0 w 2655077"/>
              <a:gd name="connsiteY13" fmla="*/ 2191925 h 2630310"/>
              <a:gd name="connsiteX14" fmla="*/ 0 w 2655077"/>
              <a:gd name="connsiteY14" fmla="*/ 1534348 h 2630310"/>
              <a:gd name="connsiteX15" fmla="*/ 0 w 2655077"/>
              <a:gd name="connsiteY15" fmla="*/ 1534348 h 2630310"/>
              <a:gd name="connsiteX16" fmla="*/ 0 w 2655077"/>
              <a:gd name="connsiteY16" fmla="*/ 0 h 2630310"/>
              <a:gd name="connsiteX0" fmla="*/ 0 w 2629677"/>
              <a:gd name="connsiteY0" fmla="*/ 0 h 2630310"/>
              <a:gd name="connsiteX1" fmla="*/ 1346179 w 2629677"/>
              <a:gd name="connsiteY1" fmla="*/ 0 h 2630310"/>
              <a:gd name="connsiteX2" fmla="*/ 1346179 w 2629677"/>
              <a:gd name="connsiteY2" fmla="*/ 0 h 2630310"/>
              <a:gd name="connsiteX3" fmla="*/ 1923113 w 2629677"/>
              <a:gd name="connsiteY3" fmla="*/ 0 h 2630310"/>
              <a:gd name="connsiteX4" fmla="*/ 2307735 w 2629677"/>
              <a:gd name="connsiteY4" fmla="*/ 0 h 2630310"/>
              <a:gd name="connsiteX5" fmla="*/ 2307735 w 2629677"/>
              <a:gd name="connsiteY5" fmla="*/ 1534348 h 2630310"/>
              <a:gd name="connsiteX6" fmla="*/ 2629677 w 2629677"/>
              <a:gd name="connsiteY6" fmla="*/ 2182883 h 2630310"/>
              <a:gd name="connsiteX7" fmla="*/ 2307735 w 2629677"/>
              <a:gd name="connsiteY7" fmla="*/ 2191925 h 2630310"/>
              <a:gd name="connsiteX8" fmla="*/ 2307735 w 2629677"/>
              <a:gd name="connsiteY8" fmla="*/ 2630310 h 2630310"/>
              <a:gd name="connsiteX9" fmla="*/ 1923113 w 2629677"/>
              <a:gd name="connsiteY9" fmla="*/ 2630310 h 2630310"/>
              <a:gd name="connsiteX10" fmla="*/ 1346179 w 2629677"/>
              <a:gd name="connsiteY10" fmla="*/ 2630310 h 2630310"/>
              <a:gd name="connsiteX11" fmla="*/ 1346179 w 2629677"/>
              <a:gd name="connsiteY11" fmla="*/ 2630310 h 2630310"/>
              <a:gd name="connsiteX12" fmla="*/ 0 w 2629677"/>
              <a:gd name="connsiteY12" fmla="*/ 2630310 h 2630310"/>
              <a:gd name="connsiteX13" fmla="*/ 0 w 2629677"/>
              <a:gd name="connsiteY13" fmla="*/ 2191925 h 2630310"/>
              <a:gd name="connsiteX14" fmla="*/ 0 w 2629677"/>
              <a:gd name="connsiteY14" fmla="*/ 1534348 h 2630310"/>
              <a:gd name="connsiteX15" fmla="*/ 0 w 2629677"/>
              <a:gd name="connsiteY15" fmla="*/ 1534348 h 2630310"/>
              <a:gd name="connsiteX16" fmla="*/ 0 w 2629677"/>
              <a:gd name="connsiteY16" fmla="*/ 0 h 2630310"/>
              <a:gd name="connsiteX0" fmla="*/ 0 w 2654908"/>
              <a:gd name="connsiteY0" fmla="*/ 0 h 2630310"/>
              <a:gd name="connsiteX1" fmla="*/ 1346179 w 2654908"/>
              <a:gd name="connsiteY1" fmla="*/ 0 h 2630310"/>
              <a:gd name="connsiteX2" fmla="*/ 1346179 w 2654908"/>
              <a:gd name="connsiteY2" fmla="*/ 0 h 2630310"/>
              <a:gd name="connsiteX3" fmla="*/ 1923113 w 2654908"/>
              <a:gd name="connsiteY3" fmla="*/ 0 h 2630310"/>
              <a:gd name="connsiteX4" fmla="*/ 2307735 w 2654908"/>
              <a:gd name="connsiteY4" fmla="*/ 0 h 2630310"/>
              <a:gd name="connsiteX5" fmla="*/ 2307735 w 2654908"/>
              <a:gd name="connsiteY5" fmla="*/ 1534348 h 2630310"/>
              <a:gd name="connsiteX6" fmla="*/ 2654908 w 2654908"/>
              <a:gd name="connsiteY6" fmla="*/ 2015458 h 2630310"/>
              <a:gd name="connsiteX7" fmla="*/ 2307735 w 2654908"/>
              <a:gd name="connsiteY7" fmla="*/ 2191925 h 2630310"/>
              <a:gd name="connsiteX8" fmla="*/ 2307735 w 2654908"/>
              <a:gd name="connsiteY8" fmla="*/ 2630310 h 2630310"/>
              <a:gd name="connsiteX9" fmla="*/ 1923113 w 2654908"/>
              <a:gd name="connsiteY9" fmla="*/ 2630310 h 2630310"/>
              <a:gd name="connsiteX10" fmla="*/ 1346179 w 2654908"/>
              <a:gd name="connsiteY10" fmla="*/ 2630310 h 2630310"/>
              <a:gd name="connsiteX11" fmla="*/ 1346179 w 2654908"/>
              <a:gd name="connsiteY11" fmla="*/ 2630310 h 2630310"/>
              <a:gd name="connsiteX12" fmla="*/ 0 w 2654908"/>
              <a:gd name="connsiteY12" fmla="*/ 2630310 h 2630310"/>
              <a:gd name="connsiteX13" fmla="*/ 0 w 2654908"/>
              <a:gd name="connsiteY13" fmla="*/ 2191925 h 2630310"/>
              <a:gd name="connsiteX14" fmla="*/ 0 w 2654908"/>
              <a:gd name="connsiteY14" fmla="*/ 1534348 h 2630310"/>
              <a:gd name="connsiteX15" fmla="*/ 0 w 2654908"/>
              <a:gd name="connsiteY15" fmla="*/ 1534348 h 2630310"/>
              <a:gd name="connsiteX16" fmla="*/ 0 w 2654908"/>
              <a:gd name="connsiteY16" fmla="*/ 0 h 263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54908" h="2630310">
                <a:moveTo>
                  <a:pt x="0" y="0"/>
                </a:moveTo>
                <a:lnTo>
                  <a:pt x="1346179" y="0"/>
                </a:lnTo>
                <a:lnTo>
                  <a:pt x="1346179" y="0"/>
                </a:lnTo>
                <a:lnTo>
                  <a:pt x="1923113" y="0"/>
                </a:lnTo>
                <a:lnTo>
                  <a:pt x="2307735" y="0"/>
                </a:lnTo>
                <a:lnTo>
                  <a:pt x="2307735" y="1534348"/>
                </a:lnTo>
                <a:lnTo>
                  <a:pt x="2654908" y="2015458"/>
                </a:lnTo>
                <a:lnTo>
                  <a:pt x="2307735" y="2191925"/>
                </a:lnTo>
                <a:lnTo>
                  <a:pt x="2307735" y="2630310"/>
                </a:lnTo>
                <a:lnTo>
                  <a:pt x="1923113" y="2630310"/>
                </a:lnTo>
                <a:lnTo>
                  <a:pt x="1346179" y="2630310"/>
                </a:lnTo>
                <a:lnTo>
                  <a:pt x="1346179" y="2630310"/>
                </a:lnTo>
                <a:lnTo>
                  <a:pt x="0" y="2630310"/>
                </a:lnTo>
                <a:lnTo>
                  <a:pt x="0" y="2191925"/>
                </a:lnTo>
                <a:lnTo>
                  <a:pt x="0" y="1534348"/>
                </a:lnTo>
                <a:lnTo>
                  <a:pt x="0" y="1534348"/>
                </a:lnTo>
                <a:lnTo>
                  <a:pt x="0" y="0"/>
                </a:lnTo>
                <a:close/>
              </a:path>
            </a:pathLst>
          </a:cu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Oval 63"/>
          <p:cNvSpPr>
            <a:spLocks noChangeAspect="1"/>
          </p:cNvSpPr>
          <p:nvPr/>
        </p:nvSpPr>
        <p:spPr bwMode="gray">
          <a:xfrm>
            <a:off x="2994698" y="1039258"/>
            <a:ext cx="159261" cy="159261"/>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38" name="表格 37"/>
          <p:cNvGraphicFramePr>
            <a:graphicFrameLocks noGrp="1"/>
          </p:cNvGraphicFramePr>
          <p:nvPr>
            <p:extLst>
              <p:ext uri="{D42A27DB-BD31-4B8C-83A1-F6EECF244321}">
                <p14:modId xmlns:p14="http://schemas.microsoft.com/office/powerpoint/2010/main" val="838588186"/>
              </p:ext>
            </p:extLst>
          </p:nvPr>
        </p:nvGraphicFramePr>
        <p:xfrm>
          <a:off x="575289" y="1291619"/>
          <a:ext cx="2389785" cy="822960"/>
        </p:xfrm>
        <a:graphic>
          <a:graphicData uri="http://schemas.openxmlformats.org/drawingml/2006/table">
            <a:tbl>
              <a:tblPr firstRow="1" bandRow="1">
                <a:tableStyleId>{72833802-FEF1-4C79-8D5D-14CF1EAF98D9}</a:tableStyleId>
              </a:tblPr>
              <a:tblGrid>
                <a:gridCol w="672952">
                  <a:extLst>
                    <a:ext uri="{9D8B030D-6E8A-4147-A177-3AD203B41FA5}">
                      <a16:colId xmlns:a16="http://schemas.microsoft.com/office/drawing/2014/main" val="20000"/>
                    </a:ext>
                  </a:extLst>
                </a:gridCol>
                <a:gridCol w="998375">
                  <a:extLst>
                    <a:ext uri="{9D8B030D-6E8A-4147-A177-3AD203B41FA5}">
                      <a16:colId xmlns:a16="http://schemas.microsoft.com/office/drawing/2014/main" val="20001"/>
                    </a:ext>
                  </a:extLst>
                </a:gridCol>
                <a:gridCol w="718458">
                  <a:extLst>
                    <a:ext uri="{9D8B030D-6E8A-4147-A177-3AD203B41FA5}">
                      <a16:colId xmlns:a16="http://schemas.microsoft.com/office/drawing/2014/main" val="20002"/>
                    </a:ext>
                  </a:extLst>
                </a:gridCol>
              </a:tblGrid>
              <a:tr h="139626">
                <a:tc>
                  <a:txBody>
                    <a:bodyPr/>
                    <a:lstStyle/>
                    <a:p>
                      <a:pPr algn="ctr"/>
                      <a:r>
                        <a:rPr lang="en-US" altLang="zh-CN" sz="1200" b="1" dirty="0">
                          <a:solidFill>
                            <a:schemeClr val="tx1"/>
                          </a:solidFill>
                        </a:rPr>
                        <a:t>MAC</a:t>
                      </a:r>
                      <a:endParaRPr lang="zh-CN" altLang="en-US" sz="1200" b="1" dirty="0">
                        <a:solidFill>
                          <a:schemeClr val="tx1"/>
                        </a:solidFill>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200" b="1" dirty="0">
                          <a:solidFill>
                            <a:schemeClr val="tx1"/>
                          </a:solidFill>
                        </a:rPr>
                        <a:t>IP</a:t>
                      </a:r>
                      <a:endParaRPr lang="zh-CN" altLang="en-US" sz="12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200" b="1" dirty="0">
                          <a:solidFill>
                            <a:schemeClr val="tx1"/>
                          </a:solidFill>
                        </a:rPr>
                        <a:t>安全组</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39626">
                <a:tc>
                  <a:txBody>
                    <a:bodyPr/>
                    <a:lstStyle/>
                    <a:p>
                      <a:pPr algn="ctr"/>
                      <a:r>
                        <a:rPr lang="en-US" altLang="zh-CN" sz="1200" b="0" dirty="0"/>
                        <a:t>MAC-X</a:t>
                      </a:r>
                      <a:endParaRPr lang="zh-CN" altLang="en-US" sz="1200" b="0" dirty="0"/>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b="0" dirty="0"/>
                        <a:t>192.168.1.1</a:t>
                      </a:r>
                      <a:endParaRPr lang="zh-CN" altLang="en-U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b="0" dirty="0"/>
                        <a:t>Group</a:t>
                      </a:r>
                      <a:r>
                        <a:rPr lang="en-US" altLang="zh-CN" sz="1200" b="0" baseline="0" dirty="0"/>
                        <a:t>1</a:t>
                      </a:r>
                      <a:endParaRPr lang="zh-CN" altLang="en-US" sz="1200" b="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39626">
                <a:tc>
                  <a:txBody>
                    <a:bodyPr/>
                    <a:lstStyle/>
                    <a:p>
                      <a:pPr algn="ctr"/>
                      <a:r>
                        <a:rPr lang="en-US" altLang="zh-CN" sz="1200" b="0" dirty="0"/>
                        <a:t>MAC-Y</a:t>
                      </a:r>
                      <a:endParaRPr lang="zh-CN" altLang="en-US" sz="1200" b="0" dirty="0"/>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192.168.2.1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Group2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771695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sym typeface="Huawei Sans" panose="020C0503030203020204" pitchFamily="34" charset="0"/>
              </a:rPr>
              <a:t>业务随行技术背景与基本概念</a:t>
            </a:r>
          </a:p>
          <a:p>
            <a:r>
              <a:rPr lang="zh-CN" altLang="en-US" dirty="0">
                <a:solidFill>
                  <a:schemeClr val="bg1">
                    <a:lumMod val="50000"/>
                  </a:schemeClr>
                </a:solidFill>
                <a:sym typeface="Huawei Sans" panose="020C0503030203020204" pitchFamily="34" charset="0"/>
              </a:rPr>
              <a:t>业务随行基本原理</a:t>
            </a:r>
          </a:p>
          <a:p>
            <a:r>
              <a:rPr lang="zh-CN" altLang="en-US" b="1" dirty="0">
                <a:sym typeface="Huawei Sans" panose="020C0503030203020204" pitchFamily="34" charset="0"/>
              </a:rPr>
              <a:t>业务随行方案设计</a:t>
            </a:r>
          </a:p>
          <a:p>
            <a:pPr marL="0" indent="0">
              <a:buNone/>
            </a:pPr>
            <a:endParaRPr lang="zh-CN" altLang="en-US" dirty="0">
              <a:sym typeface="Huawei Sans" panose="020C0503030203020204" pitchFamily="34" charset="0"/>
            </a:endParaRPr>
          </a:p>
        </p:txBody>
      </p:sp>
    </p:spTree>
    <p:extLst>
      <p:ext uri="{BB962C8B-B14F-4D97-AF65-F5344CB8AC3E}">
        <p14:creationId xmlns:p14="http://schemas.microsoft.com/office/powerpoint/2010/main" val="4173609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dirty="0"/>
              <a:t>安全组设计</a:t>
            </a:r>
          </a:p>
        </p:txBody>
      </p:sp>
      <p:sp>
        <p:nvSpPr>
          <p:cNvPr id="5" name="圆角矩形 75"/>
          <p:cNvSpPr/>
          <p:nvPr/>
        </p:nvSpPr>
        <p:spPr bwMode="gray">
          <a:xfrm>
            <a:off x="937902" y="1232741"/>
            <a:ext cx="5040000"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动态安全组</a:t>
            </a:r>
            <a:r>
              <a:rPr lang="zh-CN" altLang="en-US" sz="16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（接入用户）</a:t>
            </a:r>
          </a:p>
        </p:txBody>
      </p:sp>
      <p:sp>
        <p:nvSpPr>
          <p:cNvPr id="6" name="圆角矩形 75"/>
          <p:cNvSpPr/>
          <p:nvPr/>
        </p:nvSpPr>
        <p:spPr bwMode="gray">
          <a:xfrm>
            <a:off x="937902" y="1679035"/>
            <a:ext cx="5040000" cy="1350768"/>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nSpc>
                <a:spcPts val="2200"/>
              </a:lnSpc>
              <a:spcAft>
                <a:spcPts val="600"/>
              </a:spcAft>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需要认证之后才可以接入网络的用户及终端。</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nSpc>
                <a:spcPts val="2200"/>
              </a:lnSpc>
              <a:spcAft>
                <a:spcPts val="600"/>
              </a:spcAft>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大多数情况下，动态安全组可以基于用户身份来制定，比如学校场景里的学生和老师，但除了简单的用户身份，还可以按照</a:t>
            </a:r>
            <a:r>
              <a:rPr lang="en-US" altLang="zh-CN" sz="14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5W1H</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的方法进行细分制定。</a:t>
            </a:r>
          </a:p>
        </p:txBody>
      </p:sp>
      <p:sp>
        <p:nvSpPr>
          <p:cNvPr id="7" name="圆角矩形 75"/>
          <p:cNvSpPr/>
          <p:nvPr/>
        </p:nvSpPr>
        <p:spPr bwMode="gray">
          <a:xfrm>
            <a:off x="6302064" y="1232741"/>
            <a:ext cx="5040000"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静态安全组（网络资源）</a:t>
            </a:r>
          </a:p>
        </p:txBody>
      </p:sp>
      <p:sp>
        <p:nvSpPr>
          <p:cNvPr id="8" name="圆角矩形 75"/>
          <p:cNvSpPr/>
          <p:nvPr/>
        </p:nvSpPr>
        <p:spPr bwMode="gray">
          <a:xfrm>
            <a:off x="6302064" y="1679035"/>
            <a:ext cx="5040000" cy="1350768"/>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nSpc>
                <a:spcPts val="2200"/>
              </a:lnSpc>
              <a:spcAft>
                <a:spcPts val="600"/>
              </a:spcAft>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使用固定</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地址的终端或网络范围，如服务器、</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Internet</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等。</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a:lnSpc>
                <a:spcPts val="2200"/>
              </a:lnSpc>
              <a:spcAft>
                <a:spcPts val="600"/>
              </a:spcAft>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静态安全组通过资源的服务类型来进行制定，比如学校的</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WEB</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服务器、学生信息数据服务器、试题资源服务器等就可以划分为不同的静态安全组。</a:t>
            </a:r>
          </a:p>
        </p:txBody>
      </p:sp>
      <p:sp>
        <p:nvSpPr>
          <p:cNvPr id="9" name="矩形 8"/>
          <p:cNvSpPr/>
          <p:nvPr/>
        </p:nvSpPr>
        <p:spPr bwMode="gray">
          <a:xfrm>
            <a:off x="937902" y="5794704"/>
            <a:ext cx="10404162" cy="338554"/>
          </a:xfrm>
          <a:prstGeom prst="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txBody>
          <a:bodyPr wrap="square">
            <a:spAutoFit/>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制定动态安全组，最重要的原则就是将具有相同的网络访问策略的用户划分为一类安全组。</a:t>
            </a:r>
          </a:p>
        </p:txBody>
      </p:sp>
      <p:sp>
        <p:nvSpPr>
          <p:cNvPr id="10" name="任意多边形 9"/>
          <p:cNvSpPr/>
          <p:nvPr/>
        </p:nvSpPr>
        <p:spPr bwMode="gray">
          <a:xfrm>
            <a:off x="937902" y="2920660"/>
            <a:ext cx="6321542" cy="2599194"/>
          </a:xfrm>
          <a:custGeom>
            <a:avLst/>
            <a:gdLst>
              <a:gd name="connsiteX0" fmla="*/ 3111500 w 9829800"/>
              <a:gd name="connsiteY0" fmla="*/ 0 h 2517578"/>
              <a:gd name="connsiteX1" fmla="*/ 3462866 w 9829800"/>
              <a:gd name="connsiteY1" fmla="*/ 347753 h 2517578"/>
              <a:gd name="connsiteX2" fmla="*/ 9829800 w 9829800"/>
              <a:gd name="connsiteY2" fmla="*/ 347753 h 2517578"/>
              <a:gd name="connsiteX3" fmla="*/ 9829800 w 9829800"/>
              <a:gd name="connsiteY3" fmla="*/ 2517578 h 2517578"/>
              <a:gd name="connsiteX4" fmla="*/ 0 w 9829800"/>
              <a:gd name="connsiteY4" fmla="*/ 2517578 h 2517578"/>
              <a:gd name="connsiteX5" fmla="*/ 0 w 9829800"/>
              <a:gd name="connsiteY5" fmla="*/ 347753 h 2517578"/>
              <a:gd name="connsiteX6" fmla="*/ 2760133 w 9829800"/>
              <a:gd name="connsiteY6" fmla="*/ 347753 h 2517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29800" h="2517578">
                <a:moveTo>
                  <a:pt x="3111500" y="0"/>
                </a:moveTo>
                <a:lnTo>
                  <a:pt x="3462866" y="347753"/>
                </a:lnTo>
                <a:lnTo>
                  <a:pt x="9829800" y="347753"/>
                </a:lnTo>
                <a:lnTo>
                  <a:pt x="9829800" y="2517578"/>
                </a:lnTo>
                <a:lnTo>
                  <a:pt x="0" y="2517578"/>
                </a:lnTo>
                <a:lnTo>
                  <a:pt x="0" y="347753"/>
                </a:lnTo>
                <a:lnTo>
                  <a:pt x="2760133" y="347753"/>
                </a:lnTo>
                <a:close/>
              </a:path>
            </a:pathLst>
          </a:custGeom>
          <a:solidFill>
            <a:srgbClr val="FEF6DE"/>
          </a:solidFill>
          <a:ln w="19050">
            <a:solidFill>
              <a:srgbClr val="FCC800"/>
            </a:solidFill>
          </a:ln>
        </p:spPr>
        <p:txBody>
          <a:bodyPr wrap="square" tIns="432000">
            <a:noAutofit/>
          </a:bodyPr>
          <a:lstStyle/>
          <a:p>
            <a:pPr marL="176213" indent="-176213" algn="just">
              <a:lnSpc>
                <a:spcPts val="2200"/>
              </a:lnSpc>
              <a:spcAft>
                <a:spcPts val="600"/>
              </a:spcAft>
              <a:buFont typeface="Arial" panose="020B0604020202020204" pitchFamily="34" charset="0"/>
              <a:buChar char="•"/>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Who</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：接入用户的身份，例如公司的领导、普通员工、访客；</a:t>
            </a:r>
          </a:p>
          <a:p>
            <a:pPr marL="176213" indent="-176213" algn="just">
              <a:lnSpc>
                <a:spcPts val="2200"/>
              </a:lnSpc>
              <a:spcAft>
                <a:spcPts val="600"/>
              </a:spcAft>
              <a:buFont typeface="Arial" panose="020B0604020202020204" pitchFamily="34" charset="0"/>
              <a:buChar char="•"/>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Where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：接入用户的地点，例如园区内接入，或远程接入；</a:t>
            </a:r>
          </a:p>
          <a:p>
            <a:pPr marL="176213" indent="-176213" algn="just">
              <a:lnSpc>
                <a:spcPts val="2200"/>
              </a:lnSpc>
              <a:spcAft>
                <a:spcPts val="600"/>
              </a:spcAft>
              <a:buFont typeface="Arial" panose="020B0604020202020204" pitchFamily="34" charset="0"/>
              <a:buChar char="•"/>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What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：接入用户使用的终端类型，例如是手机接入，还是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便携机接入；</a:t>
            </a:r>
          </a:p>
          <a:p>
            <a:pPr marL="176213" indent="-176213" algn="just">
              <a:lnSpc>
                <a:spcPts val="2200"/>
              </a:lnSpc>
              <a:spcAft>
                <a:spcPts val="600"/>
              </a:spcAft>
              <a:buFont typeface="Arial" panose="020B0604020202020204" pitchFamily="34" charset="0"/>
              <a:buChar char="•"/>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When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：接入用户的时间，例如是白天接入，还是晚上接入；</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gn="just">
              <a:lnSpc>
                <a:spcPts val="2200"/>
              </a:lnSpc>
              <a:spcAft>
                <a:spcPts val="600"/>
              </a:spcAft>
              <a:buFont typeface="Arial" panose="020B0604020202020204" pitchFamily="34" charset="0"/>
              <a:buChar char="•"/>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Whose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：设备归属，例如是公司终端，还是自带终端；</a:t>
            </a:r>
          </a:p>
          <a:p>
            <a:pPr marL="176213" indent="-176213" algn="just">
              <a:lnSpc>
                <a:spcPts val="2200"/>
              </a:lnSpc>
              <a:spcAft>
                <a:spcPts val="600"/>
              </a:spcAft>
              <a:buFont typeface="Arial" panose="020B0604020202020204" pitchFamily="34" charset="0"/>
              <a:buChar char="•"/>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How</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：接入用户的方式，例如是有线接入，还是无线接入。</a:t>
            </a:r>
          </a:p>
        </p:txBody>
      </p:sp>
    </p:spTree>
    <p:extLst>
      <p:ext uri="{BB962C8B-B14F-4D97-AF65-F5344CB8AC3E}">
        <p14:creationId xmlns:p14="http://schemas.microsoft.com/office/powerpoint/2010/main" val="1494400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dirty="0"/>
              <a:t>权限控制设计</a:t>
            </a:r>
          </a:p>
        </p:txBody>
      </p:sp>
      <p:sp>
        <p:nvSpPr>
          <p:cNvPr id="11" name="圆角矩形 75"/>
          <p:cNvSpPr/>
          <p:nvPr/>
        </p:nvSpPr>
        <p:spPr bwMode="gray">
          <a:xfrm>
            <a:off x="761526" y="1228298"/>
            <a:ext cx="10698638" cy="358200"/>
          </a:xfrm>
          <a:prstGeom prst="roundRect">
            <a:avLst>
              <a:gd name="adj" fmla="val 10604"/>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txBody>
          <a:bodyPr wrap="square">
            <a:spAutoFit/>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根据需求得出业务随行中动态安全组和静态安全组的划分，并根据网络访问权限得出网络权限的访问矩阵。</a:t>
            </a:r>
          </a:p>
        </p:txBody>
      </p:sp>
      <p:sp>
        <p:nvSpPr>
          <p:cNvPr id="12" name="圆角矩形 75"/>
          <p:cNvSpPr/>
          <p:nvPr/>
        </p:nvSpPr>
        <p:spPr bwMode="gray">
          <a:xfrm>
            <a:off x="761526" y="1912114"/>
            <a:ext cx="3022600"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动态安全组</a:t>
            </a:r>
          </a:p>
        </p:txBody>
      </p:sp>
      <p:sp>
        <p:nvSpPr>
          <p:cNvPr id="13" name="圆角矩形 75"/>
          <p:cNvSpPr/>
          <p:nvPr/>
        </p:nvSpPr>
        <p:spPr bwMode="gray">
          <a:xfrm>
            <a:off x="761526" y="2355438"/>
            <a:ext cx="3022600" cy="1303611"/>
          </a:xfrm>
          <a:prstGeom prst="roundRect">
            <a:avLst>
              <a:gd name="adj" fmla="val 1513"/>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marL="285750" indent="-285750">
              <a:lnSpc>
                <a:spcPts val="2400"/>
              </a:lnSpc>
              <a:buFont typeface="Arial" panose="020B0604020202020204" pitchFamily="34" charset="0"/>
              <a:buChar char="•"/>
            </a:pPr>
            <a:r>
              <a:rPr lang="zh-CN" altLang="en-US"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院领导</a:t>
            </a:r>
          </a:p>
          <a:p>
            <a:pPr marL="285750" indent="-285750">
              <a:lnSpc>
                <a:spcPts val="2400"/>
              </a:lnSpc>
              <a:buFont typeface="Arial" panose="020B0604020202020204" pitchFamily="34" charset="0"/>
              <a:buChar char="•"/>
            </a:pPr>
            <a:r>
              <a:rPr lang="zh-CN" altLang="en-US"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医生</a:t>
            </a:r>
          </a:p>
          <a:p>
            <a:pPr marL="285750" indent="-285750">
              <a:lnSpc>
                <a:spcPts val="2400"/>
              </a:lnSpc>
              <a:buFont typeface="Arial" panose="020B0604020202020204" pitchFamily="34" charset="0"/>
              <a:buChar char="•"/>
            </a:pPr>
            <a:r>
              <a:rPr lang="zh-CN" altLang="en-US"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护士</a:t>
            </a:r>
          </a:p>
          <a:p>
            <a:pPr marL="285750" indent="-285750">
              <a:lnSpc>
                <a:spcPts val="2400"/>
              </a:lnSpc>
              <a:buFont typeface="Arial" panose="020B0604020202020204" pitchFamily="34" charset="0"/>
              <a:buChar char="•"/>
            </a:pPr>
            <a:r>
              <a:rPr lang="zh-CN" altLang="en-US"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病患</a:t>
            </a:r>
          </a:p>
        </p:txBody>
      </p:sp>
      <p:sp>
        <p:nvSpPr>
          <p:cNvPr id="14" name="圆角矩形 75"/>
          <p:cNvSpPr/>
          <p:nvPr/>
        </p:nvSpPr>
        <p:spPr bwMode="gray">
          <a:xfrm>
            <a:off x="761526" y="3932706"/>
            <a:ext cx="3022600"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静态安全组</a:t>
            </a:r>
          </a:p>
        </p:txBody>
      </p:sp>
      <p:sp>
        <p:nvSpPr>
          <p:cNvPr id="15" name="圆角矩形 75"/>
          <p:cNvSpPr/>
          <p:nvPr/>
        </p:nvSpPr>
        <p:spPr bwMode="gray">
          <a:xfrm>
            <a:off x="761526" y="4376030"/>
            <a:ext cx="3022600" cy="1307299"/>
          </a:xfrm>
          <a:prstGeom prst="roundRect">
            <a:avLst>
              <a:gd name="adj" fmla="val 1513"/>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marL="285750" indent="-285750">
              <a:lnSpc>
                <a:spcPts val="2400"/>
              </a:lnSpc>
              <a:buFont typeface="Arial" panose="020B0604020202020204" pitchFamily="34" charset="0"/>
              <a:buChar char="•"/>
            </a:pPr>
            <a:r>
              <a:rPr lang="zh-CN" altLang="en-US"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查房系统服务器</a:t>
            </a:r>
          </a:p>
          <a:p>
            <a:pPr marL="285750" indent="-285750">
              <a:lnSpc>
                <a:spcPts val="2400"/>
              </a:lnSpc>
              <a:buFont typeface="Arial" panose="020B0604020202020204" pitchFamily="34" charset="0"/>
              <a:buChar char="•"/>
            </a:pPr>
            <a:r>
              <a:rPr lang="zh-CN" altLang="en-US"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医疗系统服务器</a:t>
            </a:r>
          </a:p>
          <a:p>
            <a:pPr marL="285750" indent="-285750">
              <a:lnSpc>
                <a:spcPts val="2400"/>
              </a:lnSpc>
              <a:buFont typeface="Arial" panose="020B0604020202020204" pitchFamily="34" charset="0"/>
              <a:buChar char="•"/>
            </a:pPr>
            <a:r>
              <a:rPr lang="zh-CN" altLang="en-US"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病例库服务器</a:t>
            </a:r>
          </a:p>
          <a:p>
            <a:pPr marL="285750" indent="-285750">
              <a:lnSpc>
                <a:spcPts val="2400"/>
              </a:lnSpc>
              <a:buFont typeface="Arial" panose="020B0604020202020204" pitchFamily="34" charset="0"/>
              <a:buChar char="•"/>
            </a:pPr>
            <a:r>
              <a:rPr lang="en-US" altLang="zh-CN" sz="140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graphicFrame>
        <p:nvGraphicFramePr>
          <p:cNvPr id="16" name="表格 15"/>
          <p:cNvGraphicFramePr>
            <a:graphicFrameLocks noGrp="1"/>
          </p:cNvGraphicFramePr>
          <p:nvPr>
            <p:extLst>
              <p:ext uri="{D42A27DB-BD31-4B8C-83A1-F6EECF244321}">
                <p14:modId xmlns:p14="http://schemas.microsoft.com/office/powerpoint/2010/main" val="2603019561"/>
              </p:ext>
            </p:extLst>
          </p:nvPr>
        </p:nvGraphicFramePr>
        <p:xfrm>
          <a:off x="3928533" y="2250829"/>
          <a:ext cx="7607831" cy="1636818"/>
        </p:xfrm>
        <a:graphic>
          <a:graphicData uri="http://schemas.openxmlformats.org/drawingml/2006/table">
            <a:tbl>
              <a:tblPr firstRow="1" bandRow="1">
                <a:tableStyleId>{5940675A-B579-460E-94D1-54222C63F5DA}</a:tableStyleId>
              </a:tblPr>
              <a:tblGrid>
                <a:gridCol w="820455">
                  <a:extLst>
                    <a:ext uri="{9D8B030D-6E8A-4147-A177-3AD203B41FA5}">
                      <a16:colId xmlns:a16="http://schemas.microsoft.com/office/drawing/2014/main" val="20000"/>
                    </a:ext>
                  </a:extLst>
                </a:gridCol>
                <a:gridCol w="1001591">
                  <a:extLst>
                    <a:ext uri="{9D8B030D-6E8A-4147-A177-3AD203B41FA5}">
                      <a16:colId xmlns:a16="http://schemas.microsoft.com/office/drawing/2014/main" val="20001"/>
                    </a:ext>
                  </a:extLst>
                </a:gridCol>
                <a:gridCol w="1033555">
                  <a:extLst>
                    <a:ext uri="{9D8B030D-6E8A-4147-A177-3AD203B41FA5}">
                      <a16:colId xmlns:a16="http://schemas.microsoft.com/office/drawing/2014/main" val="20002"/>
                    </a:ext>
                  </a:extLst>
                </a:gridCol>
                <a:gridCol w="831107">
                  <a:extLst>
                    <a:ext uri="{9D8B030D-6E8A-4147-A177-3AD203B41FA5}">
                      <a16:colId xmlns:a16="http://schemas.microsoft.com/office/drawing/2014/main" val="20003"/>
                    </a:ext>
                  </a:extLst>
                </a:gridCol>
                <a:gridCol w="990935">
                  <a:extLst>
                    <a:ext uri="{9D8B030D-6E8A-4147-A177-3AD203B41FA5}">
                      <a16:colId xmlns:a16="http://schemas.microsoft.com/office/drawing/2014/main" val="20004"/>
                    </a:ext>
                  </a:extLst>
                </a:gridCol>
                <a:gridCol w="841764">
                  <a:extLst>
                    <a:ext uri="{9D8B030D-6E8A-4147-A177-3AD203B41FA5}">
                      <a16:colId xmlns:a16="http://schemas.microsoft.com/office/drawing/2014/main" val="20005"/>
                    </a:ext>
                  </a:extLst>
                </a:gridCol>
                <a:gridCol w="713901">
                  <a:extLst>
                    <a:ext uri="{9D8B030D-6E8A-4147-A177-3AD203B41FA5}">
                      <a16:colId xmlns:a16="http://schemas.microsoft.com/office/drawing/2014/main" val="20006"/>
                    </a:ext>
                  </a:extLst>
                </a:gridCol>
                <a:gridCol w="692589">
                  <a:extLst>
                    <a:ext uri="{9D8B030D-6E8A-4147-A177-3AD203B41FA5}">
                      <a16:colId xmlns:a16="http://schemas.microsoft.com/office/drawing/2014/main" val="20007"/>
                    </a:ext>
                  </a:extLst>
                </a:gridCol>
                <a:gridCol w="681934">
                  <a:extLst>
                    <a:ext uri="{9D8B030D-6E8A-4147-A177-3AD203B41FA5}">
                      <a16:colId xmlns:a16="http://schemas.microsoft.com/office/drawing/2014/main" val="20008"/>
                    </a:ext>
                  </a:extLst>
                </a:gridCol>
              </a:tblGrid>
              <a:tr h="417618">
                <a:tc>
                  <a:txBody>
                    <a:bodyPr/>
                    <a:lstStyle/>
                    <a:p>
                      <a:pPr algn="ctr"/>
                      <a:endParaRPr lang="zh-CN" altLang="en-US"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查房系统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医疗系统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病例库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院领导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医生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护士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病患</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37491">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院领导</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11365">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医生</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indent="0" algn="ctr" defTabSz="913706"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3706"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98302">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护士</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3706"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3706"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30959">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病患</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允许</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禁止</a:t>
                      </a: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cxnSp>
        <p:nvCxnSpPr>
          <p:cNvPr id="4" name="直接连接符 3"/>
          <p:cNvCxnSpPr/>
          <p:nvPr/>
        </p:nvCxnSpPr>
        <p:spPr bwMode="gray">
          <a:xfrm>
            <a:off x="3928533" y="2250829"/>
            <a:ext cx="816382" cy="4044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bwMode="gray">
          <a:xfrm>
            <a:off x="3930664" y="2321168"/>
            <a:ext cx="315221" cy="400110"/>
          </a:xfrm>
          <a:prstGeom prst="rect">
            <a:avLst/>
          </a:prstGeom>
        </p:spPr>
        <p:txBody>
          <a:bodyPr wrap="square">
            <a:spAutoFit/>
          </a:bodyPr>
          <a:lstStyle/>
          <a:p>
            <a:pPr>
              <a:lnSpc>
                <a:spcPts val="2400"/>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源</a:t>
            </a:r>
          </a:p>
        </p:txBody>
      </p:sp>
      <p:sp>
        <p:nvSpPr>
          <p:cNvPr id="19" name="矩形 18"/>
          <p:cNvSpPr/>
          <p:nvPr/>
        </p:nvSpPr>
        <p:spPr bwMode="gray">
          <a:xfrm>
            <a:off x="4279987" y="2183926"/>
            <a:ext cx="641839" cy="400110"/>
          </a:xfrm>
          <a:prstGeom prst="rect">
            <a:avLst/>
          </a:prstGeom>
        </p:spPr>
        <p:txBody>
          <a:bodyPr wrap="square">
            <a:spAutoFit/>
          </a:bodyPr>
          <a:lstStyle/>
          <a:p>
            <a:pPr>
              <a:lnSpc>
                <a:spcPts val="2400"/>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目的</a:t>
            </a:r>
          </a:p>
        </p:txBody>
      </p:sp>
      <p:sp>
        <p:nvSpPr>
          <p:cNvPr id="24" name="矩形 23"/>
          <p:cNvSpPr/>
          <p:nvPr/>
        </p:nvSpPr>
        <p:spPr bwMode="gray">
          <a:xfrm>
            <a:off x="3814660" y="1849819"/>
            <a:ext cx="1399178" cy="400110"/>
          </a:xfrm>
          <a:prstGeom prst="rect">
            <a:avLst/>
          </a:prstGeom>
        </p:spPr>
        <p:txBody>
          <a:bodyPr wrap="square">
            <a:spAutoFit/>
          </a:bodyPr>
          <a:lstStyle/>
          <a:p>
            <a:pPr>
              <a:lnSpc>
                <a:spcPts val="2400"/>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策略控制矩阵：</a:t>
            </a:r>
          </a:p>
        </p:txBody>
      </p:sp>
    </p:spTree>
    <p:extLst>
      <p:ext uri="{BB962C8B-B14F-4D97-AF65-F5344CB8AC3E}">
        <p14:creationId xmlns:p14="http://schemas.microsoft.com/office/powerpoint/2010/main" val="1013700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用户认证设计</a:t>
            </a:r>
          </a:p>
        </p:txBody>
      </p:sp>
      <p:sp>
        <p:nvSpPr>
          <p:cNvPr id="3" name="文本占位符 2"/>
          <p:cNvSpPr>
            <a:spLocks noGrp="1"/>
          </p:cNvSpPr>
          <p:nvPr>
            <p:ph type="body" sz="quarter" idx="10"/>
          </p:nvPr>
        </p:nvSpPr>
        <p:spPr>
          <a:xfrm>
            <a:off x="455613" y="1047750"/>
            <a:ext cx="11256962" cy="1556905"/>
          </a:xfrm>
        </p:spPr>
        <p:txBody>
          <a:bodyPr/>
          <a:lstStyle/>
          <a:p>
            <a:r>
              <a:rPr lang="zh-CN" altLang="en-US" sz="2000" dirty="0"/>
              <a:t>业务随行和传统方案相比，在用户认证阶段没有差别。</a:t>
            </a:r>
            <a:endParaRPr lang="en-US" altLang="zh-CN" sz="2000" dirty="0"/>
          </a:p>
          <a:p>
            <a:r>
              <a:rPr lang="zh-CN" altLang="en-US" sz="2000" dirty="0"/>
              <a:t>当用户通过认证后，传统方案会下发</a:t>
            </a:r>
            <a:r>
              <a:rPr lang="en-US" altLang="zh-CN" sz="2000" dirty="0"/>
              <a:t>ACL</a:t>
            </a:r>
            <a:r>
              <a:rPr lang="zh-CN" altLang="en-US" sz="2000" dirty="0"/>
              <a:t>、</a:t>
            </a:r>
            <a:r>
              <a:rPr lang="en-US" altLang="zh-CN" sz="2000" dirty="0"/>
              <a:t>VLAN</a:t>
            </a:r>
            <a:r>
              <a:rPr lang="zh-CN" altLang="en-US" sz="2000" dirty="0"/>
              <a:t>等信息，而业务随行会下发安全组信息（即</a:t>
            </a:r>
            <a:r>
              <a:rPr lang="en-US" altLang="zh-CN" sz="2000" dirty="0"/>
              <a:t>UCL</a:t>
            </a:r>
            <a:r>
              <a:rPr lang="zh-CN" altLang="en-US" sz="2000" dirty="0"/>
              <a:t>组）。</a:t>
            </a:r>
          </a:p>
        </p:txBody>
      </p:sp>
      <p:sp>
        <p:nvSpPr>
          <p:cNvPr id="4" name="圆角矩形 75"/>
          <p:cNvSpPr/>
          <p:nvPr/>
        </p:nvSpPr>
        <p:spPr>
          <a:xfrm>
            <a:off x="760415" y="2783452"/>
            <a:ext cx="5782733" cy="395245"/>
          </a:xfrm>
          <a:prstGeom prst="roundRect">
            <a:avLst>
              <a:gd name="adj" fmla="val 10604"/>
            </a:avLst>
          </a:prstGeom>
          <a:noFill/>
          <a:ln>
            <a:noFill/>
          </a:ln>
        </p:spPr>
        <p:txBody>
          <a:bodyPr wrap="square" rtlCol="0" anchor="ctr" anchorCtr="0">
            <a:noAutofit/>
          </a:bodyPr>
          <a:lstStyle/>
          <a:p>
            <a:pPr algn="ct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业务随行支持的认证方式</a:t>
            </a:r>
          </a:p>
        </p:txBody>
      </p:sp>
      <p:sp>
        <p:nvSpPr>
          <p:cNvPr id="5" name="圆角矩形 75"/>
          <p:cNvSpPr/>
          <p:nvPr/>
        </p:nvSpPr>
        <p:spPr>
          <a:xfrm>
            <a:off x="6574898" y="2783452"/>
            <a:ext cx="4885266" cy="395245"/>
          </a:xfrm>
          <a:prstGeom prst="roundRect">
            <a:avLst>
              <a:gd name="adj" fmla="val 10604"/>
            </a:avLst>
          </a:prstGeom>
          <a:noFill/>
          <a:ln>
            <a:noFill/>
          </a:ln>
        </p:spPr>
        <p:txBody>
          <a:bodyPr wrap="square" rtlCol="0" anchor="ctr" anchorCtr="0">
            <a:noAutofit/>
          </a:bodyPr>
          <a:lstStyle/>
          <a:p>
            <a:pPr algn="ctr"/>
            <a:r>
              <a:rPr lang="zh-CN" altLang="en-US" sz="1600" b="1">
                <a:latin typeface="Huawei Sans" panose="020C0503030203020204" pitchFamily="34" charset="0"/>
                <a:ea typeface="方正兰亭黑简体" panose="02000000000000000000" pitchFamily="2" charset="-122"/>
                <a:sym typeface="Huawei Sans" panose="020C0503030203020204" pitchFamily="34" charset="0"/>
              </a:rPr>
              <a:t>推荐的认证点位置</a:t>
            </a:r>
          </a:p>
        </p:txBody>
      </p:sp>
      <p:graphicFrame>
        <p:nvGraphicFramePr>
          <p:cNvPr id="6" name="表格 5"/>
          <p:cNvGraphicFramePr>
            <a:graphicFrameLocks noGrp="1"/>
          </p:cNvGraphicFramePr>
          <p:nvPr>
            <p:extLst>
              <p:ext uri="{D42A27DB-BD31-4B8C-83A1-F6EECF244321}">
                <p14:modId xmlns:p14="http://schemas.microsoft.com/office/powerpoint/2010/main" val="2003600953"/>
              </p:ext>
            </p:extLst>
          </p:nvPr>
        </p:nvGraphicFramePr>
        <p:xfrm>
          <a:off x="760414" y="3214209"/>
          <a:ext cx="5782733" cy="1869516"/>
        </p:xfrm>
        <a:graphic>
          <a:graphicData uri="http://schemas.openxmlformats.org/drawingml/2006/table">
            <a:tbl>
              <a:tblPr/>
              <a:tblGrid>
                <a:gridCol w="1174914">
                  <a:extLst>
                    <a:ext uri="{9D8B030D-6E8A-4147-A177-3AD203B41FA5}">
                      <a16:colId xmlns:a16="http://schemas.microsoft.com/office/drawing/2014/main" val="20000"/>
                    </a:ext>
                  </a:extLst>
                </a:gridCol>
                <a:gridCol w="2038542">
                  <a:extLst>
                    <a:ext uri="{9D8B030D-6E8A-4147-A177-3AD203B41FA5}">
                      <a16:colId xmlns:a16="http://schemas.microsoft.com/office/drawing/2014/main" val="20001"/>
                    </a:ext>
                  </a:extLst>
                </a:gridCol>
                <a:gridCol w="2569277">
                  <a:extLst>
                    <a:ext uri="{9D8B030D-6E8A-4147-A177-3AD203B41FA5}">
                      <a16:colId xmlns:a16="http://schemas.microsoft.com/office/drawing/2014/main" val="20002"/>
                    </a:ext>
                  </a:extLst>
                </a:gridCol>
              </a:tblGrid>
              <a:tr h="311586">
                <a:tc gridSpan="2">
                  <a:txBody>
                    <a:bodyPr/>
                    <a:lstStyle/>
                    <a:p>
                      <a:pPr indent="72000" algn="ctr" fontAlgn="ctr"/>
                      <a:r>
                        <a:rPr lang="zh-CN" altLang="en-US" sz="1400" b="1"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认证方式</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zh-CN" altLang="en-US"/>
                    </a:p>
                  </a:txBody>
                  <a:tcPr/>
                </a:tc>
                <a:tc>
                  <a:txBody>
                    <a:bodyPr/>
                    <a:lstStyle/>
                    <a:p>
                      <a:pPr indent="72000" algn="ctr" fontAlgn="ctr"/>
                      <a:r>
                        <a:rPr lang="zh-CN" altLang="en-US" sz="1400" b="1"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推荐认证场景</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311586">
                <a:tc gridSpan="2">
                  <a:txBody>
                    <a:bodyPr/>
                    <a:lstStyle/>
                    <a:p>
                      <a:pPr indent="72000" algn="ctr" fontAlgn="ctr"/>
                      <a:r>
                        <a:rPr lang="en-US" sz="1400" b="0" i="0" u="none" strike="noStrike"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802.1x</a:t>
                      </a:r>
                      <a:r>
                        <a:rPr lang="zh-CN" altLang="en-US" sz="1400" b="0" i="0" u="none" strike="noStrike"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认证</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tc>
                  <a:txBody>
                    <a:bodyPr/>
                    <a:lstStyle/>
                    <a:p>
                      <a:pPr indent="72000" algn="ctr" fontAlgn="ctr"/>
                      <a:r>
                        <a:rPr lang="zh-CN" altLang="en-US" sz="1400" b="0"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推荐有线用户认证</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11586">
                <a:tc rowSpan="2">
                  <a:txBody>
                    <a:bodyPr/>
                    <a:lstStyle/>
                    <a:p>
                      <a:pPr indent="72000" algn="ctr" fontAlgn="ctr"/>
                      <a:r>
                        <a:rPr lang="en-US" sz="1400" b="0" i="0" u="none" strike="noStrike"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sz="1400" b="0" i="0" u="none" strike="noStrike"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认证</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72000" algn="ctr" defTabSz="913706" rtl="0" eaLnBrk="1" fontAlgn="ctr" latinLnBrk="0" hangingPunct="1">
                        <a:lnSpc>
                          <a:spcPct val="100000"/>
                        </a:lnSpc>
                        <a:spcBef>
                          <a:spcPts val="0"/>
                        </a:spcBef>
                        <a:spcAft>
                          <a:spcPts val="0"/>
                        </a:spcAft>
                        <a:buClrTx/>
                        <a:buSzTx/>
                        <a:buFontTx/>
                        <a:buNone/>
                        <a:tabLst/>
                        <a:defRPr/>
                      </a:pPr>
                      <a:r>
                        <a:rPr lang="en-US" altLang="zh-CN" sz="1400" b="0"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sz="1400" b="0"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认证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indent="72000" algn="ctr" fontAlgn="ctr"/>
                      <a:r>
                        <a:rPr lang="zh-CN" altLang="en-US" sz="1400" b="0"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推荐无线用户认证</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11586">
                <a:tc vMerge="1">
                  <a:txBody>
                    <a:bodyPr/>
                    <a:lstStyle/>
                    <a:p>
                      <a:pPr algn="l" fontAlgn="ctr"/>
                      <a:endParaRPr lang="zh-CN" altLang="en-US" sz="1200" b="0" i="0" u="none" strike="noStrike" dirty="0">
                        <a:latin typeface="微软雅黑" pitchFamily="34" charset="-122"/>
                        <a:ea typeface="微软雅黑"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72000" algn="ctr" defTabSz="913706" rtl="0" eaLnBrk="1" fontAlgn="ctr" latinLnBrk="0" hangingPunct="1">
                        <a:lnSpc>
                          <a:spcPct val="100000"/>
                        </a:lnSpc>
                        <a:spcBef>
                          <a:spcPts val="0"/>
                        </a:spcBef>
                        <a:spcAft>
                          <a:spcPts val="0"/>
                        </a:spcAft>
                        <a:buClrTx/>
                        <a:buSzTx/>
                        <a:buFontTx/>
                        <a:buNone/>
                        <a:tabLst/>
                        <a:defRPr/>
                      </a:pPr>
                      <a:r>
                        <a:rPr lang="en-US" altLang="zh-CN" sz="1400" b="0"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b="0"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优先</a:t>
                      </a:r>
                      <a:r>
                        <a:rPr lang="en-US" altLang="zh-CN" sz="1400" b="0"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sz="1400" b="0"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认证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l" fontAlgn="ctr"/>
                      <a:endParaRPr lang="zh-CN" altLang="en-US" sz="1200" b="0" i="0" u="none" strike="noStrike" dirty="0">
                        <a:latin typeface="微软雅黑" pitchFamily="34" charset="-122"/>
                        <a:ea typeface="微软雅黑" pitchFamily="34" charset="-122"/>
                      </a:endParaRP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11586">
                <a:tc gridSpan="2">
                  <a:txBody>
                    <a:bodyPr/>
                    <a:lstStyle/>
                    <a:p>
                      <a:pPr indent="72000" algn="ctr" fontAlgn="ctr"/>
                      <a:r>
                        <a:rPr lang="en-US" sz="1400" b="0"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b="0"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认证</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tc>
                  <a:txBody>
                    <a:bodyPr/>
                    <a:lstStyle/>
                    <a:p>
                      <a:pPr indent="72000" algn="ctr" fontAlgn="ctr"/>
                      <a:r>
                        <a:rPr lang="zh-CN" altLang="en-US" sz="1400" b="0"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推荐哑终端（如打印机）认证</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11586">
                <a:tc gridSpan="2">
                  <a:txBody>
                    <a:bodyPr/>
                    <a:lstStyle/>
                    <a:p>
                      <a:pPr indent="72000" algn="ctr" fontAlgn="ctr"/>
                      <a:r>
                        <a:rPr lang="en-US" sz="1400" b="0" i="0" u="none" strike="noStrike" dirty="0" err="1">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PPP</a:t>
                      </a:r>
                      <a:r>
                        <a:rPr lang="en-US" altLang="zh-CN" sz="1400" b="0" i="0" u="none" strike="noStrike" dirty="0" err="1">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o</a:t>
                      </a:r>
                      <a:r>
                        <a:rPr lang="en-US" sz="1400" b="0" i="0" u="none" strike="noStrike" dirty="0" err="1">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E</a:t>
                      </a:r>
                      <a:r>
                        <a:rPr lang="zh-CN" altLang="en-US" sz="1400" b="0" i="0" u="none" strike="noStrike"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认证</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tc>
                  <a:txBody>
                    <a:bodyPr/>
                    <a:lstStyle/>
                    <a:p>
                      <a:pPr indent="72000" algn="ctr" fontAlgn="ctr"/>
                      <a:r>
                        <a:rPr lang="zh-CN" altLang="en-US" sz="1400" b="0"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推荐校园用户认证</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4026352217"/>
              </p:ext>
            </p:extLst>
          </p:nvPr>
        </p:nvGraphicFramePr>
        <p:xfrm>
          <a:off x="6734470" y="3214209"/>
          <a:ext cx="4725694" cy="1104453"/>
        </p:xfrm>
        <a:graphic>
          <a:graphicData uri="http://schemas.openxmlformats.org/drawingml/2006/table">
            <a:tbl>
              <a:tblPr/>
              <a:tblGrid>
                <a:gridCol w="2362847">
                  <a:extLst>
                    <a:ext uri="{9D8B030D-6E8A-4147-A177-3AD203B41FA5}">
                      <a16:colId xmlns:a16="http://schemas.microsoft.com/office/drawing/2014/main" val="20000"/>
                    </a:ext>
                  </a:extLst>
                </a:gridCol>
                <a:gridCol w="2362847">
                  <a:extLst>
                    <a:ext uri="{9D8B030D-6E8A-4147-A177-3AD203B41FA5}">
                      <a16:colId xmlns:a16="http://schemas.microsoft.com/office/drawing/2014/main" val="20001"/>
                    </a:ext>
                  </a:extLst>
                </a:gridCol>
              </a:tblGrid>
              <a:tr h="368151">
                <a:tc>
                  <a:txBody>
                    <a:bodyPr/>
                    <a:lstStyle/>
                    <a:p>
                      <a:pPr indent="72000" algn="ctr" fontAlgn="ctr"/>
                      <a:r>
                        <a:rPr lang="zh-CN" altLang="en-US" sz="1400" b="1"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认证类型</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indent="72000" algn="ctr" fontAlgn="ctr"/>
                      <a:r>
                        <a:rPr lang="zh-CN" altLang="en-US" sz="1400" b="1"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认证点位置</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68151">
                <a:tc rowSpan="2">
                  <a:txBody>
                    <a:bodyPr/>
                    <a:lstStyle/>
                    <a:p>
                      <a:pPr indent="72000" algn="ctr" fontAlgn="ctr"/>
                      <a:r>
                        <a:rPr lang="zh-CN" altLang="en-US" sz="1400" b="0" i="0" u="none" strike="noStrike"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用户认证点</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indent="72000" algn="ctr" fontAlgn="ctr"/>
                      <a:r>
                        <a:rPr lang="zh-CN" altLang="en-US" sz="1400" b="0" i="0" u="none" strike="noStrike"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核心交换机</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8151">
                <a:tc vMerge="1">
                  <a:txBody>
                    <a:bodyPr/>
                    <a:lstStyle/>
                    <a:p>
                      <a:pPr algn="l" fontAlgn="ctr"/>
                      <a:endParaRPr lang="zh-CN" altLang="en-US" sz="1200" b="0" i="0" u="none" strike="noStrike" dirty="0">
                        <a:latin typeface="微软雅黑" pitchFamily="34" charset="-122"/>
                        <a:ea typeface="微软雅黑"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72000" algn="ctr" fontAlgn="ctr"/>
                      <a:r>
                        <a:rPr lang="zh-CN" altLang="en-US" sz="1400" b="0" i="0" u="none" strike="noStrike"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汇聚交换机</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6135431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认证点和策略执行点位置选择</a:t>
            </a:r>
          </a:p>
        </p:txBody>
      </p:sp>
      <p:sp>
        <p:nvSpPr>
          <p:cNvPr id="3" name="文本占位符 2"/>
          <p:cNvSpPr>
            <a:spLocks noGrp="1"/>
          </p:cNvSpPr>
          <p:nvPr>
            <p:ph type="body" sz="quarter" idx="10"/>
          </p:nvPr>
        </p:nvSpPr>
        <p:spPr/>
        <p:txBody>
          <a:bodyPr/>
          <a:lstStyle/>
          <a:p>
            <a:r>
              <a:rPr lang="zh-CN" altLang="en-US" sz="2000" dirty="0">
                <a:solidFill>
                  <a:srgbClr val="FF0000"/>
                </a:solidFill>
              </a:rPr>
              <a:t>一般认证点选择用户网关设备</a:t>
            </a:r>
            <a:r>
              <a:rPr lang="zh-CN" altLang="en-US" sz="2000" dirty="0"/>
              <a:t>，并且网关设备同时作为策略执行点，部署业务随行功能。</a:t>
            </a:r>
            <a:endParaRPr lang="en-US" altLang="zh-CN" sz="2000" dirty="0"/>
          </a:p>
          <a:p>
            <a:r>
              <a:rPr lang="zh-CN" altLang="en-US" sz="2000" dirty="0"/>
              <a:t>主要原因：</a:t>
            </a:r>
          </a:p>
          <a:p>
            <a:pPr lvl="1"/>
            <a:r>
              <a:rPr lang="zh-CN" altLang="en-US" sz="1800" dirty="0"/>
              <a:t>接入交换机数量较多，在每台接入交换机上配置认证功能较为繁琐，管理起来也较为麻烦。</a:t>
            </a:r>
          </a:p>
          <a:p>
            <a:pPr lvl="1"/>
            <a:r>
              <a:rPr lang="zh-CN" altLang="en-US" sz="1800" dirty="0">
                <a:solidFill>
                  <a:srgbClr val="FF0000"/>
                </a:solidFill>
              </a:rPr>
              <a:t>控制器需要向策略执行点设备同步权限策略</a:t>
            </a:r>
            <a:r>
              <a:rPr lang="zh-CN" altLang="en-US" sz="1800" dirty="0"/>
              <a:t>，如果选用接入交换机作为认证点，则策略执行点设备的数量会大幅增加（因为接入交换机数量较多），不仅增加了控制器上设备管理的工作量和难度，还延长了每次同步策略的时间。</a:t>
            </a:r>
          </a:p>
          <a:p>
            <a:r>
              <a:rPr lang="zh-CN" altLang="en-US" sz="2000" dirty="0"/>
              <a:t>对于用户网关以下的二层网络中能够互通的用户，如果想要进行互访控制，可以部署二层隔离，使用户在二层不能互通，流量必须经过用户网关。</a:t>
            </a:r>
            <a:endParaRPr lang="en-US" altLang="zh-CN" sz="2000" dirty="0"/>
          </a:p>
          <a:p>
            <a:endParaRPr lang="en-US" altLang="zh-CN" sz="2000" dirty="0"/>
          </a:p>
          <a:p>
            <a:r>
              <a:rPr lang="zh-CN" altLang="en-US" sz="2000" dirty="0"/>
              <a:t>（策略的执行点一般由边缘接入设备完成 </a:t>
            </a:r>
            <a:r>
              <a:rPr lang="en-US" altLang="zh-CN" sz="2000" dirty="0"/>
              <a:t>Edge</a:t>
            </a:r>
            <a:r>
              <a:rPr lang="zh-CN" altLang="en-US" sz="2000" dirty="0"/>
              <a:t>、</a:t>
            </a:r>
            <a:r>
              <a:rPr lang="en-US" altLang="zh-CN" sz="2000"/>
              <a:t>Core / Spina </a:t>
            </a:r>
            <a:r>
              <a:rPr lang="zh-CN" altLang="en-US" sz="2000" dirty="0"/>
              <a:t>认证点）</a:t>
            </a:r>
          </a:p>
          <a:p>
            <a:endParaRPr lang="zh-CN" altLang="en-US" sz="2000" dirty="0"/>
          </a:p>
        </p:txBody>
      </p:sp>
    </p:spTree>
    <p:extLst>
      <p:ext uri="{BB962C8B-B14F-4D97-AF65-F5344CB8AC3E}">
        <p14:creationId xmlns:p14="http://schemas.microsoft.com/office/powerpoint/2010/main" val="16091311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normAutofit/>
          </a:bodyPr>
          <a:lstStyle/>
          <a:p>
            <a:r>
              <a:rPr lang="zh-CN" altLang="en-US" dirty="0"/>
              <a:t>典型业务随行设计方案</a:t>
            </a:r>
          </a:p>
        </p:txBody>
      </p:sp>
      <p:cxnSp>
        <p:nvCxnSpPr>
          <p:cNvPr id="6" name="Straight Connector 166"/>
          <p:cNvCxnSpPr>
            <a:endCxn id="37" idx="0"/>
          </p:cNvCxnSpPr>
          <p:nvPr/>
        </p:nvCxnSpPr>
        <p:spPr bwMode="gray">
          <a:xfrm>
            <a:off x="2126927" y="4841327"/>
            <a:ext cx="575857" cy="5975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167"/>
          <p:cNvCxnSpPr>
            <a:endCxn id="18" idx="0"/>
          </p:cNvCxnSpPr>
          <p:nvPr/>
        </p:nvCxnSpPr>
        <p:spPr bwMode="gray">
          <a:xfrm flipH="1">
            <a:off x="1584429" y="4841327"/>
            <a:ext cx="542498" cy="59752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 name="Straight Connector 166"/>
          <p:cNvCxnSpPr>
            <a:endCxn id="17" idx="0"/>
          </p:cNvCxnSpPr>
          <p:nvPr/>
        </p:nvCxnSpPr>
        <p:spPr bwMode="gray">
          <a:xfrm>
            <a:off x="2763543" y="4135356"/>
            <a:ext cx="625772" cy="5803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167"/>
          <p:cNvCxnSpPr>
            <a:endCxn id="16" idx="0"/>
          </p:cNvCxnSpPr>
          <p:nvPr/>
        </p:nvCxnSpPr>
        <p:spPr bwMode="gray">
          <a:xfrm flipH="1">
            <a:off x="2110440" y="4135356"/>
            <a:ext cx="653103" cy="58035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 name="Straight Connector 240"/>
          <p:cNvCxnSpPr>
            <a:endCxn id="15" idx="0"/>
          </p:cNvCxnSpPr>
          <p:nvPr/>
        </p:nvCxnSpPr>
        <p:spPr bwMode="gray">
          <a:xfrm>
            <a:off x="2763541" y="1876673"/>
            <a:ext cx="5" cy="3090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56"/>
          <p:cNvCxnSpPr>
            <a:stCxn id="29" idx="1"/>
            <a:endCxn id="13" idx="3"/>
          </p:cNvCxnSpPr>
          <p:nvPr/>
        </p:nvCxnSpPr>
        <p:spPr bwMode="gray">
          <a:xfrm flipH="1">
            <a:off x="2968698" y="3270517"/>
            <a:ext cx="4963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图片 86" descr="核心交换机.png"/>
          <p:cNvPicPr>
            <a:picLocks noChangeAspect="1"/>
          </p:cNvPicPr>
          <p:nvPr/>
        </p:nvPicPr>
        <p:blipFill>
          <a:blip r:embed="rId3" cstate="print"/>
          <a:stretch>
            <a:fillRect/>
          </a:stretch>
        </p:blipFill>
        <p:spPr bwMode="gray">
          <a:xfrm>
            <a:off x="2558392" y="3102664"/>
            <a:ext cx="410306" cy="335706"/>
          </a:xfrm>
          <a:prstGeom prst="rect">
            <a:avLst/>
          </a:prstGeom>
        </p:spPr>
      </p:pic>
      <p:pic>
        <p:nvPicPr>
          <p:cNvPr id="14" name="图片 87" descr="汇聚交换机.png"/>
          <p:cNvPicPr>
            <a:picLocks noChangeAspect="1"/>
          </p:cNvPicPr>
          <p:nvPr/>
        </p:nvPicPr>
        <p:blipFill>
          <a:blip r:embed="rId4" cstate="print"/>
          <a:stretch>
            <a:fillRect/>
          </a:stretch>
        </p:blipFill>
        <p:spPr bwMode="gray">
          <a:xfrm>
            <a:off x="2558392" y="4019619"/>
            <a:ext cx="410306" cy="335706"/>
          </a:xfrm>
          <a:prstGeom prst="rect">
            <a:avLst/>
          </a:prstGeom>
        </p:spPr>
      </p:pic>
      <p:pic>
        <p:nvPicPr>
          <p:cNvPr id="15"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557295" y="2185709"/>
            <a:ext cx="412501" cy="337500"/>
          </a:xfrm>
          <a:prstGeom prst="rect">
            <a:avLst/>
          </a:prstGeom>
        </p:spPr>
      </p:pic>
      <p:pic>
        <p:nvPicPr>
          <p:cNvPr id="16" name="图片 76" descr="接入交换机.png"/>
          <p:cNvPicPr>
            <a:picLocks noChangeAspect="1"/>
          </p:cNvPicPr>
          <p:nvPr/>
        </p:nvPicPr>
        <p:blipFill>
          <a:blip r:embed="rId6" cstate="print"/>
          <a:stretch>
            <a:fillRect/>
          </a:stretch>
        </p:blipFill>
        <p:spPr bwMode="gray">
          <a:xfrm>
            <a:off x="1907585" y="4715709"/>
            <a:ext cx="405710" cy="331945"/>
          </a:xfrm>
          <a:prstGeom prst="rect">
            <a:avLst/>
          </a:prstGeom>
        </p:spPr>
      </p:pic>
      <p:pic>
        <p:nvPicPr>
          <p:cNvPr id="17" name="图片 105" descr="AP.png"/>
          <p:cNvPicPr>
            <a:picLocks noChangeAspect="1"/>
          </p:cNvPicPr>
          <p:nvPr/>
        </p:nvPicPr>
        <p:blipFill>
          <a:blip r:embed="rId7" cstate="print"/>
          <a:stretch>
            <a:fillRect/>
          </a:stretch>
        </p:blipFill>
        <p:spPr bwMode="gray">
          <a:xfrm>
            <a:off x="3184162" y="4715709"/>
            <a:ext cx="410306" cy="335706"/>
          </a:xfrm>
          <a:prstGeom prst="rect">
            <a:avLst/>
          </a:prstGeom>
        </p:spPr>
      </p:pic>
      <p:pic>
        <p:nvPicPr>
          <p:cNvPr id="18" name="图片 11" descr="开放网络-蓝.png"/>
          <p:cNvPicPr>
            <a:picLocks noChangeAspect="1"/>
          </p:cNvPicPr>
          <p:nvPr/>
        </p:nvPicPr>
        <p:blipFill>
          <a:blip r:embed="rId8" cstate="print"/>
          <a:stretch>
            <a:fillRect/>
          </a:stretch>
        </p:blipFill>
        <p:spPr bwMode="gray">
          <a:xfrm>
            <a:off x="1398061" y="5438853"/>
            <a:ext cx="372735" cy="286925"/>
          </a:xfrm>
          <a:prstGeom prst="rect">
            <a:avLst/>
          </a:prstGeom>
        </p:spPr>
      </p:pic>
      <p:pic>
        <p:nvPicPr>
          <p:cNvPr id="19" name="图片 157" descr="故障链路.png"/>
          <p:cNvPicPr>
            <a:picLocks noChangeAspect="1"/>
          </p:cNvPicPr>
          <p:nvPr/>
        </p:nvPicPr>
        <p:blipFill>
          <a:blip r:embed="rId9" cstate="print"/>
          <a:stretch>
            <a:fillRect/>
          </a:stretch>
        </p:blipFill>
        <p:spPr bwMode="gray">
          <a:xfrm>
            <a:off x="3184162" y="5419820"/>
            <a:ext cx="410306" cy="305958"/>
          </a:xfrm>
          <a:prstGeom prst="rect">
            <a:avLst/>
          </a:prstGeom>
        </p:spPr>
      </p:pic>
      <p:pic>
        <p:nvPicPr>
          <p:cNvPr id="29"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3465016" y="3101767"/>
            <a:ext cx="412501" cy="337500"/>
          </a:xfrm>
          <a:prstGeom prst="rect">
            <a:avLst/>
          </a:prstGeom>
        </p:spPr>
      </p:pic>
      <p:cxnSp>
        <p:nvCxnSpPr>
          <p:cNvPr id="30" name="Straight Connector 240"/>
          <p:cNvCxnSpPr/>
          <p:nvPr/>
        </p:nvCxnSpPr>
        <p:spPr bwMode="gray">
          <a:xfrm>
            <a:off x="4159650" y="2870694"/>
            <a:ext cx="0" cy="8290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156"/>
          <p:cNvCxnSpPr/>
          <p:nvPr/>
        </p:nvCxnSpPr>
        <p:spPr bwMode="gray">
          <a:xfrm flipH="1">
            <a:off x="4159650" y="2870694"/>
            <a:ext cx="71178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156"/>
          <p:cNvCxnSpPr/>
          <p:nvPr/>
        </p:nvCxnSpPr>
        <p:spPr bwMode="gray">
          <a:xfrm flipH="1">
            <a:off x="4159651" y="3699789"/>
            <a:ext cx="6063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3" name="图片 72" descr="交换机.png"/>
          <p:cNvPicPr>
            <a:picLocks noChangeAspect="1"/>
          </p:cNvPicPr>
          <p:nvPr/>
        </p:nvPicPr>
        <p:blipFill>
          <a:blip r:embed="rId10" cstate="print"/>
          <a:stretch>
            <a:fillRect/>
          </a:stretch>
        </p:blipFill>
        <p:spPr bwMode="gray">
          <a:xfrm>
            <a:off x="4703317" y="2731696"/>
            <a:ext cx="404368" cy="331943"/>
          </a:xfrm>
          <a:prstGeom prst="rect">
            <a:avLst/>
          </a:prstGeom>
        </p:spPr>
      </p:pic>
      <p:sp>
        <p:nvSpPr>
          <p:cNvPr id="34" name="文本框 33"/>
          <p:cNvSpPr txBox="1"/>
          <p:nvPr/>
        </p:nvSpPr>
        <p:spPr bwMode="gray">
          <a:xfrm>
            <a:off x="1520906" y="3042761"/>
            <a:ext cx="1107997" cy="461665"/>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核心交换机</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用户网关</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35" name="文本框 34"/>
          <p:cNvSpPr txBox="1"/>
          <p:nvPr/>
        </p:nvSpPr>
        <p:spPr bwMode="gray">
          <a:xfrm>
            <a:off x="1597882" y="4048972"/>
            <a:ext cx="954108"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汇聚交换机</a:t>
            </a:r>
          </a:p>
        </p:txBody>
      </p:sp>
      <p:sp>
        <p:nvSpPr>
          <p:cNvPr id="36" name="文本框 35"/>
          <p:cNvSpPr txBox="1"/>
          <p:nvPr/>
        </p:nvSpPr>
        <p:spPr bwMode="gray">
          <a:xfrm>
            <a:off x="986349" y="4743181"/>
            <a:ext cx="954108"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接入交换机</a:t>
            </a:r>
          </a:p>
        </p:txBody>
      </p:sp>
      <p:pic>
        <p:nvPicPr>
          <p:cNvPr id="37" name="图片 11" descr="开放网络-蓝.png"/>
          <p:cNvPicPr>
            <a:picLocks noChangeAspect="1"/>
          </p:cNvPicPr>
          <p:nvPr/>
        </p:nvPicPr>
        <p:blipFill>
          <a:blip r:embed="rId8" cstate="print"/>
          <a:stretch>
            <a:fillRect/>
          </a:stretch>
        </p:blipFill>
        <p:spPr bwMode="gray">
          <a:xfrm>
            <a:off x="2516416" y="5438853"/>
            <a:ext cx="372735" cy="286925"/>
          </a:xfrm>
          <a:prstGeom prst="rect">
            <a:avLst/>
          </a:prstGeom>
        </p:spPr>
      </p:pic>
      <p:sp>
        <p:nvSpPr>
          <p:cNvPr id="38" name="Oval 41"/>
          <p:cNvSpPr>
            <a:spLocks noChangeAspect="1"/>
          </p:cNvSpPr>
          <p:nvPr/>
        </p:nvSpPr>
        <p:spPr bwMode="gray">
          <a:xfrm>
            <a:off x="4404368" y="5171780"/>
            <a:ext cx="159261" cy="159261"/>
          </a:xfrm>
          <a:prstGeom prst="ellipse">
            <a:avLst/>
          </a:prstGeom>
          <a:solidFill>
            <a:srgbClr val="FCC8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55"/>
          <p:cNvSpPr txBox="1"/>
          <p:nvPr/>
        </p:nvSpPr>
        <p:spPr bwMode="gray">
          <a:xfrm>
            <a:off x="4563629" y="5112479"/>
            <a:ext cx="646331"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认证点</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Oval 41"/>
          <p:cNvSpPr>
            <a:spLocks noChangeAspect="1"/>
          </p:cNvSpPr>
          <p:nvPr/>
        </p:nvSpPr>
        <p:spPr bwMode="gray">
          <a:xfrm>
            <a:off x="4404368" y="5508080"/>
            <a:ext cx="159261" cy="159261"/>
          </a:xfrm>
          <a:prstGeom prst="ellipse">
            <a:avLst/>
          </a:prstGeom>
          <a:solidFill>
            <a:srgbClr val="C7000B"/>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55"/>
          <p:cNvSpPr txBox="1"/>
          <p:nvPr/>
        </p:nvSpPr>
        <p:spPr bwMode="gray">
          <a:xfrm>
            <a:off x="4563629" y="5448779"/>
            <a:ext cx="954107"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策略执行点</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4439635" y="3091891"/>
            <a:ext cx="954108"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内网服务器</a:t>
            </a:r>
          </a:p>
        </p:txBody>
      </p:sp>
      <p:sp>
        <p:nvSpPr>
          <p:cNvPr id="44" name="Oval 41"/>
          <p:cNvSpPr>
            <a:spLocks noChangeAspect="1"/>
          </p:cNvSpPr>
          <p:nvPr/>
        </p:nvSpPr>
        <p:spPr bwMode="gray">
          <a:xfrm>
            <a:off x="2570867" y="3323135"/>
            <a:ext cx="159261" cy="159261"/>
          </a:xfrm>
          <a:prstGeom prst="ellipse">
            <a:avLst/>
          </a:prstGeom>
          <a:solidFill>
            <a:srgbClr val="FCC8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Oval 41"/>
          <p:cNvSpPr>
            <a:spLocks noChangeAspect="1"/>
          </p:cNvSpPr>
          <p:nvPr/>
        </p:nvSpPr>
        <p:spPr bwMode="gray">
          <a:xfrm>
            <a:off x="2792059" y="3323135"/>
            <a:ext cx="159261" cy="159261"/>
          </a:xfrm>
          <a:prstGeom prst="ellipse">
            <a:avLst/>
          </a:prstGeom>
          <a:solidFill>
            <a:srgbClr val="C7000B"/>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6" name="图片 45"/>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bwMode="gray">
          <a:xfrm>
            <a:off x="4375568" y="3511743"/>
            <a:ext cx="1046768" cy="595041"/>
          </a:xfrm>
          <a:prstGeom prst="rect">
            <a:avLst/>
          </a:prstGeom>
        </p:spPr>
      </p:pic>
      <p:cxnSp>
        <p:nvCxnSpPr>
          <p:cNvPr id="49" name="Straight Connector 240"/>
          <p:cNvCxnSpPr>
            <a:stCxn id="15" idx="2"/>
            <a:endCxn id="13" idx="0"/>
          </p:cNvCxnSpPr>
          <p:nvPr/>
        </p:nvCxnSpPr>
        <p:spPr bwMode="gray">
          <a:xfrm flipH="1">
            <a:off x="2763545" y="2523209"/>
            <a:ext cx="1" cy="5794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240"/>
          <p:cNvCxnSpPr>
            <a:stCxn id="13" idx="2"/>
            <a:endCxn id="14" idx="0"/>
          </p:cNvCxnSpPr>
          <p:nvPr/>
        </p:nvCxnSpPr>
        <p:spPr bwMode="gray">
          <a:xfrm>
            <a:off x="2763545" y="3438370"/>
            <a:ext cx="0" cy="5812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156"/>
          <p:cNvCxnSpPr>
            <a:endCxn id="29" idx="3"/>
          </p:cNvCxnSpPr>
          <p:nvPr/>
        </p:nvCxnSpPr>
        <p:spPr bwMode="gray">
          <a:xfrm flipH="1">
            <a:off x="3877517" y="3270517"/>
            <a:ext cx="2821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Freeform 159"/>
          <p:cNvSpPr/>
          <p:nvPr/>
        </p:nvSpPr>
        <p:spPr bwMode="gray">
          <a:xfrm flipH="1">
            <a:off x="2303294" y="1450385"/>
            <a:ext cx="920495" cy="4811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en-US" altLang="zh-CN" sz="1400" dirty="0">
                <a:solidFill>
                  <a:schemeClr val="bg1">
                    <a:lumMod val="50000"/>
                  </a:schemeClr>
                </a:solidFill>
              </a:rPr>
              <a:t>Internet</a:t>
            </a:r>
            <a:endParaRPr lang="en-US" sz="1400" dirty="0">
              <a:solidFill>
                <a:schemeClr val="bg1">
                  <a:lumMod val="50000"/>
                </a:schemeClr>
              </a:solidFill>
            </a:endParaRPr>
          </a:p>
        </p:txBody>
      </p:sp>
      <p:sp>
        <p:nvSpPr>
          <p:cNvPr id="43" name="任意多边形 42"/>
          <p:cNvSpPr/>
          <p:nvPr/>
        </p:nvSpPr>
        <p:spPr bwMode="gray">
          <a:xfrm flipV="1">
            <a:off x="1729027" y="3246352"/>
            <a:ext cx="1645925" cy="2256579"/>
          </a:xfrm>
          <a:custGeom>
            <a:avLst/>
            <a:gdLst>
              <a:gd name="connsiteX0" fmla="*/ 0 w 1423219"/>
              <a:gd name="connsiteY0" fmla="*/ 0 h 467032"/>
              <a:gd name="connsiteX1" fmla="*/ 250723 w 1423219"/>
              <a:gd name="connsiteY1" fmla="*/ 390832 h 467032"/>
              <a:gd name="connsiteX2" fmla="*/ 1423219 w 1423219"/>
              <a:gd name="connsiteY2" fmla="*/ 457200 h 467032"/>
              <a:gd name="connsiteX3" fmla="*/ 1423219 w 1423219"/>
              <a:gd name="connsiteY3" fmla="*/ 457200 h 467032"/>
              <a:gd name="connsiteX0" fmla="*/ 0 w 1423219"/>
              <a:gd name="connsiteY0" fmla="*/ 0 h 457200"/>
              <a:gd name="connsiteX1" fmla="*/ 1423219 w 1423219"/>
              <a:gd name="connsiteY1" fmla="*/ 457200 h 457200"/>
              <a:gd name="connsiteX2" fmla="*/ 1423219 w 1423219"/>
              <a:gd name="connsiteY2" fmla="*/ 457200 h 457200"/>
              <a:gd name="connsiteX0" fmla="*/ 0 w 1473261"/>
              <a:gd name="connsiteY0" fmla="*/ 0 h 601134"/>
              <a:gd name="connsiteX1" fmla="*/ 1473261 w 1473261"/>
              <a:gd name="connsiteY1" fmla="*/ 601134 h 601134"/>
              <a:gd name="connsiteX2" fmla="*/ 1473261 w 1473261"/>
              <a:gd name="connsiteY2" fmla="*/ 601134 h 601134"/>
              <a:gd name="connsiteX0" fmla="*/ 0 w 1473261"/>
              <a:gd name="connsiteY0" fmla="*/ 0 h 601134"/>
              <a:gd name="connsiteX1" fmla="*/ 1473261 w 1473261"/>
              <a:gd name="connsiteY1" fmla="*/ 601134 h 601134"/>
              <a:gd name="connsiteX2" fmla="*/ 1473261 w 1473261"/>
              <a:gd name="connsiteY2" fmla="*/ 601134 h 601134"/>
              <a:gd name="connsiteX0" fmla="*/ 0 w 1473261"/>
              <a:gd name="connsiteY0" fmla="*/ 0 h 601134"/>
              <a:gd name="connsiteX1" fmla="*/ 1473261 w 1473261"/>
              <a:gd name="connsiteY1" fmla="*/ 601134 h 601134"/>
              <a:gd name="connsiteX2" fmla="*/ 1473261 w 1473261"/>
              <a:gd name="connsiteY2" fmla="*/ 601134 h 601134"/>
              <a:gd name="connsiteX0" fmla="*/ 0 w 1473261"/>
              <a:gd name="connsiteY0" fmla="*/ 72918 h 674052"/>
              <a:gd name="connsiteX1" fmla="*/ 1473261 w 1473261"/>
              <a:gd name="connsiteY1" fmla="*/ 674052 h 674052"/>
              <a:gd name="connsiteX2" fmla="*/ 1037065 w 1473261"/>
              <a:gd name="connsiteY2" fmla="*/ 0 h 674052"/>
              <a:gd name="connsiteX0" fmla="*/ 0 w 1037065"/>
              <a:gd name="connsiteY0" fmla="*/ 72918 h 647824"/>
              <a:gd name="connsiteX1" fmla="*/ 851681 w 1037065"/>
              <a:gd name="connsiteY1" fmla="*/ 646778 h 647824"/>
              <a:gd name="connsiteX2" fmla="*/ 1037065 w 1037065"/>
              <a:gd name="connsiteY2" fmla="*/ 0 h 647824"/>
              <a:gd name="connsiteX0" fmla="*/ 0 w 1037065"/>
              <a:gd name="connsiteY0" fmla="*/ 72918 h 72918"/>
              <a:gd name="connsiteX1" fmla="*/ 1037065 w 1037065"/>
              <a:gd name="connsiteY1" fmla="*/ 0 h 72918"/>
              <a:gd name="connsiteX0" fmla="*/ 0 w 576333"/>
              <a:gd name="connsiteY0" fmla="*/ 2786 h 2786"/>
              <a:gd name="connsiteX1" fmla="*/ 576333 w 576333"/>
              <a:gd name="connsiteY1" fmla="*/ 0 h 2786"/>
              <a:gd name="connsiteX0" fmla="*/ 0 w 10000"/>
              <a:gd name="connsiteY0" fmla="*/ 10000 h 3633280"/>
              <a:gd name="connsiteX1" fmla="*/ 10000 w 10000"/>
              <a:gd name="connsiteY1" fmla="*/ 0 h 3633280"/>
              <a:gd name="connsiteX0" fmla="*/ 0 w 10000"/>
              <a:gd name="connsiteY0" fmla="*/ 10000 h 3986038"/>
              <a:gd name="connsiteX1" fmla="*/ 10000 w 10000"/>
              <a:gd name="connsiteY1" fmla="*/ 0 h 3986038"/>
              <a:gd name="connsiteX0" fmla="*/ 0 w 8628"/>
              <a:gd name="connsiteY0" fmla="*/ 0 h 4123298"/>
              <a:gd name="connsiteX1" fmla="*/ 8628 w 8628"/>
              <a:gd name="connsiteY1" fmla="*/ 199779 h 4123298"/>
              <a:gd name="connsiteX0" fmla="*/ 0 w 10000"/>
              <a:gd name="connsiteY0" fmla="*/ 0 h 9875"/>
              <a:gd name="connsiteX1" fmla="*/ 10000 w 10000"/>
              <a:gd name="connsiteY1" fmla="*/ 485 h 9875"/>
              <a:gd name="connsiteX0" fmla="*/ 0 w 10658"/>
              <a:gd name="connsiteY0" fmla="*/ 0 h 10000"/>
              <a:gd name="connsiteX1" fmla="*/ 10658 w 10658"/>
              <a:gd name="connsiteY1" fmla="*/ 491 h 10000"/>
              <a:gd name="connsiteX0" fmla="*/ 0 w 10658"/>
              <a:gd name="connsiteY0" fmla="*/ 0 h 8524"/>
              <a:gd name="connsiteX1" fmla="*/ 10658 w 10658"/>
              <a:gd name="connsiteY1" fmla="*/ 491 h 8524"/>
            </a:gdLst>
            <a:ahLst/>
            <a:cxnLst>
              <a:cxn ang="0">
                <a:pos x="connsiteX0" y="connsiteY0"/>
              </a:cxn>
              <a:cxn ang="0">
                <a:pos x="connsiteX1" y="connsiteY1"/>
              </a:cxn>
            </a:cxnLst>
            <a:rect l="l" t="t" r="r" b="b"/>
            <a:pathLst>
              <a:path w="10658" h="8524">
                <a:moveTo>
                  <a:pt x="0" y="0"/>
                </a:moveTo>
                <a:cubicBezTo>
                  <a:pt x="1725" y="3117"/>
                  <a:pt x="7837" y="17225"/>
                  <a:pt x="10658" y="491"/>
                </a:cubicBezTo>
              </a:path>
            </a:pathLst>
          </a:custGeom>
          <a:noFill/>
          <a:ln w="38100">
            <a:solidFill>
              <a:srgbClr val="30B5C5"/>
            </a:solidFill>
            <a:headEnd type="none"/>
            <a:tailEnd type="stealt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圆角矩形 75"/>
          <p:cNvSpPr/>
          <p:nvPr/>
        </p:nvSpPr>
        <p:spPr bwMode="gray">
          <a:xfrm>
            <a:off x="5715214" y="1730764"/>
            <a:ext cx="5925924" cy="368017"/>
          </a:xfrm>
          <a:prstGeom prst="roundRect">
            <a:avLst>
              <a:gd name="adj" fmla="val 9203"/>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核心交换机为用户网关、认证点及策略执行点（推荐应用方案）</a:t>
            </a:r>
          </a:p>
        </p:txBody>
      </p:sp>
      <p:sp>
        <p:nvSpPr>
          <p:cNvPr id="68" name="圆角矩形 75"/>
          <p:cNvSpPr/>
          <p:nvPr/>
        </p:nvSpPr>
        <p:spPr bwMode="gray">
          <a:xfrm>
            <a:off x="5715214" y="2153468"/>
            <a:ext cx="5925924" cy="2959011"/>
          </a:xfrm>
          <a:prstGeom prst="roundRect">
            <a:avLst>
              <a:gd name="adj" fmla="val 0"/>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nchorCtr="0"/>
          <a:lstStyle/>
          <a:p>
            <a:pPr marL="342900" indent="-342900">
              <a:lnSpc>
                <a:spcPts val="2400"/>
              </a:lnSpc>
              <a:spcAft>
                <a:spcPts val="600"/>
              </a:spcAft>
              <a:buFont typeface="+mj-lt"/>
              <a:buAutoNum type="arabicPeriod"/>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有线、无线用户的三层网关和认证点均规划为核心交换机，核心交换机也被规划为业务随行的策略执行点。</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42900" indent="-342900">
              <a:lnSpc>
                <a:spcPts val="2400"/>
              </a:lnSpc>
              <a:spcAft>
                <a:spcPts val="600"/>
              </a:spcAft>
              <a:buFont typeface="+mj-lt"/>
              <a:buAutoNum type="arabicPeriod"/>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由于策略执行点位置较高，因此在接入和汇聚交换机配置端口隔离，避免流量通过汇聚交换机或接入交换机直接互通。</a:t>
            </a:r>
          </a:p>
          <a:p>
            <a:pPr marL="342900" indent="-342900">
              <a:lnSpc>
                <a:spcPts val="2400"/>
              </a:lnSpc>
              <a:spcAft>
                <a:spcPts val="600"/>
              </a:spcAft>
              <a:buFont typeface="+mj-lt"/>
              <a:buAutoNum type="arabicPeriod"/>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用户互访及用户访问服务器等网络资源的策略执行点均在核心交换机。</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42900" indent="-342900">
              <a:lnSpc>
                <a:spcPts val="2400"/>
              </a:lnSpc>
              <a:spcAft>
                <a:spcPts val="600"/>
              </a:spcAft>
              <a:buFont typeface="+mj-lt"/>
              <a:buAutoNum type="arabicPeriod"/>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用户采用</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802.1X</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认证时，若认证点为核心交换机，需要在接入和汇聚交换机配置</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802.1X</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报文透传功能。</a:t>
            </a:r>
          </a:p>
        </p:txBody>
      </p:sp>
    </p:spTree>
    <p:extLst>
      <p:ext uri="{BB962C8B-B14F-4D97-AF65-F5344CB8AC3E}">
        <p14:creationId xmlns:p14="http://schemas.microsoft.com/office/powerpoint/2010/main" val="1567092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a:t>
            </a:r>
            <a:r>
              <a:rPr lang="zh-CN" altLang="en-US" dirty="0"/>
              <a:t>判断题</a:t>
            </a:r>
            <a:r>
              <a:rPr lang="en-US" altLang="zh-CN" dirty="0"/>
              <a:t>)</a:t>
            </a:r>
            <a:r>
              <a:rPr lang="zh-CN" altLang="en-US" dirty="0"/>
              <a:t>在业务随行中，策略执行点一定是认证点，一般部署在用户网关。</a:t>
            </a:r>
            <a:r>
              <a:rPr lang="en-US" altLang="zh-CN" dirty="0"/>
              <a:t>(     )</a:t>
            </a:r>
          </a:p>
          <a:p>
            <a:pPr lvl="1"/>
            <a:r>
              <a:rPr lang="zh-CN" altLang="en-US" dirty="0"/>
              <a:t>正确</a:t>
            </a:r>
            <a:endParaRPr lang="en-US" altLang="zh-CN" dirty="0"/>
          </a:p>
          <a:p>
            <a:pPr lvl="1"/>
            <a:r>
              <a:rPr lang="zh-CN" altLang="en-US" dirty="0"/>
              <a:t>错误</a:t>
            </a:r>
            <a:endParaRPr lang="en-US" altLang="zh-CN" dirty="0"/>
          </a:p>
          <a:p>
            <a:r>
              <a:rPr lang="en-US" altLang="zh-CN" dirty="0"/>
              <a:t>(</a:t>
            </a:r>
            <a:r>
              <a:rPr lang="zh-CN" altLang="en-US" dirty="0"/>
              <a:t>判断题</a:t>
            </a:r>
            <a:r>
              <a:rPr lang="en-US" altLang="zh-CN" dirty="0"/>
              <a:t>)</a:t>
            </a:r>
            <a:r>
              <a:rPr lang="zh-CN" altLang="en-US" dirty="0"/>
              <a:t>业务随行基于安全组进行策略管理及权限控制，需要在网络设计前期规划</a:t>
            </a:r>
            <a:r>
              <a:rPr lang="en-US" altLang="zh-CN" dirty="0"/>
              <a:t>VLAN</a:t>
            </a:r>
            <a:r>
              <a:rPr lang="zh-CN" altLang="en-US" dirty="0"/>
              <a:t>、</a:t>
            </a:r>
            <a:r>
              <a:rPr lang="en-US" altLang="zh-CN" dirty="0"/>
              <a:t>ACL</a:t>
            </a:r>
            <a:r>
              <a:rPr lang="zh-CN" altLang="en-US" dirty="0"/>
              <a:t>等规则。</a:t>
            </a:r>
            <a:r>
              <a:rPr lang="en-US" altLang="zh-CN" dirty="0"/>
              <a:t>(     )</a:t>
            </a:r>
          </a:p>
          <a:p>
            <a:pPr lvl="1"/>
            <a:r>
              <a:rPr lang="zh-CN" altLang="en-US" dirty="0"/>
              <a:t>正确</a:t>
            </a:r>
            <a:endParaRPr lang="en-US" altLang="zh-CN" dirty="0"/>
          </a:p>
          <a:p>
            <a:pPr lvl="1"/>
            <a:r>
              <a:rPr lang="zh-CN" altLang="en-US" dirty="0"/>
              <a:t>错误</a:t>
            </a:r>
            <a:endParaRPr lang="en-US" altLang="zh-CN" dirty="0"/>
          </a:p>
        </p:txBody>
      </p:sp>
    </p:spTree>
    <p:extLst>
      <p:ext uri="{BB962C8B-B14F-4D97-AF65-F5344CB8AC3E}">
        <p14:creationId xmlns:p14="http://schemas.microsoft.com/office/powerpoint/2010/main" val="42609889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t>业务随行将基于</a:t>
            </a:r>
            <a:r>
              <a:rPr lang="en-US" altLang="zh-CN" dirty="0"/>
              <a:t>IP</a:t>
            </a:r>
            <a:r>
              <a:rPr lang="zh-CN" altLang="en-US" dirty="0"/>
              <a:t>的策略抽象为基于“用户语言”的策略，而这种策略部署方式是基于安全组实现的。业务随行通过安全组实现了策略和</a:t>
            </a:r>
            <a:r>
              <a:rPr lang="en-US" altLang="zh-CN" dirty="0"/>
              <a:t>IP</a:t>
            </a:r>
            <a:r>
              <a:rPr lang="zh-CN" altLang="en-US" dirty="0"/>
              <a:t>地址的解耦，能够让网络管理员无须感知用户具体</a:t>
            </a:r>
            <a:r>
              <a:rPr lang="en-US" altLang="zh-CN" dirty="0"/>
              <a:t>IP</a:t>
            </a:r>
            <a:r>
              <a:rPr lang="zh-CN" altLang="en-US" dirty="0"/>
              <a:t>地址即可实现安全组的策略管控。</a:t>
            </a:r>
            <a:endParaRPr lang="en-US" altLang="zh-CN" dirty="0"/>
          </a:p>
          <a:p>
            <a:r>
              <a:rPr lang="zh-CN" altLang="en-US" dirty="0"/>
              <a:t>将相同类型和权限的网络对象抽象成安全组，安全组里的成员既可以是</a:t>
            </a:r>
            <a:r>
              <a:rPr lang="en-US" altLang="zh-CN" dirty="0"/>
              <a:t>PC</a:t>
            </a:r>
            <a:r>
              <a:rPr lang="zh-CN" altLang="en-US" dirty="0"/>
              <a:t>、手机等终端，也可以是打印机、服务器。通过安全组完成网络对象的分类后，通过安全组策略定义该安全组能享受的网络服务，包括访问权限、应用控制等。</a:t>
            </a:r>
          </a:p>
        </p:txBody>
      </p:sp>
    </p:spTree>
    <p:extLst>
      <p:ext uri="{BB962C8B-B14F-4D97-AF65-F5344CB8AC3E}">
        <p14:creationId xmlns:p14="http://schemas.microsoft.com/office/powerpoint/2010/main" val="28959039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90286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ICON" val="#134301;"/>
</p:tagLst>
</file>

<file path=ppt/theme/theme1.xml><?xml version="1.0" encoding="utf-8"?>
<a:theme xmlns:a="http://schemas.openxmlformats.org/drawingml/2006/main" name="1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文档" ma:contentTypeID="0x01010002C5B4B712841F4C8A7AAEE2CD191271" ma:contentTypeVersion="1" ma:contentTypeDescription="新建文档。" ma:contentTypeScope="" ma:versionID="e3584c25149db5ebf399a1149e351fb6">
  <xsd:schema xmlns:xsd="http://www.w3.org/2001/XMLSchema" xmlns:xs="http://www.w3.org/2001/XMLSchema" xmlns:p="http://schemas.microsoft.com/office/2006/metadata/properties" xmlns:ns2="475f1e55-3009-46d8-9566-5d569a2b3a98" targetNamespace="http://schemas.microsoft.com/office/2006/metadata/properties" ma:root="true" ma:fieldsID="e872da27d3e632afd91cf7694db677c0"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共享对象:"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8613B93-AC69-4EA1-83C9-0AF0E43795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5f1e55-3009-46d8-9566-5d569a2b3a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EDE263F-0510-4442-823E-69B63ECB61E1}">
  <ds:schemaRefs>
    <ds:schemaRef ds:uri="http://schemas.microsoft.com/sharepoint/v3/contenttype/forms"/>
  </ds:schemaRefs>
</ds:datastoreItem>
</file>

<file path=customXml/itemProps3.xml><?xml version="1.0" encoding="utf-8"?>
<ds:datastoreItem xmlns:ds="http://schemas.openxmlformats.org/officeDocument/2006/customXml" ds:itemID="{DA5960F2-6186-408B-A0DC-5CA5E58B604F}">
  <ds:schemaRefs>
    <ds:schemaRef ds:uri="http://purl.org/dc/elements/1.1/"/>
    <ds:schemaRef ds:uri="http://www.w3.org/XML/1998/namespace"/>
    <ds:schemaRef ds:uri="http://schemas.microsoft.com/office/2006/documentManagement/types"/>
    <ds:schemaRef ds:uri="http://purl.org/dc/terms/"/>
    <ds:schemaRef ds:uri="http://purl.org/dc/dcmitype/"/>
    <ds:schemaRef ds:uri="http://schemas.microsoft.com/office/infopath/2007/PartnerControls"/>
    <ds:schemaRef ds:uri="http://schemas.openxmlformats.org/package/2006/metadata/core-properties"/>
    <ds:schemaRef ds:uri="475f1e55-3009-46d8-9566-5d569a2b3a98"/>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1845</TotalTime>
  <Words>6403</Words>
  <Application>Microsoft Office PowerPoint</Application>
  <PresentationFormat>宽屏</PresentationFormat>
  <Paragraphs>620</Paragraphs>
  <Slides>33</Slides>
  <Notes>33</Notes>
  <HiddenSlides>1</HiddenSlides>
  <MMClips>0</MMClips>
  <ScaleCrop>false</ScaleCrop>
  <HeadingPairs>
    <vt:vector size="6" baseType="variant">
      <vt:variant>
        <vt:lpstr>已用的字体</vt:lpstr>
      </vt:variant>
      <vt:variant>
        <vt:i4>5</vt:i4>
      </vt:variant>
      <vt:variant>
        <vt:lpstr>主题</vt:lpstr>
      </vt:variant>
      <vt:variant>
        <vt:i4>4</vt:i4>
      </vt:variant>
      <vt:variant>
        <vt:lpstr>幻灯片标题</vt:lpstr>
      </vt:variant>
      <vt:variant>
        <vt:i4>33</vt:i4>
      </vt:variant>
    </vt:vector>
  </HeadingPairs>
  <TitlesOfParts>
    <vt:vector size="42" baseType="lpstr">
      <vt:lpstr>Huawei Sans</vt:lpstr>
      <vt:lpstr>Microsoft YaHei</vt:lpstr>
      <vt:lpstr>Microsoft YaHei</vt:lpstr>
      <vt:lpstr>Arial</vt:lpstr>
      <vt:lpstr>Wingdings</vt:lpstr>
      <vt:lpstr>1_标题页模板</vt:lpstr>
      <vt:lpstr>2_功能页模板</vt:lpstr>
      <vt:lpstr>3_内容页模板</vt:lpstr>
      <vt:lpstr>4_感谢页模板</vt:lpstr>
      <vt:lpstr>PowerPoint 演示文稿</vt:lpstr>
      <vt:lpstr>业务随行</vt:lpstr>
      <vt:lpstr>PowerPoint 演示文稿</vt:lpstr>
      <vt:lpstr>PowerPoint 演示文稿</vt:lpstr>
      <vt:lpstr>PowerPoint 演示文稿</vt:lpstr>
      <vt:lpstr>用户在网络中的移动性需求</vt:lpstr>
      <vt:lpstr>传统方案：通过NAC技术结合VLAN和ACL实现</vt:lpstr>
      <vt:lpstr>业务随行概述</vt:lpstr>
      <vt:lpstr>业务随行的基本流程</vt:lpstr>
      <vt:lpstr>传统方案与业务随行方案的区别</vt:lpstr>
      <vt:lpstr>业务随行的基本概念：认证与策略执行</vt:lpstr>
      <vt:lpstr>业务随行的基本概念：安全组 (1)</vt:lpstr>
      <vt:lpstr>业务随行的基本概念：安全组 (2)</vt:lpstr>
      <vt:lpstr>业务随行的基本概念：UCL组</vt:lpstr>
      <vt:lpstr>业务随行的基本概念：资源组</vt:lpstr>
      <vt:lpstr>业务随行的基本概念：策略控制矩阵</vt:lpstr>
      <vt:lpstr>业务随行的基本概念：IP-Group表项订阅</vt:lpstr>
      <vt:lpstr>PowerPoint 演示文稿</vt:lpstr>
      <vt:lpstr>业务随行工作原理概述</vt:lpstr>
      <vt:lpstr>业务随行工作原理详解 (1)</vt:lpstr>
      <vt:lpstr>业务随行工作原理详解 (2)</vt:lpstr>
      <vt:lpstr>业务随行工作原理详解 (3)</vt:lpstr>
      <vt:lpstr>业务随行工作原理详解 (4)</vt:lpstr>
      <vt:lpstr>业务随行工作原理详解 (5)</vt:lpstr>
      <vt:lpstr>PowerPoint 演示文稿</vt:lpstr>
      <vt:lpstr>安全组设计</vt:lpstr>
      <vt:lpstr>权限控制设计</vt:lpstr>
      <vt:lpstr>用户认证设计</vt:lpstr>
      <vt:lpstr>认证点和策略执行点位置选择</vt:lpstr>
      <vt:lpstr>典型业务随行设计方案</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junpeng he</cp:lastModifiedBy>
  <cp:revision>269</cp:revision>
  <cp:lastPrinted>2020-07-31T09:33:18Z</cp:lastPrinted>
  <dcterms:created xsi:type="dcterms:W3CDTF">2018-11-29T10:16:29Z</dcterms:created>
  <dcterms:modified xsi:type="dcterms:W3CDTF">2023-04-16T02:01:29Z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(3)JmntVAvdzS87Kc48On0isEhECuGuXzvW/ZUxxS7nRRLLKbG1bzHHlxp/dg2kFVEff/RPFZs3
df/Ig/DJSvwt1aaezHfUbbupjM4suKVe0ZPCk7+lvoNn/qru8s492x6kYtKsbBMD8x3q+3mh
Ih06zTjlpJryXFGKnhDhkRJmHo7FtnjvYxcKrf0pPUNdgMj7/c68noPQFI6gyS1qJ0YKDn7k
HwVPIZ0onSR48AECte</vt:lpwstr>
  </property>
  <property fmtid="{D5CDD505-2E9C-101B-9397-08002B2CF9AE}" pid="3" name="_2015_ms_pID_7253431">
    <vt:lpwstr>+h8c+h5I1GJgp2L330XxLAVuTmO9L3bRWcEIGNbVZrgf2hFaIFsvyF
c46Gks2AjRsmCIb0URrEQAy7pubPEWVdYHSe+u3dYdY5MXJ5weZ8vcN07zC82Qxm6TLbjjcE
dXSw3qBuHi94RquwMoPhTxOyXR+ICxr3epgVjOwbTGFwe6FUx/XgAhGHgVKHcy4Qc9yDhu2L
WgstPZr1KVAc6LsDNl1l0MNVLwPINrGdMRs3</vt:lpwstr>
  </property>
  <property fmtid="{D5CDD505-2E9C-101B-9397-08002B2CF9AE}" pid="4" name="_2015_ms_pID_7253432">
    <vt:lpwstr>tClpXx6JIzfv/yNWHg4z5Cw=</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1634024950</vt:lpwstr>
  </property>
</Properties>
</file>