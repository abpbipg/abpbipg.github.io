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3.xml" ContentType="application/vnd.openxmlformats-officedocument.theme+xml"/>
  <Override PartName="/ppt/slideLayouts/slideLayout1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1.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2.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3.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4.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5.xml" ContentType="application/vnd.openxmlformats-officedocument.presentationml.tags+xml"/>
  <Override PartName="/ppt/notesSlides/notesSlide26.xml" ContentType="application/vnd.openxmlformats-officedocument.presentationml.notesSlide+xml"/>
  <Override PartName="/ppt/tags/tag6.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872" r:id="rId4"/>
    <p:sldMasterId id="2147483874" r:id="rId5"/>
    <p:sldMasterId id="2147483885" r:id="rId6"/>
    <p:sldMasterId id="2147483891" r:id="rId7"/>
  </p:sldMasterIdLst>
  <p:notesMasterIdLst>
    <p:notesMasterId r:id="rId62"/>
  </p:notesMasterIdLst>
  <p:handoutMasterIdLst>
    <p:handoutMasterId r:id="rId63"/>
  </p:handoutMasterIdLst>
  <p:sldIdLst>
    <p:sldId id="311"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Lst>
  <p:sldSz cx="12192000" cy="6858000"/>
  <p:notesSz cx="7010400" cy="9296400"/>
  <p:defaultTex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pos="3840" userDrawn="1">
          <p15:clr>
            <a:srgbClr val="A4A3A4"/>
          </p15:clr>
        </p15:guide>
        <p15:guide id="4" orient="horz" pos="2341" userDrawn="1">
          <p15:clr>
            <a:srgbClr val="A4A3A4"/>
          </p15:clr>
        </p15:guide>
        <p15:guide id="5" orient="horz" pos="686" userDrawn="1">
          <p15:clr>
            <a:srgbClr val="A4A3A4"/>
          </p15:clr>
        </p15:guide>
      </p15:sldGuideLst>
    </p:ext>
    <p:ext uri="{2D200454-40CA-4A62-9FC3-DE9A4176ACB9}">
      <p15:notesGuideLst xmlns:p15="http://schemas.microsoft.com/office/powerpoint/2012/main">
        <p15:guide id="1" orient="horz" userDrawn="1">
          <p15:clr>
            <a:srgbClr val="A4A3A4"/>
          </p15:clr>
        </p15:guide>
        <p15:guide id="2" pos="220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uyueyuezjhw" initials="l" lastIdx="33" clrIdx="0">
    <p:extLst>
      <p:ext uri="{19B8F6BF-5375-455C-9EA6-DF929625EA0E}">
        <p15:presenceInfo xmlns:p15="http://schemas.microsoft.com/office/powerpoint/2012/main" userId="S-1-5-21-147214757-305610072-1517763936-473611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0B5C5"/>
    <a:srgbClr val="F28944"/>
    <a:srgbClr val="FEEEC1"/>
    <a:srgbClr val="BEE9EE"/>
    <a:srgbClr val="56C4D2"/>
    <a:srgbClr val="62B230"/>
    <a:srgbClr val="FCC800"/>
    <a:srgbClr val="94DAE2"/>
    <a:srgbClr val="ADCDEA"/>
    <a:srgbClr val="4040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2833802-FEF1-4C79-8D5D-14CF1EAF98D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98" autoAdjust="0"/>
    <p:restoredTop sz="73241" autoAdjust="0"/>
  </p:normalViewPr>
  <p:slideViewPr>
    <p:cSldViewPr snapToGrid="0" snapToObjects="1">
      <p:cViewPr varScale="1">
        <p:scale>
          <a:sx n="85" d="100"/>
          <a:sy n="85" d="100"/>
        </p:scale>
        <p:origin x="3186" y="84"/>
      </p:cViewPr>
      <p:guideLst>
        <p:guide pos="3840"/>
        <p:guide orient="horz" pos="2341"/>
        <p:guide orient="horz" pos="686"/>
      </p:guideLst>
    </p:cSldViewPr>
  </p:slideViewPr>
  <p:outlineViewPr>
    <p:cViewPr>
      <p:scale>
        <a:sx n="33" d="100"/>
        <a:sy n="33" d="100"/>
      </p:scale>
      <p:origin x="0" y="-2754"/>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p:scale>
          <a:sx n="75" d="100"/>
          <a:sy n="75" d="100"/>
        </p:scale>
        <p:origin x="5580" y="426"/>
      </p:cViewPr>
      <p:guideLst>
        <p:guide orient="horz"/>
        <p:guide pos="2208"/>
      </p:guideLst>
    </p:cSldViewPr>
  </p:notesViewPr>
  <p:gridSpacing cx="72000" cy="72000"/>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slide" Target="slides/slide43.xml"/><Relationship Id="rId55" Type="http://schemas.openxmlformats.org/officeDocument/2006/relationships/slide" Target="slides/slide48.xml"/><Relationship Id="rId63" Type="http://schemas.openxmlformats.org/officeDocument/2006/relationships/handoutMaster" Target="handoutMasters/handoutMaster1.xml"/><Relationship Id="rId68"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slide" Target="slides/slide51.xml"/><Relationship Id="rId66" Type="http://schemas.openxmlformats.org/officeDocument/2006/relationships/viewProps" Target="viewProps.xml"/><Relationship Id="rId5" Type="http://schemas.openxmlformats.org/officeDocument/2006/relationships/slideMaster" Target="slideMasters/slideMaster2.xml"/><Relationship Id="rId61" Type="http://schemas.openxmlformats.org/officeDocument/2006/relationships/slide" Target="slides/slide54.xml"/><Relationship Id="rId19" Type="http://schemas.openxmlformats.org/officeDocument/2006/relationships/slide" Target="slides/slide1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slide" Target="slides/slide49.xml"/><Relationship Id="rId64" Type="http://schemas.openxmlformats.org/officeDocument/2006/relationships/commentAuthors" Target="commentAuthors.xml"/><Relationship Id="rId8" Type="http://schemas.openxmlformats.org/officeDocument/2006/relationships/slide" Target="slides/slide1.xml"/><Relationship Id="rId51" Type="http://schemas.openxmlformats.org/officeDocument/2006/relationships/slide" Target="slides/slide44.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 Id="rId67" Type="http://schemas.openxmlformats.org/officeDocument/2006/relationships/theme" Target="theme/theme1.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8CC198DB-AFBD-584A-8986-364FF2B03F46}"/>
              </a:ext>
            </a:extLst>
          </p:cNvPr>
          <p:cNvSpPr>
            <a:spLocks noGrp="1"/>
          </p:cNvSpPr>
          <p:nvPr>
            <p:ph type="hdr" sz="quarter"/>
          </p:nvPr>
        </p:nvSpPr>
        <p:spPr>
          <a:xfrm>
            <a:off x="0" y="0"/>
            <a:ext cx="3037840" cy="466435"/>
          </a:xfrm>
          <a:prstGeom prst="rect">
            <a:avLst/>
          </a:prstGeom>
        </p:spPr>
        <p:txBody>
          <a:bodyPr vert="horz" lIns="91440" tIns="45720" rIns="91440" bIns="45720" rtlCol="0"/>
          <a:lstStyle>
            <a:lvl1pPr algn="l">
              <a:defRPr sz="1200"/>
            </a:lvl1pPr>
          </a:lstStyle>
          <a:p>
            <a:endParaRPr lang="en-US" dirty="0">
              <a:latin typeface="Huawei Sans" panose="020C0503030203020204" pitchFamily="34" charset="0"/>
            </a:endParaRPr>
          </a:p>
        </p:txBody>
      </p:sp>
      <p:sp>
        <p:nvSpPr>
          <p:cNvPr id="3" name="Date Placeholder 2">
            <a:extLst>
              <a:ext uri="{FF2B5EF4-FFF2-40B4-BE49-F238E27FC236}">
                <a16:creationId xmlns:a16="http://schemas.microsoft.com/office/drawing/2014/main" xmlns="" id="{AD01315C-523F-A043-8029-B9921497126E}"/>
              </a:ext>
            </a:extLst>
          </p:cNvPr>
          <p:cNvSpPr>
            <a:spLocks noGrp="1"/>
          </p:cNvSpPr>
          <p:nvPr>
            <p:ph type="dt" sz="quarter" idx="1"/>
          </p:nvPr>
        </p:nvSpPr>
        <p:spPr>
          <a:xfrm>
            <a:off x="3970938" y="0"/>
            <a:ext cx="3037840" cy="466435"/>
          </a:xfrm>
          <a:prstGeom prst="rect">
            <a:avLst/>
          </a:prstGeom>
        </p:spPr>
        <p:txBody>
          <a:bodyPr vert="horz" lIns="91440" tIns="45720" rIns="91440" bIns="45720" rtlCol="0"/>
          <a:lstStyle>
            <a:lvl1pPr algn="r">
              <a:defRPr sz="1200"/>
            </a:lvl1pPr>
          </a:lstStyle>
          <a:p>
            <a:fld id="{E8CF71B8-DF2A-2E41-BE66-2E18A767DA8A}" type="datetimeFigureOut">
              <a:rPr lang="en-US" smtClean="0">
                <a:latin typeface="Huawei Sans" panose="020C0503030203020204" pitchFamily="34" charset="0"/>
              </a:rPr>
              <a:t>10/21/2021</a:t>
            </a:fld>
            <a:endParaRPr lang="en-US" dirty="0">
              <a:latin typeface="Huawei Sans" panose="020C0503030203020204" pitchFamily="34" charset="0"/>
            </a:endParaRPr>
          </a:p>
        </p:txBody>
      </p:sp>
      <p:sp>
        <p:nvSpPr>
          <p:cNvPr id="4" name="Footer Placeholder 3">
            <a:extLst>
              <a:ext uri="{FF2B5EF4-FFF2-40B4-BE49-F238E27FC236}">
                <a16:creationId xmlns:a16="http://schemas.microsoft.com/office/drawing/2014/main" xmlns="" id="{B9601424-70F4-1643-8E3A-557A0258D6B6}"/>
              </a:ext>
            </a:extLst>
          </p:cNvPr>
          <p:cNvSpPr>
            <a:spLocks noGrp="1"/>
          </p:cNvSpPr>
          <p:nvPr>
            <p:ph type="ftr" sz="quarter" idx="2"/>
          </p:nvPr>
        </p:nvSpPr>
        <p:spPr>
          <a:xfrm>
            <a:off x="0" y="8829968"/>
            <a:ext cx="3037840" cy="466434"/>
          </a:xfrm>
          <a:prstGeom prst="rect">
            <a:avLst/>
          </a:prstGeom>
        </p:spPr>
        <p:txBody>
          <a:bodyPr vert="horz" lIns="91440" tIns="45720" rIns="91440" bIns="45720" rtlCol="0" anchor="b"/>
          <a:lstStyle>
            <a:lvl1pPr algn="l">
              <a:defRPr sz="1200"/>
            </a:lvl1pPr>
          </a:lstStyle>
          <a:p>
            <a:endParaRPr lang="en-US" dirty="0">
              <a:latin typeface="Huawei Sans" panose="020C0503030203020204" pitchFamily="34" charset="0"/>
            </a:endParaRPr>
          </a:p>
        </p:txBody>
      </p:sp>
      <p:sp>
        <p:nvSpPr>
          <p:cNvPr id="5" name="Slide Number Placeholder 4">
            <a:extLst>
              <a:ext uri="{FF2B5EF4-FFF2-40B4-BE49-F238E27FC236}">
                <a16:creationId xmlns:a16="http://schemas.microsoft.com/office/drawing/2014/main" xmlns="" id="{E85BF48A-FF5C-8145-95A7-EE66A87C73DF}"/>
              </a:ext>
            </a:extLst>
          </p:cNvPr>
          <p:cNvSpPr>
            <a:spLocks noGrp="1"/>
          </p:cNvSpPr>
          <p:nvPr>
            <p:ph type="sldNum" sz="quarter" idx="3"/>
          </p:nvPr>
        </p:nvSpPr>
        <p:spPr>
          <a:xfrm>
            <a:off x="3970938" y="8829968"/>
            <a:ext cx="3037840" cy="466434"/>
          </a:xfrm>
          <a:prstGeom prst="rect">
            <a:avLst/>
          </a:prstGeom>
        </p:spPr>
        <p:txBody>
          <a:bodyPr vert="horz" lIns="91440" tIns="45720" rIns="91440" bIns="45720" rtlCol="0" anchor="b"/>
          <a:lstStyle>
            <a:lvl1pPr algn="r">
              <a:defRPr sz="1200"/>
            </a:lvl1pPr>
          </a:lstStyle>
          <a:p>
            <a:fld id="{A35F0CC5-85BE-A64A-BD47-54C66F7E93E3}" type="slidenum">
              <a:rPr lang="en-US" smtClean="0">
                <a:latin typeface="Huawei Sans" panose="020C0503030203020204" pitchFamily="34" charset="0"/>
              </a:rPr>
              <a:t>‹#›</a:t>
            </a:fld>
            <a:endParaRPr lang="en-US" dirty="0">
              <a:latin typeface="Huawei Sans" panose="020C0503030203020204" pitchFamily="34" charset="0"/>
            </a:endParaRPr>
          </a:p>
        </p:txBody>
      </p:sp>
    </p:spTree>
    <p:extLst>
      <p:ext uri="{BB962C8B-B14F-4D97-AF65-F5344CB8AC3E}">
        <p14:creationId xmlns:p14="http://schemas.microsoft.com/office/powerpoint/2010/main" val="40190952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731838" y="717550"/>
            <a:ext cx="5580062" cy="3125788"/>
          </a:xfrm>
          <a:prstGeom prst="rect">
            <a:avLst/>
          </a:prstGeom>
          <a:noFill/>
          <a:ln w="12700">
            <a:solidFill>
              <a:prstClr val="black"/>
            </a:solidFill>
          </a:ln>
        </p:spPr>
        <p:txBody>
          <a:bodyPr vert="horz" lIns="91440" tIns="45720" rIns="91440" bIns="45720" rtlCol="0" anchor="ctr"/>
          <a:lstStyle/>
          <a:p>
            <a:pPr marL="0" lvl="0"/>
            <a:endParaRPr lang="en-US"/>
          </a:p>
        </p:txBody>
      </p:sp>
      <p:sp>
        <p:nvSpPr>
          <p:cNvPr id="5" name="Notes Placeholder 4"/>
          <p:cNvSpPr>
            <a:spLocks noGrp="1"/>
          </p:cNvSpPr>
          <p:nvPr>
            <p:ph type="body" sz="quarter" idx="3"/>
          </p:nvPr>
        </p:nvSpPr>
        <p:spPr>
          <a:xfrm>
            <a:off x="731838" y="4310765"/>
            <a:ext cx="5580062" cy="4784070"/>
          </a:xfrm>
          <a:prstGeom prst="rect">
            <a:avLst/>
          </a:prstGeom>
        </p:spPr>
        <p:txBody>
          <a:bodyPr vert="horz" lIns="97200" tIns="45720" rIns="9720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44632111"/>
      </p:ext>
    </p:extLst>
  </p:cSld>
  <p:clrMap bg1="lt1" tx1="dk1" bg2="lt2" tx2="dk2" accent1="accent1" accent2="accent2" accent3="accent3" accent4="accent4" accent5="accent5" accent6="accent6" hlink="hlink" folHlink="folHlink"/>
  <p:notesStyle>
    <a:lvl1pPr marL="180000" indent="-180000" algn="l" defTabSz="1219304" rtl="0" eaLnBrk="1" fontAlgn="ctr" latinLnBrk="0" hangingPunct="1">
      <a:lnSpc>
        <a:spcPct val="125000"/>
      </a:lnSpc>
      <a:spcAft>
        <a:spcPts val="600"/>
      </a:spcAft>
      <a:buFont typeface="Huawei Sans" panose="020C0503030203020204" pitchFamily="34" charset="0"/>
      <a:buChar char="•"/>
      <a:defRPr lang="en-US" sz="1100" kern="1200" baseline="0">
        <a:solidFill>
          <a:schemeClr val="tx1"/>
        </a:solidFill>
        <a:latin typeface="Huawei Sans" panose="020C0503030203020204" pitchFamily="34" charset="0"/>
        <a:ea typeface="方正兰亭黑简体" panose="02000000000000000000" pitchFamily="2" charset="-122"/>
        <a:cs typeface="+mn-cs"/>
      </a:defRPr>
    </a:lvl1pPr>
    <a:lvl2pPr marL="540000" indent="-180000" algn="l" defTabSz="1219304" rtl="0" eaLnBrk="1" fontAlgn="ctr" latinLnBrk="0" hangingPunct="1">
      <a:lnSpc>
        <a:spcPct val="125000"/>
      </a:lnSpc>
      <a:spcAft>
        <a:spcPts val="600"/>
      </a:spcAft>
      <a:buClrTx/>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2pPr>
    <a:lvl3pPr marL="900000" indent="-180000" algn="l" defTabSz="1219304" rtl="0" eaLnBrk="1" fontAlgn="ctr" latinLnBrk="0" hangingPunct="1">
      <a:lnSpc>
        <a:spcPct val="125000"/>
      </a:lnSpc>
      <a:spcAft>
        <a:spcPts val="600"/>
      </a:spcAft>
      <a:buFont typeface="微软雅黑" panose="020B0503020204020204" pitchFamily="34" charset="-122"/>
      <a:buChar char="▪"/>
      <a:defRPr sz="1100" kern="1200" baseline="0">
        <a:solidFill>
          <a:schemeClr val="tx1"/>
        </a:solidFill>
        <a:latin typeface="Huawei Sans" panose="020C0503030203020204" pitchFamily="34" charset="0"/>
        <a:ea typeface="方正兰亭黑简体" panose="02000000000000000000" pitchFamily="2" charset="-122"/>
        <a:cs typeface="+mn-cs"/>
      </a:defRPr>
    </a:lvl3pPr>
    <a:lvl4pPr marL="1260000" indent="-180000" algn="l" defTabSz="1219304" rtl="0" eaLnBrk="1" fontAlgn="ctr" latinLnBrk="0" hangingPunct="1">
      <a:lnSpc>
        <a:spcPct val="125000"/>
      </a:lnSpc>
      <a:spcAft>
        <a:spcPts val="600"/>
      </a:spcAft>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4pPr>
    <a:lvl5pPr marL="1620000" indent="-180000" algn="l" defTabSz="1219304" rtl="0" eaLnBrk="1" fontAlgn="ctr" latinLnBrk="0" hangingPunct="1">
      <a:lnSpc>
        <a:spcPct val="125000"/>
      </a:lnSpc>
      <a:spcAft>
        <a:spcPts val="600"/>
      </a:spcAft>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5pPr>
    <a:lvl6pPr marL="3048261" algn="l" defTabSz="1219304" rtl="0" eaLnBrk="1" latinLnBrk="0" hangingPunct="1">
      <a:defRPr sz="1600" kern="1200">
        <a:solidFill>
          <a:schemeClr val="tx1"/>
        </a:solidFill>
        <a:latin typeface="+mn-lt"/>
        <a:ea typeface="+mn-ea"/>
        <a:cs typeface="+mn-cs"/>
      </a:defRPr>
    </a:lvl6pPr>
    <a:lvl7pPr marL="3657913" algn="l" defTabSz="1219304" rtl="0" eaLnBrk="1" latinLnBrk="0" hangingPunct="1">
      <a:defRPr sz="1600" kern="1200">
        <a:solidFill>
          <a:schemeClr val="tx1"/>
        </a:solidFill>
        <a:latin typeface="+mn-lt"/>
        <a:ea typeface="+mn-ea"/>
        <a:cs typeface="+mn-cs"/>
      </a:defRPr>
    </a:lvl7pPr>
    <a:lvl8pPr marL="4267566" algn="l" defTabSz="1219304" rtl="0" eaLnBrk="1" latinLnBrk="0" hangingPunct="1">
      <a:defRPr sz="1600" kern="1200">
        <a:solidFill>
          <a:schemeClr val="tx1"/>
        </a:solidFill>
        <a:latin typeface="+mn-lt"/>
        <a:ea typeface="+mn-ea"/>
        <a:cs typeface="+mn-cs"/>
      </a:defRPr>
    </a:lvl8pPr>
    <a:lvl9pPr marL="4877219" algn="l" defTabSz="1219304" rtl="0" eaLnBrk="1" latinLnBrk="0" hangingPunct="1">
      <a:defRPr sz="1600" kern="1200">
        <a:solidFill>
          <a:schemeClr val="tx1"/>
        </a:solidFill>
        <a:latin typeface="+mn-lt"/>
        <a:ea typeface="+mn-ea"/>
        <a:cs typeface="+mn-cs"/>
      </a:defRPr>
    </a:lvl9pPr>
  </p:notesStyle>
  <p:extLst mod="1">
    <p:ext uri="{620B2872-D7B9-4A21-9093-7833F8D536E1}">
      <p15:sldGuideLst xmlns:p15="http://schemas.microsoft.com/office/powerpoint/2012/main">
        <p15:guide id="2" orient="horz" pos="2704" userDrawn="1">
          <p15:clr>
            <a:srgbClr val="F26B43"/>
          </p15:clr>
        </p15:guide>
        <p15:guide id="3" orient="horz" pos="459" userDrawn="1">
          <p15:clr>
            <a:srgbClr val="F26B43"/>
          </p15:clr>
        </p15:guide>
        <p15:guide id="4" orient="horz" pos="2432" userDrawn="1">
          <p15:clr>
            <a:srgbClr val="F26B43"/>
          </p15:clr>
        </p15:guide>
        <p15:guide id="7" pos="461" userDrawn="1">
          <p15:clr>
            <a:srgbClr val="F26B43"/>
          </p15:clr>
        </p15:guide>
        <p15:guide id="9" pos="2207" userDrawn="1">
          <p15:clr>
            <a:srgbClr val="F26B43"/>
          </p15:clr>
        </p15:guide>
        <p15:guide id="10" pos="3976"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4453165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4959775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smtClean="0"/>
              <a:t>注：在后续内容中，除非特别指出，否则</a:t>
            </a:r>
            <a:r>
              <a:rPr lang="en-US" altLang="zh-CN" dirty="0" smtClean="0"/>
              <a:t>MPLS VPN</a:t>
            </a:r>
            <a:r>
              <a:rPr lang="zh-CN" altLang="en-US" dirty="0" smtClean="0"/>
              <a:t>即指</a:t>
            </a:r>
            <a:r>
              <a:rPr lang="en-US" altLang="zh-CN" dirty="0" smtClean="0"/>
              <a:t>BGP/MPLS IP VPN</a:t>
            </a:r>
            <a:r>
              <a:rPr lang="zh-CN" altLang="en-US" dirty="0" smtClean="0"/>
              <a:t>。</a:t>
            </a:r>
            <a:endParaRPr lang="en-US" altLang="zh-CN" dirty="0" smtClean="0"/>
          </a:p>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7918246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3371270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0273787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7708999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a:lnSpc>
                <a:spcPct val="100000"/>
              </a:lnSpc>
            </a:pPr>
            <a:r>
              <a:rPr lang="en-US" altLang="zh-CN" dirty="0" smtClean="0"/>
              <a:t>CE</a:t>
            </a:r>
            <a:r>
              <a:rPr lang="zh-CN" altLang="en-US" dirty="0" smtClean="0"/>
              <a:t>：用户网络边缘设备，有接口直接与运营商网络相连。</a:t>
            </a:r>
            <a:r>
              <a:rPr lang="en-US" altLang="zh-CN" dirty="0" smtClean="0"/>
              <a:t>CE</a:t>
            </a:r>
            <a:r>
              <a:rPr lang="zh-CN" altLang="en-US" dirty="0" smtClean="0"/>
              <a:t>可以是路由器或交换机，也可以是一台主机。通常情况下，</a:t>
            </a:r>
            <a:r>
              <a:rPr lang="en-US" altLang="zh-CN" dirty="0" smtClean="0"/>
              <a:t>CE</a:t>
            </a:r>
            <a:r>
              <a:rPr lang="zh-CN" altLang="en-US" dirty="0" smtClean="0"/>
              <a:t>不“感知”</a:t>
            </a:r>
            <a:r>
              <a:rPr lang="en-US" altLang="zh-CN" dirty="0" smtClean="0"/>
              <a:t>VPN</a:t>
            </a:r>
            <a:r>
              <a:rPr lang="zh-CN" altLang="en-US" dirty="0" smtClean="0"/>
              <a:t>的存在，也不需要支持</a:t>
            </a:r>
            <a:r>
              <a:rPr lang="en-US" altLang="zh-CN" dirty="0" smtClean="0"/>
              <a:t>MPLS</a:t>
            </a:r>
            <a:r>
              <a:rPr lang="zh-CN" altLang="en-US" dirty="0" smtClean="0"/>
              <a:t>。</a:t>
            </a:r>
          </a:p>
          <a:p>
            <a:pPr>
              <a:lnSpc>
                <a:spcPct val="100000"/>
              </a:lnSpc>
            </a:pPr>
            <a:r>
              <a:rPr lang="en-US" altLang="zh-CN" dirty="0" smtClean="0"/>
              <a:t>PE</a:t>
            </a:r>
            <a:r>
              <a:rPr lang="zh-CN" altLang="en-US" dirty="0" smtClean="0"/>
              <a:t>：运营商边缘路由器，是运营商网络的边缘设备，与</a:t>
            </a:r>
            <a:r>
              <a:rPr lang="en-US" altLang="zh-CN" dirty="0" smtClean="0"/>
              <a:t>CE</a:t>
            </a:r>
            <a:r>
              <a:rPr lang="zh-CN" altLang="en-US" dirty="0" smtClean="0"/>
              <a:t>直接相连。在</a:t>
            </a:r>
            <a:r>
              <a:rPr lang="en-US" altLang="zh-CN" dirty="0" smtClean="0"/>
              <a:t>MPLS</a:t>
            </a:r>
            <a:r>
              <a:rPr lang="zh-CN" altLang="en-US" dirty="0" smtClean="0"/>
              <a:t>网络中，对</a:t>
            </a:r>
            <a:r>
              <a:rPr lang="en-US" altLang="zh-CN" dirty="0" smtClean="0"/>
              <a:t>VPN</a:t>
            </a:r>
            <a:r>
              <a:rPr lang="zh-CN" altLang="en-US" dirty="0" smtClean="0"/>
              <a:t>的所有处理都发生在</a:t>
            </a:r>
            <a:r>
              <a:rPr lang="en-US" altLang="zh-CN" dirty="0" smtClean="0"/>
              <a:t>PE</a:t>
            </a:r>
            <a:r>
              <a:rPr lang="zh-CN" altLang="en-US" dirty="0" smtClean="0"/>
              <a:t>上，对</a:t>
            </a:r>
            <a:r>
              <a:rPr lang="en-US" altLang="zh-CN" dirty="0" smtClean="0"/>
              <a:t>PE</a:t>
            </a:r>
            <a:r>
              <a:rPr lang="zh-CN" altLang="en-US" dirty="0" smtClean="0"/>
              <a:t>性能要求较高。</a:t>
            </a:r>
          </a:p>
          <a:p>
            <a:pPr>
              <a:lnSpc>
                <a:spcPct val="100000"/>
              </a:lnSpc>
            </a:pPr>
            <a:r>
              <a:rPr lang="en-US" altLang="zh-CN" dirty="0" smtClean="0"/>
              <a:t>P</a:t>
            </a:r>
            <a:r>
              <a:rPr lang="zh-CN" altLang="en-US" dirty="0" smtClean="0"/>
              <a:t>：运营商网络中的骨干路由器，不与</a:t>
            </a:r>
            <a:r>
              <a:rPr lang="en-US" altLang="zh-CN" dirty="0" smtClean="0"/>
              <a:t>CE</a:t>
            </a:r>
            <a:r>
              <a:rPr lang="zh-CN" altLang="en-US" dirty="0" smtClean="0"/>
              <a:t>直接相连。</a:t>
            </a:r>
            <a:r>
              <a:rPr lang="en-US" altLang="zh-CN" dirty="0" smtClean="0"/>
              <a:t>P</a:t>
            </a:r>
            <a:r>
              <a:rPr lang="zh-CN" altLang="en-US" dirty="0" smtClean="0"/>
              <a:t>设备只需要具备基本</a:t>
            </a:r>
            <a:r>
              <a:rPr lang="en-US" altLang="zh-CN" dirty="0" smtClean="0"/>
              <a:t>MPLS</a:t>
            </a:r>
            <a:r>
              <a:rPr lang="zh-CN" altLang="en-US" dirty="0" smtClean="0"/>
              <a:t>转发能力，不维护</a:t>
            </a:r>
            <a:r>
              <a:rPr lang="en-US" altLang="zh-CN" dirty="0" smtClean="0"/>
              <a:t>VPN</a:t>
            </a:r>
            <a:r>
              <a:rPr lang="zh-CN" altLang="en-US" dirty="0" smtClean="0"/>
              <a:t>相关信息。</a:t>
            </a:r>
            <a:endParaRPr lang="en-US" altLang="zh-CN" dirty="0" smtClean="0"/>
          </a:p>
          <a:p>
            <a:pPr>
              <a:lnSpc>
                <a:spcPct val="100000"/>
              </a:lnSpc>
            </a:pPr>
            <a:r>
              <a:rPr lang="zh-CN" altLang="en-US" dirty="0" smtClean="0"/>
              <a:t>站点的含义可以从下述几个方面理解：</a:t>
            </a:r>
            <a:endParaRPr lang="en-US" altLang="zh-CN" dirty="0" smtClean="0"/>
          </a:p>
          <a:p>
            <a:pPr lvl="1">
              <a:lnSpc>
                <a:spcPct val="100000"/>
              </a:lnSpc>
            </a:pPr>
            <a:r>
              <a:rPr lang="zh-CN" altLang="en-US" dirty="0" smtClean="0"/>
              <a:t>站点是指相互之间具备</a:t>
            </a:r>
            <a:r>
              <a:rPr lang="en-US" altLang="zh-CN" dirty="0" smtClean="0"/>
              <a:t>IP</a:t>
            </a:r>
            <a:r>
              <a:rPr lang="zh-CN" altLang="en-US" dirty="0" smtClean="0"/>
              <a:t>连通性的一组</a:t>
            </a:r>
            <a:r>
              <a:rPr lang="en-US" altLang="zh-CN" dirty="0" smtClean="0"/>
              <a:t>IP</a:t>
            </a:r>
            <a:r>
              <a:rPr lang="zh-CN" altLang="en-US" dirty="0" smtClean="0"/>
              <a:t>系统，并且这组</a:t>
            </a:r>
            <a:r>
              <a:rPr lang="en-US" altLang="zh-CN" dirty="0" smtClean="0"/>
              <a:t>IP</a:t>
            </a:r>
            <a:r>
              <a:rPr lang="zh-CN" altLang="en-US" dirty="0" smtClean="0"/>
              <a:t>系统的</a:t>
            </a:r>
            <a:r>
              <a:rPr lang="en-US" altLang="zh-CN" dirty="0" smtClean="0"/>
              <a:t>IP</a:t>
            </a:r>
            <a:r>
              <a:rPr lang="zh-CN" altLang="en-US" dirty="0" smtClean="0"/>
              <a:t>连通性不需通过运营商网络实现。</a:t>
            </a:r>
            <a:endParaRPr lang="en-US" altLang="zh-CN" dirty="0" smtClean="0"/>
          </a:p>
          <a:p>
            <a:pPr lvl="1">
              <a:lnSpc>
                <a:spcPct val="100000"/>
              </a:lnSpc>
            </a:pPr>
            <a:r>
              <a:rPr lang="zh-CN" altLang="en-US" dirty="0" smtClean="0"/>
              <a:t>站点的划分是根据设备的拓扑关系，而不是地理位置。如图所示，公司</a:t>
            </a:r>
            <a:r>
              <a:rPr lang="en-US" altLang="zh-CN" dirty="0" smtClean="0"/>
              <a:t>A</a:t>
            </a:r>
            <a:r>
              <a:rPr lang="zh-CN" altLang="en-US" dirty="0" smtClean="0"/>
              <a:t>的</a:t>
            </a:r>
            <a:r>
              <a:rPr lang="en-US" altLang="zh-CN" dirty="0" smtClean="0"/>
              <a:t>X</a:t>
            </a:r>
            <a:r>
              <a:rPr lang="zh-CN" altLang="en-US" dirty="0" smtClean="0"/>
              <a:t>省网络和公司</a:t>
            </a:r>
            <a:r>
              <a:rPr lang="en-US" altLang="zh-CN" dirty="0" smtClean="0"/>
              <a:t>A</a:t>
            </a:r>
            <a:r>
              <a:rPr lang="zh-CN" altLang="en-US" dirty="0" smtClean="0"/>
              <a:t>的</a:t>
            </a:r>
            <a:r>
              <a:rPr lang="en-US" altLang="zh-CN" dirty="0" smtClean="0"/>
              <a:t>Y</a:t>
            </a:r>
            <a:r>
              <a:rPr lang="zh-CN" altLang="en-US" dirty="0" smtClean="0"/>
              <a:t>省网络需要通过运营商的骨干网进行互联，所以它们被划分为两个站点。若在当前</a:t>
            </a:r>
            <a:r>
              <a:rPr lang="en-US" altLang="zh-CN" dirty="0" smtClean="0"/>
              <a:t>X</a:t>
            </a:r>
            <a:r>
              <a:rPr lang="zh-CN" altLang="en-US" dirty="0" smtClean="0"/>
              <a:t>省网络和</a:t>
            </a:r>
            <a:r>
              <a:rPr lang="en-US" altLang="zh-CN" dirty="0" smtClean="0"/>
              <a:t>Y</a:t>
            </a:r>
            <a:r>
              <a:rPr lang="zh-CN" altLang="en-US" dirty="0" smtClean="0"/>
              <a:t>省网络的</a:t>
            </a:r>
            <a:r>
              <a:rPr lang="en-US" altLang="zh-CN" dirty="0" smtClean="0"/>
              <a:t>CE</a:t>
            </a:r>
            <a:r>
              <a:rPr lang="zh-CN" altLang="en-US" dirty="0" smtClean="0"/>
              <a:t>之间增加一条物理专线，不需要通过运营商网络就可以互通，那么这两张网络就是一个站点。</a:t>
            </a:r>
            <a:endParaRPr lang="en-US" altLang="zh-CN" dirty="0" smtClean="0"/>
          </a:p>
          <a:p>
            <a:pPr>
              <a:lnSpc>
                <a:spcPct val="100000"/>
              </a:lnSpc>
            </a:pPr>
            <a:r>
              <a:rPr lang="zh-CN" altLang="en-US" dirty="0" smtClean="0"/>
              <a:t>站点与</a:t>
            </a:r>
            <a:r>
              <a:rPr lang="en-US" altLang="zh-CN" dirty="0" smtClean="0"/>
              <a:t>VPN</a:t>
            </a:r>
            <a:r>
              <a:rPr lang="zh-CN" altLang="en-US" dirty="0" smtClean="0"/>
              <a:t>的关系：</a:t>
            </a:r>
            <a:endParaRPr lang="en-US" altLang="zh-CN" dirty="0" smtClean="0"/>
          </a:p>
          <a:p>
            <a:pPr lvl="1">
              <a:lnSpc>
                <a:spcPct val="100000"/>
              </a:lnSpc>
            </a:pPr>
            <a:r>
              <a:rPr lang="zh-CN" altLang="en-US" dirty="0" smtClean="0"/>
              <a:t>对于多个连接到同一服务提供商网络的站点，通过制定策略，可以将它们划分为不同的集合，只有属于相同集合的站点之间才能通过服务提供商网络互访，这种集合就是</a:t>
            </a:r>
            <a:r>
              <a:rPr lang="en-US" altLang="zh-CN" dirty="0" smtClean="0"/>
              <a:t>VPN</a:t>
            </a:r>
            <a:r>
              <a:rPr lang="zh-CN" altLang="en-US" dirty="0" smtClean="0"/>
              <a:t>。</a:t>
            </a:r>
            <a:endParaRPr lang="en-US" altLang="zh-CN" dirty="0" smtClean="0"/>
          </a:p>
          <a:p>
            <a:pPr lvl="1">
              <a:lnSpc>
                <a:spcPct val="100000"/>
              </a:lnSpc>
            </a:pPr>
            <a:r>
              <a:rPr lang="zh-CN" altLang="en-US" dirty="0" smtClean="0"/>
              <a:t>一个</a:t>
            </a:r>
            <a:r>
              <a:rPr lang="en-US" altLang="zh-CN" dirty="0" smtClean="0"/>
              <a:t>Site</a:t>
            </a:r>
            <a:r>
              <a:rPr lang="zh-CN" altLang="en-US" dirty="0" smtClean="0"/>
              <a:t>中的设备可以属于多个</a:t>
            </a:r>
            <a:r>
              <a:rPr lang="en-US" altLang="zh-CN" dirty="0" smtClean="0"/>
              <a:t>VPN</a:t>
            </a:r>
            <a:r>
              <a:rPr lang="zh-CN" altLang="en-US" dirty="0" smtClean="0"/>
              <a:t>，换言之，一个</a:t>
            </a:r>
            <a:r>
              <a:rPr lang="en-US" altLang="zh-CN" dirty="0" smtClean="0"/>
              <a:t>Site</a:t>
            </a:r>
            <a:r>
              <a:rPr lang="zh-CN" altLang="en-US" dirty="0" smtClean="0"/>
              <a:t>可以属于多个</a:t>
            </a:r>
            <a:r>
              <a:rPr lang="en-US" altLang="zh-CN" dirty="0" smtClean="0"/>
              <a:t>VPN</a:t>
            </a:r>
            <a:r>
              <a:rPr lang="zh-CN" altLang="en-US" dirty="0" smtClean="0"/>
              <a:t>。</a:t>
            </a:r>
            <a:endParaRPr lang="en-US" altLang="zh-CN" dirty="0" smtClean="0"/>
          </a:p>
          <a:p>
            <a:pPr lvl="0">
              <a:lnSpc>
                <a:spcPct val="100000"/>
              </a:lnSpc>
            </a:pPr>
            <a:r>
              <a:rPr lang="zh-CN" altLang="en-US" dirty="0" smtClean="0"/>
              <a:t>注：也有可能出现站点为一台主机的情况，此时该主机就是</a:t>
            </a:r>
            <a:r>
              <a:rPr lang="en-US" altLang="zh-CN" dirty="0" smtClean="0"/>
              <a:t>CE</a:t>
            </a:r>
            <a:r>
              <a:rPr lang="zh-CN" altLang="en-US" dirty="0" smtClean="0"/>
              <a:t>设备。本课程仅讨论站点是一个或多个子网，用路由器或交换机作为</a:t>
            </a:r>
            <a:r>
              <a:rPr lang="en-US" altLang="zh-CN" dirty="0" smtClean="0"/>
              <a:t>CE</a:t>
            </a:r>
            <a:r>
              <a:rPr lang="zh-CN" altLang="en-US" dirty="0" smtClean="0"/>
              <a:t>的情况。</a:t>
            </a:r>
          </a:p>
          <a:p>
            <a:pPr>
              <a:lnSpc>
                <a:spcPct val="100000"/>
              </a:lnSpc>
            </a:pPr>
            <a:endParaRPr lang="zh-CN" altLang="en-US" dirty="0" smtClean="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0375275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smtClean="0"/>
              <a:t>MP-BGP</a:t>
            </a:r>
            <a:r>
              <a:rPr lang="zh-CN" altLang="en-US" smtClean="0"/>
              <a:t>（</a:t>
            </a:r>
            <a:r>
              <a:rPr lang="en-US" altLang="zh-CN" smtClean="0"/>
              <a:t>MultiProtocol BGP</a:t>
            </a:r>
            <a:r>
              <a:rPr lang="zh-CN" altLang="en-US" smtClean="0"/>
              <a:t>）：拓展的</a:t>
            </a:r>
            <a:r>
              <a:rPr lang="en-US" altLang="zh-CN" smtClean="0"/>
              <a:t>BGP</a:t>
            </a:r>
            <a:r>
              <a:rPr lang="zh-CN" altLang="en-US" smtClean="0"/>
              <a:t>协议，可提供对多种地址族的支持。</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9366815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smtClean="0"/>
              <a:t>MPLS TE</a:t>
            </a:r>
            <a:r>
              <a:rPr lang="zh-CN" altLang="en-US" smtClean="0"/>
              <a:t>（</a:t>
            </a:r>
            <a:r>
              <a:rPr lang="en-US" altLang="zh-CN" smtClean="0"/>
              <a:t>MPLS Traffic Engineering</a:t>
            </a:r>
            <a:r>
              <a:rPr lang="zh-CN" altLang="en-US" smtClean="0"/>
              <a:t>，</a:t>
            </a:r>
            <a:r>
              <a:rPr lang="en-US" altLang="zh-CN" smtClean="0"/>
              <a:t>MPLS</a:t>
            </a:r>
            <a:r>
              <a:rPr lang="zh-CN" altLang="en-US" smtClean="0"/>
              <a:t>流量工程）：基于一定约束条件</a:t>
            </a:r>
            <a:r>
              <a:rPr lang="en-US" altLang="zh-CN" smtClean="0"/>
              <a:t>LSP</a:t>
            </a:r>
            <a:r>
              <a:rPr lang="zh-CN" altLang="en-US" smtClean="0"/>
              <a:t>隧道，并将流量引入到这些隧道中进行转发，使网络流量按照指定的路径进行传输。可以在不进行硬件升级的情况下对现有网络资源进行合理调配和利用，并对网络流量提供带宽和</a:t>
            </a:r>
            <a:r>
              <a:rPr lang="en-US" altLang="zh-CN" smtClean="0"/>
              <a:t>QoS</a:t>
            </a:r>
            <a:r>
              <a:rPr lang="zh-CN" altLang="en-US" smtClean="0"/>
              <a:t>保证，最大限度的节省成本。</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9334581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smtClean="0"/>
              <a:t>Intranet</a:t>
            </a:r>
            <a:r>
              <a:rPr lang="zh-CN" altLang="en-US" smtClean="0"/>
              <a:t>组网是最简单也是最典型的</a:t>
            </a:r>
            <a:r>
              <a:rPr lang="en-US" altLang="zh-CN" smtClean="0"/>
              <a:t>MPLS VPN</a:t>
            </a:r>
            <a:r>
              <a:rPr lang="zh-CN" altLang="en-US" smtClean="0"/>
              <a:t>组网方案，后续课程将基于该组网方案对</a:t>
            </a:r>
            <a:r>
              <a:rPr lang="en-US" altLang="zh-CN" smtClean="0"/>
              <a:t>MPLS VPN</a:t>
            </a:r>
            <a:r>
              <a:rPr lang="zh-CN" altLang="en-US" smtClean="0"/>
              <a:t>技术原理展开介绍。</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3015589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4472269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489540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6354270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zh-CN" smtClean="0"/>
              <a:t>以下两种情况允许</a:t>
            </a:r>
            <a:r>
              <a:rPr lang="en-US" altLang="zh-CN" smtClean="0"/>
              <a:t>VPN</a:t>
            </a:r>
            <a:r>
              <a:rPr lang="zh-CN" altLang="zh-CN" smtClean="0"/>
              <a:t>使用重叠的地址空间：</a:t>
            </a:r>
          </a:p>
          <a:p>
            <a:pPr lvl="1"/>
            <a:r>
              <a:rPr lang="zh-CN" altLang="zh-CN" smtClean="0"/>
              <a:t>两个</a:t>
            </a:r>
            <a:r>
              <a:rPr lang="en-US" altLang="zh-CN" smtClean="0"/>
              <a:t>VPN</a:t>
            </a:r>
            <a:r>
              <a:rPr lang="zh-CN" altLang="zh-CN" smtClean="0"/>
              <a:t>没有共同的</a:t>
            </a:r>
            <a:r>
              <a:rPr lang="zh-CN" altLang="en-US" smtClean="0"/>
              <a:t>站点</a:t>
            </a:r>
            <a:r>
              <a:rPr lang="zh-CN" altLang="zh-CN" smtClean="0"/>
              <a:t>；</a:t>
            </a:r>
          </a:p>
          <a:p>
            <a:pPr lvl="1"/>
            <a:r>
              <a:rPr lang="zh-CN" altLang="zh-CN" smtClean="0"/>
              <a:t>两个</a:t>
            </a:r>
            <a:r>
              <a:rPr lang="en-US" altLang="zh-CN" smtClean="0"/>
              <a:t>VPN</a:t>
            </a:r>
            <a:r>
              <a:rPr lang="zh-CN" altLang="zh-CN" smtClean="0"/>
              <a:t>有共同的</a:t>
            </a:r>
            <a:r>
              <a:rPr lang="zh-CN" altLang="en-US" smtClean="0"/>
              <a:t>站点</a:t>
            </a:r>
            <a:r>
              <a:rPr lang="zh-CN" altLang="zh-CN" smtClean="0"/>
              <a:t>，但此</a:t>
            </a:r>
            <a:r>
              <a:rPr lang="zh-CN" altLang="en-US" smtClean="0"/>
              <a:t>共同站点</a:t>
            </a:r>
            <a:r>
              <a:rPr lang="zh-CN" altLang="zh-CN" smtClean="0"/>
              <a:t>中的设备不与两个</a:t>
            </a:r>
            <a:r>
              <a:rPr lang="en-US" altLang="zh-CN" smtClean="0"/>
              <a:t>VPN</a:t>
            </a:r>
            <a:r>
              <a:rPr lang="zh-CN" altLang="zh-CN" smtClean="0"/>
              <a:t>中使用重叠地址空间的设备互访。</a:t>
            </a:r>
            <a:endParaRPr lang="en-US" altLang="zh-CN" smtClean="0"/>
          </a:p>
          <a:p>
            <a:pPr lvl="0"/>
            <a:endParaRPr lang="zh-CN" altLang="zh-CN" smtClean="0"/>
          </a:p>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307630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mtClean="0"/>
              <a:t>有关</a:t>
            </a:r>
            <a:r>
              <a:rPr lang="en-US" altLang="zh-CN" smtClean="0"/>
              <a:t>VRF</a:t>
            </a:r>
            <a:r>
              <a:rPr lang="zh-CN" altLang="en-US" smtClean="0"/>
              <a:t>技术更详细的内容，请参考</a:t>
            </a:r>
            <a:r>
              <a:rPr lang="en-US" altLang="zh-CN" smtClean="0"/>
              <a:t>HCIP-Datacom-Core</a:t>
            </a:r>
            <a:r>
              <a:rPr lang="zh-CN" altLang="en-US" smtClean="0"/>
              <a:t>课程相关内容。</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8735942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smtClean="0"/>
              <a:t>配置</a:t>
            </a:r>
            <a:r>
              <a:rPr lang="en-US" altLang="zh-CN" dirty="0" smtClean="0"/>
              <a:t>RD</a:t>
            </a:r>
            <a:r>
              <a:rPr lang="zh-CN" altLang="en-US" dirty="0" smtClean="0"/>
              <a:t>时，只需要指定</a:t>
            </a:r>
            <a:r>
              <a:rPr lang="en-US" altLang="zh-CN" dirty="0" smtClean="0"/>
              <a:t>RD</a:t>
            </a:r>
            <a:r>
              <a:rPr lang="zh-CN" altLang="en-US" dirty="0" smtClean="0"/>
              <a:t>的</a:t>
            </a:r>
            <a:r>
              <a:rPr lang="en-US" altLang="zh-CN" dirty="0" smtClean="0"/>
              <a:t>Administrator</a:t>
            </a:r>
            <a:r>
              <a:rPr lang="zh-CN" altLang="en-US" dirty="0" smtClean="0"/>
              <a:t>子字段和</a:t>
            </a:r>
            <a:r>
              <a:rPr lang="en-US" altLang="zh-CN" dirty="0" smtClean="0"/>
              <a:t>Assigned Number</a:t>
            </a:r>
            <a:r>
              <a:rPr lang="zh-CN" altLang="en-US" dirty="0" smtClean="0"/>
              <a:t>子字段。</a:t>
            </a:r>
            <a:endParaRPr lang="en-US" altLang="zh-CN" dirty="0" smtClean="0"/>
          </a:p>
          <a:p>
            <a:r>
              <a:rPr lang="en-US" altLang="zh-CN" dirty="0" smtClean="0"/>
              <a:t>RD</a:t>
            </a:r>
            <a:r>
              <a:rPr lang="zh-CN" altLang="en-US" dirty="0" smtClean="0"/>
              <a:t>的配置格式有四种，常用的两种如下：</a:t>
            </a:r>
          </a:p>
          <a:p>
            <a:pPr lvl="1"/>
            <a:r>
              <a:rPr lang="en-US" altLang="zh-CN" dirty="0" smtClean="0"/>
              <a:t>16 bit</a:t>
            </a:r>
            <a:r>
              <a:rPr lang="zh-CN" altLang="en-US" dirty="0" smtClean="0"/>
              <a:t>自治系统号</a:t>
            </a:r>
            <a:r>
              <a:rPr lang="en-US" altLang="zh-CN" dirty="0" smtClean="0"/>
              <a:t>:32 bit</a:t>
            </a:r>
            <a:r>
              <a:rPr lang="zh-CN" altLang="en-US" dirty="0" smtClean="0"/>
              <a:t>用户自定义数字（例如：</a:t>
            </a:r>
            <a:r>
              <a:rPr lang="en-US" altLang="zh-CN" dirty="0" smtClean="0"/>
              <a:t>100:1</a:t>
            </a:r>
            <a:r>
              <a:rPr lang="zh-CN" altLang="en-US" dirty="0" smtClean="0"/>
              <a:t>）。</a:t>
            </a:r>
          </a:p>
          <a:p>
            <a:pPr lvl="1"/>
            <a:r>
              <a:rPr lang="en-US" altLang="zh-CN" dirty="0" smtClean="0"/>
              <a:t>32 bit IPv4</a:t>
            </a:r>
            <a:r>
              <a:rPr lang="zh-CN" altLang="en-US" dirty="0" smtClean="0"/>
              <a:t>地址</a:t>
            </a:r>
            <a:r>
              <a:rPr lang="en-US" altLang="zh-CN" dirty="0" smtClean="0"/>
              <a:t>:16 bit</a:t>
            </a:r>
            <a:r>
              <a:rPr lang="zh-CN" altLang="en-US" dirty="0" smtClean="0"/>
              <a:t>用户自定义数字（例如：</a:t>
            </a:r>
            <a:r>
              <a:rPr lang="en-US" altLang="zh-CN" dirty="0" smtClean="0"/>
              <a:t>172.1.1.1:1</a:t>
            </a:r>
            <a:r>
              <a:rPr lang="zh-CN" altLang="en-US" dirty="0" smtClean="0"/>
              <a:t>）。</a:t>
            </a:r>
            <a:endParaRPr lang="en-US" altLang="zh-CN" dirty="0" smtClean="0"/>
          </a:p>
          <a:p>
            <a:pPr lvl="0"/>
            <a:r>
              <a:rPr lang="en-US" altLang="zh-CN" dirty="0" smtClean="0"/>
              <a:t>RD</a:t>
            </a:r>
            <a:r>
              <a:rPr lang="zh-CN" altLang="en-US" dirty="0" smtClean="0"/>
              <a:t>的结构使得每个运营商可以独立地分配</a:t>
            </a:r>
            <a:r>
              <a:rPr lang="en-US" altLang="zh-CN" dirty="0" smtClean="0"/>
              <a:t>RD</a:t>
            </a:r>
            <a:r>
              <a:rPr lang="zh-CN" altLang="en-US" dirty="0" smtClean="0"/>
              <a:t>，但为了在某些应用场景下保证路由正常，必须保证</a:t>
            </a:r>
            <a:r>
              <a:rPr lang="en-US" altLang="zh-CN" dirty="0" smtClean="0"/>
              <a:t>RD</a:t>
            </a:r>
            <a:r>
              <a:rPr lang="zh-CN" altLang="en-US" dirty="0" smtClean="0"/>
              <a:t>全局唯一。</a:t>
            </a:r>
          </a:p>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4895408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183346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799892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smtClean="0"/>
              <a:t>NLRI</a:t>
            </a:r>
            <a:r>
              <a:rPr lang="zh-CN" altLang="en-US" smtClean="0"/>
              <a:t>：</a:t>
            </a:r>
            <a:r>
              <a:rPr lang="en-US" altLang="zh-CN" smtClean="0"/>
              <a:t>Network Layer Reachability Information</a:t>
            </a:r>
            <a:r>
              <a:rPr lang="zh-CN" altLang="en-US" smtClean="0"/>
              <a:t>，网络层可达信息。</a:t>
            </a:r>
            <a:endParaRPr lang="en-US" altLang="zh-CN" smtClean="0"/>
          </a:p>
          <a:p>
            <a:r>
              <a:rPr lang="zh-CN" altLang="en-US" smtClean="0"/>
              <a:t>关于地址族的一些取值请参考</a:t>
            </a:r>
            <a:r>
              <a:rPr lang="en-US" altLang="zh-CN" smtClean="0"/>
              <a:t>RFC3232</a:t>
            </a:r>
            <a:r>
              <a:rPr lang="zh-CN" altLang="en-US" smtClean="0"/>
              <a:t>（</a:t>
            </a:r>
            <a:r>
              <a:rPr lang="en-US" altLang="zh-CN" smtClean="0"/>
              <a:t>Assigned Numbers</a:t>
            </a:r>
            <a:r>
              <a:rPr lang="zh-CN" altLang="en-US" smtClean="0"/>
              <a:t>）。</a:t>
            </a:r>
            <a:endParaRPr lang="en-US" altLang="zh-CN" smtClean="0"/>
          </a:p>
          <a:p>
            <a:pPr lvl="0"/>
            <a:r>
              <a:rPr lang="en-US" altLang="zh-CN" smtClean="0"/>
              <a:t>MP_REACH_NLRI</a:t>
            </a:r>
            <a:r>
              <a:rPr lang="zh-CN" altLang="en-US" smtClean="0"/>
              <a:t>用于发布可达路由及下一跳信息。该属性由一个或多个三元组</a:t>
            </a:r>
            <a:r>
              <a:rPr lang="en-US" altLang="zh-CN" smtClean="0"/>
              <a:t>&lt;</a:t>
            </a:r>
            <a:r>
              <a:rPr lang="zh-CN" altLang="en-US" smtClean="0"/>
              <a:t>地址族信息、下一跳信息、网络可达性信息</a:t>
            </a:r>
            <a:r>
              <a:rPr lang="en-US" altLang="zh-CN" smtClean="0"/>
              <a:t>&gt;</a:t>
            </a:r>
            <a:r>
              <a:rPr lang="zh-CN" altLang="en-US" smtClean="0"/>
              <a:t>组成，格式如下：</a:t>
            </a:r>
            <a:endParaRPr lang="en-US" altLang="zh-CN" smtClean="0"/>
          </a:p>
          <a:p>
            <a:pPr lvl="1"/>
            <a:r>
              <a:rPr lang="zh-CN" altLang="en-US" smtClean="0"/>
              <a:t>地址族信息（</a:t>
            </a:r>
            <a:r>
              <a:rPr lang="en-US" altLang="zh-CN" smtClean="0"/>
              <a:t>Address Family Information</a:t>
            </a:r>
            <a:r>
              <a:rPr lang="zh-CN" altLang="en-US" smtClean="0"/>
              <a:t>）域：由</a:t>
            </a:r>
            <a:r>
              <a:rPr lang="en-US" altLang="zh-CN" smtClean="0"/>
              <a:t>2</a:t>
            </a:r>
            <a:r>
              <a:rPr lang="zh-CN" altLang="en-US" smtClean="0"/>
              <a:t>字节的地址族标识</a:t>
            </a:r>
            <a:r>
              <a:rPr lang="en-US" altLang="zh-CN" smtClean="0"/>
              <a:t>AFI</a:t>
            </a:r>
            <a:r>
              <a:rPr lang="zh-CN" altLang="en-US" smtClean="0"/>
              <a:t>（</a:t>
            </a:r>
            <a:r>
              <a:rPr lang="en-US" altLang="zh-CN" smtClean="0"/>
              <a:t>Address Family Identifier</a:t>
            </a:r>
            <a:r>
              <a:rPr lang="zh-CN" altLang="en-US" smtClean="0"/>
              <a:t>）和</a:t>
            </a:r>
            <a:r>
              <a:rPr lang="en-US" altLang="zh-CN" smtClean="0"/>
              <a:t>1</a:t>
            </a:r>
            <a:r>
              <a:rPr lang="zh-CN" altLang="en-US" smtClean="0"/>
              <a:t>字节的子地址族标识</a:t>
            </a:r>
            <a:r>
              <a:rPr lang="en-US" altLang="zh-CN" smtClean="0"/>
              <a:t>SAFI</a:t>
            </a:r>
            <a:r>
              <a:rPr lang="zh-CN" altLang="en-US" smtClean="0"/>
              <a:t>（</a:t>
            </a:r>
            <a:r>
              <a:rPr lang="en-US" altLang="zh-CN" smtClean="0"/>
              <a:t>Subsequent Address Family Identifier</a:t>
            </a:r>
            <a:r>
              <a:rPr lang="zh-CN" altLang="en-US" smtClean="0"/>
              <a:t>）组成。</a:t>
            </a:r>
          </a:p>
          <a:p>
            <a:pPr lvl="2"/>
            <a:r>
              <a:rPr lang="en-US" altLang="zh-CN" smtClean="0"/>
              <a:t>AFI</a:t>
            </a:r>
            <a:r>
              <a:rPr lang="zh-CN" altLang="en-US" smtClean="0"/>
              <a:t>标识网络层协议，对应</a:t>
            </a:r>
            <a:r>
              <a:rPr lang="en-US" altLang="zh-CN" smtClean="0"/>
              <a:t>RFC3232</a:t>
            </a:r>
            <a:r>
              <a:rPr lang="zh-CN" altLang="en-US" smtClean="0"/>
              <a:t>的“</a:t>
            </a:r>
            <a:r>
              <a:rPr lang="en-US" altLang="zh-CN" smtClean="0"/>
              <a:t>Address Family Number</a:t>
            </a:r>
            <a:r>
              <a:rPr lang="zh-CN" altLang="en-US" smtClean="0"/>
              <a:t>”所定义的地址族值。例如</a:t>
            </a:r>
            <a:r>
              <a:rPr lang="en-US" altLang="zh-CN" smtClean="0"/>
              <a:t>IPv4</a:t>
            </a:r>
            <a:r>
              <a:rPr lang="zh-CN" altLang="en-US" smtClean="0"/>
              <a:t>的值是</a:t>
            </a:r>
            <a:r>
              <a:rPr lang="en-US" altLang="zh-CN" smtClean="0"/>
              <a:t>1</a:t>
            </a:r>
            <a:r>
              <a:rPr lang="zh-CN" altLang="en-US" smtClean="0"/>
              <a:t>，</a:t>
            </a:r>
            <a:r>
              <a:rPr lang="en-US" altLang="zh-CN" smtClean="0"/>
              <a:t>IPv6</a:t>
            </a:r>
            <a:r>
              <a:rPr lang="zh-CN" altLang="en-US" smtClean="0"/>
              <a:t>的值是</a:t>
            </a:r>
            <a:r>
              <a:rPr lang="en-US" altLang="zh-CN" smtClean="0"/>
              <a:t>2</a:t>
            </a:r>
            <a:r>
              <a:rPr lang="zh-CN" altLang="en-US" smtClean="0"/>
              <a:t>。</a:t>
            </a:r>
          </a:p>
          <a:p>
            <a:pPr lvl="2"/>
            <a:r>
              <a:rPr lang="en-US" altLang="zh-CN" smtClean="0"/>
              <a:t>SAFI</a:t>
            </a:r>
            <a:r>
              <a:rPr lang="zh-CN" altLang="en-US" smtClean="0"/>
              <a:t>表示</a:t>
            </a:r>
            <a:r>
              <a:rPr lang="en-US" altLang="zh-CN" smtClean="0"/>
              <a:t>NLRI</a:t>
            </a:r>
            <a:r>
              <a:rPr lang="zh-CN" altLang="en-US" smtClean="0"/>
              <a:t>的类型。</a:t>
            </a:r>
            <a:r>
              <a:rPr lang="en-US" altLang="zh-CN" smtClean="0"/>
              <a:t>AFI</a:t>
            </a:r>
            <a:r>
              <a:rPr lang="zh-CN" altLang="en-US" smtClean="0"/>
              <a:t>值为</a:t>
            </a:r>
            <a:r>
              <a:rPr lang="en-US" altLang="zh-CN" smtClean="0"/>
              <a:t>1</a:t>
            </a:r>
            <a:r>
              <a:rPr lang="zh-CN" altLang="en-US" smtClean="0"/>
              <a:t>，</a:t>
            </a:r>
            <a:r>
              <a:rPr lang="en-US" altLang="zh-CN" smtClean="0"/>
              <a:t>SAFI</a:t>
            </a:r>
            <a:r>
              <a:rPr lang="zh-CN" altLang="en-US" smtClean="0"/>
              <a:t>值为</a:t>
            </a:r>
            <a:r>
              <a:rPr lang="en-US" altLang="zh-CN" smtClean="0"/>
              <a:t>128</a:t>
            </a:r>
            <a:r>
              <a:rPr lang="zh-CN" altLang="en-US" smtClean="0"/>
              <a:t>表示</a:t>
            </a:r>
            <a:r>
              <a:rPr lang="en-US" altLang="zh-CN" smtClean="0"/>
              <a:t>NLRI</a:t>
            </a:r>
            <a:r>
              <a:rPr lang="zh-CN" altLang="en-US" smtClean="0"/>
              <a:t>中的地址为</a:t>
            </a:r>
            <a:r>
              <a:rPr lang="en-US" altLang="zh-CN" smtClean="0"/>
              <a:t>MPLS-labeled VPN-IPv4</a:t>
            </a:r>
            <a:r>
              <a:rPr lang="zh-CN" altLang="en-US" smtClean="0"/>
              <a:t>地址。</a:t>
            </a:r>
          </a:p>
          <a:p>
            <a:pPr lvl="1"/>
            <a:r>
              <a:rPr lang="zh-CN" altLang="en-US" smtClean="0"/>
              <a:t>下一跳信息（</a:t>
            </a:r>
            <a:r>
              <a:rPr lang="en-US" altLang="zh-CN" smtClean="0"/>
              <a:t>Next Hop Network Address Information</a:t>
            </a:r>
            <a:r>
              <a:rPr lang="zh-CN" altLang="en-US" smtClean="0"/>
              <a:t>）域：由一字节的下一跳网络地址长度和可变长度的下一跳网络地址组成。</a:t>
            </a:r>
            <a:endParaRPr lang="en-US" altLang="zh-CN" smtClean="0"/>
          </a:p>
          <a:p>
            <a:pPr lvl="1"/>
            <a:r>
              <a:rPr lang="zh-CN" altLang="en-US" smtClean="0"/>
              <a:t>网络层可达性信息（</a:t>
            </a:r>
            <a:r>
              <a:rPr lang="en-US" altLang="zh-CN" smtClean="0"/>
              <a:t>NLRI</a:t>
            </a:r>
            <a:r>
              <a:rPr lang="zh-CN" altLang="en-US" smtClean="0"/>
              <a:t>）域：由一个或多个三元组</a:t>
            </a:r>
            <a:r>
              <a:rPr lang="en-US" altLang="zh-CN" smtClean="0"/>
              <a:t>&lt;</a:t>
            </a:r>
            <a:r>
              <a:rPr lang="zh-CN" altLang="en-US" smtClean="0"/>
              <a:t>长度、标签、前缀</a:t>
            </a:r>
            <a:r>
              <a:rPr lang="en-US" altLang="zh-CN" smtClean="0"/>
              <a:t>&gt;</a:t>
            </a:r>
            <a:r>
              <a:rPr lang="zh-CN" altLang="en-US" smtClean="0"/>
              <a:t>组成，该部分内容将在后面的课程里详细介绍。</a:t>
            </a:r>
            <a:endParaRPr lang="en-US" altLang="zh-CN" smtClean="0"/>
          </a:p>
          <a:p>
            <a:pPr lvl="1"/>
            <a:endParaRPr lang="zh-CN" altLang="en-US" smtClean="0"/>
          </a:p>
          <a:p>
            <a:endParaRPr lang="zh-CN" altLang="en-US"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8779416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a:xfrm>
            <a:off x="731838" y="734128"/>
            <a:ext cx="5580062" cy="4784070"/>
          </a:xfrm>
        </p:spPr>
        <p:txBody>
          <a:bodyPr/>
          <a:lstStyle/>
          <a:p>
            <a:pPr lvl="0"/>
            <a:r>
              <a:rPr lang="en-US" altLang="zh-CN" dirty="0" smtClean="0"/>
              <a:t>MP_UNREACH_NLRI</a:t>
            </a:r>
            <a:r>
              <a:rPr lang="zh-CN" altLang="en-US" dirty="0" smtClean="0"/>
              <a:t>用于通知对等体删除不可达的路由。该属性的格式如下：</a:t>
            </a:r>
            <a:endParaRPr lang="en-US" altLang="zh-CN" dirty="0" smtClean="0"/>
          </a:p>
          <a:p>
            <a:pPr lvl="1"/>
            <a:r>
              <a:rPr lang="zh-CN" altLang="en-US" dirty="0" smtClean="0"/>
              <a:t>地址族标识</a:t>
            </a:r>
            <a:r>
              <a:rPr lang="en-US" altLang="zh-CN" dirty="0" smtClean="0"/>
              <a:t>AFI</a:t>
            </a:r>
            <a:r>
              <a:rPr lang="zh-CN" altLang="en-US" dirty="0" smtClean="0"/>
              <a:t>：与</a:t>
            </a:r>
            <a:r>
              <a:rPr lang="en-US" altLang="zh-CN" dirty="0" smtClean="0"/>
              <a:t>MP_REACH_NLRI</a:t>
            </a:r>
            <a:r>
              <a:rPr lang="zh-CN" altLang="en-US" dirty="0" smtClean="0"/>
              <a:t>属性中的相同。</a:t>
            </a:r>
            <a:endParaRPr lang="en-US" altLang="zh-CN" dirty="0" smtClean="0"/>
          </a:p>
          <a:p>
            <a:pPr lvl="1"/>
            <a:r>
              <a:rPr lang="zh-CN" altLang="en-US" dirty="0" smtClean="0"/>
              <a:t>子地址族标识</a:t>
            </a:r>
            <a:r>
              <a:rPr lang="en-US" altLang="zh-CN" dirty="0" smtClean="0"/>
              <a:t>SAFI</a:t>
            </a:r>
            <a:r>
              <a:rPr lang="zh-CN" altLang="en-US" dirty="0" smtClean="0"/>
              <a:t>：与</a:t>
            </a:r>
            <a:r>
              <a:rPr lang="en-US" altLang="zh-CN" dirty="0" smtClean="0"/>
              <a:t>MP_REACH_NLRI</a:t>
            </a:r>
            <a:r>
              <a:rPr lang="zh-CN" altLang="en-US" dirty="0" smtClean="0"/>
              <a:t>属性中的相同，表示</a:t>
            </a:r>
            <a:r>
              <a:rPr lang="en-US" altLang="zh-CN" dirty="0" smtClean="0"/>
              <a:t>NLRI</a:t>
            </a:r>
            <a:r>
              <a:rPr lang="zh-CN" altLang="en-US" dirty="0" smtClean="0"/>
              <a:t>的类型。</a:t>
            </a:r>
          </a:p>
          <a:p>
            <a:pPr lvl="1"/>
            <a:r>
              <a:rPr lang="zh-CN" altLang="en-US" dirty="0" smtClean="0"/>
              <a:t>撤销路由（</a:t>
            </a:r>
            <a:r>
              <a:rPr lang="en-US" altLang="zh-CN" dirty="0" smtClean="0"/>
              <a:t>Withdrawn Routes</a:t>
            </a:r>
            <a:r>
              <a:rPr lang="zh-CN" altLang="en-US" dirty="0" smtClean="0"/>
              <a:t>）：不可达路由列表，也是由一个或多个</a:t>
            </a:r>
            <a:r>
              <a:rPr lang="en-US" altLang="zh-CN" dirty="0" smtClean="0"/>
              <a:t>NLRI</a:t>
            </a:r>
            <a:r>
              <a:rPr lang="zh-CN" altLang="en-US" dirty="0" smtClean="0"/>
              <a:t>组成。</a:t>
            </a:r>
            <a:r>
              <a:rPr lang="en-US" altLang="zh-CN" dirty="0" smtClean="0"/>
              <a:t>BGP</a:t>
            </a:r>
            <a:r>
              <a:rPr lang="zh-CN" altLang="en-US" dirty="0" smtClean="0"/>
              <a:t>发言者可以通过在撤销路由域中携带与之前发布的可达路由中相同的</a:t>
            </a:r>
            <a:r>
              <a:rPr lang="en-US" altLang="zh-CN" dirty="0" smtClean="0"/>
              <a:t>NLRI</a:t>
            </a:r>
            <a:r>
              <a:rPr lang="zh-CN" altLang="en-US" dirty="0" smtClean="0"/>
              <a:t>来撤销路由。</a:t>
            </a:r>
          </a:p>
          <a:p>
            <a:pPr lvl="0"/>
            <a:r>
              <a:rPr lang="en-US" altLang="zh-CN" dirty="0" smtClean="0"/>
              <a:t>MP-BGP</a:t>
            </a:r>
            <a:r>
              <a:rPr lang="zh-CN" altLang="en-US" dirty="0" smtClean="0"/>
              <a:t>的报文类型、</a:t>
            </a:r>
            <a:r>
              <a:rPr lang="en-US" altLang="zh-CN" dirty="0" smtClean="0"/>
              <a:t>VPNv4</a:t>
            </a:r>
            <a:r>
              <a:rPr lang="zh-CN" altLang="en-US" dirty="0" smtClean="0"/>
              <a:t>路由发布策略仍与普通</a:t>
            </a:r>
            <a:r>
              <a:rPr lang="en-US" altLang="zh-CN" dirty="0" smtClean="0"/>
              <a:t>BGP</a:t>
            </a:r>
            <a:r>
              <a:rPr lang="zh-CN" altLang="en-US" dirty="0" smtClean="0"/>
              <a:t>相同。</a:t>
            </a:r>
            <a:endParaRPr lang="en-US" altLang="zh-CN" dirty="0" smtClean="0"/>
          </a:p>
          <a:p>
            <a:pPr lvl="1"/>
            <a:endParaRPr lang="zh-CN" altLang="en-US" dirty="0" smtClean="0"/>
          </a:p>
          <a:p>
            <a:endParaRPr lang="zh-CN" altLang="en-US" dirty="0"/>
          </a:p>
        </p:txBody>
      </p:sp>
    </p:spTree>
    <p:extLst>
      <p:ext uri="{BB962C8B-B14F-4D97-AF65-F5344CB8AC3E}">
        <p14:creationId xmlns:p14="http://schemas.microsoft.com/office/powerpoint/2010/main" val="14269979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60013055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smtClean="0"/>
              <a:t>与</a:t>
            </a:r>
            <a:r>
              <a:rPr lang="en-US" altLang="zh-CN" smtClean="0"/>
              <a:t>RD</a:t>
            </a:r>
            <a:r>
              <a:rPr lang="zh-CN" altLang="en-US" smtClean="0"/>
              <a:t>相同，</a:t>
            </a:r>
            <a:r>
              <a:rPr lang="en-US" altLang="zh-CN" smtClean="0"/>
              <a:t>RT</a:t>
            </a:r>
            <a:r>
              <a:rPr lang="zh-CN" altLang="en-US" smtClean="0"/>
              <a:t>由</a:t>
            </a:r>
            <a:r>
              <a:rPr lang="en-US" altLang="zh-CN" smtClean="0"/>
              <a:t>Type</a:t>
            </a:r>
            <a:r>
              <a:rPr lang="zh-CN" altLang="en-US" smtClean="0"/>
              <a:t>、</a:t>
            </a:r>
            <a:r>
              <a:rPr lang="en-US" altLang="zh-CN" smtClean="0"/>
              <a:t>Administrator</a:t>
            </a:r>
            <a:r>
              <a:rPr lang="zh-CN" altLang="en-US" smtClean="0"/>
              <a:t>和</a:t>
            </a:r>
            <a:r>
              <a:rPr lang="en-US" altLang="zh-CN" smtClean="0"/>
              <a:t>Assigned Number</a:t>
            </a:r>
            <a:r>
              <a:rPr lang="zh-CN" altLang="en-US" smtClean="0"/>
              <a:t>三个字段构成，长度也是</a:t>
            </a:r>
            <a:r>
              <a:rPr lang="en-US" altLang="zh-CN" smtClean="0"/>
              <a:t>8</a:t>
            </a:r>
            <a:r>
              <a:rPr lang="zh-CN" altLang="en-US" smtClean="0"/>
              <a:t>字节。</a:t>
            </a:r>
            <a:r>
              <a:rPr lang="en-US" altLang="zh-CN" smtClean="0"/>
              <a:t> </a:t>
            </a:r>
          </a:p>
          <a:p>
            <a:pPr lvl="0"/>
            <a:r>
              <a:rPr lang="zh-CN" altLang="en-US" smtClean="0"/>
              <a:t>配置</a:t>
            </a:r>
            <a:r>
              <a:rPr lang="en-US" altLang="zh-CN" smtClean="0"/>
              <a:t>VPN-Target</a:t>
            </a:r>
            <a:r>
              <a:rPr lang="zh-CN" altLang="en-US" smtClean="0"/>
              <a:t>时，只需要指定</a:t>
            </a:r>
            <a:r>
              <a:rPr lang="en-US" altLang="zh-CN" smtClean="0"/>
              <a:t>VPN-Target</a:t>
            </a:r>
            <a:r>
              <a:rPr lang="zh-CN" altLang="en-US" smtClean="0"/>
              <a:t>的</a:t>
            </a:r>
            <a:r>
              <a:rPr lang="en-US" altLang="zh-CN" smtClean="0"/>
              <a:t>Administrator</a:t>
            </a:r>
            <a:r>
              <a:rPr lang="zh-CN" altLang="en-US" smtClean="0"/>
              <a:t>子字段和</a:t>
            </a:r>
            <a:r>
              <a:rPr lang="en-US" altLang="zh-CN" smtClean="0"/>
              <a:t>Assigned Number</a:t>
            </a:r>
            <a:r>
              <a:rPr lang="zh-CN" altLang="en-US" smtClean="0"/>
              <a:t>子字段。</a:t>
            </a:r>
            <a:r>
              <a:rPr lang="en-US" altLang="zh-CN" smtClean="0"/>
              <a:t>VPN-Target</a:t>
            </a:r>
            <a:r>
              <a:rPr lang="zh-CN" altLang="en-US" smtClean="0"/>
              <a:t>的配置格式与</a:t>
            </a:r>
            <a:r>
              <a:rPr lang="en-US" altLang="zh-CN" smtClean="0"/>
              <a:t>RD</a:t>
            </a:r>
            <a:r>
              <a:rPr lang="zh-CN" altLang="en-US" smtClean="0"/>
              <a:t>格式一致。</a:t>
            </a:r>
            <a:endParaRPr lang="en-US" altLang="zh-CN" smtClean="0"/>
          </a:p>
          <a:p>
            <a:endParaRPr lang="zh-CN" altLang="en-US"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5454688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2620735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8730817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854439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smtClean="0"/>
              <a:t>PE</a:t>
            </a:r>
            <a:r>
              <a:rPr lang="zh-CN" altLang="en-US" smtClean="0"/>
              <a:t>上分配私网标签的方法有如下两种：</a:t>
            </a:r>
            <a:endParaRPr lang="en-US" altLang="zh-CN" smtClean="0"/>
          </a:p>
          <a:p>
            <a:pPr lvl="1"/>
            <a:r>
              <a:rPr lang="zh-CN" altLang="en-US" smtClean="0"/>
              <a:t>基于路由的</a:t>
            </a:r>
            <a:r>
              <a:rPr lang="en-US" altLang="zh-CN" smtClean="0"/>
              <a:t>MPLS</a:t>
            </a:r>
            <a:r>
              <a:rPr lang="zh-CN" altLang="en-US" smtClean="0"/>
              <a:t>标签分配：为</a:t>
            </a:r>
            <a:r>
              <a:rPr lang="en-US" altLang="zh-CN" smtClean="0"/>
              <a:t>VPN</a:t>
            </a:r>
            <a:r>
              <a:rPr lang="zh-CN" altLang="en-US" smtClean="0"/>
              <a:t>路由表的每一条路由分配一个标签（</a:t>
            </a:r>
            <a:r>
              <a:rPr lang="en-US" altLang="zh-CN" smtClean="0"/>
              <a:t>one label per route</a:t>
            </a:r>
            <a:r>
              <a:rPr lang="zh-CN" altLang="en-US" smtClean="0"/>
              <a:t>）。这种方式的缺点是：当路由数量比较多时，设备入标签映射表</a:t>
            </a:r>
            <a:r>
              <a:rPr lang="en-US" altLang="zh-CN" smtClean="0"/>
              <a:t>ILM</a:t>
            </a:r>
            <a:r>
              <a:rPr lang="zh-CN" altLang="en-US" smtClean="0"/>
              <a:t>（</a:t>
            </a:r>
            <a:r>
              <a:rPr lang="en-US" altLang="zh-CN" smtClean="0"/>
              <a:t>Incoming Label Map</a:t>
            </a:r>
            <a:r>
              <a:rPr lang="zh-CN" altLang="en-US" smtClean="0"/>
              <a:t>）需要维护的表项也会增多，从而提高了对设备容量的要求。</a:t>
            </a:r>
          </a:p>
          <a:p>
            <a:pPr lvl="1"/>
            <a:r>
              <a:rPr lang="zh-CN" altLang="en-US" smtClean="0"/>
              <a:t>基于</a:t>
            </a:r>
            <a:r>
              <a:rPr lang="en-US" altLang="zh-CN" smtClean="0"/>
              <a:t>VPN</a:t>
            </a:r>
            <a:r>
              <a:rPr lang="zh-CN" altLang="en-US" smtClean="0"/>
              <a:t>实例的</a:t>
            </a:r>
            <a:r>
              <a:rPr lang="en-US" altLang="zh-CN" smtClean="0"/>
              <a:t>MPLS</a:t>
            </a:r>
            <a:r>
              <a:rPr lang="zh-CN" altLang="en-US" smtClean="0"/>
              <a:t>标签分配：为整个</a:t>
            </a:r>
            <a:r>
              <a:rPr lang="en-US" altLang="zh-CN" smtClean="0"/>
              <a:t>VPN</a:t>
            </a:r>
            <a:r>
              <a:rPr lang="zh-CN" altLang="en-US" smtClean="0"/>
              <a:t>实例分配一个标签，该</a:t>
            </a:r>
            <a:r>
              <a:rPr lang="en-US" altLang="zh-CN" smtClean="0"/>
              <a:t>VPN</a:t>
            </a:r>
            <a:r>
              <a:rPr lang="zh-CN" altLang="en-US" smtClean="0"/>
              <a:t>实例里的所有路由都共享一个标签。使用这种分配方法的好处是节约了标签。</a:t>
            </a:r>
          </a:p>
          <a:p>
            <a:pPr lvl="0"/>
            <a:r>
              <a:rPr lang="zh-CN" altLang="en-US" smtClean="0"/>
              <a:t>私网路由交叉：</a:t>
            </a:r>
            <a:r>
              <a:rPr lang="en-US" altLang="zh-CN" smtClean="0"/>
              <a:t>VPNv4</a:t>
            </a:r>
            <a:r>
              <a:rPr lang="zh-CN" altLang="en-US" smtClean="0"/>
              <a:t>路由与本地</a:t>
            </a:r>
            <a:r>
              <a:rPr lang="en-US" altLang="zh-CN" smtClean="0"/>
              <a:t>VPN</a:t>
            </a:r>
            <a:r>
              <a:rPr lang="zh-CN" altLang="en-US" smtClean="0"/>
              <a:t>实例的</a:t>
            </a:r>
            <a:r>
              <a:rPr lang="en-US" altLang="zh-CN" smtClean="0"/>
              <a:t>VPN-Target</a:t>
            </a:r>
            <a:r>
              <a:rPr lang="zh-CN" altLang="en-US" smtClean="0"/>
              <a:t>进行匹配的过程称为私网路由交叉。</a:t>
            </a:r>
            <a:r>
              <a:rPr lang="en-US" altLang="zh-CN" smtClean="0"/>
              <a:t>PE</a:t>
            </a:r>
            <a:r>
              <a:rPr lang="zh-CN" altLang="en-US" smtClean="0"/>
              <a:t>在收到</a:t>
            </a:r>
            <a:r>
              <a:rPr lang="en-US" altLang="zh-CN" smtClean="0"/>
              <a:t>VPNv4</a:t>
            </a:r>
            <a:r>
              <a:rPr lang="zh-CN" altLang="en-US" smtClean="0"/>
              <a:t>路由后，既不进行优选，也不检查隧道是否存在，直接将其与本地的</a:t>
            </a:r>
            <a:r>
              <a:rPr lang="en-US" altLang="zh-CN" smtClean="0"/>
              <a:t>VPN</a:t>
            </a:r>
            <a:r>
              <a:rPr lang="zh-CN" altLang="en-US" smtClean="0"/>
              <a:t>实例进行交叉。</a:t>
            </a:r>
            <a:endParaRPr lang="en-US" altLang="zh-CN" smtClean="0"/>
          </a:p>
          <a:p>
            <a:r>
              <a:rPr lang="zh-CN" altLang="en-US" smtClean="0"/>
              <a:t>隧道迭代：</a:t>
            </a:r>
            <a:r>
              <a:rPr lang="zh-CN" altLang="zh-CN" smtClean="0"/>
              <a:t>为了将私网流量通过公网传递到另一端，需要有一条公网隧道承载这个私网流量。因此私网路由交叉完成后，需要根据目的</a:t>
            </a:r>
            <a:r>
              <a:rPr lang="en-US" altLang="zh-CN" smtClean="0"/>
              <a:t>IPv4</a:t>
            </a:r>
            <a:r>
              <a:rPr lang="zh-CN" altLang="zh-CN" smtClean="0"/>
              <a:t>前缀进行路由迭代，</a:t>
            </a:r>
            <a:r>
              <a:rPr lang="zh-CN" altLang="en-US" smtClean="0"/>
              <a:t>即该</a:t>
            </a:r>
            <a:r>
              <a:rPr lang="en-US" altLang="zh-CN" smtClean="0"/>
              <a:t>IPv4</a:t>
            </a:r>
            <a:r>
              <a:rPr lang="zh-CN" altLang="en-US" smtClean="0"/>
              <a:t>路由的下一跳有对应的</a:t>
            </a:r>
            <a:r>
              <a:rPr lang="en-US" altLang="zh-CN" smtClean="0"/>
              <a:t>LSP</a:t>
            </a:r>
            <a:r>
              <a:rPr lang="zh-CN" altLang="en-US" smtClean="0"/>
              <a:t>存在</a:t>
            </a:r>
            <a:r>
              <a:rPr lang="zh-CN" altLang="zh-CN" smtClean="0"/>
              <a:t>；只有隧道迭代成功，该路由才被放入对应的</a:t>
            </a:r>
            <a:r>
              <a:rPr lang="en-US" altLang="zh-CN" smtClean="0"/>
              <a:t>VPN</a:t>
            </a:r>
            <a:r>
              <a:rPr lang="zh-CN" altLang="zh-CN" smtClean="0"/>
              <a:t>实例路由表。</a:t>
            </a:r>
            <a:endParaRPr lang="en-US" altLang="zh-CN" smtClean="0"/>
          </a:p>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58567037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60067653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33849600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4051993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35659585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03610417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16264674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mtClean="0"/>
              <a:t>本例中，</a:t>
            </a:r>
            <a:r>
              <a:rPr lang="en-US" altLang="zh-CN" smtClean="0"/>
              <a:t>VPN</a:t>
            </a:r>
            <a:r>
              <a:rPr lang="zh-CN" altLang="en-US" smtClean="0"/>
              <a:t>实例地址族为每一条去往对端</a:t>
            </a:r>
            <a:r>
              <a:rPr lang="en-US" altLang="zh-CN" smtClean="0"/>
              <a:t>PE</a:t>
            </a:r>
            <a:r>
              <a:rPr lang="zh-CN" altLang="en-US" smtClean="0"/>
              <a:t>的路由分配一个标签。</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02186357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74447181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59333592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06623122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56475813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76272972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86471547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94269184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24050009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21108478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96945630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36581002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78713866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12231861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11661764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62658005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16225820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6432007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08995966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marL="228600" lvl="0" indent="-228600">
              <a:buFont typeface="+mj-lt"/>
              <a:buAutoNum type="arabicPeriod"/>
            </a:pPr>
            <a:r>
              <a:rPr lang="en-US" altLang="zh-CN" dirty="0" smtClean="0"/>
              <a:t>A</a:t>
            </a:r>
          </a:p>
          <a:p>
            <a:pPr marL="228600" lvl="0" indent="-228600">
              <a:buFont typeface="+mj-lt"/>
              <a:buAutoNum type="arabicPeriod"/>
            </a:pPr>
            <a:r>
              <a:rPr lang="en-US" altLang="zh-CN" dirty="0" smtClean="0"/>
              <a:t>ABCD</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50265459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4215552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39601969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2#总标题">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21"/>
            <a:ext cx="12192000" cy="5602224"/>
          </a:xfrm>
          <a:prstGeom prst="rect">
            <a:avLst/>
          </a:prstGeom>
          <a:ln>
            <a:noFill/>
            <a:prstDash val="dash"/>
          </a:ln>
        </p:spPr>
      </p:pic>
      <p:sp>
        <p:nvSpPr>
          <p:cNvPr id="8" name="L 形 7"/>
          <p:cNvSpPr/>
          <p:nvPr userDrawn="1"/>
        </p:nvSpPr>
        <p:spPr>
          <a:xfrm rot="16200000" flipH="1">
            <a:off x="6634196" y="2578036"/>
            <a:ext cx="701032" cy="71765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baseline="0">
              <a:latin typeface="Huawei Sans" panose="020C0503030203020204" pitchFamily="34" charset="0"/>
              <a:ea typeface="方正兰亭黑简体" panose="02000000000000000000" pitchFamily="2" charset="-122"/>
            </a:endParaRPr>
          </a:p>
        </p:txBody>
      </p:sp>
      <p:sp>
        <p:nvSpPr>
          <p:cNvPr id="9" name="Title 1">
            <a:extLst>
              <a:ext uri="{FF2B5EF4-FFF2-40B4-BE49-F238E27FC236}">
                <a16:creationId xmlns="" xmlns:a16="http://schemas.microsoft.com/office/drawing/2014/main" id="{8227DEE9-8BE9-0D49-BF96-9E83C5312E00}"/>
              </a:ext>
            </a:extLst>
          </p:cNvPr>
          <p:cNvSpPr>
            <a:spLocks noGrp="1"/>
          </p:cNvSpPr>
          <p:nvPr>
            <p:ph type="ctrTitle" hasCustomPrompt="1"/>
          </p:nvPr>
        </p:nvSpPr>
        <p:spPr>
          <a:xfrm>
            <a:off x="916560" y="907092"/>
            <a:ext cx="8125839" cy="690255"/>
          </a:xfrm>
          <a:prstGeom prst="rect">
            <a:avLst/>
          </a:prstGeom>
          <a:ln>
            <a:noFill/>
            <a:prstDash val="dash"/>
          </a:ln>
        </p:spPr>
        <p:txBody>
          <a:bodyPr lIns="0" tIns="0" rIns="0" bIns="0" anchor="t">
            <a:normAutofit/>
          </a:bodyPr>
          <a:lstStyle>
            <a:lvl1pPr>
              <a:defRPr lang="en-US" sz="3200" b="0" i="0" baseline="0" dirty="0">
                <a:latin typeface="Huawei Sans" panose="020C0503030203020204" pitchFamily="34" charset="0"/>
                <a:ea typeface="方正兰亭黑简体" panose="02000000000000000000" pitchFamily="2" charset="-122"/>
              </a:defRPr>
            </a:lvl1pPr>
          </a:lstStyle>
          <a:p>
            <a:pPr lvl="0" defTabSz="914034">
              <a:lnSpc>
                <a:spcPts val="3439"/>
              </a:lnSpc>
            </a:pPr>
            <a:r>
              <a:rPr lang="zh-CN" altLang="en-US" dirty="0"/>
              <a:t>单击此处添加标题</a:t>
            </a:r>
            <a:endParaRPr lang="en-US" dirty="0"/>
          </a:p>
        </p:txBody>
      </p:sp>
      <p:sp>
        <p:nvSpPr>
          <p:cNvPr id="10" name="Text Placeholder 5">
            <a:extLst>
              <a:ext uri="{FF2B5EF4-FFF2-40B4-BE49-F238E27FC236}">
                <a16:creationId xmlns="" xmlns:a16="http://schemas.microsoft.com/office/drawing/2014/main" id="{2F43DA98-D48D-6947-95EF-BA3B05E68822}"/>
              </a:ext>
            </a:extLst>
          </p:cNvPr>
          <p:cNvSpPr>
            <a:spLocks noGrp="1"/>
          </p:cNvSpPr>
          <p:nvPr>
            <p:ph type="body" sz="quarter" idx="10" hasCustomPrompt="1"/>
          </p:nvPr>
        </p:nvSpPr>
        <p:spPr>
          <a:xfrm>
            <a:off x="916561" y="1949372"/>
            <a:ext cx="8125840" cy="643926"/>
          </a:xfrm>
          <a:prstGeom prst="rect">
            <a:avLst/>
          </a:prstGeom>
        </p:spPr>
        <p:txBody>
          <a:bodyPr vert="horz" lIns="0" tIns="0" rIns="0" bIns="0" rtlCol="0">
            <a:noAutofit/>
          </a:bodyPr>
          <a:lstStyle>
            <a:lvl1pPr marL="228600" indent="-228600" fontAlgn="base">
              <a:buNone/>
              <a:defRPr lang="en-US" sz="1400" baseline="0" dirty="0">
                <a:latin typeface="Huawei Sans" panose="020C0503030203020204" pitchFamily="34" charset="0"/>
                <a:ea typeface="方正兰亭黑简体" panose="02000000000000000000" pitchFamily="2" charset="-122"/>
                <a:cs typeface="Huawei Sans" panose="020C0503030203020204" pitchFamily="34" charset="0"/>
              </a:defRPr>
            </a:lvl1pPr>
          </a:lstStyle>
          <a:p>
            <a:pPr marL="0" lvl="0" indent="0">
              <a:lnSpc>
                <a:spcPct val="100000"/>
              </a:lnSpc>
              <a:spcBef>
                <a:spcPts val="0"/>
              </a:spcBef>
            </a:pPr>
            <a:r>
              <a:rPr lang="zh-CN" altLang="en-US" dirty="0" smtClean="0"/>
              <a:t>单击此处添加文本</a:t>
            </a:r>
            <a:endParaRPr lang="en-US" dirty="0"/>
          </a:p>
        </p:txBody>
      </p:sp>
    </p:spTree>
    <p:extLst>
      <p:ext uri="{BB962C8B-B14F-4D97-AF65-F5344CB8AC3E}">
        <p14:creationId xmlns:p14="http://schemas.microsoft.com/office/powerpoint/2010/main" val="1391813821"/>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1#修订记录">
    <p:spTree>
      <p:nvGrpSpPr>
        <p:cNvPr id="1" name=""/>
        <p:cNvGrpSpPr/>
        <p:nvPr/>
      </p:nvGrpSpPr>
      <p:grpSpPr>
        <a:xfrm>
          <a:off x="0" y="0"/>
          <a:ext cx="0" cy="0"/>
          <a:chOff x="0" y="0"/>
          <a:chExt cx="0" cy="0"/>
        </a:xfrm>
      </p:grpSpPr>
      <p:graphicFrame>
        <p:nvGraphicFramePr>
          <p:cNvPr id="3" name="Group 3"/>
          <p:cNvGraphicFramePr>
            <a:graphicFrameLocks noGrp="1"/>
          </p:cNvGraphicFramePr>
          <p:nvPr userDrawn="1">
            <p:extLst/>
          </p:nvPr>
        </p:nvGraphicFramePr>
        <p:xfrm>
          <a:off x="1007140" y="1398424"/>
          <a:ext cx="10194260" cy="1082675"/>
        </p:xfrm>
        <a:graphic>
          <a:graphicData uri="http://schemas.openxmlformats.org/drawingml/2006/table">
            <a:tbl>
              <a:tblPr/>
              <a:tblGrid>
                <a:gridCol w="3119031">
                  <a:extLst>
                    <a:ext uri="{9D8B030D-6E8A-4147-A177-3AD203B41FA5}">
                      <a16:colId xmlns="" xmlns:a16="http://schemas.microsoft.com/office/drawing/2014/main" val="20000"/>
                    </a:ext>
                  </a:extLst>
                </a:gridCol>
                <a:gridCol w="1967450">
                  <a:extLst>
                    <a:ext uri="{9D8B030D-6E8A-4147-A177-3AD203B41FA5}">
                      <a16:colId xmlns="" xmlns:a16="http://schemas.microsoft.com/office/drawing/2014/main" val="20001"/>
                    </a:ext>
                  </a:extLst>
                </a:gridCol>
                <a:gridCol w="3023155">
                  <a:extLst>
                    <a:ext uri="{9D8B030D-6E8A-4147-A177-3AD203B41FA5}">
                      <a16:colId xmlns="" xmlns:a16="http://schemas.microsoft.com/office/drawing/2014/main" val="20002"/>
                    </a:ext>
                  </a:extLst>
                </a:gridCol>
                <a:gridCol w="2084624">
                  <a:extLst>
                    <a:ext uri="{9D8B030D-6E8A-4147-A177-3AD203B41FA5}">
                      <a16:colId xmlns=""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课程编码</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适用产品</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产品版本</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课程版本</a:t>
                      </a:r>
                      <a:endPar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bl>
          </a:graphicData>
        </a:graphic>
      </p:graphicFrame>
      <p:graphicFrame>
        <p:nvGraphicFramePr>
          <p:cNvPr id="4" name="Group 21"/>
          <p:cNvGraphicFramePr>
            <a:graphicFrameLocks noGrp="1"/>
          </p:cNvGraphicFramePr>
          <p:nvPr userDrawn="1">
            <p:extLst/>
          </p:nvPr>
        </p:nvGraphicFramePr>
        <p:xfrm>
          <a:off x="1007140" y="2920836"/>
          <a:ext cx="10177327" cy="2549525"/>
        </p:xfrm>
        <a:graphic>
          <a:graphicData uri="http://schemas.openxmlformats.org/drawingml/2006/table">
            <a:tbl>
              <a:tblPr/>
              <a:tblGrid>
                <a:gridCol w="3119030">
                  <a:extLst>
                    <a:ext uri="{9D8B030D-6E8A-4147-A177-3AD203B41FA5}">
                      <a16:colId xmlns="" xmlns:a16="http://schemas.microsoft.com/office/drawing/2014/main" val="20000"/>
                    </a:ext>
                  </a:extLst>
                </a:gridCol>
                <a:gridCol w="1967450">
                  <a:extLst>
                    <a:ext uri="{9D8B030D-6E8A-4147-A177-3AD203B41FA5}">
                      <a16:colId xmlns="" xmlns:a16="http://schemas.microsoft.com/office/drawing/2014/main" val="20001"/>
                    </a:ext>
                  </a:extLst>
                </a:gridCol>
                <a:gridCol w="3023155">
                  <a:extLst>
                    <a:ext uri="{9D8B030D-6E8A-4147-A177-3AD203B41FA5}">
                      <a16:colId xmlns="" xmlns:a16="http://schemas.microsoft.com/office/drawing/2014/main" val="20002"/>
                    </a:ext>
                  </a:extLst>
                </a:gridCol>
                <a:gridCol w="2067692">
                  <a:extLst>
                    <a:ext uri="{9D8B030D-6E8A-4147-A177-3AD203B41FA5}">
                      <a16:colId xmlns=""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作者</a:t>
                      </a:r>
                      <a:r>
                        <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工号</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时间</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审核人</a:t>
                      </a:r>
                      <a:r>
                        <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工号</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新开发/优化</a:t>
                      </a:r>
                      <a:endPar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4"/>
                  </a:ext>
                </a:extLst>
              </a:tr>
            </a:tbl>
          </a:graphicData>
        </a:graphic>
      </p:graphicFrame>
      <p:sp>
        <p:nvSpPr>
          <p:cNvPr id="5" name="文本占位符 7"/>
          <p:cNvSpPr>
            <a:spLocks noGrp="1"/>
          </p:cNvSpPr>
          <p:nvPr>
            <p:ph type="body" sz="quarter" idx="17" hasCustomPrompt="1"/>
          </p:nvPr>
        </p:nvSpPr>
        <p:spPr>
          <a:xfrm>
            <a:off x="1007139" y="1969626"/>
            <a:ext cx="3119030" cy="504887"/>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课程编码</a:t>
            </a:r>
          </a:p>
        </p:txBody>
      </p:sp>
      <p:sp>
        <p:nvSpPr>
          <p:cNvPr id="6" name="文本占位符 7"/>
          <p:cNvSpPr>
            <a:spLocks noGrp="1"/>
          </p:cNvSpPr>
          <p:nvPr>
            <p:ph type="body" sz="quarter" idx="18" hasCustomPrompt="1"/>
          </p:nvPr>
        </p:nvSpPr>
        <p:spPr>
          <a:xfrm>
            <a:off x="4126170" y="1969626"/>
            <a:ext cx="1967450"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适用的产品</a:t>
            </a:r>
          </a:p>
        </p:txBody>
      </p:sp>
      <p:sp>
        <p:nvSpPr>
          <p:cNvPr id="7" name="文本占位符 7"/>
          <p:cNvSpPr>
            <a:spLocks noGrp="1"/>
          </p:cNvSpPr>
          <p:nvPr>
            <p:ph type="body" sz="quarter" idx="19" hasCustomPrompt="1"/>
          </p:nvPr>
        </p:nvSpPr>
        <p:spPr>
          <a:xfrm>
            <a:off x="6093619" y="1969626"/>
            <a:ext cx="3023155"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V5R2</a:t>
            </a:r>
            <a:endParaRPr lang="zh-CN" altLang="en-US" dirty="0"/>
          </a:p>
        </p:txBody>
      </p:sp>
      <p:sp>
        <p:nvSpPr>
          <p:cNvPr id="8" name="文本占位符 7"/>
          <p:cNvSpPr>
            <a:spLocks noGrp="1"/>
          </p:cNvSpPr>
          <p:nvPr>
            <p:ph type="body" sz="quarter" idx="20" hasCustomPrompt="1"/>
          </p:nvPr>
        </p:nvSpPr>
        <p:spPr>
          <a:xfrm>
            <a:off x="9116775" y="1969626"/>
            <a:ext cx="2084625" cy="504887"/>
          </a:xfrm>
          <a:prstGeom prst="rect">
            <a:avLst/>
          </a:prstGeom>
        </p:spPr>
        <p:txBody>
          <a:bodyPr anchor="ctr"/>
          <a:lstStyle>
            <a:lvl1pPr algn="ctr">
              <a:lnSpc>
                <a:spcPct val="100000"/>
              </a:lnSpc>
              <a:buNone/>
              <a:defRPr lang="zh-CN" altLang="en-US" sz="15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smtClean="0"/>
              <a:t>V1.0</a:t>
            </a:r>
            <a:endParaRPr lang="zh-CN" altLang="en-US" dirty="0"/>
          </a:p>
        </p:txBody>
      </p:sp>
      <p:sp>
        <p:nvSpPr>
          <p:cNvPr id="9" name="文本占位符 7"/>
          <p:cNvSpPr>
            <a:spLocks noGrp="1"/>
          </p:cNvSpPr>
          <p:nvPr>
            <p:ph type="body" sz="quarter" idx="13" hasCustomPrompt="1"/>
          </p:nvPr>
        </p:nvSpPr>
        <p:spPr>
          <a:xfrm>
            <a:off x="1007042" y="3517796"/>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0" name="文本占位符 7"/>
          <p:cNvSpPr>
            <a:spLocks noGrp="1"/>
          </p:cNvSpPr>
          <p:nvPr>
            <p:ph type="body" sz="quarter" idx="14" hasCustomPrompt="1"/>
          </p:nvPr>
        </p:nvSpPr>
        <p:spPr>
          <a:xfrm>
            <a:off x="4126170" y="3517796"/>
            <a:ext cx="19674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smtClean="0"/>
              <a:t>2019.01.25</a:t>
            </a:r>
            <a:endParaRPr lang="zh-CN" altLang="en-US" dirty="0"/>
          </a:p>
        </p:txBody>
      </p:sp>
      <p:sp>
        <p:nvSpPr>
          <p:cNvPr id="11" name="文本占位符 7"/>
          <p:cNvSpPr>
            <a:spLocks noGrp="1"/>
          </p:cNvSpPr>
          <p:nvPr>
            <p:ph type="body" sz="quarter" idx="15" hasCustomPrompt="1"/>
          </p:nvPr>
        </p:nvSpPr>
        <p:spPr>
          <a:xfrm>
            <a:off x="6093619" y="3517796"/>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2" name="文本占位符 7"/>
          <p:cNvSpPr>
            <a:spLocks noGrp="1"/>
          </p:cNvSpPr>
          <p:nvPr>
            <p:ph type="body" sz="quarter" idx="16" hasCustomPrompt="1"/>
          </p:nvPr>
        </p:nvSpPr>
        <p:spPr>
          <a:xfrm>
            <a:off x="9116775" y="3481792"/>
            <a:ext cx="2056050" cy="504056"/>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新开发</a:t>
            </a:r>
          </a:p>
        </p:txBody>
      </p:sp>
      <p:sp>
        <p:nvSpPr>
          <p:cNvPr id="13" name="Rectangle 2"/>
          <p:cNvSpPr>
            <a:spLocks noChangeArrowheads="1"/>
          </p:cNvSpPr>
          <p:nvPr userDrawn="1"/>
        </p:nvSpPr>
        <p:spPr bwMode="auto">
          <a:xfrm>
            <a:off x="952130" y="368661"/>
            <a:ext cx="2802144" cy="479425"/>
          </a:xfrm>
          <a:prstGeom prst="rect">
            <a:avLst/>
          </a:prstGeom>
          <a:noFill/>
          <a:ln w="9525">
            <a:noFill/>
            <a:miter lim="800000"/>
            <a:headEnd/>
            <a:tailEnd/>
          </a:ln>
        </p:spPr>
        <p:txBody>
          <a:bodyPr lIns="78227" tIns="39112" rIns="78227" bIns="39112" anchor="ctr"/>
          <a:lstStyle/>
          <a:p>
            <a:pPr algn="l" defTabSz="1001223" rtl="0" eaLnBrk="0" fontAlgn="ctr" hangingPunct="0">
              <a:spcBef>
                <a:spcPct val="0"/>
              </a:spcBef>
              <a:spcAft>
                <a:spcPct val="0"/>
              </a:spcAft>
            </a:pPr>
            <a:r>
              <a:rPr lang="zh-CN" altLang="en-US" sz="3499" b="0" kern="120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修订记录</a:t>
            </a:r>
          </a:p>
        </p:txBody>
      </p:sp>
      <p:sp>
        <p:nvSpPr>
          <p:cNvPr id="14" name="Text Box 58"/>
          <p:cNvSpPr txBox="1">
            <a:spLocks noChangeArrowheads="1"/>
          </p:cNvSpPr>
          <p:nvPr userDrawn="1"/>
        </p:nvSpPr>
        <p:spPr bwMode="auto">
          <a:xfrm>
            <a:off x="8900835" y="296652"/>
            <a:ext cx="2771225" cy="707886"/>
          </a:xfrm>
          <a:prstGeom prst="rect">
            <a:avLst/>
          </a:prstGeom>
          <a:noFill/>
          <a:ln w="9525" algn="ctr">
            <a:noFill/>
            <a:miter lim="800000"/>
            <a:headEnd/>
            <a:tailEnd/>
          </a:ln>
        </p:spPr>
        <p:txBody>
          <a:bodyPr wrap="square">
            <a:spAutoFit/>
          </a:bodyPr>
          <a:lstStyle/>
          <a:p>
            <a:pPr fontAlgn="ctr">
              <a:spcBef>
                <a:spcPct val="50000"/>
              </a:spcBef>
            </a:pPr>
            <a:r>
              <a:rPr lang="zh-CN" altLang="en-US" sz="3998" i="0" baseline="0" dirty="0">
                <a:solidFill>
                  <a:schemeClr val="bg2">
                    <a:lumMod val="50000"/>
                  </a:schemeClr>
                </a:solidFill>
                <a:latin typeface="Huawei Sans" panose="020C0503030203020204" pitchFamily="34" charset="0"/>
                <a:ea typeface="方正兰亭黑简体" panose="02000000000000000000" pitchFamily="2" charset="-122"/>
                <a:cs typeface="Huawei Sans" panose="020C0503030203020204" pitchFamily="34" charset="0"/>
              </a:rPr>
              <a:t>本页不打印</a:t>
            </a:r>
          </a:p>
        </p:txBody>
      </p:sp>
      <p:sp>
        <p:nvSpPr>
          <p:cNvPr id="15" name="文本占位符 7"/>
          <p:cNvSpPr>
            <a:spLocks noGrp="1"/>
          </p:cNvSpPr>
          <p:nvPr>
            <p:ph type="body" sz="quarter" idx="21" hasCustomPrompt="1"/>
          </p:nvPr>
        </p:nvSpPr>
        <p:spPr>
          <a:xfrm>
            <a:off x="1007042" y="4021852"/>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6" name="文本占位符 7"/>
          <p:cNvSpPr>
            <a:spLocks noGrp="1"/>
          </p:cNvSpPr>
          <p:nvPr>
            <p:ph type="body" sz="quarter" idx="22" hasCustomPrompt="1"/>
          </p:nvPr>
        </p:nvSpPr>
        <p:spPr>
          <a:xfrm>
            <a:off x="4126170" y="4021852"/>
            <a:ext cx="19674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smtClean="0"/>
              <a:t>2019.01.25</a:t>
            </a:r>
            <a:endParaRPr lang="zh-CN" altLang="en-US" dirty="0"/>
          </a:p>
        </p:txBody>
      </p:sp>
      <p:sp>
        <p:nvSpPr>
          <p:cNvPr id="17" name="文本占位符 7"/>
          <p:cNvSpPr>
            <a:spLocks noGrp="1"/>
          </p:cNvSpPr>
          <p:nvPr>
            <p:ph type="body" sz="quarter" idx="23" hasCustomPrompt="1"/>
          </p:nvPr>
        </p:nvSpPr>
        <p:spPr>
          <a:xfrm>
            <a:off x="6093619" y="4021852"/>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8" name="文本占位符 7"/>
          <p:cNvSpPr>
            <a:spLocks noGrp="1"/>
          </p:cNvSpPr>
          <p:nvPr>
            <p:ph type="body" sz="quarter" idx="24" hasCustomPrompt="1"/>
          </p:nvPr>
        </p:nvSpPr>
        <p:spPr>
          <a:xfrm>
            <a:off x="9116775" y="3985848"/>
            <a:ext cx="2084625" cy="504056"/>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19" name="文本占位符 7"/>
          <p:cNvSpPr>
            <a:spLocks noGrp="1"/>
          </p:cNvSpPr>
          <p:nvPr>
            <p:ph type="body" sz="quarter" idx="25" hasCustomPrompt="1"/>
          </p:nvPr>
        </p:nvSpPr>
        <p:spPr>
          <a:xfrm>
            <a:off x="1007042" y="4489904"/>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0" name="文本占位符 7"/>
          <p:cNvSpPr>
            <a:spLocks noGrp="1"/>
          </p:cNvSpPr>
          <p:nvPr>
            <p:ph type="body" sz="quarter" idx="26" hasCustomPrompt="1"/>
          </p:nvPr>
        </p:nvSpPr>
        <p:spPr>
          <a:xfrm>
            <a:off x="4126170" y="4489904"/>
            <a:ext cx="19674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smtClean="0"/>
              <a:t>2019.01.25</a:t>
            </a:r>
            <a:endParaRPr lang="zh-CN" altLang="en-US" dirty="0"/>
          </a:p>
        </p:txBody>
      </p:sp>
      <p:sp>
        <p:nvSpPr>
          <p:cNvPr id="21" name="文本占位符 7"/>
          <p:cNvSpPr>
            <a:spLocks noGrp="1"/>
          </p:cNvSpPr>
          <p:nvPr>
            <p:ph type="body" sz="quarter" idx="27" hasCustomPrompt="1"/>
          </p:nvPr>
        </p:nvSpPr>
        <p:spPr>
          <a:xfrm>
            <a:off x="6093619" y="4489904"/>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2" name="文本占位符 7"/>
          <p:cNvSpPr>
            <a:spLocks noGrp="1"/>
          </p:cNvSpPr>
          <p:nvPr>
            <p:ph type="body" sz="quarter" idx="28" hasCustomPrompt="1"/>
          </p:nvPr>
        </p:nvSpPr>
        <p:spPr>
          <a:xfrm>
            <a:off x="9116775" y="4489904"/>
            <a:ext cx="20560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23" name="文本占位符 7"/>
          <p:cNvSpPr>
            <a:spLocks noGrp="1"/>
          </p:cNvSpPr>
          <p:nvPr>
            <p:ph type="body" sz="quarter" idx="29" hasCustomPrompt="1"/>
          </p:nvPr>
        </p:nvSpPr>
        <p:spPr>
          <a:xfrm>
            <a:off x="1007042" y="4999074"/>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4" name="文本占位符 7"/>
          <p:cNvSpPr>
            <a:spLocks noGrp="1"/>
          </p:cNvSpPr>
          <p:nvPr>
            <p:ph type="body" sz="quarter" idx="30" hasCustomPrompt="1"/>
          </p:nvPr>
        </p:nvSpPr>
        <p:spPr>
          <a:xfrm>
            <a:off x="4126170" y="4999074"/>
            <a:ext cx="1967450" cy="468052"/>
          </a:xfrm>
          <a:prstGeom prst="rect">
            <a:avLst/>
          </a:prstGeom>
        </p:spPr>
        <p:txBody>
          <a:bodyPr anchor="ctr"/>
          <a:lstStyle>
            <a:lvl1pPr algn="ctr" fontAlgn="base">
              <a:lnSpc>
                <a:spcPct val="100000"/>
              </a:lnSpc>
              <a:buNone/>
              <a:defRPr lang="zh-CN" altLang="en-US" sz="15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smtClean="0"/>
              <a:t>2019.01.25</a:t>
            </a:r>
            <a:endParaRPr lang="zh-CN" altLang="en-US" dirty="0"/>
          </a:p>
        </p:txBody>
      </p:sp>
      <p:sp>
        <p:nvSpPr>
          <p:cNvPr id="25" name="文本占位符 7"/>
          <p:cNvSpPr>
            <a:spLocks noGrp="1"/>
          </p:cNvSpPr>
          <p:nvPr>
            <p:ph type="body" sz="quarter" idx="31" hasCustomPrompt="1"/>
          </p:nvPr>
        </p:nvSpPr>
        <p:spPr>
          <a:xfrm>
            <a:off x="6093619" y="4999074"/>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6" name="文本占位符 7"/>
          <p:cNvSpPr>
            <a:spLocks noGrp="1"/>
          </p:cNvSpPr>
          <p:nvPr>
            <p:ph type="body" sz="quarter" idx="32" hasCustomPrompt="1"/>
          </p:nvPr>
        </p:nvSpPr>
        <p:spPr>
          <a:xfrm>
            <a:off x="9116775" y="4999074"/>
            <a:ext cx="208462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Tree>
    <p:extLst>
      <p:ext uri="{BB962C8B-B14F-4D97-AF65-F5344CB8AC3E}">
        <p14:creationId xmlns:p14="http://schemas.microsoft.com/office/powerpoint/2010/main" val="800252647"/>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3#前言">
    <p:bg bwMode="gray">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79" indent="-302279" algn="just" fontAlgn="base">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base">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base">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base">
              <a:defRPr baseline="0">
                <a:latin typeface="Huawei Sans" panose="020C0503030203020204" pitchFamily="34" charset="0"/>
                <a:ea typeface="方正兰亭黑简体" panose="02000000000000000000" pitchFamily="2" charset="-122"/>
              </a:defRPr>
            </a:lvl4pPr>
            <a:lvl5pPr marL="1802879" indent="-201519" fontAlgn="base">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a:t>本章主要讲述</a:t>
            </a:r>
            <a:r>
              <a:rPr lang="en-US" altLang="zh-CN" dirty="0"/>
              <a:t>...</a:t>
            </a:r>
          </a:p>
          <a:p>
            <a:pPr lvl="1"/>
            <a:r>
              <a:rPr lang="zh-CN" altLang="en-US" dirty="0"/>
              <a:t>第二</a:t>
            </a:r>
            <a:r>
              <a:rPr lang="zh-CN" altLang="en-US" dirty="0" smtClean="0"/>
              <a:t>级</a:t>
            </a:r>
            <a:endParaRPr lang="zh-CN" altLang="en-US" dirty="0"/>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cxnSp>
        <p:nvCxnSpPr>
          <p:cNvPr id="14"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 xmlns:a16="http://schemas.microsoft.com/office/drawing/2014/main" id="{568EC886-2612-1F43-AB51-21A76A078357}"/>
              </a:ext>
            </a:extLst>
          </p:cNvPr>
          <p:cNvSpPr txBox="1"/>
          <p:nvPr userDrawn="1"/>
        </p:nvSpPr>
        <p:spPr>
          <a:xfrm>
            <a:off x="918916" y="630373"/>
            <a:ext cx="1117614" cy="651845"/>
          </a:xfrm>
          <a:prstGeom prst="rect">
            <a:avLst/>
          </a:prstGeom>
          <a:noFill/>
        </p:spPr>
        <p:txBody>
          <a:bodyPr wrap="none" rtlCol="0">
            <a:spAutoFit/>
          </a:bodyPr>
          <a:lstStyle/>
          <a:p>
            <a:r>
              <a:rPr kumimoji="1" lang="zh-CN" altLang="en-US" sz="3636" baseline="0" dirty="0" smtClean="0">
                <a:solidFill>
                  <a:schemeClr val="tx1"/>
                </a:solidFill>
                <a:latin typeface="Huawei Sans" panose="020C0503030203020204" pitchFamily="34" charset="0"/>
                <a:ea typeface="方正兰亭黑简体" panose="02000000000000000000" pitchFamily="2" charset="-122"/>
                <a:cs typeface="Microsoft YaHei" charset="-122"/>
              </a:rPr>
              <a:t>前言</a:t>
            </a:r>
            <a:endPar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4191700454"/>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4#目标">
    <p:bg bwMode="gray">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79" indent="-302279" algn="just" eaLnBrk="1" fontAlgn="base" hangingPunct="1">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base">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base">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base">
              <a:defRPr baseline="0">
                <a:latin typeface="Huawei Sans" panose="020C0503030203020204" pitchFamily="34" charset="0"/>
                <a:ea typeface="方正兰亭黑简体" panose="02000000000000000000" pitchFamily="2" charset="-122"/>
              </a:defRPr>
            </a:lvl4pPr>
            <a:lvl5pPr marL="1802879" indent="-201519" fontAlgn="base">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smtClean="0"/>
              <a:t>学完本课程后，您将能够：</a:t>
            </a:r>
            <a:endParaRPr lang="en-US" altLang="zh-CN" dirty="0" smtClean="0"/>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p>
          <a:p>
            <a:pPr eaLnBrk="1" hangingPunct="1"/>
            <a:endParaRPr lang="en-US" altLang="zh-CN" dirty="0"/>
          </a:p>
        </p:txBody>
      </p:sp>
      <p:cxnSp>
        <p:nvCxnSpPr>
          <p:cNvPr id="14"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 xmlns:a16="http://schemas.microsoft.com/office/drawing/2014/main" id="{568EC886-2612-1F43-AB51-21A76A078357}"/>
              </a:ext>
            </a:extLst>
          </p:cNvPr>
          <p:cNvSpPr txBox="1"/>
          <p:nvPr userDrawn="1"/>
        </p:nvSpPr>
        <p:spPr>
          <a:xfrm>
            <a:off x="918916" y="630373"/>
            <a:ext cx="1120820" cy="652486"/>
          </a:xfrm>
          <a:prstGeom prst="rect">
            <a:avLst/>
          </a:prstGeom>
          <a:noFill/>
        </p:spPr>
        <p:txBody>
          <a:bodyPr wrap="none" rtlCol="0">
            <a:spAutoFit/>
          </a:bodyPr>
          <a:lstStyle/>
          <a:p>
            <a:pPr defTabSz="1001223" eaLnBrk="0" fontAlgn="ctr" hangingPunct="0"/>
            <a:r>
              <a:rPr lang="zh-CN" altLang="en-US" sz="3640" b="0" baseline="0" dirty="0" smtClean="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目标</a:t>
            </a:r>
            <a:endParaRPr lang="en-US" altLang="zh-CN" sz="3640" b="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p:txBody>
      </p:sp>
    </p:spTree>
    <p:extLst>
      <p:ext uri="{BB962C8B-B14F-4D97-AF65-F5344CB8AC3E}">
        <p14:creationId xmlns:p14="http://schemas.microsoft.com/office/powerpoint/2010/main" val="46285438"/>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5#目录">
    <p:bg bwMode="gray">
      <p:bgPr>
        <a:solidFill>
          <a:srgbClr val="EBEBEB"/>
        </a:solidFill>
        <a:effectLst/>
      </p:bgPr>
    </p:bg>
    <p:spTree>
      <p:nvGrpSpPr>
        <p:cNvPr id="1" name=""/>
        <p:cNvGrpSpPr/>
        <p:nvPr/>
      </p:nvGrpSpPr>
      <p:grpSpPr>
        <a:xfrm>
          <a:off x="0" y="0"/>
          <a:ext cx="0" cy="0"/>
          <a:chOff x="0" y="0"/>
          <a:chExt cx="0" cy="0"/>
        </a:xfrm>
      </p:grpSpPr>
      <p:sp>
        <p:nvSpPr>
          <p:cNvPr id="29" name="文本占位符 6"/>
          <p:cNvSpPr>
            <a:spLocks noGrp="1"/>
          </p:cNvSpPr>
          <p:nvPr>
            <p:ph type="body" sz="quarter" idx="10" hasCustomPrompt="1"/>
          </p:nvPr>
        </p:nvSpPr>
        <p:spPr>
          <a:xfrm>
            <a:off x="1019175" y="1844675"/>
            <a:ext cx="10153650" cy="4068811"/>
          </a:xfrm>
          <a:prstGeom prst="rect">
            <a:avLst/>
          </a:prstGeom>
        </p:spPr>
        <p:txBody>
          <a:bodyPr/>
          <a:lstStyle>
            <a:lvl1pPr marL="457017" marR="0" indent="-457017" algn="just" defTabSz="801367" rtl="0" eaLnBrk="1" fontAlgn="ctr" latinLnBrk="0" hangingPunct="1">
              <a:lnSpc>
                <a:spcPct val="140000"/>
              </a:lnSpc>
              <a:spcBef>
                <a:spcPct val="30000"/>
              </a:spcBef>
              <a:spcAft>
                <a:spcPct val="0"/>
              </a:spcAft>
              <a:buClrTx/>
              <a:buSzPct val="100000"/>
              <a:buFont typeface="+mj-lt"/>
              <a:buAutoNum type="arabicPeriod"/>
              <a:tabLst/>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fontAlgn="ctr">
              <a:buClrTx/>
              <a:buSzPct val="100000"/>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2pPr>
            <a:lvl3pPr>
              <a:defRPr/>
            </a:lvl3pPr>
            <a:lvl5pPr>
              <a:buNone/>
              <a:defRPr/>
            </a:lvl5pPr>
          </a:lstStyle>
          <a:p>
            <a:pPr marL="457200" indent="-457200">
              <a:buSzPct val="100000"/>
              <a:buFont typeface="+mj-lt"/>
              <a:buAutoNum type="arabicPeriod"/>
            </a:pPr>
            <a:r>
              <a:rPr lang="zh-CN" altLang="en-US" dirty="0"/>
              <a:t>一级目录一</a:t>
            </a:r>
            <a:endParaRPr lang="en-US" altLang="zh-CN" dirty="0"/>
          </a:p>
          <a:p>
            <a:pPr marL="653788" lvl="1" indent="-457017">
              <a:buSzPct val="100000"/>
              <a:buFont typeface="+mj-lt"/>
              <a:buAutoNum type="arabicPeriod"/>
            </a:pPr>
            <a:endParaRPr lang="en-US" altLang="zh-CN" dirty="0"/>
          </a:p>
          <a:p>
            <a:pPr marL="457200" indent="-457200">
              <a:buSzPct val="100000"/>
              <a:buFont typeface="+mj-lt"/>
              <a:buAutoNum type="arabicPeriod"/>
            </a:pPr>
            <a:r>
              <a:rPr lang="zh-CN" altLang="en-US" dirty="0"/>
              <a:t>一级目录二</a:t>
            </a:r>
            <a:endParaRPr lang="en-US" altLang="zh-CN" dirty="0"/>
          </a:p>
          <a:p>
            <a:pPr marL="457200" indent="-457200">
              <a:buSzPct val="100000"/>
              <a:buFont typeface="+mj-lt"/>
              <a:buAutoNum type="arabicPeriod"/>
            </a:pPr>
            <a:r>
              <a:rPr lang="zh-CN" altLang="en-US" dirty="0"/>
              <a:t>一级目录三</a:t>
            </a:r>
            <a:endParaRPr lang="en-US" altLang="zh-CN" dirty="0"/>
          </a:p>
          <a:p>
            <a:pPr marL="457200" indent="-457200">
              <a:buSzPct val="100000"/>
              <a:buFont typeface="+mj-lt"/>
              <a:buAutoNum type="arabicPeriod"/>
            </a:pPr>
            <a:r>
              <a:rPr lang="zh-CN" altLang="en-US" dirty="0"/>
              <a:t>一级目录四</a:t>
            </a:r>
            <a:endParaRPr lang="en-US" altLang="zh-CN" dirty="0"/>
          </a:p>
          <a:p>
            <a:endParaRPr lang="zh-CN" altLang="en-US" dirty="0"/>
          </a:p>
        </p:txBody>
      </p:sp>
      <p:cxnSp>
        <p:nvCxnSpPr>
          <p:cNvPr id="28"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30" name="文本框 16">
            <a:extLst>
              <a:ext uri="{FF2B5EF4-FFF2-40B4-BE49-F238E27FC236}">
                <a16:creationId xmlns="" xmlns:a16="http://schemas.microsoft.com/office/drawing/2014/main" id="{568EC886-2612-1F43-AB51-21A76A078357}"/>
              </a:ext>
            </a:extLst>
          </p:cNvPr>
          <p:cNvSpPr txBox="1"/>
          <p:nvPr userDrawn="1"/>
        </p:nvSpPr>
        <p:spPr>
          <a:xfrm>
            <a:off x="918916" y="630373"/>
            <a:ext cx="1147485" cy="653509"/>
          </a:xfrm>
          <a:prstGeom prst="rect">
            <a:avLst/>
          </a:prstGeom>
          <a:noFill/>
        </p:spPr>
        <p:txBody>
          <a:bodyPr wrap="none" rtlCol="0">
            <a:spAutoFit/>
          </a:bodyPr>
          <a:lstStyle>
            <a:defPPr>
              <a:defRPr lang="en-US"/>
            </a:defPPr>
            <a:lvl1pPr defTabSz="1001223" eaLnBrk="0" fontAlgn="ctr" hangingPunct="0">
              <a:defRPr sz="3640" b="0" baseline="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目录</a:t>
            </a:r>
          </a:p>
        </p:txBody>
      </p:sp>
    </p:spTree>
    <p:extLst>
      <p:ext uri="{BB962C8B-B14F-4D97-AF65-F5344CB8AC3E}">
        <p14:creationId xmlns:p14="http://schemas.microsoft.com/office/powerpoint/2010/main" val="3525239466"/>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6#本节概述和学习目标(可选)">
    <p:bg>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p:nvPr>
        </p:nvSpPr>
        <p:spPr>
          <a:xfrm>
            <a:off x="1019174" y="1844675"/>
            <a:ext cx="10153651" cy="4082668"/>
          </a:xfrm>
          <a:prstGeom prst="rect">
            <a:avLst/>
          </a:prstGeom>
        </p:spPr>
        <p:txBody>
          <a:bodyPr/>
          <a:lstStyle>
            <a:lvl1pPr marL="302279" indent="-302279" algn="just" fontAlgn="base">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base">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base">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base">
              <a:defRPr baseline="0">
                <a:latin typeface="Huawei Sans" panose="020C0503030203020204" pitchFamily="34" charset="0"/>
                <a:ea typeface="方正兰亭黑简体" panose="02000000000000000000" pitchFamily="2" charset="-122"/>
              </a:defRPr>
            </a:lvl4pPr>
            <a:lvl5pPr marL="1802879" indent="-201519" fontAlgn="base">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p>
          <a:p>
            <a:pPr eaLnBrk="1" hangingPunct="1"/>
            <a:endParaRPr lang="en-US" altLang="zh-CN" dirty="0"/>
          </a:p>
        </p:txBody>
      </p:sp>
      <p:cxnSp>
        <p:nvCxnSpPr>
          <p:cNvPr id="14"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7" y="1349255"/>
            <a:ext cx="414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 xmlns:a16="http://schemas.microsoft.com/office/drawing/2014/main" id="{568EC886-2612-1F43-AB51-21A76A078357}"/>
              </a:ext>
            </a:extLst>
          </p:cNvPr>
          <p:cNvSpPr txBox="1"/>
          <p:nvPr userDrawn="1"/>
        </p:nvSpPr>
        <p:spPr>
          <a:xfrm>
            <a:off x="918916" y="630373"/>
            <a:ext cx="4397358" cy="652486"/>
          </a:xfrm>
          <a:prstGeom prst="rect">
            <a:avLst/>
          </a:prstGeom>
          <a:noFill/>
        </p:spPr>
        <p:txBody>
          <a:bodyPr wrap="none" rtlCol="0">
            <a:spAutoFit/>
          </a:bodyPr>
          <a:lstStyle/>
          <a:p>
            <a:pPr defTabSz="1001223" eaLnBrk="0" fontAlgn="ctr" hangingPunct="0"/>
            <a:r>
              <a:rPr lang="zh-CN" altLang="en-US" sz="3640" b="0" baseline="0" dirty="0" smtClean="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本节概述和学习目标</a:t>
            </a:r>
            <a:endParaRPr lang="zh-CN" altLang="en-US" sz="3640" b="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p:txBody>
      </p:sp>
    </p:spTree>
    <p:extLst>
      <p:ext uri="{BB962C8B-B14F-4D97-AF65-F5344CB8AC3E}">
        <p14:creationId xmlns:p14="http://schemas.microsoft.com/office/powerpoint/2010/main" val="1036787055"/>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10#思考题">
    <p:spTree>
      <p:nvGrpSpPr>
        <p:cNvPr id="1" name=""/>
        <p:cNvGrpSpPr/>
        <p:nvPr/>
      </p:nvGrpSpPr>
      <p:grpSpPr>
        <a:xfrm>
          <a:off x="0" y="0"/>
          <a:ext cx="0" cy="0"/>
          <a:chOff x="0" y="0"/>
          <a:chExt cx="0" cy="0"/>
        </a:xfrm>
      </p:grpSpPr>
      <p:sp>
        <p:nvSpPr>
          <p:cNvPr id="4" name="文本占位符 6"/>
          <p:cNvSpPr>
            <a:spLocks noGrp="1"/>
          </p:cNvSpPr>
          <p:nvPr>
            <p:ph type="body" sz="quarter" idx="10" hasCustomPrompt="1"/>
          </p:nvPr>
        </p:nvSpPr>
        <p:spPr>
          <a:xfrm>
            <a:off x="1019176" y="1844675"/>
            <a:ext cx="10153650" cy="4068812"/>
          </a:xfrm>
          <a:prstGeom prst="rect">
            <a:avLst/>
          </a:prstGeom>
        </p:spPr>
        <p:txBody>
          <a:bodyPr/>
          <a:lstStyle>
            <a:lvl1pPr marL="457200" marR="0" indent="-457200" algn="just" defTabSz="801688" rtl="0" eaLnBrk="1" fontAlgn="base" latinLnBrk="0" hangingPunct="1">
              <a:lnSpc>
                <a:spcPct val="140000"/>
              </a:lnSpc>
              <a:spcBef>
                <a:spcPct val="30000"/>
              </a:spcBef>
              <a:spcAft>
                <a:spcPct val="0"/>
              </a:spcAft>
              <a:buClr>
                <a:schemeClr val="tx1"/>
              </a:buClr>
              <a:buSzPct val="100000"/>
              <a:buFont typeface="+mj-lt"/>
              <a:buAutoNum type="arabicPeriod"/>
              <a:tabLst/>
              <a:defRPr sz="2000" baseline="0">
                <a:latin typeface="Huawei Sans" panose="020C0503030203020204" pitchFamily="34" charset="0"/>
                <a:ea typeface="方正兰亭黑简体" panose="02000000000000000000" pitchFamily="2" charset="-122"/>
                <a:cs typeface="Huawei Sans" panose="020C0503030203020204" pitchFamily="34" charset="0"/>
              </a:defRPr>
            </a:lvl1pPr>
            <a:lvl2pPr marL="744537" indent="-342900" algn="just" fontAlgn="ctr">
              <a:buSzPct val="100000"/>
              <a:buFont typeface="+mj-lt"/>
              <a:buAutoNum type="alphaUcPeriod"/>
              <a:defRPr sz="1800" baseline="0">
                <a:latin typeface="Huawei Sans" panose="020C0503030203020204" pitchFamily="34" charset="0"/>
              </a:defRPr>
            </a:lvl2pPr>
            <a:lvl3pPr>
              <a:defRPr/>
            </a:lvl3pPr>
            <a:lvl5pPr>
              <a:buNone/>
              <a:defRPr/>
            </a:lvl5pPr>
          </a:lstStyle>
          <a:p>
            <a:r>
              <a:rPr lang="zh-CN" altLang="en-US" dirty="0" smtClean="0"/>
              <a:t>此</a:t>
            </a:r>
            <a:r>
              <a:rPr lang="zh-CN" altLang="en-US" dirty="0"/>
              <a:t>版式用于</a:t>
            </a:r>
            <a:r>
              <a:rPr lang="zh-CN" altLang="en-US" dirty="0" smtClean="0"/>
              <a:t>思考题具体格式</a:t>
            </a:r>
            <a:endParaRPr lang="en-US" altLang="zh-CN" dirty="0" smtClean="0"/>
          </a:p>
        </p:txBody>
      </p:sp>
      <p:cxnSp>
        <p:nvCxnSpPr>
          <p:cNvPr id="24"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7" y="1349255"/>
            <a:ext cx="1368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5" name="文本框 16">
            <a:extLst>
              <a:ext uri="{FF2B5EF4-FFF2-40B4-BE49-F238E27FC236}">
                <a16:creationId xmlns="" xmlns:a16="http://schemas.microsoft.com/office/drawing/2014/main" id="{568EC886-2612-1F43-AB51-21A76A078357}"/>
              </a:ext>
            </a:extLst>
          </p:cNvPr>
          <p:cNvSpPr txBox="1"/>
          <p:nvPr userDrawn="1"/>
        </p:nvSpPr>
        <p:spPr>
          <a:xfrm>
            <a:off x="918916" y="630373"/>
            <a:ext cx="1584088" cy="651845"/>
          </a:xfrm>
          <a:prstGeom prst="rect">
            <a:avLst/>
          </a:prstGeom>
          <a:noFill/>
        </p:spPr>
        <p:txBody>
          <a:bodyPr wrap="none" rtlCol="0">
            <a:spAutoFit/>
          </a:bodyPr>
          <a:lstStyle/>
          <a:p>
            <a:r>
              <a:rPr kumimoji="1" lang="zh-CN" altLang="en-US" sz="3636" baseline="0" dirty="0" smtClean="0">
                <a:solidFill>
                  <a:schemeClr val="tx1"/>
                </a:solidFill>
                <a:latin typeface="Huawei Sans" panose="020C0503030203020204" pitchFamily="34" charset="0"/>
                <a:ea typeface="方正兰亭黑简体" panose="02000000000000000000" pitchFamily="2" charset="-122"/>
                <a:cs typeface="Microsoft YaHei" charset="-122"/>
              </a:rPr>
              <a:t>思考题</a:t>
            </a:r>
            <a:endPar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3557104670"/>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11#本节小结（可选）">
    <p:spTree>
      <p:nvGrpSpPr>
        <p:cNvPr id="1" name=""/>
        <p:cNvGrpSpPr/>
        <p:nvPr/>
      </p:nvGrpSpPr>
      <p:grpSpPr>
        <a:xfrm>
          <a:off x="0" y="0"/>
          <a:ext cx="0" cy="0"/>
          <a:chOff x="0" y="0"/>
          <a:chExt cx="0" cy="0"/>
        </a:xfrm>
      </p:grpSpPr>
      <p:sp>
        <p:nvSpPr>
          <p:cNvPr id="10" name="内容占位符 6"/>
          <p:cNvSpPr>
            <a:spLocks noGrp="1"/>
          </p:cNvSpPr>
          <p:nvPr>
            <p:ph sz="quarter" idx="10" hasCustomPrompt="1"/>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smtClean="0"/>
              <a:t>此版式用于每一节的小结</a:t>
            </a:r>
          </a:p>
          <a:p>
            <a:pPr lvl="1"/>
            <a:r>
              <a:rPr lang="zh-CN" altLang="en-US" dirty="0" smtClean="0"/>
              <a:t>第二</a:t>
            </a:r>
            <a:r>
              <a:rPr lang="zh-CN" altLang="en-US" dirty="0"/>
              <a:t>级</a:t>
            </a:r>
          </a:p>
          <a:p>
            <a:pPr lvl="2"/>
            <a:r>
              <a:rPr lang="zh-CN" altLang="en-US" dirty="0"/>
              <a:t>第三级</a:t>
            </a:r>
          </a:p>
          <a:p>
            <a:pPr lvl="3"/>
            <a:r>
              <a:rPr lang="zh-CN" altLang="en-US" dirty="0"/>
              <a:t>第四级</a:t>
            </a:r>
          </a:p>
          <a:p>
            <a:pPr lvl="4"/>
            <a:r>
              <a:rPr lang="zh-CN" altLang="en-US" dirty="0"/>
              <a:t>第五级</a:t>
            </a:r>
          </a:p>
        </p:txBody>
      </p:sp>
      <p:cxnSp>
        <p:nvCxnSpPr>
          <p:cNvPr id="11"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2" name="文本框 16">
            <a:extLst>
              <a:ext uri="{FF2B5EF4-FFF2-40B4-BE49-F238E27FC236}">
                <a16:creationId xmlns=""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smtClean="0">
                <a:solidFill>
                  <a:schemeClr val="tx1"/>
                </a:solidFill>
                <a:latin typeface="Huawei Sans" panose="020C0503030203020204" pitchFamily="34" charset="0"/>
                <a:ea typeface="方正兰亭黑简体" panose="02000000000000000000" pitchFamily="2" charset="-122"/>
                <a:cs typeface="Microsoft YaHei" charset="-122"/>
              </a:rPr>
              <a:t>本节小结</a:t>
            </a:r>
            <a:endPar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3295293137"/>
      </p:ext>
    </p:extLst>
  </p:cSld>
  <p:clrMapOvr>
    <a:masterClrMapping/>
  </p:clrMapOvr>
  <p:timing>
    <p:tnLst>
      <p:par>
        <p:cTn id="1" dur="indefinite" restart="never" nodeType="tmRoot"/>
      </p:par>
    </p:tnLst>
  </p:timing>
  <p:extLst mod="1">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12#本章总结">
    <p:spTree>
      <p:nvGrpSpPr>
        <p:cNvPr id="1" name=""/>
        <p:cNvGrpSpPr/>
        <p:nvPr/>
      </p:nvGrpSpPr>
      <p:grpSpPr>
        <a:xfrm>
          <a:off x="0" y="0"/>
          <a:ext cx="0" cy="0"/>
          <a:chOff x="0" y="0"/>
          <a:chExt cx="0" cy="0"/>
        </a:xfrm>
      </p:grpSpPr>
      <p:sp>
        <p:nvSpPr>
          <p:cNvPr id="10" name="内容占位符 6"/>
          <p:cNvSpPr>
            <a:spLocks noGrp="1"/>
          </p:cNvSpPr>
          <p:nvPr>
            <p:ph sz="quarter" idx="10"/>
          </p:nvPr>
        </p:nvSpPr>
        <p:spPr>
          <a:xfrm>
            <a:off x="1019175" y="1844675"/>
            <a:ext cx="10153650" cy="4082880"/>
          </a:xfrm>
          <a:prstGeom prst="rect">
            <a:avLst/>
          </a:prstGeom>
        </p:spPr>
        <p:txBody>
          <a:bodyPr/>
          <a:lstStyle>
            <a:lvl1pPr algn="just" fontAlgn="base">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base">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base">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base">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base">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cxnSp>
        <p:nvCxnSpPr>
          <p:cNvPr id="9"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1" name="文本框 16">
            <a:extLst>
              <a:ext uri="{FF2B5EF4-FFF2-40B4-BE49-F238E27FC236}">
                <a16:creationId xmlns=""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smtClean="0">
                <a:solidFill>
                  <a:schemeClr val="tx1"/>
                </a:solidFill>
                <a:latin typeface="Huawei Sans" panose="020C0503030203020204" pitchFamily="34" charset="0"/>
                <a:ea typeface="方正兰亭黑简体" panose="02000000000000000000" pitchFamily="2" charset="-122"/>
                <a:cs typeface="Microsoft YaHei" charset="-122"/>
              </a:rPr>
              <a:t>本章总结</a:t>
            </a:r>
            <a:endPar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1733786734"/>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13#更多信息(可选)">
    <p:spTree>
      <p:nvGrpSpPr>
        <p:cNvPr id="1" name=""/>
        <p:cNvGrpSpPr/>
        <p:nvPr/>
      </p:nvGrpSpPr>
      <p:grpSpPr>
        <a:xfrm>
          <a:off x="0" y="0"/>
          <a:ext cx="0" cy="0"/>
          <a:chOff x="0" y="0"/>
          <a:chExt cx="0" cy="0"/>
        </a:xfrm>
      </p:grpSpPr>
      <p:sp>
        <p:nvSpPr>
          <p:cNvPr id="3" name="文本占位符 6"/>
          <p:cNvSpPr>
            <a:spLocks noGrp="1"/>
          </p:cNvSpPr>
          <p:nvPr>
            <p:ph type="body" sz="quarter" idx="10" hasCustomPrompt="1"/>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5pPr>
              <a:buNone/>
              <a:defRPr/>
            </a:lvl5pPr>
          </a:lstStyle>
          <a:p>
            <a:r>
              <a:rPr lang="zh-CN" altLang="en-US" dirty="0"/>
              <a:t>此版式用于提供给学员更多学习信息。</a:t>
            </a:r>
          </a:p>
        </p:txBody>
      </p:sp>
      <p:cxnSp>
        <p:nvCxnSpPr>
          <p:cNvPr id="12"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3" name="文本框 16">
            <a:extLst>
              <a:ext uri="{FF2B5EF4-FFF2-40B4-BE49-F238E27FC236}">
                <a16:creationId xmlns=""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smtClean="0">
                <a:solidFill>
                  <a:schemeClr val="tx1"/>
                </a:solidFill>
                <a:latin typeface="Huawei Sans" panose="020C0503030203020204" pitchFamily="34" charset="0"/>
                <a:ea typeface="方正兰亭黑简体" panose="02000000000000000000" pitchFamily="2" charset="-122"/>
                <a:cs typeface="Microsoft YaHei" charset="-122"/>
              </a:rPr>
              <a:t>更多信息</a:t>
            </a:r>
            <a:endPar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1051668388"/>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14#学习推荐(可选)">
    <p:spTree>
      <p:nvGrpSpPr>
        <p:cNvPr id="1" name=""/>
        <p:cNvGrpSpPr/>
        <p:nvPr/>
      </p:nvGrpSpPr>
      <p:grpSpPr>
        <a:xfrm>
          <a:off x="0" y="0"/>
          <a:ext cx="0" cy="0"/>
          <a:chOff x="0" y="0"/>
          <a:chExt cx="0" cy="0"/>
        </a:xfrm>
      </p:grpSpPr>
      <p:sp>
        <p:nvSpPr>
          <p:cNvPr id="3" name="文本占位符 6"/>
          <p:cNvSpPr>
            <a:spLocks noGrp="1"/>
          </p:cNvSpPr>
          <p:nvPr>
            <p:ph type="body" sz="quarter" idx="10"/>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endParaRPr lang="zh-CN" altLang="en-US" dirty="0"/>
          </a:p>
        </p:txBody>
      </p:sp>
      <p:cxnSp>
        <p:nvCxnSpPr>
          <p:cNvPr id="14"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5" name="文本框 16">
            <a:extLst>
              <a:ext uri="{FF2B5EF4-FFF2-40B4-BE49-F238E27FC236}">
                <a16:creationId xmlns=""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smtClean="0">
                <a:solidFill>
                  <a:schemeClr val="tx1"/>
                </a:solidFill>
                <a:latin typeface="Huawei Sans" panose="020C0503030203020204" pitchFamily="34" charset="0"/>
                <a:ea typeface="方正兰亭黑简体" panose="02000000000000000000" pitchFamily="2" charset="-122"/>
                <a:cs typeface="Microsoft YaHei" charset="-122"/>
              </a:rPr>
              <a:t>学习推荐</a:t>
            </a:r>
            <a:endPar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4259767845"/>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7#标题和内容">
    <p:spTree>
      <p:nvGrpSpPr>
        <p:cNvPr id="1" name=""/>
        <p:cNvGrpSpPr/>
        <p:nvPr/>
      </p:nvGrpSpPr>
      <p:grpSpPr>
        <a:xfrm>
          <a:off x="0" y="0"/>
          <a:ext cx="0" cy="0"/>
          <a:chOff x="0" y="0"/>
          <a:chExt cx="0" cy="0"/>
        </a:xfrm>
      </p:grpSpPr>
      <p:sp>
        <p:nvSpPr>
          <p:cNvPr id="3" name="标题 1"/>
          <p:cNvSpPr>
            <a:spLocks noGrp="1"/>
          </p:cNvSpPr>
          <p:nvPr>
            <p:ph type="title"/>
          </p:nvPr>
        </p:nvSpPr>
        <p:spPr>
          <a:xfrm>
            <a:off x="455612" y="447468"/>
            <a:ext cx="11293475" cy="1001920"/>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7798">
              <a:lnSpc>
                <a:spcPts val="3430"/>
              </a:lnSpc>
              <a:spcBef>
                <a:spcPts val="0"/>
              </a:spcBef>
              <a:buFont typeface="Arial" panose="020B0604020202020204" pitchFamily="34" charset="0"/>
            </a:pPr>
            <a:r>
              <a:rPr lang="zh-CN" altLang="en-US" dirty="0" smtClean="0"/>
              <a:t>单击</a:t>
            </a:r>
            <a:r>
              <a:rPr lang="zh-CN" altLang="en-US" dirty="0"/>
              <a:t>此处编辑母版标题样式</a:t>
            </a:r>
          </a:p>
        </p:txBody>
      </p:sp>
      <p:sp>
        <p:nvSpPr>
          <p:cNvPr id="9" name="文本占位符 6"/>
          <p:cNvSpPr>
            <a:spLocks noGrp="1"/>
          </p:cNvSpPr>
          <p:nvPr>
            <p:ph type="body" sz="quarter" idx="10" hasCustomPrompt="1"/>
          </p:nvPr>
        </p:nvSpPr>
        <p:spPr>
          <a:xfrm>
            <a:off x="455612" y="1484312"/>
            <a:ext cx="11293476" cy="4443243"/>
          </a:xfrm>
          <a:prstGeom prst="rect">
            <a:avLst/>
          </a:prstGeom>
        </p:spPr>
        <p:txBody>
          <a:bodyPr/>
          <a:lstStyle>
            <a:lvl1pPr algn="just" fontAlgn="base">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2649862490"/>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7*#标题和内容（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93474" cy="485982"/>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7798">
              <a:lnSpc>
                <a:spcPts val="3430"/>
              </a:lnSpc>
              <a:spcBef>
                <a:spcPts val="0"/>
              </a:spcBef>
              <a:buFont typeface="Arial" panose="020B0604020202020204" pitchFamily="34" charset="0"/>
            </a:pPr>
            <a:r>
              <a:rPr lang="zh-CN" altLang="en-US" dirty="0" smtClean="0"/>
              <a:t>单击</a:t>
            </a:r>
            <a:r>
              <a:rPr lang="zh-CN" altLang="en-US" dirty="0"/>
              <a:t>此处编辑母版标题样式</a:t>
            </a:r>
          </a:p>
        </p:txBody>
      </p:sp>
      <p:sp>
        <p:nvSpPr>
          <p:cNvPr id="9" name="文本占位符 6"/>
          <p:cNvSpPr>
            <a:spLocks noGrp="1"/>
          </p:cNvSpPr>
          <p:nvPr>
            <p:ph type="body" sz="quarter" idx="10" hasCustomPrompt="1"/>
          </p:nvPr>
        </p:nvSpPr>
        <p:spPr>
          <a:xfrm>
            <a:off x="455612" y="1047750"/>
            <a:ext cx="11293475" cy="4879805"/>
          </a:xfrm>
          <a:prstGeom prst="rect">
            <a:avLst/>
          </a:prstGeom>
        </p:spPr>
        <p:txBody>
          <a:bodyPr/>
          <a:lstStyle>
            <a:lvl1pPr algn="just" fontAlgn="base">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1288804162"/>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595">
          <p15:clr>
            <a:srgbClr val="FBAE40"/>
          </p15:clr>
        </p15:guide>
        <p15:guide id="2" orient="horz" pos="663">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8#仅标题（两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93475" cy="1001920"/>
          </a:xfrm>
          <a:prstGeom prst="rect">
            <a:avLst/>
          </a:prstGeom>
        </p:spPr>
        <p:txBody>
          <a:bodyPr lIns="0" tIns="0" rIns="0" bIns="0" anchor="t">
            <a:normAutofit/>
          </a:bodyPr>
          <a:lstStyle>
            <a:lvl1pPr>
              <a:defRPr lang="zh-CN" altLang="en-US" baseline="0" dirty="0"/>
            </a:lvl1pPr>
          </a:lstStyle>
          <a:p>
            <a:pPr marL="0" lvl="0" indent="0" defTabSz="1187798">
              <a:lnSpc>
                <a:spcPts val="3430"/>
              </a:lnSpc>
              <a:spcBef>
                <a:spcPts val="0"/>
              </a:spcBef>
              <a:buFont typeface="Arial" panose="020B0604020202020204" pitchFamily="34" charset="0"/>
            </a:pPr>
            <a:r>
              <a:rPr lang="zh-CN" altLang="en-US" dirty="0" smtClean="0"/>
              <a:t>单击</a:t>
            </a:r>
            <a:r>
              <a:rPr lang="zh-CN" altLang="en-US" dirty="0"/>
              <a:t>此处编辑母版标题样式</a:t>
            </a:r>
          </a:p>
        </p:txBody>
      </p:sp>
    </p:spTree>
    <p:extLst>
      <p:ext uri="{BB962C8B-B14F-4D97-AF65-F5344CB8AC3E}">
        <p14:creationId xmlns:p14="http://schemas.microsoft.com/office/powerpoint/2010/main" val="3851924938"/>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8*#仅标题（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2438" y="447468"/>
            <a:ext cx="11296649" cy="497095"/>
          </a:xfrm>
          <a:prstGeom prst="rect">
            <a:avLst/>
          </a:prstGeom>
        </p:spPr>
        <p:txBody>
          <a:bodyPr lIns="0" tIns="0" rIns="0" bIns="0" anchor="t">
            <a:normAutofit/>
          </a:bodyPr>
          <a:lstStyle>
            <a:lvl1pPr>
              <a:defRPr lang="zh-CN" altLang="en-US" baseline="0" dirty="0"/>
            </a:lvl1pPr>
          </a:lstStyle>
          <a:p>
            <a:pPr marL="0" lvl="0" indent="0" defTabSz="1187798">
              <a:lnSpc>
                <a:spcPts val="3430"/>
              </a:lnSpc>
              <a:spcBef>
                <a:spcPts val="0"/>
              </a:spcBef>
              <a:buFont typeface="Arial" panose="020B0604020202020204" pitchFamily="34" charset="0"/>
            </a:pPr>
            <a:r>
              <a:rPr lang="zh-CN" altLang="en-US" dirty="0" smtClean="0"/>
              <a:t>单击</a:t>
            </a:r>
            <a:r>
              <a:rPr lang="zh-CN" altLang="en-US" dirty="0"/>
              <a:t>此处编辑母版标题样式</a:t>
            </a:r>
          </a:p>
        </p:txBody>
      </p:sp>
    </p:spTree>
    <p:extLst>
      <p:ext uri="{BB962C8B-B14F-4D97-AF65-F5344CB8AC3E}">
        <p14:creationId xmlns:p14="http://schemas.microsoft.com/office/powerpoint/2010/main" val="99998166"/>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595">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9#全白背景">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4697958"/>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15#谢谢">
    <p:bg bwMode="gray">
      <p:bgPr>
        <a:solidFill>
          <a:srgbClr val="FFFFFF"/>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xmlns="" id="{42AF307D-40F4-EC4C-9108-79E948007529}"/>
              </a:ext>
            </a:extLst>
          </p:cNvPr>
          <p:cNvSpPr txBox="1"/>
          <p:nvPr userDrawn="1"/>
        </p:nvSpPr>
        <p:spPr>
          <a:xfrm>
            <a:off x="607486" y="1402064"/>
            <a:ext cx="3921034" cy="854717"/>
          </a:xfrm>
          <a:prstGeom prst="rect">
            <a:avLst/>
          </a:prstGeom>
          <a:noFill/>
        </p:spPr>
        <p:txBody>
          <a:bodyPr wrap="square" rtlCol="0">
            <a:spAutoFit/>
          </a:bodyPr>
          <a:lstStyle/>
          <a:p>
            <a:pPr algn="l"/>
            <a:r>
              <a:rPr lang="en-US" sz="4940" dirty="0" smtClean="0">
                <a:solidFill>
                  <a:schemeClr val="tx1"/>
                </a:solidFill>
              </a:rPr>
              <a:t>Thank you.</a:t>
            </a:r>
            <a:endParaRPr lang="en-US" sz="4940" dirty="0">
              <a:solidFill>
                <a:schemeClr val="tx1"/>
              </a:solidFill>
            </a:endParaRPr>
          </a:p>
        </p:txBody>
      </p:sp>
    </p:spTree>
    <p:extLst>
      <p:ext uri="{BB962C8B-B14F-4D97-AF65-F5344CB8AC3E}">
        <p14:creationId xmlns:p14="http://schemas.microsoft.com/office/powerpoint/2010/main" val="1028299403"/>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image" Target="../media/image3.pn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theme" Target="../theme/theme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4.xml"/><Relationship Id="rId7" Type="http://schemas.openxmlformats.org/officeDocument/2006/relationships/image" Target="../media/image3.pn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3.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4.xml"/><Relationship Id="rId1"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203089" y="5976169"/>
            <a:ext cx="2257507" cy="482533"/>
          </a:xfrm>
          <a:prstGeom prst="rect">
            <a:avLst/>
          </a:prstGeom>
        </p:spPr>
      </p:pic>
      <p:grpSp>
        <p:nvGrpSpPr>
          <p:cNvPr id="30" name="Group 87">
            <a:extLst>
              <a:ext uri="{FF2B5EF4-FFF2-40B4-BE49-F238E27FC236}">
                <a16:creationId xmlns=""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1" name="矩形 13">
              <a:extLst>
                <a:ext uri="{FF2B5EF4-FFF2-40B4-BE49-F238E27FC236}">
                  <a16:creationId xmlns=""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196/0/84</a:t>
              </a:r>
            </a:p>
          </p:txBody>
        </p:sp>
        <p:sp>
          <p:nvSpPr>
            <p:cNvPr id="32" name="文本框 15">
              <a:extLst>
                <a:ext uri="{FF2B5EF4-FFF2-40B4-BE49-F238E27FC236}">
                  <a16:creationId xmlns=""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p>
          </p:txBody>
        </p:sp>
        <p:sp>
          <p:nvSpPr>
            <p:cNvPr id="33" name="矩形 13">
              <a:extLst>
                <a:ext uri="{FF2B5EF4-FFF2-40B4-BE49-F238E27FC236}">
                  <a16:creationId xmlns=""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203/55/120</a:t>
              </a:r>
            </a:p>
          </p:txBody>
        </p:sp>
        <p:sp>
          <p:nvSpPr>
            <p:cNvPr id="34" name="矩形 13">
              <a:extLst>
                <a:ext uri="{FF2B5EF4-FFF2-40B4-BE49-F238E27FC236}">
                  <a16:creationId xmlns=""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237/109/0</a:t>
              </a:r>
            </a:p>
          </p:txBody>
        </p:sp>
        <p:sp>
          <p:nvSpPr>
            <p:cNvPr id="35" name="矩形 13">
              <a:extLst>
                <a:ext uri="{FF2B5EF4-FFF2-40B4-BE49-F238E27FC236}">
                  <a16:creationId xmlns=""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153/54/54</a:t>
              </a:r>
            </a:p>
          </p:txBody>
        </p:sp>
        <p:sp>
          <p:nvSpPr>
            <p:cNvPr id="36" name="矩形 13">
              <a:extLst>
                <a:ext uri="{FF2B5EF4-FFF2-40B4-BE49-F238E27FC236}">
                  <a16:creationId xmlns=""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98/178/48</a:t>
              </a:r>
            </a:p>
          </p:txBody>
        </p:sp>
        <p:sp>
          <p:nvSpPr>
            <p:cNvPr id="37" name="矩形 13">
              <a:extLst>
                <a:ext uri="{FF2B5EF4-FFF2-40B4-BE49-F238E27FC236}">
                  <a16:creationId xmlns=""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242/137/68</a:t>
              </a:r>
              <a:endParaRPr kumimoji="1" lang="mr-IN" altLang="zh-CN" sz="500" b="1" dirty="0">
                <a:solidFill>
                  <a:srgbClr val="FFFFFF"/>
                </a:solidFill>
                <a:latin typeface="Huawei Sans" panose="020C0503030203020204" pitchFamily="34" charset="0"/>
                <a:ea typeface="Arial" charset="0"/>
                <a:cs typeface="Arial" charset="0"/>
              </a:endParaRPr>
            </a:p>
          </p:txBody>
        </p:sp>
        <p:sp>
          <p:nvSpPr>
            <p:cNvPr id="38" name="矩形 13">
              <a:extLst>
                <a:ext uri="{FF2B5EF4-FFF2-40B4-BE49-F238E27FC236}">
                  <a16:creationId xmlns=""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185C</a:t>
              </a:r>
            </a:p>
            <a:p>
              <a:pPr algn="ctr">
                <a:lnSpc>
                  <a:spcPts val="620"/>
                </a:lnSpc>
                <a:spcBef>
                  <a:spcPts val="0"/>
                </a:spcBef>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199/0/11  </a:t>
              </a:r>
            </a:p>
          </p:txBody>
        </p:sp>
        <p:sp>
          <p:nvSpPr>
            <p:cNvPr id="39" name="文本框 15">
              <a:extLst>
                <a:ext uri="{FF2B5EF4-FFF2-40B4-BE49-F238E27FC236}">
                  <a16:creationId xmlns=""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p>
          </p:txBody>
        </p:sp>
        <p:sp>
          <p:nvSpPr>
            <p:cNvPr id="40" name="矩形 13">
              <a:extLst>
                <a:ext uri="{FF2B5EF4-FFF2-40B4-BE49-F238E27FC236}">
                  <a16:creationId xmlns=""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186C</a:t>
              </a:r>
            </a:p>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200/16/46  </a:t>
              </a:r>
            </a:p>
          </p:txBody>
        </p:sp>
        <p:sp>
          <p:nvSpPr>
            <p:cNvPr id="41" name="矩形 13">
              <a:extLst>
                <a:ext uri="{FF2B5EF4-FFF2-40B4-BE49-F238E27FC236}">
                  <a16:creationId xmlns=""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127/0/1</a:t>
              </a:r>
            </a:p>
          </p:txBody>
        </p:sp>
        <p:sp>
          <p:nvSpPr>
            <p:cNvPr id="42" name="矩形 13">
              <a:extLst>
                <a:ext uri="{FF2B5EF4-FFF2-40B4-BE49-F238E27FC236}">
                  <a16:creationId xmlns=""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52/200/0</a:t>
              </a:r>
            </a:p>
          </p:txBody>
        </p:sp>
        <p:sp>
          <p:nvSpPr>
            <p:cNvPr id="43" name="矩形 13">
              <a:extLst>
                <a:ext uri="{FF2B5EF4-FFF2-40B4-BE49-F238E27FC236}">
                  <a16:creationId xmlns=""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48/181/197</a:t>
              </a:r>
            </a:p>
          </p:txBody>
        </p:sp>
        <p:sp>
          <p:nvSpPr>
            <p:cNvPr id="44" name="矩形 13">
              <a:extLst>
                <a:ext uri="{FF2B5EF4-FFF2-40B4-BE49-F238E27FC236}">
                  <a16:creationId xmlns=""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129/193/95</a:t>
              </a:r>
            </a:p>
          </p:txBody>
        </p:sp>
        <p:sp>
          <p:nvSpPr>
            <p:cNvPr id="45" name="矩形 13">
              <a:extLst>
                <a:ext uri="{FF2B5EF4-FFF2-40B4-BE49-F238E27FC236}">
                  <a16:creationId xmlns=""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253/211/81</a:t>
              </a:r>
            </a:p>
          </p:txBody>
        </p:sp>
        <p:sp>
          <p:nvSpPr>
            <p:cNvPr id="46" name="矩形 13">
              <a:extLst>
                <a:ext uri="{FF2B5EF4-FFF2-40B4-BE49-F238E27FC236}">
                  <a16:creationId xmlns=""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86/196/210</a:t>
              </a:r>
            </a:p>
          </p:txBody>
        </p:sp>
        <p:sp>
          <p:nvSpPr>
            <p:cNvPr id="47" name="矩形 13">
              <a:extLst>
                <a:ext uri="{FF2B5EF4-FFF2-40B4-BE49-F238E27FC236}">
                  <a16:creationId xmlns=""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211/57/65</a:t>
              </a:r>
            </a:p>
          </p:txBody>
        </p:sp>
        <p:sp>
          <p:nvSpPr>
            <p:cNvPr id="48" name="矩形 13">
              <a:extLst>
                <a:ext uri="{FF2B5EF4-FFF2-40B4-BE49-F238E27FC236}">
                  <a16:creationId xmlns=""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211/56/89</a:t>
              </a:r>
            </a:p>
          </p:txBody>
        </p:sp>
        <p:sp>
          <p:nvSpPr>
            <p:cNvPr id="49" name="矩形 13">
              <a:extLst>
                <a:ext uri="{FF2B5EF4-FFF2-40B4-BE49-F238E27FC236}">
                  <a16:creationId xmlns=""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221/128/170</a:t>
              </a:r>
            </a:p>
          </p:txBody>
        </p:sp>
        <p:sp>
          <p:nvSpPr>
            <p:cNvPr id="50" name="矩形 13">
              <a:extLst>
                <a:ext uri="{FF2B5EF4-FFF2-40B4-BE49-F238E27FC236}">
                  <a16:creationId xmlns=""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191/128/130</a:t>
              </a:r>
            </a:p>
          </p:txBody>
        </p:sp>
        <p:sp>
          <p:nvSpPr>
            <p:cNvPr id="51" name="矩形 13">
              <a:extLst>
                <a:ext uri="{FF2B5EF4-FFF2-40B4-BE49-F238E27FC236}">
                  <a16:creationId xmlns=""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246/183/140</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52" name="矩形 13">
              <a:extLst>
                <a:ext uri="{FF2B5EF4-FFF2-40B4-BE49-F238E27FC236}">
                  <a16:creationId xmlns=""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176/216/156</a:t>
              </a:r>
            </a:p>
          </p:txBody>
        </p:sp>
        <p:sp>
          <p:nvSpPr>
            <p:cNvPr id="53" name="矩形 13">
              <a:extLst>
                <a:ext uri="{FF2B5EF4-FFF2-40B4-BE49-F238E27FC236}">
                  <a16:creationId xmlns=""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253/227/181</a:t>
              </a:r>
            </a:p>
          </p:txBody>
        </p:sp>
        <p:sp>
          <p:nvSpPr>
            <p:cNvPr id="54" name="矩形 13">
              <a:extLst>
                <a:ext uri="{FF2B5EF4-FFF2-40B4-BE49-F238E27FC236}">
                  <a16:creationId xmlns=""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148/218/226</a:t>
              </a:r>
            </a:p>
          </p:txBody>
        </p:sp>
        <p:sp>
          <p:nvSpPr>
            <p:cNvPr id="55" name="矩形 13">
              <a:extLst>
                <a:ext uri="{FF2B5EF4-FFF2-40B4-BE49-F238E27FC236}">
                  <a16:creationId xmlns=""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226/129/137</a:t>
              </a:r>
            </a:p>
          </p:txBody>
        </p:sp>
        <p:sp>
          <p:nvSpPr>
            <p:cNvPr id="56" name="矩形 13">
              <a:extLst>
                <a:ext uri="{FF2B5EF4-FFF2-40B4-BE49-F238E27FC236}">
                  <a16:creationId xmlns=""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226/129/152</a:t>
              </a:r>
            </a:p>
          </p:txBody>
        </p:sp>
        <p:sp>
          <p:nvSpPr>
            <p:cNvPr id="57" name="矩形 13">
              <a:extLst>
                <a:ext uri="{FF2B5EF4-FFF2-40B4-BE49-F238E27FC236}">
                  <a16:creationId xmlns=""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235/179/204</a:t>
              </a:r>
            </a:p>
          </p:txBody>
        </p:sp>
        <p:sp>
          <p:nvSpPr>
            <p:cNvPr id="58" name="矩形 13">
              <a:extLst>
                <a:ext uri="{FF2B5EF4-FFF2-40B4-BE49-F238E27FC236}">
                  <a16:creationId xmlns=""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216/179/179</a:t>
              </a:r>
            </a:p>
          </p:txBody>
        </p:sp>
        <p:sp>
          <p:nvSpPr>
            <p:cNvPr id="59" name="矩形 13">
              <a:extLst>
                <a:ext uri="{FF2B5EF4-FFF2-40B4-BE49-F238E27FC236}">
                  <a16:creationId xmlns=""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250/211/187</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60" name="矩形 13">
              <a:extLst>
                <a:ext uri="{FF2B5EF4-FFF2-40B4-BE49-F238E27FC236}">
                  <a16:creationId xmlns=""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208/232/196</a:t>
              </a:r>
            </a:p>
          </p:txBody>
        </p:sp>
        <p:sp>
          <p:nvSpPr>
            <p:cNvPr id="61" name="矩形 13">
              <a:extLst>
                <a:ext uri="{FF2B5EF4-FFF2-40B4-BE49-F238E27FC236}">
                  <a16:creationId xmlns=""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254/238/193</a:t>
              </a:r>
            </a:p>
          </p:txBody>
        </p:sp>
        <p:sp>
          <p:nvSpPr>
            <p:cNvPr id="62" name="矩形 13">
              <a:extLst>
                <a:ext uri="{FF2B5EF4-FFF2-40B4-BE49-F238E27FC236}">
                  <a16:creationId xmlns=""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190/23/238</a:t>
              </a:r>
            </a:p>
          </p:txBody>
        </p:sp>
        <p:sp>
          <p:nvSpPr>
            <p:cNvPr id="63" name="矩形 13">
              <a:extLst>
                <a:ext uri="{FF2B5EF4-FFF2-40B4-BE49-F238E27FC236}">
                  <a16:creationId xmlns=""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239/178/184</a:t>
              </a:r>
            </a:p>
          </p:txBody>
        </p:sp>
        <p:sp>
          <p:nvSpPr>
            <p:cNvPr id="64" name="矩形 13">
              <a:extLst>
                <a:ext uri="{FF2B5EF4-FFF2-40B4-BE49-F238E27FC236}">
                  <a16:creationId xmlns=""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238/179/193</a:t>
              </a:r>
            </a:p>
          </p:txBody>
        </p:sp>
        <p:sp>
          <p:nvSpPr>
            <p:cNvPr id="65" name="矩形 13">
              <a:extLst>
                <a:ext uri="{FF2B5EF4-FFF2-40B4-BE49-F238E27FC236}">
                  <a16:creationId xmlns=""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35/24/21</a:t>
              </a:r>
            </a:p>
          </p:txBody>
        </p:sp>
        <p:sp>
          <p:nvSpPr>
            <p:cNvPr id="66" name="矩形 13">
              <a:extLst>
                <a:ext uri="{FF2B5EF4-FFF2-40B4-BE49-F238E27FC236}">
                  <a16:creationId xmlns=""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89/87/87</a:t>
              </a:r>
            </a:p>
          </p:txBody>
        </p:sp>
        <p:sp>
          <p:nvSpPr>
            <p:cNvPr id="67" name="矩形 13">
              <a:extLst>
                <a:ext uri="{FF2B5EF4-FFF2-40B4-BE49-F238E27FC236}">
                  <a16:creationId xmlns=""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a:t>
              </a:r>
            </a:p>
          </p:txBody>
        </p:sp>
        <p:sp>
          <p:nvSpPr>
            <p:cNvPr id="68" name="矩形 13">
              <a:extLst>
                <a:ext uri="{FF2B5EF4-FFF2-40B4-BE49-F238E27FC236}">
                  <a16:creationId xmlns=""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a:t>
              </a:r>
            </a:p>
          </p:txBody>
        </p:sp>
        <p:sp>
          <p:nvSpPr>
            <p:cNvPr id="69" name="矩形 13">
              <a:extLst>
                <a:ext uri="{FF2B5EF4-FFF2-40B4-BE49-F238E27FC236}">
                  <a16:creationId xmlns=""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221</a:t>
              </a:r>
            </a:p>
          </p:txBody>
        </p:sp>
        <p:sp>
          <p:nvSpPr>
            <p:cNvPr id="70" name="矩形 13">
              <a:extLst>
                <a:ext uri="{FF2B5EF4-FFF2-40B4-BE49-F238E27FC236}">
                  <a16:creationId xmlns=""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a:t>
              </a:r>
            </a:p>
          </p:txBody>
        </p:sp>
      </p:grpSp>
    </p:spTree>
    <p:extLst>
      <p:ext uri="{BB962C8B-B14F-4D97-AF65-F5344CB8AC3E}">
        <p14:creationId xmlns:p14="http://schemas.microsoft.com/office/powerpoint/2010/main" val="4070073675"/>
      </p:ext>
    </p:extLst>
  </p:cSld>
  <p:clrMap bg1="lt1" tx1="dk1" bg2="lt2" tx2="dk2" accent1="accent1" accent2="accent2" accent3="accent3" accent4="accent4" accent5="accent5" accent6="accent6" hlink="hlink" folHlink="folHlink"/>
  <p:sldLayoutIdLst>
    <p:sldLayoutId id="2147483873"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baseline="0">
          <a:solidFill>
            <a:schemeClr val="tx1"/>
          </a:solidFill>
          <a:latin typeface="Huawei Sans" panose="020C0503030203020204" pitchFamily="34" charset="0"/>
          <a:ea typeface="方正兰亭黑简体" panose="02000000000000000000" pitchFamily="2"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3906">
          <p15:clr>
            <a:srgbClr val="F26B43"/>
          </p15:clr>
        </p15:guide>
        <p15:guide id="2" pos="574">
          <p15:clr>
            <a:srgbClr val="F26B43"/>
          </p15:clr>
        </p15:guide>
        <p15:guide id="3" orient="horz" pos="572">
          <p15:clr>
            <a:srgbClr val="F26B43"/>
          </p15:clr>
        </p15:guide>
        <p15:guide id="4" orient="horz" pos="1230">
          <p15:clr>
            <a:srgbClr val="F26B43"/>
          </p15:clr>
        </p15:guide>
        <p15:guide id="5" orient="horz" pos="2160">
          <p15:clr>
            <a:srgbClr val="F26B43"/>
          </p15:clr>
        </p15:guide>
        <p15:guide id="6"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gray">
      <p:bgPr>
        <a:solidFill>
          <a:srgbClr val="EBEBEB"/>
        </a:solidFill>
        <a:effectLst/>
      </p:bgPr>
    </p:bg>
    <p:spTree>
      <p:nvGrpSpPr>
        <p:cNvPr id="1" name=""/>
        <p:cNvGrpSpPr/>
        <p:nvPr/>
      </p:nvGrpSpPr>
      <p:grpSpPr>
        <a:xfrm>
          <a:off x="0" y="0"/>
          <a:ext cx="0" cy="0"/>
          <a:chOff x="0" y="0"/>
          <a:chExt cx="0" cy="0"/>
        </a:xfrm>
      </p:grpSpPr>
      <p:sp>
        <p:nvSpPr>
          <p:cNvPr id="23" name="TextBox 2">
            <a:extLst>
              <a:ext uri="{FF2B5EF4-FFF2-40B4-BE49-F238E27FC236}">
                <a16:creationId xmlns="" xmlns:a16="http://schemas.microsoft.com/office/drawing/2014/main" id="{6785A3D6-1271-D247-9E96-1B376F4BE7BE}"/>
              </a:ext>
            </a:extLst>
          </p:cNvPr>
          <p:cNvSpPr txBox="1"/>
          <p:nvPr userDrawn="1"/>
        </p:nvSpPr>
        <p:spPr>
          <a:xfrm>
            <a:off x="1095467" y="6356939"/>
            <a:ext cx="1463467" cy="242864"/>
          </a:xfrm>
          <a:prstGeom prst="rect">
            <a:avLst/>
          </a:prstGeom>
          <a:noFill/>
        </p:spPr>
        <p:txBody>
          <a:bodyPr wrap="square" rtlCol="0">
            <a:spAutoFit/>
          </a:bodyPr>
          <a:lstStyle/>
          <a:p>
            <a:r>
              <a:rPr lang="en-US" sz="974" b="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t>Huawei Confidential</a:t>
            </a:r>
          </a:p>
        </p:txBody>
      </p:sp>
      <p:sp>
        <p:nvSpPr>
          <p:cNvPr id="24" name="TextBox 3">
            <a:extLst>
              <a:ext uri="{FF2B5EF4-FFF2-40B4-BE49-F238E27FC236}">
                <a16:creationId xmlns="" xmlns:a16="http://schemas.microsoft.com/office/drawing/2014/main" id="{EABEE2EE-BF4D-7A4A-B3C6-9E47668CCD98}"/>
              </a:ext>
            </a:extLst>
          </p:cNvPr>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974"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a:t>
            </a:fld>
            <a:endParaRPr lang="en-US" sz="974"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5" name="图片 24"/>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10195999" y="6319870"/>
            <a:ext cx="1269075" cy="271153"/>
          </a:xfrm>
          <a:prstGeom prst="rect">
            <a:avLst/>
          </a:prstGeom>
        </p:spPr>
      </p:pic>
      <p:grpSp>
        <p:nvGrpSpPr>
          <p:cNvPr id="27" name="Group 87">
            <a:extLst>
              <a:ext uri="{FF2B5EF4-FFF2-40B4-BE49-F238E27FC236}">
                <a16:creationId xmlns=""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28" name="矩形 13">
              <a:extLst>
                <a:ext uri="{FF2B5EF4-FFF2-40B4-BE49-F238E27FC236}">
                  <a16:creationId xmlns=""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196/0/84</a:t>
              </a:r>
            </a:p>
          </p:txBody>
        </p:sp>
        <p:sp>
          <p:nvSpPr>
            <p:cNvPr id="29" name="文本框 15">
              <a:extLst>
                <a:ext uri="{FF2B5EF4-FFF2-40B4-BE49-F238E27FC236}">
                  <a16:creationId xmlns=""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p>
          </p:txBody>
        </p:sp>
        <p:sp>
          <p:nvSpPr>
            <p:cNvPr id="30" name="矩形 13">
              <a:extLst>
                <a:ext uri="{FF2B5EF4-FFF2-40B4-BE49-F238E27FC236}">
                  <a16:creationId xmlns=""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203/55/120</a:t>
              </a:r>
            </a:p>
          </p:txBody>
        </p:sp>
        <p:sp>
          <p:nvSpPr>
            <p:cNvPr id="31" name="矩形 13">
              <a:extLst>
                <a:ext uri="{FF2B5EF4-FFF2-40B4-BE49-F238E27FC236}">
                  <a16:creationId xmlns=""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237/109/0</a:t>
              </a:r>
            </a:p>
          </p:txBody>
        </p:sp>
        <p:sp>
          <p:nvSpPr>
            <p:cNvPr id="32" name="矩形 13">
              <a:extLst>
                <a:ext uri="{FF2B5EF4-FFF2-40B4-BE49-F238E27FC236}">
                  <a16:creationId xmlns=""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153/54/54</a:t>
              </a:r>
            </a:p>
          </p:txBody>
        </p:sp>
        <p:sp>
          <p:nvSpPr>
            <p:cNvPr id="33" name="矩形 13">
              <a:extLst>
                <a:ext uri="{FF2B5EF4-FFF2-40B4-BE49-F238E27FC236}">
                  <a16:creationId xmlns=""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98/178/48</a:t>
              </a:r>
            </a:p>
          </p:txBody>
        </p:sp>
        <p:sp>
          <p:nvSpPr>
            <p:cNvPr id="34" name="矩形 13">
              <a:extLst>
                <a:ext uri="{FF2B5EF4-FFF2-40B4-BE49-F238E27FC236}">
                  <a16:creationId xmlns=""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242/137/68</a:t>
              </a:r>
              <a:endParaRPr kumimoji="1" lang="mr-IN" altLang="zh-CN" sz="500" b="1" dirty="0">
                <a:solidFill>
                  <a:srgbClr val="FFFFFF"/>
                </a:solidFill>
                <a:latin typeface="Huawei Sans" panose="020C0503030203020204" pitchFamily="34" charset="0"/>
                <a:ea typeface="Arial" charset="0"/>
                <a:cs typeface="Arial" charset="0"/>
              </a:endParaRPr>
            </a:p>
          </p:txBody>
        </p:sp>
        <p:sp>
          <p:nvSpPr>
            <p:cNvPr id="35" name="矩形 13">
              <a:extLst>
                <a:ext uri="{FF2B5EF4-FFF2-40B4-BE49-F238E27FC236}">
                  <a16:creationId xmlns=""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185C</a:t>
              </a:r>
            </a:p>
            <a:p>
              <a:pPr algn="ctr">
                <a:lnSpc>
                  <a:spcPts val="620"/>
                </a:lnSpc>
                <a:spcBef>
                  <a:spcPts val="0"/>
                </a:spcBef>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199/0/11  </a:t>
              </a:r>
            </a:p>
          </p:txBody>
        </p:sp>
        <p:sp>
          <p:nvSpPr>
            <p:cNvPr id="36" name="文本框 15">
              <a:extLst>
                <a:ext uri="{FF2B5EF4-FFF2-40B4-BE49-F238E27FC236}">
                  <a16:creationId xmlns=""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p>
          </p:txBody>
        </p:sp>
        <p:sp>
          <p:nvSpPr>
            <p:cNvPr id="37" name="矩形 13">
              <a:extLst>
                <a:ext uri="{FF2B5EF4-FFF2-40B4-BE49-F238E27FC236}">
                  <a16:creationId xmlns=""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186C</a:t>
              </a:r>
            </a:p>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200/16/46  </a:t>
              </a:r>
            </a:p>
          </p:txBody>
        </p:sp>
        <p:sp>
          <p:nvSpPr>
            <p:cNvPr id="38" name="矩形 13">
              <a:extLst>
                <a:ext uri="{FF2B5EF4-FFF2-40B4-BE49-F238E27FC236}">
                  <a16:creationId xmlns=""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127/0/1</a:t>
              </a:r>
            </a:p>
          </p:txBody>
        </p:sp>
        <p:sp>
          <p:nvSpPr>
            <p:cNvPr id="39" name="矩形 13">
              <a:extLst>
                <a:ext uri="{FF2B5EF4-FFF2-40B4-BE49-F238E27FC236}">
                  <a16:creationId xmlns=""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52/200/0</a:t>
              </a:r>
            </a:p>
          </p:txBody>
        </p:sp>
        <p:sp>
          <p:nvSpPr>
            <p:cNvPr id="40" name="矩形 13">
              <a:extLst>
                <a:ext uri="{FF2B5EF4-FFF2-40B4-BE49-F238E27FC236}">
                  <a16:creationId xmlns=""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48/181/197</a:t>
              </a:r>
            </a:p>
          </p:txBody>
        </p:sp>
        <p:sp>
          <p:nvSpPr>
            <p:cNvPr id="41" name="矩形 13">
              <a:extLst>
                <a:ext uri="{FF2B5EF4-FFF2-40B4-BE49-F238E27FC236}">
                  <a16:creationId xmlns=""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129/193/95</a:t>
              </a:r>
            </a:p>
          </p:txBody>
        </p:sp>
        <p:sp>
          <p:nvSpPr>
            <p:cNvPr id="42" name="矩形 13">
              <a:extLst>
                <a:ext uri="{FF2B5EF4-FFF2-40B4-BE49-F238E27FC236}">
                  <a16:creationId xmlns=""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253/211/81</a:t>
              </a:r>
            </a:p>
          </p:txBody>
        </p:sp>
        <p:sp>
          <p:nvSpPr>
            <p:cNvPr id="43" name="矩形 13">
              <a:extLst>
                <a:ext uri="{FF2B5EF4-FFF2-40B4-BE49-F238E27FC236}">
                  <a16:creationId xmlns=""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86/196/210</a:t>
              </a:r>
            </a:p>
          </p:txBody>
        </p:sp>
        <p:sp>
          <p:nvSpPr>
            <p:cNvPr id="44" name="矩形 13">
              <a:extLst>
                <a:ext uri="{FF2B5EF4-FFF2-40B4-BE49-F238E27FC236}">
                  <a16:creationId xmlns=""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211/57/65</a:t>
              </a:r>
            </a:p>
          </p:txBody>
        </p:sp>
        <p:sp>
          <p:nvSpPr>
            <p:cNvPr id="65" name="矩形 13">
              <a:extLst>
                <a:ext uri="{FF2B5EF4-FFF2-40B4-BE49-F238E27FC236}">
                  <a16:creationId xmlns=""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211/56/89</a:t>
              </a:r>
            </a:p>
          </p:txBody>
        </p:sp>
        <p:sp>
          <p:nvSpPr>
            <p:cNvPr id="66" name="矩形 13">
              <a:extLst>
                <a:ext uri="{FF2B5EF4-FFF2-40B4-BE49-F238E27FC236}">
                  <a16:creationId xmlns=""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221/128/170</a:t>
              </a:r>
            </a:p>
          </p:txBody>
        </p:sp>
        <p:sp>
          <p:nvSpPr>
            <p:cNvPr id="67" name="矩形 13">
              <a:extLst>
                <a:ext uri="{FF2B5EF4-FFF2-40B4-BE49-F238E27FC236}">
                  <a16:creationId xmlns=""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191/128/130</a:t>
              </a:r>
            </a:p>
          </p:txBody>
        </p:sp>
        <p:sp>
          <p:nvSpPr>
            <p:cNvPr id="68" name="矩形 13">
              <a:extLst>
                <a:ext uri="{FF2B5EF4-FFF2-40B4-BE49-F238E27FC236}">
                  <a16:creationId xmlns=""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246/183/140</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69" name="矩形 13">
              <a:extLst>
                <a:ext uri="{FF2B5EF4-FFF2-40B4-BE49-F238E27FC236}">
                  <a16:creationId xmlns=""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176/216/156</a:t>
              </a:r>
            </a:p>
          </p:txBody>
        </p:sp>
        <p:sp>
          <p:nvSpPr>
            <p:cNvPr id="70" name="矩形 13">
              <a:extLst>
                <a:ext uri="{FF2B5EF4-FFF2-40B4-BE49-F238E27FC236}">
                  <a16:creationId xmlns=""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253/227/181</a:t>
              </a:r>
            </a:p>
          </p:txBody>
        </p:sp>
        <p:sp>
          <p:nvSpPr>
            <p:cNvPr id="71" name="矩形 13">
              <a:extLst>
                <a:ext uri="{FF2B5EF4-FFF2-40B4-BE49-F238E27FC236}">
                  <a16:creationId xmlns=""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148/218/226</a:t>
              </a:r>
            </a:p>
          </p:txBody>
        </p:sp>
        <p:sp>
          <p:nvSpPr>
            <p:cNvPr id="72" name="矩形 13">
              <a:extLst>
                <a:ext uri="{FF2B5EF4-FFF2-40B4-BE49-F238E27FC236}">
                  <a16:creationId xmlns=""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226/129/137</a:t>
              </a:r>
            </a:p>
          </p:txBody>
        </p:sp>
        <p:sp>
          <p:nvSpPr>
            <p:cNvPr id="73" name="矩形 13">
              <a:extLst>
                <a:ext uri="{FF2B5EF4-FFF2-40B4-BE49-F238E27FC236}">
                  <a16:creationId xmlns=""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226/129/152</a:t>
              </a:r>
            </a:p>
          </p:txBody>
        </p:sp>
        <p:sp>
          <p:nvSpPr>
            <p:cNvPr id="74" name="矩形 13">
              <a:extLst>
                <a:ext uri="{FF2B5EF4-FFF2-40B4-BE49-F238E27FC236}">
                  <a16:creationId xmlns=""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235/179/204</a:t>
              </a:r>
            </a:p>
          </p:txBody>
        </p:sp>
        <p:sp>
          <p:nvSpPr>
            <p:cNvPr id="75" name="矩形 13">
              <a:extLst>
                <a:ext uri="{FF2B5EF4-FFF2-40B4-BE49-F238E27FC236}">
                  <a16:creationId xmlns=""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216/179/179</a:t>
              </a:r>
            </a:p>
          </p:txBody>
        </p:sp>
        <p:sp>
          <p:nvSpPr>
            <p:cNvPr id="76" name="矩形 13">
              <a:extLst>
                <a:ext uri="{FF2B5EF4-FFF2-40B4-BE49-F238E27FC236}">
                  <a16:creationId xmlns=""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250/211/187</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77" name="矩形 13">
              <a:extLst>
                <a:ext uri="{FF2B5EF4-FFF2-40B4-BE49-F238E27FC236}">
                  <a16:creationId xmlns=""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208/232/196</a:t>
              </a:r>
            </a:p>
          </p:txBody>
        </p:sp>
        <p:sp>
          <p:nvSpPr>
            <p:cNvPr id="78" name="矩形 13">
              <a:extLst>
                <a:ext uri="{FF2B5EF4-FFF2-40B4-BE49-F238E27FC236}">
                  <a16:creationId xmlns=""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254/238/193</a:t>
              </a:r>
            </a:p>
          </p:txBody>
        </p:sp>
        <p:sp>
          <p:nvSpPr>
            <p:cNvPr id="79" name="矩形 13">
              <a:extLst>
                <a:ext uri="{FF2B5EF4-FFF2-40B4-BE49-F238E27FC236}">
                  <a16:creationId xmlns=""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190/23/238</a:t>
              </a:r>
            </a:p>
          </p:txBody>
        </p:sp>
        <p:sp>
          <p:nvSpPr>
            <p:cNvPr id="80" name="矩形 13">
              <a:extLst>
                <a:ext uri="{FF2B5EF4-FFF2-40B4-BE49-F238E27FC236}">
                  <a16:creationId xmlns=""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239/178/184</a:t>
              </a:r>
            </a:p>
          </p:txBody>
        </p:sp>
        <p:sp>
          <p:nvSpPr>
            <p:cNvPr id="81" name="矩形 13">
              <a:extLst>
                <a:ext uri="{FF2B5EF4-FFF2-40B4-BE49-F238E27FC236}">
                  <a16:creationId xmlns=""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238/179/193</a:t>
              </a:r>
            </a:p>
          </p:txBody>
        </p:sp>
        <p:sp>
          <p:nvSpPr>
            <p:cNvPr id="82" name="矩形 13">
              <a:extLst>
                <a:ext uri="{FF2B5EF4-FFF2-40B4-BE49-F238E27FC236}">
                  <a16:creationId xmlns=""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35/24/21</a:t>
              </a:r>
            </a:p>
          </p:txBody>
        </p:sp>
        <p:sp>
          <p:nvSpPr>
            <p:cNvPr id="83" name="矩形 13">
              <a:extLst>
                <a:ext uri="{FF2B5EF4-FFF2-40B4-BE49-F238E27FC236}">
                  <a16:creationId xmlns=""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89/87/87</a:t>
              </a:r>
            </a:p>
          </p:txBody>
        </p:sp>
        <p:sp>
          <p:nvSpPr>
            <p:cNvPr id="84" name="矩形 13">
              <a:extLst>
                <a:ext uri="{FF2B5EF4-FFF2-40B4-BE49-F238E27FC236}">
                  <a16:creationId xmlns=""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a:t>
              </a:r>
            </a:p>
          </p:txBody>
        </p:sp>
        <p:sp>
          <p:nvSpPr>
            <p:cNvPr id="85" name="矩形 13">
              <a:extLst>
                <a:ext uri="{FF2B5EF4-FFF2-40B4-BE49-F238E27FC236}">
                  <a16:creationId xmlns=""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a:t>
              </a:r>
            </a:p>
          </p:txBody>
        </p:sp>
        <p:sp>
          <p:nvSpPr>
            <p:cNvPr id="86" name="矩形 13">
              <a:extLst>
                <a:ext uri="{FF2B5EF4-FFF2-40B4-BE49-F238E27FC236}">
                  <a16:creationId xmlns=""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221</a:t>
              </a:r>
            </a:p>
          </p:txBody>
        </p:sp>
        <p:sp>
          <p:nvSpPr>
            <p:cNvPr id="87" name="矩形 13">
              <a:extLst>
                <a:ext uri="{FF2B5EF4-FFF2-40B4-BE49-F238E27FC236}">
                  <a16:creationId xmlns=""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a:t>
              </a:r>
            </a:p>
          </p:txBody>
        </p:sp>
      </p:grpSp>
    </p:spTree>
    <p:extLst>
      <p:ext uri="{BB962C8B-B14F-4D97-AF65-F5344CB8AC3E}">
        <p14:creationId xmlns:p14="http://schemas.microsoft.com/office/powerpoint/2010/main" val="3970965524"/>
      </p:ext>
    </p:extLst>
  </p:cSld>
  <p:clrMap bg1="lt1" tx1="dk1" bg2="lt2" tx2="dk2" accent1="accent1" accent2="accent2" accent3="accent3" accent4="accent4" accent5="accent5" accent6="accent6" hlink="hlink" folHlink="folHlink"/>
  <p:sldLayoutIdLst>
    <p:sldLayoutId id="2147483875" r:id="rId1"/>
    <p:sldLayoutId id="2147483876" r:id="rId2"/>
    <p:sldLayoutId id="2147483877" r:id="rId3"/>
    <p:sldLayoutId id="2147483878" r:id="rId4"/>
    <p:sldLayoutId id="2147483879" r:id="rId5"/>
    <p:sldLayoutId id="2147483880" r:id="rId6"/>
    <p:sldLayoutId id="2147483881" r:id="rId7"/>
    <p:sldLayoutId id="2147483882" r:id="rId8"/>
    <p:sldLayoutId id="2147483883" r:id="rId9"/>
    <p:sldLayoutId id="2147483884" r:id="rId10"/>
  </p:sldLayoutIdLst>
  <p:timing>
    <p:tnLst>
      <p:par>
        <p:cTn id="1" dur="indefinite" restart="never" nodeType="tmRoot"/>
      </p:par>
    </p:tnLst>
  </p:timing>
  <p:txStyles>
    <p:titleStyle>
      <a:lvl1pPr algn="l" defTabSz="914034" rtl="0" eaLnBrk="1" fontAlgn="ctr"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79" indent="-302279" algn="l" defTabSz="914034" rtl="0" eaLnBrk="1" fontAlgn="ctr" latinLnBrk="0" hangingPunct="1">
        <a:lnSpc>
          <a:spcPct val="140000"/>
        </a:lnSpc>
        <a:spcBef>
          <a:spcPts val="792"/>
        </a:spcBef>
        <a:buSzPct val="50000"/>
        <a:buFont typeface="Wingdings" panose="05000000000000000000" pitchFamily="2" charset="2"/>
        <a:buChar char="l"/>
        <a:defRPr sz="2199" kern="120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642">
          <p15:clr>
            <a:srgbClr val="F26B43"/>
          </p15:clr>
        </p15:guide>
        <p15:guide id="2" pos="7038">
          <p15:clr>
            <a:srgbClr val="F26B43"/>
          </p15:clr>
        </p15:guide>
        <p15:guide id="4" orient="horz" pos="3906">
          <p15:clr>
            <a:srgbClr val="F26B43"/>
          </p15:clr>
        </p15:guide>
        <p15:guide id="5" orient="horz" pos="1162">
          <p15:clr>
            <a:srgbClr val="F26B43"/>
          </p15:clr>
        </p15:guide>
        <p15:guide id="6" pos="3840">
          <p15:clr>
            <a:srgbClr val="F26B43"/>
          </p15:clr>
        </p15:guide>
        <p15:guide id="7" orient="horz" pos="731">
          <p15:clr>
            <a:srgbClr val="F26B43"/>
          </p15:clr>
        </p15:guide>
        <p15:guide id="8" orient="horz" pos="867">
          <p15:clr>
            <a:srgbClr val="F26B43"/>
          </p15:clr>
        </p15:guide>
        <p15:guide id="9" orient="horz" pos="234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sp>
        <p:nvSpPr>
          <p:cNvPr id="27" name="Rectangle 6"/>
          <p:cNvSpPr>
            <a:spLocks noGrp="1" noChangeArrowheads="1"/>
          </p:cNvSpPr>
          <p:nvPr>
            <p:ph type="title"/>
          </p:nvPr>
        </p:nvSpPr>
        <p:spPr bwMode="auto">
          <a:xfrm>
            <a:off x="457905" y="457499"/>
            <a:ext cx="11291061" cy="980113"/>
          </a:xfrm>
          <a:prstGeom prst="rect">
            <a:avLst/>
          </a:prstGeom>
        </p:spPr>
        <p:txBody>
          <a:bodyPr lIns="0" tIns="0" rIns="0" bIns="0" anchor="t">
            <a:normAutofit/>
          </a:body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
        <p:nvSpPr>
          <p:cNvPr id="28" name="Rectangle 57"/>
          <p:cNvSpPr>
            <a:spLocks noGrp="1" noChangeArrowheads="1"/>
          </p:cNvSpPr>
          <p:nvPr>
            <p:ph type="body" idx="1"/>
          </p:nvPr>
        </p:nvSpPr>
        <p:spPr bwMode="auto">
          <a:xfrm>
            <a:off x="455613" y="1484313"/>
            <a:ext cx="11293475" cy="4443760"/>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3" name="TextBox 2">
            <a:extLst>
              <a:ext uri="{FF2B5EF4-FFF2-40B4-BE49-F238E27FC236}">
                <a16:creationId xmlns="" xmlns:a16="http://schemas.microsoft.com/office/drawing/2014/main" id="{6785A3D6-1271-D247-9E96-1B376F4BE7BE}"/>
              </a:ext>
            </a:extLst>
          </p:cNvPr>
          <p:cNvSpPr txBox="1"/>
          <p:nvPr userDrawn="1"/>
        </p:nvSpPr>
        <p:spPr>
          <a:xfrm>
            <a:off x="1095467" y="6356939"/>
            <a:ext cx="1463467" cy="242864"/>
          </a:xfrm>
          <a:prstGeom prst="rect">
            <a:avLst/>
          </a:prstGeom>
          <a:noFill/>
        </p:spPr>
        <p:txBody>
          <a:bodyPr wrap="square" rtlCol="0">
            <a:spAutoFit/>
          </a:bodyPr>
          <a:lstStyle/>
          <a:p>
            <a:r>
              <a:rPr lang="en-US" sz="974" b="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t>Huawei Confidential</a:t>
            </a:r>
          </a:p>
        </p:txBody>
      </p:sp>
      <p:sp>
        <p:nvSpPr>
          <p:cNvPr id="24" name="TextBox 3">
            <a:extLst>
              <a:ext uri="{FF2B5EF4-FFF2-40B4-BE49-F238E27FC236}">
                <a16:creationId xmlns="" xmlns:a16="http://schemas.microsoft.com/office/drawing/2014/main" id="{EABEE2EE-BF4D-7A4A-B3C6-9E47668CCD98}"/>
              </a:ext>
            </a:extLst>
          </p:cNvPr>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974"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a:t>
            </a:fld>
            <a:endParaRPr lang="en-US" sz="974"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5" name="图片 24"/>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0195999" y="6319870"/>
            <a:ext cx="1269075" cy="271153"/>
          </a:xfrm>
          <a:prstGeom prst="rect">
            <a:avLst/>
          </a:prstGeom>
        </p:spPr>
      </p:pic>
      <p:grpSp>
        <p:nvGrpSpPr>
          <p:cNvPr id="29" name="Group 87">
            <a:extLst>
              <a:ext uri="{FF2B5EF4-FFF2-40B4-BE49-F238E27FC236}">
                <a16:creationId xmlns=""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0" name="矩形 13">
              <a:extLst>
                <a:ext uri="{FF2B5EF4-FFF2-40B4-BE49-F238E27FC236}">
                  <a16:creationId xmlns=""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196/0/84</a:t>
              </a:r>
            </a:p>
          </p:txBody>
        </p:sp>
        <p:sp>
          <p:nvSpPr>
            <p:cNvPr id="31" name="文本框 15">
              <a:extLst>
                <a:ext uri="{FF2B5EF4-FFF2-40B4-BE49-F238E27FC236}">
                  <a16:creationId xmlns=""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p>
          </p:txBody>
        </p:sp>
        <p:sp>
          <p:nvSpPr>
            <p:cNvPr id="32" name="矩形 13">
              <a:extLst>
                <a:ext uri="{FF2B5EF4-FFF2-40B4-BE49-F238E27FC236}">
                  <a16:creationId xmlns=""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203/55/120</a:t>
              </a:r>
            </a:p>
          </p:txBody>
        </p:sp>
        <p:sp>
          <p:nvSpPr>
            <p:cNvPr id="33" name="矩形 13">
              <a:extLst>
                <a:ext uri="{FF2B5EF4-FFF2-40B4-BE49-F238E27FC236}">
                  <a16:creationId xmlns=""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237/109/0</a:t>
              </a:r>
            </a:p>
          </p:txBody>
        </p:sp>
        <p:sp>
          <p:nvSpPr>
            <p:cNvPr id="34" name="矩形 13">
              <a:extLst>
                <a:ext uri="{FF2B5EF4-FFF2-40B4-BE49-F238E27FC236}">
                  <a16:creationId xmlns=""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153/54/54</a:t>
              </a:r>
            </a:p>
          </p:txBody>
        </p:sp>
        <p:sp>
          <p:nvSpPr>
            <p:cNvPr id="35" name="矩形 13">
              <a:extLst>
                <a:ext uri="{FF2B5EF4-FFF2-40B4-BE49-F238E27FC236}">
                  <a16:creationId xmlns=""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98/178/48</a:t>
              </a:r>
            </a:p>
          </p:txBody>
        </p:sp>
        <p:sp>
          <p:nvSpPr>
            <p:cNvPr id="36" name="矩形 13">
              <a:extLst>
                <a:ext uri="{FF2B5EF4-FFF2-40B4-BE49-F238E27FC236}">
                  <a16:creationId xmlns=""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242/137/68</a:t>
              </a:r>
              <a:endParaRPr kumimoji="1" lang="mr-IN" altLang="zh-CN" sz="500" b="1" dirty="0">
                <a:solidFill>
                  <a:srgbClr val="FFFFFF"/>
                </a:solidFill>
                <a:latin typeface="Huawei Sans" panose="020C0503030203020204" pitchFamily="34" charset="0"/>
                <a:ea typeface="Arial" charset="0"/>
                <a:cs typeface="Arial" charset="0"/>
              </a:endParaRPr>
            </a:p>
          </p:txBody>
        </p:sp>
        <p:sp>
          <p:nvSpPr>
            <p:cNvPr id="37" name="矩形 13">
              <a:extLst>
                <a:ext uri="{FF2B5EF4-FFF2-40B4-BE49-F238E27FC236}">
                  <a16:creationId xmlns=""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185C</a:t>
              </a:r>
            </a:p>
            <a:p>
              <a:pPr algn="ctr">
                <a:lnSpc>
                  <a:spcPts val="620"/>
                </a:lnSpc>
                <a:spcBef>
                  <a:spcPts val="0"/>
                </a:spcBef>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199/0/11  </a:t>
              </a:r>
            </a:p>
          </p:txBody>
        </p:sp>
        <p:sp>
          <p:nvSpPr>
            <p:cNvPr id="38" name="文本框 15">
              <a:extLst>
                <a:ext uri="{FF2B5EF4-FFF2-40B4-BE49-F238E27FC236}">
                  <a16:creationId xmlns=""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p>
          </p:txBody>
        </p:sp>
        <p:sp>
          <p:nvSpPr>
            <p:cNvPr id="39" name="矩形 13">
              <a:extLst>
                <a:ext uri="{FF2B5EF4-FFF2-40B4-BE49-F238E27FC236}">
                  <a16:creationId xmlns=""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186C</a:t>
              </a:r>
            </a:p>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200/16/46  </a:t>
              </a:r>
            </a:p>
          </p:txBody>
        </p:sp>
        <p:sp>
          <p:nvSpPr>
            <p:cNvPr id="40" name="矩形 13">
              <a:extLst>
                <a:ext uri="{FF2B5EF4-FFF2-40B4-BE49-F238E27FC236}">
                  <a16:creationId xmlns=""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127/0/1</a:t>
              </a:r>
            </a:p>
          </p:txBody>
        </p:sp>
        <p:sp>
          <p:nvSpPr>
            <p:cNvPr id="41" name="矩形 13">
              <a:extLst>
                <a:ext uri="{FF2B5EF4-FFF2-40B4-BE49-F238E27FC236}">
                  <a16:creationId xmlns=""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52/200/0</a:t>
              </a:r>
            </a:p>
          </p:txBody>
        </p:sp>
        <p:sp>
          <p:nvSpPr>
            <p:cNvPr id="42" name="矩形 13">
              <a:extLst>
                <a:ext uri="{FF2B5EF4-FFF2-40B4-BE49-F238E27FC236}">
                  <a16:creationId xmlns=""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48/181/197</a:t>
              </a:r>
            </a:p>
          </p:txBody>
        </p:sp>
        <p:sp>
          <p:nvSpPr>
            <p:cNvPr id="43" name="矩形 13">
              <a:extLst>
                <a:ext uri="{FF2B5EF4-FFF2-40B4-BE49-F238E27FC236}">
                  <a16:creationId xmlns=""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129/193/95</a:t>
              </a:r>
            </a:p>
          </p:txBody>
        </p:sp>
        <p:sp>
          <p:nvSpPr>
            <p:cNvPr id="44" name="矩形 13">
              <a:extLst>
                <a:ext uri="{FF2B5EF4-FFF2-40B4-BE49-F238E27FC236}">
                  <a16:creationId xmlns=""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253/211/81</a:t>
              </a:r>
            </a:p>
          </p:txBody>
        </p:sp>
        <p:sp>
          <p:nvSpPr>
            <p:cNvPr id="65" name="矩形 13">
              <a:extLst>
                <a:ext uri="{FF2B5EF4-FFF2-40B4-BE49-F238E27FC236}">
                  <a16:creationId xmlns=""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86/196/210</a:t>
              </a:r>
            </a:p>
          </p:txBody>
        </p:sp>
        <p:sp>
          <p:nvSpPr>
            <p:cNvPr id="66" name="矩形 13">
              <a:extLst>
                <a:ext uri="{FF2B5EF4-FFF2-40B4-BE49-F238E27FC236}">
                  <a16:creationId xmlns=""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211/57/65</a:t>
              </a:r>
            </a:p>
          </p:txBody>
        </p:sp>
        <p:sp>
          <p:nvSpPr>
            <p:cNvPr id="67" name="矩形 13">
              <a:extLst>
                <a:ext uri="{FF2B5EF4-FFF2-40B4-BE49-F238E27FC236}">
                  <a16:creationId xmlns=""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211/56/89</a:t>
              </a:r>
            </a:p>
          </p:txBody>
        </p:sp>
        <p:sp>
          <p:nvSpPr>
            <p:cNvPr id="68" name="矩形 13">
              <a:extLst>
                <a:ext uri="{FF2B5EF4-FFF2-40B4-BE49-F238E27FC236}">
                  <a16:creationId xmlns=""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221/128/170</a:t>
              </a:r>
            </a:p>
          </p:txBody>
        </p:sp>
        <p:sp>
          <p:nvSpPr>
            <p:cNvPr id="69" name="矩形 13">
              <a:extLst>
                <a:ext uri="{FF2B5EF4-FFF2-40B4-BE49-F238E27FC236}">
                  <a16:creationId xmlns=""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191/128/130</a:t>
              </a:r>
            </a:p>
          </p:txBody>
        </p:sp>
        <p:sp>
          <p:nvSpPr>
            <p:cNvPr id="70" name="矩形 13">
              <a:extLst>
                <a:ext uri="{FF2B5EF4-FFF2-40B4-BE49-F238E27FC236}">
                  <a16:creationId xmlns=""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246/183/140</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71" name="矩形 13">
              <a:extLst>
                <a:ext uri="{FF2B5EF4-FFF2-40B4-BE49-F238E27FC236}">
                  <a16:creationId xmlns=""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176/216/156</a:t>
              </a:r>
            </a:p>
          </p:txBody>
        </p:sp>
        <p:sp>
          <p:nvSpPr>
            <p:cNvPr id="72" name="矩形 13">
              <a:extLst>
                <a:ext uri="{FF2B5EF4-FFF2-40B4-BE49-F238E27FC236}">
                  <a16:creationId xmlns=""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253/227/181</a:t>
              </a:r>
            </a:p>
          </p:txBody>
        </p:sp>
        <p:sp>
          <p:nvSpPr>
            <p:cNvPr id="73" name="矩形 13">
              <a:extLst>
                <a:ext uri="{FF2B5EF4-FFF2-40B4-BE49-F238E27FC236}">
                  <a16:creationId xmlns=""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148/218/226</a:t>
              </a:r>
            </a:p>
          </p:txBody>
        </p:sp>
        <p:sp>
          <p:nvSpPr>
            <p:cNvPr id="74" name="矩形 13">
              <a:extLst>
                <a:ext uri="{FF2B5EF4-FFF2-40B4-BE49-F238E27FC236}">
                  <a16:creationId xmlns=""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226/129/137</a:t>
              </a:r>
            </a:p>
          </p:txBody>
        </p:sp>
        <p:sp>
          <p:nvSpPr>
            <p:cNvPr id="75" name="矩形 13">
              <a:extLst>
                <a:ext uri="{FF2B5EF4-FFF2-40B4-BE49-F238E27FC236}">
                  <a16:creationId xmlns=""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226/129/152</a:t>
              </a:r>
            </a:p>
          </p:txBody>
        </p:sp>
        <p:sp>
          <p:nvSpPr>
            <p:cNvPr id="76" name="矩形 13">
              <a:extLst>
                <a:ext uri="{FF2B5EF4-FFF2-40B4-BE49-F238E27FC236}">
                  <a16:creationId xmlns=""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235/179/204</a:t>
              </a:r>
            </a:p>
          </p:txBody>
        </p:sp>
        <p:sp>
          <p:nvSpPr>
            <p:cNvPr id="77" name="矩形 13">
              <a:extLst>
                <a:ext uri="{FF2B5EF4-FFF2-40B4-BE49-F238E27FC236}">
                  <a16:creationId xmlns=""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216/179/179</a:t>
              </a:r>
            </a:p>
          </p:txBody>
        </p:sp>
        <p:sp>
          <p:nvSpPr>
            <p:cNvPr id="78" name="矩形 13">
              <a:extLst>
                <a:ext uri="{FF2B5EF4-FFF2-40B4-BE49-F238E27FC236}">
                  <a16:creationId xmlns=""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250/211/187</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79" name="矩形 13">
              <a:extLst>
                <a:ext uri="{FF2B5EF4-FFF2-40B4-BE49-F238E27FC236}">
                  <a16:creationId xmlns=""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208/232/196</a:t>
              </a:r>
            </a:p>
          </p:txBody>
        </p:sp>
        <p:sp>
          <p:nvSpPr>
            <p:cNvPr id="80" name="矩形 13">
              <a:extLst>
                <a:ext uri="{FF2B5EF4-FFF2-40B4-BE49-F238E27FC236}">
                  <a16:creationId xmlns=""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254/238/193</a:t>
              </a:r>
            </a:p>
          </p:txBody>
        </p:sp>
        <p:sp>
          <p:nvSpPr>
            <p:cNvPr id="81" name="矩形 13">
              <a:extLst>
                <a:ext uri="{FF2B5EF4-FFF2-40B4-BE49-F238E27FC236}">
                  <a16:creationId xmlns=""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190/23/238</a:t>
              </a:r>
            </a:p>
          </p:txBody>
        </p:sp>
        <p:sp>
          <p:nvSpPr>
            <p:cNvPr id="82" name="矩形 13">
              <a:extLst>
                <a:ext uri="{FF2B5EF4-FFF2-40B4-BE49-F238E27FC236}">
                  <a16:creationId xmlns=""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239/178/184</a:t>
              </a:r>
            </a:p>
          </p:txBody>
        </p:sp>
        <p:sp>
          <p:nvSpPr>
            <p:cNvPr id="83" name="矩形 13">
              <a:extLst>
                <a:ext uri="{FF2B5EF4-FFF2-40B4-BE49-F238E27FC236}">
                  <a16:creationId xmlns=""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238/179/193</a:t>
              </a:r>
            </a:p>
          </p:txBody>
        </p:sp>
        <p:sp>
          <p:nvSpPr>
            <p:cNvPr id="84" name="矩形 13">
              <a:extLst>
                <a:ext uri="{FF2B5EF4-FFF2-40B4-BE49-F238E27FC236}">
                  <a16:creationId xmlns=""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35/24/21</a:t>
              </a:r>
            </a:p>
          </p:txBody>
        </p:sp>
        <p:sp>
          <p:nvSpPr>
            <p:cNvPr id="85" name="矩形 13">
              <a:extLst>
                <a:ext uri="{FF2B5EF4-FFF2-40B4-BE49-F238E27FC236}">
                  <a16:creationId xmlns=""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89/87/87</a:t>
              </a:r>
            </a:p>
          </p:txBody>
        </p:sp>
        <p:sp>
          <p:nvSpPr>
            <p:cNvPr id="86" name="矩形 13">
              <a:extLst>
                <a:ext uri="{FF2B5EF4-FFF2-40B4-BE49-F238E27FC236}">
                  <a16:creationId xmlns=""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a:t>
              </a:r>
            </a:p>
          </p:txBody>
        </p:sp>
        <p:sp>
          <p:nvSpPr>
            <p:cNvPr id="87" name="矩形 13">
              <a:extLst>
                <a:ext uri="{FF2B5EF4-FFF2-40B4-BE49-F238E27FC236}">
                  <a16:creationId xmlns=""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a:t>
              </a:r>
            </a:p>
          </p:txBody>
        </p:sp>
        <p:sp>
          <p:nvSpPr>
            <p:cNvPr id="88" name="矩形 13">
              <a:extLst>
                <a:ext uri="{FF2B5EF4-FFF2-40B4-BE49-F238E27FC236}">
                  <a16:creationId xmlns=""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221</a:t>
              </a:r>
            </a:p>
          </p:txBody>
        </p:sp>
        <p:sp>
          <p:nvSpPr>
            <p:cNvPr id="89" name="矩形 13">
              <a:extLst>
                <a:ext uri="{FF2B5EF4-FFF2-40B4-BE49-F238E27FC236}">
                  <a16:creationId xmlns=""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a:t>
              </a:r>
            </a:p>
          </p:txBody>
        </p:sp>
      </p:grpSp>
    </p:spTree>
    <p:extLst>
      <p:ext uri="{BB962C8B-B14F-4D97-AF65-F5344CB8AC3E}">
        <p14:creationId xmlns:p14="http://schemas.microsoft.com/office/powerpoint/2010/main" val="3855767675"/>
      </p:ext>
    </p:extLst>
  </p:cSld>
  <p:clrMap bg1="lt1" tx1="dk1" bg2="lt2" tx2="dk2" accent1="accent1" accent2="accent2" accent3="accent3" accent4="accent4" accent5="accent5" accent6="accent6" hlink="hlink" folHlink="folHlink"/>
  <p:sldLayoutIdLst>
    <p:sldLayoutId id="2147483886" r:id="rId1"/>
    <p:sldLayoutId id="2147483887" r:id="rId2"/>
    <p:sldLayoutId id="2147483888" r:id="rId3"/>
    <p:sldLayoutId id="2147483889" r:id="rId4"/>
    <p:sldLayoutId id="2147483890" r:id="rId5"/>
  </p:sldLayoutIdLst>
  <p:timing>
    <p:tnLst>
      <p:par>
        <p:cTn id="1" dur="indefinite" restart="never" nodeType="tmRoot"/>
      </p:par>
    </p:tnLst>
  </p:timing>
  <p:txStyles>
    <p:titleStyle>
      <a:lvl1pPr algn="l" defTabSz="914034" rtl="0" eaLnBrk="1" fontAlgn="base"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79" indent="-302279" algn="l" defTabSz="914034" rtl="0" eaLnBrk="1" fontAlgn="base" latinLnBrk="0" hangingPunct="1">
        <a:lnSpc>
          <a:spcPct val="140000"/>
        </a:lnSpc>
        <a:spcBef>
          <a:spcPts val="792"/>
        </a:spcBef>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base"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base"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base"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base"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279">
          <p15:clr>
            <a:srgbClr val="F26B43"/>
          </p15:clr>
        </p15:guide>
        <p15:guide id="2" pos="7401">
          <p15:clr>
            <a:srgbClr val="F26B43"/>
          </p15:clr>
        </p15:guide>
        <p15:guide id="3" orient="horz" pos="2341">
          <p15:clr>
            <a:srgbClr val="F26B43"/>
          </p15:clr>
        </p15:guide>
        <p15:guide id="4" orient="horz" pos="3906">
          <p15:clr>
            <a:srgbClr val="F26B43"/>
          </p15:clr>
        </p15:guide>
        <p15:guide id="5" orient="horz" pos="935">
          <p15:clr>
            <a:srgbClr val="F26B43"/>
          </p15:clr>
        </p15:guide>
        <p15:guide id="6" pos="3840">
          <p15:clr>
            <a:srgbClr val="F26B43"/>
          </p15:clr>
        </p15:guide>
        <p15:guide id="7" orient="horz" pos="278">
          <p15:clr>
            <a:srgbClr val="F26B43"/>
          </p15:clr>
        </p15:guide>
        <p15:guide id="8" orient="horz" pos="913">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grpSp>
        <p:nvGrpSpPr>
          <p:cNvPr id="29" name="Group 87">
            <a:extLst>
              <a:ext uri="{FF2B5EF4-FFF2-40B4-BE49-F238E27FC236}">
                <a16:creationId xmlns:a16="http://schemas.microsoft.com/office/drawing/2014/main" xmlns=""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0" name="矩形 13">
              <a:extLst>
                <a:ext uri="{FF2B5EF4-FFF2-40B4-BE49-F238E27FC236}">
                  <a16:creationId xmlns:a16="http://schemas.microsoft.com/office/drawing/2014/main" xmlns=""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31" name="文本框 15">
              <a:extLst>
                <a:ext uri="{FF2B5EF4-FFF2-40B4-BE49-F238E27FC236}">
                  <a16:creationId xmlns:a16="http://schemas.microsoft.com/office/drawing/2014/main" xmlns=""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32" name="矩形 13">
              <a:extLst>
                <a:ext uri="{FF2B5EF4-FFF2-40B4-BE49-F238E27FC236}">
                  <a16:creationId xmlns:a16="http://schemas.microsoft.com/office/drawing/2014/main" xmlns=""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33" name="矩形 13">
              <a:extLst>
                <a:ext uri="{FF2B5EF4-FFF2-40B4-BE49-F238E27FC236}">
                  <a16:creationId xmlns:a16="http://schemas.microsoft.com/office/drawing/2014/main" xmlns=""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34" name="矩形 13">
              <a:extLst>
                <a:ext uri="{FF2B5EF4-FFF2-40B4-BE49-F238E27FC236}">
                  <a16:creationId xmlns:a16="http://schemas.microsoft.com/office/drawing/2014/main" xmlns=""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35" name="矩形 13">
              <a:extLst>
                <a:ext uri="{FF2B5EF4-FFF2-40B4-BE49-F238E27FC236}">
                  <a16:creationId xmlns:a16="http://schemas.microsoft.com/office/drawing/2014/main" xmlns=""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36" name="矩形 13">
              <a:extLst>
                <a:ext uri="{FF2B5EF4-FFF2-40B4-BE49-F238E27FC236}">
                  <a16:creationId xmlns:a16="http://schemas.microsoft.com/office/drawing/2014/main" xmlns=""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37" name="矩形 13">
              <a:extLst>
                <a:ext uri="{FF2B5EF4-FFF2-40B4-BE49-F238E27FC236}">
                  <a16:creationId xmlns:a16="http://schemas.microsoft.com/office/drawing/2014/main" xmlns=""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38" name="文本框 15">
              <a:extLst>
                <a:ext uri="{FF2B5EF4-FFF2-40B4-BE49-F238E27FC236}">
                  <a16:creationId xmlns:a16="http://schemas.microsoft.com/office/drawing/2014/main" xmlns=""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39" name="矩形 13">
              <a:extLst>
                <a:ext uri="{FF2B5EF4-FFF2-40B4-BE49-F238E27FC236}">
                  <a16:creationId xmlns:a16="http://schemas.microsoft.com/office/drawing/2014/main" xmlns=""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40" name="矩形 13">
              <a:extLst>
                <a:ext uri="{FF2B5EF4-FFF2-40B4-BE49-F238E27FC236}">
                  <a16:creationId xmlns:a16="http://schemas.microsoft.com/office/drawing/2014/main" xmlns=""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41" name="矩形 13">
              <a:extLst>
                <a:ext uri="{FF2B5EF4-FFF2-40B4-BE49-F238E27FC236}">
                  <a16:creationId xmlns:a16="http://schemas.microsoft.com/office/drawing/2014/main" xmlns=""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42" name="矩形 13">
              <a:extLst>
                <a:ext uri="{FF2B5EF4-FFF2-40B4-BE49-F238E27FC236}">
                  <a16:creationId xmlns:a16="http://schemas.microsoft.com/office/drawing/2014/main" xmlns=""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43" name="矩形 13">
              <a:extLst>
                <a:ext uri="{FF2B5EF4-FFF2-40B4-BE49-F238E27FC236}">
                  <a16:creationId xmlns:a16="http://schemas.microsoft.com/office/drawing/2014/main" xmlns=""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44" name="矩形 13">
              <a:extLst>
                <a:ext uri="{FF2B5EF4-FFF2-40B4-BE49-F238E27FC236}">
                  <a16:creationId xmlns:a16="http://schemas.microsoft.com/office/drawing/2014/main" xmlns=""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45" name="矩形 13">
              <a:extLst>
                <a:ext uri="{FF2B5EF4-FFF2-40B4-BE49-F238E27FC236}">
                  <a16:creationId xmlns:a16="http://schemas.microsoft.com/office/drawing/2014/main" xmlns=""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46" name="矩形 13">
              <a:extLst>
                <a:ext uri="{FF2B5EF4-FFF2-40B4-BE49-F238E27FC236}">
                  <a16:creationId xmlns:a16="http://schemas.microsoft.com/office/drawing/2014/main" xmlns=""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47" name="矩形 13">
              <a:extLst>
                <a:ext uri="{FF2B5EF4-FFF2-40B4-BE49-F238E27FC236}">
                  <a16:creationId xmlns:a16="http://schemas.microsoft.com/office/drawing/2014/main" xmlns=""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48" name="矩形 13">
              <a:extLst>
                <a:ext uri="{FF2B5EF4-FFF2-40B4-BE49-F238E27FC236}">
                  <a16:creationId xmlns:a16="http://schemas.microsoft.com/office/drawing/2014/main" xmlns=""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49" name="矩形 13">
              <a:extLst>
                <a:ext uri="{FF2B5EF4-FFF2-40B4-BE49-F238E27FC236}">
                  <a16:creationId xmlns:a16="http://schemas.microsoft.com/office/drawing/2014/main" xmlns=""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50" name="矩形 13">
              <a:extLst>
                <a:ext uri="{FF2B5EF4-FFF2-40B4-BE49-F238E27FC236}">
                  <a16:creationId xmlns:a16="http://schemas.microsoft.com/office/drawing/2014/main" xmlns=""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51" name="矩形 13">
              <a:extLst>
                <a:ext uri="{FF2B5EF4-FFF2-40B4-BE49-F238E27FC236}">
                  <a16:creationId xmlns:a16="http://schemas.microsoft.com/office/drawing/2014/main" xmlns=""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52" name="矩形 13">
              <a:extLst>
                <a:ext uri="{FF2B5EF4-FFF2-40B4-BE49-F238E27FC236}">
                  <a16:creationId xmlns:a16="http://schemas.microsoft.com/office/drawing/2014/main" xmlns=""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53" name="矩形 13">
              <a:extLst>
                <a:ext uri="{FF2B5EF4-FFF2-40B4-BE49-F238E27FC236}">
                  <a16:creationId xmlns:a16="http://schemas.microsoft.com/office/drawing/2014/main" xmlns=""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54" name="矩形 13">
              <a:extLst>
                <a:ext uri="{FF2B5EF4-FFF2-40B4-BE49-F238E27FC236}">
                  <a16:creationId xmlns:a16="http://schemas.microsoft.com/office/drawing/2014/main" xmlns=""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55" name="矩形 13">
              <a:extLst>
                <a:ext uri="{FF2B5EF4-FFF2-40B4-BE49-F238E27FC236}">
                  <a16:creationId xmlns:a16="http://schemas.microsoft.com/office/drawing/2014/main" xmlns=""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56" name="矩形 13">
              <a:extLst>
                <a:ext uri="{FF2B5EF4-FFF2-40B4-BE49-F238E27FC236}">
                  <a16:creationId xmlns:a16="http://schemas.microsoft.com/office/drawing/2014/main" xmlns=""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57" name="矩形 13">
              <a:extLst>
                <a:ext uri="{FF2B5EF4-FFF2-40B4-BE49-F238E27FC236}">
                  <a16:creationId xmlns:a16="http://schemas.microsoft.com/office/drawing/2014/main" xmlns=""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58" name="矩形 13">
              <a:extLst>
                <a:ext uri="{FF2B5EF4-FFF2-40B4-BE49-F238E27FC236}">
                  <a16:creationId xmlns:a16="http://schemas.microsoft.com/office/drawing/2014/main" xmlns=""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59" name="矩形 13">
              <a:extLst>
                <a:ext uri="{FF2B5EF4-FFF2-40B4-BE49-F238E27FC236}">
                  <a16:creationId xmlns:a16="http://schemas.microsoft.com/office/drawing/2014/main" xmlns=""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60" name="矩形 13">
              <a:extLst>
                <a:ext uri="{FF2B5EF4-FFF2-40B4-BE49-F238E27FC236}">
                  <a16:creationId xmlns:a16="http://schemas.microsoft.com/office/drawing/2014/main" xmlns=""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61" name="矩形 13">
              <a:extLst>
                <a:ext uri="{FF2B5EF4-FFF2-40B4-BE49-F238E27FC236}">
                  <a16:creationId xmlns:a16="http://schemas.microsoft.com/office/drawing/2014/main" xmlns=""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190/23/238</a:t>
              </a:r>
            </a:p>
          </p:txBody>
        </p:sp>
        <p:sp>
          <p:nvSpPr>
            <p:cNvPr id="62" name="矩形 13">
              <a:extLst>
                <a:ext uri="{FF2B5EF4-FFF2-40B4-BE49-F238E27FC236}">
                  <a16:creationId xmlns:a16="http://schemas.microsoft.com/office/drawing/2014/main" xmlns=""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63" name="矩形 13">
              <a:extLst>
                <a:ext uri="{FF2B5EF4-FFF2-40B4-BE49-F238E27FC236}">
                  <a16:creationId xmlns:a16="http://schemas.microsoft.com/office/drawing/2014/main" xmlns=""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64" name="矩形 13">
              <a:extLst>
                <a:ext uri="{FF2B5EF4-FFF2-40B4-BE49-F238E27FC236}">
                  <a16:creationId xmlns:a16="http://schemas.microsoft.com/office/drawing/2014/main" xmlns=""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35/24/21</a:t>
              </a:r>
            </a:p>
          </p:txBody>
        </p:sp>
        <p:sp>
          <p:nvSpPr>
            <p:cNvPr id="65" name="矩形 13">
              <a:extLst>
                <a:ext uri="{FF2B5EF4-FFF2-40B4-BE49-F238E27FC236}">
                  <a16:creationId xmlns:a16="http://schemas.microsoft.com/office/drawing/2014/main" xmlns=""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66" name="矩形 13">
              <a:extLst>
                <a:ext uri="{FF2B5EF4-FFF2-40B4-BE49-F238E27FC236}">
                  <a16:creationId xmlns:a16="http://schemas.microsoft.com/office/drawing/2014/main" xmlns=""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67" name="矩形 13">
              <a:extLst>
                <a:ext uri="{FF2B5EF4-FFF2-40B4-BE49-F238E27FC236}">
                  <a16:creationId xmlns:a16="http://schemas.microsoft.com/office/drawing/2014/main" xmlns=""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68" name="矩形 13">
              <a:extLst>
                <a:ext uri="{FF2B5EF4-FFF2-40B4-BE49-F238E27FC236}">
                  <a16:creationId xmlns:a16="http://schemas.microsoft.com/office/drawing/2014/main" xmlns=""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69" name="矩形 13">
              <a:extLst>
                <a:ext uri="{FF2B5EF4-FFF2-40B4-BE49-F238E27FC236}">
                  <a16:creationId xmlns:a16="http://schemas.microsoft.com/office/drawing/2014/main" xmlns=""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sp>
        <p:nvSpPr>
          <p:cNvPr id="70" name="Title Placeholder 1">
            <a:extLst>
              <a:ext uri="{FF2B5EF4-FFF2-40B4-BE49-F238E27FC236}">
                <a16:creationId xmlns:a16="http://schemas.microsoft.com/office/drawing/2014/main" xmlns="" id="{145F1158-B1AA-8F41-AF0A-FEA0EC1874AC}"/>
              </a:ext>
            </a:extLst>
          </p:cNvPr>
          <p:cNvSpPr>
            <a:spLocks noGrp="1"/>
          </p:cNvSpPr>
          <p:nvPr>
            <p:ph type="title"/>
          </p:nvPr>
        </p:nvSpPr>
        <p:spPr>
          <a:xfrm>
            <a:off x="616573" y="1474269"/>
            <a:ext cx="3984232" cy="2816080"/>
          </a:xfrm>
          <a:prstGeom prst="rect">
            <a:avLst/>
          </a:prstGeom>
        </p:spPr>
        <p:txBody>
          <a:bodyPr vert="horz" lIns="91440" tIns="45720" rIns="91440" bIns="45720" rtlCol="0" anchor="t">
            <a:normAutofit/>
          </a:bodyPr>
          <a:lstStyle/>
          <a:p>
            <a:r>
              <a:rPr lang="en-US" dirty="0"/>
              <a:t>Click to edit Master title style</a:t>
            </a:r>
          </a:p>
        </p:txBody>
      </p:sp>
      <p:sp>
        <p:nvSpPr>
          <p:cNvPr id="71" name="Text Placeholder 1">
            <a:extLst>
              <a:ext uri="{FF2B5EF4-FFF2-40B4-BE49-F238E27FC236}">
                <a16:creationId xmlns:a16="http://schemas.microsoft.com/office/drawing/2014/main" xmlns="" id="{F8FC7CCD-75EB-9C44-BC7D-29679334A8CA}"/>
              </a:ext>
            </a:extLst>
          </p:cNvPr>
          <p:cNvSpPr txBox="1">
            <a:spLocks/>
          </p:cNvSpPr>
          <p:nvPr userDrawn="1"/>
        </p:nvSpPr>
        <p:spPr>
          <a:xfrm>
            <a:off x="7979357" y="2794960"/>
            <a:ext cx="3225168" cy="2029962"/>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065"/>
              </a:lnSpc>
            </a:pPr>
            <a:r>
              <a:rPr kumimoji="1" lang="en-US" altLang="zh-CN" sz="850" b="1" baseline="0" dirty="0" smtClean="0">
                <a:solidFill>
                  <a:srgbClr val="1D1D1B"/>
                </a:solidFill>
                <a:latin typeface="+mj-lt"/>
              </a:rPr>
              <a:t>Copyright©2021 </a:t>
            </a:r>
            <a:r>
              <a:rPr kumimoji="1" lang="en-US" altLang="zh-CN" sz="850" b="1" baseline="0" dirty="0">
                <a:solidFill>
                  <a:srgbClr val="1D1D1B"/>
                </a:solidFill>
                <a:latin typeface="+mj-lt"/>
              </a:rPr>
              <a:t>Huawei Technologies Co., Ltd.</a:t>
            </a:r>
            <a:br>
              <a:rPr kumimoji="1" lang="en-US" altLang="zh-CN" sz="850" b="1" baseline="0" dirty="0">
                <a:solidFill>
                  <a:srgbClr val="1D1D1B"/>
                </a:solidFill>
                <a:latin typeface="+mj-lt"/>
              </a:rPr>
            </a:br>
            <a:r>
              <a:rPr kumimoji="1" lang="en-US" altLang="zh-CN" sz="850" b="1" baseline="0" dirty="0">
                <a:solidFill>
                  <a:srgbClr val="1D1D1B"/>
                </a:solidFill>
                <a:latin typeface="+mj-lt"/>
              </a:rPr>
              <a:t>All Rights Reserved.</a:t>
            </a:r>
            <a:r>
              <a:rPr kumimoji="1" lang="en-US" altLang="zh-CN" sz="779" dirty="0">
                <a:solidFill>
                  <a:srgbClr val="1D1D1B"/>
                </a:solidFill>
                <a:latin typeface="+mn-lt"/>
              </a:rPr>
              <a:t/>
            </a:r>
            <a:br>
              <a:rPr kumimoji="1" lang="en-US" altLang="zh-CN" sz="779" dirty="0">
                <a:solidFill>
                  <a:srgbClr val="1D1D1B"/>
                </a:solidFill>
                <a:latin typeface="+mn-lt"/>
              </a:rPr>
            </a:br>
            <a:r>
              <a:rPr kumimoji="1" lang="en-US" altLang="zh-CN" sz="779" dirty="0">
                <a:solidFill>
                  <a:srgbClr val="1D1D1B"/>
                </a:solidFill>
                <a:latin typeface="+mn-lt"/>
              </a:rPr>
              <a:t/>
            </a:r>
            <a:br>
              <a:rPr kumimoji="1" lang="en-US" altLang="zh-CN" sz="779" dirty="0">
                <a:solidFill>
                  <a:srgbClr val="1D1D1B"/>
                </a:solidFill>
                <a:latin typeface="+mn-lt"/>
              </a:rPr>
            </a:br>
            <a:r>
              <a:rPr kumimoji="1" lang="en-US" altLang="zh-CN" sz="850" baseline="0" dirty="0">
                <a:solidFill>
                  <a:srgbClr val="1D1D1B"/>
                </a:solidFill>
                <a:latin typeface="+mn-lt"/>
                <a:cs typeface="Arial" panose="020B0604020202020204" pitchFamily="34" charset="0"/>
              </a:rPr>
              <a:t>The information in this document may contain predictive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statements including, without limitation, statements regarding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 future financial and operating results, future product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portfolio, new technology, etc. There are a number of factors that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could cause actual results and developments to differ materially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from those expressed or implied in the predictive statements.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Therefore, such information is provided for reference purpose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only and constitutes neither an offer nor an acceptance. Huawei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may change the information at any time without notice. </a:t>
            </a:r>
          </a:p>
          <a:p>
            <a:pPr>
              <a:lnSpc>
                <a:spcPts val="1065"/>
              </a:lnSpc>
            </a:pPr>
            <a:endParaRPr kumimoji="1" lang="zh-CN" altLang="en-US" sz="779" dirty="0">
              <a:solidFill>
                <a:srgbClr val="1D1D1B"/>
              </a:solidFill>
              <a:latin typeface="+mn-lt"/>
            </a:endParaRPr>
          </a:p>
        </p:txBody>
      </p:sp>
      <p:sp>
        <p:nvSpPr>
          <p:cNvPr id="72" name="Subtitle 6">
            <a:extLst>
              <a:ext uri="{FF2B5EF4-FFF2-40B4-BE49-F238E27FC236}">
                <a16:creationId xmlns:a16="http://schemas.microsoft.com/office/drawing/2014/main" xmlns="" id="{12B8F806-ABD5-064C-8793-5E22C72554FD}"/>
              </a:ext>
            </a:extLst>
          </p:cNvPr>
          <p:cNvSpPr txBox="1">
            <a:spLocks/>
          </p:cNvSpPr>
          <p:nvPr userDrawn="1"/>
        </p:nvSpPr>
        <p:spPr>
          <a:xfrm>
            <a:off x="7987276" y="1631849"/>
            <a:ext cx="3477701" cy="491114"/>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681"/>
              </a:lnSpc>
              <a:spcBef>
                <a:spcPts val="0"/>
              </a:spcBef>
            </a:pPr>
            <a:r>
              <a:rPr kumimoji="1" lang="zh-CN" altLang="en-US" sz="1300" dirty="0">
                <a:solidFill>
                  <a:srgbClr val="1D1D1B"/>
                </a:solidFill>
                <a:latin typeface="Microsoft YaHei" charset="-122"/>
                <a:ea typeface="Microsoft YaHei" charset="-122"/>
                <a:cs typeface="Microsoft YaHei" charset="-122"/>
              </a:rPr>
              <a:t>把数字世界带入每个人、每个家庭、</a:t>
            </a:r>
            <a:r>
              <a:rPr kumimoji="1" lang="en-US" altLang="zh-CN" sz="1300" dirty="0">
                <a:solidFill>
                  <a:srgbClr val="1D1D1B"/>
                </a:solidFill>
                <a:latin typeface="Microsoft YaHei" charset="-122"/>
                <a:ea typeface="Microsoft YaHei" charset="-122"/>
                <a:cs typeface="Microsoft YaHei" charset="-122"/>
              </a:rPr>
              <a:t/>
            </a:r>
            <a:br>
              <a:rPr kumimoji="1" lang="en-US" altLang="zh-CN" sz="1300" dirty="0">
                <a:solidFill>
                  <a:srgbClr val="1D1D1B"/>
                </a:solidFill>
                <a:latin typeface="Microsoft YaHei" charset="-122"/>
                <a:ea typeface="Microsoft YaHei" charset="-122"/>
                <a:cs typeface="Microsoft YaHei" charset="-122"/>
              </a:rPr>
            </a:br>
            <a:r>
              <a:rPr kumimoji="1" lang="zh-CN" altLang="en-US" sz="1300" dirty="0">
                <a:solidFill>
                  <a:srgbClr val="1D1D1B"/>
                </a:solidFill>
                <a:latin typeface="Microsoft YaHei" charset="-122"/>
                <a:ea typeface="Microsoft YaHei" charset="-122"/>
                <a:cs typeface="Microsoft YaHei" charset="-122"/>
              </a:rPr>
              <a:t>每个组织，构建万物互联的智能世界。</a:t>
            </a:r>
          </a:p>
        </p:txBody>
      </p:sp>
      <p:sp>
        <p:nvSpPr>
          <p:cNvPr id="73" name="Subtitle 6">
            <a:extLst>
              <a:ext uri="{FF2B5EF4-FFF2-40B4-BE49-F238E27FC236}">
                <a16:creationId xmlns:a16="http://schemas.microsoft.com/office/drawing/2014/main" xmlns="" id="{F1235B6F-D691-2C40-93D4-EC5427ADDFB0}"/>
              </a:ext>
            </a:extLst>
          </p:cNvPr>
          <p:cNvSpPr txBox="1">
            <a:spLocks/>
          </p:cNvSpPr>
          <p:nvPr userDrawn="1"/>
        </p:nvSpPr>
        <p:spPr>
          <a:xfrm>
            <a:off x="7977672" y="2106124"/>
            <a:ext cx="3481833" cy="582808"/>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Microsoft YaHei" panose="020B0503020204020204" pitchFamily="34" charset="-122"/>
                <a:ea typeface="Microsoft YaHei"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ts val="1294"/>
              </a:lnSpc>
            </a:pPr>
            <a:r>
              <a:rPr kumimoji="1" lang="en-US" altLang="zh-CN" sz="1200" dirty="0">
                <a:solidFill>
                  <a:srgbClr val="1D1D1B"/>
                </a:solidFill>
                <a:latin typeface="+mn-lt"/>
                <a:cs typeface="Arial" panose="020B0604020202020204" pitchFamily="34" charset="0"/>
              </a:rPr>
              <a:t>Bring digital to every person, home, and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organization for a fully connected,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intelligent world.</a:t>
            </a:r>
            <a:endParaRPr kumimoji="1" lang="zh-CN" altLang="en-US" sz="1200" dirty="0">
              <a:solidFill>
                <a:srgbClr val="1D1D1B"/>
              </a:solidFill>
              <a:latin typeface="+mn-lt"/>
              <a:ea typeface="Microsoft YaHei" charset="-122"/>
              <a:cs typeface="Microsoft YaHei" charset="-122"/>
            </a:endParaRPr>
          </a:p>
        </p:txBody>
      </p:sp>
      <p:pic>
        <p:nvPicPr>
          <p:cNvPr id="74" name="图片 7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975497" y="5251150"/>
            <a:ext cx="1869596" cy="399462"/>
          </a:xfrm>
          <a:prstGeom prst="rect">
            <a:avLst/>
          </a:prstGeom>
        </p:spPr>
      </p:pic>
    </p:spTree>
    <p:extLst>
      <p:ext uri="{BB962C8B-B14F-4D97-AF65-F5344CB8AC3E}">
        <p14:creationId xmlns:p14="http://schemas.microsoft.com/office/powerpoint/2010/main" val="3019321380"/>
      </p:ext>
    </p:extLst>
  </p:cSld>
  <p:clrMap bg1="lt1" tx1="dk1" bg2="lt2" tx2="dk2" accent1="accent1" accent2="accent2" accent3="accent3" accent4="accent4" accent5="accent5" accent6="accent6" hlink="hlink" folHlink="folHlink"/>
  <p:sldLayoutIdLst>
    <p:sldLayoutId id="2147483892" r:id="rId1"/>
  </p:sldLayoutIdLst>
  <p:timing>
    <p:tnLst>
      <p:par>
        <p:cTn id="1" dur="indefinite" restart="never" nodeType="tmRoot"/>
      </p:par>
    </p:tnLst>
  </p:timing>
  <p:hf hdr="0" ftr="0" dt="0"/>
  <p:txStyles>
    <p:titleStyle>
      <a:lvl1pPr algn="l" defTabSz="1187323" rtl="0" eaLnBrk="1" latinLnBrk="0" hangingPunct="1">
        <a:lnSpc>
          <a:spcPct val="90000"/>
        </a:lnSpc>
        <a:spcBef>
          <a:spcPct val="0"/>
        </a:spcBef>
        <a:buNone/>
        <a:defRPr sz="4998" b="0" kern="120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p:titleStyle>
    <p:bodyStyle>
      <a:lvl1pPr marL="0" indent="0" algn="l" defTabSz="1187323" rtl="0" eaLnBrk="1" latinLnBrk="0" hangingPunct="1">
        <a:lnSpc>
          <a:spcPct val="90000"/>
        </a:lnSpc>
        <a:spcBef>
          <a:spcPts val="1298"/>
        </a:spcBef>
        <a:buFont typeface="Arial" panose="020B0604020202020204" pitchFamily="34" charset="0"/>
        <a:buNone/>
        <a:defRPr sz="1818" kern="1200">
          <a:solidFill>
            <a:srgbClr val="FFFFFF"/>
          </a:solidFill>
          <a:latin typeface="Microsoft YaHei" panose="020B0503020204020204" pitchFamily="34" charset="-122"/>
          <a:ea typeface="Microsoft YaHei" panose="020B0503020204020204" pitchFamily="34" charset="-122"/>
          <a:cs typeface="+mn-cs"/>
        </a:defRPr>
      </a:lvl1pPr>
      <a:lvl2pPr marL="593662" indent="0" algn="l" defTabSz="1187323" rtl="0" eaLnBrk="1" latinLnBrk="0" hangingPunct="1">
        <a:lnSpc>
          <a:spcPct val="90000"/>
        </a:lnSpc>
        <a:spcBef>
          <a:spcPts val="650"/>
        </a:spcBef>
        <a:buFont typeface="Arial" panose="020B0604020202020204" pitchFamily="34" charset="0"/>
        <a:buNone/>
        <a:defRPr sz="3117" kern="1200">
          <a:solidFill>
            <a:schemeClr val="tx1"/>
          </a:solidFill>
          <a:latin typeface="+mn-lt"/>
          <a:ea typeface="+mn-ea"/>
          <a:cs typeface="+mn-cs"/>
        </a:defRPr>
      </a:lvl2pPr>
      <a:lvl3pPr marL="1187323" indent="0" algn="l" defTabSz="1187323" rtl="0" eaLnBrk="1" latinLnBrk="0" hangingPunct="1">
        <a:lnSpc>
          <a:spcPct val="90000"/>
        </a:lnSpc>
        <a:spcBef>
          <a:spcPts val="650"/>
        </a:spcBef>
        <a:buFont typeface="Arial" panose="020B0604020202020204" pitchFamily="34" charset="0"/>
        <a:buNone/>
        <a:defRPr sz="2597" kern="1200">
          <a:solidFill>
            <a:schemeClr val="tx1"/>
          </a:solidFill>
          <a:latin typeface="+mn-lt"/>
          <a:ea typeface="+mn-ea"/>
          <a:cs typeface="+mn-cs"/>
        </a:defRPr>
      </a:lvl3pPr>
      <a:lvl4pPr marL="1780986" indent="0" algn="l" defTabSz="1187323" rtl="0" eaLnBrk="1" latinLnBrk="0" hangingPunct="1">
        <a:lnSpc>
          <a:spcPct val="90000"/>
        </a:lnSpc>
        <a:spcBef>
          <a:spcPts val="650"/>
        </a:spcBef>
        <a:buFont typeface="Arial" panose="020B0604020202020204" pitchFamily="34" charset="0"/>
        <a:buNone/>
        <a:defRPr sz="2337" kern="1200">
          <a:solidFill>
            <a:schemeClr val="tx1"/>
          </a:solidFill>
          <a:latin typeface="+mn-lt"/>
          <a:ea typeface="+mn-ea"/>
          <a:cs typeface="+mn-cs"/>
        </a:defRPr>
      </a:lvl4pPr>
      <a:lvl5pPr marL="2374648" indent="0" algn="l" defTabSz="1187323" rtl="0" eaLnBrk="1" latinLnBrk="0" hangingPunct="1">
        <a:lnSpc>
          <a:spcPct val="90000"/>
        </a:lnSpc>
        <a:spcBef>
          <a:spcPts val="650"/>
        </a:spcBef>
        <a:buFont typeface="Arial" panose="020B0604020202020204" pitchFamily="34" charset="0"/>
        <a:buNone/>
        <a:defRPr sz="2337" kern="1200">
          <a:solidFill>
            <a:schemeClr val="tx1"/>
          </a:solidFill>
          <a:latin typeface="+mn-lt"/>
          <a:ea typeface="+mn-ea"/>
          <a:cs typeface="+mn-cs"/>
        </a:defRPr>
      </a:lvl5pPr>
      <a:lvl6pPr marL="3265140"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6pPr>
      <a:lvl7pPr marL="3858802"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7pPr>
      <a:lvl8pPr marL="4452463"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8pPr>
      <a:lvl9pPr marL="5046125"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9pPr>
    </p:bodyStyle>
    <p:otherStyle>
      <a:defPPr>
        <a:defRPr lang="en-US"/>
      </a:defPPr>
      <a:lvl1pPr marL="0" algn="l" defTabSz="1187323" rtl="0" eaLnBrk="1" latinLnBrk="0" hangingPunct="1">
        <a:defRPr sz="2337" kern="1200">
          <a:solidFill>
            <a:schemeClr val="tx1"/>
          </a:solidFill>
          <a:latin typeface="+mn-lt"/>
          <a:ea typeface="+mn-ea"/>
          <a:cs typeface="+mn-cs"/>
        </a:defRPr>
      </a:lvl1pPr>
      <a:lvl2pPr marL="593662" algn="l" defTabSz="1187323" rtl="0" eaLnBrk="1" latinLnBrk="0" hangingPunct="1">
        <a:defRPr sz="2337" kern="1200">
          <a:solidFill>
            <a:schemeClr val="tx1"/>
          </a:solidFill>
          <a:latin typeface="+mn-lt"/>
          <a:ea typeface="+mn-ea"/>
          <a:cs typeface="+mn-cs"/>
        </a:defRPr>
      </a:lvl2pPr>
      <a:lvl3pPr marL="1187323" algn="l" defTabSz="1187323" rtl="0" eaLnBrk="1" latinLnBrk="0" hangingPunct="1">
        <a:defRPr sz="2337" kern="1200">
          <a:solidFill>
            <a:schemeClr val="tx1"/>
          </a:solidFill>
          <a:latin typeface="+mn-lt"/>
          <a:ea typeface="+mn-ea"/>
          <a:cs typeface="+mn-cs"/>
        </a:defRPr>
      </a:lvl3pPr>
      <a:lvl4pPr marL="1780986" algn="l" defTabSz="1187323" rtl="0" eaLnBrk="1" latinLnBrk="0" hangingPunct="1">
        <a:defRPr sz="2337" kern="1200">
          <a:solidFill>
            <a:schemeClr val="tx1"/>
          </a:solidFill>
          <a:latin typeface="+mn-lt"/>
          <a:ea typeface="+mn-ea"/>
          <a:cs typeface="+mn-cs"/>
        </a:defRPr>
      </a:lvl4pPr>
      <a:lvl5pPr marL="2374648" algn="l" defTabSz="1187323" rtl="0" eaLnBrk="1" latinLnBrk="0" hangingPunct="1">
        <a:defRPr sz="2337" kern="1200">
          <a:solidFill>
            <a:schemeClr val="tx1"/>
          </a:solidFill>
          <a:latin typeface="+mn-lt"/>
          <a:ea typeface="+mn-ea"/>
          <a:cs typeface="+mn-cs"/>
        </a:defRPr>
      </a:lvl5pPr>
      <a:lvl6pPr marL="2968309" algn="l" defTabSz="1187323" rtl="0" eaLnBrk="1" latinLnBrk="0" hangingPunct="1">
        <a:defRPr sz="2337" kern="1200">
          <a:solidFill>
            <a:schemeClr val="tx1"/>
          </a:solidFill>
          <a:latin typeface="+mn-lt"/>
          <a:ea typeface="+mn-ea"/>
          <a:cs typeface="+mn-cs"/>
        </a:defRPr>
      </a:lvl6pPr>
      <a:lvl7pPr marL="3561971" algn="l" defTabSz="1187323" rtl="0" eaLnBrk="1" latinLnBrk="0" hangingPunct="1">
        <a:defRPr sz="2337" kern="1200">
          <a:solidFill>
            <a:schemeClr val="tx1"/>
          </a:solidFill>
          <a:latin typeface="+mn-lt"/>
          <a:ea typeface="+mn-ea"/>
          <a:cs typeface="+mn-cs"/>
        </a:defRPr>
      </a:lvl7pPr>
      <a:lvl8pPr marL="4155634" algn="l" defTabSz="1187323" rtl="0" eaLnBrk="1" latinLnBrk="0" hangingPunct="1">
        <a:defRPr sz="2337" kern="1200">
          <a:solidFill>
            <a:schemeClr val="tx1"/>
          </a:solidFill>
          <a:latin typeface="+mn-lt"/>
          <a:ea typeface="+mn-ea"/>
          <a:cs typeface="+mn-cs"/>
        </a:defRPr>
      </a:lvl8pPr>
      <a:lvl9pPr marL="4749295" algn="l" defTabSz="1187323" rtl="0" eaLnBrk="1" latinLnBrk="0" hangingPunct="1">
        <a:defRPr sz="2337"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1">
          <p15:clr>
            <a:srgbClr val="F26B43"/>
          </p15:clr>
        </p15:guide>
        <p15:guide id="2" pos="3842">
          <p15:clr>
            <a:srgbClr val="F26B43"/>
          </p15:clr>
        </p15:guide>
        <p15:guide id="3" pos="461">
          <p15:clr>
            <a:srgbClr val="F26B43"/>
          </p15:clr>
        </p15:guide>
        <p15:guide id="4" pos="7197">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3.xml"/><Relationship Id="rId1" Type="http://schemas.openxmlformats.org/officeDocument/2006/relationships/tags" Target="../tags/tag1.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3.xml"/><Relationship Id="rId1" Type="http://schemas.openxmlformats.org/officeDocument/2006/relationships/tags" Target="../tags/tag2.xml"/><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3.xml"/><Relationship Id="rId1" Type="http://schemas.openxmlformats.org/officeDocument/2006/relationships/tags" Target="../tags/tag3.xml"/><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3.xml"/><Relationship Id="rId1" Type="http://schemas.openxmlformats.org/officeDocument/2006/relationships/tags" Target="../tags/tag4.xml"/><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3.xml"/><Relationship Id="rId1" Type="http://schemas.openxmlformats.org/officeDocument/2006/relationships/tags" Target="../tags/tag5.xml"/><Relationship Id="rId4" Type="http://schemas.openxmlformats.org/officeDocument/2006/relationships/image" Target="../media/image4.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5.xml"/><Relationship Id="rId1" Type="http://schemas.openxmlformats.org/officeDocument/2006/relationships/tags" Target="../tags/tag6.xml"/><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1.xml"/><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4.xml"/><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9.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 name="文本占位符 14"/>
          <p:cNvSpPr>
            <a:spLocks noGrp="1"/>
          </p:cNvSpPr>
          <p:nvPr>
            <p:ph type="body" sz="quarter" idx="17"/>
          </p:nvPr>
        </p:nvSpPr>
        <p:spPr bwMode="gray"/>
        <p:txBody>
          <a:bodyPr/>
          <a:lstStyle/>
          <a:p>
            <a:endParaRPr lang="zh-CN" altLang="en-US" dirty="0">
              <a:sym typeface="Huawei Sans" panose="020C0503030203020204" pitchFamily="34" charset="0"/>
            </a:endParaRPr>
          </a:p>
        </p:txBody>
      </p:sp>
      <p:sp>
        <p:nvSpPr>
          <p:cNvPr id="50" name="文本占位符 49"/>
          <p:cNvSpPr>
            <a:spLocks noGrp="1"/>
          </p:cNvSpPr>
          <p:nvPr>
            <p:ph type="body" sz="quarter" idx="18"/>
          </p:nvPr>
        </p:nvSpPr>
        <p:spPr bwMode="gray"/>
        <p:txBody>
          <a:bodyPr/>
          <a:lstStyle/>
          <a:p>
            <a:r>
              <a:rPr lang="en-US" altLang="zh-CN" dirty="0"/>
              <a:t>Datacom</a:t>
            </a:r>
          </a:p>
        </p:txBody>
      </p:sp>
      <p:sp>
        <p:nvSpPr>
          <p:cNvPr id="83" name="文本占位符 82"/>
          <p:cNvSpPr>
            <a:spLocks noGrp="1"/>
          </p:cNvSpPr>
          <p:nvPr>
            <p:ph type="body" sz="quarter" idx="19"/>
          </p:nvPr>
        </p:nvSpPr>
        <p:spPr bwMode="gray"/>
        <p:txBody>
          <a:bodyPr/>
          <a:lstStyle/>
          <a:p>
            <a:r>
              <a:rPr lang="zh-CN" altLang="en-US" dirty="0" smtClean="0"/>
              <a:t>通用</a:t>
            </a:r>
            <a:endParaRPr lang="zh-CN" altLang="en-US" dirty="0"/>
          </a:p>
        </p:txBody>
      </p:sp>
      <p:sp>
        <p:nvSpPr>
          <p:cNvPr id="9" name="文本占位符 8"/>
          <p:cNvSpPr>
            <a:spLocks noGrp="1"/>
          </p:cNvSpPr>
          <p:nvPr>
            <p:ph type="body" sz="quarter" idx="20"/>
          </p:nvPr>
        </p:nvSpPr>
        <p:spPr bwMode="gray"/>
        <p:txBody>
          <a:bodyPr/>
          <a:lstStyle/>
          <a:p>
            <a:r>
              <a:rPr lang="en-US" altLang="zh-CN" dirty="0" smtClean="0"/>
              <a:t>V1.0</a:t>
            </a:r>
            <a:endParaRPr lang="zh-CN" altLang="en-US" dirty="0"/>
          </a:p>
        </p:txBody>
      </p:sp>
      <p:sp>
        <p:nvSpPr>
          <p:cNvPr id="3" name="文本占位符 2"/>
          <p:cNvSpPr>
            <a:spLocks noGrp="1"/>
          </p:cNvSpPr>
          <p:nvPr>
            <p:ph type="body" sz="quarter" idx="13"/>
          </p:nvPr>
        </p:nvSpPr>
        <p:spPr bwMode="gray"/>
        <p:txBody>
          <a:bodyPr/>
          <a:lstStyle/>
          <a:p>
            <a:r>
              <a:rPr lang="zh-CN" altLang="en-US" dirty="0" smtClean="0">
                <a:sym typeface="Huawei Sans" panose="020C0503030203020204" pitchFamily="34" charset="0"/>
              </a:rPr>
              <a:t>张凛睿</a:t>
            </a:r>
            <a:r>
              <a:rPr lang="en-US" altLang="zh-CN" dirty="0" smtClean="0">
                <a:sym typeface="Huawei Sans" panose="020C0503030203020204" pitchFamily="34" charset="0"/>
              </a:rPr>
              <a:t>/WX570554</a:t>
            </a:r>
            <a:endParaRPr lang="zh-CN" altLang="en-US" dirty="0">
              <a:sym typeface="Huawei Sans" panose="020C0503030203020204" pitchFamily="34" charset="0"/>
            </a:endParaRPr>
          </a:p>
        </p:txBody>
      </p:sp>
      <p:sp>
        <p:nvSpPr>
          <p:cNvPr id="4" name="文本占位符 3"/>
          <p:cNvSpPr>
            <a:spLocks noGrp="1"/>
          </p:cNvSpPr>
          <p:nvPr>
            <p:ph type="body" sz="quarter" idx="14"/>
          </p:nvPr>
        </p:nvSpPr>
        <p:spPr bwMode="gray"/>
        <p:txBody>
          <a:bodyPr/>
          <a:lstStyle/>
          <a:p>
            <a:r>
              <a:rPr lang="en-US" altLang="zh-CN" dirty="0" smtClean="0">
                <a:sym typeface="Huawei Sans" panose="020C0503030203020204" pitchFamily="34" charset="0"/>
              </a:rPr>
              <a:t>2020.03.30</a:t>
            </a:r>
            <a:endParaRPr lang="zh-CN" altLang="en-US" dirty="0">
              <a:sym typeface="Huawei Sans" panose="020C0503030203020204" pitchFamily="34" charset="0"/>
            </a:endParaRPr>
          </a:p>
        </p:txBody>
      </p:sp>
      <p:sp>
        <p:nvSpPr>
          <p:cNvPr id="5" name="文本占位符 4"/>
          <p:cNvSpPr>
            <a:spLocks noGrp="1"/>
          </p:cNvSpPr>
          <p:nvPr>
            <p:ph type="body" sz="quarter" idx="15"/>
          </p:nvPr>
        </p:nvSpPr>
        <p:spPr bwMode="gray"/>
        <p:txBody>
          <a:bodyPr/>
          <a:lstStyle/>
          <a:p>
            <a:r>
              <a:rPr lang="zh-CN" altLang="en-US" dirty="0" smtClean="0">
                <a:sym typeface="Huawei Sans" panose="020C0503030203020204" pitchFamily="34" charset="0"/>
              </a:rPr>
              <a:t>朱仕耿</a:t>
            </a:r>
            <a:r>
              <a:rPr lang="en-US" altLang="zh-CN" dirty="0" smtClean="0">
                <a:sym typeface="Huawei Sans" panose="020C0503030203020204" pitchFamily="34" charset="0"/>
              </a:rPr>
              <a:t>/00261992</a:t>
            </a:r>
            <a:endParaRPr lang="zh-CN" altLang="en-US" dirty="0">
              <a:sym typeface="Huawei Sans" panose="020C0503030203020204" pitchFamily="34" charset="0"/>
            </a:endParaRPr>
          </a:p>
        </p:txBody>
      </p:sp>
      <p:sp>
        <p:nvSpPr>
          <p:cNvPr id="6" name="文本占位符 5"/>
          <p:cNvSpPr>
            <a:spLocks noGrp="1"/>
          </p:cNvSpPr>
          <p:nvPr>
            <p:ph type="body" sz="quarter" idx="16"/>
          </p:nvPr>
        </p:nvSpPr>
        <p:spPr bwMode="gray"/>
        <p:txBody>
          <a:bodyPr/>
          <a:lstStyle/>
          <a:p>
            <a:r>
              <a:rPr lang="zh-CN" altLang="en-US" dirty="0" smtClean="0">
                <a:sym typeface="Huawei Sans" panose="020C0503030203020204" pitchFamily="34" charset="0"/>
              </a:rPr>
              <a:t>新开发</a:t>
            </a:r>
            <a:endParaRPr lang="zh-CN" altLang="en-US" dirty="0">
              <a:sym typeface="Huawei Sans" panose="020C0503030203020204" pitchFamily="34" charset="0"/>
            </a:endParaRPr>
          </a:p>
        </p:txBody>
      </p:sp>
      <p:sp>
        <p:nvSpPr>
          <p:cNvPr id="51" name="文本占位符 50"/>
          <p:cNvSpPr>
            <a:spLocks noGrp="1"/>
          </p:cNvSpPr>
          <p:nvPr>
            <p:ph type="body" sz="quarter" idx="21"/>
          </p:nvPr>
        </p:nvSpPr>
        <p:spPr bwMode="gray"/>
        <p:txBody>
          <a:bodyPr/>
          <a:lstStyle/>
          <a:p>
            <a:r>
              <a:rPr lang="zh-CN" altLang="en-US" dirty="0" smtClean="0"/>
              <a:t>何军建</a:t>
            </a:r>
            <a:r>
              <a:rPr lang="en-US" altLang="zh-CN" dirty="0" smtClean="0"/>
              <a:t>/</a:t>
            </a:r>
            <a:r>
              <a:rPr lang="en-US" altLang="zh-CN" dirty="0" smtClean="0"/>
              <a:t>WX</a:t>
            </a:r>
            <a:r>
              <a:rPr lang="en-US" altLang="zh-CN" dirty="0" smtClean="0"/>
              <a:t>580230</a:t>
            </a:r>
            <a:endParaRPr lang="zh-CN" altLang="en-US" dirty="0"/>
          </a:p>
        </p:txBody>
      </p:sp>
      <p:sp>
        <p:nvSpPr>
          <p:cNvPr id="31" name="文本占位符 30"/>
          <p:cNvSpPr>
            <a:spLocks noGrp="1"/>
          </p:cNvSpPr>
          <p:nvPr>
            <p:ph type="body" sz="quarter" idx="22"/>
          </p:nvPr>
        </p:nvSpPr>
        <p:spPr bwMode="gray"/>
        <p:txBody>
          <a:bodyPr/>
          <a:lstStyle/>
          <a:p>
            <a:r>
              <a:rPr lang="en-US" altLang="zh-CN" dirty="0" smtClean="0"/>
              <a:t>2021.07.28</a:t>
            </a:r>
            <a:endParaRPr lang="zh-CN" altLang="en-US" dirty="0"/>
          </a:p>
        </p:txBody>
      </p:sp>
      <p:sp>
        <p:nvSpPr>
          <p:cNvPr id="62" name="文本占位符 61"/>
          <p:cNvSpPr>
            <a:spLocks noGrp="1"/>
          </p:cNvSpPr>
          <p:nvPr>
            <p:ph type="body" sz="quarter" idx="23"/>
          </p:nvPr>
        </p:nvSpPr>
        <p:spPr bwMode="gray"/>
        <p:txBody>
          <a:bodyPr/>
          <a:lstStyle/>
          <a:p>
            <a:r>
              <a:rPr lang="zh-CN" altLang="en-US" dirty="0" smtClean="0"/>
              <a:t>卢玥玥</a:t>
            </a:r>
            <a:r>
              <a:rPr lang="en-US" altLang="zh-CN" dirty="0" smtClean="0"/>
              <a:t>/</a:t>
            </a:r>
            <a:r>
              <a:rPr lang="en-US" altLang="zh-CN" dirty="0" smtClean="0"/>
              <a:t>WX</a:t>
            </a:r>
            <a:r>
              <a:rPr lang="en-US" altLang="zh-CN" dirty="0" smtClean="0"/>
              <a:t>445705</a:t>
            </a:r>
            <a:endParaRPr lang="zh-CN" altLang="en-US" dirty="0"/>
          </a:p>
        </p:txBody>
      </p:sp>
      <p:sp>
        <p:nvSpPr>
          <p:cNvPr id="63" name="文本占位符 62"/>
          <p:cNvSpPr>
            <a:spLocks noGrp="1"/>
          </p:cNvSpPr>
          <p:nvPr>
            <p:ph type="body" sz="quarter" idx="24"/>
          </p:nvPr>
        </p:nvSpPr>
        <p:spPr bwMode="gray"/>
        <p:txBody>
          <a:bodyPr/>
          <a:lstStyle/>
          <a:p>
            <a:r>
              <a:rPr lang="zh-CN" altLang="en-US" dirty="0" smtClean="0"/>
              <a:t>优化</a:t>
            </a:r>
            <a:endParaRPr lang="zh-CN" altLang="en-US" dirty="0"/>
          </a:p>
        </p:txBody>
      </p:sp>
      <p:sp>
        <p:nvSpPr>
          <p:cNvPr id="84" name="文本占位符 83"/>
          <p:cNvSpPr>
            <a:spLocks noGrp="1"/>
          </p:cNvSpPr>
          <p:nvPr>
            <p:ph type="body" sz="quarter" idx="25"/>
          </p:nvPr>
        </p:nvSpPr>
        <p:spPr bwMode="gray"/>
        <p:txBody>
          <a:bodyPr/>
          <a:lstStyle/>
          <a:p>
            <a:endParaRPr lang="zh-CN" altLang="en-US"/>
          </a:p>
        </p:txBody>
      </p:sp>
      <p:sp>
        <p:nvSpPr>
          <p:cNvPr id="85" name="文本占位符 84"/>
          <p:cNvSpPr>
            <a:spLocks noGrp="1"/>
          </p:cNvSpPr>
          <p:nvPr>
            <p:ph type="body" sz="quarter" idx="26"/>
          </p:nvPr>
        </p:nvSpPr>
        <p:spPr bwMode="gray"/>
        <p:txBody>
          <a:bodyPr/>
          <a:lstStyle/>
          <a:p>
            <a:endParaRPr lang="zh-CN" altLang="en-US"/>
          </a:p>
        </p:txBody>
      </p:sp>
      <p:sp>
        <p:nvSpPr>
          <p:cNvPr id="86" name="文本占位符 85"/>
          <p:cNvSpPr>
            <a:spLocks noGrp="1"/>
          </p:cNvSpPr>
          <p:nvPr>
            <p:ph type="body" sz="quarter" idx="27"/>
          </p:nvPr>
        </p:nvSpPr>
        <p:spPr bwMode="gray"/>
        <p:txBody>
          <a:bodyPr/>
          <a:lstStyle/>
          <a:p>
            <a:endParaRPr lang="zh-CN" altLang="en-US"/>
          </a:p>
        </p:txBody>
      </p:sp>
      <p:sp>
        <p:nvSpPr>
          <p:cNvPr id="87" name="文本占位符 86"/>
          <p:cNvSpPr>
            <a:spLocks noGrp="1"/>
          </p:cNvSpPr>
          <p:nvPr>
            <p:ph type="body" sz="quarter" idx="28"/>
          </p:nvPr>
        </p:nvSpPr>
        <p:spPr bwMode="gray"/>
        <p:txBody>
          <a:bodyPr/>
          <a:lstStyle/>
          <a:p>
            <a:endParaRPr lang="zh-CN" altLang="en-US"/>
          </a:p>
        </p:txBody>
      </p:sp>
      <p:sp>
        <p:nvSpPr>
          <p:cNvPr id="88" name="文本占位符 87"/>
          <p:cNvSpPr>
            <a:spLocks noGrp="1"/>
          </p:cNvSpPr>
          <p:nvPr>
            <p:ph type="body" sz="quarter" idx="29"/>
          </p:nvPr>
        </p:nvSpPr>
        <p:spPr bwMode="gray"/>
        <p:txBody>
          <a:bodyPr/>
          <a:lstStyle/>
          <a:p>
            <a:endParaRPr lang="zh-CN" altLang="en-US"/>
          </a:p>
        </p:txBody>
      </p:sp>
      <p:sp>
        <p:nvSpPr>
          <p:cNvPr id="89" name="文本占位符 88"/>
          <p:cNvSpPr>
            <a:spLocks noGrp="1"/>
          </p:cNvSpPr>
          <p:nvPr>
            <p:ph type="body" sz="quarter" idx="30"/>
          </p:nvPr>
        </p:nvSpPr>
        <p:spPr bwMode="gray"/>
        <p:txBody>
          <a:bodyPr/>
          <a:lstStyle/>
          <a:p>
            <a:endParaRPr lang="zh-CN" altLang="en-US"/>
          </a:p>
        </p:txBody>
      </p:sp>
      <p:sp>
        <p:nvSpPr>
          <p:cNvPr id="90" name="文本占位符 89"/>
          <p:cNvSpPr>
            <a:spLocks noGrp="1"/>
          </p:cNvSpPr>
          <p:nvPr>
            <p:ph type="body" sz="quarter" idx="31"/>
          </p:nvPr>
        </p:nvSpPr>
        <p:spPr bwMode="gray"/>
        <p:txBody>
          <a:bodyPr/>
          <a:lstStyle/>
          <a:p>
            <a:endParaRPr lang="zh-CN" altLang="en-US"/>
          </a:p>
        </p:txBody>
      </p:sp>
      <p:sp>
        <p:nvSpPr>
          <p:cNvPr id="91" name="文本占位符 90"/>
          <p:cNvSpPr>
            <a:spLocks noGrp="1"/>
          </p:cNvSpPr>
          <p:nvPr>
            <p:ph type="body" sz="quarter" idx="32"/>
          </p:nvPr>
        </p:nvSpPr>
        <p:spPr bwMode="gray"/>
        <p:txBody>
          <a:bodyPr/>
          <a:lstStyle/>
          <a:p>
            <a:endParaRPr lang="zh-CN" altLang="en-US"/>
          </a:p>
        </p:txBody>
      </p:sp>
    </p:spTree>
    <p:extLst>
      <p:ext uri="{BB962C8B-B14F-4D97-AF65-F5344CB8AC3E}">
        <p14:creationId xmlns:p14="http://schemas.microsoft.com/office/powerpoint/2010/main" val="4200981681"/>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标题 25"/>
          <p:cNvSpPr>
            <a:spLocks noGrp="1"/>
          </p:cNvSpPr>
          <p:nvPr>
            <p:ph type="ctrTitle"/>
          </p:nvPr>
        </p:nvSpPr>
        <p:spPr bwMode="gray"/>
        <p:txBody>
          <a:bodyPr/>
          <a:lstStyle/>
          <a:p>
            <a:r>
              <a:rPr lang="en-US" altLang="zh-CN" smtClean="0">
                <a:sym typeface="Huawei Sans" panose="020C0503030203020204" pitchFamily="34" charset="0"/>
              </a:rPr>
              <a:t>MPLS VPN</a:t>
            </a:r>
            <a:r>
              <a:rPr lang="zh-CN" altLang="en-US" smtClean="0">
                <a:sym typeface="Huawei Sans" panose="020C0503030203020204" pitchFamily="34" charset="0"/>
              </a:rPr>
              <a:t>原理与配置</a:t>
            </a:r>
            <a:endParaRPr lang="zh-CN" altLang="en-US" dirty="0">
              <a:sym typeface="Huawei Sans" panose="020C0503030203020204" pitchFamily="34" charset="0"/>
            </a:endParaRPr>
          </a:p>
        </p:txBody>
      </p:sp>
    </p:spTree>
    <p:extLst>
      <p:ext uri="{BB962C8B-B14F-4D97-AF65-F5344CB8AC3E}">
        <p14:creationId xmlns:p14="http://schemas.microsoft.com/office/powerpoint/2010/main" val="27591235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en-US" altLang="zh-CN" smtClean="0">
                <a:sym typeface="Huawei Sans" panose="020C0503030203020204" pitchFamily="34" charset="0"/>
              </a:rPr>
              <a:t>VPN</a:t>
            </a:r>
            <a:r>
              <a:rPr lang="zh-CN" altLang="en-US" smtClean="0">
                <a:sym typeface="Huawei Sans" panose="020C0503030203020204" pitchFamily="34" charset="0"/>
              </a:rPr>
              <a:t>（</a:t>
            </a:r>
            <a:r>
              <a:rPr lang="en-US" altLang="zh-CN" smtClean="0">
                <a:sym typeface="Huawei Sans" panose="020C0503030203020204" pitchFamily="34" charset="0"/>
              </a:rPr>
              <a:t>Virtual Private Network</a:t>
            </a:r>
            <a:r>
              <a:rPr lang="zh-CN" altLang="en-US" smtClean="0">
                <a:sym typeface="Huawei Sans" panose="020C0503030203020204" pitchFamily="34" charset="0"/>
              </a:rPr>
              <a:t>，虚拟专用网络）指的是在一个公共网络中实现虚拟的专用网络，从而使得用户能够基于该专用网络实现通信的技术。</a:t>
            </a:r>
            <a:endParaRPr lang="en-US" altLang="zh-CN" smtClean="0">
              <a:sym typeface="Huawei Sans" panose="020C0503030203020204" pitchFamily="34" charset="0"/>
            </a:endParaRPr>
          </a:p>
          <a:p>
            <a:r>
              <a:rPr lang="en-US" altLang="zh-CN" smtClean="0">
                <a:sym typeface="Huawei Sans" panose="020C0503030203020204" pitchFamily="34" charset="0"/>
              </a:rPr>
              <a:t>MPLS VPN</a:t>
            </a:r>
            <a:r>
              <a:rPr lang="zh-CN" altLang="en-US" smtClean="0">
                <a:sym typeface="Huawei Sans" panose="020C0503030203020204" pitchFamily="34" charset="0"/>
              </a:rPr>
              <a:t>也是</a:t>
            </a:r>
            <a:r>
              <a:rPr lang="en-US" altLang="zh-CN" smtClean="0">
                <a:sym typeface="Huawei Sans" panose="020C0503030203020204" pitchFamily="34" charset="0"/>
              </a:rPr>
              <a:t>VPN</a:t>
            </a:r>
            <a:r>
              <a:rPr lang="zh-CN" altLang="en-US" smtClean="0">
                <a:sym typeface="Huawei Sans" panose="020C0503030203020204" pitchFamily="34" charset="0"/>
              </a:rPr>
              <a:t>技术中的一种。需要强调的是，本课程所介绍的</a:t>
            </a:r>
            <a:r>
              <a:rPr lang="en-US" altLang="zh-CN" smtClean="0">
                <a:sym typeface="Huawei Sans" panose="020C0503030203020204" pitchFamily="34" charset="0"/>
              </a:rPr>
              <a:t>MPLS VPN</a:t>
            </a:r>
            <a:r>
              <a:rPr lang="zh-CN" altLang="en-US" smtClean="0">
                <a:sym typeface="Huawei Sans" panose="020C0503030203020204" pitchFamily="34" charset="0"/>
              </a:rPr>
              <a:t>指的是</a:t>
            </a:r>
            <a:r>
              <a:rPr lang="en-US" altLang="zh-CN" smtClean="0">
                <a:sym typeface="Huawei Sans" panose="020C0503030203020204" pitchFamily="34" charset="0"/>
              </a:rPr>
              <a:t>BGP/MPLS IP VPN</a:t>
            </a:r>
            <a:r>
              <a:rPr lang="zh-CN" altLang="en-US" smtClean="0">
                <a:sym typeface="Huawei Sans" panose="020C0503030203020204" pitchFamily="34" charset="0"/>
              </a:rPr>
              <a:t>，这是一种被业界广泛使用的三层</a:t>
            </a:r>
            <a:r>
              <a:rPr lang="en-US" altLang="zh-CN" smtClean="0">
                <a:sym typeface="Huawei Sans" panose="020C0503030203020204" pitchFamily="34" charset="0"/>
              </a:rPr>
              <a:t>VPN</a:t>
            </a:r>
            <a:r>
              <a:rPr lang="zh-CN" altLang="en-US" smtClean="0">
                <a:sym typeface="Huawei Sans" panose="020C0503030203020204" pitchFamily="34" charset="0"/>
              </a:rPr>
              <a:t>。</a:t>
            </a:r>
            <a:endParaRPr lang="en-US" altLang="zh-CN" smtClean="0">
              <a:sym typeface="Huawei Sans" panose="020C0503030203020204" pitchFamily="34" charset="0"/>
            </a:endParaRPr>
          </a:p>
          <a:p>
            <a:r>
              <a:rPr lang="zh-CN" altLang="en-US" smtClean="0">
                <a:sym typeface="Huawei Sans" panose="020C0503030203020204" pitchFamily="34" charset="0"/>
              </a:rPr>
              <a:t>本课程将介绍</a:t>
            </a:r>
            <a:r>
              <a:rPr lang="en-US" altLang="zh-CN" smtClean="0">
                <a:sym typeface="Huawei Sans" panose="020C0503030203020204" pitchFamily="34" charset="0"/>
              </a:rPr>
              <a:t>MPLS VPN</a:t>
            </a:r>
            <a:r>
              <a:rPr lang="zh-CN" altLang="en-US" smtClean="0">
                <a:sym typeface="Huawei Sans" panose="020C0503030203020204" pitchFamily="34" charset="0"/>
              </a:rPr>
              <a:t>的基本概念、工作过程以及典型配置方法。</a:t>
            </a:r>
            <a:endParaRPr lang="zh-CN" altLang="en-US" dirty="0">
              <a:sym typeface="Huawei Sans" panose="020C0503030203020204" pitchFamily="34" charset="0"/>
            </a:endParaRPr>
          </a:p>
        </p:txBody>
      </p:sp>
    </p:spTree>
    <p:extLst>
      <p:ext uri="{BB962C8B-B14F-4D97-AF65-F5344CB8AC3E}">
        <p14:creationId xmlns:p14="http://schemas.microsoft.com/office/powerpoint/2010/main" val="177494434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type="body" sz="quarter" idx="10"/>
          </p:nvPr>
        </p:nvSpPr>
        <p:spPr bwMode="gray"/>
        <p:txBody>
          <a:bodyPr/>
          <a:lstStyle/>
          <a:p>
            <a:r>
              <a:rPr lang="zh-CN" altLang="en-US" smtClean="0">
                <a:sym typeface="Huawei Sans" panose="020C0503030203020204" pitchFamily="34" charset="0"/>
              </a:rPr>
              <a:t>学完本课程后，您将能够：</a:t>
            </a:r>
            <a:endParaRPr lang="en-US" altLang="zh-CN" smtClean="0">
              <a:sym typeface="Huawei Sans" panose="020C0503030203020204" pitchFamily="34" charset="0"/>
            </a:endParaRPr>
          </a:p>
          <a:p>
            <a:pPr lvl="1"/>
            <a:r>
              <a:rPr lang="zh-CN" altLang="en-US" smtClean="0">
                <a:sym typeface="Huawei Sans" panose="020C0503030203020204" pitchFamily="34" charset="0"/>
              </a:rPr>
              <a:t>描述</a:t>
            </a:r>
            <a:r>
              <a:rPr lang="en-US" altLang="zh-CN" smtClean="0">
                <a:sym typeface="Huawei Sans" panose="020C0503030203020204" pitchFamily="34" charset="0"/>
              </a:rPr>
              <a:t>MPLS VPN</a:t>
            </a:r>
            <a:r>
              <a:rPr lang="zh-CN" altLang="en-US" smtClean="0">
                <a:sym typeface="Huawei Sans" panose="020C0503030203020204" pitchFamily="34" charset="0"/>
              </a:rPr>
              <a:t>的模型</a:t>
            </a:r>
          </a:p>
          <a:p>
            <a:pPr lvl="1"/>
            <a:r>
              <a:rPr lang="zh-CN" altLang="en-US" smtClean="0">
                <a:sym typeface="Huawei Sans" panose="020C0503030203020204" pitchFamily="34" charset="0"/>
              </a:rPr>
              <a:t>描述</a:t>
            </a:r>
            <a:r>
              <a:rPr lang="en-US" altLang="zh-CN" smtClean="0">
                <a:sym typeface="Huawei Sans" panose="020C0503030203020204" pitchFamily="34" charset="0"/>
              </a:rPr>
              <a:t>MPLS VPN</a:t>
            </a:r>
            <a:r>
              <a:rPr lang="zh-CN" altLang="en-US" smtClean="0">
                <a:sym typeface="Huawei Sans" panose="020C0503030203020204" pitchFamily="34" charset="0"/>
              </a:rPr>
              <a:t>中的基本概念</a:t>
            </a:r>
          </a:p>
          <a:p>
            <a:pPr lvl="1"/>
            <a:r>
              <a:rPr lang="zh-CN" altLang="en-US" smtClean="0">
                <a:sym typeface="Huawei Sans" panose="020C0503030203020204" pitchFamily="34" charset="0"/>
              </a:rPr>
              <a:t>描述</a:t>
            </a:r>
            <a:r>
              <a:rPr lang="en-US" altLang="zh-CN" smtClean="0">
                <a:sym typeface="Huawei Sans" panose="020C0503030203020204" pitchFamily="34" charset="0"/>
              </a:rPr>
              <a:t>MPLS VPN</a:t>
            </a:r>
            <a:r>
              <a:rPr lang="zh-CN" altLang="en-US" smtClean="0">
                <a:sym typeface="Huawei Sans" panose="020C0503030203020204" pitchFamily="34" charset="0"/>
              </a:rPr>
              <a:t>路由传递和标签分发</a:t>
            </a:r>
          </a:p>
          <a:p>
            <a:pPr lvl="1"/>
            <a:r>
              <a:rPr lang="zh-CN" altLang="en-US" smtClean="0">
                <a:sym typeface="Huawei Sans" panose="020C0503030203020204" pitchFamily="34" charset="0"/>
              </a:rPr>
              <a:t>描述</a:t>
            </a:r>
            <a:r>
              <a:rPr lang="en-US" altLang="zh-CN" smtClean="0">
                <a:sym typeface="Huawei Sans" panose="020C0503030203020204" pitchFamily="34" charset="0"/>
              </a:rPr>
              <a:t>MPLS VPN</a:t>
            </a:r>
            <a:r>
              <a:rPr lang="zh-CN" altLang="en-US" smtClean="0">
                <a:sym typeface="Huawei Sans" panose="020C0503030203020204" pitchFamily="34" charset="0"/>
              </a:rPr>
              <a:t>数据转发流程</a:t>
            </a:r>
            <a:endParaRPr lang="en-US" altLang="zh-CN" smtClean="0">
              <a:sym typeface="Huawei Sans" panose="020C0503030203020204" pitchFamily="34" charset="0"/>
            </a:endParaRPr>
          </a:p>
          <a:p>
            <a:pPr lvl="1"/>
            <a:r>
              <a:rPr lang="zh-CN" altLang="en-US" smtClean="0">
                <a:sym typeface="Huawei Sans" panose="020C0503030203020204" pitchFamily="34" charset="0"/>
              </a:rPr>
              <a:t>执行</a:t>
            </a:r>
            <a:r>
              <a:rPr lang="en-US" altLang="zh-CN" smtClean="0">
                <a:sym typeface="Huawei Sans" panose="020C0503030203020204" pitchFamily="34" charset="0"/>
              </a:rPr>
              <a:t>MPLS VPN</a:t>
            </a:r>
            <a:r>
              <a:rPr lang="zh-CN" altLang="en-US" smtClean="0">
                <a:sym typeface="Huawei Sans" panose="020C0503030203020204" pitchFamily="34" charset="0"/>
              </a:rPr>
              <a:t>的基本配置</a:t>
            </a:r>
            <a:endParaRPr lang="en-US" altLang="zh-CN" dirty="0" smtClean="0">
              <a:sym typeface="Huawei Sans" panose="020C0503030203020204" pitchFamily="34" charset="0"/>
            </a:endParaRPr>
          </a:p>
        </p:txBody>
      </p:sp>
    </p:spTree>
    <p:extLst>
      <p:ext uri="{BB962C8B-B14F-4D97-AF65-F5344CB8AC3E}">
        <p14:creationId xmlns:p14="http://schemas.microsoft.com/office/powerpoint/2010/main" val="125202903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bwMode="gray"/>
        <p:txBody>
          <a:bodyPr/>
          <a:lstStyle/>
          <a:p>
            <a:r>
              <a:rPr lang="en-US" altLang="zh-CN" b="1" dirty="0" smtClean="0">
                <a:sym typeface="Huawei Sans" panose="020C0503030203020204" pitchFamily="34" charset="0"/>
              </a:rPr>
              <a:t>MPLS VPN</a:t>
            </a:r>
            <a:r>
              <a:rPr lang="zh-CN" altLang="en-US" b="1" dirty="0" smtClean="0">
                <a:sym typeface="Huawei Sans" panose="020C0503030203020204" pitchFamily="34" charset="0"/>
              </a:rPr>
              <a:t>概述</a:t>
            </a:r>
            <a:endParaRPr lang="en-US" altLang="zh-CN" b="1" dirty="0" smtClean="0">
              <a:sym typeface="Huawei Sans" panose="020C0503030203020204" pitchFamily="34" charset="0"/>
            </a:endParaRPr>
          </a:p>
          <a:p>
            <a:r>
              <a:rPr lang="en-US" altLang="zh-CN" dirty="0" smtClean="0">
                <a:solidFill>
                  <a:schemeClr val="bg1">
                    <a:lumMod val="50000"/>
                  </a:schemeClr>
                </a:solidFill>
                <a:sym typeface="Huawei Sans" panose="020C0503030203020204" pitchFamily="34" charset="0"/>
              </a:rPr>
              <a:t>MPLS VPN</a:t>
            </a:r>
            <a:r>
              <a:rPr lang="zh-CN" altLang="en-US" dirty="0" smtClean="0">
                <a:solidFill>
                  <a:schemeClr val="bg1">
                    <a:lumMod val="50000"/>
                  </a:schemeClr>
                </a:solidFill>
                <a:sym typeface="Huawei Sans" panose="020C0503030203020204" pitchFamily="34" charset="0"/>
              </a:rPr>
              <a:t>路由交互</a:t>
            </a:r>
            <a:endParaRPr lang="en-US" altLang="zh-CN" dirty="0" smtClean="0">
              <a:solidFill>
                <a:schemeClr val="bg1">
                  <a:lumMod val="50000"/>
                </a:schemeClr>
              </a:solidFill>
              <a:sym typeface="Huawei Sans" panose="020C0503030203020204" pitchFamily="34" charset="0"/>
            </a:endParaRPr>
          </a:p>
          <a:p>
            <a:r>
              <a:rPr lang="en-US" altLang="zh-CN" dirty="0" smtClean="0">
                <a:solidFill>
                  <a:schemeClr val="bg1">
                    <a:lumMod val="50000"/>
                  </a:schemeClr>
                </a:solidFill>
                <a:sym typeface="Huawei Sans" panose="020C0503030203020204" pitchFamily="34" charset="0"/>
              </a:rPr>
              <a:t>MPLS  VPN</a:t>
            </a:r>
            <a:r>
              <a:rPr lang="zh-CN" altLang="en-US" dirty="0" smtClean="0">
                <a:solidFill>
                  <a:schemeClr val="bg1">
                    <a:lumMod val="50000"/>
                  </a:schemeClr>
                </a:solidFill>
                <a:sym typeface="Huawei Sans" panose="020C0503030203020204" pitchFamily="34" charset="0"/>
              </a:rPr>
              <a:t>报文转发</a:t>
            </a:r>
            <a:endParaRPr lang="en-US" altLang="zh-CN" dirty="0" smtClean="0">
              <a:solidFill>
                <a:schemeClr val="bg1">
                  <a:lumMod val="50000"/>
                </a:schemeClr>
              </a:solidFill>
              <a:sym typeface="Huawei Sans" panose="020C0503030203020204" pitchFamily="34" charset="0"/>
            </a:endParaRPr>
          </a:p>
          <a:p>
            <a:r>
              <a:rPr lang="en-US" altLang="zh-CN" dirty="0" smtClean="0">
                <a:solidFill>
                  <a:schemeClr val="bg1">
                    <a:lumMod val="50000"/>
                  </a:schemeClr>
                </a:solidFill>
                <a:sym typeface="Huawei Sans" panose="020C0503030203020204" pitchFamily="34" charset="0"/>
              </a:rPr>
              <a:t>MPLS VPN</a:t>
            </a:r>
            <a:r>
              <a:rPr lang="zh-CN" altLang="en-US" dirty="0" smtClean="0">
                <a:solidFill>
                  <a:schemeClr val="bg1">
                    <a:lumMod val="50000"/>
                  </a:schemeClr>
                </a:solidFill>
                <a:sym typeface="Huawei Sans" panose="020C0503030203020204" pitchFamily="34" charset="0"/>
              </a:rPr>
              <a:t>配置与实现</a:t>
            </a:r>
            <a:endParaRPr lang="en-US" altLang="zh-CN" dirty="0" smtClean="0">
              <a:solidFill>
                <a:schemeClr val="bg1">
                  <a:lumMod val="50000"/>
                </a:schemeClr>
              </a:solidFill>
              <a:sym typeface="Huawei Sans" panose="020C0503030203020204" pitchFamily="34" charset="0"/>
            </a:endParaRPr>
          </a:p>
          <a:p>
            <a:endParaRPr lang="zh-CN" altLang="en-US" dirty="0">
              <a:sym typeface="Huawei Sans" panose="020C0503030203020204" pitchFamily="34" charset="0"/>
            </a:endParaRPr>
          </a:p>
        </p:txBody>
      </p:sp>
    </p:spTree>
    <p:extLst>
      <p:ext uri="{BB962C8B-B14F-4D97-AF65-F5344CB8AC3E}">
        <p14:creationId xmlns:p14="http://schemas.microsoft.com/office/powerpoint/2010/main" val="2364420435"/>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bwMode="gray"/>
        <p:txBody>
          <a:bodyPr/>
          <a:lstStyle/>
          <a:p>
            <a:r>
              <a:rPr lang="en-US" altLang="zh-CN" smtClean="0">
                <a:sym typeface="Huawei Sans" panose="020C0503030203020204" pitchFamily="34" charset="0"/>
              </a:rPr>
              <a:t>MPLS VPN</a:t>
            </a:r>
            <a:r>
              <a:rPr lang="zh-CN" altLang="en-US" smtClean="0">
                <a:sym typeface="Huawei Sans" panose="020C0503030203020204" pitchFamily="34" charset="0"/>
              </a:rPr>
              <a:t>定义</a:t>
            </a:r>
            <a:endParaRPr lang="zh-CN" altLang="en-US" dirty="0">
              <a:sym typeface="Huawei Sans" panose="020C0503030203020204" pitchFamily="34" charset="0"/>
            </a:endParaRPr>
          </a:p>
        </p:txBody>
      </p:sp>
      <p:sp>
        <p:nvSpPr>
          <p:cNvPr id="4" name="Content Placeholder 3"/>
          <p:cNvSpPr>
            <a:spLocks noGrp="1"/>
          </p:cNvSpPr>
          <p:nvPr>
            <p:ph type="body" sz="quarter" idx="10"/>
          </p:nvPr>
        </p:nvSpPr>
        <p:spPr bwMode="gray"/>
        <p:txBody>
          <a:bodyPr/>
          <a:lstStyle/>
          <a:p>
            <a:r>
              <a:rPr lang="en-US" altLang="zh-CN" sz="1800" dirty="0" smtClean="0">
                <a:sym typeface="Huawei Sans" panose="020C0503030203020204" pitchFamily="34" charset="0"/>
              </a:rPr>
              <a:t>BGP/MPLS IP VPN</a:t>
            </a:r>
            <a:r>
              <a:rPr lang="zh-CN" altLang="en-US" sz="1800" dirty="0" smtClean="0">
                <a:sym typeface="Huawei Sans" panose="020C0503030203020204" pitchFamily="34" charset="0"/>
              </a:rPr>
              <a:t>网络一般由运营商搭建，</a:t>
            </a:r>
            <a:r>
              <a:rPr lang="en-US" altLang="zh-CN" sz="1800" dirty="0" smtClean="0">
                <a:sym typeface="Huawei Sans" panose="020C0503030203020204" pitchFamily="34" charset="0"/>
              </a:rPr>
              <a:t>VPN</a:t>
            </a:r>
            <a:r>
              <a:rPr lang="zh-CN" altLang="en-US" sz="1800" dirty="0" smtClean="0">
                <a:sym typeface="Huawei Sans" panose="020C0503030203020204" pitchFamily="34" charset="0"/>
              </a:rPr>
              <a:t>用户购买</a:t>
            </a:r>
            <a:r>
              <a:rPr lang="en-US" altLang="zh-CN" sz="1800" dirty="0" smtClean="0">
                <a:sym typeface="Huawei Sans" panose="020C0503030203020204" pitchFamily="34" charset="0"/>
              </a:rPr>
              <a:t>VPN</a:t>
            </a:r>
            <a:r>
              <a:rPr lang="zh-CN" altLang="en-US" sz="1800" dirty="0" smtClean="0">
                <a:sym typeface="Huawei Sans" panose="020C0503030203020204" pitchFamily="34" charset="0"/>
              </a:rPr>
              <a:t>服务来实现用户网络之间的路由传递、数据互通等。</a:t>
            </a:r>
            <a:endParaRPr lang="en-US" altLang="zh-CN" sz="1800" dirty="0" smtClean="0">
              <a:sym typeface="Huawei Sans" panose="020C0503030203020204" pitchFamily="34" charset="0"/>
            </a:endParaRPr>
          </a:p>
          <a:p>
            <a:r>
              <a:rPr lang="en-US" altLang="zh-CN" sz="1800" dirty="0" smtClean="0">
                <a:sym typeface="Huawei Sans" panose="020C0503030203020204" pitchFamily="34" charset="0"/>
              </a:rPr>
              <a:t>MPLS VPN</a:t>
            </a:r>
            <a:r>
              <a:rPr lang="zh-CN" altLang="en-US" sz="1800" dirty="0" smtClean="0">
                <a:sym typeface="Huawei Sans" panose="020C0503030203020204" pitchFamily="34" charset="0"/>
              </a:rPr>
              <a:t>使用</a:t>
            </a:r>
            <a:r>
              <a:rPr lang="en-US" altLang="zh-CN" sz="1800" dirty="0" smtClean="0">
                <a:sym typeface="Huawei Sans" panose="020C0503030203020204" pitchFamily="34" charset="0"/>
              </a:rPr>
              <a:t>BGP</a:t>
            </a:r>
            <a:r>
              <a:rPr lang="zh-CN" altLang="en-US" sz="1800" dirty="0" smtClean="0">
                <a:sym typeface="Huawei Sans" panose="020C0503030203020204" pitchFamily="34" charset="0"/>
              </a:rPr>
              <a:t>在运营商骨干网上发布</a:t>
            </a:r>
            <a:r>
              <a:rPr lang="en-US" altLang="zh-CN" sz="1800" dirty="0" smtClean="0">
                <a:sym typeface="Huawei Sans" panose="020C0503030203020204" pitchFamily="34" charset="0"/>
              </a:rPr>
              <a:t>VPN</a:t>
            </a:r>
            <a:r>
              <a:rPr lang="zh-CN" altLang="en-US" sz="1800" dirty="0" smtClean="0">
                <a:sym typeface="Huawei Sans" panose="020C0503030203020204" pitchFamily="34" charset="0"/>
              </a:rPr>
              <a:t>路由，使用</a:t>
            </a:r>
            <a:r>
              <a:rPr lang="en-US" altLang="zh-CN" sz="1800" dirty="0" smtClean="0">
                <a:sym typeface="Huawei Sans" panose="020C0503030203020204" pitchFamily="34" charset="0"/>
              </a:rPr>
              <a:t>MPLS</a:t>
            </a:r>
            <a:r>
              <a:rPr lang="zh-CN" altLang="en-US" sz="1800" dirty="0" smtClean="0">
                <a:sym typeface="Huawei Sans" panose="020C0503030203020204" pitchFamily="34" charset="0"/>
              </a:rPr>
              <a:t>在运营商骨干网上转发</a:t>
            </a:r>
            <a:r>
              <a:rPr lang="en-US" altLang="zh-CN" sz="1800" dirty="0" smtClean="0">
                <a:sym typeface="Huawei Sans" panose="020C0503030203020204" pitchFamily="34" charset="0"/>
              </a:rPr>
              <a:t>VPN</a:t>
            </a:r>
            <a:r>
              <a:rPr lang="zh-CN" altLang="en-US" sz="1800" dirty="0" smtClean="0">
                <a:sym typeface="Huawei Sans" panose="020C0503030203020204" pitchFamily="34" charset="0"/>
              </a:rPr>
              <a:t>报文。</a:t>
            </a:r>
            <a:r>
              <a:rPr lang="en-US" altLang="zh-CN" sz="1800" dirty="0" smtClean="0">
                <a:sym typeface="Huawei Sans" panose="020C0503030203020204" pitchFamily="34" charset="0"/>
              </a:rPr>
              <a:t>BGP/MPLS IP VPN</a:t>
            </a:r>
            <a:r>
              <a:rPr lang="zh-CN" altLang="en-US" sz="1800" dirty="0" smtClean="0">
                <a:sym typeface="Huawei Sans" panose="020C0503030203020204" pitchFamily="34" charset="0"/>
              </a:rPr>
              <a:t>又被简称为</a:t>
            </a:r>
            <a:r>
              <a:rPr lang="en-US" altLang="zh-CN" sz="1800" dirty="0" smtClean="0">
                <a:sym typeface="Huawei Sans" panose="020C0503030203020204" pitchFamily="34" charset="0"/>
              </a:rPr>
              <a:t>MPLS VPN</a:t>
            </a:r>
            <a:r>
              <a:rPr lang="zh-CN" altLang="en-US" sz="1800" dirty="0" smtClean="0">
                <a:sym typeface="Huawei Sans" panose="020C0503030203020204" pitchFamily="34" charset="0"/>
              </a:rPr>
              <a:t>，是一种常见的</a:t>
            </a:r>
            <a:r>
              <a:rPr lang="en-US" altLang="zh-CN" sz="1800" dirty="0" smtClean="0">
                <a:sym typeface="Huawei Sans" panose="020C0503030203020204" pitchFamily="34" charset="0"/>
              </a:rPr>
              <a:t>L3VPN</a:t>
            </a:r>
            <a:r>
              <a:rPr lang="zh-CN" altLang="en-US" sz="1800" dirty="0" smtClean="0">
                <a:sym typeface="Huawei Sans" panose="020C0503030203020204" pitchFamily="34" charset="0"/>
              </a:rPr>
              <a:t>（</a:t>
            </a:r>
            <a:r>
              <a:rPr lang="en-US" altLang="zh-CN" sz="1800" dirty="0" smtClean="0">
                <a:sym typeface="Huawei Sans" panose="020C0503030203020204" pitchFamily="34" charset="0"/>
              </a:rPr>
              <a:t>Layer 3 VPN</a:t>
            </a:r>
            <a:r>
              <a:rPr lang="zh-CN" altLang="en-US" sz="1800" dirty="0" smtClean="0">
                <a:sym typeface="Huawei Sans" panose="020C0503030203020204" pitchFamily="34" charset="0"/>
              </a:rPr>
              <a:t>）技术。</a:t>
            </a:r>
            <a:endParaRPr lang="en-US" altLang="zh-CN" sz="1800" dirty="0" smtClean="0">
              <a:sym typeface="Huawei Sans" panose="020C0503030203020204" pitchFamily="34" charset="0"/>
            </a:endParaRPr>
          </a:p>
        </p:txBody>
      </p:sp>
      <p:sp>
        <p:nvSpPr>
          <p:cNvPr id="97" name="矩形: 圆角 59">
            <a:extLst>
              <a:ext uri="{FF2B5EF4-FFF2-40B4-BE49-F238E27FC236}">
                <a16:creationId xmlns="" xmlns:a16="http://schemas.microsoft.com/office/drawing/2014/main" id="{0C6927D4-E6E8-412C-96E2-460C2397F385}"/>
              </a:ext>
            </a:extLst>
          </p:cNvPr>
          <p:cNvSpPr/>
          <p:nvPr/>
        </p:nvSpPr>
        <p:spPr bwMode="gray">
          <a:xfrm>
            <a:off x="8526712" y="4726502"/>
            <a:ext cx="1912688" cy="1418965"/>
          </a:xfrm>
          <a:prstGeom prst="roundRect">
            <a:avLst/>
          </a:prstGeom>
          <a:solidFill>
            <a:schemeClr val="bg1"/>
          </a:solidFill>
          <a:ln w="19050">
            <a:solidFill>
              <a:srgbClr val="8BC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8" name="矩形: 圆角 59">
            <a:extLst>
              <a:ext uri="{FF2B5EF4-FFF2-40B4-BE49-F238E27FC236}">
                <a16:creationId xmlns="" xmlns:a16="http://schemas.microsoft.com/office/drawing/2014/main" id="{0C6927D4-E6E8-412C-96E2-460C2397F385}"/>
              </a:ext>
            </a:extLst>
          </p:cNvPr>
          <p:cNvSpPr/>
          <p:nvPr/>
        </p:nvSpPr>
        <p:spPr bwMode="gray">
          <a:xfrm>
            <a:off x="1752600" y="4653500"/>
            <a:ext cx="1917648" cy="1418965"/>
          </a:xfrm>
          <a:prstGeom prst="roundRect">
            <a:avLst/>
          </a:prstGeom>
          <a:solidFill>
            <a:schemeClr val="bg1"/>
          </a:solidFill>
          <a:ln w="19050">
            <a:solidFill>
              <a:srgbClr val="8BC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9" name="矩形: 圆角 59">
            <a:extLst>
              <a:ext uri="{FF2B5EF4-FFF2-40B4-BE49-F238E27FC236}">
                <a16:creationId xmlns="" xmlns:a16="http://schemas.microsoft.com/office/drawing/2014/main" id="{0C6927D4-E6E8-412C-96E2-460C2397F385}"/>
              </a:ext>
            </a:extLst>
          </p:cNvPr>
          <p:cNvSpPr/>
          <p:nvPr/>
        </p:nvSpPr>
        <p:spPr bwMode="gray">
          <a:xfrm>
            <a:off x="1752600" y="2957805"/>
            <a:ext cx="1912688" cy="1418965"/>
          </a:xfrm>
          <a:prstGeom prst="roundRect">
            <a:avLst/>
          </a:prstGeom>
          <a:solidFill>
            <a:schemeClr val="bg1"/>
          </a:solid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0" name="矩形: 圆角 59">
            <a:extLst>
              <a:ext uri="{FF2B5EF4-FFF2-40B4-BE49-F238E27FC236}">
                <a16:creationId xmlns="" xmlns:a16="http://schemas.microsoft.com/office/drawing/2014/main" id="{0C6927D4-E6E8-412C-96E2-460C2397F385}"/>
              </a:ext>
            </a:extLst>
          </p:cNvPr>
          <p:cNvSpPr/>
          <p:nvPr/>
        </p:nvSpPr>
        <p:spPr bwMode="gray">
          <a:xfrm>
            <a:off x="8526712" y="2935704"/>
            <a:ext cx="1912688" cy="1418965"/>
          </a:xfrm>
          <a:prstGeom prst="roundRect">
            <a:avLst/>
          </a:prstGeom>
          <a:solidFill>
            <a:schemeClr val="bg1"/>
          </a:solid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1" name="圆角矩形 100"/>
          <p:cNvSpPr/>
          <p:nvPr/>
        </p:nvSpPr>
        <p:spPr bwMode="gray">
          <a:xfrm>
            <a:off x="4043819" y="2928900"/>
            <a:ext cx="4028864" cy="3141659"/>
          </a:xfrm>
          <a:prstGeom prst="roundRect">
            <a:avLst/>
          </a:prstGeom>
          <a:solidFill>
            <a:srgbClr val="BEE9EE"/>
          </a:solidFill>
          <a:ln w="28575" cap="flat" cmpd="sng" algn="ctr">
            <a:noFill/>
            <a:prstDash val="sys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02" name="Picture 12" descr="E:\2016.01\1.12 扁平化图标\蓝色\AR-蓝色最新-40.png"/>
          <p:cNvPicPr>
            <a:picLocks noChangeAspect="1" noChangeArrowheads="1"/>
          </p:cNvPicPr>
          <p:nvPr/>
        </p:nvPicPr>
        <p:blipFill>
          <a:blip r:embed="rId3" cstate="print"/>
          <a:srcRect/>
          <a:stretch>
            <a:fillRect/>
          </a:stretch>
        </p:blipFill>
        <p:spPr bwMode="gray">
          <a:xfrm>
            <a:off x="2816531" y="5170013"/>
            <a:ext cx="540000" cy="441818"/>
          </a:xfrm>
          <a:prstGeom prst="rect">
            <a:avLst/>
          </a:prstGeom>
          <a:noFill/>
        </p:spPr>
      </p:pic>
      <p:pic>
        <p:nvPicPr>
          <p:cNvPr id="103" name="Picture 12" descr="E:\2016.01\1.12 扁平化图标\蓝色\AR-蓝色最新-40.png"/>
          <p:cNvPicPr>
            <a:picLocks noChangeAspect="1" noChangeArrowheads="1"/>
          </p:cNvPicPr>
          <p:nvPr/>
        </p:nvPicPr>
        <p:blipFill>
          <a:blip r:embed="rId3" cstate="print"/>
          <a:srcRect/>
          <a:stretch>
            <a:fillRect/>
          </a:stretch>
        </p:blipFill>
        <p:spPr bwMode="gray">
          <a:xfrm>
            <a:off x="2816531" y="3120536"/>
            <a:ext cx="540000" cy="441818"/>
          </a:xfrm>
          <a:prstGeom prst="rect">
            <a:avLst/>
          </a:prstGeom>
          <a:noFill/>
        </p:spPr>
      </p:pic>
      <p:pic>
        <p:nvPicPr>
          <p:cNvPr id="105" name="Picture 12" descr="E:\2016.01\1.12 扁平化图标\蓝色\AR-蓝色最新-40.png"/>
          <p:cNvPicPr>
            <a:picLocks noChangeAspect="1" noChangeArrowheads="1"/>
          </p:cNvPicPr>
          <p:nvPr/>
        </p:nvPicPr>
        <p:blipFill>
          <a:blip r:embed="rId3" cstate="print"/>
          <a:srcRect/>
          <a:stretch>
            <a:fillRect/>
          </a:stretch>
        </p:blipFill>
        <p:spPr bwMode="gray">
          <a:xfrm>
            <a:off x="8912760" y="5170013"/>
            <a:ext cx="540000" cy="441818"/>
          </a:xfrm>
          <a:prstGeom prst="rect">
            <a:avLst/>
          </a:prstGeom>
          <a:noFill/>
        </p:spPr>
      </p:pic>
      <p:pic>
        <p:nvPicPr>
          <p:cNvPr id="106" name="Picture 12" descr="E:\2016.01\1.12 扁平化图标\蓝色\AR-蓝色最新-40.png"/>
          <p:cNvPicPr>
            <a:picLocks noChangeAspect="1" noChangeArrowheads="1"/>
          </p:cNvPicPr>
          <p:nvPr/>
        </p:nvPicPr>
        <p:blipFill>
          <a:blip r:embed="rId3" cstate="print"/>
          <a:srcRect/>
          <a:stretch>
            <a:fillRect/>
          </a:stretch>
        </p:blipFill>
        <p:spPr bwMode="gray">
          <a:xfrm>
            <a:off x="8912760" y="3120536"/>
            <a:ext cx="540000" cy="441818"/>
          </a:xfrm>
          <a:prstGeom prst="rect">
            <a:avLst/>
          </a:prstGeom>
          <a:noFill/>
        </p:spPr>
      </p:pic>
      <p:pic>
        <p:nvPicPr>
          <p:cNvPr id="108" name="Picture 12" descr="E:\2016.01\1.12 扁平化图标\蓝色\AR-蓝色最新-40.png"/>
          <p:cNvPicPr>
            <a:picLocks noChangeAspect="1" noChangeArrowheads="1"/>
          </p:cNvPicPr>
          <p:nvPr/>
        </p:nvPicPr>
        <p:blipFill>
          <a:blip r:embed="rId3" cstate="print"/>
          <a:srcRect/>
          <a:stretch>
            <a:fillRect/>
          </a:stretch>
        </p:blipFill>
        <p:spPr bwMode="gray">
          <a:xfrm>
            <a:off x="5011270" y="3588687"/>
            <a:ext cx="540000" cy="441818"/>
          </a:xfrm>
          <a:prstGeom prst="rect">
            <a:avLst/>
          </a:prstGeom>
          <a:noFill/>
        </p:spPr>
      </p:pic>
      <p:pic>
        <p:nvPicPr>
          <p:cNvPr id="109" name="Picture 12" descr="E:\2016.01\1.12 扁平化图标\蓝色\AR-蓝色最新-40.png"/>
          <p:cNvPicPr>
            <a:picLocks noChangeAspect="1" noChangeArrowheads="1"/>
          </p:cNvPicPr>
          <p:nvPr/>
        </p:nvPicPr>
        <p:blipFill>
          <a:blip r:embed="rId3" cstate="print"/>
          <a:srcRect/>
          <a:stretch>
            <a:fillRect/>
          </a:stretch>
        </p:blipFill>
        <p:spPr bwMode="gray">
          <a:xfrm>
            <a:off x="6367626" y="3588687"/>
            <a:ext cx="540000" cy="441818"/>
          </a:xfrm>
          <a:prstGeom prst="rect">
            <a:avLst/>
          </a:prstGeom>
          <a:noFill/>
        </p:spPr>
      </p:pic>
      <p:pic>
        <p:nvPicPr>
          <p:cNvPr id="111" name="Picture 12" descr="E:\2016.01\1.12 扁平化图标\蓝色\AR-蓝色最新-40.png"/>
          <p:cNvPicPr>
            <a:picLocks noChangeAspect="1" noChangeArrowheads="1"/>
          </p:cNvPicPr>
          <p:nvPr/>
        </p:nvPicPr>
        <p:blipFill>
          <a:blip r:embed="rId3" cstate="print"/>
          <a:srcRect/>
          <a:stretch>
            <a:fillRect/>
          </a:stretch>
        </p:blipFill>
        <p:spPr bwMode="gray">
          <a:xfrm>
            <a:off x="5011270" y="4688455"/>
            <a:ext cx="540000" cy="441818"/>
          </a:xfrm>
          <a:prstGeom prst="rect">
            <a:avLst/>
          </a:prstGeom>
          <a:noFill/>
        </p:spPr>
      </p:pic>
      <p:pic>
        <p:nvPicPr>
          <p:cNvPr id="112" name="Picture 12" descr="E:\2016.01\1.12 扁平化图标\蓝色\AR-蓝色最新-40.png"/>
          <p:cNvPicPr>
            <a:picLocks noChangeAspect="1" noChangeArrowheads="1"/>
          </p:cNvPicPr>
          <p:nvPr/>
        </p:nvPicPr>
        <p:blipFill>
          <a:blip r:embed="rId3" cstate="print"/>
          <a:srcRect/>
          <a:stretch>
            <a:fillRect/>
          </a:stretch>
        </p:blipFill>
        <p:spPr bwMode="gray">
          <a:xfrm>
            <a:off x="6367626" y="4688455"/>
            <a:ext cx="540000" cy="441818"/>
          </a:xfrm>
          <a:prstGeom prst="rect">
            <a:avLst/>
          </a:prstGeom>
          <a:noFill/>
        </p:spPr>
      </p:pic>
      <p:cxnSp>
        <p:nvCxnSpPr>
          <p:cNvPr id="113" name="直接连接符 112"/>
          <p:cNvCxnSpPr>
            <a:stCxn id="108" idx="1"/>
            <a:endCxn id="104" idx="3"/>
          </p:cNvCxnSpPr>
          <p:nvPr/>
        </p:nvCxnSpPr>
        <p:spPr bwMode="gray">
          <a:xfrm flipH="1">
            <a:off x="4311606" y="3809596"/>
            <a:ext cx="699664" cy="58991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a:stCxn id="109" idx="1"/>
            <a:endCxn id="108" idx="3"/>
          </p:cNvCxnSpPr>
          <p:nvPr/>
        </p:nvCxnSpPr>
        <p:spPr bwMode="gray">
          <a:xfrm flipH="1">
            <a:off x="5551270" y="3809596"/>
            <a:ext cx="8163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a:stCxn id="108" idx="2"/>
            <a:endCxn id="111" idx="0"/>
          </p:cNvCxnSpPr>
          <p:nvPr/>
        </p:nvCxnSpPr>
        <p:spPr bwMode="gray">
          <a:xfrm>
            <a:off x="5281270" y="4030505"/>
            <a:ext cx="0" cy="65795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a:stCxn id="111" idx="3"/>
            <a:endCxn id="112" idx="1"/>
          </p:cNvCxnSpPr>
          <p:nvPr/>
        </p:nvCxnSpPr>
        <p:spPr bwMode="gray">
          <a:xfrm>
            <a:off x="5551270" y="4909364"/>
            <a:ext cx="8163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 name="直接连接符 116"/>
          <p:cNvCxnSpPr>
            <a:stCxn id="112" idx="0"/>
            <a:endCxn id="109" idx="2"/>
          </p:cNvCxnSpPr>
          <p:nvPr/>
        </p:nvCxnSpPr>
        <p:spPr bwMode="gray">
          <a:xfrm flipV="1">
            <a:off x="6637626" y="4030505"/>
            <a:ext cx="0" cy="65795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a:stCxn id="109" idx="3"/>
            <a:endCxn id="107" idx="1"/>
          </p:cNvCxnSpPr>
          <p:nvPr/>
        </p:nvCxnSpPr>
        <p:spPr bwMode="gray">
          <a:xfrm>
            <a:off x="6907626" y="3809596"/>
            <a:ext cx="81635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a:stCxn id="112" idx="3"/>
            <a:endCxn id="110" idx="1"/>
          </p:cNvCxnSpPr>
          <p:nvPr/>
        </p:nvCxnSpPr>
        <p:spPr bwMode="gray">
          <a:xfrm>
            <a:off x="6907626" y="4909364"/>
            <a:ext cx="85290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0" name="直接连接符 119"/>
          <p:cNvCxnSpPr>
            <a:stCxn id="107" idx="3"/>
            <a:endCxn id="106" idx="1"/>
          </p:cNvCxnSpPr>
          <p:nvPr/>
        </p:nvCxnSpPr>
        <p:spPr bwMode="gray">
          <a:xfrm flipV="1">
            <a:off x="8263981" y="3341445"/>
            <a:ext cx="648779" cy="46815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1" name="直接连接符 120"/>
          <p:cNvCxnSpPr>
            <a:stCxn id="110" idx="3"/>
            <a:endCxn id="105" idx="1"/>
          </p:cNvCxnSpPr>
          <p:nvPr/>
        </p:nvCxnSpPr>
        <p:spPr bwMode="gray">
          <a:xfrm>
            <a:off x="8300535" y="4909364"/>
            <a:ext cx="612225" cy="48155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2" name="直接连接符 121"/>
          <p:cNvCxnSpPr>
            <a:stCxn id="104" idx="0"/>
            <a:endCxn id="103" idx="3"/>
          </p:cNvCxnSpPr>
          <p:nvPr/>
        </p:nvCxnSpPr>
        <p:spPr bwMode="gray">
          <a:xfrm flipH="1" flipV="1">
            <a:off x="3356531" y="3341445"/>
            <a:ext cx="685075" cy="8371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3" name="直接连接符 122"/>
          <p:cNvCxnSpPr>
            <a:stCxn id="104" idx="2"/>
            <a:endCxn id="102" idx="3"/>
          </p:cNvCxnSpPr>
          <p:nvPr/>
        </p:nvCxnSpPr>
        <p:spPr bwMode="gray">
          <a:xfrm flipH="1">
            <a:off x="3356531" y="4620422"/>
            <a:ext cx="685075" cy="7705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24" name="文本框 123"/>
          <p:cNvSpPr txBox="1"/>
          <p:nvPr/>
        </p:nvSpPr>
        <p:spPr bwMode="gray">
          <a:xfrm>
            <a:off x="5263001" y="5722640"/>
            <a:ext cx="1590500" cy="307777"/>
          </a:xfrm>
          <a:prstGeom prst="rect">
            <a:avLst/>
          </a:prstGeom>
          <a:noFill/>
        </p:spPr>
        <p:txBody>
          <a:bodyPr wrap="none" rtlCol="0">
            <a:spAutoFit/>
          </a:bodyP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MPLS VPN</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骨干网</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3" name="文本框 132"/>
          <p:cNvSpPr txBox="1"/>
          <p:nvPr/>
        </p:nvSpPr>
        <p:spPr bwMode="gray">
          <a:xfrm>
            <a:off x="2031651" y="3853550"/>
            <a:ext cx="827471" cy="523220"/>
          </a:xfrm>
          <a:prstGeom prst="rect">
            <a:avLst/>
          </a:prstGeom>
          <a:noFill/>
        </p:spPr>
        <p:txBody>
          <a:bodyPr wrap="none" rtlCol="0">
            <a:spAutoFit/>
          </a:bodyPr>
          <a:lstStyle/>
          <a:p>
            <a:pPr algn="ct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公司</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A</a:t>
            </a:r>
          </a:p>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X</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省网络</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4" name="文本框 133"/>
          <p:cNvSpPr txBox="1"/>
          <p:nvPr/>
        </p:nvSpPr>
        <p:spPr bwMode="gray">
          <a:xfrm>
            <a:off x="2030026" y="5547340"/>
            <a:ext cx="825868" cy="523220"/>
          </a:xfrm>
          <a:prstGeom prst="rect">
            <a:avLst/>
          </a:prstGeom>
          <a:noFill/>
        </p:spPr>
        <p:txBody>
          <a:bodyPr wrap="none" rtlCol="0">
            <a:spAutoFit/>
          </a:bodyPr>
          <a:lstStyle/>
          <a:p>
            <a:pPr algn="ct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公司</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B</a:t>
            </a:r>
          </a:p>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X</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省网络</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5" name="文本框 134"/>
          <p:cNvSpPr txBox="1"/>
          <p:nvPr/>
        </p:nvSpPr>
        <p:spPr bwMode="gray">
          <a:xfrm>
            <a:off x="9341868" y="5614919"/>
            <a:ext cx="825867" cy="523220"/>
          </a:xfrm>
          <a:prstGeom prst="rect">
            <a:avLst/>
          </a:prstGeom>
          <a:noFill/>
        </p:spPr>
        <p:txBody>
          <a:bodyPr wrap="none" rtlCol="0">
            <a:spAutoFit/>
          </a:bodyPr>
          <a:lstStyle/>
          <a:p>
            <a:pPr algn="ct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公司</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B</a:t>
            </a:r>
          </a:p>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Z</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省网络</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9" name="文本框 138"/>
          <p:cNvSpPr txBox="1"/>
          <p:nvPr/>
        </p:nvSpPr>
        <p:spPr bwMode="gray">
          <a:xfrm>
            <a:off x="9267580" y="3809596"/>
            <a:ext cx="824265" cy="523220"/>
          </a:xfrm>
          <a:prstGeom prst="rect">
            <a:avLst/>
          </a:prstGeom>
          <a:noFill/>
        </p:spPr>
        <p:txBody>
          <a:bodyPr wrap="none" rtlCol="0">
            <a:spAutoFit/>
          </a:bodyPr>
          <a:lstStyle/>
          <a:p>
            <a:pPr algn="ct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公司</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A</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Y</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省网络</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40" name="直接连接符 139"/>
          <p:cNvCxnSpPr/>
          <p:nvPr/>
        </p:nvCxnSpPr>
        <p:spPr bwMode="gray">
          <a:xfrm>
            <a:off x="5551270" y="3809596"/>
            <a:ext cx="816356" cy="109976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1" name="直接连接符 140"/>
          <p:cNvCxnSpPr/>
          <p:nvPr/>
        </p:nvCxnSpPr>
        <p:spPr bwMode="gray">
          <a:xfrm flipV="1">
            <a:off x="5551270" y="3819415"/>
            <a:ext cx="816356" cy="10899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2" name="直接连接符 141"/>
          <p:cNvCxnSpPr/>
          <p:nvPr/>
        </p:nvCxnSpPr>
        <p:spPr bwMode="gray">
          <a:xfrm>
            <a:off x="6907626" y="3809596"/>
            <a:ext cx="852909" cy="109976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104" name="Picture 12" descr="E:\2016.01\1.12 扁平化图标\蓝色\AR-蓝色最新-40.png"/>
          <p:cNvPicPr>
            <a:picLocks noChangeAspect="1" noChangeArrowheads="1"/>
          </p:cNvPicPr>
          <p:nvPr/>
        </p:nvPicPr>
        <p:blipFill>
          <a:blip r:embed="rId3" cstate="print"/>
          <a:srcRect/>
          <a:stretch>
            <a:fillRect/>
          </a:stretch>
        </p:blipFill>
        <p:spPr bwMode="gray">
          <a:xfrm>
            <a:off x="3771606" y="4178604"/>
            <a:ext cx="540000" cy="441818"/>
          </a:xfrm>
          <a:prstGeom prst="rect">
            <a:avLst/>
          </a:prstGeom>
          <a:noFill/>
        </p:spPr>
      </p:pic>
      <p:pic>
        <p:nvPicPr>
          <p:cNvPr id="107" name="Picture 12" descr="E:\2016.01\1.12 扁平化图标\蓝色\AR-蓝色最新-40.png"/>
          <p:cNvPicPr>
            <a:picLocks noChangeAspect="1" noChangeArrowheads="1"/>
          </p:cNvPicPr>
          <p:nvPr/>
        </p:nvPicPr>
        <p:blipFill>
          <a:blip r:embed="rId3" cstate="print"/>
          <a:srcRect/>
          <a:stretch>
            <a:fillRect/>
          </a:stretch>
        </p:blipFill>
        <p:spPr bwMode="gray">
          <a:xfrm>
            <a:off x="7723981" y="3588687"/>
            <a:ext cx="540000" cy="441818"/>
          </a:xfrm>
          <a:prstGeom prst="rect">
            <a:avLst/>
          </a:prstGeom>
          <a:noFill/>
        </p:spPr>
      </p:pic>
      <p:pic>
        <p:nvPicPr>
          <p:cNvPr id="110" name="Picture 12" descr="E:\2016.01\1.12 扁平化图标\蓝色\AR-蓝色最新-40.png"/>
          <p:cNvPicPr>
            <a:picLocks noChangeAspect="1" noChangeArrowheads="1"/>
          </p:cNvPicPr>
          <p:nvPr/>
        </p:nvPicPr>
        <p:blipFill>
          <a:blip r:embed="rId3" cstate="print"/>
          <a:srcRect/>
          <a:stretch>
            <a:fillRect/>
          </a:stretch>
        </p:blipFill>
        <p:spPr bwMode="gray">
          <a:xfrm>
            <a:off x="7760535" y="4688455"/>
            <a:ext cx="540000" cy="441818"/>
          </a:xfrm>
          <a:prstGeom prst="rect">
            <a:avLst/>
          </a:prstGeom>
          <a:noFill/>
        </p:spPr>
      </p:pic>
    </p:spTree>
    <p:extLst>
      <p:ext uri="{BB962C8B-B14F-4D97-AF65-F5344CB8AC3E}">
        <p14:creationId xmlns:p14="http://schemas.microsoft.com/office/powerpoint/2010/main" val="87366047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bwMode="gray"/>
        <p:txBody>
          <a:bodyPr/>
          <a:lstStyle/>
          <a:p>
            <a:r>
              <a:rPr lang="en-US" altLang="zh-CN" dirty="0" smtClean="0">
                <a:sym typeface="Huawei Sans" panose="020C0503030203020204" pitchFamily="34" charset="0"/>
              </a:rPr>
              <a:t>MPLS VPN</a:t>
            </a:r>
            <a:r>
              <a:rPr lang="zh-CN" altLang="en-US" dirty="0" smtClean="0">
                <a:sym typeface="Huawei Sans" panose="020C0503030203020204" pitchFamily="34" charset="0"/>
              </a:rPr>
              <a:t>网络架构</a:t>
            </a:r>
            <a:endParaRPr lang="zh-CN" altLang="en-US" dirty="0">
              <a:sym typeface="Huawei Sans" panose="020C0503030203020204" pitchFamily="34" charset="0"/>
            </a:endParaRPr>
          </a:p>
        </p:txBody>
      </p:sp>
      <p:sp>
        <p:nvSpPr>
          <p:cNvPr id="4" name="Content Placeholder 3"/>
          <p:cNvSpPr>
            <a:spLocks noGrp="1"/>
          </p:cNvSpPr>
          <p:nvPr>
            <p:ph type="body" sz="quarter" idx="10"/>
          </p:nvPr>
        </p:nvSpPr>
        <p:spPr bwMode="gray"/>
        <p:txBody>
          <a:bodyPr/>
          <a:lstStyle/>
          <a:p>
            <a:r>
              <a:rPr lang="en-US" altLang="zh-CN" sz="1800" smtClean="0">
                <a:sym typeface="Huawei Sans" panose="020C0503030203020204" pitchFamily="34" charset="0"/>
              </a:rPr>
              <a:t>MPLS VPN</a:t>
            </a:r>
            <a:r>
              <a:rPr lang="zh-CN" altLang="en-US" sz="1800" smtClean="0">
                <a:sym typeface="Huawei Sans" panose="020C0503030203020204" pitchFamily="34" charset="0"/>
              </a:rPr>
              <a:t>网络架构由三部分组成：</a:t>
            </a:r>
            <a:r>
              <a:rPr lang="en-US" altLang="zh-CN" sz="1800" smtClean="0">
                <a:sym typeface="Huawei Sans" panose="020C0503030203020204" pitchFamily="34" charset="0"/>
              </a:rPr>
              <a:t>CE</a:t>
            </a:r>
            <a:r>
              <a:rPr lang="zh-CN" altLang="en-US" sz="1800" smtClean="0">
                <a:sym typeface="Huawei Sans" panose="020C0503030203020204" pitchFamily="34" charset="0"/>
              </a:rPr>
              <a:t>（</a:t>
            </a:r>
            <a:r>
              <a:rPr lang="en-US" altLang="zh-CN" sz="1800" smtClean="0">
                <a:sym typeface="Huawei Sans" panose="020C0503030203020204" pitchFamily="34" charset="0"/>
              </a:rPr>
              <a:t>Customer Edge</a:t>
            </a:r>
            <a:r>
              <a:rPr lang="zh-CN" altLang="en-US" sz="1800" smtClean="0">
                <a:sym typeface="Huawei Sans" panose="020C0503030203020204" pitchFamily="34" charset="0"/>
              </a:rPr>
              <a:t>）、</a:t>
            </a:r>
            <a:r>
              <a:rPr lang="en-US" altLang="zh-CN" sz="1800" smtClean="0">
                <a:sym typeface="Huawei Sans" panose="020C0503030203020204" pitchFamily="34" charset="0"/>
              </a:rPr>
              <a:t>PE</a:t>
            </a:r>
            <a:r>
              <a:rPr lang="zh-CN" altLang="en-US" sz="1800" smtClean="0">
                <a:sym typeface="Huawei Sans" panose="020C0503030203020204" pitchFamily="34" charset="0"/>
              </a:rPr>
              <a:t>（</a:t>
            </a:r>
            <a:r>
              <a:rPr lang="en-US" altLang="zh-CN" sz="1800" smtClean="0">
                <a:sym typeface="Huawei Sans" panose="020C0503030203020204" pitchFamily="34" charset="0"/>
              </a:rPr>
              <a:t>Provider Edge</a:t>
            </a:r>
            <a:r>
              <a:rPr lang="zh-CN" altLang="en-US" sz="1800" smtClean="0">
                <a:sym typeface="Huawei Sans" panose="020C0503030203020204" pitchFamily="34" charset="0"/>
              </a:rPr>
              <a:t>）和</a:t>
            </a:r>
            <a:r>
              <a:rPr lang="en-US" altLang="zh-CN" sz="1800" smtClean="0">
                <a:sym typeface="Huawei Sans" panose="020C0503030203020204" pitchFamily="34" charset="0"/>
              </a:rPr>
              <a:t>P</a:t>
            </a:r>
            <a:r>
              <a:rPr lang="zh-CN" altLang="en-US" sz="1800" smtClean="0">
                <a:sym typeface="Huawei Sans" panose="020C0503030203020204" pitchFamily="34" charset="0"/>
              </a:rPr>
              <a:t>（</a:t>
            </a:r>
            <a:r>
              <a:rPr lang="en-US" altLang="zh-CN" sz="1800" smtClean="0">
                <a:sym typeface="Huawei Sans" panose="020C0503030203020204" pitchFamily="34" charset="0"/>
              </a:rPr>
              <a:t>Provider</a:t>
            </a:r>
            <a:r>
              <a:rPr lang="zh-CN" altLang="en-US" sz="1800" smtClean="0">
                <a:sym typeface="Huawei Sans" panose="020C0503030203020204" pitchFamily="34" charset="0"/>
              </a:rPr>
              <a:t>），其中</a:t>
            </a:r>
            <a:r>
              <a:rPr lang="en-US" altLang="zh-CN" sz="1800" smtClean="0">
                <a:sym typeface="Huawei Sans" panose="020C0503030203020204" pitchFamily="34" charset="0"/>
              </a:rPr>
              <a:t>PE</a:t>
            </a:r>
            <a:r>
              <a:rPr lang="zh-CN" altLang="en-US" sz="1800" smtClean="0">
                <a:sym typeface="Huawei Sans" panose="020C0503030203020204" pitchFamily="34" charset="0"/>
              </a:rPr>
              <a:t>和</a:t>
            </a:r>
            <a:r>
              <a:rPr lang="en-US" altLang="zh-CN" sz="1800" smtClean="0">
                <a:sym typeface="Huawei Sans" panose="020C0503030203020204" pitchFamily="34" charset="0"/>
              </a:rPr>
              <a:t>P</a:t>
            </a:r>
            <a:r>
              <a:rPr lang="zh-CN" altLang="en-US" sz="1800" smtClean="0">
                <a:sym typeface="Huawei Sans" panose="020C0503030203020204" pitchFamily="34" charset="0"/>
              </a:rPr>
              <a:t>是运营商设备，</a:t>
            </a:r>
            <a:r>
              <a:rPr lang="en-US" altLang="zh-CN" sz="1800" smtClean="0">
                <a:sym typeface="Huawei Sans" panose="020C0503030203020204" pitchFamily="34" charset="0"/>
              </a:rPr>
              <a:t>CE</a:t>
            </a:r>
            <a:r>
              <a:rPr lang="zh-CN" altLang="en-US" sz="1800" smtClean="0">
                <a:sym typeface="Huawei Sans" panose="020C0503030203020204" pitchFamily="34" charset="0"/>
              </a:rPr>
              <a:t>是</a:t>
            </a:r>
            <a:r>
              <a:rPr lang="en-US" altLang="zh-CN" sz="1800" smtClean="0">
                <a:sym typeface="Huawei Sans" panose="020C0503030203020204" pitchFamily="34" charset="0"/>
              </a:rPr>
              <a:t>MPLS VPN</a:t>
            </a:r>
            <a:r>
              <a:rPr lang="zh-CN" altLang="en-US" sz="1800" smtClean="0">
                <a:sym typeface="Huawei Sans" panose="020C0503030203020204" pitchFamily="34" charset="0"/>
              </a:rPr>
              <a:t>用户设备。</a:t>
            </a:r>
            <a:endParaRPr lang="en-US" altLang="zh-CN" sz="1800" smtClean="0">
              <a:sym typeface="Huawei Sans" panose="020C0503030203020204" pitchFamily="34" charset="0"/>
            </a:endParaRPr>
          </a:p>
          <a:p>
            <a:r>
              <a:rPr lang="zh-CN" altLang="en-US" sz="1800" smtClean="0">
                <a:sym typeface="Huawei Sans" panose="020C0503030203020204" pitchFamily="34" charset="0"/>
              </a:rPr>
              <a:t>站点（</a:t>
            </a:r>
            <a:r>
              <a:rPr lang="en-US" altLang="zh-CN" sz="1800" smtClean="0">
                <a:sym typeface="Huawei Sans" panose="020C0503030203020204" pitchFamily="34" charset="0"/>
              </a:rPr>
              <a:t>site</a:t>
            </a:r>
            <a:r>
              <a:rPr lang="zh-CN" altLang="en-US" sz="1800" smtClean="0">
                <a:sym typeface="Huawei Sans" panose="020C0503030203020204" pitchFamily="34" charset="0"/>
              </a:rPr>
              <a:t>）就是</a:t>
            </a:r>
            <a:r>
              <a:rPr lang="en-US" altLang="zh-CN" sz="1800" smtClean="0">
                <a:sym typeface="Huawei Sans" panose="020C0503030203020204" pitchFamily="34" charset="0"/>
              </a:rPr>
              <a:t>MPLS VPN</a:t>
            </a:r>
            <a:r>
              <a:rPr lang="zh-CN" altLang="en-US" sz="1800" smtClean="0">
                <a:sym typeface="Huawei Sans" panose="020C0503030203020204" pitchFamily="34" charset="0"/>
              </a:rPr>
              <a:t>的用户，由</a:t>
            </a:r>
            <a:r>
              <a:rPr lang="en-US" altLang="zh-CN" sz="1800" smtClean="0">
                <a:sym typeface="Huawei Sans" panose="020C0503030203020204" pitchFamily="34" charset="0"/>
              </a:rPr>
              <a:t>CE</a:t>
            </a:r>
            <a:r>
              <a:rPr lang="zh-CN" altLang="en-US" sz="1800" smtClean="0">
                <a:sym typeface="Huawei Sans" panose="020C0503030203020204" pitchFamily="34" charset="0"/>
              </a:rPr>
              <a:t>和其他用户设备构成。</a:t>
            </a:r>
          </a:p>
          <a:p>
            <a:endParaRPr lang="en-US" altLang="zh-CN" sz="1800" dirty="0" smtClean="0">
              <a:sym typeface="Huawei Sans" panose="020C0503030203020204" pitchFamily="34" charset="0"/>
            </a:endParaRPr>
          </a:p>
        </p:txBody>
      </p:sp>
      <p:sp>
        <p:nvSpPr>
          <p:cNvPr id="97" name="矩形: 圆角 59">
            <a:extLst>
              <a:ext uri="{FF2B5EF4-FFF2-40B4-BE49-F238E27FC236}">
                <a16:creationId xmlns="" xmlns:a16="http://schemas.microsoft.com/office/drawing/2014/main" id="{0C6927D4-E6E8-412C-96E2-460C2397F385}"/>
              </a:ext>
            </a:extLst>
          </p:cNvPr>
          <p:cNvSpPr>
            <a:spLocks/>
          </p:cNvSpPr>
          <p:nvPr/>
        </p:nvSpPr>
        <p:spPr bwMode="gray">
          <a:xfrm>
            <a:off x="8526712" y="4726502"/>
            <a:ext cx="1887288" cy="1418965"/>
          </a:xfrm>
          <a:prstGeom prst="roundRect">
            <a:avLst/>
          </a:prstGeom>
          <a:solidFill>
            <a:schemeClr val="bg1"/>
          </a:solidFill>
          <a:ln w="19050">
            <a:solidFill>
              <a:srgbClr val="8BC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8" name="矩形: 圆角 59">
            <a:extLst>
              <a:ext uri="{FF2B5EF4-FFF2-40B4-BE49-F238E27FC236}">
                <a16:creationId xmlns="" xmlns:a16="http://schemas.microsoft.com/office/drawing/2014/main" id="{0C6927D4-E6E8-412C-96E2-460C2397F385}"/>
              </a:ext>
            </a:extLst>
          </p:cNvPr>
          <p:cNvSpPr>
            <a:spLocks/>
          </p:cNvSpPr>
          <p:nvPr/>
        </p:nvSpPr>
        <p:spPr bwMode="gray">
          <a:xfrm>
            <a:off x="1752600" y="4653500"/>
            <a:ext cx="1887288" cy="1418965"/>
          </a:xfrm>
          <a:prstGeom prst="roundRect">
            <a:avLst/>
          </a:prstGeom>
          <a:solidFill>
            <a:schemeClr val="bg1"/>
          </a:solidFill>
          <a:ln w="19050">
            <a:solidFill>
              <a:srgbClr val="8BC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9" name="矩形: 圆角 59">
            <a:extLst>
              <a:ext uri="{FF2B5EF4-FFF2-40B4-BE49-F238E27FC236}">
                <a16:creationId xmlns="" xmlns:a16="http://schemas.microsoft.com/office/drawing/2014/main" id="{0C6927D4-E6E8-412C-96E2-460C2397F385}"/>
              </a:ext>
            </a:extLst>
          </p:cNvPr>
          <p:cNvSpPr>
            <a:spLocks/>
          </p:cNvSpPr>
          <p:nvPr/>
        </p:nvSpPr>
        <p:spPr bwMode="gray">
          <a:xfrm>
            <a:off x="1752600" y="2957805"/>
            <a:ext cx="1887288" cy="1418965"/>
          </a:xfrm>
          <a:prstGeom prst="roundRect">
            <a:avLst/>
          </a:prstGeom>
          <a:solidFill>
            <a:schemeClr val="bg1"/>
          </a:solid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0" name="矩形: 圆角 59">
            <a:extLst>
              <a:ext uri="{FF2B5EF4-FFF2-40B4-BE49-F238E27FC236}">
                <a16:creationId xmlns="" xmlns:a16="http://schemas.microsoft.com/office/drawing/2014/main" id="{0C6927D4-E6E8-412C-96E2-460C2397F385}"/>
              </a:ext>
            </a:extLst>
          </p:cNvPr>
          <p:cNvSpPr>
            <a:spLocks/>
          </p:cNvSpPr>
          <p:nvPr/>
        </p:nvSpPr>
        <p:spPr bwMode="gray">
          <a:xfrm>
            <a:off x="8526712" y="2935704"/>
            <a:ext cx="1887288" cy="1418965"/>
          </a:xfrm>
          <a:prstGeom prst="roundRect">
            <a:avLst/>
          </a:prstGeom>
          <a:solidFill>
            <a:schemeClr val="bg1"/>
          </a:solid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1" name="圆角矩形 100"/>
          <p:cNvSpPr/>
          <p:nvPr/>
        </p:nvSpPr>
        <p:spPr bwMode="gray">
          <a:xfrm>
            <a:off x="4043819" y="2928900"/>
            <a:ext cx="4028864" cy="3141659"/>
          </a:xfrm>
          <a:prstGeom prst="roundRect">
            <a:avLst/>
          </a:prstGeom>
          <a:solidFill>
            <a:srgbClr val="BEE9EE"/>
          </a:solidFill>
          <a:ln w="28575" cap="flat" cmpd="sng" algn="ctr">
            <a:noFill/>
            <a:prstDash val="sys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02" name="Picture 12" descr="E:\2016.01\1.12 扁平化图标\蓝色\AR-蓝色最新-40.png"/>
          <p:cNvPicPr>
            <a:picLocks noChangeAspect="1" noChangeArrowheads="1"/>
          </p:cNvPicPr>
          <p:nvPr/>
        </p:nvPicPr>
        <p:blipFill>
          <a:blip r:embed="rId3" cstate="print"/>
          <a:srcRect/>
          <a:stretch>
            <a:fillRect/>
          </a:stretch>
        </p:blipFill>
        <p:spPr bwMode="gray">
          <a:xfrm>
            <a:off x="2816531" y="5170013"/>
            <a:ext cx="540000" cy="441818"/>
          </a:xfrm>
          <a:prstGeom prst="rect">
            <a:avLst/>
          </a:prstGeom>
          <a:noFill/>
        </p:spPr>
      </p:pic>
      <p:pic>
        <p:nvPicPr>
          <p:cNvPr id="103" name="Picture 12" descr="E:\2016.01\1.12 扁平化图标\蓝色\AR-蓝色最新-40.png"/>
          <p:cNvPicPr>
            <a:picLocks noChangeAspect="1" noChangeArrowheads="1"/>
          </p:cNvPicPr>
          <p:nvPr/>
        </p:nvPicPr>
        <p:blipFill>
          <a:blip r:embed="rId3" cstate="print"/>
          <a:srcRect/>
          <a:stretch>
            <a:fillRect/>
          </a:stretch>
        </p:blipFill>
        <p:spPr bwMode="gray">
          <a:xfrm>
            <a:off x="2816531" y="3120536"/>
            <a:ext cx="540000" cy="441818"/>
          </a:xfrm>
          <a:prstGeom prst="rect">
            <a:avLst/>
          </a:prstGeom>
          <a:noFill/>
        </p:spPr>
      </p:pic>
      <p:pic>
        <p:nvPicPr>
          <p:cNvPr id="104" name="Picture 12" descr="E:\2016.01\1.12 扁平化图标\蓝色\AR-蓝色最新-40.png"/>
          <p:cNvPicPr>
            <a:picLocks noChangeAspect="1" noChangeArrowheads="1"/>
          </p:cNvPicPr>
          <p:nvPr/>
        </p:nvPicPr>
        <p:blipFill>
          <a:blip r:embed="rId3" cstate="print"/>
          <a:srcRect/>
          <a:stretch>
            <a:fillRect/>
          </a:stretch>
        </p:blipFill>
        <p:spPr bwMode="gray">
          <a:xfrm>
            <a:off x="3771606" y="4178604"/>
            <a:ext cx="540000" cy="441818"/>
          </a:xfrm>
          <a:prstGeom prst="rect">
            <a:avLst/>
          </a:prstGeom>
          <a:noFill/>
        </p:spPr>
      </p:pic>
      <p:pic>
        <p:nvPicPr>
          <p:cNvPr id="105" name="Picture 12" descr="E:\2016.01\1.12 扁平化图标\蓝色\AR-蓝色最新-40.png"/>
          <p:cNvPicPr>
            <a:picLocks noChangeAspect="1" noChangeArrowheads="1"/>
          </p:cNvPicPr>
          <p:nvPr/>
        </p:nvPicPr>
        <p:blipFill>
          <a:blip r:embed="rId3" cstate="print"/>
          <a:srcRect/>
          <a:stretch>
            <a:fillRect/>
          </a:stretch>
        </p:blipFill>
        <p:spPr bwMode="gray">
          <a:xfrm>
            <a:off x="8912760" y="5170013"/>
            <a:ext cx="540000" cy="441818"/>
          </a:xfrm>
          <a:prstGeom prst="rect">
            <a:avLst/>
          </a:prstGeom>
          <a:noFill/>
        </p:spPr>
      </p:pic>
      <p:pic>
        <p:nvPicPr>
          <p:cNvPr id="106" name="Picture 12" descr="E:\2016.01\1.12 扁平化图标\蓝色\AR-蓝色最新-40.png"/>
          <p:cNvPicPr>
            <a:picLocks noChangeAspect="1" noChangeArrowheads="1"/>
          </p:cNvPicPr>
          <p:nvPr/>
        </p:nvPicPr>
        <p:blipFill>
          <a:blip r:embed="rId3" cstate="print"/>
          <a:srcRect/>
          <a:stretch>
            <a:fillRect/>
          </a:stretch>
        </p:blipFill>
        <p:spPr bwMode="gray">
          <a:xfrm>
            <a:off x="8912760" y="3120536"/>
            <a:ext cx="540000" cy="441818"/>
          </a:xfrm>
          <a:prstGeom prst="rect">
            <a:avLst/>
          </a:prstGeom>
          <a:noFill/>
        </p:spPr>
      </p:pic>
      <p:pic>
        <p:nvPicPr>
          <p:cNvPr id="107" name="Picture 12" descr="E:\2016.01\1.12 扁平化图标\蓝色\AR-蓝色最新-40.png"/>
          <p:cNvPicPr>
            <a:picLocks noChangeAspect="1" noChangeArrowheads="1"/>
          </p:cNvPicPr>
          <p:nvPr/>
        </p:nvPicPr>
        <p:blipFill>
          <a:blip r:embed="rId3" cstate="print"/>
          <a:srcRect/>
          <a:stretch>
            <a:fillRect/>
          </a:stretch>
        </p:blipFill>
        <p:spPr bwMode="gray">
          <a:xfrm>
            <a:off x="7723981" y="3588687"/>
            <a:ext cx="540000" cy="441818"/>
          </a:xfrm>
          <a:prstGeom prst="rect">
            <a:avLst/>
          </a:prstGeom>
          <a:noFill/>
        </p:spPr>
      </p:pic>
      <p:pic>
        <p:nvPicPr>
          <p:cNvPr id="108" name="Picture 12" descr="E:\2016.01\1.12 扁平化图标\蓝色\AR-蓝色最新-40.png"/>
          <p:cNvPicPr>
            <a:picLocks noChangeAspect="1" noChangeArrowheads="1"/>
          </p:cNvPicPr>
          <p:nvPr/>
        </p:nvPicPr>
        <p:blipFill>
          <a:blip r:embed="rId3" cstate="print"/>
          <a:srcRect/>
          <a:stretch>
            <a:fillRect/>
          </a:stretch>
        </p:blipFill>
        <p:spPr bwMode="gray">
          <a:xfrm>
            <a:off x="5011270" y="3588687"/>
            <a:ext cx="540000" cy="441818"/>
          </a:xfrm>
          <a:prstGeom prst="rect">
            <a:avLst/>
          </a:prstGeom>
          <a:noFill/>
        </p:spPr>
      </p:pic>
      <p:pic>
        <p:nvPicPr>
          <p:cNvPr id="109" name="Picture 12" descr="E:\2016.01\1.12 扁平化图标\蓝色\AR-蓝色最新-40.png"/>
          <p:cNvPicPr>
            <a:picLocks noChangeAspect="1" noChangeArrowheads="1"/>
          </p:cNvPicPr>
          <p:nvPr/>
        </p:nvPicPr>
        <p:blipFill>
          <a:blip r:embed="rId3" cstate="print"/>
          <a:srcRect/>
          <a:stretch>
            <a:fillRect/>
          </a:stretch>
        </p:blipFill>
        <p:spPr bwMode="gray">
          <a:xfrm>
            <a:off x="6367626" y="3588687"/>
            <a:ext cx="540000" cy="441818"/>
          </a:xfrm>
          <a:prstGeom prst="rect">
            <a:avLst/>
          </a:prstGeom>
          <a:noFill/>
        </p:spPr>
      </p:pic>
      <p:pic>
        <p:nvPicPr>
          <p:cNvPr id="110" name="Picture 12" descr="E:\2016.01\1.12 扁平化图标\蓝色\AR-蓝色最新-40.png"/>
          <p:cNvPicPr>
            <a:picLocks noChangeAspect="1" noChangeArrowheads="1"/>
          </p:cNvPicPr>
          <p:nvPr/>
        </p:nvPicPr>
        <p:blipFill>
          <a:blip r:embed="rId3" cstate="print"/>
          <a:srcRect/>
          <a:stretch>
            <a:fillRect/>
          </a:stretch>
        </p:blipFill>
        <p:spPr bwMode="gray">
          <a:xfrm>
            <a:off x="7760535" y="4688455"/>
            <a:ext cx="540000" cy="441818"/>
          </a:xfrm>
          <a:prstGeom prst="rect">
            <a:avLst/>
          </a:prstGeom>
          <a:noFill/>
        </p:spPr>
      </p:pic>
      <p:pic>
        <p:nvPicPr>
          <p:cNvPr id="111" name="Picture 12" descr="E:\2016.01\1.12 扁平化图标\蓝色\AR-蓝色最新-40.png"/>
          <p:cNvPicPr>
            <a:picLocks noChangeAspect="1" noChangeArrowheads="1"/>
          </p:cNvPicPr>
          <p:nvPr/>
        </p:nvPicPr>
        <p:blipFill>
          <a:blip r:embed="rId3" cstate="print"/>
          <a:srcRect/>
          <a:stretch>
            <a:fillRect/>
          </a:stretch>
        </p:blipFill>
        <p:spPr bwMode="gray">
          <a:xfrm>
            <a:off x="5011270" y="4688455"/>
            <a:ext cx="540000" cy="441818"/>
          </a:xfrm>
          <a:prstGeom prst="rect">
            <a:avLst/>
          </a:prstGeom>
          <a:noFill/>
        </p:spPr>
      </p:pic>
      <p:pic>
        <p:nvPicPr>
          <p:cNvPr id="112" name="Picture 12" descr="E:\2016.01\1.12 扁平化图标\蓝色\AR-蓝色最新-40.png"/>
          <p:cNvPicPr>
            <a:picLocks noChangeAspect="1" noChangeArrowheads="1"/>
          </p:cNvPicPr>
          <p:nvPr/>
        </p:nvPicPr>
        <p:blipFill>
          <a:blip r:embed="rId3" cstate="print"/>
          <a:srcRect/>
          <a:stretch>
            <a:fillRect/>
          </a:stretch>
        </p:blipFill>
        <p:spPr bwMode="gray">
          <a:xfrm>
            <a:off x="6367626" y="4688455"/>
            <a:ext cx="540000" cy="441818"/>
          </a:xfrm>
          <a:prstGeom prst="rect">
            <a:avLst/>
          </a:prstGeom>
          <a:noFill/>
        </p:spPr>
      </p:pic>
      <p:cxnSp>
        <p:nvCxnSpPr>
          <p:cNvPr id="113" name="直接连接符 112"/>
          <p:cNvCxnSpPr>
            <a:stCxn id="108" idx="1"/>
            <a:endCxn id="104" idx="3"/>
          </p:cNvCxnSpPr>
          <p:nvPr/>
        </p:nvCxnSpPr>
        <p:spPr bwMode="gray">
          <a:xfrm flipH="1">
            <a:off x="4311606" y="3809596"/>
            <a:ext cx="699664" cy="58991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a:stCxn id="109" idx="1"/>
            <a:endCxn id="108" idx="3"/>
          </p:cNvCxnSpPr>
          <p:nvPr/>
        </p:nvCxnSpPr>
        <p:spPr bwMode="gray">
          <a:xfrm flipH="1">
            <a:off x="5551270" y="3809596"/>
            <a:ext cx="8163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a:stCxn id="108" idx="2"/>
            <a:endCxn id="111" idx="0"/>
          </p:cNvCxnSpPr>
          <p:nvPr/>
        </p:nvCxnSpPr>
        <p:spPr bwMode="gray">
          <a:xfrm>
            <a:off x="5281270" y="4030505"/>
            <a:ext cx="0" cy="65795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a:stCxn id="111" idx="3"/>
            <a:endCxn id="112" idx="1"/>
          </p:cNvCxnSpPr>
          <p:nvPr/>
        </p:nvCxnSpPr>
        <p:spPr bwMode="gray">
          <a:xfrm>
            <a:off x="5551270" y="4909364"/>
            <a:ext cx="8163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 name="直接连接符 116"/>
          <p:cNvCxnSpPr>
            <a:stCxn id="112" idx="0"/>
            <a:endCxn id="109" idx="2"/>
          </p:cNvCxnSpPr>
          <p:nvPr/>
        </p:nvCxnSpPr>
        <p:spPr bwMode="gray">
          <a:xfrm flipV="1">
            <a:off x="6637626" y="4030505"/>
            <a:ext cx="0" cy="65795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a:stCxn id="109" idx="3"/>
            <a:endCxn id="107" idx="1"/>
          </p:cNvCxnSpPr>
          <p:nvPr/>
        </p:nvCxnSpPr>
        <p:spPr bwMode="gray">
          <a:xfrm>
            <a:off x="6907626" y="3809596"/>
            <a:ext cx="81635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a:stCxn id="112" idx="3"/>
            <a:endCxn id="110" idx="1"/>
          </p:cNvCxnSpPr>
          <p:nvPr/>
        </p:nvCxnSpPr>
        <p:spPr bwMode="gray">
          <a:xfrm>
            <a:off x="6907626" y="4909364"/>
            <a:ext cx="85290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0" name="直接连接符 119"/>
          <p:cNvCxnSpPr>
            <a:stCxn id="107" idx="3"/>
            <a:endCxn id="106" idx="1"/>
          </p:cNvCxnSpPr>
          <p:nvPr/>
        </p:nvCxnSpPr>
        <p:spPr bwMode="gray">
          <a:xfrm flipV="1">
            <a:off x="8263981" y="3341445"/>
            <a:ext cx="648779" cy="46815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1" name="直接连接符 120"/>
          <p:cNvCxnSpPr>
            <a:stCxn id="110" idx="3"/>
            <a:endCxn id="105" idx="1"/>
          </p:cNvCxnSpPr>
          <p:nvPr/>
        </p:nvCxnSpPr>
        <p:spPr bwMode="gray">
          <a:xfrm>
            <a:off x="8300535" y="4909364"/>
            <a:ext cx="612225" cy="48155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2" name="直接连接符 121"/>
          <p:cNvCxnSpPr>
            <a:stCxn id="104" idx="0"/>
            <a:endCxn id="103" idx="3"/>
          </p:cNvCxnSpPr>
          <p:nvPr/>
        </p:nvCxnSpPr>
        <p:spPr bwMode="gray">
          <a:xfrm flipH="1" flipV="1">
            <a:off x="3356531" y="3341445"/>
            <a:ext cx="685075" cy="8371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3" name="直接连接符 122"/>
          <p:cNvCxnSpPr>
            <a:stCxn id="104" idx="2"/>
            <a:endCxn id="102" idx="3"/>
          </p:cNvCxnSpPr>
          <p:nvPr/>
        </p:nvCxnSpPr>
        <p:spPr bwMode="gray">
          <a:xfrm flipH="1">
            <a:off x="3356531" y="4620422"/>
            <a:ext cx="685075" cy="7705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25" name="文本框 124"/>
          <p:cNvSpPr txBox="1"/>
          <p:nvPr/>
        </p:nvSpPr>
        <p:spPr bwMode="gray">
          <a:xfrm>
            <a:off x="5079688" y="4448590"/>
            <a:ext cx="292068"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6" name="文本框 125"/>
          <p:cNvSpPr txBox="1"/>
          <p:nvPr/>
        </p:nvSpPr>
        <p:spPr bwMode="gray">
          <a:xfrm>
            <a:off x="6436044" y="4448590"/>
            <a:ext cx="292068"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7" name="文本框 126"/>
          <p:cNvSpPr txBox="1"/>
          <p:nvPr/>
        </p:nvSpPr>
        <p:spPr bwMode="gray">
          <a:xfrm>
            <a:off x="7828964" y="4448590"/>
            <a:ext cx="393056"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8" name="文本框 127"/>
          <p:cNvSpPr txBox="1"/>
          <p:nvPr/>
        </p:nvSpPr>
        <p:spPr bwMode="gray">
          <a:xfrm>
            <a:off x="3443226" y="4293308"/>
            <a:ext cx="393056"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9" name="文本框 128"/>
          <p:cNvSpPr txBox="1"/>
          <p:nvPr/>
        </p:nvSpPr>
        <p:spPr bwMode="gray">
          <a:xfrm>
            <a:off x="2887598" y="3511638"/>
            <a:ext cx="397866" cy="307777"/>
          </a:xfrm>
          <a:prstGeom prst="rect">
            <a:avLst/>
          </a:prstGeom>
          <a:noFill/>
        </p:spPr>
        <p:txBody>
          <a:bodyPr wrap="non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0" name="文本框 129"/>
          <p:cNvSpPr txBox="1"/>
          <p:nvPr/>
        </p:nvSpPr>
        <p:spPr bwMode="gray">
          <a:xfrm>
            <a:off x="2887598" y="5555290"/>
            <a:ext cx="397866" cy="307777"/>
          </a:xfrm>
          <a:prstGeom prst="rect">
            <a:avLst/>
          </a:prstGeom>
          <a:noFill/>
        </p:spPr>
        <p:txBody>
          <a:bodyPr wrap="non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1" name="文本框 130"/>
          <p:cNvSpPr txBox="1"/>
          <p:nvPr/>
        </p:nvSpPr>
        <p:spPr bwMode="gray">
          <a:xfrm>
            <a:off x="8983827" y="3511638"/>
            <a:ext cx="397866" cy="307777"/>
          </a:xfrm>
          <a:prstGeom prst="rect">
            <a:avLst/>
          </a:prstGeom>
          <a:noFill/>
        </p:spPr>
        <p:txBody>
          <a:bodyPr wrap="non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2" name="文本框 131"/>
          <p:cNvSpPr txBox="1"/>
          <p:nvPr/>
        </p:nvSpPr>
        <p:spPr bwMode="gray">
          <a:xfrm>
            <a:off x="8983827" y="5555290"/>
            <a:ext cx="397866" cy="307777"/>
          </a:xfrm>
          <a:prstGeom prst="rect">
            <a:avLst/>
          </a:prstGeom>
          <a:noFill/>
        </p:spPr>
        <p:txBody>
          <a:bodyPr wrap="non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3" name="文本框 132"/>
          <p:cNvSpPr txBox="1"/>
          <p:nvPr/>
        </p:nvSpPr>
        <p:spPr bwMode="gray">
          <a:xfrm>
            <a:off x="2031651" y="3853550"/>
            <a:ext cx="827471" cy="523220"/>
          </a:xfrm>
          <a:prstGeom prst="rect">
            <a:avLst/>
          </a:prstGeom>
          <a:noFill/>
        </p:spPr>
        <p:txBody>
          <a:bodyPr wrap="none" rtlCol="0">
            <a:spAutoFit/>
          </a:bodyPr>
          <a:lstStyle/>
          <a:p>
            <a:pPr algn="ctr"/>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公司</a:t>
            </a:r>
            <a:r>
              <a:rPr lang="en-US" altLang="zh-CN"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a:t>
            </a:r>
          </a:p>
          <a:p>
            <a:pPr algn="ctr"/>
            <a:r>
              <a:rPr lang="en-US" altLang="zh-CN"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X</a:t>
            </a:r>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省网络</a:t>
            </a:r>
            <a:endPar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4" name="文本框 133"/>
          <p:cNvSpPr txBox="1"/>
          <p:nvPr/>
        </p:nvSpPr>
        <p:spPr bwMode="gray">
          <a:xfrm>
            <a:off x="2029224" y="5547340"/>
            <a:ext cx="827471" cy="523220"/>
          </a:xfrm>
          <a:prstGeom prst="rect">
            <a:avLst/>
          </a:prstGeom>
          <a:noFill/>
        </p:spPr>
        <p:txBody>
          <a:bodyPr wrap="none" rtlCol="0">
            <a:spAutoFit/>
          </a:bodyPr>
          <a:lstStyle/>
          <a:p>
            <a:pPr algn="ctr"/>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公司</a:t>
            </a:r>
            <a:r>
              <a:rPr lang="en-US" altLang="zh-CN"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B</a:t>
            </a:r>
          </a:p>
          <a:p>
            <a:pPr algn="ctr"/>
            <a:r>
              <a:rPr lang="en-US" altLang="zh-CN"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X</a:t>
            </a:r>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省网络</a:t>
            </a:r>
            <a:endPar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5" name="文本框 134"/>
          <p:cNvSpPr txBox="1"/>
          <p:nvPr/>
        </p:nvSpPr>
        <p:spPr bwMode="gray">
          <a:xfrm>
            <a:off x="9341066" y="5614919"/>
            <a:ext cx="827471" cy="523220"/>
          </a:xfrm>
          <a:prstGeom prst="rect">
            <a:avLst/>
          </a:prstGeom>
          <a:noFill/>
        </p:spPr>
        <p:txBody>
          <a:bodyPr wrap="none" rtlCol="0">
            <a:spAutoFit/>
          </a:bodyPr>
          <a:lstStyle/>
          <a:p>
            <a:pPr algn="ctr"/>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公司</a:t>
            </a:r>
            <a:r>
              <a:rPr lang="en-US" altLang="zh-CN"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B</a:t>
            </a:r>
          </a:p>
          <a:p>
            <a:pPr algn="ctr"/>
            <a:r>
              <a:rPr lang="en-US" altLang="zh-CN"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Z</a:t>
            </a:r>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省网络</a:t>
            </a:r>
            <a:endPar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6" name="文本框 135"/>
          <p:cNvSpPr txBox="1"/>
          <p:nvPr/>
        </p:nvSpPr>
        <p:spPr bwMode="gray">
          <a:xfrm>
            <a:off x="5084390" y="3954121"/>
            <a:ext cx="292068"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7" name="文本框 136"/>
          <p:cNvSpPr txBox="1"/>
          <p:nvPr/>
        </p:nvSpPr>
        <p:spPr bwMode="gray">
          <a:xfrm>
            <a:off x="6440746" y="3954121"/>
            <a:ext cx="292068"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8" name="文本框 137"/>
          <p:cNvSpPr txBox="1"/>
          <p:nvPr/>
        </p:nvSpPr>
        <p:spPr bwMode="gray">
          <a:xfrm>
            <a:off x="7797453" y="3954121"/>
            <a:ext cx="393056"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9" name="文本框 138"/>
          <p:cNvSpPr txBox="1"/>
          <p:nvPr/>
        </p:nvSpPr>
        <p:spPr bwMode="gray">
          <a:xfrm>
            <a:off x="9267580" y="3809596"/>
            <a:ext cx="824265" cy="523220"/>
          </a:xfrm>
          <a:prstGeom prst="rect">
            <a:avLst/>
          </a:prstGeom>
          <a:noFill/>
        </p:spPr>
        <p:txBody>
          <a:bodyPr wrap="none" rtlCol="0">
            <a:spAutoFit/>
          </a:bodyPr>
          <a:lstStyle/>
          <a:p>
            <a:pPr algn="ctr"/>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公司</a:t>
            </a:r>
            <a:r>
              <a:rPr lang="en-US" altLang="zh-CN"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a:t>
            </a:r>
          </a:p>
          <a:p>
            <a:pPr algn="ct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Y</a:t>
            </a:r>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省网络</a:t>
            </a:r>
            <a:endPar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文本框 46"/>
          <p:cNvSpPr txBox="1"/>
          <p:nvPr/>
        </p:nvSpPr>
        <p:spPr bwMode="gray">
          <a:xfrm>
            <a:off x="2033088" y="3159825"/>
            <a:ext cx="769763" cy="369332"/>
          </a:xfrm>
          <a:prstGeom prst="rect">
            <a:avLst/>
          </a:prstGeom>
          <a:noFill/>
        </p:spPr>
        <p:txBody>
          <a:bodyPr wrap="none" rtlCol="0">
            <a:spAutoFit/>
          </a:bodyPr>
          <a:lstStyle/>
          <a:p>
            <a:r>
              <a:rPr lang="en-US" altLang="zh-CN" dirty="0" smtClean="0">
                <a:latin typeface="Huawei Sans" panose="020C0503030203020204" pitchFamily="34" charset="0"/>
                <a:ea typeface="方正兰亭黑简体" panose="02000000000000000000" pitchFamily="2" charset="-122"/>
                <a:sym typeface="Huawei Sans" panose="020C0503030203020204" pitchFamily="34" charset="0"/>
              </a:rPr>
              <a:t>site A</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文本框 47"/>
          <p:cNvSpPr txBox="1"/>
          <p:nvPr/>
        </p:nvSpPr>
        <p:spPr bwMode="gray">
          <a:xfrm>
            <a:off x="9443312" y="3159825"/>
            <a:ext cx="758541" cy="369332"/>
          </a:xfrm>
          <a:prstGeom prst="rect">
            <a:avLst/>
          </a:prstGeom>
          <a:noFill/>
        </p:spPr>
        <p:txBody>
          <a:bodyPr wrap="none" rtlCol="0">
            <a:spAutoFit/>
          </a:bodyPr>
          <a:lstStyle/>
          <a:p>
            <a:r>
              <a:rPr lang="en-US" altLang="zh-CN" dirty="0" smtClean="0">
                <a:latin typeface="Huawei Sans" panose="020C0503030203020204" pitchFamily="34" charset="0"/>
                <a:ea typeface="方正兰亭黑简体" panose="02000000000000000000" pitchFamily="2" charset="-122"/>
                <a:sym typeface="Huawei Sans" panose="020C0503030203020204" pitchFamily="34" charset="0"/>
              </a:rPr>
              <a:t>site B</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文本框 48"/>
          <p:cNvSpPr txBox="1"/>
          <p:nvPr/>
        </p:nvSpPr>
        <p:spPr bwMode="gray">
          <a:xfrm>
            <a:off x="2037897" y="5206256"/>
            <a:ext cx="760144" cy="369332"/>
          </a:xfrm>
          <a:prstGeom prst="rect">
            <a:avLst/>
          </a:prstGeom>
          <a:noFill/>
        </p:spPr>
        <p:txBody>
          <a:bodyPr wrap="none" rtlCol="0">
            <a:spAutoFit/>
          </a:bodyPr>
          <a:lstStyle/>
          <a:p>
            <a:r>
              <a:rPr lang="en-US" altLang="zh-CN" dirty="0" smtClean="0">
                <a:latin typeface="Huawei Sans" panose="020C0503030203020204" pitchFamily="34" charset="0"/>
                <a:ea typeface="方正兰亭黑简体" panose="02000000000000000000" pitchFamily="2" charset="-122"/>
                <a:sym typeface="Huawei Sans" panose="020C0503030203020204" pitchFamily="34" charset="0"/>
              </a:rPr>
              <a:t>site C</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文本框 49"/>
          <p:cNvSpPr txBox="1"/>
          <p:nvPr/>
        </p:nvSpPr>
        <p:spPr bwMode="gray">
          <a:xfrm>
            <a:off x="9429686" y="5191584"/>
            <a:ext cx="785793" cy="369332"/>
          </a:xfrm>
          <a:prstGeom prst="rect">
            <a:avLst/>
          </a:prstGeom>
          <a:noFill/>
        </p:spPr>
        <p:txBody>
          <a:bodyPr wrap="none" rtlCol="0">
            <a:spAutoFit/>
          </a:bodyPr>
          <a:lstStyle/>
          <a:p>
            <a:r>
              <a:rPr lang="en-US" altLang="zh-CN" dirty="0" smtClean="0">
                <a:latin typeface="Huawei Sans" panose="020C0503030203020204" pitchFamily="34" charset="0"/>
                <a:ea typeface="方正兰亭黑简体" panose="02000000000000000000" pitchFamily="2" charset="-122"/>
                <a:sym typeface="Huawei Sans" panose="020C0503030203020204" pitchFamily="34" charset="0"/>
              </a:rPr>
              <a:t>site D</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文本框 50"/>
          <p:cNvSpPr txBox="1"/>
          <p:nvPr/>
        </p:nvSpPr>
        <p:spPr bwMode="gray">
          <a:xfrm>
            <a:off x="5263001" y="5722640"/>
            <a:ext cx="1590500" cy="307777"/>
          </a:xfrm>
          <a:prstGeom prst="rect">
            <a:avLst/>
          </a:prstGeom>
          <a:noFill/>
        </p:spPr>
        <p:txBody>
          <a:bodyPr wrap="none" rtlCol="0">
            <a:spAutoFit/>
          </a:bodyP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MPLS VPN</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骨干网</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 name="直接连接符 4"/>
          <p:cNvCxnSpPr>
            <a:stCxn id="108" idx="3"/>
            <a:endCxn id="112" idx="1"/>
          </p:cNvCxnSpPr>
          <p:nvPr/>
        </p:nvCxnSpPr>
        <p:spPr bwMode="gray">
          <a:xfrm>
            <a:off x="5551270" y="3809596"/>
            <a:ext cx="816356" cy="109976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bwMode="gray">
          <a:xfrm flipV="1">
            <a:off x="5551270" y="3819415"/>
            <a:ext cx="816356" cy="10899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a:stCxn id="109" idx="3"/>
          </p:cNvCxnSpPr>
          <p:nvPr/>
        </p:nvCxnSpPr>
        <p:spPr bwMode="gray">
          <a:xfrm>
            <a:off x="6907626" y="3809596"/>
            <a:ext cx="852909" cy="109976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209411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圆角矩形标注 102"/>
          <p:cNvSpPr/>
          <p:nvPr/>
        </p:nvSpPr>
        <p:spPr bwMode="gray">
          <a:xfrm>
            <a:off x="3929471" y="3221290"/>
            <a:ext cx="2311630" cy="1065980"/>
          </a:xfrm>
          <a:prstGeom prst="wedgeRoundRectCallout">
            <a:avLst>
              <a:gd name="adj1" fmla="val 46321"/>
              <a:gd name="adj2" fmla="val 105422"/>
              <a:gd name="adj3" fmla="val 16667"/>
            </a:avLst>
          </a:prstGeom>
          <a:no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圆角矩形 7"/>
          <p:cNvSpPr/>
          <p:nvPr/>
        </p:nvSpPr>
        <p:spPr bwMode="gray">
          <a:xfrm>
            <a:off x="6314573" y="3636544"/>
            <a:ext cx="4000659" cy="2327986"/>
          </a:xfrm>
          <a:prstGeom prst="roundRect">
            <a:avLst/>
          </a:prstGeom>
          <a:solidFill>
            <a:srgbClr val="BEE9EE"/>
          </a:solidFill>
          <a:ln w="28575" cap="flat" cmpd="sng" algn="ctr">
            <a:noFill/>
            <a:prstDash val="sys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bwMode="gray"/>
        <p:txBody>
          <a:bodyPr/>
          <a:lstStyle/>
          <a:p>
            <a:r>
              <a:rPr lang="en-US" altLang="zh-CN" smtClean="0">
                <a:sym typeface="Huawei Sans" panose="020C0503030203020204" pitchFamily="34" charset="0"/>
              </a:rPr>
              <a:t>MPLS VPN</a:t>
            </a:r>
            <a:r>
              <a:rPr lang="zh-CN" altLang="en-US" smtClean="0">
                <a:sym typeface="Huawei Sans" panose="020C0503030203020204" pitchFamily="34" charset="0"/>
              </a:rPr>
              <a:t>技术架构</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bwMode="gray"/>
        <p:txBody>
          <a:bodyPr/>
          <a:lstStyle/>
          <a:p>
            <a:r>
              <a:rPr lang="en-US" altLang="zh-CN" sz="1800" dirty="0" smtClean="0">
                <a:sym typeface="Huawei Sans" panose="020C0503030203020204" pitchFamily="34" charset="0"/>
              </a:rPr>
              <a:t>MPLS VPN</a:t>
            </a:r>
            <a:r>
              <a:rPr lang="zh-CN" altLang="en-US" sz="1800" dirty="0" smtClean="0">
                <a:sym typeface="Huawei Sans" panose="020C0503030203020204" pitchFamily="34" charset="0"/>
              </a:rPr>
              <a:t>不是单一的一种</a:t>
            </a:r>
            <a:r>
              <a:rPr lang="en-US" altLang="zh-CN" sz="1800" dirty="0" smtClean="0">
                <a:sym typeface="Huawei Sans" panose="020C0503030203020204" pitchFamily="34" charset="0"/>
              </a:rPr>
              <a:t>VPN</a:t>
            </a:r>
            <a:r>
              <a:rPr lang="zh-CN" altLang="en-US" sz="1800" dirty="0" smtClean="0">
                <a:sym typeface="Huawei Sans" panose="020C0503030203020204" pitchFamily="34" charset="0"/>
              </a:rPr>
              <a:t>技术，是多种技术结合的综合解决方案，主要包含下列技术：</a:t>
            </a:r>
            <a:endParaRPr lang="en-US" altLang="zh-CN" sz="1800" dirty="0" smtClean="0">
              <a:sym typeface="Huawei Sans" panose="020C0503030203020204" pitchFamily="34" charset="0"/>
            </a:endParaRPr>
          </a:p>
          <a:p>
            <a:pPr lvl="1"/>
            <a:r>
              <a:rPr lang="en-US" altLang="zh-CN" sz="1600" dirty="0" smtClean="0">
                <a:sym typeface="Huawei Sans" panose="020C0503030203020204" pitchFamily="34" charset="0"/>
              </a:rPr>
              <a:t>MP-BGP</a:t>
            </a:r>
            <a:r>
              <a:rPr lang="zh-CN" altLang="en-US" sz="1600" dirty="0" smtClean="0">
                <a:sym typeface="Huawei Sans" panose="020C0503030203020204" pitchFamily="34" charset="0"/>
              </a:rPr>
              <a:t>：负责在</a:t>
            </a:r>
            <a:r>
              <a:rPr lang="en-US" altLang="zh-CN" sz="1600" dirty="0" smtClean="0">
                <a:sym typeface="Huawei Sans" panose="020C0503030203020204" pitchFamily="34" charset="0"/>
              </a:rPr>
              <a:t>PE</a:t>
            </a:r>
            <a:r>
              <a:rPr lang="zh-CN" altLang="en-US" sz="1600" dirty="0" smtClean="0">
                <a:sym typeface="Huawei Sans" panose="020C0503030203020204" pitchFamily="34" charset="0"/>
              </a:rPr>
              <a:t>与</a:t>
            </a:r>
            <a:r>
              <a:rPr lang="en-US" altLang="zh-CN" sz="1600" dirty="0" smtClean="0">
                <a:sym typeface="Huawei Sans" panose="020C0503030203020204" pitchFamily="34" charset="0"/>
              </a:rPr>
              <a:t>PE</a:t>
            </a:r>
            <a:r>
              <a:rPr lang="zh-CN" altLang="en-US" sz="1600" dirty="0" smtClean="0">
                <a:sym typeface="Huawei Sans" panose="020C0503030203020204" pitchFamily="34" charset="0"/>
              </a:rPr>
              <a:t>之间传递站点内的路由信息。</a:t>
            </a:r>
            <a:endParaRPr lang="en-US" altLang="zh-CN" sz="1600" dirty="0" smtClean="0">
              <a:sym typeface="Huawei Sans" panose="020C0503030203020204" pitchFamily="34" charset="0"/>
            </a:endParaRPr>
          </a:p>
          <a:p>
            <a:pPr lvl="1"/>
            <a:r>
              <a:rPr lang="en-US" altLang="zh-CN" sz="1600" dirty="0" smtClean="0">
                <a:sym typeface="Huawei Sans" panose="020C0503030203020204" pitchFamily="34" charset="0"/>
              </a:rPr>
              <a:t>LDP</a:t>
            </a:r>
            <a:r>
              <a:rPr lang="zh-CN" altLang="en-US" sz="1600" dirty="0" smtClean="0">
                <a:sym typeface="Huawei Sans" panose="020C0503030203020204" pitchFamily="34" charset="0"/>
              </a:rPr>
              <a:t>：负责</a:t>
            </a:r>
            <a:r>
              <a:rPr lang="en-US" altLang="zh-CN" sz="1600" dirty="0" smtClean="0">
                <a:sym typeface="Huawei Sans" panose="020C0503030203020204" pitchFamily="34" charset="0"/>
              </a:rPr>
              <a:t>PE</a:t>
            </a:r>
            <a:r>
              <a:rPr lang="zh-CN" altLang="en-US" sz="1600" dirty="0" smtClean="0">
                <a:sym typeface="Huawei Sans" panose="020C0503030203020204" pitchFamily="34" charset="0"/>
              </a:rPr>
              <a:t>与</a:t>
            </a:r>
            <a:r>
              <a:rPr lang="en-US" altLang="zh-CN" sz="1600" dirty="0" smtClean="0">
                <a:sym typeface="Huawei Sans" panose="020C0503030203020204" pitchFamily="34" charset="0"/>
              </a:rPr>
              <a:t>PE</a:t>
            </a:r>
            <a:r>
              <a:rPr lang="zh-CN" altLang="en-US" sz="1600" dirty="0" smtClean="0">
                <a:sym typeface="Huawei Sans" panose="020C0503030203020204" pitchFamily="34" charset="0"/>
              </a:rPr>
              <a:t>之间的隧道建立。</a:t>
            </a:r>
            <a:endParaRPr lang="en-US" altLang="zh-CN" sz="1600" dirty="0" smtClean="0">
              <a:sym typeface="Huawei Sans" panose="020C0503030203020204" pitchFamily="34" charset="0"/>
            </a:endParaRPr>
          </a:p>
          <a:p>
            <a:pPr lvl="1"/>
            <a:r>
              <a:rPr lang="en-US" altLang="zh-CN" sz="1600" dirty="0" smtClean="0">
                <a:sym typeface="Huawei Sans" panose="020C0503030203020204" pitchFamily="34" charset="0"/>
              </a:rPr>
              <a:t>VRF</a:t>
            </a:r>
            <a:r>
              <a:rPr lang="zh-CN" altLang="en-US" sz="1600" dirty="0" smtClean="0">
                <a:sym typeface="Huawei Sans" panose="020C0503030203020204" pitchFamily="34" charset="0"/>
              </a:rPr>
              <a:t>：负责</a:t>
            </a:r>
            <a:r>
              <a:rPr lang="en-US" altLang="zh-CN" sz="1600" dirty="0" smtClean="0">
                <a:sym typeface="Huawei Sans" panose="020C0503030203020204" pitchFamily="34" charset="0"/>
              </a:rPr>
              <a:t>PE</a:t>
            </a:r>
            <a:r>
              <a:rPr lang="zh-CN" altLang="en-US" sz="1600" dirty="0" smtClean="0">
                <a:sym typeface="Huawei Sans" panose="020C0503030203020204" pitchFamily="34" charset="0"/>
              </a:rPr>
              <a:t>的</a:t>
            </a:r>
            <a:r>
              <a:rPr lang="en-US" altLang="zh-CN" sz="1600" dirty="0" smtClean="0">
                <a:sym typeface="Huawei Sans" panose="020C0503030203020204" pitchFamily="34" charset="0"/>
              </a:rPr>
              <a:t>VPN</a:t>
            </a:r>
            <a:r>
              <a:rPr lang="zh-CN" altLang="en-US" sz="1600" dirty="0" smtClean="0">
                <a:sym typeface="Huawei Sans" panose="020C0503030203020204" pitchFamily="34" charset="0"/>
              </a:rPr>
              <a:t>用户管理。</a:t>
            </a:r>
            <a:endParaRPr lang="en-US" altLang="zh-CN" sz="1600" dirty="0" smtClean="0">
              <a:sym typeface="Huawei Sans" panose="020C0503030203020204" pitchFamily="34" charset="0"/>
            </a:endParaRPr>
          </a:p>
          <a:p>
            <a:pPr lvl="1"/>
            <a:r>
              <a:rPr lang="zh-CN" altLang="en-US" sz="1600" dirty="0" smtClean="0">
                <a:sym typeface="Huawei Sans" panose="020C0503030203020204" pitchFamily="34" charset="0"/>
              </a:rPr>
              <a:t>静态路由、</a:t>
            </a:r>
            <a:r>
              <a:rPr lang="en-US" altLang="zh-CN" sz="1600" dirty="0" smtClean="0">
                <a:sym typeface="Huawei Sans" panose="020C0503030203020204" pitchFamily="34" charset="0"/>
              </a:rPr>
              <a:t>IGP</a:t>
            </a:r>
            <a:r>
              <a:rPr lang="zh-CN" altLang="en-US" sz="1600" dirty="0" smtClean="0">
                <a:sym typeface="Huawei Sans" panose="020C0503030203020204" pitchFamily="34" charset="0"/>
              </a:rPr>
              <a:t>、</a:t>
            </a:r>
            <a:r>
              <a:rPr lang="en-US" altLang="zh-CN" sz="1600" dirty="0" smtClean="0">
                <a:sym typeface="Huawei Sans" panose="020C0503030203020204" pitchFamily="34" charset="0"/>
              </a:rPr>
              <a:t>BGP</a:t>
            </a:r>
            <a:r>
              <a:rPr lang="zh-CN" altLang="en-US" sz="1600" dirty="0" smtClean="0">
                <a:sym typeface="Huawei Sans" panose="020C0503030203020204" pitchFamily="34" charset="0"/>
              </a:rPr>
              <a:t>：负责</a:t>
            </a:r>
            <a:r>
              <a:rPr lang="en-US" altLang="zh-CN" sz="1600" dirty="0" smtClean="0">
                <a:sym typeface="Huawei Sans" panose="020C0503030203020204" pitchFamily="34" charset="0"/>
              </a:rPr>
              <a:t>PE</a:t>
            </a:r>
            <a:r>
              <a:rPr lang="zh-CN" altLang="en-US" sz="1600" dirty="0" smtClean="0">
                <a:sym typeface="Huawei Sans" panose="020C0503030203020204" pitchFamily="34" charset="0"/>
              </a:rPr>
              <a:t>与</a:t>
            </a:r>
            <a:r>
              <a:rPr lang="en-US" altLang="zh-CN" sz="1600" dirty="0" smtClean="0">
                <a:sym typeface="Huawei Sans" panose="020C0503030203020204" pitchFamily="34" charset="0"/>
              </a:rPr>
              <a:t>CE</a:t>
            </a:r>
            <a:r>
              <a:rPr lang="zh-CN" altLang="en-US" sz="1600" dirty="0" smtClean="0">
                <a:sym typeface="Huawei Sans" panose="020C0503030203020204" pitchFamily="34" charset="0"/>
              </a:rPr>
              <a:t>之间的路由信息交换。</a:t>
            </a:r>
            <a:endParaRPr lang="en-US" altLang="zh-CN" sz="1600" dirty="0" smtClean="0">
              <a:sym typeface="Huawei Sans" panose="020C0503030203020204" pitchFamily="34" charset="0"/>
            </a:endParaRPr>
          </a:p>
        </p:txBody>
      </p:sp>
      <p:sp>
        <p:nvSpPr>
          <p:cNvPr id="50" name="文本框 49"/>
          <p:cNvSpPr txBox="1"/>
          <p:nvPr/>
        </p:nvSpPr>
        <p:spPr bwMode="gray">
          <a:xfrm>
            <a:off x="7354219" y="5669862"/>
            <a:ext cx="1590500" cy="307777"/>
          </a:xfrm>
          <a:prstGeom prst="rect">
            <a:avLst/>
          </a:prstGeom>
          <a:noFill/>
        </p:spPr>
        <p:txBody>
          <a:bodyPr wrap="none" rtlCol="0">
            <a:spAutoFit/>
          </a:bodyPr>
          <a:lstStyle/>
          <a:p>
            <a:r>
              <a:rPr lang="en-US" altLang="zh-CN"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MPLS VPN</a:t>
            </a:r>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骨干网</a:t>
            </a:r>
            <a:endPar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6" name="直接连接符 25"/>
          <p:cNvCxnSpPr>
            <a:stCxn id="11" idx="3"/>
            <a:endCxn id="17" idx="1"/>
          </p:cNvCxnSpPr>
          <p:nvPr/>
        </p:nvCxnSpPr>
        <p:spPr bwMode="gray">
          <a:xfrm>
            <a:off x="6582360" y="4938883"/>
            <a:ext cx="344892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11" name="Picture 12" descr="E:\2016.01\1.12 扁平化图标\蓝色\AR-蓝色最新-40.png"/>
          <p:cNvPicPr>
            <a:picLocks noChangeAspect="1" noChangeArrowheads="1"/>
          </p:cNvPicPr>
          <p:nvPr/>
        </p:nvPicPr>
        <p:blipFill>
          <a:blip r:embed="rId3" cstate="print"/>
          <a:srcRect/>
          <a:stretch>
            <a:fillRect/>
          </a:stretch>
        </p:blipFill>
        <p:spPr bwMode="gray">
          <a:xfrm>
            <a:off x="6042360" y="4717974"/>
            <a:ext cx="540000" cy="441818"/>
          </a:xfrm>
          <a:prstGeom prst="rect">
            <a:avLst/>
          </a:prstGeom>
          <a:noFill/>
        </p:spPr>
      </p:pic>
      <p:pic>
        <p:nvPicPr>
          <p:cNvPr id="17" name="Picture 12" descr="E:\2016.01\1.12 扁平化图标\蓝色\AR-蓝色最新-40.png"/>
          <p:cNvPicPr>
            <a:picLocks noChangeAspect="1" noChangeArrowheads="1"/>
          </p:cNvPicPr>
          <p:nvPr/>
        </p:nvPicPr>
        <p:blipFill>
          <a:blip r:embed="rId3" cstate="print"/>
          <a:srcRect/>
          <a:stretch>
            <a:fillRect/>
          </a:stretch>
        </p:blipFill>
        <p:spPr bwMode="gray">
          <a:xfrm>
            <a:off x="10031289" y="4717974"/>
            <a:ext cx="540000" cy="441818"/>
          </a:xfrm>
          <a:prstGeom prst="rect">
            <a:avLst/>
          </a:prstGeom>
          <a:noFill/>
        </p:spPr>
      </p:pic>
      <p:pic>
        <p:nvPicPr>
          <p:cNvPr id="18" name="Picture 12" descr="E:\2016.01\1.12 扁平化图标\蓝色\AR-蓝色最新-40.png"/>
          <p:cNvPicPr>
            <a:picLocks noChangeAspect="1" noChangeArrowheads="1"/>
          </p:cNvPicPr>
          <p:nvPr/>
        </p:nvPicPr>
        <p:blipFill>
          <a:blip r:embed="rId3" cstate="print"/>
          <a:srcRect/>
          <a:stretch>
            <a:fillRect/>
          </a:stretch>
        </p:blipFill>
        <p:spPr bwMode="gray">
          <a:xfrm>
            <a:off x="7282024" y="4717974"/>
            <a:ext cx="540000" cy="441818"/>
          </a:xfrm>
          <a:prstGeom prst="rect">
            <a:avLst/>
          </a:prstGeom>
          <a:noFill/>
        </p:spPr>
      </p:pic>
      <p:pic>
        <p:nvPicPr>
          <p:cNvPr id="19" name="Picture 12" descr="E:\2016.01\1.12 扁平化图标\蓝色\AR-蓝色最新-40.png"/>
          <p:cNvPicPr>
            <a:picLocks noChangeAspect="1" noChangeArrowheads="1"/>
          </p:cNvPicPr>
          <p:nvPr/>
        </p:nvPicPr>
        <p:blipFill>
          <a:blip r:embed="rId3" cstate="print"/>
          <a:srcRect/>
          <a:stretch>
            <a:fillRect/>
          </a:stretch>
        </p:blipFill>
        <p:spPr bwMode="gray">
          <a:xfrm>
            <a:off x="8638380" y="4717974"/>
            <a:ext cx="540000" cy="441818"/>
          </a:xfrm>
          <a:prstGeom prst="rect">
            <a:avLst/>
          </a:prstGeom>
          <a:noFill/>
        </p:spPr>
      </p:pic>
      <p:sp>
        <p:nvSpPr>
          <p:cNvPr id="31" name="文本框 30"/>
          <p:cNvSpPr txBox="1"/>
          <p:nvPr/>
        </p:nvSpPr>
        <p:spPr bwMode="gray">
          <a:xfrm>
            <a:off x="7405990" y="5134123"/>
            <a:ext cx="292068"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文本框 31"/>
          <p:cNvSpPr txBox="1"/>
          <p:nvPr/>
        </p:nvSpPr>
        <p:spPr bwMode="gray">
          <a:xfrm>
            <a:off x="8762346" y="5134123"/>
            <a:ext cx="292068"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文本框 32"/>
          <p:cNvSpPr txBox="1"/>
          <p:nvPr/>
        </p:nvSpPr>
        <p:spPr bwMode="gray">
          <a:xfrm>
            <a:off x="10104761" y="5134123"/>
            <a:ext cx="393056"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文本框 50"/>
          <p:cNvSpPr txBox="1"/>
          <p:nvPr/>
        </p:nvSpPr>
        <p:spPr bwMode="gray">
          <a:xfrm>
            <a:off x="6115832" y="5134123"/>
            <a:ext cx="393056"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矩形: 圆角 59">
            <a:extLst>
              <a:ext uri="{FF2B5EF4-FFF2-40B4-BE49-F238E27FC236}">
                <a16:creationId xmlns="" xmlns:a16="http://schemas.microsoft.com/office/drawing/2014/main" id="{0C6927D4-E6E8-412C-96E2-460C2397F385}"/>
              </a:ext>
            </a:extLst>
          </p:cNvPr>
          <p:cNvSpPr>
            <a:spLocks/>
          </p:cNvSpPr>
          <p:nvPr/>
        </p:nvSpPr>
        <p:spPr bwMode="gray">
          <a:xfrm>
            <a:off x="1861590" y="3816302"/>
            <a:ext cx="1760288" cy="874869"/>
          </a:xfrm>
          <a:prstGeom prst="roundRect">
            <a:avLst/>
          </a:prstGeom>
          <a:solidFill>
            <a:schemeClr val="bg1"/>
          </a:solidFill>
          <a:ln w="1905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8" name="Picture 12" descr="E:\2016.01\1.12 扁平化图标\蓝色\AR-蓝色最新-40.png"/>
          <p:cNvPicPr>
            <a:picLocks noChangeAspect="1" noChangeArrowheads="1"/>
          </p:cNvPicPr>
          <p:nvPr/>
        </p:nvPicPr>
        <p:blipFill>
          <a:blip r:embed="rId3" cstate="print"/>
          <a:srcRect/>
          <a:stretch>
            <a:fillRect/>
          </a:stretch>
        </p:blipFill>
        <p:spPr bwMode="gray">
          <a:xfrm>
            <a:off x="2773121" y="3979033"/>
            <a:ext cx="540000" cy="441818"/>
          </a:xfrm>
          <a:prstGeom prst="rect">
            <a:avLst/>
          </a:prstGeom>
          <a:noFill/>
        </p:spPr>
      </p:pic>
      <p:sp>
        <p:nvSpPr>
          <p:cNvPr id="60" name="文本框 59"/>
          <p:cNvSpPr txBox="1"/>
          <p:nvPr/>
        </p:nvSpPr>
        <p:spPr bwMode="gray">
          <a:xfrm>
            <a:off x="2844188" y="4370135"/>
            <a:ext cx="397866" cy="307777"/>
          </a:xfrm>
          <a:prstGeom prst="rect">
            <a:avLst/>
          </a:prstGeom>
          <a:noFill/>
        </p:spPr>
        <p:txBody>
          <a:bodyPr wrap="non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文本框 63"/>
          <p:cNvSpPr txBox="1"/>
          <p:nvPr/>
        </p:nvSpPr>
        <p:spPr bwMode="gray">
          <a:xfrm>
            <a:off x="1989678" y="4018322"/>
            <a:ext cx="769763" cy="369332"/>
          </a:xfrm>
          <a:prstGeom prst="rect">
            <a:avLst/>
          </a:prstGeom>
          <a:noFill/>
        </p:spPr>
        <p:txBody>
          <a:bodyPr wrap="none" rtlCol="0">
            <a:spAutoFit/>
          </a:bodyPr>
          <a:lstStyle/>
          <a:p>
            <a:r>
              <a:rPr lang="en-US" altLang="zh-CN" dirty="0" smtClean="0">
                <a:latin typeface="Huawei Sans" panose="020C0503030203020204" pitchFamily="34" charset="0"/>
                <a:ea typeface="方正兰亭黑简体" panose="02000000000000000000" pitchFamily="2" charset="-122"/>
                <a:sym typeface="Huawei Sans" panose="020C0503030203020204" pitchFamily="34" charset="0"/>
              </a:rPr>
              <a:t>site A</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矩形: 圆角 59">
            <a:extLst>
              <a:ext uri="{FF2B5EF4-FFF2-40B4-BE49-F238E27FC236}">
                <a16:creationId xmlns="" xmlns:a16="http://schemas.microsoft.com/office/drawing/2014/main" id="{0C6927D4-E6E8-412C-96E2-460C2397F385}"/>
              </a:ext>
            </a:extLst>
          </p:cNvPr>
          <p:cNvSpPr>
            <a:spLocks/>
          </p:cNvSpPr>
          <p:nvPr/>
        </p:nvSpPr>
        <p:spPr bwMode="gray">
          <a:xfrm>
            <a:off x="1861590" y="5248828"/>
            <a:ext cx="1760288" cy="874869"/>
          </a:xfrm>
          <a:prstGeom prst="roundRect">
            <a:avLst/>
          </a:prstGeom>
          <a:solidFill>
            <a:schemeClr val="bg1"/>
          </a:solidFill>
          <a:ln w="1905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7" name="Picture 12" descr="E:\2016.01\1.12 扁平化图标\蓝色\AR-蓝色最新-40.png"/>
          <p:cNvPicPr>
            <a:picLocks noChangeAspect="1" noChangeArrowheads="1"/>
          </p:cNvPicPr>
          <p:nvPr/>
        </p:nvPicPr>
        <p:blipFill>
          <a:blip r:embed="rId3" cstate="print"/>
          <a:srcRect/>
          <a:stretch>
            <a:fillRect/>
          </a:stretch>
        </p:blipFill>
        <p:spPr bwMode="gray">
          <a:xfrm>
            <a:off x="2778197" y="5435601"/>
            <a:ext cx="540000" cy="441818"/>
          </a:xfrm>
          <a:prstGeom prst="rect">
            <a:avLst/>
          </a:prstGeom>
          <a:noFill/>
        </p:spPr>
      </p:pic>
      <p:sp>
        <p:nvSpPr>
          <p:cNvPr id="61" name="文本框 60"/>
          <p:cNvSpPr txBox="1"/>
          <p:nvPr/>
        </p:nvSpPr>
        <p:spPr bwMode="gray">
          <a:xfrm>
            <a:off x="2849264" y="5820878"/>
            <a:ext cx="397866" cy="307777"/>
          </a:xfrm>
          <a:prstGeom prst="rect">
            <a:avLst/>
          </a:prstGeom>
          <a:noFill/>
        </p:spPr>
        <p:txBody>
          <a:bodyPr wrap="non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 name="文本框 64"/>
          <p:cNvSpPr txBox="1"/>
          <p:nvPr/>
        </p:nvSpPr>
        <p:spPr bwMode="gray">
          <a:xfrm>
            <a:off x="1999563" y="5471844"/>
            <a:ext cx="758541" cy="369332"/>
          </a:xfrm>
          <a:prstGeom prst="rect">
            <a:avLst/>
          </a:prstGeom>
          <a:noFill/>
        </p:spPr>
        <p:txBody>
          <a:bodyPr wrap="none" rtlCol="0">
            <a:spAutoFit/>
          </a:bodyPr>
          <a:lstStyle/>
          <a:p>
            <a:r>
              <a:rPr lang="en-US" altLang="zh-CN" dirty="0" smtClean="0">
                <a:latin typeface="Huawei Sans" panose="020C0503030203020204" pitchFamily="34" charset="0"/>
                <a:ea typeface="方正兰亭黑简体" panose="02000000000000000000" pitchFamily="2" charset="-122"/>
                <a:sym typeface="Huawei Sans" panose="020C0503030203020204" pitchFamily="34" charset="0"/>
              </a:rPr>
              <a:t>site B</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9" name="直接连接符 68"/>
          <p:cNvCxnSpPr>
            <a:stCxn id="58" idx="3"/>
            <a:endCxn id="11" idx="1"/>
          </p:cNvCxnSpPr>
          <p:nvPr/>
        </p:nvCxnSpPr>
        <p:spPr bwMode="gray">
          <a:xfrm>
            <a:off x="3313121" y="4199942"/>
            <a:ext cx="2729239" cy="73894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a:stCxn id="57" idx="3"/>
            <a:endCxn id="11" idx="1"/>
          </p:cNvCxnSpPr>
          <p:nvPr/>
        </p:nvCxnSpPr>
        <p:spPr bwMode="gray">
          <a:xfrm flipV="1">
            <a:off x="3318197" y="4938883"/>
            <a:ext cx="2724163" cy="71762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bwMode="gray">
          <a:xfrm flipV="1">
            <a:off x="6301873" y="3942583"/>
            <a:ext cx="0" cy="762693"/>
          </a:xfrm>
          <a:prstGeom prst="line">
            <a:avLst/>
          </a:prstGeom>
          <a:ln w="31750">
            <a:solidFill>
              <a:srgbClr val="FCC800"/>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bwMode="gray">
          <a:xfrm flipV="1">
            <a:off x="10308966" y="3942583"/>
            <a:ext cx="0" cy="762693"/>
          </a:xfrm>
          <a:prstGeom prst="line">
            <a:avLst/>
          </a:prstGeom>
          <a:ln w="31750">
            <a:solidFill>
              <a:srgbClr val="FCC800"/>
            </a:solidFill>
          </a:ln>
        </p:spPr>
        <p:style>
          <a:lnRef idx="1">
            <a:schemeClr val="accent1"/>
          </a:lnRef>
          <a:fillRef idx="0">
            <a:schemeClr val="accent1"/>
          </a:fillRef>
          <a:effectRef idx="0">
            <a:schemeClr val="accent1"/>
          </a:effectRef>
          <a:fontRef idx="minor">
            <a:schemeClr val="tx1"/>
          </a:fontRef>
        </p:style>
      </p:cxnSp>
      <p:cxnSp>
        <p:nvCxnSpPr>
          <p:cNvPr id="77" name="直接箭头连接符 76"/>
          <p:cNvCxnSpPr/>
          <p:nvPr/>
        </p:nvCxnSpPr>
        <p:spPr bwMode="gray">
          <a:xfrm>
            <a:off x="9321443" y="4095994"/>
            <a:ext cx="959848" cy="0"/>
          </a:xfrm>
          <a:prstGeom prst="straightConnector1">
            <a:avLst/>
          </a:prstGeom>
          <a:ln w="31750">
            <a:solidFill>
              <a:srgbClr val="FCC800"/>
            </a:solidFill>
            <a:tailEnd type="triangle"/>
          </a:ln>
        </p:spPr>
        <p:style>
          <a:lnRef idx="1">
            <a:schemeClr val="accent1"/>
          </a:lnRef>
          <a:fillRef idx="0">
            <a:schemeClr val="accent1"/>
          </a:fillRef>
          <a:effectRef idx="0">
            <a:schemeClr val="accent1"/>
          </a:effectRef>
          <a:fontRef idx="minor">
            <a:schemeClr val="tx1"/>
          </a:fontRef>
        </p:style>
      </p:cxnSp>
      <p:sp>
        <p:nvSpPr>
          <p:cNvPr id="80" name="文本框 79"/>
          <p:cNvSpPr txBox="1"/>
          <p:nvPr/>
        </p:nvSpPr>
        <p:spPr bwMode="gray">
          <a:xfrm>
            <a:off x="7083978" y="3979493"/>
            <a:ext cx="2299027" cy="307777"/>
          </a:xfrm>
          <a:prstGeom prst="rect">
            <a:avLst/>
          </a:prstGeom>
          <a:noFill/>
        </p:spPr>
        <p:txBody>
          <a:bodyPr wrap="non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MP-BGP</a:t>
            </a:r>
            <a:r>
              <a:rPr lang="zh-CN" altLang="en-US" sz="1400" b="1" dirty="0" smtClean="0">
                <a:latin typeface="Huawei Sans" panose="020C0503030203020204" pitchFamily="34" charset="0"/>
                <a:ea typeface="方正兰亭黑简体" panose="02000000000000000000" pitchFamily="2" charset="-122"/>
                <a:sym typeface="Huawei Sans" panose="020C0503030203020204" pitchFamily="34" charset="0"/>
              </a:rPr>
              <a:t>负责路由信息交换</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83" name="直接箭头连接符 82"/>
          <p:cNvCxnSpPr/>
          <p:nvPr/>
        </p:nvCxnSpPr>
        <p:spPr bwMode="gray">
          <a:xfrm flipH="1">
            <a:off x="6296639" y="4095994"/>
            <a:ext cx="840300" cy="0"/>
          </a:xfrm>
          <a:prstGeom prst="straightConnector1">
            <a:avLst/>
          </a:prstGeom>
          <a:ln w="31750">
            <a:solidFill>
              <a:srgbClr val="FCC800"/>
            </a:solidFill>
            <a:tailEnd type="triangle"/>
          </a:ln>
        </p:spPr>
        <p:style>
          <a:lnRef idx="1">
            <a:schemeClr val="accent1"/>
          </a:lnRef>
          <a:fillRef idx="0">
            <a:schemeClr val="accent1"/>
          </a:fillRef>
          <a:effectRef idx="0">
            <a:schemeClr val="accent1"/>
          </a:effectRef>
          <a:fontRef idx="minor">
            <a:schemeClr val="tx1"/>
          </a:fontRef>
        </p:style>
      </p:cxnSp>
      <p:sp>
        <p:nvSpPr>
          <p:cNvPr id="92" name="forms_324103"/>
          <p:cNvSpPr>
            <a:spLocks noChangeAspect="1"/>
          </p:cNvSpPr>
          <p:nvPr/>
        </p:nvSpPr>
        <p:spPr bwMode="gray">
          <a:xfrm>
            <a:off x="4275091" y="3312890"/>
            <a:ext cx="503319" cy="609685"/>
          </a:xfrm>
          <a:custGeom>
            <a:avLst/>
            <a:gdLst>
              <a:gd name="connsiteX0" fmla="*/ 162114 w 500873"/>
              <a:gd name="connsiteY0" fmla="*/ 359955 h 606722"/>
              <a:gd name="connsiteX1" fmla="*/ 384486 w 500873"/>
              <a:gd name="connsiteY1" fmla="*/ 359955 h 606722"/>
              <a:gd name="connsiteX2" fmla="*/ 396860 w 500873"/>
              <a:gd name="connsiteY2" fmla="*/ 372295 h 606722"/>
              <a:gd name="connsiteX3" fmla="*/ 384486 w 500873"/>
              <a:gd name="connsiteY3" fmla="*/ 384723 h 606722"/>
              <a:gd name="connsiteX4" fmla="*/ 162114 w 500873"/>
              <a:gd name="connsiteY4" fmla="*/ 384723 h 606722"/>
              <a:gd name="connsiteX5" fmla="*/ 149740 w 500873"/>
              <a:gd name="connsiteY5" fmla="*/ 372295 h 606722"/>
              <a:gd name="connsiteX6" fmla="*/ 162114 w 500873"/>
              <a:gd name="connsiteY6" fmla="*/ 359955 h 606722"/>
              <a:gd name="connsiteX7" fmla="*/ 116452 w 500873"/>
              <a:gd name="connsiteY7" fmla="*/ 359955 h 606722"/>
              <a:gd name="connsiteX8" fmla="*/ 122058 w 500873"/>
              <a:gd name="connsiteY8" fmla="*/ 359955 h 606722"/>
              <a:gd name="connsiteX9" fmla="*/ 134427 w 500873"/>
              <a:gd name="connsiteY9" fmla="*/ 372295 h 606722"/>
              <a:gd name="connsiteX10" fmla="*/ 122058 w 500873"/>
              <a:gd name="connsiteY10" fmla="*/ 384723 h 606722"/>
              <a:gd name="connsiteX11" fmla="*/ 116452 w 500873"/>
              <a:gd name="connsiteY11" fmla="*/ 384723 h 606722"/>
              <a:gd name="connsiteX12" fmla="*/ 104084 w 500873"/>
              <a:gd name="connsiteY12" fmla="*/ 372295 h 606722"/>
              <a:gd name="connsiteX13" fmla="*/ 116452 w 500873"/>
              <a:gd name="connsiteY13" fmla="*/ 359955 h 606722"/>
              <a:gd name="connsiteX14" fmla="*/ 162114 w 500873"/>
              <a:gd name="connsiteY14" fmla="*/ 303290 h 606722"/>
              <a:gd name="connsiteX15" fmla="*/ 384486 w 500873"/>
              <a:gd name="connsiteY15" fmla="*/ 303290 h 606722"/>
              <a:gd name="connsiteX16" fmla="*/ 396860 w 500873"/>
              <a:gd name="connsiteY16" fmla="*/ 315754 h 606722"/>
              <a:gd name="connsiteX17" fmla="*/ 384486 w 500873"/>
              <a:gd name="connsiteY17" fmla="*/ 328129 h 606722"/>
              <a:gd name="connsiteX18" fmla="*/ 162114 w 500873"/>
              <a:gd name="connsiteY18" fmla="*/ 328129 h 606722"/>
              <a:gd name="connsiteX19" fmla="*/ 149740 w 500873"/>
              <a:gd name="connsiteY19" fmla="*/ 315754 h 606722"/>
              <a:gd name="connsiteX20" fmla="*/ 162114 w 500873"/>
              <a:gd name="connsiteY20" fmla="*/ 303290 h 606722"/>
              <a:gd name="connsiteX21" fmla="*/ 116452 w 500873"/>
              <a:gd name="connsiteY21" fmla="*/ 303290 h 606722"/>
              <a:gd name="connsiteX22" fmla="*/ 122058 w 500873"/>
              <a:gd name="connsiteY22" fmla="*/ 303290 h 606722"/>
              <a:gd name="connsiteX23" fmla="*/ 134427 w 500873"/>
              <a:gd name="connsiteY23" fmla="*/ 315754 h 606722"/>
              <a:gd name="connsiteX24" fmla="*/ 122058 w 500873"/>
              <a:gd name="connsiteY24" fmla="*/ 328129 h 606722"/>
              <a:gd name="connsiteX25" fmla="*/ 116452 w 500873"/>
              <a:gd name="connsiteY25" fmla="*/ 328129 h 606722"/>
              <a:gd name="connsiteX26" fmla="*/ 104084 w 500873"/>
              <a:gd name="connsiteY26" fmla="*/ 315754 h 606722"/>
              <a:gd name="connsiteX27" fmla="*/ 116452 w 500873"/>
              <a:gd name="connsiteY27" fmla="*/ 303290 h 606722"/>
              <a:gd name="connsiteX28" fmla="*/ 162114 w 500873"/>
              <a:gd name="connsiteY28" fmla="*/ 246767 h 606722"/>
              <a:gd name="connsiteX29" fmla="*/ 384486 w 500873"/>
              <a:gd name="connsiteY29" fmla="*/ 246767 h 606722"/>
              <a:gd name="connsiteX30" fmla="*/ 396860 w 500873"/>
              <a:gd name="connsiteY30" fmla="*/ 259151 h 606722"/>
              <a:gd name="connsiteX31" fmla="*/ 384486 w 500873"/>
              <a:gd name="connsiteY31" fmla="*/ 271535 h 606722"/>
              <a:gd name="connsiteX32" fmla="*/ 162114 w 500873"/>
              <a:gd name="connsiteY32" fmla="*/ 271535 h 606722"/>
              <a:gd name="connsiteX33" fmla="*/ 149740 w 500873"/>
              <a:gd name="connsiteY33" fmla="*/ 259151 h 606722"/>
              <a:gd name="connsiteX34" fmla="*/ 162114 w 500873"/>
              <a:gd name="connsiteY34" fmla="*/ 246767 h 606722"/>
              <a:gd name="connsiteX35" fmla="*/ 116452 w 500873"/>
              <a:gd name="connsiteY35" fmla="*/ 246767 h 606722"/>
              <a:gd name="connsiteX36" fmla="*/ 122058 w 500873"/>
              <a:gd name="connsiteY36" fmla="*/ 246767 h 606722"/>
              <a:gd name="connsiteX37" fmla="*/ 134427 w 500873"/>
              <a:gd name="connsiteY37" fmla="*/ 259151 h 606722"/>
              <a:gd name="connsiteX38" fmla="*/ 122058 w 500873"/>
              <a:gd name="connsiteY38" fmla="*/ 271535 h 606722"/>
              <a:gd name="connsiteX39" fmla="*/ 116452 w 500873"/>
              <a:gd name="connsiteY39" fmla="*/ 271535 h 606722"/>
              <a:gd name="connsiteX40" fmla="*/ 104084 w 500873"/>
              <a:gd name="connsiteY40" fmla="*/ 259151 h 606722"/>
              <a:gd name="connsiteX41" fmla="*/ 116452 w 500873"/>
              <a:gd name="connsiteY41" fmla="*/ 246767 h 606722"/>
              <a:gd name="connsiteX42" fmla="*/ 354029 w 500873"/>
              <a:gd name="connsiteY42" fmla="*/ 42302 h 606722"/>
              <a:gd name="connsiteX43" fmla="*/ 354029 w 500873"/>
              <a:gd name="connsiteY43" fmla="*/ 111266 h 606722"/>
              <a:gd name="connsiteX44" fmla="*/ 364352 w 500873"/>
              <a:gd name="connsiteY44" fmla="*/ 136328 h 606722"/>
              <a:gd name="connsiteX45" fmla="*/ 389449 w 500873"/>
              <a:gd name="connsiteY45" fmla="*/ 146726 h 606722"/>
              <a:gd name="connsiteX46" fmla="*/ 458600 w 500873"/>
              <a:gd name="connsiteY46" fmla="*/ 146726 h 606722"/>
              <a:gd name="connsiteX47" fmla="*/ 60250 w 500873"/>
              <a:gd name="connsiteY47" fmla="*/ 24795 h 606722"/>
              <a:gd name="connsiteX48" fmla="*/ 24830 w 500873"/>
              <a:gd name="connsiteY48" fmla="*/ 60165 h 606722"/>
              <a:gd name="connsiteX49" fmla="*/ 24830 w 500873"/>
              <a:gd name="connsiteY49" fmla="*/ 546557 h 606722"/>
              <a:gd name="connsiteX50" fmla="*/ 60250 w 500873"/>
              <a:gd name="connsiteY50" fmla="*/ 581927 h 606722"/>
              <a:gd name="connsiteX51" fmla="*/ 440623 w 500873"/>
              <a:gd name="connsiteY51" fmla="*/ 581927 h 606722"/>
              <a:gd name="connsiteX52" fmla="*/ 476132 w 500873"/>
              <a:gd name="connsiteY52" fmla="*/ 546557 h 606722"/>
              <a:gd name="connsiteX53" fmla="*/ 476132 w 500873"/>
              <a:gd name="connsiteY53" fmla="*/ 171432 h 606722"/>
              <a:gd name="connsiteX54" fmla="*/ 389449 w 500873"/>
              <a:gd name="connsiteY54" fmla="*/ 171432 h 606722"/>
              <a:gd name="connsiteX55" fmla="*/ 346820 w 500873"/>
              <a:gd name="connsiteY55" fmla="*/ 153835 h 606722"/>
              <a:gd name="connsiteX56" fmla="*/ 329199 w 500873"/>
              <a:gd name="connsiteY56" fmla="*/ 111266 h 606722"/>
              <a:gd name="connsiteX57" fmla="*/ 329199 w 500873"/>
              <a:gd name="connsiteY57" fmla="*/ 24795 h 606722"/>
              <a:gd name="connsiteX58" fmla="*/ 60250 w 500873"/>
              <a:gd name="connsiteY58" fmla="*/ 0 h 606722"/>
              <a:gd name="connsiteX59" fmla="*/ 341569 w 500873"/>
              <a:gd name="connsiteY59" fmla="*/ 0 h 606722"/>
              <a:gd name="connsiteX60" fmla="*/ 350380 w 500873"/>
              <a:gd name="connsiteY60" fmla="*/ 3643 h 606722"/>
              <a:gd name="connsiteX61" fmla="*/ 497313 w 500873"/>
              <a:gd name="connsiteY61" fmla="*/ 150369 h 606722"/>
              <a:gd name="connsiteX62" fmla="*/ 500873 w 500873"/>
              <a:gd name="connsiteY62" fmla="*/ 159079 h 606722"/>
              <a:gd name="connsiteX63" fmla="*/ 500873 w 500873"/>
              <a:gd name="connsiteY63" fmla="*/ 546557 h 606722"/>
              <a:gd name="connsiteX64" fmla="*/ 440623 w 500873"/>
              <a:gd name="connsiteY64" fmla="*/ 606722 h 606722"/>
              <a:gd name="connsiteX65" fmla="*/ 60250 w 500873"/>
              <a:gd name="connsiteY65" fmla="*/ 606722 h 606722"/>
              <a:gd name="connsiteX66" fmla="*/ 0 w 500873"/>
              <a:gd name="connsiteY66" fmla="*/ 546557 h 606722"/>
              <a:gd name="connsiteX67" fmla="*/ 0 w 500873"/>
              <a:gd name="connsiteY67" fmla="*/ 60165 h 606722"/>
              <a:gd name="connsiteX68" fmla="*/ 60250 w 500873"/>
              <a:gd name="connsiteY68"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500873" h="606722">
                <a:moveTo>
                  <a:pt x="162114" y="359955"/>
                </a:moveTo>
                <a:lnTo>
                  <a:pt x="384486" y="359955"/>
                </a:lnTo>
                <a:cubicBezTo>
                  <a:pt x="391252" y="359955"/>
                  <a:pt x="396860" y="365459"/>
                  <a:pt x="396860" y="372295"/>
                </a:cubicBezTo>
                <a:cubicBezTo>
                  <a:pt x="396860" y="379130"/>
                  <a:pt x="391252" y="384723"/>
                  <a:pt x="384486" y="384723"/>
                </a:cubicBezTo>
                <a:lnTo>
                  <a:pt x="162114" y="384723"/>
                </a:lnTo>
                <a:cubicBezTo>
                  <a:pt x="155260" y="384723"/>
                  <a:pt x="149740" y="379130"/>
                  <a:pt x="149740" y="372295"/>
                </a:cubicBezTo>
                <a:cubicBezTo>
                  <a:pt x="149740" y="365459"/>
                  <a:pt x="155260" y="359955"/>
                  <a:pt x="162114" y="359955"/>
                </a:cubicBezTo>
                <a:close/>
                <a:moveTo>
                  <a:pt x="116452" y="359955"/>
                </a:moveTo>
                <a:lnTo>
                  <a:pt x="122058" y="359955"/>
                </a:lnTo>
                <a:cubicBezTo>
                  <a:pt x="128821" y="359955"/>
                  <a:pt x="134427" y="365459"/>
                  <a:pt x="134427" y="372295"/>
                </a:cubicBezTo>
                <a:cubicBezTo>
                  <a:pt x="134427" y="379130"/>
                  <a:pt x="128821" y="384723"/>
                  <a:pt x="122058" y="384723"/>
                </a:cubicBezTo>
                <a:lnTo>
                  <a:pt x="116452" y="384723"/>
                </a:lnTo>
                <a:cubicBezTo>
                  <a:pt x="109601" y="384723"/>
                  <a:pt x="104084" y="379130"/>
                  <a:pt x="104084" y="372295"/>
                </a:cubicBezTo>
                <a:cubicBezTo>
                  <a:pt x="104084" y="365459"/>
                  <a:pt x="109601" y="359955"/>
                  <a:pt x="116452" y="359955"/>
                </a:cubicBezTo>
                <a:close/>
                <a:moveTo>
                  <a:pt x="162114" y="303290"/>
                </a:moveTo>
                <a:lnTo>
                  <a:pt x="384486" y="303290"/>
                </a:lnTo>
                <a:cubicBezTo>
                  <a:pt x="391252" y="303290"/>
                  <a:pt x="396860" y="308899"/>
                  <a:pt x="396860" y="315754"/>
                </a:cubicBezTo>
                <a:cubicBezTo>
                  <a:pt x="396860" y="322609"/>
                  <a:pt x="391252" y="328129"/>
                  <a:pt x="384486" y="328129"/>
                </a:cubicBezTo>
                <a:lnTo>
                  <a:pt x="162114" y="328129"/>
                </a:lnTo>
                <a:cubicBezTo>
                  <a:pt x="155260" y="328129"/>
                  <a:pt x="149740" y="322609"/>
                  <a:pt x="149740" y="315754"/>
                </a:cubicBezTo>
                <a:cubicBezTo>
                  <a:pt x="149740" y="308899"/>
                  <a:pt x="155260" y="303290"/>
                  <a:pt x="162114" y="303290"/>
                </a:cubicBezTo>
                <a:close/>
                <a:moveTo>
                  <a:pt x="116452" y="303290"/>
                </a:moveTo>
                <a:lnTo>
                  <a:pt x="122058" y="303290"/>
                </a:lnTo>
                <a:cubicBezTo>
                  <a:pt x="128821" y="303290"/>
                  <a:pt x="134427" y="308899"/>
                  <a:pt x="134427" y="315754"/>
                </a:cubicBezTo>
                <a:cubicBezTo>
                  <a:pt x="134427" y="322609"/>
                  <a:pt x="128821" y="328129"/>
                  <a:pt x="122058" y="328129"/>
                </a:cubicBezTo>
                <a:lnTo>
                  <a:pt x="116452" y="328129"/>
                </a:lnTo>
                <a:cubicBezTo>
                  <a:pt x="109601" y="328129"/>
                  <a:pt x="104084" y="322609"/>
                  <a:pt x="104084" y="315754"/>
                </a:cubicBezTo>
                <a:cubicBezTo>
                  <a:pt x="104084" y="308899"/>
                  <a:pt x="109601" y="303290"/>
                  <a:pt x="116452" y="303290"/>
                </a:cubicBezTo>
                <a:close/>
                <a:moveTo>
                  <a:pt x="162114" y="246767"/>
                </a:moveTo>
                <a:lnTo>
                  <a:pt x="384486" y="246767"/>
                </a:lnTo>
                <a:cubicBezTo>
                  <a:pt x="391252" y="246767"/>
                  <a:pt x="396860" y="252291"/>
                  <a:pt x="396860" y="259151"/>
                </a:cubicBezTo>
                <a:cubicBezTo>
                  <a:pt x="396860" y="266011"/>
                  <a:pt x="391252" y="271535"/>
                  <a:pt x="384486" y="271535"/>
                </a:cubicBezTo>
                <a:lnTo>
                  <a:pt x="162114" y="271535"/>
                </a:lnTo>
                <a:cubicBezTo>
                  <a:pt x="155260" y="271535"/>
                  <a:pt x="149740" y="266011"/>
                  <a:pt x="149740" y="259151"/>
                </a:cubicBezTo>
                <a:cubicBezTo>
                  <a:pt x="149740" y="252291"/>
                  <a:pt x="155260" y="246767"/>
                  <a:pt x="162114" y="246767"/>
                </a:cubicBezTo>
                <a:close/>
                <a:moveTo>
                  <a:pt x="116452" y="246767"/>
                </a:moveTo>
                <a:lnTo>
                  <a:pt x="122058" y="246767"/>
                </a:lnTo>
                <a:cubicBezTo>
                  <a:pt x="128821" y="246767"/>
                  <a:pt x="134427" y="252291"/>
                  <a:pt x="134427" y="259151"/>
                </a:cubicBezTo>
                <a:cubicBezTo>
                  <a:pt x="134427" y="266011"/>
                  <a:pt x="128821" y="271535"/>
                  <a:pt x="122058" y="271535"/>
                </a:cubicBezTo>
                <a:lnTo>
                  <a:pt x="116452" y="271535"/>
                </a:lnTo>
                <a:cubicBezTo>
                  <a:pt x="109601" y="271535"/>
                  <a:pt x="104084" y="266011"/>
                  <a:pt x="104084" y="259151"/>
                </a:cubicBezTo>
                <a:cubicBezTo>
                  <a:pt x="104084" y="252291"/>
                  <a:pt x="109601" y="246767"/>
                  <a:pt x="116452" y="246767"/>
                </a:cubicBezTo>
                <a:close/>
                <a:moveTo>
                  <a:pt x="354029" y="42302"/>
                </a:moveTo>
                <a:lnTo>
                  <a:pt x="354029" y="111266"/>
                </a:lnTo>
                <a:cubicBezTo>
                  <a:pt x="354029" y="120775"/>
                  <a:pt x="357678" y="129662"/>
                  <a:pt x="364352" y="136328"/>
                </a:cubicBezTo>
                <a:cubicBezTo>
                  <a:pt x="371116" y="142993"/>
                  <a:pt x="380016" y="146726"/>
                  <a:pt x="389449" y="146726"/>
                </a:cubicBezTo>
                <a:lnTo>
                  <a:pt x="458600" y="146726"/>
                </a:lnTo>
                <a:close/>
                <a:moveTo>
                  <a:pt x="60250" y="24795"/>
                </a:moveTo>
                <a:cubicBezTo>
                  <a:pt x="40760" y="24795"/>
                  <a:pt x="24830" y="40614"/>
                  <a:pt x="24830" y="60165"/>
                </a:cubicBezTo>
                <a:lnTo>
                  <a:pt x="24830" y="546557"/>
                </a:lnTo>
                <a:cubicBezTo>
                  <a:pt x="24830" y="566019"/>
                  <a:pt x="40760" y="581927"/>
                  <a:pt x="60250" y="581927"/>
                </a:cubicBezTo>
                <a:lnTo>
                  <a:pt x="440623" y="581927"/>
                </a:lnTo>
                <a:cubicBezTo>
                  <a:pt x="460202" y="581927"/>
                  <a:pt x="476132" y="566019"/>
                  <a:pt x="476132" y="546557"/>
                </a:cubicBezTo>
                <a:lnTo>
                  <a:pt x="476132" y="171432"/>
                </a:lnTo>
                <a:lnTo>
                  <a:pt x="389449" y="171432"/>
                </a:lnTo>
                <a:cubicBezTo>
                  <a:pt x="373341" y="171432"/>
                  <a:pt x="358212" y="165211"/>
                  <a:pt x="346820" y="153835"/>
                </a:cubicBezTo>
                <a:cubicBezTo>
                  <a:pt x="335429" y="142460"/>
                  <a:pt x="329199" y="127352"/>
                  <a:pt x="329199" y="111266"/>
                </a:cubicBezTo>
                <a:lnTo>
                  <a:pt x="329199" y="24795"/>
                </a:lnTo>
                <a:close/>
                <a:moveTo>
                  <a:pt x="60250" y="0"/>
                </a:moveTo>
                <a:lnTo>
                  <a:pt x="341569" y="0"/>
                </a:lnTo>
                <a:cubicBezTo>
                  <a:pt x="344862" y="0"/>
                  <a:pt x="348066" y="1333"/>
                  <a:pt x="350380" y="3643"/>
                </a:cubicBezTo>
                <a:lnTo>
                  <a:pt x="497313" y="150369"/>
                </a:lnTo>
                <a:cubicBezTo>
                  <a:pt x="499627" y="152680"/>
                  <a:pt x="500873" y="155791"/>
                  <a:pt x="500873" y="159079"/>
                </a:cubicBezTo>
                <a:lnTo>
                  <a:pt x="500873" y="546557"/>
                </a:lnTo>
                <a:cubicBezTo>
                  <a:pt x="500873" y="579705"/>
                  <a:pt x="473907" y="606722"/>
                  <a:pt x="440623" y="606722"/>
                </a:cubicBezTo>
                <a:lnTo>
                  <a:pt x="60250" y="606722"/>
                </a:lnTo>
                <a:cubicBezTo>
                  <a:pt x="27055" y="606722"/>
                  <a:pt x="0" y="579705"/>
                  <a:pt x="0" y="546557"/>
                </a:cubicBezTo>
                <a:lnTo>
                  <a:pt x="0" y="60165"/>
                </a:lnTo>
                <a:cubicBezTo>
                  <a:pt x="0" y="27017"/>
                  <a:pt x="27055" y="0"/>
                  <a:pt x="60250" y="0"/>
                </a:cubicBezTo>
                <a:close/>
              </a:path>
            </a:pathLst>
          </a:custGeom>
          <a:solidFill>
            <a:schemeClr val="accent1"/>
          </a:solidFill>
          <a:ln>
            <a:noFill/>
          </a:ln>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3" name="文本框 92"/>
          <p:cNvSpPr txBox="1"/>
          <p:nvPr/>
        </p:nvSpPr>
        <p:spPr bwMode="gray">
          <a:xfrm>
            <a:off x="3929471" y="3934405"/>
            <a:ext cx="1178528" cy="307777"/>
          </a:xfrm>
          <a:prstGeom prst="rect">
            <a:avLst/>
          </a:prstGeom>
          <a:noFill/>
        </p:spPr>
        <p:txBody>
          <a:bodyPr wrap="non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site A</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路由表</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8" name="forms_324103"/>
          <p:cNvSpPr>
            <a:spLocks noChangeAspect="1"/>
          </p:cNvSpPr>
          <p:nvPr/>
        </p:nvSpPr>
        <p:spPr bwMode="gray">
          <a:xfrm>
            <a:off x="5326059" y="3300775"/>
            <a:ext cx="503319" cy="609685"/>
          </a:xfrm>
          <a:custGeom>
            <a:avLst/>
            <a:gdLst>
              <a:gd name="connsiteX0" fmla="*/ 162114 w 500873"/>
              <a:gd name="connsiteY0" fmla="*/ 359955 h 606722"/>
              <a:gd name="connsiteX1" fmla="*/ 384486 w 500873"/>
              <a:gd name="connsiteY1" fmla="*/ 359955 h 606722"/>
              <a:gd name="connsiteX2" fmla="*/ 396860 w 500873"/>
              <a:gd name="connsiteY2" fmla="*/ 372295 h 606722"/>
              <a:gd name="connsiteX3" fmla="*/ 384486 w 500873"/>
              <a:gd name="connsiteY3" fmla="*/ 384723 h 606722"/>
              <a:gd name="connsiteX4" fmla="*/ 162114 w 500873"/>
              <a:gd name="connsiteY4" fmla="*/ 384723 h 606722"/>
              <a:gd name="connsiteX5" fmla="*/ 149740 w 500873"/>
              <a:gd name="connsiteY5" fmla="*/ 372295 h 606722"/>
              <a:gd name="connsiteX6" fmla="*/ 162114 w 500873"/>
              <a:gd name="connsiteY6" fmla="*/ 359955 h 606722"/>
              <a:gd name="connsiteX7" fmla="*/ 116452 w 500873"/>
              <a:gd name="connsiteY7" fmla="*/ 359955 h 606722"/>
              <a:gd name="connsiteX8" fmla="*/ 122058 w 500873"/>
              <a:gd name="connsiteY8" fmla="*/ 359955 h 606722"/>
              <a:gd name="connsiteX9" fmla="*/ 134427 w 500873"/>
              <a:gd name="connsiteY9" fmla="*/ 372295 h 606722"/>
              <a:gd name="connsiteX10" fmla="*/ 122058 w 500873"/>
              <a:gd name="connsiteY10" fmla="*/ 384723 h 606722"/>
              <a:gd name="connsiteX11" fmla="*/ 116452 w 500873"/>
              <a:gd name="connsiteY11" fmla="*/ 384723 h 606722"/>
              <a:gd name="connsiteX12" fmla="*/ 104084 w 500873"/>
              <a:gd name="connsiteY12" fmla="*/ 372295 h 606722"/>
              <a:gd name="connsiteX13" fmla="*/ 116452 w 500873"/>
              <a:gd name="connsiteY13" fmla="*/ 359955 h 606722"/>
              <a:gd name="connsiteX14" fmla="*/ 162114 w 500873"/>
              <a:gd name="connsiteY14" fmla="*/ 303290 h 606722"/>
              <a:gd name="connsiteX15" fmla="*/ 384486 w 500873"/>
              <a:gd name="connsiteY15" fmla="*/ 303290 h 606722"/>
              <a:gd name="connsiteX16" fmla="*/ 396860 w 500873"/>
              <a:gd name="connsiteY16" fmla="*/ 315754 h 606722"/>
              <a:gd name="connsiteX17" fmla="*/ 384486 w 500873"/>
              <a:gd name="connsiteY17" fmla="*/ 328129 h 606722"/>
              <a:gd name="connsiteX18" fmla="*/ 162114 w 500873"/>
              <a:gd name="connsiteY18" fmla="*/ 328129 h 606722"/>
              <a:gd name="connsiteX19" fmla="*/ 149740 w 500873"/>
              <a:gd name="connsiteY19" fmla="*/ 315754 h 606722"/>
              <a:gd name="connsiteX20" fmla="*/ 162114 w 500873"/>
              <a:gd name="connsiteY20" fmla="*/ 303290 h 606722"/>
              <a:gd name="connsiteX21" fmla="*/ 116452 w 500873"/>
              <a:gd name="connsiteY21" fmla="*/ 303290 h 606722"/>
              <a:gd name="connsiteX22" fmla="*/ 122058 w 500873"/>
              <a:gd name="connsiteY22" fmla="*/ 303290 h 606722"/>
              <a:gd name="connsiteX23" fmla="*/ 134427 w 500873"/>
              <a:gd name="connsiteY23" fmla="*/ 315754 h 606722"/>
              <a:gd name="connsiteX24" fmla="*/ 122058 w 500873"/>
              <a:gd name="connsiteY24" fmla="*/ 328129 h 606722"/>
              <a:gd name="connsiteX25" fmla="*/ 116452 w 500873"/>
              <a:gd name="connsiteY25" fmla="*/ 328129 h 606722"/>
              <a:gd name="connsiteX26" fmla="*/ 104084 w 500873"/>
              <a:gd name="connsiteY26" fmla="*/ 315754 h 606722"/>
              <a:gd name="connsiteX27" fmla="*/ 116452 w 500873"/>
              <a:gd name="connsiteY27" fmla="*/ 303290 h 606722"/>
              <a:gd name="connsiteX28" fmla="*/ 162114 w 500873"/>
              <a:gd name="connsiteY28" fmla="*/ 246767 h 606722"/>
              <a:gd name="connsiteX29" fmla="*/ 384486 w 500873"/>
              <a:gd name="connsiteY29" fmla="*/ 246767 h 606722"/>
              <a:gd name="connsiteX30" fmla="*/ 396860 w 500873"/>
              <a:gd name="connsiteY30" fmla="*/ 259151 h 606722"/>
              <a:gd name="connsiteX31" fmla="*/ 384486 w 500873"/>
              <a:gd name="connsiteY31" fmla="*/ 271535 h 606722"/>
              <a:gd name="connsiteX32" fmla="*/ 162114 w 500873"/>
              <a:gd name="connsiteY32" fmla="*/ 271535 h 606722"/>
              <a:gd name="connsiteX33" fmla="*/ 149740 w 500873"/>
              <a:gd name="connsiteY33" fmla="*/ 259151 h 606722"/>
              <a:gd name="connsiteX34" fmla="*/ 162114 w 500873"/>
              <a:gd name="connsiteY34" fmla="*/ 246767 h 606722"/>
              <a:gd name="connsiteX35" fmla="*/ 116452 w 500873"/>
              <a:gd name="connsiteY35" fmla="*/ 246767 h 606722"/>
              <a:gd name="connsiteX36" fmla="*/ 122058 w 500873"/>
              <a:gd name="connsiteY36" fmla="*/ 246767 h 606722"/>
              <a:gd name="connsiteX37" fmla="*/ 134427 w 500873"/>
              <a:gd name="connsiteY37" fmla="*/ 259151 h 606722"/>
              <a:gd name="connsiteX38" fmla="*/ 122058 w 500873"/>
              <a:gd name="connsiteY38" fmla="*/ 271535 h 606722"/>
              <a:gd name="connsiteX39" fmla="*/ 116452 w 500873"/>
              <a:gd name="connsiteY39" fmla="*/ 271535 h 606722"/>
              <a:gd name="connsiteX40" fmla="*/ 104084 w 500873"/>
              <a:gd name="connsiteY40" fmla="*/ 259151 h 606722"/>
              <a:gd name="connsiteX41" fmla="*/ 116452 w 500873"/>
              <a:gd name="connsiteY41" fmla="*/ 246767 h 606722"/>
              <a:gd name="connsiteX42" fmla="*/ 354029 w 500873"/>
              <a:gd name="connsiteY42" fmla="*/ 42302 h 606722"/>
              <a:gd name="connsiteX43" fmla="*/ 354029 w 500873"/>
              <a:gd name="connsiteY43" fmla="*/ 111266 h 606722"/>
              <a:gd name="connsiteX44" fmla="*/ 364352 w 500873"/>
              <a:gd name="connsiteY44" fmla="*/ 136328 h 606722"/>
              <a:gd name="connsiteX45" fmla="*/ 389449 w 500873"/>
              <a:gd name="connsiteY45" fmla="*/ 146726 h 606722"/>
              <a:gd name="connsiteX46" fmla="*/ 458600 w 500873"/>
              <a:gd name="connsiteY46" fmla="*/ 146726 h 606722"/>
              <a:gd name="connsiteX47" fmla="*/ 60250 w 500873"/>
              <a:gd name="connsiteY47" fmla="*/ 24795 h 606722"/>
              <a:gd name="connsiteX48" fmla="*/ 24830 w 500873"/>
              <a:gd name="connsiteY48" fmla="*/ 60165 h 606722"/>
              <a:gd name="connsiteX49" fmla="*/ 24830 w 500873"/>
              <a:gd name="connsiteY49" fmla="*/ 546557 h 606722"/>
              <a:gd name="connsiteX50" fmla="*/ 60250 w 500873"/>
              <a:gd name="connsiteY50" fmla="*/ 581927 h 606722"/>
              <a:gd name="connsiteX51" fmla="*/ 440623 w 500873"/>
              <a:gd name="connsiteY51" fmla="*/ 581927 h 606722"/>
              <a:gd name="connsiteX52" fmla="*/ 476132 w 500873"/>
              <a:gd name="connsiteY52" fmla="*/ 546557 h 606722"/>
              <a:gd name="connsiteX53" fmla="*/ 476132 w 500873"/>
              <a:gd name="connsiteY53" fmla="*/ 171432 h 606722"/>
              <a:gd name="connsiteX54" fmla="*/ 389449 w 500873"/>
              <a:gd name="connsiteY54" fmla="*/ 171432 h 606722"/>
              <a:gd name="connsiteX55" fmla="*/ 346820 w 500873"/>
              <a:gd name="connsiteY55" fmla="*/ 153835 h 606722"/>
              <a:gd name="connsiteX56" fmla="*/ 329199 w 500873"/>
              <a:gd name="connsiteY56" fmla="*/ 111266 h 606722"/>
              <a:gd name="connsiteX57" fmla="*/ 329199 w 500873"/>
              <a:gd name="connsiteY57" fmla="*/ 24795 h 606722"/>
              <a:gd name="connsiteX58" fmla="*/ 60250 w 500873"/>
              <a:gd name="connsiteY58" fmla="*/ 0 h 606722"/>
              <a:gd name="connsiteX59" fmla="*/ 341569 w 500873"/>
              <a:gd name="connsiteY59" fmla="*/ 0 h 606722"/>
              <a:gd name="connsiteX60" fmla="*/ 350380 w 500873"/>
              <a:gd name="connsiteY60" fmla="*/ 3643 h 606722"/>
              <a:gd name="connsiteX61" fmla="*/ 497313 w 500873"/>
              <a:gd name="connsiteY61" fmla="*/ 150369 h 606722"/>
              <a:gd name="connsiteX62" fmla="*/ 500873 w 500873"/>
              <a:gd name="connsiteY62" fmla="*/ 159079 h 606722"/>
              <a:gd name="connsiteX63" fmla="*/ 500873 w 500873"/>
              <a:gd name="connsiteY63" fmla="*/ 546557 h 606722"/>
              <a:gd name="connsiteX64" fmla="*/ 440623 w 500873"/>
              <a:gd name="connsiteY64" fmla="*/ 606722 h 606722"/>
              <a:gd name="connsiteX65" fmla="*/ 60250 w 500873"/>
              <a:gd name="connsiteY65" fmla="*/ 606722 h 606722"/>
              <a:gd name="connsiteX66" fmla="*/ 0 w 500873"/>
              <a:gd name="connsiteY66" fmla="*/ 546557 h 606722"/>
              <a:gd name="connsiteX67" fmla="*/ 0 w 500873"/>
              <a:gd name="connsiteY67" fmla="*/ 60165 h 606722"/>
              <a:gd name="connsiteX68" fmla="*/ 60250 w 500873"/>
              <a:gd name="connsiteY68"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500873" h="606722">
                <a:moveTo>
                  <a:pt x="162114" y="359955"/>
                </a:moveTo>
                <a:lnTo>
                  <a:pt x="384486" y="359955"/>
                </a:lnTo>
                <a:cubicBezTo>
                  <a:pt x="391252" y="359955"/>
                  <a:pt x="396860" y="365459"/>
                  <a:pt x="396860" y="372295"/>
                </a:cubicBezTo>
                <a:cubicBezTo>
                  <a:pt x="396860" y="379130"/>
                  <a:pt x="391252" y="384723"/>
                  <a:pt x="384486" y="384723"/>
                </a:cubicBezTo>
                <a:lnTo>
                  <a:pt x="162114" y="384723"/>
                </a:lnTo>
                <a:cubicBezTo>
                  <a:pt x="155260" y="384723"/>
                  <a:pt x="149740" y="379130"/>
                  <a:pt x="149740" y="372295"/>
                </a:cubicBezTo>
                <a:cubicBezTo>
                  <a:pt x="149740" y="365459"/>
                  <a:pt x="155260" y="359955"/>
                  <a:pt x="162114" y="359955"/>
                </a:cubicBezTo>
                <a:close/>
                <a:moveTo>
                  <a:pt x="116452" y="359955"/>
                </a:moveTo>
                <a:lnTo>
                  <a:pt x="122058" y="359955"/>
                </a:lnTo>
                <a:cubicBezTo>
                  <a:pt x="128821" y="359955"/>
                  <a:pt x="134427" y="365459"/>
                  <a:pt x="134427" y="372295"/>
                </a:cubicBezTo>
                <a:cubicBezTo>
                  <a:pt x="134427" y="379130"/>
                  <a:pt x="128821" y="384723"/>
                  <a:pt x="122058" y="384723"/>
                </a:cubicBezTo>
                <a:lnTo>
                  <a:pt x="116452" y="384723"/>
                </a:lnTo>
                <a:cubicBezTo>
                  <a:pt x="109601" y="384723"/>
                  <a:pt x="104084" y="379130"/>
                  <a:pt x="104084" y="372295"/>
                </a:cubicBezTo>
                <a:cubicBezTo>
                  <a:pt x="104084" y="365459"/>
                  <a:pt x="109601" y="359955"/>
                  <a:pt x="116452" y="359955"/>
                </a:cubicBezTo>
                <a:close/>
                <a:moveTo>
                  <a:pt x="162114" y="303290"/>
                </a:moveTo>
                <a:lnTo>
                  <a:pt x="384486" y="303290"/>
                </a:lnTo>
                <a:cubicBezTo>
                  <a:pt x="391252" y="303290"/>
                  <a:pt x="396860" y="308899"/>
                  <a:pt x="396860" y="315754"/>
                </a:cubicBezTo>
                <a:cubicBezTo>
                  <a:pt x="396860" y="322609"/>
                  <a:pt x="391252" y="328129"/>
                  <a:pt x="384486" y="328129"/>
                </a:cubicBezTo>
                <a:lnTo>
                  <a:pt x="162114" y="328129"/>
                </a:lnTo>
                <a:cubicBezTo>
                  <a:pt x="155260" y="328129"/>
                  <a:pt x="149740" y="322609"/>
                  <a:pt x="149740" y="315754"/>
                </a:cubicBezTo>
                <a:cubicBezTo>
                  <a:pt x="149740" y="308899"/>
                  <a:pt x="155260" y="303290"/>
                  <a:pt x="162114" y="303290"/>
                </a:cubicBezTo>
                <a:close/>
                <a:moveTo>
                  <a:pt x="116452" y="303290"/>
                </a:moveTo>
                <a:lnTo>
                  <a:pt x="122058" y="303290"/>
                </a:lnTo>
                <a:cubicBezTo>
                  <a:pt x="128821" y="303290"/>
                  <a:pt x="134427" y="308899"/>
                  <a:pt x="134427" y="315754"/>
                </a:cubicBezTo>
                <a:cubicBezTo>
                  <a:pt x="134427" y="322609"/>
                  <a:pt x="128821" y="328129"/>
                  <a:pt x="122058" y="328129"/>
                </a:cubicBezTo>
                <a:lnTo>
                  <a:pt x="116452" y="328129"/>
                </a:lnTo>
                <a:cubicBezTo>
                  <a:pt x="109601" y="328129"/>
                  <a:pt x="104084" y="322609"/>
                  <a:pt x="104084" y="315754"/>
                </a:cubicBezTo>
                <a:cubicBezTo>
                  <a:pt x="104084" y="308899"/>
                  <a:pt x="109601" y="303290"/>
                  <a:pt x="116452" y="303290"/>
                </a:cubicBezTo>
                <a:close/>
                <a:moveTo>
                  <a:pt x="162114" y="246767"/>
                </a:moveTo>
                <a:lnTo>
                  <a:pt x="384486" y="246767"/>
                </a:lnTo>
                <a:cubicBezTo>
                  <a:pt x="391252" y="246767"/>
                  <a:pt x="396860" y="252291"/>
                  <a:pt x="396860" y="259151"/>
                </a:cubicBezTo>
                <a:cubicBezTo>
                  <a:pt x="396860" y="266011"/>
                  <a:pt x="391252" y="271535"/>
                  <a:pt x="384486" y="271535"/>
                </a:cubicBezTo>
                <a:lnTo>
                  <a:pt x="162114" y="271535"/>
                </a:lnTo>
                <a:cubicBezTo>
                  <a:pt x="155260" y="271535"/>
                  <a:pt x="149740" y="266011"/>
                  <a:pt x="149740" y="259151"/>
                </a:cubicBezTo>
                <a:cubicBezTo>
                  <a:pt x="149740" y="252291"/>
                  <a:pt x="155260" y="246767"/>
                  <a:pt x="162114" y="246767"/>
                </a:cubicBezTo>
                <a:close/>
                <a:moveTo>
                  <a:pt x="116452" y="246767"/>
                </a:moveTo>
                <a:lnTo>
                  <a:pt x="122058" y="246767"/>
                </a:lnTo>
                <a:cubicBezTo>
                  <a:pt x="128821" y="246767"/>
                  <a:pt x="134427" y="252291"/>
                  <a:pt x="134427" y="259151"/>
                </a:cubicBezTo>
                <a:cubicBezTo>
                  <a:pt x="134427" y="266011"/>
                  <a:pt x="128821" y="271535"/>
                  <a:pt x="122058" y="271535"/>
                </a:cubicBezTo>
                <a:lnTo>
                  <a:pt x="116452" y="271535"/>
                </a:lnTo>
                <a:cubicBezTo>
                  <a:pt x="109601" y="271535"/>
                  <a:pt x="104084" y="266011"/>
                  <a:pt x="104084" y="259151"/>
                </a:cubicBezTo>
                <a:cubicBezTo>
                  <a:pt x="104084" y="252291"/>
                  <a:pt x="109601" y="246767"/>
                  <a:pt x="116452" y="246767"/>
                </a:cubicBezTo>
                <a:close/>
                <a:moveTo>
                  <a:pt x="354029" y="42302"/>
                </a:moveTo>
                <a:lnTo>
                  <a:pt x="354029" y="111266"/>
                </a:lnTo>
                <a:cubicBezTo>
                  <a:pt x="354029" y="120775"/>
                  <a:pt x="357678" y="129662"/>
                  <a:pt x="364352" y="136328"/>
                </a:cubicBezTo>
                <a:cubicBezTo>
                  <a:pt x="371116" y="142993"/>
                  <a:pt x="380016" y="146726"/>
                  <a:pt x="389449" y="146726"/>
                </a:cubicBezTo>
                <a:lnTo>
                  <a:pt x="458600" y="146726"/>
                </a:lnTo>
                <a:close/>
                <a:moveTo>
                  <a:pt x="60250" y="24795"/>
                </a:moveTo>
                <a:cubicBezTo>
                  <a:pt x="40760" y="24795"/>
                  <a:pt x="24830" y="40614"/>
                  <a:pt x="24830" y="60165"/>
                </a:cubicBezTo>
                <a:lnTo>
                  <a:pt x="24830" y="546557"/>
                </a:lnTo>
                <a:cubicBezTo>
                  <a:pt x="24830" y="566019"/>
                  <a:pt x="40760" y="581927"/>
                  <a:pt x="60250" y="581927"/>
                </a:cubicBezTo>
                <a:lnTo>
                  <a:pt x="440623" y="581927"/>
                </a:lnTo>
                <a:cubicBezTo>
                  <a:pt x="460202" y="581927"/>
                  <a:pt x="476132" y="566019"/>
                  <a:pt x="476132" y="546557"/>
                </a:cubicBezTo>
                <a:lnTo>
                  <a:pt x="476132" y="171432"/>
                </a:lnTo>
                <a:lnTo>
                  <a:pt x="389449" y="171432"/>
                </a:lnTo>
                <a:cubicBezTo>
                  <a:pt x="373341" y="171432"/>
                  <a:pt x="358212" y="165211"/>
                  <a:pt x="346820" y="153835"/>
                </a:cubicBezTo>
                <a:cubicBezTo>
                  <a:pt x="335429" y="142460"/>
                  <a:pt x="329199" y="127352"/>
                  <a:pt x="329199" y="111266"/>
                </a:cubicBezTo>
                <a:lnTo>
                  <a:pt x="329199" y="24795"/>
                </a:lnTo>
                <a:close/>
                <a:moveTo>
                  <a:pt x="60250" y="0"/>
                </a:moveTo>
                <a:lnTo>
                  <a:pt x="341569" y="0"/>
                </a:lnTo>
                <a:cubicBezTo>
                  <a:pt x="344862" y="0"/>
                  <a:pt x="348066" y="1333"/>
                  <a:pt x="350380" y="3643"/>
                </a:cubicBezTo>
                <a:lnTo>
                  <a:pt x="497313" y="150369"/>
                </a:lnTo>
                <a:cubicBezTo>
                  <a:pt x="499627" y="152680"/>
                  <a:pt x="500873" y="155791"/>
                  <a:pt x="500873" y="159079"/>
                </a:cubicBezTo>
                <a:lnTo>
                  <a:pt x="500873" y="546557"/>
                </a:lnTo>
                <a:cubicBezTo>
                  <a:pt x="500873" y="579705"/>
                  <a:pt x="473907" y="606722"/>
                  <a:pt x="440623" y="606722"/>
                </a:cubicBezTo>
                <a:lnTo>
                  <a:pt x="60250" y="606722"/>
                </a:lnTo>
                <a:cubicBezTo>
                  <a:pt x="27055" y="606722"/>
                  <a:pt x="0" y="579705"/>
                  <a:pt x="0" y="546557"/>
                </a:cubicBezTo>
                <a:lnTo>
                  <a:pt x="0" y="60165"/>
                </a:lnTo>
                <a:cubicBezTo>
                  <a:pt x="0" y="27017"/>
                  <a:pt x="27055" y="0"/>
                  <a:pt x="60250" y="0"/>
                </a:cubicBezTo>
                <a:close/>
              </a:path>
            </a:pathLst>
          </a:custGeom>
          <a:solidFill>
            <a:schemeClr val="accent1"/>
          </a:solidFill>
          <a:ln>
            <a:noFill/>
          </a:ln>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9" name="文本框 98"/>
          <p:cNvSpPr txBox="1"/>
          <p:nvPr/>
        </p:nvSpPr>
        <p:spPr bwMode="gray">
          <a:xfrm>
            <a:off x="4980439" y="3922290"/>
            <a:ext cx="1168910" cy="307777"/>
          </a:xfrm>
          <a:prstGeom prst="rect">
            <a:avLst/>
          </a:prstGeom>
          <a:noFill/>
        </p:spPr>
        <p:txBody>
          <a:bodyPr wrap="non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site B</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路由表</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13" name="直接箭头连接符 112"/>
          <p:cNvCxnSpPr/>
          <p:nvPr/>
        </p:nvCxnSpPr>
        <p:spPr bwMode="gray">
          <a:xfrm>
            <a:off x="6262383" y="3385025"/>
            <a:ext cx="959848" cy="0"/>
          </a:xfrm>
          <a:prstGeom prst="straightConnector1">
            <a:avLst/>
          </a:prstGeom>
          <a:ln w="31750">
            <a:solidFill>
              <a:srgbClr val="FCC800"/>
            </a:solidFill>
            <a:tailEnd type="triangle"/>
          </a:ln>
        </p:spPr>
        <p:style>
          <a:lnRef idx="1">
            <a:schemeClr val="accent1"/>
          </a:lnRef>
          <a:fillRef idx="0">
            <a:schemeClr val="accent1"/>
          </a:fillRef>
          <a:effectRef idx="0">
            <a:schemeClr val="accent1"/>
          </a:effectRef>
          <a:fontRef idx="minor">
            <a:schemeClr val="tx1"/>
          </a:fontRef>
        </p:style>
      </p:cxnSp>
      <p:sp>
        <p:nvSpPr>
          <p:cNvPr id="114" name="文本框 113"/>
          <p:cNvSpPr txBox="1"/>
          <p:nvPr/>
        </p:nvSpPr>
        <p:spPr bwMode="gray">
          <a:xfrm>
            <a:off x="7207969" y="3237208"/>
            <a:ext cx="1970411" cy="307777"/>
          </a:xfrm>
          <a:prstGeom prst="rect">
            <a:avLst/>
          </a:prstGeom>
          <a:noFill/>
        </p:spPr>
        <p:txBody>
          <a:bodyPr wrap="non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VRF</a:t>
            </a:r>
            <a:r>
              <a:rPr lang="zh-CN" altLang="en-US" sz="1400" b="1" dirty="0" smtClean="0">
                <a:latin typeface="Huawei Sans" panose="020C0503030203020204" pitchFamily="34" charset="0"/>
                <a:ea typeface="方正兰亭黑简体" panose="02000000000000000000" pitchFamily="2" charset="-122"/>
                <a:sym typeface="Huawei Sans" panose="020C0503030203020204" pitchFamily="34" charset="0"/>
              </a:rPr>
              <a:t>负责</a:t>
            </a: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400" b="1" dirty="0" smtClean="0">
                <a:latin typeface="Huawei Sans" panose="020C0503030203020204" pitchFamily="34" charset="0"/>
                <a:ea typeface="方正兰亭黑简体" panose="02000000000000000000" pitchFamily="2" charset="-122"/>
                <a:sym typeface="Huawei Sans" panose="020C0503030203020204" pitchFamily="34" charset="0"/>
              </a:rPr>
              <a:t>用户管理</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6" name="Can 9"/>
          <p:cNvSpPr/>
          <p:nvPr/>
        </p:nvSpPr>
        <p:spPr bwMode="gray">
          <a:xfrm rot="5400000">
            <a:off x="8137383" y="2580612"/>
            <a:ext cx="253196" cy="3891230"/>
          </a:xfrm>
          <a:prstGeom prst="can">
            <a:avLst>
              <a:gd name="adj" fmla="val 40000"/>
            </a:avLst>
          </a:prstGeom>
          <a:noFill/>
          <a:ln w="12700">
            <a:solidFill>
              <a:srgbClr val="30B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文本框 53"/>
          <p:cNvSpPr txBox="1"/>
          <p:nvPr/>
        </p:nvSpPr>
        <p:spPr bwMode="gray">
          <a:xfrm>
            <a:off x="7180992" y="4380582"/>
            <a:ext cx="2165978" cy="307777"/>
          </a:xfrm>
          <a:prstGeom prst="rect">
            <a:avLst/>
          </a:prstGeom>
          <a:noFill/>
        </p:spPr>
        <p:txBody>
          <a:bodyPr wrap="non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LDP</a:t>
            </a:r>
            <a:r>
              <a:rPr lang="zh-CN" altLang="en-US" sz="1400" b="1" dirty="0" smtClean="0">
                <a:latin typeface="Huawei Sans" panose="020C0503030203020204" pitchFamily="34" charset="0"/>
                <a:ea typeface="方正兰亭黑简体" panose="02000000000000000000" pitchFamily="2" charset="-122"/>
                <a:sym typeface="Huawei Sans" panose="020C0503030203020204" pitchFamily="34" charset="0"/>
              </a:rPr>
              <a:t>负责</a:t>
            </a: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PE</a:t>
            </a:r>
            <a:r>
              <a:rPr lang="zh-CN" altLang="en-US" sz="1400" b="1" dirty="0" smtClean="0">
                <a:latin typeface="Huawei Sans" panose="020C0503030203020204" pitchFamily="34" charset="0"/>
                <a:ea typeface="方正兰亭黑简体" panose="02000000000000000000" pitchFamily="2" charset="-122"/>
                <a:sym typeface="Huawei Sans" panose="020C0503030203020204" pitchFamily="34" charset="0"/>
              </a:rPr>
              <a:t>之间隧道建立</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文本框 3"/>
          <p:cNvSpPr txBox="1"/>
          <p:nvPr/>
        </p:nvSpPr>
        <p:spPr bwMode="gray">
          <a:xfrm>
            <a:off x="3823685" y="4481494"/>
            <a:ext cx="902811" cy="954107"/>
          </a:xfrm>
          <a:prstGeom prst="rect">
            <a:avLst/>
          </a:prstGeom>
          <a:noFill/>
        </p:spPr>
        <p:txBody>
          <a:bodyPr wrap="none" rtlCol="0">
            <a:spAutoFit/>
          </a:bodyPr>
          <a:lstStyle/>
          <a:p>
            <a:pPr algn="ctr"/>
            <a:r>
              <a:rPr lang="zh-CN" altLang="en-US" sz="1400" dirty="0" smtClean="0"/>
              <a:t>静态路由</a:t>
            </a:r>
            <a:endParaRPr lang="en-US" altLang="zh-CN" sz="1400" dirty="0" smtClean="0"/>
          </a:p>
          <a:p>
            <a:pPr algn="ctr"/>
            <a:r>
              <a:rPr lang="en-US" altLang="zh-CN" sz="1400" dirty="0" smtClean="0"/>
              <a:t>OSPF</a:t>
            </a:r>
          </a:p>
          <a:p>
            <a:pPr algn="ctr"/>
            <a:r>
              <a:rPr lang="en-US" altLang="zh-CN" sz="1400" dirty="0" smtClean="0"/>
              <a:t>IS-IS</a:t>
            </a:r>
          </a:p>
          <a:p>
            <a:pPr algn="ctr"/>
            <a:r>
              <a:rPr lang="en-US" altLang="zh-CN" sz="1400" dirty="0" smtClean="0"/>
              <a:t>BGP</a:t>
            </a:r>
            <a:endParaRPr lang="zh-CN" altLang="en-US" sz="1400" dirty="0"/>
          </a:p>
        </p:txBody>
      </p:sp>
    </p:spTree>
    <p:extLst>
      <p:ext uri="{BB962C8B-B14F-4D97-AF65-F5344CB8AC3E}">
        <p14:creationId xmlns:p14="http://schemas.microsoft.com/office/powerpoint/2010/main" val="383742573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smtClean="0">
                <a:sym typeface="Huawei Sans" panose="020C0503030203020204" pitchFamily="34" charset="0"/>
              </a:rPr>
              <a:t>为什么要选择</a:t>
            </a:r>
            <a:r>
              <a:rPr lang="en-US" altLang="zh-CN" smtClean="0">
                <a:sym typeface="Huawei Sans" panose="020C0503030203020204" pitchFamily="34" charset="0"/>
              </a:rPr>
              <a:t>MPLS VPN</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bwMode="gray"/>
        <p:txBody>
          <a:bodyPr/>
          <a:lstStyle/>
          <a:p>
            <a:r>
              <a:rPr lang="zh-CN" altLang="en-US" sz="1800" dirty="0" smtClean="0">
                <a:sym typeface="Huawei Sans" panose="020C0503030203020204" pitchFamily="34" charset="0"/>
              </a:rPr>
              <a:t>对</a:t>
            </a:r>
            <a:r>
              <a:rPr lang="en-US" altLang="zh-CN" sz="1800" dirty="0" smtClean="0">
                <a:sym typeface="Huawei Sans" panose="020C0503030203020204" pitchFamily="34" charset="0"/>
              </a:rPr>
              <a:t>VPN</a:t>
            </a:r>
            <a:r>
              <a:rPr lang="zh-CN" altLang="en-US" sz="1800" dirty="0" smtClean="0">
                <a:sym typeface="Huawei Sans" panose="020C0503030203020204" pitchFamily="34" charset="0"/>
              </a:rPr>
              <a:t>客户而言：</a:t>
            </a:r>
            <a:endParaRPr lang="en-US" altLang="zh-CN" sz="1800" dirty="0" smtClean="0">
              <a:sym typeface="Huawei Sans" panose="020C0503030203020204" pitchFamily="34" charset="0"/>
            </a:endParaRPr>
          </a:p>
          <a:p>
            <a:pPr lvl="1"/>
            <a:r>
              <a:rPr lang="zh-CN" altLang="en-US" sz="1600" dirty="0" smtClean="0">
                <a:sym typeface="Huawei Sans" panose="020C0503030203020204" pitchFamily="34" charset="0"/>
              </a:rPr>
              <a:t>不“感知” </a:t>
            </a:r>
            <a:r>
              <a:rPr lang="en-US" altLang="zh-CN" sz="1600" dirty="0" smtClean="0">
                <a:sym typeface="Huawei Sans" panose="020C0503030203020204" pitchFamily="34" charset="0"/>
              </a:rPr>
              <a:t>VPN</a:t>
            </a:r>
            <a:r>
              <a:rPr lang="zh-CN" altLang="en-US" sz="1600" dirty="0" smtClean="0">
                <a:sym typeface="Huawei Sans" panose="020C0503030203020204" pitchFamily="34" charset="0"/>
              </a:rPr>
              <a:t>的存在，不需要部署和维护</a:t>
            </a:r>
            <a:r>
              <a:rPr lang="en-US" altLang="zh-CN" sz="1600" dirty="0" smtClean="0">
                <a:sym typeface="Huawei Sans" panose="020C0503030203020204" pitchFamily="34" charset="0"/>
              </a:rPr>
              <a:t>VPN</a:t>
            </a:r>
            <a:r>
              <a:rPr lang="zh-CN" altLang="en-US" sz="1600" dirty="0" smtClean="0">
                <a:sym typeface="Huawei Sans" panose="020C0503030203020204" pitchFamily="34" charset="0"/>
              </a:rPr>
              <a:t>，降低企业运维难度和成本。</a:t>
            </a:r>
            <a:endParaRPr lang="en-US" altLang="zh-CN" sz="1600" dirty="0" smtClean="0">
              <a:sym typeface="Huawei Sans" panose="020C0503030203020204" pitchFamily="34" charset="0"/>
            </a:endParaRPr>
          </a:p>
          <a:p>
            <a:pPr lvl="1"/>
            <a:r>
              <a:rPr lang="zh-CN" altLang="en-US" sz="1600" dirty="0" smtClean="0">
                <a:sym typeface="Huawei Sans" panose="020C0503030203020204" pitchFamily="34" charset="0"/>
              </a:rPr>
              <a:t>一般部署在运营商的</a:t>
            </a:r>
            <a:r>
              <a:rPr lang="en-US" altLang="zh-CN" sz="1600" dirty="0" smtClean="0">
                <a:sym typeface="Huawei Sans" panose="020C0503030203020204" pitchFamily="34" charset="0"/>
              </a:rPr>
              <a:t>MPLS</a:t>
            </a:r>
            <a:r>
              <a:rPr lang="zh-CN" altLang="en-US" sz="1600" dirty="0" smtClean="0">
                <a:sym typeface="Huawei Sans" panose="020C0503030203020204" pitchFamily="34" charset="0"/>
              </a:rPr>
              <a:t> </a:t>
            </a:r>
            <a:r>
              <a:rPr lang="en-US" altLang="zh-CN" sz="1600" dirty="0" smtClean="0">
                <a:sym typeface="Huawei Sans" panose="020C0503030203020204" pitchFamily="34" charset="0"/>
              </a:rPr>
              <a:t>VPN</a:t>
            </a:r>
            <a:r>
              <a:rPr lang="zh-CN" altLang="en-US" sz="1600" dirty="0" smtClean="0">
                <a:sym typeface="Huawei Sans" panose="020C0503030203020204" pitchFamily="34" charset="0"/>
              </a:rPr>
              <a:t>专网上，有一定的安全性保障。</a:t>
            </a:r>
            <a:endParaRPr lang="en-US" altLang="zh-CN" sz="1600" dirty="0" smtClean="0">
              <a:sym typeface="Huawei Sans" panose="020C0503030203020204" pitchFamily="34" charset="0"/>
            </a:endParaRPr>
          </a:p>
          <a:p>
            <a:r>
              <a:rPr lang="zh-CN" altLang="en-US" sz="1800" dirty="0" smtClean="0">
                <a:sym typeface="Huawei Sans" panose="020C0503030203020204" pitchFamily="34" charset="0"/>
              </a:rPr>
              <a:t>对于运营商而言：</a:t>
            </a:r>
            <a:endParaRPr lang="en-US" altLang="zh-CN" sz="1800" dirty="0" smtClean="0">
              <a:sym typeface="Huawei Sans" panose="020C0503030203020204" pitchFamily="34" charset="0"/>
            </a:endParaRPr>
          </a:p>
          <a:p>
            <a:pPr lvl="1"/>
            <a:r>
              <a:rPr lang="en-US" altLang="zh-CN" sz="1600" dirty="0" smtClean="0">
                <a:sym typeface="Huawei Sans" panose="020C0503030203020204" pitchFamily="34" charset="0"/>
              </a:rPr>
              <a:t>MPLS</a:t>
            </a:r>
            <a:r>
              <a:rPr lang="zh-CN" altLang="en-US" sz="1600" dirty="0" smtClean="0">
                <a:sym typeface="Huawei Sans" panose="020C0503030203020204" pitchFamily="34" charset="0"/>
              </a:rPr>
              <a:t>在无连接的</a:t>
            </a:r>
            <a:r>
              <a:rPr lang="en-US" altLang="zh-CN" sz="1600" dirty="0" smtClean="0">
                <a:sym typeface="Huawei Sans" panose="020C0503030203020204" pitchFamily="34" charset="0"/>
              </a:rPr>
              <a:t>IP</a:t>
            </a:r>
            <a:r>
              <a:rPr lang="zh-CN" altLang="en-US" sz="1600" dirty="0" smtClean="0">
                <a:sym typeface="Huawei Sans" panose="020C0503030203020204" pitchFamily="34" charset="0"/>
              </a:rPr>
              <a:t>网络中增加了面向连接的控制平面，为</a:t>
            </a:r>
            <a:r>
              <a:rPr lang="en-US" altLang="zh-CN" sz="1600" dirty="0" smtClean="0">
                <a:sym typeface="Huawei Sans" panose="020C0503030203020204" pitchFamily="34" charset="0"/>
              </a:rPr>
              <a:t>IP</a:t>
            </a:r>
            <a:r>
              <a:rPr lang="zh-CN" altLang="en-US" sz="1600" dirty="0" smtClean="0">
                <a:sym typeface="Huawei Sans" panose="020C0503030203020204" pitchFamily="34" charset="0"/>
              </a:rPr>
              <a:t>网络增添了管理和运营的手段。</a:t>
            </a:r>
            <a:endParaRPr lang="en-US" altLang="zh-CN" sz="1600" dirty="0" smtClean="0">
              <a:sym typeface="Huawei Sans" panose="020C0503030203020204" pitchFamily="34" charset="0"/>
            </a:endParaRPr>
          </a:p>
          <a:p>
            <a:pPr lvl="1"/>
            <a:r>
              <a:rPr lang="zh-CN" altLang="en-US" sz="1600" dirty="0" smtClean="0">
                <a:sym typeface="Huawei Sans" panose="020C0503030203020204" pitchFamily="34" charset="0"/>
              </a:rPr>
              <a:t>支持地址空间重叠。</a:t>
            </a:r>
            <a:endParaRPr lang="en-US" altLang="zh-CN" sz="1600" dirty="0" smtClean="0">
              <a:sym typeface="Huawei Sans" panose="020C0503030203020204" pitchFamily="34" charset="0"/>
            </a:endParaRPr>
          </a:p>
          <a:p>
            <a:pPr lvl="1"/>
            <a:r>
              <a:rPr lang="zh-CN" altLang="en-US" sz="1600" dirty="0" smtClean="0">
                <a:sym typeface="Huawei Sans" panose="020C0503030203020204" pitchFamily="34" charset="0"/>
              </a:rPr>
              <a:t>组网方式灵活、可扩展性好。</a:t>
            </a:r>
            <a:endParaRPr lang="en-US" altLang="zh-CN" sz="1600" dirty="0" smtClean="0">
              <a:sym typeface="Huawei Sans" panose="020C0503030203020204" pitchFamily="34" charset="0"/>
            </a:endParaRPr>
          </a:p>
          <a:p>
            <a:pPr lvl="1"/>
            <a:r>
              <a:rPr lang="zh-CN" altLang="en-US" sz="1600" dirty="0" smtClean="0">
                <a:sym typeface="Huawei Sans" panose="020C0503030203020204" pitchFamily="34" charset="0"/>
              </a:rPr>
              <a:t>能够方便地支持</a:t>
            </a:r>
            <a:r>
              <a:rPr lang="en-US" altLang="zh-CN" sz="1600" dirty="0" smtClean="0">
                <a:sym typeface="Huawei Sans" panose="020C0503030203020204" pitchFamily="34" charset="0"/>
              </a:rPr>
              <a:t>MPLS TE</a:t>
            </a:r>
            <a:r>
              <a:rPr lang="zh-CN" altLang="en-US" sz="1600" dirty="0" smtClean="0">
                <a:sym typeface="Huawei Sans" panose="020C0503030203020204" pitchFamily="34" charset="0"/>
              </a:rPr>
              <a:t>合理调控现有网络资源，最大限度的节省运营商成本。</a:t>
            </a:r>
            <a:endParaRPr lang="en-US" altLang="zh-CN" sz="1600" dirty="0" smtClean="0">
              <a:sym typeface="Huawei Sans" panose="020C0503030203020204" pitchFamily="34" charset="0"/>
            </a:endParaRPr>
          </a:p>
          <a:p>
            <a:pPr lvl="1"/>
            <a:endParaRPr lang="en-US" altLang="zh-CN" sz="1600" dirty="0">
              <a:sym typeface="Huawei Sans" panose="020C0503030203020204" pitchFamily="34" charset="0"/>
            </a:endParaRPr>
          </a:p>
        </p:txBody>
      </p:sp>
    </p:spTree>
    <p:extLst>
      <p:ext uri="{BB962C8B-B14F-4D97-AF65-F5344CB8AC3E}">
        <p14:creationId xmlns:p14="http://schemas.microsoft.com/office/powerpoint/2010/main" val="111253526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smtClean="0"/>
              <a:t>MPLS VPN</a:t>
            </a:r>
            <a:r>
              <a:rPr lang="zh-CN" altLang="en-US" smtClean="0"/>
              <a:t>常见组网</a:t>
            </a:r>
            <a:endParaRPr lang="zh-CN" altLang="en-US" dirty="0"/>
          </a:p>
        </p:txBody>
      </p:sp>
      <p:sp>
        <p:nvSpPr>
          <p:cNvPr id="3" name="文本占位符 2"/>
          <p:cNvSpPr>
            <a:spLocks noGrp="1"/>
          </p:cNvSpPr>
          <p:nvPr>
            <p:ph type="body" sz="quarter" idx="10"/>
          </p:nvPr>
        </p:nvSpPr>
        <p:spPr bwMode="gray"/>
        <p:txBody>
          <a:bodyPr/>
          <a:lstStyle/>
          <a:p>
            <a:r>
              <a:rPr lang="zh-CN" altLang="en-US" sz="1800" smtClean="0"/>
              <a:t>根据</a:t>
            </a:r>
            <a:r>
              <a:rPr lang="en-US" altLang="zh-CN" sz="1800" smtClean="0"/>
              <a:t>VPN</a:t>
            </a:r>
            <a:r>
              <a:rPr lang="zh-CN" altLang="en-US" sz="1800" smtClean="0"/>
              <a:t>用户的需求不同，可采用以下几种常见的组网方案：</a:t>
            </a:r>
            <a:endParaRPr lang="en-US" altLang="zh-CN" sz="1800" smtClean="0"/>
          </a:p>
          <a:p>
            <a:pPr lvl="1"/>
            <a:r>
              <a:rPr lang="en-US" altLang="zh-CN" sz="1600" smtClean="0"/>
              <a:t>Intranet</a:t>
            </a:r>
            <a:r>
              <a:rPr lang="zh-CN" altLang="en-US" sz="1600" smtClean="0"/>
              <a:t>：一个</a:t>
            </a:r>
            <a:r>
              <a:rPr lang="en-US" altLang="zh-CN" sz="1600" smtClean="0"/>
              <a:t>VPN</a:t>
            </a:r>
            <a:r>
              <a:rPr lang="zh-CN" altLang="en-US" sz="1600" smtClean="0"/>
              <a:t>中的所有用户形成闭合用户群，同一</a:t>
            </a:r>
            <a:r>
              <a:rPr lang="en-US" altLang="zh-CN" sz="1600" smtClean="0"/>
              <a:t>VPN</a:t>
            </a:r>
            <a:r>
              <a:rPr lang="zh-CN" altLang="en-US" sz="1600" smtClean="0"/>
              <a:t>站点之间可以互访，不同</a:t>
            </a:r>
            <a:r>
              <a:rPr lang="en-US" altLang="zh-CN" sz="1600" smtClean="0"/>
              <a:t>VPN</a:t>
            </a:r>
            <a:r>
              <a:rPr lang="zh-CN" altLang="en-US" sz="1600" smtClean="0"/>
              <a:t>站点间不能互访。</a:t>
            </a:r>
            <a:endParaRPr lang="en-US" altLang="zh-CN" sz="1600" smtClean="0"/>
          </a:p>
          <a:p>
            <a:pPr lvl="1"/>
            <a:r>
              <a:rPr lang="en-US" altLang="zh-CN" sz="1600" smtClean="0"/>
              <a:t>Extranet</a:t>
            </a:r>
            <a:r>
              <a:rPr lang="zh-CN" altLang="en-US" sz="1600" smtClean="0"/>
              <a:t>：适用于</a:t>
            </a:r>
            <a:r>
              <a:rPr lang="zh-CN" altLang="zh-CN" sz="1600" smtClean="0"/>
              <a:t>一个</a:t>
            </a:r>
            <a:r>
              <a:rPr lang="en-US" altLang="zh-CN" sz="1600" smtClean="0"/>
              <a:t>VPN</a:t>
            </a:r>
            <a:r>
              <a:rPr lang="zh-CN" altLang="zh-CN" sz="1600" smtClean="0"/>
              <a:t>用户希望提供部分本</a:t>
            </a:r>
            <a:r>
              <a:rPr lang="en-US" altLang="zh-CN" sz="1600" smtClean="0"/>
              <a:t>VPN</a:t>
            </a:r>
            <a:r>
              <a:rPr lang="zh-CN" altLang="zh-CN" sz="1600" smtClean="0"/>
              <a:t>的站点资源给其他</a:t>
            </a:r>
            <a:r>
              <a:rPr lang="en-US" altLang="zh-CN" sz="1600" smtClean="0"/>
              <a:t>VPN</a:t>
            </a:r>
            <a:r>
              <a:rPr lang="zh-CN" altLang="zh-CN" sz="1600" smtClean="0"/>
              <a:t>的用户访问</a:t>
            </a:r>
            <a:r>
              <a:rPr lang="zh-CN" altLang="en-US" sz="1600" smtClean="0"/>
              <a:t>的场景。</a:t>
            </a:r>
            <a:endParaRPr lang="en-US" altLang="zh-CN" sz="1600" smtClean="0"/>
          </a:p>
          <a:p>
            <a:pPr lvl="1"/>
            <a:r>
              <a:rPr lang="en-US" altLang="zh-CN" sz="1600" smtClean="0"/>
              <a:t>Hub&amp;Spoke</a:t>
            </a:r>
            <a:r>
              <a:rPr lang="zh-CN" altLang="en-US" sz="1600" smtClean="0"/>
              <a:t>：如果希望在</a:t>
            </a:r>
            <a:r>
              <a:rPr lang="en-US" altLang="zh-CN" sz="1600" smtClean="0"/>
              <a:t>VPN</a:t>
            </a:r>
            <a:r>
              <a:rPr lang="zh-CN" altLang="en-US" sz="1600" smtClean="0"/>
              <a:t>中设置中心访问控制设备，其它用户的互访都通过中心访问控制设备进行，可采用</a:t>
            </a:r>
            <a:r>
              <a:rPr lang="en-US" altLang="zh-CN" sz="1600" smtClean="0"/>
              <a:t>Hub&amp;Spoke</a:t>
            </a:r>
            <a:r>
              <a:rPr lang="zh-CN" altLang="en-US" sz="1600" smtClean="0"/>
              <a:t>组网方案。</a:t>
            </a:r>
            <a:endParaRPr lang="en-US" altLang="zh-CN" sz="1600" smtClean="0"/>
          </a:p>
          <a:p>
            <a:endParaRPr lang="zh-CN" altLang="en-US" sz="1800" dirty="0"/>
          </a:p>
        </p:txBody>
      </p:sp>
      <p:sp>
        <p:nvSpPr>
          <p:cNvPr id="4" name="圆角矩形 3"/>
          <p:cNvSpPr/>
          <p:nvPr/>
        </p:nvSpPr>
        <p:spPr bwMode="gray">
          <a:xfrm>
            <a:off x="4174311" y="4076681"/>
            <a:ext cx="4000659" cy="1825378"/>
          </a:xfrm>
          <a:prstGeom prst="roundRect">
            <a:avLst/>
          </a:prstGeom>
          <a:solidFill>
            <a:srgbClr val="BEE9EE"/>
          </a:solidFill>
          <a:ln w="28575" cap="flat" cmpd="sng" algn="ctr">
            <a:noFill/>
            <a:prstDash val="sys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文本框 4"/>
          <p:cNvSpPr txBox="1"/>
          <p:nvPr/>
        </p:nvSpPr>
        <p:spPr bwMode="gray">
          <a:xfrm>
            <a:off x="5379390" y="5607391"/>
            <a:ext cx="1590500" cy="307777"/>
          </a:xfrm>
          <a:prstGeom prst="rect">
            <a:avLst/>
          </a:prstGeom>
          <a:noFill/>
        </p:spPr>
        <p:txBody>
          <a:bodyPr wrap="none" rtlCol="0">
            <a:spAutoFit/>
          </a:bodyPr>
          <a:lstStyle/>
          <a:p>
            <a:pPr algn="ctr"/>
            <a:r>
              <a:rPr lang="en-US" altLang="zh-CN"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MPLS VPN</a:t>
            </a:r>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骨干网</a:t>
            </a:r>
            <a:endPar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6" name="组合 5"/>
          <p:cNvGrpSpPr/>
          <p:nvPr/>
        </p:nvGrpSpPr>
        <p:grpSpPr bwMode="gray">
          <a:xfrm>
            <a:off x="3917460" y="4627407"/>
            <a:ext cx="4513567" cy="723926"/>
            <a:chOff x="4088571" y="4424992"/>
            <a:chExt cx="4513567" cy="723926"/>
          </a:xfrm>
        </p:grpSpPr>
        <p:cxnSp>
          <p:nvCxnSpPr>
            <p:cNvPr id="7" name="直接连接符 6"/>
            <p:cNvCxnSpPr>
              <a:stCxn id="11" idx="3"/>
              <a:endCxn id="13" idx="1"/>
            </p:cNvCxnSpPr>
            <p:nvPr/>
          </p:nvCxnSpPr>
          <p:spPr bwMode="gray">
            <a:xfrm>
              <a:off x="4628571" y="4645901"/>
              <a:ext cx="343356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8" name="组合 7"/>
            <p:cNvGrpSpPr/>
            <p:nvPr/>
          </p:nvGrpSpPr>
          <p:grpSpPr bwMode="gray">
            <a:xfrm>
              <a:off x="6067674" y="4424992"/>
              <a:ext cx="540000" cy="723926"/>
              <a:chOff x="5312873" y="4947622"/>
              <a:chExt cx="540000" cy="723926"/>
            </a:xfrm>
          </p:grpSpPr>
          <p:pic>
            <p:nvPicPr>
              <p:cNvPr id="15" name="Picture 12" descr="E:\2016.01\1.12 扁平化图标\蓝色\AR-蓝色最新-40.png"/>
              <p:cNvPicPr>
                <a:picLocks noChangeAspect="1" noChangeArrowheads="1"/>
              </p:cNvPicPr>
              <p:nvPr/>
            </p:nvPicPr>
            <p:blipFill>
              <a:blip r:embed="rId3" cstate="print"/>
              <a:srcRect/>
              <a:stretch>
                <a:fillRect/>
              </a:stretch>
            </p:blipFill>
            <p:spPr bwMode="gray">
              <a:xfrm>
                <a:off x="5312873" y="4947622"/>
                <a:ext cx="540000" cy="441818"/>
              </a:xfrm>
              <a:prstGeom prst="rect">
                <a:avLst/>
              </a:prstGeom>
              <a:noFill/>
            </p:spPr>
          </p:pic>
          <p:sp>
            <p:nvSpPr>
              <p:cNvPr id="16" name="文本框 15"/>
              <p:cNvSpPr txBox="1"/>
              <p:nvPr/>
            </p:nvSpPr>
            <p:spPr bwMode="gray">
              <a:xfrm>
                <a:off x="5436839" y="5363771"/>
                <a:ext cx="292068"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9" name="组合 8"/>
            <p:cNvGrpSpPr/>
            <p:nvPr/>
          </p:nvGrpSpPr>
          <p:grpSpPr bwMode="gray">
            <a:xfrm>
              <a:off x="8062138" y="4424992"/>
              <a:ext cx="540000" cy="714804"/>
              <a:chOff x="8062138" y="4947622"/>
              <a:chExt cx="540000" cy="714804"/>
            </a:xfrm>
          </p:grpSpPr>
          <p:pic>
            <p:nvPicPr>
              <p:cNvPr id="13" name="Picture 12" descr="E:\2016.01\1.12 扁平化图标\蓝色\AR-蓝色最新-40.png"/>
              <p:cNvPicPr>
                <a:picLocks noChangeAspect="1" noChangeArrowheads="1"/>
              </p:cNvPicPr>
              <p:nvPr/>
            </p:nvPicPr>
            <p:blipFill>
              <a:blip r:embed="rId3" cstate="print"/>
              <a:srcRect/>
              <a:stretch>
                <a:fillRect/>
              </a:stretch>
            </p:blipFill>
            <p:spPr bwMode="gray">
              <a:xfrm>
                <a:off x="8062138" y="4947622"/>
                <a:ext cx="540000" cy="441818"/>
              </a:xfrm>
              <a:prstGeom prst="rect">
                <a:avLst/>
              </a:prstGeom>
              <a:noFill/>
            </p:spPr>
          </p:pic>
          <p:sp>
            <p:nvSpPr>
              <p:cNvPr id="14" name="文本框 13"/>
              <p:cNvSpPr txBox="1"/>
              <p:nvPr/>
            </p:nvSpPr>
            <p:spPr bwMode="gray">
              <a:xfrm>
                <a:off x="8084306" y="5354649"/>
                <a:ext cx="497252"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PE2</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0" name="组合 9"/>
            <p:cNvGrpSpPr/>
            <p:nvPr/>
          </p:nvGrpSpPr>
          <p:grpSpPr bwMode="gray">
            <a:xfrm>
              <a:off x="4088571" y="4424992"/>
              <a:ext cx="540000" cy="723926"/>
              <a:chOff x="4088571" y="4947622"/>
              <a:chExt cx="540000" cy="723926"/>
            </a:xfrm>
          </p:grpSpPr>
          <p:pic>
            <p:nvPicPr>
              <p:cNvPr id="11" name="Picture 12" descr="E:\2016.01\1.12 扁平化图标\蓝色\AR-蓝色最新-40.png"/>
              <p:cNvPicPr>
                <a:picLocks noChangeAspect="1" noChangeArrowheads="1"/>
              </p:cNvPicPr>
              <p:nvPr/>
            </p:nvPicPr>
            <p:blipFill>
              <a:blip r:embed="rId3" cstate="print"/>
              <a:srcRect/>
              <a:stretch>
                <a:fillRect/>
              </a:stretch>
            </p:blipFill>
            <p:spPr bwMode="gray">
              <a:xfrm>
                <a:off x="4088571" y="4947622"/>
                <a:ext cx="540000" cy="441818"/>
              </a:xfrm>
              <a:prstGeom prst="rect">
                <a:avLst/>
              </a:prstGeom>
              <a:noFill/>
            </p:spPr>
          </p:pic>
          <p:sp>
            <p:nvSpPr>
              <p:cNvPr id="12" name="文本框 11"/>
              <p:cNvSpPr txBox="1"/>
              <p:nvPr/>
            </p:nvSpPr>
            <p:spPr bwMode="gray">
              <a:xfrm>
                <a:off x="4109945" y="5363771"/>
                <a:ext cx="497252" cy="307777"/>
              </a:xfrm>
              <a:prstGeom prst="rect">
                <a:avLst/>
              </a:prstGeom>
              <a:noFill/>
            </p:spPr>
            <p:txBody>
              <a:bodyPr wrap="non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PE1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grpSp>
        <p:nvGrpSpPr>
          <p:cNvPr id="17" name="组合 16"/>
          <p:cNvGrpSpPr/>
          <p:nvPr/>
        </p:nvGrpSpPr>
        <p:grpSpPr bwMode="gray">
          <a:xfrm>
            <a:off x="2229431" y="4205323"/>
            <a:ext cx="550687" cy="712575"/>
            <a:chOff x="4073209" y="4947622"/>
            <a:chExt cx="550687" cy="712575"/>
          </a:xfrm>
        </p:grpSpPr>
        <p:pic>
          <p:nvPicPr>
            <p:cNvPr id="18" name="Picture 12" descr="E:\2016.01\1.12 扁平化图标\蓝色\AR-蓝色最新-40.png"/>
            <p:cNvPicPr>
              <a:picLocks noChangeAspect="1" noChangeArrowheads="1"/>
            </p:cNvPicPr>
            <p:nvPr/>
          </p:nvPicPr>
          <p:blipFill>
            <a:blip r:embed="rId3" cstate="print"/>
            <a:srcRect/>
            <a:stretch>
              <a:fillRect/>
            </a:stretch>
          </p:blipFill>
          <p:spPr bwMode="gray">
            <a:xfrm>
              <a:off x="4073209" y="4947622"/>
              <a:ext cx="540000" cy="441818"/>
            </a:xfrm>
            <a:prstGeom prst="rect">
              <a:avLst/>
            </a:prstGeom>
            <a:noFill/>
          </p:spPr>
        </p:pic>
        <p:sp>
          <p:nvSpPr>
            <p:cNvPr id="19" name="文本框 18"/>
            <p:cNvSpPr txBox="1"/>
            <p:nvPr/>
          </p:nvSpPr>
          <p:spPr bwMode="gray">
            <a:xfrm>
              <a:off x="4121835" y="5352420"/>
              <a:ext cx="50206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0" name="圆角矩形 19"/>
          <p:cNvSpPr/>
          <p:nvPr/>
        </p:nvSpPr>
        <p:spPr bwMode="gray">
          <a:xfrm>
            <a:off x="1023062" y="3957749"/>
            <a:ext cx="1873049" cy="994971"/>
          </a:xfrm>
          <a:prstGeom prst="roundRect">
            <a:avLst/>
          </a:prstGeom>
          <a:noFill/>
          <a:ln w="25400">
            <a:solidFill>
              <a:srgbClr val="8BC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1" name="组合 20"/>
          <p:cNvGrpSpPr/>
          <p:nvPr/>
        </p:nvGrpSpPr>
        <p:grpSpPr bwMode="gray">
          <a:xfrm>
            <a:off x="2217607" y="5286703"/>
            <a:ext cx="575533" cy="706640"/>
            <a:chOff x="4073209" y="4947622"/>
            <a:chExt cx="575533" cy="706640"/>
          </a:xfrm>
        </p:grpSpPr>
        <p:pic>
          <p:nvPicPr>
            <p:cNvPr id="22" name="Picture 12" descr="E:\2016.01\1.12 扁平化图标\蓝色\AR-蓝色最新-40.png"/>
            <p:cNvPicPr>
              <a:picLocks noChangeAspect="1" noChangeArrowheads="1"/>
            </p:cNvPicPr>
            <p:nvPr/>
          </p:nvPicPr>
          <p:blipFill>
            <a:blip r:embed="rId3" cstate="print"/>
            <a:srcRect/>
            <a:stretch>
              <a:fillRect/>
            </a:stretch>
          </p:blipFill>
          <p:spPr bwMode="gray">
            <a:xfrm>
              <a:off x="4073209" y="4947622"/>
              <a:ext cx="540000" cy="441818"/>
            </a:xfrm>
            <a:prstGeom prst="rect">
              <a:avLst/>
            </a:prstGeom>
            <a:noFill/>
          </p:spPr>
        </p:pic>
        <p:sp>
          <p:nvSpPr>
            <p:cNvPr id="23" name="文本框 22"/>
            <p:cNvSpPr txBox="1"/>
            <p:nvPr/>
          </p:nvSpPr>
          <p:spPr bwMode="gray">
            <a:xfrm>
              <a:off x="4146681" y="5346485"/>
              <a:ext cx="50206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CE2</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4" name="圆角矩形 23"/>
          <p:cNvSpPr/>
          <p:nvPr/>
        </p:nvSpPr>
        <p:spPr bwMode="gray">
          <a:xfrm>
            <a:off x="1023062" y="5039129"/>
            <a:ext cx="1873049" cy="994971"/>
          </a:xfrm>
          <a:prstGeom prst="roundRect">
            <a:avLst/>
          </a:prstGeom>
          <a:noFill/>
          <a:ln w="254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圆角矩形 24"/>
          <p:cNvSpPr/>
          <p:nvPr/>
        </p:nvSpPr>
        <p:spPr bwMode="gray">
          <a:xfrm flipH="1">
            <a:off x="9437013" y="3957749"/>
            <a:ext cx="1873049" cy="994971"/>
          </a:xfrm>
          <a:prstGeom prst="roundRect">
            <a:avLst/>
          </a:prstGeom>
          <a:noFill/>
          <a:ln w="25400">
            <a:solidFill>
              <a:srgbClr val="8BC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圆角矩形 25"/>
          <p:cNvSpPr/>
          <p:nvPr/>
        </p:nvSpPr>
        <p:spPr bwMode="gray">
          <a:xfrm flipH="1">
            <a:off x="9448837" y="5039129"/>
            <a:ext cx="1873049" cy="994971"/>
          </a:xfrm>
          <a:prstGeom prst="roundRect">
            <a:avLst/>
          </a:prstGeom>
          <a:noFill/>
          <a:ln w="254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7" name="直接连接符 26"/>
          <p:cNvCxnSpPr>
            <a:stCxn id="18" idx="3"/>
            <a:endCxn id="11" idx="1"/>
          </p:cNvCxnSpPr>
          <p:nvPr/>
        </p:nvCxnSpPr>
        <p:spPr bwMode="gray">
          <a:xfrm>
            <a:off x="2769431" y="4426232"/>
            <a:ext cx="1148029" cy="42208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a:stCxn id="22" idx="3"/>
            <a:endCxn id="11" idx="1"/>
          </p:cNvCxnSpPr>
          <p:nvPr/>
        </p:nvCxnSpPr>
        <p:spPr bwMode="gray">
          <a:xfrm flipV="1">
            <a:off x="2757607" y="4848316"/>
            <a:ext cx="1159853" cy="65929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a:stCxn id="13" idx="3"/>
          </p:cNvCxnSpPr>
          <p:nvPr/>
        </p:nvCxnSpPr>
        <p:spPr bwMode="gray">
          <a:xfrm flipV="1">
            <a:off x="8431027" y="4426232"/>
            <a:ext cx="1132666" cy="42208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a:stCxn id="13" idx="3"/>
          </p:cNvCxnSpPr>
          <p:nvPr/>
        </p:nvCxnSpPr>
        <p:spPr bwMode="gray">
          <a:xfrm>
            <a:off x="8431027" y="4848316"/>
            <a:ext cx="1144490" cy="65929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文本框 32"/>
          <p:cNvSpPr txBox="1"/>
          <p:nvPr/>
        </p:nvSpPr>
        <p:spPr bwMode="gray">
          <a:xfrm>
            <a:off x="995262" y="4601254"/>
            <a:ext cx="1124026" cy="350160"/>
          </a:xfrm>
          <a:prstGeom prst="rect">
            <a:avLst/>
          </a:prstGeom>
          <a:noFill/>
        </p:spPr>
        <p:txBody>
          <a:bodyPr wrap="none" rtlCol="0">
            <a:spAutoFit/>
          </a:bodyPr>
          <a:lstStyle/>
          <a:p>
            <a:pPr>
              <a:lnSpc>
                <a:spcPct val="130000"/>
              </a:lnSpc>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X</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A</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文本框 33"/>
          <p:cNvSpPr txBox="1"/>
          <p:nvPr/>
        </p:nvSpPr>
        <p:spPr bwMode="gray">
          <a:xfrm>
            <a:off x="995262" y="5720787"/>
            <a:ext cx="1112805" cy="350160"/>
          </a:xfrm>
          <a:prstGeom prst="rect">
            <a:avLst/>
          </a:prstGeom>
          <a:noFill/>
        </p:spPr>
        <p:txBody>
          <a:bodyPr wrap="none" rtlCol="0">
            <a:spAutoFit/>
          </a:bodyPr>
          <a:lstStyle/>
          <a:p>
            <a:pPr>
              <a:lnSpc>
                <a:spcPct val="130000"/>
              </a:lnSpc>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Y</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C</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文本框 34"/>
          <p:cNvSpPr txBox="1"/>
          <p:nvPr/>
        </p:nvSpPr>
        <p:spPr bwMode="gray">
          <a:xfrm>
            <a:off x="10189799" y="4580310"/>
            <a:ext cx="1114408" cy="350160"/>
          </a:xfrm>
          <a:prstGeom prst="rect">
            <a:avLst/>
          </a:prstGeom>
          <a:noFill/>
        </p:spPr>
        <p:txBody>
          <a:bodyPr wrap="none" rtlCol="0">
            <a:spAutoFit/>
          </a:bodyPr>
          <a:lstStyle/>
          <a:p>
            <a:pPr>
              <a:lnSpc>
                <a:spcPct val="130000"/>
              </a:lnSpc>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X</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B</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文本框 35"/>
          <p:cNvSpPr txBox="1"/>
          <p:nvPr/>
        </p:nvSpPr>
        <p:spPr bwMode="gray">
          <a:xfrm>
            <a:off x="10189799" y="5699843"/>
            <a:ext cx="1133644" cy="350160"/>
          </a:xfrm>
          <a:prstGeom prst="rect">
            <a:avLst/>
          </a:prstGeom>
          <a:noFill/>
        </p:spPr>
        <p:txBody>
          <a:bodyPr wrap="none" rtlCol="0">
            <a:spAutoFit/>
          </a:bodyPr>
          <a:lstStyle/>
          <a:p>
            <a:pPr>
              <a:lnSpc>
                <a:spcPct val="130000"/>
              </a:lnSpc>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Y</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39" name="组合 38"/>
          <p:cNvGrpSpPr/>
          <p:nvPr/>
        </p:nvGrpSpPr>
        <p:grpSpPr bwMode="gray">
          <a:xfrm>
            <a:off x="9563693" y="4205323"/>
            <a:ext cx="540000" cy="723926"/>
            <a:chOff x="4073209" y="4947622"/>
            <a:chExt cx="540000" cy="723926"/>
          </a:xfrm>
        </p:grpSpPr>
        <p:pic>
          <p:nvPicPr>
            <p:cNvPr id="40" name="Picture 12" descr="E:\2016.01\1.12 扁平化图标\蓝色\AR-蓝色最新-40.png"/>
            <p:cNvPicPr>
              <a:picLocks noChangeAspect="1" noChangeArrowheads="1"/>
            </p:cNvPicPr>
            <p:nvPr/>
          </p:nvPicPr>
          <p:blipFill>
            <a:blip r:embed="rId3" cstate="print"/>
            <a:srcRect/>
            <a:stretch>
              <a:fillRect/>
            </a:stretch>
          </p:blipFill>
          <p:spPr bwMode="gray">
            <a:xfrm>
              <a:off x="4073209" y="4947622"/>
              <a:ext cx="540000" cy="441818"/>
            </a:xfrm>
            <a:prstGeom prst="rect">
              <a:avLst/>
            </a:prstGeom>
            <a:noFill/>
          </p:spPr>
        </p:pic>
        <p:sp>
          <p:nvSpPr>
            <p:cNvPr id="41" name="文本框 40"/>
            <p:cNvSpPr txBox="1"/>
            <p:nvPr/>
          </p:nvSpPr>
          <p:spPr bwMode="gray">
            <a:xfrm>
              <a:off x="4086262" y="5363771"/>
              <a:ext cx="50206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CE3</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42" name="组合 41"/>
          <p:cNvGrpSpPr/>
          <p:nvPr/>
        </p:nvGrpSpPr>
        <p:grpSpPr bwMode="gray">
          <a:xfrm>
            <a:off x="9575517" y="5286703"/>
            <a:ext cx="552270" cy="723926"/>
            <a:chOff x="4060939" y="4947622"/>
            <a:chExt cx="552270" cy="723926"/>
          </a:xfrm>
        </p:grpSpPr>
        <p:pic>
          <p:nvPicPr>
            <p:cNvPr id="43" name="Picture 12" descr="E:\2016.01\1.12 扁平化图标\蓝色\AR-蓝色最新-40.png"/>
            <p:cNvPicPr>
              <a:picLocks noChangeAspect="1" noChangeArrowheads="1"/>
            </p:cNvPicPr>
            <p:nvPr/>
          </p:nvPicPr>
          <p:blipFill>
            <a:blip r:embed="rId3" cstate="print"/>
            <a:srcRect/>
            <a:stretch>
              <a:fillRect/>
            </a:stretch>
          </p:blipFill>
          <p:spPr bwMode="gray">
            <a:xfrm>
              <a:off x="4073209" y="4947622"/>
              <a:ext cx="540000" cy="441818"/>
            </a:xfrm>
            <a:prstGeom prst="rect">
              <a:avLst/>
            </a:prstGeom>
            <a:noFill/>
          </p:spPr>
        </p:pic>
        <p:sp>
          <p:nvSpPr>
            <p:cNvPr id="44" name="文本框 43"/>
            <p:cNvSpPr txBox="1"/>
            <p:nvPr/>
          </p:nvSpPr>
          <p:spPr bwMode="gray">
            <a:xfrm>
              <a:off x="4060939" y="5363771"/>
              <a:ext cx="50206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CE4</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52" name="任意多边形 51"/>
          <p:cNvSpPr/>
          <p:nvPr/>
        </p:nvSpPr>
        <p:spPr bwMode="gray">
          <a:xfrm>
            <a:off x="2780118" y="3728983"/>
            <a:ext cx="6783576" cy="633046"/>
          </a:xfrm>
          <a:custGeom>
            <a:avLst/>
            <a:gdLst>
              <a:gd name="connsiteX0" fmla="*/ 0 w 7338646"/>
              <a:gd name="connsiteY0" fmla="*/ 633046 h 633046"/>
              <a:gd name="connsiteX1" fmla="*/ 3716216 w 7338646"/>
              <a:gd name="connsiteY1" fmla="*/ 0 h 633046"/>
              <a:gd name="connsiteX2" fmla="*/ 7338646 w 7338646"/>
              <a:gd name="connsiteY2" fmla="*/ 633046 h 633046"/>
            </a:gdLst>
            <a:ahLst/>
            <a:cxnLst>
              <a:cxn ang="0">
                <a:pos x="connsiteX0" y="connsiteY0"/>
              </a:cxn>
              <a:cxn ang="0">
                <a:pos x="connsiteX1" y="connsiteY1"/>
              </a:cxn>
              <a:cxn ang="0">
                <a:pos x="connsiteX2" y="connsiteY2"/>
              </a:cxn>
            </a:cxnLst>
            <a:rect l="l" t="t" r="r" b="b"/>
            <a:pathLst>
              <a:path w="7338646" h="633046">
                <a:moveTo>
                  <a:pt x="0" y="633046"/>
                </a:moveTo>
                <a:cubicBezTo>
                  <a:pt x="1246554" y="316523"/>
                  <a:pt x="2493108" y="0"/>
                  <a:pt x="3716216" y="0"/>
                </a:cubicBezTo>
                <a:cubicBezTo>
                  <a:pt x="4939324" y="0"/>
                  <a:pt x="6138985" y="316523"/>
                  <a:pt x="7338646" y="633046"/>
                </a:cubicBezTo>
              </a:path>
            </a:pathLst>
          </a:custGeom>
          <a:noFill/>
          <a:ln w="31750">
            <a:solidFill>
              <a:srgbClr val="8BC9A0"/>
            </a:solidFill>
            <a:headEnd type="triangl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6" name="组合 45"/>
          <p:cNvGrpSpPr>
            <a:grpSpLocks noChangeAspect="1"/>
          </p:cNvGrpSpPr>
          <p:nvPr/>
        </p:nvGrpSpPr>
        <p:grpSpPr bwMode="gray">
          <a:xfrm>
            <a:off x="6191001" y="3590394"/>
            <a:ext cx="243192" cy="243192"/>
            <a:chOff x="10441953" y="5633214"/>
            <a:chExt cx="264000" cy="264000"/>
          </a:xfrm>
        </p:grpSpPr>
        <p:sp>
          <p:nvSpPr>
            <p:cNvPr id="47" name="椭圆 46"/>
            <p:cNvSpPr>
              <a:spLocks noChangeAspect="1"/>
            </p:cNvSpPr>
            <p:nvPr/>
          </p:nvSpPr>
          <p:spPr bwMode="gray">
            <a:xfrm>
              <a:off x="10441953" y="5633214"/>
              <a:ext cx="264000" cy="264000"/>
            </a:xfrm>
            <a:prstGeom prst="ellipse">
              <a:avLst/>
            </a:prstGeom>
            <a:solidFill>
              <a:srgbClr val="8BC9A0"/>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500" b="1">
                <a:solidFill>
                  <a:prstClr val="black"/>
                </a:solidFill>
              </a:endParaRPr>
            </a:p>
          </p:txBody>
        </p:sp>
        <p:sp>
          <p:nvSpPr>
            <p:cNvPr id="48" name="任意多边形 47"/>
            <p:cNvSpPr/>
            <p:nvPr/>
          </p:nvSpPr>
          <p:spPr bwMode="gray">
            <a:xfrm>
              <a:off x="10506830" y="5719982"/>
              <a:ext cx="138959" cy="73584"/>
            </a:xfrm>
            <a:custGeom>
              <a:avLst/>
              <a:gdLst>
                <a:gd name="connsiteX0" fmla="*/ 0 w 221456"/>
                <a:gd name="connsiteY0" fmla="*/ 47625 h 126206"/>
                <a:gd name="connsiteX1" fmla="*/ 83344 w 221456"/>
                <a:gd name="connsiteY1" fmla="*/ 126206 h 126206"/>
                <a:gd name="connsiteX2" fmla="*/ 221456 w 221456"/>
                <a:gd name="connsiteY2" fmla="*/ 0 h 126206"/>
                <a:gd name="connsiteX0" fmla="*/ 0 w 250659"/>
                <a:gd name="connsiteY0" fmla="*/ 33024 h 126206"/>
                <a:gd name="connsiteX1" fmla="*/ 112547 w 250659"/>
                <a:gd name="connsiteY1" fmla="*/ 126206 h 126206"/>
                <a:gd name="connsiteX2" fmla="*/ 250659 w 250659"/>
                <a:gd name="connsiteY2" fmla="*/ 0 h 126206"/>
                <a:gd name="connsiteX0" fmla="*/ 0 w 259419"/>
                <a:gd name="connsiteY0" fmla="*/ 35944 h 126206"/>
                <a:gd name="connsiteX1" fmla="*/ 121307 w 259419"/>
                <a:gd name="connsiteY1" fmla="*/ 126206 h 126206"/>
                <a:gd name="connsiteX2" fmla="*/ 259419 w 259419"/>
                <a:gd name="connsiteY2" fmla="*/ 0 h 126206"/>
                <a:gd name="connsiteX0" fmla="*/ 0 w 259419"/>
                <a:gd name="connsiteY0" fmla="*/ 35944 h 126206"/>
                <a:gd name="connsiteX1" fmla="*/ 106706 w 259419"/>
                <a:gd name="connsiteY1" fmla="*/ 126206 h 126206"/>
                <a:gd name="connsiteX2" fmla="*/ 259419 w 259419"/>
                <a:gd name="connsiteY2" fmla="*/ 0 h 126206"/>
                <a:gd name="connsiteX0" fmla="*/ 0 w 279861"/>
                <a:gd name="connsiteY0" fmla="*/ 35944 h 126206"/>
                <a:gd name="connsiteX1" fmla="*/ 106706 w 279861"/>
                <a:gd name="connsiteY1" fmla="*/ 126206 h 126206"/>
                <a:gd name="connsiteX2" fmla="*/ 279861 w 279861"/>
                <a:gd name="connsiteY2" fmla="*/ 0 h 126206"/>
                <a:gd name="connsiteX0" fmla="*/ 0 w 276940"/>
                <a:gd name="connsiteY0" fmla="*/ 56386 h 146648"/>
                <a:gd name="connsiteX1" fmla="*/ 106706 w 276940"/>
                <a:gd name="connsiteY1" fmla="*/ 146648 h 146648"/>
                <a:gd name="connsiteX2" fmla="*/ 276940 w 276940"/>
                <a:gd name="connsiteY2" fmla="*/ 0 h 146648"/>
                <a:gd name="connsiteX0" fmla="*/ 0 w 276940"/>
                <a:gd name="connsiteY0" fmla="*/ 56386 h 146648"/>
                <a:gd name="connsiteX1" fmla="*/ 121308 w 276940"/>
                <a:gd name="connsiteY1" fmla="*/ 146648 h 146648"/>
                <a:gd name="connsiteX2" fmla="*/ 276940 w 276940"/>
                <a:gd name="connsiteY2" fmla="*/ 0 h 146648"/>
              </a:gdLst>
              <a:ahLst/>
              <a:cxnLst>
                <a:cxn ang="0">
                  <a:pos x="connsiteX0" y="connsiteY0"/>
                </a:cxn>
                <a:cxn ang="0">
                  <a:pos x="connsiteX1" y="connsiteY1"/>
                </a:cxn>
                <a:cxn ang="0">
                  <a:pos x="connsiteX2" y="connsiteY2"/>
                </a:cxn>
              </a:cxnLst>
              <a:rect l="l" t="t" r="r" b="b"/>
              <a:pathLst>
                <a:path w="276940" h="146648">
                  <a:moveTo>
                    <a:pt x="0" y="56386"/>
                  </a:moveTo>
                  <a:lnTo>
                    <a:pt x="121308" y="146648"/>
                  </a:lnTo>
                  <a:lnTo>
                    <a:pt x="276940" y="0"/>
                  </a:lnTo>
                </a:path>
              </a:pathLst>
            </a:custGeom>
            <a:noFill/>
            <a:ln w="38100" cap="rnd" cmpd="sng">
              <a:solidFill>
                <a:schemeClr val="bg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800">
                <a:solidFill>
                  <a:prstClr val="white"/>
                </a:solidFill>
              </a:endParaRPr>
            </a:p>
          </p:txBody>
        </p:sp>
      </p:grpSp>
      <p:sp>
        <p:nvSpPr>
          <p:cNvPr id="53" name="任意多边形 52"/>
          <p:cNvSpPr/>
          <p:nvPr/>
        </p:nvSpPr>
        <p:spPr bwMode="gray">
          <a:xfrm>
            <a:off x="2904965" y="4473757"/>
            <a:ext cx="865136" cy="939932"/>
          </a:xfrm>
          <a:custGeom>
            <a:avLst/>
            <a:gdLst>
              <a:gd name="connsiteX0" fmla="*/ 11723 w 1137143"/>
              <a:gd name="connsiteY0" fmla="*/ 0 h 1078523"/>
              <a:gd name="connsiteX1" fmla="*/ 1137138 w 1137143"/>
              <a:gd name="connsiteY1" fmla="*/ 433754 h 1078523"/>
              <a:gd name="connsiteX2" fmla="*/ 0 w 1137143"/>
              <a:gd name="connsiteY2" fmla="*/ 1078523 h 1078523"/>
            </a:gdLst>
            <a:ahLst/>
            <a:cxnLst>
              <a:cxn ang="0">
                <a:pos x="connsiteX0" y="connsiteY0"/>
              </a:cxn>
              <a:cxn ang="0">
                <a:pos x="connsiteX1" y="connsiteY1"/>
              </a:cxn>
              <a:cxn ang="0">
                <a:pos x="connsiteX2" y="connsiteY2"/>
              </a:cxn>
            </a:cxnLst>
            <a:rect l="l" t="t" r="r" b="b"/>
            <a:pathLst>
              <a:path w="1137143" h="1078523">
                <a:moveTo>
                  <a:pt x="11723" y="0"/>
                </a:moveTo>
                <a:cubicBezTo>
                  <a:pt x="575407" y="127000"/>
                  <a:pt x="1139092" y="254000"/>
                  <a:pt x="1137138" y="433754"/>
                </a:cubicBezTo>
                <a:cubicBezTo>
                  <a:pt x="1135184" y="613508"/>
                  <a:pt x="567592" y="846015"/>
                  <a:pt x="0" y="1078523"/>
                </a:cubicBezTo>
              </a:path>
            </a:pathLst>
          </a:custGeom>
          <a:noFill/>
          <a:ln w="31750">
            <a:solidFill>
              <a:srgbClr val="EC706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4" name="组合 28"/>
          <p:cNvGrpSpPr/>
          <p:nvPr/>
        </p:nvGrpSpPr>
        <p:grpSpPr bwMode="gray">
          <a:xfrm rot="5059603">
            <a:off x="3583205" y="4768232"/>
            <a:ext cx="273362" cy="273362"/>
            <a:chOff x="5076056" y="3356992"/>
            <a:chExt cx="436268" cy="436268"/>
          </a:xfrm>
        </p:grpSpPr>
        <p:sp>
          <p:nvSpPr>
            <p:cNvPr id="55" name="椭圆 27"/>
            <p:cNvSpPr/>
            <p:nvPr/>
          </p:nvSpPr>
          <p:spPr bwMode="gray">
            <a:xfrm>
              <a:off x="5076056" y="3356992"/>
              <a:ext cx="432048" cy="432048"/>
            </a:xfrm>
            <a:prstGeom prst="ellipse">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784225" rtl="0" eaLnBrk="0" fontAlgn="base" latinLnBrk="0" hangingPunct="0">
                <a:lnSpc>
                  <a:spcPct val="100000"/>
                </a:lnSpc>
                <a:spcBef>
                  <a:spcPct val="0"/>
                </a:spcBef>
                <a:spcAft>
                  <a:spcPct val="0"/>
                </a:spcAft>
                <a:buClrTx/>
                <a:buSzTx/>
                <a:buFontTx/>
                <a:buNone/>
                <a:tabLst/>
              </a:pPr>
              <a:endParaRPr kumimoji="0" lang="zh-CN" altLang="en-US" sz="2100" b="0" i="0" u="none" strike="noStrike" cap="none" normalizeH="0" baseline="0" smtClean="0">
                <a:ln>
                  <a:noFill/>
                </a:ln>
                <a:solidFill>
                  <a:schemeClr val="tx1"/>
                </a:solidFill>
                <a:effectLst/>
                <a:latin typeface="Arial" charset="0"/>
                <a:ea typeface="ＭＳ Ｐゴシック" pitchFamily="34" charset="-128"/>
              </a:endParaRPr>
            </a:p>
          </p:txBody>
        </p:sp>
        <p:sp>
          <p:nvSpPr>
            <p:cNvPr id="56" name="禁止符 23"/>
            <p:cNvSpPr/>
            <p:nvPr/>
          </p:nvSpPr>
          <p:spPr bwMode="gray">
            <a:xfrm>
              <a:off x="5076056" y="3356992"/>
              <a:ext cx="436268" cy="436268"/>
            </a:xfrm>
            <a:prstGeom prst="noSmoking">
              <a:avLst>
                <a:gd name="adj" fmla="val 15475"/>
              </a:avLst>
            </a:prstGeom>
            <a:solidFill>
              <a:srgbClr val="EC70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endParaRPr>
            </a:p>
          </p:txBody>
        </p:sp>
      </p:grpSp>
      <p:sp>
        <p:nvSpPr>
          <p:cNvPr id="57" name="任意多边形 56"/>
          <p:cNvSpPr/>
          <p:nvPr/>
        </p:nvSpPr>
        <p:spPr bwMode="gray">
          <a:xfrm>
            <a:off x="2930769" y="4368500"/>
            <a:ext cx="6717323" cy="942054"/>
          </a:xfrm>
          <a:custGeom>
            <a:avLst/>
            <a:gdLst>
              <a:gd name="connsiteX0" fmla="*/ 0 w 6717323"/>
              <a:gd name="connsiteY0" fmla="*/ 74546 h 942054"/>
              <a:gd name="connsiteX1" fmla="*/ 5251939 w 6717323"/>
              <a:gd name="connsiteY1" fmla="*/ 86269 h 942054"/>
              <a:gd name="connsiteX2" fmla="*/ 6717323 w 6717323"/>
              <a:gd name="connsiteY2" fmla="*/ 942054 h 942054"/>
            </a:gdLst>
            <a:ahLst/>
            <a:cxnLst>
              <a:cxn ang="0">
                <a:pos x="connsiteX0" y="connsiteY0"/>
              </a:cxn>
              <a:cxn ang="0">
                <a:pos x="connsiteX1" y="connsiteY1"/>
              </a:cxn>
              <a:cxn ang="0">
                <a:pos x="connsiteX2" y="connsiteY2"/>
              </a:cxn>
            </a:cxnLst>
            <a:rect l="l" t="t" r="r" b="b"/>
            <a:pathLst>
              <a:path w="6717323" h="942054">
                <a:moveTo>
                  <a:pt x="0" y="74546"/>
                </a:moveTo>
                <a:cubicBezTo>
                  <a:pt x="2066192" y="8115"/>
                  <a:pt x="4132385" y="-58316"/>
                  <a:pt x="5251939" y="86269"/>
                </a:cubicBezTo>
                <a:cubicBezTo>
                  <a:pt x="6371493" y="230854"/>
                  <a:pt x="6544408" y="586454"/>
                  <a:pt x="6717323" y="942054"/>
                </a:cubicBezTo>
              </a:path>
            </a:pathLst>
          </a:custGeom>
          <a:noFill/>
          <a:ln w="31750">
            <a:solidFill>
              <a:srgbClr val="EC706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8" name="组合 28"/>
          <p:cNvGrpSpPr/>
          <p:nvPr/>
        </p:nvGrpSpPr>
        <p:grpSpPr bwMode="gray">
          <a:xfrm rot="5059603">
            <a:off x="6054320" y="4228583"/>
            <a:ext cx="273362" cy="273362"/>
            <a:chOff x="5076056" y="3356992"/>
            <a:chExt cx="436268" cy="436268"/>
          </a:xfrm>
        </p:grpSpPr>
        <p:sp>
          <p:nvSpPr>
            <p:cNvPr id="59" name="椭圆 27"/>
            <p:cNvSpPr/>
            <p:nvPr/>
          </p:nvSpPr>
          <p:spPr bwMode="gray">
            <a:xfrm>
              <a:off x="5076056" y="3356992"/>
              <a:ext cx="432048" cy="432048"/>
            </a:xfrm>
            <a:prstGeom prst="ellipse">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784225" rtl="0" eaLnBrk="0" fontAlgn="base" latinLnBrk="0" hangingPunct="0">
                <a:lnSpc>
                  <a:spcPct val="100000"/>
                </a:lnSpc>
                <a:spcBef>
                  <a:spcPct val="0"/>
                </a:spcBef>
                <a:spcAft>
                  <a:spcPct val="0"/>
                </a:spcAft>
                <a:buClrTx/>
                <a:buSzTx/>
                <a:buFontTx/>
                <a:buNone/>
                <a:tabLst/>
              </a:pPr>
              <a:endParaRPr kumimoji="0" lang="zh-CN" altLang="en-US" sz="2100" b="0" i="0" u="none" strike="noStrike" cap="none" normalizeH="0" baseline="0" smtClean="0">
                <a:ln>
                  <a:noFill/>
                </a:ln>
                <a:solidFill>
                  <a:schemeClr val="tx1"/>
                </a:solidFill>
                <a:effectLst/>
                <a:latin typeface="Arial" charset="0"/>
                <a:ea typeface="ＭＳ Ｐゴシック" pitchFamily="34" charset="-128"/>
              </a:endParaRPr>
            </a:p>
          </p:txBody>
        </p:sp>
        <p:sp>
          <p:nvSpPr>
            <p:cNvPr id="60" name="禁止符 23"/>
            <p:cNvSpPr/>
            <p:nvPr/>
          </p:nvSpPr>
          <p:spPr bwMode="gray">
            <a:xfrm>
              <a:off x="5076056" y="3356992"/>
              <a:ext cx="436268" cy="436268"/>
            </a:xfrm>
            <a:prstGeom prst="noSmoking">
              <a:avLst>
                <a:gd name="adj" fmla="val 15475"/>
              </a:avLst>
            </a:prstGeom>
            <a:solidFill>
              <a:srgbClr val="EC70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endParaRPr>
            </a:p>
          </p:txBody>
        </p:sp>
      </p:grpSp>
      <p:sp>
        <p:nvSpPr>
          <p:cNvPr id="61" name="文本框 60"/>
          <p:cNvSpPr txBox="1"/>
          <p:nvPr/>
        </p:nvSpPr>
        <p:spPr bwMode="gray">
          <a:xfrm>
            <a:off x="5617611" y="5895867"/>
            <a:ext cx="1343638" cy="338554"/>
          </a:xfrm>
          <a:prstGeom prst="rect">
            <a:avLst/>
          </a:prstGeom>
          <a:noFill/>
        </p:spPr>
        <p:txBody>
          <a:bodyPr wrap="none" rtlCol="0">
            <a:spAutoFit/>
          </a:bodyPr>
          <a:lstStyle/>
          <a:p>
            <a:r>
              <a:rPr lang="en-US" altLang="zh-CN" sz="1600" dirty="0" smtClean="0"/>
              <a:t>Intranet</a:t>
            </a:r>
            <a:r>
              <a:rPr lang="zh-CN" altLang="en-US" sz="1600" dirty="0" smtClean="0"/>
              <a:t>组网</a:t>
            </a:r>
          </a:p>
        </p:txBody>
      </p:sp>
    </p:spTree>
    <p:extLst>
      <p:ext uri="{BB962C8B-B14F-4D97-AF65-F5344CB8AC3E}">
        <p14:creationId xmlns:p14="http://schemas.microsoft.com/office/powerpoint/2010/main" val="296261228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bwMode="gray"/>
        <p:txBody>
          <a:bodyPr/>
          <a:lstStyle/>
          <a:p>
            <a:r>
              <a:rPr lang="en-US" altLang="zh-CN" dirty="0" smtClean="0">
                <a:solidFill>
                  <a:schemeClr val="bg1">
                    <a:lumMod val="50000"/>
                  </a:schemeClr>
                </a:solidFill>
                <a:sym typeface="Huawei Sans" panose="020C0503030203020204" pitchFamily="34" charset="0"/>
              </a:rPr>
              <a:t>MPLS VPN</a:t>
            </a:r>
            <a:r>
              <a:rPr lang="zh-CN" altLang="en-US" dirty="0" smtClean="0">
                <a:solidFill>
                  <a:schemeClr val="bg1">
                    <a:lumMod val="50000"/>
                  </a:schemeClr>
                </a:solidFill>
                <a:sym typeface="Huawei Sans" panose="020C0503030203020204" pitchFamily="34" charset="0"/>
              </a:rPr>
              <a:t>概述</a:t>
            </a:r>
            <a:endParaRPr lang="en-US" altLang="zh-CN" dirty="0" smtClean="0">
              <a:solidFill>
                <a:schemeClr val="bg1">
                  <a:lumMod val="50000"/>
                </a:schemeClr>
              </a:solidFill>
              <a:sym typeface="Huawei Sans" panose="020C0503030203020204" pitchFamily="34" charset="0"/>
            </a:endParaRPr>
          </a:p>
          <a:p>
            <a:r>
              <a:rPr lang="en-US" altLang="zh-CN" b="1" dirty="0" smtClean="0">
                <a:sym typeface="Huawei Sans" panose="020C0503030203020204" pitchFamily="34" charset="0"/>
              </a:rPr>
              <a:t>MPLS VPN</a:t>
            </a:r>
            <a:r>
              <a:rPr lang="zh-CN" altLang="en-US" b="1" dirty="0" smtClean="0">
                <a:sym typeface="Huawei Sans" panose="020C0503030203020204" pitchFamily="34" charset="0"/>
              </a:rPr>
              <a:t>路由交互</a:t>
            </a:r>
            <a:endParaRPr lang="en-US" altLang="zh-CN" b="1" dirty="0" smtClean="0">
              <a:sym typeface="Huawei Sans" panose="020C0503030203020204" pitchFamily="34" charset="0"/>
            </a:endParaRPr>
          </a:p>
          <a:p>
            <a:r>
              <a:rPr lang="en-US" altLang="zh-CN" dirty="0" smtClean="0">
                <a:solidFill>
                  <a:schemeClr val="bg1">
                    <a:lumMod val="50000"/>
                  </a:schemeClr>
                </a:solidFill>
                <a:sym typeface="Huawei Sans" panose="020C0503030203020204" pitchFamily="34" charset="0"/>
              </a:rPr>
              <a:t>MPLS  VPN</a:t>
            </a:r>
            <a:r>
              <a:rPr lang="zh-CN" altLang="en-US" dirty="0" smtClean="0">
                <a:solidFill>
                  <a:schemeClr val="bg1">
                    <a:lumMod val="50000"/>
                  </a:schemeClr>
                </a:solidFill>
                <a:sym typeface="Huawei Sans" panose="020C0503030203020204" pitchFamily="34" charset="0"/>
              </a:rPr>
              <a:t>报文转发</a:t>
            </a:r>
            <a:endParaRPr lang="en-US" altLang="zh-CN" dirty="0" smtClean="0">
              <a:solidFill>
                <a:schemeClr val="bg1">
                  <a:lumMod val="50000"/>
                </a:schemeClr>
              </a:solidFill>
              <a:sym typeface="Huawei Sans" panose="020C0503030203020204" pitchFamily="34" charset="0"/>
            </a:endParaRPr>
          </a:p>
          <a:p>
            <a:r>
              <a:rPr lang="en-US" altLang="zh-CN" dirty="0" smtClean="0">
                <a:solidFill>
                  <a:schemeClr val="bg1">
                    <a:lumMod val="50000"/>
                  </a:schemeClr>
                </a:solidFill>
                <a:sym typeface="Huawei Sans" panose="020C0503030203020204" pitchFamily="34" charset="0"/>
              </a:rPr>
              <a:t>MPLS VPN</a:t>
            </a:r>
            <a:r>
              <a:rPr lang="zh-CN" altLang="en-US" dirty="0" smtClean="0">
                <a:solidFill>
                  <a:schemeClr val="bg1">
                    <a:lumMod val="50000"/>
                  </a:schemeClr>
                </a:solidFill>
                <a:sym typeface="Huawei Sans" panose="020C0503030203020204" pitchFamily="34" charset="0"/>
              </a:rPr>
              <a:t>配置与实现</a:t>
            </a:r>
            <a:endParaRPr lang="en-US" altLang="zh-CN" dirty="0" smtClean="0">
              <a:solidFill>
                <a:schemeClr val="bg1">
                  <a:lumMod val="50000"/>
                </a:schemeClr>
              </a:solidFill>
              <a:sym typeface="Huawei Sans" panose="020C0503030203020204" pitchFamily="34" charset="0"/>
            </a:endParaRPr>
          </a:p>
          <a:p>
            <a:endParaRPr lang="zh-CN" altLang="en-US" dirty="0">
              <a:sym typeface="Huawei Sans" panose="020C0503030203020204" pitchFamily="34" charset="0"/>
            </a:endParaRPr>
          </a:p>
        </p:txBody>
      </p:sp>
    </p:spTree>
    <p:extLst>
      <p:ext uri="{BB962C8B-B14F-4D97-AF65-F5344CB8AC3E}">
        <p14:creationId xmlns:p14="http://schemas.microsoft.com/office/powerpoint/2010/main" val="3163309992"/>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lstStyle/>
          <a:p>
            <a:r>
              <a:rPr lang="en-US" altLang="zh-CN" smtClean="0"/>
              <a:t>MPLS VPN</a:t>
            </a:r>
            <a:r>
              <a:rPr lang="zh-CN" altLang="en-US" smtClean="0"/>
              <a:t>路由发布概述</a:t>
            </a:r>
            <a:endParaRPr lang="zh-CN" altLang="en-US" dirty="0"/>
          </a:p>
        </p:txBody>
      </p:sp>
      <p:sp>
        <p:nvSpPr>
          <p:cNvPr id="4" name="文本占位符 3"/>
          <p:cNvSpPr>
            <a:spLocks noGrp="1"/>
          </p:cNvSpPr>
          <p:nvPr>
            <p:ph type="body" sz="quarter" idx="10"/>
          </p:nvPr>
        </p:nvSpPr>
        <p:spPr bwMode="gray"/>
        <p:txBody>
          <a:bodyPr/>
          <a:lstStyle/>
          <a:p>
            <a:r>
              <a:rPr lang="zh-CN" altLang="en-US" sz="1800" dirty="0" smtClean="0"/>
              <a:t>若想实现同一个</a:t>
            </a:r>
            <a:r>
              <a:rPr lang="en-US" altLang="zh-CN" sz="1800" dirty="0" smtClean="0"/>
              <a:t>VPN</a:t>
            </a:r>
            <a:r>
              <a:rPr lang="zh-CN" altLang="en-US" sz="1800" dirty="0" smtClean="0"/>
              <a:t>的不同站点之间的通信，首先需要完成不同站点之间的路由交互。在基本</a:t>
            </a:r>
            <a:r>
              <a:rPr lang="en-US" altLang="zh-CN" sz="1800" dirty="0" smtClean="0"/>
              <a:t>MPLS VPN</a:t>
            </a:r>
            <a:r>
              <a:rPr lang="zh-CN" altLang="en-US" sz="1800" dirty="0" smtClean="0"/>
              <a:t>组网中，</a:t>
            </a:r>
            <a:r>
              <a:rPr lang="en-US" altLang="zh-CN" sz="1800" dirty="0" smtClean="0"/>
              <a:t>VPN</a:t>
            </a:r>
            <a:r>
              <a:rPr lang="zh-CN" altLang="en-US" sz="1800" dirty="0" smtClean="0"/>
              <a:t>路由信息的发布涉及</a:t>
            </a:r>
            <a:r>
              <a:rPr lang="en-US" altLang="zh-CN" sz="1800" dirty="0" smtClean="0"/>
              <a:t>CE</a:t>
            </a:r>
            <a:r>
              <a:rPr lang="zh-CN" altLang="en-US" sz="1800" dirty="0" smtClean="0"/>
              <a:t>和</a:t>
            </a:r>
            <a:r>
              <a:rPr lang="en-US" altLang="zh-CN" sz="1800" dirty="0" smtClean="0"/>
              <a:t>PE</a:t>
            </a:r>
            <a:r>
              <a:rPr lang="zh-CN" altLang="en-US" sz="1800" dirty="0" smtClean="0"/>
              <a:t>，</a:t>
            </a:r>
            <a:r>
              <a:rPr lang="en-US" altLang="zh-CN" sz="1800" dirty="0" smtClean="0"/>
              <a:t>P</a:t>
            </a:r>
            <a:r>
              <a:rPr lang="zh-CN" altLang="en-US" sz="1800" dirty="0" smtClean="0"/>
              <a:t>路由器只维护骨干网的路由，不需要了解任何</a:t>
            </a:r>
            <a:r>
              <a:rPr lang="en-US" altLang="zh-CN" sz="1800" dirty="0" smtClean="0"/>
              <a:t>VPN</a:t>
            </a:r>
            <a:r>
              <a:rPr lang="zh-CN" altLang="en-US" sz="1800" dirty="0" smtClean="0"/>
              <a:t>路由信息。</a:t>
            </a:r>
            <a:r>
              <a:rPr lang="en-US" altLang="zh-CN" sz="1800" dirty="0" smtClean="0"/>
              <a:t>VPN</a:t>
            </a:r>
            <a:r>
              <a:rPr lang="zh-CN" altLang="en-US" sz="1800" dirty="0" smtClean="0"/>
              <a:t>路由信息的发布过程包括三部分：</a:t>
            </a:r>
          </a:p>
          <a:p>
            <a:pPr lvl="1"/>
            <a:r>
              <a:rPr lang="zh-CN" altLang="en-US" sz="1600" dirty="0" smtClean="0"/>
              <a:t>本地</a:t>
            </a:r>
            <a:r>
              <a:rPr lang="en-US" altLang="zh-CN" sz="1600" dirty="0" smtClean="0"/>
              <a:t>CE</a:t>
            </a:r>
            <a:r>
              <a:rPr lang="zh-CN" altLang="en-US" sz="1600" dirty="0" smtClean="0"/>
              <a:t>到入口</a:t>
            </a:r>
            <a:r>
              <a:rPr lang="en-US" altLang="zh-CN" sz="1600" dirty="0" smtClean="0"/>
              <a:t>PE</a:t>
            </a:r>
            <a:r>
              <a:rPr lang="zh-CN" altLang="en-US" sz="1600" dirty="0" smtClean="0"/>
              <a:t>。</a:t>
            </a:r>
            <a:endParaRPr lang="en-US" altLang="zh-CN" sz="1600" dirty="0" smtClean="0"/>
          </a:p>
          <a:p>
            <a:pPr lvl="1"/>
            <a:r>
              <a:rPr lang="zh-CN" altLang="en-US" sz="1600" dirty="0" smtClean="0"/>
              <a:t>入口</a:t>
            </a:r>
            <a:r>
              <a:rPr lang="en-US" altLang="zh-CN" sz="1600" dirty="0" smtClean="0"/>
              <a:t>PE</a:t>
            </a:r>
            <a:r>
              <a:rPr lang="zh-CN" altLang="en-US" sz="1600" dirty="0" smtClean="0"/>
              <a:t>到出口</a:t>
            </a:r>
            <a:r>
              <a:rPr lang="en-US" altLang="zh-CN" sz="1600" dirty="0" smtClean="0"/>
              <a:t>PE</a:t>
            </a:r>
            <a:r>
              <a:rPr lang="zh-CN" altLang="en-US" sz="1600" dirty="0" smtClean="0"/>
              <a:t>。</a:t>
            </a:r>
            <a:endParaRPr lang="en-US" altLang="zh-CN" sz="1600" dirty="0" smtClean="0"/>
          </a:p>
          <a:p>
            <a:pPr lvl="1"/>
            <a:r>
              <a:rPr lang="zh-CN" altLang="en-US" sz="1600" dirty="0" smtClean="0"/>
              <a:t>出口</a:t>
            </a:r>
            <a:r>
              <a:rPr lang="en-US" altLang="zh-CN" sz="1600" dirty="0" smtClean="0"/>
              <a:t>PE</a:t>
            </a:r>
            <a:r>
              <a:rPr lang="zh-CN" altLang="en-US" sz="1600" dirty="0" smtClean="0"/>
              <a:t>到远端</a:t>
            </a:r>
            <a:r>
              <a:rPr lang="en-US" altLang="zh-CN" sz="1600" dirty="0" smtClean="0"/>
              <a:t>CE</a:t>
            </a:r>
            <a:r>
              <a:rPr lang="zh-CN" altLang="en-US" sz="1600" dirty="0" smtClean="0"/>
              <a:t>。</a:t>
            </a:r>
            <a:endParaRPr lang="en-US" altLang="zh-CN" sz="1600" dirty="0" smtClean="0"/>
          </a:p>
          <a:p>
            <a:endParaRPr lang="zh-CN" altLang="en-US" sz="1800" dirty="0"/>
          </a:p>
        </p:txBody>
      </p:sp>
      <p:sp>
        <p:nvSpPr>
          <p:cNvPr id="5" name="圆角矩形 4"/>
          <p:cNvSpPr/>
          <p:nvPr/>
        </p:nvSpPr>
        <p:spPr bwMode="gray">
          <a:xfrm>
            <a:off x="4103749" y="4143995"/>
            <a:ext cx="4000659" cy="1825378"/>
          </a:xfrm>
          <a:prstGeom prst="roundRect">
            <a:avLst/>
          </a:prstGeom>
          <a:solidFill>
            <a:srgbClr val="BEE9EE"/>
          </a:solidFill>
          <a:ln w="28575" cap="flat" cmpd="sng" algn="ctr">
            <a:noFill/>
            <a:prstDash val="sys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文本框 5"/>
          <p:cNvSpPr txBox="1"/>
          <p:nvPr/>
        </p:nvSpPr>
        <p:spPr bwMode="gray">
          <a:xfrm>
            <a:off x="5308828" y="5674705"/>
            <a:ext cx="1590500" cy="307777"/>
          </a:xfrm>
          <a:prstGeom prst="rect">
            <a:avLst/>
          </a:prstGeom>
          <a:noFill/>
        </p:spPr>
        <p:txBody>
          <a:bodyPr wrap="none" rtlCol="0">
            <a:spAutoFit/>
          </a:bodyPr>
          <a:lstStyle/>
          <a:p>
            <a:pPr algn="ctr"/>
            <a:r>
              <a:rPr lang="en-US" altLang="zh-CN"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MPLS VPN</a:t>
            </a:r>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骨干网</a:t>
            </a:r>
            <a:endPar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7" name="组合 6"/>
          <p:cNvGrpSpPr/>
          <p:nvPr/>
        </p:nvGrpSpPr>
        <p:grpSpPr bwMode="gray">
          <a:xfrm>
            <a:off x="3846898" y="4694721"/>
            <a:ext cx="4513567" cy="723926"/>
            <a:chOff x="4088571" y="4424992"/>
            <a:chExt cx="4513567" cy="723926"/>
          </a:xfrm>
        </p:grpSpPr>
        <p:cxnSp>
          <p:nvCxnSpPr>
            <p:cNvPr id="8" name="直接连接符 7"/>
            <p:cNvCxnSpPr>
              <a:stCxn id="12" idx="3"/>
              <a:endCxn id="14" idx="1"/>
            </p:cNvCxnSpPr>
            <p:nvPr/>
          </p:nvCxnSpPr>
          <p:spPr bwMode="gray">
            <a:xfrm>
              <a:off x="4628571" y="4645901"/>
              <a:ext cx="343356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bwMode="gray">
            <a:xfrm>
              <a:off x="6067674" y="4424992"/>
              <a:ext cx="540000" cy="723926"/>
              <a:chOff x="5312873" y="4947622"/>
              <a:chExt cx="540000" cy="723926"/>
            </a:xfrm>
          </p:grpSpPr>
          <p:pic>
            <p:nvPicPr>
              <p:cNvPr id="16" name="Picture 12" descr="E:\2016.01\1.12 扁平化图标\蓝色\AR-蓝色最新-40.png"/>
              <p:cNvPicPr>
                <a:picLocks noChangeAspect="1" noChangeArrowheads="1"/>
              </p:cNvPicPr>
              <p:nvPr/>
            </p:nvPicPr>
            <p:blipFill>
              <a:blip r:embed="rId3" cstate="print"/>
              <a:srcRect/>
              <a:stretch>
                <a:fillRect/>
              </a:stretch>
            </p:blipFill>
            <p:spPr bwMode="gray">
              <a:xfrm>
                <a:off x="5312873" y="4947622"/>
                <a:ext cx="540000" cy="441818"/>
              </a:xfrm>
              <a:prstGeom prst="rect">
                <a:avLst/>
              </a:prstGeom>
              <a:noFill/>
            </p:spPr>
          </p:pic>
          <p:sp>
            <p:nvSpPr>
              <p:cNvPr id="17" name="文本框 16"/>
              <p:cNvSpPr txBox="1"/>
              <p:nvPr/>
            </p:nvSpPr>
            <p:spPr bwMode="gray">
              <a:xfrm>
                <a:off x="5436839" y="5363771"/>
                <a:ext cx="292068"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0" name="组合 9"/>
            <p:cNvGrpSpPr/>
            <p:nvPr/>
          </p:nvGrpSpPr>
          <p:grpSpPr bwMode="gray">
            <a:xfrm>
              <a:off x="8062138" y="4424992"/>
              <a:ext cx="540000" cy="714804"/>
              <a:chOff x="8062138" y="4947622"/>
              <a:chExt cx="540000" cy="714804"/>
            </a:xfrm>
          </p:grpSpPr>
          <p:pic>
            <p:nvPicPr>
              <p:cNvPr id="14" name="Picture 12" descr="E:\2016.01\1.12 扁平化图标\蓝色\AR-蓝色最新-40.png"/>
              <p:cNvPicPr>
                <a:picLocks noChangeAspect="1" noChangeArrowheads="1"/>
              </p:cNvPicPr>
              <p:nvPr/>
            </p:nvPicPr>
            <p:blipFill>
              <a:blip r:embed="rId3" cstate="print"/>
              <a:srcRect/>
              <a:stretch>
                <a:fillRect/>
              </a:stretch>
            </p:blipFill>
            <p:spPr bwMode="gray">
              <a:xfrm>
                <a:off x="8062138" y="4947622"/>
                <a:ext cx="540000" cy="441818"/>
              </a:xfrm>
              <a:prstGeom prst="rect">
                <a:avLst/>
              </a:prstGeom>
              <a:noFill/>
            </p:spPr>
          </p:pic>
          <p:sp>
            <p:nvSpPr>
              <p:cNvPr id="15" name="文本框 14"/>
              <p:cNvSpPr txBox="1"/>
              <p:nvPr/>
            </p:nvSpPr>
            <p:spPr bwMode="gray">
              <a:xfrm>
                <a:off x="8084306" y="5354649"/>
                <a:ext cx="497252"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PE2</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1" name="组合 10"/>
            <p:cNvGrpSpPr/>
            <p:nvPr/>
          </p:nvGrpSpPr>
          <p:grpSpPr bwMode="gray">
            <a:xfrm>
              <a:off x="4088571" y="4424992"/>
              <a:ext cx="540000" cy="723926"/>
              <a:chOff x="4088571" y="4947622"/>
              <a:chExt cx="540000" cy="723926"/>
            </a:xfrm>
          </p:grpSpPr>
          <p:pic>
            <p:nvPicPr>
              <p:cNvPr id="12" name="Picture 12" descr="E:\2016.01\1.12 扁平化图标\蓝色\AR-蓝色最新-40.png"/>
              <p:cNvPicPr>
                <a:picLocks noChangeAspect="1" noChangeArrowheads="1"/>
              </p:cNvPicPr>
              <p:nvPr/>
            </p:nvPicPr>
            <p:blipFill>
              <a:blip r:embed="rId3" cstate="print"/>
              <a:srcRect/>
              <a:stretch>
                <a:fillRect/>
              </a:stretch>
            </p:blipFill>
            <p:spPr bwMode="gray">
              <a:xfrm>
                <a:off x="4088571" y="4947622"/>
                <a:ext cx="540000" cy="441818"/>
              </a:xfrm>
              <a:prstGeom prst="rect">
                <a:avLst/>
              </a:prstGeom>
              <a:noFill/>
            </p:spPr>
          </p:pic>
          <p:sp>
            <p:nvSpPr>
              <p:cNvPr id="13" name="文本框 12"/>
              <p:cNvSpPr txBox="1"/>
              <p:nvPr/>
            </p:nvSpPr>
            <p:spPr bwMode="gray">
              <a:xfrm>
                <a:off x="4109945" y="5363771"/>
                <a:ext cx="497252" cy="307777"/>
              </a:xfrm>
              <a:prstGeom prst="rect">
                <a:avLst/>
              </a:prstGeom>
              <a:noFill/>
            </p:spPr>
            <p:txBody>
              <a:bodyPr wrap="non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PE1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grpSp>
        <p:nvGrpSpPr>
          <p:cNvPr id="18" name="组合 17"/>
          <p:cNvGrpSpPr/>
          <p:nvPr/>
        </p:nvGrpSpPr>
        <p:grpSpPr bwMode="gray">
          <a:xfrm>
            <a:off x="2158869" y="4272637"/>
            <a:ext cx="550687" cy="712575"/>
            <a:chOff x="4073209" y="4947622"/>
            <a:chExt cx="550687" cy="712575"/>
          </a:xfrm>
        </p:grpSpPr>
        <p:pic>
          <p:nvPicPr>
            <p:cNvPr id="19" name="Picture 12" descr="E:\2016.01\1.12 扁平化图标\蓝色\AR-蓝色最新-40.png"/>
            <p:cNvPicPr>
              <a:picLocks noChangeAspect="1" noChangeArrowheads="1"/>
            </p:cNvPicPr>
            <p:nvPr/>
          </p:nvPicPr>
          <p:blipFill>
            <a:blip r:embed="rId3" cstate="print"/>
            <a:srcRect/>
            <a:stretch>
              <a:fillRect/>
            </a:stretch>
          </p:blipFill>
          <p:spPr bwMode="gray">
            <a:xfrm>
              <a:off x="4073209" y="4947622"/>
              <a:ext cx="540000" cy="441818"/>
            </a:xfrm>
            <a:prstGeom prst="rect">
              <a:avLst/>
            </a:prstGeom>
            <a:noFill/>
          </p:spPr>
        </p:pic>
        <p:sp>
          <p:nvSpPr>
            <p:cNvPr id="20" name="文本框 19"/>
            <p:cNvSpPr txBox="1"/>
            <p:nvPr/>
          </p:nvSpPr>
          <p:spPr bwMode="gray">
            <a:xfrm>
              <a:off x="4121835" y="5352420"/>
              <a:ext cx="50206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1" name="圆角矩形 20"/>
          <p:cNvSpPr/>
          <p:nvPr/>
        </p:nvSpPr>
        <p:spPr bwMode="gray">
          <a:xfrm>
            <a:off x="952500" y="4025063"/>
            <a:ext cx="1873049" cy="994971"/>
          </a:xfrm>
          <a:prstGeom prst="roundRect">
            <a:avLst/>
          </a:prstGeom>
          <a:noFill/>
          <a:ln w="254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2" name="组合 21"/>
          <p:cNvGrpSpPr/>
          <p:nvPr/>
        </p:nvGrpSpPr>
        <p:grpSpPr bwMode="gray">
          <a:xfrm>
            <a:off x="2147045" y="5354017"/>
            <a:ext cx="575533" cy="706640"/>
            <a:chOff x="4073209" y="4947622"/>
            <a:chExt cx="575533" cy="706640"/>
          </a:xfrm>
        </p:grpSpPr>
        <p:pic>
          <p:nvPicPr>
            <p:cNvPr id="23" name="Picture 12" descr="E:\2016.01\1.12 扁平化图标\蓝色\AR-蓝色最新-40.png"/>
            <p:cNvPicPr>
              <a:picLocks noChangeAspect="1" noChangeArrowheads="1"/>
            </p:cNvPicPr>
            <p:nvPr/>
          </p:nvPicPr>
          <p:blipFill>
            <a:blip r:embed="rId3" cstate="print"/>
            <a:srcRect/>
            <a:stretch>
              <a:fillRect/>
            </a:stretch>
          </p:blipFill>
          <p:spPr bwMode="gray">
            <a:xfrm>
              <a:off x="4073209" y="4947622"/>
              <a:ext cx="540000" cy="441818"/>
            </a:xfrm>
            <a:prstGeom prst="rect">
              <a:avLst/>
            </a:prstGeom>
            <a:noFill/>
          </p:spPr>
        </p:pic>
        <p:sp>
          <p:nvSpPr>
            <p:cNvPr id="24" name="文本框 23"/>
            <p:cNvSpPr txBox="1"/>
            <p:nvPr/>
          </p:nvSpPr>
          <p:spPr bwMode="gray">
            <a:xfrm>
              <a:off x="4146681" y="5346485"/>
              <a:ext cx="50206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CE2</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5" name="圆角矩形 24"/>
          <p:cNvSpPr/>
          <p:nvPr/>
        </p:nvSpPr>
        <p:spPr bwMode="gray">
          <a:xfrm>
            <a:off x="952500" y="5106443"/>
            <a:ext cx="1873049" cy="994971"/>
          </a:xfrm>
          <a:prstGeom prst="roundRect">
            <a:avLst/>
          </a:prstGeom>
          <a:noFill/>
          <a:ln w="254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圆角矩形 28"/>
          <p:cNvSpPr/>
          <p:nvPr/>
        </p:nvSpPr>
        <p:spPr bwMode="gray">
          <a:xfrm flipH="1">
            <a:off x="9366451" y="4025063"/>
            <a:ext cx="1873049" cy="994971"/>
          </a:xfrm>
          <a:prstGeom prst="roundRect">
            <a:avLst/>
          </a:prstGeom>
          <a:noFill/>
          <a:ln w="254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圆角矩形 32"/>
          <p:cNvSpPr/>
          <p:nvPr/>
        </p:nvSpPr>
        <p:spPr bwMode="gray">
          <a:xfrm flipH="1">
            <a:off x="9378275" y="5106443"/>
            <a:ext cx="1873049" cy="994971"/>
          </a:xfrm>
          <a:prstGeom prst="roundRect">
            <a:avLst/>
          </a:prstGeom>
          <a:noFill/>
          <a:ln w="254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4" name="直接连接符 33"/>
          <p:cNvCxnSpPr>
            <a:stCxn id="19" idx="3"/>
            <a:endCxn id="12" idx="1"/>
          </p:cNvCxnSpPr>
          <p:nvPr/>
        </p:nvCxnSpPr>
        <p:spPr bwMode="gray">
          <a:xfrm>
            <a:off x="2698869" y="4493546"/>
            <a:ext cx="1148029" cy="42208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a:stCxn id="23" idx="3"/>
            <a:endCxn id="12" idx="1"/>
          </p:cNvCxnSpPr>
          <p:nvPr/>
        </p:nvCxnSpPr>
        <p:spPr bwMode="gray">
          <a:xfrm flipV="1">
            <a:off x="2687045" y="4915630"/>
            <a:ext cx="1159853" cy="65929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a:stCxn id="14" idx="3"/>
          </p:cNvCxnSpPr>
          <p:nvPr/>
        </p:nvCxnSpPr>
        <p:spPr bwMode="gray">
          <a:xfrm flipV="1">
            <a:off x="8360465" y="4493546"/>
            <a:ext cx="1132666" cy="42208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a:stCxn id="14" idx="3"/>
          </p:cNvCxnSpPr>
          <p:nvPr/>
        </p:nvCxnSpPr>
        <p:spPr bwMode="gray">
          <a:xfrm>
            <a:off x="8360465" y="4915630"/>
            <a:ext cx="1144490" cy="65929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文本框 39"/>
          <p:cNvSpPr txBox="1"/>
          <p:nvPr/>
        </p:nvSpPr>
        <p:spPr bwMode="gray">
          <a:xfrm>
            <a:off x="1224155" y="4298907"/>
            <a:ext cx="660758" cy="372410"/>
          </a:xfrm>
          <a:prstGeom prst="rect">
            <a:avLst/>
          </a:prstGeom>
          <a:noFill/>
        </p:spPr>
        <p:txBody>
          <a:bodyPr wrap="none" rtlCol="0">
            <a:spAutoFit/>
          </a:bodyPr>
          <a:lstStyle/>
          <a:p>
            <a:pPr>
              <a:lnSpc>
                <a:spcPct val="130000"/>
              </a:lnSpc>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A</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文本框 40"/>
          <p:cNvSpPr txBox="1"/>
          <p:nvPr/>
        </p:nvSpPr>
        <p:spPr bwMode="gray">
          <a:xfrm>
            <a:off x="1251071" y="5418647"/>
            <a:ext cx="652743" cy="372410"/>
          </a:xfrm>
          <a:prstGeom prst="rect">
            <a:avLst/>
          </a:prstGeom>
          <a:noFill/>
        </p:spPr>
        <p:txBody>
          <a:bodyPr wrap="none" rtlCol="0">
            <a:spAutoFit/>
          </a:bodyPr>
          <a:lstStyle/>
          <a:p>
            <a:pPr>
              <a:lnSpc>
                <a:spcPct val="130000"/>
              </a:lnSpc>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C</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文本框 41"/>
          <p:cNvSpPr txBox="1"/>
          <p:nvPr/>
        </p:nvSpPr>
        <p:spPr bwMode="gray">
          <a:xfrm>
            <a:off x="10253711" y="4302420"/>
            <a:ext cx="651140" cy="372410"/>
          </a:xfrm>
          <a:prstGeom prst="rect">
            <a:avLst/>
          </a:prstGeom>
          <a:noFill/>
        </p:spPr>
        <p:txBody>
          <a:bodyPr wrap="none" rtlCol="0">
            <a:spAutoFit/>
          </a:bodyPr>
          <a:lstStyle/>
          <a:p>
            <a:pPr>
              <a:lnSpc>
                <a:spcPct val="130000"/>
              </a:lnSpc>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B</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文本框 42"/>
          <p:cNvSpPr txBox="1"/>
          <p:nvPr/>
        </p:nvSpPr>
        <p:spPr bwMode="gray">
          <a:xfrm>
            <a:off x="10274668" y="5380470"/>
            <a:ext cx="673582" cy="372410"/>
          </a:xfrm>
          <a:prstGeom prst="rect">
            <a:avLst/>
          </a:prstGeom>
          <a:noFill/>
        </p:spPr>
        <p:txBody>
          <a:bodyPr wrap="none" rtlCol="0">
            <a:spAutoFit/>
          </a:bodyPr>
          <a:lstStyle/>
          <a:p>
            <a:pPr>
              <a:lnSpc>
                <a:spcPct val="130000"/>
              </a:lnSpc>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4" name="直接箭头连接符 43"/>
          <p:cNvCxnSpPr/>
          <p:nvPr/>
        </p:nvCxnSpPr>
        <p:spPr bwMode="gray">
          <a:xfrm>
            <a:off x="2854392" y="4287147"/>
            <a:ext cx="1004949" cy="395931"/>
          </a:xfrm>
          <a:prstGeom prst="straightConnector1">
            <a:avLst/>
          </a:prstGeom>
          <a:ln w="317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7" name="文本框 46"/>
          <p:cNvSpPr txBox="1"/>
          <p:nvPr/>
        </p:nvSpPr>
        <p:spPr bwMode="gray">
          <a:xfrm rot="1298280">
            <a:off x="3051716" y="3962603"/>
            <a:ext cx="825867" cy="461665"/>
          </a:xfrm>
          <a:prstGeom prst="rect">
            <a:avLst/>
          </a:prstGeom>
          <a:noFill/>
          <a:ln w="31750">
            <a:noFill/>
          </a:ln>
        </p:spPr>
        <p:txBody>
          <a:bodyPr wrap="none" rtlCol="0">
            <a:spAutoFit/>
          </a:bodyPr>
          <a:lstStyle/>
          <a:p>
            <a:pPr algn="ct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本地</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CE</a:t>
            </a: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到</a:t>
            </a:r>
            <a:endPar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入口</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任意多边形 49"/>
          <p:cNvSpPr/>
          <p:nvPr/>
        </p:nvSpPr>
        <p:spPr bwMode="gray">
          <a:xfrm>
            <a:off x="4092498" y="4152488"/>
            <a:ext cx="4014439" cy="568796"/>
          </a:xfrm>
          <a:custGeom>
            <a:avLst/>
            <a:gdLst>
              <a:gd name="connsiteX0" fmla="*/ 0 w 4014439"/>
              <a:gd name="connsiteY0" fmla="*/ 535343 h 568796"/>
              <a:gd name="connsiteX1" fmla="*/ 1984917 w 4014439"/>
              <a:gd name="connsiteY1" fmla="*/ 84 h 568796"/>
              <a:gd name="connsiteX2" fmla="*/ 4014439 w 4014439"/>
              <a:gd name="connsiteY2" fmla="*/ 568796 h 568796"/>
            </a:gdLst>
            <a:ahLst/>
            <a:cxnLst>
              <a:cxn ang="0">
                <a:pos x="connsiteX0" y="connsiteY0"/>
              </a:cxn>
              <a:cxn ang="0">
                <a:pos x="connsiteX1" y="connsiteY1"/>
              </a:cxn>
              <a:cxn ang="0">
                <a:pos x="connsiteX2" y="connsiteY2"/>
              </a:cxn>
            </a:cxnLst>
            <a:rect l="l" t="t" r="r" b="b"/>
            <a:pathLst>
              <a:path w="4014439" h="568796">
                <a:moveTo>
                  <a:pt x="0" y="535343"/>
                </a:moveTo>
                <a:cubicBezTo>
                  <a:pt x="657922" y="264926"/>
                  <a:pt x="1315844" y="-5491"/>
                  <a:pt x="1984917" y="84"/>
                </a:cubicBezTo>
                <a:cubicBezTo>
                  <a:pt x="2653990" y="5659"/>
                  <a:pt x="3334214" y="287227"/>
                  <a:pt x="4014439" y="568796"/>
                </a:cubicBezTo>
              </a:path>
            </a:pathLst>
          </a:custGeom>
          <a:ln w="317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1" name="文本框 50"/>
          <p:cNvSpPr txBox="1"/>
          <p:nvPr/>
        </p:nvSpPr>
        <p:spPr bwMode="gray">
          <a:xfrm>
            <a:off x="5430642" y="3784345"/>
            <a:ext cx="1300356" cy="276999"/>
          </a:xfrm>
          <a:prstGeom prst="rect">
            <a:avLst/>
          </a:prstGeom>
          <a:noFill/>
          <a:ln w="31750">
            <a:noFill/>
          </a:ln>
        </p:spPr>
        <p:txBody>
          <a:bodyPr wrap="none" rtlCol="0">
            <a:spAutoFit/>
          </a:bodyPr>
          <a:lstStyle>
            <a:defPPr>
              <a:defRPr lang="en-US"/>
            </a:defPPr>
            <a:lvl1pPr algn="ctr">
              <a:defRPr sz="1200">
                <a:latin typeface="Huawei Sans" panose="020C0503030203020204" pitchFamily="34" charset="0"/>
                <a:ea typeface="方正兰亭黑简体" panose="02000000000000000000" pitchFamily="2" charset="-122"/>
              </a:defRPr>
            </a:lvl1pPr>
          </a:lstStyle>
          <a:p>
            <a:r>
              <a:rPr lang="zh-CN" altLang="en-US" dirty="0"/>
              <a:t>入口</a:t>
            </a:r>
            <a:r>
              <a:rPr lang="en-US" altLang="zh-CN" dirty="0"/>
              <a:t>PE</a:t>
            </a:r>
            <a:r>
              <a:rPr lang="zh-CN" altLang="en-US" dirty="0"/>
              <a:t>到出口</a:t>
            </a:r>
            <a:r>
              <a:rPr lang="en-US" altLang="zh-CN" dirty="0"/>
              <a:t>PE</a:t>
            </a:r>
            <a:endParaRPr lang="zh-CN" altLang="en-US" dirty="0"/>
          </a:p>
        </p:txBody>
      </p:sp>
      <p:cxnSp>
        <p:nvCxnSpPr>
          <p:cNvPr id="55" name="直接箭头连接符 54"/>
          <p:cNvCxnSpPr/>
          <p:nvPr/>
        </p:nvCxnSpPr>
        <p:spPr bwMode="gray">
          <a:xfrm rot="19186561">
            <a:off x="8332700" y="4266621"/>
            <a:ext cx="1004949" cy="395931"/>
          </a:xfrm>
          <a:prstGeom prst="straightConnector1">
            <a:avLst/>
          </a:prstGeom>
          <a:ln w="317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6" name="文本框 55"/>
          <p:cNvSpPr txBox="1"/>
          <p:nvPr/>
        </p:nvSpPr>
        <p:spPr bwMode="gray">
          <a:xfrm rot="20484841">
            <a:off x="8319382" y="3941447"/>
            <a:ext cx="819456" cy="461665"/>
          </a:xfrm>
          <a:prstGeom prst="rect">
            <a:avLst/>
          </a:prstGeom>
          <a:noFill/>
          <a:ln w="31750">
            <a:noFill/>
          </a:ln>
        </p:spPr>
        <p:txBody>
          <a:bodyPr wrap="none" rtlCol="0">
            <a:spAutoFit/>
          </a:bodyPr>
          <a:lstStyle/>
          <a:p>
            <a:pPr algn="ct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出口</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PE</a:t>
            </a: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到</a:t>
            </a:r>
            <a:endPar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远</a:t>
            </a: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端</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CE</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59" name="组合 58"/>
          <p:cNvGrpSpPr/>
          <p:nvPr/>
        </p:nvGrpSpPr>
        <p:grpSpPr bwMode="gray">
          <a:xfrm>
            <a:off x="9493131" y="4272637"/>
            <a:ext cx="540000" cy="723926"/>
            <a:chOff x="4073209" y="4947622"/>
            <a:chExt cx="540000" cy="723926"/>
          </a:xfrm>
        </p:grpSpPr>
        <p:pic>
          <p:nvPicPr>
            <p:cNvPr id="60" name="Picture 12" descr="E:\2016.01\1.12 扁平化图标\蓝色\AR-蓝色最新-40.png"/>
            <p:cNvPicPr>
              <a:picLocks noChangeAspect="1" noChangeArrowheads="1"/>
            </p:cNvPicPr>
            <p:nvPr/>
          </p:nvPicPr>
          <p:blipFill>
            <a:blip r:embed="rId3" cstate="print"/>
            <a:srcRect/>
            <a:stretch>
              <a:fillRect/>
            </a:stretch>
          </p:blipFill>
          <p:spPr bwMode="gray">
            <a:xfrm>
              <a:off x="4073209" y="4947622"/>
              <a:ext cx="540000" cy="441818"/>
            </a:xfrm>
            <a:prstGeom prst="rect">
              <a:avLst/>
            </a:prstGeom>
            <a:noFill/>
          </p:spPr>
        </p:pic>
        <p:sp>
          <p:nvSpPr>
            <p:cNvPr id="61" name="文本框 60"/>
            <p:cNvSpPr txBox="1"/>
            <p:nvPr/>
          </p:nvSpPr>
          <p:spPr bwMode="gray">
            <a:xfrm>
              <a:off x="4086262" y="5363771"/>
              <a:ext cx="50206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CE3</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62" name="组合 61"/>
          <p:cNvGrpSpPr/>
          <p:nvPr/>
        </p:nvGrpSpPr>
        <p:grpSpPr bwMode="gray">
          <a:xfrm>
            <a:off x="9504955" y="5354017"/>
            <a:ext cx="552270" cy="723926"/>
            <a:chOff x="4060939" y="4947622"/>
            <a:chExt cx="552270" cy="723926"/>
          </a:xfrm>
        </p:grpSpPr>
        <p:pic>
          <p:nvPicPr>
            <p:cNvPr id="63" name="Picture 12" descr="E:\2016.01\1.12 扁平化图标\蓝色\AR-蓝色最新-40.png"/>
            <p:cNvPicPr>
              <a:picLocks noChangeAspect="1" noChangeArrowheads="1"/>
            </p:cNvPicPr>
            <p:nvPr/>
          </p:nvPicPr>
          <p:blipFill>
            <a:blip r:embed="rId3" cstate="print"/>
            <a:srcRect/>
            <a:stretch>
              <a:fillRect/>
            </a:stretch>
          </p:blipFill>
          <p:spPr bwMode="gray">
            <a:xfrm>
              <a:off x="4073209" y="4947622"/>
              <a:ext cx="540000" cy="441818"/>
            </a:xfrm>
            <a:prstGeom prst="rect">
              <a:avLst/>
            </a:prstGeom>
            <a:noFill/>
          </p:spPr>
        </p:pic>
        <p:sp>
          <p:nvSpPr>
            <p:cNvPr id="64" name="文本框 63"/>
            <p:cNvSpPr txBox="1"/>
            <p:nvPr/>
          </p:nvSpPr>
          <p:spPr bwMode="gray">
            <a:xfrm>
              <a:off x="4060939" y="5363771"/>
              <a:ext cx="50206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CE4</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Tree>
    <p:extLst>
      <p:ext uri="{BB962C8B-B14F-4D97-AF65-F5344CB8AC3E}">
        <p14:creationId xmlns:p14="http://schemas.microsoft.com/office/powerpoint/2010/main" val="147552437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smtClean="0"/>
              <a:t>CE</a:t>
            </a:r>
            <a:r>
              <a:rPr lang="zh-CN" altLang="en-US" smtClean="0"/>
              <a:t>与</a:t>
            </a:r>
            <a:r>
              <a:rPr lang="en-US" altLang="zh-CN" smtClean="0"/>
              <a:t>PE</a:t>
            </a:r>
            <a:r>
              <a:rPr lang="zh-CN" altLang="en-US" smtClean="0"/>
              <a:t>之间的路由信息交换</a:t>
            </a:r>
            <a:endParaRPr lang="zh-CN" altLang="en-US" dirty="0"/>
          </a:p>
        </p:txBody>
      </p:sp>
      <p:sp>
        <p:nvSpPr>
          <p:cNvPr id="3" name="文本占位符 2"/>
          <p:cNvSpPr>
            <a:spLocks noGrp="1"/>
          </p:cNvSpPr>
          <p:nvPr>
            <p:ph type="body" sz="quarter" idx="10"/>
          </p:nvPr>
        </p:nvSpPr>
        <p:spPr bwMode="gray"/>
        <p:txBody>
          <a:bodyPr/>
          <a:lstStyle/>
          <a:p>
            <a:r>
              <a:rPr lang="zh-CN" altLang="en-US" sz="1800" smtClean="0"/>
              <a:t>如图，客户</a:t>
            </a:r>
            <a:r>
              <a:rPr lang="en-US" altLang="zh-CN" sz="1800" smtClean="0"/>
              <a:t>X</a:t>
            </a:r>
            <a:r>
              <a:rPr lang="zh-CN" altLang="en-US" sz="1800" smtClean="0"/>
              <a:t>和客户</a:t>
            </a:r>
            <a:r>
              <a:rPr lang="en-US" altLang="zh-CN" sz="1800" smtClean="0"/>
              <a:t>Y</a:t>
            </a:r>
            <a:r>
              <a:rPr lang="zh-CN" altLang="en-US" sz="1800" smtClean="0"/>
              <a:t>属于不同的</a:t>
            </a:r>
            <a:r>
              <a:rPr lang="en-US" altLang="zh-CN" sz="1800" smtClean="0"/>
              <a:t>VPN</a:t>
            </a:r>
            <a:r>
              <a:rPr lang="zh-CN" altLang="en-US" sz="1800" smtClean="0"/>
              <a:t>，分别拥有两个站点，现需要实现站点间的路由信息交互。</a:t>
            </a:r>
          </a:p>
          <a:p>
            <a:r>
              <a:rPr lang="en-US" altLang="zh-CN" sz="1800" smtClean="0"/>
              <a:t>CE</a:t>
            </a:r>
            <a:r>
              <a:rPr lang="zh-CN" altLang="en-US" sz="1800" smtClean="0"/>
              <a:t>与</a:t>
            </a:r>
            <a:r>
              <a:rPr lang="en-US" altLang="zh-CN" sz="1800" smtClean="0"/>
              <a:t>PE</a:t>
            </a:r>
            <a:r>
              <a:rPr lang="zh-CN" altLang="en-US" sz="1800" smtClean="0"/>
              <a:t>之间可以使用静态路由、</a:t>
            </a:r>
            <a:r>
              <a:rPr lang="en-US" altLang="zh-CN" sz="1800" smtClean="0"/>
              <a:t>OSPF</a:t>
            </a:r>
            <a:r>
              <a:rPr lang="zh-CN" altLang="en-US" sz="1800" smtClean="0"/>
              <a:t>、</a:t>
            </a:r>
            <a:r>
              <a:rPr lang="en-US" altLang="zh-CN" sz="1800" smtClean="0"/>
              <a:t>IS-IS</a:t>
            </a:r>
            <a:r>
              <a:rPr lang="zh-CN" altLang="en-US" sz="1800" smtClean="0"/>
              <a:t>或</a:t>
            </a:r>
            <a:r>
              <a:rPr lang="en-US" altLang="zh-CN" sz="1800" smtClean="0"/>
              <a:t>BGP</a:t>
            </a:r>
            <a:r>
              <a:rPr lang="zh-CN" altLang="en-US" sz="1800" smtClean="0"/>
              <a:t>交换路由信息。无论使用哪种路由协议，</a:t>
            </a:r>
            <a:r>
              <a:rPr lang="en-US" altLang="zh-CN" sz="1800" smtClean="0"/>
              <a:t>CE</a:t>
            </a:r>
            <a:r>
              <a:rPr lang="zh-CN" altLang="en-US" sz="1800" smtClean="0"/>
              <a:t>和</a:t>
            </a:r>
            <a:r>
              <a:rPr lang="en-US" altLang="zh-CN" sz="1800" smtClean="0"/>
              <a:t>PE</a:t>
            </a:r>
            <a:r>
              <a:rPr lang="zh-CN" altLang="en-US" sz="1800" smtClean="0"/>
              <a:t>之间交换的都是标准的</a:t>
            </a:r>
            <a:r>
              <a:rPr lang="en-US" altLang="zh-CN" sz="1800" smtClean="0"/>
              <a:t>IPv4</a:t>
            </a:r>
            <a:r>
              <a:rPr lang="zh-CN" altLang="en-US" sz="1800" smtClean="0"/>
              <a:t>路由。</a:t>
            </a:r>
            <a:endParaRPr lang="en-US" altLang="zh-CN" sz="1800" smtClean="0"/>
          </a:p>
          <a:p>
            <a:r>
              <a:rPr lang="zh-CN" altLang="en-US" sz="1800" smtClean="0"/>
              <a:t>本地</a:t>
            </a:r>
            <a:r>
              <a:rPr lang="en-US" altLang="zh-CN" sz="1800" smtClean="0"/>
              <a:t>CE</a:t>
            </a:r>
            <a:r>
              <a:rPr lang="zh-CN" altLang="en-US" sz="1800" smtClean="0"/>
              <a:t>到入口</a:t>
            </a:r>
            <a:r>
              <a:rPr lang="en-US" altLang="zh-CN" sz="1800" smtClean="0"/>
              <a:t>PE</a:t>
            </a:r>
            <a:r>
              <a:rPr lang="zh-CN" altLang="en-US" sz="1800" smtClean="0"/>
              <a:t>和出口</a:t>
            </a:r>
            <a:r>
              <a:rPr lang="en-US" altLang="zh-CN" sz="1800" smtClean="0"/>
              <a:t>PE</a:t>
            </a:r>
            <a:r>
              <a:rPr lang="zh-CN" altLang="en-US" sz="1800" smtClean="0"/>
              <a:t>到远端</a:t>
            </a:r>
            <a:r>
              <a:rPr lang="en-US" altLang="zh-CN" sz="1800" smtClean="0"/>
              <a:t>CE</a:t>
            </a:r>
            <a:r>
              <a:rPr lang="zh-CN" altLang="en-US" sz="1800" smtClean="0"/>
              <a:t>的路由信息交换原理完全相同。</a:t>
            </a:r>
            <a:endParaRPr lang="en-US" altLang="zh-CN" sz="1800" smtClean="0"/>
          </a:p>
          <a:p>
            <a:endParaRPr lang="en-US" altLang="zh-CN" sz="1800" dirty="0"/>
          </a:p>
        </p:txBody>
      </p:sp>
      <p:sp>
        <p:nvSpPr>
          <p:cNvPr id="4" name="圆角矩形 3"/>
          <p:cNvSpPr/>
          <p:nvPr/>
        </p:nvSpPr>
        <p:spPr bwMode="gray">
          <a:xfrm>
            <a:off x="4103749" y="4143995"/>
            <a:ext cx="4000659" cy="1825378"/>
          </a:xfrm>
          <a:prstGeom prst="roundRect">
            <a:avLst/>
          </a:prstGeom>
          <a:solidFill>
            <a:srgbClr val="BEE9EE"/>
          </a:solidFill>
          <a:ln w="28575" cap="flat" cmpd="sng" algn="ctr">
            <a:noFill/>
            <a:prstDash val="sys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文本框 4"/>
          <p:cNvSpPr txBox="1"/>
          <p:nvPr/>
        </p:nvSpPr>
        <p:spPr bwMode="gray">
          <a:xfrm>
            <a:off x="5308828" y="5674705"/>
            <a:ext cx="1590500" cy="307777"/>
          </a:xfrm>
          <a:prstGeom prst="rect">
            <a:avLst/>
          </a:prstGeom>
          <a:noFill/>
        </p:spPr>
        <p:txBody>
          <a:bodyPr wrap="none" rtlCol="0">
            <a:spAutoFit/>
          </a:bodyPr>
          <a:lstStyle/>
          <a:p>
            <a:pPr algn="r"/>
            <a:r>
              <a:rPr lang="en-US" altLang="zh-CN"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MPLS VPN</a:t>
            </a:r>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骨干网</a:t>
            </a:r>
            <a:endPar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6" name="组合 5"/>
          <p:cNvGrpSpPr/>
          <p:nvPr/>
        </p:nvGrpSpPr>
        <p:grpSpPr bwMode="gray">
          <a:xfrm>
            <a:off x="3846898" y="4694721"/>
            <a:ext cx="4513567" cy="723926"/>
            <a:chOff x="4088571" y="4424992"/>
            <a:chExt cx="4513567" cy="723926"/>
          </a:xfrm>
        </p:grpSpPr>
        <p:cxnSp>
          <p:nvCxnSpPr>
            <p:cNvPr id="7" name="直接连接符 6"/>
            <p:cNvCxnSpPr>
              <a:stCxn id="11" idx="3"/>
              <a:endCxn id="13" idx="1"/>
            </p:cNvCxnSpPr>
            <p:nvPr/>
          </p:nvCxnSpPr>
          <p:spPr bwMode="gray">
            <a:xfrm>
              <a:off x="4628571" y="4645901"/>
              <a:ext cx="343356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8" name="组合 7"/>
            <p:cNvGrpSpPr/>
            <p:nvPr/>
          </p:nvGrpSpPr>
          <p:grpSpPr bwMode="gray">
            <a:xfrm>
              <a:off x="6067674" y="4424992"/>
              <a:ext cx="540000" cy="723926"/>
              <a:chOff x="5312873" y="4947622"/>
              <a:chExt cx="540000" cy="723926"/>
            </a:xfrm>
          </p:grpSpPr>
          <p:pic>
            <p:nvPicPr>
              <p:cNvPr id="15" name="Picture 12" descr="E:\2016.01\1.12 扁平化图标\蓝色\AR-蓝色最新-40.png"/>
              <p:cNvPicPr>
                <a:picLocks noChangeAspect="1" noChangeArrowheads="1"/>
              </p:cNvPicPr>
              <p:nvPr/>
            </p:nvPicPr>
            <p:blipFill>
              <a:blip r:embed="rId3" cstate="print"/>
              <a:srcRect/>
              <a:stretch>
                <a:fillRect/>
              </a:stretch>
            </p:blipFill>
            <p:spPr bwMode="gray">
              <a:xfrm>
                <a:off x="5312873" y="4947622"/>
                <a:ext cx="540000" cy="441818"/>
              </a:xfrm>
              <a:prstGeom prst="rect">
                <a:avLst/>
              </a:prstGeom>
              <a:noFill/>
            </p:spPr>
          </p:pic>
          <p:sp>
            <p:nvSpPr>
              <p:cNvPr id="16" name="文本框 15"/>
              <p:cNvSpPr txBox="1"/>
              <p:nvPr/>
            </p:nvSpPr>
            <p:spPr bwMode="gray">
              <a:xfrm>
                <a:off x="5436839" y="5363771"/>
                <a:ext cx="292068"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9" name="组合 8"/>
            <p:cNvGrpSpPr/>
            <p:nvPr/>
          </p:nvGrpSpPr>
          <p:grpSpPr bwMode="gray">
            <a:xfrm>
              <a:off x="8062138" y="4424992"/>
              <a:ext cx="540000" cy="714804"/>
              <a:chOff x="8062138" y="4947622"/>
              <a:chExt cx="540000" cy="714804"/>
            </a:xfrm>
          </p:grpSpPr>
          <p:pic>
            <p:nvPicPr>
              <p:cNvPr id="13" name="Picture 12" descr="E:\2016.01\1.12 扁平化图标\蓝色\AR-蓝色最新-40.png"/>
              <p:cNvPicPr>
                <a:picLocks noChangeAspect="1" noChangeArrowheads="1"/>
              </p:cNvPicPr>
              <p:nvPr/>
            </p:nvPicPr>
            <p:blipFill>
              <a:blip r:embed="rId3" cstate="print"/>
              <a:srcRect/>
              <a:stretch>
                <a:fillRect/>
              </a:stretch>
            </p:blipFill>
            <p:spPr bwMode="gray">
              <a:xfrm>
                <a:off x="8062138" y="4947622"/>
                <a:ext cx="540000" cy="441818"/>
              </a:xfrm>
              <a:prstGeom prst="rect">
                <a:avLst/>
              </a:prstGeom>
              <a:noFill/>
            </p:spPr>
          </p:pic>
          <p:sp>
            <p:nvSpPr>
              <p:cNvPr id="14" name="文本框 13"/>
              <p:cNvSpPr txBox="1"/>
              <p:nvPr/>
            </p:nvSpPr>
            <p:spPr bwMode="gray">
              <a:xfrm>
                <a:off x="8084306" y="5354649"/>
                <a:ext cx="497252"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PE2</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0" name="组合 9"/>
            <p:cNvGrpSpPr/>
            <p:nvPr/>
          </p:nvGrpSpPr>
          <p:grpSpPr bwMode="gray">
            <a:xfrm>
              <a:off x="4088571" y="4424992"/>
              <a:ext cx="540000" cy="723926"/>
              <a:chOff x="4088571" y="4947622"/>
              <a:chExt cx="540000" cy="723926"/>
            </a:xfrm>
          </p:grpSpPr>
          <p:pic>
            <p:nvPicPr>
              <p:cNvPr id="11" name="Picture 12" descr="E:\2016.01\1.12 扁平化图标\蓝色\AR-蓝色最新-40.png"/>
              <p:cNvPicPr>
                <a:picLocks noChangeAspect="1" noChangeArrowheads="1"/>
              </p:cNvPicPr>
              <p:nvPr/>
            </p:nvPicPr>
            <p:blipFill>
              <a:blip r:embed="rId3" cstate="print"/>
              <a:srcRect/>
              <a:stretch>
                <a:fillRect/>
              </a:stretch>
            </p:blipFill>
            <p:spPr bwMode="gray">
              <a:xfrm>
                <a:off x="4088571" y="4947622"/>
                <a:ext cx="540000" cy="441818"/>
              </a:xfrm>
              <a:prstGeom prst="rect">
                <a:avLst/>
              </a:prstGeom>
              <a:noFill/>
            </p:spPr>
          </p:pic>
          <p:sp>
            <p:nvSpPr>
              <p:cNvPr id="12" name="文本框 11"/>
              <p:cNvSpPr txBox="1"/>
              <p:nvPr/>
            </p:nvSpPr>
            <p:spPr bwMode="gray">
              <a:xfrm>
                <a:off x="4109945" y="5363771"/>
                <a:ext cx="497252" cy="307777"/>
              </a:xfrm>
              <a:prstGeom prst="rect">
                <a:avLst/>
              </a:prstGeom>
              <a:noFill/>
            </p:spPr>
            <p:txBody>
              <a:bodyPr wrap="non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PE1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grpSp>
        <p:nvGrpSpPr>
          <p:cNvPr id="17" name="组合 16"/>
          <p:cNvGrpSpPr/>
          <p:nvPr/>
        </p:nvGrpSpPr>
        <p:grpSpPr bwMode="gray">
          <a:xfrm>
            <a:off x="2158869" y="4272637"/>
            <a:ext cx="550687" cy="712575"/>
            <a:chOff x="4073209" y="4947622"/>
            <a:chExt cx="550687" cy="712575"/>
          </a:xfrm>
        </p:grpSpPr>
        <p:pic>
          <p:nvPicPr>
            <p:cNvPr id="18" name="Picture 12" descr="E:\2016.01\1.12 扁平化图标\蓝色\AR-蓝色最新-40.png"/>
            <p:cNvPicPr>
              <a:picLocks noChangeAspect="1" noChangeArrowheads="1"/>
            </p:cNvPicPr>
            <p:nvPr/>
          </p:nvPicPr>
          <p:blipFill>
            <a:blip r:embed="rId3" cstate="print"/>
            <a:srcRect/>
            <a:stretch>
              <a:fillRect/>
            </a:stretch>
          </p:blipFill>
          <p:spPr bwMode="gray">
            <a:xfrm>
              <a:off x="4073209" y="4947622"/>
              <a:ext cx="540000" cy="441818"/>
            </a:xfrm>
            <a:prstGeom prst="rect">
              <a:avLst/>
            </a:prstGeom>
            <a:noFill/>
          </p:spPr>
        </p:pic>
        <p:sp>
          <p:nvSpPr>
            <p:cNvPr id="19" name="文本框 18"/>
            <p:cNvSpPr txBox="1"/>
            <p:nvPr/>
          </p:nvSpPr>
          <p:spPr bwMode="gray">
            <a:xfrm>
              <a:off x="4121835" y="5352420"/>
              <a:ext cx="50206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0" name="圆角矩形 19"/>
          <p:cNvSpPr/>
          <p:nvPr/>
        </p:nvSpPr>
        <p:spPr bwMode="gray">
          <a:xfrm>
            <a:off x="952500" y="4025063"/>
            <a:ext cx="1873049" cy="994971"/>
          </a:xfrm>
          <a:prstGeom prst="roundRect">
            <a:avLst/>
          </a:prstGeom>
          <a:noFill/>
          <a:ln w="25400">
            <a:solidFill>
              <a:srgbClr val="8BC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1" name="组合 20"/>
          <p:cNvGrpSpPr/>
          <p:nvPr/>
        </p:nvGrpSpPr>
        <p:grpSpPr bwMode="gray">
          <a:xfrm>
            <a:off x="2147045" y="5354017"/>
            <a:ext cx="575533" cy="706640"/>
            <a:chOff x="4073209" y="4947622"/>
            <a:chExt cx="575533" cy="706640"/>
          </a:xfrm>
        </p:grpSpPr>
        <p:pic>
          <p:nvPicPr>
            <p:cNvPr id="22" name="Picture 12" descr="E:\2016.01\1.12 扁平化图标\蓝色\AR-蓝色最新-40.png"/>
            <p:cNvPicPr>
              <a:picLocks noChangeAspect="1" noChangeArrowheads="1"/>
            </p:cNvPicPr>
            <p:nvPr/>
          </p:nvPicPr>
          <p:blipFill>
            <a:blip r:embed="rId3" cstate="print"/>
            <a:srcRect/>
            <a:stretch>
              <a:fillRect/>
            </a:stretch>
          </p:blipFill>
          <p:spPr bwMode="gray">
            <a:xfrm>
              <a:off x="4073209" y="4947622"/>
              <a:ext cx="540000" cy="441818"/>
            </a:xfrm>
            <a:prstGeom prst="rect">
              <a:avLst/>
            </a:prstGeom>
            <a:noFill/>
          </p:spPr>
        </p:pic>
        <p:sp>
          <p:nvSpPr>
            <p:cNvPr id="23" name="文本框 22"/>
            <p:cNvSpPr txBox="1"/>
            <p:nvPr/>
          </p:nvSpPr>
          <p:spPr bwMode="gray">
            <a:xfrm>
              <a:off x="4146681" y="5346485"/>
              <a:ext cx="50206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CE2</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4" name="圆角矩形 23"/>
          <p:cNvSpPr/>
          <p:nvPr/>
        </p:nvSpPr>
        <p:spPr bwMode="gray">
          <a:xfrm>
            <a:off x="952500" y="5106443"/>
            <a:ext cx="1873049" cy="994971"/>
          </a:xfrm>
          <a:prstGeom prst="roundRect">
            <a:avLst/>
          </a:prstGeom>
          <a:noFill/>
          <a:ln w="254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圆角矩形 27"/>
          <p:cNvSpPr/>
          <p:nvPr/>
        </p:nvSpPr>
        <p:spPr bwMode="gray">
          <a:xfrm flipH="1">
            <a:off x="9366451" y="4025063"/>
            <a:ext cx="1873049" cy="994971"/>
          </a:xfrm>
          <a:prstGeom prst="roundRect">
            <a:avLst/>
          </a:prstGeom>
          <a:noFill/>
          <a:ln w="25400">
            <a:solidFill>
              <a:srgbClr val="8BC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圆角矩形 31"/>
          <p:cNvSpPr/>
          <p:nvPr/>
        </p:nvSpPr>
        <p:spPr bwMode="gray">
          <a:xfrm flipH="1">
            <a:off x="9378275" y="5106443"/>
            <a:ext cx="1873049" cy="994971"/>
          </a:xfrm>
          <a:prstGeom prst="roundRect">
            <a:avLst/>
          </a:prstGeom>
          <a:noFill/>
          <a:ln w="254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3" name="直接连接符 32"/>
          <p:cNvCxnSpPr>
            <a:stCxn id="18" idx="3"/>
            <a:endCxn id="11" idx="1"/>
          </p:cNvCxnSpPr>
          <p:nvPr/>
        </p:nvCxnSpPr>
        <p:spPr bwMode="gray">
          <a:xfrm>
            <a:off x="2698869" y="4493546"/>
            <a:ext cx="1148029" cy="42208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a:stCxn id="22" idx="3"/>
            <a:endCxn id="11" idx="1"/>
          </p:cNvCxnSpPr>
          <p:nvPr/>
        </p:nvCxnSpPr>
        <p:spPr bwMode="gray">
          <a:xfrm flipV="1">
            <a:off x="2687045" y="4915630"/>
            <a:ext cx="1159853" cy="65929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a:stCxn id="13" idx="3"/>
          </p:cNvCxnSpPr>
          <p:nvPr/>
        </p:nvCxnSpPr>
        <p:spPr bwMode="gray">
          <a:xfrm flipV="1">
            <a:off x="8360465" y="4493546"/>
            <a:ext cx="1132666" cy="42208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a:stCxn id="13" idx="3"/>
          </p:cNvCxnSpPr>
          <p:nvPr/>
        </p:nvCxnSpPr>
        <p:spPr bwMode="gray">
          <a:xfrm>
            <a:off x="8360465" y="4915630"/>
            <a:ext cx="1144490" cy="65929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文本框 36"/>
          <p:cNvSpPr txBox="1"/>
          <p:nvPr/>
        </p:nvSpPr>
        <p:spPr bwMode="gray">
          <a:xfrm>
            <a:off x="881938" y="4143995"/>
            <a:ext cx="1215397"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192.168.1.0/24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文本框 37"/>
          <p:cNvSpPr txBox="1"/>
          <p:nvPr/>
        </p:nvSpPr>
        <p:spPr bwMode="gray">
          <a:xfrm>
            <a:off x="894774" y="5465428"/>
            <a:ext cx="1215397"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192.168.1.0/24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文本框 38"/>
          <p:cNvSpPr txBox="1"/>
          <p:nvPr/>
        </p:nvSpPr>
        <p:spPr bwMode="gray">
          <a:xfrm>
            <a:off x="924700" y="4668568"/>
            <a:ext cx="1124026" cy="350160"/>
          </a:xfrm>
          <a:prstGeom prst="rect">
            <a:avLst/>
          </a:prstGeom>
          <a:noFill/>
        </p:spPr>
        <p:txBody>
          <a:bodyPr wrap="none" rtlCol="0">
            <a:spAutoFit/>
          </a:bodyPr>
          <a:lstStyle/>
          <a:p>
            <a:pPr>
              <a:lnSpc>
                <a:spcPct val="130000"/>
              </a:lnSpc>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X</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A</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文本框 39"/>
          <p:cNvSpPr txBox="1"/>
          <p:nvPr/>
        </p:nvSpPr>
        <p:spPr bwMode="gray">
          <a:xfrm>
            <a:off x="924700" y="5788101"/>
            <a:ext cx="1112805" cy="350160"/>
          </a:xfrm>
          <a:prstGeom prst="rect">
            <a:avLst/>
          </a:prstGeom>
          <a:noFill/>
        </p:spPr>
        <p:txBody>
          <a:bodyPr wrap="none" rtlCol="0">
            <a:spAutoFit/>
          </a:bodyPr>
          <a:lstStyle/>
          <a:p>
            <a:pPr>
              <a:lnSpc>
                <a:spcPct val="130000"/>
              </a:lnSpc>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Y</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C</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文本框 40"/>
          <p:cNvSpPr txBox="1"/>
          <p:nvPr/>
        </p:nvSpPr>
        <p:spPr bwMode="gray">
          <a:xfrm>
            <a:off x="10119237" y="4647624"/>
            <a:ext cx="1114408" cy="350160"/>
          </a:xfrm>
          <a:prstGeom prst="rect">
            <a:avLst/>
          </a:prstGeom>
          <a:noFill/>
        </p:spPr>
        <p:txBody>
          <a:bodyPr wrap="none" rtlCol="0">
            <a:spAutoFit/>
          </a:bodyPr>
          <a:lstStyle/>
          <a:p>
            <a:pPr>
              <a:lnSpc>
                <a:spcPct val="130000"/>
              </a:lnSpc>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X</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B</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文本框 41"/>
          <p:cNvSpPr txBox="1"/>
          <p:nvPr/>
        </p:nvSpPr>
        <p:spPr bwMode="gray">
          <a:xfrm>
            <a:off x="10119237" y="5767157"/>
            <a:ext cx="1133644" cy="350160"/>
          </a:xfrm>
          <a:prstGeom prst="rect">
            <a:avLst/>
          </a:prstGeom>
          <a:noFill/>
        </p:spPr>
        <p:txBody>
          <a:bodyPr wrap="none" rtlCol="0">
            <a:spAutoFit/>
          </a:bodyPr>
          <a:lstStyle/>
          <a:p>
            <a:pPr>
              <a:lnSpc>
                <a:spcPct val="130000"/>
              </a:lnSpc>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Y</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3" name="直接箭头连接符 42"/>
          <p:cNvCxnSpPr/>
          <p:nvPr/>
        </p:nvCxnSpPr>
        <p:spPr bwMode="gray">
          <a:xfrm>
            <a:off x="2854392" y="4287147"/>
            <a:ext cx="1004949" cy="395931"/>
          </a:xfrm>
          <a:prstGeom prst="straightConnector1">
            <a:avLst/>
          </a:prstGeom>
          <a:ln w="31750">
            <a:solidFill>
              <a:srgbClr val="8BC9A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8" name="直接箭头连接符 47"/>
          <p:cNvCxnSpPr/>
          <p:nvPr/>
        </p:nvCxnSpPr>
        <p:spPr bwMode="gray">
          <a:xfrm flipV="1">
            <a:off x="8360465" y="4291252"/>
            <a:ext cx="986203" cy="356372"/>
          </a:xfrm>
          <a:prstGeom prst="straightConnector1">
            <a:avLst/>
          </a:prstGeom>
          <a:ln w="31750">
            <a:solidFill>
              <a:srgbClr val="8BC9A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1" name="文本框 50"/>
          <p:cNvSpPr txBox="1"/>
          <p:nvPr/>
        </p:nvSpPr>
        <p:spPr bwMode="gray">
          <a:xfrm rot="1298280">
            <a:off x="3030076" y="3962603"/>
            <a:ext cx="869149" cy="461665"/>
          </a:xfrm>
          <a:prstGeom prst="rect">
            <a:avLst/>
          </a:prstGeom>
          <a:noFill/>
          <a:ln w="31750">
            <a:noFill/>
          </a:ln>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BGP</a:t>
            </a: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IGP</a:t>
            </a:r>
          </a:p>
          <a:p>
            <a:pPr algn="ct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静态路由</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文本框 51"/>
          <p:cNvSpPr txBox="1"/>
          <p:nvPr/>
        </p:nvSpPr>
        <p:spPr bwMode="gray">
          <a:xfrm rot="20484841">
            <a:off x="8294536" y="3941447"/>
            <a:ext cx="869149" cy="461665"/>
          </a:xfrm>
          <a:prstGeom prst="rect">
            <a:avLst/>
          </a:prstGeom>
          <a:noFill/>
          <a:ln w="31750">
            <a:noFill/>
          </a:ln>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BGP</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IGP</a:t>
            </a:r>
          </a:p>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静态路由</a:t>
            </a:r>
          </a:p>
        </p:txBody>
      </p:sp>
      <p:grpSp>
        <p:nvGrpSpPr>
          <p:cNvPr id="53" name="组合 52"/>
          <p:cNvGrpSpPr/>
          <p:nvPr/>
        </p:nvGrpSpPr>
        <p:grpSpPr bwMode="gray">
          <a:xfrm>
            <a:off x="9493131" y="4272637"/>
            <a:ext cx="540000" cy="723926"/>
            <a:chOff x="4073209" y="4947622"/>
            <a:chExt cx="540000" cy="723926"/>
          </a:xfrm>
        </p:grpSpPr>
        <p:pic>
          <p:nvPicPr>
            <p:cNvPr id="54" name="Picture 12" descr="E:\2016.01\1.12 扁平化图标\蓝色\AR-蓝色最新-40.png"/>
            <p:cNvPicPr>
              <a:picLocks noChangeAspect="1" noChangeArrowheads="1"/>
            </p:cNvPicPr>
            <p:nvPr/>
          </p:nvPicPr>
          <p:blipFill>
            <a:blip r:embed="rId3" cstate="print"/>
            <a:srcRect/>
            <a:stretch>
              <a:fillRect/>
            </a:stretch>
          </p:blipFill>
          <p:spPr bwMode="gray">
            <a:xfrm>
              <a:off x="4073209" y="4947622"/>
              <a:ext cx="540000" cy="441818"/>
            </a:xfrm>
            <a:prstGeom prst="rect">
              <a:avLst/>
            </a:prstGeom>
            <a:noFill/>
          </p:spPr>
        </p:pic>
        <p:sp>
          <p:nvSpPr>
            <p:cNvPr id="55" name="文本框 54"/>
            <p:cNvSpPr txBox="1"/>
            <p:nvPr/>
          </p:nvSpPr>
          <p:spPr bwMode="gray">
            <a:xfrm>
              <a:off x="4086262" y="5363771"/>
              <a:ext cx="50206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CE3</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56" name="组合 55"/>
          <p:cNvGrpSpPr/>
          <p:nvPr/>
        </p:nvGrpSpPr>
        <p:grpSpPr bwMode="gray">
          <a:xfrm>
            <a:off x="9504955" y="5354017"/>
            <a:ext cx="552270" cy="723926"/>
            <a:chOff x="4060939" y="4947622"/>
            <a:chExt cx="552270" cy="723926"/>
          </a:xfrm>
        </p:grpSpPr>
        <p:pic>
          <p:nvPicPr>
            <p:cNvPr id="57" name="Picture 12" descr="E:\2016.01\1.12 扁平化图标\蓝色\AR-蓝色最新-40.png"/>
            <p:cNvPicPr>
              <a:picLocks noChangeAspect="1" noChangeArrowheads="1"/>
            </p:cNvPicPr>
            <p:nvPr/>
          </p:nvPicPr>
          <p:blipFill>
            <a:blip r:embed="rId3" cstate="print"/>
            <a:srcRect/>
            <a:stretch>
              <a:fillRect/>
            </a:stretch>
          </p:blipFill>
          <p:spPr bwMode="gray">
            <a:xfrm>
              <a:off x="4073209" y="4947622"/>
              <a:ext cx="540000" cy="441818"/>
            </a:xfrm>
            <a:prstGeom prst="rect">
              <a:avLst/>
            </a:prstGeom>
            <a:noFill/>
          </p:spPr>
        </p:pic>
        <p:sp>
          <p:nvSpPr>
            <p:cNvPr id="58" name="文本框 57"/>
            <p:cNvSpPr txBox="1"/>
            <p:nvPr/>
          </p:nvSpPr>
          <p:spPr bwMode="gray">
            <a:xfrm>
              <a:off x="4060939" y="5363771"/>
              <a:ext cx="50206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CE4</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Tree>
    <p:extLst>
      <p:ext uri="{BB962C8B-B14F-4D97-AF65-F5344CB8AC3E}">
        <p14:creationId xmlns:p14="http://schemas.microsoft.com/office/powerpoint/2010/main" val="7646334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标题 67"/>
          <p:cNvSpPr>
            <a:spLocks noGrp="1"/>
          </p:cNvSpPr>
          <p:nvPr>
            <p:ph type="title"/>
          </p:nvPr>
        </p:nvSpPr>
        <p:spPr bwMode="gray"/>
        <p:txBody>
          <a:bodyPr/>
          <a:lstStyle/>
          <a:p>
            <a:r>
              <a:rPr lang="zh-CN" altLang="en-US" dirty="0" smtClean="0"/>
              <a:t>入口</a:t>
            </a:r>
            <a:r>
              <a:rPr lang="en-US" altLang="zh-CN" dirty="0" smtClean="0"/>
              <a:t>PE</a:t>
            </a:r>
            <a:r>
              <a:rPr lang="zh-CN" altLang="en-US" dirty="0" smtClean="0"/>
              <a:t>到出口</a:t>
            </a:r>
            <a:r>
              <a:rPr lang="en-US" altLang="zh-CN" dirty="0" smtClean="0"/>
              <a:t>PE</a:t>
            </a:r>
            <a:r>
              <a:rPr lang="zh-CN" altLang="en-US" dirty="0" smtClean="0">
                <a:sym typeface="Huawei Sans" panose="020C0503030203020204" pitchFamily="34" charset="0"/>
              </a:rPr>
              <a:t>路由传递 </a:t>
            </a:r>
            <a:r>
              <a:rPr lang="en-US" altLang="zh-CN" dirty="0" smtClean="0">
                <a:sym typeface="Huawei Sans" panose="020C0503030203020204" pitchFamily="34" charset="0"/>
              </a:rPr>
              <a:t>(1)</a:t>
            </a:r>
            <a:endParaRPr lang="zh-CN" altLang="en-US" dirty="0">
              <a:sym typeface="Huawei Sans" panose="020C0503030203020204" pitchFamily="34" charset="0"/>
            </a:endParaRPr>
          </a:p>
        </p:txBody>
      </p:sp>
      <p:sp>
        <p:nvSpPr>
          <p:cNvPr id="69" name="文本占位符 68"/>
          <p:cNvSpPr>
            <a:spLocks noGrp="1"/>
          </p:cNvSpPr>
          <p:nvPr>
            <p:ph type="body" sz="quarter" idx="10"/>
          </p:nvPr>
        </p:nvSpPr>
        <p:spPr bwMode="gray"/>
        <p:txBody>
          <a:bodyPr/>
          <a:lstStyle/>
          <a:p>
            <a:r>
              <a:rPr lang="en-US" altLang="zh-CN" sz="1800" dirty="0"/>
              <a:t>VPN</a:t>
            </a:r>
            <a:r>
              <a:rPr lang="zh-CN" altLang="zh-CN" sz="1800" dirty="0"/>
              <a:t>是一种私有网络，不同的</a:t>
            </a:r>
            <a:r>
              <a:rPr lang="en-US" altLang="zh-CN" sz="1800" dirty="0"/>
              <a:t>VPN</a:t>
            </a:r>
            <a:r>
              <a:rPr lang="zh-CN" altLang="zh-CN" sz="1800" dirty="0"/>
              <a:t>独立管理自己的地址范围，也称为地址空间（</a:t>
            </a:r>
            <a:r>
              <a:rPr lang="en-US" altLang="zh-CN" sz="1800" dirty="0"/>
              <a:t>address space</a:t>
            </a:r>
            <a:r>
              <a:rPr lang="zh-CN" altLang="zh-CN" sz="1800" dirty="0"/>
              <a:t>）。</a:t>
            </a:r>
            <a:endParaRPr lang="en-US" altLang="zh-CN" sz="1800" dirty="0" smtClean="0">
              <a:sym typeface="Huawei Sans" panose="020C0503030203020204" pitchFamily="34" charset="0"/>
            </a:endParaRPr>
          </a:p>
          <a:p>
            <a:r>
              <a:rPr lang="en-US" altLang="zh-CN" sz="1800" dirty="0" smtClean="0">
                <a:sym typeface="Huawei Sans" panose="020C0503030203020204" pitchFamily="34" charset="0"/>
              </a:rPr>
              <a:t>PE</a:t>
            </a:r>
            <a:r>
              <a:rPr lang="zh-CN" altLang="en-US" sz="1800" dirty="0" smtClean="0">
                <a:sym typeface="Huawei Sans" panose="020C0503030203020204" pitchFamily="34" charset="0"/>
              </a:rPr>
              <a:t>在接收到</a:t>
            </a:r>
            <a:r>
              <a:rPr lang="en-US" altLang="zh-CN" sz="1800" dirty="0" smtClean="0">
                <a:sym typeface="Huawei Sans" panose="020C0503030203020204" pitchFamily="34" charset="0"/>
              </a:rPr>
              <a:t>CE</a:t>
            </a:r>
            <a:r>
              <a:rPr lang="zh-CN" altLang="en-US" sz="1800" dirty="0" smtClean="0">
                <a:sym typeface="Huawei Sans" panose="020C0503030203020204" pitchFamily="34" charset="0"/>
              </a:rPr>
              <a:t>传递来的路由之后，需要独立保存不同</a:t>
            </a:r>
            <a:r>
              <a:rPr lang="en-US" altLang="zh-CN" sz="1800" dirty="0" smtClean="0">
                <a:sym typeface="Huawei Sans" panose="020C0503030203020204" pitchFamily="34" charset="0"/>
              </a:rPr>
              <a:t>VPN</a:t>
            </a:r>
            <a:r>
              <a:rPr lang="zh-CN" altLang="en-US" sz="1800" dirty="0" smtClean="0">
                <a:sym typeface="Huawei Sans" panose="020C0503030203020204" pitchFamily="34" charset="0"/>
              </a:rPr>
              <a:t>的路由，且需要解决不同的客户使用重叠</a:t>
            </a:r>
            <a:r>
              <a:rPr lang="en-US" altLang="zh-CN" sz="1800" dirty="0" smtClean="0">
                <a:sym typeface="Huawei Sans" panose="020C0503030203020204" pitchFamily="34" charset="0"/>
              </a:rPr>
              <a:t>IP</a:t>
            </a:r>
            <a:r>
              <a:rPr lang="zh-CN" altLang="en-US" sz="1800" dirty="0" smtClean="0">
                <a:sym typeface="Huawei Sans" panose="020C0503030203020204" pitchFamily="34" charset="0"/>
              </a:rPr>
              <a:t>地址空间的问题。</a:t>
            </a:r>
            <a:endParaRPr lang="en-US" altLang="zh-CN" sz="1800" dirty="0" smtClean="0">
              <a:sym typeface="Huawei Sans" panose="020C0503030203020204" pitchFamily="34" charset="0"/>
            </a:endParaRPr>
          </a:p>
          <a:p>
            <a:r>
              <a:rPr lang="zh-CN" altLang="zh-CN" sz="1800" dirty="0"/>
              <a:t>例如</a:t>
            </a:r>
            <a:r>
              <a:rPr lang="zh-CN" altLang="en-US" sz="1800" dirty="0"/>
              <a:t>图中用户</a:t>
            </a:r>
            <a:r>
              <a:rPr lang="en-US" altLang="zh-CN" sz="1800" dirty="0"/>
              <a:t>X</a:t>
            </a:r>
            <a:r>
              <a:rPr lang="zh-CN" altLang="en-US" sz="1800" dirty="0"/>
              <a:t>和用户</a:t>
            </a:r>
            <a:r>
              <a:rPr lang="en-US" altLang="zh-CN" sz="1800" dirty="0"/>
              <a:t>Y</a:t>
            </a:r>
            <a:r>
              <a:rPr lang="zh-CN" altLang="en-US" sz="1800" dirty="0"/>
              <a:t>都</a:t>
            </a:r>
            <a:r>
              <a:rPr lang="zh-CN" altLang="zh-CN" sz="1800" dirty="0"/>
              <a:t>使用</a:t>
            </a:r>
            <a:r>
              <a:rPr lang="en-US" altLang="zh-CN" sz="1800" dirty="0"/>
              <a:t>192.168.1.0/24</a:t>
            </a:r>
            <a:r>
              <a:rPr lang="zh-CN" altLang="zh-CN" sz="1800" dirty="0"/>
              <a:t>网</a:t>
            </a:r>
            <a:r>
              <a:rPr lang="zh-CN" altLang="zh-CN" sz="1800" dirty="0" smtClean="0"/>
              <a:t>段地址</a:t>
            </a:r>
            <a:r>
              <a:rPr lang="zh-CN" altLang="en-US" sz="1800" dirty="0" smtClean="0"/>
              <a:t>。</a:t>
            </a:r>
            <a:endParaRPr lang="en-US" altLang="zh-CN" sz="1800" dirty="0" smtClean="0">
              <a:sym typeface="Huawei Sans" panose="020C0503030203020204" pitchFamily="34" charset="0"/>
            </a:endParaRPr>
          </a:p>
          <a:p>
            <a:endParaRPr lang="zh-CN" altLang="en-US" sz="1800" dirty="0">
              <a:sym typeface="Huawei Sans" panose="020C0503030203020204" pitchFamily="34" charset="0"/>
            </a:endParaRPr>
          </a:p>
        </p:txBody>
      </p:sp>
      <p:sp>
        <p:nvSpPr>
          <p:cNvPr id="4" name="圆角矩形 3"/>
          <p:cNvSpPr/>
          <p:nvPr/>
        </p:nvSpPr>
        <p:spPr bwMode="gray">
          <a:xfrm>
            <a:off x="4103749" y="4143995"/>
            <a:ext cx="4000659" cy="1825378"/>
          </a:xfrm>
          <a:prstGeom prst="roundRect">
            <a:avLst/>
          </a:prstGeom>
          <a:solidFill>
            <a:srgbClr val="BEE9EE"/>
          </a:solidFill>
          <a:ln w="28575" cap="flat" cmpd="sng" algn="ctr">
            <a:noFill/>
            <a:prstDash val="sys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文本框 4"/>
          <p:cNvSpPr txBox="1"/>
          <p:nvPr/>
        </p:nvSpPr>
        <p:spPr bwMode="gray">
          <a:xfrm>
            <a:off x="5308828" y="5674705"/>
            <a:ext cx="1590500" cy="307777"/>
          </a:xfrm>
          <a:prstGeom prst="rect">
            <a:avLst/>
          </a:prstGeom>
          <a:noFill/>
        </p:spPr>
        <p:txBody>
          <a:bodyPr wrap="none" rtlCol="0">
            <a:spAutoFit/>
          </a:bodyPr>
          <a:lstStyle/>
          <a:p>
            <a:pPr algn="ctr"/>
            <a:r>
              <a:rPr lang="en-US" altLang="zh-CN"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MPLS VPN</a:t>
            </a:r>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骨干网</a:t>
            </a:r>
            <a:endPar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9" name="组合 28"/>
          <p:cNvGrpSpPr/>
          <p:nvPr/>
        </p:nvGrpSpPr>
        <p:grpSpPr bwMode="gray">
          <a:xfrm>
            <a:off x="3846898" y="4694721"/>
            <a:ext cx="4513567" cy="723926"/>
            <a:chOff x="4088571" y="4424992"/>
            <a:chExt cx="4513567" cy="723926"/>
          </a:xfrm>
        </p:grpSpPr>
        <p:cxnSp>
          <p:nvCxnSpPr>
            <p:cNvPr id="6" name="直接连接符 5"/>
            <p:cNvCxnSpPr>
              <a:stCxn id="7" idx="3"/>
              <a:endCxn id="8" idx="1"/>
            </p:cNvCxnSpPr>
            <p:nvPr/>
          </p:nvCxnSpPr>
          <p:spPr bwMode="gray">
            <a:xfrm>
              <a:off x="4628571" y="4645901"/>
              <a:ext cx="343356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2" name="组合 21"/>
            <p:cNvGrpSpPr/>
            <p:nvPr/>
          </p:nvGrpSpPr>
          <p:grpSpPr bwMode="gray">
            <a:xfrm>
              <a:off x="6067674" y="4424992"/>
              <a:ext cx="540000" cy="723926"/>
              <a:chOff x="5312873" y="4947622"/>
              <a:chExt cx="540000" cy="723926"/>
            </a:xfrm>
          </p:grpSpPr>
          <p:pic>
            <p:nvPicPr>
              <p:cNvPr id="9" name="Picture 12" descr="E:\2016.01\1.12 扁平化图标\蓝色\AR-蓝色最新-40.png"/>
              <p:cNvPicPr>
                <a:picLocks noChangeAspect="1" noChangeArrowheads="1"/>
              </p:cNvPicPr>
              <p:nvPr/>
            </p:nvPicPr>
            <p:blipFill>
              <a:blip r:embed="rId4" cstate="print"/>
              <a:srcRect/>
              <a:stretch>
                <a:fillRect/>
              </a:stretch>
            </p:blipFill>
            <p:spPr bwMode="gray">
              <a:xfrm>
                <a:off x="5312873" y="4947622"/>
                <a:ext cx="540000" cy="441818"/>
              </a:xfrm>
              <a:prstGeom prst="rect">
                <a:avLst/>
              </a:prstGeom>
              <a:noFill/>
            </p:spPr>
          </p:pic>
          <p:sp>
            <p:nvSpPr>
              <p:cNvPr id="11" name="文本框 10"/>
              <p:cNvSpPr txBox="1"/>
              <p:nvPr/>
            </p:nvSpPr>
            <p:spPr bwMode="gray">
              <a:xfrm>
                <a:off x="5436839" y="5363771"/>
                <a:ext cx="292068"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24" name="组合 23"/>
            <p:cNvGrpSpPr/>
            <p:nvPr/>
          </p:nvGrpSpPr>
          <p:grpSpPr bwMode="gray">
            <a:xfrm>
              <a:off x="8062138" y="4424992"/>
              <a:ext cx="540000" cy="714804"/>
              <a:chOff x="8062138" y="4947622"/>
              <a:chExt cx="540000" cy="714804"/>
            </a:xfrm>
          </p:grpSpPr>
          <p:pic>
            <p:nvPicPr>
              <p:cNvPr id="8" name="Picture 12" descr="E:\2016.01\1.12 扁平化图标\蓝色\AR-蓝色最新-40.png"/>
              <p:cNvPicPr>
                <a:picLocks noChangeAspect="1" noChangeArrowheads="1"/>
              </p:cNvPicPr>
              <p:nvPr/>
            </p:nvPicPr>
            <p:blipFill>
              <a:blip r:embed="rId4" cstate="print"/>
              <a:srcRect/>
              <a:stretch>
                <a:fillRect/>
              </a:stretch>
            </p:blipFill>
            <p:spPr bwMode="gray">
              <a:xfrm>
                <a:off x="8062138" y="4947622"/>
                <a:ext cx="540000" cy="441818"/>
              </a:xfrm>
              <a:prstGeom prst="rect">
                <a:avLst/>
              </a:prstGeom>
              <a:noFill/>
            </p:spPr>
          </p:pic>
          <p:sp>
            <p:nvSpPr>
              <p:cNvPr id="13" name="文本框 12"/>
              <p:cNvSpPr txBox="1"/>
              <p:nvPr/>
            </p:nvSpPr>
            <p:spPr bwMode="gray">
              <a:xfrm>
                <a:off x="8084306" y="5354649"/>
                <a:ext cx="497252"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PE2</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23" name="组合 22"/>
            <p:cNvGrpSpPr/>
            <p:nvPr/>
          </p:nvGrpSpPr>
          <p:grpSpPr bwMode="gray">
            <a:xfrm>
              <a:off x="4088571" y="4424992"/>
              <a:ext cx="540000" cy="723926"/>
              <a:chOff x="4088571" y="4947622"/>
              <a:chExt cx="540000" cy="723926"/>
            </a:xfrm>
          </p:grpSpPr>
          <p:pic>
            <p:nvPicPr>
              <p:cNvPr id="7" name="Picture 12" descr="E:\2016.01\1.12 扁平化图标\蓝色\AR-蓝色最新-40.png"/>
              <p:cNvPicPr>
                <a:picLocks noChangeAspect="1" noChangeArrowheads="1"/>
              </p:cNvPicPr>
              <p:nvPr/>
            </p:nvPicPr>
            <p:blipFill>
              <a:blip r:embed="rId4" cstate="print"/>
              <a:srcRect/>
              <a:stretch>
                <a:fillRect/>
              </a:stretch>
            </p:blipFill>
            <p:spPr bwMode="gray">
              <a:xfrm>
                <a:off x="4088571" y="4947622"/>
                <a:ext cx="540000" cy="441818"/>
              </a:xfrm>
              <a:prstGeom prst="rect">
                <a:avLst/>
              </a:prstGeom>
              <a:noFill/>
            </p:spPr>
          </p:pic>
          <p:sp>
            <p:nvSpPr>
              <p:cNvPr id="14" name="文本框 13"/>
              <p:cNvSpPr txBox="1"/>
              <p:nvPr/>
            </p:nvSpPr>
            <p:spPr bwMode="gray">
              <a:xfrm>
                <a:off x="4109945" y="5363771"/>
                <a:ext cx="497252" cy="307777"/>
              </a:xfrm>
              <a:prstGeom prst="rect">
                <a:avLst/>
              </a:prstGeom>
              <a:noFill/>
            </p:spPr>
            <p:txBody>
              <a:bodyPr wrap="non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PE1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grpSp>
        <p:nvGrpSpPr>
          <p:cNvPr id="25" name="组合 24"/>
          <p:cNvGrpSpPr/>
          <p:nvPr/>
        </p:nvGrpSpPr>
        <p:grpSpPr bwMode="gray">
          <a:xfrm>
            <a:off x="2158869" y="4272637"/>
            <a:ext cx="550687" cy="712575"/>
            <a:chOff x="4073209" y="4947622"/>
            <a:chExt cx="550687" cy="712575"/>
          </a:xfrm>
        </p:grpSpPr>
        <p:pic>
          <p:nvPicPr>
            <p:cNvPr id="26" name="Picture 12" descr="E:\2016.01\1.12 扁平化图标\蓝色\AR-蓝色最新-40.png"/>
            <p:cNvPicPr>
              <a:picLocks noChangeAspect="1" noChangeArrowheads="1"/>
            </p:cNvPicPr>
            <p:nvPr/>
          </p:nvPicPr>
          <p:blipFill>
            <a:blip r:embed="rId4" cstate="print"/>
            <a:srcRect/>
            <a:stretch>
              <a:fillRect/>
            </a:stretch>
          </p:blipFill>
          <p:spPr bwMode="gray">
            <a:xfrm>
              <a:off x="4073209" y="4947622"/>
              <a:ext cx="540000" cy="441818"/>
            </a:xfrm>
            <a:prstGeom prst="rect">
              <a:avLst/>
            </a:prstGeom>
            <a:noFill/>
          </p:spPr>
        </p:pic>
        <p:sp>
          <p:nvSpPr>
            <p:cNvPr id="27" name="文本框 26"/>
            <p:cNvSpPr txBox="1"/>
            <p:nvPr/>
          </p:nvSpPr>
          <p:spPr bwMode="gray">
            <a:xfrm>
              <a:off x="4121835" y="5352420"/>
              <a:ext cx="50206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8" name="圆角矩形 27"/>
          <p:cNvSpPr/>
          <p:nvPr/>
        </p:nvSpPr>
        <p:spPr bwMode="gray">
          <a:xfrm>
            <a:off x="952500" y="4025063"/>
            <a:ext cx="1873049" cy="994971"/>
          </a:xfrm>
          <a:prstGeom prst="roundRect">
            <a:avLst/>
          </a:prstGeom>
          <a:noFill/>
          <a:ln w="25400">
            <a:solidFill>
              <a:srgbClr val="8BC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30" name="组合 29"/>
          <p:cNvGrpSpPr/>
          <p:nvPr/>
        </p:nvGrpSpPr>
        <p:grpSpPr bwMode="gray">
          <a:xfrm>
            <a:off x="2147045" y="5354017"/>
            <a:ext cx="575533" cy="706640"/>
            <a:chOff x="4073209" y="4947622"/>
            <a:chExt cx="575533" cy="706640"/>
          </a:xfrm>
        </p:grpSpPr>
        <p:pic>
          <p:nvPicPr>
            <p:cNvPr id="31" name="Picture 12" descr="E:\2016.01\1.12 扁平化图标\蓝色\AR-蓝色最新-40.png"/>
            <p:cNvPicPr>
              <a:picLocks noChangeAspect="1" noChangeArrowheads="1"/>
            </p:cNvPicPr>
            <p:nvPr/>
          </p:nvPicPr>
          <p:blipFill>
            <a:blip r:embed="rId4" cstate="print"/>
            <a:srcRect/>
            <a:stretch>
              <a:fillRect/>
            </a:stretch>
          </p:blipFill>
          <p:spPr bwMode="gray">
            <a:xfrm>
              <a:off x="4073209" y="4947622"/>
              <a:ext cx="540000" cy="441818"/>
            </a:xfrm>
            <a:prstGeom prst="rect">
              <a:avLst/>
            </a:prstGeom>
            <a:noFill/>
          </p:spPr>
        </p:pic>
        <p:sp>
          <p:nvSpPr>
            <p:cNvPr id="32" name="文本框 31"/>
            <p:cNvSpPr txBox="1"/>
            <p:nvPr/>
          </p:nvSpPr>
          <p:spPr bwMode="gray">
            <a:xfrm>
              <a:off x="4146681" y="5346485"/>
              <a:ext cx="50206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CE2</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33" name="圆角矩形 32"/>
          <p:cNvSpPr/>
          <p:nvPr/>
        </p:nvSpPr>
        <p:spPr bwMode="gray">
          <a:xfrm>
            <a:off x="952500" y="5106443"/>
            <a:ext cx="1873049" cy="994971"/>
          </a:xfrm>
          <a:prstGeom prst="roundRect">
            <a:avLst/>
          </a:prstGeom>
          <a:noFill/>
          <a:ln w="254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圆角矩形 36"/>
          <p:cNvSpPr/>
          <p:nvPr/>
        </p:nvSpPr>
        <p:spPr bwMode="gray">
          <a:xfrm flipH="1">
            <a:off x="9366451" y="4025063"/>
            <a:ext cx="1873049" cy="994971"/>
          </a:xfrm>
          <a:prstGeom prst="roundRect">
            <a:avLst/>
          </a:prstGeom>
          <a:noFill/>
          <a:ln w="25400">
            <a:solidFill>
              <a:srgbClr val="8BC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圆角矩形 40"/>
          <p:cNvSpPr/>
          <p:nvPr/>
        </p:nvSpPr>
        <p:spPr bwMode="gray">
          <a:xfrm flipH="1">
            <a:off x="9378275" y="5106443"/>
            <a:ext cx="1873049" cy="994971"/>
          </a:xfrm>
          <a:prstGeom prst="roundRect">
            <a:avLst/>
          </a:prstGeom>
          <a:noFill/>
          <a:ln w="254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6" name="直接连接符 45"/>
          <p:cNvCxnSpPr>
            <a:stCxn id="26" idx="3"/>
            <a:endCxn id="7" idx="1"/>
          </p:cNvCxnSpPr>
          <p:nvPr/>
        </p:nvCxnSpPr>
        <p:spPr bwMode="gray">
          <a:xfrm>
            <a:off x="2698869" y="4493546"/>
            <a:ext cx="1148029" cy="42208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a:stCxn id="31" idx="3"/>
            <a:endCxn id="7" idx="1"/>
          </p:cNvCxnSpPr>
          <p:nvPr/>
        </p:nvCxnSpPr>
        <p:spPr bwMode="gray">
          <a:xfrm flipV="1">
            <a:off x="2687045" y="4915630"/>
            <a:ext cx="1159853" cy="65929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a:stCxn id="8" idx="3"/>
          </p:cNvCxnSpPr>
          <p:nvPr/>
        </p:nvCxnSpPr>
        <p:spPr bwMode="gray">
          <a:xfrm flipV="1">
            <a:off x="8360465" y="4493546"/>
            <a:ext cx="1132666" cy="42208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a:stCxn id="8" idx="3"/>
          </p:cNvCxnSpPr>
          <p:nvPr/>
        </p:nvCxnSpPr>
        <p:spPr bwMode="gray">
          <a:xfrm>
            <a:off x="8360465" y="4915630"/>
            <a:ext cx="1144490" cy="65929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2" name="文本框 61"/>
          <p:cNvSpPr txBox="1"/>
          <p:nvPr/>
        </p:nvSpPr>
        <p:spPr bwMode="gray">
          <a:xfrm>
            <a:off x="881938" y="4143995"/>
            <a:ext cx="1215397"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192.168.1.0/24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文本框 62"/>
          <p:cNvSpPr txBox="1"/>
          <p:nvPr/>
        </p:nvSpPr>
        <p:spPr bwMode="gray">
          <a:xfrm>
            <a:off x="894774" y="5465428"/>
            <a:ext cx="1215397"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192.168.1.0/24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文本框 63"/>
          <p:cNvSpPr txBox="1"/>
          <p:nvPr/>
        </p:nvSpPr>
        <p:spPr bwMode="gray">
          <a:xfrm>
            <a:off x="924700" y="4668568"/>
            <a:ext cx="1124026" cy="350160"/>
          </a:xfrm>
          <a:prstGeom prst="rect">
            <a:avLst/>
          </a:prstGeom>
          <a:noFill/>
        </p:spPr>
        <p:txBody>
          <a:bodyPr wrap="none" rtlCol="0">
            <a:spAutoFit/>
          </a:bodyPr>
          <a:lstStyle/>
          <a:p>
            <a:pPr>
              <a:lnSpc>
                <a:spcPct val="130000"/>
              </a:lnSpc>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X</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A</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 name="文本框 64"/>
          <p:cNvSpPr txBox="1"/>
          <p:nvPr/>
        </p:nvSpPr>
        <p:spPr bwMode="gray">
          <a:xfrm>
            <a:off x="924700" y="5788101"/>
            <a:ext cx="1112805" cy="350160"/>
          </a:xfrm>
          <a:prstGeom prst="rect">
            <a:avLst/>
          </a:prstGeom>
          <a:noFill/>
        </p:spPr>
        <p:txBody>
          <a:bodyPr wrap="none" rtlCol="0">
            <a:spAutoFit/>
          </a:bodyPr>
          <a:lstStyle/>
          <a:p>
            <a:pPr>
              <a:lnSpc>
                <a:spcPct val="130000"/>
              </a:lnSpc>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Y</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C</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文本框 65"/>
          <p:cNvSpPr txBox="1"/>
          <p:nvPr/>
        </p:nvSpPr>
        <p:spPr bwMode="gray">
          <a:xfrm>
            <a:off x="10119237" y="4647624"/>
            <a:ext cx="1114408" cy="350160"/>
          </a:xfrm>
          <a:prstGeom prst="rect">
            <a:avLst/>
          </a:prstGeom>
          <a:noFill/>
        </p:spPr>
        <p:txBody>
          <a:bodyPr wrap="none" rtlCol="0">
            <a:spAutoFit/>
          </a:bodyPr>
          <a:lstStyle/>
          <a:p>
            <a:pPr>
              <a:lnSpc>
                <a:spcPct val="130000"/>
              </a:lnSpc>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X</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B</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 name="文本框 66"/>
          <p:cNvSpPr txBox="1"/>
          <p:nvPr/>
        </p:nvSpPr>
        <p:spPr bwMode="gray">
          <a:xfrm>
            <a:off x="10119237" y="5767157"/>
            <a:ext cx="1133644" cy="350160"/>
          </a:xfrm>
          <a:prstGeom prst="rect">
            <a:avLst/>
          </a:prstGeom>
          <a:noFill/>
        </p:spPr>
        <p:txBody>
          <a:bodyPr wrap="none" rtlCol="0">
            <a:spAutoFit/>
          </a:bodyPr>
          <a:lstStyle/>
          <a:p>
            <a:pPr>
              <a:lnSpc>
                <a:spcPct val="130000"/>
              </a:lnSpc>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Y</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1" name="直接箭头连接符 70"/>
          <p:cNvCxnSpPr/>
          <p:nvPr/>
        </p:nvCxnSpPr>
        <p:spPr bwMode="gray">
          <a:xfrm>
            <a:off x="2833328" y="4251693"/>
            <a:ext cx="1004949" cy="395931"/>
          </a:xfrm>
          <a:prstGeom prst="straightConnector1">
            <a:avLst/>
          </a:prstGeom>
          <a:ln w="12700">
            <a:solidFill>
              <a:srgbClr val="8BC9A0"/>
            </a:solidFill>
            <a:tailEnd type="triangle"/>
          </a:ln>
        </p:spPr>
        <p:style>
          <a:lnRef idx="1">
            <a:schemeClr val="accent1"/>
          </a:lnRef>
          <a:fillRef idx="0">
            <a:schemeClr val="accent1"/>
          </a:fillRef>
          <a:effectRef idx="0">
            <a:schemeClr val="accent1"/>
          </a:effectRef>
          <a:fontRef idx="minor">
            <a:schemeClr val="tx1"/>
          </a:fontRef>
        </p:style>
      </p:cxnSp>
      <p:sp>
        <p:nvSpPr>
          <p:cNvPr id="72" name="文本框 71"/>
          <p:cNvSpPr txBox="1"/>
          <p:nvPr/>
        </p:nvSpPr>
        <p:spPr bwMode="gray">
          <a:xfrm rot="1298280">
            <a:off x="2835687" y="3918777"/>
            <a:ext cx="1215397" cy="461665"/>
          </a:xfrm>
          <a:prstGeom prst="rect">
            <a:avLst/>
          </a:prstGeom>
          <a:noFill/>
          <a:ln w="31750">
            <a:noFill/>
          </a:ln>
        </p:spPr>
        <p:txBody>
          <a:bodyPr wrap="none" rtlCol="0">
            <a:spAutoFit/>
          </a:bodyPr>
          <a:lstStyle/>
          <a:p>
            <a:pPr algn="ct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路由传递</a:t>
            </a:r>
            <a:endPar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192.168.1.0/24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5" name="直接箭头连接符 74"/>
          <p:cNvCxnSpPr/>
          <p:nvPr/>
        </p:nvCxnSpPr>
        <p:spPr bwMode="gray">
          <a:xfrm rot="21140721" flipH="1">
            <a:off x="3026762" y="5616845"/>
            <a:ext cx="1004949" cy="395931"/>
          </a:xfrm>
          <a:prstGeom prst="straightConnector1">
            <a:avLst/>
          </a:prstGeom>
          <a:ln w="12700">
            <a:solidFill>
              <a:srgbClr val="56C4D2"/>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76" name="文本框 75"/>
          <p:cNvSpPr txBox="1"/>
          <p:nvPr/>
        </p:nvSpPr>
        <p:spPr bwMode="gray">
          <a:xfrm rot="19842441" flipH="1">
            <a:off x="2752824" y="5310892"/>
            <a:ext cx="1215397" cy="461665"/>
          </a:xfrm>
          <a:prstGeom prst="rect">
            <a:avLst/>
          </a:prstGeom>
          <a:noFill/>
          <a:ln w="31750">
            <a:noFill/>
          </a:ln>
        </p:spPr>
        <p:txBody>
          <a:bodyPr wrap="none" rtlCol="0">
            <a:spAutoFit/>
          </a:bodyPr>
          <a:lstStyle/>
          <a:p>
            <a:pPr algn="ct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路由传递</a:t>
            </a:r>
            <a:endPar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192.168.1.0/24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2" name="Text Box 19"/>
          <p:cNvSpPr txBox="1">
            <a:spLocks noChangeArrowheads="1"/>
          </p:cNvSpPr>
          <p:nvPr/>
        </p:nvSpPr>
        <p:spPr bwMode="gray">
          <a:xfrm>
            <a:off x="4901904" y="3420157"/>
            <a:ext cx="2191064" cy="523220"/>
          </a:xfrm>
          <a:prstGeom prst="rect">
            <a:avLst/>
          </a:prstGeom>
          <a:solidFill>
            <a:srgbClr val="EC7061"/>
          </a:solidFill>
          <a:ln w="19050">
            <a:solidFill>
              <a:srgbClr val="EC7061"/>
            </a:solidFill>
            <a:miter lim="800000"/>
            <a:headEnd/>
            <a:tailEnd/>
          </a:ln>
          <a:effectLs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14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我收到了</a:t>
            </a:r>
            <a:r>
              <a:rPr lang="zh-CN" altLang="en-US" sz="14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两</a:t>
            </a:r>
            <a:r>
              <a:rPr lang="zh-CN" altLang="en-US" sz="14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个</a:t>
            </a:r>
            <a:r>
              <a:rPr lang="en-US" altLang="zh-CN" sz="14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4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客户的路由，怎么去区分呢？</a:t>
            </a:r>
            <a:endParaRPr lang="en-US" altLang="zh-CN" sz="14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83" name="直接连接符 82"/>
          <p:cNvCxnSpPr>
            <a:stCxn id="82" idx="2"/>
            <a:endCxn id="7" idx="0"/>
          </p:cNvCxnSpPr>
          <p:nvPr/>
        </p:nvCxnSpPr>
        <p:spPr bwMode="gray">
          <a:xfrm flipH="1">
            <a:off x="4116898" y="3943377"/>
            <a:ext cx="1880538" cy="751344"/>
          </a:xfrm>
          <a:prstGeom prst="line">
            <a:avLst/>
          </a:prstGeom>
          <a:ln w="12700">
            <a:solidFill>
              <a:srgbClr val="EC7061"/>
            </a:solidFill>
          </a:ln>
        </p:spPr>
        <p:style>
          <a:lnRef idx="1">
            <a:schemeClr val="accent1"/>
          </a:lnRef>
          <a:fillRef idx="0">
            <a:schemeClr val="accent1"/>
          </a:fillRef>
          <a:effectRef idx="0">
            <a:schemeClr val="accent1"/>
          </a:effectRef>
          <a:fontRef idx="minor">
            <a:schemeClr val="tx1"/>
          </a:fontRef>
        </p:style>
      </p:cxnSp>
      <p:grpSp>
        <p:nvGrpSpPr>
          <p:cNvPr id="49" name="组合 48"/>
          <p:cNvGrpSpPr/>
          <p:nvPr/>
        </p:nvGrpSpPr>
        <p:grpSpPr bwMode="gray">
          <a:xfrm>
            <a:off x="9493131" y="4272637"/>
            <a:ext cx="540000" cy="723926"/>
            <a:chOff x="4073209" y="4947622"/>
            <a:chExt cx="540000" cy="723926"/>
          </a:xfrm>
        </p:grpSpPr>
        <p:pic>
          <p:nvPicPr>
            <p:cNvPr id="51" name="Picture 12" descr="E:\2016.01\1.12 扁平化图标\蓝色\AR-蓝色最新-40.png"/>
            <p:cNvPicPr>
              <a:picLocks noChangeAspect="1" noChangeArrowheads="1"/>
            </p:cNvPicPr>
            <p:nvPr/>
          </p:nvPicPr>
          <p:blipFill>
            <a:blip r:embed="rId4" cstate="print"/>
            <a:srcRect/>
            <a:stretch>
              <a:fillRect/>
            </a:stretch>
          </p:blipFill>
          <p:spPr bwMode="gray">
            <a:xfrm>
              <a:off x="4073209" y="4947622"/>
              <a:ext cx="540000" cy="441818"/>
            </a:xfrm>
            <a:prstGeom prst="rect">
              <a:avLst/>
            </a:prstGeom>
            <a:noFill/>
          </p:spPr>
        </p:pic>
        <p:sp>
          <p:nvSpPr>
            <p:cNvPr id="53" name="文本框 52"/>
            <p:cNvSpPr txBox="1"/>
            <p:nvPr/>
          </p:nvSpPr>
          <p:spPr bwMode="gray">
            <a:xfrm>
              <a:off x="4086262" y="5363771"/>
              <a:ext cx="50206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CE3</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54" name="组合 53"/>
          <p:cNvGrpSpPr/>
          <p:nvPr/>
        </p:nvGrpSpPr>
        <p:grpSpPr bwMode="gray">
          <a:xfrm>
            <a:off x="9504955" y="5354017"/>
            <a:ext cx="552270" cy="723926"/>
            <a:chOff x="4060939" y="4947622"/>
            <a:chExt cx="552270" cy="723926"/>
          </a:xfrm>
        </p:grpSpPr>
        <p:pic>
          <p:nvPicPr>
            <p:cNvPr id="55" name="Picture 12" descr="E:\2016.01\1.12 扁平化图标\蓝色\AR-蓝色最新-40.png"/>
            <p:cNvPicPr>
              <a:picLocks noChangeAspect="1" noChangeArrowheads="1"/>
            </p:cNvPicPr>
            <p:nvPr/>
          </p:nvPicPr>
          <p:blipFill>
            <a:blip r:embed="rId4" cstate="print"/>
            <a:srcRect/>
            <a:stretch>
              <a:fillRect/>
            </a:stretch>
          </p:blipFill>
          <p:spPr bwMode="gray">
            <a:xfrm>
              <a:off x="4073209" y="4947622"/>
              <a:ext cx="540000" cy="441818"/>
            </a:xfrm>
            <a:prstGeom prst="rect">
              <a:avLst/>
            </a:prstGeom>
            <a:noFill/>
          </p:spPr>
        </p:pic>
        <p:sp>
          <p:nvSpPr>
            <p:cNvPr id="56" name="文本框 55"/>
            <p:cNvSpPr txBox="1"/>
            <p:nvPr/>
          </p:nvSpPr>
          <p:spPr bwMode="gray">
            <a:xfrm>
              <a:off x="4060939" y="5363771"/>
              <a:ext cx="50206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CE4</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Tree>
    <p:custDataLst>
      <p:tags r:id="rId1"/>
    </p:custDataLst>
    <p:extLst>
      <p:ext uri="{BB962C8B-B14F-4D97-AF65-F5344CB8AC3E}">
        <p14:creationId xmlns:p14="http://schemas.microsoft.com/office/powerpoint/2010/main" val="479598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83"/>
                                        </p:tgtEl>
                                        <p:attrNameLst>
                                          <p:attrName>style.visibility</p:attrName>
                                        </p:attrNameLst>
                                      </p:cBhvr>
                                      <p:to>
                                        <p:strVal val="visible"/>
                                      </p:to>
                                    </p:set>
                                    <p:animEffect transition="in" filter="barn(inVertical)">
                                      <p:cBhvr>
                                        <p:cTn id="7" dur="500"/>
                                        <p:tgtEl>
                                          <p:spTgt spid="83"/>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82"/>
                                        </p:tgtEl>
                                        <p:attrNameLst>
                                          <p:attrName>style.visibility</p:attrName>
                                        </p:attrNameLst>
                                      </p:cBhvr>
                                      <p:to>
                                        <p:strVal val="visible"/>
                                      </p:to>
                                    </p:set>
                                    <p:animEffect transition="in" filter="barn(inVertical)">
                                      <p:cBhvr>
                                        <p:cTn id="10" dur="500"/>
                                        <p:tgtEl>
                                          <p:spTgt spid="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smtClean="0">
                <a:sym typeface="Huawei Sans" panose="020C0503030203020204" pitchFamily="34" charset="0"/>
              </a:rPr>
              <a:t>VRF</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bwMode="gray"/>
        <p:txBody>
          <a:bodyPr/>
          <a:lstStyle/>
          <a:p>
            <a:r>
              <a:rPr lang="en-US" altLang="zh-CN" sz="1800" dirty="0" smtClean="0">
                <a:sym typeface="Huawei Sans" panose="020C0503030203020204" pitchFamily="34" charset="0"/>
              </a:rPr>
              <a:t>VRF</a:t>
            </a:r>
            <a:r>
              <a:rPr lang="zh-CN" altLang="en-US" sz="1800" dirty="0" smtClean="0">
                <a:sym typeface="Huawei Sans" panose="020C0503030203020204" pitchFamily="34" charset="0"/>
              </a:rPr>
              <a:t>（</a:t>
            </a:r>
            <a:r>
              <a:rPr lang="en-US" altLang="zh-CN" sz="1800" dirty="0" smtClean="0">
                <a:sym typeface="Huawei Sans" panose="020C0503030203020204" pitchFamily="34" charset="0"/>
              </a:rPr>
              <a:t>Virtual Routing and Forwarding</a:t>
            </a:r>
            <a:r>
              <a:rPr lang="zh-CN" altLang="en-US" sz="1800" dirty="0" smtClean="0">
                <a:sym typeface="Huawei Sans" panose="020C0503030203020204" pitchFamily="34" charset="0"/>
              </a:rPr>
              <a:t>，虚拟路由转发），又称</a:t>
            </a:r>
            <a:r>
              <a:rPr lang="en-US" altLang="zh-CN" sz="1800" dirty="0" smtClean="0">
                <a:sym typeface="Huawei Sans" panose="020C0503030203020204" pitchFamily="34" charset="0"/>
              </a:rPr>
              <a:t>VPN</a:t>
            </a:r>
            <a:r>
              <a:rPr lang="zh-CN" altLang="en-US" sz="1800" dirty="0" smtClean="0">
                <a:sym typeface="Huawei Sans" panose="020C0503030203020204" pitchFamily="34" charset="0"/>
              </a:rPr>
              <a:t>实例，是</a:t>
            </a:r>
            <a:r>
              <a:rPr lang="en-US" altLang="zh-CN" sz="1800" dirty="0" smtClean="0">
                <a:sym typeface="Huawei Sans" panose="020C0503030203020204" pitchFamily="34" charset="0"/>
              </a:rPr>
              <a:t>MPLS VPN</a:t>
            </a:r>
            <a:r>
              <a:rPr lang="zh-CN" altLang="en-US" sz="1800" dirty="0" smtClean="0">
                <a:sym typeface="Huawei Sans" panose="020C0503030203020204" pitchFamily="34" charset="0"/>
              </a:rPr>
              <a:t>架构中的关键技术，每个</a:t>
            </a:r>
            <a:r>
              <a:rPr lang="en-US" altLang="zh-CN" sz="1800" dirty="0" smtClean="0">
                <a:sym typeface="Huawei Sans" panose="020C0503030203020204" pitchFamily="34" charset="0"/>
              </a:rPr>
              <a:t>VPN</a:t>
            </a:r>
            <a:r>
              <a:rPr lang="zh-CN" altLang="en-US" sz="1800" dirty="0" smtClean="0">
                <a:sym typeface="Huawei Sans" panose="020C0503030203020204" pitchFamily="34" charset="0"/>
              </a:rPr>
              <a:t>实例使用独立的路由转发表项，实现</a:t>
            </a:r>
            <a:r>
              <a:rPr lang="en-US" altLang="zh-CN" sz="1800" dirty="0" smtClean="0">
                <a:sym typeface="Huawei Sans" panose="020C0503030203020204" pitchFamily="34" charset="0"/>
              </a:rPr>
              <a:t>VPN</a:t>
            </a:r>
            <a:r>
              <a:rPr lang="zh-CN" altLang="en-US" sz="1800" dirty="0" smtClean="0">
                <a:sym typeface="Huawei Sans" panose="020C0503030203020204" pitchFamily="34" charset="0"/>
              </a:rPr>
              <a:t>之间的逻辑隔离。</a:t>
            </a:r>
            <a:endParaRPr lang="en-US" altLang="zh-CN" sz="1800" dirty="0" smtClean="0">
              <a:sym typeface="Huawei Sans" panose="020C0503030203020204" pitchFamily="34" charset="0"/>
            </a:endParaRPr>
          </a:p>
        </p:txBody>
      </p:sp>
      <p:sp>
        <p:nvSpPr>
          <p:cNvPr id="4" name="圆角矩形 3"/>
          <p:cNvSpPr/>
          <p:nvPr/>
        </p:nvSpPr>
        <p:spPr bwMode="gray">
          <a:xfrm>
            <a:off x="4103749" y="4143995"/>
            <a:ext cx="4000659" cy="1825378"/>
          </a:xfrm>
          <a:prstGeom prst="roundRect">
            <a:avLst/>
          </a:prstGeom>
          <a:solidFill>
            <a:srgbClr val="BEE9EE"/>
          </a:solidFill>
          <a:ln w="28575" cap="flat" cmpd="sng" algn="ctr">
            <a:noFill/>
            <a:prstDash val="sys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文本框 4"/>
          <p:cNvSpPr txBox="1"/>
          <p:nvPr/>
        </p:nvSpPr>
        <p:spPr bwMode="gray">
          <a:xfrm>
            <a:off x="5308828" y="5674705"/>
            <a:ext cx="1590500" cy="307777"/>
          </a:xfrm>
          <a:prstGeom prst="rect">
            <a:avLst/>
          </a:prstGeom>
          <a:noFill/>
        </p:spPr>
        <p:txBody>
          <a:bodyPr wrap="none" rtlCol="0">
            <a:spAutoFit/>
          </a:bodyPr>
          <a:lstStyle/>
          <a:p>
            <a:pPr algn="ctr"/>
            <a:r>
              <a:rPr lang="en-US" altLang="zh-CN"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MPLS VPN</a:t>
            </a:r>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骨干网</a:t>
            </a:r>
            <a:endPar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6" name="组合 5"/>
          <p:cNvGrpSpPr/>
          <p:nvPr/>
        </p:nvGrpSpPr>
        <p:grpSpPr bwMode="gray">
          <a:xfrm>
            <a:off x="3846898" y="4694721"/>
            <a:ext cx="4513567" cy="723926"/>
            <a:chOff x="4088571" y="4424992"/>
            <a:chExt cx="4513567" cy="723926"/>
          </a:xfrm>
        </p:grpSpPr>
        <p:cxnSp>
          <p:nvCxnSpPr>
            <p:cNvPr id="7" name="直接连接符 6"/>
            <p:cNvCxnSpPr>
              <a:stCxn id="11" idx="3"/>
              <a:endCxn id="13" idx="1"/>
            </p:cNvCxnSpPr>
            <p:nvPr/>
          </p:nvCxnSpPr>
          <p:spPr bwMode="gray">
            <a:xfrm>
              <a:off x="4628571" y="4645901"/>
              <a:ext cx="343356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8" name="组合 7"/>
            <p:cNvGrpSpPr/>
            <p:nvPr/>
          </p:nvGrpSpPr>
          <p:grpSpPr bwMode="gray">
            <a:xfrm>
              <a:off x="6067674" y="4424992"/>
              <a:ext cx="540000" cy="723926"/>
              <a:chOff x="5312873" y="4947622"/>
              <a:chExt cx="540000" cy="723926"/>
            </a:xfrm>
          </p:grpSpPr>
          <p:pic>
            <p:nvPicPr>
              <p:cNvPr id="15" name="Picture 12" descr="E:\2016.01\1.12 扁平化图标\蓝色\AR-蓝色最新-40.png"/>
              <p:cNvPicPr>
                <a:picLocks noChangeAspect="1" noChangeArrowheads="1"/>
              </p:cNvPicPr>
              <p:nvPr/>
            </p:nvPicPr>
            <p:blipFill>
              <a:blip r:embed="rId3" cstate="print"/>
              <a:srcRect/>
              <a:stretch>
                <a:fillRect/>
              </a:stretch>
            </p:blipFill>
            <p:spPr bwMode="gray">
              <a:xfrm>
                <a:off x="5312873" y="4947622"/>
                <a:ext cx="540000" cy="441818"/>
              </a:xfrm>
              <a:prstGeom prst="rect">
                <a:avLst/>
              </a:prstGeom>
              <a:noFill/>
            </p:spPr>
          </p:pic>
          <p:sp>
            <p:nvSpPr>
              <p:cNvPr id="16" name="文本框 15"/>
              <p:cNvSpPr txBox="1"/>
              <p:nvPr/>
            </p:nvSpPr>
            <p:spPr bwMode="gray">
              <a:xfrm>
                <a:off x="5436839" y="5363771"/>
                <a:ext cx="292068"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9" name="组合 8"/>
            <p:cNvGrpSpPr/>
            <p:nvPr/>
          </p:nvGrpSpPr>
          <p:grpSpPr bwMode="gray">
            <a:xfrm>
              <a:off x="8062138" y="4424992"/>
              <a:ext cx="540000" cy="714804"/>
              <a:chOff x="8062138" y="4947622"/>
              <a:chExt cx="540000" cy="714804"/>
            </a:xfrm>
          </p:grpSpPr>
          <p:pic>
            <p:nvPicPr>
              <p:cNvPr id="13" name="Picture 12" descr="E:\2016.01\1.12 扁平化图标\蓝色\AR-蓝色最新-40.png"/>
              <p:cNvPicPr>
                <a:picLocks noChangeAspect="1" noChangeArrowheads="1"/>
              </p:cNvPicPr>
              <p:nvPr/>
            </p:nvPicPr>
            <p:blipFill>
              <a:blip r:embed="rId3" cstate="print"/>
              <a:srcRect/>
              <a:stretch>
                <a:fillRect/>
              </a:stretch>
            </p:blipFill>
            <p:spPr bwMode="gray">
              <a:xfrm>
                <a:off x="8062138" y="4947622"/>
                <a:ext cx="540000" cy="441818"/>
              </a:xfrm>
              <a:prstGeom prst="rect">
                <a:avLst/>
              </a:prstGeom>
              <a:noFill/>
            </p:spPr>
          </p:pic>
          <p:sp>
            <p:nvSpPr>
              <p:cNvPr id="14" name="文本框 13"/>
              <p:cNvSpPr txBox="1"/>
              <p:nvPr/>
            </p:nvSpPr>
            <p:spPr bwMode="gray">
              <a:xfrm>
                <a:off x="8084306" y="5354649"/>
                <a:ext cx="497252"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PE2</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0" name="组合 9"/>
            <p:cNvGrpSpPr/>
            <p:nvPr/>
          </p:nvGrpSpPr>
          <p:grpSpPr bwMode="gray">
            <a:xfrm>
              <a:off x="4088571" y="4424992"/>
              <a:ext cx="540000" cy="723926"/>
              <a:chOff x="4088571" y="4947622"/>
              <a:chExt cx="540000" cy="723926"/>
            </a:xfrm>
          </p:grpSpPr>
          <p:pic>
            <p:nvPicPr>
              <p:cNvPr id="11" name="Picture 12" descr="E:\2016.01\1.12 扁平化图标\蓝色\AR-蓝色最新-40.png"/>
              <p:cNvPicPr>
                <a:picLocks noChangeAspect="1" noChangeArrowheads="1"/>
              </p:cNvPicPr>
              <p:nvPr/>
            </p:nvPicPr>
            <p:blipFill>
              <a:blip r:embed="rId3" cstate="print"/>
              <a:srcRect/>
              <a:stretch>
                <a:fillRect/>
              </a:stretch>
            </p:blipFill>
            <p:spPr bwMode="gray">
              <a:xfrm>
                <a:off x="4088571" y="4947622"/>
                <a:ext cx="540000" cy="441818"/>
              </a:xfrm>
              <a:prstGeom prst="rect">
                <a:avLst/>
              </a:prstGeom>
              <a:noFill/>
            </p:spPr>
          </p:pic>
          <p:sp>
            <p:nvSpPr>
              <p:cNvPr id="12" name="文本框 11"/>
              <p:cNvSpPr txBox="1"/>
              <p:nvPr/>
            </p:nvSpPr>
            <p:spPr bwMode="gray">
              <a:xfrm>
                <a:off x="4109945" y="5363771"/>
                <a:ext cx="497252" cy="307777"/>
              </a:xfrm>
              <a:prstGeom prst="rect">
                <a:avLst/>
              </a:prstGeom>
              <a:noFill/>
            </p:spPr>
            <p:txBody>
              <a:bodyPr wrap="non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PE1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grpSp>
        <p:nvGrpSpPr>
          <p:cNvPr id="17" name="组合 16"/>
          <p:cNvGrpSpPr/>
          <p:nvPr/>
        </p:nvGrpSpPr>
        <p:grpSpPr bwMode="gray">
          <a:xfrm>
            <a:off x="2158869" y="4272637"/>
            <a:ext cx="550687" cy="712575"/>
            <a:chOff x="4073209" y="4947622"/>
            <a:chExt cx="550687" cy="712575"/>
          </a:xfrm>
        </p:grpSpPr>
        <p:pic>
          <p:nvPicPr>
            <p:cNvPr id="18" name="Picture 12" descr="E:\2016.01\1.12 扁平化图标\蓝色\AR-蓝色最新-40.png"/>
            <p:cNvPicPr>
              <a:picLocks noChangeAspect="1" noChangeArrowheads="1"/>
            </p:cNvPicPr>
            <p:nvPr/>
          </p:nvPicPr>
          <p:blipFill>
            <a:blip r:embed="rId3" cstate="print"/>
            <a:srcRect/>
            <a:stretch>
              <a:fillRect/>
            </a:stretch>
          </p:blipFill>
          <p:spPr bwMode="gray">
            <a:xfrm>
              <a:off x="4073209" y="4947622"/>
              <a:ext cx="540000" cy="441818"/>
            </a:xfrm>
            <a:prstGeom prst="rect">
              <a:avLst/>
            </a:prstGeom>
            <a:noFill/>
          </p:spPr>
        </p:pic>
        <p:sp>
          <p:nvSpPr>
            <p:cNvPr id="19" name="文本框 18"/>
            <p:cNvSpPr txBox="1"/>
            <p:nvPr/>
          </p:nvSpPr>
          <p:spPr bwMode="gray">
            <a:xfrm>
              <a:off x="4121835" y="5352420"/>
              <a:ext cx="50206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0" name="圆角矩形 19"/>
          <p:cNvSpPr/>
          <p:nvPr/>
        </p:nvSpPr>
        <p:spPr bwMode="gray">
          <a:xfrm>
            <a:off x="952500" y="4025063"/>
            <a:ext cx="1873049" cy="994971"/>
          </a:xfrm>
          <a:prstGeom prst="roundRect">
            <a:avLst/>
          </a:prstGeom>
          <a:noFill/>
          <a:ln w="25400">
            <a:solidFill>
              <a:srgbClr val="8BC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1" name="组合 20"/>
          <p:cNvGrpSpPr/>
          <p:nvPr/>
        </p:nvGrpSpPr>
        <p:grpSpPr bwMode="gray">
          <a:xfrm>
            <a:off x="2147045" y="5354017"/>
            <a:ext cx="575533" cy="706640"/>
            <a:chOff x="4073209" y="4947622"/>
            <a:chExt cx="575533" cy="706640"/>
          </a:xfrm>
        </p:grpSpPr>
        <p:pic>
          <p:nvPicPr>
            <p:cNvPr id="22" name="Picture 12" descr="E:\2016.01\1.12 扁平化图标\蓝色\AR-蓝色最新-40.png"/>
            <p:cNvPicPr>
              <a:picLocks noChangeAspect="1" noChangeArrowheads="1"/>
            </p:cNvPicPr>
            <p:nvPr/>
          </p:nvPicPr>
          <p:blipFill>
            <a:blip r:embed="rId3" cstate="print"/>
            <a:srcRect/>
            <a:stretch>
              <a:fillRect/>
            </a:stretch>
          </p:blipFill>
          <p:spPr bwMode="gray">
            <a:xfrm>
              <a:off x="4073209" y="4947622"/>
              <a:ext cx="540000" cy="441818"/>
            </a:xfrm>
            <a:prstGeom prst="rect">
              <a:avLst/>
            </a:prstGeom>
            <a:noFill/>
          </p:spPr>
        </p:pic>
        <p:sp>
          <p:nvSpPr>
            <p:cNvPr id="23" name="文本框 22"/>
            <p:cNvSpPr txBox="1"/>
            <p:nvPr/>
          </p:nvSpPr>
          <p:spPr bwMode="gray">
            <a:xfrm>
              <a:off x="4146681" y="5346485"/>
              <a:ext cx="50206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CE2</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4" name="圆角矩形 23"/>
          <p:cNvSpPr/>
          <p:nvPr/>
        </p:nvSpPr>
        <p:spPr bwMode="gray">
          <a:xfrm>
            <a:off x="952500" y="5106443"/>
            <a:ext cx="1873049" cy="994971"/>
          </a:xfrm>
          <a:prstGeom prst="roundRect">
            <a:avLst/>
          </a:prstGeom>
          <a:noFill/>
          <a:ln w="254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圆角矩形 27"/>
          <p:cNvSpPr/>
          <p:nvPr/>
        </p:nvSpPr>
        <p:spPr bwMode="gray">
          <a:xfrm flipH="1">
            <a:off x="9366451" y="4025063"/>
            <a:ext cx="1873049" cy="994971"/>
          </a:xfrm>
          <a:prstGeom prst="roundRect">
            <a:avLst/>
          </a:prstGeom>
          <a:noFill/>
          <a:ln w="25400">
            <a:solidFill>
              <a:srgbClr val="8BC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圆角矩形 31"/>
          <p:cNvSpPr/>
          <p:nvPr/>
        </p:nvSpPr>
        <p:spPr bwMode="gray">
          <a:xfrm flipH="1">
            <a:off x="9378275" y="5106443"/>
            <a:ext cx="1873049" cy="994971"/>
          </a:xfrm>
          <a:prstGeom prst="roundRect">
            <a:avLst/>
          </a:prstGeom>
          <a:noFill/>
          <a:ln w="254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3" name="直接连接符 32"/>
          <p:cNvCxnSpPr>
            <a:stCxn id="18" idx="3"/>
            <a:endCxn id="11" idx="1"/>
          </p:cNvCxnSpPr>
          <p:nvPr/>
        </p:nvCxnSpPr>
        <p:spPr bwMode="gray">
          <a:xfrm>
            <a:off x="2698869" y="4493546"/>
            <a:ext cx="1148029" cy="42208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a:stCxn id="22" idx="3"/>
            <a:endCxn id="11" idx="1"/>
          </p:cNvCxnSpPr>
          <p:nvPr/>
        </p:nvCxnSpPr>
        <p:spPr bwMode="gray">
          <a:xfrm flipV="1">
            <a:off x="2687045" y="4915630"/>
            <a:ext cx="1159853" cy="65929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a:stCxn id="13" idx="3"/>
          </p:cNvCxnSpPr>
          <p:nvPr/>
        </p:nvCxnSpPr>
        <p:spPr bwMode="gray">
          <a:xfrm flipV="1">
            <a:off x="8360465" y="4493546"/>
            <a:ext cx="1132666" cy="42208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a:stCxn id="13" idx="3"/>
          </p:cNvCxnSpPr>
          <p:nvPr/>
        </p:nvCxnSpPr>
        <p:spPr bwMode="gray">
          <a:xfrm>
            <a:off x="8360465" y="4915630"/>
            <a:ext cx="1144490" cy="65929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文本框 36"/>
          <p:cNvSpPr txBox="1"/>
          <p:nvPr/>
        </p:nvSpPr>
        <p:spPr bwMode="gray">
          <a:xfrm>
            <a:off x="881938" y="4143995"/>
            <a:ext cx="1215397"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192.168.1.0/24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文本框 37"/>
          <p:cNvSpPr txBox="1"/>
          <p:nvPr/>
        </p:nvSpPr>
        <p:spPr bwMode="gray">
          <a:xfrm>
            <a:off x="894774" y="5465428"/>
            <a:ext cx="1215397"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192.168.1.0/24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文本框 38"/>
          <p:cNvSpPr txBox="1"/>
          <p:nvPr/>
        </p:nvSpPr>
        <p:spPr bwMode="gray">
          <a:xfrm>
            <a:off x="924700" y="4668568"/>
            <a:ext cx="1124026" cy="350160"/>
          </a:xfrm>
          <a:prstGeom prst="rect">
            <a:avLst/>
          </a:prstGeom>
          <a:noFill/>
        </p:spPr>
        <p:txBody>
          <a:bodyPr wrap="none" rtlCol="0">
            <a:spAutoFit/>
          </a:bodyPr>
          <a:lstStyle/>
          <a:p>
            <a:pPr>
              <a:lnSpc>
                <a:spcPct val="130000"/>
              </a:lnSpc>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X</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A</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文本框 39"/>
          <p:cNvSpPr txBox="1"/>
          <p:nvPr/>
        </p:nvSpPr>
        <p:spPr bwMode="gray">
          <a:xfrm>
            <a:off x="924700" y="5788101"/>
            <a:ext cx="1112805" cy="350160"/>
          </a:xfrm>
          <a:prstGeom prst="rect">
            <a:avLst/>
          </a:prstGeom>
          <a:noFill/>
        </p:spPr>
        <p:txBody>
          <a:bodyPr wrap="none" rtlCol="0">
            <a:spAutoFit/>
          </a:bodyPr>
          <a:lstStyle/>
          <a:p>
            <a:pPr>
              <a:lnSpc>
                <a:spcPct val="130000"/>
              </a:lnSpc>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Y</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C</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文本框 40"/>
          <p:cNvSpPr txBox="1"/>
          <p:nvPr/>
        </p:nvSpPr>
        <p:spPr bwMode="gray">
          <a:xfrm>
            <a:off x="10119237" y="4647624"/>
            <a:ext cx="1114408" cy="350160"/>
          </a:xfrm>
          <a:prstGeom prst="rect">
            <a:avLst/>
          </a:prstGeom>
          <a:noFill/>
        </p:spPr>
        <p:txBody>
          <a:bodyPr wrap="none" rtlCol="0">
            <a:spAutoFit/>
          </a:bodyPr>
          <a:lstStyle/>
          <a:p>
            <a:pPr>
              <a:lnSpc>
                <a:spcPct val="130000"/>
              </a:lnSpc>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X</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文本框 41"/>
          <p:cNvSpPr txBox="1"/>
          <p:nvPr/>
        </p:nvSpPr>
        <p:spPr bwMode="gray">
          <a:xfrm>
            <a:off x="10119237" y="5767157"/>
            <a:ext cx="1133644" cy="350160"/>
          </a:xfrm>
          <a:prstGeom prst="rect">
            <a:avLst/>
          </a:prstGeom>
          <a:noFill/>
        </p:spPr>
        <p:txBody>
          <a:bodyPr wrap="none" rtlCol="0">
            <a:spAutoFit/>
          </a:bodyPr>
          <a:lstStyle/>
          <a:p>
            <a:pPr>
              <a:lnSpc>
                <a:spcPct val="130000"/>
              </a:lnSpc>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Y</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 name="圆角矩形 70"/>
          <p:cNvSpPr/>
          <p:nvPr/>
        </p:nvSpPr>
        <p:spPr bwMode="gray">
          <a:xfrm>
            <a:off x="4089806" y="2221900"/>
            <a:ext cx="4000659" cy="1855470"/>
          </a:xfrm>
          <a:prstGeom prst="roundRect">
            <a:avLst>
              <a:gd name="adj" fmla="val 2303"/>
            </a:avLst>
          </a:prstGeom>
          <a:solidFill>
            <a:srgbClr val="FFFFCC"/>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auto">
              <a:lnSpc>
                <a:spcPts val="2200"/>
              </a:lnSpc>
              <a:spcBef>
                <a:spcPts val="0"/>
              </a:spcBef>
              <a:spcAft>
                <a:spcPts val="0"/>
              </a:spcAft>
            </a:pPr>
            <a:endParaRPr lang="zh-CN" altLang="en-US" sz="1600" i="1" dirty="0">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文本框 76"/>
          <p:cNvSpPr txBox="1"/>
          <p:nvPr/>
        </p:nvSpPr>
        <p:spPr bwMode="gray">
          <a:xfrm rot="1345523">
            <a:off x="3083988" y="4524755"/>
            <a:ext cx="776175" cy="276999"/>
          </a:xfrm>
          <a:prstGeom prst="rect">
            <a:avLst/>
          </a:prstGeom>
          <a:noFill/>
        </p:spPr>
        <p:txBody>
          <a:bodyPr wrap="none" rtlCol="0">
            <a:spAutoFit/>
          </a:bodyPr>
          <a:lstStyle/>
          <a:p>
            <a:r>
              <a:rPr lang="en-US" altLang="zh-CN" sz="1200" b="1" dirty="0" smtClean="0">
                <a:latin typeface="Huawei Sans" panose="020C0503030203020204" pitchFamily="34" charset="0"/>
                <a:ea typeface="方正兰亭黑简体" panose="02000000000000000000" pitchFamily="2" charset="-122"/>
                <a:sym typeface="Huawei Sans" panose="020C0503030203020204" pitchFamily="34" charset="0"/>
              </a:rPr>
              <a:t>GE0/0/0</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文本框 77"/>
          <p:cNvSpPr txBox="1"/>
          <p:nvPr/>
        </p:nvSpPr>
        <p:spPr bwMode="gray">
          <a:xfrm rot="19865385">
            <a:off x="3001840" y="4930346"/>
            <a:ext cx="776175" cy="276999"/>
          </a:xfrm>
          <a:prstGeom prst="rect">
            <a:avLst/>
          </a:prstGeom>
          <a:noFill/>
        </p:spPr>
        <p:txBody>
          <a:bodyPr wrap="none" rtlCol="0">
            <a:spAutoFit/>
          </a:bodyPr>
          <a:lstStyle/>
          <a:p>
            <a:r>
              <a:rPr lang="en-US" altLang="zh-CN" sz="1200" b="1" dirty="0" smtClean="0">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0" name="AutoShape 2"/>
          <p:cNvSpPr>
            <a:spLocks noChangeArrowheads="1"/>
          </p:cNvSpPr>
          <p:nvPr/>
        </p:nvSpPr>
        <p:spPr bwMode="gray">
          <a:xfrm>
            <a:off x="4241575" y="2358407"/>
            <a:ext cx="3618108" cy="1582456"/>
          </a:xfrm>
          <a:prstGeom prst="roundRect">
            <a:avLst>
              <a:gd name="adj" fmla="val 16667"/>
            </a:avLst>
          </a:prstGeom>
          <a:noFill/>
          <a:ln w="3175" algn="ctr">
            <a:solidFill>
              <a:srgbClr val="006699"/>
            </a:solidFill>
            <a:prstDash val="lg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784225" fontAlgn="base">
              <a:defRPr>
                <a:solidFill>
                  <a:schemeClr val="tx1"/>
                </a:solidFill>
                <a:latin typeface="Arial" panose="020B0604020202020204" pitchFamily="34" charset="0"/>
                <a:ea typeface="宋体" panose="02010600030101010101" pitchFamily="2" charset="-122"/>
              </a:defRPr>
            </a:lvl1pPr>
            <a:lvl2pPr defTabSz="784225" fontAlgn="base">
              <a:defRPr>
                <a:solidFill>
                  <a:schemeClr val="tx1"/>
                </a:solidFill>
                <a:latin typeface="Arial" panose="020B0604020202020204" pitchFamily="34" charset="0"/>
                <a:ea typeface="宋体" panose="02010600030101010101" pitchFamily="2" charset="-122"/>
              </a:defRPr>
            </a:lvl2pPr>
            <a:lvl3pPr defTabSz="784225" fontAlgn="base">
              <a:defRPr>
                <a:solidFill>
                  <a:schemeClr val="tx1"/>
                </a:solidFill>
                <a:latin typeface="Arial" panose="020B0604020202020204" pitchFamily="34" charset="0"/>
                <a:ea typeface="宋体" panose="02010600030101010101" pitchFamily="2" charset="-122"/>
              </a:defRPr>
            </a:lvl3pPr>
            <a:lvl4pPr defTabSz="784225" fontAlgn="base">
              <a:defRPr>
                <a:solidFill>
                  <a:schemeClr val="tx1"/>
                </a:solidFill>
                <a:latin typeface="Arial" panose="020B0604020202020204" pitchFamily="34" charset="0"/>
                <a:ea typeface="宋体" panose="02010600030101010101" pitchFamily="2" charset="-122"/>
              </a:defRPr>
            </a:lvl4pPr>
            <a:lvl5pPr defTabSz="784225" fontAlgn="base">
              <a:defRPr>
                <a:solidFill>
                  <a:schemeClr val="tx1"/>
                </a:solidFill>
                <a:latin typeface="Arial" panose="020B0604020202020204" pitchFamily="34" charset="0"/>
                <a:ea typeface="宋体" panose="02010600030101010101" pitchFamily="2" charset="-122"/>
              </a:defRPr>
            </a:lvl5pPr>
            <a:lvl6pPr defTabSz="78422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defTabSz="78422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defTabSz="78422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defTabSz="78422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endPar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1" name="AutoShape 4"/>
          <p:cNvSpPr>
            <a:spLocks noChangeArrowheads="1"/>
          </p:cNvSpPr>
          <p:nvPr/>
        </p:nvSpPr>
        <p:spPr bwMode="gray">
          <a:xfrm>
            <a:off x="4411097" y="2419071"/>
            <a:ext cx="1972551" cy="660413"/>
          </a:xfrm>
          <a:prstGeom prst="roundRect">
            <a:avLst>
              <a:gd name="adj" fmla="val 16667"/>
            </a:avLst>
          </a:prstGeom>
          <a:solidFill>
            <a:schemeClr val="bg1"/>
          </a:solidFill>
          <a:ln w="31750" algn="ctr">
            <a:solidFill>
              <a:srgbClr val="8BC9A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defTabSz="784225" fontAlgn="base">
              <a:defRPr>
                <a:solidFill>
                  <a:schemeClr val="tx1"/>
                </a:solidFill>
                <a:latin typeface="Arial" panose="020B0604020202020204" pitchFamily="34" charset="0"/>
                <a:ea typeface="宋体" panose="02010600030101010101" pitchFamily="2" charset="-122"/>
              </a:defRPr>
            </a:lvl1pPr>
            <a:lvl2pPr defTabSz="784225" fontAlgn="base">
              <a:defRPr>
                <a:solidFill>
                  <a:schemeClr val="tx1"/>
                </a:solidFill>
                <a:latin typeface="Arial" panose="020B0604020202020204" pitchFamily="34" charset="0"/>
                <a:ea typeface="宋体" panose="02010600030101010101" pitchFamily="2" charset="-122"/>
              </a:defRPr>
            </a:lvl2pPr>
            <a:lvl3pPr defTabSz="784225" fontAlgn="base">
              <a:defRPr>
                <a:solidFill>
                  <a:schemeClr val="tx1"/>
                </a:solidFill>
                <a:latin typeface="Arial" panose="020B0604020202020204" pitchFamily="34" charset="0"/>
                <a:ea typeface="宋体" panose="02010600030101010101" pitchFamily="2" charset="-122"/>
              </a:defRPr>
            </a:lvl3pPr>
            <a:lvl4pPr defTabSz="784225" fontAlgn="base">
              <a:defRPr>
                <a:solidFill>
                  <a:schemeClr val="tx1"/>
                </a:solidFill>
                <a:latin typeface="Arial" panose="020B0604020202020204" pitchFamily="34" charset="0"/>
                <a:ea typeface="宋体" panose="02010600030101010101" pitchFamily="2" charset="-122"/>
              </a:defRPr>
            </a:lvl4pPr>
            <a:lvl5pPr defTabSz="784225" fontAlgn="base">
              <a:defRPr>
                <a:solidFill>
                  <a:schemeClr val="tx1"/>
                </a:solidFill>
                <a:latin typeface="Arial" panose="020B0604020202020204" pitchFamily="34" charset="0"/>
                <a:ea typeface="宋体" panose="02010600030101010101" pitchFamily="2" charset="-122"/>
              </a:defRPr>
            </a:lvl5pPr>
            <a:lvl6pPr defTabSz="78422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defTabSz="78422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defTabSz="78422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defTabSz="78422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endParaRPr lang="en-US" altLang="zh-CN" sz="10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2" name="AutoShape 5"/>
          <p:cNvSpPr>
            <a:spLocks noChangeArrowheads="1"/>
          </p:cNvSpPr>
          <p:nvPr/>
        </p:nvSpPr>
        <p:spPr bwMode="gray">
          <a:xfrm>
            <a:off x="4411097" y="3157008"/>
            <a:ext cx="1931939" cy="660413"/>
          </a:xfrm>
          <a:prstGeom prst="roundRect">
            <a:avLst>
              <a:gd name="adj" fmla="val 16667"/>
            </a:avLst>
          </a:prstGeom>
          <a:solidFill>
            <a:schemeClr val="bg1"/>
          </a:solidFill>
          <a:ln w="31750" algn="ctr">
            <a:solidFill>
              <a:srgbClr val="56C4D2"/>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defTabSz="784225" fontAlgn="base">
              <a:defRPr>
                <a:solidFill>
                  <a:schemeClr val="tx1"/>
                </a:solidFill>
                <a:latin typeface="Arial" panose="020B0604020202020204" pitchFamily="34" charset="0"/>
                <a:ea typeface="宋体" panose="02010600030101010101" pitchFamily="2" charset="-122"/>
              </a:defRPr>
            </a:lvl1pPr>
            <a:lvl2pPr defTabSz="784225" fontAlgn="base">
              <a:defRPr>
                <a:solidFill>
                  <a:schemeClr val="tx1"/>
                </a:solidFill>
                <a:latin typeface="Arial" panose="020B0604020202020204" pitchFamily="34" charset="0"/>
                <a:ea typeface="宋体" panose="02010600030101010101" pitchFamily="2" charset="-122"/>
              </a:defRPr>
            </a:lvl2pPr>
            <a:lvl3pPr defTabSz="784225" fontAlgn="base">
              <a:defRPr>
                <a:solidFill>
                  <a:schemeClr val="tx1"/>
                </a:solidFill>
                <a:latin typeface="Arial" panose="020B0604020202020204" pitchFamily="34" charset="0"/>
                <a:ea typeface="宋体" panose="02010600030101010101" pitchFamily="2" charset="-122"/>
              </a:defRPr>
            </a:lvl3pPr>
            <a:lvl4pPr defTabSz="784225" fontAlgn="base">
              <a:defRPr>
                <a:solidFill>
                  <a:schemeClr val="tx1"/>
                </a:solidFill>
                <a:latin typeface="Arial" panose="020B0604020202020204" pitchFamily="34" charset="0"/>
                <a:ea typeface="宋体" panose="02010600030101010101" pitchFamily="2" charset="-122"/>
              </a:defRPr>
            </a:lvl4pPr>
            <a:lvl5pPr defTabSz="784225" fontAlgn="base">
              <a:defRPr>
                <a:solidFill>
                  <a:schemeClr val="tx1"/>
                </a:solidFill>
                <a:latin typeface="Arial" panose="020B0604020202020204" pitchFamily="34" charset="0"/>
                <a:ea typeface="宋体" panose="02010600030101010101" pitchFamily="2" charset="-122"/>
              </a:defRPr>
            </a:lvl5pPr>
            <a:lvl6pPr defTabSz="78422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defTabSz="78422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defTabSz="78422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defTabSz="78422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endParaRPr lang="en-US" altLang="zh-CN" sz="10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3" name="AutoShape 6"/>
          <p:cNvSpPr>
            <a:spLocks noChangeArrowheads="1"/>
          </p:cNvSpPr>
          <p:nvPr/>
        </p:nvSpPr>
        <p:spPr bwMode="gray">
          <a:xfrm>
            <a:off x="6532675" y="2425346"/>
            <a:ext cx="1177981" cy="1403442"/>
          </a:xfrm>
          <a:prstGeom prst="roundRect">
            <a:avLst>
              <a:gd name="adj" fmla="val 16667"/>
            </a:avLst>
          </a:prstGeom>
          <a:solidFill>
            <a:schemeClr val="bg1"/>
          </a:solidFill>
          <a:ln w="31750" algn="ctr">
            <a:solidFill>
              <a:srgbClr val="80808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defTabSz="784225" fontAlgn="base">
              <a:defRPr>
                <a:solidFill>
                  <a:schemeClr val="tx1"/>
                </a:solidFill>
                <a:latin typeface="Arial" panose="020B0604020202020204" pitchFamily="34" charset="0"/>
                <a:ea typeface="宋体" panose="02010600030101010101" pitchFamily="2" charset="-122"/>
              </a:defRPr>
            </a:lvl1pPr>
            <a:lvl2pPr defTabSz="784225" fontAlgn="base">
              <a:defRPr>
                <a:solidFill>
                  <a:schemeClr val="tx1"/>
                </a:solidFill>
                <a:latin typeface="Arial" panose="020B0604020202020204" pitchFamily="34" charset="0"/>
                <a:ea typeface="宋体" panose="02010600030101010101" pitchFamily="2" charset="-122"/>
              </a:defRPr>
            </a:lvl2pPr>
            <a:lvl3pPr defTabSz="784225" fontAlgn="base">
              <a:defRPr>
                <a:solidFill>
                  <a:schemeClr val="tx1"/>
                </a:solidFill>
                <a:latin typeface="Arial" panose="020B0604020202020204" pitchFamily="34" charset="0"/>
                <a:ea typeface="宋体" panose="02010600030101010101" pitchFamily="2" charset="-122"/>
              </a:defRPr>
            </a:lvl3pPr>
            <a:lvl4pPr defTabSz="784225" fontAlgn="base">
              <a:defRPr>
                <a:solidFill>
                  <a:schemeClr val="tx1"/>
                </a:solidFill>
                <a:latin typeface="Arial" panose="020B0604020202020204" pitchFamily="34" charset="0"/>
                <a:ea typeface="宋体" panose="02010600030101010101" pitchFamily="2" charset="-122"/>
              </a:defRPr>
            </a:lvl4pPr>
            <a:lvl5pPr defTabSz="784225" fontAlgn="base">
              <a:defRPr>
                <a:solidFill>
                  <a:schemeClr val="tx1"/>
                </a:solidFill>
                <a:latin typeface="Arial" panose="020B0604020202020204" pitchFamily="34" charset="0"/>
                <a:ea typeface="宋体" panose="02010600030101010101" pitchFamily="2" charset="-122"/>
              </a:defRPr>
            </a:lvl5pPr>
            <a:lvl6pPr defTabSz="78422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defTabSz="78422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defTabSz="78422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defTabSz="78422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公网路由表</a:t>
            </a:r>
          </a:p>
        </p:txBody>
      </p:sp>
      <p:sp>
        <p:nvSpPr>
          <p:cNvPr id="84" name="文本框 83"/>
          <p:cNvSpPr txBox="1"/>
          <p:nvPr/>
        </p:nvSpPr>
        <p:spPr bwMode="gray">
          <a:xfrm>
            <a:off x="4759434" y="2425345"/>
            <a:ext cx="1039067"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VPNX</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路由表</a:t>
            </a:r>
          </a:p>
        </p:txBody>
      </p:sp>
      <p:sp>
        <p:nvSpPr>
          <p:cNvPr id="85" name="文本框 84"/>
          <p:cNvSpPr txBox="1"/>
          <p:nvPr/>
        </p:nvSpPr>
        <p:spPr bwMode="gray">
          <a:xfrm>
            <a:off x="4761037" y="3161893"/>
            <a:ext cx="1035861"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VPNY</a:t>
            </a: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路由</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表</a:t>
            </a:r>
          </a:p>
        </p:txBody>
      </p:sp>
      <p:sp>
        <p:nvSpPr>
          <p:cNvPr id="86" name="文本框 85"/>
          <p:cNvSpPr txBox="1"/>
          <p:nvPr/>
        </p:nvSpPr>
        <p:spPr bwMode="gray">
          <a:xfrm>
            <a:off x="4411097" y="2647674"/>
            <a:ext cx="1931939" cy="461665"/>
          </a:xfrm>
          <a:prstGeom prst="rect">
            <a:avLst/>
          </a:prstGeom>
          <a:noFill/>
        </p:spPr>
        <p:txBody>
          <a:bodyPr wrap="non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目的网</a:t>
            </a: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段</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掩码   </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出接口</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192.168.1.0/24   GE0/0/0</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7" name="文本框 86"/>
          <p:cNvSpPr txBox="1"/>
          <p:nvPr/>
        </p:nvSpPr>
        <p:spPr bwMode="gray">
          <a:xfrm>
            <a:off x="4431410" y="3368152"/>
            <a:ext cx="1931939" cy="461665"/>
          </a:xfrm>
          <a:prstGeom prst="rect">
            <a:avLst/>
          </a:prstGeom>
          <a:noFill/>
        </p:spPr>
        <p:txBody>
          <a:bodyPr wrap="none" rtlCol="0">
            <a:spAutoFit/>
          </a:bodyPr>
          <a:lstStyle/>
          <a:p>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目的网段</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掩码    出接口</a:t>
            </a:r>
            <a:endPar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192.168.1.0/24   GE0/0/1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8" name="文本框 87"/>
          <p:cNvSpPr txBox="1"/>
          <p:nvPr/>
        </p:nvSpPr>
        <p:spPr bwMode="gray">
          <a:xfrm>
            <a:off x="8041091" y="3751387"/>
            <a:ext cx="2334293" cy="276999"/>
          </a:xfrm>
          <a:prstGeom prst="rect">
            <a:avLst/>
          </a:prstGeom>
          <a:noFill/>
        </p:spPr>
        <p:txBody>
          <a:bodyPr wrap="none" rtlCol="0">
            <a:spAutoFit/>
          </a:bodyPr>
          <a:lstStyle/>
          <a:p>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注：仅展示</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路由表关键</a:t>
            </a: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内容</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56" name="组合 55"/>
          <p:cNvGrpSpPr/>
          <p:nvPr/>
        </p:nvGrpSpPr>
        <p:grpSpPr bwMode="gray">
          <a:xfrm>
            <a:off x="9493131" y="4272637"/>
            <a:ext cx="540000" cy="723926"/>
            <a:chOff x="4073209" y="4947622"/>
            <a:chExt cx="540000" cy="723926"/>
          </a:xfrm>
        </p:grpSpPr>
        <p:pic>
          <p:nvPicPr>
            <p:cNvPr id="57" name="Picture 12" descr="E:\2016.01\1.12 扁平化图标\蓝色\AR-蓝色最新-40.png"/>
            <p:cNvPicPr>
              <a:picLocks noChangeAspect="1" noChangeArrowheads="1"/>
            </p:cNvPicPr>
            <p:nvPr/>
          </p:nvPicPr>
          <p:blipFill>
            <a:blip r:embed="rId3" cstate="print"/>
            <a:srcRect/>
            <a:stretch>
              <a:fillRect/>
            </a:stretch>
          </p:blipFill>
          <p:spPr bwMode="gray">
            <a:xfrm>
              <a:off x="4073209" y="4947622"/>
              <a:ext cx="540000" cy="441818"/>
            </a:xfrm>
            <a:prstGeom prst="rect">
              <a:avLst/>
            </a:prstGeom>
            <a:noFill/>
          </p:spPr>
        </p:pic>
        <p:sp>
          <p:nvSpPr>
            <p:cNvPr id="58" name="文本框 57"/>
            <p:cNvSpPr txBox="1"/>
            <p:nvPr/>
          </p:nvSpPr>
          <p:spPr bwMode="gray">
            <a:xfrm>
              <a:off x="4086262" y="5363771"/>
              <a:ext cx="50206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CE3</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59" name="组合 58"/>
          <p:cNvGrpSpPr/>
          <p:nvPr/>
        </p:nvGrpSpPr>
        <p:grpSpPr bwMode="gray">
          <a:xfrm>
            <a:off x="9504955" y="5354017"/>
            <a:ext cx="552270" cy="723926"/>
            <a:chOff x="4060939" y="4947622"/>
            <a:chExt cx="552270" cy="723926"/>
          </a:xfrm>
        </p:grpSpPr>
        <p:pic>
          <p:nvPicPr>
            <p:cNvPr id="60" name="Picture 12" descr="E:\2016.01\1.12 扁平化图标\蓝色\AR-蓝色最新-40.png"/>
            <p:cNvPicPr>
              <a:picLocks noChangeAspect="1" noChangeArrowheads="1"/>
            </p:cNvPicPr>
            <p:nvPr/>
          </p:nvPicPr>
          <p:blipFill>
            <a:blip r:embed="rId3" cstate="print"/>
            <a:srcRect/>
            <a:stretch>
              <a:fillRect/>
            </a:stretch>
          </p:blipFill>
          <p:spPr bwMode="gray">
            <a:xfrm>
              <a:off x="4073209" y="4947622"/>
              <a:ext cx="540000" cy="441818"/>
            </a:xfrm>
            <a:prstGeom prst="rect">
              <a:avLst/>
            </a:prstGeom>
            <a:noFill/>
          </p:spPr>
        </p:pic>
        <p:sp>
          <p:nvSpPr>
            <p:cNvPr id="61" name="文本框 60"/>
            <p:cNvSpPr txBox="1"/>
            <p:nvPr/>
          </p:nvSpPr>
          <p:spPr bwMode="gray">
            <a:xfrm>
              <a:off x="4060939" y="5363771"/>
              <a:ext cx="50206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CE4</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76" name="矩形 75"/>
          <p:cNvSpPr/>
          <p:nvPr/>
        </p:nvSpPr>
        <p:spPr bwMode="gray">
          <a:xfrm>
            <a:off x="3848289" y="4028386"/>
            <a:ext cx="4220977" cy="660400"/>
          </a:xfrm>
          <a:custGeom>
            <a:avLst/>
            <a:gdLst>
              <a:gd name="connsiteX0" fmla="*/ 0 w 1376177"/>
              <a:gd name="connsiteY0" fmla="*/ 0 h 762000"/>
              <a:gd name="connsiteX1" fmla="*/ 1376177 w 1376177"/>
              <a:gd name="connsiteY1" fmla="*/ 0 h 762000"/>
              <a:gd name="connsiteX2" fmla="*/ 1376177 w 1376177"/>
              <a:gd name="connsiteY2" fmla="*/ 762000 h 762000"/>
              <a:gd name="connsiteX3" fmla="*/ 0 w 1376177"/>
              <a:gd name="connsiteY3" fmla="*/ 762000 h 762000"/>
              <a:gd name="connsiteX4" fmla="*/ 0 w 1376177"/>
              <a:gd name="connsiteY4" fmla="*/ 0 h 762000"/>
              <a:gd name="connsiteX0" fmla="*/ 228600 w 1604777"/>
              <a:gd name="connsiteY0" fmla="*/ 0 h 774700"/>
              <a:gd name="connsiteX1" fmla="*/ 1604777 w 1604777"/>
              <a:gd name="connsiteY1" fmla="*/ 0 h 774700"/>
              <a:gd name="connsiteX2" fmla="*/ 1604777 w 1604777"/>
              <a:gd name="connsiteY2" fmla="*/ 762000 h 774700"/>
              <a:gd name="connsiteX3" fmla="*/ 0 w 1604777"/>
              <a:gd name="connsiteY3" fmla="*/ 774700 h 774700"/>
              <a:gd name="connsiteX4" fmla="*/ 228600 w 1604777"/>
              <a:gd name="connsiteY4" fmla="*/ 0 h 774700"/>
              <a:gd name="connsiteX0" fmla="*/ 228600 w 1604777"/>
              <a:gd name="connsiteY0" fmla="*/ 0 h 774700"/>
              <a:gd name="connsiteX1" fmla="*/ 1604777 w 1604777"/>
              <a:gd name="connsiteY1" fmla="*/ 0 h 774700"/>
              <a:gd name="connsiteX2" fmla="*/ 487177 w 1604777"/>
              <a:gd name="connsiteY2" fmla="*/ 762000 h 774700"/>
              <a:gd name="connsiteX3" fmla="*/ 0 w 1604777"/>
              <a:gd name="connsiteY3" fmla="*/ 774700 h 774700"/>
              <a:gd name="connsiteX4" fmla="*/ 228600 w 1604777"/>
              <a:gd name="connsiteY4" fmla="*/ 0 h 774700"/>
              <a:gd name="connsiteX0" fmla="*/ 228600 w 4195577"/>
              <a:gd name="connsiteY0" fmla="*/ 0 h 774700"/>
              <a:gd name="connsiteX1" fmla="*/ 4195577 w 4195577"/>
              <a:gd name="connsiteY1" fmla="*/ 114300 h 774700"/>
              <a:gd name="connsiteX2" fmla="*/ 487177 w 4195577"/>
              <a:gd name="connsiteY2" fmla="*/ 762000 h 774700"/>
              <a:gd name="connsiteX3" fmla="*/ 0 w 4195577"/>
              <a:gd name="connsiteY3" fmla="*/ 774700 h 774700"/>
              <a:gd name="connsiteX4" fmla="*/ 228600 w 4195577"/>
              <a:gd name="connsiteY4" fmla="*/ 0 h 774700"/>
              <a:gd name="connsiteX0" fmla="*/ 228600 w 4195577"/>
              <a:gd name="connsiteY0" fmla="*/ 203200 h 660400"/>
              <a:gd name="connsiteX1" fmla="*/ 4195577 w 4195577"/>
              <a:gd name="connsiteY1" fmla="*/ 0 h 660400"/>
              <a:gd name="connsiteX2" fmla="*/ 487177 w 4195577"/>
              <a:gd name="connsiteY2" fmla="*/ 647700 h 660400"/>
              <a:gd name="connsiteX3" fmla="*/ 0 w 4195577"/>
              <a:gd name="connsiteY3" fmla="*/ 660400 h 660400"/>
              <a:gd name="connsiteX4" fmla="*/ 228600 w 4195577"/>
              <a:gd name="connsiteY4" fmla="*/ 203200 h 660400"/>
              <a:gd name="connsiteX0" fmla="*/ 292100 w 4195577"/>
              <a:gd name="connsiteY0" fmla="*/ 38100 h 660400"/>
              <a:gd name="connsiteX1" fmla="*/ 4195577 w 4195577"/>
              <a:gd name="connsiteY1" fmla="*/ 0 h 660400"/>
              <a:gd name="connsiteX2" fmla="*/ 487177 w 4195577"/>
              <a:gd name="connsiteY2" fmla="*/ 647700 h 660400"/>
              <a:gd name="connsiteX3" fmla="*/ 0 w 4195577"/>
              <a:gd name="connsiteY3" fmla="*/ 660400 h 660400"/>
              <a:gd name="connsiteX4" fmla="*/ 292100 w 4195577"/>
              <a:gd name="connsiteY4" fmla="*/ 38100 h 660400"/>
              <a:gd name="connsiteX0" fmla="*/ 279400 w 4195577"/>
              <a:gd name="connsiteY0" fmla="*/ 25400 h 660400"/>
              <a:gd name="connsiteX1" fmla="*/ 4195577 w 4195577"/>
              <a:gd name="connsiteY1" fmla="*/ 0 h 660400"/>
              <a:gd name="connsiteX2" fmla="*/ 487177 w 4195577"/>
              <a:gd name="connsiteY2" fmla="*/ 647700 h 660400"/>
              <a:gd name="connsiteX3" fmla="*/ 0 w 4195577"/>
              <a:gd name="connsiteY3" fmla="*/ 660400 h 660400"/>
              <a:gd name="connsiteX4" fmla="*/ 279400 w 4195577"/>
              <a:gd name="connsiteY4" fmla="*/ 25400 h 660400"/>
              <a:gd name="connsiteX0" fmla="*/ 279400 w 4220977"/>
              <a:gd name="connsiteY0" fmla="*/ 25400 h 660400"/>
              <a:gd name="connsiteX1" fmla="*/ 4220977 w 4220977"/>
              <a:gd name="connsiteY1" fmla="*/ 0 h 660400"/>
              <a:gd name="connsiteX2" fmla="*/ 487177 w 4220977"/>
              <a:gd name="connsiteY2" fmla="*/ 647700 h 660400"/>
              <a:gd name="connsiteX3" fmla="*/ 0 w 4220977"/>
              <a:gd name="connsiteY3" fmla="*/ 660400 h 660400"/>
              <a:gd name="connsiteX4" fmla="*/ 279400 w 4220977"/>
              <a:gd name="connsiteY4" fmla="*/ 25400 h 660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0977" h="660400">
                <a:moveTo>
                  <a:pt x="279400" y="25400"/>
                </a:moveTo>
                <a:lnTo>
                  <a:pt x="4220977" y="0"/>
                </a:lnTo>
                <a:lnTo>
                  <a:pt x="487177" y="647700"/>
                </a:lnTo>
                <a:lnTo>
                  <a:pt x="0" y="660400"/>
                </a:lnTo>
                <a:lnTo>
                  <a:pt x="279400" y="25400"/>
                </a:lnTo>
                <a:close/>
              </a:path>
            </a:pathLst>
          </a:custGeom>
          <a:gradFill>
            <a:gsLst>
              <a:gs pos="1000">
                <a:srgbClr val="FFD17D"/>
              </a:gs>
              <a:gs pos="100000">
                <a:sysClr val="window" lastClr="FFFFFF">
                  <a:alpha val="0"/>
                </a:sys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464077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1"/>
                                        </p:tgtEl>
                                        <p:attrNameLst>
                                          <p:attrName>style.visibility</p:attrName>
                                        </p:attrNameLst>
                                      </p:cBhvr>
                                      <p:to>
                                        <p:strVal val="visible"/>
                                      </p:to>
                                    </p:set>
                                    <p:anim calcmode="lin" valueType="num">
                                      <p:cBhvr additive="base">
                                        <p:cTn id="7" dur="500" fill="hold"/>
                                        <p:tgtEl>
                                          <p:spTgt spid="71"/>
                                        </p:tgtEl>
                                        <p:attrNameLst>
                                          <p:attrName>ppt_x</p:attrName>
                                        </p:attrNameLst>
                                      </p:cBhvr>
                                      <p:tavLst>
                                        <p:tav tm="0">
                                          <p:val>
                                            <p:strVal val="#ppt_x"/>
                                          </p:val>
                                        </p:tav>
                                        <p:tav tm="100000">
                                          <p:val>
                                            <p:strVal val="#ppt_x"/>
                                          </p:val>
                                        </p:tav>
                                      </p:tavLst>
                                    </p:anim>
                                    <p:anim calcmode="lin" valueType="num">
                                      <p:cBhvr additive="base">
                                        <p:cTn id="8" dur="500" fill="hold"/>
                                        <p:tgtEl>
                                          <p:spTgt spid="7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0"/>
                                        </p:tgtEl>
                                        <p:attrNameLst>
                                          <p:attrName>style.visibility</p:attrName>
                                        </p:attrNameLst>
                                      </p:cBhvr>
                                      <p:to>
                                        <p:strVal val="visible"/>
                                      </p:to>
                                    </p:set>
                                    <p:anim calcmode="lin" valueType="num">
                                      <p:cBhvr additive="base">
                                        <p:cTn id="11" dur="500" fill="hold"/>
                                        <p:tgtEl>
                                          <p:spTgt spid="80"/>
                                        </p:tgtEl>
                                        <p:attrNameLst>
                                          <p:attrName>ppt_x</p:attrName>
                                        </p:attrNameLst>
                                      </p:cBhvr>
                                      <p:tavLst>
                                        <p:tav tm="0">
                                          <p:val>
                                            <p:strVal val="#ppt_x"/>
                                          </p:val>
                                        </p:tav>
                                        <p:tav tm="100000">
                                          <p:val>
                                            <p:strVal val="#ppt_x"/>
                                          </p:val>
                                        </p:tav>
                                      </p:tavLst>
                                    </p:anim>
                                    <p:anim calcmode="lin" valueType="num">
                                      <p:cBhvr additive="base">
                                        <p:cTn id="12" dur="500" fill="hold"/>
                                        <p:tgtEl>
                                          <p:spTgt spid="80"/>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81"/>
                                        </p:tgtEl>
                                        <p:attrNameLst>
                                          <p:attrName>style.visibility</p:attrName>
                                        </p:attrNameLst>
                                      </p:cBhvr>
                                      <p:to>
                                        <p:strVal val="visible"/>
                                      </p:to>
                                    </p:set>
                                    <p:anim calcmode="lin" valueType="num">
                                      <p:cBhvr additive="base">
                                        <p:cTn id="15" dur="500" fill="hold"/>
                                        <p:tgtEl>
                                          <p:spTgt spid="81"/>
                                        </p:tgtEl>
                                        <p:attrNameLst>
                                          <p:attrName>ppt_x</p:attrName>
                                        </p:attrNameLst>
                                      </p:cBhvr>
                                      <p:tavLst>
                                        <p:tav tm="0">
                                          <p:val>
                                            <p:strVal val="#ppt_x"/>
                                          </p:val>
                                        </p:tav>
                                        <p:tav tm="100000">
                                          <p:val>
                                            <p:strVal val="#ppt_x"/>
                                          </p:val>
                                        </p:tav>
                                      </p:tavLst>
                                    </p:anim>
                                    <p:anim calcmode="lin" valueType="num">
                                      <p:cBhvr additive="base">
                                        <p:cTn id="16" dur="500" fill="hold"/>
                                        <p:tgtEl>
                                          <p:spTgt spid="81"/>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82"/>
                                        </p:tgtEl>
                                        <p:attrNameLst>
                                          <p:attrName>style.visibility</p:attrName>
                                        </p:attrNameLst>
                                      </p:cBhvr>
                                      <p:to>
                                        <p:strVal val="visible"/>
                                      </p:to>
                                    </p:set>
                                    <p:anim calcmode="lin" valueType="num">
                                      <p:cBhvr additive="base">
                                        <p:cTn id="19" dur="500" fill="hold"/>
                                        <p:tgtEl>
                                          <p:spTgt spid="82"/>
                                        </p:tgtEl>
                                        <p:attrNameLst>
                                          <p:attrName>ppt_x</p:attrName>
                                        </p:attrNameLst>
                                      </p:cBhvr>
                                      <p:tavLst>
                                        <p:tav tm="0">
                                          <p:val>
                                            <p:strVal val="#ppt_x"/>
                                          </p:val>
                                        </p:tav>
                                        <p:tav tm="100000">
                                          <p:val>
                                            <p:strVal val="#ppt_x"/>
                                          </p:val>
                                        </p:tav>
                                      </p:tavLst>
                                    </p:anim>
                                    <p:anim calcmode="lin" valueType="num">
                                      <p:cBhvr additive="base">
                                        <p:cTn id="20" dur="500" fill="hold"/>
                                        <p:tgtEl>
                                          <p:spTgt spid="82"/>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83"/>
                                        </p:tgtEl>
                                        <p:attrNameLst>
                                          <p:attrName>style.visibility</p:attrName>
                                        </p:attrNameLst>
                                      </p:cBhvr>
                                      <p:to>
                                        <p:strVal val="visible"/>
                                      </p:to>
                                    </p:set>
                                    <p:anim calcmode="lin" valueType="num">
                                      <p:cBhvr additive="base">
                                        <p:cTn id="23" dur="500" fill="hold"/>
                                        <p:tgtEl>
                                          <p:spTgt spid="83"/>
                                        </p:tgtEl>
                                        <p:attrNameLst>
                                          <p:attrName>ppt_x</p:attrName>
                                        </p:attrNameLst>
                                      </p:cBhvr>
                                      <p:tavLst>
                                        <p:tav tm="0">
                                          <p:val>
                                            <p:strVal val="#ppt_x"/>
                                          </p:val>
                                        </p:tav>
                                        <p:tav tm="100000">
                                          <p:val>
                                            <p:strVal val="#ppt_x"/>
                                          </p:val>
                                        </p:tav>
                                      </p:tavLst>
                                    </p:anim>
                                    <p:anim calcmode="lin" valueType="num">
                                      <p:cBhvr additive="base">
                                        <p:cTn id="24" dur="500" fill="hold"/>
                                        <p:tgtEl>
                                          <p:spTgt spid="83"/>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84"/>
                                        </p:tgtEl>
                                        <p:attrNameLst>
                                          <p:attrName>style.visibility</p:attrName>
                                        </p:attrNameLst>
                                      </p:cBhvr>
                                      <p:to>
                                        <p:strVal val="visible"/>
                                      </p:to>
                                    </p:set>
                                    <p:anim calcmode="lin" valueType="num">
                                      <p:cBhvr additive="base">
                                        <p:cTn id="27" dur="500" fill="hold"/>
                                        <p:tgtEl>
                                          <p:spTgt spid="84"/>
                                        </p:tgtEl>
                                        <p:attrNameLst>
                                          <p:attrName>ppt_x</p:attrName>
                                        </p:attrNameLst>
                                      </p:cBhvr>
                                      <p:tavLst>
                                        <p:tav tm="0">
                                          <p:val>
                                            <p:strVal val="#ppt_x"/>
                                          </p:val>
                                        </p:tav>
                                        <p:tav tm="100000">
                                          <p:val>
                                            <p:strVal val="#ppt_x"/>
                                          </p:val>
                                        </p:tav>
                                      </p:tavLst>
                                    </p:anim>
                                    <p:anim calcmode="lin" valueType="num">
                                      <p:cBhvr additive="base">
                                        <p:cTn id="28" dur="500" fill="hold"/>
                                        <p:tgtEl>
                                          <p:spTgt spid="84"/>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85"/>
                                        </p:tgtEl>
                                        <p:attrNameLst>
                                          <p:attrName>style.visibility</p:attrName>
                                        </p:attrNameLst>
                                      </p:cBhvr>
                                      <p:to>
                                        <p:strVal val="visible"/>
                                      </p:to>
                                    </p:set>
                                    <p:anim calcmode="lin" valueType="num">
                                      <p:cBhvr additive="base">
                                        <p:cTn id="31" dur="500" fill="hold"/>
                                        <p:tgtEl>
                                          <p:spTgt spid="85"/>
                                        </p:tgtEl>
                                        <p:attrNameLst>
                                          <p:attrName>ppt_x</p:attrName>
                                        </p:attrNameLst>
                                      </p:cBhvr>
                                      <p:tavLst>
                                        <p:tav tm="0">
                                          <p:val>
                                            <p:strVal val="#ppt_x"/>
                                          </p:val>
                                        </p:tav>
                                        <p:tav tm="100000">
                                          <p:val>
                                            <p:strVal val="#ppt_x"/>
                                          </p:val>
                                        </p:tav>
                                      </p:tavLst>
                                    </p:anim>
                                    <p:anim calcmode="lin" valueType="num">
                                      <p:cBhvr additive="base">
                                        <p:cTn id="32" dur="500" fill="hold"/>
                                        <p:tgtEl>
                                          <p:spTgt spid="85"/>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86"/>
                                        </p:tgtEl>
                                        <p:attrNameLst>
                                          <p:attrName>style.visibility</p:attrName>
                                        </p:attrNameLst>
                                      </p:cBhvr>
                                      <p:to>
                                        <p:strVal val="visible"/>
                                      </p:to>
                                    </p:set>
                                    <p:anim calcmode="lin" valueType="num">
                                      <p:cBhvr additive="base">
                                        <p:cTn id="35" dur="500" fill="hold"/>
                                        <p:tgtEl>
                                          <p:spTgt spid="86"/>
                                        </p:tgtEl>
                                        <p:attrNameLst>
                                          <p:attrName>ppt_x</p:attrName>
                                        </p:attrNameLst>
                                      </p:cBhvr>
                                      <p:tavLst>
                                        <p:tav tm="0">
                                          <p:val>
                                            <p:strVal val="#ppt_x"/>
                                          </p:val>
                                        </p:tav>
                                        <p:tav tm="100000">
                                          <p:val>
                                            <p:strVal val="#ppt_x"/>
                                          </p:val>
                                        </p:tav>
                                      </p:tavLst>
                                    </p:anim>
                                    <p:anim calcmode="lin" valueType="num">
                                      <p:cBhvr additive="base">
                                        <p:cTn id="36" dur="500" fill="hold"/>
                                        <p:tgtEl>
                                          <p:spTgt spid="86"/>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87"/>
                                        </p:tgtEl>
                                        <p:attrNameLst>
                                          <p:attrName>style.visibility</p:attrName>
                                        </p:attrNameLst>
                                      </p:cBhvr>
                                      <p:to>
                                        <p:strVal val="visible"/>
                                      </p:to>
                                    </p:set>
                                    <p:anim calcmode="lin" valueType="num">
                                      <p:cBhvr additive="base">
                                        <p:cTn id="39" dur="500" fill="hold"/>
                                        <p:tgtEl>
                                          <p:spTgt spid="87"/>
                                        </p:tgtEl>
                                        <p:attrNameLst>
                                          <p:attrName>ppt_x</p:attrName>
                                        </p:attrNameLst>
                                      </p:cBhvr>
                                      <p:tavLst>
                                        <p:tav tm="0">
                                          <p:val>
                                            <p:strVal val="#ppt_x"/>
                                          </p:val>
                                        </p:tav>
                                        <p:tav tm="100000">
                                          <p:val>
                                            <p:strVal val="#ppt_x"/>
                                          </p:val>
                                        </p:tav>
                                      </p:tavLst>
                                    </p:anim>
                                    <p:anim calcmode="lin" valueType="num">
                                      <p:cBhvr additive="base">
                                        <p:cTn id="40" dur="500" fill="hold"/>
                                        <p:tgtEl>
                                          <p:spTgt spid="87"/>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88"/>
                                        </p:tgtEl>
                                        <p:attrNameLst>
                                          <p:attrName>style.visibility</p:attrName>
                                        </p:attrNameLst>
                                      </p:cBhvr>
                                      <p:to>
                                        <p:strVal val="visible"/>
                                      </p:to>
                                    </p:set>
                                    <p:anim calcmode="lin" valueType="num">
                                      <p:cBhvr additive="base">
                                        <p:cTn id="43" dur="500" fill="hold"/>
                                        <p:tgtEl>
                                          <p:spTgt spid="88"/>
                                        </p:tgtEl>
                                        <p:attrNameLst>
                                          <p:attrName>ppt_x</p:attrName>
                                        </p:attrNameLst>
                                      </p:cBhvr>
                                      <p:tavLst>
                                        <p:tav tm="0">
                                          <p:val>
                                            <p:strVal val="#ppt_x"/>
                                          </p:val>
                                        </p:tav>
                                        <p:tav tm="100000">
                                          <p:val>
                                            <p:strVal val="#ppt_x"/>
                                          </p:val>
                                        </p:tav>
                                      </p:tavLst>
                                    </p:anim>
                                    <p:anim calcmode="lin" valueType="num">
                                      <p:cBhvr additive="base">
                                        <p:cTn id="44" dur="500" fill="hold"/>
                                        <p:tgtEl>
                                          <p:spTgt spid="88"/>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76"/>
                                        </p:tgtEl>
                                        <p:attrNameLst>
                                          <p:attrName>style.visibility</p:attrName>
                                        </p:attrNameLst>
                                      </p:cBhvr>
                                      <p:to>
                                        <p:strVal val="visible"/>
                                      </p:to>
                                    </p:set>
                                    <p:anim calcmode="lin" valueType="num">
                                      <p:cBhvr additive="base">
                                        <p:cTn id="47" dur="500" fill="hold"/>
                                        <p:tgtEl>
                                          <p:spTgt spid="76"/>
                                        </p:tgtEl>
                                        <p:attrNameLst>
                                          <p:attrName>ppt_x</p:attrName>
                                        </p:attrNameLst>
                                      </p:cBhvr>
                                      <p:tavLst>
                                        <p:tav tm="0">
                                          <p:val>
                                            <p:strVal val="#ppt_x"/>
                                          </p:val>
                                        </p:tav>
                                        <p:tav tm="100000">
                                          <p:val>
                                            <p:strVal val="#ppt_x"/>
                                          </p:val>
                                        </p:tav>
                                      </p:tavLst>
                                    </p:anim>
                                    <p:anim calcmode="lin" valueType="num">
                                      <p:cBhvr additive="base">
                                        <p:cTn id="48" dur="500" fill="hold"/>
                                        <p:tgtEl>
                                          <p:spTgt spid="7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animBg="1"/>
      <p:bldP spid="80" grpId="0" animBg="1"/>
      <p:bldP spid="81" grpId="0" animBg="1"/>
      <p:bldP spid="82" grpId="0" animBg="1"/>
      <p:bldP spid="83" grpId="0" animBg="1"/>
      <p:bldP spid="84" grpId="0"/>
      <p:bldP spid="85" grpId="0"/>
      <p:bldP spid="86" grpId="0"/>
      <p:bldP spid="87" grpId="0"/>
      <p:bldP spid="88" grpId="0"/>
      <p:bldP spid="7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smtClean="0">
                <a:sym typeface="Huawei Sans" panose="020C0503030203020204" pitchFamily="34" charset="0"/>
              </a:rPr>
              <a:t>RD</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bwMode="gray"/>
        <p:txBody>
          <a:bodyPr/>
          <a:lstStyle/>
          <a:p>
            <a:r>
              <a:rPr lang="en-US" altLang="zh-CN" sz="1800" dirty="0" smtClean="0">
                <a:sym typeface="Huawei Sans" panose="020C0503030203020204" pitchFamily="34" charset="0"/>
              </a:rPr>
              <a:t>PE</a:t>
            </a:r>
            <a:r>
              <a:rPr lang="zh-CN" altLang="en-US" sz="1800" dirty="0" smtClean="0">
                <a:sym typeface="Huawei Sans" panose="020C0503030203020204" pitchFamily="34" charset="0"/>
              </a:rPr>
              <a:t>收到不同</a:t>
            </a:r>
            <a:r>
              <a:rPr lang="en-US" altLang="zh-CN" sz="1800" dirty="0" smtClean="0">
                <a:sym typeface="Huawei Sans" panose="020C0503030203020204" pitchFamily="34" charset="0"/>
              </a:rPr>
              <a:t>VPN</a:t>
            </a:r>
            <a:r>
              <a:rPr lang="zh-CN" altLang="en-US" sz="1800" dirty="0" smtClean="0">
                <a:sym typeface="Huawei Sans" panose="020C0503030203020204" pitchFamily="34" charset="0"/>
              </a:rPr>
              <a:t>的</a:t>
            </a:r>
            <a:r>
              <a:rPr lang="en-US" altLang="zh-CN" sz="1800" dirty="0" smtClean="0">
                <a:sym typeface="Huawei Sans" panose="020C0503030203020204" pitchFamily="34" charset="0"/>
              </a:rPr>
              <a:t>CE</a:t>
            </a:r>
            <a:r>
              <a:rPr lang="zh-CN" altLang="en-US" sz="1800" dirty="0" smtClean="0">
                <a:sym typeface="Huawei Sans" panose="020C0503030203020204" pitchFamily="34" charset="0"/>
              </a:rPr>
              <a:t>发来的</a:t>
            </a:r>
            <a:r>
              <a:rPr lang="en-US" altLang="zh-CN" sz="1800" dirty="0" smtClean="0">
                <a:sym typeface="Huawei Sans" panose="020C0503030203020204" pitchFamily="34" charset="0"/>
              </a:rPr>
              <a:t>IPv4</a:t>
            </a:r>
            <a:r>
              <a:rPr lang="zh-CN" altLang="en-US" sz="1800" dirty="0" smtClean="0">
                <a:sym typeface="Huawei Sans" panose="020C0503030203020204" pitchFamily="34" charset="0"/>
              </a:rPr>
              <a:t>地址前缀，本地根据</a:t>
            </a:r>
            <a:r>
              <a:rPr lang="en-US" altLang="zh-CN" sz="1800" dirty="0" smtClean="0">
                <a:sym typeface="Huawei Sans" panose="020C0503030203020204" pitchFamily="34" charset="0"/>
              </a:rPr>
              <a:t>VPN</a:t>
            </a:r>
            <a:r>
              <a:rPr lang="zh-CN" altLang="en-US" sz="1800" dirty="0" smtClean="0">
                <a:sym typeface="Huawei Sans" panose="020C0503030203020204" pitchFamily="34" charset="0"/>
              </a:rPr>
              <a:t>实例配置去区分这些地址前缀。但是</a:t>
            </a:r>
            <a:r>
              <a:rPr lang="en-US" altLang="zh-CN" sz="1800" dirty="0" smtClean="0">
                <a:sym typeface="Huawei Sans" panose="020C0503030203020204" pitchFamily="34" charset="0"/>
              </a:rPr>
              <a:t>VPN</a:t>
            </a:r>
            <a:r>
              <a:rPr lang="zh-CN" altLang="en-US" sz="1800" dirty="0" smtClean="0">
                <a:sym typeface="Huawei Sans" panose="020C0503030203020204" pitchFamily="34" charset="0"/>
              </a:rPr>
              <a:t>实例只是一个本地的概念，</a:t>
            </a:r>
            <a:r>
              <a:rPr lang="en-US" altLang="zh-CN" sz="1800" dirty="0" smtClean="0">
                <a:sym typeface="Huawei Sans" panose="020C0503030203020204" pitchFamily="34" charset="0"/>
              </a:rPr>
              <a:t>PE</a:t>
            </a:r>
            <a:r>
              <a:rPr lang="zh-CN" altLang="en-US" sz="1800" dirty="0" smtClean="0">
                <a:sym typeface="Huawei Sans" panose="020C0503030203020204" pitchFamily="34" charset="0"/>
              </a:rPr>
              <a:t>无法将</a:t>
            </a:r>
            <a:r>
              <a:rPr lang="en-US" altLang="zh-CN" sz="1800" dirty="0" smtClean="0">
                <a:sym typeface="Huawei Sans" panose="020C0503030203020204" pitchFamily="34" charset="0"/>
              </a:rPr>
              <a:t>VPN</a:t>
            </a:r>
            <a:r>
              <a:rPr lang="zh-CN" altLang="en-US" sz="1800" dirty="0" smtClean="0">
                <a:sym typeface="Huawei Sans" panose="020C0503030203020204" pitchFamily="34" charset="0"/>
              </a:rPr>
              <a:t>实例信息传递到对端</a:t>
            </a:r>
            <a:r>
              <a:rPr lang="en-US" altLang="zh-CN" sz="1800" dirty="0" smtClean="0">
                <a:sym typeface="Huawei Sans" panose="020C0503030203020204" pitchFamily="34" charset="0"/>
              </a:rPr>
              <a:t>PE</a:t>
            </a:r>
            <a:r>
              <a:rPr lang="zh-CN" altLang="en-US" sz="1800" dirty="0" smtClean="0">
                <a:sym typeface="Huawei Sans" panose="020C0503030203020204" pitchFamily="34" charset="0"/>
              </a:rPr>
              <a:t>，故有了</a:t>
            </a:r>
            <a:r>
              <a:rPr lang="en-US" altLang="zh-CN" sz="1800" dirty="0" smtClean="0">
                <a:sym typeface="Huawei Sans" panose="020C0503030203020204" pitchFamily="34" charset="0"/>
              </a:rPr>
              <a:t>RD</a:t>
            </a:r>
            <a:r>
              <a:rPr lang="zh-CN" altLang="en-US" sz="1800" dirty="0" smtClean="0">
                <a:sym typeface="Huawei Sans" panose="020C0503030203020204" pitchFamily="34" charset="0"/>
              </a:rPr>
              <a:t>（</a:t>
            </a:r>
            <a:r>
              <a:rPr lang="en-US" altLang="zh-CN" sz="1800" dirty="0" smtClean="0">
                <a:sym typeface="Huawei Sans" panose="020C0503030203020204" pitchFamily="34" charset="0"/>
              </a:rPr>
              <a:t>Route Distinguisher</a:t>
            </a:r>
            <a:r>
              <a:rPr lang="zh-CN" altLang="en-US" sz="1800" dirty="0" smtClean="0">
                <a:sym typeface="Huawei Sans" panose="020C0503030203020204" pitchFamily="34" charset="0"/>
              </a:rPr>
              <a:t>，路由标识符）。</a:t>
            </a:r>
            <a:endParaRPr lang="en-US" altLang="zh-CN" sz="1800" dirty="0" smtClean="0">
              <a:sym typeface="Huawei Sans" panose="020C0503030203020204" pitchFamily="34" charset="0"/>
            </a:endParaRPr>
          </a:p>
          <a:p>
            <a:pPr lvl="1"/>
            <a:r>
              <a:rPr lang="en-US" altLang="zh-CN" sz="1600" dirty="0" smtClean="0">
                <a:sym typeface="Huawei Sans" panose="020C0503030203020204" pitchFamily="34" charset="0"/>
              </a:rPr>
              <a:t>RD</a:t>
            </a:r>
            <a:r>
              <a:rPr lang="zh-CN" altLang="en-US" sz="1600" dirty="0" smtClean="0">
                <a:sym typeface="Huawei Sans" panose="020C0503030203020204" pitchFamily="34" charset="0"/>
              </a:rPr>
              <a:t>长</a:t>
            </a:r>
            <a:r>
              <a:rPr lang="en-US" altLang="zh-CN" sz="1600" dirty="0" smtClean="0">
                <a:sym typeface="Huawei Sans" panose="020C0503030203020204" pitchFamily="34" charset="0"/>
              </a:rPr>
              <a:t>8</a:t>
            </a:r>
            <a:r>
              <a:rPr lang="zh-CN" altLang="en-US" sz="1600" dirty="0" smtClean="0">
                <a:sym typeface="Huawei Sans" panose="020C0503030203020204" pitchFamily="34" charset="0"/>
              </a:rPr>
              <a:t>字节，用于区分使用相同地址空间的</a:t>
            </a:r>
            <a:r>
              <a:rPr lang="en-US" altLang="zh-CN" sz="1600" dirty="0" smtClean="0">
                <a:sym typeface="Huawei Sans" panose="020C0503030203020204" pitchFamily="34" charset="0"/>
              </a:rPr>
              <a:t>IPv4</a:t>
            </a:r>
            <a:r>
              <a:rPr lang="zh-CN" altLang="en-US" sz="1600" dirty="0" smtClean="0">
                <a:sym typeface="Huawei Sans" panose="020C0503030203020204" pitchFamily="34" charset="0"/>
              </a:rPr>
              <a:t>前缀。</a:t>
            </a:r>
            <a:endParaRPr lang="en-US" altLang="zh-CN" sz="1600" dirty="0" smtClean="0">
              <a:sym typeface="Huawei Sans" panose="020C0503030203020204" pitchFamily="34" charset="0"/>
            </a:endParaRPr>
          </a:p>
          <a:p>
            <a:pPr lvl="1"/>
            <a:r>
              <a:rPr lang="en-US" altLang="zh-CN" sz="1600" dirty="0" smtClean="0">
                <a:sym typeface="Huawei Sans" panose="020C0503030203020204" pitchFamily="34" charset="0"/>
              </a:rPr>
              <a:t>PE</a:t>
            </a:r>
            <a:r>
              <a:rPr lang="zh-CN" altLang="en-US" sz="1600" dirty="0" smtClean="0">
                <a:sym typeface="Huawei Sans" panose="020C0503030203020204" pitchFamily="34" charset="0"/>
              </a:rPr>
              <a:t>从</a:t>
            </a:r>
            <a:r>
              <a:rPr lang="en-US" altLang="zh-CN" sz="1600" dirty="0" smtClean="0">
                <a:sym typeface="Huawei Sans" panose="020C0503030203020204" pitchFamily="34" charset="0"/>
              </a:rPr>
              <a:t>CE</a:t>
            </a:r>
            <a:r>
              <a:rPr lang="zh-CN" altLang="en-US" sz="1600" dirty="0" smtClean="0">
                <a:sym typeface="Huawei Sans" panose="020C0503030203020204" pitchFamily="34" charset="0"/>
              </a:rPr>
              <a:t>接收到</a:t>
            </a:r>
            <a:r>
              <a:rPr lang="en-US" altLang="zh-CN" sz="1600" dirty="0" smtClean="0">
                <a:sym typeface="Huawei Sans" panose="020C0503030203020204" pitchFamily="34" charset="0"/>
              </a:rPr>
              <a:t>IPv4</a:t>
            </a:r>
            <a:r>
              <a:rPr lang="zh-CN" altLang="en-US" sz="1600" dirty="0" smtClean="0">
                <a:sym typeface="Huawei Sans" panose="020C0503030203020204" pitchFamily="34" charset="0"/>
              </a:rPr>
              <a:t>路由后，在</a:t>
            </a:r>
            <a:r>
              <a:rPr lang="en-US" altLang="zh-CN" sz="1600" dirty="0" smtClean="0">
                <a:sym typeface="Huawei Sans" panose="020C0503030203020204" pitchFamily="34" charset="0"/>
              </a:rPr>
              <a:t>IPv4</a:t>
            </a:r>
            <a:r>
              <a:rPr lang="zh-CN" altLang="en-US" sz="1600" dirty="0" smtClean="0">
                <a:sym typeface="Huawei Sans" panose="020C0503030203020204" pitchFamily="34" charset="0"/>
              </a:rPr>
              <a:t>前缀前加上</a:t>
            </a:r>
            <a:r>
              <a:rPr lang="en-US" altLang="zh-CN" sz="1600" dirty="0" smtClean="0">
                <a:sym typeface="Huawei Sans" panose="020C0503030203020204" pitchFamily="34" charset="0"/>
              </a:rPr>
              <a:t>RD</a:t>
            </a:r>
            <a:r>
              <a:rPr lang="zh-CN" altLang="en-US" sz="1600" dirty="0" smtClean="0">
                <a:sym typeface="Huawei Sans" panose="020C0503030203020204" pitchFamily="34" charset="0"/>
              </a:rPr>
              <a:t>，转换为全局唯一的</a:t>
            </a:r>
            <a:r>
              <a:rPr lang="en-US" altLang="zh-CN" sz="1600" dirty="0" smtClean="0">
                <a:sym typeface="Huawei Sans" panose="020C0503030203020204" pitchFamily="34" charset="0"/>
              </a:rPr>
              <a:t>VPN-IPv4</a:t>
            </a:r>
            <a:r>
              <a:rPr lang="zh-CN" altLang="en-US" sz="1600" dirty="0" smtClean="0">
                <a:sym typeface="Huawei Sans" panose="020C0503030203020204" pitchFamily="34" charset="0"/>
              </a:rPr>
              <a:t>路由。</a:t>
            </a:r>
            <a:endParaRPr lang="en-US" altLang="zh-CN" sz="1600" dirty="0" smtClean="0">
              <a:sym typeface="Huawei Sans" panose="020C0503030203020204" pitchFamily="34" charset="0"/>
            </a:endParaRPr>
          </a:p>
        </p:txBody>
      </p:sp>
      <p:sp>
        <p:nvSpPr>
          <p:cNvPr id="55" name="任意多边形 54"/>
          <p:cNvSpPr/>
          <p:nvPr/>
        </p:nvSpPr>
        <p:spPr bwMode="gray">
          <a:xfrm>
            <a:off x="3112839" y="4015372"/>
            <a:ext cx="1976966" cy="749300"/>
          </a:xfrm>
          <a:custGeom>
            <a:avLst/>
            <a:gdLst>
              <a:gd name="connsiteX0" fmla="*/ 0 w 1621367"/>
              <a:gd name="connsiteY0" fmla="*/ 0 h 876300"/>
              <a:gd name="connsiteX1" fmla="*/ 1621367 w 1621367"/>
              <a:gd name="connsiteY1" fmla="*/ 0 h 876300"/>
              <a:gd name="connsiteX2" fmla="*/ 1621367 w 1621367"/>
              <a:gd name="connsiteY2" fmla="*/ 876300 h 876300"/>
              <a:gd name="connsiteX3" fmla="*/ 0 w 1621367"/>
              <a:gd name="connsiteY3" fmla="*/ 876300 h 876300"/>
            </a:gdLst>
            <a:ahLst/>
            <a:cxnLst>
              <a:cxn ang="0">
                <a:pos x="connsiteX0" y="connsiteY0"/>
              </a:cxn>
              <a:cxn ang="0">
                <a:pos x="connsiteX1" y="connsiteY1"/>
              </a:cxn>
              <a:cxn ang="0">
                <a:pos x="connsiteX2" y="connsiteY2"/>
              </a:cxn>
              <a:cxn ang="0">
                <a:pos x="connsiteX3" y="connsiteY3"/>
              </a:cxn>
            </a:cxnLst>
            <a:rect l="l" t="t" r="r" b="b"/>
            <a:pathLst>
              <a:path w="1621367" h="876300">
                <a:moveTo>
                  <a:pt x="0" y="0"/>
                </a:moveTo>
                <a:lnTo>
                  <a:pt x="1621367" y="0"/>
                </a:lnTo>
                <a:lnTo>
                  <a:pt x="1621367" y="876300"/>
                </a:lnTo>
                <a:lnTo>
                  <a:pt x="0" y="876300"/>
                </a:lnTo>
                <a:close/>
              </a:path>
            </a:pathLst>
          </a:cu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任意多边形 57"/>
          <p:cNvSpPr/>
          <p:nvPr/>
        </p:nvSpPr>
        <p:spPr bwMode="gray">
          <a:xfrm>
            <a:off x="5089805" y="4015372"/>
            <a:ext cx="1976965" cy="749300"/>
          </a:xfrm>
          <a:custGeom>
            <a:avLst/>
            <a:gdLst>
              <a:gd name="connsiteX0" fmla="*/ 0 w 1621366"/>
              <a:gd name="connsiteY0" fmla="*/ 0 h 876300"/>
              <a:gd name="connsiteX1" fmla="*/ 1621366 w 1621366"/>
              <a:gd name="connsiteY1" fmla="*/ 0 h 876300"/>
              <a:gd name="connsiteX2" fmla="*/ 1621366 w 1621366"/>
              <a:gd name="connsiteY2" fmla="*/ 876300 h 876300"/>
              <a:gd name="connsiteX3" fmla="*/ 0 w 1621366"/>
              <a:gd name="connsiteY3" fmla="*/ 876300 h 876300"/>
            </a:gdLst>
            <a:ahLst/>
            <a:cxnLst>
              <a:cxn ang="0">
                <a:pos x="connsiteX0" y="connsiteY0"/>
              </a:cxn>
              <a:cxn ang="0">
                <a:pos x="connsiteX1" y="connsiteY1"/>
              </a:cxn>
              <a:cxn ang="0">
                <a:pos x="connsiteX2" y="connsiteY2"/>
              </a:cxn>
              <a:cxn ang="0">
                <a:pos x="connsiteX3" y="connsiteY3"/>
              </a:cxn>
            </a:cxnLst>
            <a:rect l="l" t="t" r="r" b="b"/>
            <a:pathLst>
              <a:path w="1621366" h="876300">
                <a:moveTo>
                  <a:pt x="0" y="0"/>
                </a:moveTo>
                <a:lnTo>
                  <a:pt x="1621366" y="0"/>
                </a:lnTo>
                <a:lnTo>
                  <a:pt x="1621366" y="876300"/>
                </a:lnTo>
                <a:lnTo>
                  <a:pt x="0" y="876300"/>
                </a:lnTo>
                <a:close/>
              </a:path>
            </a:pathLst>
          </a:custGeom>
          <a:solidFill>
            <a:srgbClr val="8BC9A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任意多边形 60"/>
          <p:cNvSpPr/>
          <p:nvPr/>
        </p:nvSpPr>
        <p:spPr bwMode="gray">
          <a:xfrm>
            <a:off x="7066770" y="4015372"/>
            <a:ext cx="1976966" cy="749300"/>
          </a:xfrm>
          <a:custGeom>
            <a:avLst/>
            <a:gdLst>
              <a:gd name="connsiteX0" fmla="*/ 0 w 1621367"/>
              <a:gd name="connsiteY0" fmla="*/ 0 h 876300"/>
              <a:gd name="connsiteX1" fmla="*/ 1621367 w 1621367"/>
              <a:gd name="connsiteY1" fmla="*/ 0 h 876300"/>
              <a:gd name="connsiteX2" fmla="*/ 1621367 w 1621367"/>
              <a:gd name="connsiteY2" fmla="*/ 876300 h 876300"/>
              <a:gd name="connsiteX3" fmla="*/ 0 w 1621367"/>
              <a:gd name="connsiteY3" fmla="*/ 876300 h 876300"/>
            </a:gdLst>
            <a:ahLst/>
            <a:cxnLst>
              <a:cxn ang="0">
                <a:pos x="connsiteX0" y="connsiteY0"/>
              </a:cxn>
              <a:cxn ang="0">
                <a:pos x="connsiteX1" y="connsiteY1"/>
              </a:cxn>
              <a:cxn ang="0">
                <a:pos x="connsiteX2" y="connsiteY2"/>
              </a:cxn>
              <a:cxn ang="0">
                <a:pos x="connsiteX3" y="connsiteY3"/>
              </a:cxn>
            </a:cxnLst>
            <a:rect l="l" t="t" r="r" b="b"/>
            <a:pathLst>
              <a:path w="1621367" h="876300">
                <a:moveTo>
                  <a:pt x="0" y="0"/>
                </a:moveTo>
                <a:lnTo>
                  <a:pt x="1621367" y="0"/>
                </a:lnTo>
                <a:lnTo>
                  <a:pt x="1621367" y="876300"/>
                </a:lnTo>
                <a:lnTo>
                  <a:pt x="0" y="876300"/>
                </a:lnTo>
                <a:close/>
              </a:path>
            </a:pathLst>
          </a:custGeom>
          <a:solidFill>
            <a:srgbClr val="30B5C5"/>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文本框 61"/>
          <p:cNvSpPr txBox="1"/>
          <p:nvPr/>
        </p:nvSpPr>
        <p:spPr bwMode="gray">
          <a:xfrm>
            <a:off x="3474385" y="4066855"/>
            <a:ext cx="1253869" cy="646331"/>
          </a:xfrm>
          <a:prstGeom prst="rect">
            <a:avLst/>
          </a:prstGeom>
          <a:noFill/>
        </p:spPr>
        <p:txBody>
          <a:bodyPr wrap="none" rtlCol="0">
            <a:spAutoFit/>
          </a:bodyPr>
          <a:lstStyle/>
          <a:p>
            <a:pPr algn="ctr"/>
            <a:r>
              <a:rPr lang="en-US" altLang="zh-CN"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Type Field</a:t>
            </a:r>
          </a:p>
          <a:p>
            <a:pPr algn="ctr"/>
            <a:r>
              <a:rPr lang="en-US" altLang="zh-CN"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r>
              <a:rPr lang="zh-CN" altLang="en-US"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字节</a:t>
            </a:r>
            <a:endParaRPr lang="zh-CN" altLang="en-US"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文本框 62"/>
          <p:cNvSpPr txBox="1"/>
          <p:nvPr/>
        </p:nvSpPr>
        <p:spPr bwMode="gray">
          <a:xfrm>
            <a:off x="5263801" y="4066856"/>
            <a:ext cx="1628972" cy="646331"/>
          </a:xfrm>
          <a:prstGeom prst="rect">
            <a:avLst/>
          </a:prstGeom>
          <a:noFill/>
        </p:spPr>
        <p:txBody>
          <a:bodyPr wrap="none" rtlCol="0">
            <a:spAutoFit/>
          </a:bodyPr>
          <a:lstStyle/>
          <a:p>
            <a:pPr algn="ctr"/>
            <a:r>
              <a:rPr lang="en-US" altLang="zh-CN"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Administrator</a:t>
            </a:r>
          </a:p>
          <a:p>
            <a:pPr algn="ctr"/>
            <a:r>
              <a:rPr lang="en-US" altLang="zh-CN"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 Subfield</a:t>
            </a:r>
            <a:endParaRPr lang="zh-CN" altLang="en-US"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文本框 63"/>
          <p:cNvSpPr txBox="1"/>
          <p:nvPr/>
        </p:nvSpPr>
        <p:spPr bwMode="gray">
          <a:xfrm>
            <a:off x="7066769" y="4042140"/>
            <a:ext cx="1965603" cy="646331"/>
          </a:xfrm>
          <a:prstGeom prst="rect">
            <a:avLst/>
          </a:prstGeom>
          <a:noFill/>
        </p:spPr>
        <p:txBody>
          <a:bodyPr wrap="none" rtlCol="0">
            <a:spAutoFit/>
          </a:bodyPr>
          <a:lstStyle/>
          <a:p>
            <a:pPr algn="ctr"/>
            <a:r>
              <a:rPr lang="en-US" altLang="zh-CN"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Assigned</a:t>
            </a:r>
          </a:p>
          <a:p>
            <a:pPr algn="ctr"/>
            <a:r>
              <a:rPr lang="en-US" altLang="zh-CN"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Number Subfield</a:t>
            </a:r>
            <a:endParaRPr lang="zh-CN" altLang="en-US"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 name="Right Brace 45"/>
          <p:cNvSpPr/>
          <p:nvPr/>
        </p:nvSpPr>
        <p:spPr bwMode="gray">
          <a:xfrm rot="16200000">
            <a:off x="5883270" y="790062"/>
            <a:ext cx="378682" cy="5919533"/>
          </a:xfrm>
          <a:custGeom>
            <a:avLst/>
            <a:gdLst>
              <a:gd name="connsiteX0" fmla="*/ 0 w 594067"/>
              <a:gd name="connsiteY0" fmla="*/ 0 h 5919533"/>
              <a:gd name="connsiteX1" fmla="*/ 297034 w 594067"/>
              <a:gd name="connsiteY1" fmla="*/ 49504 h 5919533"/>
              <a:gd name="connsiteX2" fmla="*/ 297034 w 594067"/>
              <a:gd name="connsiteY2" fmla="*/ 2910263 h 5919533"/>
              <a:gd name="connsiteX3" fmla="*/ 594068 w 594067"/>
              <a:gd name="connsiteY3" fmla="*/ 2959767 h 5919533"/>
              <a:gd name="connsiteX4" fmla="*/ 297034 w 594067"/>
              <a:gd name="connsiteY4" fmla="*/ 3009271 h 5919533"/>
              <a:gd name="connsiteX5" fmla="*/ 297034 w 594067"/>
              <a:gd name="connsiteY5" fmla="*/ 5870029 h 5919533"/>
              <a:gd name="connsiteX6" fmla="*/ 0 w 594067"/>
              <a:gd name="connsiteY6" fmla="*/ 5919533 h 5919533"/>
              <a:gd name="connsiteX7" fmla="*/ 0 w 594067"/>
              <a:gd name="connsiteY7" fmla="*/ 0 h 5919533"/>
              <a:gd name="connsiteX0" fmla="*/ 0 w 594067"/>
              <a:gd name="connsiteY0" fmla="*/ 0 h 5919533"/>
              <a:gd name="connsiteX1" fmla="*/ 297034 w 594067"/>
              <a:gd name="connsiteY1" fmla="*/ 49504 h 5919533"/>
              <a:gd name="connsiteX2" fmla="*/ 297034 w 594067"/>
              <a:gd name="connsiteY2" fmla="*/ 2910263 h 5919533"/>
              <a:gd name="connsiteX3" fmla="*/ 594068 w 594067"/>
              <a:gd name="connsiteY3" fmla="*/ 2959767 h 5919533"/>
              <a:gd name="connsiteX4" fmla="*/ 297034 w 594067"/>
              <a:gd name="connsiteY4" fmla="*/ 3009271 h 5919533"/>
              <a:gd name="connsiteX5" fmla="*/ 297034 w 594067"/>
              <a:gd name="connsiteY5" fmla="*/ 5870029 h 5919533"/>
              <a:gd name="connsiteX6" fmla="*/ 0 w 594067"/>
              <a:gd name="connsiteY6" fmla="*/ 5919533 h 5919533"/>
              <a:gd name="connsiteX0" fmla="*/ 0 w 594068"/>
              <a:gd name="connsiteY0" fmla="*/ 0 h 5919533"/>
              <a:gd name="connsiteX1" fmla="*/ 297034 w 594068"/>
              <a:gd name="connsiteY1" fmla="*/ 49504 h 5919533"/>
              <a:gd name="connsiteX2" fmla="*/ 297034 w 594068"/>
              <a:gd name="connsiteY2" fmla="*/ 2910263 h 5919533"/>
              <a:gd name="connsiteX3" fmla="*/ 594068 w 594068"/>
              <a:gd name="connsiteY3" fmla="*/ 2959767 h 5919533"/>
              <a:gd name="connsiteX4" fmla="*/ 297034 w 594068"/>
              <a:gd name="connsiteY4" fmla="*/ 3009271 h 5919533"/>
              <a:gd name="connsiteX5" fmla="*/ 297034 w 594068"/>
              <a:gd name="connsiteY5" fmla="*/ 5870029 h 5919533"/>
              <a:gd name="connsiteX6" fmla="*/ 0 w 594068"/>
              <a:gd name="connsiteY6" fmla="*/ 5919533 h 5919533"/>
              <a:gd name="connsiteX7" fmla="*/ 0 w 594068"/>
              <a:gd name="connsiteY7" fmla="*/ 0 h 5919533"/>
              <a:gd name="connsiteX0" fmla="*/ 0 w 594068"/>
              <a:gd name="connsiteY0" fmla="*/ 0 h 5919533"/>
              <a:gd name="connsiteX1" fmla="*/ 297034 w 594068"/>
              <a:gd name="connsiteY1" fmla="*/ 49504 h 5919533"/>
              <a:gd name="connsiteX2" fmla="*/ 297034 w 594068"/>
              <a:gd name="connsiteY2" fmla="*/ 2910263 h 5919533"/>
              <a:gd name="connsiteX3" fmla="*/ 505168 w 594068"/>
              <a:gd name="connsiteY3" fmla="*/ 2959767 h 5919533"/>
              <a:gd name="connsiteX4" fmla="*/ 297034 w 594068"/>
              <a:gd name="connsiteY4" fmla="*/ 3009271 h 5919533"/>
              <a:gd name="connsiteX5" fmla="*/ 297034 w 594068"/>
              <a:gd name="connsiteY5" fmla="*/ 5870029 h 5919533"/>
              <a:gd name="connsiteX6" fmla="*/ 0 w 594068"/>
              <a:gd name="connsiteY6" fmla="*/ 5919533 h 5919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068" h="5919533" stroke="0" extrusionOk="0">
                <a:moveTo>
                  <a:pt x="0" y="0"/>
                </a:moveTo>
                <a:cubicBezTo>
                  <a:pt x="164047" y="0"/>
                  <a:pt x="297034" y="22164"/>
                  <a:pt x="297034" y="49504"/>
                </a:cubicBezTo>
                <a:lnTo>
                  <a:pt x="297034" y="2910263"/>
                </a:lnTo>
                <a:cubicBezTo>
                  <a:pt x="297034" y="2937603"/>
                  <a:pt x="430021" y="2959767"/>
                  <a:pt x="594068" y="2959767"/>
                </a:cubicBezTo>
                <a:cubicBezTo>
                  <a:pt x="430021" y="2959767"/>
                  <a:pt x="297034" y="2981931"/>
                  <a:pt x="297034" y="3009271"/>
                </a:cubicBezTo>
                <a:lnTo>
                  <a:pt x="297034" y="5870029"/>
                </a:lnTo>
                <a:cubicBezTo>
                  <a:pt x="297034" y="5897369"/>
                  <a:pt x="164047" y="5919533"/>
                  <a:pt x="0" y="5919533"/>
                </a:cubicBezTo>
                <a:lnTo>
                  <a:pt x="0" y="0"/>
                </a:lnTo>
                <a:close/>
              </a:path>
              <a:path w="594068" h="5919533" fill="none">
                <a:moveTo>
                  <a:pt x="0" y="0"/>
                </a:moveTo>
                <a:cubicBezTo>
                  <a:pt x="164047" y="0"/>
                  <a:pt x="297034" y="22164"/>
                  <a:pt x="297034" y="49504"/>
                </a:cubicBezTo>
                <a:lnTo>
                  <a:pt x="297034" y="2910263"/>
                </a:lnTo>
                <a:cubicBezTo>
                  <a:pt x="297034" y="2937603"/>
                  <a:pt x="341121" y="2959767"/>
                  <a:pt x="505168" y="2959767"/>
                </a:cubicBezTo>
                <a:cubicBezTo>
                  <a:pt x="341121" y="2959767"/>
                  <a:pt x="297034" y="2981931"/>
                  <a:pt x="297034" y="3009271"/>
                </a:cubicBezTo>
                <a:lnTo>
                  <a:pt x="297034" y="5870029"/>
                </a:lnTo>
                <a:cubicBezTo>
                  <a:pt x="297034" y="5897369"/>
                  <a:pt x="164047" y="5919533"/>
                  <a:pt x="0" y="5919533"/>
                </a:cubicBezTo>
              </a:path>
            </a:pathLst>
          </a:custGeom>
          <a:ln w="19050">
            <a:solidFill>
              <a:srgbClr val="62B23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文本框 65"/>
          <p:cNvSpPr txBox="1"/>
          <p:nvPr/>
        </p:nvSpPr>
        <p:spPr bwMode="gray">
          <a:xfrm>
            <a:off x="5684523" y="3113610"/>
            <a:ext cx="776175" cy="369332"/>
          </a:xfrm>
          <a:prstGeom prst="rect">
            <a:avLst/>
          </a:prstGeom>
          <a:noFill/>
        </p:spPr>
        <p:txBody>
          <a:bodyPr wrap="none" rtlCol="0">
            <a:spAutoFit/>
          </a:bodyPr>
          <a:lstStyle/>
          <a:p>
            <a:pPr algn="ctr"/>
            <a:r>
              <a:rPr lang="en-US" altLang="zh-CN" dirty="0" smtClean="0">
                <a:latin typeface="Huawei Sans" panose="020C0503030203020204" pitchFamily="34" charset="0"/>
                <a:ea typeface="方正兰亭黑简体" panose="02000000000000000000" pitchFamily="2" charset="-122"/>
                <a:sym typeface="Huawei Sans" panose="020C0503030203020204" pitchFamily="34" charset="0"/>
              </a:rPr>
              <a:t>8</a:t>
            </a:r>
            <a:r>
              <a:rPr lang="zh-CN" altLang="en-US" dirty="0" smtClean="0">
                <a:latin typeface="Huawei Sans" panose="020C0503030203020204" pitchFamily="34" charset="0"/>
                <a:ea typeface="方正兰亭黑简体" panose="02000000000000000000" pitchFamily="2" charset="-122"/>
                <a:sym typeface="Huawei Sans" panose="020C0503030203020204" pitchFamily="34" charset="0"/>
              </a:rPr>
              <a:t>字节</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文本框 67"/>
          <p:cNvSpPr txBox="1"/>
          <p:nvPr/>
        </p:nvSpPr>
        <p:spPr bwMode="gray">
          <a:xfrm>
            <a:off x="3628273" y="4848899"/>
            <a:ext cx="861133" cy="338554"/>
          </a:xfrm>
          <a:prstGeom prst="rect">
            <a:avLst/>
          </a:prstGeom>
          <a:noFill/>
        </p:spPr>
        <p:txBody>
          <a:bodyPr wrap="none" rtlCol="0">
            <a:spAutoFit/>
          </a:bodyPr>
          <a:lstStyle/>
          <a:p>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Type=0</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 name="文本框 68"/>
          <p:cNvSpPr txBox="1"/>
          <p:nvPr/>
        </p:nvSpPr>
        <p:spPr bwMode="gray">
          <a:xfrm>
            <a:off x="5202084" y="4848899"/>
            <a:ext cx="1808647" cy="338554"/>
          </a:xfrm>
          <a:prstGeom prst="rect">
            <a:avLst/>
          </a:prstGeom>
          <a:noFill/>
        </p:spPr>
        <p:txBody>
          <a:bodyPr wrap="square" rtlCol="0">
            <a:spAutoFit/>
          </a:bodyPr>
          <a:lstStyle/>
          <a:p>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2</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字节，</a:t>
            </a:r>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AS</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号</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 name="文本框 70"/>
          <p:cNvSpPr txBox="1"/>
          <p:nvPr/>
        </p:nvSpPr>
        <p:spPr bwMode="gray">
          <a:xfrm>
            <a:off x="7122809" y="4848899"/>
            <a:ext cx="2184400" cy="338554"/>
          </a:xfrm>
          <a:prstGeom prst="rect">
            <a:avLst/>
          </a:prstGeom>
          <a:noFill/>
        </p:spPr>
        <p:txBody>
          <a:bodyPr wrap="square" rtlCol="0">
            <a:spAutoFit/>
          </a:bodyPr>
          <a:lstStyle/>
          <a:p>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4</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字节，用户自定义</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2" name="直接箭头连接符 71">
            <a:extLst>
              <a:ext uri="{FF2B5EF4-FFF2-40B4-BE49-F238E27FC236}">
                <a16:creationId xmlns="" xmlns:a16="http://schemas.microsoft.com/office/drawing/2014/main" id="{22E47E9F-0DA1-48E9-9F0B-22EC7AD79494}"/>
              </a:ext>
            </a:extLst>
          </p:cNvPr>
          <p:cNvCxnSpPr>
            <a:cxnSpLocks/>
          </p:cNvCxnSpPr>
          <p:nvPr/>
        </p:nvCxnSpPr>
        <p:spPr bwMode="gray">
          <a:xfrm>
            <a:off x="5089805" y="4764672"/>
            <a:ext cx="0" cy="1217028"/>
          </a:xfrm>
          <a:prstGeom prst="straightConnector1">
            <a:avLst/>
          </a:prstGeom>
          <a:solidFill>
            <a:srgbClr val="4F81BD"/>
          </a:solidFill>
          <a:ln w="28575" cap="flat" cmpd="sng" algn="ctr">
            <a:solidFill>
              <a:sysClr val="windowText" lastClr="000000"/>
            </a:solidFill>
            <a:prstDash val="dash"/>
            <a:round/>
            <a:headEnd type="none" w="med" len="med"/>
            <a:tailEnd type="none" w="med" len="med"/>
          </a:ln>
          <a:effectLst/>
        </p:spPr>
      </p:cxnSp>
      <p:cxnSp>
        <p:nvCxnSpPr>
          <p:cNvPr id="74" name="直接箭头连接符 73">
            <a:extLst>
              <a:ext uri="{FF2B5EF4-FFF2-40B4-BE49-F238E27FC236}">
                <a16:creationId xmlns="" xmlns:a16="http://schemas.microsoft.com/office/drawing/2014/main" id="{22E47E9F-0DA1-48E9-9F0B-22EC7AD79494}"/>
              </a:ext>
            </a:extLst>
          </p:cNvPr>
          <p:cNvCxnSpPr>
            <a:cxnSpLocks/>
          </p:cNvCxnSpPr>
          <p:nvPr/>
        </p:nvCxnSpPr>
        <p:spPr bwMode="gray">
          <a:xfrm>
            <a:off x="7066770" y="4764672"/>
            <a:ext cx="0" cy="1217028"/>
          </a:xfrm>
          <a:prstGeom prst="straightConnector1">
            <a:avLst/>
          </a:prstGeom>
          <a:solidFill>
            <a:srgbClr val="4F81BD"/>
          </a:solidFill>
          <a:ln w="28575" cap="flat" cmpd="sng" algn="ctr">
            <a:solidFill>
              <a:sysClr val="windowText" lastClr="000000"/>
            </a:solidFill>
            <a:prstDash val="dash"/>
            <a:round/>
            <a:headEnd type="none" w="med" len="med"/>
            <a:tailEnd type="none" w="med" len="med"/>
          </a:ln>
          <a:effectLst/>
        </p:spPr>
      </p:cxnSp>
      <p:cxnSp>
        <p:nvCxnSpPr>
          <p:cNvPr id="75" name="直接箭头连接符 74">
            <a:extLst>
              <a:ext uri="{FF2B5EF4-FFF2-40B4-BE49-F238E27FC236}">
                <a16:creationId xmlns="" xmlns:a16="http://schemas.microsoft.com/office/drawing/2014/main" id="{22E47E9F-0DA1-48E9-9F0B-22EC7AD79494}"/>
              </a:ext>
            </a:extLst>
          </p:cNvPr>
          <p:cNvCxnSpPr>
            <a:cxnSpLocks/>
          </p:cNvCxnSpPr>
          <p:nvPr/>
        </p:nvCxnSpPr>
        <p:spPr bwMode="gray">
          <a:xfrm flipH="1">
            <a:off x="3112844" y="5384800"/>
            <a:ext cx="5930897" cy="0"/>
          </a:xfrm>
          <a:prstGeom prst="straightConnector1">
            <a:avLst/>
          </a:prstGeom>
          <a:solidFill>
            <a:srgbClr val="4F81BD"/>
          </a:solidFill>
          <a:ln w="28575" cap="flat" cmpd="sng" algn="ctr">
            <a:solidFill>
              <a:sysClr val="windowText" lastClr="000000"/>
            </a:solidFill>
            <a:prstDash val="dash"/>
            <a:round/>
            <a:headEnd type="none" w="med" len="med"/>
            <a:tailEnd type="none" w="med" len="med"/>
          </a:ln>
          <a:effectLst/>
        </p:spPr>
      </p:cxnSp>
      <p:sp>
        <p:nvSpPr>
          <p:cNvPr id="80" name="文本框 79"/>
          <p:cNvSpPr txBox="1"/>
          <p:nvPr/>
        </p:nvSpPr>
        <p:spPr bwMode="gray">
          <a:xfrm>
            <a:off x="3628273" y="5508595"/>
            <a:ext cx="861133" cy="338554"/>
          </a:xfrm>
          <a:prstGeom prst="rect">
            <a:avLst/>
          </a:prstGeom>
          <a:noFill/>
        </p:spPr>
        <p:txBody>
          <a:bodyPr wrap="none" rtlCol="0">
            <a:spAutoFit/>
          </a:bodyPr>
          <a:lstStyle/>
          <a:p>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Type=1</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1" name="文本框 80"/>
          <p:cNvSpPr txBox="1"/>
          <p:nvPr/>
        </p:nvSpPr>
        <p:spPr bwMode="gray">
          <a:xfrm>
            <a:off x="5202084" y="5508595"/>
            <a:ext cx="1808647" cy="338554"/>
          </a:xfrm>
          <a:prstGeom prst="rect">
            <a:avLst/>
          </a:prstGeom>
          <a:noFill/>
        </p:spPr>
        <p:txBody>
          <a:bodyPr wrap="squar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4</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字节，</a:t>
            </a:r>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IPv4</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地址</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3" name="文本框 82"/>
          <p:cNvSpPr txBox="1"/>
          <p:nvPr/>
        </p:nvSpPr>
        <p:spPr bwMode="gray">
          <a:xfrm>
            <a:off x="7122809" y="5508595"/>
            <a:ext cx="2184400" cy="338554"/>
          </a:xfrm>
          <a:prstGeom prst="rect">
            <a:avLst/>
          </a:prstGeom>
          <a:noFill/>
        </p:spPr>
        <p:txBody>
          <a:bodyPr wrap="square" rtlCol="0">
            <a:spAutoFit/>
          </a:bodyPr>
          <a:lstStyle/>
          <a:p>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2</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字节，用户自定义</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Freeform 9"/>
          <p:cNvSpPr>
            <a:spLocks/>
          </p:cNvSpPr>
          <p:nvPr/>
        </p:nvSpPr>
        <p:spPr bwMode="gray">
          <a:xfrm rot="11972573" flipV="1">
            <a:off x="2510422" y="3848523"/>
            <a:ext cx="1025742" cy="498922"/>
          </a:xfrm>
          <a:custGeom>
            <a:avLst/>
            <a:gdLst>
              <a:gd name="T0" fmla="*/ 30278 w 32079"/>
              <a:gd name="T1" fmla="*/ 4424 h 15622"/>
              <a:gd name="T2" fmla="*/ 2783 w 32079"/>
              <a:gd name="T3" fmla="*/ 15622 h 15622"/>
              <a:gd name="T4" fmla="*/ 0 w 32079"/>
              <a:gd name="T5" fmla="*/ 15523 h 15622"/>
              <a:gd name="T6" fmla="*/ 26897 w 32079"/>
              <a:gd name="T7" fmla="*/ 2112 h 15622"/>
              <a:gd name="T8" fmla="*/ 25060 w 32079"/>
              <a:gd name="T9" fmla="*/ 856 h 15622"/>
              <a:gd name="T10" fmla="*/ 27928 w 32079"/>
              <a:gd name="T11" fmla="*/ 428 h 15622"/>
              <a:gd name="T12" fmla="*/ 30796 w 32079"/>
              <a:gd name="T13" fmla="*/ 0 h 15622"/>
              <a:gd name="T14" fmla="*/ 31438 w 32079"/>
              <a:gd name="T15" fmla="*/ 2828 h 15622"/>
              <a:gd name="T16" fmla="*/ 32079 w 32079"/>
              <a:gd name="T17" fmla="*/ 5656 h 15622"/>
              <a:gd name="T18" fmla="*/ 30278 w 32079"/>
              <a:gd name="T19" fmla="*/ 4424 h 15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079" h="15622">
                <a:moveTo>
                  <a:pt x="30278" y="4424"/>
                </a:moveTo>
                <a:cubicBezTo>
                  <a:pt x="23182" y="11352"/>
                  <a:pt x="13481" y="15622"/>
                  <a:pt x="2783" y="15622"/>
                </a:cubicBezTo>
                <a:cubicBezTo>
                  <a:pt x="1847" y="15622"/>
                  <a:pt x="920" y="15587"/>
                  <a:pt x="0" y="15523"/>
                </a:cubicBezTo>
                <a:cubicBezTo>
                  <a:pt x="10716" y="14774"/>
                  <a:pt x="20250" y="9734"/>
                  <a:pt x="26897" y="2112"/>
                </a:cubicBezTo>
                <a:lnTo>
                  <a:pt x="25060" y="856"/>
                </a:lnTo>
                <a:lnTo>
                  <a:pt x="27928" y="428"/>
                </a:lnTo>
                <a:lnTo>
                  <a:pt x="30796" y="0"/>
                </a:lnTo>
                <a:lnTo>
                  <a:pt x="31438" y="2828"/>
                </a:lnTo>
                <a:lnTo>
                  <a:pt x="32079" y="5656"/>
                </a:lnTo>
                <a:lnTo>
                  <a:pt x="30278" y="4424"/>
                </a:lnTo>
                <a:close/>
              </a:path>
            </a:pathLst>
          </a:custGeom>
          <a:gradFill flip="none" rotWithShape="1">
            <a:gsLst>
              <a:gs pos="15000">
                <a:schemeClr val="accent1">
                  <a:lumMod val="5000"/>
                  <a:lumOff val="95000"/>
                  <a:alpha val="0"/>
                </a:schemeClr>
              </a:gs>
              <a:gs pos="81000">
                <a:srgbClr val="FFF2CC"/>
              </a:gs>
            </a:gsLst>
            <a:lin ang="2400000" scaled="0"/>
            <a:tileRect/>
          </a:gradFill>
          <a:ln w="15875">
            <a:gradFill flip="none" rotWithShape="1">
              <a:gsLst>
                <a:gs pos="11000">
                  <a:schemeClr val="accent1">
                    <a:lumMod val="0"/>
                    <a:lumOff val="100000"/>
                    <a:alpha val="0"/>
                  </a:schemeClr>
                </a:gs>
                <a:gs pos="67000">
                  <a:srgbClr val="FFD17D"/>
                </a:gs>
              </a:gsLst>
              <a:lin ang="2400000" scaled="0"/>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文本框 3"/>
          <p:cNvSpPr txBox="1"/>
          <p:nvPr/>
        </p:nvSpPr>
        <p:spPr bwMode="gray">
          <a:xfrm>
            <a:off x="1915888" y="3364435"/>
            <a:ext cx="1338828" cy="369332"/>
          </a:xfrm>
          <a:prstGeom prst="rect">
            <a:avLst/>
          </a:prstGeom>
          <a:noFill/>
        </p:spPr>
        <p:txBody>
          <a:bodyPr wrap="none" rtlCol="0">
            <a:spAutoFit/>
          </a:bodyPr>
          <a:lstStyle/>
          <a:p>
            <a:r>
              <a:rPr lang="zh-CN" altLang="en-US" dirty="0" smtClean="0">
                <a:latin typeface="Huawei Sans" panose="020C0503030203020204" pitchFamily="34" charset="0"/>
                <a:ea typeface="方正兰亭黑简体" panose="02000000000000000000" pitchFamily="2" charset="-122"/>
                <a:sym typeface="Huawei Sans" panose="020C0503030203020204" pitchFamily="34" charset="0"/>
              </a:rPr>
              <a:t>不需要配置</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90535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p:cTn id="7" dur="500" fill="hold"/>
                                        <p:tgtEl>
                                          <p:spTgt spid="21"/>
                                        </p:tgtEl>
                                        <p:attrNameLst>
                                          <p:attrName>ppt_w</p:attrName>
                                        </p:attrNameLst>
                                      </p:cBhvr>
                                      <p:tavLst>
                                        <p:tav tm="0">
                                          <p:val>
                                            <p:fltVal val="0"/>
                                          </p:val>
                                        </p:tav>
                                        <p:tav tm="100000">
                                          <p:val>
                                            <p:strVal val="#ppt_w"/>
                                          </p:val>
                                        </p:tav>
                                      </p:tavLst>
                                    </p:anim>
                                    <p:anim calcmode="lin" valueType="num">
                                      <p:cBhvr>
                                        <p:cTn id="8" dur="500" fill="hold"/>
                                        <p:tgtEl>
                                          <p:spTgt spid="21"/>
                                        </p:tgtEl>
                                        <p:attrNameLst>
                                          <p:attrName>ppt_h</p:attrName>
                                        </p:attrNameLst>
                                      </p:cBhvr>
                                      <p:tavLst>
                                        <p:tav tm="0">
                                          <p:val>
                                            <p:fltVal val="0"/>
                                          </p:val>
                                        </p:tav>
                                        <p:tav tm="100000">
                                          <p:val>
                                            <p:strVal val="#ppt_h"/>
                                          </p:val>
                                        </p:tav>
                                      </p:tavLst>
                                    </p:anim>
                                    <p:animEffect transition="in" filter="fade">
                                      <p:cBhvr>
                                        <p:cTn id="9" dur="500"/>
                                        <p:tgtEl>
                                          <p:spTgt spid="21"/>
                                        </p:tgtEl>
                                      </p:cBhvr>
                                    </p:animEffect>
                                  </p:childTnLst>
                                </p:cTn>
                              </p:par>
                              <p:par>
                                <p:cTn id="10" presetID="35" presetClass="path" presetSubtype="0" accel="50000" decel="50000" fill="hold" grpId="1" nodeType="withEffect">
                                  <p:stCondLst>
                                    <p:cond delay="0"/>
                                  </p:stCondLst>
                                  <p:childTnLst>
                                    <p:animMotion origin="layout" path="M 3.33333E-6 -3.7037E-6 L -0.35482 0.28542 " pathEditMode="relative" rAng="0" ptsTypes="AA">
                                      <p:cBhvr>
                                        <p:cTn id="11" dur="1000" spd="-100000" fill="hold"/>
                                        <p:tgtEl>
                                          <p:spTgt spid="21"/>
                                        </p:tgtEl>
                                        <p:attrNameLst>
                                          <p:attrName>ppt_x</p:attrName>
                                          <p:attrName>ppt_y</p:attrName>
                                        </p:attrNameLst>
                                      </p:cBhvr>
                                      <p:rCtr x="-17747" y="142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1" grpId="1"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smtClean="0">
                <a:sym typeface="Huawei Sans" panose="020C0503030203020204" pitchFamily="34" charset="0"/>
              </a:rPr>
              <a:t>VPN-IPv4</a:t>
            </a:r>
            <a:r>
              <a:rPr lang="zh-CN" altLang="en-US" smtClean="0">
                <a:sym typeface="Huawei Sans" panose="020C0503030203020204" pitchFamily="34" charset="0"/>
              </a:rPr>
              <a:t>地址</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bwMode="gray"/>
        <p:txBody>
          <a:bodyPr/>
          <a:lstStyle/>
          <a:p>
            <a:r>
              <a:rPr lang="en-US" altLang="zh-CN" sz="1800" smtClean="0">
                <a:sym typeface="Huawei Sans" panose="020C0503030203020204" pitchFamily="34" charset="0"/>
              </a:rPr>
              <a:t>VPN-IPv4</a:t>
            </a:r>
            <a:r>
              <a:rPr lang="zh-CN" altLang="en-US" sz="1800" smtClean="0">
                <a:sym typeface="Huawei Sans" panose="020C0503030203020204" pitchFamily="34" charset="0"/>
              </a:rPr>
              <a:t>地址又被称为</a:t>
            </a:r>
            <a:r>
              <a:rPr lang="en-US" altLang="zh-CN" sz="1800" smtClean="0">
                <a:sym typeface="Huawei Sans" panose="020C0503030203020204" pitchFamily="34" charset="0"/>
              </a:rPr>
              <a:t>VPNv4</a:t>
            </a:r>
            <a:r>
              <a:rPr lang="zh-CN" altLang="en-US" sz="1800" smtClean="0">
                <a:sym typeface="Huawei Sans" panose="020C0503030203020204" pitchFamily="34" charset="0"/>
              </a:rPr>
              <a:t>地址：</a:t>
            </a:r>
            <a:r>
              <a:rPr lang="en-US" altLang="zh-CN" sz="1800" smtClean="0">
                <a:sym typeface="Huawei Sans" panose="020C0503030203020204" pitchFamily="34" charset="0"/>
              </a:rPr>
              <a:t>VPNv4</a:t>
            </a:r>
            <a:r>
              <a:rPr lang="zh-CN" altLang="en-US" sz="1800" smtClean="0">
                <a:sym typeface="Huawei Sans" panose="020C0503030203020204" pitchFamily="34" charset="0"/>
              </a:rPr>
              <a:t>地址共有</a:t>
            </a:r>
            <a:r>
              <a:rPr lang="en-US" altLang="zh-CN" sz="1800" smtClean="0">
                <a:sym typeface="Huawei Sans" panose="020C0503030203020204" pitchFamily="34" charset="0"/>
              </a:rPr>
              <a:t>12</a:t>
            </a:r>
            <a:r>
              <a:rPr lang="zh-CN" altLang="en-US" sz="1800" smtClean="0">
                <a:sym typeface="Huawei Sans" panose="020C0503030203020204" pitchFamily="34" charset="0"/>
              </a:rPr>
              <a:t>个字节，包括</a:t>
            </a:r>
            <a:r>
              <a:rPr lang="en-US" altLang="zh-CN" sz="1800" smtClean="0">
                <a:sym typeface="Huawei Sans" panose="020C0503030203020204" pitchFamily="34" charset="0"/>
              </a:rPr>
              <a:t>8</a:t>
            </a:r>
            <a:r>
              <a:rPr lang="zh-CN" altLang="en-US" sz="1800" smtClean="0">
                <a:sym typeface="Huawei Sans" panose="020C0503030203020204" pitchFamily="34" charset="0"/>
              </a:rPr>
              <a:t>字节的路由标识符</a:t>
            </a:r>
            <a:r>
              <a:rPr lang="en-US" altLang="zh-CN" sz="1800" smtClean="0">
                <a:sym typeface="Huawei Sans" panose="020C0503030203020204" pitchFamily="34" charset="0"/>
              </a:rPr>
              <a:t>RD</a:t>
            </a:r>
            <a:r>
              <a:rPr lang="zh-CN" altLang="en-US" sz="1800" smtClean="0">
                <a:sym typeface="Huawei Sans" panose="020C0503030203020204" pitchFamily="34" charset="0"/>
              </a:rPr>
              <a:t>（</a:t>
            </a:r>
            <a:r>
              <a:rPr lang="en-US" altLang="zh-CN" sz="1800" smtClean="0">
                <a:sym typeface="Huawei Sans" panose="020C0503030203020204" pitchFamily="34" charset="0"/>
              </a:rPr>
              <a:t>Route Distinguisher</a:t>
            </a:r>
            <a:r>
              <a:rPr lang="zh-CN" altLang="en-US" sz="1800" smtClean="0">
                <a:sym typeface="Huawei Sans" panose="020C0503030203020204" pitchFamily="34" charset="0"/>
              </a:rPr>
              <a:t>）和</a:t>
            </a:r>
            <a:r>
              <a:rPr lang="en-US" altLang="zh-CN" sz="1800" smtClean="0">
                <a:sym typeface="Huawei Sans" panose="020C0503030203020204" pitchFamily="34" charset="0"/>
              </a:rPr>
              <a:t>4</a:t>
            </a:r>
            <a:r>
              <a:rPr lang="zh-CN" altLang="en-US" sz="1800" smtClean="0">
                <a:sym typeface="Huawei Sans" panose="020C0503030203020204" pitchFamily="34" charset="0"/>
              </a:rPr>
              <a:t>字节的</a:t>
            </a:r>
            <a:r>
              <a:rPr lang="en-US" altLang="zh-CN" sz="1800" smtClean="0">
                <a:sym typeface="Huawei Sans" panose="020C0503030203020204" pitchFamily="34" charset="0"/>
              </a:rPr>
              <a:t>IPv4</a:t>
            </a:r>
            <a:r>
              <a:rPr lang="zh-CN" altLang="en-US" sz="1800" smtClean="0">
                <a:sym typeface="Huawei Sans" panose="020C0503030203020204" pitchFamily="34" charset="0"/>
              </a:rPr>
              <a:t>地址前缀。</a:t>
            </a:r>
            <a:endParaRPr lang="en-US" altLang="zh-CN" sz="1800" dirty="0" smtClean="0">
              <a:sym typeface="Huawei Sans" panose="020C0503030203020204" pitchFamily="34" charset="0"/>
            </a:endParaRPr>
          </a:p>
        </p:txBody>
      </p:sp>
      <p:sp>
        <p:nvSpPr>
          <p:cNvPr id="21" name="圆角矩形 20"/>
          <p:cNvSpPr/>
          <p:nvPr/>
        </p:nvSpPr>
        <p:spPr bwMode="gray">
          <a:xfrm>
            <a:off x="4103749" y="4143995"/>
            <a:ext cx="4000659" cy="1825378"/>
          </a:xfrm>
          <a:prstGeom prst="roundRect">
            <a:avLst/>
          </a:prstGeom>
          <a:solidFill>
            <a:srgbClr val="BEE9EE"/>
          </a:solidFill>
          <a:ln w="28575" cap="flat" cmpd="sng" algn="ctr">
            <a:noFill/>
            <a:prstDash val="sys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文本框 21"/>
          <p:cNvSpPr txBox="1"/>
          <p:nvPr/>
        </p:nvSpPr>
        <p:spPr bwMode="gray">
          <a:xfrm>
            <a:off x="5308828" y="5674705"/>
            <a:ext cx="1590500" cy="307777"/>
          </a:xfrm>
          <a:prstGeom prst="rect">
            <a:avLst/>
          </a:prstGeom>
          <a:noFill/>
        </p:spPr>
        <p:txBody>
          <a:bodyPr wrap="none" rtlCol="0">
            <a:spAutoFit/>
          </a:bodyPr>
          <a:lstStyle/>
          <a:p>
            <a:pPr algn="ctr"/>
            <a:r>
              <a:rPr lang="en-US" altLang="zh-CN"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MPLS VPN</a:t>
            </a:r>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骨干网</a:t>
            </a:r>
            <a:endPar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3" name="组合 22"/>
          <p:cNvGrpSpPr/>
          <p:nvPr/>
        </p:nvGrpSpPr>
        <p:grpSpPr bwMode="gray">
          <a:xfrm>
            <a:off x="3846898" y="4694721"/>
            <a:ext cx="4513567" cy="723926"/>
            <a:chOff x="4088571" y="4424992"/>
            <a:chExt cx="4513567" cy="723926"/>
          </a:xfrm>
        </p:grpSpPr>
        <p:cxnSp>
          <p:nvCxnSpPr>
            <p:cNvPr id="24" name="直接连接符 23"/>
            <p:cNvCxnSpPr>
              <a:stCxn id="28" idx="3"/>
              <a:endCxn id="30" idx="1"/>
            </p:cNvCxnSpPr>
            <p:nvPr/>
          </p:nvCxnSpPr>
          <p:spPr bwMode="gray">
            <a:xfrm>
              <a:off x="4628571" y="4645901"/>
              <a:ext cx="343356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5" name="组合 24"/>
            <p:cNvGrpSpPr/>
            <p:nvPr/>
          </p:nvGrpSpPr>
          <p:grpSpPr bwMode="gray">
            <a:xfrm>
              <a:off x="6067674" y="4424992"/>
              <a:ext cx="540000" cy="723926"/>
              <a:chOff x="5312873" y="4947622"/>
              <a:chExt cx="540000" cy="723926"/>
            </a:xfrm>
          </p:grpSpPr>
          <p:pic>
            <p:nvPicPr>
              <p:cNvPr id="32" name="Picture 12" descr="E:\2016.01\1.12 扁平化图标\蓝色\AR-蓝色最新-40.png"/>
              <p:cNvPicPr>
                <a:picLocks noChangeAspect="1" noChangeArrowheads="1"/>
              </p:cNvPicPr>
              <p:nvPr/>
            </p:nvPicPr>
            <p:blipFill>
              <a:blip r:embed="rId3" cstate="print"/>
              <a:srcRect/>
              <a:stretch>
                <a:fillRect/>
              </a:stretch>
            </p:blipFill>
            <p:spPr bwMode="gray">
              <a:xfrm>
                <a:off x="5312873" y="4947622"/>
                <a:ext cx="540000" cy="441818"/>
              </a:xfrm>
              <a:prstGeom prst="rect">
                <a:avLst/>
              </a:prstGeom>
              <a:noFill/>
            </p:spPr>
          </p:pic>
          <p:sp>
            <p:nvSpPr>
              <p:cNvPr id="33" name="文本框 32"/>
              <p:cNvSpPr txBox="1"/>
              <p:nvPr/>
            </p:nvSpPr>
            <p:spPr bwMode="gray">
              <a:xfrm>
                <a:off x="5436839" y="5363771"/>
                <a:ext cx="292068"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26" name="组合 25"/>
            <p:cNvGrpSpPr/>
            <p:nvPr/>
          </p:nvGrpSpPr>
          <p:grpSpPr bwMode="gray">
            <a:xfrm>
              <a:off x="8062138" y="4424992"/>
              <a:ext cx="540000" cy="714804"/>
              <a:chOff x="8062138" y="4947622"/>
              <a:chExt cx="540000" cy="714804"/>
            </a:xfrm>
          </p:grpSpPr>
          <p:pic>
            <p:nvPicPr>
              <p:cNvPr id="30" name="Picture 12" descr="E:\2016.01\1.12 扁平化图标\蓝色\AR-蓝色最新-40.png"/>
              <p:cNvPicPr>
                <a:picLocks noChangeAspect="1" noChangeArrowheads="1"/>
              </p:cNvPicPr>
              <p:nvPr/>
            </p:nvPicPr>
            <p:blipFill>
              <a:blip r:embed="rId3" cstate="print"/>
              <a:srcRect/>
              <a:stretch>
                <a:fillRect/>
              </a:stretch>
            </p:blipFill>
            <p:spPr bwMode="gray">
              <a:xfrm>
                <a:off x="8062138" y="4947622"/>
                <a:ext cx="540000" cy="441818"/>
              </a:xfrm>
              <a:prstGeom prst="rect">
                <a:avLst/>
              </a:prstGeom>
              <a:noFill/>
            </p:spPr>
          </p:pic>
          <p:sp>
            <p:nvSpPr>
              <p:cNvPr id="31" name="文本框 30"/>
              <p:cNvSpPr txBox="1"/>
              <p:nvPr/>
            </p:nvSpPr>
            <p:spPr bwMode="gray">
              <a:xfrm>
                <a:off x="8084306" y="5354649"/>
                <a:ext cx="497252"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PE2</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27" name="组合 26"/>
            <p:cNvGrpSpPr/>
            <p:nvPr/>
          </p:nvGrpSpPr>
          <p:grpSpPr bwMode="gray">
            <a:xfrm>
              <a:off x="4088571" y="4424992"/>
              <a:ext cx="540000" cy="723926"/>
              <a:chOff x="4088571" y="4947622"/>
              <a:chExt cx="540000" cy="723926"/>
            </a:xfrm>
          </p:grpSpPr>
          <p:pic>
            <p:nvPicPr>
              <p:cNvPr id="28" name="Picture 12" descr="E:\2016.01\1.12 扁平化图标\蓝色\AR-蓝色最新-40.png"/>
              <p:cNvPicPr>
                <a:picLocks noChangeAspect="1" noChangeArrowheads="1"/>
              </p:cNvPicPr>
              <p:nvPr/>
            </p:nvPicPr>
            <p:blipFill>
              <a:blip r:embed="rId3" cstate="print"/>
              <a:srcRect/>
              <a:stretch>
                <a:fillRect/>
              </a:stretch>
            </p:blipFill>
            <p:spPr bwMode="gray">
              <a:xfrm>
                <a:off x="4088571" y="4947622"/>
                <a:ext cx="540000" cy="441818"/>
              </a:xfrm>
              <a:prstGeom prst="rect">
                <a:avLst/>
              </a:prstGeom>
              <a:noFill/>
            </p:spPr>
          </p:pic>
          <p:sp>
            <p:nvSpPr>
              <p:cNvPr id="29" name="文本框 28"/>
              <p:cNvSpPr txBox="1"/>
              <p:nvPr/>
            </p:nvSpPr>
            <p:spPr bwMode="gray">
              <a:xfrm>
                <a:off x="4109945" y="5363771"/>
                <a:ext cx="497252" cy="307777"/>
              </a:xfrm>
              <a:prstGeom prst="rect">
                <a:avLst/>
              </a:prstGeom>
              <a:noFill/>
            </p:spPr>
            <p:txBody>
              <a:bodyPr wrap="non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PE1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grpSp>
        <p:nvGrpSpPr>
          <p:cNvPr id="34" name="组合 33"/>
          <p:cNvGrpSpPr/>
          <p:nvPr/>
        </p:nvGrpSpPr>
        <p:grpSpPr bwMode="gray">
          <a:xfrm>
            <a:off x="2158869" y="4272637"/>
            <a:ext cx="550687" cy="712575"/>
            <a:chOff x="4073209" y="4947622"/>
            <a:chExt cx="550687" cy="712575"/>
          </a:xfrm>
        </p:grpSpPr>
        <p:pic>
          <p:nvPicPr>
            <p:cNvPr id="35" name="Picture 12" descr="E:\2016.01\1.12 扁平化图标\蓝色\AR-蓝色最新-40.png"/>
            <p:cNvPicPr>
              <a:picLocks noChangeAspect="1" noChangeArrowheads="1"/>
            </p:cNvPicPr>
            <p:nvPr/>
          </p:nvPicPr>
          <p:blipFill>
            <a:blip r:embed="rId3" cstate="print"/>
            <a:srcRect/>
            <a:stretch>
              <a:fillRect/>
            </a:stretch>
          </p:blipFill>
          <p:spPr bwMode="gray">
            <a:xfrm>
              <a:off x="4073209" y="4947622"/>
              <a:ext cx="540000" cy="441818"/>
            </a:xfrm>
            <a:prstGeom prst="rect">
              <a:avLst/>
            </a:prstGeom>
            <a:noFill/>
          </p:spPr>
        </p:pic>
        <p:sp>
          <p:nvSpPr>
            <p:cNvPr id="36" name="文本框 35"/>
            <p:cNvSpPr txBox="1"/>
            <p:nvPr/>
          </p:nvSpPr>
          <p:spPr bwMode="gray">
            <a:xfrm>
              <a:off x="4121835" y="5352420"/>
              <a:ext cx="50206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37" name="圆角矩形 36"/>
          <p:cNvSpPr/>
          <p:nvPr/>
        </p:nvSpPr>
        <p:spPr bwMode="gray">
          <a:xfrm>
            <a:off x="952500" y="4025063"/>
            <a:ext cx="1873049" cy="994971"/>
          </a:xfrm>
          <a:prstGeom prst="roundRect">
            <a:avLst/>
          </a:prstGeom>
          <a:noFill/>
          <a:ln w="25400">
            <a:solidFill>
              <a:srgbClr val="8BC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38" name="组合 37"/>
          <p:cNvGrpSpPr/>
          <p:nvPr/>
        </p:nvGrpSpPr>
        <p:grpSpPr bwMode="gray">
          <a:xfrm>
            <a:off x="2147045" y="5354017"/>
            <a:ext cx="575533" cy="706640"/>
            <a:chOff x="4073209" y="4947622"/>
            <a:chExt cx="575533" cy="706640"/>
          </a:xfrm>
        </p:grpSpPr>
        <p:pic>
          <p:nvPicPr>
            <p:cNvPr id="39" name="Picture 12" descr="E:\2016.01\1.12 扁平化图标\蓝色\AR-蓝色最新-40.png"/>
            <p:cNvPicPr>
              <a:picLocks noChangeAspect="1" noChangeArrowheads="1"/>
            </p:cNvPicPr>
            <p:nvPr/>
          </p:nvPicPr>
          <p:blipFill>
            <a:blip r:embed="rId3" cstate="print"/>
            <a:srcRect/>
            <a:stretch>
              <a:fillRect/>
            </a:stretch>
          </p:blipFill>
          <p:spPr bwMode="gray">
            <a:xfrm>
              <a:off x="4073209" y="4947622"/>
              <a:ext cx="540000" cy="441818"/>
            </a:xfrm>
            <a:prstGeom prst="rect">
              <a:avLst/>
            </a:prstGeom>
            <a:noFill/>
          </p:spPr>
        </p:pic>
        <p:sp>
          <p:nvSpPr>
            <p:cNvPr id="40" name="文本框 39"/>
            <p:cNvSpPr txBox="1"/>
            <p:nvPr/>
          </p:nvSpPr>
          <p:spPr bwMode="gray">
            <a:xfrm>
              <a:off x="4146681" y="5346485"/>
              <a:ext cx="50206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CE2</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41" name="圆角矩形 40"/>
          <p:cNvSpPr/>
          <p:nvPr/>
        </p:nvSpPr>
        <p:spPr bwMode="gray">
          <a:xfrm>
            <a:off x="952500" y="5106443"/>
            <a:ext cx="1873049" cy="994971"/>
          </a:xfrm>
          <a:prstGeom prst="roundRect">
            <a:avLst/>
          </a:prstGeom>
          <a:noFill/>
          <a:ln w="254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圆角矩形 44"/>
          <p:cNvSpPr/>
          <p:nvPr/>
        </p:nvSpPr>
        <p:spPr bwMode="gray">
          <a:xfrm flipH="1">
            <a:off x="9366451" y="4025063"/>
            <a:ext cx="1873049" cy="994971"/>
          </a:xfrm>
          <a:prstGeom prst="roundRect">
            <a:avLst/>
          </a:prstGeom>
          <a:noFill/>
          <a:ln w="25400">
            <a:solidFill>
              <a:srgbClr val="8BC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圆角矩形 48"/>
          <p:cNvSpPr/>
          <p:nvPr/>
        </p:nvSpPr>
        <p:spPr bwMode="gray">
          <a:xfrm flipH="1">
            <a:off x="9378275" y="5106443"/>
            <a:ext cx="1873049" cy="994971"/>
          </a:xfrm>
          <a:prstGeom prst="roundRect">
            <a:avLst/>
          </a:prstGeom>
          <a:noFill/>
          <a:ln w="254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0" name="直接连接符 49"/>
          <p:cNvCxnSpPr>
            <a:stCxn id="35" idx="3"/>
            <a:endCxn id="28" idx="1"/>
          </p:cNvCxnSpPr>
          <p:nvPr/>
        </p:nvCxnSpPr>
        <p:spPr bwMode="gray">
          <a:xfrm>
            <a:off x="2698869" y="4493546"/>
            <a:ext cx="1148029" cy="42208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a:stCxn id="39" idx="3"/>
            <a:endCxn id="28" idx="1"/>
          </p:cNvCxnSpPr>
          <p:nvPr/>
        </p:nvCxnSpPr>
        <p:spPr bwMode="gray">
          <a:xfrm flipV="1">
            <a:off x="2687045" y="4915630"/>
            <a:ext cx="1159853" cy="65929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a:stCxn id="30" idx="3"/>
          </p:cNvCxnSpPr>
          <p:nvPr/>
        </p:nvCxnSpPr>
        <p:spPr bwMode="gray">
          <a:xfrm flipV="1">
            <a:off x="8360465" y="4493546"/>
            <a:ext cx="1132666" cy="42208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a:stCxn id="30" idx="3"/>
          </p:cNvCxnSpPr>
          <p:nvPr/>
        </p:nvCxnSpPr>
        <p:spPr bwMode="gray">
          <a:xfrm>
            <a:off x="8360465" y="4915630"/>
            <a:ext cx="1144490" cy="65929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文本框 53"/>
          <p:cNvSpPr txBox="1"/>
          <p:nvPr/>
        </p:nvSpPr>
        <p:spPr bwMode="gray">
          <a:xfrm>
            <a:off x="881938" y="4143995"/>
            <a:ext cx="1215397"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192.168.1.0/24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文本框 55"/>
          <p:cNvSpPr txBox="1"/>
          <p:nvPr/>
        </p:nvSpPr>
        <p:spPr bwMode="gray">
          <a:xfrm>
            <a:off x="894774" y="5465428"/>
            <a:ext cx="1215397"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192.168.1.0/24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文本框 56"/>
          <p:cNvSpPr txBox="1"/>
          <p:nvPr/>
        </p:nvSpPr>
        <p:spPr bwMode="gray">
          <a:xfrm>
            <a:off x="924700" y="4668568"/>
            <a:ext cx="1124026" cy="350160"/>
          </a:xfrm>
          <a:prstGeom prst="rect">
            <a:avLst/>
          </a:prstGeom>
          <a:noFill/>
        </p:spPr>
        <p:txBody>
          <a:bodyPr wrap="none" rtlCol="0">
            <a:spAutoFit/>
          </a:bodyPr>
          <a:lstStyle/>
          <a:p>
            <a:pPr>
              <a:lnSpc>
                <a:spcPct val="130000"/>
              </a:lnSpc>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X</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A</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文本框 58"/>
          <p:cNvSpPr txBox="1"/>
          <p:nvPr/>
        </p:nvSpPr>
        <p:spPr bwMode="gray">
          <a:xfrm>
            <a:off x="924700" y="5788101"/>
            <a:ext cx="1112805" cy="350160"/>
          </a:xfrm>
          <a:prstGeom prst="rect">
            <a:avLst/>
          </a:prstGeom>
          <a:noFill/>
        </p:spPr>
        <p:txBody>
          <a:bodyPr wrap="none" rtlCol="0">
            <a:spAutoFit/>
          </a:bodyPr>
          <a:lstStyle/>
          <a:p>
            <a:pPr>
              <a:lnSpc>
                <a:spcPct val="130000"/>
              </a:lnSpc>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Y</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C</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文本框 59"/>
          <p:cNvSpPr txBox="1"/>
          <p:nvPr/>
        </p:nvSpPr>
        <p:spPr bwMode="gray">
          <a:xfrm>
            <a:off x="10119237" y="4647624"/>
            <a:ext cx="1114408" cy="350160"/>
          </a:xfrm>
          <a:prstGeom prst="rect">
            <a:avLst/>
          </a:prstGeom>
          <a:noFill/>
        </p:spPr>
        <p:txBody>
          <a:bodyPr wrap="none" rtlCol="0">
            <a:spAutoFit/>
          </a:bodyPr>
          <a:lstStyle/>
          <a:p>
            <a:pPr>
              <a:lnSpc>
                <a:spcPct val="130000"/>
              </a:lnSpc>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X</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B</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 name="文本框 66"/>
          <p:cNvSpPr txBox="1"/>
          <p:nvPr/>
        </p:nvSpPr>
        <p:spPr bwMode="gray">
          <a:xfrm>
            <a:off x="10119237" y="5767157"/>
            <a:ext cx="1133644" cy="350160"/>
          </a:xfrm>
          <a:prstGeom prst="rect">
            <a:avLst/>
          </a:prstGeom>
          <a:noFill/>
        </p:spPr>
        <p:txBody>
          <a:bodyPr wrap="none" rtlCol="0">
            <a:spAutoFit/>
          </a:bodyPr>
          <a:lstStyle/>
          <a:p>
            <a:pPr>
              <a:lnSpc>
                <a:spcPct val="130000"/>
              </a:lnSpc>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Y</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文本框 3"/>
          <p:cNvSpPr txBox="1"/>
          <p:nvPr/>
        </p:nvSpPr>
        <p:spPr bwMode="gray">
          <a:xfrm>
            <a:off x="4928945" y="3228685"/>
            <a:ext cx="2355132" cy="369332"/>
          </a:xfrm>
          <a:prstGeom prst="rect">
            <a:avLst/>
          </a:prstGeom>
          <a:noFill/>
          <a:ln w="19050">
            <a:noFill/>
          </a:ln>
        </p:spPr>
        <p:txBody>
          <a:bodyPr wrap="none" rtlCol="0">
            <a:spAutoFit/>
          </a:bodyPr>
          <a:lstStyle/>
          <a:p>
            <a:r>
              <a:rPr lang="en-US" altLang="zh-CN" dirty="0" smtClean="0">
                <a:latin typeface="Huawei Sans" panose="020C0503030203020204" pitchFamily="34" charset="0"/>
                <a:ea typeface="方正兰亭黑简体" panose="02000000000000000000" pitchFamily="2" charset="-122"/>
                <a:sym typeface="Huawei Sans" panose="020C0503030203020204" pitchFamily="34" charset="0"/>
              </a:rPr>
              <a:t>100:1:192.168.1.0/24</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6" name="文本框 85"/>
          <p:cNvSpPr txBox="1"/>
          <p:nvPr/>
        </p:nvSpPr>
        <p:spPr bwMode="gray">
          <a:xfrm>
            <a:off x="4935277" y="3688714"/>
            <a:ext cx="2355132" cy="369332"/>
          </a:xfrm>
          <a:prstGeom prst="rect">
            <a:avLst/>
          </a:prstGeom>
          <a:noFill/>
          <a:ln w="28575">
            <a:noFill/>
          </a:ln>
        </p:spPr>
        <p:txBody>
          <a:bodyPr wrap="none" rtlCol="0">
            <a:spAutoFit/>
          </a:bodyPr>
          <a:lstStyle/>
          <a:p>
            <a:r>
              <a:rPr lang="en-US" altLang="zh-CN" dirty="0" smtClean="0">
                <a:latin typeface="Huawei Sans" panose="020C0503030203020204" pitchFamily="34" charset="0"/>
                <a:ea typeface="方正兰亭黑简体" panose="02000000000000000000" pitchFamily="2" charset="-122"/>
                <a:sym typeface="Huawei Sans" panose="020C0503030203020204" pitchFamily="34" charset="0"/>
              </a:rPr>
              <a:t>200:1:192.168.1.0/24</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6" name="组合 5"/>
          <p:cNvGrpSpPr/>
          <p:nvPr/>
        </p:nvGrpSpPr>
        <p:grpSpPr bwMode="gray">
          <a:xfrm>
            <a:off x="4973273" y="2576655"/>
            <a:ext cx="570154" cy="633969"/>
            <a:chOff x="5143396" y="2462885"/>
            <a:chExt cx="570154" cy="633969"/>
          </a:xfrm>
        </p:grpSpPr>
        <p:sp>
          <p:nvSpPr>
            <p:cNvPr id="87" name="Right Brace 45"/>
            <p:cNvSpPr/>
            <p:nvPr/>
          </p:nvSpPr>
          <p:spPr bwMode="gray">
            <a:xfrm rot="16200000">
              <a:off x="5290127" y="2673432"/>
              <a:ext cx="276691" cy="570154"/>
            </a:xfrm>
            <a:custGeom>
              <a:avLst/>
              <a:gdLst>
                <a:gd name="connsiteX0" fmla="*/ 0 w 594067"/>
                <a:gd name="connsiteY0" fmla="*/ 0 h 5919533"/>
                <a:gd name="connsiteX1" fmla="*/ 297034 w 594067"/>
                <a:gd name="connsiteY1" fmla="*/ 49504 h 5919533"/>
                <a:gd name="connsiteX2" fmla="*/ 297034 w 594067"/>
                <a:gd name="connsiteY2" fmla="*/ 2910263 h 5919533"/>
                <a:gd name="connsiteX3" fmla="*/ 594068 w 594067"/>
                <a:gd name="connsiteY3" fmla="*/ 2959767 h 5919533"/>
                <a:gd name="connsiteX4" fmla="*/ 297034 w 594067"/>
                <a:gd name="connsiteY4" fmla="*/ 3009271 h 5919533"/>
                <a:gd name="connsiteX5" fmla="*/ 297034 w 594067"/>
                <a:gd name="connsiteY5" fmla="*/ 5870029 h 5919533"/>
                <a:gd name="connsiteX6" fmla="*/ 0 w 594067"/>
                <a:gd name="connsiteY6" fmla="*/ 5919533 h 5919533"/>
                <a:gd name="connsiteX7" fmla="*/ 0 w 594067"/>
                <a:gd name="connsiteY7" fmla="*/ 0 h 5919533"/>
                <a:gd name="connsiteX0" fmla="*/ 0 w 594067"/>
                <a:gd name="connsiteY0" fmla="*/ 0 h 5919533"/>
                <a:gd name="connsiteX1" fmla="*/ 297034 w 594067"/>
                <a:gd name="connsiteY1" fmla="*/ 49504 h 5919533"/>
                <a:gd name="connsiteX2" fmla="*/ 297034 w 594067"/>
                <a:gd name="connsiteY2" fmla="*/ 2910263 h 5919533"/>
                <a:gd name="connsiteX3" fmla="*/ 594068 w 594067"/>
                <a:gd name="connsiteY3" fmla="*/ 2959767 h 5919533"/>
                <a:gd name="connsiteX4" fmla="*/ 297034 w 594067"/>
                <a:gd name="connsiteY4" fmla="*/ 3009271 h 5919533"/>
                <a:gd name="connsiteX5" fmla="*/ 297034 w 594067"/>
                <a:gd name="connsiteY5" fmla="*/ 5870029 h 5919533"/>
                <a:gd name="connsiteX6" fmla="*/ 0 w 594067"/>
                <a:gd name="connsiteY6" fmla="*/ 5919533 h 5919533"/>
                <a:gd name="connsiteX0" fmla="*/ 0 w 594068"/>
                <a:gd name="connsiteY0" fmla="*/ 0 h 5919533"/>
                <a:gd name="connsiteX1" fmla="*/ 297034 w 594068"/>
                <a:gd name="connsiteY1" fmla="*/ 49504 h 5919533"/>
                <a:gd name="connsiteX2" fmla="*/ 297034 w 594068"/>
                <a:gd name="connsiteY2" fmla="*/ 2910263 h 5919533"/>
                <a:gd name="connsiteX3" fmla="*/ 594068 w 594068"/>
                <a:gd name="connsiteY3" fmla="*/ 2959767 h 5919533"/>
                <a:gd name="connsiteX4" fmla="*/ 297034 w 594068"/>
                <a:gd name="connsiteY4" fmla="*/ 3009271 h 5919533"/>
                <a:gd name="connsiteX5" fmla="*/ 297034 w 594068"/>
                <a:gd name="connsiteY5" fmla="*/ 5870029 h 5919533"/>
                <a:gd name="connsiteX6" fmla="*/ 0 w 594068"/>
                <a:gd name="connsiteY6" fmla="*/ 5919533 h 5919533"/>
                <a:gd name="connsiteX7" fmla="*/ 0 w 594068"/>
                <a:gd name="connsiteY7" fmla="*/ 0 h 5919533"/>
                <a:gd name="connsiteX0" fmla="*/ 0 w 594068"/>
                <a:gd name="connsiteY0" fmla="*/ 0 h 5919533"/>
                <a:gd name="connsiteX1" fmla="*/ 297034 w 594068"/>
                <a:gd name="connsiteY1" fmla="*/ 49504 h 5919533"/>
                <a:gd name="connsiteX2" fmla="*/ 297034 w 594068"/>
                <a:gd name="connsiteY2" fmla="*/ 2910263 h 5919533"/>
                <a:gd name="connsiteX3" fmla="*/ 505168 w 594068"/>
                <a:gd name="connsiteY3" fmla="*/ 2959767 h 5919533"/>
                <a:gd name="connsiteX4" fmla="*/ 297034 w 594068"/>
                <a:gd name="connsiteY4" fmla="*/ 3009271 h 5919533"/>
                <a:gd name="connsiteX5" fmla="*/ 297034 w 594068"/>
                <a:gd name="connsiteY5" fmla="*/ 5870029 h 5919533"/>
                <a:gd name="connsiteX6" fmla="*/ 0 w 594068"/>
                <a:gd name="connsiteY6" fmla="*/ 5919533 h 5919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068" h="5919533" stroke="0" extrusionOk="0">
                  <a:moveTo>
                    <a:pt x="0" y="0"/>
                  </a:moveTo>
                  <a:cubicBezTo>
                    <a:pt x="164047" y="0"/>
                    <a:pt x="297034" y="22164"/>
                    <a:pt x="297034" y="49504"/>
                  </a:cubicBezTo>
                  <a:lnTo>
                    <a:pt x="297034" y="2910263"/>
                  </a:lnTo>
                  <a:cubicBezTo>
                    <a:pt x="297034" y="2937603"/>
                    <a:pt x="430021" y="2959767"/>
                    <a:pt x="594068" y="2959767"/>
                  </a:cubicBezTo>
                  <a:cubicBezTo>
                    <a:pt x="430021" y="2959767"/>
                    <a:pt x="297034" y="2981931"/>
                    <a:pt x="297034" y="3009271"/>
                  </a:cubicBezTo>
                  <a:lnTo>
                    <a:pt x="297034" y="5870029"/>
                  </a:lnTo>
                  <a:cubicBezTo>
                    <a:pt x="297034" y="5897369"/>
                    <a:pt x="164047" y="5919533"/>
                    <a:pt x="0" y="5919533"/>
                  </a:cubicBezTo>
                  <a:lnTo>
                    <a:pt x="0" y="0"/>
                  </a:lnTo>
                  <a:close/>
                </a:path>
                <a:path w="594068" h="5919533" fill="none">
                  <a:moveTo>
                    <a:pt x="0" y="0"/>
                  </a:moveTo>
                  <a:cubicBezTo>
                    <a:pt x="164047" y="0"/>
                    <a:pt x="297034" y="22164"/>
                    <a:pt x="297034" y="49504"/>
                  </a:cubicBezTo>
                  <a:lnTo>
                    <a:pt x="297034" y="2910263"/>
                  </a:lnTo>
                  <a:cubicBezTo>
                    <a:pt x="297034" y="2937603"/>
                    <a:pt x="341121" y="2959767"/>
                    <a:pt x="505168" y="2959767"/>
                  </a:cubicBezTo>
                  <a:cubicBezTo>
                    <a:pt x="341121" y="2959767"/>
                    <a:pt x="297034" y="2981931"/>
                    <a:pt x="297034" y="3009271"/>
                  </a:cubicBezTo>
                  <a:lnTo>
                    <a:pt x="297034" y="5870029"/>
                  </a:lnTo>
                  <a:cubicBezTo>
                    <a:pt x="297034" y="5897369"/>
                    <a:pt x="164047" y="5919533"/>
                    <a:pt x="0" y="5919533"/>
                  </a:cubicBezTo>
                </a:path>
              </a:pathLst>
            </a:custGeom>
            <a:ln w="19050">
              <a:solidFill>
                <a:srgbClr val="F28944"/>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文本框 4"/>
            <p:cNvSpPr txBox="1"/>
            <p:nvPr/>
          </p:nvSpPr>
          <p:spPr bwMode="gray">
            <a:xfrm>
              <a:off x="5193472" y="2462885"/>
              <a:ext cx="470000" cy="338554"/>
            </a:xfrm>
            <a:prstGeom prst="rect">
              <a:avLst/>
            </a:prstGeom>
            <a:noFill/>
          </p:spPr>
          <p:txBody>
            <a:bodyPr wrap="none" rtlCol="0">
              <a:spAutoFit/>
            </a:bodyPr>
            <a:lstStyle/>
            <a:p>
              <a:r>
                <a:rPr lang="en-US" altLang="zh-CN" sz="1600" b="1" dirty="0" smtClean="0">
                  <a:latin typeface="Huawei Sans" panose="020C0503030203020204" pitchFamily="34" charset="0"/>
                  <a:ea typeface="方正兰亭黑简体" panose="02000000000000000000" pitchFamily="2" charset="-122"/>
                  <a:sym typeface="Huawei Sans" panose="020C0503030203020204" pitchFamily="34" charset="0"/>
                </a:rPr>
                <a:t>RD</a:t>
              </a:r>
              <a:endPar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89" name="组合 88"/>
          <p:cNvGrpSpPr/>
          <p:nvPr/>
        </p:nvGrpSpPr>
        <p:grpSpPr bwMode="gray">
          <a:xfrm>
            <a:off x="5681677" y="2576655"/>
            <a:ext cx="1515495" cy="633969"/>
            <a:chOff x="5143396" y="2438803"/>
            <a:chExt cx="570154" cy="658051"/>
          </a:xfrm>
        </p:grpSpPr>
        <p:sp>
          <p:nvSpPr>
            <p:cNvPr id="90" name="Right Brace 45"/>
            <p:cNvSpPr/>
            <p:nvPr/>
          </p:nvSpPr>
          <p:spPr bwMode="gray">
            <a:xfrm rot="16200000">
              <a:off x="5290127" y="2673432"/>
              <a:ext cx="276691" cy="570154"/>
            </a:xfrm>
            <a:custGeom>
              <a:avLst/>
              <a:gdLst>
                <a:gd name="connsiteX0" fmla="*/ 0 w 594067"/>
                <a:gd name="connsiteY0" fmla="*/ 0 h 5919533"/>
                <a:gd name="connsiteX1" fmla="*/ 297034 w 594067"/>
                <a:gd name="connsiteY1" fmla="*/ 49504 h 5919533"/>
                <a:gd name="connsiteX2" fmla="*/ 297034 w 594067"/>
                <a:gd name="connsiteY2" fmla="*/ 2910263 h 5919533"/>
                <a:gd name="connsiteX3" fmla="*/ 594068 w 594067"/>
                <a:gd name="connsiteY3" fmla="*/ 2959767 h 5919533"/>
                <a:gd name="connsiteX4" fmla="*/ 297034 w 594067"/>
                <a:gd name="connsiteY4" fmla="*/ 3009271 h 5919533"/>
                <a:gd name="connsiteX5" fmla="*/ 297034 w 594067"/>
                <a:gd name="connsiteY5" fmla="*/ 5870029 h 5919533"/>
                <a:gd name="connsiteX6" fmla="*/ 0 w 594067"/>
                <a:gd name="connsiteY6" fmla="*/ 5919533 h 5919533"/>
                <a:gd name="connsiteX7" fmla="*/ 0 w 594067"/>
                <a:gd name="connsiteY7" fmla="*/ 0 h 5919533"/>
                <a:gd name="connsiteX0" fmla="*/ 0 w 594067"/>
                <a:gd name="connsiteY0" fmla="*/ 0 h 5919533"/>
                <a:gd name="connsiteX1" fmla="*/ 297034 w 594067"/>
                <a:gd name="connsiteY1" fmla="*/ 49504 h 5919533"/>
                <a:gd name="connsiteX2" fmla="*/ 297034 w 594067"/>
                <a:gd name="connsiteY2" fmla="*/ 2910263 h 5919533"/>
                <a:gd name="connsiteX3" fmla="*/ 594068 w 594067"/>
                <a:gd name="connsiteY3" fmla="*/ 2959767 h 5919533"/>
                <a:gd name="connsiteX4" fmla="*/ 297034 w 594067"/>
                <a:gd name="connsiteY4" fmla="*/ 3009271 h 5919533"/>
                <a:gd name="connsiteX5" fmla="*/ 297034 w 594067"/>
                <a:gd name="connsiteY5" fmla="*/ 5870029 h 5919533"/>
                <a:gd name="connsiteX6" fmla="*/ 0 w 594067"/>
                <a:gd name="connsiteY6" fmla="*/ 5919533 h 5919533"/>
                <a:gd name="connsiteX0" fmla="*/ 0 w 594068"/>
                <a:gd name="connsiteY0" fmla="*/ 0 h 5919533"/>
                <a:gd name="connsiteX1" fmla="*/ 297034 w 594068"/>
                <a:gd name="connsiteY1" fmla="*/ 49504 h 5919533"/>
                <a:gd name="connsiteX2" fmla="*/ 297034 w 594068"/>
                <a:gd name="connsiteY2" fmla="*/ 2910263 h 5919533"/>
                <a:gd name="connsiteX3" fmla="*/ 594068 w 594068"/>
                <a:gd name="connsiteY3" fmla="*/ 2959767 h 5919533"/>
                <a:gd name="connsiteX4" fmla="*/ 297034 w 594068"/>
                <a:gd name="connsiteY4" fmla="*/ 3009271 h 5919533"/>
                <a:gd name="connsiteX5" fmla="*/ 297034 w 594068"/>
                <a:gd name="connsiteY5" fmla="*/ 5870029 h 5919533"/>
                <a:gd name="connsiteX6" fmla="*/ 0 w 594068"/>
                <a:gd name="connsiteY6" fmla="*/ 5919533 h 5919533"/>
                <a:gd name="connsiteX7" fmla="*/ 0 w 594068"/>
                <a:gd name="connsiteY7" fmla="*/ 0 h 5919533"/>
                <a:gd name="connsiteX0" fmla="*/ 0 w 594068"/>
                <a:gd name="connsiteY0" fmla="*/ 0 h 5919533"/>
                <a:gd name="connsiteX1" fmla="*/ 297034 w 594068"/>
                <a:gd name="connsiteY1" fmla="*/ 49504 h 5919533"/>
                <a:gd name="connsiteX2" fmla="*/ 297034 w 594068"/>
                <a:gd name="connsiteY2" fmla="*/ 2910263 h 5919533"/>
                <a:gd name="connsiteX3" fmla="*/ 505168 w 594068"/>
                <a:gd name="connsiteY3" fmla="*/ 2959767 h 5919533"/>
                <a:gd name="connsiteX4" fmla="*/ 297034 w 594068"/>
                <a:gd name="connsiteY4" fmla="*/ 3009271 h 5919533"/>
                <a:gd name="connsiteX5" fmla="*/ 297034 w 594068"/>
                <a:gd name="connsiteY5" fmla="*/ 5870029 h 5919533"/>
                <a:gd name="connsiteX6" fmla="*/ 0 w 594068"/>
                <a:gd name="connsiteY6" fmla="*/ 5919533 h 5919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068" h="5919533" stroke="0" extrusionOk="0">
                  <a:moveTo>
                    <a:pt x="0" y="0"/>
                  </a:moveTo>
                  <a:cubicBezTo>
                    <a:pt x="164047" y="0"/>
                    <a:pt x="297034" y="22164"/>
                    <a:pt x="297034" y="49504"/>
                  </a:cubicBezTo>
                  <a:lnTo>
                    <a:pt x="297034" y="2910263"/>
                  </a:lnTo>
                  <a:cubicBezTo>
                    <a:pt x="297034" y="2937603"/>
                    <a:pt x="430021" y="2959767"/>
                    <a:pt x="594068" y="2959767"/>
                  </a:cubicBezTo>
                  <a:cubicBezTo>
                    <a:pt x="430021" y="2959767"/>
                    <a:pt x="297034" y="2981931"/>
                    <a:pt x="297034" y="3009271"/>
                  </a:cubicBezTo>
                  <a:lnTo>
                    <a:pt x="297034" y="5870029"/>
                  </a:lnTo>
                  <a:cubicBezTo>
                    <a:pt x="297034" y="5897369"/>
                    <a:pt x="164047" y="5919533"/>
                    <a:pt x="0" y="5919533"/>
                  </a:cubicBezTo>
                  <a:lnTo>
                    <a:pt x="0" y="0"/>
                  </a:lnTo>
                  <a:close/>
                </a:path>
                <a:path w="594068" h="5919533" fill="none">
                  <a:moveTo>
                    <a:pt x="0" y="0"/>
                  </a:moveTo>
                  <a:cubicBezTo>
                    <a:pt x="164047" y="0"/>
                    <a:pt x="297034" y="22164"/>
                    <a:pt x="297034" y="49504"/>
                  </a:cubicBezTo>
                  <a:lnTo>
                    <a:pt x="297034" y="2910263"/>
                  </a:lnTo>
                  <a:cubicBezTo>
                    <a:pt x="297034" y="2937603"/>
                    <a:pt x="341121" y="2959767"/>
                    <a:pt x="505168" y="2959767"/>
                  </a:cubicBezTo>
                  <a:cubicBezTo>
                    <a:pt x="341121" y="2959767"/>
                    <a:pt x="297034" y="2981931"/>
                    <a:pt x="297034" y="3009271"/>
                  </a:cubicBezTo>
                  <a:lnTo>
                    <a:pt x="297034" y="5870029"/>
                  </a:lnTo>
                  <a:cubicBezTo>
                    <a:pt x="297034" y="5897369"/>
                    <a:pt x="164047" y="5919533"/>
                    <a:pt x="0" y="5919533"/>
                  </a:cubicBezTo>
                </a:path>
              </a:pathLst>
            </a:custGeom>
            <a:ln w="19050">
              <a:solidFill>
                <a:srgbClr val="F28944"/>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1" name="文本框 90"/>
            <p:cNvSpPr txBox="1"/>
            <p:nvPr/>
          </p:nvSpPr>
          <p:spPr bwMode="gray">
            <a:xfrm>
              <a:off x="5174316" y="2438803"/>
              <a:ext cx="537461" cy="351414"/>
            </a:xfrm>
            <a:prstGeom prst="rect">
              <a:avLst/>
            </a:prstGeom>
            <a:noFill/>
          </p:spPr>
          <p:txBody>
            <a:bodyPr wrap="none" rtlCol="0">
              <a:spAutoFit/>
            </a:bodyPr>
            <a:lstStyle/>
            <a:p>
              <a:r>
                <a:rPr lang="en-US" altLang="zh-CN" sz="1600" b="1" dirty="0" smtClean="0">
                  <a:latin typeface="Huawei Sans" panose="020C0503030203020204" pitchFamily="34" charset="0"/>
                  <a:ea typeface="方正兰亭黑简体" panose="02000000000000000000" pitchFamily="2" charset="-122"/>
                  <a:sym typeface="Huawei Sans" panose="020C0503030203020204" pitchFamily="34" charset="0"/>
                </a:rPr>
                <a:t>IPv4</a:t>
              </a:r>
              <a:r>
                <a:rPr lang="zh-CN" altLang="en-US" sz="1600" b="1" dirty="0" smtClean="0">
                  <a:latin typeface="Huawei Sans" panose="020C0503030203020204" pitchFamily="34" charset="0"/>
                  <a:ea typeface="方正兰亭黑简体" panose="02000000000000000000" pitchFamily="2" charset="-122"/>
                  <a:sym typeface="Huawei Sans" panose="020C0503030203020204" pitchFamily="34" charset="0"/>
                </a:rPr>
                <a:t>地址前缀</a:t>
              </a:r>
              <a:endPar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9" name="任意多边形 8"/>
          <p:cNvSpPr/>
          <p:nvPr/>
        </p:nvSpPr>
        <p:spPr bwMode="gray">
          <a:xfrm>
            <a:off x="4128342" y="4252075"/>
            <a:ext cx="3950677" cy="457200"/>
          </a:xfrm>
          <a:custGeom>
            <a:avLst/>
            <a:gdLst>
              <a:gd name="connsiteX0" fmla="*/ 0 w 3950677"/>
              <a:gd name="connsiteY0" fmla="*/ 422031 h 457200"/>
              <a:gd name="connsiteX1" fmla="*/ 422031 w 3950677"/>
              <a:gd name="connsiteY1" fmla="*/ 0 h 457200"/>
              <a:gd name="connsiteX2" fmla="*/ 3493477 w 3950677"/>
              <a:gd name="connsiteY2" fmla="*/ 0 h 457200"/>
              <a:gd name="connsiteX3" fmla="*/ 3950677 w 3950677"/>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3950677" h="457200">
                <a:moveTo>
                  <a:pt x="0" y="422031"/>
                </a:moveTo>
                <a:lnTo>
                  <a:pt x="422031" y="0"/>
                </a:lnTo>
                <a:lnTo>
                  <a:pt x="3493477" y="0"/>
                </a:lnTo>
                <a:lnTo>
                  <a:pt x="3950677" y="457200"/>
                </a:lnTo>
              </a:path>
            </a:pathLst>
          </a:custGeom>
          <a:ln w="31750">
            <a:solidFill>
              <a:srgbClr val="EC706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58" name="组合 57"/>
          <p:cNvGrpSpPr/>
          <p:nvPr/>
        </p:nvGrpSpPr>
        <p:grpSpPr bwMode="gray">
          <a:xfrm>
            <a:off x="9493131" y="4272637"/>
            <a:ext cx="540000" cy="723926"/>
            <a:chOff x="4073209" y="4947622"/>
            <a:chExt cx="540000" cy="723926"/>
          </a:xfrm>
        </p:grpSpPr>
        <p:pic>
          <p:nvPicPr>
            <p:cNvPr id="61" name="Picture 12" descr="E:\2016.01\1.12 扁平化图标\蓝色\AR-蓝色最新-40.png"/>
            <p:cNvPicPr>
              <a:picLocks noChangeAspect="1" noChangeArrowheads="1"/>
            </p:cNvPicPr>
            <p:nvPr/>
          </p:nvPicPr>
          <p:blipFill>
            <a:blip r:embed="rId3" cstate="print"/>
            <a:srcRect/>
            <a:stretch>
              <a:fillRect/>
            </a:stretch>
          </p:blipFill>
          <p:spPr bwMode="gray">
            <a:xfrm>
              <a:off x="4073209" y="4947622"/>
              <a:ext cx="540000" cy="441818"/>
            </a:xfrm>
            <a:prstGeom prst="rect">
              <a:avLst/>
            </a:prstGeom>
            <a:noFill/>
          </p:spPr>
        </p:pic>
        <p:sp>
          <p:nvSpPr>
            <p:cNvPr id="62" name="文本框 61"/>
            <p:cNvSpPr txBox="1"/>
            <p:nvPr/>
          </p:nvSpPr>
          <p:spPr bwMode="gray">
            <a:xfrm>
              <a:off x="4086262" y="5363771"/>
              <a:ext cx="50206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CE3</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63" name="组合 62"/>
          <p:cNvGrpSpPr/>
          <p:nvPr/>
        </p:nvGrpSpPr>
        <p:grpSpPr bwMode="gray">
          <a:xfrm>
            <a:off x="9504955" y="5354017"/>
            <a:ext cx="552270" cy="723926"/>
            <a:chOff x="4060939" y="4947622"/>
            <a:chExt cx="552270" cy="723926"/>
          </a:xfrm>
        </p:grpSpPr>
        <p:pic>
          <p:nvPicPr>
            <p:cNvPr id="64" name="Picture 12" descr="E:\2016.01\1.12 扁平化图标\蓝色\AR-蓝色最新-40.png"/>
            <p:cNvPicPr>
              <a:picLocks noChangeAspect="1" noChangeArrowheads="1"/>
            </p:cNvPicPr>
            <p:nvPr/>
          </p:nvPicPr>
          <p:blipFill>
            <a:blip r:embed="rId3" cstate="print"/>
            <a:srcRect/>
            <a:stretch>
              <a:fillRect/>
            </a:stretch>
          </p:blipFill>
          <p:spPr bwMode="gray">
            <a:xfrm>
              <a:off x="4073209" y="4947622"/>
              <a:ext cx="540000" cy="441818"/>
            </a:xfrm>
            <a:prstGeom prst="rect">
              <a:avLst/>
            </a:prstGeom>
            <a:noFill/>
          </p:spPr>
        </p:pic>
        <p:sp>
          <p:nvSpPr>
            <p:cNvPr id="65" name="文本框 64"/>
            <p:cNvSpPr txBox="1"/>
            <p:nvPr/>
          </p:nvSpPr>
          <p:spPr bwMode="gray">
            <a:xfrm>
              <a:off x="4060939" y="5363771"/>
              <a:ext cx="50206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CE4</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0" name="文本框 9"/>
          <p:cNvSpPr txBox="1"/>
          <p:nvPr/>
        </p:nvSpPr>
        <p:spPr bwMode="gray">
          <a:xfrm>
            <a:off x="5737981" y="4238699"/>
            <a:ext cx="902811" cy="307777"/>
          </a:xfrm>
          <a:prstGeom prst="rect">
            <a:avLst/>
          </a:prstGeom>
          <a:noFill/>
        </p:spPr>
        <p:txBody>
          <a:bodyPr wrap="none" rtlCol="0">
            <a:spAutoFit/>
          </a:bodyPr>
          <a:lstStyle/>
          <a:p>
            <a:r>
              <a:rPr lang="zh-CN" altLang="en-US" sz="1400" dirty="0" smtClean="0"/>
              <a:t>路由传递</a:t>
            </a:r>
            <a:endParaRPr lang="zh-CN" altLang="en-US" sz="1400" dirty="0"/>
          </a:p>
        </p:txBody>
      </p:sp>
    </p:spTree>
    <p:extLst>
      <p:ext uri="{BB962C8B-B14F-4D97-AF65-F5344CB8AC3E}">
        <p14:creationId xmlns:p14="http://schemas.microsoft.com/office/powerpoint/2010/main" val="286159123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标题 67"/>
          <p:cNvSpPr>
            <a:spLocks noGrp="1"/>
          </p:cNvSpPr>
          <p:nvPr>
            <p:ph type="title"/>
          </p:nvPr>
        </p:nvSpPr>
        <p:spPr bwMode="gray"/>
        <p:txBody>
          <a:bodyPr/>
          <a:lstStyle/>
          <a:p>
            <a:r>
              <a:rPr lang="zh-CN" altLang="en-US" dirty="0" smtClean="0"/>
              <a:t>入口</a:t>
            </a:r>
            <a:r>
              <a:rPr lang="en-US" altLang="zh-CN" dirty="0" smtClean="0"/>
              <a:t>PE</a:t>
            </a:r>
            <a:r>
              <a:rPr lang="zh-CN" altLang="en-US" dirty="0" smtClean="0"/>
              <a:t>到出口</a:t>
            </a:r>
            <a:r>
              <a:rPr lang="en-US" altLang="zh-CN" dirty="0" smtClean="0"/>
              <a:t>PE</a:t>
            </a:r>
            <a:r>
              <a:rPr lang="zh-CN" altLang="en-US" dirty="0" smtClean="0">
                <a:sym typeface="Huawei Sans" panose="020C0503030203020204" pitchFamily="34" charset="0"/>
              </a:rPr>
              <a:t>路由传递 </a:t>
            </a:r>
            <a:r>
              <a:rPr lang="en-US" altLang="zh-CN" dirty="0" smtClean="0">
                <a:sym typeface="Huawei Sans" panose="020C0503030203020204" pitchFamily="34" charset="0"/>
              </a:rPr>
              <a:t>(2)</a:t>
            </a:r>
            <a:endParaRPr lang="zh-CN" altLang="en-US" dirty="0">
              <a:sym typeface="Huawei Sans" panose="020C0503030203020204" pitchFamily="34" charset="0"/>
            </a:endParaRPr>
          </a:p>
        </p:txBody>
      </p:sp>
      <p:sp>
        <p:nvSpPr>
          <p:cNvPr id="69" name="文本占位符 68"/>
          <p:cNvSpPr>
            <a:spLocks noGrp="1"/>
          </p:cNvSpPr>
          <p:nvPr>
            <p:ph type="body" sz="quarter" idx="10"/>
          </p:nvPr>
        </p:nvSpPr>
        <p:spPr bwMode="gray"/>
        <p:txBody>
          <a:bodyPr/>
          <a:lstStyle/>
          <a:p>
            <a:r>
              <a:rPr lang="en-US" altLang="zh-CN" sz="1800" smtClean="0">
                <a:sym typeface="Huawei Sans" panose="020C0503030203020204" pitchFamily="34" charset="0"/>
              </a:rPr>
              <a:t>PE</a:t>
            </a:r>
            <a:r>
              <a:rPr lang="zh-CN" altLang="en-US" sz="1800" smtClean="0">
                <a:sym typeface="Huawei Sans" panose="020C0503030203020204" pitchFamily="34" charset="0"/>
              </a:rPr>
              <a:t>之间建立</a:t>
            </a:r>
            <a:r>
              <a:rPr lang="en-US" altLang="zh-CN" sz="1800" smtClean="0">
                <a:sym typeface="Huawei Sans" panose="020C0503030203020204" pitchFamily="34" charset="0"/>
              </a:rPr>
              <a:t>BGP</a:t>
            </a:r>
            <a:r>
              <a:rPr lang="zh-CN" altLang="en-US" sz="1800" smtClean="0">
                <a:sym typeface="Huawei Sans" panose="020C0503030203020204" pitchFamily="34" charset="0"/>
              </a:rPr>
              <a:t>邻居关系，并通过</a:t>
            </a:r>
            <a:r>
              <a:rPr lang="en-US" altLang="zh-CN" sz="1800" smtClean="0">
                <a:sym typeface="Huawei Sans" panose="020C0503030203020204" pitchFamily="34" charset="0"/>
              </a:rPr>
              <a:t>BGP</a:t>
            </a:r>
            <a:r>
              <a:rPr lang="zh-CN" altLang="en-US" sz="1800" smtClean="0">
                <a:sym typeface="Huawei Sans" panose="020C0503030203020204" pitchFamily="34" charset="0"/>
              </a:rPr>
              <a:t>进行路由传递。为什么采用</a:t>
            </a:r>
            <a:r>
              <a:rPr lang="en-US" altLang="zh-CN" sz="1800" smtClean="0">
                <a:sym typeface="Huawei Sans" panose="020C0503030203020204" pitchFamily="34" charset="0"/>
              </a:rPr>
              <a:t>BGP</a:t>
            </a:r>
            <a:r>
              <a:rPr lang="zh-CN" altLang="en-US" sz="1800" smtClean="0">
                <a:sym typeface="Huawei Sans" panose="020C0503030203020204" pitchFamily="34" charset="0"/>
              </a:rPr>
              <a:t>呢？</a:t>
            </a:r>
            <a:endParaRPr lang="en-US" altLang="zh-CN" sz="1800" smtClean="0">
              <a:sym typeface="Huawei Sans" panose="020C0503030203020204" pitchFamily="34" charset="0"/>
            </a:endParaRPr>
          </a:p>
          <a:p>
            <a:pPr lvl="1"/>
            <a:r>
              <a:rPr lang="en-US" altLang="zh-CN" sz="1600" smtClean="0">
                <a:sym typeface="Huawei Sans" panose="020C0503030203020204" pitchFamily="34" charset="0"/>
              </a:rPr>
              <a:t>BGP</a:t>
            </a:r>
            <a:r>
              <a:rPr lang="zh-CN" altLang="en-US" sz="1600" smtClean="0">
                <a:sym typeface="Huawei Sans" panose="020C0503030203020204" pitchFamily="34" charset="0"/>
              </a:rPr>
              <a:t>使用</a:t>
            </a:r>
            <a:r>
              <a:rPr lang="en-US" altLang="zh-CN" sz="1600" smtClean="0">
                <a:sym typeface="Huawei Sans" panose="020C0503030203020204" pitchFamily="34" charset="0"/>
              </a:rPr>
              <a:t>TCP</a:t>
            </a:r>
            <a:r>
              <a:rPr lang="zh-CN" altLang="en-US" sz="1600" smtClean="0">
                <a:sym typeface="Huawei Sans" panose="020C0503030203020204" pitchFamily="34" charset="0"/>
              </a:rPr>
              <a:t>作为其传输层协议，提高了协议的可靠性。可以跨路由器的两个</a:t>
            </a:r>
            <a:r>
              <a:rPr lang="en-US" altLang="zh-CN" sz="1600" smtClean="0">
                <a:sym typeface="Huawei Sans" panose="020C0503030203020204" pitchFamily="34" charset="0"/>
              </a:rPr>
              <a:t>PE</a:t>
            </a:r>
            <a:r>
              <a:rPr lang="zh-CN" altLang="en-US" sz="1600" smtClean="0">
                <a:sym typeface="Huawei Sans" panose="020C0503030203020204" pitchFamily="34" charset="0"/>
              </a:rPr>
              <a:t>设备之间直接交换路由。</a:t>
            </a:r>
            <a:endParaRPr lang="en-US" altLang="zh-CN" sz="1600" smtClean="0">
              <a:sym typeface="Huawei Sans" panose="020C0503030203020204" pitchFamily="34" charset="0"/>
            </a:endParaRPr>
          </a:p>
          <a:p>
            <a:pPr lvl="1"/>
            <a:r>
              <a:rPr lang="en-US" altLang="zh-CN" sz="1600" smtClean="0">
                <a:sym typeface="Huawei Sans" panose="020C0503030203020204" pitchFamily="34" charset="0"/>
              </a:rPr>
              <a:t>BGP</a:t>
            </a:r>
            <a:r>
              <a:rPr lang="zh-CN" altLang="en-US" sz="1600" smtClean="0">
                <a:sym typeface="Huawei Sans" panose="020C0503030203020204" pitchFamily="34" charset="0"/>
              </a:rPr>
              <a:t>拓展性强，为</a:t>
            </a:r>
            <a:r>
              <a:rPr lang="en-US" altLang="zh-CN" sz="1600" smtClean="0">
                <a:sym typeface="Huawei Sans" panose="020C0503030203020204" pitchFamily="34" charset="0"/>
              </a:rPr>
              <a:t>PE</a:t>
            </a:r>
            <a:r>
              <a:rPr lang="zh-CN" altLang="en-US" sz="1600" smtClean="0">
                <a:sym typeface="Huawei Sans" panose="020C0503030203020204" pitchFamily="34" charset="0"/>
              </a:rPr>
              <a:t>间传播</a:t>
            </a:r>
            <a:r>
              <a:rPr lang="en-US" altLang="zh-CN" sz="1600" smtClean="0">
                <a:sym typeface="Huawei Sans" panose="020C0503030203020204" pitchFamily="34" charset="0"/>
              </a:rPr>
              <a:t>VPN</a:t>
            </a:r>
            <a:r>
              <a:rPr lang="zh-CN" altLang="en-US" sz="1600" smtClean="0">
                <a:sym typeface="Huawei Sans" panose="020C0503030203020204" pitchFamily="34" charset="0"/>
              </a:rPr>
              <a:t>路由提供了便利。</a:t>
            </a:r>
            <a:endParaRPr lang="en-US" altLang="zh-CN" sz="1600" smtClean="0">
              <a:sym typeface="Huawei Sans" panose="020C0503030203020204" pitchFamily="34" charset="0"/>
            </a:endParaRPr>
          </a:p>
          <a:p>
            <a:pPr lvl="1"/>
            <a:r>
              <a:rPr lang="en-US" altLang="zh-CN" sz="1600" smtClean="0">
                <a:sym typeface="Huawei Sans" panose="020C0503030203020204" pitchFamily="34" charset="0"/>
              </a:rPr>
              <a:t>PE</a:t>
            </a:r>
            <a:r>
              <a:rPr lang="zh-CN" altLang="en-US" sz="1600" smtClean="0">
                <a:sym typeface="Huawei Sans" panose="020C0503030203020204" pitchFamily="34" charset="0"/>
              </a:rPr>
              <a:t>之间需要传送的路由条目可能较大，</a:t>
            </a:r>
            <a:r>
              <a:rPr lang="en-US" altLang="zh-CN" sz="1600" smtClean="0">
                <a:sym typeface="Huawei Sans" panose="020C0503030203020204" pitchFamily="34" charset="0"/>
              </a:rPr>
              <a:t>BGP</a:t>
            </a:r>
            <a:r>
              <a:rPr lang="zh-CN" altLang="en-US" sz="1600" smtClean="0">
                <a:sym typeface="Huawei Sans" panose="020C0503030203020204" pitchFamily="34" charset="0"/>
              </a:rPr>
              <a:t>只发送更新的路由，提高传递路由数量的同时不占用过多链路带宽。</a:t>
            </a:r>
            <a:endParaRPr lang="en-US" altLang="zh-CN" sz="1600" smtClean="0">
              <a:sym typeface="Huawei Sans" panose="020C0503030203020204" pitchFamily="34" charset="0"/>
            </a:endParaRPr>
          </a:p>
          <a:p>
            <a:r>
              <a:rPr lang="zh-CN" altLang="en-US" sz="1800" smtClean="0">
                <a:sym typeface="Huawei Sans" panose="020C0503030203020204" pitchFamily="34" charset="0"/>
              </a:rPr>
              <a:t>传统的</a:t>
            </a:r>
            <a:r>
              <a:rPr lang="en-US" altLang="zh-CN" sz="1800" smtClean="0">
                <a:sym typeface="Huawei Sans" panose="020C0503030203020204" pitchFamily="34" charset="0"/>
              </a:rPr>
              <a:t>BGP-4</a:t>
            </a:r>
            <a:r>
              <a:rPr lang="zh-CN" altLang="en-US" sz="1800" smtClean="0">
                <a:sym typeface="Huawei Sans" panose="020C0503030203020204" pitchFamily="34" charset="0"/>
              </a:rPr>
              <a:t>不支持处理</a:t>
            </a:r>
            <a:r>
              <a:rPr lang="en-US" altLang="zh-CN" sz="1800" smtClean="0">
                <a:sym typeface="Huawei Sans" panose="020C0503030203020204" pitchFamily="34" charset="0"/>
              </a:rPr>
              <a:t>VPNv4</a:t>
            </a:r>
            <a:r>
              <a:rPr lang="zh-CN" altLang="en-US" sz="1800" smtClean="0">
                <a:sym typeface="Huawei Sans" panose="020C0503030203020204" pitchFamily="34" charset="0"/>
              </a:rPr>
              <a:t>路由。</a:t>
            </a:r>
            <a:endParaRPr lang="zh-CN" altLang="en-US" sz="1800" dirty="0">
              <a:sym typeface="Huawei Sans" panose="020C0503030203020204" pitchFamily="34" charset="0"/>
            </a:endParaRPr>
          </a:p>
        </p:txBody>
      </p:sp>
      <p:sp>
        <p:nvSpPr>
          <p:cNvPr id="51" name="圆角矩形 50"/>
          <p:cNvSpPr/>
          <p:nvPr/>
        </p:nvSpPr>
        <p:spPr bwMode="gray">
          <a:xfrm>
            <a:off x="4103749" y="4143995"/>
            <a:ext cx="4000659" cy="1825378"/>
          </a:xfrm>
          <a:prstGeom prst="roundRect">
            <a:avLst/>
          </a:prstGeom>
          <a:solidFill>
            <a:srgbClr val="BEE9EE"/>
          </a:solidFill>
          <a:ln w="28575" cap="flat" cmpd="sng" algn="ctr">
            <a:noFill/>
            <a:prstDash val="sys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文本框 52"/>
          <p:cNvSpPr txBox="1"/>
          <p:nvPr/>
        </p:nvSpPr>
        <p:spPr bwMode="gray">
          <a:xfrm>
            <a:off x="5308828" y="5674705"/>
            <a:ext cx="1590500" cy="307777"/>
          </a:xfrm>
          <a:prstGeom prst="rect">
            <a:avLst/>
          </a:prstGeom>
          <a:noFill/>
        </p:spPr>
        <p:txBody>
          <a:bodyPr wrap="none" rtlCol="0">
            <a:spAutoFit/>
          </a:bodyPr>
          <a:lstStyle/>
          <a:p>
            <a:pPr algn="ctr"/>
            <a:r>
              <a:rPr lang="en-US" altLang="zh-CN"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MPLS VPN</a:t>
            </a:r>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骨干网</a:t>
            </a:r>
            <a:endPar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54" name="组合 53"/>
          <p:cNvGrpSpPr/>
          <p:nvPr/>
        </p:nvGrpSpPr>
        <p:grpSpPr bwMode="gray">
          <a:xfrm>
            <a:off x="3846898" y="4694721"/>
            <a:ext cx="4513567" cy="723926"/>
            <a:chOff x="4088571" y="4424992"/>
            <a:chExt cx="4513567" cy="723926"/>
          </a:xfrm>
        </p:grpSpPr>
        <p:cxnSp>
          <p:nvCxnSpPr>
            <p:cNvPr id="55" name="直接连接符 54"/>
            <p:cNvCxnSpPr>
              <a:stCxn id="59" idx="3"/>
              <a:endCxn id="61" idx="1"/>
            </p:cNvCxnSpPr>
            <p:nvPr/>
          </p:nvCxnSpPr>
          <p:spPr bwMode="gray">
            <a:xfrm>
              <a:off x="4628571" y="4645901"/>
              <a:ext cx="343356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6" name="组合 55"/>
            <p:cNvGrpSpPr/>
            <p:nvPr/>
          </p:nvGrpSpPr>
          <p:grpSpPr bwMode="gray">
            <a:xfrm>
              <a:off x="6067674" y="4424992"/>
              <a:ext cx="540000" cy="723926"/>
              <a:chOff x="5312873" y="4947622"/>
              <a:chExt cx="540000" cy="723926"/>
            </a:xfrm>
          </p:grpSpPr>
          <p:pic>
            <p:nvPicPr>
              <p:cNvPr id="74" name="Picture 12" descr="E:\2016.01\1.12 扁平化图标\蓝色\AR-蓝色最新-40.png"/>
              <p:cNvPicPr>
                <a:picLocks noChangeAspect="1" noChangeArrowheads="1"/>
              </p:cNvPicPr>
              <p:nvPr/>
            </p:nvPicPr>
            <p:blipFill>
              <a:blip r:embed="rId4" cstate="print"/>
              <a:srcRect/>
              <a:stretch>
                <a:fillRect/>
              </a:stretch>
            </p:blipFill>
            <p:spPr bwMode="gray">
              <a:xfrm>
                <a:off x="5312873" y="4947622"/>
                <a:ext cx="540000" cy="441818"/>
              </a:xfrm>
              <a:prstGeom prst="rect">
                <a:avLst/>
              </a:prstGeom>
              <a:noFill/>
            </p:spPr>
          </p:pic>
          <p:sp>
            <p:nvSpPr>
              <p:cNvPr id="80" name="文本框 79"/>
              <p:cNvSpPr txBox="1"/>
              <p:nvPr/>
            </p:nvSpPr>
            <p:spPr bwMode="gray">
              <a:xfrm>
                <a:off x="5436839" y="5363771"/>
                <a:ext cx="292068"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57" name="组合 56"/>
            <p:cNvGrpSpPr/>
            <p:nvPr/>
          </p:nvGrpSpPr>
          <p:grpSpPr bwMode="gray">
            <a:xfrm>
              <a:off x="8062138" y="4424992"/>
              <a:ext cx="540000" cy="714804"/>
              <a:chOff x="8062138" y="4947622"/>
              <a:chExt cx="540000" cy="714804"/>
            </a:xfrm>
          </p:grpSpPr>
          <p:pic>
            <p:nvPicPr>
              <p:cNvPr id="61" name="Picture 12" descr="E:\2016.01\1.12 扁平化图标\蓝色\AR-蓝色最新-40.png"/>
              <p:cNvPicPr>
                <a:picLocks noChangeAspect="1" noChangeArrowheads="1"/>
              </p:cNvPicPr>
              <p:nvPr/>
            </p:nvPicPr>
            <p:blipFill>
              <a:blip r:embed="rId4" cstate="print"/>
              <a:srcRect/>
              <a:stretch>
                <a:fillRect/>
              </a:stretch>
            </p:blipFill>
            <p:spPr bwMode="gray">
              <a:xfrm>
                <a:off x="8062138" y="4947622"/>
                <a:ext cx="540000" cy="441818"/>
              </a:xfrm>
              <a:prstGeom prst="rect">
                <a:avLst/>
              </a:prstGeom>
              <a:noFill/>
            </p:spPr>
          </p:pic>
          <p:sp>
            <p:nvSpPr>
              <p:cNvPr id="70" name="文本框 69"/>
              <p:cNvSpPr txBox="1"/>
              <p:nvPr/>
            </p:nvSpPr>
            <p:spPr bwMode="gray">
              <a:xfrm>
                <a:off x="8084306" y="5354649"/>
                <a:ext cx="497252"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PE2</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58" name="组合 57"/>
            <p:cNvGrpSpPr/>
            <p:nvPr/>
          </p:nvGrpSpPr>
          <p:grpSpPr bwMode="gray">
            <a:xfrm>
              <a:off x="4088571" y="4424992"/>
              <a:ext cx="540000" cy="723926"/>
              <a:chOff x="4088571" y="4947622"/>
              <a:chExt cx="540000" cy="723926"/>
            </a:xfrm>
          </p:grpSpPr>
          <p:pic>
            <p:nvPicPr>
              <p:cNvPr id="59" name="Picture 12" descr="E:\2016.01\1.12 扁平化图标\蓝色\AR-蓝色最新-40.png"/>
              <p:cNvPicPr>
                <a:picLocks noChangeAspect="1" noChangeArrowheads="1"/>
              </p:cNvPicPr>
              <p:nvPr/>
            </p:nvPicPr>
            <p:blipFill>
              <a:blip r:embed="rId4" cstate="print"/>
              <a:srcRect/>
              <a:stretch>
                <a:fillRect/>
              </a:stretch>
            </p:blipFill>
            <p:spPr bwMode="gray">
              <a:xfrm>
                <a:off x="4088571" y="4947622"/>
                <a:ext cx="540000" cy="441818"/>
              </a:xfrm>
              <a:prstGeom prst="rect">
                <a:avLst/>
              </a:prstGeom>
              <a:noFill/>
            </p:spPr>
          </p:pic>
          <p:sp>
            <p:nvSpPr>
              <p:cNvPr id="60" name="文本框 59"/>
              <p:cNvSpPr txBox="1"/>
              <p:nvPr/>
            </p:nvSpPr>
            <p:spPr bwMode="gray">
              <a:xfrm>
                <a:off x="4109945" y="5363771"/>
                <a:ext cx="497252" cy="307777"/>
              </a:xfrm>
              <a:prstGeom prst="rect">
                <a:avLst/>
              </a:prstGeom>
              <a:noFill/>
            </p:spPr>
            <p:txBody>
              <a:bodyPr wrap="non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PE1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grpSp>
        <p:nvGrpSpPr>
          <p:cNvPr id="81" name="组合 80"/>
          <p:cNvGrpSpPr/>
          <p:nvPr/>
        </p:nvGrpSpPr>
        <p:grpSpPr bwMode="gray">
          <a:xfrm>
            <a:off x="2158869" y="4272637"/>
            <a:ext cx="550687" cy="712575"/>
            <a:chOff x="4073209" y="4947622"/>
            <a:chExt cx="550687" cy="712575"/>
          </a:xfrm>
        </p:grpSpPr>
        <p:pic>
          <p:nvPicPr>
            <p:cNvPr id="82" name="Picture 12" descr="E:\2016.01\1.12 扁平化图标\蓝色\AR-蓝色最新-40.png"/>
            <p:cNvPicPr>
              <a:picLocks noChangeAspect="1" noChangeArrowheads="1"/>
            </p:cNvPicPr>
            <p:nvPr/>
          </p:nvPicPr>
          <p:blipFill>
            <a:blip r:embed="rId4" cstate="print"/>
            <a:srcRect/>
            <a:stretch>
              <a:fillRect/>
            </a:stretch>
          </p:blipFill>
          <p:spPr bwMode="gray">
            <a:xfrm>
              <a:off x="4073209" y="4947622"/>
              <a:ext cx="540000" cy="441818"/>
            </a:xfrm>
            <a:prstGeom prst="rect">
              <a:avLst/>
            </a:prstGeom>
            <a:noFill/>
          </p:spPr>
        </p:pic>
        <p:sp>
          <p:nvSpPr>
            <p:cNvPr id="83" name="文本框 82"/>
            <p:cNvSpPr txBox="1"/>
            <p:nvPr/>
          </p:nvSpPr>
          <p:spPr bwMode="gray">
            <a:xfrm>
              <a:off x="4121835" y="5352420"/>
              <a:ext cx="50206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84" name="圆角矩形 83"/>
          <p:cNvSpPr/>
          <p:nvPr/>
        </p:nvSpPr>
        <p:spPr bwMode="gray">
          <a:xfrm>
            <a:off x="952500" y="4025063"/>
            <a:ext cx="1873049" cy="994971"/>
          </a:xfrm>
          <a:prstGeom prst="roundRect">
            <a:avLst/>
          </a:prstGeom>
          <a:noFill/>
          <a:ln w="25400">
            <a:solidFill>
              <a:srgbClr val="8BC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85" name="组合 84"/>
          <p:cNvGrpSpPr/>
          <p:nvPr/>
        </p:nvGrpSpPr>
        <p:grpSpPr bwMode="gray">
          <a:xfrm>
            <a:off x="2147045" y="5354017"/>
            <a:ext cx="575533" cy="706640"/>
            <a:chOff x="4073209" y="4947622"/>
            <a:chExt cx="575533" cy="706640"/>
          </a:xfrm>
        </p:grpSpPr>
        <p:pic>
          <p:nvPicPr>
            <p:cNvPr id="86" name="Picture 12" descr="E:\2016.01\1.12 扁平化图标\蓝色\AR-蓝色最新-40.png"/>
            <p:cNvPicPr>
              <a:picLocks noChangeAspect="1" noChangeArrowheads="1"/>
            </p:cNvPicPr>
            <p:nvPr/>
          </p:nvPicPr>
          <p:blipFill>
            <a:blip r:embed="rId4" cstate="print"/>
            <a:srcRect/>
            <a:stretch>
              <a:fillRect/>
            </a:stretch>
          </p:blipFill>
          <p:spPr bwMode="gray">
            <a:xfrm>
              <a:off x="4073209" y="4947622"/>
              <a:ext cx="540000" cy="441818"/>
            </a:xfrm>
            <a:prstGeom prst="rect">
              <a:avLst/>
            </a:prstGeom>
            <a:noFill/>
          </p:spPr>
        </p:pic>
        <p:sp>
          <p:nvSpPr>
            <p:cNvPr id="87" name="文本框 86"/>
            <p:cNvSpPr txBox="1"/>
            <p:nvPr/>
          </p:nvSpPr>
          <p:spPr bwMode="gray">
            <a:xfrm>
              <a:off x="4146681" y="5346485"/>
              <a:ext cx="50206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CE2</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88" name="圆角矩形 87"/>
          <p:cNvSpPr/>
          <p:nvPr/>
        </p:nvSpPr>
        <p:spPr bwMode="gray">
          <a:xfrm>
            <a:off x="952500" y="5106443"/>
            <a:ext cx="1873049" cy="994971"/>
          </a:xfrm>
          <a:prstGeom prst="roundRect">
            <a:avLst/>
          </a:prstGeom>
          <a:noFill/>
          <a:ln w="254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2" name="圆角矩形 91"/>
          <p:cNvSpPr/>
          <p:nvPr/>
        </p:nvSpPr>
        <p:spPr bwMode="gray">
          <a:xfrm flipH="1">
            <a:off x="9366451" y="4025063"/>
            <a:ext cx="1873049" cy="994971"/>
          </a:xfrm>
          <a:prstGeom prst="roundRect">
            <a:avLst/>
          </a:prstGeom>
          <a:noFill/>
          <a:ln w="25400">
            <a:solidFill>
              <a:srgbClr val="8BC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6" name="圆角矩形 95"/>
          <p:cNvSpPr/>
          <p:nvPr/>
        </p:nvSpPr>
        <p:spPr bwMode="gray">
          <a:xfrm flipH="1">
            <a:off x="9378275" y="5106443"/>
            <a:ext cx="1873049" cy="994971"/>
          </a:xfrm>
          <a:prstGeom prst="roundRect">
            <a:avLst/>
          </a:prstGeom>
          <a:noFill/>
          <a:ln w="254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97" name="直接连接符 96"/>
          <p:cNvCxnSpPr>
            <a:stCxn id="82" idx="3"/>
            <a:endCxn id="59" idx="1"/>
          </p:cNvCxnSpPr>
          <p:nvPr/>
        </p:nvCxnSpPr>
        <p:spPr bwMode="gray">
          <a:xfrm>
            <a:off x="2698869" y="4493546"/>
            <a:ext cx="1148029" cy="42208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a:stCxn id="86" idx="3"/>
            <a:endCxn id="59" idx="1"/>
          </p:cNvCxnSpPr>
          <p:nvPr/>
        </p:nvCxnSpPr>
        <p:spPr bwMode="gray">
          <a:xfrm flipV="1">
            <a:off x="2687045" y="4915630"/>
            <a:ext cx="1159853" cy="65929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直接连接符 98"/>
          <p:cNvCxnSpPr>
            <a:stCxn id="61" idx="3"/>
          </p:cNvCxnSpPr>
          <p:nvPr/>
        </p:nvCxnSpPr>
        <p:spPr bwMode="gray">
          <a:xfrm flipV="1">
            <a:off x="8360465" y="4493546"/>
            <a:ext cx="1132666" cy="42208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直接连接符 99"/>
          <p:cNvCxnSpPr>
            <a:stCxn id="61" idx="3"/>
          </p:cNvCxnSpPr>
          <p:nvPr/>
        </p:nvCxnSpPr>
        <p:spPr bwMode="gray">
          <a:xfrm>
            <a:off x="8360465" y="4915630"/>
            <a:ext cx="1144490" cy="65929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01" name="文本框 100"/>
          <p:cNvSpPr txBox="1"/>
          <p:nvPr/>
        </p:nvSpPr>
        <p:spPr bwMode="gray">
          <a:xfrm>
            <a:off x="881938" y="4143995"/>
            <a:ext cx="1215397"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192.168.1.0/24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2" name="文本框 101"/>
          <p:cNvSpPr txBox="1"/>
          <p:nvPr/>
        </p:nvSpPr>
        <p:spPr bwMode="gray">
          <a:xfrm>
            <a:off x="894774" y="5465428"/>
            <a:ext cx="1215397"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192.168.1.0/24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3" name="文本框 102"/>
          <p:cNvSpPr txBox="1"/>
          <p:nvPr/>
        </p:nvSpPr>
        <p:spPr bwMode="gray">
          <a:xfrm>
            <a:off x="924700" y="4668568"/>
            <a:ext cx="1124026" cy="350160"/>
          </a:xfrm>
          <a:prstGeom prst="rect">
            <a:avLst/>
          </a:prstGeom>
          <a:noFill/>
        </p:spPr>
        <p:txBody>
          <a:bodyPr wrap="none" rtlCol="0">
            <a:spAutoFit/>
          </a:bodyPr>
          <a:lstStyle/>
          <a:p>
            <a:pPr>
              <a:lnSpc>
                <a:spcPct val="130000"/>
              </a:lnSpc>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X</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A</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4" name="文本框 103"/>
          <p:cNvSpPr txBox="1"/>
          <p:nvPr/>
        </p:nvSpPr>
        <p:spPr bwMode="gray">
          <a:xfrm>
            <a:off x="924700" y="5788101"/>
            <a:ext cx="1112805" cy="350160"/>
          </a:xfrm>
          <a:prstGeom prst="rect">
            <a:avLst/>
          </a:prstGeom>
          <a:noFill/>
        </p:spPr>
        <p:txBody>
          <a:bodyPr wrap="none" rtlCol="0">
            <a:spAutoFit/>
          </a:bodyPr>
          <a:lstStyle/>
          <a:p>
            <a:pPr>
              <a:lnSpc>
                <a:spcPct val="130000"/>
              </a:lnSpc>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Y</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C</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5" name="文本框 104"/>
          <p:cNvSpPr txBox="1"/>
          <p:nvPr/>
        </p:nvSpPr>
        <p:spPr bwMode="gray">
          <a:xfrm>
            <a:off x="10119237" y="4647624"/>
            <a:ext cx="1114408" cy="350160"/>
          </a:xfrm>
          <a:prstGeom prst="rect">
            <a:avLst/>
          </a:prstGeom>
          <a:noFill/>
        </p:spPr>
        <p:txBody>
          <a:bodyPr wrap="none" rtlCol="0">
            <a:spAutoFit/>
          </a:bodyPr>
          <a:lstStyle/>
          <a:p>
            <a:pPr>
              <a:lnSpc>
                <a:spcPct val="130000"/>
              </a:lnSpc>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X</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B</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6" name="文本框 105"/>
          <p:cNvSpPr txBox="1"/>
          <p:nvPr/>
        </p:nvSpPr>
        <p:spPr bwMode="gray">
          <a:xfrm>
            <a:off x="10119237" y="5767157"/>
            <a:ext cx="1133644" cy="350160"/>
          </a:xfrm>
          <a:prstGeom prst="rect">
            <a:avLst/>
          </a:prstGeom>
          <a:noFill/>
        </p:spPr>
        <p:txBody>
          <a:bodyPr wrap="none" rtlCol="0">
            <a:spAutoFit/>
          </a:bodyPr>
          <a:lstStyle/>
          <a:p>
            <a:pPr>
              <a:lnSpc>
                <a:spcPct val="130000"/>
              </a:lnSpc>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Y</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3" name="组合 2"/>
          <p:cNvGrpSpPr/>
          <p:nvPr/>
        </p:nvGrpSpPr>
        <p:grpSpPr bwMode="gray">
          <a:xfrm>
            <a:off x="4404482" y="4772848"/>
            <a:ext cx="3415982" cy="338554"/>
            <a:chOff x="4404482" y="4846588"/>
            <a:chExt cx="3415982" cy="338554"/>
          </a:xfrm>
        </p:grpSpPr>
        <p:sp>
          <p:nvSpPr>
            <p:cNvPr id="115" name="Can 9"/>
            <p:cNvSpPr/>
            <p:nvPr/>
          </p:nvSpPr>
          <p:spPr bwMode="gray">
            <a:xfrm rot="5400000">
              <a:off x="5985875" y="3295836"/>
              <a:ext cx="253196" cy="3415982"/>
            </a:xfrm>
            <a:prstGeom prst="can">
              <a:avLst>
                <a:gd name="adj" fmla="val 40000"/>
              </a:avLst>
            </a:prstGeom>
            <a:solidFill>
              <a:srgbClr val="FFF2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文本框 1"/>
            <p:cNvSpPr txBox="1"/>
            <p:nvPr/>
          </p:nvSpPr>
          <p:spPr bwMode="gray">
            <a:xfrm>
              <a:off x="5627470" y="4846588"/>
              <a:ext cx="984565" cy="338554"/>
            </a:xfrm>
            <a:prstGeom prst="rect">
              <a:avLst/>
            </a:prstGeom>
            <a:noFill/>
          </p:spPr>
          <p:txBody>
            <a:bodyPr wrap="none" rtlCol="0">
              <a:spAutoFit/>
            </a:bodyPr>
            <a:lstStyle/>
            <a:p>
              <a:r>
                <a:rPr lang="en-US" altLang="zh-CN" sz="1600" b="1" dirty="0" smtClean="0">
                  <a:latin typeface="Huawei Sans" panose="020C0503030203020204" pitchFamily="34" charset="0"/>
                  <a:ea typeface="方正兰亭黑简体" panose="02000000000000000000" pitchFamily="2" charset="-122"/>
                  <a:sym typeface="Huawei Sans" panose="020C0503030203020204" pitchFamily="34" charset="0"/>
                </a:rPr>
                <a:t>MP-BGP</a:t>
              </a:r>
              <a:endPar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19" name="Text Box 19"/>
          <p:cNvSpPr txBox="1">
            <a:spLocks noChangeArrowheads="1"/>
          </p:cNvSpPr>
          <p:nvPr/>
        </p:nvSpPr>
        <p:spPr bwMode="gray">
          <a:xfrm>
            <a:off x="4621251" y="3660360"/>
            <a:ext cx="2949499" cy="307777"/>
          </a:xfrm>
          <a:prstGeom prst="rect">
            <a:avLst/>
          </a:prstGeom>
          <a:solidFill>
            <a:srgbClr val="EC7061"/>
          </a:solidFill>
          <a:ln w="19050">
            <a:solidFill>
              <a:srgbClr val="EC7061"/>
            </a:solidFill>
            <a:miter lim="800000"/>
            <a:headEnd/>
            <a:tailEnd/>
          </a:ln>
          <a:effectLst/>
          <a:extLst/>
        </p:spPr>
        <p:txBody>
          <a:bodyPr wrap="square" anchor="ctr" anchorCtr="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PE</a:t>
            </a:r>
            <a:r>
              <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之间如何传递</a:t>
            </a: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VPNv4</a:t>
            </a:r>
            <a:r>
              <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路由</a:t>
            </a:r>
          </a:p>
        </p:txBody>
      </p:sp>
      <p:cxnSp>
        <p:nvCxnSpPr>
          <p:cNvPr id="120" name="直接连接符 119"/>
          <p:cNvCxnSpPr>
            <a:stCxn id="119" idx="2"/>
            <a:endCxn id="59" idx="0"/>
          </p:cNvCxnSpPr>
          <p:nvPr/>
        </p:nvCxnSpPr>
        <p:spPr bwMode="gray">
          <a:xfrm flipH="1">
            <a:off x="4116898" y="3968137"/>
            <a:ext cx="1979103" cy="726584"/>
          </a:xfrm>
          <a:prstGeom prst="line">
            <a:avLst/>
          </a:prstGeom>
          <a:ln w="12700">
            <a:solidFill>
              <a:srgbClr val="EC7061"/>
            </a:solidFill>
            <a:prstDash val="lgDashDotDot"/>
          </a:ln>
        </p:spPr>
        <p:style>
          <a:lnRef idx="1">
            <a:schemeClr val="accent1"/>
          </a:lnRef>
          <a:fillRef idx="0">
            <a:schemeClr val="accent1"/>
          </a:fillRef>
          <a:effectRef idx="0">
            <a:schemeClr val="accent1"/>
          </a:effectRef>
          <a:fontRef idx="minor">
            <a:schemeClr val="tx1"/>
          </a:fontRef>
        </p:style>
      </p:cxnSp>
      <p:cxnSp>
        <p:nvCxnSpPr>
          <p:cNvPr id="121" name="直接连接符 120"/>
          <p:cNvCxnSpPr>
            <a:stCxn id="119" idx="2"/>
            <a:endCxn id="61" idx="0"/>
          </p:cNvCxnSpPr>
          <p:nvPr/>
        </p:nvCxnSpPr>
        <p:spPr bwMode="gray">
          <a:xfrm>
            <a:off x="6096001" y="3968137"/>
            <a:ext cx="1994464" cy="726584"/>
          </a:xfrm>
          <a:prstGeom prst="line">
            <a:avLst/>
          </a:prstGeom>
          <a:ln w="12700">
            <a:solidFill>
              <a:srgbClr val="EC7061"/>
            </a:solidFill>
            <a:prstDash val="lgDashDotDot"/>
          </a:ln>
        </p:spPr>
        <p:style>
          <a:lnRef idx="1">
            <a:schemeClr val="accent1"/>
          </a:lnRef>
          <a:fillRef idx="0">
            <a:schemeClr val="accent1"/>
          </a:fillRef>
          <a:effectRef idx="0">
            <a:schemeClr val="accent1"/>
          </a:effectRef>
          <a:fontRef idx="minor">
            <a:schemeClr val="tx1"/>
          </a:fontRef>
        </p:style>
      </p:cxnSp>
      <p:grpSp>
        <p:nvGrpSpPr>
          <p:cNvPr id="49" name="组合 48"/>
          <p:cNvGrpSpPr/>
          <p:nvPr/>
        </p:nvGrpSpPr>
        <p:grpSpPr bwMode="gray">
          <a:xfrm>
            <a:off x="9493131" y="4272637"/>
            <a:ext cx="540000" cy="723926"/>
            <a:chOff x="4073209" y="4947622"/>
            <a:chExt cx="540000" cy="723926"/>
          </a:xfrm>
        </p:grpSpPr>
        <p:pic>
          <p:nvPicPr>
            <p:cNvPr id="50" name="Picture 12" descr="E:\2016.01\1.12 扁平化图标\蓝色\AR-蓝色最新-40.png"/>
            <p:cNvPicPr>
              <a:picLocks noChangeAspect="1" noChangeArrowheads="1"/>
            </p:cNvPicPr>
            <p:nvPr/>
          </p:nvPicPr>
          <p:blipFill>
            <a:blip r:embed="rId4" cstate="print"/>
            <a:srcRect/>
            <a:stretch>
              <a:fillRect/>
            </a:stretch>
          </p:blipFill>
          <p:spPr bwMode="gray">
            <a:xfrm>
              <a:off x="4073209" y="4947622"/>
              <a:ext cx="540000" cy="441818"/>
            </a:xfrm>
            <a:prstGeom prst="rect">
              <a:avLst/>
            </a:prstGeom>
            <a:noFill/>
          </p:spPr>
        </p:pic>
        <p:sp>
          <p:nvSpPr>
            <p:cNvPr id="52" name="文本框 51"/>
            <p:cNvSpPr txBox="1"/>
            <p:nvPr/>
          </p:nvSpPr>
          <p:spPr bwMode="gray">
            <a:xfrm>
              <a:off x="4086262" y="5363771"/>
              <a:ext cx="50206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CE3</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62" name="组合 61"/>
          <p:cNvGrpSpPr/>
          <p:nvPr/>
        </p:nvGrpSpPr>
        <p:grpSpPr bwMode="gray">
          <a:xfrm>
            <a:off x="9504955" y="5354017"/>
            <a:ext cx="552270" cy="723926"/>
            <a:chOff x="4060939" y="4947622"/>
            <a:chExt cx="552270" cy="723926"/>
          </a:xfrm>
        </p:grpSpPr>
        <p:pic>
          <p:nvPicPr>
            <p:cNvPr id="63" name="Picture 12" descr="E:\2016.01\1.12 扁平化图标\蓝色\AR-蓝色最新-40.png"/>
            <p:cNvPicPr>
              <a:picLocks noChangeAspect="1" noChangeArrowheads="1"/>
            </p:cNvPicPr>
            <p:nvPr/>
          </p:nvPicPr>
          <p:blipFill>
            <a:blip r:embed="rId4" cstate="print"/>
            <a:srcRect/>
            <a:stretch>
              <a:fillRect/>
            </a:stretch>
          </p:blipFill>
          <p:spPr bwMode="gray">
            <a:xfrm>
              <a:off x="4073209" y="4947622"/>
              <a:ext cx="540000" cy="441818"/>
            </a:xfrm>
            <a:prstGeom prst="rect">
              <a:avLst/>
            </a:prstGeom>
            <a:noFill/>
          </p:spPr>
        </p:pic>
        <p:sp>
          <p:nvSpPr>
            <p:cNvPr id="64" name="文本框 63"/>
            <p:cNvSpPr txBox="1"/>
            <p:nvPr/>
          </p:nvSpPr>
          <p:spPr bwMode="gray">
            <a:xfrm>
              <a:off x="4060939" y="5363771"/>
              <a:ext cx="50206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CE4</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Tree>
    <p:custDataLst>
      <p:tags r:id="rId1"/>
    </p:custDataLst>
    <p:extLst>
      <p:ext uri="{BB962C8B-B14F-4D97-AF65-F5344CB8AC3E}">
        <p14:creationId xmlns:p14="http://schemas.microsoft.com/office/powerpoint/2010/main" val="4116751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21"/>
                                        </p:tgtEl>
                                        <p:attrNameLst>
                                          <p:attrName>style.visibility</p:attrName>
                                        </p:attrNameLst>
                                      </p:cBhvr>
                                      <p:to>
                                        <p:strVal val="visible"/>
                                      </p:to>
                                    </p:set>
                                    <p:animEffect transition="in" filter="barn(inVertical)">
                                      <p:cBhvr>
                                        <p:cTn id="7" dur="500"/>
                                        <p:tgtEl>
                                          <p:spTgt spid="121"/>
                                        </p:tgtEl>
                                      </p:cBhvr>
                                    </p:animEffect>
                                  </p:childTnLst>
                                </p:cTn>
                              </p:par>
                              <p:par>
                                <p:cTn id="8" presetID="16" presetClass="entr" presetSubtype="21" fill="hold" nodeType="withEffect">
                                  <p:stCondLst>
                                    <p:cond delay="0"/>
                                  </p:stCondLst>
                                  <p:childTnLst>
                                    <p:set>
                                      <p:cBhvr>
                                        <p:cTn id="9" dur="1" fill="hold">
                                          <p:stCondLst>
                                            <p:cond delay="0"/>
                                          </p:stCondLst>
                                        </p:cTn>
                                        <p:tgtEl>
                                          <p:spTgt spid="120"/>
                                        </p:tgtEl>
                                        <p:attrNameLst>
                                          <p:attrName>style.visibility</p:attrName>
                                        </p:attrNameLst>
                                      </p:cBhvr>
                                      <p:to>
                                        <p:strVal val="visible"/>
                                      </p:to>
                                    </p:set>
                                    <p:animEffect transition="in" filter="barn(inVertical)">
                                      <p:cBhvr>
                                        <p:cTn id="10" dur="500"/>
                                        <p:tgtEl>
                                          <p:spTgt spid="120"/>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119"/>
                                        </p:tgtEl>
                                        <p:attrNameLst>
                                          <p:attrName>style.visibility</p:attrName>
                                        </p:attrNameLst>
                                      </p:cBhvr>
                                      <p:to>
                                        <p:strVal val="visible"/>
                                      </p:to>
                                    </p:set>
                                    <p:animEffect transition="in" filter="barn(inVertical)">
                                      <p:cBhvr>
                                        <p:cTn id="13" dur="500"/>
                                        <p:tgtEl>
                                          <p:spTgt spid="119"/>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barn(inVertical)">
                                      <p:cBhvr>
                                        <p:cTn id="1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smtClean="0">
                <a:sym typeface="Huawei Sans" panose="020C0503030203020204" pitchFamily="34" charset="0"/>
              </a:rPr>
              <a:t>MP-BGP</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bwMode="gray"/>
        <p:txBody>
          <a:bodyPr/>
          <a:lstStyle/>
          <a:p>
            <a:r>
              <a:rPr lang="zh-CN" altLang="en-US" sz="1600" dirty="0" smtClean="0">
                <a:sym typeface="Huawei Sans" panose="020C0503030203020204" pitchFamily="34" charset="0"/>
              </a:rPr>
              <a:t>为了正确处理</a:t>
            </a:r>
            <a:r>
              <a:rPr lang="en-US" altLang="zh-CN" sz="1600" dirty="0" smtClean="0">
                <a:sym typeface="Huawei Sans" panose="020C0503030203020204" pitchFamily="34" charset="0"/>
              </a:rPr>
              <a:t>VPN</a:t>
            </a:r>
            <a:r>
              <a:rPr lang="zh-CN" altLang="en-US" sz="1600" dirty="0" smtClean="0">
                <a:sym typeface="Huawei Sans" panose="020C0503030203020204" pitchFamily="34" charset="0"/>
              </a:rPr>
              <a:t>路由，</a:t>
            </a:r>
            <a:r>
              <a:rPr lang="en-US" altLang="zh-CN" sz="1600" dirty="0" smtClean="0">
                <a:sym typeface="Huawei Sans" panose="020C0503030203020204" pitchFamily="34" charset="0"/>
              </a:rPr>
              <a:t>MPLS VPN</a:t>
            </a:r>
            <a:r>
              <a:rPr lang="zh-CN" altLang="en-US" sz="1600" dirty="0" smtClean="0">
                <a:sym typeface="Huawei Sans" panose="020C0503030203020204" pitchFamily="34" charset="0"/>
              </a:rPr>
              <a:t>使用</a:t>
            </a:r>
            <a:r>
              <a:rPr lang="en-US" altLang="zh-CN" sz="1600" dirty="0" smtClean="0">
                <a:sym typeface="Huawei Sans" panose="020C0503030203020204" pitchFamily="34" charset="0"/>
              </a:rPr>
              <a:t>RFC2858</a:t>
            </a:r>
            <a:r>
              <a:rPr lang="zh-CN" altLang="en-US" sz="1600" dirty="0" smtClean="0">
                <a:sym typeface="Huawei Sans" panose="020C0503030203020204" pitchFamily="34" charset="0"/>
              </a:rPr>
              <a:t>（</a:t>
            </a:r>
            <a:r>
              <a:rPr lang="en-US" altLang="zh-CN" sz="1600" dirty="0" smtClean="0">
                <a:sym typeface="Huawei Sans" panose="020C0503030203020204" pitchFamily="34" charset="0"/>
              </a:rPr>
              <a:t>Multiprotocol Extensions for BGP-4</a:t>
            </a:r>
            <a:r>
              <a:rPr lang="zh-CN" altLang="en-US" sz="1600" dirty="0" smtClean="0">
                <a:sym typeface="Huawei Sans" panose="020C0503030203020204" pitchFamily="34" charset="0"/>
              </a:rPr>
              <a:t>）中规定的</a:t>
            </a:r>
            <a:r>
              <a:rPr lang="en-US" altLang="zh-CN" sz="1600" dirty="0" smtClean="0">
                <a:sym typeface="Huawei Sans" panose="020C0503030203020204" pitchFamily="34" charset="0"/>
              </a:rPr>
              <a:t>MP-BGP</a:t>
            </a:r>
            <a:r>
              <a:rPr lang="zh-CN" altLang="en-US" sz="1600" dirty="0" smtClean="0">
                <a:sym typeface="Huawei Sans" panose="020C0503030203020204" pitchFamily="34" charset="0"/>
              </a:rPr>
              <a:t>，即</a:t>
            </a:r>
            <a:r>
              <a:rPr lang="en-US" altLang="zh-CN" sz="1600" dirty="0" smtClean="0">
                <a:sym typeface="Huawei Sans" panose="020C0503030203020204" pitchFamily="34" charset="0"/>
              </a:rPr>
              <a:t>BGP-4</a:t>
            </a:r>
            <a:r>
              <a:rPr lang="zh-CN" altLang="en-US" sz="1600" dirty="0" smtClean="0">
                <a:sym typeface="Huawei Sans" panose="020C0503030203020204" pitchFamily="34" charset="0"/>
              </a:rPr>
              <a:t>的多协议扩展。</a:t>
            </a:r>
            <a:endParaRPr lang="en-US" altLang="zh-CN" sz="1600" dirty="0" smtClean="0">
              <a:sym typeface="Huawei Sans" panose="020C0503030203020204" pitchFamily="34" charset="0"/>
            </a:endParaRPr>
          </a:p>
          <a:p>
            <a:r>
              <a:rPr lang="en-US" altLang="zh-CN" sz="1600" dirty="0" smtClean="0">
                <a:sym typeface="Huawei Sans" panose="020C0503030203020204" pitchFamily="34" charset="0"/>
              </a:rPr>
              <a:t>MP-BGP</a:t>
            </a:r>
            <a:r>
              <a:rPr lang="zh-CN" altLang="en-US" sz="1600" dirty="0" smtClean="0">
                <a:sym typeface="Huawei Sans" panose="020C0503030203020204" pitchFamily="34" charset="0"/>
              </a:rPr>
              <a:t>采用地址族来区分不同的网络层协议，既可以支持传统的</a:t>
            </a:r>
            <a:r>
              <a:rPr lang="en-US" altLang="zh-CN" sz="1600" dirty="0" smtClean="0">
                <a:sym typeface="Huawei Sans" panose="020C0503030203020204" pitchFamily="34" charset="0"/>
              </a:rPr>
              <a:t>IPv4</a:t>
            </a:r>
            <a:r>
              <a:rPr lang="zh-CN" altLang="en-US" sz="1600" dirty="0" smtClean="0">
                <a:sym typeface="Huawei Sans" panose="020C0503030203020204" pitchFamily="34" charset="0"/>
              </a:rPr>
              <a:t>地址族，又可以支持其它地址族（比如</a:t>
            </a:r>
            <a:r>
              <a:rPr lang="en-US" altLang="zh-CN" sz="1600" dirty="0" smtClean="0">
                <a:sym typeface="Huawei Sans" panose="020C0503030203020204" pitchFamily="34" charset="0"/>
              </a:rPr>
              <a:t>VPN-IPv4</a:t>
            </a:r>
            <a:r>
              <a:rPr lang="zh-CN" altLang="en-US" sz="1600" dirty="0" smtClean="0">
                <a:sym typeface="Huawei Sans" panose="020C0503030203020204" pitchFamily="34" charset="0"/>
              </a:rPr>
              <a:t>地址族、</a:t>
            </a:r>
            <a:r>
              <a:rPr lang="en-US" altLang="zh-CN" sz="1600" dirty="0" smtClean="0">
                <a:sym typeface="Huawei Sans" panose="020C0503030203020204" pitchFamily="34" charset="0"/>
              </a:rPr>
              <a:t>IPv6</a:t>
            </a:r>
            <a:r>
              <a:rPr lang="zh-CN" altLang="en-US" sz="1600" dirty="0" smtClean="0">
                <a:sym typeface="Huawei Sans" panose="020C0503030203020204" pitchFamily="34" charset="0"/>
              </a:rPr>
              <a:t>地址族等）。</a:t>
            </a:r>
            <a:endParaRPr lang="en-US" altLang="zh-CN" sz="1600" dirty="0" smtClean="0">
              <a:sym typeface="Huawei Sans" panose="020C0503030203020204" pitchFamily="34" charset="0"/>
            </a:endParaRPr>
          </a:p>
          <a:p>
            <a:r>
              <a:rPr lang="en-US" altLang="zh-CN" sz="1600" dirty="0" smtClean="0">
                <a:sym typeface="Huawei Sans" panose="020C0503030203020204" pitchFamily="34" charset="0"/>
              </a:rPr>
              <a:t>MP-BGP</a:t>
            </a:r>
            <a:r>
              <a:rPr lang="zh-CN" altLang="en-US" sz="1600" dirty="0" smtClean="0">
                <a:sym typeface="Huawei Sans" panose="020C0503030203020204" pitchFamily="34" charset="0"/>
              </a:rPr>
              <a:t>新增了两种路径属性：</a:t>
            </a:r>
            <a:endParaRPr lang="en-US" altLang="zh-CN" sz="1600" dirty="0" smtClean="0">
              <a:sym typeface="Huawei Sans" panose="020C0503030203020204" pitchFamily="34" charset="0"/>
            </a:endParaRPr>
          </a:p>
          <a:p>
            <a:pPr lvl="1"/>
            <a:r>
              <a:rPr lang="en-US" altLang="zh-CN" sz="1400" dirty="0" smtClean="0">
                <a:sym typeface="Huawei Sans" panose="020C0503030203020204" pitchFamily="34" charset="0"/>
              </a:rPr>
              <a:t>MP_REACH_NLRI</a:t>
            </a:r>
            <a:r>
              <a:rPr lang="zh-CN" altLang="en-US" sz="1400" dirty="0" smtClean="0">
                <a:sym typeface="Huawei Sans" panose="020C0503030203020204" pitchFamily="34" charset="0"/>
              </a:rPr>
              <a:t>：</a:t>
            </a:r>
            <a:r>
              <a:rPr lang="en-US" altLang="zh-CN" sz="1400" dirty="0" smtClean="0">
                <a:sym typeface="Huawei Sans" panose="020C0503030203020204" pitchFamily="34" charset="0"/>
              </a:rPr>
              <a:t>Multiprotocol Reachable NLRI</a:t>
            </a:r>
            <a:r>
              <a:rPr lang="zh-CN" altLang="en-US" sz="1400" dirty="0" smtClean="0">
                <a:sym typeface="Huawei Sans" panose="020C0503030203020204" pitchFamily="34" charset="0"/>
              </a:rPr>
              <a:t>，多协议可达</a:t>
            </a:r>
            <a:r>
              <a:rPr lang="en-US" altLang="zh-CN" sz="1400" dirty="0" smtClean="0">
                <a:sym typeface="Huawei Sans" panose="020C0503030203020204" pitchFamily="34" charset="0"/>
              </a:rPr>
              <a:t>NLRI</a:t>
            </a:r>
            <a:r>
              <a:rPr lang="zh-CN" altLang="en-US" sz="1400" dirty="0" smtClean="0">
                <a:sym typeface="Huawei Sans" panose="020C0503030203020204" pitchFamily="34" charset="0"/>
              </a:rPr>
              <a:t>。用于发布可达路由及下一跳信息。</a:t>
            </a:r>
          </a:p>
          <a:p>
            <a:pPr lvl="1"/>
            <a:r>
              <a:rPr lang="en-US" altLang="zh-CN" sz="1400" dirty="0" smtClean="0">
                <a:sym typeface="Huawei Sans" panose="020C0503030203020204" pitchFamily="34" charset="0"/>
              </a:rPr>
              <a:t>MP_UNREACH_NLRI</a:t>
            </a:r>
            <a:r>
              <a:rPr lang="zh-CN" altLang="en-US" sz="1400" dirty="0" smtClean="0">
                <a:sym typeface="Huawei Sans" panose="020C0503030203020204" pitchFamily="34" charset="0"/>
              </a:rPr>
              <a:t>：</a:t>
            </a:r>
            <a:r>
              <a:rPr lang="en-US" altLang="zh-CN" sz="1400" dirty="0" smtClean="0">
                <a:sym typeface="Huawei Sans" panose="020C0503030203020204" pitchFamily="34" charset="0"/>
              </a:rPr>
              <a:t>Multiprotocol Unreachable NLRI</a:t>
            </a:r>
            <a:r>
              <a:rPr lang="zh-CN" altLang="en-US" sz="1400" dirty="0" smtClean="0">
                <a:sym typeface="Huawei Sans" panose="020C0503030203020204" pitchFamily="34" charset="0"/>
              </a:rPr>
              <a:t>，多协议不可达</a:t>
            </a:r>
            <a:r>
              <a:rPr lang="en-US" altLang="zh-CN" sz="1400" dirty="0" smtClean="0">
                <a:sym typeface="Huawei Sans" panose="020C0503030203020204" pitchFamily="34" charset="0"/>
              </a:rPr>
              <a:t>NLRI</a:t>
            </a:r>
            <a:r>
              <a:rPr lang="zh-CN" altLang="en-US" sz="1400" dirty="0" smtClean="0">
                <a:sym typeface="Huawei Sans" panose="020C0503030203020204" pitchFamily="34" charset="0"/>
              </a:rPr>
              <a:t>。用于撤销不可达路由。</a:t>
            </a:r>
          </a:p>
          <a:p>
            <a:pPr lvl="1"/>
            <a:endParaRPr lang="zh-CN" altLang="en-US" sz="1400" dirty="0">
              <a:sym typeface="Huawei Sans" panose="020C0503030203020204" pitchFamily="34" charset="0"/>
            </a:endParaRPr>
          </a:p>
        </p:txBody>
      </p:sp>
      <p:sp>
        <p:nvSpPr>
          <p:cNvPr id="8" name="任意多边形 7"/>
          <p:cNvSpPr/>
          <p:nvPr/>
        </p:nvSpPr>
        <p:spPr bwMode="gray">
          <a:xfrm>
            <a:off x="2833027" y="4035327"/>
            <a:ext cx="2631688" cy="583580"/>
          </a:xfrm>
          <a:custGeom>
            <a:avLst/>
            <a:gdLst>
              <a:gd name="connsiteX0" fmla="*/ 0 w 2631688"/>
              <a:gd name="connsiteY0" fmla="*/ 0 h 583580"/>
              <a:gd name="connsiteX1" fmla="*/ 2631688 w 2631688"/>
              <a:gd name="connsiteY1" fmla="*/ 0 h 583580"/>
              <a:gd name="connsiteX2" fmla="*/ 2631688 w 2631688"/>
              <a:gd name="connsiteY2" fmla="*/ 583580 h 583580"/>
              <a:gd name="connsiteX3" fmla="*/ 0 w 2631688"/>
              <a:gd name="connsiteY3" fmla="*/ 583580 h 583580"/>
            </a:gdLst>
            <a:ahLst/>
            <a:cxnLst>
              <a:cxn ang="0">
                <a:pos x="connsiteX0" y="connsiteY0"/>
              </a:cxn>
              <a:cxn ang="0">
                <a:pos x="connsiteX1" y="connsiteY1"/>
              </a:cxn>
              <a:cxn ang="0">
                <a:pos x="connsiteX2" y="connsiteY2"/>
              </a:cxn>
              <a:cxn ang="0">
                <a:pos x="connsiteX3" y="connsiteY3"/>
              </a:cxn>
            </a:cxnLst>
            <a:rect l="l" t="t" r="r" b="b"/>
            <a:pathLst>
              <a:path w="2631688" h="583580">
                <a:moveTo>
                  <a:pt x="0" y="0"/>
                </a:moveTo>
                <a:lnTo>
                  <a:pt x="2631688" y="0"/>
                </a:lnTo>
                <a:lnTo>
                  <a:pt x="2631688" y="583580"/>
                </a:lnTo>
                <a:lnTo>
                  <a:pt x="0" y="583580"/>
                </a:lnTo>
                <a:close/>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任意多边形 10"/>
          <p:cNvSpPr/>
          <p:nvPr/>
        </p:nvSpPr>
        <p:spPr bwMode="gray">
          <a:xfrm>
            <a:off x="2833027" y="4618907"/>
            <a:ext cx="2631688" cy="583581"/>
          </a:xfrm>
          <a:custGeom>
            <a:avLst/>
            <a:gdLst>
              <a:gd name="connsiteX0" fmla="*/ 0 w 2631688"/>
              <a:gd name="connsiteY0" fmla="*/ 0 h 583581"/>
              <a:gd name="connsiteX1" fmla="*/ 2631688 w 2631688"/>
              <a:gd name="connsiteY1" fmla="*/ 0 h 583581"/>
              <a:gd name="connsiteX2" fmla="*/ 2631688 w 2631688"/>
              <a:gd name="connsiteY2" fmla="*/ 583581 h 583581"/>
              <a:gd name="connsiteX3" fmla="*/ 0 w 2631688"/>
              <a:gd name="connsiteY3" fmla="*/ 583581 h 583581"/>
            </a:gdLst>
            <a:ahLst/>
            <a:cxnLst>
              <a:cxn ang="0">
                <a:pos x="connsiteX0" y="connsiteY0"/>
              </a:cxn>
              <a:cxn ang="0">
                <a:pos x="connsiteX1" y="connsiteY1"/>
              </a:cxn>
              <a:cxn ang="0">
                <a:pos x="connsiteX2" y="connsiteY2"/>
              </a:cxn>
              <a:cxn ang="0">
                <a:pos x="connsiteX3" y="connsiteY3"/>
              </a:cxn>
            </a:cxnLst>
            <a:rect l="l" t="t" r="r" b="b"/>
            <a:pathLst>
              <a:path w="2631688" h="583581">
                <a:moveTo>
                  <a:pt x="0" y="0"/>
                </a:moveTo>
                <a:lnTo>
                  <a:pt x="2631688" y="0"/>
                </a:lnTo>
                <a:lnTo>
                  <a:pt x="2631688" y="583581"/>
                </a:lnTo>
                <a:lnTo>
                  <a:pt x="0" y="583581"/>
                </a:lnTo>
                <a:close/>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任意多边形 13"/>
          <p:cNvSpPr/>
          <p:nvPr/>
        </p:nvSpPr>
        <p:spPr bwMode="gray">
          <a:xfrm>
            <a:off x="2833027" y="5202488"/>
            <a:ext cx="2631688" cy="583580"/>
          </a:xfrm>
          <a:custGeom>
            <a:avLst/>
            <a:gdLst>
              <a:gd name="connsiteX0" fmla="*/ 0 w 2631688"/>
              <a:gd name="connsiteY0" fmla="*/ 0 h 583580"/>
              <a:gd name="connsiteX1" fmla="*/ 2631688 w 2631688"/>
              <a:gd name="connsiteY1" fmla="*/ 0 h 583580"/>
              <a:gd name="connsiteX2" fmla="*/ 2631688 w 2631688"/>
              <a:gd name="connsiteY2" fmla="*/ 583580 h 583580"/>
              <a:gd name="connsiteX3" fmla="*/ 0 w 2631688"/>
              <a:gd name="connsiteY3" fmla="*/ 583580 h 583580"/>
            </a:gdLst>
            <a:ahLst/>
            <a:cxnLst>
              <a:cxn ang="0">
                <a:pos x="connsiteX0" y="connsiteY0"/>
              </a:cxn>
              <a:cxn ang="0">
                <a:pos x="connsiteX1" y="connsiteY1"/>
              </a:cxn>
              <a:cxn ang="0">
                <a:pos x="connsiteX2" y="connsiteY2"/>
              </a:cxn>
              <a:cxn ang="0">
                <a:pos x="connsiteX3" y="connsiteY3"/>
              </a:cxn>
            </a:cxnLst>
            <a:rect l="l" t="t" r="r" b="b"/>
            <a:pathLst>
              <a:path w="2631688" h="583580">
                <a:moveTo>
                  <a:pt x="0" y="0"/>
                </a:moveTo>
                <a:lnTo>
                  <a:pt x="2631688" y="0"/>
                </a:lnTo>
                <a:lnTo>
                  <a:pt x="2631688" y="583580"/>
                </a:lnTo>
                <a:lnTo>
                  <a:pt x="0" y="583580"/>
                </a:lnTo>
                <a:close/>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文本框 12"/>
          <p:cNvSpPr txBox="1"/>
          <p:nvPr/>
        </p:nvSpPr>
        <p:spPr bwMode="gray">
          <a:xfrm>
            <a:off x="3440985" y="4142451"/>
            <a:ext cx="1415772" cy="338554"/>
          </a:xfrm>
          <a:prstGeom prst="rect">
            <a:avLst/>
          </a:prstGeom>
          <a:noFill/>
        </p:spPr>
        <p:txBody>
          <a:bodyPr wrap="none" rtlCol="0">
            <a:spAutoFit/>
          </a:bodyPr>
          <a:lstStyle/>
          <a:p>
            <a:pPr algn="ct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地址族信息域</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文本框 15"/>
          <p:cNvSpPr txBox="1"/>
          <p:nvPr/>
        </p:nvSpPr>
        <p:spPr bwMode="gray">
          <a:xfrm>
            <a:off x="3440985" y="4726031"/>
            <a:ext cx="1415772" cy="338554"/>
          </a:xfrm>
          <a:prstGeom prst="rect">
            <a:avLst/>
          </a:prstGeom>
          <a:noFill/>
        </p:spPr>
        <p:txBody>
          <a:bodyPr wrap="none" rtlCol="0">
            <a:spAutoFit/>
          </a:bodyPr>
          <a:lstStyle/>
          <a:p>
            <a:pPr algn="ct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下一跳信息域</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文本框 16"/>
          <p:cNvSpPr txBox="1"/>
          <p:nvPr/>
        </p:nvSpPr>
        <p:spPr bwMode="gray">
          <a:xfrm>
            <a:off x="3731930" y="5313105"/>
            <a:ext cx="833883" cy="338554"/>
          </a:xfrm>
          <a:prstGeom prst="rect">
            <a:avLst/>
          </a:prstGeom>
          <a:noFill/>
        </p:spPr>
        <p:txBody>
          <a:bodyPr wrap="none" rtlCol="0">
            <a:spAutoFit/>
          </a:bodyPr>
          <a:lstStyle/>
          <a:p>
            <a:pPr algn="ctr"/>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NLRI</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域</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文本框 14"/>
          <p:cNvSpPr txBox="1"/>
          <p:nvPr/>
        </p:nvSpPr>
        <p:spPr bwMode="gray">
          <a:xfrm>
            <a:off x="2910391" y="5804205"/>
            <a:ext cx="2476960" cy="307777"/>
          </a:xfrm>
          <a:prstGeom prst="rect">
            <a:avLst/>
          </a:prstGeom>
          <a:noFill/>
        </p:spPr>
        <p:txBody>
          <a:bodyPr wrap="none" rtlCol="0">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MP_REACH_NLRI</a:t>
            </a:r>
            <a:r>
              <a:rPr lang="zh-CN" altLang="zh-CN" sz="1400" dirty="0">
                <a:latin typeface="Huawei Sans" panose="020C0503030203020204" pitchFamily="34" charset="0"/>
                <a:ea typeface="方正兰亭黑简体" panose="02000000000000000000" pitchFamily="2" charset="-122"/>
                <a:sym typeface="Huawei Sans" panose="020C0503030203020204" pitchFamily="34" charset="0"/>
              </a:rPr>
              <a:t>属性的</a:t>
            </a:r>
            <a:r>
              <a:rPr lang="zh-CN"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格式</a:t>
            </a:r>
            <a:endParaRPr lang="zh-CN"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任意多边形 18"/>
          <p:cNvSpPr/>
          <p:nvPr/>
        </p:nvSpPr>
        <p:spPr bwMode="gray">
          <a:xfrm>
            <a:off x="6153906" y="4038821"/>
            <a:ext cx="2631688" cy="583580"/>
          </a:xfrm>
          <a:custGeom>
            <a:avLst/>
            <a:gdLst>
              <a:gd name="connsiteX0" fmla="*/ 0 w 2631688"/>
              <a:gd name="connsiteY0" fmla="*/ 0 h 583580"/>
              <a:gd name="connsiteX1" fmla="*/ 2631688 w 2631688"/>
              <a:gd name="connsiteY1" fmla="*/ 0 h 583580"/>
              <a:gd name="connsiteX2" fmla="*/ 2631688 w 2631688"/>
              <a:gd name="connsiteY2" fmla="*/ 583580 h 583580"/>
              <a:gd name="connsiteX3" fmla="*/ 0 w 2631688"/>
              <a:gd name="connsiteY3" fmla="*/ 583580 h 583580"/>
            </a:gdLst>
            <a:ahLst/>
            <a:cxnLst>
              <a:cxn ang="0">
                <a:pos x="connsiteX0" y="connsiteY0"/>
              </a:cxn>
              <a:cxn ang="0">
                <a:pos x="connsiteX1" y="connsiteY1"/>
              </a:cxn>
              <a:cxn ang="0">
                <a:pos x="connsiteX2" y="connsiteY2"/>
              </a:cxn>
              <a:cxn ang="0">
                <a:pos x="connsiteX3" y="connsiteY3"/>
              </a:cxn>
            </a:cxnLst>
            <a:rect l="l" t="t" r="r" b="b"/>
            <a:pathLst>
              <a:path w="2631688" h="583580">
                <a:moveTo>
                  <a:pt x="0" y="0"/>
                </a:moveTo>
                <a:lnTo>
                  <a:pt x="2631688" y="0"/>
                </a:lnTo>
                <a:lnTo>
                  <a:pt x="2631688" y="583580"/>
                </a:lnTo>
                <a:lnTo>
                  <a:pt x="0" y="583580"/>
                </a:lnTo>
                <a:close/>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任意多边形 19"/>
          <p:cNvSpPr/>
          <p:nvPr/>
        </p:nvSpPr>
        <p:spPr bwMode="gray">
          <a:xfrm>
            <a:off x="6153906" y="4622401"/>
            <a:ext cx="2631688" cy="583581"/>
          </a:xfrm>
          <a:custGeom>
            <a:avLst/>
            <a:gdLst>
              <a:gd name="connsiteX0" fmla="*/ 0 w 2631688"/>
              <a:gd name="connsiteY0" fmla="*/ 0 h 583581"/>
              <a:gd name="connsiteX1" fmla="*/ 2631688 w 2631688"/>
              <a:gd name="connsiteY1" fmla="*/ 0 h 583581"/>
              <a:gd name="connsiteX2" fmla="*/ 2631688 w 2631688"/>
              <a:gd name="connsiteY2" fmla="*/ 583581 h 583581"/>
              <a:gd name="connsiteX3" fmla="*/ 0 w 2631688"/>
              <a:gd name="connsiteY3" fmla="*/ 583581 h 583581"/>
            </a:gdLst>
            <a:ahLst/>
            <a:cxnLst>
              <a:cxn ang="0">
                <a:pos x="connsiteX0" y="connsiteY0"/>
              </a:cxn>
              <a:cxn ang="0">
                <a:pos x="connsiteX1" y="connsiteY1"/>
              </a:cxn>
              <a:cxn ang="0">
                <a:pos x="connsiteX2" y="connsiteY2"/>
              </a:cxn>
              <a:cxn ang="0">
                <a:pos x="connsiteX3" y="connsiteY3"/>
              </a:cxn>
            </a:cxnLst>
            <a:rect l="l" t="t" r="r" b="b"/>
            <a:pathLst>
              <a:path w="2631688" h="583581">
                <a:moveTo>
                  <a:pt x="0" y="0"/>
                </a:moveTo>
                <a:lnTo>
                  <a:pt x="2631688" y="0"/>
                </a:lnTo>
                <a:lnTo>
                  <a:pt x="2631688" y="583581"/>
                </a:lnTo>
                <a:lnTo>
                  <a:pt x="0" y="583581"/>
                </a:lnTo>
                <a:close/>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任意多边形 20"/>
          <p:cNvSpPr/>
          <p:nvPr/>
        </p:nvSpPr>
        <p:spPr bwMode="gray">
          <a:xfrm>
            <a:off x="6153906" y="5205982"/>
            <a:ext cx="2631688" cy="583580"/>
          </a:xfrm>
          <a:custGeom>
            <a:avLst/>
            <a:gdLst>
              <a:gd name="connsiteX0" fmla="*/ 0 w 2631688"/>
              <a:gd name="connsiteY0" fmla="*/ 0 h 583580"/>
              <a:gd name="connsiteX1" fmla="*/ 2631688 w 2631688"/>
              <a:gd name="connsiteY1" fmla="*/ 0 h 583580"/>
              <a:gd name="connsiteX2" fmla="*/ 2631688 w 2631688"/>
              <a:gd name="connsiteY2" fmla="*/ 583580 h 583580"/>
              <a:gd name="connsiteX3" fmla="*/ 0 w 2631688"/>
              <a:gd name="connsiteY3" fmla="*/ 583580 h 583580"/>
            </a:gdLst>
            <a:ahLst/>
            <a:cxnLst>
              <a:cxn ang="0">
                <a:pos x="connsiteX0" y="connsiteY0"/>
              </a:cxn>
              <a:cxn ang="0">
                <a:pos x="connsiteX1" y="connsiteY1"/>
              </a:cxn>
              <a:cxn ang="0">
                <a:pos x="connsiteX2" y="connsiteY2"/>
              </a:cxn>
              <a:cxn ang="0">
                <a:pos x="connsiteX3" y="connsiteY3"/>
              </a:cxn>
            </a:cxnLst>
            <a:rect l="l" t="t" r="r" b="b"/>
            <a:pathLst>
              <a:path w="2631688" h="583580">
                <a:moveTo>
                  <a:pt x="0" y="0"/>
                </a:moveTo>
                <a:lnTo>
                  <a:pt x="2631688" y="0"/>
                </a:lnTo>
                <a:lnTo>
                  <a:pt x="2631688" y="583580"/>
                </a:lnTo>
                <a:lnTo>
                  <a:pt x="0" y="583580"/>
                </a:lnTo>
                <a:close/>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文本框 21"/>
          <p:cNvSpPr txBox="1"/>
          <p:nvPr/>
        </p:nvSpPr>
        <p:spPr bwMode="gray">
          <a:xfrm>
            <a:off x="6864456" y="4145945"/>
            <a:ext cx="1210588" cy="338554"/>
          </a:xfrm>
          <a:prstGeom prst="rect">
            <a:avLst/>
          </a:prstGeom>
          <a:noFill/>
        </p:spPr>
        <p:txBody>
          <a:bodyPr wrap="none" rtlCol="0">
            <a:spAutoFit/>
          </a:bodyPr>
          <a:lstStyle/>
          <a:p>
            <a:pPr algn="ct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地址族标识</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文本框 22"/>
          <p:cNvSpPr txBox="1"/>
          <p:nvPr/>
        </p:nvSpPr>
        <p:spPr bwMode="gray">
          <a:xfrm>
            <a:off x="6761864" y="4729525"/>
            <a:ext cx="1415772" cy="338554"/>
          </a:xfrm>
          <a:prstGeom prst="rect">
            <a:avLst/>
          </a:prstGeom>
          <a:noFill/>
        </p:spPr>
        <p:txBody>
          <a:bodyPr wrap="none" rtlCol="0">
            <a:spAutoFit/>
          </a:bodyPr>
          <a:lstStyle/>
          <a:p>
            <a:pPr algn="ct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子地址族标识</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文本框 23"/>
          <p:cNvSpPr txBox="1"/>
          <p:nvPr/>
        </p:nvSpPr>
        <p:spPr bwMode="gray">
          <a:xfrm>
            <a:off x="6864456" y="5316599"/>
            <a:ext cx="1210588" cy="338554"/>
          </a:xfrm>
          <a:prstGeom prst="rect">
            <a:avLst/>
          </a:prstGeom>
          <a:noFill/>
        </p:spPr>
        <p:txBody>
          <a:bodyPr wrap="none" rtlCol="0">
            <a:spAutoFit/>
          </a:bodyPr>
          <a:lstStyle/>
          <a:p>
            <a:pPr algn="ct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撤销的路由</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文本框 24"/>
          <p:cNvSpPr txBox="1"/>
          <p:nvPr/>
        </p:nvSpPr>
        <p:spPr bwMode="gray">
          <a:xfrm>
            <a:off x="6096618" y="5817438"/>
            <a:ext cx="2746265" cy="307777"/>
          </a:xfrm>
          <a:prstGeom prst="rect">
            <a:avLst/>
          </a:prstGeom>
          <a:noFill/>
        </p:spPr>
        <p:txBody>
          <a:bodyPr wrap="none" rtlCol="0">
            <a:spAutoFit/>
          </a:bodyP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MP_UNREACH_NLRI</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属性的</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格式</a:t>
            </a:r>
            <a:endParaRPr lang="zh-CN"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Right Brace 45"/>
          <p:cNvSpPr/>
          <p:nvPr/>
        </p:nvSpPr>
        <p:spPr bwMode="gray">
          <a:xfrm>
            <a:off x="8898011" y="4192743"/>
            <a:ext cx="80244" cy="859316"/>
          </a:xfrm>
          <a:custGeom>
            <a:avLst/>
            <a:gdLst>
              <a:gd name="connsiteX0" fmla="*/ 0 w 594067"/>
              <a:gd name="connsiteY0" fmla="*/ 0 h 5919533"/>
              <a:gd name="connsiteX1" fmla="*/ 297034 w 594067"/>
              <a:gd name="connsiteY1" fmla="*/ 49504 h 5919533"/>
              <a:gd name="connsiteX2" fmla="*/ 297034 w 594067"/>
              <a:gd name="connsiteY2" fmla="*/ 2910263 h 5919533"/>
              <a:gd name="connsiteX3" fmla="*/ 594068 w 594067"/>
              <a:gd name="connsiteY3" fmla="*/ 2959767 h 5919533"/>
              <a:gd name="connsiteX4" fmla="*/ 297034 w 594067"/>
              <a:gd name="connsiteY4" fmla="*/ 3009271 h 5919533"/>
              <a:gd name="connsiteX5" fmla="*/ 297034 w 594067"/>
              <a:gd name="connsiteY5" fmla="*/ 5870029 h 5919533"/>
              <a:gd name="connsiteX6" fmla="*/ 0 w 594067"/>
              <a:gd name="connsiteY6" fmla="*/ 5919533 h 5919533"/>
              <a:gd name="connsiteX7" fmla="*/ 0 w 594067"/>
              <a:gd name="connsiteY7" fmla="*/ 0 h 5919533"/>
              <a:gd name="connsiteX0" fmla="*/ 0 w 594067"/>
              <a:gd name="connsiteY0" fmla="*/ 0 h 5919533"/>
              <a:gd name="connsiteX1" fmla="*/ 297034 w 594067"/>
              <a:gd name="connsiteY1" fmla="*/ 49504 h 5919533"/>
              <a:gd name="connsiteX2" fmla="*/ 297034 w 594067"/>
              <a:gd name="connsiteY2" fmla="*/ 2910263 h 5919533"/>
              <a:gd name="connsiteX3" fmla="*/ 594068 w 594067"/>
              <a:gd name="connsiteY3" fmla="*/ 2959767 h 5919533"/>
              <a:gd name="connsiteX4" fmla="*/ 297034 w 594067"/>
              <a:gd name="connsiteY4" fmla="*/ 3009271 h 5919533"/>
              <a:gd name="connsiteX5" fmla="*/ 297034 w 594067"/>
              <a:gd name="connsiteY5" fmla="*/ 5870029 h 5919533"/>
              <a:gd name="connsiteX6" fmla="*/ 0 w 594067"/>
              <a:gd name="connsiteY6" fmla="*/ 5919533 h 5919533"/>
              <a:gd name="connsiteX0" fmla="*/ 0 w 594068"/>
              <a:gd name="connsiteY0" fmla="*/ 0 h 5919533"/>
              <a:gd name="connsiteX1" fmla="*/ 297034 w 594068"/>
              <a:gd name="connsiteY1" fmla="*/ 49504 h 5919533"/>
              <a:gd name="connsiteX2" fmla="*/ 297034 w 594068"/>
              <a:gd name="connsiteY2" fmla="*/ 2910263 h 5919533"/>
              <a:gd name="connsiteX3" fmla="*/ 594068 w 594068"/>
              <a:gd name="connsiteY3" fmla="*/ 2959767 h 5919533"/>
              <a:gd name="connsiteX4" fmla="*/ 297034 w 594068"/>
              <a:gd name="connsiteY4" fmla="*/ 3009271 h 5919533"/>
              <a:gd name="connsiteX5" fmla="*/ 297034 w 594068"/>
              <a:gd name="connsiteY5" fmla="*/ 5870029 h 5919533"/>
              <a:gd name="connsiteX6" fmla="*/ 0 w 594068"/>
              <a:gd name="connsiteY6" fmla="*/ 5919533 h 5919533"/>
              <a:gd name="connsiteX7" fmla="*/ 0 w 594068"/>
              <a:gd name="connsiteY7" fmla="*/ 0 h 5919533"/>
              <a:gd name="connsiteX0" fmla="*/ 0 w 594068"/>
              <a:gd name="connsiteY0" fmla="*/ 0 h 5919533"/>
              <a:gd name="connsiteX1" fmla="*/ 297034 w 594068"/>
              <a:gd name="connsiteY1" fmla="*/ 49504 h 5919533"/>
              <a:gd name="connsiteX2" fmla="*/ 297034 w 594068"/>
              <a:gd name="connsiteY2" fmla="*/ 2910263 h 5919533"/>
              <a:gd name="connsiteX3" fmla="*/ 505168 w 594068"/>
              <a:gd name="connsiteY3" fmla="*/ 2959767 h 5919533"/>
              <a:gd name="connsiteX4" fmla="*/ 297034 w 594068"/>
              <a:gd name="connsiteY4" fmla="*/ 3009271 h 5919533"/>
              <a:gd name="connsiteX5" fmla="*/ 297034 w 594068"/>
              <a:gd name="connsiteY5" fmla="*/ 5870029 h 5919533"/>
              <a:gd name="connsiteX6" fmla="*/ 0 w 594068"/>
              <a:gd name="connsiteY6" fmla="*/ 5919533 h 5919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068" h="5919533" stroke="0" extrusionOk="0">
                <a:moveTo>
                  <a:pt x="0" y="0"/>
                </a:moveTo>
                <a:cubicBezTo>
                  <a:pt x="164047" y="0"/>
                  <a:pt x="297034" y="22164"/>
                  <a:pt x="297034" y="49504"/>
                </a:cubicBezTo>
                <a:lnTo>
                  <a:pt x="297034" y="2910263"/>
                </a:lnTo>
                <a:cubicBezTo>
                  <a:pt x="297034" y="2937603"/>
                  <a:pt x="430021" y="2959767"/>
                  <a:pt x="594068" y="2959767"/>
                </a:cubicBezTo>
                <a:cubicBezTo>
                  <a:pt x="430021" y="2959767"/>
                  <a:pt x="297034" y="2981931"/>
                  <a:pt x="297034" y="3009271"/>
                </a:cubicBezTo>
                <a:lnTo>
                  <a:pt x="297034" y="5870029"/>
                </a:lnTo>
                <a:cubicBezTo>
                  <a:pt x="297034" y="5897369"/>
                  <a:pt x="164047" y="5919533"/>
                  <a:pt x="0" y="5919533"/>
                </a:cubicBezTo>
                <a:lnTo>
                  <a:pt x="0" y="0"/>
                </a:lnTo>
                <a:close/>
              </a:path>
              <a:path w="594068" h="5919533" fill="none">
                <a:moveTo>
                  <a:pt x="0" y="0"/>
                </a:moveTo>
                <a:cubicBezTo>
                  <a:pt x="164047" y="0"/>
                  <a:pt x="297034" y="22164"/>
                  <a:pt x="297034" y="49504"/>
                </a:cubicBezTo>
                <a:lnTo>
                  <a:pt x="297034" y="2910263"/>
                </a:lnTo>
                <a:cubicBezTo>
                  <a:pt x="297034" y="2937603"/>
                  <a:pt x="341121" y="2959767"/>
                  <a:pt x="505168" y="2959767"/>
                </a:cubicBezTo>
                <a:cubicBezTo>
                  <a:pt x="341121" y="2959767"/>
                  <a:pt x="297034" y="2981931"/>
                  <a:pt x="297034" y="3009271"/>
                </a:cubicBezTo>
                <a:lnTo>
                  <a:pt x="297034" y="5870029"/>
                </a:lnTo>
                <a:cubicBezTo>
                  <a:pt x="297034" y="5897369"/>
                  <a:pt x="164047" y="5919533"/>
                  <a:pt x="0" y="5919533"/>
                </a:cubicBezTo>
              </a:path>
            </a:pathLst>
          </a:custGeom>
          <a:ln w="19050">
            <a:solidFill>
              <a:srgbClr val="30B5C5"/>
            </a:solidFill>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algn="ctr" fontAlgn="ct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文本框 25"/>
          <p:cNvSpPr txBox="1"/>
          <p:nvPr/>
        </p:nvSpPr>
        <p:spPr bwMode="gray">
          <a:xfrm>
            <a:off x="9173777" y="4479517"/>
            <a:ext cx="1210588" cy="338554"/>
          </a:xfrm>
          <a:prstGeom prst="rect">
            <a:avLst/>
          </a:prstGeom>
          <a:noFill/>
        </p:spPr>
        <p:txBody>
          <a:bodyPr wrap="none" rtlCol="0">
            <a:spAutoFit/>
          </a:bodyPr>
          <a:lstStyle/>
          <a:p>
            <a:pPr algn="ct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地址族信息</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11650738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9032086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标题 67"/>
          <p:cNvSpPr>
            <a:spLocks noGrp="1"/>
          </p:cNvSpPr>
          <p:nvPr>
            <p:ph type="title"/>
          </p:nvPr>
        </p:nvSpPr>
        <p:spPr bwMode="gray"/>
        <p:txBody>
          <a:bodyPr/>
          <a:lstStyle/>
          <a:p>
            <a:r>
              <a:rPr lang="zh-CN" altLang="en-US" smtClean="0"/>
              <a:t>入口</a:t>
            </a:r>
            <a:r>
              <a:rPr lang="en-US" altLang="zh-CN" smtClean="0"/>
              <a:t>PE</a:t>
            </a:r>
            <a:r>
              <a:rPr lang="zh-CN" altLang="en-US" smtClean="0"/>
              <a:t>到出口</a:t>
            </a:r>
            <a:r>
              <a:rPr lang="en-US" altLang="zh-CN" smtClean="0"/>
              <a:t>PE</a:t>
            </a:r>
            <a:r>
              <a:rPr lang="zh-CN" altLang="en-US" smtClean="0">
                <a:sym typeface="Huawei Sans" panose="020C0503030203020204" pitchFamily="34" charset="0"/>
              </a:rPr>
              <a:t>路由传递 </a:t>
            </a:r>
            <a:r>
              <a:rPr lang="en-US" altLang="zh-CN" smtClean="0">
                <a:sym typeface="Huawei Sans" panose="020C0503030203020204" pitchFamily="34" charset="0"/>
              </a:rPr>
              <a:t>(3)</a:t>
            </a:r>
            <a:endParaRPr lang="zh-CN" altLang="en-US" dirty="0">
              <a:sym typeface="Huawei Sans" panose="020C0503030203020204" pitchFamily="34" charset="0"/>
            </a:endParaRPr>
          </a:p>
        </p:txBody>
      </p:sp>
      <p:sp>
        <p:nvSpPr>
          <p:cNvPr id="69" name="文本占位符 68"/>
          <p:cNvSpPr>
            <a:spLocks noGrp="1"/>
          </p:cNvSpPr>
          <p:nvPr>
            <p:ph type="body" sz="quarter" idx="10"/>
          </p:nvPr>
        </p:nvSpPr>
        <p:spPr bwMode="gray"/>
        <p:txBody>
          <a:bodyPr/>
          <a:lstStyle/>
          <a:p>
            <a:r>
              <a:rPr lang="en-US" altLang="zh-CN" sz="1800" dirty="0" smtClean="0">
                <a:sym typeface="Huawei Sans" panose="020C0503030203020204" pitchFamily="34" charset="0"/>
              </a:rPr>
              <a:t>MP-BGP</a:t>
            </a:r>
            <a:r>
              <a:rPr lang="zh-CN" altLang="en-US" sz="1800" dirty="0" smtClean="0">
                <a:sym typeface="Huawei Sans" panose="020C0503030203020204" pitchFamily="34" charset="0"/>
              </a:rPr>
              <a:t>将</a:t>
            </a:r>
            <a:r>
              <a:rPr lang="en-US" altLang="zh-CN" sz="1800" dirty="0" smtClean="0">
                <a:sym typeface="Huawei Sans" panose="020C0503030203020204" pitchFamily="34" charset="0"/>
              </a:rPr>
              <a:t>VPNv4</a:t>
            </a:r>
            <a:r>
              <a:rPr lang="zh-CN" altLang="en-US" sz="1800" dirty="0" smtClean="0">
                <a:sym typeface="Huawei Sans" panose="020C0503030203020204" pitchFamily="34" charset="0"/>
              </a:rPr>
              <a:t>传递到远端</a:t>
            </a:r>
            <a:r>
              <a:rPr lang="en-US" altLang="zh-CN" sz="1800" dirty="0" smtClean="0">
                <a:sym typeface="Huawei Sans" panose="020C0503030203020204" pitchFamily="34" charset="0"/>
              </a:rPr>
              <a:t>PE</a:t>
            </a:r>
            <a:r>
              <a:rPr lang="zh-CN" altLang="en-US" sz="1800" dirty="0" smtClean="0">
                <a:sym typeface="Huawei Sans" panose="020C0503030203020204" pitchFamily="34" charset="0"/>
              </a:rPr>
              <a:t>之后，远端</a:t>
            </a:r>
            <a:r>
              <a:rPr lang="en-US" altLang="zh-CN" sz="1800" dirty="0" smtClean="0">
                <a:sym typeface="Huawei Sans" panose="020C0503030203020204" pitchFamily="34" charset="0"/>
              </a:rPr>
              <a:t>PE</a:t>
            </a:r>
            <a:r>
              <a:rPr lang="zh-CN" altLang="en-US" sz="1800" dirty="0" smtClean="0">
                <a:sym typeface="Huawei Sans" panose="020C0503030203020204" pitchFamily="34" charset="0"/>
              </a:rPr>
              <a:t>需要将</a:t>
            </a:r>
            <a:r>
              <a:rPr lang="en-US" altLang="zh-CN" sz="1800" dirty="0" smtClean="0">
                <a:sym typeface="Huawei Sans" panose="020C0503030203020204" pitchFamily="34" charset="0"/>
              </a:rPr>
              <a:t>VPNv4</a:t>
            </a:r>
            <a:r>
              <a:rPr lang="zh-CN" altLang="en-US" sz="1800" dirty="0" smtClean="0">
                <a:sym typeface="Huawei Sans" panose="020C0503030203020204" pitchFamily="34" charset="0"/>
              </a:rPr>
              <a:t>路由导入正确的</a:t>
            </a:r>
            <a:r>
              <a:rPr lang="en-US" altLang="zh-CN" sz="1800" dirty="0" smtClean="0">
                <a:sym typeface="Huawei Sans" panose="020C0503030203020204" pitchFamily="34" charset="0"/>
              </a:rPr>
              <a:t>VPN</a:t>
            </a:r>
            <a:r>
              <a:rPr lang="zh-CN" altLang="en-US" sz="1800" dirty="0" smtClean="0">
                <a:sym typeface="Huawei Sans" panose="020C0503030203020204" pitchFamily="34" charset="0"/>
              </a:rPr>
              <a:t>实例。</a:t>
            </a:r>
            <a:endParaRPr lang="en-US" altLang="zh-CN" sz="1800" dirty="0" smtClean="0">
              <a:sym typeface="Huawei Sans" panose="020C0503030203020204" pitchFamily="34" charset="0"/>
            </a:endParaRPr>
          </a:p>
          <a:p>
            <a:r>
              <a:rPr lang="en-US" altLang="zh-CN" sz="1800" dirty="0" smtClean="0">
                <a:sym typeface="Huawei Sans" panose="020C0503030203020204" pitchFamily="34" charset="0"/>
              </a:rPr>
              <a:t>MPLS VPN</a:t>
            </a:r>
            <a:r>
              <a:rPr lang="zh-CN" altLang="en-US" sz="1800" dirty="0" smtClean="0">
                <a:sym typeface="Huawei Sans" panose="020C0503030203020204" pitchFamily="34" charset="0"/>
              </a:rPr>
              <a:t>使用</a:t>
            </a:r>
            <a:r>
              <a:rPr lang="en-US" altLang="zh-CN" sz="1800" dirty="0" smtClean="0">
                <a:sym typeface="Huawei Sans" panose="020C0503030203020204" pitchFamily="34" charset="0"/>
              </a:rPr>
              <a:t>BGP</a:t>
            </a:r>
            <a:r>
              <a:rPr lang="zh-CN" altLang="en-US" sz="1800" dirty="0" smtClean="0">
                <a:sym typeface="Huawei Sans" panose="020C0503030203020204" pitchFamily="34" charset="0"/>
              </a:rPr>
              <a:t>扩展团体属性：</a:t>
            </a:r>
            <a:r>
              <a:rPr lang="en-US" altLang="zh-CN" sz="1800" dirty="0" smtClean="0">
                <a:sym typeface="Huawei Sans" panose="020C0503030203020204" pitchFamily="34" charset="0"/>
              </a:rPr>
              <a:t>VPN Target</a:t>
            </a:r>
            <a:r>
              <a:rPr lang="zh-CN" altLang="en-US" sz="1800" dirty="0" smtClean="0">
                <a:sym typeface="Huawei Sans" panose="020C0503030203020204" pitchFamily="34" charset="0"/>
              </a:rPr>
              <a:t>（也称为</a:t>
            </a:r>
            <a:r>
              <a:rPr lang="en-US" altLang="zh-CN" sz="1800" dirty="0" smtClean="0">
                <a:sym typeface="Huawei Sans" panose="020C0503030203020204" pitchFamily="34" charset="0"/>
              </a:rPr>
              <a:t>Route Target</a:t>
            </a:r>
            <a:r>
              <a:rPr lang="zh-CN" altLang="en-US" sz="1800" dirty="0" smtClean="0">
                <a:sym typeface="Huawei Sans" panose="020C0503030203020204" pitchFamily="34" charset="0"/>
              </a:rPr>
              <a:t>）来控制</a:t>
            </a:r>
            <a:r>
              <a:rPr lang="en-US" altLang="zh-CN" sz="1800" dirty="0" smtClean="0">
                <a:sym typeface="Huawei Sans" panose="020C0503030203020204" pitchFamily="34" charset="0"/>
              </a:rPr>
              <a:t>VPN</a:t>
            </a:r>
            <a:r>
              <a:rPr lang="zh-CN" altLang="en-US" sz="1800" dirty="0" smtClean="0">
                <a:sym typeface="Huawei Sans" panose="020C0503030203020204" pitchFamily="34" charset="0"/>
              </a:rPr>
              <a:t>路由信息的发布与接收。</a:t>
            </a:r>
            <a:endParaRPr lang="en-US" altLang="zh-CN" sz="1800" dirty="0" smtClean="0">
              <a:sym typeface="Huawei Sans" panose="020C0503030203020204" pitchFamily="34" charset="0"/>
            </a:endParaRPr>
          </a:p>
          <a:p>
            <a:r>
              <a:rPr lang="zh-CN" altLang="en-US" sz="1800" dirty="0" smtClean="0">
                <a:sym typeface="Huawei Sans" panose="020C0503030203020204" pitchFamily="34" charset="0"/>
              </a:rPr>
              <a:t>本地</a:t>
            </a:r>
            <a:r>
              <a:rPr lang="en-US" altLang="zh-CN" sz="1800" dirty="0" smtClean="0">
                <a:sym typeface="Huawei Sans" panose="020C0503030203020204" pitchFamily="34" charset="0"/>
              </a:rPr>
              <a:t>PE</a:t>
            </a:r>
            <a:r>
              <a:rPr lang="zh-CN" altLang="en-US" sz="1800" dirty="0" smtClean="0">
                <a:sym typeface="Huawei Sans" panose="020C0503030203020204" pitchFamily="34" charset="0"/>
              </a:rPr>
              <a:t>在发布</a:t>
            </a:r>
            <a:r>
              <a:rPr lang="en-US" altLang="zh-CN" sz="1800" dirty="0" smtClean="0">
                <a:sym typeface="Huawei Sans" panose="020C0503030203020204" pitchFamily="34" charset="0"/>
              </a:rPr>
              <a:t>VPNv4</a:t>
            </a:r>
            <a:r>
              <a:rPr lang="zh-CN" altLang="en-US" sz="1800" dirty="0" smtClean="0">
                <a:sym typeface="Huawei Sans" panose="020C0503030203020204" pitchFamily="34" charset="0"/>
              </a:rPr>
              <a:t>路由前附上</a:t>
            </a:r>
            <a:r>
              <a:rPr lang="en-US" altLang="zh-CN" sz="1800" dirty="0" smtClean="0">
                <a:sym typeface="Huawei Sans" panose="020C0503030203020204" pitchFamily="34" charset="0"/>
              </a:rPr>
              <a:t>RT</a:t>
            </a:r>
            <a:r>
              <a:rPr lang="zh-CN" altLang="en-US" sz="1800" dirty="0" smtClean="0">
                <a:sym typeface="Huawei Sans" panose="020C0503030203020204" pitchFamily="34" charset="0"/>
              </a:rPr>
              <a:t>属性，对端</a:t>
            </a:r>
            <a:r>
              <a:rPr lang="en-US" altLang="zh-CN" sz="1800" dirty="0" smtClean="0">
                <a:sym typeface="Huawei Sans" panose="020C0503030203020204" pitchFamily="34" charset="0"/>
              </a:rPr>
              <a:t>PE</a:t>
            </a:r>
            <a:r>
              <a:rPr lang="zh-CN" altLang="en-US" sz="1800" dirty="0" smtClean="0">
                <a:sym typeface="Huawei Sans" panose="020C0503030203020204" pitchFamily="34" charset="0"/>
              </a:rPr>
              <a:t>在接到</a:t>
            </a:r>
            <a:r>
              <a:rPr lang="en-US" altLang="zh-CN" sz="1800" dirty="0" smtClean="0">
                <a:sym typeface="Huawei Sans" panose="020C0503030203020204" pitchFamily="34" charset="0"/>
              </a:rPr>
              <a:t>VPNv4</a:t>
            </a:r>
            <a:r>
              <a:rPr lang="zh-CN" altLang="en-US" sz="1800" dirty="0" smtClean="0">
                <a:sym typeface="Huawei Sans" panose="020C0503030203020204" pitchFamily="34" charset="0"/>
              </a:rPr>
              <a:t>路由后根据</a:t>
            </a:r>
            <a:r>
              <a:rPr lang="en-US" altLang="zh-CN" sz="1800" dirty="0" smtClean="0">
                <a:sym typeface="Huawei Sans" panose="020C0503030203020204" pitchFamily="34" charset="0"/>
              </a:rPr>
              <a:t>RT</a:t>
            </a:r>
            <a:r>
              <a:rPr lang="zh-CN" altLang="en-US" sz="1800" dirty="0" smtClean="0">
                <a:sym typeface="Huawei Sans" panose="020C0503030203020204" pitchFamily="34" charset="0"/>
              </a:rPr>
              <a:t>将路由导入对应的</a:t>
            </a:r>
            <a:r>
              <a:rPr lang="en-US" altLang="zh-CN" sz="1800" dirty="0" smtClean="0">
                <a:sym typeface="Huawei Sans" panose="020C0503030203020204" pitchFamily="34" charset="0"/>
              </a:rPr>
              <a:t>VPN</a:t>
            </a:r>
            <a:r>
              <a:rPr lang="zh-CN" altLang="en-US" sz="1800" dirty="0" smtClean="0">
                <a:sym typeface="Huawei Sans" panose="020C0503030203020204" pitchFamily="34" charset="0"/>
              </a:rPr>
              <a:t>实例。</a:t>
            </a:r>
            <a:endParaRPr lang="en-US" altLang="zh-CN" sz="1800" dirty="0" smtClean="0">
              <a:sym typeface="Huawei Sans" panose="020C0503030203020204" pitchFamily="34" charset="0"/>
            </a:endParaRPr>
          </a:p>
          <a:p>
            <a:endParaRPr lang="en-US" altLang="zh-CN" sz="1800" dirty="0" smtClean="0">
              <a:sym typeface="Huawei Sans" panose="020C0503030203020204" pitchFamily="34" charset="0"/>
            </a:endParaRPr>
          </a:p>
        </p:txBody>
      </p:sp>
      <p:sp>
        <p:nvSpPr>
          <p:cNvPr id="51" name="圆角矩形 50"/>
          <p:cNvSpPr/>
          <p:nvPr/>
        </p:nvSpPr>
        <p:spPr bwMode="gray">
          <a:xfrm>
            <a:off x="4103749" y="4143995"/>
            <a:ext cx="4000659" cy="1825378"/>
          </a:xfrm>
          <a:prstGeom prst="roundRect">
            <a:avLst/>
          </a:prstGeom>
          <a:solidFill>
            <a:srgbClr val="BEE9EE"/>
          </a:solidFill>
          <a:ln w="28575" cap="flat" cmpd="sng" algn="ctr">
            <a:noFill/>
            <a:prstDash val="sys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文本框 52"/>
          <p:cNvSpPr txBox="1"/>
          <p:nvPr/>
        </p:nvSpPr>
        <p:spPr bwMode="gray">
          <a:xfrm>
            <a:off x="5308828" y="5674705"/>
            <a:ext cx="1590500" cy="307777"/>
          </a:xfrm>
          <a:prstGeom prst="rect">
            <a:avLst/>
          </a:prstGeom>
          <a:noFill/>
        </p:spPr>
        <p:txBody>
          <a:bodyPr wrap="none" rtlCol="0">
            <a:spAutoFit/>
          </a:bodyPr>
          <a:lstStyle/>
          <a:p>
            <a:r>
              <a:rPr lang="en-US" altLang="zh-CN"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MPLS VPN</a:t>
            </a:r>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骨干网</a:t>
            </a:r>
            <a:endPar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54" name="组合 53"/>
          <p:cNvGrpSpPr/>
          <p:nvPr/>
        </p:nvGrpSpPr>
        <p:grpSpPr bwMode="gray">
          <a:xfrm>
            <a:off x="3846898" y="4694721"/>
            <a:ext cx="4513567" cy="723926"/>
            <a:chOff x="4088571" y="4424992"/>
            <a:chExt cx="4513567" cy="723926"/>
          </a:xfrm>
        </p:grpSpPr>
        <p:cxnSp>
          <p:nvCxnSpPr>
            <p:cNvPr id="55" name="直接连接符 54"/>
            <p:cNvCxnSpPr>
              <a:stCxn id="59" idx="3"/>
              <a:endCxn id="61" idx="1"/>
            </p:cNvCxnSpPr>
            <p:nvPr/>
          </p:nvCxnSpPr>
          <p:spPr bwMode="gray">
            <a:xfrm>
              <a:off x="4628571" y="4645901"/>
              <a:ext cx="343356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6" name="组合 55"/>
            <p:cNvGrpSpPr/>
            <p:nvPr/>
          </p:nvGrpSpPr>
          <p:grpSpPr bwMode="gray">
            <a:xfrm>
              <a:off x="6067674" y="4424992"/>
              <a:ext cx="540000" cy="723926"/>
              <a:chOff x="5312873" y="4947622"/>
              <a:chExt cx="540000" cy="723926"/>
            </a:xfrm>
          </p:grpSpPr>
          <p:pic>
            <p:nvPicPr>
              <p:cNvPr id="74" name="Picture 12" descr="E:\2016.01\1.12 扁平化图标\蓝色\AR-蓝色最新-40.png"/>
              <p:cNvPicPr>
                <a:picLocks noChangeAspect="1" noChangeArrowheads="1"/>
              </p:cNvPicPr>
              <p:nvPr/>
            </p:nvPicPr>
            <p:blipFill>
              <a:blip r:embed="rId4" cstate="print"/>
              <a:srcRect/>
              <a:stretch>
                <a:fillRect/>
              </a:stretch>
            </p:blipFill>
            <p:spPr bwMode="gray">
              <a:xfrm>
                <a:off x="5312873" y="4947622"/>
                <a:ext cx="540000" cy="441818"/>
              </a:xfrm>
              <a:prstGeom prst="rect">
                <a:avLst/>
              </a:prstGeom>
              <a:noFill/>
            </p:spPr>
          </p:pic>
          <p:sp>
            <p:nvSpPr>
              <p:cNvPr id="80" name="文本框 79"/>
              <p:cNvSpPr txBox="1"/>
              <p:nvPr/>
            </p:nvSpPr>
            <p:spPr bwMode="gray">
              <a:xfrm>
                <a:off x="5436839" y="5363771"/>
                <a:ext cx="292068"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57" name="组合 56"/>
            <p:cNvGrpSpPr/>
            <p:nvPr/>
          </p:nvGrpSpPr>
          <p:grpSpPr bwMode="gray">
            <a:xfrm>
              <a:off x="8062138" y="4424992"/>
              <a:ext cx="540000" cy="714804"/>
              <a:chOff x="8062138" y="4947622"/>
              <a:chExt cx="540000" cy="714804"/>
            </a:xfrm>
          </p:grpSpPr>
          <p:pic>
            <p:nvPicPr>
              <p:cNvPr id="61" name="Picture 12" descr="E:\2016.01\1.12 扁平化图标\蓝色\AR-蓝色最新-40.png"/>
              <p:cNvPicPr>
                <a:picLocks noChangeAspect="1" noChangeArrowheads="1"/>
              </p:cNvPicPr>
              <p:nvPr/>
            </p:nvPicPr>
            <p:blipFill>
              <a:blip r:embed="rId4" cstate="print"/>
              <a:srcRect/>
              <a:stretch>
                <a:fillRect/>
              </a:stretch>
            </p:blipFill>
            <p:spPr bwMode="gray">
              <a:xfrm>
                <a:off x="8062138" y="4947622"/>
                <a:ext cx="540000" cy="441818"/>
              </a:xfrm>
              <a:prstGeom prst="rect">
                <a:avLst/>
              </a:prstGeom>
              <a:noFill/>
            </p:spPr>
          </p:pic>
          <p:sp>
            <p:nvSpPr>
              <p:cNvPr id="70" name="文本框 69"/>
              <p:cNvSpPr txBox="1"/>
              <p:nvPr/>
            </p:nvSpPr>
            <p:spPr bwMode="gray">
              <a:xfrm>
                <a:off x="8084306" y="5354649"/>
                <a:ext cx="497252"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PE2</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58" name="组合 57"/>
            <p:cNvGrpSpPr/>
            <p:nvPr/>
          </p:nvGrpSpPr>
          <p:grpSpPr bwMode="gray">
            <a:xfrm>
              <a:off x="4088571" y="4424992"/>
              <a:ext cx="540000" cy="723926"/>
              <a:chOff x="4088571" y="4947622"/>
              <a:chExt cx="540000" cy="723926"/>
            </a:xfrm>
          </p:grpSpPr>
          <p:pic>
            <p:nvPicPr>
              <p:cNvPr id="59" name="Picture 12" descr="E:\2016.01\1.12 扁平化图标\蓝色\AR-蓝色最新-40.png"/>
              <p:cNvPicPr>
                <a:picLocks noChangeAspect="1" noChangeArrowheads="1"/>
              </p:cNvPicPr>
              <p:nvPr/>
            </p:nvPicPr>
            <p:blipFill>
              <a:blip r:embed="rId4" cstate="print"/>
              <a:srcRect/>
              <a:stretch>
                <a:fillRect/>
              </a:stretch>
            </p:blipFill>
            <p:spPr bwMode="gray">
              <a:xfrm>
                <a:off x="4088571" y="4947622"/>
                <a:ext cx="540000" cy="441818"/>
              </a:xfrm>
              <a:prstGeom prst="rect">
                <a:avLst/>
              </a:prstGeom>
              <a:noFill/>
            </p:spPr>
          </p:pic>
          <p:sp>
            <p:nvSpPr>
              <p:cNvPr id="60" name="文本框 59"/>
              <p:cNvSpPr txBox="1"/>
              <p:nvPr/>
            </p:nvSpPr>
            <p:spPr bwMode="gray">
              <a:xfrm>
                <a:off x="4109945" y="5363771"/>
                <a:ext cx="497252" cy="307777"/>
              </a:xfrm>
              <a:prstGeom prst="rect">
                <a:avLst/>
              </a:prstGeom>
              <a:noFill/>
            </p:spPr>
            <p:txBody>
              <a:bodyPr wrap="non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PE1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grpSp>
        <p:nvGrpSpPr>
          <p:cNvPr id="81" name="组合 80"/>
          <p:cNvGrpSpPr/>
          <p:nvPr/>
        </p:nvGrpSpPr>
        <p:grpSpPr bwMode="gray">
          <a:xfrm>
            <a:off x="2158869" y="4272637"/>
            <a:ext cx="550687" cy="712575"/>
            <a:chOff x="4073209" y="4947622"/>
            <a:chExt cx="550687" cy="712575"/>
          </a:xfrm>
        </p:grpSpPr>
        <p:pic>
          <p:nvPicPr>
            <p:cNvPr id="82" name="Picture 12" descr="E:\2016.01\1.12 扁平化图标\蓝色\AR-蓝色最新-40.png"/>
            <p:cNvPicPr>
              <a:picLocks noChangeAspect="1" noChangeArrowheads="1"/>
            </p:cNvPicPr>
            <p:nvPr/>
          </p:nvPicPr>
          <p:blipFill>
            <a:blip r:embed="rId4" cstate="print"/>
            <a:srcRect/>
            <a:stretch>
              <a:fillRect/>
            </a:stretch>
          </p:blipFill>
          <p:spPr bwMode="gray">
            <a:xfrm>
              <a:off x="4073209" y="4947622"/>
              <a:ext cx="540000" cy="441818"/>
            </a:xfrm>
            <a:prstGeom prst="rect">
              <a:avLst/>
            </a:prstGeom>
            <a:noFill/>
          </p:spPr>
        </p:pic>
        <p:sp>
          <p:nvSpPr>
            <p:cNvPr id="83" name="文本框 82"/>
            <p:cNvSpPr txBox="1"/>
            <p:nvPr/>
          </p:nvSpPr>
          <p:spPr bwMode="gray">
            <a:xfrm>
              <a:off x="4121835" y="5352420"/>
              <a:ext cx="50206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84" name="圆角矩形 83"/>
          <p:cNvSpPr/>
          <p:nvPr/>
        </p:nvSpPr>
        <p:spPr bwMode="gray">
          <a:xfrm>
            <a:off x="952500" y="4025063"/>
            <a:ext cx="1873049" cy="994971"/>
          </a:xfrm>
          <a:prstGeom prst="roundRect">
            <a:avLst/>
          </a:prstGeom>
          <a:noFill/>
          <a:ln w="25400">
            <a:solidFill>
              <a:srgbClr val="8BC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85" name="组合 84"/>
          <p:cNvGrpSpPr/>
          <p:nvPr/>
        </p:nvGrpSpPr>
        <p:grpSpPr bwMode="gray">
          <a:xfrm>
            <a:off x="2147045" y="5354017"/>
            <a:ext cx="575533" cy="706640"/>
            <a:chOff x="4073209" y="4947622"/>
            <a:chExt cx="575533" cy="706640"/>
          </a:xfrm>
        </p:grpSpPr>
        <p:pic>
          <p:nvPicPr>
            <p:cNvPr id="86" name="Picture 12" descr="E:\2016.01\1.12 扁平化图标\蓝色\AR-蓝色最新-40.png"/>
            <p:cNvPicPr>
              <a:picLocks noChangeAspect="1" noChangeArrowheads="1"/>
            </p:cNvPicPr>
            <p:nvPr/>
          </p:nvPicPr>
          <p:blipFill>
            <a:blip r:embed="rId4" cstate="print"/>
            <a:srcRect/>
            <a:stretch>
              <a:fillRect/>
            </a:stretch>
          </p:blipFill>
          <p:spPr bwMode="gray">
            <a:xfrm>
              <a:off x="4073209" y="4947622"/>
              <a:ext cx="540000" cy="441818"/>
            </a:xfrm>
            <a:prstGeom prst="rect">
              <a:avLst/>
            </a:prstGeom>
            <a:noFill/>
          </p:spPr>
        </p:pic>
        <p:sp>
          <p:nvSpPr>
            <p:cNvPr id="87" name="文本框 86"/>
            <p:cNvSpPr txBox="1"/>
            <p:nvPr/>
          </p:nvSpPr>
          <p:spPr bwMode="gray">
            <a:xfrm>
              <a:off x="4146681" y="5346485"/>
              <a:ext cx="50206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CE2</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88" name="圆角矩形 87"/>
          <p:cNvSpPr/>
          <p:nvPr/>
        </p:nvSpPr>
        <p:spPr bwMode="gray">
          <a:xfrm>
            <a:off x="952500" y="5106443"/>
            <a:ext cx="1873049" cy="994971"/>
          </a:xfrm>
          <a:prstGeom prst="roundRect">
            <a:avLst/>
          </a:prstGeom>
          <a:noFill/>
          <a:ln w="254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2" name="圆角矩形 91"/>
          <p:cNvSpPr/>
          <p:nvPr/>
        </p:nvSpPr>
        <p:spPr bwMode="gray">
          <a:xfrm flipH="1">
            <a:off x="9366451" y="4025063"/>
            <a:ext cx="1873049" cy="994971"/>
          </a:xfrm>
          <a:prstGeom prst="roundRect">
            <a:avLst/>
          </a:prstGeom>
          <a:noFill/>
          <a:ln w="25400">
            <a:solidFill>
              <a:srgbClr val="8BC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6" name="圆角矩形 95"/>
          <p:cNvSpPr/>
          <p:nvPr/>
        </p:nvSpPr>
        <p:spPr bwMode="gray">
          <a:xfrm flipH="1">
            <a:off x="9378275" y="5106443"/>
            <a:ext cx="1873049" cy="994971"/>
          </a:xfrm>
          <a:prstGeom prst="roundRect">
            <a:avLst/>
          </a:prstGeom>
          <a:noFill/>
          <a:ln w="254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97" name="直接连接符 96"/>
          <p:cNvCxnSpPr>
            <a:stCxn id="82" idx="3"/>
            <a:endCxn id="59" idx="1"/>
          </p:cNvCxnSpPr>
          <p:nvPr/>
        </p:nvCxnSpPr>
        <p:spPr bwMode="gray">
          <a:xfrm>
            <a:off x="2698869" y="4493546"/>
            <a:ext cx="1148029" cy="42208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a:stCxn id="86" idx="3"/>
            <a:endCxn id="59" idx="1"/>
          </p:cNvCxnSpPr>
          <p:nvPr/>
        </p:nvCxnSpPr>
        <p:spPr bwMode="gray">
          <a:xfrm flipV="1">
            <a:off x="2687045" y="4915630"/>
            <a:ext cx="1159853" cy="65929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直接连接符 98"/>
          <p:cNvCxnSpPr>
            <a:stCxn id="61" idx="3"/>
          </p:cNvCxnSpPr>
          <p:nvPr/>
        </p:nvCxnSpPr>
        <p:spPr bwMode="gray">
          <a:xfrm flipV="1">
            <a:off x="8360465" y="4493546"/>
            <a:ext cx="1132666" cy="42208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直接连接符 99"/>
          <p:cNvCxnSpPr>
            <a:stCxn id="61" idx="3"/>
          </p:cNvCxnSpPr>
          <p:nvPr/>
        </p:nvCxnSpPr>
        <p:spPr bwMode="gray">
          <a:xfrm>
            <a:off x="8360465" y="4915630"/>
            <a:ext cx="1144490" cy="65929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01" name="文本框 100"/>
          <p:cNvSpPr txBox="1"/>
          <p:nvPr/>
        </p:nvSpPr>
        <p:spPr bwMode="gray">
          <a:xfrm>
            <a:off x="881938" y="4143995"/>
            <a:ext cx="1215397"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192.168.1.0/24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2" name="文本框 101"/>
          <p:cNvSpPr txBox="1"/>
          <p:nvPr/>
        </p:nvSpPr>
        <p:spPr bwMode="gray">
          <a:xfrm>
            <a:off x="894774" y="5465428"/>
            <a:ext cx="1215397"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192.168.1.0/24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3" name="文本框 102"/>
          <p:cNvSpPr txBox="1"/>
          <p:nvPr/>
        </p:nvSpPr>
        <p:spPr bwMode="gray">
          <a:xfrm>
            <a:off x="924700" y="4668568"/>
            <a:ext cx="1124026" cy="350160"/>
          </a:xfrm>
          <a:prstGeom prst="rect">
            <a:avLst/>
          </a:prstGeom>
          <a:noFill/>
        </p:spPr>
        <p:txBody>
          <a:bodyPr wrap="none" rtlCol="0">
            <a:spAutoFit/>
          </a:bodyPr>
          <a:lstStyle/>
          <a:p>
            <a:pPr>
              <a:lnSpc>
                <a:spcPct val="130000"/>
              </a:lnSpc>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X</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A</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4" name="文本框 103"/>
          <p:cNvSpPr txBox="1"/>
          <p:nvPr/>
        </p:nvSpPr>
        <p:spPr bwMode="gray">
          <a:xfrm>
            <a:off x="924700" y="5788101"/>
            <a:ext cx="1112805" cy="350160"/>
          </a:xfrm>
          <a:prstGeom prst="rect">
            <a:avLst/>
          </a:prstGeom>
          <a:noFill/>
        </p:spPr>
        <p:txBody>
          <a:bodyPr wrap="none" rtlCol="0">
            <a:spAutoFit/>
          </a:bodyPr>
          <a:lstStyle/>
          <a:p>
            <a:pPr>
              <a:lnSpc>
                <a:spcPct val="130000"/>
              </a:lnSpc>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Y</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C</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5" name="文本框 104"/>
          <p:cNvSpPr txBox="1"/>
          <p:nvPr/>
        </p:nvSpPr>
        <p:spPr bwMode="gray">
          <a:xfrm>
            <a:off x="10119237" y="4647624"/>
            <a:ext cx="1114408" cy="350160"/>
          </a:xfrm>
          <a:prstGeom prst="rect">
            <a:avLst/>
          </a:prstGeom>
          <a:noFill/>
        </p:spPr>
        <p:txBody>
          <a:bodyPr wrap="none" rtlCol="0">
            <a:spAutoFit/>
          </a:bodyPr>
          <a:lstStyle/>
          <a:p>
            <a:pPr>
              <a:lnSpc>
                <a:spcPct val="130000"/>
              </a:lnSpc>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X</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6" name="文本框 105"/>
          <p:cNvSpPr txBox="1"/>
          <p:nvPr/>
        </p:nvSpPr>
        <p:spPr bwMode="gray">
          <a:xfrm>
            <a:off x="10119237" y="5767157"/>
            <a:ext cx="1133644" cy="350160"/>
          </a:xfrm>
          <a:prstGeom prst="rect">
            <a:avLst/>
          </a:prstGeom>
          <a:noFill/>
        </p:spPr>
        <p:txBody>
          <a:bodyPr wrap="none" rtlCol="0">
            <a:spAutoFit/>
          </a:bodyPr>
          <a:lstStyle/>
          <a:p>
            <a:pPr>
              <a:lnSpc>
                <a:spcPct val="130000"/>
              </a:lnSpc>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Y</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3" name="组合 2"/>
          <p:cNvGrpSpPr/>
          <p:nvPr/>
        </p:nvGrpSpPr>
        <p:grpSpPr bwMode="gray">
          <a:xfrm>
            <a:off x="4404482" y="4772848"/>
            <a:ext cx="3415982" cy="338554"/>
            <a:chOff x="4404482" y="4846588"/>
            <a:chExt cx="3415982" cy="338554"/>
          </a:xfrm>
        </p:grpSpPr>
        <p:sp>
          <p:nvSpPr>
            <p:cNvPr id="115" name="Can 9"/>
            <p:cNvSpPr/>
            <p:nvPr/>
          </p:nvSpPr>
          <p:spPr bwMode="gray">
            <a:xfrm rot="5400000">
              <a:off x="5985875" y="3295836"/>
              <a:ext cx="253196" cy="3415982"/>
            </a:xfrm>
            <a:prstGeom prst="can">
              <a:avLst>
                <a:gd name="adj" fmla="val 40000"/>
              </a:avLst>
            </a:prstGeom>
            <a:solidFill>
              <a:srgbClr val="FFF2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文本框 1"/>
            <p:cNvSpPr txBox="1"/>
            <p:nvPr/>
          </p:nvSpPr>
          <p:spPr bwMode="gray">
            <a:xfrm>
              <a:off x="5627470" y="4846588"/>
              <a:ext cx="984565" cy="338554"/>
            </a:xfrm>
            <a:prstGeom prst="rect">
              <a:avLst/>
            </a:prstGeom>
            <a:noFill/>
          </p:spPr>
          <p:txBody>
            <a:bodyPr wrap="none" rtlCol="0">
              <a:spAutoFit/>
            </a:bodyPr>
            <a:lstStyle/>
            <a:p>
              <a:r>
                <a:rPr lang="en-US" altLang="zh-CN" sz="16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MP-BGP</a:t>
              </a:r>
              <a:endParaRPr lang="zh-CN" altLang="en-US" sz="16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72" name="Text Box 19"/>
          <p:cNvSpPr txBox="1">
            <a:spLocks noChangeArrowheads="1"/>
          </p:cNvSpPr>
          <p:nvPr/>
        </p:nvSpPr>
        <p:spPr bwMode="gray">
          <a:xfrm>
            <a:off x="8324083" y="3142712"/>
            <a:ext cx="2084735" cy="738664"/>
          </a:xfrm>
          <a:prstGeom prst="rect">
            <a:avLst/>
          </a:prstGeom>
          <a:solidFill>
            <a:srgbClr val="EC7061"/>
          </a:solidFill>
          <a:ln w="19050">
            <a:solidFill>
              <a:srgbClr val="EC7061"/>
            </a:solidFill>
            <a:miter lim="800000"/>
            <a:headEnd/>
            <a:tailEnd/>
          </a:ln>
          <a:effectLs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14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我收到了两条路由，哪条路由是给客户</a:t>
            </a:r>
            <a:r>
              <a:rPr lang="en-US" altLang="zh-CN" sz="14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X</a:t>
            </a:r>
            <a:r>
              <a:rPr lang="zh-CN" altLang="en-US" sz="14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的，哪条是给客户</a:t>
            </a:r>
            <a:r>
              <a:rPr lang="en-US" altLang="zh-CN" sz="14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Y</a:t>
            </a:r>
            <a:r>
              <a:rPr lang="zh-CN" altLang="en-US" sz="14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的？</a:t>
            </a:r>
            <a:endParaRPr lang="en-US" altLang="zh-CN" sz="14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 name="直接连接符 4"/>
          <p:cNvCxnSpPr>
            <a:stCxn id="72" idx="2"/>
            <a:endCxn id="61" idx="0"/>
          </p:cNvCxnSpPr>
          <p:nvPr/>
        </p:nvCxnSpPr>
        <p:spPr bwMode="gray">
          <a:xfrm flipH="1">
            <a:off x="8090465" y="3881376"/>
            <a:ext cx="1275986" cy="813345"/>
          </a:xfrm>
          <a:prstGeom prst="line">
            <a:avLst/>
          </a:prstGeom>
          <a:ln w="12700">
            <a:solidFill>
              <a:srgbClr val="EC7061"/>
            </a:solidFill>
          </a:ln>
        </p:spPr>
        <p:style>
          <a:lnRef idx="1">
            <a:schemeClr val="accent1"/>
          </a:lnRef>
          <a:fillRef idx="0">
            <a:schemeClr val="accent1"/>
          </a:fillRef>
          <a:effectRef idx="0">
            <a:schemeClr val="accent1"/>
          </a:effectRef>
          <a:fontRef idx="minor">
            <a:schemeClr val="tx1"/>
          </a:fontRef>
        </p:style>
      </p:cxnSp>
      <p:sp>
        <p:nvSpPr>
          <p:cNvPr id="73" name="文本框 72"/>
          <p:cNvSpPr txBox="1"/>
          <p:nvPr/>
        </p:nvSpPr>
        <p:spPr bwMode="gray">
          <a:xfrm>
            <a:off x="3978275" y="3288091"/>
            <a:ext cx="2355132" cy="369332"/>
          </a:xfrm>
          <a:prstGeom prst="rect">
            <a:avLst/>
          </a:prstGeom>
          <a:noFill/>
          <a:ln w="19050">
            <a:noFill/>
          </a:ln>
        </p:spPr>
        <p:txBody>
          <a:bodyPr wrap="square" rtlCol="0">
            <a:spAutoFit/>
          </a:bodyPr>
          <a:lstStyle/>
          <a:p>
            <a:r>
              <a:rPr lang="en-US" altLang="zh-CN" dirty="0" smtClean="0">
                <a:latin typeface="Huawei Sans" panose="020C0503030203020204" pitchFamily="34" charset="0"/>
                <a:ea typeface="方正兰亭黑简体" panose="02000000000000000000" pitchFamily="2" charset="-122"/>
                <a:sym typeface="Huawei Sans" panose="020C0503030203020204" pitchFamily="34" charset="0"/>
              </a:rPr>
              <a:t>100:1:192.168.1.0/24</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文本框 74"/>
          <p:cNvSpPr txBox="1"/>
          <p:nvPr/>
        </p:nvSpPr>
        <p:spPr bwMode="gray">
          <a:xfrm>
            <a:off x="3984607" y="3748120"/>
            <a:ext cx="2355132" cy="369332"/>
          </a:xfrm>
          <a:prstGeom prst="rect">
            <a:avLst/>
          </a:prstGeom>
          <a:noFill/>
          <a:ln w="28575">
            <a:noFill/>
          </a:ln>
        </p:spPr>
        <p:txBody>
          <a:bodyPr wrap="none" rtlCol="0">
            <a:spAutoFit/>
          </a:bodyPr>
          <a:lstStyle/>
          <a:p>
            <a:r>
              <a:rPr lang="en-US" altLang="zh-CN" dirty="0" smtClean="0">
                <a:latin typeface="Huawei Sans" panose="020C0503030203020204" pitchFamily="34" charset="0"/>
                <a:ea typeface="方正兰亭黑简体" panose="02000000000000000000" pitchFamily="2" charset="-122"/>
                <a:sym typeface="Huawei Sans" panose="020C0503030203020204" pitchFamily="34" charset="0"/>
              </a:rPr>
              <a:t>200:1:192.168.1.0/24</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任意多边形 51"/>
          <p:cNvSpPr/>
          <p:nvPr/>
        </p:nvSpPr>
        <p:spPr bwMode="gray">
          <a:xfrm>
            <a:off x="4128342" y="4252075"/>
            <a:ext cx="3950677" cy="457200"/>
          </a:xfrm>
          <a:custGeom>
            <a:avLst/>
            <a:gdLst>
              <a:gd name="connsiteX0" fmla="*/ 0 w 3950677"/>
              <a:gd name="connsiteY0" fmla="*/ 422031 h 457200"/>
              <a:gd name="connsiteX1" fmla="*/ 422031 w 3950677"/>
              <a:gd name="connsiteY1" fmla="*/ 0 h 457200"/>
              <a:gd name="connsiteX2" fmla="*/ 3493477 w 3950677"/>
              <a:gd name="connsiteY2" fmla="*/ 0 h 457200"/>
              <a:gd name="connsiteX3" fmla="*/ 3950677 w 3950677"/>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3950677" h="457200">
                <a:moveTo>
                  <a:pt x="0" y="422031"/>
                </a:moveTo>
                <a:lnTo>
                  <a:pt x="422031" y="0"/>
                </a:lnTo>
                <a:lnTo>
                  <a:pt x="3493477" y="0"/>
                </a:lnTo>
                <a:lnTo>
                  <a:pt x="3950677" y="457200"/>
                </a:lnTo>
              </a:path>
            </a:pathLst>
          </a:custGeom>
          <a:ln w="31750">
            <a:solidFill>
              <a:srgbClr val="EC706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62" name="组合 61"/>
          <p:cNvGrpSpPr/>
          <p:nvPr/>
        </p:nvGrpSpPr>
        <p:grpSpPr bwMode="gray">
          <a:xfrm>
            <a:off x="9493131" y="4272637"/>
            <a:ext cx="540000" cy="723926"/>
            <a:chOff x="4073209" y="4947622"/>
            <a:chExt cx="540000" cy="723926"/>
          </a:xfrm>
        </p:grpSpPr>
        <p:pic>
          <p:nvPicPr>
            <p:cNvPr id="63" name="Picture 12" descr="E:\2016.01\1.12 扁平化图标\蓝色\AR-蓝色最新-40.png"/>
            <p:cNvPicPr>
              <a:picLocks noChangeAspect="1" noChangeArrowheads="1"/>
            </p:cNvPicPr>
            <p:nvPr/>
          </p:nvPicPr>
          <p:blipFill>
            <a:blip r:embed="rId4" cstate="print"/>
            <a:srcRect/>
            <a:stretch>
              <a:fillRect/>
            </a:stretch>
          </p:blipFill>
          <p:spPr bwMode="gray">
            <a:xfrm>
              <a:off x="4073209" y="4947622"/>
              <a:ext cx="540000" cy="441818"/>
            </a:xfrm>
            <a:prstGeom prst="rect">
              <a:avLst/>
            </a:prstGeom>
            <a:noFill/>
          </p:spPr>
        </p:pic>
        <p:sp>
          <p:nvSpPr>
            <p:cNvPr id="64" name="文本框 63"/>
            <p:cNvSpPr txBox="1"/>
            <p:nvPr/>
          </p:nvSpPr>
          <p:spPr bwMode="gray">
            <a:xfrm>
              <a:off x="4086262" y="5363771"/>
              <a:ext cx="50206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CE3</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65" name="组合 64"/>
          <p:cNvGrpSpPr/>
          <p:nvPr/>
        </p:nvGrpSpPr>
        <p:grpSpPr bwMode="gray">
          <a:xfrm>
            <a:off x="9504955" y="5354017"/>
            <a:ext cx="552270" cy="723926"/>
            <a:chOff x="4060939" y="4947622"/>
            <a:chExt cx="552270" cy="723926"/>
          </a:xfrm>
        </p:grpSpPr>
        <p:pic>
          <p:nvPicPr>
            <p:cNvPr id="66" name="Picture 12" descr="E:\2016.01\1.12 扁平化图标\蓝色\AR-蓝色最新-40.png"/>
            <p:cNvPicPr>
              <a:picLocks noChangeAspect="1" noChangeArrowheads="1"/>
            </p:cNvPicPr>
            <p:nvPr/>
          </p:nvPicPr>
          <p:blipFill>
            <a:blip r:embed="rId4" cstate="print"/>
            <a:srcRect/>
            <a:stretch>
              <a:fillRect/>
            </a:stretch>
          </p:blipFill>
          <p:spPr bwMode="gray">
            <a:xfrm>
              <a:off x="4073209" y="4947622"/>
              <a:ext cx="540000" cy="441818"/>
            </a:xfrm>
            <a:prstGeom prst="rect">
              <a:avLst/>
            </a:prstGeom>
            <a:noFill/>
          </p:spPr>
        </p:pic>
        <p:sp>
          <p:nvSpPr>
            <p:cNvPr id="67" name="文本框 66"/>
            <p:cNvSpPr txBox="1"/>
            <p:nvPr/>
          </p:nvSpPr>
          <p:spPr bwMode="gray">
            <a:xfrm>
              <a:off x="4060939" y="5363771"/>
              <a:ext cx="50206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CE4</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71" name="文本框 70"/>
          <p:cNvSpPr txBox="1"/>
          <p:nvPr/>
        </p:nvSpPr>
        <p:spPr bwMode="gray">
          <a:xfrm>
            <a:off x="5737981" y="4238699"/>
            <a:ext cx="902811" cy="307777"/>
          </a:xfrm>
          <a:prstGeom prst="rect">
            <a:avLst/>
          </a:prstGeom>
          <a:noFill/>
        </p:spPr>
        <p:txBody>
          <a:bodyPr wrap="none" rtlCol="0">
            <a:spAutoFit/>
          </a:bodyPr>
          <a:lstStyle/>
          <a:p>
            <a:r>
              <a:rPr lang="zh-CN" altLang="en-US" sz="1400" dirty="0" smtClean="0"/>
              <a:t>路由传递</a:t>
            </a:r>
            <a:endParaRPr lang="zh-CN" altLang="en-US" sz="1400" dirty="0"/>
          </a:p>
        </p:txBody>
      </p:sp>
    </p:spTree>
    <p:custDataLst>
      <p:tags r:id="rId1"/>
    </p:custDataLst>
    <p:extLst>
      <p:ext uri="{BB962C8B-B14F-4D97-AF65-F5344CB8AC3E}">
        <p14:creationId xmlns:p14="http://schemas.microsoft.com/office/powerpoint/2010/main" val="3741845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72"/>
                                        </p:tgtEl>
                                        <p:attrNameLst>
                                          <p:attrName>style.visibility</p:attrName>
                                        </p:attrNameLst>
                                      </p:cBhvr>
                                      <p:to>
                                        <p:strVal val="visible"/>
                                      </p:to>
                                    </p:set>
                                    <p:animEffect transition="in" filter="barn(inVertical)">
                                      <p:cBhvr>
                                        <p:cTn id="10" dur="5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smtClean="0">
                <a:sym typeface="Huawei Sans" panose="020C0503030203020204" pitchFamily="34" charset="0"/>
              </a:rPr>
              <a:t>RT</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bwMode="gray"/>
        <p:txBody>
          <a:bodyPr/>
          <a:lstStyle/>
          <a:p>
            <a:r>
              <a:rPr lang="zh-CN" altLang="en-US" sz="1800" dirty="0" smtClean="0">
                <a:sym typeface="Huawei Sans" panose="020C0503030203020204" pitchFamily="34" charset="0"/>
              </a:rPr>
              <a:t>在</a:t>
            </a:r>
            <a:r>
              <a:rPr lang="en-US" altLang="zh-CN" sz="1800" dirty="0" smtClean="0">
                <a:sym typeface="Huawei Sans" panose="020C0503030203020204" pitchFamily="34" charset="0"/>
              </a:rPr>
              <a:t>PE</a:t>
            </a:r>
            <a:r>
              <a:rPr lang="zh-CN" altLang="en-US" sz="1800" dirty="0" smtClean="0">
                <a:sym typeface="Huawei Sans" panose="020C0503030203020204" pitchFamily="34" charset="0"/>
              </a:rPr>
              <a:t>上，每一个</a:t>
            </a:r>
            <a:r>
              <a:rPr lang="en-US" altLang="zh-CN" sz="1800" dirty="0" smtClean="0">
                <a:sym typeface="Huawei Sans" panose="020C0503030203020204" pitchFamily="34" charset="0"/>
              </a:rPr>
              <a:t>VPN</a:t>
            </a:r>
            <a:r>
              <a:rPr lang="zh-CN" altLang="en-US" sz="1800" dirty="0" smtClean="0">
                <a:sym typeface="Huawei Sans" panose="020C0503030203020204" pitchFamily="34" charset="0"/>
              </a:rPr>
              <a:t>实例都会与一个或多个</a:t>
            </a:r>
            <a:r>
              <a:rPr lang="en-US" altLang="zh-CN" sz="1800" dirty="0" smtClean="0">
                <a:sym typeface="Huawei Sans" panose="020C0503030203020204" pitchFamily="34" charset="0"/>
              </a:rPr>
              <a:t>VPN Target</a:t>
            </a:r>
            <a:r>
              <a:rPr lang="zh-CN" altLang="en-US" sz="1800" dirty="0" smtClean="0">
                <a:sym typeface="Huawei Sans" panose="020C0503030203020204" pitchFamily="34" charset="0"/>
              </a:rPr>
              <a:t>属性绑定，有两类</a:t>
            </a:r>
            <a:r>
              <a:rPr lang="en-US" altLang="zh-CN" sz="1800" dirty="0" smtClean="0">
                <a:sym typeface="Huawei Sans" panose="020C0503030203020204" pitchFamily="34" charset="0"/>
              </a:rPr>
              <a:t>VPN Target</a:t>
            </a:r>
            <a:r>
              <a:rPr lang="zh-CN" altLang="en-US" sz="1800" dirty="0" smtClean="0">
                <a:sym typeface="Huawei Sans" panose="020C0503030203020204" pitchFamily="34" charset="0"/>
              </a:rPr>
              <a:t>属性：</a:t>
            </a:r>
            <a:endParaRPr lang="en-US" altLang="zh-CN" sz="1800" dirty="0" smtClean="0">
              <a:sym typeface="Huawei Sans" panose="020C0503030203020204" pitchFamily="34" charset="0"/>
            </a:endParaRPr>
          </a:p>
          <a:p>
            <a:pPr lvl="1"/>
            <a:r>
              <a:rPr lang="en-US" altLang="zh-CN" sz="1600" dirty="0" smtClean="0">
                <a:sym typeface="Huawei Sans" panose="020C0503030203020204" pitchFamily="34" charset="0"/>
              </a:rPr>
              <a:t>Export Target</a:t>
            </a:r>
            <a:r>
              <a:rPr lang="zh-CN" altLang="en-US" sz="1600" dirty="0" smtClean="0">
                <a:sym typeface="Huawei Sans" panose="020C0503030203020204" pitchFamily="34" charset="0"/>
              </a:rPr>
              <a:t>（</a:t>
            </a:r>
            <a:r>
              <a:rPr lang="en-US" altLang="zh-CN" sz="1600" dirty="0" smtClean="0">
                <a:sym typeface="Huawei Sans" panose="020C0503030203020204" pitchFamily="34" charset="0"/>
              </a:rPr>
              <a:t>ERT</a:t>
            </a:r>
            <a:r>
              <a:rPr lang="zh-CN" altLang="en-US" sz="1600" dirty="0" smtClean="0">
                <a:sym typeface="Huawei Sans" panose="020C0503030203020204" pitchFamily="34" charset="0"/>
              </a:rPr>
              <a:t>）：本地</a:t>
            </a:r>
            <a:r>
              <a:rPr lang="en-US" altLang="zh-CN" sz="1600" dirty="0" smtClean="0">
                <a:sym typeface="Huawei Sans" panose="020C0503030203020204" pitchFamily="34" charset="0"/>
              </a:rPr>
              <a:t>PE</a:t>
            </a:r>
            <a:r>
              <a:rPr lang="zh-CN" altLang="en-US" sz="1600" dirty="0" smtClean="0">
                <a:sym typeface="Huawei Sans" panose="020C0503030203020204" pitchFamily="34" charset="0"/>
              </a:rPr>
              <a:t>从直接相连站点学到</a:t>
            </a:r>
            <a:r>
              <a:rPr lang="en-US" altLang="zh-CN" sz="1600" dirty="0" smtClean="0">
                <a:sym typeface="Huawei Sans" panose="020C0503030203020204" pitchFamily="34" charset="0"/>
              </a:rPr>
              <a:t>IPv4</a:t>
            </a:r>
            <a:r>
              <a:rPr lang="zh-CN" altLang="en-US" sz="1600" dirty="0" smtClean="0">
                <a:sym typeface="Huawei Sans" panose="020C0503030203020204" pitchFamily="34" charset="0"/>
              </a:rPr>
              <a:t>路由后，转换为</a:t>
            </a:r>
            <a:r>
              <a:rPr lang="en-US" altLang="zh-CN" sz="1600" dirty="0" smtClean="0">
                <a:sym typeface="Huawei Sans" panose="020C0503030203020204" pitchFamily="34" charset="0"/>
              </a:rPr>
              <a:t>VPN IPv4</a:t>
            </a:r>
            <a:r>
              <a:rPr lang="zh-CN" altLang="en-US" sz="1600" dirty="0" smtClean="0">
                <a:sym typeface="Huawei Sans" panose="020C0503030203020204" pitchFamily="34" charset="0"/>
              </a:rPr>
              <a:t>路由，并为这些路由添加</a:t>
            </a:r>
            <a:r>
              <a:rPr lang="en-US" altLang="zh-CN" sz="1600" dirty="0" smtClean="0">
                <a:sym typeface="Huawei Sans" panose="020C0503030203020204" pitchFamily="34" charset="0"/>
              </a:rPr>
              <a:t>Export Target</a:t>
            </a:r>
            <a:r>
              <a:rPr lang="zh-CN" altLang="en-US" sz="1600" dirty="0" smtClean="0">
                <a:sym typeface="Huawei Sans" panose="020C0503030203020204" pitchFamily="34" charset="0"/>
              </a:rPr>
              <a:t>属性。</a:t>
            </a:r>
            <a:r>
              <a:rPr lang="en-US" altLang="zh-CN" sz="1600" dirty="0" smtClean="0">
                <a:sym typeface="Huawei Sans" panose="020C0503030203020204" pitchFamily="34" charset="0"/>
              </a:rPr>
              <a:t>Export Target</a:t>
            </a:r>
            <a:r>
              <a:rPr lang="zh-CN" altLang="en-US" sz="1600" dirty="0" smtClean="0">
                <a:sym typeface="Huawei Sans" panose="020C0503030203020204" pitchFamily="34" charset="0"/>
              </a:rPr>
              <a:t>属性作为</a:t>
            </a:r>
            <a:r>
              <a:rPr lang="en-US" altLang="zh-CN" sz="1600" dirty="0" smtClean="0">
                <a:sym typeface="Huawei Sans" panose="020C0503030203020204" pitchFamily="34" charset="0"/>
              </a:rPr>
              <a:t>BGP</a:t>
            </a:r>
            <a:r>
              <a:rPr lang="zh-CN" altLang="en-US" sz="1600" dirty="0" smtClean="0">
                <a:sym typeface="Huawei Sans" panose="020C0503030203020204" pitchFamily="34" charset="0"/>
              </a:rPr>
              <a:t>的扩展团体属性随路由发布。</a:t>
            </a:r>
            <a:endParaRPr lang="en-US" altLang="zh-CN" sz="1600" dirty="0" smtClean="0">
              <a:sym typeface="Huawei Sans" panose="020C0503030203020204" pitchFamily="34" charset="0"/>
            </a:endParaRPr>
          </a:p>
          <a:p>
            <a:pPr lvl="1"/>
            <a:r>
              <a:rPr lang="en-US" altLang="zh-CN" sz="1600" dirty="0" smtClean="0">
                <a:sym typeface="Huawei Sans" panose="020C0503030203020204" pitchFamily="34" charset="0"/>
              </a:rPr>
              <a:t>Import Target</a:t>
            </a:r>
            <a:r>
              <a:rPr lang="zh-CN" altLang="en-US" sz="1600" dirty="0" smtClean="0">
                <a:sym typeface="Huawei Sans" panose="020C0503030203020204" pitchFamily="34" charset="0"/>
              </a:rPr>
              <a:t>（</a:t>
            </a:r>
            <a:r>
              <a:rPr lang="en-US" altLang="zh-CN" sz="1600" dirty="0" smtClean="0">
                <a:sym typeface="Huawei Sans" panose="020C0503030203020204" pitchFamily="34" charset="0"/>
              </a:rPr>
              <a:t>IRT</a:t>
            </a:r>
            <a:r>
              <a:rPr lang="zh-CN" altLang="en-US" sz="1600" dirty="0" smtClean="0">
                <a:sym typeface="Huawei Sans" panose="020C0503030203020204" pitchFamily="34" charset="0"/>
              </a:rPr>
              <a:t>）：</a:t>
            </a:r>
            <a:r>
              <a:rPr lang="en-US" altLang="zh-CN" sz="1600" dirty="0" smtClean="0">
                <a:sym typeface="Huawei Sans" panose="020C0503030203020204" pitchFamily="34" charset="0"/>
              </a:rPr>
              <a:t>PE</a:t>
            </a:r>
            <a:r>
              <a:rPr lang="zh-CN" altLang="en-US" sz="1600" dirty="0" smtClean="0">
                <a:sym typeface="Huawei Sans" panose="020C0503030203020204" pitchFamily="34" charset="0"/>
              </a:rPr>
              <a:t>收到其它</a:t>
            </a:r>
            <a:r>
              <a:rPr lang="en-US" altLang="zh-CN" sz="1600" dirty="0" smtClean="0">
                <a:sym typeface="Huawei Sans" panose="020C0503030203020204" pitchFamily="34" charset="0"/>
              </a:rPr>
              <a:t>PE</a:t>
            </a:r>
            <a:r>
              <a:rPr lang="zh-CN" altLang="en-US" sz="1600" dirty="0" smtClean="0">
                <a:sym typeface="Huawei Sans" panose="020C0503030203020204" pitchFamily="34" charset="0"/>
              </a:rPr>
              <a:t>发布的</a:t>
            </a:r>
            <a:r>
              <a:rPr lang="en-US" altLang="zh-CN" sz="1600" dirty="0" smtClean="0">
                <a:sym typeface="Huawei Sans" panose="020C0503030203020204" pitchFamily="34" charset="0"/>
              </a:rPr>
              <a:t>VPN-IPv4</a:t>
            </a:r>
            <a:r>
              <a:rPr lang="zh-CN" altLang="en-US" sz="1600" dirty="0" smtClean="0">
                <a:sym typeface="Huawei Sans" panose="020C0503030203020204" pitchFamily="34" charset="0"/>
              </a:rPr>
              <a:t>路由时，检查其</a:t>
            </a:r>
            <a:r>
              <a:rPr lang="en-US" altLang="zh-CN" sz="1600" dirty="0" smtClean="0">
                <a:sym typeface="Huawei Sans" panose="020C0503030203020204" pitchFamily="34" charset="0"/>
              </a:rPr>
              <a:t>Export Target</a:t>
            </a:r>
            <a:r>
              <a:rPr lang="zh-CN" altLang="en-US" sz="1600" dirty="0" smtClean="0">
                <a:sym typeface="Huawei Sans" panose="020C0503030203020204" pitchFamily="34" charset="0"/>
              </a:rPr>
              <a:t>属性。当此属性与</a:t>
            </a:r>
            <a:r>
              <a:rPr lang="en-US" altLang="zh-CN" sz="1600" dirty="0" smtClean="0">
                <a:sym typeface="Huawei Sans" panose="020C0503030203020204" pitchFamily="34" charset="0"/>
              </a:rPr>
              <a:t>PE</a:t>
            </a:r>
            <a:r>
              <a:rPr lang="zh-CN" altLang="en-US" sz="1600" dirty="0" smtClean="0">
                <a:sym typeface="Huawei Sans" panose="020C0503030203020204" pitchFamily="34" charset="0"/>
              </a:rPr>
              <a:t>上某个</a:t>
            </a:r>
            <a:r>
              <a:rPr lang="en-US" altLang="zh-CN" sz="1600" dirty="0" smtClean="0">
                <a:sym typeface="Huawei Sans" panose="020C0503030203020204" pitchFamily="34" charset="0"/>
              </a:rPr>
              <a:t>VPN</a:t>
            </a:r>
            <a:r>
              <a:rPr lang="zh-CN" altLang="en-US" sz="1600" dirty="0" smtClean="0">
                <a:sym typeface="Huawei Sans" panose="020C0503030203020204" pitchFamily="34" charset="0"/>
              </a:rPr>
              <a:t>实例的</a:t>
            </a:r>
            <a:r>
              <a:rPr lang="en-US" altLang="zh-CN" sz="1600" dirty="0" smtClean="0">
                <a:sym typeface="Huawei Sans" panose="020C0503030203020204" pitchFamily="34" charset="0"/>
              </a:rPr>
              <a:t>Import Target</a:t>
            </a:r>
            <a:r>
              <a:rPr lang="zh-CN" altLang="en-US" sz="1600" dirty="0" smtClean="0">
                <a:sym typeface="Huawei Sans" panose="020C0503030203020204" pitchFamily="34" charset="0"/>
              </a:rPr>
              <a:t>匹配时，</a:t>
            </a:r>
            <a:r>
              <a:rPr lang="en-US" altLang="zh-CN" sz="1600" dirty="0" smtClean="0">
                <a:sym typeface="Huawei Sans" panose="020C0503030203020204" pitchFamily="34" charset="0"/>
              </a:rPr>
              <a:t>PE</a:t>
            </a:r>
            <a:r>
              <a:rPr lang="zh-CN" altLang="en-US" sz="1600" dirty="0" smtClean="0">
                <a:sym typeface="Huawei Sans" panose="020C0503030203020204" pitchFamily="34" charset="0"/>
              </a:rPr>
              <a:t>就把路由加入到该</a:t>
            </a:r>
            <a:r>
              <a:rPr lang="en-US" altLang="zh-CN" sz="1600" dirty="0" smtClean="0">
                <a:sym typeface="Huawei Sans" panose="020C0503030203020204" pitchFamily="34" charset="0"/>
              </a:rPr>
              <a:t>VPN</a:t>
            </a:r>
            <a:r>
              <a:rPr lang="zh-CN" altLang="en-US" sz="1600" dirty="0" smtClean="0">
                <a:sym typeface="Huawei Sans" panose="020C0503030203020204" pitchFamily="34" charset="0"/>
              </a:rPr>
              <a:t>实例的路由表。</a:t>
            </a:r>
          </a:p>
          <a:p>
            <a:endParaRPr lang="zh-CN" altLang="en-US" sz="1800" dirty="0">
              <a:sym typeface="Huawei Sans" panose="020C0503030203020204" pitchFamily="34" charset="0"/>
            </a:endParaRPr>
          </a:p>
        </p:txBody>
      </p:sp>
      <p:sp>
        <p:nvSpPr>
          <p:cNvPr id="4" name="圆角矩形 3"/>
          <p:cNvSpPr/>
          <p:nvPr/>
        </p:nvSpPr>
        <p:spPr bwMode="gray">
          <a:xfrm>
            <a:off x="4103749" y="4143995"/>
            <a:ext cx="4000659" cy="1825378"/>
          </a:xfrm>
          <a:prstGeom prst="roundRect">
            <a:avLst/>
          </a:prstGeom>
          <a:solidFill>
            <a:srgbClr val="BEE9EE"/>
          </a:solidFill>
          <a:ln w="28575" cap="flat" cmpd="sng" algn="ctr">
            <a:noFill/>
            <a:prstDash val="sys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文本框 4"/>
          <p:cNvSpPr txBox="1"/>
          <p:nvPr/>
        </p:nvSpPr>
        <p:spPr bwMode="gray">
          <a:xfrm>
            <a:off x="5308828" y="5674705"/>
            <a:ext cx="1590500" cy="307777"/>
          </a:xfrm>
          <a:prstGeom prst="rect">
            <a:avLst/>
          </a:prstGeom>
          <a:noFill/>
        </p:spPr>
        <p:txBody>
          <a:bodyPr wrap="none" rtlCol="0">
            <a:spAutoFit/>
          </a:bodyPr>
          <a:lstStyle/>
          <a:p>
            <a:r>
              <a:rPr lang="en-US" altLang="zh-CN"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MPLS VPN</a:t>
            </a:r>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骨干网</a:t>
            </a:r>
            <a:endPar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6" name="组合 5"/>
          <p:cNvGrpSpPr/>
          <p:nvPr/>
        </p:nvGrpSpPr>
        <p:grpSpPr bwMode="gray">
          <a:xfrm>
            <a:off x="3846898" y="4694721"/>
            <a:ext cx="4513567" cy="723926"/>
            <a:chOff x="4088571" y="4424992"/>
            <a:chExt cx="4513567" cy="723926"/>
          </a:xfrm>
        </p:grpSpPr>
        <p:cxnSp>
          <p:nvCxnSpPr>
            <p:cNvPr id="7" name="直接连接符 6"/>
            <p:cNvCxnSpPr>
              <a:stCxn id="11" idx="3"/>
              <a:endCxn id="13" idx="1"/>
            </p:cNvCxnSpPr>
            <p:nvPr/>
          </p:nvCxnSpPr>
          <p:spPr bwMode="gray">
            <a:xfrm>
              <a:off x="4628571" y="4645901"/>
              <a:ext cx="343356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8" name="组合 7"/>
            <p:cNvGrpSpPr/>
            <p:nvPr/>
          </p:nvGrpSpPr>
          <p:grpSpPr bwMode="gray">
            <a:xfrm>
              <a:off x="6067674" y="4424992"/>
              <a:ext cx="540000" cy="723926"/>
              <a:chOff x="5312873" y="4947622"/>
              <a:chExt cx="540000" cy="723926"/>
            </a:xfrm>
          </p:grpSpPr>
          <p:pic>
            <p:nvPicPr>
              <p:cNvPr id="15" name="Picture 12" descr="E:\2016.01\1.12 扁平化图标\蓝色\AR-蓝色最新-40.png"/>
              <p:cNvPicPr>
                <a:picLocks noChangeAspect="1" noChangeArrowheads="1"/>
              </p:cNvPicPr>
              <p:nvPr/>
            </p:nvPicPr>
            <p:blipFill>
              <a:blip r:embed="rId3" cstate="print"/>
              <a:srcRect/>
              <a:stretch>
                <a:fillRect/>
              </a:stretch>
            </p:blipFill>
            <p:spPr bwMode="gray">
              <a:xfrm>
                <a:off x="5312873" y="4947622"/>
                <a:ext cx="540000" cy="441818"/>
              </a:xfrm>
              <a:prstGeom prst="rect">
                <a:avLst/>
              </a:prstGeom>
              <a:noFill/>
            </p:spPr>
          </p:pic>
          <p:sp>
            <p:nvSpPr>
              <p:cNvPr id="16" name="文本框 15"/>
              <p:cNvSpPr txBox="1"/>
              <p:nvPr/>
            </p:nvSpPr>
            <p:spPr bwMode="gray">
              <a:xfrm>
                <a:off x="5436839" y="5363771"/>
                <a:ext cx="292068"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9" name="组合 8"/>
            <p:cNvGrpSpPr/>
            <p:nvPr/>
          </p:nvGrpSpPr>
          <p:grpSpPr bwMode="gray">
            <a:xfrm>
              <a:off x="8062138" y="4424992"/>
              <a:ext cx="540000" cy="714804"/>
              <a:chOff x="8062138" y="4947622"/>
              <a:chExt cx="540000" cy="714804"/>
            </a:xfrm>
          </p:grpSpPr>
          <p:pic>
            <p:nvPicPr>
              <p:cNvPr id="13" name="Picture 12" descr="E:\2016.01\1.12 扁平化图标\蓝色\AR-蓝色最新-40.png"/>
              <p:cNvPicPr>
                <a:picLocks noChangeAspect="1" noChangeArrowheads="1"/>
              </p:cNvPicPr>
              <p:nvPr/>
            </p:nvPicPr>
            <p:blipFill>
              <a:blip r:embed="rId3" cstate="print"/>
              <a:srcRect/>
              <a:stretch>
                <a:fillRect/>
              </a:stretch>
            </p:blipFill>
            <p:spPr bwMode="gray">
              <a:xfrm>
                <a:off x="8062138" y="4947622"/>
                <a:ext cx="540000" cy="441818"/>
              </a:xfrm>
              <a:prstGeom prst="rect">
                <a:avLst/>
              </a:prstGeom>
              <a:noFill/>
            </p:spPr>
          </p:pic>
          <p:sp>
            <p:nvSpPr>
              <p:cNvPr id="14" name="文本框 13"/>
              <p:cNvSpPr txBox="1"/>
              <p:nvPr/>
            </p:nvSpPr>
            <p:spPr bwMode="gray">
              <a:xfrm>
                <a:off x="8084306" y="5354649"/>
                <a:ext cx="497252"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PE2</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0" name="组合 9"/>
            <p:cNvGrpSpPr/>
            <p:nvPr/>
          </p:nvGrpSpPr>
          <p:grpSpPr bwMode="gray">
            <a:xfrm>
              <a:off x="4088571" y="4424992"/>
              <a:ext cx="540000" cy="723926"/>
              <a:chOff x="4088571" y="4947622"/>
              <a:chExt cx="540000" cy="723926"/>
            </a:xfrm>
          </p:grpSpPr>
          <p:pic>
            <p:nvPicPr>
              <p:cNvPr id="11" name="Picture 12" descr="E:\2016.01\1.12 扁平化图标\蓝色\AR-蓝色最新-40.png"/>
              <p:cNvPicPr>
                <a:picLocks noChangeAspect="1" noChangeArrowheads="1"/>
              </p:cNvPicPr>
              <p:nvPr/>
            </p:nvPicPr>
            <p:blipFill>
              <a:blip r:embed="rId3" cstate="print"/>
              <a:srcRect/>
              <a:stretch>
                <a:fillRect/>
              </a:stretch>
            </p:blipFill>
            <p:spPr bwMode="gray">
              <a:xfrm>
                <a:off x="4088571" y="4947622"/>
                <a:ext cx="540000" cy="441818"/>
              </a:xfrm>
              <a:prstGeom prst="rect">
                <a:avLst/>
              </a:prstGeom>
              <a:noFill/>
            </p:spPr>
          </p:pic>
          <p:sp>
            <p:nvSpPr>
              <p:cNvPr id="12" name="文本框 11"/>
              <p:cNvSpPr txBox="1"/>
              <p:nvPr/>
            </p:nvSpPr>
            <p:spPr bwMode="gray">
              <a:xfrm>
                <a:off x="4109945" y="5363771"/>
                <a:ext cx="497252" cy="307777"/>
              </a:xfrm>
              <a:prstGeom prst="rect">
                <a:avLst/>
              </a:prstGeom>
              <a:noFill/>
            </p:spPr>
            <p:txBody>
              <a:bodyPr wrap="non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PE1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grpSp>
        <p:nvGrpSpPr>
          <p:cNvPr id="17" name="组合 16"/>
          <p:cNvGrpSpPr/>
          <p:nvPr/>
        </p:nvGrpSpPr>
        <p:grpSpPr bwMode="gray">
          <a:xfrm>
            <a:off x="2158869" y="4272637"/>
            <a:ext cx="550687" cy="712575"/>
            <a:chOff x="4073209" y="4947622"/>
            <a:chExt cx="550687" cy="712575"/>
          </a:xfrm>
        </p:grpSpPr>
        <p:pic>
          <p:nvPicPr>
            <p:cNvPr id="18" name="Picture 12" descr="E:\2016.01\1.12 扁平化图标\蓝色\AR-蓝色最新-40.png"/>
            <p:cNvPicPr>
              <a:picLocks noChangeAspect="1" noChangeArrowheads="1"/>
            </p:cNvPicPr>
            <p:nvPr/>
          </p:nvPicPr>
          <p:blipFill>
            <a:blip r:embed="rId3" cstate="print"/>
            <a:srcRect/>
            <a:stretch>
              <a:fillRect/>
            </a:stretch>
          </p:blipFill>
          <p:spPr bwMode="gray">
            <a:xfrm>
              <a:off x="4073209" y="4947622"/>
              <a:ext cx="540000" cy="441818"/>
            </a:xfrm>
            <a:prstGeom prst="rect">
              <a:avLst/>
            </a:prstGeom>
            <a:noFill/>
          </p:spPr>
        </p:pic>
        <p:sp>
          <p:nvSpPr>
            <p:cNvPr id="19" name="文本框 18"/>
            <p:cNvSpPr txBox="1"/>
            <p:nvPr/>
          </p:nvSpPr>
          <p:spPr bwMode="gray">
            <a:xfrm>
              <a:off x="4121835" y="5352420"/>
              <a:ext cx="50206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0" name="圆角矩形 19"/>
          <p:cNvSpPr/>
          <p:nvPr/>
        </p:nvSpPr>
        <p:spPr bwMode="gray">
          <a:xfrm>
            <a:off x="952500" y="4025063"/>
            <a:ext cx="1873049" cy="994971"/>
          </a:xfrm>
          <a:prstGeom prst="roundRect">
            <a:avLst/>
          </a:prstGeom>
          <a:noFill/>
          <a:ln w="25400">
            <a:solidFill>
              <a:srgbClr val="8BC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1" name="组合 20"/>
          <p:cNvGrpSpPr/>
          <p:nvPr/>
        </p:nvGrpSpPr>
        <p:grpSpPr bwMode="gray">
          <a:xfrm>
            <a:off x="2147045" y="5354017"/>
            <a:ext cx="575533" cy="706640"/>
            <a:chOff x="4073209" y="4947622"/>
            <a:chExt cx="575533" cy="706640"/>
          </a:xfrm>
        </p:grpSpPr>
        <p:pic>
          <p:nvPicPr>
            <p:cNvPr id="22" name="Picture 12" descr="E:\2016.01\1.12 扁平化图标\蓝色\AR-蓝色最新-40.png"/>
            <p:cNvPicPr>
              <a:picLocks noChangeAspect="1" noChangeArrowheads="1"/>
            </p:cNvPicPr>
            <p:nvPr/>
          </p:nvPicPr>
          <p:blipFill>
            <a:blip r:embed="rId3" cstate="print"/>
            <a:srcRect/>
            <a:stretch>
              <a:fillRect/>
            </a:stretch>
          </p:blipFill>
          <p:spPr bwMode="gray">
            <a:xfrm>
              <a:off x="4073209" y="4947622"/>
              <a:ext cx="540000" cy="441818"/>
            </a:xfrm>
            <a:prstGeom prst="rect">
              <a:avLst/>
            </a:prstGeom>
            <a:noFill/>
          </p:spPr>
        </p:pic>
        <p:sp>
          <p:nvSpPr>
            <p:cNvPr id="23" name="文本框 22"/>
            <p:cNvSpPr txBox="1"/>
            <p:nvPr/>
          </p:nvSpPr>
          <p:spPr bwMode="gray">
            <a:xfrm>
              <a:off x="4146681" y="5346485"/>
              <a:ext cx="50206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CE2</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4" name="圆角矩形 23"/>
          <p:cNvSpPr/>
          <p:nvPr/>
        </p:nvSpPr>
        <p:spPr bwMode="gray">
          <a:xfrm>
            <a:off x="952500" y="5106443"/>
            <a:ext cx="1873049" cy="994971"/>
          </a:xfrm>
          <a:prstGeom prst="roundRect">
            <a:avLst/>
          </a:prstGeom>
          <a:noFill/>
          <a:ln w="254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圆角矩形 27"/>
          <p:cNvSpPr/>
          <p:nvPr/>
        </p:nvSpPr>
        <p:spPr bwMode="gray">
          <a:xfrm flipH="1">
            <a:off x="9366451" y="4025063"/>
            <a:ext cx="1873049" cy="994971"/>
          </a:xfrm>
          <a:prstGeom prst="roundRect">
            <a:avLst/>
          </a:prstGeom>
          <a:noFill/>
          <a:ln w="25400">
            <a:solidFill>
              <a:srgbClr val="8BC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圆角矩形 31"/>
          <p:cNvSpPr/>
          <p:nvPr/>
        </p:nvSpPr>
        <p:spPr bwMode="gray">
          <a:xfrm flipH="1">
            <a:off x="9378275" y="5106443"/>
            <a:ext cx="1873049" cy="994971"/>
          </a:xfrm>
          <a:prstGeom prst="roundRect">
            <a:avLst/>
          </a:prstGeom>
          <a:noFill/>
          <a:ln w="254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3" name="直接连接符 32"/>
          <p:cNvCxnSpPr>
            <a:stCxn id="18" idx="3"/>
            <a:endCxn id="11" idx="1"/>
          </p:cNvCxnSpPr>
          <p:nvPr/>
        </p:nvCxnSpPr>
        <p:spPr bwMode="gray">
          <a:xfrm>
            <a:off x="2698869" y="4493546"/>
            <a:ext cx="1148029" cy="42208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a:stCxn id="22" idx="3"/>
            <a:endCxn id="11" idx="1"/>
          </p:cNvCxnSpPr>
          <p:nvPr/>
        </p:nvCxnSpPr>
        <p:spPr bwMode="gray">
          <a:xfrm flipV="1">
            <a:off x="2687045" y="4915630"/>
            <a:ext cx="1159853" cy="65929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a:stCxn id="13" idx="3"/>
          </p:cNvCxnSpPr>
          <p:nvPr/>
        </p:nvCxnSpPr>
        <p:spPr bwMode="gray">
          <a:xfrm flipV="1">
            <a:off x="8360465" y="4493546"/>
            <a:ext cx="1132666" cy="42208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a:stCxn id="13" idx="3"/>
          </p:cNvCxnSpPr>
          <p:nvPr/>
        </p:nvCxnSpPr>
        <p:spPr bwMode="gray">
          <a:xfrm>
            <a:off x="8360465" y="4915630"/>
            <a:ext cx="1144490" cy="65929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文本框 36"/>
          <p:cNvSpPr txBox="1"/>
          <p:nvPr/>
        </p:nvSpPr>
        <p:spPr bwMode="gray">
          <a:xfrm>
            <a:off x="881938" y="4143995"/>
            <a:ext cx="1215397"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192.168.1.0/24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文本框 37"/>
          <p:cNvSpPr txBox="1"/>
          <p:nvPr/>
        </p:nvSpPr>
        <p:spPr bwMode="gray">
          <a:xfrm>
            <a:off x="894774" y="5465428"/>
            <a:ext cx="1215397"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192.168.1.0/24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文本框 38"/>
          <p:cNvSpPr txBox="1"/>
          <p:nvPr/>
        </p:nvSpPr>
        <p:spPr bwMode="gray">
          <a:xfrm>
            <a:off x="924700" y="4668568"/>
            <a:ext cx="1124026" cy="350160"/>
          </a:xfrm>
          <a:prstGeom prst="rect">
            <a:avLst/>
          </a:prstGeom>
          <a:noFill/>
        </p:spPr>
        <p:txBody>
          <a:bodyPr wrap="none" rtlCol="0">
            <a:spAutoFit/>
          </a:bodyPr>
          <a:lstStyle/>
          <a:p>
            <a:pPr>
              <a:lnSpc>
                <a:spcPct val="130000"/>
              </a:lnSpc>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X</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A</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文本框 39"/>
          <p:cNvSpPr txBox="1"/>
          <p:nvPr/>
        </p:nvSpPr>
        <p:spPr bwMode="gray">
          <a:xfrm>
            <a:off x="924700" y="5788101"/>
            <a:ext cx="1112805" cy="350160"/>
          </a:xfrm>
          <a:prstGeom prst="rect">
            <a:avLst/>
          </a:prstGeom>
          <a:noFill/>
        </p:spPr>
        <p:txBody>
          <a:bodyPr wrap="none" rtlCol="0">
            <a:spAutoFit/>
          </a:bodyPr>
          <a:lstStyle/>
          <a:p>
            <a:pPr>
              <a:lnSpc>
                <a:spcPct val="130000"/>
              </a:lnSpc>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Y</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C</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文本框 40"/>
          <p:cNvSpPr txBox="1"/>
          <p:nvPr/>
        </p:nvSpPr>
        <p:spPr bwMode="gray">
          <a:xfrm>
            <a:off x="10119237" y="4647624"/>
            <a:ext cx="1124026" cy="350160"/>
          </a:xfrm>
          <a:prstGeom prst="rect">
            <a:avLst/>
          </a:prstGeom>
          <a:noFill/>
        </p:spPr>
        <p:txBody>
          <a:bodyPr wrap="none" rtlCol="0">
            <a:spAutoFit/>
          </a:bodyPr>
          <a:lstStyle/>
          <a:p>
            <a:pPr>
              <a:lnSpc>
                <a:spcPct val="130000"/>
              </a:lnSpc>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X</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A</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文本框 41"/>
          <p:cNvSpPr txBox="1"/>
          <p:nvPr/>
        </p:nvSpPr>
        <p:spPr bwMode="gray">
          <a:xfrm>
            <a:off x="10119237" y="5767157"/>
            <a:ext cx="1133644" cy="350160"/>
          </a:xfrm>
          <a:prstGeom prst="rect">
            <a:avLst/>
          </a:prstGeom>
          <a:noFill/>
        </p:spPr>
        <p:txBody>
          <a:bodyPr wrap="none" rtlCol="0">
            <a:spAutoFit/>
          </a:bodyPr>
          <a:lstStyle/>
          <a:p>
            <a:pPr>
              <a:lnSpc>
                <a:spcPct val="130000"/>
              </a:lnSpc>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Y</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48" name="组合 47"/>
          <p:cNvGrpSpPr/>
          <p:nvPr/>
        </p:nvGrpSpPr>
        <p:grpSpPr bwMode="gray">
          <a:xfrm>
            <a:off x="4404482" y="4772848"/>
            <a:ext cx="3415982" cy="338554"/>
            <a:chOff x="4404482" y="4846588"/>
            <a:chExt cx="3415982" cy="338554"/>
          </a:xfrm>
        </p:grpSpPr>
        <p:sp>
          <p:nvSpPr>
            <p:cNvPr id="49" name="Can 9"/>
            <p:cNvSpPr/>
            <p:nvPr/>
          </p:nvSpPr>
          <p:spPr bwMode="gray">
            <a:xfrm rot="5400000">
              <a:off x="5985875" y="3295836"/>
              <a:ext cx="253196" cy="3415982"/>
            </a:xfrm>
            <a:prstGeom prst="can">
              <a:avLst>
                <a:gd name="adj" fmla="val 40000"/>
              </a:avLst>
            </a:prstGeom>
            <a:solidFill>
              <a:srgbClr val="FFF2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文本框 49"/>
            <p:cNvSpPr txBox="1"/>
            <p:nvPr/>
          </p:nvSpPr>
          <p:spPr bwMode="gray">
            <a:xfrm>
              <a:off x="5627470" y="4846588"/>
              <a:ext cx="984565" cy="338554"/>
            </a:xfrm>
            <a:prstGeom prst="rect">
              <a:avLst/>
            </a:prstGeom>
            <a:noFill/>
          </p:spPr>
          <p:txBody>
            <a:bodyPr wrap="none" rtlCol="0">
              <a:spAutoFit/>
            </a:bodyPr>
            <a:lstStyle/>
            <a:p>
              <a:r>
                <a:rPr lang="en-US" altLang="zh-CN" sz="16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MP-BGP</a:t>
              </a:r>
              <a:endParaRPr lang="zh-CN" altLang="en-US" sz="16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58" name="文本框 57"/>
          <p:cNvSpPr txBox="1"/>
          <p:nvPr/>
        </p:nvSpPr>
        <p:spPr bwMode="gray">
          <a:xfrm>
            <a:off x="3989998" y="3269429"/>
            <a:ext cx="2355132" cy="369332"/>
          </a:xfrm>
          <a:prstGeom prst="rect">
            <a:avLst/>
          </a:prstGeom>
          <a:noFill/>
          <a:ln w="19050">
            <a:noFill/>
          </a:ln>
        </p:spPr>
        <p:txBody>
          <a:bodyPr wrap="square" rtlCol="0">
            <a:spAutoFit/>
          </a:bodyPr>
          <a:lstStyle/>
          <a:p>
            <a:r>
              <a:rPr lang="en-US" altLang="zh-CN" dirty="0" smtClean="0">
                <a:latin typeface="Huawei Sans" panose="020C0503030203020204" pitchFamily="34" charset="0"/>
                <a:ea typeface="方正兰亭黑简体" panose="02000000000000000000" pitchFamily="2" charset="-122"/>
                <a:sym typeface="Huawei Sans" panose="020C0503030203020204" pitchFamily="34" charset="0"/>
              </a:rPr>
              <a:t>100:1:192.168.1.0/24</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文本框 58"/>
          <p:cNvSpPr txBox="1"/>
          <p:nvPr/>
        </p:nvSpPr>
        <p:spPr bwMode="gray">
          <a:xfrm>
            <a:off x="3984607" y="3729458"/>
            <a:ext cx="2355132" cy="369332"/>
          </a:xfrm>
          <a:prstGeom prst="rect">
            <a:avLst/>
          </a:prstGeom>
          <a:noFill/>
          <a:ln w="28575">
            <a:noFill/>
          </a:ln>
        </p:spPr>
        <p:txBody>
          <a:bodyPr wrap="none" rtlCol="0">
            <a:spAutoFit/>
          </a:bodyPr>
          <a:lstStyle/>
          <a:p>
            <a:r>
              <a:rPr lang="en-US" altLang="zh-CN" dirty="0" smtClean="0">
                <a:latin typeface="Huawei Sans" panose="020C0503030203020204" pitchFamily="34" charset="0"/>
                <a:ea typeface="方正兰亭黑简体" panose="02000000000000000000" pitchFamily="2" charset="-122"/>
                <a:sym typeface="Huawei Sans" panose="020C0503030203020204" pitchFamily="34" charset="0"/>
              </a:rPr>
              <a:t>200:1:192.168.1.0/24</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文本框 65"/>
          <p:cNvSpPr txBox="1"/>
          <p:nvPr/>
        </p:nvSpPr>
        <p:spPr bwMode="gray">
          <a:xfrm>
            <a:off x="6339739" y="3269429"/>
            <a:ext cx="1229461" cy="369332"/>
          </a:xfrm>
          <a:prstGeom prst="rect">
            <a:avLst/>
          </a:prstGeom>
          <a:noFill/>
          <a:ln w="19050">
            <a:noFill/>
          </a:ln>
        </p:spPr>
        <p:txBody>
          <a:bodyPr wrap="square" rtlCol="0">
            <a:spAutoFit/>
          </a:bodyPr>
          <a:lstStyle/>
          <a:p>
            <a:pPr algn="ctr"/>
            <a:r>
              <a:rPr lang="en-US" altLang="zh-CN" dirty="0" smtClean="0">
                <a:latin typeface="Huawei Sans" panose="020C0503030203020204" pitchFamily="34" charset="0"/>
                <a:ea typeface="方正兰亭黑简体" panose="02000000000000000000" pitchFamily="2" charset="-122"/>
                <a:sym typeface="Huawei Sans" panose="020C0503030203020204" pitchFamily="34" charset="0"/>
              </a:rPr>
              <a:t>RT=100:1</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 name="文本框 66"/>
          <p:cNvSpPr txBox="1"/>
          <p:nvPr/>
        </p:nvSpPr>
        <p:spPr bwMode="gray">
          <a:xfrm>
            <a:off x="6339742" y="3729458"/>
            <a:ext cx="1229458" cy="369332"/>
          </a:xfrm>
          <a:prstGeom prst="rect">
            <a:avLst/>
          </a:prstGeom>
          <a:noFill/>
          <a:ln w="28575">
            <a:noFill/>
          </a:ln>
        </p:spPr>
        <p:txBody>
          <a:bodyPr wrap="square" rtlCol="0">
            <a:spAutoFit/>
          </a:bodyPr>
          <a:lstStyle>
            <a:defPPr>
              <a:defRPr lang="en-US"/>
            </a:defPPr>
          </a:lstStyle>
          <a:p>
            <a:pPr algn="ct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RT=200:1</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Text Box 19"/>
          <p:cNvSpPr txBox="1">
            <a:spLocks noChangeArrowheads="1"/>
          </p:cNvSpPr>
          <p:nvPr/>
        </p:nvSpPr>
        <p:spPr bwMode="gray">
          <a:xfrm>
            <a:off x="8324083" y="3142712"/>
            <a:ext cx="2084735" cy="523220"/>
          </a:xfrm>
          <a:prstGeom prst="rect">
            <a:avLst/>
          </a:prstGeom>
          <a:solidFill>
            <a:srgbClr val="EC7061"/>
          </a:solidFill>
          <a:ln w="19050">
            <a:solidFill>
              <a:srgbClr val="EC7061"/>
            </a:solidFill>
            <a:miter lim="800000"/>
            <a:headEnd/>
            <a:tailEnd/>
          </a:ln>
          <a:effectLs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14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RT</a:t>
            </a:r>
            <a:r>
              <a:rPr lang="zh-CN" altLang="en-US" sz="14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是</a:t>
            </a:r>
            <a:r>
              <a:rPr lang="en-US" altLang="zh-CN" sz="14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100:1</a:t>
            </a:r>
            <a:r>
              <a:rPr lang="zh-CN" altLang="en-US" sz="14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的属于用户</a:t>
            </a:r>
            <a:r>
              <a:rPr lang="en-US" altLang="zh-CN" sz="14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X</a:t>
            </a:r>
            <a:r>
              <a:rPr lang="zh-CN" altLang="en-US" sz="14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RT</a:t>
            </a:r>
            <a:r>
              <a:rPr lang="zh-CN" altLang="en-US" sz="14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是</a:t>
            </a:r>
            <a:r>
              <a:rPr lang="en-US" altLang="zh-CN" sz="14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200:1</a:t>
            </a:r>
            <a:r>
              <a:rPr lang="zh-CN" altLang="en-US" sz="14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的属于用户</a:t>
            </a:r>
            <a:r>
              <a:rPr lang="en-US" altLang="zh-CN" sz="14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Y</a:t>
            </a:r>
            <a:r>
              <a:rPr lang="zh-CN" altLang="en-US" sz="14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9" name="直接连接符 68"/>
          <p:cNvCxnSpPr>
            <a:stCxn id="68" idx="2"/>
          </p:cNvCxnSpPr>
          <p:nvPr/>
        </p:nvCxnSpPr>
        <p:spPr bwMode="gray">
          <a:xfrm flipH="1">
            <a:off x="8090465" y="3665932"/>
            <a:ext cx="1275986" cy="1028789"/>
          </a:xfrm>
          <a:prstGeom prst="line">
            <a:avLst/>
          </a:prstGeom>
          <a:ln w="12700">
            <a:solidFill>
              <a:srgbClr val="EC7061"/>
            </a:solidFill>
          </a:ln>
        </p:spPr>
        <p:style>
          <a:lnRef idx="1">
            <a:schemeClr val="accent1"/>
          </a:lnRef>
          <a:fillRef idx="0">
            <a:schemeClr val="accent1"/>
          </a:fillRef>
          <a:effectRef idx="0">
            <a:schemeClr val="accent1"/>
          </a:effectRef>
          <a:fontRef idx="minor">
            <a:schemeClr val="tx1"/>
          </a:fontRef>
        </p:style>
      </p:cxnSp>
      <p:sp>
        <p:nvSpPr>
          <p:cNvPr id="53" name="任意多边形 52"/>
          <p:cNvSpPr/>
          <p:nvPr/>
        </p:nvSpPr>
        <p:spPr bwMode="gray">
          <a:xfrm>
            <a:off x="4128342" y="4252075"/>
            <a:ext cx="3950677" cy="457200"/>
          </a:xfrm>
          <a:custGeom>
            <a:avLst/>
            <a:gdLst>
              <a:gd name="connsiteX0" fmla="*/ 0 w 3950677"/>
              <a:gd name="connsiteY0" fmla="*/ 422031 h 457200"/>
              <a:gd name="connsiteX1" fmla="*/ 422031 w 3950677"/>
              <a:gd name="connsiteY1" fmla="*/ 0 h 457200"/>
              <a:gd name="connsiteX2" fmla="*/ 3493477 w 3950677"/>
              <a:gd name="connsiteY2" fmla="*/ 0 h 457200"/>
              <a:gd name="connsiteX3" fmla="*/ 3950677 w 3950677"/>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3950677" h="457200">
                <a:moveTo>
                  <a:pt x="0" y="422031"/>
                </a:moveTo>
                <a:lnTo>
                  <a:pt x="422031" y="0"/>
                </a:lnTo>
                <a:lnTo>
                  <a:pt x="3493477" y="0"/>
                </a:lnTo>
                <a:lnTo>
                  <a:pt x="3950677" y="457200"/>
                </a:lnTo>
              </a:path>
            </a:pathLst>
          </a:custGeom>
          <a:ln w="31750">
            <a:solidFill>
              <a:srgbClr val="EC706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54" name="组合 53"/>
          <p:cNvGrpSpPr/>
          <p:nvPr/>
        </p:nvGrpSpPr>
        <p:grpSpPr bwMode="gray">
          <a:xfrm>
            <a:off x="9493131" y="4272637"/>
            <a:ext cx="540000" cy="723926"/>
            <a:chOff x="4073209" y="4947622"/>
            <a:chExt cx="540000" cy="723926"/>
          </a:xfrm>
        </p:grpSpPr>
        <p:pic>
          <p:nvPicPr>
            <p:cNvPr id="55" name="Picture 12" descr="E:\2016.01\1.12 扁平化图标\蓝色\AR-蓝色最新-40.png"/>
            <p:cNvPicPr>
              <a:picLocks noChangeAspect="1" noChangeArrowheads="1"/>
            </p:cNvPicPr>
            <p:nvPr/>
          </p:nvPicPr>
          <p:blipFill>
            <a:blip r:embed="rId3" cstate="print"/>
            <a:srcRect/>
            <a:stretch>
              <a:fillRect/>
            </a:stretch>
          </p:blipFill>
          <p:spPr bwMode="gray">
            <a:xfrm>
              <a:off x="4073209" y="4947622"/>
              <a:ext cx="540000" cy="441818"/>
            </a:xfrm>
            <a:prstGeom prst="rect">
              <a:avLst/>
            </a:prstGeom>
            <a:noFill/>
          </p:spPr>
        </p:pic>
        <p:sp>
          <p:nvSpPr>
            <p:cNvPr id="56" name="文本框 55"/>
            <p:cNvSpPr txBox="1"/>
            <p:nvPr/>
          </p:nvSpPr>
          <p:spPr bwMode="gray">
            <a:xfrm>
              <a:off x="4086262" y="5363771"/>
              <a:ext cx="50206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CE3</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57" name="组合 56"/>
          <p:cNvGrpSpPr/>
          <p:nvPr/>
        </p:nvGrpSpPr>
        <p:grpSpPr bwMode="gray">
          <a:xfrm>
            <a:off x="9504955" y="5354017"/>
            <a:ext cx="552270" cy="723926"/>
            <a:chOff x="4060939" y="4947622"/>
            <a:chExt cx="552270" cy="723926"/>
          </a:xfrm>
        </p:grpSpPr>
        <p:pic>
          <p:nvPicPr>
            <p:cNvPr id="60" name="Picture 12" descr="E:\2016.01\1.12 扁平化图标\蓝色\AR-蓝色最新-40.png"/>
            <p:cNvPicPr>
              <a:picLocks noChangeAspect="1" noChangeArrowheads="1"/>
            </p:cNvPicPr>
            <p:nvPr/>
          </p:nvPicPr>
          <p:blipFill>
            <a:blip r:embed="rId3" cstate="print"/>
            <a:srcRect/>
            <a:stretch>
              <a:fillRect/>
            </a:stretch>
          </p:blipFill>
          <p:spPr bwMode="gray">
            <a:xfrm>
              <a:off x="4073209" y="4947622"/>
              <a:ext cx="540000" cy="441818"/>
            </a:xfrm>
            <a:prstGeom prst="rect">
              <a:avLst/>
            </a:prstGeom>
            <a:noFill/>
          </p:spPr>
        </p:pic>
        <p:sp>
          <p:nvSpPr>
            <p:cNvPr id="61" name="文本框 60"/>
            <p:cNvSpPr txBox="1"/>
            <p:nvPr/>
          </p:nvSpPr>
          <p:spPr bwMode="gray">
            <a:xfrm>
              <a:off x="4060939" y="5363771"/>
              <a:ext cx="50206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CE4</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62" name="文本框 61"/>
          <p:cNvSpPr txBox="1"/>
          <p:nvPr/>
        </p:nvSpPr>
        <p:spPr bwMode="gray">
          <a:xfrm>
            <a:off x="5737981" y="4238699"/>
            <a:ext cx="902811" cy="307777"/>
          </a:xfrm>
          <a:prstGeom prst="rect">
            <a:avLst/>
          </a:prstGeom>
          <a:noFill/>
        </p:spPr>
        <p:txBody>
          <a:bodyPr wrap="none" rtlCol="0">
            <a:spAutoFit/>
          </a:bodyPr>
          <a:lstStyle/>
          <a:p>
            <a:r>
              <a:rPr lang="zh-CN" altLang="en-US" sz="1400" dirty="0" smtClean="0"/>
              <a:t>路由传递</a:t>
            </a:r>
            <a:endParaRPr lang="zh-CN" altLang="en-US" sz="1400" dirty="0"/>
          </a:p>
        </p:txBody>
      </p:sp>
    </p:spTree>
    <p:extLst>
      <p:ext uri="{BB962C8B-B14F-4D97-AF65-F5344CB8AC3E}">
        <p14:creationId xmlns:p14="http://schemas.microsoft.com/office/powerpoint/2010/main" val="2286046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9"/>
                                        </p:tgtEl>
                                        <p:attrNameLst>
                                          <p:attrName>style.visibility</p:attrName>
                                        </p:attrNameLst>
                                      </p:cBhvr>
                                      <p:to>
                                        <p:strVal val="visible"/>
                                      </p:to>
                                    </p:set>
                                    <p:animEffect transition="in" filter="barn(inVertical)">
                                      <p:cBhvr>
                                        <p:cTn id="7" dur="500"/>
                                        <p:tgtEl>
                                          <p:spTgt spid="69"/>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68"/>
                                        </p:tgtEl>
                                        <p:attrNameLst>
                                          <p:attrName>style.visibility</p:attrName>
                                        </p:attrNameLst>
                                      </p:cBhvr>
                                      <p:to>
                                        <p:strVal val="visible"/>
                                      </p:to>
                                    </p:set>
                                    <p:animEffect transition="in" filter="barn(inVertical)">
                                      <p:cBhvr>
                                        <p:cTn id="10" dur="500"/>
                                        <p:tgtEl>
                                          <p:spTgt spid="68"/>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66"/>
                                        </p:tgtEl>
                                        <p:attrNameLst>
                                          <p:attrName>style.visibility</p:attrName>
                                        </p:attrNameLst>
                                      </p:cBhvr>
                                      <p:to>
                                        <p:strVal val="visible"/>
                                      </p:to>
                                    </p:set>
                                    <p:animEffect transition="in" filter="barn(inVertical)">
                                      <p:cBhvr>
                                        <p:cTn id="13" dur="500"/>
                                        <p:tgtEl>
                                          <p:spTgt spid="66"/>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67"/>
                                        </p:tgtEl>
                                        <p:attrNameLst>
                                          <p:attrName>style.visibility</p:attrName>
                                        </p:attrNameLst>
                                      </p:cBhvr>
                                      <p:to>
                                        <p:strVal val="visible"/>
                                      </p:to>
                                    </p:set>
                                    <p:animEffect transition="in" filter="barn(inVertical)">
                                      <p:cBhvr>
                                        <p:cTn id="16" dur="5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p:bldP spid="67" grpId="0"/>
      <p:bldP spid="6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标题 67"/>
          <p:cNvSpPr>
            <a:spLocks noGrp="1"/>
          </p:cNvSpPr>
          <p:nvPr>
            <p:ph type="title"/>
          </p:nvPr>
        </p:nvSpPr>
        <p:spPr bwMode="gray"/>
        <p:txBody>
          <a:bodyPr/>
          <a:lstStyle/>
          <a:p>
            <a:r>
              <a:rPr lang="zh-CN" altLang="en-US" smtClean="0"/>
              <a:t>入口</a:t>
            </a:r>
            <a:r>
              <a:rPr lang="en-US" altLang="zh-CN" smtClean="0"/>
              <a:t>PE</a:t>
            </a:r>
            <a:r>
              <a:rPr lang="zh-CN" altLang="en-US" smtClean="0"/>
              <a:t>到出口</a:t>
            </a:r>
            <a:r>
              <a:rPr lang="en-US" altLang="zh-CN" smtClean="0"/>
              <a:t>PE</a:t>
            </a:r>
            <a:r>
              <a:rPr lang="zh-CN" altLang="en-US" smtClean="0">
                <a:sym typeface="Huawei Sans" panose="020C0503030203020204" pitchFamily="34" charset="0"/>
              </a:rPr>
              <a:t>路由传递 </a:t>
            </a:r>
            <a:r>
              <a:rPr lang="en-US" altLang="zh-CN" smtClean="0">
                <a:sym typeface="Huawei Sans" panose="020C0503030203020204" pitchFamily="34" charset="0"/>
              </a:rPr>
              <a:t>(4)</a:t>
            </a:r>
            <a:endParaRPr lang="zh-CN" altLang="en-US" dirty="0">
              <a:sym typeface="Huawei Sans" panose="020C0503030203020204" pitchFamily="34" charset="0"/>
            </a:endParaRPr>
          </a:p>
        </p:txBody>
      </p:sp>
      <p:sp>
        <p:nvSpPr>
          <p:cNvPr id="69" name="文本占位符 68"/>
          <p:cNvSpPr>
            <a:spLocks noGrp="1"/>
          </p:cNvSpPr>
          <p:nvPr>
            <p:ph type="body" sz="quarter" idx="10"/>
          </p:nvPr>
        </p:nvSpPr>
        <p:spPr bwMode="gray"/>
        <p:txBody>
          <a:bodyPr/>
          <a:lstStyle/>
          <a:p>
            <a:r>
              <a:rPr lang="en-US" altLang="zh-CN" sz="1800" smtClean="0">
                <a:sym typeface="Huawei Sans" panose="020C0503030203020204" pitchFamily="34" charset="0"/>
              </a:rPr>
              <a:t>PE</a:t>
            </a:r>
            <a:r>
              <a:rPr lang="zh-CN" altLang="en-US" sz="1800" smtClean="0">
                <a:sym typeface="Huawei Sans" panose="020C0503030203020204" pitchFamily="34" charset="0"/>
              </a:rPr>
              <a:t>根据</a:t>
            </a:r>
            <a:r>
              <a:rPr lang="en-US" altLang="zh-CN" sz="1800" smtClean="0">
                <a:sym typeface="Huawei Sans" panose="020C0503030203020204" pitchFamily="34" charset="0"/>
              </a:rPr>
              <a:t>VPNv4</a:t>
            </a:r>
            <a:r>
              <a:rPr lang="zh-CN" altLang="en-US" sz="1800" smtClean="0">
                <a:sym typeface="Huawei Sans" panose="020C0503030203020204" pitchFamily="34" charset="0"/>
              </a:rPr>
              <a:t>路由所携带的</a:t>
            </a:r>
            <a:r>
              <a:rPr lang="en-US" altLang="zh-CN" sz="1800" smtClean="0">
                <a:sym typeface="Huawei Sans" panose="020C0503030203020204" pitchFamily="34" charset="0"/>
              </a:rPr>
              <a:t>RT</a:t>
            </a:r>
            <a:r>
              <a:rPr lang="zh-CN" altLang="en-US" sz="1800" smtClean="0">
                <a:sym typeface="Huawei Sans" panose="020C0503030203020204" pitchFamily="34" charset="0"/>
              </a:rPr>
              <a:t>将路由导入正确的</a:t>
            </a:r>
            <a:r>
              <a:rPr lang="en-US" altLang="zh-CN" sz="1800" smtClean="0">
                <a:sym typeface="Huawei Sans" panose="020C0503030203020204" pitchFamily="34" charset="0"/>
              </a:rPr>
              <a:t>VPN</a:t>
            </a:r>
            <a:r>
              <a:rPr lang="zh-CN" altLang="en-US" sz="1800" smtClean="0">
                <a:sym typeface="Huawei Sans" panose="020C0503030203020204" pitchFamily="34" charset="0"/>
              </a:rPr>
              <a:t>实例之后，</a:t>
            </a:r>
            <a:r>
              <a:rPr lang="en-US" altLang="zh-CN" sz="1800" smtClean="0">
                <a:sym typeface="Huawei Sans" panose="020C0503030203020204" pitchFamily="34" charset="0"/>
              </a:rPr>
              <a:t>VPNv4</a:t>
            </a:r>
            <a:r>
              <a:rPr lang="zh-CN" altLang="en-US" sz="1800" smtClean="0">
                <a:sym typeface="Huawei Sans" panose="020C0503030203020204" pitchFamily="34" charset="0"/>
              </a:rPr>
              <a:t>路由的</a:t>
            </a:r>
            <a:r>
              <a:rPr lang="en-US" altLang="zh-CN" sz="1800" smtClean="0">
                <a:sym typeface="Huawei Sans" panose="020C0503030203020204" pitchFamily="34" charset="0"/>
              </a:rPr>
              <a:t>RD</a:t>
            </a:r>
            <a:r>
              <a:rPr lang="zh-CN" altLang="en-US" sz="1800" smtClean="0">
                <a:sym typeface="Huawei Sans" panose="020C0503030203020204" pitchFamily="34" charset="0"/>
              </a:rPr>
              <a:t>值剥除，将</a:t>
            </a:r>
            <a:r>
              <a:rPr lang="en-US" altLang="zh-CN" sz="1800" smtClean="0">
                <a:sym typeface="Huawei Sans" panose="020C0503030203020204" pitchFamily="34" charset="0"/>
              </a:rPr>
              <a:t>IPv4</a:t>
            </a:r>
            <a:r>
              <a:rPr lang="zh-CN" altLang="en-US" sz="1800" smtClean="0">
                <a:sym typeface="Huawei Sans" panose="020C0503030203020204" pitchFamily="34" charset="0"/>
              </a:rPr>
              <a:t>路由通告给相应的客户的</a:t>
            </a:r>
            <a:r>
              <a:rPr lang="en-US" altLang="zh-CN" sz="1800" smtClean="0">
                <a:sym typeface="Huawei Sans" panose="020C0503030203020204" pitchFamily="34" charset="0"/>
              </a:rPr>
              <a:t>CE</a:t>
            </a:r>
            <a:r>
              <a:rPr lang="zh-CN" altLang="en-US" sz="1800" smtClean="0">
                <a:sym typeface="Huawei Sans" panose="020C0503030203020204" pitchFamily="34" charset="0"/>
              </a:rPr>
              <a:t>设备。</a:t>
            </a:r>
            <a:endParaRPr lang="en-US" altLang="zh-CN" sz="1800" smtClean="0">
              <a:sym typeface="Huawei Sans" panose="020C0503030203020204" pitchFamily="34" charset="0"/>
            </a:endParaRPr>
          </a:p>
          <a:p>
            <a:r>
              <a:rPr lang="zh-CN" altLang="en-US" sz="1800" smtClean="0">
                <a:sym typeface="Huawei Sans" panose="020C0503030203020204" pitchFamily="34" charset="0"/>
              </a:rPr>
              <a:t>站点</a:t>
            </a:r>
            <a:r>
              <a:rPr lang="en-US" altLang="zh-CN" sz="1800" smtClean="0">
                <a:sym typeface="Huawei Sans" panose="020C0503030203020204" pitchFamily="34" charset="0"/>
              </a:rPr>
              <a:t>B</a:t>
            </a:r>
            <a:r>
              <a:rPr lang="zh-CN" altLang="en-US" sz="1800" smtClean="0">
                <a:sym typeface="Huawei Sans" panose="020C0503030203020204" pitchFamily="34" charset="0"/>
              </a:rPr>
              <a:t>和站点</a:t>
            </a:r>
            <a:r>
              <a:rPr lang="en-US" altLang="zh-CN" sz="1800" smtClean="0">
                <a:sym typeface="Huawei Sans" panose="020C0503030203020204" pitchFamily="34" charset="0"/>
              </a:rPr>
              <a:t>D</a:t>
            </a:r>
            <a:r>
              <a:rPr lang="zh-CN" altLang="en-US" sz="1800" smtClean="0">
                <a:sym typeface="Huawei Sans" panose="020C0503030203020204" pitchFamily="34" charset="0"/>
              </a:rPr>
              <a:t>的</a:t>
            </a:r>
            <a:r>
              <a:rPr lang="en-US" altLang="zh-CN" sz="1800" smtClean="0">
                <a:sym typeface="Huawei Sans" panose="020C0503030203020204" pitchFamily="34" charset="0"/>
              </a:rPr>
              <a:t>CE</a:t>
            </a:r>
            <a:r>
              <a:rPr lang="zh-CN" altLang="en-US" sz="1800" smtClean="0">
                <a:sym typeface="Huawei Sans" panose="020C0503030203020204" pitchFamily="34" charset="0"/>
              </a:rPr>
              <a:t>设备就能学习到去往各自远端站点的路由。同理，通过一系列的操作，可以实现同一用户（同一</a:t>
            </a:r>
            <a:r>
              <a:rPr lang="en-US" altLang="zh-CN" sz="1800" smtClean="0">
                <a:sym typeface="Huawei Sans" panose="020C0503030203020204" pitchFamily="34" charset="0"/>
              </a:rPr>
              <a:t>VPN</a:t>
            </a:r>
            <a:r>
              <a:rPr lang="zh-CN" altLang="en-US" sz="1800" smtClean="0">
                <a:sym typeface="Huawei Sans" panose="020C0503030203020204" pitchFamily="34" charset="0"/>
              </a:rPr>
              <a:t>）不同站点之间的路由互通。</a:t>
            </a:r>
            <a:endParaRPr lang="en-US" altLang="zh-CN" sz="1800" dirty="0" smtClean="0">
              <a:sym typeface="Huawei Sans" panose="020C0503030203020204" pitchFamily="34" charset="0"/>
            </a:endParaRPr>
          </a:p>
        </p:txBody>
      </p:sp>
      <p:sp>
        <p:nvSpPr>
          <p:cNvPr id="51" name="圆角矩形 50"/>
          <p:cNvSpPr/>
          <p:nvPr/>
        </p:nvSpPr>
        <p:spPr bwMode="gray">
          <a:xfrm>
            <a:off x="4103749" y="4143995"/>
            <a:ext cx="4000659" cy="1825378"/>
          </a:xfrm>
          <a:prstGeom prst="roundRect">
            <a:avLst/>
          </a:prstGeom>
          <a:solidFill>
            <a:srgbClr val="BEE9EE"/>
          </a:solidFill>
          <a:ln w="28575" cap="flat" cmpd="sng" algn="ctr">
            <a:noFill/>
            <a:prstDash val="sys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文本框 52"/>
          <p:cNvSpPr txBox="1"/>
          <p:nvPr/>
        </p:nvSpPr>
        <p:spPr bwMode="gray">
          <a:xfrm>
            <a:off x="5308828" y="5674705"/>
            <a:ext cx="1590500" cy="307777"/>
          </a:xfrm>
          <a:prstGeom prst="rect">
            <a:avLst/>
          </a:prstGeom>
          <a:noFill/>
        </p:spPr>
        <p:txBody>
          <a:bodyPr wrap="none" rtlCol="0">
            <a:spAutoFit/>
          </a:bodyPr>
          <a:lstStyle/>
          <a:p>
            <a:r>
              <a:rPr lang="en-US" altLang="zh-CN"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MPLS VPN</a:t>
            </a:r>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骨干网</a:t>
            </a:r>
            <a:endPar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54" name="组合 53"/>
          <p:cNvGrpSpPr/>
          <p:nvPr/>
        </p:nvGrpSpPr>
        <p:grpSpPr bwMode="gray">
          <a:xfrm>
            <a:off x="3846898" y="4694721"/>
            <a:ext cx="4513567" cy="723926"/>
            <a:chOff x="4088571" y="4424992"/>
            <a:chExt cx="4513567" cy="723926"/>
          </a:xfrm>
        </p:grpSpPr>
        <p:cxnSp>
          <p:nvCxnSpPr>
            <p:cNvPr id="55" name="直接连接符 54"/>
            <p:cNvCxnSpPr>
              <a:stCxn id="59" idx="3"/>
              <a:endCxn id="61" idx="1"/>
            </p:cNvCxnSpPr>
            <p:nvPr/>
          </p:nvCxnSpPr>
          <p:spPr bwMode="gray">
            <a:xfrm>
              <a:off x="4628571" y="4645901"/>
              <a:ext cx="343356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6" name="组合 55"/>
            <p:cNvGrpSpPr/>
            <p:nvPr/>
          </p:nvGrpSpPr>
          <p:grpSpPr bwMode="gray">
            <a:xfrm>
              <a:off x="6067674" y="4424992"/>
              <a:ext cx="540000" cy="723926"/>
              <a:chOff x="5312873" y="4947622"/>
              <a:chExt cx="540000" cy="723926"/>
            </a:xfrm>
          </p:grpSpPr>
          <p:pic>
            <p:nvPicPr>
              <p:cNvPr id="74" name="Picture 12" descr="E:\2016.01\1.12 扁平化图标\蓝色\AR-蓝色最新-40.png"/>
              <p:cNvPicPr>
                <a:picLocks noChangeAspect="1" noChangeArrowheads="1"/>
              </p:cNvPicPr>
              <p:nvPr/>
            </p:nvPicPr>
            <p:blipFill>
              <a:blip r:embed="rId4" cstate="print"/>
              <a:srcRect/>
              <a:stretch>
                <a:fillRect/>
              </a:stretch>
            </p:blipFill>
            <p:spPr bwMode="gray">
              <a:xfrm>
                <a:off x="5312873" y="4947622"/>
                <a:ext cx="540000" cy="441818"/>
              </a:xfrm>
              <a:prstGeom prst="rect">
                <a:avLst/>
              </a:prstGeom>
              <a:noFill/>
            </p:spPr>
          </p:pic>
          <p:sp>
            <p:nvSpPr>
              <p:cNvPr id="80" name="文本框 79"/>
              <p:cNvSpPr txBox="1"/>
              <p:nvPr/>
            </p:nvSpPr>
            <p:spPr bwMode="gray">
              <a:xfrm>
                <a:off x="5436839" y="5363771"/>
                <a:ext cx="292068"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57" name="组合 56"/>
            <p:cNvGrpSpPr/>
            <p:nvPr/>
          </p:nvGrpSpPr>
          <p:grpSpPr bwMode="gray">
            <a:xfrm>
              <a:off x="8062138" y="4424992"/>
              <a:ext cx="540000" cy="714804"/>
              <a:chOff x="8062138" y="4947622"/>
              <a:chExt cx="540000" cy="714804"/>
            </a:xfrm>
          </p:grpSpPr>
          <p:pic>
            <p:nvPicPr>
              <p:cNvPr id="61" name="Picture 12" descr="E:\2016.01\1.12 扁平化图标\蓝色\AR-蓝色最新-40.png"/>
              <p:cNvPicPr>
                <a:picLocks noChangeAspect="1" noChangeArrowheads="1"/>
              </p:cNvPicPr>
              <p:nvPr/>
            </p:nvPicPr>
            <p:blipFill>
              <a:blip r:embed="rId4" cstate="print"/>
              <a:srcRect/>
              <a:stretch>
                <a:fillRect/>
              </a:stretch>
            </p:blipFill>
            <p:spPr bwMode="gray">
              <a:xfrm>
                <a:off x="8062138" y="4947622"/>
                <a:ext cx="540000" cy="441818"/>
              </a:xfrm>
              <a:prstGeom prst="rect">
                <a:avLst/>
              </a:prstGeom>
              <a:noFill/>
            </p:spPr>
          </p:pic>
          <p:sp>
            <p:nvSpPr>
              <p:cNvPr id="70" name="文本框 69"/>
              <p:cNvSpPr txBox="1"/>
              <p:nvPr/>
            </p:nvSpPr>
            <p:spPr bwMode="gray">
              <a:xfrm>
                <a:off x="8084306" y="5354649"/>
                <a:ext cx="497252"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PE2</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58" name="组合 57"/>
            <p:cNvGrpSpPr/>
            <p:nvPr/>
          </p:nvGrpSpPr>
          <p:grpSpPr bwMode="gray">
            <a:xfrm>
              <a:off x="4088571" y="4424992"/>
              <a:ext cx="540000" cy="723926"/>
              <a:chOff x="4088571" y="4947622"/>
              <a:chExt cx="540000" cy="723926"/>
            </a:xfrm>
          </p:grpSpPr>
          <p:pic>
            <p:nvPicPr>
              <p:cNvPr id="59" name="Picture 12" descr="E:\2016.01\1.12 扁平化图标\蓝色\AR-蓝色最新-40.png"/>
              <p:cNvPicPr>
                <a:picLocks noChangeAspect="1" noChangeArrowheads="1"/>
              </p:cNvPicPr>
              <p:nvPr/>
            </p:nvPicPr>
            <p:blipFill>
              <a:blip r:embed="rId4" cstate="print"/>
              <a:srcRect/>
              <a:stretch>
                <a:fillRect/>
              </a:stretch>
            </p:blipFill>
            <p:spPr bwMode="gray">
              <a:xfrm>
                <a:off x="4088571" y="4947622"/>
                <a:ext cx="540000" cy="441818"/>
              </a:xfrm>
              <a:prstGeom prst="rect">
                <a:avLst/>
              </a:prstGeom>
              <a:noFill/>
            </p:spPr>
          </p:pic>
          <p:sp>
            <p:nvSpPr>
              <p:cNvPr id="60" name="文本框 59"/>
              <p:cNvSpPr txBox="1"/>
              <p:nvPr/>
            </p:nvSpPr>
            <p:spPr bwMode="gray">
              <a:xfrm>
                <a:off x="4109945" y="5363771"/>
                <a:ext cx="497252" cy="307777"/>
              </a:xfrm>
              <a:prstGeom prst="rect">
                <a:avLst/>
              </a:prstGeom>
              <a:noFill/>
            </p:spPr>
            <p:txBody>
              <a:bodyPr wrap="non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PE1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grpSp>
        <p:nvGrpSpPr>
          <p:cNvPr id="81" name="组合 80"/>
          <p:cNvGrpSpPr/>
          <p:nvPr/>
        </p:nvGrpSpPr>
        <p:grpSpPr bwMode="gray">
          <a:xfrm>
            <a:off x="2158869" y="4272637"/>
            <a:ext cx="550687" cy="712575"/>
            <a:chOff x="4073209" y="4947622"/>
            <a:chExt cx="550687" cy="712575"/>
          </a:xfrm>
        </p:grpSpPr>
        <p:pic>
          <p:nvPicPr>
            <p:cNvPr id="82" name="Picture 12" descr="E:\2016.01\1.12 扁平化图标\蓝色\AR-蓝色最新-40.png"/>
            <p:cNvPicPr>
              <a:picLocks noChangeAspect="1" noChangeArrowheads="1"/>
            </p:cNvPicPr>
            <p:nvPr/>
          </p:nvPicPr>
          <p:blipFill>
            <a:blip r:embed="rId4" cstate="print"/>
            <a:srcRect/>
            <a:stretch>
              <a:fillRect/>
            </a:stretch>
          </p:blipFill>
          <p:spPr bwMode="gray">
            <a:xfrm>
              <a:off x="4073209" y="4947622"/>
              <a:ext cx="540000" cy="441818"/>
            </a:xfrm>
            <a:prstGeom prst="rect">
              <a:avLst/>
            </a:prstGeom>
            <a:noFill/>
          </p:spPr>
        </p:pic>
        <p:sp>
          <p:nvSpPr>
            <p:cNvPr id="83" name="文本框 82"/>
            <p:cNvSpPr txBox="1"/>
            <p:nvPr/>
          </p:nvSpPr>
          <p:spPr bwMode="gray">
            <a:xfrm>
              <a:off x="4121835" y="5352420"/>
              <a:ext cx="50206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84" name="圆角矩形 83"/>
          <p:cNvSpPr/>
          <p:nvPr/>
        </p:nvSpPr>
        <p:spPr bwMode="gray">
          <a:xfrm>
            <a:off x="952500" y="4025063"/>
            <a:ext cx="1873049" cy="994971"/>
          </a:xfrm>
          <a:prstGeom prst="roundRect">
            <a:avLst/>
          </a:prstGeom>
          <a:noFill/>
          <a:ln w="25400">
            <a:solidFill>
              <a:srgbClr val="8BC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85" name="组合 84"/>
          <p:cNvGrpSpPr/>
          <p:nvPr/>
        </p:nvGrpSpPr>
        <p:grpSpPr bwMode="gray">
          <a:xfrm>
            <a:off x="2147045" y="5354017"/>
            <a:ext cx="575533" cy="706640"/>
            <a:chOff x="4073209" y="4947622"/>
            <a:chExt cx="575533" cy="706640"/>
          </a:xfrm>
        </p:grpSpPr>
        <p:pic>
          <p:nvPicPr>
            <p:cNvPr id="86" name="Picture 12" descr="E:\2016.01\1.12 扁平化图标\蓝色\AR-蓝色最新-40.png"/>
            <p:cNvPicPr>
              <a:picLocks noChangeAspect="1" noChangeArrowheads="1"/>
            </p:cNvPicPr>
            <p:nvPr/>
          </p:nvPicPr>
          <p:blipFill>
            <a:blip r:embed="rId4" cstate="print"/>
            <a:srcRect/>
            <a:stretch>
              <a:fillRect/>
            </a:stretch>
          </p:blipFill>
          <p:spPr bwMode="gray">
            <a:xfrm>
              <a:off x="4073209" y="4947622"/>
              <a:ext cx="540000" cy="441818"/>
            </a:xfrm>
            <a:prstGeom prst="rect">
              <a:avLst/>
            </a:prstGeom>
            <a:noFill/>
          </p:spPr>
        </p:pic>
        <p:sp>
          <p:nvSpPr>
            <p:cNvPr id="87" name="文本框 86"/>
            <p:cNvSpPr txBox="1"/>
            <p:nvPr/>
          </p:nvSpPr>
          <p:spPr bwMode="gray">
            <a:xfrm>
              <a:off x="4146681" y="5346485"/>
              <a:ext cx="50206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CE2</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88" name="圆角矩形 87"/>
          <p:cNvSpPr/>
          <p:nvPr/>
        </p:nvSpPr>
        <p:spPr bwMode="gray">
          <a:xfrm>
            <a:off x="952500" y="5106443"/>
            <a:ext cx="1873049" cy="994971"/>
          </a:xfrm>
          <a:prstGeom prst="roundRect">
            <a:avLst/>
          </a:prstGeom>
          <a:noFill/>
          <a:ln w="254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2" name="圆角矩形 91"/>
          <p:cNvSpPr/>
          <p:nvPr/>
        </p:nvSpPr>
        <p:spPr bwMode="gray">
          <a:xfrm flipH="1">
            <a:off x="9366451" y="4025063"/>
            <a:ext cx="1873049" cy="994971"/>
          </a:xfrm>
          <a:prstGeom prst="roundRect">
            <a:avLst/>
          </a:prstGeom>
          <a:noFill/>
          <a:ln w="25400">
            <a:solidFill>
              <a:srgbClr val="8BC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6" name="圆角矩形 95"/>
          <p:cNvSpPr/>
          <p:nvPr/>
        </p:nvSpPr>
        <p:spPr bwMode="gray">
          <a:xfrm flipH="1">
            <a:off x="9378275" y="5106443"/>
            <a:ext cx="1873049" cy="994971"/>
          </a:xfrm>
          <a:prstGeom prst="roundRect">
            <a:avLst/>
          </a:prstGeom>
          <a:noFill/>
          <a:ln w="254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97" name="直接连接符 96"/>
          <p:cNvCxnSpPr>
            <a:stCxn id="82" idx="3"/>
            <a:endCxn id="59" idx="1"/>
          </p:cNvCxnSpPr>
          <p:nvPr/>
        </p:nvCxnSpPr>
        <p:spPr bwMode="gray">
          <a:xfrm>
            <a:off x="2698869" y="4493546"/>
            <a:ext cx="1148029" cy="42208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a:stCxn id="86" idx="3"/>
            <a:endCxn id="59" idx="1"/>
          </p:cNvCxnSpPr>
          <p:nvPr/>
        </p:nvCxnSpPr>
        <p:spPr bwMode="gray">
          <a:xfrm flipV="1">
            <a:off x="2687045" y="4915630"/>
            <a:ext cx="1159853" cy="65929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直接连接符 98"/>
          <p:cNvCxnSpPr>
            <a:stCxn id="61" idx="3"/>
          </p:cNvCxnSpPr>
          <p:nvPr/>
        </p:nvCxnSpPr>
        <p:spPr bwMode="gray">
          <a:xfrm flipV="1">
            <a:off x="8360465" y="4493546"/>
            <a:ext cx="1132666" cy="42208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直接连接符 99"/>
          <p:cNvCxnSpPr>
            <a:stCxn id="61" idx="3"/>
          </p:cNvCxnSpPr>
          <p:nvPr/>
        </p:nvCxnSpPr>
        <p:spPr bwMode="gray">
          <a:xfrm>
            <a:off x="8360465" y="4915630"/>
            <a:ext cx="1144490" cy="65929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01" name="文本框 100"/>
          <p:cNvSpPr txBox="1"/>
          <p:nvPr/>
        </p:nvSpPr>
        <p:spPr bwMode="gray">
          <a:xfrm>
            <a:off x="881938" y="4143995"/>
            <a:ext cx="1215397"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192.168.1.0/24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2" name="文本框 101"/>
          <p:cNvSpPr txBox="1"/>
          <p:nvPr/>
        </p:nvSpPr>
        <p:spPr bwMode="gray">
          <a:xfrm>
            <a:off x="894774" y="5465428"/>
            <a:ext cx="1215397"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192.168.1.0/24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3" name="文本框 102"/>
          <p:cNvSpPr txBox="1"/>
          <p:nvPr/>
        </p:nvSpPr>
        <p:spPr bwMode="gray">
          <a:xfrm>
            <a:off x="924700" y="4668568"/>
            <a:ext cx="1124026" cy="350160"/>
          </a:xfrm>
          <a:prstGeom prst="rect">
            <a:avLst/>
          </a:prstGeom>
          <a:noFill/>
        </p:spPr>
        <p:txBody>
          <a:bodyPr wrap="none" rtlCol="0">
            <a:spAutoFit/>
          </a:bodyPr>
          <a:lstStyle/>
          <a:p>
            <a:pPr>
              <a:lnSpc>
                <a:spcPct val="130000"/>
              </a:lnSpc>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X</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A</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4" name="文本框 103"/>
          <p:cNvSpPr txBox="1"/>
          <p:nvPr/>
        </p:nvSpPr>
        <p:spPr bwMode="gray">
          <a:xfrm>
            <a:off x="924700" y="5788101"/>
            <a:ext cx="1112805" cy="350160"/>
          </a:xfrm>
          <a:prstGeom prst="rect">
            <a:avLst/>
          </a:prstGeom>
          <a:noFill/>
        </p:spPr>
        <p:txBody>
          <a:bodyPr wrap="none" rtlCol="0">
            <a:spAutoFit/>
          </a:bodyPr>
          <a:lstStyle/>
          <a:p>
            <a:pPr>
              <a:lnSpc>
                <a:spcPct val="130000"/>
              </a:lnSpc>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Y</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C</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5" name="文本框 104"/>
          <p:cNvSpPr txBox="1"/>
          <p:nvPr/>
        </p:nvSpPr>
        <p:spPr bwMode="gray">
          <a:xfrm>
            <a:off x="10119237" y="4647624"/>
            <a:ext cx="1114408" cy="350160"/>
          </a:xfrm>
          <a:prstGeom prst="rect">
            <a:avLst/>
          </a:prstGeom>
          <a:noFill/>
        </p:spPr>
        <p:txBody>
          <a:bodyPr wrap="none" rtlCol="0">
            <a:spAutoFit/>
          </a:bodyPr>
          <a:lstStyle/>
          <a:p>
            <a:pPr>
              <a:lnSpc>
                <a:spcPct val="130000"/>
              </a:lnSpc>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X</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6" name="文本框 105"/>
          <p:cNvSpPr txBox="1"/>
          <p:nvPr/>
        </p:nvSpPr>
        <p:spPr bwMode="gray">
          <a:xfrm>
            <a:off x="10119237" y="5767157"/>
            <a:ext cx="1133644" cy="350160"/>
          </a:xfrm>
          <a:prstGeom prst="rect">
            <a:avLst/>
          </a:prstGeom>
          <a:noFill/>
        </p:spPr>
        <p:txBody>
          <a:bodyPr wrap="none" rtlCol="0">
            <a:spAutoFit/>
          </a:bodyPr>
          <a:lstStyle/>
          <a:p>
            <a:pPr>
              <a:lnSpc>
                <a:spcPct val="130000"/>
              </a:lnSpc>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Y</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3" name="组合 2"/>
          <p:cNvGrpSpPr/>
          <p:nvPr/>
        </p:nvGrpSpPr>
        <p:grpSpPr bwMode="gray">
          <a:xfrm>
            <a:off x="4404482" y="4772848"/>
            <a:ext cx="3415982" cy="338554"/>
            <a:chOff x="4404482" y="4846588"/>
            <a:chExt cx="3415982" cy="338554"/>
          </a:xfrm>
        </p:grpSpPr>
        <p:sp>
          <p:nvSpPr>
            <p:cNvPr id="115" name="Can 9"/>
            <p:cNvSpPr/>
            <p:nvPr/>
          </p:nvSpPr>
          <p:spPr bwMode="gray">
            <a:xfrm rot="5400000">
              <a:off x="5985875" y="3295836"/>
              <a:ext cx="253196" cy="3415982"/>
            </a:xfrm>
            <a:prstGeom prst="can">
              <a:avLst>
                <a:gd name="adj" fmla="val 40000"/>
              </a:avLst>
            </a:prstGeom>
            <a:solidFill>
              <a:srgbClr val="FFF2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文本框 1"/>
            <p:cNvSpPr txBox="1"/>
            <p:nvPr/>
          </p:nvSpPr>
          <p:spPr bwMode="gray">
            <a:xfrm>
              <a:off x="5627470" y="4846588"/>
              <a:ext cx="984565" cy="338554"/>
            </a:xfrm>
            <a:prstGeom prst="rect">
              <a:avLst/>
            </a:prstGeom>
            <a:noFill/>
          </p:spPr>
          <p:txBody>
            <a:bodyPr wrap="none" rtlCol="0">
              <a:spAutoFit/>
            </a:bodyPr>
            <a:lstStyle/>
            <a:p>
              <a:r>
                <a:rPr lang="en-US" altLang="zh-CN" sz="16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MP-BGP</a:t>
              </a:r>
              <a:endParaRPr lang="zh-CN" altLang="en-US" sz="16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62" name="文本框 61"/>
          <p:cNvSpPr txBox="1"/>
          <p:nvPr/>
        </p:nvSpPr>
        <p:spPr bwMode="gray">
          <a:xfrm rot="20416982">
            <a:off x="8297921" y="4286911"/>
            <a:ext cx="1068530" cy="276999"/>
          </a:xfrm>
          <a:prstGeom prst="rect">
            <a:avLst/>
          </a:prstGeom>
          <a:noFill/>
          <a:ln w="28575">
            <a:noFill/>
          </a:ln>
        </p:spPr>
        <p:txBody>
          <a:bodyPr wrap="square" lIns="0" rIns="0" rtlCol="0">
            <a:spAutoFit/>
          </a:bodyPr>
          <a:lstStyle>
            <a:defPPr>
              <a:defRPr lang="en-US"/>
            </a:defPPr>
            <a:lvl1pPr algn="ctr">
              <a:defRPr sz="1200"/>
            </a:lvl1pPr>
          </a:lstStyle>
          <a:p>
            <a:r>
              <a:rPr lang="en-US" altLang="zh-CN">
                <a:latin typeface="Huawei Sans" panose="020C0503030203020204" pitchFamily="34" charset="0"/>
                <a:ea typeface="方正兰亭黑简体" panose="02000000000000000000" pitchFamily="2" charset="-122"/>
                <a:sym typeface="Huawei Sans" panose="020C0503030203020204" pitchFamily="34" charset="0"/>
              </a:rPr>
              <a:t>192.168.1.0/24</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文本框 62"/>
          <p:cNvSpPr txBox="1"/>
          <p:nvPr/>
        </p:nvSpPr>
        <p:spPr bwMode="gray">
          <a:xfrm rot="1791987">
            <a:off x="8262018" y="5355970"/>
            <a:ext cx="1094890" cy="276999"/>
          </a:xfrm>
          <a:prstGeom prst="rect">
            <a:avLst/>
          </a:prstGeom>
          <a:noFill/>
          <a:ln w="28575">
            <a:noFill/>
          </a:ln>
        </p:spPr>
        <p:txBody>
          <a:bodyPr wrap="square" lIns="0" rIns="0" rtlCol="0">
            <a:spAutoFit/>
          </a:bodyPr>
          <a:lstStyle/>
          <a:p>
            <a:pPr algn="ct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192.168.1.0/24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 name="直接箭头连接符 5"/>
          <p:cNvCxnSpPr/>
          <p:nvPr/>
        </p:nvCxnSpPr>
        <p:spPr bwMode="gray">
          <a:xfrm flipV="1">
            <a:off x="8320234" y="4025282"/>
            <a:ext cx="842215" cy="332874"/>
          </a:xfrm>
          <a:prstGeom prst="straightConnector1">
            <a:avLst/>
          </a:prstGeom>
          <a:ln w="12700">
            <a:solidFill>
              <a:srgbClr val="8BC9A0"/>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p:nvPr/>
        </p:nvCxnSpPr>
        <p:spPr bwMode="gray">
          <a:xfrm>
            <a:off x="8265755" y="5494469"/>
            <a:ext cx="763945" cy="429585"/>
          </a:xfrm>
          <a:prstGeom prst="straightConnector1">
            <a:avLst/>
          </a:prstGeom>
          <a:ln w="12700">
            <a:solidFill>
              <a:srgbClr val="56C4D2"/>
            </a:solidFill>
            <a:tailEnd type="triangle"/>
          </a:ln>
        </p:spPr>
        <p:style>
          <a:lnRef idx="1">
            <a:schemeClr val="accent1"/>
          </a:lnRef>
          <a:fillRef idx="0">
            <a:schemeClr val="accent1"/>
          </a:fillRef>
          <a:effectRef idx="0">
            <a:schemeClr val="accent1"/>
          </a:effectRef>
          <a:fontRef idx="minor">
            <a:schemeClr val="tx1"/>
          </a:fontRef>
        </p:style>
      </p:cxnSp>
      <p:grpSp>
        <p:nvGrpSpPr>
          <p:cNvPr id="52" name="组合 51"/>
          <p:cNvGrpSpPr/>
          <p:nvPr/>
        </p:nvGrpSpPr>
        <p:grpSpPr bwMode="gray">
          <a:xfrm>
            <a:off x="9493131" y="4272637"/>
            <a:ext cx="540000" cy="723926"/>
            <a:chOff x="4073209" y="4947622"/>
            <a:chExt cx="540000" cy="723926"/>
          </a:xfrm>
        </p:grpSpPr>
        <p:pic>
          <p:nvPicPr>
            <p:cNvPr id="65" name="Picture 12" descr="E:\2016.01\1.12 扁平化图标\蓝色\AR-蓝色最新-40.png"/>
            <p:cNvPicPr>
              <a:picLocks noChangeAspect="1" noChangeArrowheads="1"/>
            </p:cNvPicPr>
            <p:nvPr/>
          </p:nvPicPr>
          <p:blipFill>
            <a:blip r:embed="rId4" cstate="print"/>
            <a:srcRect/>
            <a:stretch>
              <a:fillRect/>
            </a:stretch>
          </p:blipFill>
          <p:spPr bwMode="gray">
            <a:xfrm>
              <a:off x="4073209" y="4947622"/>
              <a:ext cx="540000" cy="441818"/>
            </a:xfrm>
            <a:prstGeom prst="rect">
              <a:avLst/>
            </a:prstGeom>
            <a:noFill/>
          </p:spPr>
        </p:pic>
        <p:sp>
          <p:nvSpPr>
            <p:cNvPr id="66" name="文本框 65"/>
            <p:cNvSpPr txBox="1"/>
            <p:nvPr/>
          </p:nvSpPr>
          <p:spPr bwMode="gray">
            <a:xfrm>
              <a:off x="4086262" y="5363771"/>
              <a:ext cx="50206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CE3</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67" name="组合 66"/>
          <p:cNvGrpSpPr/>
          <p:nvPr/>
        </p:nvGrpSpPr>
        <p:grpSpPr bwMode="gray">
          <a:xfrm>
            <a:off x="9504955" y="5354017"/>
            <a:ext cx="552270" cy="723926"/>
            <a:chOff x="4060939" y="4947622"/>
            <a:chExt cx="552270" cy="723926"/>
          </a:xfrm>
        </p:grpSpPr>
        <p:pic>
          <p:nvPicPr>
            <p:cNvPr id="71" name="Picture 12" descr="E:\2016.01\1.12 扁平化图标\蓝色\AR-蓝色最新-40.png"/>
            <p:cNvPicPr>
              <a:picLocks noChangeAspect="1" noChangeArrowheads="1"/>
            </p:cNvPicPr>
            <p:nvPr/>
          </p:nvPicPr>
          <p:blipFill>
            <a:blip r:embed="rId4" cstate="print"/>
            <a:srcRect/>
            <a:stretch>
              <a:fillRect/>
            </a:stretch>
          </p:blipFill>
          <p:spPr bwMode="gray">
            <a:xfrm>
              <a:off x="4073209" y="4947622"/>
              <a:ext cx="540000" cy="441818"/>
            </a:xfrm>
            <a:prstGeom prst="rect">
              <a:avLst/>
            </a:prstGeom>
            <a:noFill/>
          </p:spPr>
        </p:pic>
        <p:sp>
          <p:nvSpPr>
            <p:cNvPr id="72" name="文本框 71"/>
            <p:cNvSpPr txBox="1"/>
            <p:nvPr/>
          </p:nvSpPr>
          <p:spPr bwMode="gray">
            <a:xfrm>
              <a:off x="4060939" y="5363771"/>
              <a:ext cx="50206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CE4</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Tree>
    <p:custDataLst>
      <p:tags r:id="rId1"/>
    </p:custDataLst>
    <p:extLst>
      <p:ext uri="{BB962C8B-B14F-4D97-AF65-F5344CB8AC3E}">
        <p14:creationId xmlns:p14="http://schemas.microsoft.com/office/powerpoint/2010/main" val="26986199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smtClean="0">
                <a:sym typeface="Huawei Sans" panose="020C0503030203020204" pitchFamily="34" charset="0"/>
              </a:rPr>
              <a:t>数据转发时遇到的问题</a:t>
            </a:r>
            <a:endParaRPr lang="zh-CN" altLang="en-US" dirty="0">
              <a:sym typeface="Huawei Sans" panose="020C0503030203020204" pitchFamily="34" charset="0"/>
            </a:endParaRPr>
          </a:p>
        </p:txBody>
      </p:sp>
      <p:sp>
        <p:nvSpPr>
          <p:cNvPr id="4" name="圆角矩形 3"/>
          <p:cNvSpPr/>
          <p:nvPr/>
        </p:nvSpPr>
        <p:spPr bwMode="gray">
          <a:xfrm>
            <a:off x="4103749" y="4143995"/>
            <a:ext cx="4000659" cy="1825378"/>
          </a:xfrm>
          <a:prstGeom prst="roundRect">
            <a:avLst/>
          </a:prstGeom>
          <a:solidFill>
            <a:srgbClr val="BEE9EE"/>
          </a:solidFill>
          <a:ln w="28575" cap="flat" cmpd="sng" algn="ctr">
            <a:noFill/>
            <a:prstDash val="sys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文本框 4"/>
          <p:cNvSpPr txBox="1"/>
          <p:nvPr/>
        </p:nvSpPr>
        <p:spPr bwMode="gray">
          <a:xfrm>
            <a:off x="5308828" y="5674705"/>
            <a:ext cx="1590500" cy="307777"/>
          </a:xfrm>
          <a:prstGeom prst="rect">
            <a:avLst/>
          </a:prstGeom>
          <a:noFill/>
        </p:spPr>
        <p:txBody>
          <a:bodyPr wrap="none" rtlCol="0">
            <a:spAutoFit/>
          </a:bodyPr>
          <a:lstStyle/>
          <a:p>
            <a:r>
              <a:rPr lang="en-US" altLang="zh-CN"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MPLS VPN</a:t>
            </a:r>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骨干网</a:t>
            </a:r>
            <a:endPar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7" name="组合 16"/>
          <p:cNvGrpSpPr/>
          <p:nvPr/>
        </p:nvGrpSpPr>
        <p:grpSpPr bwMode="gray">
          <a:xfrm>
            <a:off x="2158869" y="4272637"/>
            <a:ext cx="550687" cy="712575"/>
            <a:chOff x="4073209" y="4947622"/>
            <a:chExt cx="550687" cy="712575"/>
          </a:xfrm>
        </p:grpSpPr>
        <p:pic>
          <p:nvPicPr>
            <p:cNvPr id="18" name="Picture 12" descr="E:\2016.01\1.12 扁平化图标\蓝色\AR-蓝色最新-40.png"/>
            <p:cNvPicPr>
              <a:picLocks noChangeAspect="1" noChangeArrowheads="1"/>
            </p:cNvPicPr>
            <p:nvPr/>
          </p:nvPicPr>
          <p:blipFill>
            <a:blip r:embed="rId3" cstate="print"/>
            <a:srcRect/>
            <a:stretch>
              <a:fillRect/>
            </a:stretch>
          </p:blipFill>
          <p:spPr bwMode="gray">
            <a:xfrm>
              <a:off x="4073209" y="4947622"/>
              <a:ext cx="540000" cy="441818"/>
            </a:xfrm>
            <a:prstGeom prst="rect">
              <a:avLst/>
            </a:prstGeom>
            <a:noFill/>
          </p:spPr>
        </p:pic>
        <p:sp>
          <p:nvSpPr>
            <p:cNvPr id="19" name="文本框 18"/>
            <p:cNvSpPr txBox="1"/>
            <p:nvPr/>
          </p:nvSpPr>
          <p:spPr bwMode="gray">
            <a:xfrm>
              <a:off x="4121835" y="5352420"/>
              <a:ext cx="50206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0" name="圆角矩形 19"/>
          <p:cNvSpPr/>
          <p:nvPr/>
        </p:nvSpPr>
        <p:spPr bwMode="gray">
          <a:xfrm>
            <a:off x="952500" y="4025063"/>
            <a:ext cx="1873049" cy="994971"/>
          </a:xfrm>
          <a:prstGeom prst="roundRect">
            <a:avLst/>
          </a:prstGeom>
          <a:noFill/>
          <a:ln w="25400">
            <a:solidFill>
              <a:srgbClr val="8BC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1" name="组合 20"/>
          <p:cNvGrpSpPr/>
          <p:nvPr/>
        </p:nvGrpSpPr>
        <p:grpSpPr bwMode="gray">
          <a:xfrm>
            <a:off x="2147045" y="5354017"/>
            <a:ext cx="575533" cy="706640"/>
            <a:chOff x="4073209" y="4947622"/>
            <a:chExt cx="575533" cy="706640"/>
          </a:xfrm>
        </p:grpSpPr>
        <p:pic>
          <p:nvPicPr>
            <p:cNvPr id="22" name="Picture 12" descr="E:\2016.01\1.12 扁平化图标\蓝色\AR-蓝色最新-40.png"/>
            <p:cNvPicPr>
              <a:picLocks noChangeAspect="1" noChangeArrowheads="1"/>
            </p:cNvPicPr>
            <p:nvPr/>
          </p:nvPicPr>
          <p:blipFill>
            <a:blip r:embed="rId3" cstate="print"/>
            <a:srcRect/>
            <a:stretch>
              <a:fillRect/>
            </a:stretch>
          </p:blipFill>
          <p:spPr bwMode="gray">
            <a:xfrm>
              <a:off x="4073209" y="4947622"/>
              <a:ext cx="540000" cy="441818"/>
            </a:xfrm>
            <a:prstGeom prst="rect">
              <a:avLst/>
            </a:prstGeom>
            <a:noFill/>
          </p:spPr>
        </p:pic>
        <p:sp>
          <p:nvSpPr>
            <p:cNvPr id="23" name="文本框 22"/>
            <p:cNvSpPr txBox="1"/>
            <p:nvPr/>
          </p:nvSpPr>
          <p:spPr bwMode="gray">
            <a:xfrm>
              <a:off x="4146681" y="5346485"/>
              <a:ext cx="50206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CE2</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4" name="圆角矩形 23"/>
          <p:cNvSpPr/>
          <p:nvPr/>
        </p:nvSpPr>
        <p:spPr bwMode="gray">
          <a:xfrm>
            <a:off x="952500" y="5106443"/>
            <a:ext cx="1873049" cy="994971"/>
          </a:xfrm>
          <a:prstGeom prst="roundRect">
            <a:avLst/>
          </a:prstGeom>
          <a:noFill/>
          <a:ln w="254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圆角矩形 27"/>
          <p:cNvSpPr/>
          <p:nvPr/>
        </p:nvSpPr>
        <p:spPr bwMode="gray">
          <a:xfrm flipH="1">
            <a:off x="9341150" y="4035753"/>
            <a:ext cx="1873049" cy="994971"/>
          </a:xfrm>
          <a:prstGeom prst="roundRect">
            <a:avLst/>
          </a:prstGeom>
          <a:noFill/>
          <a:ln w="25400">
            <a:solidFill>
              <a:srgbClr val="8BC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圆角矩形 31"/>
          <p:cNvSpPr/>
          <p:nvPr/>
        </p:nvSpPr>
        <p:spPr bwMode="gray">
          <a:xfrm flipH="1">
            <a:off x="9378275" y="5106443"/>
            <a:ext cx="1873049" cy="994971"/>
          </a:xfrm>
          <a:prstGeom prst="roundRect">
            <a:avLst/>
          </a:prstGeom>
          <a:noFill/>
          <a:ln w="254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3" name="直接连接符 32"/>
          <p:cNvCxnSpPr>
            <a:stCxn id="18" idx="3"/>
            <a:endCxn id="11" idx="1"/>
          </p:cNvCxnSpPr>
          <p:nvPr/>
        </p:nvCxnSpPr>
        <p:spPr bwMode="gray">
          <a:xfrm>
            <a:off x="2698869" y="4493546"/>
            <a:ext cx="1148029" cy="42208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a:stCxn id="22" idx="3"/>
            <a:endCxn id="11" idx="1"/>
          </p:cNvCxnSpPr>
          <p:nvPr/>
        </p:nvCxnSpPr>
        <p:spPr bwMode="gray">
          <a:xfrm flipV="1">
            <a:off x="2687045" y="4915630"/>
            <a:ext cx="1159853" cy="65929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a:stCxn id="13" idx="3"/>
          </p:cNvCxnSpPr>
          <p:nvPr/>
        </p:nvCxnSpPr>
        <p:spPr bwMode="gray">
          <a:xfrm flipV="1">
            <a:off x="8360465" y="4493546"/>
            <a:ext cx="1132666" cy="42208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a:stCxn id="13" idx="3"/>
          </p:cNvCxnSpPr>
          <p:nvPr/>
        </p:nvCxnSpPr>
        <p:spPr bwMode="gray">
          <a:xfrm>
            <a:off x="8360465" y="4915630"/>
            <a:ext cx="1144490" cy="65929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文本框 36"/>
          <p:cNvSpPr txBox="1"/>
          <p:nvPr/>
        </p:nvSpPr>
        <p:spPr bwMode="gray">
          <a:xfrm>
            <a:off x="881938" y="4143995"/>
            <a:ext cx="1215397"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192.168.1.0/24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文本框 37"/>
          <p:cNvSpPr txBox="1"/>
          <p:nvPr/>
        </p:nvSpPr>
        <p:spPr bwMode="gray">
          <a:xfrm>
            <a:off x="894774" y="5465428"/>
            <a:ext cx="1215397"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192.168.1.0/24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文本框 38"/>
          <p:cNvSpPr txBox="1"/>
          <p:nvPr/>
        </p:nvSpPr>
        <p:spPr bwMode="gray">
          <a:xfrm>
            <a:off x="924700" y="4668568"/>
            <a:ext cx="1124026" cy="350160"/>
          </a:xfrm>
          <a:prstGeom prst="rect">
            <a:avLst/>
          </a:prstGeom>
          <a:noFill/>
        </p:spPr>
        <p:txBody>
          <a:bodyPr wrap="none" rtlCol="0">
            <a:spAutoFit/>
          </a:bodyPr>
          <a:lstStyle/>
          <a:p>
            <a:pPr>
              <a:lnSpc>
                <a:spcPct val="130000"/>
              </a:lnSpc>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X</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A</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文本框 39"/>
          <p:cNvSpPr txBox="1"/>
          <p:nvPr/>
        </p:nvSpPr>
        <p:spPr bwMode="gray">
          <a:xfrm>
            <a:off x="924700" y="5788101"/>
            <a:ext cx="1112805" cy="350160"/>
          </a:xfrm>
          <a:prstGeom prst="rect">
            <a:avLst/>
          </a:prstGeom>
          <a:noFill/>
        </p:spPr>
        <p:txBody>
          <a:bodyPr wrap="none" rtlCol="0">
            <a:spAutoFit/>
          </a:bodyPr>
          <a:lstStyle/>
          <a:p>
            <a:pPr>
              <a:lnSpc>
                <a:spcPct val="130000"/>
              </a:lnSpc>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Y</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C</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文本框 40"/>
          <p:cNvSpPr txBox="1"/>
          <p:nvPr/>
        </p:nvSpPr>
        <p:spPr bwMode="gray">
          <a:xfrm>
            <a:off x="10119237" y="4647624"/>
            <a:ext cx="1114408" cy="350160"/>
          </a:xfrm>
          <a:prstGeom prst="rect">
            <a:avLst/>
          </a:prstGeom>
          <a:noFill/>
        </p:spPr>
        <p:txBody>
          <a:bodyPr wrap="none" rtlCol="0">
            <a:spAutoFit/>
          </a:bodyPr>
          <a:lstStyle/>
          <a:p>
            <a:pPr>
              <a:lnSpc>
                <a:spcPct val="130000"/>
              </a:lnSpc>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X</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文本框 41"/>
          <p:cNvSpPr txBox="1"/>
          <p:nvPr/>
        </p:nvSpPr>
        <p:spPr bwMode="gray">
          <a:xfrm>
            <a:off x="10119237" y="5767157"/>
            <a:ext cx="1133644" cy="350160"/>
          </a:xfrm>
          <a:prstGeom prst="rect">
            <a:avLst/>
          </a:prstGeom>
          <a:noFill/>
        </p:spPr>
        <p:txBody>
          <a:bodyPr wrap="none" rtlCol="0">
            <a:spAutoFit/>
          </a:bodyPr>
          <a:lstStyle/>
          <a:p>
            <a:pPr>
              <a:lnSpc>
                <a:spcPct val="130000"/>
              </a:lnSpc>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Y</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4" name="直接箭头连接符 53"/>
          <p:cNvCxnSpPr/>
          <p:nvPr/>
        </p:nvCxnSpPr>
        <p:spPr bwMode="gray">
          <a:xfrm flipV="1">
            <a:off x="8465619" y="4008778"/>
            <a:ext cx="899308" cy="330781"/>
          </a:xfrm>
          <a:prstGeom prst="straightConnector1">
            <a:avLst/>
          </a:prstGeom>
          <a:ln w="12700">
            <a:solidFill>
              <a:srgbClr val="8BC9A0"/>
            </a:solidFill>
            <a:headEnd type="triangle"/>
            <a:tailEnd type="none"/>
          </a:ln>
        </p:spPr>
        <p:style>
          <a:lnRef idx="1">
            <a:schemeClr val="accent1"/>
          </a:lnRef>
          <a:fillRef idx="0">
            <a:schemeClr val="accent1"/>
          </a:fillRef>
          <a:effectRef idx="0">
            <a:schemeClr val="accent1"/>
          </a:effectRef>
          <a:fontRef idx="minor">
            <a:schemeClr val="tx1"/>
          </a:fontRef>
        </p:style>
      </p:cxnSp>
      <p:grpSp>
        <p:nvGrpSpPr>
          <p:cNvPr id="57" name="组合 56"/>
          <p:cNvGrpSpPr/>
          <p:nvPr/>
        </p:nvGrpSpPr>
        <p:grpSpPr bwMode="gray">
          <a:xfrm>
            <a:off x="7895424" y="3335634"/>
            <a:ext cx="1719698" cy="712155"/>
            <a:chOff x="7890168" y="3254919"/>
            <a:chExt cx="1719698" cy="712155"/>
          </a:xfrm>
        </p:grpSpPr>
        <p:sp>
          <p:nvSpPr>
            <p:cNvPr id="50" name="文本框 49"/>
            <p:cNvSpPr txBox="1"/>
            <p:nvPr/>
          </p:nvSpPr>
          <p:spPr bwMode="gray">
            <a:xfrm rot="20416982">
              <a:off x="7890168" y="3254919"/>
              <a:ext cx="1594457" cy="461665"/>
            </a:xfrm>
            <a:prstGeom prst="rect">
              <a:avLst/>
            </a:prstGeom>
            <a:noFill/>
            <a:ln w="28575">
              <a:solidFill>
                <a:srgbClr val="8BC9A0"/>
              </a:solidFill>
            </a:ln>
          </p:spPr>
          <p:txBody>
            <a:bodyPr wrap="square" lIns="0" rIns="0" rtlCol="0">
              <a:spAutoFit/>
            </a:bodyPr>
            <a:lstStyle>
              <a:defPPr>
                <a:defRPr lang="en-US"/>
              </a:defPPr>
              <a:lvl1pPr algn="ctr">
                <a:defRPr sz="1200"/>
              </a:lvl1pPr>
            </a:lstStyle>
            <a:p>
              <a:r>
                <a:rPr lang="en-US" altLang="zh-CN" dirty="0" smtClean="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dirty="0" smtClean="0">
                  <a:latin typeface="Huawei Sans" panose="020C0503030203020204" pitchFamily="34" charset="0"/>
                  <a:ea typeface="方正兰亭黑简体" panose="02000000000000000000" pitchFamily="2" charset="-122"/>
                  <a:sym typeface="Huawei Sans" panose="020C0503030203020204" pitchFamily="34" charset="0"/>
                </a:rPr>
                <a:t>头部</a:t>
              </a:r>
              <a:endParaRPr lang="en-US" altLang="zh-CN" dirty="0" smtClean="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dirty="0" smtClean="0">
                  <a:latin typeface="Huawei Sans" panose="020C0503030203020204" pitchFamily="34" charset="0"/>
                  <a:ea typeface="方正兰亭黑简体" panose="02000000000000000000" pitchFamily="2" charset="-122"/>
                  <a:sym typeface="Huawei Sans" panose="020C0503030203020204" pitchFamily="34" charset="0"/>
                </a:rPr>
                <a:t>目的</a:t>
              </a:r>
              <a:r>
                <a:rPr lang="en-US" altLang="zh-CN" b="1" dirty="0" smtClean="0">
                  <a:latin typeface="Huawei Sans" panose="020C0503030203020204" pitchFamily="34" charset="0"/>
                  <a:ea typeface="方正兰亭黑简体" panose="02000000000000000000" pitchFamily="2" charset="-122"/>
                  <a:sym typeface="Huawei Sans" panose="020C0503030203020204" pitchFamily="34" charset="0"/>
                </a:rPr>
                <a:t>192.168.1.1</a:t>
              </a:r>
              <a:endParaRPr lang="zh-CN" altLang="en-US"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文本框 55"/>
            <p:cNvSpPr txBox="1"/>
            <p:nvPr/>
          </p:nvSpPr>
          <p:spPr bwMode="gray">
            <a:xfrm rot="20416982">
              <a:off x="8015409" y="3690075"/>
              <a:ext cx="1594457" cy="276999"/>
            </a:xfrm>
            <a:prstGeom prst="rect">
              <a:avLst/>
            </a:prstGeom>
            <a:noFill/>
            <a:ln w="28575">
              <a:solidFill>
                <a:srgbClr val="8BC9A0"/>
              </a:solidFill>
            </a:ln>
          </p:spPr>
          <p:txBody>
            <a:bodyPr wrap="square" lIns="0" rIns="0" rtlCol="0">
              <a:spAutoFit/>
            </a:bodyPr>
            <a:lstStyle>
              <a:defPPr>
                <a:defRPr lang="en-US"/>
              </a:defPPr>
              <a:lvl1pPr algn="ctr">
                <a:defRPr sz="1200"/>
              </a:lvl1pPr>
            </a:lstStyle>
            <a:p>
              <a:r>
                <a:rPr lang="zh-CN" altLang="en-US" dirty="0" smtClean="0">
                  <a:latin typeface="Huawei Sans" panose="020C0503030203020204" pitchFamily="34" charset="0"/>
                  <a:ea typeface="方正兰亭黑简体" panose="02000000000000000000" pitchFamily="2" charset="-122"/>
                  <a:sym typeface="Huawei Sans" panose="020C0503030203020204" pitchFamily="34" charset="0"/>
                </a:rPr>
                <a:t>数据</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62" name="直接连接符 61"/>
          <p:cNvCxnSpPr/>
          <p:nvPr/>
        </p:nvCxnSpPr>
        <p:spPr bwMode="gray">
          <a:xfrm>
            <a:off x="6053864" y="2227766"/>
            <a:ext cx="0" cy="2687864"/>
          </a:xfrm>
          <a:prstGeom prst="line">
            <a:avLst/>
          </a:prstGeom>
          <a:ln w="12700">
            <a:solidFill>
              <a:srgbClr val="EC7061"/>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bwMode="gray">
          <a:xfrm>
            <a:off x="4103748" y="3281742"/>
            <a:ext cx="0" cy="1672482"/>
          </a:xfrm>
          <a:prstGeom prst="line">
            <a:avLst/>
          </a:prstGeom>
          <a:ln w="12700">
            <a:solidFill>
              <a:srgbClr val="EC7061"/>
            </a:solidFill>
          </a:ln>
        </p:spPr>
        <p:style>
          <a:lnRef idx="1">
            <a:schemeClr val="accent1"/>
          </a:lnRef>
          <a:fillRef idx="0">
            <a:schemeClr val="accent1"/>
          </a:fillRef>
          <a:effectRef idx="0">
            <a:schemeClr val="accent1"/>
          </a:effectRef>
          <a:fontRef idx="minor">
            <a:schemeClr val="tx1"/>
          </a:fontRef>
        </p:style>
      </p:cxnSp>
      <p:grpSp>
        <p:nvGrpSpPr>
          <p:cNvPr id="6" name="组合 5"/>
          <p:cNvGrpSpPr/>
          <p:nvPr/>
        </p:nvGrpSpPr>
        <p:grpSpPr bwMode="gray">
          <a:xfrm>
            <a:off x="3846898" y="4694721"/>
            <a:ext cx="4513567" cy="723926"/>
            <a:chOff x="4088571" y="4424992"/>
            <a:chExt cx="4513567" cy="723926"/>
          </a:xfrm>
        </p:grpSpPr>
        <p:cxnSp>
          <p:nvCxnSpPr>
            <p:cNvPr id="7" name="直接连接符 6"/>
            <p:cNvCxnSpPr>
              <a:stCxn id="11" idx="3"/>
              <a:endCxn id="13" idx="1"/>
            </p:cNvCxnSpPr>
            <p:nvPr/>
          </p:nvCxnSpPr>
          <p:spPr bwMode="gray">
            <a:xfrm>
              <a:off x="4628571" y="4645901"/>
              <a:ext cx="343356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8" name="组合 7"/>
            <p:cNvGrpSpPr/>
            <p:nvPr/>
          </p:nvGrpSpPr>
          <p:grpSpPr bwMode="gray">
            <a:xfrm>
              <a:off x="6067674" y="4424992"/>
              <a:ext cx="540000" cy="723926"/>
              <a:chOff x="5312873" y="4947622"/>
              <a:chExt cx="540000" cy="723926"/>
            </a:xfrm>
          </p:grpSpPr>
          <p:pic>
            <p:nvPicPr>
              <p:cNvPr id="15" name="Picture 12" descr="E:\2016.01\1.12 扁平化图标\蓝色\AR-蓝色最新-40.png"/>
              <p:cNvPicPr>
                <a:picLocks noChangeAspect="1" noChangeArrowheads="1"/>
              </p:cNvPicPr>
              <p:nvPr/>
            </p:nvPicPr>
            <p:blipFill>
              <a:blip r:embed="rId3" cstate="print"/>
              <a:srcRect/>
              <a:stretch>
                <a:fillRect/>
              </a:stretch>
            </p:blipFill>
            <p:spPr bwMode="gray">
              <a:xfrm>
                <a:off x="5312873" y="4947622"/>
                <a:ext cx="540000" cy="441818"/>
              </a:xfrm>
              <a:prstGeom prst="rect">
                <a:avLst/>
              </a:prstGeom>
              <a:noFill/>
            </p:spPr>
          </p:pic>
          <p:sp>
            <p:nvSpPr>
              <p:cNvPr id="16" name="文本框 15"/>
              <p:cNvSpPr txBox="1"/>
              <p:nvPr/>
            </p:nvSpPr>
            <p:spPr bwMode="gray">
              <a:xfrm>
                <a:off x="5436839" y="5363771"/>
                <a:ext cx="292068"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9" name="组合 8"/>
            <p:cNvGrpSpPr/>
            <p:nvPr/>
          </p:nvGrpSpPr>
          <p:grpSpPr bwMode="gray">
            <a:xfrm>
              <a:off x="8062138" y="4424992"/>
              <a:ext cx="540000" cy="714804"/>
              <a:chOff x="8062138" y="4947622"/>
              <a:chExt cx="540000" cy="714804"/>
            </a:xfrm>
          </p:grpSpPr>
          <p:pic>
            <p:nvPicPr>
              <p:cNvPr id="13" name="Picture 12" descr="E:\2016.01\1.12 扁平化图标\蓝色\AR-蓝色最新-40.png"/>
              <p:cNvPicPr>
                <a:picLocks noChangeAspect="1" noChangeArrowheads="1"/>
              </p:cNvPicPr>
              <p:nvPr/>
            </p:nvPicPr>
            <p:blipFill>
              <a:blip r:embed="rId3" cstate="print"/>
              <a:srcRect/>
              <a:stretch>
                <a:fillRect/>
              </a:stretch>
            </p:blipFill>
            <p:spPr bwMode="gray">
              <a:xfrm>
                <a:off x="8062138" y="4947622"/>
                <a:ext cx="540000" cy="441818"/>
              </a:xfrm>
              <a:prstGeom prst="rect">
                <a:avLst/>
              </a:prstGeom>
              <a:noFill/>
            </p:spPr>
          </p:pic>
          <p:sp>
            <p:nvSpPr>
              <p:cNvPr id="14" name="文本框 13"/>
              <p:cNvSpPr txBox="1"/>
              <p:nvPr/>
            </p:nvSpPr>
            <p:spPr bwMode="gray">
              <a:xfrm>
                <a:off x="8084306" y="5354649"/>
                <a:ext cx="497252"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PE2</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0" name="组合 9"/>
            <p:cNvGrpSpPr/>
            <p:nvPr/>
          </p:nvGrpSpPr>
          <p:grpSpPr bwMode="gray">
            <a:xfrm>
              <a:off x="4088571" y="4424992"/>
              <a:ext cx="540000" cy="723926"/>
              <a:chOff x="4088571" y="4947622"/>
              <a:chExt cx="540000" cy="723926"/>
            </a:xfrm>
          </p:grpSpPr>
          <p:pic>
            <p:nvPicPr>
              <p:cNvPr id="11" name="Picture 12" descr="E:\2016.01\1.12 扁平化图标\蓝色\AR-蓝色最新-40.png"/>
              <p:cNvPicPr>
                <a:picLocks noChangeAspect="1" noChangeArrowheads="1"/>
              </p:cNvPicPr>
              <p:nvPr/>
            </p:nvPicPr>
            <p:blipFill>
              <a:blip r:embed="rId3" cstate="print"/>
              <a:srcRect/>
              <a:stretch>
                <a:fillRect/>
              </a:stretch>
            </p:blipFill>
            <p:spPr bwMode="gray">
              <a:xfrm>
                <a:off x="4088571" y="4947622"/>
                <a:ext cx="540000" cy="441818"/>
              </a:xfrm>
              <a:prstGeom prst="rect">
                <a:avLst/>
              </a:prstGeom>
              <a:noFill/>
            </p:spPr>
          </p:pic>
          <p:sp>
            <p:nvSpPr>
              <p:cNvPr id="12" name="文本框 11"/>
              <p:cNvSpPr txBox="1"/>
              <p:nvPr/>
            </p:nvSpPr>
            <p:spPr bwMode="gray">
              <a:xfrm>
                <a:off x="4109945" y="5363771"/>
                <a:ext cx="497252" cy="307777"/>
              </a:xfrm>
              <a:prstGeom prst="rect">
                <a:avLst/>
              </a:prstGeom>
              <a:noFill/>
            </p:spPr>
            <p:txBody>
              <a:bodyPr wrap="non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PE1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sp>
        <p:nvSpPr>
          <p:cNvPr id="65" name="Text Box 19"/>
          <p:cNvSpPr txBox="1">
            <a:spLocks noChangeArrowheads="1"/>
          </p:cNvSpPr>
          <p:nvPr/>
        </p:nvSpPr>
        <p:spPr bwMode="gray">
          <a:xfrm>
            <a:off x="2545526" y="3009494"/>
            <a:ext cx="3116445" cy="584775"/>
          </a:xfrm>
          <a:prstGeom prst="rect">
            <a:avLst/>
          </a:prstGeom>
          <a:solidFill>
            <a:srgbClr val="EC7061"/>
          </a:solidFill>
          <a:ln w="19050">
            <a:solidFill>
              <a:srgbClr val="EC7061"/>
            </a:solidFill>
            <a:miter lim="800000"/>
            <a:headEnd/>
            <a:tailEnd/>
          </a:ln>
          <a:effectLs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en-US" altLang="zh-CN" sz="16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6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头部中不携带</a:t>
            </a:r>
            <a:r>
              <a:rPr lang="en-US" altLang="zh-CN" sz="16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6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相关的信息，</a:t>
            </a:r>
            <a:r>
              <a:rPr lang="en-US" altLang="zh-CN" sz="16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PE</a:t>
            </a:r>
            <a:r>
              <a:rPr lang="zh-CN" altLang="en-US" sz="16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无法区分数据所属的</a:t>
            </a:r>
            <a:r>
              <a:rPr lang="en-US" altLang="zh-CN" sz="16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6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77" name="组合 76"/>
          <p:cNvGrpSpPr/>
          <p:nvPr/>
        </p:nvGrpSpPr>
        <p:grpSpPr bwMode="gray">
          <a:xfrm>
            <a:off x="9493131" y="4272637"/>
            <a:ext cx="540000" cy="723926"/>
            <a:chOff x="4073209" y="4947622"/>
            <a:chExt cx="540000" cy="723926"/>
          </a:xfrm>
        </p:grpSpPr>
        <p:pic>
          <p:nvPicPr>
            <p:cNvPr id="78" name="Picture 12" descr="E:\2016.01\1.12 扁平化图标\蓝色\AR-蓝色最新-40.png"/>
            <p:cNvPicPr>
              <a:picLocks noChangeAspect="1" noChangeArrowheads="1"/>
            </p:cNvPicPr>
            <p:nvPr/>
          </p:nvPicPr>
          <p:blipFill>
            <a:blip r:embed="rId3" cstate="print"/>
            <a:srcRect/>
            <a:stretch>
              <a:fillRect/>
            </a:stretch>
          </p:blipFill>
          <p:spPr bwMode="gray">
            <a:xfrm>
              <a:off x="4073209" y="4947622"/>
              <a:ext cx="540000" cy="441818"/>
            </a:xfrm>
            <a:prstGeom prst="rect">
              <a:avLst/>
            </a:prstGeom>
            <a:noFill/>
          </p:spPr>
        </p:pic>
        <p:sp>
          <p:nvSpPr>
            <p:cNvPr id="79" name="文本框 78"/>
            <p:cNvSpPr txBox="1"/>
            <p:nvPr/>
          </p:nvSpPr>
          <p:spPr bwMode="gray">
            <a:xfrm>
              <a:off x="4086262" y="5363771"/>
              <a:ext cx="50206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CE3</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80" name="组合 79"/>
          <p:cNvGrpSpPr/>
          <p:nvPr/>
        </p:nvGrpSpPr>
        <p:grpSpPr bwMode="gray">
          <a:xfrm>
            <a:off x="9504955" y="5354017"/>
            <a:ext cx="552270" cy="723926"/>
            <a:chOff x="4060939" y="4947622"/>
            <a:chExt cx="552270" cy="723926"/>
          </a:xfrm>
        </p:grpSpPr>
        <p:pic>
          <p:nvPicPr>
            <p:cNvPr id="81" name="Picture 12" descr="E:\2016.01\1.12 扁平化图标\蓝色\AR-蓝色最新-40.png"/>
            <p:cNvPicPr>
              <a:picLocks noChangeAspect="1" noChangeArrowheads="1"/>
            </p:cNvPicPr>
            <p:nvPr/>
          </p:nvPicPr>
          <p:blipFill>
            <a:blip r:embed="rId3" cstate="print"/>
            <a:srcRect/>
            <a:stretch>
              <a:fillRect/>
            </a:stretch>
          </p:blipFill>
          <p:spPr bwMode="gray">
            <a:xfrm>
              <a:off x="4073209" y="4947622"/>
              <a:ext cx="540000" cy="441818"/>
            </a:xfrm>
            <a:prstGeom prst="rect">
              <a:avLst/>
            </a:prstGeom>
            <a:noFill/>
          </p:spPr>
        </p:pic>
        <p:sp>
          <p:nvSpPr>
            <p:cNvPr id="82" name="文本框 81"/>
            <p:cNvSpPr txBox="1"/>
            <p:nvPr/>
          </p:nvSpPr>
          <p:spPr bwMode="gray">
            <a:xfrm>
              <a:off x="4060939" y="5363771"/>
              <a:ext cx="50206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CE4</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61" name="Text Box 19"/>
          <p:cNvSpPr txBox="1">
            <a:spLocks noChangeArrowheads="1"/>
          </p:cNvSpPr>
          <p:nvPr/>
        </p:nvSpPr>
        <p:spPr bwMode="gray">
          <a:xfrm>
            <a:off x="4752133" y="1935379"/>
            <a:ext cx="2603462" cy="584775"/>
          </a:xfrm>
          <a:prstGeom prst="rect">
            <a:avLst/>
          </a:prstGeom>
          <a:solidFill>
            <a:srgbClr val="EC7061"/>
          </a:solidFill>
          <a:ln w="19050">
            <a:solidFill>
              <a:srgbClr val="EC7061"/>
            </a:solidFill>
            <a:miter lim="800000"/>
            <a:headEnd/>
            <a:tailEnd/>
          </a:ln>
          <a:effectLs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en-US" altLang="zh-CN" sz="16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P</a:t>
            </a:r>
            <a:r>
              <a:rPr lang="zh-CN" altLang="en-US" sz="16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设备上没有</a:t>
            </a:r>
            <a:r>
              <a:rPr lang="en-US" altLang="zh-CN" sz="16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6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路由，无法根据</a:t>
            </a:r>
            <a:r>
              <a:rPr lang="en-US" altLang="zh-CN" sz="16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6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地址进行转发。</a:t>
            </a:r>
            <a:endParaRPr lang="en-US" altLang="zh-CN"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395814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barn(inVertical)">
                                      <p:cBhvr>
                                        <p:cTn id="7" dur="500"/>
                                        <p:tgtEl>
                                          <p:spTgt spid="57"/>
                                        </p:tgtEl>
                                      </p:cBhvr>
                                    </p:animEffect>
                                  </p:childTnLst>
                                </p:cTn>
                              </p:par>
                              <p:par>
                                <p:cTn id="8" presetID="16" presetClass="entr" presetSubtype="21" fill="hold" nodeType="withEffect">
                                  <p:stCondLst>
                                    <p:cond delay="0"/>
                                  </p:stCondLst>
                                  <p:childTnLst>
                                    <p:set>
                                      <p:cBhvr>
                                        <p:cTn id="9" dur="1" fill="hold">
                                          <p:stCondLst>
                                            <p:cond delay="0"/>
                                          </p:stCondLst>
                                        </p:cTn>
                                        <p:tgtEl>
                                          <p:spTgt spid="54"/>
                                        </p:tgtEl>
                                        <p:attrNameLst>
                                          <p:attrName>style.visibility</p:attrName>
                                        </p:attrNameLst>
                                      </p:cBhvr>
                                      <p:to>
                                        <p:strVal val="visible"/>
                                      </p:to>
                                    </p:set>
                                    <p:animEffect transition="in" filter="barn(inVertical)">
                                      <p:cBhvr>
                                        <p:cTn id="10" dur="500"/>
                                        <p:tgtEl>
                                          <p:spTgt spid="54"/>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61"/>
                                        </p:tgtEl>
                                        <p:attrNameLst>
                                          <p:attrName>style.visibility</p:attrName>
                                        </p:attrNameLst>
                                      </p:cBhvr>
                                      <p:to>
                                        <p:strVal val="visible"/>
                                      </p:to>
                                    </p:set>
                                    <p:animEffect transition="in" filter="barn(inVertical)">
                                      <p:cBhvr>
                                        <p:cTn id="15" dur="500"/>
                                        <p:tgtEl>
                                          <p:spTgt spid="61"/>
                                        </p:tgtEl>
                                      </p:cBhvr>
                                    </p:animEffect>
                                  </p:childTnLst>
                                </p:cTn>
                              </p:par>
                              <p:par>
                                <p:cTn id="16" presetID="16" presetClass="entr" presetSubtype="21" fill="hold" nodeType="withEffect">
                                  <p:stCondLst>
                                    <p:cond delay="0"/>
                                  </p:stCondLst>
                                  <p:childTnLst>
                                    <p:set>
                                      <p:cBhvr>
                                        <p:cTn id="17" dur="1" fill="hold">
                                          <p:stCondLst>
                                            <p:cond delay="0"/>
                                          </p:stCondLst>
                                        </p:cTn>
                                        <p:tgtEl>
                                          <p:spTgt spid="62"/>
                                        </p:tgtEl>
                                        <p:attrNameLst>
                                          <p:attrName>style.visibility</p:attrName>
                                        </p:attrNameLst>
                                      </p:cBhvr>
                                      <p:to>
                                        <p:strVal val="visible"/>
                                      </p:to>
                                    </p:set>
                                    <p:animEffect transition="in" filter="barn(inVertical)">
                                      <p:cBhvr>
                                        <p:cTn id="18" dur="500"/>
                                        <p:tgtEl>
                                          <p:spTgt spid="62"/>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grpId="0" nodeType="clickEffect">
                                  <p:stCondLst>
                                    <p:cond delay="0"/>
                                  </p:stCondLst>
                                  <p:childTnLst>
                                    <p:set>
                                      <p:cBhvr>
                                        <p:cTn id="22" dur="1" fill="hold">
                                          <p:stCondLst>
                                            <p:cond delay="0"/>
                                          </p:stCondLst>
                                        </p:cTn>
                                        <p:tgtEl>
                                          <p:spTgt spid="65"/>
                                        </p:tgtEl>
                                        <p:attrNameLst>
                                          <p:attrName>style.visibility</p:attrName>
                                        </p:attrNameLst>
                                      </p:cBhvr>
                                      <p:to>
                                        <p:strVal val="visible"/>
                                      </p:to>
                                    </p:set>
                                    <p:animEffect transition="in" filter="barn(inVertical)">
                                      <p:cBhvr>
                                        <p:cTn id="23" dur="500"/>
                                        <p:tgtEl>
                                          <p:spTgt spid="65"/>
                                        </p:tgtEl>
                                      </p:cBhvr>
                                    </p:animEffect>
                                  </p:childTnLst>
                                </p:cTn>
                              </p:par>
                              <p:par>
                                <p:cTn id="24" presetID="16" presetClass="entr" presetSubtype="21" fill="hold" nodeType="withEffect">
                                  <p:stCondLst>
                                    <p:cond delay="0"/>
                                  </p:stCondLst>
                                  <p:childTnLst>
                                    <p:set>
                                      <p:cBhvr>
                                        <p:cTn id="25" dur="1" fill="hold">
                                          <p:stCondLst>
                                            <p:cond delay="0"/>
                                          </p:stCondLst>
                                        </p:cTn>
                                        <p:tgtEl>
                                          <p:spTgt spid="74"/>
                                        </p:tgtEl>
                                        <p:attrNameLst>
                                          <p:attrName>style.visibility</p:attrName>
                                        </p:attrNameLst>
                                      </p:cBhvr>
                                      <p:to>
                                        <p:strVal val="visible"/>
                                      </p:to>
                                    </p:set>
                                    <p:animEffect transition="in" filter="barn(inVertical)">
                                      <p:cBhvr>
                                        <p:cTn id="26" dur="5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animBg="1"/>
      <p:bldP spid="61"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smtClean="0"/>
              <a:t>通过标签解决问题</a:t>
            </a:r>
            <a:endParaRPr lang="zh-CN" altLang="en-US" dirty="0"/>
          </a:p>
        </p:txBody>
      </p:sp>
      <p:sp>
        <p:nvSpPr>
          <p:cNvPr id="3" name="圆角矩形 2"/>
          <p:cNvSpPr/>
          <p:nvPr/>
        </p:nvSpPr>
        <p:spPr bwMode="gray">
          <a:xfrm>
            <a:off x="4103749" y="4143995"/>
            <a:ext cx="4000659" cy="1825378"/>
          </a:xfrm>
          <a:prstGeom prst="roundRect">
            <a:avLst/>
          </a:prstGeom>
          <a:solidFill>
            <a:srgbClr val="BEE9EE"/>
          </a:solidFill>
          <a:ln w="28575" cap="flat" cmpd="sng" algn="ctr">
            <a:noFill/>
            <a:prstDash val="sys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文本框 3"/>
          <p:cNvSpPr txBox="1"/>
          <p:nvPr/>
        </p:nvSpPr>
        <p:spPr bwMode="gray">
          <a:xfrm>
            <a:off x="5308828" y="5674705"/>
            <a:ext cx="1590500" cy="307777"/>
          </a:xfrm>
          <a:prstGeom prst="rect">
            <a:avLst/>
          </a:prstGeom>
          <a:noFill/>
        </p:spPr>
        <p:txBody>
          <a:bodyPr wrap="none" rtlCol="0">
            <a:spAutoFit/>
          </a:bodyPr>
          <a:lstStyle/>
          <a:p>
            <a:r>
              <a:rPr lang="en-US" altLang="zh-CN"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MPLS VPN</a:t>
            </a:r>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骨干网</a:t>
            </a:r>
            <a:endPar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5" name="组合 4"/>
          <p:cNvGrpSpPr/>
          <p:nvPr/>
        </p:nvGrpSpPr>
        <p:grpSpPr bwMode="gray">
          <a:xfrm>
            <a:off x="2158869" y="4272637"/>
            <a:ext cx="550687" cy="712575"/>
            <a:chOff x="4073209" y="4947622"/>
            <a:chExt cx="550687" cy="712575"/>
          </a:xfrm>
        </p:grpSpPr>
        <p:pic>
          <p:nvPicPr>
            <p:cNvPr id="6" name="Picture 12" descr="E:\2016.01\1.12 扁平化图标\蓝色\AR-蓝色最新-40.png"/>
            <p:cNvPicPr>
              <a:picLocks noChangeAspect="1" noChangeArrowheads="1"/>
            </p:cNvPicPr>
            <p:nvPr/>
          </p:nvPicPr>
          <p:blipFill>
            <a:blip r:embed="rId3" cstate="print"/>
            <a:srcRect/>
            <a:stretch>
              <a:fillRect/>
            </a:stretch>
          </p:blipFill>
          <p:spPr bwMode="gray">
            <a:xfrm>
              <a:off x="4073209" y="4947622"/>
              <a:ext cx="540000" cy="441818"/>
            </a:xfrm>
            <a:prstGeom prst="rect">
              <a:avLst/>
            </a:prstGeom>
            <a:noFill/>
          </p:spPr>
        </p:pic>
        <p:sp>
          <p:nvSpPr>
            <p:cNvPr id="7" name="文本框 6"/>
            <p:cNvSpPr txBox="1"/>
            <p:nvPr/>
          </p:nvSpPr>
          <p:spPr bwMode="gray">
            <a:xfrm>
              <a:off x="4121835" y="5352420"/>
              <a:ext cx="50206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8" name="圆角矩形 7"/>
          <p:cNvSpPr/>
          <p:nvPr/>
        </p:nvSpPr>
        <p:spPr bwMode="gray">
          <a:xfrm>
            <a:off x="952500" y="4025063"/>
            <a:ext cx="1873049" cy="994971"/>
          </a:xfrm>
          <a:prstGeom prst="roundRect">
            <a:avLst/>
          </a:prstGeom>
          <a:noFill/>
          <a:ln w="25400">
            <a:solidFill>
              <a:srgbClr val="8BC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9" name="组合 8"/>
          <p:cNvGrpSpPr/>
          <p:nvPr/>
        </p:nvGrpSpPr>
        <p:grpSpPr bwMode="gray">
          <a:xfrm>
            <a:off x="2147045" y="5354017"/>
            <a:ext cx="575533" cy="706640"/>
            <a:chOff x="4073209" y="4947622"/>
            <a:chExt cx="575533" cy="706640"/>
          </a:xfrm>
        </p:grpSpPr>
        <p:pic>
          <p:nvPicPr>
            <p:cNvPr id="10" name="Picture 12" descr="E:\2016.01\1.12 扁平化图标\蓝色\AR-蓝色最新-40.png"/>
            <p:cNvPicPr>
              <a:picLocks noChangeAspect="1" noChangeArrowheads="1"/>
            </p:cNvPicPr>
            <p:nvPr/>
          </p:nvPicPr>
          <p:blipFill>
            <a:blip r:embed="rId3" cstate="print"/>
            <a:srcRect/>
            <a:stretch>
              <a:fillRect/>
            </a:stretch>
          </p:blipFill>
          <p:spPr bwMode="gray">
            <a:xfrm>
              <a:off x="4073209" y="4947622"/>
              <a:ext cx="540000" cy="441818"/>
            </a:xfrm>
            <a:prstGeom prst="rect">
              <a:avLst/>
            </a:prstGeom>
            <a:noFill/>
          </p:spPr>
        </p:pic>
        <p:sp>
          <p:nvSpPr>
            <p:cNvPr id="11" name="文本框 10"/>
            <p:cNvSpPr txBox="1"/>
            <p:nvPr/>
          </p:nvSpPr>
          <p:spPr bwMode="gray">
            <a:xfrm>
              <a:off x="4146681" y="5346485"/>
              <a:ext cx="50206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CE2</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2" name="圆角矩形 11"/>
          <p:cNvSpPr/>
          <p:nvPr/>
        </p:nvSpPr>
        <p:spPr bwMode="gray">
          <a:xfrm>
            <a:off x="952500" y="5106443"/>
            <a:ext cx="1873049" cy="994971"/>
          </a:xfrm>
          <a:prstGeom prst="roundRect">
            <a:avLst/>
          </a:prstGeom>
          <a:noFill/>
          <a:ln w="254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圆角矩形 15"/>
          <p:cNvSpPr/>
          <p:nvPr/>
        </p:nvSpPr>
        <p:spPr bwMode="gray">
          <a:xfrm flipH="1">
            <a:off x="9341150" y="4035753"/>
            <a:ext cx="1873049" cy="994971"/>
          </a:xfrm>
          <a:prstGeom prst="roundRect">
            <a:avLst/>
          </a:prstGeom>
          <a:noFill/>
          <a:ln w="25400">
            <a:solidFill>
              <a:srgbClr val="8BC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圆角矩形 19"/>
          <p:cNvSpPr/>
          <p:nvPr/>
        </p:nvSpPr>
        <p:spPr bwMode="gray">
          <a:xfrm flipH="1">
            <a:off x="9378275" y="5106443"/>
            <a:ext cx="1873049" cy="994971"/>
          </a:xfrm>
          <a:prstGeom prst="roundRect">
            <a:avLst/>
          </a:prstGeom>
          <a:noFill/>
          <a:ln w="254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1" name="直接连接符 20"/>
          <p:cNvCxnSpPr>
            <a:stCxn id="6" idx="3"/>
            <a:endCxn id="41" idx="1"/>
          </p:cNvCxnSpPr>
          <p:nvPr/>
        </p:nvCxnSpPr>
        <p:spPr bwMode="gray">
          <a:xfrm>
            <a:off x="2698869" y="4493546"/>
            <a:ext cx="1148029" cy="42208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a:stCxn id="10" idx="3"/>
            <a:endCxn id="41" idx="1"/>
          </p:cNvCxnSpPr>
          <p:nvPr/>
        </p:nvCxnSpPr>
        <p:spPr bwMode="gray">
          <a:xfrm flipV="1">
            <a:off x="2687045" y="4915630"/>
            <a:ext cx="1159853" cy="65929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a:stCxn id="43" idx="3"/>
          </p:cNvCxnSpPr>
          <p:nvPr/>
        </p:nvCxnSpPr>
        <p:spPr bwMode="gray">
          <a:xfrm flipV="1">
            <a:off x="8360465" y="4493546"/>
            <a:ext cx="1132666" cy="42208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a:stCxn id="43" idx="3"/>
          </p:cNvCxnSpPr>
          <p:nvPr/>
        </p:nvCxnSpPr>
        <p:spPr bwMode="gray">
          <a:xfrm>
            <a:off x="8360465" y="4915630"/>
            <a:ext cx="1144490" cy="65929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文本框 24"/>
          <p:cNvSpPr txBox="1"/>
          <p:nvPr/>
        </p:nvSpPr>
        <p:spPr bwMode="gray">
          <a:xfrm>
            <a:off x="881938" y="4143995"/>
            <a:ext cx="1215397"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192.168.1.0/24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文本框 25"/>
          <p:cNvSpPr txBox="1"/>
          <p:nvPr/>
        </p:nvSpPr>
        <p:spPr bwMode="gray">
          <a:xfrm>
            <a:off x="894774" y="5465428"/>
            <a:ext cx="1215397"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192.168.1.0/24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文本框 26"/>
          <p:cNvSpPr txBox="1"/>
          <p:nvPr/>
        </p:nvSpPr>
        <p:spPr bwMode="gray">
          <a:xfrm>
            <a:off x="924700" y="4668568"/>
            <a:ext cx="1124026" cy="350160"/>
          </a:xfrm>
          <a:prstGeom prst="rect">
            <a:avLst/>
          </a:prstGeom>
          <a:noFill/>
        </p:spPr>
        <p:txBody>
          <a:bodyPr wrap="none" rtlCol="0">
            <a:spAutoFit/>
          </a:bodyPr>
          <a:lstStyle/>
          <a:p>
            <a:pPr>
              <a:lnSpc>
                <a:spcPct val="130000"/>
              </a:lnSpc>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X</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A</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文本框 27"/>
          <p:cNvSpPr txBox="1"/>
          <p:nvPr/>
        </p:nvSpPr>
        <p:spPr bwMode="gray">
          <a:xfrm>
            <a:off x="924700" y="5788101"/>
            <a:ext cx="1112805" cy="350160"/>
          </a:xfrm>
          <a:prstGeom prst="rect">
            <a:avLst/>
          </a:prstGeom>
          <a:noFill/>
        </p:spPr>
        <p:txBody>
          <a:bodyPr wrap="none" rtlCol="0">
            <a:spAutoFit/>
          </a:bodyPr>
          <a:lstStyle/>
          <a:p>
            <a:pPr>
              <a:lnSpc>
                <a:spcPct val="130000"/>
              </a:lnSpc>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Y</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C</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文本框 28"/>
          <p:cNvSpPr txBox="1"/>
          <p:nvPr/>
        </p:nvSpPr>
        <p:spPr bwMode="gray">
          <a:xfrm>
            <a:off x="10119237" y="4647624"/>
            <a:ext cx="1114408" cy="350160"/>
          </a:xfrm>
          <a:prstGeom prst="rect">
            <a:avLst/>
          </a:prstGeom>
          <a:noFill/>
        </p:spPr>
        <p:txBody>
          <a:bodyPr wrap="none" rtlCol="0">
            <a:spAutoFit/>
          </a:bodyPr>
          <a:lstStyle/>
          <a:p>
            <a:pPr>
              <a:lnSpc>
                <a:spcPct val="130000"/>
              </a:lnSpc>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X</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文本框 29"/>
          <p:cNvSpPr txBox="1"/>
          <p:nvPr/>
        </p:nvSpPr>
        <p:spPr bwMode="gray">
          <a:xfrm>
            <a:off x="10119237" y="5767157"/>
            <a:ext cx="1133644" cy="350160"/>
          </a:xfrm>
          <a:prstGeom prst="rect">
            <a:avLst/>
          </a:prstGeom>
          <a:noFill/>
        </p:spPr>
        <p:txBody>
          <a:bodyPr wrap="none" rtlCol="0">
            <a:spAutoFit/>
          </a:bodyPr>
          <a:lstStyle/>
          <a:p>
            <a:pPr>
              <a:lnSpc>
                <a:spcPct val="130000"/>
              </a:lnSpc>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Y</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36" name="组合 35"/>
          <p:cNvGrpSpPr/>
          <p:nvPr/>
        </p:nvGrpSpPr>
        <p:grpSpPr bwMode="gray">
          <a:xfrm>
            <a:off x="3846898" y="4694721"/>
            <a:ext cx="4513567" cy="723926"/>
            <a:chOff x="4088571" y="4424992"/>
            <a:chExt cx="4513567" cy="723926"/>
          </a:xfrm>
        </p:grpSpPr>
        <p:cxnSp>
          <p:nvCxnSpPr>
            <p:cNvPr id="37" name="直接连接符 36"/>
            <p:cNvCxnSpPr>
              <a:stCxn id="41" idx="3"/>
              <a:endCxn id="43" idx="1"/>
            </p:cNvCxnSpPr>
            <p:nvPr/>
          </p:nvCxnSpPr>
          <p:spPr bwMode="gray">
            <a:xfrm>
              <a:off x="4628571" y="4645901"/>
              <a:ext cx="343356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8" name="组合 37"/>
            <p:cNvGrpSpPr/>
            <p:nvPr/>
          </p:nvGrpSpPr>
          <p:grpSpPr bwMode="gray">
            <a:xfrm>
              <a:off x="6067674" y="4424992"/>
              <a:ext cx="540000" cy="723926"/>
              <a:chOff x="5312873" y="4947622"/>
              <a:chExt cx="540000" cy="723926"/>
            </a:xfrm>
          </p:grpSpPr>
          <p:pic>
            <p:nvPicPr>
              <p:cNvPr id="45" name="Picture 12" descr="E:\2016.01\1.12 扁平化图标\蓝色\AR-蓝色最新-40.png"/>
              <p:cNvPicPr>
                <a:picLocks noChangeAspect="1" noChangeArrowheads="1"/>
              </p:cNvPicPr>
              <p:nvPr/>
            </p:nvPicPr>
            <p:blipFill>
              <a:blip r:embed="rId3" cstate="print"/>
              <a:srcRect/>
              <a:stretch>
                <a:fillRect/>
              </a:stretch>
            </p:blipFill>
            <p:spPr bwMode="gray">
              <a:xfrm>
                <a:off x="5312873" y="4947622"/>
                <a:ext cx="540000" cy="441818"/>
              </a:xfrm>
              <a:prstGeom prst="rect">
                <a:avLst/>
              </a:prstGeom>
              <a:noFill/>
            </p:spPr>
          </p:pic>
          <p:sp>
            <p:nvSpPr>
              <p:cNvPr id="46" name="文本框 45"/>
              <p:cNvSpPr txBox="1"/>
              <p:nvPr/>
            </p:nvSpPr>
            <p:spPr bwMode="gray">
              <a:xfrm>
                <a:off x="5436839" y="5363771"/>
                <a:ext cx="292068"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39" name="组合 38"/>
            <p:cNvGrpSpPr/>
            <p:nvPr/>
          </p:nvGrpSpPr>
          <p:grpSpPr bwMode="gray">
            <a:xfrm>
              <a:off x="8062138" y="4424992"/>
              <a:ext cx="540000" cy="714804"/>
              <a:chOff x="8062138" y="4947622"/>
              <a:chExt cx="540000" cy="714804"/>
            </a:xfrm>
          </p:grpSpPr>
          <p:pic>
            <p:nvPicPr>
              <p:cNvPr id="43" name="Picture 12" descr="E:\2016.01\1.12 扁平化图标\蓝色\AR-蓝色最新-40.png"/>
              <p:cNvPicPr>
                <a:picLocks noChangeAspect="1" noChangeArrowheads="1"/>
              </p:cNvPicPr>
              <p:nvPr/>
            </p:nvPicPr>
            <p:blipFill>
              <a:blip r:embed="rId3" cstate="print"/>
              <a:srcRect/>
              <a:stretch>
                <a:fillRect/>
              </a:stretch>
            </p:blipFill>
            <p:spPr bwMode="gray">
              <a:xfrm>
                <a:off x="8062138" y="4947622"/>
                <a:ext cx="540000" cy="441818"/>
              </a:xfrm>
              <a:prstGeom prst="rect">
                <a:avLst/>
              </a:prstGeom>
              <a:noFill/>
            </p:spPr>
          </p:pic>
          <p:sp>
            <p:nvSpPr>
              <p:cNvPr id="44" name="文本框 43"/>
              <p:cNvSpPr txBox="1"/>
              <p:nvPr/>
            </p:nvSpPr>
            <p:spPr bwMode="gray">
              <a:xfrm>
                <a:off x="8084306" y="5354649"/>
                <a:ext cx="497252"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PE2</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40" name="组合 39"/>
            <p:cNvGrpSpPr/>
            <p:nvPr/>
          </p:nvGrpSpPr>
          <p:grpSpPr bwMode="gray">
            <a:xfrm>
              <a:off x="4088571" y="4424992"/>
              <a:ext cx="540000" cy="723926"/>
              <a:chOff x="4088571" y="4947622"/>
              <a:chExt cx="540000" cy="723926"/>
            </a:xfrm>
          </p:grpSpPr>
          <p:pic>
            <p:nvPicPr>
              <p:cNvPr id="41" name="Picture 12" descr="E:\2016.01\1.12 扁平化图标\蓝色\AR-蓝色最新-40.png"/>
              <p:cNvPicPr>
                <a:picLocks noChangeAspect="1" noChangeArrowheads="1"/>
              </p:cNvPicPr>
              <p:nvPr/>
            </p:nvPicPr>
            <p:blipFill>
              <a:blip r:embed="rId3" cstate="print"/>
              <a:srcRect/>
              <a:stretch>
                <a:fillRect/>
              </a:stretch>
            </p:blipFill>
            <p:spPr bwMode="gray">
              <a:xfrm>
                <a:off x="4088571" y="4947622"/>
                <a:ext cx="540000" cy="441818"/>
              </a:xfrm>
              <a:prstGeom prst="rect">
                <a:avLst/>
              </a:prstGeom>
              <a:noFill/>
            </p:spPr>
          </p:pic>
          <p:sp>
            <p:nvSpPr>
              <p:cNvPr id="42" name="文本框 41"/>
              <p:cNvSpPr txBox="1"/>
              <p:nvPr/>
            </p:nvSpPr>
            <p:spPr bwMode="gray">
              <a:xfrm>
                <a:off x="4109945" y="5363771"/>
                <a:ext cx="497252" cy="307777"/>
              </a:xfrm>
              <a:prstGeom prst="rect">
                <a:avLst/>
              </a:prstGeom>
              <a:noFill/>
            </p:spPr>
            <p:txBody>
              <a:bodyPr wrap="non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PE1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sp>
        <p:nvSpPr>
          <p:cNvPr id="48" name="文本框 47"/>
          <p:cNvSpPr txBox="1"/>
          <p:nvPr/>
        </p:nvSpPr>
        <p:spPr bwMode="gray">
          <a:xfrm>
            <a:off x="6366001" y="2774373"/>
            <a:ext cx="1594457" cy="461665"/>
          </a:xfrm>
          <a:prstGeom prst="rect">
            <a:avLst/>
          </a:prstGeom>
          <a:noFill/>
          <a:ln w="28575">
            <a:solidFill>
              <a:srgbClr val="8BC9A0"/>
            </a:solidFill>
          </a:ln>
        </p:spPr>
        <p:txBody>
          <a:bodyPr wrap="square" lIns="0" rIns="0" rtlCol="0">
            <a:spAutoFit/>
          </a:bodyPr>
          <a:lstStyle>
            <a:defPPr>
              <a:defRPr lang="en-US"/>
            </a:defPPr>
            <a:lvl1pPr algn="ctr">
              <a:defRPr sz="1200"/>
            </a:lvl1pPr>
          </a:lstStyle>
          <a:p>
            <a:r>
              <a:rPr lang="en-US" altLang="zh-CN" dirty="0" smtClean="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dirty="0" smtClean="0">
                <a:latin typeface="Huawei Sans" panose="020C0503030203020204" pitchFamily="34" charset="0"/>
                <a:ea typeface="方正兰亭黑简体" panose="02000000000000000000" pitchFamily="2" charset="-122"/>
                <a:sym typeface="Huawei Sans" panose="020C0503030203020204" pitchFamily="34" charset="0"/>
              </a:rPr>
              <a:t>头部</a:t>
            </a:r>
            <a:endParaRPr lang="en-US" altLang="zh-CN" dirty="0" smtClean="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dirty="0" smtClean="0">
                <a:latin typeface="Huawei Sans" panose="020C0503030203020204" pitchFamily="34" charset="0"/>
                <a:ea typeface="方正兰亭黑简体" panose="02000000000000000000" pitchFamily="2" charset="-122"/>
                <a:sym typeface="Huawei Sans" panose="020C0503030203020204" pitchFamily="34" charset="0"/>
              </a:rPr>
              <a:t>目的</a:t>
            </a:r>
            <a:r>
              <a:rPr lang="en-US" altLang="zh-CN" b="1" dirty="0" smtClean="0">
                <a:latin typeface="Huawei Sans" panose="020C0503030203020204" pitchFamily="34" charset="0"/>
                <a:ea typeface="方正兰亭黑简体" panose="02000000000000000000" pitchFamily="2" charset="-122"/>
                <a:sym typeface="Huawei Sans" panose="020C0503030203020204" pitchFamily="34" charset="0"/>
              </a:rPr>
              <a:t>192.168.1.1</a:t>
            </a:r>
            <a:endParaRPr lang="zh-CN" altLang="en-US"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文本框 49"/>
          <p:cNvSpPr txBox="1"/>
          <p:nvPr/>
        </p:nvSpPr>
        <p:spPr bwMode="gray">
          <a:xfrm>
            <a:off x="6366001" y="3244728"/>
            <a:ext cx="1594457" cy="276999"/>
          </a:xfrm>
          <a:prstGeom prst="rect">
            <a:avLst/>
          </a:prstGeom>
          <a:noFill/>
          <a:ln w="28575">
            <a:solidFill>
              <a:srgbClr val="8BC9A0"/>
            </a:solidFill>
          </a:ln>
        </p:spPr>
        <p:txBody>
          <a:bodyPr wrap="square" lIns="0" rIns="0" rtlCol="0">
            <a:spAutoFit/>
          </a:bodyPr>
          <a:lstStyle>
            <a:defPPr>
              <a:defRPr lang="en-US"/>
            </a:defPPr>
            <a:lvl1pPr algn="ctr">
              <a:defRPr sz="1200"/>
            </a:lvl1pPr>
          </a:lstStyle>
          <a:p>
            <a:r>
              <a:rPr lang="zh-CN" altLang="en-US" dirty="0" smtClean="0">
                <a:latin typeface="Huawei Sans" panose="020C0503030203020204" pitchFamily="34" charset="0"/>
                <a:ea typeface="方正兰亭黑简体" panose="02000000000000000000" pitchFamily="2" charset="-122"/>
                <a:sym typeface="Huawei Sans" panose="020C0503030203020204" pitchFamily="34" charset="0"/>
              </a:rPr>
              <a:t>数据</a:t>
            </a:r>
            <a:endParaRPr lang="zh-CN" altLang="en-US"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文本框 50"/>
          <p:cNvSpPr txBox="1"/>
          <p:nvPr/>
        </p:nvSpPr>
        <p:spPr bwMode="gray">
          <a:xfrm>
            <a:off x="6366001" y="2497374"/>
            <a:ext cx="1594457" cy="276999"/>
          </a:xfrm>
          <a:prstGeom prst="rect">
            <a:avLst/>
          </a:prstGeom>
          <a:noFill/>
          <a:ln w="28575">
            <a:solidFill>
              <a:srgbClr val="8BC9A0"/>
            </a:solidFill>
          </a:ln>
        </p:spPr>
        <p:txBody>
          <a:bodyPr wrap="square" lIns="0" rIns="0" rtlCol="0">
            <a:spAutoFit/>
          </a:bodyPr>
          <a:lstStyle>
            <a:defPPr>
              <a:defRPr lang="en-US"/>
            </a:defPPr>
            <a:lvl1pPr algn="ctr">
              <a:defRPr sz="1200"/>
            </a:lvl1pPr>
          </a:lstStyle>
          <a:p>
            <a:r>
              <a:rPr lang="zh-CN" altLang="en-US" dirty="0" smtClean="0">
                <a:latin typeface="Huawei Sans" panose="020C0503030203020204" pitchFamily="34" charset="0"/>
                <a:ea typeface="方正兰亭黑简体" panose="02000000000000000000" pitchFamily="2" charset="-122"/>
                <a:sym typeface="Huawei Sans" panose="020C0503030203020204" pitchFamily="34" charset="0"/>
              </a:rPr>
              <a:t>内层标签：</a:t>
            </a:r>
            <a:r>
              <a:rPr lang="en-US" altLang="zh-CN" dirty="0" smtClean="0">
                <a:latin typeface="Huawei Sans" panose="020C0503030203020204" pitchFamily="34" charset="0"/>
                <a:ea typeface="方正兰亭黑简体" panose="02000000000000000000" pitchFamily="2" charset="-122"/>
                <a:sym typeface="Huawei Sans" panose="020C0503030203020204" pitchFamily="34" charset="0"/>
              </a:rPr>
              <a:t>8888</a:t>
            </a:r>
            <a:endParaRPr lang="zh-CN" altLang="en-US"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文本框 51"/>
          <p:cNvSpPr txBox="1"/>
          <p:nvPr/>
        </p:nvSpPr>
        <p:spPr bwMode="gray">
          <a:xfrm>
            <a:off x="6366001" y="2219966"/>
            <a:ext cx="1594457" cy="276999"/>
          </a:xfrm>
          <a:prstGeom prst="rect">
            <a:avLst/>
          </a:prstGeom>
          <a:noFill/>
          <a:ln w="28575">
            <a:solidFill>
              <a:srgbClr val="8BC9A0"/>
            </a:solidFill>
          </a:ln>
        </p:spPr>
        <p:txBody>
          <a:bodyPr wrap="square" lIns="0" rIns="0" rtlCol="0">
            <a:spAutoFit/>
          </a:bodyPr>
          <a:lstStyle>
            <a:defPPr>
              <a:defRPr lang="en-US"/>
            </a:defPPr>
            <a:lvl1pPr algn="ctr">
              <a:defRPr sz="1200"/>
            </a:lvl1p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外</a:t>
            </a:r>
            <a:r>
              <a:rPr lang="zh-CN" altLang="en-US" dirty="0" smtClean="0">
                <a:latin typeface="Huawei Sans" panose="020C0503030203020204" pitchFamily="34" charset="0"/>
                <a:ea typeface="方正兰亭黑简体" panose="02000000000000000000" pitchFamily="2" charset="-122"/>
                <a:sym typeface="Huawei Sans" panose="020C0503030203020204" pitchFamily="34" charset="0"/>
              </a:rPr>
              <a:t>层标签：</a:t>
            </a:r>
            <a:r>
              <a:rPr lang="en-US" altLang="zh-CN" dirty="0" smtClean="0">
                <a:latin typeface="Huawei Sans" panose="020C0503030203020204" pitchFamily="34" charset="0"/>
                <a:ea typeface="方正兰亭黑简体" panose="02000000000000000000" pitchFamily="2" charset="-122"/>
                <a:sym typeface="Huawei Sans" panose="020C0503030203020204" pitchFamily="34" charset="0"/>
              </a:rPr>
              <a:t>6662</a:t>
            </a:r>
            <a:endParaRPr lang="zh-CN" altLang="en-US"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4" name="直接箭头连接符 53"/>
          <p:cNvCxnSpPr/>
          <p:nvPr/>
        </p:nvCxnSpPr>
        <p:spPr bwMode="gray">
          <a:xfrm flipH="1">
            <a:off x="6574011" y="3679493"/>
            <a:ext cx="1178437" cy="0"/>
          </a:xfrm>
          <a:prstGeom prst="straightConnector1">
            <a:avLst/>
          </a:prstGeom>
          <a:ln w="12700">
            <a:solidFill>
              <a:srgbClr val="8BC9A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55" name="直接连接符 54"/>
          <p:cNvCxnSpPr>
            <a:stCxn id="56" idx="2"/>
            <a:endCxn id="61" idx="1"/>
          </p:cNvCxnSpPr>
          <p:nvPr/>
        </p:nvCxnSpPr>
        <p:spPr bwMode="gray">
          <a:xfrm>
            <a:off x="2783098" y="2093138"/>
            <a:ext cx="1563068" cy="529319"/>
          </a:xfrm>
          <a:prstGeom prst="line">
            <a:avLst/>
          </a:prstGeom>
          <a:ln w="12700">
            <a:solidFill>
              <a:srgbClr val="EC7061"/>
            </a:solidFill>
          </a:ln>
        </p:spPr>
        <p:style>
          <a:lnRef idx="1">
            <a:schemeClr val="accent1"/>
          </a:lnRef>
          <a:fillRef idx="0">
            <a:schemeClr val="accent1"/>
          </a:fillRef>
          <a:effectRef idx="0">
            <a:schemeClr val="accent1"/>
          </a:effectRef>
          <a:fontRef idx="minor">
            <a:schemeClr val="tx1"/>
          </a:fontRef>
        </p:style>
      </p:cxnSp>
      <p:sp>
        <p:nvSpPr>
          <p:cNvPr id="56" name="Text Box 19"/>
          <p:cNvSpPr txBox="1">
            <a:spLocks noChangeArrowheads="1"/>
          </p:cNvSpPr>
          <p:nvPr/>
        </p:nvSpPr>
        <p:spPr bwMode="gray">
          <a:xfrm>
            <a:off x="858822" y="1262141"/>
            <a:ext cx="3848551" cy="830997"/>
          </a:xfrm>
          <a:prstGeom prst="rect">
            <a:avLst/>
          </a:prstGeom>
          <a:solidFill>
            <a:srgbClr val="EC7061"/>
          </a:solidFill>
          <a:ln w="19050">
            <a:solidFill>
              <a:srgbClr val="EC7061"/>
            </a:solidFill>
            <a:miter lim="800000"/>
            <a:headEnd/>
            <a:tailEnd/>
          </a:ln>
          <a:effectLs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16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内层</a:t>
            </a:r>
            <a:r>
              <a:rPr lang="zh-CN" altLang="en-US"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标签（私网标签</a:t>
            </a:r>
            <a:r>
              <a:rPr lang="zh-CN" altLang="en-US" sz="16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）由</a:t>
            </a:r>
            <a:r>
              <a:rPr lang="en-US" altLang="zh-CN" sz="16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PE</a:t>
            </a:r>
            <a:r>
              <a:rPr lang="zh-CN" altLang="en-US" sz="16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MP-BGP</a:t>
            </a:r>
            <a:r>
              <a:rPr lang="zh-CN" altLang="en-US"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为</a:t>
            </a:r>
            <a:r>
              <a:rPr lang="en-US" altLang="zh-CN"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路由</a:t>
            </a:r>
            <a:r>
              <a:rPr lang="zh-CN" altLang="en-US" sz="16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分发。</a:t>
            </a:r>
            <a:r>
              <a:rPr lang="en-US" altLang="zh-CN" sz="16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PE</a:t>
            </a:r>
            <a:r>
              <a:rPr lang="zh-CN" altLang="en-US" sz="16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根据内层标签确定</a:t>
            </a:r>
            <a:r>
              <a:rPr lang="zh-CN" altLang="en-US"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数据所属的</a:t>
            </a:r>
            <a:r>
              <a:rPr lang="en-US" altLang="zh-CN"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6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文本框 58"/>
          <p:cNvSpPr txBox="1"/>
          <p:nvPr/>
        </p:nvSpPr>
        <p:spPr bwMode="gray">
          <a:xfrm>
            <a:off x="4346166" y="2760956"/>
            <a:ext cx="1594457" cy="461665"/>
          </a:xfrm>
          <a:prstGeom prst="rect">
            <a:avLst/>
          </a:prstGeom>
          <a:noFill/>
          <a:ln w="28575">
            <a:solidFill>
              <a:srgbClr val="8BC9A0"/>
            </a:solidFill>
          </a:ln>
        </p:spPr>
        <p:txBody>
          <a:bodyPr wrap="square" lIns="0" rIns="0" rtlCol="0">
            <a:spAutoFit/>
          </a:bodyPr>
          <a:lstStyle>
            <a:defPPr>
              <a:defRPr lang="en-US"/>
            </a:defPPr>
            <a:lvl1pPr algn="ctr">
              <a:defRPr sz="1200"/>
            </a:lvl1pPr>
          </a:lstStyle>
          <a:p>
            <a:r>
              <a:rPr lang="en-US" altLang="zh-CN" dirty="0" smtClean="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dirty="0" smtClean="0">
                <a:latin typeface="Huawei Sans" panose="020C0503030203020204" pitchFamily="34" charset="0"/>
                <a:ea typeface="方正兰亭黑简体" panose="02000000000000000000" pitchFamily="2" charset="-122"/>
                <a:sym typeface="Huawei Sans" panose="020C0503030203020204" pitchFamily="34" charset="0"/>
              </a:rPr>
              <a:t>头部</a:t>
            </a:r>
            <a:endParaRPr lang="en-US" altLang="zh-CN" dirty="0" smtClean="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dirty="0" smtClean="0">
                <a:latin typeface="Huawei Sans" panose="020C0503030203020204" pitchFamily="34" charset="0"/>
                <a:ea typeface="方正兰亭黑简体" panose="02000000000000000000" pitchFamily="2" charset="-122"/>
                <a:sym typeface="Huawei Sans" panose="020C0503030203020204" pitchFamily="34" charset="0"/>
              </a:rPr>
              <a:t>目的</a:t>
            </a:r>
            <a:r>
              <a:rPr lang="en-US" altLang="zh-CN" b="1" dirty="0" smtClean="0">
                <a:latin typeface="Huawei Sans" panose="020C0503030203020204" pitchFamily="34" charset="0"/>
                <a:ea typeface="方正兰亭黑简体" panose="02000000000000000000" pitchFamily="2" charset="-122"/>
                <a:sym typeface="Huawei Sans" panose="020C0503030203020204" pitchFamily="34" charset="0"/>
              </a:rPr>
              <a:t>192.168.1.1</a:t>
            </a:r>
            <a:endParaRPr lang="zh-CN" altLang="en-US"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文本框 59"/>
          <p:cNvSpPr txBox="1"/>
          <p:nvPr/>
        </p:nvSpPr>
        <p:spPr bwMode="gray">
          <a:xfrm>
            <a:off x="4346166" y="3231311"/>
            <a:ext cx="1594457" cy="276999"/>
          </a:xfrm>
          <a:prstGeom prst="rect">
            <a:avLst/>
          </a:prstGeom>
          <a:noFill/>
          <a:ln w="28575">
            <a:solidFill>
              <a:srgbClr val="8BC9A0"/>
            </a:solidFill>
          </a:ln>
        </p:spPr>
        <p:txBody>
          <a:bodyPr wrap="square" lIns="0" rIns="0" rtlCol="0">
            <a:spAutoFit/>
          </a:bodyPr>
          <a:lstStyle>
            <a:defPPr>
              <a:defRPr lang="en-US"/>
            </a:defPPr>
            <a:lvl1pPr algn="ctr">
              <a:defRPr sz="1200"/>
            </a:lvl1pPr>
          </a:lstStyle>
          <a:p>
            <a:r>
              <a:rPr lang="zh-CN" altLang="en-US" dirty="0" smtClean="0">
                <a:latin typeface="Huawei Sans" panose="020C0503030203020204" pitchFamily="34" charset="0"/>
                <a:ea typeface="方正兰亭黑简体" panose="02000000000000000000" pitchFamily="2" charset="-122"/>
                <a:sym typeface="Huawei Sans" panose="020C0503030203020204" pitchFamily="34" charset="0"/>
              </a:rPr>
              <a:t>数据</a:t>
            </a:r>
            <a:endParaRPr lang="zh-CN" altLang="en-US"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文本框 60"/>
          <p:cNvSpPr txBox="1"/>
          <p:nvPr/>
        </p:nvSpPr>
        <p:spPr bwMode="gray">
          <a:xfrm>
            <a:off x="4346166" y="2483957"/>
            <a:ext cx="1594457" cy="276999"/>
          </a:xfrm>
          <a:prstGeom prst="rect">
            <a:avLst/>
          </a:prstGeom>
          <a:noFill/>
          <a:ln w="28575">
            <a:solidFill>
              <a:srgbClr val="8BC9A0"/>
            </a:solidFill>
          </a:ln>
        </p:spPr>
        <p:txBody>
          <a:bodyPr wrap="square" lIns="0" rIns="0" rtlCol="0">
            <a:spAutoFit/>
          </a:bodyPr>
          <a:lstStyle>
            <a:defPPr>
              <a:defRPr lang="en-US"/>
            </a:defPPr>
            <a:lvl1pPr algn="ctr">
              <a:defRPr sz="1200"/>
            </a:lvl1pPr>
          </a:lstStyle>
          <a:p>
            <a:r>
              <a:rPr lang="zh-CN" altLang="en-US" dirty="0" smtClean="0">
                <a:latin typeface="Huawei Sans" panose="020C0503030203020204" pitchFamily="34" charset="0"/>
                <a:ea typeface="方正兰亭黑简体" panose="02000000000000000000" pitchFamily="2" charset="-122"/>
                <a:sym typeface="Huawei Sans" panose="020C0503030203020204" pitchFamily="34" charset="0"/>
              </a:rPr>
              <a:t>内层标签：</a:t>
            </a:r>
            <a:r>
              <a:rPr lang="en-US" altLang="zh-CN" dirty="0" smtClean="0">
                <a:latin typeface="Huawei Sans" panose="020C0503030203020204" pitchFamily="34" charset="0"/>
                <a:ea typeface="方正兰亭黑简体" panose="02000000000000000000" pitchFamily="2" charset="-122"/>
                <a:sym typeface="Huawei Sans" panose="020C0503030203020204" pitchFamily="34" charset="0"/>
              </a:rPr>
              <a:t>8888</a:t>
            </a:r>
            <a:endParaRPr lang="zh-CN" altLang="en-US"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文本框 61"/>
          <p:cNvSpPr txBox="1"/>
          <p:nvPr/>
        </p:nvSpPr>
        <p:spPr bwMode="gray">
          <a:xfrm>
            <a:off x="4346166" y="2206549"/>
            <a:ext cx="1594457" cy="276999"/>
          </a:xfrm>
          <a:prstGeom prst="rect">
            <a:avLst/>
          </a:prstGeom>
          <a:noFill/>
          <a:ln w="28575">
            <a:solidFill>
              <a:srgbClr val="8BC9A0"/>
            </a:solidFill>
          </a:ln>
        </p:spPr>
        <p:txBody>
          <a:bodyPr wrap="square" lIns="0" rIns="0" rtlCol="0">
            <a:spAutoFit/>
          </a:bodyPr>
          <a:lstStyle>
            <a:defPPr>
              <a:defRPr lang="en-US"/>
            </a:defPPr>
            <a:lvl1pPr algn="ctr">
              <a:defRPr sz="1200"/>
            </a:lvl1p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外</a:t>
            </a:r>
            <a:r>
              <a:rPr lang="zh-CN" altLang="en-US" dirty="0" smtClean="0">
                <a:latin typeface="Huawei Sans" panose="020C0503030203020204" pitchFamily="34" charset="0"/>
                <a:ea typeface="方正兰亭黑简体" panose="02000000000000000000" pitchFamily="2" charset="-122"/>
                <a:sym typeface="Huawei Sans" panose="020C0503030203020204" pitchFamily="34" charset="0"/>
              </a:rPr>
              <a:t>层标签：</a:t>
            </a:r>
            <a:r>
              <a:rPr lang="en-US" altLang="zh-CN" dirty="0" smtClean="0">
                <a:latin typeface="Huawei Sans" panose="020C0503030203020204" pitchFamily="34" charset="0"/>
                <a:ea typeface="方正兰亭黑简体" panose="02000000000000000000" pitchFamily="2" charset="-122"/>
                <a:sym typeface="Huawei Sans" panose="020C0503030203020204" pitchFamily="34" charset="0"/>
              </a:rPr>
              <a:t>6661</a:t>
            </a:r>
            <a:endParaRPr lang="zh-CN" altLang="en-US"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3" name="直接箭头连接符 62"/>
          <p:cNvCxnSpPr/>
          <p:nvPr/>
        </p:nvCxnSpPr>
        <p:spPr bwMode="gray">
          <a:xfrm flipH="1">
            <a:off x="4554176" y="3666076"/>
            <a:ext cx="1178437" cy="0"/>
          </a:xfrm>
          <a:prstGeom prst="straightConnector1">
            <a:avLst/>
          </a:prstGeom>
          <a:ln w="12700">
            <a:solidFill>
              <a:srgbClr val="8BC9A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64" name="直接箭头连接符 63"/>
          <p:cNvCxnSpPr/>
          <p:nvPr/>
        </p:nvCxnSpPr>
        <p:spPr bwMode="gray">
          <a:xfrm>
            <a:off x="2795135" y="4064672"/>
            <a:ext cx="783769" cy="337799"/>
          </a:xfrm>
          <a:prstGeom prst="straightConnector1">
            <a:avLst/>
          </a:prstGeom>
          <a:ln w="12700">
            <a:solidFill>
              <a:srgbClr val="8BC9A0"/>
            </a:solidFill>
            <a:headEnd type="triangle"/>
            <a:tailEnd type="none"/>
          </a:ln>
        </p:spPr>
        <p:style>
          <a:lnRef idx="1">
            <a:schemeClr val="accent1"/>
          </a:lnRef>
          <a:fillRef idx="0">
            <a:schemeClr val="accent1"/>
          </a:fillRef>
          <a:effectRef idx="0">
            <a:schemeClr val="accent1"/>
          </a:effectRef>
          <a:fontRef idx="minor">
            <a:schemeClr val="tx1"/>
          </a:fontRef>
        </p:style>
      </p:cxnSp>
      <p:grpSp>
        <p:nvGrpSpPr>
          <p:cNvPr id="65" name="组合 64"/>
          <p:cNvGrpSpPr/>
          <p:nvPr/>
        </p:nvGrpSpPr>
        <p:grpSpPr bwMode="gray">
          <a:xfrm rot="2559547">
            <a:off x="2505610" y="3452069"/>
            <a:ext cx="1719698" cy="712155"/>
            <a:chOff x="7890168" y="3254919"/>
            <a:chExt cx="1719698" cy="712155"/>
          </a:xfrm>
        </p:grpSpPr>
        <p:sp>
          <p:nvSpPr>
            <p:cNvPr id="66" name="文本框 65"/>
            <p:cNvSpPr txBox="1"/>
            <p:nvPr/>
          </p:nvSpPr>
          <p:spPr bwMode="gray">
            <a:xfrm rot="20416982">
              <a:off x="7890168" y="3254919"/>
              <a:ext cx="1594457" cy="461665"/>
            </a:xfrm>
            <a:prstGeom prst="rect">
              <a:avLst/>
            </a:prstGeom>
            <a:noFill/>
            <a:ln w="28575">
              <a:solidFill>
                <a:srgbClr val="8BC9A0"/>
              </a:solidFill>
            </a:ln>
          </p:spPr>
          <p:txBody>
            <a:bodyPr wrap="square" lIns="0" rIns="0" rtlCol="0">
              <a:spAutoFit/>
            </a:bodyPr>
            <a:lstStyle>
              <a:defPPr>
                <a:defRPr lang="en-US"/>
              </a:defPPr>
              <a:lvl1pPr algn="ctr">
                <a:defRPr sz="1200"/>
              </a:lvl1pPr>
            </a:lstStyle>
            <a:p>
              <a:r>
                <a:rPr lang="en-US" altLang="zh-CN" dirty="0" smtClean="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dirty="0" smtClean="0">
                  <a:latin typeface="Huawei Sans" panose="020C0503030203020204" pitchFamily="34" charset="0"/>
                  <a:ea typeface="方正兰亭黑简体" panose="02000000000000000000" pitchFamily="2" charset="-122"/>
                  <a:sym typeface="Huawei Sans" panose="020C0503030203020204" pitchFamily="34" charset="0"/>
                </a:rPr>
                <a:t>头部</a:t>
              </a:r>
              <a:endParaRPr lang="en-US" altLang="zh-CN" dirty="0" smtClean="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dirty="0" smtClean="0">
                  <a:latin typeface="Huawei Sans" panose="020C0503030203020204" pitchFamily="34" charset="0"/>
                  <a:ea typeface="方正兰亭黑简体" panose="02000000000000000000" pitchFamily="2" charset="-122"/>
                  <a:sym typeface="Huawei Sans" panose="020C0503030203020204" pitchFamily="34" charset="0"/>
                </a:rPr>
                <a:t>目的</a:t>
              </a:r>
              <a:r>
                <a:rPr lang="en-US" altLang="zh-CN" b="1" dirty="0" smtClean="0">
                  <a:latin typeface="Huawei Sans" panose="020C0503030203020204" pitchFamily="34" charset="0"/>
                  <a:ea typeface="方正兰亭黑简体" panose="02000000000000000000" pitchFamily="2" charset="-122"/>
                  <a:sym typeface="Huawei Sans" panose="020C0503030203020204" pitchFamily="34" charset="0"/>
                </a:rPr>
                <a:t>192.168.1.1</a:t>
              </a:r>
              <a:endParaRPr lang="zh-CN" altLang="en-US"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 name="文本框 66"/>
            <p:cNvSpPr txBox="1"/>
            <p:nvPr/>
          </p:nvSpPr>
          <p:spPr bwMode="gray">
            <a:xfrm rot="20416982">
              <a:off x="8015409" y="3690075"/>
              <a:ext cx="1594457" cy="276999"/>
            </a:xfrm>
            <a:prstGeom prst="rect">
              <a:avLst/>
            </a:prstGeom>
            <a:noFill/>
            <a:ln w="28575">
              <a:solidFill>
                <a:srgbClr val="8BC9A0"/>
              </a:solidFill>
            </a:ln>
          </p:spPr>
          <p:txBody>
            <a:bodyPr wrap="square" lIns="0" rIns="0" rtlCol="0">
              <a:spAutoFit/>
            </a:bodyPr>
            <a:lstStyle>
              <a:defPPr>
                <a:defRPr lang="en-US"/>
              </a:defPPr>
              <a:lvl1pPr algn="ctr">
                <a:defRPr sz="1200"/>
              </a:lvl1pPr>
            </a:lstStyle>
            <a:p>
              <a:r>
                <a:rPr lang="zh-CN" altLang="en-US" dirty="0" smtClean="0">
                  <a:latin typeface="Huawei Sans" panose="020C0503030203020204" pitchFamily="34" charset="0"/>
                  <a:ea typeface="方正兰亭黑简体" panose="02000000000000000000" pitchFamily="2" charset="-122"/>
                  <a:sym typeface="Huawei Sans" panose="020C0503030203020204" pitchFamily="34" charset="0"/>
                </a:rPr>
                <a:t>数据</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72" name="直接连接符 71"/>
          <p:cNvCxnSpPr>
            <a:stCxn id="73" idx="2"/>
            <a:endCxn id="52" idx="3"/>
          </p:cNvCxnSpPr>
          <p:nvPr/>
        </p:nvCxnSpPr>
        <p:spPr bwMode="gray">
          <a:xfrm flipH="1">
            <a:off x="7960458" y="2105283"/>
            <a:ext cx="1716266" cy="253183"/>
          </a:xfrm>
          <a:prstGeom prst="line">
            <a:avLst/>
          </a:prstGeom>
          <a:ln w="12700">
            <a:solidFill>
              <a:srgbClr val="EC7061"/>
            </a:solidFill>
          </a:ln>
        </p:spPr>
        <p:style>
          <a:lnRef idx="1">
            <a:schemeClr val="accent1"/>
          </a:lnRef>
          <a:fillRef idx="0">
            <a:schemeClr val="accent1"/>
          </a:fillRef>
          <a:effectRef idx="0">
            <a:schemeClr val="accent1"/>
          </a:effectRef>
          <a:fontRef idx="minor">
            <a:schemeClr val="tx1"/>
          </a:fontRef>
        </p:style>
      </p:cxnSp>
      <p:sp>
        <p:nvSpPr>
          <p:cNvPr id="73" name="Text Box 19"/>
          <p:cNvSpPr txBox="1">
            <a:spLocks noChangeArrowheads="1"/>
          </p:cNvSpPr>
          <p:nvPr/>
        </p:nvSpPr>
        <p:spPr bwMode="gray">
          <a:xfrm>
            <a:off x="7752448" y="1274286"/>
            <a:ext cx="3848551" cy="830997"/>
          </a:xfrm>
          <a:prstGeom prst="rect">
            <a:avLst/>
          </a:prstGeom>
          <a:solidFill>
            <a:srgbClr val="EC7061"/>
          </a:solidFill>
          <a:ln w="19050">
            <a:solidFill>
              <a:srgbClr val="EC7061"/>
            </a:solidFill>
            <a:miter lim="800000"/>
            <a:headEnd/>
            <a:tailEnd/>
          </a:ln>
          <a:effectLs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外层标签（公网标签</a:t>
            </a:r>
            <a:r>
              <a:rPr lang="zh-CN" altLang="en-US" sz="16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）由</a:t>
            </a:r>
            <a:r>
              <a:rPr lang="en-US" altLang="zh-CN" sz="16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LDP</a:t>
            </a:r>
            <a:r>
              <a:rPr lang="zh-CN" altLang="en-US"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为</a:t>
            </a:r>
            <a:r>
              <a:rPr lang="en-US" altLang="zh-CN"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路由的</a:t>
            </a:r>
            <a:r>
              <a:rPr lang="en-US" altLang="zh-CN" sz="1600" dirty="0" err="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NextHop</a:t>
            </a:r>
            <a:r>
              <a:rPr lang="zh-CN" altLang="en-US" sz="16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（一般是</a:t>
            </a:r>
            <a:r>
              <a:rPr lang="en-US" altLang="zh-CN" sz="16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PE</a:t>
            </a:r>
            <a:r>
              <a:rPr lang="zh-CN" altLang="en-US" sz="16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的某个接口地址）</a:t>
            </a:r>
            <a:r>
              <a:rPr lang="zh-CN" altLang="en-US"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分发</a:t>
            </a:r>
            <a:r>
              <a:rPr lang="zh-CN" altLang="en-US" sz="16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P</a:t>
            </a:r>
            <a:r>
              <a:rPr lang="zh-CN" altLang="en-US" sz="16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根据外层标签转发数据到</a:t>
            </a:r>
            <a:r>
              <a:rPr lang="en-US" altLang="zh-CN" sz="16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PE</a:t>
            </a:r>
            <a:r>
              <a:rPr lang="zh-CN" altLang="en-US" sz="16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31" name="组合 30"/>
          <p:cNvGrpSpPr/>
          <p:nvPr/>
        </p:nvGrpSpPr>
        <p:grpSpPr bwMode="gray">
          <a:xfrm>
            <a:off x="5032912" y="4177777"/>
            <a:ext cx="2944206" cy="462756"/>
            <a:chOff x="5287083" y="4251517"/>
            <a:chExt cx="2511951" cy="462756"/>
          </a:xfrm>
        </p:grpSpPr>
        <p:sp>
          <p:nvSpPr>
            <p:cNvPr id="84" name="Can 9"/>
            <p:cNvSpPr/>
            <p:nvPr/>
          </p:nvSpPr>
          <p:spPr bwMode="gray">
            <a:xfrm rot="16200000" flipH="1">
              <a:off x="6311681" y="3226919"/>
              <a:ext cx="462756" cy="2511951"/>
            </a:xfrm>
            <a:prstGeom prst="can">
              <a:avLst>
                <a:gd name="adj" fmla="val 40000"/>
              </a:avLst>
            </a:prstGeom>
            <a:solidFill>
              <a:srgbClr val="FFF2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9" name="文本框 88"/>
            <p:cNvSpPr txBox="1"/>
            <p:nvPr/>
          </p:nvSpPr>
          <p:spPr bwMode="gray">
            <a:xfrm>
              <a:off x="5993447" y="4298228"/>
              <a:ext cx="1099225" cy="369332"/>
            </a:xfrm>
            <a:prstGeom prst="rect">
              <a:avLst/>
            </a:prstGeom>
            <a:noFill/>
          </p:spPr>
          <p:txBody>
            <a:bodyPr wrap="square" rtlCol="0">
              <a:spAutoFit/>
            </a:bodyPr>
            <a:lstStyle/>
            <a:p>
              <a:r>
                <a:rPr lang="zh-CN" altLang="en-US" dirty="0"/>
                <a:t>公</a:t>
              </a:r>
              <a:r>
                <a:rPr lang="zh-CN" altLang="en-US" dirty="0" smtClean="0"/>
                <a:t>网隧道</a:t>
              </a:r>
              <a:endParaRPr lang="zh-CN" altLang="en-US" dirty="0"/>
            </a:p>
          </p:txBody>
        </p:sp>
      </p:grpSp>
      <p:sp>
        <p:nvSpPr>
          <p:cNvPr id="83" name="Can 225"/>
          <p:cNvSpPr/>
          <p:nvPr/>
        </p:nvSpPr>
        <p:spPr bwMode="gray">
          <a:xfrm rot="16200000" flipH="1">
            <a:off x="4552417" y="3962618"/>
            <a:ext cx="361307" cy="890736"/>
          </a:xfrm>
          <a:prstGeom prst="can">
            <a:avLst>
              <a:gd name="adj" fmla="val 40000"/>
            </a:avLst>
          </a:prstGeom>
          <a:solidFill>
            <a:srgbClr val="56C4D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0" name="文本框 89"/>
          <p:cNvSpPr txBox="1"/>
          <p:nvPr/>
        </p:nvSpPr>
        <p:spPr bwMode="gray">
          <a:xfrm>
            <a:off x="4368704" y="4264881"/>
            <a:ext cx="728732" cy="307777"/>
          </a:xfrm>
          <a:prstGeom prst="rect">
            <a:avLst/>
          </a:prstGeom>
          <a:noFill/>
        </p:spPr>
        <p:txBody>
          <a:bodyPr wrap="none" rtlCol="0">
            <a:spAutoFit/>
          </a:bodyPr>
          <a:lstStyle/>
          <a:p>
            <a:r>
              <a:rPr lang="zh-CN" altLang="en-US" sz="1400" dirty="0" smtClean="0">
                <a:solidFill>
                  <a:schemeClr val="bg1"/>
                </a:solidFill>
              </a:rPr>
              <a:t>私网流量</a:t>
            </a:r>
            <a:endParaRPr lang="zh-CN" altLang="en-US" sz="1400" dirty="0">
              <a:solidFill>
                <a:schemeClr val="bg1"/>
              </a:solidFill>
            </a:endParaRPr>
          </a:p>
        </p:txBody>
      </p:sp>
      <p:grpSp>
        <p:nvGrpSpPr>
          <p:cNvPr id="74" name="组合 73"/>
          <p:cNvGrpSpPr/>
          <p:nvPr/>
        </p:nvGrpSpPr>
        <p:grpSpPr bwMode="gray">
          <a:xfrm>
            <a:off x="9493131" y="4272637"/>
            <a:ext cx="540000" cy="723926"/>
            <a:chOff x="4073209" y="4947622"/>
            <a:chExt cx="540000" cy="723926"/>
          </a:xfrm>
        </p:grpSpPr>
        <p:pic>
          <p:nvPicPr>
            <p:cNvPr id="75" name="Picture 12" descr="E:\2016.01\1.12 扁平化图标\蓝色\AR-蓝色最新-40.png"/>
            <p:cNvPicPr>
              <a:picLocks noChangeAspect="1" noChangeArrowheads="1"/>
            </p:cNvPicPr>
            <p:nvPr/>
          </p:nvPicPr>
          <p:blipFill>
            <a:blip r:embed="rId3" cstate="print"/>
            <a:srcRect/>
            <a:stretch>
              <a:fillRect/>
            </a:stretch>
          </p:blipFill>
          <p:spPr bwMode="gray">
            <a:xfrm>
              <a:off x="4073209" y="4947622"/>
              <a:ext cx="540000" cy="441818"/>
            </a:xfrm>
            <a:prstGeom prst="rect">
              <a:avLst/>
            </a:prstGeom>
            <a:noFill/>
          </p:spPr>
        </p:pic>
        <p:sp>
          <p:nvSpPr>
            <p:cNvPr id="76" name="文本框 75"/>
            <p:cNvSpPr txBox="1"/>
            <p:nvPr/>
          </p:nvSpPr>
          <p:spPr bwMode="gray">
            <a:xfrm>
              <a:off x="4086262" y="5363771"/>
              <a:ext cx="50206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CE3</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77" name="组合 76"/>
          <p:cNvGrpSpPr/>
          <p:nvPr/>
        </p:nvGrpSpPr>
        <p:grpSpPr bwMode="gray">
          <a:xfrm>
            <a:off x="9504955" y="5354017"/>
            <a:ext cx="552270" cy="723926"/>
            <a:chOff x="4060939" y="4947622"/>
            <a:chExt cx="552270" cy="723926"/>
          </a:xfrm>
        </p:grpSpPr>
        <p:pic>
          <p:nvPicPr>
            <p:cNvPr id="78" name="Picture 12" descr="E:\2016.01\1.12 扁平化图标\蓝色\AR-蓝色最新-40.png"/>
            <p:cNvPicPr>
              <a:picLocks noChangeAspect="1" noChangeArrowheads="1"/>
            </p:cNvPicPr>
            <p:nvPr/>
          </p:nvPicPr>
          <p:blipFill>
            <a:blip r:embed="rId3" cstate="print"/>
            <a:srcRect/>
            <a:stretch>
              <a:fillRect/>
            </a:stretch>
          </p:blipFill>
          <p:spPr bwMode="gray">
            <a:xfrm>
              <a:off x="4073209" y="4947622"/>
              <a:ext cx="540000" cy="441818"/>
            </a:xfrm>
            <a:prstGeom prst="rect">
              <a:avLst/>
            </a:prstGeom>
            <a:noFill/>
          </p:spPr>
        </p:pic>
        <p:sp>
          <p:nvSpPr>
            <p:cNvPr id="79" name="文本框 78"/>
            <p:cNvSpPr txBox="1"/>
            <p:nvPr/>
          </p:nvSpPr>
          <p:spPr bwMode="gray">
            <a:xfrm>
              <a:off x="4060939" y="5363771"/>
              <a:ext cx="50206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CE4</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Tree>
    <p:extLst>
      <p:ext uri="{BB962C8B-B14F-4D97-AF65-F5344CB8AC3E}">
        <p14:creationId xmlns:p14="http://schemas.microsoft.com/office/powerpoint/2010/main" val="65384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barn(inVertical)">
                                      <p:cBhvr>
                                        <p:cTn id="7" dur="500"/>
                                        <p:tgtEl>
                                          <p:spTgt spid="31"/>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48"/>
                                        </p:tgtEl>
                                        <p:attrNameLst>
                                          <p:attrName>style.visibility</p:attrName>
                                        </p:attrNameLst>
                                      </p:cBhvr>
                                      <p:to>
                                        <p:strVal val="visible"/>
                                      </p:to>
                                    </p:set>
                                    <p:animEffect transition="in" filter="barn(inVertical)">
                                      <p:cBhvr>
                                        <p:cTn id="10" dur="500"/>
                                        <p:tgtEl>
                                          <p:spTgt spid="48"/>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50"/>
                                        </p:tgtEl>
                                        <p:attrNameLst>
                                          <p:attrName>style.visibility</p:attrName>
                                        </p:attrNameLst>
                                      </p:cBhvr>
                                      <p:to>
                                        <p:strVal val="visible"/>
                                      </p:to>
                                    </p:set>
                                    <p:animEffect transition="in" filter="barn(inVertical)">
                                      <p:cBhvr>
                                        <p:cTn id="13" dur="500"/>
                                        <p:tgtEl>
                                          <p:spTgt spid="50"/>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51"/>
                                        </p:tgtEl>
                                        <p:attrNameLst>
                                          <p:attrName>style.visibility</p:attrName>
                                        </p:attrNameLst>
                                      </p:cBhvr>
                                      <p:to>
                                        <p:strVal val="visible"/>
                                      </p:to>
                                    </p:set>
                                    <p:animEffect transition="in" filter="barn(inVertical)">
                                      <p:cBhvr>
                                        <p:cTn id="16" dur="500"/>
                                        <p:tgtEl>
                                          <p:spTgt spid="51"/>
                                        </p:tgtEl>
                                      </p:cBhvr>
                                    </p:animEffect>
                                  </p:childTnLst>
                                </p:cTn>
                              </p:par>
                              <p:par>
                                <p:cTn id="17" presetID="16" presetClass="entr" presetSubtype="21" fill="hold" grpId="0" nodeType="withEffect">
                                  <p:stCondLst>
                                    <p:cond delay="0"/>
                                  </p:stCondLst>
                                  <p:childTnLst>
                                    <p:set>
                                      <p:cBhvr>
                                        <p:cTn id="18" dur="1" fill="hold">
                                          <p:stCondLst>
                                            <p:cond delay="0"/>
                                          </p:stCondLst>
                                        </p:cTn>
                                        <p:tgtEl>
                                          <p:spTgt spid="52"/>
                                        </p:tgtEl>
                                        <p:attrNameLst>
                                          <p:attrName>style.visibility</p:attrName>
                                        </p:attrNameLst>
                                      </p:cBhvr>
                                      <p:to>
                                        <p:strVal val="visible"/>
                                      </p:to>
                                    </p:set>
                                    <p:animEffect transition="in" filter="barn(inVertical)">
                                      <p:cBhvr>
                                        <p:cTn id="19" dur="500"/>
                                        <p:tgtEl>
                                          <p:spTgt spid="52"/>
                                        </p:tgtEl>
                                      </p:cBhvr>
                                    </p:animEffect>
                                  </p:childTnLst>
                                </p:cTn>
                              </p:par>
                              <p:par>
                                <p:cTn id="20" presetID="16" presetClass="entr" presetSubtype="21" fill="hold" nodeType="withEffect">
                                  <p:stCondLst>
                                    <p:cond delay="0"/>
                                  </p:stCondLst>
                                  <p:childTnLst>
                                    <p:set>
                                      <p:cBhvr>
                                        <p:cTn id="21" dur="1" fill="hold">
                                          <p:stCondLst>
                                            <p:cond delay="0"/>
                                          </p:stCondLst>
                                        </p:cTn>
                                        <p:tgtEl>
                                          <p:spTgt spid="54"/>
                                        </p:tgtEl>
                                        <p:attrNameLst>
                                          <p:attrName>style.visibility</p:attrName>
                                        </p:attrNameLst>
                                      </p:cBhvr>
                                      <p:to>
                                        <p:strVal val="visible"/>
                                      </p:to>
                                    </p:set>
                                    <p:animEffect transition="in" filter="barn(inVertical)">
                                      <p:cBhvr>
                                        <p:cTn id="22" dur="500"/>
                                        <p:tgtEl>
                                          <p:spTgt spid="54"/>
                                        </p:tgtEl>
                                      </p:cBhvr>
                                    </p:animEffect>
                                  </p:childTnLst>
                                </p:cTn>
                              </p:par>
                              <p:par>
                                <p:cTn id="23" presetID="16" presetClass="entr" presetSubtype="21" fill="hold" nodeType="withEffect">
                                  <p:stCondLst>
                                    <p:cond delay="0"/>
                                  </p:stCondLst>
                                  <p:childTnLst>
                                    <p:set>
                                      <p:cBhvr>
                                        <p:cTn id="24" dur="1" fill="hold">
                                          <p:stCondLst>
                                            <p:cond delay="0"/>
                                          </p:stCondLst>
                                        </p:cTn>
                                        <p:tgtEl>
                                          <p:spTgt spid="72"/>
                                        </p:tgtEl>
                                        <p:attrNameLst>
                                          <p:attrName>style.visibility</p:attrName>
                                        </p:attrNameLst>
                                      </p:cBhvr>
                                      <p:to>
                                        <p:strVal val="visible"/>
                                      </p:to>
                                    </p:set>
                                    <p:animEffect transition="in" filter="barn(inVertical)">
                                      <p:cBhvr>
                                        <p:cTn id="25" dur="500"/>
                                        <p:tgtEl>
                                          <p:spTgt spid="72"/>
                                        </p:tgtEl>
                                      </p:cBhvr>
                                    </p:animEffect>
                                  </p:childTnLst>
                                </p:cTn>
                              </p:par>
                              <p:par>
                                <p:cTn id="26" presetID="16" presetClass="entr" presetSubtype="21" fill="hold" grpId="0" nodeType="withEffect">
                                  <p:stCondLst>
                                    <p:cond delay="0"/>
                                  </p:stCondLst>
                                  <p:childTnLst>
                                    <p:set>
                                      <p:cBhvr>
                                        <p:cTn id="27" dur="1" fill="hold">
                                          <p:stCondLst>
                                            <p:cond delay="0"/>
                                          </p:stCondLst>
                                        </p:cTn>
                                        <p:tgtEl>
                                          <p:spTgt spid="73"/>
                                        </p:tgtEl>
                                        <p:attrNameLst>
                                          <p:attrName>style.visibility</p:attrName>
                                        </p:attrNameLst>
                                      </p:cBhvr>
                                      <p:to>
                                        <p:strVal val="visible"/>
                                      </p:to>
                                    </p:set>
                                    <p:animEffect transition="in" filter="barn(inVertical)">
                                      <p:cBhvr>
                                        <p:cTn id="28" dur="500"/>
                                        <p:tgtEl>
                                          <p:spTgt spid="73"/>
                                        </p:tgtEl>
                                      </p:cBhvr>
                                    </p:animEffect>
                                  </p:childTnLst>
                                </p:cTn>
                              </p:par>
                              <p:par>
                                <p:cTn id="29" presetID="16" presetClass="entr" presetSubtype="21" fill="hold" nodeType="withEffect">
                                  <p:stCondLst>
                                    <p:cond delay="0"/>
                                  </p:stCondLst>
                                  <p:childTnLst>
                                    <p:set>
                                      <p:cBhvr>
                                        <p:cTn id="30" dur="1" fill="hold">
                                          <p:stCondLst>
                                            <p:cond delay="0"/>
                                          </p:stCondLst>
                                        </p:cTn>
                                        <p:tgtEl>
                                          <p:spTgt spid="55"/>
                                        </p:tgtEl>
                                        <p:attrNameLst>
                                          <p:attrName>style.visibility</p:attrName>
                                        </p:attrNameLst>
                                      </p:cBhvr>
                                      <p:to>
                                        <p:strVal val="visible"/>
                                      </p:to>
                                    </p:set>
                                    <p:animEffect transition="in" filter="barn(inVertical)">
                                      <p:cBhvr>
                                        <p:cTn id="31" dur="500"/>
                                        <p:tgtEl>
                                          <p:spTgt spid="55"/>
                                        </p:tgtEl>
                                      </p:cBhvr>
                                    </p:animEffect>
                                  </p:childTnLst>
                                </p:cTn>
                              </p:par>
                              <p:par>
                                <p:cTn id="32" presetID="16" presetClass="entr" presetSubtype="21" fill="hold" grpId="0" nodeType="withEffect">
                                  <p:stCondLst>
                                    <p:cond delay="0"/>
                                  </p:stCondLst>
                                  <p:childTnLst>
                                    <p:set>
                                      <p:cBhvr>
                                        <p:cTn id="33" dur="1" fill="hold">
                                          <p:stCondLst>
                                            <p:cond delay="0"/>
                                          </p:stCondLst>
                                        </p:cTn>
                                        <p:tgtEl>
                                          <p:spTgt spid="56"/>
                                        </p:tgtEl>
                                        <p:attrNameLst>
                                          <p:attrName>style.visibility</p:attrName>
                                        </p:attrNameLst>
                                      </p:cBhvr>
                                      <p:to>
                                        <p:strVal val="visible"/>
                                      </p:to>
                                    </p:set>
                                    <p:animEffect transition="in" filter="barn(inVertical)">
                                      <p:cBhvr>
                                        <p:cTn id="34" dur="500"/>
                                        <p:tgtEl>
                                          <p:spTgt spid="56"/>
                                        </p:tgtEl>
                                      </p:cBhvr>
                                    </p:animEffect>
                                  </p:childTnLst>
                                </p:cTn>
                              </p:par>
                              <p:par>
                                <p:cTn id="35" presetID="16" presetClass="entr" presetSubtype="21" fill="hold" grpId="0" nodeType="withEffect">
                                  <p:stCondLst>
                                    <p:cond delay="0"/>
                                  </p:stCondLst>
                                  <p:childTnLst>
                                    <p:set>
                                      <p:cBhvr>
                                        <p:cTn id="36" dur="1" fill="hold">
                                          <p:stCondLst>
                                            <p:cond delay="0"/>
                                          </p:stCondLst>
                                        </p:cTn>
                                        <p:tgtEl>
                                          <p:spTgt spid="59"/>
                                        </p:tgtEl>
                                        <p:attrNameLst>
                                          <p:attrName>style.visibility</p:attrName>
                                        </p:attrNameLst>
                                      </p:cBhvr>
                                      <p:to>
                                        <p:strVal val="visible"/>
                                      </p:to>
                                    </p:set>
                                    <p:animEffect transition="in" filter="barn(inVertical)">
                                      <p:cBhvr>
                                        <p:cTn id="37" dur="500"/>
                                        <p:tgtEl>
                                          <p:spTgt spid="59"/>
                                        </p:tgtEl>
                                      </p:cBhvr>
                                    </p:animEffect>
                                  </p:childTnLst>
                                </p:cTn>
                              </p:par>
                              <p:par>
                                <p:cTn id="38" presetID="16" presetClass="entr" presetSubtype="21" fill="hold" grpId="0" nodeType="withEffect">
                                  <p:stCondLst>
                                    <p:cond delay="0"/>
                                  </p:stCondLst>
                                  <p:childTnLst>
                                    <p:set>
                                      <p:cBhvr>
                                        <p:cTn id="39" dur="1" fill="hold">
                                          <p:stCondLst>
                                            <p:cond delay="0"/>
                                          </p:stCondLst>
                                        </p:cTn>
                                        <p:tgtEl>
                                          <p:spTgt spid="60"/>
                                        </p:tgtEl>
                                        <p:attrNameLst>
                                          <p:attrName>style.visibility</p:attrName>
                                        </p:attrNameLst>
                                      </p:cBhvr>
                                      <p:to>
                                        <p:strVal val="visible"/>
                                      </p:to>
                                    </p:set>
                                    <p:animEffect transition="in" filter="barn(inVertical)">
                                      <p:cBhvr>
                                        <p:cTn id="40" dur="500"/>
                                        <p:tgtEl>
                                          <p:spTgt spid="60"/>
                                        </p:tgtEl>
                                      </p:cBhvr>
                                    </p:animEffect>
                                  </p:childTnLst>
                                </p:cTn>
                              </p:par>
                              <p:par>
                                <p:cTn id="41" presetID="16" presetClass="entr" presetSubtype="21" fill="hold" grpId="0" nodeType="withEffect">
                                  <p:stCondLst>
                                    <p:cond delay="0"/>
                                  </p:stCondLst>
                                  <p:childTnLst>
                                    <p:set>
                                      <p:cBhvr>
                                        <p:cTn id="42" dur="1" fill="hold">
                                          <p:stCondLst>
                                            <p:cond delay="0"/>
                                          </p:stCondLst>
                                        </p:cTn>
                                        <p:tgtEl>
                                          <p:spTgt spid="61"/>
                                        </p:tgtEl>
                                        <p:attrNameLst>
                                          <p:attrName>style.visibility</p:attrName>
                                        </p:attrNameLst>
                                      </p:cBhvr>
                                      <p:to>
                                        <p:strVal val="visible"/>
                                      </p:to>
                                    </p:set>
                                    <p:animEffect transition="in" filter="barn(inVertical)">
                                      <p:cBhvr>
                                        <p:cTn id="43" dur="500"/>
                                        <p:tgtEl>
                                          <p:spTgt spid="61"/>
                                        </p:tgtEl>
                                      </p:cBhvr>
                                    </p:animEffect>
                                  </p:childTnLst>
                                </p:cTn>
                              </p:par>
                              <p:par>
                                <p:cTn id="44" presetID="16" presetClass="entr" presetSubtype="21" fill="hold" grpId="0" nodeType="withEffect">
                                  <p:stCondLst>
                                    <p:cond delay="0"/>
                                  </p:stCondLst>
                                  <p:childTnLst>
                                    <p:set>
                                      <p:cBhvr>
                                        <p:cTn id="45" dur="1" fill="hold">
                                          <p:stCondLst>
                                            <p:cond delay="0"/>
                                          </p:stCondLst>
                                        </p:cTn>
                                        <p:tgtEl>
                                          <p:spTgt spid="62"/>
                                        </p:tgtEl>
                                        <p:attrNameLst>
                                          <p:attrName>style.visibility</p:attrName>
                                        </p:attrNameLst>
                                      </p:cBhvr>
                                      <p:to>
                                        <p:strVal val="visible"/>
                                      </p:to>
                                    </p:set>
                                    <p:animEffect transition="in" filter="barn(inVertical)">
                                      <p:cBhvr>
                                        <p:cTn id="46" dur="500"/>
                                        <p:tgtEl>
                                          <p:spTgt spid="62"/>
                                        </p:tgtEl>
                                      </p:cBhvr>
                                    </p:animEffect>
                                  </p:childTnLst>
                                </p:cTn>
                              </p:par>
                              <p:par>
                                <p:cTn id="47" presetID="16" presetClass="entr" presetSubtype="21" fill="hold" nodeType="withEffect">
                                  <p:stCondLst>
                                    <p:cond delay="0"/>
                                  </p:stCondLst>
                                  <p:childTnLst>
                                    <p:set>
                                      <p:cBhvr>
                                        <p:cTn id="48" dur="1" fill="hold">
                                          <p:stCondLst>
                                            <p:cond delay="0"/>
                                          </p:stCondLst>
                                        </p:cTn>
                                        <p:tgtEl>
                                          <p:spTgt spid="63"/>
                                        </p:tgtEl>
                                        <p:attrNameLst>
                                          <p:attrName>style.visibility</p:attrName>
                                        </p:attrNameLst>
                                      </p:cBhvr>
                                      <p:to>
                                        <p:strVal val="visible"/>
                                      </p:to>
                                    </p:set>
                                    <p:animEffect transition="in" filter="barn(inVertical)">
                                      <p:cBhvr>
                                        <p:cTn id="49" dur="500"/>
                                        <p:tgtEl>
                                          <p:spTgt spid="63"/>
                                        </p:tgtEl>
                                      </p:cBhvr>
                                    </p:animEffect>
                                  </p:childTnLst>
                                </p:cTn>
                              </p:par>
                            </p:childTnLst>
                          </p:cTn>
                        </p:par>
                      </p:childTnLst>
                    </p:cTn>
                  </p:par>
                  <p:par>
                    <p:cTn id="50" fill="hold">
                      <p:stCondLst>
                        <p:cond delay="indefinite"/>
                      </p:stCondLst>
                      <p:childTnLst>
                        <p:par>
                          <p:cTn id="51" fill="hold">
                            <p:stCondLst>
                              <p:cond delay="0"/>
                            </p:stCondLst>
                            <p:childTnLst>
                              <p:par>
                                <p:cTn id="52" presetID="16" presetClass="entr" presetSubtype="21" fill="hold" nodeType="clickEffect">
                                  <p:stCondLst>
                                    <p:cond delay="0"/>
                                  </p:stCondLst>
                                  <p:childTnLst>
                                    <p:set>
                                      <p:cBhvr>
                                        <p:cTn id="53" dur="1" fill="hold">
                                          <p:stCondLst>
                                            <p:cond delay="0"/>
                                          </p:stCondLst>
                                        </p:cTn>
                                        <p:tgtEl>
                                          <p:spTgt spid="64"/>
                                        </p:tgtEl>
                                        <p:attrNameLst>
                                          <p:attrName>style.visibility</p:attrName>
                                        </p:attrNameLst>
                                      </p:cBhvr>
                                      <p:to>
                                        <p:strVal val="visible"/>
                                      </p:to>
                                    </p:set>
                                    <p:animEffect transition="in" filter="barn(inVertical)">
                                      <p:cBhvr>
                                        <p:cTn id="54" dur="500"/>
                                        <p:tgtEl>
                                          <p:spTgt spid="64"/>
                                        </p:tgtEl>
                                      </p:cBhvr>
                                    </p:animEffect>
                                  </p:childTnLst>
                                </p:cTn>
                              </p:par>
                              <p:par>
                                <p:cTn id="55" presetID="16" presetClass="entr" presetSubtype="21" fill="hold" nodeType="withEffect">
                                  <p:stCondLst>
                                    <p:cond delay="0"/>
                                  </p:stCondLst>
                                  <p:childTnLst>
                                    <p:set>
                                      <p:cBhvr>
                                        <p:cTn id="56" dur="1" fill="hold">
                                          <p:stCondLst>
                                            <p:cond delay="0"/>
                                          </p:stCondLst>
                                        </p:cTn>
                                        <p:tgtEl>
                                          <p:spTgt spid="65"/>
                                        </p:tgtEl>
                                        <p:attrNameLst>
                                          <p:attrName>style.visibility</p:attrName>
                                        </p:attrNameLst>
                                      </p:cBhvr>
                                      <p:to>
                                        <p:strVal val="visible"/>
                                      </p:to>
                                    </p:set>
                                    <p:animEffect transition="in" filter="barn(inVertical)">
                                      <p:cBhvr>
                                        <p:cTn id="57"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P spid="50" grpId="0" animBg="1"/>
      <p:bldP spid="51" grpId="0" animBg="1"/>
      <p:bldP spid="52" grpId="0" animBg="1"/>
      <p:bldP spid="56" grpId="0" animBg="1"/>
      <p:bldP spid="59" grpId="0" animBg="1"/>
      <p:bldP spid="60" grpId="0" animBg="1"/>
      <p:bldP spid="61" grpId="0" animBg="1"/>
      <p:bldP spid="62" grpId="0" animBg="1"/>
      <p:bldP spid="73"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标题 67"/>
          <p:cNvSpPr>
            <a:spLocks noGrp="1"/>
          </p:cNvSpPr>
          <p:nvPr>
            <p:ph type="title"/>
          </p:nvPr>
        </p:nvSpPr>
        <p:spPr bwMode="gray"/>
        <p:txBody>
          <a:bodyPr/>
          <a:lstStyle/>
          <a:p>
            <a:r>
              <a:rPr lang="zh-CN" altLang="en-US" smtClean="0"/>
              <a:t>入口</a:t>
            </a:r>
            <a:r>
              <a:rPr lang="en-US" altLang="zh-CN" smtClean="0"/>
              <a:t>PE</a:t>
            </a:r>
            <a:r>
              <a:rPr lang="zh-CN" altLang="en-US" smtClean="0"/>
              <a:t>到出口</a:t>
            </a:r>
            <a:r>
              <a:rPr lang="en-US" altLang="zh-CN" smtClean="0"/>
              <a:t>PE</a:t>
            </a:r>
            <a:r>
              <a:rPr lang="zh-CN" altLang="en-US" smtClean="0">
                <a:sym typeface="Huawei Sans" panose="020C0503030203020204" pitchFamily="34" charset="0"/>
              </a:rPr>
              <a:t>路由传递 </a:t>
            </a:r>
            <a:r>
              <a:rPr lang="en-US" altLang="zh-CN" smtClean="0">
                <a:sym typeface="Huawei Sans" panose="020C0503030203020204" pitchFamily="34" charset="0"/>
              </a:rPr>
              <a:t>(5)</a:t>
            </a:r>
            <a:endParaRPr lang="zh-CN" altLang="en-US" dirty="0">
              <a:sym typeface="Huawei Sans" panose="020C0503030203020204" pitchFamily="34" charset="0"/>
            </a:endParaRPr>
          </a:p>
        </p:txBody>
      </p:sp>
      <p:sp>
        <p:nvSpPr>
          <p:cNvPr id="69" name="文本占位符 68"/>
          <p:cNvSpPr>
            <a:spLocks noGrp="1"/>
          </p:cNvSpPr>
          <p:nvPr>
            <p:ph type="body" sz="quarter" idx="10"/>
          </p:nvPr>
        </p:nvSpPr>
        <p:spPr bwMode="gray"/>
        <p:txBody>
          <a:bodyPr/>
          <a:lstStyle/>
          <a:p>
            <a:r>
              <a:rPr lang="en-US" altLang="zh-CN" sz="1800" smtClean="0">
                <a:sym typeface="Huawei Sans" panose="020C0503030203020204" pitchFamily="34" charset="0"/>
              </a:rPr>
              <a:t>PE</a:t>
            </a:r>
            <a:r>
              <a:rPr lang="zh-CN" altLang="en-US" sz="1800" smtClean="0">
                <a:sym typeface="Huawei Sans" panose="020C0503030203020204" pitchFamily="34" charset="0"/>
              </a:rPr>
              <a:t>和</a:t>
            </a:r>
            <a:r>
              <a:rPr lang="en-US" altLang="zh-CN" sz="1800" smtClean="0">
                <a:sym typeface="Huawei Sans" panose="020C0503030203020204" pitchFamily="34" charset="0"/>
              </a:rPr>
              <a:t>P</a:t>
            </a:r>
            <a:r>
              <a:rPr lang="zh-CN" altLang="en-US" sz="1800" smtClean="0">
                <a:sym typeface="Huawei Sans" panose="020C0503030203020204" pitchFamily="34" charset="0"/>
              </a:rPr>
              <a:t>设备之间运行</a:t>
            </a:r>
            <a:r>
              <a:rPr lang="en-US" altLang="zh-CN" sz="1800" smtClean="0">
                <a:sym typeface="Huawei Sans" panose="020C0503030203020204" pitchFamily="34" charset="0"/>
              </a:rPr>
              <a:t>LDP</a:t>
            </a:r>
            <a:r>
              <a:rPr lang="zh-CN" altLang="en-US" sz="1800" smtClean="0">
                <a:sym typeface="Huawei Sans" panose="020C0503030203020204" pitchFamily="34" charset="0"/>
              </a:rPr>
              <a:t>，交换公网标签，建立</a:t>
            </a:r>
            <a:r>
              <a:rPr lang="en-US" altLang="zh-CN" sz="1800" smtClean="0">
                <a:sym typeface="Huawei Sans" panose="020C0503030203020204" pitchFamily="34" charset="0"/>
              </a:rPr>
              <a:t>PE</a:t>
            </a:r>
            <a:r>
              <a:rPr lang="zh-CN" altLang="en-US" sz="1800" smtClean="0">
                <a:sym typeface="Huawei Sans" panose="020C0503030203020204" pitchFamily="34" charset="0"/>
              </a:rPr>
              <a:t>之间的</a:t>
            </a:r>
            <a:r>
              <a:rPr lang="en-US" altLang="zh-CN" sz="1800" smtClean="0">
                <a:sym typeface="Huawei Sans" panose="020C0503030203020204" pitchFamily="34" charset="0"/>
              </a:rPr>
              <a:t>LSP</a:t>
            </a:r>
            <a:r>
              <a:rPr lang="zh-CN" altLang="en-US" sz="1800" smtClean="0">
                <a:sym typeface="Huawei Sans" panose="020C0503030203020204" pitchFamily="34" charset="0"/>
              </a:rPr>
              <a:t>隧道（公网隧道）。</a:t>
            </a:r>
            <a:endParaRPr lang="en-US" altLang="zh-CN" sz="1800" smtClean="0">
              <a:sym typeface="Huawei Sans" panose="020C0503030203020204" pitchFamily="34" charset="0"/>
            </a:endParaRPr>
          </a:p>
          <a:p>
            <a:r>
              <a:rPr lang="zh-CN" altLang="en-US" sz="1800" smtClean="0">
                <a:sym typeface="Huawei Sans" panose="020C0503030203020204" pitchFamily="34" charset="0"/>
              </a:rPr>
              <a:t>入口</a:t>
            </a:r>
            <a:r>
              <a:rPr lang="en-US" altLang="zh-CN" sz="1800" smtClean="0">
                <a:sym typeface="Huawei Sans" panose="020C0503030203020204" pitchFamily="34" charset="0"/>
              </a:rPr>
              <a:t>PE</a:t>
            </a:r>
            <a:r>
              <a:rPr lang="zh-CN" altLang="en-US" sz="1800" smtClean="0">
                <a:sym typeface="Huawei Sans" panose="020C0503030203020204" pitchFamily="34" charset="0"/>
              </a:rPr>
              <a:t>在通过</a:t>
            </a:r>
            <a:r>
              <a:rPr lang="en-US" altLang="zh-CN" sz="1800" smtClean="0">
                <a:sym typeface="Huawei Sans" panose="020C0503030203020204" pitchFamily="34" charset="0"/>
              </a:rPr>
              <a:t>MP-BGP</a:t>
            </a:r>
            <a:r>
              <a:rPr lang="zh-CN" altLang="en-US" sz="1800" smtClean="0">
                <a:sym typeface="Huawei Sans" panose="020C0503030203020204" pitchFamily="34" charset="0"/>
              </a:rPr>
              <a:t>传递</a:t>
            </a:r>
            <a:r>
              <a:rPr lang="en-US" altLang="zh-CN" sz="1800" smtClean="0">
                <a:sym typeface="Huawei Sans" panose="020C0503030203020204" pitchFamily="34" charset="0"/>
              </a:rPr>
              <a:t>VPNv4</a:t>
            </a:r>
            <a:r>
              <a:rPr lang="zh-CN" altLang="en-US" sz="1800" smtClean="0">
                <a:sym typeface="Huawei Sans" panose="020C0503030203020204" pitchFamily="34" charset="0"/>
              </a:rPr>
              <a:t>路由时，会携带私网标签，用于区分不同</a:t>
            </a:r>
            <a:r>
              <a:rPr lang="en-US" altLang="zh-CN" sz="1800" smtClean="0">
                <a:sym typeface="Huawei Sans" panose="020C0503030203020204" pitchFamily="34" charset="0"/>
              </a:rPr>
              <a:t>VPN</a:t>
            </a:r>
            <a:r>
              <a:rPr lang="zh-CN" altLang="en-US" sz="1800" smtClean="0">
                <a:sym typeface="Huawei Sans" panose="020C0503030203020204" pitchFamily="34" charset="0"/>
              </a:rPr>
              <a:t>的数据。</a:t>
            </a:r>
            <a:endParaRPr lang="en-US" altLang="zh-CN" sz="1800" smtClean="0">
              <a:sym typeface="Huawei Sans" panose="020C0503030203020204" pitchFamily="34" charset="0"/>
            </a:endParaRPr>
          </a:p>
          <a:p>
            <a:r>
              <a:rPr lang="zh-CN" altLang="en-US" sz="1800" smtClean="0">
                <a:sym typeface="Huawei Sans" panose="020C0503030203020204" pitchFamily="34" charset="0"/>
              </a:rPr>
              <a:t>出口</a:t>
            </a:r>
            <a:r>
              <a:rPr lang="en-US" altLang="zh-CN" sz="1800" smtClean="0">
                <a:sym typeface="Huawei Sans" panose="020C0503030203020204" pitchFamily="34" charset="0"/>
              </a:rPr>
              <a:t>PE</a:t>
            </a:r>
            <a:r>
              <a:rPr lang="zh-CN" altLang="en-US" sz="1800" smtClean="0">
                <a:sym typeface="Huawei Sans" panose="020C0503030203020204" pitchFamily="34" charset="0"/>
              </a:rPr>
              <a:t>在接收到</a:t>
            </a:r>
            <a:r>
              <a:rPr lang="en-US" altLang="zh-CN" sz="1800" smtClean="0">
                <a:sym typeface="Huawei Sans" panose="020C0503030203020204" pitchFamily="34" charset="0"/>
              </a:rPr>
              <a:t>VPNv4</a:t>
            </a:r>
            <a:r>
              <a:rPr lang="zh-CN" altLang="en-US" sz="1800" smtClean="0">
                <a:sym typeface="Huawei Sans" panose="020C0503030203020204" pitchFamily="34" charset="0"/>
              </a:rPr>
              <a:t>路由后，需要执行私网路由交叉和隧道迭代来选择路由。</a:t>
            </a:r>
            <a:endParaRPr lang="en-US" altLang="zh-CN" sz="1800" dirty="0" smtClean="0">
              <a:sym typeface="Huawei Sans" panose="020C0503030203020204" pitchFamily="34" charset="0"/>
            </a:endParaRPr>
          </a:p>
        </p:txBody>
      </p:sp>
      <p:sp>
        <p:nvSpPr>
          <p:cNvPr id="51" name="圆角矩形 50"/>
          <p:cNvSpPr/>
          <p:nvPr/>
        </p:nvSpPr>
        <p:spPr bwMode="gray">
          <a:xfrm>
            <a:off x="4103749" y="4143995"/>
            <a:ext cx="4000659" cy="1825378"/>
          </a:xfrm>
          <a:prstGeom prst="roundRect">
            <a:avLst/>
          </a:prstGeom>
          <a:solidFill>
            <a:srgbClr val="BEE9EE"/>
          </a:solidFill>
          <a:ln w="28575" cap="flat" cmpd="sng" algn="ctr">
            <a:noFill/>
            <a:prstDash val="sys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文本框 52"/>
          <p:cNvSpPr txBox="1"/>
          <p:nvPr/>
        </p:nvSpPr>
        <p:spPr bwMode="gray">
          <a:xfrm>
            <a:off x="5308828" y="5674705"/>
            <a:ext cx="1590500" cy="307777"/>
          </a:xfrm>
          <a:prstGeom prst="rect">
            <a:avLst/>
          </a:prstGeom>
          <a:noFill/>
        </p:spPr>
        <p:txBody>
          <a:bodyPr wrap="none" rtlCol="0">
            <a:spAutoFit/>
          </a:bodyPr>
          <a:lstStyle/>
          <a:p>
            <a:pPr algn="ctr"/>
            <a:r>
              <a:rPr lang="en-US" altLang="zh-CN"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MPLS VPN</a:t>
            </a:r>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骨干网</a:t>
            </a:r>
            <a:endPar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54" name="组合 53"/>
          <p:cNvGrpSpPr/>
          <p:nvPr/>
        </p:nvGrpSpPr>
        <p:grpSpPr bwMode="gray">
          <a:xfrm>
            <a:off x="3846898" y="4694721"/>
            <a:ext cx="4513567" cy="723926"/>
            <a:chOff x="4088571" y="4424992"/>
            <a:chExt cx="4513567" cy="723926"/>
          </a:xfrm>
        </p:grpSpPr>
        <p:cxnSp>
          <p:nvCxnSpPr>
            <p:cNvPr id="55" name="直接连接符 54"/>
            <p:cNvCxnSpPr>
              <a:stCxn id="59" idx="3"/>
              <a:endCxn id="61" idx="1"/>
            </p:cNvCxnSpPr>
            <p:nvPr/>
          </p:nvCxnSpPr>
          <p:spPr bwMode="gray">
            <a:xfrm>
              <a:off x="4628571" y="4645901"/>
              <a:ext cx="343356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6" name="组合 55"/>
            <p:cNvGrpSpPr/>
            <p:nvPr/>
          </p:nvGrpSpPr>
          <p:grpSpPr bwMode="gray">
            <a:xfrm>
              <a:off x="6067674" y="4424992"/>
              <a:ext cx="540000" cy="723926"/>
              <a:chOff x="5312873" y="4947622"/>
              <a:chExt cx="540000" cy="723926"/>
            </a:xfrm>
          </p:grpSpPr>
          <p:pic>
            <p:nvPicPr>
              <p:cNvPr id="74" name="Picture 12" descr="E:\2016.01\1.12 扁平化图标\蓝色\AR-蓝色最新-40.png"/>
              <p:cNvPicPr>
                <a:picLocks noChangeAspect="1" noChangeArrowheads="1"/>
              </p:cNvPicPr>
              <p:nvPr/>
            </p:nvPicPr>
            <p:blipFill>
              <a:blip r:embed="rId4" cstate="print"/>
              <a:srcRect/>
              <a:stretch>
                <a:fillRect/>
              </a:stretch>
            </p:blipFill>
            <p:spPr bwMode="gray">
              <a:xfrm>
                <a:off x="5312873" y="4947622"/>
                <a:ext cx="540000" cy="441818"/>
              </a:xfrm>
              <a:prstGeom prst="rect">
                <a:avLst/>
              </a:prstGeom>
              <a:noFill/>
            </p:spPr>
          </p:pic>
          <p:sp>
            <p:nvSpPr>
              <p:cNvPr id="80" name="文本框 79"/>
              <p:cNvSpPr txBox="1"/>
              <p:nvPr/>
            </p:nvSpPr>
            <p:spPr bwMode="gray">
              <a:xfrm>
                <a:off x="5436839" y="5363771"/>
                <a:ext cx="292068"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57" name="组合 56"/>
            <p:cNvGrpSpPr/>
            <p:nvPr/>
          </p:nvGrpSpPr>
          <p:grpSpPr bwMode="gray">
            <a:xfrm>
              <a:off x="8062138" y="4424992"/>
              <a:ext cx="540000" cy="714804"/>
              <a:chOff x="8062138" y="4947622"/>
              <a:chExt cx="540000" cy="714804"/>
            </a:xfrm>
          </p:grpSpPr>
          <p:pic>
            <p:nvPicPr>
              <p:cNvPr id="61" name="Picture 12" descr="E:\2016.01\1.12 扁平化图标\蓝色\AR-蓝色最新-40.png"/>
              <p:cNvPicPr>
                <a:picLocks noChangeAspect="1" noChangeArrowheads="1"/>
              </p:cNvPicPr>
              <p:nvPr/>
            </p:nvPicPr>
            <p:blipFill>
              <a:blip r:embed="rId4" cstate="print"/>
              <a:srcRect/>
              <a:stretch>
                <a:fillRect/>
              </a:stretch>
            </p:blipFill>
            <p:spPr bwMode="gray">
              <a:xfrm>
                <a:off x="8062138" y="4947622"/>
                <a:ext cx="540000" cy="441818"/>
              </a:xfrm>
              <a:prstGeom prst="rect">
                <a:avLst/>
              </a:prstGeom>
              <a:noFill/>
            </p:spPr>
          </p:pic>
          <p:sp>
            <p:nvSpPr>
              <p:cNvPr id="70" name="文本框 69"/>
              <p:cNvSpPr txBox="1"/>
              <p:nvPr/>
            </p:nvSpPr>
            <p:spPr bwMode="gray">
              <a:xfrm>
                <a:off x="8084306" y="5354649"/>
                <a:ext cx="497252"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PE2</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58" name="组合 57"/>
            <p:cNvGrpSpPr/>
            <p:nvPr/>
          </p:nvGrpSpPr>
          <p:grpSpPr bwMode="gray">
            <a:xfrm>
              <a:off x="4088571" y="4424992"/>
              <a:ext cx="540000" cy="723926"/>
              <a:chOff x="4088571" y="4947622"/>
              <a:chExt cx="540000" cy="723926"/>
            </a:xfrm>
          </p:grpSpPr>
          <p:pic>
            <p:nvPicPr>
              <p:cNvPr id="59" name="Picture 12" descr="E:\2016.01\1.12 扁平化图标\蓝色\AR-蓝色最新-40.png"/>
              <p:cNvPicPr>
                <a:picLocks noChangeAspect="1" noChangeArrowheads="1"/>
              </p:cNvPicPr>
              <p:nvPr/>
            </p:nvPicPr>
            <p:blipFill>
              <a:blip r:embed="rId4" cstate="print"/>
              <a:srcRect/>
              <a:stretch>
                <a:fillRect/>
              </a:stretch>
            </p:blipFill>
            <p:spPr bwMode="gray">
              <a:xfrm>
                <a:off x="4088571" y="4947622"/>
                <a:ext cx="540000" cy="441818"/>
              </a:xfrm>
              <a:prstGeom prst="rect">
                <a:avLst/>
              </a:prstGeom>
              <a:noFill/>
            </p:spPr>
          </p:pic>
          <p:sp>
            <p:nvSpPr>
              <p:cNvPr id="60" name="文本框 59"/>
              <p:cNvSpPr txBox="1"/>
              <p:nvPr/>
            </p:nvSpPr>
            <p:spPr bwMode="gray">
              <a:xfrm>
                <a:off x="4109945" y="5363771"/>
                <a:ext cx="497252" cy="307777"/>
              </a:xfrm>
              <a:prstGeom prst="rect">
                <a:avLst/>
              </a:prstGeom>
              <a:noFill/>
            </p:spPr>
            <p:txBody>
              <a:bodyPr wrap="non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PE1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grpSp>
        <p:nvGrpSpPr>
          <p:cNvPr id="81" name="组合 80"/>
          <p:cNvGrpSpPr/>
          <p:nvPr/>
        </p:nvGrpSpPr>
        <p:grpSpPr bwMode="gray">
          <a:xfrm>
            <a:off x="2158869" y="4272637"/>
            <a:ext cx="550687" cy="712575"/>
            <a:chOff x="4073209" y="4947622"/>
            <a:chExt cx="550687" cy="712575"/>
          </a:xfrm>
        </p:grpSpPr>
        <p:pic>
          <p:nvPicPr>
            <p:cNvPr id="82" name="Picture 12" descr="E:\2016.01\1.12 扁平化图标\蓝色\AR-蓝色最新-40.png"/>
            <p:cNvPicPr>
              <a:picLocks noChangeAspect="1" noChangeArrowheads="1"/>
            </p:cNvPicPr>
            <p:nvPr/>
          </p:nvPicPr>
          <p:blipFill>
            <a:blip r:embed="rId4" cstate="print"/>
            <a:srcRect/>
            <a:stretch>
              <a:fillRect/>
            </a:stretch>
          </p:blipFill>
          <p:spPr bwMode="gray">
            <a:xfrm>
              <a:off x="4073209" y="4947622"/>
              <a:ext cx="540000" cy="441818"/>
            </a:xfrm>
            <a:prstGeom prst="rect">
              <a:avLst/>
            </a:prstGeom>
            <a:noFill/>
          </p:spPr>
        </p:pic>
        <p:sp>
          <p:nvSpPr>
            <p:cNvPr id="83" name="文本框 82"/>
            <p:cNvSpPr txBox="1"/>
            <p:nvPr/>
          </p:nvSpPr>
          <p:spPr bwMode="gray">
            <a:xfrm>
              <a:off x="4121835" y="5352420"/>
              <a:ext cx="50206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84" name="圆角矩形 83"/>
          <p:cNvSpPr/>
          <p:nvPr/>
        </p:nvSpPr>
        <p:spPr bwMode="gray">
          <a:xfrm>
            <a:off x="952500" y="4025063"/>
            <a:ext cx="1873049" cy="994971"/>
          </a:xfrm>
          <a:prstGeom prst="roundRect">
            <a:avLst/>
          </a:prstGeom>
          <a:noFill/>
          <a:ln w="25400">
            <a:solidFill>
              <a:srgbClr val="8BC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85" name="组合 84"/>
          <p:cNvGrpSpPr/>
          <p:nvPr/>
        </p:nvGrpSpPr>
        <p:grpSpPr bwMode="gray">
          <a:xfrm>
            <a:off x="2147045" y="5354017"/>
            <a:ext cx="575533" cy="706640"/>
            <a:chOff x="4073209" y="4947622"/>
            <a:chExt cx="575533" cy="706640"/>
          </a:xfrm>
        </p:grpSpPr>
        <p:pic>
          <p:nvPicPr>
            <p:cNvPr id="86" name="Picture 12" descr="E:\2016.01\1.12 扁平化图标\蓝色\AR-蓝色最新-40.png"/>
            <p:cNvPicPr>
              <a:picLocks noChangeAspect="1" noChangeArrowheads="1"/>
            </p:cNvPicPr>
            <p:nvPr/>
          </p:nvPicPr>
          <p:blipFill>
            <a:blip r:embed="rId4" cstate="print"/>
            <a:srcRect/>
            <a:stretch>
              <a:fillRect/>
            </a:stretch>
          </p:blipFill>
          <p:spPr bwMode="gray">
            <a:xfrm>
              <a:off x="4073209" y="4947622"/>
              <a:ext cx="540000" cy="441818"/>
            </a:xfrm>
            <a:prstGeom prst="rect">
              <a:avLst/>
            </a:prstGeom>
            <a:noFill/>
          </p:spPr>
        </p:pic>
        <p:sp>
          <p:nvSpPr>
            <p:cNvPr id="87" name="文本框 86"/>
            <p:cNvSpPr txBox="1"/>
            <p:nvPr/>
          </p:nvSpPr>
          <p:spPr bwMode="gray">
            <a:xfrm>
              <a:off x="4146681" y="5346485"/>
              <a:ext cx="50206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CE2</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88" name="圆角矩形 87"/>
          <p:cNvSpPr/>
          <p:nvPr/>
        </p:nvSpPr>
        <p:spPr bwMode="gray">
          <a:xfrm>
            <a:off x="952500" y="5106443"/>
            <a:ext cx="1873049" cy="994971"/>
          </a:xfrm>
          <a:prstGeom prst="roundRect">
            <a:avLst/>
          </a:prstGeom>
          <a:noFill/>
          <a:ln w="254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2" name="圆角矩形 91"/>
          <p:cNvSpPr/>
          <p:nvPr/>
        </p:nvSpPr>
        <p:spPr bwMode="gray">
          <a:xfrm flipH="1">
            <a:off x="9366451" y="4025063"/>
            <a:ext cx="1873049" cy="994971"/>
          </a:xfrm>
          <a:prstGeom prst="roundRect">
            <a:avLst/>
          </a:prstGeom>
          <a:noFill/>
          <a:ln w="25400">
            <a:solidFill>
              <a:srgbClr val="8BC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6" name="圆角矩形 95"/>
          <p:cNvSpPr/>
          <p:nvPr/>
        </p:nvSpPr>
        <p:spPr bwMode="gray">
          <a:xfrm flipH="1">
            <a:off x="9378275" y="5106443"/>
            <a:ext cx="1873049" cy="994971"/>
          </a:xfrm>
          <a:prstGeom prst="roundRect">
            <a:avLst/>
          </a:prstGeom>
          <a:noFill/>
          <a:ln w="254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97" name="直接连接符 96"/>
          <p:cNvCxnSpPr>
            <a:stCxn id="82" idx="3"/>
            <a:endCxn id="59" idx="1"/>
          </p:cNvCxnSpPr>
          <p:nvPr/>
        </p:nvCxnSpPr>
        <p:spPr bwMode="gray">
          <a:xfrm>
            <a:off x="2698869" y="4493546"/>
            <a:ext cx="1148029" cy="42208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a:stCxn id="86" idx="3"/>
            <a:endCxn id="59" idx="1"/>
          </p:cNvCxnSpPr>
          <p:nvPr/>
        </p:nvCxnSpPr>
        <p:spPr bwMode="gray">
          <a:xfrm flipV="1">
            <a:off x="2687045" y="4915630"/>
            <a:ext cx="1159853" cy="65929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直接连接符 98"/>
          <p:cNvCxnSpPr>
            <a:stCxn id="61" idx="3"/>
          </p:cNvCxnSpPr>
          <p:nvPr/>
        </p:nvCxnSpPr>
        <p:spPr bwMode="gray">
          <a:xfrm flipV="1">
            <a:off x="8360465" y="4493546"/>
            <a:ext cx="1132666" cy="42208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直接连接符 99"/>
          <p:cNvCxnSpPr>
            <a:stCxn id="61" idx="3"/>
          </p:cNvCxnSpPr>
          <p:nvPr/>
        </p:nvCxnSpPr>
        <p:spPr bwMode="gray">
          <a:xfrm>
            <a:off x="8360465" y="4915630"/>
            <a:ext cx="1144490" cy="65929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01" name="文本框 100"/>
          <p:cNvSpPr txBox="1"/>
          <p:nvPr/>
        </p:nvSpPr>
        <p:spPr bwMode="gray">
          <a:xfrm>
            <a:off x="881938" y="4143995"/>
            <a:ext cx="1215397"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192.168.1.0/24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2" name="文本框 101"/>
          <p:cNvSpPr txBox="1"/>
          <p:nvPr/>
        </p:nvSpPr>
        <p:spPr bwMode="gray">
          <a:xfrm>
            <a:off x="894774" y="5465428"/>
            <a:ext cx="1215397"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192.168.1.0/24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3" name="文本框 102"/>
          <p:cNvSpPr txBox="1"/>
          <p:nvPr/>
        </p:nvSpPr>
        <p:spPr bwMode="gray">
          <a:xfrm>
            <a:off x="924700" y="4668568"/>
            <a:ext cx="1124026" cy="350160"/>
          </a:xfrm>
          <a:prstGeom prst="rect">
            <a:avLst/>
          </a:prstGeom>
          <a:noFill/>
        </p:spPr>
        <p:txBody>
          <a:bodyPr wrap="none" rtlCol="0">
            <a:spAutoFit/>
          </a:bodyPr>
          <a:lstStyle/>
          <a:p>
            <a:pPr>
              <a:lnSpc>
                <a:spcPct val="130000"/>
              </a:lnSpc>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X</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A</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4" name="文本框 103"/>
          <p:cNvSpPr txBox="1"/>
          <p:nvPr/>
        </p:nvSpPr>
        <p:spPr bwMode="gray">
          <a:xfrm>
            <a:off x="924700" y="5788101"/>
            <a:ext cx="1112805" cy="350160"/>
          </a:xfrm>
          <a:prstGeom prst="rect">
            <a:avLst/>
          </a:prstGeom>
          <a:noFill/>
        </p:spPr>
        <p:txBody>
          <a:bodyPr wrap="none" rtlCol="0">
            <a:spAutoFit/>
          </a:bodyPr>
          <a:lstStyle/>
          <a:p>
            <a:pPr>
              <a:lnSpc>
                <a:spcPct val="130000"/>
              </a:lnSpc>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Y</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C</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5" name="文本框 104"/>
          <p:cNvSpPr txBox="1"/>
          <p:nvPr/>
        </p:nvSpPr>
        <p:spPr bwMode="gray">
          <a:xfrm>
            <a:off x="10119237" y="4647624"/>
            <a:ext cx="1114408" cy="350160"/>
          </a:xfrm>
          <a:prstGeom prst="rect">
            <a:avLst/>
          </a:prstGeom>
          <a:noFill/>
        </p:spPr>
        <p:txBody>
          <a:bodyPr wrap="none" rtlCol="0">
            <a:spAutoFit/>
          </a:bodyPr>
          <a:lstStyle/>
          <a:p>
            <a:pPr>
              <a:lnSpc>
                <a:spcPct val="130000"/>
              </a:lnSpc>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X</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6" name="文本框 105"/>
          <p:cNvSpPr txBox="1"/>
          <p:nvPr/>
        </p:nvSpPr>
        <p:spPr bwMode="gray">
          <a:xfrm>
            <a:off x="10119237" y="5767157"/>
            <a:ext cx="1133644" cy="350160"/>
          </a:xfrm>
          <a:prstGeom prst="rect">
            <a:avLst/>
          </a:prstGeom>
          <a:noFill/>
        </p:spPr>
        <p:txBody>
          <a:bodyPr wrap="none" rtlCol="0">
            <a:spAutoFit/>
          </a:bodyPr>
          <a:lstStyle/>
          <a:p>
            <a:pPr>
              <a:lnSpc>
                <a:spcPct val="130000"/>
              </a:lnSpc>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Y</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4" name="组合 13"/>
          <p:cNvGrpSpPr/>
          <p:nvPr/>
        </p:nvGrpSpPr>
        <p:grpSpPr bwMode="gray">
          <a:xfrm>
            <a:off x="5100628" y="2887545"/>
            <a:ext cx="2006105" cy="1265274"/>
            <a:chOff x="4519386" y="2997649"/>
            <a:chExt cx="2006105" cy="1265274"/>
          </a:xfrm>
        </p:grpSpPr>
        <p:sp>
          <p:nvSpPr>
            <p:cNvPr id="76" name="文本框 75"/>
            <p:cNvSpPr txBox="1"/>
            <p:nvPr/>
          </p:nvSpPr>
          <p:spPr bwMode="gray">
            <a:xfrm>
              <a:off x="4519386" y="2997649"/>
              <a:ext cx="2006105" cy="954107"/>
            </a:xfrm>
            <a:prstGeom prst="rect">
              <a:avLst/>
            </a:prstGeom>
            <a:noFill/>
            <a:ln w="19050">
              <a:solidFill>
                <a:srgbClr val="8BC9A0"/>
              </a:solidFill>
            </a:ln>
          </p:spPr>
          <p:txBody>
            <a:bodyPr wrap="square" rtlCol="0">
              <a:spAutoFit/>
            </a:bodyP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100:1:192.168.1.0/24</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RT=100:1</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400" dirty="0" err="1" smtClean="0">
                  <a:latin typeface="Huawei Sans" panose="020C0503030203020204" pitchFamily="34" charset="0"/>
                  <a:ea typeface="方正兰亭黑简体" panose="02000000000000000000" pitchFamily="2" charset="-122"/>
                  <a:sym typeface="Huawei Sans" panose="020C0503030203020204" pitchFamily="34" charset="0"/>
                </a:rPr>
                <a:t>NextHop</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=1.1.1.1</a:t>
              </a:r>
            </a:p>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Label=8888</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文本框 76"/>
            <p:cNvSpPr txBox="1"/>
            <p:nvPr/>
          </p:nvSpPr>
          <p:spPr bwMode="gray">
            <a:xfrm>
              <a:off x="4519386" y="3955146"/>
              <a:ext cx="2006105" cy="307777"/>
            </a:xfrm>
            <a:prstGeom prst="rect">
              <a:avLst/>
            </a:prstGeom>
            <a:noFill/>
            <a:ln w="19050">
              <a:solidFill>
                <a:srgbClr val="8BC9A0"/>
              </a:solidFill>
            </a:ln>
          </p:spPr>
          <p:txBody>
            <a:bodyPr wrap="square" rtlCol="0">
              <a:spAutoFit/>
            </a:bodyP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RT=100:1</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78" name="直接连接符 77"/>
          <p:cNvCxnSpPr>
            <a:endCxn id="18" idx="2"/>
          </p:cNvCxnSpPr>
          <p:nvPr/>
        </p:nvCxnSpPr>
        <p:spPr bwMode="gray">
          <a:xfrm flipH="1" flipV="1">
            <a:off x="3699578" y="4186753"/>
            <a:ext cx="404171" cy="502035"/>
          </a:xfrm>
          <a:prstGeom prst="line">
            <a:avLst/>
          </a:prstGeom>
          <a:ln w="31750">
            <a:solidFill>
              <a:srgbClr val="EC7061"/>
            </a:solidFill>
          </a:ln>
        </p:spPr>
        <p:style>
          <a:lnRef idx="1">
            <a:schemeClr val="accent1"/>
          </a:lnRef>
          <a:fillRef idx="0">
            <a:schemeClr val="accent1"/>
          </a:fillRef>
          <a:effectRef idx="0">
            <a:schemeClr val="accent1"/>
          </a:effectRef>
          <a:fontRef idx="minor">
            <a:schemeClr val="tx1"/>
          </a:fontRef>
        </p:style>
      </p:cxnSp>
      <p:sp>
        <p:nvSpPr>
          <p:cNvPr id="107" name="任意多边形 106"/>
          <p:cNvSpPr/>
          <p:nvPr/>
        </p:nvSpPr>
        <p:spPr bwMode="gray">
          <a:xfrm>
            <a:off x="4128342" y="4252075"/>
            <a:ext cx="3950677" cy="457200"/>
          </a:xfrm>
          <a:custGeom>
            <a:avLst/>
            <a:gdLst>
              <a:gd name="connsiteX0" fmla="*/ 0 w 3950677"/>
              <a:gd name="connsiteY0" fmla="*/ 422031 h 457200"/>
              <a:gd name="connsiteX1" fmla="*/ 422031 w 3950677"/>
              <a:gd name="connsiteY1" fmla="*/ 0 h 457200"/>
              <a:gd name="connsiteX2" fmla="*/ 3493477 w 3950677"/>
              <a:gd name="connsiteY2" fmla="*/ 0 h 457200"/>
              <a:gd name="connsiteX3" fmla="*/ 3950677 w 3950677"/>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3950677" h="457200">
                <a:moveTo>
                  <a:pt x="0" y="422031"/>
                </a:moveTo>
                <a:lnTo>
                  <a:pt x="422031" y="0"/>
                </a:lnTo>
                <a:lnTo>
                  <a:pt x="3493477" y="0"/>
                </a:lnTo>
                <a:lnTo>
                  <a:pt x="3950677" y="457200"/>
                </a:lnTo>
              </a:path>
            </a:pathLst>
          </a:custGeom>
          <a:ln w="31750">
            <a:solidFill>
              <a:srgbClr val="EC706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rgbClr val="EC7061"/>
              </a:solidFill>
            </a:endParaRPr>
          </a:p>
        </p:txBody>
      </p:sp>
      <p:sp>
        <p:nvSpPr>
          <p:cNvPr id="19" name="文本框 18"/>
          <p:cNvSpPr txBox="1"/>
          <p:nvPr/>
        </p:nvSpPr>
        <p:spPr bwMode="gray">
          <a:xfrm>
            <a:off x="5846710" y="5379046"/>
            <a:ext cx="570990" cy="338554"/>
          </a:xfrm>
          <a:prstGeom prst="rect">
            <a:avLst/>
          </a:prstGeom>
          <a:noFill/>
        </p:spPr>
        <p:txBody>
          <a:bodyPr wrap="none" rtlCol="0">
            <a:spAutoFit/>
          </a:bodyPr>
          <a:lstStyle/>
          <a:p>
            <a:r>
              <a:rPr lang="en-US" altLang="zh-CN" sz="1600" b="1" dirty="0" smtClean="0"/>
              <a:t>LDP</a:t>
            </a:r>
            <a:endParaRPr lang="zh-CN" altLang="en-US" sz="1600" b="1" dirty="0"/>
          </a:p>
        </p:txBody>
      </p:sp>
      <p:sp>
        <p:nvSpPr>
          <p:cNvPr id="108" name="文本框 107"/>
          <p:cNvSpPr txBox="1"/>
          <p:nvPr/>
        </p:nvSpPr>
        <p:spPr bwMode="gray">
          <a:xfrm>
            <a:off x="7980762" y="2929943"/>
            <a:ext cx="2073003" cy="1015663"/>
          </a:xfrm>
          <a:prstGeom prst="rect">
            <a:avLst/>
          </a:prstGeom>
          <a:solidFill>
            <a:schemeClr val="bg1">
              <a:lumMod val="85000"/>
            </a:schemeClr>
          </a:solidFill>
          <a:ln>
            <a:noFill/>
          </a:ln>
        </p:spPr>
        <p:txBody>
          <a:bodyPr wrap="none" rtlCol="0">
            <a:spAutoFit/>
          </a:bodyPr>
          <a:lstStyle/>
          <a:p>
            <a:r>
              <a:rPr lang="en-US" altLang="zh-CN" sz="1200" dirty="0" smtClean="0"/>
              <a:t>-------------------------------</a:t>
            </a:r>
            <a:endParaRPr lang="en-US" altLang="zh-CN" sz="1200" dirty="0"/>
          </a:p>
          <a:p>
            <a:pPr algn="ctr"/>
            <a:r>
              <a:rPr lang="en-US" altLang="zh-CN" sz="1200" dirty="0" smtClean="0"/>
              <a:t>LDP </a:t>
            </a:r>
            <a:r>
              <a:rPr lang="en-US" altLang="zh-CN" sz="1200" dirty="0"/>
              <a:t>LSP</a:t>
            </a:r>
            <a:endParaRPr lang="zh-CN" altLang="en-US" sz="1200" dirty="0"/>
          </a:p>
          <a:p>
            <a:r>
              <a:rPr lang="en-US" altLang="zh-CN" sz="1200" dirty="0"/>
              <a:t>-------------------------------</a:t>
            </a:r>
          </a:p>
          <a:p>
            <a:r>
              <a:rPr lang="en-US" altLang="zh-CN" sz="1200" dirty="0" smtClean="0"/>
              <a:t>FEC                 Out Label</a:t>
            </a:r>
            <a:endParaRPr lang="zh-CN" altLang="en-US" sz="1200" dirty="0"/>
          </a:p>
          <a:p>
            <a:r>
              <a:rPr lang="en-US" altLang="zh-CN" sz="1200" dirty="0" smtClean="0"/>
              <a:t>1.1.1.1/32           6662</a:t>
            </a:r>
            <a:endParaRPr lang="zh-CN" altLang="en-US" sz="1200" dirty="0"/>
          </a:p>
        </p:txBody>
      </p:sp>
      <p:sp>
        <p:nvSpPr>
          <p:cNvPr id="111" name="文本框 110"/>
          <p:cNvSpPr txBox="1"/>
          <p:nvPr/>
        </p:nvSpPr>
        <p:spPr bwMode="gray">
          <a:xfrm>
            <a:off x="10010287" y="3762777"/>
            <a:ext cx="1569660" cy="276999"/>
          </a:xfrm>
          <a:prstGeom prst="rect">
            <a:avLst/>
          </a:prstGeom>
          <a:noFill/>
        </p:spPr>
        <p:txBody>
          <a:bodyPr wrap="none" rtlCol="0">
            <a:spAutoFit/>
          </a:bodyPr>
          <a:lstStyle/>
          <a:p>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注：仅展示关键内容</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12" name="组合 111"/>
          <p:cNvGrpSpPr/>
          <p:nvPr/>
        </p:nvGrpSpPr>
        <p:grpSpPr bwMode="gray">
          <a:xfrm>
            <a:off x="9493131" y="4272637"/>
            <a:ext cx="540000" cy="723926"/>
            <a:chOff x="4073209" y="4947622"/>
            <a:chExt cx="540000" cy="723926"/>
          </a:xfrm>
        </p:grpSpPr>
        <p:pic>
          <p:nvPicPr>
            <p:cNvPr id="113" name="Picture 12" descr="E:\2016.01\1.12 扁平化图标\蓝色\AR-蓝色最新-40.png"/>
            <p:cNvPicPr>
              <a:picLocks noChangeAspect="1" noChangeArrowheads="1"/>
            </p:cNvPicPr>
            <p:nvPr/>
          </p:nvPicPr>
          <p:blipFill>
            <a:blip r:embed="rId4" cstate="print"/>
            <a:srcRect/>
            <a:stretch>
              <a:fillRect/>
            </a:stretch>
          </p:blipFill>
          <p:spPr bwMode="gray">
            <a:xfrm>
              <a:off x="4073209" y="4947622"/>
              <a:ext cx="540000" cy="441818"/>
            </a:xfrm>
            <a:prstGeom prst="rect">
              <a:avLst/>
            </a:prstGeom>
            <a:noFill/>
          </p:spPr>
        </p:pic>
        <p:sp>
          <p:nvSpPr>
            <p:cNvPr id="114" name="文本框 113"/>
            <p:cNvSpPr txBox="1"/>
            <p:nvPr/>
          </p:nvSpPr>
          <p:spPr bwMode="gray">
            <a:xfrm>
              <a:off x="4086262" y="5363771"/>
              <a:ext cx="50206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CE3</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16" name="组合 115"/>
          <p:cNvGrpSpPr/>
          <p:nvPr/>
        </p:nvGrpSpPr>
        <p:grpSpPr bwMode="gray">
          <a:xfrm>
            <a:off x="9504955" y="5354017"/>
            <a:ext cx="552270" cy="723926"/>
            <a:chOff x="4060939" y="4947622"/>
            <a:chExt cx="552270" cy="723926"/>
          </a:xfrm>
        </p:grpSpPr>
        <p:pic>
          <p:nvPicPr>
            <p:cNvPr id="117" name="Picture 12" descr="E:\2016.01\1.12 扁平化图标\蓝色\AR-蓝色最新-40.png"/>
            <p:cNvPicPr>
              <a:picLocks noChangeAspect="1" noChangeArrowheads="1"/>
            </p:cNvPicPr>
            <p:nvPr/>
          </p:nvPicPr>
          <p:blipFill>
            <a:blip r:embed="rId4" cstate="print"/>
            <a:srcRect/>
            <a:stretch>
              <a:fillRect/>
            </a:stretch>
          </p:blipFill>
          <p:spPr bwMode="gray">
            <a:xfrm>
              <a:off x="4073209" y="4947622"/>
              <a:ext cx="540000" cy="441818"/>
            </a:xfrm>
            <a:prstGeom prst="rect">
              <a:avLst/>
            </a:prstGeom>
            <a:noFill/>
          </p:spPr>
        </p:pic>
        <p:sp>
          <p:nvSpPr>
            <p:cNvPr id="118" name="文本框 117"/>
            <p:cNvSpPr txBox="1"/>
            <p:nvPr/>
          </p:nvSpPr>
          <p:spPr bwMode="gray">
            <a:xfrm>
              <a:off x="4060939" y="5363771"/>
              <a:ext cx="50206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CE4</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3" name="直接箭头连接符 2"/>
          <p:cNvCxnSpPr/>
          <p:nvPr/>
        </p:nvCxnSpPr>
        <p:spPr bwMode="gray">
          <a:xfrm flipV="1">
            <a:off x="8239125" y="3945606"/>
            <a:ext cx="323850" cy="731829"/>
          </a:xfrm>
          <a:prstGeom prst="straightConnector1">
            <a:avLst/>
          </a:prstGeom>
          <a:ln w="2857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bwMode="gray">
          <a:xfrm>
            <a:off x="3136391" y="3663533"/>
            <a:ext cx="1126373" cy="523220"/>
          </a:xfrm>
          <a:prstGeom prst="rect">
            <a:avLst/>
          </a:prstGeom>
          <a:noFill/>
        </p:spPr>
        <p:txBody>
          <a:bodyPr wrap="square" rtlCol="0">
            <a:spAutoFit/>
          </a:bodyPr>
          <a:lstStyle/>
          <a:p>
            <a:r>
              <a:rPr lang="en-US" altLang="zh-CN" sz="1400" dirty="0" smtClean="0"/>
              <a:t>Loopback0</a:t>
            </a:r>
            <a:r>
              <a:rPr lang="zh-CN" altLang="en-US" sz="1400" dirty="0" smtClean="0"/>
              <a:t>：</a:t>
            </a:r>
            <a:endParaRPr lang="en-US" altLang="zh-CN" sz="1400" dirty="0" smtClean="0"/>
          </a:p>
          <a:p>
            <a:r>
              <a:rPr lang="en-US" altLang="zh-CN" sz="1400" dirty="0" smtClean="0"/>
              <a:t>1.1.1.1/32</a:t>
            </a:r>
            <a:endParaRPr lang="zh-CN" altLang="en-US" sz="1400" dirty="0"/>
          </a:p>
        </p:txBody>
      </p:sp>
    </p:spTree>
    <p:custDataLst>
      <p:tags r:id="rId1"/>
    </p:custDataLst>
    <p:extLst>
      <p:ext uri="{BB962C8B-B14F-4D97-AF65-F5344CB8AC3E}">
        <p14:creationId xmlns:p14="http://schemas.microsoft.com/office/powerpoint/2010/main" val="1673474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111"/>
                                        </p:tgtEl>
                                        <p:attrNameLst>
                                          <p:attrName>style.visibility</p:attrName>
                                        </p:attrNameLst>
                                      </p:cBhvr>
                                      <p:to>
                                        <p:strVal val="visible"/>
                                      </p:to>
                                    </p:set>
                                    <p:animEffect transition="in" filter="barn(inVertical)">
                                      <p:cBhvr>
                                        <p:cTn id="7" dur="500"/>
                                        <p:tgtEl>
                                          <p:spTgt spid="1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标题 67"/>
          <p:cNvSpPr>
            <a:spLocks noGrp="1"/>
          </p:cNvSpPr>
          <p:nvPr>
            <p:ph type="title"/>
          </p:nvPr>
        </p:nvSpPr>
        <p:spPr bwMode="gray"/>
        <p:txBody>
          <a:bodyPr/>
          <a:lstStyle/>
          <a:p>
            <a:r>
              <a:rPr lang="en-US" altLang="zh-CN" smtClean="0">
                <a:sym typeface="Huawei Sans" panose="020C0503030203020204" pitchFamily="34" charset="0"/>
              </a:rPr>
              <a:t>MPLS VPN</a:t>
            </a:r>
            <a:r>
              <a:rPr lang="zh-CN" altLang="en-US" smtClean="0">
                <a:sym typeface="Huawei Sans" panose="020C0503030203020204" pitchFamily="34" charset="0"/>
              </a:rPr>
              <a:t>中的路由交互全过程</a:t>
            </a:r>
            <a:endParaRPr lang="zh-CN" altLang="en-US" dirty="0">
              <a:sym typeface="Huawei Sans" panose="020C0503030203020204" pitchFamily="34" charset="0"/>
            </a:endParaRPr>
          </a:p>
        </p:txBody>
      </p:sp>
      <p:sp>
        <p:nvSpPr>
          <p:cNvPr id="51" name="圆角矩形 50"/>
          <p:cNvSpPr/>
          <p:nvPr/>
        </p:nvSpPr>
        <p:spPr bwMode="gray">
          <a:xfrm>
            <a:off x="4110959" y="2811754"/>
            <a:ext cx="4000659" cy="1825378"/>
          </a:xfrm>
          <a:prstGeom prst="roundRect">
            <a:avLst/>
          </a:prstGeom>
          <a:solidFill>
            <a:srgbClr val="BEE9EE"/>
          </a:solidFill>
          <a:ln w="28575" cap="flat" cmpd="sng" algn="ctr">
            <a:noFill/>
            <a:prstDash val="sys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文本框 52"/>
          <p:cNvSpPr txBox="1"/>
          <p:nvPr/>
        </p:nvSpPr>
        <p:spPr bwMode="gray">
          <a:xfrm>
            <a:off x="5316038" y="4342464"/>
            <a:ext cx="1590500" cy="307777"/>
          </a:xfrm>
          <a:prstGeom prst="rect">
            <a:avLst/>
          </a:prstGeom>
          <a:noFill/>
        </p:spPr>
        <p:txBody>
          <a:bodyPr wrap="none" rtlCol="0">
            <a:spAutoFit/>
          </a:bodyPr>
          <a:lstStyle/>
          <a:p>
            <a:pPr algn="ctr"/>
            <a:r>
              <a:rPr lang="en-US" altLang="zh-CN"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MPLS VPN</a:t>
            </a:r>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骨干网</a:t>
            </a:r>
            <a:endPar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54" name="组合 53"/>
          <p:cNvGrpSpPr/>
          <p:nvPr/>
        </p:nvGrpSpPr>
        <p:grpSpPr bwMode="gray">
          <a:xfrm>
            <a:off x="3854108" y="3362480"/>
            <a:ext cx="4513567" cy="723926"/>
            <a:chOff x="4088571" y="4424992"/>
            <a:chExt cx="4513567" cy="723926"/>
          </a:xfrm>
        </p:grpSpPr>
        <p:cxnSp>
          <p:nvCxnSpPr>
            <p:cNvPr id="55" name="直接连接符 54"/>
            <p:cNvCxnSpPr>
              <a:stCxn id="59" idx="3"/>
              <a:endCxn id="61" idx="1"/>
            </p:cNvCxnSpPr>
            <p:nvPr/>
          </p:nvCxnSpPr>
          <p:spPr bwMode="gray">
            <a:xfrm>
              <a:off x="4628571" y="4645901"/>
              <a:ext cx="343356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6" name="组合 55"/>
            <p:cNvGrpSpPr/>
            <p:nvPr/>
          </p:nvGrpSpPr>
          <p:grpSpPr bwMode="gray">
            <a:xfrm>
              <a:off x="6067674" y="4424992"/>
              <a:ext cx="540000" cy="723926"/>
              <a:chOff x="5312873" y="4947622"/>
              <a:chExt cx="540000" cy="723926"/>
            </a:xfrm>
          </p:grpSpPr>
          <p:pic>
            <p:nvPicPr>
              <p:cNvPr id="74" name="Picture 12" descr="E:\2016.01\1.12 扁平化图标\蓝色\AR-蓝色最新-40.png"/>
              <p:cNvPicPr>
                <a:picLocks noChangeAspect="1" noChangeArrowheads="1"/>
              </p:cNvPicPr>
              <p:nvPr/>
            </p:nvPicPr>
            <p:blipFill>
              <a:blip r:embed="rId4" cstate="print"/>
              <a:srcRect/>
              <a:stretch>
                <a:fillRect/>
              </a:stretch>
            </p:blipFill>
            <p:spPr bwMode="gray">
              <a:xfrm>
                <a:off x="5312873" y="4947622"/>
                <a:ext cx="540000" cy="441818"/>
              </a:xfrm>
              <a:prstGeom prst="rect">
                <a:avLst/>
              </a:prstGeom>
              <a:noFill/>
            </p:spPr>
          </p:pic>
          <p:sp>
            <p:nvSpPr>
              <p:cNvPr id="80" name="文本框 79"/>
              <p:cNvSpPr txBox="1"/>
              <p:nvPr/>
            </p:nvSpPr>
            <p:spPr bwMode="gray">
              <a:xfrm>
                <a:off x="5436839" y="5363771"/>
                <a:ext cx="292068"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57" name="组合 56"/>
            <p:cNvGrpSpPr/>
            <p:nvPr/>
          </p:nvGrpSpPr>
          <p:grpSpPr bwMode="gray">
            <a:xfrm>
              <a:off x="8062138" y="4424992"/>
              <a:ext cx="540000" cy="714804"/>
              <a:chOff x="8062138" y="4947622"/>
              <a:chExt cx="540000" cy="714804"/>
            </a:xfrm>
          </p:grpSpPr>
          <p:pic>
            <p:nvPicPr>
              <p:cNvPr id="61" name="Picture 12" descr="E:\2016.01\1.12 扁平化图标\蓝色\AR-蓝色最新-40.png"/>
              <p:cNvPicPr>
                <a:picLocks noChangeAspect="1" noChangeArrowheads="1"/>
              </p:cNvPicPr>
              <p:nvPr/>
            </p:nvPicPr>
            <p:blipFill>
              <a:blip r:embed="rId4" cstate="print"/>
              <a:srcRect/>
              <a:stretch>
                <a:fillRect/>
              </a:stretch>
            </p:blipFill>
            <p:spPr bwMode="gray">
              <a:xfrm>
                <a:off x="8062138" y="4947622"/>
                <a:ext cx="540000" cy="441818"/>
              </a:xfrm>
              <a:prstGeom prst="rect">
                <a:avLst/>
              </a:prstGeom>
              <a:noFill/>
            </p:spPr>
          </p:pic>
          <p:sp>
            <p:nvSpPr>
              <p:cNvPr id="70" name="文本框 69"/>
              <p:cNvSpPr txBox="1"/>
              <p:nvPr/>
            </p:nvSpPr>
            <p:spPr bwMode="gray">
              <a:xfrm>
                <a:off x="8084306" y="5354649"/>
                <a:ext cx="497252"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PE2</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58" name="组合 57"/>
            <p:cNvGrpSpPr/>
            <p:nvPr/>
          </p:nvGrpSpPr>
          <p:grpSpPr bwMode="gray">
            <a:xfrm>
              <a:off x="4088571" y="4424992"/>
              <a:ext cx="540000" cy="723926"/>
              <a:chOff x="4088571" y="4947622"/>
              <a:chExt cx="540000" cy="723926"/>
            </a:xfrm>
          </p:grpSpPr>
          <p:pic>
            <p:nvPicPr>
              <p:cNvPr id="59" name="Picture 12" descr="E:\2016.01\1.12 扁平化图标\蓝色\AR-蓝色最新-40.png"/>
              <p:cNvPicPr>
                <a:picLocks noChangeAspect="1" noChangeArrowheads="1"/>
              </p:cNvPicPr>
              <p:nvPr/>
            </p:nvPicPr>
            <p:blipFill>
              <a:blip r:embed="rId4" cstate="print"/>
              <a:srcRect/>
              <a:stretch>
                <a:fillRect/>
              </a:stretch>
            </p:blipFill>
            <p:spPr bwMode="gray">
              <a:xfrm>
                <a:off x="4088571" y="4947622"/>
                <a:ext cx="540000" cy="441818"/>
              </a:xfrm>
              <a:prstGeom prst="rect">
                <a:avLst/>
              </a:prstGeom>
              <a:noFill/>
            </p:spPr>
          </p:pic>
          <p:sp>
            <p:nvSpPr>
              <p:cNvPr id="60" name="文本框 59"/>
              <p:cNvSpPr txBox="1"/>
              <p:nvPr/>
            </p:nvSpPr>
            <p:spPr bwMode="gray">
              <a:xfrm>
                <a:off x="4109945" y="5363771"/>
                <a:ext cx="497252" cy="307777"/>
              </a:xfrm>
              <a:prstGeom prst="rect">
                <a:avLst/>
              </a:prstGeom>
              <a:noFill/>
            </p:spPr>
            <p:txBody>
              <a:bodyPr wrap="non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PE1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grpSp>
        <p:nvGrpSpPr>
          <p:cNvPr id="81" name="组合 80"/>
          <p:cNvGrpSpPr/>
          <p:nvPr/>
        </p:nvGrpSpPr>
        <p:grpSpPr bwMode="gray">
          <a:xfrm>
            <a:off x="2166079" y="2940396"/>
            <a:ext cx="550687" cy="712575"/>
            <a:chOff x="4073209" y="4947622"/>
            <a:chExt cx="550687" cy="712575"/>
          </a:xfrm>
        </p:grpSpPr>
        <p:pic>
          <p:nvPicPr>
            <p:cNvPr id="82" name="Picture 12" descr="E:\2016.01\1.12 扁平化图标\蓝色\AR-蓝色最新-40.png"/>
            <p:cNvPicPr>
              <a:picLocks noChangeAspect="1" noChangeArrowheads="1"/>
            </p:cNvPicPr>
            <p:nvPr/>
          </p:nvPicPr>
          <p:blipFill>
            <a:blip r:embed="rId4" cstate="print"/>
            <a:srcRect/>
            <a:stretch>
              <a:fillRect/>
            </a:stretch>
          </p:blipFill>
          <p:spPr bwMode="gray">
            <a:xfrm>
              <a:off x="4073209" y="4947622"/>
              <a:ext cx="540000" cy="441818"/>
            </a:xfrm>
            <a:prstGeom prst="rect">
              <a:avLst/>
            </a:prstGeom>
            <a:noFill/>
          </p:spPr>
        </p:pic>
        <p:sp>
          <p:nvSpPr>
            <p:cNvPr id="83" name="文本框 82"/>
            <p:cNvSpPr txBox="1"/>
            <p:nvPr/>
          </p:nvSpPr>
          <p:spPr bwMode="gray">
            <a:xfrm>
              <a:off x="4121835" y="5352420"/>
              <a:ext cx="50206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84" name="圆角矩形 83"/>
          <p:cNvSpPr/>
          <p:nvPr/>
        </p:nvSpPr>
        <p:spPr bwMode="gray">
          <a:xfrm>
            <a:off x="959710" y="2692822"/>
            <a:ext cx="1873049" cy="994971"/>
          </a:xfrm>
          <a:prstGeom prst="roundRect">
            <a:avLst/>
          </a:prstGeom>
          <a:noFill/>
          <a:ln w="25400">
            <a:solidFill>
              <a:srgbClr val="8BC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85" name="组合 84"/>
          <p:cNvGrpSpPr/>
          <p:nvPr/>
        </p:nvGrpSpPr>
        <p:grpSpPr bwMode="gray">
          <a:xfrm>
            <a:off x="2154255" y="4021776"/>
            <a:ext cx="575533" cy="706640"/>
            <a:chOff x="4073209" y="4947622"/>
            <a:chExt cx="575533" cy="706640"/>
          </a:xfrm>
        </p:grpSpPr>
        <p:pic>
          <p:nvPicPr>
            <p:cNvPr id="86" name="Picture 12" descr="E:\2016.01\1.12 扁平化图标\蓝色\AR-蓝色最新-40.png"/>
            <p:cNvPicPr>
              <a:picLocks noChangeAspect="1" noChangeArrowheads="1"/>
            </p:cNvPicPr>
            <p:nvPr/>
          </p:nvPicPr>
          <p:blipFill>
            <a:blip r:embed="rId4" cstate="print"/>
            <a:srcRect/>
            <a:stretch>
              <a:fillRect/>
            </a:stretch>
          </p:blipFill>
          <p:spPr bwMode="gray">
            <a:xfrm>
              <a:off x="4073209" y="4947622"/>
              <a:ext cx="540000" cy="441818"/>
            </a:xfrm>
            <a:prstGeom prst="rect">
              <a:avLst/>
            </a:prstGeom>
            <a:noFill/>
          </p:spPr>
        </p:pic>
        <p:sp>
          <p:nvSpPr>
            <p:cNvPr id="87" name="文本框 86"/>
            <p:cNvSpPr txBox="1"/>
            <p:nvPr/>
          </p:nvSpPr>
          <p:spPr bwMode="gray">
            <a:xfrm>
              <a:off x="4146681" y="5346485"/>
              <a:ext cx="50206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CE2</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88" name="圆角矩形 87"/>
          <p:cNvSpPr/>
          <p:nvPr/>
        </p:nvSpPr>
        <p:spPr bwMode="gray">
          <a:xfrm>
            <a:off x="959710" y="3774202"/>
            <a:ext cx="1873049" cy="994971"/>
          </a:xfrm>
          <a:prstGeom prst="roundRect">
            <a:avLst/>
          </a:prstGeom>
          <a:noFill/>
          <a:ln w="254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2" name="圆角矩形 91"/>
          <p:cNvSpPr/>
          <p:nvPr/>
        </p:nvSpPr>
        <p:spPr bwMode="gray">
          <a:xfrm flipH="1">
            <a:off x="9373661" y="2692822"/>
            <a:ext cx="1873049" cy="994971"/>
          </a:xfrm>
          <a:prstGeom prst="roundRect">
            <a:avLst/>
          </a:prstGeom>
          <a:noFill/>
          <a:ln w="25400">
            <a:solidFill>
              <a:srgbClr val="8BC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6" name="圆角矩形 95"/>
          <p:cNvSpPr/>
          <p:nvPr/>
        </p:nvSpPr>
        <p:spPr bwMode="gray">
          <a:xfrm flipH="1">
            <a:off x="9385485" y="3774202"/>
            <a:ext cx="1873049" cy="994971"/>
          </a:xfrm>
          <a:prstGeom prst="roundRect">
            <a:avLst/>
          </a:prstGeom>
          <a:noFill/>
          <a:ln w="254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97" name="直接连接符 96"/>
          <p:cNvCxnSpPr>
            <a:stCxn id="82" idx="3"/>
            <a:endCxn id="59" idx="1"/>
          </p:cNvCxnSpPr>
          <p:nvPr/>
        </p:nvCxnSpPr>
        <p:spPr bwMode="gray">
          <a:xfrm>
            <a:off x="2706079" y="3161305"/>
            <a:ext cx="1148029" cy="42208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a:stCxn id="86" idx="3"/>
            <a:endCxn id="59" idx="1"/>
          </p:cNvCxnSpPr>
          <p:nvPr/>
        </p:nvCxnSpPr>
        <p:spPr bwMode="gray">
          <a:xfrm flipV="1">
            <a:off x="2694255" y="3583389"/>
            <a:ext cx="1159853" cy="65929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直接连接符 98"/>
          <p:cNvCxnSpPr>
            <a:stCxn id="61" idx="3"/>
          </p:cNvCxnSpPr>
          <p:nvPr/>
        </p:nvCxnSpPr>
        <p:spPr bwMode="gray">
          <a:xfrm flipV="1">
            <a:off x="8367675" y="3161305"/>
            <a:ext cx="1132666" cy="42208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直接连接符 99"/>
          <p:cNvCxnSpPr>
            <a:stCxn id="61" idx="3"/>
          </p:cNvCxnSpPr>
          <p:nvPr/>
        </p:nvCxnSpPr>
        <p:spPr bwMode="gray">
          <a:xfrm>
            <a:off x="8367675" y="3583389"/>
            <a:ext cx="1144490" cy="65929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03" name="文本框 102"/>
          <p:cNvSpPr txBox="1"/>
          <p:nvPr/>
        </p:nvSpPr>
        <p:spPr bwMode="gray">
          <a:xfrm>
            <a:off x="931910" y="3336327"/>
            <a:ext cx="1124026" cy="350160"/>
          </a:xfrm>
          <a:prstGeom prst="rect">
            <a:avLst/>
          </a:prstGeom>
          <a:noFill/>
        </p:spPr>
        <p:txBody>
          <a:bodyPr wrap="none" rtlCol="0">
            <a:spAutoFit/>
          </a:bodyPr>
          <a:lstStyle/>
          <a:p>
            <a:pPr>
              <a:lnSpc>
                <a:spcPct val="130000"/>
              </a:lnSpc>
            </a:pPr>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X</a:t>
            </a:r>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a:t>
            </a:r>
            <a:endPar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4" name="文本框 103"/>
          <p:cNvSpPr txBox="1"/>
          <p:nvPr/>
        </p:nvSpPr>
        <p:spPr bwMode="gray">
          <a:xfrm>
            <a:off x="931910" y="4455860"/>
            <a:ext cx="1112805" cy="350160"/>
          </a:xfrm>
          <a:prstGeom prst="rect">
            <a:avLst/>
          </a:prstGeom>
          <a:noFill/>
        </p:spPr>
        <p:txBody>
          <a:bodyPr wrap="none" rtlCol="0">
            <a:spAutoFit/>
          </a:bodyPr>
          <a:lstStyle/>
          <a:p>
            <a:pPr>
              <a:lnSpc>
                <a:spcPct val="130000"/>
              </a:lnSpc>
            </a:pPr>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Y</a:t>
            </a:r>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C</a:t>
            </a:r>
            <a:endPar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5" name="文本框 104"/>
          <p:cNvSpPr txBox="1"/>
          <p:nvPr/>
        </p:nvSpPr>
        <p:spPr bwMode="gray">
          <a:xfrm>
            <a:off x="10126447" y="3315383"/>
            <a:ext cx="1114408" cy="350160"/>
          </a:xfrm>
          <a:prstGeom prst="rect">
            <a:avLst/>
          </a:prstGeom>
          <a:noFill/>
        </p:spPr>
        <p:txBody>
          <a:bodyPr wrap="none" rtlCol="0">
            <a:spAutoFit/>
          </a:bodyPr>
          <a:lstStyle/>
          <a:p>
            <a:pPr>
              <a:lnSpc>
                <a:spcPct val="130000"/>
              </a:lnSpc>
            </a:pPr>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X</a:t>
            </a:r>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B</a:t>
            </a:r>
            <a:endPar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6" name="文本框 105"/>
          <p:cNvSpPr txBox="1"/>
          <p:nvPr/>
        </p:nvSpPr>
        <p:spPr bwMode="gray">
          <a:xfrm>
            <a:off x="10126447" y="4434916"/>
            <a:ext cx="1133644" cy="350160"/>
          </a:xfrm>
          <a:prstGeom prst="rect">
            <a:avLst/>
          </a:prstGeom>
          <a:noFill/>
        </p:spPr>
        <p:txBody>
          <a:bodyPr wrap="none" rtlCol="0">
            <a:spAutoFit/>
          </a:bodyPr>
          <a:lstStyle/>
          <a:p>
            <a:pPr>
              <a:lnSpc>
                <a:spcPct val="130000"/>
              </a:lnSpc>
            </a:pPr>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Y</a:t>
            </a:r>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12" name="组合 111"/>
          <p:cNvGrpSpPr/>
          <p:nvPr/>
        </p:nvGrpSpPr>
        <p:grpSpPr bwMode="gray">
          <a:xfrm>
            <a:off x="9500341" y="2940396"/>
            <a:ext cx="540000" cy="723926"/>
            <a:chOff x="4073209" y="4947622"/>
            <a:chExt cx="540000" cy="723926"/>
          </a:xfrm>
        </p:grpSpPr>
        <p:pic>
          <p:nvPicPr>
            <p:cNvPr id="113" name="Picture 12" descr="E:\2016.01\1.12 扁平化图标\蓝色\AR-蓝色最新-40.png"/>
            <p:cNvPicPr>
              <a:picLocks noChangeAspect="1" noChangeArrowheads="1"/>
            </p:cNvPicPr>
            <p:nvPr/>
          </p:nvPicPr>
          <p:blipFill>
            <a:blip r:embed="rId4" cstate="print"/>
            <a:srcRect/>
            <a:stretch>
              <a:fillRect/>
            </a:stretch>
          </p:blipFill>
          <p:spPr bwMode="gray">
            <a:xfrm>
              <a:off x="4073209" y="4947622"/>
              <a:ext cx="540000" cy="441818"/>
            </a:xfrm>
            <a:prstGeom prst="rect">
              <a:avLst/>
            </a:prstGeom>
            <a:noFill/>
          </p:spPr>
        </p:pic>
        <p:sp>
          <p:nvSpPr>
            <p:cNvPr id="114" name="文本框 113"/>
            <p:cNvSpPr txBox="1"/>
            <p:nvPr/>
          </p:nvSpPr>
          <p:spPr bwMode="gray">
            <a:xfrm>
              <a:off x="4086262" y="5363771"/>
              <a:ext cx="50206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CE3</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16" name="组合 115"/>
          <p:cNvGrpSpPr/>
          <p:nvPr/>
        </p:nvGrpSpPr>
        <p:grpSpPr bwMode="gray">
          <a:xfrm>
            <a:off x="9512165" y="4021776"/>
            <a:ext cx="552270" cy="723926"/>
            <a:chOff x="4060939" y="4947622"/>
            <a:chExt cx="552270" cy="723926"/>
          </a:xfrm>
        </p:grpSpPr>
        <p:pic>
          <p:nvPicPr>
            <p:cNvPr id="117" name="Picture 12" descr="E:\2016.01\1.12 扁平化图标\蓝色\AR-蓝色最新-40.png"/>
            <p:cNvPicPr>
              <a:picLocks noChangeAspect="1" noChangeArrowheads="1"/>
            </p:cNvPicPr>
            <p:nvPr/>
          </p:nvPicPr>
          <p:blipFill>
            <a:blip r:embed="rId4" cstate="print"/>
            <a:srcRect/>
            <a:stretch>
              <a:fillRect/>
            </a:stretch>
          </p:blipFill>
          <p:spPr bwMode="gray">
            <a:xfrm>
              <a:off x="4073209" y="4947622"/>
              <a:ext cx="540000" cy="441818"/>
            </a:xfrm>
            <a:prstGeom prst="rect">
              <a:avLst/>
            </a:prstGeom>
            <a:noFill/>
          </p:spPr>
        </p:pic>
        <p:sp>
          <p:nvSpPr>
            <p:cNvPr id="118" name="文本框 117"/>
            <p:cNvSpPr txBox="1"/>
            <p:nvPr/>
          </p:nvSpPr>
          <p:spPr bwMode="gray">
            <a:xfrm>
              <a:off x="4060939" y="5363771"/>
              <a:ext cx="50206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CE4</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62" name="任意多边形 37"/>
          <p:cNvSpPr/>
          <p:nvPr/>
        </p:nvSpPr>
        <p:spPr bwMode="gray">
          <a:xfrm rot="20792828">
            <a:off x="2740106" y="2768133"/>
            <a:ext cx="1273547" cy="692277"/>
          </a:xfrm>
          <a:custGeom>
            <a:avLst/>
            <a:gdLst>
              <a:gd name="connsiteX0" fmla="*/ 0 w 1371600"/>
              <a:gd name="connsiteY0" fmla="*/ 229254 h 292754"/>
              <a:gd name="connsiteX1" fmla="*/ 609600 w 1371600"/>
              <a:gd name="connsiteY1" fmla="*/ 654 h 292754"/>
              <a:gd name="connsiteX2" fmla="*/ 1371600 w 1371600"/>
              <a:gd name="connsiteY2" fmla="*/ 292754 h 292754"/>
              <a:gd name="connsiteX0" fmla="*/ 0 w 1371600"/>
              <a:gd name="connsiteY0" fmla="*/ 241896 h 305396"/>
              <a:gd name="connsiteX1" fmla="*/ 698500 w 1371600"/>
              <a:gd name="connsiteY1" fmla="*/ 596 h 305396"/>
              <a:gd name="connsiteX2" fmla="*/ 1371600 w 1371600"/>
              <a:gd name="connsiteY2" fmla="*/ 305396 h 305396"/>
              <a:gd name="connsiteX0" fmla="*/ 0 w 1371600"/>
              <a:gd name="connsiteY0" fmla="*/ 241896 h 305396"/>
              <a:gd name="connsiteX1" fmla="*/ 698500 w 1371600"/>
              <a:gd name="connsiteY1" fmla="*/ 596 h 305396"/>
              <a:gd name="connsiteX2" fmla="*/ 1371600 w 1371600"/>
              <a:gd name="connsiteY2" fmla="*/ 305396 h 305396"/>
              <a:gd name="connsiteX0" fmla="*/ 0 w 1435100"/>
              <a:gd name="connsiteY0" fmla="*/ 304800 h 304800"/>
              <a:gd name="connsiteX1" fmla="*/ 762000 w 1435100"/>
              <a:gd name="connsiteY1" fmla="*/ 0 h 304800"/>
              <a:gd name="connsiteX2" fmla="*/ 1435100 w 1435100"/>
              <a:gd name="connsiteY2" fmla="*/ 304800 h 304800"/>
              <a:gd name="connsiteX0" fmla="*/ 0 w 1435100"/>
              <a:gd name="connsiteY0" fmla="*/ 279400 h 279400"/>
              <a:gd name="connsiteX1" fmla="*/ 673100 w 1435100"/>
              <a:gd name="connsiteY1" fmla="*/ 0 h 279400"/>
              <a:gd name="connsiteX2" fmla="*/ 1435100 w 1435100"/>
              <a:gd name="connsiteY2" fmla="*/ 279400 h 279400"/>
              <a:gd name="connsiteX0" fmla="*/ 0 w 1130300"/>
              <a:gd name="connsiteY0" fmla="*/ 279400 h 850900"/>
              <a:gd name="connsiteX1" fmla="*/ 673100 w 1130300"/>
              <a:gd name="connsiteY1" fmla="*/ 0 h 850900"/>
              <a:gd name="connsiteX2" fmla="*/ 1130300 w 1130300"/>
              <a:gd name="connsiteY2" fmla="*/ 850900 h 850900"/>
              <a:gd name="connsiteX0" fmla="*/ 0 w 1130300"/>
              <a:gd name="connsiteY0" fmla="*/ 279400 h 850900"/>
              <a:gd name="connsiteX1" fmla="*/ 673100 w 1130300"/>
              <a:gd name="connsiteY1" fmla="*/ 0 h 850900"/>
              <a:gd name="connsiteX2" fmla="*/ 1130300 w 1130300"/>
              <a:gd name="connsiteY2" fmla="*/ 850900 h 850900"/>
              <a:gd name="connsiteX0" fmla="*/ 0 w 1130300"/>
              <a:gd name="connsiteY0" fmla="*/ 56657 h 628157"/>
              <a:gd name="connsiteX1" fmla="*/ 635000 w 1130300"/>
              <a:gd name="connsiteY1" fmla="*/ 43957 h 628157"/>
              <a:gd name="connsiteX2" fmla="*/ 1130300 w 1130300"/>
              <a:gd name="connsiteY2" fmla="*/ 628157 h 628157"/>
              <a:gd name="connsiteX0" fmla="*/ 0 w 1130300"/>
              <a:gd name="connsiteY0" fmla="*/ 56657 h 628157"/>
              <a:gd name="connsiteX1" fmla="*/ 635000 w 1130300"/>
              <a:gd name="connsiteY1" fmla="*/ 43957 h 628157"/>
              <a:gd name="connsiteX2" fmla="*/ 1130300 w 1130300"/>
              <a:gd name="connsiteY2" fmla="*/ 628157 h 628157"/>
              <a:gd name="connsiteX0" fmla="*/ 0 w 1130300"/>
              <a:gd name="connsiteY0" fmla="*/ 94221 h 665721"/>
              <a:gd name="connsiteX1" fmla="*/ 635000 w 1130300"/>
              <a:gd name="connsiteY1" fmla="*/ 81521 h 665721"/>
              <a:gd name="connsiteX2" fmla="*/ 1130300 w 1130300"/>
              <a:gd name="connsiteY2" fmla="*/ 665721 h 665721"/>
              <a:gd name="connsiteX0" fmla="*/ 0 w 1130300"/>
              <a:gd name="connsiteY0" fmla="*/ 51378 h 622878"/>
              <a:gd name="connsiteX1" fmla="*/ 725487 w 1130300"/>
              <a:gd name="connsiteY1" fmla="*/ 157741 h 622878"/>
              <a:gd name="connsiteX2" fmla="*/ 1130300 w 1130300"/>
              <a:gd name="connsiteY2" fmla="*/ 622878 h 622878"/>
              <a:gd name="connsiteX0" fmla="*/ 0 w 1144587"/>
              <a:gd name="connsiteY0" fmla="*/ 47876 h 619376"/>
              <a:gd name="connsiteX1" fmla="*/ 739774 w 1144587"/>
              <a:gd name="connsiteY1" fmla="*/ 154239 h 619376"/>
              <a:gd name="connsiteX2" fmla="*/ 1144587 w 1144587"/>
              <a:gd name="connsiteY2" fmla="*/ 619376 h 619376"/>
              <a:gd name="connsiteX0" fmla="*/ 0 w 1144587"/>
              <a:gd name="connsiteY0" fmla="*/ 23136 h 594636"/>
              <a:gd name="connsiteX1" fmla="*/ 739774 w 1144587"/>
              <a:gd name="connsiteY1" fmla="*/ 129499 h 594636"/>
              <a:gd name="connsiteX2" fmla="*/ 1144587 w 1144587"/>
              <a:gd name="connsiteY2" fmla="*/ 594636 h 594636"/>
              <a:gd name="connsiteX0" fmla="*/ 0 w 1144587"/>
              <a:gd name="connsiteY0" fmla="*/ 13152 h 584652"/>
              <a:gd name="connsiteX1" fmla="*/ 739774 w 1144587"/>
              <a:gd name="connsiteY1" fmla="*/ 119515 h 584652"/>
              <a:gd name="connsiteX2" fmla="*/ 1144587 w 1144587"/>
              <a:gd name="connsiteY2" fmla="*/ 584652 h 584652"/>
              <a:gd name="connsiteX0" fmla="*/ 0 w 1144587"/>
              <a:gd name="connsiteY0" fmla="*/ 17210 h 588710"/>
              <a:gd name="connsiteX1" fmla="*/ 668336 w 1144587"/>
              <a:gd name="connsiteY1" fmla="*/ 99760 h 588710"/>
              <a:gd name="connsiteX2" fmla="*/ 1144587 w 1144587"/>
              <a:gd name="connsiteY2" fmla="*/ 588710 h 588710"/>
              <a:gd name="connsiteX0" fmla="*/ 0 w 1144587"/>
              <a:gd name="connsiteY0" fmla="*/ 17210 h 588710"/>
              <a:gd name="connsiteX1" fmla="*/ 668336 w 1144587"/>
              <a:gd name="connsiteY1" fmla="*/ 99760 h 588710"/>
              <a:gd name="connsiteX2" fmla="*/ 1144587 w 1144587"/>
              <a:gd name="connsiteY2" fmla="*/ 588710 h 588710"/>
              <a:gd name="connsiteX0" fmla="*/ 0 w 1144587"/>
              <a:gd name="connsiteY0" fmla="*/ 17210 h 588710"/>
              <a:gd name="connsiteX1" fmla="*/ 668336 w 1144587"/>
              <a:gd name="connsiteY1" fmla="*/ 99760 h 588710"/>
              <a:gd name="connsiteX2" fmla="*/ 1144587 w 1144587"/>
              <a:gd name="connsiteY2" fmla="*/ 588710 h 588710"/>
              <a:gd name="connsiteX0" fmla="*/ 0 w 1144587"/>
              <a:gd name="connsiteY0" fmla="*/ 17210 h 588710"/>
              <a:gd name="connsiteX1" fmla="*/ 668336 w 1144587"/>
              <a:gd name="connsiteY1" fmla="*/ 99760 h 588710"/>
              <a:gd name="connsiteX2" fmla="*/ 1144587 w 1144587"/>
              <a:gd name="connsiteY2" fmla="*/ 588710 h 588710"/>
              <a:gd name="connsiteX0" fmla="*/ 0 w 1144587"/>
              <a:gd name="connsiteY0" fmla="*/ 15370 h 586870"/>
              <a:gd name="connsiteX1" fmla="*/ 696911 w 1144587"/>
              <a:gd name="connsiteY1" fmla="*/ 107445 h 586870"/>
              <a:gd name="connsiteX2" fmla="*/ 1144587 w 1144587"/>
              <a:gd name="connsiteY2" fmla="*/ 586870 h 586870"/>
              <a:gd name="connsiteX0" fmla="*/ 0 w 1144587"/>
              <a:gd name="connsiteY0" fmla="*/ 16249 h 587749"/>
              <a:gd name="connsiteX1" fmla="*/ 682623 w 1144587"/>
              <a:gd name="connsiteY1" fmla="*/ 103561 h 587749"/>
              <a:gd name="connsiteX2" fmla="*/ 1144587 w 1144587"/>
              <a:gd name="connsiteY2" fmla="*/ 587749 h 587749"/>
            </a:gdLst>
            <a:ahLst/>
            <a:cxnLst>
              <a:cxn ang="0">
                <a:pos x="connsiteX0" y="connsiteY0"/>
              </a:cxn>
              <a:cxn ang="0">
                <a:pos x="connsiteX1" y="connsiteY1"/>
              </a:cxn>
              <a:cxn ang="0">
                <a:pos x="connsiteX2" y="connsiteY2"/>
              </a:cxn>
            </a:cxnLst>
            <a:rect l="l" t="t" r="r" b="b"/>
            <a:pathLst>
              <a:path w="1144587" h="587749">
                <a:moveTo>
                  <a:pt x="0" y="16249"/>
                </a:moveTo>
                <a:cubicBezTo>
                  <a:pt x="309562" y="-22380"/>
                  <a:pt x="491859" y="8311"/>
                  <a:pt x="682623" y="103561"/>
                </a:cubicBezTo>
                <a:cubicBezTo>
                  <a:pt x="873387" y="198811"/>
                  <a:pt x="992187" y="307290"/>
                  <a:pt x="1144587" y="587749"/>
                </a:cubicBezTo>
              </a:path>
            </a:pathLst>
          </a:custGeom>
          <a:noFill/>
          <a:ln w="28575" cap="flat" cmpd="sng" algn="ctr">
            <a:solidFill>
              <a:srgbClr val="EC7061"/>
            </a:solidFill>
            <a:prstDash val="sysDash"/>
            <a:round/>
            <a:headEnd type="triangle" w="med" len="med"/>
            <a:tailEnd type="triangle"/>
          </a:ln>
          <a:effectLst/>
        </p:spPr>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3" name="直接连接符 58"/>
          <p:cNvCxnSpPr/>
          <p:nvPr/>
        </p:nvCxnSpPr>
        <p:spPr bwMode="gray">
          <a:xfrm rot="10800000">
            <a:off x="3600660" y="2342925"/>
            <a:ext cx="0" cy="504000"/>
          </a:xfrm>
          <a:prstGeom prst="line">
            <a:avLst/>
          </a:prstGeom>
          <a:ln w="1905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4" name="Text Box 19"/>
          <p:cNvSpPr txBox="1">
            <a:spLocks noChangeArrowheads="1"/>
          </p:cNvSpPr>
          <p:nvPr/>
        </p:nvSpPr>
        <p:spPr bwMode="gray">
          <a:xfrm>
            <a:off x="2987935" y="1784160"/>
            <a:ext cx="1259066" cy="540000"/>
          </a:xfrm>
          <a:prstGeom prst="rect">
            <a:avLst/>
          </a:prstGeom>
          <a:noFill/>
          <a:ln w="19050" cap="flat" cmpd="sng" algn="ctr">
            <a:solidFill>
              <a:srgbClr val="56C4D2"/>
            </a:solidFill>
            <a:prstDash val="solid"/>
            <a:miter lim="800000"/>
          </a:ln>
          <a:effectLst/>
          <a:extLst/>
        </p:spPr>
        <p:txBody>
          <a:bodyPr rtlCol="0" anchor="ctr"/>
          <a:lstStyle>
            <a:defPPr>
              <a:defRPr lang="en-US"/>
            </a:defPPr>
            <a:lvl1pPr algn="ctr" defTabSz="914400">
              <a:lnSpc>
                <a:spcPct val="150000"/>
              </a:lnSpc>
              <a:defRPr sz="1200" kern="0"/>
            </a:lvl1pPr>
          </a:lstStyle>
          <a:p>
            <a:pPr algn="l"/>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IGP</a:t>
            </a:r>
            <a:r>
              <a:rPr lang="zh-CN" altLang="en-US" dirty="0" smtClean="0">
                <a:latin typeface="Huawei Sans" panose="020C0503030203020204" pitchFamily="34" charset="0"/>
                <a:ea typeface="方正兰亭黑简体" panose="02000000000000000000" pitchFamily="2" charset="-122"/>
                <a:sym typeface="Huawei Sans" panose="020C0503030203020204" pitchFamily="34" charset="0"/>
              </a:rPr>
              <a:t>或者</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E</a:t>
            </a:r>
            <a:r>
              <a:rPr lang="en-US" altLang="zh-CN" dirty="0" smtClean="0">
                <a:latin typeface="Huawei Sans" panose="020C0503030203020204" pitchFamily="34" charset="0"/>
                <a:ea typeface="方正兰亭黑简体" panose="02000000000000000000" pitchFamily="2" charset="-122"/>
                <a:sym typeface="Huawei Sans" panose="020C0503030203020204" pitchFamily="34" charset="0"/>
              </a:rPr>
              <a:t>BGP</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交换私网</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IPv4</a:t>
            </a:r>
            <a:r>
              <a:rPr lang="zh-CN" altLang="en-US" dirty="0" smtClean="0">
                <a:latin typeface="Huawei Sans" panose="020C0503030203020204" pitchFamily="34" charset="0"/>
                <a:ea typeface="方正兰亭黑简体" panose="02000000000000000000" pitchFamily="2" charset="-122"/>
                <a:sym typeface="Huawei Sans" panose="020C0503030203020204" pitchFamily="34" charset="0"/>
              </a:rPr>
              <a:t>路由。</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5" name="直接连接符 61"/>
          <p:cNvCxnSpPr/>
          <p:nvPr/>
        </p:nvCxnSpPr>
        <p:spPr bwMode="gray">
          <a:xfrm rot="10800000">
            <a:off x="6005611" y="2296431"/>
            <a:ext cx="0" cy="504000"/>
          </a:xfrm>
          <a:prstGeom prst="line">
            <a:avLst/>
          </a:prstGeom>
          <a:ln w="1905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6" name="Text Box 19"/>
          <p:cNvSpPr txBox="1">
            <a:spLocks noChangeArrowheads="1"/>
          </p:cNvSpPr>
          <p:nvPr/>
        </p:nvSpPr>
        <p:spPr bwMode="gray">
          <a:xfrm>
            <a:off x="4446004" y="1141790"/>
            <a:ext cx="3186552" cy="1122180"/>
          </a:xfrm>
          <a:prstGeom prst="rect">
            <a:avLst/>
          </a:prstGeom>
          <a:noFill/>
          <a:ln w="19050" cap="flat" cmpd="sng" algn="ctr">
            <a:solidFill>
              <a:srgbClr val="56C4D2"/>
            </a:solidFill>
            <a:prstDash val="solid"/>
            <a:miter lim="800000"/>
          </a:ln>
          <a:effectLst/>
          <a:extLst/>
        </p:spPr>
        <p:txBody>
          <a:bodyPr rtlCol="0" anchor="ctr"/>
          <a:lstStyle>
            <a:defPPr>
              <a:defRPr lang="en-US"/>
            </a:defPPr>
            <a:lvl1pPr algn="ctr" defTabSz="914400">
              <a:lnSpc>
                <a:spcPct val="150000"/>
              </a:lnSpc>
              <a:defRPr sz="1200" kern="0"/>
            </a:lvl1pPr>
          </a:lstStyle>
          <a:p>
            <a:pPr algn="l"/>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VPNv4</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路由被</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PE1</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通过</a:t>
            </a:r>
            <a:r>
              <a:rPr lang="en-US" altLang="zh-CN" dirty="0" smtClean="0">
                <a:latin typeface="Huawei Sans" panose="020C0503030203020204" pitchFamily="34" charset="0"/>
                <a:ea typeface="方正兰亭黑简体" panose="02000000000000000000" pitchFamily="2" charset="-122"/>
                <a:sym typeface="Huawei Sans" panose="020C0503030203020204" pitchFamily="34" charset="0"/>
              </a:rPr>
              <a:t>MP-IBGP</a:t>
            </a:r>
            <a:r>
              <a:rPr lang="zh-CN" altLang="en-US" dirty="0" smtClean="0">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dirty="0" smtClean="0">
                <a:latin typeface="Huawei Sans" panose="020C0503030203020204" pitchFamily="34" charset="0"/>
                <a:ea typeface="方正兰亭黑简体" panose="02000000000000000000" pitchFamily="2" charset="-122"/>
                <a:sym typeface="Huawei Sans" panose="020C0503030203020204" pitchFamily="34" charset="0"/>
              </a:rPr>
              <a:t>Update</a:t>
            </a:r>
            <a:r>
              <a:rPr lang="zh-CN" altLang="en-US" dirty="0" smtClean="0">
                <a:latin typeface="Huawei Sans" panose="020C0503030203020204" pitchFamily="34" charset="0"/>
                <a:ea typeface="方正兰亭黑简体" panose="02000000000000000000" pitchFamily="2" charset="-122"/>
                <a:sym typeface="Huawei Sans" panose="020C0503030203020204" pitchFamily="34" charset="0"/>
              </a:rPr>
              <a:t>消息通告</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给</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PE2</a:t>
            </a:r>
            <a:r>
              <a:rPr lang="zh-CN" altLang="en-US" dirty="0" smtClean="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dirty="0" smtClean="0">
                <a:latin typeface="Huawei Sans" panose="020C0503030203020204" pitchFamily="34" charset="0"/>
                <a:ea typeface="方正兰亭黑简体" panose="02000000000000000000" pitchFamily="2" charset="-122"/>
                <a:sym typeface="Huawei Sans" panose="020C0503030203020204" pitchFamily="34" charset="0"/>
              </a:rPr>
              <a:t>Update</a:t>
            </a:r>
            <a:r>
              <a:rPr lang="zh-CN" altLang="en-US" dirty="0" smtClean="0">
                <a:latin typeface="Huawei Sans" panose="020C0503030203020204" pitchFamily="34" charset="0"/>
                <a:ea typeface="方正兰亭黑简体" panose="02000000000000000000" pitchFamily="2" charset="-122"/>
                <a:sym typeface="Huawei Sans" panose="020C0503030203020204" pitchFamily="34" charset="0"/>
              </a:rPr>
              <a:t>消息携带着</a:t>
            </a:r>
            <a:r>
              <a:rPr lang="en-US" altLang="zh-CN" dirty="0" smtClean="0">
                <a:latin typeface="Huawei Sans" panose="020C0503030203020204" pitchFamily="34" charset="0"/>
                <a:ea typeface="方正兰亭黑简体" panose="02000000000000000000" pitchFamily="2" charset="-122"/>
                <a:sym typeface="Huawei Sans" panose="020C0503030203020204" pitchFamily="34" charset="0"/>
              </a:rPr>
              <a:t>MP_REACH_NLRI</a:t>
            </a:r>
            <a:r>
              <a:rPr lang="zh-CN" altLang="en-US" dirty="0" smtClean="0">
                <a:latin typeface="Huawei Sans" panose="020C0503030203020204" pitchFamily="34" charset="0"/>
                <a:ea typeface="方正兰亭黑简体" panose="02000000000000000000" pitchFamily="2" charset="-122"/>
                <a:sym typeface="Huawei Sans" panose="020C0503030203020204" pitchFamily="34" charset="0"/>
              </a:rPr>
              <a:t>属性（包含</a:t>
            </a:r>
            <a:r>
              <a:rPr lang="en-US" altLang="zh-CN" dirty="0" smtClean="0">
                <a:latin typeface="Huawei Sans" panose="020C0503030203020204" pitchFamily="34" charset="0"/>
                <a:ea typeface="方正兰亭黑简体" panose="02000000000000000000" pitchFamily="2" charset="-122"/>
                <a:sym typeface="Huawei Sans" panose="020C0503030203020204" pitchFamily="34" charset="0"/>
              </a:rPr>
              <a:t>VPNv4</a:t>
            </a:r>
            <a:r>
              <a:rPr lang="zh-CN" altLang="en-US" dirty="0" smtClean="0">
                <a:latin typeface="Huawei Sans" panose="020C0503030203020204" pitchFamily="34" charset="0"/>
                <a:ea typeface="方正兰亭黑简体" panose="02000000000000000000" pitchFamily="2" charset="-122"/>
                <a:sym typeface="Huawei Sans" panose="020C0503030203020204" pitchFamily="34" charset="0"/>
              </a:rPr>
              <a:t>路由前缀，下一跳和标签等重要信息）和</a:t>
            </a:r>
            <a:r>
              <a:rPr lang="en-US" altLang="zh-CN" dirty="0" smtClean="0">
                <a:latin typeface="Huawei Sans" panose="020C0503030203020204" pitchFamily="34" charset="0"/>
                <a:ea typeface="方正兰亭黑简体" panose="02000000000000000000" pitchFamily="2" charset="-122"/>
                <a:sym typeface="Huawei Sans" panose="020C0503030203020204" pitchFamily="34" charset="0"/>
              </a:rPr>
              <a:t>RT</a:t>
            </a:r>
            <a:r>
              <a:rPr lang="zh-CN" altLang="en-US" dirty="0" smtClean="0">
                <a:latin typeface="Huawei Sans" panose="020C0503030203020204" pitchFamily="34" charset="0"/>
                <a:ea typeface="方正兰亭黑简体" panose="02000000000000000000" pitchFamily="2" charset="-122"/>
                <a:sym typeface="Huawei Sans" panose="020C0503030203020204" pitchFamily="34" charset="0"/>
              </a:rPr>
              <a:t>属性。</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7" name="直接连接符 58"/>
          <p:cNvCxnSpPr/>
          <p:nvPr/>
        </p:nvCxnSpPr>
        <p:spPr bwMode="gray">
          <a:xfrm rot="10800000">
            <a:off x="8974335" y="2307754"/>
            <a:ext cx="0" cy="504000"/>
          </a:xfrm>
          <a:prstGeom prst="line">
            <a:avLst/>
          </a:prstGeom>
          <a:ln w="1905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1" name="Text Box 19"/>
          <p:cNvSpPr txBox="1">
            <a:spLocks noChangeArrowheads="1"/>
          </p:cNvSpPr>
          <p:nvPr/>
        </p:nvSpPr>
        <p:spPr bwMode="gray">
          <a:xfrm>
            <a:off x="8335725" y="1735293"/>
            <a:ext cx="1253472" cy="540000"/>
          </a:xfrm>
          <a:prstGeom prst="rect">
            <a:avLst/>
          </a:prstGeom>
          <a:noFill/>
          <a:ln w="19050" cap="flat" cmpd="sng" algn="ctr">
            <a:solidFill>
              <a:srgbClr val="56C4D2"/>
            </a:solidFill>
            <a:prstDash val="solid"/>
            <a:miter lim="800000"/>
          </a:ln>
          <a:effectLst/>
          <a:extLst/>
        </p:spPr>
        <p:txBody>
          <a:bodyPr rtlCol="0" anchor="ctr"/>
          <a:lstStyle>
            <a:defPPr>
              <a:defRPr lang="en-US"/>
            </a:defPPr>
            <a:lvl1pPr algn="ctr" defTabSz="914400">
              <a:defRPr sz="1000" kern="0">
                <a:latin typeface="Huawei Sans" panose="020C0503030203020204" pitchFamily="34" charset="0"/>
                <a:ea typeface="方正兰亭黑简体" panose="02000000000000000000" pitchFamily="2" charset="-122"/>
              </a:defRPr>
            </a:lvl1pPr>
          </a:lstStyle>
          <a:p>
            <a:pPr algn="l"/>
            <a:r>
              <a:rPr lang="zh-CN" altLang="en-US" sz="1200" dirty="0">
                <a:sym typeface="Huawei Sans" panose="020C0503030203020204" pitchFamily="34" charset="0"/>
              </a:rPr>
              <a:t>客户</a:t>
            </a:r>
            <a:r>
              <a:rPr lang="en-US" altLang="zh-CN" sz="1200" dirty="0">
                <a:sym typeface="Huawei Sans" panose="020C0503030203020204" pitchFamily="34" charset="0"/>
              </a:rPr>
              <a:t>IPv4</a:t>
            </a:r>
            <a:r>
              <a:rPr lang="zh-CN" altLang="en-US" sz="1200" dirty="0">
                <a:sym typeface="Huawei Sans" panose="020C0503030203020204" pitchFamily="34" charset="0"/>
              </a:rPr>
              <a:t>路由被通告给</a:t>
            </a:r>
            <a:r>
              <a:rPr lang="en-US" altLang="zh-CN" sz="1200" dirty="0">
                <a:sym typeface="Huawei Sans" panose="020C0503030203020204" pitchFamily="34" charset="0"/>
              </a:rPr>
              <a:t>CE</a:t>
            </a:r>
            <a:r>
              <a:rPr lang="zh-CN" altLang="en-US" sz="1200" dirty="0" smtClean="0">
                <a:sym typeface="Huawei Sans" panose="020C0503030203020204" pitchFamily="34" charset="0"/>
              </a:rPr>
              <a:t>设备。</a:t>
            </a:r>
            <a:endParaRPr lang="zh-CN" altLang="en-US" sz="1200" dirty="0">
              <a:sym typeface="Huawei Sans" panose="020C0503030203020204" pitchFamily="34" charset="0"/>
            </a:endParaRPr>
          </a:p>
        </p:txBody>
      </p:sp>
      <p:sp>
        <p:nvSpPr>
          <p:cNvPr id="72" name="任意多边形 37"/>
          <p:cNvSpPr/>
          <p:nvPr/>
        </p:nvSpPr>
        <p:spPr bwMode="gray">
          <a:xfrm>
            <a:off x="4172292" y="2850393"/>
            <a:ext cx="3840881" cy="502584"/>
          </a:xfrm>
          <a:custGeom>
            <a:avLst/>
            <a:gdLst>
              <a:gd name="connsiteX0" fmla="*/ 0 w 1371600"/>
              <a:gd name="connsiteY0" fmla="*/ 229254 h 292754"/>
              <a:gd name="connsiteX1" fmla="*/ 609600 w 1371600"/>
              <a:gd name="connsiteY1" fmla="*/ 654 h 292754"/>
              <a:gd name="connsiteX2" fmla="*/ 1371600 w 1371600"/>
              <a:gd name="connsiteY2" fmla="*/ 292754 h 292754"/>
              <a:gd name="connsiteX0" fmla="*/ 0 w 1371600"/>
              <a:gd name="connsiteY0" fmla="*/ 241896 h 305396"/>
              <a:gd name="connsiteX1" fmla="*/ 698500 w 1371600"/>
              <a:gd name="connsiteY1" fmla="*/ 596 h 305396"/>
              <a:gd name="connsiteX2" fmla="*/ 1371600 w 1371600"/>
              <a:gd name="connsiteY2" fmla="*/ 305396 h 305396"/>
              <a:gd name="connsiteX0" fmla="*/ 0 w 1371600"/>
              <a:gd name="connsiteY0" fmla="*/ 241896 h 305396"/>
              <a:gd name="connsiteX1" fmla="*/ 698500 w 1371600"/>
              <a:gd name="connsiteY1" fmla="*/ 596 h 305396"/>
              <a:gd name="connsiteX2" fmla="*/ 1371600 w 1371600"/>
              <a:gd name="connsiteY2" fmla="*/ 305396 h 305396"/>
              <a:gd name="connsiteX0" fmla="*/ 0 w 1435100"/>
              <a:gd name="connsiteY0" fmla="*/ 304800 h 304800"/>
              <a:gd name="connsiteX1" fmla="*/ 762000 w 1435100"/>
              <a:gd name="connsiteY1" fmla="*/ 0 h 304800"/>
              <a:gd name="connsiteX2" fmla="*/ 1435100 w 1435100"/>
              <a:gd name="connsiteY2" fmla="*/ 304800 h 304800"/>
              <a:gd name="connsiteX0" fmla="*/ 0 w 1435100"/>
              <a:gd name="connsiteY0" fmla="*/ 279400 h 279400"/>
              <a:gd name="connsiteX1" fmla="*/ 673100 w 1435100"/>
              <a:gd name="connsiteY1" fmla="*/ 0 h 279400"/>
              <a:gd name="connsiteX2" fmla="*/ 1435100 w 1435100"/>
              <a:gd name="connsiteY2" fmla="*/ 279400 h 279400"/>
              <a:gd name="connsiteX0" fmla="*/ 0 w 1130300"/>
              <a:gd name="connsiteY0" fmla="*/ 279400 h 850900"/>
              <a:gd name="connsiteX1" fmla="*/ 673100 w 1130300"/>
              <a:gd name="connsiteY1" fmla="*/ 0 h 850900"/>
              <a:gd name="connsiteX2" fmla="*/ 1130300 w 1130300"/>
              <a:gd name="connsiteY2" fmla="*/ 850900 h 850900"/>
              <a:gd name="connsiteX0" fmla="*/ 0 w 1130300"/>
              <a:gd name="connsiteY0" fmla="*/ 279400 h 850900"/>
              <a:gd name="connsiteX1" fmla="*/ 673100 w 1130300"/>
              <a:gd name="connsiteY1" fmla="*/ 0 h 850900"/>
              <a:gd name="connsiteX2" fmla="*/ 1130300 w 1130300"/>
              <a:gd name="connsiteY2" fmla="*/ 850900 h 850900"/>
              <a:gd name="connsiteX0" fmla="*/ 0 w 1130300"/>
              <a:gd name="connsiteY0" fmla="*/ 56657 h 628157"/>
              <a:gd name="connsiteX1" fmla="*/ 635000 w 1130300"/>
              <a:gd name="connsiteY1" fmla="*/ 43957 h 628157"/>
              <a:gd name="connsiteX2" fmla="*/ 1130300 w 1130300"/>
              <a:gd name="connsiteY2" fmla="*/ 628157 h 628157"/>
              <a:gd name="connsiteX0" fmla="*/ 0 w 1130300"/>
              <a:gd name="connsiteY0" fmla="*/ 56657 h 628157"/>
              <a:gd name="connsiteX1" fmla="*/ 635000 w 1130300"/>
              <a:gd name="connsiteY1" fmla="*/ 43957 h 628157"/>
              <a:gd name="connsiteX2" fmla="*/ 1130300 w 1130300"/>
              <a:gd name="connsiteY2" fmla="*/ 628157 h 628157"/>
              <a:gd name="connsiteX0" fmla="*/ 0 w 1130300"/>
              <a:gd name="connsiteY0" fmla="*/ 94221 h 665721"/>
              <a:gd name="connsiteX1" fmla="*/ 635000 w 1130300"/>
              <a:gd name="connsiteY1" fmla="*/ 81521 h 665721"/>
              <a:gd name="connsiteX2" fmla="*/ 1130300 w 1130300"/>
              <a:gd name="connsiteY2" fmla="*/ 665721 h 665721"/>
              <a:gd name="connsiteX0" fmla="*/ 0 w 1130300"/>
              <a:gd name="connsiteY0" fmla="*/ 51378 h 622878"/>
              <a:gd name="connsiteX1" fmla="*/ 725487 w 1130300"/>
              <a:gd name="connsiteY1" fmla="*/ 157741 h 622878"/>
              <a:gd name="connsiteX2" fmla="*/ 1130300 w 1130300"/>
              <a:gd name="connsiteY2" fmla="*/ 622878 h 622878"/>
              <a:gd name="connsiteX0" fmla="*/ 0 w 1144587"/>
              <a:gd name="connsiteY0" fmla="*/ 47876 h 619376"/>
              <a:gd name="connsiteX1" fmla="*/ 739774 w 1144587"/>
              <a:gd name="connsiteY1" fmla="*/ 154239 h 619376"/>
              <a:gd name="connsiteX2" fmla="*/ 1144587 w 1144587"/>
              <a:gd name="connsiteY2" fmla="*/ 619376 h 619376"/>
              <a:gd name="connsiteX0" fmla="*/ 0 w 1144587"/>
              <a:gd name="connsiteY0" fmla="*/ 23136 h 594636"/>
              <a:gd name="connsiteX1" fmla="*/ 739774 w 1144587"/>
              <a:gd name="connsiteY1" fmla="*/ 129499 h 594636"/>
              <a:gd name="connsiteX2" fmla="*/ 1144587 w 1144587"/>
              <a:gd name="connsiteY2" fmla="*/ 594636 h 594636"/>
              <a:gd name="connsiteX0" fmla="*/ 0 w 1144587"/>
              <a:gd name="connsiteY0" fmla="*/ 13152 h 584652"/>
              <a:gd name="connsiteX1" fmla="*/ 739774 w 1144587"/>
              <a:gd name="connsiteY1" fmla="*/ 119515 h 584652"/>
              <a:gd name="connsiteX2" fmla="*/ 1144587 w 1144587"/>
              <a:gd name="connsiteY2" fmla="*/ 584652 h 584652"/>
              <a:gd name="connsiteX0" fmla="*/ 0 w 1144587"/>
              <a:gd name="connsiteY0" fmla="*/ 17210 h 588710"/>
              <a:gd name="connsiteX1" fmla="*/ 668336 w 1144587"/>
              <a:gd name="connsiteY1" fmla="*/ 99760 h 588710"/>
              <a:gd name="connsiteX2" fmla="*/ 1144587 w 1144587"/>
              <a:gd name="connsiteY2" fmla="*/ 588710 h 588710"/>
              <a:gd name="connsiteX0" fmla="*/ 0 w 1144587"/>
              <a:gd name="connsiteY0" fmla="*/ 17210 h 588710"/>
              <a:gd name="connsiteX1" fmla="*/ 668336 w 1144587"/>
              <a:gd name="connsiteY1" fmla="*/ 99760 h 588710"/>
              <a:gd name="connsiteX2" fmla="*/ 1144587 w 1144587"/>
              <a:gd name="connsiteY2" fmla="*/ 588710 h 588710"/>
              <a:gd name="connsiteX0" fmla="*/ 0 w 1144587"/>
              <a:gd name="connsiteY0" fmla="*/ 17210 h 588710"/>
              <a:gd name="connsiteX1" fmla="*/ 668336 w 1144587"/>
              <a:gd name="connsiteY1" fmla="*/ 99760 h 588710"/>
              <a:gd name="connsiteX2" fmla="*/ 1144587 w 1144587"/>
              <a:gd name="connsiteY2" fmla="*/ 588710 h 588710"/>
              <a:gd name="connsiteX0" fmla="*/ 0 w 1144587"/>
              <a:gd name="connsiteY0" fmla="*/ 17210 h 588710"/>
              <a:gd name="connsiteX1" fmla="*/ 668336 w 1144587"/>
              <a:gd name="connsiteY1" fmla="*/ 99760 h 588710"/>
              <a:gd name="connsiteX2" fmla="*/ 1144587 w 1144587"/>
              <a:gd name="connsiteY2" fmla="*/ 588710 h 588710"/>
              <a:gd name="connsiteX0" fmla="*/ 0 w 1144587"/>
              <a:gd name="connsiteY0" fmla="*/ 15370 h 586870"/>
              <a:gd name="connsiteX1" fmla="*/ 696911 w 1144587"/>
              <a:gd name="connsiteY1" fmla="*/ 107445 h 586870"/>
              <a:gd name="connsiteX2" fmla="*/ 1144587 w 1144587"/>
              <a:gd name="connsiteY2" fmla="*/ 586870 h 586870"/>
              <a:gd name="connsiteX0" fmla="*/ 0 w 1144587"/>
              <a:gd name="connsiteY0" fmla="*/ 16249 h 587749"/>
              <a:gd name="connsiteX1" fmla="*/ 682623 w 1144587"/>
              <a:gd name="connsiteY1" fmla="*/ 103561 h 587749"/>
              <a:gd name="connsiteX2" fmla="*/ 1144587 w 1144587"/>
              <a:gd name="connsiteY2" fmla="*/ 587749 h 587749"/>
              <a:gd name="connsiteX0" fmla="*/ 0 w 1557337"/>
              <a:gd name="connsiteY0" fmla="*/ 465156 h 484206"/>
              <a:gd name="connsiteX1" fmla="*/ 1095373 w 1557337"/>
              <a:gd name="connsiteY1" fmla="*/ 18 h 484206"/>
              <a:gd name="connsiteX2" fmla="*/ 1557337 w 1557337"/>
              <a:gd name="connsiteY2" fmla="*/ 484206 h 484206"/>
              <a:gd name="connsiteX0" fmla="*/ 0 w 1557337"/>
              <a:gd name="connsiteY0" fmla="*/ 465163 h 484213"/>
              <a:gd name="connsiteX1" fmla="*/ 1095373 w 1557337"/>
              <a:gd name="connsiteY1" fmla="*/ 25 h 484213"/>
              <a:gd name="connsiteX2" fmla="*/ 1557337 w 1557337"/>
              <a:gd name="connsiteY2" fmla="*/ 484213 h 484213"/>
              <a:gd name="connsiteX0" fmla="*/ 0 w 1557337"/>
              <a:gd name="connsiteY0" fmla="*/ 363577 h 382627"/>
              <a:gd name="connsiteX1" fmla="*/ 1228723 w 1557337"/>
              <a:gd name="connsiteY1" fmla="*/ 39 h 382627"/>
              <a:gd name="connsiteX2" fmla="*/ 1557337 w 1557337"/>
              <a:gd name="connsiteY2" fmla="*/ 382627 h 382627"/>
              <a:gd name="connsiteX0" fmla="*/ 0 w 2586037"/>
              <a:gd name="connsiteY0" fmla="*/ 363556 h 376256"/>
              <a:gd name="connsiteX1" fmla="*/ 1228723 w 2586037"/>
              <a:gd name="connsiteY1" fmla="*/ 18 h 376256"/>
              <a:gd name="connsiteX2" fmla="*/ 2586037 w 2586037"/>
              <a:gd name="connsiteY2" fmla="*/ 376256 h 376256"/>
              <a:gd name="connsiteX0" fmla="*/ 0 w 2586037"/>
              <a:gd name="connsiteY0" fmla="*/ 363556 h 376256"/>
              <a:gd name="connsiteX1" fmla="*/ 1228723 w 2586037"/>
              <a:gd name="connsiteY1" fmla="*/ 18 h 376256"/>
              <a:gd name="connsiteX2" fmla="*/ 2586037 w 2586037"/>
              <a:gd name="connsiteY2" fmla="*/ 376256 h 376256"/>
              <a:gd name="connsiteX0" fmla="*/ 0 w 2586037"/>
              <a:gd name="connsiteY0" fmla="*/ 388953 h 401653"/>
              <a:gd name="connsiteX1" fmla="*/ 1247773 w 2586037"/>
              <a:gd name="connsiteY1" fmla="*/ 15 h 401653"/>
              <a:gd name="connsiteX2" fmla="*/ 2586037 w 2586037"/>
              <a:gd name="connsiteY2" fmla="*/ 401653 h 401653"/>
              <a:gd name="connsiteX0" fmla="*/ 0 w 2586037"/>
              <a:gd name="connsiteY0" fmla="*/ 388960 h 401660"/>
              <a:gd name="connsiteX1" fmla="*/ 1247773 w 2586037"/>
              <a:gd name="connsiteY1" fmla="*/ 22 h 401660"/>
              <a:gd name="connsiteX2" fmla="*/ 2586037 w 2586037"/>
              <a:gd name="connsiteY2" fmla="*/ 401660 h 401660"/>
              <a:gd name="connsiteX0" fmla="*/ 0 w 2586037"/>
              <a:gd name="connsiteY0" fmla="*/ 388963 h 401663"/>
              <a:gd name="connsiteX1" fmla="*/ 1247773 w 2586037"/>
              <a:gd name="connsiteY1" fmla="*/ 25 h 401663"/>
              <a:gd name="connsiteX2" fmla="*/ 2586037 w 2586037"/>
              <a:gd name="connsiteY2" fmla="*/ 401663 h 401663"/>
              <a:gd name="connsiteX0" fmla="*/ 0 w 2586037"/>
              <a:gd name="connsiteY0" fmla="*/ 388963 h 401663"/>
              <a:gd name="connsiteX1" fmla="*/ 1247773 w 2586037"/>
              <a:gd name="connsiteY1" fmla="*/ 25 h 401663"/>
              <a:gd name="connsiteX2" fmla="*/ 2586037 w 2586037"/>
              <a:gd name="connsiteY2" fmla="*/ 401663 h 401663"/>
            </a:gdLst>
            <a:ahLst/>
            <a:cxnLst>
              <a:cxn ang="0">
                <a:pos x="connsiteX0" y="connsiteY0"/>
              </a:cxn>
              <a:cxn ang="0">
                <a:pos x="connsiteX1" y="connsiteY1"/>
              </a:cxn>
              <a:cxn ang="0">
                <a:pos x="connsiteX2" y="connsiteY2"/>
              </a:cxn>
            </a:cxnLst>
            <a:rect l="l" t="t" r="r" b="b"/>
            <a:pathLst>
              <a:path w="2586037" h="401663">
                <a:moveTo>
                  <a:pt x="0" y="388963"/>
                </a:moveTo>
                <a:cubicBezTo>
                  <a:pt x="334962" y="128084"/>
                  <a:pt x="816767" y="-2092"/>
                  <a:pt x="1247773" y="25"/>
                </a:cubicBezTo>
                <a:cubicBezTo>
                  <a:pt x="1678779" y="2142"/>
                  <a:pt x="2128837" y="102154"/>
                  <a:pt x="2586037" y="401663"/>
                </a:cubicBezTo>
              </a:path>
            </a:pathLst>
          </a:custGeom>
          <a:noFill/>
          <a:ln w="28575" cap="flat" cmpd="sng" algn="ctr">
            <a:solidFill>
              <a:srgbClr val="EC7061"/>
            </a:solidFill>
            <a:prstDash val="sysDash"/>
            <a:round/>
            <a:headEnd type="triangle" w="med" len="med"/>
            <a:tailEnd type="triangle"/>
          </a:ln>
          <a:effectLst/>
        </p:spPr>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任意多边形 37"/>
          <p:cNvSpPr/>
          <p:nvPr/>
        </p:nvSpPr>
        <p:spPr bwMode="gray">
          <a:xfrm rot="574180" flipH="1">
            <a:off x="8310273" y="2772963"/>
            <a:ext cx="1212175" cy="663645"/>
          </a:xfrm>
          <a:custGeom>
            <a:avLst/>
            <a:gdLst>
              <a:gd name="connsiteX0" fmla="*/ 0 w 1371600"/>
              <a:gd name="connsiteY0" fmla="*/ 229254 h 292754"/>
              <a:gd name="connsiteX1" fmla="*/ 609600 w 1371600"/>
              <a:gd name="connsiteY1" fmla="*/ 654 h 292754"/>
              <a:gd name="connsiteX2" fmla="*/ 1371600 w 1371600"/>
              <a:gd name="connsiteY2" fmla="*/ 292754 h 292754"/>
              <a:gd name="connsiteX0" fmla="*/ 0 w 1371600"/>
              <a:gd name="connsiteY0" fmla="*/ 241896 h 305396"/>
              <a:gd name="connsiteX1" fmla="*/ 698500 w 1371600"/>
              <a:gd name="connsiteY1" fmla="*/ 596 h 305396"/>
              <a:gd name="connsiteX2" fmla="*/ 1371600 w 1371600"/>
              <a:gd name="connsiteY2" fmla="*/ 305396 h 305396"/>
              <a:gd name="connsiteX0" fmla="*/ 0 w 1371600"/>
              <a:gd name="connsiteY0" fmla="*/ 241896 h 305396"/>
              <a:gd name="connsiteX1" fmla="*/ 698500 w 1371600"/>
              <a:gd name="connsiteY1" fmla="*/ 596 h 305396"/>
              <a:gd name="connsiteX2" fmla="*/ 1371600 w 1371600"/>
              <a:gd name="connsiteY2" fmla="*/ 305396 h 305396"/>
              <a:gd name="connsiteX0" fmla="*/ 0 w 1435100"/>
              <a:gd name="connsiteY0" fmla="*/ 304800 h 304800"/>
              <a:gd name="connsiteX1" fmla="*/ 762000 w 1435100"/>
              <a:gd name="connsiteY1" fmla="*/ 0 h 304800"/>
              <a:gd name="connsiteX2" fmla="*/ 1435100 w 1435100"/>
              <a:gd name="connsiteY2" fmla="*/ 304800 h 304800"/>
              <a:gd name="connsiteX0" fmla="*/ 0 w 1435100"/>
              <a:gd name="connsiteY0" fmla="*/ 279400 h 279400"/>
              <a:gd name="connsiteX1" fmla="*/ 673100 w 1435100"/>
              <a:gd name="connsiteY1" fmla="*/ 0 h 279400"/>
              <a:gd name="connsiteX2" fmla="*/ 1435100 w 1435100"/>
              <a:gd name="connsiteY2" fmla="*/ 279400 h 279400"/>
              <a:gd name="connsiteX0" fmla="*/ 0 w 1130300"/>
              <a:gd name="connsiteY0" fmla="*/ 279400 h 850900"/>
              <a:gd name="connsiteX1" fmla="*/ 673100 w 1130300"/>
              <a:gd name="connsiteY1" fmla="*/ 0 h 850900"/>
              <a:gd name="connsiteX2" fmla="*/ 1130300 w 1130300"/>
              <a:gd name="connsiteY2" fmla="*/ 850900 h 850900"/>
              <a:gd name="connsiteX0" fmla="*/ 0 w 1130300"/>
              <a:gd name="connsiteY0" fmla="*/ 279400 h 850900"/>
              <a:gd name="connsiteX1" fmla="*/ 673100 w 1130300"/>
              <a:gd name="connsiteY1" fmla="*/ 0 h 850900"/>
              <a:gd name="connsiteX2" fmla="*/ 1130300 w 1130300"/>
              <a:gd name="connsiteY2" fmla="*/ 850900 h 850900"/>
              <a:gd name="connsiteX0" fmla="*/ 0 w 1130300"/>
              <a:gd name="connsiteY0" fmla="*/ 56657 h 628157"/>
              <a:gd name="connsiteX1" fmla="*/ 635000 w 1130300"/>
              <a:gd name="connsiteY1" fmla="*/ 43957 h 628157"/>
              <a:gd name="connsiteX2" fmla="*/ 1130300 w 1130300"/>
              <a:gd name="connsiteY2" fmla="*/ 628157 h 628157"/>
              <a:gd name="connsiteX0" fmla="*/ 0 w 1130300"/>
              <a:gd name="connsiteY0" fmla="*/ 56657 h 628157"/>
              <a:gd name="connsiteX1" fmla="*/ 635000 w 1130300"/>
              <a:gd name="connsiteY1" fmla="*/ 43957 h 628157"/>
              <a:gd name="connsiteX2" fmla="*/ 1130300 w 1130300"/>
              <a:gd name="connsiteY2" fmla="*/ 628157 h 628157"/>
              <a:gd name="connsiteX0" fmla="*/ 0 w 1130300"/>
              <a:gd name="connsiteY0" fmla="*/ 94221 h 665721"/>
              <a:gd name="connsiteX1" fmla="*/ 635000 w 1130300"/>
              <a:gd name="connsiteY1" fmla="*/ 81521 h 665721"/>
              <a:gd name="connsiteX2" fmla="*/ 1130300 w 1130300"/>
              <a:gd name="connsiteY2" fmla="*/ 665721 h 665721"/>
              <a:gd name="connsiteX0" fmla="*/ 0 w 1130300"/>
              <a:gd name="connsiteY0" fmla="*/ 51378 h 622878"/>
              <a:gd name="connsiteX1" fmla="*/ 725487 w 1130300"/>
              <a:gd name="connsiteY1" fmla="*/ 157741 h 622878"/>
              <a:gd name="connsiteX2" fmla="*/ 1130300 w 1130300"/>
              <a:gd name="connsiteY2" fmla="*/ 622878 h 622878"/>
              <a:gd name="connsiteX0" fmla="*/ 0 w 1144587"/>
              <a:gd name="connsiteY0" fmla="*/ 47876 h 619376"/>
              <a:gd name="connsiteX1" fmla="*/ 739774 w 1144587"/>
              <a:gd name="connsiteY1" fmla="*/ 154239 h 619376"/>
              <a:gd name="connsiteX2" fmla="*/ 1144587 w 1144587"/>
              <a:gd name="connsiteY2" fmla="*/ 619376 h 619376"/>
              <a:gd name="connsiteX0" fmla="*/ 0 w 1144587"/>
              <a:gd name="connsiteY0" fmla="*/ 23136 h 594636"/>
              <a:gd name="connsiteX1" fmla="*/ 739774 w 1144587"/>
              <a:gd name="connsiteY1" fmla="*/ 129499 h 594636"/>
              <a:gd name="connsiteX2" fmla="*/ 1144587 w 1144587"/>
              <a:gd name="connsiteY2" fmla="*/ 594636 h 594636"/>
              <a:gd name="connsiteX0" fmla="*/ 0 w 1144587"/>
              <a:gd name="connsiteY0" fmla="*/ 13152 h 584652"/>
              <a:gd name="connsiteX1" fmla="*/ 739774 w 1144587"/>
              <a:gd name="connsiteY1" fmla="*/ 119515 h 584652"/>
              <a:gd name="connsiteX2" fmla="*/ 1144587 w 1144587"/>
              <a:gd name="connsiteY2" fmla="*/ 584652 h 584652"/>
              <a:gd name="connsiteX0" fmla="*/ 0 w 1144587"/>
              <a:gd name="connsiteY0" fmla="*/ 17210 h 588710"/>
              <a:gd name="connsiteX1" fmla="*/ 668336 w 1144587"/>
              <a:gd name="connsiteY1" fmla="*/ 99760 h 588710"/>
              <a:gd name="connsiteX2" fmla="*/ 1144587 w 1144587"/>
              <a:gd name="connsiteY2" fmla="*/ 588710 h 588710"/>
              <a:gd name="connsiteX0" fmla="*/ 0 w 1144587"/>
              <a:gd name="connsiteY0" fmla="*/ 17210 h 588710"/>
              <a:gd name="connsiteX1" fmla="*/ 668336 w 1144587"/>
              <a:gd name="connsiteY1" fmla="*/ 99760 h 588710"/>
              <a:gd name="connsiteX2" fmla="*/ 1144587 w 1144587"/>
              <a:gd name="connsiteY2" fmla="*/ 588710 h 588710"/>
              <a:gd name="connsiteX0" fmla="*/ 0 w 1144587"/>
              <a:gd name="connsiteY0" fmla="*/ 17210 h 588710"/>
              <a:gd name="connsiteX1" fmla="*/ 668336 w 1144587"/>
              <a:gd name="connsiteY1" fmla="*/ 99760 h 588710"/>
              <a:gd name="connsiteX2" fmla="*/ 1144587 w 1144587"/>
              <a:gd name="connsiteY2" fmla="*/ 588710 h 588710"/>
              <a:gd name="connsiteX0" fmla="*/ 0 w 1144587"/>
              <a:gd name="connsiteY0" fmla="*/ 17210 h 588710"/>
              <a:gd name="connsiteX1" fmla="*/ 668336 w 1144587"/>
              <a:gd name="connsiteY1" fmla="*/ 99760 h 588710"/>
              <a:gd name="connsiteX2" fmla="*/ 1144587 w 1144587"/>
              <a:gd name="connsiteY2" fmla="*/ 588710 h 588710"/>
              <a:gd name="connsiteX0" fmla="*/ 0 w 1144587"/>
              <a:gd name="connsiteY0" fmla="*/ 15370 h 586870"/>
              <a:gd name="connsiteX1" fmla="*/ 696911 w 1144587"/>
              <a:gd name="connsiteY1" fmla="*/ 107445 h 586870"/>
              <a:gd name="connsiteX2" fmla="*/ 1144587 w 1144587"/>
              <a:gd name="connsiteY2" fmla="*/ 586870 h 586870"/>
              <a:gd name="connsiteX0" fmla="*/ 0 w 1144587"/>
              <a:gd name="connsiteY0" fmla="*/ 16249 h 587749"/>
              <a:gd name="connsiteX1" fmla="*/ 682623 w 1144587"/>
              <a:gd name="connsiteY1" fmla="*/ 103561 h 587749"/>
              <a:gd name="connsiteX2" fmla="*/ 1144587 w 1144587"/>
              <a:gd name="connsiteY2" fmla="*/ 587749 h 587749"/>
            </a:gdLst>
            <a:ahLst/>
            <a:cxnLst>
              <a:cxn ang="0">
                <a:pos x="connsiteX0" y="connsiteY0"/>
              </a:cxn>
              <a:cxn ang="0">
                <a:pos x="connsiteX1" y="connsiteY1"/>
              </a:cxn>
              <a:cxn ang="0">
                <a:pos x="connsiteX2" y="connsiteY2"/>
              </a:cxn>
            </a:cxnLst>
            <a:rect l="l" t="t" r="r" b="b"/>
            <a:pathLst>
              <a:path w="1144587" h="587749">
                <a:moveTo>
                  <a:pt x="0" y="16249"/>
                </a:moveTo>
                <a:cubicBezTo>
                  <a:pt x="309562" y="-22380"/>
                  <a:pt x="491859" y="8311"/>
                  <a:pt x="682623" y="103561"/>
                </a:cubicBezTo>
                <a:cubicBezTo>
                  <a:pt x="873387" y="198811"/>
                  <a:pt x="992187" y="307290"/>
                  <a:pt x="1144587" y="587749"/>
                </a:cubicBezTo>
              </a:path>
            </a:pathLst>
          </a:custGeom>
          <a:noFill/>
          <a:ln w="28575" cap="flat" cmpd="sng" algn="ctr">
            <a:solidFill>
              <a:srgbClr val="EC7061"/>
            </a:solidFill>
            <a:prstDash val="sysDash"/>
            <a:round/>
            <a:headEnd type="triangle" w="med" len="med"/>
            <a:tailEnd type="triangle"/>
          </a:ln>
          <a:effectLst/>
        </p:spPr>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椭圆 74">
            <a:extLst>
              <a:ext uri="{FF2B5EF4-FFF2-40B4-BE49-F238E27FC236}">
                <a16:creationId xmlns:a16="http://schemas.microsoft.com/office/drawing/2014/main" xmlns="" id="{56B622A7-0CA0-4CF7-BCB2-115F7D8329C8}"/>
              </a:ext>
            </a:extLst>
          </p:cNvPr>
          <p:cNvSpPr>
            <a:spLocks noChangeAspect="1"/>
          </p:cNvSpPr>
          <p:nvPr/>
        </p:nvSpPr>
        <p:spPr bwMode="gray">
          <a:xfrm>
            <a:off x="2720590" y="1757625"/>
            <a:ext cx="232480" cy="232480"/>
          </a:xfrm>
          <a:prstGeom prst="ellipse">
            <a:avLst/>
          </a:prstGeom>
          <a:solidFill>
            <a:srgbClr val="30B5C5"/>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Text Box 19"/>
          <p:cNvSpPr txBox="1">
            <a:spLocks noChangeArrowheads="1"/>
          </p:cNvSpPr>
          <p:nvPr/>
        </p:nvSpPr>
        <p:spPr bwMode="gray">
          <a:xfrm>
            <a:off x="2296359" y="5301099"/>
            <a:ext cx="1433348" cy="789642"/>
          </a:xfrm>
          <a:prstGeom prst="rect">
            <a:avLst/>
          </a:prstGeom>
          <a:noFill/>
          <a:ln w="19050" cap="flat" cmpd="sng" algn="ctr">
            <a:solidFill>
              <a:srgbClr val="56C4D2"/>
            </a:solidFill>
            <a:prstDash val="solid"/>
            <a:miter lim="800000"/>
          </a:ln>
          <a:effectLst/>
          <a:extLst/>
        </p:spPr>
        <p:txBody>
          <a:bodyPr rtlCol="0" anchor="ctr"/>
          <a:lstStyle>
            <a:defPPr>
              <a:defRPr lang="en-US"/>
            </a:defPPr>
            <a:lvl1pPr algn="ctr" defTabSz="914400">
              <a:lnSpc>
                <a:spcPct val="150000"/>
              </a:lnSpc>
              <a:defRPr sz="1200" kern="0"/>
            </a:lvl1pPr>
          </a:lstStyle>
          <a:p>
            <a:pPr algn="l"/>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客户私网路由被学习到</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路由表</a:t>
            </a:r>
            <a:r>
              <a:rPr lang="zh-CN" altLang="en-US" dirty="0" smtClean="0">
                <a:latin typeface="Huawei Sans" panose="020C0503030203020204" pitchFamily="34" charset="0"/>
                <a:ea typeface="方正兰亭黑简体" panose="02000000000000000000" pitchFamily="2" charset="-122"/>
                <a:sym typeface="Huawei Sans" panose="020C0503030203020204" pitchFamily="34" charset="0"/>
              </a:rPr>
              <a:t>中</a:t>
            </a:r>
            <a:r>
              <a:rPr lang="en-US" altLang="zh-CN" dirty="0" smtClean="0">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dirty="0" smtClean="0">
                <a:latin typeface="Huawei Sans" panose="020C0503030203020204" pitchFamily="34" charset="0"/>
                <a:ea typeface="方正兰亭黑简体" panose="02000000000000000000" pitchFamily="2" charset="-122"/>
                <a:sym typeface="Huawei Sans" panose="020C0503030203020204" pitchFamily="34" charset="0"/>
              </a:rPr>
              <a:t>实例路由表</a:t>
            </a:r>
            <a:r>
              <a:rPr lang="en-US" altLang="zh-CN" dirty="0" smtClean="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dirty="0" smtClean="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9" name="Line 23"/>
          <p:cNvSpPr>
            <a:spLocks noChangeShapeType="1"/>
          </p:cNvSpPr>
          <p:nvPr/>
        </p:nvSpPr>
        <p:spPr bwMode="gray">
          <a:xfrm flipH="1">
            <a:off x="3014586" y="3923596"/>
            <a:ext cx="964157" cy="1341951"/>
          </a:xfrm>
          <a:prstGeom prst="line">
            <a:avLst/>
          </a:prstGeom>
          <a:ln w="1905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txBody>
          <a:bodyPr lIns="0" tIns="0" rIns="90000" bIns="46800" anchor="ct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0" name="椭圆 89">
            <a:extLst>
              <a:ext uri="{FF2B5EF4-FFF2-40B4-BE49-F238E27FC236}">
                <a16:creationId xmlns:a16="http://schemas.microsoft.com/office/drawing/2014/main" xmlns="" id="{56B622A7-0CA0-4CF7-BCB2-115F7D8329C8}"/>
              </a:ext>
            </a:extLst>
          </p:cNvPr>
          <p:cNvSpPr>
            <a:spLocks noChangeAspect="1"/>
          </p:cNvSpPr>
          <p:nvPr/>
        </p:nvSpPr>
        <p:spPr bwMode="gray">
          <a:xfrm>
            <a:off x="2012725" y="5281046"/>
            <a:ext cx="232480" cy="232480"/>
          </a:xfrm>
          <a:prstGeom prst="ellipse">
            <a:avLst/>
          </a:prstGeom>
          <a:solidFill>
            <a:srgbClr val="30B5C5"/>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1" name="Text Box 19"/>
          <p:cNvSpPr txBox="1">
            <a:spLocks noChangeArrowheads="1"/>
          </p:cNvSpPr>
          <p:nvPr/>
        </p:nvSpPr>
        <p:spPr bwMode="gray">
          <a:xfrm>
            <a:off x="4094802" y="4728416"/>
            <a:ext cx="3373372" cy="1172811"/>
          </a:xfrm>
          <a:prstGeom prst="rect">
            <a:avLst/>
          </a:prstGeom>
          <a:noFill/>
          <a:ln w="19050" cap="flat" cmpd="sng" algn="ctr">
            <a:solidFill>
              <a:srgbClr val="56C4D2"/>
            </a:solidFill>
            <a:prstDash val="solid"/>
            <a:miter lim="800000"/>
          </a:ln>
          <a:effectLst/>
          <a:extLst/>
        </p:spPr>
        <p:txBody>
          <a:bodyPr rtlCol="0" anchor="ctr"/>
          <a:lstStyle>
            <a:defPPr>
              <a:defRPr lang="en-US"/>
            </a:defPPr>
            <a:lvl1pPr algn="ctr" defTabSz="914400">
              <a:lnSpc>
                <a:spcPct val="150000"/>
              </a:lnSpc>
              <a:defRPr sz="1200" kern="0"/>
            </a:lvl1pPr>
          </a:lstStyle>
          <a:p>
            <a:pPr algn="l"/>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IPv4</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路由引入到</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MP-BGP</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（如果</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PE-CE</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之间运行的就是</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BGP</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，则无需手工执行路由引入操作）</a:t>
            </a:r>
          </a:p>
          <a:p>
            <a:pPr algn="l"/>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RD</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被添加到</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IPv4</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路由上，构成</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VPNv4</a:t>
            </a:r>
            <a:r>
              <a:rPr lang="zh-CN" altLang="en-US" dirty="0" smtClean="0">
                <a:latin typeface="Huawei Sans" panose="020C0503030203020204" pitchFamily="34" charset="0"/>
                <a:ea typeface="方正兰亭黑简体" panose="02000000000000000000" pitchFamily="2" charset="-122"/>
                <a:sym typeface="Huawei Sans" panose="020C0503030203020204" pitchFamily="34" charset="0"/>
              </a:rPr>
              <a:t>路由</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93" name="椭圆 92">
            <a:extLst>
              <a:ext uri="{FF2B5EF4-FFF2-40B4-BE49-F238E27FC236}">
                <a16:creationId xmlns:a16="http://schemas.microsoft.com/office/drawing/2014/main" xmlns="" id="{56B622A7-0CA0-4CF7-BCB2-115F7D8329C8}"/>
              </a:ext>
            </a:extLst>
          </p:cNvPr>
          <p:cNvSpPr>
            <a:spLocks noChangeAspect="1"/>
          </p:cNvSpPr>
          <p:nvPr/>
        </p:nvSpPr>
        <p:spPr bwMode="gray">
          <a:xfrm>
            <a:off x="3818149" y="4715538"/>
            <a:ext cx="232480" cy="232480"/>
          </a:xfrm>
          <a:prstGeom prst="ellipse">
            <a:avLst/>
          </a:prstGeom>
          <a:solidFill>
            <a:srgbClr val="30B5C5"/>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4" name="椭圆 93">
            <a:extLst>
              <a:ext uri="{FF2B5EF4-FFF2-40B4-BE49-F238E27FC236}">
                <a16:creationId xmlns:a16="http://schemas.microsoft.com/office/drawing/2014/main" xmlns="" id="{56B622A7-0CA0-4CF7-BCB2-115F7D8329C8}"/>
              </a:ext>
            </a:extLst>
          </p:cNvPr>
          <p:cNvSpPr>
            <a:spLocks noChangeAspect="1"/>
          </p:cNvSpPr>
          <p:nvPr/>
        </p:nvSpPr>
        <p:spPr bwMode="gray">
          <a:xfrm>
            <a:off x="4161221" y="1150755"/>
            <a:ext cx="232480" cy="232480"/>
          </a:xfrm>
          <a:prstGeom prst="ellipse">
            <a:avLst/>
          </a:prstGeom>
          <a:solidFill>
            <a:srgbClr val="30B5C5"/>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5" name="Text Box 19"/>
          <p:cNvSpPr txBox="1">
            <a:spLocks noChangeArrowheads="1"/>
          </p:cNvSpPr>
          <p:nvPr/>
        </p:nvSpPr>
        <p:spPr bwMode="gray">
          <a:xfrm>
            <a:off x="8125840" y="5128454"/>
            <a:ext cx="2739394" cy="962287"/>
          </a:xfrm>
          <a:prstGeom prst="rect">
            <a:avLst/>
          </a:prstGeom>
          <a:noFill/>
          <a:ln w="19050" cap="flat" cmpd="sng" algn="ctr">
            <a:solidFill>
              <a:srgbClr val="56C4D2"/>
            </a:solidFill>
            <a:prstDash val="solid"/>
            <a:miter lim="800000"/>
          </a:ln>
          <a:effectLst/>
          <a:extLst/>
        </p:spPr>
        <p:txBody>
          <a:bodyPr rtlCol="0" anchor="ctr"/>
          <a:lstStyle>
            <a:defPPr>
              <a:defRPr lang="en-US"/>
            </a:defPPr>
            <a:lvl1pPr algn="ctr" defTabSz="914400">
              <a:lnSpc>
                <a:spcPct val="150000"/>
              </a:lnSpc>
              <a:defRPr sz="1200" kern="0"/>
            </a:lvl1pPr>
          </a:lstStyle>
          <a:p>
            <a:pPr algn="l"/>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PE2</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根据</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RT</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将</a:t>
            </a:r>
            <a:r>
              <a:rPr lang="zh-CN" altLang="en-US" dirty="0" smtClean="0">
                <a:latin typeface="Huawei Sans" panose="020C0503030203020204" pitchFamily="34" charset="0"/>
                <a:ea typeface="方正兰亭黑简体" panose="02000000000000000000" pitchFamily="2" charset="-122"/>
                <a:sym typeface="Huawei Sans" panose="020C0503030203020204" pitchFamily="34" charset="0"/>
              </a:rPr>
              <a:t>路由</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导入</a:t>
            </a:r>
            <a:r>
              <a:rPr lang="zh-CN" altLang="en-US" dirty="0" smtClean="0">
                <a:latin typeface="Huawei Sans" panose="020C0503030203020204" pitchFamily="34" charset="0"/>
                <a:ea typeface="方正兰亭黑简体" panose="02000000000000000000" pitchFamily="2" charset="-122"/>
                <a:sym typeface="Huawei Sans" panose="020C0503030203020204" pitchFamily="34" charset="0"/>
              </a:rPr>
              <a:t>特定</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dirty="0" smtClean="0">
                <a:latin typeface="Huawei Sans" panose="020C0503030203020204" pitchFamily="34" charset="0"/>
                <a:ea typeface="方正兰亭黑简体" panose="02000000000000000000" pitchFamily="2" charset="-122"/>
                <a:sym typeface="Huawei Sans" panose="020C0503030203020204" pitchFamily="34" charset="0"/>
              </a:rPr>
              <a:t>VRF</a:t>
            </a:r>
            <a:r>
              <a:rPr lang="zh-CN" altLang="en-US" dirty="0" smtClean="0">
                <a:latin typeface="Huawei Sans" panose="020C0503030203020204" pitchFamily="34" charset="0"/>
                <a:ea typeface="方正兰亭黑简体" panose="02000000000000000000" pitchFamily="2" charset="-122"/>
                <a:sym typeface="Huawei Sans" panose="020C0503030203020204" pitchFamily="34" charset="0"/>
              </a:rPr>
              <a:t>，同时将</a:t>
            </a:r>
            <a:r>
              <a:rPr lang="en-US" altLang="zh-CN" dirty="0" smtClean="0">
                <a:latin typeface="Huawei Sans" panose="020C0503030203020204" pitchFamily="34" charset="0"/>
                <a:ea typeface="方正兰亭黑简体" panose="02000000000000000000" pitchFamily="2" charset="-122"/>
                <a:sym typeface="Huawei Sans" panose="020C0503030203020204" pitchFamily="34" charset="0"/>
              </a:rPr>
              <a:t>VPNv4</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路由的</a:t>
            </a:r>
            <a:r>
              <a:rPr lang="en-US" altLang="zh-CN" dirty="0" smtClean="0">
                <a:latin typeface="Huawei Sans" panose="020C0503030203020204" pitchFamily="34" charset="0"/>
                <a:ea typeface="方正兰亭黑简体" panose="02000000000000000000" pitchFamily="2" charset="-122"/>
                <a:sym typeface="Huawei Sans" panose="020C0503030203020204" pitchFamily="34" charset="0"/>
              </a:rPr>
              <a:t>RD</a:t>
            </a:r>
            <a:r>
              <a:rPr lang="zh-CN" altLang="en-US" dirty="0" smtClean="0">
                <a:latin typeface="Huawei Sans" panose="020C0503030203020204" pitchFamily="34" charset="0"/>
                <a:ea typeface="方正兰亭黑简体" panose="02000000000000000000" pitchFamily="2" charset="-122"/>
                <a:sym typeface="Huawei Sans" panose="020C0503030203020204" pitchFamily="34" charset="0"/>
              </a:rPr>
              <a:t>剥</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除，将</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IPv4</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路由通告给相应的客户的</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CE</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设备。</a:t>
            </a:r>
          </a:p>
        </p:txBody>
      </p:sp>
      <p:sp>
        <p:nvSpPr>
          <p:cNvPr id="115" name="椭圆 114">
            <a:extLst>
              <a:ext uri="{FF2B5EF4-FFF2-40B4-BE49-F238E27FC236}">
                <a16:creationId xmlns:a16="http://schemas.microsoft.com/office/drawing/2014/main" xmlns="" id="{56B622A7-0CA0-4CF7-BCB2-115F7D8329C8}"/>
              </a:ext>
            </a:extLst>
          </p:cNvPr>
          <p:cNvSpPr>
            <a:spLocks noChangeAspect="1"/>
          </p:cNvSpPr>
          <p:nvPr/>
        </p:nvSpPr>
        <p:spPr bwMode="gray">
          <a:xfrm>
            <a:off x="7847840" y="5114811"/>
            <a:ext cx="232480" cy="232480"/>
          </a:xfrm>
          <a:prstGeom prst="ellipse">
            <a:avLst/>
          </a:prstGeom>
          <a:solidFill>
            <a:srgbClr val="30B5C5"/>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5</a:t>
            </a:r>
            <a:endParaRPr lang="zh-CN" altLang="en-US"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9" name="Line 23"/>
          <p:cNvSpPr>
            <a:spLocks noChangeShapeType="1"/>
          </p:cNvSpPr>
          <p:nvPr/>
        </p:nvSpPr>
        <p:spPr bwMode="gray">
          <a:xfrm>
            <a:off x="8107914" y="3920651"/>
            <a:ext cx="603962" cy="1207803"/>
          </a:xfrm>
          <a:prstGeom prst="line">
            <a:avLst/>
          </a:prstGeom>
          <a:ln w="1905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txBody>
          <a:bodyPr lIns="0" tIns="0" rIns="90000" bIns="46800" anchor="ct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0" name="椭圆 119">
            <a:extLst>
              <a:ext uri="{FF2B5EF4-FFF2-40B4-BE49-F238E27FC236}">
                <a16:creationId xmlns:a16="http://schemas.microsoft.com/office/drawing/2014/main" xmlns="" id="{56B622A7-0CA0-4CF7-BCB2-115F7D8329C8}"/>
              </a:ext>
            </a:extLst>
          </p:cNvPr>
          <p:cNvSpPr>
            <a:spLocks noChangeAspect="1"/>
          </p:cNvSpPr>
          <p:nvPr/>
        </p:nvSpPr>
        <p:spPr bwMode="gray">
          <a:xfrm>
            <a:off x="8076616" y="1712886"/>
            <a:ext cx="232480" cy="232480"/>
          </a:xfrm>
          <a:prstGeom prst="ellipse">
            <a:avLst/>
          </a:prstGeom>
          <a:solidFill>
            <a:srgbClr val="30B5C5"/>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6</a:t>
            </a:r>
            <a:endParaRPr lang="zh-CN" altLang="en-US"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custDataLst>
      <p:tags r:id="rId1"/>
    </p:custDataLst>
    <p:extLst>
      <p:ext uri="{BB962C8B-B14F-4D97-AF65-F5344CB8AC3E}">
        <p14:creationId xmlns:p14="http://schemas.microsoft.com/office/powerpoint/2010/main" val="366808402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sz="quarter" idx="10"/>
          </p:nvPr>
        </p:nvSpPr>
        <p:spPr bwMode="gray"/>
        <p:txBody>
          <a:bodyPr/>
          <a:lstStyle/>
          <a:p>
            <a:r>
              <a:rPr lang="zh-CN" altLang="en-US" sz="2000" dirty="0" smtClean="0"/>
              <a:t>在</a:t>
            </a:r>
            <a:r>
              <a:rPr lang="en-US" altLang="zh-CN" sz="2000" dirty="0" smtClean="0"/>
              <a:t>MPLS VPN</a:t>
            </a:r>
            <a:r>
              <a:rPr lang="zh-CN" altLang="en-US" sz="2000" dirty="0" smtClean="0"/>
              <a:t>中，</a:t>
            </a:r>
            <a:r>
              <a:rPr lang="en-US" altLang="zh-CN" sz="2000" dirty="0" smtClean="0"/>
              <a:t>PE</a:t>
            </a:r>
            <a:r>
              <a:rPr lang="zh-CN" altLang="en-US" sz="2000" dirty="0" smtClean="0"/>
              <a:t>与</a:t>
            </a:r>
            <a:r>
              <a:rPr lang="en-US" altLang="zh-CN" sz="2000" dirty="0" smtClean="0"/>
              <a:t>CE</a:t>
            </a:r>
            <a:r>
              <a:rPr lang="zh-CN" altLang="en-US" sz="2000" dirty="0" smtClean="0"/>
              <a:t>，</a:t>
            </a:r>
            <a:r>
              <a:rPr lang="en-US" altLang="zh-CN" sz="2000" dirty="0" smtClean="0"/>
              <a:t>PE</a:t>
            </a:r>
            <a:r>
              <a:rPr lang="zh-CN" altLang="en-US" sz="2000" dirty="0" smtClean="0"/>
              <a:t>与</a:t>
            </a:r>
            <a:r>
              <a:rPr lang="en-US" altLang="zh-CN" sz="2000" dirty="0" smtClean="0"/>
              <a:t>PE</a:t>
            </a:r>
            <a:r>
              <a:rPr lang="zh-CN" altLang="en-US" sz="2000" dirty="0" smtClean="0"/>
              <a:t>之间需要进行</a:t>
            </a:r>
            <a:r>
              <a:rPr lang="en-US" altLang="zh-CN" sz="2000" dirty="0" smtClean="0"/>
              <a:t>VPN</a:t>
            </a:r>
            <a:r>
              <a:rPr lang="zh-CN" altLang="en-US" sz="2000" dirty="0" smtClean="0"/>
              <a:t>路由信息的传递。</a:t>
            </a:r>
            <a:endParaRPr lang="en-US" altLang="zh-CN" sz="2000" dirty="0" smtClean="0"/>
          </a:p>
          <a:p>
            <a:pPr lvl="1"/>
            <a:r>
              <a:rPr lang="en-US" altLang="zh-CN" sz="1800" dirty="0" smtClean="0"/>
              <a:t>PE</a:t>
            </a:r>
            <a:r>
              <a:rPr lang="zh-CN" altLang="en-US" sz="1800" dirty="0" smtClean="0"/>
              <a:t>与</a:t>
            </a:r>
            <a:r>
              <a:rPr lang="en-US" altLang="zh-CN" sz="1800" dirty="0" smtClean="0"/>
              <a:t>CE</a:t>
            </a:r>
            <a:r>
              <a:rPr lang="zh-CN" altLang="en-US" sz="1800" dirty="0" smtClean="0"/>
              <a:t>之间可以采用</a:t>
            </a:r>
            <a:r>
              <a:rPr lang="en-US" altLang="zh-CN" sz="1800" dirty="0" smtClean="0"/>
              <a:t>BGP</a:t>
            </a:r>
            <a:r>
              <a:rPr lang="zh-CN" altLang="en-US" sz="1800" dirty="0" smtClean="0"/>
              <a:t>、</a:t>
            </a:r>
            <a:r>
              <a:rPr lang="en-US" altLang="zh-CN" sz="1800" dirty="0" smtClean="0"/>
              <a:t>IGP</a:t>
            </a:r>
            <a:r>
              <a:rPr lang="zh-CN" altLang="en-US" sz="1800" dirty="0" smtClean="0"/>
              <a:t>以及静态路由方式交互</a:t>
            </a:r>
            <a:r>
              <a:rPr lang="en-US" altLang="zh-CN" sz="1800" dirty="0" smtClean="0"/>
              <a:t>IPv4</a:t>
            </a:r>
            <a:r>
              <a:rPr lang="zh-CN" altLang="en-US" sz="1800" dirty="0" smtClean="0"/>
              <a:t>路由信息。</a:t>
            </a:r>
            <a:endParaRPr lang="en-US" altLang="zh-CN" sz="1800" dirty="0" smtClean="0"/>
          </a:p>
          <a:p>
            <a:pPr lvl="1"/>
            <a:r>
              <a:rPr lang="en-US" altLang="zh-CN" sz="1800" dirty="0" smtClean="0"/>
              <a:t>PE</a:t>
            </a:r>
            <a:r>
              <a:rPr lang="zh-CN" altLang="en-US" sz="1800" dirty="0" smtClean="0"/>
              <a:t>与</a:t>
            </a:r>
            <a:r>
              <a:rPr lang="en-US" altLang="zh-CN" sz="1800" dirty="0" smtClean="0"/>
              <a:t>PE</a:t>
            </a:r>
            <a:r>
              <a:rPr lang="zh-CN" altLang="en-US" sz="1800" dirty="0" smtClean="0"/>
              <a:t>之间通过</a:t>
            </a:r>
            <a:r>
              <a:rPr lang="en-US" altLang="zh-CN" sz="1800" dirty="0" smtClean="0"/>
              <a:t>MP-BGP</a:t>
            </a:r>
            <a:r>
              <a:rPr lang="zh-CN" altLang="en-US" sz="1800" dirty="0" smtClean="0"/>
              <a:t>交互</a:t>
            </a:r>
            <a:r>
              <a:rPr lang="en-US" altLang="zh-CN" sz="1800" dirty="0" smtClean="0"/>
              <a:t>VPNv4</a:t>
            </a:r>
            <a:r>
              <a:rPr lang="zh-CN" altLang="en-US" sz="1800" dirty="0" smtClean="0"/>
              <a:t>路由信息，包含：</a:t>
            </a:r>
            <a:endParaRPr lang="en-US" altLang="zh-CN" sz="1800" dirty="0" smtClean="0"/>
          </a:p>
          <a:p>
            <a:pPr lvl="2"/>
            <a:r>
              <a:rPr lang="en-US" altLang="zh-CN" sz="1600" dirty="0" smtClean="0"/>
              <a:t>RD</a:t>
            </a:r>
            <a:r>
              <a:rPr lang="zh-CN" altLang="en-US" sz="1600" dirty="0" smtClean="0"/>
              <a:t>：与</a:t>
            </a:r>
            <a:r>
              <a:rPr lang="en-US" altLang="zh-CN" sz="1600" dirty="0" smtClean="0"/>
              <a:t>IPv4</a:t>
            </a:r>
            <a:r>
              <a:rPr lang="zh-CN" altLang="en-US" sz="1600" dirty="0" smtClean="0"/>
              <a:t>前缀组合组成</a:t>
            </a:r>
            <a:r>
              <a:rPr lang="en-US" altLang="zh-CN" sz="1600" dirty="0" smtClean="0"/>
              <a:t>VPNv4</a:t>
            </a:r>
            <a:r>
              <a:rPr lang="zh-CN" altLang="en-US" sz="1600" dirty="0" smtClean="0"/>
              <a:t>前缀。</a:t>
            </a:r>
            <a:endParaRPr lang="en-US" altLang="zh-CN" sz="1600" dirty="0" smtClean="0"/>
          </a:p>
          <a:p>
            <a:pPr lvl="2"/>
            <a:r>
              <a:rPr lang="en-US" altLang="zh-CN" sz="1600" dirty="0" smtClean="0"/>
              <a:t>RT</a:t>
            </a:r>
            <a:r>
              <a:rPr lang="zh-CN" altLang="en-US" sz="1600" dirty="0" smtClean="0"/>
              <a:t>：用于控制</a:t>
            </a:r>
            <a:r>
              <a:rPr lang="en-US" altLang="zh-CN" sz="1600" dirty="0" smtClean="0"/>
              <a:t>PE</a:t>
            </a:r>
            <a:r>
              <a:rPr lang="zh-CN" altLang="en-US" sz="1600" dirty="0" smtClean="0"/>
              <a:t>之间路由信息的接收和发布。</a:t>
            </a:r>
            <a:endParaRPr lang="en-US" altLang="zh-CN" sz="1600" dirty="0" smtClean="0"/>
          </a:p>
          <a:p>
            <a:pPr lvl="2"/>
            <a:r>
              <a:rPr lang="zh-CN" altLang="en-US" sz="1600" dirty="0" smtClean="0"/>
              <a:t>标签：数据转发时的内层（私网）标签，在</a:t>
            </a:r>
            <a:r>
              <a:rPr lang="en-US" altLang="zh-CN" sz="1600" dirty="0" smtClean="0"/>
              <a:t>PE</a:t>
            </a:r>
            <a:r>
              <a:rPr lang="zh-CN" altLang="en-US" sz="1600" dirty="0" smtClean="0"/>
              <a:t>上用来区分不同</a:t>
            </a:r>
            <a:r>
              <a:rPr lang="en-US" altLang="zh-CN" sz="1600" dirty="0" smtClean="0"/>
              <a:t>VPN</a:t>
            </a:r>
            <a:r>
              <a:rPr lang="zh-CN" altLang="en-US" sz="1600" dirty="0" smtClean="0"/>
              <a:t>的数据。</a:t>
            </a:r>
            <a:endParaRPr lang="en-US" altLang="zh-CN" sz="1600" dirty="0" smtClean="0"/>
          </a:p>
          <a:p>
            <a:endParaRPr lang="zh-CN" altLang="en-US" sz="2000" dirty="0"/>
          </a:p>
        </p:txBody>
      </p:sp>
    </p:spTree>
    <p:extLst>
      <p:ext uri="{BB962C8B-B14F-4D97-AF65-F5344CB8AC3E}">
        <p14:creationId xmlns:p14="http://schemas.microsoft.com/office/powerpoint/2010/main" val="272203744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bwMode="gray"/>
        <p:txBody>
          <a:bodyPr/>
          <a:lstStyle/>
          <a:p>
            <a:r>
              <a:rPr lang="en-US" altLang="zh-CN" dirty="0" smtClean="0">
                <a:solidFill>
                  <a:schemeClr val="bg1">
                    <a:lumMod val="50000"/>
                  </a:schemeClr>
                </a:solidFill>
                <a:sym typeface="Huawei Sans" panose="020C0503030203020204" pitchFamily="34" charset="0"/>
              </a:rPr>
              <a:t>MPLS VPN</a:t>
            </a:r>
            <a:r>
              <a:rPr lang="zh-CN" altLang="en-US" dirty="0" smtClean="0">
                <a:solidFill>
                  <a:schemeClr val="bg1">
                    <a:lumMod val="50000"/>
                  </a:schemeClr>
                </a:solidFill>
                <a:sym typeface="Huawei Sans" panose="020C0503030203020204" pitchFamily="34" charset="0"/>
              </a:rPr>
              <a:t>概述</a:t>
            </a:r>
            <a:endParaRPr lang="en-US" altLang="zh-CN" dirty="0" smtClean="0">
              <a:solidFill>
                <a:schemeClr val="bg1">
                  <a:lumMod val="50000"/>
                </a:schemeClr>
              </a:solidFill>
              <a:sym typeface="Huawei Sans" panose="020C0503030203020204" pitchFamily="34" charset="0"/>
            </a:endParaRPr>
          </a:p>
          <a:p>
            <a:r>
              <a:rPr lang="en-US" altLang="zh-CN" dirty="0" smtClean="0">
                <a:solidFill>
                  <a:schemeClr val="bg1">
                    <a:lumMod val="50000"/>
                  </a:schemeClr>
                </a:solidFill>
                <a:sym typeface="Huawei Sans" panose="020C0503030203020204" pitchFamily="34" charset="0"/>
              </a:rPr>
              <a:t>MPLS VPN</a:t>
            </a:r>
            <a:r>
              <a:rPr lang="zh-CN" altLang="en-US" dirty="0" smtClean="0">
                <a:solidFill>
                  <a:schemeClr val="bg1">
                    <a:lumMod val="50000"/>
                  </a:schemeClr>
                </a:solidFill>
                <a:sym typeface="Huawei Sans" panose="020C0503030203020204" pitchFamily="34" charset="0"/>
              </a:rPr>
              <a:t>路由交互</a:t>
            </a:r>
            <a:endParaRPr lang="en-US" altLang="zh-CN" dirty="0" smtClean="0">
              <a:solidFill>
                <a:schemeClr val="bg1">
                  <a:lumMod val="50000"/>
                </a:schemeClr>
              </a:solidFill>
              <a:sym typeface="Huawei Sans" panose="020C0503030203020204" pitchFamily="34" charset="0"/>
            </a:endParaRPr>
          </a:p>
          <a:p>
            <a:r>
              <a:rPr lang="en-US" altLang="zh-CN" b="1" dirty="0" smtClean="0">
                <a:sym typeface="Huawei Sans" panose="020C0503030203020204" pitchFamily="34" charset="0"/>
              </a:rPr>
              <a:t>MPLS  VPN</a:t>
            </a:r>
            <a:r>
              <a:rPr lang="zh-CN" altLang="en-US" b="1" dirty="0" smtClean="0">
                <a:sym typeface="Huawei Sans" panose="020C0503030203020204" pitchFamily="34" charset="0"/>
              </a:rPr>
              <a:t>报文转发</a:t>
            </a:r>
            <a:endParaRPr lang="en-US" altLang="zh-CN" b="1" dirty="0" smtClean="0">
              <a:sym typeface="Huawei Sans" panose="020C0503030203020204" pitchFamily="34" charset="0"/>
            </a:endParaRPr>
          </a:p>
          <a:p>
            <a:r>
              <a:rPr lang="en-US" altLang="zh-CN" dirty="0" smtClean="0">
                <a:solidFill>
                  <a:schemeClr val="bg1">
                    <a:lumMod val="50000"/>
                  </a:schemeClr>
                </a:solidFill>
                <a:sym typeface="Huawei Sans" panose="020C0503030203020204" pitchFamily="34" charset="0"/>
              </a:rPr>
              <a:t>MPLS VPN</a:t>
            </a:r>
            <a:r>
              <a:rPr lang="zh-CN" altLang="en-US" dirty="0" smtClean="0">
                <a:solidFill>
                  <a:schemeClr val="bg1">
                    <a:lumMod val="50000"/>
                  </a:schemeClr>
                </a:solidFill>
                <a:sym typeface="Huawei Sans" panose="020C0503030203020204" pitchFamily="34" charset="0"/>
              </a:rPr>
              <a:t>配置与实现</a:t>
            </a:r>
            <a:endParaRPr lang="en-US" altLang="zh-CN" dirty="0" smtClean="0">
              <a:solidFill>
                <a:schemeClr val="bg1">
                  <a:lumMod val="50000"/>
                </a:schemeClr>
              </a:solidFill>
              <a:sym typeface="Huawei Sans" panose="020C0503030203020204" pitchFamily="34" charset="0"/>
            </a:endParaRPr>
          </a:p>
          <a:p>
            <a:endParaRPr lang="zh-CN" altLang="en-US" dirty="0">
              <a:sym typeface="Huawei Sans" panose="020C0503030203020204" pitchFamily="34" charset="0"/>
            </a:endParaRPr>
          </a:p>
        </p:txBody>
      </p:sp>
    </p:spTree>
    <p:extLst>
      <p:ext uri="{BB962C8B-B14F-4D97-AF65-F5344CB8AC3E}">
        <p14:creationId xmlns:p14="http://schemas.microsoft.com/office/powerpoint/2010/main" val="2938719830"/>
      </p:ext>
    </p:extLst>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bwMode="gray"/>
        <p:txBody>
          <a:bodyPr/>
          <a:lstStyle/>
          <a:p>
            <a:r>
              <a:rPr lang="zh-CN" altLang="en-US" smtClean="0"/>
              <a:t>报文转发过程 </a:t>
            </a:r>
            <a:r>
              <a:rPr lang="en-US" altLang="zh-CN" smtClean="0"/>
              <a:t>(1)</a:t>
            </a:r>
            <a:endParaRPr lang="zh-CN" altLang="en-US" dirty="0"/>
          </a:p>
        </p:txBody>
      </p:sp>
      <p:sp>
        <p:nvSpPr>
          <p:cNvPr id="50" name="文本占位符 4"/>
          <p:cNvSpPr>
            <a:spLocks noGrp="1"/>
          </p:cNvSpPr>
          <p:nvPr>
            <p:ph type="body" sz="quarter" idx="10"/>
          </p:nvPr>
        </p:nvSpPr>
        <p:spPr bwMode="gray"/>
        <p:txBody>
          <a:bodyPr/>
          <a:lstStyle/>
          <a:p>
            <a:r>
              <a:rPr lang="zh-CN" altLang="en-US" sz="1800" smtClean="0"/>
              <a:t>以图中用户</a:t>
            </a:r>
            <a:r>
              <a:rPr lang="en-US" altLang="zh-CN" sz="1800" smtClean="0"/>
              <a:t>X</a:t>
            </a:r>
            <a:r>
              <a:rPr lang="zh-CN" altLang="en-US" sz="1800" smtClean="0"/>
              <a:t>的站点</a:t>
            </a:r>
            <a:r>
              <a:rPr lang="en-US" altLang="zh-CN" sz="1800" smtClean="0"/>
              <a:t>B</a:t>
            </a:r>
            <a:r>
              <a:rPr lang="zh-CN" altLang="en-US" sz="1800" smtClean="0"/>
              <a:t>访问站点</a:t>
            </a:r>
            <a:r>
              <a:rPr lang="en-US" altLang="zh-CN" sz="1800" smtClean="0"/>
              <a:t>A</a:t>
            </a:r>
            <a:r>
              <a:rPr lang="zh-CN" altLang="en-US" sz="1800" smtClean="0"/>
              <a:t>的</a:t>
            </a:r>
            <a:r>
              <a:rPr lang="en-US" altLang="zh-CN" sz="1800" smtClean="0"/>
              <a:t>192.168.1.0/24</a:t>
            </a:r>
            <a:r>
              <a:rPr lang="zh-CN" altLang="en-US" sz="1800" smtClean="0"/>
              <a:t>网段为例，报文转发过程如下：</a:t>
            </a:r>
            <a:endParaRPr lang="zh-CN" altLang="en-US" sz="1800" dirty="0"/>
          </a:p>
        </p:txBody>
      </p:sp>
      <p:sp>
        <p:nvSpPr>
          <p:cNvPr id="6" name="圆角矩形 5"/>
          <p:cNvSpPr/>
          <p:nvPr/>
        </p:nvSpPr>
        <p:spPr bwMode="gray">
          <a:xfrm>
            <a:off x="4084513" y="4035478"/>
            <a:ext cx="4000659" cy="1825378"/>
          </a:xfrm>
          <a:prstGeom prst="roundRect">
            <a:avLst/>
          </a:prstGeom>
          <a:solidFill>
            <a:srgbClr val="BEE9EE"/>
          </a:solidFill>
          <a:ln w="28575" cap="flat" cmpd="sng" algn="ctr">
            <a:noFill/>
            <a:prstDash val="sys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文本框 6"/>
          <p:cNvSpPr txBox="1"/>
          <p:nvPr/>
        </p:nvSpPr>
        <p:spPr bwMode="gray">
          <a:xfrm>
            <a:off x="5289592" y="5566188"/>
            <a:ext cx="1590500" cy="307777"/>
          </a:xfrm>
          <a:prstGeom prst="rect">
            <a:avLst/>
          </a:prstGeom>
          <a:noFill/>
        </p:spPr>
        <p:txBody>
          <a:bodyPr wrap="none" rtlCol="0">
            <a:spAutoFit/>
          </a:bodyPr>
          <a:lstStyle/>
          <a:p>
            <a:pPr algn="ctr"/>
            <a:r>
              <a:rPr lang="en-US" altLang="zh-CN"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MPLS VPN</a:t>
            </a:r>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骨干网</a:t>
            </a:r>
            <a:endPar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8" name="组合 7"/>
          <p:cNvGrpSpPr/>
          <p:nvPr/>
        </p:nvGrpSpPr>
        <p:grpSpPr bwMode="gray">
          <a:xfrm>
            <a:off x="3827662" y="4586204"/>
            <a:ext cx="4513567" cy="723926"/>
            <a:chOff x="4088571" y="4424992"/>
            <a:chExt cx="4513567" cy="723926"/>
          </a:xfrm>
        </p:grpSpPr>
        <p:cxnSp>
          <p:nvCxnSpPr>
            <p:cNvPr id="9" name="直接连接符 8"/>
            <p:cNvCxnSpPr>
              <a:stCxn id="13" idx="3"/>
              <a:endCxn id="15" idx="1"/>
            </p:cNvCxnSpPr>
            <p:nvPr/>
          </p:nvCxnSpPr>
          <p:spPr bwMode="gray">
            <a:xfrm>
              <a:off x="4628571" y="4645901"/>
              <a:ext cx="343356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组合 9"/>
            <p:cNvGrpSpPr/>
            <p:nvPr/>
          </p:nvGrpSpPr>
          <p:grpSpPr bwMode="gray">
            <a:xfrm>
              <a:off x="6067674" y="4424992"/>
              <a:ext cx="540000" cy="723926"/>
              <a:chOff x="5312873" y="4947622"/>
              <a:chExt cx="540000" cy="723926"/>
            </a:xfrm>
          </p:grpSpPr>
          <p:pic>
            <p:nvPicPr>
              <p:cNvPr id="17" name="Picture 12" descr="E:\2016.01\1.12 扁平化图标\蓝色\AR-蓝色最新-40.png"/>
              <p:cNvPicPr>
                <a:picLocks noChangeAspect="1" noChangeArrowheads="1"/>
              </p:cNvPicPr>
              <p:nvPr/>
            </p:nvPicPr>
            <p:blipFill>
              <a:blip r:embed="rId3" cstate="print"/>
              <a:srcRect/>
              <a:stretch>
                <a:fillRect/>
              </a:stretch>
            </p:blipFill>
            <p:spPr bwMode="gray">
              <a:xfrm>
                <a:off x="5312873" y="4947622"/>
                <a:ext cx="540000" cy="441818"/>
              </a:xfrm>
              <a:prstGeom prst="rect">
                <a:avLst/>
              </a:prstGeom>
              <a:noFill/>
            </p:spPr>
          </p:pic>
          <p:sp>
            <p:nvSpPr>
              <p:cNvPr id="18" name="文本框 17"/>
              <p:cNvSpPr txBox="1"/>
              <p:nvPr/>
            </p:nvSpPr>
            <p:spPr bwMode="gray">
              <a:xfrm>
                <a:off x="5436839" y="5363771"/>
                <a:ext cx="292068"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1" name="组合 10"/>
            <p:cNvGrpSpPr/>
            <p:nvPr/>
          </p:nvGrpSpPr>
          <p:grpSpPr bwMode="gray">
            <a:xfrm>
              <a:off x="8062138" y="4424992"/>
              <a:ext cx="540000" cy="714804"/>
              <a:chOff x="8062138" y="4947622"/>
              <a:chExt cx="540000" cy="714804"/>
            </a:xfrm>
          </p:grpSpPr>
          <p:pic>
            <p:nvPicPr>
              <p:cNvPr id="15" name="Picture 12" descr="E:\2016.01\1.12 扁平化图标\蓝色\AR-蓝色最新-40.png"/>
              <p:cNvPicPr>
                <a:picLocks noChangeAspect="1" noChangeArrowheads="1"/>
              </p:cNvPicPr>
              <p:nvPr/>
            </p:nvPicPr>
            <p:blipFill>
              <a:blip r:embed="rId3" cstate="print"/>
              <a:srcRect/>
              <a:stretch>
                <a:fillRect/>
              </a:stretch>
            </p:blipFill>
            <p:spPr bwMode="gray">
              <a:xfrm>
                <a:off x="8062138" y="4947622"/>
                <a:ext cx="540000" cy="441818"/>
              </a:xfrm>
              <a:prstGeom prst="rect">
                <a:avLst/>
              </a:prstGeom>
              <a:noFill/>
            </p:spPr>
          </p:pic>
          <p:sp>
            <p:nvSpPr>
              <p:cNvPr id="16" name="文本框 15"/>
              <p:cNvSpPr txBox="1"/>
              <p:nvPr/>
            </p:nvSpPr>
            <p:spPr bwMode="gray">
              <a:xfrm>
                <a:off x="8084306" y="5354649"/>
                <a:ext cx="497252"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PE2</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2" name="组合 11"/>
            <p:cNvGrpSpPr/>
            <p:nvPr/>
          </p:nvGrpSpPr>
          <p:grpSpPr bwMode="gray">
            <a:xfrm>
              <a:off x="4088571" y="4424992"/>
              <a:ext cx="540000" cy="723926"/>
              <a:chOff x="4088571" y="4947622"/>
              <a:chExt cx="540000" cy="723926"/>
            </a:xfrm>
          </p:grpSpPr>
          <p:pic>
            <p:nvPicPr>
              <p:cNvPr id="13" name="Picture 12" descr="E:\2016.01\1.12 扁平化图标\蓝色\AR-蓝色最新-40.png"/>
              <p:cNvPicPr>
                <a:picLocks noChangeAspect="1" noChangeArrowheads="1"/>
              </p:cNvPicPr>
              <p:nvPr/>
            </p:nvPicPr>
            <p:blipFill>
              <a:blip r:embed="rId3" cstate="print"/>
              <a:srcRect/>
              <a:stretch>
                <a:fillRect/>
              </a:stretch>
            </p:blipFill>
            <p:spPr bwMode="gray">
              <a:xfrm>
                <a:off x="4088571" y="4947622"/>
                <a:ext cx="540000" cy="441818"/>
              </a:xfrm>
              <a:prstGeom prst="rect">
                <a:avLst/>
              </a:prstGeom>
              <a:noFill/>
            </p:spPr>
          </p:pic>
          <p:sp>
            <p:nvSpPr>
              <p:cNvPr id="14" name="文本框 13"/>
              <p:cNvSpPr txBox="1"/>
              <p:nvPr/>
            </p:nvSpPr>
            <p:spPr bwMode="gray">
              <a:xfrm>
                <a:off x="4109945" y="5363771"/>
                <a:ext cx="497252" cy="307777"/>
              </a:xfrm>
              <a:prstGeom prst="rect">
                <a:avLst/>
              </a:prstGeom>
              <a:noFill/>
            </p:spPr>
            <p:txBody>
              <a:bodyPr wrap="non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PE1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grpSp>
        <p:nvGrpSpPr>
          <p:cNvPr id="19" name="组合 18"/>
          <p:cNvGrpSpPr/>
          <p:nvPr/>
        </p:nvGrpSpPr>
        <p:grpSpPr bwMode="gray">
          <a:xfrm>
            <a:off x="2139633" y="4164120"/>
            <a:ext cx="550687" cy="712575"/>
            <a:chOff x="4073209" y="4947622"/>
            <a:chExt cx="550687" cy="712575"/>
          </a:xfrm>
        </p:grpSpPr>
        <p:pic>
          <p:nvPicPr>
            <p:cNvPr id="20" name="Picture 12" descr="E:\2016.01\1.12 扁平化图标\蓝色\AR-蓝色最新-40.png"/>
            <p:cNvPicPr>
              <a:picLocks noChangeAspect="1" noChangeArrowheads="1"/>
            </p:cNvPicPr>
            <p:nvPr/>
          </p:nvPicPr>
          <p:blipFill>
            <a:blip r:embed="rId3" cstate="print"/>
            <a:srcRect/>
            <a:stretch>
              <a:fillRect/>
            </a:stretch>
          </p:blipFill>
          <p:spPr bwMode="gray">
            <a:xfrm>
              <a:off x="4073209" y="4947622"/>
              <a:ext cx="540000" cy="441818"/>
            </a:xfrm>
            <a:prstGeom prst="rect">
              <a:avLst/>
            </a:prstGeom>
            <a:noFill/>
          </p:spPr>
        </p:pic>
        <p:sp>
          <p:nvSpPr>
            <p:cNvPr id="21" name="文本框 20"/>
            <p:cNvSpPr txBox="1"/>
            <p:nvPr/>
          </p:nvSpPr>
          <p:spPr bwMode="gray">
            <a:xfrm>
              <a:off x="4121835" y="5352420"/>
              <a:ext cx="50206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2" name="圆角矩形 21"/>
          <p:cNvSpPr/>
          <p:nvPr/>
        </p:nvSpPr>
        <p:spPr bwMode="gray">
          <a:xfrm>
            <a:off x="933264" y="3916546"/>
            <a:ext cx="1873049" cy="994971"/>
          </a:xfrm>
          <a:prstGeom prst="roundRect">
            <a:avLst/>
          </a:prstGeom>
          <a:noFill/>
          <a:ln w="25400">
            <a:solidFill>
              <a:srgbClr val="8BC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3" name="组合 22"/>
          <p:cNvGrpSpPr/>
          <p:nvPr/>
        </p:nvGrpSpPr>
        <p:grpSpPr bwMode="gray">
          <a:xfrm>
            <a:off x="2127809" y="5245500"/>
            <a:ext cx="575533" cy="706640"/>
            <a:chOff x="4073209" y="4947622"/>
            <a:chExt cx="575533" cy="706640"/>
          </a:xfrm>
        </p:grpSpPr>
        <p:pic>
          <p:nvPicPr>
            <p:cNvPr id="24" name="Picture 12" descr="E:\2016.01\1.12 扁平化图标\蓝色\AR-蓝色最新-40.png"/>
            <p:cNvPicPr>
              <a:picLocks noChangeAspect="1" noChangeArrowheads="1"/>
            </p:cNvPicPr>
            <p:nvPr/>
          </p:nvPicPr>
          <p:blipFill>
            <a:blip r:embed="rId3" cstate="print"/>
            <a:srcRect/>
            <a:stretch>
              <a:fillRect/>
            </a:stretch>
          </p:blipFill>
          <p:spPr bwMode="gray">
            <a:xfrm>
              <a:off x="4073209" y="4947622"/>
              <a:ext cx="540000" cy="441818"/>
            </a:xfrm>
            <a:prstGeom prst="rect">
              <a:avLst/>
            </a:prstGeom>
            <a:noFill/>
          </p:spPr>
        </p:pic>
        <p:sp>
          <p:nvSpPr>
            <p:cNvPr id="25" name="文本框 24"/>
            <p:cNvSpPr txBox="1"/>
            <p:nvPr/>
          </p:nvSpPr>
          <p:spPr bwMode="gray">
            <a:xfrm>
              <a:off x="4146681" y="5346485"/>
              <a:ext cx="50206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CE2</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6" name="圆角矩形 25"/>
          <p:cNvSpPr/>
          <p:nvPr/>
        </p:nvSpPr>
        <p:spPr bwMode="gray">
          <a:xfrm>
            <a:off x="933264" y="4997926"/>
            <a:ext cx="1873049" cy="994971"/>
          </a:xfrm>
          <a:prstGeom prst="roundRect">
            <a:avLst/>
          </a:prstGeom>
          <a:noFill/>
          <a:ln w="254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圆角矩形 26"/>
          <p:cNvSpPr/>
          <p:nvPr/>
        </p:nvSpPr>
        <p:spPr bwMode="gray">
          <a:xfrm flipH="1">
            <a:off x="9347215" y="3916546"/>
            <a:ext cx="1873049" cy="994971"/>
          </a:xfrm>
          <a:prstGeom prst="roundRect">
            <a:avLst/>
          </a:prstGeom>
          <a:noFill/>
          <a:ln w="25400">
            <a:solidFill>
              <a:srgbClr val="8BC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圆角矩形 27"/>
          <p:cNvSpPr/>
          <p:nvPr/>
        </p:nvSpPr>
        <p:spPr bwMode="gray">
          <a:xfrm flipH="1">
            <a:off x="9359039" y="4997926"/>
            <a:ext cx="1873049" cy="994971"/>
          </a:xfrm>
          <a:prstGeom prst="roundRect">
            <a:avLst/>
          </a:prstGeom>
          <a:noFill/>
          <a:ln w="254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9" name="直接连接符 28"/>
          <p:cNvCxnSpPr>
            <a:stCxn id="20" idx="3"/>
            <a:endCxn id="13" idx="1"/>
          </p:cNvCxnSpPr>
          <p:nvPr/>
        </p:nvCxnSpPr>
        <p:spPr bwMode="gray">
          <a:xfrm>
            <a:off x="2679633" y="4385029"/>
            <a:ext cx="1148029" cy="42208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a:stCxn id="24" idx="3"/>
            <a:endCxn id="13" idx="1"/>
          </p:cNvCxnSpPr>
          <p:nvPr/>
        </p:nvCxnSpPr>
        <p:spPr bwMode="gray">
          <a:xfrm flipV="1">
            <a:off x="2667809" y="4807113"/>
            <a:ext cx="1159853" cy="65929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a:stCxn id="15" idx="3"/>
          </p:cNvCxnSpPr>
          <p:nvPr/>
        </p:nvCxnSpPr>
        <p:spPr bwMode="gray">
          <a:xfrm flipV="1">
            <a:off x="8341229" y="4385029"/>
            <a:ext cx="1132666" cy="42208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a:stCxn id="15" idx="3"/>
          </p:cNvCxnSpPr>
          <p:nvPr/>
        </p:nvCxnSpPr>
        <p:spPr bwMode="gray">
          <a:xfrm>
            <a:off x="8341229" y="4807113"/>
            <a:ext cx="1144490" cy="65929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文本框 32"/>
          <p:cNvSpPr txBox="1"/>
          <p:nvPr/>
        </p:nvSpPr>
        <p:spPr bwMode="gray">
          <a:xfrm>
            <a:off x="862702" y="4035478"/>
            <a:ext cx="1215397"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192.168.1.0/24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文本框 34"/>
          <p:cNvSpPr txBox="1"/>
          <p:nvPr/>
        </p:nvSpPr>
        <p:spPr bwMode="gray">
          <a:xfrm>
            <a:off x="905464" y="4560051"/>
            <a:ext cx="1124026" cy="350160"/>
          </a:xfrm>
          <a:prstGeom prst="rect">
            <a:avLst/>
          </a:prstGeom>
          <a:noFill/>
        </p:spPr>
        <p:txBody>
          <a:bodyPr wrap="none" rtlCol="0">
            <a:spAutoFit/>
          </a:bodyPr>
          <a:lstStyle/>
          <a:p>
            <a:pPr>
              <a:lnSpc>
                <a:spcPct val="130000"/>
              </a:lnSpc>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X</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A</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文本框 35"/>
          <p:cNvSpPr txBox="1"/>
          <p:nvPr/>
        </p:nvSpPr>
        <p:spPr bwMode="gray">
          <a:xfrm>
            <a:off x="905464" y="5679584"/>
            <a:ext cx="1112805" cy="350160"/>
          </a:xfrm>
          <a:prstGeom prst="rect">
            <a:avLst/>
          </a:prstGeom>
          <a:noFill/>
        </p:spPr>
        <p:txBody>
          <a:bodyPr wrap="none" rtlCol="0">
            <a:spAutoFit/>
          </a:bodyPr>
          <a:lstStyle/>
          <a:p>
            <a:pPr>
              <a:lnSpc>
                <a:spcPct val="130000"/>
              </a:lnSpc>
            </a:pPr>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Y</a:t>
            </a:r>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C</a:t>
            </a:r>
            <a:endPar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文本框 36"/>
          <p:cNvSpPr txBox="1"/>
          <p:nvPr/>
        </p:nvSpPr>
        <p:spPr bwMode="gray">
          <a:xfrm>
            <a:off x="10100001" y="4539107"/>
            <a:ext cx="1114408" cy="350160"/>
          </a:xfrm>
          <a:prstGeom prst="rect">
            <a:avLst/>
          </a:prstGeom>
          <a:noFill/>
        </p:spPr>
        <p:txBody>
          <a:bodyPr wrap="none" rtlCol="0">
            <a:spAutoFit/>
          </a:bodyPr>
          <a:lstStyle/>
          <a:p>
            <a:pPr>
              <a:lnSpc>
                <a:spcPct val="130000"/>
              </a:lnSpc>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X</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文本框 37"/>
          <p:cNvSpPr txBox="1"/>
          <p:nvPr/>
        </p:nvSpPr>
        <p:spPr bwMode="gray">
          <a:xfrm>
            <a:off x="10100001" y="5658640"/>
            <a:ext cx="1133644" cy="350160"/>
          </a:xfrm>
          <a:prstGeom prst="rect">
            <a:avLst/>
          </a:prstGeom>
          <a:noFill/>
        </p:spPr>
        <p:txBody>
          <a:bodyPr wrap="none" rtlCol="0">
            <a:spAutoFit/>
          </a:bodyPr>
          <a:lstStyle/>
          <a:p>
            <a:pPr>
              <a:lnSpc>
                <a:spcPct val="130000"/>
              </a:lnSpc>
            </a:pPr>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Y</a:t>
            </a:r>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42" name="组合 41"/>
          <p:cNvGrpSpPr/>
          <p:nvPr/>
        </p:nvGrpSpPr>
        <p:grpSpPr bwMode="gray">
          <a:xfrm>
            <a:off x="9473895" y="4164120"/>
            <a:ext cx="540000" cy="723926"/>
            <a:chOff x="4073209" y="4947622"/>
            <a:chExt cx="540000" cy="723926"/>
          </a:xfrm>
        </p:grpSpPr>
        <p:pic>
          <p:nvPicPr>
            <p:cNvPr id="43" name="Picture 12" descr="E:\2016.01\1.12 扁平化图标\蓝色\AR-蓝色最新-40.png"/>
            <p:cNvPicPr>
              <a:picLocks noChangeAspect="1" noChangeArrowheads="1"/>
            </p:cNvPicPr>
            <p:nvPr/>
          </p:nvPicPr>
          <p:blipFill>
            <a:blip r:embed="rId3" cstate="print"/>
            <a:srcRect/>
            <a:stretch>
              <a:fillRect/>
            </a:stretch>
          </p:blipFill>
          <p:spPr bwMode="gray">
            <a:xfrm>
              <a:off x="4073209" y="4947622"/>
              <a:ext cx="540000" cy="441818"/>
            </a:xfrm>
            <a:prstGeom prst="rect">
              <a:avLst/>
            </a:prstGeom>
            <a:noFill/>
          </p:spPr>
        </p:pic>
        <p:sp>
          <p:nvSpPr>
            <p:cNvPr id="44" name="文本框 43"/>
            <p:cNvSpPr txBox="1"/>
            <p:nvPr/>
          </p:nvSpPr>
          <p:spPr bwMode="gray">
            <a:xfrm>
              <a:off x="4086262" y="5363771"/>
              <a:ext cx="50206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CE3</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45" name="组合 44"/>
          <p:cNvGrpSpPr/>
          <p:nvPr/>
        </p:nvGrpSpPr>
        <p:grpSpPr bwMode="gray">
          <a:xfrm>
            <a:off x="9485719" y="5245500"/>
            <a:ext cx="552270" cy="723926"/>
            <a:chOff x="4060939" y="4947622"/>
            <a:chExt cx="552270" cy="723926"/>
          </a:xfrm>
        </p:grpSpPr>
        <p:pic>
          <p:nvPicPr>
            <p:cNvPr id="46" name="Picture 12" descr="E:\2016.01\1.12 扁平化图标\蓝色\AR-蓝色最新-40.png"/>
            <p:cNvPicPr>
              <a:picLocks noChangeAspect="1" noChangeArrowheads="1"/>
            </p:cNvPicPr>
            <p:nvPr/>
          </p:nvPicPr>
          <p:blipFill>
            <a:blip r:embed="rId3" cstate="print"/>
            <a:srcRect/>
            <a:stretch>
              <a:fillRect/>
            </a:stretch>
          </p:blipFill>
          <p:spPr bwMode="gray">
            <a:xfrm>
              <a:off x="4073209" y="4947622"/>
              <a:ext cx="540000" cy="441818"/>
            </a:xfrm>
            <a:prstGeom prst="rect">
              <a:avLst/>
            </a:prstGeom>
            <a:noFill/>
          </p:spPr>
        </p:pic>
        <p:sp>
          <p:nvSpPr>
            <p:cNvPr id="47" name="文本框 46"/>
            <p:cNvSpPr txBox="1"/>
            <p:nvPr/>
          </p:nvSpPr>
          <p:spPr bwMode="gray">
            <a:xfrm>
              <a:off x="4060939" y="5363771"/>
              <a:ext cx="50206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CE4</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60" name="直接箭头连接符 59"/>
          <p:cNvCxnSpPr>
            <a:stCxn id="43" idx="0"/>
          </p:cNvCxnSpPr>
          <p:nvPr/>
        </p:nvCxnSpPr>
        <p:spPr bwMode="gray">
          <a:xfrm flipV="1">
            <a:off x="9743895" y="3578404"/>
            <a:ext cx="0" cy="585716"/>
          </a:xfrm>
          <a:prstGeom prst="straightConnector1">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49" name="圆角矩形 48"/>
          <p:cNvSpPr/>
          <p:nvPr/>
        </p:nvSpPr>
        <p:spPr bwMode="gray">
          <a:xfrm>
            <a:off x="8362877" y="2780521"/>
            <a:ext cx="2810223" cy="804163"/>
          </a:xfrm>
          <a:prstGeom prst="roundRect">
            <a:avLst>
              <a:gd name="adj" fmla="val 2303"/>
            </a:avLst>
          </a:prstGeom>
          <a:solidFill>
            <a:srgbClr val="FEEEC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fontAlgn="auto">
              <a:lnSpc>
                <a:spcPts val="2200"/>
              </a:lnSpc>
              <a:spcBef>
                <a:spcPts val="0"/>
              </a:spcBef>
              <a:spcAft>
                <a:spcPts val="0"/>
              </a:spcAft>
              <a:buFont typeface="+mj-lt"/>
              <a:buAutoNum type="arabicPeriod"/>
            </a:pPr>
            <a:r>
              <a:rPr lang="en-US" altLang="zh-CN"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CE3</a:t>
            </a: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上存在到</a:t>
            </a:r>
            <a:r>
              <a:rPr lang="en-US" altLang="zh-CN"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192.168.1.0/24</a:t>
            </a: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网段路由，发送一个普通</a:t>
            </a:r>
            <a:r>
              <a:rPr lang="en-US" altLang="zh-CN"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报文。</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矩形 32"/>
          <p:cNvSpPr>
            <a:spLocks/>
          </p:cNvSpPr>
          <p:nvPr/>
        </p:nvSpPr>
        <p:spPr bwMode="gray">
          <a:xfrm>
            <a:off x="8265285" y="4008096"/>
            <a:ext cx="999390" cy="289666"/>
          </a:xfrm>
          <a:prstGeom prst="rect">
            <a:avLst/>
          </a:prstGeom>
          <a:solidFill>
            <a:srgbClr val="FFF2CC"/>
          </a:solidFill>
          <a:ln w="12700" cap="flat" cmpd="sng" algn="ctr">
            <a:solidFill>
              <a:schemeClr val="tx1"/>
            </a:solidFill>
            <a:prstDash val="solid"/>
            <a:miter lim="800000"/>
          </a:ln>
          <a:effectLst/>
        </p:spPr>
        <p:txBody>
          <a:bodyPr rtlCol="0" anchor="ctr"/>
          <a:lstStyle/>
          <a:p>
            <a:pPr algn="ctr" defTabSz="914400"/>
            <a:r>
              <a:rPr lang="en-US" altLang="zh-CN" sz="1400" kern="0" dirty="0" smtClean="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kern="0" dirty="0" smtClean="0">
                <a:latin typeface="Huawei Sans" panose="020C0503030203020204" pitchFamily="34" charset="0"/>
                <a:ea typeface="方正兰亭黑简体" panose="02000000000000000000" pitchFamily="2" charset="-122"/>
                <a:sym typeface="Huawei Sans" panose="020C0503030203020204" pitchFamily="34" charset="0"/>
              </a:rPr>
              <a:t>报文</a:t>
            </a:r>
            <a:endParaRPr lang="zh-CN" altLang="en-US" sz="14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85436408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bwMode="gray"/>
        <p:txBody>
          <a:bodyPr/>
          <a:lstStyle/>
          <a:p>
            <a:r>
              <a:rPr lang="zh-CN" altLang="en-US" smtClean="0"/>
              <a:t>报文转发过程 </a:t>
            </a:r>
            <a:r>
              <a:rPr lang="en-US" altLang="zh-CN" smtClean="0"/>
              <a:t>(2)</a:t>
            </a:r>
            <a:endParaRPr lang="zh-CN" altLang="en-US" dirty="0"/>
          </a:p>
        </p:txBody>
      </p:sp>
      <p:sp>
        <p:nvSpPr>
          <p:cNvPr id="6" name="圆角矩形 5"/>
          <p:cNvSpPr/>
          <p:nvPr/>
        </p:nvSpPr>
        <p:spPr bwMode="gray">
          <a:xfrm>
            <a:off x="4084513" y="4035478"/>
            <a:ext cx="4000659" cy="1825378"/>
          </a:xfrm>
          <a:prstGeom prst="roundRect">
            <a:avLst/>
          </a:prstGeom>
          <a:solidFill>
            <a:srgbClr val="BEE9EE"/>
          </a:solidFill>
          <a:ln w="28575" cap="flat" cmpd="sng" algn="ctr">
            <a:noFill/>
            <a:prstDash val="sys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文本框 6"/>
          <p:cNvSpPr txBox="1"/>
          <p:nvPr/>
        </p:nvSpPr>
        <p:spPr bwMode="gray">
          <a:xfrm>
            <a:off x="5289592" y="5566188"/>
            <a:ext cx="1590500" cy="307777"/>
          </a:xfrm>
          <a:prstGeom prst="rect">
            <a:avLst/>
          </a:prstGeom>
          <a:noFill/>
        </p:spPr>
        <p:txBody>
          <a:bodyPr wrap="none" rtlCol="0">
            <a:spAutoFit/>
          </a:bodyPr>
          <a:lstStyle/>
          <a:p>
            <a:r>
              <a:rPr lang="en-US" altLang="zh-CN"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MPLS VPN</a:t>
            </a:r>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骨干网</a:t>
            </a:r>
            <a:endPar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8" name="组合 7"/>
          <p:cNvGrpSpPr/>
          <p:nvPr/>
        </p:nvGrpSpPr>
        <p:grpSpPr bwMode="gray">
          <a:xfrm>
            <a:off x="3827662" y="4586204"/>
            <a:ext cx="4513567" cy="723926"/>
            <a:chOff x="4088571" y="4424992"/>
            <a:chExt cx="4513567" cy="723926"/>
          </a:xfrm>
        </p:grpSpPr>
        <p:cxnSp>
          <p:nvCxnSpPr>
            <p:cNvPr id="9" name="直接连接符 8"/>
            <p:cNvCxnSpPr>
              <a:stCxn id="13" idx="3"/>
              <a:endCxn id="15" idx="1"/>
            </p:cNvCxnSpPr>
            <p:nvPr/>
          </p:nvCxnSpPr>
          <p:spPr bwMode="gray">
            <a:xfrm>
              <a:off x="4628571" y="4645901"/>
              <a:ext cx="343356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组合 9"/>
            <p:cNvGrpSpPr/>
            <p:nvPr/>
          </p:nvGrpSpPr>
          <p:grpSpPr bwMode="gray">
            <a:xfrm>
              <a:off x="6067674" y="4424992"/>
              <a:ext cx="540000" cy="723926"/>
              <a:chOff x="5312873" y="4947622"/>
              <a:chExt cx="540000" cy="723926"/>
            </a:xfrm>
          </p:grpSpPr>
          <p:pic>
            <p:nvPicPr>
              <p:cNvPr id="17" name="Picture 12" descr="E:\2016.01\1.12 扁平化图标\蓝色\AR-蓝色最新-40.png"/>
              <p:cNvPicPr>
                <a:picLocks noChangeAspect="1" noChangeArrowheads="1"/>
              </p:cNvPicPr>
              <p:nvPr/>
            </p:nvPicPr>
            <p:blipFill>
              <a:blip r:embed="rId3" cstate="print"/>
              <a:srcRect/>
              <a:stretch>
                <a:fillRect/>
              </a:stretch>
            </p:blipFill>
            <p:spPr bwMode="gray">
              <a:xfrm>
                <a:off x="5312873" y="4947622"/>
                <a:ext cx="540000" cy="441818"/>
              </a:xfrm>
              <a:prstGeom prst="rect">
                <a:avLst/>
              </a:prstGeom>
              <a:noFill/>
            </p:spPr>
          </p:pic>
          <p:sp>
            <p:nvSpPr>
              <p:cNvPr id="18" name="文本框 17"/>
              <p:cNvSpPr txBox="1"/>
              <p:nvPr/>
            </p:nvSpPr>
            <p:spPr bwMode="gray">
              <a:xfrm>
                <a:off x="5436839" y="5363771"/>
                <a:ext cx="292068"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1" name="组合 10"/>
            <p:cNvGrpSpPr/>
            <p:nvPr/>
          </p:nvGrpSpPr>
          <p:grpSpPr bwMode="gray">
            <a:xfrm>
              <a:off x="8062138" y="4424992"/>
              <a:ext cx="540000" cy="714804"/>
              <a:chOff x="8062138" y="4947622"/>
              <a:chExt cx="540000" cy="714804"/>
            </a:xfrm>
          </p:grpSpPr>
          <p:pic>
            <p:nvPicPr>
              <p:cNvPr id="15" name="Picture 12" descr="E:\2016.01\1.12 扁平化图标\蓝色\AR-蓝色最新-40.png"/>
              <p:cNvPicPr>
                <a:picLocks noChangeAspect="1" noChangeArrowheads="1"/>
              </p:cNvPicPr>
              <p:nvPr/>
            </p:nvPicPr>
            <p:blipFill>
              <a:blip r:embed="rId3" cstate="print"/>
              <a:srcRect/>
              <a:stretch>
                <a:fillRect/>
              </a:stretch>
            </p:blipFill>
            <p:spPr bwMode="gray">
              <a:xfrm>
                <a:off x="8062138" y="4947622"/>
                <a:ext cx="540000" cy="441818"/>
              </a:xfrm>
              <a:prstGeom prst="rect">
                <a:avLst/>
              </a:prstGeom>
              <a:noFill/>
            </p:spPr>
          </p:pic>
          <p:sp>
            <p:nvSpPr>
              <p:cNvPr id="16" name="文本框 15"/>
              <p:cNvSpPr txBox="1"/>
              <p:nvPr/>
            </p:nvSpPr>
            <p:spPr bwMode="gray">
              <a:xfrm>
                <a:off x="8084306" y="5354649"/>
                <a:ext cx="497252"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PE2</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2" name="组合 11"/>
            <p:cNvGrpSpPr/>
            <p:nvPr/>
          </p:nvGrpSpPr>
          <p:grpSpPr bwMode="gray">
            <a:xfrm>
              <a:off x="4088571" y="4424992"/>
              <a:ext cx="540000" cy="723926"/>
              <a:chOff x="4088571" y="4947622"/>
              <a:chExt cx="540000" cy="723926"/>
            </a:xfrm>
          </p:grpSpPr>
          <p:pic>
            <p:nvPicPr>
              <p:cNvPr id="13" name="Picture 12" descr="E:\2016.01\1.12 扁平化图标\蓝色\AR-蓝色最新-40.png"/>
              <p:cNvPicPr>
                <a:picLocks noChangeAspect="1" noChangeArrowheads="1"/>
              </p:cNvPicPr>
              <p:nvPr/>
            </p:nvPicPr>
            <p:blipFill>
              <a:blip r:embed="rId3" cstate="print"/>
              <a:srcRect/>
              <a:stretch>
                <a:fillRect/>
              </a:stretch>
            </p:blipFill>
            <p:spPr bwMode="gray">
              <a:xfrm>
                <a:off x="4088571" y="4947622"/>
                <a:ext cx="540000" cy="441818"/>
              </a:xfrm>
              <a:prstGeom prst="rect">
                <a:avLst/>
              </a:prstGeom>
              <a:noFill/>
            </p:spPr>
          </p:pic>
          <p:sp>
            <p:nvSpPr>
              <p:cNvPr id="14" name="文本框 13"/>
              <p:cNvSpPr txBox="1"/>
              <p:nvPr/>
            </p:nvSpPr>
            <p:spPr bwMode="gray">
              <a:xfrm>
                <a:off x="4109945" y="5363771"/>
                <a:ext cx="497252" cy="307777"/>
              </a:xfrm>
              <a:prstGeom prst="rect">
                <a:avLst/>
              </a:prstGeom>
              <a:noFill/>
            </p:spPr>
            <p:txBody>
              <a:bodyPr wrap="non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PE1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grpSp>
        <p:nvGrpSpPr>
          <p:cNvPr id="19" name="组合 18"/>
          <p:cNvGrpSpPr/>
          <p:nvPr/>
        </p:nvGrpSpPr>
        <p:grpSpPr bwMode="gray">
          <a:xfrm>
            <a:off x="2139633" y="4164120"/>
            <a:ext cx="550687" cy="712575"/>
            <a:chOff x="4073209" y="4947622"/>
            <a:chExt cx="550687" cy="712575"/>
          </a:xfrm>
        </p:grpSpPr>
        <p:pic>
          <p:nvPicPr>
            <p:cNvPr id="20" name="Picture 12" descr="E:\2016.01\1.12 扁平化图标\蓝色\AR-蓝色最新-40.png"/>
            <p:cNvPicPr>
              <a:picLocks noChangeAspect="1" noChangeArrowheads="1"/>
            </p:cNvPicPr>
            <p:nvPr/>
          </p:nvPicPr>
          <p:blipFill>
            <a:blip r:embed="rId3" cstate="print"/>
            <a:srcRect/>
            <a:stretch>
              <a:fillRect/>
            </a:stretch>
          </p:blipFill>
          <p:spPr bwMode="gray">
            <a:xfrm>
              <a:off x="4073209" y="4947622"/>
              <a:ext cx="540000" cy="441818"/>
            </a:xfrm>
            <a:prstGeom prst="rect">
              <a:avLst/>
            </a:prstGeom>
            <a:noFill/>
          </p:spPr>
        </p:pic>
        <p:sp>
          <p:nvSpPr>
            <p:cNvPr id="21" name="文本框 20"/>
            <p:cNvSpPr txBox="1"/>
            <p:nvPr/>
          </p:nvSpPr>
          <p:spPr bwMode="gray">
            <a:xfrm>
              <a:off x="4121835" y="5352420"/>
              <a:ext cx="50206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2" name="圆角矩形 21"/>
          <p:cNvSpPr/>
          <p:nvPr/>
        </p:nvSpPr>
        <p:spPr bwMode="gray">
          <a:xfrm>
            <a:off x="933264" y="3916546"/>
            <a:ext cx="1873049" cy="994971"/>
          </a:xfrm>
          <a:prstGeom prst="roundRect">
            <a:avLst/>
          </a:prstGeom>
          <a:noFill/>
          <a:ln w="25400">
            <a:solidFill>
              <a:srgbClr val="8BC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3" name="组合 22"/>
          <p:cNvGrpSpPr/>
          <p:nvPr/>
        </p:nvGrpSpPr>
        <p:grpSpPr bwMode="gray">
          <a:xfrm>
            <a:off x="2127809" y="5245500"/>
            <a:ext cx="575533" cy="706640"/>
            <a:chOff x="4073209" y="4947622"/>
            <a:chExt cx="575533" cy="706640"/>
          </a:xfrm>
        </p:grpSpPr>
        <p:pic>
          <p:nvPicPr>
            <p:cNvPr id="24" name="Picture 12" descr="E:\2016.01\1.12 扁平化图标\蓝色\AR-蓝色最新-40.png"/>
            <p:cNvPicPr>
              <a:picLocks noChangeAspect="1" noChangeArrowheads="1"/>
            </p:cNvPicPr>
            <p:nvPr/>
          </p:nvPicPr>
          <p:blipFill>
            <a:blip r:embed="rId3" cstate="print"/>
            <a:srcRect/>
            <a:stretch>
              <a:fillRect/>
            </a:stretch>
          </p:blipFill>
          <p:spPr bwMode="gray">
            <a:xfrm>
              <a:off x="4073209" y="4947622"/>
              <a:ext cx="540000" cy="441818"/>
            </a:xfrm>
            <a:prstGeom prst="rect">
              <a:avLst/>
            </a:prstGeom>
            <a:noFill/>
          </p:spPr>
        </p:pic>
        <p:sp>
          <p:nvSpPr>
            <p:cNvPr id="25" name="文本框 24"/>
            <p:cNvSpPr txBox="1"/>
            <p:nvPr/>
          </p:nvSpPr>
          <p:spPr bwMode="gray">
            <a:xfrm>
              <a:off x="4146681" y="5346485"/>
              <a:ext cx="50206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CE2</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6" name="圆角矩形 25"/>
          <p:cNvSpPr/>
          <p:nvPr/>
        </p:nvSpPr>
        <p:spPr bwMode="gray">
          <a:xfrm>
            <a:off x="933264" y="4997926"/>
            <a:ext cx="1873049" cy="994971"/>
          </a:xfrm>
          <a:prstGeom prst="roundRect">
            <a:avLst/>
          </a:prstGeom>
          <a:noFill/>
          <a:ln w="254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圆角矩形 26"/>
          <p:cNvSpPr/>
          <p:nvPr/>
        </p:nvSpPr>
        <p:spPr bwMode="gray">
          <a:xfrm flipH="1">
            <a:off x="9347215" y="3916546"/>
            <a:ext cx="1873049" cy="994971"/>
          </a:xfrm>
          <a:prstGeom prst="roundRect">
            <a:avLst/>
          </a:prstGeom>
          <a:noFill/>
          <a:ln w="25400">
            <a:solidFill>
              <a:srgbClr val="8BC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圆角矩形 27"/>
          <p:cNvSpPr/>
          <p:nvPr/>
        </p:nvSpPr>
        <p:spPr bwMode="gray">
          <a:xfrm flipH="1">
            <a:off x="9359039" y="4997926"/>
            <a:ext cx="1873049" cy="994971"/>
          </a:xfrm>
          <a:prstGeom prst="roundRect">
            <a:avLst/>
          </a:prstGeom>
          <a:noFill/>
          <a:ln w="254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9" name="直接连接符 28"/>
          <p:cNvCxnSpPr>
            <a:stCxn id="20" idx="3"/>
            <a:endCxn id="13" idx="1"/>
          </p:cNvCxnSpPr>
          <p:nvPr/>
        </p:nvCxnSpPr>
        <p:spPr bwMode="gray">
          <a:xfrm>
            <a:off x="2679633" y="4385029"/>
            <a:ext cx="1148029" cy="42208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a:stCxn id="24" idx="3"/>
            <a:endCxn id="13" idx="1"/>
          </p:cNvCxnSpPr>
          <p:nvPr/>
        </p:nvCxnSpPr>
        <p:spPr bwMode="gray">
          <a:xfrm flipV="1">
            <a:off x="2667809" y="4807113"/>
            <a:ext cx="1159853" cy="65929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a:stCxn id="15" idx="3"/>
          </p:cNvCxnSpPr>
          <p:nvPr/>
        </p:nvCxnSpPr>
        <p:spPr bwMode="gray">
          <a:xfrm flipV="1">
            <a:off x="8341229" y="4385029"/>
            <a:ext cx="1132666" cy="42208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a:stCxn id="15" idx="3"/>
          </p:cNvCxnSpPr>
          <p:nvPr/>
        </p:nvCxnSpPr>
        <p:spPr bwMode="gray">
          <a:xfrm>
            <a:off x="8341229" y="4807113"/>
            <a:ext cx="1144490" cy="65929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文本框 32"/>
          <p:cNvSpPr txBox="1"/>
          <p:nvPr/>
        </p:nvSpPr>
        <p:spPr bwMode="gray">
          <a:xfrm>
            <a:off x="862702" y="4035478"/>
            <a:ext cx="1215397"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192.168.1.0/24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文本框 34"/>
          <p:cNvSpPr txBox="1"/>
          <p:nvPr/>
        </p:nvSpPr>
        <p:spPr bwMode="gray">
          <a:xfrm>
            <a:off x="905464" y="4560051"/>
            <a:ext cx="1124026" cy="350160"/>
          </a:xfrm>
          <a:prstGeom prst="rect">
            <a:avLst/>
          </a:prstGeom>
          <a:noFill/>
        </p:spPr>
        <p:txBody>
          <a:bodyPr wrap="none" rtlCol="0">
            <a:spAutoFit/>
          </a:bodyPr>
          <a:lstStyle/>
          <a:p>
            <a:pPr>
              <a:lnSpc>
                <a:spcPct val="130000"/>
              </a:lnSpc>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X</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A</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文本框 35"/>
          <p:cNvSpPr txBox="1"/>
          <p:nvPr/>
        </p:nvSpPr>
        <p:spPr bwMode="gray">
          <a:xfrm>
            <a:off x="905464" y="5679584"/>
            <a:ext cx="1112805" cy="350160"/>
          </a:xfrm>
          <a:prstGeom prst="rect">
            <a:avLst/>
          </a:prstGeom>
          <a:noFill/>
        </p:spPr>
        <p:txBody>
          <a:bodyPr wrap="none" rtlCol="0">
            <a:spAutoFit/>
          </a:bodyPr>
          <a:lstStyle/>
          <a:p>
            <a:pPr>
              <a:lnSpc>
                <a:spcPct val="130000"/>
              </a:lnSpc>
            </a:pPr>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Y</a:t>
            </a:r>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C</a:t>
            </a:r>
            <a:endPar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文本框 36"/>
          <p:cNvSpPr txBox="1"/>
          <p:nvPr/>
        </p:nvSpPr>
        <p:spPr bwMode="gray">
          <a:xfrm>
            <a:off x="10100001" y="4539107"/>
            <a:ext cx="1114408" cy="350160"/>
          </a:xfrm>
          <a:prstGeom prst="rect">
            <a:avLst/>
          </a:prstGeom>
          <a:noFill/>
        </p:spPr>
        <p:txBody>
          <a:bodyPr wrap="none" rtlCol="0">
            <a:spAutoFit/>
          </a:bodyPr>
          <a:lstStyle/>
          <a:p>
            <a:pPr>
              <a:lnSpc>
                <a:spcPct val="130000"/>
              </a:lnSpc>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X</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文本框 37"/>
          <p:cNvSpPr txBox="1"/>
          <p:nvPr/>
        </p:nvSpPr>
        <p:spPr bwMode="gray">
          <a:xfrm>
            <a:off x="10100001" y="5658640"/>
            <a:ext cx="1133644" cy="350160"/>
          </a:xfrm>
          <a:prstGeom prst="rect">
            <a:avLst/>
          </a:prstGeom>
          <a:noFill/>
        </p:spPr>
        <p:txBody>
          <a:bodyPr wrap="none" rtlCol="0">
            <a:spAutoFit/>
          </a:bodyPr>
          <a:lstStyle/>
          <a:p>
            <a:pPr>
              <a:lnSpc>
                <a:spcPct val="130000"/>
              </a:lnSpc>
            </a:pPr>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Y</a:t>
            </a:r>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42" name="组合 41"/>
          <p:cNvGrpSpPr/>
          <p:nvPr/>
        </p:nvGrpSpPr>
        <p:grpSpPr bwMode="gray">
          <a:xfrm>
            <a:off x="9473895" y="4164120"/>
            <a:ext cx="540000" cy="723926"/>
            <a:chOff x="4073209" y="4947622"/>
            <a:chExt cx="540000" cy="723926"/>
          </a:xfrm>
        </p:grpSpPr>
        <p:pic>
          <p:nvPicPr>
            <p:cNvPr id="43" name="Picture 12" descr="E:\2016.01\1.12 扁平化图标\蓝色\AR-蓝色最新-40.png"/>
            <p:cNvPicPr>
              <a:picLocks noChangeAspect="1" noChangeArrowheads="1"/>
            </p:cNvPicPr>
            <p:nvPr/>
          </p:nvPicPr>
          <p:blipFill>
            <a:blip r:embed="rId3" cstate="print"/>
            <a:srcRect/>
            <a:stretch>
              <a:fillRect/>
            </a:stretch>
          </p:blipFill>
          <p:spPr bwMode="gray">
            <a:xfrm>
              <a:off x="4073209" y="4947622"/>
              <a:ext cx="540000" cy="441818"/>
            </a:xfrm>
            <a:prstGeom prst="rect">
              <a:avLst/>
            </a:prstGeom>
            <a:noFill/>
          </p:spPr>
        </p:pic>
        <p:sp>
          <p:nvSpPr>
            <p:cNvPr id="44" name="文本框 43"/>
            <p:cNvSpPr txBox="1"/>
            <p:nvPr/>
          </p:nvSpPr>
          <p:spPr bwMode="gray">
            <a:xfrm>
              <a:off x="4086262" y="5363771"/>
              <a:ext cx="50206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CE3</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45" name="组合 44"/>
          <p:cNvGrpSpPr/>
          <p:nvPr/>
        </p:nvGrpSpPr>
        <p:grpSpPr bwMode="gray">
          <a:xfrm>
            <a:off x="9485719" y="5245500"/>
            <a:ext cx="552270" cy="723926"/>
            <a:chOff x="4060939" y="4947622"/>
            <a:chExt cx="552270" cy="723926"/>
          </a:xfrm>
        </p:grpSpPr>
        <p:pic>
          <p:nvPicPr>
            <p:cNvPr id="46" name="Picture 12" descr="E:\2016.01\1.12 扁平化图标\蓝色\AR-蓝色最新-40.png"/>
            <p:cNvPicPr>
              <a:picLocks noChangeAspect="1" noChangeArrowheads="1"/>
            </p:cNvPicPr>
            <p:nvPr/>
          </p:nvPicPr>
          <p:blipFill>
            <a:blip r:embed="rId3" cstate="print"/>
            <a:srcRect/>
            <a:stretch>
              <a:fillRect/>
            </a:stretch>
          </p:blipFill>
          <p:spPr bwMode="gray">
            <a:xfrm>
              <a:off x="4073209" y="4947622"/>
              <a:ext cx="540000" cy="441818"/>
            </a:xfrm>
            <a:prstGeom prst="rect">
              <a:avLst/>
            </a:prstGeom>
            <a:noFill/>
          </p:spPr>
        </p:pic>
        <p:sp>
          <p:nvSpPr>
            <p:cNvPr id="47" name="文本框 46"/>
            <p:cNvSpPr txBox="1"/>
            <p:nvPr/>
          </p:nvSpPr>
          <p:spPr bwMode="gray">
            <a:xfrm>
              <a:off x="4060939" y="5363771"/>
              <a:ext cx="50206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CE4</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60" name="直接箭头连接符 59"/>
          <p:cNvCxnSpPr>
            <a:stCxn id="15" idx="0"/>
            <a:endCxn id="49" idx="2"/>
          </p:cNvCxnSpPr>
          <p:nvPr/>
        </p:nvCxnSpPr>
        <p:spPr bwMode="gray">
          <a:xfrm flipV="1">
            <a:off x="8071229" y="3817979"/>
            <a:ext cx="0" cy="768225"/>
          </a:xfrm>
          <a:prstGeom prst="straightConnector1">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49" name="圆角矩形 48"/>
          <p:cNvSpPr/>
          <p:nvPr/>
        </p:nvSpPr>
        <p:spPr bwMode="gray">
          <a:xfrm>
            <a:off x="4941992" y="2535919"/>
            <a:ext cx="6258474" cy="1282060"/>
          </a:xfrm>
          <a:prstGeom prst="roundRect">
            <a:avLst>
              <a:gd name="adj" fmla="val 2303"/>
            </a:avLst>
          </a:prstGeom>
          <a:solidFill>
            <a:srgbClr val="FEEEC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fontAlgn="auto">
              <a:lnSpc>
                <a:spcPts val="2200"/>
              </a:lnSpc>
              <a:spcBef>
                <a:spcPts val="0"/>
              </a:spcBef>
              <a:spcAft>
                <a:spcPts val="0"/>
              </a:spcAft>
              <a:buFont typeface="+mj-lt"/>
              <a:buAutoNum type="arabicPeriod" startAt="2"/>
            </a:pPr>
            <a:r>
              <a:rPr lang="en-US" altLang="zh-CN"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PE2</a:t>
            </a: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根据报文入接口找到</a:t>
            </a:r>
            <a:r>
              <a:rPr lang="en-US" altLang="zh-CN"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实例，查找</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对应</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的转发表。</a:t>
            </a:r>
          </a:p>
          <a:p>
            <a:pPr marL="342900" indent="-342900" fontAlgn="auto">
              <a:lnSpc>
                <a:spcPts val="2200"/>
              </a:lnSpc>
              <a:spcBef>
                <a:spcPts val="0"/>
              </a:spcBef>
              <a:spcAft>
                <a:spcPts val="0"/>
              </a:spcAft>
              <a:buFont typeface="+mj-lt"/>
              <a:buAutoNum type="arabicPeriod" startAt="2"/>
            </a:pP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匹配</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目的</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IPv4</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前缀，并打上对应的内层标签（</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I-L</a:t>
            </a: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342900" indent="-342900" fontAlgn="auto">
              <a:lnSpc>
                <a:spcPts val="2200"/>
              </a:lnSpc>
              <a:spcBef>
                <a:spcPts val="0"/>
              </a:spcBef>
              <a:spcAft>
                <a:spcPts val="0"/>
              </a:spcAft>
              <a:buFont typeface="+mj-lt"/>
              <a:buAutoNum type="arabicPeriod" startAt="2"/>
            </a:pP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根据下一跳地址，查找</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对应的</a:t>
            </a:r>
            <a:r>
              <a:rPr lang="en-US" altLang="zh-CN"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Tunnel-ID</a:t>
            </a: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342900" indent="-342900" fontAlgn="auto">
              <a:lnSpc>
                <a:spcPts val="2200"/>
              </a:lnSpc>
              <a:spcBef>
                <a:spcPts val="0"/>
              </a:spcBef>
              <a:spcAft>
                <a:spcPts val="0"/>
              </a:spcAft>
              <a:buFont typeface="+mj-lt"/>
              <a:buAutoNum type="arabicPeriod" startAt="2"/>
            </a:pP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将</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报文从隧道发送</a:t>
            </a: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出去，即打上</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公网（外层）</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MPLS</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标签头（</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O-L1</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55" name="矩形 32"/>
          <p:cNvSpPr>
            <a:spLocks/>
          </p:cNvSpPr>
          <p:nvPr/>
        </p:nvSpPr>
        <p:spPr bwMode="gray">
          <a:xfrm>
            <a:off x="6954101" y="4039361"/>
            <a:ext cx="999390" cy="289666"/>
          </a:xfrm>
          <a:prstGeom prst="rect">
            <a:avLst/>
          </a:prstGeom>
          <a:solidFill>
            <a:srgbClr val="FFF2CC"/>
          </a:solidFill>
          <a:ln w="12700" cap="flat" cmpd="sng" algn="ctr">
            <a:solidFill>
              <a:schemeClr val="tx1"/>
            </a:solidFill>
            <a:prstDash val="solid"/>
            <a:miter lim="800000"/>
          </a:ln>
          <a:effectLst/>
        </p:spPr>
        <p:txBody>
          <a:bodyPr rtlCol="0" anchor="ctr"/>
          <a:lstStyle/>
          <a:p>
            <a:pPr algn="ctr" defTabSz="914400"/>
            <a:r>
              <a:rPr lang="en-US" altLang="zh-CN" sz="1400" kern="0" dirty="0" smtClean="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kern="0" dirty="0" smtClean="0">
                <a:latin typeface="Huawei Sans" panose="020C0503030203020204" pitchFamily="34" charset="0"/>
                <a:ea typeface="方正兰亭黑简体" panose="02000000000000000000" pitchFamily="2" charset="-122"/>
                <a:sym typeface="Huawei Sans" panose="020C0503030203020204" pitchFamily="34" charset="0"/>
              </a:rPr>
              <a:t>报文</a:t>
            </a:r>
            <a:endParaRPr lang="zh-CN" altLang="en-US" sz="14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矩形 33"/>
          <p:cNvSpPr/>
          <p:nvPr/>
        </p:nvSpPr>
        <p:spPr bwMode="gray">
          <a:xfrm>
            <a:off x="6333903" y="4039361"/>
            <a:ext cx="620198" cy="289666"/>
          </a:xfrm>
          <a:prstGeom prst="rect">
            <a:avLst/>
          </a:prstGeom>
          <a:solidFill>
            <a:srgbClr val="8BC9A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I-L</a:t>
            </a:r>
          </a:p>
        </p:txBody>
      </p:sp>
      <p:sp>
        <p:nvSpPr>
          <p:cNvPr id="61" name="矩形 33"/>
          <p:cNvSpPr/>
          <p:nvPr/>
        </p:nvSpPr>
        <p:spPr bwMode="gray">
          <a:xfrm>
            <a:off x="5726567" y="4039361"/>
            <a:ext cx="620198" cy="289666"/>
          </a:xfrm>
          <a:prstGeom prst="rect">
            <a:avLst/>
          </a:prstGeom>
          <a:solidFill>
            <a:srgbClr val="EC706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O-L1</a:t>
            </a:r>
          </a:p>
        </p:txBody>
      </p:sp>
    </p:spTree>
    <p:extLst>
      <p:ext uri="{BB962C8B-B14F-4D97-AF65-F5344CB8AC3E}">
        <p14:creationId xmlns:p14="http://schemas.microsoft.com/office/powerpoint/2010/main" val="153270170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bwMode="gray"/>
        <p:txBody>
          <a:bodyPr/>
          <a:lstStyle/>
          <a:p>
            <a:r>
              <a:rPr lang="zh-CN" altLang="en-US" smtClean="0"/>
              <a:t>报文转发过程 </a:t>
            </a:r>
            <a:r>
              <a:rPr lang="en-US" altLang="zh-CN" smtClean="0"/>
              <a:t>(3)</a:t>
            </a:r>
            <a:endParaRPr lang="zh-CN" altLang="en-US" dirty="0"/>
          </a:p>
        </p:txBody>
      </p:sp>
      <p:sp>
        <p:nvSpPr>
          <p:cNvPr id="6" name="圆角矩形 5"/>
          <p:cNvSpPr/>
          <p:nvPr/>
        </p:nvSpPr>
        <p:spPr bwMode="gray">
          <a:xfrm>
            <a:off x="4084513" y="4035478"/>
            <a:ext cx="4000659" cy="1825378"/>
          </a:xfrm>
          <a:prstGeom prst="roundRect">
            <a:avLst/>
          </a:prstGeom>
          <a:solidFill>
            <a:srgbClr val="BEE9EE"/>
          </a:solidFill>
          <a:ln w="28575" cap="flat" cmpd="sng" algn="ctr">
            <a:noFill/>
            <a:prstDash val="sys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文本框 6"/>
          <p:cNvSpPr txBox="1"/>
          <p:nvPr/>
        </p:nvSpPr>
        <p:spPr bwMode="gray">
          <a:xfrm>
            <a:off x="5289592" y="5566188"/>
            <a:ext cx="1590500" cy="307777"/>
          </a:xfrm>
          <a:prstGeom prst="rect">
            <a:avLst/>
          </a:prstGeom>
          <a:noFill/>
        </p:spPr>
        <p:txBody>
          <a:bodyPr wrap="none" rtlCol="0">
            <a:spAutoFit/>
          </a:bodyPr>
          <a:lstStyle/>
          <a:p>
            <a:pPr algn="ctr"/>
            <a:r>
              <a:rPr lang="en-US" altLang="zh-CN"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MPLS VPN</a:t>
            </a:r>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骨干网</a:t>
            </a:r>
            <a:endPar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8" name="组合 7"/>
          <p:cNvGrpSpPr/>
          <p:nvPr/>
        </p:nvGrpSpPr>
        <p:grpSpPr bwMode="gray">
          <a:xfrm>
            <a:off x="3827662" y="4586204"/>
            <a:ext cx="4513567" cy="723926"/>
            <a:chOff x="4088571" y="4424992"/>
            <a:chExt cx="4513567" cy="723926"/>
          </a:xfrm>
        </p:grpSpPr>
        <p:cxnSp>
          <p:nvCxnSpPr>
            <p:cNvPr id="9" name="直接连接符 8"/>
            <p:cNvCxnSpPr>
              <a:stCxn id="13" idx="3"/>
              <a:endCxn id="15" idx="1"/>
            </p:cNvCxnSpPr>
            <p:nvPr/>
          </p:nvCxnSpPr>
          <p:spPr bwMode="gray">
            <a:xfrm>
              <a:off x="4628571" y="4645901"/>
              <a:ext cx="343356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组合 9"/>
            <p:cNvGrpSpPr/>
            <p:nvPr/>
          </p:nvGrpSpPr>
          <p:grpSpPr bwMode="gray">
            <a:xfrm>
              <a:off x="6067674" y="4424992"/>
              <a:ext cx="540000" cy="723926"/>
              <a:chOff x="5312873" y="4947622"/>
              <a:chExt cx="540000" cy="723926"/>
            </a:xfrm>
          </p:grpSpPr>
          <p:pic>
            <p:nvPicPr>
              <p:cNvPr id="17" name="Picture 12" descr="E:\2016.01\1.12 扁平化图标\蓝色\AR-蓝色最新-40.png"/>
              <p:cNvPicPr>
                <a:picLocks noChangeAspect="1" noChangeArrowheads="1"/>
              </p:cNvPicPr>
              <p:nvPr/>
            </p:nvPicPr>
            <p:blipFill>
              <a:blip r:embed="rId3" cstate="print"/>
              <a:srcRect/>
              <a:stretch>
                <a:fillRect/>
              </a:stretch>
            </p:blipFill>
            <p:spPr bwMode="gray">
              <a:xfrm>
                <a:off x="5312873" y="4947622"/>
                <a:ext cx="540000" cy="441818"/>
              </a:xfrm>
              <a:prstGeom prst="rect">
                <a:avLst/>
              </a:prstGeom>
              <a:noFill/>
            </p:spPr>
          </p:pic>
          <p:sp>
            <p:nvSpPr>
              <p:cNvPr id="18" name="文本框 17"/>
              <p:cNvSpPr txBox="1"/>
              <p:nvPr/>
            </p:nvSpPr>
            <p:spPr bwMode="gray">
              <a:xfrm>
                <a:off x="5436839" y="5363771"/>
                <a:ext cx="292068"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1" name="组合 10"/>
            <p:cNvGrpSpPr/>
            <p:nvPr/>
          </p:nvGrpSpPr>
          <p:grpSpPr bwMode="gray">
            <a:xfrm>
              <a:off x="8062138" y="4424992"/>
              <a:ext cx="540000" cy="714804"/>
              <a:chOff x="8062138" y="4947622"/>
              <a:chExt cx="540000" cy="714804"/>
            </a:xfrm>
          </p:grpSpPr>
          <p:pic>
            <p:nvPicPr>
              <p:cNvPr id="15" name="Picture 12" descr="E:\2016.01\1.12 扁平化图标\蓝色\AR-蓝色最新-40.png"/>
              <p:cNvPicPr>
                <a:picLocks noChangeAspect="1" noChangeArrowheads="1"/>
              </p:cNvPicPr>
              <p:nvPr/>
            </p:nvPicPr>
            <p:blipFill>
              <a:blip r:embed="rId3" cstate="print"/>
              <a:srcRect/>
              <a:stretch>
                <a:fillRect/>
              </a:stretch>
            </p:blipFill>
            <p:spPr bwMode="gray">
              <a:xfrm>
                <a:off x="8062138" y="4947622"/>
                <a:ext cx="540000" cy="441818"/>
              </a:xfrm>
              <a:prstGeom prst="rect">
                <a:avLst/>
              </a:prstGeom>
              <a:noFill/>
            </p:spPr>
          </p:pic>
          <p:sp>
            <p:nvSpPr>
              <p:cNvPr id="16" name="文本框 15"/>
              <p:cNvSpPr txBox="1"/>
              <p:nvPr/>
            </p:nvSpPr>
            <p:spPr bwMode="gray">
              <a:xfrm>
                <a:off x="8084306" y="5354649"/>
                <a:ext cx="497252"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PE2</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2" name="组合 11"/>
            <p:cNvGrpSpPr/>
            <p:nvPr/>
          </p:nvGrpSpPr>
          <p:grpSpPr bwMode="gray">
            <a:xfrm>
              <a:off x="4088571" y="4424992"/>
              <a:ext cx="540000" cy="723926"/>
              <a:chOff x="4088571" y="4947622"/>
              <a:chExt cx="540000" cy="723926"/>
            </a:xfrm>
          </p:grpSpPr>
          <p:pic>
            <p:nvPicPr>
              <p:cNvPr id="13" name="Picture 12" descr="E:\2016.01\1.12 扁平化图标\蓝色\AR-蓝色最新-40.png"/>
              <p:cNvPicPr>
                <a:picLocks noChangeAspect="1" noChangeArrowheads="1"/>
              </p:cNvPicPr>
              <p:nvPr/>
            </p:nvPicPr>
            <p:blipFill>
              <a:blip r:embed="rId3" cstate="print"/>
              <a:srcRect/>
              <a:stretch>
                <a:fillRect/>
              </a:stretch>
            </p:blipFill>
            <p:spPr bwMode="gray">
              <a:xfrm>
                <a:off x="4088571" y="4947622"/>
                <a:ext cx="540000" cy="441818"/>
              </a:xfrm>
              <a:prstGeom prst="rect">
                <a:avLst/>
              </a:prstGeom>
              <a:noFill/>
            </p:spPr>
          </p:pic>
          <p:sp>
            <p:nvSpPr>
              <p:cNvPr id="14" name="文本框 13"/>
              <p:cNvSpPr txBox="1"/>
              <p:nvPr/>
            </p:nvSpPr>
            <p:spPr bwMode="gray">
              <a:xfrm>
                <a:off x="4109945" y="5363771"/>
                <a:ext cx="497252" cy="307777"/>
              </a:xfrm>
              <a:prstGeom prst="rect">
                <a:avLst/>
              </a:prstGeom>
              <a:noFill/>
            </p:spPr>
            <p:txBody>
              <a:bodyPr wrap="non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PE1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grpSp>
        <p:nvGrpSpPr>
          <p:cNvPr id="19" name="组合 18"/>
          <p:cNvGrpSpPr/>
          <p:nvPr/>
        </p:nvGrpSpPr>
        <p:grpSpPr bwMode="gray">
          <a:xfrm>
            <a:off x="2139633" y="4164120"/>
            <a:ext cx="550687" cy="712575"/>
            <a:chOff x="4073209" y="4947622"/>
            <a:chExt cx="550687" cy="712575"/>
          </a:xfrm>
        </p:grpSpPr>
        <p:pic>
          <p:nvPicPr>
            <p:cNvPr id="20" name="Picture 12" descr="E:\2016.01\1.12 扁平化图标\蓝色\AR-蓝色最新-40.png"/>
            <p:cNvPicPr>
              <a:picLocks noChangeAspect="1" noChangeArrowheads="1"/>
            </p:cNvPicPr>
            <p:nvPr/>
          </p:nvPicPr>
          <p:blipFill>
            <a:blip r:embed="rId3" cstate="print"/>
            <a:srcRect/>
            <a:stretch>
              <a:fillRect/>
            </a:stretch>
          </p:blipFill>
          <p:spPr bwMode="gray">
            <a:xfrm>
              <a:off x="4073209" y="4947622"/>
              <a:ext cx="540000" cy="441818"/>
            </a:xfrm>
            <a:prstGeom prst="rect">
              <a:avLst/>
            </a:prstGeom>
            <a:noFill/>
          </p:spPr>
        </p:pic>
        <p:sp>
          <p:nvSpPr>
            <p:cNvPr id="21" name="文本框 20"/>
            <p:cNvSpPr txBox="1"/>
            <p:nvPr/>
          </p:nvSpPr>
          <p:spPr bwMode="gray">
            <a:xfrm>
              <a:off x="4121835" y="5352420"/>
              <a:ext cx="50206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2" name="圆角矩形 21"/>
          <p:cNvSpPr/>
          <p:nvPr/>
        </p:nvSpPr>
        <p:spPr bwMode="gray">
          <a:xfrm>
            <a:off x="933264" y="3916546"/>
            <a:ext cx="1873049" cy="994971"/>
          </a:xfrm>
          <a:prstGeom prst="roundRect">
            <a:avLst/>
          </a:prstGeom>
          <a:noFill/>
          <a:ln w="25400">
            <a:solidFill>
              <a:srgbClr val="8BC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3" name="组合 22"/>
          <p:cNvGrpSpPr/>
          <p:nvPr/>
        </p:nvGrpSpPr>
        <p:grpSpPr bwMode="gray">
          <a:xfrm>
            <a:off x="2127809" y="5245500"/>
            <a:ext cx="575533" cy="706640"/>
            <a:chOff x="4073209" y="4947622"/>
            <a:chExt cx="575533" cy="706640"/>
          </a:xfrm>
        </p:grpSpPr>
        <p:pic>
          <p:nvPicPr>
            <p:cNvPr id="24" name="Picture 12" descr="E:\2016.01\1.12 扁平化图标\蓝色\AR-蓝色最新-40.png"/>
            <p:cNvPicPr>
              <a:picLocks noChangeAspect="1" noChangeArrowheads="1"/>
            </p:cNvPicPr>
            <p:nvPr/>
          </p:nvPicPr>
          <p:blipFill>
            <a:blip r:embed="rId3" cstate="print"/>
            <a:srcRect/>
            <a:stretch>
              <a:fillRect/>
            </a:stretch>
          </p:blipFill>
          <p:spPr bwMode="gray">
            <a:xfrm>
              <a:off x="4073209" y="4947622"/>
              <a:ext cx="540000" cy="441818"/>
            </a:xfrm>
            <a:prstGeom prst="rect">
              <a:avLst/>
            </a:prstGeom>
            <a:noFill/>
          </p:spPr>
        </p:pic>
        <p:sp>
          <p:nvSpPr>
            <p:cNvPr id="25" name="文本框 24"/>
            <p:cNvSpPr txBox="1"/>
            <p:nvPr/>
          </p:nvSpPr>
          <p:spPr bwMode="gray">
            <a:xfrm>
              <a:off x="4146681" y="5346485"/>
              <a:ext cx="50206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CE2</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6" name="圆角矩形 25"/>
          <p:cNvSpPr/>
          <p:nvPr/>
        </p:nvSpPr>
        <p:spPr bwMode="gray">
          <a:xfrm>
            <a:off x="933264" y="4997926"/>
            <a:ext cx="1873049" cy="994971"/>
          </a:xfrm>
          <a:prstGeom prst="roundRect">
            <a:avLst/>
          </a:prstGeom>
          <a:noFill/>
          <a:ln w="254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圆角矩形 26"/>
          <p:cNvSpPr/>
          <p:nvPr/>
        </p:nvSpPr>
        <p:spPr bwMode="gray">
          <a:xfrm flipH="1">
            <a:off x="9347215" y="3916546"/>
            <a:ext cx="1873049" cy="994971"/>
          </a:xfrm>
          <a:prstGeom prst="roundRect">
            <a:avLst/>
          </a:prstGeom>
          <a:noFill/>
          <a:ln w="25400">
            <a:solidFill>
              <a:srgbClr val="8BC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圆角矩形 27"/>
          <p:cNvSpPr/>
          <p:nvPr/>
        </p:nvSpPr>
        <p:spPr bwMode="gray">
          <a:xfrm flipH="1">
            <a:off x="9359039" y="4997926"/>
            <a:ext cx="1873049" cy="994971"/>
          </a:xfrm>
          <a:prstGeom prst="roundRect">
            <a:avLst/>
          </a:prstGeom>
          <a:noFill/>
          <a:ln w="254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9" name="直接连接符 28"/>
          <p:cNvCxnSpPr>
            <a:stCxn id="20" idx="3"/>
            <a:endCxn id="13" idx="1"/>
          </p:cNvCxnSpPr>
          <p:nvPr/>
        </p:nvCxnSpPr>
        <p:spPr bwMode="gray">
          <a:xfrm>
            <a:off x="2679633" y="4385029"/>
            <a:ext cx="1148029" cy="42208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a:stCxn id="24" idx="3"/>
            <a:endCxn id="13" idx="1"/>
          </p:cNvCxnSpPr>
          <p:nvPr/>
        </p:nvCxnSpPr>
        <p:spPr bwMode="gray">
          <a:xfrm flipV="1">
            <a:off x="2667809" y="4807113"/>
            <a:ext cx="1159853" cy="65929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a:stCxn id="15" idx="3"/>
          </p:cNvCxnSpPr>
          <p:nvPr/>
        </p:nvCxnSpPr>
        <p:spPr bwMode="gray">
          <a:xfrm flipV="1">
            <a:off x="8341229" y="4385029"/>
            <a:ext cx="1132666" cy="42208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a:stCxn id="15" idx="3"/>
          </p:cNvCxnSpPr>
          <p:nvPr/>
        </p:nvCxnSpPr>
        <p:spPr bwMode="gray">
          <a:xfrm>
            <a:off x="8341229" y="4807113"/>
            <a:ext cx="1144490" cy="65929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文本框 32"/>
          <p:cNvSpPr txBox="1"/>
          <p:nvPr/>
        </p:nvSpPr>
        <p:spPr bwMode="gray">
          <a:xfrm>
            <a:off x="862702" y="4035478"/>
            <a:ext cx="1215397"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192.168.1.0/24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文本框 34"/>
          <p:cNvSpPr txBox="1"/>
          <p:nvPr/>
        </p:nvSpPr>
        <p:spPr bwMode="gray">
          <a:xfrm>
            <a:off x="905464" y="4560051"/>
            <a:ext cx="1124026" cy="350160"/>
          </a:xfrm>
          <a:prstGeom prst="rect">
            <a:avLst/>
          </a:prstGeom>
          <a:noFill/>
        </p:spPr>
        <p:txBody>
          <a:bodyPr wrap="none" rtlCol="0">
            <a:spAutoFit/>
          </a:bodyPr>
          <a:lstStyle/>
          <a:p>
            <a:pPr>
              <a:lnSpc>
                <a:spcPct val="130000"/>
              </a:lnSpc>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X</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A</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文本框 35"/>
          <p:cNvSpPr txBox="1"/>
          <p:nvPr/>
        </p:nvSpPr>
        <p:spPr bwMode="gray">
          <a:xfrm>
            <a:off x="905464" y="5679584"/>
            <a:ext cx="1112805" cy="350160"/>
          </a:xfrm>
          <a:prstGeom prst="rect">
            <a:avLst/>
          </a:prstGeom>
          <a:noFill/>
        </p:spPr>
        <p:txBody>
          <a:bodyPr wrap="none" rtlCol="0">
            <a:spAutoFit/>
          </a:bodyPr>
          <a:lstStyle/>
          <a:p>
            <a:pPr>
              <a:lnSpc>
                <a:spcPct val="130000"/>
              </a:lnSpc>
            </a:pPr>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Y</a:t>
            </a:r>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C</a:t>
            </a:r>
            <a:endPar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文本框 36"/>
          <p:cNvSpPr txBox="1"/>
          <p:nvPr/>
        </p:nvSpPr>
        <p:spPr bwMode="gray">
          <a:xfrm>
            <a:off x="10100001" y="4539107"/>
            <a:ext cx="1114408" cy="350160"/>
          </a:xfrm>
          <a:prstGeom prst="rect">
            <a:avLst/>
          </a:prstGeom>
          <a:noFill/>
        </p:spPr>
        <p:txBody>
          <a:bodyPr wrap="none" rtlCol="0">
            <a:spAutoFit/>
          </a:bodyPr>
          <a:lstStyle/>
          <a:p>
            <a:pPr>
              <a:lnSpc>
                <a:spcPct val="130000"/>
              </a:lnSpc>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X</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文本框 37"/>
          <p:cNvSpPr txBox="1"/>
          <p:nvPr/>
        </p:nvSpPr>
        <p:spPr bwMode="gray">
          <a:xfrm>
            <a:off x="10100001" y="5658640"/>
            <a:ext cx="1133644" cy="350160"/>
          </a:xfrm>
          <a:prstGeom prst="rect">
            <a:avLst/>
          </a:prstGeom>
          <a:noFill/>
        </p:spPr>
        <p:txBody>
          <a:bodyPr wrap="none" rtlCol="0">
            <a:spAutoFit/>
          </a:bodyPr>
          <a:lstStyle/>
          <a:p>
            <a:pPr>
              <a:lnSpc>
                <a:spcPct val="130000"/>
              </a:lnSpc>
            </a:pPr>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Y</a:t>
            </a:r>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42" name="组合 41"/>
          <p:cNvGrpSpPr/>
          <p:nvPr/>
        </p:nvGrpSpPr>
        <p:grpSpPr bwMode="gray">
          <a:xfrm>
            <a:off x="9473895" y="4164120"/>
            <a:ext cx="540000" cy="723926"/>
            <a:chOff x="4073209" y="4947622"/>
            <a:chExt cx="540000" cy="723926"/>
          </a:xfrm>
        </p:grpSpPr>
        <p:pic>
          <p:nvPicPr>
            <p:cNvPr id="43" name="Picture 12" descr="E:\2016.01\1.12 扁平化图标\蓝色\AR-蓝色最新-40.png"/>
            <p:cNvPicPr>
              <a:picLocks noChangeAspect="1" noChangeArrowheads="1"/>
            </p:cNvPicPr>
            <p:nvPr/>
          </p:nvPicPr>
          <p:blipFill>
            <a:blip r:embed="rId3" cstate="print"/>
            <a:srcRect/>
            <a:stretch>
              <a:fillRect/>
            </a:stretch>
          </p:blipFill>
          <p:spPr bwMode="gray">
            <a:xfrm>
              <a:off x="4073209" y="4947622"/>
              <a:ext cx="540000" cy="441818"/>
            </a:xfrm>
            <a:prstGeom prst="rect">
              <a:avLst/>
            </a:prstGeom>
            <a:noFill/>
          </p:spPr>
        </p:pic>
        <p:sp>
          <p:nvSpPr>
            <p:cNvPr id="44" name="文本框 43"/>
            <p:cNvSpPr txBox="1"/>
            <p:nvPr/>
          </p:nvSpPr>
          <p:spPr bwMode="gray">
            <a:xfrm>
              <a:off x="4086262" y="5363771"/>
              <a:ext cx="50206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CE3</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45" name="组合 44"/>
          <p:cNvGrpSpPr/>
          <p:nvPr/>
        </p:nvGrpSpPr>
        <p:grpSpPr bwMode="gray">
          <a:xfrm>
            <a:off x="9485719" y="5245500"/>
            <a:ext cx="552270" cy="723926"/>
            <a:chOff x="4060939" y="4947622"/>
            <a:chExt cx="552270" cy="723926"/>
          </a:xfrm>
        </p:grpSpPr>
        <p:pic>
          <p:nvPicPr>
            <p:cNvPr id="46" name="Picture 12" descr="E:\2016.01\1.12 扁平化图标\蓝色\AR-蓝色最新-40.png"/>
            <p:cNvPicPr>
              <a:picLocks noChangeAspect="1" noChangeArrowheads="1"/>
            </p:cNvPicPr>
            <p:nvPr/>
          </p:nvPicPr>
          <p:blipFill>
            <a:blip r:embed="rId3" cstate="print"/>
            <a:srcRect/>
            <a:stretch>
              <a:fillRect/>
            </a:stretch>
          </p:blipFill>
          <p:spPr bwMode="gray">
            <a:xfrm>
              <a:off x="4073209" y="4947622"/>
              <a:ext cx="540000" cy="441818"/>
            </a:xfrm>
            <a:prstGeom prst="rect">
              <a:avLst/>
            </a:prstGeom>
            <a:noFill/>
          </p:spPr>
        </p:pic>
        <p:sp>
          <p:nvSpPr>
            <p:cNvPr id="47" name="文本框 46"/>
            <p:cNvSpPr txBox="1"/>
            <p:nvPr/>
          </p:nvSpPr>
          <p:spPr bwMode="gray">
            <a:xfrm>
              <a:off x="4060939" y="5363771"/>
              <a:ext cx="50206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CE4</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60" name="直接箭头连接符 59"/>
          <p:cNvCxnSpPr>
            <a:stCxn id="17" idx="0"/>
            <a:endCxn id="49" idx="2"/>
          </p:cNvCxnSpPr>
          <p:nvPr/>
        </p:nvCxnSpPr>
        <p:spPr bwMode="gray">
          <a:xfrm flipV="1">
            <a:off x="6076765" y="3827130"/>
            <a:ext cx="7680" cy="759074"/>
          </a:xfrm>
          <a:prstGeom prst="straightConnector1">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49" name="圆角矩形 48"/>
          <p:cNvSpPr/>
          <p:nvPr/>
        </p:nvSpPr>
        <p:spPr bwMode="gray">
          <a:xfrm>
            <a:off x="4523945" y="2981736"/>
            <a:ext cx="3121000" cy="845394"/>
          </a:xfrm>
          <a:prstGeom prst="roundRect">
            <a:avLst>
              <a:gd name="adj" fmla="val 2303"/>
            </a:avLst>
          </a:prstGeom>
          <a:solidFill>
            <a:srgbClr val="FEEEC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fontAlgn="auto">
              <a:lnSpc>
                <a:spcPts val="2200"/>
              </a:lnSpc>
              <a:spcBef>
                <a:spcPts val="0"/>
              </a:spcBef>
              <a:spcAft>
                <a:spcPts val="0"/>
              </a:spcAft>
              <a:buFont typeface="+mj-lt"/>
              <a:buAutoNum type="arabicPeriod" startAt="6"/>
            </a:pP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骨干</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网</a:t>
            </a: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的</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所有</a:t>
            </a:r>
            <a:r>
              <a:rPr lang="en-US" altLang="zh-CN"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P</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设备都对该报文进行外层标签</a:t>
            </a: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交换，直到到达</a:t>
            </a:r>
            <a:r>
              <a:rPr lang="en-US" altLang="zh-CN"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PE1</a:t>
            </a: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 name="组合 1"/>
          <p:cNvGrpSpPr/>
          <p:nvPr/>
        </p:nvGrpSpPr>
        <p:grpSpPr bwMode="gray">
          <a:xfrm>
            <a:off x="3584289" y="4039361"/>
            <a:ext cx="2226924" cy="289666"/>
            <a:chOff x="5726567" y="4113101"/>
            <a:chExt cx="2226924" cy="289666"/>
          </a:xfrm>
        </p:grpSpPr>
        <p:sp>
          <p:nvSpPr>
            <p:cNvPr id="55" name="矩形 32"/>
            <p:cNvSpPr>
              <a:spLocks/>
            </p:cNvSpPr>
            <p:nvPr/>
          </p:nvSpPr>
          <p:spPr bwMode="gray">
            <a:xfrm>
              <a:off x="6954101" y="4113101"/>
              <a:ext cx="999390" cy="289666"/>
            </a:xfrm>
            <a:prstGeom prst="rect">
              <a:avLst/>
            </a:prstGeom>
            <a:solidFill>
              <a:srgbClr val="FFF2CC"/>
            </a:solidFill>
            <a:ln w="12700" cap="flat" cmpd="sng" algn="ctr">
              <a:solidFill>
                <a:schemeClr val="tx1"/>
              </a:solidFill>
              <a:prstDash val="solid"/>
              <a:miter lim="800000"/>
            </a:ln>
            <a:effectLst/>
          </p:spPr>
          <p:txBody>
            <a:bodyPr rtlCol="0" anchor="ctr"/>
            <a:lstStyle/>
            <a:p>
              <a:pPr algn="ctr" defTabSz="914400"/>
              <a:r>
                <a:rPr lang="en-US" altLang="zh-CN" sz="1400" kern="0" dirty="0" smtClean="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kern="0" dirty="0" smtClean="0">
                  <a:latin typeface="Huawei Sans" panose="020C0503030203020204" pitchFamily="34" charset="0"/>
                  <a:ea typeface="方正兰亭黑简体" panose="02000000000000000000" pitchFamily="2" charset="-122"/>
                  <a:sym typeface="Huawei Sans" panose="020C0503030203020204" pitchFamily="34" charset="0"/>
                </a:rPr>
                <a:t>报文</a:t>
              </a:r>
              <a:endParaRPr lang="zh-CN" altLang="en-US" sz="14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矩形 33"/>
            <p:cNvSpPr/>
            <p:nvPr/>
          </p:nvSpPr>
          <p:spPr bwMode="gray">
            <a:xfrm>
              <a:off x="6333903" y="4113101"/>
              <a:ext cx="620198" cy="289666"/>
            </a:xfrm>
            <a:prstGeom prst="rect">
              <a:avLst/>
            </a:prstGeom>
            <a:solidFill>
              <a:srgbClr val="8BC9A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I-L</a:t>
              </a:r>
            </a:p>
          </p:txBody>
        </p:sp>
        <p:sp>
          <p:nvSpPr>
            <p:cNvPr id="61" name="矩形 33"/>
            <p:cNvSpPr/>
            <p:nvPr/>
          </p:nvSpPr>
          <p:spPr bwMode="gray">
            <a:xfrm>
              <a:off x="5726567" y="4113101"/>
              <a:ext cx="620198" cy="289666"/>
            </a:xfrm>
            <a:prstGeom prst="rect">
              <a:avLst/>
            </a:prstGeom>
            <a:solidFill>
              <a:srgbClr val="EC706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O-L2</a:t>
              </a:r>
            </a:p>
          </p:txBody>
        </p:sp>
      </p:grpSp>
    </p:spTree>
    <p:extLst>
      <p:ext uri="{BB962C8B-B14F-4D97-AF65-F5344CB8AC3E}">
        <p14:creationId xmlns:p14="http://schemas.microsoft.com/office/powerpoint/2010/main" val="339925296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bwMode="gray"/>
        <p:txBody>
          <a:bodyPr/>
          <a:lstStyle/>
          <a:p>
            <a:r>
              <a:rPr lang="zh-CN" altLang="en-US" smtClean="0"/>
              <a:t>报文转发过程 </a:t>
            </a:r>
            <a:r>
              <a:rPr lang="en-US" altLang="zh-CN" smtClean="0"/>
              <a:t>(4)</a:t>
            </a:r>
            <a:endParaRPr lang="zh-CN" altLang="en-US" dirty="0"/>
          </a:p>
        </p:txBody>
      </p:sp>
      <p:sp>
        <p:nvSpPr>
          <p:cNvPr id="6" name="圆角矩形 5"/>
          <p:cNvSpPr/>
          <p:nvPr/>
        </p:nvSpPr>
        <p:spPr bwMode="gray">
          <a:xfrm>
            <a:off x="4084513" y="4035478"/>
            <a:ext cx="4000659" cy="1825378"/>
          </a:xfrm>
          <a:prstGeom prst="roundRect">
            <a:avLst/>
          </a:prstGeom>
          <a:solidFill>
            <a:srgbClr val="BEE9EE"/>
          </a:solidFill>
          <a:ln w="28575" cap="flat" cmpd="sng" algn="ctr">
            <a:noFill/>
            <a:prstDash val="sys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文本框 6"/>
          <p:cNvSpPr txBox="1"/>
          <p:nvPr/>
        </p:nvSpPr>
        <p:spPr bwMode="gray">
          <a:xfrm>
            <a:off x="5289592" y="5566188"/>
            <a:ext cx="1590500" cy="307777"/>
          </a:xfrm>
          <a:prstGeom prst="rect">
            <a:avLst/>
          </a:prstGeom>
          <a:noFill/>
        </p:spPr>
        <p:txBody>
          <a:bodyPr wrap="none" rtlCol="0">
            <a:spAutoFit/>
          </a:bodyPr>
          <a:lstStyle/>
          <a:p>
            <a:r>
              <a:rPr lang="en-US" altLang="zh-CN"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MPLS VPN</a:t>
            </a:r>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骨干网</a:t>
            </a:r>
            <a:endPar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8" name="组合 7"/>
          <p:cNvGrpSpPr/>
          <p:nvPr/>
        </p:nvGrpSpPr>
        <p:grpSpPr bwMode="gray">
          <a:xfrm>
            <a:off x="3827662" y="4586204"/>
            <a:ext cx="4513567" cy="723926"/>
            <a:chOff x="4088571" y="4424992"/>
            <a:chExt cx="4513567" cy="723926"/>
          </a:xfrm>
        </p:grpSpPr>
        <p:cxnSp>
          <p:nvCxnSpPr>
            <p:cNvPr id="9" name="直接连接符 8"/>
            <p:cNvCxnSpPr>
              <a:stCxn id="13" idx="3"/>
              <a:endCxn id="15" idx="1"/>
            </p:cNvCxnSpPr>
            <p:nvPr/>
          </p:nvCxnSpPr>
          <p:spPr bwMode="gray">
            <a:xfrm>
              <a:off x="4628571" y="4645901"/>
              <a:ext cx="343356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组合 9"/>
            <p:cNvGrpSpPr/>
            <p:nvPr/>
          </p:nvGrpSpPr>
          <p:grpSpPr bwMode="gray">
            <a:xfrm>
              <a:off x="6067674" y="4424992"/>
              <a:ext cx="540000" cy="723926"/>
              <a:chOff x="5312873" y="4947622"/>
              <a:chExt cx="540000" cy="723926"/>
            </a:xfrm>
          </p:grpSpPr>
          <p:pic>
            <p:nvPicPr>
              <p:cNvPr id="17" name="Picture 12" descr="E:\2016.01\1.12 扁平化图标\蓝色\AR-蓝色最新-40.png"/>
              <p:cNvPicPr>
                <a:picLocks noChangeAspect="1" noChangeArrowheads="1"/>
              </p:cNvPicPr>
              <p:nvPr/>
            </p:nvPicPr>
            <p:blipFill>
              <a:blip r:embed="rId3" cstate="print"/>
              <a:srcRect/>
              <a:stretch>
                <a:fillRect/>
              </a:stretch>
            </p:blipFill>
            <p:spPr bwMode="gray">
              <a:xfrm>
                <a:off x="5312873" y="4947622"/>
                <a:ext cx="540000" cy="441818"/>
              </a:xfrm>
              <a:prstGeom prst="rect">
                <a:avLst/>
              </a:prstGeom>
              <a:noFill/>
            </p:spPr>
          </p:pic>
          <p:sp>
            <p:nvSpPr>
              <p:cNvPr id="18" name="文本框 17"/>
              <p:cNvSpPr txBox="1"/>
              <p:nvPr/>
            </p:nvSpPr>
            <p:spPr bwMode="gray">
              <a:xfrm>
                <a:off x="5436839" y="5363771"/>
                <a:ext cx="292068"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1" name="组合 10"/>
            <p:cNvGrpSpPr/>
            <p:nvPr/>
          </p:nvGrpSpPr>
          <p:grpSpPr bwMode="gray">
            <a:xfrm>
              <a:off x="8062138" y="4424992"/>
              <a:ext cx="540000" cy="714804"/>
              <a:chOff x="8062138" y="4947622"/>
              <a:chExt cx="540000" cy="714804"/>
            </a:xfrm>
          </p:grpSpPr>
          <p:pic>
            <p:nvPicPr>
              <p:cNvPr id="15" name="Picture 12" descr="E:\2016.01\1.12 扁平化图标\蓝色\AR-蓝色最新-40.png"/>
              <p:cNvPicPr>
                <a:picLocks noChangeAspect="1" noChangeArrowheads="1"/>
              </p:cNvPicPr>
              <p:nvPr/>
            </p:nvPicPr>
            <p:blipFill>
              <a:blip r:embed="rId3" cstate="print"/>
              <a:srcRect/>
              <a:stretch>
                <a:fillRect/>
              </a:stretch>
            </p:blipFill>
            <p:spPr bwMode="gray">
              <a:xfrm>
                <a:off x="8062138" y="4947622"/>
                <a:ext cx="540000" cy="441818"/>
              </a:xfrm>
              <a:prstGeom prst="rect">
                <a:avLst/>
              </a:prstGeom>
              <a:noFill/>
            </p:spPr>
          </p:pic>
          <p:sp>
            <p:nvSpPr>
              <p:cNvPr id="16" name="文本框 15"/>
              <p:cNvSpPr txBox="1"/>
              <p:nvPr/>
            </p:nvSpPr>
            <p:spPr bwMode="gray">
              <a:xfrm>
                <a:off x="8084306" y="5354649"/>
                <a:ext cx="497252"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PE2</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2" name="组合 11"/>
            <p:cNvGrpSpPr/>
            <p:nvPr/>
          </p:nvGrpSpPr>
          <p:grpSpPr bwMode="gray">
            <a:xfrm>
              <a:off x="4088571" y="4424992"/>
              <a:ext cx="540000" cy="723926"/>
              <a:chOff x="4088571" y="4947622"/>
              <a:chExt cx="540000" cy="723926"/>
            </a:xfrm>
          </p:grpSpPr>
          <p:pic>
            <p:nvPicPr>
              <p:cNvPr id="13" name="Picture 12" descr="E:\2016.01\1.12 扁平化图标\蓝色\AR-蓝色最新-40.png"/>
              <p:cNvPicPr>
                <a:picLocks noChangeAspect="1" noChangeArrowheads="1"/>
              </p:cNvPicPr>
              <p:nvPr/>
            </p:nvPicPr>
            <p:blipFill>
              <a:blip r:embed="rId3" cstate="print"/>
              <a:srcRect/>
              <a:stretch>
                <a:fillRect/>
              </a:stretch>
            </p:blipFill>
            <p:spPr bwMode="gray">
              <a:xfrm>
                <a:off x="4088571" y="4947622"/>
                <a:ext cx="540000" cy="441818"/>
              </a:xfrm>
              <a:prstGeom prst="rect">
                <a:avLst/>
              </a:prstGeom>
              <a:noFill/>
            </p:spPr>
          </p:pic>
          <p:sp>
            <p:nvSpPr>
              <p:cNvPr id="14" name="文本框 13"/>
              <p:cNvSpPr txBox="1"/>
              <p:nvPr/>
            </p:nvSpPr>
            <p:spPr bwMode="gray">
              <a:xfrm>
                <a:off x="4109945" y="5363771"/>
                <a:ext cx="497252" cy="307777"/>
              </a:xfrm>
              <a:prstGeom prst="rect">
                <a:avLst/>
              </a:prstGeom>
              <a:noFill/>
            </p:spPr>
            <p:txBody>
              <a:bodyPr wrap="non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PE1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grpSp>
        <p:nvGrpSpPr>
          <p:cNvPr id="19" name="组合 18"/>
          <p:cNvGrpSpPr/>
          <p:nvPr/>
        </p:nvGrpSpPr>
        <p:grpSpPr bwMode="gray">
          <a:xfrm>
            <a:off x="2139633" y="4164120"/>
            <a:ext cx="550687" cy="712575"/>
            <a:chOff x="4073209" y="4947622"/>
            <a:chExt cx="550687" cy="712575"/>
          </a:xfrm>
        </p:grpSpPr>
        <p:pic>
          <p:nvPicPr>
            <p:cNvPr id="20" name="Picture 12" descr="E:\2016.01\1.12 扁平化图标\蓝色\AR-蓝色最新-40.png"/>
            <p:cNvPicPr>
              <a:picLocks noChangeAspect="1" noChangeArrowheads="1"/>
            </p:cNvPicPr>
            <p:nvPr/>
          </p:nvPicPr>
          <p:blipFill>
            <a:blip r:embed="rId3" cstate="print"/>
            <a:srcRect/>
            <a:stretch>
              <a:fillRect/>
            </a:stretch>
          </p:blipFill>
          <p:spPr bwMode="gray">
            <a:xfrm>
              <a:off x="4073209" y="4947622"/>
              <a:ext cx="540000" cy="441818"/>
            </a:xfrm>
            <a:prstGeom prst="rect">
              <a:avLst/>
            </a:prstGeom>
            <a:noFill/>
          </p:spPr>
        </p:pic>
        <p:sp>
          <p:nvSpPr>
            <p:cNvPr id="21" name="文本框 20"/>
            <p:cNvSpPr txBox="1"/>
            <p:nvPr/>
          </p:nvSpPr>
          <p:spPr bwMode="gray">
            <a:xfrm>
              <a:off x="4121835" y="5352420"/>
              <a:ext cx="50206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2" name="圆角矩形 21"/>
          <p:cNvSpPr/>
          <p:nvPr/>
        </p:nvSpPr>
        <p:spPr bwMode="gray">
          <a:xfrm>
            <a:off x="933264" y="3916546"/>
            <a:ext cx="1873049" cy="994971"/>
          </a:xfrm>
          <a:prstGeom prst="roundRect">
            <a:avLst/>
          </a:prstGeom>
          <a:noFill/>
          <a:ln w="25400">
            <a:solidFill>
              <a:srgbClr val="8BC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3" name="组合 22"/>
          <p:cNvGrpSpPr/>
          <p:nvPr/>
        </p:nvGrpSpPr>
        <p:grpSpPr bwMode="gray">
          <a:xfrm>
            <a:off x="2127809" y="5245500"/>
            <a:ext cx="575533" cy="706640"/>
            <a:chOff x="4073209" y="4947622"/>
            <a:chExt cx="575533" cy="706640"/>
          </a:xfrm>
        </p:grpSpPr>
        <p:pic>
          <p:nvPicPr>
            <p:cNvPr id="24" name="Picture 12" descr="E:\2016.01\1.12 扁平化图标\蓝色\AR-蓝色最新-40.png"/>
            <p:cNvPicPr>
              <a:picLocks noChangeAspect="1" noChangeArrowheads="1"/>
            </p:cNvPicPr>
            <p:nvPr/>
          </p:nvPicPr>
          <p:blipFill>
            <a:blip r:embed="rId3" cstate="print"/>
            <a:srcRect/>
            <a:stretch>
              <a:fillRect/>
            </a:stretch>
          </p:blipFill>
          <p:spPr bwMode="gray">
            <a:xfrm>
              <a:off x="4073209" y="4947622"/>
              <a:ext cx="540000" cy="441818"/>
            </a:xfrm>
            <a:prstGeom prst="rect">
              <a:avLst/>
            </a:prstGeom>
            <a:noFill/>
          </p:spPr>
        </p:pic>
        <p:sp>
          <p:nvSpPr>
            <p:cNvPr id="25" name="文本框 24"/>
            <p:cNvSpPr txBox="1"/>
            <p:nvPr/>
          </p:nvSpPr>
          <p:spPr bwMode="gray">
            <a:xfrm>
              <a:off x="4146681" y="5346485"/>
              <a:ext cx="50206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CE2</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6" name="圆角矩形 25"/>
          <p:cNvSpPr/>
          <p:nvPr/>
        </p:nvSpPr>
        <p:spPr bwMode="gray">
          <a:xfrm>
            <a:off x="933264" y="4997926"/>
            <a:ext cx="1873049" cy="994971"/>
          </a:xfrm>
          <a:prstGeom prst="roundRect">
            <a:avLst/>
          </a:prstGeom>
          <a:noFill/>
          <a:ln w="254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圆角矩形 26"/>
          <p:cNvSpPr/>
          <p:nvPr/>
        </p:nvSpPr>
        <p:spPr bwMode="gray">
          <a:xfrm flipH="1">
            <a:off x="9347215" y="3916546"/>
            <a:ext cx="1873049" cy="994971"/>
          </a:xfrm>
          <a:prstGeom prst="roundRect">
            <a:avLst/>
          </a:prstGeom>
          <a:noFill/>
          <a:ln w="25400">
            <a:solidFill>
              <a:srgbClr val="8BC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圆角矩形 27"/>
          <p:cNvSpPr/>
          <p:nvPr/>
        </p:nvSpPr>
        <p:spPr bwMode="gray">
          <a:xfrm flipH="1">
            <a:off x="9359039" y="4997926"/>
            <a:ext cx="1873049" cy="994971"/>
          </a:xfrm>
          <a:prstGeom prst="roundRect">
            <a:avLst/>
          </a:prstGeom>
          <a:noFill/>
          <a:ln w="254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9" name="直接连接符 28"/>
          <p:cNvCxnSpPr>
            <a:stCxn id="20" idx="3"/>
            <a:endCxn id="13" idx="1"/>
          </p:cNvCxnSpPr>
          <p:nvPr/>
        </p:nvCxnSpPr>
        <p:spPr bwMode="gray">
          <a:xfrm>
            <a:off x="2679633" y="4385029"/>
            <a:ext cx="1148029" cy="42208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a:stCxn id="24" idx="3"/>
            <a:endCxn id="13" idx="1"/>
          </p:cNvCxnSpPr>
          <p:nvPr/>
        </p:nvCxnSpPr>
        <p:spPr bwMode="gray">
          <a:xfrm flipV="1">
            <a:off x="2667809" y="4807113"/>
            <a:ext cx="1159853" cy="65929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a:stCxn id="15" idx="3"/>
          </p:cNvCxnSpPr>
          <p:nvPr/>
        </p:nvCxnSpPr>
        <p:spPr bwMode="gray">
          <a:xfrm flipV="1">
            <a:off x="8341229" y="4385029"/>
            <a:ext cx="1132666" cy="42208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a:stCxn id="15" idx="3"/>
          </p:cNvCxnSpPr>
          <p:nvPr/>
        </p:nvCxnSpPr>
        <p:spPr bwMode="gray">
          <a:xfrm>
            <a:off x="8341229" y="4807113"/>
            <a:ext cx="1144490" cy="65929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文本框 32"/>
          <p:cNvSpPr txBox="1"/>
          <p:nvPr/>
        </p:nvSpPr>
        <p:spPr bwMode="gray">
          <a:xfrm>
            <a:off x="862702" y="4035478"/>
            <a:ext cx="1215397"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192.168.1.0/24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文本框 34"/>
          <p:cNvSpPr txBox="1"/>
          <p:nvPr/>
        </p:nvSpPr>
        <p:spPr bwMode="gray">
          <a:xfrm>
            <a:off x="905464" y="4560051"/>
            <a:ext cx="1124026" cy="350160"/>
          </a:xfrm>
          <a:prstGeom prst="rect">
            <a:avLst/>
          </a:prstGeom>
          <a:noFill/>
        </p:spPr>
        <p:txBody>
          <a:bodyPr wrap="none" rtlCol="0">
            <a:spAutoFit/>
          </a:bodyPr>
          <a:lstStyle/>
          <a:p>
            <a:pPr>
              <a:lnSpc>
                <a:spcPct val="130000"/>
              </a:lnSpc>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X</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A</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文本框 35"/>
          <p:cNvSpPr txBox="1"/>
          <p:nvPr/>
        </p:nvSpPr>
        <p:spPr bwMode="gray">
          <a:xfrm>
            <a:off x="905464" y="5679584"/>
            <a:ext cx="1112805" cy="350160"/>
          </a:xfrm>
          <a:prstGeom prst="rect">
            <a:avLst/>
          </a:prstGeom>
          <a:noFill/>
        </p:spPr>
        <p:txBody>
          <a:bodyPr wrap="none" rtlCol="0">
            <a:spAutoFit/>
          </a:bodyPr>
          <a:lstStyle/>
          <a:p>
            <a:pPr>
              <a:lnSpc>
                <a:spcPct val="130000"/>
              </a:lnSpc>
            </a:pPr>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Y</a:t>
            </a:r>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C</a:t>
            </a:r>
            <a:endPar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文本框 36"/>
          <p:cNvSpPr txBox="1"/>
          <p:nvPr/>
        </p:nvSpPr>
        <p:spPr bwMode="gray">
          <a:xfrm>
            <a:off x="10100001" y="4539107"/>
            <a:ext cx="1114408" cy="350160"/>
          </a:xfrm>
          <a:prstGeom prst="rect">
            <a:avLst/>
          </a:prstGeom>
          <a:noFill/>
        </p:spPr>
        <p:txBody>
          <a:bodyPr wrap="none" rtlCol="0">
            <a:spAutoFit/>
          </a:bodyPr>
          <a:lstStyle/>
          <a:p>
            <a:pPr>
              <a:lnSpc>
                <a:spcPct val="130000"/>
              </a:lnSpc>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X</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文本框 37"/>
          <p:cNvSpPr txBox="1"/>
          <p:nvPr/>
        </p:nvSpPr>
        <p:spPr bwMode="gray">
          <a:xfrm>
            <a:off x="10100001" y="5658640"/>
            <a:ext cx="1133644" cy="350160"/>
          </a:xfrm>
          <a:prstGeom prst="rect">
            <a:avLst/>
          </a:prstGeom>
          <a:noFill/>
        </p:spPr>
        <p:txBody>
          <a:bodyPr wrap="none" rtlCol="0">
            <a:spAutoFit/>
          </a:bodyPr>
          <a:lstStyle/>
          <a:p>
            <a:pPr>
              <a:lnSpc>
                <a:spcPct val="130000"/>
              </a:lnSpc>
            </a:pPr>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Y</a:t>
            </a:r>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42" name="组合 41"/>
          <p:cNvGrpSpPr/>
          <p:nvPr/>
        </p:nvGrpSpPr>
        <p:grpSpPr bwMode="gray">
          <a:xfrm>
            <a:off x="9473895" y="4164120"/>
            <a:ext cx="540000" cy="723926"/>
            <a:chOff x="4073209" y="4947622"/>
            <a:chExt cx="540000" cy="723926"/>
          </a:xfrm>
        </p:grpSpPr>
        <p:pic>
          <p:nvPicPr>
            <p:cNvPr id="43" name="Picture 12" descr="E:\2016.01\1.12 扁平化图标\蓝色\AR-蓝色最新-40.png"/>
            <p:cNvPicPr>
              <a:picLocks noChangeAspect="1" noChangeArrowheads="1"/>
            </p:cNvPicPr>
            <p:nvPr/>
          </p:nvPicPr>
          <p:blipFill>
            <a:blip r:embed="rId3" cstate="print"/>
            <a:srcRect/>
            <a:stretch>
              <a:fillRect/>
            </a:stretch>
          </p:blipFill>
          <p:spPr bwMode="gray">
            <a:xfrm>
              <a:off x="4073209" y="4947622"/>
              <a:ext cx="540000" cy="441818"/>
            </a:xfrm>
            <a:prstGeom prst="rect">
              <a:avLst/>
            </a:prstGeom>
            <a:noFill/>
          </p:spPr>
        </p:pic>
        <p:sp>
          <p:nvSpPr>
            <p:cNvPr id="44" name="文本框 43"/>
            <p:cNvSpPr txBox="1"/>
            <p:nvPr/>
          </p:nvSpPr>
          <p:spPr bwMode="gray">
            <a:xfrm>
              <a:off x="4086262" y="5363771"/>
              <a:ext cx="50206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CE3</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45" name="组合 44"/>
          <p:cNvGrpSpPr/>
          <p:nvPr/>
        </p:nvGrpSpPr>
        <p:grpSpPr bwMode="gray">
          <a:xfrm>
            <a:off x="9485719" y="5245500"/>
            <a:ext cx="552270" cy="723926"/>
            <a:chOff x="4060939" y="4947622"/>
            <a:chExt cx="552270" cy="723926"/>
          </a:xfrm>
        </p:grpSpPr>
        <p:pic>
          <p:nvPicPr>
            <p:cNvPr id="46" name="Picture 12" descr="E:\2016.01\1.12 扁平化图标\蓝色\AR-蓝色最新-40.png"/>
            <p:cNvPicPr>
              <a:picLocks noChangeAspect="1" noChangeArrowheads="1"/>
            </p:cNvPicPr>
            <p:nvPr/>
          </p:nvPicPr>
          <p:blipFill>
            <a:blip r:embed="rId3" cstate="print"/>
            <a:srcRect/>
            <a:stretch>
              <a:fillRect/>
            </a:stretch>
          </p:blipFill>
          <p:spPr bwMode="gray">
            <a:xfrm>
              <a:off x="4073209" y="4947622"/>
              <a:ext cx="540000" cy="441818"/>
            </a:xfrm>
            <a:prstGeom prst="rect">
              <a:avLst/>
            </a:prstGeom>
            <a:noFill/>
          </p:spPr>
        </p:pic>
        <p:sp>
          <p:nvSpPr>
            <p:cNvPr id="47" name="文本框 46"/>
            <p:cNvSpPr txBox="1"/>
            <p:nvPr/>
          </p:nvSpPr>
          <p:spPr bwMode="gray">
            <a:xfrm>
              <a:off x="4060939" y="5363771"/>
              <a:ext cx="50206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CE4</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60" name="直接箭头连接符 59"/>
          <p:cNvCxnSpPr>
            <a:stCxn id="13" idx="0"/>
            <a:endCxn id="49" idx="2"/>
          </p:cNvCxnSpPr>
          <p:nvPr/>
        </p:nvCxnSpPr>
        <p:spPr bwMode="gray">
          <a:xfrm flipV="1">
            <a:off x="4097662" y="3384051"/>
            <a:ext cx="0" cy="1202153"/>
          </a:xfrm>
          <a:prstGeom prst="straightConnector1">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49" name="圆角矩形 48"/>
          <p:cNvSpPr/>
          <p:nvPr/>
        </p:nvSpPr>
        <p:spPr bwMode="gray">
          <a:xfrm>
            <a:off x="629339" y="2337255"/>
            <a:ext cx="6936645" cy="1046796"/>
          </a:xfrm>
          <a:prstGeom prst="roundRect">
            <a:avLst>
              <a:gd name="adj" fmla="val 2303"/>
            </a:avLst>
          </a:prstGeom>
          <a:solidFill>
            <a:srgbClr val="FEEEC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fontAlgn="auto">
              <a:lnSpc>
                <a:spcPts val="2200"/>
              </a:lnSpc>
              <a:spcBef>
                <a:spcPts val="0"/>
              </a:spcBef>
              <a:spcAft>
                <a:spcPts val="0"/>
              </a:spcAft>
              <a:buFont typeface="+mj-lt"/>
              <a:buAutoNum type="arabicPeriod" startAt="7"/>
            </a:pPr>
            <a:r>
              <a:rPr lang="en-US" altLang="zh-CN"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PE1</a:t>
            </a: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收到</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该携带两层标签的报文，交给</a:t>
            </a:r>
            <a:r>
              <a:rPr lang="en-US" altLang="zh-CN"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MPLS</a:t>
            </a: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处理，</a:t>
            </a:r>
            <a:r>
              <a:rPr lang="en-US" altLang="zh-CN"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MPLS</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协议将去掉外层</a:t>
            </a: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标签。</a:t>
            </a:r>
            <a:endParaRPr lang="en-US" altLang="zh-CN"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342900" indent="-342900" fontAlgn="auto">
              <a:lnSpc>
                <a:spcPts val="2200"/>
              </a:lnSpc>
              <a:spcBef>
                <a:spcPts val="0"/>
              </a:spcBef>
              <a:spcAft>
                <a:spcPts val="0"/>
              </a:spcAft>
              <a:buFont typeface="+mj-lt"/>
              <a:buAutoNum type="arabicPeriod" startAt="7"/>
            </a:pPr>
            <a:r>
              <a:rPr lang="en-US" altLang="zh-CN"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PE1</a:t>
            </a: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继续处理内层标签：根据内层标签确定对应的下一跳，并将内层标签剥离后，以纯</a:t>
            </a:r>
            <a:r>
              <a:rPr lang="en-US" altLang="zh-CN"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IPv4</a:t>
            </a: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报文的形式发送给</a:t>
            </a:r>
            <a:r>
              <a:rPr lang="en-US" altLang="zh-CN"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CE1</a:t>
            </a: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矩形 32"/>
          <p:cNvSpPr>
            <a:spLocks/>
          </p:cNvSpPr>
          <p:nvPr/>
        </p:nvSpPr>
        <p:spPr bwMode="gray">
          <a:xfrm>
            <a:off x="3041790" y="3695406"/>
            <a:ext cx="999390" cy="289666"/>
          </a:xfrm>
          <a:prstGeom prst="rect">
            <a:avLst/>
          </a:prstGeom>
          <a:solidFill>
            <a:srgbClr val="FFF2CC"/>
          </a:solidFill>
          <a:ln w="12700" cap="flat" cmpd="sng" algn="ctr">
            <a:solidFill>
              <a:schemeClr val="tx1"/>
            </a:solidFill>
            <a:prstDash val="solid"/>
            <a:miter lim="800000"/>
          </a:ln>
          <a:effectLst/>
        </p:spPr>
        <p:txBody>
          <a:bodyPr rtlCol="0" anchor="ctr"/>
          <a:lstStyle/>
          <a:p>
            <a:pPr algn="ctr" defTabSz="914400"/>
            <a:r>
              <a:rPr lang="en-US" altLang="zh-CN" sz="1400" kern="0" dirty="0" smtClean="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kern="0" dirty="0" smtClean="0">
                <a:latin typeface="Huawei Sans" panose="020C0503030203020204" pitchFamily="34" charset="0"/>
                <a:ea typeface="方正兰亭黑简体" panose="02000000000000000000" pitchFamily="2" charset="-122"/>
                <a:sym typeface="Huawei Sans" panose="020C0503030203020204" pitchFamily="34" charset="0"/>
              </a:rPr>
              <a:t>报文</a:t>
            </a:r>
            <a:endParaRPr lang="zh-CN" altLang="en-US" sz="14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矩形 33"/>
          <p:cNvSpPr>
            <a:spLocks/>
          </p:cNvSpPr>
          <p:nvPr/>
        </p:nvSpPr>
        <p:spPr bwMode="gray">
          <a:xfrm rot="19962118">
            <a:off x="2698583" y="3703635"/>
            <a:ext cx="296718" cy="289666"/>
          </a:xfrm>
          <a:prstGeom prst="rect">
            <a:avLst/>
          </a:prstGeom>
          <a:solidFill>
            <a:srgbClr val="8BC9A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矩形 33"/>
          <p:cNvSpPr>
            <a:spLocks/>
          </p:cNvSpPr>
          <p:nvPr/>
        </p:nvSpPr>
        <p:spPr bwMode="gray">
          <a:xfrm rot="19962118">
            <a:off x="2396619" y="3703635"/>
            <a:ext cx="296718" cy="289666"/>
          </a:xfrm>
          <a:prstGeom prst="rect">
            <a:avLst/>
          </a:prstGeom>
          <a:solidFill>
            <a:srgbClr val="EC706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79145784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bwMode="gray"/>
        <p:txBody>
          <a:bodyPr/>
          <a:lstStyle/>
          <a:p>
            <a:r>
              <a:rPr lang="zh-CN" altLang="en-US" smtClean="0"/>
              <a:t>报文转发过程 </a:t>
            </a:r>
            <a:r>
              <a:rPr lang="en-US" altLang="zh-CN" smtClean="0"/>
              <a:t>(5)</a:t>
            </a:r>
            <a:endParaRPr lang="zh-CN" altLang="en-US" dirty="0"/>
          </a:p>
        </p:txBody>
      </p:sp>
      <p:sp>
        <p:nvSpPr>
          <p:cNvPr id="6" name="圆角矩形 5"/>
          <p:cNvSpPr/>
          <p:nvPr/>
        </p:nvSpPr>
        <p:spPr bwMode="gray">
          <a:xfrm>
            <a:off x="4084513" y="4035478"/>
            <a:ext cx="4000659" cy="1825378"/>
          </a:xfrm>
          <a:prstGeom prst="roundRect">
            <a:avLst/>
          </a:prstGeom>
          <a:solidFill>
            <a:srgbClr val="BEE9EE"/>
          </a:solidFill>
          <a:ln w="28575" cap="flat" cmpd="sng" algn="ctr">
            <a:noFill/>
            <a:prstDash val="sys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文本框 6"/>
          <p:cNvSpPr txBox="1"/>
          <p:nvPr/>
        </p:nvSpPr>
        <p:spPr bwMode="gray">
          <a:xfrm>
            <a:off x="5289592" y="5566188"/>
            <a:ext cx="1590500" cy="307777"/>
          </a:xfrm>
          <a:prstGeom prst="rect">
            <a:avLst/>
          </a:prstGeom>
          <a:noFill/>
        </p:spPr>
        <p:txBody>
          <a:bodyPr wrap="none" rtlCol="0">
            <a:spAutoFit/>
          </a:bodyPr>
          <a:lstStyle/>
          <a:p>
            <a:pPr algn="ctr"/>
            <a:r>
              <a:rPr lang="en-US" altLang="zh-CN"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MPLS VPN</a:t>
            </a:r>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骨干网</a:t>
            </a:r>
            <a:endPar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8" name="组合 7"/>
          <p:cNvGrpSpPr/>
          <p:nvPr/>
        </p:nvGrpSpPr>
        <p:grpSpPr bwMode="gray">
          <a:xfrm>
            <a:off x="3827662" y="4586204"/>
            <a:ext cx="4513567" cy="723926"/>
            <a:chOff x="4088571" y="4424992"/>
            <a:chExt cx="4513567" cy="723926"/>
          </a:xfrm>
        </p:grpSpPr>
        <p:cxnSp>
          <p:nvCxnSpPr>
            <p:cNvPr id="9" name="直接连接符 8"/>
            <p:cNvCxnSpPr>
              <a:stCxn id="13" idx="3"/>
              <a:endCxn id="15" idx="1"/>
            </p:cNvCxnSpPr>
            <p:nvPr/>
          </p:nvCxnSpPr>
          <p:spPr bwMode="gray">
            <a:xfrm>
              <a:off x="4628571" y="4645901"/>
              <a:ext cx="343356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组合 9"/>
            <p:cNvGrpSpPr/>
            <p:nvPr/>
          </p:nvGrpSpPr>
          <p:grpSpPr bwMode="gray">
            <a:xfrm>
              <a:off x="6067674" y="4424992"/>
              <a:ext cx="540000" cy="723926"/>
              <a:chOff x="5312873" y="4947622"/>
              <a:chExt cx="540000" cy="723926"/>
            </a:xfrm>
          </p:grpSpPr>
          <p:pic>
            <p:nvPicPr>
              <p:cNvPr id="17" name="Picture 12" descr="E:\2016.01\1.12 扁平化图标\蓝色\AR-蓝色最新-40.png"/>
              <p:cNvPicPr>
                <a:picLocks noChangeAspect="1" noChangeArrowheads="1"/>
              </p:cNvPicPr>
              <p:nvPr/>
            </p:nvPicPr>
            <p:blipFill>
              <a:blip r:embed="rId3" cstate="print"/>
              <a:srcRect/>
              <a:stretch>
                <a:fillRect/>
              </a:stretch>
            </p:blipFill>
            <p:spPr bwMode="gray">
              <a:xfrm>
                <a:off x="5312873" y="4947622"/>
                <a:ext cx="540000" cy="441818"/>
              </a:xfrm>
              <a:prstGeom prst="rect">
                <a:avLst/>
              </a:prstGeom>
              <a:noFill/>
            </p:spPr>
          </p:pic>
          <p:sp>
            <p:nvSpPr>
              <p:cNvPr id="18" name="文本框 17"/>
              <p:cNvSpPr txBox="1"/>
              <p:nvPr/>
            </p:nvSpPr>
            <p:spPr bwMode="gray">
              <a:xfrm>
                <a:off x="5436839" y="5363771"/>
                <a:ext cx="292068"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1" name="组合 10"/>
            <p:cNvGrpSpPr/>
            <p:nvPr/>
          </p:nvGrpSpPr>
          <p:grpSpPr bwMode="gray">
            <a:xfrm>
              <a:off x="8062138" y="4424992"/>
              <a:ext cx="540000" cy="714804"/>
              <a:chOff x="8062138" y="4947622"/>
              <a:chExt cx="540000" cy="714804"/>
            </a:xfrm>
          </p:grpSpPr>
          <p:pic>
            <p:nvPicPr>
              <p:cNvPr id="15" name="Picture 12" descr="E:\2016.01\1.12 扁平化图标\蓝色\AR-蓝色最新-40.png"/>
              <p:cNvPicPr>
                <a:picLocks noChangeAspect="1" noChangeArrowheads="1"/>
              </p:cNvPicPr>
              <p:nvPr/>
            </p:nvPicPr>
            <p:blipFill>
              <a:blip r:embed="rId3" cstate="print"/>
              <a:srcRect/>
              <a:stretch>
                <a:fillRect/>
              </a:stretch>
            </p:blipFill>
            <p:spPr bwMode="gray">
              <a:xfrm>
                <a:off x="8062138" y="4947622"/>
                <a:ext cx="540000" cy="441818"/>
              </a:xfrm>
              <a:prstGeom prst="rect">
                <a:avLst/>
              </a:prstGeom>
              <a:noFill/>
            </p:spPr>
          </p:pic>
          <p:sp>
            <p:nvSpPr>
              <p:cNvPr id="16" name="文本框 15"/>
              <p:cNvSpPr txBox="1"/>
              <p:nvPr/>
            </p:nvSpPr>
            <p:spPr bwMode="gray">
              <a:xfrm>
                <a:off x="8084306" y="5354649"/>
                <a:ext cx="497252"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PE2</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2" name="组合 11"/>
            <p:cNvGrpSpPr/>
            <p:nvPr/>
          </p:nvGrpSpPr>
          <p:grpSpPr bwMode="gray">
            <a:xfrm>
              <a:off x="4088571" y="4424992"/>
              <a:ext cx="540000" cy="723926"/>
              <a:chOff x="4088571" y="4947622"/>
              <a:chExt cx="540000" cy="723926"/>
            </a:xfrm>
          </p:grpSpPr>
          <p:pic>
            <p:nvPicPr>
              <p:cNvPr id="13" name="Picture 12" descr="E:\2016.01\1.12 扁平化图标\蓝色\AR-蓝色最新-40.png"/>
              <p:cNvPicPr>
                <a:picLocks noChangeAspect="1" noChangeArrowheads="1"/>
              </p:cNvPicPr>
              <p:nvPr/>
            </p:nvPicPr>
            <p:blipFill>
              <a:blip r:embed="rId3" cstate="print"/>
              <a:srcRect/>
              <a:stretch>
                <a:fillRect/>
              </a:stretch>
            </p:blipFill>
            <p:spPr bwMode="gray">
              <a:xfrm>
                <a:off x="4088571" y="4947622"/>
                <a:ext cx="540000" cy="441818"/>
              </a:xfrm>
              <a:prstGeom prst="rect">
                <a:avLst/>
              </a:prstGeom>
              <a:noFill/>
            </p:spPr>
          </p:pic>
          <p:sp>
            <p:nvSpPr>
              <p:cNvPr id="14" name="文本框 13"/>
              <p:cNvSpPr txBox="1"/>
              <p:nvPr/>
            </p:nvSpPr>
            <p:spPr bwMode="gray">
              <a:xfrm>
                <a:off x="4109945" y="5363771"/>
                <a:ext cx="497252" cy="307777"/>
              </a:xfrm>
              <a:prstGeom prst="rect">
                <a:avLst/>
              </a:prstGeom>
              <a:noFill/>
            </p:spPr>
            <p:txBody>
              <a:bodyPr wrap="none" rtlCol="0">
                <a:spAutoFit/>
              </a:bodyPr>
              <a:lstStyle/>
              <a:p>
                <a:pPr algn="ct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PE1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grpSp>
        <p:nvGrpSpPr>
          <p:cNvPr id="19" name="组合 18"/>
          <p:cNvGrpSpPr/>
          <p:nvPr/>
        </p:nvGrpSpPr>
        <p:grpSpPr bwMode="gray">
          <a:xfrm>
            <a:off x="2139633" y="4164120"/>
            <a:ext cx="550687" cy="712575"/>
            <a:chOff x="4073209" y="4947622"/>
            <a:chExt cx="550687" cy="712575"/>
          </a:xfrm>
        </p:grpSpPr>
        <p:pic>
          <p:nvPicPr>
            <p:cNvPr id="20" name="Picture 12" descr="E:\2016.01\1.12 扁平化图标\蓝色\AR-蓝色最新-40.png"/>
            <p:cNvPicPr>
              <a:picLocks noChangeAspect="1" noChangeArrowheads="1"/>
            </p:cNvPicPr>
            <p:nvPr/>
          </p:nvPicPr>
          <p:blipFill>
            <a:blip r:embed="rId3" cstate="print"/>
            <a:srcRect/>
            <a:stretch>
              <a:fillRect/>
            </a:stretch>
          </p:blipFill>
          <p:spPr bwMode="gray">
            <a:xfrm>
              <a:off x="4073209" y="4947622"/>
              <a:ext cx="540000" cy="441818"/>
            </a:xfrm>
            <a:prstGeom prst="rect">
              <a:avLst/>
            </a:prstGeom>
            <a:noFill/>
          </p:spPr>
        </p:pic>
        <p:sp>
          <p:nvSpPr>
            <p:cNvPr id="21" name="文本框 20"/>
            <p:cNvSpPr txBox="1"/>
            <p:nvPr/>
          </p:nvSpPr>
          <p:spPr bwMode="gray">
            <a:xfrm>
              <a:off x="4121835" y="5352420"/>
              <a:ext cx="50206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2" name="圆角矩形 21"/>
          <p:cNvSpPr/>
          <p:nvPr/>
        </p:nvSpPr>
        <p:spPr bwMode="gray">
          <a:xfrm>
            <a:off x="933264" y="3916546"/>
            <a:ext cx="1873049" cy="994971"/>
          </a:xfrm>
          <a:prstGeom prst="roundRect">
            <a:avLst/>
          </a:prstGeom>
          <a:noFill/>
          <a:ln w="25400">
            <a:solidFill>
              <a:srgbClr val="8BC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3" name="组合 22"/>
          <p:cNvGrpSpPr/>
          <p:nvPr/>
        </p:nvGrpSpPr>
        <p:grpSpPr bwMode="gray">
          <a:xfrm>
            <a:off x="2127809" y="5245500"/>
            <a:ext cx="575533" cy="706640"/>
            <a:chOff x="4073209" y="4947622"/>
            <a:chExt cx="575533" cy="706640"/>
          </a:xfrm>
        </p:grpSpPr>
        <p:pic>
          <p:nvPicPr>
            <p:cNvPr id="24" name="Picture 12" descr="E:\2016.01\1.12 扁平化图标\蓝色\AR-蓝色最新-40.png"/>
            <p:cNvPicPr>
              <a:picLocks noChangeAspect="1" noChangeArrowheads="1"/>
            </p:cNvPicPr>
            <p:nvPr/>
          </p:nvPicPr>
          <p:blipFill>
            <a:blip r:embed="rId3" cstate="print"/>
            <a:srcRect/>
            <a:stretch>
              <a:fillRect/>
            </a:stretch>
          </p:blipFill>
          <p:spPr bwMode="gray">
            <a:xfrm>
              <a:off x="4073209" y="4947622"/>
              <a:ext cx="540000" cy="441818"/>
            </a:xfrm>
            <a:prstGeom prst="rect">
              <a:avLst/>
            </a:prstGeom>
            <a:noFill/>
          </p:spPr>
        </p:pic>
        <p:sp>
          <p:nvSpPr>
            <p:cNvPr id="25" name="文本框 24"/>
            <p:cNvSpPr txBox="1"/>
            <p:nvPr/>
          </p:nvSpPr>
          <p:spPr bwMode="gray">
            <a:xfrm>
              <a:off x="4146681" y="5346485"/>
              <a:ext cx="50206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CE2</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6" name="圆角矩形 25"/>
          <p:cNvSpPr/>
          <p:nvPr/>
        </p:nvSpPr>
        <p:spPr bwMode="gray">
          <a:xfrm>
            <a:off x="933264" y="4997926"/>
            <a:ext cx="1873049" cy="994971"/>
          </a:xfrm>
          <a:prstGeom prst="roundRect">
            <a:avLst/>
          </a:prstGeom>
          <a:noFill/>
          <a:ln w="254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圆角矩形 26"/>
          <p:cNvSpPr/>
          <p:nvPr/>
        </p:nvSpPr>
        <p:spPr bwMode="gray">
          <a:xfrm flipH="1">
            <a:off x="9347215" y="3916546"/>
            <a:ext cx="1873049" cy="994971"/>
          </a:xfrm>
          <a:prstGeom prst="roundRect">
            <a:avLst/>
          </a:prstGeom>
          <a:noFill/>
          <a:ln w="25400">
            <a:solidFill>
              <a:srgbClr val="8BC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圆角矩形 27"/>
          <p:cNvSpPr/>
          <p:nvPr/>
        </p:nvSpPr>
        <p:spPr bwMode="gray">
          <a:xfrm flipH="1">
            <a:off x="9359039" y="4997926"/>
            <a:ext cx="1873049" cy="994971"/>
          </a:xfrm>
          <a:prstGeom prst="roundRect">
            <a:avLst/>
          </a:prstGeom>
          <a:noFill/>
          <a:ln w="254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9" name="直接连接符 28"/>
          <p:cNvCxnSpPr>
            <a:stCxn id="20" idx="3"/>
            <a:endCxn id="13" idx="1"/>
          </p:cNvCxnSpPr>
          <p:nvPr/>
        </p:nvCxnSpPr>
        <p:spPr bwMode="gray">
          <a:xfrm>
            <a:off x="2679633" y="4385029"/>
            <a:ext cx="1148029" cy="42208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a:stCxn id="24" idx="3"/>
            <a:endCxn id="13" idx="1"/>
          </p:cNvCxnSpPr>
          <p:nvPr/>
        </p:nvCxnSpPr>
        <p:spPr bwMode="gray">
          <a:xfrm flipV="1">
            <a:off x="2667809" y="4807113"/>
            <a:ext cx="1159853" cy="65929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a:stCxn id="15" idx="3"/>
          </p:cNvCxnSpPr>
          <p:nvPr/>
        </p:nvCxnSpPr>
        <p:spPr bwMode="gray">
          <a:xfrm flipV="1">
            <a:off x="8341229" y="4385029"/>
            <a:ext cx="1132666" cy="42208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a:stCxn id="15" idx="3"/>
          </p:cNvCxnSpPr>
          <p:nvPr/>
        </p:nvCxnSpPr>
        <p:spPr bwMode="gray">
          <a:xfrm>
            <a:off x="8341229" y="4807113"/>
            <a:ext cx="1144490" cy="65929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文本框 32"/>
          <p:cNvSpPr txBox="1"/>
          <p:nvPr/>
        </p:nvSpPr>
        <p:spPr bwMode="gray">
          <a:xfrm>
            <a:off x="862702" y="4035478"/>
            <a:ext cx="1215397"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192.168.1.0/24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文本框 34"/>
          <p:cNvSpPr txBox="1"/>
          <p:nvPr/>
        </p:nvSpPr>
        <p:spPr bwMode="gray">
          <a:xfrm>
            <a:off x="905464" y="4560051"/>
            <a:ext cx="1124026" cy="350160"/>
          </a:xfrm>
          <a:prstGeom prst="rect">
            <a:avLst/>
          </a:prstGeom>
          <a:noFill/>
        </p:spPr>
        <p:txBody>
          <a:bodyPr wrap="none" rtlCol="0">
            <a:spAutoFit/>
          </a:bodyPr>
          <a:lstStyle/>
          <a:p>
            <a:pPr>
              <a:lnSpc>
                <a:spcPct val="130000"/>
              </a:lnSpc>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X</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A</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文本框 35"/>
          <p:cNvSpPr txBox="1"/>
          <p:nvPr/>
        </p:nvSpPr>
        <p:spPr bwMode="gray">
          <a:xfrm>
            <a:off x="905464" y="5679584"/>
            <a:ext cx="1112805" cy="350160"/>
          </a:xfrm>
          <a:prstGeom prst="rect">
            <a:avLst/>
          </a:prstGeom>
          <a:noFill/>
        </p:spPr>
        <p:txBody>
          <a:bodyPr wrap="none" rtlCol="0">
            <a:spAutoFit/>
          </a:bodyPr>
          <a:lstStyle/>
          <a:p>
            <a:pPr>
              <a:lnSpc>
                <a:spcPct val="130000"/>
              </a:lnSpc>
            </a:pPr>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Y</a:t>
            </a:r>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C</a:t>
            </a:r>
            <a:endPar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文本框 36"/>
          <p:cNvSpPr txBox="1"/>
          <p:nvPr/>
        </p:nvSpPr>
        <p:spPr bwMode="gray">
          <a:xfrm>
            <a:off x="10100001" y="4539107"/>
            <a:ext cx="1114408" cy="350160"/>
          </a:xfrm>
          <a:prstGeom prst="rect">
            <a:avLst/>
          </a:prstGeom>
          <a:noFill/>
        </p:spPr>
        <p:txBody>
          <a:bodyPr wrap="none" rtlCol="0">
            <a:spAutoFit/>
          </a:bodyPr>
          <a:lstStyle/>
          <a:p>
            <a:pPr>
              <a:lnSpc>
                <a:spcPct val="130000"/>
              </a:lnSpc>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X</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文本框 37"/>
          <p:cNvSpPr txBox="1"/>
          <p:nvPr/>
        </p:nvSpPr>
        <p:spPr bwMode="gray">
          <a:xfrm>
            <a:off x="10100001" y="5658640"/>
            <a:ext cx="1133644" cy="350160"/>
          </a:xfrm>
          <a:prstGeom prst="rect">
            <a:avLst/>
          </a:prstGeom>
          <a:noFill/>
        </p:spPr>
        <p:txBody>
          <a:bodyPr wrap="none" rtlCol="0">
            <a:spAutoFit/>
          </a:bodyPr>
          <a:lstStyle/>
          <a:p>
            <a:pPr>
              <a:lnSpc>
                <a:spcPct val="130000"/>
              </a:lnSpc>
            </a:pPr>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Y</a:t>
            </a:r>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42" name="组合 41"/>
          <p:cNvGrpSpPr/>
          <p:nvPr/>
        </p:nvGrpSpPr>
        <p:grpSpPr bwMode="gray">
          <a:xfrm>
            <a:off x="9473895" y="4164120"/>
            <a:ext cx="540000" cy="723926"/>
            <a:chOff x="4073209" y="4947622"/>
            <a:chExt cx="540000" cy="723926"/>
          </a:xfrm>
        </p:grpSpPr>
        <p:pic>
          <p:nvPicPr>
            <p:cNvPr id="43" name="Picture 12" descr="E:\2016.01\1.12 扁平化图标\蓝色\AR-蓝色最新-40.png"/>
            <p:cNvPicPr>
              <a:picLocks noChangeAspect="1" noChangeArrowheads="1"/>
            </p:cNvPicPr>
            <p:nvPr/>
          </p:nvPicPr>
          <p:blipFill>
            <a:blip r:embed="rId3" cstate="print"/>
            <a:srcRect/>
            <a:stretch>
              <a:fillRect/>
            </a:stretch>
          </p:blipFill>
          <p:spPr bwMode="gray">
            <a:xfrm>
              <a:off x="4073209" y="4947622"/>
              <a:ext cx="540000" cy="441818"/>
            </a:xfrm>
            <a:prstGeom prst="rect">
              <a:avLst/>
            </a:prstGeom>
            <a:noFill/>
          </p:spPr>
        </p:pic>
        <p:sp>
          <p:nvSpPr>
            <p:cNvPr id="44" name="文本框 43"/>
            <p:cNvSpPr txBox="1"/>
            <p:nvPr/>
          </p:nvSpPr>
          <p:spPr bwMode="gray">
            <a:xfrm>
              <a:off x="4086262" y="5363771"/>
              <a:ext cx="50206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CE3</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45" name="组合 44"/>
          <p:cNvGrpSpPr/>
          <p:nvPr/>
        </p:nvGrpSpPr>
        <p:grpSpPr bwMode="gray">
          <a:xfrm>
            <a:off x="9485719" y="5245500"/>
            <a:ext cx="552270" cy="723926"/>
            <a:chOff x="4060939" y="4947622"/>
            <a:chExt cx="552270" cy="723926"/>
          </a:xfrm>
        </p:grpSpPr>
        <p:pic>
          <p:nvPicPr>
            <p:cNvPr id="46" name="Picture 12" descr="E:\2016.01\1.12 扁平化图标\蓝色\AR-蓝色最新-40.png"/>
            <p:cNvPicPr>
              <a:picLocks noChangeAspect="1" noChangeArrowheads="1"/>
            </p:cNvPicPr>
            <p:nvPr/>
          </p:nvPicPr>
          <p:blipFill>
            <a:blip r:embed="rId3" cstate="print"/>
            <a:srcRect/>
            <a:stretch>
              <a:fillRect/>
            </a:stretch>
          </p:blipFill>
          <p:spPr bwMode="gray">
            <a:xfrm>
              <a:off x="4073209" y="4947622"/>
              <a:ext cx="540000" cy="441818"/>
            </a:xfrm>
            <a:prstGeom prst="rect">
              <a:avLst/>
            </a:prstGeom>
            <a:noFill/>
          </p:spPr>
        </p:pic>
        <p:sp>
          <p:nvSpPr>
            <p:cNvPr id="47" name="文本框 46"/>
            <p:cNvSpPr txBox="1"/>
            <p:nvPr/>
          </p:nvSpPr>
          <p:spPr bwMode="gray">
            <a:xfrm>
              <a:off x="4060939" y="5363771"/>
              <a:ext cx="50206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CE4</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60" name="直接箭头连接符 59"/>
          <p:cNvCxnSpPr>
            <a:stCxn id="20" idx="0"/>
            <a:endCxn id="49" idx="2"/>
          </p:cNvCxnSpPr>
          <p:nvPr/>
        </p:nvCxnSpPr>
        <p:spPr bwMode="gray">
          <a:xfrm flipV="1">
            <a:off x="2409633" y="3301017"/>
            <a:ext cx="0" cy="863103"/>
          </a:xfrm>
          <a:prstGeom prst="straightConnector1">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49" name="圆角矩形 48"/>
          <p:cNvSpPr/>
          <p:nvPr/>
        </p:nvSpPr>
        <p:spPr bwMode="gray">
          <a:xfrm>
            <a:off x="502634" y="2549439"/>
            <a:ext cx="3813998" cy="751578"/>
          </a:xfrm>
          <a:prstGeom prst="roundRect">
            <a:avLst>
              <a:gd name="adj" fmla="val 2303"/>
            </a:avLst>
          </a:prstGeom>
          <a:solidFill>
            <a:srgbClr val="FEEEC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fontAlgn="auto">
              <a:lnSpc>
                <a:spcPts val="2200"/>
              </a:lnSpc>
              <a:spcBef>
                <a:spcPts val="0"/>
              </a:spcBef>
              <a:spcAft>
                <a:spcPts val="0"/>
              </a:spcAft>
              <a:buFont typeface="+mj-lt"/>
              <a:buAutoNum type="arabicPeriod" startAt="9"/>
            </a:pPr>
            <a:r>
              <a:rPr lang="en-US" altLang="zh-CN"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CE1</a:t>
            </a: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收到该</a:t>
            </a:r>
            <a:r>
              <a:rPr lang="en-US" altLang="zh-CN"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IPv4</a:t>
            </a: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报文后，进行常规的</a:t>
            </a:r>
            <a:r>
              <a:rPr lang="en-US" altLang="zh-CN"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IPv4</a:t>
            </a: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处理流程。</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矩形 32"/>
          <p:cNvSpPr>
            <a:spLocks/>
          </p:cNvSpPr>
          <p:nvPr/>
        </p:nvSpPr>
        <p:spPr bwMode="gray">
          <a:xfrm>
            <a:off x="2690320" y="3832564"/>
            <a:ext cx="999390" cy="289666"/>
          </a:xfrm>
          <a:prstGeom prst="rect">
            <a:avLst/>
          </a:prstGeom>
          <a:solidFill>
            <a:srgbClr val="FFF2CC"/>
          </a:solidFill>
          <a:ln w="12700" cap="flat" cmpd="sng" algn="ctr">
            <a:solidFill>
              <a:schemeClr val="tx1"/>
            </a:solidFill>
            <a:prstDash val="solid"/>
            <a:miter lim="800000"/>
          </a:ln>
          <a:effectLst/>
        </p:spPr>
        <p:txBody>
          <a:bodyPr rtlCol="0" anchor="ctr"/>
          <a:lstStyle/>
          <a:p>
            <a:pPr algn="ctr" defTabSz="914400"/>
            <a:r>
              <a:rPr lang="en-US" altLang="zh-CN" sz="1400" kern="0" dirty="0" smtClean="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kern="0" dirty="0" smtClean="0">
                <a:latin typeface="Huawei Sans" panose="020C0503030203020204" pitchFamily="34" charset="0"/>
                <a:ea typeface="方正兰亭黑简体" panose="02000000000000000000" pitchFamily="2" charset="-122"/>
                <a:sym typeface="Huawei Sans" panose="020C0503030203020204" pitchFamily="34" charset="0"/>
              </a:rPr>
              <a:t>报文</a:t>
            </a:r>
            <a:endParaRPr lang="zh-CN" altLang="en-US" sz="14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82276231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bwMode="gray"/>
        <p:txBody>
          <a:bodyPr/>
          <a:lstStyle/>
          <a:p>
            <a:r>
              <a:rPr lang="en-US" altLang="zh-CN" dirty="0" smtClean="0">
                <a:solidFill>
                  <a:schemeClr val="bg1">
                    <a:lumMod val="50000"/>
                  </a:schemeClr>
                </a:solidFill>
                <a:sym typeface="Huawei Sans" panose="020C0503030203020204" pitchFamily="34" charset="0"/>
              </a:rPr>
              <a:t>MPLS VPN</a:t>
            </a:r>
            <a:r>
              <a:rPr lang="zh-CN" altLang="en-US" dirty="0" smtClean="0">
                <a:solidFill>
                  <a:schemeClr val="bg1">
                    <a:lumMod val="50000"/>
                  </a:schemeClr>
                </a:solidFill>
                <a:sym typeface="Huawei Sans" panose="020C0503030203020204" pitchFamily="34" charset="0"/>
              </a:rPr>
              <a:t>概述</a:t>
            </a:r>
            <a:endParaRPr lang="en-US" altLang="zh-CN" dirty="0" smtClean="0">
              <a:solidFill>
                <a:schemeClr val="bg1">
                  <a:lumMod val="50000"/>
                </a:schemeClr>
              </a:solidFill>
              <a:sym typeface="Huawei Sans" panose="020C0503030203020204" pitchFamily="34" charset="0"/>
            </a:endParaRPr>
          </a:p>
          <a:p>
            <a:r>
              <a:rPr lang="en-US" altLang="zh-CN" dirty="0" smtClean="0">
                <a:solidFill>
                  <a:schemeClr val="bg1">
                    <a:lumMod val="50000"/>
                  </a:schemeClr>
                </a:solidFill>
                <a:sym typeface="Huawei Sans" panose="020C0503030203020204" pitchFamily="34" charset="0"/>
              </a:rPr>
              <a:t>MPLS VPN</a:t>
            </a:r>
            <a:r>
              <a:rPr lang="zh-CN" altLang="en-US" dirty="0" smtClean="0">
                <a:solidFill>
                  <a:schemeClr val="bg1">
                    <a:lumMod val="50000"/>
                  </a:schemeClr>
                </a:solidFill>
                <a:sym typeface="Huawei Sans" panose="020C0503030203020204" pitchFamily="34" charset="0"/>
              </a:rPr>
              <a:t>路由交互</a:t>
            </a:r>
            <a:endParaRPr lang="en-US" altLang="zh-CN" dirty="0" smtClean="0">
              <a:solidFill>
                <a:schemeClr val="bg1">
                  <a:lumMod val="50000"/>
                </a:schemeClr>
              </a:solidFill>
              <a:sym typeface="Huawei Sans" panose="020C0503030203020204" pitchFamily="34" charset="0"/>
            </a:endParaRPr>
          </a:p>
          <a:p>
            <a:r>
              <a:rPr lang="en-US" altLang="zh-CN" dirty="0" smtClean="0">
                <a:solidFill>
                  <a:schemeClr val="bg1">
                    <a:lumMod val="50000"/>
                  </a:schemeClr>
                </a:solidFill>
                <a:sym typeface="Huawei Sans" panose="020C0503030203020204" pitchFamily="34" charset="0"/>
              </a:rPr>
              <a:t>MPLS  VPN</a:t>
            </a:r>
            <a:r>
              <a:rPr lang="zh-CN" altLang="en-US" dirty="0" smtClean="0">
                <a:solidFill>
                  <a:schemeClr val="bg1">
                    <a:lumMod val="50000"/>
                  </a:schemeClr>
                </a:solidFill>
                <a:sym typeface="Huawei Sans" panose="020C0503030203020204" pitchFamily="34" charset="0"/>
              </a:rPr>
              <a:t>报文转发</a:t>
            </a:r>
            <a:endParaRPr lang="en-US" altLang="zh-CN" dirty="0" smtClean="0">
              <a:solidFill>
                <a:schemeClr val="bg1">
                  <a:lumMod val="50000"/>
                </a:schemeClr>
              </a:solidFill>
              <a:sym typeface="Huawei Sans" panose="020C0503030203020204" pitchFamily="34" charset="0"/>
            </a:endParaRPr>
          </a:p>
          <a:p>
            <a:r>
              <a:rPr lang="en-US" altLang="zh-CN" b="1" dirty="0" smtClean="0">
                <a:sym typeface="Huawei Sans" panose="020C0503030203020204" pitchFamily="34" charset="0"/>
              </a:rPr>
              <a:t>MPLS VPN</a:t>
            </a:r>
            <a:r>
              <a:rPr lang="zh-CN" altLang="en-US" b="1" dirty="0" smtClean="0">
                <a:sym typeface="Huawei Sans" panose="020C0503030203020204" pitchFamily="34" charset="0"/>
              </a:rPr>
              <a:t>配置与实现</a:t>
            </a:r>
            <a:endParaRPr lang="en-US" altLang="zh-CN" b="1" dirty="0" smtClean="0">
              <a:sym typeface="Huawei Sans" panose="020C0503030203020204" pitchFamily="34" charset="0"/>
            </a:endParaRPr>
          </a:p>
          <a:p>
            <a:endParaRPr lang="zh-CN" altLang="en-US" dirty="0">
              <a:sym typeface="Huawei Sans" panose="020C0503030203020204" pitchFamily="34" charset="0"/>
            </a:endParaRPr>
          </a:p>
        </p:txBody>
      </p:sp>
    </p:spTree>
    <p:extLst>
      <p:ext uri="{BB962C8B-B14F-4D97-AF65-F5344CB8AC3E}">
        <p14:creationId xmlns:p14="http://schemas.microsoft.com/office/powerpoint/2010/main" val="2046825740"/>
      </p:ext>
    </p:extLst>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lstStyle/>
          <a:p>
            <a:r>
              <a:rPr lang="zh-CN" altLang="en-US" dirty="0" smtClean="0"/>
              <a:t>配置命令</a:t>
            </a:r>
            <a:r>
              <a:rPr lang="zh-CN" altLang="en-US" dirty="0"/>
              <a:t>：</a:t>
            </a:r>
            <a:r>
              <a:rPr lang="en-US" altLang="zh-CN" dirty="0" smtClean="0"/>
              <a:t>VPN</a:t>
            </a:r>
            <a:r>
              <a:rPr lang="zh-CN" altLang="en-US" dirty="0" smtClean="0"/>
              <a:t>实例配置 </a:t>
            </a:r>
            <a:r>
              <a:rPr lang="en-US" altLang="zh-CN" dirty="0" smtClean="0"/>
              <a:t>(1)</a:t>
            </a:r>
            <a:endParaRPr lang="zh-CN" altLang="en-US" dirty="0"/>
          </a:p>
        </p:txBody>
      </p:sp>
      <p:grpSp>
        <p:nvGrpSpPr>
          <p:cNvPr id="2" name="组合 1"/>
          <p:cNvGrpSpPr/>
          <p:nvPr/>
        </p:nvGrpSpPr>
        <p:grpSpPr bwMode="gray">
          <a:xfrm>
            <a:off x="556146" y="1183861"/>
            <a:ext cx="11089232" cy="4915526"/>
            <a:chOff x="551384" y="1098612"/>
            <a:chExt cx="11089232" cy="4915526"/>
          </a:xfrm>
        </p:grpSpPr>
        <p:sp>
          <p:nvSpPr>
            <p:cNvPr id="4" name="矩形 3">
              <a:extLst>
                <a:ext uri="{FF2B5EF4-FFF2-40B4-BE49-F238E27FC236}">
                  <a16:creationId xmlns:a16="http://schemas.microsoft.com/office/drawing/2014/main" xmlns="" id="{4155CF1B-D6D5-4CBC-A7C4-3539BA1D8C49}"/>
                </a:ext>
              </a:extLst>
            </p:cNvPr>
            <p:cNvSpPr/>
            <p:nvPr/>
          </p:nvSpPr>
          <p:spPr bwMode="gray">
            <a:xfrm>
              <a:off x="1031917" y="1530759"/>
              <a:ext cx="10608699" cy="307777"/>
            </a:xfrm>
            <a:prstGeom prst="rect">
              <a:avLst/>
            </a:prstGeom>
            <a:solidFill>
              <a:schemeClr val="bg1">
                <a:lumMod val="85000"/>
              </a:schemeClr>
            </a:solidFill>
            <a:ln>
              <a:noFill/>
            </a:ln>
          </p:spPr>
          <p:txBody>
            <a:bodyPr wrap="square">
              <a:spAutoFit/>
            </a:bodyPr>
            <a:lstStyle/>
            <a:p>
              <a:pPr fontAlgn="base"/>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[PE] </a:t>
              </a:r>
              <a:r>
                <a:rPr lang="en-US" altLang="zh-CN" sz="1400" b="1" dirty="0" err="1"/>
                <a:t>ip</a:t>
              </a:r>
              <a:r>
                <a:rPr lang="en-US" altLang="zh-CN" sz="1400" b="1" dirty="0"/>
                <a:t> </a:t>
              </a:r>
              <a:r>
                <a:rPr lang="en-US" altLang="zh-CN" sz="1400" b="1" dirty="0" err="1"/>
                <a:t>vpn</a:t>
              </a:r>
              <a:r>
                <a:rPr lang="en-US" altLang="zh-CN" sz="1400" b="1" dirty="0"/>
                <a:t>-instance</a:t>
              </a:r>
              <a:r>
                <a:rPr lang="en-US" altLang="zh-CN" sz="1400" dirty="0"/>
                <a:t> </a:t>
              </a:r>
              <a:r>
                <a:rPr lang="en-US" altLang="zh-CN" sz="1400" i="1" dirty="0" err="1"/>
                <a:t>vpn</a:t>
              </a:r>
              <a:r>
                <a:rPr lang="en-US" altLang="zh-CN" sz="1400" i="1" dirty="0"/>
                <a:t>-instance-name</a:t>
              </a:r>
              <a:endParaRPr lang="zh-CN" altLang="en-US" sz="14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5" name="矩形 4">
              <a:extLst>
                <a:ext uri="{FF2B5EF4-FFF2-40B4-BE49-F238E27FC236}">
                  <a16:creationId xmlns:a16="http://schemas.microsoft.com/office/drawing/2014/main" xmlns="" id="{44C4E0BA-5C90-4FB6-BCA6-99B663B19FA8}"/>
                </a:ext>
              </a:extLst>
            </p:cNvPr>
            <p:cNvSpPr/>
            <p:nvPr/>
          </p:nvSpPr>
          <p:spPr bwMode="gray">
            <a:xfrm>
              <a:off x="551384" y="1098612"/>
              <a:ext cx="11089232" cy="307777"/>
            </a:xfrm>
            <a:prstGeom prst="rect">
              <a:avLst/>
            </a:prstGeom>
          </p:spPr>
          <p:txBody>
            <a:bodyPr wrap="square">
              <a:spAutoFit/>
            </a:bodyPr>
            <a:lstStyle/>
            <a:p>
              <a:pPr marL="342900" indent="-342900" fontAlgn="auto">
                <a:buFont typeface="+mj-lt"/>
                <a:buAutoNum type="arabicPeriod"/>
              </a:pPr>
              <a:r>
                <a:rPr lang="zh-CN" altLang="en-US"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创建</a:t>
              </a: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VPN</a:t>
              </a:r>
              <a:r>
                <a:rPr lang="zh-CN" altLang="en-US"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实例</a:t>
              </a: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zh-CN" altLang="en-US"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进入</a:t>
              </a: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VPN</a:t>
              </a:r>
              <a:r>
                <a:rPr lang="zh-CN" altLang="en-US"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实例视图</a:t>
              </a:r>
              <a:endPar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6" name="矩形 5">
              <a:extLst>
                <a:ext uri="{FF2B5EF4-FFF2-40B4-BE49-F238E27FC236}">
                  <a16:creationId xmlns:a16="http://schemas.microsoft.com/office/drawing/2014/main" xmlns="" id="{2683E34D-F948-4861-A2DA-5897E9554D17}"/>
                </a:ext>
              </a:extLst>
            </p:cNvPr>
            <p:cNvSpPr/>
            <p:nvPr/>
          </p:nvSpPr>
          <p:spPr bwMode="gray">
            <a:xfrm>
              <a:off x="1031917" y="1839911"/>
              <a:ext cx="10608699" cy="384592"/>
            </a:xfrm>
            <a:prstGeom prst="rect">
              <a:avLst/>
            </a:prstGeom>
          </p:spPr>
          <p:txBody>
            <a:bodyPr wrap="square">
              <a:spAutoFit/>
            </a:bodyPr>
            <a:lstStyle/>
            <a:p>
              <a:pPr fontAlgn="auto">
                <a:lnSpc>
                  <a:spcPts val="2400"/>
                </a:lnSpc>
              </a:pPr>
              <a:r>
                <a:rPr lang="zh-CN" altLang="en-US" sz="1400" dirty="0"/>
                <a:t>缺省情况下，未配置</a:t>
              </a:r>
              <a:r>
                <a:rPr lang="en-US" altLang="zh-CN" sz="1400" dirty="0"/>
                <a:t>VPN</a:t>
              </a:r>
              <a:r>
                <a:rPr lang="zh-CN" altLang="en-US" sz="1400" dirty="0"/>
                <a:t>实例。</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7" name="矩形 6">
              <a:extLst>
                <a:ext uri="{FF2B5EF4-FFF2-40B4-BE49-F238E27FC236}">
                  <a16:creationId xmlns:a16="http://schemas.microsoft.com/office/drawing/2014/main" xmlns="" id="{4155CF1B-D6D5-4CBC-A7C4-3539BA1D8C49}"/>
                </a:ext>
              </a:extLst>
            </p:cNvPr>
            <p:cNvSpPr/>
            <p:nvPr/>
          </p:nvSpPr>
          <p:spPr bwMode="gray">
            <a:xfrm>
              <a:off x="1031917" y="2650909"/>
              <a:ext cx="10608699" cy="307777"/>
            </a:xfrm>
            <a:prstGeom prst="rect">
              <a:avLst/>
            </a:prstGeom>
            <a:solidFill>
              <a:schemeClr val="bg1">
                <a:lumMod val="85000"/>
              </a:schemeClr>
            </a:solidFill>
            <a:ln>
              <a:noFill/>
            </a:ln>
          </p:spPr>
          <p:txBody>
            <a:bodyPr wrap="square">
              <a:spAutoFit/>
            </a:bodyPr>
            <a:lstStyle/>
            <a:p>
              <a:pPr fontAlgn="base"/>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[PE-</a:t>
              </a:r>
              <a:r>
                <a:rPr lang="en-US" altLang="zh-CN" sz="1400" dirty="0" err="1" smtClean="0"/>
                <a:t>vpn</a:t>
              </a:r>
              <a:r>
                <a:rPr lang="en-US" altLang="zh-CN" sz="1400" dirty="0" smtClean="0"/>
                <a:t>-instance-</a:t>
              </a:r>
              <a:r>
                <a:rPr lang="en-US" altLang="zh-CN" sz="1400" dirty="0" err="1" smtClean="0"/>
                <a:t>InstanceName</a:t>
              </a: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400" b="1" dirty="0"/>
                <a:t> ipv4-family</a:t>
              </a: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endParaRPr lang="zh-CN" altLang="en-US" sz="14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8" name="矩形 7">
              <a:extLst>
                <a:ext uri="{FF2B5EF4-FFF2-40B4-BE49-F238E27FC236}">
                  <a16:creationId xmlns:a16="http://schemas.microsoft.com/office/drawing/2014/main" xmlns="" id="{44C4E0BA-5C90-4FB6-BCA6-99B663B19FA8}"/>
                </a:ext>
              </a:extLst>
            </p:cNvPr>
            <p:cNvSpPr/>
            <p:nvPr/>
          </p:nvSpPr>
          <p:spPr bwMode="gray">
            <a:xfrm>
              <a:off x="551384" y="2218762"/>
              <a:ext cx="11089232" cy="307777"/>
            </a:xfrm>
            <a:prstGeom prst="rect">
              <a:avLst/>
            </a:prstGeom>
          </p:spPr>
          <p:txBody>
            <a:bodyPr wrap="square">
              <a:spAutoFit/>
            </a:bodyPr>
            <a:lstStyle/>
            <a:p>
              <a:pPr marL="342900" indent="-342900" fontAlgn="auto">
                <a:buFont typeface="+mj-lt"/>
                <a:buAutoNum type="arabicPeriod" startAt="2"/>
              </a:pPr>
              <a:r>
                <a:rPr lang="zh-CN" altLang="en-US" sz="1400" dirty="0"/>
                <a:t>使能</a:t>
              </a:r>
              <a:r>
                <a:rPr lang="en-US" altLang="zh-CN" sz="1400" dirty="0"/>
                <a:t>VPN</a:t>
              </a:r>
              <a:r>
                <a:rPr lang="zh-CN" altLang="en-US" sz="1400" dirty="0"/>
                <a:t>实例的</a:t>
              </a:r>
              <a:r>
                <a:rPr lang="en-US" altLang="zh-CN" sz="1400" dirty="0"/>
                <a:t>IPv4</a:t>
              </a:r>
              <a:r>
                <a:rPr lang="zh-CN" altLang="en-US" sz="1400" dirty="0"/>
                <a:t>地址</a:t>
              </a:r>
              <a:r>
                <a:rPr lang="zh-CN" altLang="en-US" sz="1400" dirty="0" smtClean="0"/>
                <a:t>族</a:t>
              </a:r>
              <a:r>
                <a:rPr lang="en-US" altLang="zh-CN" sz="1400" dirty="0" smtClean="0"/>
                <a:t>/</a:t>
              </a:r>
              <a:r>
                <a:rPr lang="zh-CN" altLang="en-US" sz="1400" dirty="0" smtClean="0"/>
                <a:t>进入</a:t>
              </a:r>
              <a:r>
                <a:rPr lang="en-US" altLang="zh-CN" sz="1400" dirty="0"/>
                <a:t>VPN</a:t>
              </a:r>
              <a:r>
                <a:rPr lang="zh-CN" altLang="en-US" sz="1400" dirty="0"/>
                <a:t>实例</a:t>
              </a:r>
              <a:r>
                <a:rPr lang="en-US" altLang="zh-CN" sz="1400" dirty="0"/>
                <a:t>IPv4</a:t>
              </a:r>
              <a:r>
                <a:rPr lang="zh-CN" altLang="en-US" sz="1400" dirty="0"/>
                <a:t>地址族视图</a:t>
              </a:r>
              <a:endPar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9" name="矩形 8">
              <a:extLst>
                <a:ext uri="{FF2B5EF4-FFF2-40B4-BE49-F238E27FC236}">
                  <a16:creationId xmlns:a16="http://schemas.microsoft.com/office/drawing/2014/main" xmlns="" id="{2683E34D-F948-4861-A2DA-5897E9554D17}"/>
                </a:ext>
              </a:extLst>
            </p:cNvPr>
            <p:cNvSpPr/>
            <p:nvPr/>
          </p:nvSpPr>
          <p:spPr bwMode="gray">
            <a:xfrm>
              <a:off x="1031917" y="2960061"/>
              <a:ext cx="10608699" cy="384592"/>
            </a:xfrm>
            <a:prstGeom prst="rect">
              <a:avLst/>
            </a:prstGeom>
          </p:spPr>
          <p:txBody>
            <a:bodyPr wrap="square">
              <a:spAutoFit/>
            </a:bodyPr>
            <a:lstStyle/>
            <a:p>
              <a:pPr fontAlgn="auto">
                <a:lnSpc>
                  <a:spcPts val="2400"/>
                </a:lnSpc>
              </a:pPr>
              <a:r>
                <a:rPr lang="zh-CN" altLang="en-US" sz="1400" dirty="0"/>
                <a:t>缺省情况下，未使能</a:t>
              </a:r>
              <a:r>
                <a:rPr lang="en-US" altLang="zh-CN" sz="1400" dirty="0"/>
                <a:t>VPN</a:t>
              </a:r>
              <a:r>
                <a:rPr lang="zh-CN" altLang="en-US" sz="1400" dirty="0"/>
                <a:t>实例的</a:t>
              </a:r>
              <a:r>
                <a:rPr lang="en-US" altLang="zh-CN" sz="1400" dirty="0"/>
                <a:t>IPv4</a:t>
              </a:r>
              <a:r>
                <a:rPr lang="zh-CN" altLang="en-US" sz="1400" dirty="0"/>
                <a:t>地址族。</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0" name="矩形 9">
              <a:extLst>
                <a:ext uri="{FF2B5EF4-FFF2-40B4-BE49-F238E27FC236}">
                  <a16:creationId xmlns:a16="http://schemas.microsoft.com/office/drawing/2014/main" xmlns="" id="{4155CF1B-D6D5-4CBC-A7C4-3539BA1D8C49}"/>
                </a:ext>
              </a:extLst>
            </p:cNvPr>
            <p:cNvSpPr/>
            <p:nvPr/>
          </p:nvSpPr>
          <p:spPr bwMode="gray">
            <a:xfrm>
              <a:off x="1031917" y="3765994"/>
              <a:ext cx="10608699" cy="307777"/>
            </a:xfrm>
            <a:prstGeom prst="rect">
              <a:avLst/>
            </a:prstGeom>
            <a:solidFill>
              <a:schemeClr val="bg1">
                <a:lumMod val="85000"/>
              </a:schemeClr>
            </a:solidFill>
            <a:ln>
              <a:noFill/>
            </a:ln>
          </p:spPr>
          <p:txBody>
            <a:bodyPr wrap="square">
              <a:spAutoFit/>
            </a:bodyPr>
            <a:lstStyle/>
            <a:p>
              <a:pPr fontAlgn="base"/>
              <a:r>
                <a:rPr lang="en-US" altLang="zh-CN" sz="1400" dirty="0" smtClean="0"/>
                <a:t>[PE-</a:t>
              </a:r>
              <a:r>
                <a:rPr lang="en-US" altLang="zh-CN" sz="1400" dirty="0" err="1" smtClean="0"/>
                <a:t>vpn</a:t>
              </a:r>
              <a:r>
                <a:rPr lang="en-US" altLang="zh-CN" sz="1400" dirty="0" smtClean="0"/>
                <a:t>-instance-</a:t>
              </a:r>
              <a:r>
                <a:rPr lang="en-US" altLang="zh-CN" sz="1400" dirty="0" err="1" smtClean="0"/>
                <a:t>InstanceName</a:t>
              </a:r>
              <a:r>
                <a:rPr lang="en-US" altLang="zh-CN" sz="1400" dirty="0" smtClean="0"/>
                <a:t>]</a:t>
              </a:r>
              <a:r>
                <a:rPr lang="en-US" altLang="zh-CN" sz="1400" b="1" dirty="0" smtClean="0"/>
                <a:t> </a:t>
              </a:r>
              <a:r>
                <a:rPr lang="en-US" altLang="zh-CN" sz="1400" b="1" dirty="0"/>
                <a:t>route-distinguisher</a:t>
              </a:r>
              <a:r>
                <a:rPr lang="en-US" altLang="zh-CN" sz="1400" dirty="0"/>
                <a:t> </a:t>
              </a:r>
              <a:r>
                <a:rPr lang="en-US" altLang="zh-CN" sz="1400" i="1" dirty="0" err="1"/>
                <a:t>route-distinguisher</a:t>
              </a:r>
              <a:r>
                <a:rPr lang="en-US" altLang="zh-CN" sz="1400" dirty="0" smtClean="0"/>
                <a:t> </a:t>
              </a:r>
              <a:endParaRPr lang="zh-CN" altLang="en-US" sz="14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1" name="矩形 10">
              <a:extLst>
                <a:ext uri="{FF2B5EF4-FFF2-40B4-BE49-F238E27FC236}">
                  <a16:creationId xmlns:a16="http://schemas.microsoft.com/office/drawing/2014/main" xmlns="" id="{44C4E0BA-5C90-4FB6-BCA6-99B663B19FA8}"/>
                </a:ext>
              </a:extLst>
            </p:cNvPr>
            <p:cNvSpPr/>
            <p:nvPr/>
          </p:nvSpPr>
          <p:spPr bwMode="gray">
            <a:xfrm>
              <a:off x="551384" y="3333847"/>
              <a:ext cx="11089232" cy="307777"/>
            </a:xfrm>
            <a:prstGeom prst="rect">
              <a:avLst/>
            </a:prstGeom>
          </p:spPr>
          <p:txBody>
            <a:bodyPr wrap="square">
              <a:spAutoFit/>
            </a:bodyPr>
            <a:lstStyle/>
            <a:p>
              <a:pPr marL="342900" indent="-342900" fontAlgn="auto">
                <a:buFont typeface="+mj-lt"/>
                <a:buAutoNum type="arabicPeriod" startAt="3"/>
              </a:pPr>
              <a:r>
                <a:rPr lang="zh-CN" altLang="en-US" sz="1400" dirty="0"/>
                <a:t>为</a:t>
              </a:r>
              <a:r>
                <a:rPr lang="en-US" altLang="zh-CN" sz="1400" dirty="0"/>
                <a:t>VPN</a:t>
              </a:r>
              <a:r>
                <a:rPr lang="zh-CN" altLang="en-US" sz="1400" dirty="0"/>
                <a:t>实例地址族配置路由标识</a:t>
              </a:r>
              <a:r>
                <a:rPr lang="en-US" altLang="zh-CN" sz="1400" dirty="0"/>
                <a:t>RD</a:t>
              </a:r>
              <a:endPar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2" name="矩形 11">
              <a:extLst>
                <a:ext uri="{FF2B5EF4-FFF2-40B4-BE49-F238E27FC236}">
                  <a16:creationId xmlns:a16="http://schemas.microsoft.com/office/drawing/2014/main" xmlns="" id="{2683E34D-F948-4861-A2DA-5897E9554D17}"/>
                </a:ext>
              </a:extLst>
            </p:cNvPr>
            <p:cNvSpPr/>
            <p:nvPr/>
          </p:nvSpPr>
          <p:spPr bwMode="gray">
            <a:xfrm>
              <a:off x="1031917" y="4075146"/>
              <a:ext cx="10608699" cy="1938992"/>
            </a:xfrm>
            <a:prstGeom prst="rect">
              <a:avLst/>
            </a:prstGeom>
          </p:spPr>
          <p:txBody>
            <a:bodyPr wrap="square">
              <a:spAutoFit/>
            </a:bodyPr>
            <a:lstStyle/>
            <a:p>
              <a:pPr fontAlgn="auto">
                <a:lnSpc>
                  <a:spcPts val="2400"/>
                </a:lnSpc>
              </a:pP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RD</a:t>
              </a:r>
              <a:r>
                <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常见</a:t>
              </a:r>
              <a:r>
                <a:rPr lang="zh-CN" altLang="en-US"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格式有两种：</a:t>
              </a:r>
              <a:endPar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marL="540000" indent="-285750">
                <a:lnSpc>
                  <a:spcPts val="2400"/>
                </a:lnSpc>
                <a:buFont typeface="Arial" panose="020B0604020202020204" pitchFamily="34" charset="0"/>
                <a:buChar char="•"/>
              </a:pP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2</a:t>
              </a:r>
              <a:r>
                <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字节自治系统</a:t>
              </a:r>
              <a:r>
                <a:rPr lang="zh-CN" altLang="en-US"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号</a:t>
              </a:r>
              <a:r>
                <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4</a:t>
              </a:r>
              <a:r>
                <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字节用户自定义</a:t>
              </a:r>
              <a:r>
                <a:rPr lang="zh-CN" altLang="en-US"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数，例如</a:t>
              </a: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100:1</a:t>
              </a:r>
              <a:r>
                <a:rPr lang="zh-CN" altLang="en-US"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endPar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marL="540000" indent="-285750">
                <a:lnSpc>
                  <a:spcPts val="2400"/>
                </a:lnSpc>
                <a:buFont typeface="Arial" panose="020B0604020202020204" pitchFamily="34" charset="0"/>
                <a:buChar char="•"/>
              </a:pP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IPv4</a:t>
              </a:r>
              <a:r>
                <a:rPr lang="zh-CN" altLang="en-US"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地址</a:t>
              </a:r>
              <a:r>
                <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2</a:t>
              </a:r>
              <a:r>
                <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字节用户自定义</a:t>
              </a:r>
              <a:r>
                <a:rPr lang="zh-CN" altLang="en-US"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数，例如</a:t>
              </a:r>
              <a:r>
                <a:rPr lang="en-US" altLang="zh-CN" sz="1400" dirty="0" smtClean="0"/>
                <a:t>192.168.122.15:1</a:t>
              </a:r>
              <a:r>
                <a:rPr lang="zh-CN" altLang="en-US" sz="1400" dirty="0" smtClean="0"/>
                <a:t>。</a:t>
              </a:r>
              <a:endParaRPr lang="en-US" altLang="zh-CN" sz="1400" dirty="0" smtClean="0"/>
            </a:p>
            <a:p>
              <a:pPr>
                <a:lnSpc>
                  <a:spcPts val="2400"/>
                </a:lnSpc>
              </a:pPr>
              <a:r>
                <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无论采用哪种格式，必须保证</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RD</a:t>
              </a:r>
              <a:r>
                <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值全局唯一</a:t>
              </a:r>
              <a:r>
                <a:rPr lang="zh-CN" altLang="en-US"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endPar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a:lnSpc>
                  <a:spcPts val="2400"/>
                </a:lnSpc>
              </a:pP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rPr>
                <a:t>VPN</a:t>
              </a:r>
              <a:r>
                <a:rPr lang="zh-CN" altLang="en-US" sz="1400" dirty="0">
                  <a:latin typeface="Huawei Sans" panose="020C0503030203020204" pitchFamily="34" charset="0"/>
                  <a:ea typeface="方正兰亭黑简体" panose="02000000000000000000" pitchFamily="2" charset="-122"/>
                  <a:cs typeface="Courier New" panose="02070309020205020404" pitchFamily="49" charset="0"/>
                </a:rPr>
                <a:t>实例地址族下一旦配置</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rPr>
                <a:t>RD</a:t>
              </a:r>
              <a:r>
                <a:rPr lang="zh-CN" altLang="en-US" sz="1400" dirty="0">
                  <a:latin typeface="Huawei Sans" panose="020C0503030203020204" pitchFamily="34" charset="0"/>
                  <a:ea typeface="方正兰亭黑简体" panose="02000000000000000000" pitchFamily="2" charset="-122"/>
                  <a:cs typeface="Courier New" panose="02070309020205020404" pitchFamily="49" charset="0"/>
                </a:rPr>
                <a:t>后，</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rPr>
                <a:t>RD</a:t>
              </a:r>
              <a:r>
                <a:rPr lang="zh-CN" altLang="en-US" sz="1400" dirty="0">
                  <a:latin typeface="Huawei Sans" panose="020C0503030203020204" pitchFamily="34" charset="0"/>
                  <a:ea typeface="方正兰亭黑简体" panose="02000000000000000000" pitchFamily="2" charset="-122"/>
                  <a:cs typeface="Courier New" panose="02070309020205020404" pitchFamily="49" charset="0"/>
                </a:rPr>
                <a:t>将不能被修改或删除。如果要修改，需要去使能</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rPr>
                <a:t>VPN</a:t>
              </a:r>
              <a:r>
                <a:rPr lang="zh-CN" altLang="en-US" sz="1400" dirty="0">
                  <a:latin typeface="Huawei Sans" panose="020C0503030203020204" pitchFamily="34" charset="0"/>
                  <a:ea typeface="方正兰亭黑简体" panose="02000000000000000000" pitchFamily="2" charset="-122"/>
                  <a:cs typeface="Courier New" panose="02070309020205020404" pitchFamily="49" charset="0"/>
                </a:rPr>
                <a:t>实例相应的地址族或者删除</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rPr>
                <a:t>VPN</a:t>
              </a:r>
              <a:r>
                <a:rPr lang="zh-CN" altLang="en-US" sz="1400" dirty="0">
                  <a:latin typeface="Huawei Sans" panose="020C0503030203020204" pitchFamily="34" charset="0"/>
                  <a:ea typeface="方正兰亭黑简体" panose="02000000000000000000" pitchFamily="2" charset="-122"/>
                  <a:cs typeface="Courier New" panose="02070309020205020404" pitchFamily="49" charset="0"/>
                </a:rPr>
                <a:t>实例，然后再重新配置。</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grpSp>
    </p:spTree>
    <p:extLst>
      <p:ext uri="{BB962C8B-B14F-4D97-AF65-F5344CB8AC3E}">
        <p14:creationId xmlns:p14="http://schemas.microsoft.com/office/powerpoint/2010/main" val="292148953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lstStyle/>
          <a:p>
            <a:r>
              <a:rPr lang="zh-CN" altLang="en-US" dirty="0" smtClean="0"/>
              <a:t>配置命令：</a:t>
            </a:r>
            <a:r>
              <a:rPr lang="en-US" altLang="zh-CN" dirty="0" smtClean="0"/>
              <a:t>VPN</a:t>
            </a:r>
            <a:r>
              <a:rPr lang="zh-CN" altLang="en-US" dirty="0" smtClean="0"/>
              <a:t>实例配置 </a:t>
            </a:r>
            <a:r>
              <a:rPr lang="en-US" altLang="zh-CN" dirty="0" smtClean="0"/>
              <a:t>(2)</a:t>
            </a:r>
            <a:endParaRPr lang="zh-CN" altLang="en-US" dirty="0"/>
          </a:p>
        </p:txBody>
      </p:sp>
      <p:grpSp>
        <p:nvGrpSpPr>
          <p:cNvPr id="2" name="组合 1"/>
          <p:cNvGrpSpPr/>
          <p:nvPr/>
        </p:nvGrpSpPr>
        <p:grpSpPr bwMode="gray">
          <a:xfrm>
            <a:off x="556146" y="1165287"/>
            <a:ext cx="11089232" cy="3137719"/>
            <a:chOff x="551384" y="1365312"/>
            <a:chExt cx="11089232" cy="3137719"/>
          </a:xfrm>
        </p:grpSpPr>
        <p:sp>
          <p:nvSpPr>
            <p:cNvPr id="4" name="矩形 3">
              <a:extLst>
                <a:ext uri="{FF2B5EF4-FFF2-40B4-BE49-F238E27FC236}">
                  <a16:creationId xmlns:a16="http://schemas.microsoft.com/office/drawing/2014/main" xmlns="" id="{4155CF1B-D6D5-4CBC-A7C4-3539BA1D8C49}"/>
                </a:ext>
              </a:extLst>
            </p:cNvPr>
            <p:cNvSpPr/>
            <p:nvPr/>
          </p:nvSpPr>
          <p:spPr bwMode="gray">
            <a:xfrm>
              <a:off x="1031917" y="1797459"/>
              <a:ext cx="10608699" cy="307777"/>
            </a:xfrm>
            <a:prstGeom prst="rect">
              <a:avLst/>
            </a:prstGeom>
            <a:solidFill>
              <a:schemeClr val="bg1">
                <a:lumMod val="85000"/>
              </a:schemeClr>
            </a:solidFill>
            <a:ln>
              <a:noFill/>
            </a:ln>
          </p:spPr>
          <p:txBody>
            <a:bodyPr wrap="square">
              <a:spAutoFit/>
            </a:bodyPr>
            <a:lstStyle/>
            <a:p>
              <a:pPr fontAlgn="base"/>
              <a:r>
                <a:rPr lang="en-US" altLang="zh-CN" sz="1400" dirty="0" smtClean="0"/>
                <a:t>[PE-</a:t>
              </a:r>
              <a:r>
                <a:rPr lang="en-US" altLang="zh-CN" sz="1400" dirty="0" err="1" smtClean="0"/>
                <a:t>vpn</a:t>
              </a:r>
              <a:r>
                <a:rPr lang="en-US" altLang="zh-CN" sz="1400" dirty="0" smtClean="0"/>
                <a:t>-instance-</a:t>
              </a:r>
              <a:r>
                <a:rPr lang="en-US" altLang="zh-CN" sz="1400" dirty="0" err="1" smtClean="0"/>
                <a:t>InstanceName</a:t>
              </a:r>
              <a:r>
                <a:rPr lang="en-US" altLang="zh-CN" sz="1400" dirty="0" smtClean="0"/>
                <a:t>]</a:t>
              </a:r>
              <a:r>
                <a:rPr lang="en-US" altLang="zh-CN" sz="1400" b="1" dirty="0" smtClean="0"/>
                <a:t> </a:t>
              </a:r>
              <a:r>
                <a:rPr lang="en-US" altLang="zh-CN" sz="1400" b="1" dirty="0" err="1"/>
                <a:t>vpn</a:t>
              </a:r>
              <a:r>
                <a:rPr lang="en-US" altLang="zh-CN" sz="1400" b="1" dirty="0"/>
                <a:t>-target</a:t>
              </a:r>
              <a:r>
                <a:rPr lang="en-US" altLang="zh-CN" sz="1400" dirty="0"/>
                <a:t> </a:t>
              </a:r>
              <a:r>
                <a:rPr lang="en-US" altLang="zh-CN" sz="1400" i="1" dirty="0" err="1"/>
                <a:t>vpn</a:t>
              </a:r>
              <a:r>
                <a:rPr lang="en-US" altLang="zh-CN" sz="1400" i="1" dirty="0"/>
                <a:t>-target</a:t>
              </a:r>
              <a:r>
                <a:rPr lang="en-US" altLang="zh-CN" sz="1400" dirty="0"/>
                <a:t> &amp;&lt;1-8&gt; [ </a:t>
              </a:r>
              <a:r>
                <a:rPr lang="en-US" altLang="zh-CN" sz="1400" b="1" dirty="0"/>
                <a:t>both</a:t>
              </a:r>
              <a:r>
                <a:rPr lang="en-US" altLang="zh-CN" sz="1400" dirty="0"/>
                <a:t> | </a:t>
              </a:r>
              <a:r>
                <a:rPr lang="en-US" altLang="zh-CN" sz="1400" b="1" dirty="0"/>
                <a:t>export-</a:t>
              </a:r>
              <a:r>
                <a:rPr lang="en-US" altLang="zh-CN" sz="1400" b="1" dirty="0" err="1"/>
                <a:t>extcommunity</a:t>
              </a:r>
              <a:r>
                <a:rPr lang="en-US" altLang="zh-CN" sz="1400" dirty="0"/>
                <a:t> | </a:t>
              </a:r>
              <a:r>
                <a:rPr lang="en-US" altLang="zh-CN" sz="1400" b="1" dirty="0"/>
                <a:t>import-</a:t>
              </a:r>
              <a:r>
                <a:rPr lang="en-US" altLang="zh-CN" sz="1400" b="1" dirty="0" err="1"/>
                <a:t>extcommunity</a:t>
              </a:r>
              <a:r>
                <a:rPr lang="en-US" altLang="zh-CN" sz="1400" dirty="0"/>
                <a:t> ]</a:t>
              </a:r>
              <a:endParaRPr lang="zh-CN" altLang="en-US" sz="14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5" name="矩形 4">
              <a:extLst>
                <a:ext uri="{FF2B5EF4-FFF2-40B4-BE49-F238E27FC236}">
                  <a16:creationId xmlns:a16="http://schemas.microsoft.com/office/drawing/2014/main" xmlns="" id="{44C4E0BA-5C90-4FB6-BCA6-99B663B19FA8}"/>
                </a:ext>
              </a:extLst>
            </p:cNvPr>
            <p:cNvSpPr/>
            <p:nvPr/>
          </p:nvSpPr>
          <p:spPr bwMode="gray">
            <a:xfrm>
              <a:off x="551384" y="1365312"/>
              <a:ext cx="11089232" cy="307777"/>
            </a:xfrm>
            <a:prstGeom prst="rect">
              <a:avLst/>
            </a:prstGeom>
          </p:spPr>
          <p:txBody>
            <a:bodyPr wrap="square">
              <a:spAutoFit/>
            </a:bodyPr>
            <a:lstStyle/>
            <a:p>
              <a:pPr marL="342900" indent="-342900" fontAlgn="auto">
                <a:buFont typeface="+mj-lt"/>
                <a:buAutoNum type="arabicPeriod" startAt="4"/>
              </a:pPr>
              <a:r>
                <a:rPr lang="zh-CN" altLang="en-US"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a:t>
              </a: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VPN</a:t>
              </a:r>
              <a:r>
                <a:rPr lang="zh-CN" altLang="en-US"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实例的</a:t>
              </a: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VPN-Target</a:t>
              </a:r>
              <a:r>
                <a:rPr lang="zh-CN" altLang="en-US"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属性</a:t>
              </a:r>
              <a:endPar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6" name="矩形 5">
              <a:extLst>
                <a:ext uri="{FF2B5EF4-FFF2-40B4-BE49-F238E27FC236}">
                  <a16:creationId xmlns:a16="http://schemas.microsoft.com/office/drawing/2014/main" xmlns="" id="{2683E34D-F948-4861-A2DA-5897E9554D17}"/>
                </a:ext>
              </a:extLst>
            </p:cNvPr>
            <p:cNvSpPr/>
            <p:nvPr/>
          </p:nvSpPr>
          <p:spPr bwMode="gray">
            <a:xfrm>
              <a:off x="1031917" y="2105236"/>
              <a:ext cx="10608699" cy="1015663"/>
            </a:xfrm>
            <a:prstGeom prst="rect">
              <a:avLst/>
            </a:prstGeom>
          </p:spPr>
          <p:txBody>
            <a:bodyPr wrap="square">
              <a:spAutoFit/>
            </a:bodyPr>
            <a:lstStyle/>
            <a:p>
              <a:pPr fontAlgn="auto">
                <a:lnSpc>
                  <a:spcPts val="2400"/>
                </a:lnSpc>
              </a:pPr>
              <a:r>
                <a:rPr lang="en-US" altLang="zh-CN" sz="1400" b="1" dirty="0" err="1"/>
                <a:t>vpn</a:t>
              </a:r>
              <a:r>
                <a:rPr lang="en-US" altLang="zh-CN" sz="1400" b="1" dirty="0"/>
                <a:t>-target</a:t>
              </a:r>
              <a:r>
                <a:rPr lang="zh-CN" altLang="en-US" sz="1400" dirty="0"/>
                <a:t>命令用来配置</a:t>
              </a:r>
              <a:r>
                <a:rPr lang="en-US" altLang="zh-CN" sz="1400" dirty="0"/>
                <a:t>VPN</a:t>
              </a:r>
              <a:r>
                <a:rPr lang="zh-CN" altLang="en-US" sz="1400" dirty="0"/>
                <a:t>实例地址族入方向或出方向的</a:t>
              </a:r>
              <a:r>
                <a:rPr lang="en-US" altLang="zh-CN" sz="1400" dirty="0"/>
                <a:t>VPN-Target</a:t>
              </a:r>
              <a:r>
                <a:rPr lang="zh-CN" altLang="en-US" sz="1400" dirty="0"/>
                <a:t>扩展团体属性</a:t>
              </a:r>
              <a:r>
                <a:rPr lang="zh-CN" altLang="en-US" sz="1400" dirty="0" smtClean="0"/>
                <a:t>。</a:t>
              </a:r>
              <a:endParaRPr lang="en-US" altLang="zh-CN" sz="1400" dirty="0" smtClean="0"/>
            </a:p>
            <a:p>
              <a:pPr marL="540000" indent="-285750" fontAlgn="auto">
                <a:lnSpc>
                  <a:spcPts val="2400"/>
                </a:lnSpc>
                <a:buFont typeface="Arial" panose="020B0604020202020204" pitchFamily="34" charset="0"/>
                <a:buChar char="•"/>
              </a:pP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rPr>
                <a:t>VPN-Target</a:t>
              </a:r>
              <a:r>
                <a:rPr lang="zh-CN" altLang="en-US" sz="1400" dirty="0">
                  <a:latin typeface="Huawei Sans" panose="020C0503030203020204" pitchFamily="34" charset="0"/>
                  <a:ea typeface="方正兰亭黑简体" panose="02000000000000000000" pitchFamily="2" charset="-122"/>
                  <a:cs typeface="Courier New" panose="02070309020205020404" pitchFamily="49" charset="0"/>
                </a:rPr>
                <a:t>的格式与</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rPr>
                <a:t>RD</a:t>
              </a:r>
              <a:r>
                <a:rPr lang="zh-CN" altLang="en-US" sz="1400" dirty="0">
                  <a:latin typeface="Huawei Sans" panose="020C0503030203020204" pitchFamily="34" charset="0"/>
                  <a:ea typeface="方正兰亭黑简体" panose="02000000000000000000" pitchFamily="2" charset="-122"/>
                  <a:cs typeface="Courier New" panose="02070309020205020404" pitchFamily="49" charset="0"/>
                </a:rPr>
                <a:t>一致。</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endParaRPr>
            </a:p>
            <a:p>
              <a:pPr marL="540000" indent="-285750" fontAlgn="auto">
                <a:lnSpc>
                  <a:spcPts val="2400"/>
                </a:lnSpc>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cs typeface="Courier New" panose="02070309020205020404" pitchFamily="49" charset="0"/>
                </a:rPr>
                <a:t>一条</a:t>
              </a:r>
              <a:r>
                <a:rPr lang="en-US" altLang="zh-CN" sz="1400" b="1" dirty="0" err="1">
                  <a:latin typeface="Huawei Sans" panose="020C0503030203020204" pitchFamily="34" charset="0"/>
                  <a:ea typeface="方正兰亭黑简体" panose="02000000000000000000" pitchFamily="2" charset="-122"/>
                  <a:cs typeface="Courier New" panose="02070309020205020404" pitchFamily="49" charset="0"/>
                </a:rPr>
                <a:t>vpn</a:t>
              </a:r>
              <a:r>
                <a:rPr lang="en-US" altLang="zh-CN" sz="1400" b="1" dirty="0">
                  <a:latin typeface="Huawei Sans" panose="020C0503030203020204" pitchFamily="34" charset="0"/>
                  <a:ea typeface="方正兰亭黑简体" panose="02000000000000000000" pitchFamily="2" charset="-122"/>
                  <a:cs typeface="Courier New" panose="02070309020205020404" pitchFamily="49" charset="0"/>
                </a:rPr>
                <a:t>-target</a:t>
              </a:r>
              <a:r>
                <a:rPr lang="zh-CN" altLang="en-US" sz="1400" dirty="0">
                  <a:latin typeface="Huawei Sans" panose="020C0503030203020204" pitchFamily="34" charset="0"/>
                  <a:ea typeface="方正兰亭黑简体" panose="02000000000000000000" pitchFamily="2" charset="-122"/>
                  <a:cs typeface="Courier New" panose="02070309020205020404" pitchFamily="49" charset="0"/>
                </a:rPr>
                <a:t>命令一次最多可配置</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rPr>
                <a:t>8</a:t>
              </a:r>
              <a:r>
                <a:rPr lang="zh-CN" altLang="en-US" sz="1400" dirty="0">
                  <a:latin typeface="Huawei Sans" panose="020C0503030203020204" pitchFamily="34" charset="0"/>
                  <a:ea typeface="方正兰亭黑简体" panose="02000000000000000000" pitchFamily="2" charset="-122"/>
                  <a:cs typeface="Courier New" panose="02070309020205020404" pitchFamily="49" charset="0"/>
                </a:rPr>
                <a:t>个</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rPr>
                <a:t>VPN-Target</a:t>
              </a:r>
              <a:r>
                <a:rPr lang="zh-CN" altLang="en-US" sz="1400" dirty="0">
                  <a:latin typeface="Huawei Sans" panose="020C0503030203020204" pitchFamily="34" charset="0"/>
                  <a:ea typeface="方正兰亭黑简体" panose="02000000000000000000" pitchFamily="2" charset="-122"/>
                  <a:cs typeface="Courier New" panose="02070309020205020404" pitchFamily="49" charset="0"/>
                </a:rPr>
                <a:t>。如果希望配置更多的</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rPr>
                <a:t>VPN-Target</a:t>
              </a:r>
              <a:r>
                <a:rPr lang="zh-CN" altLang="en-US" sz="1400" dirty="0">
                  <a:latin typeface="Huawei Sans" panose="020C0503030203020204" pitchFamily="34" charset="0"/>
                  <a:ea typeface="方正兰亭黑简体" panose="02000000000000000000" pitchFamily="2" charset="-122"/>
                  <a:cs typeface="Courier New" panose="02070309020205020404" pitchFamily="49" charset="0"/>
                </a:rPr>
                <a:t>，可以多次使用</a:t>
              </a:r>
              <a:r>
                <a:rPr lang="en-US" altLang="zh-CN" sz="1400" b="1" dirty="0" err="1">
                  <a:latin typeface="Huawei Sans" panose="020C0503030203020204" pitchFamily="34" charset="0"/>
                  <a:ea typeface="方正兰亭黑简体" panose="02000000000000000000" pitchFamily="2" charset="-122"/>
                  <a:cs typeface="Courier New" panose="02070309020205020404" pitchFamily="49" charset="0"/>
                </a:rPr>
                <a:t>vpn</a:t>
              </a:r>
              <a:r>
                <a:rPr lang="en-US" altLang="zh-CN" sz="1400" b="1" dirty="0">
                  <a:latin typeface="Huawei Sans" panose="020C0503030203020204" pitchFamily="34" charset="0"/>
                  <a:ea typeface="方正兰亭黑简体" panose="02000000000000000000" pitchFamily="2" charset="-122"/>
                  <a:cs typeface="Courier New" panose="02070309020205020404" pitchFamily="49" charset="0"/>
                </a:rPr>
                <a:t>-target</a:t>
              </a:r>
              <a:r>
                <a:rPr lang="zh-CN" altLang="en-US" sz="1400" dirty="0">
                  <a:latin typeface="Huawei Sans" panose="020C0503030203020204" pitchFamily="34" charset="0"/>
                  <a:ea typeface="方正兰亭黑简体" panose="02000000000000000000" pitchFamily="2" charset="-122"/>
                  <a:cs typeface="Courier New" panose="02070309020205020404" pitchFamily="49" charset="0"/>
                </a:rPr>
                <a:t>命令</a:t>
              </a:r>
              <a:r>
                <a:rPr lang="zh-CN" altLang="en-US" sz="1400" dirty="0" smtClean="0"/>
                <a:t>。</a:t>
              </a:r>
              <a:endParaRPr lang="en-US" altLang="zh-CN" sz="1400" dirty="0" smtClean="0"/>
            </a:p>
          </p:txBody>
        </p:sp>
        <p:sp>
          <p:nvSpPr>
            <p:cNvPr id="17" name="矩形 16">
              <a:extLst>
                <a:ext uri="{FF2B5EF4-FFF2-40B4-BE49-F238E27FC236}">
                  <a16:creationId xmlns="" xmlns:a16="http://schemas.microsoft.com/office/drawing/2014/main" id="{DE8F6EE9-08D2-4C17-B52B-2BA7D62EA7C2}"/>
                </a:ext>
              </a:extLst>
            </p:cNvPr>
            <p:cNvSpPr/>
            <p:nvPr/>
          </p:nvSpPr>
          <p:spPr bwMode="gray">
            <a:xfrm>
              <a:off x="1031917" y="3522269"/>
              <a:ext cx="10608699" cy="307777"/>
            </a:xfrm>
            <a:prstGeom prst="rect">
              <a:avLst/>
            </a:prstGeom>
            <a:solidFill>
              <a:schemeClr val="bg1">
                <a:lumMod val="85000"/>
              </a:schemeClr>
            </a:solidFill>
            <a:ln>
              <a:noFill/>
            </a:ln>
          </p:spPr>
          <p:txBody>
            <a:bodyPr wrap="square">
              <a:spAutoFit/>
            </a:bodyPr>
            <a:lstStyle/>
            <a:p>
              <a:pPr fontAlgn="base"/>
              <a:r>
                <a:rPr lang="en-US" altLang="zh-CN" sz="1400" dirty="0" smtClean="0"/>
                <a:t>[PE-GigabitEthernet0/0/0]</a:t>
              </a:r>
              <a:r>
                <a:rPr lang="en-US" altLang="zh-CN" sz="1400" b="1" dirty="0" err="1" smtClean="0"/>
                <a:t>ip</a:t>
              </a:r>
              <a:r>
                <a:rPr lang="en-US" altLang="zh-CN" sz="1400" b="1" dirty="0" smtClean="0"/>
                <a:t> </a:t>
              </a:r>
              <a:r>
                <a:rPr lang="en-US" altLang="zh-CN" sz="1400" b="1" dirty="0"/>
                <a:t>binding </a:t>
              </a:r>
              <a:r>
                <a:rPr lang="en-US" altLang="zh-CN" sz="1400" b="1" dirty="0" err="1" smtClean="0"/>
                <a:t>vpn</a:t>
              </a:r>
              <a:r>
                <a:rPr lang="en-US" altLang="zh-CN" sz="1400" b="1" dirty="0" smtClean="0"/>
                <a:t>-instance </a:t>
              </a:r>
              <a:r>
                <a:rPr lang="en-US" altLang="zh-CN" sz="1400" i="1" dirty="0" err="1"/>
                <a:t>vpn</a:t>
              </a:r>
              <a:r>
                <a:rPr lang="en-US" altLang="zh-CN" sz="1400" i="1" dirty="0"/>
                <a:t>-instance-name</a:t>
              </a:r>
              <a:endParaRPr lang="zh-CN" altLang="en-US" sz="1400" b="1"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8" name="矩形 17">
              <a:extLst>
                <a:ext uri="{FF2B5EF4-FFF2-40B4-BE49-F238E27FC236}">
                  <a16:creationId xmlns="" xmlns:a16="http://schemas.microsoft.com/office/drawing/2014/main" id="{7D03D82F-BDCE-482A-A9FF-3C6992CF8382}"/>
                </a:ext>
              </a:extLst>
            </p:cNvPr>
            <p:cNvSpPr/>
            <p:nvPr/>
          </p:nvSpPr>
          <p:spPr bwMode="gray">
            <a:xfrm>
              <a:off x="551384" y="3090122"/>
              <a:ext cx="11089232" cy="307777"/>
            </a:xfrm>
            <a:prstGeom prst="rect">
              <a:avLst/>
            </a:prstGeom>
          </p:spPr>
          <p:txBody>
            <a:bodyPr wrap="square">
              <a:spAutoFit/>
            </a:bodyPr>
            <a:lstStyle/>
            <a:p>
              <a:pPr marL="342900" indent="-342900" fontAlgn="auto">
                <a:buFont typeface="+mj-lt"/>
                <a:buAutoNum type="arabicPeriod" startAt="5"/>
              </a:pPr>
              <a:r>
                <a:rPr lang="zh-CN" altLang="en-US"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将接口绑定到</a:t>
              </a: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VPN</a:t>
              </a:r>
              <a:r>
                <a:rPr lang="zh-CN" altLang="en-US"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实例</a:t>
              </a:r>
              <a:endPar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9" name="矩形 18">
              <a:extLst>
                <a:ext uri="{FF2B5EF4-FFF2-40B4-BE49-F238E27FC236}">
                  <a16:creationId xmlns="" xmlns:a16="http://schemas.microsoft.com/office/drawing/2014/main" id="{3F657C96-E0F8-4158-BE13-42DD133614B1}"/>
                </a:ext>
              </a:extLst>
            </p:cNvPr>
            <p:cNvSpPr/>
            <p:nvPr/>
          </p:nvSpPr>
          <p:spPr bwMode="gray">
            <a:xfrm>
              <a:off x="1031917" y="3824319"/>
              <a:ext cx="10608699" cy="678712"/>
            </a:xfrm>
            <a:prstGeom prst="rect">
              <a:avLst/>
            </a:prstGeom>
          </p:spPr>
          <p:txBody>
            <a:bodyPr wrap="square">
              <a:spAutoFit/>
            </a:bodyPr>
            <a:lstStyle/>
            <a:p>
              <a:pPr fontAlgn="auto">
                <a:lnSpc>
                  <a:spcPts val="2400"/>
                </a:lnSpc>
              </a:pPr>
              <a:r>
                <a:rPr lang="en-US" altLang="zh-CN" sz="1400" b="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ip</a:t>
              </a:r>
              <a:r>
                <a:rPr lang="en-US" altLang="zh-CN"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binding </a:t>
              </a:r>
              <a:r>
                <a:rPr lang="en-US" altLang="zh-CN" sz="1400" b="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vpn</a:t>
              </a:r>
              <a:r>
                <a:rPr lang="en-US" altLang="zh-CN"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-instance</a:t>
              </a:r>
              <a:r>
                <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命令用来将</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PE</a:t>
              </a:r>
              <a:r>
                <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上的接口与</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VPN</a:t>
              </a:r>
              <a:r>
                <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实例绑定。缺省情况下，接口不与任何</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VPN</a:t>
              </a:r>
              <a:r>
                <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实例绑定，属于根实例。配置接口与</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VPN</a:t>
              </a:r>
              <a:r>
                <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实例绑定后，或取消接口与</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VPN</a:t>
              </a:r>
              <a:r>
                <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实例的绑定，都会清除该接口的</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IP</a:t>
              </a:r>
              <a:r>
                <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地址、三层特性和</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IP</a:t>
              </a:r>
              <a:r>
                <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相关的路由协议，如果需要应重新配置。</a:t>
              </a:r>
            </a:p>
          </p:txBody>
        </p:sp>
      </p:grpSp>
    </p:spTree>
    <p:extLst>
      <p:ext uri="{BB962C8B-B14F-4D97-AF65-F5344CB8AC3E}">
        <p14:creationId xmlns:p14="http://schemas.microsoft.com/office/powerpoint/2010/main" val="327119084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lstStyle/>
          <a:p>
            <a:r>
              <a:rPr lang="zh-CN" altLang="en-US" dirty="0" smtClean="0"/>
              <a:t>配置命令：</a:t>
            </a:r>
            <a:r>
              <a:rPr lang="en-US" altLang="zh-CN" dirty="0" smtClean="0"/>
              <a:t>MP-BGP</a:t>
            </a:r>
            <a:r>
              <a:rPr lang="zh-CN" altLang="en-US" dirty="0" smtClean="0"/>
              <a:t>配置</a:t>
            </a:r>
            <a:endParaRPr lang="zh-CN" altLang="en-US" dirty="0"/>
          </a:p>
        </p:txBody>
      </p:sp>
      <p:sp>
        <p:nvSpPr>
          <p:cNvPr id="4" name="矩形 3">
            <a:extLst>
              <a:ext uri="{FF2B5EF4-FFF2-40B4-BE49-F238E27FC236}">
                <a16:creationId xmlns:a16="http://schemas.microsoft.com/office/drawing/2014/main" xmlns="" id="{4155CF1B-D6D5-4CBC-A7C4-3539BA1D8C49}"/>
              </a:ext>
            </a:extLst>
          </p:cNvPr>
          <p:cNvSpPr/>
          <p:nvPr/>
        </p:nvSpPr>
        <p:spPr bwMode="gray">
          <a:xfrm>
            <a:off x="1031917" y="1797459"/>
            <a:ext cx="10608699" cy="307777"/>
          </a:xfrm>
          <a:prstGeom prst="rect">
            <a:avLst/>
          </a:prstGeom>
          <a:solidFill>
            <a:schemeClr val="bg1">
              <a:lumMod val="85000"/>
            </a:schemeClr>
          </a:solidFill>
          <a:ln>
            <a:noFill/>
          </a:ln>
        </p:spPr>
        <p:txBody>
          <a:bodyPr wrap="square">
            <a:spAutoFit/>
          </a:bodyPr>
          <a:lstStyle/>
          <a:p>
            <a:pPr fontAlgn="base"/>
            <a:r>
              <a:rPr lang="en-US" altLang="zh-CN" sz="1400" dirty="0" smtClean="0"/>
              <a:t>[PE]</a:t>
            </a:r>
            <a:r>
              <a:rPr lang="en-US" altLang="zh-CN" sz="1400" b="1" dirty="0" smtClean="0"/>
              <a:t> </a:t>
            </a:r>
            <a:r>
              <a:rPr lang="en-US" altLang="zh-CN" sz="1400" b="1" dirty="0" err="1"/>
              <a:t>bgp</a:t>
            </a:r>
            <a:r>
              <a:rPr lang="en-US" altLang="zh-CN" sz="1400" dirty="0"/>
              <a:t> { </a:t>
            </a:r>
            <a:r>
              <a:rPr lang="en-US" altLang="zh-CN" sz="1400" i="1" dirty="0"/>
              <a:t>as-number-plain</a:t>
            </a:r>
            <a:r>
              <a:rPr lang="en-US" altLang="zh-CN" sz="1400" dirty="0"/>
              <a:t> | </a:t>
            </a:r>
            <a:r>
              <a:rPr lang="en-US" altLang="zh-CN" sz="1400" i="1" dirty="0"/>
              <a:t>as-number-dot</a:t>
            </a:r>
            <a:r>
              <a:rPr lang="en-US" altLang="zh-CN" sz="1400" dirty="0"/>
              <a:t> }</a:t>
            </a:r>
            <a:endParaRPr lang="zh-CN" altLang="en-US" sz="14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5" name="矩形 4">
            <a:extLst>
              <a:ext uri="{FF2B5EF4-FFF2-40B4-BE49-F238E27FC236}">
                <a16:creationId xmlns:a16="http://schemas.microsoft.com/office/drawing/2014/main" xmlns="" id="{44C4E0BA-5C90-4FB6-BCA6-99B663B19FA8}"/>
              </a:ext>
            </a:extLst>
          </p:cNvPr>
          <p:cNvSpPr/>
          <p:nvPr/>
        </p:nvSpPr>
        <p:spPr bwMode="gray">
          <a:xfrm>
            <a:off x="551384" y="1365312"/>
            <a:ext cx="11089232" cy="307777"/>
          </a:xfrm>
          <a:prstGeom prst="rect">
            <a:avLst/>
          </a:prstGeom>
        </p:spPr>
        <p:txBody>
          <a:bodyPr wrap="square">
            <a:spAutoFit/>
          </a:bodyPr>
          <a:lstStyle/>
          <a:p>
            <a:pPr marL="342900" indent="-342900" fontAlgn="auto">
              <a:buFont typeface="+mj-lt"/>
              <a:buAutoNum type="arabicPeriod"/>
            </a:pP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BGP</a:t>
            </a:r>
            <a:r>
              <a:rPr lang="zh-CN" altLang="en-US"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基本配置</a:t>
            </a:r>
            <a:endPar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9" name="矩形 8">
            <a:extLst>
              <a:ext uri="{FF2B5EF4-FFF2-40B4-BE49-F238E27FC236}">
                <a16:creationId xmlns:a16="http://schemas.microsoft.com/office/drawing/2014/main" xmlns="" id="{4155CF1B-D6D5-4CBC-A7C4-3539BA1D8C49}"/>
              </a:ext>
            </a:extLst>
          </p:cNvPr>
          <p:cNvSpPr/>
          <p:nvPr/>
        </p:nvSpPr>
        <p:spPr bwMode="gray">
          <a:xfrm>
            <a:off x="1031917" y="2152319"/>
            <a:ext cx="10608699" cy="307777"/>
          </a:xfrm>
          <a:prstGeom prst="rect">
            <a:avLst/>
          </a:prstGeom>
          <a:solidFill>
            <a:schemeClr val="bg1">
              <a:lumMod val="85000"/>
            </a:schemeClr>
          </a:solidFill>
          <a:ln>
            <a:noFill/>
          </a:ln>
        </p:spPr>
        <p:txBody>
          <a:bodyPr wrap="square">
            <a:spAutoFit/>
          </a:bodyPr>
          <a:lstStyle/>
          <a:p>
            <a:pPr fontAlgn="base"/>
            <a:r>
              <a:rPr lang="en-US" altLang="zh-CN" sz="1400" dirty="0" smtClean="0"/>
              <a:t>[PE-</a:t>
            </a:r>
            <a:r>
              <a:rPr lang="en-US" altLang="zh-CN" sz="1400" dirty="0" err="1" smtClean="0"/>
              <a:t>bgp</a:t>
            </a:r>
            <a:r>
              <a:rPr lang="en-US" altLang="zh-CN" sz="1400" dirty="0" smtClean="0"/>
              <a:t>]</a:t>
            </a:r>
            <a:r>
              <a:rPr lang="en-US" altLang="zh-CN" sz="1400" b="1" dirty="0" smtClean="0"/>
              <a:t> </a:t>
            </a:r>
            <a:r>
              <a:rPr lang="en-US" altLang="zh-CN" sz="1400" b="1" dirty="0"/>
              <a:t>peer</a:t>
            </a:r>
            <a:r>
              <a:rPr lang="en-US" altLang="zh-CN" sz="1400" dirty="0"/>
              <a:t> </a:t>
            </a:r>
            <a:r>
              <a:rPr lang="en-US" altLang="zh-CN" sz="1400" i="1" dirty="0"/>
              <a:t>ipv4-address</a:t>
            </a:r>
            <a:r>
              <a:rPr lang="en-US" altLang="zh-CN" sz="1400" dirty="0"/>
              <a:t> </a:t>
            </a:r>
            <a:r>
              <a:rPr lang="en-US" altLang="zh-CN" sz="1400" b="1" dirty="0"/>
              <a:t>as-number</a:t>
            </a:r>
            <a:r>
              <a:rPr lang="en-US" altLang="zh-CN" sz="1400" dirty="0"/>
              <a:t> </a:t>
            </a:r>
            <a:r>
              <a:rPr lang="en-US" altLang="zh-CN" sz="1400" i="1" dirty="0" err="1"/>
              <a:t>as-number</a:t>
            </a:r>
            <a:endParaRPr lang="zh-CN" altLang="en-US" sz="14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0" name="矩形 9">
            <a:extLst>
              <a:ext uri="{FF2B5EF4-FFF2-40B4-BE49-F238E27FC236}">
                <a16:creationId xmlns:a16="http://schemas.microsoft.com/office/drawing/2014/main" xmlns="" id="{4155CF1B-D6D5-4CBC-A7C4-3539BA1D8C49}"/>
              </a:ext>
            </a:extLst>
          </p:cNvPr>
          <p:cNvSpPr/>
          <p:nvPr/>
        </p:nvSpPr>
        <p:spPr bwMode="gray">
          <a:xfrm>
            <a:off x="1031917" y="2507180"/>
            <a:ext cx="10608699" cy="307777"/>
          </a:xfrm>
          <a:prstGeom prst="rect">
            <a:avLst/>
          </a:prstGeom>
          <a:solidFill>
            <a:schemeClr val="bg1">
              <a:lumMod val="85000"/>
            </a:schemeClr>
          </a:solidFill>
          <a:ln>
            <a:noFill/>
          </a:ln>
        </p:spPr>
        <p:txBody>
          <a:bodyPr wrap="square">
            <a:spAutoFit/>
          </a:bodyPr>
          <a:lstStyle/>
          <a:p>
            <a:pPr fontAlgn="base"/>
            <a:r>
              <a:rPr lang="en-US" altLang="zh-CN" sz="1400" dirty="0" smtClean="0"/>
              <a:t>[PE-</a:t>
            </a:r>
            <a:r>
              <a:rPr lang="en-US" altLang="zh-CN" sz="1400" dirty="0" err="1" smtClean="0"/>
              <a:t>bgp</a:t>
            </a:r>
            <a:r>
              <a:rPr lang="en-US" altLang="zh-CN" sz="1400" dirty="0" smtClean="0"/>
              <a:t>]</a:t>
            </a:r>
            <a:r>
              <a:rPr lang="en-US" altLang="zh-CN" sz="1400" b="1" dirty="0" smtClean="0"/>
              <a:t> </a:t>
            </a:r>
            <a:r>
              <a:rPr lang="en-US" altLang="zh-CN" sz="1400" b="1" dirty="0"/>
              <a:t>peer</a:t>
            </a:r>
            <a:r>
              <a:rPr lang="en-US" altLang="zh-CN" sz="1400" dirty="0"/>
              <a:t> </a:t>
            </a:r>
            <a:r>
              <a:rPr lang="en-US" altLang="zh-CN" sz="1400" i="1" dirty="0"/>
              <a:t>ipv4-address</a:t>
            </a:r>
            <a:r>
              <a:rPr lang="en-US" altLang="zh-CN" sz="1400" dirty="0"/>
              <a:t> </a:t>
            </a:r>
            <a:r>
              <a:rPr lang="en-US" altLang="zh-CN" sz="1400" b="1" dirty="0"/>
              <a:t>connect-interface loopback</a:t>
            </a:r>
            <a:r>
              <a:rPr lang="en-US" altLang="zh-CN" sz="1400" dirty="0"/>
              <a:t> </a:t>
            </a:r>
            <a:r>
              <a:rPr lang="en-US" altLang="zh-CN" sz="1400" i="1" dirty="0"/>
              <a:t>interface-number</a:t>
            </a:r>
            <a:endParaRPr lang="zh-CN" altLang="en-US" sz="14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1" name="矩形 10">
            <a:extLst>
              <a:ext uri="{FF2B5EF4-FFF2-40B4-BE49-F238E27FC236}">
                <a16:creationId xmlns="" xmlns:a16="http://schemas.microsoft.com/office/drawing/2014/main" id="{3F657C96-E0F8-4158-BE13-42DD133614B1}"/>
              </a:ext>
            </a:extLst>
          </p:cNvPr>
          <p:cNvSpPr/>
          <p:nvPr/>
        </p:nvSpPr>
        <p:spPr bwMode="gray">
          <a:xfrm>
            <a:off x="1031916" y="2804288"/>
            <a:ext cx="10608699" cy="400110"/>
          </a:xfrm>
          <a:prstGeom prst="rect">
            <a:avLst/>
          </a:prstGeom>
        </p:spPr>
        <p:txBody>
          <a:bodyPr wrap="square">
            <a:spAutoFit/>
          </a:bodyPr>
          <a:lstStyle/>
          <a:p>
            <a:pPr fontAlgn="auto">
              <a:lnSpc>
                <a:spcPts val="2400"/>
              </a:lnSpc>
            </a:pPr>
            <a:r>
              <a:rPr lang="en-US" altLang="zh-CN" sz="1400" dirty="0"/>
              <a:t>PE</a:t>
            </a:r>
            <a:r>
              <a:rPr lang="zh-CN" altLang="en-US" sz="1400" dirty="0"/>
              <a:t>之间必须使用</a:t>
            </a:r>
            <a:r>
              <a:rPr lang="en-US" altLang="zh-CN" sz="1400" dirty="0"/>
              <a:t>32</a:t>
            </a:r>
            <a:r>
              <a:rPr lang="zh-CN" altLang="en-US" sz="1400" dirty="0"/>
              <a:t>位掩码的</a:t>
            </a:r>
            <a:r>
              <a:rPr lang="en-US" altLang="zh-CN" sz="1400" dirty="0"/>
              <a:t>Loopback</a:t>
            </a:r>
            <a:r>
              <a:rPr lang="zh-CN" altLang="en-US" sz="1400" dirty="0"/>
              <a:t>接口地址来建立</a:t>
            </a:r>
            <a:r>
              <a:rPr lang="en-US" altLang="zh-CN" sz="1400" dirty="0"/>
              <a:t>MP-IBGP</a:t>
            </a:r>
            <a:r>
              <a:rPr lang="zh-CN" altLang="en-US" sz="1400" dirty="0"/>
              <a:t>对等体关系，以便能够迭代到隧道</a:t>
            </a:r>
            <a:r>
              <a:rPr lang="zh-CN" altLang="en-US" sz="1400" dirty="0" smtClean="0"/>
              <a:t>。</a:t>
            </a:r>
            <a:endPar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3" name="矩形 12">
            <a:extLst>
              <a:ext uri="{FF2B5EF4-FFF2-40B4-BE49-F238E27FC236}">
                <a16:creationId xmlns:a16="http://schemas.microsoft.com/office/drawing/2014/main" xmlns="" id="{44C4E0BA-5C90-4FB6-BCA6-99B663B19FA8}"/>
              </a:ext>
            </a:extLst>
          </p:cNvPr>
          <p:cNvSpPr/>
          <p:nvPr/>
        </p:nvSpPr>
        <p:spPr bwMode="gray">
          <a:xfrm>
            <a:off x="551383" y="3122734"/>
            <a:ext cx="11089232" cy="307777"/>
          </a:xfrm>
          <a:prstGeom prst="rect">
            <a:avLst/>
          </a:prstGeom>
        </p:spPr>
        <p:txBody>
          <a:bodyPr wrap="square">
            <a:spAutoFit/>
          </a:bodyPr>
          <a:lstStyle/>
          <a:p>
            <a:pPr marL="342900" indent="-342900" fontAlgn="auto">
              <a:buFont typeface="+mj-lt"/>
              <a:buAutoNum type="arabicPeriod" startAt="2"/>
            </a:pPr>
            <a:r>
              <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使能与</a:t>
            </a:r>
            <a:r>
              <a:rPr lang="zh-CN" altLang="en-US"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指定</a:t>
            </a: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MP-BGP</a:t>
            </a:r>
            <a:r>
              <a:rPr lang="zh-CN" altLang="en-US"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对等体之间交换</a:t>
            </a: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VPNv4</a:t>
            </a:r>
            <a:r>
              <a:rPr lang="zh-CN" altLang="en-US"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路由信息</a:t>
            </a:r>
            <a:endPar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4" name="矩形 13">
            <a:extLst>
              <a:ext uri="{FF2B5EF4-FFF2-40B4-BE49-F238E27FC236}">
                <a16:creationId xmlns:a16="http://schemas.microsoft.com/office/drawing/2014/main" xmlns="" id="{4155CF1B-D6D5-4CBC-A7C4-3539BA1D8C49}"/>
              </a:ext>
            </a:extLst>
          </p:cNvPr>
          <p:cNvSpPr/>
          <p:nvPr/>
        </p:nvSpPr>
        <p:spPr bwMode="gray">
          <a:xfrm>
            <a:off x="1031916" y="3430511"/>
            <a:ext cx="10608699" cy="307777"/>
          </a:xfrm>
          <a:prstGeom prst="rect">
            <a:avLst/>
          </a:prstGeom>
          <a:solidFill>
            <a:schemeClr val="bg1">
              <a:lumMod val="85000"/>
            </a:schemeClr>
          </a:solidFill>
          <a:ln>
            <a:noFill/>
          </a:ln>
        </p:spPr>
        <p:txBody>
          <a:bodyPr wrap="square">
            <a:spAutoFit/>
          </a:bodyPr>
          <a:lstStyle/>
          <a:p>
            <a:pPr fontAlgn="base"/>
            <a:r>
              <a:rPr lang="en-US" altLang="zh-CN" sz="1400" dirty="0" smtClean="0"/>
              <a:t>[PE-</a:t>
            </a:r>
            <a:r>
              <a:rPr lang="en-US" altLang="zh-CN" sz="1400" dirty="0" err="1" smtClean="0"/>
              <a:t>bgp</a:t>
            </a:r>
            <a:r>
              <a:rPr lang="en-US" altLang="zh-CN" sz="1400" dirty="0" smtClean="0"/>
              <a:t>]</a:t>
            </a:r>
            <a:r>
              <a:rPr lang="en-US" altLang="zh-CN" sz="1400" b="1" dirty="0" smtClean="0"/>
              <a:t> </a:t>
            </a:r>
            <a:r>
              <a:rPr lang="en-US" altLang="zh-CN" sz="1400" b="1" dirty="0"/>
              <a:t>ipv4-family</a:t>
            </a:r>
            <a:r>
              <a:rPr lang="en-US" altLang="zh-CN" sz="1400" dirty="0"/>
              <a:t> </a:t>
            </a:r>
            <a:r>
              <a:rPr lang="en-US" altLang="zh-CN" sz="1400" b="1" dirty="0"/>
              <a:t>vpnv4</a:t>
            </a:r>
            <a:r>
              <a:rPr lang="en-US" altLang="zh-CN" sz="1400" dirty="0"/>
              <a:t> [ </a:t>
            </a:r>
            <a:r>
              <a:rPr lang="en-US" altLang="zh-CN" sz="1400" b="1" dirty="0"/>
              <a:t>unicast</a:t>
            </a:r>
            <a:r>
              <a:rPr lang="en-US" altLang="zh-CN" sz="1400" dirty="0"/>
              <a:t> ]</a:t>
            </a:r>
            <a:endParaRPr lang="zh-CN" altLang="en-US" sz="14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5" name="矩形 14">
            <a:extLst>
              <a:ext uri="{FF2B5EF4-FFF2-40B4-BE49-F238E27FC236}">
                <a16:creationId xmlns:a16="http://schemas.microsoft.com/office/drawing/2014/main" xmlns="" id="{4155CF1B-D6D5-4CBC-A7C4-3539BA1D8C49}"/>
              </a:ext>
            </a:extLst>
          </p:cNvPr>
          <p:cNvSpPr/>
          <p:nvPr/>
        </p:nvSpPr>
        <p:spPr bwMode="gray">
          <a:xfrm>
            <a:off x="1031917" y="3830033"/>
            <a:ext cx="10608699" cy="307777"/>
          </a:xfrm>
          <a:prstGeom prst="rect">
            <a:avLst/>
          </a:prstGeom>
          <a:solidFill>
            <a:schemeClr val="bg1">
              <a:lumMod val="85000"/>
            </a:schemeClr>
          </a:solidFill>
          <a:ln>
            <a:noFill/>
          </a:ln>
        </p:spPr>
        <p:txBody>
          <a:bodyPr wrap="square">
            <a:spAutoFit/>
          </a:bodyPr>
          <a:lstStyle/>
          <a:p>
            <a:pPr fontAlgn="base"/>
            <a:r>
              <a:rPr lang="en-US" altLang="zh-CN" sz="1400" dirty="0" smtClean="0"/>
              <a:t>[PE-bgp-af-vpnv4]</a:t>
            </a:r>
            <a:r>
              <a:rPr lang="en-US" altLang="zh-CN" sz="1400" b="1" dirty="0" smtClean="0"/>
              <a:t> </a:t>
            </a:r>
            <a:r>
              <a:rPr lang="en-US" altLang="zh-CN" sz="1400" b="1" dirty="0"/>
              <a:t>peer</a:t>
            </a:r>
            <a:r>
              <a:rPr lang="en-US" altLang="zh-CN" sz="1400" dirty="0"/>
              <a:t> </a:t>
            </a:r>
            <a:r>
              <a:rPr lang="en-US" altLang="zh-CN" sz="1400" i="1" dirty="0"/>
              <a:t>ipv4-address</a:t>
            </a:r>
            <a:r>
              <a:rPr lang="en-US" altLang="zh-CN" sz="1400" dirty="0"/>
              <a:t> </a:t>
            </a:r>
            <a:r>
              <a:rPr lang="en-US" altLang="zh-CN" sz="1400" b="1" dirty="0"/>
              <a:t>enable</a:t>
            </a:r>
            <a:endParaRPr lang="zh-CN" altLang="en-US" sz="14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6" name="矩形 15">
            <a:extLst>
              <a:ext uri="{FF2B5EF4-FFF2-40B4-BE49-F238E27FC236}">
                <a16:creationId xmlns="" xmlns:a16="http://schemas.microsoft.com/office/drawing/2014/main" id="{3F657C96-E0F8-4158-BE13-42DD133614B1}"/>
              </a:ext>
            </a:extLst>
          </p:cNvPr>
          <p:cNvSpPr/>
          <p:nvPr/>
        </p:nvSpPr>
        <p:spPr bwMode="gray">
          <a:xfrm>
            <a:off x="1031917" y="4196910"/>
            <a:ext cx="10608699" cy="687496"/>
          </a:xfrm>
          <a:prstGeom prst="rect">
            <a:avLst/>
          </a:prstGeom>
        </p:spPr>
        <p:txBody>
          <a:bodyPr wrap="square">
            <a:spAutoFit/>
          </a:bodyPr>
          <a:lstStyle/>
          <a:p>
            <a:pPr fontAlgn="auto">
              <a:lnSpc>
                <a:spcPts val="2400"/>
              </a:lnSpc>
            </a:pPr>
            <a:r>
              <a:rPr lang="zh-CN" altLang="en-US" sz="1400" dirty="0"/>
              <a:t>缺省情况下，只有</a:t>
            </a:r>
            <a:r>
              <a:rPr lang="en-US" altLang="zh-CN" sz="1400" dirty="0"/>
              <a:t>BGP-IPv4</a:t>
            </a:r>
            <a:r>
              <a:rPr lang="zh-CN" altLang="en-US" sz="1400" dirty="0"/>
              <a:t>单播地址族的对等体是自动使能的。即在</a:t>
            </a:r>
            <a:r>
              <a:rPr lang="en-US" altLang="zh-CN" sz="1400" dirty="0"/>
              <a:t>BGP</a:t>
            </a:r>
            <a:r>
              <a:rPr lang="zh-CN" altLang="en-US" sz="1400" dirty="0"/>
              <a:t>视图下配置</a:t>
            </a:r>
            <a:r>
              <a:rPr lang="en-US" altLang="zh-CN" sz="1400" b="1" dirty="0"/>
              <a:t>peer as-number</a:t>
            </a:r>
            <a:r>
              <a:rPr lang="zh-CN" altLang="en-US" sz="1400" dirty="0"/>
              <a:t>命令后，系统会自动配置相应的</a:t>
            </a:r>
            <a:r>
              <a:rPr lang="en-US" altLang="zh-CN" sz="1400" b="1" dirty="0"/>
              <a:t>peer enable</a:t>
            </a:r>
            <a:r>
              <a:rPr lang="zh-CN" altLang="en-US" sz="1400" dirty="0"/>
              <a:t>命令。其他地址族视图下都必须手动使能。</a:t>
            </a:r>
            <a:endPar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0" name="矩形 19">
            <a:extLst>
              <a:ext uri="{FF2B5EF4-FFF2-40B4-BE49-F238E27FC236}">
                <a16:creationId xmlns:a16="http://schemas.microsoft.com/office/drawing/2014/main" xmlns="" id="{44C4E0BA-5C90-4FB6-BCA6-99B663B19FA8}"/>
              </a:ext>
            </a:extLst>
          </p:cNvPr>
          <p:cNvSpPr/>
          <p:nvPr/>
        </p:nvSpPr>
        <p:spPr bwMode="gray">
          <a:xfrm>
            <a:off x="551384" y="4884627"/>
            <a:ext cx="11089232" cy="307777"/>
          </a:xfrm>
          <a:prstGeom prst="rect">
            <a:avLst/>
          </a:prstGeom>
        </p:spPr>
        <p:txBody>
          <a:bodyPr wrap="square">
            <a:spAutoFit/>
          </a:bodyPr>
          <a:lstStyle/>
          <a:p>
            <a:pPr marL="342900" indent="-342900" fontAlgn="auto">
              <a:buFont typeface="+mj-lt"/>
              <a:buAutoNum type="arabicPeriod" startAt="3"/>
            </a:pPr>
            <a:r>
              <a:rPr lang="zh-CN" altLang="en-US"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配置对</a:t>
            </a: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VPNv4</a:t>
            </a:r>
            <a:r>
              <a:rPr lang="zh-CN" altLang="en-US"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路由进行过滤</a:t>
            </a:r>
            <a:endPar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1" name="矩形 20">
            <a:extLst>
              <a:ext uri="{FF2B5EF4-FFF2-40B4-BE49-F238E27FC236}">
                <a16:creationId xmlns:a16="http://schemas.microsoft.com/office/drawing/2014/main" xmlns="" id="{4155CF1B-D6D5-4CBC-A7C4-3539BA1D8C49}"/>
              </a:ext>
            </a:extLst>
          </p:cNvPr>
          <p:cNvSpPr/>
          <p:nvPr/>
        </p:nvSpPr>
        <p:spPr bwMode="gray">
          <a:xfrm>
            <a:off x="1031917" y="5192404"/>
            <a:ext cx="10608699" cy="307777"/>
          </a:xfrm>
          <a:prstGeom prst="rect">
            <a:avLst/>
          </a:prstGeom>
          <a:solidFill>
            <a:schemeClr val="bg1">
              <a:lumMod val="85000"/>
            </a:schemeClr>
          </a:solidFill>
          <a:ln>
            <a:noFill/>
          </a:ln>
        </p:spPr>
        <p:txBody>
          <a:bodyPr wrap="square">
            <a:spAutoFit/>
          </a:bodyPr>
          <a:lstStyle/>
          <a:p>
            <a:pPr fontAlgn="base"/>
            <a:r>
              <a:rPr lang="en-US" altLang="zh-CN" sz="1400" dirty="0" smtClean="0"/>
              <a:t>[PE-bgp-af-vpnv4</a:t>
            </a:r>
            <a:r>
              <a:rPr lang="en-US" altLang="zh-CN" sz="1400" dirty="0"/>
              <a:t>] </a:t>
            </a:r>
            <a:r>
              <a:rPr lang="en-US" altLang="zh-CN" sz="1400" b="1" dirty="0"/>
              <a:t>policy </a:t>
            </a:r>
            <a:r>
              <a:rPr lang="en-US" altLang="zh-CN" sz="1400" b="1" dirty="0" err="1"/>
              <a:t>vpn</a:t>
            </a:r>
            <a:r>
              <a:rPr lang="en-US" altLang="zh-CN" sz="1400" b="1" dirty="0"/>
              <a:t>-target</a:t>
            </a:r>
            <a:endParaRPr lang="zh-CN" altLang="en-US" sz="1400" b="1"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3" name="矩形 22">
            <a:extLst>
              <a:ext uri="{FF2B5EF4-FFF2-40B4-BE49-F238E27FC236}">
                <a16:creationId xmlns="" xmlns:a16="http://schemas.microsoft.com/office/drawing/2014/main" id="{3F657C96-E0F8-4158-BE13-42DD133614B1}"/>
              </a:ext>
            </a:extLst>
          </p:cNvPr>
          <p:cNvSpPr/>
          <p:nvPr/>
        </p:nvSpPr>
        <p:spPr bwMode="gray">
          <a:xfrm>
            <a:off x="1031918" y="5464210"/>
            <a:ext cx="10608699" cy="707886"/>
          </a:xfrm>
          <a:prstGeom prst="rect">
            <a:avLst/>
          </a:prstGeom>
        </p:spPr>
        <p:txBody>
          <a:bodyPr wrap="square">
            <a:spAutoFit/>
          </a:bodyPr>
          <a:lstStyle/>
          <a:p>
            <a:pPr fontAlgn="auto">
              <a:lnSpc>
                <a:spcPts val="2400"/>
              </a:lnSpc>
            </a:pPr>
            <a:r>
              <a:rPr lang="en-US" altLang="zh-CN" sz="1400" b="1" dirty="0"/>
              <a:t>policy </a:t>
            </a:r>
            <a:r>
              <a:rPr lang="en-US" altLang="zh-CN" sz="1400" b="1" dirty="0" err="1"/>
              <a:t>vpn</a:t>
            </a:r>
            <a:r>
              <a:rPr lang="en-US" altLang="zh-CN" sz="1400" b="1" dirty="0"/>
              <a:t>-target</a:t>
            </a:r>
            <a:r>
              <a:rPr lang="zh-CN" altLang="en-US" sz="1400" dirty="0" smtClean="0"/>
              <a:t>命令</a:t>
            </a:r>
            <a:r>
              <a:rPr lang="zh-CN" altLang="en-US" sz="1400" dirty="0"/>
              <a:t>用来对接收到的</a:t>
            </a:r>
            <a:r>
              <a:rPr lang="en-US" altLang="zh-CN" sz="1400" dirty="0" smtClean="0"/>
              <a:t>VPN</a:t>
            </a:r>
            <a:r>
              <a:rPr lang="zh-CN" altLang="en-US" sz="1400" dirty="0" smtClean="0"/>
              <a:t>路由根据</a:t>
            </a:r>
            <a:r>
              <a:rPr lang="en-US" altLang="zh-CN" sz="1400" dirty="0" smtClean="0"/>
              <a:t>VPN-Target</a:t>
            </a:r>
            <a:r>
              <a:rPr lang="zh-CN" altLang="en-US" sz="1400" dirty="0" smtClean="0"/>
              <a:t>进行</a:t>
            </a:r>
            <a:r>
              <a:rPr lang="zh-CN" altLang="en-US" sz="1400" dirty="0"/>
              <a:t>过滤。缺省情况下</a:t>
            </a:r>
            <a:r>
              <a:rPr lang="zh-CN" altLang="en-US" sz="1400" dirty="0" smtClean="0"/>
              <a:t>，该功能已经使能。在某些特定组网场景下，需要手动关闭过滤。</a:t>
            </a:r>
            <a:endPar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Tree>
    <p:extLst>
      <p:ext uri="{BB962C8B-B14F-4D97-AF65-F5344CB8AC3E}">
        <p14:creationId xmlns:p14="http://schemas.microsoft.com/office/powerpoint/2010/main" val="253385329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lstStyle/>
          <a:p>
            <a:r>
              <a:rPr lang="zh-CN" altLang="en-US" dirty="0" smtClean="0"/>
              <a:t>配置命令：</a:t>
            </a:r>
            <a:r>
              <a:rPr lang="en-US" altLang="zh-CN" dirty="0" smtClean="0"/>
              <a:t>PE</a:t>
            </a:r>
            <a:r>
              <a:rPr lang="zh-CN" altLang="en-US" dirty="0" smtClean="0"/>
              <a:t>与</a:t>
            </a:r>
            <a:r>
              <a:rPr lang="en-US" altLang="zh-CN" dirty="0" smtClean="0"/>
              <a:t>CE</a:t>
            </a:r>
            <a:r>
              <a:rPr lang="zh-CN" altLang="en-US" dirty="0" smtClean="0"/>
              <a:t>间路由配置</a:t>
            </a:r>
            <a:endParaRPr lang="zh-CN" altLang="en-US" dirty="0"/>
          </a:p>
        </p:txBody>
      </p:sp>
      <p:sp>
        <p:nvSpPr>
          <p:cNvPr id="4" name="矩形 3">
            <a:extLst>
              <a:ext uri="{FF2B5EF4-FFF2-40B4-BE49-F238E27FC236}">
                <a16:creationId xmlns:a16="http://schemas.microsoft.com/office/drawing/2014/main" xmlns="" id="{4155CF1B-D6D5-4CBC-A7C4-3539BA1D8C49}"/>
              </a:ext>
            </a:extLst>
          </p:cNvPr>
          <p:cNvSpPr/>
          <p:nvPr/>
        </p:nvSpPr>
        <p:spPr bwMode="gray">
          <a:xfrm>
            <a:off x="1031917" y="1797459"/>
            <a:ext cx="10608699" cy="307777"/>
          </a:xfrm>
          <a:prstGeom prst="rect">
            <a:avLst/>
          </a:prstGeom>
          <a:solidFill>
            <a:schemeClr val="bg1">
              <a:lumMod val="85000"/>
            </a:schemeClr>
          </a:solidFill>
          <a:ln>
            <a:noFill/>
          </a:ln>
        </p:spPr>
        <p:txBody>
          <a:bodyPr wrap="square">
            <a:spAutoFit/>
          </a:bodyPr>
          <a:lstStyle/>
          <a:p>
            <a:pPr fontAlgn="base"/>
            <a:r>
              <a:rPr lang="en-US" altLang="zh-CN" sz="1400" dirty="0" smtClean="0"/>
              <a:t>[PE-</a:t>
            </a:r>
            <a:r>
              <a:rPr lang="en-US" altLang="zh-CN" sz="1400" dirty="0" err="1" smtClean="0"/>
              <a:t>bgp</a:t>
            </a:r>
            <a:r>
              <a:rPr lang="en-US" altLang="zh-CN" sz="1400" dirty="0" smtClean="0"/>
              <a:t>]</a:t>
            </a:r>
            <a:r>
              <a:rPr lang="en-US" altLang="zh-CN" sz="1400" b="1" dirty="0" smtClean="0"/>
              <a:t> </a:t>
            </a:r>
            <a:r>
              <a:rPr lang="en-US" altLang="zh-CN" sz="1400" b="1" dirty="0"/>
              <a:t>ipv4-family</a:t>
            </a:r>
            <a:r>
              <a:rPr lang="en-US" altLang="zh-CN" sz="1400" dirty="0"/>
              <a:t> </a:t>
            </a:r>
            <a:r>
              <a:rPr lang="en-US" altLang="zh-CN" sz="1400" b="1" dirty="0" err="1"/>
              <a:t>vpn</a:t>
            </a:r>
            <a:r>
              <a:rPr lang="en-US" altLang="zh-CN" sz="1400" b="1" dirty="0"/>
              <a:t>-instance</a:t>
            </a:r>
            <a:r>
              <a:rPr lang="en-US" altLang="zh-CN" sz="1400" dirty="0"/>
              <a:t> </a:t>
            </a:r>
            <a:r>
              <a:rPr lang="en-US" altLang="zh-CN" sz="1400" i="1" dirty="0" err="1"/>
              <a:t>vpn</a:t>
            </a:r>
            <a:r>
              <a:rPr lang="en-US" altLang="zh-CN" sz="1400" i="1" dirty="0"/>
              <a:t>-instance-name</a:t>
            </a:r>
            <a:endParaRPr lang="zh-CN" altLang="en-US" sz="14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5" name="矩形 4">
            <a:extLst>
              <a:ext uri="{FF2B5EF4-FFF2-40B4-BE49-F238E27FC236}">
                <a16:creationId xmlns:a16="http://schemas.microsoft.com/office/drawing/2014/main" xmlns="" id="{44C4E0BA-5C90-4FB6-BCA6-99B663B19FA8}"/>
              </a:ext>
            </a:extLst>
          </p:cNvPr>
          <p:cNvSpPr/>
          <p:nvPr/>
        </p:nvSpPr>
        <p:spPr bwMode="gray">
          <a:xfrm>
            <a:off x="551384" y="1365312"/>
            <a:ext cx="11089232" cy="307777"/>
          </a:xfrm>
          <a:prstGeom prst="rect">
            <a:avLst/>
          </a:prstGeom>
        </p:spPr>
        <p:txBody>
          <a:bodyPr wrap="square">
            <a:spAutoFit/>
          </a:bodyPr>
          <a:lstStyle/>
          <a:p>
            <a:pPr marL="342900" indent="-342900" fontAlgn="auto">
              <a:buFont typeface="+mj-lt"/>
              <a:buAutoNum type="arabicPeriod"/>
            </a:pP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PE</a:t>
            </a:r>
            <a:r>
              <a:rPr lang="zh-CN" altLang="en-US"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与</a:t>
            </a: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CE</a:t>
            </a:r>
            <a:r>
              <a:rPr lang="zh-CN" altLang="en-US"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间采用</a:t>
            </a: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EBGP</a:t>
            </a:r>
            <a:r>
              <a:rPr lang="zh-CN" altLang="en-US"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传递路由</a:t>
            </a:r>
            <a:endPar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1" name="矩形 10">
            <a:extLst>
              <a:ext uri="{FF2B5EF4-FFF2-40B4-BE49-F238E27FC236}">
                <a16:creationId xmlns="" xmlns:a16="http://schemas.microsoft.com/office/drawing/2014/main" id="{3F657C96-E0F8-4158-BE13-42DD133614B1}"/>
              </a:ext>
            </a:extLst>
          </p:cNvPr>
          <p:cNvSpPr/>
          <p:nvPr/>
        </p:nvSpPr>
        <p:spPr bwMode="gray">
          <a:xfrm>
            <a:off x="1031916" y="2525027"/>
            <a:ext cx="10608699" cy="707886"/>
          </a:xfrm>
          <a:prstGeom prst="rect">
            <a:avLst/>
          </a:prstGeom>
        </p:spPr>
        <p:txBody>
          <a:bodyPr wrap="square">
            <a:spAutoFit/>
          </a:bodyPr>
          <a:lstStyle/>
          <a:p>
            <a:pPr fontAlgn="auto">
              <a:lnSpc>
                <a:spcPts val="2400"/>
              </a:lnSpc>
            </a:pPr>
            <a:r>
              <a:rPr lang="en-US" altLang="zh-CN" sz="1400" dirty="0" smtClean="0"/>
              <a:t>PE</a:t>
            </a:r>
            <a:r>
              <a:rPr lang="zh-CN" altLang="en-US" sz="1400" dirty="0" smtClean="0"/>
              <a:t>上需进入</a:t>
            </a:r>
            <a:r>
              <a:rPr lang="en-US" altLang="zh-CN" sz="1400" dirty="0" smtClean="0"/>
              <a:t>VPN</a:t>
            </a:r>
            <a:r>
              <a:rPr lang="zh-CN" altLang="en-US" sz="1400" dirty="0"/>
              <a:t>实例</a:t>
            </a:r>
            <a:r>
              <a:rPr lang="en-US" altLang="zh-CN" sz="1400" dirty="0"/>
              <a:t>IPv4</a:t>
            </a:r>
            <a:r>
              <a:rPr lang="zh-CN" altLang="en-US" sz="1400" dirty="0"/>
              <a:t>地址族</a:t>
            </a:r>
            <a:r>
              <a:rPr lang="zh-CN" altLang="en-US" sz="1400" dirty="0" smtClean="0"/>
              <a:t>视图，并将</a:t>
            </a:r>
            <a:r>
              <a:rPr lang="en-US" altLang="zh-CN" sz="1400" dirty="0"/>
              <a:t>CE</a:t>
            </a:r>
            <a:r>
              <a:rPr lang="zh-CN" altLang="en-US" sz="1400" dirty="0"/>
              <a:t>配置为</a:t>
            </a:r>
            <a:r>
              <a:rPr lang="en-US" altLang="zh-CN" sz="1400" dirty="0"/>
              <a:t>VPN</a:t>
            </a:r>
            <a:r>
              <a:rPr lang="zh-CN" altLang="en-US" sz="1400" dirty="0"/>
              <a:t>私网对等</a:t>
            </a:r>
            <a:r>
              <a:rPr lang="zh-CN" altLang="en-US" sz="1400" dirty="0" smtClean="0"/>
              <a:t>体。</a:t>
            </a:r>
            <a:endParaRPr lang="en-US" altLang="zh-CN" sz="1400" dirty="0" smtClean="0"/>
          </a:p>
          <a:p>
            <a:pPr fontAlgn="auto">
              <a:lnSpc>
                <a:spcPts val="2400"/>
              </a:lnSpc>
            </a:pP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CE</a:t>
            </a:r>
            <a:r>
              <a:rPr lang="zh-CN" altLang="en-US"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上配置与普通</a:t>
            </a: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EBGP</a:t>
            </a:r>
            <a:r>
              <a:rPr lang="zh-CN" altLang="en-US"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配置相同，并将</a:t>
            </a: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VPN</a:t>
            </a:r>
            <a:r>
              <a:rPr lang="zh-CN" altLang="en-US"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路由通过</a:t>
            </a: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import</a:t>
            </a:r>
            <a:r>
              <a:rPr lang="zh-CN" altLang="en-US"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或</a:t>
            </a: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network</a:t>
            </a:r>
            <a:r>
              <a:rPr lang="zh-CN" altLang="en-US"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的方式引入</a:t>
            </a: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BGP</a:t>
            </a:r>
            <a:r>
              <a:rPr lang="zh-CN" altLang="en-US"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endPar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7" name="矩形 16">
            <a:extLst>
              <a:ext uri="{FF2B5EF4-FFF2-40B4-BE49-F238E27FC236}">
                <a16:creationId xmlns:a16="http://schemas.microsoft.com/office/drawing/2014/main" xmlns="" id="{4155CF1B-D6D5-4CBC-A7C4-3539BA1D8C49}"/>
              </a:ext>
            </a:extLst>
          </p:cNvPr>
          <p:cNvSpPr/>
          <p:nvPr/>
        </p:nvSpPr>
        <p:spPr bwMode="gray">
          <a:xfrm>
            <a:off x="1031917" y="2217250"/>
            <a:ext cx="10608699" cy="307777"/>
          </a:xfrm>
          <a:prstGeom prst="rect">
            <a:avLst/>
          </a:prstGeom>
          <a:solidFill>
            <a:schemeClr val="bg1">
              <a:lumMod val="85000"/>
            </a:schemeClr>
          </a:solidFill>
          <a:ln>
            <a:noFill/>
          </a:ln>
        </p:spPr>
        <p:txBody>
          <a:bodyPr wrap="square">
            <a:spAutoFit/>
          </a:bodyPr>
          <a:lstStyle/>
          <a:p>
            <a:pPr fontAlgn="base"/>
            <a:r>
              <a:rPr lang="en-US" altLang="zh-CN" sz="1400" dirty="0" smtClean="0"/>
              <a:t>[PE-</a:t>
            </a:r>
            <a:r>
              <a:rPr lang="en-US" altLang="zh-CN" sz="1400" dirty="0" err="1" smtClean="0"/>
              <a:t>bgp</a:t>
            </a:r>
            <a:r>
              <a:rPr lang="en-US" altLang="zh-CN" sz="1400" dirty="0" smtClean="0"/>
              <a:t>-</a:t>
            </a:r>
            <a:r>
              <a:rPr lang="en-US" altLang="zh-CN" sz="1400" dirty="0" err="1" smtClean="0"/>
              <a:t>InstanceName</a:t>
            </a:r>
            <a:r>
              <a:rPr lang="en-US" altLang="zh-CN" sz="1400" dirty="0" smtClean="0"/>
              <a:t>]</a:t>
            </a:r>
            <a:r>
              <a:rPr lang="en-US" altLang="zh-CN" sz="1400" b="1" dirty="0"/>
              <a:t> peer</a:t>
            </a:r>
            <a:r>
              <a:rPr lang="en-US" altLang="zh-CN" sz="1400" dirty="0"/>
              <a:t> </a:t>
            </a:r>
            <a:r>
              <a:rPr lang="en-US" altLang="zh-CN" sz="1400" i="1" dirty="0"/>
              <a:t>ipv4-address</a:t>
            </a:r>
            <a:r>
              <a:rPr lang="en-US" altLang="zh-CN" sz="1400" dirty="0"/>
              <a:t> </a:t>
            </a:r>
            <a:r>
              <a:rPr lang="en-US" altLang="zh-CN" sz="1400" b="1" dirty="0"/>
              <a:t>as-number</a:t>
            </a:r>
            <a:r>
              <a:rPr lang="en-US" altLang="zh-CN" sz="1400" dirty="0"/>
              <a:t> </a:t>
            </a:r>
            <a:r>
              <a:rPr lang="en-US" altLang="zh-CN" sz="1400" i="1" dirty="0" err="1"/>
              <a:t>as-number</a:t>
            </a:r>
            <a:endParaRPr lang="zh-CN" altLang="en-US" sz="14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8" name="矩形 17">
            <a:extLst>
              <a:ext uri="{FF2B5EF4-FFF2-40B4-BE49-F238E27FC236}">
                <a16:creationId xmlns:a16="http://schemas.microsoft.com/office/drawing/2014/main" xmlns="" id="{4155CF1B-D6D5-4CBC-A7C4-3539BA1D8C49}"/>
              </a:ext>
            </a:extLst>
          </p:cNvPr>
          <p:cNvSpPr/>
          <p:nvPr/>
        </p:nvSpPr>
        <p:spPr bwMode="gray">
          <a:xfrm>
            <a:off x="1031914" y="3665060"/>
            <a:ext cx="10608699" cy="307777"/>
          </a:xfrm>
          <a:prstGeom prst="rect">
            <a:avLst/>
          </a:prstGeom>
          <a:solidFill>
            <a:schemeClr val="bg1">
              <a:lumMod val="85000"/>
            </a:schemeClr>
          </a:solidFill>
          <a:ln>
            <a:noFill/>
          </a:ln>
        </p:spPr>
        <p:txBody>
          <a:bodyPr wrap="square">
            <a:spAutoFit/>
          </a:bodyPr>
          <a:lstStyle/>
          <a:p>
            <a:pPr fontAlgn="base"/>
            <a:r>
              <a:rPr lang="en-US" altLang="zh-CN" sz="1400" dirty="0" smtClean="0"/>
              <a:t>[PE]</a:t>
            </a:r>
            <a:r>
              <a:rPr lang="en-US" altLang="zh-CN" sz="1400" b="1" dirty="0" smtClean="0"/>
              <a:t> </a:t>
            </a:r>
            <a:r>
              <a:rPr lang="en-US" altLang="zh-CN" sz="1400" b="1" dirty="0" err="1"/>
              <a:t>ospf</a:t>
            </a:r>
            <a:r>
              <a:rPr lang="en-US" altLang="zh-CN" sz="1400" dirty="0"/>
              <a:t> </a:t>
            </a:r>
            <a:r>
              <a:rPr lang="en-US" altLang="zh-CN" sz="1400" i="1" dirty="0"/>
              <a:t>process-id</a:t>
            </a:r>
            <a:r>
              <a:rPr lang="en-US" altLang="zh-CN" sz="1400" dirty="0"/>
              <a:t> [ </a:t>
            </a:r>
            <a:r>
              <a:rPr lang="en-US" altLang="zh-CN" sz="1400" b="1" dirty="0"/>
              <a:t>router-id</a:t>
            </a:r>
            <a:r>
              <a:rPr lang="en-US" altLang="zh-CN" sz="1400" dirty="0"/>
              <a:t> </a:t>
            </a:r>
            <a:r>
              <a:rPr lang="en-US" altLang="zh-CN" sz="1400" i="1" dirty="0" err="1"/>
              <a:t>router-id</a:t>
            </a:r>
            <a:r>
              <a:rPr lang="en-US" altLang="zh-CN" sz="1400" dirty="0"/>
              <a:t> ] </a:t>
            </a:r>
            <a:r>
              <a:rPr lang="en-US" altLang="zh-CN" sz="1400" b="1" dirty="0" err="1"/>
              <a:t>vpn</a:t>
            </a:r>
            <a:r>
              <a:rPr lang="en-US" altLang="zh-CN" sz="1400" b="1" dirty="0"/>
              <a:t>-instance</a:t>
            </a:r>
            <a:r>
              <a:rPr lang="en-US" altLang="zh-CN" sz="1400" dirty="0"/>
              <a:t> </a:t>
            </a:r>
            <a:r>
              <a:rPr lang="en-US" altLang="zh-CN" sz="1400" i="1" dirty="0" err="1"/>
              <a:t>vpn</a:t>
            </a:r>
            <a:r>
              <a:rPr lang="en-US" altLang="zh-CN" sz="1400" i="1" dirty="0"/>
              <a:t>-instance-name</a:t>
            </a:r>
            <a:endParaRPr lang="zh-CN" altLang="en-US" sz="14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9" name="矩形 18">
            <a:extLst>
              <a:ext uri="{FF2B5EF4-FFF2-40B4-BE49-F238E27FC236}">
                <a16:creationId xmlns:a16="http://schemas.microsoft.com/office/drawing/2014/main" xmlns="" id="{44C4E0BA-5C90-4FB6-BCA6-99B663B19FA8}"/>
              </a:ext>
            </a:extLst>
          </p:cNvPr>
          <p:cNvSpPr/>
          <p:nvPr/>
        </p:nvSpPr>
        <p:spPr bwMode="gray">
          <a:xfrm>
            <a:off x="551381" y="3232913"/>
            <a:ext cx="11089232" cy="307777"/>
          </a:xfrm>
          <a:prstGeom prst="rect">
            <a:avLst/>
          </a:prstGeom>
        </p:spPr>
        <p:txBody>
          <a:bodyPr wrap="square">
            <a:spAutoFit/>
          </a:bodyPr>
          <a:lstStyle/>
          <a:p>
            <a:pPr marL="342900" indent="-342900" fontAlgn="auto">
              <a:buFont typeface="+mj-lt"/>
              <a:buAutoNum type="arabicPeriod" startAt="2"/>
            </a:pP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PE</a:t>
            </a:r>
            <a:r>
              <a:rPr lang="zh-CN" altLang="en-US"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与</a:t>
            </a: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CE</a:t>
            </a:r>
            <a:r>
              <a:rPr lang="zh-CN" altLang="en-US"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间采用</a:t>
            </a: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IGP</a:t>
            </a:r>
            <a:r>
              <a:rPr lang="zh-CN" altLang="en-US"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传递路由（以</a:t>
            </a: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OSPF</a:t>
            </a:r>
            <a:r>
              <a:rPr lang="zh-CN" altLang="en-US"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为例）</a:t>
            </a:r>
            <a:endPar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2" name="矩形 21">
            <a:extLst>
              <a:ext uri="{FF2B5EF4-FFF2-40B4-BE49-F238E27FC236}">
                <a16:creationId xmlns="" xmlns:a16="http://schemas.microsoft.com/office/drawing/2014/main" id="{3F657C96-E0F8-4158-BE13-42DD133614B1}"/>
              </a:ext>
            </a:extLst>
          </p:cNvPr>
          <p:cNvSpPr/>
          <p:nvPr/>
        </p:nvSpPr>
        <p:spPr bwMode="gray">
          <a:xfrm>
            <a:off x="1031910" y="5251942"/>
            <a:ext cx="10608699" cy="707886"/>
          </a:xfrm>
          <a:prstGeom prst="rect">
            <a:avLst/>
          </a:prstGeom>
        </p:spPr>
        <p:txBody>
          <a:bodyPr wrap="square">
            <a:spAutoFit/>
          </a:bodyPr>
          <a:lstStyle/>
          <a:p>
            <a:pPr fontAlgn="auto">
              <a:lnSpc>
                <a:spcPts val="2400"/>
              </a:lnSpc>
            </a:pP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PE</a:t>
            </a:r>
            <a:r>
              <a:rPr lang="zh-CN" altLang="en-US"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上需要创建与</a:t>
            </a: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VPN</a:t>
            </a:r>
            <a:r>
              <a:rPr lang="zh-CN" altLang="en-US"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实例绑定的</a:t>
            </a: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OSPF</a:t>
            </a:r>
            <a:r>
              <a:rPr lang="zh-CN" altLang="en-US"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进程，并与</a:t>
            </a: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CE</a:t>
            </a:r>
            <a:r>
              <a:rPr lang="zh-CN" altLang="en-US"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建立</a:t>
            </a: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OSPF</a:t>
            </a:r>
            <a:r>
              <a:rPr lang="zh-CN" altLang="en-US"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邻居关系。同时需要在</a:t>
            </a: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OSPF</a:t>
            </a:r>
            <a:r>
              <a:rPr lang="zh-CN" altLang="en-US"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和</a:t>
            </a: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BGP</a:t>
            </a:r>
            <a:r>
              <a:rPr lang="zh-CN" altLang="en-US"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之间互相引入路由。</a:t>
            </a:r>
            <a:endPar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fontAlgn="auto">
              <a:lnSpc>
                <a:spcPts val="2400"/>
              </a:lnSpc>
            </a:pP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CE</a:t>
            </a:r>
            <a:r>
              <a:rPr lang="zh-CN" altLang="en-US"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上配置与普通</a:t>
            </a: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OSPF</a:t>
            </a:r>
            <a:r>
              <a:rPr lang="zh-CN" altLang="en-US"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配置相同。</a:t>
            </a:r>
            <a:endPar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4" name="矩形 23">
            <a:extLst>
              <a:ext uri="{FF2B5EF4-FFF2-40B4-BE49-F238E27FC236}">
                <a16:creationId xmlns:a16="http://schemas.microsoft.com/office/drawing/2014/main" xmlns="" id="{4155CF1B-D6D5-4CBC-A7C4-3539BA1D8C49}"/>
              </a:ext>
            </a:extLst>
          </p:cNvPr>
          <p:cNvSpPr/>
          <p:nvPr/>
        </p:nvSpPr>
        <p:spPr bwMode="gray">
          <a:xfrm>
            <a:off x="1031911" y="4084851"/>
            <a:ext cx="10608699" cy="307777"/>
          </a:xfrm>
          <a:prstGeom prst="rect">
            <a:avLst/>
          </a:prstGeom>
          <a:solidFill>
            <a:schemeClr val="bg1">
              <a:lumMod val="85000"/>
            </a:schemeClr>
          </a:solidFill>
          <a:ln>
            <a:noFill/>
          </a:ln>
        </p:spPr>
        <p:txBody>
          <a:bodyPr wrap="square">
            <a:spAutoFit/>
          </a:bodyPr>
          <a:lstStyle/>
          <a:p>
            <a:pPr fontAlgn="base"/>
            <a:r>
              <a:rPr lang="en-US" altLang="zh-CN" sz="1400" dirty="0" smtClean="0"/>
              <a:t>[PE-</a:t>
            </a:r>
            <a:r>
              <a:rPr lang="en-US" altLang="zh-CN" sz="1400" dirty="0" err="1" smtClean="0"/>
              <a:t>ospf</a:t>
            </a:r>
            <a:r>
              <a:rPr lang="en-US" altLang="zh-CN" sz="1400" dirty="0" smtClean="0"/>
              <a:t>-</a:t>
            </a:r>
            <a:r>
              <a:rPr lang="en-US" altLang="zh-CN" sz="1400" dirty="0" err="1" smtClean="0"/>
              <a:t>processid</a:t>
            </a:r>
            <a:r>
              <a:rPr lang="en-US" altLang="zh-CN" sz="1400" dirty="0" smtClean="0"/>
              <a:t>]</a:t>
            </a:r>
            <a:r>
              <a:rPr lang="en-US" altLang="zh-CN" sz="1400" b="1" dirty="0"/>
              <a:t> import-route</a:t>
            </a:r>
            <a:r>
              <a:rPr lang="en-US" altLang="zh-CN" sz="1400" dirty="0"/>
              <a:t> </a:t>
            </a:r>
            <a:r>
              <a:rPr lang="en-US" altLang="zh-CN" sz="1400" b="1" dirty="0" err="1"/>
              <a:t>bgp</a:t>
            </a:r>
            <a:r>
              <a:rPr lang="en-US" altLang="zh-CN" sz="1400" dirty="0"/>
              <a:t> [ </a:t>
            </a:r>
            <a:r>
              <a:rPr lang="en-US" altLang="zh-CN" sz="1400" b="1" dirty="0"/>
              <a:t>permit-</a:t>
            </a:r>
            <a:r>
              <a:rPr lang="en-US" altLang="zh-CN" sz="1400" b="1" dirty="0" err="1"/>
              <a:t>ibgp</a:t>
            </a:r>
            <a:r>
              <a:rPr lang="en-US" altLang="zh-CN" sz="1400" dirty="0"/>
              <a:t> ] [ </a:t>
            </a:r>
            <a:r>
              <a:rPr lang="en-US" altLang="zh-CN" sz="1400" b="1" dirty="0"/>
              <a:t>cost</a:t>
            </a:r>
            <a:r>
              <a:rPr lang="en-US" altLang="zh-CN" sz="1400" dirty="0"/>
              <a:t> </a:t>
            </a:r>
            <a:r>
              <a:rPr lang="en-US" altLang="zh-CN" sz="1400" i="1" dirty="0" err="1"/>
              <a:t>cost</a:t>
            </a:r>
            <a:r>
              <a:rPr lang="en-US" altLang="zh-CN" sz="1400" dirty="0"/>
              <a:t> | </a:t>
            </a:r>
            <a:r>
              <a:rPr lang="en-US" altLang="zh-CN" sz="1400" b="1" dirty="0"/>
              <a:t>route-policy</a:t>
            </a:r>
            <a:r>
              <a:rPr lang="en-US" altLang="zh-CN" sz="1400" dirty="0"/>
              <a:t> </a:t>
            </a:r>
            <a:r>
              <a:rPr lang="en-US" altLang="zh-CN" sz="1400" i="1" dirty="0"/>
              <a:t>route-policy-name</a:t>
            </a:r>
            <a:r>
              <a:rPr lang="en-US" altLang="zh-CN" sz="1400" dirty="0"/>
              <a:t> | </a:t>
            </a:r>
            <a:r>
              <a:rPr lang="en-US" altLang="zh-CN" sz="1400" b="1" dirty="0"/>
              <a:t>tag</a:t>
            </a:r>
            <a:r>
              <a:rPr lang="en-US" altLang="zh-CN" sz="1400" dirty="0"/>
              <a:t> </a:t>
            </a:r>
            <a:r>
              <a:rPr lang="en-US" altLang="zh-CN" sz="1400" i="1" dirty="0" err="1"/>
              <a:t>tag</a:t>
            </a:r>
            <a:r>
              <a:rPr lang="en-US" altLang="zh-CN" sz="1400" dirty="0"/>
              <a:t> | </a:t>
            </a:r>
            <a:r>
              <a:rPr lang="en-US" altLang="zh-CN" sz="1400" b="1" dirty="0"/>
              <a:t>type</a:t>
            </a:r>
            <a:r>
              <a:rPr lang="en-US" altLang="zh-CN" sz="1400" dirty="0"/>
              <a:t> </a:t>
            </a:r>
            <a:r>
              <a:rPr lang="en-US" altLang="zh-CN" sz="1400" i="1" dirty="0" err="1"/>
              <a:t>type</a:t>
            </a:r>
            <a:r>
              <a:rPr lang="en-US" altLang="zh-CN" sz="1400" dirty="0"/>
              <a:t> ] </a:t>
            </a:r>
            <a:r>
              <a:rPr lang="en-US" altLang="zh-CN" sz="1400" baseline="30000" dirty="0"/>
              <a:t>*</a:t>
            </a:r>
            <a:r>
              <a:rPr lang="en-US" altLang="zh-CN" sz="1400" dirty="0" smtClean="0"/>
              <a:t> </a:t>
            </a:r>
            <a:endParaRPr lang="zh-CN" altLang="en-US" sz="14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5" name="矩形 24">
            <a:extLst>
              <a:ext uri="{FF2B5EF4-FFF2-40B4-BE49-F238E27FC236}">
                <a16:creationId xmlns:a16="http://schemas.microsoft.com/office/drawing/2014/main" xmlns="" id="{4155CF1B-D6D5-4CBC-A7C4-3539BA1D8C49}"/>
              </a:ext>
            </a:extLst>
          </p:cNvPr>
          <p:cNvSpPr/>
          <p:nvPr/>
        </p:nvSpPr>
        <p:spPr bwMode="gray">
          <a:xfrm>
            <a:off x="1031914" y="4510773"/>
            <a:ext cx="10608699" cy="307777"/>
          </a:xfrm>
          <a:prstGeom prst="rect">
            <a:avLst/>
          </a:prstGeom>
          <a:solidFill>
            <a:schemeClr val="bg1">
              <a:lumMod val="85000"/>
            </a:schemeClr>
          </a:solidFill>
          <a:ln>
            <a:noFill/>
          </a:ln>
        </p:spPr>
        <p:txBody>
          <a:bodyPr wrap="square">
            <a:spAutoFit/>
          </a:bodyPr>
          <a:lstStyle/>
          <a:p>
            <a:pPr fontAlgn="base"/>
            <a:r>
              <a:rPr lang="en-US" altLang="zh-CN" sz="1400" dirty="0" smtClean="0"/>
              <a:t>[PE-</a:t>
            </a:r>
            <a:r>
              <a:rPr lang="en-US" altLang="zh-CN" sz="1400" dirty="0" err="1" smtClean="0"/>
              <a:t>bgp</a:t>
            </a:r>
            <a:r>
              <a:rPr lang="en-US" altLang="zh-CN" sz="1400" dirty="0" smtClean="0"/>
              <a:t>]</a:t>
            </a:r>
            <a:r>
              <a:rPr lang="en-US" altLang="zh-CN" sz="1400" b="1" dirty="0"/>
              <a:t> ipv4-family</a:t>
            </a:r>
            <a:r>
              <a:rPr lang="en-US" altLang="zh-CN" sz="1400" dirty="0"/>
              <a:t> </a:t>
            </a:r>
            <a:r>
              <a:rPr lang="en-US" altLang="zh-CN" sz="1400" b="1" dirty="0" err="1"/>
              <a:t>vpn</a:t>
            </a:r>
            <a:r>
              <a:rPr lang="en-US" altLang="zh-CN" sz="1400" b="1" dirty="0"/>
              <a:t>-instance</a:t>
            </a:r>
            <a:r>
              <a:rPr lang="en-US" altLang="zh-CN" sz="1400" dirty="0"/>
              <a:t> </a:t>
            </a:r>
            <a:r>
              <a:rPr lang="en-US" altLang="zh-CN" sz="1400" i="1" dirty="0" err="1" smtClean="0"/>
              <a:t>vpn</a:t>
            </a:r>
            <a:r>
              <a:rPr lang="en-US" altLang="zh-CN" sz="1400" i="1" dirty="0" smtClean="0"/>
              <a:t>-instance-name</a:t>
            </a:r>
            <a:r>
              <a:rPr lang="en-US" altLang="zh-CN" sz="1400" dirty="0" smtClean="0"/>
              <a:t> </a:t>
            </a:r>
            <a:endParaRPr lang="zh-CN" altLang="en-US" sz="14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6" name="矩形 25">
            <a:extLst>
              <a:ext uri="{FF2B5EF4-FFF2-40B4-BE49-F238E27FC236}">
                <a16:creationId xmlns:a16="http://schemas.microsoft.com/office/drawing/2014/main" xmlns="" id="{4155CF1B-D6D5-4CBC-A7C4-3539BA1D8C49}"/>
              </a:ext>
            </a:extLst>
          </p:cNvPr>
          <p:cNvSpPr/>
          <p:nvPr/>
        </p:nvSpPr>
        <p:spPr bwMode="gray">
          <a:xfrm>
            <a:off x="1031917" y="4897999"/>
            <a:ext cx="10608699" cy="307777"/>
          </a:xfrm>
          <a:prstGeom prst="rect">
            <a:avLst/>
          </a:prstGeom>
          <a:solidFill>
            <a:schemeClr val="bg1">
              <a:lumMod val="85000"/>
            </a:schemeClr>
          </a:solidFill>
          <a:ln>
            <a:noFill/>
          </a:ln>
        </p:spPr>
        <p:txBody>
          <a:bodyPr wrap="square">
            <a:spAutoFit/>
          </a:bodyPr>
          <a:lstStyle/>
          <a:p>
            <a:pPr fontAlgn="base"/>
            <a:r>
              <a:rPr lang="en-US" altLang="zh-CN" sz="1400" dirty="0" smtClean="0"/>
              <a:t>[PE-</a:t>
            </a:r>
            <a:r>
              <a:rPr lang="en-US" altLang="zh-CN" sz="1400" dirty="0" err="1" smtClean="0"/>
              <a:t>bgp</a:t>
            </a:r>
            <a:r>
              <a:rPr lang="en-US" altLang="zh-CN" sz="1400" dirty="0" smtClean="0"/>
              <a:t>]</a:t>
            </a:r>
            <a:r>
              <a:rPr lang="en-US" altLang="zh-CN" sz="1400" b="1" dirty="0"/>
              <a:t> import-route</a:t>
            </a:r>
            <a:r>
              <a:rPr lang="en-US" altLang="zh-CN" sz="1400" dirty="0"/>
              <a:t> </a:t>
            </a:r>
            <a:r>
              <a:rPr lang="en-US" altLang="zh-CN" sz="1400" b="1" dirty="0" err="1"/>
              <a:t>ospf</a:t>
            </a:r>
            <a:r>
              <a:rPr lang="en-US" altLang="zh-CN" sz="1400" dirty="0"/>
              <a:t> </a:t>
            </a:r>
            <a:r>
              <a:rPr lang="en-US" altLang="zh-CN" sz="1400" i="1" dirty="0"/>
              <a:t>process-id</a:t>
            </a:r>
            <a:r>
              <a:rPr lang="en-US" altLang="zh-CN" sz="1400" dirty="0"/>
              <a:t> [ </a:t>
            </a:r>
            <a:r>
              <a:rPr lang="en-US" altLang="zh-CN" sz="1400" b="1" dirty="0"/>
              <a:t>med</a:t>
            </a:r>
            <a:r>
              <a:rPr lang="en-US" altLang="zh-CN" sz="1400" dirty="0"/>
              <a:t> </a:t>
            </a:r>
            <a:r>
              <a:rPr lang="en-US" altLang="zh-CN" sz="1400" i="1" dirty="0" err="1"/>
              <a:t>med</a:t>
            </a:r>
            <a:r>
              <a:rPr lang="en-US" altLang="zh-CN" sz="1400" dirty="0"/>
              <a:t> | </a:t>
            </a:r>
            <a:r>
              <a:rPr lang="en-US" altLang="zh-CN" sz="1400" b="1" dirty="0"/>
              <a:t>route-policy</a:t>
            </a:r>
            <a:r>
              <a:rPr lang="en-US" altLang="zh-CN" sz="1400" dirty="0"/>
              <a:t> </a:t>
            </a:r>
            <a:r>
              <a:rPr lang="en-US" altLang="zh-CN" sz="1400" i="1" dirty="0"/>
              <a:t>route-policy-name</a:t>
            </a:r>
            <a:r>
              <a:rPr lang="en-US" altLang="zh-CN" sz="1400" dirty="0"/>
              <a:t> ] </a:t>
            </a:r>
            <a:r>
              <a:rPr lang="en-US" altLang="zh-CN" sz="1400" baseline="30000" dirty="0"/>
              <a:t>*</a:t>
            </a:r>
            <a:r>
              <a:rPr lang="en-US" altLang="zh-CN" sz="1400" dirty="0" smtClean="0"/>
              <a:t> </a:t>
            </a:r>
            <a:endParaRPr lang="zh-CN" altLang="en-US" sz="14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Tree>
    <p:extLst>
      <p:ext uri="{BB962C8B-B14F-4D97-AF65-F5344CB8AC3E}">
        <p14:creationId xmlns:p14="http://schemas.microsoft.com/office/powerpoint/2010/main" val="349132306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9" name="Group 108"/>
          <p:cNvGrpSpPr/>
          <p:nvPr/>
        </p:nvGrpSpPr>
        <p:grpSpPr bwMode="gray">
          <a:xfrm rot="16200000" flipV="1">
            <a:off x="10124867" y="4677236"/>
            <a:ext cx="259305" cy="557470"/>
            <a:chOff x="3134093" y="3084639"/>
            <a:chExt cx="611430" cy="432284"/>
          </a:xfrm>
        </p:grpSpPr>
        <p:cxnSp>
          <p:nvCxnSpPr>
            <p:cNvPr id="110" name="直接连接符 53"/>
            <p:cNvCxnSpPr/>
            <p:nvPr/>
          </p:nvCxnSpPr>
          <p:spPr bwMode="gray">
            <a:xfrm>
              <a:off x="3134093" y="3084639"/>
              <a:ext cx="61143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1" name="直接连接符 53"/>
            <p:cNvCxnSpPr/>
            <p:nvPr/>
          </p:nvCxnSpPr>
          <p:spPr bwMode="gray">
            <a:xfrm>
              <a:off x="3439808" y="3084639"/>
              <a:ext cx="0" cy="432284"/>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12" name="Group 111"/>
          <p:cNvGrpSpPr/>
          <p:nvPr/>
        </p:nvGrpSpPr>
        <p:grpSpPr bwMode="gray">
          <a:xfrm rot="16200000" flipV="1">
            <a:off x="10124867" y="3071158"/>
            <a:ext cx="259305" cy="557470"/>
            <a:chOff x="3134093" y="3084639"/>
            <a:chExt cx="611430" cy="432284"/>
          </a:xfrm>
        </p:grpSpPr>
        <p:cxnSp>
          <p:nvCxnSpPr>
            <p:cNvPr id="113" name="直接连接符 53"/>
            <p:cNvCxnSpPr/>
            <p:nvPr/>
          </p:nvCxnSpPr>
          <p:spPr bwMode="gray">
            <a:xfrm>
              <a:off x="3134093" y="3084639"/>
              <a:ext cx="61143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4" name="直接连接符 53"/>
            <p:cNvCxnSpPr/>
            <p:nvPr/>
          </p:nvCxnSpPr>
          <p:spPr bwMode="gray">
            <a:xfrm>
              <a:off x="3439808" y="3084639"/>
              <a:ext cx="0" cy="432284"/>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05" name="Group 104"/>
          <p:cNvGrpSpPr/>
          <p:nvPr/>
        </p:nvGrpSpPr>
        <p:grpSpPr bwMode="gray">
          <a:xfrm rot="16200000">
            <a:off x="1845974" y="4573878"/>
            <a:ext cx="259305" cy="764187"/>
            <a:chOff x="3134093" y="3084639"/>
            <a:chExt cx="611430" cy="432284"/>
          </a:xfrm>
        </p:grpSpPr>
        <p:cxnSp>
          <p:nvCxnSpPr>
            <p:cNvPr id="106" name="直接连接符 53"/>
            <p:cNvCxnSpPr/>
            <p:nvPr/>
          </p:nvCxnSpPr>
          <p:spPr bwMode="gray">
            <a:xfrm>
              <a:off x="3134093" y="3084639"/>
              <a:ext cx="61143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7" name="直接连接符 53"/>
            <p:cNvCxnSpPr/>
            <p:nvPr/>
          </p:nvCxnSpPr>
          <p:spPr bwMode="gray">
            <a:xfrm>
              <a:off x="3439808" y="3084639"/>
              <a:ext cx="0" cy="432284"/>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97" name="Group 96"/>
          <p:cNvGrpSpPr/>
          <p:nvPr/>
        </p:nvGrpSpPr>
        <p:grpSpPr bwMode="gray">
          <a:xfrm rot="16200000">
            <a:off x="1845974" y="2967800"/>
            <a:ext cx="259305" cy="764187"/>
            <a:chOff x="3134093" y="3084639"/>
            <a:chExt cx="611430" cy="432284"/>
          </a:xfrm>
        </p:grpSpPr>
        <p:cxnSp>
          <p:nvCxnSpPr>
            <p:cNvPr id="98" name="直接连接符 53"/>
            <p:cNvCxnSpPr/>
            <p:nvPr/>
          </p:nvCxnSpPr>
          <p:spPr bwMode="gray">
            <a:xfrm>
              <a:off x="3134093" y="3084639"/>
              <a:ext cx="61143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9" name="直接连接符 53"/>
            <p:cNvCxnSpPr/>
            <p:nvPr/>
          </p:nvCxnSpPr>
          <p:spPr bwMode="gray">
            <a:xfrm>
              <a:off x="3439808" y="3084639"/>
              <a:ext cx="0" cy="432284"/>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bwMode="gray"/>
        <p:txBody>
          <a:bodyPr/>
          <a:lstStyle/>
          <a:p>
            <a:r>
              <a:rPr lang="en-US" altLang="zh-CN" smtClean="0">
                <a:sym typeface="Huawei Sans" panose="020C0503030203020204" pitchFamily="34" charset="0"/>
              </a:rPr>
              <a:t>MPLS VPN</a:t>
            </a:r>
            <a:r>
              <a:rPr lang="zh-CN" altLang="en-US" smtClean="0">
                <a:sym typeface="Huawei Sans" panose="020C0503030203020204" pitchFamily="34" charset="0"/>
              </a:rPr>
              <a:t>配置示例：背景介绍</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bwMode="gray"/>
        <p:txBody>
          <a:bodyPr/>
          <a:lstStyle/>
          <a:p>
            <a:r>
              <a:rPr lang="zh-CN" altLang="en-US" sz="1800" dirty="0" smtClean="0">
                <a:sym typeface="Huawei Sans" panose="020C0503030203020204" pitchFamily="34" charset="0"/>
              </a:rPr>
              <a:t>客户</a:t>
            </a:r>
            <a:r>
              <a:rPr lang="en-US" altLang="zh-CN" sz="1800" dirty="0" smtClean="0">
                <a:sym typeface="Huawei Sans" panose="020C0503030203020204" pitchFamily="34" charset="0"/>
              </a:rPr>
              <a:t>X</a:t>
            </a:r>
            <a:r>
              <a:rPr lang="zh-CN" altLang="en-US" sz="1800" dirty="0" smtClean="0">
                <a:sym typeface="Huawei Sans" panose="020C0503030203020204" pitchFamily="34" charset="0"/>
              </a:rPr>
              <a:t>及</a:t>
            </a:r>
            <a:r>
              <a:rPr lang="en-US" altLang="zh-CN" sz="1800" dirty="0" smtClean="0">
                <a:sym typeface="Huawei Sans" panose="020C0503030203020204" pitchFamily="34" charset="0"/>
              </a:rPr>
              <a:t>Y</a:t>
            </a:r>
            <a:r>
              <a:rPr lang="zh-CN" altLang="en-US" sz="1800" dirty="0" smtClean="0">
                <a:sym typeface="Huawei Sans" panose="020C0503030203020204" pitchFamily="34" charset="0"/>
              </a:rPr>
              <a:t>各自有</a:t>
            </a:r>
            <a:r>
              <a:rPr lang="en-US" altLang="zh-CN" sz="1800" dirty="0" smtClean="0">
                <a:sym typeface="Huawei Sans" panose="020C0503030203020204" pitchFamily="34" charset="0"/>
              </a:rPr>
              <a:t>2</a:t>
            </a:r>
            <a:r>
              <a:rPr lang="zh-CN" altLang="en-US" sz="1800" dirty="0" smtClean="0">
                <a:sym typeface="Huawei Sans" panose="020C0503030203020204" pitchFamily="34" charset="0"/>
              </a:rPr>
              <a:t>个站点，现需要通过</a:t>
            </a:r>
            <a:r>
              <a:rPr lang="en-US" altLang="zh-CN" sz="1800" dirty="0" smtClean="0">
                <a:sym typeface="Huawei Sans" panose="020C0503030203020204" pitchFamily="34" charset="0"/>
              </a:rPr>
              <a:t>MPLS VPN</a:t>
            </a:r>
            <a:r>
              <a:rPr lang="zh-CN" altLang="en-US" sz="1800" dirty="0" smtClean="0">
                <a:sym typeface="Huawei Sans" panose="020C0503030203020204" pitchFamily="34" charset="0"/>
              </a:rPr>
              <a:t>实现站点之间的互联，分别对应</a:t>
            </a:r>
            <a:r>
              <a:rPr lang="en-US" altLang="zh-CN" sz="1800" dirty="0" smtClean="0">
                <a:sym typeface="Huawei Sans" panose="020C0503030203020204" pitchFamily="34" charset="0"/>
              </a:rPr>
              <a:t>VPNX</a:t>
            </a:r>
            <a:r>
              <a:rPr lang="zh-CN" altLang="en-US" sz="1800" dirty="0" smtClean="0">
                <a:sym typeface="Huawei Sans" panose="020C0503030203020204" pitchFamily="34" charset="0"/>
              </a:rPr>
              <a:t>和</a:t>
            </a:r>
            <a:r>
              <a:rPr lang="en-US" altLang="zh-CN" sz="1800" dirty="0" smtClean="0">
                <a:sym typeface="Huawei Sans" panose="020C0503030203020204" pitchFamily="34" charset="0"/>
              </a:rPr>
              <a:t>VPNY</a:t>
            </a:r>
            <a:r>
              <a:rPr lang="zh-CN" altLang="en-US" sz="1800" dirty="0" smtClean="0">
                <a:sym typeface="Huawei Sans" panose="020C0503030203020204" pitchFamily="34" charset="0"/>
              </a:rPr>
              <a:t>；</a:t>
            </a:r>
            <a:endParaRPr lang="en-US" altLang="zh-CN" sz="1800" dirty="0" smtClean="0">
              <a:sym typeface="Huawei Sans" panose="020C0503030203020204" pitchFamily="34" charset="0"/>
            </a:endParaRPr>
          </a:p>
          <a:p>
            <a:r>
              <a:rPr lang="zh-CN" altLang="en-US" sz="1800" dirty="0" smtClean="0">
                <a:sym typeface="Huawei Sans" panose="020C0503030203020204" pitchFamily="34" charset="0"/>
              </a:rPr>
              <a:t>互联接口、</a:t>
            </a:r>
            <a:r>
              <a:rPr lang="en-US" altLang="zh-CN" sz="1800" dirty="0" smtClean="0">
                <a:sym typeface="Huawei Sans" panose="020C0503030203020204" pitchFamily="34" charset="0"/>
              </a:rPr>
              <a:t>AS</a:t>
            </a:r>
            <a:r>
              <a:rPr lang="zh-CN" altLang="en-US" sz="1800" dirty="0" smtClean="0">
                <a:sym typeface="Huawei Sans" panose="020C0503030203020204" pitchFamily="34" charset="0"/>
              </a:rPr>
              <a:t>号及</a:t>
            </a:r>
            <a:r>
              <a:rPr lang="en-US" altLang="zh-CN" sz="1800" dirty="0" smtClean="0">
                <a:sym typeface="Huawei Sans" panose="020C0503030203020204" pitchFamily="34" charset="0"/>
              </a:rPr>
              <a:t>IP</a:t>
            </a:r>
            <a:r>
              <a:rPr lang="zh-CN" altLang="en-US" sz="1800" dirty="0" smtClean="0">
                <a:sym typeface="Huawei Sans" panose="020C0503030203020204" pitchFamily="34" charset="0"/>
              </a:rPr>
              <a:t>地址信息如图；</a:t>
            </a:r>
            <a:endParaRPr lang="en-US" altLang="zh-CN" sz="1800" dirty="0" smtClean="0">
              <a:sym typeface="Huawei Sans" panose="020C0503030203020204" pitchFamily="34" charset="0"/>
            </a:endParaRPr>
          </a:p>
          <a:p>
            <a:r>
              <a:rPr lang="zh-CN" altLang="en-US" sz="1800" dirty="0" smtClean="0">
                <a:sym typeface="Huawei Sans" panose="020C0503030203020204" pitchFamily="34" charset="0"/>
              </a:rPr>
              <a:t>客户</a:t>
            </a:r>
            <a:r>
              <a:rPr lang="en-US" altLang="zh-CN" sz="1800" dirty="0" smtClean="0">
                <a:sym typeface="Huawei Sans" panose="020C0503030203020204" pitchFamily="34" charset="0"/>
              </a:rPr>
              <a:t>X</a:t>
            </a:r>
            <a:r>
              <a:rPr lang="zh-CN" altLang="en-US" sz="1800" dirty="0" smtClean="0">
                <a:sym typeface="Huawei Sans" panose="020C0503030203020204" pitchFamily="34" charset="0"/>
              </a:rPr>
              <a:t>站点与</a:t>
            </a:r>
            <a:r>
              <a:rPr lang="en-US" altLang="zh-CN" sz="1800" dirty="0" smtClean="0">
                <a:sym typeface="Huawei Sans" panose="020C0503030203020204" pitchFamily="34" charset="0"/>
              </a:rPr>
              <a:t>PE</a:t>
            </a:r>
            <a:r>
              <a:rPr lang="zh-CN" altLang="en-US" sz="1800" dirty="0" smtClean="0">
                <a:sym typeface="Huawei Sans" panose="020C0503030203020204" pitchFamily="34" charset="0"/>
              </a:rPr>
              <a:t>之间采用</a:t>
            </a:r>
            <a:r>
              <a:rPr lang="en-US" altLang="zh-CN" sz="1800" dirty="0" smtClean="0">
                <a:sym typeface="Huawei Sans" panose="020C0503030203020204" pitchFamily="34" charset="0"/>
              </a:rPr>
              <a:t>OSPF</a:t>
            </a:r>
            <a:r>
              <a:rPr lang="zh-CN" altLang="en-US" sz="1800" dirty="0" smtClean="0">
                <a:sym typeface="Huawei Sans" panose="020C0503030203020204" pitchFamily="34" charset="0"/>
              </a:rPr>
              <a:t>交互路由信息，客户</a:t>
            </a:r>
            <a:r>
              <a:rPr lang="en-US" altLang="zh-CN" sz="1800" dirty="0" smtClean="0">
                <a:sym typeface="Huawei Sans" panose="020C0503030203020204" pitchFamily="34" charset="0"/>
              </a:rPr>
              <a:t>Y</a:t>
            </a:r>
            <a:r>
              <a:rPr lang="zh-CN" altLang="en-US" sz="1800" dirty="0" smtClean="0">
                <a:sym typeface="Huawei Sans" panose="020C0503030203020204" pitchFamily="34" charset="0"/>
              </a:rPr>
              <a:t>站点与</a:t>
            </a:r>
            <a:r>
              <a:rPr lang="en-US" altLang="zh-CN" sz="1800" dirty="0" smtClean="0">
                <a:sym typeface="Huawei Sans" panose="020C0503030203020204" pitchFamily="34" charset="0"/>
              </a:rPr>
              <a:t>PE</a:t>
            </a:r>
            <a:r>
              <a:rPr lang="zh-CN" altLang="en-US" sz="1800" dirty="0" smtClean="0">
                <a:sym typeface="Huawei Sans" panose="020C0503030203020204" pitchFamily="34" charset="0"/>
              </a:rPr>
              <a:t>之间采用</a:t>
            </a:r>
            <a:r>
              <a:rPr lang="en-US" altLang="zh-CN" sz="1800" dirty="0" smtClean="0">
                <a:sym typeface="Huawei Sans" panose="020C0503030203020204" pitchFamily="34" charset="0"/>
              </a:rPr>
              <a:t>BGP</a:t>
            </a:r>
            <a:r>
              <a:rPr lang="zh-CN" altLang="en-US" sz="1800" dirty="0" smtClean="0">
                <a:sym typeface="Huawei Sans" panose="020C0503030203020204" pitchFamily="34" charset="0"/>
              </a:rPr>
              <a:t>交互路由信息。</a:t>
            </a:r>
            <a:endParaRPr lang="en-US" altLang="zh-CN" sz="1800" dirty="0" smtClean="0">
              <a:sym typeface="Huawei Sans" panose="020C0503030203020204" pitchFamily="34" charset="0"/>
            </a:endParaRPr>
          </a:p>
          <a:p>
            <a:endParaRPr lang="zh-CN" altLang="en-US" sz="1800" dirty="0">
              <a:sym typeface="Huawei Sans" panose="020C0503030203020204" pitchFamily="34" charset="0"/>
            </a:endParaRPr>
          </a:p>
        </p:txBody>
      </p:sp>
      <p:sp>
        <p:nvSpPr>
          <p:cNvPr id="55" name="圆角矩形 5"/>
          <p:cNvSpPr/>
          <p:nvPr/>
        </p:nvSpPr>
        <p:spPr bwMode="gray">
          <a:xfrm>
            <a:off x="9539903" y="4215982"/>
            <a:ext cx="1537177" cy="1188000"/>
          </a:xfrm>
          <a:prstGeom prst="roundRect">
            <a:avLst>
              <a:gd name="adj" fmla="val 1265"/>
            </a:avLst>
          </a:prstGeom>
          <a:solidFill>
            <a:srgbClr val="BEE9EE"/>
          </a:solidFill>
          <a:ln w="28575" cap="flat" cmpd="sng" algn="ctr">
            <a:noFill/>
            <a:prstDash val="sysDot"/>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圆角矩形 5"/>
          <p:cNvSpPr/>
          <p:nvPr/>
        </p:nvSpPr>
        <p:spPr bwMode="gray">
          <a:xfrm>
            <a:off x="9539903" y="2920517"/>
            <a:ext cx="1537177" cy="1188000"/>
          </a:xfrm>
          <a:prstGeom prst="roundRect">
            <a:avLst>
              <a:gd name="adj" fmla="val 1265"/>
            </a:avLst>
          </a:prstGeom>
          <a:solidFill>
            <a:srgbClr val="FFF2CC"/>
          </a:solidFill>
          <a:ln w="28575" cap="flat" cmpd="sng" algn="ctr">
            <a:noFill/>
            <a:prstDash val="sysDot"/>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圆角矩形 4"/>
          <p:cNvSpPr/>
          <p:nvPr/>
        </p:nvSpPr>
        <p:spPr bwMode="gray">
          <a:xfrm>
            <a:off x="3817818" y="2905986"/>
            <a:ext cx="4557086" cy="2497996"/>
          </a:xfrm>
          <a:prstGeom prst="roundRect">
            <a:avLst>
              <a:gd name="adj" fmla="val 1265"/>
            </a:avLst>
          </a:prstGeom>
          <a:solidFill>
            <a:srgbClr val="BEE9EE"/>
          </a:solidFill>
          <a:ln w="28575" cap="flat" cmpd="sng" algn="ctr">
            <a:noFill/>
            <a:prstDash val="sys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52" name="Group 51"/>
          <p:cNvGrpSpPr/>
          <p:nvPr/>
        </p:nvGrpSpPr>
        <p:grpSpPr bwMode="gray">
          <a:xfrm rot="16200000">
            <a:off x="8237466" y="3192244"/>
            <a:ext cx="1620000" cy="1907618"/>
            <a:chOff x="695792" y="4725144"/>
            <a:chExt cx="1098640" cy="936104"/>
          </a:xfrm>
        </p:grpSpPr>
        <p:cxnSp>
          <p:nvCxnSpPr>
            <p:cNvPr id="53" name="直接连接符 53"/>
            <p:cNvCxnSpPr/>
            <p:nvPr/>
          </p:nvCxnSpPr>
          <p:spPr bwMode="gray">
            <a:xfrm>
              <a:off x="1245112" y="4725144"/>
              <a:ext cx="549320" cy="936104"/>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bwMode="gray">
            <a:xfrm flipH="1">
              <a:off x="695792" y="4725144"/>
              <a:ext cx="549320" cy="936104"/>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48" name="Text Box 19"/>
          <p:cNvSpPr txBox="1">
            <a:spLocks noChangeArrowheads="1"/>
          </p:cNvSpPr>
          <p:nvPr/>
        </p:nvSpPr>
        <p:spPr bwMode="gray">
          <a:xfrm rot="1256276">
            <a:off x="2818360" y="3401241"/>
            <a:ext cx="1388522" cy="461665"/>
          </a:xfrm>
          <a:prstGeom prst="rect">
            <a:avLst/>
          </a:prstGeom>
          <a:noFill/>
          <a:ln>
            <a:noFill/>
          </a:ln>
          <a:effectLs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r" eaLnBrk="1" hangingPunct="1"/>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GE0/0/1</a:t>
            </a:r>
          </a:p>
          <a:p>
            <a:pPr algn="r" eaLnBrk="1" hangingPunct="1"/>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192.168.100.2/24</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圆角矩形 5"/>
          <p:cNvSpPr/>
          <p:nvPr/>
        </p:nvSpPr>
        <p:spPr bwMode="gray">
          <a:xfrm>
            <a:off x="1114921" y="4215982"/>
            <a:ext cx="1537177" cy="1188000"/>
          </a:xfrm>
          <a:prstGeom prst="roundRect">
            <a:avLst>
              <a:gd name="adj" fmla="val 1265"/>
            </a:avLst>
          </a:prstGeom>
          <a:solidFill>
            <a:srgbClr val="BEE9EE"/>
          </a:solidFill>
          <a:ln w="28575" cap="flat" cmpd="sng" algn="ctr">
            <a:noFill/>
            <a:prstDash val="sysDot"/>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Text Box 19"/>
          <p:cNvSpPr txBox="1">
            <a:spLocks noChangeArrowheads="1"/>
          </p:cNvSpPr>
          <p:nvPr/>
        </p:nvSpPr>
        <p:spPr bwMode="gray">
          <a:xfrm>
            <a:off x="2352385" y="4952327"/>
            <a:ext cx="1203856" cy="461665"/>
          </a:xfrm>
          <a:prstGeom prst="rect">
            <a:avLst/>
          </a:prstGeom>
          <a:noFill/>
          <a:ln>
            <a:noFill/>
          </a:ln>
          <a:effectLst/>
          <a:extLst/>
        </p:spPr>
        <p:txBody>
          <a:bodyPr wrap="none" lIns="0" rIns="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GE0/0/0</a:t>
            </a:r>
          </a:p>
          <a:p>
            <a:pPr eaLnBrk="1" hangingPunct="1"/>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192.168.100.1/24</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圆角矩形 5"/>
          <p:cNvSpPr/>
          <p:nvPr/>
        </p:nvSpPr>
        <p:spPr bwMode="gray">
          <a:xfrm>
            <a:off x="1114921" y="2920517"/>
            <a:ext cx="1537177" cy="1188000"/>
          </a:xfrm>
          <a:prstGeom prst="roundRect">
            <a:avLst>
              <a:gd name="adj" fmla="val 1265"/>
            </a:avLst>
          </a:prstGeom>
          <a:solidFill>
            <a:srgbClr val="FFF2CC"/>
          </a:solidFill>
          <a:ln w="28575" cap="flat" cmpd="sng" algn="ctr">
            <a:noFill/>
            <a:prstDash val="sysDot"/>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Text Box 19"/>
          <p:cNvSpPr txBox="1">
            <a:spLocks noChangeArrowheads="1"/>
          </p:cNvSpPr>
          <p:nvPr/>
        </p:nvSpPr>
        <p:spPr bwMode="gray">
          <a:xfrm>
            <a:off x="2352385" y="2906659"/>
            <a:ext cx="1203856" cy="461665"/>
          </a:xfrm>
          <a:prstGeom prst="rect">
            <a:avLst/>
          </a:prstGeom>
          <a:noFill/>
          <a:ln>
            <a:noFill/>
          </a:ln>
          <a:effectLst/>
          <a:extLst/>
        </p:spPr>
        <p:txBody>
          <a:bodyPr wrap="none" lIns="0" rIns="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GE0/0/0</a:t>
            </a:r>
          </a:p>
          <a:p>
            <a:pPr eaLnBrk="1" hangingPunct="1"/>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192.168.100.1/24</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Text Box 19"/>
          <p:cNvSpPr txBox="1">
            <a:spLocks noChangeArrowheads="1"/>
          </p:cNvSpPr>
          <p:nvPr/>
        </p:nvSpPr>
        <p:spPr bwMode="gray">
          <a:xfrm>
            <a:off x="1226163" y="3760145"/>
            <a:ext cx="123623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客户</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X</a:t>
            </a:r>
            <a:r>
              <a:rPr lang="en-US" altLang="zh-CN"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  </a:t>
            </a:r>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a:t>
            </a:r>
          </a:p>
        </p:txBody>
      </p:sp>
      <p:sp>
        <p:nvSpPr>
          <p:cNvPr id="9" name="Text Box 19"/>
          <p:cNvSpPr txBox="1">
            <a:spLocks noChangeArrowheads="1"/>
          </p:cNvSpPr>
          <p:nvPr/>
        </p:nvSpPr>
        <p:spPr bwMode="gray">
          <a:xfrm>
            <a:off x="7065769" y="5113104"/>
            <a:ext cx="123944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MPLS </a:t>
            </a: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骨干网络</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0" name="直接连接符 53"/>
          <p:cNvCxnSpPr/>
          <p:nvPr/>
        </p:nvCxnSpPr>
        <p:spPr bwMode="gray">
          <a:xfrm>
            <a:off x="4404812" y="4160043"/>
            <a:ext cx="3454292"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 name="Text Box 19"/>
          <p:cNvSpPr txBox="1">
            <a:spLocks noChangeArrowheads="1"/>
          </p:cNvSpPr>
          <p:nvPr/>
        </p:nvSpPr>
        <p:spPr bwMode="gray">
          <a:xfrm>
            <a:off x="1810024" y="2900588"/>
            <a:ext cx="50206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CE1</a:t>
            </a:r>
          </a:p>
        </p:txBody>
      </p:sp>
      <p:grpSp>
        <p:nvGrpSpPr>
          <p:cNvPr id="16" name="Group 15"/>
          <p:cNvGrpSpPr/>
          <p:nvPr/>
        </p:nvGrpSpPr>
        <p:grpSpPr bwMode="gray">
          <a:xfrm rot="5400000">
            <a:off x="2490290" y="3192244"/>
            <a:ext cx="1620000" cy="1907618"/>
            <a:chOff x="695792" y="4725144"/>
            <a:chExt cx="1098640" cy="936104"/>
          </a:xfrm>
        </p:grpSpPr>
        <p:cxnSp>
          <p:nvCxnSpPr>
            <p:cNvPr id="17" name="直接连接符 53"/>
            <p:cNvCxnSpPr/>
            <p:nvPr/>
          </p:nvCxnSpPr>
          <p:spPr bwMode="gray">
            <a:xfrm>
              <a:off x="1245112" y="4725144"/>
              <a:ext cx="549320" cy="936104"/>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18" name="直接连接符 53"/>
            <p:cNvCxnSpPr/>
            <p:nvPr/>
          </p:nvCxnSpPr>
          <p:spPr bwMode="gray">
            <a:xfrm flipH="1">
              <a:off x="695792" y="4725144"/>
              <a:ext cx="549320" cy="936104"/>
            </a:xfrm>
            <a:prstGeom prst="line">
              <a:avLst/>
            </a:prstGeom>
            <a:solidFill>
              <a:schemeClr val="accent1"/>
            </a:solidFill>
            <a:ln w="12700" cap="flat" cmpd="sng" algn="ctr">
              <a:solidFill>
                <a:schemeClr val="tx1"/>
              </a:solidFill>
              <a:prstDash val="solid"/>
              <a:round/>
              <a:headEnd type="none" w="med" len="med"/>
              <a:tailEnd type="none" w="med" len="med"/>
            </a:ln>
            <a:effectLst/>
          </p:spPr>
        </p:cxnSp>
      </p:grpSp>
      <p:sp>
        <p:nvSpPr>
          <p:cNvPr id="21" name="Text Box 19"/>
          <p:cNvSpPr txBox="1">
            <a:spLocks noChangeArrowheads="1"/>
          </p:cNvSpPr>
          <p:nvPr/>
        </p:nvSpPr>
        <p:spPr bwMode="gray">
          <a:xfrm>
            <a:off x="1779028" y="5118091"/>
            <a:ext cx="50206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CE2</a:t>
            </a:r>
          </a:p>
        </p:txBody>
      </p:sp>
      <p:sp>
        <p:nvSpPr>
          <p:cNvPr id="22" name="Text Box 19"/>
          <p:cNvSpPr txBox="1">
            <a:spLocks noChangeArrowheads="1"/>
          </p:cNvSpPr>
          <p:nvPr/>
        </p:nvSpPr>
        <p:spPr bwMode="gray">
          <a:xfrm>
            <a:off x="1231775" y="4217345"/>
            <a:ext cx="122501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客户</a:t>
            </a:r>
            <a:r>
              <a:rPr lang="en-US" altLang="zh-CN"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Y  </a:t>
            </a:r>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C</a:t>
            </a:r>
          </a:p>
        </p:txBody>
      </p:sp>
      <p:sp>
        <p:nvSpPr>
          <p:cNvPr id="11" name="Text Box 19"/>
          <p:cNvSpPr txBox="1">
            <a:spLocks noChangeArrowheads="1"/>
          </p:cNvSpPr>
          <p:nvPr/>
        </p:nvSpPr>
        <p:spPr bwMode="gray">
          <a:xfrm>
            <a:off x="4195448" y="4346259"/>
            <a:ext cx="49725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PE1</a:t>
            </a:r>
          </a:p>
        </p:txBody>
      </p:sp>
      <p:sp>
        <p:nvSpPr>
          <p:cNvPr id="42" name="Text Box 19"/>
          <p:cNvSpPr txBox="1">
            <a:spLocks noChangeArrowheads="1"/>
          </p:cNvSpPr>
          <p:nvPr/>
        </p:nvSpPr>
        <p:spPr bwMode="gray">
          <a:xfrm>
            <a:off x="4579278" y="3731978"/>
            <a:ext cx="104227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GE0/0/0</a:t>
            </a:r>
          </a:p>
          <a:p>
            <a:pPr eaLnBrk="1" hangingPunct="1"/>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10.0.12.1/24</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Text Box 19"/>
          <p:cNvSpPr txBox="1">
            <a:spLocks noChangeArrowheads="1"/>
          </p:cNvSpPr>
          <p:nvPr/>
        </p:nvSpPr>
        <p:spPr bwMode="gray">
          <a:xfrm>
            <a:off x="4886301" y="4143557"/>
            <a:ext cx="104227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r" eaLnBrk="1" hangingPunct="1"/>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GE0/0/0</a:t>
            </a:r>
          </a:p>
          <a:p>
            <a:pPr algn="r" eaLnBrk="1" hangingPunct="1"/>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10.0.12.2/24</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Text Box 19"/>
          <p:cNvSpPr txBox="1">
            <a:spLocks noChangeArrowheads="1"/>
          </p:cNvSpPr>
          <p:nvPr/>
        </p:nvSpPr>
        <p:spPr bwMode="gray">
          <a:xfrm>
            <a:off x="6316444" y="4143557"/>
            <a:ext cx="104227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GE0/0/1</a:t>
            </a:r>
          </a:p>
          <a:p>
            <a:pPr eaLnBrk="1" hangingPunct="1"/>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10.0.23.2/24</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Text Box 19"/>
          <p:cNvSpPr txBox="1">
            <a:spLocks noChangeArrowheads="1"/>
          </p:cNvSpPr>
          <p:nvPr/>
        </p:nvSpPr>
        <p:spPr bwMode="gray">
          <a:xfrm>
            <a:off x="6561561" y="3688602"/>
            <a:ext cx="104227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r" eaLnBrk="1" hangingPunct="1"/>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GE0/0/0</a:t>
            </a:r>
          </a:p>
          <a:p>
            <a:pPr algn="r" eaLnBrk="1" hangingPunct="1"/>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10.0.23.3/24</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Text Box 19"/>
          <p:cNvSpPr txBox="1">
            <a:spLocks noChangeArrowheads="1"/>
          </p:cNvSpPr>
          <p:nvPr/>
        </p:nvSpPr>
        <p:spPr bwMode="gray">
          <a:xfrm rot="20086244">
            <a:off x="2931907" y="4428481"/>
            <a:ext cx="1388522" cy="461665"/>
          </a:xfrm>
          <a:prstGeom prst="rect">
            <a:avLst/>
          </a:prstGeom>
          <a:noFill/>
          <a:ln>
            <a:noFill/>
          </a:ln>
          <a:effectLs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r" eaLnBrk="1" hangingPunct="1"/>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GE0/0/2</a:t>
            </a:r>
          </a:p>
          <a:p>
            <a:pPr eaLnBrk="1" hangingPunct="1"/>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192.168.100.2/24</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Text Box 19"/>
          <p:cNvSpPr txBox="1">
            <a:spLocks noChangeArrowheads="1"/>
          </p:cNvSpPr>
          <p:nvPr/>
        </p:nvSpPr>
        <p:spPr bwMode="gray">
          <a:xfrm rot="20124792">
            <a:off x="8023860" y="3495211"/>
            <a:ext cx="1203856" cy="461665"/>
          </a:xfrm>
          <a:prstGeom prst="rect">
            <a:avLst/>
          </a:prstGeom>
          <a:noFill/>
          <a:ln>
            <a:noFill/>
          </a:ln>
          <a:effectLst/>
          <a:extLst/>
        </p:spPr>
        <p:txBody>
          <a:bodyPr wrap="none" lIns="0" rIns="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GE0/0/1</a:t>
            </a:r>
          </a:p>
          <a:p>
            <a:pPr eaLnBrk="1" hangingPunct="1"/>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192.168.200.2/24</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Text Box 19"/>
          <p:cNvSpPr txBox="1">
            <a:spLocks noChangeArrowheads="1"/>
          </p:cNvSpPr>
          <p:nvPr/>
        </p:nvSpPr>
        <p:spPr bwMode="gray">
          <a:xfrm rot="1418714">
            <a:off x="7985987" y="4376853"/>
            <a:ext cx="1203856" cy="461665"/>
          </a:xfrm>
          <a:prstGeom prst="rect">
            <a:avLst/>
          </a:prstGeom>
          <a:noFill/>
          <a:ln>
            <a:noFill/>
          </a:ln>
          <a:effectLst/>
          <a:extLst/>
        </p:spPr>
        <p:txBody>
          <a:bodyPr wrap="none" lIns="0" rIns="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GE0/0/2</a:t>
            </a:r>
          </a:p>
          <a:p>
            <a:pPr eaLnBrk="1" hangingPunct="1"/>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192.168.200.2/24</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Text Box 19"/>
          <p:cNvSpPr txBox="1">
            <a:spLocks noChangeArrowheads="1"/>
          </p:cNvSpPr>
          <p:nvPr/>
        </p:nvSpPr>
        <p:spPr bwMode="gray">
          <a:xfrm>
            <a:off x="9685897" y="3760145"/>
            <a:ext cx="122661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客户</a:t>
            </a:r>
            <a:r>
              <a:rPr lang="en-US" altLang="zh-CN"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X  </a:t>
            </a:r>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B</a:t>
            </a:r>
          </a:p>
        </p:txBody>
      </p:sp>
      <p:sp>
        <p:nvSpPr>
          <p:cNvPr id="58" name="Text Box 19"/>
          <p:cNvSpPr txBox="1">
            <a:spLocks noChangeArrowheads="1"/>
          </p:cNvSpPr>
          <p:nvPr/>
        </p:nvSpPr>
        <p:spPr bwMode="gray">
          <a:xfrm>
            <a:off x="9676281" y="4217345"/>
            <a:ext cx="124585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客户</a:t>
            </a:r>
            <a:r>
              <a:rPr lang="en-US" altLang="zh-CN"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Y  </a:t>
            </a:r>
            <a:r>
              <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D</a:t>
            </a:r>
          </a:p>
        </p:txBody>
      </p:sp>
      <p:sp>
        <p:nvSpPr>
          <p:cNvPr id="61" name="Text Box 19"/>
          <p:cNvSpPr txBox="1">
            <a:spLocks noChangeArrowheads="1"/>
          </p:cNvSpPr>
          <p:nvPr/>
        </p:nvSpPr>
        <p:spPr bwMode="gray">
          <a:xfrm>
            <a:off x="9793704" y="2874642"/>
            <a:ext cx="50206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CE3</a:t>
            </a:r>
          </a:p>
        </p:txBody>
      </p:sp>
      <p:sp>
        <p:nvSpPr>
          <p:cNvPr id="62" name="Text Box 19"/>
          <p:cNvSpPr txBox="1">
            <a:spLocks noChangeArrowheads="1"/>
          </p:cNvSpPr>
          <p:nvPr/>
        </p:nvSpPr>
        <p:spPr bwMode="gray">
          <a:xfrm>
            <a:off x="9824700" y="5118091"/>
            <a:ext cx="50206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CE4</a:t>
            </a:r>
          </a:p>
        </p:txBody>
      </p:sp>
      <p:cxnSp>
        <p:nvCxnSpPr>
          <p:cNvPr id="64" name="直接连接符 53"/>
          <p:cNvCxnSpPr/>
          <p:nvPr/>
        </p:nvCxnSpPr>
        <p:spPr bwMode="gray">
          <a:xfrm rot="5400000">
            <a:off x="2865138" y="3764111"/>
            <a:ext cx="608565" cy="1433222"/>
          </a:xfrm>
          <a:prstGeom prst="line">
            <a:avLst/>
          </a:prstGeom>
          <a:ln w="22225">
            <a:solidFill>
              <a:srgbClr val="56C4D2"/>
            </a:solidFill>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5" name="直接连接符 53"/>
          <p:cNvCxnSpPr/>
          <p:nvPr/>
        </p:nvCxnSpPr>
        <p:spPr bwMode="gray">
          <a:xfrm rot="5400000" flipH="1">
            <a:off x="2865138" y="3098885"/>
            <a:ext cx="608565" cy="1433222"/>
          </a:xfrm>
          <a:prstGeom prst="line">
            <a:avLst/>
          </a:prstGeom>
          <a:ln w="22225">
            <a:solidFill>
              <a:srgbClr val="EC7061"/>
            </a:solidFill>
            <a:prstDash val="sys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7" name="直接连接符 53"/>
          <p:cNvCxnSpPr/>
          <p:nvPr/>
        </p:nvCxnSpPr>
        <p:spPr bwMode="gray">
          <a:xfrm rot="16200000">
            <a:off x="8807866" y="3194270"/>
            <a:ext cx="553241" cy="1302929"/>
          </a:xfrm>
          <a:prstGeom prst="line">
            <a:avLst/>
          </a:prstGeom>
          <a:ln w="22225">
            <a:solidFill>
              <a:srgbClr val="EC7061"/>
            </a:solidFill>
            <a:prstDash val="sys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8" name="直接连接符 53"/>
          <p:cNvCxnSpPr/>
          <p:nvPr/>
        </p:nvCxnSpPr>
        <p:spPr bwMode="gray">
          <a:xfrm rot="16200000" flipH="1">
            <a:off x="8807866" y="3799022"/>
            <a:ext cx="553241" cy="1302929"/>
          </a:xfrm>
          <a:prstGeom prst="line">
            <a:avLst/>
          </a:prstGeom>
          <a:ln w="22225">
            <a:solidFill>
              <a:srgbClr val="56C4D2"/>
            </a:solidFill>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9" name="Text Box 19"/>
          <p:cNvSpPr txBox="1">
            <a:spLocks noChangeArrowheads="1"/>
          </p:cNvSpPr>
          <p:nvPr/>
        </p:nvSpPr>
        <p:spPr bwMode="gray">
          <a:xfrm>
            <a:off x="8532095" y="2906659"/>
            <a:ext cx="1203856" cy="461665"/>
          </a:xfrm>
          <a:prstGeom prst="rect">
            <a:avLst/>
          </a:prstGeom>
          <a:noFill/>
          <a:ln>
            <a:noFill/>
          </a:ln>
          <a:effectLst/>
          <a:extLst/>
        </p:spPr>
        <p:txBody>
          <a:bodyPr wrap="none" lIns="0" rIns="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r" eaLnBrk="1" hangingPunct="1"/>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GE0/0/0</a:t>
            </a:r>
          </a:p>
          <a:p>
            <a:pPr eaLnBrk="1" hangingPunct="1"/>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192.168.200.1/24</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 name="Text Box 19"/>
          <p:cNvSpPr txBox="1">
            <a:spLocks noChangeArrowheads="1"/>
          </p:cNvSpPr>
          <p:nvPr/>
        </p:nvSpPr>
        <p:spPr bwMode="gray">
          <a:xfrm>
            <a:off x="8558367" y="4952327"/>
            <a:ext cx="1203856" cy="461665"/>
          </a:xfrm>
          <a:prstGeom prst="rect">
            <a:avLst/>
          </a:prstGeom>
          <a:noFill/>
          <a:ln>
            <a:noFill/>
          </a:ln>
          <a:effectLst/>
          <a:extLst/>
        </p:spPr>
        <p:txBody>
          <a:bodyPr wrap="none" lIns="0" rIns="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r" eaLnBrk="1" hangingPunct="1"/>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GE0/0/0</a:t>
            </a:r>
          </a:p>
          <a:p>
            <a:pPr algn="r" eaLnBrk="1" hangingPunct="1"/>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192.168.200.1/24</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1" name="直接连接符 53"/>
          <p:cNvCxnSpPr/>
          <p:nvPr/>
        </p:nvCxnSpPr>
        <p:spPr bwMode="gray">
          <a:xfrm flipH="1">
            <a:off x="10542281" y="5590778"/>
            <a:ext cx="491584" cy="0"/>
          </a:xfrm>
          <a:prstGeom prst="line">
            <a:avLst/>
          </a:prstGeom>
          <a:ln w="22225">
            <a:solidFill>
              <a:srgbClr val="EC7061"/>
            </a:solidFill>
            <a:prstDash val="sys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6" name="直接连接符 53"/>
          <p:cNvCxnSpPr/>
          <p:nvPr/>
        </p:nvCxnSpPr>
        <p:spPr bwMode="gray">
          <a:xfrm flipH="1">
            <a:off x="10542281" y="5886155"/>
            <a:ext cx="491584" cy="0"/>
          </a:xfrm>
          <a:prstGeom prst="line">
            <a:avLst/>
          </a:prstGeom>
          <a:ln w="22225">
            <a:solidFill>
              <a:srgbClr val="56C4D2"/>
            </a:solidFill>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8" name="Text Box 19"/>
          <p:cNvSpPr txBox="1">
            <a:spLocks noChangeArrowheads="1"/>
          </p:cNvSpPr>
          <p:nvPr/>
        </p:nvSpPr>
        <p:spPr bwMode="gray">
          <a:xfrm>
            <a:off x="11124690" y="5452278"/>
            <a:ext cx="371897" cy="276999"/>
          </a:xfrm>
          <a:prstGeom prst="rect">
            <a:avLst/>
          </a:prstGeom>
          <a:noFill/>
          <a:ln>
            <a:noFill/>
          </a:ln>
          <a:effectLst/>
          <a:extLst/>
        </p:spPr>
        <p:txBody>
          <a:bodyPr wrap="none" lIns="0" rIns="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1200" smtClean="0">
                <a:latin typeface="Huawei Sans" panose="020C0503030203020204" pitchFamily="34" charset="0"/>
                <a:ea typeface="方正兰亭黑简体" panose="02000000000000000000" pitchFamily="2" charset="-122"/>
                <a:sym typeface="Huawei Sans" panose="020C0503030203020204" pitchFamily="34" charset="0"/>
              </a:rPr>
              <a:t>OSPF</a:t>
            </a:r>
            <a:endParaRPr lang="en-US" altLang="zh-CN" sz="120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82" name="Group 81"/>
          <p:cNvGrpSpPr/>
          <p:nvPr/>
        </p:nvGrpSpPr>
        <p:grpSpPr bwMode="gray">
          <a:xfrm>
            <a:off x="4155986" y="3147629"/>
            <a:ext cx="459376" cy="764187"/>
            <a:chOff x="3134093" y="3084639"/>
            <a:chExt cx="611430" cy="432284"/>
          </a:xfrm>
        </p:grpSpPr>
        <p:cxnSp>
          <p:nvCxnSpPr>
            <p:cNvPr id="83" name="直接连接符 53"/>
            <p:cNvCxnSpPr/>
            <p:nvPr/>
          </p:nvCxnSpPr>
          <p:spPr bwMode="gray">
            <a:xfrm>
              <a:off x="3134093" y="3084639"/>
              <a:ext cx="61143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直接连接符 53"/>
            <p:cNvCxnSpPr/>
            <p:nvPr/>
          </p:nvCxnSpPr>
          <p:spPr bwMode="gray">
            <a:xfrm>
              <a:off x="3439808" y="3084639"/>
              <a:ext cx="0" cy="432284"/>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85" name="Text Box 19"/>
          <p:cNvSpPr txBox="1">
            <a:spLocks noChangeArrowheads="1"/>
          </p:cNvSpPr>
          <p:nvPr/>
        </p:nvSpPr>
        <p:spPr bwMode="gray">
          <a:xfrm>
            <a:off x="3934495" y="2682115"/>
            <a:ext cx="93968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Loopback0</a:t>
            </a:r>
          </a:p>
          <a:p>
            <a:pPr algn="ctr" eaLnBrk="1" hangingPunct="1"/>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1.1.1.1/32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86" name="Group 85"/>
          <p:cNvGrpSpPr/>
          <p:nvPr/>
        </p:nvGrpSpPr>
        <p:grpSpPr bwMode="gray">
          <a:xfrm>
            <a:off x="5870580" y="3147629"/>
            <a:ext cx="459376" cy="764187"/>
            <a:chOff x="3134093" y="3084639"/>
            <a:chExt cx="611430" cy="432284"/>
          </a:xfrm>
        </p:grpSpPr>
        <p:cxnSp>
          <p:nvCxnSpPr>
            <p:cNvPr id="87" name="直接连接符 53"/>
            <p:cNvCxnSpPr/>
            <p:nvPr/>
          </p:nvCxnSpPr>
          <p:spPr bwMode="gray">
            <a:xfrm>
              <a:off x="3134093" y="3084639"/>
              <a:ext cx="61143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8" name="直接连接符 53"/>
            <p:cNvCxnSpPr/>
            <p:nvPr/>
          </p:nvCxnSpPr>
          <p:spPr bwMode="gray">
            <a:xfrm>
              <a:off x="3439808" y="3084639"/>
              <a:ext cx="0" cy="432284"/>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89" name="Text Box 19"/>
          <p:cNvSpPr txBox="1">
            <a:spLocks noChangeArrowheads="1"/>
          </p:cNvSpPr>
          <p:nvPr/>
        </p:nvSpPr>
        <p:spPr bwMode="gray">
          <a:xfrm>
            <a:off x="5649089" y="2682115"/>
            <a:ext cx="93968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Loopback0</a:t>
            </a:r>
          </a:p>
          <a:p>
            <a:pPr algn="ctr" eaLnBrk="1" hangingPunct="1"/>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2.2.2.2/32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90" name="Group 89"/>
          <p:cNvGrpSpPr/>
          <p:nvPr/>
        </p:nvGrpSpPr>
        <p:grpSpPr bwMode="gray">
          <a:xfrm>
            <a:off x="7588597" y="3147629"/>
            <a:ext cx="459376" cy="764187"/>
            <a:chOff x="3134093" y="3084639"/>
            <a:chExt cx="611430" cy="432284"/>
          </a:xfrm>
        </p:grpSpPr>
        <p:cxnSp>
          <p:nvCxnSpPr>
            <p:cNvPr id="91" name="直接连接符 53"/>
            <p:cNvCxnSpPr/>
            <p:nvPr/>
          </p:nvCxnSpPr>
          <p:spPr bwMode="gray">
            <a:xfrm>
              <a:off x="3134093" y="3084639"/>
              <a:ext cx="611430"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2" name="直接连接符 53"/>
            <p:cNvCxnSpPr/>
            <p:nvPr/>
          </p:nvCxnSpPr>
          <p:spPr bwMode="gray">
            <a:xfrm>
              <a:off x="3439808" y="3084639"/>
              <a:ext cx="0" cy="432284"/>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93" name="Text Box 19"/>
          <p:cNvSpPr txBox="1">
            <a:spLocks noChangeArrowheads="1"/>
          </p:cNvSpPr>
          <p:nvPr/>
        </p:nvSpPr>
        <p:spPr bwMode="gray">
          <a:xfrm>
            <a:off x="7367106" y="2682115"/>
            <a:ext cx="93968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Loopback0</a:t>
            </a:r>
          </a:p>
          <a:p>
            <a:pPr algn="ctr" eaLnBrk="1" hangingPunct="1"/>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3.3.3.3/32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4" name="Text Box 19"/>
          <p:cNvSpPr txBox="1">
            <a:spLocks noChangeArrowheads="1"/>
          </p:cNvSpPr>
          <p:nvPr/>
        </p:nvSpPr>
        <p:spPr bwMode="gray">
          <a:xfrm>
            <a:off x="5730842" y="5106248"/>
            <a:ext cx="7761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AS 123</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6" name="Text Box 19"/>
          <p:cNvSpPr txBox="1">
            <a:spLocks noChangeArrowheads="1"/>
          </p:cNvSpPr>
          <p:nvPr/>
        </p:nvSpPr>
        <p:spPr bwMode="gray">
          <a:xfrm>
            <a:off x="11124690" y="5735989"/>
            <a:ext cx="375103" cy="276999"/>
          </a:xfrm>
          <a:prstGeom prst="rect">
            <a:avLst/>
          </a:prstGeom>
          <a:noFill/>
          <a:ln>
            <a:noFill/>
          </a:ln>
          <a:effectLst/>
          <a:extLst/>
        </p:spPr>
        <p:txBody>
          <a:bodyPr wrap="none" lIns="0" rIns="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E</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BGP</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0" name="Text Box 19"/>
          <p:cNvSpPr txBox="1">
            <a:spLocks noChangeArrowheads="1"/>
          </p:cNvSpPr>
          <p:nvPr/>
        </p:nvSpPr>
        <p:spPr bwMode="gray">
          <a:xfrm>
            <a:off x="576843" y="3223263"/>
            <a:ext cx="124538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defPPr>
              <a:defRPr lang="en-US"/>
            </a:defPPr>
            <a:lvl1pPr algn="ctr" defTabSz="784225" eaLnBrk="0" fontAlgn="base" hangingPunct="0">
              <a:spcBef>
                <a:spcPct val="50000"/>
              </a:spcBef>
              <a:defRPr sz="1200" b="1">
                <a:latin typeface="FrutigerNext LT Regular" pitchFamily="34" charset="0"/>
                <a:ea typeface="华文细黑" panose="02010600040101010101" pitchFamily="2" charset="-122"/>
              </a:defRPr>
            </a:lvl1pPr>
            <a:lvl2pPr defTabSz="784225" fontAlgn="base">
              <a:defRPr>
                <a:latin typeface="Arial" panose="020B0604020202020204" pitchFamily="34" charset="0"/>
                <a:ea typeface="宋体" panose="02010600030101010101" pitchFamily="2" charset="-122"/>
              </a:defRPr>
            </a:lvl2pPr>
            <a:lvl3pPr defTabSz="784225" fontAlgn="base">
              <a:defRPr>
                <a:latin typeface="Arial" panose="020B0604020202020204" pitchFamily="34" charset="0"/>
                <a:ea typeface="宋体" panose="02010600030101010101" pitchFamily="2" charset="-122"/>
              </a:defRPr>
            </a:lvl3pPr>
            <a:lvl4pPr defTabSz="784225" fontAlgn="base">
              <a:defRPr>
                <a:latin typeface="Arial" panose="020B0604020202020204" pitchFamily="34" charset="0"/>
                <a:ea typeface="宋体" panose="02010600030101010101" pitchFamily="2" charset="-122"/>
              </a:defRPr>
            </a:lvl4pPr>
            <a:lvl5pPr defTabSz="784225" fontAlgn="base">
              <a:defRPr>
                <a:latin typeface="Arial" panose="020B0604020202020204" pitchFamily="34" charset="0"/>
                <a:ea typeface="宋体" panose="02010600030101010101" pitchFamily="2" charset="-122"/>
              </a:defRPr>
            </a:lvl5pPr>
            <a:lvl6pPr defTabSz="784225" fontAlgn="base">
              <a:spcBef>
                <a:spcPct val="0"/>
              </a:spcBef>
              <a:spcAft>
                <a:spcPct val="0"/>
              </a:spcAft>
              <a:defRPr>
                <a:latin typeface="Arial" panose="020B0604020202020204" pitchFamily="34" charset="0"/>
                <a:ea typeface="宋体" panose="02010600030101010101" pitchFamily="2" charset="-122"/>
              </a:defRPr>
            </a:lvl6pPr>
            <a:lvl7pPr defTabSz="784225" fontAlgn="base">
              <a:spcBef>
                <a:spcPct val="0"/>
              </a:spcBef>
              <a:spcAft>
                <a:spcPct val="0"/>
              </a:spcAft>
              <a:defRPr>
                <a:latin typeface="Arial" panose="020B0604020202020204" pitchFamily="34" charset="0"/>
                <a:ea typeface="宋体" panose="02010600030101010101" pitchFamily="2" charset="-122"/>
              </a:defRPr>
            </a:lvl7pPr>
            <a:lvl8pPr defTabSz="784225" fontAlgn="base">
              <a:spcBef>
                <a:spcPct val="0"/>
              </a:spcBef>
              <a:spcAft>
                <a:spcPct val="0"/>
              </a:spcAft>
              <a:defRPr>
                <a:latin typeface="Arial" panose="020B0604020202020204" pitchFamily="34" charset="0"/>
                <a:ea typeface="宋体" panose="02010600030101010101" pitchFamily="2" charset="-122"/>
              </a:defRPr>
            </a:lvl8pPr>
            <a:lvl9pPr defTabSz="784225" fontAlgn="base">
              <a:spcBef>
                <a:spcPct val="0"/>
              </a:spcBef>
              <a:spcAft>
                <a:spcPct val="0"/>
              </a:spcAft>
              <a:defRPr>
                <a:latin typeface="Arial" panose="020B0604020202020204" pitchFamily="34" charset="0"/>
                <a:ea typeface="宋体" panose="02010600030101010101" pitchFamily="2" charset="-122"/>
              </a:defRPr>
            </a:lvl9pPr>
          </a:lstStyle>
          <a:p>
            <a:r>
              <a:rPr lang="en-US" altLang="zh-CN" dirty="0" smtClean="0">
                <a:latin typeface="Huawei Sans" panose="020C0503030203020204" pitchFamily="34" charset="0"/>
                <a:ea typeface="方正兰亭黑简体" panose="02000000000000000000" pitchFamily="2" charset="-122"/>
                <a:sym typeface="Huawei Sans" panose="020C0503030203020204" pitchFamily="34" charset="0"/>
              </a:rPr>
              <a:t>192.168.1.0/24</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8" name="Text Box 19"/>
          <p:cNvSpPr txBox="1">
            <a:spLocks noChangeArrowheads="1"/>
          </p:cNvSpPr>
          <p:nvPr/>
        </p:nvSpPr>
        <p:spPr bwMode="gray">
          <a:xfrm>
            <a:off x="523628" y="4819129"/>
            <a:ext cx="124803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defPPr>
              <a:defRPr lang="en-US"/>
            </a:defPPr>
            <a:lvl1pPr algn="ctr" defTabSz="784225" eaLnBrk="0" fontAlgn="base" hangingPunct="0">
              <a:spcBef>
                <a:spcPct val="50000"/>
              </a:spcBef>
              <a:defRPr sz="1200" b="1">
                <a:latin typeface="FrutigerNext LT Regular" pitchFamily="34" charset="0"/>
                <a:ea typeface="华文细黑" panose="02010600040101010101" pitchFamily="2" charset="-122"/>
              </a:defRPr>
            </a:lvl1pPr>
            <a:lvl2pPr defTabSz="784225" fontAlgn="base">
              <a:defRPr>
                <a:latin typeface="Arial" panose="020B0604020202020204" pitchFamily="34" charset="0"/>
                <a:ea typeface="宋体" panose="02010600030101010101" pitchFamily="2" charset="-122"/>
              </a:defRPr>
            </a:lvl2pPr>
            <a:lvl3pPr defTabSz="784225" fontAlgn="base">
              <a:defRPr>
                <a:latin typeface="Arial" panose="020B0604020202020204" pitchFamily="34" charset="0"/>
                <a:ea typeface="宋体" panose="02010600030101010101" pitchFamily="2" charset="-122"/>
              </a:defRPr>
            </a:lvl3pPr>
            <a:lvl4pPr defTabSz="784225" fontAlgn="base">
              <a:defRPr>
                <a:latin typeface="Arial" panose="020B0604020202020204" pitchFamily="34" charset="0"/>
                <a:ea typeface="宋体" panose="02010600030101010101" pitchFamily="2" charset="-122"/>
              </a:defRPr>
            </a:lvl4pPr>
            <a:lvl5pPr defTabSz="784225" fontAlgn="base">
              <a:defRPr>
                <a:latin typeface="Arial" panose="020B0604020202020204" pitchFamily="34" charset="0"/>
                <a:ea typeface="宋体" panose="02010600030101010101" pitchFamily="2" charset="-122"/>
              </a:defRPr>
            </a:lvl5pPr>
            <a:lvl6pPr defTabSz="784225" fontAlgn="base">
              <a:spcBef>
                <a:spcPct val="0"/>
              </a:spcBef>
              <a:spcAft>
                <a:spcPct val="0"/>
              </a:spcAft>
              <a:defRPr>
                <a:latin typeface="Arial" panose="020B0604020202020204" pitchFamily="34" charset="0"/>
                <a:ea typeface="宋体" panose="02010600030101010101" pitchFamily="2" charset="-122"/>
              </a:defRPr>
            </a:lvl6pPr>
            <a:lvl7pPr defTabSz="784225" fontAlgn="base">
              <a:spcBef>
                <a:spcPct val="0"/>
              </a:spcBef>
              <a:spcAft>
                <a:spcPct val="0"/>
              </a:spcAft>
              <a:defRPr>
                <a:latin typeface="Arial" panose="020B0604020202020204" pitchFamily="34" charset="0"/>
                <a:ea typeface="宋体" panose="02010600030101010101" pitchFamily="2" charset="-122"/>
              </a:defRPr>
            </a:lvl7pPr>
            <a:lvl8pPr defTabSz="784225" fontAlgn="base">
              <a:spcBef>
                <a:spcPct val="0"/>
              </a:spcBef>
              <a:spcAft>
                <a:spcPct val="0"/>
              </a:spcAft>
              <a:defRPr>
                <a:latin typeface="Arial" panose="020B0604020202020204" pitchFamily="34" charset="0"/>
                <a:ea typeface="宋体" panose="02010600030101010101" pitchFamily="2" charset="-122"/>
              </a:defRPr>
            </a:lvl8pPr>
            <a:lvl9pPr defTabSz="784225" fontAlgn="base">
              <a:spcBef>
                <a:spcPct val="0"/>
              </a:spcBef>
              <a:spcAft>
                <a:spcPct val="0"/>
              </a:spcAft>
              <a:defRPr>
                <a:latin typeface="Arial" panose="020B0604020202020204" pitchFamily="34" charset="0"/>
                <a:ea typeface="宋体" panose="02010600030101010101" pitchFamily="2" charset="-122"/>
              </a:defRPr>
            </a:lvl9pPr>
          </a:lstStyle>
          <a:p>
            <a:r>
              <a:rPr lang="en-US" altLang="zh-CN" dirty="0" smtClean="0">
                <a:latin typeface="Huawei Sans" panose="020C0503030203020204" pitchFamily="34" charset="0"/>
                <a:ea typeface="方正兰亭黑简体" panose="02000000000000000000" pitchFamily="2" charset="-122"/>
                <a:sym typeface="Huawei Sans" panose="020C0503030203020204" pitchFamily="34" charset="0"/>
              </a:rPr>
              <a:t>192.168.1.0/24</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5" name="Text Box 19"/>
          <p:cNvSpPr txBox="1">
            <a:spLocks noChangeArrowheads="1"/>
          </p:cNvSpPr>
          <p:nvPr/>
        </p:nvSpPr>
        <p:spPr bwMode="gray">
          <a:xfrm>
            <a:off x="10339694" y="3197553"/>
            <a:ext cx="127069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defPPr>
              <a:defRPr lang="en-US"/>
            </a:defPPr>
            <a:lvl1pPr algn="ctr" defTabSz="784225" eaLnBrk="0" fontAlgn="base" hangingPunct="0">
              <a:spcBef>
                <a:spcPct val="50000"/>
              </a:spcBef>
              <a:defRPr sz="1200" b="1">
                <a:latin typeface="FrutigerNext LT Regular" pitchFamily="34" charset="0"/>
                <a:ea typeface="华文细黑" panose="02010600040101010101" pitchFamily="2" charset="-122"/>
              </a:defRPr>
            </a:lvl1pPr>
            <a:lvl2pPr defTabSz="784225" fontAlgn="base">
              <a:defRPr>
                <a:latin typeface="Arial" panose="020B0604020202020204" pitchFamily="34" charset="0"/>
                <a:ea typeface="宋体" panose="02010600030101010101" pitchFamily="2" charset="-122"/>
              </a:defRPr>
            </a:lvl2pPr>
            <a:lvl3pPr defTabSz="784225" fontAlgn="base">
              <a:defRPr>
                <a:latin typeface="Arial" panose="020B0604020202020204" pitchFamily="34" charset="0"/>
                <a:ea typeface="宋体" panose="02010600030101010101" pitchFamily="2" charset="-122"/>
              </a:defRPr>
            </a:lvl3pPr>
            <a:lvl4pPr defTabSz="784225" fontAlgn="base">
              <a:defRPr>
                <a:latin typeface="Arial" panose="020B0604020202020204" pitchFamily="34" charset="0"/>
                <a:ea typeface="宋体" panose="02010600030101010101" pitchFamily="2" charset="-122"/>
              </a:defRPr>
            </a:lvl4pPr>
            <a:lvl5pPr defTabSz="784225" fontAlgn="base">
              <a:defRPr>
                <a:latin typeface="Arial" panose="020B0604020202020204" pitchFamily="34" charset="0"/>
                <a:ea typeface="宋体" panose="02010600030101010101" pitchFamily="2" charset="-122"/>
              </a:defRPr>
            </a:lvl5pPr>
            <a:lvl6pPr defTabSz="784225" fontAlgn="base">
              <a:spcBef>
                <a:spcPct val="0"/>
              </a:spcBef>
              <a:spcAft>
                <a:spcPct val="0"/>
              </a:spcAft>
              <a:defRPr>
                <a:latin typeface="Arial" panose="020B0604020202020204" pitchFamily="34" charset="0"/>
                <a:ea typeface="宋体" panose="02010600030101010101" pitchFamily="2" charset="-122"/>
              </a:defRPr>
            </a:lvl6pPr>
            <a:lvl7pPr defTabSz="784225" fontAlgn="base">
              <a:spcBef>
                <a:spcPct val="0"/>
              </a:spcBef>
              <a:spcAft>
                <a:spcPct val="0"/>
              </a:spcAft>
              <a:defRPr>
                <a:latin typeface="Arial" panose="020B0604020202020204" pitchFamily="34" charset="0"/>
                <a:ea typeface="宋体" panose="02010600030101010101" pitchFamily="2" charset="-122"/>
              </a:defRPr>
            </a:lvl7pPr>
            <a:lvl8pPr defTabSz="784225" fontAlgn="base">
              <a:spcBef>
                <a:spcPct val="0"/>
              </a:spcBef>
              <a:spcAft>
                <a:spcPct val="0"/>
              </a:spcAft>
              <a:defRPr>
                <a:latin typeface="Arial" panose="020B0604020202020204" pitchFamily="34" charset="0"/>
                <a:ea typeface="宋体" panose="02010600030101010101" pitchFamily="2" charset="-122"/>
              </a:defRPr>
            </a:lvl8pPr>
            <a:lvl9pPr defTabSz="784225" fontAlgn="base">
              <a:spcBef>
                <a:spcPct val="0"/>
              </a:spcBef>
              <a:spcAft>
                <a:spcPct val="0"/>
              </a:spcAft>
              <a:defRPr>
                <a:latin typeface="Arial" panose="020B0604020202020204" pitchFamily="34" charset="0"/>
                <a:ea typeface="宋体" panose="02010600030101010101" pitchFamily="2" charset="-122"/>
              </a:defRPr>
            </a:lvl9pPr>
          </a:lstStyle>
          <a:p>
            <a:r>
              <a:rPr lang="en-US" altLang="zh-CN" dirty="0" smtClean="0">
                <a:latin typeface="Huawei Sans" panose="020C0503030203020204" pitchFamily="34" charset="0"/>
                <a:ea typeface="方正兰亭黑简体" panose="02000000000000000000" pitchFamily="2" charset="-122"/>
                <a:sym typeface="Huawei Sans" panose="020C0503030203020204" pitchFamily="34" charset="0"/>
              </a:rPr>
              <a:t>192.168.2.0/24</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6" name="Text Box 19"/>
          <p:cNvSpPr txBox="1">
            <a:spLocks noChangeArrowheads="1"/>
          </p:cNvSpPr>
          <p:nvPr/>
        </p:nvSpPr>
        <p:spPr bwMode="gray">
          <a:xfrm>
            <a:off x="10355199" y="4819129"/>
            <a:ext cx="125518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defPPr>
              <a:defRPr lang="en-US"/>
            </a:defPPr>
            <a:lvl1pPr algn="ctr" defTabSz="784225" eaLnBrk="0" fontAlgn="base" hangingPunct="0">
              <a:spcBef>
                <a:spcPct val="50000"/>
              </a:spcBef>
              <a:defRPr sz="1200" b="1">
                <a:latin typeface="FrutigerNext LT Regular" pitchFamily="34" charset="0"/>
                <a:ea typeface="华文细黑" panose="02010600040101010101" pitchFamily="2" charset="-122"/>
              </a:defRPr>
            </a:lvl1pPr>
            <a:lvl2pPr defTabSz="784225" fontAlgn="base">
              <a:defRPr>
                <a:latin typeface="Arial" panose="020B0604020202020204" pitchFamily="34" charset="0"/>
                <a:ea typeface="宋体" panose="02010600030101010101" pitchFamily="2" charset="-122"/>
              </a:defRPr>
            </a:lvl2pPr>
            <a:lvl3pPr defTabSz="784225" fontAlgn="base">
              <a:defRPr>
                <a:latin typeface="Arial" panose="020B0604020202020204" pitchFamily="34" charset="0"/>
                <a:ea typeface="宋体" panose="02010600030101010101" pitchFamily="2" charset="-122"/>
              </a:defRPr>
            </a:lvl3pPr>
            <a:lvl4pPr defTabSz="784225" fontAlgn="base">
              <a:defRPr>
                <a:latin typeface="Arial" panose="020B0604020202020204" pitchFamily="34" charset="0"/>
                <a:ea typeface="宋体" panose="02010600030101010101" pitchFamily="2" charset="-122"/>
              </a:defRPr>
            </a:lvl4pPr>
            <a:lvl5pPr defTabSz="784225" fontAlgn="base">
              <a:defRPr>
                <a:latin typeface="Arial" panose="020B0604020202020204" pitchFamily="34" charset="0"/>
                <a:ea typeface="宋体" panose="02010600030101010101" pitchFamily="2" charset="-122"/>
              </a:defRPr>
            </a:lvl5pPr>
            <a:lvl6pPr defTabSz="784225" fontAlgn="base">
              <a:spcBef>
                <a:spcPct val="0"/>
              </a:spcBef>
              <a:spcAft>
                <a:spcPct val="0"/>
              </a:spcAft>
              <a:defRPr>
                <a:latin typeface="Arial" panose="020B0604020202020204" pitchFamily="34" charset="0"/>
                <a:ea typeface="宋体" panose="02010600030101010101" pitchFamily="2" charset="-122"/>
              </a:defRPr>
            </a:lvl6pPr>
            <a:lvl7pPr defTabSz="784225" fontAlgn="base">
              <a:spcBef>
                <a:spcPct val="0"/>
              </a:spcBef>
              <a:spcAft>
                <a:spcPct val="0"/>
              </a:spcAft>
              <a:defRPr>
                <a:latin typeface="Arial" panose="020B0604020202020204" pitchFamily="34" charset="0"/>
                <a:ea typeface="宋体" panose="02010600030101010101" pitchFamily="2" charset="-122"/>
              </a:defRPr>
            </a:lvl7pPr>
            <a:lvl8pPr defTabSz="784225" fontAlgn="base">
              <a:spcBef>
                <a:spcPct val="0"/>
              </a:spcBef>
              <a:spcAft>
                <a:spcPct val="0"/>
              </a:spcAft>
              <a:defRPr>
                <a:latin typeface="Arial" panose="020B0604020202020204" pitchFamily="34" charset="0"/>
                <a:ea typeface="宋体" panose="02010600030101010101" pitchFamily="2" charset="-122"/>
              </a:defRPr>
            </a:lvl8pPr>
            <a:lvl9pPr defTabSz="784225" fontAlgn="base">
              <a:spcBef>
                <a:spcPct val="0"/>
              </a:spcBef>
              <a:spcAft>
                <a:spcPct val="0"/>
              </a:spcAft>
              <a:defRPr>
                <a:latin typeface="Arial" panose="020B0604020202020204" pitchFamily="34" charset="0"/>
                <a:ea typeface="宋体" panose="02010600030101010101" pitchFamily="2" charset="-122"/>
              </a:defRPr>
            </a:lvl9pPr>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192.168.2.0/24</a:t>
            </a:r>
          </a:p>
        </p:txBody>
      </p:sp>
      <p:sp>
        <p:nvSpPr>
          <p:cNvPr id="117" name="Text Box 19"/>
          <p:cNvSpPr txBox="1">
            <a:spLocks noChangeArrowheads="1"/>
          </p:cNvSpPr>
          <p:nvPr/>
        </p:nvSpPr>
        <p:spPr bwMode="gray">
          <a:xfrm>
            <a:off x="1114921" y="5116742"/>
            <a:ext cx="705845" cy="288147"/>
          </a:xfrm>
          <a:prstGeom prst="rect">
            <a:avLst/>
          </a:prstGeom>
          <a:solidFill>
            <a:schemeClr val="bg1"/>
          </a:solidFill>
          <a:ln>
            <a:solidFill>
              <a:srgbClr val="56C4D2"/>
            </a:solidFill>
          </a:ln>
          <a:effectLst/>
          <a:extLst/>
        </p:spPr>
        <p:txBody>
          <a:bodyPr wrap="square" lIns="36000" tIns="36000" rIns="36000" bIns="36000">
            <a:spAutoFit/>
          </a:bodyPr>
          <a:lstStyle>
            <a:defPPr>
              <a:defRPr lang="en-US"/>
            </a:defPPr>
            <a:lvl1pPr algn="ctr">
              <a:defRPr sz="1400">
                <a:latin typeface="Huawei Sans" panose="020C0503030203020204" pitchFamily="34" charset="0"/>
                <a:ea typeface="方正兰亭黑简体" panose="02000000000000000000" pitchFamily="2" charset="-122"/>
              </a:defRPr>
            </a:lvl1pPr>
            <a:lvl2pPr marL="742950" indent="-285750" eaLnBrk="0" hangingPunct="0">
              <a:defRPr>
                <a:latin typeface="Arial" charset="0"/>
                <a:ea typeface="宋体" pitchFamily="2" charset="-122"/>
              </a:defRPr>
            </a:lvl2pPr>
            <a:lvl3pPr marL="1143000" indent="-228600" eaLnBrk="0" hangingPunct="0">
              <a:defRPr>
                <a:latin typeface="Arial" charset="0"/>
                <a:ea typeface="宋体" pitchFamily="2" charset="-122"/>
              </a:defRPr>
            </a:lvl3pPr>
            <a:lvl4pPr marL="1600200" indent="-228600" eaLnBrk="0" hangingPunct="0">
              <a:defRPr>
                <a:latin typeface="Arial" charset="0"/>
                <a:ea typeface="宋体" pitchFamily="2" charset="-122"/>
              </a:defRPr>
            </a:lvl4pPr>
            <a:lvl5pPr marL="2057400" indent="-228600" eaLnBrk="0" hangingPunct="0">
              <a:defRPr>
                <a:latin typeface="Arial" charset="0"/>
                <a:ea typeface="宋体" pitchFamily="2" charset="-122"/>
              </a:defRPr>
            </a:lvl5pPr>
            <a:lvl6pPr marL="2514600" indent="-228600" eaLnBrk="0" fontAlgn="base" hangingPunct="0">
              <a:spcBef>
                <a:spcPct val="0"/>
              </a:spcBef>
              <a:spcAft>
                <a:spcPct val="0"/>
              </a:spcAft>
              <a:defRPr>
                <a:latin typeface="Arial" charset="0"/>
                <a:ea typeface="宋体" pitchFamily="2" charset="-122"/>
              </a:defRPr>
            </a:lvl6pPr>
            <a:lvl7pPr marL="2971800" indent="-228600" eaLnBrk="0" fontAlgn="base" hangingPunct="0">
              <a:spcBef>
                <a:spcPct val="0"/>
              </a:spcBef>
              <a:spcAft>
                <a:spcPct val="0"/>
              </a:spcAft>
              <a:defRPr>
                <a:latin typeface="Arial" charset="0"/>
                <a:ea typeface="宋体" pitchFamily="2" charset="-122"/>
              </a:defRPr>
            </a:lvl7pPr>
            <a:lvl8pPr marL="3429000" indent="-228600" eaLnBrk="0" fontAlgn="base" hangingPunct="0">
              <a:spcBef>
                <a:spcPct val="0"/>
              </a:spcBef>
              <a:spcAft>
                <a:spcPct val="0"/>
              </a:spcAft>
              <a:defRPr>
                <a:latin typeface="Arial" charset="0"/>
                <a:ea typeface="宋体" pitchFamily="2" charset="-122"/>
              </a:defRPr>
            </a:lvl8pPr>
            <a:lvl9pPr marL="3886200" indent="-228600" eaLnBrk="0" fontAlgn="base" hangingPunct="0">
              <a:spcBef>
                <a:spcPct val="0"/>
              </a:spcBef>
              <a:spcAft>
                <a:spcPct val="0"/>
              </a:spcAft>
              <a:defRPr>
                <a:latin typeface="Arial" charset="0"/>
                <a:ea typeface="宋体" pitchFamily="2" charset="-122"/>
              </a:defRPr>
            </a:lvl9pPr>
          </a:lstStyle>
          <a:p>
            <a:r>
              <a:rPr lang="en-US" altLang="zh-CN" dirty="0">
                <a:sym typeface="Huawei Sans" panose="020C0503030203020204" pitchFamily="34" charset="0"/>
              </a:rPr>
              <a:t>AS 100</a:t>
            </a:r>
          </a:p>
        </p:txBody>
      </p:sp>
      <p:pic>
        <p:nvPicPr>
          <p:cNvPr id="95" name="图片 94"/>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792393" y="3174416"/>
            <a:ext cx="540000" cy="442800"/>
          </a:xfrm>
          <a:prstGeom prst="rect">
            <a:avLst/>
          </a:prstGeom>
        </p:spPr>
      </p:pic>
      <p:pic>
        <p:nvPicPr>
          <p:cNvPr id="101" name="图片 100"/>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787906" y="4714733"/>
            <a:ext cx="540000" cy="442800"/>
          </a:xfrm>
          <a:prstGeom prst="rect">
            <a:avLst/>
          </a:prstGeom>
        </p:spPr>
      </p:pic>
      <p:pic>
        <p:nvPicPr>
          <p:cNvPr id="102" name="图片 101"/>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4098125" y="3881990"/>
            <a:ext cx="540000" cy="442800"/>
          </a:xfrm>
          <a:prstGeom prst="rect">
            <a:avLst/>
          </a:prstGeom>
        </p:spPr>
      </p:pic>
      <p:pic>
        <p:nvPicPr>
          <p:cNvPr id="103" name="图片 102"/>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5823696" y="3881990"/>
            <a:ext cx="540000" cy="442800"/>
          </a:xfrm>
          <a:prstGeom prst="rect">
            <a:avLst/>
          </a:prstGeom>
        </p:spPr>
      </p:pic>
      <p:pic>
        <p:nvPicPr>
          <p:cNvPr id="104" name="图片 103"/>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7537891" y="3881990"/>
            <a:ext cx="540000" cy="442800"/>
          </a:xfrm>
          <a:prstGeom prst="rect">
            <a:avLst/>
          </a:prstGeom>
        </p:spPr>
      </p:pic>
      <p:pic>
        <p:nvPicPr>
          <p:cNvPr id="118" name="图片 117"/>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9800757" y="3120529"/>
            <a:ext cx="540000" cy="442800"/>
          </a:xfrm>
          <a:prstGeom prst="rect">
            <a:avLst/>
          </a:prstGeom>
        </p:spPr>
      </p:pic>
      <p:pic>
        <p:nvPicPr>
          <p:cNvPr id="120" name="图片 119"/>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9799534" y="4725022"/>
            <a:ext cx="540000" cy="442800"/>
          </a:xfrm>
          <a:prstGeom prst="rect">
            <a:avLst/>
          </a:prstGeom>
        </p:spPr>
      </p:pic>
      <p:sp>
        <p:nvSpPr>
          <p:cNvPr id="121" name="Text Box 19"/>
          <p:cNvSpPr txBox="1">
            <a:spLocks noChangeArrowheads="1"/>
          </p:cNvSpPr>
          <p:nvPr/>
        </p:nvSpPr>
        <p:spPr bwMode="gray">
          <a:xfrm>
            <a:off x="5969036" y="4312339"/>
            <a:ext cx="29206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P</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2" name="Text Box 19"/>
          <p:cNvSpPr txBox="1">
            <a:spLocks noChangeArrowheads="1"/>
          </p:cNvSpPr>
          <p:nvPr/>
        </p:nvSpPr>
        <p:spPr bwMode="gray">
          <a:xfrm>
            <a:off x="7554161" y="4262203"/>
            <a:ext cx="49725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PE2</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3" name="Text Box 19"/>
          <p:cNvSpPr txBox="1">
            <a:spLocks noChangeArrowheads="1"/>
          </p:cNvSpPr>
          <p:nvPr/>
        </p:nvSpPr>
        <p:spPr bwMode="gray">
          <a:xfrm>
            <a:off x="10361771" y="5105218"/>
            <a:ext cx="705845" cy="288147"/>
          </a:xfrm>
          <a:prstGeom prst="rect">
            <a:avLst/>
          </a:prstGeom>
          <a:solidFill>
            <a:schemeClr val="bg1"/>
          </a:solidFill>
          <a:ln>
            <a:solidFill>
              <a:srgbClr val="56C4D2"/>
            </a:solidFill>
          </a:ln>
          <a:effectLst/>
          <a:extLst/>
        </p:spPr>
        <p:txBody>
          <a:bodyPr wrap="square" lIns="36000" tIns="36000" rIns="36000" bIns="3600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AS 200</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58616257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dirty="0" smtClean="0">
                <a:sym typeface="Huawei Sans" panose="020C0503030203020204" pitchFamily="34" charset="0"/>
              </a:rPr>
              <a:t>MPLS VPN</a:t>
            </a:r>
            <a:r>
              <a:rPr lang="zh-CN" altLang="en-US" dirty="0" smtClean="0">
                <a:sym typeface="Huawei Sans" panose="020C0503030203020204" pitchFamily="34" charset="0"/>
              </a:rPr>
              <a:t>配置示例：配置思路</a:t>
            </a:r>
            <a:endParaRPr lang="zh-CN" altLang="en-US" dirty="0"/>
          </a:p>
        </p:txBody>
      </p:sp>
      <p:sp>
        <p:nvSpPr>
          <p:cNvPr id="3" name="文本占位符 2"/>
          <p:cNvSpPr>
            <a:spLocks noGrp="1"/>
          </p:cNvSpPr>
          <p:nvPr>
            <p:ph type="body" sz="quarter" idx="10"/>
          </p:nvPr>
        </p:nvSpPr>
        <p:spPr bwMode="gray"/>
        <p:txBody>
          <a:bodyPr/>
          <a:lstStyle/>
          <a:p>
            <a:pPr marL="457200" indent="-457200">
              <a:buSzPct val="100000"/>
              <a:buFont typeface="+mj-lt"/>
              <a:buAutoNum type="arabicPeriod"/>
            </a:pPr>
            <a:r>
              <a:rPr lang="en-US" altLang="zh-CN" sz="2000" dirty="0" smtClean="0"/>
              <a:t>MPLS VPN</a:t>
            </a:r>
            <a:r>
              <a:rPr lang="zh-CN" altLang="en-US" sz="2000" dirty="0" smtClean="0"/>
              <a:t>骨干网配置：</a:t>
            </a:r>
            <a:endParaRPr lang="en-US" altLang="zh-CN" sz="2000" dirty="0" smtClean="0"/>
          </a:p>
          <a:p>
            <a:pPr marL="403039" lvl="1" indent="0">
              <a:buNone/>
            </a:pPr>
            <a:r>
              <a:rPr lang="en-US" altLang="zh-CN" sz="1800" dirty="0" smtClean="0"/>
              <a:t>1.1 IGP</a:t>
            </a:r>
            <a:r>
              <a:rPr lang="zh-CN" altLang="en-US" sz="1800" dirty="0" smtClean="0"/>
              <a:t>配置，实现骨干网的</a:t>
            </a:r>
            <a:r>
              <a:rPr lang="en-US" altLang="zh-CN" sz="1800" dirty="0" smtClean="0"/>
              <a:t>IP</a:t>
            </a:r>
            <a:r>
              <a:rPr lang="zh-CN" altLang="en-US" sz="1800" dirty="0" smtClean="0"/>
              <a:t>连通性。</a:t>
            </a:r>
            <a:endParaRPr lang="en-US" altLang="zh-CN" sz="1800" dirty="0" smtClean="0"/>
          </a:p>
          <a:p>
            <a:pPr marL="403039" lvl="1" indent="0">
              <a:buNone/>
            </a:pPr>
            <a:r>
              <a:rPr lang="en-US" altLang="zh-CN" sz="1800" dirty="0" smtClean="0"/>
              <a:t>1.2 MPLS</a:t>
            </a:r>
            <a:r>
              <a:rPr lang="zh-CN" altLang="en-US" sz="1800" dirty="0" smtClean="0"/>
              <a:t>与</a:t>
            </a:r>
            <a:r>
              <a:rPr lang="en-US" altLang="zh-CN" sz="1800" dirty="0" smtClean="0"/>
              <a:t>MPLS LDP</a:t>
            </a:r>
            <a:r>
              <a:rPr lang="zh-CN" altLang="en-US" sz="1800" dirty="0" smtClean="0"/>
              <a:t>配置，建立</a:t>
            </a:r>
            <a:r>
              <a:rPr lang="en-US" altLang="zh-CN" sz="1800" dirty="0" smtClean="0"/>
              <a:t>MPLS LSP</a:t>
            </a:r>
            <a:r>
              <a:rPr lang="zh-CN" altLang="en-US" sz="1800" dirty="0" smtClean="0"/>
              <a:t>公网隧道，传输</a:t>
            </a:r>
            <a:r>
              <a:rPr lang="en-US" altLang="zh-CN" sz="1800" dirty="0" smtClean="0"/>
              <a:t>VPN</a:t>
            </a:r>
            <a:r>
              <a:rPr lang="zh-CN" altLang="en-US" sz="1800" dirty="0" smtClean="0"/>
              <a:t>数据。</a:t>
            </a:r>
            <a:endParaRPr lang="en-US" altLang="zh-CN" sz="1800" dirty="0" smtClean="0"/>
          </a:p>
          <a:p>
            <a:pPr marL="403039" lvl="1" indent="0">
              <a:buNone/>
            </a:pPr>
            <a:r>
              <a:rPr lang="en-US" altLang="zh-CN" sz="1800" dirty="0" smtClean="0"/>
              <a:t>1.3 MP-BGP</a:t>
            </a:r>
            <a:r>
              <a:rPr lang="zh-CN" altLang="en-US" sz="1800" dirty="0" smtClean="0"/>
              <a:t>配置，建立后续传递</a:t>
            </a:r>
            <a:r>
              <a:rPr lang="en-US" altLang="zh-CN" sz="1800" dirty="0" smtClean="0"/>
              <a:t>VPNv4</a:t>
            </a:r>
            <a:r>
              <a:rPr lang="zh-CN" altLang="en-US" sz="1800" dirty="0" smtClean="0"/>
              <a:t>路由的</a:t>
            </a:r>
            <a:r>
              <a:rPr lang="en-US" altLang="zh-CN" sz="1800" dirty="0" smtClean="0"/>
              <a:t>MP-BGP</a:t>
            </a:r>
            <a:r>
              <a:rPr lang="zh-CN" altLang="en-US" sz="1800" dirty="0" smtClean="0"/>
              <a:t>对等体关系。</a:t>
            </a:r>
            <a:endParaRPr lang="en-US" altLang="zh-CN" sz="1800" dirty="0" smtClean="0"/>
          </a:p>
          <a:p>
            <a:pPr marL="457200" indent="-457200">
              <a:buSzPct val="100000"/>
              <a:buFont typeface="+mj-lt"/>
              <a:buAutoNum type="arabicPeriod"/>
            </a:pPr>
            <a:r>
              <a:rPr lang="en-US" altLang="zh-CN" sz="2000" dirty="0" smtClean="0"/>
              <a:t>VPN</a:t>
            </a:r>
            <a:r>
              <a:rPr lang="zh-CN" altLang="en-US" sz="2000" dirty="0" smtClean="0"/>
              <a:t>用户接入配置：</a:t>
            </a:r>
            <a:endParaRPr lang="en-US" altLang="zh-CN" sz="2000" dirty="0" smtClean="0"/>
          </a:p>
          <a:p>
            <a:pPr marL="403039" lvl="1" indent="0">
              <a:buNone/>
            </a:pPr>
            <a:r>
              <a:rPr lang="en-US" altLang="zh-CN" sz="1800" dirty="0" smtClean="0"/>
              <a:t>2.1 </a:t>
            </a:r>
            <a:r>
              <a:rPr lang="zh-CN" altLang="en-US" sz="1800" dirty="0" smtClean="0"/>
              <a:t>创建</a:t>
            </a:r>
            <a:r>
              <a:rPr lang="en-US" altLang="zh-CN" sz="1800" dirty="0" smtClean="0"/>
              <a:t>VPN</a:t>
            </a:r>
            <a:r>
              <a:rPr lang="zh-CN" altLang="en-US" sz="1800" dirty="0" smtClean="0"/>
              <a:t>实例并配置参数（</a:t>
            </a:r>
            <a:r>
              <a:rPr lang="en-US" altLang="zh-CN" sz="1800" dirty="0" smtClean="0"/>
              <a:t>RT</a:t>
            </a:r>
            <a:r>
              <a:rPr lang="zh-CN" altLang="en-US" sz="1800" dirty="0" smtClean="0"/>
              <a:t>、</a:t>
            </a:r>
            <a:r>
              <a:rPr lang="en-US" altLang="zh-CN" sz="1800" dirty="0" smtClean="0"/>
              <a:t>RD</a:t>
            </a:r>
            <a:r>
              <a:rPr lang="zh-CN" altLang="en-US" sz="1800" dirty="0" smtClean="0"/>
              <a:t>）</a:t>
            </a:r>
            <a:endParaRPr lang="en-US" altLang="zh-CN" sz="1800" dirty="0" smtClean="0"/>
          </a:p>
          <a:p>
            <a:pPr marL="403039" lvl="1" indent="0">
              <a:buNone/>
            </a:pPr>
            <a:r>
              <a:rPr lang="en-US" altLang="zh-CN" sz="1800" dirty="0" smtClean="0"/>
              <a:t>2.2 </a:t>
            </a:r>
            <a:r>
              <a:rPr lang="zh-CN" altLang="en-US" sz="1800" dirty="0" smtClean="0"/>
              <a:t>将接口加入</a:t>
            </a:r>
            <a:r>
              <a:rPr lang="en-US" altLang="zh-CN" sz="1800" dirty="0" smtClean="0"/>
              <a:t>VPN</a:t>
            </a:r>
            <a:r>
              <a:rPr lang="zh-CN" altLang="en-US" sz="1800" dirty="0" smtClean="0"/>
              <a:t>实例</a:t>
            </a:r>
            <a:endParaRPr lang="en-US" altLang="zh-CN" sz="1800" dirty="0" smtClean="0"/>
          </a:p>
          <a:p>
            <a:pPr marL="403039" lvl="1" indent="0">
              <a:buNone/>
            </a:pPr>
            <a:r>
              <a:rPr lang="en-US" altLang="zh-CN" sz="1800" dirty="0" smtClean="0"/>
              <a:t>2.3 </a:t>
            </a:r>
            <a:r>
              <a:rPr lang="zh-CN" altLang="en-US" sz="1800" dirty="0" smtClean="0"/>
              <a:t>配置</a:t>
            </a:r>
            <a:r>
              <a:rPr lang="en-US" altLang="zh-CN" sz="1800" dirty="0" smtClean="0"/>
              <a:t>PE</a:t>
            </a:r>
            <a:r>
              <a:rPr lang="zh-CN" altLang="en-US" sz="1800" dirty="0" smtClean="0"/>
              <a:t>与</a:t>
            </a:r>
            <a:r>
              <a:rPr lang="en-US" altLang="zh-CN" sz="1800" dirty="0" smtClean="0"/>
              <a:t>CE</a:t>
            </a:r>
            <a:r>
              <a:rPr lang="zh-CN" altLang="en-US" sz="1800" dirty="0" smtClean="0"/>
              <a:t>之间的路由交换</a:t>
            </a:r>
            <a:endParaRPr lang="en-US" altLang="zh-CN" sz="1800" dirty="0" smtClean="0"/>
          </a:p>
          <a:p>
            <a:endParaRPr lang="en-US" altLang="zh-CN" sz="2000" dirty="0" smtClean="0"/>
          </a:p>
          <a:p>
            <a:pPr lvl="1"/>
            <a:endParaRPr lang="zh-CN" altLang="en-US" sz="1800" dirty="0"/>
          </a:p>
        </p:txBody>
      </p:sp>
    </p:spTree>
    <p:extLst>
      <p:ext uri="{BB962C8B-B14F-4D97-AF65-F5344CB8AC3E}">
        <p14:creationId xmlns:p14="http://schemas.microsoft.com/office/powerpoint/2010/main" val="2457460421"/>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dirty="0" smtClean="0">
                <a:sym typeface="Huawei Sans" panose="020C0503030203020204" pitchFamily="34" charset="0"/>
              </a:rPr>
              <a:t>MPLS VPN</a:t>
            </a:r>
            <a:r>
              <a:rPr lang="zh-CN" altLang="en-US" dirty="0" smtClean="0">
                <a:sym typeface="Huawei Sans" panose="020C0503030203020204" pitchFamily="34" charset="0"/>
              </a:rPr>
              <a:t>配置示例：</a:t>
            </a:r>
            <a:r>
              <a:rPr lang="zh-CN" altLang="en-US" dirty="0" smtClean="0"/>
              <a:t>数据规划</a:t>
            </a:r>
            <a:endParaRPr lang="zh-CN" altLang="en-US" dirty="0"/>
          </a:p>
        </p:txBody>
      </p:sp>
      <p:sp>
        <p:nvSpPr>
          <p:cNvPr id="5" name="文本占位符 4"/>
          <p:cNvSpPr>
            <a:spLocks noGrp="1"/>
          </p:cNvSpPr>
          <p:nvPr>
            <p:ph type="body" sz="quarter" idx="10"/>
          </p:nvPr>
        </p:nvSpPr>
        <p:spPr bwMode="gray"/>
        <p:txBody>
          <a:bodyPr/>
          <a:lstStyle/>
          <a:p>
            <a:r>
              <a:rPr lang="en-US" altLang="zh-CN" sz="1800" smtClean="0"/>
              <a:t>MPLS</a:t>
            </a:r>
            <a:r>
              <a:rPr lang="zh-CN" altLang="en-US" sz="1800" smtClean="0"/>
              <a:t>骨干网采用单区域</a:t>
            </a:r>
            <a:r>
              <a:rPr lang="en-US" altLang="zh-CN" sz="1800" smtClean="0"/>
              <a:t>OSPF</a:t>
            </a:r>
            <a:r>
              <a:rPr lang="zh-CN" altLang="en-US" sz="1800" smtClean="0"/>
              <a:t>实现路由互通，所有</a:t>
            </a:r>
            <a:r>
              <a:rPr lang="en-US" altLang="zh-CN" sz="1800" smtClean="0"/>
              <a:t>PE</a:t>
            </a:r>
            <a:r>
              <a:rPr lang="zh-CN" altLang="en-US" sz="1800" smtClean="0"/>
              <a:t>和</a:t>
            </a:r>
            <a:r>
              <a:rPr lang="en-US" altLang="zh-CN" sz="1800" smtClean="0"/>
              <a:t>P</a:t>
            </a:r>
            <a:r>
              <a:rPr lang="zh-CN" altLang="en-US" sz="1800" smtClean="0"/>
              <a:t>互联接口均使能</a:t>
            </a:r>
            <a:r>
              <a:rPr lang="en-US" altLang="zh-CN" sz="1800" smtClean="0"/>
              <a:t>MPLS LDP</a:t>
            </a:r>
            <a:r>
              <a:rPr lang="zh-CN" altLang="en-US" sz="1800" smtClean="0"/>
              <a:t>功能。</a:t>
            </a:r>
            <a:endParaRPr lang="en-US" altLang="zh-CN" sz="1800" smtClean="0"/>
          </a:p>
          <a:p>
            <a:r>
              <a:rPr lang="en-US" altLang="zh-CN" sz="1800" smtClean="0"/>
              <a:t>PE</a:t>
            </a:r>
            <a:r>
              <a:rPr lang="zh-CN" altLang="en-US" sz="1800" smtClean="0"/>
              <a:t>上的</a:t>
            </a:r>
            <a:r>
              <a:rPr lang="en-US" altLang="zh-CN" sz="1800" smtClean="0"/>
              <a:t>VPN</a:t>
            </a:r>
            <a:r>
              <a:rPr lang="zh-CN" altLang="en-US" sz="1800" smtClean="0"/>
              <a:t>相关配置如表格：</a:t>
            </a:r>
            <a:endParaRPr lang="zh-CN" altLang="en-US" sz="1800" dirty="0"/>
          </a:p>
        </p:txBody>
      </p:sp>
      <p:graphicFrame>
        <p:nvGraphicFramePr>
          <p:cNvPr id="4" name="表格 3"/>
          <p:cNvGraphicFramePr>
            <a:graphicFrameLocks noGrp="1"/>
          </p:cNvGraphicFramePr>
          <p:nvPr>
            <p:extLst>
              <p:ext uri="{D42A27DB-BD31-4B8C-83A1-F6EECF244321}">
                <p14:modId xmlns:p14="http://schemas.microsoft.com/office/powerpoint/2010/main" val="9944224"/>
              </p:ext>
            </p:extLst>
          </p:nvPr>
        </p:nvGraphicFramePr>
        <p:xfrm>
          <a:off x="2313368" y="2165744"/>
          <a:ext cx="7140541" cy="2682696"/>
        </p:xfrm>
        <a:graphic>
          <a:graphicData uri="http://schemas.openxmlformats.org/drawingml/2006/table">
            <a:tbl>
              <a:tblPr/>
              <a:tblGrid>
                <a:gridCol w="1236649"/>
                <a:gridCol w="1475973">
                  <a:extLst>
                    <a:ext uri="{9D8B030D-6E8A-4147-A177-3AD203B41FA5}">
                      <a16:colId xmlns="" xmlns:a16="http://schemas.microsoft.com/office/drawing/2014/main" val="20001"/>
                    </a:ext>
                  </a:extLst>
                </a:gridCol>
                <a:gridCol w="1475973"/>
                <a:gridCol w="1475973"/>
                <a:gridCol w="1475973"/>
              </a:tblGrid>
              <a:tr h="158502">
                <a:tc rowSpan="2">
                  <a:txBody>
                    <a:bodyPr/>
                    <a:lstStyle/>
                    <a:p>
                      <a:pPr algn="ctr">
                        <a:lnSpc>
                          <a:spcPct val="100000"/>
                        </a:lnSpc>
                      </a:pPr>
                      <a:r>
                        <a:rPr lang="zh-CN" altLang="en-US" sz="1600" b="1" dirty="0" smtClean="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配置项</a:t>
                      </a:r>
                      <a:endParaRPr lang="zh-CN" altLang="en-US" sz="1600" b="1"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gridSpan="4">
                  <a:txBody>
                    <a:bodyPr/>
                    <a:lstStyle/>
                    <a:p>
                      <a:pPr algn="ctr">
                        <a:lnSpc>
                          <a:spcPct val="100000"/>
                        </a:lnSpc>
                      </a:pPr>
                      <a:r>
                        <a:rPr lang="zh-CN" altLang="en-US" sz="1600" b="1" dirty="0" smtClean="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描述</a:t>
                      </a:r>
                      <a:endParaRPr lang="zh-CN" altLang="en-US" sz="1600" b="1"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 xmlns:a16="http://schemas.microsoft.com/office/drawing/2014/main" val="10000"/>
                  </a:ext>
                </a:extLst>
              </a:tr>
              <a:tr h="177183">
                <a:tc vMerge="1">
                  <a:txBody>
                    <a:bodyPr/>
                    <a:lstStyle/>
                    <a:p>
                      <a:endParaRPr lang="zh-CN" altLang="en-US"/>
                    </a:p>
                  </a:txBody>
                  <a:tcPr/>
                </a:tc>
                <a:tc gridSpan="2">
                  <a:txBody>
                    <a:bodyPr/>
                    <a:lstStyle/>
                    <a:p>
                      <a:pPr algn="ctr">
                        <a:lnSpc>
                          <a:spcPct val="100000"/>
                        </a:lnSpc>
                      </a:pPr>
                      <a:r>
                        <a:rPr lang="en-US" altLang="zh-CN" sz="1600" b="1" dirty="0" smtClean="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PE1</a:t>
                      </a:r>
                      <a:endParaRPr lang="zh-CN" altLang="en-US" sz="1600" b="1"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zh-CN" altLang="en-US"/>
                    </a:p>
                  </a:txBody>
                  <a:tcPr/>
                </a:tc>
                <a:tc gridSpan="2">
                  <a:txBody>
                    <a:bodyPr/>
                    <a:lstStyle/>
                    <a:p>
                      <a:pPr algn="ctr">
                        <a:lnSpc>
                          <a:spcPct val="100000"/>
                        </a:lnSpc>
                      </a:pPr>
                      <a:r>
                        <a:rPr lang="en-US" altLang="zh-CN" sz="1600" b="1" dirty="0" smtClean="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PE2</a:t>
                      </a:r>
                      <a:endParaRPr lang="zh-CN" altLang="en-US" sz="1600" b="1"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zh-CN" altLang="en-US"/>
                    </a:p>
                  </a:txBody>
                  <a:tcPr/>
                </a:tc>
              </a:tr>
              <a:tr h="333398">
                <a:tc>
                  <a:txBody>
                    <a:bodyPr/>
                    <a:lstStyle/>
                    <a:p>
                      <a:pPr algn="ctr">
                        <a:lnSpc>
                          <a:spcPct val="100000"/>
                        </a:lnSpc>
                      </a:pPr>
                      <a:r>
                        <a:rPr lang="en-US" sz="1400" dirty="0" smtClean="0">
                          <a:effectLst/>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400" dirty="0" smtClean="0">
                          <a:effectLst/>
                          <a:latin typeface="Huawei Sans" panose="020C0503030203020204" pitchFamily="34" charset="0"/>
                          <a:ea typeface="方正兰亭黑简体" panose="02000000000000000000" pitchFamily="2" charset="-122"/>
                          <a:sym typeface="Huawei Sans" panose="020C0503030203020204" pitchFamily="34" charset="0"/>
                        </a:rPr>
                        <a:t>名称</a:t>
                      </a:r>
                      <a:endParaRPr 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en-US" altLang="zh-CN" sz="1400" baseline="0" dirty="0" smtClean="0">
                          <a:effectLst/>
                          <a:latin typeface="Huawei Sans" panose="020C0503030203020204" pitchFamily="34" charset="0"/>
                          <a:ea typeface="方正兰亭黑简体" panose="02000000000000000000" pitchFamily="2" charset="-122"/>
                          <a:sym typeface="Huawei Sans" panose="020C0503030203020204" pitchFamily="34" charset="0"/>
                        </a:rPr>
                        <a:t>VPNX</a:t>
                      </a:r>
                      <a:endParaRPr lang="zh-CN" alt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r>
                        <a:rPr lang="en-US" altLang="zh-CN" sz="1400" baseline="0" dirty="0" smtClean="0">
                          <a:effectLst/>
                          <a:latin typeface="Huawei Sans" panose="020C0503030203020204" pitchFamily="34" charset="0"/>
                          <a:ea typeface="方正兰亭黑简体" panose="02000000000000000000" pitchFamily="2" charset="-122"/>
                          <a:sym typeface="Huawei Sans" panose="020C0503030203020204" pitchFamily="34" charset="0"/>
                        </a:rPr>
                        <a:t>VPNY</a:t>
                      </a:r>
                      <a:endParaRPr lang="zh-CN" alt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r>
                        <a:rPr lang="en-US" altLang="zh-CN" sz="1400" baseline="0" dirty="0" smtClean="0">
                          <a:effectLst/>
                          <a:latin typeface="Huawei Sans" panose="020C0503030203020204" pitchFamily="34" charset="0"/>
                          <a:ea typeface="方正兰亭黑简体" panose="02000000000000000000" pitchFamily="2" charset="-122"/>
                          <a:sym typeface="Huawei Sans" panose="020C0503030203020204" pitchFamily="34" charset="0"/>
                        </a:rPr>
                        <a:t>VPNX</a:t>
                      </a:r>
                      <a:endParaRPr lang="zh-CN" alt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r>
                        <a:rPr lang="en-US" altLang="zh-CN" sz="1400" baseline="0" dirty="0" smtClean="0">
                          <a:effectLst/>
                          <a:latin typeface="Huawei Sans" panose="020C0503030203020204" pitchFamily="34" charset="0"/>
                          <a:ea typeface="方正兰亭黑简体" panose="02000000000000000000" pitchFamily="2" charset="-122"/>
                          <a:sym typeface="Huawei Sans" panose="020C0503030203020204" pitchFamily="34" charset="0"/>
                        </a:rPr>
                        <a:t>VPNY</a:t>
                      </a:r>
                      <a:endParaRPr lang="zh-CN" alt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1"/>
                  </a:ext>
                </a:extLst>
              </a:tr>
              <a:tr h="333398">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400" dirty="0" smtClean="0">
                          <a:effectLst/>
                          <a:latin typeface="Huawei Sans" panose="020C0503030203020204" pitchFamily="34" charset="0"/>
                          <a:ea typeface="方正兰亭黑简体" panose="02000000000000000000" pitchFamily="2" charset="-122"/>
                          <a:sym typeface="Huawei Sans" panose="020C0503030203020204" pitchFamily="34" charset="0"/>
                        </a:rPr>
                        <a:t>RD</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en-US" altLang="zh-CN" sz="1400" dirty="0" smtClean="0">
                          <a:effectLst/>
                          <a:latin typeface="Huawei Sans" panose="020C0503030203020204" pitchFamily="34" charset="0"/>
                          <a:ea typeface="方正兰亭黑简体" panose="02000000000000000000" pitchFamily="2" charset="-122"/>
                          <a:sym typeface="Huawei Sans" panose="020C0503030203020204" pitchFamily="34" charset="0"/>
                        </a:rPr>
                        <a:t>100:1</a:t>
                      </a:r>
                      <a:endParaRPr 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r>
                        <a:rPr lang="en-US" altLang="zh-CN" sz="1400" dirty="0" smtClean="0">
                          <a:effectLst/>
                          <a:latin typeface="Huawei Sans" panose="020C0503030203020204" pitchFamily="34" charset="0"/>
                          <a:ea typeface="方正兰亭黑简体" panose="02000000000000000000" pitchFamily="2" charset="-122"/>
                          <a:sym typeface="Huawei Sans" panose="020C0503030203020204" pitchFamily="34" charset="0"/>
                        </a:rPr>
                        <a:t>200:1</a:t>
                      </a:r>
                      <a:endParaRPr 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r>
                        <a:rPr lang="en-US" altLang="zh-CN" sz="1400" dirty="0" smtClean="0">
                          <a:effectLst/>
                          <a:latin typeface="Huawei Sans" panose="020C0503030203020204" pitchFamily="34" charset="0"/>
                          <a:ea typeface="方正兰亭黑简体" panose="02000000000000000000" pitchFamily="2" charset="-122"/>
                          <a:sym typeface="Huawei Sans" panose="020C0503030203020204" pitchFamily="34" charset="0"/>
                        </a:rPr>
                        <a:t>100:1</a:t>
                      </a:r>
                      <a:endParaRPr 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r>
                        <a:rPr lang="en-US" altLang="zh-CN" sz="1400" dirty="0" smtClean="0">
                          <a:effectLst/>
                          <a:latin typeface="Huawei Sans" panose="020C0503030203020204" pitchFamily="34" charset="0"/>
                          <a:ea typeface="方正兰亭黑简体" panose="02000000000000000000" pitchFamily="2" charset="-122"/>
                          <a:sym typeface="Huawei Sans" panose="020C0503030203020204" pitchFamily="34" charset="0"/>
                        </a:rPr>
                        <a:t>200:1</a:t>
                      </a:r>
                      <a:endParaRPr 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2"/>
                  </a:ext>
                </a:extLst>
              </a:tr>
              <a:tr h="333398">
                <a:tc>
                  <a:txBody>
                    <a:bodyPr/>
                    <a:lstStyle/>
                    <a:p>
                      <a:pPr algn="ctr"/>
                      <a:r>
                        <a:rPr lang="en-US" altLang="zh-CN" sz="1400" dirty="0" smtClean="0"/>
                        <a:t>IRT</a:t>
                      </a:r>
                      <a:endParaRPr lang="zh-CN" altLang="en-US" sz="1400" dirty="0"/>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en-US" sz="1400" dirty="0" smtClean="0">
                          <a:effectLst/>
                          <a:latin typeface="Huawei Sans" panose="020C0503030203020204" pitchFamily="34" charset="0"/>
                          <a:ea typeface="方正兰亭黑简体" panose="02000000000000000000" pitchFamily="2" charset="-122"/>
                          <a:sym typeface="Huawei Sans" panose="020C0503030203020204" pitchFamily="34" charset="0"/>
                        </a:rPr>
                        <a:t>100:321</a:t>
                      </a:r>
                      <a:endParaRPr 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r>
                        <a:rPr lang="en-US" altLang="zh-CN" sz="1400" dirty="0" smtClean="0">
                          <a:effectLst/>
                          <a:latin typeface="Huawei Sans" panose="020C0503030203020204" pitchFamily="34" charset="0"/>
                          <a:ea typeface="方正兰亭黑简体" panose="02000000000000000000" pitchFamily="2" charset="-122"/>
                          <a:sym typeface="Huawei Sans" panose="020C0503030203020204" pitchFamily="34" charset="0"/>
                        </a:rPr>
                        <a:t>200:234</a:t>
                      </a:r>
                      <a:endParaRPr 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r>
                        <a:rPr lang="en-US" altLang="zh-CN" sz="1400" dirty="0" smtClean="0">
                          <a:effectLst/>
                          <a:latin typeface="Huawei Sans" panose="020C0503030203020204" pitchFamily="34" charset="0"/>
                          <a:ea typeface="方正兰亭黑简体" panose="02000000000000000000" pitchFamily="2" charset="-122"/>
                          <a:sym typeface="Huawei Sans" panose="020C0503030203020204" pitchFamily="34" charset="0"/>
                        </a:rPr>
                        <a:t>100:123</a:t>
                      </a:r>
                      <a:endParaRPr 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r>
                        <a:rPr lang="en-US" altLang="zh-CN" sz="1400" dirty="0" smtClean="0">
                          <a:effectLst/>
                          <a:latin typeface="Huawei Sans" panose="020C0503030203020204" pitchFamily="34" charset="0"/>
                          <a:ea typeface="方正兰亭黑简体" panose="02000000000000000000" pitchFamily="2" charset="-122"/>
                          <a:sym typeface="Huawei Sans" panose="020C0503030203020204" pitchFamily="34" charset="0"/>
                        </a:rPr>
                        <a:t>200:432</a:t>
                      </a:r>
                      <a:endParaRPr 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33398">
                <a:tc>
                  <a:txBody>
                    <a:bodyPr/>
                    <a:lstStyle/>
                    <a:p>
                      <a:pPr algn="ctr"/>
                      <a:r>
                        <a:rPr lang="en-US" altLang="zh-CN" sz="1400" dirty="0" smtClean="0"/>
                        <a:t>ERT</a:t>
                      </a:r>
                      <a:endParaRPr lang="zh-CN" altLang="en-US" sz="1400" dirty="0"/>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en-US" altLang="zh-CN" sz="1400" dirty="0" smtClean="0">
                          <a:effectLst/>
                          <a:latin typeface="Huawei Sans" panose="020C0503030203020204" pitchFamily="34" charset="0"/>
                          <a:ea typeface="方正兰亭黑简体" panose="02000000000000000000" pitchFamily="2" charset="-122"/>
                          <a:sym typeface="Huawei Sans" panose="020C0503030203020204" pitchFamily="34" charset="0"/>
                        </a:rPr>
                        <a:t>100:123</a:t>
                      </a:r>
                      <a:endParaRPr 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r>
                        <a:rPr lang="en-US" altLang="zh-CN" sz="1400" dirty="0" smtClean="0">
                          <a:effectLst/>
                          <a:latin typeface="Huawei Sans" panose="020C0503030203020204" pitchFamily="34" charset="0"/>
                          <a:ea typeface="方正兰亭黑简体" panose="02000000000000000000" pitchFamily="2" charset="-122"/>
                          <a:sym typeface="Huawei Sans" panose="020C0503030203020204" pitchFamily="34" charset="0"/>
                        </a:rPr>
                        <a:t>200:432</a:t>
                      </a:r>
                      <a:endParaRPr 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r>
                        <a:rPr lang="en-US" altLang="zh-CN" sz="1400" dirty="0" smtClean="0">
                          <a:effectLst/>
                          <a:latin typeface="Huawei Sans" panose="020C0503030203020204" pitchFamily="34" charset="0"/>
                          <a:ea typeface="方正兰亭黑简体" panose="02000000000000000000" pitchFamily="2" charset="-122"/>
                          <a:sym typeface="Huawei Sans" panose="020C0503030203020204" pitchFamily="34" charset="0"/>
                        </a:rPr>
                        <a:t>100:321</a:t>
                      </a:r>
                      <a:endParaRPr 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r>
                        <a:rPr lang="en-US" altLang="zh-CN" sz="1400" dirty="0" smtClean="0">
                          <a:effectLst/>
                          <a:latin typeface="Huawei Sans" panose="020C0503030203020204" pitchFamily="34" charset="0"/>
                          <a:ea typeface="方正兰亭黑简体" panose="02000000000000000000" pitchFamily="2" charset="-122"/>
                          <a:sym typeface="Huawei Sans" panose="020C0503030203020204" pitchFamily="34" charset="0"/>
                        </a:rPr>
                        <a:t>200:234</a:t>
                      </a:r>
                      <a:endParaRPr 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3"/>
                  </a:ext>
                </a:extLst>
              </a:tr>
              <a:tr h="333398">
                <a:tc>
                  <a:txBody>
                    <a:bodyPr/>
                    <a:lstStyle/>
                    <a:p>
                      <a:pPr algn="ctr"/>
                      <a:r>
                        <a:rPr lang="zh-CN" altLang="en-US" sz="1400" dirty="0" smtClean="0"/>
                        <a:t>接口</a:t>
                      </a:r>
                      <a:endParaRPr lang="zh-CN" altLang="en-US" sz="1400" dirty="0"/>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en-US" sz="1400" dirty="0" smtClean="0">
                          <a:effectLst/>
                          <a:latin typeface="Huawei Sans" panose="020C0503030203020204" pitchFamily="34" charset="0"/>
                          <a:ea typeface="方正兰亭黑简体" panose="02000000000000000000" pitchFamily="2" charset="-122"/>
                          <a:sym typeface="Huawei Sans" panose="020C0503030203020204" pitchFamily="34" charset="0"/>
                        </a:rPr>
                        <a:t>GE0/0/1</a:t>
                      </a:r>
                      <a:endParaRPr 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r>
                        <a:rPr lang="en-US" sz="1400" dirty="0" smtClean="0">
                          <a:effectLst/>
                          <a:latin typeface="Huawei Sans" panose="020C0503030203020204" pitchFamily="34" charset="0"/>
                          <a:ea typeface="方正兰亭黑简体" panose="02000000000000000000" pitchFamily="2" charset="-122"/>
                          <a:sym typeface="Huawei Sans" panose="020C0503030203020204" pitchFamily="34" charset="0"/>
                        </a:rPr>
                        <a:t>GE0/0/2</a:t>
                      </a:r>
                      <a:endParaRPr 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r>
                        <a:rPr lang="en-US" sz="1400" dirty="0" smtClean="0">
                          <a:effectLst/>
                          <a:latin typeface="Huawei Sans" panose="020C0503030203020204" pitchFamily="34" charset="0"/>
                          <a:ea typeface="方正兰亭黑简体" panose="02000000000000000000" pitchFamily="2" charset="-122"/>
                          <a:sym typeface="Huawei Sans" panose="020C0503030203020204" pitchFamily="34" charset="0"/>
                        </a:rPr>
                        <a:t>GE0/0/1</a:t>
                      </a:r>
                      <a:endParaRPr 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r>
                        <a:rPr lang="en-US" sz="1400" dirty="0" smtClean="0">
                          <a:effectLst/>
                          <a:latin typeface="Huawei Sans" panose="020C0503030203020204" pitchFamily="34" charset="0"/>
                          <a:ea typeface="方正兰亭黑简体" panose="02000000000000000000" pitchFamily="2" charset="-122"/>
                          <a:sym typeface="Huawei Sans" panose="020C0503030203020204" pitchFamily="34" charset="0"/>
                        </a:rPr>
                        <a:t>GE0/0/2</a:t>
                      </a:r>
                      <a:endParaRPr 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45146">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400" dirty="0" smtClean="0">
                          <a:effectLst/>
                          <a:latin typeface="Huawei Sans" panose="020C0503030203020204" pitchFamily="34" charset="0"/>
                          <a:ea typeface="方正兰亭黑简体" panose="02000000000000000000" pitchFamily="2" charset="-122"/>
                          <a:sym typeface="Huawei Sans" panose="020C0503030203020204" pitchFamily="34" charset="0"/>
                        </a:rPr>
                        <a:t>MP-BGP</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gridSpan="2">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zh-CN" altLang="en-US" sz="1400" dirty="0" smtClean="0">
                          <a:effectLst/>
                          <a:latin typeface="Huawei Sans" panose="020C0503030203020204" pitchFamily="34" charset="0"/>
                          <a:ea typeface="方正兰亭黑简体" panose="02000000000000000000" pitchFamily="2" charset="-122"/>
                          <a:sym typeface="Huawei Sans" panose="020C0503030203020204" pitchFamily="34" charset="0"/>
                        </a:rPr>
                        <a:t>源接口：</a:t>
                      </a:r>
                      <a:r>
                        <a:rPr lang="en-US" sz="1400" dirty="0" smtClean="0">
                          <a:effectLst/>
                          <a:latin typeface="Huawei Sans" panose="020C0503030203020204" pitchFamily="34" charset="0"/>
                          <a:ea typeface="方正兰亭黑简体" panose="02000000000000000000" pitchFamily="2" charset="-122"/>
                          <a:sym typeface="Huawei Sans" panose="020C0503030203020204" pitchFamily="34" charset="0"/>
                        </a:rPr>
                        <a:t>L</a:t>
                      </a:r>
                      <a:r>
                        <a:rPr lang="en-US" altLang="zh-CN" sz="1400" dirty="0" smtClean="0">
                          <a:effectLst/>
                          <a:latin typeface="Huawei Sans" panose="020C0503030203020204" pitchFamily="34" charset="0"/>
                          <a:ea typeface="方正兰亭黑简体" panose="02000000000000000000" pitchFamily="2" charset="-122"/>
                          <a:sym typeface="Huawei Sans" panose="020C0503030203020204" pitchFamily="34" charset="0"/>
                        </a:rPr>
                        <a:t>oopback0</a:t>
                      </a:r>
                      <a:endParaRPr 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hMerge="1">
                  <a:txBody>
                    <a:bodyPr/>
                    <a:lstStyle/>
                    <a:p>
                      <a:endParaRPr lang="zh-CN" altLang="en-US"/>
                    </a:p>
                  </a:txBody>
                  <a:tcPr/>
                </a:tc>
                <a:tc gridSpan="2">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zh-CN" altLang="en-US" sz="1400" dirty="0" smtClean="0">
                          <a:effectLst/>
                          <a:latin typeface="Huawei Sans" panose="020C0503030203020204" pitchFamily="34" charset="0"/>
                          <a:ea typeface="方正兰亭黑简体" panose="02000000000000000000" pitchFamily="2" charset="-122"/>
                          <a:sym typeface="Huawei Sans" panose="020C0503030203020204" pitchFamily="34" charset="0"/>
                        </a:rPr>
                        <a:t>源接口：</a:t>
                      </a:r>
                      <a:r>
                        <a:rPr lang="en-US" altLang="zh-CN" sz="1400" dirty="0" smtClean="0">
                          <a:effectLst/>
                          <a:latin typeface="Huawei Sans" panose="020C0503030203020204" pitchFamily="34" charset="0"/>
                          <a:ea typeface="方正兰亭黑简体" panose="02000000000000000000" pitchFamily="2" charset="-122"/>
                          <a:sym typeface="Huawei Sans" panose="020C0503030203020204" pitchFamily="34" charset="0"/>
                        </a:rPr>
                        <a:t>Loopback0</a:t>
                      </a:r>
                      <a:endParaRPr 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hMerge="1">
                  <a:txBody>
                    <a:bodyPr/>
                    <a:lstStyle/>
                    <a:p>
                      <a:endParaRPr lang="zh-CN" altLang="en-US"/>
                    </a:p>
                  </a:txBody>
                  <a:tcPr/>
                </a:tc>
              </a:tr>
            </a:tbl>
          </a:graphicData>
        </a:graphic>
      </p:graphicFrame>
    </p:spTree>
    <p:extLst>
      <p:ext uri="{BB962C8B-B14F-4D97-AF65-F5344CB8AC3E}">
        <p14:creationId xmlns:p14="http://schemas.microsoft.com/office/powerpoint/2010/main" val="187298905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smtClean="0"/>
              <a:t>MPLS VPN</a:t>
            </a:r>
            <a:r>
              <a:rPr lang="zh-CN" altLang="en-US" smtClean="0"/>
              <a:t>骨干网配置 </a:t>
            </a:r>
            <a:r>
              <a:rPr lang="en-US" altLang="zh-CN" smtClean="0"/>
              <a:t>(1)</a:t>
            </a:r>
            <a:endParaRPr lang="en-US" altLang="zh-CN" dirty="0"/>
          </a:p>
        </p:txBody>
      </p:sp>
      <p:sp>
        <p:nvSpPr>
          <p:cNvPr id="4" name="矩形 3"/>
          <p:cNvSpPr/>
          <p:nvPr/>
        </p:nvSpPr>
        <p:spPr bwMode="gray">
          <a:xfrm>
            <a:off x="446087" y="1249537"/>
            <a:ext cx="11299825" cy="830997"/>
          </a:xfrm>
          <a:prstGeom prst="rect">
            <a:avLst/>
          </a:prstGeom>
        </p:spPr>
        <p:txBody>
          <a:bodyPr wrap="square">
            <a:spAutoFit/>
          </a:bodyPr>
          <a:lstStyle/>
          <a:p>
            <a:pPr>
              <a:lnSpc>
                <a:spcPct val="150000"/>
              </a:lnSpc>
              <a:spcBef>
                <a:spcPct val="0"/>
              </a:spcBef>
              <a:spcAft>
                <a:spcPct val="0"/>
              </a:spcAft>
            </a:pPr>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1.1 </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MPLS VPN</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骨干网络内部署</a:t>
            </a:r>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MPLS VPN</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骨干网络内部署的</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用于实现骨干网络内部的路由互通</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50000"/>
              </a:lnSpc>
              <a:spcBef>
                <a:spcPct val="0"/>
              </a:spcBef>
              <a:spcAft>
                <a:spcPct val="0"/>
              </a:spcAft>
            </a:pP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以</a:t>
            </a:r>
            <a:r>
              <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PE1</a:t>
            </a: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节点的</a:t>
            </a:r>
            <a:r>
              <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OSPF</a:t>
            </a: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配置为例。</a:t>
            </a:r>
            <a:endPar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5" name="矩形 30"/>
          <p:cNvSpPr/>
          <p:nvPr/>
        </p:nvSpPr>
        <p:spPr bwMode="gray">
          <a:xfrm>
            <a:off x="823623" y="2048822"/>
            <a:ext cx="10149177" cy="954107"/>
          </a:xfrm>
          <a:prstGeom prst="rect">
            <a:avLst/>
          </a:prstGeom>
          <a:solidFill>
            <a:schemeClr val="bg1">
              <a:lumMod val="85000"/>
            </a:schemeClr>
          </a:solidFill>
          <a:ln>
            <a:noFill/>
          </a:ln>
        </p:spPr>
        <p:txBody>
          <a:bodyPr wrap="square" rtlCol="0">
            <a:spAutoFit/>
          </a:bodyPr>
          <a:lstStyle/>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[PE1]</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ospf</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100 router-id 1.1.1.1</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[PE1-ospf-100]area 0</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[PE1-ospf-100-area-0.0.0.0]network 10.0.12.1 0.0.0.0</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[PE1-ospf-100-area-0.0.0.0]network 1.1.1.1 0.0.0.0</a:t>
            </a:r>
          </a:p>
        </p:txBody>
      </p:sp>
      <p:sp>
        <p:nvSpPr>
          <p:cNvPr id="13" name="矩形 12"/>
          <p:cNvSpPr/>
          <p:nvPr/>
        </p:nvSpPr>
        <p:spPr bwMode="gray">
          <a:xfrm>
            <a:off x="446088" y="3330241"/>
            <a:ext cx="11299825" cy="461665"/>
          </a:xfrm>
          <a:prstGeom prst="rect">
            <a:avLst/>
          </a:prstGeom>
        </p:spPr>
        <p:txBody>
          <a:bodyPr wrap="square">
            <a:spAutoFit/>
          </a:bodyPr>
          <a:lstStyle/>
          <a:p>
            <a:pPr>
              <a:lnSpc>
                <a:spcPct val="150000"/>
              </a:lnSpc>
              <a:spcBef>
                <a:spcPct val="0"/>
              </a:spcBef>
              <a:spcAft>
                <a:spcPct val="0"/>
              </a:spcAft>
            </a:pPr>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1.2 </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PE1</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P</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PE2</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节点配置</a:t>
            </a:r>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MPLS</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及</a:t>
            </a:r>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LDP</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，以</a:t>
            </a:r>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PE1</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为例。</a:t>
            </a:r>
            <a:endPar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矩形 30"/>
          <p:cNvSpPr/>
          <p:nvPr/>
        </p:nvSpPr>
        <p:spPr bwMode="gray">
          <a:xfrm>
            <a:off x="823624" y="3742170"/>
            <a:ext cx="10149177" cy="1600438"/>
          </a:xfrm>
          <a:prstGeom prst="rect">
            <a:avLst/>
          </a:prstGeom>
          <a:solidFill>
            <a:schemeClr val="bg1">
              <a:lumMod val="85000"/>
            </a:schemeClr>
          </a:solidFill>
          <a:ln>
            <a:noFill/>
          </a:ln>
        </p:spPr>
        <p:txBody>
          <a:bodyPr wrap="square" rtlCol="0">
            <a:spAutoFit/>
          </a:bodyPr>
          <a:lstStyle/>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[PE1]</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mpls</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lsr</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-id 1.1.1.1</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[PE1]</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mpls</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Info: </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Mpls</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starting, please wait... OK!</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[PE1-mpls]</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mpls</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ldp</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[PE1-mpls-ldp]Interface </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GigabitEthernet</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0/0/0</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[PE1-GigabitEthernet0/0/0]</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mpls</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[PE1-GigabitEthernet0/0/0]</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mpls</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ldp</a:t>
            </a:r>
            <a:endPar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Tree>
    <p:extLst>
      <p:ext uri="{BB962C8B-B14F-4D97-AF65-F5344CB8AC3E}">
        <p14:creationId xmlns:p14="http://schemas.microsoft.com/office/powerpoint/2010/main" val="1931667532"/>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smtClean="0"/>
              <a:t>MPLS VPN</a:t>
            </a:r>
            <a:r>
              <a:rPr lang="zh-CN" altLang="en-US" smtClean="0"/>
              <a:t>骨干网配置 </a:t>
            </a:r>
            <a:r>
              <a:rPr lang="en-US" altLang="zh-CN" smtClean="0"/>
              <a:t>(2)</a:t>
            </a:r>
            <a:endParaRPr lang="en-US" altLang="zh-CN" dirty="0"/>
          </a:p>
        </p:txBody>
      </p:sp>
      <p:sp>
        <p:nvSpPr>
          <p:cNvPr id="4" name="矩形 3"/>
          <p:cNvSpPr/>
          <p:nvPr/>
        </p:nvSpPr>
        <p:spPr bwMode="gray">
          <a:xfrm>
            <a:off x="446087" y="1249537"/>
            <a:ext cx="11299825" cy="461665"/>
          </a:xfrm>
          <a:prstGeom prst="rect">
            <a:avLst/>
          </a:prstGeom>
        </p:spPr>
        <p:txBody>
          <a:bodyPr wrap="square">
            <a:spAutoFit/>
          </a:bodyPr>
          <a:lstStyle/>
          <a:p>
            <a:pPr>
              <a:lnSpc>
                <a:spcPct val="150000"/>
              </a:lnSpc>
              <a:spcBef>
                <a:spcPct val="0"/>
              </a:spcBef>
              <a:spcAft>
                <a:spcPct val="0"/>
              </a:spcAft>
            </a:pPr>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1.3 </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PE1</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及</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PE2</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之间建立</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MP-BGP</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对等体</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关系，以</a:t>
            </a:r>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PE1</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为例。</a:t>
            </a:r>
            <a:endPar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矩形 30"/>
          <p:cNvSpPr/>
          <p:nvPr/>
        </p:nvSpPr>
        <p:spPr bwMode="gray">
          <a:xfrm>
            <a:off x="823622" y="1643089"/>
            <a:ext cx="10149177" cy="1600438"/>
          </a:xfrm>
          <a:prstGeom prst="rect">
            <a:avLst/>
          </a:prstGeom>
          <a:solidFill>
            <a:schemeClr val="bg1">
              <a:lumMod val="85000"/>
            </a:schemeClr>
          </a:solidFill>
          <a:ln>
            <a:noFill/>
          </a:ln>
        </p:spPr>
        <p:txBody>
          <a:bodyPr wrap="square" rtlCol="0">
            <a:spAutoFit/>
          </a:bodyPr>
          <a:lstStyle/>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[PE1]</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bgp</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123</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[PE1-bgp]router-id 1.1.1.1</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[PE1-bgp]peer 3.3.3.3 as-number 123</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[PE1-bgp]peer 3.3.3.3 connect-interface </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LoopBack</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0</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进入</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BGP-VPNv4</a:t>
            </a:r>
            <a:r>
              <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地址族</a:t>
            </a:r>
            <a:r>
              <a:rPr lang="zh-CN" altLang="en-US"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视图，并使</a:t>
            </a:r>
            <a:r>
              <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能与对等体</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3.3.3.3</a:t>
            </a:r>
            <a:r>
              <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的</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VPNv4</a:t>
            </a:r>
            <a:r>
              <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地址族能力。</a:t>
            </a:r>
            <a:endPar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PE1-bgp]ipv4-family vpnv4 unicast </a:t>
            </a:r>
          </a:p>
          <a:p>
            <a:r>
              <a:rPr lang="en-US" altLang="zh-CN"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PE1-bgp-af-vpnv4]peer 3.3.3.3 </a:t>
            </a:r>
            <a:r>
              <a:rPr lang="en-US" altLang="zh-CN"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enable</a:t>
            </a:r>
            <a:endPar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Tree>
    <p:extLst>
      <p:ext uri="{BB962C8B-B14F-4D97-AF65-F5344CB8AC3E}">
        <p14:creationId xmlns:p14="http://schemas.microsoft.com/office/powerpoint/2010/main" val="23288923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dirty="0" smtClean="0"/>
              <a:t>MPLS VPN</a:t>
            </a:r>
            <a:r>
              <a:rPr lang="zh-CN" altLang="en-US" dirty="0" smtClean="0"/>
              <a:t>骨干网配置：配置验证</a:t>
            </a:r>
            <a:endParaRPr lang="zh-CN" altLang="en-US" dirty="0"/>
          </a:p>
        </p:txBody>
      </p:sp>
      <p:sp>
        <p:nvSpPr>
          <p:cNvPr id="4" name="矩形 3"/>
          <p:cNvSpPr/>
          <p:nvPr/>
        </p:nvSpPr>
        <p:spPr bwMode="gray">
          <a:xfrm>
            <a:off x="446087" y="1249537"/>
            <a:ext cx="11299825" cy="461665"/>
          </a:xfrm>
          <a:prstGeom prst="rect">
            <a:avLst/>
          </a:prstGeom>
        </p:spPr>
        <p:txBody>
          <a:bodyPr wrap="square">
            <a:spAutoFit/>
          </a:bodyPr>
          <a:lstStyle/>
          <a:p>
            <a:pPr>
              <a:lnSpc>
                <a:spcPct val="150000"/>
              </a:lnSpc>
              <a:spcBef>
                <a:spcPct val="0"/>
              </a:spcBef>
              <a:spcAft>
                <a:spcPct val="0"/>
              </a:spcAft>
            </a:pP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查看</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公</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网隧道建立情况</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矩形 30"/>
          <p:cNvSpPr>
            <a:spLocks/>
          </p:cNvSpPr>
          <p:nvPr/>
        </p:nvSpPr>
        <p:spPr bwMode="gray">
          <a:xfrm>
            <a:off x="648954" y="1714551"/>
            <a:ext cx="5022381" cy="1384995"/>
          </a:xfrm>
          <a:prstGeom prst="rect">
            <a:avLst/>
          </a:prstGeom>
          <a:solidFill>
            <a:schemeClr val="bg1">
              <a:lumMod val="85000"/>
            </a:schemeClr>
          </a:solidFill>
          <a:ln>
            <a:noFill/>
          </a:ln>
        </p:spPr>
        <p:txBody>
          <a:bodyPr wrap="square" rtlCol="0">
            <a:spAutoFit/>
          </a:bodyPr>
          <a:lstStyle/>
          <a:p>
            <a:r>
              <a:rPr lang="en-US" altLang="zh-CN" sz="12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[PE1]display </a:t>
            </a:r>
            <a:r>
              <a:rPr lang="en-US" altLang="zh-CN" sz="12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mpls</a:t>
            </a:r>
            <a:r>
              <a:rPr lang="en-US" altLang="zh-CN" sz="12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2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lsp</a:t>
            </a:r>
            <a:r>
              <a:rPr lang="en-US" altLang="zh-CN" sz="12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p>
          <a:p>
            <a:r>
              <a:rPr lang="en-US" altLang="zh-CN" sz="12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p>
          <a:p>
            <a:pPr algn="ctr"/>
            <a:r>
              <a:rPr lang="en-US" altLang="zh-CN" sz="12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LSP </a:t>
            </a:r>
            <a:r>
              <a:rPr lang="en-US" altLang="zh-CN" sz="12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Information: LDP LSP</a:t>
            </a:r>
          </a:p>
          <a:p>
            <a:r>
              <a:rPr lang="en-US" altLang="zh-CN" sz="12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p>
          <a:p>
            <a:r>
              <a:rPr lang="en-US" altLang="zh-CN" sz="12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FEC         </a:t>
            </a:r>
            <a:r>
              <a:rPr lang="en-US" altLang="zh-CN" sz="12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In/Out Label		In/Out </a:t>
            </a:r>
            <a:r>
              <a:rPr lang="en-US" altLang="zh-CN" sz="12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IF </a:t>
            </a:r>
            <a:r>
              <a:rPr lang="en-US" altLang="zh-CN" sz="12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200" dirty="0" err="1"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Vrf</a:t>
            </a:r>
            <a:r>
              <a:rPr lang="en-US" altLang="zh-CN" sz="12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2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Name  </a:t>
            </a:r>
            <a:r>
              <a:rPr lang="en-US" altLang="zh-CN" sz="12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endParaRPr lang="en-US" altLang="zh-CN" sz="12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2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3.3.3.3/32  	NULL/1025     	-/</a:t>
            </a:r>
            <a:r>
              <a:rPr lang="en-US" altLang="zh-CN" sz="12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GE0/0/0           </a:t>
            </a:r>
            <a:endParaRPr lang="en-US" altLang="zh-CN" sz="12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200" dirty="0"/>
              <a:t>1.1.1.1/32  </a:t>
            </a:r>
            <a:r>
              <a:rPr lang="en-US" altLang="zh-CN" sz="1200" dirty="0" smtClean="0"/>
              <a:t>	3/NULL        		-/- </a:t>
            </a:r>
            <a:r>
              <a:rPr lang="en-US" altLang="zh-CN" sz="12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endParaRPr lang="en-US" altLang="zh-CN" sz="12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7" name="矩形 30"/>
          <p:cNvSpPr>
            <a:spLocks/>
          </p:cNvSpPr>
          <p:nvPr/>
        </p:nvSpPr>
        <p:spPr bwMode="gray">
          <a:xfrm>
            <a:off x="6508057" y="1714551"/>
            <a:ext cx="5022381" cy="1384995"/>
          </a:xfrm>
          <a:prstGeom prst="rect">
            <a:avLst/>
          </a:prstGeom>
          <a:solidFill>
            <a:schemeClr val="bg1">
              <a:lumMod val="85000"/>
            </a:schemeClr>
          </a:solidFill>
          <a:ln>
            <a:noFill/>
          </a:ln>
        </p:spPr>
        <p:txBody>
          <a:bodyPr wrap="square" rtlCol="0">
            <a:spAutoFit/>
          </a:bodyPr>
          <a:lstStyle/>
          <a:p>
            <a:r>
              <a:rPr lang="en-US" altLang="zh-CN" sz="12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[PE2]display </a:t>
            </a:r>
            <a:r>
              <a:rPr lang="en-US" altLang="zh-CN" sz="12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mpls</a:t>
            </a:r>
            <a:r>
              <a:rPr lang="en-US" altLang="zh-CN" sz="12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 </a:t>
            </a:r>
            <a:r>
              <a:rPr lang="en-US" altLang="zh-CN" sz="12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lsp</a:t>
            </a:r>
            <a:r>
              <a:rPr lang="en-US" altLang="zh-CN" sz="12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 </a:t>
            </a:r>
            <a:endParaRPr lang="zh-CN" altLang="en-US" sz="12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endParaRPr>
          </a:p>
          <a:p>
            <a:r>
              <a:rPr lang="en-US" altLang="zh-CN" sz="12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a:t>
            </a:r>
            <a:endParaRPr lang="zh-CN" altLang="en-US" sz="12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endParaRPr>
          </a:p>
          <a:p>
            <a:pPr algn="ctr"/>
            <a:r>
              <a:rPr lang="en-US" altLang="zh-CN" sz="12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LSP Information: LDP LSP</a:t>
            </a:r>
            <a:endParaRPr lang="zh-CN" altLang="en-US" sz="12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endParaRPr>
          </a:p>
          <a:p>
            <a:r>
              <a:rPr lang="en-US" altLang="zh-CN" sz="12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a:t>
            </a:r>
            <a:endParaRPr lang="zh-CN" altLang="en-US" sz="12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endParaRPr>
          </a:p>
          <a:p>
            <a:r>
              <a:rPr lang="en-US" altLang="zh-CN" sz="12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FEC  	In/Out Label  	In/Out IF	</a:t>
            </a:r>
            <a:r>
              <a:rPr lang="en-US" altLang="zh-CN" sz="12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Vrf</a:t>
            </a:r>
            <a:r>
              <a:rPr lang="en-US" altLang="zh-CN" sz="12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 Name       </a:t>
            </a:r>
            <a:endParaRPr lang="zh-CN" altLang="en-US" sz="12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endParaRPr>
          </a:p>
          <a:p>
            <a:r>
              <a:rPr lang="en-US" altLang="zh-CN" sz="12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3.3.3.3/32   	3/NULL        		-/-                                           </a:t>
            </a:r>
            <a:endParaRPr lang="zh-CN" altLang="en-US" sz="12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endParaRPr>
          </a:p>
          <a:p>
            <a:r>
              <a:rPr lang="en-US" altLang="zh-CN" sz="12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1.1.1.1/32   	NULL/1024     	-/GE0/0/0                                     </a:t>
            </a:r>
            <a:endParaRPr lang="zh-CN" altLang="en-US" sz="12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endParaRPr>
          </a:p>
        </p:txBody>
      </p:sp>
      <p:sp>
        <p:nvSpPr>
          <p:cNvPr id="8" name="矩形 7"/>
          <p:cNvSpPr/>
          <p:nvPr/>
        </p:nvSpPr>
        <p:spPr bwMode="gray">
          <a:xfrm>
            <a:off x="383013" y="3596497"/>
            <a:ext cx="11299825" cy="461665"/>
          </a:xfrm>
          <a:prstGeom prst="rect">
            <a:avLst/>
          </a:prstGeom>
        </p:spPr>
        <p:txBody>
          <a:bodyPr wrap="square">
            <a:spAutoFit/>
          </a:bodyPr>
          <a:lstStyle/>
          <a:p>
            <a:pPr>
              <a:lnSpc>
                <a:spcPct val="150000"/>
              </a:lnSpc>
              <a:spcBef>
                <a:spcPct val="0"/>
              </a:spcBef>
              <a:spcAft>
                <a:spcPct val="0"/>
              </a:spcAft>
            </a:pP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查看</a:t>
            </a:r>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MP-BGP</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邻居状态，以</a:t>
            </a:r>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PE1</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为例。</a:t>
            </a:r>
            <a:endPar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矩形 30"/>
          <p:cNvSpPr>
            <a:spLocks/>
          </p:cNvSpPr>
          <p:nvPr/>
        </p:nvSpPr>
        <p:spPr bwMode="gray">
          <a:xfrm>
            <a:off x="1371188" y="4087948"/>
            <a:ext cx="9063729" cy="1600438"/>
          </a:xfrm>
          <a:prstGeom prst="rect">
            <a:avLst/>
          </a:prstGeom>
          <a:solidFill>
            <a:schemeClr val="bg1">
              <a:lumMod val="85000"/>
            </a:schemeClr>
          </a:solidFill>
          <a:ln>
            <a:noFill/>
          </a:ln>
        </p:spPr>
        <p:txBody>
          <a:bodyPr wrap="square" rtlCol="0">
            <a:spAutoFit/>
          </a:bodyPr>
          <a:lstStyle/>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[PE1]display </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bgp</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 vpnv4 all peer </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endParaRPr>
          </a:p>
          <a:p>
            <a:r>
              <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 </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BGP local router ID : 1.1.1.1</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endParaRPr>
          </a:p>
          <a:p>
            <a:r>
              <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 </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Local AS number : 123</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endParaRPr>
          </a:p>
          <a:p>
            <a:r>
              <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 </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Total number of peers : 1</a:t>
            </a:r>
            <a:r>
              <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		  </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Peers in established state : 1</a:t>
            </a:r>
          </a:p>
          <a:p>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endParaRPr>
          </a:p>
          <a:p>
            <a:r>
              <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  </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Peer	V	AS     </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MsgRcvd</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  </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MsgSent</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  </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OutQ</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  	</a:t>
            </a:r>
            <a:r>
              <a:rPr lang="en-US" altLang="zh-CN"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Up/Down </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	State Pre  	</a:t>
            </a:r>
            <a:r>
              <a:rPr lang="en-US" altLang="zh-CN"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	</a:t>
            </a:r>
            <a:r>
              <a:rPr lang="en-US" altLang="zh-CN" sz="1400" dirty="0" err="1"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fRcv</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endParaRPr>
          </a:p>
          <a:p>
            <a:r>
              <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  </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3.3.3.3 	4	123   16            18         </a:t>
            </a:r>
            <a:r>
              <a:rPr lang="en-US" altLang="zh-CN"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  0 	00:14:20 </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	Established </a:t>
            </a:r>
            <a:r>
              <a:rPr lang="en-US" altLang="zh-CN"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	0</a:t>
            </a:r>
            <a:endPar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Tree>
    <p:extLst>
      <p:ext uri="{BB962C8B-B14F-4D97-AF65-F5344CB8AC3E}">
        <p14:creationId xmlns:p14="http://schemas.microsoft.com/office/powerpoint/2010/main" val="205032394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smtClean="0"/>
              <a:t>VPN</a:t>
            </a:r>
            <a:r>
              <a:rPr lang="zh-CN" altLang="en-US" smtClean="0"/>
              <a:t>用户接入配置 </a:t>
            </a:r>
            <a:r>
              <a:rPr lang="en-US" altLang="zh-CN" smtClean="0"/>
              <a:t>(1)</a:t>
            </a:r>
            <a:endParaRPr lang="en-US" altLang="zh-CN" dirty="0"/>
          </a:p>
        </p:txBody>
      </p:sp>
      <p:sp>
        <p:nvSpPr>
          <p:cNvPr id="12" name="矩形 30"/>
          <p:cNvSpPr/>
          <p:nvPr/>
        </p:nvSpPr>
        <p:spPr bwMode="gray">
          <a:xfrm>
            <a:off x="726802" y="1590378"/>
            <a:ext cx="10149177" cy="3539430"/>
          </a:xfrm>
          <a:prstGeom prst="rect">
            <a:avLst/>
          </a:prstGeom>
          <a:solidFill>
            <a:schemeClr val="bg1">
              <a:lumMod val="85000"/>
            </a:schemeClr>
          </a:solidFill>
          <a:ln>
            <a:noFill/>
          </a:ln>
        </p:spPr>
        <p:txBody>
          <a:bodyPr wrap="square" rtlCol="0">
            <a:spAutoFit/>
          </a:bodyPr>
          <a:lstStyle/>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[PE1]</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ip</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 </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vpn</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-instance VPNX</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endParaRP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[PE1-vpn-instance-VPNX]route-distinguisher 100:1</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endParaRP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[PE1-vpn-instance-VPNX-af-ipv4] </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vpn</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-target 100:321 import-</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extcommunity</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 </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endParaRPr>
          </a:p>
          <a:p>
            <a:r>
              <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 </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IVT Assignment result: </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endParaRP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Info: VPN-Target assignment is successful.</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endParaRP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a:t>
            </a:r>
            <a:r>
              <a:rPr lang="en-US" altLang="zh-CN"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PE1-vpn-instance-VPNX-af-ipv4]</a:t>
            </a:r>
            <a:r>
              <a:rPr lang="en-US" altLang="zh-CN" sz="1400" dirty="0" err="1"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vpn</a:t>
            </a:r>
            <a:r>
              <a:rPr lang="en-US" altLang="zh-CN"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-target </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100:123 export-</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extcommunity</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 </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endParaRPr>
          </a:p>
          <a:p>
            <a:r>
              <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 </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EVT Assignment result: </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endParaRP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Info: VPN-Target assignment is successful.</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endParaRP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[PE1-vpn-instance-VPNX-af-ipv4] quit</a:t>
            </a: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[PE1-vpn-instance-VPNX]quit</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endParaRP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[PE1]</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ip</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 </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vpn</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-instance VPNY</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endParaRP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[PE1-vpn-instance-VPNY]route-distinguisher 200:1</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endParaRP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[PE1-vpn-instance-VPNY-af-ipv4]</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vpn</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-target 200:234 import-</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extcommunity</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 </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endParaRP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[PE1-vpn-instance-VPNY-af-ipv4]</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vpn</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-target 200:432 export-</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extcommunity</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 </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endParaRP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[PE1-vpn-instance-VPNY-af-ipv4]quit</a:t>
            </a: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rPr>
              <a:t>[PE1-vpn-instance-VPNY]quit</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endParaRPr>
          </a:p>
        </p:txBody>
      </p:sp>
      <p:sp>
        <p:nvSpPr>
          <p:cNvPr id="11" name="矩形 10"/>
          <p:cNvSpPr/>
          <p:nvPr/>
        </p:nvSpPr>
        <p:spPr bwMode="gray">
          <a:xfrm>
            <a:off x="446088" y="1128713"/>
            <a:ext cx="11299825" cy="461665"/>
          </a:xfrm>
          <a:prstGeom prst="rect">
            <a:avLst/>
          </a:prstGeom>
        </p:spPr>
        <p:txBody>
          <a:bodyPr wrap="square">
            <a:spAutoFit/>
          </a:bodyPr>
          <a:lstStyle/>
          <a:p>
            <a:pPr>
              <a:lnSpc>
                <a:spcPct val="150000"/>
              </a:lnSpc>
              <a:spcBef>
                <a:spcPct val="0"/>
              </a:spcBef>
              <a:spcAft>
                <a:spcPct val="0"/>
              </a:spcAft>
            </a:pPr>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2.1 </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创建</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实例</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并按照规划配置</a:t>
            </a:r>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RD</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RT</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参数，以</a:t>
            </a:r>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PE1</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为例。</a:t>
            </a:r>
            <a:endPar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294448192"/>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smtClean="0"/>
              <a:t>VPN</a:t>
            </a:r>
            <a:r>
              <a:rPr lang="zh-CN" altLang="en-US" smtClean="0"/>
              <a:t>用户接入配置 </a:t>
            </a:r>
            <a:r>
              <a:rPr lang="en-US" altLang="zh-CN" smtClean="0"/>
              <a:t>(2)</a:t>
            </a:r>
            <a:endParaRPr lang="zh-CN" altLang="en-US" dirty="0">
              <a:sym typeface="Huawei Sans" panose="020C0503030203020204" pitchFamily="34" charset="0"/>
            </a:endParaRPr>
          </a:p>
        </p:txBody>
      </p:sp>
      <p:sp>
        <p:nvSpPr>
          <p:cNvPr id="4" name="矩形 3"/>
          <p:cNvSpPr/>
          <p:nvPr/>
        </p:nvSpPr>
        <p:spPr bwMode="gray">
          <a:xfrm>
            <a:off x="446087" y="1249537"/>
            <a:ext cx="11299825" cy="461665"/>
          </a:xfrm>
          <a:prstGeom prst="rect">
            <a:avLst/>
          </a:prstGeom>
        </p:spPr>
        <p:txBody>
          <a:bodyPr wrap="square">
            <a:spAutoFit/>
          </a:bodyPr>
          <a:lstStyle/>
          <a:p>
            <a:pPr>
              <a:lnSpc>
                <a:spcPct val="150000"/>
              </a:lnSpc>
              <a:spcBef>
                <a:spcPct val="0"/>
              </a:spcBef>
              <a:spcAft>
                <a:spcPct val="0"/>
              </a:spcAft>
            </a:pPr>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2.2 </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将接口绑定到</a:t>
            </a:r>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实例。</a:t>
            </a:r>
            <a:endPar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矩形 30"/>
          <p:cNvSpPr/>
          <p:nvPr/>
        </p:nvSpPr>
        <p:spPr bwMode="gray">
          <a:xfrm>
            <a:off x="726802" y="1711202"/>
            <a:ext cx="10149177" cy="2246769"/>
          </a:xfrm>
          <a:prstGeom prst="rect">
            <a:avLst/>
          </a:prstGeom>
          <a:solidFill>
            <a:schemeClr val="bg1">
              <a:lumMod val="85000"/>
            </a:schemeClr>
          </a:solidFill>
          <a:ln>
            <a:noFill/>
          </a:ln>
        </p:spPr>
        <p:txBody>
          <a:bodyPr wrap="square" rtlCol="0">
            <a:spAutoFit/>
          </a:bodyPr>
          <a:lstStyle/>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[PE1]interface </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GigabitEthernet</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0/0/1</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[PE1-GigabitEthernet0/0/1]</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ip</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binding </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vpn</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-instance VPNX</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Info: All IPv4 related configurations on this interface are removed!</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Info: All IPv6 related configurations on this interface are removed!</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[PE1-GigabitEthernet0/0/1]</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ip</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address 192.168.100.2 24</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[PE1-GigabitEthernet0/0/1]interface </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GigabitEthernet</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0/0/2</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[PE1-GigabitEthernet0/0/2]</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ip</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binding </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vpn</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-instance VPNY</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Info: All IPv4 related configurations on this interface are removed!</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Info: All IPv6 related configurations on this interface are removed!</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[PE1-GigabitEthernet0/0/2]</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ip</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address 192.168.100.2 24</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Tree>
    <p:extLst>
      <p:ext uri="{BB962C8B-B14F-4D97-AF65-F5344CB8AC3E}">
        <p14:creationId xmlns:p14="http://schemas.microsoft.com/office/powerpoint/2010/main" val="1665416275"/>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smtClean="0"/>
              <a:t>VPN</a:t>
            </a:r>
            <a:r>
              <a:rPr lang="zh-CN" altLang="en-US" smtClean="0"/>
              <a:t>用户接入配置 </a:t>
            </a:r>
            <a:r>
              <a:rPr lang="en-US" altLang="zh-CN" smtClean="0"/>
              <a:t>(3)</a:t>
            </a:r>
            <a:endParaRPr lang="zh-CN" altLang="en-US" dirty="0"/>
          </a:p>
        </p:txBody>
      </p:sp>
      <p:sp>
        <p:nvSpPr>
          <p:cNvPr id="3" name="矩形 30"/>
          <p:cNvSpPr/>
          <p:nvPr/>
        </p:nvSpPr>
        <p:spPr bwMode="gray">
          <a:xfrm>
            <a:off x="6263100" y="2292314"/>
            <a:ext cx="5077610" cy="1169551"/>
          </a:xfrm>
          <a:prstGeom prst="rect">
            <a:avLst/>
          </a:prstGeom>
          <a:solidFill>
            <a:schemeClr val="bg1">
              <a:lumMod val="85000"/>
            </a:schemeClr>
          </a:solidFill>
          <a:ln>
            <a:noFill/>
          </a:ln>
        </p:spPr>
        <p:txBody>
          <a:bodyPr wrap="square" rtlCol="0">
            <a:spAutoFit/>
          </a:bodyPr>
          <a:lstStyle/>
          <a:p>
            <a:r>
              <a:rPr lang="en-US" altLang="zh-CN"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zh-CN" altLang="en-US"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a:t>
            </a:r>
            <a:r>
              <a:rPr lang="en-US" altLang="zh-CN"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CE2</a:t>
            </a:r>
            <a:r>
              <a:rPr lang="zh-CN" altLang="en-US"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上的</a:t>
            </a:r>
            <a:r>
              <a:rPr lang="en-US" altLang="zh-CN"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EBGP</a:t>
            </a:r>
            <a:r>
              <a:rPr lang="zh-CN" altLang="en-US"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，并引入直连路由</a:t>
            </a:r>
            <a:r>
              <a:rPr lang="en-US" altLang="zh-CN"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192.168.1.0/24</a:t>
            </a:r>
          </a:p>
          <a:p>
            <a:r>
              <a:rPr lang="en-US" altLang="zh-CN" sz="1400" dirty="0"/>
              <a:t>[CE2]BGP </a:t>
            </a:r>
            <a:r>
              <a:rPr lang="en-US" altLang="zh-CN" sz="1400" dirty="0" smtClean="0"/>
              <a:t>200</a:t>
            </a:r>
            <a:endParaRPr lang="zh-CN" altLang="en-US" sz="1400" dirty="0"/>
          </a:p>
          <a:p>
            <a:r>
              <a:rPr lang="en-US" altLang="zh-CN" sz="1400" dirty="0"/>
              <a:t>[CE2-bgp]peer 192.168.100.2 as-number 123</a:t>
            </a:r>
            <a:endParaRPr lang="zh-CN" altLang="en-US" sz="1400" dirty="0"/>
          </a:p>
          <a:p>
            <a:r>
              <a:rPr lang="en-US" altLang="zh-CN" sz="1400" dirty="0" smtClean="0"/>
              <a:t>[</a:t>
            </a:r>
            <a:r>
              <a:rPr lang="en-US" altLang="zh-CN" sz="1400" dirty="0"/>
              <a:t>CE2-bgp]network 192.168.1.0 24</a:t>
            </a:r>
            <a:endParaRPr lang="zh-CN" altLang="en-US" sz="1400" dirty="0"/>
          </a:p>
          <a:p>
            <a:r>
              <a:rPr lang="en-US" altLang="zh-CN" sz="1400" dirty="0"/>
              <a:t>[</a:t>
            </a:r>
            <a:r>
              <a:rPr lang="en-US" altLang="zh-CN" sz="1400" dirty="0" smtClean="0"/>
              <a:t>CE2-bgp]quit</a:t>
            </a:r>
            <a:endPar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4" name="矩形 3"/>
          <p:cNvSpPr/>
          <p:nvPr/>
        </p:nvSpPr>
        <p:spPr bwMode="gray">
          <a:xfrm>
            <a:off x="6096000" y="1472170"/>
            <a:ext cx="5941807" cy="830997"/>
          </a:xfrm>
          <a:prstGeom prst="rect">
            <a:avLst/>
          </a:prstGeom>
        </p:spPr>
        <p:txBody>
          <a:bodyPr wrap="square">
            <a:spAutoFit/>
          </a:bodyPr>
          <a:lstStyle/>
          <a:p>
            <a:pPr>
              <a:lnSpc>
                <a:spcPct val="150000"/>
              </a:lnSpc>
              <a:spcBef>
                <a:spcPct val="0"/>
              </a:spcBef>
              <a:spcAft>
                <a:spcPct val="0"/>
              </a:spcAft>
            </a:pPr>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2.3.2 </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部署</a:t>
            </a:r>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CE2-PE1</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CE4-PE2</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间的路由信息交互，以</a:t>
            </a:r>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CE2</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PE1</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为例。</a:t>
            </a:r>
            <a:endPar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矩形 30"/>
          <p:cNvSpPr/>
          <p:nvPr/>
        </p:nvSpPr>
        <p:spPr bwMode="gray">
          <a:xfrm>
            <a:off x="6263100" y="3897136"/>
            <a:ext cx="5077610" cy="954107"/>
          </a:xfrm>
          <a:prstGeom prst="rect">
            <a:avLst/>
          </a:prstGeom>
          <a:solidFill>
            <a:schemeClr val="bg1">
              <a:lumMod val="85000"/>
            </a:schemeClr>
          </a:solidFill>
          <a:ln>
            <a:noFill/>
          </a:ln>
        </p:spPr>
        <p:txBody>
          <a:bodyPr wrap="square" rtlCol="0">
            <a:spAutoFit/>
          </a:bodyPr>
          <a:lstStyle/>
          <a:p>
            <a:r>
              <a:rPr lang="en-US" altLang="zh-CN"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zh-CN" altLang="en-US"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a:t>
            </a:r>
            <a:r>
              <a:rPr lang="en-US" altLang="zh-CN"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PE1</a:t>
            </a:r>
            <a:r>
              <a:rPr lang="zh-CN" altLang="en-US"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上</a:t>
            </a:r>
            <a:r>
              <a:rPr lang="en-US" altLang="zh-CN"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VPN</a:t>
            </a:r>
            <a:r>
              <a:rPr lang="zh-CN" altLang="en-US"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实例的</a:t>
            </a:r>
            <a:r>
              <a:rPr lang="en-US" altLang="zh-CN"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EBGP</a:t>
            </a:r>
            <a:r>
              <a:rPr lang="zh-CN" altLang="en-US"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对等体</a:t>
            </a:r>
            <a:endParaRPr lang="en-US" altLang="zh-CN"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[PE1]</a:t>
            </a:r>
            <a:r>
              <a:rPr lang="en-US" altLang="zh-CN" sz="1400" dirty="0" err="1"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bgp</a:t>
            </a:r>
            <a:r>
              <a:rPr lang="en-US" altLang="zh-CN"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123</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[PE1-bgp]ipv4-family </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vpn</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-instance </a:t>
            </a:r>
            <a:r>
              <a:rPr lang="en-US" altLang="zh-CN"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VPNY</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PE1-bgp-VPNY]</a:t>
            </a:r>
            <a:r>
              <a:rPr lang="en-US" altLang="zh-CN" sz="1400" dirty="0" smtClean="0"/>
              <a:t>peer </a:t>
            </a:r>
            <a:r>
              <a:rPr lang="en-US" altLang="zh-CN" sz="1400" dirty="0"/>
              <a:t>192.168.100.1 as-number 200 </a:t>
            </a:r>
            <a:endPar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6" name="矩形 30"/>
          <p:cNvSpPr/>
          <p:nvPr/>
        </p:nvSpPr>
        <p:spPr bwMode="gray">
          <a:xfrm>
            <a:off x="613188" y="1677194"/>
            <a:ext cx="5077610" cy="1169551"/>
          </a:xfrm>
          <a:prstGeom prst="rect">
            <a:avLst/>
          </a:prstGeom>
          <a:solidFill>
            <a:schemeClr val="bg1">
              <a:lumMod val="85000"/>
            </a:schemeClr>
          </a:solidFill>
          <a:ln>
            <a:noFill/>
          </a:ln>
        </p:spPr>
        <p:txBody>
          <a:bodyPr wrap="square" rtlCol="0">
            <a:spAutoFit/>
          </a:bodyPr>
          <a:lstStyle/>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创建与实例绑定的</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OSPF</a:t>
            </a:r>
            <a:r>
              <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进程</a:t>
            </a:r>
            <a:endPar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[PE1]</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ospf</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2 </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vpn</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-instance VPNX</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[PE1-ospf-2]area 0</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[PE1-ospf-2-area-0.0.0.0]network 192.168.100.0 0.0.0.255</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[PE1-ospf-2-area-0.0.0.0]quit</a:t>
            </a:r>
          </a:p>
        </p:txBody>
      </p:sp>
      <p:sp>
        <p:nvSpPr>
          <p:cNvPr id="7" name="矩形 6"/>
          <p:cNvSpPr/>
          <p:nvPr/>
        </p:nvSpPr>
        <p:spPr bwMode="gray">
          <a:xfrm>
            <a:off x="446088" y="1204655"/>
            <a:ext cx="5941807" cy="461665"/>
          </a:xfrm>
          <a:prstGeom prst="rect">
            <a:avLst/>
          </a:prstGeom>
        </p:spPr>
        <p:txBody>
          <a:bodyPr wrap="square">
            <a:spAutoFit/>
          </a:bodyPr>
          <a:lstStyle/>
          <a:p>
            <a:pPr>
              <a:lnSpc>
                <a:spcPct val="150000"/>
              </a:lnSpc>
              <a:spcBef>
                <a:spcPct val="0"/>
              </a:spcBef>
              <a:spcAft>
                <a:spcPct val="0"/>
              </a:spcAft>
            </a:pPr>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2.3.1 </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部署</a:t>
            </a:r>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CE1-PE1</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CE3-PE2</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间的路由信息交互，以</a:t>
            </a:r>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PE1</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为例。</a:t>
            </a:r>
            <a:endPar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矩形 30"/>
          <p:cNvSpPr/>
          <p:nvPr/>
        </p:nvSpPr>
        <p:spPr bwMode="gray">
          <a:xfrm>
            <a:off x="613188" y="3335804"/>
            <a:ext cx="5077610" cy="1600438"/>
          </a:xfrm>
          <a:prstGeom prst="rect">
            <a:avLst/>
          </a:prstGeom>
          <a:solidFill>
            <a:schemeClr val="bg1">
              <a:lumMod val="85000"/>
            </a:schemeClr>
          </a:solidFill>
          <a:ln>
            <a:noFill/>
          </a:ln>
        </p:spPr>
        <p:txBody>
          <a:bodyPr wrap="square" rtlCol="0">
            <a:spAutoFit/>
          </a:bodyPr>
          <a:lstStyle/>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OSPF</a:t>
            </a:r>
            <a:r>
              <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进程与</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MP-BGP</a:t>
            </a:r>
            <a:r>
              <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之间的路由双向引入</a:t>
            </a:r>
            <a:endPar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[PE1]</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ospf</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2 </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vpn</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-instance VPNX</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[PE1-ospf-2]import-route </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bgp</a:t>
            </a:r>
            <a:endPar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[PE1-ospf-2]quit</a:t>
            </a: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[PE1]</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bgp</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123</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[PE1-bgp]ipv4-family </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vpn</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-instance VPNX</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[PE1-bgp-VPNX]import-route </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ospf</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2</a:t>
            </a:r>
          </a:p>
        </p:txBody>
      </p:sp>
    </p:spTree>
    <p:extLst>
      <p:ext uri="{BB962C8B-B14F-4D97-AF65-F5344CB8AC3E}">
        <p14:creationId xmlns:p14="http://schemas.microsoft.com/office/powerpoint/2010/main" val="865489200"/>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zh-CN" altLang="en-US" smtClean="0">
                <a:sym typeface="Huawei Sans" panose="020C0503030203020204" pitchFamily="34" charset="0"/>
              </a:rPr>
              <a:t>配置验证 </a:t>
            </a:r>
            <a:r>
              <a:rPr lang="en-US" altLang="zh-CN" smtClean="0">
                <a:sym typeface="Huawei Sans" panose="020C0503030203020204" pitchFamily="34" charset="0"/>
              </a:rPr>
              <a:t>(1)</a:t>
            </a:r>
            <a:endParaRPr lang="zh-CN" altLang="en-US" dirty="0">
              <a:sym typeface="Huawei Sans" panose="020C0503030203020204" pitchFamily="34" charset="0"/>
            </a:endParaRPr>
          </a:p>
        </p:txBody>
      </p:sp>
      <p:sp>
        <p:nvSpPr>
          <p:cNvPr id="5" name="矩形 30"/>
          <p:cNvSpPr/>
          <p:nvPr/>
        </p:nvSpPr>
        <p:spPr bwMode="gray">
          <a:xfrm>
            <a:off x="1739900" y="1666320"/>
            <a:ext cx="8638388" cy="1815882"/>
          </a:xfrm>
          <a:prstGeom prst="rect">
            <a:avLst/>
          </a:prstGeom>
          <a:solidFill>
            <a:schemeClr val="bg1">
              <a:lumMod val="85000"/>
            </a:schemeClr>
          </a:solidFill>
          <a:ln>
            <a:noFill/>
          </a:ln>
        </p:spPr>
        <p:txBody>
          <a:bodyPr wrap="square" rtlCol="0">
            <a:spAutoFit/>
          </a:bodyPr>
          <a:lstStyle/>
          <a:p>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[CE1]display </a:t>
            </a:r>
            <a:r>
              <a:rPr lang="en-US" altLang="zh-CN" sz="1400"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ip</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routing-table </a:t>
            </a:r>
          </a:p>
          <a:p>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Route Flags: R - relay, D - download to fib</a:t>
            </a:r>
          </a:p>
          <a:p>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p>
          <a:p>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Destination/Mask    	Proto   	Pre  	Cost   Flags </a:t>
            </a:r>
            <a:r>
              <a:rPr lang="en-US" altLang="zh-CN" sz="1400"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NextHop</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Interface</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192.168.1.0/24  	Direct  	0    	0           </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D   </a:t>
            </a: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192.168.1.254   	GigabitEthernet0/0/1</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400" b="1"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192.168.2.0/24  	OSPF    	10   	4           </a:t>
            </a:r>
            <a:r>
              <a:rPr lang="en-US" altLang="zh-CN"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D   192.168.100.2   </a:t>
            </a:r>
            <a:r>
              <a:rPr lang="en-US" altLang="zh-CN" sz="1400" b="1"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GigabitEthernet0/0/0</a:t>
            </a:r>
            <a:endParaRPr lang="en-US" altLang="zh-CN"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192.168.100.0/24  	Direct  	0    	0           D   192.168.100.1   	GigabitEthernet0/0/0</a:t>
            </a:r>
          </a:p>
          <a:p>
            <a:r>
              <a:rPr lang="en-US" altLang="zh-CN" sz="1400" b="1"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192.168.200.0/24  	O_ASE   	150  	1           </a:t>
            </a:r>
            <a:r>
              <a:rPr lang="en-US" altLang="zh-CN"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D   192.168.100.2   </a:t>
            </a:r>
            <a:r>
              <a:rPr lang="en-US" altLang="zh-CN" sz="1400" b="1"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GigabitEthernet0/0/0</a:t>
            </a:r>
            <a:endParaRPr lang="en-US" altLang="zh-CN"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7" name="矩形 30"/>
          <p:cNvSpPr/>
          <p:nvPr/>
        </p:nvSpPr>
        <p:spPr bwMode="gray">
          <a:xfrm>
            <a:off x="1739900" y="4151666"/>
            <a:ext cx="8638388" cy="1815882"/>
          </a:xfrm>
          <a:prstGeom prst="rect">
            <a:avLst/>
          </a:prstGeom>
          <a:solidFill>
            <a:schemeClr val="bg1">
              <a:lumMod val="85000"/>
            </a:schemeClr>
          </a:solidFill>
          <a:ln>
            <a:noFill/>
          </a:ln>
        </p:spPr>
        <p:txBody>
          <a:bodyPr wrap="square" rtlCol="0">
            <a:spAutoFit/>
          </a:bodyPr>
          <a:lstStyle/>
          <a:p>
            <a:r>
              <a:rPr lang="en-US" altLang="zh-CN" sz="1400" dirty="0"/>
              <a:t>[CE3]dis </a:t>
            </a:r>
            <a:r>
              <a:rPr lang="en-US" altLang="zh-CN" sz="1400" dirty="0" err="1"/>
              <a:t>ip</a:t>
            </a:r>
            <a:r>
              <a:rPr lang="en-US" altLang="zh-CN" sz="1400" dirty="0"/>
              <a:t> routing-table </a:t>
            </a:r>
            <a:endParaRPr lang="zh-CN" altLang="en-US" sz="1400" dirty="0"/>
          </a:p>
          <a:p>
            <a:r>
              <a:rPr lang="en-US" altLang="zh-CN" sz="1400" dirty="0"/>
              <a:t>Route Flags: R - relay, D - download to fib</a:t>
            </a:r>
            <a:endParaRPr lang="zh-CN" altLang="en-US" sz="1400" dirty="0"/>
          </a:p>
          <a:p>
            <a:r>
              <a:rPr lang="en-US" altLang="zh-CN" sz="1400" dirty="0"/>
              <a:t>------------------------------------------------------------------------------</a:t>
            </a:r>
            <a:endParaRPr lang="zh-CN" altLang="en-US" sz="1400" dirty="0"/>
          </a:p>
          <a:p>
            <a:r>
              <a:rPr lang="en-US" altLang="zh-CN" sz="1400" dirty="0" smtClean="0"/>
              <a:t>Destination/Mask    	Proto   	Pre  	Cost    Flags </a:t>
            </a:r>
            <a:r>
              <a:rPr lang="en-US" altLang="zh-CN" sz="1400" dirty="0" err="1"/>
              <a:t>NextHop</a:t>
            </a:r>
            <a:r>
              <a:rPr lang="en-US" altLang="zh-CN" sz="1400" dirty="0"/>
              <a:t>         </a:t>
            </a:r>
            <a:r>
              <a:rPr lang="en-US" altLang="zh-CN" sz="1400" dirty="0" smtClean="0"/>
              <a:t>	Interface</a:t>
            </a:r>
            <a:endParaRPr lang="zh-CN" altLang="en-US" sz="1400" dirty="0"/>
          </a:p>
          <a:p>
            <a:r>
              <a:rPr lang="en-US" altLang="zh-CN" sz="1400" b="1" dirty="0" smtClean="0"/>
              <a:t>192.168.1.0/24  	OSPF    	10   	4           </a:t>
            </a:r>
            <a:r>
              <a:rPr lang="en-US" altLang="zh-CN" sz="1400" b="1" dirty="0"/>
              <a:t>D   192.168.200.2   </a:t>
            </a:r>
            <a:r>
              <a:rPr lang="en-US" altLang="zh-CN" sz="1400" b="1" dirty="0" smtClean="0"/>
              <a:t>	GigabitEthernet0/0/0</a:t>
            </a:r>
            <a:endParaRPr lang="zh-CN" altLang="en-US" sz="1400" b="1" dirty="0"/>
          </a:p>
          <a:p>
            <a:r>
              <a:rPr lang="en-US" altLang="zh-CN" sz="1400" dirty="0" smtClean="0"/>
              <a:t>192.168.2.0/24  	Direct  	0    	0           </a:t>
            </a:r>
            <a:r>
              <a:rPr lang="en-US" altLang="zh-CN" sz="1400" dirty="0"/>
              <a:t>D   192.168.2.254   </a:t>
            </a:r>
            <a:r>
              <a:rPr lang="en-US" altLang="zh-CN" sz="1400" dirty="0" smtClean="0"/>
              <a:t>	GigabitEthernet0/0/1</a:t>
            </a:r>
            <a:endParaRPr lang="zh-CN" altLang="en-US" sz="1400" dirty="0"/>
          </a:p>
          <a:p>
            <a:r>
              <a:rPr lang="pt-BR" altLang="zh-CN" sz="1400" b="1" dirty="0" smtClean="0"/>
              <a:t>192.168.100.0/24  	O_ASE   	150  	1           </a:t>
            </a:r>
            <a:r>
              <a:rPr lang="pt-BR" altLang="zh-CN" sz="1400" b="1" dirty="0"/>
              <a:t>D   192.168.200.2   </a:t>
            </a:r>
            <a:r>
              <a:rPr lang="pt-BR" altLang="zh-CN" sz="1400" b="1" dirty="0" smtClean="0"/>
              <a:t>	GigabitEthernet</a:t>
            </a:r>
            <a:r>
              <a:rPr lang="en-US" altLang="zh-CN" sz="1400" b="1" dirty="0" smtClean="0"/>
              <a:t>0/0/0</a:t>
            </a:r>
            <a:endParaRPr lang="zh-CN" altLang="en-US" sz="1400" b="1" dirty="0"/>
          </a:p>
          <a:p>
            <a:r>
              <a:rPr lang="en-US" altLang="zh-CN" sz="1400" dirty="0" smtClean="0"/>
              <a:t>192.168.200.0/24  	Direct  	0    	0           </a:t>
            </a:r>
            <a:r>
              <a:rPr lang="en-US" altLang="zh-CN" sz="1400" dirty="0"/>
              <a:t>D   192.168.200.1   </a:t>
            </a:r>
            <a:r>
              <a:rPr lang="en-US" altLang="zh-CN" sz="1400" dirty="0" smtClean="0"/>
              <a:t>	GigabitEthernet0/0/0</a:t>
            </a:r>
            <a:endParaRPr lang="zh-CN" altLang="en-US" sz="1400" dirty="0"/>
          </a:p>
        </p:txBody>
      </p:sp>
      <p:sp>
        <p:nvSpPr>
          <p:cNvPr id="8" name="矩形 7"/>
          <p:cNvSpPr/>
          <p:nvPr/>
        </p:nvSpPr>
        <p:spPr bwMode="gray">
          <a:xfrm>
            <a:off x="446088" y="1204655"/>
            <a:ext cx="5941807" cy="461665"/>
          </a:xfrm>
          <a:prstGeom prst="rect">
            <a:avLst/>
          </a:prstGeom>
        </p:spPr>
        <p:txBody>
          <a:bodyPr wrap="square">
            <a:spAutoFit/>
          </a:bodyPr>
          <a:lstStyle/>
          <a:p>
            <a:pPr>
              <a:lnSpc>
                <a:spcPct val="150000"/>
              </a:lnSpc>
              <a:spcBef>
                <a:spcPct val="0"/>
              </a:spcBef>
              <a:spcAft>
                <a:spcPct val="0"/>
              </a:spcAft>
            </a:pP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查看</a:t>
            </a:r>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VPNX</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用户的</a:t>
            </a:r>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CE</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路由学习情况。</a:t>
            </a:r>
            <a:endPar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341493257"/>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zh-CN" altLang="en-US" smtClean="0">
                <a:sym typeface="Huawei Sans" panose="020C0503030203020204" pitchFamily="34" charset="0"/>
              </a:rPr>
              <a:t>配置验证 </a:t>
            </a:r>
            <a:r>
              <a:rPr lang="en-US" altLang="zh-CN" smtClean="0">
                <a:sym typeface="Huawei Sans" panose="020C0503030203020204" pitchFamily="34" charset="0"/>
              </a:rPr>
              <a:t>(2)</a:t>
            </a:r>
            <a:endParaRPr lang="zh-CN" altLang="en-US" dirty="0">
              <a:sym typeface="Huawei Sans" panose="020C0503030203020204" pitchFamily="34" charset="0"/>
            </a:endParaRPr>
          </a:p>
        </p:txBody>
      </p:sp>
      <p:sp>
        <p:nvSpPr>
          <p:cNvPr id="5" name="矩形 30"/>
          <p:cNvSpPr/>
          <p:nvPr/>
        </p:nvSpPr>
        <p:spPr bwMode="gray">
          <a:xfrm>
            <a:off x="1753499" y="1676938"/>
            <a:ext cx="8638388" cy="1600438"/>
          </a:xfrm>
          <a:prstGeom prst="rect">
            <a:avLst/>
          </a:prstGeom>
          <a:solidFill>
            <a:schemeClr val="bg1">
              <a:lumMod val="85000"/>
            </a:schemeClr>
          </a:solidFill>
          <a:ln>
            <a:noFill/>
          </a:ln>
        </p:spPr>
        <p:txBody>
          <a:bodyPr wrap="square" rtlCol="0">
            <a:spAutoFit/>
          </a:bodyPr>
          <a:lstStyle/>
          <a:p>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CE2]display </a:t>
            </a:r>
            <a:r>
              <a:rPr lang="en-US" altLang="zh-CN" sz="1400"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ip</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routing-table </a:t>
            </a:r>
          </a:p>
          <a:p>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Route </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Flags: R - relay, D - download to fib</a:t>
            </a:r>
          </a:p>
          <a:p>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p>
          <a:p>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Destination/Mask    	Proto   	Pre  	Cost   Flags </a:t>
            </a:r>
            <a:r>
              <a:rPr lang="en-US" altLang="zh-CN" sz="1400"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NextHop</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Interface</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192.168.1.0/24  	Direct  	0    	0           </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D   192.168.1.254   </a:t>
            </a: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GigabitEthernet0/0/1</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400" b="1"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192.168.2.0/24  	EBGP    	255  	0           </a:t>
            </a:r>
            <a:r>
              <a:rPr lang="en-US" altLang="zh-CN"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D   192.168.100.2   </a:t>
            </a:r>
            <a:r>
              <a:rPr lang="en-US" altLang="zh-CN" sz="1400" b="1"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GigabitEthernet0/0/0</a:t>
            </a:r>
            <a:endParaRPr lang="en-US" altLang="zh-CN"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192.168.100.0/24  	Direct  	0    	0           </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D   192.168.100.1   </a:t>
            </a: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GigabitEthernet0/0/0</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6" name="矩形 5"/>
          <p:cNvSpPr/>
          <p:nvPr/>
        </p:nvSpPr>
        <p:spPr bwMode="gray">
          <a:xfrm>
            <a:off x="446088" y="1204655"/>
            <a:ext cx="5941807" cy="461665"/>
          </a:xfrm>
          <a:prstGeom prst="rect">
            <a:avLst/>
          </a:prstGeom>
        </p:spPr>
        <p:txBody>
          <a:bodyPr wrap="square">
            <a:spAutoFit/>
          </a:bodyPr>
          <a:lstStyle/>
          <a:p>
            <a:pPr>
              <a:lnSpc>
                <a:spcPct val="150000"/>
              </a:lnSpc>
              <a:spcBef>
                <a:spcPct val="0"/>
              </a:spcBef>
              <a:spcAft>
                <a:spcPct val="0"/>
              </a:spcAft>
            </a:pP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查看</a:t>
            </a:r>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VPNY</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用户的</a:t>
            </a:r>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CE</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路由学习情况。</a:t>
            </a:r>
            <a:endPar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矩形 30"/>
          <p:cNvSpPr/>
          <p:nvPr/>
        </p:nvSpPr>
        <p:spPr bwMode="gray">
          <a:xfrm>
            <a:off x="1753499" y="3882208"/>
            <a:ext cx="8638388" cy="1600438"/>
          </a:xfrm>
          <a:prstGeom prst="rect">
            <a:avLst/>
          </a:prstGeom>
          <a:solidFill>
            <a:schemeClr val="bg1">
              <a:lumMod val="85000"/>
            </a:schemeClr>
          </a:solidFill>
          <a:ln>
            <a:noFill/>
          </a:ln>
        </p:spPr>
        <p:txBody>
          <a:bodyPr wrap="square" rtlCol="0">
            <a:spAutoFit/>
          </a:bodyPr>
          <a:lstStyle/>
          <a:p>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CE4]display </a:t>
            </a:r>
            <a:r>
              <a:rPr lang="en-US" altLang="zh-CN" sz="1400"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ip</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routing-table </a:t>
            </a:r>
          </a:p>
          <a:p>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Route </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Flags: R - relay, D - download to fib</a:t>
            </a:r>
          </a:p>
          <a:p>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p>
          <a:p>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Destination/Mask    	Proto   	Pre  	Cost   Flags </a:t>
            </a:r>
            <a:r>
              <a:rPr lang="en-US" altLang="zh-CN" sz="1400"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NextHop</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Interface</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192.168.2.0/24  	Direct  	0    	0           </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D   192.168.1.254   </a:t>
            </a: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GigabitEthernet0/0/1</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400" b="1"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192.168.1.0/24  	EBGP    	255  	0           </a:t>
            </a:r>
            <a:r>
              <a:rPr lang="en-US" altLang="zh-CN"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D   192.168.100.2   </a:t>
            </a:r>
            <a:r>
              <a:rPr lang="en-US" altLang="zh-CN" sz="1400" b="1"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GigabitEthernet0/0/0</a:t>
            </a:r>
            <a:endParaRPr lang="en-US" altLang="zh-CN"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192.168.200.0/24  	Direct  	0    	0           </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D   192.168.100.1   </a:t>
            </a: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GigabitEthernet0/0/0</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Tree>
    <p:extLst>
      <p:ext uri="{BB962C8B-B14F-4D97-AF65-F5344CB8AC3E}">
        <p14:creationId xmlns:p14="http://schemas.microsoft.com/office/powerpoint/2010/main" val="4068414097"/>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smtClean="0">
                <a:sym typeface="Huawei Sans" panose="020C0503030203020204" pitchFamily="34" charset="0"/>
              </a:rPr>
              <a:t>配置验证 </a:t>
            </a:r>
            <a:r>
              <a:rPr lang="en-US" altLang="zh-CN" smtClean="0">
                <a:sym typeface="Huawei Sans" panose="020C0503030203020204" pitchFamily="34" charset="0"/>
              </a:rPr>
              <a:t>(3)</a:t>
            </a:r>
            <a:endParaRPr lang="zh-CN" altLang="en-US" dirty="0"/>
          </a:p>
        </p:txBody>
      </p:sp>
      <p:sp>
        <p:nvSpPr>
          <p:cNvPr id="6" name="矩形 30"/>
          <p:cNvSpPr/>
          <p:nvPr/>
        </p:nvSpPr>
        <p:spPr bwMode="gray">
          <a:xfrm>
            <a:off x="6171301" y="1353066"/>
            <a:ext cx="5468471" cy="1384995"/>
          </a:xfrm>
          <a:prstGeom prst="rect">
            <a:avLst/>
          </a:prstGeom>
          <a:solidFill>
            <a:schemeClr val="bg1">
              <a:lumMod val="85000"/>
            </a:schemeClr>
          </a:solidFill>
          <a:ln>
            <a:noFill/>
          </a:ln>
        </p:spPr>
        <p:txBody>
          <a:bodyPr wrap="square" rtlCol="0">
            <a:spAutoFit/>
          </a:bodyPr>
          <a:lstStyle/>
          <a:p>
            <a:r>
              <a:rPr lang="en-US" altLang="zh-CN" sz="12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[PE2]display </a:t>
            </a:r>
            <a:r>
              <a:rPr lang="en-US" altLang="zh-CN" sz="1200"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mpls</a:t>
            </a:r>
            <a:r>
              <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200"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lsp</a:t>
            </a:r>
            <a:r>
              <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p>
          <a:p>
            <a:r>
              <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p>
          <a:p>
            <a:r>
              <a:rPr lang="en-US" altLang="zh-CN" sz="12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LSP </a:t>
            </a:r>
            <a:r>
              <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Information: LDP LSP</a:t>
            </a:r>
          </a:p>
          <a:p>
            <a:r>
              <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p>
          <a:p>
            <a:r>
              <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FEC                </a:t>
            </a:r>
            <a:r>
              <a:rPr lang="en-US" altLang="zh-CN" sz="12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In/Out </a:t>
            </a:r>
            <a:r>
              <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Label  </a:t>
            </a:r>
            <a:r>
              <a:rPr lang="en-US" altLang="zh-CN" sz="12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In/Out IF	</a:t>
            </a:r>
            <a:r>
              <a:rPr lang="en-US" altLang="zh-CN" sz="1200" dirty="0" err="1"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Vrf</a:t>
            </a:r>
            <a:r>
              <a:rPr lang="en-US" altLang="zh-CN" sz="12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Name       </a:t>
            </a:r>
          </a:p>
          <a:p>
            <a:r>
              <a:rPr lang="en-US" altLang="zh-CN" sz="12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1.1.1.1/32         	</a:t>
            </a:r>
            <a:r>
              <a:rPr lang="en-US" altLang="zh-CN" sz="1200" b="1"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NULL/1024</a:t>
            </a:r>
            <a:r>
              <a:rPr lang="en-US" altLang="zh-CN" sz="12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-/GE0/0/0                                     </a:t>
            </a:r>
          </a:p>
          <a:p>
            <a:r>
              <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1.1.1.1/32         </a:t>
            </a:r>
            <a:r>
              <a:rPr lang="en-US" altLang="zh-CN" sz="12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1024/1024      -/</a:t>
            </a:r>
            <a:r>
              <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GE0/0/0                                     </a:t>
            </a:r>
          </a:p>
        </p:txBody>
      </p:sp>
      <p:sp>
        <p:nvSpPr>
          <p:cNvPr id="7" name="文本框 6"/>
          <p:cNvSpPr txBox="1"/>
          <p:nvPr/>
        </p:nvSpPr>
        <p:spPr bwMode="gray">
          <a:xfrm>
            <a:off x="6096000" y="2914560"/>
            <a:ext cx="5353725" cy="652486"/>
          </a:xfrm>
          <a:prstGeom prst="rect">
            <a:avLst/>
          </a:prstGeom>
          <a:noFill/>
        </p:spPr>
        <p:txBody>
          <a:bodyPr wrap="square" rtlCol="0">
            <a:spAutoFit/>
          </a:bodyPr>
          <a:lstStyle/>
          <a:p>
            <a:pPr>
              <a:lnSpc>
                <a:spcPct val="130000"/>
              </a:lnSpc>
            </a:pPr>
            <a:r>
              <a:rPr lang="zh-CN" altLang="en-US" sz="1400" dirty="0" smtClean="0"/>
              <a:t>以</a:t>
            </a:r>
            <a:r>
              <a:rPr lang="en-US" altLang="zh-CN" sz="1400" dirty="0" smtClean="0"/>
              <a:t>192.168.2.0/24</a:t>
            </a:r>
            <a:r>
              <a:rPr lang="zh-CN" altLang="en-US" sz="1400" dirty="0" smtClean="0"/>
              <a:t>网段到</a:t>
            </a:r>
            <a:r>
              <a:rPr lang="en-US" altLang="zh-CN" sz="1400" dirty="0" smtClean="0"/>
              <a:t>192.168.1.0/24</a:t>
            </a:r>
            <a:r>
              <a:rPr lang="zh-CN" altLang="en-US" sz="1400" dirty="0" smtClean="0"/>
              <a:t>网段的数据为例，外层标签为</a:t>
            </a:r>
            <a:r>
              <a:rPr lang="en-US" altLang="zh-CN" sz="1400" dirty="0" smtClean="0"/>
              <a:t>1024</a:t>
            </a:r>
            <a:r>
              <a:rPr lang="zh-CN" altLang="en-US" sz="1400" dirty="0" smtClean="0"/>
              <a:t>，由</a:t>
            </a:r>
            <a:r>
              <a:rPr lang="en-US" altLang="zh-CN" sz="1400" dirty="0" smtClean="0"/>
              <a:t>MPLS LDP</a:t>
            </a:r>
            <a:r>
              <a:rPr lang="zh-CN" altLang="en-US" sz="1400" dirty="0" smtClean="0"/>
              <a:t>分配。内层标签为</a:t>
            </a:r>
            <a:r>
              <a:rPr lang="en-US" altLang="zh-CN" sz="1400" dirty="0" smtClean="0"/>
              <a:t>1026</a:t>
            </a:r>
            <a:r>
              <a:rPr lang="zh-CN" altLang="en-US" sz="1400" dirty="0" smtClean="0"/>
              <a:t>，由</a:t>
            </a:r>
            <a:r>
              <a:rPr lang="en-US" altLang="zh-CN" sz="1400" dirty="0" smtClean="0"/>
              <a:t>MP-BGP</a:t>
            </a:r>
            <a:r>
              <a:rPr lang="zh-CN" altLang="en-US" sz="1400" dirty="0" smtClean="0"/>
              <a:t>分配。</a:t>
            </a:r>
            <a:endParaRPr lang="zh-CN" altLang="en-US" sz="1400" dirty="0"/>
          </a:p>
        </p:txBody>
      </p:sp>
      <p:sp>
        <p:nvSpPr>
          <p:cNvPr id="8" name="矩形 30"/>
          <p:cNvSpPr/>
          <p:nvPr/>
        </p:nvSpPr>
        <p:spPr bwMode="gray">
          <a:xfrm>
            <a:off x="597403" y="1353066"/>
            <a:ext cx="5468471" cy="2123658"/>
          </a:xfrm>
          <a:prstGeom prst="rect">
            <a:avLst/>
          </a:prstGeom>
          <a:solidFill>
            <a:schemeClr val="bg1">
              <a:lumMod val="85000"/>
            </a:schemeClr>
          </a:solidFill>
          <a:ln>
            <a:noFill/>
          </a:ln>
        </p:spPr>
        <p:txBody>
          <a:bodyPr wrap="square" rtlCol="0">
            <a:spAutoFit/>
          </a:bodyPr>
          <a:lstStyle/>
          <a:p>
            <a:r>
              <a:rPr lang="en-US" altLang="zh-CN" sz="12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[PE2]</a:t>
            </a:r>
            <a:r>
              <a:rPr lang="en-US" altLang="zh-CN" sz="1200" dirty="0"/>
              <a:t> </a:t>
            </a:r>
            <a:r>
              <a:rPr lang="en-US" altLang="zh-CN" sz="1200" dirty="0" smtClean="0"/>
              <a:t>display </a:t>
            </a:r>
            <a:r>
              <a:rPr lang="en-US" altLang="zh-CN" sz="1200" dirty="0" err="1"/>
              <a:t>bgp</a:t>
            </a:r>
            <a:r>
              <a:rPr lang="en-US" altLang="zh-CN" sz="1200" dirty="0"/>
              <a:t> vpnv4 </a:t>
            </a:r>
            <a:r>
              <a:rPr lang="en-US" altLang="zh-CN" sz="1200" dirty="0" err="1"/>
              <a:t>vpn</a:t>
            </a:r>
            <a:r>
              <a:rPr lang="en-US" altLang="zh-CN" sz="1200" dirty="0"/>
              <a:t>-instance VPNX routing-table 192.168.1.0 24</a:t>
            </a:r>
            <a:endParaRPr lang="zh-CN" altLang="en-US" sz="1200" dirty="0"/>
          </a:p>
          <a:p>
            <a:endParaRPr lang="zh-CN" altLang="en-US" sz="1200" dirty="0"/>
          </a:p>
          <a:p>
            <a:r>
              <a:rPr lang="zh-CN" altLang="en-US" sz="1200" dirty="0"/>
              <a:t> </a:t>
            </a:r>
            <a:r>
              <a:rPr lang="en-US" altLang="zh-CN" sz="1200" dirty="0"/>
              <a:t>BGP local router ID : 3.3.3.3</a:t>
            </a:r>
            <a:endParaRPr lang="zh-CN" altLang="en-US" sz="1200" dirty="0"/>
          </a:p>
          <a:p>
            <a:r>
              <a:rPr lang="zh-CN" altLang="en-US" sz="1200" dirty="0"/>
              <a:t> </a:t>
            </a:r>
            <a:r>
              <a:rPr lang="en-US" altLang="zh-CN" sz="1200" dirty="0"/>
              <a:t>Local AS number : 123</a:t>
            </a:r>
            <a:endParaRPr lang="zh-CN" altLang="en-US" sz="1200" dirty="0"/>
          </a:p>
          <a:p>
            <a:r>
              <a:rPr lang="zh-CN" altLang="en-US" sz="1200" dirty="0" smtClean="0"/>
              <a:t> </a:t>
            </a:r>
            <a:r>
              <a:rPr lang="fr-FR" altLang="zh-CN" sz="1200" dirty="0"/>
              <a:t>VPN-Instance VPNX, Router ID 3.3.3.3:</a:t>
            </a:r>
            <a:endParaRPr lang="zh-CN" altLang="en-US" sz="1200" dirty="0"/>
          </a:p>
          <a:p>
            <a:r>
              <a:rPr lang="zh-CN" altLang="en-US" sz="1200" dirty="0"/>
              <a:t> </a:t>
            </a:r>
            <a:r>
              <a:rPr lang="en-US" altLang="zh-CN" sz="1200" dirty="0"/>
              <a:t>Paths:   1 available, 1 best, 1 select</a:t>
            </a:r>
            <a:endParaRPr lang="zh-CN" altLang="en-US" sz="1200" dirty="0"/>
          </a:p>
          <a:p>
            <a:r>
              <a:rPr lang="zh-CN" altLang="en-US" sz="1200" dirty="0"/>
              <a:t> </a:t>
            </a:r>
            <a:r>
              <a:rPr lang="en-US" altLang="zh-CN" sz="1200" dirty="0"/>
              <a:t>BGP routing table entry information of 192.168.1.0/24:</a:t>
            </a:r>
            <a:endParaRPr lang="zh-CN" altLang="en-US" sz="1200" dirty="0"/>
          </a:p>
          <a:p>
            <a:r>
              <a:rPr lang="zh-CN" altLang="en-US" sz="1200" dirty="0"/>
              <a:t> </a:t>
            </a:r>
            <a:r>
              <a:rPr lang="en-US" altLang="zh-CN" sz="1200" dirty="0"/>
              <a:t>Label information (Received/Applied): </a:t>
            </a:r>
            <a:r>
              <a:rPr lang="en-US" altLang="zh-CN" sz="1200" b="1" dirty="0"/>
              <a:t>1026/NULL</a:t>
            </a:r>
            <a:endParaRPr lang="zh-CN" altLang="en-US" sz="1200" b="1" dirty="0"/>
          </a:p>
          <a:p>
            <a:r>
              <a:rPr lang="zh-CN" altLang="en-US" sz="1200" dirty="0"/>
              <a:t> </a:t>
            </a:r>
            <a:r>
              <a:rPr lang="en-US" altLang="zh-CN" sz="1200" dirty="0"/>
              <a:t>From: 1.1.1.1 (1.1.1.1)</a:t>
            </a:r>
            <a:endParaRPr lang="zh-CN" altLang="en-US" sz="1200" dirty="0"/>
          </a:p>
          <a:p>
            <a:r>
              <a:rPr lang="en-US" altLang="zh-CN" sz="1200" dirty="0" smtClean="0"/>
              <a:t>Relay </a:t>
            </a:r>
            <a:r>
              <a:rPr lang="en-US" altLang="zh-CN" sz="1200" dirty="0"/>
              <a:t>token: 0x1</a:t>
            </a:r>
            <a:endParaRPr lang="zh-CN" altLang="en-US" sz="1200" dirty="0"/>
          </a:p>
          <a:p>
            <a:r>
              <a:rPr lang="zh-CN" altLang="en-US" sz="1200" dirty="0"/>
              <a:t> </a:t>
            </a:r>
            <a:r>
              <a:rPr lang="en-US" altLang="zh-CN" sz="1200" dirty="0"/>
              <a:t>Original </a:t>
            </a:r>
            <a:r>
              <a:rPr lang="en-US" altLang="zh-CN" sz="1200" dirty="0" err="1"/>
              <a:t>nexthop</a:t>
            </a:r>
            <a:r>
              <a:rPr lang="en-US" altLang="zh-CN" sz="1200" dirty="0"/>
              <a:t>: </a:t>
            </a:r>
            <a:r>
              <a:rPr lang="en-US" altLang="zh-CN" sz="1200" dirty="0" smtClean="0"/>
              <a:t>1.1.1.1</a:t>
            </a:r>
            <a:endParaRPr lang="zh-CN" altLang="en-US" sz="1200" dirty="0"/>
          </a:p>
        </p:txBody>
      </p:sp>
      <p:grpSp>
        <p:nvGrpSpPr>
          <p:cNvPr id="3" name="组合 2"/>
          <p:cNvGrpSpPr/>
          <p:nvPr/>
        </p:nvGrpSpPr>
        <p:grpSpPr bwMode="gray">
          <a:xfrm>
            <a:off x="1586542" y="3968358"/>
            <a:ext cx="9411292" cy="2104161"/>
            <a:chOff x="1663221" y="4111546"/>
            <a:chExt cx="9411292" cy="2104161"/>
          </a:xfrm>
        </p:grpSpPr>
        <p:sp>
          <p:nvSpPr>
            <p:cNvPr id="11" name="矩形 10"/>
            <p:cNvSpPr/>
            <p:nvPr/>
          </p:nvSpPr>
          <p:spPr bwMode="gray">
            <a:xfrm>
              <a:off x="1663221" y="4111546"/>
              <a:ext cx="9411292" cy="2104161"/>
            </a:xfrm>
            <a:prstGeom prst="rect">
              <a:avLst/>
            </a:prstGeom>
            <a:solidFill>
              <a:schemeClr val="bg1"/>
            </a:solidFill>
            <a:ln>
              <a:solidFill>
                <a:schemeClr val="bg1">
                  <a:lumMod val="7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bwMode="gray">
            <a:xfrm>
              <a:off x="1739900" y="4157197"/>
              <a:ext cx="9257934" cy="1569660"/>
            </a:xfrm>
            <a:prstGeom prst="rect">
              <a:avLst/>
            </a:prstGeom>
          </p:spPr>
          <p:txBody>
            <a:bodyPr wrap="square">
              <a:spAutoFit/>
            </a:bodyPr>
            <a:lstStyle/>
            <a:p>
              <a:r>
                <a:rPr lang="zh-CN" altLang="en-US" sz="1200" dirty="0"/>
                <a:t>No.     </a:t>
              </a:r>
              <a:r>
                <a:rPr lang="en-US" altLang="zh-CN" sz="1200" dirty="0" smtClean="0"/>
                <a:t>	</a:t>
              </a:r>
              <a:r>
                <a:rPr lang="zh-CN" altLang="en-US" sz="1200" dirty="0" smtClean="0"/>
                <a:t>Time           </a:t>
              </a:r>
              <a:r>
                <a:rPr lang="en-US" altLang="zh-CN" sz="1200" dirty="0" smtClean="0"/>
                <a:t>	</a:t>
              </a:r>
              <a:r>
                <a:rPr lang="zh-CN" altLang="en-US" sz="1200" dirty="0" smtClean="0"/>
                <a:t>Source</a:t>
              </a:r>
              <a:r>
                <a:rPr lang="en-US" altLang="zh-CN" sz="1200" dirty="0" smtClean="0"/>
                <a:t>		</a:t>
              </a:r>
              <a:r>
                <a:rPr lang="zh-CN" altLang="en-US" sz="1200" dirty="0" smtClean="0"/>
                <a:t>Destination</a:t>
              </a:r>
              <a:r>
                <a:rPr lang="en-US" altLang="zh-CN" sz="1200" dirty="0" smtClean="0"/>
                <a:t>		</a:t>
              </a:r>
              <a:r>
                <a:rPr lang="zh-CN" altLang="en-US" sz="1200" dirty="0" smtClean="0"/>
                <a:t>Protocol</a:t>
              </a:r>
              <a:r>
                <a:rPr lang="en-US" altLang="zh-CN" sz="1200" dirty="0" smtClean="0"/>
                <a:t>	</a:t>
              </a:r>
              <a:r>
                <a:rPr lang="zh-CN" altLang="en-US" sz="1200" dirty="0" smtClean="0"/>
                <a:t>Length</a:t>
              </a:r>
              <a:r>
                <a:rPr lang="en-US" altLang="zh-CN" sz="1200" dirty="0" smtClean="0"/>
                <a:t>	</a:t>
              </a:r>
              <a:r>
                <a:rPr lang="zh-CN" altLang="en-US" sz="1200" dirty="0" smtClean="0"/>
                <a:t>Info</a:t>
              </a:r>
              <a:endParaRPr lang="en-US" altLang="zh-CN" sz="1200" dirty="0" smtClean="0"/>
            </a:p>
            <a:p>
              <a:r>
                <a:rPr lang="zh-CN" altLang="en-US" sz="1200" dirty="0" smtClean="0"/>
                <a:t>5</a:t>
              </a:r>
              <a:r>
                <a:rPr lang="en-US" altLang="zh-CN" sz="1200" dirty="0" smtClean="0"/>
                <a:t>	</a:t>
              </a:r>
              <a:r>
                <a:rPr lang="zh-CN" altLang="en-US" sz="1200" dirty="0" smtClean="0"/>
                <a:t>12</a:t>
              </a:r>
              <a:r>
                <a:rPr lang="zh-CN" altLang="en-US" sz="1200" dirty="0"/>
                <a:t>.109000  </a:t>
              </a:r>
              <a:r>
                <a:rPr lang="en-US" altLang="zh-CN" sz="1200" dirty="0" smtClean="0"/>
                <a:t>	</a:t>
              </a:r>
              <a:r>
                <a:rPr lang="en-US" altLang="zh-CN" sz="1200" b="1" dirty="0" smtClean="0"/>
                <a:t>192.168.2.254</a:t>
              </a:r>
              <a:r>
                <a:rPr lang="en-US" altLang="zh-CN" sz="1200" dirty="0" smtClean="0"/>
                <a:t>	</a:t>
              </a:r>
              <a:r>
                <a:rPr lang="en-US" altLang="zh-CN" sz="1200" b="1" dirty="0" smtClean="0"/>
                <a:t>192.168.1.254</a:t>
              </a:r>
              <a:r>
                <a:rPr lang="en-US" altLang="zh-CN" sz="1200" dirty="0" smtClean="0"/>
                <a:t>	</a:t>
              </a:r>
              <a:r>
                <a:rPr lang="zh-CN" altLang="en-US" sz="1200" dirty="0" smtClean="0"/>
                <a:t>ICMP</a:t>
              </a:r>
              <a:r>
                <a:rPr lang="en-US" altLang="zh-CN" sz="1200" dirty="0" smtClean="0"/>
                <a:t>	</a:t>
              </a:r>
              <a:r>
                <a:rPr lang="zh-CN" altLang="en-US" sz="1200" dirty="0" smtClean="0"/>
                <a:t>102</a:t>
              </a:r>
              <a:r>
                <a:rPr lang="en-US" altLang="zh-CN" sz="1200" dirty="0" smtClean="0"/>
                <a:t>	</a:t>
              </a:r>
              <a:r>
                <a:rPr lang="zh-CN" altLang="en-US" sz="1200" dirty="0" smtClean="0"/>
                <a:t>Echo </a:t>
              </a:r>
              <a:r>
                <a:rPr lang="zh-CN" altLang="en-US" sz="1200" dirty="0"/>
                <a:t>(ping) </a:t>
              </a:r>
              <a:r>
                <a:rPr lang="zh-CN" altLang="en-US" sz="1200" dirty="0" smtClean="0"/>
                <a:t>request</a:t>
              </a:r>
              <a:endParaRPr lang="zh-CN" altLang="en-US" sz="1200" dirty="0"/>
            </a:p>
            <a:p>
              <a:r>
                <a:rPr lang="zh-CN" altLang="en-US" sz="1200" dirty="0"/>
                <a:t>Frame 5: 102 bytes on wire (816 </a:t>
              </a:r>
              <a:r>
                <a:rPr lang="en-US" altLang="zh-CN" sz="1200" dirty="0" smtClean="0"/>
                <a:t>bit</a:t>
              </a:r>
              <a:r>
                <a:rPr lang="zh-CN" altLang="en-US" sz="1200" dirty="0" smtClean="0"/>
                <a:t>), </a:t>
              </a:r>
              <a:r>
                <a:rPr lang="zh-CN" altLang="en-US" sz="1200" dirty="0"/>
                <a:t>102 bytes captured (816 </a:t>
              </a:r>
              <a:r>
                <a:rPr lang="en-US" altLang="zh-CN" sz="1200" dirty="0" smtClean="0"/>
                <a:t>bit</a:t>
              </a:r>
              <a:r>
                <a:rPr lang="zh-CN" altLang="en-US" sz="1200" dirty="0" smtClean="0"/>
                <a:t>) </a:t>
              </a:r>
              <a:r>
                <a:rPr lang="zh-CN" altLang="en-US" sz="1200" dirty="0"/>
                <a:t>on interface 0</a:t>
              </a:r>
            </a:p>
            <a:p>
              <a:r>
                <a:rPr lang="zh-CN" altLang="en-US" sz="1200" dirty="0"/>
                <a:t>Ethernet II, Src: HuaweiTe_b1:15:3e (00:e0:fc:b1:15:3e), Dst: HuaweiTe_49:20:bb (00:e0:fc:49:20:bb)</a:t>
              </a:r>
            </a:p>
            <a:p>
              <a:r>
                <a:rPr lang="zh-CN" altLang="en-US" sz="1200" dirty="0"/>
                <a:t>MultiProtocol Label Switching Header, Label: </a:t>
              </a:r>
              <a:r>
                <a:rPr lang="en-US" altLang="zh-CN" sz="1200" b="1" dirty="0" smtClean="0"/>
                <a:t>1024</a:t>
              </a:r>
              <a:r>
                <a:rPr lang="zh-CN" altLang="en-US" sz="1200" dirty="0" smtClean="0"/>
                <a:t>, </a:t>
              </a:r>
              <a:r>
                <a:rPr lang="zh-CN" altLang="en-US" sz="1200" dirty="0"/>
                <a:t>Exp: 0, S: </a:t>
              </a:r>
              <a:r>
                <a:rPr lang="en-US" altLang="zh-CN" sz="1200" dirty="0" smtClean="0"/>
                <a:t>0</a:t>
              </a:r>
              <a:r>
                <a:rPr lang="zh-CN" altLang="en-US" sz="1200" dirty="0" smtClean="0"/>
                <a:t>, </a:t>
              </a:r>
              <a:r>
                <a:rPr lang="zh-CN" altLang="en-US" sz="1200" dirty="0"/>
                <a:t>TTL: 254</a:t>
              </a:r>
            </a:p>
            <a:p>
              <a:r>
                <a:rPr lang="zh-CN" altLang="en-US" sz="1200" dirty="0" smtClean="0"/>
                <a:t>MultiProtocol </a:t>
              </a:r>
              <a:r>
                <a:rPr lang="zh-CN" altLang="en-US" sz="1200" dirty="0"/>
                <a:t>Label Switching Header, Label: </a:t>
              </a:r>
              <a:r>
                <a:rPr lang="en-US" altLang="zh-CN" sz="1200" b="1" dirty="0" smtClean="0"/>
                <a:t>1026</a:t>
              </a:r>
              <a:r>
                <a:rPr lang="zh-CN" altLang="en-US" sz="1200" dirty="0" smtClean="0"/>
                <a:t>, </a:t>
              </a:r>
              <a:r>
                <a:rPr lang="zh-CN" altLang="en-US" sz="1200" dirty="0"/>
                <a:t>Exp: 0, S: 1, TTL: 254</a:t>
              </a:r>
            </a:p>
            <a:p>
              <a:r>
                <a:rPr lang="zh-CN" altLang="en-US" sz="1200" dirty="0"/>
                <a:t>Internet Protocol Version 4, Src: </a:t>
              </a:r>
              <a:r>
                <a:rPr lang="en-US" altLang="zh-CN" sz="1200" dirty="0" smtClean="0"/>
                <a:t>192.168.2.254</a:t>
              </a:r>
              <a:r>
                <a:rPr lang="zh-CN" altLang="en-US" sz="1200" dirty="0" smtClean="0"/>
                <a:t>, </a:t>
              </a:r>
              <a:r>
                <a:rPr lang="zh-CN" altLang="en-US" sz="1200" dirty="0"/>
                <a:t>Dst: </a:t>
              </a:r>
              <a:r>
                <a:rPr lang="en-US" altLang="zh-CN" sz="1200" dirty="0" smtClean="0"/>
                <a:t>192.168.1.254</a:t>
              </a:r>
              <a:endParaRPr lang="zh-CN" altLang="en-US" sz="1200" dirty="0"/>
            </a:p>
            <a:p>
              <a:r>
                <a:rPr lang="zh-CN" altLang="en-US" sz="1200" dirty="0"/>
                <a:t>Internet Control Message Protocol</a:t>
              </a:r>
            </a:p>
          </p:txBody>
        </p:sp>
      </p:grpSp>
      <p:sp>
        <p:nvSpPr>
          <p:cNvPr id="9" name="文本框 8"/>
          <p:cNvSpPr txBox="1"/>
          <p:nvPr/>
        </p:nvSpPr>
        <p:spPr bwMode="gray">
          <a:xfrm>
            <a:off x="10067924" y="5696838"/>
            <a:ext cx="929909" cy="372410"/>
          </a:xfrm>
          <a:prstGeom prst="rect">
            <a:avLst/>
          </a:prstGeom>
          <a:solidFill>
            <a:srgbClr val="BEE9EE"/>
          </a:solidFill>
        </p:spPr>
        <p:txBody>
          <a:bodyPr wrap="square" rtlCol="0">
            <a:spAutoFit/>
          </a:bodyPr>
          <a:lstStyle/>
          <a:p>
            <a:pPr algn="ctr">
              <a:lnSpc>
                <a:spcPct val="130000"/>
              </a:lnSpc>
            </a:pPr>
            <a:r>
              <a:rPr lang="zh-CN" altLang="en-US" sz="1400" dirty="0" smtClean="0"/>
              <a:t>报文捕获</a:t>
            </a:r>
            <a:endParaRPr lang="zh-CN" altLang="en-US" sz="1400" dirty="0"/>
          </a:p>
        </p:txBody>
      </p:sp>
    </p:spTree>
    <p:extLst>
      <p:ext uri="{BB962C8B-B14F-4D97-AF65-F5344CB8AC3E}">
        <p14:creationId xmlns:p14="http://schemas.microsoft.com/office/powerpoint/2010/main" val="1943434753"/>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bwMode="gray">
          <a:xfrm>
            <a:off x="1019176" y="1844675"/>
            <a:ext cx="10153650" cy="4356100"/>
          </a:xfrm>
        </p:spPr>
        <p:txBody>
          <a:bodyPr/>
          <a:lstStyle/>
          <a:p>
            <a:r>
              <a:rPr lang="en-US" altLang="zh-CN" sz="1800" dirty="0" smtClean="0">
                <a:sym typeface="Huawei Sans" panose="020C0503030203020204" pitchFamily="34" charset="0"/>
              </a:rPr>
              <a:t>(</a:t>
            </a:r>
            <a:r>
              <a:rPr lang="zh-CN" altLang="en-US" sz="1800" dirty="0" smtClean="0">
                <a:sym typeface="Huawei Sans" panose="020C0503030203020204" pitchFamily="34" charset="0"/>
              </a:rPr>
              <a:t>单选题</a:t>
            </a:r>
            <a:r>
              <a:rPr lang="en-US" altLang="zh-CN" sz="1800" dirty="0" smtClean="0">
                <a:sym typeface="Huawei Sans" panose="020C0503030203020204" pitchFamily="34" charset="0"/>
              </a:rPr>
              <a:t>)MP-BGP</a:t>
            </a:r>
            <a:r>
              <a:rPr lang="zh-CN" altLang="en-US" sz="1800" dirty="0" smtClean="0">
                <a:sym typeface="Huawei Sans" panose="020C0503030203020204" pitchFamily="34" charset="0"/>
              </a:rPr>
              <a:t>在传递</a:t>
            </a:r>
            <a:r>
              <a:rPr lang="en-US" altLang="zh-CN" sz="1800" dirty="0" smtClean="0">
                <a:sym typeface="Huawei Sans" panose="020C0503030203020204" pitchFamily="34" charset="0"/>
              </a:rPr>
              <a:t>VPNv4</a:t>
            </a:r>
            <a:r>
              <a:rPr lang="zh-CN" altLang="zh-CN" sz="1800" dirty="0" smtClean="0">
                <a:sym typeface="Huawei Sans" panose="020C0503030203020204" pitchFamily="34" charset="0"/>
              </a:rPr>
              <a:t>路由时，携带</a:t>
            </a:r>
            <a:r>
              <a:rPr lang="zh-CN" altLang="en-US" sz="1800" dirty="0" smtClean="0">
                <a:sym typeface="Huawei Sans" panose="020C0503030203020204" pitchFamily="34" charset="0"/>
              </a:rPr>
              <a:t>以下</a:t>
            </a:r>
            <a:r>
              <a:rPr lang="zh-CN" altLang="zh-CN" sz="1800" dirty="0" smtClean="0">
                <a:sym typeface="Huawei Sans" panose="020C0503030203020204" pitchFamily="34" charset="0"/>
              </a:rPr>
              <a:t>哪种</a:t>
            </a:r>
            <a:r>
              <a:rPr lang="en-US" altLang="zh-CN" sz="1800" dirty="0" smtClean="0">
                <a:sym typeface="Huawei Sans" panose="020C0503030203020204" pitchFamily="34" charset="0"/>
              </a:rPr>
              <a:t>Route Target </a:t>
            </a:r>
            <a:r>
              <a:rPr lang="zh-CN" altLang="zh-CN" sz="1800" dirty="0" smtClean="0">
                <a:sym typeface="Huawei Sans" panose="020C0503030203020204" pitchFamily="34" charset="0"/>
              </a:rPr>
              <a:t>？</a:t>
            </a:r>
            <a:r>
              <a:rPr lang="en-US" altLang="zh-CN" sz="1800" dirty="0" smtClean="0">
                <a:sym typeface="Huawei Sans" panose="020C0503030203020204" pitchFamily="34" charset="0"/>
              </a:rPr>
              <a:t> (     )</a:t>
            </a:r>
            <a:endParaRPr lang="zh-CN" altLang="zh-CN" sz="1800" dirty="0" smtClean="0">
              <a:sym typeface="Huawei Sans" panose="020C0503030203020204" pitchFamily="34" charset="0"/>
            </a:endParaRPr>
          </a:p>
          <a:p>
            <a:pPr lvl="1"/>
            <a:r>
              <a:rPr lang="en-US" altLang="zh-CN" sz="1600" dirty="0" smtClean="0">
                <a:sym typeface="Huawei Sans" panose="020C0503030203020204" pitchFamily="34" charset="0"/>
              </a:rPr>
              <a:t>Export RT</a:t>
            </a:r>
            <a:endParaRPr lang="zh-CN" altLang="zh-CN" sz="1600" dirty="0" smtClean="0">
              <a:sym typeface="Huawei Sans" panose="020C0503030203020204" pitchFamily="34" charset="0"/>
            </a:endParaRPr>
          </a:p>
          <a:p>
            <a:pPr lvl="1"/>
            <a:r>
              <a:rPr lang="en-US" altLang="zh-CN" sz="1600" dirty="0" smtClean="0">
                <a:sym typeface="Huawei Sans" panose="020C0503030203020204" pitchFamily="34" charset="0"/>
              </a:rPr>
              <a:t>Implied RT</a:t>
            </a:r>
            <a:endParaRPr lang="zh-CN" altLang="zh-CN" sz="1600" dirty="0" smtClean="0">
              <a:sym typeface="Huawei Sans" panose="020C0503030203020204" pitchFamily="34" charset="0"/>
            </a:endParaRPr>
          </a:p>
          <a:p>
            <a:pPr lvl="1"/>
            <a:r>
              <a:rPr lang="en-US" altLang="zh-CN" sz="1600" dirty="0" smtClean="0">
                <a:sym typeface="Huawei Sans" panose="020C0503030203020204" pitchFamily="34" charset="0"/>
              </a:rPr>
              <a:t>Import RT</a:t>
            </a:r>
            <a:endParaRPr lang="zh-CN" altLang="zh-CN" sz="1600" dirty="0" smtClean="0">
              <a:sym typeface="Huawei Sans" panose="020C0503030203020204" pitchFamily="34" charset="0"/>
            </a:endParaRPr>
          </a:p>
          <a:p>
            <a:pPr lvl="1"/>
            <a:r>
              <a:rPr lang="en-US" altLang="zh-CN" sz="1600" dirty="0" smtClean="0">
                <a:sym typeface="Huawei Sans" panose="020C0503030203020204" pitchFamily="34" charset="0"/>
              </a:rPr>
              <a:t>Extended RT</a:t>
            </a:r>
            <a:endParaRPr lang="zh-CN" altLang="zh-CN" sz="1600" dirty="0" smtClean="0">
              <a:sym typeface="Huawei Sans" panose="020C0503030203020204" pitchFamily="34" charset="0"/>
            </a:endParaRPr>
          </a:p>
          <a:p>
            <a:r>
              <a:rPr lang="en-US" altLang="zh-CN" sz="1800" dirty="0" smtClean="0">
                <a:sym typeface="Huawei Sans" panose="020C0503030203020204" pitchFamily="34" charset="0"/>
              </a:rPr>
              <a:t>(</a:t>
            </a:r>
            <a:r>
              <a:rPr lang="zh-CN" altLang="en-US" sz="1800" dirty="0" smtClean="0">
                <a:sym typeface="Huawei Sans" panose="020C0503030203020204" pitchFamily="34" charset="0"/>
              </a:rPr>
              <a:t>多选题</a:t>
            </a:r>
            <a:r>
              <a:rPr lang="en-US" altLang="zh-CN" sz="1800" dirty="0" smtClean="0">
                <a:sym typeface="Huawei Sans" panose="020C0503030203020204" pitchFamily="34" charset="0"/>
              </a:rPr>
              <a:t>)</a:t>
            </a:r>
            <a:r>
              <a:rPr lang="zh-CN" altLang="en-US" sz="1800" dirty="0" smtClean="0">
                <a:sym typeface="Huawei Sans" panose="020C0503030203020204" pitchFamily="34" charset="0"/>
              </a:rPr>
              <a:t>基本</a:t>
            </a:r>
            <a:r>
              <a:rPr lang="en-US" altLang="zh-CN" sz="1800" dirty="0" smtClean="0">
                <a:sym typeface="Huawei Sans" panose="020C0503030203020204" pitchFamily="34" charset="0"/>
              </a:rPr>
              <a:t>MPLS VPN</a:t>
            </a:r>
            <a:r>
              <a:rPr lang="zh-CN" altLang="en-US" sz="1800" dirty="0" smtClean="0">
                <a:sym typeface="Huawei Sans" panose="020C0503030203020204" pitchFamily="34" charset="0"/>
              </a:rPr>
              <a:t>组网中，需要对</a:t>
            </a:r>
            <a:r>
              <a:rPr lang="en-US" altLang="zh-CN" sz="1800" dirty="0" smtClean="0">
                <a:sym typeface="Huawei Sans" panose="020C0503030203020204" pitchFamily="34" charset="0"/>
              </a:rPr>
              <a:t>VPN</a:t>
            </a:r>
            <a:r>
              <a:rPr lang="zh-CN" altLang="en-US" sz="1800" dirty="0" smtClean="0">
                <a:sym typeface="Huawei Sans" panose="020C0503030203020204" pitchFamily="34" charset="0"/>
              </a:rPr>
              <a:t>实例做哪些配置？</a:t>
            </a:r>
            <a:r>
              <a:rPr lang="en-US" altLang="zh-CN" sz="1800" dirty="0" smtClean="0">
                <a:sym typeface="Huawei Sans" panose="020C0503030203020204" pitchFamily="34" charset="0"/>
              </a:rPr>
              <a:t>(     )</a:t>
            </a:r>
          </a:p>
          <a:p>
            <a:pPr lvl="1"/>
            <a:r>
              <a:rPr lang="en-US" altLang="zh-CN" sz="1600" dirty="0" smtClean="0">
                <a:sym typeface="Huawei Sans" panose="020C0503030203020204" pitchFamily="34" charset="0"/>
              </a:rPr>
              <a:t>Import RT</a:t>
            </a:r>
          </a:p>
          <a:p>
            <a:pPr lvl="1"/>
            <a:r>
              <a:rPr lang="en-US" altLang="zh-CN" sz="1600" dirty="0" smtClean="0">
                <a:sym typeface="Huawei Sans" panose="020C0503030203020204" pitchFamily="34" charset="0"/>
              </a:rPr>
              <a:t>Export RT</a:t>
            </a:r>
          </a:p>
          <a:p>
            <a:pPr lvl="1"/>
            <a:r>
              <a:rPr lang="zh-CN" altLang="en-US" sz="1600" dirty="0" smtClean="0">
                <a:sym typeface="Huawei Sans" panose="020C0503030203020204" pitchFamily="34" charset="0"/>
              </a:rPr>
              <a:t>配置</a:t>
            </a:r>
            <a:r>
              <a:rPr lang="en-US" altLang="zh-CN" sz="1600" dirty="0" smtClean="0">
                <a:sym typeface="Huawei Sans" panose="020C0503030203020204" pitchFamily="34" charset="0"/>
              </a:rPr>
              <a:t>RD</a:t>
            </a:r>
          </a:p>
          <a:p>
            <a:pPr lvl="1"/>
            <a:r>
              <a:rPr lang="zh-CN" altLang="en-US" sz="1600" dirty="0" smtClean="0">
                <a:sym typeface="Huawei Sans" panose="020C0503030203020204" pitchFamily="34" charset="0"/>
              </a:rPr>
              <a:t>配置与</a:t>
            </a:r>
            <a:r>
              <a:rPr lang="en-US" altLang="zh-CN" sz="1600" dirty="0" smtClean="0">
                <a:sym typeface="Huawei Sans" panose="020C0503030203020204" pitchFamily="34" charset="0"/>
              </a:rPr>
              <a:t>VPN</a:t>
            </a:r>
            <a:r>
              <a:rPr lang="zh-CN" altLang="en-US" sz="1600" dirty="0" smtClean="0">
                <a:sym typeface="Huawei Sans" panose="020C0503030203020204" pitchFamily="34" charset="0"/>
              </a:rPr>
              <a:t>实例绑定的接口</a:t>
            </a:r>
            <a:endParaRPr lang="en-US" altLang="zh-CN" sz="1600" dirty="0" smtClean="0">
              <a:sym typeface="Huawei Sans" panose="020C0503030203020204" pitchFamily="34" charset="0"/>
            </a:endParaRPr>
          </a:p>
          <a:p>
            <a:pPr lvl="1"/>
            <a:endParaRPr lang="zh-CN" altLang="en-US" sz="1600" dirty="0">
              <a:sym typeface="Huawei Sans" panose="020C0503030203020204" pitchFamily="34" charset="0"/>
            </a:endParaRPr>
          </a:p>
        </p:txBody>
      </p:sp>
    </p:spTree>
    <p:extLst>
      <p:ext uri="{BB962C8B-B14F-4D97-AF65-F5344CB8AC3E}">
        <p14:creationId xmlns:p14="http://schemas.microsoft.com/office/powerpoint/2010/main" val="3259387471"/>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0"/>
          </p:nvPr>
        </p:nvSpPr>
        <p:spPr bwMode="gray"/>
        <p:txBody>
          <a:bodyPr/>
          <a:lstStyle/>
          <a:p>
            <a:r>
              <a:rPr lang="en-US" altLang="zh-CN" sz="1800" dirty="0" smtClean="0">
                <a:sym typeface="Huawei Sans" panose="020C0503030203020204" pitchFamily="34" charset="0"/>
              </a:rPr>
              <a:t>MPLS VPN</a:t>
            </a:r>
            <a:r>
              <a:rPr lang="zh-CN" altLang="en-US" sz="1800" dirty="0" smtClean="0">
                <a:sym typeface="Huawei Sans" panose="020C0503030203020204" pitchFamily="34" charset="0"/>
              </a:rPr>
              <a:t>网络一般由运营商搭建，用于向不同的客户提供</a:t>
            </a:r>
            <a:r>
              <a:rPr lang="en-US" altLang="zh-CN" sz="1800" dirty="0" smtClean="0">
                <a:sym typeface="Huawei Sans" panose="020C0503030203020204" pitchFamily="34" charset="0"/>
              </a:rPr>
              <a:t>VPN</a:t>
            </a:r>
            <a:r>
              <a:rPr lang="zh-CN" altLang="en-US" sz="1800" dirty="0" smtClean="0">
                <a:sym typeface="Huawei Sans" panose="020C0503030203020204" pitchFamily="34" charset="0"/>
              </a:rPr>
              <a:t>服务，使得用户的路由和数据能够通过该网络进行传递，且不同的用户之间的路由和数据完全隔离，互不影响。</a:t>
            </a:r>
            <a:endParaRPr lang="en-US" altLang="zh-CN" sz="1800" dirty="0" smtClean="0">
              <a:sym typeface="Huawei Sans" panose="020C0503030203020204" pitchFamily="34" charset="0"/>
            </a:endParaRPr>
          </a:p>
          <a:p>
            <a:r>
              <a:rPr lang="en-US" altLang="zh-CN" sz="1800" dirty="0" smtClean="0">
                <a:sym typeface="Huawei Sans" panose="020C0503030203020204" pitchFamily="34" charset="0"/>
              </a:rPr>
              <a:t>MPLS VPN</a:t>
            </a:r>
            <a:r>
              <a:rPr lang="zh-CN" altLang="en-US" sz="1800" dirty="0" smtClean="0">
                <a:sym typeface="Huawei Sans" panose="020C0503030203020204" pitchFamily="34" charset="0"/>
              </a:rPr>
              <a:t>控制层面：</a:t>
            </a:r>
            <a:endParaRPr lang="en-US" altLang="zh-CN" sz="1800" dirty="0" smtClean="0">
              <a:sym typeface="Huawei Sans" panose="020C0503030203020204" pitchFamily="34" charset="0"/>
            </a:endParaRPr>
          </a:p>
          <a:p>
            <a:pPr lvl="1"/>
            <a:r>
              <a:rPr lang="zh-CN" altLang="en-US" sz="1600" dirty="0" smtClean="0">
                <a:sym typeface="Huawei Sans" panose="020C0503030203020204" pitchFamily="34" charset="0"/>
              </a:rPr>
              <a:t>通过</a:t>
            </a:r>
            <a:r>
              <a:rPr lang="en-US" altLang="zh-CN" sz="1600" dirty="0" smtClean="0">
                <a:sym typeface="Huawei Sans" panose="020C0503030203020204" pitchFamily="34" charset="0"/>
              </a:rPr>
              <a:t>VRF</a:t>
            </a:r>
            <a:r>
              <a:rPr lang="zh-CN" altLang="en-US" sz="1600" dirty="0" smtClean="0">
                <a:sym typeface="Huawei Sans" panose="020C0503030203020204" pitchFamily="34" charset="0"/>
              </a:rPr>
              <a:t>和</a:t>
            </a:r>
            <a:r>
              <a:rPr lang="en-US" altLang="zh-CN" sz="1600" dirty="0" smtClean="0">
                <a:sym typeface="Huawei Sans" panose="020C0503030203020204" pitchFamily="34" charset="0"/>
              </a:rPr>
              <a:t>RD</a:t>
            </a:r>
            <a:r>
              <a:rPr lang="zh-CN" altLang="en-US" sz="1600" dirty="0" smtClean="0">
                <a:sym typeface="Huawei Sans" panose="020C0503030203020204" pitchFamily="34" charset="0"/>
              </a:rPr>
              <a:t>隔离不同用户的私网路由信息并构建唯一的</a:t>
            </a:r>
            <a:r>
              <a:rPr lang="en-US" altLang="zh-CN" sz="1600" dirty="0" smtClean="0">
                <a:sym typeface="Huawei Sans" panose="020C0503030203020204" pitchFamily="34" charset="0"/>
              </a:rPr>
              <a:t>VPNv4</a:t>
            </a:r>
            <a:r>
              <a:rPr lang="zh-CN" altLang="en-US" sz="1600" dirty="0" smtClean="0">
                <a:sym typeface="Huawei Sans" panose="020C0503030203020204" pitchFamily="34" charset="0"/>
              </a:rPr>
              <a:t>路由。</a:t>
            </a:r>
            <a:endParaRPr lang="en-US" altLang="zh-CN" sz="1600" dirty="0" smtClean="0">
              <a:sym typeface="Huawei Sans" panose="020C0503030203020204" pitchFamily="34" charset="0"/>
            </a:endParaRPr>
          </a:p>
          <a:p>
            <a:pPr lvl="1"/>
            <a:r>
              <a:rPr lang="zh-CN" altLang="en-US" sz="1600" dirty="0" smtClean="0">
                <a:sym typeface="Huawei Sans" panose="020C0503030203020204" pitchFamily="34" charset="0"/>
              </a:rPr>
              <a:t>通过</a:t>
            </a:r>
            <a:r>
              <a:rPr lang="en-US" altLang="zh-CN" sz="1600" dirty="0" smtClean="0">
                <a:sym typeface="Huawei Sans" panose="020C0503030203020204" pitchFamily="34" charset="0"/>
              </a:rPr>
              <a:t>RT</a:t>
            </a:r>
            <a:r>
              <a:rPr lang="zh-CN" altLang="en-US" sz="1600" dirty="0" smtClean="0">
                <a:sym typeface="Huawei Sans" panose="020C0503030203020204" pitchFamily="34" charset="0"/>
              </a:rPr>
              <a:t>值控制</a:t>
            </a:r>
            <a:r>
              <a:rPr lang="en-US" altLang="zh-CN" sz="1600" dirty="0" smtClean="0">
                <a:sym typeface="Huawei Sans" panose="020C0503030203020204" pitchFamily="34" charset="0"/>
              </a:rPr>
              <a:t>VPNv4</a:t>
            </a:r>
            <a:r>
              <a:rPr lang="zh-CN" altLang="en-US" sz="1600" dirty="0" smtClean="0">
                <a:sym typeface="Huawei Sans" panose="020C0503030203020204" pitchFamily="34" charset="0"/>
              </a:rPr>
              <a:t>路由的发布和接收。</a:t>
            </a:r>
            <a:endParaRPr lang="en-US" altLang="zh-CN" sz="1600" dirty="0" smtClean="0">
              <a:sym typeface="Huawei Sans" panose="020C0503030203020204" pitchFamily="34" charset="0"/>
            </a:endParaRPr>
          </a:p>
          <a:p>
            <a:pPr lvl="1"/>
            <a:r>
              <a:rPr lang="zh-CN" altLang="en-US" sz="1600" dirty="0" smtClean="0">
                <a:sym typeface="Huawei Sans" panose="020C0503030203020204" pitchFamily="34" charset="0"/>
              </a:rPr>
              <a:t>通过</a:t>
            </a:r>
            <a:r>
              <a:rPr lang="en-US" altLang="zh-CN" sz="1600" dirty="0" smtClean="0">
                <a:sym typeface="Huawei Sans" panose="020C0503030203020204" pitchFamily="34" charset="0"/>
              </a:rPr>
              <a:t>MP-BGP</a:t>
            </a:r>
            <a:r>
              <a:rPr lang="zh-CN" altLang="en-US" sz="1600" dirty="0" smtClean="0">
                <a:sym typeface="Huawei Sans" panose="020C0503030203020204" pitchFamily="34" charset="0"/>
              </a:rPr>
              <a:t>传递</a:t>
            </a:r>
            <a:r>
              <a:rPr lang="en-US" altLang="zh-CN" sz="1600" dirty="0" smtClean="0">
                <a:sym typeface="Huawei Sans" panose="020C0503030203020204" pitchFamily="34" charset="0"/>
              </a:rPr>
              <a:t>VPNv4</a:t>
            </a:r>
            <a:r>
              <a:rPr lang="zh-CN" altLang="en-US" sz="1600" dirty="0" smtClean="0">
                <a:sym typeface="Huawei Sans" panose="020C0503030203020204" pitchFamily="34" charset="0"/>
              </a:rPr>
              <a:t>路由前缀、标签以及</a:t>
            </a:r>
            <a:r>
              <a:rPr lang="en-US" altLang="zh-CN" sz="1600" dirty="0" smtClean="0">
                <a:sym typeface="Huawei Sans" panose="020C0503030203020204" pitchFamily="34" charset="0"/>
              </a:rPr>
              <a:t>RT</a:t>
            </a:r>
            <a:r>
              <a:rPr lang="zh-CN" altLang="en-US" sz="1600" dirty="0" smtClean="0">
                <a:sym typeface="Huawei Sans" panose="020C0503030203020204" pitchFamily="34" charset="0"/>
              </a:rPr>
              <a:t>等信息。</a:t>
            </a:r>
            <a:endParaRPr lang="en-US" altLang="zh-CN" sz="1600" dirty="0" smtClean="0">
              <a:sym typeface="Huawei Sans" panose="020C0503030203020204" pitchFamily="34" charset="0"/>
            </a:endParaRPr>
          </a:p>
          <a:p>
            <a:pPr lvl="1"/>
            <a:r>
              <a:rPr lang="zh-CN" altLang="en-US" sz="1600" dirty="0" smtClean="0">
                <a:sym typeface="Huawei Sans" panose="020C0503030203020204" pitchFamily="34" charset="0"/>
              </a:rPr>
              <a:t>通过</a:t>
            </a:r>
            <a:r>
              <a:rPr lang="en-US" altLang="zh-CN" sz="1600" dirty="0" smtClean="0">
                <a:sym typeface="Huawei Sans" panose="020C0503030203020204" pitchFamily="34" charset="0"/>
              </a:rPr>
              <a:t>MPLS LDP</a:t>
            </a:r>
            <a:r>
              <a:rPr lang="zh-CN" altLang="en-US" sz="1600" dirty="0" smtClean="0">
                <a:sym typeface="Huawei Sans" panose="020C0503030203020204" pitchFamily="34" charset="0"/>
              </a:rPr>
              <a:t>构建公网标签转发路径。</a:t>
            </a:r>
          </a:p>
          <a:p>
            <a:r>
              <a:rPr lang="en-US" altLang="zh-CN" sz="1800" dirty="0" smtClean="0">
                <a:sym typeface="Huawei Sans" panose="020C0503030203020204" pitchFamily="34" charset="0"/>
              </a:rPr>
              <a:t>MPLS</a:t>
            </a:r>
            <a:r>
              <a:rPr lang="zh-CN" altLang="en-US" sz="1800" dirty="0" smtClean="0">
                <a:sym typeface="Huawei Sans" panose="020C0503030203020204" pitchFamily="34" charset="0"/>
              </a:rPr>
              <a:t>转发层面：通过内外两层标签进行数据转发，内层标签区分私网数据，外层标签穿通公网网络。</a:t>
            </a:r>
          </a:p>
          <a:p>
            <a:pPr lvl="1"/>
            <a:endParaRPr lang="zh-CN" altLang="en-US" sz="1600" dirty="0">
              <a:sym typeface="Huawei Sans" panose="020C0503030203020204" pitchFamily="34" charset="0"/>
            </a:endParaRPr>
          </a:p>
        </p:txBody>
      </p:sp>
    </p:spTree>
    <p:extLst>
      <p:ext uri="{BB962C8B-B14F-4D97-AF65-F5344CB8AC3E}">
        <p14:creationId xmlns:p14="http://schemas.microsoft.com/office/powerpoint/2010/main" val="3221899339"/>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3196872"/>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ISLIDE.ICON" val="#96562;"/>
</p:tagLst>
</file>

<file path=ppt/tags/tag2.xml><?xml version="1.0" encoding="utf-8"?>
<p:tagLst xmlns:a="http://schemas.openxmlformats.org/drawingml/2006/main" xmlns:r="http://schemas.openxmlformats.org/officeDocument/2006/relationships" xmlns:p="http://schemas.openxmlformats.org/presentationml/2006/main">
  <p:tag name="ISLIDE.ICON" val="#96562;"/>
</p:tagLst>
</file>

<file path=ppt/tags/tag3.xml><?xml version="1.0" encoding="utf-8"?>
<p:tagLst xmlns:a="http://schemas.openxmlformats.org/drawingml/2006/main" xmlns:r="http://schemas.openxmlformats.org/officeDocument/2006/relationships" xmlns:p="http://schemas.openxmlformats.org/presentationml/2006/main">
  <p:tag name="ISLIDE.ICON" val="#96562;"/>
</p:tagLst>
</file>

<file path=ppt/tags/tag4.xml><?xml version="1.0" encoding="utf-8"?>
<p:tagLst xmlns:a="http://schemas.openxmlformats.org/drawingml/2006/main" xmlns:r="http://schemas.openxmlformats.org/officeDocument/2006/relationships" xmlns:p="http://schemas.openxmlformats.org/presentationml/2006/main">
  <p:tag name="ISLIDE.ICON" val="#96562;"/>
</p:tagLst>
</file>

<file path=ppt/tags/tag5.xml><?xml version="1.0" encoding="utf-8"?>
<p:tagLst xmlns:a="http://schemas.openxmlformats.org/drawingml/2006/main" xmlns:r="http://schemas.openxmlformats.org/officeDocument/2006/relationships" xmlns:p="http://schemas.openxmlformats.org/presentationml/2006/main">
  <p:tag name="ISLIDE.ICON" val="#96562;"/>
</p:tagLst>
</file>

<file path=ppt/tags/tag6.xml><?xml version="1.0" encoding="utf-8"?>
<p:tagLst xmlns:a="http://schemas.openxmlformats.org/drawingml/2006/main" xmlns:r="http://schemas.openxmlformats.org/officeDocument/2006/relationships" xmlns:p="http://schemas.openxmlformats.org/presentationml/2006/main">
  <p:tag name="ISLIDE.ICON" val="#96562;"/>
</p:tagLst>
</file>

<file path=ppt/theme/theme1.xml><?xml version="1.0" encoding="utf-8"?>
<a:theme xmlns:a="http://schemas.openxmlformats.org/drawingml/2006/main" name="2_标题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功能页模板">
  <a:themeElements>
    <a:clrScheme name="自定义 2">
      <a:dk1>
        <a:sysClr val="windowText" lastClr="000000"/>
      </a:dk1>
      <a:lt1>
        <a:sysClr val="window" lastClr="FFFFFF"/>
      </a:lt1>
      <a:dk2>
        <a:srgbClr val="44546A"/>
      </a:dk2>
      <a:lt2>
        <a:srgbClr val="E7E6E6"/>
      </a:lt2>
      <a:accent1>
        <a:srgbClr val="C7000B"/>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4_内容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5_感谢页模板">
  <a:themeElements>
    <a:clrScheme name="2210">
      <a:dk1>
        <a:srgbClr val="1D1D1A"/>
      </a:dk1>
      <a:lt1>
        <a:srgbClr val="1D1D1A"/>
      </a:lt1>
      <a:dk2>
        <a:srgbClr val="FFFFFF"/>
      </a:dk2>
      <a:lt2>
        <a:srgbClr val="FFFFFF"/>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A002F"/>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a:defPPr>
      </a:lstStyle>
    </a:txDef>
  </a:objectDefaults>
  <a:extraClrSchemeLst/>
  <a:extLst>
    <a:ext uri="{05A4C25C-085E-4340-85A3-A5531E510DB2}">
      <thm15:themeFamily xmlns:thm15="http://schemas.microsoft.com/office/thememl/2012/main" name="演示文稿1" id="{5D7106B4-FD24-471A-B326-8B58E27A973B}" vid="{1AA013AF-7C2E-4A39-9796-86760F640C19}"/>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2C5B4B712841F4C8A7AAEE2CD191271" ma:contentTypeVersion="1" ma:contentTypeDescription="Create a new document." ma:contentTypeScope="" ma:versionID="fd4f534fc22f1d982cc2e0e62ad2af45">
  <xsd:schema xmlns:xsd="http://www.w3.org/2001/XMLSchema" xmlns:xs="http://www.w3.org/2001/XMLSchema" xmlns:p="http://schemas.microsoft.com/office/2006/metadata/properties" xmlns:ns2="475f1e55-3009-46d8-9566-5d569a2b3a98" targetNamespace="http://schemas.microsoft.com/office/2006/metadata/properties" ma:root="true" ma:fieldsID="1d095aabec1d15598815726bd4b054a7" ns2:_="">
    <xsd:import namespace="475f1e55-3009-46d8-9566-5d569a2b3a98"/>
    <xsd:element name="properties">
      <xsd:complexType>
        <xsd:sequence>
          <xsd:element name="documentManagement">
            <xsd:complexType>
              <xsd:all>
                <xsd:element ref="ns2: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75f1e55-3009-46d8-9566-5d569a2b3a98"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A5960F2-6186-408B-A0DC-5CA5E58B604F}">
  <ds:schemaRefs>
    <ds:schemaRef ds:uri="http://schemas.microsoft.com/office/2006/documentManagement/types"/>
    <ds:schemaRef ds:uri="http://purl.org/dc/dcmitype/"/>
    <ds:schemaRef ds:uri="http://www.w3.org/XML/1998/namespace"/>
    <ds:schemaRef ds:uri="475f1e55-3009-46d8-9566-5d569a2b3a98"/>
    <ds:schemaRef ds:uri="http://schemas.openxmlformats.org/package/2006/metadata/core-properties"/>
    <ds:schemaRef ds:uri="http://schemas.microsoft.com/office/infopath/2007/PartnerControls"/>
    <ds:schemaRef ds:uri="http://purl.org/dc/elements/1.1/"/>
    <ds:schemaRef ds:uri="http://purl.org/dc/terms/"/>
    <ds:schemaRef ds:uri="http://schemas.microsoft.com/office/2006/metadata/properties"/>
  </ds:schemaRefs>
</ds:datastoreItem>
</file>

<file path=customXml/itemProps2.xml><?xml version="1.0" encoding="utf-8"?>
<ds:datastoreItem xmlns:ds="http://schemas.openxmlformats.org/officeDocument/2006/customXml" ds:itemID="{54F52F8D-124A-4AB3-A357-CCF00CBDA8A5}"/>
</file>

<file path=customXml/itemProps3.xml><?xml version="1.0" encoding="utf-8"?>
<ds:datastoreItem xmlns:ds="http://schemas.openxmlformats.org/officeDocument/2006/customXml" ds:itemID="{FEDE263F-0510-4442-823E-69B63ECB61E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1817</TotalTime>
  <Words>6473</Words>
  <Application>Microsoft Office PowerPoint</Application>
  <PresentationFormat>宽屏</PresentationFormat>
  <Paragraphs>945</Paragraphs>
  <Slides>54</Slides>
  <Notes>54</Notes>
  <HiddenSlides>2</HiddenSlides>
  <MMClips>0</MMClips>
  <ScaleCrop>false</ScaleCrop>
  <HeadingPairs>
    <vt:vector size="6" baseType="variant">
      <vt:variant>
        <vt:lpstr>已用的字体</vt:lpstr>
      </vt:variant>
      <vt:variant>
        <vt:i4>8</vt:i4>
      </vt:variant>
      <vt:variant>
        <vt:lpstr>主题</vt:lpstr>
      </vt:variant>
      <vt:variant>
        <vt:i4>4</vt:i4>
      </vt:variant>
      <vt:variant>
        <vt:lpstr>幻灯片标题</vt:lpstr>
      </vt:variant>
      <vt:variant>
        <vt:i4>54</vt:i4>
      </vt:variant>
    </vt:vector>
  </HeadingPairs>
  <TitlesOfParts>
    <vt:vector size="66" baseType="lpstr">
      <vt:lpstr>ＭＳ Ｐゴシック</vt:lpstr>
      <vt:lpstr>方正兰亭黑简体</vt:lpstr>
      <vt:lpstr>Microsoft YaHei</vt:lpstr>
      <vt:lpstr>Microsoft YaHei</vt:lpstr>
      <vt:lpstr>Arial</vt:lpstr>
      <vt:lpstr>Courier New</vt:lpstr>
      <vt:lpstr>Huawei Sans</vt:lpstr>
      <vt:lpstr>Wingdings</vt:lpstr>
      <vt:lpstr>2_标题页模板</vt:lpstr>
      <vt:lpstr>3_功能页模板</vt:lpstr>
      <vt:lpstr>4_内容页模板</vt:lpstr>
      <vt:lpstr>5_感谢页模板</vt:lpstr>
      <vt:lpstr>PowerPoint 演示文稿</vt:lpstr>
      <vt:lpstr>MPLS VPN原理与配置</vt:lpstr>
      <vt:lpstr>PowerPoint 演示文稿</vt:lpstr>
      <vt:lpstr>PowerPoint 演示文稿</vt:lpstr>
      <vt:lpstr>PowerPoint 演示文稿</vt:lpstr>
      <vt:lpstr>MPLS VPN定义</vt:lpstr>
      <vt:lpstr>MPLS VPN网络架构</vt:lpstr>
      <vt:lpstr>MPLS VPN技术架构</vt:lpstr>
      <vt:lpstr>为什么要选择MPLS VPN</vt:lpstr>
      <vt:lpstr>MPLS VPN常见组网</vt:lpstr>
      <vt:lpstr>PowerPoint 演示文稿</vt:lpstr>
      <vt:lpstr>MPLS VPN路由发布概述</vt:lpstr>
      <vt:lpstr>CE与PE之间的路由信息交换</vt:lpstr>
      <vt:lpstr>入口PE到出口PE路由传递 (1)</vt:lpstr>
      <vt:lpstr>VRF</vt:lpstr>
      <vt:lpstr>RD</vt:lpstr>
      <vt:lpstr>VPN-IPv4地址</vt:lpstr>
      <vt:lpstr>入口PE到出口PE路由传递 (2)</vt:lpstr>
      <vt:lpstr>MP-BGP</vt:lpstr>
      <vt:lpstr>PowerPoint 演示文稿</vt:lpstr>
      <vt:lpstr>入口PE到出口PE路由传递 (3)</vt:lpstr>
      <vt:lpstr>RT</vt:lpstr>
      <vt:lpstr>入口PE到出口PE路由传递 (4)</vt:lpstr>
      <vt:lpstr>数据转发时遇到的问题</vt:lpstr>
      <vt:lpstr>通过标签解决问题</vt:lpstr>
      <vt:lpstr>入口PE到出口PE路由传递 (5)</vt:lpstr>
      <vt:lpstr>MPLS VPN中的路由交互全过程</vt:lpstr>
      <vt:lpstr>PowerPoint 演示文稿</vt:lpstr>
      <vt:lpstr>PowerPoint 演示文稿</vt:lpstr>
      <vt:lpstr>报文转发过程 (1)</vt:lpstr>
      <vt:lpstr>报文转发过程 (2)</vt:lpstr>
      <vt:lpstr>报文转发过程 (3)</vt:lpstr>
      <vt:lpstr>报文转发过程 (4)</vt:lpstr>
      <vt:lpstr>报文转发过程 (5)</vt:lpstr>
      <vt:lpstr>PowerPoint 演示文稿</vt:lpstr>
      <vt:lpstr>配置命令：VPN实例配置 (1)</vt:lpstr>
      <vt:lpstr>配置命令：VPN实例配置 (2)</vt:lpstr>
      <vt:lpstr>配置命令：MP-BGP配置</vt:lpstr>
      <vt:lpstr>配置命令：PE与CE间路由配置</vt:lpstr>
      <vt:lpstr>MPLS VPN配置示例：背景介绍</vt:lpstr>
      <vt:lpstr>MPLS VPN配置示例：配置思路</vt:lpstr>
      <vt:lpstr>MPLS VPN配置示例：数据规划</vt:lpstr>
      <vt:lpstr>MPLS VPN骨干网配置 (1)</vt:lpstr>
      <vt:lpstr>MPLS VPN骨干网配置 (2)</vt:lpstr>
      <vt:lpstr>MPLS VPN骨干网配置：配置验证</vt:lpstr>
      <vt:lpstr>VPN用户接入配置 (1)</vt:lpstr>
      <vt:lpstr>VPN用户接入配置 (2)</vt:lpstr>
      <vt:lpstr>VPN用户接入配置 (3)</vt:lpstr>
      <vt:lpstr>配置验证 (1)</vt:lpstr>
      <vt:lpstr>配置验证 (2)</vt:lpstr>
      <vt:lpstr>配置验证 (3)</vt:lpstr>
      <vt:lpstr>PowerPoint 演示文稿</vt:lpstr>
      <vt:lpstr>PowerPoint 演示文稿</vt:lpstr>
      <vt:lpstr>PowerPoint 演示文稿</vt:lpstr>
    </vt:vector>
  </TitlesOfParts>
  <Company>Huawei Technologies Co.,Ltd.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fanyan (A)</dc:creator>
  <cp:lastModifiedBy>hejunjianzjhw</cp:lastModifiedBy>
  <cp:revision>275</cp:revision>
  <cp:lastPrinted>2020-07-31T09:33:18Z</cp:lastPrinted>
  <dcterms:created xsi:type="dcterms:W3CDTF">2018-11-29T10:16:29Z</dcterms:created>
  <dcterms:modified xsi:type="dcterms:W3CDTF">2021-10-21T01:57:26Z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(3)nZBAH/vrp6o2UHH/Hh6JkOTTbk+EOHsEsEoMLKh0XAdOTBDt095ZW7DAwXAmK27cx4sVH9pe
8SJUd8DCgGZOcvsYr7Fo+PKB8E/kgtRwjnOi0qi16W78+ZP/6Zs5i6hTzD6W1KIQnKX0wha2
pIbPEMX/8LyS1bRG5Khp6/wVdcEs8qekI1t0AnCZmN81HaqXX5IY19qgVDK6md+m2tj+9AvB
DOqcIsDbQlgJsMWQ7a</vt:lpwstr>
  </property>
  <property fmtid="{D5CDD505-2E9C-101B-9397-08002B2CF9AE}" pid="3" name="_2015_ms_pID_7253431">
    <vt:lpwstr>i0OKo766EEBb3bd7a/HEXh1TL2upDCK+rvu/TltHaOHmggNkfDKbG8
9LXw4pLiiSqnVa9NSrVyY5jFRNRT6dtpXPBLgbo2+o17QVc4lBYcmwUrRO5uSaYWUlkSmyVy
t00WL/fa0kdOtaCr3R7Ai7UKSiLzN8XGFddNueR4ZA8o4DtRbScB2LjR6FnG+waS9bGEvspn
zVW+aqChBbnlwPFl2w+GDCmpb5gYwprCnU6w</vt:lpwstr>
  </property>
  <property fmtid="{D5CDD505-2E9C-101B-9397-08002B2CF9AE}" pid="4" name="_2015_ms_pID_7253432">
    <vt:lpwstr>hA==</vt:lpwstr>
  </property>
  <property fmtid="{D5CDD505-2E9C-101B-9397-08002B2CF9AE}" pid="5" name="ContentTypeId">
    <vt:lpwstr>0x01010002C5B4B712841F4C8A7AAEE2CD191271</vt:lpwstr>
  </property>
  <property fmtid="{D5CDD505-2E9C-101B-9397-08002B2CF9AE}" pid="6" name="_readonly">
    <vt:lpwstr/>
  </property>
  <property fmtid="{D5CDD505-2E9C-101B-9397-08002B2CF9AE}" pid="7" name="_change">
    <vt:lpwstr/>
  </property>
  <property fmtid="{D5CDD505-2E9C-101B-9397-08002B2CF9AE}" pid="8" name="_full-control">
    <vt:lpwstr/>
  </property>
  <property fmtid="{D5CDD505-2E9C-101B-9397-08002B2CF9AE}" pid="9" name="sflag">
    <vt:lpwstr>1634777000</vt:lpwstr>
  </property>
</Properties>
</file>